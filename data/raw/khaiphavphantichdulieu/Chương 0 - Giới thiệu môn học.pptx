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9" r:id="rId1"/>
  </p:sldMasterIdLst>
  <p:notesMasterIdLst>
    <p:notesMasterId r:id="rId10"/>
  </p:notesMasterIdLst>
  <p:sldIdLst>
    <p:sldId id="323" r:id="rId2"/>
    <p:sldId id="299" r:id="rId3"/>
    <p:sldId id="324" r:id="rId4"/>
    <p:sldId id="315" r:id="rId5"/>
    <p:sldId id="320" r:id="rId6"/>
    <p:sldId id="319" r:id="rId7"/>
    <p:sldId id="321" r:id="rId8"/>
    <p:sldId id="322" r:id="rId9"/>
  </p:sldIdLst>
  <p:sldSz cx="12192000" cy="6858000"/>
  <p:notesSz cx="6858000" cy="9144000"/>
  <p:defaultTextStyle>
    <a:defPPr>
      <a:defRPr lang="vi-VN"/>
    </a:defPPr>
    <a:lvl1pPr marL="0" algn="l" defTabSz="104104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20522" algn="l" defTabSz="104104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41044" algn="l" defTabSz="104104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61567" algn="l" defTabSz="104104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82089" algn="l" defTabSz="104104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602611" algn="l" defTabSz="104104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123133" algn="l" defTabSz="104104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43655" algn="l" defTabSz="104104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64178" algn="l" defTabSz="104104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00FF"/>
    <a:srgbClr val="FF0066"/>
    <a:srgbClr val="0D8E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21" autoAdjust="0"/>
    <p:restoredTop sz="96092" autoAdjust="0"/>
  </p:normalViewPr>
  <p:slideViewPr>
    <p:cSldViewPr>
      <p:cViewPr>
        <p:scale>
          <a:sx n="67" d="100"/>
          <a:sy n="67" d="100"/>
        </p:scale>
        <p:origin x="756" y="68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42" y="1526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2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83693-2DF8-4331-9992-1E94EDAA209F}" type="datetimeFigureOut">
              <a:rPr lang="vi-VN" smtClean="0"/>
              <a:t>11/08/2025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7DE39-524D-47F3-9B19-31A9B31B879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26779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104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0522" algn="l" defTabSz="104104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1044" algn="l" defTabSz="104104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1567" algn="l" defTabSz="104104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2089" algn="l" defTabSz="104104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2611" algn="l" defTabSz="104104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3133" algn="l" defTabSz="104104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43655" algn="l" defTabSz="104104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64178" algn="l" defTabSz="104104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fld id="{3CEF271A-F975-4461-A5F7-B8EBE70183E5}" type="slidenum">
              <a:rPr lang="en-GB" smtClean="0">
                <a:solidFill>
                  <a:prstClr val="black"/>
                </a:solidFill>
                <a:latin typeface="Arial" charset="0"/>
              </a:rPr>
              <a:pPr eaLnBrk="1" hangingPunct="1"/>
              <a:t>1</a:t>
            </a:fld>
            <a:endParaRPr lang="en-GB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44575" y="685800"/>
            <a:ext cx="4740275" cy="2667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79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B7DE39-524D-47F3-9B19-31A9B31B8792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5031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B7DE39-524D-47F3-9B19-31A9B31B8792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8211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B7DE39-524D-47F3-9B19-31A9B31B8792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5031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B7DE39-524D-47F3-9B19-31A9B31B8792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5031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B7DE39-524D-47F3-9B19-31A9B31B8792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5031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B7DE39-524D-47F3-9B19-31A9B31B8792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5031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B7DE39-524D-47F3-9B19-31A9B31B8792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5031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;p15">
            <a:extLst>
              <a:ext uri="{FF2B5EF4-FFF2-40B4-BE49-F238E27FC236}">
                <a16:creationId xmlns:a16="http://schemas.microsoft.com/office/drawing/2014/main" id="{1C1C9FC5-3A89-E7F2-CA83-DB3C4B806A2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1997" y="1348371"/>
            <a:ext cx="11090638" cy="191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77276" marR="0" lvl="0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3" b="1" i="0" u="none" strike="noStrike" cap="none">
                <a:solidFill>
                  <a:srgbClr val="292A75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554553" marR="0" lvl="1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31830" marR="0" lvl="2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09107" marR="0" lvl="3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86383" marR="0" lvl="4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663659" marR="0" lvl="5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940937" marR="0" lvl="6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218213" marR="0" lvl="7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95490" marR="0" lvl="8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71109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;p15">
            <a:extLst>
              <a:ext uri="{FF2B5EF4-FFF2-40B4-BE49-F238E27FC236}">
                <a16:creationId xmlns:a16="http://schemas.microsoft.com/office/drawing/2014/main" id="{3A6A0657-C8E6-4E42-745A-DD61416B27D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1997" y="1348371"/>
            <a:ext cx="11090638" cy="191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77276" marR="0" lvl="0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3" b="1" i="0" u="none" strike="noStrike" cap="none">
                <a:solidFill>
                  <a:srgbClr val="292A75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554553" marR="0" lvl="1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31830" marR="0" lvl="2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09107" marR="0" lvl="3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86383" marR="0" lvl="4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663659" marR="0" lvl="5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940937" marR="0" lvl="6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218213" marR="0" lvl="7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495490" marR="0" lvl="8" indent="-138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204534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532467" y="2132860"/>
            <a:ext cx="9652098" cy="1583531"/>
          </a:xfrm>
          <a:prstGeom prst="rect">
            <a:avLst/>
          </a:prstGeom>
        </p:spPr>
        <p:txBody>
          <a:bodyPr/>
          <a:lstStyle>
            <a:lvl1pPr algn="ctr">
              <a:defRPr sz="5215" i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532467" y="4428728"/>
            <a:ext cx="9652098" cy="401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7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3762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8160" y="380997"/>
            <a:ext cx="9885124" cy="67173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997" y="1348371"/>
            <a:ext cx="11090638" cy="2188420"/>
          </a:xfrm>
        </p:spPr>
        <p:txBody>
          <a:bodyPr/>
          <a:lstStyle>
            <a:lvl1pPr>
              <a:defRPr sz="2844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44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844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844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844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831638" y="6537329"/>
            <a:ext cx="7200800" cy="320675"/>
          </a:xfrm>
          <a:prstGeom prst="rect">
            <a:avLst/>
          </a:prstGeom>
        </p:spPr>
        <p:txBody>
          <a:bodyPr/>
          <a:lstStyle>
            <a:lvl1pPr algn="ctr">
              <a:defRPr sz="1422" b="0">
                <a:latin typeface="+mj-lt"/>
              </a:defRPr>
            </a:lvl1pPr>
          </a:lstStyle>
          <a:p>
            <a:pPr>
              <a:defRPr/>
            </a:pPr>
            <a:r>
              <a:rPr lang="vi-VN">
                <a:solidFill>
                  <a:srgbClr val="000000"/>
                </a:solidFill>
              </a:rPr>
              <a:t>Chương 1: Tổng quan về khai phá dữ liệu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0086227" y="6529663"/>
            <a:ext cx="1500651" cy="288032"/>
          </a:xfrm>
          <a:prstGeom prst="rect">
            <a:avLst/>
          </a:prstGeom>
        </p:spPr>
        <p:txBody>
          <a:bodyPr/>
          <a:lstStyle>
            <a:lvl1pPr>
              <a:defRPr sz="1422" b="0">
                <a:latin typeface="+mj-lt"/>
              </a:defRPr>
            </a:lvl1pPr>
          </a:lstStyle>
          <a:p>
            <a:pPr>
              <a:defRPr/>
            </a:pPr>
            <a:fld id="{BA96EB09-284B-4D3F-8D29-2BCC08F775DC}" type="slidenum">
              <a:rPr lang="en-GB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>
          <a:xfrm>
            <a:off x="623393" y="6540785"/>
            <a:ext cx="2208245" cy="317219"/>
          </a:xfrm>
          <a:prstGeom prst="rect">
            <a:avLst/>
          </a:prstGeom>
        </p:spPr>
        <p:txBody>
          <a:bodyPr/>
          <a:lstStyle>
            <a:lvl1pPr algn="l">
              <a:defRPr sz="1422" b="0">
                <a:latin typeface="+mj-lt"/>
              </a:defRPr>
            </a:lvl1pPr>
          </a:lstStyle>
          <a:p>
            <a:pPr>
              <a:defRPr/>
            </a:pPr>
            <a:fld id="{520B34C7-3003-41E1-A414-1D058F463620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11-Aug-25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75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6;p5" title="Slide template-05.jpg">
            <a:extLst>
              <a:ext uri="{FF2B5EF4-FFF2-40B4-BE49-F238E27FC236}">
                <a16:creationId xmlns:a16="http://schemas.microsoft.com/office/drawing/2014/main" id="{289CA0F7-EA6F-8BD2-E2B6-9C5E73C8AE2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-3199"/>
            <a:ext cx="12192000" cy="101791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681997" y="1348371"/>
            <a:ext cx="11090638" cy="315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0" b="1" i="0" u="none" strike="noStrike" cap="none">
                <a:solidFill>
                  <a:srgbClr val="292A75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32375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Montserrat" panose="00000500000000000000" pitchFamily="2" charset="0"/>
          <a:ea typeface="Montserrat" panose="00000500000000000000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91477" y="2149055"/>
            <a:ext cx="9793088" cy="1450631"/>
          </a:xfrm>
          <a:ln>
            <a:miter lim="800000"/>
            <a:headEnd/>
            <a:tailEnd/>
          </a:ln>
        </p:spPr>
        <p:txBody>
          <a:bodyPr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>
              <a:spcBef>
                <a:spcPts val="1422"/>
              </a:spcBef>
              <a:spcAft>
                <a:spcPts val="1422"/>
              </a:spcAft>
              <a:defRPr/>
            </a:pPr>
            <a:r>
              <a:rPr lang="en-US" sz="5689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+mj-lt"/>
                <a:ea typeface="Arial Unicode MS" pitchFamily="34" charset="-128"/>
                <a:cs typeface="Arial Unicode MS" pitchFamily="34" charset="-128"/>
              </a:rPr>
              <a:t>KHAI PHÁ VÀ PHÂN TÍCH </a:t>
            </a:r>
            <a:br>
              <a:rPr lang="en-US" sz="5689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+mj-lt"/>
                <a:ea typeface="Arial Unicode MS" pitchFamily="34" charset="-128"/>
                <a:cs typeface="Arial Unicode MS" pitchFamily="34" charset="-128"/>
              </a:rPr>
            </a:br>
            <a:r>
              <a:rPr lang="en-US" sz="5689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+mj-lt"/>
                <a:ea typeface="Arial Unicode MS" pitchFamily="34" charset="-128"/>
                <a:cs typeface="Arial Unicode MS" pitchFamily="34" charset="-128"/>
              </a:rPr>
              <a:t>DỮ LIỆU</a:t>
            </a:r>
            <a:endParaRPr lang="en-GB" sz="5689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pPr defTabSz="1233845">
              <a:spcAft>
                <a:spcPts val="809"/>
              </a:spcAft>
              <a:buClr>
                <a:srgbClr val="FF0066"/>
              </a:buClr>
            </a:pPr>
            <a:r>
              <a:rPr lang="en-US" sz="4267" kern="1200" dirty="0">
                <a:solidFill>
                  <a:srgbClr val="FF0000"/>
                </a:solidFill>
                <a:latin typeface="Calibri"/>
                <a:cs typeface="Arial" pitchFamily="34" charset="0"/>
              </a:rPr>
              <a:t>CHƯƠNG 0: GIỚI THIỆU MÔN HỌC</a:t>
            </a:r>
          </a:p>
          <a:p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838039-5C31-00D7-5423-A0F502A41C87}"/>
              </a:ext>
            </a:extLst>
          </p:cNvPr>
          <p:cNvSpPr/>
          <p:nvPr/>
        </p:nvSpPr>
        <p:spPr>
          <a:xfrm>
            <a:off x="0" y="1814823"/>
            <a:ext cx="12192000" cy="3853953"/>
          </a:xfrm>
          <a:prstGeom prst="rect">
            <a:avLst/>
          </a:prstGeom>
          <a:solidFill>
            <a:srgbClr val="282A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4"/>
          </a:p>
        </p:txBody>
      </p:sp>
      <p:sp>
        <p:nvSpPr>
          <p:cNvPr id="5" name="Title 1"/>
          <p:cNvSpPr txBox="1">
            <a:spLocks/>
          </p:cNvSpPr>
          <p:nvPr/>
        </p:nvSpPr>
        <p:spPr bwMode="gray">
          <a:xfrm>
            <a:off x="993423" y="2375274"/>
            <a:ext cx="10515600" cy="2829748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4487" b="0" i="0" u="none" strike="noStrike" cap="none" dirty="0">
                <a:solidFill>
                  <a:srgbClr val="FAA6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Bold"/>
                <a:ea typeface="Montserrat ExtraBold"/>
                <a:cs typeface="Montserrat ExtraBold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1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1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1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1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1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1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1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1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127" algn="l" defTabSz="1083747">
              <a:lnSpc>
                <a:spcPct val="116824"/>
              </a:lnSpc>
              <a:buSzPts val="1400"/>
            </a:pPr>
            <a:r>
              <a:rPr lang="en-US" sz="5318" kern="0"/>
              <a:t>CLICK TO EDIT MASTER TITLE STYLE</a:t>
            </a:r>
          </a:p>
        </p:txBody>
      </p:sp>
      <p:pic>
        <p:nvPicPr>
          <p:cNvPr id="6" name="Google Shape;47;p1" title="Slide template-15.png">
            <a:extLst>
              <a:ext uri="{FF2B5EF4-FFF2-40B4-BE49-F238E27FC236}">
                <a16:creationId xmlns:a16="http://schemas.microsoft.com/office/drawing/2014/main" id="{F9954473-7431-2D29-408F-7F94010AFF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352" y="152274"/>
            <a:ext cx="2995869" cy="13613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12;p14">
            <a:extLst>
              <a:ext uri="{FF2B5EF4-FFF2-40B4-BE49-F238E27FC236}">
                <a16:creationId xmlns:a16="http://schemas.microsoft.com/office/drawing/2014/main" id="{64D8F3C8-44CF-C6E5-E1A5-654696C3B99A}"/>
              </a:ext>
            </a:extLst>
          </p:cNvPr>
          <p:cNvSpPr txBox="1"/>
          <p:nvPr/>
        </p:nvSpPr>
        <p:spPr>
          <a:xfrm>
            <a:off x="5807968" y="6042057"/>
            <a:ext cx="3242703" cy="76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452" rIns="0" bIns="0" anchor="t" anchorCtr="0">
            <a:spAutoFit/>
          </a:bodyPr>
          <a:lstStyle/>
          <a:p>
            <a:pPr marL="9127">
              <a:buClr>
                <a:srgbClr val="000000"/>
              </a:buClr>
              <a:buSzPts val="2050"/>
            </a:pPr>
            <a:r>
              <a:rPr lang="en-US" sz="1473" b="1">
                <a:solidFill>
                  <a:srgbClr val="F8A41A"/>
                </a:solidFill>
                <a:latin typeface="Montserrat" panose="00000500000000000000" pitchFamily="2" charset="0"/>
                <a:ea typeface="Tahoma"/>
                <a:cs typeface="Tahoma"/>
                <a:sym typeface="Tahoma"/>
              </a:rPr>
              <a:t>THS</a:t>
            </a:r>
            <a:r>
              <a:rPr lang="en-US" sz="1473" b="1">
                <a:solidFill>
                  <a:srgbClr val="F8A41A"/>
                </a:solidFill>
                <a:latin typeface="Montserrat" panose="00000500000000000000" pitchFamily="2" charset="0"/>
                <a:ea typeface="Tahoma"/>
                <a:cs typeface="Tahoma"/>
                <a:sym typeface="Tahoma"/>
              </a:rPr>
              <a:t>. </a:t>
            </a:r>
            <a:r>
              <a:rPr lang="en-US" sz="1473" b="1" smtClean="0">
                <a:solidFill>
                  <a:srgbClr val="F8A41A"/>
                </a:solidFill>
                <a:latin typeface="Montserrat" panose="00000500000000000000" pitchFamily="2" charset="0"/>
                <a:ea typeface="Tahoma"/>
                <a:cs typeface="Tahoma"/>
                <a:sym typeface="Tahoma"/>
              </a:rPr>
              <a:t>Lê Thị Hồng Nhung</a:t>
            </a:r>
            <a:endParaRPr lang="en-US" sz="1473" b="1">
              <a:solidFill>
                <a:srgbClr val="F8A41A"/>
              </a:solidFill>
              <a:latin typeface="Montserrat" panose="00000500000000000000" pitchFamily="2" charset="0"/>
              <a:ea typeface="Tahoma"/>
              <a:cs typeface="Tahoma"/>
              <a:sym typeface="Tahoma"/>
            </a:endParaRPr>
          </a:p>
          <a:p>
            <a:pPr marL="9127">
              <a:spcBef>
                <a:spcPts val="309"/>
              </a:spcBef>
              <a:buClr>
                <a:srgbClr val="000000"/>
              </a:buClr>
              <a:buSzPts val="2050"/>
            </a:pPr>
            <a:r>
              <a:rPr lang="en-US" sz="1473">
                <a:solidFill>
                  <a:srgbClr val="282A75"/>
                </a:solidFill>
                <a:latin typeface="Montserrat" panose="00000500000000000000" pitchFamily="2" charset="0"/>
                <a:ea typeface="Verdana"/>
                <a:cs typeface="Verdana"/>
                <a:sym typeface="Verdana"/>
              </a:rPr>
              <a:t>Khoa Công nghệ thông tin &amp; kinh tế số</a:t>
            </a:r>
            <a:endParaRPr lang="en-US" sz="1473" dirty="0">
              <a:solidFill>
                <a:srgbClr val="282A75"/>
              </a:solidFill>
              <a:latin typeface="Montserrat" panose="00000500000000000000" pitchFamily="2" charset="0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313;p14">
            <a:extLst>
              <a:ext uri="{FF2B5EF4-FFF2-40B4-BE49-F238E27FC236}">
                <a16:creationId xmlns:a16="http://schemas.microsoft.com/office/drawing/2014/main" id="{DC503B5F-A29F-C43E-DE70-C1CB455685AD}"/>
              </a:ext>
            </a:extLst>
          </p:cNvPr>
          <p:cNvSpPr txBox="1"/>
          <p:nvPr/>
        </p:nvSpPr>
        <p:spPr>
          <a:xfrm>
            <a:off x="9443887" y="6042057"/>
            <a:ext cx="2748113" cy="80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452" rIns="0" bIns="0" anchor="t" anchorCtr="0">
            <a:spAutoFit/>
          </a:bodyPr>
          <a:lstStyle/>
          <a:p>
            <a:pPr marL="9127">
              <a:buClr>
                <a:srgbClr val="000000"/>
              </a:buClr>
              <a:buSzPts val="2050"/>
            </a:pPr>
            <a:r>
              <a:rPr lang="en-US" sz="1473" b="1" dirty="0">
                <a:solidFill>
                  <a:srgbClr val="F8A41A"/>
                </a:solidFill>
                <a:latin typeface="Montserrat" panose="00000500000000000000" pitchFamily="2" charset="0"/>
                <a:ea typeface="Tahoma"/>
                <a:cs typeface="Tahoma"/>
                <a:sym typeface="Tahoma"/>
              </a:rPr>
              <a:t>T</a:t>
            </a:r>
            <a:r>
              <a:rPr lang="en-US" sz="1473" b="1">
                <a:solidFill>
                  <a:srgbClr val="F8A41A"/>
                </a:solidFill>
                <a:latin typeface="Montserrat" panose="00000500000000000000" pitchFamily="2" charset="0"/>
                <a:ea typeface="Tahoma"/>
                <a:cs typeface="Tahoma"/>
                <a:sym typeface="Tahoma"/>
              </a:rPr>
              <a:t>: </a:t>
            </a:r>
            <a:r>
              <a:rPr lang="en-US" sz="1473" smtClean="0">
                <a:solidFill>
                  <a:srgbClr val="282A75"/>
                </a:solidFill>
                <a:latin typeface="Montserrat" panose="00000500000000000000" pitchFamily="2" charset="0"/>
                <a:ea typeface="Verdana"/>
                <a:cs typeface="Verdana"/>
                <a:sym typeface="Verdana"/>
              </a:rPr>
              <a:t>0987867486</a:t>
            </a:r>
            <a:endParaRPr sz="1473" dirty="0">
              <a:solidFill>
                <a:srgbClr val="282A75"/>
              </a:solidFill>
              <a:latin typeface="Montserrat" panose="00000500000000000000" pitchFamily="2" charset="0"/>
              <a:ea typeface="Verdana"/>
              <a:cs typeface="Verdana"/>
              <a:sym typeface="Verdana"/>
            </a:endParaRPr>
          </a:p>
          <a:p>
            <a:pPr marL="9127">
              <a:spcBef>
                <a:spcPts val="309"/>
              </a:spcBef>
              <a:buClr>
                <a:srgbClr val="000000"/>
              </a:buClr>
              <a:buSzPts val="2050"/>
            </a:pPr>
            <a:r>
              <a:rPr lang="en-US" sz="1473" b="1" dirty="0">
                <a:solidFill>
                  <a:srgbClr val="FAA61A"/>
                </a:solidFill>
                <a:latin typeface="Montserrat" panose="00000500000000000000" pitchFamily="2" charset="0"/>
                <a:ea typeface="Tahoma"/>
                <a:cs typeface="Tahoma"/>
                <a:sym typeface="Tahoma"/>
              </a:rPr>
              <a:t>E</a:t>
            </a:r>
            <a:r>
              <a:rPr lang="en-US" sz="1473" b="1">
                <a:solidFill>
                  <a:srgbClr val="FAA61A"/>
                </a:solidFill>
                <a:latin typeface="Montserrat" panose="00000500000000000000" pitchFamily="2" charset="0"/>
                <a:ea typeface="Tahoma"/>
                <a:cs typeface="Tahoma"/>
                <a:sym typeface="Tahoma"/>
              </a:rPr>
              <a:t>: </a:t>
            </a:r>
            <a:r>
              <a:rPr lang="en-US" sz="1473" u="sng" smtClean="0">
                <a:solidFill>
                  <a:srgbClr val="282A75"/>
                </a:solidFill>
                <a:latin typeface="Montserrat" panose="00000500000000000000" pitchFamily="2" charset="0"/>
                <a:ea typeface="Verdana"/>
                <a:cs typeface="Tahoma"/>
                <a:sym typeface="Verdana"/>
              </a:rPr>
              <a:t>nhunglth</a:t>
            </a:r>
            <a:r>
              <a:rPr lang="en-US" sz="1473" u="sng" smtClean="0">
                <a:solidFill>
                  <a:srgbClr val="282A75"/>
                </a:solidFill>
                <a:latin typeface="Montserrat" panose="00000500000000000000" pitchFamily="2" charset="0"/>
                <a:ea typeface="Verdana"/>
                <a:cs typeface="Verdana"/>
                <a:sym typeface="Verdana"/>
              </a:rPr>
              <a:t>@hvnh.edu.vn</a:t>
            </a:r>
            <a:endParaRPr sz="1473" dirty="0">
              <a:solidFill>
                <a:srgbClr val="282A75"/>
              </a:solidFill>
              <a:latin typeface="Montserrat" panose="00000500000000000000" pitchFamily="2" charset="0"/>
              <a:ea typeface="Verdana"/>
              <a:cs typeface="Verdana"/>
              <a:sym typeface="Verdana"/>
            </a:endParaRPr>
          </a:p>
          <a:p>
            <a:pPr marL="9127">
              <a:spcBef>
                <a:spcPts val="306"/>
              </a:spcBef>
              <a:buClr>
                <a:srgbClr val="000000"/>
              </a:buClr>
              <a:buSzPts val="2050"/>
            </a:pPr>
            <a:r>
              <a:rPr lang="en-US" sz="1473" b="1">
                <a:solidFill>
                  <a:srgbClr val="F8A41A"/>
                </a:solidFill>
                <a:latin typeface="Montserrat" panose="00000500000000000000" pitchFamily="2" charset="0"/>
                <a:ea typeface="Tahoma"/>
                <a:cs typeface="Tahoma"/>
                <a:sym typeface="Tahoma"/>
              </a:rPr>
              <a:t>W: </a:t>
            </a:r>
            <a:r>
              <a:rPr lang="en-US" sz="1473" u="sng">
                <a:solidFill>
                  <a:srgbClr val="282A75"/>
                </a:solidFill>
                <a:latin typeface="Montserrat" panose="00000500000000000000" pitchFamily="2" charset="0"/>
                <a:ea typeface="Verdana"/>
                <a:cs typeface="Verdana"/>
                <a:sym typeface="Verdana"/>
              </a:rPr>
              <a:t>itde.hvnh.edu.vn</a:t>
            </a:r>
            <a:endParaRPr sz="1473" dirty="0">
              <a:solidFill>
                <a:srgbClr val="282A75"/>
              </a:solidFill>
              <a:latin typeface="Montserrat" panose="00000500000000000000" pitchFamily="2" charset="0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6295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3752" y="188640"/>
            <a:ext cx="4608512" cy="782867"/>
          </a:xfrm>
          <a:noFill/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just"/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Nội</a:t>
            </a:r>
            <a:r>
              <a:rPr lang="en-US" sz="3319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dung </a:t>
            </a:r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môn</a:t>
            </a:r>
            <a:r>
              <a:rPr lang="en-US" sz="3319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học</a:t>
            </a:r>
            <a:endParaRPr lang="vi-VN" sz="3319" baseline="300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431" y="1364192"/>
            <a:ext cx="10411823" cy="4538829"/>
          </a:xfrm>
        </p:spPr>
        <p:txBody>
          <a:bodyPr>
            <a:normAutofit/>
          </a:bodyPr>
          <a:lstStyle/>
          <a:p>
            <a:pPr marL="0" indent="0" defTabSz="1083747" fontAlgn="base">
              <a:spcAft>
                <a:spcPct val="0"/>
              </a:spcAft>
              <a:buClr>
                <a:srgbClr val="E68200"/>
              </a:buClr>
            </a:pPr>
            <a:r>
              <a:rPr lang="en-US" sz="3200" b="0" dirty="0" err="1">
                <a:solidFill>
                  <a:schemeClr val="accent1">
                    <a:lumMod val="75000"/>
                  </a:schemeClr>
                </a:solidFill>
              </a:rPr>
              <a:t>Chương</a:t>
            </a:r>
            <a:r>
              <a:rPr lang="en-US" sz="3200" b="0" dirty="0">
                <a:solidFill>
                  <a:schemeClr val="accent1">
                    <a:lumMod val="75000"/>
                  </a:schemeClr>
                </a:solidFill>
              </a:rPr>
              <a:t> 1.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Tổng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quan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err="1">
                <a:solidFill>
                  <a:schemeClr val="accent1">
                    <a:lumMod val="75000"/>
                  </a:schemeClr>
                </a:solidFill>
              </a:rPr>
              <a:t>về</a:t>
            </a:r>
            <a:r>
              <a:rPr lang="en-US" altLang="en-US" sz="3200" b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>
                <a:solidFill>
                  <a:schemeClr val="accent1">
                    <a:lumMod val="75000"/>
                  </a:schemeClr>
                </a:solidFill>
              </a:rPr>
              <a:t>phân tích và khai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phá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dữ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liệu</a:t>
            </a:r>
            <a:endParaRPr lang="en-US" altLang="en-US" sz="3200" b="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just">
              <a:spcAft>
                <a:spcPts val="809"/>
              </a:spcAft>
              <a:buClr>
                <a:srgbClr val="FF0066"/>
              </a:buClr>
            </a:pPr>
            <a:r>
              <a:rPr lang="en-US" sz="3200" b="0" dirty="0" err="1">
                <a:solidFill>
                  <a:schemeClr val="accent1">
                    <a:lumMod val="75000"/>
                  </a:schemeClr>
                </a:solidFill>
              </a:rPr>
              <a:t>Chương</a:t>
            </a:r>
            <a:r>
              <a:rPr lang="en-US" sz="3200" b="0" dirty="0">
                <a:solidFill>
                  <a:schemeClr val="accent1">
                    <a:lumMod val="75000"/>
                  </a:schemeClr>
                </a:solidFill>
              </a:rPr>
              <a:t> 2.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Các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vấn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đề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tiền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xử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lý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err="1">
                <a:solidFill>
                  <a:schemeClr val="accent1">
                    <a:lumMod val="75000"/>
                  </a:schemeClr>
                </a:solidFill>
              </a:rPr>
              <a:t>dữ</a:t>
            </a:r>
            <a:r>
              <a:rPr lang="en-US" altLang="en-US" sz="3200" b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>
                <a:solidFill>
                  <a:schemeClr val="accent1">
                    <a:lumMod val="75000"/>
                  </a:schemeClr>
                </a:solidFill>
              </a:rPr>
              <a:t>liệu</a:t>
            </a:r>
          </a:p>
          <a:p>
            <a:pPr marL="0" indent="0" algn="just">
              <a:spcAft>
                <a:spcPts val="809"/>
              </a:spcAft>
              <a:buClr>
                <a:srgbClr val="FF0066"/>
              </a:buClr>
            </a:pPr>
            <a:r>
              <a:rPr lang="en-US" sz="3200" b="0" smtClean="0">
                <a:solidFill>
                  <a:schemeClr val="accent1">
                    <a:lumMod val="75000"/>
                  </a:schemeClr>
                </a:solidFill>
              </a:rPr>
              <a:t>Chương 3: Mô hình hồi quy</a:t>
            </a:r>
            <a:endParaRPr lang="en-US" sz="3200" b="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just">
              <a:spcAft>
                <a:spcPts val="809"/>
              </a:spcAft>
              <a:buClr>
                <a:srgbClr val="FF0066"/>
              </a:buClr>
            </a:pPr>
            <a:r>
              <a:rPr lang="en-US" sz="3200" b="0" err="1">
                <a:solidFill>
                  <a:schemeClr val="accent1">
                    <a:lumMod val="75000"/>
                  </a:schemeClr>
                </a:solidFill>
              </a:rPr>
              <a:t>Chương</a:t>
            </a:r>
            <a:r>
              <a:rPr lang="en-US" sz="3200" b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0">
                <a:solidFill>
                  <a:schemeClr val="accent1">
                    <a:lumMod val="75000"/>
                  </a:schemeClr>
                </a:solidFill>
              </a:rPr>
              <a:t>4.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Phân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lớp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dữ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liệu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marL="0" indent="0" algn="just">
              <a:spcAft>
                <a:spcPts val="809"/>
              </a:spcAft>
              <a:buClr>
                <a:srgbClr val="FF0066"/>
              </a:buClr>
            </a:pPr>
            <a:r>
              <a:rPr lang="en-US" sz="3200" b="0" err="1">
                <a:solidFill>
                  <a:schemeClr val="accent1">
                    <a:lumMod val="75000"/>
                  </a:schemeClr>
                </a:solidFill>
              </a:rPr>
              <a:t>Chương</a:t>
            </a:r>
            <a:r>
              <a:rPr lang="en-US" sz="3200" b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0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en-US" sz="3200" b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Phân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cụm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dữ</a:t>
            </a:r>
            <a:r>
              <a:rPr lang="en-US" altLang="en-US" sz="32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 dirty="0" err="1">
                <a:solidFill>
                  <a:schemeClr val="accent1">
                    <a:lumMod val="75000"/>
                  </a:schemeClr>
                </a:solidFill>
              </a:rPr>
              <a:t>liệu</a:t>
            </a:r>
            <a:endParaRPr lang="en-US" altLang="en-US" sz="3200" b="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just">
              <a:spcAft>
                <a:spcPts val="809"/>
              </a:spcAft>
              <a:buClr>
                <a:srgbClr val="FF0066"/>
              </a:buClr>
            </a:pPr>
            <a:r>
              <a:rPr lang="en-US" sz="3200" b="0" err="1">
                <a:solidFill>
                  <a:schemeClr val="accent1">
                    <a:lumMod val="75000"/>
                  </a:schemeClr>
                </a:solidFill>
              </a:rPr>
              <a:t>Chương</a:t>
            </a:r>
            <a:r>
              <a:rPr lang="en-US" sz="3200" b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0">
                <a:solidFill>
                  <a:schemeClr val="accent1">
                    <a:lumMod val="75000"/>
                  </a:schemeClr>
                </a:solidFill>
              </a:rPr>
              <a:t>6. </a:t>
            </a:r>
            <a:r>
              <a:rPr lang="en-US" altLang="en-US" sz="3200" b="0">
                <a:solidFill>
                  <a:schemeClr val="accent1">
                    <a:lumMod val="75000"/>
                  </a:schemeClr>
                </a:solidFill>
              </a:rPr>
              <a:t>Phát hiện luật </a:t>
            </a:r>
            <a:r>
              <a:rPr lang="en-US" altLang="en-US" sz="3200" b="0" err="1">
                <a:solidFill>
                  <a:schemeClr val="accent1">
                    <a:lumMod val="75000"/>
                  </a:schemeClr>
                </a:solidFill>
              </a:rPr>
              <a:t>kết</a:t>
            </a:r>
            <a:r>
              <a:rPr lang="en-US" altLang="en-US" sz="3200" b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3200" b="0">
                <a:solidFill>
                  <a:schemeClr val="accent1">
                    <a:lumMod val="75000"/>
                  </a:schemeClr>
                </a:solidFill>
              </a:rPr>
              <a:t>hợp</a:t>
            </a:r>
            <a:endParaRPr lang="en-US" sz="3200" b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7808B0-DB8A-471C-82EF-CF06681341D9}" type="slidenum">
              <a:rPr lang="vi-VN" smtClean="0"/>
              <a:t>2</a:t>
            </a:fld>
            <a:endParaRPr lang="vi-VN"/>
          </a:p>
        </p:txBody>
      </p:sp>
      <p:cxnSp>
        <p:nvCxnSpPr>
          <p:cNvPr id="4" name="Straight Connector 3"/>
          <p:cNvCxnSpPr/>
          <p:nvPr/>
        </p:nvCxnSpPr>
        <p:spPr>
          <a:xfrm>
            <a:off x="551385" y="901844"/>
            <a:ext cx="11233248" cy="0"/>
          </a:xfrm>
          <a:prstGeom prst="line">
            <a:avLst/>
          </a:prstGeom>
          <a:ln w="50800" cmpd="sng">
            <a:solidFill>
              <a:schemeClr val="accent6">
                <a:lumMod val="75000"/>
              </a:scheme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28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9">
            <a:extLst>
              <a:ext uri="{FF2B5EF4-FFF2-40B4-BE49-F238E27FC236}">
                <a16:creationId xmlns:a16="http://schemas.microsoft.com/office/drawing/2014/main" id="{EAD15B0F-07C7-4FCF-A1E3-3751113609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4201152"/>
              </p:ext>
            </p:extLst>
          </p:nvPr>
        </p:nvGraphicFramePr>
        <p:xfrm>
          <a:off x="623392" y="1105111"/>
          <a:ext cx="11219457" cy="553736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1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084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Buổi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dung</a:t>
                      </a:r>
                      <a:endParaRPr lang="vi-VN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Buổi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24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dung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82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C1: Tổng quan </a:t>
                      </a:r>
                      <a:r>
                        <a:rPr lang="en-US" sz="24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về phân</a:t>
                      </a:r>
                      <a:r>
                        <a:rPr lang="en-US" sz="24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tích và</a:t>
                      </a:r>
                      <a:r>
                        <a:rPr lang="en-US" sz="24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khai phá dữ liệu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vi-VN" sz="2400" kern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2400" kern="1200" baseline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tra 1</a:t>
                      </a:r>
                      <a:endParaRPr lang="vi-VN" sz="2400" kern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416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C2: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Tiền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endParaRPr lang="en-US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C5: </a:t>
                      </a:r>
                      <a:r>
                        <a:rPr lang="en-US" sz="2400" kern="120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sz="2400" kern="1200" baseline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cụm dữ liệu</a:t>
                      </a:r>
                      <a:endParaRPr lang="vi-VN" sz="2400" kern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416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hành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Tiền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endParaRPr lang="en-US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vi-VN" sz="2400" kern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smtClean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C5:</a:t>
                      </a:r>
                      <a:r>
                        <a:rPr lang="en-US" sz="2400" baseline="0" smtClean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Phân cụm dữ liệu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416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marR="0" lvl="0" indent="0" algn="just" defTabSz="10410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</a:t>
                      </a:r>
                      <a:r>
                        <a:rPr lang="en-US" sz="24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Mô</a:t>
                      </a:r>
                      <a:r>
                        <a:rPr lang="en-US" sz="24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hình hồi quy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24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hành phân cụm dữ liệu</a:t>
                      </a:r>
                      <a:endParaRPr lang="vi-VN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416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</a:t>
                      </a: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4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24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hình hồi quy</a:t>
                      </a:r>
                      <a:endParaRPr lang="vi-VN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C6: Khai</a:t>
                      </a:r>
                      <a:r>
                        <a:rPr lang="en-US" sz="24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phá luật kết hợp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963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C4:</a:t>
                      </a:r>
                      <a:r>
                        <a:rPr lang="en-US" sz="24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Phân lớp dữ liệu</a:t>
                      </a:r>
                      <a:endParaRPr lang="vi-VN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smtClean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2400" baseline="0" smtClean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hành khai phá luật kết hợp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416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C4: </a:t>
                      </a:r>
                      <a:r>
                        <a:rPr lang="en-US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lớp</a:t>
                      </a:r>
                      <a:r>
                        <a:rPr lang="en-US" sz="24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dữ liệu</a:t>
                      </a:r>
                      <a:endParaRPr lang="vi-VN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smtClean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2400" baseline="0" smtClean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tra 2</a:t>
                      </a:r>
                      <a:endParaRPr lang="vi-VN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0416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vi-VN" sz="2400" kern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Thực hành phân lớp dữ liệu</a:t>
                      </a:r>
                      <a:endParaRPr kumimoji="0" lang="vi-V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vi-VN" sz="240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marR="0" lvl="0" indent="0" algn="l" defTabSz="10410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Ôn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tập</a:t>
                      </a:r>
                      <a:endParaRPr lang="vi-VN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8373" marR="108373" marT="54187" marB="5418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7808B0-DB8A-471C-82EF-CF06681341D9}" type="slidenum">
              <a:rPr lang="vi-VN" smtClean="0"/>
              <a:t>3</a:t>
            </a:fld>
            <a:endParaRPr lang="vi-VN"/>
          </a:p>
        </p:txBody>
      </p:sp>
      <p:cxnSp>
        <p:nvCxnSpPr>
          <p:cNvPr id="4" name="Straight Connector 3"/>
          <p:cNvCxnSpPr/>
          <p:nvPr/>
        </p:nvCxnSpPr>
        <p:spPr>
          <a:xfrm>
            <a:off x="479376" y="908720"/>
            <a:ext cx="11233248" cy="0"/>
          </a:xfrm>
          <a:prstGeom prst="line">
            <a:avLst/>
          </a:prstGeom>
          <a:ln w="50800" cmpd="sng">
            <a:solidFill>
              <a:schemeClr val="accent6">
                <a:lumMod val="75000"/>
              </a:scheme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71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7648" y="0"/>
            <a:ext cx="5120569" cy="922191"/>
          </a:xfrm>
          <a:noFill/>
        </p:spPr>
        <p:txBody>
          <a:bodyPr>
            <a:normAutofit/>
          </a:bodyPr>
          <a:lstStyle/>
          <a:p>
            <a:pPr algn="just"/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Tài</a:t>
            </a:r>
            <a:r>
              <a:rPr lang="en-US" sz="3319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liệu</a:t>
            </a:r>
            <a:r>
              <a:rPr lang="en-US" sz="3319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tham</a:t>
            </a:r>
            <a:r>
              <a:rPr lang="en-US" sz="3319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khảo</a:t>
            </a:r>
            <a:endParaRPr lang="vi-VN" sz="3319" baseline="300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408" y="1268760"/>
            <a:ext cx="11055021" cy="5717969"/>
          </a:xfrm>
        </p:spPr>
        <p:txBody>
          <a:bodyPr>
            <a:noAutofit/>
          </a:bodyPr>
          <a:lstStyle/>
          <a:p>
            <a:pPr marL="541873" lvl="2" indent="-541873" algn="just">
              <a:lnSpc>
                <a:spcPct val="110000"/>
              </a:lnSpc>
              <a:spcAft>
                <a:spcPts val="711"/>
              </a:spcAft>
              <a:buClr>
                <a:srgbClr val="FF0066"/>
              </a:buClr>
            </a:pPr>
            <a:r>
              <a:rPr lang="en-US" sz="2400" dirty="0">
                <a:solidFill>
                  <a:srgbClr val="002060"/>
                </a:solidFill>
                <a:latin typeface="Cambria"/>
              </a:rPr>
              <a:t>[1]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J.Han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 and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M.Kamber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, “Data Mining-Concepts and Techniques”, Morgan Kaufmann, 3rd Edition, 2011. </a:t>
            </a:r>
          </a:p>
          <a:p>
            <a:pPr marL="541873" lvl="2" indent="-541873" algn="just">
              <a:lnSpc>
                <a:spcPct val="110000"/>
              </a:lnSpc>
              <a:spcAft>
                <a:spcPts val="711"/>
              </a:spcAft>
              <a:buClr>
                <a:srgbClr val="FF0066"/>
              </a:buClr>
            </a:pPr>
            <a:r>
              <a:rPr lang="en-US" sz="2400" dirty="0">
                <a:solidFill>
                  <a:srgbClr val="002060"/>
                </a:solidFill>
                <a:latin typeface="Cambria"/>
              </a:rPr>
              <a:t>[2] Ian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H.witten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,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Eibe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 Frank, and Marker Hall, “Data Mining – Practical Machine Learning Tools and Techniques”, Morgan Kaufmann, 2011.</a:t>
            </a:r>
          </a:p>
          <a:p>
            <a:pPr marL="541873" lvl="2" indent="-541873" algn="just">
              <a:lnSpc>
                <a:spcPct val="110000"/>
              </a:lnSpc>
              <a:spcAft>
                <a:spcPts val="711"/>
              </a:spcAft>
              <a:buClr>
                <a:srgbClr val="FF0066"/>
              </a:buClr>
            </a:pPr>
            <a:r>
              <a:rPr lang="en-US" sz="2400" dirty="0">
                <a:solidFill>
                  <a:srgbClr val="002060"/>
                </a:solidFill>
                <a:latin typeface="Cambria"/>
              </a:rPr>
              <a:t>[3] Daniel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T.Larose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, “Discovering Knowledge in Data – An introduction to Data Mining”, John Wiley &amp; Sons , 2005.</a:t>
            </a:r>
          </a:p>
          <a:p>
            <a:pPr marL="541873" lvl="2" indent="-541873" algn="just">
              <a:lnSpc>
                <a:spcPct val="110000"/>
              </a:lnSpc>
              <a:spcAft>
                <a:spcPts val="711"/>
              </a:spcAft>
              <a:buClr>
                <a:srgbClr val="FF0066"/>
              </a:buClr>
            </a:pPr>
            <a:r>
              <a:rPr lang="en-US" sz="2400" dirty="0">
                <a:solidFill>
                  <a:srgbClr val="002060"/>
                </a:solidFill>
                <a:latin typeface="Cambria"/>
              </a:rPr>
              <a:t>[4] Max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Bramer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, “Principles of Data Mining”, Springer, 2007.</a:t>
            </a:r>
          </a:p>
          <a:p>
            <a:pPr marL="541873" lvl="2" indent="-541873" algn="just">
              <a:lnSpc>
                <a:spcPct val="110000"/>
              </a:lnSpc>
              <a:spcAft>
                <a:spcPts val="711"/>
              </a:spcAft>
              <a:buClr>
                <a:srgbClr val="FF0066"/>
              </a:buClr>
            </a:pPr>
            <a:r>
              <a:rPr lang="en-US" sz="2400" dirty="0">
                <a:solidFill>
                  <a:srgbClr val="002060"/>
                </a:solidFill>
                <a:latin typeface="Cambria"/>
              </a:rPr>
              <a:t>[5] Ho Tu Bao, “Introduction to Knowledge Discovery and Data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Minning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”, National Center of Natural Science a Technology, 2010.</a:t>
            </a:r>
          </a:p>
          <a:p>
            <a:pPr marL="541873" lvl="2" indent="-541873" algn="just">
              <a:lnSpc>
                <a:spcPct val="110000"/>
              </a:lnSpc>
              <a:spcAft>
                <a:spcPts val="711"/>
              </a:spcAft>
              <a:buClr>
                <a:srgbClr val="FF0066"/>
              </a:buClr>
            </a:pPr>
            <a:r>
              <a:rPr lang="en-US" sz="2400" dirty="0">
                <a:solidFill>
                  <a:srgbClr val="002060"/>
                </a:solidFill>
                <a:latin typeface="Cambria"/>
              </a:rPr>
              <a:t>[6] Hà Quang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Thụy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, “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Giáo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trình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Khai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phá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dữ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liệu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”, NXB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Đại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học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ambria"/>
              </a:rPr>
              <a:t>Quốc</a:t>
            </a:r>
            <a:r>
              <a:rPr lang="en-US" sz="2400" dirty="0">
                <a:solidFill>
                  <a:srgbClr val="002060"/>
                </a:solidFill>
                <a:latin typeface="Cambria"/>
              </a:rPr>
              <a:t> Gia, 2013.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7808B0-DB8A-471C-82EF-CF06681341D9}" type="slidenum">
              <a:rPr lang="vi-VN" smtClean="0"/>
              <a:t>4</a:t>
            </a:fld>
            <a:endParaRPr lang="vi-VN"/>
          </a:p>
        </p:txBody>
      </p:sp>
      <p:cxnSp>
        <p:nvCxnSpPr>
          <p:cNvPr id="4" name="Straight Connector 3"/>
          <p:cNvCxnSpPr/>
          <p:nvPr/>
        </p:nvCxnSpPr>
        <p:spPr>
          <a:xfrm>
            <a:off x="516714" y="934321"/>
            <a:ext cx="11233248" cy="0"/>
          </a:xfrm>
          <a:prstGeom prst="line">
            <a:avLst/>
          </a:prstGeom>
          <a:ln w="50800" cmpd="sng">
            <a:solidFill>
              <a:schemeClr val="accent6">
                <a:lumMod val="75000"/>
              </a:scheme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38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5640" y="0"/>
            <a:ext cx="4352484" cy="922191"/>
          </a:xfrm>
          <a:noFill/>
        </p:spPr>
        <p:txBody>
          <a:bodyPr>
            <a:normAutofit/>
          </a:bodyPr>
          <a:lstStyle/>
          <a:p>
            <a:pPr algn="just"/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Kỹ</a:t>
            </a:r>
            <a:r>
              <a:rPr lang="en-US" sz="3319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3319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đạt</a:t>
            </a:r>
            <a:r>
              <a:rPr lang="en-US" sz="3319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được</a:t>
            </a:r>
            <a:endParaRPr lang="vi-VN" sz="3319" baseline="300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859" y="1335435"/>
            <a:ext cx="11055019" cy="6486053"/>
          </a:xfrm>
        </p:spPr>
        <p:txBody>
          <a:bodyPr>
            <a:noAutofit/>
          </a:bodyPr>
          <a:lstStyle/>
          <a:p>
            <a:pPr algn="just">
              <a:spcAft>
                <a:spcPts val="711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Hiểu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các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bước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trong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err="1">
                <a:solidFill>
                  <a:srgbClr val="002060"/>
                </a:solidFill>
                <a:ea typeface="Cambria" panose="02040503050406030204" pitchFamily="18" charset="0"/>
              </a:rPr>
              <a:t>quá</a:t>
            </a:r>
            <a:r>
              <a:rPr lang="en-US" altLang="en-US" sz="2600" b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>
                <a:solidFill>
                  <a:srgbClr val="002060"/>
                </a:solidFill>
                <a:ea typeface="Cambria" panose="02040503050406030204" pitchFamily="18" charset="0"/>
              </a:rPr>
              <a:t>trình phân tích và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khai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phá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tri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thức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từ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dữ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liệu</a:t>
            </a:r>
            <a:endParaRPr lang="en-US" altLang="en-US" sz="2600" b="0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algn="just">
              <a:spcAft>
                <a:spcPts val="711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Mô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tả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được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các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khái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niệm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cơ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bản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,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công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nghệ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,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và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ứng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dụng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của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khai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phá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dữ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liệu</a:t>
            </a:r>
            <a:endParaRPr lang="en-US" altLang="en-US" sz="2600" b="0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algn="just">
              <a:spcAft>
                <a:spcPts val="711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Giải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thích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được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các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tác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vụ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khai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phá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dữ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liệu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phổ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biến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như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hồi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qui,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phân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loại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,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gom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cụm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,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và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khai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phá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luật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kết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hợp</a:t>
            </a:r>
            <a:endParaRPr lang="en-US" altLang="en-US" sz="2600" b="0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algn="just">
              <a:spcAft>
                <a:spcPts val="711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Nhận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dạng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được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các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vấn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đề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về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dữ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liệu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trong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giai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đoạn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tiền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xử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lý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cho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các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tác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vụ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khai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phá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dữ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liệu</a:t>
            </a:r>
            <a:endParaRPr lang="en-US" altLang="en-US" sz="2600" b="0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algn="just">
              <a:spcAft>
                <a:spcPts val="711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Hiểu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cách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sử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dụng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khai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phá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dữ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liệu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để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có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được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các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quyết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định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tốt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hơn</a:t>
            </a:r>
            <a:endParaRPr lang="en-US" altLang="en-US" sz="2600" b="0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algn="just">
              <a:spcAft>
                <a:spcPts val="711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Sử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dụng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được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các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giải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thuật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và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công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cụ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khai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phá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dữ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liệu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để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phát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triển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ứng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dụng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khai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phá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dữ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liệu</a:t>
            </a:r>
            <a:endParaRPr lang="en-US" altLang="en-US" sz="2600" b="0" dirty="0">
              <a:solidFill>
                <a:srgbClr val="002060"/>
              </a:solidFill>
              <a:ea typeface="Cambria" panose="02040503050406030204" pitchFamily="18" charset="0"/>
            </a:endParaRPr>
          </a:p>
          <a:p>
            <a:pPr algn="just">
              <a:spcAft>
                <a:spcPts val="711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Được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chuẩn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bị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về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kiến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thức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để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có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thể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nghiên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cứu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trong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lĩnh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vực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khai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phá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dữ</a:t>
            </a:r>
            <a:r>
              <a:rPr lang="en-US" altLang="en-US" sz="2600" b="0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altLang="en-US" sz="2600" b="0" dirty="0" err="1">
                <a:solidFill>
                  <a:srgbClr val="002060"/>
                </a:solidFill>
                <a:ea typeface="Cambria" panose="02040503050406030204" pitchFamily="18" charset="0"/>
              </a:rPr>
              <a:t>liệu</a:t>
            </a:r>
            <a:endParaRPr lang="en-US" altLang="en-US" sz="2600" b="0" dirty="0">
              <a:solidFill>
                <a:srgbClr val="002060"/>
              </a:solidFill>
              <a:ea typeface="Cambria" panose="020405030504060302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7808B0-DB8A-471C-82EF-CF06681341D9}" type="slidenum">
              <a:rPr lang="vi-VN" smtClean="0"/>
              <a:t>5</a:t>
            </a:fld>
            <a:endParaRPr lang="vi-VN"/>
          </a:p>
        </p:txBody>
      </p:sp>
      <p:cxnSp>
        <p:nvCxnSpPr>
          <p:cNvPr id="4" name="Straight Connector 3"/>
          <p:cNvCxnSpPr/>
          <p:nvPr/>
        </p:nvCxnSpPr>
        <p:spPr>
          <a:xfrm>
            <a:off x="530048" y="922188"/>
            <a:ext cx="11233248" cy="0"/>
          </a:xfrm>
          <a:prstGeom prst="line">
            <a:avLst/>
          </a:prstGeom>
          <a:ln w="50800" cmpd="sng">
            <a:solidFill>
              <a:schemeClr val="accent6">
                <a:lumMod val="75000"/>
              </a:scheme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49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672" y="-13462"/>
            <a:ext cx="3755084" cy="922191"/>
          </a:xfrm>
          <a:noFill/>
        </p:spPr>
        <p:txBody>
          <a:bodyPr>
            <a:normAutofit/>
          </a:bodyPr>
          <a:lstStyle/>
          <a:p>
            <a:pPr algn="just"/>
            <a:r>
              <a:rPr lang="en-US" sz="3793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Đánh</a:t>
            </a:r>
            <a:r>
              <a:rPr lang="en-US" sz="3793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793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giá</a:t>
            </a:r>
            <a:endParaRPr lang="vi-VN" sz="3793" baseline="300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408" y="1620223"/>
            <a:ext cx="10689185" cy="4625090"/>
          </a:xfrm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3319" b="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Kiểm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3319" b="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tra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1- </a:t>
            </a:r>
            <a:r>
              <a:rPr lang="en-US" altLang="en-US" sz="3319" b="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Bài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3319" b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tập</a:t>
            </a:r>
            <a:r>
              <a:rPr lang="en-US" altLang="en-US" sz="3319" b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3319" b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thực hành:</a:t>
            </a:r>
            <a:r>
              <a:rPr lang="en-US" altLang="en-US" sz="3319" b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	</a:t>
            </a:r>
            <a:r>
              <a:rPr lang="en-US" altLang="en-US" sz="3319" b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15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%</a:t>
            </a:r>
          </a:p>
          <a:p>
            <a:pPr algn="just"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3319" b="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Kiểm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3319" b="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tra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2- </a:t>
            </a:r>
            <a:r>
              <a:rPr lang="en-US" altLang="en-US" sz="3319" b="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Bài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3319" b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tập</a:t>
            </a:r>
            <a:r>
              <a:rPr lang="en-US" altLang="en-US" sz="3319" b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3319" b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thực hành:        15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%</a:t>
            </a:r>
          </a:p>
          <a:p>
            <a:pPr algn="just"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3319" b="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Chuyên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3319" b="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cần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: </a:t>
            </a:r>
            <a:r>
              <a:rPr lang="en-US" altLang="en-US" sz="3319" b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	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	        		10%</a:t>
            </a:r>
          </a:p>
          <a:p>
            <a:pPr algn="just"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Thi </a:t>
            </a:r>
            <a:r>
              <a:rPr lang="en-US" altLang="en-US" sz="3319" b="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cuối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3319" b="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kỳ</a:t>
            </a:r>
            <a:r>
              <a:rPr lang="en-US" altLang="en-US" sz="3319" b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:  </a:t>
            </a:r>
            <a:r>
              <a:rPr lang="en-US" altLang="en-US" sz="3319" b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báo cáo bài tập lớn 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(</a:t>
            </a:r>
            <a:r>
              <a:rPr lang="en-US" altLang="en-US" sz="3319" b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3 </a:t>
            </a:r>
            <a:r>
              <a:rPr lang="en-US" altLang="en-US" sz="3319" b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– 5 SV</a:t>
            </a:r>
            <a:r>
              <a:rPr lang="en-US" altLang="en-US" sz="3319" b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): </a:t>
            </a:r>
            <a:r>
              <a:rPr lang="en-US" altLang="en-US" sz="3319" b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3319" b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60%</a:t>
            </a:r>
          </a:p>
          <a:p>
            <a:pPr algn="just"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endParaRPr lang="en-US" sz="3319" b="0" dirty="0">
              <a:solidFill>
                <a:schemeClr val="accent1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7808B0-DB8A-471C-82EF-CF06681341D9}" type="slidenum">
              <a:rPr lang="vi-VN" smtClean="0"/>
              <a:t>6</a:t>
            </a:fld>
            <a:endParaRPr lang="vi-VN"/>
          </a:p>
        </p:txBody>
      </p:sp>
      <p:cxnSp>
        <p:nvCxnSpPr>
          <p:cNvPr id="4" name="Straight Connector 3"/>
          <p:cNvCxnSpPr/>
          <p:nvPr/>
        </p:nvCxnSpPr>
        <p:spPr>
          <a:xfrm>
            <a:off x="647394" y="908726"/>
            <a:ext cx="11233248" cy="0"/>
          </a:xfrm>
          <a:prstGeom prst="line">
            <a:avLst/>
          </a:prstGeom>
          <a:ln w="50800" cmpd="sng">
            <a:solidFill>
              <a:schemeClr val="accent6">
                <a:lumMod val="75000"/>
              </a:scheme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84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7728" y="5588"/>
            <a:ext cx="5888654" cy="922191"/>
          </a:xfrm>
          <a:noFill/>
        </p:spPr>
        <p:txBody>
          <a:bodyPr>
            <a:normAutofit/>
          </a:bodyPr>
          <a:lstStyle/>
          <a:p>
            <a:pPr algn="just"/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Yêu</a:t>
            </a:r>
            <a:r>
              <a:rPr lang="en-US" sz="3319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cầu</a:t>
            </a:r>
            <a:r>
              <a:rPr lang="en-US" sz="3319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đối</a:t>
            </a:r>
            <a:r>
              <a:rPr lang="en-US" sz="3319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với</a:t>
            </a:r>
            <a:r>
              <a:rPr lang="en-US" sz="3319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sinh</a:t>
            </a:r>
            <a:r>
              <a:rPr lang="en-US" sz="3319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319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viên</a:t>
            </a:r>
            <a:endParaRPr lang="vi-VN" sz="3319" baseline="300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894" y="1556792"/>
            <a:ext cx="10766984" cy="4011112"/>
          </a:xfrm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3319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Sinh</a:t>
            </a:r>
            <a:r>
              <a:rPr lang="en-US" altLang="en-US" sz="3319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3319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viên</a:t>
            </a:r>
            <a:r>
              <a:rPr lang="en-US" altLang="en-US" sz="3319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3319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nên</a:t>
            </a:r>
            <a:r>
              <a:rPr lang="en-US" altLang="en-US" sz="3319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:</a:t>
            </a:r>
          </a:p>
          <a:p>
            <a:pPr marL="1008487" lvl="2" indent="-466613" algn="just">
              <a:lnSpc>
                <a:spcPct val="110000"/>
              </a:lnSpc>
              <a:spcAft>
                <a:spcPts val="711"/>
              </a:spcAft>
              <a:buClr>
                <a:srgbClr val="FF0066"/>
              </a:buClr>
            </a:pP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Có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mặt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tại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lớp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hơn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75%.</a:t>
            </a:r>
          </a:p>
          <a:p>
            <a:pPr marL="1008487" lvl="2" indent="-466613" algn="just">
              <a:lnSpc>
                <a:spcPct val="110000"/>
              </a:lnSpc>
              <a:spcAft>
                <a:spcPts val="711"/>
              </a:spcAft>
              <a:buClr>
                <a:srgbClr val="FF0066"/>
              </a:buClr>
            </a:pPr>
            <a:r>
              <a:rPr lang="en-US" altLang="en-US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Đọc</a:t>
            </a:r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trước</a:t>
            </a:r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tài</a:t>
            </a:r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liệu</a:t>
            </a:r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tham</a:t>
            </a:r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khảo</a:t>
            </a:r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cho</a:t>
            </a:r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mỗi</a:t>
            </a:r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chương</a:t>
            </a:r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  <a:p>
            <a:pPr marL="1008487" lvl="2" indent="-466613" algn="just">
              <a:lnSpc>
                <a:spcPct val="110000"/>
              </a:lnSpc>
              <a:spcAft>
                <a:spcPts val="711"/>
              </a:spcAft>
              <a:buClr>
                <a:srgbClr val="FF0066"/>
              </a:buClr>
            </a:pP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Làm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các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bài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tập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của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mỗi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chương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  <a:p>
            <a:pPr marL="1008487" lvl="2" indent="-466613" algn="just">
              <a:lnSpc>
                <a:spcPct val="110000"/>
              </a:lnSpc>
              <a:spcAft>
                <a:spcPts val="711"/>
              </a:spcAft>
              <a:buClr>
                <a:srgbClr val="FF0066"/>
              </a:buClr>
            </a:pP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Tham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khảo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thêm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các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tài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liệu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học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tập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khác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đặc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biệt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từ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nguồn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Internet.</a:t>
            </a:r>
          </a:p>
          <a:p>
            <a:pPr algn="just"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endParaRPr lang="en-US" altLang="en-US" sz="3319" dirty="0">
              <a:solidFill>
                <a:schemeClr val="accent1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7808B0-DB8A-471C-82EF-CF06681341D9}" type="slidenum">
              <a:rPr lang="vi-VN" smtClean="0"/>
              <a:t>7</a:t>
            </a:fld>
            <a:endParaRPr lang="vi-VN"/>
          </a:p>
        </p:txBody>
      </p:sp>
      <p:cxnSp>
        <p:nvCxnSpPr>
          <p:cNvPr id="4" name="Straight Connector 3"/>
          <p:cNvCxnSpPr/>
          <p:nvPr/>
        </p:nvCxnSpPr>
        <p:spPr>
          <a:xfrm>
            <a:off x="468708" y="927776"/>
            <a:ext cx="11233248" cy="0"/>
          </a:xfrm>
          <a:prstGeom prst="line">
            <a:avLst/>
          </a:prstGeom>
          <a:ln w="50800" cmpd="sng">
            <a:solidFill>
              <a:schemeClr val="accent6">
                <a:lumMod val="75000"/>
              </a:scheme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4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1744" y="-19694"/>
            <a:ext cx="3328370" cy="922191"/>
          </a:xfrm>
          <a:noFill/>
        </p:spPr>
        <p:txBody>
          <a:bodyPr>
            <a:normAutofit/>
          </a:bodyPr>
          <a:lstStyle/>
          <a:p>
            <a:pPr algn="just"/>
            <a:r>
              <a:rPr lang="en-US" sz="3319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Thực hành</a:t>
            </a:r>
            <a:endParaRPr lang="vi-VN" sz="3319" baseline="3000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364" y="1319432"/>
            <a:ext cx="11521281" cy="5133904"/>
          </a:xfrm>
          <a:noFill/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800">
                <a:solidFill>
                  <a:schemeClr val="accent1">
                    <a:lumMod val="75000"/>
                  </a:schemeClr>
                </a:solidFill>
                <a:ea typeface="Cambria" panose="02040503050406030204" pitchFamily="18" charset="0"/>
              </a:rPr>
              <a:t>Công cụ: </a:t>
            </a:r>
          </a:p>
          <a:p>
            <a:pPr lvl="1" algn="just"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800" smtClean="0">
                <a:solidFill>
                  <a:schemeClr val="accent1">
                    <a:lumMod val="75000"/>
                  </a:schemeClr>
                </a:solidFill>
                <a:ea typeface="Cambria" panose="02040503050406030204" pitchFamily="18" charset="0"/>
              </a:rPr>
              <a:t>Google colab</a:t>
            </a:r>
          </a:p>
          <a:p>
            <a:pPr lvl="1" algn="just"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800" smtClean="0">
                <a:solidFill>
                  <a:schemeClr val="accent1">
                    <a:lumMod val="75000"/>
                  </a:schemeClr>
                </a:solidFill>
                <a:ea typeface="Cambria" panose="02040503050406030204" pitchFamily="18" charset="0"/>
              </a:rPr>
              <a:t>Anaconda </a:t>
            </a:r>
          </a:p>
          <a:p>
            <a:pPr lvl="1" algn="just"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800" smtClean="0">
                <a:solidFill>
                  <a:schemeClr val="accent1">
                    <a:lumMod val="75000"/>
                  </a:schemeClr>
                </a:solidFill>
                <a:ea typeface="Cambria" panose="02040503050406030204" pitchFamily="18" charset="0"/>
              </a:rPr>
              <a:t>Python.org</a:t>
            </a:r>
            <a:endParaRPr lang="en-US" altLang="en-US" sz="2800" dirty="0">
              <a:solidFill>
                <a:schemeClr val="accent1">
                  <a:lumMod val="75000"/>
                </a:schemeClr>
              </a:solidFill>
              <a:ea typeface="Cambria" panose="02040503050406030204" pitchFamily="18" charset="0"/>
            </a:endParaRPr>
          </a:p>
          <a:p>
            <a:pPr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800">
                <a:solidFill>
                  <a:schemeClr val="accent1">
                    <a:lumMod val="75000"/>
                  </a:schemeClr>
                </a:solidFill>
                <a:ea typeface="Cambria" panose="02040503050406030204" pitchFamily="18" charset="0"/>
              </a:rPr>
              <a:t>Dữ liệu: </a:t>
            </a:r>
            <a:endParaRPr lang="en-US" altLang="en-US" sz="2800" dirty="0">
              <a:solidFill>
                <a:schemeClr val="accent1">
                  <a:lumMod val="75000"/>
                </a:schemeClr>
              </a:solidFill>
              <a:ea typeface="Cambria" panose="02040503050406030204" pitchFamily="18" charset="0"/>
            </a:endParaRPr>
          </a:p>
          <a:p>
            <a:pPr lvl="1"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800" smtClean="0">
                <a:solidFill>
                  <a:schemeClr val="accent1">
                    <a:lumMod val="75000"/>
                  </a:schemeClr>
                </a:solidFill>
              </a:rPr>
              <a:t>Kaggle.com</a:t>
            </a:r>
          </a:p>
          <a:p>
            <a:pPr lvl="1">
              <a:lnSpc>
                <a:spcPct val="80000"/>
              </a:lnSpc>
              <a:spcAft>
                <a:spcPts val="2133"/>
              </a:spcAft>
              <a:buClr>
                <a:srgbClr val="FF0066"/>
              </a:buClr>
              <a:buFont typeface="Wingdings 2" pitchFamily="18" charset="2"/>
              <a:buChar char="®"/>
            </a:pPr>
            <a:r>
              <a:rPr lang="en-US" altLang="en-US" sz="2800" smtClean="0">
                <a:solidFill>
                  <a:schemeClr val="accent1">
                    <a:lumMod val="75000"/>
                  </a:schemeClr>
                </a:solidFill>
              </a:rPr>
              <a:t>Archive.ics.uci.edu</a:t>
            </a:r>
            <a:endParaRPr lang="vi-VN" alt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7808B0-DB8A-471C-82EF-CF06681341D9}" type="slidenum">
              <a:rPr lang="vi-VN" smtClean="0"/>
              <a:t>8</a:t>
            </a:fld>
            <a:endParaRPr lang="vi-VN"/>
          </a:p>
        </p:txBody>
      </p:sp>
      <p:cxnSp>
        <p:nvCxnSpPr>
          <p:cNvPr id="4" name="Straight Connector 3"/>
          <p:cNvCxnSpPr/>
          <p:nvPr/>
        </p:nvCxnSpPr>
        <p:spPr>
          <a:xfrm>
            <a:off x="527381" y="902494"/>
            <a:ext cx="11233248" cy="0"/>
          </a:xfrm>
          <a:prstGeom prst="line">
            <a:avLst/>
          </a:prstGeom>
          <a:ln w="50800" cmpd="sng">
            <a:solidFill>
              <a:schemeClr val="accent6">
                <a:lumMod val="75000"/>
              </a:scheme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118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D38819A-F5E4-4B9C-8265-4C0447E0A9CF}" vid="{5315DFD1-2469-43F3-9BC7-52BFC0B947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25174</TotalTime>
  <Words>598</Words>
  <Application>Microsoft Office PowerPoint</Application>
  <PresentationFormat>Widescreen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 Unicode MS</vt:lpstr>
      <vt:lpstr>Arial</vt:lpstr>
      <vt:lpstr>Calibri</vt:lpstr>
      <vt:lpstr>Cambria</vt:lpstr>
      <vt:lpstr>Montserrat</vt:lpstr>
      <vt:lpstr>Montserrat ExtraBold</vt:lpstr>
      <vt:lpstr>Tahoma</vt:lpstr>
      <vt:lpstr>Times New Roman</vt:lpstr>
      <vt:lpstr>Verdana</vt:lpstr>
      <vt:lpstr>Wingdings</vt:lpstr>
      <vt:lpstr>Wingdings 2</vt:lpstr>
      <vt:lpstr>Theme1</vt:lpstr>
      <vt:lpstr>KHAI PHÁ VÀ PHÂN TÍCH  DỮ LIỆU</vt:lpstr>
      <vt:lpstr>Nội dung môn học</vt:lpstr>
      <vt:lpstr>PowerPoint Presentation</vt:lpstr>
      <vt:lpstr>Tài liệu tham khảo</vt:lpstr>
      <vt:lpstr>Kỹ năng đạt được</vt:lpstr>
      <vt:lpstr>Đánh giá</vt:lpstr>
      <vt:lpstr>Yêu cầu đối với sinh viên</vt:lpstr>
      <vt:lpstr>Thực hành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KỸ THUẬT KHAI PHÁ MẪU DẪY VÀ MẪU THỨ TỰ BỘ PHẬN TRONG KHAI PHÁ QUY TRÌNH</dc:title>
  <dc:creator>hungnd</dc:creator>
  <cp:lastModifiedBy>Lê Nhung</cp:lastModifiedBy>
  <cp:revision>1797</cp:revision>
  <dcterms:created xsi:type="dcterms:W3CDTF">2014-03-12T02:40:35Z</dcterms:created>
  <dcterms:modified xsi:type="dcterms:W3CDTF">2025-08-11T05:02:49Z</dcterms:modified>
</cp:coreProperties>
</file>