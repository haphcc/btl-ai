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3" r:id="rId1"/>
  </p:sldMasterIdLst>
  <p:notesMasterIdLst>
    <p:notesMasterId r:id="rId64"/>
  </p:notesMasterIdLst>
  <p:handoutMasterIdLst>
    <p:handoutMasterId r:id="rId65"/>
  </p:handoutMasterIdLst>
  <p:sldIdLst>
    <p:sldId id="348" r:id="rId2"/>
    <p:sldId id="349" r:id="rId3"/>
    <p:sldId id="350" r:id="rId4"/>
    <p:sldId id="352" r:id="rId5"/>
    <p:sldId id="353" r:id="rId6"/>
    <p:sldId id="355" r:id="rId7"/>
    <p:sldId id="356" r:id="rId8"/>
    <p:sldId id="357" r:id="rId9"/>
    <p:sldId id="358" r:id="rId10"/>
    <p:sldId id="359" r:id="rId11"/>
    <p:sldId id="361" r:id="rId12"/>
    <p:sldId id="362" r:id="rId13"/>
    <p:sldId id="363" r:id="rId14"/>
    <p:sldId id="364" r:id="rId15"/>
    <p:sldId id="365" r:id="rId16"/>
    <p:sldId id="337" r:id="rId17"/>
    <p:sldId id="366" r:id="rId18"/>
    <p:sldId id="368" r:id="rId19"/>
    <p:sldId id="369" r:id="rId20"/>
    <p:sldId id="370" r:id="rId21"/>
    <p:sldId id="371" r:id="rId22"/>
    <p:sldId id="372" r:id="rId23"/>
    <p:sldId id="373" r:id="rId24"/>
    <p:sldId id="374" r:id="rId25"/>
    <p:sldId id="375" r:id="rId26"/>
    <p:sldId id="376" r:id="rId27"/>
    <p:sldId id="378" r:id="rId28"/>
    <p:sldId id="379" r:id="rId29"/>
    <p:sldId id="380" r:id="rId30"/>
    <p:sldId id="381" r:id="rId31"/>
    <p:sldId id="382" r:id="rId32"/>
    <p:sldId id="383" r:id="rId33"/>
    <p:sldId id="384" r:id="rId34"/>
    <p:sldId id="415" r:id="rId35"/>
    <p:sldId id="416" r:id="rId36"/>
    <p:sldId id="387" r:id="rId37"/>
    <p:sldId id="388" r:id="rId38"/>
    <p:sldId id="389" r:id="rId39"/>
    <p:sldId id="390" r:id="rId40"/>
    <p:sldId id="391" r:id="rId41"/>
    <p:sldId id="392" r:id="rId42"/>
    <p:sldId id="393" r:id="rId43"/>
    <p:sldId id="394" r:id="rId44"/>
    <p:sldId id="395" r:id="rId45"/>
    <p:sldId id="397" r:id="rId46"/>
    <p:sldId id="398" r:id="rId47"/>
    <p:sldId id="399" r:id="rId48"/>
    <p:sldId id="400" r:id="rId49"/>
    <p:sldId id="401" r:id="rId50"/>
    <p:sldId id="402" r:id="rId51"/>
    <p:sldId id="404" r:id="rId52"/>
    <p:sldId id="405" r:id="rId53"/>
    <p:sldId id="406" r:id="rId54"/>
    <p:sldId id="408" r:id="rId55"/>
    <p:sldId id="409" r:id="rId56"/>
    <p:sldId id="410" r:id="rId57"/>
    <p:sldId id="411" r:id="rId58"/>
    <p:sldId id="412" r:id="rId59"/>
    <p:sldId id="417" r:id="rId60"/>
    <p:sldId id="418" r:id="rId61"/>
    <p:sldId id="419" r:id="rId62"/>
    <p:sldId id="413" r:id="rId63"/>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Verdana" pitchFamily="34" charset="0"/>
        <a:ea typeface="+mn-ea"/>
        <a:cs typeface="Arial" charset="0"/>
      </a:defRPr>
    </a:lvl1pPr>
    <a:lvl2pPr marL="457200" algn="l" rtl="0" fontAlgn="base">
      <a:spcBef>
        <a:spcPct val="0"/>
      </a:spcBef>
      <a:spcAft>
        <a:spcPct val="0"/>
      </a:spcAft>
      <a:defRPr kern="1200">
        <a:solidFill>
          <a:schemeClr val="tx1"/>
        </a:solidFill>
        <a:latin typeface="Verdana" pitchFamily="34" charset="0"/>
        <a:ea typeface="+mn-ea"/>
        <a:cs typeface="Arial" charset="0"/>
      </a:defRPr>
    </a:lvl2pPr>
    <a:lvl3pPr marL="914400" algn="l" rtl="0" fontAlgn="base">
      <a:spcBef>
        <a:spcPct val="0"/>
      </a:spcBef>
      <a:spcAft>
        <a:spcPct val="0"/>
      </a:spcAft>
      <a:defRPr kern="1200">
        <a:solidFill>
          <a:schemeClr val="tx1"/>
        </a:solidFill>
        <a:latin typeface="Verdana" pitchFamily="34" charset="0"/>
        <a:ea typeface="+mn-ea"/>
        <a:cs typeface="Arial" charset="0"/>
      </a:defRPr>
    </a:lvl3pPr>
    <a:lvl4pPr marL="1371600" algn="l" rtl="0" fontAlgn="base">
      <a:spcBef>
        <a:spcPct val="0"/>
      </a:spcBef>
      <a:spcAft>
        <a:spcPct val="0"/>
      </a:spcAft>
      <a:defRPr kern="1200">
        <a:solidFill>
          <a:schemeClr val="tx1"/>
        </a:solidFill>
        <a:latin typeface="Verdana" pitchFamily="34" charset="0"/>
        <a:ea typeface="+mn-ea"/>
        <a:cs typeface="Arial" charset="0"/>
      </a:defRPr>
    </a:lvl4pPr>
    <a:lvl5pPr marL="1828800" algn="l" rtl="0" fontAlgn="base">
      <a:spcBef>
        <a:spcPct val="0"/>
      </a:spcBef>
      <a:spcAft>
        <a:spcPct val="0"/>
      </a:spcAft>
      <a:defRPr kern="1200">
        <a:solidFill>
          <a:schemeClr val="tx1"/>
        </a:solidFill>
        <a:latin typeface="Verdana" pitchFamily="34" charset="0"/>
        <a:ea typeface="+mn-ea"/>
        <a:cs typeface="Arial" charset="0"/>
      </a:defRPr>
    </a:lvl5pPr>
    <a:lvl6pPr marL="2286000" algn="l" defTabSz="914400" rtl="0" eaLnBrk="1" latinLnBrk="0" hangingPunct="1">
      <a:defRPr kern="1200">
        <a:solidFill>
          <a:schemeClr val="tx1"/>
        </a:solidFill>
        <a:latin typeface="Verdana" pitchFamily="34" charset="0"/>
        <a:ea typeface="+mn-ea"/>
        <a:cs typeface="Arial" charset="0"/>
      </a:defRPr>
    </a:lvl6pPr>
    <a:lvl7pPr marL="2743200" algn="l" defTabSz="914400" rtl="0" eaLnBrk="1" latinLnBrk="0" hangingPunct="1">
      <a:defRPr kern="1200">
        <a:solidFill>
          <a:schemeClr val="tx1"/>
        </a:solidFill>
        <a:latin typeface="Verdana" pitchFamily="34" charset="0"/>
        <a:ea typeface="+mn-ea"/>
        <a:cs typeface="Arial" charset="0"/>
      </a:defRPr>
    </a:lvl7pPr>
    <a:lvl8pPr marL="3200400" algn="l" defTabSz="914400" rtl="0" eaLnBrk="1" latinLnBrk="0" hangingPunct="1">
      <a:defRPr kern="1200">
        <a:solidFill>
          <a:schemeClr val="tx1"/>
        </a:solidFill>
        <a:latin typeface="Verdana" pitchFamily="34" charset="0"/>
        <a:ea typeface="+mn-ea"/>
        <a:cs typeface="Arial" charset="0"/>
      </a:defRPr>
    </a:lvl8pPr>
    <a:lvl9pPr marL="3657600" algn="l" defTabSz="914400" rtl="0" eaLnBrk="1" latinLnBrk="0" hangingPunct="1">
      <a:defRPr kern="1200">
        <a:solidFill>
          <a:schemeClr val="tx1"/>
        </a:solidFill>
        <a:latin typeface="Verdana" pitchFamily="34" charset="0"/>
        <a:ea typeface="+mn-ea"/>
        <a:cs typeface="Arial"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99"/>
    <a:srgbClr val="FF6600"/>
    <a:srgbClr val="000099"/>
    <a:srgbClr val="0000FF"/>
    <a:srgbClr val="800000"/>
    <a:srgbClr val="0033CC"/>
    <a:srgbClr val="FF3300"/>
    <a:srgbClr val="CC3300"/>
    <a:srgbClr val="B19EF8"/>
    <a:srgbClr val="987E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34848D-F9B7-F743-AD1F-A4FBF1E80BE6}" v="5" dt="2021-09-06T16:10:43.17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5781" autoAdjust="0"/>
  </p:normalViewPr>
  <p:slideViewPr>
    <p:cSldViewPr>
      <p:cViewPr>
        <p:scale>
          <a:sx n="63" d="100"/>
          <a:sy n="63" d="100"/>
        </p:scale>
        <p:origin x="732" y="44"/>
      </p:cViewPr>
      <p:guideLst>
        <p:guide orient="horz" pos="2160"/>
        <p:guide pos="3840"/>
      </p:guideLst>
    </p:cSldViewPr>
  </p:slideViewPr>
  <p:notesTextViewPr>
    <p:cViewPr>
      <p:scale>
        <a:sx n="3" d="2"/>
        <a:sy n="3" d="2"/>
      </p:scale>
      <p:origin x="0" y="0"/>
    </p:cViewPr>
  </p:notesTextViewPr>
  <p:notesViewPr>
    <p:cSldViewPr>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74"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handoutMaster" Target="handoutMasters/handoutMaster1.xml"/><Relationship Id="rId73"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ng Nguyen" userId="250f88f87da22dfd" providerId="LiveId" clId="{2234848D-F9B7-F743-AD1F-A4FBF1E80BE6}"/>
    <pc:docChg chg="modSld">
      <pc:chgData name="Hung Nguyen" userId="250f88f87da22dfd" providerId="LiveId" clId="{2234848D-F9B7-F743-AD1F-A4FBF1E80BE6}" dt="2021-09-06T16:10:43.176" v="4" actId="1076"/>
      <pc:docMkLst>
        <pc:docMk/>
      </pc:docMkLst>
      <pc:sldChg chg="modSp">
        <pc:chgData name="Hung Nguyen" userId="250f88f87da22dfd" providerId="LiveId" clId="{2234848D-F9B7-F743-AD1F-A4FBF1E80BE6}" dt="2021-09-06T16:10:43.176" v="4" actId="1076"/>
        <pc:sldMkLst>
          <pc:docMk/>
          <pc:sldMk cId="0" sldId="382"/>
        </pc:sldMkLst>
        <pc:spChg chg="mod">
          <ac:chgData name="Hung Nguyen" userId="250f88f87da22dfd" providerId="LiveId" clId="{2234848D-F9B7-F743-AD1F-A4FBF1E80BE6}" dt="2021-09-06T16:09:54.641" v="0" actId="1076"/>
          <ac:spMkLst>
            <pc:docMk/>
            <pc:sldMk cId="0" sldId="382"/>
            <ac:spMk id="721923" creationId="{00000000-0000-0000-0000-000000000000}"/>
          </ac:spMkLst>
        </pc:spChg>
        <pc:spChg chg="mod">
          <ac:chgData name="Hung Nguyen" userId="250f88f87da22dfd" providerId="LiveId" clId="{2234848D-F9B7-F743-AD1F-A4FBF1E80BE6}" dt="2021-09-06T16:10:21.661" v="3" actId="1076"/>
          <ac:spMkLst>
            <pc:docMk/>
            <pc:sldMk cId="0" sldId="382"/>
            <ac:spMk id="721932" creationId="{00000000-0000-0000-0000-000000000000}"/>
          </ac:spMkLst>
        </pc:spChg>
        <pc:spChg chg="mod">
          <ac:chgData name="Hung Nguyen" userId="250f88f87da22dfd" providerId="LiveId" clId="{2234848D-F9B7-F743-AD1F-A4FBF1E80BE6}" dt="2021-09-06T16:10:43.176" v="4" actId="1076"/>
          <ac:spMkLst>
            <pc:docMk/>
            <pc:sldMk cId="0" sldId="382"/>
            <ac:spMk id="721934" creationId="{00000000-0000-0000-0000-000000000000}"/>
          </ac:spMkLst>
        </pc:spChg>
        <pc:picChg chg="mod">
          <ac:chgData name="Hung Nguyen" userId="250f88f87da22dfd" providerId="LiveId" clId="{2234848D-F9B7-F743-AD1F-A4FBF1E80BE6}" dt="2021-09-06T16:10:14.010" v="2" actId="14100"/>
          <ac:picMkLst>
            <pc:docMk/>
            <pc:sldMk cId="0" sldId="382"/>
            <ac:picMk id="721924" creationId="{00000000-0000-0000-0000-000000000000}"/>
          </ac:picMkLst>
        </pc:picChg>
      </pc:sldChg>
    </pc:docChg>
  </pc:docChgLst>
  <pc:docChgLst>
    <pc:chgData name="DuongHung Nguyen" userId="250f88f87da22dfd" providerId="LiveId" clId="{BA5AD276-31BE-41DA-8C6F-30973DB2543C}"/>
    <pc:docChg chg="modSld">
      <pc:chgData name="DuongHung Nguyen" userId="250f88f87da22dfd" providerId="LiveId" clId="{BA5AD276-31BE-41DA-8C6F-30973DB2543C}" dt="2021-09-02T12:27:41.269" v="44" actId="14100"/>
      <pc:docMkLst>
        <pc:docMk/>
      </pc:docMkLst>
      <pc:sldChg chg="modSp">
        <pc:chgData name="DuongHung Nguyen" userId="250f88f87da22dfd" providerId="LiveId" clId="{BA5AD276-31BE-41DA-8C6F-30973DB2543C}" dt="2021-08-31T02:18:18.882" v="4" actId="14100"/>
        <pc:sldMkLst>
          <pc:docMk/>
          <pc:sldMk cId="0" sldId="348"/>
        </pc:sldMkLst>
        <pc:spChg chg="mod">
          <ac:chgData name="DuongHung Nguyen" userId="250f88f87da22dfd" providerId="LiveId" clId="{BA5AD276-31BE-41DA-8C6F-30973DB2543C}" dt="2021-08-31T02:18:18.882" v="4" actId="14100"/>
          <ac:spMkLst>
            <pc:docMk/>
            <pc:sldMk cId="0" sldId="348"/>
            <ac:spMk id="2050" creationId="{00000000-0000-0000-0000-000000000000}"/>
          </ac:spMkLst>
        </pc:spChg>
      </pc:sldChg>
      <pc:sldChg chg="modSp mod">
        <pc:chgData name="DuongHung Nguyen" userId="250f88f87da22dfd" providerId="LiveId" clId="{BA5AD276-31BE-41DA-8C6F-30973DB2543C}" dt="2021-08-31T02:19:32.493" v="8" actId="1076"/>
        <pc:sldMkLst>
          <pc:docMk/>
          <pc:sldMk cId="0" sldId="349"/>
        </pc:sldMkLst>
        <pc:spChg chg="mod">
          <ac:chgData name="DuongHung Nguyen" userId="250f88f87da22dfd" providerId="LiveId" clId="{BA5AD276-31BE-41DA-8C6F-30973DB2543C}" dt="2021-08-31T02:19:32.493" v="8" actId="1076"/>
          <ac:spMkLst>
            <pc:docMk/>
            <pc:sldMk cId="0" sldId="349"/>
            <ac:spMk id="3" creationId="{00000000-0000-0000-0000-000000000000}"/>
          </ac:spMkLst>
        </pc:spChg>
        <pc:spChg chg="mod">
          <ac:chgData name="DuongHung Nguyen" userId="250f88f87da22dfd" providerId="LiveId" clId="{BA5AD276-31BE-41DA-8C6F-30973DB2543C}" dt="2021-08-31T02:19:13.964" v="5" actId="2085"/>
          <ac:spMkLst>
            <pc:docMk/>
            <pc:sldMk cId="0" sldId="349"/>
            <ac:spMk id="164867" creationId="{00000000-0000-0000-0000-000000000000}"/>
          </ac:spMkLst>
        </pc:spChg>
      </pc:sldChg>
      <pc:sldChg chg="modSp">
        <pc:chgData name="DuongHung Nguyen" userId="250f88f87da22dfd" providerId="LiveId" clId="{BA5AD276-31BE-41DA-8C6F-30973DB2543C}" dt="2021-08-31T02:20:14.820" v="11" actId="2085"/>
        <pc:sldMkLst>
          <pc:docMk/>
          <pc:sldMk cId="1673484526" sldId="351"/>
        </pc:sldMkLst>
        <pc:spChg chg="mod">
          <ac:chgData name="DuongHung Nguyen" userId="250f88f87da22dfd" providerId="LiveId" clId="{BA5AD276-31BE-41DA-8C6F-30973DB2543C}" dt="2021-08-31T02:20:08.592" v="10" actId="2085"/>
          <ac:spMkLst>
            <pc:docMk/>
            <pc:sldMk cId="1673484526" sldId="351"/>
            <ac:spMk id="164866" creationId="{00000000-0000-0000-0000-000000000000}"/>
          </ac:spMkLst>
        </pc:spChg>
        <pc:spChg chg="mod">
          <ac:chgData name="DuongHung Nguyen" userId="250f88f87da22dfd" providerId="LiveId" clId="{BA5AD276-31BE-41DA-8C6F-30973DB2543C}" dt="2021-08-31T02:20:14.820" v="11" actId="2085"/>
          <ac:spMkLst>
            <pc:docMk/>
            <pc:sldMk cId="1673484526" sldId="351"/>
            <ac:spMk id="164867" creationId="{00000000-0000-0000-0000-000000000000}"/>
          </ac:spMkLst>
        </pc:spChg>
      </pc:sldChg>
      <pc:sldChg chg="modSp">
        <pc:chgData name="DuongHung Nguyen" userId="250f88f87da22dfd" providerId="LiveId" clId="{BA5AD276-31BE-41DA-8C6F-30973DB2543C}" dt="2021-08-31T02:20:23.920" v="12" actId="2085"/>
        <pc:sldMkLst>
          <pc:docMk/>
          <pc:sldMk cId="0" sldId="352"/>
        </pc:sldMkLst>
        <pc:spChg chg="mod">
          <ac:chgData name="DuongHung Nguyen" userId="250f88f87da22dfd" providerId="LiveId" clId="{BA5AD276-31BE-41DA-8C6F-30973DB2543C}" dt="2021-08-31T02:20:23.920" v="12" actId="2085"/>
          <ac:spMkLst>
            <pc:docMk/>
            <pc:sldMk cId="0" sldId="352"/>
            <ac:spMk id="641027" creationId="{00000000-0000-0000-0000-000000000000}"/>
          </ac:spMkLst>
        </pc:spChg>
      </pc:sldChg>
      <pc:sldChg chg="modSp">
        <pc:chgData name="DuongHung Nguyen" userId="250f88f87da22dfd" providerId="LiveId" clId="{BA5AD276-31BE-41DA-8C6F-30973DB2543C}" dt="2021-08-31T02:20:31.707" v="13" actId="2085"/>
        <pc:sldMkLst>
          <pc:docMk/>
          <pc:sldMk cId="0" sldId="353"/>
        </pc:sldMkLst>
        <pc:spChg chg="mod">
          <ac:chgData name="DuongHung Nguyen" userId="250f88f87da22dfd" providerId="LiveId" clId="{BA5AD276-31BE-41DA-8C6F-30973DB2543C}" dt="2021-08-31T02:20:31.707" v="13" actId="2085"/>
          <ac:spMkLst>
            <pc:docMk/>
            <pc:sldMk cId="0" sldId="353"/>
            <ac:spMk id="663555" creationId="{00000000-0000-0000-0000-000000000000}"/>
          </ac:spMkLst>
        </pc:spChg>
      </pc:sldChg>
      <pc:sldChg chg="modSp">
        <pc:chgData name="DuongHung Nguyen" userId="250f88f87da22dfd" providerId="LiveId" clId="{BA5AD276-31BE-41DA-8C6F-30973DB2543C}" dt="2021-08-31T02:20:43.103" v="14" actId="2085"/>
        <pc:sldMkLst>
          <pc:docMk/>
          <pc:sldMk cId="0" sldId="357"/>
        </pc:sldMkLst>
        <pc:spChg chg="mod">
          <ac:chgData name="DuongHung Nguyen" userId="250f88f87da22dfd" providerId="LiveId" clId="{BA5AD276-31BE-41DA-8C6F-30973DB2543C}" dt="2021-08-31T02:20:43.103" v="14" actId="2085"/>
          <ac:spMkLst>
            <pc:docMk/>
            <pc:sldMk cId="0" sldId="357"/>
            <ac:spMk id="652291" creationId="{00000000-0000-0000-0000-000000000000}"/>
          </ac:spMkLst>
        </pc:spChg>
      </pc:sldChg>
      <pc:sldChg chg="modSp">
        <pc:chgData name="DuongHung Nguyen" userId="250f88f87da22dfd" providerId="LiveId" clId="{BA5AD276-31BE-41DA-8C6F-30973DB2543C}" dt="2021-08-31T02:20:50.230" v="15" actId="2085"/>
        <pc:sldMkLst>
          <pc:docMk/>
          <pc:sldMk cId="0" sldId="358"/>
        </pc:sldMkLst>
        <pc:spChg chg="mod">
          <ac:chgData name="DuongHung Nguyen" userId="250f88f87da22dfd" providerId="LiveId" clId="{BA5AD276-31BE-41DA-8C6F-30973DB2543C}" dt="2021-08-31T02:20:50.230" v="15" actId="2085"/>
          <ac:spMkLst>
            <pc:docMk/>
            <pc:sldMk cId="0" sldId="358"/>
            <ac:spMk id="654339" creationId="{00000000-0000-0000-0000-000000000000}"/>
          </ac:spMkLst>
        </pc:spChg>
      </pc:sldChg>
      <pc:sldChg chg="modSp">
        <pc:chgData name="DuongHung Nguyen" userId="250f88f87da22dfd" providerId="LiveId" clId="{BA5AD276-31BE-41DA-8C6F-30973DB2543C}" dt="2021-08-31T02:20:57.921" v="17" actId="2085"/>
        <pc:sldMkLst>
          <pc:docMk/>
          <pc:sldMk cId="0" sldId="359"/>
        </pc:sldMkLst>
        <pc:spChg chg="mod">
          <ac:chgData name="DuongHung Nguyen" userId="250f88f87da22dfd" providerId="LiveId" clId="{BA5AD276-31BE-41DA-8C6F-30973DB2543C}" dt="2021-08-31T02:20:57.921" v="17" actId="2085"/>
          <ac:spMkLst>
            <pc:docMk/>
            <pc:sldMk cId="0" sldId="359"/>
            <ac:spMk id="661507" creationId="{00000000-0000-0000-0000-000000000000}"/>
          </ac:spMkLst>
        </pc:spChg>
      </pc:sldChg>
      <pc:sldChg chg="modSp">
        <pc:chgData name="DuongHung Nguyen" userId="250f88f87da22dfd" providerId="LiveId" clId="{BA5AD276-31BE-41DA-8C6F-30973DB2543C}" dt="2021-08-31T02:21:08.889" v="19" actId="2085"/>
        <pc:sldMkLst>
          <pc:docMk/>
          <pc:sldMk cId="0" sldId="361"/>
        </pc:sldMkLst>
        <pc:spChg chg="mod">
          <ac:chgData name="DuongHung Nguyen" userId="250f88f87da22dfd" providerId="LiveId" clId="{BA5AD276-31BE-41DA-8C6F-30973DB2543C}" dt="2021-08-31T02:21:08.889" v="19" actId="2085"/>
          <ac:spMkLst>
            <pc:docMk/>
            <pc:sldMk cId="0" sldId="361"/>
            <ac:spMk id="643075" creationId="{00000000-0000-0000-0000-000000000000}"/>
          </ac:spMkLst>
        </pc:spChg>
      </pc:sldChg>
      <pc:sldChg chg="modSp">
        <pc:chgData name="DuongHung Nguyen" userId="250f88f87da22dfd" providerId="LiveId" clId="{BA5AD276-31BE-41DA-8C6F-30973DB2543C}" dt="2021-08-31T02:21:15.939" v="20" actId="2085"/>
        <pc:sldMkLst>
          <pc:docMk/>
          <pc:sldMk cId="0" sldId="362"/>
        </pc:sldMkLst>
        <pc:picChg chg="mod">
          <ac:chgData name="DuongHung Nguyen" userId="250f88f87da22dfd" providerId="LiveId" clId="{BA5AD276-31BE-41DA-8C6F-30973DB2543C}" dt="2021-08-31T02:21:15.939" v="20" actId="2085"/>
          <ac:picMkLst>
            <pc:docMk/>
            <pc:sldMk cId="0" sldId="362"/>
            <ac:picMk id="674820" creationId="{00000000-0000-0000-0000-000000000000}"/>
          </ac:picMkLst>
        </pc:picChg>
      </pc:sldChg>
      <pc:sldChg chg="modSp">
        <pc:chgData name="DuongHung Nguyen" userId="250f88f87da22dfd" providerId="LiveId" clId="{BA5AD276-31BE-41DA-8C6F-30973DB2543C}" dt="2021-08-31T02:21:24.870" v="21" actId="2085"/>
        <pc:sldMkLst>
          <pc:docMk/>
          <pc:sldMk cId="0" sldId="363"/>
        </pc:sldMkLst>
        <pc:spChg chg="mod">
          <ac:chgData name="DuongHung Nguyen" userId="250f88f87da22dfd" providerId="LiveId" clId="{BA5AD276-31BE-41DA-8C6F-30973DB2543C}" dt="2021-08-31T02:21:24.870" v="21" actId="2085"/>
          <ac:spMkLst>
            <pc:docMk/>
            <pc:sldMk cId="0" sldId="363"/>
            <ac:spMk id="667651" creationId="{00000000-0000-0000-0000-000000000000}"/>
          </ac:spMkLst>
        </pc:spChg>
      </pc:sldChg>
      <pc:sldChg chg="modSp">
        <pc:chgData name="DuongHung Nguyen" userId="250f88f87da22dfd" providerId="LiveId" clId="{BA5AD276-31BE-41DA-8C6F-30973DB2543C}" dt="2021-08-31T02:21:33.706" v="22" actId="2085"/>
        <pc:sldMkLst>
          <pc:docMk/>
          <pc:sldMk cId="0" sldId="364"/>
        </pc:sldMkLst>
        <pc:spChg chg="mod">
          <ac:chgData name="DuongHung Nguyen" userId="250f88f87da22dfd" providerId="LiveId" clId="{BA5AD276-31BE-41DA-8C6F-30973DB2543C}" dt="2021-08-31T02:21:33.706" v="22" actId="2085"/>
          <ac:spMkLst>
            <pc:docMk/>
            <pc:sldMk cId="0" sldId="364"/>
            <ac:spMk id="676867" creationId="{00000000-0000-0000-0000-000000000000}"/>
          </ac:spMkLst>
        </pc:spChg>
      </pc:sldChg>
      <pc:sldChg chg="modSp">
        <pc:chgData name="DuongHung Nguyen" userId="250f88f87da22dfd" providerId="LiveId" clId="{BA5AD276-31BE-41DA-8C6F-30973DB2543C}" dt="2021-08-31T02:21:44.748" v="23" actId="2085"/>
        <pc:sldMkLst>
          <pc:docMk/>
          <pc:sldMk cId="0" sldId="368"/>
        </pc:sldMkLst>
        <pc:spChg chg="mod">
          <ac:chgData name="DuongHung Nguyen" userId="250f88f87da22dfd" providerId="LiveId" clId="{BA5AD276-31BE-41DA-8C6F-30973DB2543C}" dt="2021-08-31T02:21:44.748" v="23" actId="2085"/>
          <ac:spMkLst>
            <pc:docMk/>
            <pc:sldMk cId="0" sldId="368"/>
            <ac:spMk id="644099" creationId="{00000000-0000-0000-0000-000000000000}"/>
          </ac:spMkLst>
        </pc:spChg>
      </pc:sldChg>
      <pc:sldChg chg="modSp">
        <pc:chgData name="DuongHung Nguyen" userId="250f88f87da22dfd" providerId="LiveId" clId="{BA5AD276-31BE-41DA-8C6F-30973DB2543C}" dt="2021-08-31T02:21:57.682" v="24" actId="208"/>
        <pc:sldMkLst>
          <pc:docMk/>
          <pc:sldMk cId="0" sldId="383"/>
        </pc:sldMkLst>
        <pc:spChg chg="mod">
          <ac:chgData name="DuongHung Nguyen" userId="250f88f87da22dfd" providerId="LiveId" clId="{BA5AD276-31BE-41DA-8C6F-30973DB2543C}" dt="2021-08-31T02:21:57.682" v="24" actId="208"/>
          <ac:spMkLst>
            <pc:docMk/>
            <pc:sldMk cId="0" sldId="383"/>
            <ac:spMk id="719875" creationId="{00000000-0000-0000-0000-000000000000}"/>
          </ac:spMkLst>
        </pc:spChg>
      </pc:sldChg>
      <pc:sldChg chg="modSp">
        <pc:chgData name="DuongHung Nguyen" userId="250f88f87da22dfd" providerId="LiveId" clId="{BA5AD276-31BE-41DA-8C6F-30973DB2543C}" dt="2021-09-02T12:27:41.269" v="44" actId="14100"/>
        <pc:sldMkLst>
          <pc:docMk/>
          <pc:sldMk cId="0" sldId="384"/>
        </pc:sldMkLst>
        <pc:spChg chg="mod">
          <ac:chgData name="DuongHung Nguyen" userId="250f88f87da22dfd" providerId="LiveId" clId="{BA5AD276-31BE-41DA-8C6F-30973DB2543C}" dt="2021-09-02T12:27:41.269" v="44" actId="14100"/>
          <ac:spMkLst>
            <pc:docMk/>
            <pc:sldMk cId="0" sldId="384"/>
            <ac:spMk id="723971" creationId="{00000000-0000-0000-0000-000000000000}"/>
          </ac:spMkLst>
        </pc:spChg>
      </pc:sldChg>
      <pc:sldChg chg="modSp">
        <pc:chgData name="DuongHung Nguyen" userId="250f88f87da22dfd" providerId="LiveId" clId="{BA5AD276-31BE-41DA-8C6F-30973DB2543C}" dt="2021-08-31T02:23:02.067" v="29" actId="2085"/>
        <pc:sldMkLst>
          <pc:docMk/>
          <pc:sldMk cId="0" sldId="387"/>
        </pc:sldMkLst>
        <pc:spChg chg="mod">
          <ac:chgData name="DuongHung Nguyen" userId="250f88f87da22dfd" providerId="LiveId" clId="{BA5AD276-31BE-41DA-8C6F-30973DB2543C}" dt="2021-08-31T02:23:02.067" v="29" actId="2085"/>
          <ac:spMkLst>
            <pc:docMk/>
            <pc:sldMk cId="0" sldId="387"/>
            <ac:spMk id="646147" creationId="{00000000-0000-0000-0000-000000000000}"/>
          </ac:spMkLst>
        </pc:spChg>
      </pc:sldChg>
      <pc:sldChg chg="modSp">
        <pc:chgData name="DuongHung Nguyen" userId="250f88f87da22dfd" providerId="LiveId" clId="{BA5AD276-31BE-41DA-8C6F-30973DB2543C}" dt="2021-08-31T02:23:08.259" v="30" actId="208"/>
        <pc:sldMkLst>
          <pc:docMk/>
          <pc:sldMk cId="0" sldId="388"/>
        </pc:sldMkLst>
        <pc:spChg chg="mod">
          <ac:chgData name="DuongHung Nguyen" userId="250f88f87da22dfd" providerId="LiveId" clId="{BA5AD276-31BE-41DA-8C6F-30973DB2543C}" dt="2021-08-31T02:23:08.259" v="30" actId="208"/>
          <ac:spMkLst>
            <pc:docMk/>
            <pc:sldMk cId="0" sldId="388"/>
            <ac:spMk id="684035" creationId="{00000000-0000-0000-0000-000000000000}"/>
          </ac:spMkLst>
        </pc:spChg>
      </pc:sldChg>
      <pc:sldChg chg="modSp">
        <pc:chgData name="DuongHung Nguyen" userId="250f88f87da22dfd" providerId="LiveId" clId="{BA5AD276-31BE-41DA-8C6F-30973DB2543C}" dt="2021-08-31T02:23:18.370" v="31" actId="2085"/>
        <pc:sldMkLst>
          <pc:docMk/>
          <pc:sldMk cId="0" sldId="389"/>
        </pc:sldMkLst>
        <pc:spChg chg="mod">
          <ac:chgData name="DuongHung Nguyen" userId="250f88f87da22dfd" providerId="LiveId" clId="{BA5AD276-31BE-41DA-8C6F-30973DB2543C}" dt="2021-08-31T02:23:18.370" v="31" actId="2085"/>
          <ac:spMkLst>
            <pc:docMk/>
            <pc:sldMk cId="0" sldId="389"/>
            <ac:spMk id="685059" creationId="{00000000-0000-0000-0000-000000000000}"/>
          </ac:spMkLst>
        </pc:spChg>
      </pc:sldChg>
      <pc:sldChg chg="modSp">
        <pc:chgData name="DuongHung Nguyen" userId="250f88f87da22dfd" providerId="LiveId" clId="{BA5AD276-31BE-41DA-8C6F-30973DB2543C}" dt="2021-08-31T02:23:26.996" v="32" actId="2085"/>
        <pc:sldMkLst>
          <pc:docMk/>
          <pc:sldMk cId="0" sldId="390"/>
        </pc:sldMkLst>
        <pc:spChg chg="mod">
          <ac:chgData name="DuongHung Nguyen" userId="250f88f87da22dfd" providerId="LiveId" clId="{BA5AD276-31BE-41DA-8C6F-30973DB2543C}" dt="2021-08-31T02:23:26.996" v="32" actId="2085"/>
          <ac:spMkLst>
            <pc:docMk/>
            <pc:sldMk cId="0" sldId="390"/>
            <ac:spMk id="715779" creationId="{00000000-0000-0000-0000-000000000000}"/>
          </ac:spMkLst>
        </pc:spChg>
      </pc:sldChg>
      <pc:sldChg chg="modSp">
        <pc:chgData name="DuongHung Nguyen" userId="250f88f87da22dfd" providerId="LiveId" clId="{BA5AD276-31BE-41DA-8C6F-30973DB2543C}" dt="2021-08-31T02:23:40.329" v="33" actId="2085"/>
        <pc:sldMkLst>
          <pc:docMk/>
          <pc:sldMk cId="0" sldId="391"/>
        </pc:sldMkLst>
        <pc:spChg chg="mod">
          <ac:chgData name="DuongHung Nguyen" userId="250f88f87da22dfd" providerId="LiveId" clId="{BA5AD276-31BE-41DA-8C6F-30973DB2543C}" dt="2021-08-31T02:23:40.329" v="33" actId="2085"/>
          <ac:spMkLst>
            <pc:docMk/>
            <pc:sldMk cId="0" sldId="391"/>
            <ac:spMk id="716803" creationId="{00000000-0000-0000-0000-000000000000}"/>
          </ac:spMkLst>
        </pc:spChg>
      </pc:sldChg>
      <pc:sldChg chg="modSp">
        <pc:chgData name="DuongHung Nguyen" userId="250f88f87da22dfd" providerId="LiveId" clId="{BA5AD276-31BE-41DA-8C6F-30973DB2543C}" dt="2021-08-31T02:23:50.466" v="34" actId="1076"/>
        <pc:sldMkLst>
          <pc:docMk/>
          <pc:sldMk cId="0" sldId="392"/>
        </pc:sldMkLst>
        <pc:picChg chg="mod">
          <ac:chgData name="DuongHung Nguyen" userId="250f88f87da22dfd" providerId="LiveId" clId="{BA5AD276-31BE-41DA-8C6F-30973DB2543C}" dt="2021-08-31T02:23:50.466" v="34" actId="1076"/>
          <ac:picMkLst>
            <pc:docMk/>
            <pc:sldMk cId="0" sldId="392"/>
            <ac:picMk id="733188" creationId="{00000000-0000-0000-0000-000000000000}"/>
          </ac:picMkLst>
        </pc:picChg>
      </pc:sldChg>
      <pc:sldChg chg="modSp">
        <pc:chgData name="DuongHung Nguyen" userId="250f88f87da22dfd" providerId="LiveId" clId="{BA5AD276-31BE-41DA-8C6F-30973DB2543C}" dt="2021-08-31T02:24:09.032" v="35" actId="2085"/>
        <pc:sldMkLst>
          <pc:docMk/>
          <pc:sldMk cId="0" sldId="402"/>
        </pc:sldMkLst>
        <pc:spChg chg="mod">
          <ac:chgData name="DuongHung Nguyen" userId="250f88f87da22dfd" providerId="LiveId" clId="{BA5AD276-31BE-41DA-8C6F-30973DB2543C}" dt="2021-08-31T02:24:09.032" v="35" actId="2085"/>
          <ac:spMkLst>
            <pc:docMk/>
            <pc:sldMk cId="0" sldId="402"/>
            <ac:spMk id="731139" creationId="{00000000-0000-0000-0000-000000000000}"/>
          </ac:spMkLst>
        </pc:spChg>
      </pc:sldChg>
      <pc:sldChg chg="modSp">
        <pc:chgData name="DuongHung Nguyen" userId="250f88f87da22dfd" providerId="LiveId" clId="{BA5AD276-31BE-41DA-8C6F-30973DB2543C}" dt="2021-08-31T02:24:17.234" v="36" actId="2085"/>
        <pc:sldMkLst>
          <pc:docMk/>
          <pc:sldMk cId="0" sldId="404"/>
        </pc:sldMkLst>
        <pc:spChg chg="mod">
          <ac:chgData name="DuongHung Nguyen" userId="250f88f87da22dfd" providerId="LiveId" clId="{BA5AD276-31BE-41DA-8C6F-30973DB2543C}" dt="2021-08-31T02:24:17.234" v="36" actId="2085"/>
          <ac:spMkLst>
            <pc:docMk/>
            <pc:sldMk cId="0" sldId="404"/>
            <ac:spMk id="648195" creationId="{00000000-0000-0000-0000-000000000000}"/>
          </ac:spMkLst>
        </pc:spChg>
      </pc:sldChg>
      <pc:sldChg chg="modSp">
        <pc:chgData name="DuongHung Nguyen" userId="250f88f87da22dfd" providerId="LiveId" clId="{BA5AD276-31BE-41DA-8C6F-30973DB2543C}" dt="2021-08-31T02:24:23.595" v="37" actId="2085"/>
        <pc:sldMkLst>
          <pc:docMk/>
          <pc:sldMk cId="0" sldId="405"/>
        </pc:sldMkLst>
        <pc:spChg chg="mod">
          <ac:chgData name="DuongHung Nguyen" userId="250f88f87da22dfd" providerId="LiveId" clId="{BA5AD276-31BE-41DA-8C6F-30973DB2543C}" dt="2021-08-31T02:24:23.595" v="37" actId="2085"/>
          <ac:spMkLst>
            <pc:docMk/>
            <pc:sldMk cId="0" sldId="405"/>
            <ac:spMk id="688131" creationId="{00000000-0000-0000-0000-000000000000}"/>
          </ac:spMkLst>
        </pc:spChg>
      </pc:sldChg>
      <pc:sldChg chg="modSp">
        <pc:chgData name="DuongHung Nguyen" userId="250f88f87da22dfd" providerId="LiveId" clId="{BA5AD276-31BE-41DA-8C6F-30973DB2543C}" dt="2021-08-31T02:24:30.919" v="38" actId="2085"/>
        <pc:sldMkLst>
          <pc:docMk/>
          <pc:sldMk cId="0" sldId="406"/>
        </pc:sldMkLst>
        <pc:spChg chg="mod">
          <ac:chgData name="DuongHung Nguyen" userId="250f88f87da22dfd" providerId="LiveId" clId="{BA5AD276-31BE-41DA-8C6F-30973DB2543C}" dt="2021-08-31T02:24:30.919" v="38" actId="2085"/>
          <ac:spMkLst>
            <pc:docMk/>
            <pc:sldMk cId="0" sldId="406"/>
            <ac:spMk id="689155" creationId="{00000000-0000-0000-0000-000000000000}"/>
          </ac:spMkLst>
        </pc:spChg>
      </pc:sldChg>
      <pc:sldChg chg="modSp">
        <pc:chgData name="DuongHung Nguyen" userId="250f88f87da22dfd" providerId="LiveId" clId="{BA5AD276-31BE-41DA-8C6F-30973DB2543C}" dt="2021-08-31T02:24:40.301" v="39" actId="2085"/>
        <pc:sldMkLst>
          <pc:docMk/>
          <pc:sldMk cId="0" sldId="408"/>
        </pc:sldMkLst>
        <pc:spChg chg="mod">
          <ac:chgData name="DuongHung Nguyen" userId="250f88f87da22dfd" providerId="LiveId" clId="{BA5AD276-31BE-41DA-8C6F-30973DB2543C}" dt="2021-08-31T02:24:40.301" v="39" actId="2085"/>
          <ac:spMkLst>
            <pc:docMk/>
            <pc:sldMk cId="0" sldId="408"/>
            <ac:spMk id="649219" creationId="{00000000-0000-0000-0000-000000000000}"/>
          </ac:spMkLst>
        </pc:spChg>
      </pc:sldChg>
      <pc:sldChg chg="modSp">
        <pc:chgData name="DuongHung Nguyen" userId="250f88f87da22dfd" providerId="LiveId" clId="{BA5AD276-31BE-41DA-8C6F-30973DB2543C}" dt="2021-08-31T02:24:49.216" v="40" actId="2085"/>
        <pc:sldMkLst>
          <pc:docMk/>
          <pc:sldMk cId="0" sldId="409"/>
        </pc:sldMkLst>
        <pc:spChg chg="mod">
          <ac:chgData name="DuongHung Nguyen" userId="250f88f87da22dfd" providerId="LiveId" clId="{BA5AD276-31BE-41DA-8C6F-30973DB2543C}" dt="2021-08-31T02:24:49.216" v="40" actId="2085"/>
          <ac:spMkLst>
            <pc:docMk/>
            <pc:sldMk cId="0" sldId="409"/>
            <ac:spMk id="690179" creationId="{00000000-0000-0000-0000-000000000000}"/>
          </ac:spMkLst>
        </pc:spChg>
      </pc:sldChg>
      <pc:sldChg chg="modSp">
        <pc:chgData name="DuongHung Nguyen" userId="250f88f87da22dfd" providerId="LiveId" clId="{BA5AD276-31BE-41DA-8C6F-30973DB2543C}" dt="2021-08-31T02:24:57.644" v="41" actId="2085"/>
        <pc:sldMkLst>
          <pc:docMk/>
          <pc:sldMk cId="0" sldId="410"/>
        </pc:sldMkLst>
        <pc:spChg chg="mod">
          <ac:chgData name="DuongHung Nguyen" userId="250f88f87da22dfd" providerId="LiveId" clId="{BA5AD276-31BE-41DA-8C6F-30973DB2543C}" dt="2021-08-31T02:24:57.644" v="41" actId="2085"/>
          <ac:spMkLst>
            <pc:docMk/>
            <pc:sldMk cId="0" sldId="410"/>
            <ac:spMk id="746499" creationId="{00000000-0000-0000-0000-000000000000}"/>
          </ac:spMkLst>
        </pc:spChg>
      </pc:sldChg>
      <pc:sldChg chg="modSp">
        <pc:chgData name="DuongHung Nguyen" userId="250f88f87da22dfd" providerId="LiveId" clId="{BA5AD276-31BE-41DA-8C6F-30973DB2543C}" dt="2021-08-31T02:25:03.757" v="42" actId="2085"/>
        <pc:sldMkLst>
          <pc:docMk/>
          <pc:sldMk cId="0" sldId="411"/>
        </pc:sldMkLst>
        <pc:spChg chg="mod">
          <ac:chgData name="DuongHung Nguyen" userId="250f88f87da22dfd" providerId="LiveId" clId="{BA5AD276-31BE-41DA-8C6F-30973DB2543C}" dt="2021-08-31T02:25:03.757" v="42" actId="2085"/>
          <ac:spMkLst>
            <pc:docMk/>
            <pc:sldMk cId="0" sldId="411"/>
            <ac:spMk id="287747" creationId="{00000000-0000-0000-0000-000000000000}"/>
          </ac:spMkLst>
        </pc:spChg>
      </pc:sldChg>
      <pc:sldChg chg="modSp">
        <pc:chgData name="DuongHung Nguyen" userId="250f88f87da22dfd" providerId="LiveId" clId="{BA5AD276-31BE-41DA-8C6F-30973DB2543C}" dt="2021-08-31T02:25:12.187" v="43" actId="2085"/>
        <pc:sldMkLst>
          <pc:docMk/>
          <pc:sldMk cId="0" sldId="412"/>
        </pc:sldMkLst>
        <pc:spChg chg="mod">
          <ac:chgData name="DuongHung Nguyen" userId="250f88f87da22dfd" providerId="LiveId" clId="{BA5AD276-31BE-41DA-8C6F-30973DB2543C}" dt="2021-08-31T02:25:12.187" v="43" actId="2085"/>
          <ac:spMkLst>
            <pc:docMk/>
            <pc:sldMk cId="0" sldId="412"/>
            <ac:spMk id="729091" creationId="{00000000-0000-0000-0000-000000000000}"/>
          </ac:spMkLst>
        </pc:spChg>
      </pc:sldChg>
      <pc:sldChg chg="modSp">
        <pc:chgData name="DuongHung Nguyen" userId="250f88f87da22dfd" providerId="LiveId" clId="{BA5AD276-31BE-41DA-8C6F-30973DB2543C}" dt="2021-08-31T02:22:30.634" v="27" actId="2085"/>
        <pc:sldMkLst>
          <pc:docMk/>
          <pc:sldMk cId="2319183851" sldId="416"/>
        </pc:sldMkLst>
        <pc:spChg chg="mod">
          <ac:chgData name="DuongHung Nguyen" userId="250f88f87da22dfd" providerId="LiveId" clId="{BA5AD276-31BE-41DA-8C6F-30973DB2543C}" dt="2021-08-31T02:22:30.634" v="27" actId="2085"/>
          <ac:spMkLst>
            <pc:docMk/>
            <pc:sldMk cId="2319183851" sldId="416"/>
            <ac:spMk id="723971" creationId="{00000000-0000-0000-0000-000000000000}"/>
          </ac:spMkLst>
        </pc:sp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5.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85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US"/>
          </a:p>
        </p:txBody>
      </p:sp>
      <p:sp>
        <p:nvSpPr>
          <p:cNvPr id="108547" name="Rectangle 3"/>
          <p:cNvSpPr>
            <a:spLocks noGrp="1" noChangeArrowheads="1"/>
          </p:cNvSpPr>
          <p:nvPr>
            <p:ph type="dt" sz="quarter" idx="1"/>
          </p:nvPr>
        </p:nvSpPr>
        <p:spPr bwMode="auto">
          <a:xfrm>
            <a:off x="388501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US"/>
          </a:p>
        </p:txBody>
      </p:sp>
      <p:sp>
        <p:nvSpPr>
          <p:cNvPr id="108548" name="Rectangle 4"/>
          <p:cNvSpPr>
            <a:spLocks noGrp="1" noChangeArrowheads="1"/>
          </p:cNvSpPr>
          <p:nvPr>
            <p:ph type="ftr" sz="quarter" idx="2"/>
          </p:nvPr>
        </p:nvSpPr>
        <p:spPr bwMode="auto">
          <a:xfrm>
            <a:off x="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US"/>
          </a:p>
        </p:txBody>
      </p:sp>
      <p:sp>
        <p:nvSpPr>
          <p:cNvPr id="108549" name="Rectangle 5"/>
          <p:cNvSpPr>
            <a:spLocks noGrp="1" noChangeArrowheads="1"/>
          </p:cNvSpPr>
          <p:nvPr>
            <p:ph type="sldNum" sz="quarter" idx="3"/>
          </p:nvPr>
        </p:nvSpPr>
        <p:spPr bwMode="auto">
          <a:xfrm>
            <a:off x="388501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Arial" charset="0"/>
              </a:defRPr>
            </a:lvl1pPr>
          </a:lstStyle>
          <a:p>
            <a:pPr>
              <a:defRPr/>
            </a:pPr>
            <a:fld id="{943A9717-7C3A-40EC-9530-9283BC9EA608}" type="slidenum">
              <a:rPr lang="en-US"/>
              <a:pPr>
                <a:defRPr/>
              </a:pPr>
              <a:t>‹#›</a:t>
            </a:fld>
            <a:endParaRPr lang="en-US"/>
          </a:p>
        </p:txBody>
      </p:sp>
    </p:spTree>
    <p:extLst>
      <p:ext uri="{BB962C8B-B14F-4D97-AF65-F5344CB8AC3E}">
        <p14:creationId xmlns:p14="http://schemas.microsoft.com/office/powerpoint/2010/main" val="27411065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cs typeface="Arial" charset="0"/>
              </a:defRPr>
            </a:lvl1pPr>
          </a:lstStyle>
          <a:p>
            <a:pPr>
              <a:defRPr/>
            </a:pPr>
            <a:endParaRPr lang="en-GB"/>
          </a:p>
        </p:txBody>
      </p:sp>
      <p:sp>
        <p:nvSpPr>
          <p:cNvPr id="9219" name="Rectangle 3"/>
          <p:cNvSpPr>
            <a:spLocks noGrp="1" noChangeArrowheads="1"/>
          </p:cNvSpPr>
          <p:nvPr>
            <p:ph type="dt" idx="1"/>
          </p:nvPr>
        </p:nvSpPr>
        <p:spPr bwMode="auto">
          <a:xfrm>
            <a:off x="388501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cs typeface="Arial" charset="0"/>
              </a:defRPr>
            </a:lvl1pPr>
          </a:lstStyle>
          <a:p>
            <a:pPr>
              <a:defRPr/>
            </a:pPr>
            <a:endParaRPr lang="en-GB"/>
          </a:p>
        </p:txBody>
      </p:sp>
      <p:sp>
        <p:nvSpPr>
          <p:cNvPr id="56324" name="Rectangle 4"/>
          <p:cNvSpPr>
            <a:spLocks noGrp="1" noRot="1" noChangeAspect="1" noChangeArrowheads="1" noTextEdit="1"/>
          </p:cNvSpPr>
          <p:nvPr>
            <p:ph type="sldImg" idx="2"/>
          </p:nvPr>
        </p:nvSpPr>
        <p:spPr bwMode="auto">
          <a:xfrm>
            <a:off x="1044575" y="685800"/>
            <a:ext cx="4740275" cy="2667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p:cNvSpPr>
            <a:spLocks noGrp="1" noChangeArrowheads="1"/>
          </p:cNvSpPr>
          <p:nvPr>
            <p:ph type="body" sz="quarter" idx="3"/>
          </p:nvPr>
        </p:nvSpPr>
        <p:spPr bwMode="auto">
          <a:xfrm>
            <a:off x="685800" y="3505200"/>
            <a:ext cx="5791200" cy="5130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9222" name="Rectangle 6"/>
          <p:cNvSpPr>
            <a:spLocks noGrp="1" noChangeArrowheads="1"/>
          </p:cNvSpPr>
          <p:nvPr>
            <p:ph type="ftr" sz="quarter" idx="4"/>
          </p:nvPr>
        </p:nvSpPr>
        <p:spPr bwMode="auto">
          <a:xfrm>
            <a:off x="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cs typeface="Arial" charset="0"/>
              </a:defRPr>
            </a:lvl1pPr>
          </a:lstStyle>
          <a:p>
            <a:pPr>
              <a:defRPr/>
            </a:pPr>
            <a:endParaRPr lang="en-GB"/>
          </a:p>
        </p:txBody>
      </p:sp>
      <p:sp>
        <p:nvSpPr>
          <p:cNvPr id="9223" name="Rectangle 7"/>
          <p:cNvSpPr>
            <a:spLocks noGrp="1" noChangeArrowheads="1"/>
          </p:cNvSpPr>
          <p:nvPr>
            <p:ph type="sldNum" sz="quarter" idx="5"/>
          </p:nvPr>
        </p:nvSpPr>
        <p:spPr bwMode="auto">
          <a:xfrm>
            <a:off x="3885010" y="8684684"/>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cs typeface="Arial" charset="0"/>
              </a:defRPr>
            </a:lvl1pPr>
          </a:lstStyle>
          <a:p>
            <a:pPr>
              <a:defRPr/>
            </a:pPr>
            <a:fld id="{942D04A8-2493-45D6-A88A-2776608B0626}" type="slidenum">
              <a:rPr lang="en-GB"/>
              <a:pPr>
                <a:defRPr/>
              </a:pPr>
              <a:t>‹#›</a:t>
            </a:fld>
            <a:endParaRPr lang="en-GB"/>
          </a:p>
        </p:txBody>
      </p:sp>
    </p:spTree>
    <p:extLst>
      <p:ext uri="{BB962C8B-B14F-4D97-AF65-F5344CB8AC3E}">
        <p14:creationId xmlns:p14="http://schemas.microsoft.com/office/powerpoint/2010/main" val="3100793138"/>
      </p:ext>
    </p:extLst>
  </p:cSld>
  <p:clrMap bg1="lt1" tx1="dk1" bg2="lt2" tx2="dk2" accent1="accent1" accent2="accent2" accent3="accent3" accent4="accent4" accent5="accent5" accent6="accent6" hlink="hlink" folHlink="folHlink"/>
  <p:notesStyle>
    <a:lvl1pPr algn="l" rtl="0" eaLnBrk="0" fontAlgn="base" hangingPunct="0">
      <a:spcBef>
        <a:spcPct val="10000"/>
      </a:spcBef>
      <a:spcAft>
        <a:spcPct val="0"/>
      </a:spcAft>
      <a:defRPr sz="900" kern="1200">
        <a:solidFill>
          <a:schemeClr val="tx1"/>
        </a:solidFill>
        <a:latin typeface="Arial" charset="0"/>
        <a:ea typeface="+mn-ea"/>
        <a:cs typeface="Arial" charset="0"/>
      </a:defRPr>
    </a:lvl1pPr>
    <a:lvl2pPr marL="457200" algn="l" rtl="0" eaLnBrk="0" fontAlgn="base" hangingPunct="0">
      <a:spcBef>
        <a:spcPct val="10000"/>
      </a:spcBef>
      <a:spcAft>
        <a:spcPct val="0"/>
      </a:spcAft>
      <a:defRPr sz="900" kern="1200">
        <a:solidFill>
          <a:schemeClr val="tx1"/>
        </a:solidFill>
        <a:latin typeface="Arial" charset="0"/>
        <a:ea typeface="+mn-ea"/>
        <a:cs typeface="Arial" charset="0"/>
      </a:defRPr>
    </a:lvl2pPr>
    <a:lvl3pPr marL="914400" algn="l" rtl="0" eaLnBrk="0" fontAlgn="base" hangingPunct="0">
      <a:spcBef>
        <a:spcPct val="10000"/>
      </a:spcBef>
      <a:spcAft>
        <a:spcPct val="0"/>
      </a:spcAft>
      <a:defRPr sz="900" kern="1200">
        <a:solidFill>
          <a:schemeClr val="tx1"/>
        </a:solidFill>
        <a:latin typeface="Arial" charset="0"/>
        <a:ea typeface="+mn-ea"/>
        <a:cs typeface="Arial" charset="0"/>
      </a:defRPr>
    </a:lvl3pPr>
    <a:lvl4pPr marL="1371600" algn="l" rtl="0" eaLnBrk="0" fontAlgn="base" hangingPunct="0">
      <a:spcBef>
        <a:spcPct val="10000"/>
      </a:spcBef>
      <a:spcAft>
        <a:spcPct val="0"/>
      </a:spcAft>
      <a:defRPr sz="900" kern="1200">
        <a:solidFill>
          <a:schemeClr val="tx1"/>
        </a:solidFill>
        <a:latin typeface="Arial" charset="0"/>
        <a:ea typeface="+mn-ea"/>
        <a:cs typeface="Arial" charset="0"/>
      </a:defRPr>
    </a:lvl4pPr>
    <a:lvl5pPr marL="1828800" algn="l" rtl="0" eaLnBrk="0" fontAlgn="base" hangingPunct="0">
      <a:spcBef>
        <a:spcPct val="10000"/>
      </a:spcBef>
      <a:spcAft>
        <a:spcPct val="0"/>
      </a:spcAft>
      <a:defRPr sz="9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C2133E-E6E1-4FC8-841C-E9DF20F68541}" type="slidenum">
              <a:rPr lang="en-US" altLang="en-US"/>
              <a:pPr/>
              <a:t>1</a:t>
            </a:fld>
            <a:endParaRPr lang="en-US" altLang="en-US"/>
          </a:p>
        </p:txBody>
      </p:sp>
      <p:sp>
        <p:nvSpPr>
          <p:cNvPr id="215042" name="Rectangle 2"/>
          <p:cNvSpPr>
            <a:spLocks noGrp="1" noRot="1" noChangeAspect="1" noChangeArrowheads="1" noTextEdit="1"/>
          </p:cNvSpPr>
          <p:nvPr>
            <p:ph type="sldImg"/>
          </p:nvPr>
        </p:nvSpPr>
        <p:spPr>
          <a:xfrm>
            <a:off x="-1522413" y="958850"/>
            <a:ext cx="8535988" cy="4802188"/>
          </a:xfrm>
          <a:ln/>
        </p:spPr>
      </p:sp>
      <p:sp>
        <p:nvSpPr>
          <p:cNvPr id="21504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2489032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FEA84CA-35BE-4CFE-9695-014EE7306FB7}" type="slidenum">
              <a:rPr lang="en-US" altLang="en-US"/>
              <a:pPr/>
              <a:t>2</a:t>
            </a:fld>
            <a:endParaRPr lang="en-US" altLang="en-US"/>
          </a:p>
        </p:txBody>
      </p:sp>
      <p:sp>
        <p:nvSpPr>
          <p:cNvPr id="171010" name="Rectangle 2"/>
          <p:cNvSpPr>
            <a:spLocks noGrp="1" noRot="1" noChangeAspect="1" noChangeArrowheads="1" noTextEdit="1"/>
          </p:cNvSpPr>
          <p:nvPr>
            <p:ph type="sldImg"/>
          </p:nvPr>
        </p:nvSpPr>
        <p:spPr>
          <a:xfrm>
            <a:off x="-1522413" y="958850"/>
            <a:ext cx="8535988" cy="4802188"/>
          </a:xfrm>
          <a:ln/>
        </p:spPr>
      </p:sp>
      <p:sp>
        <p:nvSpPr>
          <p:cNvPr id="171011" name="Rectangle 3"/>
          <p:cNvSpPr>
            <a:spLocks noGrp="1" noChangeArrowheads="1"/>
          </p:cNvSpPr>
          <p:nvPr>
            <p:ph type="body" idx="1"/>
          </p:nvPr>
        </p:nvSpPr>
        <p:spPr/>
        <p:txBody>
          <a:bodyPr/>
          <a:lstStyle/>
          <a:p>
            <a:endParaRPr lang="th-TH"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2776125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6DFA1C-3CE5-44EE-A786-DE285D0FE67E}" type="slidenum">
              <a:rPr lang="en-US" altLang="en-US"/>
              <a:pPr/>
              <a:t>4</a:t>
            </a:fld>
            <a:endParaRPr lang="en-US" altLang="en-US"/>
          </a:p>
        </p:txBody>
      </p:sp>
      <p:sp>
        <p:nvSpPr>
          <p:cNvPr id="651266" name="Rectangle 2"/>
          <p:cNvSpPr>
            <a:spLocks noGrp="1" noRot="1" noChangeAspect="1" noChangeArrowheads="1" noTextEdit="1"/>
          </p:cNvSpPr>
          <p:nvPr>
            <p:ph type="sldImg"/>
          </p:nvPr>
        </p:nvSpPr>
        <p:spPr>
          <a:xfrm>
            <a:off x="-1522413" y="958850"/>
            <a:ext cx="8535988" cy="4802188"/>
          </a:xfrm>
          <a:ln/>
        </p:spPr>
      </p:sp>
      <p:sp>
        <p:nvSpPr>
          <p:cNvPr id="65126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166705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E23B71-783B-4383-9034-65A39661B359}" type="slidenum">
              <a:rPr lang="en-US" altLang="en-US"/>
              <a:pPr/>
              <a:t>5</a:t>
            </a:fld>
            <a:endParaRPr lang="en-US" altLang="en-US"/>
          </a:p>
        </p:txBody>
      </p:sp>
      <p:sp>
        <p:nvSpPr>
          <p:cNvPr id="664578" name="Rectangle 2"/>
          <p:cNvSpPr>
            <a:spLocks noGrp="1" noRot="1" noChangeAspect="1" noChangeArrowheads="1" noTextEdit="1"/>
          </p:cNvSpPr>
          <p:nvPr>
            <p:ph type="sldImg"/>
          </p:nvPr>
        </p:nvSpPr>
        <p:spPr>
          <a:xfrm>
            <a:off x="-1522413" y="958850"/>
            <a:ext cx="8535988" cy="4802188"/>
          </a:xfrm>
          <a:ln/>
        </p:spPr>
      </p:sp>
      <p:sp>
        <p:nvSpPr>
          <p:cNvPr id="664579"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0241728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2F955DD-8DC7-49BC-B7F5-A8338C8F452D}" type="slidenum">
              <a:rPr lang="en-US" altLang="en-US"/>
              <a:pPr/>
              <a:t>6</a:t>
            </a:fld>
            <a:endParaRPr lang="en-US" altLang="en-US"/>
          </a:p>
        </p:txBody>
      </p:sp>
      <p:sp>
        <p:nvSpPr>
          <p:cNvPr id="660482" name="Rectangle 2"/>
          <p:cNvSpPr>
            <a:spLocks noGrp="1" noRot="1" noChangeAspect="1" noChangeArrowheads="1" noTextEdit="1"/>
          </p:cNvSpPr>
          <p:nvPr>
            <p:ph type="sldImg"/>
          </p:nvPr>
        </p:nvSpPr>
        <p:spPr>
          <a:xfrm>
            <a:off x="-1522413" y="958850"/>
            <a:ext cx="8535988" cy="4802188"/>
          </a:xfrm>
          <a:ln/>
        </p:spPr>
      </p:sp>
      <p:sp>
        <p:nvSpPr>
          <p:cNvPr id="66048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2760179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0899A90-0676-4AC3-9D0C-4938C91B5694}" type="slidenum">
              <a:rPr lang="en-US" altLang="en-US"/>
              <a:pPr/>
              <a:t>7</a:t>
            </a:fld>
            <a:endParaRPr lang="en-US" altLang="en-US"/>
          </a:p>
        </p:txBody>
      </p:sp>
      <p:sp>
        <p:nvSpPr>
          <p:cNvPr id="657410" name="Rectangle 2"/>
          <p:cNvSpPr>
            <a:spLocks noGrp="1" noRot="1" noChangeAspect="1" noChangeArrowheads="1" noTextEdit="1"/>
          </p:cNvSpPr>
          <p:nvPr>
            <p:ph type="sldImg"/>
          </p:nvPr>
        </p:nvSpPr>
        <p:spPr>
          <a:xfrm>
            <a:off x="-1522413" y="958850"/>
            <a:ext cx="8535988" cy="4802188"/>
          </a:xfrm>
          <a:ln/>
        </p:spPr>
      </p:sp>
      <p:sp>
        <p:nvSpPr>
          <p:cNvPr id="657411"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5866195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F1DB6B-C695-4C54-AB9D-6A00BD570534}" type="slidenum">
              <a:rPr lang="en-US" altLang="en-US"/>
              <a:pPr/>
              <a:t>8</a:t>
            </a:fld>
            <a:endParaRPr lang="en-US" altLang="en-US"/>
          </a:p>
        </p:txBody>
      </p:sp>
      <p:sp>
        <p:nvSpPr>
          <p:cNvPr id="653314" name="Rectangle 2"/>
          <p:cNvSpPr>
            <a:spLocks noGrp="1" noRot="1" noChangeAspect="1" noChangeArrowheads="1" noTextEdit="1"/>
          </p:cNvSpPr>
          <p:nvPr>
            <p:ph type="sldImg"/>
          </p:nvPr>
        </p:nvSpPr>
        <p:spPr>
          <a:xfrm>
            <a:off x="-1522413" y="958850"/>
            <a:ext cx="8535988" cy="4802188"/>
          </a:xfrm>
          <a:ln/>
        </p:spPr>
      </p:sp>
      <p:sp>
        <p:nvSpPr>
          <p:cNvPr id="653315"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1870296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0DFDDD-A812-43FA-B9D0-5DB9FA79B97F}" type="slidenum">
              <a:rPr lang="en-US" altLang="en-US"/>
              <a:pPr/>
              <a:t>9</a:t>
            </a:fld>
            <a:endParaRPr lang="en-US" altLang="en-US"/>
          </a:p>
        </p:txBody>
      </p:sp>
      <p:sp>
        <p:nvSpPr>
          <p:cNvPr id="655362" name="Rectangle 2"/>
          <p:cNvSpPr>
            <a:spLocks noGrp="1" noRot="1" noChangeAspect="1" noChangeArrowheads="1" noTextEdit="1"/>
          </p:cNvSpPr>
          <p:nvPr>
            <p:ph type="sldImg"/>
          </p:nvPr>
        </p:nvSpPr>
        <p:spPr>
          <a:xfrm>
            <a:off x="-1522413" y="958850"/>
            <a:ext cx="8535988" cy="4802188"/>
          </a:xfrm>
          <a:ln/>
        </p:spPr>
      </p:sp>
      <p:sp>
        <p:nvSpPr>
          <p:cNvPr id="65536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27398426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B0B7D6-6477-48FE-BFDC-662F47C4D995}" type="slidenum">
              <a:rPr lang="en-US" altLang="en-US"/>
              <a:pPr/>
              <a:t>10</a:t>
            </a:fld>
            <a:endParaRPr lang="en-US" altLang="en-US"/>
          </a:p>
        </p:txBody>
      </p:sp>
      <p:sp>
        <p:nvSpPr>
          <p:cNvPr id="662530" name="Rectangle 2"/>
          <p:cNvSpPr>
            <a:spLocks noGrp="1" noRot="1" noChangeAspect="1" noChangeArrowheads="1" noTextEdit="1"/>
          </p:cNvSpPr>
          <p:nvPr>
            <p:ph type="sldImg"/>
          </p:nvPr>
        </p:nvSpPr>
        <p:spPr>
          <a:xfrm>
            <a:off x="-1522413" y="958850"/>
            <a:ext cx="8535988" cy="4802188"/>
          </a:xfrm>
          <a:ln/>
        </p:spPr>
      </p:sp>
      <p:sp>
        <p:nvSpPr>
          <p:cNvPr id="662531"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0231949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236D40-C393-4A0D-B0B3-575107D40716}" type="slidenum">
              <a:rPr lang="en-US" altLang="en-US"/>
              <a:pPr/>
              <a:t>13</a:t>
            </a:fld>
            <a:endParaRPr lang="en-US" altLang="en-US"/>
          </a:p>
        </p:txBody>
      </p:sp>
      <p:sp>
        <p:nvSpPr>
          <p:cNvPr id="671746" name="Rectangle 2"/>
          <p:cNvSpPr>
            <a:spLocks noGrp="1" noRot="1" noChangeAspect="1" noChangeArrowheads="1" noTextEdit="1"/>
          </p:cNvSpPr>
          <p:nvPr>
            <p:ph type="sldImg"/>
          </p:nvPr>
        </p:nvSpPr>
        <p:spPr>
          <a:xfrm>
            <a:off x="-1522413" y="958850"/>
            <a:ext cx="8535988" cy="4802188"/>
          </a:xfrm>
          <a:ln/>
        </p:spPr>
      </p:sp>
      <p:sp>
        <p:nvSpPr>
          <p:cNvPr id="67174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26232827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628CF2C-5568-47B3-AA82-2C0054DEF43E}" type="slidenum">
              <a:rPr lang="en-US" altLang="en-US"/>
              <a:pPr/>
              <a:t>14</a:t>
            </a:fld>
            <a:endParaRPr lang="en-US" altLang="en-US"/>
          </a:p>
        </p:txBody>
      </p:sp>
      <p:sp>
        <p:nvSpPr>
          <p:cNvPr id="677890" name="Rectangle 2"/>
          <p:cNvSpPr>
            <a:spLocks noGrp="1" noRot="1" noChangeAspect="1" noChangeArrowheads="1" noTextEdit="1"/>
          </p:cNvSpPr>
          <p:nvPr>
            <p:ph type="sldImg"/>
          </p:nvPr>
        </p:nvSpPr>
        <p:spPr>
          <a:xfrm>
            <a:off x="-1522413" y="958850"/>
            <a:ext cx="8535988" cy="4802188"/>
          </a:xfrm>
          <a:ln/>
        </p:spPr>
      </p:sp>
      <p:sp>
        <p:nvSpPr>
          <p:cNvPr id="677891"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7990890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0C04E1-296A-4339-933A-AACDF3EA287A}" type="slidenum">
              <a:rPr lang="en-US" altLang="en-US"/>
              <a:pPr/>
              <a:t>15</a:t>
            </a:fld>
            <a:endParaRPr lang="en-US" altLang="en-US"/>
          </a:p>
        </p:txBody>
      </p:sp>
      <p:sp>
        <p:nvSpPr>
          <p:cNvPr id="673794" name="Rectangle 2"/>
          <p:cNvSpPr>
            <a:spLocks noGrp="1" noRot="1" noChangeAspect="1" noChangeArrowheads="1" noTextEdit="1"/>
          </p:cNvSpPr>
          <p:nvPr>
            <p:ph type="sldImg"/>
          </p:nvPr>
        </p:nvSpPr>
        <p:spPr>
          <a:xfrm>
            <a:off x="-1522413" y="958850"/>
            <a:ext cx="8535988" cy="4802188"/>
          </a:xfrm>
          <a:ln/>
        </p:spPr>
      </p:sp>
      <p:sp>
        <p:nvSpPr>
          <p:cNvPr id="673795" name="Rectangle 3"/>
          <p:cNvSpPr>
            <a:spLocks noGrp="1" noChangeArrowheads="1"/>
          </p:cNvSpPr>
          <p:nvPr>
            <p:ph type="body" idx="1"/>
          </p:nvPr>
        </p:nvSpPr>
        <p:spPr/>
        <p:txBody>
          <a:bodyPr/>
          <a:lstStyle/>
          <a:p>
            <a:endParaRPr lang="ru-RU"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4592954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44575" y="685800"/>
            <a:ext cx="4740275" cy="2667000"/>
          </a:xfrm>
        </p:spPr>
      </p:sp>
      <p:sp>
        <p:nvSpPr>
          <p:cNvPr id="3" name="Notes Placeholder 2"/>
          <p:cNvSpPr>
            <a:spLocks noGrp="1"/>
          </p:cNvSpPr>
          <p:nvPr>
            <p:ph type="body" idx="1"/>
          </p:nvPr>
        </p:nvSpPr>
        <p:spPr/>
        <p:txBody>
          <a:bodyPr/>
          <a:lstStyle/>
          <a:p>
            <a:endParaRPr lang="vi-VN"/>
          </a:p>
        </p:txBody>
      </p:sp>
      <p:sp>
        <p:nvSpPr>
          <p:cNvPr id="4" name="Slide Number Placeholder 3"/>
          <p:cNvSpPr>
            <a:spLocks noGrp="1"/>
          </p:cNvSpPr>
          <p:nvPr>
            <p:ph type="sldNum" sz="quarter" idx="10"/>
          </p:nvPr>
        </p:nvSpPr>
        <p:spPr/>
        <p:txBody>
          <a:bodyPr/>
          <a:lstStyle/>
          <a:p>
            <a:fld id="{3CB7DE39-524D-47F3-9B19-31A9B31B8792}" type="slidenum">
              <a:rPr lang="vi-VN" smtClean="0"/>
              <a:t>16</a:t>
            </a:fld>
            <a:endParaRPr lang="vi-VN"/>
          </a:p>
        </p:txBody>
      </p:sp>
    </p:spTree>
    <p:extLst>
      <p:ext uri="{BB962C8B-B14F-4D97-AF65-F5344CB8AC3E}">
        <p14:creationId xmlns:p14="http://schemas.microsoft.com/office/powerpoint/2010/main" val="12250318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38B645B-B11E-4196-9264-E84E91D461D6}" type="slidenum">
              <a:rPr lang="en-US" altLang="en-US"/>
              <a:pPr/>
              <a:t>20</a:t>
            </a:fld>
            <a:endParaRPr lang="en-US" altLang="en-US"/>
          </a:p>
        </p:txBody>
      </p:sp>
      <p:sp>
        <p:nvSpPr>
          <p:cNvPr id="702466" name="Rectangle 2"/>
          <p:cNvSpPr>
            <a:spLocks noGrp="1" noRot="1" noChangeAspect="1" noChangeArrowheads="1" noTextEdit="1"/>
          </p:cNvSpPr>
          <p:nvPr>
            <p:ph type="sldImg"/>
          </p:nvPr>
        </p:nvSpPr>
        <p:spPr>
          <a:xfrm>
            <a:off x="-1522413" y="958850"/>
            <a:ext cx="8535988" cy="4802188"/>
          </a:xfrm>
          <a:ln/>
        </p:spPr>
      </p:sp>
      <p:sp>
        <p:nvSpPr>
          <p:cNvPr id="70246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983814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9083B8-6442-4B3F-9922-FF9F8FE6F22A}" type="slidenum">
              <a:rPr lang="en-US" altLang="en-US"/>
              <a:pPr/>
              <a:t>21</a:t>
            </a:fld>
            <a:endParaRPr lang="en-US" altLang="en-US"/>
          </a:p>
        </p:txBody>
      </p:sp>
      <p:sp>
        <p:nvSpPr>
          <p:cNvPr id="704514" name="Rectangle 2"/>
          <p:cNvSpPr>
            <a:spLocks noGrp="1" noRot="1" noChangeAspect="1" noChangeArrowheads="1" noTextEdit="1"/>
          </p:cNvSpPr>
          <p:nvPr>
            <p:ph type="sldImg"/>
          </p:nvPr>
        </p:nvSpPr>
        <p:spPr>
          <a:xfrm>
            <a:off x="-1522413" y="958850"/>
            <a:ext cx="8535988" cy="4802188"/>
          </a:xfrm>
          <a:ln/>
        </p:spPr>
      </p:sp>
      <p:sp>
        <p:nvSpPr>
          <p:cNvPr id="704515"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193179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2564AE-6E90-490D-8EC9-AB3958B82672}" type="slidenum">
              <a:rPr lang="en-US" altLang="en-US"/>
              <a:pPr/>
              <a:t>22</a:t>
            </a:fld>
            <a:endParaRPr lang="en-US" altLang="en-US"/>
          </a:p>
        </p:txBody>
      </p:sp>
      <p:sp>
        <p:nvSpPr>
          <p:cNvPr id="706562" name="Rectangle 2"/>
          <p:cNvSpPr>
            <a:spLocks noGrp="1" noRot="1" noChangeAspect="1" noChangeArrowheads="1" noTextEdit="1"/>
          </p:cNvSpPr>
          <p:nvPr>
            <p:ph type="sldImg"/>
          </p:nvPr>
        </p:nvSpPr>
        <p:spPr>
          <a:xfrm>
            <a:off x="-1522413" y="958850"/>
            <a:ext cx="8535988" cy="4802188"/>
          </a:xfrm>
          <a:ln/>
        </p:spPr>
      </p:sp>
      <p:sp>
        <p:nvSpPr>
          <p:cNvPr id="70656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63169659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02FE018-E39B-4B7B-A192-2E13D44E7E00}" type="slidenum">
              <a:rPr lang="en-US" altLang="en-US"/>
              <a:pPr/>
              <a:t>23</a:t>
            </a:fld>
            <a:endParaRPr lang="en-US" altLang="en-US"/>
          </a:p>
        </p:txBody>
      </p:sp>
      <p:sp>
        <p:nvSpPr>
          <p:cNvPr id="708610" name="Rectangle 2"/>
          <p:cNvSpPr>
            <a:spLocks noGrp="1" noRot="1" noChangeAspect="1" noChangeArrowheads="1" noTextEdit="1"/>
          </p:cNvSpPr>
          <p:nvPr>
            <p:ph type="sldImg"/>
          </p:nvPr>
        </p:nvSpPr>
        <p:spPr>
          <a:xfrm>
            <a:off x="-1522413" y="958850"/>
            <a:ext cx="8535988" cy="4802188"/>
          </a:xfrm>
          <a:ln/>
        </p:spPr>
      </p:sp>
      <p:sp>
        <p:nvSpPr>
          <p:cNvPr id="708611"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662023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9E52B99-DCE4-49F3-8982-E8E37ADFB2CF}" type="slidenum">
              <a:rPr lang="en-US" altLang="en-US"/>
              <a:pPr/>
              <a:t>24</a:t>
            </a:fld>
            <a:endParaRPr lang="en-US" altLang="en-US"/>
          </a:p>
        </p:txBody>
      </p:sp>
      <p:sp>
        <p:nvSpPr>
          <p:cNvPr id="710658" name="Rectangle 2"/>
          <p:cNvSpPr>
            <a:spLocks noGrp="1" noRot="1" noChangeAspect="1" noChangeArrowheads="1" noTextEdit="1"/>
          </p:cNvSpPr>
          <p:nvPr>
            <p:ph type="sldImg"/>
          </p:nvPr>
        </p:nvSpPr>
        <p:spPr>
          <a:xfrm>
            <a:off x="-1522413" y="958850"/>
            <a:ext cx="8535988" cy="4802188"/>
          </a:xfrm>
          <a:ln/>
        </p:spPr>
      </p:sp>
      <p:sp>
        <p:nvSpPr>
          <p:cNvPr id="710659"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08908316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3440CF1-3EE0-49EC-8929-2D757D530E0B}" type="slidenum">
              <a:rPr lang="en-US" altLang="en-US"/>
              <a:pPr/>
              <a:t>32</a:t>
            </a:fld>
            <a:endParaRPr lang="en-US" altLang="en-US"/>
          </a:p>
        </p:txBody>
      </p:sp>
      <p:sp>
        <p:nvSpPr>
          <p:cNvPr id="728066" name="Rectangle 2"/>
          <p:cNvSpPr>
            <a:spLocks noGrp="1" noRot="1" noChangeAspect="1" noChangeArrowheads="1" noTextEdit="1"/>
          </p:cNvSpPr>
          <p:nvPr>
            <p:ph type="sldImg"/>
          </p:nvPr>
        </p:nvSpPr>
        <p:spPr>
          <a:xfrm>
            <a:off x="-1522413" y="958850"/>
            <a:ext cx="8535988" cy="4802188"/>
          </a:xfrm>
          <a:ln/>
        </p:spPr>
      </p:sp>
      <p:sp>
        <p:nvSpPr>
          <p:cNvPr id="72806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5180285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B3A542-AC68-4D6D-B867-8560D4E43755}" type="slidenum">
              <a:rPr lang="en-US" altLang="en-US"/>
              <a:pPr/>
              <a:t>33</a:t>
            </a:fld>
            <a:endParaRPr lang="en-US" altLang="en-US"/>
          </a:p>
        </p:txBody>
      </p:sp>
      <p:sp>
        <p:nvSpPr>
          <p:cNvPr id="727042" name="Rectangle 2"/>
          <p:cNvSpPr>
            <a:spLocks noGrp="1" noRot="1" noChangeAspect="1" noChangeArrowheads="1" noTextEdit="1"/>
          </p:cNvSpPr>
          <p:nvPr>
            <p:ph type="sldImg"/>
          </p:nvPr>
        </p:nvSpPr>
        <p:spPr>
          <a:xfrm>
            <a:off x="-1522413" y="958850"/>
            <a:ext cx="8535988" cy="4802188"/>
          </a:xfrm>
          <a:ln/>
        </p:spPr>
      </p:sp>
      <p:sp>
        <p:nvSpPr>
          <p:cNvPr id="72704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2834015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B3A542-AC68-4D6D-B867-8560D4E43755}" type="slidenum">
              <a:rPr lang="en-US" altLang="en-US"/>
              <a:pPr/>
              <a:t>34</a:t>
            </a:fld>
            <a:endParaRPr lang="en-US" altLang="en-US"/>
          </a:p>
        </p:txBody>
      </p:sp>
      <p:sp>
        <p:nvSpPr>
          <p:cNvPr id="727042" name="Rectangle 2"/>
          <p:cNvSpPr>
            <a:spLocks noGrp="1" noRot="1" noChangeAspect="1" noChangeArrowheads="1" noTextEdit="1"/>
          </p:cNvSpPr>
          <p:nvPr>
            <p:ph type="sldImg"/>
          </p:nvPr>
        </p:nvSpPr>
        <p:spPr>
          <a:xfrm>
            <a:off x="-1522413" y="958850"/>
            <a:ext cx="8535988" cy="4802188"/>
          </a:xfrm>
          <a:ln/>
        </p:spPr>
      </p:sp>
      <mc:AlternateContent xmlns:mc="http://schemas.openxmlformats.org/markup-compatibility/2006" xmlns:a14="http://schemas.microsoft.com/office/drawing/2010/main">
        <mc:Choice Requires="a14">
          <p:sp>
            <p:nvSpPr>
              <p:cNvPr id="727043" name="Rectangle 3"/>
              <p:cNvSpPr>
                <a:spLocks noGrp="1" noChangeArrowheads="1"/>
              </p:cNvSpPr>
              <p:nvPr>
                <p:ph type="body" idx="1"/>
              </p:nvPr>
            </p:nvSpPr>
            <p:spPr/>
            <p:txBody>
              <a:bodyPr/>
              <a:lstStyle/>
              <a:p>
                <a:r>
                  <a:rPr lang="vi-VN"/>
                  <a:t>E11 =  </a:t>
                </a:r>
                <a14:m>
                  <m:oMath xmlns:m="http://schemas.openxmlformats.org/officeDocument/2006/math">
                    <m:f>
                      <m:fPr>
                        <m:ctrlPr>
                          <a:rPr lang="vi-VN" i="1" smtClean="0">
                            <a:latin typeface="Cambria Math" panose="02040503050406030204" pitchFamily="18" charset="0"/>
                          </a:rPr>
                        </m:ctrlPr>
                      </m:fPr>
                      <m:num>
                        <m:r>
                          <a:rPr lang="vi-VN" i="1" smtClean="0">
                            <a:latin typeface="Cambria Math" panose="02040503050406030204" pitchFamily="18" charset="0"/>
                          </a:rPr>
                          <m:t>300</m:t>
                        </m:r>
                        <m:r>
                          <m:rPr>
                            <m:sty m:val="p"/>
                          </m:rPr>
                          <a:rPr lang="vi-VN" i="1" smtClean="0">
                            <a:latin typeface="Cambria Math" panose="02040503050406030204" pitchFamily="18" charset="0"/>
                          </a:rPr>
                          <m:t>x</m:t>
                        </m:r>
                        <m:r>
                          <a:rPr lang="vi-VN" i="1" smtClean="0">
                            <a:latin typeface="Cambria Math" panose="02040503050406030204" pitchFamily="18" charset="0"/>
                          </a:rPr>
                          <m:t>450</m:t>
                        </m:r>
                      </m:num>
                      <m:den>
                        <m:r>
                          <a:rPr lang="vi-VN" i="1" smtClean="0">
                            <a:latin typeface="Cambria Math" panose="02040503050406030204" pitchFamily="18" charset="0"/>
                          </a:rPr>
                          <m:t>1500</m:t>
                        </m:r>
                      </m:den>
                    </m:f>
                  </m:oMath>
                </a14:m>
                <a:r>
                  <a:rPr lang="vi-VN"/>
                  <a:t>= 90  e12 = 360</a:t>
                </a:r>
              </a:p>
              <a:p>
                <a:r>
                  <a:rPr lang="vi-VN"/>
                  <a:t>e21 = 210  e22  = 840 </a:t>
                </a:r>
              </a:p>
              <a:p>
                <a:r>
                  <a:rPr lang="vi-VN"/>
                  <a:t>b1 = 300, b2 = 1200, a1 = 450, a2 = 1050</a:t>
                </a:r>
              </a:p>
              <a:p>
                <a:r>
                  <a:rPr lang="el-GR" altLang="en-US"/>
                  <a:t>Χ</a:t>
                </a:r>
                <a:r>
                  <a:rPr lang="vi-VN" altLang="en-US"/>
                  <a:t> = 507.93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(250 − 90 )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90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(50 − 210)</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210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(200 − 360 )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360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(1000 − 840 )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840</m:t>
                        </m:r>
                      </m:den>
                    </m:f>
                  </m:oMath>
                </a14:m>
                <a:r>
                  <a:rPr lang="vi-VN" altLang="en-US"/>
                  <a:t> </a:t>
                </a:r>
                <a:r>
                  <a:rPr lang="vi-VN" altLang="en-US" baseline="0"/>
                  <a:t> = 507.93 &gt; 10.827</a:t>
                </a:r>
              </a:p>
              <a:p>
                <a:r>
                  <a:rPr lang="vi-VN" altLang="en-US" baseline="0"/>
                  <a:t>(r-1)x(c-1) = (2-1)x(2-1) độ tự do và với độ chính xác 0.001</a:t>
                </a:r>
              </a:p>
              <a:p>
                <a:r>
                  <a:rPr lang="vi-VN" altLang="en-US" baseline="0"/>
                  <a:t>  =&gt; Phủ định giả thiết Giới tính và sử thích đọc Fiction là độc lập với nhau.</a:t>
                </a:r>
                <a:endParaRPr lang="en-US" altLang="en-US"/>
              </a:p>
            </p:txBody>
          </p:sp>
        </mc:Choice>
        <mc:Fallback xmlns="">
          <p:sp>
            <p:nvSpPr>
              <p:cNvPr id="727043" name="Rectangle 3"/>
              <p:cNvSpPr>
                <a:spLocks noGrp="1" noChangeArrowheads="1"/>
              </p:cNvSpPr>
              <p:nvPr>
                <p:ph type="body" idx="1"/>
              </p:nvPr>
            </p:nvSpPr>
            <p:spPr/>
            <p:txBody>
              <a:bodyPr/>
              <a:lstStyle/>
              <a:p>
                <a:r>
                  <a:rPr lang="vi-VN"/>
                  <a:t>E11 =  </a:t>
                </a:r>
                <a:r>
                  <a:rPr lang="vi-VN" i="0">
                    <a:latin typeface="Cambria Math" panose="02040503050406030204" pitchFamily="18" charset="0"/>
                  </a:rPr>
                  <a:t>300x450/1500</a:t>
                </a:r>
                <a:r>
                  <a:rPr lang="vi-VN"/>
                  <a:t>= 90  e12 = 360</a:t>
                </a:r>
              </a:p>
              <a:p>
                <a:r>
                  <a:rPr lang="vi-VN"/>
                  <a:t>e21 = 210  e22  = 840 </a:t>
                </a:r>
              </a:p>
              <a:p>
                <a:r>
                  <a:rPr lang="vi-VN"/>
                  <a:t>b1 = 300, b2 = 1200, a1 = 450, a2 = 1050</a:t>
                </a:r>
              </a:p>
              <a:p>
                <a:r>
                  <a:rPr lang="el-GR" altLang="en-US"/>
                  <a:t>Χ</a:t>
                </a:r>
                <a:r>
                  <a:rPr lang="vi-VN" altLang="en-US"/>
                  <a:t> = 507.93 = </a:t>
                </a:r>
                <a:r>
                  <a:rPr lang="vi-VN" altLang="en-US" i="0">
                    <a:latin typeface="Cambria Math" panose="02040503050406030204" pitchFamily="18" charset="0"/>
                  </a:rPr>
                  <a:t>〖</a:t>
                </a:r>
                <a:r>
                  <a:rPr lang="vi-VN" altLang="en-US" b="0" i="0">
                    <a:latin typeface="Cambria Math" panose="02040503050406030204" pitchFamily="18" charset="0"/>
                  </a:rPr>
                  <a:t>(250 − 90 )〗^</a:t>
                </a:r>
                <a:r>
                  <a:rPr lang="vi-VN" altLang="en-US" i="0">
                    <a:latin typeface="Cambria Math" panose="02040503050406030204" pitchFamily="18" charset="0"/>
                  </a:rPr>
                  <a:t>2/90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(50 − 210)〗^</a:t>
                </a:r>
                <a:r>
                  <a:rPr lang="vi-VN" altLang="en-US" i="0">
                    <a:latin typeface="Cambria Math" panose="02040503050406030204" pitchFamily="18" charset="0"/>
                  </a:rPr>
                  <a:t>2/210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(200 − 360 )〗^</a:t>
                </a:r>
                <a:r>
                  <a:rPr lang="vi-VN" altLang="en-US" i="0">
                    <a:latin typeface="Cambria Math" panose="02040503050406030204" pitchFamily="18" charset="0"/>
                  </a:rPr>
                  <a:t>2/360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(1000 − 840 )〗^</a:t>
                </a:r>
                <a:r>
                  <a:rPr lang="vi-VN" altLang="en-US" i="0">
                    <a:latin typeface="Cambria Math" panose="02040503050406030204" pitchFamily="18" charset="0"/>
                  </a:rPr>
                  <a:t>2/840</a:t>
                </a:r>
                <a:r>
                  <a:rPr lang="vi-VN" altLang="en-US"/>
                  <a:t> </a:t>
                </a:r>
                <a:r>
                  <a:rPr lang="vi-VN" altLang="en-US" baseline="0"/>
                  <a:t> = 507.93 &gt; 10.827</a:t>
                </a:r>
              </a:p>
              <a:p>
                <a:r>
                  <a:rPr lang="vi-VN" altLang="en-US" baseline="0"/>
                  <a:t>(r-1)x(c-1) = (2-1)x(2-1) độ tự do và với độ chính xác 0.001</a:t>
                </a:r>
              </a:p>
              <a:p>
                <a:r>
                  <a:rPr lang="vi-VN" altLang="en-US" baseline="0"/>
                  <a:t>  =&gt; Phủ định giả thiết Giới tính và sử thích đọc Fiction là độc lập với nhau.</a:t>
                </a:r>
                <a:endParaRPr lang="en-US" altLang="en-US"/>
              </a:p>
            </p:txBody>
          </p:sp>
        </mc:Fallback>
      </mc:AlternateContent>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8105112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B3A542-AC68-4D6D-B867-8560D4E43755}" type="slidenum">
              <a:rPr lang="en-US" altLang="en-US"/>
              <a:pPr/>
              <a:t>35</a:t>
            </a:fld>
            <a:endParaRPr lang="en-US" altLang="en-US"/>
          </a:p>
        </p:txBody>
      </p:sp>
      <p:sp>
        <p:nvSpPr>
          <p:cNvPr id="727042" name="Rectangle 2"/>
          <p:cNvSpPr>
            <a:spLocks noGrp="1" noRot="1" noChangeAspect="1" noChangeArrowheads="1" noTextEdit="1"/>
          </p:cNvSpPr>
          <p:nvPr>
            <p:ph type="sldImg"/>
          </p:nvPr>
        </p:nvSpPr>
        <p:spPr>
          <a:xfrm>
            <a:off x="-1522413" y="958850"/>
            <a:ext cx="8535988" cy="4802188"/>
          </a:xfrm>
          <a:ln/>
        </p:spPr>
      </p:sp>
      <mc:AlternateContent xmlns:mc="http://schemas.openxmlformats.org/markup-compatibility/2006" xmlns:a14="http://schemas.microsoft.com/office/drawing/2010/main">
        <mc:Choice Requires="a14">
          <p:sp>
            <p:nvSpPr>
              <p:cNvPr id="727043" name="Rectangle 3"/>
              <p:cNvSpPr>
                <a:spLocks noGrp="1" noChangeArrowheads="1"/>
              </p:cNvSpPr>
              <p:nvPr>
                <p:ph type="body" idx="1"/>
              </p:nvPr>
            </p:nvSpPr>
            <p:spPr/>
            <p:txBody>
              <a:bodyPr/>
              <a:lstStyle/>
              <a:p>
                <a:r>
                  <a:rPr lang="vi-VN"/>
                  <a:t>e11 =  </a:t>
                </a:r>
                <a14:m>
                  <m:oMath xmlns:m="http://schemas.openxmlformats.org/officeDocument/2006/math">
                    <m:f>
                      <m:fPr>
                        <m:ctrlPr>
                          <a:rPr lang="vi-VN" i="1" smtClean="0">
                            <a:latin typeface="Cambria Math" panose="02040503050406030204" pitchFamily="18" charset="0"/>
                          </a:rPr>
                        </m:ctrlPr>
                      </m:fPr>
                      <m:num>
                        <m:r>
                          <a:rPr lang="vi-VN" i="1" smtClean="0">
                            <a:latin typeface="Cambria Math" panose="02040503050406030204" pitchFamily="18" charset="0"/>
                          </a:rPr>
                          <m:t>300</m:t>
                        </m:r>
                        <m:r>
                          <m:rPr>
                            <m:sty m:val="p"/>
                          </m:rPr>
                          <a:rPr lang="vi-VN" i="1" smtClean="0">
                            <a:latin typeface="Cambria Math" panose="02040503050406030204" pitchFamily="18" charset="0"/>
                          </a:rPr>
                          <m:t>x</m:t>
                        </m:r>
                        <m:r>
                          <a:rPr lang="vi-VN" i="1" smtClean="0">
                            <a:latin typeface="Cambria Math" panose="02040503050406030204" pitchFamily="18" charset="0"/>
                          </a:rPr>
                          <m:t>450</m:t>
                        </m:r>
                      </m:num>
                      <m:den>
                        <m:r>
                          <a:rPr lang="vi-VN" i="1" smtClean="0">
                            <a:latin typeface="Cambria Math" panose="02040503050406030204" pitchFamily="18" charset="0"/>
                          </a:rPr>
                          <m:t>1500</m:t>
                        </m:r>
                      </m:den>
                    </m:f>
                  </m:oMath>
                </a14:m>
                <a:r>
                  <a:rPr lang="vi-VN"/>
                  <a:t>= 90  e12 = 360</a:t>
                </a:r>
              </a:p>
              <a:p>
                <a:r>
                  <a:rPr lang="vi-VN"/>
                  <a:t>e21 = 210  e22  = 840 </a:t>
                </a:r>
              </a:p>
              <a:p>
                <a:r>
                  <a:rPr lang="vi-VN"/>
                  <a:t>b1 = 300, b2 = 1200, a1 = 450, a2 = 1050</a:t>
                </a:r>
              </a:p>
              <a:p>
                <a:r>
                  <a:rPr lang="el-GR" altLang="en-US"/>
                  <a:t>Χ</a:t>
                </a:r>
                <a:r>
                  <a:rPr lang="vi-VN" altLang="en-US"/>
                  <a:t> = 507.93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(250 − 90 )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90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(50 − 210)</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210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(200 − 360 )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360</m:t>
                        </m:r>
                      </m:den>
                    </m:f>
                  </m:oMath>
                </a14:m>
                <a:r>
                  <a:rPr lang="vi-VN" altLang="en-US"/>
                  <a:t> + </a:t>
                </a:r>
                <a14:m>
                  <m:oMath xmlns:m="http://schemas.openxmlformats.org/officeDocument/2006/math">
                    <m:f>
                      <m:fPr>
                        <m:ctrlPr>
                          <a:rPr lang="vi-VN" altLang="en-US" i="1" smtClean="0">
                            <a:latin typeface="Cambria Math" panose="02040503050406030204" pitchFamily="18" charset="0"/>
                          </a:rPr>
                        </m:ctrlPr>
                      </m:fPr>
                      <m:num>
                        <m:sSup>
                          <m:sSupPr>
                            <m:ctrlPr>
                              <a:rPr lang="vi-VN" altLang="en-US" i="1" smtClean="0">
                                <a:latin typeface="Cambria Math" panose="02040503050406030204" pitchFamily="18" charset="0"/>
                              </a:rPr>
                            </m:ctrlPr>
                          </m:sSupPr>
                          <m:e>
                            <m:r>
                              <a:rPr lang="vi-VN" altLang="en-US" b="0" i="1" smtClean="0">
                                <a:latin typeface="Cambria Math" panose="02040503050406030204" pitchFamily="18" charset="0"/>
                              </a:rPr>
                              <m:t>(1000 − 840 )</m:t>
                            </m:r>
                          </m:e>
                          <m:sup>
                            <m:r>
                              <a:rPr lang="vi-VN" altLang="en-US" i="1" smtClean="0">
                                <a:latin typeface="Cambria Math" panose="02040503050406030204" pitchFamily="18" charset="0"/>
                              </a:rPr>
                              <m:t>2</m:t>
                            </m:r>
                          </m:sup>
                        </m:sSup>
                      </m:num>
                      <m:den>
                        <m:r>
                          <a:rPr lang="vi-VN" altLang="en-US" i="1" smtClean="0">
                            <a:latin typeface="Cambria Math" panose="02040503050406030204" pitchFamily="18" charset="0"/>
                          </a:rPr>
                          <m:t>840</m:t>
                        </m:r>
                      </m:den>
                    </m:f>
                  </m:oMath>
                </a14:m>
                <a:r>
                  <a:rPr lang="vi-VN" altLang="en-US"/>
                  <a:t> </a:t>
                </a:r>
                <a:r>
                  <a:rPr lang="vi-VN" altLang="en-US" baseline="0"/>
                  <a:t> = 507.93 &gt; 10.827</a:t>
                </a:r>
              </a:p>
              <a:p>
                <a:r>
                  <a:rPr lang="vi-VN" altLang="en-US" baseline="0"/>
                  <a:t>(r-1)x(c-1) = (2-1)x(2-1) độ tự do và với độ chính xác 0.001</a:t>
                </a:r>
              </a:p>
              <a:p>
                <a:r>
                  <a:rPr lang="vi-VN" altLang="en-US" baseline="0"/>
                  <a:t>  =&gt; Phủ định giả thiết Giới tính và sử thích đọc Fiction là độc lập với nhau.</a:t>
                </a:r>
                <a:endParaRPr lang="en-US" altLang="en-US"/>
              </a:p>
            </p:txBody>
          </p:sp>
        </mc:Choice>
        <mc:Fallback xmlns="">
          <p:sp>
            <p:nvSpPr>
              <p:cNvPr id="727043" name="Rectangle 3"/>
              <p:cNvSpPr>
                <a:spLocks noGrp="1" noChangeArrowheads="1"/>
              </p:cNvSpPr>
              <p:nvPr>
                <p:ph type="body" idx="1"/>
              </p:nvPr>
            </p:nvSpPr>
            <p:spPr/>
            <p:txBody>
              <a:bodyPr/>
              <a:lstStyle/>
              <a:p>
                <a:r>
                  <a:rPr lang="vi-VN"/>
                  <a:t>e11 =  </a:t>
                </a:r>
                <a:r>
                  <a:rPr lang="vi-VN" i="0">
                    <a:latin typeface="Cambria Math" panose="02040503050406030204" pitchFamily="18" charset="0"/>
                  </a:rPr>
                  <a:t>300x450/1500</a:t>
                </a:r>
                <a:r>
                  <a:rPr lang="vi-VN"/>
                  <a:t>= 90  e12 = 360</a:t>
                </a:r>
              </a:p>
              <a:p>
                <a:r>
                  <a:rPr lang="vi-VN"/>
                  <a:t>e21 = 210  e22  = 840 </a:t>
                </a:r>
              </a:p>
              <a:p>
                <a:r>
                  <a:rPr lang="vi-VN"/>
                  <a:t>b1 = 300, b2 = 1200, a1 = 450, a2 = 1050</a:t>
                </a:r>
              </a:p>
              <a:p>
                <a:r>
                  <a:rPr lang="el-GR" altLang="en-US"/>
                  <a:t>Χ</a:t>
                </a:r>
                <a:r>
                  <a:rPr lang="vi-VN" altLang="en-US"/>
                  <a:t> = 507.93 = </a:t>
                </a:r>
                <a:r>
                  <a:rPr lang="vi-VN" altLang="en-US" i="0">
                    <a:latin typeface="Cambria Math" panose="02040503050406030204" pitchFamily="18" charset="0"/>
                  </a:rPr>
                  <a:t>〖</a:t>
                </a:r>
                <a:r>
                  <a:rPr lang="vi-VN" altLang="en-US" b="0" i="0">
                    <a:latin typeface="Cambria Math" panose="02040503050406030204" pitchFamily="18" charset="0"/>
                  </a:rPr>
                  <a:t>(250 − 90 )〗^</a:t>
                </a:r>
                <a:r>
                  <a:rPr lang="vi-VN" altLang="en-US" i="0">
                    <a:latin typeface="Cambria Math" panose="02040503050406030204" pitchFamily="18" charset="0"/>
                  </a:rPr>
                  <a:t>2/90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(50 − 210)〗^</a:t>
                </a:r>
                <a:r>
                  <a:rPr lang="vi-VN" altLang="en-US" i="0">
                    <a:latin typeface="Cambria Math" panose="02040503050406030204" pitchFamily="18" charset="0"/>
                  </a:rPr>
                  <a:t>2/210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(200 − 360 )〗^</a:t>
                </a:r>
                <a:r>
                  <a:rPr lang="vi-VN" altLang="en-US" i="0">
                    <a:latin typeface="Cambria Math" panose="02040503050406030204" pitchFamily="18" charset="0"/>
                  </a:rPr>
                  <a:t>2/360</a:t>
                </a:r>
                <a:r>
                  <a:rPr lang="vi-VN" altLang="en-US"/>
                  <a:t> + </a:t>
                </a:r>
                <a:r>
                  <a:rPr lang="vi-VN" altLang="en-US" i="0">
                    <a:latin typeface="Cambria Math" panose="02040503050406030204" pitchFamily="18" charset="0"/>
                  </a:rPr>
                  <a:t>〖</a:t>
                </a:r>
                <a:r>
                  <a:rPr lang="vi-VN" altLang="en-US" b="0" i="0">
                    <a:latin typeface="Cambria Math" panose="02040503050406030204" pitchFamily="18" charset="0"/>
                  </a:rPr>
                  <a:t>(1000 − 840 )〗^</a:t>
                </a:r>
                <a:r>
                  <a:rPr lang="vi-VN" altLang="en-US" i="0">
                    <a:latin typeface="Cambria Math" panose="02040503050406030204" pitchFamily="18" charset="0"/>
                  </a:rPr>
                  <a:t>2/840</a:t>
                </a:r>
                <a:r>
                  <a:rPr lang="vi-VN" altLang="en-US"/>
                  <a:t> </a:t>
                </a:r>
                <a:r>
                  <a:rPr lang="vi-VN" altLang="en-US" baseline="0"/>
                  <a:t> = 507.93 &gt; 10.827</a:t>
                </a:r>
              </a:p>
              <a:p>
                <a:r>
                  <a:rPr lang="vi-VN" altLang="en-US" baseline="0"/>
                  <a:t>(r-1)x(c-1) = (2-1)x(2-1) độ tự do và với độ chính xác 0.001</a:t>
                </a:r>
              </a:p>
              <a:p>
                <a:r>
                  <a:rPr lang="vi-VN" altLang="en-US" baseline="0"/>
                  <a:t>  =&gt; Phủ định giả thiết Giới tính và sử thích đọc Fiction là độc lập với nhau.</a:t>
                </a:r>
                <a:endParaRPr lang="en-US" altLang="en-US"/>
              </a:p>
            </p:txBody>
          </p:sp>
        </mc:Fallback>
      </mc:AlternateContent>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688696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E6D4934-B2AD-49A8-86B2-3C0FE376D362}" type="slidenum">
              <a:rPr lang="en-US" altLang="en-US"/>
              <a:pPr/>
              <a:t>41</a:t>
            </a:fld>
            <a:endParaRPr lang="en-US" altLang="en-US"/>
          </a:p>
        </p:txBody>
      </p:sp>
      <p:sp>
        <p:nvSpPr>
          <p:cNvPr id="736258" name="Rectangle 2"/>
          <p:cNvSpPr>
            <a:spLocks noGrp="1" noRot="1" noChangeAspect="1" noChangeArrowheads="1" noTextEdit="1"/>
          </p:cNvSpPr>
          <p:nvPr>
            <p:ph type="sldImg"/>
          </p:nvPr>
        </p:nvSpPr>
        <p:spPr>
          <a:xfrm>
            <a:off x="-1522413" y="958850"/>
            <a:ext cx="8535988" cy="4802188"/>
          </a:xfrm>
          <a:ln/>
        </p:spPr>
      </p:sp>
      <p:sp>
        <p:nvSpPr>
          <p:cNvPr id="736259"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2734643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D20DA6-8544-4630-A515-A35722D3A98D}" type="slidenum">
              <a:rPr lang="en-US" altLang="en-US"/>
              <a:pPr/>
              <a:t>42</a:t>
            </a:fld>
            <a:endParaRPr lang="en-US" altLang="en-US"/>
          </a:p>
        </p:txBody>
      </p:sp>
      <p:sp>
        <p:nvSpPr>
          <p:cNvPr id="737282" name="Rectangle 2"/>
          <p:cNvSpPr>
            <a:spLocks noGrp="1" noRot="1" noChangeAspect="1" noChangeArrowheads="1" noTextEdit="1"/>
          </p:cNvSpPr>
          <p:nvPr>
            <p:ph type="sldImg"/>
          </p:nvPr>
        </p:nvSpPr>
        <p:spPr>
          <a:xfrm>
            <a:off x="-1522413" y="958850"/>
            <a:ext cx="8535988" cy="4802188"/>
          </a:xfrm>
          <a:ln/>
        </p:spPr>
      </p:sp>
      <p:sp>
        <p:nvSpPr>
          <p:cNvPr id="737283"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233206675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1A25EA9-283B-4929-BC4A-B2CA85A8B4DD}" type="slidenum">
              <a:rPr lang="en-US" altLang="en-US"/>
              <a:pPr/>
              <a:t>43</a:t>
            </a:fld>
            <a:endParaRPr lang="en-US" altLang="en-US"/>
          </a:p>
        </p:txBody>
      </p:sp>
      <p:sp>
        <p:nvSpPr>
          <p:cNvPr id="739330" name="Rectangle 2"/>
          <p:cNvSpPr>
            <a:spLocks noGrp="1" noRot="1" noChangeAspect="1" noChangeArrowheads="1" noTextEdit="1"/>
          </p:cNvSpPr>
          <p:nvPr>
            <p:ph type="sldImg"/>
          </p:nvPr>
        </p:nvSpPr>
        <p:spPr>
          <a:xfrm>
            <a:off x="-1522413" y="958850"/>
            <a:ext cx="8535988" cy="4802188"/>
          </a:xfrm>
          <a:ln/>
        </p:spPr>
      </p:sp>
      <p:sp>
        <p:nvSpPr>
          <p:cNvPr id="739331"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35006330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67B98D-F630-49C8-B5B9-0216C659CA4D}" type="slidenum">
              <a:rPr lang="en-US" altLang="en-US"/>
              <a:pPr/>
              <a:t>46</a:t>
            </a:fld>
            <a:endParaRPr lang="en-US" altLang="en-US"/>
          </a:p>
        </p:txBody>
      </p:sp>
      <p:sp>
        <p:nvSpPr>
          <p:cNvPr id="743426" name="Rectangle 2"/>
          <p:cNvSpPr>
            <a:spLocks noGrp="1" noRot="1" noChangeAspect="1" noChangeArrowheads="1" noTextEdit="1"/>
          </p:cNvSpPr>
          <p:nvPr>
            <p:ph type="sldImg"/>
          </p:nvPr>
        </p:nvSpPr>
        <p:spPr>
          <a:xfrm>
            <a:off x="-1522413" y="958850"/>
            <a:ext cx="8535988" cy="4802188"/>
          </a:xfrm>
          <a:ln/>
        </p:spPr>
      </p:sp>
      <p:sp>
        <p:nvSpPr>
          <p:cNvPr id="74342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196652451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B0710DB-926A-4B97-91E5-013F6B8F24D0}" type="slidenum">
              <a:rPr lang="en-US" altLang="en-US"/>
              <a:pPr/>
              <a:t>62</a:t>
            </a:fld>
            <a:endParaRPr lang="en-US" altLang="en-US"/>
          </a:p>
        </p:txBody>
      </p:sp>
      <p:sp>
        <p:nvSpPr>
          <p:cNvPr id="226306" name="Rectangle 2"/>
          <p:cNvSpPr>
            <a:spLocks noGrp="1" noRot="1" noChangeAspect="1" noChangeArrowheads="1" noTextEdit="1"/>
          </p:cNvSpPr>
          <p:nvPr>
            <p:ph type="sldImg"/>
          </p:nvPr>
        </p:nvSpPr>
        <p:spPr>
          <a:xfrm>
            <a:off x="-1522413" y="958850"/>
            <a:ext cx="8535988" cy="4802188"/>
          </a:xfrm>
          <a:ln/>
        </p:spPr>
      </p:sp>
      <p:sp>
        <p:nvSpPr>
          <p:cNvPr id="226307" name="Rectangle 3"/>
          <p:cNvSpPr>
            <a:spLocks noGrp="1" noChangeArrowheads="1"/>
          </p:cNvSpPr>
          <p:nvPr>
            <p:ph type="body" idx="1"/>
          </p:nvPr>
        </p:nvSpPr>
        <p:spPr/>
        <p:txBody>
          <a:bodyPr/>
          <a:lstStyle/>
          <a:p>
            <a:endParaRPr lang="en-US" altLang="en-US"/>
          </a:p>
        </p:txBody>
      </p:sp>
      <p:sp>
        <p:nvSpPr>
          <p:cNvPr id="2" name="Date Placeholder 1"/>
          <p:cNvSpPr>
            <a:spLocks noGrp="1"/>
          </p:cNvSpPr>
          <p:nvPr>
            <p:ph type="dt" idx="10"/>
          </p:nvPr>
        </p:nvSpPr>
        <p:spPr/>
        <p:txBody>
          <a:bodyPr/>
          <a:lstStyle/>
          <a:p>
            <a:endParaRPr lang="en-US" altLang="en-US"/>
          </a:p>
        </p:txBody>
      </p:sp>
      <p:sp>
        <p:nvSpPr>
          <p:cNvPr id="3" name="Footer Placeholder 2"/>
          <p:cNvSpPr>
            <a:spLocks noGrp="1"/>
          </p:cNvSpPr>
          <p:nvPr>
            <p:ph type="ftr" sz="quarter" idx="11"/>
          </p:nvPr>
        </p:nvSpPr>
        <p:spPr/>
        <p:txBody>
          <a:bodyPr/>
          <a:lstStyle/>
          <a:p>
            <a:endParaRPr lang="en-US" altLang="en-US"/>
          </a:p>
        </p:txBody>
      </p:sp>
      <p:sp>
        <p:nvSpPr>
          <p:cNvPr id="4" name="Header Placeholder 3"/>
          <p:cNvSpPr>
            <a:spLocks noGrp="1"/>
          </p:cNvSpPr>
          <p:nvPr>
            <p:ph type="hdr" sz="quarter" idx="12"/>
          </p:nvPr>
        </p:nvSpPr>
        <p:spPr/>
        <p:txBody>
          <a:bodyPr/>
          <a:lstStyle/>
          <a:p>
            <a:endParaRPr lang="en-US" altLang="en-US"/>
          </a:p>
        </p:txBody>
      </p:sp>
    </p:spTree>
    <p:extLst>
      <p:ext uri="{BB962C8B-B14F-4D97-AF65-F5344CB8AC3E}">
        <p14:creationId xmlns:p14="http://schemas.microsoft.com/office/powerpoint/2010/main" val="40704576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6"/>
        <p:cNvGrpSpPr/>
        <p:nvPr/>
      </p:nvGrpSpPr>
      <p:grpSpPr>
        <a:xfrm>
          <a:off x="0" y="0"/>
          <a:ext cx="0" cy="0"/>
          <a:chOff x="0" y="0"/>
          <a:chExt cx="0" cy="0"/>
        </a:xfrm>
      </p:grpSpPr>
      <p:sp>
        <p:nvSpPr>
          <p:cNvPr id="3" name="Google Shape;7;p15">
            <a:extLst>
              <a:ext uri="{FF2B5EF4-FFF2-40B4-BE49-F238E27FC236}">
                <a16:creationId xmlns:a16="http://schemas.microsoft.com/office/drawing/2014/main" id="{1C1C9FC5-3A89-E7F2-CA83-DB3C4B806A20}"/>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pPr lvl="0"/>
            <a:r>
              <a:rPr lang="en-US" smtClean="0"/>
              <a:t>Edit Master text styles</a:t>
            </a:r>
          </a:p>
        </p:txBody>
      </p:sp>
    </p:spTree>
    <p:extLst>
      <p:ext uri="{BB962C8B-B14F-4D97-AF65-F5344CB8AC3E}">
        <p14:creationId xmlns:p14="http://schemas.microsoft.com/office/powerpoint/2010/main" val="2760721064"/>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1"/>
        <p:cNvGrpSpPr/>
        <p:nvPr/>
      </p:nvGrpSpPr>
      <p:grpSpPr>
        <a:xfrm>
          <a:off x="0" y="0"/>
          <a:ext cx="0" cy="0"/>
          <a:chOff x="0" y="0"/>
          <a:chExt cx="0" cy="0"/>
        </a:xfrm>
      </p:grpSpPr>
      <p:sp>
        <p:nvSpPr>
          <p:cNvPr id="3" name="Google Shape;7;p15">
            <a:extLst>
              <a:ext uri="{FF2B5EF4-FFF2-40B4-BE49-F238E27FC236}">
                <a16:creationId xmlns:a16="http://schemas.microsoft.com/office/drawing/2014/main" id="{3A6A0657-C8E6-4E42-745A-DD61416B27DF}"/>
              </a:ext>
            </a:extLst>
          </p:cNvPr>
          <p:cNvSpPr txBox="1">
            <a:spLocks noGrp="1"/>
          </p:cNvSpPr>
          <p:nvPr>
            <p:ph idx="1"/>
          </p:nvPr>
        </p:nvSpPr>
        <p:spPr>
          <a:xfrm>
            <a:off x="681997" y="1348371"/>
            <a:ext cx="11090638" cy="191271"/>
          </a:xfrm>
          <a:prstGeom prst="rect">
            <a:avLst/>
          </a:prstGeom>
          <a:noFill/>
          <a:ln>
            <a:noFill/>
          </a:ln>
        </p:spPr>
        <p:txBody>
          <a:bodyPr spcFirstLastPara="1" wrap="square" lIns="0" tIns="0" rIns="0" bIns="0" anchor="t" anchorCtr="0">
            <a:spAutoFit/>
          </a:bodyPr>
          <a:lstStyle>
            <a:lvl1pPr marL="277246" marR="0" lvl="0" indent="-138623" algn="l" rtl="0">
              <a:lnSpc>
                <a:spcPct val="100000"/>
              </a:lnSpc>
              <a:spcBef>
                <a:spcPts val="0"/>
              </a:spcBef>
              <a:spcAft>
                <a:spcPts val="0"/>
              </a:spcAft>
              <a:buClr>
                <a:srgbClr val="000000"/>
              </a:buClr>
              <a:buSzPts val="1400"/>
              <a:buFont typeface="Arial"/>
              <a:buNone/>
              <a:defRPr sz="1243" b="1" i="0" u="none" strike="noStrike" cap="none">
                <a:solidFill>
                  <a:srgbClr val="292A75"/>
                </a:solidFill>
                <a:latin typeface="Tahoma"/>
                <a:ea typeface="Tahoma"/>
                <a:cs typeface="Tahoma"/>
                <a:sym typeface="Tahoma"/>
              </a:defRPr>
            </a:lvl1pPr>
            <a:lvl2pPr marL="554492" marR="0" lvl="1"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2pPr>
            <a:lvl3pPr marL="831738" marR="0" lvl="2"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3pPr>
            <a:lvl4pPr marL="1108984" marR="0" lvl="3"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4pPr>
            <a:lvl5pPr marL="1386230" marR="0" lvl="4"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5pPr>
            <a:lvl6pPr marL="1663476" marR="0" lvl="5"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6pPr>
            <a:lvl7pPr marL="1940723" marR="0" lvl="6"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7pPr>
            <a:lvl8pPr marL="2217969" marR="0" lvl="7"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8pPr>
            <a:lvl9pPr marL="2495215" marR="0" lvl="8" indent="-138623" algn="l" rtl="0">
              <a:lnSpc>
                <a:spcPct val="100000"/>
              </a:lnSpc>
              <a:spcBef>
                <a:spcPts val="0"/>
              </a:spcBef>
              <a:spcAft>
                <a:spcPts val="0"/>
              </a:spcAft>
              <a:buClr>
                <a:srgbClr val="000000"/>
              </a:buClr>
              <a:buSzPts val="1400"/>
              <a:buFont typeface="Arial"/>
              <a:buNone/>
              <a:defRPr sz="1092" b="0" i="0" u="none" strike="noStrike" cap="none">
                <a:solidFill>
                  <a:srgbClr val="000000"/>
                </a:solidFill>
                <a:latin typeface="Calibri"/>
                <a:ea typeface="Calibri"/>
                <a:cs typeface="Calibri"/>
                <a:sym typeface="Calibri"/>
              </a:defRPr>
            </a:lvl9pPr>
          </a:lstStyle>
          <a:p>
            <a:pPr lvl="0"/>
            <a:r>
              <a:rPr lang="en-US" smtClean="0"/>
              <a:t>Edit Master text styles</a:t>
            </a:r>
          </a:p>
        </p:txBody>
      </p:sp>
    </p:spTree>
    <p:extLst>
      <p:ext uri="{BB962C8B-B14F-4D97-AF65-F5344CB8AC3E}">
        <p14:creationId xmlns:p14="http://schemas.microsoft.com/office/powerpoint/2010/main" val="2050557161"/>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userDrawn="1">
  <p:cSld name="Title Slide">
    <p:spTree>
      <p:nvGrpSpPr>
        <p:cNvPr id="1" name=""/>
        <p:cNvGrpSpPr/>
        <p:nvPr/>
      </p:nvGrpSpPr>
      <p:grpSpPr>
        <a:xfrm>
          <a:off x="0" y="0"/>
          <a:ext cx="0" cy="0"/>
          <a:chOff x="0" y="0"/>
          <a:chExt cx="0" cy="0"/>
        </a:xfrm>
      </p:grpSpPr>
      <p:sp>
        <p:nvSpPr>
          <p:cNvPr id="3075" name="Rectangle 3"/>
          <p:cNvSpPr>
            <a:spLocks noGrp="1" noChangeArrowheads="1"/>
          </p:cNvSpPr>
          <p:nvPr>
            <p:ph type="subTitle" idx="1"/>
          </p:nvPr>
        </p:nvSpPr>
        <p:spPr bwMode="gray">
          <a:xfrm>
            <a:off x="1532467" y="4428728"/>
            <a:ext cx="9652099" cy="728464"/>
          </a:xfrm>
        </p:spPr>
        <p:txBody>
          <a:bodyPr/>
          <a:lstStyle>
            <a:lvl1pPr marL="0" indent="0" algn="ctr">
              <a:buFont typeface="Wingdings" pitchFamily="2" charset="2"/>
              <a:buNone/>
              <a:defRPr sz="2200" b="1">
                <a:solidFill>
                  <a:schemeClr val="tx1"/>
                </a:solidFill>
              </a:defRPr>
            </a:lvl1pPr>
          </a:lstStyle>
          <a:p>
            <a:pPr lvl="0"/>
            <a:r>
              <a:rPr lang="en-US" noProof="0"/>
              <a:t>Click to edit Master subtitle style</a:t>
            </a:r>
          </a:p>
        </p:txBody>
      </p:sp>
      <p:sp>
        <p:nvSpPr>
          <p:cNvPr id="5" name="Rectangle 4">
            <a:extLst>
              <a:ext uri="{FF2B5EF4-FFF2-40B4-BE49-F238E27FC236}">
                <a16:creationId xmlns:a16="http://schemas.microsoft.com/office/drawing/2014/main" id="{CE838039-5C31-00D7-5423-A0F502A41C87}"/>
              </a:ext>
            </a:extLst>
          </p:cNvPr>
          <p:cNvSpPr/>
          <p:nvPr userDrawn="1"/>
        </p:nvSpPr>
        <p:spPr>
          <a:xfrm>
            <a:off x="0" y="2239502"/>
            <a:ext cx="12192000" cy="3251773"/>
          </a:xfrm>
          <a:prstGeom prst="rect">
            <a:avLst/>
          </a:prstGeom>
          <a:solidFill>
            <a:srgbClr val="282A7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92"/>
          </a:p>
        </p:txBody>
      </p:sp>
      <p:sp>
        <p:nvSpPr>
          <p:cNvPr id="6" name="Title 1"/>
          <p:cNvSpPr txBox="1">
            <a:spLocks/>
          </p:cNvSpPr>
          <p:nvPr userDrawn="1"/>
        </p:nvSpPr>
        <p:spPr>
          <a:xfrm>
            <a:off x="838200" y="2712383"/>
            <a:ext cx="10515600" cy="2387600"/>
          </a:xfrm>
          <a:prstGeom prst="rect">
            <a:avLst/>
          </a:prstGeom>
        </p:spPr>
        <p:txBody>
          <a:bodyPr anchor="ctr">
            <a:norm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000"/>
              </a:buClr>
              <a:buFont typeface="Arial"/>
              <a:defRPr lang="en-US" sz="4487" b="0" i="0" u="none" strike="noStrike" cap="none" dirty="0">
                <a:solidFill>
                  <a:srgbClr val="FAA61A"/>
                </a:solidFill>
                <a:latin typeface="Montserrat ExtraBold"/>
                <a:ea typeface="Montserrat ExtraBold"/>
                <a:cs typeface="Montserrat ExtraBold"/>
                <a:sym typeface="Arial"/>
              </a:defRPr>
            </a:lvl1pPr>
            <a:lvl2pPr marR="0" lvl="1"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marL="7701" algn="l" fontAlgn="auto">
              <a:lnSpc>
                <a:spcPct val="116824"/>
              </a:lnSpc>
              <a:buSzPts val="1400"/>
            </a:pPr>
            <a:endParaRPr lang="en-US" kern="0"/>
          </a:p>
        </p:txBody>
      </p:sp>
      <p:pic>
        <p:nvPicPr>
          <p:cNvPr id="7" name="Google Shape;47;p1" title="Slide template-15.png">
            <a:extLst>
              <a:ext uri="{FF2B5EF4-FFF2-40B4-BE49-F238E27FC236}">
                <a16:creationId xmlns:a16="http://schemas.microsoft.com/office/drawing/2014/main" id="{F9954473-7431-2D29-408F-7F94010AFFA7}"/>
              </a:ext>
            </a:extLst>
          </p:cNvPr>
          <p:cNvPicPr preferRelativeResize="0"/>
          <p:nvPr userDrawn="1"/>
        </p:nvPicPr>
        <p:blipFill rotWithShape="1">
          <a:blip r:embed="rId2">
            <a:alphaModFix/>
          </a:blip>
          <a:srcRect/>
          <a:stretch/>
        </p:blipFill>
        <p:spPr>
          <a:xfrm>
            <a:off x="754296" y="636345"/>
            <a:ext cx="2995869" cy="1148660"/>
          </a:xfrm>
          <a:prstGeom prst="rect">
            <a:avLst/>
          </a:prstGeom>
          <a:noFill/>
          <a:ln>
            <a:noFill/>
          </a:ln>
        </p:spPr>
      </p:pic>
      <p:sp>
        <p:nvSpPr>
          <p:cNvPr id="8" name="Google Shape;312;p14">
            <a:extLst>
              <a:ext uri="{FF2B5EF4-FFF2-40B4-BE49-F238E27FC236}">
                <a16:creationId xmlns:a16="http://schemas.microsoft.com/office/drawing/2014/main" id="{64D8F3C8-44CF-C6E5-E1A5-654696C3B99A}"/>
              </a:ext>
            </a:extLst>
          </p:cNvPr>
          <p:cNvSpPr txBox="1"/>
          <p:nvPr userDrawn="1"/>
        </p:nvSpPr>
        <p:spPr>
          <a:xfrm>
            <a:off x="6096000" y="5786598"/>
            <a:ext cx="3242703" cy="652713"/>
          </a:xfrm>
          <a:prstGeom prst="rect">
            <a:avLst/>
          </a:prstGeom>
          <a:noFill/>
          <a:ln>
            <a:noFill/>
          </a:ln>
        </p:spPr>
        <p:txBody>
          <a:bodyPr spcFirstLastPara="1" wrap="square" lIns="0" tIns="40038" rIns="0" bIns="0" anchor="t" anchorCtr="0">
            <a:spAutoFit/>
          </a:bodyPr>
          <a:lstStyle/>
          <a:p>
            <a:pPr marL="7701" marR="0" lvl="0" indent="0" algn="l" rtl="0">
              <a:lnSpc>
                <a:spcPct val="100000"/>
              </a:lnSpc>
              <a:spcBef>
                <a:spcPts val="0"/>
              </a:spcBef>
              <a:spcAft>
                <a:spcPts val="0"/>
              </a:spcAft>
              <a:buClr>
                <a:srgbClr val="000000"/>
              </a:buClr>
              <a:buSzPts val="2050"/>
              <a:buFont typeface="Arial"/>
              <a:buNone/>
            </a:pPr>
            <a:r>
              <a:rPr lang="en-US" sz="1243" b="1" i="0" u="none" strike="noStrike" cap="none" smtClean="0">
                <a:solidFill>
                  <a:srgbClr val="F8A41A"/>
                </a:solidFill>
                <a:latin typeface="Montserrat" panose="00000500000000000000" pitchFamily="2" charset="0"/>
                <a:ea typeface="Tahoma"/>
                <a:cs typeface="Tahoma"/>
                <a:sym typeface="Tahoma"/>
              </a:rPr>
              <a:t>THS.LÊ</a:t>
            </a:r>
            <a:r>
              <a:rPr lang="en-US" sz="1243" b="1" i="0" u="none" strike="noStrike" cap="none" baseline="0" smtClean="0">
                <a:solidFill>
                  <a:srgbClr val="F8A41A"/>
                </a:solidFill>
                <a:latin typeface="Montserrat" panose="00000500000000000000" pitchFamily="2" charset="0"/>
                <a:ea typeface="Tahoma"/>
                <a:cs typeface="Tahoma"/>
                <a:sym typeface="Tahoma"/>
              </a:rPr>
              <a:t> THỊ HỒNG NHUNG</a:t>
            </a:r>
            <a:endParaRPr lang="en-US" sz="1243" b="1" i="0" u="none" strike="noStrike" cap="none">
              <a:solidFill>
                <a:srgbClr val="F8A41A"/>
              </a:solidFill>
              <a:latin typeface="Montserrat" panose="00000500000000000000" pitchFamily="2" charset="0"/>
              <a:ea typeface="Tahoma"/>
              <a:cs typeface="Tahoma"/>
              <a:sym typeface="Tahoma"/>
            </a:endParaRPr>
          </a:p>
          <a:p>
            <a:pPr marL="7701" marR="0" lvl="0" indent="0" algn="l" rtl="0">
              <a:lnSpc>
                <a:spcPct val="100000"/>
              </a:lnSpc>
              <a:spcBef>
                <a:spcPts val="261"/>
              </a:spcBef>
              <a:spcAft>
                <a:spcPts val="0"/>
              </a:spcAft>
              <a:buClr>
                <a:srgbClr val="000000"/>
              </a:buClr>
              <a:buSzPts val="2050"/>
              <a:buFont typeface="Arial"/>
              <a:buNone/>
            </a:pPr>
            <a:r>
              <a:rPr lang="en-US" sz="1243" b="0" i="0" u="none" strike="noStrike" cap="none">
                <a:solidFill>
                  <a:srgbClr val="282A75"/>
                </a:solidFill>
                <a:latin typeface="Montserrat" panose="00000500000000000000" pitchFamily="2" charset="0"/>
                <a:ea typeface="Verdana"/>
                <a:cs typeface="Verdana"/>
                <a:sym typeface="Verdana"/>
              </a:rPr>
              <a:t>Khoa Công nghệ thông tin &amp; kinh tế số</a:t>
            </a:r>
            <a:endParaRPr lang="en-US" sz="1243" b="0" i="0" u="none" strike="noStrike" cap="none" dirty="0">
              <a:solidFill>
                <a:srgbClr val="282A75"/>
              </a:solidFill>
              <a:latin typeface="Montserrat" panose="00000500000000000000" pitchFamily="2" charset="0"/>
              <a:ea typeface="Verdana"/>
              <a:cs typeface="Verdana"/>
              <a:sym typeface="Verdana"/>
            </a:endParaRPr>
          </a:p>
        </p:txBody>
      </p:sp>
      <p:sp>
        <p:nvSpPr>
          <p:cNvPr id="9" name="Google Shape;313;p14">
            <a:extLst>
              <a:ext uri="{FF2B5EF4-FFF2-40B4-BE49-F238E27FC236}">
                <a16:creationId xmlns:a16="http://schemas.microsoft.com/office/drawing/2014/main" id="{DC503B5F-A29F-C43E-DE70-C1CB455685AD}"/>
              </a:ext>
            </a:extLst>
          </p:cNvPr>
          <p:cNvSpPr txBox="1"/>
          <p:nvPr userDrawn="1"/>
        </p:nvSpPr>
        <p:spPr>
          <a:xfrm>
            <a:off x="9443887" y="5786599"/>
            <a:ext cx="2748113" cy="691185"/>
          </a:xfrm>
          <a:prstGeom prst="rect">
            <a:avLst/>
          </a:prstGeom>
          <a:noFill/>
          <a:ln>
            <a:noFill/>
          </a:ln>
        </p:spPr>
        <p:txBody>
          <a:bodyPr spcFirstLastPara="1" wrap="square" lIns="0" tIns="40038" rIns="0" bIns="0" anchor="t" anchorCtr="0">
            <a:spAutoFit/>
          </a:bodyPr>
          <a:lstStyle/>
          <a:p>
            <a:pPr marL="7701" marR="0" lvl="0" indent="0" algn="l" rtl="0">
              <a:lnSpc>
                <a:spcPct val="100000"/>
              </a:lnSpc>
              <a:spcBef>
                <a:spcPts val="0"/>
              </a:spcBef>
              <a:spcAft>
                <a:spcPts val="0"/>
              </a:spcAft>
              <a:buClr>
                <a:srgbClr val="000000"/>
              </a:buClr>
              <a:buSzPts val="2050"/>
              <a:buFont typeface="Arial"/>
              <a:buNone/>
            </a:pPr>
            <a:r>
              <a:rPr lang="en-US" sz="1243" b="1" i="0" u="none" strike="noStrike" cap="none" dirty="0">
                <a:solidFill>
                  <a:srgbClr val="F8A41A"/>
                </a:solidFill>
                <a:latin typeface="Montserrat" panose="00000500000000000000" pitchFamily="2" charset="0"/>
                <a:ea typeface="Tahoma"/>
                <a:cs typeface="Tahoma"/>
                <a:sym typeface="Tahoma"/>
              </a:rPr>
              <a:t>T</a:t>
            </a:r>
            <a:r>
              <a:rPr lang="en-US" sz="1243" b="1" i="0" u="none" strike="noStrike" cap="none">
                <a:solidFill>
                  <a:srgbClr val="F8A41A"/>
                </a:solidFill>
                <a:latin typeface="Montserrat" panose="00000500000000000000" pitchFamily="2" charset="0"/>
                <a:ea typeface="Tahoma"/>
                <a:cs typeface="Tahoma"/>
                <a:sym typeface="Tahoma"/>
              </a:rPr>
              <a:t>: </a:t>
            </a:r>
            <a:r>
              <a:rPr lang="en-US" sz="1243" b="0" i="0" u="none" strike="noStrike" cap="none" smtClean="0">
                <a:solidFill>
                  <a:srgbClr val="282A75"/>
                </a:solidFill>
                <a:latin typeface="Montserrat" panose="00000500000000000000" pitchFamily="2" charset="0"/>
                <a:ea typeface="Verdana"/>
                <a:cs typeface="Verdana"/>
                <a:sym typeface="Verdana"/>
              </a:rPr>
              <a:t>0987867486</a:t>
            </a:r>
            <a:endParaRPr sz="1243" b="0" i="0" u="none" strike="noStrike" cap="none" dirty="0">
              <a:solidFill>
                <a:srgbClr val="282A75"/>
              </a:solidFill>
              <a:latin typeface="Montserrat" panose="00000500000000000000" pitchFamily="2" charset="0"/>
              <a:ea typeface="Verdana"/>
              <a:cs typeface="Verdana"/>
              <a:sym typeface="Verdana"/>
            </a:endParaRPr>
          </a:p>
          <a:p>
            <a:pPr marL="7701" marR="0" lvl="0" indent="0" algn="l" rtl="0">
              <a:lnSpc>
                <a:spcPct val="100000"/>
              </a:lnSpc>
              <a:spcBef>
                <a:spcPts val="261"/>
              </a:spcBef>
              <a:spcAft>
                <a:spcPts val="0"/>
              </a:spcAft>
              <a:buClr>
                <a:srgbClr val="000000"/>
              </a:buClr>
              <a:buSzPts val="2050"/>
              <a:buFont typeface="Arial"/>
              <a:buNone/>
            </a:pPr>
            <a:r>
              <a:rPr lang="en-US" sz="1243" b="1" i="0" u="none" strike="noStrike" cap="none" dirty="0">
                <a:solidFill>
                  <a:srgbClr val="FAA61A"/>
                </a:solidFill>
                <a:latin typeface="Montserrat" panose="00000500000000000000" pitchFamily="2" charset="0"/>
                <a:ea typeface="Tahoma"/>
                <a:cs typeface="Tahoma"/>
                <a:sym typeface="Tahoma"/>
              </a:rPr>
              <a:t>E</a:t>
            </a:r>
            <a:r>
              <a:rPr lang="en-US" sz="1243" b="1" i="0" u="none" strike="noStrike" cap="none">
                <a:solidFill>
                  <a:srgbClr val="FAA61A"/>
                </a:solidFill>
                <a:latin typeface="Montserrat" panose="00000500000000000000" pitchFamily="2" charset="0"/>
                <a:ea typeface="Tahoma"/>
                <a:cs typeface="Tahoma"/>
                <a:sym typeface="Tahoma"/>
              </a:rPr>
              <a:t>: </a:t>
            </a:r>
            <a:r>
              <a:rPr lang="en-US" sz="1243" b="0" i="0" u="sng" strike="noStrike" cap="none" smtClean="0">
                <a:solidFill>
                  <a:srgbClr val="282A75"/>
                </a:solidFill>
                <a:latin typeface="Montserrat" panose="00000500000000000000" pitchFamily="2" charset="0"/>
                <a:ea typeface="Verdana"/>
                <a:cs typeface="Tahoma"/>
                <a:sym typeface="Verdana"/>
              </a:rPr>
              <a:t>NHUNGLTH</a:t>
            </a:r>
            <a:r>
              <a:rPr lang="en-US" sz="1243" b="0" i="0" u="sng" strike="noStrike" cap="none" smtClean="0">
                <a:solidFill>
                  <a:srgbClr val="282A75"/>
                </a:solidFill>
                <a:latin typeface="Montserrat" panose="00000500000000000000" pitchFamily="2" charset="0"/>
                <a:ea typeface="Verdana"/>
                <a:cs typeface="Verdana"/>
                <a:sym typeface="Verdana"/>
              </a:rPr>
              <a:t>@hvnh.edu.vn</a:t>
            </a:r>
            <a:endParaRPr sz="1243" b="0" i="0" u="none" strike="noStrike" cap="none" dirty="0">
              <a:solidFill>
                <a:srgbClr val="282A75"/>
              </a:solidFill>
              <a:latin typeface="Montserrat" panose="00000500000000000000" pitchFamily="2" charset="0"/>
              <a:ea typeface="Verdana"/>
              <a:cs typeface="Verdana"/>
              <a:sym typeface="Verdana"/>
            </a:endParaRPr>
          </a:p>
          <a:p>
            <a:pPr marL="7701" marR="0" lvl="0" indent="0" algn="l" rtl="0">
              <a:lnSpc>
                <a:spcPct val="100000"/>
              </a:lnSpc>
              <a:spcBef>
                <a:spcPts val="258"/>
              </a:spcBef>
              <a:spcAft>
                <a:spcPts val="0"/>
              </a:spcAft>
              <a:buClr>
                <a:srgbClr val="000000"/>
              </a:buClr>
              <a:buSzPts val="2050"/>
              <a:buFont typeface="Arial"/>
              <a:buNone/>
            </a:pPr>
            <a:r>
              <a:rPr lang="en-US" sz="1243" b="1" i="0" u="none" strike="noStrike" cap="none">
                <a:solidFill>
                  <a:srgbClr val="F8A41A"/>
                </a:solidFill>
                <a:latin typeface="Montserrat" panose="00000500000000000000" pitchFamily="2" charset="0"/>
                <a:ea typeface="Tahoma"/>
                <a:cs typeface="Tahoma"/>
                <a:sym typeface="Tahoma"/>
              </a:rPr>
              <a:t>W: </a:t>
            </a:r>
            <a:r>
              <a:rPr lang="en-US" sz="1243" b="0" i="0" u="sng" strike="noStrike" cap="none">
                <a:solidFill>
                  <a:srgbClr val="282A75"/>
                </a:solidFill>
                <a:latin typeface="Montserrat" panose="00000500000000000000" pitchFamily="2" charset="0"/>
                <a:ea typeface="Verdana"/>
                <a:cs typeface="Verdana"/>
                <a:sym typeface="Verdana"/>
              </a:rPr>
              <a:t>itde.hvnh.edu.vn</a:t>
            </a:r>
            <a:endParaRPr sz="1243" b="0" i="0" u="none" strike="noStrike" cap="none" dirty="0">
              <a:solidFill>
                <a:srgbClr val="282A75"/>
              </a:solidFill>
              <a:latin typeface="Montserrat" panose="00000500000000000000" pitchFamily="2" charset="0"/>
              <a:ea typeface="Verdana"/>
              <a:cs typeface="Verdana"/>
              <a:sym typeface="Verdana"/>
            </a:endParaRPr>
          </a:p>
        </p:txBody>
      </p:sp>
      <p:sp>
        <p:nvSpPr>
          <p:cNvPr id="11" name="Title 10"/>
          <p:cNvSpPr>
            <a:spLocks noGrp="1"/>
          </p:cNvSpPr>
          <p:nvPr>
            <p:ph type="title" hasCustomPrompt="1"/>
          </p:nvPr>
        </p:nvSpPr>
        <p:spPr>
          <a:xfrm>
            <a:off x="609600" y="2920474"/>
            <a:ext cx="10515600" cy="1325563"/>
          </a:xfrm>
          <a:prstGeom prst="rect">
            <a:avLst/>
          </a:prstGeom>
        </p:spPr>
        <p:txBody>
          <a:bodyPr/>
          <a:lstStyle>
            <a:lvl1pPr>
              <a:defRPr sz="6000">
                <a:solidFill>
                  <a:schemeClr val="accent6">
                    <a:lumMod val="75000"/>
                  </a:schemeClr>
                </a:solidFill>
              </a:defRPr>
            </a:lvl1pPr>
          </a:lstStyle>
          <a:p>
            <a:r>
              <a:rPr lang="en-US" smtClean="0"/>
              <a:t>CLICK TO EDIT MASTER TITLE STYLE</a:t>
            </a:r>
            <a:endParaRPr lang="en-US"/>
          </a:p>
        </p:txBody>
      </p:sp>
    </p:spTree>
    <p:extLst>
      <p:ext uri="{BB962C8B-B14F-4D97-AF65-F5344CB8AC3E}">
        <p14:creationId xmlns:p14="http://schemas.microsoft.com/office/powerpoint/2010/main" val="1347120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997" y="1348370"/>
            <a:ext cx="11090638" cy="1577355"/>
          </a:xfrm>
        </p:spPr>
        <p:txBody>
          <a:bodyPr/>
          <a:lstStyle>
            <a:lvl1pPr>
              <a:defRPr>
                <a:solidFill>
                  <a:srgbClr val="003399"/>
                </a:solidFill>
              </a:defRPr>
            </a:lvl1pPr>
            <a:lvl2pPr>
              <a:defRPr sz="2400">
                <a:solidFill>
                  <a:srgbClr val="003399"/>
                </a:solidFill>
              </a:defRPr>
            </a:lvl2pPr>
            <a:lvl3pPr>
              <a:defRPr sz="2200">
                <a:solidFill>
                  <a:srgbClr val="003399"/>
                </a:solidFill>
              </a:defRPr>
            </a:lvl3pPr>
            <a:lvl4pPr>
              <a:defRPr>
                <a:solidFill>
                  <a:srgbClr val="003399"/>
                </a:solidFill>
              </a:defRPr>
            </a:lvl4pPr>
            <a:lvl5pPr>
              <a:defRPr>
                <a:solidFill>
                  <a:srgbClr val="003399"/>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vi-VN"/>
          </a:p>
        </p:txBody>
      </p:sp>
      <p:sp>
        <p:nvSpPr>
          <p:cNvPr id="4" name="Footer Placeholder 3"/>
          <p:cNvSpPr>
            <a:spLocks noGrp="1"/>
          </p:cNvSpPr>
          <p:nvPr>
            <p:ph type="ftr" sz="quarter" idx="10"/>
          </p:nvPr>
        </p:nvSpPr>
        <p:spPr>
          <a:xfrm>
            <a:off x="2831637" y="6537328"/>
            <a:ext cx="7200800" cy="320675"/>
          </a:xfrm>
          <a:prstGeom prst="rect">
            <a:avLst/>
          </a:prstGeom>
        </p:spPr>
        <p:txBody>
          <a:bodyPr/>
          <a:lstStyle>
            <a:lvl1pPr algn="ctr">
              <a:defRPr sz="1200" b="0">
                <a:latin typeface="+mj-lt"/>
              </a:defRPr>
            </a:lvl1pPr>
          </a:lstStyle>
          <a:p>
            <a:pPr>
              <a:defRPr/>
            </a:pPr>
            <a:endParaRPr lang="en-GB"/>
          </a:p>
        </p:txBody>
      </p:sp>
      <p:sp>
        <p:nvSpPr>
          <p:cNvPr id="5" name="Slide Number Placeholder 4"/>
          <p:cNvSpPr>
            <a:spLocks noGrp="1"/>
          </p:cNvSpPr>
          <p:nvPr>
            <p:ph type="sldNum" sz="quarter" idx="11"/>
          </p:nvPr>
        </p:nvSpPr>
        <p:spPr>
          <a:xfrm>
            <a:off x="10086227" y="6529663"/>
            <a:ext cx="1500651" cy="288032"/>
          </a:xfrm>
          <a:prstGeom prst="rect">
            <a:avLst/>
          </a:prstGeom>
        </p:spPr>
        <p:txBody>
          <a:bodyPr/>
          <a:lstStyle>
            <a:lvl1pPr>
              <a:defRPr sz="1200" b="0">
                <a:latin typeface="+mj-lt"/>
              </a:defRPr>
            </a:lvl1pPr>
          </a:lstStyle>
          <a:p>
            <a:pPr>
              <a:defRPr/>
            </a:pPr>
            <a:fld id="{BA96EB09-284B-4D3F-8D29-2BCC08F775DC}" type="slidenum">
              <a:rPr lang="en-GB" smtClean="0"/>
              <a:pPr>
                <a:defRPr/>
              </a:pPr>
              <a:t>‹#›</a:t>
            </a:fld>
            <a:endParaRPr lang="en-GB"/>
          </a:p>
        </p:txBody>
      </p:sp>
      <p:sp>
        <p:nvSpPr>
          <p:cNvPr id="6" name="Date Placeholder 5"/>
          <p:cNvSpPr>
            <a:spLocks noGrp="1"/>
          </p:cNvSpPr>
          <p:nvPr>
            <p:ph type="dt" sz="half" idx="12"/>
          </p:nvPr>
        </p:nvSpPr>
        <p:spPr>
          <a:xfrm>
            <a:off x="623392" y="6540784"/>
            <a:ext cx="2208245" cy="317219"/>
          </a:xfrm>
          <a:prstGeom prst="rect">
            <a:avLst/>
          </a:prstGeom>
        </p:spPr>
        <p:txBody>
          <a:bodyPr/>
          <a:lstStyle>
            <a:lvl1pPr algn="l">
              <a:defRPr sz="1200" b="0">
                <a:latin typeface="+mj-lt"/>
              </a:defRPr>
            </a:lvl1pPr>
          </a:lstStyle>
          <a:p>
            <a:pPr>
              <a:defRPr/>
            </a:pPr>
            <a:fld id="{C9009468-FF18-4B4A-9389-1B19CDFADB26}" type="datetime1">
              <a:rPr lang="en-US" smtClean="0"/>
              <a:t>14-Aug-25</a:t>
            </a:fld>
            <a:endParaRPr lang="en-GB"/>
          </a:p>
        </p:txBody>
      </p:sp>
      <p:sp>
        <p:nvSpPr>
          <p:cNvPr id="9" name="Title 8"/>
          <p:cNvSpPr>
            <a:spLocks noGrp="1"/>
          </p:cNvSpPr>
          <p:nvPr>
            <p:ph type="title"/>
          </p:nvPr>
        </p:nvSpPr>
        <p:spPr>
          <a:xfrm>
            <a:off x="2362200" y="180543"/>
            <a:ext cx="8077200" cy="581458"/>
          </a:xfrm>
          <a:prstGeom prst="rect">
            <a:avLst/>
          </a:prstGeom>
          <a:noFill/>
        </p:spPr>
        <p:txBody>
          <a:bodyPr/>
          <a:lstStyle>
            <a:lvl1pPr>
              <a:defRPr sz="2800" b="1">
                <a:solidFill>
                  <a:schemeClr val="accent6">
                    <a:lumMod val="75000"/>
                  </a:schemeClr>
                </a:solidFill>
              </a:defRPr>
            </a:lvl1pPr>
          </a:lstStyle>
          <a:p>
            <a:r>
              <a:rPr lang="en-US" smtClean="0"/>
              <a:t>Click to edit Master title style</a:t>
            </a:r>
            <a:endParaRPr lang="en-US"/>
          </a:p>
        </p:txBody>
      </p:sp>
      <p:cxnSp>
        <p:nvCxnSpPr>
          <p:cNvPr id="10" name="Straight Connector 9"/>
          <p:cNvCxnSpPr/>
          <p:nvPr userDrawn="1"/>
        </p:nvCxnSpPr>
        <p:spPr>
          <a:xfrm>
            <a:off x="609600" y="914400"/>
            <a:ext cx="9925336"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794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379200" cy="1017588"/>
          </a:xfrm>
        </p:spPr>
        <p:txBody>
          <a:bodyPr/>
          <a:lstStyle/>
          <a:p>
            <a:r>
              <a:rPr lang="en-US"/>
              <a:t>Click to edit Master title style</a:t>
            </a:r>
          </a:p>
        </p:txBody>
      </p:sp>
      <p:sp>
        <p:nvSpPr>
          <p:cNvPr id="3" name="Text Placeholder 2"/>
          <p:cNvSpPr>
            <a:spLocks noGrp="1"/>
          </p:cNvSpPr>
          <p:nvPr>
            <p:ph type="body" sz="half" idx="1"/>
          </p:nvPr>
        </p:nvSpPr>
        <p:spPr>
          <a:xfrm>
            <a:off x="609600" y="1447800"/>
            <a:ext cx="55372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350000" y="1447800"/>
            <a:ext cx="55372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6350000" y="3962400"/>
            <a:ext cx="5537200" cy="2362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7" name="Footer Placeholder 6"/>
          <p:cNvSpPr>
            <a:spLocks noGrp="1"/>
          </p:cNvSpPr>
          <p:nvPr>
            <p:ph type="ftr" sz="quarter" idx="11"/>
          </p:nvPr>
        </p:nvSpPr>
        <p:spPr>
          <a:xfrm>
            <a:off x="4267200" y="6629400"/>
            <a:ext cx="3860800" cy="228600"/>
          </a:xfrm>
        </p:spPr>
        <p:txBody>
          <a:bodyPr/>
          <a:lstStyle>
            <a:lvl1pPr>
              <a:defRPr/>
            </a:lvl1pPr>
          </a:lstStyle>
          <a:p>
            <a:r>
              <a:rPr lang="en-US" altLang="en-US"/>
              <a:t>Tiền xử lý dữ liệu</a:t>
            </a:r>
          </a:p>
        </p:txBody>
      </p:sp>
      <p:sp>
        <p:nvSpPr>
          <p:cNvPr id="8" name="Slide Number Placeholder 7"/>
          <p:cNvSpPr>
            <a:spLocks noGrp="1"/>
          </p:cNvSpPr>
          <p:nvPr>
            <p:ph type="sldNum" sz="quarter" idx="12"/>
          </p:nvPr>
        </p:nvSpPr>
        <p:spPr>
          <a:xfrm>
            <a:off x="9245600" y="6477000"/>
            <a:ext cx="2844800" cy="304800"/>
          </a:xfrm>
        </p:spPr>
        <p:txBody>
          <a:bodyPr/>
          <a:lstStyle>
            <a:lvl1pPr>
              <a:defRPr/>
            </a:lvl1pPr>
          </a:lstStyle>
          <a:p>
            <a:fld id="{DB041ED0-667F-495E-8F71-FA7503A47FBD}" type="slidenum">
              <a:rPr lang="en-US" altLang="en-US"/>
              <a:pPr/>
              <a:t>‹#›</a:t>
            </a:fld>
            <a:endParaRPr lang="en-US" altLang="en-US"/>
          </a:p>
        </p:txBody>
      </p:sp>
    </p:spTree>
    <p:extLst>
      <p:ext uri="{BB962C8B-B14F-4D97-AF65-F5344CB8AC3E}">
        <p14:creationId xmlns:p14="http://schemas.microsoft.com/office/powerpoint/2010/main" val="3405220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6200"/>
            <a:ext cx="11379200" cy="1017588"/>
          </a:xfrm>
        </p:spPr>
        <p:txBody>
          <a:bodyPr/>
          <a:lstStyle/>
          <a:p>
            <a:r>
              <a:rPr lang="en-US"/>
              <a:t>Click to edit Master title style</a:t>
            </a:r>
          </a:p>
        </p:txBody>
      </p:sp>
      <p:sp>
        <p:nvSpPr>
          <p:cNvPr id="3" name="Text Placeholder 2"/>
          <p:cNvSpPr>
            <a:spLocks noGrp="1"/>
          </p:cNvSpPr>
          <p:nvPr>
            <p:ph type="body" sz="half" idx="1"/>
          </p:nvPr>
        </p:nvSpPr>
        <p:spPr>
          <a:xfrm>
            <a:off x="609600" y="1447800"/>
            <a:ext cx="55372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50000" y="1447800"/>
            <a:ext cx="55372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248400"/>
            <a:ext cx="2844800" cy="457200"/>
          </a:xfrm>
        </p:spPr>
        <p:txBody>
          <a:bodyPr/>
          <a:lstStyle>
            <a:lvl1pPr>
              <a:defRPr/>
            </a:lvl1pPr>
          </a:lstStyle>
          <a:p>
            <a:endParaRPr lang="en-US" alt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r>
              <a:rPr lang="en-US" altLang="en-US"/>
              <a:t>Tiền xử lý dữ liệu</a:t>
            </a:r>
          </a:p>
        </p:txBody>
      </p:sp>
      <p:sp>
        <p:nvSpPr>
          <p:cNvPr id="7" name="Slide Number Placeholder 6"/>
          <p:cNvSpPr>
            <a:spLocks noGrp="1"/>
          </p:cNvSpPr>
          <p:nvPr>
            <p:ph type="sldNum" sz="quarter" idx="12"/>
          </p:nvPr>
        </p:nvSpPr>
        <p:spPr>
          <a:xfrm>
            <a:off x="9245600" y="6477000"/>
            <a:ext cx="2844800" cy="304800"/>
          </a:xfrm>
        </p:spPr>
        <p:txBody>
          <a:bodyPr/>
          <a:lstStyle>
            <a:lvl1pPr>
              <a:defRPr/>
            </a:lvl1pPr>
          </a:lstStyle>
          <a:p>
            <a:fld id="{8D554FCF-BD40-4264-88DB-BF591C59F389}" type="slidenum">
              <a:rPr lang="en-US" altLang="en-US"/>
              <a:pPr/>
              <a:t>‹#›</a:t>
            </a:fld>
            <a:endParaRPr lang="en-US" altLang="en-US"/>
          </a:p>
        </p:txBody>
      </p:sp>
    </p:spTree>
    <p:extLst>
      <p:ext uri="{BB962C8B-B14F-4D97-AF65-F5344CB8AC3E}">
        <p14:creationId xmlns:p14="http://schemas.microsoft.com/office/powerpoint/2010/main" val="5737029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2" name="Google Shape;116;p5" title="Slide template-05.jpg">
            <a:extLst>
              <a:ext uri="{FF2B5EF4-FFF2-40B4-BE49-F238E27FC236}">
                <a16:creationId xmlns:a16="http://schemas.microsoft.com/office/drawing/2014/main" id="{289CA0F7-EA6F-8BD2-E2B6-9C5E73C8AE2A}"/>
              </a:ext>
            </a:extLst>
          </p:cNvPr>
          <p:cNvPicPr preferRelativeResize="0"/>
          <p:nvPr/>
        </p:nvPicPr>
        <p:blipFill rotWithShape="1">
          <a:blip r:embed="rId8">
            <a:alphaModFix/>
          </a:blip>
          <a:srcRect/>
          <a:stretch/>
        </p:blipFill>
        <p:spPr>
          <a:xfrm>
            <a:off x="0" y="-3199"/>
            <a:ext cx="12192000" cy="1017913"/>
          </a:xfrm>
          <a:prstGeom prst="rect">
            <a:avLst/>
          </a:prstGeom>
          <a:noFill/>
          <a:ln>
            <a:noFill/>
          </a:ln>
        </p:spPr>
      </p:pic>
      <p:sp>
        <p:nvSpPr>
          <p:cNvPr id="7" name="Google Shape;7;p15"/>
          <p:cNvSpPr txBox="1">
            <a:spLocks noGrp="1"/>
          </p:cNvSpPr>
          <p:nvPr>
            <p:ph type="body" idx="1"/>
          </p:nvPr>
        </p:nvSpPr>
        <p:spPr>
          <a:xfrm>
            <a:off x="681997" y="1348370"/>
            <a:ext cx="11090638" cy="315471"/>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050" b="1" i="0" u="none" strike="noStrike" cap="none">
                <a:solidFill>
                  <a:srgbClr val="292A75"/>
                </a:solidFill>
                <a:latin typeface="Tahoma"/>
                <a:ea typeface="Tahoma"/>
                <a:cs typeface="Tahoma"/>
                <a:sym typeface="Tahoma"/>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dirty="0"/>
          </a:p>
        </p:txBody>
      </p:sp>
    </p:spTree>
    <p:extLst>
      <p:ext uri="{BB962C8B-B14F-4D97-AF65-F5344CB8AC3E}">
        <p14:creationId xmlns:p14="http://schemas.microsoft.com/office/powerpoint/2010/main" val="2401218967"/>
      </p:ext>
    </p:extLst>
  </p:cSld>
  <p:clrMap bg1="lt1" tx1="dk1" bg2="dk2" tx2="lt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Lst>
  <p:hf hdr="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Montserrat" panose="00000500000000000000" pitchFamily="2" charset="0"/>
          <a:ea typeface="Montserrat" panose="00000500000000000000"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0.xml"/><Relationship Id="rId7" Type="http://schemas.openxmlformats.org/officeDocument/2006/relationships/image" Target="../media/image5.wmf"/><Relationship Id="rId2" Type="http://schemas.openxmlformats.org/officeDocument/2006/relationships/slideLayout" Target="../slideLayouts/slideLayout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3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txBox="1">
            <a:spLocks noChangeArrowheads="1"/>
          </p:cNvSpPr>
          <p:nvPr/>
        </p:nvSpPr>
        <p:spPr>
          <a:xfrm>
            <a:off x="762000" y="2971800"/>
            <a:ext cx="10591800" cy="1223970"/>
          </a:xfrm>
          <a:prstGeom prst="rect">
            <a:avLst/>
          </a:prstGeom>
          <a:ln>
            <a:miter lim="800000"/>
            <a:headEnd/>
            <a:tailEnd/>
          </a:ln>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6000" b="0" i="0" u="none" strike="noStrike" cap="none">
                <a:solidFill>
                  <a:schemeClr val="accent6">
                    <a:lumMod val="75000"/>
                  </a:schemeClr>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849" b="0" i="0" u="none" strike="noStrike" cap="none">
                <a:solidFill>
                  <a:srgbClr val="000000"/>
                </a:solidFill>
                <a:latin typeface="Arial"/>
                <a:ea typeface="Arial"/>
                <a:cs typeface="Arial"/>
                <a:sym typeface="Arial"/>
              </a:defRPr>
            </a:lvl9pPr>
          </a:lstStyle>
          <a:p>
            <a:pPr fontAlgn="auto">
              <a:spcBef>
                <a:spcPts val="1200"/>
              </a:spcBef>
              <a:spcAft>
                <a:spcPts val="1200"/>
              </a:spcAft>
              <a:defRPr/>
            </a:pPr>
            <a:r>
              <a:rPr lang="en-GB" sz="4800" b="1" kern="0" smtClean="0">
                <a:effectLst/>
                <a:latin typeface="+mj-lt"/>
                <a:ea typeface="Arial Unicode MS" pitchFamily="34" charset="-128"/>
                <a:cs typeface="Arial Unicode MS" pitchFamily="34" charset="-128"/>
              </a:rPr>
              <a:t>CHƯƠNG 2 – TIỀN XỬ LÝ DỮ LIỆU</a:t>
            </a:r>
            <a:endParaRPr lang="en-GB" sz="4800" b="1" kern="0">
              <a:effectLst/>
              <a:latin typeface="+mj-lt"/>
              <a:ea typeface="Arial Unicode MS" pitchFamily="34" charset="-128"/>
              <a:cs typeface="Arial Unicode MS" pitchFamily="34" charset="-128"/>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Grp="1" noChangeArrowheads="1"/>
          </p:cNvSpPr>
          <p:nvPr>
            <p:ph idx="1"/>
          </p:nvPr>
        </p:nvSpPr>
        <p:spPr>
          <a:xfrm>
            <a:off x="681997" y="1348370"/>
            <a:ext cx="11090638" cy="4653582"/>
          </a:xfrm>
          <a:ln>
            <a:noFill/>
          </a:ln>
        </p:spPr>
        <p:style>
          <a:lnRef idx="2">
            <a:schemeClr val="accent1"/>
          </a:lnRef>
          <a:fillRef idx="1">
            <a:schemeClr val="lt1"/>
          </a:fillRef>
          <a:effectRef idx="0">
            <a:schemeClr val="accent1"/>
          </a:effectRef>
          <a:fontRef idx="minor">
            <a:schemeClr val="dk1"/>
          </a:fontRef>
        </p:style>
        <p:txBody>
          <a:bodyPr/>
          <a:lstStyle/>
          <a:p>
            <a:pPr>
              <a:spcBef>
                <a:spcPct val="40000"/>
              </a:spcBef>
            </a:pPr>
            <a:r>
              <a:rPr lang="en-US" altLang="en-US" sz="2400" b="0" dirty="0">
                <a:latin typeface="Arial" panose="020B0604020202020204" pitchFamily="34" charset="0"/>
                <a:cs typeface="Arial" panose="020B0604020202020204" pitchFamily="34" charset="0"/>
              </a:rPr>
              <a:t>2.1. </a:t>
            </a:r>
            <a:r>
              <a:rPr lang="en-US" altLang="en-US" sz="2400" b="0" dirty="0" err="1">
                <a:latin typeface="Arial" panose="020B0604020202020204" pitchFamily="34" charset="0"/>
                <a:cs typeface="Arial" panose="020B0604020202020204" pitchFamily="34" charset="0"/>
              </a:rPr>
              <a:t>Tổng</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quan</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về</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giai</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đoạn</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tiền</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xử</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lý</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2.2. </a:t>
            </a:r>
            <a:r>
              <a:rPr lang="en-US" altLang="en-US" sz="2400" b="0" dirty="0" err="1">
                <a:latin typeface="Arial" panose="020B0604020202020204" pitchFamily="34" charset="0"/>
                <a:cs typeface="Arial" panose="020B0604020202020204" pitchFamily="34" charset="0"/>
              </a:rPr>
              <a:t>Tóm</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tắt</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mô</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tả</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về</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2.3. </a:t>
            </a:r>
            <a:r>
              <a:rPr lang="en-US" altLang="en-US" sz="2400" b="0" dirty="0" err="1">
                <a:latin typeface="Arial" panose="020B0604020202020204" pitchFamily="34" charset="0"/>
                <a:cs typeface="Arial" panose="020B0604020202020204" pitchFamily="34" charset="0"/>
              </a:rPr>
              <a:t>Làm</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sạch</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2.4. </a:t>
            </a:r>
            <a:r>
              <a:rPr lang="en-US" altLang="en-US" sz="2400" b="0" dirty="0" err="1">
                <a:latin typeface="Arial" panose="020B0604020202020204" pitchFamily="34" charset="0"/>
                <a:cs typeface="Arial" panose="020B0604020202020204" pitchFamily="34" charset="0"/>
              </a:rPr>
              <a:t>Tích</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hợp</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2.5. </a:t>
            </a:r>
            <a:r>
              <a:rPr lang="en-US" altLang="en-US" sz="2400" b="0" dirty="0" err="1">
                <a:latin typeface="Arial" panose="020B0604020202020204" pitchFamily="34" charset="0"/>
                <a:cs typeface="Arial" panose="020B0604020202020204" pitchFamily="34" charset="0"/>
              </a:rPr>
              <a:t>Biến</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đổi</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2.6. Thu </a:t>
            </a:r>
            <a:r>
              <a:rPr lang="en-US" altLang="en-US" sz="2400" b="0" dirty="0" err="1">
                <a:latin typeface="Arial" panose="020B0604020202020204" pitchFamily="34" charset="0"/>
                <a:cs typeface="Arial" panose="020B0604020202020204" pitchFamily="34" charset="0"/>
              </a:rPr>
              <a:t>giảm</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2.7. </a:t>
            </a:r>
            <a:r>
              <a:rPr lang="en-US" altLang="en-US" sz="2400" b="0" dirty="0" err="1">
                <a:latin typeface="Arial" panose="020B0604020202020204" pitchFamily="34" charset="0"/>
                <a:cs typeface="Arial" panose="020B0604020202020204" pitchFamily="34" charset="0"/>
              </a:rPr>
              <a:t>Rời</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rạc</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hóa</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dữ</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liệu</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2.8. </a:t>
            </a:r>
            <a:r>
              <a:rPr lang="en-US" altLang="en-US" sz="2400" b="0" dirty="0" err="1">
                <a:latin typeface="Arial" panose="020B0604020202020204" pitchFamily="34" charset="0"/>
                <a:cs typeface="Arial" panose="020B0604020202020204" pitchFamily="34" charset="0"/>
              </a:rPr>
              <a:t>Tạo</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cây</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phân</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cấp</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ý</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niệm</a:t>
            </a:r>
            <a:endParaRPr lang="en-US" altLang="en-US" sz="2400" b="0" dirty="0">
              <a:latin typeface="Arial" panose="020B0604020202020204" pitchFamily="34" charset="0"/>
              <a:cs typeface="Arial" panose="020B0604020202020204" pitchFamily="34" charset="0"/>
            </a:endParaRPr>
          </a:p>
          <a:p>
            <a:pPr>
              <a:spcBef>
                <a:spcPct val="40000"/>
              </a:spcBef>
            </a:pPr>
            <a:r>
              <a:rPr lang="en-US" altLang="en-US" sz="2400" b="0" dirty="0">
                <a:latin typeface="Arial" panose="020B0604020202020204" pitchFamily="34" charset="0"/>
                <a:cs typeface="Arial" panose="020B0604020202020204" pitchFamily="34" charset="0"/>
              </a:rPr>
              <a:t>2.9. </a:t>
            </a:r>
            <a:r>
              <a:rPr lang="en-US" altLang="en-US" sz="2400" b="0" dirty="0" err="1">
                <a:latin typeface="Arial" panose="020B0604020202020204" pitchFamily="34" charset="0"/>
                <a:cs typeface="Arial" panose="020B0604020202020204" pitchFamily="34" charset="0"/>
              </a:rPr>
              <a:t>Tóm</a:t>
            </a:r>
            <a:r>
              <a:rPr lang="en-US" altLang="en-US" sz="2400" b="0" dirty="0">
                <a:latin typeface="Arial" panose="020B0604020202020204" pitchFamily="34" charset="0"/>
                <a:cs typeface="Arial" panose="020B0604020202020204" pitchFamily="34" charset="0"/>
              </a:rPr>
              <a:t> </a:t>
            </a:r>
            <a:r>
              <a:rPr lang="en-US" altLang="en-US" sz="2400" b="0" dirty="0" err="1">
                <a:latin typeface="Arial" panose="020B0604020202020204" pitchFamily="34" charset="0"/>
                <a:cs typeface="Arial" panose="020B0604020202020204" pitchFamily="34" charset="0"/>
              </a:rPr>
              <a:t>tắt</a:t>
            </a:r>
            <a:r>
              <a:rPr lang="en-US" altLang="en-US" sz="2400" b="0" dirty="0">
                <a:latin typeface="Arial" panose="020B0604020202020204" pitchFamily="34" charset="0"/>
                <a:cs typeface="Arial" panose="020B0604020202020204" pitchFamily="34" charset="0"/>
              </a:rPr>
              <a:t> </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78BECD03-6ECF-445B-8CE5-E57C42C28A2B}" type="slidenum">
              <a:rPr lang="en-US" altLang="en-US"/>
              <a:pPr/>
              <a:t>2</a:t>
            </a:fld>
            <a:endParaRPr lang="en-US" altLang="en-US"/>
          </a:p>
        </p:txBody>
      </p:sp>
      <p:sp>
        <p:nvSpPr>
          <p:cNvPr id="4" name="Title 3"/>
          <p:cNvSpPr>
            <a:spLocks noGrp="1"/>
          </p:cNvSpPr>
          <p:nvPr>
            <p:ph type="title"/>
          </p:nvPr>
        </p:nvSpPr>
        <p:spPr/>
        <p:txBody>
          <a:bodyPr/>
          <a:lstStyle/>
          <a:p>
            <a:r>
              <a:rPr lang="en-US" smtClean="0"/>
              <a:t>Nội dung</a:t>
            </a:r>
            <a:endParaRPr lang="en-US"/>
          </a:p>
        </p:txBody>
      </p:sp>
      <p:cxnSp>
        <p:nvCxnSpPr>
          <p:cNvPr id="7" name="Straight Connector 6"/>
          <p:cNvCxnSpPr/>
          <p:nvPr/>
        </p:nvCxnSpPr>
        <p:spPr>
          <a:xfrm>
            <a:off x="609600" y="914400"/>
            <a:ext cx="9925336"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2050" name="Rectangle 2"/>
          <p:cNvSpPr>
            <a:spLocks noGrp="1" noChangeArrowheads="1"/>
          </p:cNvSpPr>
          <p:nvPr>
            <p:ph type="title"/>
          </p:nvPr>
        </p:nvSpPr>
        <p:spPr/>
        <p:txBody>
          <a:bodyPr/>
          <a:lstStyle/>
          <a:p>
            <a:r>
              <a:rPr lang="en-US" altLang="en-US"/>
              <a:t>Tài liệu tham khảo</a:t>
            </a:r>
          </a:p>
        </p:txBody>
      </p:sp>
      <p:sp>
        <p:nvSpPr>
          <p:cNvPr id="8" name="Rectangle 3"/>
          <p:cNvSpPr>
            <a:spLocks noGrp="1" noChangeArrowheads="1"/>
          </p:cNvSpPr>
          <p:nvPr>
            <p:ph idx="1"/>
          </p:nvPr>
        </p:nvSpPr>
        <p:spPr>
          <a:xfrm>
            <a:off x="914400" y="1262420"/>
            <a:ext cx="10058400" cy="4985980"/>
          </a:xfrm>
        </p:spPr>
        <p:txBody>
          <a:bodyPr anchor="ctr"/>
          <a:lstStyle/>
          <a:p>
            <a:pPr marL="228600" indent="0">
              <a:lnSpc>
                <a:spcPct val="150000"/>
              </a:lnSpc>
            </a:pPr>
            <a:r>
              <a:rPr lang="en-US" sz="2400" b="0" dirty="0">
                <a:latin typeface="Arial" panose="020B0604020202020204" pitchFamily="34" charset="0"/>
                <a:cs typeface="Arial" panose="020B0604020202020204" pitchFamily="34" charset="0"/>
              </a:rPr>
              <a:t>[1]	</a:t>
            </a:r>
            <a:r>
              <a:rPr lang="en-US" sz="2400" b="0" dirty="0" err="1">
                <a:latin typeface="Arial" panose="020B0604020202020204" pitchFamily="34" charset="0"/>
                <a:cs typeface="Arial" panose="020B0604020202020204" pitchFamily="34" charset="0"/>
              </a:rPr>
              <a:t>J.Han</a:t>
            </a:r>
            <a:r>
              <a:rPr lang="en-US" sz="2400" b="0" dirty="0">
                <a:latin typeface="Arial" panose="020B0604020202020204" pitchFamily="34" charset="0"/>
                <a:cs typeface="Arial" panose="020B0604020202020204" pitchFamily="34" charset="0"/>
              </a:rPr>
              <a:t> and </a:t>
            </a:r>
            <a:r>
              <a:rPr lang="en-US" sz="2400" b="0" dirty="0" err="1">
                <a:latin typeface="Arial" panose="020B0604020202020204" pitchFamily="34" charset="0"/>
                <a:cs typeface="Arial" panose="020B0604020202020204" pitchFamily="34" charset="0"/>
              </a:rPr>
              <a:t>M.Kamber</a:t>
            </a:r>
            <a:r>
              <a:rPr lang="en-US" sz="2400" b="0" dirty="0">
                <a:latin typeface="Arial" panose="020B0604020202020204" pitchFamily="34" charset="0"/>
                <a:cs typeface="Arial" panose="020B0604020202020204" pitchFamily="34" charset="0"/>
              </a:rPr>
              <a:t>, Data Mining, “Concepts and Techniques”, </a:t>
            </a:r>
            <a:r>
              <a:rPr lang="en-US" sz="2400" b="0" i="1" dirty="0">
                <a:latin typeface="Arial" panose="020B0604020202020204" pitchFamily="34" charset="0"/>
                <a:cs typeface="Arial" panose="020B0604020202020204" pitchFamily="34" charset="0"/>
              </a:rPr>
              <a:t>Morgan Kaufmann,</a:t>
            </a:r>
            <a:r>
              <a:rPr lang="en-US" sz="2400" b="0" dirty="0">
                <a:latin typeface="Arial" panose="020B0604020202020204" pitchFamily="34" charset="0"/>
                <a:cs typeface="Arial" panose="020B0604020202020204" pitchFamily="34" charset="0"/>
              </a:rPr>
              <a:t> 3</a:t>
            </a:r>
            <a:r>
              <a:rPr lang="en-US" sz="2400" b="0" baseline="30000" dirty="0">
                <a:latin typeface="Arial" panose="020B0604020202020204" pitchFamily="34" charset="0"/>
                <a:cs typeface="Arial" panose="020B0604020202020204" pitchFamily="34" charset="0"/>
              </a:rPr>
              <a:t>rd</a:t>
            </a:r>
            <a:r>
              <a:rPr lang="en-US" sz="2400" b="0" dirty="0">
                <a:latin typeface="Arial" panose="020B0604020202020204" pitchFamily="34" charset="0"/>
                <a:cs typeface="Arial" panose="020B0604020202020204" pitchFamily="34" charset="0"/>
              </a:rPr>
              <a:t> Edition, 2019</a:t>
            </a:r>
          </a:p>
          <a:p>
            <a:pPr marL="228600" indent="0">
              <a:lnSpc>
                <a:spcPct val="150000"/>
              </a:lnSpc>
            </a:pPr>
            <a:r>
              <a:rPr lang="en-US" sz="2400" b="0" dirty="0">
                <a:latin typeface="Arial" panose="020B0604020202020204" pitchFamily="34" charset="0"/>
                <a:cs typeface="Arial" panose="020B0604020202020204" pitchFamily="34" charset="0"/>
              </a:rPr>
              <a:t>[2]	Ian </a:t>
            </a:r>
            <a:r>
              <a:rPr lang="en-US" sz="2400" b="0" dirty="0" err="1">
                <a:latin typeface="Arial" panose="020B0604020202020204" pitchFamily="34" charset="0"/>
                <a:cs typeface="Arial" panose="020B0604020202020204" pitchFamily="34" charset="0"/>
              </a:rPr>
              <a:t>H.witten</a:t>
            </a:r>
            <a:r>
              <a:rPr lang="en-US" sz="2400" b="0" dirty="0">
                <a:latin typeface="Arial" panose="020B0604020202020204" pitchFamily="34" charset="0"/>
                <a:cs typeface="Arial" panose="020B0604020202020204" pitchFamily="34" charset="0"/>
              </a:rPr>
              <a:t>, </a:t>
            </a:r>
            <a:r>
              <a:rPr lang="en-US" sz="2400" b="0" dirty="0" err="1">
                <a:latin typeface="Arial" panose="020B0604020202020204" pitchFamily="34" charset="0"/>
                <a:cs typeface="Arial" panose="020B0604020202020204" pitchFamily="34" charset="0"/>
              </a:rPr>
              <a:t>Eibe</a:t>
            </a:r>
            <a:r>
              <a:rPr lang="en-US" sz="2400" b="0" dirty="0">
                <a:latin typeface="Arial" panose="020B0604020202020204" pitchFamily="34" charset="0"/>
                <a:cs typeface="Arial" panose="020B0604020202020204" pitchFamily="34" charset="0"/>
              </a:rPr>
              <a:t> Frank, and Marker Hall, “Data Mining – Practical Machine Learning Tools and Techniques”, </a:t>
            </a:r>
            <a:r>
              <a:rPr lang="en-US" sz="2400" b="0" i="1" dirty="0">
                <a:latin typeface="Arial" panose="020B0604020202020204" pitchFamily="34" charset="0"/>
                <a:cs typeface="Arial" panose="020B0604020202020204" pitchFamily="34" charset="0"/>
              </a:rPr>
              <a:t>Morgan Kaufmann, </a:t>
            </a:r>
            <a:r>
              <a:rPr lang="en-US" sz="2400" b="0" dirty="0">
                <a:latin typeface="Arial" panose="020B0604020202020204" pitchFamily="34" charset="0"/>
                <a:cs typeface="Arial" panose="020B0604020202020204" pitchFamily="34" charset="0"/>
              </a:rPr>
              <a:t>2016</a:t>
            </a:r>
          </a:p>
          <a:p>
            <a:pPr marL="228600" indent="0">
              <a:lnSpc>
                <a:spcPct val="150000"/>
              </a:lnSpc>
            </a:pPr>
            <a:r>
              <a:rPr lang="en-US" sz="2400" b="0" dirty="0">
                <a:latin typeface="Arial" panose="020B0604020202020204" pitchFamily="34" charset="0"/>
                <a:cs typeface="Arial" panose="020B0604020202020204" pitchFamily="34" charset="0"/>
              </a:rPr>
              <a:t>[3]	Daniel </a:t>
            </a:r>
            <a:r>
              <a:rPr lang="en-US" sz="2400" b="0" dirty="0" err="1">
                <a:latin typeface="Arial" panose="020B0604020202020204" pitchFamily="34" charset="0"/>
                <a:cs typeface="Arial" panose="020B0604020202020204" pitchFamily="34" charset="0"/>
              </a:rPr>
              <a:t>T.Larose</a:t>
            </a:r>
            <a:r>
              <a:rPr lang="en-US" sz="2400" b="0" dirty="0">
                <a:latin typeface="Arial" panose="020B0604020202020204" pitchFamily="34" charset="0"/>
                <a:cs typeface="Arial" panose="020B0604020202020204" pitchFamily="34" charset="0"/>
              </a:rPr>
              <a:t>, Discovering Knowledge in Data – An introduction to Data Mining, </a:t>
            </a:r>
            <a:r>
              <a:rPr lang="en-US" sz="2400" b="0" i="1" dirty="0">
                <a:latin typeface="Arial" panose="020B0604020202020204" pitchFamily="34" charset="0"/>
                <a:cs typeface="Arial" panose="020B0604020202020204" pitchFamily="34" charset="0"/>
              </a:rPr>
              <a:t>John Wiley &amp; Sons</a:t>
            </a:r>
            <a:r>
              <a:rPr lang="en-US" sz="2400" b="0" dirty="0">
                <a:latin typeface="Arial" panose="020B0604020202020204" pitchFamily="34" charset="0"/>
                <a:cs typeface="Arial" panose="020B0604020202020204" pitchFamily="34" charset="0"/>
              </a:rPr>
              <a:t> , 2005</a:t>
            </a:r>
          </a:p>
          <a:p>
            <a:pPr marL="228600" indent="0">
              <a:lnSpc>
                <a:spcPct val="150000"/>
              </a:lnSpc>
            </a:pPr>
            <a:r>
              <a:rPr lang="en-US" sz="2400" b="0" dirty="0">
                <a:latin typeface="Arial" panose="020B0604020202020204" pitchFamily="34" charset="0"/>
                <a:cs typeface="Arial" panose="020B0604020202020204" pitchFamily="34" charset="0"/>
              </a:rPr>
              <a:t>[4]	Max </a:t>
            </a:r>
            <a:r>
              <a:rPr lang="en-US" sz="2400" b="0" dirty="0" err="1">
                <a:latin typeface="Arial" panose="020B0604020202020204" pitchFamily="34" charset="0"/>
                <a:cs typeface="Arial" panose="020B0604020202020204" pitchFamily="34" charset="0"/>
              </a:rPr>
              <a:t>Bramer</a:t>
            </a:r>
            <a:r>
              <a:rPr lang="en-US" sz="2400" b="0" dirty="0">
                <a:latin typeface="Arial" panose="020B0604020202020204" pitchFamily="34" charset="0"/>
                <a:cs typeface="Arial" panose="020B0604020202020204" pitchFamily="34" charset="0"/>
              </a:rPr>
              <a:t>, “Principles of Data Mining”, </a:t>
            </a:r>
            <a:r>
              <a:rPr lang="en-US" sz="2400" b="0" i="1" dirty="0">
                <a:latin typeface="Arial" panose="020B0604020202020204" pitchFamily="34" charset="0"/>
                <a:cs typeface="Arial" panose="020B0604020202020204" pitchFamily="34" charset="0"/>
              </a:rPr>
              <a:t>Springer</a:t>
            </a:r>
            <a:r>
              <a:rPr lang="en-US" sz="2400" b="0" dirty="0">
                <a:latin typeface="Arial" panose="020B0604020202020204" pitchFamily="34" charset="0"/>
                <a:cs typeface="Arial" panose="020B0604020202020204" pitchFamily="34" charset="0"/>
              </a:rPr>
              <a:t>, 2007</a:t>
            </a:r>
          </a:p>
          <a:p>
            <a:pPr marL="228600" indent="0">
              <a:lnSpc>
                <a:spcPct val="150000"/>
              </a:lnSpc>
            </a:pPr>
            <a:r>
              <a:rPr lang="en-US" sz="2400" b="0" dirty="0">
                <a:latin typeface="Arial" panose="020B0604020202020204" pitchFamily="34" charset="0"/>
                <a:cs typeface="Arial" panose="020B0604020202020204" pitchFamily="34" charset="0"/>
              </a:rPr>
              <a:t>[5]	Ho Tu Bao, “Introduction to Knowledge Discovery and Data </a:t>
            </a:r>
            <a:r>
              <a:rPr lang="en-US" sz="2400" b="0" dirty="0" err="1">
                <a:latin typeface="Arial" panose="020B0604020202020204" pitchFamily="34" charset="0"/>
                <a:cs typeface="Arial" panose="020B0604020202020204" pitchFamily="34" charset="0"/>
              </a:rPr>
              <a:t>Minning</a:t>
            </a:r>
            <a:r>
              <a:rPr lang="en-US" sz="2400" b="0" dirty="0">
                <a:latin typeface="Arial" panose="020B0604020202020204" pitchFamily="34" charset="0"/>
                <a:cs typeface="Arial" panose="020B0604020202020204" pitchFamily="34" charset="0"/>
              </a:rPr>
              <a:t>”, </a:t>
            </a:r>
            <a:r>
              <a:rPr lang="en-US" sz="2400" b="0" i="1" dirty="0">
                <a:latin typeface="Arial" panose="020B0604020202020204" pitchFamily="34" charset="0"/>
                <a:cs typeface="Arial" panose="020B0604020202020204" pitchFamily="34" charset="0"/>
              </a:rPr>
              <a:t>National Center of Natural Science a Technology</a:t>
            </a:r>
            <a:r>
              <a:rPr lang="en-US" sz="2400" b="0" dirty="0">
                <a:latin typeface="Arial" panose="020B0604020202020204" pitchFamily="34" charset="0"/>
                <a:cs typeface="Arial" panose="020B0604020202020204" pitchFamily="34" charset="0"/>
              </a:rPr>
              <a:t>, 2010</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C59AAB1C-1A24-4B45-818F-B3BB1A3E0841}" type="slidenum">
              <a:rPr lang="en-US" altLang="en-US"/>
              <a:pPr/>
              <a:t>3</a:t>
            </a:fld>
            <a:endParaRPr lang="en-US"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7"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40000"/>
              </a:spcBef>
            </a:pPr>
            <a:r>
              <a:rPr lang="en-US" altLang="en-US" sz="1800">
                <a:latin typeface="Arial" panose="020B0604020202020204" pitchFamily="34" charset="0"/>
                <a:cs typeface="Arial" panose="020B0604020202020204" pitchFamily="34" charset="0"/>
              </a:rPr>
              <a:t>Giai đoạn tiền xử lý dữ liệu</a:t>
            </a:r>
          </a:p>
          <a:p>
            <a:pPr lvl="1">
              <a:spcBef>
                <a:spcPct val="40000"/>
              </a:spcBef>
            </a:pPr>
            <a:r>
              <a:rPr lang="en-US" altLang="en-US" sz="1800">
                <a:latin typeface="Arial" panose="020B0604020202020204" pitchFamily="34" charset="0"/>
                <a:cs typeface="Arial" panose="020B0604020202020204" pitchFamily="34" charset="0"/>
              </a:rPr>
              <a:t>Quá trình xử lý dữ liệu thô/gốc (raw/original data) nhằm cải thiện chất lượng dữ liệu (quality of the data) và do đó, cải thiện chất lượng của kết quả khai phá.</a:t>
            </a:r>
          </a:p>
          <a:p>
            <a:pPr lvl="2">
              <a:spcBef>
                <a:spcPct val="40000"/>
              </a:spcBef>
            </a:pPr>
            <a:r>
              <a:rPr lang="en-US" altLang="en-US" sz="1800">
                <a:latin typeface="Arial" panose="020B0604020202020204" pitchFamily="34" charset="0"/>
                <a:cs typeface="Arial" panose="020B0604020202020204" pitchFamily="34" charset="0"/>
              </a:rPr>
              <a:t>Dữ liệu thô/gốc</a:t>
            </a:r>
          </a:p>
          <a:p>
            <a:pPr lvl="3">
              <a:spcBef>
                <a:spcPct val="40000"/>
              </a:spcBef>
            </a:pPr>
            <a:r>
              <a:rPr lang="en-US" altLang="en-US">
                <a:latin typeface="Arial" panose="020B0604020202020204" pitchFamily="34" charset="0"/>
                <a:cs typeface="Arial" panose="020B0604020202020204" pitchFamily="34" charset="0"/>
              </a:rPr>
              <a:t>Có cấu trúc, bán cấu trúc, phi cấu trúc</a:t>
            </a:r>
          </a:p>
          <a:p>
            <a:pPr lvl="3">
              <a:spcBef>
                <a:spcPct val="40000"/>
              </a:spcBef>
            </a:pPr>
            <a:r>
              <a:rPr lang="en-US" altLang="en-US">
                <a:latin typeface="Arial" panose="020B0604020202020204" pitchFamily="34" charset="0"/>
                <a:cs typeface="Arial" panose="020B0604020202020204" pitchFamily="34" charset="0"/>
              </a:rPr>
              <a:t>Được đưa vào từ các nguồn dữ liệu trong các hệ thống xử lý tập tin (file processing systems) và/hay các hệ thống cơ sở dữ liệu (database systems)</a:t>
            </a:r>
          </a:p>
          <a:p>
            <a:pPr lvl="2">
              <a:spcBef>
                <a:spcPct val="40000"/>
              </a:spcBef>
            </a:pPr>
            <a:r>
              <a:rPr lang="en-US" altLang="en-US" sz="1800">
                <a:latin typeface="Arial" panose="020B0604020202020204" pitchFamily="34" charset="0"/>
                <a:cs typeface="Arial" panose="020B0604020202020204" pitchFamily="34" charset="0"/>
              </a:rPr>
              <a:t>Chất lượng dữ liệu (data quality): tính chính xác, tính hiện hành, tính toàn vẹn, tính nhất quán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0C0EB74B-0A4F-4D58-B1BD-21AF2AAEED50}" type="slidenum">
              <a:rPr lang="en-US" altLang="en-US"/>
              <a:pPr/>
              <a:t>4</a:t>
            </a:fld>
            <a:endParaRPr lang="en-US" altLang="en-US"/>
          </a:p>
        </p:txBody>
      </p:sp>
      <p:sp>
        <p:nvSpPr>
          <p:cNvPr id="641026" name="Rectangle 2"/>
          <p:cNvSpPr>
            <a:spLocks noGrp="1" noChangeArrowheads="1"/>
          </p:cNvSpPr>
          <p:nvPr>
            <p:ph type="title"/>
          </p:nvPr>
        </p:nvSpPr>
        <p:spPr>
          <a:xfrm>
            <a:off x="2362200" y="256742"/>
            <a:ext cx="7924800" cy="581458"/>
          </a:xfrm>
        </p:spPr>
        <p:txBody>
          <a:bodyPr/>
          <a:lstStyle/>
          <a:p>
            <a:r>
              <a:rPr lang="en-US" altLang="en-US" sz="2800">
                <a:solidFill>
                  <a:srgbClr val="FF6600"/>
                </a:solidFill>
              </a:rPr>
              <a:t>2.1. Tổng </a:t>
            </a:r>
            <a:r>
              <a:rPr lang="en-US" altLang="en-US" sz="2800">
                <a:solidFill>
                  <a:srgbClr val="FF6600"/>
                </a:solidFill>
                <a:latin typeface="Arial" panose="020B0604020202020204" pitchFamily="34" charset="0"/>
                <a:cs typeface="Arial" panose="020B0604020202020204" pitchFamily="34" charset="0"/>
              </a:rPr>
              <a:t>quan</a:t>
            </a:r>
            <a:r>
              <a:rPr lang="en-US" altLang="en-US" sz="2800">
                <a:solidFill>
                  <a:srgbClr val="FF6600"/>
                </a:solidFill>
              </a:rPr>
              <a:t> về giai đoạn tiền xử lý dữ liệu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3555" name="Rectangle 3"/>
          <p:cNvSpPr>
            <a:spLocks noGrp="1" noChangeArrowheads="1"/>
          </p:cNvSpPr>
          <p:nvPr>
            <p:ph idx="1"/>
          </p:nvPr>
        </p:nvSpPr>
        <p:spPr>
          <a:xfrm>
            <a:off x="681997" y="1348370"/>
            <a:ext cx="11090638" cy="3077766"/>
          </a:xfrm>
          <a:ln>
            <a:noFill/>
          </a:ln>
        </p:spPr>
        <p:style>
          <a:lnRef idx="2">
            <a:schemeClr val="accent1"/>
          </a:lnRef>
          <a:fillRef idx="1">
            <a:schemeClr val="lt1"/>
          </a:fillRef>
          <a:effectRef idx="0">
            <a:schemeClr val="accent1"/>
          </a:effectRef>
          <a:fontRef idx="minor">
            <a:schemeClr val="dk1"/>
          </a:fontRef>
        </p:style>
        <p:txBody>
          <a:bodyPr/>
          <a:lstStyle/>
          <a:p>
            <a:pPr>
              <a:spcBef>
                <a:spcPct val="60000"/>
              </a:spcBef>
            </a:pPr>
            <a:r>
              <a:rPr lang="en-US" altLang="en-US" sz="2000" dirty="0" err="1">
                <a:latin typeface="Arial" panose="020B0604020202020204" pitchFamily="34" charset="0"/>
                <a:cs typeface="Arial" panose="020B0604020202020204" pitchFamily="34" charset="0"/>
              </a:rPr>
              <a:t>Chất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lượng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dữ</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liệu</a:t>
            </a:r>
            <a:r>
              <a:rPr lang="en-US" altLang="en-US" sz="2000" dirty="0">
                <a:latin typeface="Arial" panose="020B0604020202020204" pitchFamily="34" charset="0"/>
                <a:cs typeface="Arial" panose="020B0604020202020204" pitchFamily="34" charset="0"/>
              </a:rPr>
              <a:t> (data quality)</a:t>
            </a:r>
          </a:p>
          <a:p>
            <a:pPr marL="1028700" lvl="1" indent="-342900">
              <a:spcBef>
                <a:spcPct val="60000"/>
              </a:spcBef>
              <a:buFont typeface="Arial" panose="020B0604020202020204" pitchFamily="34" charset="0"/>
              <a:buChar char="•"/>
            </a:pPr>
            <a:r>
              <a:rPr lang="en-US" altLang="en-US" sz="2000" smtClean="0">
                <a:solidFill>
                  <a:srgbClr val="CC3300"/>
                </a:solidFill>
                <a:latin typeface="Arial" panose="020B0604020202020204" pitchFamily="34" charset="0"/>
                <a:cs typeface="Arial" panose="020B0604020202020204" pitchFamily="34" charset="0"/>
              </a:rPr>
              <a:t>Tính </a:t>
            </a:r>
            <a:r>
              <a:rPr lang="en-US" altLang="en-US" sz="2000" dirty="0" err="1">
                <a:solidFill>
                  <a:srgbClr val="CC3300"/>
                </a:solidFill>
                <a:latin typeface="Arial" panose="020B0604020202020204" pitchFamily="34" charset="0"/>
                <a:cs typeface="Arial" panose="020B0604020202020204" pitchFamily="34" charset="0"/>
              </a:rPr>
              <a:t>chính</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err="1">
                <a:solidFill>
                  <a:srgbClr val="CC3300"/>
                </a:solidFill>
                <a:latin typeface="Arial" panose="020B0604020202020204" pitchFamily="34" charset="0"/>
                <a:cs typeface="Arial" panose="020B0604020202020204" pitchFamily="34" charset="0"/>
              </a:rPr>
              <a:t>xác</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(accuracy):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ghi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nhận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đúng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với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thực</a:t>
            </a:r>
            <a:r>
              <a:rPr lang="en-US" altLang="en-US" sz="2000" dirty="0">
                <a:latin typeface="Arial" panose="020B0604020202020204" pitchFamily="34" charset="0"/>
                <a:cs typeface="Arial" panose="020B0604020202020204" pitchFamily="34" charset="0"/>
              </a:rPr>
              <a:t>.</a:t>
            </a:r>
          </a:p>
          <a:p>
            <a:pPr marL="1028700" lvl="1" indent="-342900">
              <a:spcBef>
                <a:spcPct val="60000"/>
              </a:spcBef>
              <a:buFont typeface="Arial" panose="020B0604020202020204" pitchFamily="34" charset="0"/>
              <a:buChar char="•"/>
            </a:pPr>
            <a:r>
              <a:rPr lang="en-US" altLang="en-US" sz="2000" dirty="0" err="1">
                <a:solidFill>
                  <a:srgbClr val="CC3300"/>
                </a:solidFill>
                <a:latin typeface="Arial" panose="020B0604020202020204" pitchFamily="34" charset="0"/>
                <a:cs typeface="Arial" panose="020B0604020202020204" pitchFamily="34" charset="0"/>
              </a:rPr>
              <a:t>T</a:t>
            </a:r>
            <a:r>
              <a:rPr lang="en-US" altLang="en-US" sz="2000" smtClean="0">
                <a:solidFill>
                  <a:srgbClr val="CC3300"/>
                </a:solidFill>
                <a:latin typeface="Arial" panose="020B0604020202020204" pitchFamily="34" charset="0"/>
                <a:cs typeface="Arial" panose="020B0604020202020204" pitchFamily="34" charset="0"/>
              </a:rPr>
              <a:t>ính </a:t>
            </a:r>
            <a:r>
              <a:rPr lang="en-US" altLang="en-US" sz="2000" dirty="0" err="1">
                <a:solidFill>
                  <a:srgbClr val="CC3300"/>
                </a:solidFill>
                <a:latin typeface="Arial" panose="020B0604020202020204" pitchFamily="34" charset="0"/>
                <a:cs typeface="Arial" panose="020B0604020202020204" pitchFamily="34" charset="0"/>
              </a:rPr>
              <a:t>hiện</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err="1">
                <a:solidFill>
                  <a:srgbClr val="CC3300"/>
                </a:solidFill>
                <a:latin typeface="Arial" panose="020B0604020202020204" pitchFamily="34" charset="0"/>
                <a:cs typeface="Arial" panose="020B0604020202020204" pitchFamily="34" charset="0"/>
              </a:rPr>
              <a:t>hành</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(currency/timeliness):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ghi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nhận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không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lỗi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thời</a:t>
            </a:r>
            <a:r>
              <a:rPr lang="en-US" altLang="en-US" sz="2000" dirty="0">
                <a:latin typeface="Arial" panose="020B0604020202020204" pitchFamily="34" charset="0"/>
                <a:cs typeface="Arial" panose="020B0604020202020204" pitchFamily="34" charset="0"/>
              </a:rPr>
              <a:t>.</a:t>
            </a:r>
          </a:p>
          <a:p>
            <a:pPr marL="1028700" lvl="1" indent="-342900">
              <a:spcBef>
                <a:spcPct val="60000"/>
              </a:spcBef>
              <a:buFont typeface="Arial" panose="020B0604020202020204" pitchFamily="34" charset="0"/>
              <a:buChar char="•"/>
            </a:pPr>
            <a:r>
              <a:rPr lang="en-US" altLang="en-US" sz="2000" dirty="0" err="1">
                <a:solidFill>
                  <a:srgbClr val="CC3300"/>
                </a:solidFill>
                <a:latin typeface="Arial" panose="020B0604020202020204" pitchFamily="34" charset="0"/>
                <a:cs typeface="Arial" panose="020B0604020202020204" pitchFamily="34" charset="0"/>
              </a:rPr>
              <a:t>T</a:t>
            </a:r>
            <a:r>
              <a:rPr lang="en-US" altLang="en-US" sz="2000" smtClean="0">
                <a:solidFill>
                  <a:srgbClr val="CC3300"/>
                </a:solidFill>
                <a:latin typeface="Arial" panose="020B0604020202020204" pitchFamily="34" charset="0"/>
                <a:cs typeface="Arial" panose="020B0604020202020204" pitchFamily="34" charset="0"/>
              </a:rPr>
              <a:t>ính </a:t>
            </a:r>
            <a:r>
              <a:rPr lang="en-US" altLang="en-US" sz="2000" dirty="0" err="1">
                <a:solidFill>
                  <a:srgbClr val="CC3300"/>
                </a:solidFill>
                <a:latin typeface="Arial" panose="020B0604020202020204" pitchFamily="34" charset="0"/>
                <a:cs typeface="Arial" panose="020B0604020202020204" pitchFamily="34" charset="0"/>
              </a:rPr>
              <a:t>toàn</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err="1">
                <a:solidFill>
                  <a:srgbClr val="CC3300"/>
                </a:solidFill>
                <a:latin typeface="Arial" panose="020B0604020202020204" pitchFamily="34" charset="0"/>
                <a:cs typeface="Arial" panose="020B0604020202020204" pitchFamily="34" charset="0"/>
              </a:rPr>
              <a:t>vẹn</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(completeness): </a:t>
            </a:r>
            <a:r>
              <a:rPr lang="en-US" altLang="en-US" sz="2000" dirty="0" err="1">
                <a:latin typeface="Arial" panose="020B0604020202020204" pitchFamily="34" charset="0"/>
                <a:cs typeface="Arial" panose="020B0604020202020204" pitchFamily="34" charset="0"/>
              </a:rPr>
              <a:t>tất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dành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cho</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một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biến</a:t>
            </a:r>
            <a:r>
              <a:rPr lang="en-US" altLang="en-US" sz="2000" dirty="0">
                <a:latin typeface="Arial" panose="020B0604020202020204" pitchFamily="34" charset="0"/>
                <a:cs typeface="Arial" panose="020B0604020202020204" pitchFamily="34" charset="0"/>
              </a:rPr>
              <a:t>/</a:t>
            </a:r>
            <a:r>
              <a:rPr lang="en-US" altLang="en-US" sz="2000" dirty="0" err="1">
                <a:latin typeface="Arial" panose="020B0604020202020204" pitchFamily="34" charset="0"/>
                <a:cs typeface="Arial" panose="020B0604020202020204" pitchFamily="34" charset="0"/>
              </a:rPr>
              <a:t>thuộc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tính</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đều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ghi</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nhận</a:t>
            </a:r>
            <a:r>
              <a:rPr lang="en-US" altLang="en-US" sz="2000" dirty="0">
                <a:latin typeface="Arial" panose="020B0604020202020204" pitchFamily="34" charset="0"/>
                <a:cs typeface="Arial" panose="020B0604020202020204" pitchFamily="34" charset="0"/>
              </a:rPr>
              <a:t>.</a:t>
            </a:r>
          </a:p>
          <a:p>
            <a:pPr marL="1028700" lvl="1" indent="-342900">
              <a:spcBef>
                <a:spcPct val="60000"/>
              </a:spcBef>
              <a:buFont typeface="Arial" panose="020B0604020202020204" pitchFamily="34" charset="0"/>
              <a:buChar char="•"/>
            </a:pPr>
            <a:r>
              <a:rPr lang="en-US" altLang="en-US" sz="2000" dirty="0" err="1">
                <a:solidFill>
                  <a:srgbClr val="CC3300"/>
                </a:solidFill>
                <a:latin typeface="Arial" panose="020B0604020202020204" pitchFamily="34" charset="0"/>
                <a:cs typeface="Arial" panose="020B0604020202020204" pitchFamily="34" charset="0"/>
              </a:rPr>
              <a:t>T</a:t>
            </a:r>
            <a:r>
              <a:rPr lang="en-US" altLang="en-US" sz="2000" smtClean="0">
                <a:solidFill>
                  <a:srgbClr val="CC3300"/>
                </a:solidFill>
                <a:latin typeface="Arial" panose="020B0604020202020204" pitchFamily="34" charset="0"/>
                <a:cs typeface="Arial" panose="020B0604020202020204" pitchFamily="34" charset="0"/>
              </a:rPr>
              <a:t>ính </a:t>
            </a:r>
            <a:r>
              <a:rPr lang="en-US" altLang="en-US" sz="2000" dirty="0" err="1">
                <a:solidFill>
                  <a:srgbClr val="CC3300"/>
                </a:solidFill>
                <a:latin typeface="Arial" panose="020B0604020202020204" pitchFamily="34" charset="0"/>
                <a:cs typeface="Arial" panose="020B0604020202020204" pitchFamily="34" charset="0"/>
              </a:rPr>
              <a:t>nhất</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err="1">
                <a:solidFill>
                  <a:srgbClr val="CC3300"/>
                </a:solidFill>
                <a:latin typeface="Arial" panose="020B0604020202020204" pitchFamily="34" charset="0"/>
                <a:cs typeface="Arial" panose="020B0604020202020204" pitchFamily="34" charset="0"/>
              </a:rPr>
              <a:t>quán</a:t>
            </a:r>
            <a:r>
              <a:rPr lang="en-US" altLang="en-US" sz="2000" dirty="0">
                <a:solidFill>
                  <a:srgbClr val="CC3300"/>
                </a:solidFill>
                <a:latin typeface="Arial" panose="020B0604020202020204" pitchFamily="34" charset="0"/>
                <a:cs typeface="Arial" panose="020B0604020202020204" pitchFamily="34" charset="0"/>
              </a:rPr>
              <a:t> </a:t>
            </a:r>
            <a:r>
              <a:rPr lang="en-US" altLang="en-US" sz="2000" dirty="0">
                <a:latin typeface="Arial" panose="020B0604020202020204" pitchFamily="34" charset="0"/>
                <a:cs typeface="Arial" panose="020B0604020202020204" pitchFamily="34" charset="0"/>
              </a:rPr>
              <a:t>(consistency): </a:t>
            </a:r>
            <a:r>
              <a:rPr lang="en-US" altLang="en-US" sz="2000" dirty="0" err="1">
                <a:latin typeface="Arial" panose="020B0604020202020204" pitchFamily="34" charset="0"/>
                <a:cs typeface="Arial" panose="020B0604020202020204" pitchFamily="34" charset="0"/>
              </a:rPr>
              <a:t>tất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giá</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trị</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dữ</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liệu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đều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được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biểu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diễn</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như</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nhau</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trong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tất</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cả</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các</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trường</a:t>
            </a:r>
            <a:r>
              <a:rPr lang="en-US" altLang="en-US" sz="2000" dirty="0">
                <a:latin typeface="Arial" panose="020B0604020202020204" pitchFamily="34" charset="0"/>
                <a:cs typeface="Arial" panose="020B0604020202020204" pitchFamily="34" charset="0"/>
              </a:rPr>
              <a:t> </a:t>
            </a:r>
            <a:r>
              <a:rPr lang="en-US" altLang="en-US" sz="2000" dirty="0" err="1">
                <a:latin typeface="Arial" panose="020B0604020202020204" pitchFamily="34" charset="0"/>
                <a:cs typeface="Arial" panose="020B0604020202020204" pitchFamily="34" charset="0"/>
              </a:rPr>
              <a:t>hợp</a:t>
            </a:r>
            <a:r>
              <a:rPr lang="en-US" altLang="en-US" sz="2000" dirty="0">
                <a:latin typeface="Arial" panose="020B0604020202020204" pitchFamily="34" charset="0"/>
                <a:cs typeface="Arial" panose="020B0604020202020204" pitchFamily="34" charset="0"/>
              </a:rPr>
              <a:t>.</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7"/>
          <p:cNvSpPr>
            <a:spLocks noGrp="1"/>
          </p:cNvSpPr>
          <p:nvPr>
            <p:ph type="sldNum" sz="quarter" idx="11"/>
          </p:nvPr>
        </p:nvSpPr>
        <p:spPr/>
        <p:txBody>
          <a:bodyPr/>
          <a:lstStyle/>
          <a:p>
            <a:fld id="{BDAE859F-43CC-4770-A779-161BF706CF81}" type="slidenum">
              <a:rPr lang="en-US" altLang="en-US"/>
              <a:pPr/>
              <a:t>5</a:t>
            </a:fld>
            <a:endParaRPr lang="en-US" altLang="en-US"/>
          </a:p>
        </p:txBody>
      </p:sp>
      <p:sp>
        <p:nvSpPr>
          <p:cNvPr id="663554" name="Rectangle 2"/>
          <p:cNvSpPr>
            <a:spLocks noGrp="1" noChangeArrowheads="1"/>
          </p:cNvSpPr>
          <p:nvPr>
            <p:ph type="title"/>
          </p:nvPr>
        </p:nvSpPr>
        <p:spPr>
          <a:xfrm>
            <a:off x="2362200" y="180543"/>
            <a:ext cx="7924800" cy="581458"/>
          </a:xfrm>
        </p:spPr>
        <p:txBody>
          <a:bodyPr/>
          <a:lstStyle/>
          <a:p>
            <a:r>
              <a:rPr lang="en-US" altLang="en-US" sz="2800"/>
              <a:t>2.1. Tổng quan về giai đoạn tiền xử lý dữ liệu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45" name="Slide Number Placeholder 5"/>
          <p:cNvSpPr>
            <a:spLocks noGrp="1"/>
          </p:cNvSpPr>
          <p:nvPr>
            <p:ph type="sldNum" sz="quarter" idx="11"/>
          </p:nvPr>
        </p:nvSpPr>
        <p:spPr/>
        <p:txBody>
          <a:bodyPr/>
          <a:lstStyle/>
          <a:p>
            <a:fld id="{8059028A-7D9F-4E61-9504-6C8EC790615D}" type="slidenum">
              <a:rPr lang="en-US" altLang="en-US"/>
              <a:pPr/>
              <a:t>6</a:t>
            </a:fld>
            <a:endParaRPr lang="en-US" altLang="en-US"/>
          </a:p>
        </p:txBody>
      </p:sp>
      <p:sp>
        <p:nvSpPr>
          <p:cNvPr id="659458" name="Rectangle 2"/>
          <p:cNvSpPr>
            <a:spLocks noGrp="1" noChangeArrowheads="1"/>
          </p:cNvSpPr>
          <p:nvPr>
            <p:ph type="title"/>
          </p:nvPr>
        </p:nvSpPr>
        <p:spPr>
          <a:xfrm>
            <a:off x="2362200" y="180543"/>
            <a:ext cx="7848600" cy="581458"/>
          </a:xfrm>
        </p:spPr>
        <p:txBody>
          <a:bodyPr/>
          <a:lstStyle/>
          <a:p>
            <a:r>
              <a:rPr lang="en-US" altLang="en-US" sz="2800">
                <a:latin typeface="Arial" panose="020B0604020202020204" pitchFamily="34" charset="0"/>
                <a:cs typeface="Arial" panose="020B0604020202020204" pitchFamily="34" charset="0"/>
              </a:rPr>
              <a:t>2.1. Tổng quan về giai đoạn tiền xử lý dữ liệu</a:t>
            </a:r>
          </a:p>
        </p:txBody>
      </p:sp>
      <p:sp>
        <p:nvSpPr>
          <p:cNvPr id="659461" name="Line 5"/>
          <p:cNvSpPr>
            <a:spLocks noChangeShapeType="1"/>
          </p:cNvSpPr>
          <p:nvPr/>
        </p:nvSpPr>
        <p:spPr bwMode="auto">
          <a:xfrm flipV="1">
            <a:off x="2828925" y="5003271"/>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2" name="Line 6"/>
          <p:cNvSpPr>
            <a:spLocks noChangeShapeType="1"/>
          </p:cNvSpPr>
          <p:nvPr/>
        </p:nvSpPr>
        <p:spPr bwMode="auto">
          <a:xfrm flipV="1">
            <a:off x="8391525" y="2082271"/>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3" name="Line 7"/>
          <p:cNvSpPr>
            <a:spLocks noChangeShapeType="1"/>
          </p:cNvSpPr>
          <p:nvPr/>
        </p:nvSpPr>
        <p:spPr bwMode="auto">
          <a:xfrm flipV="1">
            <a:off x="6715125" y="2971271"/>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4" name="Line 8"/>
          <p:cNvSpPr>
            <a:spLocks noChangeShapeType="1"/>
          </p:cNvSpPr>
          <p:nvPr/>
        </p:nvSpPr>
        <p:spPr bwMode="auto">
          <a:xfrm flipV="1">
            <a:off x="4886325" y="3860271"/>
            <a:ext cx="990600" cy="508000"/>
          </a:xfrm>
          <a:prstGeom prst="line">
            <a:avLst/>
          </a:prstGeom>
          <a:noFill/>
          <a:ln w="38100">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5" name="Oval 9"/>
          <p:cNvSpPr>
            <a:spLocks noChangeArrowheads="1"/>
          </p:cNvSpPr>
          <p:nvPr/>
        </p:nvSpPr>
        <p:spPr bwMode="auto">
          <a:xfrm>
            <a:off x="1838325" y="53842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6" name="Rectangle 10"/>
          <p:cNvSpPr>
            <a:spLocks noChangeArrowheads="1"/>
          </p:cNvSpPr>
          <p:nvPr/>
        </p:nvSpPr>
        <p:spPr bwMode="auto">
          <a:xfrm>
            <a:off x="1838325" y="5447773"/>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7" name="Oval 11"/>
          <p:cNvSpPr>
            <a:spLocks noChangeArrowheads="1"/>
          </p:cNvSpPr>
          <p:nvPr/>
        </p:nvSpPr>
        <p:spPr bwMode="auto">
          <a:xfrm>
            <a:off x="1838325" y="57017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8" name="Oval 12"/>
          <p:cNvSpPr>
            <a:spLocks noChangeArrowheads="1"/>
          </p:cNvSpPr>
          <p:nvPr/>
        </p:nvSpPr>
        <p:spPr bwMode="auto">
          <a:xfrm>
            <a:off x="2219325" y="57017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69" name="Rectangle 13"/>
          <p:cNvSpPr>
            <a:spLocks noChangeArrowheads="1"/>
          </p:cNvSpPr>
          <p:nvPr/>
        </p:nvSpPr>
        <p:spPr bwMode="auto">
          <a:xfrm>
            <a:off x="2219325" y="5765273"/>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70" name="Oval 14"/>
          <p:cNvSpPr>
            <a:spLocks noChangeArrowheads="1"/>
          </p:cNvSpPr>
          <p:nvPr/>
        </p:nvSpPr>
        <p:spPr bwMode="auto">
          <a:xfrm>
            <a:off x="2219325" y="60192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71" name="Oval 15"/>
          <p:cNvSpPr>
            <a:spLocks noChangeArrowheads="1"/>
          </p:cNvSpPr>
          <p:nvPr/>
        </p:nvSpPr>
        <p:spPr bwMode="auto">
          <a:xfrm>
            <a:off x="2905125" y="55112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72" name="Rectangle 16"/>
          <p:cNvSpPr>
            <a:spLocks noChangeArrowheads="1"/>
          </p:cNvSpPr>
          <p:nvPr/>
        </p:nvSpPr>
        <p:spPr bwMode="auto">
          <a:xfrm>
            <a:off x="2905125" y="5574773"/>
            <a:ext cx="685800" cy="338667"/>
          </a:xfrm>
          <a:prstGeom prst="rect">
            <a:avLst/>
          </a:prstGeom>
          <a:solidFill>
            <a:srgbClr val="00CC66"/>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73" name="Oval 17"/>
          <p:cNvSpPr>
            <a:spLocks noChangeArrowheads="1"/>
          </p:cNvSpPr>
          <p:nvPr/>
        </p:nvSpPr>
        <p:spPr bwMode="auto">
          <a:xfrm>
            <a:off x="2905125" y="5828771"/>
            <a:ext cx="685800" cy="127000"/>
          </a:xfrm>
          <a:prstGeom prst="ellipse">
            <a:avLst/>
          </a:prstGeom>
          <a:solidFill>
            <a:srgbClr val="00CC66"/>
          </a:solidFill>
          <a:ln w="12700">
            <a:solidFill>
              <a:schemeClr val="tx1"/>
            </a:solidFill>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74" name="Text Box 18"/>
          <p:cNvSpPr txBox="1">
            <a:spLocks noChangeArrowheads="1"/>
          </p:cNvSpPr>
          <p:nvPr/>
        </p:nvSpPr>
        <p:spPr bwMode="auto">
          <a:xfrm>
            <a:off x="1914525" y="4622273"/>
            <a:ext cx="1600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2400" b="1">
                <a:solidFill>
                  <a:srgbClr val="A50021"/>
                </a:solidFill>
                <a:effectLst>
                  <a:outerShdw blurRad="38100" dist="38100" dir="2700000" algn="tl">
                    <a:srgbClr val="C0C0C0"/>
                  </a:outerShdw>
                </a:effectLst>
                <a:latin typeface="Arial" pitchFamily="34" charset="0"/>
                <a:cs typeface="Arial" pitchFamily="34" charset="0"/>
              </a:rPr>
              <a:t>Làm sạch dữ liệu</a:t>
            </a:r>
          </a:p>
        </p:txBody>
      </p:sp>
      <p:sp>
        <p:nvSpPr>
          <p:cNvPr id="659475" name="Text Box 19"/>
          <p:cNvSpPr txBox="1">
            <a:spLocks noChangeArrowheads="1"/>
          </p:cNvSpPr>
          <p:nvPr/>
        </p:nvSpPr>
        <p:spPr bwMode="auto">
          <a:xfrm>
            <a:off x="3209928" y="5193773"/>
            <a:ext cx="235994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b="1">
                <a:solidFill>
                  <a:srgbClr val="A50021"/>
                </a:solidFill>
                <a:effectLst>
                  <a:outerShdw blurRad="38100" dist="38100" dir="2700000" algn="tl">
                    <a:srgbClr val="C0C0C0"/>
                  </a:outerShdw>
                </a:effectLst>
                <a:latin typeface="Times New Roman" pitchFamily="18" charset="0"/>
              </a:rPr>
              <a:t>Tích hợp dữ liệu</a:t>
            </a:r>
            <a:endParaRPr lang="en-US" altLang="en-US" sz="2000" b="1">
              <a:solidFill>
                <a:srgbClr val="A50021"/>
              </a:solidFill>
              <a:effectLst>
                <a:outerShdw blurRad="38100" dist="38100" dir="2700000" algn="tl">
                  <a:srgbClr val="C0C0C0"/>
                </a:outerShdw>
              </a:effectLst>
              <a:latin typeface="Times New Roman" pitchFamily="18" charset="0"/>
            </a:endParaRPr>
          </a:p>
        </p:txBody>
      </p:sp>
      <p:sp>
        <p:nvSpPr>
          <p:cNvPr id="659476" name="Text Box 20"/>
          <p:cNvSpPr txBox="1">
            <a:spLocks noChangeArrowheads="1"/>
          </p:cNvSpPr>
          <p:nvPr/>
        </p:nvSpPr>
        <p:spPr bwMode="auto">
          <a:xfrm>
            <a:off x="3117850" y="5917406"/>
            <a:ext cx="213360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b="1">
                <a:latin typeface="Times New Roman" pitchFamily="18" charset="0"/>
              </a:rPr>
              <a:t>Nguồn dữ liệu</a:t>
            </a:r>
          </a:p>
        </p:txBody>
      </p:sp>
      <p:sp>
        <p:nvSpPr>
          <p:cNvPr id="659477" name="Text Box 21"/>
          <p:cNvSpPr txBox="1">
            <a:spLocks noChangeArrowheads="1"/>
          </p:cNvSpPr>
          <p:nvPr/>
        </p:nvSpPr>
        <p:spPr bwMode="auto">
          <a:xfrm>
            <a:off x="2280601" y="4164542"/>
            <a:ext cx="1997075"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r>
              <a:rPr lang="en-US" altLang="en-US" sz="2000" b="1">
                <a:latin typeface="Times New Roman" pitchFamily="18" charset="0"/>
              </a:rPr>
              <a:t>Kho dữ liệu</a:t>
            </a:r>
          </a:p>
        </p:txBody>
      </p:sp>
      <p:sp>
        <p:nvSpPr>
          <p:cNvPr id="659478" name="Rectangle 22"/>
          <p:cNvSpPr>
            <a:spLocks noChangeArrowheads="1"/>
          </p:cNvSpPr>
          <p:nvPr/>
        </p:nvSpPr>
        <p:spPr bwMode="auto">
          <a:xfrm>
            <a:off x="3971925" y="4558771"/>
            <a:ext cx="685800" cy="571500"/>
          </a:xfrm>
          <a:prstGeom prst="rect">
            <a:avLst/>
          </a:prstGeom>
          <a:solidFill>
            <a:srgbClr val="00CC66"/>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00CC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latin typeface="Arial" panose="020B0604020202020204" pitchFamily="34" charset="0"/>
            </a:endParaRPr>
          </a:p>
        </p:txBody>
      </p:sp>
      <p:sp>
        <p:nvSpPr>
          <p:cNvPr id="659479" name="Rectangle 23"/>
          <p:cNvSpPr>
            <a:spLocks noChangeArrowheads="1"/>
          </p:cNvSpPr>
          <p:nvPr/>
        </p:nvSpPr>
        <p:spPr bwMode="auto">
          <a:xfrm>
            <a:off x="6029325" y="3606271"/>
            <a:ext cx="457200" cy="381000"/>
          </a:xfrm>
          <a:prstGeom prst="rect">
            <a:avLst/>
          </a:prstGeom>
          <a:solidFill>
            <a:srgbClr val="00CC66"/>
          </a:solidFill>
          <a:ln w="12700">
            <a:miter lim="800000"/>
            <a:headEnd type="none" w="sm" len="sm"/>
            <a:tailEnd type="none" w="sm" len="sm"/>
          </a:ln>
          <a:effectLst/>
          <a:scene3d>
            <a:camera prst="legacyObliqueTopRight"/>
            <a:lightRig rig="legacyFlat3" dir="b"/>
          </a:scene3d>
          <a:sp3d extrusionH="430200" prstMaterial="legacyMatte">
            <a:bevelT w="13500" h="13500" prst="angle"/>
            <a:bevelB w="13500" h="13500" prst="angle"/>
            <a:extrusionClr>
              <a:srgbClr val="00CC66"/>
            </a:extrusionClr>
          </a:sp3d>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en-US">
              <a:latin typeface="Arial" panose="020B0604020202020204" pitchFamily="34" charset="0"/>
            </a:endParaRPr>
          </a:p>
        </p:txBody>
      </p:sp>
      <p:sp>
        <p:nvSpPr>
          <p:cNvPr id="659480" name="Rectangle 24"/>
          <p:cNvSpPr>
            <a:spLocks noChangeArrowheads="1"/>
          </p:cNvSpPr>
          <p:nvPr/>
        </p:nvSpPr>
        <p:spPr bwMode="auto">
          <a:xfrm>
            <a:off x="8086725" y="2399771"/>
            <a:ext cx="76200" cy="508000"/>
          </a:xfrm>
          <a:prstGeom prst="rect">
            <a:avLst/>
          </a:prstGeom>
          <a:solidFill>
            <a:schemeClr val="hlink"/>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1" name="Rectangle 25"/>
          <p:cNvSpPr>
            <a:spLocks noChangeArrowheads="1"/>
          </p:cNvSpPr>
          <p:nvPr/>
        </p:nvSpPr>
        <p:spPr bwMode="auto">
          <a:xfrm>
            <a:off x="8162925" y="2590271"/>
            <a:ext cx="76200" cy="317500"/>
          </a:xfrm>
          <a:prstGeom prst="rect">
            <a:avLst/>
          </a:prstGeom>
          <a:solidFill>
            <a:schemeClr val="accent2"/>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2" name="Rectangle 26"/>
          <p:cNvSpPr>
            <a:spLocks noChangeArrowheads="1"/>
          </p:cNvSpPr>
          <p:nvPr/>
        </p:nvSpPr>
        <p:spPr bwMode="auto">
          <a:xfrm>
            <a:off x="8010525" y="2526771"/>
            <a:ext cx="76200" cy="3810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3" name="Rectangle 27"/>
          <p:cNvSpPr>
            <a:spLocks noChangeArrowheads="1"/>
          </p:cNvSpPr>
          <p:nvPr/>
        </p:nvSpPr>
        <p:spPr bwMode="auto">
          <a:xfrm>
            <a:off x="8239125" y="2717271"/>
            <a:ext cx="76200" cy="190500"/>
          </a:xfrm>
          <a:prstGeom prst="rect">
            <a:avLst/>
          </a:prstGeom>
          <a:solidFill>
            <a:schemeClr val="tx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4" name="Rectangle 28"/>
          <p:cNvSpPr>
            <a:spLocks noChangeArrowheads="1"/>
          </p:cNvSpPr>
          <p:nvPr/>
        </p:nvSpPr>
        <p:spPr bwMode="auto">
          <a:xfrm>
            <a:off x="7781925" y="2907771"/>
            <a:ext cx="685800" cy="63500"/>
          </a:xfrm>
          <a:prstGeom prst="rect">
            <a:avLst/>
          </a:prstGeom>
          <a:solidFill>
            <a:schemeClr val="accent1"/>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5" name="Rectangle 29"/>
          <p:cNvSpPr>
            <a:spLocks noChangeArrowheads="1"/>
          </p:cNvSpPr>
          <p:nvPr/>
        </p:nvSpPr>
        <p:spPr bwMode="auto">
          <a:xfrm>
            <a:off x="7858125" y="2717271"/>
            <a:ext cx="152400" cy="190500"/>
          </a:xfrm>
          <a:prstGeom prst="rect">
            <a:avLst/>
          </a:prstGeom>
          <a:solidFill>
            <a:srgbClr val="FF99FF"/>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86" name="WordArt 30"/>
          <p:cNvSpPr>
            <a:spLocks noChangeArrowheads="1" noChangeShapeType="1" noTextEdit="1"/>
          </p:cNvSpPr>
          <p:nvPr/>
        </p:nvSpPr>
        <p:spPr bwMode="auto">
          <a:xfrm>
            <a:off x="8686803" y="1574271"/>
            <a:ext cx="1743075" cy="447146"/>
          </a:xfrm>
          <a:prstGeom prst="rect">
            <a:avLst/>
          </a:prstGeom>
          <a:extLst>
            <a:ext uri="{AF507438-7753-43E0-B8FC-AC1667EBCBE1}">
              <a14:hiddenEffects xmlns:a14="http://schemas.microsoft.com/office/drawing/2010/main">
                <a:effectLst/>
              </a14:hiddenEffects>
            </a:ext>
          </a:extLst>
        </p:spPr>
        <p:txBody>
          <a:bodyPr wrap="none" fromWordArt="1">
            <a:prstTxWarp prst="textCascadeUp">
              <a:avLst>
                <a:gd name="adj" fmla="val 44444"/>
              </a:avLst>
            </a:prstTxWarp>
            <a:scene3d>
              <a:camera prst="legacyPerspectiveFront">
                <a:rot lat="20519999" lon="1080000" rev="0"/>
              </a:camera>
              <a:lightRig rig="legacyHarsh2" dir="b"/>
            </a:scene3d>
            <a:sp3d extrusionH="430200" prstMaterial="legacyMatte">
              <a:extrusionClr>
                <a:srgbClr val="FF6600"/>
              </a:extrusionClr>
            </a:sp3d>
          </a:bodyPr>
          <a:lstStyle/>
          <a:p>
            <a:pPr algn="ctr"/>
            <a:r>
              <a:rPr lang="en-US" sz="2800" kern="10">
                <a:ln w="9525">
                  <a:round/>
                  <a:headEnd type="none" w="sm" len="sm"/>
                  <a:tailEnd type="none" w="sm" len="sm"/>
                </a:ln>
                <a:gradFill rotWithShape="0">
                  <a:gsLst>
                    <a:gs pos="0">
                      <a:srgbClr val="FFE701"/>
                    </a:gs>
                    <a:gs pos="100000">
                      <a:srgbClr val="FE3E02"/>
                    </a:gs>
                  </a:gsLst>
                  <a:lin ang="5400000" scaled="1"/>
                </a:gradFill>
                <a:latin typeface="Impact"/>
              </a:rPr>
              <a:t>Tri thức</a:t>
            </a:r>
          </a:p>
        </p:txBody>
      </p:sp>
      <p:sp>
        <p:nvSpPr>
          <p:cNvPr id="659487" name="Text Box 31"/>
          <p:cNvSpPr txBox="1">
            <a:spLocks noChangeArrowheads="1"/>
          </p:cNvSpPr>
          <p:nvPr/>
        </p:nvSpPr>
        <p:spPr bwMode="auto">
          <a:xfrm>
            <a:off x="3324228" y="3272846"/>
            <a:ext cx="277191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b="1">
                <a:latin typeface="Times New Roman" pitchFamily="18" charset="0"/>
              </a:rPr>
              <a:t>Dữ liệu được khám phá</a:t>
            </a:r>
          </a:p>
        </p:txBody>
      </p:sp>
      <p:sp>
        <p:nvSpPr>
          <p:cNvPr id="659488" name="Text Box 32"/>
          <p:cNvSpPr txBox="1">
            <a:spLocks noChangeArrowheads="1"/>
          </p:cNvSpPr>
          <p:nvPr/>
        </p:nvSpPr>
        <p:spPr bwMode="auto">
          <a:xfrm>
            <a:off x="5251450" y="4050773"/>
            <a:ext cx="35141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400" b="1">
                <a:solidFill>
                  <a:srgbClr val="A50021"/>
                </a:solidFill>
                <a:effectLst>
                  <a:outerShdw blurRad="38100" dist="38100" dir="2700000" algn="tl">
                    <a:srgbClr val="C0C0C0"/>
                  </a:outerShdw>
                </a:effectLst>
                <a:latin typeface="Times New Roman" pitchFamily="18" charset="0"/>
              </a:rPr>
              <a:t>Chọn lọc/Biến đổi dữ liệu</a:t>
            </a:r>
          </a:p>
        </p:txBody>
      </p:sp>
      <p:sp>
        <p:nvSpPr>
          <p:cNvPr id="659489" name="Text Box 33"/>
          <p:cNvSpPr txBox="1">
            <a:spLocks noChangeArrowheads="1"/>
          </p:cNvSpPr>
          <p:nvPr/>
        </p:nvSpPr>
        <p:spPr bwMode="auto">
          <a:xfrm>
            <a:off x="5060321" y="2586552"/>
            <a:ext cx="2645404"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r>
              <a:rPr lang="en-US" altLang="en-US" sz="2400" b="1">
                <a:latin typeface="Times New Roman" pitchFamily="18" charset="0"/>
              </a:rPr>
              <a:t>Khám phá dữ liệu</a:t>
            </a:r>
          </a:p>
        </p:txBody>
      </p:sp>
      <p:sp>
        <p:nvSpPr>
          <p:cNvPr id="659490" name="Text Box 34"/>
          <p:cNvSpPr txBox="1">
            <a:spLocks noChangeArrowheads="1"/>
          </p:cNvSpPr>
          <p:nvPr/>
        </p:nvSpPr>
        <p:spPr bwMode="auto">
          <a:xfrm>
            <a:off x="5486403" y="1778002"/>
            <a:ext cx="329247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r" eaLnBrk="1" hangingPunct="1"/>
            <a:r>
              <a:rPr lang="en-US" altLang="en-US" sz="2400" b="1">
                <a:latin typeface="Times New Roman" pitchFamily="18" charset="0"/>
              </a:rPr>
              <a:t>Đánh giá/</a:t>
            </a:r>
          </a:p>
          <a:p>
            <a:pPr algn="r" eaLnBrk="1" hangingPunct="1"/>
            <a:r>
              <a:rPr lang="en-US" altLang="en-US" sz="2400" b="1">
                <a:latin typeface="Times New Roman" pitchFamily="18" charset="0"/>
              </a:rPr>
              <a:t>Biểu diễn thông tin</a:t>
            </a:r>
          </a:p>
        </p:txBody>
      </p:sp>
      <p:sp>
        <p:nvSpPr>
          <p:cNvPr id="659491" name="Line 35"/>
          <p:cNvSpPr>
            <a:spLocks noChangeShapeType="1"/>
          </p:cNvSpPr>
          <p:nvPr/>
        </p:nvSpPr>
        <p:spPr bwMode="auto">
          <a:xfrm>
            <a:off x="7248525" y="3352271"/>
            <a:ext cx="0" cy="17780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2" name="Line 36"/>
          <p:cNvSpPr>
            <a:spLocks noChangeShapeType="1"/>
          </p:cNvSpPr>
          <p:nvPr/>
        </p:nvSpPr>
        <p:spPr bwMode="auto">
          <a:xfrm>
            <a:off x="8924925" y="2463271"/>
            <a:ext cx="0" cy="2667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3" name="Line 37"/>
          <p:cNvSpPr>
            <a:spLocks noChangeShapeType="1"/>
          </p:cNvSpPr>
          <p:nvPr/>
        </p:nvSpPr>
        <p:spPr bwMode="auto">
          <a:xfrm flipH="1">
            <a:off x="5572125" y="5130271"/>
            <a:ext cx="3352800"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4" name="Line 38"/>
          <p:cNvSpPr>
            <a:spLocks noChangeShapeType="1"/>
          </p:cNvSpPr>
          <p:nvPr/>
        </p:nvSpPr>
        <p:spPr bwMode="auto">
          <a:xfrm flipV="1">
            <a:off x="5572125" y="4368271"/>
            <a:ext cx="0" cy="76200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5" name="Line 39"/>
          <p:cNvSpPr>
            <a:spLocks noChangeShapeType="1"/>
          </p:cNvSpPr>
          <p:nvPr/>
        </p:nvSpPr>
        <p:spPr bwMode="auto">
          <a:xfrm>
            <a:off x="8924925" y="5130271"/>
            <a:ext cx="0" cy="69850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6" name="Line 40"/>
          <p:cNvSpPr>
            <a:spLocks noChangeShapeType="1"/>
          </p:cNvSpPr>
          <p:nvPr/>
        </p:nvSpPr>
        <p:spPr bwMode="auto">
          <a:xfrm flipH="1">
            <a:off x="3895725" y="5828771"/>
            <a:ext cx="5029200" cy="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7" name="Line 41"/>
          <p:cNvSpPr>
            <a:spLocks noChangeShapeType="1"/>
          </p:cNvSpPr>
          <p:nvPr/>
        </p:nvSpPr>
        <p:spPr bwMode="auto">
          <a:xfrm flipH="1" flipV="1">
            <a:off x="3514725" y="5257271"/>
            <a:ext cx="381000" cy="571500"/>
          </a:xfrm>
          <a:prstGeom prst="line">
            <a:avLst/>
          </a:prstGeom>
          <a:noFill/>
          <a:ln w="38100">
            <a:solidFill>
              <a:schemeClr val="tx1"/>
            </a:solidFill>
            <a:prstDash val="sysDot"/>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659498" name="Line 42"/>
          <p:cNvSpPr>
            <a:spLocks noChangeShapeType="1"/>
          </p:cNvSpPr>
          <p:nvPr/>
        </p:nvSpPr>
        <p:spPr bwMode="auto">
          <a:xfrm>
            <a:off x="3667125" y="5257271"/>
            <a:ext cx="1600200" cy="0"/>
          </a:xfrm>
          <a:prstGeom prst="line">
            <a:avLst/>
          </a:prstGeom>
          <a:noFill/>
          <a:ln w="28575">
            <a:solidFill>
              <a:schemeClr val="tx1"/>
            </a:solidFill>
            <a:prstDash val="dash"/>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Arial" panose="020B0604020202020204" pitchFamily="34" charset="0"/>
            </a:endParaRPr>
          </a:p>
        </p:txBody>
      </p:sp>
      <p:sp>
        <p:nvSpPr>
          <p:cNvPr id="659499" name="Line 43"/>
          <p:cNvSpPr>
            <a:spLocks noChangeShapeType="1"/>
          </p:cNvSpPr>
          <p:nvPr/>
        </p:nvSpPr>
        <p:spPr bwMode="auto">
          <a:xfrm flipV="1">
            <a:off x="5267325" y="4241271"/>
            <a:ext cx="0" cy="1016000"/>
          </a:xfrm>
          <a:prstGeom prst="line">
            <a:avLst/>
          </a:prstGeom>
          <a:noFill/>
          <a:ln w="28575">
            <a:solidFill>
              <a:schemeClr val="tx1"/>
            </a:solidFill>
            <a:prstDash val="dash"/>
            <a:miter lim="800000"/>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latin typeface="Arial" panose="020B0604020202020204" pitchFamily="34" charset="0"/>
            </a:endParaRPr>
          </a:p>
        </p:txBody>
      </p:sp>
      <p:sp>
        <p:nvSpPr>
          <p:cNvPr id="659500" name="Text Box 44"/>
          <p:cNvSpPr txBox="1">
            <a:spLocks noChangeArrowheads="1"/>
          </p:cNvSpPr>
          <p:nvPr/>
        </p:nvSpPr>
        <p:spPr bwMode="auto">
          <a:xfrm>
            <a:off x="7696200" y="2907771"/>
            <a:ext cx="176362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r>
              <a:rPr lang="en-US" altLang="en-US" sz="2000" b="1">
                <a:latin typeface="Times New Roman" pitchFamily="18" charset="0"/>
              </a:rPr>
              <a:t>Lực chon mẫu</a:t>
            </a:r>
          </a:p>
        </p:txBody>
      </p:sp>
    </p:spTree>
    <p:extLst>
      <p:ext uri="{BB962C8B-B14F-4D97-AF65-F5344CB8AC3E}">
        <p14:creationId xmlns:p14="http://schemas.microsoft.com/office/powerpoint/2010/main" val="3216609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6389"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505200" y="1335458"/>
            <a:ext cx="4800600" cy="5163725"/>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8E1C044F-E24F-404F-B9A1-2C1C3544306F}" type="slidenum">
              <a:rPr lang="en-US" altLang="en-US"/>
              <a:pPr/>
              <a:t>7</a:t>
            </a:fld>
            <a:endParaRPr lang="en-US" altLang="en-US"/>
          </a:p>
        </p:txBody>
      </p:sp>
      <p:sp>
        <p:nvSpPr>
          <p:cNvPr id="656386" name="Rectangle 2"/>
          <p:cNvSpPr>
            <a:spLocks noGrp="1" noChangeArrowheads="1"/>
          </p:cNvSpPr>
          <p:nvPr>
            <p:ph type="title"/>
          </p:nvPr>
        </p:nvSpPr>
        <p:spPr>
          <a:xfrm>
            <a:off x="2362200" y="180543"/>
            <a:ext cx="8077200" cy="581458"/>
          </a:xfrm>
        </p:spPr>
        <p:txBody>
          <a:bodyPr/>
          <a:lstStyle/>
          <a:p>
            <a:r>
              <a:rPr lang="en-US" altLang="en-US" sz="2800">
                <a:latin typeface="Arial" panose="020B0604020202020204" pitchFamily="34" charset="0"/>
                <a:cs typeface="Arial" panose="020B0604020202020204" pitchFamily="34" charset="0"/>
              </a:rPr>
              <a:t>2.1. Tổng quan về giai đoạn tiền xử lý dữ liệu</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1" name="Rectangle 3"/>
          <p:cNvSpPr>
            <a:spLocks noGrp="1" noChangeArrowheads="1"/>
          </p:cNvSpPr>
          <p:nvPr>
            <p:ph idx="1"/>
          </p:nvPr>
        </p:nvSpPr>
        <p:spPr>
          <a:ln w="3175">
            <a:noFill/>
          </a:ln>
        </p:spPr>
        <p:style>
          <a:lnRef idx="2">
            <a:schemeClr val="accent1"/>
          </a:lnRef>
          <a:fillRef idx="1">
            <a:schemeClr val="lt1"/>
          </a:fillRef>
          <a:effectRef idx="0">
            <a:schemeClr val="accent1"/>
          </a:effectRef>
          <a:fontRef idx="minor">
            <a:schemeClr val="dk1"/>
          </a:fontRef>
        </p:style>
        <p:txBody>
          <a:bodyPr/>
          <a:lstStyle/>
          <a:p>
            <a:pPr>
              <a:spcBef>
                <a:spcPct val="60000"/>
              </a:spcBef>
              <a:buFont typeface="Wingdings" panose="05000000000000000000" pitchFamily="2" charset="2"/>
              <a:buChar char="v"/>
            </a:pPr>
            <a:r>
              <a:rPr lang="en-US" altLang="en-US" sz="2000">
                <a:latin typeface="Arial" panose="020B0604020202020204" pitchFamily="34" charset="0"/>
                <a:cs typeface="Arial" panose="020B0604020202020204" pitchFamily="34" charset="0"/>
              </a:rPr>
              <a:t>Các kỹ thuật tiền xử lý dữ liệu</a:t>
            </a:r>
          </a:p>
          <a:p>
            <a:pPr lvl="1">
              <a:spcBef>
                <a:spcPct val="60000"/>
              </a:spcBef>
            </a:pPr>
            <a:r>
              <a:rPr lang="en-US" altLang="en-US" sz="1800" b="1">
                <a:solidFill>
                  <a:srgbClr val="CC3300"/>
                </a:solidFill>
                <a:latin typeface="Arial" panose="020B0604020202020204" pitchFamily="34" charset="0"/>
                <a:cs typeface="Arial" panose="020B0604020202020204" pitchFamily="34" charset="0"/>
              </a:rPr>
              <a:t>Làm sạch dữ liệu </a:t>
            </a:r>
            <a:r>
              <a:rPr lang="en-US" altLang="en-US" sz="1800">
                <a:latin typeface="Arial" panose="020B0604020202020204" pitchFamily="34" charset="0"/>
                <a:cs typeface="Arial" panose="020B0604020202020204" pitchFamily="34" charset="0"/>
              </a:rPr>
              <a:t>(data cleaning/cleansing): loại bỏ nhiễu (remove noise), hiệu chỉnh những phần dữ liệu không nhất quán (correct data inconsistencies)</a:t>
            </a:r>
          </a:p>
          <a:p>
            <a:pPr lvl="1">
              <a:spcBef>
                <a:spcPct val="60000"/>
              </a:spcBef>
            </a:pPr>
            <a:r>
              <a:rPr lang="en-US" altLang="en-US" sz="1800" b="1">
                <a:solidFill>
                  <a:srgbClr val="CC3300"/>
                </a:solidFill>
                <a:latin typeface="Arial" panose="020B0604020202020204" pitchFamily="34" charset="0"/>
                <a:cs typeface="Arial" panose="020B0604020202020204" pitchFamily="34" charset="0"/>
              </a:rPr>
              <a:t>Tích hợp dữ liệu </a:t>
            </a:r>
            <a:r>
              <a:rPr lang="en-US" altLang="en-US" sz="1800">
                <a:latin typeface="Arial" panose="020B0604020202020204" pitchFamily="34" charset="0"/>
                <a:cs typeface="Arial" panose="020B0604020202020204" pitchFamily="34" charset="0"/>
              </a:rPr>
              <a:t>(data integration): trộn dữ liệu (merge data) từ nhiều nguồn khác nhau vào một kho dữ liệu</a:t>
            </a:r>
          </a:p>
          <a:p>
            <a:pPr lvl="1">
              <a:spcBef>
                <a:spcPct val="60000"/>
              </a:spcBef>
            </a:pPr>
            <a:r>
              <a:rPr lang="en-US" altLang="en-US" sz="1800" b="1">
                <a:solidFill>
                  <a:srgbClr val="CC3300"/>
                </a:solidFill>
                <a:latin typeface="Arial" panose="020B0604020202020204" pitchFamily="34" charset="0"/>
                <a:cs typeface="Arial" panose="020B0604020202020204" pitchFamily="34" charset="0"/>
              </a:rPr>
              <a:t>Biến đổi dữ liệu </a:t>
            </a:r>
            <a:r>
              <a:rPr lang="en-US" altLang="en-US" sz="1800">
                <a:latin typeface="Arial" panose="020B0604020202020204" pitchFamily="34" charset="0"/>
                <a:cs typeface="Arial" panose="020B0604020202020204" pitchFamily="34" charset="0"/>
              </a:rPr>
              <a:t>(data transformation): chuẩn hoá dữ liệu (data normalization)</a:t>
            </a:r>
          </a:p>
          <a:p>
            <a:pPr lvl="1">
              <a:spcBef>
                <a:spcPct val="60000"/>
              </a:spcBef>
            </a:pPr>
            <a:r>
              <a:rPr lang="en-US" altLang="en-US" sz="1800" b="1">
                <a:solidFill>
                  <a:srgbClr val="CC3300"/>
                </a:solidFill>
                <a:latin typeface="Arial" panose="020B0604020202020204" pitchFamily="34" charset="0"/>
                <a:cs typeface="Arial" panose="020B0604020202020204" pitchFamily="34" charset="0"/>
              </a:rPr>
              <a:t>Thu giảm dữ liệu </a:t>
            </a:r>
            <a:r>
              <a:rPr lang="en-US" altLang="en-US" sz="1800">
                <a:latin typeface="Arial" panose="020B0604020202020204" pitchFamily="34" charset="0"/>
                <a:cs typeface="Arial" panose="020B0604020202020204" pitchFamily="34" charset="0"/>
              </a:rPr>
              <a:t>(data reduction): thu giảm kích thước dữ liệu (nghĩa là giảm số phần tử) bằng kết hợp dữ liệu (data aggregation), loại bỏ các đặc điểm dư thừa (redundant features) (nghĩa là giảm số chiều/thuộc tính dữ liệu), gom cụm dữ liệu</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3E20322A-6A45-49D5-9546-05128A4E8F49}" type="slidenum">
              <a:rPr lang="en-US" altLang="en-US"/>
              <a:pPr/>
              <a:t>8</a:t>
            </a:fld>
            <a:endParaRPr lang="en-US" altLang="en-US"/>
          </a:p>
        </p:txBody>
      </p:sp>
      <p:sp>
        <p:nvSpPr>
          <p:cNvPr id="652290" name="Rectangle 2"/>
          <p:cNvSpPr>
            <a:spLocks noGrp="1" noChangeArrowheads="1"/>
          </p:cNvSpPr>
          <p:nvPr>
            <p:ph type="title"/>
          </p:nvPr>
        </p:nvSpPr>
        <p:spPr/>
        <p:txBody>
          <a:bodyPr/>
          <a:lstStyle/>
          <a:p>
            <a:r>
              <a:rPr lang="en-US" altLang="en-US"/>
              <a:t>2.1. Tổng quan về giai đoạn tiền xử lý dữ liệu</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9"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60000"/>
              </a:spcBef>
              <a:buFont typeface="Wingdings" panose="05000000000000000000" pitchFamily="2" charset="2"/>
              <a:buChar char="v"/>
            </a:pPr>
            <a:r>
              <a:rPr lang="en-US" altLang="en-US" sz="1600">
                <a:latin typeface="Arial" panose="020B0604020202020204" pitchFamily="34" charset="0"/>
                <a:cs typeface="Arial" panose="020B0604020202020204" pitchFamily="34" charset="0"/>
              </a:rPr>
              <a:t>Các kỹ thuật tiền xử lý dữ liệu</a:t>
            </a:r>
          </a:p>
          <a:p>
            <a:pPr lvl="1">
              <a:spcBef>
                <a:spcPct val="60000"/>
              </a:spcBef>
            </a:pPr>
            <a:r>
              <a:rPr lang="en-US" altLang="en-US" sz="1600">
                <a:solidFill>
                  <a:srgbClr val="CC3300"/>
                </a:solidFill>
                <a:latin typeface="Arial" panose="020B0604020202020204" pitchFamily="34" charset="0"/>
                <a:cs typeface="Arial" panose="020B0604020202020204" pitchFamily="34" charset="0"/>
              </a:rPr>
              <a:t>Làm sạch dữ liệu </a:t>
            </a:r>
            <a:r>
              <a:rPr lang="en-US" altLang="en-US" sz="1600">
                <a:latin typeface="Arial" panose="020B0604020202020204" pitchFamily="34" charset="0"/>
                <a:cs typeface="Arial" panose="020B0604020202020204" pitchFamily="34" charset="0"/>
              </a:rPr>
              <a:t>(data cleaning/cleansing)</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Tóm tắt hoá dữ liệu: nhận diện đặc điểm chung của dữ liệu và sự hiện diện của nhiễu hoặc các phần tử kì dị (outliers)</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Xử lý dữ liệu bị thiếu (missing data)</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Xử lý dữ liệu bị nhiễu (noisy data)</a:t>
            </a:r>
          </a:p>
          <a:p>
            <a:pPr lvl="1">
              <a:spcBef>
                <a:spcPct val="60000"/>
              </a:spcBef>
            </a:pPr>
            <a:r>
              <a:rPr lang="en-US" altLang="en-US" sz="1600">
                <a:solidFill>
                  <a:srgbClr val="CC3300"/>
                </a:solidFill>
                <a:latin typeface="Arial" panose="020B0604020202020204" pitchFamily="34" charset="0"/>
                <a:cs typeface="Arial" panose="020B0604020202020204" pitchFamily="34" charset="0"/>
              </a:rPr>
              <a:t>Tích hợp dữ liệu </a:t>
            </a:r>
            <a:r>
              <a:rPr lang="en-US" altLang="en-US" sz="1600">
                <a:latin typeface="Arial" panose="020B0604020202020204" pitchFamily="34" charset="0"/>
                <a:cs typeface="Arial" panose="020B0604020202020204" pitchFamily="34" charset="0"/>
              </a:rPr>
              <a:t>(data integration)</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Tích hợp lược đồ (schema integration) và so trùng đối tượng (object matching)</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Vấn đề dư thừa (redundancy)</a:t>
            </a:r>
          </a:p>
          <a:p>
            <a:pPr lvl="2">
              <a:spcBef>
                <a:spcPct val="60000"/>
              </a:spcBef>
              <a:buFont typeface="Wingdings" panose="05000000000000000000" pitchFamily="2" charset="2"/>
              <a:buChar char="Ø"/>
            </a:pPr>
            <a:r>
              <a:rPr lang="en-US" altLang="en-US" sz="1600">
                <a:latin typeface="Arial" panose="020B0604020202020204" pitchFamily="34" charset="0"/>
                <a:cs typeface="Arial" panose="020B0604020202020204" pitchFamily="34" charset="0"/>
              </a:rPr>
              <a:t>Phát hiện và xử lý mâu thuẫn giá trị dữ liệu (detection and resolution of data value conflicts)</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628C3A11-0B98-470E-94B2-846AAA96A05F}" type="slidenum">
              <a:rPr lang="en-US" altLang="en-US"/>
              <a:pPr/>
              <a:t>9</a:t>
            </a:fld>
            <a:endParaRPr lang="en-US" altLang="en-US"/>
          </a:p>
        </p:txBody>
      </p:sp>
      <p:sp>
        <p:nvSpPr>
          <p:cNvPr id="654338"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2.1. Tổng quan về giai đoạn tiền xử lý dữ liệu</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7"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lnSpc>
                <a:spcPct val="90000"/>
              </a:lnSpc>
              <a:spcBef>
                <a:spcPct val="60000"/>
              </a:spcBef>
              <a:buFont typeface="Wingdings" panose="05000000000000000000" pitchFamily="2" charset="2"/>
              <a:buChar char="v"/>
            </a:pPr>
            <a:r>
              <a:rPr lang="en-US" altLang="en-US" sz="1600">
                <a:latin typeface="Arial" panose="020B0604020202020204" pitchFamily="34" charset="0"/>
                <a:cs typeface="Arial" panose="020B0604020202020204" pitchFamily="34" charset="0"/>
              </a:rPr>
              <a:t>Các kỹ thuật tiền xử lý dữ liệu</a:t>
            </a:r>
          </a:p>
          <a:p>
            <a:pPr lvl="1">
              <a:lnSpc>
                <a:spcPct val="90000"/>
              </a:lnSpc>
              <a:spcBef>
                <a:spcPct val="60000"/>
              </a:spcBef>
            </a:pPr>
            <a:r>
              <a:rPr lang="en-US" altLang="en-US" sz="1600">
                <a:solidFill>
                  <a:srgbClr val="CC3300"/>
                </a:solidFill>
                <a:latin typeface="Arial" panose="020B0604020202020204" pitchFamily="34" charset="0"/>
                <a:cs typeface="Arial" panose="020B0604020202020204" pitchFamily="34" charset="0"/>
              </a:rPr>
              <a:t>Biến đổi dữ liệu </a:t>
            </a:r>
            <a:r>
              <a:rPr lang="en-US" altLang="en-US" sz="1600">
                <a:latin typeface="Arial" panose="020B0604020202020204" pitchFamily="34" charset="0"/>
                <a:cs typeface="Arial" panose="020B0604020202020204" pitchFamily="34" charset="0"/>
              </a:rPr>
              <a:t>(data transformation)</a:t>
            </a:r>
          </a:p>
          <a:p>
            <a:pPr lvl="2">
              <a:lnSpc>
                <a:spcPct val="90000"/>
              </a:lnSpc>
              <a:spcBef>
                <a:spcPct val="60000"/>
              </a:spcBef>
            </a:pPr>
            <a:r>
              <a:rPr lang="en-US" altLang="en-US" sz="1600">
                <a:latin typeface="Arial" panose="020B0604020202020204" pitchFamily="34" charset="0"/>
                <a:cs typeface="Arial" panose="020B0604020202020204" pitchFamily="34" charset="0"/>
              </a:rPr>
              <a:t>Làm mịn dữ liệu (smoothing)</a:t>
            </a:r>
          </a:p>
          <a:p>
            <a:pPr lvl="2">
              <a:lnSpc>
                <a:spcPct val="90000"/>
              </a:lnSpc>
              <a:spcBef>
                <a:spcPct val="60000"/>
              </a:spcBef>
            </a:pPr>
            <a:r>
              <a:rPr lang="en-US" altLang="en-US" sz="1600">
                <a:latin typeface="Arial" panose="020B0604020202020204" pitchFamily="34" charset="0"/>
                <a:cs typeface="Arial" panose="020B0604020202020204" pitchFamily="34" charset="0"/>
              </a:rPr>
              <a:t>Kết hợp dữ liệu (aggregation)</a:t>
            </a:r>
          </a:p>
          <a:p>
            <a:pPr lvl="2">
              <a:lnSpc>
                <a:spcPct val="90000"/>
              </a:lnSpc>
              <a:spcBef>
                <a:spcPct val="60000"/>
              </a:spcBef>
            </a:pPr>
            <a:r>
              <a:rPr lang="en-US" altLang="en-US" sz="1600">
                <a:latin typeface="Arial" panose="020B0604020202020204" pitchFamily="34" charset="0"/>
                <a:cs typeface="Arial" panose="020B0604020202020204" pitchFamily="34" charset="0"/>
              </a:rPr>
              <a:t>Tổng quát hóa dữ liệu (generalization)</a:t>
            </a:r>
          </a:p>
          <a:p>
            <a:pPr lvl="2">
              <a:lnSpc>
                <a:spcPct val="90000"/>
              </a:lnSpc>
              <a:spcBef>
                <a:spcPct val="60000"/>
              </a:spcBef>
            </a:pPr>
            <a:r>
              <a:rPr lang="en-US" altLang="en-US" sz="1600">
                <a:latin typeface="Arial" panose="020B0604020202020204" pitchFamily="34" charset="0"/>
                <a:cs typeface="Arial" panose="020B0604020202020204" pitchFamily="34" charset="0"/>
              </a:rPr>
              <a:t>Chuẩn hóa dữ liệu (normalization)</a:t>
            </a:r>
          </a:p>
          <a:p>
            <a:pPr lvl="2">
              <a:lnSpc>
                <a:spcPct val="90000"/>
              </a:lnSpc>
              <a:spcBef>
                <a:spcPct val="60000"/>
              </a:spcBef>
            </a:pPr>
            <a:r>
              <a:rPr lang="en-US" altLang="en-US" sz="1600">
                <a:latin typeface="Arial" panose="020B0604020202020204" pitchFamily="34" charset="0"/>
                <a:cs typeface="Arial" panose="020B0604020202020204" pitchFamily="34" charset="0"/>
              </a:rPr>
              <a:t>Xây dựng thuộc tích (attribute/feature construction)</a:t>
            </a:r>
          </a:p>
          <a:p>
            <a:pPr lvl="1">
              <a:lnSpc>
                <a:spcPct val="90000"/>
              </a:lnSpc>
              <a:spcBef>
                <a:spcPct val="60000"/>
              </a:spcBef>
            </a:pPr>
            <a:r>
              <a:rPr lang="en-US" altLang="en-US" sz="1600">
                <a:solidFill>
                  <a:srgbClr val="CC3300"/>
                </a:solidFill>
                <a:latin typeface="Arial" panose="020B0604020202020204" pitchFamily="34" charset="0"/>
                <a:cs typeface="Arial" panose="020B0604020202020204" pitchFamily="34" charset="0"/>
              </a:rPr>
              <a:t>Thu giảm dữ liệu </a:t>
            </a:r>
            <a:r>
              <a:rPr lang="en-US" altLang="en-US" sz="1600">
                <a:latin typeface="Arial" panose="020B0604020202020204" pitchFamily="34" charset="0"/>
                <a:cs typeface="Arial" panose="020B0604020202020204" pitchFamily="34" charset="0"/>
              </a:rPr>
              <a:t>(data reduction)</a:t>
            </a:r>
          </a:p>
          <a:p>
            <a:pPr lvl="2">
              <a:lnSpc>
                <a:spcPct val="90000"/>
              </a:lnSpc>
              <a:spcBef>
                <a:spcPct val="60000"/>
              </a:spcBef>
            </a:pPr>
            <a:r>
              <a:rPr lang="en-US" altLang="en-US" sz="1600">
                <a:latin typeface="Arial" panose="020B0604020202020204" pitchFamily="34" charset="0"/>
                <a:cs typeface="Arial" panose="020B0604020202020204" pitchFamily="34" charset="0"/>
              </a:rPr>
              <a:t>Kết hợp khối dữ liệu (data cube aggregation)</a:t>
            </a:r>
          </a:p>
          <a:p>
            <a:pPr lvl="2">
              <a:lnSpc>
                <a:spcPct val="90000"/>
              </a:lnSpc>
              <a:spcBef>
                <a:spcPct val="60000"/>
              </a:spcBef>
            </a:pPr>
            <a:r>
              <a:rPr lang="en-US" altLang="en-US" sz="1600">
                <a:latin typeface="Arial" panose="020B0604020202020204" pitchFamily="34" charset="0"/>
                <a:cs typeface="Arial" panose="020B0604020202020204" pitchFamily="34" charset="0"/>
              </a:rPr>
              <a:t>Chọn tập con các thuộc tính (attribute subset selection)</a:t>
            </a:r>
          </a:p>
          <a:p>
            <a:pPr lvl="2">
              <a:lnSpc>
                <a:spcPct val="90000"/>
              </a:lnSpc>
              <a:spcBef>
                <a:spcPct val="60000"/>
              </a:spcBef>
            </a:pPr>
            <a:r>
              <a:rPr lang="en-US" altLang="en-US" sz="1600">
                <a:latin typeface="Arial" panose="020B0604020202020204" pitchFamily="34" charset="0"/>
                <a:cs typeface="Arial" panose="020B0604020202020204" pitchFamily="34" charset="0"/>
              </a:rPr>
              <a:t>Thu giảm chiều (dimensionality reduction)</a:t>
            </a:r>
          </a:p>
          <a:p>
            <a:pPr lvl="2">
              <a:lnSpc>
                <a:spcPct val="90000"/>
              </a:lnSpc>
              <a:spcBef>
                <a:spcPct val="60000"/>
              </a:spcBef>
            </a:pPr>
            <a:r>
              <a:rPr lang="en-US" altLang="en-US" sz="1600">
                <a:latin typeface="Arial" panose="020B0604020202020204" pitchFamily="34" charset="0"/>
                <a:cs typeface="Arial" panose="020B0604020202020204" pitchFamily="34" charset="0"/>
              </a:rPr>
              <a:t>Thu giảm lượng (numerosity reduction)</a:t>
            </a:r>
          </a:p>
          <a:p>
            <a:pPr lvl="2">
              <a:lnSpc>
                <a:spcPct val="90000"/>
              </a:lnSpc>
              <a:spcBef>
                <a:spcPct val="60000"/>
              </a:spcBef>
            </a:pPr>
            <a:r>
              <a:rPr lang="en-US" altLang="en-US" sz="1600">
                <a:latin typeface="Arial" panose="020B0604020202020204" pitchFamily="34" charset="0"/>
                <a:cs typeface="Arial" panose="020B0604020202020204" pitchFamily="34" charset="0"/>
              </a:rPr>
              <a:t>Tạo phân cấp ý niệm (concept hierarchy generation) và rời rạc hóa (discretization)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41F70EEE-7484-46A0-A6BA-67214560A58E}" type="slidenum">
              <a:rPr lang="en-US" altLang="en-US"/>
              <a:pPr/>
              <a:t>10</a:t>
            </a:fld>
            <a:endParaRPr lang="en-US" altLang="en-US"/>
          </a:p>
        </p:txBody>
      </p:sp>
      <p:sp>
        <p:nvSpPr>
          <p:cNvPr id="66150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2.1. Tổng quan về giai đoạn tiền xử lý dữ liệu</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3075" name="Rectangle 3"/>
          <p:cNvSpPr>
            <a:spLocks noGrp="1" noChangeArrowheads="1"/>
          </p:cNvSpPr>
          <p:nvPr>
            <p:ph idx="1"/>
          </p:nvPr>
        </p:nvSpPr>
        <p:spPr>
          <a:xfrm>
            <a:off x="681997" y="1348370"/>
            <a:ext cx="11090638" cy="3385542"/>
          </a:xfrm>
          <a:ln>
            <a:noFill/>
          </a:ln>
        </p:spPr>
        <p:style>
          <a:lnRef idx="2">
            <a:schemeClr val="accent1"/>
          </a:lnRef>
          <a:fillRef idx="1">
            <a:schemeClr val="lt1"/>
          </a:fillRef>
          <a:effectRef idx="0">
            <a:schemeClr val="accent1"/>
          </a:effectRef>
          <a:fontRef idx="minor">
            <a:schemeClr val="dk1"/>
          </a:fontRef>
        </p:style>
        <p:txBody>
          <a:bodyPr/>
          <a:lstStyle/>
          <a:p>
            <a:pPr>
              <a:lnSpc>
                <a:spcPct val="150000"/>
              </a:lnSpc>
              <a:spcBef>
                <a:spcPct val="50000"/>
              </a:spcBef>
            </a:pPr>
            <a:r>
              <a:rPr lang="en-US" altLang="en-US" sz="2000">
                <a:solidFill>
                  <a:srgbClr val="CC3300"/>
                </a:solidFill>
                <a:latin typeface="Arial" panose="020B0604020202020204" pitchFamily="34" charset="0"/>
                <a:cs typeface="Arial" panose="020B0604020202020204" pitchFamily="34" charset="0"/>
              </a:rPr>
              <a:t>Xác định các thuộc tính </a:t>
            </a:r>
            <a:r>
              <a:rPr lang="en-US" altLang="en-US" sz="2000">
                <a:latin typeface="Arial" panose="020B0604020202020204" pitchFamily="34" charset="0"/>
                <a:cs typeface="Arial" panose="020B0604020202020204" pitchFamily="34" charset="0"/>
              </a:rPr>
              <a:t>(properties) tiêu biểu của dữ liệu về xu hướng chính (central tendency) và sự phân tán (dispersion) của dữ liệu</a:t>
            </a:r>
          </a:p>
          <a:p>
            <a:pPr marL="1028700" lvl="1" indent="-342900">
              <a:lnSpc>
                <a:spcPct val="150000"/>
              </a:lnSpc>
              <a:spcBef>
                <a:spcPct val="50000"/>
              </a:spcBef>
              <a:buFont typeface="Arial" panose="020B0604020202020204" pitchFamily="34" charset="0"/>
              <a:buChar char="•"/>
            </a:pPr>
            <a:r>
              <a:rPr lang="en-US" altLang="en-US" sz="2000">
                <a:latin typeface="Arial" panose="020B0604020202020204" pitchFamily="34" charset="0"/>
                <a:cs typeface="Arial" panose="020B0604020202020204" pitchFamily="34" charset="0"/>
              </a:rPr>
              <a:t>Các độ đo về xu hướng chính: mean, median, mode, midrange</a:t>
            </a:r>
          </a:p>
          <a:p>
            <a:pPr marL="1028700" lvl="1" indent="-342900">
              <a:lnSpc>
                <a:spcPct val="150000"/>
              </a:lnSpc>
              <a:spcBef>
                <a:spcPct val="50000"/>
              </a:spcBef>
              <a:buFont typeface="Arial" panose="020B0604020202020204" pitchFamily="34" charset="0"/>
              <a:buChar char="•"/>
            </a:pPr>
            <a:r>
              <a:rPr lang="en-US" altLang="en-US" sz="2000">
                <a:latin typeface="Arial" panose="020B0604020202020204" pitchFamily="34" charset="0"/>
                <a:cs typeface="Arial" panose="020B0604020202020204" pitchFamily="34" charset="0"/>
              </a:rPr>
              <a:t>Các độ đo về sự phân tán: quartiles, interquartile range (IQR), variance</a:t>
            </a:r>
          </a:p>
          <a:p>
            <a:pPr>
              <a:lnSpc>
                <a:spcPct val="150000"/>
              </a:lnSpc>
              <a:spcBef>
                <a:spcPct val="50000"/>
              </a:spcBef>
            </a:pPr>
            <a:r>
              <a:rPr lang="en-US" altLang="en-US" sz="2000">
                <a:solidFill>
                  <a:srgbClr val="CC3300"/>
                </a:solidFill>
                <a:latin typeface="Arial" panose="020B0604020202020204" pitchFamily="34" charset="0"/>
                <a:cs typeface="Arial" panose="020B0604020202020204" pitchFamily="34" charset="0"/>
              </a:rPr>
              <a:t>Làm nổi bật các giá trị dữ liệu </a:t>
            </a:r>
            <a:r>
              <a:rPr lang="en-US" altLang="en-US" sz="2000">
                <a:latin typeface="Arial" panose="020B0604020202020204" pitchFamily="34" charset="0"/>
                <a:cs typeface="Arial" panose="020B0604020202020204" pitchFamily="34" charset="0"/>
              </a:rPr>
              <a:t>nên được xem như nhiễu (noise) hoặc phần tử biên (outliers), cung cấp cái nhìn tổng quan về dữ liệu</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E0E0F2C4-52B6-4A33-A895-CA8035599A4F}" type="slidenum">
              <a:rPr lang="en-US" altLang="en-US"/>
              <a:pPr/>
              <a:t>11</a:t>
            </a:fld>
            <a:endParaRPr lang="en-US" altLang="en-US"/>
          </a:p>
        </p:txBody>
      </p:sp>
      <p:sp>
        <p:nvSpPr>
          <p:cNvPr id="643074"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2.2. Tóm tắt mô tả về dữ liệu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4820"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2286000" y="1676400"/>
            <a:ext cx="6324600" cy="4362203"/>
          </a:xfrm>
          <a:ln>
            <a:noFill/>
          </a:ln>
        </p:spPr>
        <p:style>
          <a:lnRef idx="2">
            <a:schemeClr val="accent1"/>
          </a:lnRef>
          <a:fillRef idx="1">
            <a:schemeClr val="lt1"/>
          </a:fillRef>
          <a:effectRef idx="0">
            <a:schemeClr val="accent1"/>
          </a:effectRef>
          <a:fontRef idx="minor">
            <a:schemeClr val="dk1"/>
          </a:fontRef>
        </p:style>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4C11F9EE-6966-44C5-B279-B28977926D5D}" type="slidenum">
              <a:rPr lang="en-US" altLang="en-US"/>
              <a:pPr/>
              <a:t>12</a:t>
            </a:fld>
            <a:endParaRPr lang="en-US" altLang="en-US"/>
          </a:p>
        </p:txBody>
      </p:sp>
      <p:sp>
        <p:nvSpPr>
          <p:cNvPr id="674818"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2.2. Tóm tắt mô tả về dữ liệu</a:t>
            </a:r>
          </a:p>
        </p:txBody>
      </p:sp>
      <p:sp>
        <p:nvSpPr>
          <p:cNvPr id="674819" name="Rectangle 3"/>
          <p:cNvSpPr>
            <a:spLocks noGrp="1" noChangeArrowheads="1"/>
          </p:cNvSpPr>
          <p:nvPr>
            <p:ph type="body" sz="half" idx="4294967295"/>
          </p:nvPr>
        </p:nvSpPr>
        <p:spPr>
          <a:xfrm>
            <a:off x="685800" y="1219200"/>
            <a:ext cx="8991600" cy="4359275"/>
          </a:xfrm>
        </p:spPr>
        <p:txBody>
          <a:bodyPr/>
          <a:lstStyle/>
          <a:p>
            <a:r>
              <a:rPr lang="en-US" altLang="en-US" sz="2400">
                <a:latin typeface="Arial" panose="020B0604020202020204" pitchFamily="34" charset="0"/>
                <a:cs typeface="Arial" panose="020B0604020202020204" pitchFamily="34" charset="0"/>
              </a:rPr>
              <a:t>Dữ liệu mẫu về đơn giá của các mặt hàng đã được bán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7652" name="Picture 4"/>
          <p:cNvPicPr>
            <a:picLocks noGrp="1" noChangeAspect="1" noChangeArrowheads="1"/>
          </p:cNvPicPr>
          <p:nvPr>
            <p:ph idx="1"/>
          </p:nvPr>
        </p:nvPicPr>
        <p:blipFill>
          <a:blip r:embed="rId4">
            <a:extLst>
              <a:ext uri="{28A0092B-C50C-407E-A947-70E740481C1C}">
                <a14:useLocalDpi xmlns:a14="http://schemas.microsoft.com/office/drawing/2010/main" val="0"/>
              </a:ext>
            </a:extLst>
          </a:blip>
          <a:stretch>
            <a:fillRect/>
          </a:stretch>
        </p:blipFill>
        <p:spPr>
          <a:xfrm>
            <a:off x="5042048" y="1722380"/>
            <a:ext cx="2371429" cy="828791"/>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9" name="Slide Number Placeholder 7"/>
          <p:cNvSpPr>
            <a:spLocks noGrp="1"/>
          </p:cNvSpPr>
          <p:nvPr>
            <p:ph type="sldNum" sz="quarter" idx="11"/>
          </p:nvPr>
        </p:nvSpPr>
        <p:spPr/>
        <p:txBody>
          <a:bodyPr/>
          <a:lstStyle/>
          <a:p>
            <a:fld id="{C3D814D8-AA63-4069-BC80-8B4E36FDE909}" type="slidenum">
              <a:rPr lang="en-US" altLang="en-US"/>
              <a:pPr/>
              <a:t>13</a:t>
            </a:fld>
            <a:endParaRPr lang="en-US" altLang="en-US"/>
          </a:p>
        </p:txBody>
      </p:sp>
      <p:sp>
        <p:nvSpPr>
          <p:cNvPr id="667650"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2.2. Tóm tắt mô tả về dữ liệu</a:t>
            </a:r>
          </a:p>
        </p:txBody>
      </p:sp>
      <p:sp>
        <p:nvSpPr>
          <p:cNvPr id="667651" name="Rectangle 3"/>
          <p:cNvSpPr>
            <a:spLocks noGrp="1" noChangeArrowheads="1"/>
          </p:cNvSpPr>
          <p:nvPr>
            <p:ph type="body" sz="half" idx="4294967295"/>
          </p:nvPr>
        </p:nvSpPr>
        <p:spPr>
          <a:xfrm>
            <a:off x="660548" y="1219200"/>
            <a:ext cx="8763000" cy="4985980"/>
          </a:xfrm>
          <a:ln>
            <a:noFill/>
          </a:ln>
        </p:spPr>
        <p:style>
          <a:lnRef idx="2">
            <a:schemeClr val="accent1"/>
          </a:lnRef>
          <a:fillRef idx="1">
            <a:schemeClr val="lt1"/>
          </a:fillRef>
          <a:effectRef idx="0">
            <a:schemeClr val="accent1"/>
          </a:effectRef>
          <a:fontRef idx="minor">
            <a:schemeClr val="dk1"/>
          </a:fontRef>
        </p:style>
        <p:txBody>
          <a:bodyPr/>
          <a:lstStyle/>
          <a:p>
            <a:pPr marL="0"/>
            <a:r>
              <a:rPr lang="en-US" altLang="en-US" sz="2400">
                <a:solidFill>
                  <a:srgbClr val="003399"/>
                </a:solidFill>
                <a:latin typeface="Arial" panose="020B0604020202020204" pitchFamily="34" charset="0"/>
                <a:cs typeface="Arial" panose="020B0604020202020204" pitchFamily="34" charset="0"/>
              </a:rPr>
              <a:t>Các độ đo về xu hướng chính của dữ liệu</a:t>
            </a:r>
          </a:p>
          <a:p>
            <a:pPr lvl="1">
              <a:spcBef>
                <a:spcPct val="150000"/>
              </a:spcBef>
            </a:pPr>
            <a:r>
              <a:rPr lang="en-US" altLang="en-US" sz="2400" smtClean="0">
                <a:solidFill>
                  <a:srgbClr val="003399"/>
                </a:solidFill>
                <a:latin typeface="Arial" panose="020B0604020202020204" pitchFamily="34" charset="0"/>
                <a:cs typeface="Arial" panose="020B0604020202020204" pitchFamily="34" charset="0"/>
              </a:rPr>
              <a:t>Mean: giá trị trung bình</a:t>
            </a:r>
            <a:endParaRPr lang="en-US" altLang="en-US" sz="2400">
              <a:solidFill>
                <a:srgbClr val="003399"/>
              </a:solidFill>
              <a:latin typeface="Arial" panose="020B0604020202020204" pitchFamily="34" charset="0"/>
              <a:cs typeface="Arial" panose="020B0604020202020204" pitchFamily="34" charset="0"/>
            </a:endParaRPr>
          </a:p>
          <a:p>
            <a:pPr lvl="1">
              <a:spcBef>
                <a:spcPct val="150000"/>
              </a:spcBef>
            </a:pPr>
            <a:r>
              <a:rPr lang="en-US" altLang="en-US" sz="2400">
                <a:solidFill>
                  <a:srgbClr val="003399"/>
                </a:solidFill>
                <a:latin typeface="Arial" panose="020B0604020202020204" pitchFamily="34" charset="0"/>
                <a:cs typeface="Arial" panose="020B0604020202020204" pitchFamily="34" charset="0"/>
              </a:rPr>
              <a:t>Weighted arithmetic mean</a:t>
            </a:r>
          </a:p>
          <a:p>
            <a:pPr lvl="1">
              <a:spcBef>
                <a:spcPct val="150000"/>
              </a:spcBef>
            </a:pPr>
            <a:r>
              <a:rPr lang="en-US" altLang="en-US" sz="2400">
                <a:solidFill>
                  <a:srgbClr val="003399"/>
                </a:solidFill>
                <a:latin typeface="Arial" panose="020B0604020202020204" pitchFamily="34" charset="0"/>
                <a:cs typeface="Arial" panose="020B0604020202020204" pitchFamily="34" charset="0"/>
              </a:rPr>
              <a:t>Median</a:t>
            </a:r>
          </a:p>
          <a:p>
            <a:pPr lvl="1">
              <a:spcBef>
                <a:spcPct val="150000"/>
              </a:spcBef>
            </a:pPr>
            <a:r>
              <a:rPr lang="en-US" altLang="en-US" sz="2400">
                <a:solidFill>
                  <a:srgbClr val="003399"/>
                </a:solidFill>
                <a:latin typeface="Arial" panose="020B0604020202020204" pitchFamily="34" charset="0"/>
                <a:cs typeface="Arial" panose="020B0604020202020204" pitchFamily="34" charset="0"/>
              </a:rPr>
              <a:t>Mode: giá trị xuất hiện thường xuyên nhất trong tập dữ liệu</a:t>
            </a:r>
          </a:p>
          <a:p>
            <a:pPr lvl="1">
              <a:spcBef>
                <a:spcPct val="50000"/>
              </a:spcBef>
            </a:pPr>
            <a:r>
              <a:rPr lang="en-US" altLang="en-US" sz="2400">
                <a:solidFill>
                  <a:srgbClr val="003399"/>
                </a:solidFill>
                <a:latin typeface="Arial" panose="020B0604020202020204" pitchFamily="34" charset="0"/>
                <a:cs typeface="Arial" panose="020B0604020202020204" pitchFamily="34" charset="0"/>
              </a:rPr>
              <a:t>Midrange: giá trị trung bình của các giá trị lớn nhất và nhỏ nhất trong tập dữ liệu</a:t>
            </a:r>
          </a:p>
        </p:txBody>
      </p:sp>
      <p:pic>
        <p:nvPicPr>
          <p:cNvPr id="667654" name="Picture 6"/>
          <p:cNvPicPr>
            <a:picLocks noGrp="1" noChangeAspect="1" noChangeArrowheads="1"/>
          </p:cNvPicPr>
          <p:nvPr>
            <p:ph sz="quarter" idx="4294967295"/>
          </p:nvPr>
        </p:nvPicPr>
        <p:blipFill>
          <a:blip r:embed="rId5">
            <a:extLst>
              <a:ext uri="{28A0092B-C50C-407E-A947-70E740481C1C}">
                <a14:useLocalDpi xmlns:a14="http://schemas.microsoft.com/office/drawing/2010/main" val="0"/>
              </a:ext>
            </a:extLst>
          </a:blip>
          <a:srcRect/>
          <a:stretch>
            <a:fillRect/>
          </a:stretch>
        </p:blipFill>
        <p:spPr>
          <a:xfrm>
            <a:off x="5486400" y="2641475"/>
            <a:ext cx="3657600" cy="10795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graphicFrame>
        <p:nvGraphicFramePr>
          <p:cNvPr id="667657" name="Object 9"/>
          <p:cNvGraphicFramePr>
            <a:graphicFrameLocks noChangeAspect="1"/>
          </p:cNvGraphicFramePr>
          <p:nvPr>
            <p:extLst>
              <p:ext uri="{D42A27DB-BD31-4B8C-83A1-F6EECF244321}">
                <p14:modId xmlns:p14="http://schemas.microsoft.com/office/powerpoint/2010/main" val="3447359707"/>
              </p:ext>
            </p:extLst>
          </p:nvPr>
        </p:nvGraphicFramePr>
        <p:xfrm>
          <a:off x="3086100" y="3985434"/>
          <a:ext cx="4800600" cy="617802"/>
        </p:xfrm>
        <a:graphic>
          <a:graphicData uri="http://schemas.openxmlformats.org/presentationml/2006/ole">
            <mc:AlternateContent xmlns:mc="http://schemas.openxmlformats.org/markup-compatibility/2006">
              <mc:Choice xmlns:v="urn:schemas-microsoft-com:vml" Requires="v">
                <p:oleObj spid="_x0000_s1035" name="Equation" r:id="rId6" imgW="3124080" imgH="482400" progId="Equation.3">
                  <p:embed/>
                </p:oleObj>
              </mc:Choice>
              <mc:Fallback>
                <p:oleObj name="Equation" r:id="rId6" imgW="3124080" imgH="482400" progId="Equation.3">
                  <p:embed/>
                  <p:pic>
                    <p:nvPicPr>
                      <p:cNvPr id="667657"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86100" y="3985434"/>
                        <a:ext cx="4800600" cy="6178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7" name="Rectangle 3"/>
          <p:cNvSpPr>
            <a:spLocks noGrp="1" noChangeArrowheads="1"/>
          </p:cNvSpPr>
          <p:nvPr>
            <p:ph idx="1"/>
          </p:nvPr>
        </p:nvSpPr>
        <p:spPr>
          <a:xfrm>
            <a:off x="681997" y="1348370"/>
            <a:ext cx="11090638" cy="4801314"/>
          </a:xfrm>
          <a:ln>
            <a:noFill/>
          </a:ln>
        </p:spPr>
        <p:style>
          <a:lnRef idx="2">
            <a:schemeClr val="accent1"/>
          </a:lnRef>
          <a:fillRef idx="1">
            <a:schemeClr val="lt1"/>
          </a:fillRef>
          <a:effectRef idx="0">
            <a:schemeClr val="accent1"/>
          </a:effectRef>
          <a:fontRef idx="minor">
            <a:schemeClr val="dk1"/>
          </a:fontRef>
        </p:style>
        <p:txBody>
          <a:bodyPr/>
          <a:lstStyle/>
          <a:p>
            <a:pPr>
              <a:spcBef>
                <a:spcPct val="100000"/>
              </a:spcBef>
            </a:pPr>
            <a:r>
              <a:rPr lang="en-US" altLang="en-US" sz="2400">
                <a:latin typeface="Arial" panose="020B0604020202020204" pitchFamily="34" charset="0"/>
                <a:cs typeface="Arial" panose="020B0604020202020204" pitchFamily="34" charset="0"/>
              </a:rPr>
              <a:t>Các độ đo về xu hướng chính của dữ liệu</a:t>
            </a:r>
          </a:p>
          <a:p>
            <a:pPr lvl="1">
              <a:spcBef>
                <a:spcPct val="100000"/>
              </a:spcBef>
            </a:pPr>
            <a:r>
              <a:rPr lang="en-US" altLang="en-US">
                <a:latin typeface="Arial" panose="020B0604020202020204" pitchFamily="34" charset="0"/>
                <a:cs typeface="Arial" panose="020B0604020202020204" pitchFamily="34" charset="0"/>
              </a:rPr>
              <a:t>Mean = </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(count[i]*price[i])/</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(count[i])</a:t>
            </a:r>
            <a:endParaRPr lang="el-GR" altLang="en-US">
              <a:latin typeface="Arial" panose="020B0604020202020204" pitchFamily="34" charset="0"/>
              <a:cs typeface="Arial" panose="020B0604020202020204" pitchFamily="34" charset="0"/>
            </a:endParaRPr>
          </a:p>
          <a:p>
            <a:pPr lvl="1">
              <a:spcBef>
                <a:spcPct val="100000"/>
              </a:spcBef>
            </a:pPr>
            <a:r>
              <a:rPr lang="en-US" altLang="en-US">
                <a:latin typeface="Arial" panose="020B0604020202020204" pitchFamily="34" charset="0"/>
                <a:cs typeface="Arial" panose="020B0604020202020204" pitchFamily="34" charset="0"/>
              </a:rPr>
              <a:t>Weighted arithmetic mean</a:t>
            </a:r>
          </a:p>
          <a:p>
            <a:pPr lvl="1">
              <a:spcBef>
                <a:spcPct val="100000"/>
              </a:spcBef>
            </a:pPr>
            <a:r>
              <a:rPr lang="en-US" altLang="en-US">
                <a:latin typeface="Arial" panose="020B0604020202020204" pitchFamily="34" charset="0"/>
                <a:cs typeface="Arial" panose="020B0604020202020204" pitchFamily="34" charset="0"/>
              </a:rPr>
              <a:t>Median</a:t>
            </a:r>
          </a:p>
          <a:p>
            <a:pPr lvl="1">
              <a:spcBef>
                <a:spcPct val="100000"/>
              </a:spcBef>
            </a:pPr>
            <a:r>
              <a:rPr lang="en-US" altLang="en-US">
                <a:latin typeface="Arial" panose="020B0604020202020204" pitchFamily="34" charset="0"/>
                <a:cs typeface="Arial" panose="020B0604020202020204" pitchFamily="34" charset="0"/>
              </a:rPr>
              <a:t>Mode = price[i] nếu count[i] lớn nhất</a:t>
            </a:r>
          </a:p>
          <a:p>
            <a:pPr lvl="1">
              <a:spcBef>
                <a:spcPct val="100000"/>
              </a:spcBef>
            </a:pPr>
            <a:r>
              <a:rPr lang="en-US" altLang="en-US">
                <a:latin typeface="Arial" panose="020B0604020202020204" pitchFamily="34" charset="0"/>
                <a:cs typeface="Arial" panose="020B0604020202020204" pitchFamily="34" charset="0"/>
              </a:rPr>
              <a:t>Midrange = (</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(count[i]*price[i]) + </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(count[j]*price[j]))/(</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(count[i]) + </a:t>
            </a:r>
            <a:r>
              <a:rPr lang="el-GR" altLang="en-US">
                <a:latin typeface="Arial" panose="020B0604020202020204" pitchFamily="34" charset="0"/>
                <a:cs typeface="Arial" panose="020B0604020202020204" pitchFamily="34" charset="0"/>
              </a:rPr>
              <a:t>Σ</a:t>
            </a:r>
            <a:r>
              <a:rPr lang="en-US" altLang="en-US">
                <a:latin typeface="Arial" panose="020B0604020202020204" pitchFamily="34" charset="0"/>
                <a:cs typeface="Arial" panose="020B0604020202020204" pitchFamily="34" charset="0"/>
              </a:rPr>
              <a:t>(count[j])) nếu price[i] l</a:t>
            </a:r>
            <a:r>
              <a:rPr lang="el-GR" altLang="en-US">
                <a:latin typeface="Arial" panose="020B0604020202020204" pitchFamily="34" charset="0"/>
                <a:cs typeface="Arial" panose="020B0604020202020204" pitchFamily="34" charset="0"/>
              </a:rPr>
              <a:t>ớ</a:t>
            </a:r>
            <a:r>
              <a:rPr lang="en-US" altLang="en-US">
                <a:latin typeface="Arial" panose="020B0604020202020204" pitchFamily="34" charset="0"/>
                <a:cs typeface="Arial" panose="020B0604020202020204" pitchFamily="34" charset="0"/>
              </a:rPr>
              <a:t>n nh</a:t>
            </a:r>
            <a:r>
              <a:rPr lang="el-GR" altLang="en-US">
                <a:latin typeface="Arial" panose="020B0604020202020204" pitchFamily="34" charset="0"/>
                <a:cs typeface="Arial" panose="020B0604020202020204" pitchFamily="34" charset="0"/>
              </a:rPr>
              <a:t>ấ</a:t>
            </a:r>
            <a:r>
              <a:rPr lang="en-US" altLang="en-US">
                <a:latin typeface="Arial" panose="020B0604020202020204" pitchFamily="34" charset="0"/>
                <a:cs typeface="Arial" panose="020B0604020202020204" pitchFamily="34" charset="0"/>
              </a:rPr>
              <a:t>t v</a:t>
            </a:r>
            <a:r>
              <a:rPr lang="el-GR" altLang="en-US">
                <a:latin typeface="Arial" panose="020B0604020202020204" pitchFamily="34" charset="0"/>
                <a:cs typeface="Arial" panose="020B0604020202020204" pitchFamily="34" charset="0"/>
              </a:rPr>
              <a:t>à</a:t>
            </a:r>
            <a:r>
              <a:rPr lang="en-US" altLang="en-US">
                <a:latin typeface="Arial" panose="020B0604020202020204" pitchFamily="34" charset="0"/>
                <a:cs typeface="Arial" panose="020B0604020202020204" pitchFamily="34" charset="0"/>
              </a:rPr>
              <a:t> price[j] nh</a:t>
            </a:r>
            <a:r>
              <a:rPr lang="el-GR" altLang="en-US">
                <a:latin typeface="Arial" panose="020B0604020202020204" pitchFamily="34" charset="0"/>
                <a:cs typeface="Arial" panose="020B0604020202020204" pitchFamily="34" charset="0"/>
              </a:rPr>
              <a:t>ỏ</a:t>
            </a:r>
            <a:r>
              <a:rPr lang="en-US" altLang="en-US">
                <a:latin typeface="Arial" panose="020B0604020202020204" pitchFamily="34" charset="0"/>
                <a:cs typeface="Arial" panose="020B0604020202020204" pitchFamily="34" charset="0"/>
              </a:rPr>
              <a:t> nh</a:t>
            </a:r>
            <a:r>
              <a:rPr lang="el-GR" altLang="en-US">
                <a:latin typeface="Arial" panose="020B0604020202020204" pitchFamily="34" charset="0"/>
                <a:cs typeface="Arial" panose="020B0604020202020204" pitchFamily="34" charset="0"/>
              </a:rPr>
              <a:t>ấ</a:t>
            </a:r>
            <a:r>
              <a:rPr lang="en-US" altLang="en-US">
                <a:latin typeface="Arial" panose="020B0604020202020204" pitchFamily="34" charset="0"/>
                <a:cs typeface="Arial" panose="020B0604020202020204" pitchFamily="34" charset="0"/>
              </a:rPr>
              <a:t>t</a:t>
            </a:r>
            <a:endParaRPr lang="el-GR" altLang="en-US">
              <a:latin typeface="Arial" panose="020B0604020202020204" pitchFamily="34" charset="0"/>
              <a:cs typeface="Arial" panose="020B0604020202020204" pitchFamily="34" charset="0"/>
            </a:endParaRP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7"/>
          <p:cNvSpPr>
            <a:spLocks noGrp="1"/>
          </p:cNvSpPr>
          <p:nvPr>
            <p:ph type="sldNum" sz="quarter" idx="11"/>
          </p:nvPr>
        </p:nvSpPr>
        <p:spPr/>
        <p:txBody>
          <a:bodyPr/>
          <a:lstStyle/>
          <a:p>
            <a:fld id="{0246F5DB-0834-4D7D-952F-170E7C080AA2}" type="slidenum">
              <a:rPr lang="en-US" altLang="en-US"/>
              <a:pPr/>
              <a:t>14</a:t>
            </a:fld>
            <a:endParaRPr lang="en-US" altLang="en-US"/>
          </a:p>
        </p:txBody>
      </p:sp>
      <p:sp>
        <p:nvSpPr>
          <p:cNvPr id="676866" name="Rectangle 2"/>
          <p:cNvSpPr>
            <a:spLocks noGrp="1" noChangeArrowheads="1"/>
          </p:cNvSpPr>
          <p:nvPr>
            <p:ph type="title"/>
          </p:nvPr>
        </p:nvSpPr>
        <p:spPr/>
        <p:txBody>
          <a:bodyPr/>
          <a:lstStyle/>
          <a:p>
            <a:r>
              <a:rPr lang="en-US" altLang="en-US">
                <a:latin typeface="Arial" panose="020B0604020202020204" pitchFamily="34" charset="0"/>
                <a:cs typeface="Arial" panose="020B0604020202020204" pitchFamily="34" charset="0"/>
              </a:rPr>
              <a:t>2.2. Tóm tắt mô tả về dữ liệu</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72778" name="Picture 10"/>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429000" y="5880410"/>
            <a:ext cx="3486637" cy="619211"/>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E62C5933-FA6E-430A-8F26-613C34999811}" type="slidenum">
              <a:rPr lang="en-US" altLang="en-US"/>
              <a:pPr/>
              <a:t>15</a:t>
            </a:fld>
            <a:endParaRPr lang="en-US" altLang="en-US"/>
          </a:p>
        </p:txBody>
      </p:sp>
      <p:sp>
        <p:nvSpPr>
          <p:cNvPr id="672771" name="Rectangle 3"/>
          <p:cNvSpPr>
            <a:spLocks noGrp="1" noChangeArrowheads="1"/>
          </p:cNvSpPr>
          <p:nvPr>
            <p:ph type="title"/>
          </p:nvPr>
        </p:nvSpPr>
        <p:spPr/>
        <p:txBody>
          <a:bodyPr/>
          <a:lstStyle/>
          <a:p>
            <a:r>
              <a:rPr lang="en-US" altLang="en-US"/>
              <a:t>2.2. Tóm tắt mô tả về dữ liệu</a:t>
            </a:r>
          </a:p>
        </p:txBody>
      </p:sp>
      <p:sp>
        <p:nvSpPr>
          <p:cNvPr id="672772" name="Rectangle 4"/>
          <p:cNvSpPr>
            <a:spLocks noGrp="1" noChangeArrowheads="1"/>
          </p:cNvSpPr>
          <p:nvPr>
            <p:ph type="body" sz="half" idx="4294967295"/>
          </p:nvPr>
        </p:nvSpPr>
        <p:spPr>
          <a:xfrm>
            <a:off x="1143000" y="860822"/>
            <a:ext cx="9525000" cy="5539978"/>
          </a:xfrm>
        </p:spPr>
        <p:txBody>
          <a:bodyPr/>
          <a:lstStyle/>
          <a:p>
            <a:pPr>
              <a:spcBef>
                <a:spcPct val="75000"/>
              </a:spcBef>
            </a:pPr>
            <a:r>
              <a:rPr lang="en-US" altLang="en-US" sz="2400" dirty="0" err="1">
                <a:solidFill>
                  <a:srgbClr val="003399"/>
                </a:solidFill>
              </a:rPr>
              <a:t>Các</a:t>
            </a:r>
            <a:r>
              <a:rPr lang="en-US" altLang="en-US" sz="2400" dirty="0">
                <a:solidFill>
                  <a:srgbClr val="003399"/>
                </a:solidFill>
              </a:rPr>
              <a:t> </a:t>
            </a:r>
            <a:r>
              <a:rPr lang="en-US" altLang="en-US" sz="2400" dirty="0" err="1">
                <a:solidFill>
                  <a:srgbClr val="003399"/>
                </a:solidFill>
              </a:rPr>
              <a:t>độ</a:t>
            </a:r>
            <a:r>
              <a:rPr lang="en-US" altLang="en-US" sz="2400" dirty="0">
                <a:solidFill>
                  <a:srgbClr val="003399"/>
                </a:solidFill>
              </a:rPr>
              <a:t> </a:t>
            </a:r>
            <a:r>
              <a:rPr lang="en-US" altLang="en-US" sz="2400" dirty="0" err="1">
                <a:solidFill>
                  <a:srgbClr val="003399"/>
                </a:solidFill>
              </a:rPr>
              <a:t>đo</a:t>
            </a:r>
            <a:r>
              <a:rPr lang="en-US" altLang="en-US" sz="2400" dirty="0">
                <a:solidFill>
                  <a:srgbClr val="003399"/>
                </a:solidFill>
              </a:rPr>
              <a:t> </a:t>
            </a:r>
            <a:r>
              <a:rPr lang="en-US" altLang="en-US" sz="2400" dirty="0" err="1">
                <a:solidFill>
                  <a:srgbClr val="003399"/>
                </a:solidFill>
              </a:rPr>
              <a:t>về</a:t>
            </a:r>
            <a:r>
              <a:rPr lang="en-US" altLang="en-US" sz="2400" dirty="0">
                <a:solidFill>
                  <a:srgbClr val="003399"/>
                </a:solidFill>
              </a:rPr>
              <a:t> </a:t>
            </a:r>
            <a:r>
              <a:rPr lang="en-US" altLang="en-US" sz="2400" dirty="0" err="1">
                <a:solidFill>
                  <a:srgbClr val="003399"/>
                </a:solidFill>
              </a:rPr>
              <a:t>sự</a:t>
            </a:r>
            <a:r>
              <a:rPr lang="en-US" altLang="en-US" sz="2400" dirty="0">
                <a:solidFill>
                  <a:srgbClr val="003399"/>
                </a:solidFill>
              </a:rPr>
              <a:t> </a:t>
            </a:r>
            <a:r>
              <a:rPr lang="en-US" altLang="en-US" sz="2400" dirty="0" err="1">
                <a:solidFill>
                  <a:srgbClr val="003399"/>
                </a:solidFill>
              </a:rPr>
              <a:t>phân</a:t>
            </a:r>
            <a:r>
              <a:rPr lang="en-US" altLang="en-US" sz="2400" dirty="0">
                <a:solidFill>
                  <a:srgbClr val="003399"/>
                </a:solidFill>
              </a:rPr>
              <a:t> </a:t>
            </a:r>
            <a:r>
              <a:rPr lang="en-US" altLang="en-US" sz="2400" dirty="0" err="1">
                <a:solidFill>
                  <a:srgbClr val="003399"/>
                </a:solidFill>
              </a:rPr>
              <a:t>tán</a:t>
            </a:r>
            <a:r>
              <a:rPr lang="en-US" altLang="en-US" sz="2400" dirty="0">
                <a:solidFill>
                  <a:srgbClr val="003399"/>
                </a:solidFill>
              </a:rPr>
              <a:t> </a:t>
            </a:r>
            <a:r>
              <a:rPr lang="en-US" altLang="en-US" sz="2400" dirty="0" err="1">
                <a:solidFill>
                  <a:srgbClr val="003399"/>
                </a:solidFill>
              </a:rPr>
              <a:t>của</a:t>
            </a:r>
            <a:r>
              <a:rPr lang="en-US" altLang="en-US" sz="2400" dirty="0">
                <a:solidFill>
                  <a:srgbClr val="003399"/>
                </a:solidFill>
              </a:rPr>
              <a:t> </a:t>
            </a:r>
            <a:r>
              <a:rPr lang="en-US" altLang="en-US" sz="2400" dirty="0" err="1">
                <a:solidFill>
                  <a:srgbClr val="003399"/>
                </a:solidFill>
              </a:rPr>
              <a:t>dữ</a:t>
            </a:r>
            <a:r>
              <a:rPr lang="en-US" altLang="en-US" sz="2400" dirty="0">
                <a:solidFill>
                  <a:srgbClr val="003399"/>
                </a:solidFill>
              </a:rPr>
              <a:t> </a:t>
            </a:r>
            <a:r>
              <a:rPr lang="en-US" altLang="en-US" sz="2400" dirty="0" err="1">
                <a:solidFill>
                  <a:srgbClr val="003399"/>
                </a:solidFill>
              </a:rPr>
              <a:t>liệu</a:t>
            </a:r>
            <a:endParaRPr lang="en-US" altLang="en-US" sz="2400" dirty="0">
              <a:solidFill>
                <a:srgbClr val="003399"/>
              </a:solidFill>
            </a:endParaRPr>
          </a:p>
          <a:p>
            <a:pPr lvl="1">
              <a:spcBef>
                <a:spcPct val="75000"/>
              </a:spcBef>
            </a:pPr>
            <a:r>
              <a:rPr lang="en-US" altLang="en-US" sz="2400" dirty="0">
                <a:solidFill>
                  <a:srgbClr val="003399"/>
                </a:solidFill>
              </a:rPr>
              <a:t>Quartiles</a:t>
            </a:r>
          </a:p>
          <a:p>
            <a:pPr lvl="2">
              <a:spcBef>
                <a:spcPct val="75000"/>
              </a:spcBef>
            </a:pPr>
            <a:r>
              <a:rPr lang="en-US" altLang="en-US" sz="2400" dirty="0">
                <a:solidFill>
                  <a:srgbClr val="003399"/>
                </a:solidFill>
              </a:rPr>
              <a:t>The first quartile (Q1): the 25</a:t>
            </a:r>
            <a:r>
              <a:rPr lang="en-US" altLang="en-US" sz="2400" baseline="30000" dirty="0">
                <a:solidFill>
                  <a:srgbClr val="003399"/>
                </a:solidFill>
              </a:rPr>
              <a:t>th</a:t>
            </a:r>
            <a:r>
              <a:rPr lang="en-US" altLang="en-US" sz="2400" dirty="0">
                <a:solidFill>
                  <a:srgbClr val="003399"/>
                </a:solidFill>
              </a:rPr>
              <a:t> percentile</a:t>
            </a:r>
          </a:p>
          <a:p>
            <a:pPr lvl="2">
              <a:spcBef>
                <a:spcPct val="75000"/>
              </a:spcBef>
            </a:pPr>
            <a:r>
              <a:rPr lang="en-US" altLang="en-US" sz="2400" dirty="0">
                <a:solidFill>
                  <a:srgbClr val="003399"/>
                </a:solidFill>
              </a:rPr>
              <a:t>The second quartile (Q2): the 50</a:t>
            </a:r>
            <a:r>
              <a:rPr lang="en-US" altLang="en-US" sz="2400" baseline="30000" dirty="0">
                <a:solidFill>
                  <a:srgbClr val="003399"/>
                </a:solidFill>
              </a:rPr>
              <a:t>th</a:t>
            </a:r>
            <a:r>
              <a:rPr lang="en-US" altLang="en-US" sz="2400" dirty="0">
                <a:solidFill>
                  <a:srgbClr val="003399"/>
                </a:solidFill>
              </a:rPr>
              <a:t> percentile (median)</a:t>
            </a:r>
          </a:p>
          <a:p>
            <a:pPr lvl="2">
              <a:spcBef>
                <a:spcPct val="75000"/>
              </a:spcBef>
            </a:pPr>
            <a:r>
              <a:rPr lang="en-US" altLang="en-US" sz="2400" dirty="0">
                <a:solidFill>
                  <a:srgbClr val="003399"/>
                </a:solidFill>
              </a:rPr>
              <a:t>The third quartile (Q3): the 75</a:t>
            </a:r>
            <a:r>
              <a:rPr lang="en-US" altLang="en-US" sz="2400" baseline="30000" dirty="0">
                <a:solidFill>
                  <a:srgbClr val="003399"/>
                </a:solidFill>
              </a:rPr>
              <a:t>th</a:t>
            </a:r>
            <a:r>
              <a:rPr lang="en-US" altLang="en-US" sz="2400" dirty="0">
                <a:solidFill>
                  <a:srgbClr val="003399"/>
                </a:solidFill>
              </a:rPr>
              <a:t> percentile</a:t>
            </a:r>
          </a:p>
          <a:p>
            <a:pPr lvl="1">
              <a:spcBef>
                <a:spcPct val="75000"/>
              </a:spcBef>
            </a:pPr>
            <a:r>
              <a:rPr lang="en-US" altLang="en-US" sz="2400" dirty="0">
                <a:solidFill>
                  <a:srgbClr val="003399"/>
                </a:solidFill>
              </a:rPr>
              <a:t>Interquartile Range (IQR) = Q3 – Q1</a:t>
            </a:r>
          </a:p>
          <a:p>
            <a:pPr lvl="2">
              <a:spcBef>
                <a:spcPct val="75000"/>
              </a:spcBef>
            </a:pPr>
            <a:r>
              <a:rPr lang="en-US" altLang="en-US" sz="2400" dirty="0">
                <a:solidFill>
                  <a:srgbClr val="003399"/>
                </a:solidFill>
              </a:rPr>
              <a:t>Outliers (the most extreme observations): </a:t>
            </a:r>
            <a:r>
              <a:rPr lang="en-US" altLang="en-US" sz="2400" dirty="0" err="1">
                <a:solidFill>
                  <a:srgbClr val="003399"/>
                </a:solidFill>
              </a:rPr>
              <a:t>giá</a:t>
            </a:r>
            <a:r>
              <a:rPr lang="en-US" altLang="en-US" sz="2400" dirty="0">
                <a:solidFill>
                  <a:srgbClr val="003399"/>
                </a:solidFill>
              </a:rPr>
              <a:t> </a:t>
            </a:r>
            <a:r>
              <a:rPr lang="en-US" altLang="en-US" sz="2400" dirty="0" err="1">
                <a:solidFill>
                  <a:srgbClr val="003399"/>
                </a:solidFill>
              </a:rPr>
              <a:t>trị</a:t>
            </a:r>
            <a:r>
              <a:rPr lang="en-US" altLang="en-US" sz="2400" dirty="0">
                <a:solidFill>
                  <a:srgbClr val="003399"/>
                </a:solidFill>
              </a:rPr>
              <a:t> </a:t>
            </a:r>
            <a:r>
              <a:rPr lang="en-US" altLang="en-US" sz="2400" dirty="0" err="1">
                <a:solidFill>
                  <a:srgbClr val="003399"/>
                </a:solidFill>
              </a:rPr>
              <a:t>nằm</a:t>
            </a:r>
            <a:r>
              <a:rPr lang="en-US" altLang="en-US" sz="2400" dirty="0">
                <a:solidFill>
                  <a:srgbClr val="003399"/>
                </a:solidFill>
              </a:rPr>
              <a:t> </a:t>
            </a:r>
            <a:r>
              <a:rPr lang="en-US" altLang="en-US" sz="2400" dirty="0" err="1">
                <a:solidFill>
                  <a:srgbClr val="003399"/>
                </a:solidFill>
              </a:rPr>
              <a:t>cách</a:t>
            </a:r>
            <a:r>
              <a:rPr lang="en-US" altLang="en-US" sz="2400" dirty="0">
                <a:solidFill>
                  <a:srgbClr val="003399"/>
                </a:solidFill>
              </a:rPr>
              <a:t> </a:t>
            </a:r>
            <a:r>
              <a:rPr lang="en-US" altLang="en-US" sz="2400" dirty="0" err="1">
                <a:solidFill>
                  <a:srgbClr val="003399"/>
                </a:solidFill>
              </a:rPr>
              <a:t>trên</a:t>
            </a:r>
            <a:r>
              <a:rPr lang="en-US" altLang="en-US" sz="2400" dirty="0">
                <a:solidFill>
                  <a:srgbClr val="003399"/>
                </a:solidFill>
              </a:rPr>
              <a:t> Q3 hay </a:t>
            </a:r>
            <a:r>
              <a:rPr lang="en-US" altLang="en-US" sz="2400" dirty="0" err="1">
                <a:solidFill>
                  <a:srgbClr val="003399"/>
                </a:solidFill>
              </a:rPr>
              <a:t>dưới</a:t>
            </a:r>
            <a:r>
              <a:rPr lang="en-US" altLang="en-US" sz="2400" dirty="0">
                <a:solidFill>
                  <a:srgbClr val="003399"/>
                </a:solidFill>
              </a:rPr>
              <a:t> Q1 </a:t>
            </a:r>
            <a:r>
              <a:rPr lang="en-US" altLang="en-US" sz="2400" dirty="0" err="1">
                <a:solidFill>
                  <a:srgbClr val="003399"/>
                </a:solidFill>
              </a:rPr>
              <a:t>một</a:t>
            </a:r>
            <a:r>
              <a:rPr lang="en-US" altLang="en-US" sz="2400" dirty="0">
                <a:solidFill>
                  <a:srgbClr val="003399"/>
                </a:solidFill>
              </a:rPr>
              <a:t> </a:t>
            </a:r>
            <a:r>
              <a:rPr lang="en-US" altLang="en-US" sz="2400" dirty="0" err="1">
                <a:solidFill>
                  <a:srgbClr val="003399"/>
                </a:solidFill>
              </a:rPr>
              <a:t>khoảng</a:t>
            </a:r>
            <a:r>
              <a:rPr lang="en-US" altLang="en-US" sz="2400" dirty="0">
                <a:solidFill>
                  <a:srgbClr val="003399"/>
                </a:solidFill>
              </a:rPr>
              <a:t> 1.5xIQR</a:t>
            </a:r>
          </a:p>
          <a:p>
            <a:pPr lvl="1">
              <a:spcBef>
                <a:spcPct val="75000"/>
              </a:spcBef>
            </a:pPr>
            <a:r>
              <a:rPr lang="en-US" altLang="en-US" sz="2400" dirty="0">
                <a:solidFill>
                  <a:srgbClr val="003399"/>
                </a:solidFill>
              </a:rPr>
              <a:t>Variance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997" y="1348370"/>
            <a:ext cx="8081003" cy="4732328"/>
          </a:xfrm>
        </p:spPr>
        <p:txBody>
          <a:bodyPr>
            <a:noAutofit/>
          </a:bodyPr>
          <a:lstStyle/>
          <a:p>
            <a:pPr algn="just">
              <a:spcBef>
                <a:spcPts val="0"/>
              </a:spcBef>
              <a:spcAft>
                <a:spcPts val="533"/>
              </a:spcAft>
              <a:buClr>
                <a:srgbClr val="FF0066"/>
              </a:buClr>
              <a:buFont typeface="Wingdings 2" pitchFamily="18" charset="2"/>
              <a:buChar char="®"/>
            </a:pPr>
            <a:r>
              <a:rPr lang="en-US" sz="2400" b="0">
                <a:cs typeface="Arial" pitchFamily="34" charset="0"/>
              </a:rPr>
              <a:t>Tóm tắt mô tả dữ liệu bởi độ tập trung và độ phân tán</a:t>
            </a:r>
          </a:p>
          <a:p>
            <a:pPr marL="812810" lvl="2" indent="-406405">
              <a:spcBef>
                <a:spcPts val="0"/>
              </a:spcBef>
              <a:spcAft>
                <a:spcPts val="533"/>
              </a:spcAft>
              <a:buClr>
                <a:srgbClr val="FF0066"/>
              </a:buClr>
            </a:pPr>
            <a:r>
              <a:rPr lang="en-US" sz="2400">
                <a:latin typeface="Calibri" pitchFamily="34" charset="0"/>
                <a:cs typeface="Calibri" pitchFamily="34" charset="0"/>
              </a:rPr>
              <a:t>Độ phân tán:</a:t>
            </a:r>
          </a:p>
          <a:p>
            <a:pPr marL="1275502" lvl="3" indent="-406405" algn="just">
              <a:spcBef>
                <a:spcPts val="0"/>
              </a:spcBef>
              <a:spcAft>
                <a:spcPts val="533"/>
              </a:spcAft>
              <a:buClr>
                <a:srgbClr val="FF0066"/>
              </a:buClr>
              <a:buFont typeface="Wingdings" panose="05000000000000000000" pitchFamily="2" charset="2"/>
              <a:buChar char="v"/>
            </a:pPr>
            <a:r>
              <a:rPr lang="en-US" altLang="en-US" sz="2400"/>
              <a:t>Quartiles: Tứ phân vị</a:t>
            </a:r>
          </a:p>
          <a:p>
            <a:pPr marL="1738194" lvl="4" indent="-406405" algn="just">
              <a:spcBef>
                <a:spcPts val="0"/>
              </a:spcBef>
              <a:spcAft>
                <a:spcPts val="533"/>
              </a:spcAft>
              <a:buClr>
                <a:srgbClr val="FF0066"/>
              </a:buClr>
            </a:pPr>
            <a:r>
              <a:rPr lang="en-US" altLang="en-US" sz="2400"/>
              <a:t>The first quartile (Q1): the 25th percentile</a:t>
            </a:r>
          </a:p>
          <a:p>
            <a:pPr marL="1738194" lvl="4" indent="-406405" algn="just">
              <a:spcBef>
                <a:spcPts val="0"/>
              </a:spcBef>
              <a:spcAft>
                <a:spcPts val="533"/>
              </a:spcAft>
              <a:buClr>
                <a:srgbClr val="FF0066"/>
              </a:buClr>
            </a:pPr>
            <a:r>
              <a:rPr lang="en-US" altLang="en-US" sz="2400"/>
              <a:t>The second quartile (Q2): the 50th percentile (median)</a:t>
            </a:r>
          </a:p>
          <a:p>
            <a:pPr marL="1738194" lvl="4" indent="-406405" algn="just">
              <a:spcBef>
                <a:spcPts val="0"/>
              </a:spcBef>
              <a:spcAft>
                <a:spcPts val="533"/>
              </a:spcAft>
              <a:buClr>
                <a:srgbClr val="FF0066"/>
              </a:buClr>
            </a:pPr>
            <a:r>
              <a:rPr lang="en-US" altLang="en-US" sz="2400"/>
              <a:t>The third quartile (Q3): the 75th percentile</a:t>
            </a:r>
          </a:p>
          <a:p>
            <a:pPr marL="1275502" lvl="3" indent="-406405" algn="just">
              <a:spcBef>
                <a:spcPts val="0"/>
              </a:spcBef>
              <a:spcAft>
                <a:spcPts val="533"/>
              </a:spcAft>
              <a:buClr>
                <a:srgbClr val="FF0066"/>
              </a:buClr>
              <a:buFont typeface="Wingdings" panose="05000000000000000000" pitchFamily="2" charset="2"/>
              <a:buChar char="v"/>
            </a:pPr>
            <a:r>
              <a:rPr lang="en-US" altLang="en-US" sz="2400"/>
              <a:t>Interquartile Range (IQR) = Q3 – Q1</a:t>
            </a:r>
          </a:p>
          <a:p>
            <a:pPr marL="1738194" lvl="4" indent="-406405" algn="just">
              <a:spcBef>
                <a:spcPts val="0"/>
              </a:spcBef>
              <a:spcAft>
                <a:spcPts val="533"/>
              </a:spcAft>
              <a:buClr>
                <a:srgbClr val="FF0066"/>
              </a:buClr>
            </a:pPr>
            <a:r>
              <a:rPr lang="en-US" altLang="en-US" sz="2400"/>
              <a:t>Outliers: giá trị nằm cách trên Q3 hay dưới Q1 một khoảng 1.5xIQR</a:t>
            </a:r>
          </a:p>
          <a:p>
            <a:pPr marL="1275502" lvl="3" indent="-406405" algn="just">
              <a:spcBef>
                <a:spcPts val="0"/>
              </a:spcBef>
              <a:spcAft>
                <a:spcPts val="533"/>
              </a:spcAft>
              <a:buClr>
                <a:srgbClr val="FF0066"/>
              </a:buClr>
              <a:buFont typeface="Wingdings" panose="05000000000000000000" pitchFamily="2" charset="2"/>
              <a:buChar char="v"/>
            </a:pPr>
            <a:r>
              <a:rPr lang="en-US" altLang="en-US" sz="2400"/>
              <a:t>Variance</a:t>
            </a:r>
          </a:p>
          <a:p>
            <a:pPr marL="1275502" lvl="3" indent="-406405" algn="just">
              <a:spcBef>
                <a:spcPts val="0"/>
              </a:spcBef>
              <a:spcAft>
                <a:spcPts val="533"/>
              </a:spcAft>
              <a:buClr>
                <a:srgbClr val="FF0066"/>
              </a:buClr>
            </a:pPr>
            <a:endParaRPr lang="en-US" sz="2400"/>
          </a:p>
          <a:p>
            <a:pPr algn="just">
              <a:spcBef>
                <a:spcPts val="0"/>
              </a:spcBef>
              <a:spcAft>
                <a:spcPts val="533"/>
              </a:spcAft>
              <a:buClr>
                <a:srgbClr val="FF0066"/>
              </a:buClr>
              <a:buFont typeface="Wingdings 2" pitchFamily="18" charset="2"/>
              <a:buChar char="®"/>
            </a:pPr>
            <a:endParaRPr lang="en-US" altLang="en-US" sz="3600">
              <a:cs typeface="Arial" pitchFamily="34" charset="0"/>
            </a:endParaRPr>
          </a:p>
        </p:txBody>
      </p:sp>
      <p:sp>
        <p:nvSpPr>
          <p:cNvPr id="5" name="Slide Number Placeholder 4"/>
          <p:cNvSpPr>
            <a:spLocks noGrp="1"/>
          </p:cNvSpPr>
          <p:nvPr>
            <p:ph type="sldNum" sz="quarter" idx="11"/>
          </p:nvPr>
        </p:nvSpPr>
        <p:spPr/>
        <p:txBody>
          <a:bodyPr/>
          <a:lstStyle/>
          <a:p>
            <a:fld id="{427808B0-DB8A-471C-82EF-CF06681341D9}" type="slidenum">
              <a:rPr lang="vi-VN" smtClean="0"/>
              <a:t>16</a:t>
            </a:fld>
            <a:endParaRPr lang="vi-VN"/>
          </a:p>
        </p:txBody>
      </p:sp>
      <p:sp>
        <p:nvSpPr>
          <p:cNvPr id="2" name="Title 1"/>
          <p:cNvSpPr>
            <a:spLocks noGrp="1"/>
          </p:cNvSpPr>
          <p:nvPr>
            <p:ph type="title"/>
          </p:nvPr>
        </p:nvSpPr>
        <p:spPr>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r>
              <a:rPr lang="en-US"/>
              <a:t>2. Hiểu dữ liệu</a:t>
            </a:r>
            <a:endParaRPr lang="vi-VN"/>
          </a:p>
        </p:txBody>
      </p:sp>
      <p:cxnSp>
        <p:nvCxnSpPr>
          <p:cNvPr id="4" name="Straight Connector 3"/>
          <p:cNvCxnSpPr/>
          <p:nvPr/>
        </p:nvCxnSpPr>
        <p:spPr>
          <a:xfrm>
            <a:off x="609600" y="914400"/>
            <a:ext cx="9925336" cy="0"/>
          </a:xfrm>
          <a:prstGeom prst="line">
            <a:avLst/>
          </a:prstGeom>
          <a:ln w="50800" cmpd="sng">
            <a:solidFill>
              <a:schemeClr val="accent6">
                <a:lumMod val="75000"/>
              </a:schemeClr>
            </a:solidFill>
          </a:ln>
          <a:effectLst>
            <a:innerShdw blurRad="63500" dist="50800" dir="13500000">
              <a:prstClr val="black">
                <a:alpha val="50000"/>
              </a:prstClr>
            </a:innerShdw>
          </a:effectLst>
        </p:spPr>
        <p:style>
          <a:lnRef idx="1">
            <a:schemeClr val="accent1"/>
          </a:lnRef>
          <a:fillRef idx="0">
            <a:schemeClr val="accent1"/>
          </a:fillRef>
          <a:effectRef idx="0">
            <a:schemeClr val="accent1"/>
          </a:effectRef>
          <a:fontRef idx="minor">
            <a:schemeClr val="tx1"/>
          </a:fontRef>
        </p:style>
      </p:cxn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76134" y="1600200"/>
            <a:ext cx="2710744" cy="44804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841015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4276"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1890123" y="2396584"/>
            <a:ext cx="8196104" cy="2309812"/>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12" name="Slide Number Placeholder 5"/>
          <p:cNvSpPr>
            <a:spLocks noGrp="1"/>
          </p:cNvSpPr>
          <p:nvPr>
            <p:ph type="sldNum" sz="quarter" idx="11"/>
          </p:nvPr>
        </p:nvSpPr>
        <p:spPr/>
        <p:txBody>
          <a:bodyPr/>
          <a:lstStyle/>
          <a:p>
            <a:fld id="{26EED69B-716C-474D-8253-B2EA98036AB6}" type="slidenum">
              <a:rPr lang="en-US" altLang="en-US"/>
              <a:pPr/>
              <a:t>17</a:t>
            </a:fld>
            <a:endParaRPr lang="en-US" altLang="en-US"/>
          </a:p>
        </p:txBody>
      </p:sp>
      <p:sp>
        <p:nvSpPr>
          <p:cNvPr id="694274" name="Rectangle 2"/>
          <p:cNvSpPr>
            <a:spLocks noGrp="1" noChangeArrowheads="1"/>
          </p:cNvSpPr>
          <p:nvPr>
            <p:ph type="title"/>
          </p:nvPr>
        </p:nvSpPr>
        <p:spPr/>
        <p:txBody>
          <a:bodyPr/>
          <a:lstStyle/>
          <a:p>
            <a:r>
              <a:rPr lang="en-US" altLang="en-US"/>
              <a:t>2.2. Tóm tắt mô tả về dữ liệu</a:t>
            </a:r>
          </a:p>
        </p:txBody>
      </p:sp>
      <p:sp>
        <p:nvSpPr>
          <p:cNvPr id="694278" name="Line 6"/>
          <p:cNvSpPr>
            <a:spLocks noChangeShapeType="1"/>
          </p:cNvSpPr>
          <p:nvPr/>
        </p:nvSpPr>
        <p:spPr bwMode="auto">
          <a:xfrm>
            <a:off x="2819400" y="2857500"/>
            <a:ext cx="0" cy="165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694279" name="Line 7"/>
          <p:cNvSpPr>
            <a:spLocks noChangeShapeType="1"/>
          </p:cNvSpPr>
          <p:nvPr/>
        </p:nvSpPr>
        <p:spPr bwMode="auto">
          <a:xfrm>
            <a:off x="3505200" y="2857500"/>
            <a:ext cx="0" cy="165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694280" name="Text Box 8"/>
          <p:cNvSpPr txBox="1">
            <a:spLocks noChangeArrowheads="1"/>
          </p:cNvSpPr>
          <p:nvPr/>
        </p:nvSpPr>
        <p:spPr bwMode="auto">
          <a:xfrm>
            <a:off x="2362202" y="4191001"/>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Q1</a:t>
            </a:r>
          </a:p>
        </p:txBody>
      </p:sp>
      <p:sp>
        <p:nvSpPr>
          <p:cNvPr id="694281" name="Text Box 9"/>
          <p:cNvSpPr txBox="1">
            <a:spLocks noChangeArrowheads="1"/>
          </p:cNvSpPr>
          <p:nvPr/>
        </p:nvSpPr>
        <p:spPr bwMode="auto">
          <a:xfrm>
            <a:off x="2843216" y="4191001"/>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Q2</a:t>
            </a:r>
          </a:p>
        </p:txBody>
      </p:sp>
      <p:sp>
        <p:nvSpPr>
          <p:cNvPr id="694282" name="Text Box 10"/>
          <p:cNvSpPr txBox="1">
            <a:spLocks noChangeArrowheads="1"/>
          </p:cNvSpPr>
          <p:nvPr/>
        </p:nvSpPr>
        <p:spPr bwMode="auto">
          <a:xfrm>
            <a:off x="3452816" y="4191001"/>
            <a:ext cx="492443"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latin typeface="Arial" panose="020B0604020202020204" pitchFamily="34" charset="0"/>
              </a:rPr>
              <a:t>Q3</a:t>
            </a:r>
          </a:p>
        </p:txBody>
      </p:sp>
      <p:sp>
        <p:nvSpPr>
          <p:cNvPr id="694283" name="Text Box 11"/>
          <p:cNvSpPr txBox="1">
            <a:spLocks noChangeArrowheads="1"/>
          </p:cNvSpPr>
          <p:nvPr/>
        </p:nvSpPr>
        <p:spPr bwMode="auto">
          <a:xfrm>
            <a:off x="1828801" y="4852459"/>
            <a:ext cx="8839200" cy="8235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nSpc>
                <a:spcPct val="140000"/>
              </a:lnSpc>
              <a:spcBef>
                <a:spcPct val="20000"/>
              </a:spcBef>
            </a:pPr>
            <a:r>
              <a:rPr lang="en-US" altLang="en-US">
                <a:latin typeface="Arial" panose="020B0604020202020204" pitchFamily="34" charset="0"/>
              </a:rPr>
              <a:t>Tóm tắt mô tả về sự phân bố dữ liệu gồm năm trị số quan trọng: </a:t>
            </a:r>
            <a:r>
              <a:rPr lang="en-US" altLang="en-US">
                <a:solidFill>
                  <a:srgbClr val="CC3300"/>
                </a:solidFill>
                <a:latin typeface="Arial" panose="020B0604020202020204" pitchFamily="34" charset="0"/>
              </a:rPr>
              <a:t>median, Q1, Q3, trị lớn nhất, </a:t>
            </a:r>
            <a:r>
              <a:rPr lang="en-US" altLang="en-US">
                <a:latin typeface="Arial" panose="020B0604020202020204" pitchFamily="34" charset="0"/>
              </a:rPr>
              <a:t>và </a:t>
            </a:r>
            <a:r>
              <a:rPr lang="en-US" altLang="en-US">
                <a:solidFill>
                  <a:srgbClr val="CC3300"/>
                </a:solidFill>
                <a:latin typeface="Arial" panose="020B0604020202020204" pitchFamily="34" charset="0"/>
              </a:rPr>
              <a:t>trị nhỏ nhất</a:t>
            </a:r>
            <a:r>
              <a:rPr lang="en-US" altLang="en-US">
                <a:latin typeface="Arial" panose="020B0604020202020204" pitchFamily="34" charset="0"/>
              </a:rPr>
              <a:t> (theo thứ tự: Minimum, Q1, Median, Q3, Maximum).</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9" name="Rectangle 3"/>
          <p:cNvSpPr>
            <a:spLocks noGrp="1" noChangeArrowheads="1"/>
          </p:cNvSpPr>
          <p:nvPr>
            <p:ph idx="1"/>
          </p:nvPr>
        </p:nvSpPr>
        <p:spPr>
          <a:xfrm>
            <a:off x="681997" y="1348370"/>
            <a:ext cx="11090638" cy="2769989"/>
          </a:xfrm>
          <a:ln>
            <a:noFill/>
          </a:ln>
        </p:spPr>
        <p:style>
          <a:lnRef idx="2">
            <a:schemeClr val="accent1"/>
          </a:lnRef>
          <a:fillRef idx="1">
            <a:schemeClr val="lt1"/>
          </a:fillRef>
          <a:effectRef idx="0">
            <a:schemeClr val="accent1"/>
          </a:effectRef>
          <a:fontRef idx="minor">
            <a:schemeClr val="dk1"/>
          </a:fontRef>
        </p:style>
        <p:txBody>
          <a:bodyPr/>
          <a:lstStyle/>
          <a:p>
            <a:pPr>
              <a:lnSpc>
                <a:spcPct val="150000"/>
              </a:lnSpc>
              <a:spcBef>
                <a:spcPct val="100000"/>
              </a:spcBef>
            </a:pPr>
            <a:r>
              <a:rPr lang="en-US" altLang="en-US" sz="2400" b="0">
                <a:solidFill>
                  <a:srgbClr val="000099"/>
                </a:solidFill>
              </a:rPr>
              <a:t>Xử lý dữ liệu bị thiếu (missing data)</a:t>
            </a:r>
          </a:p>
          <a:p>
            <a:pPr>
              <a:lnSpc>
                <a:spcPct val="150000"/>
              </a:lnSpc>
              <a:spcBef>
                <a:spcPct val="100000"/>
              </a:spcBef>
            </a:pPr>
            <a:r>
              <a:rPr lang="en-US" altLang="en-US" sz="2400" b="0">
                <a:solidFill>
                  <a:srgbClr val="000099"/>
                </a:solidFill>
              </a:rPr>
              <a:t>Nhận diện phần tử biên (outliers) và giảm thiểu nhiễu (noisy data)</a:t>
            </a:r>
          </a:p>
          <a:p>
            <a:pPr>
              <a:lnSpc>
                <a:spcPct val="150000"/>
              </a:lnSpc>
              <a:spcBef>
                <a:spcPct val="100000"/>
              </a:spcBef>
            </a:pPr>
            <a:r>
              <a:rPr lang="en-US" altLang="en-US" sz="2400" b="0">
                <a:solidFill>
                  <a:srgbClr val="000099"/>
                </a:solidFill>
              </a:rPr>
              <a:t>Xử lý dữ liệu không nhất quán (inconsistent data)</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36448BC4-F742-403D-92B0-3C4F03CC104D}" type="slidenum">
              <a:rPr lang="en-US" altLang="en-US"/>
              <a:pPr/>
              <a:t>18</a:t>
            </a:fld>
            <a:endParaRPr lang="en-US" altLang="en-US"/>
          </a:p>
        </p:txBody>
      </p:sp>
      <p:sp>
        <p:nvSpPr>
          <p:cNvPr id="644098"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5" name="Rectangle 3"/>
          <p:cNvSpPr>
            <a:spLocks noGrp="1" noChangeArrowheads="1"/>
          </p:cNvSpPr>
          <p:nvPr>
            <p:ph idx="1"/>
          </p:nvPr>
        </p:nvSpPr>
        <p:spPr/>
        <p:txBody>
          <a:bodyPr/>
          <a:lstStyle/>
          <a:p>
            <a:pPr>
              <a:spcBef>
                <a:spcPct val="50000"/>
              </a:spcBef>
            </a:pPr>
            <a:r>
              <a:rPr lang="en-US" altLang="en-US" sz="1600">
                <a:latin typeface="Arial" panose="020B0604020202020204" pitchFamily="34" charset="0"/>
                <a:cs typeface="Arial" panose="020B0604020202020204" pitchFamily="34" charset="0"/>
              </a:rPr>
              <a:t>Xử lý dữ liệu bị thiếu (missing data)</a:t>
            </a:r>
          </a:p>
          <a:p>
            <a:pPr lvl="1">
              <a:spcBef>
                <a:spcPct val="50000"/>
              </a:spcBef>
            </a:pPr>
            <a:r>
              <a:rPr lang="en-US" altLang="en-US" sz="1600">
                <a:solidFill>
                  <a:srgbClr val="CC3300"/>
                </a:solidFill>
                <a:latin typeface="Arial" panose="020B0604020202020204" pitchFamily="34" charset="0"/>
                <a:cs typeface="Arial" panose="020B0604020202020204" pitchFamily="34" charset="0"/>
              </a:rPr>
              <a:t>Định nghĩa của dữ liệu bị thiếu</a:t>
            </a:r>
          </a:p>
          <a:p>
            <a:pPr lvl="2">
              <a:spcBef>
                <a:spcPct val="50000"/>
              </a:spcBef>
            </a:pPr>
            <a:r>
              <a:rPr lang="en-US" altLang="en-US" sz="1600">
                <a:latin typeface="Arial" panose="020B0604020202020204" pitchFamily="34" charset="0"/>
                <a:cs typeface="Arial" panose="020B0604020202020204" pitchFamily="34" charset="0"/>
              </a:rPr>
              <a:t>Dữ liệu không có sẵn khi cần được sử dụng</a:t>
            </a:r>
          </a:p>
          <a:p>
            <a:pPr lvl="1">
              <a:spcBef>
                <a:spcPct val="50000"/>
              </a:spcBef>
            </a:pPr>
            <a:r>
              <a:rPr lang="en-US" altLang="en-US" sz="1600">
                <a:solidFill>
                  <a:srgbClr val="CC3300"/>
                </a:solidFill>
                <a:latin typeface="Arial" panose="020B0604020202020204" pitchFamily="34" charset="0"/>
                <a:cs typeface="Arial" panose="020B0604020202020204" pitchFamily="34" charset="0"/>
              </a:rPr>
              <a:t>Nguyên nhân gây ra dữ liệu bị thiếu</a:t>
            </a:r>
          </a:p>
          <a:p>
            <a:pPr lvl="2">
              <a:spcBef>
                <a:spcPct val="50000"/>
              </a:spcBef>
            </a:pPr>
            <a:r>
              <a:rPr lang="en-US" altLang="en-US" sz="1600">
                <a:latin typeface="Arial" panose="020B0604020202020204" pitchFamily="34" charset="0"/>
                <a:cs typeface="Arial" panose="020B0604020202020204" pitchFamily="34" charset="0"/>
              </a:rPr>
              <a:t>Khách quan (không tồn tại lúc được nhập liệu, sự cố, …)</a:t>
            </a:r>
          </a:p>
          <a:p>
            <a:pPr lvl="2">
              <a:spcBef>
                <a:spcPct val="50000"/>
              </a:spcBef>
            </a:pPr>
            <a:r>
              <a:rPr lang="en-US" altLang="en-US" sz="1600">
                <a:latin typeface="Arial" panose="020B0604020202020204" pitchFamily="34" charset="0"/>
                <a:cs typeface="Arial" panose="020B0604020202020204" pitchFamily="34" charset="0"/>
              </a:rPr>
              <a:t>Chủ quan (tác nhân con người)</a:t>
            </a:r>
          </a:p>
          <a:p>
            <a:pPr lvl="1">
              <a:spcBef>
                <a:spcPct val="50000"/>
              </a:spcBef>
            </a:pPr>
            <a:r>
              <a:rPr lang="en-US" altLang="en-US" sz="1600">
                <a:solidFill>
                  <a:srgbClr val="CC3300"/>
                </a:solidFill>
                <a:latin typeface="Arial" panose="020B0604020202020204" pitchFamily="34" charset="0"/>
                <a:cs typeface="Arial" panose="020B0604020202020204" pitchFamily="34" charset="0"/>
              </a:rPr>
              <a:t>Giải pháp cho dữ liệu bị thiếu</a:t>
            </a:r>
          </a:p>
          <a:p>
            <a:pPr lvl="2">
              <a:spcBef>
                <a:spcPct val="50000"/>
              </a:spcBef>
            </a:pPr>
            <a:r>
              <a:rPr lang="en-US" altLang="en-US" sz="1600">
                <a:latin typeface="Arial" panose="020B0604020202020204" pitchFamily="34" charset="0"/>
                <a:cs typeface="Arial" panose="020B0604020202020204" pitchFamily="34" charset="0"/>
              </a:rPr>
              <a:t>Bỏ qua</a:t>
            </a:r>
          </a:p>
          <a:p>
            <a:pPr lvl="2">
              <a:spcBef>
                <a:spcPct val="50000"/>
              </a:spcBef>
            </a:pPr>
            <a:r>
              <a:rPr lang="en-US" altLang="en-US" sz="1600">
                <a:latin typeface="Arial" panose="020B0604020202020204" pitchFamily="34" charset="0"/>
                <a:cs typeface="Arial" panose="020B0604020202020204" pitchFamily="34" charset="0"/>
              </a:rPr>
              <a:t>Xử lý </a:t>
            </a:r>
            <a:r>
              <a:rPr lang="en-US" altLang="en-US" sz="1600" smtClean="0">
                <a:latin typeface="Arial" panose="020B0604020202020204" pitchFamily="34" charset="0"/>
                <a:cs typeface="Arial" panose="020B0604020202020204" pitchFamily="34" charset="0"/>
              </a:rPr>
              <a:t>thủ công </a:t>
            </a:r>
            <a:r>
              <a:rPr lang="en-US" altLang="en-US" sz="1600">
                <a:latin typeface="Arial" panose="020B0604020202020204" pitchFamily="34" charset="0"/>
                <a:cs typeface="Arial" panose="020B0604020202020204" pitchFamily="34" charset="0"/>
              </a:rPr>
              <a:t>(không tự động, bán tự động)</a:t>
            </a:r>
          </a:p>
          <a:p>
            <a:pPr lvl="2">
              <a:spcBef>
                <a:spcPct val="50000"/>
              </a:spcBef>
            </a:pPr>
            <a:r>
              <a:rPr lang="en-US" altLang="en-US" sz="1600">
                <a:latin typeface="Arial" panose="020B0604020202020204" pitchFamily="34" charset="0"/>
                <a:cs typeface="Arial" panose="020B0604020202020204" pitchFamily="34" charset="0"/>
              </a:rPr>
              <a:t>Dùng giá trị thay thế (tự động): hằng số toàn cục, trị phổ biến nhất, trung bình toàn cục, trung bình cục bộ, trị dự đoán, …</a:t>
            </a:r>
          </a:p>
          <a:p>
            <a:pPr lvl="2">
              <a:spcBef>
                <a:spcPct val="50000"/>
              </a:spcBef>
            </a:pPr>
            <a:r>
              <a:rPr lang="en-US" altLang="en-US" sz="1600">
                <a:latin typeface="Arial" panose="020B0604020202020204" pitchFamily="34" charset="0"/>
                <a:cs typeface="Arial" panose="020B0604020202020204" pitchFamily="34" charset="0"/>
              </a:rPr>
              <a:t>Ngăn chặn dữ liệu bị thiếu: thiết kế tốt CSDL và các thủ tục nhập liệu (các ràng buộc dữ liệu)</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4B694936-66A6-4955-80FD-560E5E9E9431}" type="slidenum">
              <a:rPr lang="en-US" altLang="en-US"/>
              <a:pPr/>
              <a:t>19</a:t>
            </a:fld>
            <a:endParaRPr lang="en-US" altLang="en-US"/>
          </a:p>
        </p:txBody>
      </p:sp>
      <p:sp>
        <p:nvSpPr>
          <p:cNvPr id="699394"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9" name="Rectangle 3"/>
          <p:cNvSpPr>
            <a:spLocks noGrp="1" noChangeArrowheads="1"/>
          </p:cNvSpPr>
          <p:nvPr>
            <p:ph idx="1"/>
          </p:nvPr>
        </p:nvSpPr>
        <p:spPr/>
        <p:txBody>
          <a:bodyPr/>
          <a:lstStyle/>
          <a:p>
            <a:pPr>
              <a:spcBef>
                <a:spcPct val="50000"/>
              </a:spcBef>
              <a:buFont typeface="Wingdings" panose="05000000000000000000" pitchFamily="2" charset="2"/>
              <a:buChar char="v"/>
            </a:pPr>
            <a:r>
              <a:rPr lang="en-US" altLang="en-US" sz="2000"/>
              <a:t>Nhận diện phần tử biên (outliers) và giảm thiểu nhiễu (noisy data)</a:t>
            </a:r>
          </a:p>
          <a:p>
            <a:pPr lvl="1">
              <a:spcBef>
                <a:spcPct val="50000"/>
              </a:spcBef>
            </a:pPr>
            <a:r>
              <a:rPr lang="en-US" altLang="en-US" sz="2000"/>
              <a:t>Định nghĩa</a:t>
            </a:r>
          </a:p>
          <a:p>
            <a:pPr lvl="2">
              <a:spcBef>
                <a:spcPct val="50000"/>
              </a:spcBef>
            </a:pPr>
            <a:r>
              <a:rPr lang="en-US" altLang="en-US"/>
              <a:t>Outliers: những dữ liệu (đối tượng) không tuân theo đặc tính/hành vi chung của tập dữ liệu (đối tượng).</a:t>
            </a:r>
          </a:p>
          <a:p>
            <a:pPr lvl="2">
              <a:spcBef>
                <a:spcPct val="50000"/>
              </a:spcBef>
            </a:pPr>
            <a:r>
              <a:rPr lang="en-US" altLang="en-US"/>
              <a:t>Noisy data: outliers bị loại bỏ (rejected/discarded outliers) như là những trường hợp ngoại lệ (exceptions).</a:t>
            </a:r>
          </a:p>
          <a:p>
            <a:pPr lvl="1">
              <a:spcBef>
                <a:spcPct val="50000"/>
              </a:spcBef>
            </a:pPr>
            <a:r>
              <a:rPr lang="en-US" altLang="en-US" sz="2000"/>
              <a:t>Nguyên nhân</a:t>
            </a:r>
          </a:p>
          <a:p>
            <a:pPr lvl="2">
              <a:spcBef>
                <a:spcPct val="50000"/>
              </a:spcBef>
            </a:pPr>
            <a:r>
              <a:rPr lang="en-US" altLang="en-US"/>
              <a:t>Khách quan (công cụ thu thập dữ liệu, lỗi trên đường truyền, giới hạn công nghệ, …)</a:t>
            </a:r>
          </a:p>
          <a:p>
            <a:pPr lvl="2">
              <a:spcBef>
                <a:spcPct val="50000"/>
              </a:spcBef>
            </a:pPr>
            <a:r>
              <a:rPr lang="en-US" altLang="en-US"/>
              <a:t>Chủ quan (tác nhân con người)</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D239F70D-B379-4657-930A-343F4117F9EF}" type="slidenum">
              <a:rPr lang="en-US" altLang="en-US"/>
              <a:pPr/>
              <a:t>20</a:t>
            </a:fld>
            <a:endParaRPr lang="en-US" altLang="en-US"/>
          </a:p>
        </p:txBody>
      </p:sp>
      <p:sp>
        <p:nvSpPr>
          <p:cNvPr id="700418"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1" name="Rectangle 3"/>
          <p:cNvSpPr>
            <a:spLocks noGrp="1" noChangeArrowheads="1"/>
          </p:cNvSpPr>
          <p:nvPr>
            <p:ph idx="1"/>
          </p:nvPr>
        </p:nvSpPr>
        <p:spPr/>
        <p:txBody>
          <a:bodyPr/>
          <a:lstStyle/>
          <a:p>
            <a:pPr>
              <a:lnSpc>
                <a:spcPct val="90000"/>
              </a:lnSpc>
              <a:spcBef>
                <a:spcPct val="50000"/>
              </a:spcBef>
            </a:pPr>
            <a:r>
              <a:rPr lang="en-US" altLang="en-US" sz="2000"/>
              <a:t>Nhận diện phần tử biên (outliers) và giảm thiểu nhiễu (noisy data)</a:t>
            </a:r>
          </a:p>
          <a:p>
            <a:pPr lvl="1">
              <a:lnSpc>
                <a:spcPct val="90000"/>
              </a:lnSpc>
              <a:spcBef>
                <a:spcPct val="50000"/>
              </a:spcBef>
            </a:pPr>
            <a:r>
              <a:rPr lang="en-US" altLang="en-US" sz="2000">
                <a:solidFill>
                  <a:srgbClr val="FF0000"/>
                </a:solidFill>
              </a:rPr>
              <a:t>Giải pháp nhận diện phần tử biên</a:t>
            </a:r>
          </a:p>
          <a:p>
            <a:pPr lvl="2">
              <a:lnSpc>
                <a:spcPct val="90000"/>
              </a:lnSpc>
              <a:spcBef>
                <a:spcPct val="50000"/>
              </a:spcBef>
            </a:pPr>
            <a:r>
              <a:rPr lang="en-US" altLang="en-US"/>
              <a:t>Dựa trên phân bố thống kê (statistical distribution-based)</a:t>
            </a:r>
          </a:p>
          <a:p>
            <a:pPr lvl="2">
              <a:lnSpc>
                <a:spcPct val="90000"/>
              </a:lnSpc>
              <a:spcBef>
                <a:spcPct val="50000"/>
              </a:spcBef>
            </a:pPr>
            <a:r>
              <a:rPr lang="en-US" altLang="en-US"/>
              <a:t>Dựa trên khoảng cách (distance-based)</a:t>
            </a:r>
          </a:p>
          <a:p>
            <a:pPr lvl="2">
              <a:lnSpc>
                <a:spcPct val="90000"/>
              </a:lnSpc>
              <a:spcBef>
                <a:spcPct val="50000"/>
              </a:spcBef>
            </a:pPr>
            <a:r>
              <a:rPr lang="en-US" altLang="en-US"/>
              <a:t>Dựa trên mật độ (density-based)</a:t>
            </a:r>
          </a:p>
          <a:p>
            <a:pPr lvl="2">
              <a:lnSpc>
                <a:spcPct val="90000"/>
              </a:lnSpc>
              <a:spcBef>
                <a:spcPct val="50000"/>
              </a:spcBef>
            </a:pPr>
            <a:r>
              <a:rPr lang="en-US" altLang="en-US"/>
              <a:t>Dựa trên độ lệch (deviation-based)</a:t>
            </a:r>
          </a:p>
          <a:p>
            <a:pPr lvl="1">
              <a:lnSpc>
                <a:spcPct val="90000"/>
              </a:lnSpc>
              <a:spcBef>
                <a:spcPct val="50000"/>
              </a:spcBef>
            </a:pPr>
            <a:r>
              <a:rPr lang="en-US" altLang="en-US" sz="2000">
                <a:solidFill>
                  <a:srgbClr val="FF0000"/>
                </a:solidFill>
              </a:rPr>
              <a:t>Giải pháp giảm thiểu nhiễu</a:t>
            </a:r>
          </a:p>
          <a:p>
            <a:pPr lvl="2">
              <a:lnSpc>
                <a:spcPct val="90000"/>
              </a:lnSpc>
              <a:spcBef>
                <a:spcPct val="50000"/>
              </a:spcBef>
            </a:pPr>
            <a:r>
              <a:rPr lang="en-US" altLang="en-US"/>
              <a:t>Binning</a:t>
            </a:r>
          </a:p>
          <a:p>
            <a:pPr lvl="2">
              <a:lnSpc>
                <a:spcPct val="90000"/>
              </a:lnSpc>
              <a:spcBef>
                <a:spcPct val="50000"/>
              </a:spcBef>
            </a:pPr>
            <a:r>
              <a:rPr lang="en-US" altLang="en-US"/>
              <a:t>Hồi quy (regression)</a:t>
            </a:r>
          </a:p>
          <a:p>
            <a:pPr lvl="2">
              <a:lnSpc>
                <a:spcPct val="90000"/>
              </a:lnSpc>
              <a:spcBef>
                <a:spcPct val="50000"/>
              </a:spcBef>
            </a:pPr>
            <a:r>
              <a:rPr lang="en-US" altLang="en-US"/>
              <a:t>Phân tích cụm (cluster analysis)</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2E03D80B-EE0F-4075-95D9-13FD5FFF5B44}" type="slidenum">
              <a:rPr lang="en-US" altLang="en-US"/>
              <a:pPr/>
              <a:t>21</a:t>
            </a:fld>
            <a:endParaRPr lang="en-US" altLang="en-US"/>
          </a:p>
        </p:txBody>
      </p:sp>
      <p:sp>
        <p:nvSpPr>
          <p:cNvPr id="703490"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5541" name="Picture 5"/>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638800" y="1447800"/>
            <a:ext cx="5418455" cy="467502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CDB3CC5B-81E2-42C4-AE93-9E271BBCE195}" type="slidenum">
              <a:rPr lang="en-US" altLang="en-US"/>
              <a:pPr/>
              <a:t>22</a:t>
            </a:fld>
            <a:endParaRPr lang="en-US" altLang="en-US"/>
          </a:p>
        </p:txBody>
      </p:sp>
      <p:sp>
        <p:nvSpPr>
          <p:cNvPr id="705538" name="Rectangle 2"/>
          <p:cNvSpPr>
            <a:spLocks noGrp="1" noChangeArrowheads="1"/>
          </p:cNvSpPr>
          <p:nvPr>
            <p:ph type="title"/>
          </p:nvPr>
        </p:nvSpPr>
        <p:spPr/>
        <p:txBody>
          <a:bodyPr/>
          <a:lstStyle/>
          <a:p>
            <a:r>
              <a:rPr lang="en-US" altLang="en-US"/>
              <a:t>2.3. Làm sạch dữ liệu</a:t>
            </a:r>
          </a:p>
        </p:txBody>
      </p:sp>
      <p:sp>
        <p:nvSpPr>
          <p:cNvPr id="705539" name="Rectangle 3"/>
          <p:cNvSpPr>
            <a:spLocks noGrp="1" noChangeArrowheads="1"/>
          </p:cNvSpPr>
          <p:nvPr>
            <p:ph type="body" sz="half" idx="4294967295"/>
          </p:nvPr>
        </p:nvSpPr>
        <p:spPr>
          <a:xfrm>
            <a:off x="914400" y="1447800"/>
            <a:ext cx="3619500" cy="3539430"/>
          </a:xfrm>
        </p:spPr>
        <p:txBody>
          <a:bodyPr/>
          <a:lstStyle/>
          <a:p>
            <a:pPr marL="228600" indent="0">
              <a:spcBef>
                <a:spcPct val="50000"/>
              </a:spcBef>
            </a:pPr>
            <a:r>
              <a:rPr lang="en-US" altLang="en-US" sz="2000">
                <a:solidFill>
                  <a:srgbClr val="003399"/>
                </a:solidFill>
              </a:rPr>
              <a:t>Giải pháp giảm thiểu nhiễu</a:t>
            </a:r>
          </a:p>
          <a:p>
            <a:pPr marL="685800" lvl="1" indent="0">
              <a:spcBef>
                <a:spcPct val="50000"/>
              </a:spcBef>
            </a:pPr>
            <a:r>
              <a:rPr lang="en-US" altLang="en-US" sz="2000">
                <a:solidFill>
                  <a:srgbClr val="003399"/>
                </a:solidFill>
              </a:rPr>
              <a:t>Binning (by bin means, bin median, bin boundaries)</a:t>
            </a:r>
          </a:p>
          <a:p>
            <a:pPr marL="1428750" lvl="2" indent="-285750">
              <a:spcBef>
                <a:spcPct val="50000"/>
              </a:spcBef>
              <a:buFont typeface="Arial" panose="020B0604020202020204" pitchFamily="34" charset="0"/>
              <a:buChar char="•"/>
            </a:pPr>
            <a:r>
              <a:rPr lang="en-US" altLang="en-US" sz="2000">
                <a:solidFill>
                  <a:srgbClr val="003399"/>
                </a:solidFill>
              </a:rPr>
              <a:t>Dữ liệu có thứ tự</a:t>
            </a:r>
          </a:p>
          <a:p>
            <a:pPr marL="1428750" lvl="2" indent="-285750">
              <a:spcBef>
                <a:spcPct val="50000"/>
              </a:spcBef>
              <a:buFont typeface="Arial" panose="020B0604020202020204" pitchFamily="34" charset="0"/>
              <a:buChar char="•"/>
            </a:pPr>
            <a:r>
              <a:rPr lang="en-US" altLang="en-US" sz="2000">
                <a:solidFill>
                  <a:srgbClr val="003399"/>
                </a:solidFill>
              </a:rPr>
              <a:t>Phân bố dữ liệu vào các bins (buckets)</a:t>
            </a:r>
          </a:p>
          <a:p>
            <a:pPr marL="1428750" lvl="2" indent="-285750">
              <a:spcBef>
                <a:spcPct val="50000"/>
              </a:spcBef>
              <a:buFont typeface="Arial" panose="020B0604020202020204" pitchFamily="34" charset="0"/>
              <a:buChar char="•"/>
            </a:pPr>
            <a:r>
              <a:rPr lang="en-US" altLang="en-US" sz="2000">
                <a:solidFill>
                  <a:srgbClr val="003399"/>
                </a:solidFill>
              </a:rPr>
              <a:t>Bin boundaries: trị min và trị max</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7587" name="Rectangle 3"/>
          <p:cNvSpPr>
            <a:spLocks noGrp="1" noChangeArrowheads="1"/>
          </p:cNvSpPr>
          <p:nvPr>
            <p:ph idx="1"/>
          </p:nvPr>
        </p:nvSpPr>
        <p:spPr/>
        <p:txBody>
          <a:bodyPr/>
          <a:lstStyle/>
          <a:p>
            <a:pPr>
              <a:spcBef>
                <a:spcPct val="50000"/>
              </a:spcBef>
            </a:pPr>
            <a:r>
              <a:rPr lang="en-US" altLang="en-US" sz="2000"/>
              <a:t>Nhận diện phần tử biên (outliers) và giảm thiểu nhiễu (noisy data)</a:t>
            </a:r>
          </a:p>
          <a:p>
            <a:pPr lvl="1">
              <a:spcBef>
                <a:spcPct val="50000"/>
              </a:spcBef>
            </a:pPr>
            <a:r>
              <a:rPr lang="en-US" altLang="en-US" sz="2000"/>
              <a:t>Giải pháp giảm thiểu nhiễu</a:t>
            </a:r>
          </a:p>
          <a:p>
            <a:pPr lvl="2">
              <a:spcBef>
                <a:spcPct val="50000"/>
              </a:spcBef>
            </a:pPr>
            <a:r>
              <a:rPr lang="en-US" altLang="en-US"/>
              <a:t>Hồi quy (regression)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32" name="Slide Number Placeholder 5"/>
          <p:cNvSpPr>
            <a:spLocks noGrp="1"/>
          </p:cNvSpPr>
          <p:nvPr>
            <p:ph type="sldNum" sz="quarter" idx="11"/>
          </p:nvPr>
        </p:nvSpPr>
        <p:spPr/>
        <p:txBody>
          <a:bodyPr/>
          <a:lstStyle/>
          <a:p>
            <a:fld id="{43CF80E8-4058-4FE3-BDEF-7F1B61C4DE69}" type="slidenum">
              <a:rPr lang="en-US" altLang="en-US"/>
              <a:pPr/>
              <a:t>23</a:t>
            </a:fld>
            <a:endParaRPr lang="en-US" altLang="en-US"/>
          </a:p>
        </p:txBody>
      </p:sp>
      <p:sp>
        <p:nvSpPr>
          <p:cNvPr id="707586" name="Rectangle 2"/>
          <p:cNvSpPr>
            <a:spLocks noGrp="1" noChangeArrowheads="1"/>
          </p:cNvSpPr>
          <p:nvPr>
            <p:ph type="title"/>
          </p:nvPr>
        </p:nvSpPr>
        <p:spPr/>
        <p:txBody>
          <a:bodyPr/>
          <a:lstStyle/>
          <a:p>
            <a:r>
              <a:rPr lang="en-US" altLang="en-US"/>
              <a:t>2.3. Làm sạch dữ liệu</a:t>
            </a:r>
          </a:p>
        </p:txBody>
      </p:sp>
      <p:grpSp>
        <p:nvGrpSpPr>
          <p:cNvPr id="707613" name="Group 29"/>
          <p:cNvGrpSpPr>
            <a:grpSpLocks/>
          </p:cNvGrpSpPr>
          <p:nvPr/>
        </p:nvGrpSpPr>
        <p:grpSpPr bwMode="auto">
          <a:xfrm>
            <a:off x="3322161" y="3048000"/>
            <a:ext cx="5776278" cy="2476500"/>
            <a:chOff x="823" y="917"/>
            <a:chExt cx="4549" cy="3074"/>
          </a:xfrm>
        </p:grpSpPr>
        <p:sp>
          <p:nvSpPr>
            <p:cNvPr id="707588" name="Line 4"/>
            <p:cNvSpPr>
              <a:spLocks noChangeShapeType="1"/>
            </p:cNvSpPr>
            <p:nvPr/>
          </p:nvSpPr>
          <p:spPr bwMode="auto">
            <a:xfrm>
              <a:off x="823" y="2767"/>
              <a:ext cx="4361"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589" name="Line 5"/>
            <p:cNvSpPr>
              <a:spLocks noChangeShapeType="1"/>
            </p:cNvSpPr>
            <p:nvPr/>
          </p:nvSpPr>
          <p:spPr bwMode="auto">
            <a:xfrm flipV="1">
              <a:off x="2870" y="1029"/>
              <a:ext cx="0" cy="296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590" name="Oval 6"/>
            <p:cNvSpPr>
              <a:spLocks noChangeArrowheads="1"/>
            </p:cNvSpPr>
            <p:nvPr/>
          </p:nvSpPr>
          <p:spPr bwMode="auto">
            <a:xfrm flipV="1">
              <a:off x="3743" y="2081"/>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1" name="Oval 7"/>
            <p:cNvSpPr>
              <a:spLocks noChangeArrowheads="1"/>
            </p:cNvSpPr>
            <p:nvPr/>
          </p:nvSpPr>
          <p:spPr bwMode="auto">
            <a:xfrm flipV="1">
              <a:off x="3480" y="2147"/>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2" name="Oval 8"/>
            <p:cNvSpPr>
              <a:spLocks noChangeArrowheads="1"/>
            </p:cNvSpPr>
            <p:nvPr/>
          </p:nvSpPr>
          <p:spPr bwMode="auto">
            <a:xfrm flipV="1">
              <a:off x="3370" y="1565"/>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3" name="Oval 9"/>
            <p:cNvSpPr>
              <a:spLocks noChangeArrowheads="1"/>
            </p:cNvSpPr>
            <p:nvPr/>
          </p:nvSpPr>
          <p:spPr bwMode="auto">
            <a:xfrm flipV="1">
              <a:off x="3260" y="2442"/>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4" name="Oval 10"/>
            <p:cNvSpPr>
              <a:spLocks noChangeArrowheads="1"/>
            </p:cNvSpPr>
            <p:nvPr/>
          </p:nvSpPr>
          <p:spPr bwMode="auto">
            <a:xfrm flipV="1">
              <a:off x="3809" y="1859"/>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5" name="Oval 11"/>
            <p:cNvSpPr>
              <a:spLocks noChangeArrowheads="1"/>
            </p:cNvSpPr>
            <p:nvPr/>
          </p:nvSpPr>
          <p:spPr bwMode="auto">
            <a:xfrm flipV="1">
              <a:off x="3936" y="1687"/>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6" name="Oval 12"/>
            <p:cNvSpPr>
              <a:spLocks noChangeArrowheads="1"/>
            </p:cNvSpPr>
            <p:nvPr/>
          </p:nvSpPr>
          <p:spPr bwMode="auto">
            <a:xfrm flipV="1">
              <a:off x="3034" y="2503"/>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7" name="Oval 13"/>
            <p:cNvSpPr>
              <a:spLocks noChangeArrowheads="1"/>
            </p:cNvSpPr>
            <p:nvPr/>
          </p:nvSpPr>
          <p:spPr bwMode="auto">
            <a:xfrm flipV="1">
              <a:off x="4138" y="1684"/>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8" name="Oval 14"/>
            <p:cNvSpPr>
              <a:spLocks noChangeArrowheads="1"/>
            </p:cNvSpPr>
            <p:nvPr/>
          </p:nvSpPr>
          <p:spPr bwMode="auto">
            <a:xfrm flipV="1">
              <a:off x="4151" y="1533"/>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599" name="Oval 15"/>
            <p:cNvSpPr>
              <a:spLocks noChangeArrowheads="1"/>
            </p:cNvSpPr>
            <p:nvPr/>
          </p:nvSpPr>
          <p:spPr bwMode="auto">
            <a:xfrm flipV="1">
              <a:off x="4412" y="1516"/>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600" name="Oval 16"/>
            <p:cNvSpPr>
              <a:spLocks noChangeArrowheads="1"/>
            </p:cNvSpPr>
            <p:nvPr/>
          </p:nvSpPr>
          <p:spPr bwMode="auto">
            <a:xfrm flipV="1">
              <a:off x="3006" y="2671"/>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601" name="Oval 17"/>
            <p:cNvSpPr>
              <a:spLocks noChangeArrowheads="1"/>
            </p:cNvSpPr>
            <p:nvPr/>
          </p:nvSpPr>
          <p:spPr bwMode="auto">
            <a:xfrm flipV="1">
              <a:off x="4399" y="1358"/>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602" name="Oval 18"/>
            <p:cNvSpPr>
              <a:spLocks noChangeArrowheads="1"/>
            </p:cNvSpPr>
            <p:nvPr/>
          </p:nvSpPr>
          <p:spPr bwMode="auto">
            <a:xfrm flipV="1">
              <a:off x="4607" y="1279"/>
              <a:ext cx="27" cy="27"/>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latin typeface="Arial" panose="020B0604020202020204" pitchFamily="34" charset="0"/>
              </a:endParaRPr>
            </a:p>
          </p:txBody>
        </p:sp>
        <p:sp>
          <p:nvSpPr>
            <p:cNvPr id="707603" name="Line 19"/>
            <p:cNvSpPr>
              <a:spLocks noChangeShapeType="1"/>
            </p:cNvSpPr>
            <p:nvPr/>
          </p:nvSpPr>
          <p:spPr bwMode="auto">
            <a:xfrm flipV="1">
              <a:off x="2859" y="1224"/>
              <a:ext cx="1831" cy="1430"/>
            </a:xfrm>
            <a:prstGeom prst="line">
              <a:avLst/>
            </a:prstGeom>
            <a:noFill/>
            <a:ln w="9525">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604" name="Text Box 20"/>
            <p:cNvSpPr txBox="1">
              <a:spLocks noChangeArrowheads="1"/>
            </p:cNvSpPr>
            <p:nvPr/>
          </p:nvSpPr>
          <p:spPr bwMode="auto">
            <a:xfrm>
              <a:off x="5105" y="2759"/>
              <a:ext cx="267"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x</a:t>
              </a:r>
            </a:p>
          </p:txBody>
        </p:sp>
        <p:sp>
          <p:nvSpPr>
            <p:cNvPr id="707605" name="Text Box 21"/>
            <p:cNvSpPr txBox="1">
              <a:spLocks noChangeArrowheads="1"/>
            </p:cNvSpPr>
            <p:nvPr/>
          </p:nvSpPr>
          <p:spPr bwMode="auto">
            <a:xfrm>
              <a:off x="2997" y="917"/>
              <a:ext cx="267"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y</a:t>
              </a:r>
            </a:p>
          </p:txBody>
        </p:sp>
        <p:sp>
          <p:nvSpPr>
            <p:cNvPr id="707606" name="Text Box 22"/>
            <p:cNvSpPr txBox="1">
              <a:spLocks noChangeArrowheads="1"/>
            </p:cNvSpPr>
            <p:nvPr/>
          </p:nvSpPr>
          <p:spPr bwMode="auto">
            <a:xfrm>
              <a:off x="3985" y="2027"/>
              <a:ext cx="1131" cy="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latin typeface="Times New Roman" pitchFamily="18" charset="0"/>
                </a:rPr>
                <a:t>y = ax + b</a:t>
              </a:r>
            </a:p>
          </p:txBody>
        </p:sp>
        <p:sp>
          <p:nvSpPr>
            <p:cNvPr id="707607" name="Line 23"/>
            <p:cNvSpPr>
              <a:spLocks noChangeShapeType="1"/>
            </p:cNvSpPr>
            <p:nvPr/>
          </p:nvSpPr>
          <p:spPr bwMode="auto">
            <a:xfrm>
              <a:off x="3384" y="1574"/>
              <a:ext cx="0" cy="1203"/>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608" name="Line 24"/>
            <p:cNvSpPr>
              <a:spLocks noChangeShapeType="1"/>
            </p:cNvSpPr>
            <p:nvPr/>
          </p:nvSpPr>
          <p:spPr bwMode="auto">
            <a:xfrm flipH="1">
              <a:off x="2870" y="1584"/>
              <a:ext cx="504"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609" name="Line 25"/>
            <p:cNvSpPr>
              <a:spLocks noChangeShapeType="1"/>
            </p:cNvSpPr>
            <p:nvPr/>
          </p:nvSpPr>
          <p:spPr bwMode="auto">
            <a:xfrm flipH="1">
              <a:off x="2860" y="2221"/>
              <a:ext cx="514" cy="0"/>
            </a:xfrm>
            <a:prstGeom prst="line">
              <a:avLst/>
            </a:prstGeom>
            <a:noFill/>
            <a:ln w="9525">
              <a:solidFill>
                <a:srgbClr val="006666"/>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latin typeface="Arial" panose="020B0604020202020204" pitchFamily="34" charset="0"/>
              </a:endParaRPr>
            </a:p>
          </p:txBody>
        </p:sp>
        <p:sp>
          <p:nvSpPr>
            <p:cNvPr id="707610" name="Text Box 26"/>
            <p:cNvSpPr txBox="1">
              <a:spLocks noChangeArrowheads="1"/>
            </p:cNvSpPr>
            <p:nvPr/>
          </p:nvSpPr>
          <p:spPr bwMode="auto">
            <a:xfrm>
              <a:off x="3336" y="2777"/>
              <a:ext cx="393"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X1</a:t>
              </a:r>
            </a:p>
          </p:txBody>
        </p:sp>
        <p:sp>
          <p:nvSpPr>
            <p:cNvPr id="707611" name="Text Box 27"/>
            <p:cNvSpPr txBox="1">
              <a:spLocks noChangeArrowheads="1"/>
            </p:cNvSpPr>
            <p:nvPr/>
          </p:nvSpPr>
          <p:spPr bwMode="auto">
            <a:xfrm>
              <a:off x="2566" y="1464"/>
              <a:ext cx="393"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Y1</a:t>
              </a:r>
            </a:p>
          </p:txBody>
        </p:sp>
        <p:sp>
          <p:nvSpPr>
            <p:cNvPr id="707612" name="Text Box 28"/>
            <p:cNvSpPr txBox="1">
              <a:spLocks noChangeArrowheads="1"/>
            </p:cNvSpPr>
            <p:nvPr/>
          </p:nvSpPr>
          <p:spPr bwMode="auto">
            <a:xfrm>
              <a:off x="2566" y="2058"/>
              <a:ext cx="460" cy="4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itchFamily="18" charset="0"/>
                </a:rPr>
                <a:t>Y1’</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963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6172200" y="2037972"/>
            <a:ext cx="4038600" cy="40386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DEC2AE02-6E9A-4656-ACD3-D3861ABA0669}" type="slidenum">
              <a:rPr lang="en-US" altLang="en-US"/>
              <a:pPr/>
              <a:t>24</a:t>
            </a:fld>
            <a:endParaRPr lang="en-US" altLang="en-US"/>
          </a:p>
        </p:txBody>
      </p:sp>
      <p:sp>
        <p:nvSpPr>
          <p:cNvPr id="709634" name="Rectangle 2"/>
          <p:cNvSpPr>
            <a:spLocks noGrp="1" noChangeArrowheads="1"/>
          </p:cNvSpPr>
          <p:nvPr>
            <p:ph type="title"/>
          </p:nvPr>
        </p:nvSpPr>
        <p:spPr/>
        <p:txBody>
          <a:bodyPr/>
          <a:lstStyle/>
          <a:p>
            <a:r>
              <a:rPr lang="en-US" altLang="en-US"/>
              <a:t>2.3. Làm sạch dữ liệu</a:t>
            </a:r>
          </a:p>
        </p:txBody>
      </p:sp>
      <p:sp>
        <p:nvSpPr>
          <p:cNvPr id="709635" name="Rectangle 3"/>
          <p:cNvSpPr>
            <a:spLocks noGrp="1" noChangeArrowheads="1"/>
          </p:cNvSpPr>
          <p:nvPr>
            <p:ph type="body" sz="half" idx="4294967295"/>
          </p:nvPr>
        </p:nvSpPr>
        <p:spPr>
          <a:xfrm>
            <a:off x="762000" y="1295400"/>
            <a:ext cx="9677400" cy="1938992"/>
          </a:xfrm>
        </p:spPr>
        <p:txBody>
          <a:bodyPr/>
          <a:lstStyle/>
          <a:p>
            <a:pPr>
              <a:spcBef>
                <a:spcPct val="50000"/>
              </a:spcBef>
              <a:buFont typeface="Wingdings" panose="05000000000000000000" pitchFamily="2" charset="2"/>
              <a:buChar char="v"/>
            </a:pPr>
            <a:r>
              <a:rPr lang="en-US" altLang="en-US" sz="2400">
                <a:solidFill>
                  <a:srgbClr val="003399"/>
                </a:solidFill>
              </a:rPr>
              <a:t>Nhận diện phần tử biên (outliers) và giảm thiểu nhiễu (noisy data)</a:t>
            </a:r>
          </a:p>
          <a:p>
            <a:pPr lvl="1">
              <a:spcBef>
                <a:spcPct val="50000"/>
              </a:spcBef>
            </a:pPr>
            <a:r>
              <a:rPr lang="en-US" altLang="en-US" sz="2400">
                <a:solidFill>
                  <a:srgbClr val="003399"/>
                </a:solidFill>
              </a:rPr>
              <a:t>Giải pháp giảm thiểu nhiễu</a:t>
            </a:r>
          </a:p>
          <a:p>
            <a:pPr lvl="2">
              <a:spcBef>
                <a:spcPct val="50000"/>
              </a:spcBef>
              <a:buFont typeface="Wingdings" panose="05000000000000000000" pitchFamily="2" charset="2"/>
              <a:buChar char="§"/>
            </a:pPr>
            <a:r>
              <a:rPr lang="en-US" altLang="en-US" sz="2000">
                <a:solidFill>
                  <a:srgbClr val="003399"/>
                </a:solidFill>
              </a:rPr>
              <a:t>Phân tích cụm (cluster analysis)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1443" name="Rectangle 3"/>
          <p:cNvSpPr>
            <a:spLocks noGrp="1" noChangeArrowheads="1"/>
          </p:cNvSpPr>
          <p:nvPr>
            <p:ph idx="1"/>
          </p:nvPr>
        </p:nvSpPr>
        <p:spPr>
          <a:xfrm>
            <a:off x="681997" y="1348370"/>
            <a:ext cx="11090638" cy="4924425"/>
          </a:xfrm>
        </p:spPr>
        <p:txBody>
          <a:bodyPr/>
          <a:lstStyle/>
          <a:p>
            <a:pPr marL="228600" indent="0">
              <a:spcBef>
                <a:spcPct val="50000"/>
              </a:spcBef>
            </a:pPr>
            <a:r>
              <a:rPr lang="en-US" altLang="en-US" sz="2000"/>
              <a:t>Xử lý dữ liệu không nhất quán </a:t>
            </a:r>
          </a:p>
          <a:p>
            <a:pPr marL="971550" lvl="1" indent="-285750">
              <a:spcBef>
                <a:spcPct val="50000"/>
              </a:spcBef>
              <a:buFont typeface="Wingdings" panose="05000000000000000000" pitchFamily="2" charset="2"/>
              <a:buChar char="Ø"/>
            </a:pPr>
            <a:r>
              <a:rPr lang="en-US" altLang="en-US" sz="2000"/>
              <a:t>Định nghĩa của dữ liệu không nhất quán</a:t>
            </a:r>
          </a:p>
          <a:p>
            <a:pPr marL="1485900" lvl="2" indent="-342900">
              <a:spcBef>
                <a:spcPct val="50000"/>
              </a:spcBef>
              <a:buFont typeface="Wingdings" panose="05000000000000000000" pitchFamily="2" charset="2"/>
              <a:buChar char="v"/>
            </a:pPr>
            <a:r>
              <a:rPr lang="en-US" altLang="en-US" sz="2000"/>
              <a:t>Dữ liệu được ghi nhận khác nhau cho cùng một đối tượng/thực thể </a:t>
            </a:r>
            <a:r>
              <a:rPr lang="en-US" altLang="en-US" sz="2000">
                <a:sym typeface="Wingdings" pitchFamily="2" charset="2"/>
              </a:rPr>
              <a:t> discrepancies from inconsistent data representations</a:t>
            </a:r>
          </a:p>
          <a:p>
            <a:pPr marL="1943100" lvl="3" indent="-342900">
              <a:spcBef>
                <a:spcPct val="50000"/>
              </a:spcBef>
              <a:buFont typeface="Wingdings" panose="05000000000000000000" pitchFamily="2" charset="2"/>
              <a:buChar char="§"/>
            </a:pPr>
            <a:r>
              <a:rPr lang="en-US" altLang="en-US" sz="2000">
                <a:sym typeface="Wingdings" pitchFamily="2" charset="2"/>
              </a:rPr>
              <a:t>2015/12/25 và 25/12/2015</a:t>
            </a:r>
          </a:p>
          <a:p>
            <a:pPr marL="1485900" lvl="2" indent="-342900">
              <a:spcBef>
                <a:spcPct val="50000"/>
              </a:spcBef>
              <a:buFont typeface="Wingdings" panose="05000000000000000000" pitchFamily="2" charset="2"/>
              <a:buChar char="v"/>
            </a:pPr>
            <a:r>
              <a:rPr lang="en-US" altLang="en-US" sz="2000">
                <a:sym typeface="Wingdings" pitchFamily="2" charset="2"/>
              </a:rPr>
              <a:t>Dữ liệu được ghi nhận không phản ánh đúng ngữ nghĩa cho các đối tượng/thực thể</a:t>
            </a:r>
          </a:p>
          <a:p>
            <a:pPr marL="1943100" lvl="3" indent="-342900">
              <a:spcBef>
                <a:spcPct val="50000"/>
              </a:spcBef>
              <a:buFont typeface="Wingdings" panose="05000000000000000000" pitchFamily="2" charset="2"/>
              <a:buChar char="§"/>
            </a:pPr>
            <a:r>
              <a:rPr lang="en-US" altLang="en-US" sz="2000"/>
              <a:t>Ràng buộc khóa ngoại</a:t>
            </a:r>
          </a:p>
          <a:p>
            <a:pPr marL="971550" lvl="1" indent="-285750">
              <a:spcBef>
                <a:spcPct val="50000"/>
              </a:spcBef>
              <a:buFont typeface="Wingdings" panose="05000000000000000000" pitchFamily="2" charset="2"/>
              <a:buChar char="Ø"/>
            </a:pPr>
            <a:r>
              <a:rPr lang="en-US" altLang="en-US" sz="2000"/>
              <a:t>Nguyên nhân</a:t>
            </a:r>
          </a:p>
          <a:p>
            <a:pPr marL="1428750" lvl="2" indent="-285750">
              <a:spcBef>
                <a:spcPct val="50000"/>
              </a:spcBef>
              <a:buFont typeface="Arial" panose="020B0604020202020204" pitchFamily="34" charset="0"/>
              <a:buChar char="•"/>
            </a:pPr>
            <a:r>
              <a:rPr lang="en-US" altLang="en-US" sz="2000"/>
              <a:t>Sự không nhất quán trong các qui ước đặt tên hay mã dữ liệu</a:t>
            </a:r>
          </a:p>
          <a:p>
            <a:pPr marL="1428750" lvl="2" indent="-285750">
              <a:spcBef>
                <a:spcPct val="50000"/>
              </a:spcBef>
              <a:buFont typeface="Arial" panose="020B0604020202020204" pitchFamily="34" charset="0"/>
              <a:buChar char="•"/>
            </a:pPr>
            <a:r>
              <a:rPr lang="en-US" altLang="en-US" sz="2000"/>
              <a:t>Định dạng không nhất quán của các vùng nhập liệu</a:t>
            </a:r>
          </a:p>
          <a:p>
            <a:pPr marL="1428750" lvl="2" indent="-285750">
              <a:spcBef>
                <a:spcPct val="50000"/>
              </a:spcBef>
              <a:buFont typeface="Arial" panose="020B0604020202020204" pitchFamily="34" charset="0"/>
              <a:buChar char="•"/>
            </a:pPr>
            <a:r>
              <a:rPr lang="en-US" altLang="en-US" sz="2000"/>
              <a:t>Thiết bị ghi nhận dữ liệu, …</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8CCB38CC-30DC-438F-B1CB-B2FD97921BCD}" type="slidenum">
              <a:rPr lang="en-US" altLang="en-US"/>
              <a:pPr/>
              <a:t>25</a:t>
            </a:fld>
            <a:endParaRPr lang="en-US" altLang="en-US"/>
          </a:p>
        </p:txBody>
      </p:sp>
      <p:sp>
        <p:nvSpPr>
          <p:cNvPr id="701442"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1" name="Rectangle 3"/>
          <p:cNvSpPr>
            <a:spLocks noGrp="1" noChangeArrowheads="1"/>
          </p:cNvSpPr>
          <p:nvPr>
            <p:ph idx="1"/>
          </p:nvPr>
        </p:nvSpPr>
        <p:spPr>
          <a:xfrm>
            <a:off x="681997" y="1348370"/>
            <a:ext cx="11090638" cy="5109091"/>
          </a:xfrm>
        </p:spPr>
        <p:txBody>
          <a:bodyPr/>
          <a:lstStyle/>
          <a:p>
            <a:pPr marL="571500" indent="-342900">
              <a:lnSpc>
                <a:spcPct val="150000"/>
              </a:lnSpc>
              <a:spcBef>
                <a:spcPct val="50000"/>
              </a:spcBef>
              <a:buFont typeface="Arial" panose="020B0604020202020204" pitchFamily="34" charset="0"/>
              <a:buChar char="•"/>
            </a:pPr>
            <a:r>
              <a:rPr lang="en-US" altLang="en-US" sz="2400"/>
              <a:t>Xử lý dữ liệu không nhất quán (inconsistent data)</a:t>
            </a:r>
          </a:p>
          <a:p>
            <a:pPr marL="1028700" lvl="1" indent="-342900">
              <a:lnSpc>
                <a:spcPct val="150000"/>
              </a:lnSpc>
              <a:spcBef>
                <a:spcPct val="50000"/>
              </a:spcBef>
              <a:buFont typeface="Arial" panose="020B0604020202020204" pitchFamily="34" charset="0"/>
              <a:buChar char="•"/>
            </a:pPr>
            <a:r>
              <a:rPr lang="en-US" altLang="en-US" sz="2800"/>
              <a:t>Giải pháp</a:t>
            </a:r>
          </a:p>
          <a:p>
            <a:pPr marL="1485900" lvl="2" indent="-342900">
              <a:lnSpc>
                <a:spcPct val="150000"/>
              </a:lnSpc>
              <a:spcBef>
                <a:spcPct val="50000"/>
              </a:spcBef>
              <a:buFont typeface="Arial" panose="020B0604020202020204" pitchFamily="34" charset="0"/>
              <a:buChar char="•"/>
            </a:pPr>
            <a:r>
              <a:rPr lang="en-US" altLang="en-US" sz="2400"/>
              <a:t>Tận dụng siêu dữ liệu, ràng buộc dữ liệu, sự kiểm tra của nhà phân tích dữ liệu cho việc nhận diện</a:t>
            </a:r>
          </a:p>
          <a:p>
            <a:pPr marL="1485900" lvl="2" indent="-342900">
              <a:lnSpc>
                <a:spcPct val="150000"/>
              </a:lnSpc>
              <a:spcBef>
                <a:spcPct val="50000"/>
              </a:spcBef>
              <a:buFont typeface="Arial" panose="020B0604020202020204" pitchFamily="34" charset="0"/>
              <a:buChar char="•"/>
            </a:pPr>
            <a:r>
              <a:rPr lang="en-US" altLang="en-US" sz="2400"/>
              <a:t>Điều chỉnh dữ liệu không nhất quán bằng tay</a:t>
            </a:r>
          </a:p>
          <a:p>
            <a:pPr marL="1485900" lvl="2" indent="-342900">
              <a:lnSpc>
                <a:spcPct val="150000"/>
              </a:lnSpc>
              <a:spcBef>
                <a:spcPct val="50000"/>
              </a:spcBef>
              <a:buFont typeface="Arial" panose="020B0604020202020204" pitchFamily="34" charset="0"/>
              <a:buChar char="•"/>
            </a:pPr>
            <a:r>
              <a:rPr lang="en-US" altLang="en-US" sz="2400"/>
              <a:t>Các giải pháp biến đổi/chuẩn hóa dữ liệu tự động</a:t>
            </a:r>
          </a:p>
          <a:p>
            <a:pPr marL="1485900" lvl="2" indent="-342900">
              <a:lnSpc>
                <a:spcPct val="150000"/>
              </a:lnSpc>
              <a:spcBef>
                <a:spcPct val="50000"/>
              </a:spcBef>
              <a:buFont typeface="Arial" panose="020B0604020202020204" pitchFamily="34" charset="0"/>
              <a:buChar char="•"/>
            </a:pPr>
            <a:endParaRPr lang="en-US" altLang="en-US" sz="2400"/>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24D7E973-2BF9-43B1-B0D4-5057165BC23C}" type="slidenum">
              <a:rPr lang="en-US" altLang="en-US"/>
              <a:pPr/>
              <a:t>26</a:t>
            </a:fld>
            <a:endParaRPr lang="en-US" altLang="en-US"/>
          </a:p>
        </p:txBody>
      </p:sp>
      <p:sp>
        <p:nvSpPr>
          <p:cNvPr id="713730" name="Rectangle 2"/>
          <p:cNvSpPr>
            <a:spLocks noGrp="1" noChangeArrowheads="1"/>
          </p:cNvSpPr>
          <p:nvPr>
            <p:ph type="title"/>
          </p:nvPr>
        </p:nvSpPr>
        <p:spPr/>
        <p:txBody>
          <a:bodyPr/>
          <a:lstStyle/>
          <a:p>
            <a:r>
              <a:rPr lang="en-US" altLang="en-US"/>
              <a:t>2.3. Làm sạch dữ liệu</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3" name="Rectangle 3"/>
          <p:cNvSpPr>
            <a:spLocks noGrp="1" noChangeArrowheads="1"/>
          </p:cNvSpPr>
          <p:nvPr>
            <p:ph idx="1"/>
          </p:nvPr>
        </p:nvSpPr>
        <p:spPr>
          <a:xfrm>
            <a:off x="681997" y="1348370"/>
            <a:ext cx="11090638" cy="4789003"/>
          </a:xfrm>
        </p:spPr>
        <p:txBody>
          <a:bodyPr/>
          <a:lstStyle/>
          <a:p>
            <a:pPr>
              <a:spcBef>
                <a:spcPct val="30000"/>
              </a:spcBef>
            </a:pPr>
            <a:r>
              <a:rPr lang="en-US" altLang="en-US" sz="2400" b="0">
                <a:solidFill>
                  <a:srgbClr val="FF0000"/>
                </a:solidFill>
              </a:rPr>
              <a:t>Tích hợp dữ liệu</a:t>
            </a:r>
            <a:r>
              <a:rPr lang="en-US" altLang="en-US" sz="2400" b="0"/>
              <a:t>: quá trình trộn dữ liệu từ các nguồn khác nhau vào một kho dữ liệu sẵn sàng cho quá trình khai phá dữ liệu</a:t>
            </a:r>
          </a:p>
          <a:p>
            <a:pPr marL="1028700" lvl="1" indent="-342900">
              <a:spcBef>
                <a:spcPct val="30000"/>
              </a:spcBef>
              <a:buFont typeface="Wingdings" panose="05000000000000000000" pitchFamily="2" charset="2"/>
              <a:buChar char="Ø"/>
            </a:pPr>
            <a:r>
              <a:rPr lang="en-US" altLang="en-US"/>
              <a:t>Vấn đề nhận dạng thực thể (entity identification problem)</a:t>
            </a:r>
          </a:p>
          <a:p>
            <a:pPr marL="1943100" lvl="3" indent="-342900">
              <a:spcBef>
                <a:spcPct val="30000"/>
              </a:spcBef>
              <a:buFont typeface="Wingdings" panose="05000000000000000000" pitchFamily="2" charset="2"/>
              <a:buChar char="Ø"/>
            </a:pPr>
            <a:r>
              <a:rPr lang="en-US" altLang="en-US" sz="2000"/>
              <a:t>Tích hợp lược đồ (schema integration)</a:t>
            </a:r>
          </a:p>
          <a:p>
            <a:pPr marL="1943100" lvl="3" indent="-342900">
              <a:spcBef>
                <a:spcPct val="30000"/>
              </a:spcBef>
              <a:buFont typeface="Wingdings" panose="05000000000000000000" pitchFamily="2" charset="2"/>
              <a:buChar char="Ø"/>
            </a:pPr>
            <a:r>
              <a:rPr lang="en-US" altLang="en-US" sz="2000"/>
              <a:t>So trùng đối tượng (object matching) </a:t>
            </a:r>
          </a:p>
          <a:p>
            <a:pPr marL="1028700" lvl="1" indent="-342900">
              <a:spcBef>
                <a:spcPct val="30000"/>
              </a:spcBef>
              <a:buFont typeface="Wingdings" panose="05000000000000000000" pitchFamily="2" charset="2"/>
              <a:buChar char="Ø"/>
            </a:pPr>
            <a:r>
              <a:rPr lang="en-US" altLang="en-US"/>
              <a:t>Vấn đề dư thừa (redundancy)</a:t>
            </a:r>
          </a:p>
          <a:p>
            <a:pPr marL="1028700" lvl="1" indent="-342900">
              <a:spcBef>
                <a:spcPct val="30000"/>
              </a:spcBef>
              <a:buFont typeface="Wingdings" panose="05000000000000000000" pitchFamily="2" charset="2"/>
              <a:buChar char="Ø"/>
            </a:pPr>
            <a:r>
              <a:rPr lang="en-US" altLang="en-US"/>
              <a:t>Vấn đề mâu thuẫn giá trị dữ liệu (data value conflicts)</a:t>
            </a:r>
          </a:p>
          <a:p>
            <a:pPr>
              <a:spcBef>
                <a:spcPct val="30000"/>
              </a:spcBef>
              <a:buFont typeface="Wingdings" pitchFamily="2" charset="2"/>
              <a:buChar char="à"/>
            </a:pPr>
            <a:r>
              <a:rPr lang="en-US" altLang="en-US" sz="2400" b="0">
                <a:sym typeface="Wingdings" pitchFamily="2" charset="2"/>
              </a:rPr>
              <a:t>Liên quan đến cấu trúc và tính không thuần nhất (heterogeneity) về ngữ nghĩa (semantics) của dữ liệu</a:t>
            </a:r>
          </a:p>
          <a:p>
            <a:pPr>
              <a:spcBef>
                <a:spcPct val="30000"/>
              </a:spcBef>
              <a:buFont typeface="Wingdings" pitchFamily="2" charset="2"/>
              <a:buChar char="à"/>
            </a:pPr>
            <a:r>
              <a:rPr lang="en-US" altLang="en-US" sz="2400" b="0">
                <a:sym typeface="Wingdings" pitchFamily="2" charset="2"/>
              </a:rPr>
              <a:t>Hỗ trợ việc giảm và tránh dư thừa và không nhất quan về dữ liệu  cải thiện tính chính xác và tốc độ quá trình khai phá dữ liệu</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594233E4-6712-4E10-B246-2D25D53B55F1}" type="slidenum">
              <a:rPr lang="en-US" altLang="en-US"/>
              <a:pPr/>
              <a:t>27</a:t>
            </a:fld>
            <a:endParaRPr lang="en-US" altLang="en-US"/>
          </a:p>
        </p:txBody>
      </p:sp>
      <p:sp>
        <p:nvSpPr>
          <p:cNvPr id="645122" name="Rectangle 2"/>
          <p:cNvSpPr>
            <a:spLocks noGrp="1" noChangeArrowheads="1"/>
          </p:cNvSpPr>
          <p:nvPr>
            <p:ph type="title"/>
          </p:nvPr>
        </p:nvSpPr>
        <p:spPr/>
        <p:txBody>
          <a:bodyPr/>
          <a:lstStyle/>
          <a:p>
            <a:r>
              <a:rPr lang="en-US" altLang="en-US"/>
              <a:t>2.4. Tích hợp dữ liệu</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1987" name="Rectangle 3"/>
          <p:cNvSpPr>
            <a:spLocks noGrp="1" noChangeArrowheads="1"/>
          </p:cNvSpPr>
          <p:nvPr>
            <p:ph idx="1"/>
          </p:nvPr>
        </p:nvSpPr>
        <p:spPr>
          <a:xfrm>
            <a:off x="681997" y="1348370"/>
            <a:ext cx="11090638" cy="4099584"/>
          </a:xfrm>
        </p:spPr>
        <p:txBody>
          <a:bodyPr/>
          <a:lstStyle/>
          <a:p>
            <a:pPr>
              <a:spcBef>
                <a:spcPct val="35000"/>
              </a:spcBef>
            </a:pPr>
            <a:r>
              <a:rPr lang="en-US" altLang="en-US" sz="2400"/>
              <a:t>Vấn đề nhận dạng thực thể</a:t>
            </a:r>
          </a:p>
          <a:p>
            <a:pPr lvl="1">
              <a:spcBef>
                <a:spcPct val="35000"/>
              </a:spcBef>
            </a:pPr>
            <a:r>
              <a:rPr lang="en-US" altLang="en-US"/>
              <a:t>Các thực thể (object/entity/attribute) đến từ nhiều nguồn dữ liệu.</a:t>
            </a:r>
          </a:p>
          <a:p>
            <a:pPr lvl="1">
              <a:spcBef>
                <a:spcPct val="35000"/>
              </a:spcBef>
            </a:pPr>
            <a:r>
              <a:rPr lang="en-US" altLang="en-US"/>
              <a:t>Hai hay nhiều thực thể khác nhau diễn tả cùng một thực thể thực.</a:t>
            </a:r>
          </a:p>
          <a:p>
            <a:pPr lvl="1">
              <a:spcBef>
                <a:spcPct val="35000"/>
              </a:spcBef>
            </a:pPr>
            <a:r>
              <a:rPr lang="en-US" altLang="en-US"/>
              <a:t>Ví dụ ở mức lược đồ (schema): customer_id trong nguồn S1 và cust_number trong nguồn S2. </a:t>
            </a:r>
          </a:p>
          <a:p>
            <a:pPr lvl="1">
              <a:spcBef>
                <a:spcPct val="35000"/>
              </a:spcBef>
            </a:pPr>
            <a:r>
              <a:rPr lang="en-US" altLang="en-US"/>
              <a:t>Ví dụ ở mức thể hiện (instance): “R &amp; D” trong nguồn S1 và “Research &amp; Development” trong nguồn S2. “Male” và “Female” trong nguồn S1 và “Nam” và “Nữ” trong nguồn S2.</a:t>
            </a:r>
          </a:p>
          <a:p>
            <a:pPr lvl="1">
              <a:spcBef>
                <a:spcPct val="35000"/>
              </a:spcBef>
              <a:buFont typeface="Wingdings" pitchFamily="2" charset="2"/>
              <a:buNone/>
            </a:pPr>
            <a:r>
              <a:rPr lang="en-US" altLang="en-US">
                <a:sym typeface="Wingdings" pitchFamily="2" charset="2"/>
              </a:rPr>
              <a:t> Vai trò của siêu dữ liệu (metadata)</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862DA33D-07F6-4C6D-ABFF-6F55426B28C0}" type="slidenum">
              <a:rPr lang="en-US" altLang="en-US"/>
              <a:pPr/>
              <a:t>28</a:t>
            </a:fld>
            <a:endParaRPr lang="en-US" altLang="en-US"/>
          </a:p>
        </p:txBody>
      </p:sp>
      <p:sp>
        <p:nvSpPr>
          <p:cNvPr id="681986" name="Rectangle 2"/>
          <p:cNvSpPr>
            <a:spLocks noGrp="1" noChangeArrowheads="1"/>
          </p:cNvSpPr>
          <p:nvPr>
            <p:ph type="title"/>
          </p:nvPr>
        </p:nvSpPr>
        <p:spPr/>
        <p:txBody>
          <a:bodyPr/>
          <a:lstStyle/>
          <a:p>
            <a:r>
              <a:rPr lang="en-US" altLang="en-US"/>
              <a:t>2.4. Tích hợp dữ liệu</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altLang="en-US"/>
              <a:t>Tiền xử lý dữ liệu</a:t>
            </a:r>
          </a:p>
        </p:txBody>
      </p:sp>
      <p:sp>
        <p:nvSpPr>
          <p:cNvPr id="683011" name="Rectangle 3"/>
          <p:cNvSpPr>
            <a:spLocks noGrp="1" noChangeArrowheads="1"/>
          </p:cNvSpPr>
          <p:nvPr>
            <p:ph idx="1"/>
          </p:nvPr>
        </p:nvSpPr>
        <p:spPr>
          <a:xfrm>
            <a:off x="681997" y="1348370"/>
            <a:ext cx="11090638" cy="4062651"/>
          </a:xfrm>
        </p:spPr>
        <p:txBody>
          <a:bodyPr/>
          <a:lstStyle/>
          <a:p>
            <a:pPr algn="just">
              <a:lnSpc>
                <a:spcPct val="90000"/>
              </a:lnSpc>
              <a:spcBef>
                <a:spcPct val="60000"/>
              </a:spcBef>
              <a:buFont typeface="Wingdings" panose="05000000000000000000" pitchFamily="2" charset="2"/>
              <a:buChar char="v"/>
            </a:pPr>
            <a:r>
              <a:rPr lang="en-US" altLang="en-US" sz="2000">
                <a:solidFill>
                  <a:srgbClr val="FF0000"/>
                </a:solidFill>
                <a:latin typeface="Times New Roman" panose="02020603050405020304" pitchFamily="18" charset="0"/>
                <a:cs typeface="Times New Roman" panose="02020603050405020304" pitchFamily="18" charset="0"/>
              </a:rPr>
              <a:t>Vấn đề dư thừa</a:t>
            </a:r>
          </a:p>
          <a:p>
            <a:pPr lvl="1" algn="just">
              <a:lnSpc>
                <a:spcPct val="90000"/>
              </a:lnSpc>
              <a:spcBef>
                <a:spcPct val="60000"/>
              </a:spcBef>
            </a:pPr>
            <a:r>
              <a:rPr lang="en-US" altLang="en-US" sz="2000" b="1">
                <a:latin typeface="Times New Roman" panose="02020603050405020304" pitchFamily="18" charset="0"/>
                <a:cs typeface="Times New Roman" panose="02020603050405020304" pitchFamily="18" charset="0"/>
              </a:rPr>
              <a:t>Hiện tượng</a:t>
            </a:r>
            <a:r>
              <a:rPr lang="en-US" altLang="en-US" sz="2000">
                <a:latin typeface="Times New Roman" panose="02020603050405020304" pitchFamily="18" charset="0"/>
                <a:cs typeface="Times New Roman" panose="02020603050405020304" pitchFamily="18" charset="0"/>
              </a:rPr>
              <a:t>: giá trị của một thuộc tính có thể được dẫn ra/tính từ một/nhiều thuộc tính khác, vấn đề trùng lắp dữ liệu (duplication).</a:t>
            </a:r>
          </a:p>
          <a:p>
            <a:pPr lvl="1" algn="just">
              <a:lnSpc>
                <a:spcPct val="90000"/>
              </a:lnSpc>
              <a:spcBef>
                <a:spcPct val="60000"/>
              </a:spcBef>
            </a:pPr>
            <a:r>
              <a:rPr lang="en-US" altLang="en-US" sz="2000" b="1">
                <a:latin typeface="Times New Roman" panose="02020603050405020304" pitchFamily="18" charset="0"/>
                <a:cs typeface="Times New Roman" panose="02020603050405020304" pitchFamily="18" charset="0"/>
              </a:rPr>
              <a:t>Nguyên nhân</a:t>
            </a:r>
            <a:r>
              <a:rPr lang="en-US" altLang="en-US" sz="2000">
                <a:latin typeface="Times New Roman" panose="02020603050405020304" pitchFamily="18" charset="0"/>
                <a:cs typeface="Times New Roman" panose="02020603050405020304" pitchFamily="18" charset="0"/>
              </a:rPr>
              <a:t>: tổ chức dữ liệu kém, không nhất quán trong việc đặt tên chiều/thuộc tính.</a:t>
            </a:r>
          </a:p>
          <a:p>
            <a:pPr lvl="1" algn="just">
              <a:lnSpc>
                <a:spcPct val="90000"/>
              </a:lnSpc>
              <a:spcBef>
                <a:spcPct val="60000"/>
              </a:spcBef>
            </a:pPr>
            <a:r>
              <a:rPr lang="en-US" altLang="en-US" sz="2000" b="1">
                <a:latin typeface="Times New Roman" panose="02020603050405020304" pitchFamily="18" charset="0"/>
                <a:cs typeface="Times New Roman" panose="02020603050405020304" pitchFamily="18" charset="0"/>
              </a:rPr>
              <a:t>Phát hiện dư thừa</a:t>
            </a:r>
            <a:r>
              <a:rPr lang="en-US" altLang="en-US" sz="2000">
                <a:latin typeface="Times New Roman" panose="02020603050405020304" pitchFamily="18" charset="0"/>
                <a:cs typeface="Times New Roman" panose="02020603050405020304" pitchFamily="18" charset="0"/>
              </a:rPr>
              <a:t>: phân tích tương quan (correlation analysis)</a:t>
            </a:r>
          </a:p>
          <a:p>
            <a:pPr lvl="2" algn="just">
              <a:lnSpc>
                <a:spcPct val="90000"/>
              </a:lnSpc>
              <a:spcBef>
                <a:spcPct val="60000"/>
              </a:spcBef>
            </a:pPr>
            <a:r>
              <a:rPr lang="en-US" altLang="en-US" sz="2000">
                <a:latin typeface="Times New Roman" panose="02020603050405020304" pitchFamily="18" charset="0"/>
                <a:cs typeface="Times New Roman" panose="02020603050405020304" pitchFamily="18" charset="0"/>
              </a:rPr>
              <a:t>Dựa trên dữ liệu hiện có, kiểm tra khả năng dẫn ra một thuộc tính B từ thuộc tính A.</a:t>
            </a:r>
          </a:p>
          <a:p>
            <a:pPr lvl="2" algn="just">
              <a:lnSpc>
                <a:spcPct val="90000"/>
              </a:lnSpc>
              <a:spcBef>
                <a:spcPct val="60000"/>
              </a:spcBef>
            </a:pPr>
            <a:r>
              <a:rPr lang="en-US" altLang="en-US" sz="2000">
                <a:latin typeface="Times New Roman" panose="02020603050405020304" pitchFamily="18" charset="0"/>
                <a:cs typeface="Times New Roman" panose="02020603050405020304" pitchFamily="18" charset="0"/>
              </a:rPr>
              <a:t>Đối với các thuộc tính số (numerical attributes), đánh giá tương quan giữa hai thuộc tính với các hệ số tương quan (correlation coefficient, aka Pearson’s product moment coefficient).</a:t>
            </a:r>
          </a:p>
          <a:p>
            <a:pPr lvl="2" algn="just">
              <a:lnSpc>
                <a:spcPct val="90000"/>
              </a:lnSpc>
              <a:spcBef>
                <a:spcPct val="60000"/>
              </a:spcBef>
            </a:pPr>
            <a:r>
              <a:rPr lang="en-US" altLang="en-US" sz="2000">
                <a:latin typeface="Times New Roman" panose="02020603050405020304" pitchFamily="18" charset="0"/>
                <a:cs typeface="Times New Roman" panose="02020603050405020304" pitchFamily="18" charset="0"/>
              </a:rPr>
              <a:t>Đối với các thuộc tính rời rạc (categorical/discrete attributes), đánh giá tương quan giữa hai thuộc tính với phép kiểm thử chi-square (</a:t>
            </a:r>
            <a:r>
              <a:rPr lang="en-US" altLang="en-US" sz="2000">
                <a:latin typeface="Times New Roman" panose="02020603050405020304" pitchFamily="18" charset="0"/>
                <a:cs typeface="Times New Roman" panose="02020603050405020304" pitchFamily="18" charset="0"/>
                <a:sym typeface="Symbol" pitchFamily="18" charset="2"/>
              </a:rPr>
              <a:t></a:t>
            </a:r>
            <a:r>
              <a:rPr lang="en-US" altLang="en-US" sz="2000" baseline="30000">
                <a:latin typeface="Times New Roman" panose="02020603050405020304" pitchFamily="18" charset="0"/>
                <a:cs typeface="Times New Roman" panose="02020603050405020304" pitchFamily="18" charset="0"/>
                <a:sym typeface="Symbol" pitchFamily="18" charset="2"/>
              </a:rPr>
              <a:t>2</a:t>
            </a:r>
            <a:r>
              <a:rPr lang="en-US" altLang="en-US" sz="2000">
                <a:latin typeface="Times New Roman" panose="02020603050405020304" pitchFamily="18" charset="0"/>
                <a:cs typeface="Times New Roman" panose="02020603050405020304" pitchFamily="18" charset="0"/>
              </a:rPr>
              <a:t>).</a:t>
            </a:r>
          </a:p>
        </p:txBody>
      </p:sp>
      <p:sp>
        <p:nvSpPr>
          <p:cNvPr id="6" name="Slide Number Placeholder 5"/>
          <p:cNvSpPr>
            <a:spLocks noGrp="1"/>
          </p:cNvSpPr>
          <p:nvPr>
            <p:ph type="sldNum" sz="quarter" idx="11"/>
          </p:nvPr>
        </p:nvSpPr>
        <p:spPr/>
        <p:txBody>
          <a:bodyPr/>
          <a:lstStyle/>
          <a:p>
            <a:fld id="{286E91D1-71F6-4C5C-8804-B81A1ABDAF7E}" type="slidenum">
              <a:rPr lang="en-US" altLang="en-US"/>
              <a:pPr/>
              <a:t>29</a:t>
            </a:fld>
            <a:endParaRPr lang="en-US" altLang="en-US"/>
          </a:p>
        </p:txBody>
      </p:sp>
      <p:sp>
        <p:nvSpPr>
          <p:cNvPr id="683010" name="Rectangle 2"/>
          <p:cNvSpPr>
            <a:spLocks noGrp="1" noChangeArrowheads="1"/>
          </p:cNvSpPr>
          <p:nvPr>
            <p:ph type="title"/>
          </p:nvPr>
        </p:nvSpPr>
        <p:spPr/>
        <p:txBody>
          <a:bodyPr/>
          <a:lstStyle/>
          <a:p>
            <a:r>
              <a:rPr lang="en-US" altLang="en-US"/>
              <a:t>2.4. Tích hợp dữ liệu</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8852" name="Picture 4"/>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4470619" y="1731906"/>
            <a:ext cx="3514286" cy="80973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F18521D0-A852-45AB-BEDF-109B8D4111E6}" type="slidenum">
              <a:rPr lang="en-US" altLang="en-US"/>
              <a:pPr/>
              <a:t>30</a:t>
            </a:fld>
            <a:endParaRPr lang="en-US" altLang="en-US"/>
          </a:p>
        </p:txBody>
      </p:sp>
      <p:sp>
        <p:nvSpPr>
          <p:cNvPr id="718850" name="Rectangle 2"/>
          <p:cNvSpPr>
            <a:spLocks noGrp="1" noChangeArrowheads="1"/>
          </p:cNvSpPr>
          <p:nvPr>
            <p:ph type="title"/>
          </p:nvPr>
        </p:nvSpPr>
        <p:spPr/>
        <p:txBody>
          <a:bodyPr/>
          <a:lstStyle/>
          <a:p>
            <a:r>
              <a:rPr lang="en-US" altLang="en-US"/>
              <a:t>2.4. Tích hợp dữ liệu</a:t>
            </a:r>
          </a:p>
        </p:txBody>
      </p:sp>
      <p:sp>
        <p:nvSpPr>
          <p:cNvPr id="718851" name="Rectangle 3"/>
          <p:cNvSpPr>
            <a:spLocks noGrp="1" noChangeArrowheads="1"/>
          </p:cNvSpPr>
          <p:nvPr>
            <p:ph type="body" sz="half" idx="4294967295"/>
          </p:nvPr>
        </p:nvSpPr>
        <p:spPr>
          <a:xfrm>
            <a:off x="1094626" y="1295400"/>
            <a:ext cx="9725773" cy="4648200"/>
          </a:xfrm>
        </p:spPr>
        <p:txBody>
          <a:bodyPr/>
          <a:lstStyle/>
          <a:p>
            <a:pPr>
              <a:spcBef>
                <a:spcPct val="40000"/>
              </a:spcBef>
            </a:pPr>
            <a:r>
              <a:rPr lang="en-US" altLang="en-US" sz="2400">
                <a:latin typeface="Times New Roman" pitchFamily="18" charset="0"/>
              </a:rPr>
              <a:t>Phân tích tương quan giữa hai thuộc tính số A và B</a:t>
            </a:r>
          </a:p>
          <a:p>
            <a:pPr lvl="1">
              <a:spcBef>
                <a:spcPct val="40000"/>
              </a:spcBef>
            </a:pPr>
            <a:r>
              <a:rPr lang="en-US" altLang="en-US" sz="2400" b="1">
                <a:latin typeface="Times New Roman" pitchFamily="18" charset="0"/>
              </a:rPr>
              <a:t>r</a:t>
            </a:r>
            <a:r>
              <a:rPr lang="en-US" altLang="en-US" sz="2400" b="1" baseline="-25000">
                <a:latin typeface="Times New Roman" pitchFamily="18" charset="0"/>
              </a:rPr>
              <a:t>A,B</a:t>
            </a:r>
            <a:r>
              <a:rPr lang="en-US" altLang="en-US" sz="2400" b="1">
                <a:latin typeface="Times New Roman" pitchFamily="18" charset="0"/>
              </a:rPr>
              <a:t> </a:t>
            </a:r>
            <a:r>
              <a:rPr lang="en-US" altLang="en-US" sz="2400" b="1">
                <a:latin typeface="Times New Roman" pitchFamily="18" charset="0"/>
                <a:sym typeface="Symbol" pitchFamily="18" charset="2"/>
              </a:rPr>
              <a:t> [-1, 1]</a:t>
            </a:r>
          </a:p>
          <a:p>
            <a:pPr lvl="1">
              <a:spcBef>
                <a:spcPct val="40000"/>
              </a:spcBef>
            </a:pPr>
            <a:r>
              <a:rPr lang="en-US" altLang="en-US" sz="2400" b="1">
                <a:latin typeface="Times New Roman" pitchFamily="18" charset="0"/>
                <a:sym typeface="Symbol" pitchFamily="18" charset="2"/>
              </a:rPr>
              <a:t>r</a:t>
            </a:r>
            <a:r>
              <a:rPr lang="en-US" altLang="en-US" sz="2400" b="1" baseline="-25000">
                <a:latin typeface="Times New Roman" pitchFamily="18" charset="0"/>
                <a:sym typeface="Symbol" pitchFamily="18" charset="2"/>
              </a:rPr>
              <a:t>A,B</a:t>
            </a:r>
            <a:r>
              <a:rPr lang="en-US" altLang="en-US" sz="2400" b="1">
                <a:latin typeface="Times New Roman" pitchFamily="18" charset="0"/>
                <a:sym typeface="Symbol" pitchFamily="18" charset="2"/>
              </a:rPr>
              <a:t> &gt; 0</a:t>
            </a:r>
            <a:r>
              <a:rPr lang="en-US" altLang="en-US" sz="2400">
                <a:latin typeface="Times New Roman" pitchFamily="18" charset="0"/>
                <a:sym typeface="Symbol" pitchFamily="18" charset="2"/>
              </a:rPr>
              <a:t>: A và B tương quan thuận với nhau, trị số của A tăng khi trị số của B tăng, r</a:t>
            </a:r>
            <a:r>
              <a:rPr lang="en-US" altLang="en-US" sz="2400" baseline="-25000">
                <a:latin typeface="Times New Roman" pitchFamily="18" charset="0"/>
                <a:sym typeface="Symbol" pitchFamily="18" charset="2"/>
              </a:rPr>
              <a:t>A,B</a:t>
            </a:r>
            <a:r>
              <a:rPr lang="en-US" altLang="en-US" sz="2400">
                <a:latin typeface="Times New Roman" pitchFamily="18" charset="0"/>
                <a:sym typeface="Symbol" pitchFamily="18" charset="2"/>
              </a:rPr>
              <a:t> càng lớn thì mức độ tương quan càng cao, A hoặc B có thể được loại bỏ vì dư thừa.</a:t>
            </a:r>
          </a:p>
          <a:p>
            <a:pPr lvl="1">
              <a:spcBef>
                <a:spcPct val="40000"/>
              </a:spcBef>
            </a:pPr>
            <a:r>
              <a:rPr lang="en-US" altLang="en-US" sz="2400" b="1">
                <a:latin typeface="Times New Roman" pitchFamily="18" charset="0"/>
                <a:sym typeface="Symbol" pitchFamily="18" charset="2"/>
              </a:rPr>
              <a:t>r</a:t>
            </a:r>
            <a:r>
              <a:rPr lang="en-US" altLang="en-US" sz="2400" b="1" baseline="-25000">
                <a:latin typeface="Times New Roman" pitchFamily="18" charset="0"/>
                <a:sym typeface="Symbol" pitchFamily="18" charset="2"/>
              </a:rPr>
              <a:t>A,B</a:t>
            </a:r>
            <a:r>
              <a:rPr lang="en-US" altLang="en-US" sz="2400" b="1">
                <a:latin typeface="Times New Roman" pitchFamily="18" charset="0"/>
                <a:sym typeface="Symbol" pitchFamily="18" charset="2"/>
              </a:rPr>
              <a:t> = 0: </a:t>
            </a:r>
            <a:r>
              <a:rPr lang="en-US" altLang="en-US" sz="2400">
                <a:latin typeface="Times New Roman" pitchFamily="18" charset="0"/>
                <a:sym typeface="Symbol" pitchFamily="18" charset="2"/>
              </a:rPr>
              <a:t>A và B không tương quan với nhau (độc lập).</a:t>
            </a:r>
          </a:p>
          <a:p>
            <a:pPr lvl="1">
              <a:spcBef>
                <a:spcPct val="40000"/>
              </a:spcBef>
            </a:pPr>
            <a:r>
              <a:rPr lang="en-US" altLang="en-US" sz="2400" b="1">
                <a:latin typeface="Times New Roman" pitchFamily="18" charset="0"/>
                <a:sym typeface="Symbol" pitchFamily="18" charset="2"/>
              </a:rPr>
              <a:t>r</a:t>
            </a:r>
            <a:r>
              <a:rPr lang="en-US" altLang="en-US" sz="2400" b="1" baseline="-25000">
                <a:latin typeface="Times New Roman" pitchFamily="18" charset="0"/>
                <a:sym typeface="Symbol" pitchFamily="18" charset="2"/>
              </a:rPr>
              <a:t>A,B</a:t>
            </a:r>
            <a:r>
              <a:rPr lang="en-US" altLang="en-US" sz="2400" b="1">
                <a:latin typeface="Times New Roman" pitchFamily="18" charset="0"/>
                <a:sym typeface="Symbol" pitchFamily="18" charset="2"/>
              </a:rPr>
              <a:t> &lt; 0</a:t>
            </a:r>
            <a:r>
              <a:rPr lang="en-US" altLang="en-US" sz="2400">
                <a:latin typeface="Times New Roman" pitchFamily="18" charset="0"/>
                <a:sym typeface="Symbol" pitchFamily="18" charset="2"/>
              </a:rPr>
              <a:t>: A và B tương quan nghịch với nhau, A và B loại trừ lẫn nhau.</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1924"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05000" y="1421282"/>
            <a:ext cx="7826927" cy="5396414"/>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17" name="Slide Number Placeholder 6"/>
          <p:cNvSpPr>
            <a:spLocks noGrp="1"/>
          </p:cNvSpPr>
          <p:nvPr>
            <p:ph type="sldNum" sz="quarter" idx="11"/>
          </p:nvPr>
        </p:nvSpPr>
        <p:spPr/>
        <p:txBody>
          <a:bodyPr/>
          <a:lstStyle/>
          <a:p>
            <a:fld id="{8A5662C9-1394-4E0C-8115-B36484586727}" type="slidenum">
              <a:rPr lang="en-US" altLang="en-US"/>
              <a:pPr/>
              <a:t>31</a:t>
            </a:fld>
            <a:endParaRPr lang="en-US" altLang="en-US"/>
          </a:p>
        </p:txBody>
      </p:sp>
      <p:sp>
        <p:nvSpPr>
          <p:cNvPr id="721925" name="Rectangle 5"/>
          <p:cNvSpPr>
            <a:spLocks noGrp="1" noChangeArrowheads="1"/>
          </p:cNvSpPr>
          <p:nvPr>
            <p:ph type="title"/>
          </p:nvPr>
        </p:nvSpPr>
        <p:spPr/>
        <p:txBody>
          <a:bodyPr/>
          <a:lstStyle/>
          <a:p>
            <a:r>
              <a:rPr lang="en-US" altLang="en-US"/>
              <a:t>2.4. Tích hợp dữ liệu</a:t>
            </a:r>
          </a:p>
        </p:txBody>
      </p:sp>
      <p:sp>
        <p:nvSpPr>
          <p:cNvPr id="721923" name="Rectangle 3"/>
          <p:cNvSpPr>
            <a:spLocks noGrp="1" noChangeArrowheads="1"/>
          </p:cNvSpPr>
          <p:nvPr>
            <p:ph type="body" sz="half" idx="4294967295"/>
          </p:nvPr>
        </p:nvSpPr>
        <p:spPr>
          <a:xfrm>
            <a:off x="609600" y="1212886"/>
            <a:ext cx="8839292" cy="4304148"/>
          </a:xfrm>
        </p:spPr>
        <p:txBody>
          <a:bodyPr/>
          <a:lstStyle/>
          <a:p>
            <a:r>
              <a:rPr lang="en-US" altLang="en-US" sz="2400" dirty="0" err="1"/>
              <a:t>Phân</a:t>
            </a:r>
            <a:r>
              <a:rPr lang="en-US" altLang="en-US" sz="2400" dirty="0"/>
              <a:t> </a:t>
            </a:r>
            <a:r>
              <a:rPr lang="en-US" altLang="en-US" sz="2400" dirty="0" err="1"/>
              <a:t>tích</a:t>
            </a:r>
            <a:r>
              <a:rPr lang="en-US" altLang="en-US" sz="2400" dirty="0"/>
              <a:t> </a:t>
            </a:r>
            <a:r>
              <a:rPr lang="en-US" altLang="en-US" sz="2400" dirty="0" err="1"/>
              <a:t>tương</a:t>
            </a:r>
            <a:r>
              <a:rPr lang="en-US" altLang="en-US" sz="2400" dirty="0"/>
              <a:t> </a:t>
            </a:r>
            <a:r>
              <a:rPr lang="en-US" altLang="en-US" sz="2400" dirty="0" err="1"/>
              <a:t>quan</a:t>
            </a:r>
            <a:r>
              <a:rPr lang="en-US" altLang="en-US" sz="2400" dirty="0"/>
              <a:t> </a:t>
            </a:r>
            <a:r>
              <a:rPr lang="en-US" altLang="en-US" sz="2400" dirty="0" err="1"/>
              <a:t>giữa</a:t>
            </a:r>
            <a:r>
              <a:rPr lang="en-US" altLang="en-US" sz="2400" dirty="0"/>
              <a:t> </a:t>
            </a:r>
            <a:r>
              <a:rPr lang="en-US" altLang="en-US" sz="2400" dirty="0" err="1"/>
              <a:t>hai</a:t>
            </a:r>
            <a:r>
              <a:rPr lang="en-US" altLang="en-US" sz="2400" dirty="0"/>
              <a:t> </a:t>
            </a:r>
            <a:r>
              <a:rPr lang="en-US" altLang="en-US" sz="2400" dirty="0" err="1"/>
              <a:t>thuộc</a:t>
            </a:r>
            <a:r>
              <a:rPr lang="en-US" altLang="en-US" sz="2400" dirty="0"/>
              <a:t> </a:t>
            </a:r>
            <a:r>
              <a:rPr lang="en-US" altLang="en-US" sz="2400" dirty="0" err="1"/>
              <a:t>tính</a:t>
            </a:r>
            <a:r>
              <a:rPr lang="en-US" altLang="en-US" sz="2400" dirty="0"/>
              <a:t> </a:t>
            </a:r>
            <a:r>
              <a:rPr lang="en-US" altLang="en-US" sz="2400" dirty="0" err="1"/>
              <a:t>số</a:t>
            </a:r>
            <a:r>
              <a:rPr lang="en-US" altLang="en-US" sz="2400" dirty="0"/>
              <a:t> A </a:t>
            </a:r>
            <a:r>
              <a:rPr lang="en-US" altLang="en-US" sz="2400" dirty="0" err="1"/>
              <a:t>và</a:t>
            </a:r>
            <a:r>
              <a:rPr lang="en-US" altLang="en-US" sz="2400" dirty="0"/>
              <a:t> B</a:t>
            </a:r>
          </a:p>
        </p:txBody>
      </p:sp>
      <p:sp>
        <p:nvSpPr>
          <p:cNvPr id="721927" name="Text Box 7"/>
          <p:cNvSpPr txBox="1">
            <a:spLocks noChangeArrowheads="1"/>
          </p:cNvSpPr>
          <p:nvPr/>
        </p:nvSpPr>
        <p:spPr bwMode="auto">
          <a:xfrm>
            <a:off x="1497764" y="1676400"/>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a:t>
            </a:r>
          </a:p>
        </p:txBody>
      </p:sp>
      <p:sp>
        <p:nvSpPr>
          <p:cNvPr id="721928" name="Text Box 8"/>
          <p:cNvSpPr txBox="1">
            <a:spLocks noChangeArrowheads="1"/>
          </p:cNvSpPr>
          <p:nvPr/>
        </p:nvSpPr>
        <p:spPr bwMode="auto">
          <a:xfrm>
            <a:off x="4570414" y="3281052"/>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B</a:t>
            </a:r>
          </a:p>
        </p:txBody>
      </p:sp>
      <p:sp>
        <p:nvSpPr>
          <p:cNvPr id="721929" name="Text Box 9"/>
          <p:cNvSpPr txBox="1">
            <a:spLocks noChangeArrowheads="1"/>
          </p:cNvSpPr>
          <p:nvPr/>
        </p:nvSpPr>
        <p:spPr bwMode="auto">
          <a:xfrm>
            <a:off x="5942014" y="2095502"/>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a:t>
            </a:r>
          </a:p>
        </p:txBody>
      </p:sp>
      <p:sp>
        <p:nvSpPr>
          <p:cNvPr id="721930" name="Text Box 10"/>
          <p:cNvSpPr txBox="1">
            <a:spLocks noChangeArrowheads="1"/>
          </p:cNvSpPr>
          <p:nvPr/>
        </p:nvSpPr>
        <p:spPr bwMode="auto">
          <a:xfrm>
            <a:off x="9681825" y="3281052"/>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B</a:t>
            </a:r>
          </a:p>
        </p:txBody>
      </p:sp>
      <p:sp>
        <p:nvSpPr>
          <p:cNvPr id="721931" name="Text Box 11"/>
          <p:cNvSpPr txBox="1">
            <a:spLocks noChangeArrowheads="1"/>
          </p:cNvSpPr>
          <p:nvPr/>
        </p:nvSpPr>
        <p:spPr bwMode="auto">
          <a:xfrm>
            <a:off x="1604490" y="4644421"/>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a:t>
            </a:r>
          </a:p>
        </p:txBody>
      </p:sp>
      <p:sp>
        <p:nvSpPr>
          <p:cNvPr id="721932" name="Text Box 12"/>
          <p:cNvSpPr txBox="1">
            <a:spLocks noChangeArrowheads="1"/>
          </p:cNvSpPr>
          <p:nvPr/>
        </p:nvSpPr>
        <p:spPr bwMode="auto">
          <a:xfrm>
            <a:off x="3886200" y="5759519"/>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B</a:t>
            </a:r>
          </a:p>
        </p:txBody>
      </p:sp>
      <p:sp>
        <p:nvSpPr>
          <p:cNvPr id="721933" name="Text Box 13"/>
          <p:cNvSpPr txBox="1">
            <a:spLocks noChangeArrowheads="1"/>
          </p:cNvSpPr>
          <p:nvPr/>
        </p:nvSpPr>
        <p:spPr bwMode="auto">
          <a:xfrm>
            <a:off x="4265522" y="4490532"/>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a:t>
            </a:r>
          </a:p>
        </p:txBody>
      </p:sp>
      <p:sp>
        <p:nvSpPr>
          <p:cNvPr id="721934" name="Text Box 14"/>
          <p:cNvSpPr txBox="1">
            <a:spLocks noChangeArrowheads="1"/>
          </p:cNvSpPr>
          <p:nvPr/>
        </p:nvSpPr>
        <p:spPr bwMode="auto">
          <a:xfrm>
            <a:off x="6776997" y="5840647"/>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B</a:t>
            </a:r>
          </a:p>
        </p:txBody>
      </p:sp>
      <p:sp>
        <p:nvSpPr>
          <p:cNvPr id="721935" name="Text Box 15"/>
          <p:cNvSpPr txBox="1">
            <a:spLocks noChangeArrowheads="1"/>
          </p:cNvSpPr>
          <p:nvPr/>
        </p:nvSpPr>
        <p:spPr bwMode="auto">
          <a:xfrm>
            <a:off x="6916394" y="4346803"/>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A</a:t>
            </a:r>
          </a:p>
        </p:txBody>
      </p:sp>
      <p:sp>
        <p:nvSpPr>
          <p:cNvPr id="721936" name="Text Box 16"/>
          <p:cNvSpPr txBox="1">
            <a:spLocks noChangeArrowheads="1"/>
          </p:cNvSpPr>
          <p:nvPr/>
        </p:nvSpPr>
        <p:spPr bwMode="auto">
          <a:xfrm>
            <a:off x="9529379" y="5840647"/>
            <a:ext cx="30489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B</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987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308715" y="1841537"/>
            <a:ext cx="1838095" cy="590476"/>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8" name="Slide Number Placeholder 7"/>
          <p:cNvSpPr>
            <a:spLocks noGrp="1"/>
          </p:cNvSpPr>
          <p:nvPr>
            <p:ph type="sldNum" sz="quarter" idx="11"/>
          </p:nvPr>
        </p:nvSpPr>
        <p:spPr/>
        <p:txBody>
          <a:bodyPr/>
          <a:lstStyle/>
          <a:p>
            <a:fld id="{03E52F8A-CC06-4F4E-9673-A2C9D56D61A6}" type="slidenum">
              <a:rPr lang="en-US" altLang="en-US"/>
              <a:pPr/>
              <a:t>32</a:t>
            </a:fld>
            <a:endParaRPr lang="en-US" altLang="en-US"/>
          </a:p>
        </p:txBody>
      </p:sp>
      <p:sp>
        <p:nvSpPr>
          <p:cNvPr id="719874" name="Rectangle 2"/>
          <p:cNvSpPr>
            <a:spLocks noGrp="1" noChangeArrowheads="1"/>
          </p:cNvSpPr>
          <p:nvPr>
            <p:ph type="title"/>
          </p:nvPr>
        </p:nvSpPr>
        <p:spPr/>
        <p:txBody>
          <a:bodyPr/>
          <a:lstStyle/>
          <a:p>
            <a:r>
              <a:rPr lang="en-US" altLang="en-US" sz="3200"/>
              <a:t>2.4. Tích hợp dữ liệu</a:t>
            </a:r>
          </a:p>
        </p:txBody>
      </p:sp>
      <p:sp>
        <p:nvSpPr>
          <p:cNvPr id="719875" name="Rectangle 3"/>
          <p:cNvSpPr>
            <a:spLocks noGrp="1" noChangeArrowheads="1"/>
          </p:cNvSpPr>
          <p:nvPr>
            <p:ph type="body" sz="half" idx="4294967295"/>
          </p:nvPr>
        </p:nvSpPr>
        <p:spPr>
          <a:xfrm>
            <a:off x="1335476" y="1295400"/>
            <a:ext cx="10399323" cy="3619452"/>
          </a:xfrm>
          <a:ln>
            <a:noFill/>
          </a:ln>
        </p:spPr>
        <p:style>
          <a:lnRef idx="2">
            <a:schemeClr val="accent1"/>
          </a:lnRef>
          <a:fillRef idx="1">
            <a:schemeClr val="lt1"/>
          </a:fillRef>
          <a:effectRef idx="0">
            <a:schemeClr val="accent1"/>
          </a:effectRef>
          <a:fontRef idx="minor">
            <a:schemeClr val="dk1"/>
          </a:fontRef>
        </p:style>
        <p:txBody>
          <a:bodyPr/>
          <a:lstStyle/>
          <a:p>
            <a:pPr>
              <a:spcBef>
                <a:spcPct val="40000"/>
              </a:spcBef>
            </a:pPr>
            <a:r>
              <a:rPr lang="en-US" altLang="en-US" sz="2400"/>
              <a:t>Phân tích tương quan giữa hai thuộc tính rời rạc A và B</a:t>
            </a:r>
          </a:p>
          <a:p>
            <a:pPr lvl="1">
              <a:spcBef>
                <a:spcPct val="40000"/>
              </a:spcBef>
            </a:pPr>
            <a:r>
              <a:rPr lang="en-US" altLang="en-US" sz="2400"/>
              <a:t>A có </a:t>
            </a:r>
            <a:r>
              <a:rPr lang="en-US" altLang="en-US" sz="2400" i="1"/>
              <a:t>c</a:t>
            </a:r>
            <a:r>
              <a:rPr lang="en-US" altLang="en-US" sz="2400"/>
              <a:t> giá trị phân biệt, a</a:t>
            </a:r>
            <a:r>
              <a:rPr lang="en-US" altLang="en-US" sz="2400" i="1" baseline="-25000"/>
              <a:t>1</a:t>
            </a:r>
            <a:r>
              <a:rPr lang="en-US" altLang="en-US" sz="2400"/>
              <a:t>, a</a:t>
            </a:r>
            <a:r>
              <a:rPr lang="en-US" altLang="en-US" sz="2400" i="1" baseline="-25000"/>
              <a:t>2</a:t>
            </a:r>
            <a:r>
              <a:rPr lang="en-US" altLang="en-US" sz="2400"/>
              <a:t>, …, a</a:t>
            </a:r>
            <a:r>
              <a:rPr lang="en-US" altLang="en-US" sz="2400" i="1" baseline="-25000"/>
              <a:t>c</a:t>
            </a:r>
            <a:r>
              <a:rPr lang="en-US" altLang="en-US" sz="2400"/>
              <a:t>.</a:t>
            </a:r>
          </a:p>
          <a:p>
            <a:pPr lvl="1">
              <a:spcBef>
                <a:spcPct val="40000"/>
              </a:spcBef>
            </a:pPr>
            <a:r>
              <a:rPr lang="en-US" altLang="en-US" sz="2400"/>
              <a:t>B có </a:t>
            </a:r>
            <a:r>
              <a:rPr lang="en-US" altLang="en-US" sz="2400" i="1"/>
              <a:t>r</a:t>
            </a:r>
            <a:r>
              <a:rPr lang="en-US" altLang="en-US" sz="2400"/>
              <a:t> giá trị phân biệt, b</a:t>
            </a:r>
            <a:r>
              <a:rPr lang="en-US" altLang="en-US" sz="2400" i="1" baseline="-25000"/>
              <a:t>1</a:t>
            </a:r>
            <a:r>
              <a:rPr lang="en-US" altLang="en-US" sz="2400"/>
              <a:t>, b</a:t>
            </a:r>
            <a:r>
              <a:rPr lang="en-US" altLang="en-US" sz="2400" i="1" baseline="-25000"/>
              <a:t>2</a:t>
            </a:r>
            <a:r>
              <a:rPr lang="en-US" altLang="en-US" sz="2400"/>
              <a:t>, …, b</a:t>
            </a:r>
            <a:r>
              <a:rPr lang="en-US" altLang="en-US" sz="2400" i="1" baseline="-25000"/>
              <a:t>r</a:t>
            </a:r>
            <a:r>
              <a:rPr lang="en-US" altLang="en-US" sz="2400"/>
              <a:t>.</a:t>
            </a:r>
          </a:p>
          <a:p>
            <a:pPr lvl="1">
              <a:spcBef>
                <a:spcPct val="40000"/>
              </a:spcBef>
            </a:pPr>
            <a:r>
              <a:rPr lang="en-US" altLang="en-US" sz="2400"/>
              <a:t>o</a:t>
            </a:r>
            <a:r>
              <a:rPr lang="en-US" altLang="en-US" sz="2400" baseline="-25000"/>
              <a:t>ij</a:t>
            </a:r>
            <a:r>
              <a:rPr lang="en-US" altLang="en-US" sz="2400"/>
              <a:t>: số lượng đối tượng (tuples) có trị thuộc tính A là a</a:t>
            </a:r>
            <a:r>
              <a:rPr lang="en-US" altLang="en-US" sz="2400" baseline="-25000"/>
              <a:t>i</a:t>
            </a:r>
            <a:r>
              <a:rPr lang="en-US" altLang="en-US" sz="2400"/>
              <a:t> và trị thuộc tính B là b</a:t>
            </a:r>
            <a:r>
              <a:rPr lang="en-US" altLang="en-US" sz="2400" baseline="-25000"/>
              <a:t>j</a:t>
            </a:r>
            <a:r>
              <a:rPr lang="en-US" altLang="en-US" sz="2400"/>
              <a:t>.</a:t>
            </a:r>
          </a:p>
          <a:p>
            <a:pPr lvl="1">
              <a:spcBef>
                <a:spcPct val="40000"/>
              </a:spcBef>
            </a:pPr>
            <a:r>
              <a:rPr lang="en-US" altLang="en-US" sz="2400"/>
              <a:t>count(A=a</a:t>
            </a:r>
            <a:r>
              <a:rPr lang="en-US" altLang="en-US" sz="2400" baseline="-25000"/>
              <a:t>i</a:t>
            </a:r>
            <a:r>
              <a:rPr lang="en-US" altLang="en-US" sz="2400"/>
              <a:t>): số lượng đối tượng có trị thuộc tính A là a</a:t>
            </a:r>
            <a:r>
              <a:rPr lang="en-US" altLang="en-US" sz="2400" baseline="-25000"/>
              <a:t>i</a:t>
            </a:r>
            <a:r>
              <a:rPr lang="en-US" altLang="en-US" sz="2400"/>
              <a:t>.</a:t>
            </a:r>
          </a:p>
          <a:p>
            <a:pPr lvl="1">
              <a:spcBef>
                <a:spcPct val="40000"/>
              </a:spcBef>
            </a:pPr>
            <a:r>
              <a:rPr lang="en-US" altLang="en-US" sz="2400"/>
              <a:t>count(B=b</a:t>
            </a:r>
            <a:r>
              <a:rPr lang="en-US" altLang="en-US" sz="2400" baseline="-25000"/>
              <a:t>j</a:t>
            </a:r>
            <a:r>
              <a:rPr lang="en-US" altLang="en-US" sz="2400"/>
              <a:t>): số lượng đối tượng có trị thuộc tính B là b</a:t>
            </a:r>
            <a:r>
              <a:rPr lang="en-US" altLang="en-US" sz="2400" baseline="-25000"/>
              <a:t>j</a:t>
            </a:r>
            <a:r>
              <a:rPr lang="en-US" altLang="en-US" sz="2400"/>
              <a:t>.</a:t>
            </a:r>
          </a:p>
          <a:p>
            <a:pPr lvl="1">
              <a:spcBef>
                <a:spcPct val="40000"/>
              </a:spcBef>
            </a:pPr>
            <a:endParaRPr lang="en-US" altLang="en-US" sz="2400"/>
          </a:p>
        </p:txBody>
      </p:sp>
      <p:pic>
        <p:nvPicPr>
          <p:cNvPr id="719878" name="Picture 6"/>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3962400" y="4495800"/>
            <a:ext cx="5374252" cy="905706"/>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3971" name="Rectangle 3"/>
          <p:cNvSpPr>
            <a:spLocks noGrp="1" noChangeArrowheads="1"/>
          </p:cNvSpPr>
          <p:nvPr>
            <p:ph idx="1"/>
          </p:nvPr>
        </p:nvSpPr>
        <p:spPr>
          <a:xfrm>
            <a:off x="681997" y="1348370"/>
            <a:ext cx="11090638" cy="4099584"/>
          </a:xfrm>
          <a:noFill/>
          <a:ln>
            <a:noFill/>
          </a:ln>
        </p:spPr>
        <p:style>
          <a:lnRef idx="2">
            <a:schemeClr val="accent1"/>
          </a:lnRef>
          <a:fillRef idx="1">
            <a:schemeClr val="lt1"/>
          </a:fillRef>
          <a:effectRef idx="0">
            <a:schemeClr val="accent1"/>
          </a:effectRef>
          <a:fontRef idx="minor">
            <a:schemeClr val="dk1"/>
          </a:fontRef>
        </p:style>
        <p:txBody>
          <a:bodyPr/>
          <a:lstStyle/>
          <a:p>
            <a:pPr indent="0">
              <a:lnSpc>
                <a:spcPct val="90000"/>
              </a:lnSpc>
              <a:spcBef>
                <a:spcPct val="60000"/>
              </a:spcBef>
            </a:pPr>
            <a:r>
              <a:rPr lang="en-US" altLang="en-US" sz="2400"/>
              <a:t>Phân tích tương quan giữa hai thuộc tính rời rạc A và B</a:t>
            </a:r>
          </a:p>
          <a:p>
            <a:pPr lvl="1" indent="0">
              <a:lnSpc>
                <a:spcPct val="90000"/>
              </a:lnSpc>
              <a:spcBef>
                <a:spcPct val="60000"/>
              </a:spcBef>
            </a:pPr>
            <a:r>
              <a:rPr lang="en-US" altLang="en-US"/>
              <a:t>Phép kiểm thống kê chi-square kiểm tra giả thuyết liệu A và B có độc lập với nhau dựa trên một mức quan trọng (significance level) với độ tự do (degree of freedom</a:t>
            </a:r>
            <a:r>
              <a:rPr lang="en-US" altLang="en-US" smtClean="0"/>
              <a:t>). </a:t>
            </a:r>
            <a:r>
              <a:rPr lang="en-US" altLang="en-US" sz="2400" smtClean="0"/>
              <a:t>Nếu </a:t>
            </a:r>
            <a:r>
              <a:rPr lang="en-US" altLang="en-US" sz="2400"/>
              <a:t>giả thuyết bị loại bỏ thì A và B có sự liên hệ với nhau dựa trên thống kê.</a:t>
            </a:r>
          </a:p>
          <a:p>
            <a:pPr marL="1257300" lvl="1" indent="-342900">
              <a:lnSpc>
                <a:spcPct val="90000"/>
              </a:lnSpc>
              <a:spcBef>
                <a:spcPct val="60000"/>
              </a:spcBef>
              <a:buFontTx/>
              <a:buChar char="-"/>
            </a:pPr>
            <a:r>
              <a:rPr lang="en-US" altLang="en-US" smtClean="0"/>
              <a:t>Độ </a:t>
            </a:r>
            <a:r>
              <a:rPr lang="en-US" altLang="en-US"/>
              <a:t>tự do (degree of freedom): (r-1)*(</a:t>
            </a:r>
            <a:r>
              <a:rPr lang="en-US" altLang="en-US" smtClean="0"/>
              <a:t>c-1)</a:t>
            </a:r>
          </a:p>
          <a:p>
            <a:pPr marL="1257300" lvl="1" indent="-342900">
              <a:lnSpc>
                <a:spcPct val="90000"/>
              </a:lnSpc>
              <a:spcBef>
                <a:spcPct val="60000"/>
              </a:spcBef>
              <a:buFontTx/>
              <a:buChar char="-"/>
            </a:pPr>
            <a:r>
              <a:rPr lang="en-US" altLang="en-US" sz="2400" smtClean="0"/>
              <a:t>Tra </a:t>
            </a:r>
            <a:r>
              <a:rPr lang="en-US" altLang="en-US" sz="2400"/>
              <a:t>bảng phân bố chi-square để xác định giá trị </a:t>
            </a:r>
            <a:r>
              <a:rPr lang="en-US" altLang="en-US" sz="2400">
                <a:sym typeface="Symbol" pitchFamily="18" charset="2"/>
              </a:rPr>
              <a:t></a:t>
            </a:r>
            <a:r>
              <a:rPr lang="en-US" altLang="en-US" sz="2400" baseline="30000" smtClean="0">
                <a:sym typeface="Symbol" pitchFamily="18" charset="2"/>
              </a:rPr>
              <a:t>2</a:t>
            </a:r>
            <a:r>
              <a:rPr lang="en-US" altLang="en-US" sz="2400" smtClean="0"/>
              <a:t>.</a:t>
            </a:r>
          </a:p>
          <a:p>
            <a:pPr marL="1257300" lvl="1" indent="-342900">
              <a:lnSpc>
                <a:spcPct val="90000"/>
              </a:lnSpc>
              <a:spcBef>
                <a:spcPct val="60000"/>
              </a:spcBef>
              <a:buFontTx/>
              <a:buChar char="-"/>
            </a:pPr>
            <a:r>
              <a:rPr lang="en-US" altLang="en-US" sz="2400" smtClean="0"/>
              <a:t>Nếu </a:t>
            </a:r>
            <a:r>
              <a:rPr lang="en-US" altLang="en-US" sz="2400"/>
              <a:t>giá trị tính toán được lớn hơn hay bằng trị tra bảng được thì hai thuộc tính A và B độc lập nhau (giả thuyết đúng).</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91DC60BC-10A5-40E5-9E6B-B0C271F9B5F9}" type="slidenum">
              <a:rPr lang="en-US" altLang="en-US"/>
              <a:pPr/>
              <a:t>33</a:t>
            </a:fld>
            <a:endParaRPr lang="en-US" altLang="en-US"/>
          </a:p>
        </p:txBody>
      </p:sp>
      <p:sp>
        <p:nvSpPr>
          <p:cNvPr id="723970" name="Rectangle 2"/>
          <p:cNvSpPr>
            <a:spLocks noGrp="1" noChangeArrowheads="1"/>
          </p:cNvSpPr>
          <p:nvPr>
            <p:ph type="title"/>
          </p:nvPr>
        </p:nvSpPr>
        <p:spPr/>
        <p:txBody>
          <a:bodyPr/>
          <a:lstStyle/>
          <a:p>
            <a:r>
              <a:rPr lang="en-US" altLang="en-US"/>
              <a:t>2.4. Tích hợp dữ liệu</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lstStyle/>
          <a:p>
            <a:endParaRPr lang="en-US"/>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91DC60BC-10A5-40E5-9E6B-B0C271F9B5F9}" type="slidenum">
              <a:rPr lang="en-US" altLang="en-US"/>
              <a:pPr/>
              <a:t>34</a:t>
            </a:fld>
            <a:endParaRPr lang="en-US" altLang="en-US"/>
          </a:p>
        </p:txBody>
      </p:sp>
      <p:sp>
        <p:nvSpPr>
          <p:cNvPr id="723970" name="Rectangle 2"/>
          <p:cNvSpPr>
            <a:spLocks noGrp="1" noChangeArrowheads="1"/>
          </p:cNvSpPr>
          <p:nvPr>
            <p:ph type="title"/>
          </p:nvPr>
        </p:nvSpPr>
        <p:spPr/>
        <p:txBody>
          <a:bodyPr/>
          <a:lstStyle/>
          <a:p>
            <a:r>
              <a:rPr lang="en-US" altLang="en-US"/>
              <a:t>2.4. Tích hợp dữ liệu</a:t>
            </a:r>
          </a:p>
        </p:txBody>
      </p:sp>
      <p:graphicFrame>
        <p:nvGraphicFramePr>
          <p:cNvPr id="3" name="Table 2">
            <a:extLst>
              <a:ext uri="{FF2B5EF4-FFF2-40B4-BE49-F238E27FC236}">
                <a16:creationId xmlns:a16="http://schemas.microsoft.com/office/drawing/2014/main" id="{C5186696-1A69-4519-BABD-247839DE9EB8}"/>
              </a:ext>
            </a:extLst>
          </p:cNvPr>
          <p:cNvGraphicFramePr>
            <a:graphicFrameLocks noGrp="1"/>
          </p:cNvGraphicFramePr>
          <p:nvPr>
            <p:extLst>
              <p:ext uri="{D42A27DB-BD31-4B8C-83A1-F6EECF244321}">
                <p14:modId xmlns:p14="http://schemas.microsoft.com/office/powerpoint/2010/main" val="708264334"/>
              </p:ext>
            </p:extLst>
          </p:nvPr>
        </p:nvGraphicFramePr>
        <p:xfrm>
          <a:off x="1925729" y="1144478"/>
          <a:ext cx="8153400" cy="2459049"/>
        </p:xfrm>
        <a:graphic>
          <a:graphicData uri="http://schemas.openxmlformats.org/drawingml/2006/table">
            <a:tbl>
              <a:tblPr firstRow="1" bandRow="1">
                <a:tableStyleId>{5C22544A-7EE6-4342-B048-85BDC9FD1C3A}</a:tableStyleId>
              </a:tblPr>
              <a:tblGrid>
                <a:gridCol w="2387499">
                  <a:extLst>
                    <a:ext uri="{9D8B030D-6E8A-4147-A177-3AD203B41FA5}">
                      <a16:colId xmlns:a16="http://schemas.microsoft.com/office/drawing/2014/main" val="74062526"/>
                    </a:ext>
                  </a:extLst>
                </a:gridCol>
                <a:gridCol w="1647987">
                  <a:extLst>
                    <a:ext uri="{9D8B030D-6E8A-4147-A177-3AD203B41FA5}">
                      <a16:colId xmlns:a16="http://schemas.microsoft.com/office/drawing/2014/main" val="4272793394"/>
                    </a:ext>
                  </a:extLst>
                </a:gridCol>
                <a:gridCol w="2058957">
                  <a:extLst>
                    <a:ext uri="{9D8B030D-6E8A-4147-A177-3AD203B41FA5}">
                      <a16:colId xmlns:a16="http://schemas.microsoft.com/office/drawing/2014/main" val="2569160576"/>
                    </a:ext>
                  </a:extLst>
                </a:gridCol>
                <a:gridCol w="2058957">
                  <a:extLst>
                    <a:ext uri="{9D8B030D-6E8A-4147-A177-3AD203B41FA5}">
                      <a16:colId xmlns:a16="http://schemas.microsoft.com/office/drawing/2014/main" val="4150253541"/>
                    </a:ext>
                  </a:extLst>
                </a:gridCol>
              </a:tblGrid>
              <a:tr h="660729">
                <a:tc>
                  <a:txBody>
                    <a:bodyPr/>
                    <a:lstStyle/>
                    <a:p>
                      <a:pPr algn="ctr"/>
                      <a:endParaRPr lang="en-US" sz="2000"/>
                    </a:p>
                  </a:txBody>
                  <a:tcPr/>
                </a:tc>
                <a:tc>
                  <a:txBody>
                    <a:bodyPr/>
                    <a:lstStyle/>
                    <a:p>
                      <a:pPr algn="ctr"/>
                      <a:r>
                        <a:rPr lang="vi-VN" sz="2000"/>
                        <a:t>Giới tính (nam)</a:t>
                      </a:r>
                      <a:endParaRPr lang="en-US" sz="2000"/>
                    </a:p>
                  </a:txBody>
                  <a:tcPr/>
                </a:tc>
                <a:tc>
                  <a:txBody>
                    <a:bodyPr/>
                    <a:lstStyle/>
                    <a:p>
                      <a:pPr algn="ctr"/>
                      <a:r>
                        <a:rPr lang="vi-VN" sz="2000"/>
                        <a:t>Giới tính (nữ)</a:t>
                      </a:r>
                      <a:endParaRPr lang="en-US" sz="2000"/>
                    </a:p>
                  </a:txBody>
                  <a:tcPr/>
                </a:tc>
                <a:tc>
                  <a:txBody>
                    <a:bodyPr/>
                    <a:lstStyle/>
                    <a:p>
                      <a:pPr algn="ctr"/>
                      <a:r>
                        <a:rPr lang="vi-VN" sz="2000"/>
                        <a:t>Tổng</a:t>
                      </a:r>
                      <a:endParaRPr lang="en-US" sz="2000"/>
                    </a:p>
                  </a:txBody>
                  <a:tcPr/>
                </a:tc>
                <a:extLst>
                  <a:ext uri="{0D108BD9-81ED-4DB2-BD59-A6C34878D82A}">
                    <a16:rowId xmlns:a16="http://schemas.microsoft.com/office/drawing/2014/main" val="642163995"/>
                  </a:ext>
                </a:extLst>
              </a:tr>
              <a:tr h="660729">
                <a:tc>
                  <a:txBody>
                    <a:bodyPr/>
                    <a:lstStyle/>
                    <a:p>
                      <a:pPr algn="ctr"/>
                      <a:r>
                        <a:rPr lang="vi-VN" sz="2000"/>
                        <a:t>Sở thích (Fiction)</a:t>
                      </a:r>
                      <a:endParaRPr lang="en-US" sz="2000"/>
                    </a:p>
                  </a:txBody>
                  <a:tcPr/>
                </a:tc>
                <a:tc>
                  <a:txBody>
                    <a:bodyPr/>
                    <a:lstStyle/>
                    <a:p>
                      <a:pPr algn="ctr"/>
                      <a:r>
                        <a:rPr lang="vi-VN" sz="2000"/>
                        <a:t>250</a:t>
                      </a:r>
                      <a:endParaRPr lang="en-US" sz="2000"/>
                    </a:p>
                  </a:txBody>
                  <a:tcPr/>
                </a:tc>
                <a:tc>
                  <a:txBody>
                    <a:bodyPr/>
                    <a:lstStyle/>
                    <a:p>
                      <a:pPr algn="ctr"/>
                      <a:r>
                        <a:rPr lang="vi-VN" sz="2000"/>
                        <a:t>200</a:t>
                      </a:r>
                      <a:endParaRPr lang="en-US" sz="2000"/>
                    </a:p>
                  </a:txBody>
                  <a:tcPr/>
                </a:tc>
                <a:tc>
                  <a:txBody>
                    <a:bodyPr/>
                    <a:lstStyle/>
                    <a:p>
                      <a:pPr algn="ctr"/>
                      <a:r>
                        <a:rPr lang="vi-VN" sz="2000"/>
                        <a:t>450</a:t>
                      </a:r>
                      <a:endParaRPr lang="en-US" sz="2000"/>
                    </a:p>
                  </a:txBody>
                  <a:tcPr/>
                </a:tc>
                <a:extLst>
                  <a:ext uri="{0D108BD9-81ED-4DB2-BD59-A6C34878D82A}">
                    <a16:rowId xmlns:a16="http://schemas.microsoft.com/office/drawing/2014/main" val="18319519"/>
                  </a:ext>
                </a:extLst>
              </a:tr>
              <a:tr h="660729">
                <a:tc>
                  <a:txBody>
                    <a:bodyPr/>
                    <a:lstStyle/>
                    <a:p>
                      <a:pPr algn="ctr"/>
                      <a:r>
                        <a:rPr lang="vi-VN" sz="2000"/>
                        <a:t>Sở thích (NonFiction)</a:t>
                      </a:r>
                      <a:endParaRPr lang="en-US" sz="2000"/>
                    </a:p>
                  </a:txBody>
                  <a:tcPr/>
                </a:tc>
                <a:tc>
                  <a:txBody>
                    <a:bodyPr/>
                    <a:lstStyle/>
                    <a:p>
                      <a:pPr algn="ctr"/>
                      <a:r>
                        <a:rPr lang="vi-VN" sz="2000"/>
                        <a:t>50</a:t>
                      </a:r>
                      <a:endParaRPr lang="en-US" sz="2000"/>
                    </a:p>
                  </a:txBody>
                  <a:tcPr/>
                </a:tc>
                <a:tc>
                  <a:txBody>
                    <a:bodyPr/>
                    <a:lstStyle/>
                    <a:p>
                      <a:pPr algn="ctr"/>
                      <a:r>
                        <a:rPr lang="vi-VN" sz="2000"/>
                        <a:t>1000</a:t>
                      </a:r>
                      <a:endParaRPr lang="en-US" sz="2000"/>
                    </a:p>
                  </a:txBody>
                  <a:tcPr/>
                </a:tc>
                <a:tc>
                  <a:txBody>
                    <a:bodyPr/>
                    <a:lstStyle/>
                    <a:p>
                      <a:pPr algn="ctr"/>
                      <a:r>
                        <a:rPr lang="vi-VN" sz="2000"/>
                        <a:t>1050</a:t>
                      </a:r>
                      <a:endParaRPr lang="en-US" sz="2000"/>
                    </a:p>
                  </a:txBody>
                  <a:tcPr/>
                </a:tc>
                <a:extLst>
                  <a:ext uri="{0D108BD9-81ED-4DB2-BD59-A6C34878D82A}">
                    <a16:rowId xmlns:a16="http://schemas.microsoft.com/office/drawing/2014/main" val="628916429"/>
                  </a:ext>
                </a:extLst>
              </a:tr>
              <a:tr h="373202">
                <a:tc>
                  <a:txBody>
                    <a:bodyPr/>
                    <a:lstStyle/>
                    <a:p>
                      <a:pPr algn="ctr"/>
                      <a:r>
                        <a:rPr lang="vi-VN" sz="2000"/>
                        <a:t>Tổng</a:t>
                      </a:r>
                      <a:endParaRPr lang="en-US" sz="2000"/>
                    </a:p>
                  </a:txBody>
                  <a:tcPr/>
                </a:tc>
                <a:tc>
                  <a:txBody>
                    <a:bodyPr/>
                    <a:lstStyle/>
                    <a:p>
                      <a:pPr algn="ctr"/>
                      <a:r>
                        <a:rPr lang="vi-VN" sz="2000"/>
                        <a:t>300 </a:t>
                      </a:r>
                      <a:endParaRPr lang="en-US" sz="2000"/>
                    </a:p>
                  </a:txBody>
                  <a:tcPr/>
                </a:tc>
                <a:tc>
                  <a:txBody>
                    <a:bodyPr/>
                    <a:lstStyle/>
                    <a:p>
                      <a:pPr algn="ctr"/>
                      <a:r>
                        <a:rPr lang="vi-VN" sz="2000"/>
                        <a:t>1200</a:t>
                      </a:r>
                      <a:endParaRPr lang="en-US" sz="2000"/>
                    </a:p>
                  </a:txBody>
                  <a:tcPr/>
                </a:tc>
                <a:tc>
                  <a:txBody>
                    <a:bodyPr/>
                    <a:lstStyle/>
                    <a:p>
                      <a:pPr algn="ctr"/>
                      <a:r>
                        <a:rPr lang="vi-VN" sz="2000"/>
                        <a:t>1500</a:t>
                      </a:r>
                      <a:endParaRPr lang="en-US" sz="2000"/>
                    </a:p>
                  </a:txBody>
                  <a:tcPr/>
                </a:tc>
                <a:extLst>
                  <a:ext uri="{0D108BD9-81ED-4DB2-BD59-A6C34878D82A}">
                    <a16:rowId xmlns:a16="http://schemas.microsoft.com/office/drawing/2014/main" val="4133585190"/>
                  </a:ext>
                </a:extLst>
              </a:tr>
            </a:tbl>
          </a:graphicData>
        </a:graphic>
      </p:graphicFrame>
      <p:pic>
        <p:nvPicPr>
          <p:cNvPr id="7" name="Picture 4">
            <a:extLst>
              <a:ext uri="{FF2B5EF4-FFF2-40B4-BE49-F238E27FC236}">
                <a16:creationId xmlns:a16="http://schemas.microsoft.com/office/drawing/2014/main" id="{71EECC24-CC76-4C1E-AC51-B939CCC90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1524001" y="3749567"/>
            <a:ext cx="2813957" cy="775229"/>
          </a:xfrm>
          <a:prstGeom prst="rect">
            <a:avLst/>
          </a:prstGeo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pic>
        <p:nvPicPr>
          <p:cNvPr id="8" name="Picture 6">
            <a:extLst>
              <a:ext uri="{FF2B5EF4-FFF2-40B4-BE49-F238E27FC236}">
                <a16:creationId xmlns:a16="http://schemas.microsoft.com/office/drawing/2014/main" id="{B709BBA7-5B2B-4C25-813D-C069718037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a:xfrm>
            <a:off x="1524001" y="4995181"/>
            <a:ext cx="2813957" cy="718343"/>
          </a:xfrm>
          <a:prstGeom prst="rect">
            <a:avLst/>
          </a:prstGeo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graphicFrame>
        <p:nvGraphicFramePr>
          <p:cNvPr id="4" name="Table 3">
            <a:extLst>
              <a:ext uri="{FF2B5EF4-FFF2-40B4-BE49-F238E27FC236}">
                <a16:creationId xmlns:a16="http://schemas.microsoft.com/office/drawing/2014/main" id="{800E2E0E-8CD0-4EDA-B310-71928C495CBB}"/>
              </a:ext>
            </a:extLst>
          </p:cNvPr>
          <p:cNvGraphicFramePr>
            <a:graphicFrameLocks noGrp="1"/>
          </p:cNvGraphicFramePr>
          <p:nvPr>
            <p:extLst>
              <p:ext uri="{D42A27DB-BD31-4B8C-83A1-F6EECF244321}">
                <p14:modId xmlns:p14="http://schemas.microsoft.com/office/powerpoint/2010/main" val="1259052519"/>
              </p:ext>
            </p:extLst>
          </p:nvPr>
        </p:nvGraphicFramePr>
        <p:xfrm>
          <a:off x="4495802" y="3749566"/>
          <a:ext cx="6172201" cy="2365466"/>
        </p:xfrm>
        <a:graphic>
          <a:graphicData uri="http://schemas.openxmlformats.org/drawingml/2006/table">
            <a:tbl>
              <a:tblPr firstRow="1" bandRow="1">
                <a:tableStyleId>{5940675A-B579-460E-94D1-54222C63F5DA}</a:tableStyleId>
              </a:tblPr>
              <a:tblGrid>
                <a:gridCol w="609599">
                  <a:extLst>
                    <a:ext uri="{9D8B030D-6E8A-4147-A177-3AD203B41FA5}">
                      <a16:colId xmlns:a16="http://schemas.microsoft.com/office/drawing/2014/main" val="3650007169"/>
                    </a:ext>
                  </a:extLst>
                </a:gridCol>
                <a:gridCol w="838200">
                  <a:extLst>
                    <a:ext uri="{9D8B030D-6E8A-4147-A177-3AD203B41FA5}">
                      <a16:colId xmlns:a16="http://schemas.microsoft.com/office/drawing/2014/main" val="3807233399"/>
                    </a:ext>
                  </a:extLst>
                </a:gridCol>
                <a:gridCol w="838200">
                  <a:extLst>
                    <a:ext uri="{9D8B030D-6E8A-4147-A177-3AD203B41FA5}">
                      <a16:colId xmlns:a16="http://schemas.microsoft.com/office/drawing/2014/main" val="3543999740"/>
                    </a:ext>
                  </a:extLst>
                </a:gridCol>
                <a:gridCol w="990600">
                  <a:extLst>
                    <a:ext uri="{9D8B030D-6E8A-4147-A177-3AD203B41FA5}">
                      <a16:colId xmlns:a16="http://schemas.microsoft.com/office/drawing/2014/main" val="3811414621"/>
                    </a:ext>
                  </a:extLst>
                </a:gridCol>
                <a:gridCol w="914400">
                  <a:extLst>
                    <a:ext uri="{9D8B030D-6E8A-4147-A177-3AD203B41FA5}">
                      <a16:colId xmlns:a16="http://schemas.microsoft.com/office/drawing/2014/main" val="1289706486"/>
                    </a:ext>
                  </a:extLst>
                </a:gridCol>
                <a:gridCol w="914400">
                  <a:extLst>
                    <a:ext uri="{9D8B030D-6E8A-4147-A177-3AD203B41FA5}">
                      <a16:colId xmlns:a16="http://schemas.microsoft.com/office/drawing/2014/main" val="867146494"/>
                    </a:ext>
                  </a:extLst>
                </a:gridCol>
                <a:gridCol w="1066802">
                  <a:extLst>
                    <a:ext uri="{9D8B030D-6E8A-4147-A177-3AD203B41FA5}">
                      <a16:colId xmlns:a16="http://schemas.microsoft.com/office/drawing/2014/main" val="526992657"/>
                    </a:ext>
                  </a:extLst>
                </a:gridCol>
              </a:tblGrid>
              <a:tr h="499532">
                <a:tc>
                  <a:txBody>
                    <a:bodyPr/>
                    <a:lstStyle/>
                    <a:p>
                      <a:pPr algn="ctr"/>
                      <a:endParaRPr lang="en-US"/>
                    </a:p>
                  </a:txBody>
                  <a:tcPr/>
                </a:tc>
                <a:tc>
                  <a:txBody>
                    <a:bodyPr/>
                    <a:lstStyle/>
                    <a:p>
                      <a:pPr algn="ctr"/>
                      <a:r>
                        <a:rPr lang="vi-VN"/>
                        <a:t>0.5</a:t>
                      </a:r>
                      <a:endParaRPr lang="en-US"/>
                    </a:p>
                  </a:txBody>
                  <a:tcPr/>
                </a:tc>
                <a:tc>
                  <a:txBody>
                    <a:bodyPr/>
                    <a:lstStyle/>
                    <a:p>
                      <a:pPr algn="ctr"/>
                      <a:r>
                        <a:rPr lang="vi-VN"/>
                        <a:t>0.10</a:t>
                      </a:r>
                      <a:endParaRPr lang="en-US"/>
                    </a:p>
                  </a:txBody>
                  <a:tcPr/>
                </a:tc>
                <a:tc>
                  <a:txBody>
                    <a:bodyPr/>
                    <a:lstStyle/>
                    <a:p>
                      <a:pPr algn="ctr"/>
                      <a:r>
                        <a:rPr lang="vi-VN"/>
                        <a:t>0.05</a:t>
                      </a:r>
                      <a:endParaRPr lang="en-US"/>
                    </a:p>
                  </a:txBody>
                  <a:tcPr/>
                </a:tc>
                <a:tc>
                  <a:txBody>
                    <a:bodyPr/>
                    <a:lstStyle/>
                    <a:p>
                      <a:pPr algn="ctr"/>
                      <a:r>
                        <a:rPr lang="vi-VN"/>
                        <a:t>0.02</a:t>
                      </a:r>
                      <a:endParaRPr lang="en-US"/>
                    </a:p>
                  </a:txBody>
                  <a:tcPr/>
                </a:tc>
                <a:tc>
                  <a:txBody>
                    <a:bodyPr/>
                    <a:lstStyle/>
                    <a:p>
                      <a:pPr algn="ctr"/>
                      <a:r>
                        <a:rPr lang="vi-VN"/>
                        <a:t>0.01</a:t>
                      </a:r>
                      <a:endParaRPr lang="en-US"/>
                    </a:p>
                  </a:txBody>
                  <a:tcPr/>
                </a:tc>
                <a:tc>
                  <a:txBody>
                    <a:bodyPr/>
                    <a:lstStyle/>
                    <a:p>
                      <a:pPr algn="ctr"/>
                      <a:r>
                        <a:rPr lang="vi-VN"/>
                        <a:t>0.001</a:t>
                      </a:r>
                      <a:endParaRPr lang="en-US"/>
                    </a:p>
                  </a:txBody>
                  <a:tcPr/>
                </a:tc>
                <a:extLst>
                  <a:ext uri="{0D108BD9-81ED-4DB2-BD59-A6C34878D82A}">
                    <a16:rowId xmlns:a16="http://schemas.microsoft.com/office/drawing/2014/main" val="684867418"/>
                  </a:ext>
                </a:extLst>
              </a:tr>
              <a:tr h="475302">
                <a:tc>
                  <a:txBody>
                    <a:bodyPr/>
                    <a:lstStyle/>
                    <a:p>
                      <a:pPr algn="ctr"/>
                      <a:r>
                        <a:rPr lang="vi-VN"/>
                        <a:t>1</a:t>
                      </a:r>
                      <a:endParaRPr lang="en-US"/>
                    </a:p>
                  </a:txBody>
                  <a:tcPr/>
                </a:tc>
                <a:tc>
                  <a:txBody>
                    <a:bodyPr/>
                    <a:lstStyle/>
                    <a:p>
                      <a:pPr algn="ctr"/>
                      <a:r>
                        <a:rPr lang="vi-VN"/>
                        <a:t>0.455</a:t>
                      </a:r>
                      <a:endParaRPr lang="en-US"/>
                    </a:p>
                  </a:txBody>
                  <a:tcPr/>
                </a:tc>
                <a:tc>
                  <a:txBody>
                    <a:bodyPr/>
                    <a:lstStyle/>
                    <a:p>
                      <a:pPr algn="ctr"/>
                      <a:r>
                        <a:rPr lang="vi-VN"/>
                        <a:t>2.706</a:t>
                      </a:r>
                      <a:endParaRPr lang="en-US"/>
                    </a:p>
                  </a:txBody>
                  <a:tcPr/>
                </a:tc>
                <a:tc>
                  <a:txBody>
                    <a:bodyPr/>
                    <a:lstStyle/>
                    <a:p>
                      <a:pPr algn="ctr"/>
                      <a:r>
                        <a:rPr lang="vi-VN"/>
                        <a:t>3.841</a:t>
                      </a:r>
                      <a:endParaRPr lang="en-US"/>
                    </a:p>
                  </a:txBody>
                  <a:tcPr/>
                </a:tc>
                <a:tc>
                  <a:txBody>
                    <a:bodyPr/>
                    <a:lstStyle/>
                    <a:p>
                      <a:pPr algn="ctr"/>
                      <a:r>
                        <a:rPr lang="vi-VN"/>
                        <a:t>5.412</a:t>
                      </a:r>
                      <a:endParaRPr lang="en-US"/>
                    </a:p>
                  </a:txBody>
                  <a:tcPr/>
                </a:tc>
                <a:tc>
                  <a:txBody>
                    <a:bodyPr/>
                    <a:lstStyle/>
                    <a:p>
                      <a:pPr algn="ctr"/>
                      <a:r>
                        <a:rPr lang="vi-VN"/>
                        <a:t>6.635</a:t>
                      </a:r>
                      <a:endParaRPr lang="en-US"/>
                    </a:p>
                  </a:txBody>
                  <a:tcPr/>
                </a:tc>
                <a:tc>
                  <a:txBody>
                    <a:bodyPr/>
                    <a:lstStyle/>
                    <a:p>
                      <a:pPr algn="ctr"/>
                      <a:r>
                        <a:rPr lang="vi-VN"/>
                        <a:t>10.827</a:t>
                      </a:r>
                      <a:endParaRPr lang="en-US"/>
                    </a:p>
                  </a:txBody>
                  <a:tcPr/>
                </a:tc>
                <a:extLst>
                  <a:ext uri="{0D108BD9-81ED-4DB2-BD59-A6C34878D82A}">
                    <a16:rowId xmlns:a16="http://schemas.microsoft.com/office/drawing/2014/main" val="2529603399"/>
                  </a:ext>
                </a:extLst>
              </a:tr>
              <a:tr h="347658">
                <a:tc>
                  <a:txBody>
                    <a:bodyPr/>
                    <a:lstStyle/>
                    <a:p>
                      <a:pPr algn="ctr"/>
                      <a:r>
                        <a:rPr lang="vi-VN"/>
                        <a:t>2</a:t>
                      </a:r>
                      <a:endParaRPr lang="en-US"/>
                    </a:p>
                  </a:txBody>
                  <a:tcPr/>
                </a:tc>
                <a:tc>
                  <a:txBody>
                    <a:bodyPr/>
                    <a:lstStyle/>
                    <a:p>
                      <a:pPr algn="ctr"/>
                      <a:r>
                        <a:rPr lang="vi-VN"/>
                        <a:t>1.386</a:t>
                      </a:r>
                      <a:endParaRPr lang="en-US"/>
                    </a:p>
                  </a:txBody>
                  <a:tcPr/>
                </a:tc>
                <a:tc>
                  <a:txBody>
                    <a:bodyPr/>
                    <a:lstStyle/>
                    <a:p>
                      <a:pPr algn="ctr"/>
                      <a:r>
                        <a:rPr lang="vi-VN"/>
                        <a:t>4.605</a:t>
                      </a:r>
                      <a:endParaRPr lang="en-US"/>
                    </a:p>
                  </a:txBody>
                  <a:tcPr/>
                </a:tc>
                <a:tc>
                  <a:txBody>
                    <a:bodyPr/>
                    <a:lstStyle/>
                    <a:p>
                      <a:pPr algn="ctr"/>
                      <a:r>
                        <a:rPr lang="vi-VN"/>
                        <a:t>5.991</a:t>
                      </a:r>
                      <a:endParaRPr lang="en-US"/>
                    </a:p>
                  </a:txBody>
                  <a:tcPr/>
                </a:tc>
                <a:tc>
                  <a:txBody>
                    <a:bodyPr/>
                    <a:lstStyle/>
                    <a:p>
                      <a:pPr algn="ctr"/>
                      <a:r>
                        <a:rPr lang="vi-VN"/>
                        <a:t>7.824</a:t>
                      </a:r>
                      <a:endParaRPr lang="en-US"/>
                    </a:p>
                  </a:txBody>
                  <a:tcPr/>
                </a:tc>
                <a:tc>
                  <a:txBody>
                    <a:bodyPr/>
                    <a:lstStyle/>
                    <a:p>
                      <a:pPr algn="ctr"/>
                      <a:r>
                        <a:rPr lang="vi-VN"/>
                        <a:t>9.210</a:t>
                      </a:r>
                      <a:endParaRPr lang="en-US"/>
                    </a:p>
                  </a:txBody>
                  <a:tcPr/>
                </a:tc>
                <a:tc>
                  <a:txBody>
                    <a:bodyPr/>
                    <a:lstStyle/>
                    <a:p>
                      <a:pPr algn="ctr"/>
                      <a:r>
                        <a:rPr lang="vi-VN"/>
                        <a:t>13.815</a:t>
                      </a:r>
                      <a:endParaRPr lang="en-US"/>
                    </a:p>
                  </a:txBody>
                  <a:tcPr/>
                </a:tc>
                <a:extLst>
                  <a:ext uri="{0D108BD9-81ED-4DB2-BD59-A6C34878D82A}">
                    <a16:rowId xmlns:a16="http://schemas.microsoft.com/office/drawing/2014/main" val="1329372033"/>
                  </a:ext>
                </a:extLst>
              </a:tr>
              <a:tr h="347658">
                <a:tc>
                  <a:txBody>
                    <a:bodyPr/>
                    <a:lstStyle/>
                    <a:p>
                      <a:pPr algn="ctr"/>
                      <a:r>
                        <a:rPr lang="vi-VN"/>
                        <a:t>3</a:t>
                      </a:r>
                      <a:endParaRPr lang="en-US"/>
                    </a:p>
                  </a:txBody>
                  <a:tcPr/>
                </a:tc>
                <a:tc>
                  <a:txBody>
                    <a:bodyPr/>
                    <a:lstStyle/>
                    <a:p>
                      <a:pPr algn="ctr"/>
                      <a:r>
                        <a:rPr lang="vi-VN"/>
                        <a:t>2.366</a:t>
                      </a:r>
                      <a:endParaRPr lang="en-US"/>
                    </a:p>
                  </a:txBody>
                  <a:tcPr/>
                </a:tc>
                <a:tc>
                  <a:txBody>
                    <a:bodyPr/>
                    <a:lstStyle/>
                    <a:p>
                      <a:pPr algn="ctr"/>
                      <a:r>
                        <a:rPr lang="vi-VN"/>
                        <a:t>6.251</a:t>
                      </a:r>
                      <a:endParaRPr lang="en-US"/>
                    </a:p>
                  </a:txBody>
                  <a:tcPr/>
                </a:tc>
                <a:tc>
                  <a:txBody>
                    <a:bodyPr/>
                    <a:lstStyle/>
                    <a:p>
                      <a:pPr algn="ctr"/>
                      <a:r>
                        <a:rPr lang="vi-VN"/>
                        <a:t>7.815</a:t>
                      </a:r>
                      <a:endParaRPr lang="en-US"/>
                    </a:p>
                  </a:txBody>
                  <a:tcPr/>
                </a:tc>
                <a:tc>
                  <a:txBody>
                    <a:bodyPr/>
                    <a:lstStyle/>
                    <a:p>
                      <a:pPr algn="ctr"/>
                      <a:r>
                        <a:rPr lang="vi-VN"/>
                        <a:t>9.837</a:t>
                      </a:r>
                      <a:endParaRPr lang="en-US"/>
                    </a:p>
                  </a:txBody>
                  <a:tcPr/>
                </a:tc>
                <a:tc>
                  <a:txBody>
                    <a:bodyPr/>
                    <a:lstStyle/>
                    <a:p>
                      <a:pPr algn="ctr"/>
                      <a:r>
                        <a:rPr lang="vi-VN"/>
                        <a:t>11.345</a:t>
                      </a:r>
                      <a:endParaRPr lang="en-US"/>
                    </a:p>
                  </a:txBody>
                  <a:tcPr/>
                </a:tc>
                <a:tc>
                  <a:txBody>
                    <a:bodyPr/>
                    <a:lstStyle/>
                    <a:p>
                      <a:pPr algn="ctr"/>
                      <a:r>
                        <a:rPr lang="vi-VN"/>
                        <a:t>16.268</a:t>
                      </a:r>
                      <a:endParaRPr lang="en-US"/>
                    </a:p>
                  </a:txBody>
                  <a:tcPr/>
                </a:tc>
                <a:extLst>
                  <a:ext uri="{0D108BD9-81ED-4DB2-BD59-A6C34878D82A}">
                    <a16:rowId xmlns:a16="http://schemas.microsoft.com/office/drawing/2014/main" val="1649860314"/>
                  </a:ext>
                </a:extLst>
              </a:tr>
              <a:tr h="347658">
                <a:tc>
                  <a:txBody>
                    <a:bodyPr/>
                    <a:lstStyle/>
                    <a:p>
                      <a:pPr algn="ctr"/>
                      <a:r>
                        <a:rPr lang="vi-VN"/>
                        <a:t>4</a:t>
                      </a:r>
                      <a:endParaRPr lang="en-US"/>
                    </a:p>
                  </a:txBody>
                  <a:tcPr/>
                </a:tc>
                <a:tc>
                  <a:txBody>
                    <a:bodyPr/>
                    <a:lstStyle/>
                    <a:p>
                      <a:pPr algn="ctr"/>
                      <a:r>
                        <a:rPr lang="vi-VN"/>
                        <a:t>3.357</a:t>
                      </a:r>
                      <a:endParaRPr lang="en-US"/>
                    </a:p>
                  </a:txBody>
                  <a:tcPr/>
                </a:tc>
                <a:tc>
                  <a:txBody>
                    <a:bodyPr/>
                    <a:lstStyle/>
                    <a:p>
                      <a:pPr algn="ctr"/>
                      <a:r>
                        <a:rPr lang="vi-VN"/>
                        <a:t>7.779</a:t>
                      </a:r>
                      <a:endParaRPr lang="en-US"/>
                    </a:p>
                  </a:txBody>
                  <a:tcPr/>
                </a:tc>
                <a:tc>
                  <a:txBody>
                    <a:bodyPr/>
                    <a:lstStyle/>
                    <a:p>
                      <a:pPr algn="ctr"/>
                      <a:r>
                        <a:rPr lang="vi-VN"/>
                        <a:t>9.488</a:t>
                      </a:r>
                      <a:endParaRPr lang="en-US"/>
                    </a:p>
                  </a:txBody>
                  <a:tcPr/>
                </a:tc>
                <a:tc>
                  <a:txBody>
                    <a:bodyPr/>
                    <a:lstStyle/>
                    <a:p>
                      <a:pPr algn="ctr"/>
                      <a:r>
                        <a:rPr lang="vi-VN"/>
                        <a:t>11.668</a:t>
                      </a:r>
                      <a:endParaRPr lang="en-US"/>
                    </a:p>
                  </a:txBody>
                  <a:tcPr/>
                </a:tc>
                <a:tc>
                  <a:txBody>
                    <a:bodyPr/>
                    <a:lstStyle/>
                    <a:p>
                      <a:pPr algn="ctr"/>
                      <a:r>
                        <a:rPr lang="vi-VN"/>
                        <a:t>13.277</a:t>
                      </a:r>
                      <a:endParaRPr lang="en-US"/>
                    </a:p>
                  </a:txBody>
                  <a:tcPr/>
                </a:tc>
                <a:tc>
                  <a:txBody>
                    <a:bodyPr/>
                    <a:lstStyle/>
                    <a:p>
                      <a:pPr algn="ctr"/>
                      <a:r>
                        <a:rPr lang="vi-VN"/>
                        <a:t>18.465</a:t>
                      </a:r>
                      <a:endParaRPr lang="en-US"/>
                    </a:p>
                  </a:txBody>
                  <a:tcPr/>
                </a:tc>
                <a:extLst>
                  <a:ext uri="{0D108BD9-81ED-4DB2-BD59-A6C34878D82A}">
                    <a16:rowId xmlns:a16="http://schemas.microsoft.com/office/drawing/2014/main" val="1759855418"/>
                  </a:ext>
                </a:extLst>
              </a:tr>
              <a:tr h="347658">
                <a:tc>
                  <a:txBody>
                    <a:bodyPr/>
                    <a:lstStyle/>
                    <a:p>
                      <a:pPr algn="ctr"/>
                      <a:r>
                        <a:rPr lang="vi-VN"/>
                        <a:t>5</a:t>
                      </a:r>
                      <a:endParaRPr lang="en-US"/>
                    </a:p>
                  </a:txBody>
                  <a:tcPr/>
                </a:tc>
                <a:tc>
                  <a:txBody>
                    <a:bodyPr/>
                    <a:lstStyle/>
                    <a:p>
                      <a:pPr algn="ctr"/>
                      <a:r>
                        <a:rPr lang="vi-VN"/>
                        <a:t>4.351</a:t>
                      </a:r>
                      <a:endParaRPr lang="en-US"/>
                    </a:p>
                  </a:txBody>
                  <a:tcPr/>
                </a:tc>
                <a:tc>
                  <a:txBody>
                    <a:bodyPr/>
                    <a:lstStyle/>
                    <a:p>
                      <a:pPr algn="ctr"/>
                      <a:r>
                        <a:rPr lang="vi-VN"/>
                        <a:t>9.236</a:t>
                      </a:r>
                      <a:endParaRPr lang="en-US"/>
                    </a:p>
                  </a:txBody>
                  <a:tcPr/>
                </a:tc>
                <a:tc>
                  <a:txBody>
                    <a:bodyPr/>
                    <a:lstStyle/>
                    <a:p>
                      <a:pPr algn="ctr"/>
                      <a:r>
                        <a:rPr lang="vi-VN"/>
                        <a:t>11.070</a:t>
                      </a:r>
                      <a:endParaRPr lang="en-US"/>
                    </a:p>
                  </a:txBody>
                  <a:tcPr/>
                </a:tc>
                <a:tc>
                  <a:txBody>
                    <a:bodyPr/>
                    <a:lstStyle/>
                    <a:p>
                      <a:pPr algn="ctr"/>
                      <a:r>
                        <a:rPr lang="vi-VN"/>
                        <a:t>13.388</a:t>
                      </a:r>
                      <a:endParaRPr lang="en-US"/>
                    </a:p>
                  </a:txBody>
                  <a:tcPr/>
                </a:tc>
                <a:tc>
                  <a:txBody>
                    <a:bodyPr/>
                    <a:lstStyle/>
                    <a:p>
                      <a:pPr algn="ctr"/>
                      <a:r>
                        <a:rPr lang="vi-VN"/>
                        <a:t>15.086</a:t>
                      </a:r>
                      <a:endParaRPr lang="en-US"/>
                    </a:p>
                  </a:txBody>
                  <a:tcPr/>
                </a:tc>
                <a:tc>
                  <a:txBody>
                    <a:bodyPr/>
                    <a:lstStyle/>
                    <a:p>
                      <a:pPr algn="ctr"/>
                      <a:r>
                        <a:rPr lang="vi-VN"/>
                        <a:t>20.51</a:t>
                      </a:r>
                      <a:endParaRPr lang="en-US"/>
                    </a:p>
                  </a:txBody>
                  <a:tcPr/>
                </a:tc>
                <a:extLst>
                  <a:ext uri="{0D108BD9-81ED-4DB2-BD59-A6C34878D82A}">
                    <a16:rowId xmlns:a16="http://schemas.microsoft.com/office/drawing/2014/main" val="2571251406"/>
                  </a:ext>
                </a:extLst>
              </a:tr>
            </a:tbl>
          </a:graphicData>
        </a:graphic>
      </p:graphicFrame>
    </p:spTree>
    <p:extLst>
      <p:ext uri="{BB962C8B-B14F-4D97-AF65-F5344CB8AC3E}">
        <p14:creationId xmlns:p14="http://schemas.microsoft.com/office/powerpoint/2010/main" val="24586096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723971" name="Rectangle 3"/>
              <p:cNvSpPr>
                <a:spLocks noGrp="1" noChangeArrowheads="1"/>
              </p:cNvSpPr>
              <p:nvPr>
                <p:ph idx="1"/>
              </p:nvPr>
            </p:nvSpPr>
            <p:spPr>
              <a:xfrm>
                <a:off x="681997" y="1348370"/>
                <a:ext cx="11090638" cy="2680093"/>
              </a:xfrm>
              <a:ln>
                <a:noFill/>
              </a:ln>
            </p:spPr>
            <p:style>
              <a:lnRef idx="2">
                <a:schemeClr val="accent1"/>
              </a:lnRef>
              <a:fillRef idx="1">
                <a:schemeClr val="lt1"/>
              </a:fillRef>
              <a:effectRef idx="0">
                <a:schemeClr val="accent1"/>
              </a:effectRef>
              <a:fontRef idx="minor">
                <a:schemeClr val="dk1"/>
              </a:fontRef>
            </p:style>
            <p:txBody>
              <a:bodyPr/>
              <a:lstStyle/>
              <a:p>
                <a:r>
                  <a:rPr lang="vi-VN" b="0" dirty="0"/>
                  <a:t>e11 =  </a:t>
                </a:r>
                <a14:m>
                  <m:oMath xmlns:m="http://schemas.openxmlformats.org/officeDocument/2006/math">
                    <m:f>
                      <m:fPr>
                        <m:ctrlPr>
                          <a:rPr lang="vi-VN" b="0" i="1">
                            <a:latin typeface="Cambria Math" panose="02040503050406030204" pitchFamily="18" charset="0"/>
                          </a:rPr>
                        </m:ctrlPr>
                      </m:fPr>
                      <m:num>
                        <m:r>
                          <a:rPr lang="vi-VN" b="0" i="1">
                            <a:latin typeface="Cambria Math" panose="02040503050406030204" pitchFamily="18" charset="0"/>
                          </a:rPr>
                          <m:t>300</m:t>
                        </m:r>
                        <m:r>
                          <a:rPr lang="vi-VN" b="0" i="1">
                            <a:latin typeface="Cambria Math" panose="02040503050406030204" pitchFamily="18" charset="0"/>
                          </a:rPr>
                          <m:t>𝑥</m:t>
                        </m:r>
                        <m:r>
                          <a:rPr lang="vi-VN" b="0" i="1">
                            <a:latin typeface="Cambria Math" panose="02040503050406030204" pitchFamily="18" charset="0"/>
                          </a:rPr>
                          <m:t>450</m:t>
                        </m:r>
                      </m:num>
                      <m:den>
                        <m:r>
                          <a:rPr lang="vi-VN" b="0" i="1">
                            <a:latin typeface="Cambria Math" panose="02040503050406030204" pitchFamily="18" charset="0"/>
                          </a:rPr>
                          <m:t>1500</m:t>
                        </m:r>
                      </m:den>
                    </m:f>
                  </m:oMath>
                </a14:m>
                <a:r>
                  <a:rPr lang="vi-VN" b="0" dirty="0"/>
                  <a:t>= 90  e12 = 360</a:t>
                </a:r>
              </a:p>
              <a:p>
                <a:r>
                  <a:rPr lang="vi-VN" b="0" dirty="0"/>
                  <a:t>e21 = 210  e22  = 840 </a:t>
                </a:r>
              </a:p>
              <a:p>
                <a:r>
                  <a:rPr lang="vi-VN" b="0" dirty="0"/>
                  <a:t>b1 = 300, b2 = 1200, a1 = 450, a2 = 1050</a:t>
                </a:r>
              </a:p>
              <a:p>
                <a:r>
                  <a:rPr lang="el-GR" altLang="en-US" b="0" dirty="0"/>
                  <a:t>Χ</a:t>
                </a:r>
                <a:r>
                  <a:rPr lang="vi-VN" altLang="en-US" b="0" dirty="0"/>
                  <a:t> = 507.93 = </a:t>
                </a:r>
                <a14:m>
                  <m:oMath xmlns:m="http://schemas.openxmlformats.org/officeDocument/2006/math">
                    <m:f>
                      <m:fPr>
                        <m:ctrlPr>
                          <a:rPr lang="vi-VN" altLang="en-US" b="0" i="1">
                            <a:latin typeface="Cambria Math" panose="02040503050406030204" pitchFamily="18" charset="0"/>
                          </a:rPr>
                        </m:ctrlPr>
                      </m:fPr>
                      <m:num>
                        <m:sSup>
                          <m:sSupPr>
                            <m:ctrlPr>
                              <a:rPr lang="vi-VN" altLang="en-US" b="0" i="1">
                                <a:latin typeface="Cambria Math" panose="02040503050406030204" pitchFamily="18" charset="0"/>
                              </a:rPr>
                            </m:ctrlPr>
                          </m:sSupPr>
                          <m:e>
                            <m:r>
                              <a:rPr lang="vi-VN" altLang="en-US" b="0" i="1">
                                <a:latin typeface="Cambria Math" panose="02040503050406030204" pitchFamily="18" charset="0"/>
                              </a:rPr>
                              <m:t>(250 − 90 )</m:t>
                            </m:r>
                          </m:e>
                          <m:sup>
                            <m:r>
                              <a:rPr lang="vi-VN" altLang="en-US" b="0" i="1">
                                <a:latin typeface="Cambria Math" panose="02040503050406030204" pitchFamily="18" charset="0"/>
                              </a:rPr>
                              <m:t>2</m:t>
                            </m:r>
                          </m:sup>
                        </m:sSup>
                      </m:num>
                      <m:den>
                        <m:r>
                          <a:rPr lang="vi-VN" altLang="en-US" b="0" i="1">
                            <a:latin typeface="Cambria Math" panose="02040503050406030204" pitchFamily="18" charset="0"/>
                          </a:rPr>
                          <m:t>90</m:t>
                        </m:r>
                      </m:den>
                    </m:f>
                  </m:oMath>
                </a14:m>
                <a:r>
                  <a:rPr lang="vi-VN" altLang="en-US" b="0" dirty="0"/>
                  <a:t> + </a:t>
                </a:r>
                <a14:m>
                  <m:oMath xmlns:m="http://schemas.openxmlformats.org/officeDocument/2006/math">
                    <m:f>
                      <m:fPr>
                        <m:ctrlPr>
                          <a:rPr lang="vi-VN" altLang="en-US" b="0" i="1">
                            <a:latin typeface="Cambria Math" panose="02040503050406030204" pitchFamily="18" charset="0"/>
                          </a:rPr>
                        </m:ctrlPr>
                      </m:fPr>
                      <m:num>
                        <m:sSup>
                          <m:sSupPr>
                            <m:ctrlPr>
                              <a:rPr lang="vi-VN" altLang="en-US" b="0" i="1">
                                <a:latin typeface="Cambria Math" panose="02040503050406030204" pitchFamily="18" charset="0"/>
                              </a:rPr>
                            </m:ctrlPr>
                          </m:sSupPr>
                          <m:e>
                            <m:r>
                              <a:rPr lang="vi-VN" altLang="en-US" b="0" i="1">
                                <a:latin typeface="Cambria Math" panose="02040503050406030204" pitchFamily="18" charset="0"/>
                              </a:rPr>
                              <m:t>(50 − 210)</m:t>
                            </m:r>
                          </m:e>
                          <m:sup>
                            <m:r>
                              <a:rPr lang="vi-VN" altLang="en-US" b="0" i="1">
                                <a:latin typeface="Cambria Math" panose="02040503050406030204" pitchFamily="18" charset="0"/>
                              </a:rPr>
                              <m:t>2</m:t>
                            </m:r>
                          </m:sup>
                        </m:sSup>
                      </m:num>
                      <m:den>
                        <m:r>
                          <a:rPr lang="vi-VN" altLang="en-US" b="0" i="1">
                            <a:latin typeface="Cambria Math" panose="02040503050406030204" pitchFamily="18" charset="0"/>
                          </a:rPr>
                          <m:t>210</m:t>
                        </m:r>
                      </m:den>
                    </m:f>
                  </m:oMath>
                </a14:m>
                <a:r>
                  <a:rPr lang="vi-VN" altLang="en-US" b="0" dirty="0"/>
                  <a:t> +  </a:t>
                </a:r>
                <a14:m>
                  <m:oMath xmlns:m="http://schemas.openxmlformats.org/officeDocument/2006/math">
                    <m:f>
                      <m:fPr>
                        <m:ctrlPr>
                          <a:rPr lang="vi-VN" altLang="en-US" b="0" i="1">
                            <a:latin typeface="Cambria Math" panose="02040503050406030204" pitchFamily="18" charset="0"/>
                          </a:rPr>
                        </m:ctrlPr>
                      </m:fPr>
                      <m:num>
                        <m:sSup>
                          <m:sSupPr>
                            <m:ctrlPr>
                              <a:rPr lang="vi-VN" altLang="en-US" b="0" i="1">
                                <a:latin typeface="Cambria Math" panose="02040503050406030204" pitchFamily="18" charset="0"/>
                              </a:rPr>
                            </m:ctrlPr>
                          </m:sSupPr>
                          <m:e>
                            <m:r>
                              <a:rPr lang="vi-VN" altLang="en-US" b="0" i="1">
                                <a:latin typeface="Cambria Math" panose="02040503050406030204" pitchFamily="18" charset="0"/>
                              </a:rPr>
                              <m:t>(200 − 360 )</m:t>
                            </m:r>
                          </m:e>
                          <m:sup>
                            <m:r>
                              <a:rPr lang="vi-VN" altLang="en-US" b="0" i="1">
                                <a:latin typeface="Cambria Math" panose="02040503050406030204" pitchFamily="18" charset="0"/>
                              </a:rPr>
                              <m:t>2</m:t>
                            </m:r>
                          </m:sup>
                        </m:sSup>
                      </m:num>
                      <m:den>
                        <m:r>
                          <a:rPr lang="vi-VN" altLang="en-US" b="0" i="1">
                            <a:latin typeface="Cambria Math" panose="02040503050406030204" pitchFamily="18" charset="0"/>
                          </a:rPr>
                          <m:t>360</m:t>
                        </m:r>
                      </m:den>
                    </m:f>
                  </m:oMath>
                </a14:m>
                <a:r>
                  <a:rPr lang="vi-VN" altLang="en-US" b="0" dirty="0"/>
                  <a:t> + </a:t>
                </a:r>
                <a14:m>
                  <m:oMath xmlns:m="http://schemas.openxmlformats.org/officeDocument/2006/math">
                    <m:f>
                      <m:fPr>
                        <m:ctrlPr>
                          <a:rPr lang="vi-VN" altLang="en-US" b="0" i="1">
                            <a:latin typeface="Cambria Math" panose="02040503050406030204" pitchFamily="18" charset="0"/>
                          </a:rPr>
                        </m:ctrlPr>
                      </m:fPr>
                      <m:num>
                        <m:sSup>
                          <m:sSupPr>
                            <m:ctrlPr>
                              <a:rPr lang="vi-VN" altLang="en-US" b="0" i="1">
                                <a:latin typeface="Cambria Math" panose="02040503050406030204" pitchFamily="18" charset="0"/>
                              </a:rPr>
                            </m:ctrlPr>
                          </m:sSupPr>
                          <m:e>
                            <m:r>
                              <a:rPr lang="vi-VN" altLang="en-US" b="0" i="1">
                                <a:latin typeface="Cambria Math" panose="02040503050406030204" pitchFamily="18" charset="0"/>
                              </a:rPr>
                              <m:t>(1000 − 840 )</m:t>
                            </m:r>
                          </m:e>
                          <m:sup>
                            <m:r>
                              <a:rPr lang="vi-VN" altLang="en-US" b="0" i="1">
                                <a:latin typeface="Cambria Math" panose="02040503050406030204" pitchFamily="18" charset="0"/>
                              </a:rPr>
                              <m:t>2</m:t>
                            </m:r>
                          </m:sup>
                        </m:sSup>
                      </m:num>
                      <m:den>
                        <m:r>
                          <a:rPr lang="vi-VN" altLang="en-US" b="0" i="1">
                            <a:latin typeface="Cambria Math" panose="02040503050406030204" pitchFamily="18" charset="0"/>
                          </a:rPr>
                          <m:t>840</m:t>
                        </m:r>
                      </m:den>
                    </m:f>
                  </m:oMath>
                </a14:m>
                <a:r>
                  <a:rPr lang="vi-VN" altLang="en-US" b="0" dirty="0"/>
                  <a:t>  = 507.93 &gt; 10.827</a:t>
                </a:r>
              </a:p>
              <a:p>
                <a:r>
                  <a:rPr lang="vi-VN" altLang="en-US" b="0" dirty="0"/>
                  <a:t>(r-1)x(c-1) = (2-1)x(2-1) độ tự do và với độ chính xác 0.001</a:t>
                </a:r>
              </a:p>
              <a:p>
                <a:r>
                  <a:rPr lang="vi-VN" altLang="en-US" b="0" dirty="0"/>
                  <a:t>  =&gt; Phủ định giả thiết Giới tính và sở thích đọc Fiction là độc lập với nhau.</a:t>
                </a:r>
                <a:endParaRPr lang="en-US" altLang="en-US" b="0" dirty="0"/>
              </a:p>
              <a:p>
                <a:pPr>
                  <a:lnSpc>
                    <a:spcPct val="90000"/>
                  </a:lnSpc>
                  <a:spcBef>
                    <a:spcPct val="60000"/>
                  </a:spcBef>
                </a:pPr>
                <a:endParaRPr lang="en-US" altLang="en-US" b="0" dirty="0"/>
              </a:p>
            </p:txBody>
          </p:sp>
        </mc:Choice>
        <mc:Fallback>
          <p:sp>
            <p:nvSpPr>
              <p:cNvPr id="723971" name="Rectangle 3"/>
              <p:cNvSpPr>
                <a:spLocks noGrp="1" noRot="1" noChangeAspect="1" noMove="1" noResize="1" noEditPoints="1" noAdjustHandles="1" noChangeArrowheads="1" noChangeShapeType="1" noTextEdit="1"/>
              </p:cNvSpPr>
              <p:nvPr>
                <p:ph idx="1"/>
              </p:nvPr>
            </p:nvSpPr>
            <p:spPr>
              <a:xfrm>
                <a:off x="681997" y="1348370"/>
                <a:ext cx="11090638" cy="2680093"/>
              </a:xfrm>
              <a:blipFill>
                <a:blip r:embed="rId3"/>
                <a:stretch>
                  <a:fillRect t="-909"/>
                </a:stretch>
              </a:blipFill>
              <a:ln>
                <a:noFill/>
              </a:ln>
            </p:spPr>
            <p:txBody>
              <a:bodyPr/>
              <a:lstStyle/>
              <a:p>
                <a:r>
                  <a:rPr lang="en-US">
                    <a:noFill/>
                  </a:rPr>
                  <a:t> </a:t>
                </a:r>
              </a:p>
            </p:txBody>
          </p:sp>
        </mc:Fallback>
      </mc:AlternateContent>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91DC60BC-10A5-40E5-9E6B-B0C271F9B5F9}" type="slidenum">
              <a:rPr lang="en-US" altLang="en-US"/>
              <a:pPr/>
              <a:t>35</a:t>
            </a:fld>
            <a:endParaRPr lang="en-US" altLang="en-US"/>
          </a:p>
        </p:txBody>
      </p:sp>
      <p:sp>
        <p:nvSpPr>
          <p:cNvPr id="723970" name="Rectangle 2"/>
          <p:cNvSpPr>
            <a:spLocks noGrp="1" noChangeArrowheads="1"/>
          </p:cNvSpPr>
          <p:nvPr>
            <p:ph type="title"/>
          </p:nvPr>
        </p:nvSpPr>
        <p:spPr/>
        <p:txBody>
          <a:bodyPr/>
          <a:lstStyle/>
          <a:p>
            <a:r>
              <a:rPr lang="en-US" altLang="en-US"/>
              <a:t>2.4. Tích hợp dữ liệu</a:t>
            </a:r>
          </a:p>
        </p:txBody>
      </p:sp>
    </p:spTree>
    <p:extLst>
      <p:ext uri="{BB962C8B-B14F-4D97-AF65-F5344CB8AC3E}">
        <p14:creationId xmlns:p14="http://schemas.microsoft.com/office/powerpoint/2010/main" val="231918385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6147" name="Rectangle 3"/>
          <p:cNvSpPr>
            <a:spLocks noGrp="1" noChangeArrowheads="1"/>
          </p:cNvSpPr>
          <p:nvPr>
            <p:ph idx="1"/>
          </p:nvPr>
        </p:nvSpPr>
        <p:spPr>
          <a:xfrm>
            <a:off x="681997" y="1348370"/>
            <a:ext cx="11090638" cy="4247317"/>
          </a:xfrm>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Biến đổi dữ liệu: quá trình biến đổi hay kết hợp dữ liệu vào những dạng thích hợp cho quá trình khai phá dữ liệu</a:t>
            </a:r>
          </a:p>
          <a:p>
            <a:pPr lvl="1">
              <a:spcBef>
                <a:spcPct val="75000"/>
              </a:spcBef>
            </a:pPr>
            <a:r>
              <a:rPr lang="en-US" altLang="en-US"/>
              <a:t>Làm trơn dữ liệu (smoothing)</a:t>
            </a:r>
          </a:p>
          <a:p>
            <a:pPr lvl="1">
              <a:spcBef>
                <a:spcPct val="75000"/>
              </a:spcBef>
            </a:pPr>
            <a:r>
              <a:rPr lang="en-US" altLang="en-US"/>
              <a:t>Kết hợp dữ liệu (aggregation)</a:t>
            </a:r>
          </a:p>
          <a:p>
            <a:pPr lvl="1">
              <a:spcBef>
                <a:spcPct val="75000"/>
              </a:spcBef>
            </a:pPr>
            <a:r>
              <a:rPr lang="en-US" altLang="en-US"/>
              <a:t>Tổng quát hoá (generalization)</a:t>
            </a:r>
          </a:p>
          <a:p>
            <a:pPr lvl="1">
              <a:spcBef>
                <a:spcPct val="75000"/>
              </a:spcBef>
            </a:pPr>
            <a:r>
              <a:rPr lang="en-US" altLang="en-US"/>
              <a:t>Chuẩn hoá (normalization)</a:t>
            </a:r>
          </a:p>
          <a:p>
            <a:pPr lvl="1">
              <a:spcBef>
                <a:spcPct val="75000"/>
              </a:spcBef>
            </a:pPr>
            <a:r>
              <a:rPr lang="en-US" altLang="en-US"/>
              <a:t>Xây dựng thuộc tính/đặc tính (attribute/feature construction)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601D2452-9E2B-4393-BA8C-FBF09CB5DB49}" type="slidenum">
              <a:rPr lang="en-US" altLang="en-US"/>
              <a:pPr/>
              <a:t>36</a:t>
            </a:fld>
            <a:endParaRPr lang="en-US" altLang="en-US"/>
          </a:p>
        </p:txBody>
      </p:sp>
      <p:sp>
        <p:nvSpPr>
          <p:cNvPr id="646146" name="Rectangle 2"/>
          <p:cNvSpPr>
            <a:spLocks noGrp="1" noChangeArrowheads="1"/>
          </p:cNvSpPr>
          <p:nvPr>
            <p:ph type="title"/>
          </p:nvPr>
        </p:nvSpPr>
        <p:spPr/>
        <p:txBody>
          <a:bodyPr/>
          <a:lstStyle/>
          <a:p>
            <a:r>
              <a:rPr lang="en-US" altLang="en-US"/>
              <a:t>2.5. Biến đổi dữ liệu</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5" name="Rectangle 3"/>
          <p:cNvSpPr>
            <a:spLocks noGrp="1" noChangeArrowheads="1"/>
          </p:cNvSpPr>
          <p:nvPr>
            <p:ph idx="1"/>
          </p:nvPr>
        </p:nvSpPr>
        <p:spPr>
          <a:xfrm>
            <a:off x="681997" y="1348370"/>
            <a:ext cx="11090638" cy="3877985"/>
          </a:xfrm>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Làm </a:t>
            </a:r>
            <a:r>
              <a:rPr lang="en-US" altLang="en-US" sz="2400" smtClean="0"/>
              <a:t>trơn </a:t>
            </a:r>
            <a:r>
              <a:rPr lang="en-US" altLang="en-US" sz="2400"/>
              <a:t>dữ liệu (smoothing)</a:t>
            </a:r>
          </a:p>
          <a:p>
            <a:pPr lvl="1">
              <a:spcBef>
                <a:spcPct val="75000"/>
              </a:spcBef>
            </a:pPr>
            <a:r>
              <a:rPr lang="en-US" altLang="en-US"/>
              <a:t>Các phương pháp binning (bin means, bin medians, bin boundaries)</a:t>
            </a:r>
          </a:p>
          <a:p>
            <a:pPr lvl="1">
              <a:spcBef>
                <a:spcPct val="75000"/>
              </a:spcBef>
            </a:pPr>
            <a:r>
              <a:rPr lang="en-US" altLang="en-US"/>
              <a:t>Hồi quy</a:t>
            </a:r>
          </a:p>
          <a:p>
            <a:pPr lvl="1">
              <a:spcBef>
                <a:spcPct val="75000"/>
              </a:spcBef>
            </a:pPr>
            <a:r>
              <a:rPr lang="en-US" altLang="en-US"/>
              <a:t>Các kỹ thuật gom cụm (phân tích phần tử biên)</a:t>
            </a:r>
          </a:p>
          <a:p>
            <a:pPr lvl="1">
              <a:spcBef>
                <a:spcPct val="75000"/>
              </a:spcBef>
            </a:pPr>
            <a:r>
              <a:rPr lang="en-US" altLang="en-US"/>
              <a:t>Các phương pháp rời rạc hóa dữ liệu (các phân cấp ý niệm)</a:t>
            </a:r>
          </a:p>
          <a:p>
            <a:pPr lvl="1">
              <a:spcBef>
                <a:spcPct val="75000"/>
              </a:spcBef>
              <a:buFont typeface="Wingdings" pitchFamily="2" charset="2"/>
              <a:buNone/>
            </a:pPr>
            <a:r>
              <a:rPr lang="en-US" altLang="en-US">
                <a:sym typeface="Wingdings" pitchFamily="2" charset="2"/>
              </a:rPr>
              <a:t> Loại bỏ/giảm thiểu nhiễu khỏi dữ liệu.</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D6F3AA18-D2CE-4A14-957E-1C5BFFE29369}" type="slidenum">
              <a:rPr lang="en-US" altLang="en-US"/>
              <a:pPr/>
              <a:t>37</a:t>
            </a:fld>
            <a:endParaRPr lang="en-US" altLang="en-US"/>
          </a:p>
        </p:txBody>
      </p:sp>
      <p:sp>
        <p:nvSpPr>
          <p:cNvPr id="684034" name="Rectangle 2"/>
          <p:cNvSpPr>
            <a:spLocks noGrp="1" noChangeArrowheads="1"/>
          </p:cNvSpPr>
          <p:nvPr>
            <p:ph type="title"/>
          </p:nvPr>
        </p:nvSpPr>
        <p:spPr/>
        <p:txBody>
          <a:bodyPr/>
          <a:lstStyle/>
          <a:p>
            <a:r>
              <a:rPr lang="en-US" altLang="en-US"/>
              <a:t>2.5. Biến đổi dữ liệu</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9" name="Rectangle 3"/>
          <p:cNvSpPr>
            <a:spLocks noGrp="1" noChangeArrowheads="1"/>
          </p:cNvSpPr>
          <p:nvPr>
            <p:ph idx="1"/>
          </p:nvPr>
        </p:nvSpPr>
        <p:spPr>
          <a:xfrm>
            <a:off x="681997" y="1348370"/>
            <a:ext cx="11090638" cy="3231654"/>
          </a:xfrm>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Kết hợp dữ liệu (aggregation)</a:t>
            </a:r>
          </a:p>
          <a:p>
            <a:pPr lvl="1">
              <a:spcBef>
                <a:spcPct val="75000"/>
              </a:spcBef>
            </a:pPr>
            <a:r>
              <a:rPr lang="en-US" altLang="en-US">
                <a:sym typeface="Wingdings" pitchFamily="2" charset="2"/>
              </a:rPr>
              <a:t>Các tác vụ kết hợp/tóm tắt dữ liệu</a:t>
            </a:r>
          </a:p>
          <a:p>
            <a:pPr lvl="1">
              <a:spcBef>
                <a:spcPct val="75000"/>
              </a:spcBef>
            </a:pPr>
            <a:r>
              <a:rPr lang="en-US" altLang="en-US">
                <a:sym typeface="Wingdings" pitchFamily="2" charset="2"/>
              </a:rPr>
              <a:t>Chuyển dữ liệu ở mức chi tiết này sang dữ liệu ở mức kém chi tiết hơn </a:t>
            </a:r>
          </a:p>
          <a:p>
            <a:pPr lvl="1">
              <a:spcBef>
                <a:spcPct val="75000"/>
              </a:spcBef>
            </a:pPr>
            <a:r>
              <a:rPr lang="en-US" altLang="en-US">
                <a:sym typeface="Wingdings" pitchFamily="2" charset="2"/>
              </a:rPr>
              <a:t>Hỗ trợ việc phân tích dữ liệu ở nhiều độ mịn thời gian khác nhau</a:t>
            </a:r>
          </a:p>
          <a:p>
            <a:pPr lvl="1">
              <a:spcBef>
                <a:spcPct val="75000"/>
              </a:spcBef>
              <a:buFont typeface="Wingdings" pitchFamily="2" charset="2"/>
              <a:buNone/>
            </a:pPr>
            <a:r>
              <a:rPr lang="en-US" altLang="en-US">
                <a:sym typeface="Wingdings" pitchFamily="2" charset="2"/>
              </a:rPr>
              <a:t> Thu giảm dữ liệu (data reduction)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C716AF3C-AE31-4C1C-9D5B-DFFED6FAD488}" type="slidenum">
              <a:rPr lang="en-US" altLang="en-US"/>
              <a:pPr/>
              <a:t>38</a:t>
            </a:fld>
            <a:endParaRPr lang="en-US" altLang="en-US"/>
          </a:p>
        </p:txBody>
      </p:sp>
      <p:sp>
        <p:nvSpPr>
          <p:cNvPr id="685058" name="Rectangle 2"/>
          <p:cNvSpPr>
            <a:spLocks noGrp="1" noChangeArrowheads="1"/>
          </p:cNvSpPr>
          <p:nvPr>
            <p:ph type="title"/>
          </p:nvPr>
        </p:nvSpPr>
        <p:spPr/>
        <p:txBody>
          <a:bodyPr/>
          <a:lstStyle/>
          <a:p>
            <a:r>
              <a:rPr lang="en-US" altLang="en-US"/>
              <a:t>2.5. Biến đổi dữ liệu</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779" name="Rectangle 3"/>
          <p:cNvSpPr>
            <a:spLocks noGrp="1" noChangeArrowheads="1"/>
          </p:cNvSpPr>
          <p:nvPr>
            <p:ph idx="1"/>
          </p:nvPr>
        </p:nvSpPr>
        <p:spPr>
          <a:xfrm>
            <a:off x="681997" y="1348370"/>
            <a:ext cx="11090638" cy="2585323"/>
          </a:xfrm>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Tổng quát hóa (generalization)</a:t>
            </a:r>
          </a:p>
          <a:p>
            <a:pPr lvl="1">
              <a:spcBef>
                <a:spcPct val="75000"/>
              </a:spcBef>
            </a:pPr>
            <a:r>
              <a:rPr lang="en-US" altLang="en-US" sz="2800">
                <a:sym typeface="Wingdings" pitchFamily="2" charset="2"/>
              </a:rPr>
              <a:t>Chuyển đổi dữ liệu cấp thấp/nguyên tố/thô sang các khái niệm ở mức cao hơn thông qua các phân cấp ý niệm</a:t>
            </a:r>
          </a:p>
          <a:p>
            <a:pPr lvl="1">
              <a:spcBef>
                <a:spcPct val="75000"/>
              </a:spcBef>
              <a:buFont typeface="Wingdings" pitchFamily="2" charset="2"/>
              <a:buNone/>
            </a:pPr>
            <a:r>
              <a:rPr lang="en-US" altLang="en-US" sz="2800">
                <a:sym typeface="Wingdings" pitchFamily="2" charset="2"/>
              </a:rPr>
              <a:t> Thu giảm dữ liệu (data reduction)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7B05B89C-C7A1-43A1-AA46-F0EFF524FE3A}" type="slidenum">
              <a:rPr lang="en-US" altLang="en-US"/>
              <a:pPr/>
              <a:t>39</a:t>
            </a:fld>
            <a:endParaRPr lang="en-US" altLang="en-US"/>
          </a:p>
        </p:txBody>
      </p:sp>
      <p:sp>
        <p:nvSpPr>
          <p:cNvPr id="715778" name="Rectangle 2"/>
          <p:cNvSpPr>
            <a:spLocks noGrp="1" noChangeArrowheads="1"/>
          </p:cNvSpPr>
          <p:nvPr>
            <p:ph type="title"/>
          </p:nvPr>
        </p:nvSpPr>
        <p:spPr/>
        <p:txBody>
          <a:bodyPr/>
          <a:lstStyle/>
          <a:p>
            <a:r>
              <a:rPr lang="en-US" altLang="en-US"/>
              <a:t>2.5. Biến đổi dữ liệu</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03" name="Rectangle 3"/>
          <p:cNvSpPr>
            <a:spLocks noGrp="1" noChangeArrowheads="1"/>
          </p:cNvSpPr>
          <p:nvPr>
            <p:ph idx="1"/>
          </p:nvPr>
        </p:nvSpPr>
        <p:spPr>
          <a:xfrm>
            <a:off x="681997" y="1348370"/>
            <a:ext cx="11090638" cy="4093428"/>
          </a:xfrm>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Chuẩn hóa (normalization)</a:t>
            </a:r>
          </a:p>
          <a:p>
            <a:pPr lvl="1">
              <a:spcBef>
                <a:spcPct val="75000"/>
              </a:spcBef>
            </a:pPr>
            <a:r>
              <a:rPr lang="en-US" altLang="en-US" sz="2800"/>
              <a:t>min-max normalization</a:t>
            </a:r>
          </a:p>
          <a:p>
            <a:pPr lvl="1">
              <a:spcBef>
                <a:spcPct val="75000"/>
              </a:spcBef>
            </a:pPr>
            <a:r>
              <a:rPr lang="en-US" altLang="en-US" sz="2800"/>
              <a:t>z-score normalization</a:t>
            </a:r>
          </a:p>
          <a:p>
            <a:pPr lvl="1">
              <a:spcBef>
                <a:spcPct val="75000"/>
              </a:spcBef>
            </a:pPr>
            <a:r>
              <a:rPr lang="en-US" altLang="en-US" sz="2800"/>
              <a:t>Normalization by decimal scaling</a:t>
            </a:r>
          </a:p>
          <a:p>
            <a:pPr lvl="1">
              <a:spcBef>
                <a:spcPct val="75000"/>
              </a:spcBef>
              <a:buFont typeface="Wingdings" pitchFamily="2" charset="2"/>
              <a:buChar char="à"/>
            </a:pPr>
            <a:r>
              <a:rPr lang="en-US" altLang="en-US" sz="2800">
                <a:sym typeface="Wingdings" pitchFamily="2" charset="2"/>
              </a:rPr>
              <a:t>Các giá trị thuộc tính được chuyển đổi vào một miền trị nhất định được định nghĩa trước.</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AEA7A43D-6C28-4C05-98C6-A6A7AE4B1C2F}" type="slidenum">
              <a:rPr lang="en-US" altLang="en-US"/>
              <a:pPr/>
              <a:t>40</a:t>
            </a:fld>
            <a:endParaRPr lang="en-US" altLang="en-US"/>
          </a:p>
        </p:txBody>
      </p:sp>
      <p:sp>
        <p:nvSpPr>
          <p:cNvPr id="716802" name="Rectangle 2"/>
          <p:cNvSpPr>
            <a:spLocks noGrp="1" noChangeArrowheads="1"/>
          </p:cNvSpPr>
          <p:nvPr>
            <p:ph type="title"/>
          </p:nvPr>
        </p:nvSpPr>
        <p:spPr/>
        <p:txBody>
          <a:bodyPr/>
          <a:lstStyle/>
          <a:p>
            <a:r>
              <a:rPr lang="en-US" altLang="en-US" sz="3200"/>
              <a:t>2.5. Biến đổi dữ liệu</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3187" name="Rectangle 3"/>
          <p:cNvSpPr>
            <a:spLocks noGrp="1" noChangeArrowheads="1"/>
          </p:cNvSpPr>
          <p:nvPr>
            <p:ph type="body" sz="half" idx="4294967295"/>
          </p:nvPr>
        </p:nvSpPr>
        <p:spPr>
          <a:xfrm>
            <a:off x="457200" y="990600"/>
            <a:ext cx="9448800" cy="4632037"/>
          </a:xfrm>
        </p:spPr>
        <p:txBody>
          <a:bodyPr/>
          <a:lstStyle/>
          <a:p>
            <a:pPr>
              <a:spcBef>
                <a:spcPct val="75000"/>
              </a:spcBef>
            </a:pPr>
            <a:r>
              <a:rPr lang="en-US" altLang="en-US" sz="2800"/>
              <a:t>Chuẩn hóa (normalization)</a:t>
            </a:r>
          </a:p>
          <a:p>
            <a:pPr lvl="1">
              <a:spcBef>
                <a:spcPct val="75000"/>
              </a:spcBef>
            </a:pPr>
            <a:r>
              <a:rPr lang="en-US" altLang="en-US" sz="2400"/>
              <a:t>min-max </a:t>
            </a:r>
            <a:r>
              <a:rPr lang="en-US" altLang="en-US" sz="2400" smtClean="0"/>
              <a:t>normalization</a:t>
            </a:r>
          </a:p>
          <a:p>
            <a:pPr lvl="1">
              <a:spcBef>
                <a:spcPct val="75000"/>
              </a:spcBef>
            </a:pPr>
            <a:endParaRPr lang="en-US" altLang="en-US" sz="2400"/>
          </a:p>
          <a:p>
            <a:pPr lvl="2">
              <a:spcBef>
                <a:spcPct val="75000"/>
              </a:spcBef>
              <a:buFont typeface="Arial" panose="020B0604020202020204" pitchFamily="34" charset="0"/>
              <a:buChar char="•"/>
            </a:pPr>
            <a:r>
              <a:rPr lang="en-US" altLang="en-US" sz="2400" smtClean="0"/>
              <a:t>Giá </a:t>
            </a:r>
            <a:r>
              <a:rPr lang="en-US" altLang="en-US" sz="2400"/>
              <a:t>trị cũ: v </a:t>
            </a:r>
            <a:r>
              <a:rPr lang="en-US" altLang="en-US" sz="2400">
                <a:sym typeface="Symbol" pitchFamily="18" charset="2"/>
              </a:rPr>
              <a:t></a:t>
            </a:r>
            <a:r>
              <a:rPr lang="en-US" altLang="en-US" sz="2400"/>
              <a:t>[minA, maxA]</a:t>
            </a:r>
          </a:p>
          <a:p>
            <a:pPr lvl="2">
              <a:spcBef>
                <a:spcPct val="75000"/>
              </a:spcBef>
              <a:buFont typeface="Arial" panose="020B0604020202020204" pitchFamily="34" charset="0"/>
              <a:buChar char="•"/>
            </a:pPr>
            <a:r>
              <a:rPr lang="en-US" altLang="en-US" sz="2400"/>
              <a:t>Giá trị mới: v’ </a:t>
            </a:r>
            <a:r>
              <a:rPr lang="en-US" altLang="en-US" sz="2400">
                <a:sym typeface="Symbol" pitchFamily="18" charset="2"/>
              </a:rPr>
              <a:t> </a:t>
            </a:r>
            <a:r>
              <a:rPr lang="en-US" altLang="en-US" sz="2400"/>
              <a:t>[new_minA, new_maxA]</a:t>
            </a:r>
          </a:p>
          <a:p>
            <a:pPr lvl="2">
              <a:spcBef>
                <a:spcPct val="75000"/>
              </a:spcBef>
              <a:buFont typeface="Wingdings" pitchFamily="2" charset="2"/>
              <a:buChar char="à"/>
            </a:pPr>
            <a:r>
              <a:rPr lang="en-US" altLang="en-US" sz="2400">
                <a:sym typeface="Wingdings" pitchFamily="2" charset="2"/>
              </a:rPr>
              <a:t>Ví dụ: chuẩn hóa điểm số từ 0-4.0 sang 0-10.0.</a:t>
            </a:r>
          </a:p>
          <a:p>
            <a:pPr lvl="2">
              <a:spcBef>
                <a:spcPct val="75000"/>
              </a:spcBef>
              <a:buFont typeface="Wingdings" pitchFamily="2" charset="2"/>
              <a:buChar char="à"/>
            </a:pPr>
            <a:r>
              <a:rPr lang="en-US" altLang="en-US" sz="2400">
                <a:sym typeface="Wingdings" pitchFamily="2" charset="2"/>
              </a:rPr>
              <a:t>Đặc điểm của phép chuẩn hóa min-max?</a:t>
            </a:r>
          </a:p>
        </p:txBody>
      </p:sp>
      <p:pic>
        <p:nvPicPr>
          <p:cNvPr id="733188"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191000" y="1681772"/>
            <a:ext cx="7852349" cy="1066800"/>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A508CA6C-C938-4F37-8362-C3DF67C9F074}" type="slidenum">
              <a:rPr lang="en-US" altLang="en-US"/>
              <a:pPr/>
              <a:t>41</a:t>
            </a:fld>
            <a:endParaRPr lang="en-US" altLang="en-US"/>
          </a:p>
        </p:txBody>
      </p:sp>
      <p:sp>
        <p:nvSpPr>
          <p:cNvPr id="733186" name="Rectangle 2"/>
          <p:cNvSpPr>
            <a:spLocks noGrp="1" noChangeArrowheads="1"/>
          </p:cNvSpPr>
          <p:nvPr>
            <p:ph type="title"/>
          </p:nvPr>
        </p:nvSpPr>
        <p:spPr/>
        <p:txBody>
          <a:bodyPr/>
          <a:lstStyle/>
          <a:p>
            <a:r>
              <a:rPr lang="en-US" altLang="en-US"/>
              <a:t>2.5. Biến đổi dữ liệu</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216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572000" y="2145420"/>
            <a:ext cx="1276190" cy="81904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612EA630-37B4-4019-BF53-F87119B073B1}" type="slidenum">
              <a:rPr lang="en-US" altLang="en-US"/>
              <a:pPr/>
              <a:t>42</a:t>
            </a:fld>
            <a:endParaRPr lang="en-US" altLang="en-US"/>
          </a:p>
        </p:txBody>
      </p:sp>
      <p:sp>
        <p:nvSpPr>
          <p:cNvPr id="732162" name="Rectangle 2"/>
          <p:cNvSpPr>
            <a:spLocks noGrp="1" noChangeArrowheads="1"/>
          </p:cNvSpPr>
          <p:nvPr>
            <p:ph type="title"/>
          </p:nvPr>
        </p:nvSpPr>
        <p:spPr/>
        <p:txBody>
          <a:bodyPr/>
          <a:lstStyle/>
          <a:p>
            <a:r>
              <a:rPr lang="en-US" altLang="en-US"/>
              <a:t>2.5. Biến đổi dữ liệu</a:t>
            </a:r>
          </a:p>
        </p:txBody>
      </p:sp>
      <p:sp>
        <p:nvSpPr>
          <p:cNvPr id="732163" name="Rectangle 3"/>
          <p:cNvSpPr>
            <a:spLocks noGrp="1" noChangeArrowheads="1"/>
          </p:cNvSpPr>
          <p:nvPr>
            <p:ph type="body" sz="half" idx="4294967295"/>
          </p:nvPr>
        </p:nvSpPr>
        <p:spPr>
          <a:xfrm>
            <a:off x="704690" y="1403857"/>
            <a:ext cx="10287000" cy="3339376"/>
          </a:xfrm>
        </p:spPr>
        <p:txBody>
          <a:bodyPr/>
          <a:lstStyle/>
          <a:p>
            <a:pPr>
              <a:spcBef>
                <a:spcPct val="75000"/>
              </a:spcBef>
            </a:pPr>
            <a:r>
              <a:rPr lang="en-US" altLang="en-US" sz="2800"/>
              <a:t>Chuẩn hóa (normalization)</a:t>
            </a:r>
          </a:p>
          <a:p>
            <a:pPr lvl="1">
              <a:spcBef>
                <a:spcPct val="75000"/>
              </a:spcBef>
            </a:pPr>
            <a:r>
              <a:rPr lang="en-US" altLang="en-US" sz="2400" smtClean="0"/>
              <a:t>z-score </a:t>
            </a:r>
            <a:r>
              <a:rPr lang="en-US" altLang="en-US" sz="2400"/>
              <a:t>normalization</a:t>
            </a:r>
          </a:p>
          <a:p>
            <a:pPr lvl="2">
              <a:spcBef>
                <a:spcPct val="75000"/>
              </a:spcBef>
            </a:pPr>
            <a:r>
              <a:rPr lang="en-US" altLang="en-US" sz="2400"/>
              <a:t>Giá trị cũ: v tương ứng với </a:t>
            </a:r>
            <a:r>
              <a:rPr lang="en-US" altLang="en-US" sz="2400" b="1">
                <a:solidFill>
                  <a:srgbClr val="FF0000"/>
                </a:solidFill>
              </a:rPr>
              <a:t>mean Ā </a:t>
            </a:r>
            <a:r>
              <a:rPr lang="en-US" altLang="en-US" sz="2400"/>
              <a:t>và standard </a:t>
            </a:r>
            <a:r>
              <a:rPr lang="en-US" altLang="en-US" sz="2400" b="1">
                <a:solidFill>
                  <a:srgbClr val="FF0000"/>
                </a:solidFill>
              </a:rPr>
              <a:t>deviation </a:t>
            </a:r>
            <a:r>
              <a:rPr lang="ru-RU" altLang="en-US" sz="2400" b="1">
                <a:solidFill>
                  <a:srgbClr val="FF0000"/>
                </a:solidFill>
              </a:rPr>
              <a:t>б</a:t>
            </a:r>
            <a:r>
              <a:rPr lang="en-US" altLang="en-US" sz="2400" b="1" baseline="-25000">
                <a:solidFill>
                  <a:srgbClr val="FF0000"/>
                </a:solidFill>
              </a:rPr>
              <a:t>A</a:t>
            </a:r>
            <a:endParaRPr lang="ru-RU" altLang="en-US" sz="2400" b="1" baseline="-25000">
              <a:solidFill>
                <a:srgbClr val="FF0000"/>
              </a:solidFill>
            </a:endParaRPr>
          </a:p>
          <a:p>
            <a:pPr lvl="2">
              <a:spcBef>
                <a:spcPct val="75000"/>
              </a:spcBef>
            </a:pPr>
            <a:r>
              <a:rPr lang="en-US" altLang="en-US" sz="2400"/>
              <a:t>Giá trị mới: v’</a:t>
            </a:r>
          </a:p>
          <a:p>
            <a:pPr lvl="2">
              <a:spcBef>
                <a:spcPct val="75000"/>
              </a:spcBef>
              <a:buFont typeface="Wingdings" pitchFamily="2" charset="2"/>
              <a:buNone/>
            </a:pPr>
            <a:r>
              <a:rPr lang="en-US" altLang="en-US" sz="2400">
                <a:sym typeface="Wingdings" pitchFamily="2" charset="2"/>
              </a:rPr>
              <a:t> Đặc điểm của chuẩn hóa z-score?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4212"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5699051" y="1779632"/>
            <a:ext cx="1057423" cy="714286"/>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0019A98C-12D8-4BBC-BC23-1EDF71574CED}" type="slidenum">
              <a:rPr lang="en-US" altLang="en-US"/>
              <a:pPr/>
              <a:t>43</a:t>
            </a:fld>
            <a:endParaRPr lang="en-US" altLang="en-US"/>
          </a:p>
        </p:txBody>
      </p:sp>
      <p:sp>
        <p:nvSpPr>
          <p:cNvPr id="734210" name="Rectangle 2"/>
          <p:cNvSpPr>
            <a:spLocks noGrp="1" noChangeArrowheads="1"/>
          </p:cNvSpPr>
          <p:nvPr>
            <p:ph type="title"/>
          </p:nvPr>
        </p:nvSpPr>
        <p:spPr/>
        <p:txBody>
          <a:bodyPr/>
          <a:lstStyle/>
          <a:p>
            <a:r>
              <a:rPr lang="en-US" altLang="en-US"/>
              <a:t>2.5. Biến đổi dữ liệu</a:t>
            </a:r>
          </a:p>
        </p:txBody>
      </p:sp>
      <p:sp>
        <p:nvSpPr>
          <p:cNvPr id="734211" name="Rectangle 3"/>
          <p:cNvSpPr>
            <a:spLocks noGrp="1" noChangeArrowheads="1"/>
          </p:cNvSpPr>
          <p:nvPr>
            <p:ph type="body" sz="half" idx="4294967295"/>
          </p:nvPr>
        </p:nvSpPr>
        <p:spPr>
          <a:xfrm>
            <a:off x="762000" y="1016590"/>
            <a:ext cx="8382000" cy="2954655"/>
          </a:xfrm>
        </p:spPr>
        <p:txBody>
          <a:bodyPr/>
          <a:lstStyle/>
          <a:p>
            <a:pPr>
              <a:spcBef>
                <a:spcPct val="75000"/>
              </a:spcBef>
            </a:pPr>
            <a:r>
              <a:rPr lang="en-US" altLang="en-US" sz="2400"/>
              <a:t>Chuẩn hóa (normalization)</a:t>
            </a:r>
          </a:p>
          <a:p>
            <a:pPr lvl="1">
              <a:spcBef>
                <a:spcPct val="75000"/>
              </a:spcBef>
            </a:pPr>
            <a:r>
              <a:rPr lang="en-US" altLang="en-US" sz="2400"/>
              <a:t>Normalization by decimal scaling</a:t>
            </a:r>
          </a:p>
          <a:p>
            <a:pPr lvl="2">
              <a:spcBef>
                <a:spcPct val="75000"/>
              </a:spcBef>
            </a:pPr>
            <a:r>
              <a:rPr lang="en-US" altLang="en-US" sz="2400">
                <a:sym typeface="Wingdings" pitchFamily="2" charset="2"/>
              </a:rPr>
              <a:t>Giá trị cũ: v</a:t>
            </a:r>
          </a:p>
          <a:p>
            <a:pPr lvl="2">
              <a:spcBef>
                <a:spcPct val="75000"/>
              </a:spcBef>
            </a:pPr>
            <a:r>
              <a:rPr lang="en-US" altLang="en-US" sz="2400">
                <a:sym typeface="Wingdings" pitchFamily="2" charset="2"/>
              </a:rPr>
              <a:t>Giá trị mới: v’ với j là số nguyên nhỏ nhất sao cho Max(|v’|) &lt; 1</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827" name="Rectangle 3"/>
          <p:cNvSpPr>
            <a:spLocks noGrp="1" noChangeArrowheads="1"/>
          </p:cNvSpPr>
          <p:nvPr>
            <p:ph idx="1"/>
          </p:nvPr>
        </p:nvSpPr>
        <p:spPr>
          <a:xfrm>
            <a:off x="681997" y="1348370"/>
            <a:ext cx="11090638" cy="3231654"/>
          </a:xfrm>
        </p:spPr>
        <p:txBody>
          <a:bodyPr/>
          <a:lstStyle/>
          <a:p>
            <a:pPr>
              <a:spcBef>
                <a:spcPct val="75000"/>
              </a:spcBef>
            </a:pPr>
            <a:r>
              <a:rPr lang="en-US" altLang="en-US" sz="2400"/>
              <a:t>Xây dựng thuộc tính/đặc tính (attribute/feature construction)</a:t>
            </a:r>
          </a:p>
          <a:p>
            <a:pPr lvl="1">
              <a:spcBef>
                <a:spcPct val="75000"/>
              </a:spcBef>
            </a:pPr>
            <a:r>
              <a:rPr lang="en-US" altLang="en-US"/>
              <a:t>Các thuộc tính mới được xây dựng và thêm vào từ tập các thuộc tính sẵn có.</a:t>
            </a:r>
          </a:p>
          <a:p>
            <a:pPr lvl="1">
              <a:spcBef>
                <a:spcPct val="75000"/>
              </a:spcBef>
            </a:pPr>
            <a:r>
              <a:rPr lang="en-US" altLang="en-US"/>
              <a:t>Hỗ trợ kiểm tra tính chính xác và giúp hiểu cấu trúc của dữ liệu nhiều chiều.</a:t>
            </a:r>
          </a:p>
          <a:p>
            <a:pPr lvl="1">
              <a:spcBef>
                <a:spcPct val="75000"/>
              </a:spcBef>
            </a:pPr>
            <a:r>
              <a:rPr lang="en-US" altLang="en-US"/>
              <a:t>Hỗ trợ phát hiện thông tin thiếu sót về các mối quan hệ giữa các thuộc tính dữ liệu.</a:t>
            </a:r>
          </a:p>
          <a:p>
            <a:pPr lvl="1">
              <a:spcBef>
                <a:spcPct val="75000"/>
              </a:spcBef>
              <a:buFont typeface="Wingdings" pitchFamily="2" charset="2"/>
              <a:buNone/>
            </a:pPr>
            <a:r>
              <a:rPr lang="en-US" altLang="en-US">
                <a:sym typeface="Wingdings" pitchFamily="2" charset="2"/>
              </a:rPr>
              <a:t> Các thuộc tính dẫn xuất</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A4751839-B5FA-4923-B2CA-D7868B2D9A37}" type="slidenum">
              <a:rPr lang="en-US" altLang="en-US"/>
              <a:pPr/>
              <a:t>44</a:t>
            </a:fld>
            <a:endParaRPr lang="en-US" altLang="en-US"/>
          </a:p>
        </p:txBody>
      </p:sp>
      <p:sp>
        <p:nvSpPr>
          <p:cNvPr id="717826" name="Rectangle 2"/>
          <p:cNvSpPr>
            <a:spLocks noGrp="1" noChangeArrowheads="1"/>
          </p:cNvSpPr>
          <p:nvPr>
            <p:ph type="title"/>
          </p:nvPr>
        </p:nvSpPr>
        <p:spPr/>
        <p:txBody>
          <a:bodyPr/>
          <a:lstStyle/>
          <a:p>
            <a:r>
              <a:rPr lang="en-US" altLang="en-US" sz="3200"/>
              <a:t>2.5. Biến đổi dữ liệu</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1" name="Rectangle 3"/>
          <p:cNvSpPr>
            <a:spLocks noGrp="1" noChangeArrowheads="1"/>
          </p:cNvSpPr>
          <p:nvPr>
            <p:ph idx="1"/>
          </p:nvPr>
        </p:nvSpPr>
        <p:spPr/>
        <p:txBody>
          <a:bodyPr/>
          <a:lstStyle/>
          <a:p>
            <a:pPr>
              <a:lnSpc>
                <a:spcPct val="90000"/>
              </a:lnSpc>
              <a:spcBef>
                <a:spcPct val="50000"/>
              </a:spcBef>
            </a:pPr>
            <a:r>
              <a:rPr lang="en-US" altLang="en-US" sz="2000">
                <a:latin typeface="Times New Roman" pitchFamily="18" charset="0"/>
              </a:rPr>
              <a:t>Tập dữ liệu được biến đổi đảm bảo các toàn vẹn, nhưng nhỏ/ít hơn nhiều về số lượng so với ban đầu.</a:t>
            </a:r>
          </a:p>
          <a:p>
            <a:pPr>
              <a:lnSpc>
                <a:spcPct val="90000"/>
              </a:lnSpc>
              <a:spcBef>
                <a:spcPct val="50000"/>
              </a:spcBef>
            </a:pPr>
            <a:r>
              <a:rPr lang="en-US" altLang="en-US" sz="2000">
                <a:latin typeface="Times New Roman" pitchFamily="18" charset="0"/>
              </a:rPr>
              <a:t>Các chiến lược thu giảm</a:t>
            </a:r>
          </a:p>
          <a:p>
            <a:pPr lvl="1">
              <a:lnSpc>
                <a:spcPct val="90000"/>
              </a:lnSpc>
              <a:spcBef>
                <a:spcPct val="50000"/>
              </a:spcBef>
            </a:pPr>
            <a:r>
              <a:rPr lang="en-US" altLang="en-US" sz="2000">
                <a:latin typeface="Times New Roman" pitchFamily="18" charset="0"/>
              </a:rPr>
              <a:t>Kết</a:t>
            </a:r>
            <a:r>
              <a:rPr lang="en-US" altLang="en-US" sz="2000">
                <a:latin typeface="Times New Roman" pitchFamily="18" charset="0"/>
                <a:cs typeface="Angsana New" pitchFamily="18" charset="-34"/>
              </a:rPr>
              <a:t> h</a:t>
            </a:r>
            <a:r>
              <a:rPr lang="th-TH" altLang="en-US" sz="2000">
                <a:latin typeface="Times New Roman" pitchFamily="18" charset="0"/>
                <a:cs typeface="Angsana New" pitchFamily="18" charset="-34"/>
              </a:rPr>
              <a:t>ợ</a:t>
            </a:r>
            <a:r>
              <a:rPr lang="en-US" altLang="en-US" sz="2000">
                <a:latin typeface="Times New Roman" pitchFamily="18" charset="0"/>
                <a:cs typeface="Angsana New" pitchFamily="18" charset="-34"/>
              </a:rPr>
              <a:t>p kh</a:t>
            </a:r>
            <a:r>
              <a:rPr lang="th-TH" altLang="en-US" sz="2000">
                <a:latin typeface="Times New Roman" pitchFamily="18" charset="0"/>
                <a:cs typeface="Angsana New" pitchFamily="18" charset="-34"/>
              </a:rPr>
              <a:t>ố</a:t>
            </a:r>
            <a:r>
              <a:rPr lang="en-US" altLang="en-US" sz="2000">
                <a:latin typeface="Times New Roman" pitchFamily="18" charset="0"/>
                <a:cs typeface="Angsana New" pitchFamily="18" charset="-34"/>
              </a:rPr>
              <a:t>i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(data cube aggregation)</a:t>
            </a:r>
          </a:p>
          <a:p>
            <a:pPr lvl="1">
              <a:lnSpc>
                <a:spcPct val="90000"/>
              </a:lnSpc>
              <a:spcBef>
                <a:spcPct val="50000"/>
              </a:spcBef>
            </a:pPr>
            <a:r>
              <a:rPr lang="en-US" altLang="en-US" sz="2000">
                <a:latin typeface="Times New Roman" pitchFamily="18" charset="0"/>
                <a:cs typeface="Angsana New" pitchFamily="18" charset="-34"/>
              </a:rPr>
              <a:t>Ch</a:t>
            </a:r>
            <a:r>
              <a:rPr lang="th-TH" altLang="en-US" sz="2000">
                <a:latin typeface="Times New Roman" pitchFamily="18" charset="0"/>
                <a:cs typeface="Angsana New" pitchFamily="18" charset="-34"/>
              </a:rPr>
              <a:t>ọ</a:t>
            </a:r>
            <a:r>
              <a:rPr lang="en-US" altLang="en-US" sz="2000">
                <a:latin typeface="Times New Roman" pitchFamily="18" charset="0"/>
                <a:cs typeface="Angsana New" pitchFamily="18" charset="-34"/>
              </a:rPr>
              <a:t>n m</a:t>
            </a:r>
            <a:r>
              <a:rPr lang="th-TH" altLang="en-US" sz="2000">
                <a:latin typeface="Times New Roman" pitchFamily="18" charset="0"/>
                <a:cs typeface="Angsana New" pitchFamily="18" charset="-34"/>
              </a:rPr>
              <a:t>ộ</a:t>
            </a:r>
            <a:r>
              <a:rPr lang="en-US" altLang="en-US" sz="2000">
                <a:latin typeface="Times New Roman" pitchFamily="18" charset="0"/>
                <a:cs typeface="Angsana New" pitchFamily="18" charset="-34"/>
              </a:rPr>
              <a:t>t s</a:t>
            </a:r>
            <a:r>
              <a:rPr lang="th-TH" altLang="en-US" sz="2000">
                <a:latin typeface="Times New Roman" pitchFamily="18" charset="0"/>
                <a:cs typeface="Angsana New" pitchFamily="18" charset="-34"/>
              </a:rPr>
              <a:t>ố</a:t>
            </a:r>
            <a:r>
              <a:rPr lang="en-US" altLang="en-US" sz="2000">
                <a:latin typeface="Times New Roman" pitchFamily="18" charset="0"/>
                <a:cs typeface="Angsana New" pitchFamily="18" charset="-34"/>
              </a:rPr>
              <a:t> thu</a:t>
            </a:r>
            <a:r>
              <a:rPr lang="th-TH" altLang="en-US" sz="2000">
                <a:latin typeface="Times New Roman" pitchFamily="18" charset="0"/>
                <a:cs typeface="Angsana New" pitchFamily="18" charset="-34"/>
              </a:rPr>
              <a:t>ộ</a:t>
            </a:r>
            <a:r>
              <a:rPr lang="en-US" altLang="en-US" sz="2000">
                <a:latin typeface="Times New Roman" pitchFamily="18" charset="0"/>
                <a:cs typeface="Angsana New" pitchFamily="18" charset="-34"/>
              </a:rPr>
              <a:t>c t</a:t>
            </a:r>
            <a:r>
              <a:rPr lang="th-TH" altLang="en-US" sz="2000">
                <a:latin typeface="Times New Roman" pitchFamily="18" charset="0"/>
                <a:cs typeface="Angsana New" pitchFamily="18" charset="-34"/>
              </a:rPr>
              <a:t>í</a:t>
            </a:r>
            <a:r>
              <a:rPr lang="en-US" altLang="en-US" sz="2000">
                <a:latin typeface="Times New Roman" pitchFamily="18" charset="0"/>
                <a:cs typeface="Angsana New" pitchFamily="18" charset="-34"/>
              </a:rPr>
              <a:t>nh (attribute subset selection)</a:t>
            </a:r>
          </a:p>
          <a:p>
            <a:pPr lvl="1">
              <a:lnSpc>
                <a:spcPct val="90000"/>
              </a:lnSpc>
              <a:spcBef>
                <a:spcPct val="50000"/>
              </a:spcBef>
            </a:pPr>
            <a:r>
              <a:rPr lang="en-US" altLang="en-US" sz="2000">
                <a:latin typeface="Times New Roman" pitchFamily="18" charset="0"/>
                <a:cs typeface="Angsana New" pitchFamily="18" charset="-34"/>
              </a:rPr>
              <a:t>Thu gi</a:t>
            </a:r>
            <a:r>
              <a:rPr lang="th-TH" altLang="en-US" sz="2000">
                <a:latin typeface="Times New Roman" pitchFamily="18" charset="0"/>
                <a:cs typeface="Angsana New" pitchFamily="18" charset="-34"/>
              </a:rPr>
              <a:t>ả</a:t>
            </a:r>
            <a:r>
              <a:rPr lang="en-US" altLang="en-US" sz="2000">
                <a:latin typeface="Times New Roman" pitchFamily="18" charset="0"/>
                <a:cs typeface="Angsana New" pitchFamily="18" charset="-34"/>
              </a:rPr>
              <a:t>m chi</a:t>
            </a:r>
            <a:r>
              <a:rPr lang="th-TH" altLang="en-US" sz="2000">
                <a:latin typeface="Times New Roman" pitchFamily="18" charset="0"/>
                <a:cs typeface="Angsana New" pitchFamily="18" charset="-34"/>
              </a:rPr>
              <a:t>ề</a:t>
            </a:r>
            <a:r>
              <a:rPr lang="en-US" altLang="en-US" sz="2000">
                <a:latin typeface="Times New Roman" pitchFamily="18" charset="0"/>
                <a:cs typeface="Angsana New" pitchFamily="18" charset="-34"/>
              </a:rPr>
              <a:t>u (dimensionality reduction)</a:t>
            </a:r>
          </a:p>
          <a:p>
            <a:pPr lvl="1">
              <a:lnSpc>
                <a:spcPct val="90000"/>
              </a:lnSpc>
              <a:spcBef>
                <a:spcPct val="50000"/>
              </a:spcBef>
            </a:pPr>
            <a:r>
              <a:rPr lang="en-US" altLang="en-US" sz="2000">
                <a:latin typeface="Times New Roman" pitchFamily="18" charset="0"/>
                <a:cs typeface="Angsana New" pitchFamily="18" charset="-34"/>
              </a:rPr>
              <a:t>Thu gi</a:t>
            </a:r>
            <a:r>
              <a:rPr lang="en-US" altLang="en-US" sz="2000">
                <a:latin typeface="Times New Roman" pitchFamily="18" charset="0"/>
              </a:rPr>
              <a:t>ảm lượng (numerosity reduction)</a:t>
            </a:r>
            <a:endParaRPr lang="en-US" altLang="en-US" sz="2000">
              <a:latin typeface="Times New Roman" pitchFamily="18" charset="0"/>
              <a:cs typeface="Angsana New" pitchFamily="18" charset="-34"/>
            </a:endParaRPr>
          </a:p>
          <a:p>
            <a:pPr lvl="1">
              <a:lnSpc>
                <a:spcPct val="90000"/>
              </a:lnSpc>
              <a:spcBef>
                <a:spcPct val="50000"/>
              </a:spcBef>
            </a:pPr>
            <a:r>
              <a:rPr lang="en-US" altLang="en-US" sz="2000">
                <a:latin typeface="Times New Roman" pitchFamily="18" charset="0"/>
                <a:cs typeface="Angsana New" pitchFamily="18" charset="-34"/>
              </a:rPr>
              <a:t>R</a:t>
            </a:r>
            <a:r>
              <a:rPr lang="th-TH" altLang="en-US" sz="2000">
                <a:latin typeface="Times New Roman" pitchFamily="18" charset="0"/>
                <a:cs typeface="Angsana New" pitchFamily="18" charset="-34"/>
              </a:rPr>
              <a:t>ờ</a:t>
            </a:r>
            <a:r>
              <a:rPr lang="en-US" altLang="en-US" sz="2000">
                <a:latin typeface="Times New Roman" pitchFamily="18" charset="0"/>
                <a:cs typeface="Angsana New" pitchFamily="18" charset="-34"/>
              </a:rPr>
              <a:t>i r</a:t>
            </a:r>
            <a:r>
              <a:rPr lang="th-TH" altLang="en-US" sz="2000">
                <a:latin typeface="Times New Roman" pitchFamily="18" charset="0"/>
                <a:cs typeface="Angsana New" pitchFamily="18" charset="-34"/>
              </a:rPr>
              <a:t>ạ</a:t>
            </a:r>
            <a:r>
              <a:rPr lang="en-US" altLang="en-US" sz="2000">
                <a:latin typeface="Times New Roman" pitchFamily="18" charset="0"/>
                <a:cs typeface="Angsana New" pitchFamily="18" charset="-34"/>
              </a:rPr>
              <a:t>c h</a:t>
            </a:r>
            <a:r>
              <a:rPr lang="th-TH" altLang="en-US" sz="2000">
                <a:latin typeface="Times New Roman" pitchFamily="18" charset="0"/>
                <a:cs typeface="Angsana New" pitchFamily="18" charset="-34"/>
              </a:rPr>
              <a:t>ó</a:t>
            </a:r>
            <a:r>
              <a:rPr lang="en-US" altLang="en-US" sz="2000">
                <a:latin typeface="Times New Roman" pitchFamily="18" charset="0"/>
                <a:cs typeface="Angsana New" pitchFamily="18" charset="-34"/>
              </a:rPr>
              <a:t>a (discretization)</a:t>
            </a:r>
          </a:p>
          <a:p>
            <a:pPr lvl="1">
              <a:lnSpc>
                <a:spcPct val="90000"/>
              </a:lnSpc>
              <a:spcBef>
                <a:spcPct val="50000"/>
              </a:spcBef>
            </a:pPr>
            <a:r>
              <a:rPr lang="en-US" altLang="en-US" sz="2000">
                <a:latin typeface="Times New Roman" pitchFamily="18" charset="0"/>
                <a:cs typeface="Angsana New" pitchFamily="18" charset="-34"/>
              </a:rPr>
              <a:t>T</a:t>
            </a:r>
            <a:r>
              <a:rPr lang="th-TH" altLang="en-US" sz="2000">
                <a:latin typeface="Times New Roman" pitchFamily="18" charset="0"/>
                <a:cs typeface="Angsana New" pitchFamily="18" charset="-34"/>
              </a:rPr>
              <a:t>ạ</a:t>
            </a:r>
            <a:r>
              <a:rPr lang="en-US" altLang="en-US" sz="2000">
                <a:latin typeface="Times New Roman" pitchFamily="18" charset="0"/>
                <a:cs typeface="Angsana New" pitchFamily="18" charset="-34"/>
              </a:rPr>
              <a:t>o ph</a:t>
            </a:r>
            <a:r>
              <a:rPr lang="th-TH" altLang="en-US" sz="2000">
                <a:latin typeface="Times New Roman" pitchFamily="18" charset="0"/>
                <a:cs typeface="Angsana New" pitchFamily="18" charset="-34"/>
              </a:rPr>
              <a:t>â</a:t>
            </a:r>
            <a:r>
              <a:rPr lang="en-US" altLang="en-US" sz="2000">
                <a:latin typeface="Times New Roman" pitchFamily="18" charset="0"/>
                <a:cs typeface="Angsana New" pitchFamily="18" charset="-34"/>
              </a:rPr>
              <a:t>n c</a:t>
            </a:r>
            <a:r>
              <a:rPr lang="th-TH" altLang="en-US" sz="2000">
                <a:latin typeface="Times New Roman" pitchFamily="18" charset="0"/>
                <a:cs typeface="Angsana New" pitchFamily="18" charset="-34"/>
              </a:rPr>
              <a:t>ấ</a:t>
            </a:r>
            <a:r>
              <a:rPr lang="en-US" altLang="en-US" sz="2000">
                <a:latin typeface="Times New Roman" pitchFamily="18" charset="0"/>
                <a:cs typeface="Angsana New" pitchFamily="18" charset="-34"/>
              </a:rPr>
              <a:t>p </a:t>
            </a:r>
            <a:r>
              <a:rPr lang="th-TH" altLang="en-US" sz="2000">
                <a:latin typeface="Times New Roman" pitchFamily="18" charset="0"/>
                <a:cs typeface="Angsana New" pitchFamily="18" charset="-34"/>
              </a:rPr>
              <a:t>ý</a:t>
            </a:r>
            <a:r>
              <a:rPr lang="en-US" altLang="en-US" sz="2000">
                <a:latin typeface="Times New Roman" pitchFamily="18" charset="0"/>
                <a:cs typeface="Angsana New" pitchFamily="18" charset="-34"/>
              </a:rPr>
              <a:t> ni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m (concept hierarchy generation)</a:t>
            </a:r>
          </a:p>
          <a:p>
            <a:pPr lvl="1">
              <a:lnSpc>
                <a:spcPct val="90000"/>
              </a:lnSpc>
              <a:spcBef>
                <a:spcPct val="50000"/>
              </a:spcBef>
              <a:buFont typeface="Wingdings" pitchFamily="2" charset="2"/>
              <a:buNone/>
            </a:pPr>
            <a:r>
              <a:rPr lang="en-US" altLang="en-US" sz="2000">
                <a:latin typeface="Times New Roman" pitchFamily="18" charset="0"/>
                <a:cs typeface="Angsana New" pitchFamily="18" charset="-34"/>
                <a:sym typeface="Wingdings" pitchFamily="2" charset="2"/>
              </a:rPr>
              <a:t> Thu gi</a:t>
            </a:r>
            <a:r>
              <a:rPr lang="en-US" altLang="en-US" sz="2000">
                <a:latin typeface="Times New Roman" pitchFamily="18" charset="0"/>
                <a:sym typeface="Wingdings" pitchFamily="2" charset="2"/>
              </a:rPr>
              <a:t>ảm dữ liệu:</a:t>
            </a:r>
            <a:r>
              <a:rPr lang="en-US" altLang="en-US" sz="2000">
                <a:sym typeface="Wingdings" pitchFamily="2" charset="2"/>
              </a:rPr>
              <a:t> </a:t>
            </a:r>
            <a:r>
              <a:rPr lang="en-US" altLang="en-US" sz="2000">
                <a:latin typeface="Times New Roman" pitchFamily="18" charset="0"/>
                <a:cs typeface="Angsana New" pitchFamily="18" charset="-34"/>
                <a:sym typeface="Wingdings" pitchFamily="2" charset="2"/>
              </a:rPr>
              <a:t>lossless v</a:t>
            </a:r>
            <a:r>
              <a:rPr lang="en-US" altLang="en-US" sz="2000">
                <a:latin typeface="Times New Roman" pitchFamily="18" charset="0"/>
                <a:sym typeface="Wingdings" pitchFamily="2" charset="2"/>
              </a:rPr>
              <a:t>à</a:t>
            </a:r>
            <a:r>
              <a:rPr lang="en-US" altLang="en-US" sz="2000">
                <a:latin typeface="Times New Roman" pitchFamily="18" charset="0"/>
                <a:cs typeface="Angsana New" pitchFamily="18" charset="-34"/>
                <a:sym typeface="Wingdings" pitchFamily="2" charset="2"/>
              </a:rPr>
              <a:t> lossy</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87864765-B2C8-4D5A-AB20-0087B95FB5D7}" type="slidenum">
              <a:rPr lang="en-US" altLang="en-US"/>
              <a:pPr/>
              <a:t>45</a:t>
            </a:fld>
            <a:endParaRPr lang="en-US" altLang="en-US"/>
          </a:p>
        </p:txBody>
      </p:sp>
      <p:sp>
        <p:nvSpPr>
          <p:cNvPr id="647170" name="Rectangle 2"/>
          <p:cNvSpPr>
            <a:spLocks noGrp="1" noChangeArrowheads="1"/>
          </p:cNvSpPr>
          <p:nvPr>
            <p:ph type="title"/>
          </p:nvPr>
        </p:nvSpPr>
        <p:spPr/>
        <p:txBody>
          <a:bodyPr/>
          <a:lstStyle/>
          <a:p>
            <a:r>
              <a:rPr lang="en-US" altLang="en-US" sz="3200"/>
              <a:t>2.6. Thu giảm dữ liệu</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08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4903147" y="1347788"/>
            <a:ext cx="4926653" cy="2934488"/>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10" name="Slide Number Placeholder 7"/>
          <p:cNvSpPr>
            <a:spLocks noGrp="1"/>
          </p:cNvSpPr>
          <p:nvPr>
            <p:ph type="sldNum" sz="quarter" idx="11"/>
          </p:nvPr>
        </p:nvSpPr>
        <p:spPr/>
        <p:txBody>
          <a:bodyPr/>
          <a:lstStyle/>
          <a:p>
            <a:fld id="{AB64E422-3B9D-492A-B24C-F92D6D95025D}" type="slidenum">
              <a:rPr lang="en-US" altLang="en-US"/>
              <a:pPr/>
              <a:t>46</a:t>
            </a:fld>
            <a:endParaRPr lang="en-US" altLang="en-US"/>
          </a:p>
        </p:txBody>
      </p:sp>
      <p:sp>
        <p:nvSpPr>
          <p:cNvPr id="686082" name="Rectangle 2"/>
          <p:cNvSpPr>
            <a:spLocks noGrp="1" noChangeArrowheads="1"/>
          </p:cNvSpPr>
          <p:nvPr>
            <p:ph type="title"/>
          </p:nvPr>
        </p:nvSpPr>
        <p:spPr/>
        <p:txBody>
          <a:bodyPr/>
          <a:lstStyle/>
          <a:p>
            <a:r>
              <a:rPr lang="en-US" altLang="en-US"/>
              <a:t>2.6. Thu giảm dữ liệu</a:t>
            </a:r>
          </a:p>
        </p:txBody>
      </p:sp>
      <p:sp>
        <p:nvSpPr>
          <p:cNvPr id="686083" name="Rectangle 3"/>
          <p:cNvSpPr>
            <a:spLocks noGrp="1" noChangeArrowheads="1"/>
          </p:cNvSpPr>
          <p:nvPr>
            <p:ph type="body" sz="half" idx="4294967295"/>
          </p:nvPr>
        </p:nvSpPr>
        <p:spPr>
          <a:xfrm>
            <a:off x="0" y="1638300"/>
            <a:ext cx="4152900" cy="4445000"/>
          </a:xfrm>
        </p:spPr>
        <p:txBody>
          <a:bodyPr/>
          <a:lstStyle/>
          <a:p>
            <a:pPr>
              <a:spcBef>
                <a:spcPct val="50000"/>
              </a:spcBef>
            </a:pPr>
            <a:r>
              <a:rPr lang="en-US" altLang="en-US" sz="2000">
                <a:latin typeface="Times New Roman" pitchFamily="18" charset="0"/>
                <a:cs typeface="Angsana New" pitchFamily="18" charset="-34"/>
              </a:rPr>
              <a:t>K</a:t>
            </a:r>
            <a:r>
              <a:rPr lang="en-US" altLang="en-US" sz="2000">
                <a:latin typeface="Times New Roman" pitchFamily="18" charset="0"/>
              </a:rPr>
              <a:t>ết</a:t>
            </a:r>
            <a:r>
              <a:rPr lang="en-US" altLang="en-US" sz="2000">
                <a:latin typeface="Times New Roman" pitchFamily="18" charset="0"/>
                <a:cs typeface="Angsana New" pitchFamily="18" charset="-34"/>
              </a:rPr>
              <a:t> h</a:t>
            </a:r>
            <a:r>
              <a:rPr lang="th-TH" altLang="en-US" sz="2000">
                <a:latin typeface="Times New Roman" pitchFamily="18" charset="0"/>
                <a:cs typeface="Angsana New" pitchFamily="18" charset="-34"/>
              </a:rPr>
              <a:t>ợ</a:t>
            </a:r>
            <a:r>
              <a:rPr lang="en-US" altLang="en-US" sz="2000">
                <a:latin typeface="Times New Roman" pitchFamily="18" charset="0"/>
                <a:cs typeface="Angsana New" pitchFamily="18" charset="-34"/>
              </a:rPr>
              <a:t>p kh</a:t>
            </a:r>
            <a:r>
              <a:rPr lang="th-TH" altLang="en-US" sz="2000">
                <a:latin typeface="Times New Roman" pitchFamily="18" charset="0"/>
                <a:cs typeface="Angsana New" pitchFamily="18" charset="-34"/>
              </a:rPr>
              <a:t>ố</a:t>
            </a:r>
            <a:r>
              <a:rPr lang="en-US" altLang="en-US" sz="2000">
                <a:latin typeface="Times New Roman" pitchFamily="18" charset="0"/>
                <a:cs typeface="Angsana New" pitchFamily="18" charset="-34"/>
              </a:rPr>
              <a:t>i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(data cube aggregation)</a:t>
            </a:r>
          </a:p>
          <a:p>
            <a:pPr lvl="1">
              <a:spcBef>
                <a:spcPct val="50000"/>
              </a:spcBef>
            </a:pPr>
            <a:r>
              <a:rPr lang="en-US" altLang="en-US" sz="2000">
                <a:latin typeface="Times New Roman" pitchFamily="18" charset="0"/>
                <a:cs typeface="Angsana New" pitchFamily="18" charset="-34"/>
              </a:rPr>
              <a:t>D</a:t>
            </a:r>
            <a:r>
              <a:rPr lang="en-US" altLang="en-US" sz="2000">
                <a:latin typeface="Times New Roman" pitchFamily="18" charset="0"/>
              </a:rPr>
              <a:t>ạng dữ liệu: additive, semi-additive (numerical)</a:t>
            </a:r>
            <a:endParaRPr lang="en-US" altLang="en-US" sz="2000">
              <a:latin typeface="Times New Roman" pitchFamily="18" charset="0"/>
              <a:cs typeface="Angsana New" pitchFamily="18" charset="-34"/>
            </a:endParaRPr>
          </a:p>
          <a:p>
            <a:pPr lvl="1">
              <a:spcBef>
                <a:spcPct val="50000"/>
              </a:spcBef>
            </a:pPr>
            <a:r>
              <a:rPr lang="en-US" altLang="en-US" sz="2000">
                <a:latin typeface="Times New Roman" pitchFamily="18" charset="0"/>
                <a:cs typeface="Angsana New" pitchFamily="18" charset="-34"/>
              </a:rPr>
              <a:t>K</a:t>
            </a:r>
            <a:r>
              <a:rPr lang="en-US" altLang="en-US" sz="2000">
                <a:latin typeface="Times New Roman" pitchFamily="18" charset="0"/>
              </a:rPr>
              <a:t>ết hợp dữ liệu bằng các hàm nhóm: average, min, max, sum, count, …</a:t>
            </a:r>
            <a:endParaRPr lang="en-US" altLang="en-US" sz="2000">
              <a:latin typeface="Times New Roman" pitchFamily="18" charset="0"/>
              <a:cs typeface="Angsana New" pitchFamily="18" charset="-34"/>
            </a:endParaRPr>
          </a:p>
          <a:p>
            <a:pPr lvl="1">
              <a:spcBef>
                <a:spcPct val="50000"/>
              </a:spcBef>
              <a:buFont typeface="Wingdings" pitchFamily="2" charset="2"/>
              <a:buChar char="à"/>
            </a:pPr>
            <a:r>
              <a:rPr lang="en-US" altLang="en-US" sz="2000">
                <a:latin typeface="Times New Roman" pitchFamily="18" charset="0"/>
                <a:sym typeface="Wingdings" pitchFamily="2" charset="2"/>
              </a:rPr>
              <a:t>Dữ liệu ở các mức trừu tượng khác nhau.</a:t>
            </a:r>
          </a:p>
          <a:p>
            <a:pPr lvl="1">
              <a:spcBef>
                <a:spcPct val="50000"/>
              </a:spcBef>
              <a:buFont typeface="Wingdings" pitchFamily="2" charset="2"/>
              <a:buChar char="à"/>
            </a:pPr>
            <a:r>
              <a:rPr lang="en-US" altLang="en-US" sz="2000">
                <a:latin typeface="Times New Roman" pitchFamily="18" charset="0"/>
                <a:sym typeface="Wingdings" pitchFamily="2" charset="2"/>
              </a:rPr>
              <a:t>Mức trừu tượng càng cao giúp thu giảm lượng dữ liệu càng nhiều.</a:t>
            </a:r>
          </a:p>
        </p:txBody>
      </p:sp>
      <p:pic>
        <p:nvPicPr>
          <p:cNvPr id="686086" name="Picture 6"/>
          <p:cNvPicPr>
            <a:picLocks noGrp="1" noChangeAspect="1" noChangeArrowheads="1"/>
          </p:cNvPicPr>
          <p:nvPr>
            <p:ph sz="quarter" idx="4294967295"/>
          </p:nvPr>
        </p:nvPicPr>
        <p:blipFill>
          <a:blip r:embed="rId4">
            <a:extLst>
              <a:ext uri="{28A0092B-C50C-407E-A947-70E740481C1C}">
                <a14:useLocalDpi xmlns:a14="http://schemas.microsoft.com/office/drawing/2010/main" val="0"/>
              </a:ext>
            </a:extLst>
          </a:blip>
          <a:srcRect/>
          <a:stretch>
            <a:fillRect/>
          </a:stretch>
        </p:blipFill>
        <p:spPr>
          <a:xfrm>
            <a:off x="6324603" y="4473542"/>
            <a:ext cx="3124200" cy="2080286"/>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686088" name="Text Box 8"/>
          <p:cNvSpPr txBox="1">
            <a:spLocks noChangeArrowheads="1"/>
          </p:cNvSpPr>
          <p:nvPr/>
        </p:nvSpPr>
        <p:spPr bwMode="auto">
          <a:xfrm>
            <a:off x="7162800" y="3200400"/>
            <a:ext cx="67197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Sum()</a:t>
            </a:r>
          </a:p>
        </p:txBody>
      </p:sp>
      <p:sp>
        <p:nvSpPr>
          <p:cNvPr id="686089" name="Text Box 9"/>
          <p:cNvSpPr txBox="1">
            <a:spLocks noChangeArrowheads="1"/>
          </p:cNvSpPr>
          <p:nvPr/>
        </p:nvSpPr>
        <p:spPr bwMode="auto">
          <a:xfrm>
            <a:off x="9448803" y="5651502"/>
            <a:ext cx="103105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latin typeface="Arial" panose="020B0604020202020204" pitchFamily="34" charset="0"/>
              </a:rPr>
              <a:t>cube: Sale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7" name="Rectangle 3"/>
          <p:cNvSpPr>
            <a:spLocks noGrp="1" noChangeArrowheads="1"/>
          </p:cNvSpPr>
          <p:nvPr>
            <p:ph idx="1"/>
          </p:nvPr>
        </p:nvSpPr>
        <p:spPr/>
        <p:txBody>
          <a:bodyPr/>
          <a:lstStyle/>
          <a:p>
            <a:pPr>
              <a:spcBef>
                <a:spcPct val="50000"/>
              </a:spcBef>
              <a:buFont typeface="Wingdings" panose="05000000000000000000" pitchFamily="2" charset="2"/>
              <a:buChar char="v"/>
            </a:pPr>
            <a:r>
              <a:rPr lang="en-US" altLang="en-US" sz="2400">
                <a:latin typeface="Times New Roman" pitchFamily="18" charset="0"/>
                <a:cs typeface="Angsana New" pitchFamily="18" charset="-34"/>
              </a:rPr>
              <a:t>Ch</a:t>
            </a:r>
            <a:r>
              <a:rPr lang="th-TH" altLang="en-US" sz="2400">
                <a:latin typeface="Times New Roman" pitchFamily="18" charset="0"/>
                <a:cs typeface="Angsana New" pitchFamily="18" charset="-34"/>
              </a:rPr>
              <a:t>ọ</a:t>
            </a:r>
            <a:r>
              <a:rPr lang="en-US" altLang="en-US" sz="2400">
                <a:latin typeface="Times New Roman" pitchFamily="18" charset="0"/>
                <a:cs typeface="Angsana New" pitchFamily="18" charset="-34"/>
              </a:rPr>
              <a:t>n m</a:t>
            </a:r>
            <a:r>
              <a:rPr lang="th-TH" altLang="en-US" sz="2400">
                <a:latin typeface="Times New Roman" pitchFamily="18" charset="0"/>
                <a:cs typeface="Angsana New" pitchFamily="18" charset="-34"/>
              </a:rPr>
              <a:t>ộ</a:t>
            </a:r>
            <a:r>
              <a:rPr lang="en-US" altLang="en-US" sz="2400">
                <a:latin typeface="Times New Roman" pitchFamily="18" charset="0"/>
                <a:cs typeface="Angsana New" pitchFamily="18" charset="-34"/>
              </a:rPr>
              <a:t>t s</a:t>
            </a:r>
            <a:r>
              <a:rPr lang="th-TH" altLang="en-US" sz="2400">
                <a:latin typeface="Times New Roman" pitchFamily="18" charset="0"/>
                <a:cs typeface="Angsana New" pitchFamily="18" charset="-34"/>
              </a:rPr>
              <a:t>ố</a:t>
            </a:r>
            <a:r>
              <a:rPr lang="en-US" altLang="en-US" sz="2400">
                <a:latin typeface="Times New Roman" pitchFamily="18" charset="0"/>
                <a:cs typeface="Angsana New" pitchFamily="18" charset="-34"/>
              </a:rPr>
              <a:t> thu</a:t>
            </a:r>
            <a:r>
              <a:rPr lang="th-TH" altLang="en-US" sz="2400">
                <a:latin typeface="Times New Roman" pitchFamily="18" charset="0"/>
                <a:cs typeface="Angsana New" pitchFamily="18" charset="-34"/>
              </a:rPr>
              <a:t>ộ</a:t>
            </a:r>
            <a:r>
              <a:rPr lang="en-US" altLang="en-US" sz="2400">
                <a:latin typeface="Times New Roman" pitchFamily="18" charset="0"/>
                <a:cs typeface="Angsana New" pitchFamily="18" charset="-34"/>
              </a:rPr>
              <a:t>c t</a:t>
            </a:r>
            <a:r>
              <a:rPr lang="th-TH" altLang="en-US" sz="2400">
                <a:latin typeface="Times New Roman" pitchFamily="18" charset="0"/>
                <a:cs typeface="Angsana New" pitchFamily="18" charset="-34"/>
              </a:rPr>
              <a:t>í</a:t>
            </a:r>
            <a:r>
              <a:rPr lang="en-US" altLang="en-US" sz="2400">
                <a:latin typeface="Times New Roman" pitchFamily="18" charset="0"/>
                <a:cs typeface="Angsana New" pitchFamily="18" charset="-34"/>
              </a:rPr>
              <a:t>nh (attribute subset selection)</a:t>
            </a:r>
          </a:p>
          <a:p>
            <a:pPr lvl="1">
              <a:spcBef>
                <a:spcPct val="50000"/>
              </a:spcBef>
            </a:pPr>
            <a:r>
              <a:rPr lang="en-US" altLang="en-US">
                <a:latin typeface="Times New Roman" pitchFamily="18" charset="0"/>
              </a:rPr>
              <a:t>Giảm kích thước tập dữ liệu bằng việc loại bỏ những thuộc tính/chiều/đặc trưng (attribute/dimension/feature) dư thừa/không thích hợp (redundant/irrelevant)</a:t>
            </a:r>
          </a:p>
          <a:p>
            <a:pPr lvl="1">
              <a:spcBef>
                <a:spcPct val="50000"/>
              </a:spcBef>
            </a:pPr>
            <a:r>
              <a:rPr lang="en-US" altLang="en-US">
                <a:latin typeface="Times New Roman" pitchFamily="18" charset="0"/>
              </a:rPr>
              <a:t>Mục tiêu: tập ít các thuộc tính nhất vẫn đảm bảo phân bố xác suất (probability distribution) của các lớp dữ liệu đạt được gần với phân bố xác suất ban đầu với tất cả các thuộc tính</a:t>
            </a:r>
          </a:p>
          <a:p>
            <a:pPr lvl="1">
              <a:spcBef>
                <a:spcPct val="50000"/>
              </a:spcBef>
              <a:buFont typeface="Wingdings" pitchFamily="2" charset="2"/>
              <a:buNone/>
            </a:pPr>
            <a:r>
              <a:rPr lang="en-US" altLang="en-US">
                <a:latin typeface="Times New Roman" pitchFamily="18" charset="0"/>
                <a:sym typeface="Wingdings" pitchFamily="2" charset="2"/>
              </a:rPr>
              <a:t> Bài toán tối ưu hóa: vận dụng heuristics</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D591C620-5882-4E9B-9D81-FADC8D2C13E8}" type="slidenum">
              <a:rPr lang="en-US" altLang="en-US"/>
              <a:pPr/>
              <a:t>47</a:t>
            </a:fld>
            <a:endParaRPr lang="en-US" altLang="en-US"/>
          </a:p>
        </p:txBody>
      </p:sp>
      <p:sp>
        <p:nvSpPr>
          <p:cNvPr id="687106" name="Rectangle 2"/>
          <p:cNvSpPr>
            <a:spLocks noGrp="1" noChangeArrowheads="1"/>
          </p:cNvSpPr>
          <p:nvPr>
            <p:ph type="title"/>
          </p:nvPr>
        </p:nvSpPr>
        <p:spPr/>
        <p:txBody>
          <a:bodyPr/>
          <a:lstStyle/>
          <a:p>
            <a:r>
              <a:rPr lang="en-US" altLang="en-US"/>
              <a:t>2.6. Thu giảm dữ liệu</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4452" name="Picture 4"/>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tretch>
            <a:fillRect/>
          </a:stretch>
        </p:blipFill>
        <p:spPr>
          <a:xfrm>
            <a:off x="1981200" y="1981200"/>
            <a:ext cx="8023820" cy="4076699"/>
          </a:xfr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2" name="Footer Placeholder 1"/>
          <p:cNvSpPr>
            <a:spLocks noGrp="1"/>
          </p:cNvSpPr>
          <p:nvPr>
            <p:ph type="ftr" sz="quarter" idx="10"/>
          </p:nvPr>
        </p:nvSpPr>
        <p:spPr/>
        <p:txBody>
          <a:bodyPr/>
          <a:lstStyle/>
          <a:p>
            <a:r>
              <a:rPr lang="en-US" altLang="en-US"/>
              <a:t>Tiền xử lý dữ liệu</a:t>
            </a:r>
          </a:p>
        </p:txBody>
      </p:sp>
      <p:sp>
        <p:nvSpPr>
          <p:cNvPr id="7" name="Slide Number Placeholder 6"/>
          <p:cNvSpPr>
            <a:spLocks noGrp="1"/>
          </p:cNvSpPr>
          <p:nvPr>
            <p:ph type="sldNum" sz="quarter" idx="11"/>
          </p:nvPr>
        </p:nvSpPr>
        <p:spPr/>
        <p:txBody>
          <a:bodyPr/>
          <a:lstStyle/>
          <a:p>
            <a:fld id="{BA21FE42-4FB6-4644-A506-D50B72704CE1}" type="slidenum">
              <a:rPr lang="en-US" altLang="en-US"/>
              <a:pPr/>
              <a:t>48</a:t>
            </a:fld>
            <a:endParaRPr lang="en-US" altLang="en-US"/>
          </a:p>
        </p:txBody>
      </p:sp>
      <p:sp>
        <p:nvSpPr>
          <p:cNvPr id="744450" name="Rectangle 2"/>
          <p:cNvSpPr>
            <a:spLocks noGrp="1" noChangeArrowheads="1"/>
          </p:cNvSpPr>
          <p:nvPr>
            <p:ph type="title"/>
          </p:nvPr>
        </p:nvSpPr>
        <p:spPr/>
        <p:txBody>
          <a:bodyPr/>
          <a:lstStyle/>
          <a:p>
            <a:r>
              <a:rPr lang="en-US" altLang="en-US"/>
              <a:t>2.6. Thu giảm dữ liệu</a:t>
            </a:r>
          </a:p>
        </p:txBody>
      </p:sp>
      <p:sp>
        <p:nvSpPr>
          <p:cNvPr id="744451" name="Rectangle 3"/>
          <p:cNvSpPr>
            <a:spLocks noGrp="1" noChangeArrowheads="1"/>
          </p:cNvSpPr>
          <p:nvPr>
            <p:ph type="body" sz="half" idx="4294967295"/>
          </p:nvPr>
        </p:nvSpPr>
        <p:spPr>
          <a:xfrm>
            <a:off x="1219200" y="1295400"/>
            <a:ext cx="8534400" cy="4229100"/>
          </a:xfrm>
        </p:spPr>
        <p:txBody>
          <a:bodyPr/>
          <a:lstStyle/>
          <a:p>
            <a:pPr>
              <a:spcBef>
                <a:spcPct val="50000"/>
              </a:spcBef>
            </a:pPr>
            <a:r>
              <a:rPr lang="en-US" altLang="en-US">
                <a:latin typeface="Times New Roman" pitchFamily="18" charset="0"/>
                <a:cs typeface="Angsana New" pitchFamily="18" charset="-34"/>
              </a:rPr>
              <a:t>Ch</a:t>
            </a:r>
            <a:r>
              <a:rPr lang="th-TH" altLang="en-US">
                <a:latin typeface="Times New Roman" pitchFamily="18" charset="0"/>
                <a:cs typeface="Angsana New" pitchFamily="18" charset="-34"/>
              </a:rPr>
              <a:t>ọ</a:t>
            </a:r>
            <a:r>
              <a:rPr lang="en-US" altLang="en-US">
                <a:latin typeface="Times New Roman" pitchFamily="18" charset="0"/>
                <a:cs typeface="Angsana New" pitchFamily="18" charset="-34"/>
              </a:rPr>
              <a:t>n m</a:t>
            </a:r>
            <a:r>
              <a:rPr lang="th-TH" altLang="en-US">
                <a:latin typeface="Times New Roman" pitchFamily="18" charset="0"/>
                <a:cs typeface="Angsana New" pitchFamily="18" charset="-34"/>
              </a:rPr>
              <a:t>ộ</a:t>
            </a:r>
            <a:r>
              <a:rPr lang="en-US" altLang="en-US">
                <a:latin typeface="Times New Roman" pitchFamily="18" charset="0"/>
                <a:cs typeface="Angsana New" pitchFamily="18" charset="-34"/>
              </a:rPr>
              <a:t>t s</a:t>
            </a:r>
            <a:r>
              <a:rPr lang="th-TH" altLang="en-US">
                <a:latin typeface="Times New Roman" pitchFamily="18" charset="0"/>
                <a:cs typeface="Angsana New" pitchFamily="18" charset="-34"/>
              </a:rPr>
              <a:t>ố</a:t>
            </a:r>
            <a:r>
              <a:rPr lang="en-US" altLang="en-US">
                <a:latin typeface="Times New Roman" pitchFamily="18" charset="0"/>
                <a:cs typeface="Angsana New" pitchFamily="18" charset="-34"/>
              </a:rPr>
              <a:t> thu</a:t>
            </a:r>
            <a:r>
              <a:rPr lang="th-TH" altLang="en-US">
                <a:latin typeface="Times New Roman" pitchFamily="18" charset="0"/>
                <a:cs typeface="Angsana New" pitchFamily="18" charset="-34"/>
              </a:rPr>
              <a:t>ộ</a:t>
            </a:r>
            <a:r>
              <a:rPr lang="en-US" altLang="en-US">
                <a:latin typeface="Times New Roman" pitchFamily="18" charset="0"/>
                <a:cs typeface="Angsana New" pitchFamily="18" charset="-34"/>
              </a:rPr>
              <a:t>c t</a:t>
            </a:r>
            <a:r>
              <a:rPr lang="th-TH" altLang="en-US">
                <a:latin typeface="Times New Roman" pitchFamily="18" charset="0"/>
                <a:cs typeface="Angsana New" pitchFamily="18" charset="-34"/>
              </a:rPr>
              <a:t>í</a:t>
            </a:r>
            <a:r>
              <a:rPr lang="en-US" altLang="en-US">
                <a:latin typeface="Times New Roman" pitchFamily="18" charset="0"/>
                <a:cs typeface="Angsana New" pitchFamily="18" charset="-34"/>
              </a:rPr>
              <a:t>nh (attribute subset selection)</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0115" name="Rectangle 3"/>
          <p:cNvSpPr>
            <a:spLocks noGrp="1" noChangeArrowheads="1"/>
          </p:cNvSpPr>
          <p:nvPr>
            <p:ph idx="1"/>
          </p:nvPr>
        </p:nvSpPr>
        <p:spPr/>
        <p:txBody>
          <a:bodyPr/>
          <a:lstStyle/>
          <a:p>
            <a:pPr>
              <a:spcBef>
                <a:spcPct val="50000"/>
              </a:spcBef>
            </a:pPr>
            <a:r>
              <a:rPr lang="en-US" altLang="en-US" sz="3200">
                <a:latin typeface="Times New Roman" pitchFamily="18" charset="0"/>
                <a:cs typeface="Angsana New" pitchFamily="18" charset="-34"/>
              </a:rPr>
              <a:t>Thu gi</a:t>
            </a:r>
            <a:r>
              <a:rPr lang="th-TH" altLang="en-US" sz="3200">
                <a:latin typeface="Times New Roman" pitchFamily="18" charset="0"/>
                <a:cs typeface="Angsana New" pitchFamily="18" charset="-34"/>
              </a:rPr>
              <a:t>ả</a:t>
            </a:r>
            <a:r>
              <a:rPr lang="en-US" altLang="en-US" sz="3200">
                <a:latin typeface="Times New Roman" pitchFamily="18" charset="0"/>
                <a:cs typeface="Angsana New" pitchFamily="18" charset="-34"/>
              </a:rPr>
              <a:t>m chi</a:t>
            </a:r>
            <a:r>
              <a:rPr lang="th-TH" altLang="en-US" sz="3200">
                <a:latin typeface="Times New Roman" pitchFamily="18" charset="0"/>
                <a:cs typeface="Angsana New" pitchFamily="18" charset="-34"/>
              </a:rPr>
              <a:t>ề</a:t>
            </a:r>
            <a:r>
              <a:rPr lang="en-US" altLang="en-US" sz="3200">
                <a:latin typeface="Times New Roman" pitchFamily="18" charset="0"/>
                <a:cs typeface="Angsana New" pitchFamily="18" charset="-34"/>
              </a:rPr>
              <a:t>u (dimensionality reduction)</a:t>
            </a:r>
          </a:p>
          <a:p>
            <a:pPr lvl="1">
              <a:spcBef>
                <a:spcPct val="50000"/>
              </a:spcBef>
            </a:pPr>
            <a:r>
              <a:rPr lang="en-US" altLang="en-US" sz="2800">
                <a:latin typeface="Times New Roman" pitchFamily="18" charset="0"/>
              </a:rPr>
              <a:t>Biến đổi wavelet (wavelet transforms)</a:t>
            </a:r>
          </a:p>
          <a:p>
            <a:pPr lvl="1">
              <a:spcBef>
                <a:spcPct val="50000"/>
              </a:spcBef>
            </a:pPr>
            <a:r>
              <a:rPr lang="en-US" altLang="en-US" sz="2800">
                <a:latin typeface="Times New Roman" pitchFamily="18" charset="0"/>
              </a:rPr>
              <a:t>Phân tích nhân tố chính (principal component analysis)</a:t>
            </a:r>
          </a:p>
          <a:p>
            <a:pPr lvl="1">
              <a:spcBef>
                <a:spcPct val="50000"/>
              </a:spcBef>
              <a:buFont typeface="Wingdings" pitchFamily="2" charset="2"/>
              <a:buNone/>
            </a:pPr>
            <a:r>
              <a:rPr lang="en-US" altLang="en-US" sz="2800">
                <a:latin typeface="Times New Roman" pitchFamily="18" charset="0"/>
                <a:sym typeface="Wingdings" pitchFamily="2" charset="2"/>
              </a:rPr>
              <a:t> đặc điểm và ứng dụng?</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CC896150-45A2-4118-8E86-5DD872790B5D}" type="slidenum">
              <a:rPr lang="en-US" altLang="en-US"/>
              <a:pPr/>
              <a:t>49</a:t>
            </a:fld>
            <a:endParaRPr lang="en-US" altLang="en-US"/>
          </a:p>
        </p:txBody>
      </p:sp>
      <p:sp>
        <p:nvSpPr>
          <p:cNvPr id="730114" name="Rectangle 2"/>
          <p:cNvSpPr>
            <a:spLocks noGrp="1" noChangeArrowheads="1"/>
          </p:cNvSpPr>
          <p:nvPr>
            <p:ph type="title"/>
          </p:nvPr>
        </p:nvSpPr>
        <p:spPr/>
        <p:txBody>
          <a:bodyPr/>
          <a:lstStyle/>
          <a:p>
            <a:r>
              <a:rPr lang="en-US" altLang="en-US"/>
              <a:t>2.6. Thu giảm dữ liệu</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1139"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50000"/>
              </a:spcBef>
            </a:pPr>
            <a:r>
              <a:rPr lang="en-US" altLang="en-US" sz="2000">
                <a:latin typeface="Times New Roman" pitchFamily="18" charset="0"/>
                <a:cs typeface="Angsana New" pitchFamily="18" charset="-34"/>
              </a:rPr>
              <a:t>Thu gi</a:t>
            </a:r>
            <a:r>
              <a:rPr lang="en-US" altLang="en-US" sz="2000">
                <a:latin typeface="Times New Roman" pitchFamily="18" charset="0"/>
              </a:rPr>
              <a:t>ảm lượng (numerosity reduction)</a:t>
            </a:r>
          </a:p>
          <a:p>
            <a:pPr lvl="1">
              <a:spcBef>
                <a:spcPct val="50000"/>
              </a:spcBef>
            </a:pPr>
            <a:r>
              <a:rPr lang="en-US" altLang="en-US" sz="2000">
                <a:latin typeface="Times New Roman" pitchFamily="18" charset="0"/>
              </a:rPr>
              <a:t>Các kỹ thuật giảm lượng dữ liệu bằng các dạng biểu diễn dữ liệu thay thế.</a:t>
            </a:r>
          </a:p>
          <a:p>
            <a:pPr lvl="1">
              <a:spcBef>
                <a:spcPct val="50000"/>
              </a:spcBef>
            </a:pPr>
            <a:r>
              <a:rPr lang="en-US" altLang="en-US" sz="2000">
                <a:latin typeface="Times New Roman" pitchFamily="18" charset="0"/>
              </a:rPr>
              <a:t>Các phương pháp có thông số (parametric): mô hình ước lượng dữ liệu </a:t>
            </a:r>
            <a:r>
              <a:rPr lang="en-US" altLang="en-US" sz="2000">
                <a:latin typeface="Times New Roman" pitchFamily="18" charset="0"/>
                <a:sym typeface="Wingdings" pitchFamily="2" charset="2"/>
              </a:rPr>
              <a:t> các thông số được lưu trữ thay cho dữ liệu thật</a:t>
            </a:r>
          </a:p>
          <a:p>
            <a:pPr lvl="2">
              <a:spcBef>
                <a:spcPct val="50000"/>
              </a:spcBef>
            </a:pPr>
            <a:r>
              <a:rPr lang="en-US" altLang="en-US">
                <a:latin typeface="Times New Roman" pitchFamily="18" charset="0"/>
                <a:sym typeface="Wingdings" pitchFamily="2" charset="2"/>
              </a:rPr>
              <a:t>Hồi quy</a:t>
            </a:r>
          </a:p>
          <a:p>
            <a:pPr lvl="1">
              <a:spcBef>
                <a:spcPct val="50000"/>
              </a:spcBef>
            </a:pPr>
            <a:r>
              <a:rPr lang="en-US" altLang="en-US" sz="2000">
                <a:latin typeface="Times New Roman" pitchFamily="18" charset="0"/>
                <a:sym typeface="Wingdings" pitchFamily="2" charset="2"/>
              </a:rPr>
              <a:t>Các phương pháp phi thông số (nonparametric): lưu trữ các biểu diễn thu giảm của dữ liệu </a:t>
            </a:r>
          </a:p>
          <a:p>
            <a:pPr lvl="2">
              <a:spcBef>
                <a:spcPct val="50000"/>
              </a:spcBef>
            </a:pPr>
            <a:r>
              <a:rPr lang="en-US" altLang="en-US">
                <a:latin typeface="Times New Roman" pitchFamily="18" charset="0"/>
                <a:sym typeface="Wingdings" pitchFamily="2" charset="2"/>
              </a:rPr>
              <a:t>Histogram, Clustering, Sampling</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B1F3D1A8-FFA2-4017-97C5-A1FDF9D760D1}" type="slidenum">
              <a:rPr lang="en-US" altLang="en-US"/>
              <a:pPr/>
              <a:t>50</a:t>
            </a:fld>
            <a:endParaRPr lang="en-US" altLang="en-US"/>
          </a:p>
        </p:txBody>
      </p:sp>
      <p:sp>
        <p:nvSpPr>
          <p:cNvPr id="731138" name="Rectangle 2"/>
          <p:cNvSpPr>
            <a:spLocks noGrp="1" noChangeArrowheads="1"/>
          </p:cNvSpPr>
          <p:nvPr>
            <p:ph type="title"/>
          </p:nvPr>
        </p:nvSpPr>
        <p:spPr/>
        <p:txBody>
          <a:bodyPr/>
          <a:lstStyle/>
          <a:p>
            <a:r>
              <a:rPr lang="en-US" altLang="en-US" sz="3200"/>
              <a:t>2.6. Thu giảm dữ liệu</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5" name="Rectangle 3"/>
          <p:cNvSpPr>
            <a:spLocks noGrp="1" noChangeArrowheads="1"/>
          </p:cNvSpPr>
          <p:nvPr>
            <p:ph idx="1"/>
          </p:nvPr>
        </p:nvSpPr>
        <p:spPr>
          <a:xfrm>
            <a:off x="681997" y="1348370"/>
            <a:ext cx="11090638" cy="2880789"/>
          </a:xfrm>
          <a:ln>
            <a:noFill/>
          </a:ln>
        </p:spPr>
        <p:style>
          <a:lnRef idx="2">
            <a:schemeClr val="accent1"/>
          </a:lnRef>
          <a:fillRef idx="1">
            <a:schemeClr val="lt1"/>
          </a:fillRef>
          <a:effectRef idx="0">
            <a:schemeClr val="accent1"/>
          </a:effectRef>
          <a:fontRef idx="minor">
            <a:schemeClr val="dk1"/>
          </a:fontRef>
        </p:style>
        <p:txBody>
          <a:bodyPr/>
          <a:lstStyle/>
          <a:p>
            <a:pPr>
              <a:spcBef>
                <a:spcPct val="60000"/>
              </a:spcBef>
              <a:buFont typeface="Wingdings" panose="05000000000000000000" pitchFamily="2" charset="2"/>
              <a:buChar char="v"/>
            </a:pPr>
            <a:r>
              <a:rPr lang="en-US" altLang="en-US" sz="2400" b="0"/>
              <a:t>Giảm số lượng giá trị của một thuộc tính liên tục (continuous attribute) bằng các chia miền trị thuộc tính thành các khoảng (intervals)</a:t>
            </a:r>
          </a:p>
          <a:p>
            <a:pPr>
              <a:spcBef>
                <a:spcPct val="60000"/>
              </a:spcBef>
              <a:buFont typeface="Wingdings" panose="05000000000000000000" pitchFamily="2" charset="2"/>
              <a:buChar char="v"/>
            </a:pPr>
            <a:r>
              <a:rPr lang="en-US" altLang="en-US" sz="2400" b="0"/>
              <a:t>Các nhãn (labels) được gán cho các khoảng (intervals) này và được dùng thay giá trị thực của thuộc tính</a:t>
            </a:r>
          </a:p>
          <a:p>
            <a:pPr>
              <a:spcBef>
                <a:spcPct val="60000"/>
              </a:spcBef>
              <a:buFont typeface="Wingdings" panose="05000000000000000000" pitchFamily="2" charset="2"/>
              <a:buChar char="v"/>
            </a:pPr>
            <a:r>
              <a:rPr lang="en-US" altLang="en-US" sz="2400" b="0"/>
              <a:t>Các trị thuộc tính có thể được phân hoạch theo một phân cấp (hierarchical) hay ở nhiều mức phân giải khác nhau (multiresolution)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C1225D58-BBE4-4DD1-AB0A-DF39A1ACF274}" type="slidenum">
              <a:rPr lang="en-US" altLang="en-US"/>
              <a:pPr/>
              <a:t>51</a:t>
            </a:fld>
            <a:endParaRPr lang="en-US" altLang="en-US"/>
          </a:p>
        </p:txBody>
      </p:sp>
      <p:sp>
        <p:nvSpPr>
          <p:cNvPr id="648194" name="Rectangle 2"/>
          <p:cNvSpPr>
            <a:spLocks noGrp="1" noChangeArrowheads="1"/>
          </p:cNvSpPr>
          <p:nvPr>
            <p:ph type="title"/>
          </p:nvPr>
        </p:nvSpPr>
        <p:spPr/>
        <p:txBody>
          <a:bodyPr/>
          <a:lstStyle/>
          <a:p>
            <a:r>
              <a:rPr lang="en-US" altLang="en-US" sz="3200"/>
              <a:t>2.7. Rời rạc hóa dữ liệu</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1"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lnSpc>
                <a:spcPct val="90000"/>
              </a:lnSpc>
              <a:spcBef>
                <a:spcPct val="75000"/>
              </a:spcBef>
              <a:buFont typeface="Wingdings" panose="05000000000000000000" pitchFamily="2" charset="2"/>
              <a:buChar char="v"/>
            </a:pPr>
            <a:r>
              <a:rPr lang="en-US" altLang="en-US" sz="2000"/>
              <a:t>Rời rạc hóa dữ liệu cho các thuộc tính số (numeric attributes)</a:t>
            </a:r>
          </a:p>
          <a:p>
            <a:pPr lvl="1">
              <a:lnSpc>
                <a:spcPct val="90000"/>
              </a:lnSpc>
              <a:spcBef>
                <a:spcPct val="75000"/>
              </a:spcBef>
            </a:pPr>
            <a:r>
              <a:rPr lang="en-US" altLang="en-US" sz="2000"/>
              <a:t>Các phân cấp ý niệm được dùng để thu giảm dữ liệu bằng việc thu thập và thay thế các ý niệm cấp thấp bởi các ý niệm cấp cao.</a:t>
            </a:r>
          </a:p>
          <a:p>
            <a:pPr lvl="1">
              <a:lnSpc>
                <a:spcPct val="90000"/>
              </a:lnSpc>
              <a:spcBef>
                <a:spcPct val="75000"/>
              </a:spcBef>
            </a:pPr>
            <a:r>
              <a:rPr lang="en-US" altLang="en-US" sz="2000"/>
              <a:t>Các phân cấp ý niệm được xây dựng tự động dựa trên việc phân tích phân bố dữ liệu.</a:t>
            </a:r>
          </a:p>
          <a:p>
            <a:pPr lvl="1">
              <a:lnSpc>
                <a:spcPct val="90000"/>
              </a:lnSpc>
              <a:spcBef>
                <a:spcPct val="75000"/>
              </a:spcBef>
            </a:pPr>
            <a:r>
              <a:rPr lang="en-US" altLang="en-US" sz="2000"/>
              <a:t>Chi tiết của thuộc tính sẽ bị mất.</a:t>
            </a:r>
          </a:p>
          <a:p>
            <a:pPr lvl="1">
              <a:lnSpc>
                <a:spcPct val="90000"/>
              </a:lnSpc>
              <a:spcBef>
                <a:spcPct val="75000"/>
              </a:spcBef>
            </a:pPr>
            <a:r>
              <a:rPr lang="en-US" altLang="en-US" sz="2000"/>
              <a:t>Dữ liệu đạt được có ý nghĩa và dễ được diễn dịch hơn, đòi hỏi ít không gian lưu trữ hơn.</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2C11D9C4-9976-407D-94E3-68E60684E0E6}" type="slidenum">
              <a:rPr lang="en-US" altLang="en-US"/>
              <a:pPr/>
              <a:t>52</a:t>
            </a:fld>
            <a:endParaRPr lang="en-US" altLang="en-US"/>
          </a:p>
        </p:txBody>
      </p:sp>
      <p:sp>
        <p:nvSpPr>
          <p:cNvPr id="688130" name="Rectangle 2"/>
          <p:cNvSpPr>
            <a:spLocks noGrp="1" noChangeArrowheads="1"/>
          </p:cNvSpPr>
          <p:nvPr>
            <p:ph type="title"/>
          </p:nvPr>
        </p:nvSpPr>
        <p:spPr/>
        <p:txBody>
          <a:bodyPr/>
          <a:lstStyle/>
          <a:p>
            <a:r>
              <a:rPr lang="en-US" altLang="en-US" sz="3200"/>
              <a:t>2.7. Rời rạc hóa dữ liệu</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5"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000"/>
              <a:t>Các phương pháp rời rạc hóa dữ liệu cho các thuộc tính số</a:t>
            </a:r>
          </a:p>
          <a:p>
            <a:pPr lvl="1">
              <a:spcBef>
                <a:spcPct val="75000"/>
              </a:spcBef>
            </a:pPr>
            <a:r>
              <a:rPr lang="en-US" altLang="en-US" sz="2000"/>
              <a:t>Binning</a:t>
            </a:r>
          </a:p>
          <a:p>
            <a:pPr lvl="1">
              <a:spcBef>
                <a:spcPct val="75000"/>
              </a:spcBef>
            </a:pPr>
            <a:r>
              <a:rPr lang="en-US" altLang="en-US" sz="2000"/>
              <a:t>Histogram analysis</a:t>
            </a:r>
          </a:p>
          <a:p>
            <a:pPr lvl="1">
              <a:spcBef>
                <a:spcPct val="75000"/>
              </a:spcBef>
            </a:pPr>
            <a:r>
              <a:rPr lang="en-US" altLang="en-US" sz="2000"/>
              <a:t>Interval merging by </a:t>
            </a:r>
            <a:r>
              <a:rPr lang="en-US" altLang="en-US" sz="2000">
                <a:sym typeface="Symbol" pitchFamily="18" charset="2"/>
              </a:rPr>
              <a:t></a:t>
            </a:r>
            <a:r>
              <a:rPr lang="en-US" altLang="en-US" sz="2000" baseline="30000"/>
              <a:t>2</a:t>
            </a:r>
            <a:r>
              <a:rPr lang="en-US" altLang="en-US" sz="2000"/>
              <a:t> analysis</a:t>
            </a:r>
          </a:p>
          <a:p>
            <a:pPr lvl="1">
              <a:spcBef>
                <a:spcPct val="75000"/>
              </a:spcBef>
            </a:pPr>
            <a:r>
              <a:rPr lang="en-US" altLang="en-US" sz="2000"/>
              <a:t>Cluster analysis</a:t>
            </a:r>
          </a:p>
          <a:p>
            <a:pPr lvl="1">
              <a:spcBef>
                <a:spcPct val="75000"/>
              </a:spcBef>
            </a:pPr>
            <a:r>
              <a:rPr lang="en-US" altLang="en-US" sz="2000"/>
              <a:t>Entropy-based discretization</a:t>
            </a:r>
          </a:p>
          <a:p>
            <a:pPr lvl="1">
              <a:spcBef>
                <a:spcPct val="75000"/>
              </a:spcBef>
            </a:pPr>
            <a:r>
              <a:rPr lang="en-US" altLang="en-US" sz="2000"/>
              <a:t>Discretization by “natural/intuitive partitioning”</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0AD2A605-E751-4024-879A-C6F107AB016D}" type="slidenum">
              <a:rPr lang="en-US" altLang="en-US"/>
              <a:pPr/>
              <a:t>53</a:t>
            </a:fld>
            <a:endParaRPr lang="en-US" altLang="en-US"/>
          </a:p>
        </p:txBody>
      </p:sp>
      <p:sp>
        <p:nvSpPr>
          <p:cNvPr id="689154" name="Rectangle 2"/>
          <p:cNvSpPr>
            <a:spLocks noGrp="1" noChangeArrowheads="1"/>
          </p:cNvSpPr>
          <p:nvPr>
            <p:ph type="title"/>
          </p:nvPr>
        </p:nvSpPr>
        <p:spPr/>
        <p:txBody>
          <a:bodyPr/>
          <a:lstStyle/>
          <a:p>
            <a:r>
              <a:rPr lang="en-US" altLang="en-US" sz="3200"/>
              <a:t>2.7. Rời rạc hóa dữ liệu</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9"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a:t>Dữ liệu phân loại (categorical data)</a:t>
            </a:r>
          </a:p>
          <a:p>
            <a:pPr lvl="1">
              <a:spcBef>
                <a:spcPct val="75000"/>
              </a:spcBef>
            </a:pPr>
            <a:r>
              <a:rPr lang="en-US" altLang="en-US"/>
              <a:t>Dữ liệu rời rạc (discrete data)</a:t>
            </a:r>
          </a:p>
          <a:p>
            <a:pPr lvl="1">
              <a:spcBef>
                <a:spcPct val="75000"/>
              </a:spcBef>
            </a:pPr>
            <a:r>
              <a:rPr lang="en-US" altLang="en-US"/>
              <a:t>Miền trị thuộc tính phân loại (categorical attribute)</a:t>
            </a:r>
          </a:p>
          <a:p>
            <a:pPr lvl="2">
              <a:spcBef>
                <a:spcPct val="75000"/>
              </a:spcBef>
            </a:pPr>
            <a:r>
              <a:rPr lang="en-US" altLang="en-US"/>
              <a:t>Số giá trị phân biệt hữu hạn</a:t>
            </a:r>
          </a:p>
          <a:p>
            <a:pPr lvl="2">
              <a:spcBef>
                <a:spcPct val="75000"/>
              </a:spcBef>
            </a:pPr>
            <a:r>
              <a:rPr lang="en-US" altLang="en-US"/>
              <a:t>Không có thứ tự giữa các giá trị</a:t>
            </a:r>
          </a:p>
          <a:p>
            <a:pPr>
              <a:spcBef>
                <a:spcPct val="75000"/>
              </a:spcBef>
              <a:buFont typeface="Wingdings" pitchFamily="2" charset="2"/>
              <a:buNone/>
            </a:pPr>
            <a:r>
              <a:rPr lang="en-US" altLang="en-US">
                <a:sym typeface="Wingdings" pitchFamily="2" charset="2"/>
              </a:rPr>
              <a:t> </a:t>
            </a:r>
            <a:r>
              <a:rPr lang="en-US" altLang="en-US"/>
              <a:t>Tạo phân cấp ý niệm cho dữ liệu rời rạc</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6669F25A-55C5-4E80-BCA8-96BF9CBD11ED}" type="slidenum">
              <a:rPr lang="en-US" altLang="en-US"/>
              <a:pPr/>
              <a:t>54</a:t>
            </a:fld>
            <a:endParaRPr lang="en-US" altLang="en-US"/>
          </a:p>
        </p:txBody>
      </p:sp>
      <p:sp>
        <p:nvSpPr>
          <p:cNvPr id="649218" name="Rectangle 2"/>
          <p:cNvSpPr>
            <a:spLocks noGrp="1" noChangeArrowheads="1"/>
          </p:cNvSpPr>
          <p:nvPr>
            <p:ph type="title"/>
          </p:nvPr>
        </p:nvSpPr>
        <p:spPr/>
        <p:txBody>
          <a:bodyPr/>
          <a:lstStyle/>
          <a:p>
            <a:r>
              <a:rPr lang="en-US" altLang="en-US" sz="3200"/>
              <a:t>2.8. Tạo cây phân cấp ý niệm</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9"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a:t>Các phương pháp tạo phân cấp ý niệm cho dữ liệu rời rạc (categorical/discrete data)</a:t>
            </a:r>
          </a:p>
          <a:p>
            <a:pPr lvl="1">
              <a:spcBef>
                <a:spcPct val="75000"/>
              </a:spcBef>
            </a:pPr>
            <a:r>
              <a:rPr lang="en-US" altLang="en-US"/>
              <a:t>Đặc tả thứ tự riêng phần (partial ordering)/thứ tự toàn phần (total ordering) của các thuộc tính tường minh ở mức lược đồ bởi người sử dụng hoặc chuyên gia</a:t>
            </a:r>
          </a:p>
          <a:p>
            <a:pPr lvl="1">
              <a:spcBef>
                <a:spcPct val="75000"/>
              </a:spcBef>
            </a:pPr>
            <a:r>
              <a:rPr lang="en-US" altLang="en-US"/>
              <a:t>Đặc tả một phần phân cấp bằng cách nhóm dữ liệu tường minh</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14C037F7-81AE-4B39-B790-9721F7089B23}" type="slidenum">
              <a:rPr lang="en-US" altLang="en-US"/>
              <a:pPr/>
              <a:t>55</a:t>
            </a:fld>
            <a:endParaRPr lang="en-US" altLang="en-US"/>
          </a:p>
        </p:txBody>
      </p:sp>
      <p:sp>
        <p:nvSpPr>
          <p:cNvPr id="690178" name="Rectangle 2"/>
          <p:cNvSpPr>
            <a:spLocks noGrp="1" noChangeArrowheads="1"/>
          </p:cNvSpPr>
          <p:nvPr>
            <p:ph type="title"/>
          </p:nvPr>
        </p:nvSpPr>
        <p:spPr/>
        <p:txBody>
          <a:bodyPr/>
          <a:lstStyle/>
          <a:p>
            <a:r>
              <a:rPr lang="en-US" altLang="en-US" sz="3200"/>
              <a:t>2.8. Tạo cây phân cấp ý niệm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6499"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75000"/>
              </a:spcBef>
            </a:pPr>
            <a:r>
              <a:rPr lang="en-US" altLang="en-US" sz="2400"/>
              <a:t>Các phương pháp tạo phân cấp ý niệm cho dữ liệu rời rạc (categorical/discrete data)</a:t>
            </a:r>
          </a:p>
          <a:p>
            <a:pPr lvl="1">
              <a:spcBef>
                <a:spcPct val="75000"/>
              </a:spcBef>
            </a:pPr>
            <a:r>
              <a:rPr lang="en-US" altLang="en-US"/>
              <a:t>Đặc tả một tập các thuộc tính, nhưng không bao gồm thứ tự riêng phần của chúng</a:t>
            </a:r>
          </a:p>
          <a:p>
            <a:pPr lvl="1">
              <a:spcBef>
                <a:spcPct val="75000"/>
              </a:spcBef>
            </a:pPr>
            <a:r>
              <a:rPr lang="en-US" altLang="en-US"/>
              <a:t>Đặc tả chỉ một tập riêng phần các thuộc tính (partial set of attributes)</a:t>
            </a:r>
          </a:p>
          <a:p>
            <a:pPr lvl="1">
              <a:spcBef>
                <a:spcPct val="75000"/>
              </a:spcBef>
            </a:pPr>
            <a:r>
              <a:rPr lang="en-US" altLang="en-US"/>
              <a:t>Tạo phân cấp ý niệm bằng cách dùng các kết nối ngữ nghĩa được chỉ định trước</a:t>
            </a: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6CE6DB9C-44ED-4BB1-86F7-4ACACCBBD2C5}" type="slidenum">
              <a:rPr lang="en-US" altLang="en-US"/>
              <a:pPr/>
              <a:t>56</a:t>
            </a:fld>
            <a:endParaRPr lang="en-US" altLang="en-US"/>
          </a:p>
        </p:txBody>
      </p:sp>
      <p:sp>
        <p:nvSpPr>
          <p:cNvPr id="746498" name="Rectangle 2"/>
          <p:cNvSpPr>
            <a:spLocks noGrp="1" noChangeArrowheads="1"/>
          </p:cNvSpPr>
          <p:nvPr>
            <p:ph type="title"/>
          </p:nvPr>
        </p:nvSpPr>
        <p:spPr/>
        <p:txBody>
          <a:bodyPr/>
          <a:lstStyle/>
          <a:p>
            <a:r>
              <a:rPr lang="en-US" altLang="en-US"/>
              <a:t>2.8. Tạo cây phân cấp ý niệm</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7747"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50000"/>
              </a:spcBef>
              <a:buFont typeface="Wingdings" panose="05000000000000000000" pitchFamily="2" charset="2"/>
              <a:buChar char="v"/>
            </a:pPr>
            <a:r>
              <a:rPr lang="en-US" altLang="en-US" sz="2000">
                <a:latin typeface="Times New Roman" pitchFamily="18" charset="0"/>
              </a:rPr>
              <a:t>Dữ liệu thực tế: không đầy đủ (incomplete/missing), nhiễu (noisy), không nhất quán (inconsistent)</a:t>
            </a:r>
          </a:p>
          <a:p>
            <a:pPr>
              <a:spcBef>
                <a:spcPct val="50000"/>
              </a:spcBef>
              <a:buFont typeface="Wingdings" panose="05000000000000000000" pitchFamily="2" charset="2"/>
              <a:buChar char="v"/>
            </a:pPr>
            <a:r>
              <a:rPr lang="en-US" altLang="en-US" sz="2000">
                <a:latin typeface="Times New Roman" pitchFamily="18" charset="0"/>
              </a:rPr>
              <a:t>Qu</a:t>
            </a:r>
            <a:r>
              <a:rPr lang="th-TH" altLang="en-US" sz="2000">
                <a:latin typeface="Times New Roman" pitchFamily="18" charset="0"/>
                <a:cs typeface="Angsana New" pitchFamily="18" charset="-34"/>
              </a:rPr>
              <a:t>á</a:t>
            </a:r>
            <a:r>
              <a:rPr lang="en-US" altLang="en-US" sz="2000">
                <a:latin typeface="Times New Roman" pitchFamily="18" charset="0"/>
                <a:cs typeface="Angsana New" pitchFamily="18" charset="-34"/>
              </a:rPr>
              <a:t> tr</a:t>
            </a:r>
            <a:r>
              <a:rPr lang="th-TH" altLang="en-US" sz="2000">
                <a:latin typeface="Times New Roman" pitchFamily="18" charset="0"/>
                <a:cs typeface="Angsana New" pitchFamily="18" charset="-34"/>
              </a:rPr>
              <a:t>ì</a:t>
            </a:r>
            <a:r>
              <a:rPr lang="en-US" altLang="en-US" sz="2000">
                <a:latin typeface="Times New Roman" pitchFamily="18" charset="0"/>
                <a:cs typeface="Angsana New" pitchFamily="18" charset="-34"/>
              </a:rPr>
              <a:t>nh ti</a:t>
            </a:r>
            <a:r>
              <a:rPr lang="th-TH" altLang="en-US" sz="2000">
                <a:latin typeface="Times New Roman" pitchFamily="18" charset="0"/>
                <a:cs typeface="Angsana New" pitchFamily="18" charset="-34"/>
              </a:rPr>
              <a:t>ề</a:t>
            </a:r>
            <a:r>
              <a:rPr lang="en-US" altLang="en-US" sz="2000">
                <a:latin typeface="Times New Roman" pitchFamily="18" charset="0"/>
                <a:cs typeface="Angsana New" pitchFamily="18" charset="-34"/>
              </a:rPr>
              <a:t>n x</a:t>
            </a:r>
            <a:r>
              <a:rPr lang="th-TH" altLang="en-US" sz="2000">
                <a:latin typeface="Times New Roman" pitchFamily="18" charset="0"/>
                <a:cs typeface="Angsana New" pitchFamily="18" charset="-34"/>
              </a:rPr>
              <a:t>ử</a:t>
            </a:r>
            <a:r>
              <a:rPr lang="en-US" altLang="en-US" sz="2000">
                <a:latin typeface="Times New Roman" pitchFamily="18" charset="0"/>
                <a:cs typeface="Angsana New" pitchFamily="18" charset="-34"/>
              </a:rPr>
              <a:t> l</a:t>
            </a:r>
            <a:r>
              <a:rPr lang="th-TH" altLang="en-US" sz="2000">
                <a:latin typeface="Times New Roman" pitchFamily="18" charset="0"/>
                <a:cs typeface="Angsana New" pitchFamily="18" charset="-34"/>
              </a:rPr>
              <a:t>ý</a:t>
            </a:r>
            <a:r>
              <a:rPr lang="en-US" altLang="en-US" sz="2000">
                <a:latin typeface="Times New Roman" pitchFamily="18" charset="0"/>
                <a:cs typeface="Angsana New" pitchFamily="18" charset="-34"/>
              </a:rPr>
              <a:t>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a:t>
            </a:r>
          </a:p>
          <a:p>
            <a:pPr lvl="1">
              <a:spcBef>
                <a:spcPct val="50000"/>
              </a:spcBef>
              <a:buFont typeface="Wingdings" panose="05000000000000000000" pitchFamily="2" charset="2"/>
              <a:buChar char="Ø"/>
            </a:pPr>
            <a:r>
              <a:rPr lang="en-US" altLang="en-US" sz="2000">
                <a:latin typeface="Times New Roman" pitchFamily="18" charset="0"/>
                <a:cs typeface="Angsana New" pitchFamily="18" charset="-34"/>
              </a:rPr>
              <a:t>l</a:t>
            </a:r>
            <a:r>
              <a:rPr lang="th-TH" altLang="en-US" sz="2000">
                <a:latin typeface="Times New Roman" pitchFamily="18" charset="0"/>
                <a:cs typeface="Angsana New" pitchFamily="18" charset="-34"/>
              </a:rPr>
              <a:t>à</a:t>
            </a:r>
            <a:r>
              <a:rPr lang="en-US" altLang="en-US" sz="2000">
                <a:latin typeface="Times New Roman" pitchFamily="18" charset="0"/>
                <a:cs typeface="Angsana New" pitchFamily="18" charset="-34"/>
              </a:rPr>
              <a:t>m s</a:t>
            </a:r>
            <a:r>
              <a:rPr lang="th-TH" altLang="en-US" sz="2000">
                <a:latin typeface="Times New Roman" pitchFamily="18" charset="0"/>
                <a:cs typeface="Angsana New" pitchFamily="18" charset="-34"/>
              </a:rPr>
              <a:t>ạ</a:t>
            </a:r>
            <a:r>
              <a:rPr lang="en-US" altLang="en-US" sz="2000">
                <a:latin typeface="Times New Roman" pitchFamily="18" charset="0"/>
                <a:cs typeface="Angsana New" pitchFamily="18" charset="-34"/>
              </a:rPr>
              <a:t>ch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x</a:t>
            </a:r>
            <a:r>
              <a:rPr lang="en-US" altLang="en-US" sz="2000">
                <a:latin typeface="Times New Roman" pitchFamily="18" charset="0"/>
              </a:rPr>
              <a:t>ử lý dữ liệu bị thiếu, làm trơn dữ liệu nhiễu, nhận dạng các phần tử biên, hiệu chỉnh dữ liệu không nhất quán</a:t>
            </a:r>
            <a:endParaRPr lang="en-US" altLang="en-US" sz="2000">
              <a:latin typeface="Times New Roman" pitchFamily="18" charset="0"/>
              <a:cs typeface="Angsana New" pitchFamily="18" charset="-34"/>
            </a:endParaRPr>
          </a:p>
          <a:p>
            <a:pPr lvl="1">
              <a:spcBef>
                <a:spcPct val="50000"/>
              </a:spcBef>
              <a:buFont typeface="Wingdings" panose="05000000000000000000" pitchFamily="2" charset="2"/>
              <a:buChar char="Ø"/>
            </a:pPr>
            <a:r>
              <a:rPr lang="en-US" altLang="en-US" sz="2000">
                <a:latin typeface="Times New Roman" pitchFamily="18" charset="0"/>
                <a:cs typeface="Angsana New" pitchFamily="18" charset="-34"/>
              </a:rPr>
              <a:t>t</a:t>
            </a:r>
            <a:r>
              <a:rPr lang="th-TH" altLang="en-US" sz="2000">
                <a:latin typeface="Times New Roman" pitchFamily="18" charset="0"/>
                <a:cs typeface="Angsana New" pitchFamily="18" charset="-34"/>
              </a:rPr>
              <a:t>í</a:t>
            </a:r>
            <a:r>
              <a:rPr lang="en-US" altLang="en-US" sz="2000">
                <a:latin typeface="Times New Roman" pitchFamily="18" charset="0"/>
                <a:cs typeface="Angsana New" pitchFamily="18" charset="-34"/>
              </a:rPr>
              <a:t>ch h</a:t>
            </a:r>
            <a:r>
              <a:rPr lang="th-TH" altLang="en-US" sz="2000">
                <a:latin typeface="Times New Roman" pitchFamily="18" charset="0"/>
                <a:cs typeface="Angsana New" pitchFamily="18" charset="-34"/>
              </a:rPr>
              <a:t>ợ</a:t>
            </a:r>
            <a:r>
              <a:rPr lang="en-US" altLang="en-US" sz="2000">
                <a:latin typeface="Times New Roman" pitchFamily="18" charset="0"/>
                <a:cs typeface="Angsana New" pitchFamily="18" charset="-34"/>
              </a:rPr>
              <a:t>p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v</a:t>
            </a:r>
            <a:r>
              <a:rPr lang="en-US" altLang="en-US" sz="2000">
                <a:latin typeface="Times New Roman" pitchFamily="18" charset="0"/>
              </a:rPr>
              <a:t>ấn đề nhận dạng thực thể, vấn đề dư thừa, vấn đề mâu thuẫn giá trị dữ liệu</a:t>
            </a:r>
            <a:endParaRPr lang="en-US" altLang="en-US" sz="2000">
              <a:latin typeface="Times New Roman" pitchFamily="18" charset="0"/>
              <a:cs typeface="Angsana New" pitchFamily="18" charset="-34"/>
            </a:endParaRPr>
          </a:p>
          <a:p>
            <a:pPr lvl="1">
              <a:spcBef>
                <a:spcPct val="50000"/>
              </a:spcBef>
              <a:buFont typeface="Wingdings" panose="05000000000000000000" pitchFamily="2" charset="2"/>
              <a:buChar char="Ø"/>
            </a:pPr>
            <a:r>
              <a:rPr lang="en-US" altLang="en-US" sz="2000">
                <a:latin typeface="Times New Roman" pitchFamily="18" charset="0"/>
                <a:cs typeface="Angsana New" pitchFamily="18" charset="-34"/>
              </a:rPr>
              <a:t>bi</a:t>
            </a:r>
            <a:r>
              <a:rPr lang="th-TH" altLang="en-US" sz="2000">
                <a:latin typeface="Times New Roman" pitchFamily="18" charset="0"/>
                <a:cs typeface="Angsana New" pitchFamily="18" charset="-34"/>
              </a:rPr>
              <a:t>ế</a:t>
            </a:r>
            <a:r>
              <a:rPr lang="en-US" altLang="en-US" sz="2000">
                <a:latin typeface="Times New Roman" pitchFamily="18" charset="0"/>
                <a:cs typeface="Angsana New" pitchFamily="18" charset="-34"/>
              </a:rPr>
              <a:t>n </a:t>
            </a:r>
            <a:r>
              <a:rPr lang="th-TH" altLang="en-US" sz="2000">
                <a:latin typeface="Times New Roman" pitchFamily="18" charset="0"/>
                <a:cs typeface="Angsana New" pitchFamily="18" charset="-34"/>
              </a:rPr>
              <a:t>đổ</a:t>
            </a:r>
            <a:r>
              <a:rPr lang="en-US" altLang="en-US" sz="2000">
                <a:latin typeface="Times New Roman" pitchFamily="18" charset="0"/>
                <a:cs typeface="Angsana New" pitchFamily="18" charset="-34"/>
              </a:rPr>
              <a:t>i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l</a:t>
            </a:r>
            <a:r>
              <a:rPr lang="en-US" altLang="en-US" sz="2000">
                <a:latin typeface="Times New Roman" pitchFamily="18" charset="0"/>
              </a:rPr>
              <a:t>àm trơn dữ liệu, kết hợp dữ liệu, tổng quát hóa, chuẩn hóa, xây dựng thuộc tính/đặc tính</a:t>
            </a:r>
            <a:endParaRPr lang="en-US" altLang="en-US" sz="2000">
              <a:latin typeface="Times New Roman" pitchFamily="18" charset="0"/>
              <a:cs typeface="Angsana New" pitchFamily="18" charset="-34"/>
            </a:endParaRPr>
          </a:p>
          <a:p>
            <a:pPr lvl="1">
              <a:spcBef>
                <a:spcPct val="50000"/>
              </a:spcBef>
              <a:buFont typeface="Wingdings" panose="05000000000000000000" pitchFamily="2" charset="2"/>
              <a:buChar char="Ø"/>
            </a:pPr>
            <a:r>
              <a:rPr lang="en-US" altLang="en-US" sz="2000">
                <a:latin typeface="Times New Roman" pitchFamily="18" charset="0"/>
                <a:cs typeface="Angsana New" pitchFamily="18" charset="-34"/>
              </a:rPr>
              <a:t>thu gi</a:t>
            </a:r>
            <a:r>
              <a:rPr lang="th-TH" altLang="en-US" sz="2000">
                <a:latin typeface="Times New Roman" pitchFamily="18" charset="0"/>
                <a:cs typeface="Angsana New" pitchFamily="18" charset="-34"/>
              </a:rPr>
              <a:t>ả</a:t>
            </a:r>
            <a:r>
              <a:rPr lang="en-US" altLang="en-US" sz="2000">
                <a:latin typeface="Times New Roman" pitchFamily="18" charset="0"/>
                <a:cs typeface="Angsana New" pitchFamily="18" charset="-34"/>
              </a:rPr>
              <a:t>m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k</a:t>
            </a:r>
            <a:r>
              <a:rPr lang="en-US" altLang="en-US" sz="2000">
                <a:latin typeface="Times New Roman" pitchFamily="18" charset="0"/>
              </a:rPr>
              <a:t>ết</a:t>
            </a:r>
            <a:r>
              <a:rPr lang="en-US" altLang="en-US" sz="2000">
                <a:latin typeface="Times New Roman" pitchFamily="18" charset="0"/>
                <a:cs typeface="Angsana New" pitchFamily="18" charset="-34"/>
              </a:rPr>
              <a:t> h</a:t>
            </a:r>
            <a:r>
              <a:rPr lang="th-TH" altLang="en-US" sz="2000">
                <a:latin typeface="Times New Roman" pitchFamily="18" charset="0"/>
                <a:cs typeface="Angsana New" pitchFamily="18" charset="-34"/>
              </a:rPr>
              <a:t>ợ</a:t>
            </a:r>
            <a:r>
              <a:rPr lang="en-US" altLang="en-US" sz="2000">
                <a:latin typeface="Times New Roman" pitchFamily="18" charset="0"/>
                <a:cs typeface="Angsana New" pitchFamily="18" charset="-34"/>
              </a:rPr>
              <a:t>p kh</a:t>
            </a:r>
            <a:r>
              <a:rPr lang="th-TH" altLang="en-US" sz="2000">
                <a:latin typeface="Times New Roman" pitchFamily="18" charset="0"/>
                <a:cs typeface="Angsana New" pitchFamily="18" charset="-34"/>
              </a:rPr>
              <a:t>ố</a:t>
            </a:r>
            <a:r>
              <a:rPr lang="en-US" altLang="en-US" sz="2000">
                <a:latin typeface="Times New Roman" pitchFamily="18" charset="0"/>
                <a:cs typeface="Angsana New" pitchFamily="18" charset="-34"/>
              </a:rPr>
              <a:t>i d</a:t>
            </a:r>
            <a:r>
              <a:rPr lang="th-TH" altLang="en-US" sz="2000">
                <a:latin typeface="Times New Roman" pitchFamily="18" charset="0"/>
                <a:cs typeface="Angsana New" pitchFamily="18" charset="-34"/>
              </a:rPr>
              <a:t>ữ</a:t>
            </a:r>
            <a:r>
              <a:rPr lang="en-US" altLang="en-US" sz="2000">
                <a:latin typeface="Times New Roman" pitchFamily="18" charset="0"/>
                <a:cs typeface="Angsana New" pitchFamily="18" charset="-34"/>
              </a:rPr>
              <a:t> li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u, ch</a:t>
            </a:r>
            <a:r>
              <a:rPr lang="th-TH" altLang="en-US" sz="2000">
                <a:latin typeface="Times New Roman" pitchFamily="18" charset="0"/>
                <a:cs typeface="Angsana New" pitchFamily="18" charset="-34"/>
              </a:rPr>
              <a:t>ọ</a:t>
            </a:r>
            <a:r>
              <a:rPr lang="en-US" altLang="en-US" sz="2000">
                <a:latin typeface="Times New Roman" pitchFamily="18" charset="0"/>
                <a:cs typeface="Angsana New" pitchFamily="18" charset="-34"/>
              </a:rPr>
              <a:t>n m</a:t>
            </a:r>
            <a:r>
              <a:rPr lang="th-TH" altLang="en-US" sz="2000">
                <a:latin typeface="Times New Roman" pitchFamily="18" charset="0"/>
                <a:cs typeface="Angsana New" pitchFamily="18" charset="-34"/>
              </a:rPr>
              <a:t>ộ</a:t>
            </a:r>
            <a:r>
              <a:rPr lang="en-US" altLang="en-US" sz="2000">
                <a:latin typeface="Times New Roman" pitchFamily="18" charset="0"/>
                <a:cs typeface="Angsana New" pitchFamily="18" charset="-34"/>
              </a:rPr>
              <a:t>t s</a:t>
            </a:r>
            <a:r>
              <a:rPr lang="th-TH" altLang="en-US" sz="2000">
                <a:latin typeface="Times New Roman" pitchFamily="18" charset="0"/>
                <a:cs typeface="Angsana New" pitchFamily="18" charset="-34"/>
              </a:rPr>
              <a:t>ố</a:t>
            </a:r>
            <a:r>
              <a:rPr lang="en-US" altLang="en-US" sz="2000">
                <a:latin typeface="Times New Roman" pitchFamily="18" charset="0"/>
                <a:cs typeface="Angsana New" pitchFamily="18" charset="-34"/>
              </a:rPr>
              <a:t> thu</a:t>
            </a:r>
            <a:r>
              <a:rPr lang="th-TH" altLang="en-US" sz="2000">
                <a:latin typeface="Times New Roman" pitchFamily="18" charset="0"/>
                <a:cs typeface="Angsana New" pitchFamily="18" charset="-34"/>
              </a:rPr>
              <a:t>ộ</a:t>
            </a:r>
            <a:r>
              <a:rPr lang="en-US" altLang="en-US" sz="2000">
                <a:latin typeface="Times New Roman" pitchFamily="18" charset="0"/>
                <a:cs typeface="Angsana New" pitchFamily="18" charset="-34"/>
              </a:rPr>
              <a:t>c t</a:t>
            </a:r>
            <a:r>
              <a:rPr lang="th-TH" altLang="en-US" sz="2000">
                <a:latin typeface="Times New Roman" pitchFamily="18" charset="0"/>
                <a:cs typeface="Angsana New" pitchFamily="18" charset="-34"/>
              </a:rPr>
              <a:t>í</a:t>
            </a:r>
            <a:r>
              <a:rPr lang="en-US" altLang="en-US" sz="2000">
                <a:latin typeface="Times New Roman" pitchFamily="18" charset="0"/>
                <a:cs typeface="Angsana New" pitchFamily="18" charset="-34"/>
              </a:rPr>
              <a:t>nh, thu gi</a:t>
            </a:r>
            <a:r>
              <a:rPr lang="th-TH" altLang="en-US" sz="2000">
                <a:latin typeface="Times New Roman" pitchFamily="18" charset="0"/>
                <a:cs typeface="Angsana New" pitchFamily="18" charset="-34"/>
              </a:rPr>
              <a:t>ả</a:t>
            </a:r>
            <a:r>
              <a:rPr lang="en-US" altLang="en-US" sz="2000">
                <a:latin typeface="Times New Roman" pitchFamily="18" charset="0"/>
                <a:cs typeface="Angsana New" pitchFamily="18" charset="-34"/>
              </a:rPr>
              <a:t>m chi</a:t>
            </a:r>
            <a:r>
              <a:rPr lang="th-TH" altLang="en-US" sz="2000">
                <a:latin typeface="Times New Roman" pitchFamily="18" charset="0"/>
                <a:cs typeface="Angsana New" pitchFamily="18" charset="-34"/>
              </a:rPr>
              <a:t>ề</a:t>
            </a:r>
            <a:r>
              <a:rPr lang="en-US" altLang="en-US" sz="2000">
                <a:latin typeface="Times New Roman" pitchFamily="18" charset="0"/>
                <a:cs typeface="Angsana New" pitchFamily="18" charset="-34"/>
              </a:rPr>
              <a:t>u, r</a:t>
            </a:r>
            <a:r>
              <a:rPr lang="th-TH" altLang="en-US" sz="2000">
                <a:latin typeface="Times New Roman" pitchFamily="18" charset="0"/>
                <a:cs typeface="Angsana New" pitchFamily="18" charset="-34"/>
              </a:rPr>
              <a:t>ờ</a:t>
            </a:r>
            <a:r>
              <a:rPr lang="en-US" altLang="en-US" sz="2000">
                <a:latin typeface="Times New Roman" pitchFamily="18" charset="0"/>
                <a:cs typeface="Angsana New" pitchFamily="18" charset="-34"/>
              </a:rPr>
              <a:t>i r</a:t>
            </a:r>
            <a:r>
              <a:rPr lang="th-TH" altLang="en-US" sz="2000">
                <a:latin typeface="Times New Roman" pitchFamily="18" charset="0"/>
                <a:cs typeface="Angsana New" pitchFamily="18" charset="-34"/>
              </a:rPr>
              <a:t>ạ</a:t>
            </a:r>
            <a:r>
              <a:rPr lang="en-US" altLang="en-US" sz="2000">
                <a:latin typeface="Times New Roman" pitchFamily="18" charset="0"/>
                <a:cs typeface="Angsana New" pitchFamily="18" charset="-34"/>
              </a:rPr>
              <a:t>c h</a:t>
            </a:r>
            <a:r>
              <a:rPr lang="th-TH" altLang="en-US" sz="2000">
                <a:latin typeface="Times New Roman" pitchFamily="18" charset="0"/>
                <a:cs typeface="Angsana New" pitchFamily="18" charset="-34"/>
              </a:rPr>
              <a:t>ó</a:t>
            </a:r>
            <a:r>
              <a:rPr lang="en-US" altLang="en-US" sz="2000">
                <a:latin typeface="Times New Roman" pitchFamily="18" charset="0"/>
                <a:cs typeface="Angsana New" pitchFamily="18" charset="-34"/>
              </a:rPr>
              <a:t>a v</a:t>
            </a:r>
            <a:r>
              <a:rPr lang="th-TH" altLang="en-US" sz="2000">
                <a:latin typeface="Times New Roman" pitchFamily="18" charset="0"/>
                <a:cs typeface="Angsana New" pitchFamily="18" charset="-34"/>
              </a:rPr>
              <a:t>à</a:t>
            </a:r>
            <a:r>
              <a:rPr lang="en-US" altLang="en-US" sz="2000">
                <a:latin typeface="Times New Roman" pitchFamily="18" charset="0"/>
                <a:cs typeface="Angsana New" pitchFamily="18" charset="-34"/>
              </a:rPr>
              <a:t> t</a:t>
            </a:r>
            <a:r>
              <a:rPr lang="th-TH" altLang="en-US" sz="2000">
                <a:latin typeface="Times New Roman" pitchFamily="18" charset="0"/>
                <a:cs typeface="Angsana New" pitchFamily="18" charset="-34"/>
              </a:rPr>
              <a:t>ạ</a:t>
            </a:r>
            <a:r>
              <a:rPr lang="en-US" altLang="en-US" sz="2000">
                <a:latin typeface="Times New Roman" pitchFamily="18" charset="0"/>
                <a:cs typeface="Angsana New" pitchFamily="18" charset="-34"/>
              </a:rPr>
              <a:t>o ph</a:t>
            </a:r>
            <a:r>
              <a:rPr lang="th-TH" altLang="en-US" sz="2000">
                <a:latin typeface="Times New Roman" pitchFamily="18" charset="0"/>
                <a:cs typeface="Angsana New" pitchFamily="18" charset="-34"/>
              </a:rPr>
              <a:t>â</a:t>
            </a:r>
            <a:r>
              <a:rPr lang="en-US" altLang="en-US" sz="2000">
                <a:latin typeface="Times New Roman" pitchFamily="18" charset="0"/>
                <a:cs typeface="Angsana New" pitchFamily="18" charset="-34"/>
              </a:rPr>
              <a:t>n c</a:t>
            </a:r>
            <a:r>
              <a:rPr lang="th-TH" altLang="en-US" sz="2000">
                <a:latin typeface="Times New Roman" pitchFamily="18" charset="0"/>
                <a:cs typeface="Angsana New" pitchFamily="18" charset="-34"/>
              </a:rPr>
              <a:t>ấ</a:t>
            </a:r>
            <a:r>
              <a:rPr lang="en-US" altLang="en-US" sz="2000">
                <a:latin typeface="Times New Roman" pitchFamily="18" charset="0"/>
                <a:cs typeface="Angsana New" pitchFamily="18" charset="-34"/>
              </a:rPr>
              <a:t>p </a:t>
            </a:r>
            <a:r>
              <a:rPr lang="th-TH" altLang="en-US" sz="2000">
                <a:latin typeface="Times New Roman" pitchFamily="18" charset="0"/>
                <a:cs typeface="Angsana New" pitchFamily="18" charset="-34"/>
              </a:rPr>
              <a:t>ý</a:t>
            </a:r>
            <a:r>
              <a:rPr lang="en-US" altLang="en-US" sz="2000">
                <a:latin typeface="Times New Roman" pitchFamily="18" charset="0"/>
                <a:cs typeface="Angsana New" pitchFamily="18" charset="-34"/>
              </a:rPr>
              <a:t> ni</a:t>
            </a:r>
            <a:r>
              <a:rPr lang="th-TH" altLang="en-US" sz="2000">
                <a:latin typeface="Times New Roman" pitchFamily="18" charset="0"/>
                <a:cs typeface="Angsana New" pitchFamily="18" charset="-34"/>
              </a:rPr>
              <a:t>ệ</a:t>
            </a:r>
            <a:r>
              <a:rPr lang="en-US" altLang="en-US" sz="2000">
                <a:latin typeface="Times New Roman" pitchFamily="18" charset="0"/>
                <a:cs typeface="Angsana New" pitchFamily="18" charset="-34"/>
              </a:rPr>
              <a:t>m</a:t>
            </a:r>
            <a:endParaRPr lang="th-TH" altLang="en-US" sz="2000">
              <a:latin typeface="Times New Roman" pitchFamily="18" charset="0"/>
              <a:cs typeface="Angsana New" pitchFamily="18" charset="-34"/>
            </a:endParaRP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5F4C7624-86BB-4E5E-BC4B-B6ACB868EBCA}" type="slidenum">
              <a:rPr lang="en-US" altLang="en-US"/>
              <a:pPr/>
              <a:t>57</a:t>
            </a:fld>
            <a:endParaRPr lang="en-US" altLang="en-US"/>
          </a:p>
        </p:txBody>
      </p:sp>
      <p:sp>
        <p:nvSpPr>
          <p:cNvPr id="287746" name="Rectangle 2"/>
          <p:cNvSpPr>
            <a:spLocks noGrp="1" noChangeArrowheads="1"/>
          </p:cNvSpPr>
          <p:nvPr>
            <p:ph type="title"/>
          </p:nvPr>
        </p:nvSpPr>
        <p:spPr/>
        <p:txBody>
          <a:bodyPr/>
          <a:lstStyle/>
          <a:p>
            <a:r>
              <a:rPr lang="en-US" altLang="en-US"/>
              <a:t>2.9. Tóm tắt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091" name="Rectangle 3"/>
          <p:cNvSpPr>
            <a:spLocks noGrp="1" noChangeArrowheads="1"/>
          </p:cNvSpPr>
          <p:nvPr>
            <p:ph idx="1"/>
          </p:nvPr>
        </p:nvSpPr>
        <p:spPr>
          <a:ln>
            <a:noFill/>
          </a:ln>
        </p:spPr>
        <p:style>
          <a:lnRef idx="2">
            <a:schemeClr val="accent1"/>
          </a:lnRef>
          <a:fillRef idx="1">
            <a:schemeClr val="lt1"/>
          </a:fillRef>
          <a:effectRef idx="0">
            <a:schemeClr val="accent1"/>
          </a:effectRef>
          <a:fontRef idx="minor">
            <a:schemeClr val="dk1"/>
          </a:fontRef>
        </p:style>
        <p:txBody>
          <a:bodyPr/>
          <a:lstStyle/>
          <a:p>
            <a:pPr>
              <a:spcBef>
                <a:spcPct val="50000"/>
              </a:spcBef>
              <a:buFont typeface="Wingdings" panose="05000000000000000000" pitchFamily="2" charset="2"/>
              <a:buChar char="v"/>
            </a:pPr>
            <a:r>
              <a:rPr lang="en-US" altLang="en-US" sz="1600">
                <a:latin typeface="Times New Roman" pitchFamily="18" charset="0"/>
                <a:cs typeface="Angsana New" pitchFamily="18" charset="-34"/>
              </a:rPr>
              <a:t>R</a:t>
            </a:r>
            <a:r>
              <a:rPr lang="th-TH" altLang="en-US" sz="1600">
                <a:latin typeface="Times New Roman" pitchFamily="18" charset="0"/>
                <a:cs typeface="Angsana New" pitchFamily="18" charset="-34"/>
              </a:rPr>
              <a:t>ờ</a:t>
            </a:r>
            <a:r>
              <a:rPr lang="en-US" altLang="en-US" sz="1600">
                <a:latin typeface="Times New Roman" pitchFamily="18" charset="0"/>
                <a:cs typeface="Angsana New" pitchFamily="18" charset="-34"/>
              </a:rPr>
              <a:t>i r</a:t>
            </a:r>
            <a:r>
              <a:rPr lang="th-TH" altLang="en-US" sz="1600">
                <a:latin typeface="Times New Roman" pitchFamily="18" charset="0"/>
                <a:cs typeface="Angsana New" pitchFamily="18" charset="-34"/>
              </a:rPr>
              <a:t>ạ</a:t>
            </a:r>
            <a:r>
              <a:rPr lang="en-US" altLang="en-US" sz="1600">
                <a:latin typeface="Times New Roman" pitchFamily="18" charset="0"/>
                <a:cs typeface="Angsana New" pitchFamily="18" charset="-34"/>
              </a:rPr>
              <a:t>c h</a:t>
            </a:r>
            <a:r>
              <a:rPr lang="th-TH" altLang="en-US" sz="1600">
                <a:latin typeface="Times New Roman" pitchFamily="18" charset="0"/>
                <a:cs typeface="Angsana New" pitchFamily="18" charset="-34"/>
              </a:rPr>
              <a:t>ó</a:t>
            </a:r>
            <a:r>
              <a:rPr lang="en-US" altLang="en-US" sz="1600">
                <a:latin typeface="Times New Roman" pitchFamily="18" charset="0"/>
                <a:cs typeface="Angsana New" pitchFamily="18" charset="-34"/>
              </a:rPr>
              <a:t>a d</a:t>
            </a:r>
            <a:r>
              <a:rPr lang="th-TH" altLang="en-US" sz="1600">
                <a:latin typeface="Times New Roman" pitchFamily="18" charset="0"/>
                <a:cs typeface="Angsana New" pitchFamily="18" charset="-34"/>
              </a:rPr>
              <a:t>ữ</a:t>
            </a:r>
            <a:r>
              <a:rPr lang="en-US" altLang="en-US" sz="1600">
                <a:latin typeface="Times New Roman" pitchFamily="18" charset="0"/>
                <a:cs typeface="Angsana New" pitchFamily="18" charset="-34"/>
              </a:rPr>
              <a:t> li</a:t>
            </a:r>
            <a:r>
              <a:rPr lang="th-TH" altLang="en-US" sz="1600">
                <a:latin typeface="Times New Roman" pitchFamily="18" charset="0"/>
                <a:cs typeface="Angsana New" pitchFamily="18" charset="-34"/>
              </a:rPr>
              <a:t>ệ</a:t>
            </a:r>
            <a:r>
              <a:rPr lang="en-US" altLang="en-US" sz="1600">
                <a:latin typeface="Times New Roman" pitchFamily="18" charset="0"/>
                <a:cs typeface="Angsana New" pitchFamily="18" charset="-34"/>
              </a:rPr>
              <a:t>u</a:t>
            </a:r>
          </a:p>
          <a:p>
            <a:pPr lvl="1">
              <a:spcBef>
                <a:spcPct val="50000"/>
              </a:spcBef>
            </a:pPr>
            <a:r>
              <a:rPr lang="en-US" altLang="en-US" sz="1600">
                <a:latin typeface="Times New Roman" pitchFamily="18" charset="0"/>
                <a:cs typeface="Angsana New" pitchFamily="18" charset="-34"/>
              </a:rPr>
              <a:t>Thu gi</a:t>
            </a:r>
            <a:r>
              <a:rPr lang="en-US" altLang="en-US" sz="1600">
                <a:latin typeface="Times New Roman" pitchFamily="18" charset="0"/>
              </a:rPr>
              <a:t>ảm số trị của một thuộc tính liên tục (continuous attribute) bằng cách chia miền trị thành các khoảng (interval) có dán nhãn. Các nhãn này được dùng thay cho các giá trị thực.</a:t>
            </a:r>
          </a:p>
          <a:p>
            <a:pPr lvl="1">
              <a:spcBef>
                <a:spcPct val="50000"/>
              </a:spcBef>
            </a:pPr>
            <a:r>
              <a:rPr lang="en-US" altLang="en-US" sz="1600">
                <a:latin typeface="Times New Roman" pitchFamily="18" charset="0"/>
              </a:rPr>
              <a:t>Tiến hành theo hai cách: trên xuống (top down) và dưới lên (bottom up), có giám sát (supervised) và không có giám sát (unsupervised).</a:t>
            </a:r>
          </a:p>
          <a:p>
            <a:pPr lvl="1">
              <a:spcBef>
                <a:spcPct val="50000"/>
              </a:spcBef>
            </a:pPr>
            <a:r>
              <a:rPr lang="en-US" altLang="en-US" sz="1600">
                <a:latin typeface="Times New Roman" pitchFamily="18" charset="0"/>
                <a:cs typeface="Angsana New" pitchFamily="18" charset="-34"/>
              </a:rPr>
              <a:t>T</a:t>
            </a:r>
            <a:r>
              <a:rPr lang="en-US" altLang="en-US" sz="1600">
                <a:latin typeface="Times New Roman" pitchFamily="18" charset="0"/>
              </a:rPr>
              <a:t>ạo phân hoạch phân cấp/đa phân giải (multiresolution) trên các trị thuộc tính </a:t>
            </a:r>
            <a:r>
              <a:rPr lang="en-US" altLang="en-US" sz="1600">
                <a:latin typeface="Times New Roman" pitchFamily="18" charset="0"/>
                <a:sym typeface="Wingdings" pitchFamily="2" charset="2"/>
              </a:rPr>
              <a:t> phân cấp ý niệm cho thuộc tính số (numerical attribute)</a:t>
            </a:r>
            <a:endParaRPr lang="en-US" altLang="en-US" sz="1600">
              <a:latin typeface="Times New Roman" pitchFamily="18" charset="0"/>
              <a:cs typeface="Angsana New" pitchFamily="18" charset="-34"/>
            </a:endParaRPr>
          </a:p>
          <a:p>
            <a:pPr>
              <a:spcBef>
                <a:spcPct val="50000"/>
              </a:spcBef>
              <a:buFont typeface="Wingdings" panose="05000000000000000000" pitchFamily="2" charset="2"/>
              <a:buChar char="v"/>
            </a:pPr>
            <a:r>
              <a:rPr lang="en-US" altLang="en-US" sz="1600">
                <a:latin typeface="Times New Roman" pitchFamily="18" charset="0"/>
                <a:cs typeface="Angsana New" pitchFamily="18" charset="-34"/>
              </a:rPr>
              <a:t>T</a:t>
            </a:r>
            <a:r>
              <a:rPr lang="th-TH" altLang="en-US" sz="1600">
                <a:latin typeface="Times New Roman" pitchFamily="18" charset="0"/>
                <a:cs typeface="Angsana New" pitchFamily="18" charset="-34"/>
              </a:rPr>
              <a:t>ạ</a:t>
            </a:r>
            <a:r>
              <a:rPr lang="en-US" altLang="en-US" sz="1600">
                <a:latin typeface="Times New Roman" pitchFamily="18" charset="0"/>
                <a:cs typeface="Angsana New" pitchFamily="18" charset="-34"/>
              </a:rPr>
              <a:t>o c</a:t>
            </a:r>
            <a:r>
              <a:rPr lang="th-TH" altLang="en-US" sz="1600">
                <a:latin typeface="Times New Roman" pitchFamily="18" charset="0"/>
                <a:cs typeface="Angsana New" pitchFamily="18" charset="-34"/>
              </a:rPr>
              <a:t>â</a:t>
            </a:r>
            <a:r>
              <a:rPr lang="en-US" altLang="en-US" sz="1600">
                <a:latin typeface="Times New Roman" pitchFamily="18" charset="0"/>
                <a:cs typeface="Angsana New" pitchFamily="18" charset="-34"/>
              </a:rPr>
              <a:t>y ph</a:t>
            </a:r>
            <a:r>
              <a:rPr lang="th-TH" altLang="en-US" sz="1600">
                <a:latin typeface="Times New Roman" pitchFamily="18" charset="0"/>
                <a:cs typeface="Angsana New" pitchFamily="18" charset="-34"/>
              </a:rPr>
              <a:t>â</a:t>
            </a:r>
            <a:r>
              <a:rPr lang="en-US" altLang="en-US" sz="1600">
                <a:latin typeface="Times New Roman" pitchFamily="18" charset="0"/>
                <a:cs typeface="Angsana New" pitchFamily="18" charset="-34"/>
              </a:rPr>
              <a:t>n c</a:t>
            </a:r>
            <a:r>
              <a:rPr lang="th-TH" altLang="en-US" sz="1600">
                <a:latin typeface="Times New Roman" pitchFamily="18" charset="0"/>
                <a:cs typeface="Angsana New" pitchFamily="18" charset="-34"/>
              </a:rPr>
              <a:t>ấ</a:t>
            </a:r>
            <a:r>
              <a:rPr lang="en-US" altLang="en-US" sz="1600">
                <a:latin typeface="Times New Roman" pitchFamily="18" charset="0"/>
                <a:cs typeface="Angsana New" pitchFamily="18" charset="-34"/>
              </a:rPr>
              <a:t>p </a:t>
            </a:r>
            <a:r>
              <a:rPr lang="th-TH" altLang="en-US" sz="1600">
                <a:latin typeface="Times New Roman" pitchFamily="18" charset="0"/>
                <a:cs typeface="Angsana New" pitchFamily="18" charset="-34"/>
              </a:rPr>
              <a:t>ý</a:t>
            </a:r>
            <a:r>
              <a:rPr lang="en-US" altLang="en-US" sz="1600">
                <a:latin typeface="Times New Roman" pitchFamily="18" charset="0"/>
                <a:cs typeface="Angsana New" pitchFamily="18" charset="-34"/>
              </a:rPr>
              <a:t> ni</a:t>
            </a:r>
            <a:r>
              <a:rPr lang="th-TH" altLang="en-US" sz="1600">
                <a:latin typeface="Times New Roman" pitchFamily="18" charset="0"/>
                <a:cs typeface="Angsana New" pitchFamily="18" charset="-34"/>
              </a:rPr>
              <a:t>ệ</a:t>
            </a:r>
            <a:r>
              <a:rPr lang="en-US" altLang="en-US" sz="1600">
                <a:latin typeface="Times New Roman" pitchFamily="18" charset="0"/>
                <a:cs typeface="Angsana New" pitchFamily="18" charset="-34"/>
              </a:rPr>
              <a:t>m</a:t>
            </a:r>
          </a:p>
          <a:p>
            <a:pPr lvl="1">
              <a:spcBef>
                <a:spcPct val="50000"/>
              </a:spcBef>
            </a:pPr>
            <a:r>
              <a:rPr lang="en-US" altLang="en-US" sz="1600">
                <a:latin typeface="Times New Roman" pitchFamily="18" charset="0"/>
                <a:cs typeface="Angsana New" pitchFamily="18" charset="-34"/>
              </a:rPr>
              <a:t>H</a:t>
            </a:r>
            <a:r>
              <a:rPr lang="th-TH" altLang="en-US" sz="1600">
                <a:latin typeface="Times New Roman" pitchFamily="18" charset="0"/>
                <a:cs typeface="Angsana New" pitchFamily="18" charset="-34"/>
              </a:rPr>
              <a:t>ỗ</a:t>
            </a:r>
            <a:r>
              <a:rPr lang="en-US" altLang="en-US" sz="1600">
                <a:latin typeface="Times New Roman" pitchFamily="18" charset="0"/>
                <a:cs typeface="Angsana New" pitchFamily="18" charset="-34"/>
              </a:rPr>
              <a:t> tr</a:t>
            </a:r>
            <a:r>
              <a:rPr lang="th-TH" altLang="en-US" sz="1600">
                <a:latin typeface="Times New Roman" pitchFamily="18" charset="0"/>
                <a:cs typeface="Angsana New" pitchFamily="18" charset="-34"/>
              </a:rPr>
              <a:t>ợ</a:t>
            </a:r>
            <a:r>
              <a:rPr lang="en-US" altLang="en-US" sz="1600">
                <a:latin typeface="Times New Roman" pitchFamily="18" charset="0"/>
                <a:cs typeface="Angsana New" pitchFamily="18" charset="-34"/>
              </a:rPr>
              <a:t> khai ph</a:t>
            </a:r>
            <a:r>
              <a:rPr lang="th-TH" altLang="en-US" sz="1600">
                <a:latin typeface="Times New Roman" pitchFamily="18" charset="0"/>
                <a:cs typeface="Angsana New" pitchFamily="18" charset="-34"/>
              </a:rPr>
              <a:t>á</a:t>
            </a:r>
            <a:r>
              <a:rPr lang="en-US" altLang="en-US" sz="1600">
                <a:latin typeface="Times New Roman" pitchFamily="18" charset="0"/>
                <a:cs typeface="Angsana New" pitchFamily="18" charset="-34"/>
              </a:rPr>
              <a:t> d</a:t>
            </a:r>
            <a:r>
              <a:rPr lang="th-TH" altLang="en-US" sz="1600">
                <a:latin typeface="Times New Roman" pitchFamily="18" charset="0"/>
                <a:cs typeface="Angsana New" pitchFamily="18" charset="-34"/>
              </a:rPr>
              <a:t>ữ</a:t>
            </a:r>
            <a:r>
              <a:rPr lang="en-US" altLang="en-US" sz="1600">
                <a:latin typeface="Times New Roman" pitchFamily="18" charset="0"/>
                <a:cs typeface="Angsana New" pitchFamily="18" charset="-34"/>
              </a:rPr>
              <a:t> li</a:t>
            </a:r>
            <a:r>
              <a:rPr lang="th-TH" altLang="en-US" sz="1600">
                <a:latin typeface="Times New Roman" pitchFamily="18" charset="0"/>
                <a:cs typeface="Angsana New" pitchFamily="18" charset="-34"/>
              </a:rPr>
              <a:t>ệ</a:t>
            </a:r>
            <a:r>
              <a:rPr lang="en-US" altLang="en-US" sz="1600">
                <a:latin typeface="Times New Roman" pitchFamily="18" charset="0"/>
                <a:cs typeface="Angsana New" pitchFamily="18" charset="-34"/>
              </a:rPr>
              <a:t>u </a:t>
            </a:r>
            <a:r>
              <a:rPr lang="th-TH" altLang="en-US" sz="1600">
                <a:latin typeface="Times New Roman" pitchFamily="18" charset="0"/>
                <a:cs typeface="Angsana New" pitchFamily="18" charset="-34"/>
              </a:rPr>
              <a:t>ở</a:t>
            </a:r>
            <a:r>
              <a:rPr lang="en-US" altLang="en-US" sz="1600">
                <a:latin typeface="Times New Roman" pitchFamily="18" charset="0"/>
                <a:cs typeface="Angsana New" pitchFamily="18" charset="-34"/>
              </a:rPr>
              <a:t> nhi</a:t>
            </a:r>
            <a:r>
              <a:rPr lang="th-TH" altLang="en-US" sz="1600">
                <a:latin typeface="Times New Roman" pitchFamily="18" charset="0"/>
                <a:cs typeface="Angsana New" pitchFamily="18" charset="-34"/>
              </a:rPr>
              <a:t>ề</a:t>
            </a:r>
            <a:r>
              <a:rPr lang="en-US" altLang="en-US" sz="1600">
                <a:latin typeface="Times New Roman" pitchFamily="18" charset="0"/>
                <a:cs typeface="Angsana New" pitchFamily="18" charset="-34"/>
              </a:rPr>
              <a:t>u m</a:t>
            </a:r>
            <a:r>
              <a:rPr lang="th-TH" altLang="en-US" sz="1600">
                <a:latin typeface="Times New Roman" pitchFamily="18" charset="0"/>
                <a:cs typeface="Angsana New" pitchFamily="18" charset="-34"/>
              </a:rPr>
              <a:t>ứ</a:t>
            </a:r>
            <a:r>
              <a:rPr lang="en-US" altLang="en-US" sz="1600">
                <a:latin typeface="Times New Roman" pitchFamily="18" charset="0"/>
                <a:cs typeface="Angsana New" pitchFamily="18" charset="-34"/>
              </a:rPr>
              <a:t>c tr</a:t>
            </a:r>
            <a:r>
              <a:rPr lang="th-TH" altLang="en-US" sz="1600">
                <a:latin typeface="Times New Roman" pitchFamily="18" charset="0"/>
                <a:cs typeface="Angsana New" pitchFamily="18" charset="-34"/>
              </a:rPr>
              <a:t>ừ</a:t>
            </a:r>
            <a:r>
              <a:rPr lang="en-US" altLang="en-US" sz="1600">
                <a:latin typeface="Times New Roman" pitchFamily="18" charset="0"/>
                <a:cs typeface="Angsana New" pitchFamily="18" charset="-34"/>
              </a:rPr>
              <a:t>u tr</a:t>
            </a:r>
            <a:r>
              <a:rPr lang="th-TH" altLang="en-US" sz="1600">
                <a:latin typeface="Times New Roman" pitchFamily="18" charset="0"/>
                <a:cs typeface="Angsana New" pitchFamily="18" charset="-34"/>
              </a:rPr>
              <a:t>ượ</a:t>
            </a:r>
            <a:r>
              <a:rPr lang="en-US" altLang="en-US" sz="1600">
                <a:latin typeface="Times New Roman" pitchFamily="18" charset="0"/>
                <a:cs typeface="Angsana New" pitchFamily="18" charset="-34"/>
              </a:rPr>
              <a:t>ng</a:t>
            </a:r>
          </a:p>
          <a:p>
            <a:pPr lvl="1">
              <a:spcBef>
                <a:spcPct val="50000"/>
              </a:spcBef>
            </a:pPr>
            <a:r>
              <a:rPr lang="en-US" altLang="en-US" sz="1600">
                <a:latin typeface="Times New Roman" pitchFamily="18" charset="0"/>
                <a:cs typeface="Angsana New" pitchFamily="18" charset="-34"/>
              </a:rPr>
              <a:t>Cho thu</a:t>
            </a:r>
            <a:r>
              <a:rPr lang="th-TH" altLang="en-US" sz="1600">
                <a:latin typeface="Times New Roman" pitchFamily="18" charset="0"/>
                <a:cs typeface="Angsana New" pitchFamily="18" charset="-34"/>
              </a:rPr>
              <a:t>ộ</a:t>
            </a:r>
            <a:r>
              <a:rPr lang="en-US" altLang="en-US" sz="1600">
                <a:latin typeface="Times New Roman" pitchFamily="18" charset="0"/>
                <a:cs typeface="Angsana New" pitchFamily="18" charset="-34"/>
              </a:rPr>
              <a:t>c t</a:t>
            </a:r>
            <a:r>
              <a:rPr lang="th-TH" altLang="en-US" sz="1600">
                <a:latin typeface="Times New Roman" pitchFamily="18" charset="0"/>
                <a:cs typeface="Angsana New" pitchFamily="18" charset="-34"/>
              </a:rPr>
              <a:t>í</a:t>
            </a:r>
            <a:r>
              <a:rPr lang="en-US" altLang="en-US" sz="1600">
                <a:latin typeface="Times New Roman" pitchFamily="18" charset="0"/>
                <a:cs typeface="Angsana New" pitchFamily="18" charset="-34"/>
              </a:rPr>
              <a:t>nh s</a:t>
            </a:r>
            <a:r>
              <a:rPr lang="th-TH" altLang="en-US" sz="1600">
                <a:latin typeface="Times New Roman" pitchFamily="18" charset="0"/>
                <a:cs typeface="Angsana New" pitchFamily="18" charset="-34"/>
              </a:rPr>
              <a:t>ố</a:t>
            </a:r>
            <a:r>
              <a:rPr lang="en-US" altLang="en-US" sz="1600">
                <a:latin typeface="Times New Roman" pitchFamily="18" charset="0"/>
                <a:cs typeface="Angsana New" pitchFamily="18" charset="-34"/>
              </a:rPr>
              <a:t> (numerical attributes): binning, histogram analysis, entropy-based discretization, </a:t>
            </a:r>
            <a:r>
              <a:rPr lang="en-US" altLang="en-US" sz="1600">
                <a:latin typeface="Times New Roman" pitchFamily="18" charset="0"/>
                <a:cs typeface="Angsana New" pitchFamily="18" charset="-34"/>
                <a:sym typeface="Symbol" pitchFamily="18" charset="2"/>
              </a:rPr>
              <a:t></a:t>
            </a:r>
            <a:r>
              <a:rPr lang="en-US" altLang="en-US" sz="1600" baseline="30000">
                <a:latin typeface="Times New Roman" pitchFamily="18" charset="0"/>
                <a:cs typeface="Angsana New" pitchFamily="18" charset="-34"/>
              </a:rPr>
              <a:t>2</a:t>
            </a:r>
            <a:r>
              <a:rPr lang="en-US" altLang="en-US" sz="1600">
                <a:latin typeface="Times New Roman" pitchFamily="18" charset="0"/>
                <a:cs typeface="Angsana New" pitchFamily="18" charset="-34"/>
              </a:rPr>
              <a:t>-merging, cluster analysis, discretization by intuitive partitioning</a:t>
            </a:r>
          </a:p>
          <a:p>
            <a:pPr lvl="1">
              <a:spcBef>
                <a:spcPct val="50000"/>
              </a:spcBef>
            </a:pPr>
            <a:r>
              <a:rPr lang="en-US" altLang="en-US" sz="1600">
                <a:latin typeface="Times New Roman" pitchFamily="18" charset="0"/>
                <a:cs typeface="Angsana New" pitchFamily="18" charset="-34"/>
              </a:rPr>
              <a:t>Cho thu</a:t>
            </a:r>
            <a:r>
              <a:rPr lang="th-TH" altLang="en-US" sz="1600">
                <a:latin typeface="Times New Roman" pitchFamily="18" charset="0"/>
                <a:cs typeface="Angsana New" pitchFamily="18" charset="-34"/>
              </a:rPr>
              <a:t>ộ</a:t>
            </a:r>
            <a:r>
              <a:rPr lang="en-US" altLang="en-US" sz="1600">
                <a:latin typeface="Times New Roman" pitchFamily="18" charset="0"/>
                <a:cs typeface="Angsana New" pitchFamily="18" charset="-34"/>
              </a:rPr>
              <a:t>c t</a:t>
            </a:r>
            <a:r>
              <a:rPr lang="th-TH" altLang="en-US" sz="1600">
                <a:latin typeface="Times New Roman" pitchFamily="18" charset="0"/>
                <a:cs typeface="Angsana New" pitchFamily="18" charset="-34"/>
              </a:rPr>
              <a:t>í</a:t>
            </a:r>
            <a:r>
              <a:rPr lang="en-US" altLang="en-US" sz="1600">
                <a:latin typeface="Times New Roman" pitchFamily="18" charset="0"/>
                <a:cs typeface="Angsana New" pitchFamily="18" charset="-34"/>
              </a:rPr>
              <a:t>nh ph</a:t>
            </a:r>
            <a:r>
              <a:rPr lang="th-TH" altLang="en-US" sz="1600">
                <a:latin typeface="Times New Roman" pitchFamily="18" charset="0"/>
                <a:cs typeface="Angsana New" pitchFamily="18" charset="-34"/>
              </a:rPr>
              <a:t>â</a:t>
            </a:r>
            <a:r>
              <a:rPr lang="en-US" altLang="en-US" sz="1600">
                <a:latin typeface="Times New Roman" pitchFamily="18" charset="0"/>
                <a:cs typeface="Angsana New" pitchFamily="18" charset="-34"/>
              </a:rPr>
              <a:t>n lo</a:t>
            </a:r>
            <a:r>
              <a:rPr lang="th-TH" altLang="en-US" sz="1600">
                <a:latin typeface="Times New Roman" pitchFamily="18" charset="0"/>
                <a:cs typeface="Angsana New" pitchFamily="18" charset="-34"/>
              </a:rPr>
              <a:t>ạ</a:t>
            </a:r>
            <a:r>
              <a:rPr lang="en-US" altLang="en-US" sz="1600">
                <a:latin typeface="Times New Roman" pitchFamily="18" charset="0"/>
                <a:cs typeface="Angsana New" pitchFamily="18" charset="-34"/>
              </a:rPr>
              <a:t>i/r</a:t>
            </a:r>
            <a:r>
              <a:rPr lang="th-TH" altLang="en-US" sz="1600">
                <a:latin typeface="Times New Roman" pitchFamily="18" charset="0"/>
                <a:cs typeface="Angsana New" pitchFamily="18" charset="-34"/>
              </a:rPr>
              <a:t>ờ</a:t>
            </a:r>
            <a:r>
              <a:rPr lang="en-US" altLang="en-US" sz="1600">
                <a:latin typeface="Times New Roman" pitchFamily="18" charset="0"/>
                <a:cs typeface="Angsana New" pitchFamily="18" charset="-34"/>
              </a:rPr>
              <a:t>i r</a:t>
            </a:r>
            <a:r>
              <a:rPr lang="th-TH" altLang="en-US" sz="1600">
                <a:latin typeface="Times New Roman" pitchFamily="18" charset="0"/>
                <a:cs typeface="Angsana New" pitchFamily="18" charset="-34"/>
              </a:rPr>
              <a:t>ạ</a:t>
            </a:r>
            <a:r>
              <a:rPr lang="en-US" altLang="en-US" sz="1600">
                <a:latin typeface="Times New Roman" pitchFamily="18" charset="0"/>
                <a:cs typeface="Angsana New" pitchFamily="18" charset="-34"/>
              </a:rPr>
              <a:t>c (categorical/discrete attributes): ch</a:t>
            </a:r>
            <a:r>
              <a:rPr lang="th-TH" altLang="en-US" sz="1600">
                <a:latin typeface="Times New Roman" pitchFamily="18" charset="0"/>
                <a:cs typeface="Angsana New" pitchFamily="18" charset="-34"/>
              </a:rPr>
              <a:t>ỉ</a:t>
            </a:r>
            <a:r>
              <a:rPr lang="en-US" altLang="en-US" sz="1600">
                <a:latin typeface="Times New Roman" pitchFamily="18" charset="0"/>
                <a:cs typeface="Angsana New" pitchFamily="18" charset="-34"/>
              </a:rPr>
              <a:t> </a:t>
            </a:r>
            <a:r>
              <a:rPr lang="th-TH" altLang="en-US" sz="1600">
                <a:latin typeface="Times New Roman" pitchFamily="18" charset="0"/>
                <a:cs typeface="Angsana New" pitchFamily="18" charset="-34"/>
              </a:rPr>
              <a:t>đị</a:t>
            </a:r>
            <a:r>
              <a:rPr lang="en-US" altLang="en-US" sz="1600">
                <a:latin typeface="Times New Roman" pitchFamily="18" charset="0"/>
                <a:cs typeface="Angsana New" pitchFamily="18" charset="-34"/>
              </a:rPr>
              <a:t>nh t</a:t>
            </a:r>
            <a:r>
              <a:rPr lang="th-TH" altLang="en-US" sz="1600">
                <a:latin typeface="Times New Roman" pitchFamily="18" charset="0"/>
                <a:cs typeface="Angsana New" pitchFamily="18" charset="-34"/>
              </a:rPr>
              <a:t>ườ</a:t>
            </a:r>
            <a:r>
              <a:rPr lang="en-US" altLang="en-US" sz="1600">
                <a:latin typeface="Times New Roman" pitchFamily="18" charset="0"/>
                <a:cs typeface="Angsana New" pitchFamily="18" charset="-34"/>
              </a:rPr>
              <a:t>ng minh b</a:t>
            </a:r>
            <a:r>
              <a:rPr lang="th-TH" altLang="en-US" sz="1600">
                <a:latin typeface="Times New Roman" pitchFamily="18" charset="0"/>
                <a:cs typeface="Angsana New" pitchFamily="18" charset="-34"/>
              </a:rPr>
              <a:t>ở</a:t>
            </a:r>
            <a:r>
              <a:rPr lang="en-US" altLang="en-US" sz="1600">
                <a:latin typeface="Times New Roman" pitchFamily="18" charset="0"/>
                <a:cs typeface="Angsana New" pitchFamily="18" charset="-34"/>
              </a:rPr>
              <a:t>i ng</a:t>
            </a:r>
            <a:r>
              <a:rPr lang="th-TH" altLang="en-US" sz="1600">
                <a:latin typeface="Times New Roman" pitchFamily="18" charset="0"/>
                <a:cs typeface="Angsana New" pitchFamily="18" charset="-34"/>
              </a:rPr>
              <a:t>ườ</a:t>
            </a:r>
            <a:r>
              <a:rPr lang="en-US" altLang="en-US" sz="1600">
                <a:latin typeface="Times New Roman" pitchFamily="18" charset="0"/>
                <a:cs typeface="Angsana New" pitchFamily="18" charset="-34"/>
              </a:rPr>
              <a:t>i s</a:t>
            </a:r>
            <a:r>
              <a:rPr lang="th-TH" altLang="en-US" sz="1600">
                <a:latin typeface="Times New Roman" pitchFamily="18" charset="0"/>
                <a:cs typeface="Angsana New" pitchFamily="18" charset="-34"/>
              </a:rPr>
              <a:t>ử</a:t>
            </a:r>
            <a:r>
              <a:rPr lang="en-US" altLang="en-US" sz="1600">
                <a:latin typeface="Times New Roman" pitchFamily="18" charset="0"/>
                <a:cs typeface="Angsana New" pitchFamily="18" charset="-34"/>
              </a:rPr>
              <a:t> d</a:t>
            </a:r>
            <a:r>
              <a:rPr lang="th-TH" altLang="en-US" sz="1600">
                <a:latin typeface="Times New Roman" pitchFamily="18" charset="0"/>
                <a:cs typeface="Angsana New" pitchFamily="18" charset="-34"/>
              </a:rPr>
              <a:t>ụ</a:t>
            </a:r>
            <a:r>
              <a:rPr lang="en-US" altLang="en-US" sz="1600">
                <a:latin typeface="Times New Roman" pitchFamily="18" charset="0"/>
                <a:cs typeface="Angsana New" pitchFamily="18" charset="-34"/>
              </a:rPr>
              <a:t>ng hay chuy</a:t>
            </a:r>
            <a:r>
              <a:rPr lang="th-TH" altLang="en-US" sz="1600">
                <a:latin typeface="Times New Roman" pitchFamily="18" charset="0"/>
                <a:cs typeface="Angsana New" pitchFamily="18" charset="-34"/>
              </a:rPr>
              <a:t>ê</a:t>
            </a:r>
            <a:r>
              <a:rPr lang="en-US" altLang="en-US" sz="1600">
                <a:latin typeface="Times New Roman" pitchFamily="18" charset="0"/>
                <a:cs typeface="Angsana New" pitchFamily="18" charset="-34"/>
              </a:rPr>
              <a:t>n gia, nh</a:t>
            </a:r>
            <a:r>
              <a:rPr lang="th-TH" altLang="en-US" sz="1600">
                <a:latin typeface="Times New Roman" pitchFamily="18" charset="0"/>
                <a:cs typeface="Angsana New" pitchFamily="18" charset="-34"/>
              </a:rPr>
              <a:t>ó</a:t>
            </a:r>
            <a:r>
              <a:rPr lang="en-US" altLang="en-US" sz="1600">
                <a:latin typeface="Times New Roman" pitchFamily="18" charset="0"/>
                <a:cs typeface="Angsana New" pitchFamily="18" charset="-34"/>
              </a:rPr>
              <a:t>m d</a:t>
            </a:r>
            <a:r>
              <a:rPr lang="th-TH" altLang="en-US" sz="1600">
                <a:latin typeface="Times New Roman" pitchFamily="18" charset="0"/>
                <a:cs typeface="Angsana New" pitchFamily="18" charset="-34"/>
              </a:rPr>
              <a:t>ữ</a:t>
            </a:r>
            <a:r>
              <a:rPr lang="en-US" altLang="en-US" sz="1600">
                <a:latin typeface="Times New Roman" pitchFamily="18" charset="0"/>
                <a:cs typeface="Angsana New" pitchFamily="18" charset="-34"/>
              </a:rPr>
              <a:t> li</a:t>
            </a:r>
            <a:r>
              <a:rPr lang="th-TH" altLang="en-US" sz="1600">
                <a:latin typeface="Times New Roman" pitchFamily="18" charset="0"/>
                <a:cs typeface="Angsana New" pitchFamily="18" charset="-34"/>
              </a:rPr>
              <a:t>ệ</a:t>
            </a:r>
            <a:r>
              <a:rPr lang="en-US" altLang="en-US" sz="1600">
                <a:latin typeface="Times New Roman" pitchFamily="18" charset="0"/>
                <a:cs typeface="Angsana New" pitchFamily="18" charset="-34"/>
              </a:rPr>
              <a:t>u t</a:t>
            </a:r>
            <a:r>
              <a:rPr lang="th-TH" altLang="en-US" sz="1600">
                <a:latin typeface="Times New Roman" pitchFamily="18" charset="0"/>
                <a:cs typeface="Angsana New" pitchFamily="18" charset="-34"/>
              </a:rPr>
              <a:t>ườ</a:t>
            </a:r>
            <a:r>
              <a:rPr lang="en-US" altLang="en-US" sz="1600">
                <a:latin typeface="Times New Roman" pitchFamily="18" charset="0"/>
                <a:cs typeface="Angsana New" pitchFamily="18" charset="-34"/>
              </a:rPr>
              <a:t>ng minh, d</a:t>
            </a:r>
            <a:r>
              <a:rPr lang="th-TH" altLang="en-US" sz="1600">
                <a:latin typeface="Times New Roman" pitchFamily="18" charset="0"/>
                <a:cs typeface="Angsana New" pitchFamily="18" charset="-34"/>
              </a:rPr>
              <a:t>ự</a:t>
            </a:r>
            <a:r>
              <a:rPr lang="en-US" altLang="en-US" sz="1600">
                <a:latin typeface="Times New Roman" pitchFamily="18" charset="0"/>
                <a:cs typeface="Angsana New" pitchFamily="18" charset="-34"/>
              </a:rPr>
              <a:t>a tr</a:t>
            </a:r>
            <a:r>
              <a:rPr lang="th-TH" altLang="en-US" sz="1600">
                <a:latin typeface="Times New Roman" pitchFamily="18" charset="0"/>
                <a:cs typeface="Angsana New" pitchFamily="18" charset="-34"/>
              </a:rPr>
              <a:t>ê</a:t>
            </a:r>
            <a:r>
              <a:rPr lang="en-US" altLang="en-US" sz="1600">
                <a:latin typeface="Times New Roman" pitchFamily="18" charset="0"/>
                <a:cs typeface="Angsana New" pitchFamily="18" charset="-34"/>
              </a:rPr>
              <a:t>n s</a:t>
            </a:r>
            <a:r>
              <a:rPr lang="th-TH" altLang="en-US" sz="1600">
                <a:latin typeface="Times New Roman" pitchFamily="18" charset="0"/>
                <a:cs typeface="Angsana New" pitchFamily="18" charset="-34"/>
              </a:rPr>
              <a:t>ố</a:t>
            </a:r>
            <a:r>
              <a:rPr lang="en-US" altLang="en-US" sz="1600">
                <a:latin typeface="Times New Roman" pitchFamily="18" charset="0"/>
                <a:cs typeface="Angsana New" pitchFamily="18" charset="-34"/>
              </a:rPr>
              <a:t> l</a:t>
            </a:r>
            <a:r>
              <a:rPr lang="th-TH" altLang="en-US" sz="1600">
                <a:latin typeface="Times New Roman" pitchFamily="18" charset="0"/>
                <a:cs typeface="Angsana New" pitchFamily="18" charset="-34"/>
              </a:rPr>
              <a:t>ượ</a:t>
            </a:r>
            <a:r>
              <a:rPr lang="en-US" altLang="en-US" sz="1600">
                <a:latin typeface="Times New Roman" pitchFamily="18" charset="0"/>
                <a:cs typeface="Angsana New" pitchFamily="18" charset="-34"/>
              </a:rPr>
              <a:t>ng tr</a:t>
            </a:r>
            <a:r>
              <a:rPr lang="th-TH" altLang="en-US" sz="1600">
                <a:latin typeface="Times New Roman" pitchFamily="18" charset="0"/>
                <a:cs typeface="Angsana New" pitchFamily="18" charset="-34"/>
              </a:rPr>
              <a:t>ị</a:t>
            </a:r>
            <a:r>
              <a:rPr lang="en-US" altLang="en-US" sz="1600">
                <a:latin typeface="Times New Roman" pitchFamily="18" charset="0"/>
                <a:cs typeface="Angsana New" pitchFamily="18" charset="-34"/>
              </a:rPr>
              <a:t> ph</a:t>
            </a:r>
            <a:r>
              <a:rPr lang="en-US" altLang="en-US" sz="1600">
                <a:latin typeface="Times New Roman" pitchFamily="18" charset="0"/>
              </a:rPr>
              <a:t>ân biệt (khác nhau)</a:t>
            </a:r>
            <a:r>
              <a:rPr lang="en-US" altLang="en-US" sz="1600">
                <a:latin typeface="Times New Roman" pitchFamily="18" charset="0"/>
                <a:cs typeface="Angsana New" pitchFamily="18" charset="-34"/>
              </a:rPr>
              <a:t> c</a:t>
            </a:r>
            <a:r>
              <a:rPr lang="th-TH" altLang="en-US" sz="1600">
                <a:latin typeface="Times New Roman" pitchFamily="18" charset="0"/>
                <a:cs typeface="Angsana New" pitchFamily="18" charset="-34"/>
              </a:rPr>
              <a:t>ủ</a:t>
            </a:r>
            <a:r>
              <a:rPr lang="en-US" altLang="en-US" sz="1600">
                <a:latin typeface="Times New Roman" pitchFamily="18" charset="0"/>
                <a:cs typeface="Angsana New" pitchFamily="18" charset="-34"/>
              </a:rPr>
              <a:t>a m</a:t>
            </a:r>
            <a:r>
              <a:rPr lang="th-TH" altLang="en-US" sz="1600">
                <a:latin typeface="Times New Roman" pitchFamily="18" charset="0"/>
                <a:cs typeface="Angsana New" pitchFamily="18" charset="-34"/>
              </a:rPr>
              <a:t>ỗ</a:t>
            </a:r>
            <a:r>
              <a:rPr lang="en-US" altLang="en-US" sz="1600">
                <a:latin typeface="Times New Roman" pitchFamily="18" charset="0"/>
                <a:cs typeface="Angsana New" pitchFamily="18" charset="-34"/>
              </a:rPr>
              <a:t>i thu</a:t>
            </a:r>
            <a:r>
              <a:rPr lang="th-TH" altLang="en-US" sz="1600">
                <a:latin typeface="Times New Roman" pitchFamily="18" charset="0"/>
                <a:cs typeface="Angsana New" pitchFamily="18" charset="-34"/>
              </a:rPr>
              <a:t>ộ</a:t>
            </a:r>
            <a:r>
              <a:rPr lang="en-US" altLang="en-US" sz="1600">
                <a:latin typeface="Times New Roman" pitchFamily="18" charset="0"/>
                <a:cs typeface="Angsana New" pitchFamily="18" charset="-34"/>
              </a:rPr>
              <a:t>c t</a:t>
            </a:r>
            <a:r>
              <a:rPr lang="th-TH" altLang="en-US" sz="1600">
                <a:latin typeface="Times New Roman" pitchFamily="18" charset="0"/>
                <a:cs typeface="Angsana New" pitchFamily="18" charset="-34"/>
              </a:rPr>
              <a:t>í</a:t>
            </a:r>
            <a:r>
              <a:rPr lang="en-US" altLang="en-US" sz="1600">
                <a:latin typeface="Times New Roman" pitchFamily="18" charset="0"/>
                <a:cs typeface="Angsana New" pitchFamily="18" charset="-34"/>
              </a:rPr>
              <a:t>nh</a:t>
            </a:r>
            <a:endParaRPr lang="th-TH" altLang="en-US" sz="1600">
              <a:latin typeface="Times New Roman" pitchFamily="18" charset="0"/>
              <a:cs typeface="Angsana New" pitchFamily="18" charset="-34"/>
            </a:endParaRPr>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6" name="Slide Number Placeholder 5"/>
          <p:cNvSpPr>
            <a:spLocks noGrp="1"/>
          </p:cNvSpPr>
          <p:nvPr>
            <p:ph type="sldNum" sz="quarter" idx="11"/>
          </p:nvPr>
        </p:nvSpPr>
        <p:spPr/>
        <p:txBody>
          <a:bodyPr/>
          <a:lstStyle/>
          <a:p>
            <a:fld id="{EFE5F65C-9DA1-48B7-909C-4BA1BC759F38}" type="slidenum">
              <a:rPr lang="en-US" altLang="en-US"/>
              <a:pPr/>
              <a:t>58</a:t>
            </a:fld>
            <a:endParaRPr lang="en-US" altLang="en-US"/>
          </a:p>
        </p:txBody>
      </p:sp>
      <p:sp>
        <p:nvSpPr>
          <p:cNvPr id="729090" name="Rectangle 2"/>
          <p:cNvSpPr>
            <a:spLocks noGrp="1" noChangeArrowheads="1"/>
          </p:cNvSpPr>
          <p:nvPr>
            <p:ph type="title"/>
          </p:nvPr>
        </p:nvSpPr>
        <p:spPr/>
        <p:txBody>
          <a:bodyPr/>
          <a:lstStyle/>
          <a:p>
            <a:r>
              <a:rPr lang="en-US" altLang="en-US" sz="3200"/>
              <a:t>2.9. Tóm tắt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997" y="1348370"/>
            <a:ext cx="11090638" cy="2708434"/>
          </a:xfrm>
        </p:spPr>
        <p:txBody>
          <a:bodyPr/>
          <a:lstStyle/>
          <a:p>
            <a:pPr marL="0" indent="0">
              <a:buNone/>
            </a:pPr>
            <a:r>
              <a:rPr lang="en-US" sz="2200" b="0" smtClean="0"/>
              <a:t>Cho </a:t>
            </a:r>
            <a:r>
              <a:rPr lang="en-US" sz="2200" b="0"/>
              <a:t>dữ liệu về một thuộc tính A của một tập 12 đối tượng như sau: 4, 6, 5, 9, 8, 1, 3, 2, 7, 10, 12, 11. Kết quả nào sau đây là hợp lý nhất khi thực hiện làm trơn dữ liệu (giảm thiểu nhiễu) với 3 bin có cùng số lượng đối tượng và sử dụng bin boundaries?</a:t>
            </a:r>
          </a:p>
          <a:p>
            <a:pPr marL="0" indent="0">
              <a:buNone/>
            </a:pPr>
            <a:r>
              <a:rPr lang="en-US" sz="2200" b="0"/>
              <a:t>a. bin 1: 4, 4, 9, 9; bin 2: 8, 8, 2, 2; bin 3: 7, 7, 11, 11 </a:t>
            </a:r>
          </a:p>
          <a:p>
            <a:pPr marL="0" indent="0">
              <a:buNone/>
            </a:pPr>
            <a:r>
              <a:rPr lang="en-US" sz="2200" b="0"/>
              <a:t>b. bin 1: 1, 1, 4, 4; bin 2: 5, 5, 8, 8; bin 3: 9, 9, 12, 12 </a:t>
            </a:r>
          </a:p>
          <a:p>
            <a:pPr marL="0" indent="0">
              <a:buNone/>
            </a:pPr>
            <a:r>
              <a:rPr lang="en-US" sz="2200" b="0"/>
              <a:t>c. bin 1: 4, 4, 9, 9; bin 2: 1, 1, 8, 8; bin 3: 7, 7, 12, 12 </a:t>
            </a:r>
          </a:p>
          <a:p>
            <a:pPr marL="0" indent="0">
              <a:buNone/>
            </a:pPr>
            <a:r>
              <a:rPr lang="en-US" sz="2200" b="0"/>
              <a:t>d. bin 1: 4, 6, 6, 9; bin 2: 8, 3, 3, 2; bin 3: 7, 10, 10, 11</a:t>
            </a:r>
          </a:p>
          <a:p>
            <a:pPr marL="0" indent="0">
              <a:buNone/>
            </a:pPr>
            <a:r>
              <a:rPr lang="en-US" sz="2200" b="0"/>
              <a:t>e. Ý kiến khác.</a:t>
            </a:r>
          </a:p>
        </p:txBody>
      </p:sp>
      <p:sp>
        <p:nvSpPr>
          <p:cNvPr id="4" name="Footer Placeholder 3"/>
          <p:cNvSpPr>
            <a:spLocks noGrp="1"/>
          </p:cNvSpPr>
          <p:nvPr>
            <p:ph type="ftr" sz="quarter" idx="10"/>
          </p:nvPr>
        </p:nvSpPr>
        <p:spPr/>
        <p:txBody>
          <a:bodyPr/>
          <a:lstStyle/>
          <a:p>
            <a:pPr>
              <a:defRPr/>
            </a:pPr>
            <a:endParaRPr lang="en-GB"/>
          </a:p>
        </p:txBody>
      </p:sp>
      <p:sp>
        <p:nvSpPr>
          <p:cNvPr id="5" name="Slide Number Placeholder 4"/>
          <p:cNvSpPr>
            <a:spLocks noGrp="1"/>
          </p:cNvSpPr>
          <p:nvPr>
            <p:ph type="sldNum" sz="quarter" idx="11"/>
          </p:nvPr>
        </p:nvSpPr>
        <p:spPr/>
        <p:txBody>
          <a:bodyPr/>
          <a:lstStyle/>
          <a:p>
            <a:pPr>
              <a:defRPr/>
            </a:pPr>
            <a:fld id="{BA96EB09-284B-4D3F-8D29-2BCC08F775DC}" type="slidenum">
              <a:rPr lang="en-GB" smtClean="0"/>
              <a:pPr>
                <a:defRPr/>
              </a:pPr>
              <a:t>59</a:t>
            </a:fld>
            <a:endParaRPr lang="en-GB"/>
          </a:p>
        </p:txBody>
      </p:sp>
      <p:sp>
        <p:nvSpPr>
          <p:cNvPr id="6" name="Date Placeholder 5"/>
          <p:cNvSpPr>
            <a:spLocks noGrp="1"/>
          </p:cNvSpPr>
          <p:nvPr>
            <p:ph type="dt" sz="half" idx="12"/>
          </p:nvPr>
        </p:nvSpPr>
        <p:spPr/>
        <p:txBody>
          <a:bodyPr/>
          <a:lstStyle/>
          <a:p>
            <a:pPr>
              <a:defRPr/>
            </a:pPr>
            <a:fld id="{C9009468-FF18-4B4A-9389-1B19CDFADB26}" type="datetime1">
              <a:rPr lang="en-US" smtClean="0"/>
              <a:t>14-Aug-25</a:t>
            </a:fld>
            <a:endParaRPr lang="en-GB"/>
          </a:p>
        </p:txBody>
      </p:sp>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3679209186"/>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997" y="1348370"/>
            <a:ext cx="11090638" cy="4062651"/>
          </a:xfrm>
        </p:spPr>
        <p:txBody>
          <a:bodyPr/>
          <a:lstStyle/>
          <a:p>
            <a:pPr marL="0" indent="0">
              <a:buNone/>
            </a:pPr>
            <a:r>
              <a:rPr lang="en-US" sz="2200" b="0"/>
              <a:t>Cho dữ liệu về một thuộc tính A của một tập 20 đối tượng như sau: 4, 9, 6, 4, 5, 9, 15, 8, 1, 1, 3, 13, 2, 7, 10, 9, 12, 11, 14, 16. Kết quả rời rạc hóa với 4 đoạn (interval) nào sau đây là kết quả của phương pháp historam analysis dùng equal width?</a:t>
            </a:r>
          </a:p>
          <a:p>
            <a:pPr marL="0" indent="0">
              <a:buNone/>
            </a:pPr>
            <a:r>
              <a:rPr lang="en-US" sz="2200" b="0"/>
              <a:t>a. Interval 1 = [4, 5] gồm: 4, 9, 6, 4, 5; Interval 2 = [9, 1] gồm: 9, 15, 8, 1, 1; Interval 3 = [3, 10] gồm: 3, 13, 2, 7, 10; Interval 4 = [9, 16] gồm: 9, 12, 11, 14, 16.</a:t>
            </a:r>
          </a:p>
          <a:p>
            <a:pPr marL="0" indent="0">
              <a:buNone/>
            </a:pPr>
            <a:r>
              <a:rPr lang="en-US" sz="2200" b="0"/>
              <a:t>b. Interval 1 = [1, 4] gồm: 1, 1, 2, 3, 4; Interval 2 = [4, 8] gồm: 4, 5, 6, 7, 8; Interval 3 = [9, 11] gồm: 9, 9, 9, 10, 11; Interval 4 = [12, 16] gồm: 12, 13, 14, 15, 16.</a:t>
            </a:r>
          </a:p>
          <a:p>
            <a:pPr marL="0" indent="0">
              <a:buNone/>
            </a:pPr>
            <a:r>
              <a:rPr lang="en-US" sz="2200" b="0"/>
              <a:t>c. Interval 1 = [1, 4] gồm: 1, 1, 2, 3, 4, 4; Interval 2 = [5, 8] gồm: 5, 6, 7, 8; Interval 3 = [9, 12] gồm: 9, 9, 9, 10, 11, 12; Interval 4 = [13, 16] gồm: 13, 14, 15, 16.</a:t>
            </a:r>
          </a:p>
          <a:p>
            <a:pPr marL="0" indent="0">
              <a:buNone/>
            </a:pPr>
            <a:r>
              <a:rPr lang="en-US" sz="2200" b="0"/>
              <a:t>d. Interval 1 = [4, 9] gồm: 4, 4, 5, 6, 9; Interval 2 = [1, 15] gồm: 1, 1, 8, 9, 15; Interval 3 = [2, 13] gồm: 2, 3, 7, 10, 13; Interval 4 = [9, 16] gồm: 9, 11, 12, 14, 16.</a:t>
            </a:r>
          </a:p>
          <a:p>
            <a:pPr marL="0" indent="0">
              <a:buNone/>
            </a:pPr>
            <a:r>
              <a:rPr lang="en-US" sz="2200" b="0"/>
              <a:t>e. Ý kiến khác.</a:t>
            </a:r>
          </a:p>
        </p:txBody>
      </p:sp>
      <p:sp>
        <p:nvSpPr>
          <p:cNvPr id="4" name="Footer Placeholder 3"/>
          <p:cNvSpPr>
            <a:spLocks noGrp="1"/>
          </p:cNvSpPr>
          <p:nvPr>
            <p:ph type="ftr" sz="quarter" idx="10"/>
          </p:nvPr>
        </p:nvSpPr>
        <p:spPr/>
        <p:txBody>
          <a:bodyPr/>
          <a:lstStyle/>
          <a:p>
            <a:pPr>
              <a:defRPr/>
            </a:pPr>
            <a:endParaRPr lang="en-GB"/>
          </a:p>
        </p:txBody>
      </p:sp>
      <p:sp>
        <p:nvSpPr>
          <p:cNvPr id="5" name="Slide Number Placeholder 4"/>
          <p:cNvSpPr>
            <a:spLocks noGrp="1"/>
          </p:cNvSpPr>
          <p:nvPr>
            <p:ph type="sldNum" sz="quarter" idx="11"/>
          </p:nvPr>
        </p:nvSpPr>
        <p:spPr/>
        <p:txBody>
          <a:bodyPr/>
          <a:lstStyle/>
          <a:p>
            <a:pPr>
              <a:defRPr/>
            </a:pPr>
            <a:fld id="{BA96EB09-284B-4D3F-8D29-2BCC08F775DC}" type="slidenum">
              <a:rPr lang="en-GB" smtClean="0"/>
              <a:pPr>
                <a:defRPr/>
              </a:pPr>
              <a:t>60</a:t>
            </a:fld>
            <a:endParaRPr lang="en-GB"/>
          </a:p>
        </p:txBody>
      </p:sp>
      <p:sp>
        <p:nvSpPr>
          <p:cNvPr id="6" name="Date Placeholder 5"/>
          <p:cNvSpPr>
            <a:spLocks noGrp="1"/>
          </p:cNvSpPr>
          <p:nvPr>
            <p:ph type="dt" sz="half" idx="12"/>
          </p:nvPr>
        </p:nvSpPr>
        <p:spPr/>
        <p:txBody>
          <a:bodyPr/>
          <a:lstStyle/>
          <a:p>
            <a:pPr>
              <a:defRPr/>
            </a:pPr>
            <a:fld id="{C9009468-FF18-4B4A-9389-1B19CDFADB26}" type="datetime1">
              <a:rPr lang="en-US" smtClean="0"/>
              <a:t>14-Aug-25</a:t>
            </a:fld>
            <a:endParaRPr lang="en-GB"/>
          </a:p>
        </p:txBody>
      </p:sp>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197254921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997" y="1348370"/>
            <a:ext cx="11090638" cy="2708434"/>
          </a:xfrm>
        </p:spPr>
        <p:txBody>
          <a:bodyPr/>
          <a:lstStyle/>
          <a:p>
            <a:pPr marL="0" indent="0">
              <a:buNone/>
            </a:pPr>
            <a:r>
              <a:rPr lang="en-US" sz="2200" b="0"/>
              <a:t>Những vấn đề nào có thể gặp phải khi tích hợp dữ liệu từ nhiều nguồn dữ liệu khác nhau vào một kho dữ liệu tập trung?</a:t>
            </a:r>
          </a:p>
          <a:p>
            <a:pPr marL="0" indent="0">
              <a:buNone/>
            </a:pPr>
            <a:r>
              <a:rPr lang="en-US" sz="2200" b="0"/>
              <a:t>a. Dư thừa dữ liệu do khả năng dẫn xuất ra nhau giữa dữ liệu của các thuộc tính.</a:t>
            </a:r>
          </a:p>
          <a:p>
            <a:pPr marL="0" indent="0">
              <a:buNone/>
            </a:pPr>
            <a:r>
              <a:rPr lang="en-US" sz="2200" b="0"/>
              <a:t>b. Không nhất quán về việc biểu diễn dữ liệu, cấu trúc và ngữ nghĩa của dữ liệu, đơn vị đo lường dữ liệu, mã hóa dữ liệu.</a:t>
            </a:r>
          </a:p>
          <a:p>
            <a:pPr marL="0" indent="0">
              <a:buNone/>
            </a:pPr>
            <a:r>
              <a:rPr lang="en-US" sz="2200" b="0"/>
              <a:t>c. Trùng lắp dữ liệu.</a:t>
            </a:r>
          </a:p>
          <a:p>
            <a:pPr marL="0" indent="0">
              <a:buNone/>
            </a:pPr>
            <a:r>
              <a:rPr lang="en-US" sz="2200" b="0"/>
              <a:t>d. Giảm độ chính xác của dữ liệu. </a:t>
            </a:r>
          </a:p>
          <a:p>
            <a:pPr marL="0" indent="0">
              <a:buNone/>
            </a:pPr>
            <a:r>
              <a:rPr lang="en-US" sz="2200" b="0"/>
              <a:t>e. Ý kiến khác.</a:t>
            </a:r>
          </a:p>
        </p:txBody>
      </p:sp>
      <p:sp>
        <p:nvSpPr>
          <p:cNvPr id="4" name="Footer Placeholder 3"/>
          <p:cNvSpPr>
            <a:spLocks noGrp="1"/>
          </p:cNvSpPr>
          <p:nvPr>
            <p:ph type="ftr" sz="quarter" idx="10"/>
          </p:nvPr>
        </p:nvSpPr>
        <p:spPr/>
        <p:txBody>
          <a:bodyPr/>
          <a:lstStyle/>
          <a:p>
            <a:pPr>
              <a:defRPr/>
            </a:pPr>
            <a:endParaRPr lang="en-GB"/>
          </a:p>
        </p:txBody>
      </p:sp>
      <p:sp>
        <p:nvSpPr>
          <p:cNvPr id="5" name="Slide Number Placeholder 4"/>
          <p:cNvSpPr>
            <a:spLocks noGrp="1"/>
          </p:cNvSpPr>
          <p:nvPr>
            <p:ph type="sldNum" sz="quarter" idx="11"/>
          </p:nvPr>
        </p:nvSpPr>
        <p:spPr/>
        <p:txBody>
          <a:bodyPr/>
          <a:lstStyle/>
          <a:p>
            <a:pPr>
              <a:defRPr/>
            </a:pPr>
            <a:fld id="{BA96EB09-284B-4D3F-8D29-2BCC08F775DC}" type="slidenum">
              <a:rPr lang="en-GB" smtClean="0"/>
              <a:pPr>
                <a:defRPr/>
              </a:pPr>
              <a:t>61</a:t>
            </a:fld>
            <a:endParaRPr lang="en-GB"/>
          </a:p>
        </p:txBody>
      </p:sp>
      <p:sp>
        <p:nvSpPr>
          <p:cNvPr id="6" name="Date Placeholder 5"/>
          <p:cNvSpPr>
            <a:spLocks noGrp="1"/>
          </p:cNvSpPr>
          <p:nvPr>
            <p:ph type="dt" sz="half" idx="12"/>
          </p:nvPr>
        </p:nvSpPr>
        <p:spPr/>
        <p:txBody>
          <a:bodyPr/>
          <a:lstStyle/>
          <a:p>
            <a:pPr>
              <a:defRPr/>
            </a:pPr>
            <a:fld id="{C9009468-FF18-4B4A-9389-1B19CDFADB26}" type="datetime1">
              <a:rPr lang="en-US" smtClean="0"/>
              <a:t>14-Aug-25</a:t>
            </a:fld>
            <a:endParaRPr lang="en-GB"/>
          </a:p>
        </p:txBody>
      </p:sp>
      <p:sp>
        <p:nvSpPr>
          <p:cNvPr id="7" name="Title 6"/>
          <p:cNvSpPr>
            <a:spLocks noGrp="1"/>
          </p:cNvSpPr>
          <p:nvPr>
            <p:ph type="title"/>
          </p:nvPr>
        </p:nvSpPr>
        <p:spPr/>
        <p:txBody>
          <a:bodyPr/>
          <a:lstStyle/>
          <a:p>
            <a:endParaRPr lang="en-US"/>
          </a:p>
        </p:txBody>
      </p:sp>
    </p:spTree>
    <p:extLst>
      <p:ext uri="{BB962C8B-B14F-4D97-AF65-F5344CB8AC3E}">
        <p14:creationId xmlns:p14="http://schemas.microsoft.com/office/powerpoint/2010/main" val="20047355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sp>
        <p:nvSpPr>
          <p:cNvPr id="2" name="Footer Placeholder 1"/>
          <p:cNvSpPr>
            <a:spLocks noGrp="1"/>
          </p:cNvSpPr>
          <p:nvPr>
            <p:ph type="ftr" sz="quarter" idx="10"/>
          </p:nvPr>
        </p:nvSpPr>
        <p:spPr/>
        <p:txBody>
          <a:bodyPr/>
          <a:lstStyle/>
          <a:p>
            <a:r>
              <a:rPr lang="en-US" altLang="en-US"/>
              <a:t>Tiền xử lý dữ liệu</a:t>
            </a:r>
          </a:p>
        </p:txBody>
      </p:sp>
      <p:sp>
        <p:nvSpPr>
          <p:cNvPr id="5" name="Slide Number Placeholder 5"/>
          <p:cNvSpPr>
            <a:spLocks noGrp="1"/>
          </p:cNvSpPr>
          <p:nvPr>
            <p:ph type="sldNum" sz="quarter" idx="11"/>
          </p:nvPr>
        </p:nvSpPr>
        <p:spPr/>
        <p:txBody>
          <a:bodyPr/>
          <a:lstStyle/>
          <a:p>
            <a:fld id="{92AAFD10-F562-444E-BE38-6D8431AAFAB6}" type="slidenum">
              <a:rPr lang="en-US" altLang="en-US"/>
              <a:pPr/>
              <a:t>62</a:t>
            </a:fld>
            <a:endParaRPr lang="en-US" altLang="en-US"/>
          </a:p>
        </p:txBody>
      </p:sp>
      <p:sp>
        <p:nvSpPr>
          <p:cNvPr id="21506" name="Rectangle 2"/>
          <p:cNvSpPr>
            <a:spLocks noGrp="1" noChangeArrowheads="1"/>
          </p:cNvSpPr>
          <p:nvPr>
            <p:ph type="title"/>
          </p:nvPr>
        </p:nvSpPr>
        <p:spPr/>
        <p:txBody>
          <a:bodyPr/>
          <a:lstStyle/>
          <a:p>
            <a:pPr algn="ctr"/>
            <a:r>
              <a:rPr lang="en-US" altLang="en-US">
                <a:effectLst>
                  <a:outerShdw blurRad="38100" dist="38100" dir="2700000" algn="tl">
                    <a:srgbClr val="C0C0C0"/>
                  </a:outerShdw>
                </a:effectLst>
              </a:rPr>
              <a:t>Hỏi &amp; Đáp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checkerboard(across)">
                                      <p:cBhvr>
                                        <p:cTn id="7" dur="500"/>
                                        <p:tgtEl>
                                          <p:spTgt spid="215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p:bldLst>
  </p:timing>
</p:sld>
</file>

<file path=ppt/theme/theme1.xml><?xml version="1.0" encoding="utf-8"?>
<a:theme xmlns:a="http://schemas.openxmlformats.org/drawingml/2006/main" name="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heme1" id="{AD38819A-F5E4-4B9C-8265-4C0447E0A9CF}" vid="{5315DFD1-2469-43F3-9BC7-52BFC0B94746}"/>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730</TotalTime>
  <Words>5779</Words>
  <Application>Microsoft Office PowerPoint</Application>
  <PresentationFormat>Widescreen</PresentationFormat>
  <Paragraphs>630</Paragraphs>
  <Slides>62</Slides>
  <Notes>27</Notes>
  <HiddenSlides>0</HiddenSlides>
  <MMClips>0</MMClips>
  <ScaleCrop>false</ScaleCrop>
  <HeadingPairs>
    <vt:vector size="8" baseType="variant">
      <vt:variant>
        <vt:lpstr>Fonts Used</vt:lpstr>
      </vt:variant>
      <vt:variant>
        <vt:i4>14</vt:i4>
      </vt:variant>
      <vt:variant>
        <vt:lpstr>Theme</vt:lpstr>
      </vt:variant>
      <vt:variant>
        <vt:i4>1</vt:i4>
      </vt:variant>
      <vt:variant>
        <vt:lpstr>Embedded OLE Servers</vt:lpstr>
      </vt:variant>
      <vt:variant>
        <vt:i4>1</vt:i4>
      </vt:variant>
      <vt:variant>
        <vt:lpstr>Slide Titles</vt:lpstr>
      </vt:variant>
      <vt:variant>
        <vt:i4>62</vt:i4>
      </vt:variant>
    </vt:vector>
  </HeadingPairs>
  <TitlesOfParts>
    <vt:vector size="78" baseType="lpstr">
      <vt:lpstr>Arial Unicode MS</vt:lpstr>
      <vt:lpstr>Angsana New</vt:lpstr>
      <vt:lpstr>Arial</vt:lpstr>
      <vt:lpstr>Calibri</vt:lpstr>
      <vt:lpstr>Cambria Math</vt:lpstr>
      <vt:lpstr>Impact</vt:lpstr>
      <vt:lpstr>Montserrat</vt:lpstr>
      <vt:lpstr>Montserrat ExtraBold</vt:lpstr>
      <vt:lpstr>Symbol</vt:lpstr>
      <vt:lpstr>Tahoma</vt:lpstr>
      <vt:lpstr>Times New Roman</vt:lpstr>
      <vt:lpstr>Verdana</vt:lpstr>
      <vt:lpstr>Wingdings</vt:lpstr>
      <vt:lpstr>Wingdings 2</vt:lpstr>
      <vt:lpstr>Theme1</vt:lpstr>
      <vt:lpstr>Equation</vt:lpstr>
      <vt:lpstr>PowerPoint Presentation</vt:lpstr>
      <vt:lpstr>Nội dung</vt:lpstr>
      <vt:lpstr>Tài liệu tham khảo</vt:lpstr>
      <vt:lpstr>2.1. Tổng quan về giai đoạn tiền xử lý dữ liệu</vt:lpstr>
      <vt:lpstr>2.1. Tổng quan về giai đoạn tiền xử lý dữ liệu</vt:lpstr>
      <vt:lpstr>2.1. Tổng quan về giai đoạn tiền xử lý dữ liệu</vt:lpstr>
      <vt:lpstr>2.1. Tổng quan về giai đoạn tiền xử lý dữ liệu</vt:lpstr>
      <vt:lpstr>2.1. Tổng quan về giai đoạn tiền xử lý dữ liệu</vt:lpstr>
      <vt:lpstr>2.1. Tổng quan về giai đoạn tiền xử lý dữ liệu</vt:lpstr>
      <vt:lpstr>2.1. Tổng quan về giai đoạn tiền xử lý dữ liệu</vt:lpstr>
      <vt:lpstr>2.2. Tóm tắt mô tả về dữ liệu</vt:lpstr>
      <vt:lpstr>2.2. Tóm tắt mô tả về dữ liệu</vt:lpstr>
      <vt:lpstr>2.2. Tóm tắt mô tả về dữ liệu</vt:lpstr>
      <vt:lpstr>2.2. Tóm tắt mô tả về dữ liệu</vt:lpstr>
      <vt:lpstr>2.2. Tóm tắt mô tả về dữ liệu</vt:lpstr>
      <vt:lpstr>2. Hiểu dữ liệu</vt:lpstr>
      <vt:lpstr>2.2. Tóm tắt mô tả về dữ liệu</vt:lpstr>
      <vt:lpstr>2.3. Làm sạch dữ liệu</vt:lpstr>
      <vt:lpstr>2.3. Làm sạch dữ liệu</vt:lpstr>
      <vt:lpstr>2.3. Làm sạch dữ liệu</vt:lpstr>
      <vt:lpstr>2.3. Làm sạch dữ liệu</vt:lpstr>
      <vt:lpstr>2.3. Làm sạch dữ liệu</vt:lpstr>
      <vt:lpstr>2.3. Làm sạch dữ liệu</vt:lpstr>
      <vt:lpstr>2.3. Làm sạch dữ liệu</vt:lpstr>
      <vt:lpstr>2.3. Làm sạch dữ liệu</vt:lpstr>
      <vt:lpstr>2.3. Làm sạch dữ liệu</vt:lpstr>
      <vt:lpstr>2.4. Tích hợp dữ liệu</vt:lpstr>
      <vt:lpstr>2.4. Tích hợp dữ liệu</vt:lpstr>
      <vt:lpstr>2.4. Tích hợp dữ liệu</vt:lpstr>
      <vt:lpstr>2.4. Tích hợp dữ liệu</vt:lpstr>
      <vt:lpstr>2.4. Tích hợp dữ liệu</vt:lpstr>
      <vt:lpstr>2.4. Tích hợp dữ liệu</vt:lpstr>
      <vt:lpstr>2.4. Tích hợp dữ liệu</vt:lpstr>
      <vt:lpstr>2.4. Tích hợp dữ liệu</vt:lpstr>
      <vt:lpstr>2.4. Tích hợp dữ liệu</vt:lpstr>
      <vt:lpstr>2.5. Biến đổi dữ liệu</vt:lpstr>
      <vt:lpstr>2.5. Biến đổi dữ liệu</vt:lpstr>
      <vt:lpstr>2.5. Biến đổi dữ liệu</vt:lpstr>
      <vt:lpstr>2.5. Biến đổi dữ liệu</vt:lpstr>
      <vt:lpstr>2.5. Biến đổi dữ liệu</vt:lpstr>
      <vt:lpstr>2.5. Biến đổi dữ liệu</vt:lpstr>
      <vt:lpstr>2.5. Biến đổi dữ liệu</vt:lpstr>
      <vt:lpstr>2.5. Biến đổi dữ liệu</vt:lpstr>
      <vt:lpstr>2.5. Biến đổi dữ liệu</vt:lpstr>
      <vt:lpstr>2.6. Thu giảm dữ liệu</vt:lpstr>
      <vt:lpstr>2.6. Thu giảm dữ liệu</vt:lpstr>
      <vt:lpstr>2.6. Thu giảm dữ liệu</vt:lpstr>
      <vt:lpstr>2.6. Thu giảm dữ liệu</vt:lpstr>
      <vt:lpstr>2.6. Thu giảm dữ liệu</vt:lpstr>
      <vt:lpstr>2.6. Thu giảm dữ liệu</vt:lpstr>
      <vt:lpstr>2.7. Rời rạc hóa dữ liệu</vt:lpstr>
      <vt:lpstr>2.7. Rời rạc hóa dữ liệu</vt:lpstr>
      <vt:lpstr>2.7. Rời rạc hóa dữ liệu</vt:lpstr>
      <vt:lpstr>2.8. Tạo cây phân cấp ý niệm</vt:lpstr>
      <vt:lpstr>2.8. Tạo cây phân cấp ý niệm</vt:lpstr>
      <vt:lpstr>2.8. Tạo cây phân cấp ý niệm</vt:lpstr>
      <vt:lpstr>2.9. Tóm tắt</vt:lpstr>
      <vt:lpstr>2.9. Tóm tắt</vt:lpstr>
      <vt:lpstr>PowerPoint Presentation</vt:lpstr>
      <vt:lpstr>PowerPoint Presentation</vt:lpstr>
      <vt:lpstr>PowerPoint Presentation</vt:lpstr>
      <vt:lpstr>Hỏi &amp; Đáp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MINING</dc:title>
  <dc:subject>Tin hoc dai cuong</dc:subject>
  <dc:creator>ndhung</dc:creator>
  <cp:lastModifiedBy>Lê Nhung</cp:lastModifiedBy>
  <cp:revision>45</cp:revision>
  <dcterms:created xsi:type="dcterms:W3CDTF">2015-10-03T15:19:14Z</dcterms:created>
  <dcterms:modified xsi:type="dcterms:W3CDTF">2025-08-14T04:57:08Z</dcterms:modified>
</cp:coreProperties>
</file>