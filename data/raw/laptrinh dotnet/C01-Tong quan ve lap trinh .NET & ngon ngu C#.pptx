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07" r:id="rId4"/>
    <p:sldId id="308" r:id="rId5"/>
    <p:sldId id="284" r:id="rId6"/>
    <p:sldId id="309" r:id="rId7"/>
    <p:sldId id="258" r:id="rId8"/>
    <p:sldId id="310" r:id="rId9"/>
    <p:sldId id="311" r:id="rId10"/>
    <p:sldId id="312" r:id="rId11"/>
    <p:sldId id="313" r:id="rId12"/>
    <p:sldId id="293" r:id="rId13"/>
    <p:sldId id="294" r:id="rId14"/>
    <p:sldId id="295" r:id="rId15"/>
    <p:sldId id="296" r:id="rId16"/>
    <p:sldId id="297" r:id="rId17"/>
    <p:sldId id="260" r:id="rId18"/>
    <p:sldId id="261" r:id="rId19"/>
    <p:sldId id="262" r:id="rId20"/>
    <p:sldId id="263" r:id="rId21"/>
    <p:sldId id="305" r:id="rId22"/>
    <p:sldId id="306" r:id="rId23"/>
    <p:sldId id="264" r:id="rId24"/>
    <p:sldId id="265" r:id="rId25"/>
    <p:sldId id="26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6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786058"/>
            <a:ext cx="10363200" cy="1470025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00008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47880" y="4286256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400" i="1">
                <a:solidFill>
                  <a:srgbClr val="7A1D00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4F2F5-34E6-4E38-8F0D-DF764A7EA461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B10CE-0A6F-417F-8E2A-091FE9C7CAA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Content Placeholder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36" b="29726"/>
          <a:stretch/>
        </p:blipFill>
        <p:spPr bwMode="auto">
          <a:xfrm>
            <a:off x="0" y="2153"/>
            <a:ext cx="12192000" cy="1561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9422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39" y="71414"/>
            <a:ext cx="10972800" cy="1143000"/>
          </a:xfrm>
        </p:spPr>
        <p:txBody>
          <a:bodyPr>
            <a:normAutofit/>
          </a:bodyPr>
          <a:lstStyle>
            <a:lvl1pPr algn="r">
              <a:defRPr sz="3600" b="1">
                <a:solidFill>
                  <a:srgbClr val="0070C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57298"/>
            <a:ext cx="10972800" cy="4929222"/>
          </a:xfrm>
        </p:spPr>
        <p:txBody>
          <a:bodyPr/>
          <a:lstStyle>
            <a:lvl1pPr>
              <a:lnSpc>
                <a:spcPct val="130000"/>
              </a:lnSpc>
              <a:spcBef>
                <a:spcPts val="600"/>
              </a:spcBef>
              <a:buClr>
                <a:srgbClr val="0070C0"/>
              </a:buClr>
              <a:buSzPct val="140000"/>
              <a:buFont typeface="Wingdings" pitchFamily="2" charset="2"/>
              <a:buChar char="§"/>
              <a:defRPr sz="2800">
                <a:solidFill>
                  <a:srgbClr val="7A1D00"/>
                </a:solidFill>
                <a:latin typeface="Arial" pitchFamily="34" charset="0"/>
                <a:cs typeface="Arial" pitchFamily="34" charset="0"/>
              </a:defRPr>
            </a:lvl1pPr>
            <a:lvl2pPr>
              <a:lnSpc>
                <a:spcPct val="130000"/>
              </a:lnSpc>
              <a:spcBef>
                <a:spcPts val="600"/>
              </a:spcBef>
              <a:buClr>
                <a:srgbClr val="00C85A"/>
              </a:buClr>
              <a:buSzPct val="100000"/>
              <a:buFont typeface="Calibri" pitchFamily="34" charset="0"/>
              <a:buChar char="●"/>
              <a:defRPr sz="2400">
                <a:latin typeface="Arial" pitchFamily="34" charset="0"/>
                <a:cs typeface="Arial" pitchFamily="34" charset="0"/>
              </a:defRPr>
            </a:lvl2pPr>
            <a:lvl3pPr>
              <a:lnSpc>
                <a:spcPct val="130000"/>
              </a:lnSpc>
              <a:spcBef>
                <a:spcPts val="600"/>
              </a:spcBef>
              <a:buClr>
                <a:srgbClr val="FF0000"/>
              </a:buClr>
              <a:buFont typeface="Arial" pitchFamily="34" charset="0"/>
              <a:buChar char="▪"/>
              <a:defRPr sz="200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  <a:lvl5pPr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29377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1384F2F5-34E6-4E38-8F0D-DF764A7EA461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29377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29377"/>
            <a:ext cx="2844800" cy="365125"/>
          </a:xfrm>
        </p:spPr>
        <p:txBody>
          <a:bodyPr/>
          <a:lstStyle/>
          <a:p>
            <a:fld id="{242B10CE-0A6F-417F-8E2A-091FE9C7CAA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666712" y="1042518"/>
            <a:ext cx="10858576" cy="1588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66712" y="6455704"/>
            <a:ext cx="10858576" cy="1588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8839DB0D-FC52-0122-DA31-CA3C5D051F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611027" cy="4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0632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4F2F5-34E6-4E38-8F0D-DF764A7EA461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B10CE-0A6F-417F-8E2A-091FE9C7C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296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4F2F5-34E6-4E38-8F0D-DF764A7EA461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B10CE-0A6F-417F-8E2A-091FE9C7C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337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4F2F5-34E6-4E38-8F0D-DF764A7EA461}" type="datetimeFigureOut">
              <a:rPr lang="en-US" smtClean="0"/>
              <a:t>1/6/26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B10CE-0A6F-417F-8E2A-091FE9C7C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584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4F2F5-34E6-4E38-8F0D-DF764A7EA461}" type="datetimeFigureOut">
              <a:rPr lang="en-US" smtClean="0"/>
              <a:t>1/6/26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B10CE-0A6F-417F-8E2A-091FE9C7C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143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4F2F5-34E6-4E38-8F0D-DF764A7EA461}" type="datetimeFigureOut">
              <a:rPr lang="en-US" smtClean="0"/>
              <a:t>1/6/26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B10CE-0A6F-417F-8E2A-091FE9C7C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460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4F2F5-34E6-4E38-8F0D-DF764A7EA461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B10CE-0A6F-417F-8E2A-091FE9C7C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522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4F2F5-34E6-4E38-8F0D-DF764A7EA461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B10CE-0A6F-417F-8E2A-091FE9C7C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117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4F2F5-34E6-4E38-8F0D-DF764A7EA461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B10CE-0A6F-417F-8E2A-091FE9C7C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752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4F2F5-34E6-4E38-8F0D-DF764A7EA461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B10CE-0A6F-417F-8E2A-091FE9C7C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276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84F2F5-34E6-4E38-8F0D-DF764A7EA461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B10CE-0A6F-417F-8E2A-091FE9C7C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096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F014F-E885-4422-925F-45D6F5E45B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Chương</a:t>
            </a:r>
            <a:r>
              <a:rPr lang="en-US" dirty="0"/>
              <a:t>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A05D38-FE1E-43DD-A829-1D88D86EDF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.NET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c#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904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692AC-77EC-4909-A315-6BF5E404D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58A4E-E316-47D4-935A-203E937D2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.NET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VN" sz="2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Microsoft Visual Studio</a:t>
            </a:r>
          </a:p>
          <a:p>
            <a:pPr marL="514350" indent="-514350">
              <a:buFont typeface="+mj-lt"/>
              <a:buAutoNum type="arabicPeriod"/>
            </a:pPr>
            <a:r>
              <a:rPr lang="en-VN" dirty="0"/>
              <a:t>Ngôn ngữ C#</a:t>
            </a:r>
          </a:p>
          <a:p>
            <a:pPr marL="514350" indent="-514350">
              <a:buFont typeface="+mj-lt"/>
              <a:buAutoNum type="arabicPeriod"/>
            </a:pPr>
            <a:r>
              <a:rPr lang="en-VN" dirty="0"/>
              <a:t>Các bước xây dựng chương trình C#</a:t>
            </a:r>
          </a:p>
          <a:p>
            <a:pPr marL="514350" indent="-514350">
              <a:buFont typeface="+mj-lt"/>
              <a:buAutoNum type="arabicPeriod"/>
            </a:pPr>
            <a:r>
              <a:rPr lang="en-VN" dirty="0"/>
              <a:t>Hướng dẫn debug chương trình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631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EC1B8-63C4-BE3D-911F-D5E608BE3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.NET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FD695-C47E-1C4B-61F8-49430D8CD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.NET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endParaRPr lang="en-US" dirty="0"/>
          </a:p>
          <a:p>
            <a:pPr lvl="1"/>
            <a:r>
              <a:rPr lang="en-VN" altLang="en-VN" b="1" dirty="0">
                <a:solidFill>
                  <a:schemeClr val="tx1"/>
                </a:solidFill>
              </a:rPr>
              <a:t>NET</a:t>
            </a:r>
            <a:r>
              <a:rPr lang="en-VN" altLang="en-VN" dirty="0">
                <a:solidFill>
                  <a:schemeClr val="tx1"/>
                </a:solidFill>
              </a:rPr>
              <a:t> là </a:t>
            </a:r>
            <a:r>
              <a:rPr lang="en-VN" altLang="en-VN" b="1" dirty="0">
                <a:solidFill>
                  <a:schemeClr val="tx1"/>
                </a:solidFill>
              </a:rPr>
              <a:t>nền tảng phát triển phần mềm</a:t>
            </a:r>
            <a:r>
              <a:rPr lang="en-VN" altLang="en-VN" dirty="0">
                <a:solidFill>
                  <a:schemeClr val="tx1"/>
                </a:solidFill>
              </a:rPr>
              <a:t> do Microsoft phát triển nhằm hỗ trợ</a:t>
            </a:r>
          </a:p>
          <a:p>
            <a:pPr lvl="2"/>
            <a:r>
              <a:rPr lang="en-VN" altLang="en-VN" dirty="0">
                <a:solidFill>
                  <a:schemeClr val="tx1"/>
                </a:solidFill>
              </a:rPr>
              <a:t>Xây dựng</a:t>
            </a:r>
          </a:p>
          <a:p>
            <a:pPr lvl="2"/>
            <a:r>
              <a:rPr lang="en-VN" altLang="en-VN" dirty="0">
                <a:solidFill>
                  <a:schemeClr val="tx1"/>
                </a:solidFill>
              </a:rPr>
              <a:t>Chạy</a:t>
            </a:r>
          </a:p>
          <a:p>
            <a:pPr lvl="2"/>
            <a:r>
              <a:rPr lang="en-VN" altLang="en-VN" dirty="0">
                <a:solidFill>
                  <a:schemeClr val="tx1"/>
                </a:solidFill>
              </a:rPr>
              <a:t>Quản lý</a:t>
            </a:r>
          </a:p>
          <a:p>
            <a:pPr lvl="1"/>
            <a:r>
              <a:rPr lang="en-VN" altLang="en-VN" dirty="0">
                <a:solidFill>
                  <a:schemeClr val="tx1"/>
                </a:solidFill>
              </a:rPr>
              <a:t>Các loại ứng dụng:</a:t>
            </a:r>
          </a:p>
          <a:p>
            <a:pPr lvl="2"/>
            <a:r>
              <a:rPr lang="en-VN" altLang="en-VN" dirty="0">
                <a:solidFill>
                  <a:schemeClr val="tx1"/>
                </a:solidFill>
              </a:rPr>
              <a:t>Console</a:t>
            </a:r>
          </a:p>
          <a:p>
            <a:pPr lvl="2"/>
            <a:r>
              <a:rPr lang="en-VN" altLang="en-VN" dirty="0">
                <a:solidFill>
                  <a:schemeClr val="tx1"/>
                </a:solidFill>
              </a:rPr>
              <a:t>Desktop</a:t>
            </a:r>
          </a:p>
          <a:p>
            <a:pPr lvl="2"/>
            <a:r>
              <a:rPr lang="en-VN" altLang="en-VN" dirty="0">
                <a:solidFill>
                  <a:schemeClr val="tx1"/>
                </a:solidFill>
              </a:rPr>
              <a:t>Web</a:t>
            </a:r>
          </a:p>
          <a:p>
            <a:pPr lvl="2"/>
            <a:r>
              <a:rPr lang="en-VN" altLang="en-VN" dirty="0">
                <a:solidFill>
                  <a:schemeClr val="tx1"/>
                </a:solidFill>
              </a:rPr>
              <a:t>Mobile</a:t>
            </a:r>
          </a:p>
          <a:p>
            <a:pPr lvl="2"/>
            <a:r>
              <a:rPr lang="en-VN" altLang="en-VN" dirty="0">
                <a:solidFill>
                  <a:schemeClr val="tx1"/>
                </a:solidFill>
              </a:rPr>
              <a:t>Cloud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414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BA64D-E4C9-B8F3-971D-A4EBBC296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.NET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81BC9-5543-0462-B792-15857F32E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.NET</a:t>
            </a:r>
          </a:p>
          <a:p>
            <a:pPr lvl="1"/>
            <a:r>
              <a:rPr lang="vi-VN" dirty="0"/>
              <a:t>Trước đây:</a:t>
            </a:r>
          </a:p>
          <a:p>
            <a:pPr lvl="2"/>
            <a:r>
              <a:rPr lang="vi-VN" b="1" dirty="0"/>
              <a:t>.NET Framework</a:t>
            </a:r>
            <a:r>
              <a:rPr lang="vi-VN" dirty="0"/>
              <a:t> (chỉ Windows)</a:t>
            </a:r>
          </a:p>
          <a:p>
            <a:pPr lvl="1"/>
            <a:r>
              <a:rPr lang="vi-VN" dirty="0"/>
              <a:t>Hiện nay:</a:t>
            </a:r>
          </a:p>
          <a:p>
            <a:pPr lvl="2"/>
            <a:r>
              <a:rPr lang="vi-VN" b="1" dirty="0"/>
              <a:t>.NET (Unified Platform)</a:t>
            </a:r>
            <a:endParaRPr lang="vi-VN" dirty="0"/>
          </a:p>
          <a:p>
            <a:pPr lvl="2"/>
            <a:r>
              <a:rPr lang="vi-VN" dirty="0"/>
              <a:t>Cross-platform: </a:t>
            </a:r>
            <a:r>
              <a:rPr lang="vi-VN" b="1" dirty="0"/>
              <a:t>Windows – Linux – macOS</a:t>
            </a:r>
            <a:endParaRPr lang="vi-VN" dirty="0"/>
          </a:p>
          <a:p>
            <a:pPr lvl="1"/>
            <a:r>
              <a:rPr lang="vi-VN" dirty="0"/>
              <a:t>Phiên bản phổ biến:</a:t>
            </a:r>
          </a:p>
          <a:p>
            <a:pPr lvl="2"/>
            <a:r>
              <a:rPr lang="vi-VN" dirty="0"/>
              <a:t>.NET 6 (LTS)</a:t>
            </a:r>
          </a:p>
          <a:p>
            <a:pPr lvl="2"/>
            <a:r>
              <a:rPr lang="vi-VN" dirty="0"/>
              <a:t>.NET 7</a:t>
            </a:r>
          </a:p>
          <a:p>
            <a:pPr lvl="2"/>
            <a:r>
              <a:rPr lang="vi-VN" dirty="0"/>
              <a:t>.NET 8 (LTS)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065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.NET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.NET </a:t>
            </a:r>
            <a:r>
              <a:rPr lang="en-US" dirty="0" err="1"/>
              <a:t>có</a:t>
            </a:r>
            <a:r>
              <a:rPr lang="en-US" dirty="0"/>
              <a:t> 2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 (Common Language Runtime – CLR)</a:t>
            </a:r>
          </a:p>
          <a:p>
            <a:pPr lvl="1"/>
            <a:r>
              <a:rPr lang="en-US" dirty="0"/>
              <a:t>Thư </a:t>
            </a:r>
            <a:r>
              <a:rPr lang="en-US" dirty="0" err="1"/>
              <a:t>viện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(Base Class Library – BCL)</a:t>
            </a: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31B85-8FB6-43AC-A3D8-3CBF990AD1B3}" type="datetime1">
              <a:rPr lang="vi-VN" smtClean="0"/>
              <a:t>06/01/2026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1. Tổng quan về lập trình hướng đối tượng và ngôn ngữ C#</a:t>
            </a:r>
          </a:p>
        </p:txBody>
      </p:sp>
      <p:sp>
        <p:nvSpPr>
          <p:cNvPr id="7" name="Oval 6"/>
          <p:cNvSpPr/>
          <p:nvPr/>
        </p:nvSpPr>
        <p:spPr>
          <a:xfrm>
            <a:off x="2351584" y="3429000"/>
            <a:ext cx="2016224" cy="122413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Common Language Runtime - CLR</a:t>
            </a:r>
            <a:endParaRPr lang="vi-VN"/>
          </a:p>
        </p:txBody>
      </p:sp>
      <p:sp>
        <p:nvSpPr>
          <p:cNvPr id="8" name="Oval 7"/>
          <p:cNvSpPr/>
          <p:nvPr/>
        </p:nvSpPr>
        <p:spPr>
          <a:xfrm>
            <a:off x="5159896" y="3456806"/>
            <a:ext cx="2016224" cy="1224136"/>
          </a:xfrm>
          <a:prstGeom prst="ellipse">
            <a:avLst/>
          </a:prstGeom>
          <a:solidFill>
            <a:srgbClr val="CCECFF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Base Class Library – BCL</a:t>
            </a:r>
            <a:endParaRPr lang="vi-VN" dirty="0"/>
          </a:p>
        </p:txBody>
      </p:sp>
      <p:sp>
        <p:nvSpPr>
          <p:cNvPr id="9" name="Oval 8"/>
          <p:cNvSpPr/>
          <p:nvPr/>
        </p:nvSpPr>
        <p:spPr>
          <a:xfrm>
            <a:off x="8328248" y="3456806"/>
            <a:ext cx="2016224" cy="1224136"/>
          </a:xfrm>
          <a:prstGeom prst="ellipse">
            <a:avLst/>
          </a:prstGeom>
          <a:solidFill>
            <a:srgbClr val="0070C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.NET</a:t>
            </a:r>
            <a:endParaRPr lang="vi-VN" b="1" dirty="0">
              <a:solidFill>
                <a:schemeClr val="bg1"/>
              </a:solidFill>
            </a:endParaRPr>
          </a:p>
        </p:txBody>
      </p:sp>
      <p:sp>
        <p:nvSpPr>
          <p:cNvPr id="10" name="Plus 9"/>
          <p:cNvSpPr/>
          <p:nvPr/>
        </p:nvSpPr>
        <p:spPr>
          <a:xfrm>
            <a:off x="4350110" y="3645024"/>
            <a:ext cx="792088" cy="792088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Equal 10"/>
          <p:cNvSpPr/>
          <p:nvPr/>
        </p:nvSpPr>
        <p:spPr>
          <a:xfrm>
            <a:off x="7176120" y="3762840"/>
            <a:ext cx="1152128" cy="612068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5</a:t>
            </a:fld>
            <a:r>
              <a:rPr lang="vi-VN"/>
              <a:t>/46</a:t>
            </a:r>
          </a:p>
        </p:txBody>
      </p:sp>
    </p:spTree>
    <p:extLst>
      <p:ext uri="{BB962C8B-B14F-4D97-AF65-F5344CB8AC3E}">
        <p14:creationId xmlns:p14="http://schemas.microsoft.com/office/powerpoint/2010/main" val="1253787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DB5F6-7769-379B-873B-755C8DCBC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.NET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77AAB-AEF2-4B03-AF9D-912BAB54E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40" y="1214414"/>
            <a:ext cx="10934660" cy="5072106"/>
          </a:xfrm>
        </p:spPr>
        <p:txBody>
          <a:bodyPr/>
          <a:lstStyle/>
          <a:p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.NET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162354A-1415-9512-CE37-DC91B85706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0627" y="1957388"/>
            <a:ext cx="7860561" cy="4506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0960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C56BC-1976-4189-B3BC-831FAE3D4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MS visual 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E0305-ABC2-437D-B96B-EB3437818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b="1" dirty="0"/>
              <a:t>2.1. Microsoft Visual Studio là gì?</a:t>
            </a:r>
          </a:p>
          <a:p>
            <a:pPr lvl="1"/>
            <a:r>
              <a:rPr lang="vi-VN" b="1" dirty="0"/>
              <a:t>Microsoft Visual Studio</a:t>
            </a:r>
            <a:r>
              <a:rPr lang="vi-VN" dirty="0"/>
              <a:t> là </a:t>
            </a:r>
            <a:r>
              <a:rPr lang="vi-VN" b="1" dirty="0"/>
              <a:t>môi trường phát triển tích hợp (IDE)</a:t>
            </a:r>
            <a:r>
              <a:rPr lang="vi-VN" dirty="0"/>
              <a:t> do Microsoft phát triển</a:t>
            </a:r>
          </a:p>
          <a:p>
            <a:pPr lvl="1"/>
            <a:r>
              <a:rPr lang="vi-VN" dirty="0"/>
              <a:t>Được sử dụng để:</a:t>
            </a:r>
          </a:p>
          <a:p>
            <a:pPr lvl="2"/>
            <a:r>
              <a:rPr lang="vi-VN" dirty="0"/>
              <a:t>Viết mã nguồn</a:t>
            </a:r>
          </a:p>
          <a:p>
            <a:pPr lvl="2"/>
            <a:r>
              <a:rPr lang="vi-VN" dirty="0"/>
              <a:t>Biên dịch</a:t>
            </a:r>
          </a:p>
          <a:p>
            <a:pPr lvl="2"/>
            <a:r>
              <a:rPr lang="vi-VN" dirty="0"/>
              <a:t>Chạy chương trình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608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6090D-74E3-D191-EE25-CF3866B59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6E6EC-406E-8AC4-3994-B4C15DB0C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b="1" dirty="0"/>
              <a:t>2.2. Vai trò của Visual Studio trong lập trình C#</a:t>
            </a:r>
          </a:p>
          <a:p>
            <a:pPr lvl="1"/>
            <a:r>
              <a:rPr lang="vi-VN" dirty="0"/>
              <a:t>Trong quá trình phát triển ứng dụng C#, Visual Studio giúp:</a:t>
            </a:r>
          </a:p>
          <a:p>
            <a:pPr lvl="2"/>
            <a:r>
              <a:rPr lang="vi-VN" dirty="0"/>
              <a:t>Quản lý project và solution</a:t>
            </a:r>
          </a:p>
          <a:p>
            <a:pPr lvl="2"/>
            <a:r>
              <a:rPr lang="vi-VN" dirty="0"/>
              <a:t>Hỗ trợ viết code thông minh (IntelliSense)</a:t>
            </a:r>
          </a:p>
          <a:p>
            <a:pPr lvl="2"/>
            <a:r>
              <a:rPr lang="vi-VN" dirty="0"/>
              <a:t>Phát hiện lỗi cú pháp sớm</a:t>
            </a:r>
          </a:p>
          <a:p>
            <a:pPr lvl="2"/>
            <a:r>
              <a:rPr lang="vi-VN" dirty="0"/>
              <a:t>Debug chương trình</a:t>
            </a:r>
          </a:p>
          <a:p>
            <a:pPr lvl="2"/>
            <a:r>
              <a:rPr lang="vi-VN" dirty="0"/>
              <a:t>Tích hợp công cụ quản lý thư viện (.NET SDK, NuGet)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401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08381-C079-714F-3E9E-49152C4CF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21E8C-2F94-0204-C786-87F6A54F1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2.3. Các </a:t>
            </a:r>
            <a:r>
              <a:rPr lang="en-US" b="1" dirty="0" err="1"/>
              <a:t>phiên</a:t>
            </a:r>
            <a:r>
              <a:rPr lang="en-US" b="1" dirty="0"/>
              <a:t> </a:t>
            </a:r>
            <a:r>
              <a:rPr lang="en-US" b="1" dirty="0" err="1"/>
              <a:t>bản</a:t>
            </a:r>
            <a:r>
              <a:rPr lang="en-US" b="1" dirty="0"/>
              <a:t> Visual Studio</a:t>
            </a:r>
          </a:p>
          <a:p>
            <a:pPr lvl="1"/>
            <a:r>
              <a:rPr lang="en-US" dirty="0" err="1"/>
              <a:t>Hiện</a:t>
            </a:r>
            <a:r>
              <a:rPr lang="en-US" dirty="0"/>
              <a:t> nay Visual Studio </a:t>
            </a:r>
            <a:r>
              <a:rPr lang="en-US" dirty="0" err="1"/>
              <a:t>có</a:t>
            </a:r>
            <a:r>
              <a:rPr lang="en-US" dirty="0"/>
              <a:t> 3 </a:t>
            </a:r>
            <a:r>
              <a:rPr lang="en-US" dirty="0" err="1"/>
              <a:t>phiên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:</a:t>
            </a:r>
          </a:p>
          <a:p>
            <a:pPr lvl="2"/>
            <a:r>
              <a:rPr lang="en-US" b="1" dirty="0"/>
              <a:t>Community</a:t>
            </a:r>
            <a:r>
              <a:rPr lang="en-US" dirty="0"/>
              <a:t> (</a:t>
            </a:r>
            <a:r>
              <a:rPr lang="en-US" dirty="0" err="1"/>
              <a:t>miễn</a:t>
            </a:r>
            <a:r>
              <a:rPr lang="en-US" dirty="0"/>
              <a:t> </a:t>
            </a:r>
            <a:r>
              <a:rPr lang="en-US" dirty="0" err="1"/>
              <a:t>phí</a:t>
            </a:r>
            <a:r>
              <a:rPr lang="en-US" dirty="0"/>
              <a:t> –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)</a:t>
            </a:r>
          </a:p>
          <a:p>
            <a:pPr lvl="2"/>
            <a:r>
              <a:rPr lang="en-US" b="1" dirty="0"/>
              <a:t>Professional</a:t>
            </a:r>
            <a:endParaRPr lang="en-US" dirty="0"/>
          </a:p>
          <a:p>
            <a:pPr lvl="2"/>
            <a:r>
              <a:rPr lang="en-US" b="1" dirty="0"/>
              <a:t>Enterprise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141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E5D5D-5B45-A1B7-BC7D-5387B7DDE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07F43-17CE-A77D-E411-8D23DE961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2.4 Visual Studio </a:t>
            </a:r>
            <a:r>
              <a:rPr lang="en-US" dirty="0" err="1"/>
              <a:t>và</a:t>
            </a:r>
            <a:r>
              <a:rPr lang="en-US" dirty="0"/>
              <a:t> Visual Studio Code (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)</a:t>
            </a:r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7E037225-5386-F9EE-8129-CB93DCFFF0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670" y="2131157"/>
            <a:ext cx="8232780" cy="3214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165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973D5-0FC6-E7C4-DBCB-5CBC451D2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2CB34-D088-90C5-2528-D97790391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b="1" dirty="0"/>
              <a:t>2.5. Giao diện chính của Visual Studio</a:t>
            </a:r>
          </a:p>
          <a:p>
            <a:pPr lvl="1"/>
            <a:r>
              <a:rPr lang="vi-VN" dirty="0"/>
              <a:t>Các thành phần cơ bản:</a:t>
            </a:r>
          </a:p>
          <a:p>
            <a:pPr lvl="2"/>
            <a:r>
              <a:rPr lang="vi-VN" b="1" dirty="0"/>
              <a:t>Editor</a:t>
            </a:r>
            <a:r>
              <a:rPr lang="vi-VN" dirty="0"/>
              <a:t>: soạn thảo mã nguồn</a:t>
            </a:r>
          </a:p>
          <a:p>
            <a:pPr lvl="2"/>
            <a:r>
              <a:rPr lang="vi-VN" b="1" dirty="0"/>
              <a:t>Solution Explorer</a:t>
            </a:r>
            <a:r>
              <a:rPr lang="vi-VN" dirty="0"/>
              <a:t>: quản lý project, file</a:t>
            </a:r>
          </a:p>
          <a:p>
            <a:pPr lvl="2"/>
            <a:r>
              <a:rPr lang="vi-VN" b="1" dirty="0"/>
              <a:t>Properties Window</a:t>
            </a:r>
            <a:r>
              <a:rPr lang="vi-VN" dirty="0"/>
              <a:t>: thuộc tính</a:t>
            </a:r>
          </a:p>
          <a:p>
            <a:pPr lvl="2"/>
            <a:r>
              <a:rPr lang="vi-VN" b="1" dirty="0"/>
              <a:t>Output / Error List</a:t>
            </a:r>
            <a:r>
              <a:rPr lang="vi-VN" dirty="0"/>
              <a:t>: thông báo lỗi</a:t>
            </a:r>
          </a:p>
          <a:p>
            <a:pPr lvl="2"/>
            <a:r>
              <a:rPr lang="vi-VN" b="1" dirty="0"/>
              <a:t>Toolbar</a:t>
            </a:r>
            <a:r>
              <a:rPr lang="vi-VN" dirty="0"/>
              <a:t>: build, run, debug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016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C#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3015" y="1301262"/>
            <a:ext cx="9443465" cy="502333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C#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Anders Hejlsberg</a:t>
            </a:r>
          </a:p>
          <a:p>
            <a:r>
              <a:rPr lang="en-US" dirty="0"/>
              <a:t>C#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C </a:t>
            </a:r>
            <a:r>
              <a:rPr lang="en-US" dirty="0" err="1"/>
              <a:t>và</a:t>
            </a:r>
            <a:r>
              <a:rPr lang="en-US" dirty="0"/>
              <a:t> C++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nền</a:t>
            </a:r>
            <a:r>
              <a:rPr lang="en-US" dirty="0"/>
              <a:t> </a:t>
            </a:r>
            <a:r>
              <a:rPr lang="en-US" dirty="0" err="1"/>
              <a:t>tảng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hơn</a:t>
            </a:r>
            <a:endParaRPr lang="en-US" dirty="0"/>
          </a:p>
          <a:p>
            <a:r>
              <a:rPr lang="en-US" dirty="0"/>
              <a:t>C#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(Object Oriented Language)</a:t>
            </a:r>
          </a:p>
          <a:p>
            <a:pPr lvl="1"/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(class)</a:t>
            </a:r>
          </a:p>
          <a:p>
            <a:pPr lvl="1"/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đầy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: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gói</a:t>
            </a:r>
            <a:r>
              <a:rPr lang="en-US" dirty="0"/>
              <a:t> (encapsulation),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thừa</a:t>
            </a:r>
            <a:r>
              <a:rPr lang="en-US" dirty="0"/>
              <a:t> (inheritance)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(polymorphism)</a:t>
            </a:r>
          </a:p>
          <a:p>
            <a:r>
              <a:rPr lang="en-US" dirty="0"/>
              <a:t>C#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(component oriented):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,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kiện</a:t>
            </a: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90C1-BD3A-4EC7-AD54-73AA0D25DCCC}" type="datetime1">
              <a:rPr lang="vi-VN" smtClean="0"/>
              <a:t>06/01/2026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1. Tổng quan về lập trình hướng đối tượng và ngôn ngữ C#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12</a:t>
            </a:fld>
            <a:r>
              <a:rPr lang="vi-VN"/>
              <a:t>/46</a:t>
            </a:r>
          </a:p>
        </p:txBody>
      </p:sp>
    </p:spTree>
    <p:extLst>
      <p:ext uri="{BB962C8B-B14F-4D97-AF65-F5344CB8AC3E}">
        <p14:creationId xmlns:p14="http://schemas.microsoft.com/office/powerpoint/2010/main" val="4151163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824B6-636A-49A3-9873-3B10DC06A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console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F6D58-9AD3-4AF1-9293-12B9D5736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000FE5F1-B8FC-4054-BEDB-F6B085EB4A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185" r="50000"/>
          <a:stretch/>
        </p:blipFill>
        <p:spPr>
          <a:xfrm>
            <a:off x="2164359" y="1957754"/>
            <a:ext cx="8053432" cy="40686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7611C05-EC57-41BF-A60C-2083BA2A4897}"/>
              </a:ext>
            </a:extLst>
          </p:cNvPr>
          <p:cNvSpPr/>
          <p:nvPr/>
        </p:nvSpPr>
        <p:spPr>
          <a:xfrm>
            <a:off x="8053431" y="3489820"/>
            <a:ext cx="1786855" cy="67950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811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F1B94-CBDB-4659-833A-1A7C6AE4B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picture containing text, screenshot, computer, indoor&#10;&#10;Description automatically generated">
            <a:extLst>
              <a:ext uri="{FF2B5EF4-FFF2-40B4-BE49-F238E27FC236}">
                <a16:creationId xmlns:a16="http://schemas.microsoft.com/office/drawing/2014/main" id="{1D10A5D9-42C9-4568-87C6-7EF873AB9B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156" t="8227" r="58371" b="15932"/>
          <a:stretch/>
        </p:blipFill>
        <p:spPr>
          <a:xfrm>
            <a:off x="2140591" y="1214414"/>
            <a:ext cx="7910818" cy="489491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E20BA95-B59D-485B-B2DE-A6DEA0B468CE}"/>
              </a:ext>
            </a:extLst>
          </p:cNvPr>
          <p:cNvSpPr/>
          <p:nvPr/>
        </p:nvSpPr>
        <p:spPr>
          <a:xfrm>
            <a:off x="5629013" y="1954635"/>
            <a:ext cx="4504888" cy="402779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492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0669F-4F9F-460D-988D-AFC42C7A3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284F2-FB78-44C6-9ED5-07988A903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FFD002F0-C2F9-4125-AA90-836C2CAED3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50" t="7982" r="57271" b="14954"/>
          <a:stretch/>
        </p:blipFill>
        <p:spPr>
          <a:xfrm>
            <a:off x="1866125" y="1566264"/>
            <a:ext cx="7537666" cy="45660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B6EFD5B-0E38-41CF-B3EC-06A3051AF8BD}"/>
              </a:ext>
            </a:extLst>
          </p:cNvPr>
          <p:cNvSpPr/>
          <p:nvPr/>
        </p:nvSpPr>
        <p:spPr>
          <a:xfrm>
            <a:off x="2399251" y="2718033"/>
            <a:ext cx="654342" cy="36911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C35F2C-FEAA-42E2-BAAD-7641EA8E3F69}"/>
              </a:ext>
            </a:extLst>
          </p:cNvPr>
          <p:cNvSpPr/>
          <p:nvPr/>
        </p:nvSpPr>
        <p:spPr>
          <a:xfrm>
            <a:off x="2399251" y="3238150"/>
            <a:ext cx="1434518" cy="36911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622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CC68D-0E43-4A87-853C-1068A89DB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E3190-6AB6-4669-947A-8DAD8287A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8909"/>
            <a:ext cx="10972800" cy="4929222"/>
          </a:xfrm>
        </p:spPr>
        <p:txBody>
          <a:bodyPr/>
          <a:lstStyle/>
          <a:p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.net</a:t>
            </a:r>
            <a:r>
              <a:rPr lang="en-US" dirty="0"/>
              <a:t> framework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code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41093E01-8EFB-4BAA-868A-546D4A73C5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01" t="1376" r="51905" b="6881"/>
          <a:stretch/>
        </p:blipFill>
        <p:spPr>
          <a:xfrm>
            <a:off x="2130804" y="1275126"/>
            <a:ext cx="8086987" cy="4546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420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C# 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  <a:buNone/>
            </a:pPr>
            <a:r>
              <a:rPr lang="en-US" sz="2000" dirty="0">
                <a:solidFill>
                  <a:srgbClr val="00B050"/>
                </a:solidFill>
              </a:rPr>
              <a:t>//</a:t>
            </a:r>
            <a:r>
              <a:rPr lang="en-US" sz="2000" dirty="0" err="1">
                <a:solidFill>
                  <a:srgbClr val="00B050"/>
                </a:solidFill>
              </a:rPr>
              <a:t>Vùng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 err="1">
                <a:solidFill>
                  <a:srgbClr val="00B050"/>
                </a:solidFill>
              </a:rPr>
              <a:t>bắt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 err="1">
                <a:solidFill>
                  <a:srgbClr val="00B050"/>
                </a:solidFill>
              </a:rPr>
              <a:t>đầu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 err="1">
                <a:solidFill>
                  <a:srgbClr val="00B050"/>
                </a:solidFill>
              </a:rPr>
              <a:t>khai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 err="1">
                <a:solidFill>
                  <a:srgbClr val="00B050"/>
                </a:solidFill>
              </a:rPr>
              <a:t>báo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 err="1">
                <a:solidFill>
                  <a:srgbClr val="00B050"/>
                </a:solidFill>
              </a:rPr>
              <a:t>sử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 err="1">
                <a:solidFill>
                  <a:srgbClr val="00B050"/>
                </a:solidFill>
              </a:rPr>
              <a:t>dụng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 err="1">
                <a:solidFill>
                  <a:srgbClr val="00B050"/>
                </a:solidFill>
              </a:rPr>
              <a:t>các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 err="1">
                <a:solidFill>
                  <a:srgbClr val="00B050"/>
                </a:solidFill>
              </a:rPr>
              <a:t>không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 err="1">
                <a:solidFill>
                  <a:srgbClr val="00B050"/>
                </a:solidFill>
              </a:rPr>
              <a:t>gian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 err="1">
                <a:solidFill>
                  <a:srgbClr val="00B050"/>
                </a:solidFill>
              </a:rPr>
              <a:t>tên</a:t>
            </a:r>
            <a:endParaRPr lang="en-US" sz="2000" dirty="0">
              <a:solidFill>
                <a:srgbClr val="00B050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sz="2000" b="1" dirty="0"/>
              <a:t>using</a:t>
            </a:r>
            <a:r>
              <a:rPr lang="en-US" sz="2000" dirty="0"/>
              <a:t> System;</a:t>
            </a:r>
          </a:p>
          <a:p>
            <a:pPr>
              <a:lnSpc>
                <a:spcPct val="80000"/>
              </a:lnSpc>
              <a:buNone/>
            </a:pPr>
            <a:r>
              <a:rPr lang="en-US" sz="2000" b="1" dirty="0"/>
              <a:t>using</a:t>
            </a:r>
            <a:r>
              <a:rPr lang="en-US" sz="2000" dirty="0"/>
              <a:t> </a:t>
            </a:r>
            <a:r>
              <a:rPr lang="en-US" sz="2000" dirty="0" err="1"/>
              <a:t>System.Collections.Generic</a:t>
            </a:r>
            <a:r>
              <a:rPr lang="en-US" sz="2000" dirty="0"/>
              <a:t>;</a:t>
            </a:r>
          </a:p>
          <a:p>
            <a:pPr>
              <a:lnSpc>
                <a:spcPct val="80000"/>
              </a:lnSpc>
              <a:buNone/>
            </a:pPr>
            <a:r>
              <a:rPr lang="en-US" sz="2000" b="1" dirty="0"/>
              <a:t>using</a:t>
            </a:r>
            <a:r>
              <a:rPr lang="en-US" sz="2000" dirty="0"/>
              <a:t> </a:t>
            </a:r>
            <a:r>
              <a:rPr lang="en-US" sz="2000" dirty="0" err="1"/>
              <a:t>System.Text</a:t>
            </a:r>
            <a:r>
              <a:rPr lang="en-US" sz="2000" dirty="0"/>
              <a:t>;</a:t>
            </a:r>
          </a:p>
          <a:p>
            <a:pPr>
              <a:lnSpc>
                <a:spcPct val="80000"/>
              </a:lnSpc>
              <a:buNone/>
            </a:pPr>
            <a:r>
              <a:rPr lang="en-US" sz="2000" dirty="0">
                <a:solidFill>
                  <a:srgbClr val="00B050"/>
                </a:solidFill>
              </a:rPr>
              <a:t>//</a:t>
            </a:r>
            <a:r>
              <a:rPr lang="en-US" sz="2000" dirty="0" err="1">
                <a:solidFill>
                  <a:srgbClr val="00B050"/>
                </a:solidFill>
              </a:rPr>
              <a:t>Khai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 err="1">
                <a:solidFill>
                  <a:srgbClr val="00B050"/>
                </a:solidFill>
              </a:rPr>
              <a:t>báo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 err="1">
                <a:solidFill>
                  <a:srgbClr val="00B050"/>
                </a:solidFill>
              </a:rPr>
              <a:t>không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 err="1">
                <a:solidFill>
                  <a:srgbClr val="00B050"/>
                </a:solidFill>
              </a:rPr>
              <a:t>gian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 err="1">
                <a:solidFill>
                  <a:srgbClr val="00B050"/>
                </a:solidFill>
              </a:rPr>
              <a:t>tên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 err="1">
                <a:solidFill>
                  <a:srgbClr val="00B050"/>
                </a:solidFill>
              </a:rPr>
              <a:t>của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 err="1">
                <a:solidFill>
                  <a:srgbClr val="00B050"/>
                </a:solidFill>
              </a:rPr>
              <a:t>ứng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 err="1">
                <a:solidFill>
                  <a:srgbClr val="00B050"/>
                </a:solidFill>
              </a:rPr>
              <a:t>dụng</a:t>
            </a:r>
            <a:endParaRPr lang="en-US" sz="2000" dirty="0">
              <a:solidFill>
                <a:srgbClr val="00B050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sz="2000" dirty="0"/>
              <a:t>namespace </a:t>
            </a:r>
            <a:r>
              <a:rPr lang="en-US" sz="2000" dirty="0" err="1"/>
              <a:t>myConsoleApplication</a:t>
            </a:r>
            <a:endParaRPr lang="en-US" sz="2000" dirty="0"/>
          </a:p>
          <a:p>
            <a:pPr>
              <a:lnSpc>
                <a:spcPct val="80000"/>
              </a:lnSpc>
              <a:buNone/>
            </a:pPr>
            <a:r>
              <a:rPr lang="en-US" sz="2000" dirty="0"/>
              <a:t>{</a:t>
            </a:r>
          </a:p>
          <a:p>
            <a:pPr>
              <a:lnSpc>
                <a:spcPct val="80000"/>
              </a:lnSpc>
              <a:buNone/>
            </a:pPr>
            <a:r>
              <a:rPr lang="en-US" sz="2000" dirty="0">
                <a:solidFill>
                  <a:srgbClr val="00B050"/>
                </a:solidFill>
              </a:rPr>
              <a:t>//</a:t>
            </a:r>
            <a:r>
              <a:rPr lang="en-US" sz="2000" dirty="0" err="1">
                <a:solidFill>
                  <a:srgbClr val="00B050"/>
                </a:solidFill>
              </a:rPr>
              <a:t>Vùng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 err="1">
                <a:solidFill>
                  <a:srgbClr val="00B050"/>
                </a:solidFill>
              </a:rPr>
              <a:t>bắt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 err="1">
                <a:solidFill>
                  <a:srgbClr val="00B050"/>
                </a:solidFill>
              </a:rPr>
              <a:t>đầu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 err="1">
                <a:solidFill>
                  <a:srgbClr val="00B050"/>
                </a:solidFill>
              </a:rPr>
              <a:t>khai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 err="1">
                <a:solidFill>
                  <a:srgbClr val="00B050"/>
                </a:solidFill>
              </a:rPr>
              <a:t>báo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 err="1">
                <a:solidFill>
                  <a:srgbClr val="00B050"/>
                </a:solidFill>
              </a:rPr>
              <a:t>tên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 err="1">
                <a:solidFill>
                  <a:srgbClr val="00B050"/>
                </a:solidFill>
              </a:rPr>
              <a:t>các</a:t>
            </a:r>
            <a:r>
              <a:rPr lang="en-US" sz="2000" dirty="0">
                <a:solidFill>
                  <a:srgbClr val="00B050"/>
                </a:solidFill>
              </a:rPr>
              <a:t> Class</a:t>
            </a:r>
          </a:p>
          <a:p>
            <a:pPr>
              <a:lnSpc>
                <a:spcPct val="80000"/>
              </a:lnSpc>
              <a:buNone/>
            </a:pPr>
            <a:r>
              <a:rPr lang="en-US" sz="2000" b="1" dirty="0"/>
              <a:t>    class Program</a:t>
            </a:r>
          </a:p>
          <a:p>
            <a:pPr>
              <a:lnSpc>
                <a:spcPct val="80000"/>
              </a:lnSpc>
              <a:buNone/>
            </a:pPr>
            <a:r>
              <a:rPr lang="en-US" sz="2000" dirty="0"/>
              <a:t>    {</a:t>
            </a:r>
          </a:p>
          <a:p>
            <a:pPr lvl="1">
              <a:lnSpc>
                <a:spcPct val="80000"/>
              </a:lnSpc>
              <a:buNone/>
            </a:pPr>
            <a:r>
              <a:rPr lang="en-US" sz="2000" dirty="0"/>
              <a:t>//</a:t>
            </a:r>
            <a:r>
              <a:rPr lang="en-US" sz="2000" dirty="0" err="1"/>
              <a:t>Vùng</a:t>
            </a:r>
            <a:r>
              <a:rPr lang="en-US" sz="2000" dirty="0"/>
              <a:t> </a:t>
            </a:r>
            <a:r>
              <a:rPr lang="en-US" sz="2000" dirty="0" err="1"/>
              <a:t>khai</a:t>
            </a:r>
            <a:r>
              <a:rPr lang="en-US" sz="2000" dirty="0"/>
              <a:t> </a:t>
            </a:r>
            <a:r>
              <a:rPr lang="en-US" sz="2000" dirty="0" err="1"/>
              <a:t>báo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phương</a:t>
            </a:r>
            <a:r>
              <a:rPr lang="en-US" sz="2000" dirty="0"/>
              <a:t> </a:t>
            </a:r>
            <a:r>
              <a:rPr lang="en-US" sz="2000" dirty="0" err="1"/>
              <a:t>thức</a:t>
            </a:r>
            <a:endParaRPr lang="en-US" sz="2000" dirty="0"/>
          </a:p>
          <a:p>
            <a:pPr>
              <a:lnSpc>
                <a:spcPct val="80000"/>
              </a:lnSpc>
              <a:buNone/>
            </a:pPr>
            <a:r>
              <a:rPr lang="en-US" sz="2000" dirty="0"/>
              <a:t>        static void </a:t>
            </a:r>
            <a:r>
              <a:rPr lang="en-US" sz="2000" b="1" dirty="0"/>
              <a:t>Main(string</a:t>
            </a:r>
            <a:r>
              <a:rPr lang="en-US" sz="2000" dirty="0"/>
              <a:t>[] </a:t>
            </a:r>
            <a:r>
              <a:rPr lang="en-US" sz="2000" dirty="0" err="1"/>
              <a:t>args</a:t>
            </a:r>
            <a:r>
              <a:rPr lang="en-US" sz="2000" dirty="0"/>
              <a:t>)</a:t>
            </a:r>
          </a:p>
          <a:p>
            <a:pPr>
              <a:lnSpc>
                <a:spcPct val="80000"/>
              </a:lnSpc>
              <a:buNone/>
            </a:pPr>
            <a:r>
              <a:rPr lang="en-US" sz="2000" dirty="0"/>
              <a:t>        {</a:t>
            </a:r>
          </a:p>
          <a:p>
            <a:pPr lvl="2">
              <a:lnSpc>
                <a:spcPct val="80000"/>
              </a:lnSpc>
              <a:buNone/>
            </a:pPr>
            <a:r>
              <a:rPr lang="en-US" dirty="0">
                <a:solidFill>
                  <a:srgbClr val="00B050"/>
                </a:solidFill>
              </a:rPr>
              <a:t>     //</a:t>
            </a:r>
            <a:r>
              <a:rPr lang="en-US" dirty="0" err="1">
                <a:solidFill>
                  <a:srgbClr val="00B050"/>
                </a:solidFill>
              </a:rPr>
              <a:t>Vùng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khai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báo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lệnh</a:t>
            </a:r>
            <a:endParaRPr lang="en-US" dirty="0">
              <a:solidFill>
                <a:srgbClr val="00B050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sz="2000" dirty="0"/>
              <a:t>        }</a:t>
            </a:r>
          </a:p>
          <a:p>
            <a:pPr>
              <a:lnSpc>
                <a:spcPct val="80000"/>
              </a:lnSpc>
              <a:buNone/>
            </a:pPr>
            <a:r>
              <a:rPr lang="en-US" sz="2000" dirty="0"/>
              <a:t>    }</a:t>
            </a:r>
          </a:p>
          <a:p>
            <a:pPr>
              <a:lnSpc>
                <a:spcPct val="80000"/>
              </a:lnSpc>
              <a:buNone/>
            </a:pPr>
            <a:r>
              <a:rPr lang="en-US" sz="2000" dirty="0"/>
              <a:t>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7103D-31A3-4C0D-84C9-4148E9FAC004}" type="datetime1">
              <a:rPr lang="vi-VN" smtClean="0"/>
              <a:t>06/01/2026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2. Các thành phần cơ bản trong C#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17</a:t>
            </a:fld>
            <a:r>
              <a:rPr lang="vi-VN"/>
              <a:t>/47</a:t>
            </a:r>
          </a:p>
        </p:txBody>
      </p:sp>
    </p:spTree>
    <p:extLst>
      <p:ext uri="{BB962C8B-B14F-4D97-AF65-F5344CB8AC3E}">
        <p14:creationId xmlns:p14="http://schemas.microsoft.com/office/powerpoint/2010/main" val="514654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Một số khái niệm trong C#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C# là ngôn ngữ </a:t>
            </a:r>
            <a:r>
              <a:rPr lang="en-US" b="1">
                <a:solidFill>
                  <a:srgbClr val="FF0000"/>
                </a:solidFill>
              </a:rPr>
              <a:t>phân biệt </a:t>
            </a:r>
            <a:r>
              <a:rPr lang="en-US"/>
              <a:t>chữ hoa/thường</a:t>
            </a:r>
          </a:p>
          <a:p>
            <a:r>
              <a:rPr lang="en-US"/>
              <a:t>Chú thích</a:t>
            </a:r>
          </a:p>
          <a:p>
            <a:pPr lvl="1"/>
            <a:r>
              <a:rPr lang="en-US"/>
              <a:t>Chú thích trên một dòng //</a:t>
            </a:r>
          </a:p>
          <a:p>
            <a:pPr lvl="1"/>
            <a:r>
              <a:rPr lang="en-US"/>
              <a:t>Chú thích trên nhiều dòng /*…… */</a:t>
            </a:r>
          </a:p>
          <a:p>
            <a:pPr lvl="1"/>
            <a:r>
              <a:rPr lang="en-US"/>
              <a:t>Trình biên dịch bỏ qua chú thích</a:t>
            </a:r>
          </a:p>
          <a:p>
            <a:r>
              <a:rPr lang="en-US"/>
              <a:t>Từ khoá (keyword)</a:t>
            </a:r>
          </a:p>
          <a:p>
            <a:pPr lvl="1"/>
            <a:r>
              <a:rPr lang="en-US"/>
              <a:t>Có các chức năng đặc biệt không thể thay đổi trong ngôn ngữ</a:t>
            </a:r>
          </a:p>
          <a:p>
            <a:pPr lvl="1"/>
            <a:r>
              <a:rPr lang="en-US"/>
              <a:t>Không được dùng làm tên biến, tên lớp hay bất kỳ thứ gì khác</a:t>
            </a:r>
          </a:p>
          <a:p>
            <a:pPr lvl="1"/>
            <a:r>
              <a:rPr lang="en-US"/>
              <a:t>Tất cả các từ khoá đều được viết thường</a:t>
            </a:r>
          </a:p>
          <a:p>
            <a:pPr marL="471487" lvl="1" indent="0">
              <a:buNone/>
            </a:pPr>
            <a:r>
              <a:rPr lang="en-US"/>
              <a:t>Ví dụ: </a:t>
            </a:r>
            <a:r>
              <a:rPr lang="en-US" b="1"/>
              <a:t>class</a:t>
            </a:r>
            <a:endParaRPr lang="vi-VN" b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BE3C4-3A47-47F0-B4FB-AC2A54EA83F1}" type="datetime1">
              <a:rPr lang="vi-VN" smtClean="0"/>
              <a:t>06/01/2026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2. Các thành phần cơ bản trong C#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18</a:t>
            </a:fld>
            <a:r>
              <a:rPr lang="vi-VN"/>
              <a:t>/47</a:t>
            </a:r>
          </a:p>
        </p:txBody>
      </p:sp>
    </p:spTree>
    <p:extLst>
      <p:ext uri="{BB962C8B-B14F-4D97-AF65-F5344CB8AC3E}">
        <p14:creationId xmlns:p14="http://schemas.microsoft.com/office/powerpoint/2010/main" val="35284379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Danh sách các từ khoá trong C#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143000"/>
            <a:ext cx="8382000" cy="5181600"/>
          </a:xfrm>
        </p:spPr>
        <p:txBody>
          <a:bodyPr numCol="4">
            <a:normAutofit fontScale="92500" lnSpcReduction="20000"/>
          </a:bodyPr>
          <a:lstStyle/>
          <a:p>
            <a:pPr marL="0" indent="0">
              <a:buNone/>
            </a:pPr>
            <a:r>
              <a:rPr lang="en-US"/>
              <a:t>a</a:t>
            </a:r>
            <a:r>
              <a:rPr lang="vi-VN"/>
              <a:t>bstract</a:t>
            </a:r>
          </a:p>
          <a:p>
            <a:pPr marL="0" indent="0">
              <a:buNone/>
            </a:pPr>
            <a:r>
              <a:rPr lang="vi-VN"/>
              <a:t>event</a:t>
            </a:r>
          </a:p>
          <a:p>
            <a:pPr marL="0" indent="0">
              <a:buNone/>
            </a:pPr>
            <a:r>
              <a:rPr lang="vi-VN"/>
              <a:t>new</a:t>
            </a:r>
          </a:p>
          <a:p>
            <a:pPr marL="0" indent="0">
              <a:buNone/>
            </a:pPr>
            <a:r>
              <a:rPr lang="vi-VN"/>
              <a:t>struct</a:t>
            </a:r>
          </a:p>
          <a:p>
            <a:pPr marL="0" indent="0">
              <a:buNone/>
            </a:pPr>
            <a:r>
              <a:rPr lang="vi-VN"/>
              <a:t>as</a:t>
            </a:r>
          </a:p>
          <a:p>
            <a:pPr marL="0" indent="0">
              <a:buNone/>
            </a:pPr>
            <a:r>
              <a:rPr lang="vi-VN"/>
              <a:t>explicit</a:t>
            </a:r>
          </a:p>
          <a:p>
            <a:pPr marL="0" indent="0">
              <a:buNone/>
            </a:pPr>
            <a:r>
              <a:rPr lang="vi-VN"/>
              <a:t>null</a:t>
            </a:r>
          </a:p>
          <a:p>
            <a:pPr marL="0" indent="0">
              <a:buNone/>
            </a:pPr>
            <a:r>
              <a:rPr lang="vi-VN"/>
              <a:t>switch</a:t>
            </a:r>
          </a:p>
          <a:p>
            <a:pPr marL="0" indent="0">
              <a:buNone/>
            </a:pPr>
            <a:r>
              <a:rPr lang="vi-VN"/>
              <a:t>base</a:t>
            </a:r>
          </a:p>
          <a:p>
            <a:pPr marL="0" indent="0">
              <a:buNone/>
            </a:pPr>
            <a:r>
              <a:rPr lang="vi-VN"/>
              <a:t>extern</a:t>
            </a:r>
          </a:p>
          <a:p>
            <a:pPr marL="0" indent="0">
              <a:buNone/>
            </a:pPr>
            <a:r>
              <a:rPr lang="vi-VN"/>
              <a:t>object</a:t>
            </a:r>
          </a:p>
          <a:p>
            <a:pPr marL="0" indent="0">
              <a:buNone/>
            </a:pPr>
            <a:r>
              <a:rPr lang="vi-VN"/>
              <a:t>this</a:t>
            </a:r>
          </a:p>
          <a:p>
            <a:pPr marL="0" indent="0">
              <a:buNone/>
            </a:pPr>
            <a:r>
              <a:rPr lang="vi-VN"/>
              <a:t>bool</a:t>
            </a:r>
          </a:p>
          <a:p>
            <a:pPr marL="0" indent="0">
              <a:buNone/>
            </a:pPr>
            <a:r>
              <a:rPr lang="vi-VN"/>
              <a:t>false</a:t>
            </a:r>
          </a:p>
          <a:p>
            <a:pPr marL="0" indent="0">
              <a:buNone/>
            </a:pPr>
            <a:r>
              <a:rPr lang="vi-VN"/>
              <a:t>operator</a:t>
            </a:r>
          </a:p>
          <a:p>
            <a:pPr marL="0" indent="0">
              <a:buNone/>
            </a:pPr>
            <a:r>
              <a:rPr lang="vi-VN"/>
              <a:t>throw</a:t>
            </a:r>
          </a:p>
          <a:p>
            <a:pPr marL="0" indent="0">
              <a:buNone/>
            </a:pPr>
            <a:r>
              <a:rPr lang="vi-VN"/>
              <a:t>break</a:t>
            </a:r>
          </a:p>
          <a:p>
            <a:pPr marL="0" indent="0">
              <a:buNone/>
            </a:pPr>
            <a:r>
              <a:rPr lang="vi-VN"/>
              <a:t>finally</a:t>
            </a:r>
          </a:p>
          <a:p>
            <a:pPr marL="0" indent="0">
              <a:buNone/>
            </a:pPr>
            <a:r>
              <a:rPr lang="vi-VN"/>
              <a:t>out</a:t>
            </a:r>
          </a:p>
          <a:p>
            <a:pPr marL="0" indent="0">
              <a:buNone/>
            </a:pPr>
            <a:r>
              <a:rPr lang="vi-VN"/>
              <a:t>true</a:t>
            </a:r>
          </a:p>
          <a:p>
            <a:pPr marL="0" indent="0">
              <a:buNone/>
            </a:pPr>
            <a:r>
              <a:rPr lang="vi-VN"/>
              <a:t>byte</a:t>
            </a:r>
          </a:p>
          <a:p>
            <a:pPr marL="0" indent="0">
              <a:buNone/>
            </a:pPr>
            <a:r>
              <a:rPr lang="vi-VN"/>
              <a:t>fixed</a:t>
            </a:r>
          </a:p>
          <a:p>
            <a:pPr marL="0" indent="0">
              <a:buNone/>
            </a:pPr>
            <a:r>
              <a:rPr lang="vi-VN"/>
              <a:t>override</a:t>
            </a:r>
          </a:p>
          <a:p>
            <a:pPr marL="0" indent="0">
              <a:buNone/>
            </a:pPr>
            <a:r>
              <a:rPr lang="vi-VN"/>
              <a:t>try</a:t>
            </a:r>
          </a:p>
          <a:p>
            <a:pPr marL="0" indent="0">
              <a:buNone/>
            </a:pPr>
            <a:r>
              <a:rPr lang="vi-VN"/>
              <a:t>case</a:t>
            </a:r>
          </a:p>
          <a:p>
            <a:pPr marL="0" indent="0">
              <a:buNone/>
            </a:pPr>
            <a:r>
              <a:rPr lang="vi-VN"/>
              <a:t>float</a:t>
            </a:r>
          </a:p>
          <a:p>
            <a:pPr marL="0" indent="0">
              <a:buNone/>
            </a:pPr>
            <a:r>
              <a:rPr lang="vi-VN"/>
              <a:t>params</a:t>
            </a:r>
          </a:p>
          <a:p>
            <a:pPr marL="0" indent="0">
              <a:buNone/>
            </a:pPr>
            <a:r>
              <a:rPr lang="vi-VN"/>
              <a:t>typeof</a:t>
            </a:r>
          </a:p>
          <a:p>
            <a:pPr marL="0" indent="0">
              <a:buNone/>
            </a:pPr>
            <a:r>
              <a:rPr lang="vi-VN"/>
              <a:t>catch</a:t>
            </a:r>
          </a:p>
          <a:p>
            <a:pPr marL="0" indent="0">
              <a:buNone/>
            </a:pPr>
            <a:r>
              <a:rPr lang="vi-VN"/>
              <a:t>for</a:t>
            </a:r>
          </a:p>
          <a:p>
            <a:pPr marL="0" indent="0">
              <a:buNone/>
            </a:pPr>
            <a:r>
              <a:rPr lang="vi-VN"/>
              <a:t>private</a:t>
            </a:r>
          </a:p>
          <a:p>
            <a:pPr marL="0" indent="0">
              <a:buNone/>
            </a:pPr>
            <a:r>
              <a:rPr lang="vi-VN"/>
              <a:t>uint</a:t>
            </a:r>
          </a:p>
          <a:p>
            <a:pPr marL="0" indent="0">
              <a:buNone/>
            </a:pPr>
            <a:r>
              <a:rPr lang="vi-VN"/>
              <a:t>char</a:t>
            </a:r>
          </a:p>
          <a:p>
            <a:pPr marL="0" indent="0">
              <a:buNone/>
            </a:pPr>
            <a:r>
              <a:rPr lang="vi-VN"/>
              <a:t>foreach</a:t>
            </a:r>
          </a:p>
          <a:p>
            <a:pPr marL="0" indent="0">
              <a:buNone/>
            </a:pPr>
            <a:r>
              <a:rPr lang="vi-VN"/>
              <a:t>protected</a:t>
            </a:r>
          </a:p>
          <a:p>
            <a:pPr marL="0" indent="0">
              <a:buNone/>
            </a:pPr>
            <a:r>
              <a:rPr lang="vi-VN"/>
              <a:t>ulong</a:t>
            </a:r>
          </a:p>
          <a:p>
            <a:pPr marL="0" indent="0">
              <a:buNone/>
            </a:pPr>
            <a:r>
              <a:rPr lang="vi-VN"/>
              <a:t>checked</a:t>
            </a:r>
          </a:p>
          <a:p>
            <a:pPr marL="0" indent="0">
              <a:buNone/>
            </a:pPr>
            <a:r>
              <a:rPr lang="vi-VN"/>
              <a:t>goto</a:t>
            </a:r>
          </a:p>
          <a:p>
            <a:pPr marL="0" indent="0">
              <a:buNone/>
            </a:pPr>
            <a:r>
              <a:rPr lang="vi-VN"/>
              <a:t>public</a:t>
            </a:r>
          </a:p>
          <a:p>
            <a:pPr marL="0" indent="0">
              <a:buNone/>
            </a:pPr>
            <a:r>
              <a:rPr lang="vi-VN"/>
              <a:t>unchecked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D19A4-0495-44BA-BEB6-2EEBA3496704}" type="datetime1">
              <a:rPr lang="vi-VN" smtClean="0"/>
              <a:t>06/01/2026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2. Các thành phần cơ bản trong C#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19</a:t>
            </a:fld>
            <a:r>
              <a:rPr lang="vi-VN"/>
              <a:t>/47</a:t>
            </a:r>
          </a:p>
        </p:txBody>
      </p:sp>
    </p:spTree>
    <p:extLst>
      <p:ext uri="{BB962C8B-B14F-4D97-AF65-F5344CB8AC3E}">
        <p14:creationId xmlns:p14="http://schemas.microsoft.com/office/powerpoint/2010/main" val="22999348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Console nhập xuất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Đọc ký tự văn bản từ cửa sổ console</a:t>
            </a:r>
          </a:p>
          <a:p>
            <a:pPr lvl="1"/>
            <a:r>
              <a:rPr lang="vi-VN"/>
              <a:t>Console.Read()</a:t>
            </a:r>
            <a:endParaRPr lang="en-US"/>
          </a:p>
          <a:p>
            <a:pPr lvl="1"/>
            <a:r>
              <a:rPr lang="vi-VN"/>
              <a:t>Console.ReadLine()</a:t>
            </a:r>
            <a:endParaRPr lang="en-US"/>
          </a:p>
          <a:p>
            <a:r>
              <a:rPr lang="vi-VN"/>
              <a:t>Xuất chuỗi kí tự</a:t>
            </a:r>
          </a:p>
          <a:p>
            <a:pPr lvl="1"/>
            <a:r>
              <a:rPr lang="vi-VN"/>
              <a:t>Console.Write()</a:t>
            </a:r>
          </a:p>
          <a:p>
            <a:pPr lvl="1"/>
            <a:r>
              <a:rPr lang="vi-VN"/>
              <a:t>Console.WriteLine()</a:t>
            </a:r>
          </a:p>
          <a:p>
            <a:pPr marL="471487" lvl="1" indent="0">
              <a:buNone/>
            </a:pPr>
            <a:r>
              <a:rPr lang="vi-VN"/>
              <a:t>Ví dụ: </a:t>
            </a:r>
          </a:p>
          <a:p>
            <a:pPr marL="471487" lvl="1" indent="0">
              <a:buNone/>
            </a:pPr>
            <a:r>
              <a:rPr lang="vi-VN" sz="1800" b="1">
                <a:latin typeface="Courier New" pitchFamily="49" charset="0"/>
                <a:cs typeface="Courier New" pitchFamily="49" charset="0"/>
              </a:rPr>
              <a:t>Console.WriteLine("Bill total:\t{0,8:c}", billTotal); Console.WriteLine("Tip total/rate:\t{0,8:c} ({1:p1})", tip, tipRate);</a:t>
            </a:r>
          </a:p>
          <a:p>
            <a:pPr marL="471487" lvl="1" indent="0">
              <a:buNone/>
            </a:pPr>
            <a:r>
              <a:rPr lang="vi-VN"/>
              <a:t>Kết quả in ra màn hình</a:t>
            </a:r>
          </a:p>
          <a:p>
            <a:pPr marL="471487" lvl="1" indent="0"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Bill total: 	$52.23 </a:t>
            </a:r>
          </a:p>
          <a:p>
            <a:pPr marL="471487" lvl="1" indent="0">
              <a:buNone/>
            </a:pPr>
            <a:r>
              <a:rPr lang="en-US" sz="1800" b="1">
                <a:latin typeface="Courier New" pitchFamily="49" charset="0"/>
                <a:cs typeface="Courier New" pitchFamily="49" charset="0"/>
              </a:rPr>
              <a:t>Tip total/rate:  $9.40 (18.0 %)</a:t>
            </a:r>
            <a:endParaRPr lang="vi-VN" sz="18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7C69-3752-4AF5-9718-D693AACFEB70}" type="datetime1">
              <a:rPr lang="vi-VN" smtClean="0"/>
              <a:t>06/01/2026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2. Các thành phần cơ bản trong C#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20</a:t>
            </a:fld>
            <a:r>
              <a:rPr lang="vi-VN"/>
              <a:t>/47</a:t>
            </a:r>
          </a:p>
        </p:txBody>
      </p:sp>
    </p:spTree>
    <p:extLst>
      <p:ext uri="{BB962C8B-B14F-4D97-AF65-F5344CB8AC3E}">
        <p14:creationId xmlns:p14="http://schemas.microsoft.com/office/powerpoint/2010/main" val="15529407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Console nhập xuất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vi-VN"/>
              <a:t>Xuất chuỗi kí tự</a:t>
            </a:r>
          </a:p>
          <a:p>
            <a:pPr lvl="1"/>
            <a:r>
              <a:rPr lang="vi-VN"/>
              <a:t>Định dạng số:</a:t>
            </a:r>
          </a:p>
          <a:p>
            <a:pPr marL="471487" lvl="1" indent="0">
              <a:buNone/>
            </a:pPr>
            <a:r>
              <a:rPr lang="vi-VN"/>
              <a:t>Console.WriteLine(</a:t>
            </a:r>
            <a:r>
              <a:rPr lang="en-US"/>
              <a:t>“chuỗi định dạng”, số)</a:t>
            </a:r>
          </a:p>
          <a:p>
            <a:pPr lvl="1"/>
            <a:r>
              <a:rPr lang="en-US"/>
              <a:t>Trong đó:</a:t>
            </a:r>
          </a:p>
          <a:p>
            <a:pPr lvl="2"/>
            <a:r>
              <a:rPr lang="en-US"/>
              <a:t>Chuỗi định dạng: {số thứ tự, số lượng khoảng trống: kí tự định dạng}</a:t>
            </a:r>
          </a:p>
          <a:p>
            <a:pPr lvl="2"/>
            <a:r>
              <a:rPr lang="en-US"/>
              <a:t>Ví dụ: {0,8:C} viết kiểu tiền tệ, dành 8 vị trí</a:t>
            </a:r>
          </a:p>
          <a:p>
            <a:pPr lvl="1"/>
            <a:r>
              <a:rPr lang="en-US"/>
              <a:t>Một số kí tự định dạng</a:t>
            </a:r>
          </a:p>
          <a:p>
            <a:pPr lvl="2"/>
            <a:r>
              <a:rPr lang="en-US"/>
              <a:t>C: Currency</a:t>
            </a:r>
          </a:p>
          <a:p>
            <a:pPr lvl="2"/>
            <a:r>
              <a:rPr lang="en-US"/>
              <a:t>D: Decimal</a:t>
            </a:r>
          </a:p>
          <a:p>
            <a:pPr lvl="2"/>
            <a:r>
              <a:rPr lang="en-US"/>
              <a:t>E: Scientific</a:t>
            </a:r>
          </a:p>
          <a:p>
            <a:pPr lvl="2"/>
            <a:r>
              <a:rPr lang="en-US"/>
              <a:t>F: Fixed point</a:t>
            </a:r>
          </a:p>
          <a:p>
            <a:pPr lvl="2"/>
            <a:r>
              <a:rPr lang="en-US"/>
              <a:t>G: General (mặc định)</a:t>
            </a:r>
          </a:p>
          <a:p>
            <a:pPr lvl="2"/>
            <a:r>
              <a:rPr lang="en-US"/>
              <a:t>P: Percent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CD75-72AE-426C-BBE8-740885A5EC39}" type="datetime1">
              <a:rPr lang="vi-VN" smtClean="0"/>
              <a:t>06/01/2026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2. Các thành phần cơ bản trong C#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21</a:t>
            </a:fld>
            <a:r>
              <a:rPr lang="vi-VN"/>
              <a:t>/47</a:t>
            </a:r>
          </a:p>
        </p:txBody>
      </p:sp>
    </p:spTree>
    <p:extLst>
      <p:ext uri="{BB962C8B-B14F-4D97-AF65-F5344CB8AC3E}">
        <p14:creationId xmlns:p14="http://schemas.microsoft.com/office/powerpoint/2010/main" val="1580142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3E02E-597C-448D-A6E7-4B20AC621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2D3B6-3E74-42F7-A814-744A49B7D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Program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800" dirty="0" err="1">
                <a:solidFill>
                  <a:srgbClr val="A31515"/>
                </a:solidFill>
                <a:latin typeface="Consolas" panose="020B0609020204030204" pitchFamily="49" charset="0"/>
              </a:rPr>
              <a:t>tên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A31515"/>
                </a:solidFill>
                <a:latin typeface="Consolas" panose="020B0609020204030204" pitchFamily="49" charset="0"/>
              </a:rPr>
              <a:t>của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A31515"/>
                </a:solidFill>
                <a:latin typeface="Consolas" panose="020B0609020204030204" pitchFamily="49" charset="0"/>
              </a:rPr>
              <a:t>bạn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A31515"/>
                </a:solidFill>
                <a:latin typeface="Consolas" panose="020B0609020204030204" pitchFamily="49" charset="0"/>
              </a:rPr>
              <a:t>là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A31515"/>
                </a:solidFill>
                <a:latin typeface="Consolas" panose="020B0609020204030204" pitchFamily="49" charset="0"/>
              </a:rPr>
              <a:t>gì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? 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ten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Console.ReadLine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800" dirty="0" err="1">
                <a:solidFill>
                  <a:srgbClr val="A31515"/>
                </a:solidFill>
                <a:latin typeface="Consolas" panose="020B0609020204030204" pitchFamily="49" charset="0"/>
              </a:rPr>
              <a:t>Bạn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A31515"/>
                </a:solidFill>
                <a:latin typeface="Consolas" panose="020B0609020204030204" pitchFamily="49" charset="0"/>
              </a:rPr>
              <a:t>sống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 ở </a:t>
            </a:r>
            <a:r>
              <a:rPr lang="en-US" sz="1800" dirty="0" err="1">
                <a:solidFill>
                  <a:srgbClr val="A31515"/>
                </a:solidFill>
                <a:latin typeface="Consolas" panose="020B0609020204030204" pitchFamily="49" charset="0"/>
              </a:rPr>
              <a:t>đâu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vitri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Console.ReadLine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"Xin </a:t>
            </a:r>
            <a:r>
              <a:rPr lang="en-US" sz="1800" dirty="0" err="1">
                <a:solidFill>
                  <a:srgbClr val="A31515"/>
                </a:solidFill>
                <a:latin typeface="Consolas" panose="020B0609020204030204" pitchFamily="49" charset="0"/>
              </a:rPr>
              <a:t>chào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A31515"/>
                </a:solidFill>
                <a:latin typeface="Consolas" panose="020B0609020204030204" pitchFamily="49" charset="0"/>
              </a:rPr>
              <a:t>bạn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 {0}, </a:t>
            </a:r>
            <a:r>
              <a:rPr lang="en-US" sz="1800" dirty="0" err="1">
                <a:solidFill>
                  <a:srgbClr val="A31515"/>
                </a:solidFill>
                <a:latin typeface="Consolas" panose="020B0609020204030204" pitchFamily="49" charset="0"/>
              </a:rPr>
              <a:t>đến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A31515"/>
                </a:solidFill>
                <a:latin typeface="Consolas" panose="020B0609020204030204" pitchFamily="49" charset="0"/>
              </a:rPr>
              <a:t>từ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 {1}"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ten,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vitri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Console.Read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BDE9860-0262-4D98-A7AE-9E9EE17F28C7}"/>
              </a:ext>
            </a:extLst>
          </p:cNvPr>
          <p:cNvSpPr/>
          <p:nvPr/>
        </p:nvSpPr>
        <p:spPr>
          <a:xfrm>
            <a:off x="6427434" y="4421080"/>
            <a:ext cx="2343705" cy="292963"/>
          </a:xfrm>
          <a:custGeom>
            <a:avLst/>
            <a:gdLst>
              <a:gd name="connsiteX0" fmla="*/ 0 w 2343705"/>
              <a:gd name="connsiteY0" fmla="*/ 230819 h 292963"/>
              <a:gd name="connsiteX1" fmla="*/ 1571347 w 2343705"/>
              <a:gd name="connsiteY1" fmla="*/ 0 h 292963"/>
              <a:gd name="connsiteX2" fmla="*/ 1571347 w 2343705"/>
              <a:gd name="connsiteY2" fmla="*/ 0 h 292963"/>
              <a:gd name="connsiteX3" fmla="*/ 2343705 w 2343705"/>
              <a:gd name="connsiteY3" fmla="*/ 292963 h 292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3705" h="292963">
                <a:moveTo>
                  <a:pt x="0" y="230819"/>
                </a:moveTo>
                <a:lnTo>
                  <a:pt x="1571347" y="0"/>
                </a:lnTo>
                <a:lnTo>
                  <a:pt x="1571347" y="0"/>
                </a:lnTo>
                <a:lnTo>
                  <a:pt x="2343705" y="292963"/>
                </a:lnTo>
              </a:path>
            </a:pathLst>
          </a:custGeom>
          <a:ln w="28575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FF4DC76-D2BC-429D-8607-F2C09D0FBEE9}"/>
              </a:ext>
            </a:extLst>
          </p:cNvPr>
          <p:cNvSpPr/>
          <p:nvPr/>
        </p:nvSpPr>
        <p:spPr>
          <a:xfrm>
            <a:off x="7918882" y="4326148"/>
            <a:ext cx="1464815" cy="370139"/>
          </a:xfrm>
          <a:custGeom>
            <a:avLst/>
            <a:gdLst>
              <a:gd name="connsiteX0" fmla="*/ 0 w 1464815"/>
              <a:gd name="connsiteY0" fmla="*/ 352384 h 370139"/>
              <a:gd name="connsiteX1" fmla="*/ 550415 w 1464815"/>
              <a:gd name="connsiteY1" fmla="*/ 6155 h 370139"/>
              <a:gd name="connsiteX2" fmla="*/ 1145219 w 1464815"/>
              <a:gd name="connsiteY2" fmla="*/ 148198 h 370139"/>
              <a:gd name="connsiteX3" fmla="*/ 1464815 w 1464815"/>
              <a:gd name="connsiteY3" fmla="*/ 370139 h 370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4815" h="370139">
                <a:moveTo>
                  <a:pt x="0" y="352384"/>
                </a:moveTo>
                <a:cubicBezTo>
                  <a:pt x="179772" y="196285"/>
                  <a:pt x="359545" y="40186"/>
                  <a:pt x="550415" y="6155"/>
                </a:cubicBezTo>
                <a:cubicBezTo>
                  <a:pt x="741285" y="-27876"/>
                  <a:pt x="992819" y="87534"/>
                  <a:pt x="1145219" y="148198"/>
                </a:cubicBezTo>
                <a:cubicBezTo>
                  <a:pt x="1297619" y="208862"/>
                  <a:pt x="1381217" y="289500"/>
                  <a:pt x="1464815" y="370139"/>
                </a:cubicBezTo>
              </a:path>
            </a:pathLst>
          </a:cu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7059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Không gian tên (namespace)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C#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loại</a:t>
            </a:r>
            <a:endParaRPr lang="en-US" dirty="0"/>
          </a:p>
          <a:p>
            <a:r>
              <a:rPr lang="en-US" dirty="0"/>
              <a:t>Cho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dàng</a:t>
            </a:r>
            <a:r>
              <a:rPr lang="en-US" dirty="0"/>
              <a:t> </a:t>
            </a:r>
            <a:r>
              <a:rPr lang="en-US" dirty="0" err="1"/>
              <a:t>tái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nguồn</a:t>
            </a:r>
            <a:endParaRPr lang="en-US" dirty="0"/>
          </a:p>
          <a:p>
            <a:r>
              <a:rPr lang="en-US" dirty="0"/>
              <a:t>Trong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viện</a:t>
            </a:r>
            <a:r>
              <a:rPr lang="en-US" dirty="0"/>
              <a:t> .NET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tên</a:t>
            </a:r>
            <a:endParaRPr lang="en-US" dirty="0"/>
          </a:p>
          <a:p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chiếu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CD309-DB7F-4B39-AC06-E2C7277C95C5}" type="datetime1">
              <a:rPr lang="vi-VN" smtClean="0"/>
              <a:t>06/01/2026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2. Các thành phần cơ bản trong C#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23</a:t>
            </a:fld>
            <a:r>
              <a:rPr lang="vi-VN"/>
              <a:t>/47</a:t>
            </a:r>
          </a:p>
        </p:txBody>
      </p:sp>
    </p:spTree>
    <p:extLst>
      <p:ext uri="{BB962C8B-B14F-4D97-AF65-F5344CB8AC3E}">
        <p14:creationId xmlns:p14="http://schemas.microsoft.com/office/powerpoint/2010/main" val="1128584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namespace cơ bản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3999-7166-41C0-9517-CA076F5EE648}" type="datetime1">
              <a:rPr lang="vi-VN" smtClean="0"/>
              <a:t>06/01/2026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2. Các thành phần cơ bản trong C#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568" y="1412776"/>
            <a:ext cx="8111102" cy="4693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24</a:t>
            </a:fld>
            <a:r>
              <a:rPr lang="vi-VN"/>
              <a:t>/47</a:t>
            </a:r>
          </a:p>
        </p:txBody>
      </p:sp>
    </p:spTree>
    <p:extLst>
      <p:ext uri="{BB962C8B-B14F-4D97-AF65-F5344CB8AC3E}">
        <p14:creationId xmlns:p14="http://schemas.microsoft.com/office/powerpoint/2010/main" val="18645414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Không gian tên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Khai báo sử dụng:</a:t>
            </a:r>
          </a:p>
          <a:p>
            <a:pPr lvl="1"/>
            <a:r>
              <a:rPr lang="en-US"/>
              <a:t>Using &lt;tên namespace&gt;;</a:t>
            </a:r>
          </a:p>
          <a:p>
            <a:r>
              <a:rPr lang="en-US"/>
              <a:t>Tạo không gian tên:</a:t>
            </a:r>
          </a:p>
          <a:p>
            <a:pPr lvl="1"/>
            <a:r>
              <a:rPr lang="en-US"/>
              <a:t>namespace &lt;Tên namespace&gt;</a:t>
            </a:r>
          </a:p>
          <a:p>
            <a:pPr marL="471487" lvl="1" indent="0">
              <a:buNone/>
            </a:pPr>
            <a:r>
              <a:rPr lang="en-US"/>
              <a:t>	{</a:t>
            </a:r>
          </a:p>
          <a:p>
            <a:pPr marL="471487" lvl="1" indent="0">
              <a:buNone/>
            </a:pPr>
            <a:r>
              <a:rPr lang="en-US"/>
              <a:t>		&lt;Định nghĩa lớp A&gt;</a:t>
            </a:r>
          </a:p>
          <a:p>
            <a:pPr marL="471487" lvl="1" indent="0">
              <a:buNone/>
            </a:pPr>
            <a:r>
              <a:rPr lang="en-US"/>
              <a:t>		&lt;Định nghĩa lớp B&gt;</a:t>
            </a:r>
          </a:p>
          <a:p>
            <a:pPr marL="471487" lvl="1" indent="0">
              <a:buNone/>
            </a:pPr>
            <a:r>
              <a:rPr lang="en-US"/>
              <a:t>		….</a:t>
            </a:r>
          </a:p>
          <a:p>
            <a:pPr marL="471487" lvl="1" indent="0">
              <a:buNone/>
            </a:pPr>
            <a:r>
              <a:rPr lang="en-US"/>
              <a:t>	}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37967-C84E-4535-BB2B-874B85CF954C}" type="datetime1">
              <a:rPr lang="vi-VN" smtClean="0"/>
              <a:t>06/01/2026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2. Các thành phần cơ bản trong C#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25</a:t>
            </a:fld>
            <a:r>
              <a:rPr lang="vi-VN"/>
              <a:t>/47</a:t>
            </a:r>
          </a:p>
        </p:txBody>
      </p:sp>
    </p:spTree>
    <p:extLst>
      <p:ext uri="{BB962C8B-B14F-4D97-AF65-F5344CB8AC3E}">
        <p14:creationId xmlns:p14="http://schemas.microsoft.com/office/powerpoint/2010/main" val="3340623204"/>
      </p:ext>
    </p:extLst>
  </p:cSld>
  <p:clrMapOvr>
    <a:masterClrMapping/>
  </p:clrMapOvr>
</p:sld>
</file>

<file path=ppt/theme/theme1.xml><?xml version="1.0" encoding="utf-8"?>
<a:theme xmlns:a="http://schemas.openxmlformats.org/drawingml/2006/main" name="0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00</Template>
  <TotalTime>219</TotalTime>
  <Words>1265</Words>
  <Application>Microsoft Macintosh PowerPoint</Application>
  <PresentationFormat>Widescreen</PresentationFormat>
  <Paragraphs>230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Consolas</vt:lpstr>
      <vt:lpstr>Courier New</vt:lpstr>
      <vt:lpstr>Wingdings</vt:lpstr>
      <vt:lpstr>00</vt:lpstr>
      <vt:lpstr>Chương 1</vt:lpstr>
      <vt:lpstr>Nội dung</vt:lpstr>
      <vt:lpstr>1. Tổng quan về .NET</vt:lpstr>
      <vt:lpstr>1. Tổng quan về .NET</vt:lpstr>
      <vt:lpstr>1. Tổng quan .NET</vt:lpstr>
      <vt:lpstr>1. Tổng quan .NET</vt:lpstr>
      <vt:lpstr>2. Tổng quản về MS visual studio</vt:lpstr>
      <vt:lpstr>PowerPoint Presentation</vt:lpstr>
      <vt:lpstr>PowerPoint Presentation</vt:lpstr>
      <vt:lpstr>PowerPoint Presentation</vt:lpstr>
      <vt:lpstr>PowerPoint Presentation</vt:lpstr>
      <vt:lpstr>3. Ngôn ngữ C#</vt:lpstr>
      <vt:lpstr>4. Giới thiệu ứng dụng console</vt:lpstr>
      <vt:lpstr>PowerPoint Presentation</vt:lpstr>
      <vt:lpstr>PowerPoint Presentation</vt:lpstr>
      <vt:lpstr>PowerPoint Presentation</vt:lpstr>
      <vt:lpstr>4. Cấu trúc chương trình C# </vt:lpstr>
      <vt:lpstr>Một số khái niệm trong C#</vt:lpstr>
      <vt:lpstr>Danh sách các từ khoá trong C#</vt:lpstr>
      <vt:lpstr>Console nhập xuất</vt:lpstr>
      <vt:lpstr>Console nhập xuất</vt:lpstr>
      <vt:lpstr>PowerPoint Presentation</vt:lpstr>
      <vt:lpstr>2. Không gian tên (namespace)</vt:lpstr>
      <vt:lpstr>Các namespace cơ bản</vt:lpstr>
      <vt:lpstr>Không gian tên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1</dc:title>
  <dc:creator>hue tran</dc:creator>
  <cp:lastModifiedBy>hue tran</cp:lastModifiedBy>
  <cp:revision>18</cp:revision>
  <dcterms:created xsi:type="dcterms:W3CDTF">2021-08-24T13:45:58Z</dcterms:created>
  <dcterms:modified xsi:type="dcterms:W3CDTF">2026-01-06T01:26:10Z</dcterms:modified>
</cp:coreProperties>
</file>