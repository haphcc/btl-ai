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1" r:id="rId1"/>
  </p:sldMasterIdLst>
  <p:notesMasterIdLst>
    <p:notesMasterId r:id="rId56"/>
  </p:notesMasterIdLst>
  <p:sldIdLst>
    <p:sldId id="256" r:id="rId2"/>
    <p:sldId id="259" r:id="rId3"/>
    <p:sldId id="260" r:id="rId4"/>
    <p:sldId id="279" r:id="rId5"/>
    <p:sldId id="262" r:id="rId6"/>
    <p:sldId id="280" r:id="rId7"/>
    <p:sldId id="261" r:id="rId8"/>
    <p:sldId id="268" r:id="rId9"/>
    <p:sldId id="276" r:id="rId10"/>
    <p:sldId id="277" r:id="rId11"/>
    <p:sldId id="263" r:id="rId12"/>
    <p:sldId id="264" r:id="rId13"/>
    <p:sldId id="266" r:id="rId14"/>
    <p:sldId id="265" r:id="rId15"/>
    <p:sldId id="269" r:id="rId16"/>
    <p:sldId id="270" r:id="rId17"/>
    <p:sldId id="272" r:id="rId18"/>
    <p:sldId id="273" r:id="rId19"/>
    <p:sldId id="274" r:id="rId20"/>
    <p:sldId id="281" r:id="rId21"/>
    <p:sldId id="275" r:id="rId22"/>
    <p:sldId id="278" r:id="rId23"/>
    <p:sldId id="282" r:id="rId24"/>
    <p:sldId id="284" r:id="rId25"/>
    <p:sldId id="285" r:id="rId26"/>
    <p:sldId id="286" r:id="rId27"/>
    <p:sldId id="299" r:id="rId28"/>
    <p:sldId id="287" r:id="rId29"/>
    <p:sldId id="288" r:id="rId30"/>
    <p:sldId id="289" r:id="rId31"/>
    <p:sldId id="290" r:id="rId32"/>
    <p:sldId id="291" r:id="rId33"/>
    <p:sldId id="292" r:id="rId34"/>
    <p:sldId id="293" r:id="rId35"/>
    <p:sldId id="294" r:id="rId36"/>
    <p:sldId id="295" r:id="rId37"/>
    <p:sldId id="296" r:id="rId38"/>
    <p:sldId id="298" r:id="rId39"/>
    <p:sldId id="300" r:id="rId40"/>
    <p:sldId id="301" r:id="rId41"/>
    <p:sldId id="283" r:id="rId42"/>
    <p:sldId id="302" r:id="rId43"/>
    <p:sldId id="303" r:id="rId44"/>
    <p:sldId id="304" r:id="rId45"/>
    <p:sldId id="305" r:id="rId46"/>
    <p:sldId id="308" r:id="rId47"/>
    <p:sldId id="306" r:id="rId48"/>
    <p:sldId id="307" r:id="rId49"/>
    <p:sldId id="309" r:id="rId50"/>
    <p:sldId id="313" r:id="rId51"/>
    <p:sldId id="314" r:id="rId52"/>
    <p:sldId id="310" r:id="rId53"/>
    <p:sldId id="311" r:id="rId54"/>
    <p:sldId id="312" r:id="rId55"/>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66"/>
    <a:srgbClr val="6DFB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83"/>
  </p:normalViewPr>
  <p:slideViewPr>
    <p:cSldViewPr>
      <p:cViewPr varScale="1">
        <p:scale>
          <a:sx n="102" d="100"/>
          <a:sy n="102" d="100"/>
        </p:scale>
        <p:origin x="1920"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59136-7F74-4509-B20E-AE351757F38F}" type="datetimeFigureOut">
              <a:rPr lang="vi-VN" smtClean="0"/>
              <a:t>20/02/2025</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A7600A-770C-47F1-89C1-5023B6D362E3}" type="slidenum">
              <a:rPr lang="vi-VN" smtClean="0"/>
              <a:t>‹#›</a:t>
            </a:fld>
            <a:endParaRPr lang="vi-VN"/>
          </a:p>
        </p:txBody>
      </p:sp>
    </p:spTree>
    <p:extLst>
      <p:ext uri="{BB962C8B-B14F-4D97-AF65-F5344CB8AC3E}">
        <p14:creationId xmlns:p14="http://schemas.microsoft.com/office/powerpoint/2010/main" val="47537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
        <p:nvSpPr>
          <p:cNvPr id="38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F68E398-2F6C-4593-8EEE-8DC7A0A69EB4}" type="slidenum">
              <a:rPr lang="en-US"/>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5123" name="Rectangle 3"/>
          <p:cNvSpPr>
            <a:spLocks noGrp="1" noChangeArrowheads="1"/>
          </p:cNvSpPr>
          <p:nvPr>
            <p:ph type="subTitle" idx="1"/>
          </p:nvPr>
        </p:nvSpPr>
        <p:spPr>
          <a:xfrm>
            <a:off x="1295400" y="4495800"/>
            <a:ext cx="7010400" cy="990600"/>
          </a:xfrm>
        </p:spPr>
        <p:txBody>
          <a:bodyPr/>
          <a:lstStyle>
            <a:lvl1pPr marL="0" indent="0" algn="ctr">
              <a:buFont typeface="Wingdings" pitchFamily="2" charset="2"/>
              <a:buNone/>
              <a:defRPr sz="2200" b="1">
                <a:solidFill>
                  <a:srgbClr val="000066"/>
                </a:solidFill>
              </a:defRPr>
            </a:lvl1pPr>
          </a:lstStyle>
          <a:p>
            <a:r>
              <a:rPr lang="en-US"/>
              <a:t>Click to edit Master subtitle style</a:t>
            </a:r>
            <a:endParaRPr lang="en-GB" dirty="0"/>
          </a:p>
        </p:txBody>
      </p:sp>
      <p:sp>
        <p:nvSpPr>
          <p:cNvPr id="6" name="Rectangle 5"/>
          <p:cNvSpPr>
            <a:spLocks noGrp="1" noChangeArrowheads="1"/>
          </p:cNvSpPr>
          <p:nvPr>
            <p:ph type="dt" sz="half" idx="10"/>
          </p:nvPr>
        </p:nvSpPr>
        <p:spPr>
          <a:xfrm>
            <a:off x="685800" y="6248400"/>
            <a:ext cx="1905000" cy="457200"/>
          </a:xfrm>
        </p:spPr>
        <p:txBody>
          <a:bodyPr/>
          <a:lstStyle>
            <a:lvl1pPr>
              <a:defRPr smtClean="0"/>
            </a:lvl1pPr>
          </a:lstStyle>
          <a:p>
            <a:fld id="{48E22D74-4F20-4605-B533-D54A7D1F086F}" type="datetime1">
              <a:rPr lang="vi-VN" smtClean="0"/>
              <a:t>20/02/2025</a:t>
            </a:fld>
            <a:endParaRPr lang="vi-VN"/>
          </a:p>
        </p:txBody>
      </p:sp>
      <p:sp>
        <p:nvSpPr>
          <p:cNvPr id="7" name="Rectangle 6"/>
          <p:cNvSpPr>
            <a:spLocks noGrp="1" noChangeArrowheads="1"/>
          </p:cNvSpPr>
          <p:nvPr>
            <p:ph type="ftr" sz="quarter" idx="11"/>
          </p:nvPr>
        </p:nvSpPr>
        <p:spPr>
          <a:xfrm>
            <a:off x="2643188" y="6248400"/>
            <a:ext cx="4357687" cy="457200"/>
          </a:xfrm>
        </p:spPr>
        <p:txBody>
          <a:bodyPr/>
          <a:lstStyle>
            <a:lvl1pPr>
              <a:defRPr smtClean="0"/>
            </a:lvl1pPr>
          </a:lstStyle>
          <a:p>
            <a:r>
              <a:rPr lang="vi-VN"/>
              <a:t>Chương 4. Lập trình giao diện trong Windows</a:t>
            </a:r>
          </a:p>
        </p:txBody>
      </p:sp>
      <p:sp>
        <p:nvSpPr>
          <p:cNvPr id="8" name="Rectangle 7"/>
          <p:cNvSpPr>
            <a:spLocks noGrp="1" noChangeArrowheads="1"/>
          </p:cNvSpPr>
          <p:nvPr>
            <p:ph type="sldNum" sz="quarter" idx="12"/>
          </p:nvPr>
        </p:nvSpPr>
        <p:spPr>
          <a:xfrm>
            <a:off x="7215188" y="6248400"/>
            <a:ext cx="1243012" cy="457200"/>
          </a:xfrm>
        </p:spPr>
        <p:txBody>
          <a:bodyPr/>
          <a:lstStyle>
            <a:lvl1pPr>
              <a:defRPr/>
            </a:lvl1pPr>
          </a:lstStyle>
          <a:p>
            <a:fld id="{5AB95402-1E0D-474E-8D8C-CBE7F053639E}" type="slidenum">
              <a:rPr lang="vi-VN" smtClean="0"/>
              <a:t>‹#›</a:t>
            </a:fld>
            <a:endParaRPr lang="vi-VN"/>
          </a:p>
        </p:txBody>
      </p:sp>
      <p:sp>
        <p:nvSpPr>
          <p:cNvPr id="10" name="Google Shape;21;p2">
            <a:extLst>
              <a:ext uri="{FF2B5EF4-FFF2-40B4-BE49-F238E27FC236}">
                <a16:creationId xmlns:a16="http://schemas.microsoft.com/office/drawing/2014/main" id="{AA310E7A-E5DA-435F-8002-AD83405DA8AF}"/>
              </a:ext>
            </a:extLst>
          </p:cNvPr>
          <p:cNvSpPr txBox="1"/>
          <p:nvPr/>
        </p:nvSpPr>
        <p:spPr>
          <a:xfrm>
            <a:off x="2339752" y="478413"/>
            <a:ext cx="5154352"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dirty="0">
                <a:solidFill>
                  <a:srgbClr val="0033CC"/>
                </a:solidFill>
                <a:latin typeface="Cambria"/>
                <a:ea typeface="Cambria"/>
                <a:cs typeface="Cambria"/>
                <a:sym typeface="Cambria"/>
              </a:rPr>
              <a:t>HỌC VIỆN NGÂN HÀNG</a:t>
            </a:r>
            <a:endParaRPr dirty="0"/>
          </a:p>
          <a:p>
            <a:pPr marL="0" marR="0" lvl="0" indent="0" algn="ctr" rtl="0">
              <a:spcBef>
                <a:spcPts val="0"/>
              </a:spcBef>
              <a:spcAft>
                <a:spcPts val="0"/>
              </a:spcAft>
              <a:buNone/>
            </a:pPr>
            <a:r>
              <a:rPr lang="en-US" sz="1800" b="1" dirty="0">
                <a:solidFill>
                  <a:srgbClr val="0033CC"/>
                </a:solidFill>
                <a:latin typeface="Cambria"/>
                <a:ea typeface="Cambria"/>
                <a:cs typeface="Cambria"/>
                <a:sym typeface="Cambria"/>
              </a:rPr>
              <a:t>KHOA CÔNG NGHỆ THÔNG TIN VÀ KINH TẾ SỐ</a:t>
            </a:r>
            <a:endParaRPr sz="1800" b="1" dirty="0">
              <a:solidFill>
                <a:srgbClr val="0033CC"/>
              </a:solidFill>
              <a:latin typeface="Cambria"/>
              <a:ea typeface="Cambria"/>
              <a:cs typeface="Cambria"/>
              <a:sym typeface="Cambria"/>
            </a:endParaRPr>
          </a:p>
        </p:txBody>
      </p:sp>
      <p:pic>
        <p:nvPicPr>
          <p:cNvPr id="11" name="Google Shape;22;p2">
            <a:extLst>
              <a:ext uri="{FF2B5EF4-FFF2-40B4-BE49-F238E27FC236}">
                <a16:creationId xmlns:a16="http://schemas.microsoft.com/office/drawing/2014/main" id="{3CE147D1-8D09-48D5-98E8-DF121DFB54FB}"/>
              </a:ext>
            </a:extLst>
          </p:cNvPr>
          <p:cNvPicPr preferRelativeResize="0"/>
          <p:nvPr/>
        </p:nvPicPr>
        <p:blipFill rotWithShape="1">
          <a:blip r:embed="rId2">
            <a:alphaModFix/>
          </a:blip>
          <a:srcRect/>
          <a:stretch/>
        </p:blipFill>
        <p:spPr>
          <a:xfrm>
            <a:off x="35496" y="-27384"/>
            <a:ext cx="1152128" cy="1152128"/>
          </a:xfrm>
          <a:prstGeom prst="rect">
            <a:avLst/>
          </a:prstGeom>
          <a:noFill/>
          <a:ln>
            <a:noFill/>
          </a:ln>
        </p:spPr>
      </p:pic>
      <p:sp>
        <p:nvSpPr>
          <p:cNvPr id="12" name="Rectangle 2">
            <a:extLst>
              <a:ext uri="{FF2B5EF4-FFF2-40B4-BE49-F238E27FC236}">
                <a16:creationId xmlns:a16="http://schemas.microsoft.com/office/drawing/2014/main" id="{D7E2560A-59D3-49CD-B712-A71D6BEE60FC}"/>
              </a:ext>
            </a:extLst>
          </p:cNvPr>
          <p:cNvSpPr>
            <a:spLocks noGrp="1" noChangeArrowheads="1"/>
          </p:cNvSpPr>
          <p:nvPr>
            <p:ph type="ctrTitle"/>
          </p:nvPr>
        </p:nvSpPr>
        <p:spPr>
          <a:xfrm>
            <a:off x="1066800" y="2590800"/>
            <a:ext cx="7620000" cy="990600"/>
          </a:xfrm>
          <a:prstGeom prst="rect">
            <a:avLst/>
          </a:prstGeom>
        </p:spPr>
        <p:txBody>
          <a:bodyPr/>
          <a:lstStyle>
            <a:lvl1pPr algn="ctr">
              <a:defRPr sz="3600" b="1">
                <a:solidFill>
                  <a:srgbClr val="0070C0"/>
                </a:solidFill>
                <a:effectLst/>
              </a:defRPr>
            </a:lvl1pPr>
          </a:lstStyle>
          <a:p>
            <a:r>
              <a:rPr lang="en-US"/>
              <a:t>Click to edit Master title style</a:t>
            </a:r>
            <a:endParaRPr lang="en-GB" dirty="0"/>
          </a:p>
        </p:txBody>
      </p:sp>
      <p:pic>
        <p:nvPicPr>
          <p:cNvPr id="2" name="Content Placeholder 3">
            <a:extLst>
              <a:ext uri="{FF2B5EF4-FFF2-40B4-BE49-F238E27FC236}">
                <a16:creationId xmlns:a16="http://schemas.microsoft.com/office/drawing/2014/main" id="{4A886BFA-8F4D-D6D0-BAA2-BEC49CCA5324}"/>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7736" b="29726"/>
          <a:stretch/>
        </p:blipFill>
        <p:spPr bwMode="auto">
          <a:xfrm>
            <a:off x="0" y="2153"/>
            <a:ext cx="9144000" cy="15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2481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821366D4-E861-4652-BF37-5119180CB378}" type="datetime1">
              <a:rPr lang="vi-VN" smtClean="0"/>
              <a:t>20/02/2025</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4. Lập trình giao diện trong Windows</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r>
              <a:rPr lang="vi-VN"/>
              <a:t>/51</a:t>
            </a:r>
          </a:p>
        </p:txBody>
      </p:sp>
      <p:sp>
        <p:nvSpPr>
          <p:cNvPr id="7" name="Title 1">
            <a:extLst>
              <a:ext uri="{FF2B5EF4-FFF2-40B4-BE49-F238E27FC236}">
                <a16:creationId xmlns:a16="http://schemas.microsoft.com/office/drawing/2014/main" id="{2783988D-941B-4D11-B261-C6D0BD51434D}"/>
              </a:ext>
            </a:extLst>
          </p:cNvPr>
          <p:cNvSpPr>
            <a:spLocks noGrp="1"/>
          </p:cNvSpPr>
          <p:nvPr>
            <p:ph type="title"/>
          </p:nvPr>
        </p:nvSpPr>
        <p:spPr>
          <a:xfrm>
            <a:off x="971600" y="381000"/>
            <a:ext cx="7488832" cy="685800"/>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616361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381000"/>
            <a:ext cx="7488832" cy="6858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75B3E305-1D01-4FAF-82F4-4EB2D68E7E78}" type="datetime1">
              <a:rPr lang="vi-VN" smtClean="0"/>
              <a:t>20/02/2025</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4. Lập trình giao diện trong Windows</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3508255497"/>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332656"/>
            <a:ext cx="8382000" cy="6858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7620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smtClean="0"/>
            </a:lvl1pPr>
          </a:lstStyle>
          <a:p>
            <a:fld id="{34BAF183-DEBC-4C17-A40E-78B260501A38}" type="datetime1">
              <a:rPr lang="vi-VN" smtClean="0"/>
              <a:t>20/02/2025</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4. Lập trình giao diện trong Windows</a:t>
            </a:r>
          </a:p>
        </p:txBody>
      </p:sp>
      <p:sp>
        <p:nvSpPr>
          <p:cNvPr id="7"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8032402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762000" y="1143000"/>
            <a:ext cx="7924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1029" name="Line 5"/>
          <p:cNvSpPr>
            <a:spLocks noChangeShapeType="1"/>
          </p:cNvSpPr>
          <p:nvPr/>
        </p:nvSpPr>
        <p:spPr bwMode="auto">
          <a:xfrm flipV="1">
            <a:off x="381000" y="6400800"/>
            <a:ext cx="8534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102" name="Rectangle 6"/>
          <p:cNvSpPr>
            <a:spLocks noGrp="1" noChangeArrowheads="1"/>
          </p:cNvSpPr>
          <p:nvPr>
            <p:ph type="dt" sz="half" idx="2"/>
          </p:nvPr>
        </p:nvSpPr>
        <p:spPr bwMode="auto">
          <a:xfrm>
            <a:off x="3810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cs typeface="Arial" charset="0"/>
              </a:defRPr>
            </a:lvl1pPr>
          </a:lstStyle>
          <a:p>
            <a:fld id="{75B3E305-1D01-4FAF-82F4-4EB2D68E7E78}" type="datetime1">
              <a:rPr lang="vi-VN" smtClean="0"/>
              <a:t>20/02/2025</a:t>
            </a:fld>
            <a:endParaRPr lang="vi-VN"/>
          </a:p>
        </p:txBody>
      </p:sp>
      <p:sp>
        <p:nvSpPr>
          <p:cNvPr id="4103" name="Rectangle 7"/>
          <p:cNvSpPr>
            <a:spLocks noGrp="1" noChangeArrowheads="1"/>
          </p:cNvSpPr>
          <p:nvPr>
            <p:ph type="ftr" sz="quarter" idx="3"/>
          </p:nvPr>
        </p:nvSpPr>
        <p:spPr bwMode="auto">
          <a:xfrm>
            <a:off x="2667000" y="6400800"/>
            <a:ext cx="3962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smtClean="0">
                <a:cs typeface="Arial" charset="0"/>
              </a:defRPr>
            </a:lvl1pPr>
          </a:lstStyle>
          <a:p>
            <a:r>
              <a:rPr lang="vi-VN"/>
              <a:t>Chương 4. Lập trình giao diện trong Windows</a:t>
            </a:r>
          </a:p>
        </p:txBody>
      </p:sp>
      <p:sp>
        <p:nvSpPr>
          <p:cNvPr id="4104" name="Rectangle 8"/>
          <p:cNvSpPr>
            <a:spLocks noGrp="1" noChangeArrowheads="1"/>
          </p:cNvSpPr>
          <p:nvPr>
            <p:ph type="sldNum" sz="quarter" idx="4"/>
          </p:nvPr>
        </p:nvSpPr>
        <p:spPr bwMode="auto">
          <a:xfrm>
            <a:off x="6934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cs typeface="Arial" charset="0"/>
              </a:defRPr>
            </a:lvl1pPr>
          </a:lstStyle>
          <a:p>
            <a:fld id="{5AB95402-1E0D-474E-8D8C-CBE7F053639E}" type="slidenum">
              <a:rPr lang="vi-VN" smtClean="0"/>
              <a:pPr/>
              <a:t>‹#›</a:t>
            </a:fld>
            <a:endParaRPr lang="vi-VN"/>
          </a:p>
        </p:txBody>
      </p:sp>
      <p:sp>
        <p:nvSpPr>
          <p:cNvPr id="10" name="Google Shape;10;p1">
            <a:extLst>
              <a:ext uri="{FF2B5EF4-FFF2-40B4-BE49-F238E27FC236}">
                <a16:creationId xmlns:a16="http://schemas.microsoft.com/office/drawing/2014/main" id="{AB76684D-C5AC-4EAC-9A78-150E667B573D}"/>
              </a:ext>
            </a:extLst>
          </p:cNvPr>
          <p:cNvSpPr/>
          <p:nvPr/>
        </p:nvSpPr>
        <p:spPr>
          <a:xfrm>
            <a:off x="783336" y="390700"/>
            <a:ext cx="7884368" cy="620363"/>
          </a:xfrm>
          <a:prstGeom prst="rect">
            <a:avLst/>
          </a:prstGeom>
          <a:solidFill>
            <a:srgbClr val="FF66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a:ea typeface="Verdana"/>
              <a:cs typeface="Verdana"/>
              <a:sym typeface="Verdana"/>
            </a:endParaRPr>
          </a:p>
        </p:txBody>
      </p:sp>
      <p:sp>
        <p:nvSpPr>
          <p:cNvPr id="11" name="Google Shape;12;p1">
            <a:extLst>
              <a:ext uri="{FF2B5EF4-FFF2-40B4-BE49-F238E27FC236}">
                <a16:creationId xmlns:a16="http://schemas.microsoft.com/office/drawing/2014/main" id="{917AF832-8BF5-4EE9-90AC-04B6A8FFBD63}"/>
              </a:ext>
            </a:extLst>
          </p:cNvPr>
          <p:cNvSpPr txBox="1">
            <a:spLocks noGrp="1"/>
          </p:cNvSpPr>
          <p:nvPr>
            <p:ph type="title"/>
          </p:nvPr>
        </p:nvSpPr>
        <p:spPr>
          <a:xfrm>
            <a:off x="903348" y="457199"/>
            <a:ext cx="7642103" cy="48736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800" b="1" i="0" u="none" strike="noStrike" cap="none">
                <a:solidFill>
                  <a:schemeClr val="lt1"/>
                </a:solidFill>
                <a:latin typeface="Cambria"/>
                <a:ea typeface="Cambria"/>
                <a:cs typeface="Cambria"/>
                <a:sym typeface="Cambria"/>
              </a:defRPr>
            </a:lvl1pPr>
            <a:lvl2pPr marR="0" lvl="1" algn="l" rtl="0">
              <a:spcBef>
                <a:spcPts val="0"/>
              </a:spcBef>
              <a:spcAft>
                <a:spcPts val="0"/>
              </a:spcAft>
              <a:buSzPts val="1400"/>
              <a:buNone/>
              <a:defRPr sz="2800" b="1"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2800" b="1"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2800" b="1"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2800" b="1"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2800" b="1"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2800" b="1"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2800" b="1"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2800" b="1" i="0" u="none" strike="noStrike" cap="none">
                <a:solidFill>
                  <a:schemeClr val="lt1"/>
                </a:solidFill>
                <a:latin typeface="Arial"/>
                <a:ea typeface="Arial"/>
                <a:cs typeface="Arial"/>
                <a:sym typeface="Arial"/>
              </a:defRPr>
            </a:lvl9pPr>
          </a:lstStyle>
          <a:p>
            <a:endParaRPr/>
          </a:p>
        </p:txBody>
      </p:sp>
      <p:pic>
        <p:nvPicPr>
          <p:cNvPr id="12" name="Google Shape;22;p2">
            <a:extLst>
              <a:ext uri="{FF2B5EF4-FFF2-40B4-BE49-F238E27FC236}">
                <a16:creationId xmlns:a16="http://schemas.microsoft.com/office/drawing/2014/main" id="{B881DEFE-B494-4541-8506-93EF8ABDD582}"/>
              </a:ext>
            </a:extLst>
          </p:cNvPr>
          <p:cNvPicPr preferRelativeResize="0"/>
          <p:nvPr/>
        </p:nvPicPr>
        <p:blipFill rotWithShape="1">
          <a:blip r:embed="rId6">
            <a:alphaModFix/>
          </a:blip>
          <a:srcRect/>
          <a:stretch/>
        </p:blipFill>
        <p:spPr>
          <a:xfrm>
            <a:off x="-195064" y="0"/>
            <a:ext cx="1152128" cy="1152128"/>
          </a:xfrm>
          <a:prstGeom prst="rect">
            <a:avLst/>
          </a:prstGeom>
          <a:noFill/>
          <a:ln>
            <a:noFill/>
          </a:ln>
        </p:spPr>
      </p:pic>
    </p:spTree>
    <p:extLst>
      <p:ext uri="{BB962C8B-B14F-4D97-AF65-F5344CB8AC3E}">
        <p14:creationId xmlns:p14="http://schemas.microsoft.com/office/powerpoint/2010/main" val="453338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Lst>
  <p:hf hdr="0"/>
  <p:txStyles>
    <p:title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lang="en-GB" sz="2800" smtClean="0">
          <a:solidFill>
            <a:schemeClr val="tx1"/>
          </a:solidFill>
          <a:latin typeface="+mn-lt"/>
          <a:ea typeface="+mn-ea"/>
          <a:cs typeface="+mn-cs"/>
        </a:defRPr>
      </a:lvl1pPr>
      <a:lvl2pPr marL="908050" indent="-436563" algn="l" rtl="0" eaLnBrk="1" fontAlgn="base" hangingPunct="1">
        <a:spcBef>
          <a:spcPct val="15000"/>
        </a:spcBef>
        <a:spcAft>
          <a:spcPct val="0"/>
        </a:spcAft>
        <a:buClr>
          <a:schemeClr val="accent2"/>
        </a:buClr>
        <a:buSzPct val="80000"/>
        <a:buFont typeface="Wingdings" pitchFamily="2" charset="2"/>
        <a:buChar char="n"/>
        <a:defRPr lang="en-GB" sz="2400" smtClean="0">
          <a:solidFill>
            <a:srgbClr val="0000FF"/>
          </a:solidFill>
          <a:latin typeface="+mn-lt"/>
          <a:cs typeface="+mn-cs"/>
        </a:defRPr>
      </a:lvl2pPr>
      <a:lvl3pPr marL="1304925" indent="-395288" algn="l" rtl="0" eaLnBrk="1" fontAlgn="base" hangingPunct="1">
        <a:spcBef>
          <a:spcPct val="15000"/>
        </a:spcBef>
        <a:spcAft>
          <a:spcPct val="0"/>
        </a:spcAft>
        <a:buClr>
          <a:schemeClr val="accent2"/>
        </a:buClr>
        <a:buSzPct val="80000"/>
        <a:buFont typeface="Wingdings" pitchFamily="2" charset="2"/>
        <a:buChar char="o"/>
        <a:defRPr lang="en-GB" sz="2000" smtClean="0">
          <a:solidFill>
            <a:srgbClr val="002060"/>
          </a:solidFill>
          <a:latin typeface="+mn-lt"/>
          <a:cs typeface="+mn-cs"/>
        </a:defRPr>
      </a:lvl3pPr>
      <a:lvl4pPr marL="1693863" indent="-387350" algn="l" rtl="0" eaLnBrk="1" fontAlgn="base" hangingPunct="1">
        <a:spcBef>
          <a:spcPct val="15000"/>
        </a:spcBef>
        <a:spcAft>
          <a:spcPct val="0"/>
        </a:spcAft>
        <a:buClr>
          <a:schemeClr val="accent2"/>
        </a:buClr>
        <a:buSzPct val="80000"/>
        <a:buFont typeface="Wingdings" pitchFamily="2" charset="2"/>
        <a:buChar char="n"/>
        <a:defRPr lang="en-GB" sz="1800" smtClean="0">
          <a:solidFill>
            <a:srgbClr val="000066"/>
          </a:solidFill>
          <a:latin typeface="+mn-lt"/>
          <a:cs typeface="+mn-cs"/>
        </a:defRPr>
      </a:lvl4pPr>
      <a:lvl5pPr marL="20939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youtube.com/watch?v=1pLZxy9ZK1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endParaRPr lang="en-US"/>
          </a:p>
        </p:txBody>
      </p:sp>
      <p:sp>
        <p:nvSpPr>
          <p:cNvPr id="2" name="Title 1"/>
          <p:cNvSpPr>
            <a:spLocks noGrp="1"/>
          </p:cNvSpPr>
          <p:nvPr>
            <p:ph type="ctrTitle"/>
          </p:nvPr>
        </p:nvSpPr>
        <p:spPr>
          <a:xfrm>
            <a:off x="0" y="2590800"/>
            <a:ext cx="9144000" cy="990600"/>
          </a:xfrm>
        </p:spPr>
        <p:txBody>
          <a:bodyPr>
            <a:normAutofit fontScale="90000"/>
          </a:bodyPr>
          <a:lstStyle/>
          <a:p>
            <a:r>
              <a:rPr lang="en-US"/>
              <a:t>Chương 4</a:t>
            </a:r>
            <a:br>
              <a:rPr lang="en-US"/>
            </a:br>
            <a:r>
              <a:rPr lang="en-US"/>
              <a:t>LẬP TRÌNH GIAO DIỆN </a:t>
            </a:r>
            <a:br>
              <a:rPr lang="en-US"/>
            </a:br>
            <a:r>
              <a:rPr lang="en-US"/>
              <a:t>TRONG WINDOWS</a:t>
            </a:r>
            <a:endParaRPr lang="vi-VN"/>
          </a:p>
        </p:txBody>
      </p:sp>
    </p:spTree>
    <p:extLst>
      <p:ext uri="{BB962C8B-B14F-4D97-AF65-F5344CB8AC3E}">
        <p14:creationId xmlns:p14="http://schemas.microsoft.com/office/powerpoint/2010/main" val="665657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41B2EA-7924-4870-B761-0572B8531FCC}" type="datetime1">
              <a:rPr lang="vi-VN" smtClean="0"/>
              <a:t>20/02/2025</a:t>
            </a:fld>
            <a:endParaRPr lang="vi-VN"/>
          </a:p>
        </p:txBody>
      </p:sp>
      <p:sp>
        <p:nvSpPr>
          <p:cNvPr id="16387" name="Footer Placeholder 3"/>
          <p:cNvSpPr>
            <a:spLocks noGrp="1"/>
          </p:cNvSpPr>
          <p:nvPr>
            <p:ph type="ftr" sz="quarter" idx="11"/>
          </p:nvPr>
        </p:nvSpPr>
        <p:spPr>
          <a:noFill/>
        </p:spPr>
        <p:txBody>
          <a:bodyPr/>
          <a:lstStyle/>
          <a:p>
            <a:r>
              <a:rPr lang="vi-VN"/>
              <a:t>Chương 4. Lập trình giao diện trong Windows</a:t>
            </a:r>
            <a:endParaRPr lang="en-US"/>
          </a:p>
        </p:txBody>
      </p:sp>
      <p:sp>
        <p:nvSpPr>
          <p:cNvPr id="3" name="Slide Number Placeholder 2"/>
          <p:cNvSpPr>
            <a:spLocks noGrp="1"/>
          </p:cNvSpPr>
          <p:nvPr>
            <p:ph type="sldNum" sz="quarter" idx="12"/>
          </p:nvPr>
        </p:nvSpPr>
        <p:spPr/>
        <p:txBody>
          <a:bodyPr/>
          <a:lstStyle/>
          <a:p>
            <a:fld id="{5AB95402-1E0D-474E-8D8C-CBE7F053639E}" type="slidenum">
              <a:rPr lang="vi-VN" smtClean="0"/>
              <a:pPr/>
              <a:t>2</a:t>
            </a:fld>
            <a:r>
              <a:rPr lang="vi-VN"/>
              <a:t>/51</a:t>
            </a:r>
          </a:p>
        </p:txBody>
      </p:sp>
      <p:sp>
        <p:nvSpPr>
          <p:cNvPr id="16386" name="Title 1"/>
          <p:cNvSpPr>
            <a:spLocks noGrp="1"/>
          </p:cNvSpPr>
          <p:nvPr>
            <p:ph type="title"/>
          </p:nvPr>
        </p:nvSpPr>
        <p:spPr/>
        <p:txBody>
          <a:bodyPr/>
          <a:lstStyle/>
          <a:p>
            <a:r>
              <a:rPr lang="en-US"/>
              <a:t>Nội dung</a:t>
            </a:r>
          </a:p>
        </p:txBody>
      </p:sp>
      <p:grpSp>
        <p:nvGrpSpPr>
          <p:cNvPr id="44" name="Group 46"/>
          <p:cNvGrpSpPr>
            <a:grpSpLocks/>
          </p:cNvGrpSpPr>
          <p:nvPr/>
        </p:nvGrpSpPr>
        <p:grpSpPr bwMode="auto">
          <a:xfrm>
            <a:off x="1619672" y="1905002"/>
            <a:ext cx="6624736" cy="820738"/>
            <a:chOff x="1296" y="1824"/>
            <a:chExt cx="2976" cy="517"/>
          </a:xfrm>
        </p:grpSpPr>
        <p:sp>
          <p:nvSpPr>
            <p:cNvPr id="45" name="AutoShape 47"/>
            <p:cNvSpPr>
              <a:spLocks noChangeArrowheads="1"/>
            </p:cNvSpPr>
            <p:nvPr/>
          </p:nvSpPr>
          <p:spPr bwMode="gray">
            <a:xfrm>
              <a:off x="1536" y="1899"/>
              <a:ext cx="2736" cy="288"/>
            </a:xfrm>
            <a:prstGeom prst="roundRect">
              <a:avLst>
                <a:gd name="adj" fmla="val 16667"/>
              </a:avLst>
            </a:prstGeom>
            <a:gradFill rotWithShape="1">
              <a:gsLst>
                <a:gs pos="0">
                  <a:srgbClr val="85BA54">
                    <a:gamma/>
                    <a:tint val="21176"/>
                    <a:invGamma/>
                  </a:srgbClr>
                </a:gs>
                <a:gs pos="100000">
                  <a:srgbClr val="85BA5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6" name="AutoShape 48"/>
            <p:cNvSpPr>
              <a:spLocks noChangeArrowheads="1"/>
            </p:cNvSpPr>
            <p:nvPr/>
          </p:nvSpPr>
          <p:spPr bwMode="gray">
            <a:xfrm>
              <a:off x="1296" y="1824"/>
              <a:ext cx="432" cy="432"/>
            </a:xfrm>
            <a:prstGeom prst="diamond">
              <a:avLst/>
            </a:prstGeom>
            <a:solidFill>
              <a:srgbClr val="85BA5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47" name="Text Box 49"/>
            <p:cNvSpPr txBox="1">
              <a:spLocks noChangeArrowheads="1"/>
            </p:cNvSpPr>
            <p:nvPr/>
          </p:nvSpPr>
          <p:spPr bwMode="gray">
            <a:xfrm>
              <a:off x="1824" y="1934"/>
              <a:ext cx="2448" cy="407"/>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Giới</a:t>
              </a:r>
              <a:r>
                <a:rPr kumimoji="0" lang="en-US" sz="1800" b="1" i="0" u="none" strike="noStrike" kern="0" cap="none" spc="0" normalizeH="0" noProof="0">
                  <a:ln>
                    <a:noFill/>
                  </a:ln>
                  <a:solidFill>
                    <a:srgbClr val="000000"/>
                  </a:solidFill>
                  <a:effectLst/>
                  <a:uLnTx/>
                  <a:uFillTx/>
                  <a:latin typeface="Arial" charset="0"/>
                  <a:cs typeface="Arial" charset="0"/>
                </a:rPr>
                <a:t> thiệu về lập trình giao diện trong Windows </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48" name="Text Box 5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1</a:t>
              </a:r>
            </a:p>
          </p:txBody>
        </p:sp>
      </p:grpSp>
      <p:grpSp>
        <p:nvGrpSpPr>
          <p:cNvPr id="49" name="Group 51"/>
          <p:cNvGrpSpPr>
            <a:grpSpLocks/>
          </p:cNvGrpSpPr>
          <p:nvPr/>
        </p:nvGrpSpPr>
        <p:grpSpPr bwMode="auto">
          <a:xfrm>
            <a:off x="1619672" y="2743200"/>
            <a:ext cx="6624736" cy="685800"/>
            <a:chOff x="1296" y="1824"/>
            <a:chExt cx="2976" cy="432"/>
          </a:xfrm>
        </p:grpSpPr>
        <p:sp>
          <p:nvSpPr>
            <p:cNvPr id="50" name="AutoShape 52"/>
            <p:cNvSpPr>
              <a:spLocks noChangeArrowheads="1"/>
            </p:cNvSpPr>
            <p:nvPr/>
          </p:nvSpPr>
          <p:spPr bwMode="gray">
            <a:xfrm>
              <a:off x="1536" y="1899"/>
              <a:ext cx="2736" cy="288"/>
            </a:xfrm>
            <a:prstGeom prst="roundRect">
              <a:avLst>
                <a:gd name="adj" fmla="val 16667"/>
              </a:avLst>
            </a:prstGeom>
            <a:gradFill rotWithShape="1">
              <a:gsLst>
                <a:gs pos="0">
                  <a:srgbClr val="DE8848">
                    <a:gamma/>
                    <a:tint val="21176"/>
                    <a:invGamma/>
                  </a:srgbClr>
                </a:gs>
                <a:gs pos="100000">
                  <a:srgbClr val="DE8848"/>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1" name="AutoShape 53"/>
            <p:cNvSpPr>
              <a:spLocks noChangeArrowheads="1"/>
            </p:cNvSpPr>
            <p:nvPr/>
          </p:nvSpPr>
          <p:spPr bwMode="gray">
            <a:xfrm>
              <a:off x="1296" y="1824"/>
              <a:ext cx="432" cy="432"/>
            </a:xfrm>
            <a:prstGeom prst="diamond">
              <a:avLst/>
            </a:prstGeom>
            <a:solidFill>
              <a:srgbClr val="DE8848"/>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2" name="Text Box 5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Làm</a:t>
              </a:r>
              <a:r>
                <a:rPr kumimoji="0" lang="en-US" sz="1800" b="1" i="0" u="none" strike="noStrike" kern="0" cap="none" spc="0" normalizeH="0" noProof="0">
                  <a:ln>
                    <a:noFill/>
                  </a:ln>
                  <a:solidFill>
                    <a:srgbClr val="000000"/>
                  </a:solidFill>
                  <a:effectLst/>
                  <a:uLnTx/>
                  <a:uFillTx/>
                  <a:latin typeface="Arial" charset="0"/>
                  <a:cs typeface="Arial" charset="0"/>
                </a:rPr>
                <a:t> việc với Windows form và các điều khiển</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53" name="Text Box 5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2</a:t>
              </a:r>
            </a:p>
          </p:txBody>
        </p:sp>
      </p:grpSp>
      <p:grpSp>
        <p:nvGrpSpPr>
          <p:cNvPr id="54" name="Group 56"/>
          <p:cNvGrpSpPr>
            <a:grpSpLocks/>
          </p:cNvGrpSpPr>
          <p:nvPr/>
        </p:nvGrpSpPr>
        <p:grpSpPr bwMode="auto">
          <a:xfrm>
            <a:off x="1619672" y="3581400"/>
            <a:ext cx="6624736" cy="685800"/>
            <a:chOff x="1296" y="1824"/>
            <a:chExt cx="2976" cy="432"/>
          </a:xfrm>
        </p:grpSpPr>
        <p:sp>
          <p:nvSpPr>
            <p:cNvPr id="55" name="AutoShape 57"/>
            <p:cNvSpPr>
              <a:spLocks noChangeArrowheads="1"/>
            </p:cNvSpPr>
            <p:nvPr/>
          </p:nvSpPr>
          <p:spPr bwMode="gray">
            <a:xfrm>
              <a:off x="1536" y="1899"/>
              <a:ext cx="2736" cy="288"/>
            </a:xfrm>
            <a:prstGeom prst="roundRect">
              <a:avLst>
                <a:gd name="adj" fmla="val 16667"/>
              </a:avLst>
            </a:prstGeom>
            <a:gradFill rotWithShape="1">
              <a:gsLst>
                <a:gs pos="0">
                  <a:srgbClr val="5086C2">
                    <a:gamma/>
                    <a:tint val="21176"/>
                    <a:invGamma/>
                  </a:srgbClr>
                </a:gs>
                <a:gs pos="100000">
                  <a:srgbClr val="5086C2"/>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6" name="AutoShape 58"/>
            <p:cNvSpPr>
              <a:spLocks noChangeArrowheads="1"/>
            </p:cNvSpPr>
            <p:nvPr/>
          </p:nvSpPr>
          <p:spPr bwMode="gray">
            <a:xfrm>
              <a:off x="1296" y="1824"/>
              <a:ext cx="432" cy="432"/>
            </a:xfrm>
            <a:prstGeom prst="diamond">
              <a:avLst/>
            </a:prstGeom>
            <a:solidFill>
              <a:srgbClr val="4C59D2"/>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57" name="Text Box 59"/>
            <p:cNvSpPr txBox="1">
              <a:spLocks noChangeArrowheads="1"/>
            </p:cNvSpPr>
            <p:nvPr/>
          </p:nvSpPr>
          <p:spPr bwMode="gray">
            <a:xfrm>
              <a:off x="1824" y="1934"/>
              <a:ext cx="2448" cy="231"/>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Các</a:t>
              </a:r>
              <a:r>
                <a:rPr kumimoji="0" lang="en-US" sz="1800" b="1" i="0" u="none" strike="noStrike" kern="0" cap="none" spc="0" normalizeH="0" noProof="0">
                  <a:ln>
                    <a:noFill/>
                  </a:ln>
                  <a:solidFill>
                    <a:srgbClr val="000000"/>
                  </a:solidFill>
                  <a:effectLst/>
                  <a:uLnTx/>
                  <a:uFillTx/>
                  <a:latin typeface="Arial" charset="0"/>
                  <a:cs typeface="Arial" charset="0"/>
                </a:rPr>
                <a:t> hộp thoại thông dụng</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58" name="Text Box 60"/>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3</a:t>
              </a:r>
            </a:p>
          </p:txBody>
        </p:sp>
      </p:grpSp>
      <p:grpSp>
        <p:nvGrpSpPr>
          <p:cNvPr id="59" name="Group 61"/>
          <p:cNvGrpSpPr>
            <a:grpSpLocks/>
          </p:cNvGrpSpPr>
          <p:nvPr/>
        </p:nvGrpSpPr>
        <p:grpSpPr bwMode="auto">
          <a:xfrm>
            <a:off x="1619672" y="4495800"/>
            <a:ext cx="6624736" cy="685800"/>
            <a:chOff x="1296" y="1824"/>
            <a:chExt cx="2976" cy="432"/>
          </a:xfrm>
        </p:grpSpPr>
        <p:sp>
          <p:nvSpPr>
            <p:cNvPr id="60" name="AutoShape 62"/>
            <p:cNvSpPr>
              <a:spLocks noChangeArrowheads="1"/>
            </p:cNvSpPr>
            <p:nvPr/>
          </p:nvSpPr>
          <p:spPr bwMode="gray">
            <a:xfrm>
              <a:off x="1536" y="1899"/>
              <a:ext cx="2736" cy="288"/>
            </a:xfrm>
            <a:prstGeom prst="roundRect">
              <a:avLst>
                <a:gd name="adj" fmla="val 16667"/>
              </a:avLst>
            </a:prstGeom>
            <a:gradFill rotWithShape="1">
              <a:gsLst>
                <a:gs pos="0">
                  <a:srgbClr val="A0B5C4">
                    <a:gamma/>
                    <a:tint val="21176"/>
                    <a:invGamma/>
                  </a:srgbClr>
                </a:gs>
                <a:gs pos="100000">
                  <a:srgbClr val="A0B5C4"/>
                </a:gs>
              </a:gsLst>
              <a:lin ang="0" scaled="1"/>
            </a:gradFill>
            <a:ln w="12700" algn="ctr">
              <a:solidFill>
                <a:srgbClr val="FFFFFF"/>
              </a:solidFill>
              <a:round/>
              <a:headEnd/>
              <a:tailEnd/>
            </a:ln>
            <a:effectLst>
              <a:outerShdw dist="99190" dir="238833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61" name="AutoShape 63"/>
            <p:cNvSpPr>
              <a:spLocks noChangeArrowheads="1"/>
            </p:cNvSpPr>
            <p:nvPr/>
          </p:nvSpPr>
          <p:spPr bwMode="gray">
            <a:xfrm>
              <a:off x="1296" y="1824"/>
              <a:ext cx="432" cy="432"/>
            </a:xfrm>
            <a:prstGeom prst="diamond">
              <a:avLst/>
            </a:prstGeom>
            <a:solidFill>
              <a:srgbClr val="A0B5C4"/>
            </a:solidFill>
            <a:ln w="25400" algn="ctr">
              <a:solidFill>
                <a:srgbClr val="FFFFFF"/>
              </a:solidFill>
              <a:miter lim="800000"/>
              <a:headEnd/>
              <a:tailEnd/>
            </a:ln>
            <a:effectLst>
              <a:outerShdw dist="63500" dir="2212194" algn="ctr" rotWithShape="0">
                <a:srgbClr val="333333">
                  <a:alpha val="50000"/>
                </a:srgbClr>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3366"/>
                </a:solidFill>
                <a:effectLst/>
                <a:uLnTx/>
                <a:uFillTx/>
                <a:latin typeface="Arial" charset="0"/>
                <a:cs typeface="Arial" charset="0"/>
              </a:endParaRPr>
            </a:p>
          </p:txBody>
        </p:sp>
        <p:sp>
          <p:nvSpPr>
            <p:cNvPr id="62" name="Text Box 64"/>
            <p:cNvSpPr txBox="1">
              <a:spLocks noChangeArrowheads="1"/>
            </p:cNvSpPr>
            <p:nvPr/>
          </p:nvSpPr>
          <p:spPr bwMode="gray">
            <a:xfrm>
              <a:off x="1824" y="1934"/>
              <a:ext cx="2448" cy="233"/>
            </a:xfrm>
            <a:prstGeom prst="rect">
              <a:avLst/>
            </a:prstGeom>
            <a:noFill/>
            <a:ln w="9525" algn="ctr">
              <a:noFill/>
              <a:miter lim="800000"/>
              <a:headEnd/>
              <a:tailEnd/>
            </a:ln>
          </p:spPr>
          <p:txBody>
            <a:bodyPr>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800" b="1" i="0" u="none" strike="noStrike" kern="0" cap="none" spc="0" normalizeH="0" baseline="0" noProof="0">
                  <a:ln>
                    <a:noFill/>
                  </a:ln>
                  <a:solidFill>
                    <a:srgbClr val="000000"/>
                  </a:solidFill>
                  <a:effectLst/>
                  <a:uLnTx/>
                  <a:uFillTx/>
                  <a:latin typeface="Arial" charset="0"/>
                  <a:cs typeface="Arial" charset="0"/>
                </a:rPr>
                <a:t>Thực</a:t>
              </a:r>
              <a:r>
                <a:rPr kumimoji="0" lang="en-US" sz="1800" b="1" i="0" u="none" strike="noStrike" kern="0" cap="none" spc="0" normalizeH="0" noProof="0">
                  <a:ln>
                    <a:noFill/>
                  </a:ln>
                  <a:solidFill>
                    <a:srgbClr val="000000"/>
                  </a:solidFill>
                  <a:effectLst/>
                  <a:uLnTx/>
                  <a:uFillTx/>
                  <a:latin typeface="Arial" charset="0"/>
                  <a:cs typeface="Arial" charset="0"/>
                </a:rPr>
                <a:t> đơn và ứng dụng nhiều biểu mẫu</a:t>
              </a:r>
              <a:endParaRPr kumimoji="0" lang="en-US" sz="1800" b="1" i="0" u="none" strike="noStrike" kern="0" cap="none" spc="0" normalizeH="0" baseline="0" noProof="0">
                <a:ln>
                  <a:noFill/>
                </a:ln>
                <a:solidFill>
                  <a:srgbClr val="000000"/>
                </a:solidFill>
                <a:effectLst/>
                <a:uLnTx/>
                <a:uFillTx/>
                <a:latin typeface="Arial" charset="0"/>
                <a:cs typeface="Arial" charset="0"/>
              </a:endParaRPr>
            </a:p>
          </p:txBody>
        </p:sp>
        <p:sp>
          <p:nvSpPr>
            <p:cNvPr id="63" name="Text Box 65"/>
            <p:cNvSpPr txBox="1">
              <a:spLocks noChangeArrowheads="1"/>
            </p:cNvSpPr>
            <p:nvPr/>
          </p:nvSpPr>
          <p:spPr bwMode="gray">
            <a:xfrm>
              <a:off x="1393" y="1886"/>
              <a:ext cx="223" cy="288"/>
            </a:xfrm>
            <a:prstGeom prst="rect">
              <a:avLst/>
            </a:prstGeom>
            <a:noFill/>
            <a:ln w="9525" algn="ctr">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a:ln>
                    <a:noFill/>
                  </a:ln>
                  <a:solidFill>
                    <a:srgbClr val="FFFFFF"/>
                  </a:solidFill>
                  <a:effectLst/>
                  <a:uLnTx/>
                  <a:uFillTx/>
                  <a:latin typeface="Arial" charset="0"/>
                  <a:cs typeface="Arial" charset="0"/>
                </a:rPr>
                <a:t>4</a:t>
              </a:r>
            </a:p>
          </p:txBody>
        </p:sp>
      </p:grpSp>
    </p:spTree>
    <p:extLst>
      <p:ext uri="{BB962C8B-B14F-4D97-AF65-F5344CB8AC3E}">
        <p14:creationId xmlns:p14="http://schemas.microsoft.com/office/powerpoint/2010/main" val="1855818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anim calcmode="lin" valueType="num">
                                      <p:cBhvr>
                                        <p:cTn id="8" dur="500" fill="hold"/>
                                        <p:tgtEl>
                                          <p:spTgt spid="44"/>
                                        </p:tgtEl>
                                        <p:attrNameLst>
                                          <p:attrName>ppt_x</p:attrName>
                                        </p:attrNameLst>
                                      </p:cBhvr>
                                      <p:tavLst>
                                        <p:tav tm="0">
                                          <p:val>
                                            <p:strVal val="#ppt_x"/>
                                          </p:val>
                                        </p:tav>
                                        <p:tav tm="100000">
                                          <p:val>
                                            <p:strVal val="#ppt_x"/>
                                          </p:val>
                                        </p:tav>
                                      </p:tavLst>
                                    </p:anim>
                                    <p:anim calcmode="lin" valueType="num">
                                      <p:cBhvr>
                                        <p:cTn id="9" dur="500" fill="hold"/>
                                        <p:tgtEl>
                                          <p:spTgt spid="4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1000"/>
                                        <p:tgtEl>
                                          <p:spTgt spid="49"/>
                                        </p:tgtEl>
                                      </p:cBhvr>
                                    </p:animEffect>
                                    <p:anim calcmode="lin" valueType="num">
                                      <p:cBhvr>
                                        <p:cTn id="14" dur="1000" fill="hold"/>
                                        <p:tgtEl>
                                          <p:spTgt spid="49"/>
                                        </p:tgtEl>
                                        <p:attrNameLst>
                                          <p:attrName>ppt_x</p:attrName>
                                        </p:attrNameLst>
                                      </p:cBhvr>
                                      <p:tavLst>
                                        <p:tav tm="0">
                                          <p:val>
                                            <p:strVal val="#ppt_x"/>
                                          </p:val>
                                        </p:tav>
                                        <p:tav tm="100000">
                                          <p:val>
                                            <p:strVal val="#ppt_x"/>
                                          </p:val>
                                        </p:tav>
                                      </p:tavLst>
                                    </p:anim>
                                    <p:anim calcmode="lin" valueType="num">
                                      <p:cBhvr>
                                        <p:cTn id="15" dur="1000" fill="hold"/>
                                        <p:tgtEl>
                                          <p:spTgt spid="4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7" presetClass="entr" presetSubtype="0" fill="hold"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1000"/>
                                        <p:tgtEl>
                                          <p:spTgt spid="54"/>
                                        </p:tgtEl>
                                      </p:cBhvr>
                                    </p:animEffect>
                                    <p:anim calcmode="lin" valueType="num">
                                      <p:cBhvr>
                                        <p:cTn id="20" dur="1000" fill="hold"/>
                                        <p:tgtEl>
                                          <p:spTgt spid="54"/>
                                        </p:tgtEl>
                                        <p:attrNameLst>
                                          <p:attrName>ppt_x</p:attrName>
                                        </p:attrNameLst>
                                      </p:cBhvr>
                                      <p:tavLst>
                                        <p:tav tm="0">
                                          <p:val>
                                            <p:strVal val="#ppt_x"/>
                                          </p:val>
                                        </p:tav>
                                        <p:tav tm="100000">
                                          <p:val>
                                            <p:strVal val="#ppt_x"/>
                                          </p:val>
                                        </p:tav>
                                      </p:tavLst>
                                    </p:anim>
                                    <p:anim calcmode="lin" valueType="num">
                                      <p:cBhvr>
                                        <p:cTn id="21" dur="1000" fill="hold"/>
                                        <p:tgtEl>
                                          <p:spTgt spid="54"/>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7" presetClass="entr" presetSubtype="0" fill="hold" nodeType="afterEffect">
                                  <p:stCondLst>
                                    <p:cond delay="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1000"/>
                                        <p:tgtEl>
                                          <p:spTgt spid="59"/>
                                        </p:tgtEl>
                                      </p:cBhvr>
                                    </p:animEffect>
                                    <p:anim calcmode="lin" valueType="num">
                                      <p:cBhvr>
                                        <p:cTn id="26" dur="1000" fill="hold"/>
                                        <p:tgtEl>
                                          <p:spTgt spid="59"/>
                                        </p:tgtEl>
                                        <p:attrNameLst>
                                          <p:attrName>ppt_x</p:attrName>
                                        </p:attrNameLst>
                                      </p:cBhvr>
                                      <p:tavLst>
                                        <p:tav tm="0">
                                          <p:val>
                                            <p:strVal val="#ppt_x"/>
                                          </p:val>
                                        </p:tav>
                                        <p:tav tm="100000">
                                          <p:val>
                                            <p:strVal val="#ppt_x"/>
                                          </p:val>
                                        </p:tav>
                                      </p:tavLst>
                                    </p:anim>
                                    <p:anim calcmode="lin" valueType="num">
                                      <p:cBhvr>
                                        <p:cTn id="27"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sym typeface="Wingdings" pitchFamily="2" charset="2"/>
              </a:rPr>
              <a:t>.NET cung cấp WinForm và các điều khiển khác qua lớp cơ sở trong namespace System.Windows.Forms</a:t>
            </a:r>
          </a:p>
          <a:p>
            <a:r>
              <a:rPr lang="en-US">
                <a:sym typeface="Wingdings" pitchFamily="2" charset="2"/>
              </a:rPr>
              <a:t>Để thiết kế Windows Application</a:t>
            </a:r>
          </a:p>
          <a:p>
            <a:pPr lvl="1"/>
            <a:r>
              <a:rPr lang="en-US"/>
              <a:t>Tạo một Windows Application trong Visual 	Studio.Net và thêm System.Windows.Forms và 	System.Drawing</a:t>
            </a:r>
          </a:p>
          <a:p>
            <a:pPr lvl="1"/>
            <a:r>
              <a:rPr lang="vi-VN"/>
              <a:t>Tạo một lớp mới để biểu diễn WinForm và dẫn xuất từ System.Windows.Forms.Form</a:t>
            </a:r>
          </a:p>
          <a:p>
            <a:pPr lvl="1"/>
            <a:r>
              <a:rPr lang="vi-VN"/>
              <a:t>Khởi tạo các điều khiển khác nhau, thiết lập các 	thuộc tính và thêm tập hợp các điều khiển</a:t>
            </a:r>
            <a:endParaRPr lang="en-US"/>
          </a:p>
        </p:txBody>
      </p:sp>
      <p:sp>
        <p:nvSpPr>
          <p:cNvPr id="4" name="Date Placeholder 3"/>
          <p:cNvSpPr>
            <a:spLocks noGrp="1"/>
          </p:cNvSpPr>
          <p:nvPr>
            <p:ph type="dt" sz="half" idx="10"/>
          </p:nvPr>
        </p:nvSpPr>
        <p:spPr/>
        <p:txBody>
          <a:bodyPr/>
          <a:lstStyle/>
          <a:p>
            <a:fld id="{5854BAD7-65FE-4310-94DE-14E65F0D62C9}"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a:t>
            </a:fld>
            <a:r>
              <a:rPr lang="vi-VN"/>
              <a:t>/51</a:t>
            </a:r>
          </a:p>
        </p:txBody>
      </p:sp>
      <p:sp>
        <p:nvSpPr>
          <p:cNvPr id="2" name="Title 1"/>
          <p:cNvSpPr>
            <a:spLocks noGrp="1"/>
          </p:cNvSpPr>
          <p:nvPr>
            <p:ph type="title"/>
          </p:nvPr>
        </p:nvSpPr>
        <p:spPr/>
        <p:txBody>
          <a:bodyPr/>
          <a:lstStyle/>
          <a:p>
            <a:r>
              <a:rPr lang="en-US"/>
              <a:t>1. Lập trình giao diện trong Windows</a:t>
            </a:r>
          </a:p>
        </p:txBody>
      </p:sp>
    </p:spTree>
    <p:extLst>
      <p:ext uri="{BB962C8B-B14F-4D97-AF65-F5344CB8AC3E}">
        <p14:creationId xmlns:p14="http://schemas.microsoft.com/office/powerpoint/2010/main" val="3935040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930DC9B2-3F49-47AD-9138-9C592DAD9E57}"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a:t>
            </a:fld>
            <a:r>
              <a:rPr lang="vi-VN"/>
              <a:t>/51</a:t>
            </a:r>
          </a:p>
        </p:txBody>
      </p:sp>
      <p:sp>
        <p:nvSpPr>
          <p:cNvPr id="2" name="Title 1"/>
          <p:cNvSpPr>
            <a:spLocks noGrp="1"/>
          </p:cNvSpPr>
          <p:nvPr>
            <p:ph type="title"/>
          </p:nvPr>
        </p:nvSpPr>
        <p:spPr/>
        <p:txBody>
          <a:bodyPr/>
          <a:lstStyle/>
          <a:p>
            <a:r>
              <a:rPr lang="en-US"/>
              <a:t>Tạo ứng dụng Windows Form</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294929"/>
            <a:ext cx="7122368" cy="4816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2384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Form Designer</a:t>
            </a:r>
          </a:p>
          <a:p>
            <a:pPr lvl="1"/>
            <a:r>
              <a:rPr lang="vi-VN"/>
              <a:t>Thiết kế giao diện đồ họa người sử dụng các điều khiển (control) từ hộp công cụ (Toolbox)</a:t>
            </a:r>
          </a:p>
          <a:p>
            <a:r>
              <a:rPr lang="en-US">
                <a:solidFill>
                  <a:srgbClr val="003300"/>
                </a:solidFill>
              </a:rPr>
              <a:t>Properties window</a:t>
            </a:r>
          </a:p>
          <a:p>
            <a:pPr lvl="1"/>
            <a:r>
              <a:rPr lang="en-US"/>
              <a:t>Thiết lập thuộc tính</a:t>
            </a:r>
          </a:p>
          <a:p>
            <a:r>
              <a:rPr lang="en-US"/>
              <a:t>Solution Explorer</a:t>
            </a:r>
          </a:p>
          <a:p>
            <a:pPr lvl="1"/>
            <a:r>
              <a:rPr lang="en-US"/>
              <a:t>Solution: là tập tất cả các project</a:t>
            </a:r>
          </a:p>
          <a:p>
            <a:pPr lvl="1"/>
            <a:r>
              <a:rPr lang="en-US"/>
              <a:t>Reference: chứa các file assemblies</a:t>
            </a:r>
          </a:p>
          <a:p>
            <a:pPr lvl="1"/>
            <a:r>
              <a:rPr lang="en-US"/>
              <a:t>AssemblyInfo.cs: chứa thông tin assembly hiện tại</a:t>
            </a:r>
          </a:p>
          <a:p>
            <a:pPr lvl="1"/>
            <a:r>
              <a:rPr lang="en-US"/>
              <a:t>Form.cs: chứa file nguồn</a:t>
            </a:r>
          </a:p>
          <a:p>
            <a:endParaRPr lang="en-US"/>
          </a:p>
        </p:txBody>
      </p:sp>
      <p:sp>
        <p:nvSpPr>
          <p:cNvPr id="4" name="Date Placeholder 3"/>
          <p:cNvSpPr>
            <a:spLocks noGrp="1"/>
          </p:cNvSpPr>
          <p:nvPr>
            <p:ph type="dt" sz="half" idx="10"/>
          </p:nvPr>
        </p:nvSpPr>
        <p:spPr/>
        <p:txBody>
          <a:bodyPr/>
          <a:lstStyle/>
          <a:p>
            <a:fld id="{55B6A4C2-5144-4C20-AE08-85FC556DEB17}"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5</a:t>
            </a:fld>
            <a:r>
              <a:rPr lang="vi-VN"/>
              <a:t>/51</a:t>
            </a:r>
          </a:p>
        </p:txBody>
      </p:sp>
      <p:sp>
        <p:nvSpPr>
          <p:cNvPr id="2" name="Title 1"/>
          <p:cNvSpPr>
            <a:spLocks noGrp="1"/>
          </p:cNvSpPr>
          <p:nvPr>
            <p:ph type="title"/>
          </p:nvPr>
        </p:nvSpPr>
        <p:spPr/>
        <p:txBody>
          <a:bodyPr/>
          <a:lstStyle/>
          <a:p>
            <a:r>
              <a:rPr lang="en-US"/>
              <a:t>Windows Form</a:t>
            </a:r>
          </a:p>
        </p:txBody>
      </p:sp>
    </p:spTree>
    <p:extLst>
      <p:ext uri="{BB962C8B-B14F-4D97-AF65-F5344CB8AC3E}">
        <p14:creationId xmlns:p14="http://schemas.microsoft.com/office/powerpoint/2010/main" val="701926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7D128715-8AF6-4F0A-9C37-F88BA4B8B8E0}"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6</a:t>
            </a:fld>
            <a:r>
              <a:rPr lang="vi-VN"/>
              <a:t>/51</a:t>
            </a:r>
          </a:p>
        </p:txBody>
      </p:sp>
      <p:sp>
        <p:nvSpPr>
          <p:cNvPr id="2" name="Title 1"/>
          <p:cNvSpPr>
            <a:spLocks noGrp="1"/>
          </p:cNvSpPr>
          <p:nvPr>
            <p:ph type="title"/>
          </p:nvPr>
        </p:nvSpPr>
        <p:spPr/>
        <p:txBody>
          <a:bodyPr/>
          <a:lstStyle/>
          <a:p>
            <a:endParaRPr lang="en-US"/>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0"/>
            <a:ext cx="3200400"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276600"/>
            <a:ext cx="3209925"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0"/>
            <a:ext cx="3113088"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2743200"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7558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Điều khiển (control) là các thành phần cơ bản trên form</a:t>
            </a:r>
          </a:p>
          <a:p>
            <a:r>
              <a:rPr lang="en-US"/>
              <a:t>Có các thành phần</a:t>
            </a:r>
          </a:p>
          <a:p>
            <a:pPr lvl="1"/>
            <a:r>
              <a:rPr lang="en-US"/>
              <a:t>Thuộc tính (property)</a:t>
            </a:r>
          </a:p>
          <a:p>
            <a:pPr lvl="2"/>
            <a:r>
              <a:rPr lang="en-US"/>
              <a:t>Mô tả đối tượng: tên, chiều cao,...</a:t>
            </a:r>
          </a:p>
          <a:p>
            <a:pPr lvl="2"/>
            <a:r>
              <a:rPr lang="en-US"/>
              <a:t>Có thể xác định khi thiết kế (Design) hoặc thi hành (Runtime)</a:t>
            </a:r>
          </a:p>
          <a:p>
            <a:pPr lvl="1"/>
            <a:r>
              <a:rPr lang="en-US"/>
              <a:t>Phương thức (method)</a:t>
            </a:r>
          </a:p>
          <a:p>
            <a:pPr lvl="2"/>
            <a:r>
              <a:rPr lang="en-US"/>
              <a:t>Cách thức để thực hiện một công việc nào đó</a:t>
            </a:r>
          </a:p>
          <a:p>
            <a:pPr lvl="1"/>
            <a:r>
              <a:rPr lang="en-US"/>
              <a:t>Sự kiện (event)</a:t>
            </a:r>
          </a:p>
          <a:p>
            <a:pPr lvl="2"/>
            <a:r>
              <a:rPr lang="en-US"/>
              <a:t>Phản ứng của đối tượng dựa trên sự kiện xảy ra</a:t>
            </a:r>
          </a:p>
        </p:txBody>
      </p:sp>
      <p:sp>
        <p:nvSpPr>
          <p:cNvPr id="4" name="Date Placeholder 3"/>
          <p:cNvSpPr>
            <a:spLocks noGrp="1"/>
          </p:cNvSpPr>
          <p:nvPr>
            <p:ph type="dt" sz="half" idx="10"/>
          </p:nvPr>
        </p:nvSpPr>
        <p:spPr/>
        <p:txBody>
          <a:bodyPr/>
          <a:lstStyle/>
          <a:p>
            <a:fld id="{F7C69388-D5B4-4D10-A5FC-68BC59F15955}"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7</a:t>
            </a:fld>
            <a:r>
              <a:rPr lang="vi-VN"/>
              <a:t>/51</a:t>
            </a:r>
          </a:p>
        </p:txBody>
      </p:sp>
      <p:sp>
        <p:nvSpPr>
          <p:cNvPr id="2" name="Title 1"/>
          <p:cNvSpPr>
            <a:spLocks noGrp="1"/>
          </p:cNvSpPr>
          <p:nvPr>
            <p:ph type="title"/>
          </p:nvPr>
        </p:nvSpPr>
        <p:spPr/>
        <p:txBody>
          <a:bodyPr/>
          <a:lstStyle/>
          <a:p>
            <a:r>
              <a:rPr lang="en-US"/>
              <a:t>2. Windows form và các điều khiển</a:t>
            </a:r>
          </a:p>
        </p:txBody>
      </p:sp>
    </p:spTree>
    <p:extLst>
      <p:ext uri="{BB962C8B-B14F-4D97-AF65-F5344CB8AC3E}">
        <p14:creationId xmlns:p14="http://schemas.microsoft.com/office/powerpoint/2010/main" val="1184840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Các phương thức xử lý sự kiện của các điều khiển thường gồm 2 tham số: sender và e</a:t>
            </a:r>
          </a:p>
          <a:p>
            <a:pPr lvl="1"/>
            <a:r>
              <a:rPr lang="en-US"/>
              <a:t>sender có kiểu object: đại diện cho đối tượng phát sinh sự kiện</a:t>
            </a:r>
          </a:p>
          <a:p>
            <a:pPr lvl="1"/>
            <a:r>
              <a:rPr lang="en-US"/>
              <a:t>e có kiểu EventArgs: chứa các thông tin về sự kiện: vị trí chuột, thời gian phát sinh sự kiện</a:t>
            </a:r>
          </a:p>
          <a:p>
            <a:pPr lvl="1"/>
            <a:r>
              <a:rPr lang="en-US"/>
              <a:t>Ví dụ:</a:t>
            </a:r>
          </a:p>
          <a:p>
            <a:pPr marL="471487" lvl="1" indent="0">
              <a:buNone/>
            </a:pPr>
            <a:r>
              <a:rPr lang="en-US" sz="1800">
                <a:solidFill>
                  <a:schemeClr val="tx1"/>
                </a:solidFill>
              </a:rPr>
              <a:t>private void btnDisplay_Click(</a:t>
            </a:r>
            <a:r>
              <a:rPr lang="en-US" sz="1800"/>
              <a:t>object</a:t>
            </a:r>
            <a:r>
              <a:rPr lang="en-US" sz="1800">
                <a:solidFill>
                  <a:schemeClr val="tx1"/>
                </a:solidFill>
              </a:rPr>
              <a:t> </a:t>
            </a:r>
            <a:r>
              <a:rPr lang="en-US" sz="1800">
                <a:solidFill>
                  <a:srgbClr val="FF0000"/>
                </a:solidFill>
              </a:rPr>
              <a:t>sender</a:t>
            </a:r>
            <a:r>
              <a:rPr lang="en-US" sz="1800">
                <a:solidFill>
                  <a:schemeClr val="tx1"/>
                </a:solidFill>
              </a:rPr>
              <a:t>, </a:t>
            </a:r>
            <a:r>
              <a:rPr lang="en-US" sz="1800"/>
              <a:t>EventArgs</a:t>
            </a:r>
            <a:r>
              <a:rPr lang="en-US" sz="1800">
                <a:solidFill>
                  <a:schemeClr val="tx1"/>
                </a:solidFill>
              </a:rPr>
              <a:t> </a:t>
            </a:r>
            <a:r>
              <a:rPr lang="en-US" sz="1800">
                <a:solidFill>
                  <a:srgbClr val="FF0000"/>
                </a:solidFill>
              </a:rPr>
              <a:t>e</a:t>
            </a:r>
            <a:r>
              <a:rPr lang="en-US" sz="1800">
                <a:solidFill>
                  <a:schemeClr val="tx1"/>
                </a:solidFill>
              </a:rPr>
              <a:t>)</a:t>
            </a:r>
          </a:p>
          <a:p>
            <a:pPr marL="471487" lvl="1" indent="0">
              <a:buNone/>
            </a:pPr>
            <a:r>
              <a:rPr lang="en-US" sz="1800">
                <a:solidFill>
                  <a:schemeClr val="tx1"/>
                </a:solidFill>
              </a:rPr>
              <a:t>        {</a:t>
            </a:r>
          </a:p>
          <a:p>
            <a:pPr marL="471487" lvl="1" indent="0">
              <a:buNone/>
            </a:pPr>
            <a:r>
              <a:rPr lang="en-US" sz="1800">
                <a:solidFill>
                  <a:schemeClr val="tx1"/>
                </a:solidFill>
              </a:rPr>
              <a:t>            txtWelcome.Text = "Welcome to Visual C# 2010";</a:t>
            </a:r>
          </a:p>
          <a:p>
            <a:pPr marL="471487" lvl="1" indent="0">
              <a:buNone/>
            </a:pPr>
            <a:r>
              <a:rPr lang="en-US" sz="1800">
                <a:solidFill>
                  <a:schemeClr val="tx1"/>
                </a:solidFill>
              </a:rPr>
              <a:t>        }</a:t>
            </a:r>
          </a:p>
          <a:p>
            <a:pPr marL="471487" lvl="1" indent="0">
              <a:buNone/>
            </a:pPr>
            <a:endParaRPr lang="en-US"/>
          </a:p>
        </p:txBody>
      </p:sp>
      <p:sp>
        <p:nvSpPr>
          <p:cNvPr id="4" name="Date Placeholder 3"/>
          <p:cNvSpPr>
            <a:spLocks noGrp="1"/>
          </p:cNvSpPr>
          <p:nvPr>
            <p:ph type="dt" sz="half" idx="10"/>
          </p:nvPr>
        </p:nvSpPr>
        <p:spPr/>
        <p:txBody>
          <a:bodyPr/>
          <a:lstStyle/>
          <a:p>
            <a:fld id="{8619526D-20A6-4CE0-8D87-F6A0D64378CD}"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8</a:t>
            </a:fld>
            <a:r>
              <a:rPr lang="vi-VN"/>
              <a:t>/51</a:t>
            </a:r>
          </a:p>
        </p:txBody>
      </p:sp>
      <p:sp>
        <p:nvSpPr>
          <p:cNvPr id="2" name="Title 1"/>
          <p:cNvSpPr>
            <a:spLocks noGrp="1"/>
          </p:cNvSpPr>
          <p:nvPr>
            <p:ph type="title"/>
          </p:nvPr>
        </p:nvSpPr>
        <p:spPr/>
        <p:txBody>
          <a:bodyPr/>
          <a:lstStyle/>
          <a:p>
            <a:r>
              <a:rPr lang="en-US"/>
              <a:t>Xử lý sự kiện</a:t>
            </a:r>
          </a:p>
        </p:txBody>
      </p:sp>
    </p:spTree>
    <p:extLst>
      <p:ext uri="{BB962C8B-B14F-4D97-AF65-F5344CB8AC3E}">
        <p14:creationId xmlns:p14="http://schemas.microsoft.com/office/powerpoint/2010/main" val="809117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6" y="1143000"/>
            <a:ext cx="7931224" cy="1277888"/>
          </a:xfrm>
        </p:spPr>
        <p:txBody>
          <a:bodyPr/>
          <a:lstStyle/>
          <a:p>
            <a:pPr marL="0" indent="0">
              <a:buNone/>
            </a:pPr>
            <a:r>
              <a:rPr lang="en-US" sz="2400" b="1" i="1"/>
              <a:t>MessageBox.Show(</a:t>
            </a:r>
            <a:r>
              <a:rPr lang="en-US" sz="2400" i="1"/>
              <a:t>Nội dung thông báo, Tiêu đề, Kiểu chức năng, Kiểu biểu tượng); </a:t>
            </a:r>
            <a:endParaRPr lang="en-US" sz="2400"/>
          </a:p>
        </p:txBody>
      </p:sp>
      <p:sp>
        <p:nvSpPr>
          <p:cNvPr id="4" name="Date Placeholder 3"/>
          <p:cNvSpPr>
            <a:spLocks noGrp="1"/>
          </p:cNvSpPr>
          <p:nvPr>
            <p:ph type="dt" sz="half" idx="10"/>
          </p:nvPr>
        </p:nvSpPr>
        <p:spPr/>
        <p:txBody>
          <a:bodyPr/>
          <a:lstStyle/>
          <a:p>
            <a:fld id="{5B9C7C76-FA36-414E-961B-176DE8BA427E}"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8" name="Slide Number Placeholder 7"/>
          <p:cNvSpPr>
            <a:spLocks noGrp="1"/>
          </p:cNvSpPr>
          <p:nvPr>
            <p:ph type="sldNum" sz="quarter" idx="12"/>
          </p:nvPr>
        </p:nvSpPr>
        <p:spPr/>
        <p:txBody>
          <a:bodyPr/>
          <a:lstStyle/>
          <a:p>
            <a:fld id="{5AB95402-1E0D-474E-8D8C-CBE7F053639E}" type="slidenum">
              <a:rPr lang="vi-VN" smtClean="0"/>
              <a:pPr/>
              <a:t>9</a:t>
            </a:fld>
            <a:r>
              <a:rPr lang="vi-VN"/>
              <a:t>/51</a:t>
            </a:r>
          </a:p>
        </p:txBody>
      </p:sp>
      <p:sp>
        <p:nvSpPr>
          <p:cNvPr id="2" name="Title 1"/>
          <p:cNvSpPr>
            <a:spLocks noGrp="1"/>
          </p:cNvSpPr>
          <p:nvPr>
            <p:ph type="title"/>
          </p:nvPr>
        </p:nvSpPr>
        <p:spPr/>
        <p:txBody>
          <a:bodyPr/>
          <a:lstStyle/>
          <a:p>
            <a:r>
              <a:rPr lang="en-US"/>
              <a:t>Hộp thông báo - MessageBox</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2060848"/>
            <a:ext cx="6336704" cy="4754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755576" y="1916832"/>
            <a:ext cx="1800200" cy="923330"/>
          </a:xfrm>
          <a:prstGeom prst="rect">
            <a:avLst/>
          </a:prstGeom>
          <a:noFill/>
        </p:spPr>
        <p:txBody>
          <a:bodyPr wrap="square" rtlCol="0">
            <a:spAutoFit/>
          </a:bodyPr>
          <a:lstStyle/>
          <a:p>
            <a:r>
              <a:rPr lang="en-US"/>
              <a:t>Nội dung thông báo được đặt trong nháy kép</a:t>
            </a:r>
          </a:p>
        </p:txBody>
      </p:sp>
      <p:sp>
        <p:nvSpPr>
          <p:cNvPr id="7" name="Rectangle 6"/>
          <p:cNvSpPr/>
          <p:nvPr/>
        </p:nvSpPr>
        <p:spPr>
          <a:xfrm>
            <a:off x="341784" y="2986687"/>
            <a:ext cx="2286000" cy="2031325"/>
          </a:xfrm>
          <a:prstGeom prst="rect">
            <a:avLst/>
          </a:prstGeom>
        </p:spPr>
        <p:txBody>
          <a:bodyPr wrap="square">
            <a:spAutoFit/>
          </a:bodyPr>
          <a:lstStyle/>
          <a:p>
            <a:r>
              <a:rPr lang="en-US"/>
              <a:t>MessageBox.Show("Bạn chưa nhập dữ liệu", "Thông báo", </a:t>
            </a:r>
            <a:endParaRPr lang="vi-VN"/>
          </a:p>
          <a:p>
            <a:r>
              <a:rPr lang="fr-FR"/>
              <a:t>MessageBoxButtons.OK, MessageBoxIcon.Information);</a:t>
            </a:r>
            <a:endParaRPr lang="en-US"/>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930" y="5018013"/>
            <a:ext cx="1789708" cy="1291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6079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143000"/>
            <a:ext cx="8274496" cy="5181600"/>
          </a:xfrm>
        </p:spPr>
        <p:txBody>
          <a:bodyPr>
            <a:normAutofit lnSpcReduction="10000"/>
          </a:bodyPr>
          <a:lstStyle/>
          <a:p>
            <a:r>
              <a:rPr lang="en-US" sz="2000"/>
              <a:t>Phương thức </a:t>
            </a:r>
            <a:r>
              <a:rPr lang="en-US" sz="2000" b="1" i="1"/>
              <a:t>MessageBox.Show </a:t>
            </a:r>
            <a:r>
              <a:rPr lang="en-US" sz="2000"/>
              <a:t>trả về giá trị của các nút mà người dùng nhấn</a:t>
            </a:r>
          </a:p>
          <a:p>
            <a:pPr marL="0" indent="0">
              <a:buNone/>
            </a:pPr>
            <a:r>
              <a:rPr lang="en-US" sz="2000" b="1" i="1"/>
              <a:t>MessageBox.Show(</a:t>
            </a:r>
            <a:r>
              <a:rPr lang="en-US" sz="2000" i="1"/>
              <a:t>Nội dung thông báo, Tiêu đề, Kiểu chức năng, Kiểu biểu tượng) = Giá trị trả về</a:t>
            </a:r>
            <a:endParaRPr lang="en-US" sz="2000"/>
          </a:p>
          <a:p>
            <a:r>
              <a:rPr lang="en-US" sz="2000"/>
              <a:t>Các giá trị trả về:</a:t>
            </a:r>
          </a:p>
          <a:p>
            <a:pPr lvl="1"/>
            <a:r>
              <a:rPr lang="en-US" sz="1800"/>
              <a:t>System.Windows.Forms.DialogResult.OK</a:t>
            </a:r>
          </a:p>
          <a:p>
            <a:pPr lvl="1"/>
            <a:r>
              <a:rPr lang="en-US" sz="1800"/>
              <a:t>	System.Windows.Forms.DialogResult.Cancel</a:t>
            </a:r>
          </a:p>
          <a:p>
            <a:pPr lvl="1"/>
            <a:r>
              <a:rPr lang="en-US" sz="1800"/>
              <a:t>	System.Windows.Forms.DialogResult.Abort</a:t>
            </a:r>
          </a:p>
          <a:p>
            <a:pPr lvl="1"/>
            <a:r>
              <a:rPr lang="en-US" sz="1800"/>
              <a:t>System.Windows.Forms.DialogResult.Retry</a:t>
            </a:r>
          </a:p>
          <a:p>
            <a:pPr lvl="1"/>
            <a:r>
              <a:rPr lang="en-US" sz="1800"/>
              <a:t>	System.Windows.Forms.DialogResult.Ignore</a:t>
            </a:r>
          </a:p>
          <a:p>
            <a:pPr lvl="1"/>
            <a:r>
              <a:rPr lang="en-US" sz="1800"/>
              <a:t>	System.Windows.Forms.DialogResult.Yes</a:t>
            </a:r>
          </a:p>
          <a:p>
            <a:pPr lvl="1"/>
            <a:r>
              <a:rPr lang="en-US" sz="1800"/>
              <a:t>	System.Windows.Forms.DialogResult.No</a:t>
            </a:r>
          </a:p>
          <a:p>
            <a:pPr marL="0" indent="0">
              <a:buNone/>
            </a:pPr>
            <a:r>
              <a:rPr lang="en-US" sz="1400">
                <a:solidFill>
                  <a:srgbClr val="0000FF"/>
                </a:solidFill>
                <a:latin typeface="Consolas"/>
              </a:rPr>
              <a:t>private</a:t>
            </a:r>
            <a:r>
              <a:rPr lang="en-US" sz="1400">
                <a:solidFill>
                  <a:prstClr val="black"/>
                </a:solidFill>
                <a:latin typeface="Consolas"/>
              </a:rPr>
              <a:t> </a:t>
            </a:r>
            <a:r>
              <a:rPr lang="en-US" sz="1400">
                <a:solidFill>
                  <a:srgbClr val="0000FF"/>
                </a:solidFill>
                <a:latin typeface="Consolas"/>
              </a:rPr>
              <a:t>void</a:t>
            </a:r>
            <a:r>
              <a:rPr lang="en-US" sz="1400">
                <a:solidFill>
                  <a:prstClr val="black"/>
                </a:solidFill>
                <a:latin typeface="Consolas"/>
              </a:rPr>
              <a:t> bttThoat_Click(</a:t>
            </a:r>
            <a:r>
              <a:rPr lang="en-US" sz="1400">
                <a:solidFill>
                  <a:srgbClr val="0000FF"/>
                </a:solidFill>
                <a:latin typeface="Consolas"/>
              </a:rPr>
              <a:t>object</a:t>
            </a:r>
            <a:r>
              <a:rPr lang="en-US" sz="1400">
                <a:solidFill>
                  <a:prstClr val="black"/>
                </a:solidFill>
                <a:latin typeface="Consolas"/>
              </a:rPr>
              <a:t> sender, </a:t>
            </a:r>
            <a:r>
              <a:rPr lang="en-US" sz="1400">
                <a:solidFill>
                  <a:srgbClr val="2B91AF"/>
                </a:solidFill>
                <a:latin typeface="Consolas"/>
              </a:rPr>
              <a:t>EventArgs</a:t>
            </a:r>
            <a:r>
              <a:rPr lang="en-US" sz="1400">
                <a:solidFill>
                  <a:prstClr val="black"/>
                </a:solidFill>
                <a:latin typeface="Consolas"/>
              </a:rPr>
              <a:t> e)</a:t>
            </a:r>
          </a:p>
          <a:p>
            <a:pPr marL="0" indent="0">
              <a:buNone/>
            </a:pPr>
            <a:r>
              <a:rPr lang="en-US" sz="1400">
                <a:solidFill>
                  <a:prstClr val="black"/>
                </a:solidFill>
                <a:latin typeface="Consolas"/>
              </a:rPr>
              <a:t>        {</a:t>
            </a:r>
            <a:r>
              <a:rPr lang="vi-VN" sz="1400">
                <a:solidFill>
                  <a:prstClr val="black"/>
                </a:solidFill>
                <a:latin typeface="Consolas"/>
              </a:rPr>
              <a:t>  </a:t>
            </a:r>
            <a:r>
              <a:rPr lang="vi-VN" sz="1400">
                <a:solidFill>
                  <a:srgbClr val="0000FF"/>
                </a:solidFill>
                <a:latin typeface="Consolas"/>
              </a:rPr>
              <a:t>if</a:t>
            </a:r>
            <a:r>
              <a:rPr lang="vi-VN" sz="1400">
                <a:solidFill>
                  <a:prstClr val="black"/>
                </a:solidFill>
                <a:latin typeface="Consolas"/>
              </a:rPr>
              <a:t> (</a:t>
            </a:r>
            <a:r>
              <a:rPr lang="vi-VN" sz="1400">
                <a:solidFill>
                  <a:srgbClr val="2B91AF"/>
                </a:solidFill>
                <a:latin typeface="Consolas"/>
              </a:rPr>
              <a:t>MessageBox</a:t>
            </a:r>
            <a:r>
              <a:rPr lang="vi-VN" sz="1400">
                <a:solidFill>
                  <a:prstClr val="black"/>
                </a:solidFill>
                <a:latin typeface="Consolas"/>
              </a:rPr>
              <a:t>.Show(</a:t>
            </a:r>
            <a:r>
              <a:rPr lang="vi-VN" sz="1400">
                <a:solidFill>
                  <a:srgbClr val="A31515"/>
                </a:solidFill>
                <a:latin typeface="Consolas"/>
              </a:rPr>
              <a:t>"Bạn có muốn thoát khỏi chương trình không?"</a:t>
            </a:r>
            <a:r>
              <a:rPr lang="vi-VN" sz="1400">
                <a:solidFill>
                  <a:prstClr val="black"/>
                </a:solidFill>
                <a:latin typeface="Consolas"/>
              </a:rPr>
              <a:t>, </a:t>
            </a:r>
            <a:r>
              <a:rPr lang="vi-VN" sz="1400">
                <a:solidFill>
                  <a:srgbClr val="A31515"/>
                </a:solidFill>
                <a:latin typeface="Consolas"/>
              </a:rPr>
              <a:t>"Thông báo"</a:t>
            </a:r>
            <a:r>
              <a:rPr lang="vi-VN" sz="1400">
                <a:solidFill>
                  <a:prstClr val="black"/>
                </a:solidFill>
                <a:latin typeface="Consolas"/>
              </a:rPr>
              <a:t>, </a:t>
            </a:r>
            <a:r>
              <a:rPr lang="vi-VN" sz="1400">
                <a:solidFill>
                  <a:srgbClr val="2B91AF"/>
                </a:solidFill>
                <a:latin typeface="Consolas"/>
              </a:rPr>
              <a:t>MessageBoxButtons</a:t>
            </a:r>
            <a:r>
              <a:rPr lang="vi-VN" sz="1400">
                <a:solidFill>
                  <a:prstClr val="black"/>
                </a:solidFill>
                <a:latin typeface="Consolas"/>
              </a:rPr>
              <a:t>.YesNo, </a:t>
            </a:r>
            <a:r>
              <a:rPr lang="vi-VN" sz="1400">
                <a:solidFill>
                  <a:srgbClr val="2B91AF"/>
                </a:solidFill>
                <a:latin typeface="Consolas"/>
              </a:rPr>
              <a:t>MessageBoxIcon</a:t>
            </a:r>
            <a:r>
              <a:rPr lang="vi-VN" sz="1400">
                <a:solidFill>
                  <a:prstClr val="black"/>
                </a:solidFill>
                <a:latin typeface="Consolas"/>
              </a:rPr>
              <a:t>.Question) == System.Windows.Forms.</a:t>
            </a:r>
            <a:r>
              <a:rPr lang="vi-VN" sz="1400">
                <a:solidFill>
                  <a:srgbClr val="2B91AF"/>
                </a:solidFill>
                <a:latin typeface="Consolas"/>
              </a:rPr>
              <a:t>DialogResult</a:t>
            </a:r>
            <a:r>
              <a:rPr lang="vi-VN" sz="1400">
                <a:solidFill>
                  <a:prstClr val="black"/>
                </a:solidFill>
                <a:latin typeface="Consolas"/>
              </a:rPr>
              <a:t>.Yes)</a:t>
            </a:r>
          </a:p>
          <a:p>
            <a:pPr marL="0" indent="0">
              <a:buNone/>
            </a:pPr>
            <a:r>
              <a:rPr lang="vi-VN" sz="1400">
                <a:solidFill>
                  <a:prstClr val="black"/>
                </a:solidFill>
                <a:latin typeface="Consolas"/>
              </a:rPr>
              <a:t>                </a:t>
            </a:r>
            <a:r>
              <a:rPr lang="vi-VN" sz="1400">
                <a:solidFill>
                  <a:srgbClr val="2B91AF"/>
                </a:solidFill>
                <a:latin typeface="Consolas"/>
              </a:rPr>
              <a:t>Application</a:t>
            </a:r>
            <a:r>
              <a:rPr lang="vi-VN" sz="1400">
                <a:solidFill>
                  <a:prstClr val="black"/>
                </a:solidFill>
                <a:latin typeface="Consolas"/>
              </a:rPr>
              <a:t>.Exit(); </a:t>
            </a:r>
            <a:r>
              <a:rPr lang="vi-VN" sz="1400">
                <a:solidFill>
                  <a:srgbClr val="008000"/>
                </a:solidFill>
                <a:latin typeface="Consolas"/>
              </a:rPr>
              <a:t>//Thoát chương trình                  </a:t>
            </a:r>
            <a:endParaRPr lang="vi-VN" sz="1400">
              <a:solidFill>
                <a:prstClr val="black"/>
              </a:solidFill>
              <a:latin typeface="Consolas"/>
            </a:endParaRPr>
          </a:p>
          <a:p>
            <a:pPr marL="0" indent="0">
              <a:buNone/>
            </a:pPr>
            <a:r>
              <a:rPr lang="en-US" sz="1400">
                <a:solidFill>
                  <a:prstClr val="black"/>
                </a:solidFill>
                <a:latin typeface="Consolas"/>
              </a:rPr>
              <a:t>        }</a:t>
            </a:r>
          </a:p>
          <a:p>
            <a:pPr marL="0" indent="0">
              <a:buNone/>
            </a:pPr>
            <a:endParaRPr lang="en-US" sz="2000">
              <a:solidFill>
                <a:srgbClr val="0000FF"/>
              </a:solidFill>
            </a:endParaRPr>
          </a:p>
        </p:txBody>
      </p:sp>
      <p:sp>
        <p:nvSpPr>
          <p:cNvPr id="4" name="Date Placeholder 3"/>
          <p:cNvSpPr>
            <a:spLocks noGrp="1"/>
          </p:cNvSpPr>
          <p:nvPr>
            <p:ph type="dt" sz="half" idx="10"/>
          </p:nvPr>
        </p:nvSpPr>
        <p:spPr/>
        <p:txBody>
          <a:bodyPr/>
          <a:lstStyle/>
          <a:p>
            <a:fld id="{DF61A9E7-28A6-46E7-9195-08EA0699EFFF}"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10</a:t>
            </a:fld>
            <a:r>
              <a:rPr lang="vi-VN"/>
              <a:t>/51</a:t>
            </a:r>
          </a:p>
        </p:txBody>
      </p:sp>
      <p:sp>
        <p:nvSpPr>
          <p:cNvPr id="2" name="Title 1"/>
          <p:cNvSpPr>
            <a:spLocks noGrp="1"/>
          </p:cNvSpPr>
          <p:nvPr>
            <p:ph type="title"/>
          </p:nvPr>
        </p:nvSpPr>
        <p:spPr/>
        <p:txBody>
          <a:bodyPr/>
          <a:lstStyle/>
          <a:p>
            <a:r>
              <a:rPr lang="en-US"/>
              <a:t>Hộp thông báo</a:t>
            </a:r>
          </a:p>
        </p:txBody>
      </p:sp>
    </p:spTree>
    <p:extLst>
      <p:ext uri="{BB962C8B-B14F-4D97-AF65-F5344CB8AC3E}">
        <p14:creationId xmlns:p14="http://schemas.microsoft.com/office/powerpoint/2010/main" val="261566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Điều khiển thông thường :</a:t>
            </a:r>
          </a:p>
          <a:p>
            <a:pPr lvl="1"/>
            <a:r>
              <a:rPr lang="en-US"/>
              <a:t>Label , TextBox , Combobox , ListBox , CheckBox, RadioButton , Button</a:t>
            </a:r>
          </a:p>
          <a:p>
            <a:r>
              <a:rPr lang="en-US"/>
              <a:t>Điều khiển đặc biệt :</a:t>
            </a:r>
          </a:p>
          <a:p>
            <a:pPr lvl="1"/>
            <a:r>
              <a:rPr lang="en-US"/>
              <a:t>Tooltip , HelpProvider , ErrorProvider , ProgressBar , ListView , TreeView , DateTimePicker , MonthlyCalender</a:t>
            </a:r>
          </a:p>
          <a:p>
            <a:r>
              <a:rPr lang="en-US"/>
              <a:t>Điều khiển Menu</a:t>
            </a:r>
          </a:p>
          <a:p>
            <a:r>
              <a:rPr lang="en-US"/>
              <a:t>Điều khiển container :</a:t>
            </a:r>
          </a:p>
          <a:p>
            <a:pPr lvl="1"/>
            <a:r>
              <a:rPr lang="en-US"/>
              <a:t>GroupBox , TabControl , Panel v.v….</a:t>
            </a:r>
          </a:p>
          <a:p>
            <a:endParaRPr lang="en-US"/>
          </a:p>
        </p:txBody>
      </p:sp>
      <p:sp>
        <p:nvSpPr>
          <p:cNvPr id="4" name="Date Placeholder 3"/>
          <p:cNvSpPr>
            <a:spLocks noGrp="1"/>
          </p:cNvSpPr>
          <p:nvPr>
            <p:ph type="dt" sz="half" idx="10"/>
          </p:nvPr>
        </p:nvSpPr>
        <p:spPr/>
        <p:txBody>
          <a:bodyPr/>
          <a:lstStyle/>
          <a:p>
            <a:fld id="{07CF21FE-7B28-4AC2-9353-E4D30D3AD2D4}"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11</a:t>
            </a:fld>
            <a:r>
              <a:rPr lang="vi-VN"/>
              <a:t>/51</a:t>
            </a:r>
          </a:p>
        </p:txBody>
      </p:sp>
      <p:sp>
        <p:nvSpPr>
          <p:cNvPr id="2" name="Title 1"/>
          <p:cNvSpPr>
            <a:spLocks noGrp="1"/>
          </p:cNvSpPr>
          <p:nvPr>
            <p:ph type="title"/>
          </p:nvPr>
        </p:nvSpPr>
        <p:spPr/>
        <p:txBody>
          <a:bodyPr/>
          <a:lstStyle/>
          <a:p>
            <a:r>
              <a:rPr lang="en-US"/>
              <a:t>Các điều khiển</a:t>
            </a:r>
          </a:p>
        </p:txBody>
      </p:sp>
    </p:spTree>
    <p:extLst>
      <p:ext uri="{BB962C8B-B14F-4D97-AF65-F5344CB8AC3E}">
        <p14:creationId xmlns:p14="http://schemas.microsoft.com/office/powerpoint/2010/main" val="3776003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 Các thuộc tính &lt;47&gt;</a:t>
            </a:r>
          </a:p>
        </p:txBody>
      </p:sp>
      <p:sp>
        <p:nvSpPr>
          <p:cNvPr id="4" name="Date Placeholder 3"/>
          <p:cNvSpPr>
            <a:spLocks noGrp="1"/>
          </p:cNvSpPr>
          <p:nvPr>
            <p:ph type="dt" sz="half" idx="10"/>
          </p:nvPr>
        </p:nvSpPr>
        <p:spPr/>
        <p:txBody>
          <a:bodyPr/>
          <a:lstStyle/>
          <a:p>
            <a:fld id="{43C5BD65-A7AA-47B5-9BE1-454332FC5232}"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12</a:t>
            </a:fld>
            <a:r>
              <a:rPr lang="vi-VN"/>
              <a:t>/51</a:t>
            </a:r>
          </a:p>
        </p:txBody>
      </p:sp>
      <p:sp>
        <p:nvSpPr>
          <p:cNvPr id="2" name="Title 1"/>
          <p:cNvSpPr>
            <a:spLocks noGrp="1"/>
          </p:cNvSpPr>
          <p:nvPr>
            <p:ph type="title"/>
          </p:nvPr>
        </p:nvSpPr>
        <p:spPr/>
        <p:txBody>
          <a:bodyPr/>
          <a:lstStyle/>
          <a:p>
            <a:r>
              <a:rPr lang="en-US"/>
              <a:t>Form</a:t>
            </a:r>
          </a:p>
        </p:txBody>
      </p:sp>
      <p:graphicFrame>
        <p:nvGraphicFramePr>
          <p:cNvPr id="6" name="Table 5"/>
          <p:cNvGraphicFramePr>
            <a:graphicFrameLocks noGrp="1"/>
          </p:cNvGraphicFramePr>
          <p:nvPr>
            <p:extLst>
              <p:ext uri="{D42A27DB-BD31-4B8C-83A1-F6EECF244321}">
                <p14:modId xmlns:p14="http://schemas.microsoft.com/office/powerpoint/2010/main" val="3204746708"/>
              </p:ext>
            </p:extLst>
          </p:nvPr>
        </p:nvGraphicFramePr>
        <p:xfrm>
          <a:off x="899592" y="1772816"/>
          <a:ext cx="7848872" cy="447548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20000"/>
                    </a:ext>
                  </a:extLst>
                </a:gridCol>
                <a:gridCol w="5544616">
                  <a:extLst>
                    <a:ext uri="{9D8B030D-6E8A-4147-A177-3AD203B41FA5}">
                      <a16:colId xmlns:a16="http://schemas.microsoft.com/office/drawing/2014/main" val="20001"/>
                    </a:ext>
                  </a:extLst>
                </a:gridCol>
              </a:tblGrid>
              <a:tr h="370840">
                <a:tc>
                  <a:txBody>
                    <a:bodyPr/>
                    <a:lstStyle/>
                    <a:p>
                      <a:r>
                        <a:rPr lang="en-US" sz="2000" b="1"/>
                        <a:t>Thuộc tính</a:t>
                      </a:r>
                    </a:p>
                  </a:txBody>
                  <a:tcPr/>
                </a:tc>
                <a:tc>
                  <a:txBody>
                    <a:bodyPr/>
                    <a:lstStyle/>
                    <a:p>
                      <a:r>
                        <a:rPr lang="en-US" sz="2000" b="1"/>
                        <a:t>Mô</a:t>
                      </a:r>
                      <a:r>
                        <a:rPr lang="en-US" sz="2000" b="1" baseline="0"/>
                        <a:t> tả</a:t>
                      </a:r>
                      <a:endParaRPr lang="en-US" sz="2000" b="1"/>
                    </a:p>
                  </a:txBody>
                  <a:tcPr/>
                </a:tc>
                <a:extLst>
                  <a:ext uri="{0D108BD9-81ED-4DB2-BD59-A6C34878D82A}">
                    <a16:rowId xmlns:a16="http://schemas.microsoft.com/office/drawing/2014/main" val="10000"/>
                  </a:ext>
                </a:extLst>
              </a:tr>
              <a:tr h="370840">
                <a:tc>
                  <a:txBody>
                    <a:bodyPr/>
                    <a:lstStyle/>
                    <a:p>
                      <a:r>
                        <a:rPr lang="en-US" b="0"/>
                        <a:t>Name</a:t>
                      </a:r>
                    </a:p>
                  </a:txBody>
                  <a:tcPr/>
                </a:tc>
                <a:tc>
                  <a:txBody>
                    <a:bodyPr/>
                    <a:lstStyle/>
                    <a:p>
                      <a:r>
                        <a:rPr lang="en-US" b="0"/>
                        <a:t>Tên</a:t>
                      </a:r>
                      <a:r>
                        <a:rPr lang="en-US" b="0" baseline="0"/>
                        <a:t> form, bắt đầu bằng frm</a:t>
                      </a:r>
                      <a:endParaRPr lang="en-US" b="0"/>
                    </a:p>
                  </a:txBody>
                  <a:tcPr/>
                </a:tc>
                <a:extLst>
                  <a:ext uri="{0D108BD9-81ED-4DB2-BD59-A6C34878D82A}">
                    <a16:rowId xmlns:a16="http://schemas.microsoft.com/office/drawing/2014/main" val="10001"/>
                  </a:ext>
                </a:extLst>
              </a:tr>
              <a:tr h="370840">
                <a:tc>
                  <a:txBody>
                    <a:bodyPr/>
                    <a:lstStyle/>
                    <a:p>
                      <a:r>
                        <a:rPr lang="en-US" b="0"/>
                        <a:t>IsMdiContainer</a:t>
                      </a:r>
                    </a:p>
                  </a:txBody>
                  <a:tcPr/>
                </a:tc>
                <a:tc>
                  <a:txBody>
                    <a:bodyPr/>
                    <a:lstStyle/>
                    <a:p>
                      <a:r>
                        <a:rPr lang="en-US" b="0"/>
                        <a:t>Trạng thái SDI, MDI</a:t>
                      </a:r>
                    </a:p>
                  </a:txBody>
                  <a:tcPr/>
                </a:tc>
                <a:extLst>
                  <a:ext uri="{0D108BD9-81ED-4DB2-BD59-A6C34878D82A}">
                    <a16:rowId xmlns:a16="http://schemas.microsoft.com/office/drawing/2014/main" val="10002"/>
                  </a:ext>
                </a:extLst>
              </a:tr>
              <a:tr h="370840">
                <a:tc>
                  <a:txBody>
                    <a:bodyPr/>
                    <a:lstStyle/>
                    <a:p>
                      <a:r>
                        <a:rPr lang="en-US" sz="1800" b="0" i="0" u="none" strike="noStrike" kern="1200" baseline="0">
                          <a:solidFill>
                            <a:schemeClr val="dk1"/>
                          </a:solidFill>
                          <a:latin typeface="+mn-lt"/>
                          <a:ea typeface="+mn-ea"/>
                          <a:cs typeface="+mn-cs"/>
                        </a:rPr>
                        <a:t>BackColor</a:t>
                      </a:r>
                      <a:endParaRPr lang="en-US" b="0"/>
                    </a:p>
                  </a:txBody>
                  <a:tcPr/>
                </a:tc>
                <a:tc>
                  <a:txBody>
                    <a:bodyPr/>
                    <a:lstStyle/>
                    <a:p>
                      <a:r>
                        <a:rPr lang="en-US" sz="1800" b="0" i="0" u="none" strike="noStrike" kern="1200" baseline="0">
                          <a:solidFill>
                            <a:schemeClr val="dk1"/>
                          </a:solidFill>
                          <a:latin typeface="+mn-lt"/>
                          <a:ea typeface="+mn-ea"/>
                          <a:cs typeface="+mn-cs"/>
                        </a:rPr>
                        <a:t>Màu nền</a:t>
                      </a:r>
                      <a:endParaRPr lang="en-US" b="0"/>
                    </a:p>
                  </a:txBody>
                  <a:tcPr/>
                </a:tc>
                <a:extLst>
                  <a:ext uri="{0D108BD9-81ED-4DB2-BD59-A6C34878D82A}">
                    <a16:rowId xmlns:a16="http://schemas.microsoft.com/office/drawing/2014/main" val="10003"/>
                  </a:ext>
                </a:extLst>
              </a:tr>
              <a:tr h="370840">
                <a:tc>
                  <a:txBody>
                    <a:bodyPr/>
                    <a:lstStyle/>
                    <a:p>
                      <a:r>
                        <a:rPr lang="en-US" sz="1800" b="0" i="0" u="none" strike="noStrike" kern="1200" baseline="0">
                          <a:solidFill>
                            <a:schemeClr val="dk1"/>
                          </a:solidFill>
                          <a:latin typeface="+mn-lt"/>
                          <a:ea typeface="+mn-ea"/>
                          <a:cs typeface="+mn-cs"/>
                        </a:rPr>
                        <a:t>BackgroundImage</a:t>
                      </a:r>
                      <a:endParaRPr lang="en-US" b="0"/>
                    </a:p>
                  </a:txBody>
                  <a:tcPr/>
                </a:tc>
                <a:tc>
                  <a:txBody>
                    <a:bodyPr/>
                    <a:lstStyle/>
                    <a:p>
                      <a:r>
                        <a:rPr lang="en-US" sz="1800" b="0" i="0" u="none" strike="noStrike" kern="1200" baseline="0">
                          <a:solidFill>
                            <a:schemeClr val="dk1"/>
                          </a:solidFill>
                          <a:latin typeface="+mn-lt"/>
                          <a:ea typeface="+mn-ea"/>
                          <a:cs typeface="+mn-cs"/>
                        </a:rPr>
                        <a:t>Hình nền trên form</a:t>
                      </a:r>
                      <a:endParaRPr lang="en-US" b="0"/>
                    </a:p>
                  </a:txBody>
                  <a:tcPr/>
                </a:tc>
                <a:extLst>
                  <a:ext uri="{0D108BD9-81ED-4DB2-BD59-A6C34878D82A}">
                    <a16:rowId xmlns:a16="http://schemas.microsoft.com/office/drawing/2014/main" val="10004"/>
                  </a:ext>
                </a:extLst>
              </a:tr>
              <a:tr h="370840">
                <a:tc>
                  <a:txBody>
                    <a:bodyPr/>
                    <a:lstStyle/>
                    <a:p>
                      <a:r>
                        <a:rPr lang="en-US" sz="1800" b="0" i="0" u="none" strike="noStrike" kern="1200" baseline="0">
                          <a:solidFill>
                            <a:schemeClr val="dk1"/>
                          </a:solidFill>
                          <a:latin typeface="+mn-lt"/>
                          <a:ea typeface="+mn-ea"/>
                          <a:cs typeface="+mn-cs"/>
                        </a:rPr>
                        <a:t>AcceptButton</a:t>
                      </a:r>
                      <a:endParaRPr lang="en-US" b="0"/>
                    </a:p>
                  </a:txBody>
                  <a:tcPr/>
                </a:tc>
                <a:tc>
                  <a:txBody>
                    <a:bodyPr/>
                    <a:lstStyle/>
                    <a:p>
                      <a:r>
                        <a:rPr lang="vi-VN" sz="1800" b="0" i="0" u="none" strike="noStrike" kern="1200" baseline="0">
                          <a:solidFill>
                            <a:schemeClr val="dk1"/>
                          </a:solidFill>
                          <a:latin typeface="+mn-lt"/>
                          <a:ea typeface="+mn-ea"/>
                          <a:cs typeface="+mn-cs"/>
                        </a:rPr>
                        <a:t>Nút xử lý mặc định – phím Enter</a:t>
                      </a:r>
                      <a:endParaRPr lang="en-US" b="0"/>
                    </a:p>
                  </a:txBody>
                  <a:tcPr/>
                </a:tc>
                <a:extLst>
                  <a:ext uri="{0D108BD9-81ED-4DB2-BD59-A6C34878D82A}">
                    <a16:rowId xmlns:a16="http://schemas.microsoft.com/office/drawing/2014/main" val="10005"/>
                  </a:ext>
                </a:extLst>
              </a:tr>
              <a:tr h="370840">
                <a:tc>
                  <a:txBody>
                    <a:bodyPr/>
                    <a:lstStyle/>
                    <a:p>
                      <a:r>
                        <a:rPr lang="en-US" sz="1800" b="0" i="0" u="none" strike="noStrike" kern="1200" baseline="0">
                          <a:solidFill>
                            <a:schemeClr val="dk1"/>
                          </a:solidFill>
                          <a:latin typeface="+mn-lt"/>
                          <a:ea typeface="+mn-ea"/>
                          <a:cs typeface="+mn-cs"/>
                        </a:rPr>
                        <a:t>CancelButton</a:t>
                      </a:r>
                      <a:endParaRPr lang="en-US" b="0"/>
                    </a:p>
                  </a:txBody>
                  <a:tcPr/>
                </a:tc>
                <a:tc>
                  <a:txBody>
                    <a:bodyPr/>
                    <a:lstStyle/>
                    <a:p>
                      <a:r>
                        <a:rPr lang="vi-VN" sz="1800" b="0" i="0" u="none" strike="noStrike" kern="1200" baseline="0">
                          <a:solidFill>
                            <a:schemeClr val="dk1"/>
                          </a:solidFill>
                          <a:latin typeface="+mn-lt"/>
                          <a:ea typeface="+mn-ea"/>
                          <a:cs typeface="+mn-cs"/>
                        </a:rPr>
                        <a:t>Nút xử lý mặc định – Phím Esc</a:t>
                      </a:r>
                      <a:endParaRPr lang="en-US" b="0"/>
                    </a:p>
                  </a:txBody>
                  <a:tcPr/>
                </a:tc>
                <a:extLst>
                  <a:ext uri="{0D108BD9-81ED-4DB2-BD59-A6C34878D82A}">
                    <a16:rowId xmlns:a16="http://schemas.microsoft.com/office/drawing/2014/main" val="10006"/>
                  </a:ext>
                </a:extLst>
              </a:tr>
              <a:tr h="370840">
                <a:tc>
                  <a:txBody>
                    <a:bodyPr/>
                    <a:lstStyle/>
                    <a:p>
                      <a:r>
                        <a:rPr lang="en-US" sz="1800" b="0" i="0" u="none" strike="noStrike" kern="1200" baseline="0">
                          <a:solidFill>
                            <a:schemeClr val="dk1"/>
                          </a:solidFill>
                          <a:latin typeface="+mn-lt"/>
                          <a:ea typeface="+mn-ea"/>
                          <a:cs typeface="+mn-cs"/>
                        </a:rPr>
                        <a:t>FormBorderStyle</a:t>
                      </a:r>
                      <a:endParaRPr lang="en-US" b="0"/>
                    </a:p>
                  </a:txBody>
                  <a:tcPr/>
                </a:tc>
                <a:tc>
                  <a:txBody>
                    <a:bodyPr/>
                    <a:lstStyle/>
                    <a:p>
                      <a:r>
                        <a:rPr lang="en-US" b="0"/>
                        <a:t>Đường</a:t>
                      </a:r>
                      <a:r>
                        <a:rPr lang="en-US" b="0" baseline="0"/>
                        <a:t> viền cho form</a:t>
                      </a:r>
                      <a:endParaRPr lang="en-US" b="0"/>
                    </a:p>
                  </a:txBody>
                  <a:tcPr/>
                </a:tc>
                <a:extLst>
                  <a:ext uri="{0D108BD9-81ED-4DB2-BD59-A6C34878D82A}">
                    <a16:rowId xmlns:a16="http://schemas.microsoft.com/office/drawing/2014/main" val="10007"/>
                  </a:ext>
                </a:extLst>
              </a:tr>
              <a:tr h="370840">
                <a:tc>
                  <a:txBody>
                    <a:bodyPr/>
                    <a:lstStyle/>
                    <a:p>
                      <a:r>
                        <a:rPr lang="en-US" sz="1800" b="0" kern="1200">
                          <a:solidFill>
                            <a:schemeClr val="dk1"/>
                          </a:solidFill>
                          <a:effectLst/>
                          <a:latin typeface="+mn-lt"/>
                          <a:ea typeface="+mn-ea"/>
                          <a:cs typeface="+mn-cs"/>
                        </a:rPr>
                        <a:t>Enabled</a:t>
                      </a:r>
                      <a:endParaRPr lang="en-US" b="0"/>
                    </a:p>
                  </a:txBody>
                  <a:tcPr/>
                </a:tc>
                <a:tc>
                  <a:txBody>
                    <a:bodyPr/>
                    <a:lstStyle/>
                    <a:p>
                      <a:r>
                        <a:rPr lang="en-US" b="0"/>
                        <a:t>True/False</a:t>
                      </a:r>
                      <a:r>
                        <a:rPr lang="en-US" b="0" baseline="0"/>
                        <a:t>: cho phép/không cho phép tác động</a:t>
                      </a:r>
                      <a:endParaRPr lang="en-US" b="0"/>
                    </a:p>
                  </a:txBody>
                  <a:tcPr/>
                </a:tc>
                <a:extLst>
                  <a:ext uri="{0D108BD9-81ED-4DB2-BD59-A6C34878D82A}">
                    <a16:rowId xmlns:a16="http://schemas.microsoft.com/office/drawing/2014/main" val="10008"/>
                  </a:ext>
                </a:extLst>
              </a:tr>
              <a:tr h="370840">
                <a:tc>
                  <a:txBody>
                    <a:bodyPr/>
                    <a:lstStyle/>
                    <a:p>
                      <a:r>
                        <a:rPr lang="en-US" b="0"/>
                        <a:t>Font</a:t>
                      </a:r>
                    </a:p>
                  </a:txBody>
                  <a:tcPr/>
                </a:tc>
                <a:tc>
                  <a:txBody>
                    <a:bodyPr/>
                    <a:lstStyle/>
                    <a:p>
                      <a:r>
                        <a:rPr lang="en-US" b="0"/>
                        <a:t>Font chữ</a:t>
                      </a:r>
                      <a:r>
                        <a:rPr lang="en-US" b="0" baseline="0"/>
                        <a:t> cho các điều khiển trên form</a:t>
                      </a:r>
                      <a:endParaRPr lang="en-US" b="0"/>
                    </a:p>
                  </a:txBody>
                  <a:tcPr/>
                </a:tc>
                <a:extLst>
                  <a:ext uri="{0D108BD9-81ED-4DB2-BD59-A6C34878D82A}">
                    <a16:rowId xmlns:a16="http://schemas.microsoft.com/office/drawing/2014/main" val="10009"/>
                  </a:ext>
                </a:extLst>
              </a:tr>
              <a:tr h="370840">
                <a:tc>
                  <a:txBody>
                    <a:bodyPr/>
                    <a:lstStyle/>
                    <a:p>
                      <a:r>
                        <a:rPr lang="en-US" b="0"/>
                        <a:t>ForeColor</a:t>
                      </a:r>
                    </a:p>
                  </a:txBody>
                  <a:tcPr/>
                </a:tc>
                <a:tc>
                  <a:txBody>
                    <a:bodyPr/>
                    <a:lstStyle/>
                    <a:p>
                      <a:r>
                        <a:rPr lang="en-US" b="0"/>
                        <a:t>Màu</a:t>
                      </a:r>
                      <a:r>
                        <a:rPr lang="en-US" b="0" baseline="0"/>
                        <a:t> cho các điều khiển trên form</a:t>
                      </a:r>
                      <a:endParaRPr lang="en-US" b="0"/>
                    </a:p>
                  </a:txBody>
                  <a:tcPr/>
                </a:tc>
                <a:extLst>
                  <a:ext uri="{0D108BD9-81ED-4DB2-BD59-A6C34878D82A}">
                    <a16:rowId xmlns:a16="http://schemas.microsoft.com/office/drawing/2014/main" val="10010"/>
                  </a:ext>
                </a:extLst>
              </a:tr>
              <a:tr h="370840">
                <a:tc>
                  <a:txBody>
                    <a:bodyPr/>
                    <a:lstStyle/>
                    <a:p>
                      <a:r>
                        <a:rPr lang="en-US" b="0"/>
                        <a:t>Icon</a:t>
                      </a:r>
                    </a:p>
                  </a:txBody>
                  <a:tcPr/>
                </a:tc>
                <a:tc>
                  <a:txBody>
                    <a:bodyPr/>
                    <a:lstStyle/>
                    <a:p>
                      <a:r>
                        <a:rPr lang="en-US" b="0"/>
                        <a:t>Icon cho form</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769598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Các thuộc tính</a:t>
            </a:r>
          </a:p>
        </p:txBody>
      </p:sp>
      <p:sp>
        <p:nvSpPr>
          <p:cNvPr id="4" name="Date Placeholder 3"/>
          <p:cNvSpPr>
            <a:spLocks noGrp="1"/>
          </p:cNvSpPr>
          <p:nvPr>
            <p:ph type="dt" sz="half" idx="10"/>
          </p:nvPr>
        </p:nvSpPr>
        <p:spPr/>
        <p:txBody>
          <a:bodyPr/>
          <a:lstStyle/>
          <a:p>
            <a:fld id="{246F4BC5-AC1B-4930-AE74-234CA7BEFFDE}"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13</a:t>
            </a:fld>
            <a:r>
              <a:rPr lang="vi-VN"/>
              <a:t>/51</a:t>
            </a:r>
          </a:p>
        </p:txBody>
      </p:sp>
      <p:sp>
        <p:nvSpPr>
          <p:cNvPr id="2" name="Title 1"/>
          <p:cNvSpPr>
            <a:spLocks noGrp="1"/>
          </p:cNvSpPr>
          <p:nvPr>
            <p:ph type="title"/>
          </p:nvPr>
        </p:nvSpPr>
        <p:spPr/>
        <p:txBody>
          <a:bodyPr/>
          <a:lstStyle/>
          <a:p>
            <a:r>
              <a:rPr lang="en-US"/>
              <a:t>Form</a:t>
            </a:r>
          </a:p>
        </p:txBody>
      </p:sp>
      <p:graphicFrame>
        <p:nvGraphicFramePr>
          <p:cNvPr id="6" name="Content Placeholder 5"/>
          <p:cNvGraphicFramePr>
            <a:graphicFrameLocks/>
          </p:cNvGraphicFramePr>
          <p:nvPr>
            <p:extLst>
              <p:ext uri="{D42A27DB-BD31-4B8C-83A1-F6EECF244321}">
                <p14:modId xmlns:p14="http://schemas.microsoft.com/office/powerpoint/2010/main" val="1228688977"/>
              </p:ext>
            </p:extLst>
          </p:nvPr>
        </p:nvGraphicFramePr>
        <p:xfrm>
          <a:off x="755576" y="1916832"/>
          <a:ext cx="7923487" cy="4003040"/>
        </p:xfrm>
        <a:graphic>
          <a:graphicData uri="http://schemas.openxmlformats.org/drawingml/2006/table">
            <a:tbl>
              <a:tblPr firstRow="1" bandRow="1">
                <a:tableStyleId>{5C22544A-7EE6-4342-B048-85BDC9FD1C3A}</a:tableStyleId>
              </a:tblPr>
              <a:tblGrid>
                <a:gridCol w="2326161">
                  <a:extLst>
                    <a:ext uri="{9D8B030D-6E8A-4147-A177-3AD203B41FA5}">
                      <a16:colId xmlns:a16="http://schemas.microsoft.com/office/drawing/2014/main" val="20000"/>
                    </a:ext>
                  </a:extLst>
                </a:gridCol>
                <a:gridCol w="5597326">
                  <a:extLst>
                    <a:ext uri="{9D8B030D-6E8A-4147-A177-3AD203B41FA5}">
                      <a16:colId xmlns:a16="http://schemas.microsoft.com/office/drawing/2014/main" val="20001"/>
                    </a:ext>
                  </a:extLst>
                </a:gridCol>
              </a:tblGrid>
              <a:tr h="370840">
                <a:tc>
                  <a:txBody>
                    <a:bodyPr/>
                    <a:lstStyle/>
                    <a:p>
                      <a:r>
                        <a:rPr lang="en-US" sz="2000"/>
                        <a:t>Thuộc tính</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r>
                        <a:rPr lang="en-US" b="0"/>
                        <a:t>MainMenuStrip</a:t>
                      </a:r>
                    </a:p>
                  </a:txBody>
                  <a:tcPr marL="92310" marR="92310"/>
                </a:tc>
                <a:tc>
                  <a:txBody>
                    <a:bodyPr/>
                    <a:lstStyle/>
                    <a:p>
                      <a:r>
                        <a:rPr lang="en-US" b="0"/>
                        <a:t>Menu chính</a:t>
                      </a:r>
                    </a:p>
                  </a:txBody>
                  <a:tcPr marL="92310" marR="92310"/>
                </a:tc>
                <a:extLst>
                  <a:ext uri="{0D108BD9-81ED-4DB2-BD59-A6C34878D82A}">
                    <a16:rowId xmlns:a16="http://schemas.microsoft.com/office/drawing/2014/main" val="10001"/>
                  </a:ext>
                </a:extLst>
              </a:tr>
              <a:tr h="370840">
                <a:tc>
                  <a:txBody>
                    <a:bodyPr/>
                    <a:lstStyle/>
                    <a:p>
                      <a:r>
                        <a:rPr lang="en-US" b="0"/>
                        <a:t>ContextMenu</a:t>
                      </a:r>
                    </a:p>
                  </a:txBody>
                  <a:tcPr marL="92310" marR="92310"/>
                </a:tc>
                <a:tc>
                  <a:txBody>
                    <a:bodyPr/>
                    <a:lstStyle/>
                    <a:p>
                      <a:r>
                        <a:rPr lang="en-US" b="0"/>
                        <a:t>Menu ngữ</a:t>
                      </a:r>
                      <a:r>
                        <a:rPr lang="en-US" b="0" baseline="0"/>
                        <a:t> cảnh</a:t>
                      </a:r>
                      <a:endParaRPr lang="en-US" b="0"/>
                    </a:p>
                  </a:txBody>
                  <a:tcPr marL="92310" marR="92310"/>
                </a:tc>
                <a:extLst>
                  <a:ext uri="{0D108BD9-81ED-4DB2-BD59-A6C34878D82A}">
                    <a16:rowId xmlns:a16="http://schemas.microsoft.com/office/drawing/2014/main" val="10002"/>
                  </a:ext>
                </a:extLst>
              </a:tr>
              <a:tr h="370840">
                <a:tc>
                  <a:txBody>
                    <a:bodyPr/>
                    <a:lstStyle/>
                    <a:p>
                      <a:r>
                        <a:rPr lang="en-US"/>
                        <a:t>Opacity</a:t>
                      </a:r>
                    </a:p>
                  </a:txBody>
                  <a:tcPr marL="92310" marR="92310"/>
                </a:tc>
                <a:tc>
                  <a:txBody>
                    <a:bodyPr/>
                    <a:lstStyle/>
                    <a:p>
                      <a:r>
                        <a:rPr lang="en-US"/>
                        <a:t>Độ</a:t>
                      </a:r>
                      <a:r>
                        <a:rPr lang="en-US" baseline="0"/>
                        <a:t> trong suốt (0%-100%)</a:t>
                      </a:r>
                      <a:endParaRPr lang="en-US"/>
                    </a:p>
                  </a:txBody>
                  <a:tcPr marL="92310" marR="92310"/>
                </a:tc>
                <a:extLst>
                  <a:ext uri="{0D108BD9-81ED-4DB2-BD59-A6C34878D82A}">
                    <a16:rowId xmlns:a16="http://schemas.microsoft.com/office/drawing/2014/main" val="10003"/>
                  </a:ext>
                </a:extLst>
              </a:tr>
              <a:tr h="370840">
                <a:tc>
                  <a:txBody>
                    <a:bodyPr/>
                    <a:lstStyle/>
                    <a:p>
                      <a:r>
                        <a:rPr lang="en-US" sz="1800" b="0" kern="1200">
                          <a:solidFill>
                            <a:schemeClr val="dk1"/>
                          </a:solidFill>
                          <a:effectLst/>
                          <a:latin typeface="+mn-lt"/>
                          <a:ea typeface="+mn-ea"/>
                          <a:cs typeface="+mn-cs"/>
                        </a:rPr>
                        <a:t>StartPosition</a:t>
                      </a:r>
                      <a:endParaRPr lang="en-US" b="0"/>
                    </a:p>
                  </a:txBody>
                  <a:tcPr marL="92310" marR="92310"/>
                </a:tc>
                <a:tc>
                  <a:txBody>
                    <a:bodyPr/>
                    <a:lstStyle/>
                    <a:p>
                      <a:r>
                        <a:rPr lang="en-US" b="0"/>
                        <a:t>Vị trí</a:t>
                      </a:r>
                      <a:r>
                        <a:rPr lang="en-US" b="0" baseline="0"/>
                        <a:t> xuất hiện</a:t>
                      </a:r>
                      <a:endParaRPr lang="en-US" b="0"/>
                    </a:p>
                  </a:txBody>
                  <a:tcPr marL="92310" marR="92310"/>
                </a:tc>
                <a:extLst>
                  <a:ext uri="{0D108BD9-81ED-4DB2-BD59-A6C34878D82A}">
                    <a16:rowId xmlns:a16="http://schemas.microsoft.com/office/drawing/2014/main" val="10004"/>
                  </a:ext>
                </a:extLst>
              </a:tr>
              <a:tr h="370840">
                <a:tc>
                  <a:txBody>
                    <a:bodyPr/>
                    <a:lstStyle/>
                    <a:p>
                      <a:r>
                        <a:rPr lang="en-US" sz="1800" b="0" i="0" u="none" strike="noStrike" kern="1200" baseline="0">
                          <a:solidFill>
                            <a:schemeClr val="dk1"/>
                          </a:solidFill>
                          <a:latin typeface="+mn-lt"/>
                          <a:ea typeface="+mn-ea"/>
                          <a:cs typeface="+mn-cs"/>
                        </a:rPr>
                        <a:t>Text</a:t>
                      </a:r>
                      <a:endParaRPr lang="en-US" b="0"/>
                    </a:p>
                  </a:txBody>
                  <a:tcPr marL="92310" marR="92310"/>
                </a:tc>
                <a:tc>
                  <a:txBody>
                    <a:bodyPr/>
                    <a:lstStyle/>
                    <a:p>
                      <a:r>
                        <a:rPr lang="en-US" sz="1800" b="0" i="0" u="none" strike="noStrike" kern="1200" baseline="0">
                          <a:solidFill>
                            <a:schemeClr val="dk1"/>
                          </a:solidFill>
                          <a:latin typeface="+mn-lt"/>
                          <a:ea typeface="+mn-ea"/>
                          <a:cs typeface="+mn-cs"/>
                        </a:rPr>
                        <a:t>Tiêu đề cho form</a:t>
                      </a:r>
                      <a:endParaRPr lang="en-US" b="0"/>
                    </a:p>
                  </a:txBody>
                  <a:tcPr marL="92310" marR="92310"/>
                </a:tc>
                <a:extLst>
                  <a:ext uri="{0D108BD9-81ED-4DB2-BD59-A6C34878D82A}">
                    <a16:rowId xmlns:a16="http://schemas.microsoft.com/office/drawing/2014/main" val="10005"/>
                  </a:ext>
                </a:extLst>
              </a:tr>
              <a:tr h="370840">
                <a:tc>
                  <a:txBody>
                    <a:bodyPr/>
                    <a:lstStyle/>
                    <a:p>
                      <a:r>
                        <a:rPr lang="en-US"/>
                        <a:t>WindowState</a:t>
                      </a:r>
                    </a:p>
                  </a:txBody>
                  <a:tcPr marL="92310" marR="92310"/>
                </a:tc>
                <a:tc>
                  <a:txBody>
                    <a:bodyPr/>
                    <a:lstStyle/>
                    <a:p>
                      <a:r>
                        <a:rPr lang="en-US"/>
                        <a:t>Trạng</a:t>
                      </a:r>
                      <a:r>
                        <a:rPr lang="en-US" baseline="0"/>
                        <a:t> thái của form khi chạy chương trình: Normal, Maximized, Minimized)</a:t>
                      </a:r>
                      <a:endParaRPr lang="en-US"/>
                    </a:p>
                  </a:txBody>
                  <a:tcPr marL="92310" marR="92310"/>
                </a:tc>
                <a:extLst>
                  <a:ext uri="{0D108BD9-81ED-4DB2-BD59-A6C34878D82A}">
                    <a16:rowId xmlns:a16="http://schemas.microsoft.com/office/drawing/2014/main" val="10006"/>
                  </a:ext>
                </a:extLst>
              </a:tr>
              <a:tr h="370840">
                <a:tc>
                  <a:txBody>
                    <a:bodyPr/>
                    <a:lstStyle/>
                    <a:p>
                      <a:r>
                        <a:rPr lang="en-US"/>
                        <a:t>ShowInTaskbar</a:t>
                      </a:r>
                    </a:p>
                  </a:txBody>
                  <a:tcPr marL="92310" marR="92310"/>
                </a:tc>
                <a:tc>
                  <a:txBody>
                    <a:bodyPr/>
                    <a:lstStyle/>
                    <a:p>
                      <a:r>
                        <a:rPr lang="en-US"/>
                        <a:t>Hiển</a:t>
                      </a:r>
                      <a:r>
                        <a:rPr lang="en-US" baseline="0"/>
                        <a:t> thị trên Taskbar</a:t>
                      </a:r>
                      <a:endParaRPr lang="en-US"/>
                    </a:p>
                  </a:txBody>
                  <a:tcPr marL="92310" marR="92310"/>
                </a:tc>
                <a:extLst>
                  <a:ext uri="{0D108BD9-81ED-4DB2-BD59-A6C34878D82A}">
                    <a16:rowId xmlns:a16="http://schemas.microsoft.com/office/drawing/2014/main" val="10007"/>
                  </a:ext>
                </a:extLst>
              </a:tr>
              <a:tr h="370840">
                <a:tc>
                  <a:txBody>
                    <a:bodyPr/>
                    <a:lstStyle/>
                    <a:p>
                      <a:r>
                        <a:rPr lang="en-US"/>
                        <a:t>MaximizeBox</a:t>
                      </a:r>
                    </a:p>
                  </a:txBody>
                  <a:tcPr marL="92310" marR="92310"/>
                </a:tc>
                <a:tc>
                  <a:txBody>
                    <a:bodyPr/>
                    <a:lstStyle/>
                    <a:p>
                      <a:r>
                        <a:rPr lang="en-US"/>
                        <a:t>True/False: Có/không </a:t>
                      </a:r>
                      <a:r>
                        <a:rPr lang="en-US" baseline="0"/>
                        <a:t>hiển thị nút phóng lớn</a:t>
                      </a:r>
                      <a:endParaRPr lang="en-US"/>
                    </a:p>
                  </a:txBody>
                  <a:tcPr marL="92310" marR="92310"/>
                </a:tc>
                <a:extLst>
                  <a:ext uri="{0D108BD9-81ED-4DB2-BD59-A6C34878D82A}">
                    <a16:rowId xmlns:a16="http://schemas.microsoft.com/office/drawing/2014/main" val="10008"/>
                  </a:ext>
                </a:extLst>
              </a:tr>
              <a:tr h="370840">
                <a:tc>
                  <a:txBody>
                    <a:bodyPr/>
                    <a:lstStyle/>
                    <a:p>
                      <a:r>
                        <a:rPr lang="en-US"/>
                        <a:t>MinimizeBox</a:t>
                      </a:r>
                    </a:p>
                  </a:txBody>
                  <a:tcPr marL="92310" marR="92310"/>
                </a:tc>
                <a:tc>
                  <a:txBody>
                    <a:bodyPr/>
                    <a:lstStyle/>
                    <a:p>
                      <a:r>
                        <a:rPr lang="en-US"/>
                        <a:t>True/False: Có/không</a:t>
                      </a:r>
                      <a:r>
                        <a:rPr lang="en-US" baseline="0"/>
                        <a:t> hiển thị nút thu nhỏ</a:t>
                      </a:r>
                      <a:endParaRPr lang="en-US"/>
                    </a:p>
                  </a:txBody>
                  <a:tcPr marL="92310" marR="9231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668624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r>
              <a:rPr lang="en-US"/>
              <a:t>Các sự kiện</a:t>
            </a:r>
          </a:p>
          <a:p>
            <a:pPr lvl="1"/>
            <a:r>
              <a:rPr lang="en-US"/>
              <a:t>Nhấn     để hiển thị danh sách các sự kiện</a:t>
            </a:r>
          </a:p>
          <a:p>
            <a:pPr lvl="1"/>
            <a:r>
              <a:rPr lang="en-US"/>
              <a:t>Nháy đúp chuột vào tên sự kiện để vào cửa sổ viết mã lệnh</a:t>
            </a:r>
          </a:p>
        </p:txBody>
      </p:sp>
      <p:sp>
        <p:nvSpPr>
          <p:cNvPr id="4" name="Date Placeholder 3"/>
          <p:cNvSpPr>
            <a:spLocks noGrp="1"/>
          </p:cNvSpPr>
          <p:nvPr>
            <p:ph type="dt" sz="half" idx="10"/>
          </p:nvPr>
        </p:nvSpPr>
        <p:spPr/>
        <p:txBody>
          <a:bodyPr/>
          <a:lstStyle/>
          <a:p>
            <a:fld id="{3DF20495-98C7-4C8A-937A-69C3689C0E93}"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3" name="Slide Number Placeholder 2"/>
          <p:cNvSpPr>
            <a:spLocks noGrp="1"/>
          </p:cNvSpPr>
          <p:nvPr>
            <p:ph type="sldNum" sz="quarter" idx="12"/>
          </p:nvPr>
        </p:nvSpPr>
        <p:spPr/>
        <p:txBody>
          <a:bodyPr/>
          <a:lstStyle/>
          <a:p>
            <a:fld id="{5AB95402-1E0D-474E-8D8C-CBE7F053639E}" type="slidenum">
              <a:rPr lang="vi-VN" smtClean="0"/>
              <a:pPr/>
              <a:t>14</a:t>
            </a:fld>
            <a:r>
              <a:rPr lang="vi-VN"/>
              <a:t>/51</a:t>
            </a:r>
          </a:p>
        </p:txBody>
      </p:sp>
      <p:sp>
        <p:nvSpPr>
          <p:cNvPr id="2" name="Title 1"/>
          <p:cNvSpPr>
            <a:spLocks noGrp="1"/>
          </p:cNvSpPr>
          <p:nvPr>
            <p:ph type="title"/>
          </p:nvPr>
        </p:nvSpPr>
        <p:spPr/>
        <p:txBody>
          <a:bodyPr/>
          <a:lstStyle/>
          <a:p>
            <a:r>
              <a:rPr lang="en-US"/>
              <a:t>Form</a:t>
            </a:r>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2555776" y="1628800"/>
            <a:ext cx="273174" cy="378520"/>
          </a:xfrm>
          <a:prstGeom prst="rect">
            <a:avLst/>
          </a:prstGeom>
          <a:noFill/>
          <a:ln>
            <a:noFill/>
          </a:ln>
        </p:spPr>
      </p:pic>
      <p:graphicFrame>
        <p:nvGraphicFramePr>
          <p:cNvPr id="9" name="Table 8"/>
          <p:cNvGraphicFramePr>
            <a:graphicFrameLocks noGrp="1"/>
          </p:cNvGraphicFramePr>
          <p:nvPr>
            <p:extLst>
              <p:ext uri="{D42A27DB-BD31-4B8C-83A1-F6EECF244321}">
                <p14:modId xmlns:p14="http://schemas.microsoft.com/office/powerpoint/2010/main" val="1596858865"/>
              </p:ext>
            </p:extLst>
          </p:nvPr>
        </p:nvGraphicFramePr>
        <p:xfrm>
          <a:off x="899592" y="3144376"/>
          <a:ext cx="7923487" cy="2148840"/>
        </p:xfrm>
        <a:graphic>
          <a:graphicData uri="http://schemas.openxmlformats.org/drawingml/2006/table">
            <a:tbl>
              <a:tblPr firstRow="1" bandRow="1">
                <a:tableStyleId>{5C22544A-7EE6-4342-B048-85BDC9FD1C3A}</a:tableStyleId>
              </a:tblPr>
              <a:tblGrid>
                <a:gridCol w="1872208">
                  <a:extLst>
                    <a:ext uri="{9D8B030D-6E8A-4147-A177-3AD203B41FA5}">
                      <a16:colId xmlns:a16="http://schemas.microsoft.com/office/drawing/2014/main" val="20000"/>
                    </a:ext>
                  </a:extLst>
                </a:gridCol>
                <a:gridCol w="6051279">
                  <a:extLst>
                    <a:ext uri="{9D8B030D-6E8A-4147-A177-3AD203B41FA5}">
                      <a16:colId xmlns:a16="http://schemas.microsoft.com/office/drawing/2014/main" val="20001"/>
                    </a:ext>
                  </a:extLst>
                </a:gridCol>
              </a:tblGrid>
              <a:tr h="370840">
                <a:tc>
                  <a:txBody>
                    <a:bodyPr/>
                    <a:lstStyle/>
                    <a:p>
                      <a:r>
                        <a:rPr lang="en-US" sz="2000"/>
                        <a:t>Sự kiện</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r>
                        <a:rPr lang="en-US" b="0"/>
                        <a:t>Load</a:t>
                      </a:r>
                    </a:p>
                  </a:txBody>
                  <a:tcPr marL="92310" marR="92310"/>
                </a:tc>
                <a:tc>
                  <a:txBody>
                    <a:bodyPr/>
                    <a:lstStyle/>
                    <a:p>
                      <a:r>
                        <a:rPr lang="en-US" b="0"/>
                        <a:t>Khi form được</a:t>
                      </a:r>
                      <a:r>
                        <a:rPr lang="en-US" b="0" baseline="0"/>
                        <a:t> nạp vào bộ nhớ, thường dùng khởi tạo giá trị và trạng thái cho các biến, điều khiển trên form</a:t>
                      </a:r>
                      <a:endParaRPr lang="en-US" b="0"/>
                    </a:p>
                  </a:txBody>
                  <a:tcPr marL="92310" marR="92310"/>
                </a:tc>
                <a:extLst>
                  <a:ext uri="{0D108BD9-81ED-4DB2-BD59-A6C34878D82A}">
                    <a16:rowId xmlns:a16="http://schemas.microsoft.com/office/drawing/2014/main" val="10001"/>
                  </a:ext>
                </a:extLst>
              </a:tr>
              <a:tr h="370840">
                <a:tc>
                  <a:txBody>
                    <a:bodyPr/>
                    <a:lstStyle/>
                    <a:p>
                      <a:r>
                        <a:rPr lang="en-US" b="0"/>
                        <a:t>Click</a:t>
                      </a:r>
                    </a:p>
                  </a:txBody>
                  <a:tcPr marL="92310" marR="92310"/>
                </a:tc>
                <a:tc>
                  <a:txBody>
                    <a:bodyPr/>
                    <a:lstStyle/>
                    <a:p>
                      <a:r>
                        <a:rPr lang="en-US" b="0"/>
                        <a:t>Người dùng</a:t>
                      </a:r>
                      <a:r>
                        <a:rPr lang="en-US" b="0" baseline="0"/>
                        <a:t> nhấn chuột</a:t>
                      </a:r>
                      <a:endParaRPr lang="en-US" b="0"/>
                    </a:p>
                  </a:txBody>
                  <a:tcPr marL="92310" marR="92310"/>
                </a:tc>
                <a:extLst>
                  <a:ext uri="{0D108BD9-81ED-4DB2-BD59-A6C34878D82A}">
                    <a16:rowId xmlns:a16="http://schemas.microsoft.com/office/drawing/2014/main" val="10002"/>
                  </a:ext>
                </a:extLst>
              </a:tr>
              <a:tr h="370840">
                <a:tc>
                  <a:txBody>
                    <a:bodyPr/>
                    <a:lstStyle/>
                    <a:p>
                      <a:r>
                        <a:rPr lang="en-US"/>
                        <a:t>FormClosed</a:t>
                      </a:r>
                    </a:p>
                  </a:txBody>
                  <a:tcPr marL="92310" marR="92310"/>
                </a:tc>
                <a:tc>
                  <a:txBody>
                    <a:bodyPr/>
                    <a:lstStyle/>
                    <a:p>
                      <a:r>
                        <a:rPr lang="en-US"/>
                        <a:t>Khi người</a:t>
                      </a:r>
                      <a:r>
                        <a:rPr lang="en-US" baseline="0"/>
                        <a:t> dùng nhấn nút Close x</a:t>
                      </a:r>
                      <a:endParaRPr lang="en-US"/>
                    </a:p>
                  </a:txBody>
                  <a:tcPr marL="92310" marR="92310"/>
                </a:tc>
                <a:extLst>
                  <a:ext uri="{0D108BD9-81ED-4DB2-BD59-A6C34878D82A}">
                    <a16:rowId xmlns:a16="http://schemas.microsoft.com/office/drawing/2014/main" val="10003"/>
                  </a:ext>
                </a:extLst>
              </a:tr>
              <a:tr h="370840">
                <a:tc>
                  <a:txBody>
                    <a:bodyPr/>
                    <a:lstStyle/>
                    <a:p>
                      <a:r>
                        <a:rPr lang="en-US"/>
                        <a:t>FormClosing</a:t>
                      </a:r>
                    </a:p>
                  </a:txBody>
                  <a:tcPr marL="92310" marR="92310"/>
                </a:tc>
                <a:tc>
                  <a:txBody>
                    <a:bodyPr/>
                    <a:lstStyle/>
                    <a:p>
                      <a:r>
                        <a:rPr lang="en-US"/>
                        <a:t>Khi người</a:t>
                      </a:r>
                      <a:r>
                        <a:rPr lang="en-US" baseline="0"/>
                        <a:t> dùng nhấn nút close x (trước sự kiện FormClosed)</a:t>
                      </a:r>
                      <a:endParaRPr lang="en-US"/>
                    </a:p>
                  </a:txBody>
                  <a:tcPr marL="92310" marR="9231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33061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Các phương thức</a:t>
            </a:r>
          </a:p>
        </p:txBody>
      </p:sp>
      <p:sp>
        <p:nvSpPr>
          <p:cNvPr id="4" name="Date Placeholder 3"/>
          <p:cNvSpPr>
            <a:spLocks noGrp="1"/>
          </p:cNvSpPr>
          <p:nvPr>
            <p:ph type="dt" sz="half" idx="10"/>
          </p:nvPr>
        </p:nvSpPr>
        <p:spPr/>
        <p:txBody>
          <a:bodyPr/>
          <a:lstStyle/>
          <a:p>
            <a:fld id="{40293159-1D86-4F93-B777-8D9A32B0C1E0}"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15</a:t>
            </a:fld>
            <a:r>
              <a:rPr lang="vi-VN"/>
              <a:t>/51</a:t>
            </a:r>
          </a:p>
        </p:txBody>
      </p:sp>
      <p:sp>
        <p:nvSpPr>
          <p:cNvPr id="2" name="Title 1"/>
          <p:cNvSpPr>
            <a:spLocks noGrp="1"/>
          </p:cNvSpPr>
          <p:nvPr>
            <p:ph type="title"/>
          </p:nvPr>
        </p:nvSpPr>
        <p:spPr/>
        <p:txBody>
          <a:bodyPr/>
          <a:lstStyle/>
          <a:p>
            <a:r>
              <a:rPr lang="en-US"/>
              <a:t>Form</a:t>
            </a:r>
          </a:p>
        </p:txBody>
      </p:sp>
      <p:graphicFrame>
        <p:nvGraphicFramePr>
          <p:cNvPr id="6" name="Table 5"/>
          <p:cNvGraphicFramePr>
            <a:graphicFrameLocks noGrp="1"/>
          </p:cNvGraphicFramePr>
          <p:nvPr>
            <p:extLst>
              <p:ext uri="{D42A27DB-BD31-4B8C-83A1-F6EECF244321}">
                <p14:modId xmlns:p14="http://schemas.microsoft.com/office/powerpoint/2010/main" val="2094751707"/>
              </p:ext>
            </p:extLst>
          </p:nvPr>
        </p:nvGraphicFramePr>
        <p:xfrm>
          <a:off x="827584" y="2132856"/>
          <a:ext cx="7923487" cy="1879600"/>
        </p:xfrm>
        <a:graphic>
          <a:graphicData uri="http://schemas.openxmlformats.org/drawingml/2006/table">
            <a:tbl>
              <a:tblPr firstRow="1" bandRow="1">
                <a:tableStyleId>{5C22544A-7EE6-4342-B048-85BDC9FD1C3A}</a:tableStyleId>
              </a:tblPr>
              <a:tblGrid>
                <a:gridCol w="2016224">
                  <a:extLst>
                    <a:ext uri="{9D8B030D-6E8A-4147-A177-3AD203B41FA5}">
                      <a16:colId xmlns:a16="http://schemas.microsoft.com/office/drawing/2014/main" val="20000"/>
                    </a:ext>
                  </a:extLst>
                </a:gridCol>
                <a:gridCol w="5907263">
                  <a:extLst>
                    <a:ext uri="{9D8B030D-6E8A-4147-A177-3AD203B41FA5}">
                      <a16:colId xmlns:a16="http://schemas.microsoft.com/office/drawing/2014/main" val="20001"/>
                    </a:ext>
                  </a:extLst>
                </a:gridCol>
              </a:tblGrid>
              <a:tr h="370840">
                <a:tc>
                  <a:txBody>
                    <a:bodyPr/>
                    <a:lstStyle/>
                    <a:p>
                      <a:r>
                        <a:rPr lang="en-US" sz="2000"/>
                        <a:t>Phương</a:t>
                      </a:r>
                      <a:r>
                        <a:rPr lang="en-US" sz="2000" baseline="0"/>
                        <a:t> thức</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r>
                        <a:rPr lang="en-US" b="0"/>
                        <a:t>Close</a:t>
                      </a:r>
                    </a:p>
                  </a:txBody>
                  <a:tcPr marL="92310" marR="92310"/>
                </a:tc>
                <a:tc>
                  <a:txBody>
                    <a:bodyPr/>
                    <a:lstStyle/>
                    <a:p>
                      <a:r>
                        <a:rPr lang="en-US" b="0"/>
                        <a:t>Đóng</a:t>
                      </a:r>
                      <a:r>
                        <a:rPr lang="en-US" b="0" baseline="0"/>
                        <a:t> form</a:t>
                      </a:r>
                      <a:endParaRPr lang="en-US" b="0"/>
                    </a:p>
                  </a:txBody>
                  <a:tcPr marL="92310" marR="92310"/>
                </a:tc>
                <a:extLst>
                  <a:ext uri="{0D108BD9-81ED-4DB2-BD59-A6C34878D82A}">
                    <a16:rowId xmlns:a16="http://schemas.microsoft.com/office/drawing/2014/main" val="10001"/>
                  </a:ext>
                </a:extLst>
              </a:tr>
              <a:tr h="370840">
                <a:tc>
                  <a:txBody>
                    <a:bodyPr/>
                    <a:lstStyle/>
                    <a:p>
                      <a:r>
                        <a:rPr lang="en-US" b="0"/>
                        <a:t>Hide</a:t>
                      </a:r>
                    </a:p>
                  </a:txBody>
                  <a:tcPr marL="92310" marR="92310"/>
                </a:tc>
                <a:tc>
                  <a:txBody>
                    <a:bodyPr/>
                    <a:lstStyle/>
                    <a:p>
                      <a:r>
                        <a:rPr lang="en-US" b="0"/>
                        <a:t>Ẩn form</a:t>
                      </a:r>
                    </a:p>
                  </a:txBody>
                  <a:tcPr marL="92310" marR="92310"/>
                </a:tc>
                <a:extLst>
                  <a:ext uri="{0D108BD9-81ED-4DB2-BD59-A6C34878D82A}">
                    <a16:rowId xmlns:a16="http://schemas.microsoft.com/office/drawing/2014/main" val="10002"/>
                  </a:ext>
                </a:extLst>
              </a:tr>
              <a:tr h="370840">
                <a:tc>
                  <a:txBody>
                    <a:bodyPr/>
                    <a:lstStyle/>
                    <a:p>
                      <a:r>
                        <a:rPr lang="en-US"/>
                        <a:t>Show</a:t>
                      </a:r>
                    </a:p>
                  </a:txBody>
                  <a:tcPr marL="92310" marR="92310"/>
                </a:tc>
                <a:tc>
                  <a:txBody>
                    <a:bodyPr/>
                    <a:lstStyle/>
                    <a:p>
                      <a:r>
                        <a:rPr lang="en-US"/>
                        <a:t>Hiển</a:t>
                      </a:r>
                      <a:r>
                        <a:rPr lang="en-US" baseline="0"/>
                        <a:t> thị form chế độ thông thường (modeless)</a:t>
                      </a:r>
                      <a:endParaRPr lang="en-US"/>
                    </a:p>
                  </a:txBody>
                  <a:tcPr marL="92310" marR="92310"/>
                </a:tc>
                <a:extLst>
                  <a:ext uri="{0D108BD9-81ED-4DB2-BD59-A6C34878D82A}">
                    <a16:rowId xmlns:a16="http://schemas.microsoft.com/office/drawing/2014/main" val="10003"/>
                  </a:ext>
                </a:extLst>
              </a:tr>
              <a:tr h="370840">
                <a:tc>
                  <a:txBody>
                    <a:bodyPr/>
                    <a:lstStyle/>
                    <a:p>
                      <a:r>
                        <a:rPr lang="en-US"/>
                        <a:t>ShowDialog</a:t>
                      </a:r>
                    </a:p>
                  </a:txBody>
                  <a:tcPr marL="92310" marR="92310"/>
                </a:tc>
                <a:tc>
                  <a:txBody>
                    <a:bodyPr/>
                    <a:lstStyle/>
                    <a:p>
                      <a:r>
                        <a:rPr lang="en-US"/>
                        <a:t>Hiển</a:t>
                      </a:r>
                      <a:r>
                        <a:rPr lang="en-US" baseline="0"/>
                        <a:t> thị form như hộp thoại (model)</a:t>
                      </a:r>
                      <a:endParaRPr lang="en-US"/>
                    </a:p>
                  </a:txBody>
                  <a:tcPr marL="92310" marR="9231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16869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Thuộc tính</a:t>
            </a:r>
          </a:p>
        </p:txBody>
      </p:sp>
      <p:sp>
        <p:nvSpPr>
          <p:cNvPr id="4" name="Date Placeholder 3"/>
          <p:cNvSpPr>
            <a:spLocks noGrp="1"/>
          </p:cNvSpPr>
          <p:nvPr>
            <p:ph type="dt" sz="half" idx="10"/>
          </p:nvPr>
        </p:nvSpPr>
        <p:spPr/>
        <p:txBody>
          <a:bodyPr/>
          <a:lstStyle/>
          <a:p>
            <a:fld id="{5282B806-6A5E-4C85-9582-E8FA1F85C4DF}"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16</a:t>
            </a:fld>
            <a:r>
              <a:rPr lang="vi-VN"/>
              <a:t>/51</a:t>
            </a:r>
          </a:p>
        </p:txBody>
      </p:sp>
      <p:sp>
        <p:nvSpPr>
          <p:cNvPr id="2" name="Title 1"/>
          <p:cNvSpPr>
            <a:spLocks noGrp="1"/>
          </p:cNvSpPr>
          <p:nvPr>
            <p:ph type="title"/>
          </p:nvPr>
        </p:nvSpPr>
        <p:spPr/>
        <p:txBody>
          <a:bodyPr/>
          <a:lstStyle/>
          <a:p>
            <a:r>
              <a:rPr lang="en-US"/>
              <a:t>Textbox</a:t>
            </a:r>
          </a:p>
        </p:txBody>
      </p:sp>
      <p:graphicFrame>
        <p:nvGraphicFramePr>
          <p:cNvPr id="6" name="Table 5"/>
          <p:cNvGraphicFramePr>
            <a:graphicFrameLocks noGrp="1"/>
          </p:cNvGraphicFramePr>
          <p:nvPr>
            <p:extLst>
              <p:ext uri="{D42A27DB-BD31-4B8C-83A1-F6EECF244321}">
                <p14:modId xmlns:p14="http://schemas.microsoft.com/office/powerpoint/2010/main" val="550427312"/>
              </p:ext>
            </p:extLst>
          </p:nvPr>
        </p:nvGraphicFramePr>
        <p:xfrm>
          <a:off x="824977" y="1916832"/>
          <a:ext cx="7923487" cy="4104640"/>
        </p:xfrm>
        <a:graphic>
          <a:graphicData uri="http://schemas.openxmlformats.org/drawingml/2006/table">
            <a:tbl>
              <a:tblPr firstRow="1" bandRow="1">
                <a:tableStyleId>{5C22544A-7EE6-4342-B048-85BDC9FD1C3A}</a:tableStyleId>
              </a:tblPr>
              <a:tblGrid>
                <a:gridCol w="2326161">
                  <a:extLst>
                    <a:ext uri="{9D8B030D-6E8A-4147-A177-3AD203B41FA5}">
                      <a16:colId xmlns:a16="http://schemas.microsoft.com/office/drawing/2014/main" val="20000"/>
                    </a:ext>
                  </a:extLst>
                </a:gridCol>
                <a:gridCol w="5597326">
                  <a:extLst>
                    <a:ext uri="{9D8B030D-6E8A-4147-A177-3AD203B41FA5}">
                      <a16:colId xmlns:a16="http://schemas.microsoft.com/office/drawing/2014/main" val="20001"/>
                    </a:ext>
                  </a:extLst>
                </a:gridCol>
              </a:tblGrid>
              <a:tr h="370840">
                <a:tc>
                  <a:txBody>
                    <a:bodyPr/>
                    <a:lstStyle/>
                    <a:p>
                      <a:r>
                        <a:rPr lang="en-US" sz="2000"/>
                        <a:t>Thuộc tính</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r>
                        <a:rPr lang="en-US" b="0"/>
                        <a:t>Name</a:t>
                      </a:r>
                    </a:p>
                  </a:txBody>
                  <a:tcPr marL="92310" marR="92310"/>
                </a:tc>
                <a:tc>
                  <a:txBody>
                    <a:bodyPr/>
                    <a:lstStyle/>
                    <a:p>
                      <a:r>
                        <a:rPr lang="en-US" b="0"/>
                        <a:t>Tên,</a:t>
                      </a:r>
                      <a:r>
                        <a:rPr lang="en-US" b="0" baseline="0"/>
                        <a:t> bắt đầu bằng txt</a:t>
                      </a:r>
                      <a:endParaRPr lang="en-US" b="0"/>
                    </a:p>
                  </a:txBody>
                  <a:tcPr marL="92310" marR="92310"/>
                </a:tc>
                <a:extLst>
                  <a:ext uri="{0D108BD9-81ED-4DB2-BD59-A6C34878D82A}">
                    <a16:rowId xmlns:a16="http://schemas.microsoft.com/office/drawing/2014/main" val="10001"/>
                  </a:ext>
                </a:extLst>
              </a:tr>
              <a:tr h="370840">
                <a:tc>
                  <a:txBody>
                    <a:bodyPr/>
                    <a:lstStyle/>
                    <a:p>
                      <a:r>
                        <a:rPr lang="en-US" b="0"/>
                        <a:t>BackColor</a:t>
                      </a:r>
                    </a:p>
                  </a:txBody>
                  <a:tcPr marL="92310" marR="92310"/>
                </a:tc>
                <a:tc>
                  <a:txBody>
                    <a:bodyPr/>
                    <a:lstStyle/>
                    <a:p>
                      <a:r>
                        <a:rPr lang="en-US" b="0"/>
                        <a:t>Màu</a:t>
                      </a:r>
                      <a:r>
                        <a:rPr lang="en-US" b="0" baseline="0"/>
                        <a:t> nền</a:t>
                      </a:r>
                      <a:endParaRPr lang="en-US" b="0"/>
                    </a:p>
                  </a:txBody>
                  <a:tcPr marL="92310" marR="9231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Enabled</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True/False: bật/tắt</a:t>
                      </a:r>
                      <a:r>
                        <a:rPr lang="en-US" sz="1800" b="0" kern="1200" baseline="0">
                          <a:solidFill>
                            <a:schemeClr val="dk1"/>
                          </a:solidFill>
                          <a:latin typeface="+mn-lt"/>
                          <a:ea typeface="+mn-ea"/>
                          <a:cs typeface="+mn-cs"/>
                        </a:rPr>
                        <a:t> textbox</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Font</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Font</a:t>
                      </a:r>
                      <a:r>
                        <a:rPr lang="en-US" sz="1800" b="0" kern="1200" baseline="0">
                          <a:solidFill>
                            <a:schemeClr val="dk1"/>
                          </a:solidFill>
                          <a:latin typeface="+mn-lt"/>
                          <a:ea typeface="+mn-ea"/>
                          <a:cs typeface="+mn-cs"/>
                        </a:rPr>
                        <a:t> chữ</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ForeColor</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Màu</a:t>
                      </a:r>
                      <a:r>
                        <a:rPr lang="en-US" sz="1800" b="0" kern="1200" baseline="0">
                          <a:solidFill>
                            <a:schemeClr val="dk1"/>
                          </a:solidFill>
                          <a:latin typeface="+mn-lt"/>
                          <a:ea typeface="+mn-ea"/>
                          <a:cs typeface="+mn-cs"/>
                        </a:rPr>
                        <a:t> chữ</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Locked</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True/false: khoá/không</a:t>
                      </a:r>
                      <a:r>
                        <a:rPr lang="en-US" sz="1800" b="0" kern="1200" baseline="0">
                          <a:solidFill>
                            <a:schemeClr val="dk1"/>
                          </a:solidFill>
                          <a:latin typeface="+mn-lt"/>
                          <a:ea typeface="+mn-ea"/>
                          <a:cs typeface="+mn-cs"/>
                        </a:rPr>
                        <a:t> khoá</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MaxLength</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Chiều</a:t>
                      </a:r>
                      <a:r>
                        <a:rPr lang="en-US" sz="1800" b="0" kern="1200" baseline="0">
                          <a:solidFill>
                            <a:schemeClr val="dk1"/>
                          </a:solidFill>
                          <a:latin typeface="+mn-lt"/>
                          <a:ea typeface="+mn-ea"/>
                          <a:cs typeface="+mn-cs"/>
                        </a:rPr>
                        <a:t> dài tối đa (0-32767)</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Multiline</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True: cho</a:t>
                      </a:r>
                      <a:r>
                        <a:rPr lang="en-US" sz="1800" b="0" kern="1200" baseline="0">
                          <a:solidFill>
                            <a:schemeClr val="dk1"/>
                          </a:solidFill>
                          <a:latin typeface="+mn-lt"/>
                          <a:ea typeface="+mn-ea"/>
                          <a:cs typeface="+mn-cs"/>
                        </a:rPr>
                        <a:t> phép nhiều dòng</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PasswordChar       </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Hiển</a:t>
                      </a:r>
                      <a:r>
                        <a:rPr lang="en-US" sz="1800" b="0" kern="1200" baseline="0">
                          <a:solidFill>
                            <a:schemeClr val="dk1"/>
                          </a:solidFill>
                          <a:latin typeface="+mn-lt"/>
                          <a:ea typeface="+mn-ea"/>
                          <a:cs typeface="+mn-cs"/>
                        </a:rPr>
                        <a:t> thị kí tự này thay cho kí tự nhập vào</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ReadOnly</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Chỉ</a:t>
                      </a:r>
                      <a:r>
                        <a:rPr lang="en-US" sz="1800" b="0" kern="1200" baseline="0">
                          <a:solidFill>
                            <a:schemeClr val="dk1"/>
                          </a:solidFill>
                          <a:latin typeface="+mn-lt"/>
                          <a:ea typeface="+mn-ea"/>
                          <a:cs typeface="+mn-cs"/>
                        </a:rPr>
                        <a:t> đọc</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05316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Thuộc tính</a:t>
            </a:r>
          </a:p>
        </p:txBody>
      </p:sp>
      <p:sp>
        <p:nvSpPr>
          <p:cNvPr id="4" name="Date Placeholder 3"/>
          <p:cNvSpPr>
            <a:spLocks noGrp="1"/>
          </p:cNvSpPr>
          <p:nvPr>
            <p:ph type="dt" sz="half" idx="10"/>
          </p:nvPr>
        </p:nvSpPr>
        <p:spPr/>
        <p:txBody>
          <a:bodyPr/>
          <a:lstStyle/>
          <a:p>
            <a:fld id="{ECAB3056-EA54-40C5-861E-155D2F0E7187}"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17</a:t>
            </a:fld>
            <a:r>
              <a:rPr lang="vi-VN"/>
              <a:t>/51</a:t>
            </a:r>
          </a:p>
        </p:txBody>
      </p:sp>
      <p:sp>
        <p:nvSpPr>
          <p:cNvPr id="2" name="Title 1"/>
          <p:cNvSpPr>
            <a:spLocks noGrp="1"/>
          </p:cNvSpPr>
          <p:nvPr>
            <p:ph type="title"/>
          </p:nvPr>
        </p:nvSpPr>
        <p:spPr/>
        <p:txBody>
          <a:bodyPr/>
          <a:lstStyle/>
          <a:p>
            <a:r>
              <a:rPr lang="en-US"/>
              <a:t>Textbox</a:t>
            </a:r>
          </a:p>
        </p:txBody>
      </p:sp>
      <p:graphicFrame>
        <p:nvGraphicFramePr>
          <p:cNvPr id="6" name="Table 5"/>
          <p:cNvGraphicFramePr>
            <a:graphicFrameLocks noGrp="1"/>
          </p:cNvGraphicFramePr>
          <p:nvPr>
            <p:extLst>
              <p:ext uri="{D42A27DB-BD31-4B8C-83A1-F6EECF244321}">
                <p14:modId xmlns:p14="http://schemas.microsoft.com/office/powerpoint/2010/main" val="2220006850"/>
              </p:ext>
            </p:extLst>
          </p:nvPr>
        </p:nvGraphicFramePr>
        <p:xfrm>
          <a:off x="824977" y="1916832"/>
          <a:ext cx="7923487" cy="3685540"/>
        </p:xfrm>
        <a:graphic>
          <a:graphicData uri="http://schemas.openxmlformats.org/drawingml/2006/table">
            <a:tbl>
              <a:tblPr firstRow="1" bandRow="1">
                <a:tableStyleId>{5C22544A-7EE6-4342-B048-85BDC9FD1C3A}</a:tableStyleId>
              </a:tblPr>
              <a:tblGrid>
                <a:gridCol w="2326161">
                  <a:extLst>
                    <a:ext uri="{9D8B030D-6E8A-4147-A177-3AD203B41FA5}">
                      <a16:colId xmlns:a16="http://schemas.microsoft.com/office/drawing/2014/main" val="20000"/>
                    </a:ext>
                  </a:extLst>
                </a:gridCol>
                <a:gridCol w="5597326">
                  <a:extLst>
                    <a:ext uri="{9D8B030D-6E8A-4147-A177-3AD203B41FA5}">
                      <a16:colId xmlns:a16="http://schemas.microsoft.com/office/drawing/2014/main" val="20001"/>
                    </a:ext>
                  </a:extLst>
                </a:gridCol>
              </a:tblGrid>
              <a:tr h="370840">
                <a:tc>
                  <a:txBody>
                    <a:bodyPr/>
                    <a:lstStyle/>
                    <a:p>
                      <a:r>
                        <a:rPr lang="en-US" sz="2000"/>
                        <a:t>Thuộc tính</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r>
                        <a:rPr lang="en-US" b="0"/>
                        <a:t>ScrollBars</a:t>
                      </a:r>
                    </a:p>
                  </a:txBody>
                  <a:tcPr marL="92310" marR="92310"/>
                </a:tc>
                <a:tc>
                  <a:txBody>
                    <a:bodyPr/>
                    <a:lstStyle/>
                    <a:p>
                      <a:r>
                        <a:rPr lang="en-US" b="0"/>
                        <a:t>Thanh cuốn</a:t>
                      </a:r>
                      <a:r>
                        <a:rPr lang="en-US" b="0" baseline="0"/>
                        <a:t> ngang, dọc (có hiệu lực khi Multiline = true, thanh cuốn ngang có hiệu lực khi WordWrap=False)</a:t>
                      </a:r>
                      <a:endParaRPr lang="en-US" b="0"/>
                    </a:p>
                  </a:txBody>
                  <a:tcPr marL="92310" marR="9231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TabIndex</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Thứ tự truy cập của hộp văn bản khi người dùng bấm phím Tab, thứ tự đầu tiên là 0.</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Text</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Chứa nội dung của hộp văn bản.</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TextAlign</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Căn</a:t>
                      </a:r>
                      <a:r>
                        <a:rPr lang="en-US" sz="1800" b="0" kern="1200" baseline="0">
                          <a:solidFill>
                            <a:schemeClr val="dk1"/>
                          </a:solidFill>
                          <a:latin typeface="+mn-lt"/>
                          <a:ea typeface="+mn-ea"/>
                          <a:cs typeface="+mn-cs"/>
                        </a:rPr>
                        <a:t> lề</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Visible</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True/False: ẩn/hiện</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WordWrap</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WordWrap = True: dòng văn bản được tự động cuộn xuống dòng khi gặp lề bên phải của hộp TextBox, ngược lại thì nhận giá trị False. Chỉ có hiệu lực khi Multiline = True.</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29367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Sự kiện</a:t>
            </a:r>
          </a:p>
        </p:txBody>
      </p:sp>
      <p:sp>
        <p:nvSpPr>
          <p:cNvPr id="4" name="Date Placeholder 3"/>
          <p:cNvSpPr>
            <a:spLocks noGrp="1"/>
          </p:cNvSpPr>
          <p:nvPr>
            <p:ph type="dt" sz="half" idx="10"/>
          </p:nvPr>
        </p:nvSpPr>
        <p:spPr/>
        <p:txBody>
          <a:bodyPr/>
          <a:lstStyle/>
          <a:p>
            <a:fld id="{9E198E59-54B4-4E54-B4AB-3FDE52AE1DFA}"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18</a:t>
            </a:fld>
            <a:r>
              <a:rPr lang="vi-VN"/>
              <a:t>/51</a:t>
            </a:r>
          </a:p>
        </p:txBody>
      </p:sp>
      <p:sp>
        <p:nvSpPr>
          <p:cNvPr id="2" name="Title 1"/>
          <p:cNvSpPr>
            <a:spLocks noGrp="1"/>
          </p:cNvSpPr>
          <p:nvPr>
            <p:ph type="title"/>
          </p:nvPr>
        </p:nvSpPr>
        <p:spPr/>
        <p:txBody>
          <a:bodyPr/>
          <a:lstStyle/>
          <a:p>
            <a:r>
              <a:rPr lang="en-US"/>
              <a:t>Textbox</a:t>
            </a:r>
          </a:p>
        </p:txBody>
      </p:sp>
      <p:graphicFrame>
        <p:nvGraphicFramePr>
          <p:cNvPr id="7" name="Table 6"/>
          <p:cNvGraphicFramePr>
            <a:graphicFrameLocks noGrp="1"/>
          </p:cNvGraphicFramePr>
          <p:nvPr>
            <p:extLst>
              <p:ext uri="{D42A27DB-BD31-4B8C-83A1-F6EECF244321}">
                <p14:modId xmlns:p14="http://schemas.microsoft.com/office/powerpoint/2010/main" val="1044339341"/>
              </p:ext>
            </p:extLst>
          </p:nvPr>
        </p:nvGraphicFramePr>
        <p:xfrm>
          <a:off x="755576" y="1772816"/>
          <a:ext cx="7923487" cy="4529456"/>
        </p:xfrm>
        <a:graphic>
          <a:graphicData uri="http://schemas.openxmlformats.org/drawingml/2006/table">
            <a:tbl>
              <a:tblPr firstRow="1" bandRow="1">
                <a:tableStyleId>{5C22544A-7EE6-4342-B048-85BDC9FD1C3A}</a:tableStyleId>
              </a:tblPr>
              <a:tblGrid>
                <a:gridCol w="1944216">
                  <a:extLst>
                    <a:ext uri="{9D8B030D-6E8A-4147-A177-3AD203B41FA5}">
                      <a16:colId xmlns:a16="http://schemas.microsoft.com/office/drawing/2014/main" val="20000"/>
                    </a:ext>
                  </a:extLst>
                </a:gridCol>
                <a:gridCol w="5979271">
                  <a:extLst>
                    <a:ext uri="{9D8B030D-6E8A-4147-A177-3AD203B41FA5}">
                      <a16:colId xmlns:a16="http://schemas.microsoft.com/office/drawing/2014/main" val="20001"/>
                    </a:ext>
                  </a:extLst>
                </a:gridCol>
              </a:tblGrid>
              <a:tr h="370840">
                <a:tc>
                  <a:txBody>
                    <a:bodyPr/>
                    <a:lstStyle/>
                    <a:p>
                      <a:r>
                        <a:rPr lang="en-US" sz="2000"/>
                        <a:t>Sự</a:t>
                      </a:r>
                      <a:r>
                        <a:rPr lang="en-US" sz="2000" baseline="0"/>
                        <a:t> kiện</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0">
                          <a:effectLst/>
                          <a:latin typeface="+mj-lt"/>
                          <a:ea typeface="Calibri"/>
                          <a:cs typeface="Times New Roman"/>
                        </a:rPr>
                        <a:t>TextChanged</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Có</a:t>
                      </a:r>
                      <a:r>
                        <a:rPr lang="en-US" sz="1800" baseline="0">
                          <a:effectLst/>
                          <a:latin typeface="+mj-lt"/>
                          <a:ea typeface="Calibri"/>
                          <a:cs typeface="Times New Roman"/>
                        </a:rPr>
                        <a:t> sự thay đổi trong hộp văn bản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0">
                          <a:effectLst/>
                          <a:latin typeface="+mj-lt"/>
                          <a:ea typeface="Calibri"/>
                          <a:cs typeface="Times New Roman"/>
                        </a:rPr>
                        <a:t>Click</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Nháy chuột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0">
                          <a:effectLst/>
                          <a:latin typeface="+mj-lt"/>
                          <a:ea typeface="Calibri"/>
                          <a:cs typeface="Times New Roman"/>
                        </a:rPr>
                        <a:t>DoubleClick</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Nháy</a:t>
                      </a:r>
                      <a:r>
                        <a:rPr lang="en-US" sz="1800" baseline="0">
                          <a:effectLst/>
                          <a:latin typeface="+mj-lt"/>
                          <a:ea typeface="Calibri"/>
                          <a:cs typeface="Times New Roman"/>
                        </a:rPr>
                        <a:t> đúp chuột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b="0">
                          <a:effectLst/>
                          <a:latin typeface="+mj-lt"/>
                          <a:ea typeface="Calibri"/>
                          <a:cs typeface="Times New Roman"/>
                        </a:rPr>
                        <a:t>GotFocus</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Khi chuyển tiêu điểm tới hộp văn bản.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0">
                          <a:effectLst/>
                          <a:latin typeface="+mj-lt"/>
                          <a:ea typeface="Calibri"/>
                          <a:cs typeface="Times New Roman"/>
                        </a:rPr>
                        <a:t>KeyPress</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Trả về ký tự (trừ các ký tự đặc biệt như phím Delete, Home, Ctrl, F1…) mà người sử dụng gõ vào hộp văn bản thông qua thuộc tính KeyChar. </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r h="370840">
                <a:tc>
                  <a:txBody>
                    <a:bodyPr/>
                    <a:lstStyle/>
                    <a:p>
                      <a:pPr algn="just">
                        <a:lnSpc>
                          <a:spcPct val="115000"/>
                        </a:lnSpc>
                        <a:spcAft>
                          <a:spcPts val="600"/>
                        </a:spcAft>
                      </a:pPr>
                      <a:r>
                        <a:rPr lang="en-US" sz="1800" b="0">
                          <a:effectLst/>
                          <a:latin typeface="+mj-lt"/>
                          <a:ea typeface="Calibri"/>
                          <a:cs typeface="Times New Roman"/>
                        </a:rPr>
                        <a:t>KeyDown</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Trả về mã ASCII của tất cả các ký tự mà người sử dụng gõ vào hộp văn bản thông qua thuộc tính KeyCode. </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6"/>
                  </a:ext>
                </a:extLst>
              </a:tr>
              <a:tr h="370840">
                <a:tc>
                  <a:txBody>
                    <a:bodyPr/>
                    <a:lstStyle/>
                    <a:p>
                      <a:pPr algn="just">
                        <a:lnSpc>
                          <a:spcPct val="115000"/>
                        </a:lnSpc>
                        <a:spcAft>
                          <a:spcPts val="600"/>
                        </a:spcAft>
                      </a:pPr>
                      <a:r>
                        <a:rPr lang="en-US" sz="1800" b="0">
                          <a:effectLst/>
                          <a:latin typeface="+mj-lt"/>
                          <a:ea typeface="Calibri"/>
                          <a:cs typeface="Times New Roman"/>
                        </a:rPr>
                        <a:t>LostFocus</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Được kích hoạt khi hộp văn bản mất tiêu điểm.</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7"/>
                  </a:ext>
                </a:extLst>
              </a:tr>
              <a:tr h="370840">
                <a:tc>
                  <a:txBody>
                    <a:bodyPr/>
                    <a:lstStyle/>
                    <a:p>
                      <a:pPr algn="just">
                        <a:lnSpc>
                          <a:spcPct val="115000"/>
                        </a:lnSpc>
                        <a:spcAft>
                          <a:spcPts val="600"/>
                        </a:spcAft>
                      </a:pPr>
                      <a:r>
                        <a:rPr lang="en-US" sz="1800" b="0">
                          <a:effectLst/>
                          <a:latin typeface="+mj-lt"/>
                          <a:ea typeface="Calibri"/>
                          <a:cs typeface="Times New Roman"/>
                        </a:rPr>
                        <a:t>MouseMove</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Di chuyển</a:t>
                      </a:r>
                      <a:r>
                        <a:rPr lang="en-US" sz="1800" baseline="0">
                          <a:effectLst/>
                          <a:latin typeface="+mj-lt"/>
                          <a:ea typeface="Calibri"/>
                          <a:cs typeface="Times New Roman"/>
                        </a:rPr>
                        <a:t> qua hộp văn bản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8"/>
                  </a:ext>
                </a:extLst>
              </a:tr>
              <a:tr h="370840">
                <a:tc>
                  <a:txBody>
                    <a:bodyPr/>
                    <a:lstStyle/>
                    <a:p>
                      <a:pPr algn="just">
                        <a:lnSpc>
                          <a:spcPct val="115000"/>
                        </a:lnSpc>
                        <a:spcAft>
                          <a:spcPts val="600"/>
                        </a:spcAft>
                      </a:pPr>
                      <a:r>
                        <a:rPr lang="en-US" sz="1800" b="0">
                          <a:effectLst/>
                          <a:latin typeface="+mj-lt"/>
                          <a:ea typeface="Calibri"/>
                          <a:cs typeface="Times New Roman"/>
                        </a:rPr>
                        <a:t>MouseLeave</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Di chuyển</a:t>
                      </a:r>
                      <a:r>
                        <a:rPr lang="en-US" sz="1800" baseline="0">
                          <a:effectLst/>
                          <a:latin typeface="+mj-lt"/>
                          <a:ea typeface="Calibri"/>
                          <a:cs typeface="Times New Roman"/>
                        </a:rPr>
                        <a:t> ra khỏi hộp văn bản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735438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Phương thức</a:t>
            </a:r>
          </a:p>
          <a:p>
            <a:pPr marL="0" indent="0">
              <a:buNone/>
            </a:pPr>
            <a:endParaRPr lang="en-US"/>
          </a:p>
        </p:txBody>
      </p:sp>
      <p:sp>
        <p:nvSpPr>
          <p:cNvPr id="4" name="Date Placeholder 3"/>
          <p:cNvSpPr>
            <a:spLocks noGrp="1"/>
          </p:cNvSpPr>
          <p:nvPr>
            <p:ph type="dt" sz="half" idx="10"/>
          </p:nvPr>
        </p:nvSpPr>
        <p:spPr/>
        <p:txBody>
          <a:bodyPr/>
          <a:lstStyle/>
          <a:p>
            <a:fld id="{C9A9E9C0-C706-456A-A3D5-7C2EBC8B8041}"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19</a:t>
            </a:fld>
            <a:r>
              <a:rPr lang="vi-VN"/>
              <a:t>/51</a:t>
            </a:r>
          </a:p>
        </p:txBody>
      </p:sp>
      <p:sp>
        <p:nvSpPr>
          <p:cNvPr id="2" name="Title 1"/>
          <p:cNvSpPr>
            <a:spLocks noGrp="1"/>
          </p:cNvSpPr>
          <p:nvPr>
            <p:ph type="title"/>
          </p:nvPr>
        </p:nvSpPr>
        <p:spPr/>
        <p:txBody>
          <a:bodyPr/>
          <a:lstStyle/>
          <a:p>
            <a:r>
              <a:rPr lang="en-US"/>
              <a:t>Textbox</a:t>
            </a:r>
          </a:p>
        </p:txBody>
      </p:sp>
      <p:graphicFrame>
        <p:nvGraphicFramePr>
          <p:cNvPr id="6" name="Table 5"/>
          <p:cNvGraphicFramePr>
            <a:graphicFrameLocks noGrp="1"/>
          </p:cNvGraphicFramePr>
          <p:nvPr>
            <p:extLst>
              <p:ext uri="{D42A27DB-BD31-4B8C-83A1-F6EECF244321}">
                <p14:modId xmlns:p14="http://schemas.microsoft.com/office/powerpoint/2010/main" val="2997679383"/>
              </p:ext>
            </p:extLst>
          </p:nvPr>
        </p:nvGraphicFramePr>
        <p:xfrm>
          <a:off x="755576" y="1772816"/>
          <a:ext cx="7923487" cy="3362960"/>
        </p:xfrm>
        <a:graphic>
          <a:graphicData uri="http://schemas.openxmlformats.org/drawingml/2006/table">
            <a:tbl>
              <a:tblPr firstRow="1" bandRow="1">
                <a:tableStyleId>{5C22544A-7EE6-4342-B048-85BDC9FD1C3A}</a:tableStyleId>
              </a:tblPr>
              <a:tblGrid>
                <a:gridCol w="3240360">
                  <a:extLst>
                    <a:ext uri="{9D8B030D-6E8A-4147-A177-3AD203B41FA5}">
                      <a16:colId xmlns:a16="http://schemas.microsoft.com/office/drawing/2014/main" val="20000"/>
                    </a:ext>
                  </a:extLst>
                </a:gridCol>
                <a:gridCol w="4683127">
                  <a:extLst>
                    <a:ext uri="{9D8B030D-6E8A-4147-A177-3AD203B41FA5}">
                      <a16:colId xmlns:a16="http://schemas.microsoft.com/office/drawing/2014/main" val="20001"/>
                    </a:ext>
                  </a:extLst>
                </a:gridCol>
              </a:tblGrid>
              <a:tr h="370840">
                <a:tc>
                  <a:txBody>
                    <a:bodyPr/>
                    <a:lstStyle/>
                    <a:p>
                      <a:r>
                        <a:rPr lang="en-US" sz="2000"/>
                        <a:t>Phươn</a:t>
                      </a:r>
                      <a:r>
                        <a:rPr lang="en-US" sz="2000" baseline="0"/>
                        <a:t>g thức</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0">
                          <a:effectLst/>
                          <a:latin typeface="+mj-lt"/>
                          <a:ea typeface="Calibri"/>
                          <a:cs typeface="Times New Roman"/>
                        </a:rPr>
                        <a:t>AppendText</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Cộng dồn</a:t>
                      </a:r>
                      <a:r>
                        <a:rPr lang="en-US" sz="1800" baseline="0">
                          <a:effectLst/>
                          <a:latin typeface="+mj-lt"/>
                          <a:ea typeface="Calibri"/>
                          <a:cs typeface="Times New Roman"/>
                        </a:rPr>
                        <a:t> chuỗi</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0">
                          <a:effectLst/>
                          <a:latin typeface="+mj-lt"/>
                          <a:ea typeface="Calibri"/>
                          <a:cs typeface="Times New Roman"/>
                        </a:rPr>
                        <a:t>Clear</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Xoá</a:t>
                      </a:r>
                      <a:r>
                        <a:rPr lang="en-US" sz="1800" baseline="0">
                          <a:effectLst/>
                          <a:latin typeface="+mj-lt"/>
                          <a:ea typeface="Calibri"/>
                          <a:cs typeface="Times New Roman"/>
                        </a:rPr>
                        <a:t> nội dung trên Textbox</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0">
                          <a:effectLst/>
                          <a:latin typeface="+mj-lt"/>
                          <a:ea typeface="Calibri"/>
                          <a:cs typeface="Times New Roman"/>
                        </a:rPr>
                        <a:t>Copy</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Sao chép</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b="0">
                          <a:effectLst/>
                          <a:latin typeface="+mj-lt"/>
                          <a:ea typeface="Calibri"/>
                          <a:cs typeface="Times New Roman"/>
                        </a:rPr>
                        <a:t>Cut</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Cắt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0">
                          <a:effectLst/>
                          <a:latin typeface="+mj-lt"/>
                          <a:ea typeface="Calibri"/>
                          <a:cs typeface="Times New Roman"/>
                        </a:rPr>
                        <a:t>Paste</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Dán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r h="370840">
                <a:tc>
                  <a:txBody>
                    <a:bodyPr/>
                    <a:lstStyle/>
                    <a:p>
                      <a:pPr algn="just">
                        <a:lnSpc>
                          <a:spcPct val="115000"/>
                        </a:lnSpc>
                        <a:spcAft>
                          <a:spcPts val="600"/>
                        </a:spcAft>
                      </a:pPr>
                      <a:r>
                        <a:rPr lang="en-US" sz="1800" b="0">
                          <a:effectLst/>
                          <a:latin typeface="+mj-lt"/>
                          <a:ea typeface="Calibri"/>
                          <a:cs typeface="Times New Roman"/>
                        </a:rPr>
                        <a:t>Undo</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Quay về</a:t>
                      </a:r>
                      <a:r>
                        <a:rPr lang="en-US" sz="1800" baseline="0">
                          <a:effectLst/>
                          <a:latin typeface="+mj-lt"/>
                          <a:ea typeface="Calibri"/>
                          <a:cs typeface="Times New Roman"/>
                        </a:rPr>
                        <a:t> trạng thái cũ</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6"/>
                  </a:ext>
                </a:extLst>
              </a:tr>
              <a:tr h="370840">
                <a:tc>
                  <a:txBody>
                    <a:bodyPr/>
                    <a:lstStyle/>
                    <a:p>
                      <a:pPr algn="just">
                        <a:lnSpc>
                          <a:spcPct val="115000"/>
                        </a:lnSpc>
                        <a:spcAft>
                          <a:spcPts val="600"/>
                        </a:spcAft>
                      </a:pPr>
                      <a:r>
                        <a:rPr lang="en-US" sz="1800" b="0">
                          <a:effectLst/>
                          <a:latin typeface="+mj-lt"/>
                          <a:ea typeface="Calibri"/>
                          <a:cs typeface="Times New Roman"/>
                        </a:rPr>
                        <a:t>GetCharIndexFromPosition</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Lấy kí</a:t>
                      </a:r>
                      <a:r>
                        <a:rPr lang="en-US" sz="1800" baseline="0">
                          <a:effectLst/>
                          <a:latin typeface="+mj-lt"/>
                          <a:ea typeface="Calibri"/>
                          <a:cs typeface="Times New Roman"/>
                        </a:rPr>
                        <a:t> tự tại vị trí</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7"/>
                  </a:ext>
                </a:extLst>
              </a:tr>
              <a:tr h="370840">
                <a:tc>
                  <a:txBody>
                    <a:bodyPr/>
                    <a:lstStyle/>
                    <a:p>
                      <a:pPr algn="just">
                        <a:lnSpc>
                          <a:spcPct val="115000"/>
                        </a:lnSpc>
                        <a:spcAft>
                          <a:spcPts val="600"/>
                        </a:spcAft>
                      </a:pPr>
                      <a:r>
                        <a:rPr lang="en-US" sz="1800" b="0">
                          <a:effectLst/>
                          <a:latin typeface="+mj-lt"/>
                          <a:ea typeface="Calibri"/>
                          <a:cs typeface="Times New Roman"/>
                        </a:rPr>
                        <a:t>Select</a:t>
                      </a:r>
                      <a:endParaRPr lang="vi-VN" sz="1800" b="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Chọn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811322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45478979-64D3-4BD8-BF6E-67E633360D13}"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20</a:t>
            </a:fld>
            <a:r>
              <a:rPr lang="vi-VN"/>
              <a:t>/51</a:t>
            </a:r>
          </a:p>
        </p:txBody>
      </p:sp>
      <p:sp>
        <p:nvSpPr>
          <p:cNvPr id="2" name="Title 1"/>
          <p:cNvSpPr>
            <a:spLocks noGrp="1"/>
          </p:cNvSpPr>
          <p:nvPr>
            <p:ph type="title"/>
          </p:nvPr>
        </p:nvSpPr>
        <p:spPr/>
        <p:txBody>
          <a:bodyPr/>
          <a:lstStyle/>
          <a:p>
            <a:r>
              <a:rPr lang="en-US"/>
              <a:t>Textbox</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420144"/>
            <a:ext cx="32766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1124744"/>
            <a:ext cx="26289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1124744"/>
            <a:ext cx="264795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5544344"/>
            <a:ext cx="4800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204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1"/>
            <a:r>
              <a:rPr lang="en-US" sz="2200"/>
              <a:t>Hiển thị mã ASCII của kí tự bất kì nhập vào Textbox1</a:t>
            </a:r>
          </a:p>
          <a:p>
            <a:pPr marL="0" indent="893763">
              <a:buNone/>
            </a:pPr>
            <a:r>
              <a:rPr lang="en-US" sz="1400">
                <a:solidFill>
                  <a:srgbClr val="0000FF"/>
                </a:solidFill>
                <a:latin typeface="Consolas"/>
              </a:rPr>
              <a:t>private</a:t>
            </a:r>
            <a:r>
              <a:rPr lang="en-US" sz="1400">
                <a:solidFill>
                  <a:prstClr val="black"/>
                </a:solidFill>
                <a:latin typeface="Consolas"/>
              </a:rPr>
              <a:t> </a:t>
            </a:r>
            <a:r>
              <a:rPr lang="en-US" sz="1400">
                <a:solidFill>
                  <a:srgbClr val="0000FF"/>
                </a:solidFill>
                <a:latin typeface="Consolas"/>
              </a:rPr>
              <a:t>void</a:t>
            </a:r>
            <a:r>
              <a:rPr lang="en-US" sz="1400">
                <a:solidFill>
                  <a:prstClr val="black"/>
                </a:solidFill>
                <a:latin typeface="Consolas"/>
              </a:rPr>
              <a:t> textBox1_KeyDown(</a:t>
            </a:r>
            <a:r>
              <a:rPr lang="en-US" sz="1400">
                <a:solidFill>
                  <a:srgbClr val="0000FF"/>
                </a:solidFill>
                <a:latin typeface="Consolas"/>
              </a:rPr>
              <a:t>object</a:t>
            </a:r>
            <a:r>
              <a:rPr lang="en-US" sz="1400">
                <a:solidFill>
                  <a:prstClr val="black"/>
                </a:solidFill>
                <a:latin typeface="Consolas"/>
              </a:rPr>
              <a:t> sender, </a:t>
            </a:r>
            <a:r>
              <a:rPr lang="en-US" sz="1400">
                <a:solidFill>
                  <a:srgbClr val="2B91AF"/>
                </a:solidFill>
                <a:latin typeface="Consolas"/>
              </a:rPr>
              <a:t>KeyEventArgs</a:t>
            </a:r>
            <a:r>
              <a:rPr lang="en-US" sz="1400">
                <a:solidFill>
                  <a:prstClr val="black"/>
                </a:solidFill>
                <a:latin typeface="Consolas"/>
              </a:rPr>
              <a:t> e)</a:t>
            </a:r>
          </a:p>
          <a:p>
            <a:pPr marL="0" indent="893763">
              <a:buNone/>
            </a:pPr>
            <a:r>
              <a:rPr lang="en-US" sz="1400">
                <a:solidFill>
                  <a:prstClr val="black"/>
                </a:solidFill>
                <a:latin typeface="Consolas"/>
              </a:rPr>
              <a:t>        {</a:t>
            </a:r>
          </a:p>
          <a:p>
            <a:pPr marL="0" indent="893763">
              <a:buNone/>
            </a:pPr>
            <a:r>
              <a:rPr lang="en-US" sz="1400">
                <a:solidFill>
                  <a:prstClr val="black"/>
                </a:solidFill>
                <a:latin typeface="Consolas"/>
              </a:rPr>
              <a:t>            </a:t>
            </a:r>
            <a:r>
              <a:rPr lang="en-US" sz="1400">
                <a:solidFill>
                  <a:srgbClr val="0000FF"/>
                </a:solidFill>
                <a:latin typeface="Consolas"/>
              </a:rPr>
              <a:t>int</a:t>
            </a:r>
            <a:r>
              <a:rPr lang="en-US" sz="1400">
                <a:solidFill>
                  <a:prstClr val="black"/>
                </a:solidFill>
                <a:latin typeface="Consolas"/>
              </a:rPr>
              <a:t> a;</a:t>
            </a:r>
          </a:p>
          <a:p>
            <a:pPr marL="0" indent="893763">
              <a:buNone/>
            </a:pPr>
            <a:r>
              <a:rPr lang="en-US" sz="1400">
                <a:solidFill>
                  <a:prstClr val="black"/>
                </a:solidFill>
                <a:latin typeface="Consolas"/>
              </a:rPr>
              <a:t>            a = </a:t>
            </a:r>
            <a:r>
              <a:rPr lang="en-US" sz="1400">
                <a:solidFill>
                  <a:srgbClr val="2B91AF"/>
                </a:solidFill>
                <a:latin typeface="Consolas"/>
              </a:rPr>
              <a:t>Convert</a:t>
            </a:r>
            <a:r>
              <a:rPr lang="en-US" sz="1400">
                <a:solidFill>
                  <a:prstClr val="black"/>
                </a:solidFill>
                <a:latin typeface="Consolas"/>
              </a:rPr>
              <a:t>.ToInt32(e.KeyCode);</a:t>
            </a:r>
          </a:p>
          <a:p>
            <a:pPr marL="0" indent="893763">
              <a:buNone/>
            </a:pPr>
            <a:r>
              <a:rPr lang="en-US" sz="1400">
                <a:solidFill>
                  <a:prstClr val="black"/>
                </a:solidFill>
                <a:latin typeface="Consolas"/>
              </a:rPr>
              <a:t>            </a:t>
            </a:r>
            <a:r>
              <a:rPr lang="en-US" sz="1400">
                <a:solidFill>
                  <a:srgbClr val="2B91AF"/>
                </a:solidFill>
                <a:latin typeface="Consolas"/>
              </a:rPr>
              <a:t>MessageBox</a:t>
            </a:r>
            <a:r>
              <a:rPr lang="en-US" sz="1400">
                <a:solidFill>
                  <a:prstClr val="black"/>
                </a:solidFill>
                <a:latin typeface="Consolas"/>
              </a:rPr>
              <a:t>.Show(a.ToString());</a:t>
            </a:r>
          </a:p>
          <a:p>
            <a:pPr marL="0" indent="893763">
              <a:buNone/>
            </a:pPr>
            <a:r>
              <a:rPr lang="en-US" sz="1400">
                <a:solidFill>
                  <a:prstClr val="black"/>
                </a:solidFill>
                <a:latin typeface="Consolas"/>
              </a:rPr>
              <a:t>        }</a:t>
            </a:r>
          </a:p>
          <a:p>
            <a:pPr lvl="1"/>
            <a:r>
              <a:rPr lang="en-US" sz="2200"/>
              <a:t>Chỉ cho phép nhập số 0-9, dấu -, chấm ., phím del (mã ASCII 13) và backspace (mã ASCII 8)</a:t>
            </a:r>
          </a:p>
          <a:p>
            <a:pPr marL="0" indent="893763">
              <a:buNone/>
            </a:pPr>
            <a:r>
              <a:rPr lang="en-US" sz="1400">
                <a:solidFill>
                  <a:srgbClr val="0000FF"/>
                </a:solidFill>
                <a:latin typeface="Consolas"/>
              </a:rPr>
              <a:t>private</a:t>
            </a:r>
            <a:r>
              <a:rPr lang="en-US" sz="1400">
                <a:solidFill>
                  <a:prstClr val="black"/>
                </a:solidFill>
                <a:latin typeface="Consolas"/>
              </a:rPr>
              <a:t> </a:t>
            </a:r>
            <a:r>
              <a:rPr lang="en-US" sz="1400">
                <a:solidFill>
                  <a:srgbClr val="0000FF"/>
                </a:solidFill>
                <a:latin typeface="Consolas"/>
              </a:rPr>
              <a:t>void</a:t>
            </a:r>
            <a:r>
              <a:rPr lang="en-US" sz="1400">
                <a:solidFill>
                  <a:prstClr val="black"/>
                </a:solidFill>
                <a:latin typeface="Consolas"/>
              </a:rPr>
              <a:t> textBox1_KeyPress(</a:t>
            </a:r>
            <a:r>
              <a:rPr lang="en-US" sz="1400">
                <a:solidFill>
                  <a:srgbClr val="0000FF"/>
                </a:solidFill>
                <a:latin typeface="Consolas"/>
              </a:rPr>
              <a:t>object</a:t>
            </a:r>
            <a:r>
              <a:rPr lang="en-US" sz="1400">
                <a:solidFill>
                  <a:prstClr val="black"/>
                </a:solidFill>
                <a:latin typeface="Consolas"/>
              </a:rPr>
              <a:t> sender, </a:t>
            </a:r>
            <a:r>
              <a:rPr lang="en-US" sz="1400">
                <a:solidFill>
                  <a:srgbClr val="2B91AF"/>
                </a:solidFill>
                <a:latin typeface="Consolas"/>
              </a:rPr>
              <a:t>KeyPressEventArgs</a:t>
            </a:r>
            <a:r>
              <a:rPr lang="en-US" sz="1400">
                <a:solidFill>
                  <a:prstClr val="black"/>
                </a:solidFill>
                <a:latin typeface="Consolas"/>
              </a:rPr>
              <a:t> e)</a:t>
            </a:r>
          </a:p>
          <a:p>
            <a:pPr marL="0" indent="893763">
              <a:buNone/>
            </a:pPr>
            <a:r>
              <a:rPr lang="en-US" sz="1400">
                <a:solidFill>
                  <a:prstClr val="black"/>
                </a:solidFill>
                <a:latin typeface="Consolas"/>
              </a:rPr>
              <a:t>        {</a:t>
            </a:r>
          </a:p>
          <a:p>
            <a:pPr marL="0" indent="893763">
              <a:buNone/>
            </a:pPr>
            <a:r>
              <a:rPr lang="en-US" sz="1400">
                <a:solidFill>
                  <a:prstClr val="black"/>
                </a:solidFill>
                <a:latin typeface="Consolas"/>
              </a:rPr>
              <a:t>            </a:t>
            </a:r>
            <a:r>
              <a:rPr lang="en-US" sz="1400">
                <a:solidFill>
                  <a:srgbClr val="0000FF"/>
                </a:solidFill>
                <a:latin typeface="Consolas"/>
              </a:rPr>
              <a:t>if</a:t>
            </a:r>
            <a:r>
              <a:rPr lang="en-US" sz="1400">
                <a:solidFill>
                  <a:prstClr val="black"/>
                </a:solidFill>
                <a:latin typeface="Consolas"/>
              </a:rPr>
              <a:t> (((e.KeyChar &gt;= </a:t>
            </a:r>
            <a:r>
              <a:rPr lang="en-US" sz="1400">
                <a:solidFill>
                  <a:srgbClr val="A31515"/>
                </a:solidFill>
                <a:latin typeface="Consolas"/>
              </a:rPr>
              <a:t>'0'</a:t>
            </a:r>
            <a:r>
              <a:rPr lang="en-US" sz="1400">
                <a:solidFill>
                  <a:prstClr val="black"/>
                </a:solidFill>
                <a:latin typeface="Consolas"/>
              </a:rPr>
              <a:t>) &amp;&amp; (e.KeyChar &lt;= </a:t>
            </a:r>
            <a:r>
              <a:rPr lang="en-US" sz="1400">
                <a:solidFill>
                  <a:srgbClr val="A31515"/>
                </a:solidFill>
                <a:latin typeface="Consolas"/>
              </a:rPr>
              <a:t>'9'</a:t>
            </a:r>
            <a:r>
              <a:rPr lang="en-US" sz="1400">
                <a:solidFill>
                  <a:prstClr val="black"/>
                </a:solidFill>
                <a:latin typeface="Consolas"/>
              </a:rPr>
              <a:t>)) || (e.KeyChar == </a:t>
            </a:r>
            <a:r>
              <a:rPr lang="en-US" sz="1400">
                <a:solidFill>
                  <a:srgbClr val="A31515"/>
                </a:solidFill>
                <a:latin typeface="Consolas"/>
              </a:rPr>
              <a:t>'-'</a:t>
            </a:r>
            <a:r>
              <a:rPr lang="en-US" sz="1400">
                <a:solidFill>
                  <a:prstClr val="black"/>
                </a:solidFill>
                <a:latin typeface="Consolas"/>
              </a:rPr>
              <a:t>) || (e.KeyChar == </a:t>
            </a:r>
            <a:r>
              <a:rPr lang="en-US" sz="1400">
                <a:solidFill>
                  <a:srgbClr val="A31515"/>
                </a:solidFill>
                <a:latin typeface="Consolas"/>
              </a:rPr>
              <a:t>'.'</a:t>
            </a:r>
            <a:r>
              <a:rPr lang="en-US" sz="1400">
                <a:solidFill>
                  <a:prstClr val="black"/>
                </a:solidFill>
                <a:latin typeface="Consolas"/>
              </a:rPr>
              <a:t>) || (</a:t>
            </a:r>
            <a:r>
              <a:rPr lang="en-US" sz="1400">
                <a:solidFill>
                  <a:srgbClr val="2B91AF"/>
                </a:solidFill>
                <a:latin typeface="Consolas"/>
              </a:rPr>
              <a:t>Convert</a:t>
            </a:r>
            <a:r>
              <a:rPr lang="en-US" sz="1400">
                <a:solidFill>
                  <a:prstClr val="black"/>
                </a:solidFill>
                <a:latin typeface="Consolas"/>
              </a:rPr>
              <a:t>.ToInt32(e.KeyChar) == 8) || (</a:t>
            </a:r>
            <a:r>
              <a:rPr lang="en-US" sz="1400">
                <a:solidFill>
                  <a:srgbClr val="2B91AF"/>
                </a:solidFill>
                <a:latin typeface="Consolas"/>
              </a:rPr>
              <a:t>Convert</a:t>
            </a:r>
            <a:r>
              <a:rPr lang="en-US" sz="1400">
                <a:solidFill>
                  <a:prstClr val="black"/>
                </a:solidFill>
                <a:latin typeface="Consolas"/>
              </a:rPr>
              <a:t>.ToInt32(e.KeyChar) == 13))</a:t>
            </a:r>
          </a:p>
          <a:p>
            <a:pPr marL="0" indent="893763">
              <a:buNone/>
            </a:pPr>
            <a:r>
              <a:rPr lang="en-US" sz="1400">
                <a:solidFill>
                  <a:prstClr val="black"/>
                </a:solidFill>
                <a:latin typeface="Consolas"/>
              </a:rPr>
              <a:t>                e.Handled = </a:t>
            </a:r>
            <a:r>
              <a:rPr lang="en-US" sz="1400">
                <a:solidFill>
                  <a:srgbClr val="0000FF"/>
                </a:solidFill>
                <a:latin typeface="Consolas"/>
              </a:rPr>
              <a:t>false</a:t>
            </a:r>
            <a:r>
              <a:rPr lang="en-US" sz="1400">
                <a:solidFill>
                  <a:prstClr val="black"/>
                </a:solidFill>
                <a:latin typeface="Consolas"/>
              </a:rPr>
              <a:t>;</a:t>
            </a:r>
          </a:p>
          <a:p>
            <a:pPr marL="0" indent="893763">
              <a:buNone/>
            </a:pPr>
            <a:r>
              <a:rPr lang="en-US" sz="1400">
                <a:solidFill>
                  <a:prstClr val="black"/>
                </a:solidFill>
                <a:latin typeface="Consolas"/>
              </a:rPr>
              <a:t>            </a:t>
            </a:r>
            <a:r>
              <a:rPr lang="en-US" sz="1400">
                <a:solidFill>
                  <a:srgbClr val="0000FF"/>
                </a:solidFill>
                <a:latin typeface="Consolas"/>
              </a:rPr>
              <a:t>else</a:t>
            </a:r>
            <a:r>
              <a:rPr lang="en-US" sz="1400">
                <a:solidFill>
                  <a:prstClr val="black"/>
                </a:solidFill>
                <a:latin typeface="Consolas"/>
              </a:rPr>
              <a:t>  e.Handled = </a:t>
            </a:r>
            <a:r>
              <a:rPr lang="en-US" sz="1400">
                <a:solidFill>
                  <a:srgbClr val="0000FF"/>
                </a:solidFill>
                <a:latin typeface="Consolas"/>
              </a:rPr>
              <a:t>true</a:t>
            </a:r>
            <a:r>
              <a:rPr lang="en-US" sz="1400">
                <a:solidFill>
                  <a:prstClr val="black"/>
                </a:solidFill>
                <a:latin typeface="Consolas"/>
              </a:rPr>
              <a:t>;</a:t>
            </a:r>
          </a:p>
          <a:p>
            <a:pPr marL="0" indent="893763">
              <a:buNone/>
            </a:pPr>
            <a:r>
              <a:rPr lang="en-US" sz="1400">
                <a:solidFill>
                  <a:prstClr val="black"/>
                </a:solidFill>
                <a:latin typeface="Consolas"/>
              </a:rPr>
              <a:t>        }</a:t>
            </a:r>
          </a:p>
          <a:p>
            <a:pPr marL="471487" lvl="1" indent="0">
              <a:buNone/>
            </a:pPr>
            <a:endParaRPr lang="en-US" sz="1400"/>
          </a:p>
        </p:txBody>
      </p:sp>
      <p:sp>
        <p:nvSpPr>
          <p:cNvPr id="4" name="Date Placeholder 3"/>
          <p:cNvSpPr>
            <a:spLocks noGrp="1"/>
          </p:cNvSpPr>
          <p:nvPr>
            <p:ph type="dt" sz="half" idx="10"/>
          </p:nvPr>
        </p:nvSpPr>
        <p:spPr/>
        <p:txBody>
          <a:bodyPr/>
          <a:lstStyle/>
          <a:p>
            <a:fld id="{58228D1F-8E55-42A2-9258-92E8520EFADF}"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21</a:t>
            </a:fld>
            <a:r>
              <a:rPr lang="vi-VN"/>
              <a:t>/51</a:t>
            </a:r>
          </a:p>
        </p:txBody>
      </p:sp>
      <p:sp>
        <p:nvSpPr>
          <p:cNvPr id="2" name="Title 1"/>
          <p:cNvSpPr>
            <a:spLocks noGrp="1"/>
          </p:cNvSpPr>
          <p:nvPr>
            <p:ph type="title"/>
          </p:nvPr>
        </p:nvSpPr>
        <p:spPr/>
        <p:txBody>
          <a:bodyPr/>
          <a:lstStyle/>
          <a:p>
            <a:r>
              <a:rPr lang="en-US"/>
              <a:t>Textbox – Ví dụ</a:t>
            </a:r>
          </a:p>
        </p:txBody>
      </p:sp>
    </p:spTree>
    <p:extLst>
      <p:ext uri="{BB962C8B-B14F-4D97-AF65-F5344CB8AC3E}">
        <p14:creationId xmlns:p14="http://schemas.microsoft.com/office/powerpoint/2010/main" val="472328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B9FB6F1E-99F0-4A38-BFB0-5ACACFD70EEB}"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9" name="Slide Number Placeholder 8"/>
          <p:cNvSpPr>
            <a:spLocks noGrp="1"/>
          </p:cNvSpPr>
          <p:nvPr>
            <p:ph type="sldNum" sz="quarter" idx="12"/>
          </p:nvPr>
        </p:nvSpPr>
        <p:spPr/>
        <p:txBody>
          <a:bodyPr/>
          <a:lstStyle/>
          <a:p>
            <a:fld id="{5AB95402-1E0D-474E-8D8C-CBE7F053639E}" type="slidenum">
              <a:rPr lang="vi-VN" smtClean="0"/>
              <a:pPr/>
              <a:t>22</a:t>
            </a:fld>
            <a:r>
              <a:rPr lang="vi-VN"/>
              <a:t>/51</a:t>
            </a:r>
          </a:p>
        </p:txBody>
      </p:sp>
      <p:sp>
        <p:nvSpPr>
          <p:cNvPr id="2" name="Title 1"/>
          <p:cNvSpPr>
            <a:spLocks noGrp="1"/>
          </p:cNvSpPr>
          <p:nvPr>
            <p:ph type="title"/>
          </p:nvPr>
        </p:nvSpPr>
        <p:spPr/>
        <p:txBody>
          <a:bodyPr/>
          <a:lstStyle/>
          <a:p>
            <a:r>
              <a:rPr lang="en-US"/>
              <a:t>MaskedTextbox</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119536"/>
            <a:ext cx="2619375"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1052736"/>
            <a:ext cx="4848225"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0" y="4481736"/>
            <a:ext cx="2857500"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273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4414"/>
            <a:ext cx="8229600" cy="5072106"/>
          </a:xfrm>
        </p:spPr>
        <p:txBody>
          <a:bodyPr/>
          <a:lstStyle/>
          <a:p>
            <a:r>
              <a:rPr lang="en-US" dirty="0"/>
              <a:t>Label :</a:t>
            </a:r>
          </a:p>
          <a:p>
            <a:pPr lvl="1"/>
            <a:r>
              <a:rPr lang="en-US" dirty="0" err="1"/>
              <a:t>Trình</a:t>
            </a:r>
            <a:r>
              <a:rPr lang="en-US" dirty="0"/>
              <a:t> </a:t>
            </a:r>
            <a:r>
              <a:rPr lang="en-US" dirty="0" err="1"/>
              <a:t>bày</a:t>
            </a:r>
            <a:r>
              <a:rPr lang="en-US" dirty="0"/>
              <a:t>, </a:t>
            </a:r>
            <a:r>
              <a:rPr lang="en-US" dirty="0" err="1"/>
              <a:t>chú</a:t>
            </a:r>
            <a:r>
              <a:rPr lang="en-US" dirty="0"/>
              <a:t> </a:t>
            </a:r>
            <a:r>
              <a:rPr lang="en-US" dirty="0" err="1"/>
              <a:t>giải</a:t>
            </a:r>
            <a:r>
              <a:rPr lang="en-US" dirty="0"/>
              <a:t> </a:t>
            </a:r>
            <a:r>
              <a:rPr lang="en-US" dirty="0" err="1"/>
              <a:t>tiêu</a:t>
            </a:r>
            <a:r>
              <a:rPr lang="en-US" dirty="0"/>
              <a:t> </a:t>
            </a:r>
            <a:r>
              <a:rPr lang="en-US" dirty="0" err="1"/>
              <a:t>đề</a:t>
            </a:r>
            <a:endParaRPr lang="en-US" dirty="0"/>
          </a:p>
          <a:p>
            <a:pPr lvl="1"/>
            <a:r>
              <a:rPr lang="en-US" dirty="0" err="1"/>
              <a:t>Có</a:t>
            </a:r>
            <a:r>
              <a:rPr lang="en-US" dirty="0"/>
              <a:t> </a:t>
            </a:r>
            <a:r>
              <a:rPr lang="en-US" dirty="0" err="1"/>
              <a:t>hai</a:t>
            </a:r>
            <a:r>
              <a:rPr lang="en-US" dirty="0"/>
              <a:t> </a:t>
            </a:r>
            <a:r>
              <a:rPr lang="en-US" dirty="0" err="1"/>
              <a:t>loại</a:t>
            </a:r>
            <a:r>
              <a:rPr lang="en-US" dirty="0"/>
              <a:t> Label </a:t>
            </a:r>
            <a:r>
              <a:rPr lang="en-US" dirty="0" err="1"/>
              <a:t>và</a:t>
            </a:r>
            <a:r>
              <a:rPr lang="en-US" dirty="0"/>
              <a:t> </a:t>
            </a:r>
            <a:r>
              <a:rPr lang="en-US" dirty="0" err="1"/>
              <a:t>LinkLabel</a:t>
            </a:r>
            <a:endParaRPr lang="en-US" dirty="0"/>
          </a:p>
          <a:p>
            <a:pPr lvl="1"/>
            <a:r>
              <a:rPr lang="en-US" dirty="0"/>
              <a:t>Name: </a:t>
            </a:r>
            <a:r>
              <a:rPr lang="en-US" dirty="0" err="1"/>
              <a:t>bắt</a:t>
            </a:r>
            <a:r>
              <a:rPr lang="en-US" dirty="0"/>
              <a:t> </a:t>
            </a:r>
            <a:r>
              <a:rPr lang="en-US" dirty="0" err="1"/>
              <a:t>đầu</a:t>
            </a:r>
            <a:r>
              <a:rPr lang="en-US" dirty="0"/>
              <a:t> </a:t>
            </a:r>
            <a:r>
              <a:rPr lang="en-US" dirty="0" err="1"/>
              <a:t>bằng</a:t>
            </a:r>
            <a:r>
              <a:rPr lang="en-US" dirty="0"/>
              <a:t> </a:t>
            </a:r>
            <a:r>
              <a:rPr lang="en-US" b="1" dirty="0" err="1"/>
              <a:t>lbl</a:t>
            </a:r>
            <a:endParaRPr lang="en-US" b="1" dirty="0"/>
          </a:p>
          <a:p>
            <a:endParaRPr lang="en-US" dirty="0"/>
          </a:p>
        </p:txBody>
      </p:sp>
      <p:sp>
        <p:nvSpPr>
          <p:cNvPr id="4" name="Date Placeholder 3"/>
          <p:cNvSpPr>
            <a:spLocks noGrp="1"/>
          </p:cNvSpPr>
          <p:nvPr>
            <p:ph type="dt" sz="half" idx="10"/>
          </p:nvPr>
        </p:nvSpPr>
        <p:spPr/>
        <p:txBody>
          <a:bodyPr/>
          <a:lstStyle/>
          <a:p>
            <a:fld id="{C6DA24DD-F26B-47CF-9E47-48F0D8A6C735}"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9" name="Slide Number Placeholder 8"/>
          <p:cNvSpPr>
            <a:spLocks noGrp="1"/>
          </p:cNvSpPr>
          <p:nvPr>
            <p:ph type="sldNum" sz="quarter" idx="12"/>
          </p:nvPr>
        </p:nvSpPr>
        <p:spPr/>
        <p:txBody>
          <a:bodyPr/>
          <a:lstStyle/>
          <a:p>
            <a:fld id="{5AB95402-1E0D-474E-8D8C-CBE7F053639E}" type="slidenum">
              <a:rPr lang="vi-VN" smtClean="0"/>
              <a:pPr/>
              <a:t>23</a:t>
            </a:fld>
            <a:r>
              <a:rPr lang="vi-VN"/>
              <a:t>/51</a:t>
            </a:r>
          </a:p>
        </p:txBody>
      </p:sp>
      <p:sp>
        <p:nvSpPr>
          <p:cNvPr id="2" name="Title 1"/>
          <p:cNvSpPr>
            <a:spLocks noGrp="1"/>
          </p:cNvSpPr>
          <p:nvPr>
            <p:ph type="title"/>
          </p:nvPr>
        </p:nvSpPr>
        <p:spPr/>
        <p:txBody>
          <a:bodyPr/>
          <a:lstStyle/>
          <a:p>
            <a:r>
              <a:rPr lang="en-US"/>
              <a:t>Label - nhãn</a:t>
            </a: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3595409"/>
            <a:ext cx="2468885" cy="2485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0376" y="3207966"/>
            <a:ext cx="33528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0512" y="4293096"/>
            <a:ext cx="4238625"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8857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Dùng chuột nhấn để thao tác</a:t>
            </a:r>
          </a:p>
          <a:p>
            <a:r>
              <a:rPr lang="en-US"/>
              <a:t>Có thể show Icon trên button</a:t>
            </a:r>
          </a:p>
        </p:txBody>
      </p:sp>
      <p:sp>
        <p:nvSpPr>
          <p:cNvPr id="4" name="Date Placeholder 3"/>
          <p:cNvSpPr>
            <a:spLocks noGrp="1"/>
          </p:cNvSpPr>
          <p:nvPr>
            <p:ph type="dt" sz="half" idx="10"/>
          </p:nvPr>
        </p:nvSpPr>
        <p:spPr/>
        <p:txBody>
          <a:bodyPr/>
          <a:lstStyle/>
          <a:p>
            <a:fld id="{2E4B4546-6D61-45F7-BEF4-1D7FDE2D42FD}"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24</a:t>
            </a:fld>
            <a:r>
              <a:rPr lang="vi-VN"/>
              <a:t>/51</a:t>
            </a:r>
          </a:p>
        </p:txBody>
      </p:sp>
      <p:sp>
        <p:nvSpPr>
          <p:cNvPr id="2" name="Title 1"/>
          <p:cNvSpPr>
            <a:spLocks noGrp="1"/>
          </p:cNvSpPr>
          <p:nvPr>
            <p:ph type="title"/>
          </p:nvPr>
        </p:nvSpPr>
        <p:spPr/>
        <p:txBody>
          <a:bodyPr/>
          <a:lstStyle/>
          <a:p>
            <a:r>
              <a:rPr lang="en-US"/>
              <a:t>Button – nút nhấn</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2399" y="2996952"/>
            <a:ext cx="248602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599" y="3606552"/>
            <a:ext cx="105727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7199" y="2996952"/>
            <a:ext cx="1428750"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9399" y="4444752"/>
            <a:ext cx="436245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3900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Thuộc tính</a:t>
            </a:r>
          </a:p>
        </p:txBody>
      </p:sp>
      <p:sp>
        <p:nvSpPr>
          <p:cNvPr id="4" name="Date Placeholder 3"/>
          <p:cNvSpPr>
            <a:spLocks noGrp="1"/>
          </p:cNvSpPr>
          <p:nvPr>
            <p:ph type="dt" sz="half" idx="10"/>
          </p:nvPr>
        </p:nvSpPr>
        <p:spPr/>
        <p:txBody>
          <a:bodyPr/>
          <a:lstStyle/>
          <a:p>
            <a:fld id="{D30559C5-DE66-4A71-B7F4-201EAB75487B}"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25</a:t>
            </a:fld>
            <a:r>
              <a:rPr lang="vi-VN"/>
              <a:t>/51</a:t>
            </a:r>
          </a:p>
        </p:txBody>
      </p:sp>
      <p:sp>
        <p:nvSpPr>
          <p:cNvPr id="2" name="Title 1"/>
          <p:cNvSpPr>
            <a:spLocks noGrp="1"/>
          </p:cNvSpPr>
          <p:nvPr>
            <p:ph type="title"/>
          </p:nvPr>
        </p:nvSpPr>
        <p:spPr/>
        <p:txBody>
          <a:bodyPr/>
          <a:lstStyle/>
          <a:p>
            <a:r>
              <a:rPr lang="en-US"/>
              <a:t>Button</a:t>
            </a:r>
          </a:p>
        </p:txBody>
      </p:sp>
      <p:graphicFrame>
        <p:nvGraphicFramePr>
          <p:cNvPr id="6" name="Table 5"/>
          <p:cNvGraphicFramePr>
            <a:graphicFrameLocks noGrp="1"/>
          </p:cNvGraphicFramePr>
          <p:nvPr>
            <p:extLst>
              <p:ext uri="{D42A27DB-BD31-4B8C-83A1-F6EECF244321}">
                <p14:modId xmlns:p14="http://schemas.microsoft.com/office/powerpoint/2010/main" val="3596870102"/>
              </p:ext>
            </p:extLst>
          </p:nvPr>
        </p:nvGraphicFramePr>
        <p:xfrm>
          <a:off x="827584" y="1772816"/>
          <a:ext cx="7923487" cy="4475480"/>
        </p:xfrm>
        <a:graphic>
          <a:graphicData uri="http://schemas.openxmlformats.org/drawingml/2006/table">
            <a:tbl>
              <a:tblPr firstRow="1" bandRow="1">
                <a:tableStyleId>{5C22544A-7EE6-4342-B048-85BDC9FD1C3A}</a:tableStyleId>
              </a:tblPr>
              <a:tblGrid>
                <a:gridCol w="2326161">
                  <a:extLst>
                    <a:ext uri="{9D8B030D-6E8A-4147-A177-3AD203B41FA5}">
                      <a16:colId xmlns:a16="http://schemas.microsoft.com/office/drawing/2014/main" val="20000"/>
                    </a:ext>
                  </a:extLst>
                </a:gridCol>
                <a:gridCol w="5597326">
                  <a:extLst>
                    <a:ext uri="{9D8B030D-6E8A-4147-A177-3AD203B41FA5}">
                      <a16:colId xmlns:a16="http://schemas.microsoft.com/office/drawing/2014/main" val="20001"/>
                    </a:ext>
                  </a:extLst>
                </a:gridCol>
              </a:tblGrid>
              <a:tr h="370840">
                <a:tc>
                  <a:txBody>
                    <a:bodyPr/>
                    <a:lstStyle/>
                    <a:p>
                      <a:r>
                        <a:rPr lang="en-US" sz="2000"/>
                        <a:t>Thuộc tính</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r>
                        <a:rPr lang="en-US" b="0"/>
                        <a:t>Name</a:t>
                      </a:r>
                    </a:p>
                  </a:txBody>
                  <a:tcPr marL="92310" marR="92310"/>
                </a:tc>
                <a:tc>
                  <a:txBody>
                    <a:bodyPr/>
                    <a:lstStyle/>
                    <a:p>
                      <a:r>
                        <a:rPr lang="en-US" b="0"/>
                        <a:t>Tên,</a:t>
                      </a:r>
                      <a:r>
                        <a:rPr lang="en-US" b="0" baseline="0"/>
                        <a:t> bắt đầu bằng btn</a:t>
                      </a:r>
                      <a:endParaRPr lang="en-US" b="0"/>
                    </a:p>
                  </a:txBody>
                  <a:tcPr marL="92310" marR="9231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BackColor</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Màu</a:t>
                      </a:r>
                      <a:r>
                        <a:rPr lang="en-US" sz="1800" b="0" kern="1200" baseline="0">
                          <a:solidFill>
                            <a:schemeClr val="dk1"/>
                          </a:solidFill>
                          <a:latin typeface="+mn-lt"/>
                          <a:ea typeface="+mn-ea"/>
                          <a:cs typeface="+mn-cs"/>
                        </a:rPr>
                        <a:t> nền</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BackgroundImage</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Ảnh nền</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Enabled</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True/False: bật</a:t>
                      </a:r>
                      <a:r>
                        <a:rPr lang="en-US" sz="1800" b="0" kern="1200" baseline="0">
                          <a:solidFill>
                            <a:schemeClr val="dk1"/>
                          </a:solidFill>
                          <a:latin typeface="+mn-lt"/>
                          <a:ea typeface="+mn-ea"/>
                          <a:cs typeface="+mn-cs"/>
                        </a:rPr>
                        <a:t>/tắt nút lệnh</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Font</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Font chữ</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5"/>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ForeColor</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Màu</a:t>
                      </a:r>
                      <a:r>
                        <a:rPr lang="en-US" sz="1800" b="0" kern="1200" baseline="0">
                          <a:solidFill>
                            <a:schemeClr val="dk1"/>
                          </a:solidFill>
                          <a:latin typeface="+mn-lt"/>
                          <a:ea typeface="+mn-ea"/>
                          <a:cs typeface="+mn-cs"/>
                        </a:rPr>
                        <a:t> chữ</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6"/>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Image</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Ảnh</a:t>
                      </a:r>
                      <a:r>
                        <a:rPr lang="en-US" sz="1800" b="0" kern="1200" baseline="0">
                          <a:solidFill>
                            <a:schemeClr val="dk1"/>
                          </a:solidFill>
                          <a:latin typeface="+mn-lt"/>
                          <a:ea typeface="+mn-ea"/>
                          <a:cs typeface="+mn-cs"/>
                        </a:rPr>
                        <a:t> trên nút</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7"/>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Locked</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True/False:</a:t>
                      </a:r>
                      <a:r>
                        <a:rPr lang="en-US" sz="1800" b="0" kern="1200" baseline="0">
                          <a:solidFill>
                            <a:schemeClr val="dk1"/>
                          </a:solidFill>
                          <a:latin typeface="+mn-lt"/>
                          <a:ea typeface="+mn-ea"/>
                          <a:cs typeface="+mn-cs"/>
                        </a:rPr>
                        <a:t> khoá/không khoá dịch chuyển vị trí nút</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8"/>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TabIndex</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Thứ</a:t>
                      </a:r>
                      <a:r>
                        <a:rPr lang="en-US" sz="1800" b="0" kern="1200" baseline="0">
                          <a:solidFill>
                            <a:schemeClr val="dk1"/>
                          </a:solidFill>
                          <a:latin typeface="+mn-lt"/>
                          <a:ea typeface="+mn-ea"/>
                          <a:cs typeface="+mn-cs"/>
                        </a:rPr>
                        <a:t> tự truy cập (khi nhấn Tab)</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09"/>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Text</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Tiêu</a:t>
                      </a:r>
                      <a:r>
                        <a:rPr lang="en-US" sz="1800" b="0" kern="1200" baseline="0">
                          <a:solidFill>
                            <a:schemeClr val="dk1"/>
                          </a:solidFill>
                          <a:latin typeface="+mn-lt"/>
                          <a:ea typeface="+mn-ea"/>
                          <a:cs typeface="+mn-cs"/>
                        </a:rPr>
                        <a:t> đề nút (Thêm dấu &amp; trước kí tự đặt phím nóng)</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10"/>
                  </a:ext>
                </a:extLst>
              </a:tr>
              <a:tr h="370840">
                <a:tc>
                  <a:txBody>
                    <a:bodyPr/>
                    <a:lstStyle/>
                    <a:p>
                      <a:pPr algn="just">
                        <a:lnSpc>
                          <a:spcPct val="115000"/>
                        </a:lnSpc>
                        <a:spcAft>
                          <a:spcPts val="600"/>
                        </a:spcAft>
                      </a:pPr>
                      <a:r>
                        <a:rPr lang="en-US" sz="1800" b="0" kern="1200">
                          <a:solidFill>
                            <a:schemeClr val="dk1"/>
                          </a:solidFill>
                          <a:latin typeface="+mn-lt"/>
                          <a:ea typeface="+mn-ea"/>
                          <a:cs typeface="+mn-cs"/>
                        </a:rPr>
                        <a:t>Visible</a:t>
                      </a:r>
                      <a:endParaRPr lang="vi-VN" sz="1800" b="0" kern="1200">
                        <a:solidFill>
                          <a:schemeClr val="dk1"/>
                        </a:solidFill>
                        <a:latin typeface="+mn-lt"/>
                        <a:ea typeface="+mn-ea"/>
                        <a:cs typeface="+mn-cs"/>
                      </a:endParaRPr>
                    </a:p>
                  </a:txBody>
                  <a:tcPr marL="68580" marR="68580" marT="0" marB="0"/>
                </a:tc>
                <a:tc>
                  <a:txBody>
                    <a:bodyPr/>
                    <a:lstStyle/>
                    <a:p>
                      <a:pPr algn="just">
                        <a:lnSpc>
                          <a:spcPct val="115000"/>
                        </a:lnSpc>
                        <a:spcAft>
                          <a:spcPts val="600"/>
                        </a:spcAft>
                      </a:pPr>
                      <a:r>
                        <a:rPr lang="en-US" sz="1800" b="0" kern="1200">
                          <a:solidFill>
                            <a:schemeClr val="dk1"/>
                          </a:solidFill>
                          <a:latin typeface="+mn-lt"/>
                          <a:ea typeface="+mn-ea"/>
                          <a:cs typeface="+mn-cs"/>
                        </a:rPr>
                        <a:t>True/False: Hiện/Ẩn</a:t>
                      </a:r>
                      <a:r>
                        <a:rPr lang="en-US" sz="1800" b="0" kern="1200" baseline="0">
                          <a:solidFill>
                            <a:schemeClr val="dk1"/>
                          </a:solidFill>
                          <a:latin typeface="+mn-lt"/>
                          <a:ea typeface="+mn-ea"/>
                          <a:cs typeface="+mn-cs"/>
                        </a:rPr>
                        <a:t> nút lệnh</a:t>
                      </a:r>
                      <a:endParaRPr lang="vi-VN" sz="1800" b="0" kern="1200">
                        <a:solidFill>
                          <a:schemeClr val="dk1"/>
                        </a:solidFill>
                        <a:latin typeface="+mn-lt"/>
                        <a:ea typeface="+mn-ea"/>
                        <a:cs typeface="+mn-cs"/>
                      </a:endParaRPr>
                    </a:p>
                  </a:txBody>
                  <a:tcPr marL="68580" marR="68580" marT="0" marB="0"/>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2849020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Sự kiện</a:t>
            </a:r>
          </a:p>
        </p:txBody>
      </p:sp>
      <p:sp>
        <p:nvSpPr>
          <p:cNvPr id="4" name="Date Placeholder 3"/>
          <p:cNvSpPr>
            <a:spLocks noGrp="1"/>
          </p:cNvSpPr>
          <p:nvPr>
            <p:ph type="dt" sz="half" idx="10"/>
          </p:nvPr>
        </p:nvSpPr>
        <p:spPr/>
        <p:txBody>
          <a:bodyPr/>
          <a:lstStyle/>
          <a:p>
            <a:fld id="{326648CF-A0BA-4534-8541-BDBAB406216D}"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26</a:t>
            </a:fld>
            <a:r>
              <a:rPr lang="vi-VN"/>
              <a:t>/51</a:t>
            </a:r>
          </a:p>
        </p:txBody>
      </p:sp>
      <p:sp>
        <p:nvSpPr>
          <p:cNvPr id="2" name="Title 1"/>
          <p:cNvSpPr>
            <a:spLocks noGrp="1"/>
          </p:cNvSpPr>
          <p:nvPr>
            <p:ph type="title"/>
          </p:nvPr>
        </p:nvSpPr>
        <p:spPr/>
        <p:txBody>
          <a:bodyPr/>
          <a:lstStyle/>
          <a:p>
            <a:r>
              <a:rPr lang="en-US"/>
              <a:t>Button</a:t>
            </a:r>
          </a:p>
        </p:txBody>
      </p:sp>
      <p:graphicFrame>
        <p:nvGraphicFramePr>
          <p:cNvPr id="6" name="Table 5"/>
          <p:cNvGraphicFramePr>
            <a:graphicFrameLocks noGrp="1"/>
          </p:cNvGraphicFramePr>
          <p:nvPr>
            <p:extLst>
              <p:ext uri="{D42A27DB-BD31-4B8C-83A1-F6EECF244321}">
                <p14:modId xmlns:p14="http://schemas.microsoft.com/office/powerpoint/2010/main" val="2083322978"/>
              </p:ext>
            </p:extLst>
          </p:nvPr>
        </p:nvGraphicFramePr>
        <p:xfrm>
          <a:off x="762000" y="1797824"/>
          <a:ext cx="7923487" cy="2992120"/>
        </p:xfrm>
        <a:graphic>
          <a:graphicData uri="http://schemas.openxmlformats.org/drawingml/2006/table">
            <a:tbl>
              <a:tblPr firstRow="1" bandRow="1">
                <a:tableStyleId>{5C22544A-7EE6-4342-B048-85BDC9FD1C3A}</a:tableStyleId>
              </a:tblPr>
              <a:tblGrid>
                <a:gridCol w="2326161">
                  <a:extLst>
                    <a:ext uri="{9D8B030D-6E8A-4147-A177-3AD203B41FA5}">
                      <a16:colId xmlns:a16="http://schemas.microsoft.com/office/drawing/2014/main" val="20000"/>
                    </a:ext>
                  </a:extLst>
                </a:gridCol>
                <a:gridCol w="5597326">
                  <a:extLst>
                    <a:ext uri="{9D8B030D-6E8A-4147-A177-3AD203B41FA5}">
                      <a16:colId xmlns:a16="http://schemas.microsoft.com/office/drawing/2014/main" val="20001"/>
                    </a:ext>
                  </a:extLst>
                </a:gridCol>
              </a:tblGrid>
              <a:tr h="370840">
                <a:tc>
                  <a:txBody>
                    <a:bodyPr/>
                    <a:lstStyle/>
                    <a:p>
                      <a:r>
                        <a:rPr lang="en-US" sz="2000"/>
                        <a:t>Sự</a:t>
                      </a:r>
                      <a:r>
                        <a:rPr lang="en-US" sz="2000" baseline="0"/>
                        <a:t> kiện</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Click</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Nhấn</a:t>
                      </a:r>
                      <a:r>
                        <a:rPr lang="en-US" sz="1800" baseline="0">
                          <a:effectLst/>
                          <a:latin typeface="+mj-lt"/>
                          <a:ea typeface="Calibri"/>
                          <a:cs typeface="Times New Roman"/>
                        </a:rPr>
                        <a:t> nút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GotFocus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Chuyển</a:t>
                      </a:r>
                      <a:r>
                        <a:rPr lang="en-US" sz="1800" baseline="0">
                          <a:effectLst/>
                          <a:latin typeface="+mj-lt"/>
                          <a:ea typeface="Calibri"/>
                          <a:cs typeface="Times New Roman"/>
                        </a:rPr>
                        <a:t> tiêu điểm tới nút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1">
                          <a:effectLst/>
                          <a:latin typeface="+mj-lt"/>
                          <a:ea typeface="Calibri"/>
                          <a:cs typeface="Times New Roman"/>
                        </a:rPr>
                        <a:t>LostFocus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Mất</a:t>
                      </a:r>
                      <a:r>
                        <a:rPr lang="en-US" sz="1800" baseline="0">
                          <a:effectLst/>
                          <a:latin typeface="+mj-lt"/>
                          <a:ea typeface="Calibri"/>
                          <a:cs typeface="Times New Roman"/>
                        </a:rPr>
                        <a:t> tiêu điểm</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b="1">
                          <a:effectLst/>
                          <a:latin typeface="+mj-lt"/>
                          <a:ea typeface="Calibri"/>
                          <a:cs typeface="Times New Roman"/>
                        </a:rPr>
                        <a:t>MouseDown</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Đặt</a:t>
                      </a:r>
                      <a:r>
                        <a:rPr lang="en-US" sz="1800" baseline="0">
                          <a:effectLst/>
                          <a:latin typeface="+mj-lt"/>
                          <a:ea typeface="Calibri"/>
                          <a:cs typeface="Times New Roman"/>
                        </a:rPr>
                        <a:t> chuột vào nút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1">
                          <a:effectLst/>
                          <a:latin typeface="+mj-lt"/>
                          <a:ea typeface="Calibri"/>
                          <a:cs typeface="Times New Roman"/>
                        </a:rPr>
                        <a:t>MouseUp</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baseline="0">
                          <a:effectLst/>
                          <a:latin typeface="+mj-lt"/>
                          <a:ea typeface="Calibri"/>
                          <a:cs typeface="Times New Roman"/>
                        </a:rPr>
                        <a:t>Đưa chuột  ra khỏi nút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r h="370840">
                <a:tc>
                  <a:txBody>
                    <a:bodyPr/>
                    <a:lstStyle/>
                    <a:p>
                      <a:pPr algn="just">
                        <a:lnSpc>
                          <a:spcPct val="115000"/>
                        </a:lnSpc>
                        <a:spcAft>
                          <a:spcPts val="600"/>
                        </a:spcAft>
                      </a:pPr>
                      <a:r>
                        <a:rPr lang="en-US" sz="1800" b="1">
                          <a:effectLst/>
                          <a:latin typeface="+mj-lt"/>
                          <a:ea typeface="Calibri"/>
                          <a:cs typeface="Times New Roman"/>
                        </a:rPr>
                        <a:t>MouseMove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Di chuyển</a:t>
                      </a:r>
                      <a:r>
                        <a:rPr lang="en-US" sz="1800" baseline="0">
                          <a:effectLst/>
                          <a:latin typeface="+mj-lt"/>
                          <a:ea typeface="Calibri"/>
                          <a:cs typeface="Times New Roman"/>
                        </a:rPr>
                        <a:t> chuột trên nút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6"/>
                  </a:ext>
                </a:extLst>
              </a:tr>
              <a:tr h="370840">
                <a:tc>
                  <a:txBody>
                    <a:bodyPr/>
                    <a:lstStyle/>
                    <a:p>
                      <a:pPr algn="just">
                        <a:lnSpc>
                          <a:spcPct val="115000"/>
                        </a:lnSpc>
                        <a:spcAft>
                          <a:spcPts val="600"/>
                        </a:spcAft>
                      </a:pPr>
                      <a:r>
                        <a:rPr lang="en-US" sz="1800" b="1">
                          <a:effectLst/>
                          <a:latin typeface="+mj-lt"/>
                          <a:ea typeface="Calibri"/>
                          <a:cs typeface="Times New Roman"/>
                        </a:rPr>
                        <a:t>MouseLeave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Dời</a:t>
                      </a:r>
                      <a:r>
                        <a:rPr lang="en-US" sz="1800" baseline="0">
                          <a:effectLst/>
                          <a:latin typeface="+mj-lt"/>
                          <a:ea typeface="Calibri"/>
                          <a:cs typeface="Times New Roman"/>
                        </a:rPr>
                        <a:t> chuyển ra khỏi nút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28879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Chứa các điều khiển khác, tạo thành các vùng làm việc độc lập trên form</a:t>
            </a:r>
          </a:p>
          <a:p>
            <a:endParaRPr lang="en-US"/>
          </a:p>
        </p:txBody>
      </p:sp>
      <p:sp>
        <p:nvSpPr>
          <p:cNvPr id="4" name="Date Placeholder 3"/>
          <p:cNvSpPr>
            <a:spLocks noGrp="1"/>
          </p:cNvSpPr>
          <p:nvPr>
            <p:ph type="dt" sz="half" idx="10"/>
          </p:nvPr>
        </p:nvSpPr>
        <p:spPr/>
        <p:txBody>
          <a:bodyPr/>
          <a:lstStyle/>
          <a:p>
            <a:fld id="{60A06188-1D9F-4E44-B61A-2EE010C46C83}"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27</a:t>
            </a:fld>
            <a:r>
              <a:rPr lang="vi-VN"/>
              <a:t>/51</a:t>
            </a:r>
          </a:p>
        </p:txBody>
      </p:sp>
      <p:sp>
        <p:nvSpPr>
          <p:cNvPr id="2" name="Title 1"/>
          <p:cNvSpPr>
            <a:spLocks noGrp="1"/>
          </p:cNvSpPr>
          <p:nvPr>
            <p:ph type="title"/>
          </p:nvPr>
        </p:nvSpPr>
        <p:spPr/>
        <p:txBody>
          <a:bodyPr/>
          <a:lstStyle/>
          <a:p>
            <a:r>
              <a:rPr lang="en-US"/>
              <a:t>GroupBox - nhóm</a:t>
            </a:r>
          </a:p>
        </p:txBody>
      </p:sp>
      <p:graphicFrame>
        <p:nvGraphicFramePr>
          <p:cNvPr id="7" name="Table 6"/>
          <p:cNvGraphicFramePr>
            <a:graphicFrameLocks noGrp="1"/>
          </p:cNvGraphicFramePr>
          <p:nvPr>
            <p:extLst>
              <p:ext uri="{D42A27DB-BD31-4B8C-83A1-F6EECF244321}">
                <p14:modId xmlns:p14="http://schemas.microsoft.com/office/powerpoint/2010/main" val="3130745727"/>
              </p:ext>
            </p:extLst>
          </p:nvPr>
        </p:nvGraphicFramePr>
        <p:xfrm>
          <a:off x="755576" y="2132856"/>
          <a:ext cx="7923487" cy="3260790"/>
        </p:xfrm>
        <a:graphic>
          <a:graphicData uri="http://schemas.openxmlformats.org/drawingml/2006/table">
            <a:tbl>
              <a:tblPr firstRow="1" bandRow="1">
                <a:tableStyleId>{5C22544A-7EE6-4342-B048-85BDC9FD1C3A}</a:tableStyleId>
              </a:tblPr>
              <a:tblGrid>
                <a:gridCol w="2801888">
                  <a:extLst>
                    <a:ext uri="{9D8B030D-6E8A-4147-A177-3AD203B41FA5}">
                      <a16:colId xmlns:a16="http://schemas.microsoft.com/office/drawing/2014/main" val="20000"/>
                    </a:ext>
                  </a:extLst>
                </a:gridCol>
                <a:gridCol w="5121599">
                  <a:extLst>
                    <a:ext uri="{9D8B030D-6E8A-4147-A177-3AD203B41FA5}">
                      <a16:colId xmlns:a16="http://schemas.microsoft.com/office/drawing/2014/main" val="20001"/>
                    </a:ext>
                  </a:extLst>
                </a:gridCol>
              </a:tblGrid>
              <a:tr h="370840">
                <a:tc>
                  <a:txBody>
                    <a:bodyPr/>
                    <a:lstStyle/>
                    <a:p>
                      <a:r>
                        <a:rPr lang="en-US" sz="1800" b="1">
                          <a:latin typeface="+mj-lt"/>
                        </a:rPr>
                        <a:t>Thuộc</a:t>
                      </a:r>
                      <a:r>
                        <a:rPr lang="en-US" sz="1800" b="1" baseline="0">
                          <a:latin typeface="+mj-lt"/>
                        </a:rPr>
                        <a:t> tính</a:t>
                      </a:r>
                      <a:endParaRPr lang="en-US" sz="1800" b="1">
                        <a:latin typeface="+mj-lt"/>
                      </a:endParaRPr>
                    </a:p>
                  </a:txBody>
                  <a:tcPr marL="92310" marR="92310"/>
                </a:tc>
                <a:tc>
                  <a:txBody>
                    <a:bodyPr/>
                    <a:lstStyle/>
                    <a:p>
                      <a:r>
                        <a:rPr lang="en-US" sz="1800">
                          <a:latin typeface="+mj-lt"/>
                        </a:rPr>
                        <a:t>Mô</a:t>
                      </a:r>
                      <a:r>
                        <a:rPr lang="en-US" sz="1800" baseline="0">
                          <a:latin typeface="+mj-lt"/>
                        </a:rPr>
                        <a:t> tả</a:t>
                      </a:r>
                      <a:endParaRPr lang="en-US" sz="1800">
                        <a:latin typeface="+mj-lt"/>
                      </a:endParaRPr>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Name</a:t>
                      </a:r>
                      <a:endParaRPr lang="vi-VN" sz="1800" b="1">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Tên nhóm, bắt đầu bằng </a:t>
                      </a:r>
                      <a:r>
                        <a:rPr lang="en-US" sz="1800" b="1">
                          <a:effectLst/>
                          <a:latin typeface="+mj-lt"/>
                          <a:ea typeface="Calibri"/>
                          <a:cs typeface="Times New Roman"/>
                        </a:rPr>
                        <a:t>grb</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BackColor</a:t>
                      </a:r>
                      <a:endParaRPr lang="vi-VN" sz="1800" b="1">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Thiết lập mầu nền cho nhóm, nếu BackColor = Transparent thì nhóm sẽ có mầu nền giống với mầu nền của Form.</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1">
                          <a:effectLst/>
                          <a:latin typeface="+mj-lt"/>
                          <a:ea typeface="Calibri"/>
                          <a:cs typeface="Times New Roman"/>
                        </a:rPr>
                        <a:t>TabIndex</a:t>
                      </a:r>
                      <a:endParaRPr lang="vi-VN" sz="1800" b="1">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Thứ tự truy cập của nhóm khi người dùng bấm phím Tab.</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b="1">
                          <a:effectLst/>
                          <a:latin typeface="+mj-lt"/>
                          <a:ea typeface="Calibri"/>
                          <a:cs typeface="Times New Roman"/>
                        </a:rPr>
                        <a:t>Text</a:t>
                      </a:r>
                      <a:endParaRPr lang="vi-VN" sz="1800" b="1">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Thiết lập tiêu đề của nhóm.</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1">
                          <a:effectLst/>
                          <a:latin typeface="+mj-lt"/>
                          <a:ea typeface="Calibri"/>
                          <a:cs typeface="Times New Roman"/>
                        </a:rPr>
                        <a:t>Visible</a:t>
                      </a:r>
                      <a:endParaRPr lang="vi-VN" sz="1800" b="1">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Visible = True: hiển thị nhóm, Visible = False: ẩn nhóm.</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19077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Cho phép không chọn/chọn một/chọn nhiều khả năng</a:t>
            </a:r>
          </a:p>
        </p:txBody>
      </p:sp>
      <p:sp>
        <p:nvSpPr>
          <p:cNvPr id="4" name="Date Placeholder 3"/>
          <p:cNvSpPr>
            <a:spLocks noGrp="1"/>
          </p:cNvSpPr>
          <p:nvPr>
            <p:ph type="dt" sz="half" idx="10"/>
          </p:nvPr>
        </p:nvSpPr>
        <p:spPr/>
        <p:txBody>
          <a:bodyPr/>
          <a:lstStyle/>
          <a:p>
            <a:fld id="{46659AA5-D12F-4934-8574-F55394A0F278}"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28</a:t>
            </a:fld>
            <a:r>
              <a:rPr lang="vi-VN"/>
              <a:t>/51</a:t>
            </a:r>
          </a:p>
        </p:txBody>
      </p:sp>
      <p:sp>
        <p:nvSpPr>
          <p:cNvPr id="2" name="Title 1"/>
          <p:cNvSpPr>
            <a:spLocks noGrp="1"/>
          </p:cNvSpPr>
          <p:nvPr>
            <p:ph type="title"/>
          </p:nvPr>
        </p:nvSpPr>
        <p:spPr/>
        <p:txBody>
          <a:bodyPr/>
          <a:lstStyle/>
          <a:p>
            <a:r>
              <a:rPr lang="en-US"/>
              <a:t>Checkbox – Hộp đánh dấu</a:t>
            </a:r>
          </a:p>
        </p:txBody>
      </p:sp>
      <p:grpSp>
        <p:nvGrpSpPr>
          <p:cNvPr id="6" name="Group 5"/>
          <p:cNvGrpSpPr/>
          <p:nvPr/>
        </p:nvGrpSpPr>
        <p:grpSpPr>
          <a:xfrm>
            <a:off x="6265490" y="1556792"/>
            <a:ext cx="2266950" cy="2000250"/>
            <a:chOff x="3438525" y="2057400"/>
            <a:chExt cx="2266950" cy="200025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8525" y="2800350"/>
              <a:ext cx="2266950"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8525" y="2057400"/>
              <a:ext cx="2266950"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7" name="Table 6"/>
          <p:cNvGraphicFramePr>
            <a:graphicFrameLocks noGrp="1"/>
          </p:cNvGraphicFramePr>
          <p:nvPr>
            <p:extLst>
              <p:ext uri="{D42A27DB-BD31-4B8C-83A1-F6EECF244321}">
                <p14:modId xmlns:p14="http://schemas.microsoft.com/office/powerpoint/2010/main" val="2691387786"/>
              </p:ext>
            </p:extLst>
          </p:nvPr>
        </p:nvGraphicFramePr>
        <p:xfrm>
          <a:off x="762000" y="3803248"/>
          <a:ext cx="7923487" cy="2216722"/>
        </p:xfrm>
        <a:graphic>
          <a:graphicData uri="http://schemas.openxmlformats.org/drawingml/2006/table">
            <a:tbl>
              <a:tblPr firstRow="1" bandRow="1">
                <a:tableStyleId>{5C22544A-7EE6-4342-B048-85BDC9FD1C3A}</a:tableStyleId>
              </a:tblPr>
              <a:tblGrid>
                <a:gridCol w="2326161">
                  <a:extLst>
                    <a:ext uri="{9D8B030D-6E8A-4147-A177-3AD203B41FA5}">
                      <a16:colId xmlns:a16="http://schemas.microsoft.com/office/drawing/2014/main" val="20000"/>
                    </a:ext>
                  </a:extLst>
                </a:gridCol>
                <a:gridCol w="5597326">
                  <a:extLst>
                    <a:ext uri="{9D8B030D-6E8A-4147-A177-3AD203B41FA5}">
                      <a16:colId xmlns:a16="http://schemas.microsoft.com/office/drawing/2014/main" val="20001"/>
                    </a:ext>
                  </a:extLst>
                </a:gridCol>
              </a:tblGrid>
              <a:tr h="370840">
                <a:tc>
                  <a:txBody>
                    <a:bodyPr/>
                    <a:lstStyle/>
                    <a:p>
                      <a:r>
                        <a:rPr lang="en-US" sz="2000"/>
                        <a:t>Thuộc</a:t>
                      </a:r>
                      <a:r>
                        <a:rPr lang="en-US" sz="2000" baseline="0"/>
                        <a:t> tính</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Name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Tên, bắt</a:t>
                      </a:r>
                      <a:r>
                        <a:rPr lang="en-US" sz="1800" baseline="0">
                          <a:effectLst/>
                          <a:latin typeface="+mj-lt"/>
                          <a:ea typeface="Calibri"/>
                          <a:cs typeface="Times New Roman"/>
                        </a:rPr>
                        <a:t> đầu bằng chk</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Checked</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True/false: checkbox đã</a:t>
                      </a:r>
                      <a:r>
                        <a:rPr lang="en-US" sz="1800" baseline="0">
                          <a:effectLst/>
                          <a:latin typeface="+mj-lt"/>
                          <a:ea typeface="Calibri"/>
                          <a:cs typeface="Times New Roman"/>
                        </a:rPr>
                        <a:t> được chọn/không được chọn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vi-VN" sz="1800">
                          <a:effectLst/>
                          <a:latin typeface="+mj-lt"/>
                          <a:ea typeface="Calibri"/>
                          <a:cs typeface="Times New Roman"/>
                        </a:rPr>
                        <a:t>CheckState</a:t>
                      </a: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Checked: được</a:t>
                      </a:r>
                      <a:r>
                        <a:rPr lang="en-US" sz="1800" baseline="0">
                          <a:effectLst/>
                          <a:latin typeface="+mj-lt"/>
                          <a:ea typeface="Calibri"/>
                          <a:cs typeface="Times New Roman"/>
                        </a:rPr>
                        <a:t> chọn</a:t>
                      </a:r>
                    </a:p>
                    <a:p>
                      <a:pPr algn="just">
                        <a:lnSpc>
                          <a:spcPct val="115000"/>
                        </a:lnSpc>
                        <a:spcAft>
                          <a:spcPts val="600"/>
                        </a:spcAft>
                      </a:pPr>
                      <a:r>
                        <a:rPr lang="en-US" sz="1800" baseline="0">
                          <a:effectLst/>
                          <a:latin typeface="+mj-lt"/>
                          <a:ea typeface="Calibri"/>
                          <a:cs typeface="Times New Roman"/>
                        </a:rPr>
                        <a:t>Unchecked: không được chọn</a:t>
                      </a:r>
                    </a:p>
                    <a:p>
                      <a:pPr algn="just">
                        <a:lnSpc>
                          <a:spcPct val="115000"/>
                        </a:lnSpc>
                        <a:spcAft>
                          <a:spcPts val="600"/>
                        </a:spcAft>
                      </a:pPr>
                      <a:r>
                        <a:rPr lang="en-US" sz="1800" baseline="0">
                          <a:effectLst/>
                          <a:latin typeface="+mj-lt"/>
                          <a:ea typeface="Calibri"/>
                          <a:cs typeface="Times New Roman"/>
                        </a:rPr>
                        <a:t>Indeterminate: chưa xác định</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7353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Sự kiện</a:t>
            </a:r>
          </a:p>
        </p:txBody>
      </p:sp>
      <p:sp>
        <p:nvSpPr>
          <p:cNvPr id="4" name="Date Placeholder 3"/>
          <p:cNvSpPr>
            <a:spLocks noGrp="1"/>
          </p:cNvSpPr>
          <p:nvPr>
            <p:ph type="dt" sz="half" idx="10"/>
          </p:nvPr>
        </p:nvSpPr>
        <p:spPr/>
        <p:txBody>
          <a:bodyPr/>
          <a:lstStyle/>
          <a:p>
            <a:fld id="{8D174043-96C9-4AC6-8E5F-3C3B7744CFCB}"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29</a:t>
            </a:fld>
            <a:r>
              <a:rPr lang="vi-VN"/>
              <a:t>/51</a:t>
            </a:r>
          </a:p>
        </p:txBody>
      </p:sp>
      <p:sp>
        <p:nvSpPr>
          <p:cNvPr id="2" name="Title 1"/>
          <p:cNvSpPr>
            <a:spLocks noGrp="1"/>
          </p:cNvSpPr>
          <p:nvPr>
            <p:ph type="title"/>
          </p:nvPr>
        </p:nvSpPr>
        <p:spPr/>
        <p:txBody>
          <a:bodyPr/>
          <a:lstStyle/>
          <a:p>
            <a:r>
              <a:rPr lang="en-US"/>
              <a:t>Checkbox – Hộp đánh dấu</a:t>
            </a:r>
          </a:p>
        </p:txBody>
      </p:sp>
      <p:graphicFrame>
        <p:nvGraphicFramePr>
          <p:cNvPr id="6" name="Table 5"/>
          <p:cNvGraphicFramePr>
            <a:graphicFrameLocks noGrp="1"/>
          </p:cNvGraphicFramePr>
          <p:nvPr>
            <p:extLst>
              <p:ext uri="{D42A27DB-BD31-4B8C-83A1-F6EECF244321}">
                <p14:modId xmlns:p14="http://schemas.microsoft.com/office/powerpoint/2010/main" val="3354369656"/>
              </p:ext>
            </p:extLst>
          </p:nvPr>
        </p:nvGraphicFramePr>
        <p:xfrm>
          <a:off x="762000" y="1916832"/>
          <a:ext cx="7923487" cy="1879600"/>
        </p:xfrm>
        <a:graphic>
          <a:graphicData uri="http://schemas.openxmlformats.org/drawingml/2006/table">
            <a:tbl>
              <a:tblPr firstRow="1" bandRow="1">
                <a:tableStyleId>{5C22544A-7EE6-4342-B048-85BDC9FD1C3A}</a:tableStyleId>
              </a:tblPr>
              <a:tblGrid>
                <a:gridCol w="2326161">
                  <a:extLst>
                    <a:ext uri="{9D8B030D-6E8A-4147-A177-3AD203B41FA5}">
                      <a16:colId xmlns:a16="http://schemas.microsoft.com/office/drawing/2014/main" val="20000"/>
                    </a:ext>
                  </a:extLst>
                </a:gridCol>
                <a:gridCol w="5597326">
                  <a:extLst>
                    <a:ext uri="{9D8B030D-6E8A-4147-A177-3AD203B41FA5}">
                      <a16:colId xmlns:a16="http://schemas.microsoft.com/office/drawing/2014/main" val="20001"/>
                    </a:ext>
                  </a:extLst>
                </a:gridCol>
              </a:tblGrid>
              <a:tr h="370840">
                <a:tc>
                  <a:txBody>
                    <a:bodyPr/>
                    <a:lstStyle/>
                    <a:p>
                      <a:r>
                        <a:rPr lang="en-US" sz="2000"/>
                        <a:t>Sư kiện</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a:effectLst/>
                          <a:latin typeface="+mj-lt"/>
                          <a:ea typeface="Calibri"/>
                          <a:cs typeface="Times New Roman"/>
                        </a:rPr>
                        <a:t>Click</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Nhấn</a:t>
                      </a:r>
                      <a:r>
                        <a:rPr lang="en-US" sz="1800" baseline="0">
                          <a:effectLst/>
                          <a:latin typeface="+mj-lt"/>
                          <a:ea typeface="Calibri"/>
                          <a:cs typeface="Times New Roman"/>
                        </a:rPr>
                        <a:t> chuột vào checkbox</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a:effectLst/>
                          <a:latin typeface="+mj-lt"/>
                          <a:ea typeface="Calibri"/>
                          <a:cs typeface="Times New Roman"/>
                        </a:rPr>
                        <a:t>GotFocus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Chuyển</a:t>
                      </a:r>
                      <a:r>
                        <a:rPr lang="en-US" sz="1800" baseline="0">
                          <a:effectLst/>
                          <a:latin typeface="+mj-lt"/>
                          <a:ea typeface="Calibri"/>
                          <a:cs typeface="Times New Roman"/>
                        </a:rPr>
                        <a:t> tiêu điểm vào checkbox</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a:effectLst/>
                          <a:latin typeface="+mj-lt"/>
                          <a:ea typeface="Calibri"/>
                          <a:cs typeface="Times New Roman"/>
                        </a:rPr>
                        <a:t>LostFocus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Mất tiêu</a:t>
                      </a:r>
                      <a:r>
                        <a:rPr lang="en-US" sz="1800" baseline="0">
                          <a:effectLst/>
                          <a:latin typeface="+mj-lt"/>
                          <a:ea typeface="Calibri"/>
                          <a:cs typeface="Times New Roman"/>
                        </a:rPr>
                        <a:t> điểm</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a:effectLst/>
                          <a:latin typeface="+mj-lt"/>
                          <a:ea typeface="Calibri"/>
                          <a:cs typeface="Times New Roman"/>
                        </a:rPr>
                        <a:t>CheckedChanged</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Checkbox thay đổi</a:t>
                      </a:r>
                      <a:r>
                        <a:rPr lang="en-US" sz="1800" baseline="0">
                          <a:effectLst/>
                          <a:latin typeface="+mj-lt"/>
                          <a:ea typeface="Calibri"/>
                          <a:cs typeface="Times New Roman"/>
                        </a:rPr>
                        <a:t> trạng thái</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409653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Cho phép người dùng chọn </a:t>
            </a:r>
            <a:r>
              <a:rPr lang="en-US" b="1">
                <a:solidFill>
                  <a:srgbClr val="FF0000"/>
                </a:solidFill>
              </a:rPr>
              <a:t>một</a:t>
            </a:r>
            <a:r>
              <a:rPr lang="en-US">
                <a:solidFill>
                  <a:srgbClr val="FF0000"/>
                </a:solidFill>
              </a:rPr>
              <a:t> </a:t>
            </a:r>
            <a:r>
              <a:rPr lang="en-US"/>
              <a:t>trong nhiều lựa chọn</a:t>
            </a:r>
          </a:p>
          <a:p>
            <a:r>
              <a:rPr lang="en-US"/>
              <a:t>Thuộc tính</a:t>
            </a:r>
          </a:p>
        </p:txBody>
      </p:sp>
      <p:sp>
        <p:nvSpPr>
          <p:cNvPr id="4" name="Date Placeholder 3"/>
          <p:cNvSpPr>
            <a:spLocks noGrp="1"/>
          </p:cNvSpPr>
          <p:nvPr>
            <p:ph type="dt" sz="half" idx="10"/>
          </p:nvPr>
        </p:nvSpPr>
        <p:spPr/>
        <p:txBody>
          <a:bodyPr/>
          <a:lstStyle/>
          <a:p>
            <a:fld id="{7A288920-5128-4E3F-AC7F-544468B8E1EE}"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30</a:t>
            </a:fld>
            <a:r>
              <a:rPr lang="vi-VN"/>
              <a:t>/51</a:t>
            </a:r>
          </a:p>
        </p:txBody>
      </p:sp>
      <p:sp>
        <p:nvSpPr>
          <p:cNvPr id="2" name="Title 1"/>
          <p:cNvSpPr>
            <a:spLocks noGrp="1"/>
          </p:cNvSpPr>
          <p:nvPr>
            <p:ph type="title"/>
          </p:nvPr>
        </p:nvSpPr>
        <p:spPr/>
        <p:txBody>
          <a:bodyPr/>
          <a:lstStyle/>
          <a:p>
            <a:r>
              <a:rPr lang="en-US"/>
              <a:t>RadioButton – Nút tuỳ chọn</a:t>
            </a:r>
          </a:p>
        </p:txBody>
      </p:sp>
      <p:graphicFrame>
        <p:nvGraphicFramePr>
          <p:cNvPr id="6" name="Table 5"/>
          <p:cNvGraphicFramePr>
            <a:graphicFrameLocks noGrp="1"/>
          </p:cNvGraphicFramePr>
          <p:nvPr>
            <p:extLst>
              <p:ext uri="{D42A27DB-BD31-4B8C-83A1-F6EECF244321}">
                <p14:modId xmlns:p14="http://schemas.microsoft.com/office/powerpoint/2010/main" val="546379878"/>
              </p:ext>
            </p:extLst>
          </p:nvPr>
        </p:nvGraphicFramePr>
        <p:xfrm>
          <a:off x="762000" y="2708920"/>
          <a:ext cx="7923487" cy="1879600"/>
        </p:xfrm>
        <a:graphic>
          <a:graphicData uri="http://schemas.openxmlformats.org/drawingml/2006/table">
            <a:tbl>
              <a:tblPr firstRow="1" bandRow="1">
                <a:tableStyleId>{5C22544A-7EE6-4342-B048-85BDC9FD1C3A}</a:tableStyleId>
              </a:tblPr>
              <a:tblGrid>
                <a:gridCol w="2326161">
                  <a:extLst>
                    <a:ext uri="{9D8B030D-6E8A-4147-A177-3AD203B41FA5}">
                      <a16:colId xmlns:a16="http://schemas.microsoft.com/office/drawing/2014/main" val="20000"/>
                    </a:ext>
                  </a:extLst>
                </a:gridCol>
                <a:gridCol w="5597326">
                  <a:extLst>
                    <a:ext uri="{9D8B030D-6E8A-4147-A177-3AD203B41FA5}">
                      <a16:colId xmlns:a16="http://schemas.microsoft.com/office/drawing/2014/main" val="20001"/>
                    </a:ext>
                  </a:extLst>
                </a:gridCol>
              </a:tblGrid>
              <a:tr h="370840">
                <a:tc>
                  <a:txBody>
                    <a:bodyPr/>
                    <a:lstStyle/>
                    <a:p>
                      <a:r>
                        <a:rPr lang="en-US" sz="2000"/>
                        <a:t>Thuộc</a:t>
                      </a:r>
                      <a:r>
                        <a:rPr lang="en-US" sz="2000" baseline="0"/>
                        <a:t> tính</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Name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Tên, bắt</a:t>
                      </a:r>
                      <a:r>
                        <a:rPr lang="en-US" sz="1800" baseline="0">
                          <a:effectLst/>
                          <a:latin typeface="+mj-lt"/>
                          <a:ea typeface="Calibri"/>
                          <a:cs typeface="Times New Roman"/>
                        </a:rPr>
                        <a:t> đầu bằng rdo</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Checked</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True/false: radiobutton</a:t>
                      </a:r>
                      <a:r>
                        <a:rPr lang="en-US" sz="1800" baseline="0">
                          <a:effectLst/>
                          <a:latin typeface="+mj-lt"/>
                          <a:ea typeface="Calibri"/>
                          <a:cs typeface="Times New Roman"/>
                        </a:rPr>
                        <a:t> </a:t>
                      </a:r>
                      <a:r>
                        <a:rPr lang="en-US" sz="1800">
                          <a:effectLst/>
                          <a:latin typeface="+mj-lt"/>
                          <a:ea typeface="Calibri"/>
                          <a:cs typeface="Times New Roman"/>
                        </a:rPr>
                        <a:t>đã</a:t>
                      </a:r>
                      <a:r>
                        <a:rPr lang="en-US" sz="1800" baseline="0">
                          <a:effectLst/>
                          <a:latin typeface="+mj-lt"/>
                          <a:ea typeface="Calibri"/>
                          <a:cs typeface="Times New Roman"/>
                        </a:rPr>
                        <a:t> được chọn/ không được chọn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a:effectLst/>
                          <a:latin typeface="+mj-lt"/>
                          <a:ea typeface="Calibri"/>
                          <a:cs typeface="Times New Roman"/>
                        </a:rPr>
                        <a:t>Enable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True/False:</a:t>
                      </a:r>
                      <a:r>
                        <a:rPr lang="en-US" sz="1800" baseline="0">
                          <a:effectLst/>
                          <a:latin typeface="+mj-lt"/>
                          <a:ea typeface="Calibri"/>
                          <a:cs typeface="Times New Roman"/>
                        </a:rPr>
                        <a:t> bật/tắt nút tuỳ chọn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a:effectLst/>
                          <a:latin typeface="+mj-lt"/>
                          <a:ea typeface="Calibri"/>
                          <a:cs typeface="Times New Roman"/>
                        </a:rPr>
                        <a:t>Visible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True/False: Hiện/Ẩn</a:t>
                      </a:r>
                      <a:r>
                        <a:rPr lang="en-US" sz="1800" baseline="0">
                          <a:effectLst/>
                          <a:latin typeface="+mj-lt"/>
                          <a:ea typeface="Calibri"/>
                          <a:cs typeface="Times New Roman"/>
                        </a:rPr>
                        <a:t> nút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3129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Sự kiện</a:t>
            </a:r>
          </a:p>
          <a:p>
            <a:endParaRPr lang="en-US"/>
          </a:p>
          <a:p>
            <a:endParaRPr lang="en-US"/>
          </a:p>
          <a:p>
            <a:endParaRPr lang="en-US"/>
          </a:p>
          <a:p>
            <a:endParaRPr lang="en-US"/>
          </a:p>
          <a:p>
            <a:r>
              <a:rPr lang="en-US"/>
              <a:t>Chú ý</a:t>
            </a:r>
          </a:p>
          <a:p>
            <a:pPr lvl="1"/>
            <a:r>
              <a:rPr lang="en-US"/>
              <a:t>RadioButton kết hợp với GroupBox</a:t>
            </a:r>
          </a:p>
        </p:txBody>
      </p:sp>
      <p:sp>
        <p:nvSpPr>
          <p:cNvPr id="4" name="Date Placeholder 3"/>
          <p:cNvSpPr>
            <a:spLocks noGrp="1"/>
          </p:cNvSpPr>
          <p:nvPr>
            <p:ph type="dt" sz="half" idx="10"/>
          </p:nvPr>
        </p:nvSpPr>
        <p:spPr/>
        <p:txBody>
          <a:bodyPr/>
          <a:lstStyle/>
          <a:p>
            <a:fld id="{8E71C7BF-9FC7-4698-B981-2F84557ACA84}"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31</a:t>
            </a:fld>
            <a:r>
              <a:rPr lang="vi-VN"/>
              <a:t>/51</a:t>
            </a:r>
          </a:p>
        </p:txBody>
      </p:sp>
      <p:sp>
        <p:nvSpPr>
          <p:cNvPr id="2" name="Title 1"/>
          <p:cNvSpPr>
            <a:spLocks noGrp="1"/>
          </p:cNvSpPr>
          <p:nvPr>
            <p:ph type="title"/>
          </p:nvPr>
        </p:nvSpPr>
        <p:spPr/>
        <p:txBody>
          <a:bodyPr/>
          <a:lstStyle/>
          <a:p>
            <a:r>
              <a:rPr lang="en-US"/>
              <a:t>RadioButton – Nút tuỳ chọn</a:t>
            </a:r>
          </a:p>
        </p:txBody>
      </p:sp>
      <p:graphicFrame>
        <p:nvGraphicFramePr>
          <p:cNvPr id="7" name="Table 6"/>
          <p:cNvGraphicFramePr>
            <a:graphicFrameLocks noGrp="1"/>
          </p:cNvGraphicFramePr>
          <p:nvPr>
            <p:extLst>
              <p:ext uri="{D42A27DB-BD31-4B8C-83A1-F6EECF244321}">
                <p14:modId xmlns:p14="http://schemas.microsoft.com/office/powerpoint/2010/main" val="3530901490"/>
              </p:ext>
            </p:extLst>
          </p:nvPr>
        </p:nvGraphicFramePr>
        <p:xfrm>
          <a:off x="762000" y="1916832"/>
          <a:ext cx="7923487" cy="1879600"/>
        </p:xfrm>
        <a:graphic>
          <a:graphicData uri="http://schemas.openxmlformats.org/drawingml/2006/table">
            <a:tbl>
              <a:tblPr firstRow="1" bandRow="1">
                <a:tableStyleId>{5C22544A-7EE6-4342-B048-85BDC9FD1C3A}</a:tableStyleId>
              </a:tblPr>
              <a:tblGrid>
                <a:gridCol w="2326161">
                  <a:extLst>
                    <a:ext uri="{9D8B030D-6E8A-4147-A177-3AD203B41FA5}">
                      <a16:colId xmlns:a16="http://schemas.microsoft.com/office/drawing/2014/main" val="20000"/>
                    </a:ext>
                  </a:extLst>
                </a:gridCol>
                <a:gridCol w="5597326">
                  <a:extLst>
                    <a:ext uri="{9D8B030D-6E8A-4147-A177-3AD203B41FA5}">
                      <a16:colId xmlns:a16="http://schemas.microsoft.com/office/drawing/2014/main" val="20001"/>
                    </a:ext>
                  </a:extLst>
                </a:gridCol>
              </a:tblGrid>
              <a:tr h="370840">
                <a:tc>
                  <a:txBody>
                    <a:bodyPr/>
                    <a:lstStyle/>
                    <a:p>
                      <a:r>
                        <a:rPr lang="en-US" sz="2000"/>
                        <a:t>Sư kiện</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a:effectLst/>
                          <a:latin typeface="+mj-lt"/>
                          <a:ea typeface="Calibri"/>
                          <a:cs typeface="Times New Roman"/>
                        </a:rPr>
                        <a:t>Click</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Nhấn</a:t>
                      </a:r>
                      <a:r>
                        <a:rPr lang="en-US" sz="1800" baseline="0">
                          <a:effectLst/>
                          <a:latin typeface="+mj-lt"/>
                          <a:ea typeface="Calibri"/>
                          <a:cs typeface="Times New Roman"/>
                        </a:rPr>
                        <a:t> chuột vào nút tuỳ chọn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a:effectLst/>
                          <a:latin typeface="+mj-lt"/>
                          <a:ea typeface="Calibri"/>
                          <a:cs typeface="Times New Roman"/>
                        </a:rPr>
                        <a:t>GotFocus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Chuyển</a:t>
                      </a:r>
                      <a:r>
                        <a:rPr lang="en-US" sz="1800" baseline="0">
                          <a:effectLst/>
                          <a:latin typeface="+mj-lt"/>
                          <a:ea typeface="Calibri"/>
                          <a:cs typeface="Times New Roman"/>
                        </a:rPr>
                        <a:t> tiêu điểm vào nút tuỳ chọn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a:effectLst/>
                          <a:latin typeface="+mj-lt"/>
                          <a:ea typeface="Calibri"/>
                          <a:cs typeface="Times New Roman"/>
                        </a:rPr>
                        <a:t>LostFocus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Mất tiêu</a:t>
                      </a:r>
                      <a:r>
                        <a:rPr lang="en-US" sz="1800" baseline="0">
                          <a:effectLst/>
                          <a:latin typeface="+mj-lt"/>
                          <a:ea typeface="Calibri"/>
                          <a:cs typeface="Times New Roman"/>
                        </a:rPr>
                        <a:t> điểm</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a:effectLst/>
                          <a:latin typeface="+mj-lt"/>
                          <a:ea typeface="Calibri"/>
                          <a:cs typeface="Times New Roman"/>
                        </a:rPr>
                        <a:t>CheckedChanged</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Nút</a:t>
                      </a:r>
                      <a:r>
                        <a:rPr lang="en-US" sz="1800" baseline="0">
                          <a:effectLst/>
                          <a:latin typeface="+mj-lt"/>
                          <a:ea typeface="Calibri"/>
                          <a:cs typeface="Times New Roman"/>
                        </a:rPr>
                        <a:t> tuỳ chọn </a:t>
                      </a:r>
                      <a:r>
                        <a:rPr lang="en-US" sz="1800">
                          <a:effectLst/>
                          <a:latin typeface="+mj-lt"/>
                          <a:ea typeface="Calibri"/>
                          <a:cs typeface="Times New Roman"/>
                        </a:rPr>
                        <a:t>thay đổi</a:t>
                      </a:r>
                      <a:r>
                        <a:rPr lang="en-US" sz="1800" baseline="0">
                          <a:effectLst/>
                          <a:latin typeface="+mj-lt"/>
                          <a:ea typeface="Calibri"/>
                          <a:cs typeface="Times New Roman"/>
                        </a:rPr>
                        <a:t> trạng thái</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267" y="4782792"/>
            <a:ext cx="142875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4782792"/>
            <a:ext cx="14287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1181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143000"/>
            <a:ext cx="5005730" cy="5181600"/>
          </a:xfrm>
        </p:spPr>
        <p:txBody>
          <a:bodyPr/>
          <a:lstStyle/>
          <a:p>
            <a:r>
              <a:rPr lang="en-US"/>
              <a:t>Cung cấp danh sách cho phép lựa chọn</a:t>
            </a:r>
          </a:p>
          <a:p>
            <a:r>
              <a:rPr lang="en-US"/>
              <a:t>Hiển thị thanh cuộn nếu vượt quá vùng thể hiện</a:t>
            </a:r>
          </a:p>
          <a:p>
            <a:r>
              <a:rPr lang="en-US"/>
              <a:t>Sự kiện:</a:t>
            </a:r>
          </a:p>
        </p:txBody>
      </p:sp>
      <p:sp>
        <p:nvSpPr>
          <p:cNvPr id="4" name="Date Placeholder 3"/>
          <p:cNvSpPr>
            <a:spLocks noGrp="1"/>
          </p:cNvSpPr>
          <p:nvPr>
            <p:ph type="dt" sz="half" idx="10"/>
          </p:nvPr>
        </p:nvSpPr>
        <p:spPr/>
        <p:txBody>
          <a:bodyPr/>
          <a:lstStyle/>
          <a:p>
            <a:fld id="{3B397ADF-605B-4732-822E-B3520E2B462A}"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32</a:t>
            </a:fld>
            <a:r>
              <a:rPr lang="vi-VN"/>
              <a:t>/51</a:t>
            </a:r>
          </a:p>
        </p:txBody>
      </p:sp>
      <p:sp>
        <p:nvSpPr>
          <p:cNvPr id="2" name="Title 1"/>
          <p:cNvSpPr>
            <a:spLocks noGrp="1"/>
          </p:cNvSpPr>
          <p:nvPr>
            <p:ph type="title"/>
          </p:nvPr>
        </p:nvSpPr>
        <p:spPr/>
        <p:txBody>
          <a:bodyPr/>
          <a:lstStyle/>
          <a:p>
            <a:r>
              <a:rPr lang="en-US"/>
              <a:t>Listbox – Hộp danh sách</a:t>
            </a:r>
          </a:p>
        </p:txBody>
      </p: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1547" y="1328790"/>
            <a:ext cx="2468885" cy="1812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Table 5"/>
          <p:cNvGraphicFramePr>
            <a:graphicFrameLocks noGrp="1"/>
          </p:cNvGraphicFramePr>
          <p:nvPr>
            <p:extLst>
              <p:ext uri="{D42A27DB-BD31-4B8C-83A1-F6EECF244321}">
                <p14:modId xmlns:p14="http://schemas.microsoft.com/office/powerpoint/2010/main" val="1526135414"/>
              </p:ext>
            </p:extLst>
          </p:nvPr>
        </p:nvGraphicFramePr>
        <p:xfrm>
          <a:off x="752969" y="3753573"/>
          <a:ext cx="7923487" cy="2483676"/>
        </p:xfrm>
        <a:graphic>
          <a:graphicData uri="http://schemas.openxmlformats.org/drawingml/2006/table">
            <a:tbl>
              <a:tblPr firstRow="1" bandRow="1">
                <a:tableStyleId>{5C22544A-7EE6-4342-B048-85BDC9FD1C3A}</a:tableStyleId>
              </a:tblPr>
              <a:tblGrid>
                <a:gridCol w="2801888">
                  <a:extLst>
                    <a:ext uri="{9D8B030D-6E8A-4147-A177-3AD203B41FA5}">
                      <a16:colId xmlns:a16="http://schemas.microsoft.com/office/drawing/2014/main" val="20000"/>
                    </a:ext>
                  </a:extLst>
                </a:gridCol>
                <a:gridCol w="5121599">
                  <a:extLst>
                    <a:ext uri="{9D8B030D-6E8A-4147-A177-3AD203B41FA5}">
                      <a16:colId xmlns:a16="http://schemas.microsoft.com/office/drawing/2014/main" val="20001"/>
                    </a:ext>
                  </a:extLst>
                </a:gridCol>
              </a:tblGrid>
              <a:tr h="370840">
                <a:tc>
                  <a:txBody>
                    <a:bodyPr/>
                    <a:lstStyle/>
                    <a:p>
                      <a:r>
                        <a:rPr lang="en-US" sz="2000"/>
                        <a:t>Sự kiện</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Click</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Nháy</a:t>
                      </a:r>
                      <a:r>
                        <a:rPr lang="en-US" sz="1800" baseline="0">
                          <a:effectLst/>
                          <a:latin typeface="+mj-lt"/>
                          <a:ea typeface="Calibri"/>
                          <a:cs typeface="Times New Roman"/>
                        </a:rPr>
                        <a:t> chuột vào danh sách</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DoubleClick</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Nháy</a:t>
                      </a:r>
                      <a:r>
                        <a:rPr lang="en-US" sz="1800" baseline="0">
                          <a:effectLst/>
                          <a:latin typeface="+mj-lt"/>
                          <a:ea typeface="Calibri"/>
                          <a:cs typeface="Times New Roman"/>
                        </a:rPr>
                        <a:t> đúp chuột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1">
                          <a:effectLst/>
                          <a:latin typeface="+mj-lt"/>
                          <a:ea typeface="Calibri"/>
                          <a:cs typeface="Times New Roman"/>
                        </a:rPr>
                        <a:t>GotFocus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Chuyển tiêu</a:t>
                      </a:r>
                      <a:r>
                        <a:rPr lang="en-US" sz="1800" baseline="0">
                          <a:effectLst/>
                          <a:latin typeface="+mj-lt"/>
                          <a:ea typeface="Calibri"/>
                          <a:cs typeface="Times New Roman"/>
                        </a:rPr>
                        <a:t> điểm tới</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b="1">
                          <a:effectLst/>
                          <a:latin typeface="+mj-lt"/>
                          <a:ea typeface="Calibri"/>
                          <a:cs typeface="Times New Roman"/>
                        </a:rPr>
                        <a:t>LostFocus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Mất</a:t>
                      </a:r>
                      <a:r>
                        <a:rPr lang="en-US" sz="1800" baseline="0">
                          <a:effectLst/>
                          <a:latin typeface="+mj-lt"/>
                          <a:ea typeface="Calibri"/>
                          <a:cs typeface="Times New Roman"/>
                        </a:rPr>
                        <a:t> tiêu điểm</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1">
                          <a:effectLst/>
                          <a:latin typeface="+mj-lt"/>
                          <a:ea typeface="Calibri"/>
                          <a:cs typeface="Times New Roman"/>
                        </a:rPr>
                        <a:t>SelectedIndexChanged</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Thay đổi trạng thái lựa chọn các dòng dữ liệu trong</a:t>
                      </a:r>
                      <a:r>
                        <a:rPr lang="en-US" sz="1800" baseline="0">
                          <a:effectLst/>
                          <a:latin typeface="+mj-lt"/>
                          <a:ea typeface="Calibri"/>
                          <a:cs typeface="Times New Roman"/>
                        </a:rPr>
                        <a:t> listbox</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70233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a:p>
        </p:txBody>
      </p:sp>
      <p:sp>
        <p:nvSpPr>
          <p:cNvPr id="4" name="Date Placeholder 3"/>
          <p:cNvSpPr>
            <a:spLocks noGrp="1"/>
          </p:cNvSpPr>
          <p:nvPr>
            <p:ph type="dt" sz="half" idx="10"/>
          </p:nvPr>
        </p:nvSpPr>
        <p:spPr/>
        <p:txBody>
          <a:bodyPr/>
          <a:lstStyle/>
          <a:p>
            <a:fld id="{4D46B55E-39E3-4B20-8D2C-A270EC877BE7}"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33</a:t>
            </a:fld>
            <a:r>
              <a:rPr lang="vi-VN"/>
              <a:t>/51</a:t>
            </a:r>
          </a:p>
        </p:txBody>
      </p:sp>
      <p:sp>
        <p:nvSpPr>
          <p:cNvPr id="2" name="Title 1"/>
          <p:cNvSpPr>
            <a:spLocks noGrp="1"/>
          </p:cNvSpPr>
          <p:nvPr>
            <p:ph type="title"/>
          </p:nvPr>
        </p:nvSpPr>
        <p:spPr/>
        <p:txBody>
          <a:bodyPr/>
          <a:lstStyle/>
          <a:p>
            <a:r>
              <a:rPr lang="en-US"/>
              <a:t>Listbox – Hộp danh sách</a:t>
            </a:r>
          </a:p>
        </p:txBody>
      </p:sp>
      <p:graphicFrame>
        <p:nvGraphicFramePr>
          <p:cNvPr id="6" name="Table 5"/>
          <p:cNvGraphicFramePr>
            <a:graphicFrameLocks noGrp="1"/>
          </p:cNvGraphicFramePr>
          <p:nvPr>
            <p:extLst>
              <p:ext uri="{D42A27DB-BD31-4B8C-83A1-F6EECF244321}">
                <p14:modId xmlns:p14="http://schemas.microsoft.com/office/powerpoint/2010/main" val="873031694"/>
              </p:ext>
            </p:extLst>
          </p:nvPr>
        </p:nvGraphicFramePr>
        <p:xfrm>
          <a:off x="752969" y="1207729"/>
          <a:ext cx="7923487" cy="5146676"/>
        </p:xfrm>
        <a:graphic>
          <a:graphicData uri="http://schemas.openxmlformats.org/drawingml/2006/table">
            <a:tbl>
              <a:tblPr firstRow="1" bandRow="1">
                <a:tableStyleId>{5C22544A-7EE6-4342-B048-85BDC9FD1C3A}</a:tableStyleId>
              </a:tblPr>
              <a:tblGrid>
                <a:gridCol w="2018831">
                  <a:extLst>
                    <a:ext uri="{9D8B030D-6E8A-4147-A177-3AD203B41FA5}">
                      <a16:colId xmlns:a16="http://schemas.microsoft.com/office/drawing/2014/main" val="20000"/>
                    </a:ext>
                  </a:extLst>
                </a:gridCol>
                <a:gridCol w="5904656">
                  <a:extLst>
                    <a:ext uri="{9D8B030D-6E8A-4147-A177-3AD203B41FA5}">
                      <a16:colId xmlns:a16="http://schemas.microsoft.com/office/drawing/2014/main" val="20001"/>
                    </a:ext>
                  </a:extLst>
                </a:gridCol>
              </a:tblGrid>
              <a:tr h="370840">
                <a:tc>
                  <a:txBody>
                    <a:bodyPr/>
                    <a:lstStyle/>
                    <a:p>
                      <a:r>
                        <a:rPr lang="en-US" sz="2000"/>
                        <a:t>Thuộc</a:t>
                      </a:r>
                      <a:r>
                        <a:rPr lang="en-US" sz="2000" baseline="0"/>
                        <a:t> tính</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Name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Tên hộp ListBox, bắt đầu bằng</a:t>
                      </a:r>
                      <a:r>
                        <a:rPr lang="en-US" sz="1800" baseline="0">
                          <a:effectLst/>
                          <a:latin typeface="+mj-lt"/>
                          <a:ea typeface="Calibri"/>
                          <a:cs typeface="Times New Roman"/>
                        </a:rPr>
                        <a:t> </a:t>
                      </a:r>
                      <a:r>
                        <a:rPr lang="en-US" sz="1800">
                          <a:effectLst/>
                          <a:latin typeface="+mj-lt"/>
                          <a:ea typeface="Calibri"/>
                          <a:cs typeface="Times New Roman"/>
                        </a:rPr>
                        <a:t> </a:t>
                      </a:r>
                      <a:r>
                        <a:rPr lang="en-US" sz="1800" b="1">
                          <a:effectLst/>
                          <a:latin typeface="+mj-lt"/>
                          <a:ea typeface="Calibri"/>
                          <a:cs typeface="Times New Roman"/>
                        </a:rPr>
                        <a:t>lst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DataSource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Nguồn dữ liệu cho ListBox</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1">
                          <a:effectLst/>
                          <a:latin typeface="+mj-lt"/>
                          <a:ea typeface="Calibri"/>
                          <a:cs typeface="Times New Roman"/>
                        </a:rPr>
                        <a:t>MultiColumn</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True/False:</a:t>
                      </a:r>
                      <a:r>
                        <a:rPr lang="en-US" sz="1800" baseline="0">
                          <a:effectLst/>
                          <a:latin typeface="+mj-lt"/>
                          <a:ea typeface="Calibri"/>
                          <a:cs typeface="Times New Roman"/>
                        </a:rPr>
                        <a:t> </a:t>
                      </a:r>
                      <a:r>
                        <a:rPr lang="en-US" sz="1800">
                          <a:effectLst/>
                          <a:latin typeface="+mj-lt"/>
                          <a:ea typeface="Calibri"/>
                          <a:cs typeface="Times New Roman"/>
                        </a:rPr>
                        <a:t>Nhiều cột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GB" sz="1800" b="1">
                          <a:effectLst/>
                          <a:latin typeface="+mj-lt"/>
                          <a:ea typeface="Calibri"/>
                          <a:cs typeface="Times New Roman"/>
                        </a:rPr>
                        <a:t>ColumnWidth</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GB" sz="1800">
                          <a:effectLst/>
                          <a:latin typeface="+mj-lt"/>
                          <a:ea typeface="Calibri"/>
                          <a:cs typeface="Times New Roman"/>
                        </a:rPr>
                        <a:t>Độ rộng cho mỗi cột trong ListBox.</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1">
                          <a:effectLst/>
                          <a:latin typeface="+mj-lt"/>
                          <a:ea typeface="Calibri"/>
                          <a:cs typeface="Times New Roman"/>
                        </a:rPr>
                        <a:t>Items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Danh sách</a:t>
                      </a:r>
                      <a:r>
                        <a:rPr lang="en-US" sz="1800" baseline="0">
                          <a:effectLst/>
                          <a:latin typeface="+mj-lt"/>
                          <a:ea typeface="Calibri"/>
                          <a:cs typeface="Times New Roman"/>
                        </a:rPr>
                        <a:t> khởi tạo các phần tử</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r h="370840">
                <a:tc>
                  <a:txBody>
                    <a:bodyPr/>
                    <a:lstStyle/>
                    <a:p>
                      <a:pPr algn="just">
                        <a:lnSpc>
                          <a:spcPct val="115000"/>
                        </a:lnSpc>
                        <a:spcAft>
                          <a:spcPts val="600"/>
                        </a:spcAft>
                      </a:pPr>
                      <a:r>
                        <a:rPr lang="en-US" sz="1800" b="1">
                          <a:effectLst/>
                          <a:latin typeface="+mj-lt"/>
                          <a:ea typeface="Calibri"/>
                          <a:cs typeface="Times New Roman"/>
                        </a:rPr>
                        <a:t>SelectedIndex</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Trả về số thứ tự của phần tử đang được chọn trong danh sách, phần tử đầu tiên có SelectedIndex = 0, nếu không có phần tử nào được chọn thì SelectedIndex = -1</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6"/>
                  </a:ext>
                </a:extLst>
              </a:tr>
              <a:tr h="370840">
                <a:tc>
                  <a:txBody>
                    <a:bodyPr/>
                    <a:lstStyle/>
                    <a:p>
                      <a:pPr algn="just">
                        <a:lnSpc>
                          <a:spcPct val="115000"/>
                        </a:lnSpc>
                        <a:spcAft>
                          <a:spcPts val="600"/>
                        </a:spcAft>
                      </a:pPr>
                      <a:r>
                        <a:rPr lang="en-GB" sz="1800" b="1">
                          <a:effectLst/>
                          <a:latin typeface="+mj-lt"/>
                          <a:ea typeface="Calibri"/>
                          <a:cs typeface="Times New Roman"/>
                        </a:rPr>
                        <a:t>SelectionMode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GB" sz="1800">
                          <a:effectLst/>
                          <a:latin typeface="+mj-lt"/>
                          <a:ea typeface="Calibri"/>
                          <a:cs typeface="Times New Roman"/>
                        </a:rPr>
                        <a:t>Chế độ lựa</a:t>
                      </a:r>
                      <a:r>
                        <a:rPr lang="en-US" sz="1800">
                          <a:effectLst/>
                          <a:latin typeface="+mj-lt"/>
                          <a:ea typeface="Calibri"/>
                          <a:cs typeface="Times New Roman"/>
                        </a:rPr>
                        <a:t> chọn các phần tử trong hộp danh sách khi thực thi chương trình. None,One,MultiSimple (lựa chọn nhiều phần tử riêng biệt), MultiExtended (chọn một khối các phần từ liền nhau)</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7"/>
                  </a:ext>
                </a:extLst>
              </a:tr>
              <a:tr h="370840">
                <a:tc>
                  <a:txBody>
                    <a:bodyPr/>
                    <a:lstStyle/>
                    <a:p>
                      <a:pPr algn="just">
                        <a:lnSpc>
                          <a:spcPct val="115000"/>
                        </a:lnSpc>
                        <a:spcAft>
                          <a:spcPts val="600"/>
                        </a:spcAft>
                      </a:pPr>
                      <a:r>
                        <a:rPr lang="en-US" sz="1800" b="1">
                          <a:effectLst/>
                          <a:latin typeface="+mj-lt"/>
                          <a:ea typeface="Calibri"/>
                          <a:cs typeface="Times New Roman"/>
                        </a:rPr>
                        <a:t>SelectedItems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Trả về tập các phần tử đang được chọn.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8"/>
                  </a:ext>
                </a:extLst>
              </a:tr>
              <a:tr h="370840">
                <a:tc>
                  <a:txBody>
                    <a:bodyPr/>
                    <a:lstStyle/>
                    <a:p>
                      <a:pPr algn="just">
                        <a:lnSpc>
                          <a:spcPct val="115000"/>
                        </a:lnSpc>
                        <a:spcAft>
                          <a:spcPts val="600"/>
                        </a:spcAft>
                      </a:pPr>
                      <a:r>
                        <a:rPr lang="en-US" sz="1800" b="1">
                          <a:effectLst/>
                          <a:latin typeface="+mj-lt"/>
                          <a:ea typeface="Calibri"/>
                          <a:cs typeface="Times New Roman"/>
                        </a:rPr>
                        <a:t>Sorted</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True/False:sắp</a:t>
                      </a:r>
                      <a:r>
                        <a:rPr lang="en-US" sz="1800" baseline="0">
                          <a:effectLst/>
                          <a:latin typeface="+mj-lt"/>
                          <a:ea typeface="Calibri"/>
                          <a:cs typeface="Times New Roman"/>
                        </a:rPr>
                        <a:t> xếp hay không </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967305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Phương thức</a:t>
            </a:r>
          </a:p>
          <a:p>
            <a:pPr lvl="1"/>
            <a:r>
              <a:rPr lang="en-US"/>
              <a:t>ListName.Items.Add(Item); //thêm phần tử</a:t>
            </a:r>
          </a:p>
          <a:p>
            <a:pPr lvl="1"/>
            <a:r>
              <a:rPr lang="en-US"/>
              <a:t>ListName.Items.Remove(Item); //xoá phần tử</a:t>
            </a:r>
          </a:p>
          <a:p>
            <a:pPr lvl="1"/>
            <a:r>
              <a:rPr lang="en-US"/>
              <a:t>ListName.Items.RemoveAt(Index); //xoá tại chỉ số index</a:t>
            </a:r>
          </a:p>
          <a:p>
            <a:pPr lvl="1"/>
            <a:r>
              <a:rPr lang="en-US"/>
              <a:t>ListName.Items.Clear(); //xoá danh sách</a:t>
            </a:r>
          </a:p>
          <a:p>
            <a:pPr marL="471487" lvl="1" indent="0">
              <a:buNone/>
            </a:pPr>
            <a:r>
              <a:rPr lang="en-US"/>
              <a:t>Ví dụ:</a:t>
            </a:r>
          </a:p>
          <a:p>
            <a:pPr marL="0" indent="628650">
              <a:buNone/>
            </a:pPr>
            <a:r>
              <a:rPr lang="en-US" sz="2000">
                <a:latin typeface="Consolas"/>
              </a:rPr>
              <a:t>lstQue.Items.Add(“Ha Noi”);</a:t>
            </a:r>
          </a:p>
          <a:p>
            <a:pPr marL="471487" lvl="1" indent="0">
              <a:buNone/>
            </a:pPr>
            <a:endParaRPr lang="en-US"/>
          </a:p>
        </p:txBody>
      </p:sp>
      <p:sp>
        <p:nvSpPr>
          <p:cNvPr id="4" name="Date Placeholder 3"/>
          <p:cNvSpPr>
            <a:spLocks noGrp="1"/>
          </p:cNvSpPr>
          <p:nvPr>
            <p:ph type="dt" sz="half" idx="10"/>
          </p:nvPr>
        </p:nvSpPr>
        <p:spPr/>
        <p:txBody>
          <a:bodyPr/>
          <a:lstStyle/>
          <a:p>
            <a:fld id="{ED2B9989-7A2C-46D9-923A-1A70353AD17A}"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34</a:t>
            </a:fld>
            <a:r>
              <a:rPr lang="vi-VN"/>
              <a:t>/51</a:t>
            </a:r>
          </a:p>
        </p:txBody>
      </p:sp>
      <p:sp>
        <p:nvSpPr>
          <p:cNvPr id="2" name="Title 1"/>
          <p:cNvSpPr>
            <a:spLocks noGrp="1"/>
          </p:cNvSpPr>
          <p:nvPr>
            <p:ph type="title"/>
          </p:nvPr>
        </p:nvSpPr>
        <p:spPr/>
        <p:txBody>
          <a:bodyPr/>
          <a:lstStyle/>
          <a:p>
            <a:r>
              <a:rPr lang="en-US"/>
              <a:t>Listbox – Hộp danh sách</a:t>
            </a:r>
          </a:p>
        </p:txBody>
      </p:sp>
    </p:spTree>
    <p:extLst>
      <p:ext uri="{BB962C8B-B14F-4D97-AF65-F5344CB8AC3E}">
        <p14:creationId xmlns:p14="http://schemas.microsoft.com/office/powerpoint/2010/main" val="41207895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Cho phép lựa chọn một mục dữ liệu trong hộp danh sách thả xuống</a:t>
            </a:r>
          </a:p>
        </p:txBody>
      </p:sp>
      <p:sp>
        <p:nvSpPr>
          <p:cNvPr id="4" name="Date Placeholder 3"/>
          <p:cNvSpPr>
            <a:spLocks noGrp="1"/>
          </p:cNvSpPr>
          <p:nvPr>
            <p:ph type="dt" sz="half" idx="10"/>
          </p:nvPr>
        </p:nvSpPr>
        <p:spPr/>
        <p:txBody>
          <a:bodyPr/>
          <a:lstStyle/>
          <a:p>
            <a:fld id="{A14BFDF4-2E62-40FC-AFC7-B730F5DF3350}"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35</a:t>
            </a:fld>
            <a:r>
              <a:rPr lang="vi-VN"/>
              <a:t>/51</a:t>
            </a:r>
          </a:p>
        </p:txBody>
      </p:sp>
      <p:sp>
        <p:nvSpPr>
          <p:cNvPr id="2" name="Title 1"/>
          <p:cNvSpPr>
            <a:spLocks noGrp="1"/>
          </p:cNvSpPr>
          <p:nvPr>
            <p:ph type="title"/>
          </p:nvPr>
        </p:nvSpPr>
        <p:spPr/>
        <p:txBody>
          <a:bodyPr/>
          <a:lstStyle/>
          <a:p>
            <a:r>
              <a:rPr lang="en-US"/>
              <a:t>ComboBox – Hộp lựa chọn</a:t>
            </a:r>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0108" t="16973" r="10108" b="30734"/>
          <a:stretch/>
        </p:blipFill>
        <p:spPr bwMode="auto">
          <a:xfrm>
            <a:off x="2123728" y="2060848"/>
            <a:ext cx="2257029" cy="1085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5704" t="24054" r="9820" b="18649"/>
          <a:stretch/>
        </p:blipFill>
        <p:spPr bwMode="auto">
          <a:xfrm>
            <a:off x="5292080" y="2060848"/>
            <a:ext cx="2257029"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Table 5"/>
          <p:cNvGraphicFramePr>
            <a:graphicFrameLocks noGrp="1"/>
          </p:cNvGraphicFramePr>
          <p:nvPr>
            <p:extLst>
              <p:ext uri="{D42A27DB-BD31-4B8C-83A1-F6EECF244321}">
                <p14:modId xmlns:p14="http://schemas.microsoft.com/office/powerpoint/2010/main" val="1677648160"/>
              </p:ext>
            </p:extLst>
          </p:nvPr>
        </p:nvGraphicFramePr>
        <p:xfrm>
          <a:off x="827584" y="3212976"/>
          <a:ext cx="7923487" cy="3114612"/>
        </p:xfrm>
        <a:graphic>
          <a:graphicData uri="http://schemas.openxmlformats.org/drawingml/2006/table">
            <a:tbl>
              <a:tblPr firstRow="1" bandRow="1">
                <a:tableStyleId>{5C22544A-7EE6-4342-B048-85BDC9FD1C3A}</a:tableStyleId>
              </a:tblPr>
              <a:tblGrid>
                <a:gridCol w="2018831">
                  <a:extLst>
                    <a:ext uri="{9D8B030D-6E8A-4147-A177-3AD203B41FA5}">
                      <a16:colId xmlns:a16="http://schemas.microsoft.com/office/drawing/2014/main" val="20000"/>
                    </a:ext>
                  </a:extLst>
                </a:gridCol>
                <a:gridCol w="5904656">
                  <a:extLst>
                    <a:ext uri="{9D8B030D-6E8A-4147-A177-3AD203B41FA5}">
                      <a16:colId xmlns:a16="http://schemas.microsoft.com/office/drawing/2014/main" val="20001"/>
                    </a:ext>
                  </a:extLst>
                </a:gridCol>
              </a:tblGrid>
              <a:tr h="370840">
                <a:tc>
                  <a:txBody>
                    <a:bodyPr/>
                    <a:lstStyle/>
                    <a:p>
                      <a:r>
                        <a:rPr lang="en-US" sz="2000"/>
                        <a:t>Thuộc</a:t>
                      </a:r>
                      <a:r>
                        <a:rPr lang="en-US" sz="2000" baseline="0"/>
                        <a:t> tính</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Name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Tên hộp ComboBox, bắt đầu bằng</a:t>
                      </a:r>
                      <a:r>
                        <a:rPr lang="en-US" sz="1800" baseline="0">
                          <a:effectLst/>
                          <a:latin typeface="+mj-lt"/>
                          <a:ea typeface="Calibri"/>
                          <a:cs typeface="Times New Roman"/>
                        </a:rPr>
                        <a:t> </a:t>
                      </a:r>
                      <a:r>
                        <a:rPr lang="en-US" sz="1800">
                          <a:effectLst/>
                          <a:latin typeface="+mj-lt"/>
                          <a:ea typeface="Calibri"/>
                          <a:cs typeface="Times New Roman"/>
                        </a:rPr>
                        <a:t> </a:t>
                      </a:r>
                      <a:r>
                        <a:rPr lang="en-US" sz="1800" b="1">
                          <a:effectLst/>
                          <a:latin typeface="+mj-lt"/>
                          <a:ea typeface="Calibri"/>
                          <a:cs typeface="Times New Roman"/>
                        </a:rPr>
                        <a:t>cbo</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DataSource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Nguồn dữ liệu cho ComboBox</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GB" sz="1800" b="1" kern="1200">
                          <a:solidFill>
                            <a:schemeClr val="dk1"/>
                          </a:solidFill>
                          <a:effectLst/>
                          <a:latin typeface="+mn-lt"/>
                          <a:ea typeface="+mn-ea"/>
                          <a:cs typeface="+mn-cs"/>
                        </a:rPr>
                        <a:t>DropDownStyle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Các</a:t>
                      </a:r>
                      <a:r>
                        <a:rPr lang="en-US" sz="1800" baseline="0">
                          <a:effectLst/>
                          <a:latin typeface="+mj-lt"/>
                          <a:ea typeface="Calibri"/>
                          <a:cs typeface="Times New Roman"/>
                        </a:rPr>
                        <a:t> kiểu. DropDown: cho phép chọn và nhập dữ liệu, Simple: Hiển thị toàn bộ danh sách các mục, cho phép nhập. DropDownList: Chỉ cho phép lựa chọn các phần tử trong hộp thả xuống</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GB" sz="1800" b="1">
                          <a:effectLst/>
                          <a:latin typeface="+mj-lt"/>
                          <a:ea typeface="Calibri"/>
                          <a:cs typeface="Times New Roman"/>
                        </a:rPr>
                        <a:t>Items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GB" sz="1800">
                          <a:effectLst/>
                          <a:latin typeface="+mj-lt"/>
                          <a:ea typeface="Calibri"/>
                          <a:cs typeface="Times New Roman"/>
                        </a:rPr>
                        <a:t>Khởi</a:t>
                      </a:r>
                      <a:r>
                        <a:rPr lang="en-GB" sz="1800" baseline="0">
                          <a:effectLst/>
                          <a:latin typeface="+mj-lt"/>
                          <a:ea typeface="Calibri"/>
                          <a:cs typeface="Times New Roman"/>
                        </a:rPr>
                        <a:t> tạo các giá trị khi thiết kế</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a:effectLst/>
                          <a:latin typeface="+mj-lt"/>
                          <a:ea typeface="Calibri"/>
                          <a:cs typeface="Times New Roman"/>
                        </a:rPr>
                        <a:t>SelectedIndex</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Số</a:t>
                      </a:r>
                      <a:r>
                        <a:rPr lang="en-US" sz="1800" baseline="0">
                          <a:effectLst/>
                          <a:latin typeface="+mj-lt"/>
                          <a:ea typeface="Calibri"/>
                          <a:cs typeface="Times New Roman"/>
                        </a:rPr>
                        <a:t> thứ tự các phần tử đang được chọn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36995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Sự kiện</a:t>
            </a:r>
          </a:p>
        </p:txBody>
      </p:sp>
      <p:sp>
        <p:nvSpPr>
          <p:cNvPr id="4" name="Date Placeholder 3"/>
          <p:cNvSpPr>
            <a:spLocks noGrp="1"/>
          </p:cNvSpPr>
          <p:nvPr>
            <p:ph type="dt" sz="half" idx="10"/>
          </p:nvPr>
        </p:nvSpPr>
        <p:spPr/>
        <p:txBody>
          <a:bodyPr/>
          <a:lstStyle/>
          <a:p>
            <a:fld id="{4BF8397D-4F5E-4D23-AD33-24BD59427DDA}"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36</a:t>
            </a:fld>
            <a:r>
              <a:rPr lang="vi-VN"/>
              <a:t>/51</a:t>
            </a:r>
          </a:p>
        </p:txBody>
      </p:sp>
      <p:sp>
        <p:nvSpPr>
          <p:cNvPr id="2" name="Title 1"/>
          <p:cNvSpPr>
            <a:spLocks noGrp="1"/>
          </p:cNvSpPr>
          <p:nvPr>
            <p:ph type="title"/>
          </p:nvPr>
        </p:nvSpPr>
        <p:spPr/>
        <p:txBody>
          <a:bodyPr/>
          <a:lstStyle/>
          <a:p>
            <a:r>
              <a:rPr lang="en-US"/>
              <a:t>ComboBox – Hộp lựa chọn</a:t>
            </a:r>
          </a:p>
        </p:txBody>
      </p:sp>
      <p:graphicFrame>
        <p:nvGraphicFramePr>
          <p:cNvPr id="6" name="Table 5"/>
          <p:cNvGraphicFramePr>
            <a:graphicFrameLocks noGrp="1"/>
          </p:cNvGraphicFramePr>
          <p:nvPr>
            <p:extLst>
              <p:ext uri="{D42A27DB-BD31-4B8C-83A1-F6EECF244321}">
                <p14:modId xmlns:p14="http://schemas.microsoft.com/office/powerpoint/2010/main" val="869542788"/>
              </p:ext>
            </p:extLst>
          </p:nvPr>
        </p:nvGraphicFramePr>
        <p:xfrm>
          <a:off x="827584" y="1710552"/>
          <a:ext cx="7923487" cy="4720464"/>
        </p:xfrm>
        <a:graphic>
          <a:graphicData uri="http://schemas.openxmlformats.org/drawingml/2006/table">
            <a:tbl>
              <a:tblPr firstRow="1" bandRow="1">
                <a:tableStyleId>{5C22544A-7EE6-4342-B048-85BDC9FD1C3A}</a:tableStyleId>
              </a:tblPr>
              <a:tblGrid>
                <a:gridCol w="2801888">
                  <a:extLst>
                    <a:ext uri="{9D8B030D-6E8A-4147-A177-3AD203B41FA5}">
                      <a16:colId xmlns:a16="http://schemas.microsoft.com/office/drawing/2014/main" val="20000"/>
                    </a:ext>
                  </a:extLst>
                </a:gridCol>
                <a:gridCol w="5121599">
                  <a:extLst>
                    <a:ext uri="{9D8B030D-6E8A-4147-A177-3AD203B41FA5}">
                      <a16:colId xmlns:a16="http://schemas.microsoft.com/office/drawing/2014/main" val="20001"/>
                    </a:ext>
                  </a:extLst>
                </a:gridCol>
              </a:tblGrid>
              <a:tr h="370840">
                <a:tc>
                  <a:txBody>
                    <a:bodyPr/>
                    <a:lstStyle/>
                    <a:p>
                      <a:r>
                        <a:rPr lang="en-US" sz="2000" b="1"/>
                        <a:t>Sự kiện</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Click</a:t>
                      </a:r>
                      <a:endParaRPr lang="vi-VN" sz="1800" b="1">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Nháy</a:t>
                      </a:r>
                      <a:r>
                        <a:rPr lang="en-US" sz="1800" baseline="0">
                          <a:effectLst/>
                          <a:latin typeface="+mj-lt"/>
                          <a:ea typeface="Calibri"/>
                          <a:cs typeface="Times New Roman"/>
                        </a:rPr>
                        <a:t> chuột vào danh sách</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DoubleClick</a:t>
                      </a:r>
                      <a:endParaRPr lang="vi-VN" sz="1800" b="1">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Nháy</a:t>
                      </a:r>
                      <a:r>
                        <a:rPr lang="en-US" sz="1800" baseline="0">
                          <a:effectLst/>
                          <a:latin typeface="+mj-lt"/>
                          <a:ea typeface="Calibri"/>
                          <a:cs typeface="Times New Roman"/>
                        </a:rPr>
                        <a:t> đúp chuột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1">
                          <a:effectLst/>
                          <a:latin typeface="+mj-lt"/>
                          <a:ea typeface="Calibri"/>
                          <a:cs typeface="Times New Roman"/>
                        </a:rPr>
                        <a:t>GotFocus</a:t>
                      </a:r>
                      <a:endParaRPr lang="vi-VN" sz="1800" b="1">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Chuyển tiêu</a:t>
                      </a:r>
                      <a:r>
                        <a:rPr lang="en-US" sz="1800" baseline="0">
                          <a:effectLst/>
                          <a:latin typeface="+mj-lt"/>
                          <a:ea typeface="Calibri"/>
                          <a:cs typeface="Times New Roman"/>
                        </a:rPr>
                        <a:t> điểm tới</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b="1">
                          <a:effectLst/>
                          <a:latin typeface="+mj-lt"/>
                          <a:ea typeface="Calibri"/>
                          <a:cs typeface="Times New Roman"/>
                        </a:rPr>
                        <a:t>LostFocus</a:t>
                      </a:r>
                      <a:endParaRPr lang="vi-VN" sz="1800" b="1">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Mất</a:t>
                      </a:r>
                      <a:r>
                        <a:rPr lang="en-US" sz="1800" baseline="0">
                          <a:effectLst/>
                          <a:latin typeface="+mj-lt"/>
                          <a:ea typeface="Calibri"/>
                          <a:cs typeface="Times New Roman"/>
                        </a:rPr>
                        <a:t> tiêu điểm</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1">
                          <a:effectLst/>
                          <a:latin typeface="+mj-lt"/>
                          <a:ea typeface="Calibri"/>
                          <a:cs typeface="Times New Roman"/>
                        </a:rPr>
                        <a:t>SelectedIndexChanged</a:t>
                      </a:r>
                      <a:endParaRPr lang="vi-VN" sz="1800" b="1">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Thay đổi trạng thái lựa chọn các dòng dữ liệu trong</a:t>
                      </a:r>
                      <a:r>
                        <a:rPr lang="en-US" sz="1800" baseline="0">
                          <a:effectLst/>
                          <a:latin typeface="+mj-lt"/>
                          <a:ea typeface="Calibri"/>
                          <a:cs typeface="Times New Roman"/>
                        </a:rPr>
                        <a:t> ComboBox</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r h="370840">
                <a:tc>
                  <a:txBody>
                    <a:bodyPr/>
                    <a:lstStyle/>
                    <a:p>
                      <a:pPr algn="just">
                        <a:lnSpc>
                          <a:spcPct val="115000"/>
                        </a:lnSpc>
                        <a:spcAft>
                          <a:spcPts val="600"/>
                        </a:spcAft>
                      </a:pPr>
                      <a:r>
                        <a:rPr lang="en-US" sz="1800" b="1" kern="1200">
                          <a:solidFill>
                            <a:schemeClr val="dk1"/>
                          </a:solidFill>
                          <a:effectLst/>
                          <a:latin typeface="+mj-lt"/>
                          <a:ea typeface="Calibri"/>
                          <a:cs typeface="Times New Roman"/>
                        </a:rPr>
                        <a:t>TextChanged</a:t>
                      </a:r>
                      <a:endParaRPr lang="vi-VN" sz="1800" b="1" kern="1200">
                        <a:solidFill>
                          <a:schemeClr val="dk1"/>
                        </a:solidFill>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kern="1200">
                          <a:solidFill>
                            <a:schemeClr val="dk1"/>
                          </a:solidFill>
                          <a:effectLst/>
                          <a:latin typeface="+mj-lt"/>
                          <a:ea typeface="Calibri"/>
                          <a:cs typeface="Times New Roman"/>
                        </a:rPr>
                        <a:t>Có</a:t>
                      </a:r>
                      <a:r>
                        <a:rPr lang="en-US" sz="1800" kern="1200" baseline="0">
                          <a:solidFill>
                            <a:schemeClr val="dk1"/>
                          </a:solidFill>
                          <a:effectLst/>
                          <a:latin typeface="+mj-lt"/>
                          <a:ea typeface="Calibri"/>
                          <a:cs typeface="Times New Roman"/>
                        </a:rPr>
                        <a:t> sự thay đổi văn bản của ComboBox</a:t>
                      </a:r>
                      <a:endParaRPr lang="vi-VN" sz="1800" kern="1200">
                        <a:solidFill>
                          <a:schemeClr val="dk1"/>
                        </a:solidFill>
                        <a:effectLst/>
                        <a:latin typeface="+mj-lt"/>
                        <a:ea typeface="Calibri"/>
                        <a:cs typeface="Times New Roman"/>
                      </a:endParaRPr>
                    </a:p>
                  </a:txBody>
                  <a:tcPr marL="68580" marR="68580" marT="0" marB="0"/>
                </a:tc>
                <a:extLst>
                  <a:ext uri="{0D108BD9-81ED-4DB2-BD59-A6C34878D82A}">
                    <a16:rowId xmlns:a16="http://schemas.microsoft.com/office/drawing/2014/main" val="10006"/>
                  </a:ext>
                </a:extLst>
              </a:tr>
              <a:tr h="875520">
                <a:tc>
                  <a:txBody>
                    <a:bodyPr/>
                    <a:lstStyle/>
                    <a:p>
                      <a:pPr algn="just">
                        <a:lnSpc>
                          <a:spcPct val="115000"/>
                        </a:lnSpc>
                        <a:spcAft>
                          <a:spcPts val="600"/>
                        </a:spcAft>
                      </a:pPr>
                      <a:r>
                        <a:rPr lang="en-US" sz="1800" b="1" kern="1200">
                          <a:solidFill>
                            <a:schemeClr val="dk1"/>
                          </a:solidFill>
                          <a:effectLst/>
                          <a:latin typeface="+mj-lt"/>
                          <a:ea typeface="Calibri"/>
                          <a:cs typeface="Times New Roman"/>
                        </a:rPr>
                        <a:t>DropDown</a:t>
                      </a:r>
                      <a:endParaRPr lang="vi-VN" sz="1800" b="1" kern="1200">
                        <a:solidFill>
                          <a:schemeClr val="dk1"/>
                        </a:solidFill>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kern="1200">
                          <a:solidFill>
                            <a:schemeClr val="dk1"/>
                          </a:solidFill>
                          <a:effectLst/>
                          <a:latin typeface="+mj-lt"/>
                          <a:ea typeface="Calibri"/>
                          <a:cs typeface="Times New Roman"/>
                        </a:rPr>
                        <a:t>Chỉ xảy ra đối với hộp Combo DropDown và DropDownList, sự kiện này được gọi ngay sau khi người dùng nhấp mũi tên để thả hộp danh sách xuống (phím tắt Alt+</a:t>
                      </a:r>
                      <a:r>
                        <a:rPr lang="en-US" sz="1800" kern="1200">
                          <a:solidFill>
                            <a:schemeClr val="dk1"/>
                          </a:solidFill>
                          <a:effectLst/>
                          <a:latin typeface="+mj-lt"/>
                          <a:ea typeface="Calibri"/>
                          <a:cs typeface="Times New Roman"/>
                          <a:sym typeface="Symbol"/>
                        </a:rPr>
                        <a:t></a:t>
                      </a:r>
                      <a:r>
                        <a:rPr lang="en-US" sz="1800" kern="1200">
                          <a:solidFill>
                            <a:schemeClr val="dk1"/>
                          </a:solidFill>
                          <a:effectLst/>
                          <a:latin typeface="+mj-lt"/>
                          <a:ea typeface="Calibri"/>
                          <a:cs typeface="Times New Roman"/>
                        </a:rPr>
                        <a:t>),</a:t>
                      </a:r>
                      <a:r>
                        <a:rPr lang="en-US" sz="1800" kern="1200" baseline="0">
                          <a:solidFill>
                            <a:schemeClr val="dk1"/>
                          </a:solidFill>
                          <a:effectLst/>
                          <a:latin typeface="+mj-lt"/>
                          <a:ea typeface="Calibri"/>
                          <a:cs typeface="Times New Roman"/>
                        </a:rPr>
                        <a:t> </a:t>
                      </a:r>
                      <a:r>
                        <a:rPr lang="en-US" sz="1800" kern="1200">
                          <a:solidFill>
                            <a:schemeClr val="dk1"/>
                          </a:solidFill>
                          <a:effectLst/>
                          <a:latin typeface="+mj-lt"/>
                          <a:ea typeface="Calibri"/>
                          <a:cs typeface="Times New Roman"/>
                        </a:rPr>
                        <a:t>sự kiện này chủ yếu được sử dụng để nhập dữ liệu cho các phần tử của hộp Combo.</a:t>
                      </a:r>
                      <a:endParaRPr lang="vi-VN" sz="1800" kern="1200">
                        <a:solidFill>
                          <a:schemeClr val="dk1"/>
                        </a:solidFill>
                        <a:effectLst/>
                        <a:latin typeface="+mj-lt"/>
                        <a:ea typeface="Calibri"/>
                        <a:cs typeface="Times New Roman"/>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080730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Phương thức</a:t>
            </a:r>
          </a:p>
          <a:p>
            <a:pPr lvl="1"/>
            <a:r>
              <a:rPr lang="en-US"/>
              <a:t>ComboName.Items.Add(Item); //Thêm</a:t>
            </a:r>
          </a:p>
          <a:p>
            <a:pPr lvl="1"/>
            <a:r>
              <a:rPr lang="en-US"/>
              <a:t>ComboName.Items.Remove(Item); //xoá</a:t>
            </a:r>
          </a:p>
          <a:p>
            <a:pPr lvl="1"/>
            <a:r>
              <a:rPr lang="en-US"/>
              <a:t>ComboName.Items.RemoveAt(Index); //xoá tại vị trí index</a:t>
            </a:r>
          </a:p>
          <a:p>
            <a:pPr lvl="1"/>
            <a:r>
              <a:rPr lang="en-US"/>
              <a:t>ComboName.Items.Clear(); //xoá tất cả</a:t>
            </a:r>
          </a:p>
          <a:p>
            <a:pPr marL="471487" lvl="1" indent="0">
              <a:buNone/>
            </a:pPr>
            <a:r>
              <a:rPr lang="en-US"/>
              <a:t>Ví dụ: nhập dữ liệu cho hộp cboQue</a:t>
            </a:r>
          </a:p>
          <a:p>
            <a:pPr indent="0" algn="l">
              <a:spcAft>
                <a:spcPts val="0"/>
              </a:spcAft>
              <a:buNone/>
            </a:pPr>
            <a:r>
              <a:rPr lang="en-US" sz="1400">
                <a:solidFill>
                  <a:srgbClr val="0000FF"/>
                </a:solidFill>
                <a:latin typeface="Consolas"/>
                <a:ea typeface="Calibri"/>
                <a:cs typeface="Times New Roman"/>
              </a:rPr>
              <a:t>private</a:t>
            </a:r>
            <a:r>
              <a:rPr lang="en-US" sz="1400">
                <a:latin typeface="Consolas"/>
                <a:ea typeface="Calibri"/>
                <a:cs typeface="Times New Roman"/>
              </a:rPr>
              <a:t> </a:t>
            </a:r>
            <a:r>
              <a:rPr lang="en-US" sz="1400">
                <a:solidFill>
                  <a:srgbClr val="0000FF"/>
                </a:solidFill>
                <a:latin typeface="Consolas"/>
                <a:ea typeface="Calibri"/>
                <a:cs typeface="Times New Roman"/>
              </a:rPr>
              <a:t>void</a:t>
            </a:r>
            <a:r>
              <a:rPr lang="en-US" sz="1400">
                <a:latin typeface="Consolas"/>
                <a:ea typeface="Calibri"/>
                <a:cs typeface="Times New Roman"/>
              </a:rPr>
              <a:t> cboQue_DropDown(</a:t>
            </a:r>
            <a:r>
              <a:rPr lang="en-US" sz="1400">
                <a:solidFill>
                  <a:srgbClr val="0000FF"/>
                </a:solidFill>
                <a:latin typeface="Consolas"/>
                <a:ea typeface="Calibri"/>
                <a:cs typeface="Times New Roman"/>
              </a:rPr>
              <a:t>object</a:t>
            </a:r>
            <a:r>
              <a:rPr lang="en-US" sz="1400">
                <a:latin typeface="Consolas"/>
                <a:ea typeface="Calibri"/>
                <a:cs typeface="Times New Roman"/>
              </a:rPr>
              <a:t> sender, </a:t>
            </a:r>
            <a:r>
              <a:rPr lang="en-US" sz="1400">
                <a:solidFill>
                  <a:srgbClr val="2B91AF"/>
                </a:solidFill>
                <a:latin typeface="Consolas"/>
                <a:ea typeface="Calibri"/>
                <a:cs typeface="Times New Roman"/>
              </a:rPr>
              <a:t>EventArgs</a:t>
            </a:r>
            <a:r>
              <a:rPr lang="en-US" sz="1400">
                <a:latin typeface="Consolas"/>
                <a:ea typeface="Calibri"/>
                <a:cs typeface="Times New Roman"/>
              </a:rPr>
              <a:t> e)</a:t>
            </a:r>
            <a:endParaRPr lang="vi-VN" sz="2400">
              <a:latin typeface="Times New Roman"/>
              <a:ea typeface="Calibri"/>
              <a:cs typeface="Times New Roman"/>
            </a:endParaRPr>
          </a:p>
          <a:p>
            <a:pPr marL="0" indent="0" algn="l">
              <a:spcAft>
                <a:spcPts val="0"/>
              </a:spcAft>
              <a:buNone/>
            </a:pPr>
            <a:r>
              <a:rPr lang="en-US" sz="1400">
                <a:latin typeface="Consolas"/>
                <a:ea typeface="Calibri"/>
                <a:cs typeface="Times New Roman"/>
              </a:rPr>
              <a:t>        {</a:t>
            </a:r>
            <a:endParaRPr lang="vi-VN" sz="2400">
              <a:latin typeface="Times New Roman"/>
              <a:ea typeface="Calibri"/>
              <a:cs typeface="Times New Roman"/>
            </a:endParaRPr>
          </a:p>
          <a:p>
            <a:pPr marL="0" indent="0" algn="l">
              <a:spcAft>
                <a:spcPts val="0"/>
              </a:spcAft>
              <a:buNone/>
            </a:pPr>
            <a:r>
              <a:rPr lang="en-US" sz="1400">
                <a:latin typeface="Consolas"/>
                <a:ea typeface="Calibri"/>
                <a:cs typeface="Times New Roman"/>
              </a:rPr>
              <a:t>            cboQue.Items.Clear();</a:t>
            </a:r>
            <a:endParaRPr lang="vi-VN" sz="2400">
              <a:latin typeface="Times New Roman"/>
              <a:ea typeface="Calibri"/>
              <a:cs typeface="Times New Roman"/>
            </a:endParaRPr>
          </a:p>
          <a:p>
            <a:pPr marL="0" indent="0" algn="l">
              <a:spcAft>
                <a:spcPts val="0"/>
              </a:spcAft>
              <a:buNone/>
            </a:pPr>
            <a:r>
              <a:rPr lang="en-US" sz="1400">
                <a:latin typeface="Consolas"/>
                <a:ea typeface="Calibri"/>
                <a:cs typeface="Times New Roman"/>
              </a:rPr>
              <a:t>            cboQue.Items.Add(</a:t>
            </a:r>
            <a:r>
              <a:rPr lang="en-US" sz="1400">
                <a:solidFill>
                  <a:srgbClr val="A31515"/>
                </a:solidFill>
                <a:latin typeface="Consolas"/>
                <a:ea typeface="Calibri"/>
                <a:cs typeface="Times New Roman"/>
              </a:rPr>
              <a:t>"Hà Nội"</a:t>
            </a:r>
            <a:r>
              <a:rPr lang="en-US" sz="1400">
                <a:latin typeface="Consolas"/>
                <a:ea typeface="Calibri"/>
                <a:cs typeface="Times New Roman"/>
              </a:rPr>
              <a:t>);</a:t>
            </a:r>
            <a:endParaRPr lang="vi-VN" sz="2400">
              <a:latin typeface="Times New Roman"/>
              <a:ea typeface="Calibri"/>
              <a:cs typeface="Times New Roman"/>
            </a:endParaRPr>
          </a:p>
          <a:p>
            <a:pPr marL="0" indent="0" algn="l">
              <a:spcAft>
                <a:spcPts val="0"/>
              </a:spcAft>
              <a:buNone/>
            </a:pPr>
            <a:r>
              <a:rPr lang="en-US" sz="1400">
                <a:latin typeface="Consolas"/>
                <a:ea typeface="Calibri"/>
                <a:cs typeface="Times New Roman"/>
              </a:rPr>
              <a:t>            cboQue.Items.Add(</a:t>
            </a:r>
            <a:r>
              <a:rPr lang="en-US" sz="1400">
                <a:solidFill>
                  <a:srgbClr val="A31515"/>
                </a:solidFill>
                <a:latin typeface="Consolas"/>
                <a:ea typeface="Calibri"/>
                <a:cs typeface="Times New Roman"/>
              </a:rPr>
              <a:t>"Nam Định"</a:t>
            </a:r>
            <a:r>
              <a:rPr lang="en-US" sz="1400">
                <a:latin typeface="Consolas"/>
                <a:ea typeface="Calibri"/>
                <a:cs typeface="Times New Roman"/>
              </a:rPr>
              <a:t>);</a:t>
            </a:r>
            <a:endParaRPr lang="vi-VN" sz="2400">
              <a:latin typeface="Times New Roman"/>
              <a:ea typeface="Calibri"/>
              <a:cs typeface="Times New Roman"/>
            </a:endParaRPr>
          </a:p>
          <a:p>
            <a:pPr marL="0" indent="0" algn="l">
              <a:spcAft>
                <a:spcPts val="0"/>
              </a:spcAft>
              <a:buNone/>
            </a:pPr>
            <a:r>
              <a:rPr lang="en-US" sz="1400">
                <a:latin typeface="Consolas"/>
                <a:ea typeface="Calibri"/>
                <a:cs typeface="Times New Roman"/>
              </a:rPr>
              <a:t>            cboQue.Items.Add(</a:t>
            </a:r>
            <a:r>
              <a:rPr lang="en-US" sz="1400">
                <a:solidFill>
                  <a:srgbClr val="A31515"/>
                </a:solidFill>
                <a:latin typeface="Consolas"/>
                <a:ea typeface="Calibri"/>
                <a:cs typeface="Times New Roman"/>
              </a:rPr>
              <a:t>"Đà Lạt"</a:t>
            </a:r>
            <a:r>
              <a:rPr lang="en-US" sz="1400">
                <a:latin typeface="Consolas"/>
                <a:ea typeface="Calibri"/>
                <a:cs typeface="Times New Roman"/>
              </a:rPr>
              <a:t>);</a:t>
            </a:r>
            <a:endParaRPr lang="vi-VN" sz="2400">
              <a:latin typeface="Times New Roman"/>
              <a:ea typeface="Calibri"/>
              <a:cs typeface="Times New Roman"/>
            </a:endParaRPr>
          </a:p>
          <a:p>
            <a:pPr marL="0" indent="0">
              <a:buNone/>
            </a:pPr>
            <a:r>
              <a:rPr lang="en-US" sz="1400">
                <a:latin typeface="Consolas"/>
                <a:ea typeface="Calibri"/>
              </a:rPr>
              <a:t>        }</a:t>
            </a:r>
            <a:endParaRPr lang="vi-VN" sz="3200">
              <a:latin typeface="Times New Roman"/>
              <a:ea typeface="Calibri"/>
              <a:cs typeface="Times New Roman"/>
            </a:endParaRPr>
          </a:p>
          <a:p>
            <a:pPr marL="471487" lvl="1" indent="0">
              <a:buNone/>
            </a:pPr>
            <a:endParaRPr lang="en-US"/>
          </a:p>
          <a:p>
            <a:pPr marL="471487" lvl="1" indent="0">
              <a:buNone/>
            </a:pPr>
            <a:endParaRPr lang="en-US"/>
          </a:p>
          <a:p>
            <a:pPr lvl="1"/>
            <a:endParaRPr lang="en-US"/>
          </a:p>
        </p:txBody>
      </p:sp>
      <p:sp>
        <p:nvSpPr>
          <p:cNvPr id="4" name="Date Placeholder 3"/>
          <p:cNvSpPr>
            <a:spLocks noGrp="1"/>
          </p:cNvSpPr>
          <p:nvPr>
            <p:ph type="dt" sz="half" idx="10"/>
          </p:nvPr>
        </p:nvSpPr>
        <p:spPr/>
        <p:txBody>
          <a:bodyPr/>
          <a:lstStyle/>
          <a:p>
            <a:fld id="{40D2B587-C365-419B-99C6-95D68FEB5C08}"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37</a:t>
            </a:fld>
            <a:r>
              <a:rPr lang="vi-VN"/>
              <a:t>/51</a:t>
            </a:r>
          </a:p>
        </p:txBody>
      </p:sp>
      <p:sp>
        <p:nvSpPr>
          <p:cNvPr id="2" name="Title 1"/>
          <p:cNvSpPr>
            <a:spLocks noGrp="1"/>
          </p:cNvSpPr>
          <p:nvPr>
            <p:ph type="title"/>
          </p:nvPr>
        </p:nvSpPr>
        <p:spPr/>
        <p:txBody>
          <a:bodyPr/>
          <a:lstStyle/>
          <a:p>
            <a:r>
              <a:rPr lang="en-US"/>
              <a:t>ComboBox – Hộp lựa chọn</a:t>
            </a:r>
          </a:p>
        </p:txBody>
      </p:sp>
    </p:spTree>
    <p:extLst>
      <p:ext uri="{BB962C8B-B14F-4D97-AF65-F5344CB8AC3E}">
        <p14:creationId xmlns:p14="http://schemas.microsoft.com/office/powerpoint/2010/main" val="23576580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Gần giống như ListBox, có thêm checkbox ở đầu dòng</a:t>
            </a:r>
          </a:p>
          <a:p>
            <a:r>
              <a:rPr lang="en-US"/>
              <a:t>Đặt tên bắt đầu bằng clb</a:t>
            </a:r>
          </a:p>
          <a:p>
            <a:r>
              <a:rPr lang="en-US"/>
              <a:t>Có thuộc tính, sự kiện tương tự như ListBox</a:t>
            </a:r>
          </a:p>
          <a:p>
            <a:r>
              <a:rPr lang="en-US"/>
              <a:t>Bổ sung thêm</a:t>
            </a:r>
          </a:p>
          <a:p>
            <a:pPr lvl="1"/>
            <a:r>
              <a:rPr lang="en-US"/>
              <a:t>Thuộc tính: CheckedItems: tập các phần tử được check</a:t>
            </a:r>
          </a:p>
          <a:p>
            <a:pPr lvl="1"/>
            <a:r>
              <a:rPr lang="en-US"/>
              <a:t>Sự kiện: ItemCheck: người dùng nháy đúp chuột</a:t>
            </a:r>
          </a:p>
        </p:txBody>
      </p:sp>
      <p:sp>
        <p:nvSpPr>
          <p:cNvPr id="4" name="Date Placeholder 3"/>
          <p:cNvSpPr>
            <a:spLocks noGrp="1"/>
          </p:cNvSpPr>
          <p:nvPr>
            <p:ph type="dt" sz="half" idx="10"/>
          </p:nvPr>
        </p:nvSpPr>
        <p:spPr/>
        <p:txBody>
          <a:bodyPr/>
          <a:lstStyle/>
          <a:p>
            <a:fld id="{8EE4894C-50D9-4908-AC37-72056938408A}"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38</a:t>
            </a:fld>
            <a:r>
              <a:rPr lang="vi-VN"/>
              <a:t>/51</a:t>
            </a:r>
          </a:p>
        </p:txBody>
      </p:sp>
      <p:sp>
        <p:nvSpPr>
          <p:cNvPr id="2" name="Title 1"/>
          <p:cNvSpPr>
            <a:spLocks noGrp="1"/>
          </p:cNvSpPr>
          <p:nvPr>
            <p:ph type="title"/>
          </p:nvPr>
        </p:nvSpPr>
        <p:spPr/>
        <p:txBody>
          <a:bodyPr/>
          <a:lstStyle/>
          <a:p>
            <a:r>
              <a:rPr lang="en-US"/>
              <a:t>CheckedListBox</a:t>
            </a:r>
          </a:p>
        </p:txBody>
      </p:sp>
    </p:spTree>
    <p:extLst>
      <p:ext uri="{BB962C8B-B14F-4D97-AF65-F5344CB8AC3E}">
        <p14:creationId xmlns:p14="http://schemas.microsoft.com/office/powerpoint/2010/main" val="16039840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Lựa chọn một giá trị số trong một khoảng giá trị với bước nhảy xác định</a:t>
            </a:r>
          </a:p>
        </p:txBody>
      </p:sp>
      <p:sp>
        <p:nvSpPr>
          <p:cNvPr id="4" name="Date Placeholder 3"/>
          <p:cNvSpPr>
            <a:spLocks noGrp="1"/>
          </p:cNvSpPr>
          <p:nvPr>
            <p:ph type="dt" sz="half" idx="10"/>
          </p:nvPr>
        </p:nvSpPr>
        <p:spPr/>
        <p:txBody>
          <a:bodyPr/>
          <a:lstStyle/>
          <a:p>
            <a:fld id="{ACE17580-FB65-4A8D-B8A9-F266D9C70394}"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39</a:t>
            </a:fld>
            <a:r>
              <a:rPr lang="vi-VN"/>
              <a:t>/51</a:t>
            </a:r>
          </a:p>
        </p:txBody>
      </p:sp>
      <p:sp>
        <p:nvSpPr>
          <p:cNvPr id="2" name="Title 1"/>
          <p:cNvSpPr>
            <a:spLocks noGrp="1"/>
          </p:cNvSpPr>
          <p:nvPr>
            <p:ph type="title"/>
          </p:nvPr>
        </p:nvSpPr>
        <p:spPr/>
        <p:txBody>
          <a:bodyPr/>
          <a:lstStyle/>
          <a:p>
            <a:r>
              <a:rPr lang="en-US"/>
              <a:t>NumericUpDown</a:t>
            </a:r>
          </a:p>
        </p:txBody>
      </p:sp>
      <p:graphicFrame>
        <p:nvGraphicFramePr>
          <p:cNvPr id="7" name="Table 6"/>
          <p:cNvGraphicFramePr>
            <a:graphicFrameLocks noGrp="1"/>
          </p:cNvGraphicFramePr>
          <p:nvPr>
            <p:extLst>
              <p:ext uri="{D42A27DB-BD31-4B8C-83A1-F6EECF244321}">
                <p14:modId xmlns:p14="http://schemas.microsoft.com/office/powerpoint/2010/main" val="3456399714"/>
              </p:ext>
            </p:extLst>
          </p:nvPr>
        </p:nvGraphicFramePr>
        <p:xfrm>
          <a:off x="683568" y="2214608"/>
          <a:ext cx="7923487" cy="2250440"/>
        </p:xfrm>
        <a:graphic>
          <a:graphicData uri="http://schemas.openxmlformats.org/drawingml/2006/table">
            <a:tbl>
              <a:tblPr firstRow="1" bandRow="1">
                <a:tableStyleId>{5C22544A-7EE6-4342-B048-85BDC9FD1C3A}</a:tableStyleId>
              </a:tblPr>
              <a:tblGrid>
                <a:gridCol w="2801888">
                  <a:extLst>
                    <a:ext uri="{9D8B030D-6E8A-4147-A177-3AD203B41FA5}">
                      <a16:colId xmlns:a16="http://schemas.microsoft.com/office/drawing/2014/main" val="20000"/>
                    </a:ext>
                  </a:extLst>
                </a:gridCol>
                <a:gridCol w="5121599">
                  <a:extLst>
                    <a:ext uri="{9D8B030D-6E8A-4147-A177-3AD203B41FA5}">
                      <a16:colId xmlns:a16="http://schemas.microsoft.com/office/drawing/2014/main" val="20001"/>
                    </a:ext>
                  </a:extLst>
                </a:gridCol>
              </a:tblGrid>
              <a:tr h="370840">
                <a:tc>
                  <a:txBody>
                    <a:bodyPr/>
                    <a:lstStyle/>
                    <a:p>
                      <a:r>
                        <a:rPr lang="en-US" sz="2000"/>
                        <a:t>Thuộc</a:t>
                      </a:r>
                      <a:r>
                        <a:rPr lang="en-US" sz="2000" baseline="0"/>
                        <a:t> tính</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a:effectLst/>
                          <a:latin typeface="+mj-lt"/>
                        </a:rPr>
                        <a:t>Name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rPr>
                        <a:t>Tên,</a:t>
                      </a:r>
                      <a:r>
                        <a:rPr lang="en-US" sz="1800" baseline="0">
                          <a:effectLst/>
                          <a:latin typeface="+mj-lt"/>
                        </a:rPr>
                        <a:t> b</a:t>
                      </a:r>
                      <a:r>
                        <a:rPr lang="en-US" sz="1800">
                          <a:effectLst/>
                          <a:latin typeface="+mj-lt"/>
                        </a:rPr>
                        <a:t>ắt đầu bởi tiếp đầu ngữ nud</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a:effectLst/>
                          <a:latin typeface="+mj-lt"/>
                        </a:rPr>
                        <a:t>Increment</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rPr>
                        <a:t>Bước nhảy</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GB" sz="1800">
                          <a:effectLst/>
                          <a:latin typeface="+mj-lt"/>
                        </a:rPr>
                        <a:t>Maximum</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rPr>
                        <a:t>Cận trên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GB" sz="1800">
                          <a:effectLst/>
                          <a:latin typeface="+mj-lt"/>
                        </a:rPr>
                        <a:t>Minimum</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rPr>
                        <a:t>Cận dưới</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GB" sz="1800">
                          <a:effectLst/>
                          <a:latin typeface="+mj-lt"/>
                        </a:rPr>
                        <a:t>Value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rPr>
                        <a:t>Giá trị hiện tại</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394469855"/>
              </p:ext>
            </p:extLst>
          </p:nvPr>
        </p:nvGraphicFramePr>
        <p:xfrm>
          <a:off x="762000" y="4894168"/>
          <a:ext cx="7923487" cy="767080"/>
        </p:xfrm>
        <a:graphic>
          <a:graphicData uri="http://schemas.openxmlformats.org/drawingml/2006/table">
            <a:tbl>
              <a:tblPr firstRow="1" bandRow="1">
                <a:tableStyleId>{5C22544A-7EE6-4342-B048-85BDC9FD1C3A}</a:tableStyleId>
              </a:tblPr>
              <a:tblGrid>
                <a:gridCol w="2801888">
                  <a:extLst>
                    <a:ext uri="{9D8B030D-6E8A-4147-A177-3AD203B41FA5}">
                      <a16:colId xmlns:a16="http://schemas.microsoft.com/office/drawing/2014/main" val="20000"/>
                    </a:ext>
                  </a:extLst>
                </a:gridCol>
                <a:gridCol w="5121599">
                  <a:extLst>
                    <a:ext uri="{9D8B030D-6E8A-4147-A177-3AD203B41FA5}">
                      <a16:colId xmlns:a16="http://schemas.microsoft.com/office/drawing/2014/main" val="20001"/>
                    </a:ext>
                  </a:extLst>
                </a:gridCol>
              </a:tblGrid>
              <a:tr h="370840">
                <a:tc>
                  <a:txBody>
                    <a:bodyPr/>
                    <a:lstStyle/>
                    <a:p>
                      <a:r>
                        <a:rPr lang="en-US" sz="2000" b="1"/>
                        <a:t>Sự kiện</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ValueChanged</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Thay đổi giá trị của điều khiển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960783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Thanh cuộn ngang: </a:t>
            </a:r>
            <a:r>
              <a:rPr lang="es-MX"/>
              <a:t>HScrollBar và thanh cuộn dọc VScrollBar</a:t>
            </a:r>
            <a:endParaRPr lang="en-US"/>
          </a:p>
        </p:txBody>
      </p:sp>
      <p:sp>
        <p:nvSpPr>
          <p:cNvPr id="4" name="Date Placeholder 3"/>
          <p:cNvSpPr>
            <a:spLocks noGrp="1"/>
          </p:cNvSpPr>
          <p:nvPr>
            <p:ph type="dt" sz="half" idx="10"/>
          </p:nvPr>
        </p:nvSpPr>
        <p:spPr/>
        <p:txBody>
          <a:bodyPr/>
          <a:lstStyle/>
          <a:p>
            <a:fld id="{4950E39A-D850-4B77-ACDF-1046AB489E5F}"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8" name="Slide Number Placeholder 7"/>
          <p:cNvSpPr>
            <a:spLocks noGrp="1"/>
          </p:cNvSpPr>
          <p:nvPr>
            <p:ph type="sldNum" sz="quarter" idx="12"/>
          </p:nvPr>
        </p:nvSpPr>
        <p:spPr/>
        <p:txBody>
          <a:bodyPr/>
          <a:lstStyle/>
          <a:p>
            <a:fld id="{5AB95402-1E0D-474E-8D8C-CBE7F053639E}" type="slidenum">
              <a:rPr lang="vi-VN" smtClean="0"/>
              <a:pPr/>
              <a:t>40</a:t>
            </a:fld>
            <a:r>
              <a:rPr lang="vi-VN"/>
              <a:t>/51</a:t>
            </a:r>
          </a:p>
        </p:txBody>
      </p:sp>
      <p:sp>
        <p:nvSpPr>
          <p:cNvPr id="2" name="Title 1"/>
          <p:cNvSpPr>
            <a:spLocks noGrp="1"/>
          </p:cNvSpPr>
          <p:nvPr>
            <p:ph type="title"/>
          </p:nvPr>
        </p:nvSpPr>
        <p:spPr/>
        <p:txBody>
          <a:bodyPr>
            <a:normAutofit/>
          </a:bodyPr>
          <a:lstStyle/>
          <a:p>
            <a:r>
              <a:rPr lang="en-US"/>
              <a:t>Thanh cuộn </a:t>
            </a:r>
            <a:r>
              <a:rPr lang="es-MX"/>
              <a:t>HScrollBar và VScrollBar</a:t>
            </a:r>
            <a:endParaRPr lang="en-US"/>
          </a:p>
        </p:txBody>
      </p:sp>
      <p:graphicFrame>
        <p:nvGraphicFramePr>
          <p:cNvPr id="6" name="Table 5"/>
          <p:cNvGraphicFramePr>
            <a:graphicFrameLocks noGrp="1"/>
          </p:cNvGraphicFramePr>
          <p:nvPr>
            <p:extLst>
              <p:ext uri="{D42A27DB-BD31-4B8C-83A1-F6EECF244321}">
                <p14:modId xmlns:p14="http://schemas.microsoft.com/office/powerpoint/2010/main" val="444313805"/>
              </p:ext>
            </p:extLst>
          </p:nvPr>
        </p:nvGraphicFramePr>
        <p:xfrm>
          <a:off x="762000" y="2086589"/>
          <a:ext cx="7923487" cy="2854516"/>
        </p:xfrm>
        <a:graphic>
          <a:graphicData uri="http://schemas.openxmlformats.org/drawingml/2006/table">
            <a:tbl>
              <a:tblPr firstRow="1" bandRow="1">
                <a:tableStyleId>{5C22544A-7EE6-4342-B048-85BDC9FD1C3A}</a:tableStyleId>
              </a:tblPr>
              <a:tblGrid>
                <a:gridCol w="2801888">
                  <a:extLst>
                    <a:ext uri="{9D8B030D-6E8A-4147-A177-3AD203B41FA5}">
                      <a16:colId xmlns:a16="http://schemas.microsoft.com/office/drawing/2014/main" val="20000"/>
                    </a:ext>
                  </a:extLst>
                </a:gridCol>
                <a:gridCol w="5121599">
                  <a:extLst>
                    <a:ext uri="{9D8B030D-6E8A-4147-A177-3AD203B41FA5}">
                      <a16:colId xmlns:a16="http://schemas.microsoft.com/office/drawing/2014/main" val="20001"/>
                    </a:ext>
                  </a:extLst>
                </a:gridCol>
              </a:tblGrid>
              <a:tr h="370840">
                <a:tc>
                  <a:txBody>
                    <a:bodyPr/>
                    <a:lstStyle/>
                    <a:p>
                      <a:r>
                        <a:rPr lang="en-US" sz="2000"/>
                        <a:t>Thuộc</a:t>
                      </a:r>
                      <a:r>
                        <a:rPr lang="en-US" sz="2000" baseline="0"/>
                        <a:t> tính</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Name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Tên thanh cuộn, bắt đầu  bởi</a:t>
                      </a:r>
                      <a:r>
                        <a:rPr lang="en-US" sz="1800" baseline="0">
                          <a:effectLst/>
                          <a:latin typeface="+mj-lt"/>
                          <a:ea typeface="Calibri"/>
                          <a:cs typeface="Times New Roman"/>
                        </a:rPr>
                        <a:t> </a:t>
                      </a:r>
                      <a:r>
                        <a:rPr lang="en-US" sz="1800" b="1">
                          <a:effectLst/>
                          <a:latin typeface="+mj-lt"/>
                          <a:ea typeface="Calibri"/>
                          <a:cs typeface="Times New Roman"/>
                        </a:rPr>
                        <a:t>hsb </a:t>
                      </a:r>
                      <a:r>
                        <a:rPr lang="en-US" sz="1800">
                          <a:effectLst/>
                          <a:latin typeface="+mj-lt"/>
                          <a:ea typeface="Calibri"/>
                          <a:cs typeface="Times New Roman"/>
                        </a:rPr>
                        <a:t>và </a:t>
                      </a:r>
                      <a:r>
                        <a:rPr lang="en-US" sz="1800" b="1">
                          <a:effectLst/>
                          <a:latin typeface="+mj-lt"/>
                          <a:ea typeface="Calibri"/>
                          <a:cs typeface="Times New Roman"/>
                        </a:rPr>
                        <a:t>vsb.</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Minimum</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Giá</a:t>
                      </a:r>
                      <a:r>
                        <a:rPr lang="en-US" sz="1800" baseline="0">
                          <a:effectLst/>
                          <a:latin typeface="+mj-lt"/>
                          <a:ea typeface="Calibri"/>
                          <a:cs typeface="Times New Roman"/>
                        </a:rPr>
                        <a:t> trị nhỏ nhất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1">
                          <a:effectLst/>
                          <a:latin typeface="+mj-lt"/>
                          <a:ea typeface="Calibri"/>
                          <a:cs typeface="Times New Roman"/>
                        </a:rPr>
                        <a:t>Maximum</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Giá</a:t>
                      </a:r>
                      <a:r>
                        <a:rPr lang="en-US" sz="1800" baseline="0">
                          <a:effectLst/>
                          <a:latin typeface="+mj-lt"/>
                          <a:ea typeface="Calibri"/>
                          <a:cs typeface="Times New Roman"/>
                        </a:rPr>
                        <a:t> trị lớn nhất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r h="370840">
                <a:tc>
                  <a:txBody>
                    <a:bodyPr/>
                    <a:lstStyle/>
                    <a:p>
                      <a:pPr algn="just">
                        <a:lnSpc>
                          <a:spcPct val="115000"/>
                        </a:lnSpc>
                        <a:spcAft>
                          <a:spcPts val="600"/>
                        </a:spcAft>
                      </a:pPr>
                      <a:r>
                        <a:rPr lang="en-US" sz="1800" b="1">
                          <a:effectLst/>
                          <a:latin typeface="+mj-lt"/>
                          <a:ea typeface="Calibri"/>
                          <a:cs typeface="Times New Roman"/>
                        </a:rPr>
                        <a:t>Value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Giá</a:t>
                      </a:r>
                      <a:r>
                        <a:rPr lang="en-US" sz="1800" baseline="0">
                          <a:effectLst/>
                          <a:latin typeface="+mj-lt"/>
                          <a:ea typeface="Calibri"/>
                          <a:cs typeface="Times New Roman"/>
                        </a:rPr>
                        <a:t> trị</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4"/>
                  </a:ext>
                </a:extLst>
              </a:tr>
              <a:tr h="370840">
                <a:tc>
                  <a:txBody>
                    <a:bodyPr/>
                    <a:lstStyle/>
                    <a:p>
                      <a:pPr algn="just">
                        <a:lnSpc>
                          <a:spcPct val="115000"/>
                        </a:lnSpc>
                        <a:spcAft>
                          <a:spcPts val="600"/>
                        </a:spcAft>
                      </a:pPr>
                      <a:r>
                        <a:rPr lang="en-US" sz="1800" b="1">
                          <a:effectLst/>
                          <a:latin typeface="+mj-lt"/>
                          <a:ea typeface="Calibri"/>
                          <a:cs typeface="Times New Roman"/>
                        </a:rPr>
                        <a:t>LargeChange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Mức độ</a:t>
                      </a:r>
                      <a:r>
                        <a:rPr lang="en-US" sz="1800" baseline="0">
                          <a:effectLst/>
                          <a:latin typeface="+mj-lt"/>
                          <a:ea typeface="Calibri"/>
                          <a:cs typeface="Times New Roman"/>
                        </a:rPr>
                        <a:t> thay đổi giá trị khi cuộn chuột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5"/>
                  </a:ext>
                </a:extLst>
              </a:tr>
              <a:tr h="370840">
                <a:tc>
                  <a:txBody>
                    <a:bodyPr/>
                    <a:lstStyle/>
                    <a:p>
                      <a:pPr algn="just">
                        <a:lnSpc>
                          <a:spcPct val="115000"/>
                        </a:lnSpc>
                        <a:spcAft>
                          <a:spcPts val="600"/>
                        </a:spcAft>
                      </a:pPr>
                      <a:r>
                        <a:rPr lang="en-US" sz="1800" b="1">
                          <a:effectLst/>
                          <a:latin typeface="+mj-lt"/>
                          <a:ea typeface="Calibri"/>
                          <a:cs typeface="Times New Roman"/>
                        </a:rPr>
                        <a:t>SmallChange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Mức độ</a:t>
                      </a:r>
                      <a:r>
                        <a:rPr lang="en-US" sz="1800" baseline="0">
                          <a:effectLst/>
                          <a:latin typeface="+mj-lt"/>
                          <a:ea typeface="Calibri"/>
                          <a:cs typeface="Times New Roman"/>
                        </a:rPr>
                        <a:t> thay đổi khi nhấn nút mũi tên trên thanh cuộn (mặc định 1)</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6"/>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409126103"/>
              </p:ext>
            </p:extLst>
          </p:nvPr>
        </p:nvGraphicFramePr>
        <p:xfrm>
          <a:off x="762000" y="5157192"/>
          <a:ext cx="7923487" cy="1137920"/>
        </p:xfrm>
        <a:graphic>
          <a:graphicData uri="http://schemas.openxmlformats.org/drawingml/2006/table">
            <a:tbl>
              <a:tblPr firstRow="1" bandRow="1">
                <a:tableStyleId>{5C22544A-7EE6-4342-B048-85BDC9FD1C3A}</a:tableStyleId>
              </a:tblPr>
              <a:tblGrid>
                <a:gridCol w="2801888">
                  <a:extLst>
                    <a:ext uri="{9D8B030D-6E8A-4147-A177-3AD203B41FA5}">
                      <a16:colId xmlns:a16="http://schemas.microsoft.com/office/drawing/2014/main" val="20000"/>
                    </a:ext>
                  </a:extLst>
                </a:gridCol>
                <a:gridCol w="5121599">
                  <a:extLst>
                    <a:ext uri="{9D8B030D-6E8A-4147-A177-3AD203B41FA5}">
                      <a16:colId xmlns:a16="http://schemas.microsoft.com/office/drawing/2014/main" val="20001"/>
                    </a:ext>
                  </a:extLst>
                </a:gridCol>
              </a:tblGrid>
              <a:tr h="370840">
                <a:tc>
                  <a:txBody>
                    <a:bodyPr/>
                    <a:lstStyle/>
                    <a:p>
                      <a:r>
                        <a:rPr lang="en-US" sz="2000" b="1"/>
                        <a:t>Sự kiện</a:t>
                      </a:r>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ValueChanged</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Thay đổi giá trị của điều khiển</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Scroll</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Cuộn</a:t>
                      </a:r>
                      <a:r>
                        <a:rPr lang="en-US" sz="1800" baseline="0">
                          <a:effectLst/>
                          <a:latin typeface="+mj-lt"/>
                          <a:ea typeface="Calibri"/>
                          <a:cs typeface="Times New Roman"/>
                        </a:rPr>
                        <a:t> thanh</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347441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Tooltip</a:t>
            </a:r>
          </a:p>
          <a:p>
            <a:pPr lvl="1"/>
            <a:r>
              <a:rPr lang="en-US"/>
              <a:t>Điều khiển Tooltip             hiển thị thông tin chú thich khi đưa chuột qua</a:t>
            </a:r>
          </a:p>
        </p:txBody>
      </p:sp>
      <p:sp>
        <p:nvSpPr>
          <p:cNvPr id="4" name="Date Placeholder 3"/>
          <p:cNvSpPr>
            <a:spLocks noGrp="1"/>
          </p:cNvSpPr>
          <p:nvPr>
            <p:ph type="dt" sz="half" idx="10"/>
          </p:nvPr>
        </p:nvSpPr>
        <p:spPr/>
        <p:txBody>
          <a:bodyPr/>
          <a:lstStyle/>
          <a:p>
            <a:fld id="{1F2072D3-4D16-425B-8E17-B81DBFD39216}"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8" name="Slide Number Placeholder 7"/>
          <p:cNvSpPr>
            <a:spLocks noGrp="1"/>
          </p:cNvSpPr>
          <p:nvPr>
            <p:ph type="sldNum" sz="quarter" idx="12"/>
          </p:nvPr>
        </p:nvSpPr>
        <p:spPr/>
        <p:txBody>
          <a:bodyPr/>
          <a:lstStyle/>
          <a:p>
            <a:fld id="{5AB95402-1E0D-474E-8D8C-CBE7F053639E}" type="slidenum">
              <a:rPr lang="vi-VN" smtClean="0"/>
              <a:pPr/>
              <a:t>41</a:t>
            </a:fld>
            <a:r>
              <a:rPr lang="vi-VN"/>
              <a:t>/51</a:t>
            </a:r>
          </a:p>
        </p:txBody>
      </p:sp>
      <p:sp>
        <p:nvSpPr>
          <p:cNvPr id="2" name="Title 1"/>
          <p:cNvSpPr>
            <a:spLocks noGrp="1"/>
          </p:cNvSpPr>
          <p:nvPr>
            <p:ph type="title"/>
          </p:nvPr>
        </p:nvSpPr>
        <p:spPr/>
        <p:txBody>
          <a:bodyPr/>
          <a:lstStyle/>
          <a:p>
            <a:r>
              <a:rPr lang="en-US"/>
              <a:t>Tooltip – dòng chú thích</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4427984" y="1628800"/>
            <a:ext cx="1048693" cy="334516"/>
          </a:xfrm>
          <a:prstGeom prst="rect">
            <a:avLst/>
          </a:prstGeom>
          <a:noFill/>
          <a:ln>
            <a:noFill/>
          </a:ln>
        </p:spPr>
      </p:pic>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2914452" y="2852936"/>
            <a:ext cx="2562225" cy="1590675"/>
          </a:xfrm>
          <a:prstGeom prst="rect">
            <a:avLst/>
          </a:prstGeom>
          <a:noFill/>
          <a:ln>
            <a:noFill/>
          </a:ln>
        </p:spPr>
      </p:pic>
    </p:spTree>
    <p:extLst>
      <p:ext uri="{BB962C8B-B14F-4D97-AF65-F5344CB8AC3E}">
        <p14:creationId xmlns:p14="http://schemas.microsoft.com/office/powerpoint/2010/main" val="32837525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a:t>Cho thực thi hành động sau khoảng thời gian</a:t>
            </a:r>
          </a:p>
          <a:p>
            <a:endParaRPr lang="en-US"/>
          </a:p>
          <a:p>
            <a:endParaRPr lang="en-US"/>
          </a:p>
          <a:p>
            <a:endParaRPr lang="en-US"/>
          </a:p>
          <a:p>
            <a:endParaRPr lang="en-US"/>
          </a:p>
          <a:p>
            <a:endParaRPr lang="en-US"/>
          </a:p>
          <a:p>
            <a:endParaRPr lang="en-US"/>
          </a:p>
          <a:p>
            <a:endParaRPr lang="en-US"/>
          </a:p>
          <a:p>
            <a:pPr>
              <a:spcBef>
                <a:spcPts val="0"/>
              </a:spcBef>
            </a:pPr>
            <a:r>
              <a:rPr lang="en-US"/>
              <a:t>Phương thức</a:t>
            </a:r>
          </a:p>
          <a:p>
            <a:pPr lvl="1"/>
            <a:r>
              <a:rPr lang="en-US"/>
              <a:t>Start: kích hoạt (tương tự Enable = True)</a:t>
            </a:r>
          </a:p>
          <a:p>
            <a:pPr lvl="1"/>
            <a:r>
              <a:rPr lang="en-US"/>
              <a:t>Stop: dừng (tương tự Enable = False)</a:t>
            </a:r>
          </a:p>
        </p:txBody>
      </p:sp>
      <p:sp>
        <p:nvSpPr>
          <p:cNvPr id="4" name="Date Placeholder 3"/>
          <p:cNvSpPr>
            <a:spLocks noGrp="1"/>
          </p:cNvSpPr>
          <p:nvPr>
            <p:ph type="dt" sz="half" idx="10"/>
          </p:nvPr>
        </p:nvSpPr>
        <p:spPr/>
        <p:txBody>
          <a:bodyPr/>
          <a:lstStyle/>
          <a:p>
            <a:fld id="{F75DABBC-0762-4E6C-A402-D35807ADAE1B}"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8" name="Slide Number Placeholder 7"/>
          <p:cNvSpPr>
            <a:spLocks noGrp="1"/>
          </p:cNvSpPr>
          <p:nvPr>
            <p:ph type="sldNum" sz="quarter" idx="12"/>
          </p:nvPr>
        </p:nvSpPr>
        <p:spPr/>
        <p:txBody>
          <a:bodyPr/>
          <a:lstStyle/>
          <a:p>
            <a:fld id="{5AB95402-1E0D-474E-8D8C-CBE7F053639E}" type="slidenum">
              <a:rPr lang="vi-VN" smtClean="0"/>
              <a:pPr/>
              <a:t>42</a:t>
            </a:fld>
            <a:r>
              <a:rPr lang="vi-VN"/>
              <a:t>/51</a:t>
            </a:r>
          </a:p>
        </p:txBody>
      </p:sp>
      <p:sp>
        <p:nvSpPr>
          <p:cNvPr id="2" name="Title 1"/>
          <p:cNvSpPr>
            <a:spLocks noGrp="1"/>
          </p:cNvSpPr>
          <p:nvPr>
            <p:ph type="title"/>
          </p:nvPr>
        </p:nvSpPr>
        <p:spPr/>
        <p:txBody>
          <a:bodyPr/>
          <a:lstStyle/>
          <a:p>
            <a:r>
              <a:rPr lang="en-US"/>
              <a:t>Timer – Bộ đếm thời gian</a:t>
            </a:r>
          </a:p>
        </p:txBody>
      </p:sp>
      <p:graphicFrame>
        <p:nvGraphicFramePr>
          <p:cNvPr id="6" name="Table 5"/>
          <p:cNvGraphicFramePr>
            <a:graphicFrameLocks noGrp="1"/>
          </p:cNvGraphicFramePr>
          <p:nvPr>
            <p:extLst>
              <p:ext uri="{D42A27DB-BD31-4B8C-83A1-F6EECF244321}">
                <p14:modId xmlns:p14="http://schemas.microsoft.com/office/powerpoint/2010/main" val="2042478194"/>
              </p:ext>
            </p:extLst>
          </p:nvPr>
        </p:nvGraphicFramePr>
        <p:xfrm>
          <a:off x="755576" y="1772816"/>
          <a:ext cx="7923487" cy="2133664"/>
        </p:xfrm>
        <a:graphic>
          <a:graphicData uri="http://schemas.openxmlformats.org/drawingml/2006/table">
            <a:tbl>
              <a:tblPr firstRow="1" bandRow="1">
                <a:tableStyleId>{5C22544A-7EE6-4342-B048-85BDC9FD1C3A}</a:tableStyleId>
              </a:tblPr>
              <a:tblGrid>
                <a:gridCol w="2016224">
                  <a:extLst>
                    <a:ext uri="{9D8B030D-6E8A-4147-A177-3AD203B41FA5}">
                      <a16:colId xmlns:a16="http://schemas.microsoft.com/office/drawing/2014/main" val="20000"/>
                    </a:ext>
                  </a:extLst>
                </a:gridCol>
                <a:gridCol w="5907263">
                  <a:extLst>
                    <a:ext uri="{9D8B030D-6E8A-4147-A177-3AD203B41FA5}">
                      <a16:colId xmlns:a16="http://schemas.microsoft.com/office/drawing/2014/main" val="20001"/>
                    </a:ext>
                  </a:extLst>
                </a:gridCol>
              </a:tblGrid>
              <a:tr h="370840">
                <a:tc>
                  <a:txBody>
                    <a:bodyPr/>
                    <a:lstStyle/>
                    <a:p>
                      <a:r>
                        <a:rPr lang="en-US" sz="2000"/>
                        <a:t>Thuộc</a:t>
                      </a:r>
                      <a:r>
                        <a:rPr lang="en-US" sz="2000" baseline="0"/>
                        <a:t> tính</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Name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Tên điều khiển Timer, bắt đầu bởi tiếp đầu ngữ </a:t>
                      </a:r>
                      <a:r>
                        <a:rPr lang="en-US" sz="1800" b="1">
                          <a:effectLst/>
                          <a:latin typeface="+mj-lt"/>
                          <a:ea typeface="Calibri"/>
                          <a:cs typeface="Times New Roman"/>
                        </a:rPr>
                        <a:t>tmr</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Interval</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 = n là chu kỳ thực hiện sự kiện Tick của điều khiển Timer. </a:t>
                      </a:r>
                      <a:endParaRPr lang="vi-VN" sz="1800">
                        <a:effectLst/>
                        <a:latin typeface="+mj-lt"/>
                        <a:ea typeface="Calibri"/>
                        <a:cs typeface="Times New Roman"/>
                      </a:endParaRPr>
                    </a:p>
                    <a:p>
                      <a:pPr algn="just">
                        <a:lnSpc>
                          <a:spcPct val="115000"/>
                        </a:lnSpc>
                        <a:spcAft>
                          <a:spcPts val="600"/>
                        </a:spcAft>
                      </a:pPr>
                      <a:r>
                        <a:rPr lang="en-US" sz="1800">
                          <a:effectLst/>
                          <a:latin typeface="+mj-lt"/>
                          <a:ea typeface="Calibri"/>
                          <a:cs typeface="Times New Roman"/>
                        </a:rPr>
                        <a:t>n là số nguyên, được tính bằng mili giây và có giá trị &gt;0</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1">
                          <a:effectLst/>
                          <a:latin typeface="+mj-lt"/>
                          <a:ea typeface="Calibri"/>
                          <a:cs typeface="Times New Roman"/>
                        </a:rPr>
                        <a:t>Enabled</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True/False: cho phép/không</a:t>
                      </a:r>
                      <a:r>
                        <a:rPr lang="en-US" sz="1800" baseline="0">
                          <a:effectLst/>
                          <a:latin typeface="+mj-lt"/>
                          <a:ea typeface="Calibri"/>
                          <a:cs typeface="Times New Roman"/>
                        </a:rPr>
                        <a:t> cho phép hoạt động</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762070221"/>
              </p:ext>
            </p:extLst>
          </p:nvPr>
        </p:nvGraphicFramePr>
        <p:xfrm>
          <a:off x="762000" y="4003020"/>
          <a:ext cx="7923487" cy="767080"/>
        </p:xfrm>
        <a:graphic>
          <a:graphicData uri="http://schemas.openxmlformats.org/drawingml/2006/table">
            <a:tbl>
              <a:tblPr firstRow="1" bandRow="1">
                <a:tableStyleId>{5C22544A-7EE6-4342-B048-85BDC9FD1C3A}</a:tableStyleId>
              </a:tblPr>
              <a:tblGrid>
                <a:gridCol w="2801888">
                  <a:extLst>
                    <a:ext uri="{9D8B030D-6E8A-4147-A177-3AD203B41FA5}">
                      <a16:colId xmlns:a16="http://schemas.microsoft.com/office/drawing/2014/main" val="20000"/>
                    </a:ext>
                  </a:extLst>
                </a:gridCol>
                <a:gridCol w="5121599">
                  <a:extLst>
                    <a:ext uri="{9D8B030D-6E8A-4147-A177-3AD203B41FA5}">
                      <a16:colId xmlns:a16="http://schemas.microsoft.com/office/drawing/2014/main" val="20001"/>
                    </a:ext>
                  </a:extLst>
                </a:gridCol>
              </a:tblGrid>
              <a:tr h="370840">
                <a:tc>
                  <a:txBody>
                    <a:bodyPr/>
                    <a:lstStyle/>
                    <a:p>
                      <a:r>
                        <a:rPr lang="en-US" sz="2000" b="1"/>
                        <a:t>Sự kiện</a:t>
                      </a:r>
                    </a:p>
                  </a:txBody>
                  <a:tcPr marL="92310" marR="92310"/>
                </a:tc>
                <a:tc>
                  <a:txBody>
                    <a:bodyPr/>
                    <a:lstStyle/>
                    <a:p>
                      <a:r>
                        <a:rPr lang="en-US" sz="2000" dirty="0" err="1"/>
                        <a:t>Mô</a:t>
                      </a:r>
                      <a:r>
                        <a:rPr lang="en-US" sz="2000" baseline="0" dirty="0"/>
                        <a:t> </a:t>
                      </a:r>
                      <a:r>
                        <a:rPr lang="en-US" sz="2000" baseline="0" dirty="0" err="1"/>
                        <a:t>tả</a:t>
                      </a:r>
                      <a:endParaRPr lang="en-US" sz="2000" dirty="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Tick</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dirty="0" err="1">
                          <a:effectLst/>
                          <a:latin typeface="+mj-lt"/>
                          <a:ea typeface="Calibri"/>
                          <a:cs typeface="Times New Roman"/>
                        </a:rPr>
                        <a:t>Kích</a:t>
                      </a:r>
                      <a:r>
                        <a:rPr lang="en-US" sz="1800" dirty="0">
                          <a:effectLst/>
                          <a:latin typeface="+mj-lt"/>
                          <a:ea typeface="Calibri"/>
                          <a:cs typeface="Times New Roman"/>
                        </a:rPr>
                        <a:t> </a:t>
                      </a:r>
                      <a:r>
                        <a:rPr lang="en-US" sz="1800" dirty="0" err="1">
                          <a:effectLst/>
                          <a:latin typeface="+mj-lt"/>
                          <a:ea typeface="Calibri"/>
                          <a:cs typeface="Times New Roman"/>
                        </a:rPr>
                        <a:t>hoạt</a:t>
                      </a:r>
                      <a:r>
                        <a:rPr lang="en-US" sz="1800" dirty="0">
                          <a:effectLst/>
                          <a:latin typeface="+mj-lt"/>
                          <a:ea typeface="Calibri"/>
                          <a:cs typeface="Times New Roman"/>
                        </a:rPr>
                        <a:t> </a:t>
                      </a:r>
                      <a:r>
                        <a:rPr lang="en-US" sz="1800" dirty="0" err="1">
                          <a:effectLst/>
                          <a:latin typeface="+mj-lt"/>
                          <a:ea typeface="Calibri"/>
                          <a:cs typeface="Times New Roman"/>
                        </a:rPr>
                        <a:t>sau</a:t>
                      </a:r>
                      <a:r>
                        <a:rPr lang="en-US" sz="1800" dirty="0">
                          <a:effectLst/>
                          <a:latin typeface="+mj-lt"/>
                          <a:ea typeface="Calibri"/>
                          <a:cs typeface="Times New Roman"/>
                        </a:rPr>
                        <a:t> </a:t>
                      </a:r>
                      <a:r>
                        <a:rPr lang="en-US" sz="1800" dirty="0" err="1">
                          <a:effectLst/>
                          <a:latin typeface="+mj-lt"/>
                          <a:ea typeface="Calibri"/>
                          <a:cs typeface="Times New Roman"/>
                        </a:rPr>
                        <a:t>mỗi</a:t>
                      </a:r>
                      <a:r>
                        <a:rPr lang="en-US" sz="1800" dirty="0">
                          <a:effectLst/>
                          <a:latin typeface="+mj-lt"/>
                          <a:ea typeface="Calibri"/>
                          <a:cs typeface="Times New Roman"/>
                        </a:rPr>
                        <a:t> chu </a:t>
                      </a:r>
                      <a:r>
                        <a:rPr lang="en-US" sz="1800" dirty="0" err="1">
                          <a:effectLst/>
                          <a:latin typeface="+mj-lt"/>
                          <a:ea typeface="Calibri"/>
                          <a:cs typeface="Times New Roman"/>
                        </a:rPr>
                        <a:t>kỳ</a:t>
                      </a:r>
                      <a:r>
                        <a:rPr lang="en-US" sz="1800" dirty="0">
                          <a:effectLst/>
                          <a:latin typeface="+mj-lt"/>
                          <a:ea typeface="Calibri"/>
                          <a:cs typeface="Times New Roman"/>
                        </a:rPr>
                        <a:t> Interval</a:t>
                      </a:r>
                      <a:endParaRPr lang="vi-VN" sz="1800" dirty="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9885589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Cho phép tạo/hiển thị các tập văn bản Rich Text (*.rtf)</a:t>
            </a:r>
          </a:p>
          <a:p>
            <a:pPr lvl="1"/>
            <a:r>
              <a:rPr lang="en-US"/>
              <a:t>Name: bắt đầu bằng rtb</a:t>
            </a:r>
          </a:p>
          <a:p>
            <a:r>
              <a:rPr lang="en-US"/>
              <a:t>Phương thức:</a:t>
            </a:r>
          </a:p>
          <a:p>
            <a:pPr lvl="1"/>
            <a:r>
              <a:rPr lang="en-US"/>
              <a:t>LoadFile: nạp nội dung</a:t>
            </a:r>
          </a:p>
          <a:p>
            <a:pPr lvl="1"/>
            <a:r>
              <a:rPr lang="en-US"/>
              <a:t>SaveFile: lưu file</a:t>
            </a:r>
          </a:p>
        </p:txBody>
      </p:sp>
      <p:sp>
        <p:nvSpPr>
          <p:cNvPr id="4" name="Date Placeholder 3"/>
          <p:cNvSpPr>
            <a:spLocks noGrp="1"/>
          </p:cNvSpPr>
          <p:nvPr>
            <p:ph type="dt" sz="half" idx="10"/>
          </p:nvPr>
        </p:nvSpPr>
        <p:spPr/>
        <p:txBody>
          <a:bodyPr/>
          <a:lstStyle/>
          <a:p>
            <a:fld id="{57F55BAE-6FBF-4CE7-8BA5-13ADCDC5F31F}"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43</a:t>
            </a:fld>
            <a:r>
              <a:rPr lang="vi-VN"/>
              <a:t>/51</a:t>
            </a:r>
          </a:p>
        </p:txBody>
      </p:sp>
      <p:sp>
        <p:nvSpPr>
          <p:cNvPr id="2" name="Title 1"/>
          <p:cNvSpPr>
            <a:spLocks noGrp="1"/>
          </p:cNvSpPr>
          <p:nvPr>
            <p:ph type="title"/>
          </p:nvPr>
        </p:nvSpPr>
        <p:spPr/>
        <p:txBody>
          <a:bodyPr/>
          <a:lstStyle/>
          <a:p>
            <a:r>
              <a:rPr lang="en-US"/>
              <a:t>RichTextBox</a:t>
            </a:r>
          </a:p>
        </p:txBody>
      </p:sp>
    </p:spTree>
    <p:extLst>
      <p:ext uri="{BB962C8B-B14F-4D97-AF65-F5344CB8AC3E}">
        <p14:creationId xmlns:p14="http://schemas.microsoft.com/office/powerpoint/2010/main" val="815588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a:t>Cho phép chọn thời gian dưới dạng lịch</a:t>
            </a:r>
          </a:p>
        </p:txBody>
      </p:sp>
      <p:sp>
        <p:nvSpPr>
          <p:cNvPr id="4" name="Date Placeholder 3"/>
          <p:cNvSpPr>
            <a:spLocks noGrp="1"/>
          </p:cNvSpPr>
          <p:nvPr>
            <p:ph type="dt" sz="half" idx="10"/>
          </p:nvPr>
        </p:nvSpPr>
        <p:spPr/>
        <p:txBody>
          <a:bodyPr/>
          <a:lstStyle/>
          <a:p>
            <a:fld id="{DFB9732D-D8FC-4BFD-8BB5-C0C91E593008}"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8" name="Slide Number Placeholder 7"/>
          <p:cNvSpPr>
            <a:spLocks noGrp="1"/>
          </p:cNvSpPr>
          <p:nvPr>
            <p:ph type="sldNum" sz="quarter" idx="12"/>
          </p:nvPr>
        </p:nvSpPr>
        <p:spPr/>
        <p:txBody>
          <a:bodyPr/>
          <a:lstStyle/>
          <a:p>
            <a:fld id="{5AB95402-1E0D-474E-8D8C-CBE7F053639E}" type="slidenum">
              <a:rPr lang="vi-VN" smtClean="0"/>
              <a:pPr/>
              <a:t>44</a:t>
            </a:fld>
            <a:r>
              <a:rPr lang="vi-VN"/>
              <a:t>/51</a:t>
            </a:r>
          </a:p>
        </p:txBody>
      </p:sp>
      <p:sp>
        <p:nvSpPr>
          <p:cNvPr id="2" name="Title 1"/>
          <p:cNvSpPr>
            <a:spLocks noGrp="1"/>
          </p:cNvSpPr>
          <p:nvPr>
            <p:ph type="title"/>
          </p:nvPr>
        </p:nvSpPr>
        <p:spPr/>
        <p:txBody>
          <a:bodyPr/>
          <a:lstStyle/>
          <a:p>
            <a:r>
              <a:rPr lang="en-US"/>
              <a:t>DateTimePicker</a:t>
            </a:r>
          </a:p>
        </p:txBody>
      </p:sp>
      <p:graphicFrame>
        <p:nvGraphicFramePr>
          <p:cNvPr id="6" name="Table 5"/>
          <p:cNvGraphicFramePr>
            <a:graphicFrameLocks noGrp="1"/>
          </p:cNvGraphicFramePr>
          <p:nvPr>
            <p:extLst>
              <p:ext uri="{D42A27DB-BD31-4B8C-83A1-F6EECF244321}">
                <p14:modId xmlns:p14="http://schemas.microsoft.com/office/powerpoint/2010/main" val="1014745209"/>
              </p:ext>
            </p:extLst>
          </p:nvPr>
        </p:nvGraphicFramePr>
        <p:xfrm>
          <a:off x="755576" y="1772816"/>
          <a:ext cx="7923487" cy="1742059"/>
        </p:xfrm>
        <a:graphic>
          <a:graphicData uri="http://schemas.openxmlformats.org/drawingml/2006/table">
            <a:tbl>
              <a:tblPr firstRow="1" bandRow="1">
                <a:tableStyleId>{5C22544A-7EE6-4342-B048-85BDC9FD1C3A}</a:tableStyleId>
              </a:tblPr>
              <a:tblGrid>
                <a:gridCol w="2016224">
                  <a:extLst>
                    <a:ext uri="{9D8B030D-6E8A-4147-A177-3AD203B41FA5}">
                      <a16:colId xmlns:a16="http://schemas.microsoft.com/office/drawing/2014/main" val="20000"/>
                    </a:ext>
                  </a:extLst>
                </a:gridCol>
                <a:gridCol w="5907263">
                  <a:extLst>
                    <a:ext uri="{9D8B030D-6E8A-4147-A177-3AD203B41FA5}">
                      <a16:colId xmlns:a16="http://schemas.microsoft.com/office/drawing/2014/main" val="20001"/>
                    </a:ext>
                  </a:extLst>
                </a:gridCol>
              </a:tblGrid>
              <a:tr h="370840">
                <a:tc>
                  <a:txBody>
                    <a:bodyPr/>
                    <a:lstStyle/>
                    <a:p>
                      <a:r>
                        <a:rPr lang="en-US" sz="2000"/>
                        <a:t>Thuộc</a:t>
                      </a:r>
                      <a:r>
                        <a:rPr lang="en-US" sz="2000" baseline="0"/>
                        <a:t> tính</a:t>
                      </a:r>
                      <a:endParaRPr lang="en-US" sz="2000"/>
                    </a:p>
                  </a:txBody>
                  <a:tcPr marL="92310" marR="92310"/>
                </a:tc>
                <a:tc>
                  <a:txBody>
                    <a:bodyPr/>
                    <a:lstStyle/>
                    <a:p>
                      <a:r>
                        <a:rPr lang="en-US" sz="2000"/>
                        <a:t>Mô</a:t>
                      </a:r>
                      <a:r>
                        <a:rPr lang="en-US" sz="2000" baseline="0"/>
                        <a:t> tả</a:t>
                      </a:r>
                      <a:endParaRPr lang="en-US" sz="2000"/>
                    </a:p>
                  </a:txBody>
                  <a:tcPr marL="92310" marR="92310"/>
                </a:tc>
                <a:extLst>
                  <a:ext uri="{0D108BD9-81ED-4DB2-BD59-A6C34878D82A}">
                    <a16:rowId xmlns:a16="http://schemas.microsoft.com/office/drawing/2014/main" val="10000"/>
                  </a:ext>
                </a:extLst>
              </a:tr>
              <a:tr h="370840">
                <a:tc>
                  <a:txBody>
                    <a:bodyPr/>
                    <a:lstStyle/>
                    <a:p>
                      <a:pPr algn="just">
                        <a:lnSpc>
                          <a:spcPct val="115000"/>
                        </a:lnSpc>
                        <a:spcAft>
                          <a:spcPts val="600"/>
                        </a:spcAft>
                      </a:pPr>
                      <a:r>
                        <a:rPr lang="en-US" sz="1800" b="1">
                          <a:effectLst/>
                          <a:latin typeface="+mj-lt"/>
                          <a:ea typeface="Calibri"/>
                          <a:cs typeface="Times New Roman"/>
                        </a:rPr>
                        <a:t>Name</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Tên điều khiển DateTimePicker, bắt đầu bởi  </a:t>
                      </a:r>
                      <a:r>
                        <a:rPr lang="en-US" sz="1800" b="1">
                          <a:effectLst/>
                          <a:latin typeface="+mj-lt"/>
                          <a:ea typeface="Calibri"/>
                          <a:cs typeface="Times New Roman"/>
                        </a:rPr>
                        <a:t>dtp</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1"/>
                  </a:ext>
                </a:extLst>
              </a:tr>
              <a:tr h="370840">
                <a:tc>
                  <a:txBody>
                    <a:bodyPr/>
                    <a:lstStyle/>
                    <a:p>
                      <a:pPr algn="just">
                        <a:lnSpc>
                          <a:spcPct val="115000"/>
                        </a:lnSpc>
                        <a:spcAft>
                          <a:spcPts val="600"/>
                        </a:spcAft>
                      </a:pPr>
                      <a:r>
                        <a:rPr lang="en-US" sz="1800" b="1">
                          <a:effectLst/>
                          <a:latin typeface="+mj-lt"/>
                          <a:ea typeface="Calibri"/>
                          <a:cs typeface="Times New Roman"/>
                        </a:rPr>
                        <a:t>Format</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Định dạng kiểu hiển thị của thời gian, Ngày tháng thường chọn giá trị </a:t>
                      </a:r>
                      <a:r>
                        <a:rPr lang="en-US" sz="1800" b="1">
                          <a:effectLst/>
                          <a:latin typeface="+mj-lt"/>
                          <a:ea typeface="Calibri"/>
                          <a:cs typeface="Times New Roman"/>
                        </a:rPr>
                        <a:t>Short</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2"/>
                  </a:ext>
                </a:extLst>
              </a:tr>
              <a:tr h="370840">
                <a:tc>
                  <a:txBody>
                    <a:bodyPr/>
                    <a:lstStyle/>
                    <a:p>
                      <a:pPr algn="just">
                        <a:lnSpc>
                          <a:spcPct val="115000"/>
                        </a:lnSpc>
                        <a:spcAft>
                          <a:spcPts val="600"/>
                        </a:spcAft>
                      </a:pPr>
                      <a:r>
                        <a:rPr lang="en-US" sz="1800" b="1">
                          <a:effectLst/>
                          <a:latin typeface="+mj-lt"/>
                          <a:ea typeface="Calibri"/>
                          <a:cs typeface="Times New Roman"/>
                        </a:rPr>
                        <a:t>Values</a:t>
                      </a:r>
                      <a:endParaRPr lang="vi-VN" sz="1800">
                        <a:effectLst/>
                        <a:latin typeface="+mj-lt"/>
                        <a:ea typeface="Calibri"/>
                        <a:cs typeface="Times New Roman"/>
                      </a:endParaRPr>
                    </a:p>
                  </a:txBody>
                  <a:tcPr marL="68580" marR="68580" marT="0" marB="0"/>
                </a:tc>
                <a:tc>
                  <a:txBody>
                    <a:bodyPr/>
                    <a:lstStyle/>
                    <a:p>
                      <a:pPr algn="just">
                        <a:lnSpc>
                          <a:spcPct val="115000"/>
                        </a:lnSpc>
                        <a:spcAft>
                          <a:spcPts val="600"/>
                        </a:spcAft>
                      </a:pPr>
                      <a:r>
                        <a:rPr lang="en-US" sz="1800">
                          <a:effectLst/>
                          <a:latin typeface="+mj-lt"/>
                          <a:ea typeface="Calibri"/>
                          <a:cs typeface="Times New Roman"/>
                        </a:rPr>
                        <a:t>Gá trị hiện thời</a:t>
                      </a:r>
                      <a:endParaRPr lang="vi-VN" sz="1800">
                        <a:effectLst/>
                        <a:latin typeface="+mj-lt"/>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2987824" y="3936082"/>
            <a:ext cx="2162175" cy="1733550"/>
          </a:xfrm>
          <a:prstGeom prst="rect">
            <a:avLst/>
          </a:prstGeom>
          <a:noFill/>
          <a:ln>
            <a:noFill/>
          </a:ln>
        </p:spPr>
      </p:pic>
    </p:spTree>
    <p:extLst>
      <p:ext uri="{BB962C8B-B14F-4D97-AF65-F5344CB8AC3E}">
        <p14:creationId xmlns:p14="http://schemas.microsoft.com/office/powerpoint/2010/main" val="25957080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400" dirty="0"/>
              <a:t>Cho </a:t>
            </a:r>
            <a:r>
              <a:rPr lang="en-US" sz="2400" dirty="0" err="1"/>
              <a:t>phép</a:t>
            </a:r>
            <a:r>
              <a:rPr lang="en-US" sz="2400" dirty="0"/>
              <a:t> </a:t>
            </a:r>
            <a:r>
              <a:rPr lang="en-US" sz="2400" dirty="0" err="1"/>
              <a:t>nghe</a:t>
            </a:r>
            <a:r>
              <a:rPr lang="en-US" sz="2400" dirty="0"/>
              <a:t> </a:t>
            </a:r>
            <a:r>
              <a:rPr lang="en-US" sz="2400" dirty="0" err="1"/>
              <a:t>nhạc</a:t>
            </a:r>
            <a:r>
              <a:rPr lang="en-US" sz="2400" dirty="0"/>
              <a:t>/</a:t>
            </a:r>
            <a:r>
              <a:rPr lang="en-US" sz="2400" dirty="0" err="1"/>
              <a:t>xem</a:t>
            </a:r>
            <a:r>
              <a:rPr lang="en-US" sz="2400" dirty="0"/>
              <a:t> film (</a:t>
            </a:r>
            <a:r>
              <a:rPr lang="en-US" sz="2400" dirty="0" err="1"/>
              <a:t>tương</a:t>
            </a:r>
            <a:r>
              <a:rPr lang="en-US" sz="2400" dirty="0"/>
              <a:t> </a:t>
            </a:r>
            <a:r>
              <a:rPr lang="en-US" sz="2400" dirty="0" err="1"/>
              <a:t>tự</a:t>
            </a:r>
            <a:r>
              <a:rPr lang="en-US" sz="2400" dirty="0"/>
              <a:t> Windows Media Player </a:t>
            </a:r>
            <a:r>
              <a:rPr lang="en-US" sz="2400" dirty="0" err="1"/>
              <a:t>của</a:t>
            </a:r>
            <a:r>
              <a:rPr lang="en-US" sz="2400" dirty="0"/>
              <a:t> Windows)</a:t>
            </a:r>
          </a:p>
          <a:p>
            <a:pPr lvl="1"/>
            <a:r>
              <a:rPr lang="en-US" sz="2000" dirty="0" err="1"/>
              <a:t>Đưa</a:t>
            </a:r>
            <a:r>
              <a:rPr lang="en-US" sz="2000" dirty="0"/>
              <a:t> </a:t>
            </a:r>
            <a:r>
              <a:rPr lang="en-US" sz="2000" dirty="0" err="1"/>
              <a:t>công</a:t>
            </a:r>
            <a:r>
              <a:rPr lang="en-US" sz="2000" dirty="0"/>
              <a:t> </a:t>
            </a:r>
            <a:r>
              <a:rPr lang="en-US" sz="2000" dirty="0" err="1"/>
              <a:t>cụ</a:t>
            </a:r>
            <a:r>
              <a:rPr lang="en-US" sz="2000" dirty="0"/>
              <a:t> </a:t>
            </a:r>
            <a:r>
              <a:rPr lang="en-US" sz="2000" dirty="0" err="1"/>
              <a:t>vào</a:t>
            </a:r>
            <a:r>
              <a:rPr lang="en-US" sz="2000" dirty="0"/>
              <a:t> </a:t>
            </a:r>
            <a:r>
              <a:rPr lang="en-US" sz="2000" dirty="0" err="1"/>
              <a:t>ToolBox</a:t>
            </a:r>
            <a:r>
              <a:rPr lang="en-US" sz="2000" dirty="0"/>
              <a:t>: </a:t>
            </a:r>
            <a:r>
              <a:rPr lang="en-US" sz="2000" dirty="0" err="1"/>
              <a:t>Nháy</a:t>
            </a:r>
            <a:r>
              <a:rPr lang="en-US" sz="2000" dirty="0"/>
              <a:t> </a:t>
            </a:r>
            <a:r>
              <a:rPr lang="en-US" sz="2000" dirty="0" err="1"/>
              <a:t>phải</a:t>
            </a:r>
            <a:r>
              <a:rPr lang="en-US" sz="2000" dirty="0"/>
              <a:t> </a:t>
            </a:r>
            <a:r>
              <a:rPr lang="en-US" sz="2000" dirty="0" err="1"/>
              <a:t>lên</a:t>
            </a:r>
            <a:r>
              <a:rPr lang="en-US" sz="2000" dirty="0"/>
              <a:t> </a:t>
            </a:r>
            <a:r>
              <a:rPr lang="en-US" sz="2000" dirty="0" err="1"/>
              <a:t>ToolBox</a:t>
            </a:r>
            <a:r>
              <a:rPr lang="en-US" sz="2000" dirty="0"/>
              <a:t>, </a:t>
            </a:r>
            <a:r>
              <a:rPr lang="en-US" sz="2000" dirty="0" err="1"/>
              <a:t>chọn</a:t>
            </a:r>
            <a:r>
              <a:rPr lang="en-US" sz="2000" dirty="0"/>
              <a:t> </a:t>
            </a:r>
            <a:r>
              <a:rPr lang="en-US" sz="2000" i="1" dirty="0"/>
              <a:t>Choose Items…</a:t>
            </a:r>
            <a:r>
              <a:rPr lang="en-US" sz="2000" dirty="0"/>
              <a:t> , </a:t>
            </a:r>
            <a:r>
              <a:rPr lang="en-US" sz="2000" dirty="0" err="1"/>
              <a:t>trong</a:t>
            </a:r>
            <a:r>
              <a:rPr lang="en-US" sz="2000" dirty="0"/>
              <a:t> </a:t>
            </a:r>
            <a:r>
              <a:rPr lang="en-US" sz="2000" dirty="0" err="1"/>
              <a:t>mục</a:t>
            </a:r>
            <a:r>
              <a:rPr lang="en-US" sz="2000" dirty="0"/>
              <a:t> COM Components </a:t>
            </a:r>
            <a:r>
              <a:rPr lang="en-US" sz="2000" dirty="0" err="1"/>
              <a:t>chọn</a:t>
            </a:r>
            <a:r>
              <a:rPr lang="en-US" sz="2000" dirty="0"/>
              <a:t> Windows Media Player</a:t>
            </a:r>
          </a:p>
          <a:p>
            <a:pPr lvl="1"/>
            <a:r>
              <a:rPr lang="fr-FR" sz="2000" dirty="0" err="1"/>
              <a:t>Bổ</a:t>
            </a:r>
            <a:r>
              <a:rPr lang="fr-FR" sz="2000" dirty="0"/>
              <a:t> </a:t>
            </a:r>
            <a:r>
              <a:rPr lang="fr-FR" sz="2000" dirty="0" err="1"/>
              <a:t>sung</a:t>
            </a:r>
            <a:r>
              <a:rPr lang="fr-FR" sz="2000" dirty="0"/>
              <a:t> </a:t>
            </a:r>
            <a:r>
              <a:rPr lang="fr-FR" sz="2000" dirty="0" err="1"/>
              <a:t>dòng</a:t>
            </a:r>
            <a:r>
              <a:rPr lang="fr-FR" sz="2000" dirty="0"/>
              <a:t> </a:t>
            </a:r>
            <a:r>
              <a:rPr lang="fr-FR" sz="2000" dirty="0" err="1">
                <a:solidFill>
                  <a:schemeClr val="tx1">
                    <a:lumMod val="95000"/>
                    <a:lumOff val="5000"/>
                  </a:schemeClr>
                </a:solidFill>
                <a:latin typeface="Consolas" pitchFamily="49" charset="0"/>
                <a:cs typeface="Consolas" pitchFamily="49" charset="0"/>
              </a:rPr>
              <a:t>using</a:t>
            </a:r>
            <a:r>
              <a:rPr lang="fr-FR" sz="2000" dirty="0">
                <a:solidFill>
                  <a:schemeClr val="tx1">
                    <a:lumMod val="95000"/>
                    <a:lumOff val="5000"/>
                  </a:schemeClr>
                </a:solidFill>
                <a:latin typeface="Consolas" pitchFamily="49" charset="0"/>
                <a:cs typeface="Consolas" pitchFamily="49" charset="0"/>
              </a:rPr>
              <a:t> </a:t>
            </a:r>
            <a:r>
              <a:rPr lang="fr-FR" sz="2000" dirty="0" err="1">
                <a:solidFill>
                  <a:schemeClr val="tx1">
                    <a:lumMod val="95000"/>
                    <a:lumOff val="5000"/>
                  </a:schemeClr>
                </a:solidFill>
                <a:latin typeface="Consolas" pitchFamily="49" charset="0"/>
                <a:cs typeface="Consolas" pitchFamily="49" charset="0"/>
              </a:rPr>
              <a:t>WMPLib</a:t>
            </a:r>
            <a:r>
              <a:rPr lang="fr-FR" sz="2000" dirty="0">
                <a:solidFill>
                  <a:schemeClr val="tx1">
                    <a:lumMod val="95000"/>
                    <a:lumOff val="5000"/>
                  </a:schemeClr>
                </a:solidFill>
                <a:latin typeface="Consolas" pitchFamily="49" charset="0"/>
                <a:cs typeface="Consolas" pitchFamily="49" charset="0"/>
              </a:rPr>
              <a:t>;   </a:t>
            </a:r>
            <a:r>
              <a:rPr lang="fr-FR" sz="2000" dirty="0">
                <a:solidFill>
                  <a:srgbClr val="00B050"/>
                </a:solidFill>
                <a:latin typeface="Consolas" pitchFamily="49" charset="0"/>
                <a:cs typeface="Consolas" pitchFamily="49" charset="0"/>
              </a:rPr>
              <a:t>//</a:t>
            </a:r>
            <a:r>
              <a:rPr lang="fr-FR" sz="2000" dirty="0" err="1">
                <a:solidFill>
                  <a:srgbClr val="00B050"/>
                </a:solidFill>
                <a:latin typeface="Consolas" pitchFamily="49" charset="0"/>
                <a:cs typeface="Consolas" pitchFamily="49" charset="0"/>
              </a:rPr>
              <a:t>Để</a:t>
            </a:r>
            <a:r>
              <a:rPr lang="fr-FR" sz="2000" dirty="0">
                <a:solidFill>
                  <a:srgbClr val="00B050"/>
                </a:solidFill>
                <a:latin typeface="Consolas" pitchFamily="49" charset="0"/>
                <a:cs typeface="Consolas" pitchFamily="49" charset="0"/>
              </a:rPr>
              <a:t> </a:t>
            </a:r>
            <a:r>
              <a:rPr lang="fr-FR" sz="2000" dirty="0" err="1">
                <a:solidFill>
                  <a:srgbClr val="00B050"/>
                </a:solidFill>
                <a:latin typeface="Consolas" pitchFamily="49" charset="0"/>
                <a:cs typeface="Consolas" pitchFamily="49" charset="0"/>
              </a:rPr>
              <a:t>làm</a:t>
            </a:r>
            <a:r>
              <a:rPr lang="fr-FR" sz="2000" dirty="0">
                <a:solidFill>
                  <a:srgbClr val="00B050"/>
                </a:solidFill>
                <a:latin typeface="Consolas" pitchFamily="49" charset="0"/>
                <a:cs typeface="Consolas" pitchFamily="49" charset="0"/>
              </a:rPr>
              <a:t> </a:t>
            </a:r>
            <a:r>
              <a:rPr lang="fr-FR" sz="2000" dirty="0" err="1">
                <a:solidFill>
                  <a:srgbClr val="00B050"/>
                </a:solidFill>
                <a:latin typeface="Consolas" pitchFamily="49" charset="0"/>
                <a:cs typeface="Consolas" pitchFamily="49" charset="0"/>
              </a:rPr>
              <a:t>việc</a:t>
            </a:r>
            <a:r>
              <a:rPr lang="fr-FR" sz="2000" dirty="0">
                <a:solidFill>
                  <a:srgbClr val="00B050"/>
                </a:solidFill>
                <a:latin typeface="Consolas" pitchFamily="49" charset="0"/>
                <a:cs typeface="Consolas" pitchFamily="49" charset="0"/>
              </a:rPr>
              <a:t> </a:t>
            </a:r>
            <a:r>
              <a:rPr lang="fr-FR" sz="2000" dirty="0" err="1">
                <a:solidFill>
                  <a:srgbClr val="00B050"/>
                </a:solidFill>
                <a:latin typeface="Consolas" pitchFamily="49" charset="0"/>
                <a:cs typeface="Consolas" pitchFamily="49" charset="0"/>
              </a:rPr>
              <a:t>với</a:t>
            </a:r>
            <a:r>
              <a:rPr lang="fr-FR" sz="2000" dirty="0">
                <a:solidFill>
                  <a:srgbClr val="00B050"/>
                </a:solidFill>
                <a:latin typeface="Consolas" pitchFamily="49" charset="0"/>
                <a:cs typeface="Consolas" pitchFamily="49" charset="0"/>
              </a:rPr>
              <a:t> </a:t>
            </a:r>
            <a:r>
              <a:rPr lang="fr-FR" sz="2000" dirty="0" err="1">
                <a:solidFill>
                  <a:srgbClr val="00B050"/>
                </a:solidFill>
                <a:latin typeface="Consolas" pitchFamily="49" charset="0"/>
                <a:cs typeface="Consolas" pitchFamily="49" charset="0"/>
              </a:rPr>
              <a:t>các</a:t>
            </a:r>
            <a:r>
              <a:rPr lang="fr-FR" sz="2000" dirty="0">
                <a:solidFill>
                  <a:srgbClr val="00B050"/>
                </a:solidFill>
                <a:latin typeface="Consolas" pitchFamily="49" charset="0"/>
                <a:cs typeface="Consolas" pitchFamily="49" charset="0"/>
              </a:rPr>
              <a:t> </a:t>
            </a:r>
            <a:r>
              <a:rPr lang="fr-FR" sz="2000" dirty="0" err="1">
                <a:solidFill>
                  <a:srgbClr val="00B050"/>
                </a:solidFill>
                <a:latin typeface="Consolas" pitchFamily="49" charset="0"/>
                <a:cs typeface="Consolas" pitchFamily="49" charset="0"/>
              </a:rPr>
              <a:t>hàm</a:t>
            </a:r>
            <a:r>
              <a:rPr lang="fr-FR" sz="2000" dirty="0">
                <a:solidFill>
                  <a:srgbClr val="00B050"/>
                </a:solidFill>
                <a:latin typeface="Consolas" pitchFamily="49" charset="0"/>
                <a:cs typeface="Consolas" pitchFamily="49" charset="0"/>
              </a:rPr>
              <a:t> </a:t>
            </a:r>
            <a:r>
              <a:rPr lang="fr-FR" sz="2000" dirty="0" err="1">
                <a:solidFill>
                  <a:srgbClr val="00B050"/>
                </a:solidFill>
                <a:latin typeface="Consolas" pitchFamily="49" charset="0"/>
                <a:cs typeface="Consolas" pitchFamily="49" charset="0"/>
              </a:rPr>
              <a:t>của</a:t>
            </a:r>
            <a:r>
              <a:rPr lang="fr-FR" sz="2000" dirty="0">
                <a:solidFill>
                  <a:srgbClr val="00B050"/>
                </a:solidFill>
                <a:latin typeface="Consolas" pitchFamily="49" charset="0"/>
                <a:cs typeface="Consolas" pitchFamily="49" charset="0"/>
              </a:rPr>
              <a:t> Windows Media Player</a:t>
            </a:r>
            <a:endParaRPr lang="vi-VN" sz="2000" dirty="0">
              <a:solidFill>
                <a:srgbClr val="00B050"/>
              </a:solidFill>
              <a:latin typeface="Consolas" pitchFamily="49" charset="0"/>
              <a:cs typeface="Consolas" pitchFamily="49" charset="0"/>
            </a:endParaRPr>
          </a:p>
          <a:p>
            <a:pPr lvl="1"/>
            <a:endParaRPr lang="en-US" sz="2000" dirty="0"/>
          </a:p>
        </p:txBody>
      </p:sp>
      <p:sp>
        <p:nvSpPr>
          <p:cNvPr id="4" name="Date Placeholder 3"/>
          <p:cNvSpPr>
            <a:spLocks noGrp="1"/>
          </p:cNvSpPr>
          <p:nvPr>
            <p:ph type="dt" sz="half" idx="10"/>
          </p:nvPr>
        </p:nvSpPr>
        <p:spPr/>
        <p:txBody>
          <a:bodyPr/>
          <a:lstStyle/>
          <a:p>
            <a:fld id="{73D8F498-222C-4657-AC8E-0CCD6D93C8BC}"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45</a:t>
            </a:fld>
            <a:r>
              <a:rPr lang="vi-VN"/>
              <a:t>/51</a:t>
            </a:r>
          </a:p>
        </p:txBody>
      </p:sp>
      <p:sp>
        <p:nvSpPr>
          <p:cNvPr id="2" name="Title 1"/>
          <p:cNvSpPr>
            <a:spLocks noGrp="1"/>
          </p:cNvSpPr>
          <p:nvPr>
            <p:ph type="title"/>
          </p:nvPr>
        </p:nvSpPr>
        <p:spPr/>
        <p:txBody>
          <a:bodyPr/>
          <a:lstStyle/>
          <a:p>
            <a:r>
              <a:rPr lang="en-US"/>
              <a:t>Windows Media Player</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9727" y="4365104"/>
            <a:ext cx="192405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71484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Bài 1.</a:t>
            </a:r>
          </a:p>
          <a:p>
            <a:pPr lvl="1"/>
            <a:r>
              <a:rPr lang="en-US"/>
              <a:t>Giao diện:</a:t>
            </a:r>
          </a:p>
          <a:p>
            <a:pPr lvl="1"/>
            <a:endParaRPr lang="en-US"/>
          </a:p>
          <a:p>
            <a:pPr lvl="1"/>
            <a:r>
              <a:rPr lang="en-US"/>
              <a:t>Yêu cầu:</a:t>
            </a:r>
          </a:p>
          <a:p>
            <a:pPr lvl="2"/>
            <a:r>
              <a:rPr lang="en-US"/>
              <a:t>Tạo dòng ToolTip “Nhập số nguyên” cho 2 hộp văn bản ‘Nhập a’ và ‘Nhập b’.</a:t>
            </a:r>
            <a:endParaRPr lang="vi-VN"/>
          </a:p>
          <a:p>
            <a:pPr lvl="2"/>
            <a:r>
              <a:rPr lang="en-US"/>
              <a:t>Chỉ cho phép người dùng nhập số vào hai hộp văn bản.</a:t>
            </a:r>
            <a:endParaRPr lang="vi-VN"/>
          </a:p>
          <a:p>
            <a:pPr lvl="2"/>
            <a:r>
              <a:rPr lang="en-US"/>
              <a:t>Nút Tổng: kiểm tra người dùng phải nhập dữ liệu cho cả hai số a và b, tính tổng các số từ a đến b nếu a &lt; b, hoặc tính tổng các số từ b đến a nếu b &lt; a, rồi hiển thị kết quả vào nhãn ở phía dưới.</a:t>
            </a:r>
            <a:endParaRPr lang="vi-VN"/>
          </a:p>
          <a:p>
            <a:pPr lvl="2"/>
            <a:r>
              <a:rPr lang="en-US"/>
              <a:t>Nút Làm lại: xóa các dữ liệu cũ ở các điều khiển, sau đó đặt con trỏ vào hộp văn bản Nhập a.</a:t>
            </a:r>
            <a:endParaRPr lang="vi-VN"/>
          </a:p>
          <a:p>
            <a:pPr lvl="2"/>
            <a:r>
              <a:rPr lang="en-US"/>
              <a:t>Nút Thoát: thoát khỏi chương trình</a:t>
            </a:r>
          </a:p>
        </p:txBody>
      </p:sp>
      <p:sp>
        <p:nvSpPr>
          <p:cNvPr id="4" name="Date Placeholder 3"/>
          <p:cNvSpPr>
            <a:spLocks noGrp="1"/>
          </p:cNvSpPr>
          <p:nvPr>
            <p:ph type="dt" sz="half" idx="10"/>
          </p:nvPr>
        </p:nvSpPr>
        <p:spPr/>
        <p:txBody>
          <a:bodyPr/>
          <a:lstStyle/>
          <a:p>
            <a:fld id="{8731BEE7-548E-4264-93E3-155A0027EF75}"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46</a:t>
            </a:fld>
            <a:r>
              <a:rPr lang="vi-VN"/>
              <a:t>/51</a:t>
            </a:r>
          </a:p>
        </p:txBody>
      </p:sp>
      <p:sp>
        <p:nvSpPr>
          <p:cNvPr id="2" name="Title 1"/>
          <p:cNvSpPr>
            <a:spLocks noGrp="1"/>
          </p:cNvSpPr>
          <p:nvPr>
            <p:ph type="title"/>
          </p:nvPr>
        </p:nvSpPr>
        <p:spPr/>
        <p:txBody>
          <a:bodyPr/>
          <a:lstStyle/>
          <a:p>
            <a:r>
              <a:rPr lang="en-US"/>
              <a:t>Bài tập về nhà</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5868144" y="1124744"/>
            <a:ext cx="2736304" cy="1800200"/>
          </a:xfrm>
          <a:prstGeom prst="rect">
            <a:avLst/>
          </a:prstGeom>
          <a:noFill/>
          <a:ln>
            <a:noFill/>
          </a:ln>
        </p:spPr>
      </p:pic>
    </p:spTree>
    <p:extLst>
      <p:ext uri="{BB962C8B-B14F-4D97-AF65-F5344CB8AC3E}">
        <p14:creationId xmlns:p14="http://schemas.microsoft.com/office/powerpoint/2010/main" val="39786146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Bài 2.</a:t>
            </a:r>
          </a:p>
          <a:p>
            <a:pPr lvl="1"/>
            <a:r>
              <a:rPr lang="en-US"/>
              <a:t>Giao diện</a:t>
            </a:r>
          </a:p>
          <a:p>
            <a:pPr lvl="1"/>
            <a:endParaRPr lang="en-US"/>
          </a:p>
          <a:p>
            <a:pPr lvl="1"/>
            <a:endParaRPr lang="en-US"/>
          </a:p>
          <a:p>
            <a:pPr lvl="1"/>
            <a:endParaRPr lang="en-US"/>
          </a:p>
          <a:p>
            <a:pPr lvl="1"/>
            <a:endParaRPr lang="en-US"/>
          </a:p>
          <a:p>
            <a:pPr lvl="1"/>
            <a:endParaRPr lang="en-US"/>
          </a:p>
          <a:p>
            <a:pPr lvl="1"/>
            <a:endParaRPr lang="en-US"/>
          </a:p>
          <a:p>
            <a:pPr lvl="1"/>
            <a:r>
              <a:rPr lang="en-US"/>
              <a:t>Yêu cầu:</a:t>
            </a:r>
          </a:p>
          <a:p>
            <a:pPr lvl="2"/>
            <a:r>
              <a:rPr lang="vi-VN"/>
              <a:t>Nhập số nguyên dương n, tạo n số nguyên ngẫu nhiên có giá trị từ 1 tới 100 (sử dụng lớp ngẫu nhiên Random và phương thức Next(n,m) để sinh số ngẫu nhiên trong khoảng n đếm m)</a:t>
            </a:r>
          </a:p>
          <a:p>
            <a:pPr lvl="2"/>
            <a:endParaRPr lang="en-US"/>
          </a:p>
          <a:p>
            <a:pPr marL="471487" lvl="1" indent="0">
              <a:buNone/>
            </a:pPr>
            <a:endParaRPr lang="en-US"/>
          </a:p>
          <a:p>
            <a:pPr marL="471487" lvl="1" indent="0">
              <a:buNone/>
            </a:pPr>
            <a:endParaRPr lang="en-US"/>
          </a:p>
        </p:txBody>
      </p:sp>
      <p:sp>
        <p:nvSpPr>
          <p:cNvPr id="4" name="Date Placeholder 3"/>
          <p:cNvSpPr>
            <a:spLocks noGrp="1"/>
          </p:cNvSpPr>
          <p:nvPr>
            <p:ph type="dt" sz="half" idx="10"/>
          </p:nvPr>
        </p:nvSpPr>
        <p:spPr/>
        <p:txBody>
          <a:bodyPr/>
          <a:lstStyle/>
          <a:p>
            <a:fld id="{270DD718-F663-46C2-872E-565C1C80B34E}"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47</a:t>
            </a:fld>
            <a:r>
              <a:rPr lang="vi-VN"/>
              <a:t>/51</a:t>
            </a:r>
          </a:p>
        </p:txBody>
      </p:sp>
      <p:sp>
        <p:nvSpPr>
          <p:cNvPr id="2" name="Title 1"/>
          <p:cNvSpPr>
            <a:spLocks noGrp="1"/>
          </p:cNvSpPr>
          <p:nvPr>
            <p:ph type="title"/>
          </p:nvPr>
        </p:nvSpPr>
        <p:spPr/>
        <p:txBody>
          <a:bodyPr/>
          <a:lstStyle/>
          <a:p>
            <a:r>
              <a:rPr lang="en-US"/>
              <a:t>Bài tập về nhà</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2627784" y="2132855"/>
            <a:ext cx="4124325" cy="2371725"/>
          </a:xfrm>
          <a:prstGeom prst="rect">
            <a:avLst/>
          </a:prstGeom>
          <a:noFill/>
          <a:ln>
            <a:noFill/>
          </a:ln>
        </p:spPr>
      </p:pic>
    </p:spTree>
    <p:extLst>
      <p:ext uri="{BB962C8B-B14F-4D97-AF65-F5344CB8AC3E}">
        <p14:creationId xmlns:p14="http://schemas.microsoft.com/office/powerpoint/2010/main" val="38388544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1"/>
            <a:r>
              <a:rPr lang="en-US"/>
              <a:t>Yêu cầu</a:t>
            </a:r>
          </a:p>
          <a:p>
            <a:pPr lvl="2"/>
            <a:r>
              <a:rPr lang="en-US"/>
              <a:t>Chỉ cho phép người dùng nhập số vào hộp văn bản Nhập n.</a:t>
            </a:r>
            <a:endParaRPr lang="vi-VN"/>
          </a:p>
          <a:p>
            <a:pPr lvl="2"/>
            <a:r>
              <a:rPr lang="en-US"/>
              <a:t>Nút Nhập: kiểm tra người dùng phải nhập giá trị cho n, sau đó tạo n số ngẫu nhiên và hiển thị các số ngẫu nhiên đó ở nhãn Dẫy số.</a:t>
            </a:r>
            <a:endParaRPr lang="vi-VN"/>
          </a:p>
          <a:p>
            <a:pPr lvl="2"/>
            <a:r>
              <a:rPr lang="en-US"/>
              <a:t>Nút Tính tổng: tính tổng n số ngẫu nhiên và hiển thị kết quả ở nhãn Tổng dẫy số.</a:t>
            </a:r>
            <a:endParaRPr lang="vi-VN"/>
          </a:p>
          <a:p>
            <a:pPr lvl="2"/>
            <a:r>
              <a:rPr lang="en-US"/>
              <a:t>Nút Sắp xếp: sắp xếp n số ngẫu nhiên theo thứ tự tăng dần và hiển thị kết quả ở nhãn Sắp xếp.</a:t>
            </a:r>
            <a:endParaRPr lang="vi-VN"/>
          </a:p>
          <a:p>
            <a:pPr lvl="2"/>
            <a:r>
              <a:rPr lang="en-US"/>
              <a:t>Nút Làm lại: xóa các dữ liệu cũ ở các điều khiển, sau đó đặt con trỏ vào hộp văn bản Nhập n.</a:t>
            </a:r>
            <a:endParaRPr lang="vi-VN"/>
          </a:p>
          <a:p>
            <a:pPr lvl="2"/>
            <a:r>
              <a:rPr lang="en-US"/>
              <a:t>Nút Thoát: thoát khỏi chương trình</a:t>
            </a:r>
          </a:p>
        </p:txBody>
      </p:sp>
      <p:sp>
        <p:nvSpPr>
          <p:cNvPr id="4" name="Date Placeholder 3"/>
          <p:cNvSpPr>
            <a:spLocks noGrp="1"/>
          </p:cNvSpPr>
          <p:nvPr>
            <p:ph type="dt" sz="half" idx="10"/>
          </p:nvPr>
        </p:nvSpPr>
        <p:spPr/>
        <p:txBody>
          <a:bodyPr/>
          <a:lstStyle/>
          <a:p>
            <a:fld id="{D605D193-9DD8-4374-B04E-1664F1F58AFF}"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48</a:t>
            </a:fld>
            <a:r>
              <a:rPr lang="vi-VN"/>
              <a:t>/51</a:t>
            </a:r>
          </a:p>
        </p:txBody>
      </p:sp>
      <p:sp>
        <p:nvSpPr>
          <p:cNvPr id="2" name="Title 1"/>
          <p:cNvSpPr>
            <a:spLocks noGrp="1"/>
          </p:cNvSpPr>
          <p:nvPr>
            <p:ph type="title"/>
          </p:nvPr>
        </p:nvSpPr>
        <p:spPr/>
        <p:txBody>
          <a:bodyPr/>
          <a:lstStyle/>
          <a:p>
            <a:r>
              <a:rPr lang="en-US"/>
              <a:t>Bài tập về nhà</a:t>
            </a:r>
          </a:p>
        </p:txBody>
      </p:sp>
    </p:spTree>
    <p:extLst>
      <p:ext uri="{BB962C8B-B14F-4D97-AF65-F5344CB8AC3E}">
        <p14:creationId xmlns:p14="http://schemas.microsoft.com/office/powerpoint/2010/main" val="32382913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Bài 3. </a:t>
            </a:r>
          </a:p>
          <a:p>
            <a:pPr lvl="1"/>
            <a:r>
              <a:rPr lang="en-US"/>
              <a:t>Giao diện</a:t>
            </a:r>
          </a:p>
          <a:p>
            <a:pPr lvl="1"/>
            <a:endParaRPr lang="en-US"/>
          </a:p>
          <a:p>
            <a:pPr lvl="1"/>
            <a:endParaRPr lang="en-US"/>
          </a:p>
          <a:p>
            <a:pPr lvl="1"/>
            <a:endParaRPr lang="en-US"/>
          </a:p>
          <a:p>
            <a:pPr lvl="1"/>
            <a:endParaRPr lang="en-US"/>
          </a:p>
          <a:p>
            <a:pPr lvl="1"/>
            <a:r>
              <a:rPr lang="en-US"/>
              <a:t>Yêu cầu;</a:t>
            </a:r>
          </a:p>
          <a:p>
            <a:pPr lvl="2"/>
            <a:r>
              <a:rPr lang="en-US"/>
              <a:t>Chỉ được phép nhập giá trị số cho Đơn giá và Số lượng, không cho phép nhập dữ liệu vào ô Tổng tiền. </a:t>
            </a:r>
            <a:endParaRPr lang="vi-VN"/>
          </a:p>
          <a:p>
            <a:pPr lvl="2"/>
            <a:r>
              <a:rPr lang="en-US"/>
              <a:t>Nếu Giảm giá được chọn thì hiển thị 2 điều khiển giảm giá 5% và 10%, ngược lại không hiển thị 2 điều khiển này</a:t>
            </a:r>
          </a:p>
        </p:txBody>
      </p:sp>
      <p:sp>
        <p:nvSpPr>
          <p:cNvPr id="4" name="Date Placeholder 3"/>
          <p:cNvSpPr>
            <a:spLocks noGrp="1"/>
          </p:cNvSpPr>
          <p:nvPr>
            <p:ph type="dt" sz="half" idx="10"/>
          </p:nvPr>
        </p:nvSpPr>
        <p:spPr/>
        <p:txBody>
          <a:bodyPr/>
          <a:lstStyle/>
          <a:p>
            <a:fld id="{7325C363-FAD9-442C-A759-EBA799489215}"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49</a:t>
            </a:fld>
            <a:r>
              <a:rPr lang="vi-VN"/>
              <a:t>/51</a:t>
            </a:r>
          </a:p>
        </p:txBody>
      </p:sp>
      <p:sp>
        <p:nvSpPr>
          <p:cNvPr id="2" name="Title 1"/>
          <p:cNvSpPr>
            <a:spLocks noGrp="1"/>
          </p:cNvSpPr>
          <p:nvPr>
            <p:ph type="title"/>
          </p:nvPr>
        </p:nvSpPr>
        <p:spPr/>
        <p:txBody>
          <a:bodyPr/>
          <a:lstStyle/>
          <a:p>
            <a:r>
              <a:rPr lang="en-US"/>
              <a:t>Bài tập về nhà</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3203848" y="1556792"/>
            <a:ext cx="4705350" cy="2543175"/>
          </a:xfrm>
          <a:prstGeom prst="rect">
            <a:avLst/>
          </a:prstGeom>
          <a:noFill/>
          <a:ln>
            <a:noFill/>
          </a:ln>
        </p:spPr>
      </p:pic>
    </p:spTree>
    <p:extLst>
      <p:ext uri="{BB962C8B-B14F-4D97-AF65-F5344CB8AC3E}">
        <p14:creationId xmlns:p14="http://schemas.microsoft.com/office/powerpoint/2010/main" val="982084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A17169-8686-5E65-9506-5F4E258AFE97}"/>
              </a:ext>
            </a:extLst>
          </p:cNvPr>
          <p:cNvSpPr>
            <a:spLocks noGrp="1"/>
          </p:cNvSpPr>
          <p:nvPr>
            <p:ph idx="1"/>
          </p:nvPr>
        </p:nvSpPr>
        <p:spPr/>
        <p:txBody>
          <a:bodyPr/>
          <a:lstStyle/>
          <a:p>
            <a:r>
              <a:rPr lang="en-VN" dirty="0"/>
              <a:t>Giao diện</a:t>
            </a:r>
          </a:p>
          <a:p>
            <a:endParaRPr lang="en-VN" dirty="0"/>
          </a:p>
          <a:p>
            <a:endParaRPr lang="en-VN" dirty="0"/>
          </a:p>
          <a:p>
            <a:endParaRPr lang="en-VN" dirty="0"/>
          </a:p>
          <a:p>
            <a:endParaRPr lang="en-VN" dirty="0"/>
          </a:p>
          <a:p>
            <a:pPr marL="0" indent="0">
              <a:buNone/>
            </a:pPr>
            <a:endParaRPr lang="en-VN" dirty="0"/>
          </a:p>
          <a:p>
            <a:r>
              <a:rPr lang="en-VN" dirty="0"/>
              <a:t>Yêu cầu: </a:t>
            </a:r>
          </a:p>
          <a:p>
            <a:pPr lvl="1"/>
            <a:r>
              <a:rPr lang="en-VN" dirty="0"/>
              <a:t>Chỉ cho phép người dùng chọn 1 trong 4 chuyên ngành: CNTT, HTTTQL, Ngân hàng, Tài chính</a:t>
            </a:r>
          </a:p>
          <a:p>
            <a:pPr lvl="1"/>
            <a:r>
              <a:rPr lang="en-VN" dirty="0"/>
              <a:t>Điểm trung bình chỉ nhập số</a:t>
            </a:r>
          </a:p>
          <a:p>
            <a:pPr lvl="1"/>
            <a:r>
              <a:rPr lang="en-VN" dirty="0"/>
              <a:t>Nhấn nút nhập hiển thị thông tin cá nhân và xếp loại</a:t>
            </a:r>
          </a:p>
        </p:txBody>
      </p:sp>
      <p:sp>
        <p:nvSpPr>
          <p:cNvPr id="3" name="Date Placeholder 2">
            <a:extLst>
              <a:ext uri="{FF2B5EF4-FFF2-40B4-BE49-F238E27FC236}">
                <a16:creationId xmlns:a16="http://schemas.microsoft.com/office/drawing/2014/main" id="{18B6B2E5-0975-723F-A54A-B0DEE6006F86}"/>
              </a:ext>
            </a:extLst>
          </p:cNvPr>
          <p:cNvSpPr>
            <a:spLocks noGrp="1"/>
          </p:cNvSpPr>
          <p:nvPr>
            <p:ph type="dt" sz="half" idx="10"/>
          </p:nvPr>
        </p:nvSpPr>
        <p:spPr/>
        <p:txBody>
          <a:bodyPr/>
          <a:lstStyle/>
          <a:p>
            <a:fld id="{821366D4-E861-4652-BF37-5119180CB378}" type="datetime1">
              <a:rPr lang="vi-VN" smtClean="0"/>
              <a:t>20/02/2025</a:t>
            </a:fld>
            <a:endParaRPr lang="vi-VN"/>
          </a:p>
        </p:txBody>
      </p:sp>
      <p:sp>
        <p:nvSpPr>
          <p:cNvPr id="4" name="Footer Placeholder 3">
            <a:extLst>
              <a:ext uri="{FF2B5EF4-FFF2-40B4-BE49-F238E27FC236}">
                <a16:creationId xmlns:a16="http://schemas.microsoft.com/office/drawing/2014/main" id="{327A8361-7726-5218-E4F8-B91846F07091}"/>
              </a:ext>
            </a:extLst>
          </p:cNvPr>
          <p:cNvSpPr>
            <a:spLocks noGrp="1"/>
          </p:cNvSpPr>
          <p:nvPr>
            <p:ph type="ftr" sz="quarter" idx="11"/>
          </p:nvPr>
        </p:nvSpPr>
        <p:spPr/>
        <p:txBody>
          <a:bodyPr/>
          <a:lstStyle/>
          <a:p>
            <a:r>
              <a:rPr lang="vi-VN" dirty="0"/>
              <a:t>Chương 4. Lập trình giao diện trong Windows</a:t>
            </a:r>
          </a:p>
        </p:txBody>
      </p:sp>
      <p:sp>
        <p:nvSpPr>
          <p:cNvPr id="5" name="Slide Number Placeholder 4">
            <a:extLst>
              <a:ext uri="{FF2B5EF4-FFF2-40B4-BE49-F238E27FC236}">
                <a16:creationId xmlns:a16="http://schemas.microsoft.com/office/drawing/2014/main" id="{02C5E802-ACF1-0D63-2DEA-397BFEFDACCE}"/>
              </a:ext>
            </a:extLst>
          </p:cNvPr>
          <p:cNvSpPr>
            <a:spLocks noGrp="1"/>
          </p:cNvSpPr>
          <p:nvPr>
            <p:ph type="sldNum" sz="quarter" idx="12"/>
          </p:nvPr>
        </p:nvSpPr>
        <p:spPr/>
        <p:txBody>
          <a:bodyPr/>
          <a:lstStyle/>
          <a:p>
            <a:fld id="{5AB95402-1E0D-474E-8D8C-CBE7F053639E}" type="slidenum">
              <a:rPr lang="vi-VN" smtClean="0"/>
              <a:pPr/>
              <a:t>50</a:t>
            </a:fld>
            <a:r>
              <a:rPr lang="vi-VN"/>
              <a:t>/51</a:t>
            </a:r>
          </a:p>
        </p:txBody>
      </p:sp>
      <p:sp>
        <p:nvSpPr>
          <p:cNvPr id="6" name="Title 5">
            <a:extLst>
              <a:ext uri="{FF2B5EF4-FFF2-40B4-BE49-F238E27FC236}">
                <a16:creationId xmlns:a16="http://schemas.microsoft.com/office/drawing/2014/main" id="{7E888DDA-B692-EF0C-6C38-3B19AD87637E}"/>
              </a:ext>
            </a:extLst>
          </p:cNvPr>
          <p:cNvSpPr>
            <a:spLocks noGrp="1"/>
          </p:cNvSpPr>
          <p:nvPr>
            <p:ph type="title"/>
          </p:nvPr>
        </p:nvSpPr>
        <p:spPr/>
        <p:txBody>
          <a:bodyPr/>
          <a:lstStyle/>
          <a:p>
            <a:r>
              <a:rPr lang="en-VN" dirty="0"/>
              <a:t>Bài tập về nhà</a:t>
            </a:r>
          </a:p>
        </p:txBody>
      </p:sp>
      <p:pic>
        <p:nvPicPr>
          <p:cNvPr id="7" name="Picture 6">
            <a:extLst>
              <a:ext uri="{FF2B5EF4-FFF2-40B4-BE49-F238E27FC236}">
                <a16:creationId xmlns:a16="http://schemas.microsoft.com/office/drawing/2014/main" id="{C49C114B-D4D2-15A8-E078-39493C24D8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75856" y="1268760"/>
            <a:ext cx="3820160" cy="2640965"/>
          </a:xfrm>
          <a:prstGeom prst="rect">
            <a:avLst/>
          </a:prstGeom>
          <a:noFill/>
          <a:ln>
            <a:noFill/>
          </a:ln>
        </p:spPr>
      </p:pic>
    </p:spTree>
    <p:extLst>
      <p:ext uri="{BB962C8B-B14F-4D97-AF65-F5344CB8AC3E}">
        <p14:creationId xmlns:p14="http://schemas.microsoft.com/office/powerpoint/2010/main" val="39903993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B50423-0A8D-50AA-CE58-13008C6D2D8A}"/>
              </a:ext>
            </a:extLst>
          </p:cNvPr>
          <p:cNvSpPr>
            <a:spLocks noGrp="1"/>
          </p:cNvSpPr>
          <p:nvPr>
            <p:ph idx="1"/>
          </p:nvPr>
        </p:nvSpPr>
        <p:spPr/>
        <p:txBody>
          <a:bodyPr/>
          <a:lstStyle/>
          <a:p>
            <a:pPr lvl="1"/>
            <a:r>
              <a:rPr lang="en-VN" dirty="0"/>
              <a:t>Xây dựng các lớp để thực hiện xử lý nghiệp vụ như sau</a:t>
            </a:r>
          </a:p>
          <a:p>
            <a:pPr lvl="2"/>
            <a:r>
              <a:rPr lang="en-VN" dirty="0"/>
              <a:t>Sinh viên:</a:t>
            </a:r>
          </a:p>
          <a:p>
            <a:pPr lvl="3"/>
            <a:r>
              <a:rPr lang="en-VN" dirty="0"/>
              <a:t>Thuộc tính: MaSV, HoTen, NgaySinh</a:t>
            </a:r>
          </a:p>
          <a:p>
            <a:pPr lvl="3"/>
            <a:r>
              <a:rPr lang="en-VN" dirty="0"/>
              <a:t>Phương thức khởi tạo</a:t>
            </a:r>
          </a:p>
          <a:p>
            <a:pPr lvl="3"/>
            <a:r>
              <a:rPr lang="en-US" dirty="0"/>
              <a:t>s</a:t>
            </a:r>
            <a:r>
              <a:rPr lang="en-VN" dirty="0"/>
              <a:t>tring getInfor() trả về thông tin đầy đủ của các thuộc tính</a:t>
            </a:r>
          </a:p>
          <a:p>
            <a:pPr lvl="2"/>
            <a:r>
              <a:rPr lang="en-VN" dirty="0"/>
              <a:t>Sinh viên chuyên ngành kế thừa lớp Sinh viên</a:t>
            </a:r>
          </a:p>
          <a:p>
            <a:pPr lvl="3"/>
            <a:r>
              <a:rPr lang="en-VN" dirty="0"/>
              <a:t>Bổ xung thêm thuộc tính chuyên ngành, điểm trung bình</a:t>
            </a:r>
          </a:p>
          <a:p>
            <a:pPr lvl="3"/>
            <a:r>
              <a:rPr lang="en-VN" dirty="0"/>
              <a:t>Bổ xung phương thức xếp loại </a:t>
            </a:r>
          </a:p>
          <a:p>
            <a:pPr lvl="4"/>
            <a:r>
              <a:rPr lang="en-US" dirty="0" err="1"/>
              <a:t>Đ</a:t>
            </a:r>
            <a:r>
              <a:rPr lang="en-VN" dirty="0"/>
              <a:t>iểm trung bình &gt;=5 </a:t>
            </a:r>
            <a:r>
              <a:rPr lang="en-VN" dirty="0">
                <a:sym typeface="Wingdings" pitchFamily="2" charset="2"/>
              </a:rPr>
              <a:t> xếp loại trung bình</a:t>
            </a:r>
          </a:p>
          <a:p>
            <a:pPr lvl="4"/>
            <a:r>
              <a:rPr lang="en-US" dirty="0" err="1">
                <a:sym typeface="Wingdings" pitchFamily="2" charset="2"/>
              </a:rPr>
              <a:t>Đ</a:t>
            </a:r>
            <a:r>
              <a:rPr lang="en-VN" dirty="0">
                <a:sym typeface="Wingdings" pitchFamily="2" charset="2"/>
              </a:rPr>
              <a:t>iểm trung bình &gt;= 7  xếp loại khá</a:t>
            </a:r>
          </a:p>
          <a:p>
            <a:pPr lvl="4"/>
            <a:r>
              <a:rPr lang="en-VN" dirty="0">
                <a:sym typeface="Wingdings" pitchFamily="2" charset="2"/>
              </a:rPr>
              <a:t>Điểm trung bình &gt;=8  xếp loại giỏi</a:t>
            </a:r>
          </a:p>
          <a:p>
            <a:pPr lvl="3"/>
            <a:r>
              <a:rPr lang="en-VN" dirty="0">
                <a:sym typeface="Wingdings" pitchFamily="2" charset="2"/>
              </a:rPr>
              <a:t>Ghi đè phương thức getInfor() trả về thông tin các thuộc tính và xếp loại</a:t>
            </a:r>
          </a:p>
        </p:txBody>
      </p:sp>
      <p:sp>
        <p:nvSpPr>
          <p:cNvPr id="3" name="Date Placeholder 2">
            <a:extLst>
              <a:ext uri="{FF2B5EF4-FFF2-40B4-BE49-F238E27FC236}">
                <a16:creationId xmlns:a16="http://schemas.microsoft.com/office/drawing/2014/main" id="{E1E68113-6C94-F1F2-D2A9-FE1F43647877}"/>
              </a:ext>
            </a:extLst>
          </p:cNvPr>
          <p:cNvSpPr>
            <a:spLocks noGrp="1"/>
          </p:cNvSpPr>
          <p:nvPr>
            <p:ph type="dt" sz="half" idx="10"/>
          </p:nvPr>
        </p:nvSpPr>
        <p:spPr/>
        <p:txBody>
          <a:bodyPr/>
          <a:lstStyle/>
          <a:p>
            <a:fld id="{821366D4-E861-4652-BF37-5119180CB378}" type="datetime1">
              <a:rPr lang="vi-VN" smtClean="0"/>
              <a:t>20/02/2025</a:t>
            </a:fld>
            <a:endParaRPr lang="vi-VN"/>
          </a:p>
        </p:txBody>
      </p:sp>
      <p:sp>
        <p:nvSpPr>
          <p:cNvPr id="4" name="Footer Placeholder 3">
            <a:extLst>
              <a:ext uri="{FF2B5EF4-FFF2-40B4-BE49-F238E27FC236}">
                <a16:creationId xmlns:a16="http://schemas.microsoft.com/office/drawing/2014/main" id="{65DAE36D-D750-B26E-A571-03F11B5EAA1B}"/>
              </a:ext>
            </a:extLst>
          </p:cNvPr>
          <p:cNvSpPr>
            <a:spLocks noGrp="1"/>
          </p:cNvSpPr>
          <p:nvPr>
            <p:ph type="ftr" sz="quarter" idx="11"/>
          </p:nvPr>
        </p:nvSpPr>
        <p:spPr/>
        <p:txBody>
          <a:bodyPr/>
          <a:lstStyle/>
          <a:p>
            <a:r>
              <a:rPr lang="vi-VN"/>
              <a:t>Chương 4. Lập trình giao diện trong Windows</a:t>
            </a:r>
          </a:p>
        </p:txBody>
      </p:sp>
      <p:sp>
        <p:nvSpPr>
          <p:cNvPr id="5" name="Slide Number Placeholder 4">
            <a:extLst>
              <a:ext uri="{FF2B5EF4-FFF2-40B4-BE49-F238E27FC236}">
                <a16:creationId xmlns:a16="http://schemas.microsoft.com/office/drawing/2014/main" id="{576D6DB1-C91B-FBD6-35C6-3C0E0CB0B977}"/>
              </a:ext>
            </a:extLst>
          </p:cNvPr>
          <p:cNvSpPr>
            <a:spLocks noGrp="1"/>
          </p:cNvSpPr>
          <p:nvPr>
            <p:ph type="sldNum" sz="quarter" idx="12"/>
          </p:nvPr>
        </p:nvSpPr>
        <p:spPr/>
        <p:txBody>
          <a:bodyPr/>
          <a:lstStyle/>
          <a:p>
            <a:fld id="{5AB95402-1E0D-474E-8D8C-CBE7F053639E}" type="slidenum">
              <a:rPr lang="vi-VN" smtClean="0"/>
              <a:pPr/>
              <a:t>51</a:t>
            </a:fld>
            <a:r>
              <a:rPr lang="vi-VN"/>
              <a:t>/51</a:t>
            </a:r>
          </a:p>
        </p:txBody>
      </p:sp>
      <p:sp>
        <p:nvSpPr>
          <p:cNvPr id="6" name="Title 5">
            <a:extLst>
              <a:ext uri="{FF2B5EF4-FFF2-40B4-BE49-F238E27FC236}">
                <a16:creationId xmlns:a16="http://schemas.microsoft.com/office/drawing/2014/main" id="{7B7B06B8-BA74-2E26-5651-6A0E4E3642B9}"/>
              </a:ext>
            </a:extLst>
          </p:cNvPr>
          <p:cNvSpPr>
            <a:spLocks noGrp="1"/>
          </p:cNvSpPr>
          <p:nvPr>
            <p:ph type="title"/>
          </p:nvPr>
        </p:nvSpPr>
        <p:spPr/>
        <p:txBody>
          <a:bodyPr/>
          <a:lstStyle/>
          <a:p>
            <a:endParaRPr lang="en-VN"/>
          </a:p>
        </p:txBody>
      </p:sp>
    </p:spTree>
    <p:extLst>
      <p:ext uri="{BB962C8B-B14F-4D97-AF65-F5344CB8AC3E}">
        <p14:creationId xmlns:p14="http://schemas.microsoft.com/office/powerpoint/2010/main" val="25306304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Bài  4.</a:t>
            </a:r>
          </a:p>
          <a:p>
            <a:pPr lvl="1"/>
            <a:r>
              <a:rPr lang="en-US"/>
              <a:t>Giao diện</a:t>
            </a:r>
          </a:p>
          <a:p>
            <a:pPr marL="471487" lvl="1" indent="0">
              <a:buNone/>
            </a:pPr>
            <a:r>
              <a:rPr lang="en-US"/>
              <a:t>(Máy tính bỏ túi)</a:t>
            </a:r>
          </a:p>
          <a:p>
            <a:pPr lvl="1"/>
            <a:endParaRPr lang="en-US"/>
          </a:p>
          <a:p>
            <a:pPr lvl="1"/>
            <a:endParaRPr lang="en-US"/>
          </a:p>
          <a:p>
            <a:pPr lvl="1"/>
            <a:endParaRPr lang="en-US"/>
          </a:p>
          <a:p>
            <a:pPr lvl="1"/>
            <a:r>
              <a:rPr lang="en-US"/>
              <a:t>Yêu cầu</a:t>
            </a:r>
          </a:p>
          <a:p>
            <a:pPr lvl="2"/>
            <a:r>
              <a:rPr lang="en-US"/>
              <a:t>Người dùng nhấn các nút từ 0 đến 9 để nhập số</a:t>
            </a:r>
          </a:p>
          <a:p>
            <a:pPr lvl="2"/>
            <a:r>
              <a:rPr lang="en-US"/>
              <a:t>Nhấn các nút + - * / để lựa chọn phép toán (khi nhấn xong các nút này thì xoá trắng hộp văn bản)</a:t>
            </a:r>
          </a:p>
          <a:p>
            <a:pPr lvl="2"/>
            <a:r>
              <a:rPr lang="en-US"/>
              <a:t>Nút C để xoá trắng hộp văn bản</a:t>
            </a:r>
          </a:p>
          <a:p>
            <a:pPr lvl="2"/>
            <a:r>
              <a:rPr lang="en-US"/>
              <a:t>Nút = để tính toán</a:t>
            </a:r>
          </a:p>
        </p:txBody>
      </p:sp>
      <p:sp>
        <p:nvSpPr>
          <p:cNvPr id="4" name="Date Placeholder 3"/>
          <p:cNvSpPr>
            <a:spLocks noGrp="1"/>
          </p:cNvSpPr>
          <p:nvPr>
            <p:ph type="dt" sz="half" idx="10"/>
          </p:nvPr>
        </p:nvSpPr>
        <p:spPr/>
        <p:txBody>
          <a:bodyPr/>
          <a:lstStyle/>
          <a:p>
            <a:fld id="{2670AF8C-275E-4201-B060-63BB8C18AD9A}"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52</a:t>
            </a:fld>
            <a:r>
              <a:rPr lang="vi-VN"/>
              <a:t>/51</a:t>
            </a:r>
          </a:p>
        </p:txBody>
      </p:sp>
      <p:sp>
        <p:nvSpPr>
          <p:cNvPr id="2" name="Title 1"/>
          <p:cNvSpPr>
            <a:spLocks noGrp="1"/>
          </p:cNvSpPr>
          <p:nvPr>
            <p:ph type="title"/>
          </p:nvPr>
        </p:nvSpPr>
        <p:spPr/>
        <p:txBody>
          <a:bodyPr/>
          <a:lstStyle/>
          <a:p>
            <a:r>
              <a:rPr lang="en-US"/>
              <a:t>Bài tập về nhà</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1686758"/>
            <a:ext cx="2880320" cy="2318306"/>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799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a:t>Bài 5. Giải phương trình bậc 2</a:t>
            </a:r>
          </a:p>
          <a:p>
            <a:pPr lvl="1"/>
            <a:r>
              <a:rPr lang="en-US"/>
              <a:t>Giao diện</a:t>
            </a:r>
          </a:p>
          <a:p>
            <a:pPr lvl="1"/>
            <a:endParaRPr lang="en-US"/>
          </a:p>
          <a:p>
            <a:pPr lvl="1"/>
            <a:endParaRPr lang="en-US"/>
          </a:p>
          <a:p>
            <a:pPr lvl="1"/>
            <a:endParaRPr lang="en-US"/>
          </a:p>
          <a:p>
            <a:pPr lvl="1"/>
            <a:endParaRPr lang="en-US"/>
          </a:p>
          <a:p>
            <a:pPr lvl="1"/>
            <a:endParaRPr lang="en-US"/>
          </a:p>
          <a:p>
            <a:pPr lvl="1"/>
            <a:endParaRPr lang="en-US"/>
          </a:p>
          <a:p>
            <a:pPr lvl="1"/>
            <a:r>
              <a:rPr lang="en-US"/>
              <a:t>Yêu cầu:</a:t>
            </a:r>
          </a:p>
          <a:p>
            <a:pPr lvl="2"/>
            <a:r>
              <a:rPr lang="en-US"/>
              <a:t>Dùng điều khiển NumericUpDown để chọn giá trị cho a, b, c (trong [-100, 100])</a:t>
            </a:r>
          </a:p>
          <a:p>
            <a:pPr lvl="2"/>
            <a:r>
              <a:rPr lang="en-US"/>
              <a:t>Nút Giải PTBH để thực hiện giải</a:t>
            </a:r>
          </a:p>
          <a:p>
            <a:pPr marL="909637" lvl="2" indent="0">
              <a:buNone/>
            </a:pPr>
            <a:endParaRPr lang="en-US"/>
          </a:p>
        </p:txBody>
      </p:sp>
      <p:sp>
        <p:nvSpPr>
          <p:cNvPr id="4" name="Date Placeholder 3"/>
          <p:cNvSpPr>
            <a:spLocks noGrp="1"/>
          </p:cNvSpPr>
          <p:nvPr>
            <p:ph type="dt" sz="half" idx="10"/>
          </p:nvPr>
        </p:nvSpPr>
        <p:spPr/>
        <p:txBody>
          <a:bodyPr/>
          <a:lstStyle/>
          <a:p>
            <a:fld id="{E79E9008-D09C-414E-920F-7DEB54E3B765}" type="datetime1">
              <a:rPr lang="vi-VN" smtClean="0"/>
              <a:t>20/02/2025</a:t>
            </a:fld>
            <a:endParaRPr lang="vi-VN"/>
          </a:p>
        </p:txBody>
      </p:sp>
      <p:sp>
        <p:nvSpPr>
          <p:cNvPr id="5" name="Footer Placeholder 4"/>
          <p:cNvSpPr>
            <a:spLocks noGrp="1"/>
          </p:cNvSpPr>
          <p:nvPr>
            <p:ph type="ftr" sz="quarter" idx="11"/>
          </p:nvPr>
        </p:nvSpPr>
        <p:spPr/>
        <p:txBody>
          <a:bodyPr/>
          <a:lstStyle/>
          <a:p>
            <a:r>
              <a:rPr lang="vi-VN"/>
              <a:t>Chương 4. Lập trình giao diện trong Windows</a:t>
            </a:r>
          </a:p>
        </p:txBody>
      </p:sp>
      <p:sp>
        <p:nvSpPr>
          <p:cNvPr id="7" name="Slide Number Placeholder 6"/>
          <p:cNvSpPr>
            <a:spLocks noGrp="1"/>
          </p:cNvSpPr>
          <p:nvPr>
            <p:ph type="sldNum" sz="quarter" idx="12"/>
          </p:nvPr>
        </p:nvSpPr>
        <p:spPr/>
        <p:txBody>
          <a:bodyPr/>
          <a:lstStyle/>
          <a:p>
            <a:fld id="{5AB95402-1E0D-474E-8D8C-CBE7F053639E}" type="slidenum">
              <a:rPr lang="vi-VN" smtClean="0"/>
              <a:pPr/>
              <a:t>53</a:t>
            </a:fld>
            <a:r>
              <a:rPr lang="vi-VN"/>
              <a:t>/51</a:t>
            </a:r>
          </a:p>
        </p:txBody>
      </p:sp>
      <p:sp>
        <p:nvSpPr>
          <p:cNvPr id="2" name="Title 1"/>
          <p:cNvSpPr>
            <a:spLocks noGrp="1"/>
          </p:cNvSpPr>
          <p:nvPr>
            <p:ph type="title"/>
          </p:nvPr>
        </p:nvSpPr>
        <p:spPr/>
        <p:txBody>
          <a:bodyPr/>
          <a:lstStyle/>
          <a:p>
            <a:r>
              <a:rPr lang="en-US"/>
              <a:t>Bài tập về nhà</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2400300" y="2132856"/>
            <a:ext cx="4343400" cy="2438400"/>
          </a:xfrm>
          <a:prstGeom prst="rect">
            <a:avLst/>
          </a:prstGeom>
          <a:noFill/>
          <a:ln>
            <a:noFill/>
          </a:ln>
        </p:spPr>
      </p:pic>
    </p:spTree>
    <p:extLst>
      <p:ext uri="{BB962C8B-B14F-4D97-AF65-F5344CB8AC3E}">
        <p14:creationId xmlns:p14="http://schemas.microsoft.com/office/powerpoint/2010/main" val="22001397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2CE818-59A6-493E-92B0-94F0D45C0547}"/>
              </a:ext>
            </a:extLst>
          </p:cNvPr>
          <p:cNvSpPr>
            <a:spLocks noGrp="1"/>
          </p:cNvSpPr>
          <p:nvPr>
            <p:ph idx="1"/>
          </p:nvPr>
        </p:nvSpPr>
        <p:spPr/>
        <p:txBody>
          <a:bodyPr>
            <a:normAutofit/>
          </a:bodyPr>
          <a:lstStyle/>
          <a:p>
            <a:r>
              <a:rPr lang="en-US" dirty="0" err="1"/>
              <a:t>Bài</a:t>
            </a:r>
            <a:r>
              <a:rPr lang="en-US" dirty="0"/>
              <a:t> 6: </a:t>
            </a:r>
            <a:r>
              <a:rPr lang="vi-VN" dirty="0"/>
              <a:t>Sử dụng panel, splitcontainer: </a:t>
            </a:r>
            <a:r>
              <a:rPr lang="vi-VN" sz="1800" dirty="0">
                <a:hlinkClick r:id="rId2"/>
              </a:rPr>
              <a:t>https://www.youtube.com/watch?v=1pLZxy9ZK1M</a:t>
            </a:r>
            <a:endParaRPr lang="vi-VN" sz="1800" dirty="0"/>
          </a:p>
          <a:p>
            <a:endParaRPr lang="vi-VN" sz="1800" dirty="0"/>
          </a:p>
        </p:txBody>
      </p:sp>
      <p:sp>
        <p:nvSpPr>
          <p:cNvPr id="4" name="Date Placeholder 3">
            <a:extLst>
              <a:ext uri="{FF2B5EF4-FFF2-40B4-BE49-F238E27FC236}">
                <a16:creationId xmlns:a16="http://schemas.microsoft.com/office/drawing/2014/main" id="{F0801D0F-4996-4627-9BB9-AC357F56255C}"/>
              </a:ext>
            </a:extLst>
          </p:cNvPr>
          <p:cNvSpPr>
            <a:spLocks noGrp="1"/>
          </p:cNvSpPr>
          <p:nvPr>
            <p:ph type="dt" sz="half" idx="10"/>
          </p:nvPr>
        </p:nvSpPr>
        <p:spPr/>
        <p:txBody>
          <a:bodyPr/>
          <a:lstStyle/>
          <a:p>
            <a:fld id="{821366D4-E861-4652-BF37-5119180CB378}" type="datetime1">
              <a:rPr lang="vi-VN" smtClean="0"/>
              <a:t>20/02/2025</a:t>
            </a:fld>
            <a:endParaRPr lang="vi-VN"/>
          </a:p>
        </p:txBody>
      </p:sp>
      <p:sp>
        <p:nvSpPr>
          <p:cNvPr id="5" name="Footer Placeholder 4">
            <a:extLst>
              <a:ext uri="{FF2B5EF4-FFF2-40B4-BE49-F238E27FC236}">
                <a16:creationId xmlns:a16="http://schemas.microsoft.com/office/drawing/2014/main" id="{53F2B0A7-8E8B-469D-AE4F-6C05196F7FBE}"/>
              </a:ext>
            </a:extLst>
          </p:cNvPr>
          <p:cNvSpPr>
            <a:spLocks noGrp="1"/>
          </p:cNvSpPr>
          <p:nvPr>
            <p:ph type="ftr" sz="quarter" idx="11"/>
          </p:nvPr>
        </p:nvSpPr>
        <p:spPr/>
        <p:txBody>
          <a:bodyPr/>
          <a:lstStyle/>
          <a:p>
            <a:r>
              <a:rPr lang="vi-VN"/>
              <a:t>Chương 4. Lập trình giao diện trong Windows</a:t>
            </a:r>
          </a:p>
        </p:txBody>
      </p:sp>
      <p:sp>
        <p:nvSpPr>
          <p:cNvPr id="6" name="Slide Number Placeholder 5">
            <a:extLst>
              <a:ext uri="{FF2B5EF4-FFF2-40B4-BE49-F238E27FC236}">
                <a16:creationId xmlns:a16="http://schemas.microsoft.com/office/drawing/2014/main" id="{A030D47D-905C-4E5C-B875-1392102525CE}"/>
              </a:ext>
            </a:extLst>
          </p:cNvPr>
          <p:cNvSpPr>
            <a:spLocks noGrp="1"/>
          </p:cNvSpPr>
          <p:nvPr>
            <p:ph type="sldNum" sz="quarter" idx="12"/>
          </p:nvPr>
        </p:nvSpPr>
        <p:spPr/>
        <p:txBody>
          <a:bodyPr/>
          <a:lstStyle/>
          <a:p>
            <a:fld id="{5AB95402-1E0D-474E-8D8C-CBE7F053639E}" type="slidenum">
              <a:rPr lang="vi-VN" smtClean="0"/>
              <a:pPr/>
              <a:t>54</a:t>
            </a:fld>
            <a:r>
              <a:rPr lang="vi-VN"/>
              <a:t>/51</a:t>
            </a:r>
          </a:p>
        </p:txBody>
      </p:sp>
      <p:sp>
        <p:nvSpPr>
          <p:cNvPr id="2" name="Title 1">
            <a:extLst>
              <a:ext uri="{FF2B5EF4-FFF2-40B4-BE49-F238E27FC236}">
                <a16:creationId xmlns:a16="http://schemas.microsoft.com/office/drawing/2014/main" id="{865045CE-A16C-484C-898B-CFDC523CBC73}"/>
              </a:ext>
            </a:extLst>
          </p:cNvPr>
          <p:cNvSpPr>
            <a:spLocks noGrp="1"/>
          </p:cNvSpPr>
          <p:nvPr>
            <p:ph type="title"/>
          </p:nvPr>
        </p:nvSpPr>
        <p:spPr/>
        <p:txBody>
          <a:bodyPr/>
          <a:lstStyle/>
          <a:p>
            <a:r>
              <a:rPr lang="en-US" dirty="0" err="1"/>
              <a:t>Bài</a:t>
            </a:r>
            <a:r>
              <a:rPr lang="en-US" dirty="0"/>
              <a:t> </a:t>
            </a:r>
            <a:r>
              <a:rPr lang="en-US" dirty="0" err="1"/>
              <a:t>tập</a:t>
            </a:r>
            <a:r>
              <a:rPr lang="en-US" dirty="0"/>
              <a:t> </a:t>
            </a:r>
            <a:r>
              <a:rPr lang="en-US" dirty="0" err="1"/>
              <a:t>về</a:t>
            </a:r>
            <a:r>
              <a:rPr lang="en-US" dirty="0"/>
              <a:t> </a:t>
            </a:r>
            <a:r>
              <a:rPr lang="en-US" dirty="0" err="1"/>
              <a:t>nhà</a:t>
            </a:r>
            <a:endParaRPr lang="en-US" dirty="0"/>
          </a:p>
        </p:txBody>
      </p:sp>
    </p:spTree>
    <p:extLst>
      <p:ext uri="{BB962C8B-B14F-4D97-AF65-F5344CB8AC3E}">
        <p14:creationId xmlns:p14="http://schemas.microsoft.com/office/powerpoint/2010/main" val="3169758585"/>
      </p:ext>
    </p:extLst>
  </p:cSld>
  <p:clrMapOvr>
    <a:masterClrMapping/>
  </p:clrMapOvr>
</p:sld>
</file>

<file path=ppt/theme/theme1.xml><?xml version="1.0" encoding="utf-8"?>
<a:theme xmlns:a="http://schemas.openxmlformats.org/drawingml/2006/main" name="MM_Lec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C03-Lap trinh huong doi tuong trong C# - Part 1</Template>
  <TotalTime>7959</TotalTime>
  <Words>4304</Words>
  <Application>Microsoft Macintosh PowerPoint</Application>
  <PresentationFormat>On-screen Show (4:3)</PresentationFormat>
  <Paragraphs>804</Paragraphs>
  <Slides>54</Slides>
  <Notes>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54</vt:i4>
      </vt:variant>
    </vt:vector>
  </HeadingPairs>
  <TitlesOfParts>
    <vt:vector size="63" baseType="lpstr">
      <vt:lpstr>Arial</vt:lpstr>
      <vt:lpstr>Calibri</vt:lpstr>
      <vt:lpstr>Cambria</vt:lpstr>
      <vt:lpstr>Consolas</vt:lpstr>
      <vt:lpstr>Tahoma</vt:lpstr>
      <vt:lpstr>Times New Roman</vt:lpstr>
      <vt:lpstr>Verdana</vt:lpstr>
      <vt:lpstr>Wingdings</vt:lpstr>
      <vt:lpstr>MM_Lec1</vt:lpstr>
      <vt:lpstr>Chương 4 LẬP TRÌNH GIAO DIỆN  TRONG WINDOWS</vt:lpstr>
      <vt:lpstr>Nội dung</vt:lpstr>
      <vt:lpstr>1. Lập trình giao diện trong Windows</vt:lpstr>
      <vt:lpstr>Tạo ứng dụng Windows Form</vt:lpstr>
      <vt:lpstr>Windows Form</vt:lpstr>
      <vt:lpstr>PowerPoint Presentation</vt:lpstr>
      <vt:lpstr>2. Windows form và các điều khiển</vt:lpstr>
      <vt:lpstr>Xử lý sự kiện</vt:lpstr>
      <vt:lpstr>Hộp thông báo - MessageBox</vt:lpstr>
      <vt:lpstr>Hộp thông báo</vt:lpstr>
      <vt:lpstr>Các điều khiển</vt:lpstr>
      <vt:lpstr>Form</vt:lpstr>
      <vt:lpstr>Form</vt:lpstr>
      <vt:lpstr>Form</vt:lpstr>
      <vt:lpstr>Form</vt:lpstr>
      <vt:lpstr>Textbox</vt:lpstr>
      <vt:lpstr>Textbox</vt:lpstr>
      <vt:lpstr>Textbox</vt:lpstr>
      <vt:lpstr>Textbox</vt:lpstr>
      <vt:lpstr>Textbox</vt:lpstr>
      <vt:lpstr>Textbox – Ví dụ</vt:lpstr>
      <vt:lpstr>MaskedTextbox</vt:lpstr>
      <vt:lpstr>Label - nhãn</vt:lpstr>
      <vt:lpstr>Button – nút nhấn</vt:lpstr>
      <vt:lpstr>Button</vt:lpstr>
      <vt:lpstr>Button</vt:lpstr>
      <vt:lpstr>GroupBox - nhóm</vt:lpstr>
      <vt:lpstr>Checkbox – Hộp đánh dấu</vt:lpstr>
      <vt:lpstr>Checkbox – Hộp đánh dấu</vt:lpstr>
      <vt:lpstr>RadioButton – Nút tuỳ chọn</vt:lpstr>
      <vt:lpstr>RadioButton – Nút tuỳ chọn</vt:lpstr>
      <vt:lpstr>Listbox – Hộp danh sách</vt:lpstr>
      <vt:lpstr>Listbox – Hộp danh sách</vt:lpstr>
      <vt:lpstr>Listbox – Hộp danh sách</vt:lpstr>
      <vt:lpstr>ComboBox – Hộp lựa chọn</vt:lpstr>
      <vt:lpstr>ComboBox – Hộp lựa chọn</vt:lpstr>
      <vt:lpstr>ComboBox – Hộp lựa chọn</vt:lpstr>
      <vt:lpstr>CheckedListBox</vt:lpstr>
      <vt:lpstr>NumericUpDown</vt:lpstr>
      <vt:lpstr>Thanh cuộn HScrollBar và VScrollBar</vt:lpstr>
      <vt:lpstr>Tooltip – dòng chú thích</vt:lpstr>
      <vt:lpstr>Timer – Bộ đếm thời gian</vt:lpstr>
      <vt:lpstr>RichTextBox</vt:lpstr>
      <vt:lpstr>DateTimePicker</vt:lpstr>
      <vt:lpstr>Windows Media Player</vt:lpstr>
      <vt:lpstr>Bài tập về nhà</vt:lpstr>
      <vt:lpstr>Bài tập về nhà</vt:lpstr>
      <vt:lpstr>Bài tập về nhà</vt:lpstr>
      <vt:lpstr>Bài tập về nhà</vt:lpstr>
      <vt:lpstr>Bài tập về nhà</vt:lpstr>
      <vt:lpstr>PowerPoint Presentation</vt:lpstr>
      <vt:lpstr>Bài tập về nhà</vt:lpstr>
      <vt:lpstr>Bài tập về nhà</vt:lpstr>
      <vt:lpstr>Bài tập về nhà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hue tran</cp:lastModifiedBy>
  <cp:revision>97</cp:revision>
  <dcterms:created xsi:type="dcterms:W3CDTF">2011-07-17T01:46:34Z</dcterms:created>
  <dcterms:modified xsi:type="dcterms:W3CDTF">2025-02-20T13:13:08Z</dcterms:modified>
</cp:coreProperties>
</file>