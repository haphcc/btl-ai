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0E_F3FCE189.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98"/>
  </p:notesMasterIdLst>
  <p:sldIdLst>
    <p:sldId id="256" r:id="rId2"/>
    <p:sldId id="259" r:id="rId3"/>
    <p:sldId id="316" r:id="rId4"/>
    <p:sldId id="349" r:id="rId5"/>
    <p:sldId id="350" r:id="rId6"/>
    <p:sldId id="260" r:id="rId7"/>
    <p:sldId id="353" r:id="rId8"/>
    <p:sldId id="354" r:id="rId9"/>
    <p:sldId id="355" r:id="rId10"/>
    <p:sldId id="356" r:id="rId11"/>
    <p:sldId id="358" r:id="rId12"/>
    <p:sldId id="359" r:id="rId13"/>
    <p:sldId id="360" r:id="rId14"/>
    <p:sldId id="361" r:id="rId15"/>
    <p:sldId id="362" r:id="rId16"/>
    <p:sldId id="383" r:id="rId17"/>
    <p:sldId id="382" r:id="rId18"/>
    <p:sldId id="363" r:id="rId19"/>
    <p:sldId id="318" r:id="rId20"/>
    <p:sldId id="269" r:id="rId21"/>
    <p:sldId id="267" r:id="rId22"/>
    <p:sldId id="270" r:id="rId23"/>
    <p:sldId id="275" r:id="rId24"/>
    <p:sldId id="306" r:id="rId25"/>
    <p:sldId id="273" r:id="rId26"/>
    <p:sldId id="274" r:id="rId27"/>
    <p:sldId id="276" r:id="rId28"/>
    <p:sldId id="364" r:id="rId29"/>
    <p:sldId id="366" r:id="rId30"/>
    <p:sldId id="367" r:id="rId31"/>
    <p:sldId id="368" r:id="rId32"/>
    <p:sldId id="319" r:id="rId33"/>
    <p:sldId id="320" r:id="rId34"/>
    <p:sldId id="321" r:id="rId35"/>
    <p:sldId id="323" r:id="rId36"/>
    <p:sldId id="324" r:id="rId37"/>
    <p:sldId id="325" r:id="rId38"/>
    <p:sldId id="322" r:id="rId39"/>
    <p:sldId id="326" r:id="rId40"/>
    <p:sldId id="369" r:id="rId41"/>
    <p:sldId id="263" r:id="rId42"/>
    <p:sldId id="264" r:id="rId43"/>
    <p:sldId id="265" r:id="rId44"/>
    <p:sldId id="266" r:id="rId45"/>
    <p:sldId id="371" r:id="rId46"/>
    <p:sldId id="372" r:id="rId47"/>
    <p:sldId id="373" r:id="rId48"/>
    <p:sldId id="374" r:id="rId49"/>
    <p:sldId id="375" r:id="rId50"/>
    <p:sldId id="272" r:id="rId51"/>
    <p:sldId id="377" r:id="rId52"/>
    <p:sldId id="378" r:id="rId53"/>
    <p:sldId id="379" r:id="rId54"/>
    <p:sldId id="380" r:id="rId55"/>
    <p:sldId id="381" r:id="rId56"/>
    <p:sldId id="331" r:id="rId57"/>
    <p:sldId id="332" r:id="rId58"/>
    <p:sldId id="333" r:id="rId59"/>
    <p:sldId id="334" r:id="rId60"/>
    <p:sldId id="277" r:id="rId61"/>
    <p:sldId id="297" r:id="rId62"/>
    <p:sldId id="280" r:id="rId63"/>
    <p:sldId id="308" r:id="rId64"/>
    <p:sldId id="315" r:id="rId65"/>
    <p:sldId id="285" r:id="rId66"/>
    <p:sldId id="286" r:id="rId67"/>
    <p:sldId id="258" r:id="rId68"/>
    <p:sldId id="335" r:id="rId69"/>
    <p:sldId id="284" r:id="rId70"/>
    <p:sldId id="336" r:id="rId71"/>
    <p:sldId id="287" r:id="rId72"/>
    <p:sldId id="288" r:id="rId73"/>
    <p:sldId id="337" r:id="rId74"/>
    <p:sldId id="338" r:id="rId75"/>
    <p:sldId id="262" r:id="rId76"/>
    <p:sldId id="339" r:id="rId77"/>
    <p:sldId id="293" r:id="rId78"/>
    <p:sldId id="340" r:id="rId79"/>
    <p:sldId id="341" r:id="rId80"/>
    <p:sldId id="342" r:id="rId81"/>
    <p:sldId id="343" r:id="rId82"/>
    <p:sldId id="344" r:id="rId83"/>
    <p:sldId id="345" r:id="rId84"/>
    <p:sldId id="346" r:id="rId85"/>
    <p:sldId id="347" r:id="rId86"/>
    <p:sldId id="268" r:id="rId87"/>
    <p:sldId id="348" r:id="rId88"/>
    <p:sldId id="271" r:id="rId89"/>
    <p:sldId id="298" r:id="rId90"/>
    <p:sldId id="299" r:id="rId91"/>
    <p:sldId id="301" r:id="rId92"/>
    <p:sldId id="305" r:id="rId93"/>
    <p:sldId id="304" r:id="rId94"/>
    <p:sldId id="384" r:id="rId95"/>
    <p:sldId id="385" r:id="rId96"/>
    <p:sldId id="386" r:id="rId97"/>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632AC2F-B1A4-C9A5-B3AF-33020AB582BB}" name="Office" initials="" userId="S::21007@office365online.co::0d873e40-f556-41a5-bb21-97e1001a4bd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66"/>
    <a:srgbClr val="6DFB8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55357" autoAdjust="0"/>
  </p:normalViewPr>
  <p:slideViewPr>
    <p:cSldViewPr>
      <p:cViewPr varScale="1">
        <p:scale>
          <a:sx n="58" d="100"/>
          <a:sy n="58" d="100"/>
        </p:scale>
        <p:origin x="2334" y="6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microsoft.com/office/2018/10/relationships/authors" Targe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s>
</file>

<file path=ppt/comments/modernComment_10E_F3FCE189.xml><?xml version="1.0" encoding="utf-8"?>
<p188:cmLst xmlns:a="http://schemas.openxmlformats.org/drawingml/2006/main" xmlns:r="http://schemas.openxmlformats.org/officeDocument/2006/relationships" xmlns:p188="http://schemas.microsoft.com/office/powerpoint/2018/8/main">
  <p188:cm id="{28262B6F-C993-4B59-84FD-A902DC8FC725}" authorId="{7632AC2F-B1A4-C9A5-B3AF-33020AB582BB}" created="2025-02-04T10:00:30.612">
    <pc:sldMkLst xmlns:pc="http://schemas.microsoft.com/office/powerpoint/2013/main/command">
      <pc:docMk/>
      <pc:sldMk cId="4093436297" sldId="270"/>
    </pc:sldMkLst>
    <p188:txBody>
      <a:bodyPr/>
      <a:lstStyle/>
      <a:p>
        <a:r>
          <a:rPr lang="en-GB"/>
          <a:t>Liệu pate code vào được ko ạ, hình hơi mờ</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B59136-7F74-4509-B20E-AE351757F38F}" type="datetimeFigureOut">
              <a:rPr lang="vi-VN" smtClean="0"/>
              <a:t>04/02/2025</a:t>
            </a:fld>
            <a:endParaRPr lang="vi-V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EA7600A-770C-47F1-89C1-5023B6D362E3}" type="slidenum">
              <a:rPr lang="vi-VN" smtClean="0"/>
              <a:t>‹#›</a:t>
            </a:fld>
            <a:endParaRPr lang="vi-VN"/>
          </a:p>
        </p:txBody>
      </p:sp>
    </p:spTree>
    <p:extLst>
      <p:ext uri="{BB962C8B-B14F-4D97-AF65-F5344CB8AC3E}">
        <p14:creationId xmlns:p14="http://schemas.microsoft.com/office/powerpoint/2010/main" val="475374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p:spPr>
      </p:sp>
      <p:sp>
        <p:nvSpPr>
          <p:cNvPr id="3891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3891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F68E398-2F6C-4593-8EEE-8DC7A0A69EB4}" type="slidenum">
              <a:rPr lang="en-US"/>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p:spPr>
      </p:sp>
      <p:sp>
        <p:nvSpPr>
          <p:cNvPr id="3891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3891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F68E398-2F6C-4593-8EEE-8DC7A0A69EB4}" type="slidenum">
              <a:rPr lang="en-US"/>
              <a:pPr/>
              <a:t>3</a:t>
            </a:fld>
            <a:endParaRPr lang="en-US"/>
          </a:p>
        </p:txBody>
      </p:sp>
    </p:spTree>
    <p:extLst>
      <p:ext uri="{BB962C8B-B14F-4D97-AF65-F5344CB8AC3E}">
        <p14:creationId xmlns:p14="http://schemas.microsoft.com/office/powerpoint/2010/main" val="38633564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sz="2800" b="0" i="0">
                <a:solidFill>
                  <a:srgbClr val="222C37"/>
                </a:solidFill>
                <a:effectLst/>
                <a:latin typeface="Google Sans"/>
              </a:rPr>
              <a:t>Nếu khai báo lớp mà không chỉ ra phạm vi cụ thể thì phạm vi mặc định là </a:t>
            </a:r>
            <a:r>
              <a:rPr lang="en-US" sz="2800" b="0" i="0">
                <a:solidFill>
                  <a:srgbClr val="0000FF"/>
                </a:solidFill>
                <a:effectLst/>
                <a:latin typeface="Google Sans"/>
              </a:rPr>
              <a:t>internal</a:t>
            </a:r>
            <a:r>
              <a:rPr lang="en-US" sz="2800" b="0" i="0">
                <a:solidFill>
                  <a:srgbClr val="222C37"/>
                </a:solidFill>
                <a:effectLst/>
                <a:latin typeface="Google Sans"/>
              </a:rPr>
              <a:t> (</a:t>
            </a:r>
            <a:r>
              <a:rPr lang="vi-VN" sz="2800" b="1"/>
              <a:t>internal</a:t>
            </a:r>
            <a:r>
              <a:rPr lang="vi-VN" sz="2800"/>
              <a:t> nghĩa là các thành phần được khai báo với phạm vi truy cập này </a:t>
            </a:r>
            <a:r>
              <a:rPr lang="vi-VN" sz="2800" b="1"/>
              <a:t>chỉ có thể được truy cập trong cùng một assembly</a:t>
            </a:r>
            <a:r>
              <a:rPr lang="vi-VN" sz="2800"/>
              <a:t> (tệp .exe hoặc .dll)</a:t>
            </a:r>
            <a:r>
              <a:rPr lang="en-US" sz="2800"/>
              <a:t> </a:t>
            </a:r>
            <a:r>
              <a:rPr lang="vi-VN" sz="2800" b="1"/>
              <a:t>Tệp .dll</a:t>
            </a:r>
            <a:r>
              <a:rPr lang="vi-VN" sz="2800"/>
              <a:t> (Dynamic Link Library) — Thư viện dùng chung.</a:t>
            </a:r>
            <a:r>
              <a:rPr lang="vi-VN" sz="2800" b="1"/>
              <a:t>Tệp .exe</a:t>
            </a:r>
            <a:r>
              <a:rPr lang="vi-VN" sz="2800"/>
              <a:t> (Executable) — Ứng dụng thực thi.</a:t>
            </a:r>
            <a:endParaRPr lang="en-US" sz="2800" b="0" i="0">
              <a:solidFill>
                <a:srgbClr val="222C37"/>
              </a:solidFill>
              <a:effectLst/>
              <a:latin typeface="Google Sans"/>
            </a:endParaRPr>
          </a:p>
          <a:p>
            <a:pPr algn="l">
              <a:buFont typeface="Arial" panose="020B0604020202020204" pitchFamily="34" charset="0"/>
              <a:buChar char="•"/>
            </a:pPr>
            <a:r>
              <a:rPr lang="en-US" sz="2800" b="0" i="0">
                <a:solidFill>
                  <a:srgbClr val="222C37"/>
                </a:solidFill>
                <a:effectLst/>
                <a:latin typeface="Google Sans"/>
              </a:rPr>
              <a:t>Nếu khai báo thành phần bên trong lớp mà không chỉ ra phạm vi cụ thể thì phạm vị mặc định là </a:t>
            </a:r>
            <a:r>
              <a:rPr lang="en-US" sz="2800" b="0" i="0">
                <a:solidFill>
                  <a:srgbClr val="0000FF"/>
                </a:solidFill>
                <a:effectLst/>
                <a:latin typeface="Google Sans"/>
              </a:rPr>
              <a:t>private</a:t>
            </a:r>
            <a:r>
              <a:rPr lang="en-US" sz="2800" b="0" i="0">
                <a:solidFill>
                  <a:srgbClr val="222C37"/>
                </a:solidFill>
                <a:effectLst/>
                <a:latin typeface="Google Sans"/>
              </a:rPr>
              <a:t>.</a:t>
            </a:r>
          </a:p>
          <a:p>
            <a:endParaRPr lang="en-US" sz="1800">
              <a:latin typeface="Segoe UI" panose="020B0502040204020203" pitchFamily="34" charset="0"/>
            </a:endParaRPr>
          </a:p>
          <a:p>
            <a:r>
              <a:rPr lang="en-US" sz="1800">
                <a:latin typeface="Segoe UI" panose="020B0502040204020203" pitchFamily="34" charset="0"/>
              </a:rPr>
              <a:t>Public </a:t>
            </a:r>
            <a:r>
              <a:rPr lang="en-US" sz="1800" dirty="0">
                <a:latin typeface="Segoe UI" panose="020B0502040204020203" pitchFamily="34" charset="0"/>
              </a:rPr>
              <a:t>hay private, internal…là </a:t>
            </a:r>
            <a:r>
              <a:rPr lang="en-US" sz="1800" dirty="0" err="1">
                <a:latin typeface="Segoe UI" panose="020B0502040204020203" pitchFamily="34" charset="0"/>
              </a:rPr>
              <a:t>từ</a:t>
            </a:r>
            <a:r>
              <a:rPr lang="en-US" sz="1800" dirty="0">
                <a:latin typeface="Segoe UI" panose="020B0502040204020203" pitchFamily="34" charset="0"/>
              </a:rPr>
              <a:t> </a:t>
            </a:r>
            <a:r>
              <a:rPr lang="en-US" sz="1800" dirty="0" err="1">
                <a:latin typeface="Segoe UI" panose="020B0502040204020203" pitchFamily="34" charset="0"/>
              </a:rPr>
              <a:t>khóa</a:t>
            </a:r>
            <a:r>
              <a:rPr lang="en-US" sz="1800" dirty="0">
                <a:latin typeface="Segoe UI" panose="020B0502040204020203" pitchFamily="34" charset="0"/>
              </a:rPr>
              <a:t> </a:t>
            </a:r>
            <a:r>
              <a:rPr lang="en-US" sz="1800" dirty="0" err="1">
                <a:latin typeface="Segoe UI" panose="020B0502040204020203" pitchFamily="34" charset="0"/>
              </a:rPr>
              <a:t>điều</a:t>
            </a:r>
            <a:r>
              <a:rPr lang="en-US" sz="1800" dirty="0">
                <a:latin typeface="Segoe UI" panose="020B0502040204020203" pitchFamily="34" charset="0"/>
              </a:rPr>
              <a:t> </a:t>
            </a:r>
            <a:r>
              <a:rPr lang="en-US" sz="1800" dirty="0" err="1">
                <a:latin typeface="Segoe UI" panose="020B0502040204020203" pitchFamily="34" charset="0"/>
              </a:rPr>
              <a:t>khiển</a:t>
            </a:r>
            <a:r>
              <a:rPr lang="en-US" sz="1800" dirty="0">
                <a:latin typeface="Segoe UI" panose="020B0502040204020203" pitchFamily="34" charset="0"/>
              </a:rPr>
              <a:t> </a:t>
            </a:r>
            <a:r>
              <a:rPr lang="en-US" sz="1800" dirty="0" err="1">
                <a:latin typeface="Segoe UI" panose="020B0502040204020203" pitchFamily="34" charset="0"/>
              </a:rPr>
              <a:t>truy</a:t>
            </a:r>
            <a:r>
              <a:rPr lang="en-US" sz="1800" dirty="0">
                <a:latin typeface="Segoe UI" panose="020B0502040204020203" pitchFamily="34" charset="0"/>
              </a:rPr>
              <a:t> </a:t>
            </a:r>
            <a:r>
              <a:rPr lang="en-US" sz="1800" dirty="0" err="1">
                <a:latin typeface="Segoe UI" panose="020B0502040204020203" pitchFamily="34" charset="0"/>
              </a:rPr>
              <a:t>cập</a:t>
            </a:r>
            <a:r>
              <a:rPr lang="en-US" sz="1800" dirty="0">
                <a:latin typeface="Segoe UI" panose="020B0502040204020203" pitchFamily="34" charset="0"/>
              </a:rPr>
              <a:t> </a:t>
            </a:r>
            <a:r>
              <a:rPr lang="en-US" sz="1800" dirty="0" err="1">
                <a:latin typeface="Segoe UI" panose="020B0502040204020203" pitchFamily="34" charset="0"/>
              </a:rPr>
              <a:t>của</a:t>
            </a:r>
            <a:r>
              <a:rPr lang="en-US" sz="1800" dirty="0">
                <a:latin typeface="Segoe UI" panose="020B0502040204020203" pitchFamily="34" charset="0"/>
              </a:rPr>
              <a:t> class. </a:t>
            </a:r>
            <a:r>
              <a:rPr lang="en-US" sz="1800" dirty="0" err="1">
                <a:latin typeface="Segoe UI" panose="020B0502040204020203" pitchFamily="34" charset="0"/>
              </a:rPr>
              <a:t>Nó</a:t>
            </a:r>
            <a:r>
              <a:rPr lang="en-US" sz="1800" dirty="0">
                <a:latin typeface="Segoe UI" panose="020B0502040204020203" pitchFamily="34" charset="0"/>
              </a:rPr>
              <a:t> </a:t>
            </a:r>
            <a:r>
              <a:rPr lang="en-US" sz="1800" dirty="0" err="1">
                <a:latin typeface="Segoe UI" panose="020B0502040204020203" pitchFamily="34" charset="0"/>
              </a:rPr>
              <a:t>quyết</a:t>
            </a:r>
            <a:r>
              <a:rPr lang="en-US" sz="1800" dirty="0">
                <a:latin typeface="Segoe UI" panose="020B0502040204020203" pitchFamily="34" charset="0"/>
              </a:rPr>
              <a:t> </a:t>
            </a:r>
            <a:r>
              <a:rPr lang="en-US" sz="1800" dirty="0" err="1">
                <a:latin typeface="Segoe UI" panose="020B0502040204020203" pitchFamily="34" charset="0"/>
              </a:rPr>
              <a:t>định</a:t>
            </a:r>
            <a:r>
              <a:rPr lang="en-US" sz="1800" dirty="0">
                <a:latin typeface="Segoe UI" panose="020B0502040204020203" pitchFamily="34" charset="0"/>
              </a:rPr>
              <a:t> </a:t>
            </a:r>
            <a:r>
              <a:rPr lang="en-US" sz="1800" dirty="0" err="1">
                <a:latin typeface="Segoe UI" panose="020B0502040204020203" pitchFamily="34" charset="0"/>
              </a:rPr>
              <a:t>phạm</a:t>
            </a:r>
            <a:r>
              <a:rPr lang="en-US" sz="1800" dirty="0">
                <a:latin typeface="Segoe UI" panose="020B0502040204020203" pitchFamily="34" charset="0"/>
              </a:rPr>
              <a:t> vi </a:t>
            </a:r>
            <a:r>
              <a:rPr lang="en-US" sz="1800" dirty="0" err="1">
                <a:latin typeface="Segoe UI" panose="020B0502040204020203" pitchFamily="34" charset="0"/>
              </a:rPr>
              <a:t>sử</a:t>
            </a:r>
            <a:r>
              <a:rPr lang="en-US" sz="1800" dirty="0">
                <a:latin typeface="Segoe UI" panose="020B0502040204020203" pitchFamily="34" charset="0"/>
              </a:rPr>
              <a:t> </a:t>
            </a:r>
            <a:r>
              <a:rPr lang="en-US" sz="1800" dirty="0" err="1">
                <a:latin typeface="Segoe UI" panose="020B0502040204020203" pitchFamily="34" charset="0"/>
              </a:rPr>
              <a:t>dụng</a:t>
            </a:r>
            <a:r>
              <a:rPr lang="en-US" sz="1800" dirty="0">
                <a:latin typeface="Segoe UI" panose="020B0502040204020203" pitchFamily="34" charset="0"/>
              </a:rPr>
              <a:t> </a:t>
            </a:r>
            <a:r>
              <a:rPr lang="en-US" sz="1800" dirty="0" err="1">
                <a:latin typeface="Segoe UI" panose="020B0502040204020203" pitchFamily="34" charset="0"/>
              </a:rPr>
              <a:t>của</a:t>
            </a:r>
            <a:r>
              <a:rPr lang="en-US" sz="1800" dirty="0">
                <a:latin typeface="Segoe UI" panose="020B0502040204020203" pitchFamily="34" charset="0"/>
              </a:rPr>
              <a:t> class. </a:t>
            </a:r>
            <a:r>
              <a:rPr lang="en-US" sz="1800" dirty="0" err="1">
                <a:latin typeface="Segoe UI" panose="020B0502040204020203" pitchFamily="34" charset="0"/>
              </a:rPr>
              <a:t>Muốn</a:t>
            </a:r>
            <a:r>
              <a:rPr lang="en-US" sz="1800" dirty="0">
                <a:latin typeface="Segoe UI" panose="020B0502040204020203" pitchFamily="34" charset="0"/>
              </a:rPr>
              <a:t> </a:t>
            </a:r>
            <a:r>
              <a:rPr lang="en-US" sz="1800" dirty="0" err="1">
                <a:latin typeface="Segoe UI" panose="020B0502040204020203" pitchFamily="34" charset="0"/>
              </a:rPr>
              <a:t>sử</a:t>
            </a:r>
            <a:r>
              <a:rPr lang="en-US" sz="1800" dirty="0">
                <a:latin typeface="Segoe UI" panose="020B0502040204020203" pitchFamily="34" charset="0"/>
              </a:rPr>
              <a:t> </a:t>
            </a:r>
            <a:r>
              <a:rPr lang="en-US" sz="1800" dirty="0" err="1">
                <a:latin typeface="Segoe UI" panose="020B0502040204020203" pitchFamily="34" charset="0"/>
              </a:rPr>
              <a:t>dụng</a:t>
            </a:r>
            <a:r>
              <a:rPr lang="en-US" sz="1800" dirty="0">
                <a:latin typeface="Segoe UI" panose="020B0502040204020203" pitchFamily="34" charset="0"/>
              </a:rPr>
              <a:t> class </a:t>
            </a:r>
            <a:r>
              <a:rPr lang="en-US" sz="1800" dirty="0" err="1">
                <a:latin typeface="Segoe UI" panose="020B0502040204020203" pitchFamily="34" charset="0"/>
              </a:rPr>
              <a:t>trong</a:t>
            </a:r>
            <a:r>
              <a:rPr lang="en-US" sz="1800" dirty="0">
                <a:latin typeface="Segoe UI" panose="020B0502040204020203" pitchFamily="34" charset="0"/>
              </a:rPr>
              <a:t> project </a:t>
            </a:r>
            <a:r>
              <a:rPr lang="en-US" sz="1800" dirty="0" err="1">
                <a:latin typeface="Segoe UI" panose="020B0502040204020203" pitchFamily="34" charset="0"/>
              </a:rPr>
              <a:t>khác</a:t>
            </a:r>
            <a:r>
              <a:rPr lang="en-US" sz="1800" dirty="0">
                <a:latin typeface="Segoe UI" panose="020B0502040204020203" pitchFamily="34" charset="0"/>
              </a:rPr>
              <a:t> thì </a:t>
            </a:r>
            <a:r>
              <a:rPr lang="en-US" sz="1800" dirty="0" err="1">
                <a:latin typeface="Segoe UI" panose="020B0502040204020203" pitchFamily="34" charset="0"/>
              </a:rPr>
              <a:t>trước</a:t>
            </a:r>
            <a:r>
              <a:rPr lang="en-US" sz="1800" dirty="0">
                <a:latin typeface="Segoe UI" panose="020B0502040204020203" pitchFamily="34" charset="0"/>
              </a:rPr>
              <a:t> </a:t>
            </a:r>
            <a:r>
              <a:rPr lang="en-US" sz="1800" dirty="0" err="1">
                <a:latin typeface="Segoe UI" panose="020B0502040204020203" pitchFamily="34" charset="0"/>
              </a:rPr>
              <a:t>từ</a:t>
            </a:r>
            <a:r>
              <a:rPr lang="en-US" sz="1800" dirty="0">
                <a:latin typeface="Segoe UI" panose="020B0502040204020203" pitchFamily="34" charset="0"/>
              </a:rPr>
              <a:t> </a:t>
            </a:r>
            <a:r>
              <a:rPr lang="en-US" sz="1800" dirty="0" err="1">
                <a:latin typeface="Segoe UI" panose="020B0502040204020203" pitchFamily="34" charset="0"/>
              </a:rPr>
              <a:t>khóa</a:t>
            </a:r>
            <a:r>
              <a:rPr lang="en-US" sz="1800" dirty="0">
                <a:latin typeface="Segoe UI" panose="020B0502040204020203" pitchFamily="34" charset="0"/>
              </a:rPr>
              <a:t> class </a:t>
            </a:r>
            <a:r>
              <a:rPr lang="en-US" sz="1800" dirty="0" err="1">
                <a:latin typeface="Segoe UI" panose="020B0502040204020203" pitchFamily="34" charset="0"/>
              </a:rPr>
              <a:t>bổ</a:t>
            </a:r>
            <a:r>
              <a:rPr lang="en-US" sz="1800" dirty="0">
                <a:latin typeface="Segoe UI" panose="020B0502040204020203" pitchFamily="34" charset="0"/>
              </a:rPr>
              <a:t> sung </a:t>
            </a:r>
            <a:r>
              <a:rPr lang="en-US" sz="1800" dirty="0" err="1">
                <a:latin typeface="Segoe UI" panose="020B0502040204020203" pitchFamily="34" charset="0"/>
              </a:rPr>
              <a:t>từ</a:t>
            </a:r>
            <a:r>
              <a:rPr lang="en-US" sz="1800" dirty="0">
                <a:latin typeface="Segoe UI" panose="020B0502040204020203" pitchFamily="34" charset="0"/>
              </a:rPr>
              <a:t> </a:t>
            </a:r>
            <a:r>
              <a:rPr lang="en-US" sz="1800" dirty="0" err="1">
                <a:latin typeface="Segoe UI" panose="020B0502040204020203" pitchFamily="34" charset="0"/>
              </a:rPr>
              <a:t>khóa</a:t>
            </a:r>
            <a:r>
              <a:rPr lang="en-US" sz="1800" dirty="0">
                <a:latin typeface="Segoe UI" panose="020B0502040204020203" pitchFamily="34" charset="0"/>
              </a:rPr>
              <a:t>: public.</a:t>
            </a:r>
          </a:p>
          <a:p>
            <a:r>
              <a:rPr lang="vi-VN" sz="2800" b="0" i="0" dirty="0">
                <a:solidFill>
                  <a:srgbClr val="212529"/>
                </a:solidFill>
                <a:effectLst/>
                <a:latin typeface="Roboto" panose="02000000000000000000" pitchFamily="2" charset="0"/>
              </a:rPr>
              <a:t>Nếu không được đề cập, thì </a:t>
            </a:r>
            <a:r>
              <a:rPr lang="en-US" sz="2800" b="0" i="0" dirty="0" err="1">
                <a:solidFill>
                  <a:srgbClr val="212529"/>
                </a:solidFill>
                <a:effectLst/>
                <a:latin typeface="Roboto" panose="02000000000000000000" pitchFamily="2" charset="0"/>
              </a:rPr>
              <a:t>từ</a:t>
            </a:r>
            <a:r>
              <a:rPr lang="en-US" sz="2800" b="0" i="0" dirty="0">
                <a:solidFill>
                  <a:srgbClr val="212529"/>
                </a:solidFill>
                <a:effectLst/>
                <a:latin typeface="Roboto" panose="02000000000000000000" pitchFamily="2" charset="0"/>
              </a:rPr>
              <a:t> </a:t>
            </a:r>
            <a:r>
              <a:rPr lang="en-US" sz="2800" b="0" i="0" dirty="0" err="1">
                <a:solidFill>
                  <a:srgbClr val="212529"/>
                </a:solidFill>
                <a:effectLst/>
                <a:latin typeface="Roboto" panose="02000000000000000000" pitchFamily="2" charset="0"/>
              </a:rPr>
              <a:t>khóa</a:t>
            </a:r>
            <a:r>
              <a:rPr lang="en-US" sz="2800" b="0" i="0" dirty="0">
                <a:solidFill>
                  <a:srgbClr val="212529"/>
                </a:solidFill>
                <a:effectLst/>
                <a:latin typeface="Roboto" panose="02000000000000000000" pitchFamily="2" charset="0"/>
              </a:rPr>
              <a:t> </a:t>
            </a:r>
            <a:r>
              <a:rPr lang="en-US" sz="2800" b="0" i="0" dirty="0" err="1">
                <a:solidFill>
                  <a:srgbClr val="212529"/>
                </a:solidFill>
                <a:effectLst/>
                <a:latin typeface="Roboto" panose="02000000000000000000" pitchFamily="2" charset="0"/>
              </a:rPr>
              <a:t>điều</a:t>
            </a:r>
            <a:r>
              <a:rPr lang="en-US" sz="2800" b="0" i="0" dirty="0">
                <a:solidFill>
                  <a:srgbClr val="212529"/>
                </a:solidFill>
                <a:effectLst/>
                <a:latin typeface="Roboto" panose="02000000000000000000" pitchFamily="2" charset="0"/>
              </a:rPr>
              <a:t> </a:t>
            </a:r>
            <a:r>
              <a:rPr lang="en-US" sz="2800" b="0" i="0" dirty="0" err="1">
                <a:solidFill>
                  <a:srgbClr val="212529"/>
                </a:solidFill>
                <a:effectLst/>
                <a:latin typeface="Roboto" panose="02000000000000000000" pitchFamily="2" charset="0"/>
              </a:rPr>
              <a:t>khiển</a:t>
            </a:r>
            <a:r>
              <a:rPr lang="en-US" sz="2800" b="0" i="0" dirty="0">
                <a:solidFill>
                  <a:srgbClr val="212529"/>
                </a:solidFill>
                <a:effectLst/>
                <a:latin typeface="Roboto" panose="02000000000000000000" pitchFamily="2" charset="0"/>
              </a:rPr>
              <a:t> </a:t>
            </a:r>
            <a:r>
              <a:rPr lang="en-US" sz="2800" b="0" i="0" dirty="0" err="1">
                <a:solidFill>
                  <a:srgbClr val="212529"/>
                </a:solidFill>
                <a:effectLst/>
                <a:latin typeface="Roboto" panose="02000000000000000000" pitchFamily="2" charset="0"/>
              </a:rPr>
              <a:t>truy</a:t>
            </a:r>
            <a:r>
              <a:rPr lang="en-US" sz="2800" b="0" i="0" dirty="0">
                <a:solidFill>
                  <a:srgbClr val="212529"/>
                </a:solidFill>
                <a:effectLst/>
                <a:latin typeface="Roboto" panose="02000000000000000000" pitchFamily="2" charset="0"/>
              </a:rPr>
              <a:t> </a:t>
            </a:r>
            <a:r>
              <a:rPr lang="en-US" sz="2800" b="0" i="0" dirty="0" err="1">
                <a:solidFill>
                  <a:srgbClr val="212529"/>
                </a:solidFill>
                <a:effectLst/>
                <a:latin typeface="Roboto" panose="02000000000000000000" pitchFamily="2" charset="0"/>
              </a:rPr>
              <a:t>cập</a:t>
            </a:r>
            <a:r>
              <a:rPr lang="en-US" sz="2800" b="0" i="0" dirty="0">
                <a:solidFill>
                  <a:srgbClr val="212529"/>
                </a:solidFill>
                <a:effectLst/>
                <a:latin typeface="Roboto" panose="02000000000000000000" pitchFamily="2" charset="0"/>
              </a:rPr>
              <a:t> </a:t>
            </a:r>
            <a:r>
              <a:rPr lang="vi-VN" sz="2800" b="0" i="0" dirty="0">
                <a:solidFill>
                  <a:srgbClr val="212529"/>
                </a:solidFill>
                <a:effectLst/>
                <a:latin typeface="Roboto" panose="02000000000000000000" pitchFamily="2" charset="0"/>
              </a:rPr>
              <a:t>mặc định cho một kiểu lớp là </a:t>
            </a:r>
            <a:r>
              <a:rPr lang="vi-VN" sz="2800" b="1" i="0" dirty="0">
                <a:solidFill>
                  <a:srgbClr val="212529"/>
                </a:solidFill>
                <a:effectLst/>
                <a:latin typeface="Roboto" panose="02000000000000000000" pitchFamily="2" charset="0"/>
              </a:rPr>
              <a:t>internal</a:t>
            </a:r>
            <a:r>
              <a:rPr lang="vi-VN" sz="2800" b="0" i="0" dirty="0">
                <a:solidFill>
                  <a:srgbClr val="212529"/>
                </a:solidFill>
                <a:effectLst/>
                <a:latin typeface="Roboto" panose="02000000000000000000" pitchFamily="2" charset="0"/>
              </a:rPr>
              <a:t>. Chế độ truy cập mặc định cho các thành viên là </a:t>
            </a:r>
            <a:r>
              <a:rPr lang="vi-VN" sz="2800" b="1" i="0" dirty="0">
                <a:solidFill>
                  <a:srgbClr val="212529"/>
                </a:solidFill>
                <a:effectLst/>
                <a:latin typeface="Roboto" panose="02000000000000000000" pitchFamily="2" charset="0"/>
              </a:rPr>
              <a:t>private</a:t>
            </a:r>
            <a:r>
              <a:rPr lang="vi-VN" sz="2800" b="0" i="0" dirty="0">
                <a:solidFill>
                  <a:srgbClr val="212529"/>
                </a:solidFill>
                <a:effectLst/>
                <a:latin typeface="Roboto" panose="02000000000000000000" pitchFamily="2" charset="0"/>
              </a:rPr>
              <a:t>.</a:t>
            </a:r>
            <a:endParaRPr lang="en-US" sz="2800" b="0" i="0" dirty="0">
              <a:solidFill>
                <a:srgbClr val="212529"/>
              </a:solidFill>
              <a:effectLst/>
              <a:latin typeface="Roboto" panose="02000000000000000000" pitchFamily="2" charset="0"/>
            </a:endParaRPr>
          </a:p>
          <a:p>
            <a:endParaRPr lang="en-US" sz="2800" b="0" i="0" dirty="0">
              <a:solidFill>
                <a:srgbClr val="212529"/>
              </a:solidFill>
              <a:effectLst/>
              <a:latin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latin typeface="Segoe UI" panose="020B0502040204020203" pitchFamily="34" charset="0"/>
              </a:rPr>
              <a:t>Từ</a:t>
            </a:r>
            <a:r>
              <a:rPr lang="en-US" sz="1800" dirty="0">
                <a:latin typeface="Segoe UI" panose="020B0502040204020203" pitchFamily="34" charset="0"/>
              </a:rPr>
              <a:t> </a:t>
            </a:r>
            <a:r>
              <a:rPr lang="en-US" sz="1800" dirty="0" err="1">
                <a:latin typeface="Segoe UI" panose="020B0502040204020203" pitchFamily="34" charset="0"/>
              </a:rPr>
              <a:t>khóa</a:t>
            </a:r>
            <a:r>
              <a:rPr lang="en-US" sz="1800" dirty="0">
                <a:latin typeface="Segoe UI" panose="020B0502040204020203" pitchFamily="34" charset="0"/>
              </a:rPr>
              <a:t> public </a:t>
            </a:r>
            <a:r>
              <a:rPr lang="en-US" sz="1800" dirty="0" err="1">
                <a:latin typeface="Segoe UI" panose="020B0502040204020203" pitchFamily="34" charset="0"/>
              </a:rPr>
              <a:t>sẽ</a:t>
            </a:r>
            <a:r>
              <a:rPr lang="en-US" sz="1800" dirty="0">
                <a:latin typeface="Segoe UI" panose="020B0502040204020203" pitchFamily="34" charset="0"/>
              </a:rPr>
              <a:t> </a:t>
            </a:r>
            <a:r>
              <a:rPr lang="en-US" sz="1800" dirty="0" err="1">
                <a:latin typeface="Segoe UI" panose="020B0502040204020203" pitchFamily="34" charset="0"/>
              </a:rPr>
              <a:t>thể</a:t>
            </a:r>
            <a:r>
              <a:rPr lang="en-US" sz="1800" dirty="0">
                <a:latin typeface="Segoe UI" panose="020B0502040204020203" pitchFamily="34" charset="0"/>
              </a:rPr>
              <a:t> </a:t>
            </a:r>
            <a:r>
              <a:rPr lang="en-US" sz="1800" dirty="0" err="1">
                <a:latin typeface="Segoe UI" panose="020B0502040204020203" pitchFamily="34" charset="0"/>
              </a:rPr>
              <a:t>hiện</a:t>
            </a:r>
            <a:r>
              <a:rPr lang="en-US" sz="1800" dirty="0">
                <a:latin typeface="Segoe UI" panose="020B0502040204020203" pitchFamily="34" charset="0"/>
              </a:rPr>
              <a:t> </a:t>
            </a:r>
            <a:r>
              <a:rPr lang="en-US" sz="1800" dirty="0" err="1">
                <a:latin typeface="Segoe UI" panose="020B0502040204020203" pitchFamily="34" charset="0"/>
              </a:rPr>
              <a:t>rõ</a:t>
            </a:r>
            <a:r>
              <a:rPr lang="en-US" sz="1800" dirty="0">
                <a:latin typeface="Segoe UI" panose="020B0502040204020203" pitchFamily="34" charset="0"/>
              </a:rPr>
              <a:t> </a:t>
            </a:r>
            <a:r>
              <a:rPr lang="en-US" sz="1800" dirty="0" err="1">
                <a:latin typeface="Segoe UI" panose="020B0502040204020203" pitchFamily="34" charset="0"/>
              </a:rPr>
              <a:t>vai</a:t>
            </a:r>
            <a:r>
              <a:rPr lang="en-US" sz="1800" dirty="0">
                <a:latin typeface="Segoe UI" panose="020B0502040204020203" pitchFamily="34" charset="0"/>
              </a:rPr>
              <a:t> </a:t>
            </a:r>
            <a:r>
              <a:rPr lang="en-US" sz="1800" dirty="0" err="1">
                <a:latin typeface="Segoe UI" panose="020B0502040204020203" pitchFamily="34" charset="0"/>
              </a:rPr>
              <a:t>trò</a:t>
            </a:r>
            <a:r>
              <a:rPr lang="en-US" sz="1800" dirty="0">
                <a:latin typeface="Segoe UI" panose="020B0502040204020203" pitchFamily="34" charset="0"/>
              </a:rPr>
              <a:t> </a:t>
            </a:r>
            <a:r>
              <a:rPr lang="en-US" sz="1800" dirty="0" err="1">
                <a:latin typeface="Segoe UI" panose="020B0502040204020203" pitchFamily="34" charset="0"/>
              </a:rPr>
              <a:t>của</a:t>
            </a:r>
            <a:r>
              <a:rPr lang="en-US" sz="1800" dirty="0">
                <a:latin typeface="Segoe UI" panose="020B0502040204020203" pitchFamily="34" charset="0"/>
              </a:rPr>
              <a:t> </a:t>
            </a:r>
            <a:r>
              <a:rPr lang="en-US" sz="1800" dirty="0" err="1">
                <a:latin typeface="Segoe UI" panose="020B0502040204020203" pitchFamily="34" charset="0"/>
              </a:rPr>
              <a:t>mình</a:t>
            </a:r>
            <a:r>
              <a:rPr lang="en-US" sz="1800" dirty="0">
                <a:latin typeface="Segoe UI" panose="020B0502040204020203" pitchFamily="34" charset="0"/>
              </a:rPr>
              <a:t> </a:t>
            </a:r>
            <a:r>
              <a:rPr lang="en-US" sz="1800" dirty="0" err="1">
                <a:latin typeface="Segoe UI" panose="020B0502040204020203" pitchFamily="34" charset="0"/>
              </a:rPr>
              <a:t>khi</a:t>
            </a:r>
            <a:r>
              <a:rPr lang="en-US" sz="1800" dirty="0">
                <a:latin typeface="Segoe UI" panose="020B0502040204020203" pitchFamily="34" charset="0"/>
              </a:rPr>
              <a:t> </a:t>
            </a:r>
            <a:r>
              <a:rPr lang="en-US" sz="1800" dirty="0" err="1">
                <a:latin typeface="Segoe UI" panose="020B0502040204020203" pitchFamily="34" charset="0"/>
              </a:rPr>
              <a:t>bạn</a:t>
            </a:r>
            <a:r>
              <a:rPr lang="en-US" sz="1800" dirty="0">
                <a:latin typeface="Segoe UI" panose="020B0502040204020203" pitchFamily="34" charset="0"/>
              </a:rPr>
              <a:t> </a:t>
            </a:r>
            <a:r>
              <a:rPr lang="en-US" sz="1800" dirty="0" err="1">
                <a:latin typeface="Segoe UI" panose="020B0502040204020203" pitchFamily="34" charset="0"/>
              </a:rPr>
              <a:t>bắt</a:t>
            </a:r>
            <a:r>
              <a:rPr lang="en-US" sz="1800" dirty="0">
                <a:latin typeface="Segoe UI" panose="020B0502040204020203" pitchFamily="34" charset="0"/>
              </a:rPr>
              <a:t> </a:t>
            </a:r>
            <a:r>
              <a:rPr lang="en-US" sz="1800" dirty="0" err="1">
                <a:latin typeface="Segoe UI" panose="020B0502040204020203" pitchFamily="34" charset="0"/>
              </a:rPr>
              <a:t>đầu</a:t>
            </a:r>
            <a:r>
              <a:rPr lang="en-US" sz="1800" dirty="0">
                <a:latin typeface="Segoe UI" panose="020B0502040204020203" pitchFamily="34" charset="0"/>
              </a:rPr>
              <a:t> </a:t>
            </a:r>
            <a:r>
              <a:rPr lang="en-US" sz="1800" dirty="0" err="1">
                <a:latin typeface="Segoe UI" panose="020B0502040204020203" pitchFamily="34" charset="0"/>
              </a:rPr>
              <a:t>tách</a:t>
            </a:r>
            <a:r>
              <a:rPr lang="en-US" sz="1800" dirty="0">
                <a:latin typeface="Segoe UI" panose="020B0502040204020203" pitchFamily="34" charset="0"/>
              </a:rPr>
              <a:t> </a:t>
            </a:r>
            <a:r>
              <a:rPr lang="en-US" sz="1800" dirty="0" err="1">
                <a:latin typeface="Segoe UI" panose="020B0502040204020203" pitchFamily="34" charset="0"/>
              </a:rPr>
              <a:t>một</a:t>
            </a:r>
            <a:r>
              <a:rPr lang="en-US" sz="1800" dirty="0">
                <a:latin typeface="Segoe UI" panose="020B0502040204020203" pitchFamily="34" charset="0"/>
              </a:rPr>
              <a:t> project </a:t>
            </a:r>
            <a:r>
              <a:rPr lang="en-US" sz="1800" dirty="0" err="1">
                <a:latin typeface="Segoe UI" panose="020B0502040204020203" pitchFamily="34" charset="0"/>
              </a:rPr>
              <a:t>lớn</a:t>
            </a:r>
            <a:r>
              <a:rPr lang="en-US" sz="1800" dirty="0">
                <a:latin typeface="Segoe UI" panose="020B0502040204020203" pitchFamily="34" charset="0"/>
              </a:rPr>
              <a:t> </a:t>
            </a:r>
            <a:r>
              <a:rPr lang="en-US" sz="1800" dirty="0" err="1">
                <a:latin typeface="Segoe UI" panose="020B0502040204020203" pitchFamily="34" charset="0"/>
              </a:rPr>
              <a:t>thành</a:t>
            </a:r>
            <a:r>
              <a:rPr lang="en-US" sz="1800" dirty="0">
                <a:latin typeface="Segoe UI" panose="020B0502040204020203" pitchFamily="34" charset="0"/>
              </a:rPr>
              <a:t> </a:t>
            </a:r>
            <a:r>
              <a:rPr lang="en-US" sz="1800" dirty="0" err="1">
                <a:latin typeface="Segoe UI" panose="020B0502040204020203" pitchFamily="34" charset="0"/>
              </a:rPr>
              <a:t>nhiều</a:t>
            </a:r>
            <a:r>
              <a:rPr lang="en-US" sz="1800" dirty="0">
                <a:latin typeface="Segoe UI" panose="020B0502040204020203" pitchFamily="34" charset="0"/>
              </a:rPr>
              <a:t> project con. </a:t>
            </a:r>
            <a:r>
              <a:rPr lang="en-US" sz="1800" dirty="0" err="1">
                <a:latin typeface="Segoe UI" panose="020B0502040204020203" pitchFamily="34" charset="0"/>
              </a:rPr>
              <a:t>Trong</a:t>
            </a:r>
            <a:r>
              <a:rPr lang="en-US" sz="1800" dirty="0">
                <a:latin typeface="Segoe UI" panose="020B0502040204020203" pitchFamily="34" charset="0"/>
              </a:rPr>
              <a:t> </a:t>
            </a:r>
            <a:r>
              <a:rPr lang="en-US" sz="1800" dirty="0" err="1">
                <a:latin typeface="Segoe UI" panose="020B0502040204020203" pitchFamily="34" charset="0"/>
              </a:rPr>
              <a:t>đó</a:t>
            </a:r>
            <a:r>
              <a:rPr lang="en-US" sz="1800" dirty="0">
                <a:latin typeface="Segoe UI" panose="020B0502040204020203" pitchFamily="34" charset="0"/>
              </a:rPr>
              <a:t>, project con </a:t>
            </a:r>
            <a:r>
              <a:rPr lang="en-US" sz="1800" dirty="0" err="1">
                <a:latin typeface="Segoe UI" panose="020B0502040204020203" pitchFamily="34" charset="0"/>
              </a:rPr>
              <a:t>thường</a:t>
            </a:r>
            <a:r>
              <a:rPr lang="en-US" sz="1800" dirty="0">
                <a:latin typeface="Segoe UI" panose="020B0502040204020203" pitchFamily="34" charset="0"/>
              </a:rPr>
              <a:t> là </a:t>
            </a:r>
            <a:r>
              <a:rPr lang="en-US" sz="1800" dirty="0" err="1">
                <a:latin typeface="Segoe UI" panose="020B0502040204020203" pitchFamily="34" charset="0"/>
              </a:rPr>
              <a:t>các</a:t>
            </a:r>
            <a:r>
              <a:rPr lang="en-US" sz="1800" dirty="0">
                <a:latin typeface="Segoe UI" panose="020B0502040204020203" pitchFamily="34" charset="0"/>
              </a:rPr>
              <a:t> </a:t>
            </a:r>
            <a:r>
              <a:rPr lang="en-US" sz="1800" dirty="0" err="1">
                <a:latin typeface="Segoe UI" panose="020B0502040204020203" pitchFamily="34" charset="0"/>
              </a:rPr>
              <a:t>thư</a:t>
            </a:r>
            <a:r>
              <a:rPr lang="en-US" sz="1800" dirty="0">
                <a:latin typeface="Segoe UI" panose="020B0502040204020203" pitchFamily="34" charset="0"/>
              </a:rPr>
              <a:t> </a:t>
            </a:r>
            <a:r>
              <a:rPr lang="en-US" sz="1800" dirty="0" err="1">
                <a:latin typeface="Segoe UI" panose="020B0502040204020203" pitchFamily="34" charset="0"/>
              </a:rPr>
              <a:t>viện</a:t>
            </a:r>
            <a:r>
              <a:rPr lang="en-US" sz="1800" dirty="0">
                <a:latin typeface="Segoe UI" panose="020B0502040204020203" pitchFamily="34" charset="0"/>
              </a:rPr>
              <a:t> </a:t>
            </a:r>
            <a:r>
              <a:rPr lang="en-US" sz="1800" dirty="0" err="1">
                <a:latin typeface="Segoe UI" panose="020B0502040204020203" pitchFamily="34" charset="0"/>
              </a:rPr>
              <a:t>lớp</a:t>
            </a:r>
            <a:r>
              <a:rPr lang="en-US" sz="1800" dirty="0">
                <a:latin typeface="Segoe UI" panose="020B0502040204020203" pitchFamily="34" charset="0"/>
              </a:rPr>
              <a:t>. </a:t>
            </a:r>
            <a:r>
              <a:rPr lang="en-US" sz="1800" dirty="0" err="1">
                <a:latin typeface="Segoe UI" panose="020B0502040204020203" pitchFamily="34" charset="0"/>
              </a:rPr>
              <a:t>Các</a:t>
            </a:r>
            <a:r>
              <a:rPr lang="en-US" sz="1800" dirty="0">
                <a:latin typeface="Segoe UI" panose="020B0502040204020203" pitchFamily="34" charset="0"/>
              </a:rPr>
              <a:t> class </a:t>
            </a:r>
            <a:r>
              <a:rPr lang="en-US" sz="1800" dirty="0" err="1">
                <a:latin typeface="Segoe UI" panose="020B0502040204020203" pitchFamily="34" charset="0"/>
              </a:rPr>
              <a:t>trong</a:t>
            </a:r>
            <a:r>
              <a:rPr lang="en-US" sz="1800" dirty="0">
                <a:latin typeface="Segoe UI" panose="020B0502040204020203" pitchFamily="34" charset="0"/>
              </a:rPr>
              <a:t> </a:t>
            </a:r>
            <a:r>
              <a:rPr lang="en-US" sz="1800" dirty="0" err="1">
                <a:latin typeface="Segoe UI" panose="020B0502040204020203" pitchFamily="34" charset="0"/>
              </a:rPr>
              <a:t>thư</a:t>
            </a:r>
            <a:r>
              <a:rPr lang="en-US" sz="1800" dirty="0">
                <a:latin typeface="Segoe UI" panose="020B0502040204020203" pitchFamily="34" charset="0"/>
              </a:rPr>
              <a:t> </a:t>
            </a:r>
            <a:r>
              <a:rPr lang="en-US" sz="1800" dirty="0" err="1">
                <a:latin typeface="Segoe UI" panose="020B0502040204020203" pitchFamily="34" charset="0"/>
              </a:rPr>
              <a:t>viện</a:t>
            </a:r>
            <a:r>
              <a:rPr lang="en-US" sz="1800" dirty="0">
                <a:latin typeface="Segoe UI" panose="020B0502040204020203" pitchFamily="34" charset="0"/>
              </a:rPr>
              <a:t> </a:t>
            </a:r>
            <a:r>
              <a:rPr lang="en-US" sz="1800" dirty="0" err="1">
                <a:latin typeface="Segoe UI" panose="020B0502040204020203" pitchFamily="34" charset="0"/>
              </a:rPr>
              <a:t>lớp</a:t>
            </a:r>
            <a:r>
              <a:rPr lang="en-US" sz="1800" dirty="0">
                <a:latin typeface="Segoe UI" panose="020B0502040204020203" pitchFamily="34" charset="0"/>
              </a:rPr>
              <a:t> </a:t>
            </a:r>
            <a:r>
              <a:rPr lang="en-US" sz="1800" dirty="0" err="1">
                <a:latin typeface="Segoe UI" panose="020B0502040204020203" pitchFamily="34" charset="0"/>
              </a:rPr>
              <a:t>phải</a:t>
            </a:r>
            <a:r>
              <a:rPr lang="en-US" sz="1800" dirty="0">
                <a:latin typeface="Segoe UI" panose="020B0502040204020203" pitchFamily="34" charset="0"/>
              </a:rPr>
              <a:t> </a:t>
            </a:r>
            <a:r>
              <a:rPr lang="en-US" sz="1800" dirty="0" err="1">
                <a:latin typeface="Segoe UI" panose="020B0502040204020203" pitchFamily="34" charset="0"/>
              </a:rPr>
              <a:t>đặt</a:t>
            </a:r>
            <a:r>
              <a:rPr lang="en-US" sz="1800" dirty="0">
                <a:latin typeface="Segoe UI" panose="020B0502040204020203" pitchFamily="34" charset="0"/>
              </a:rPr>
              <a:t> </a:t>
            </a:r>
            <a:r>
              <a:rPr lang="en-US" sz="1800" dirty="0" err="1">
                <a:latin typeface="Segoe UI" panose="020B0502040204020203" pitchFamily="34" charset="0"/>
              </a:rPr>
              <a:t>truy</a:t>
            </a:r>
            <a:r>
              <a:rPr lang="en-US" sz="1800" dirty="0">
                <a:latin typeface="Segoe UI" panose="020B0502040204020203" pitchFamily="34" charset="0"/>
              </a:rPr>
              <a:t> </a:t>
            </a:r>
            <a:r>
              <a:rPr lang="en-US" sz="1800" dirty="0" err="1">
                <a:latin typeface="Segoe UI" panose="020B0502040204020203" pitchFamily="34" charset="0"/>
              </a:rPr>
              <a:t>cập</a:t>
            </a:r>
            <a:r>
              <a:rPr lang="en-US" sz="1800" dirty="0">
                <a:latin typeface="Segoe UI" panose="020B0502040204020203" pitchFamily="34" charset="0"/>
              </a:rPr>
              <a:t> public thì </a:t>
            </a:r>
            <a:r>
              <a:rPr lang="en-US" sz="1800" dirty="0" err="1">
                <a:latin typeface="Segoe UI" panose="020B0502040204020203" pitchFamily="34" charset="0"/>
              </a:rPr>
              <a:t>mới</a:t>
            </a:r>
            <a:r>
              <a:rPr lang="en-US" sz="1800" dirty="0">
                <a:latin typeface="Segoe UI" panose="020B0502040204020203" pitchFamily="34" charset="0"/>
              </a:rPr>
              <a:t> </a:t>
            </a:r>
            <a:r>
              <a:rPr lang="en-US" sz="1800" dirty="0" err="1">
                <a:latin typeface="Segoe UI" panose="020B0502040204020203" pitchFamily="34" charset="0"/>
              </a:rPr>
              <a:t>sử</a:t>
            </a:r>
            <a:r>
              <a:rPr lang="en-US" sz="1800" dirty="0">
                <a:latin typeface="Segoe UI" panose="020B0502040204020203" pitchFamily="34" charset="0"/>
              </a:rPr>
              <a:t> </a:t>
            </a:r>
            <a:r>
              <a:rPr lang="en-US" sz="1800" dirty="0" err="1">
                <a:latin typeface="Segoe UI" panose="020B0502040204020203" pitchFamily="34" charset="0"/>
              </a:rPr>
              <a:t>dụng</a:t>
            </a:r>
            <a:r>
              <a:rPr lang="en-US" sz="1800" dirty="0">
                <a:latin typeface="Segoe UI" panose="020B0502040204020203" pitchFamily="34" charset="0"/>
              </a:rPr>
              <a:t> </a:t>
            </a:r>
            <a:r>
              <a:rPr lang="en-US" sz="1800" dirty="0" err="1">
                <a:latin typeface="Segoe UI" panose="020B0502040204020203" pitchFamily="34" charset="0"/>
              </a:rPr>
              <a:t>được</a:t>
            </a:r>
            <a:r>
              <a:rPr lang="en-US" sz="1800" dirty="0">
                <a:latin typeface="Segoe UI" panose="020B0502040204020203" pitchFamily="34" charset="0"/>
              </a:rPr>
              <a:t> </a:t>
            </a:r>
            <a:r>
              <a:rPr lang="en-US" sz="1800" dirty="0" err="1">
                <a:latin typeface="Segoe UI" panose="020B0502040204020203" pitchFamily="34" charset="0"/>
              </a:rPr>
              <a:t>trong</a:t>
            </a:r>
            <a:r>
              <a:rPr lang="en-US" sz="1800" dirty="0">
                <a:latin typeface="Segoe UI" panose="020B0502040204020203" pitchFamily="34" charset="0"/>
              </a:rPr>
              <a:t> project </a:t>
            </a:r>
            <a:r>
              <a:rPr lang="en-US" sz="1800" dirty="0" err="1">
                <a:latin typeface="Segoe UI" panose="020B0502040204020203" pitchFamily="34" charset="0"/>
              </a:rPr>
              <a:t>khác</a:t>
            </a:r>
            <a:r>
              <a:rPr lang="en-US" sz="1800" dirty="0">
                <a:latin typeface="Segoe UI" panose="020B0502040204020203" pitchFamily="34" charset="0"/>
              </a:rPr>
              <a:t>. </a:t>
            </a:r>
            <a:r>
              <a:rPr lang="en-US" sz="1800" dirty="0" err="1">
                <a:latin typeface="Segoe UI" panose="020B0502040204020203" pitchFamily="34" charset="0"/>
              </a:rPr>
              <a:t>Nếu</a:t>
            </a:r>
            <a:r>
              <a:rPr lang="en-US" sz="1800" dirty="0">
                <a:latin typeface="Segoe UI" panose="020B0502040204020203" pitchFamily="34" charset="0"/>
              </a:rPr>
              <a:t> </a:t>
            </a:r>
            <a:r>
              <a:rPr lang="en-US" sz="1800" dirty="0" err="1">
                <a:latin typeface="Segoe UI" panose="020B0502040204020203" pitchFamily="34" charset="0"/>
              </a:rPr>
              <a:t>chỉ</a:t>
            </a:r>
            <a:r>
              <a:rPr lang="en-US" sz="1800" dirty="0">
                <a:latin typeface="Segoe UI" panose="020B0502040204020203" pitchFamily="34" charset="0"/>
              </a:rPr>
              <a:t> </a:t>
            </a:r>
            <a:r>
              <a:rPr lang="en-US" sz="1800" dirty="0" err="1">
                <a:latin typeface="Segoe UI" panose="020B0502040204020203" pitchFamily="34" charset="0"/>
              </a:rPr>
              <a:t>có</a:t>
            </a:r>
            <a:r>
              <a:rPr lang="en-US" sz="1800" dirty="0">
                <a:latin typeface="Segoe UI" panose="020B0502040204020203" pitchFamily="34" charset="0"/>
              </a:rPr>
              <a:t> 1 project thì internal hay public ko </a:t>
            </a:r>
            <a:r>
              <a:rPr lang="en-US" sz="1800" dirty="0" err="1">
                <a:latin typeface="Segoe UI" panose="020B0502040204020203" pitchFamily="34" charset="0"/>
              </a:rPr>
              <a:t>có</a:t>
            </a:r>
            <a:r>
              <a:rPr lang="en-US" sz="1800" dirty="0">
                <a:latin typeface="Segoe UI" panose="020B0502040204020203" pitchFamily="34" charset="0"/>
              </a:rPr>
              <a:t> </a:t>
            </a:r>
            <a:r>
              <a:rPr lang="en-US" sz="1800" dirty="0" err="1">
                <a:latin typeface="Segoe UI" panose="020B0502040204020203" pitchFamily="34" charset="0"/>
              </a:rPr>
              <a:t>gì</a:t>
            </a:r>
            <a:r>
              <a:rPr lang="en-US" sz="1800" dirty="0">
                <a:latin typeface="Segoe UI" panose="020B0502040204020203" pitchFamily="34" charset="0"/>
              </a:rPr>
              <a:t> </a:t>
            </a:r>
            <a:r>
              <a:rPr lang="en-US" sz="1800" dirty="0" err="1">
                <a:latin typeface="Segoe UI" panose="020B0502040204020203" pitchFamily="34" charset="0"/>
              </a:rPr>
              <a:t>khác</a:t>
            </a:r>
            <a:r>
              <a:rPr lang="en-US" sz="1800" dirty="0">
                <a:latin typeface="Segoe UI" panose="020B0502040204020203" pitchFamily="34" charset="0"/>
              </a:rPr>
              <a:t> </a:t>
            </a:r>
            <a:r>
              <a:rPr lang="en-US" sz="1800" dirty="0" err="1">
                <a:latin typeface="Segoe UI" panose="020B0502040204020203" pitchFamily="34" charset="0"/>
              </a:rPr>
              <a:t>biệt</a:t>
            </a:r>
            <a:r>
              <a:rPr lang="en-US" sz="1800" dirty="0">
                <a:latin typeface="Segoe UI" panose="020B0502040204020203" pitchFamily="34" charset="0"/>
              </a:rPr>
              <a:t>.</a:t>
            </a:r>
          </a:p>
          <a:p>
            <a:endParaRPr lang="en-US" sz="2800" b="0" i="0" dirty="0">
              <a:solidFill>
                <a:srgbClr val="212529"/>
              </a:solidFill>
              <a:effectLst/>
              <a:latin typeface="Roboto" panose="02000000000000000000" pitchFamily="2" charset="0"/>
            </a:endParaRPr>
          </a:p>
          <a:p>
            <a:endParaRPr lang="en-US" sz="1800" dirty="0">
              <a:latin typeface="Segoe UI" panose="020B0502040204020203" pitchFamily="34" charset="0"/>
            </a:endParaRPr>
          </a:p>
          <a:p>
            <a:endParaRPr lang="en-US" sz="1800" dirty="0">
              <a:latin typeface="Segoe UI" panose="020B0502040204020203" pitchFamily="34" charset="0"/>
            </a:endParaRPr>
          </a:p>
          <a:p>
            <a:r>
              <a:rPr lang="en-US" dirty="0"/>
              <a:t>https://tuhocict.com/lop-model-khai-niem-phan-tich-khai-bao-class/</a:t>
            </a:r>
          </a:p>
          <a:p>
            <a:endParaRPr lang="en-US" sz="1800" dirty="0">
              <a:latin typeface="Segoe UI" panose="020B0502040204020203" pitchFamily="34" charset="0"/>
            </a:endParaRPr>
          </a:p>
          <a:p>
            <a:pPr algn="l">
              <a:buFont typeface="Arial" panose="020B0604020202020204" pitchFamily="34" charset="0"/>
              <a:buChar char="•"/>
            </a:pPr>
            <a:r>
              <a:rPr lang="vi-VN" sz="2800" b="0" i="0" dirty="0">
                <a:solidFill>
                  <a:srgbClr val="222C37"/>
                </a:solidFill>
                <a:effectLst/>
                <a:latin typeface="-apple-system"/>
              </a:rPr>
              <a:t>Với khai báo trên ta đã có 1 kiểu dữ liệu mới tên là </a:t>
            </a:r>
            <a:r>
              <a:rPr lang="vi-VN" sz="2800" b="1" i="0" dirty="0">
                <a:solidFill>
                  <a:srgbClr val="B22222"/>
                </a:solidFill>
                <a:effectLst/>
                <a:latin typeface="-apple-system"/>
              </a:rPr>
              <a:t>Animal</a:t>
            </a:r>
            <a:r>
              <a:rPr lang="vi-VN" sz="2800" b="0" i="0" dirty="0">
                <a:solidFill>
                  <a:srgbClr val="222C37"/>
                </a:solidFill>
                <a:effectLst/>
                <a:latin typeface="-apple-system"/>
              </a:rPr>
              <a:t>. Và ta hoàn toàn có thể khai báo biến và sử dụng nó.</a:t>
            </a:r>
          </a:p>
          <a:p>
            <a:pPr algn="l">
              <a:buFont typeface="Arial" panose="020B0604020202020204" pitchFamily="34" charset="0"/>
              <a:buChar char="•"/>
            </a:pPr>
            <a:r>
              <a:rPr lang="vi-VN" sz="2800" b="0" i="0" dirty="0">
                <a:solidFill>
                  <a:srgbClr val="222C37"/>
                </a:solidFill>
                <a:effectLst/>
                <a:latin typeface="-apple-system"/>
              </a:rPr>
              <a:t>Từ khoá </a:t>
            </a:r>
            <a:r>
              <a:rPr lang="vi-VN" sz="2800" b="1" i="0" dirty="0">
                <a:solidFill>
                  <a:srgbClr val="0000FF"/>
                </a:solidFill>
                <a:effectLst/>
                <a:latin typeface="-apple-system"/>
              </a:rPr>
              <a:t>public</a:t>
            </a:r>
            <a:r>
              <a:rPr lang="vi-VN" sz="2800" b="1" i="0" dirty="0">
                <a:solidFill>
                  <a:srgbClr val="222C37"/>
                </a:solidFill>
                <a:effectLst/>
                <a:latin typeface="-apple-system"/>
              </a:rPr>
              <a:t> </a:t>
            </a:r>
            <a:r>
              <a:rPr lang="vi-VN" sz="2800" b="0" i="0" dirty="0">
                <a:solidFill>
                  <a:srgbClr val="222C37"/>
                </a:solidFill>
                <a:effectLst/>
                <a:latin typeface="-apple-system"/>
              </a:rPr>
              <a:t>là chỉ phạm vi truy cập của các thành phần bên trong </a:t>
            </a:r>
            <a:r>
              <a:rPr lang="vi-VN" sz="2800" b="1" i="0" dirty="0">
                <a:solidFill>
                  <a:srgbClr val="0000FF"/>
                </a:solidFill>
                <a:effectLst/>
                <a:latin typeface="-apple-system"/>
              </a:rPr>
              <a:t>class</a:t>
            </a:r>
            <a:r>
              <a:rPr lang="vi-VN" sz="2800" b="1" i="0" dirty="0">
                <a:solidFill>
                  <a:srgbClr val="222C37"/>
                </a:solidFill>
                <a:effectLst/>
                <a:latin typeface="-apple-system"/>
              </a:rPr>
              <a:t> </a:t>
            </a:r>
            <a:r>
              <a:rPr lang="vi-VN" sz="2800" b="0" i="0" dirty="0">
                <a:solidFill>
                  <a:srgbClr val="222C37"/>
                </a:solidFill>
                <a:effectLst/>
                <a:latin typeface="-apple-system"/>
              </a:rPr>
              <a:t>. Hiện tại bạn chỉ cần hiểu ghi </a:t>
            </a:r>
            <a:r>
              <a:rPr lang="vi-VN" sz="2800" b="1" i="0" dirty="0">
                <a:solidFill>
                  <a:srgbClr val="0000FF"/>
                </a:solidFill>
                <a:effectLst/>
                <a:latin typeface="-apple-system"/>
              </a:rPr>
              <a:t>public</a:t>
            </a:r>
            <a:r>
              <a:rPr lang="vi-VN" sz="2800" b="1" i="0" dirty="0">
                <a:solidFill>
                  <a:srgbClr val="222C37"/>
                </a:solidFill>
                <a:effectLst/>
                <a:latin typeface="-apple-system"/>
              </a:rPr>
              <a:t> </a:t>
            </a:r>
            <a:r>
              <a:rPr lang="vi-VN" sz="2800" b="0" i="0" dirty="0">
                <a:solidFill>
                  <a:srgbClr val="222C37"/>
                </a:solidFill>
                <a:effectLst/>
                <a:latin typeface="-apple-system"/>
              </a:rPr>
              <a:t>là để khi sử dụng ta có thể truy cập các thành phần này.</a:t>
            </a:r>
          </a:p>
          <a:p>
            <a:pPr algn="l">
              <a:buFont typeface="Arial" panose="020B0604020202020204" pitchFamily="34" charset="0"/>
              <a:buChar char="•"/>
            </a:pPr>
            <a:r>
              <a:rPr lang="vi-VN" sz="2800" b="0" i="0" dirty="0">
                <a:solidFill>
                  <a:srgbClr val="222C37"/>
                </a:solidFill>
                <a:effectLst/>
                <a:latin typeface="-apple-system"/>
              </a:rPr>
              <a:t>Lớp </a:t>
            </a:r>
            <a:r>
              <a:rPr lang="vi-VN" sz="2800" b="1" i="0" dirty="0">
                <a:solidFill>
                  <a:srgbClr val="B22222"/>
                </a:solidFill>
                <a:effectLst/>
                <a:latin typeface="-apple-system"/>
              </a:rPr>
              <a:t>Animal </a:t>
            </a:r>
            <a:r>
              <a:rPr lang="vi-VN" sz="2800" b="0" i="0" dirty="0">
                <a:solidFill>
                  <a:srgbClr val="222C37"/>
                </a:solidFill>
                <a:effectLst/>
                <a:latin typeface="-apple-system"/>
              </a:rPr>
              <a:t>có 2 thuộc tính là </a:t>
            </a:r>
            <a:r>
              <a:rPr lang="vi-VN" sz="2800" b="1" i="0" dirty="0">
                <a:solidFill>
                  <a:srgbClr val="222C37"/>
                </a:solidFill>
                <a:effectLst/>
                <a:latin typeface="-apple-system"/>
              </a:rPr>
              <a:t>Weight</a:t>
            </a:r>
            <a:r>
              <a:rPr lang="vi-VN" sz="2800" b="0" i="0" dirty="0">
                <a:solidFill>
                  <a:srgbClr val="222C37"/>
                </a:solidFill>
                <a:effectLst/>
                <a:latin typeface="-apple-system"/>
              </a:rPr>
              <a:t>, </a:t>
            </a:r>
            <a:r>
              <a:rPr lang="vi-VN" sz="2800" b="1" i="0" dirty="0">
                <a:solidFill>
                  <a:srgbClr val="222C37"/>
                </a:solidFill>
                <a:effectLst/>
                <a:latin typeface="-apple-system"/>
              </a:rPr>
              <a:t>Height </a:t>
            </a:r>
            <a:r>
              <a:rPr lang="vi-VN" sz="2800" b="0" i="0" dirty="0">
                <a:solidFill>
                  <a:srgbClr val="222C37"/>
                </a:solidFill>
                <a:effectLst/>
                <a:latin typeface="-apple-system"/>
              </a:rPr>
              <a:t>và 1 phương thức là </a:t>
            </a:r>
            <a:r>
              <a:rPr lang="vi-VN" sz="2800" b="1" i="0" dirty="0">
                <a:solidFill>
                  <a:srgbClr val="222C37"/>
                </a:solidFill>
                <a:effectLst/>
                <a:latin typeface="-apple-system"/>
              </a:rPr>
              <a:t>Run</a:t>
            </a:r>
            <a:r>
              <a:rPr lang="vi-VN" sz="2800" b="0" i="0" dirty="0">
                <a:solidFill>
                  <a:srgbClr val="222C37"/>
                </a:solidFill>
                <a:effectLst/>
                <a:latin typeface="-apple-system"/>
              </a:rPr>
              <a:t>. Như vậy mọi đối tượng thuộc lớp này đều có 3 thành phần trên.</a:t>
            </a:r>
          </a:p>
          <a:p>
            <a:endParaRPr lang="en-US" sz="1800" dirty="0">
              <a:latin typeface="Segoe UI" panose="020B0502040204020203" pitchFamily="34" charset="0"/>
            </a:endParaRPr>
          </a:p>
          <a:p>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t>6</a:t>
            </a:fld>
            <a:endParaRPr lang="vi-VN"/>
          </a:p>
        </p:txBody>
      </p:sp>
    </p:spTree>
    <p:extLst>
      <p:ext uri="{BB962C8B-B14F-4D97-AF65-F5344CB8AC3E}">
        <p14:creationId xmlns:p14="http://schemas.microsoft.com/office/powerpoint/2010/main" val="321543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EA7600A-770C-47F1-89C1-5023B6D362E3}" type="slidenum">
              <a:rPr lang="vi-VN" smtClean="0"/>
              <a:t>10</a:t>
            </a:fld>
            <a:endParaRPr lang="vi-VN"/>
          </a:p>
        </p:txBody>
      </p:sp>
    </p:spTree>
    <p:extLst>
      <p:ext uri="{BB962C8B-B14F-4D97-AF65-F5344CB8AC3E}">
        <p14:creationId xmlns:p14="http://schemas.microsoft.com/office/powerpoint/2010/main" val="32483742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EA7600A-770C-47F1-89C1-5023B6D362E3}" type="slidenum">
              <a:rPr lang="vi-VN" smtClean="0"/>
              <a:t>12</a:t>
            </a:fld>
            <a:endParaRPr lang="vi-VN"/>
          </a:p>
        </p:txBody>
      </p:sp>
    </p:spTree>
    <p:extLst>
      <p:ext uri="{BB962C8B-B14F-4D97-AF65-F5344CB8AC3E}">
        <p14:creationId xmlns:p14="http://schemas.microsoft.com/office/powerpoint/2010/main" val="25037869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Nhận</a:t>
            </a:r>
            <a:r>
              <a:rPr lang="en-US" dirty="0"/>
              <a:t> </a:t>
            </a:r>
            <a:r>
              <a:rPr lang="en-US" dirty="0" err="1"/>
              <a:t>xét</a:t>
            </a:r>
            <a:r>
              <a:rPr lang="en-US" dirty="0"/>
              <a:t>, </a:t>
            </a:r>
            <a:r>
              <a:rPr lang="en-US" dirty="0" err="1"/>
              <a:t>vì</a:t>
            </a:r>
            <a:r>
              <a:rPr lang="en-US" dirty="0"/>
              <a:t> </a:t>
            </a:r>
            <a:r>
              <a:rPr lang="en-US" dirty="0" err="1"/>
              <a:t>thuộc</a:t>
            </a:r>
            <a:r>
              <a:rPr lang="en-US" dirty="0"/>
              <a:t> </a:t>
            </a:r>
            <a:r>
              <a:rPr lang="en-US" dirty="0" err="1"/>
              <a:t>tính</a:t>
            </a:r>
            <a:r>
              <a:rPr lang="en-US" dirty="0"/>
              <a:t> </a:t>
            </a:r>
            <a:r>
              <a:rPr lang="en-US" dirty="0" err="1"/>
              <a:t>dai</a:t>
            </a:r>
            <a:r>
              <a:rPr lang="en-US" dirty="0"/>
              <a:t>, </a:t>
            </a:r>
            <a:r>
              <a:rPr lang="en-US" dirty="0" err="1"/>
              <a:t>rong</a:t>
            </a:r>
            <a:r>
              <a:rPr lang="en-US" dirty="0"/>
              <a:t> </a:t>
            </a:r>
            <a:r>
              <a:rPr lang="en-US" dirty="0" err="1"/>
              <a:t>có</a:t>
            </a:r>
            <a:r>
              <a:rPr lang="en-US" dirty="0"/>
              <a:t> </a:t>
            </a:r>
            <a:r>
              <a:rPr lang="en-US" dirty="0" err="1"/>
              <a:t>phạm</a:t>
            </a:r>
            <a:r>
              <a:rPr lang="en-US" dirty="0"/>
              <a:t> vi </a:t>
            </a:r>
            <a:r>
              <a:rPr lang="en-US" dirty="0" err="1"/>
              <a:t>truy</a:t>
            </a:r>
            <a:r>
              <a:rPr lang="en-US" dirty="0"/>
              <a:t> </a:t>
            </a:r>
            <a:r>
              <a:rPr lang="en-US" dirty="0" err="1"/>
              <a:t>cập</a:t>
            </a:r>
            <a:r>
              <a:rPr lang="en-US" dirty="0"/>
              <a:t> </a:t>
            </a:r>
            <a:r>
              <a:rPr lang="en-US" dirty="0" err="1"/>
              <a:t>là</a:t>
            </a:r>
            <a:r>
              <a:rPr lang="en-US" dirty="0"/>
              <a:t> private </a:t>
            </a:r>
            <a:r>
              <a:rPr lang="en-US" dirty="0" err="1"/>
              <a:t>nên</a:t>
            </a:r>
            <a:r>
              <a:rPr lang="en-US" dirty="0"/>
              <a:t> </a:t>
            </a:r>
            <a:r>
              <a:rPr lang="en-US" dirty="0" err="1"/>
              <a:t>không</a:t>
            </a:r>
            <a:r>
              <a:rPr lang="en-US" dirty="0"/>
              <a:t> </a:t>
            </a:r>
            <a:r>
              <a:rPr lang="en-US" dirty="0" err="1"/>
              <a:t>thể</a:t>
            </a:r>
            <a:r>
              <a:rPr lang="en-US" dirty="0"/>
              <a:t> </a:t>
            </a:r>
            <a:r>
              <a:rPr lang="en-US" dirty="0" err="1"/>
              <a:t>đứng</a:t>
            </a:r>
            <a:r>
              <a:rPr lang="en-US" dirty="0"/>
              <a:t> </a:t>
            </a:r>
            <a:r>
              <a:rPr lang="en-US" dirty="0" err="1"/>
              <a:t>từ</a:t>
            </a:r>
            <a:r>
              <a:rPr lang="en-US" dirty="0"/>
              <a:t> </a:t>
            </a:r>
            <a:r>
              <a:rPr lang="en-US" dirty="0" err="1"/>
              <a:t>phương</a:t>
            </a:r>
            <a:r>
              <a:rPr lang="en-US" dirty="0"/>
              <a:t> </a:t>
            </a:r>
            <a:r>
              <a:rPr lang="en-US" dirty="0" err="1"/>
              <a:t>thức</a:t>
            </a:r>
            <a:r>
              <a:rPr lang="en-US" dirty="0"/>
              <a:t> Main </a:t>
            </a:r>
            <a:r>
              <a:rPr lang="en-US" dirty="0" err="1"/>
              <a:t>của</a:t>
            </a:r>
            <a:r>
              <a:rPr lang="en-US" dirty="0"/>
              <a:t> </a:t>
            </a:r>
            <a:r>
              <a:rPr lang="en-US" dirty="0" err="1"/>
              <a:t>lớp</a:t>
            </a:r>
            <a:r>
              <a:rPr lang="en-US" dirty="0"/>
              <a:t> Program </a:t>
            </a:r>
            <a:r>
              <a:rPr lang="en-US" dirty="0" err="1"/>
              <a:t>để</a:t>
            </a:r>
            <a:r>
              <a:rPr lang="en-US" dirty="0"/>
              <a:t> </a:t>
            </a:r>
            <a:r>
              <a:rPr lang="en-US" dirty="0" err="1"/>
              <a:t>truy</a:t>
            </a:r>
            <a:r>
              <a:rPr lang="en-US" dirty="0"/>
              <a:t> </a:t>
            </a:r>
            <a:r>
              <a:rPr lang="en-US" dirty="0" err="1"/>
              <a:t>cập</a:t>
            </a:r>
            <a:endParaRPr lang="en-US" dirty="0"/>
          </a:p>
          <a:p>
            <a:endParaRPr lang="en-GB" dirty="0"/>
          </a:p>
        </p:txBody>
      </p:sp>
      <p:sp>
        <p:nvSpPr>
          <p:cNvPr id="4" name="Slide Number Placeholder 3"/>
          <p:cNvSpPr>
            <a:spLocks noGrp="1"/>
          </p:cNvSpPr>
          <p:nvPr>
            <p:ph type="sldNum" sz="quarter" idx="5"/>
          </p:nvPr>
        </p:nvSpPr>
        <p:spPr/>
        <p:txBody>
          <a:bodyPr/>
          <a:lstStyle/>
          <a:p>
            <a:fld id="{EEA7600A-770C-47F1-89C1-5023B6D362E3}" type="slidenum">
              <a:rPr lang="vi-VN" smtClean="0"/>
              <a:t>15</a:t>
            </a:fld>
            <a:endParaRPr lang="vi-VN"/>
          </a:p>
        </p:txBody>
      </p:sp>
    </p:spTree>
    <p:extLst>
      <p:ext uri="{BB962C8B-B14F-4D97-AF65-F5344CB8AC3E}">
        <p14:creationId xmlns:p14="http://schemas.microsoft.com/office/powerpoint/2010/main" val="28206960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Kiểu tham chiếu (Reference Types):</a:t>
            </a:r>
          </a:p>
          <a:p>
            <a:r>
              <a:rPr lang="vi-VN"/>
              <a:t>Các kiểu tham chiếu bao gồm các lớp, mảng, chuỗi (string), và các kiểu tham chiếu khác. Khi không được khởi tạo, giá trị mặc định của chúng là </a:t>
            </a:r>
            <a:r>
              <a:rPr lang="vi-VN" b="1"/>
              <a:t>null</a:t>
            </a:r>
            <a:r>
              <a:rPr lang="vi-VN"/>
              <a:t>.</a:t>
            </a:r>
          </a:p>
          <a:p>
            <a:r>
              <a:rPr lang="vi-VN" b="1"/>
              <a:t>String:</a:t>
            </a:r>
            <a:r>
              <a:rPr lang="vi-VN"/>
              <a:t> Giá trị mặc định là null.</a:t>
            </a:r>
          </a:p>
          <a:p>
            <a:r>
              <a:rPr lang="vi-VN" b="1"/>
              <a:t>Array (mảng):</a:t>
            </a:r>
            <a:r>
              <a:rPr lang="vi-VN"/>
              <a:t> Giá trị mặc định là null.</a:t>
            </a:r>
          </a:p>
          <a:p>
            <a:endParaRPr lang="en-US"/>
          </a:p>
        </p:txBody>
      </p:sp>
      <p:sp>
        <p:nvSpPr>
          <p:cNvPr id="4" name="Slide Number Placeholder 3"/>
          <p:cNvSpPr>
            <a:spLocks noGrp="1"/>
          </p:cNvSpPr>
          <p:nvPr>
            <p:ph type="sldNum" sz="quarter" idx="5"/>
          </p:nvPr>
        </p:nvSpPr>
        <p:spPr/>
        <p:txBody>
          <a:bodyPr/>
          <a:lstStyle/>
          <a:p>
            <a:fld id="{EEA7600A-770C-47F1-89C1-5023B6D362E3}" type="slidenum">
              <a:rPr lang="vi-VN" smtClean="0"/>
              <a:t>20</a:t>
            </a:fld>
            <a:endParaRPr lang="vi-VN"/>
          </a:p>
        </p:txBody>
      </p:sp>
    </p:spTree>
    <p:extLst>
      <p:ext uri="{BB962C8B-B14F-4D97-AF65-F5344CB8AC3E}">
        <p14:creationId xmlns:p14="http://schemas.microsoft.com/office/powerpoint/2010/main" val="29170996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Ví</a:t>
            </a:r>
            <a:r>
              <a:rPr lang="en-US" dirty="0"/>
              <a:t> </a:t>
            </a:r>
            <a:r>
              <a:rPr lang="en-US" dirty="0" err="1"/>
              <a:t>dụ</a:t>
            </a:r>
            <a:r>
              <a:rPr lang="en-US" dirty="0"/>
              <a:t> </a:t>
            </a:r>
            <a:r>
              <a:rPr lang="en-US" dirty="0" err="1"/>
              <a:t>hàm</a:t>
            </a:r>
            <a:r>
              <a:rPr lang="en-US" dirty="0"/>
              <a:t> </a:t>
            </a:r>
            <a:r>
              <a:rPr lang="en-US" dirty="0" err="1"/>
              <a:t>tạo</a:t>
            </a:r>
            <a:r>
              <a:rPr lang="en-US" dirty="0"/>
              <a:t> </a:t>
            </a:r>
            <a:r>
              <a:rPr lang="en-US" dirty="0" err="1"/>
              <a:t>có</a:t>
            </a:r>
            <a:r>
              <a:rPr lang="en-US" dirty="0"/>
              <a:t> </a:t>
            </a:r>
            <a:r>
              <a:rPr lang="en-US" dirty="0" err="1"/>
              <a:t>đối</a:t>
            </a:r>
            <a:r>
              <a:rPr lang="en-US" dirty="0"/>
              <a:t> </a:t>
            </a:r>
            <a:r>
              <a:rPr lang="en-US" dirty="0" err="1"/>
              <a:t>và</a:t>
            </a:r>
            <a:r>
              <a:rPr lang="en-US" dirty="0"/>
              <a:t> ko </a:t>
            </a:r>
            <a:r>
              <a:rPr lang="en-US" dirty="0" err="1"/>
              <a:t>đối</a:t>
            </a:r>
            <a:r>
              <a:rPr lang="en-US" dirty="0"/>
              <a:t> </a:t>
            </a:r>
            <a:r>
              <a:rPr lang="en-US" dirty="0" err="1"/>
              <a:t>viết</a:t>
            </a:r>
            <a:r>
              <a:rPr lang="en-US" dirty="0"/>
              <a:t> </a:t>
            </a:r>
            <a:r>
              <a:rPr lang="en-US" err="1"/>
              <a:t>cho</a:t>
            </a:r>
            <a:r>
              <a:rPr lang="en-US"/>
              <a:t> sv:</a:t>
            </a:r>
            <a:endParaRPr lang="en-US" dirty="0"/>
          </a:p>
          <a:p>
            <a:r>
              <a:rPr lang="sv-SE" dirty="0"/>
              <a:t>D:\Hoc vien ngan hang\CSLT2\CSLT2_Tai\vd</a:t>
            </a:r>
            <a:r>
              <a:rPr lang="sv-SE"/>
              <a:t>_tu</a:t>
            </a:r>
          </a:p>
          <a:p>
            <a:r>
              <a:rPr lang="vi-VN" b="1"/>
              <a:t>Phạm vi truy cập</a:t>
            </a:r>
            <a:r>
              <a:rPr lang="vi-VN"/>
              <a:t> của phương thức khởi tạo thường là public, giúp đối tượng có thể được khởi tạo từ bên ngoài lớp.</a:t>
            </a:r>
            <a:endParaRPr lang="en-US" dirty="0"/>
          </a:p>
          <a:p>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t>21</a:t>
            </a:fld>
            <a:endParaRPr lang="vi-VN"/>
          </a:p>
        </p:txBody>
      </p:sp>
    </p:spTree>
    <p:extLst>
      <p:ext uri="{BB962C8B-B14F-4D97-AF65-F5344CB8AC3E}">
        <p14:creationId xmlns:p14="http://schemas.microsoft.com/office/powerpoint/2010/main" val="25099340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b="0" i="0" dirty="0">
                <a:effectLst/>
                <a:latin typeface="Times New Roman" panose="02020603050405020304" pitchFamily="18" charset="0"/>
                <a:cs typeface="Times New Roman" panose="02020603050405020304" pitchFamily="18" charset="0"/>
              </a:rPr>
              <a:t>Trong ví dụ trên lớp Point có 2 phương thức </a:t>
            </a:r>
            <a:r>
              <a:rPr lang="en-US" sz="1200" b="0" i="0" dirty="0" err="1">
                <a:effectLst/>
                <a:latin typeface="Times New Roman" panose="02020603050405020304" pitchFamily="18" charset="0"/>
                <a:cs typeface="Times New Roman" panose="02020603050405020304" pitchFamily="18" charset="0"/>
              </a:rPr>
              <a:t>tạo</a:t>
            </a:r>
            <a:r>
              <a:rPr lang="en-US" sz="1200" b="0" i="0" dirty="0">
                <a:effectLst/>
                <a:latin typeface="Times New Roman" panose="02020603050405020304" pitchFamily="18" charset="0"/>
                <a:cs typeface="Times New Roman" panose="02020603050405020304" pitchFamily="18" charset="0"/>
              </a:rPr>
              <a:t> </a:t>
            </a:r>
            <a:r>
              <a:rPr lang="en-US" sz="1200" b="0" i="0" dirty="0" err="1">
                <a:effectLst/>
                <a:latin typeface="Times New Roman" panose="02020603050405020304" pitchFamily="18" charset="0"/>
                <a:cs typeface="Times New Roman" panose="02020603050405020304" pitchFamily="18" charset="0"/>
              </a:rPr>
              <a:t>lập</a:t>
            </a:r>
            <a:r>
              <a:rPr lang="en-US" sz="1200" b="0" i="0" dirty="0">
                <a:effectLst/>
                <a:latin typeface="Times New Roman" panose="02020603050405020304" pitchFamily="18" charset="0"/>
                <a:cs typeface="Times New Roman" panose="02020603050405020304" pitchFamily="18" charset="0"/>
              </a:rPr>
              <a:t> </a:t>
            </a:r>
            <a:r>
              <a:rPr lang="vi-VN" sz="1200" b="0" i="0" dirty="0">
                <a:effectLst/>
                <a:latin typeface="Times New Roman" panose="02020603050405020304" pitchFamily="18" charset="0"/>
                <a:cs typeface="Times New Roman" panose="02020603050405020304" pitchFamily="18" charset="0"/>
              </a:rPr>
              <a:t>Point() và Point(int ox, int oy), vậy các phương thức khởi tạo cho phép nạp chồng phương thức.</a:t>
            </a:r>
            <a:br>
              <a:rPr lang="vi-VN"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t>22</a:t>
            </a:fld>
            <a:endParaRPr lang="vi-VN"/>
          </a:p>
        </p:txBody>
      </p:sp>
    </p:spTree>
    <p:extLst>
      <p:ext uri="{BB962C8B-B14F-4D97-AF65-F5344CB8AC3E}">
        <p14:creationId xmlns:p14="http://schemas.microsoft.com/office/powerpoint/2010/main" val="4945274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Không cho phép nạp chồng:</a:t>
            </a:r>
            <a:r>
              <a:rPr lang="en-US" b="1" dirty="0"/>
              <a:t> </a:t>
            </a:r>
            <a:r>
              <a:rPr lang="vi-VN" dirty="0"/>
              <a:t>không thể có nhiều phương thức hủy trong một lớp.</a:t>
            </a:r>
            <a:endParaRPr lang="en-US" b="1" dirty="0"/>
          </a:p>
          <a:p>
            <a:r>
              <a:rPr lang="vi-VN" b="1" dirty="0"/>
              <a:t>Không được gọi tường minh:</a:t>
            </a:r>
            <a:r>
              <a:rPr lang="en-US" b="1" dirty="0"/>
              <a:t> </a:t>
            </a:r>
            <a:r>
              <a:rPr lang="vi-VN" dirty="0"/>
              <a:t>Phương thức hủy được gọi tự động khi đối tượng không còn được tham chiếu và bị xóa khỏi bộ nhớ, vì vậy không thể gọi trực tiếp phương thức hủy.</a:t>
            </a:r>
          </a:p>
          <a:p>
            <a:endParaRPr lang="en-US" dirty="0"/>
          </a:p>
          <a:p>
            <a:r>
              <a:rPr lang="vi-VN" dirty="0"/>
              <a:t>using System;</a:t>
            </a:r>
          </a:p>
          <a:p>
            <a:endParaRPr lang="vi-VN" dirty="0"/>
          </a:p>
          <a:p>
            <a:r>
              <a:rPr lang="vi-VN" dirty="0"/>
              <a:t>public class </a:t>
            </a:r>
            <a:r>
              <a:rPr lang="en-US" dirty="0"/>
              <a:t>HCN</a:t>
            </a:r>
            <a:endParaRPr lang="vi-VN" dirty="0"/>
          </a:p>
          <a:p>
            <a:r>
              <a:rPr lang="vi-VN" dirty="0"/>
              <a:t>{</a:t>
            </a:r>
          </a:p>
          <a:p>
            <a:r>
              <a:rPr lang="vi-VN" dirty="0"/>
              <a:t>    // Thuộc tính</a:t>
            </a:r>
          </a:p>
          <a:p>
            <a:r>
              <a:rPr lang="vi-VN" dirty="0"/>
              <a:t>    public double Dai</a:t>
            </a:r>
            <a:r>
              <a:rPr lang="en-US" dirty="0"/>
              <a:t>;</a:t>
            </a:r>
          </a:p>
          <a:p>
            <a:r>
              <a:rPr lang="en-US" dirty="0"/>
              <a:t>    </a:t>
            </a:r>
            <a:r>
              <a:rPr lang="vi-VN" dirty="0"/>
              <a:t>public double Rong</a:t>
            </a:r>
            <a:r>
              <a:rPr lang="en-US" dirty="0"/>
              <a:t>;</a:t>
            </a:r>
            <a:endParaRPr lang="vi-VN" dirty="0"/>
          </a:p>
          <a:p>
            <a:r>
              <a:rPr lang="vi-VN" dirty="0"/>
              <a:t>    // Phương thức hủy</a:t>
            </a:r>
          </a:p>
          <a:p>
            <a:r>
              <a:rPr lang="vi-VN" dirty="0"/>
              <a:t>    ~</a:t>
            </a:r>
            <a:r>
              <a:rPr lang="en-US" dirty="0"/>
              <a:t>HCN</a:t>
            </a:r>
            <a:r>
              <a:rPr lang="vi-VN" dirty="0"/>
              <a:t>()</a:t>
            </a:r>
          </a:p>
          <a:p>
            <a:r>
              <a:rPr lang="vi-VN" dirty="0"/>
              <a:t>    {</a:t>
            </a:r>
          </a:p>
          <a:p>
            <a:r>
              <a:rPr lang="vi-VN" dirty="0"/>
              <a:t>        Console.WriteLine("Phương thức hủy được gọi. Đối tượng </a:t>
            </a:r>
            <a:r>
              <a:rPr lang="en-US" dirty="0"/>
              <a:t>HCN</a:t>
            </a:r>
            <a:r>
              <a:rPr lang="vi-VN" dirty="0"/>
              <a:t> đã bị hủy.");</a:t>
            </a:r>
          </a:p>
          <a:p>
            <a:r>
              <a:rPr lang="vi-VN" dirty="0"/>
              <a:t>    }</a:t>
            </a:r>
          </a:p>
          <a:p>
            <a:r>
              <a:rPr lang="vi-VN" dirty="0"/>
              <a:t>}</a:t>
            </a:r>
          </a:p>
          <a:p>
            <a:r>
              <a:rPr lang="vi-VN" dirty="0"/>
              <a:t>class Program</a:t>
            </a:r>
          </a:p>
          <a:p>
            <a:r>
              <a:rPr lang="vi-VN" dirty="0"/>
              <a:t>{</a:t>
            </a:r>
          </a:p>
          <a:p>
            <a:r>
              <a:rPr lang="vi-VN" dirty="0"/>
              <a:t>    static void Main()</a:t>
            </a:r>
          </a:p>
          <a:p>
            <a:r>
              <a:rPr lang="vi-VN" dirty="0"/>
              <a:t>    {</a:t>
            </a:r>
          </a:p>
          <a:p>
            <a:r>
              <a:rPr lang="vi-VN" dirty="0"/>
              <a:t>        // Tạo đối tượng HinhChuNhat</a:t>
            </a:r>
          </a:p>
          <a:p>
            <a:r>
              <a:rPr lang="vi-VN" dirty="0"/>
              <a:t>        </a:t>
            </a:r>
            <a:r>
              <a:rPr lang="en-US" dirty="0"/>
              <a:t>HCN</a:t>
            </a:r>
            <a:r>
              <a:rPr lang="vi-VN" dirty="0"/>
              <a:t> hcn</a:t>
            </a:r>
            <a:r>
              <a:rPr lang="en-US" dirty="0"/>
              <a:t>1</a:t>
            </a:r>
            <a:r>
              <a:rPr lang="vi-VN" dirty="0"/>
              <a:t> = new </a:t>
            </a:r>
            <a:r>
              <a:rPr lang="en-US" dirty="0"/>
              <a:t>HCN </a:t>
            </a:r>
            <a:r>
              <a:rPr lang="vi-VN" dirty="0"/>
              <a:t>();</a:t>
            </a:r>
          </a:p>
          <a:p>
            <a:r>
              <a:rPr lang="vi-VN" dirty="0"/>
              <a:t>}</a:t>
            </a:r>
          </a:p>
          <a:p>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t>23</a:t>
            </a:fld>
            <a:endParaRPr lang="vi-VN"/>
          </a:p>
        </p:txBody>
      </p:sp>
    </p:spTree>
    <p:extLst>
      <p:ext uri="{BB962C8B-B14F-4D97-AF65-F5344CB8AC3E}">
        <p14:creationId xmlns:p14="http://schemas.microsoft.com/office/powerpoint/2010/main" val="35440242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33333"/>
                </a:solidFill>
                <a:effectLst/>
                <a:latin typeface="Helvetica Neue"/>
              </a:rPr>
              <a:t>1 </a:t>
            </a:r>
            <a:r>
              <a:rPr lang="en-US" b="0" i="0" dirty="0" err="1">
                <a:solidFill>
                  <a:srgbClr val="333333"/>
                </a:solidFill>
                <a:effectLst/>
                <a:latin typeface="Helvetica Neue"/>
              </a:rPr>
              <a:t>lớp</a:t>
            </a:r>
            <a:r>
              <a:rPr lang="en-US" b="0" i="0" dirty="0">
                <a:solidFill>
                  <a:srgbClr val="333333"/>
                </a:solidFill>
                <a:effectLst/>
                <a:latin typeface="Helvetica Neue"/>
              </a:rPr>
              <a:t> </a:t>
            </a:r>
            <a:r>
              <a:rPr lang="en-US" b="0" i="0" dirty="0" err="1">
                <a:solidFill>
                  <a:srgbClr val="333333"/>
                </a:solidFill>
                <a:effectLst/>
                <a:latin typeface="Helvetica Neue"/>
              </a:rPr>
              <a:t>tạo</a:t>
            </a:r>
            <a:r>
              <a:rPr lang="en-US" b="0" i="0" dirty="0">
                <a:solidFill>
                  <a:srgbClr val="333333"/>
                </a:solidFill>
                <a:effectLst/>
                <a:latin typeface="Helvetica Neue"/>
              </a:rPr>
              <a:t> ra </a:t>
            </a:r>
            <a:r>
              <a:rPr lang="en-US" b="0" i="0" dirty="0" err="1">
                <a:solidFill>
                  <a:srgbClr val="333333"/>
                </a:solidFill>
                <a:effectLst/>
                <a:latin typeface="Helvetica Neue"/>
              </a:rPr>
              <a:t>nhiều</a:t>
            </a:r>
            <a:r>
              <a:rPr lang="en-US" b="0" i="0" dirty="0">
                <a:solidFill>
                  <a:srgbClr val="333333"/>
                </a:solidFill>
                <a:effectLst/>
                <a:latin typeface="Helvetica Neue"/>
              </a:rPr>
              <a:t> </a:t>
            </a:r>
            <a:r>
              <a:rPr lang="en-US" b="0" i="0" dirty="0" err="1">
                <a:solidFill>
                  <a:srgbClr val="333333"/>
                </a:solidFill>
                <a:effectLst/>
                <a:latin typeface="Helvetica Neue"/>
              </a:rPr>
              <a:t>đối</a:t>
            </a:r>
            <a:r>
              <a:rPr lang="en-US" b="0" i="0" dirty="0">
                <a:solidFill>
                  <a:srgbClr val="333333"/>
                </a:solidFill>
                <a:effectLst/>
                <a:latin typeface="Helvetica Neue"/>
              </a:rPr>
              <a:t> </a:t>
            </a:r>
            <a:r>
              <a:rPr lang="en-US" b="0" i="0" dirty="0" err="1">
                <a:solidFill>
                  <a:srgbClr val="333333"/>
                </a:solidFill>
                <a:effectLst/>
                <a:latin typeface="Helvetica Neue"/>
              </a:rPr>
              <a:t>tượng</a:t>
            </a:r>
            <a:r>
              <a:rPr lang="en-US" b="0" i="0" dirty="0">
                <a:solidFill>
                  <a:srgbClr val="333333"/>
                </a:solidFill>
                <a:effectLst/>
                <a:latin typeface="Helvetica Neue"/>
              </a:rPr>
              <a:t>, </a:t>
            </a:r>
            <a:r>
              <a:rPr lang="en-US" b="0" i="0" dirty="0" err="1">
                <a:solidFill>
                  <a:srgbClr val="333333"/>
                </a:solidFill>
                <a:effectLst/>
                <a:latin typeface="Helvetica Neue"/>
              </a:rPr>
              <a:t>khi</a:t>
            </a:r>
            <a:r>
              <a:rPr lang="en-US" b="0" i="0" dirty="0">
                <a:solidFill>
                  <a:srgbClr val="333333"/>
                </a:solidFill>
                <a:effectLst/>
                <a:latin typeface="Helvetica Neue"/>
              </a:rPr>
              <a:t> </a:t>
            </a:r>
            <a:r>
              <a:rPr lang="en-US" b="0" i="0" dirty="0" err="1">
                <a:solidFill>
                  <a:srgbClr val="333333"/>
                </a:solidFill>
                <a:effectLst/>
                <a:latin typeface="Helvetica Neue"/>
              </a:rPr>
              <a:t>đối</a:t>
            </a:r>
            <a:r>
              <a:rPr lang="en-US" b="0" i="0" dirty="0">
                <a:solidFill>
                  <a:srgbClr val="333333"/>
                </a:solidFill>
                <a:effectLst/>
                <a:latin typeface="Helvetica Neue"/>
              </a:rPr>
              <a:t> </a:t>
            </a:r>
            <a:r>
              <a:rPr lang="en-US" b="0" i="0" dirty="0" err="1">
                <a:solidFill>
                  <a:srgbClr val="333333"/>
                </a:solidFill>
                <a:effectLst/>
                <a:latin typeface="Helvetica Neue"/>
              </a:rPr>
              <a:t>tượng</a:t>
            </a:r>
            <a:r>
              <a:rPr lang="en-US" b="0" i="0" dirty="0">
                <a:solidFill>
                  <a:srgbClr val="333333"/>
                </a:solidFill>
                <a:effectLst/>
                <a:latin typeface="Helvetica Neue"/>
              </a:rPr>
              <a:t> </a:t>
            </a:r>
            <a:r>
              <a:rPr lang="en-US" b="0" i="0" dirty="0" err="1">
                <a:solidFill>
                  <a:srgbClr val="333333"/>
                </a:solidFill>
                <a:effectLst/>
                <a:latin typeface="Helvetica Neue"/>
              </a:rPr>
              <a:t>nào</a:t>
            </a:r>
            <a:r>
              <a:rPr lang="en-US" b="0" i="0" dirty="0">
                <a:solidFill>
                  <a:srgbClr val="333333"/>
                </a:solidFill>
                <a:effectLst/>
                <a:latin typeface="Helvetica Neue"/>
              </a:rPr>
              <a:t> </a:t>
            </a:r>
            <a:r>
              <a:rPr lang="en-US" b="0" i="0" dirty="0" err="1">
                <a:solidFill>
                  <a:srgbClr val="333333"/>
                </a:solidFill>
                <a:effectLst/>
                <a:latin typeface="Helvetica Neue"/>
              </a:rPr>
              <a:t>đang</a:t>
            </a:r>
            <a:r>
              <a:rPr lang="en-US" b="0" i="0" dirty="0">
                <a:solidFill>
                  <a:srgbClr val="333333"/>
                </a:solidFill>
                <a:effectLst/>
                <a:latin typeface="Helvetica Neue"/>
              </a:rPr>
              <a:t> </a:t>
            </a:r>
            <a:r>
              <a:rPr lang="en-US" b="0" i="0" dirty="0" err="1">
                <a:solidFill>
                  <a:srgbClr val="333333"/>
                </a:solidFill>
                <a:effectLst/>
                <a:latin typeface="Helvetica Neue"/>
              </a:rPr>
              <a:t>gọi</a:t>
            </a:r>
            <a:r>
              <a:rPr lang="en-US" b="0" i="0" dirty="0">
                <a:solidFill>
                  <a:srgbClr val="333333"/>
                </a:solidFill>
                <a:effectLst/>
                <a:latin typeface="Helvetica Neue"/>
              </a:rPr>
              <a:t> </a:t>
            </a:r>
            <a:r>
              <a:rPr lang="en-US" b="0" i="0" dirty="0" err="1">
                <a:solidFill>
                  <a:srgbClr val="333333"/>
                </a:solidFill>
                <a:effectLst/>
                <a:latin typeface="Helvetica Neue"/>
              </a:rPr>
              <a:t>đến</a:t>
            </a:r>
            <a:r>
              <a:rPr lang="en-US" b="0" i="0" dirty="0">
                <a:solidFill>
                  <a:srgbClr val="333333"/>
                </a:solidFill>
                <a:effectLst/>
                <a:latin typeface="Helvetica Neue"/>
              </a:rPr>
              <a:t> </a:t>
            </a:r>
            <a:r>
              <a:rPr lang="en-US" b="0" i="0" dirty="0" err="1">
                <a:solidFill>
                  <a:srgbClr val="333333"/>
                </a:solidFill>
                <a:effectLst/>
                <a:latin typeface="Helvetica Neue"/>
              </a:rPr>
              <a:t>phương</a:t>
            </a:r>
            <a:r>
              <a:rPr lang="en-US" b="0" i="0" dirty="0">
                <a:solidFill>
                  <a:srgbClr val="333333"/>
                </a:solidFill>
                <a:effectLst/>
                <a:latin typeface="Helvetica Neue"/>
              </a:rPr>
              <a:t> </a:t>
            </a:r>
            <a:r>
              <a:rPr lang="en-US" b="0" i="0" dirty="0" err="1">
                <a:solidFill>
                  <a:srgbClr val="333333"/>
                </a:solidFill>
                <a:effectLst/>
                <a:latin typeface="Helvetica Neue"/>
              </a:rPr>
              <a:t>thức</a:t>
            </a:r>
            <a:r>
              <a:rPr lang="en-US" b="0" i="0" dirty="0">
                <a:solidFill>
                  <a:srgbClr val="333333"/>
                </a:solidFill>
                <a:effectLst/>
                <a:latin typeface="Helvetica Neue"/>
              </a:rPr>
              <a:t> show thì this </a:t>
            </a:r>
            <a:r>
              <a:rPr lang="en-US" b="0" i="0" dirty="0" err="1">
                <a:solidFill>
                  <a:srgbClr val="333333"/>
                </a:solidFill>
                <a:effectLst/>
                <a:latin typeface="Helvetica Neue"/>
              </a:rPr>
              <a:t>chính</a:t>
            </a:r>
            <a:r>
              <a:rPr lang="en-US" b="0" i="0" dirty="0">
                <a:solidFill>
                  <a:srgbClr val="333333"/>
                </a:solidFill>
                <a:effectLst/>
                <a:latin typeface="Helvetica Neue"/>
              </a:rPr>
              <a:t> là </a:t>
            </a:r>
            <a:r>
              <a:rPr lang="en-US" b="0" i="0" dirty="0" err="1">
                <a:solidFill>
                  <a:srgbClr val="333333"/>
                </a:solidFill>
                <a:effectLst/>
                <a:latin typeface="Helvetica Neue"/>
              </a:rPr>
              <a:t>đối</a:t>
            </a:r>
            <a:r>
              <a:rPr lang="en-US" b="0" i="0" dirty="0">
                <a:solidFill>
                  <a:srgbClr val="333333"/>
                </a:solidFill>
                <a:effectLst/>
                <a:latin typeface="Helvetica Neue"/>
              </a:rPr>
              <a:t> </a:t>
            </a:r>
            <a:r>
              <a:rPr lang="en-US" b="0" i="0" dirty="0" err="1">
                <a:solidFill>
                  <a:srgbClr val="333333"/>
                </a:solidFill>
                <a:effectLst/>
                <a:latin typeface="Helvetica Neue"/>
              </a:rPr>
              <a:t>tượng</a:t>
            </a:r>
            <a:r>
              <a:rPr lang="en-US" b="0" i="0" dirty="0">
                <a:solidFill>
                  <a:srgbClr val="333333"/>
                </a:solidFill>
                <a:effectLst/>
                <a:latin typeface="Helvetica Neue"/>
              </a:rPr>
              <a:t> </a:t>
            </a:r>
            <a:r>
              <a:rPr lang="en-US" b="0" i="0" dirty="0" err="1">
                <a:solidFill>
                  <a:srgbClr val="333333"/>
                </a:solidFill>
                <a:effectLst/>
                <a:latin typeface="Helvetica Neue"/>
              </a:rPr>
              <a:t>đó</a:t>
            </a:r>
            <a:r>
              <a:rPr lang="en-US" b="0" i="0" dirty="0">
                <a:solidFill>
                  <a:srgbClr val="333333"/>
                </a:solidFill>
                <a:effectLst/>
                <a:latin typeface="Helvetica Neue"/>
              </a:rPr>
              <a:t>.</a:t>
            </a:r>
          </a:p>
          <a:p>
            <a:r>
              <a:rPr lang="en-US" b="0" i="0" dirty="0">
                <a:solidFill>
                  <a:srgbClr val="333333"/>
                </a:solidFill>
                <a:effectLst/>
                <a:latin typeface="Helvetica Neue"/>
              </a:rPr>
              <a:t>This </a:t>
            </a:r>
            <a:r>
              <a:rPr lang="en-US" b="0" i="0" dirty="0" err="1">
                <a:solidFill>
                  <a:srgbClr val="333333"/>
                </a:solidFill>
                <a:effectLst/>
                <a:latin typeface="Helvetica Neue"/>
              </a:rPr>
              <a:t>sử</a:t>
            </a:r>
            <a:r>
              <a:rPr lang="en-US" b="0" i="0" dirty="0">
                <a:solidFill>
                  <a:srgbClr val="333333"/>
                </a:solidFill>
                <a:effectLst/>
                <a:latin typeface="Helvetica Neue"/>
              </a:rPr>
              <a:t> </a:t>
            </a:r>
            <a:r>
              <a:rPr lang="en-US" b="0" i="0" dirty="0" err="1">
                <a:solidFill>
                  <a:srgbClr val="333333"/>
                </a:solidFill>
                <a:effectLst/>
                <a:latin typeface="Helvetica Neue"/>
              </a:rPr>
              <a:t>dụng</a:t>
            </a:r>
            <a:r>
              <a:rPr lang="en-US" b="0" i="0" dirty="0">
                <a:solidFill>
                  <a:srgbClr val="333333"/>
                </a:solidFill>
                <a:effectLst/>
                <a:latin typeface="Helvetica Neue"/>
              </a:rPr>
              <a:t> </a:t>
            </a:r>
            <a:r>
              <a:rPr lang="en-US" b="0" i="0" dirty="0" err="1">
                <a:solidFill>
                  <a:srgbClr val="333333"/>
                </a:solidFill>
                <a:effectLst/>
                <a:latin typeface="Helvetica Neue"/>
              </a:rPr>
              <a:t>khi</a:t>
            </a:r>
            <a:r>
              <a:rPr lang="en-US" b="0" i="0" dirty="0">
                <a:solidFill>
                  <a:srgbClr val="333333"/>
                </a:solidFill>
                <a:effectLst/>
                <a:latin typeface="Helvetica Neue"/>
              </a:rPr>
              <a:t> </a:t>
            </a:r>
            <a:r>
              <a:rPr lang="en-US" b="0" i="0" dirty="0" err="1">
                <a:solidFill>
                  <a:srgbClr val="333333"/>
                </a:solidFill>
                <a:effectLst/>
                <a:latin typeface="Helvetica Neue"/>
              </a:rPr>
              <a:t>tên</a:t>
            </a:r>
            <a:r>
              <a:rPr lang="en-US" b="0" i="0" dirty="0">
                <a:solidFill>
                  <a:srgbClr val="333333"/>
                </a:solidFill>
                <a:effectLst/>
                <a:latin typeface="Helvetica Neue"/>
              </a:rPr>
              <a:t> </a:t>
            </a:r>
            <a:r>
              <a:rPr lang="en-US" b="0" i="0" dirty="0" err="1">
                <a:solidFill>
                  <a:srgbClr val="333333"/>
                </a:solidFill>
                <a:effectLst/>
                <a:latin typeface="Helvetica Neue"/>
              </a:rPr>
              <a:t>của</a:t>
            </a:r>
            <a:r>
              <a:rPr lang="en-US" b="0" i="0" dirty="0">
                <a:solidFill>
                  <a:srgbClr val="333333"/>
                </a:solidFill>
                <a:effectLst/>
                <a:latin typeface="Helvetica Neue"/>
              </a:rPr>
              <a:t> </a:t>
            </a:r>
            <a:r>
              <a:rPr lang="en-US" b="0" i="0" dirty="0" err="1">
                <a:solidFill>
                  <a:srgbClr val="333333"/>
                </a:solidFill>
                <a:effectLst/>
                <a:latin typeface="Helvetica Neue"/>
              </a:rPr>
              <a:t>tham</a:t>
            </a:r>
            <a:r>
              <a:rPr lang="en-US" b="0" i="0" dirty="0">
                <a:solidFill>
                  <a:srgbClr val="333333"/>
                </a:solidFill>
                <a:effectLst/>
                <a:latin typeface="Helvetica Neue"/>
              </a:rPr>
              <a:t> </a:t>
            </a:r>
            <a:r>
              <a:rPr lang="en-US" b="0" i="0" dirty="0" err="1">
                <a:solidFill>
                  <a:srgbClr val="333333"/>
                </a:solidFill>
                <a:effectLst/>
                <a:latin typeface="Helvetica Neue"/>
              </a:rPr>
              <a:t>số</a:t>
            </a:r>
            <a:r>
              <a:rPr lang="en-US" b="0" i="0" dirty="0">
                <a:solidFill>
                  <a:srgbClr val="333333"/>
                </a:solidFill>
                <a:effectLst/>
                <a:latin typeface="Helvetica Neue"/>
              </a:rPr>
              <a:t> </a:t>
            </a:r>
            <a:r>
              <a:rPr lang="en-US" b="0" i="0" dirty="0" err="1">
                <a:solidFill>
                  <a:srgbClr val="333333"/>
                </a:solidFill>
                <a:effectLst/>
                <a:latin typeface="Helvetica Neue"/>
              </a:rPr>
              <a:t>truyền</a:t>
            </a:r>
            <a:r>
              <a:rPr lang="en-US" b="0" i="0" dirty="0">
                <a:solidFill>
                  <a:srgbClr val="333333"/>
                </a:solidFill>
                <a:effectLst/>
                <a:latin typeface="Helvetica Neue"/>
              </a:rPr>
              <a:t> </a:t>
            </a:r>
            <a:r>
              <a:rPr lang="en-US" b="0" i="0" dirty="0" err="1">
                <a:solidFill>
                  <a:srgbClr val="333333"/>
                </a:solidFill>
                <a:effectLst/>
                <a:latin typeface="Helvetica Neue"/>
              </a:rPr>
              <a:t>vào</a:t>
            </a:r>
            <a:r>
              <a:rPr lang="en-US" b="0" i="0" dirty="0">
                <a:solidFill>
                  <a:srgbClr val="333333"/>
                </a:solidFill>
                <a:effectLst/>
                <a:latin typeface="Helvetica Neue"/>
              </a:rPr>
              <a:t> </a:t>
            </a:r>
            <a:r>
              <a:rPr lang="en-US" b="0" i="0" dirty="0" err="1">
                <a:solidFill>
                  <a:srgbClr val="333333"/>
                </a:solidFill>
                <a:effectLst/>
                <a:latin typeface="Helvetica Neue"/>
              </a:rPr>
              <a:t>trùng</a:t>
            </a:r>
            <a:r>
              <a:rPr lang="en-US" b="0" i="0" dirty="0">
                <a:solidFill>
                  <a:srgbClr val="333333"/>
                </a:solidFill>
                <a:effectLst/>
                <a:latin typeface="Helvetica Neue"/>
              </a:rPr>
              <a:t> </a:t>
            </a:r>
            <a:r>
              <a:rPr lang="en-US" b="0" i="0" dirty="0" err="1">
                <a:solidFill>
                  <a:srgbClr val="333333"/>
                </a:solidFill>
                <a:effectLst/>
                <a:latin typeface="Helvetica Neue"/>
              </a:rPr>
              <a:t>với</a:t>
            </a:r>
            <a:r>
              <a:rPr lang="en-US" b="0" i="0" dirty="0">
                <a:solidFill>
                  <a:srgbClr val="333333"/>
                </a:solidFill>
                <a:effectLst/>
                <a:latin typeface="Helvetica Neue"/>
              </a:rPr>
              <a:t> </a:t>
            </a:r>
            <a:r>
              <a:rPr lang="en-US" b="0" i="0" dirty="0" err="1">
                <a:solidFill>
                  <a:srgbClr val="333333"/>
                </a:solidFill>
                <a:effectLst/>
                <a:latin typeface="Helvetica Neue"/>
              </a:rPr>
              <a:t>tên</a:t>
            </a:r>
            <a:r>
              <a:rPr lang="en-US" b="0" i="0" dirty="0">
                <a:solidFill>
                  <a:srgbClr val="333333"/>
                </a:solidFill>
                <a:effectLst/>
                <a:latin typeface="Helvetica Neue"/>
              </a:rPr>
              <a:t> </a:t>
            </a:r>
            <a:r>
              <a:rPr lang="en-US" b="0" i="0" dirty="0" err="1">
                <a:solidFill>
                  <a:srgbClr val="333333"/>
                </a:solidFill>
                <a:effectLst/>
                <a:latin typeface="Helvetica Neue"/>
              </a:rPr>
              <a:t>của</a:t>
            </a:r>
            <a:r>
              <a:rPr lang="en-US" b="0" i="0" dirty="0">
                <a:solidFill>
                  <a:srgbClr val="333333"/>
                </a:solidFill>
                <a:effectLst/>
                <a:latin typeface="Helvetica Neue"/>
              </a:rPr>
              <a:t> </a:t>
            </a:r>
            <a:r>
              <a:rPr lang="en-US" b="0" i="0" dirty="0" err="1">
                <a:solidFill>
                  <a:srgbClr val="333333"/>
                </a:solidFill>
                <a:effectLst/>
                <a:latin typeface="Helvetica Neue"/>
              </a:rPr>
              <a:t>thuộc</a:t>
            </a:r>
            <a:r>
              <a:rPr lang="en-US" b="0" i="0" dirty="0">
                <a:solidFill>
                  <a:srgbClr val="333333"/>
                </a:solidFill>
                <a:effectLst/>
                <a:latin typeface="Helvetica Neue"/>
              </a:rPr>
              <a:t> </a:t>
            </a:r>
            <a:r>
              <a:rPr lang="en-US" b="0" i="0" dirty="0" err="1">
                <a:solidFill>
                  <a:srgbClr val="333333"/>
                </a:solidFill>
                <a:effectLst/>
                <a:latin typeface="Helvetica Neue"/>
              </a:rPr>
              <a:t>tính</a:t>
            </a:r>
            <a:r>
              <a:rPr lang="en-US" b="0" i="0" dirty="0">
                <a:solidFill>
                  <a:srgbClr val="333333"/>
                </a:solidFill>
                <a:effectLst/>
                <a:latin typeface="Helvetica Neue"/>
              </a:rPr>
              <a:t>.</a:t>
            </a:r>
          </a:p>
          <a:p>
            <a:r>
              <a:rPr lang="en-US" b="0" i="0" dirty="0" err="1">
                <a:solidFill>
                  <a:srgbClr val="333333"/>
                </a:solidFill>
                <a:effectLst/>
                <a:latin typeface="Helvetica Neue"/>
              </a:rPr>
              <a:t>Nếu</a:t>
            </a:r>
            <a:r>
              <a:rPr lang="en-US" b="0" i="0" dirty="0">
                <a:solidFill>
                  <a:srgbClr val="333333"/>
                </a:solidFill>
                <a:effectLst/>
                <a:latin typeface="Helvetica Neue"/>
              </a:rPr>
              <a:t> </a:t>
            </a:r>
            <a:r>
              <a:rPr lang="en-US" b="0" i="0" dirty="0" err="1">
                <a:solidFill>
                  <a:srgbClr val="333333"/>
                </a:solidFill>
                <a:effectLst/>
                <a:latin typeface="Helvetica Neue"/>
              </a:rPr>
              <a:t>không</a:t>
            </a:r>
            <a:r>
              <a:rPr lang="en-US" b="0" i="0" dirty="0">
                <a:solidFill>
                  <a:srgbClr val="333333"/>
                </a:solidFill>
                <a:effectLst/>
                <a:latin typeface="Helvetica Neue"/>
              </a:rPr>
              <a:t> </a:t>
            </a:r>
            <a:r>
              <a:rPr lang="en-US" b="0" i="0" dirty="0" err="1">
                <a:solidFill>
                  <a:srgbClr val="333333"/>
                </a:solidFill>
                <a:effectLst/>
                <a:latin typeface="Helvetica Neue"/>
              </a:rPr>
              <a:t>sử</a:t>
            </a:r>
            <a:r>
              <a:rPr lang="en-US" b="0" i="0" dirty="0">
                <a:solidFill>
                  <a:srgbClr val="333333"/>
                </a:solidFill>
                <a:effectLst/>
                <a:latin typeface="Helvetica Neue"/>
              </a:rPr>
              <a:t> </a:t>
            </a:r>
            <a:r>
              <a:rPr lang="en-US" b="0" i="0" dirty="0" err="1">
                <a:solidFill>
                  <a:srgbClr val="333333"/>
                </a:solidFill>
                <a:effectLst/>
                <a:latin typeface="Helvetica Neue"/>
              </a:rPr>
              <a:t>dụng</a:t>
            </a:r>
            <a:r>
              <a:rPr lang="en-US" b="0" i="0" dirty="0">
                <a:solidFill>
                  <a:srgbClr val="333333"/>
                </a:solidFill>
                <a:effectLst/>
                <a:latin typeface="Helvetica Neue"/>
              </a:rPr>
              <a:t> this thì old=old thì </a:t>
            </a:r>
            <a:r>
              <a:rPr lang="en-US" b="0" i="0" dirty="0" err="1">
                <a:solidFill>
                  <a:srgbClr val="333333"/>
                </a:solidFill>
                <a:effectLst/>
                <a:latin typeface="Helvetica Neue"/>
              </a:rPr>
              <a:t>không</a:t>
            </a:r>
            <a:r>
              <a:rPr lang="en-US" b="0" i="0" dirty="0">
                <a:solidFill>
                  <a:srgbClr val="333333"/>
                </a:solidFill>
                <a:effectLst/>
                <a:latin typeface="Helvetica Neue"/>
              </a:rPr>
              <a:t> </a:t>
            </a:r>
            <a:r>
              <a:rPr lang="en-US" b="0" i="0" dirty="0" err="1">
                <a:solidFill>
                  <a:srgbClr val="333333"/>
                </a:solidFill>
                <a:effectLst/>
                <a:latin typeface="Helvetica Neue"/>
              </a:rPr>
              <a:t>biết</a:t>
            </a:r>
            <a:r>
              <a:rPr lang="en-US" b="0" i="0" dirty="0">
                <a:solidFill>
                  <a:srgbClr val="333333"/>
                </a:solidFill>
                <a:effectLst/>
                <a:latin typeface="Helvetica Neue"/>
              </a:rPr>
              <a:t> </a:t>
            </a:r>
            <a:r>
              <a:rPr lang="en-US" b="0" i="0" dirty="0" err="1">
                <a:solidFill>
                  <a:srgbClr val="333333"/>
                </a:solidFill>
                <a:effectLst/>
                <a:latin typeface="Helvetica Neue"/>
              </a:rPr>
              <a:t>đâu</a:t>
            </a:r>
            <a:r>
              <a:rPr lang="en-US" b="0" i="0" dirty="0">
                <a:solidFill>
                  <a:srgbClr val="333333"/>
                </a:solidFill>
                <a:effectLst/>
                <a:latin typeface="Helvetica Neue"/>
              </a:rPr>
              <a:t> là </a:t>
            </a:r>
            <a:r>
              <a:rPr lang="en-US" b="0" i="0" dirty="0" err="1">
                <a:solidFill>
                  <a:srgbClr val="333333"/>
                </a:solidFill>
                <a:effectLst/>
                <a:latin typeface="Helvetica Neue"/>
              </a:rPr>
              <a:t>thuộc</a:t>
            </a:r>
            <a:r>
              <a:rPr lang="en-US" b="0" i="0" dirty="0">
                <a:solidFill>
                  <a:srgbClr val="333333"/>
                </a:solidFill>
                <a:effectLst/>
                <a:latin typeface="Helvetica Neue"/>
              </a:rPr>
              <a:t> </a:t>
            </a:r>
            <a:r>
              <a:rPr lang="en-US" b="0" i="0" dirty="0" err="1">
                <a:solidFill>
                  <a:srgbClr val="333333"/>
                </a:solidFill>
                <a:effectLst/>
                <a:latin typeface="Helvetica Neue"/>
              </a:rPr>
              <a:t>tính</a:t>
            </a:r>
            <a:r>
              <a:rPr lang="en-US" b="0" i="0" dirty="0">
                <a:solidFill>
                  <a:srgbClr val="333333"/>
                </a:solidFill>
                <a:effectLst/>
                <a:latin typeface="Helvetica Neue"/>
              </a:rPr>
              <a:t>, </a:t>
            </a:r>
            <a:r>
              <a:rPr lang="en-US" b="0" i="0" dirty="0" err="1">
                <a:solidFill>
                  <a:srgbClr val="333333"/>
                </a:solidFill>
                <a:effectLst/>
                <a:latin typeface="Helvetica Neue"/>
              </a:rPr>
              <a:t>đâu</a:t>
            </a:r>
            <a:r>
              <a:rPr lang="en-US" b="0" i="0" dirty="0">
                <a:solidFill>
                  <a:srgbClr val="333333"/>
                </a:solidFill>
                <a:effectLst/>
                <a:latin typeface="Helvetica Neue"/>
              </a:rPr>
              <a:t> là </a:t>
            </a:r>
            <a:r>
              <a:rPr lang="en-US" b="0" i="0" dirty="0" err="1">
                <a:solidFill>
                  <a:srgbClr val="333333"/>
                </a:solidFill>
                <a:effectLst/>
                <a:latin typeface="Helvetica Neue"/>
              </a:rPr>
              <a:t>tham</a:t>
            </a:r>
            <a:r>
              <a:rPr lang="en-US" b="0" i="0" dirty="0">
                <a:solidFill>
                  <a:srgbClr val="333333"/>
                </a:solidFill>
                <a:effectLst/>
                <a:latin typeface="Helvetica Neue"/>
              </a:rPr>
              <a:t> </a:t>
            </a:r>
            <a:r>
              <a:rPr lang="en-US" b="0" i="0" dirty="0" err="1">
                <a:solidFill>
                  <a:srgbClr val="333333"/>
                </a:solidFill>
                <a:effectLst/>
                <a:latin typeface="Helvetica Neue"/>
              </a:rPr>
              <a:t>số</a:t>
            </a:r>
            <a:r>
              <a:rPr lang="en-US" b="0" i="0" dirty="0">
                <a:solidFill>
                  <a:srgbClr val="333333"/>
                </a:solidFill>
                <a:effectLst/>
                <a:latin typeface="Helvetica Neue"/>
              </a:rPr>
              <a:t> </a:t>
            </a:r>
            <a:r>
              <a:rPr lang="en-US" b="0" i="0" dirty="0" err="1">
                <a:solidFill>
                  <a:srgbClr val="333333"/>
                </a:solidFill>
                <a:effectLst/>
                <a:latin typeface="Helvetica Neue"/>
              </a:rPr>
              <a:t>truyền</a:t>
            </a:r>
            <a:r>
              <a:rPr lang="en-US" b="0" i="0" dirty="0">
                <a:solidFill>
                  <a:srgbClr val="333333"/>
                </a:solidFill>
                <a:effectLst/>
                <a:latin typeface="Helvetica Neue"/>
              </a:rPr>
              <a:t> </a:t>
            </a:r>
            <a:r>
              <a:rPr lang="en-US" b="0" i="0" dirty="0" err="1">
                <a:solidFill>
                  <a:srgbClr val="333333"/>
                </a:solidFill>
                <a:effectLst/>
                <a:latin typeface="Helvetica Neue"/>
              </a:rPr>
              <a:t>vào</a:t>
            </a:r>
            <a:r>
              <a:rPr lang="en-US" b="0" i="0" dirty="0">
                <a:solidFill>
                  <a:srgbClr val="333333"/>
                </a:solidFill>
                <a:effectLst/>
                <a:latin typeface="Helvetica Neue"/>
              </a:rPr>
              <a:t>, thì </a:t>
            </a:r>
            <a:r>
              <a:rPr lang="en-US" b="0" i="0" dirty="0" err="1">
                <a:solidFill>
                  <a:srgbClr val="333333"/>
                </a:solidFill>
                <a:effectLst/>
                <a:latin typeface="Helvetica Neue"/>
              </a:rPr>
              <a:t>nó</a:t>
            </a:r>
            <a:r>
              <a:rPr lang="en-US" b="0" i="0" dirty="0">
                <a:solidFill>
                  <a:srgbClr val="333333"/>
                </a:solidFill>
                <a:effectLst/>
                <a:latin typeface="Helvetica Neue"/>
              </a:rPr>
              <a:t> </a:t>
            </a:r>
            <a:r>
              <a:rPr lang="en-US" b="0" i="0" dirty="0" err="1">
                <a:solidFill>
                  <a:srgbClr val="333333"/>
                </a:solidFill>
                <a:effectLst/>
                <a:latin typeface="Helvetica Neue"/>
              </a:rPr>
              <a:t>sẽ</a:t>
            </a:r>
            <a:r>
              <a:rPr lang="en-US" b="0" i="0" dirty="0">
                <a:solidFill>
                  <a:srgbClr val="333333"/>
                </a:solidFill>
                <a:effectLst/>
                <a:latin typeface="Helvetica Neue"/>
              </a:rPr>
              <a:t> </a:t>
            </a:r>
            <a:r>
              <a:rPr lang="en-US" b="0" i="0" dirty="0" err="1">
                <a:solidFill>
                  <a:srgbClr val="333333"/>
                </a:solidFill>
                <a:effectLst/>
                <a:latin typeface="Helvetica Neue"/>
              </a:rPr>
              <a:t>ưu</a:t>
            </a:r>
            <a:r>
              <a:rPr lang="en-US" b="0" i="0" dirty="0">
                <a:solidFill>
                  <a:srgbClr val="333333"/>
                </a:solidFill>
                <a:effectLst/>
                <a:latin typeface="Helvetica Neue"/>
              </a:rPr>
              <a:t> </a:t>
            </a:r>
            <a:r>
              <a:rPr lang="en-US" b="0" i="0" dirty="0" err="1">
                <a:solidFill>
                  <a:srgbClr val="333333"/>
                </a:solidFill>
                <a:effectLst/>
                <a:latin typeface="Helvetica Neue"/>
              </a:rPr>
              <a:t>tiên</a:t>
            </a:r>
            <a:r>
              <a:rPr lang="en-US" b="0" i="0" dirty="0">
                <a:solidFill>
                  <a:srgbClr val="333333"/>
                </a:solidFill>
                <a:effectLst/>
                <a:latin typeface="Helvetica Neue"/>
              </a:rPr>
              <a:t> </a:t>
            </a:r>
            <a:r>
              <a:rPr lang="en-US" b="0" i="0" dirty="0" err="1">
                <a:solidFill>
                  <a:srgbClr val="333333"/>
                </a:solidFill>
                <a:effectLst/>
                <a:latin typeface="Helvetica Neue"/>
              </a:rPr>
              <a:t>sử</a:t>
            </a:r>
            <a:r>
              <a:rPr lang="en-US" b="0" i="0" dirty="0">
                <a:solidFill>
                  <a:srgbClr val="333333"/>
                </a:solidFill>
                <a:effectLst/>
                <a:latin typeface="Helvetica Neue"/>
              </a:rPr>
              <a:t> </a:t>
            </a:r>
            <a:r>
              <a:rPr lang="en-US" b="0" i="0" dirty="0" err="1">
                <a:solidFill>
                  <a:srgbClr val="333333"/>
                </a:solidFill>
                <a:effectLst/>
                <a:latin typeface="Helvetica Neue"/>
              </a:rPr>
              <a:t>dụng</a:t>
            </a:r>
            <a:r>
              <a:rPr lang="en-US" b="0" i="0" dirty="0">
                <a:solidFill>
                  <a:srgbClr val="333333"/>
                </a:solidFill>
                <a:effectLst/>
                <a:latin typeface="Helvetica Neue"/>
              </a:rPr>
              <a:t> </a:t>
            </a:r>
            <a:r>
              <a:rPr lang="en-US" b="0" i="0" dirty="0" err="1">
                <a:solidFill>
                  <a:srgbClr val="333333"/>
                </a:solidFill>
                <a:effectLst/>
                <a:latin typeface="Helvetica Neue"/>
              </a:rPr>
              <a:t>biến</a:t>
            </a:r>
            <a:r>
              <a:rPr lang="en-US" b="0" i="0" dirty="0">
                <a:solidFill>
                  <a:srgbClr val="333333"/>
                </a:solidFill>
                <a:effectLst/>
                <a:latin typeface="Helvetica Neue"/>
              </a:rPr>
              <a:t> </a:t>
            </a:r>
            <a:r>
              <a:rPr lang="en-US" b="0" i="0" dirty="0" err="1">
                <a:solidFill>
                  <a:srgbClr val="333333"/>
                </a:solidFill>
                <a:effectLst/>
                <a:latin typeface="Helvetica Neue"/>
              </a:rPr>
              <a:t>cục</a:t>
            </a:r>
            <a:r>
              <a:rPr lang="en-US" b="0" i="0" dirty="0">
                <a:solidFill>
                  <a:srgbClr val="333333"/>
                </a:solidFill>
                <a:effectLst/>
                <a:latin typeface="Helvetica Neue"/>
              </a:rPr>
              <a:t> </a:t>
            </a:r>
            <a:r>
              <a:rPr lang="en-US" b="0" i="0" dirty="0" err="1">
                <a:solidFill>
                  <a:srgbClr val="333333"/>
                </a:solidFill>
                <a:effectLst/>
                <a:latin typeface="Helvetica Neue"/>
              </a:rPr>
              <a:t>bộ</a:t>
            </a:r>
            <a:r>
              <a:rPr lang="en-US" b="0" i="0" dirty="0">
                <a:solidFill>
                  <a:srgbClr val="333333"/>
                </a:solidFill>
                <a:effectLst/>
                <a:latin typeface="Helvetica Neue"/>
              </a:rPr>
              <a:t>, old=</a:t>
            </a:r>
            <a:r>
              <a:rPr lang="en-US" b="1" i="0" dirty="0">
                <a:solidFill>
                  <a:srgbClr val="333333"/>
                </a:solidFill>
                <a:effectLst/>
                <a:latin typeface="Helvetica Neue"/>
              </a:rPr>
              <a:t>old </a:t>
            </a:r>
            <a:r>
              <a:rPr lang="en-US" b="0" i="0" dirty="0">
                <a:solidFill>
                  <a:srgbClr val="333333"/>
                </a:solidFill>
                <a:effectLst/>
                <a:latin typeface="Helvetica Neue"/>
              </a:rPr>
              <a:t>là </a:t>
            </a:r>
            <a:r>
              <a:rPr lang="en-US" b="0" i="0" dirty="0" err="1">
                <a:solidFill>
                  <a:srgbClr val="333333"/>
                </a:solidFill>
                <a:effectLst/>
                <a:latin typeface="Helvetica Neue"/>
              </a:rPr>
              <a:t>gán</a:t>
            </a:r>
            <a:r>
              <a:rPr lang="en-US" b="0" i="0" dirty="0">
                <a:solidFill>
                  <a:srgbClr val="333333"/>
                </a:solidFill>
                <a:effectLst/>
                <a:latin typeface="Helvetica Neue"/>
              </a:rPr>
              <a:t> </a:t>
            </a:r>
            <a:r>
              <a:rPr lang="en-US" b="0" i="0" dirty="0" err="1">
                <a:solidFill>
                  <a:srgbClr val="333333"/>
                </a:solidFill>
                <a:effectLst/>
                <a:latin typeface="Helvetica Neue"/>
              </a:rPr>
              <a:t>lại</a:t>
            </a:r>
            <a:r>
              <a:rPr lang="en-US" b="0" i="0" dirty="0">
                <a:solidFill>
                  <a:srgbClr val="333333"/>
                </a:solidFill>
                <a:effectLst/>
                <a:latin typeface="Helvetica Neue"/>
              </a:rPr>
              <a:t> </a:t>
            </a:r>
            <a:r>
              <a:rPr lang="en-US" b="1" i="0" dirty="0" err="1">
                <a:solidFill>
                  <a:srgbClr val="333333"/>
                </a:solidFill>
                <a:effectLst/>
                <a:latin typeface="Helvetica Neue"/>
              </a:rPr>
              <a:t>giá</a:t>
            </a:r>
            <a:r>
              <a:rPr lang="en-US" b="1" i="0" dirty="0">
                <a:solidFill>
                  <a:srgbClr val="333333"/>
                </a:solidFill>
                <a:effectLst/>
                <a:latin typeface="Helvetica Neue"/>
              </a:rPr>
              <a:t> </a:t>
            </a:r>
            <a:r>
              <a:rPr lang="en-US" b="1" i="0" dirty="0" err="1">
                <a:solidFill>
                  <a:srgbClr val="333333"/>
                </a:solidFill>
                <a:effectLst/>
                <a:latin typeface="Helvetica Neue"/>
              </a:rPr>
              <a:t>trị</a:t>
            </a:r>
            <a:r>
              <a:rPr lang="en-US" b="0" i="0" dirty="0">
                <a:solidFill>
                  <a:srgbClr val="333333"/>
                </a:solidFill>
                <a:effectLst/>
                <a:latin typeface="Helvetica Neue"/>
              </a:rPr>
              <a:t> </a:t>
            </a:r>
            <a:r>
              <a:rPr lang="en-US" b="0" i="0" dirty="0" err="1">
                <a:solidFill>
                  <a:srgbClr val="333333"/>
                </a:solidFill>
                <a:effectLst/>
                <a:latin typeface="Helvetica Neue"/>
              </a:rPr>
              <a:t>cho</a:t>
            </a:r>
            <a:r>
              <a:rPr lang="en-US" b="0" i="0" dirty="0">
                <a:solidFill>
                  <a:srgbClr val="333333"/>
                </a:solidFill>
                <a:effectLst/>
                <a:latin typeface="Helvetica Neue"/>
              </a:rPr>
              <a:t> </a:t>
            </a:r>
            <a:r>
              <a:rPr lang="en-US" b="0" i="0" dirty="0" err="1">
                <a:solidFill>
                  <a:srgbClr val="333333"/>
                </a:solidFill>
                <a:effectLst/>
                <a:latin typeface="Helvetica Neue"/>
              </a:rPr>
              <a:t>chính</a:t>
            </a:r>
            <a:r>
              <a:rPr lang="en-US" b="0" i="0" dirty="0">
                <a:solidFill>
                  <a:srgbClr val="333333"/>
                </a:solidFill>
                <a:effectLst/>
                <a:latin typeface="Helvetica Neue"/>
              </a:rPr>
              <a:t> </a:t>
            </a:r>
            <a:r>
              <a:rPr lang="en-US" b="0" i="0" dirty="0" err="1">
                <a:solidFill>
                  <a:srgbClr val="333333"/>
                </a:solidFill>
                <a:effectLst/>
                <a:latin typeface="Helvetica Neue"/>
              </a:rPr>
              <a:t>nó</a:t>
            </a:r>
            <a:r>
              <a:rPr lang="en-US" b="0" i="0" dirty="0">
                <a:solidFill>
                  <a:srgbClr val="333333"/>
                </a:solidFill>
                <a:effectLst/>
                <a:latin typeface="Helvetica Neue"/>
              </a:rPr>
              <a:t>, </a:t>
            </a:r>
            <a:r>
              <a:rPr lang="en-US" b="0" i="0" dirty="0" err="1">
                <a:solidFill>
                  <a:srgbClr val="333333"/>
                </a:solidFill>
                <a:effectLst/>
                <a:latin typeface="Helvetica Neue"/>
              </a:rPr>
              <a:t>nên</a:t>
            </a:r>
            <a:r>
              <a:rPr lang="en-US" b="0" i="0" dirty="0">
                <a:solidFill>
                  <a:srgbClr val="333333"/>
                </a:solidFill>
                <a:effectLst/>
                <a:latin typeface="Helvetica Neue"/>
              </a:rPr>
              <a:t> </a:t>
            </a:r>
            <a:r>
              <a:rPr lang="en-US" b="1" i="0" dirty="0">
                <a:solidFill>
                  <a:srgbClr val="333333"/>
                </a:solidFill>
                <a:effectLst/>
                <a:latin typeface="Helvetica Neue"/>
              </a:rPr>
              <a:t>old</a:t>
            </a:r>
            <a:r>
              <a:rPr lang="en-US" b="0" i="0" dirty="0">
                <a:solidFill>
                  <a:srgbClr val="333333"/>
                </a:solidFill>
                <a:effectLst/>
                <a:latin typeface="Helvetica Neue"/>
              </a:rPr>
              <a:t> </a:t>
            </a:r>
            <a:r>
              <a:rPr lang="en-US" b="0" i="0" dirty="0" err="1">
                <a:solidFill>
                  <a:srgbClr val="333333"/>
                </a:solidFill>
                <a:effectLst/>
                <a:latin typeface="Helvetica Neue"/>
              </a:rPr>
              <a:t>ưu</a:t>
            </a:r>
            <a:r>
              <a:rPr lang="en-US" b="0" i="0" dirty="0">
                <a:solidFill>
                  <a:srgbClr val="333333"/>
                </a:solidFill>
                <a:effectLst/>
                <a:latin typeface="Helvetica Neue"/>
              </a:rPr>
              <a:t> </a:t>
            </a:r>
            <a:r>
              <a:rPr lang="en-US" b="0" i="0" dirty="0" err="1">
                <a:solidFill>
                  <a:srgbClr val="333333"/>
                </a:solidFill>
                <a:effectLst/>
                <a:latin typeface="Helvetica Neue"/>
              </a:rPr>
              <a:t>tiên</a:t>
            </a:r>
            <a:r>
              <a:rPr lang="en-US" b="0" i="0" dirty="0">
                <a:solidFill>
                  <a:srgbClr val="333333"/>
                </a:solidFill>
                <a:effectLst/>
                <a:latin typeface="Helvetica Neue"/>
              </a:rPr>
              <a:t> </a:t>
            </a:r>
            <a:r>
              <a:rPr lang="en-US" b="0" i="0" dirty="0" err="1">
                <a:solidFill>
                  <a:srgbClr val="333333"/>
                </a:solidFill>
                <a:effectLst/>
                <a:latin typeface="Helvetica Neue"/>
              </a:rPr>
              <a:t>sử</a:t>
            </a:r>
            <a:r>
              <a:rPr lang="en-US" b="0" i="0" dirty="0">
                <a:solidFill>
                  <a:srgbClr val="333333"/>
                </a:solidFill>
                <a:effectLst/>
                <a:latin typeface="Helvetica Neue"/>
              </a:rPr>
              <a:t> </a:t>
            </a:r>
            <a:r>
              <a:rPr lang="en-US" b="0" i="0" dirty="0" err="1">
                <a:solidFill>
                  <a:srgbClr val="333333"/>
                </a:solidFill>
                <a:effectLst/>
                <a:latin typeface="Helvetica Neue"/>
              </a:rPr>
              <a:t>dụng</a:t>
            </a:r>
            <a:r>
              <a:rPr lang="en-US" b="0" i="0" dirty="0">
                <a:solidFill>
                  <a:srgbClr val="333333"/>
                </a:solidFill>
                <a:effectLst/>
                <a:latin typeface="Helvetica Neue"/>
              </a:rPr>
              <a:t> </a:t>
            </a:r>
            <a:r>
              <a:rPr lang="en-US" b="0" i="0" dirty="0" err="1">
                <a:solidFill>
                  <a:srgbClr val="333333"/>
                </a:solidFill>
                <a:effectLst/>
                <a:latin typeface="Helvetica Neue"/>
              </a:rPr>
              <a:t>biến</a:t>
            </a:r>
            <a:r>
              <a:rPr lang="en-US" b="0" i="0" dirty="0">
                <a:solidFill>
                  <a:srgbClr val="333333"/>
                </a:solidFill>
                <a:effectLst/>
                <a:latin typeface="Helvetica Neue"/>
              </a:rPr>
              <a:t> </a:t>
            </a:r>
            <a:r>
              <a:rPr lang="en-US" b="0" i="0" dirty="0" err="1">
                <a:solidFill>
                  <a:srgbClr val="333333"/>
                </a:solidFill>
                <a:effectLst/>
                <a:latin typeface="Helvetica Neue"/>
              </a:rPr>
              <a:t>cục</a:t>
            </a:r>
            <a:r>
              <a:rPr lang="en-US" b="0" i="0" dirty="0">
                <a:solidFill>
                  <a:srgbClr val="333333"/>
                </a:solidFill>
                <a:effectLst/>
                <a:latin typeface="Helvetica Neue"/>
              </a:rPr>
              <a:t> </a:t>
            </a:r>
            <a:r>
              <a:rPr lang="en-US" b="0" i="0" dirty="0" err="1">
                <a:solidFill>
                  <a:srgbClr val="333333"/>
                </a:solidFill>
                <a:effectLst/>
                <a:latin typeface="Helvetica Neue"/>
              </a:rPr>
              <a:t>bộ</a:t>
            </a:r>
            <a:r>
              <a:rPr lang="en-US" b="0" i="0" dirty="0">
                <a:solidFill>
                  <a:srgbClr val="333333"/>
                </a:solidFill>
                <a:effectLst/>
                <a:latin typeface="Helvetica Neue"/>
              </a:rPr>
              <a:t>, </a:t>
            </a:r>
            <a:r>
              <a:rPr lang="en-US" b="0" i="0" dirty="0" err="1">
                <a:solidFill>
                  <a:srgbClr val="333333"/>
                </a:solidFill>
                <a:effectLst/>
                <a:latin typeface="Helvetica Neue"/>
              </a:rPr>
              <a:t>vậy</a:t>
            </a:r>
            <a:r>
              <a:rPr lang="en-US" b="0" i="0" dirty="0">
                <a:solidFill>
                  <a:srgbClr val="333333"/>
                </a:solidFill>
                <a:effectLst/>
                <a:latin typeface="Helvetica Neue"/>
              </a:rPr>
              <a:t> </a:t>
            </a:r>
            <a:r>
              <a:rPr lang="en-US" b="1" i="0" dirty="0">
                <a:solidFill>
                  <a:srgbClr val="333333"/>
                </a:solidFill>
                <a:effectLst/>
                <a:latin typeface="Helvetica Neue"/>
              </a:rPr>
              <a:t>old</a:t>
            </a:r>
            <a:r>
              <a:rPr lang="en-US" b="0" i="0" dirty="0">
                <a:solidFill>
                  <a:srgbClr val="333333"/>
                </a:solidFill>
                <a:effectLst/>
                <a:latin typeface="Helvetica Neue"/>
              </a:rPr>
              <a:t> </a:t>
            </a:r>
            <a:r>
              <a:rPr lang="en-US" b="0" i="0" dirty="0" err="1">
                <a:solidFill>
                  <a:srgbClr val="333333"/>
                </a:solidFill>
                <a:effectLst/>
                <a:latin typeface="Helvetica Neue"/>
              </a:rPr>
              <a:t>chính</a:t>
            </a:r>
            <a:r>
              <a:rPr lang="en-US" b="0" i="0" dirty="0">
                <a:solidFill>
                  <a:srgbClr val="333333"/>
                </a:solidFill>
                <a:effectLst/>
                <a:latin typeface="Helvetica Neue"/>
              </a:rPr>
              <a:t> là </a:t>
            </a:r>
            <a:r>
              <a:rPr lang="en-US" b="0" i="0" dirty="0" err="1">
                <a:solidFill>
                  <a:srgbClr val="333333"/>
                </a:solidFill>
                <a:effectLst/>
                <a:latin typeface="Helvetica Neue"/>
              </a:rPr>
              <a:t>tham</a:t>
            </a:r>
            <a:r>
              <a:rPr lang="en-US" b="0" i="0" dirty="0">
                <a:solidFill>
                  <a:srgbClr val="333333"/>
                </a:solidFill>
                <a:effectLst/>
                <a:latin typeface="Helvetica Neue"/>
              </a:rPr>
              <a:t> </a:t>
            </a:r>
            <a:r>
              <a:rPr lang="en-US" b="0" i="0" dirty="0" err="1">
                <a:solidFill>
                  <a:srgbClr val="333333"/>
                </a:solidFill>
                <a:effectLst/>
                <a:latin typeface="Helvetica Neue"/>
              </a:rPr>
              <a:t>số</a:t>
            </a:r>
            <a:r>
              <a:rPr lang="en-US" b="0" i="0" dirty="0">
                <a:solidFill>
                  <a:srgbClr val="333333"/>
                </a:solidFill>
                <a:effectLst/>
                <a:latin typeface="Helvetica Neue"/>
              </a:rPr>
              <a:t>; còn </a:t>
            </a:r>
            <a:r>
              <a:rPr lang="en-US" b="0" i="0" dirty="0" err="1">
                <a:solidFill>
                  <a:srgbClr val="333333"/>
                </a:solidFill>
                <a:effectLst/>
                <a:latin typeface="Helvetica Neue"/>
              </a:rPr>
              <a:t>muốn</a:t>
            </a:r>
            <a:r>
              <a:rPr lang="en-US" b="0" i="0" dirty="0">
                <a:solidFill>
                  <a:srgbClr val="333333"/>
                </a:solidFill>
                <a:effectLst/>
                <a:latin typeface="Helvetica Neue"/>
              </a:rPr>
              <a:t> </a:t>
            </a:r>
            <a:r>
              <a:rPr lang="en-US" b="0" i="0" dirty="0" err="1">
                <a:solidFill>
                  <a:srgbClr val="333333"/>
                </a:solidFill>
                <a:effectLst/>
                <a:latin typeface="Helvetica Neue"/>
              </a:rPr>
              <a:t>phân</a:t>
            </a:r>
            <a:r>
              <a:rPr lang="en-US" b="0" i="0" dirty="0">
                <a:solidFill>
                  <a:srgbClr val="333333"/>
                </a:solidFill>
                <a:effectLst/>
                <a:latin typeface="Helvetica Neue"/>
              </a:rPr>
              <a:t> </a:t>
            </a:r>
            <a:r>
              <a:rPr lang="en-US" b="0" i="0" dirty="0" err="1">
                <a:solidFill>
                  <a:srgbClr val="333333"/>
                </a:solidFill>
                <a:effectLst/>
                <a:latin typeface="Helvetica Neue"/>
              </a:rPr>
              <a:t>biệt</a:t>
            </a:r>
            <a:r>
              <a:rPr lang="en-US" b="0" i="0" dirty="0">
                <a:solidFill>
                  <a:srgbClr val="333333"/>
                </a:solidFill>
                <a:effectLst/>
                <a:latin typeface="Helvetica Neue"/>
              </a:rPr>
              <a:t> thì </a:t>
            </a:r>
            <a:r>
              <a:rPr lang="en-US" b="0" i="0" dirty="0" err="1">
                <a:solidFill>
                  <a:srgbClr val="333333"/>
                </a:solidFill>
                <a:effectLst/>
                <a:latin typeface="Helvetica Neue"/>
              </a:rPr>
              <a:t>sử</a:t>
            </a:r>
            <a:r>
              <a:rPr lang="en-US" b="0" i="0" dirty="0">
                <a:solidFill>
                  <a:srgbClr val="333333"/>
                </a:solidFill>
                <a:effectLst/>
                <a:latin typeface="Helvetica Neue"/>
              </a:rPr>
              <a:t> </a:t>
            </a:r>
            <a:r>
              <a:rPr lang="en-US" b="0" i="0" dirty="0" err="1">
                <a:solidFill>
                  <a:srgbClr val="333333"/>
                </a:solidFill>
                <a:effectLst/>
                <a:latin typeface="Helvetica Neue"/>
              </a:rPr>
              <a:t>dụng</a:t>
            </a:r>
            <a:r>
              <a:rPr lang="en-US" b="0" i="0" dirty="0">
                <a:solidFill>
                  <a:srgbClr val="333333"/>
                </a:solidFill>
                <a:effectLst/>
                <a:latin typeface="Helvetica Neue"/>
              </a:rPr>
              <a:t> </a:t>
            </a:r>
            <a:r>
              <a:rPr lang="en-US" b="0" i="0" dirty="0" err="1">
                <a:solidFill>
                  <a:srgbClr val="333333"/>
                </a:solidFill>
                <a:effectLst/>
                <a:latin typeface="Helvetica Neue"/>
              </a:rPr>
              <a:t>thêm</a:t>
            </a:r>
            <a:r>
              <a:rPr lang="en-US" b="0" i="0" dirty="0">
                <a:solidFill>
                  <a:srgbClr val="333333"/>
                </a:solidFill>
                <a:effectLst/>
                <a:latin typeface="Helvetica Neue"/>
              </a:rPr>
              <a:t> this =&gt; </a:t>
            </a:r>
            <a:r>
              <a:rPr lang="en-US" b="0" i="0" dirty="0" err="1">
                <a:solidFill>
                  <a:srgbClr val="333333"/>
                </a:solidFill>
                <a:effectLst/>
                <a:latin typeface="Helvetica Neue"/>
              </a:rPr>
              <a:t>bên</a:t>
            </a:r>
            <a:r>
              <a:rPr lang="en-US" b="0" i="0" dirty="0">
                <a:solidFill>
                  <a:srgbClr val="333333"/>
                </a:solidFill>
                <a:effectLst/>
                <a:latin typeface="Helvetica Neue"/>
              </a:rPr>
              <a:t> </a:t>
            </a:r>
            <a:r>
              <a:rPr lang="en-US" b="0" i="0" dirty="0" err="1">
                <a:solidFill>
                  <a:srgbClr val="333333"/>
                </a:solidFill>
                <a:effectLst/>
                <a:latin typeface="Helvetica Neue"/>
              </a:rPr>
              <a:t>nào</a:t>
            </a:r>
            <a:r>
              <a:rPr lang="en-US" b="0" i="0" dirty="0">
                <a:solidFill>
                  <a:srgbClr val="333333"/>
                </a:solidFill>
                <a:effectLst/>
                <a:latin typeface="Helvetica Neue"/>
              </a:rPr>
              <a:t> </a:t>
            </a:r>
            <a:r>
              <a:rPr lang="en-US" b="0" i="0" dirty="0" err="1">
                <a:solidFill>
                  <a:srgbClr val="333333"/>
                </a:solidFill>
                <a:effectLst/>
                <a:latin typeface="Helvetica Neue"/>
              </a:rPr>
              <a:t>có</a:t>
            </a:r>
            <a:r>
              <a:rPr lang="en-US" b="0" i="0" dirty="0">
                <a:solidFill>
                  <a:srgbClr val="333333"/>
                </a:solidFill>
                <a:effectLst/>
                <a:latin typeface="Helvetica Neue"/>
              </a:rPr>
              <a:t> this. Thì </a:t>
            </a:r>
            <a:r>
              <a:rPr lang="en-US" b="0" i="0" err="1">
                <a:solidFill>
                  <a:srgbClr val="333333"/>
                </a:solidFill>
                <a:effectLst/>
                <a:latin typeface="Helvetica Neue"/>
              </a:rPr>
              <a:t>bên</a:t>
            </a:r>
            <a:r>
              <a:rPr lang="en-US" b="0" i="0">
                <a:solidFill>
                  <a:srgbClr val="333333"/>
                </a:solidFill>
                <a:effectLst/>
                <a:latin typeface="Helvetica Neue"/>
              </a:rPr>
              <a:t> trái </a:t>
            </a:r>
            <a:r>
              <a:rPr lang="en-US" b="0" i="0" dirty="0" err="1">
                <a:solidFill>
                  <a:srgbClr val="333333"/>
                </a:solidFill>
                <a:effectLst/>
                <a:latin typeface="Helvetica Neue"/>
              </a:rPr>
              <a:t>thuộc</a:t>
            </a:r>
            <a:r>
              <a:rPr lang="en-US" b="0" i="0" dirty="0">
                <a:solidFill>
                  <a:srgbClr val="333333"/>
                </a:solidFill>
                <a:effectLst/>
                <a:latin typeface="Helvetica Neue"/>
              </a:rPr>
              <a:t> </a:t>
            </a:r>
            <a:r>
              <a:rPr lang="en-US" b="0" i="0" dirty="0" err="1">
                <a:solidFill>
                  <a:srgbClr val="333333"/>
                </a:solidFill>
                <a:effectLst/>
                <a:latin typeface="Helvetica Neue"/>
              </a:rPr>
              <a:t>trường</a:t>
            </a:r>
            <a:r>
              <a:rPr lang="en-US" b="0" i="0" dirty="0">
                <a:solidFill>
                  <a:srgbClr val="333333"/>
                </a:solidFill>
                <a:effectLst/>
                <a:latin typeface="Helvetica Neue"/>
              </a:rPr>
              <a:t> </a:t>
            </a:r>
            <a:r>
              <a:rPr lang="en-US" b="0" i="0" dirty="0" err="1">
                <a:solidFill>
                  <a:srgbClr val="333333"/>
                </a:solidFill>
                <a:effectLst/>
                <a:latin typeface="Helvetica Neue"/>
              </a:rPr>
              <a:t>dữ</a:t>
            </a:r>
            <a:r>
              <a:rPr lang="en-US" b="0" i="0" dirty="0">
                <a:solidFill>
                  <a:srgbClr val="333333"/>
                </a:solidFill>
                <a:effectLst/>
                <a:latin typeface="Helvetica Neue"/>
              </a:rPr>
              <a:t> </a:t>
            </a:r>
            <a:r>
              <a:rPr lang="en-US" b="0" i="0" dirty="0" err="1">
                <a:solidFill>
                  <a:srgbClr val="333333"/>
                </a:solidFill>
                <a:effectLst/>
                <a:latin typeface="Helvetica Neue"/>
              </a:rPr>
              <a:t>liệu</a:t>
            </a:r>
            <a:r>
              <a:rPr lang="en-US" b="0" i="0" dirty="0">
                <a:solidFill>
                  <a:srgbClr val="333333"/>
                </a:solidFill>
                <a:effectLst/>
                <a:latin typeface="Helvetica Neue"/>
              </a:rPr>
              <a:t> </a:t>
            </a:r>
            <a:r>
              <a:rPr lang="en-US" b="0" i="0" dirty="0" err="1">
                <a:solidFill>
                  <a:srgbClr val="333333"/>
                </a:solidFill>
                <a:effectLst/>
                <a:latin typeface="Helvetica Neue"/>
              </a:rPr>
              <a:t>của</a:t>
            </a:r>
            <a:r>
              <a:rPr lang="en-US" b="0" i="0" dirty="0">
                <a:solidFill>
                  <a:srgbClr val="333333"/>
                </a:solidFill>
                <a:effectLst/>
                <a:latin typeface="Helvetica Neue"/>
              </a:rPr>
              <a:t> </a:t>
            </a:r>
            <a:r>
              <a:rPr lang="en-US" b="0" i="0" dirty="0" err="1">
                <a:solidFill>
                  <a:srgbClr val="333333"/>
                </a:solidFill>
                <a:effectLst/>
                <a:latin typeface="Helvetica Neue"/>
              </a:rPr>
              <a:t>lớp</a:t>
            </a:r>
            <a:r>
              <a:rPr lang="en-US" b="0" i="0" dirty="0">
                <a:solidFill>
                  <a:srgbClr val="333333"/>
                </a:solidFill>
                <a:effectLst/>
                <a:latin typeface="Helvetica Neue"/>
              </a:rPr>
              <a:t> hay </a:t>
            </a:r>
            <a:r>
              <a:rPr lang="en-US" b="0" i="0" dirty="0" err="1">
                <a:solidFill>
                  <a:srgbClr val="333333"/>
                </a:solidFill>
                <a:effectLst/>
                <a:latin typeface="Helvetica Neue"/>
              </a:rPr>
              <a:t>gọi</a:t>
            </a:r>
            <a:r>
              <a:rPr lang="en-US" b="0" i="0" dirty="0">
                <a:solidFill>
                  <a:srgbClr val="333333"/>
                </a:solidFill>
                <a:effectLst/>
                <a:latin typeface="Helvetica Neue"/>
              </a:rPr>
              <a:t> là </a:t>
            </a:r>
            <a:r>
              <a:rPr lang="en-US" b="0" i="0" dirty="0" err="1">
                <a:solidFill>
                  <a:srgbClr val="333333"/>
                </a:solidFill>
                <a:effectLst/>
                <a:latin typeface="Helvetica Neue"/>
              </a:rPr>
              <a:t>thuộc</a:t>
            </a:r>
            <a:r>
              <a:rPr lang="en-US" b="0" i="0" dirty="0">
                <a:solidFill>
                  <a:srgbClr val="333333"/>
                </a:solidFill>
                <a:effectLst/>
                <a:latin typeface="Helvetica Neue"/>
              </a:rPr>
              <a:t> </a:t>
            </a:r>
            <a:r>
              <a:rPr lang="en-US" b="0" i="0" dirty="0" err="1">
                <a:solidFill>
                  <a:srgbClr val="333333"/>
                </a:solidFill>
                <a:effectLst/>
                <a:latin typeface="Helvetica Neue"/>
              </a:rPr>
              <a:t>tính</a:t>
            </a:r>
            <a:r>
              <a:rPr lang="en-US" b="0" i="0" dirty="0">
                <a:solidFill>
                  <a:srgbClr val="333333"/>
                </a:solidFill>
                <a:effectLst/>
                <a:latin typeface="Helvetica Neue"/>
              </a:rPr>
              <a:t> </a:t>
            </a:r>
            <a:r>
              <a:rPr lang="en-US" b="0" i="0" err="1">
                <a:solidFill>
                  <a:srgbClr val="333333"/>
                </a:solidFill>
                <a:effectLst/>
                <a:latin typeface="Helvetica Neue"/>
              </a:rPr>
              <a:t>của</a:t>
            </a:r>
            <a:r>
              <a:rPr lang="en-US" b="0" i="0">
                <a:solidFill>
                  <a:srgbClr val="333333"/>
                </a:solidFill>
                <a:effectLst/>
                <a:latin typeface="Helvetica Neue"/>
              </a:rPr>
              <a:t> lớp, bên phải là tham số đầu vào.</a:t>
            </a:r>
            <a:endParaRPr lang="en-US" b="0" i="0" dirty="0">
              <a:solidFill>
                <a:srgbClr val="333333"/>
              </a:solidFill>
              <a:effectLst/>
              <a:latin typeface="Helvetica Neue"/>
            </a:endParaRPr>
          </a:p>
          <a:p>
            <a:r>
              <a:rPr lang="en-US" b="0" i="0" dirty="0">
                <a:solidFill>
                  <a:srgbClr val="333333"/>
                </a:solidFill>
                <a:effectLst/>
                <a:latin typeface="Helvetica Neue"/>
              </a:rPr>
              <a:t>https://www.youtube.com/watch?v=dJK9I8pk6Bc</a:t>
            </a:r>
          </a:p>
          <a:p>
            <a:endParaRPr lang="en-US" b="0" i="0" dirty="0">
              <a:solidFill>
                <a:srgbClr val="333333"/>
              </a:solidFill>
              <a:effectLst/>
              <a:latin typeface="Helvetica Neue"/>
            </a:endParaRPr>
          </a:p>
          <a:p>
            <a:r>
              <a:rPr lang="vi-VN" b="0" i="0" dirty="0">
                <a:solidFill>
                  <a:srgbClr val="333333"/>
                </a:solidFill>
                <a:effectLst/>
                <a:latin typeface="Helvetica Neue"/>
              </a:rPr>
              <a:t>Từ kết quả trên chúng ta thấy kết quả không như chúng ta mong đợi (đáng l</a:t>
            </a:r>
            <a:r>
              <a:rPr lang="en-US" b="0" i="0" dirty="0">
                <a:solidFill>
                  <a:srgbClr val="333333"/>
                </a:solidFill>
                <a:effectLst/>
                <a:latin typeface="Helvetica Neue"/>
              </a:rPr>
              <a:t>ẽ</a:t>
            </a:r>
            <a:r>
              <a:rPr lang="vi-VN" b="0" i="0" dirty="0">
                <a:solidFill>
                  <a:srgbClr val="333333"/>
                </a:solidFill>
                <a:effectLst/>
                <a:latin typeface="Helvetica Neue"/>
              </a:rPr>
              <a:t> kết quả phải là old = 20, name = Nguyen Van A, height = 180).</a:t>
            </a:r>
            <a:endParaRPr lang="en-US" b="0" i="0" dirty="0">
              <a:solidFill>
                <a:srgbClr val="333333"/>
              </a:solidFill>
              <a:effectLst/>
              <a:latin typeface="Helvetica Neue"/>
            </a:endParaRPr>
          </a:p>
          <a:p>
            <a:endParaRPr lang="en-US" b="0" i="0" dirty="0">
              <a:solidFill>
                <a:srgbClr val="333333"/>
              </a:solidFill>
              <a:effectLst/>
              <a:latin typeface="Helvetica Neue"/>
            </a:endParaRPr>
          </a:p>
          <a:p>
            <a:r>
              <a:rPr lang="vi-VN" b="0" i="0" dirty="0">
                <a:solidFill>
                  <a:srgbClr val="333333"/>
                </a:solidFill>
                <a:effectLst/>
                <a:latin typeface="Helvetica Neue"/>
              </a:rPr>
              <a:t>Như vậy khi tên tham số trùng với tên của dữ liệu thành viên của lớp, thì chương trình không hiểu nó là dữ liệu thành viên mà nó hiểu đây là tham số truyền vào. </a:t>
            </a:r>
            <a:endParaRPr lang="en-US" b="0" i="0" dirty="0">
              <a:solidFill>
                <a:srgbClr val="333333"/>
              </a:solidFill>
              <a:effectLst/>
              <a:latin typeface="Helvetica Neue"/>
            </a:endParaRPr>
          </a:p>
          <a:p>
            <a:endParaRPr lang="en-US" dirty="0"/>
          </a:p>
          <a:p>
            <a:r>
              <a:rPr lang="en-US" dirty="0"/>
              <a:t>https://freetuts.net/tim-hieu-tu-khoa-this-va-static-trong-c-1688.html</a:t>
            </a:r>
          </a:p>
        </p:txBody>
      </p:sp>
      <p:sp>
        <p:nvSpPr>
          <p:cNvPr id="4" name="Slide Number Placeholder 3"/>
          <p:cNvSpPr>
            <a:spLocks noGrp="1"/>
          </p:cNvSpPr>
          <p:nvPr>
            <p:ph type="sldNum" sz="quarter" idx="5"/>
          </p:nvPr>
        </p:nvSpPr>
        <p:spPr/>
        <p:txBody>
          <a:bodyPr/>
          <a:lstStyle/>
          <a:p>
            <a:fld id="{EEA7600A-770C-47F1-89C1-5023B6D362E3}" type="slidenum">
              <a:rPr lang="vi-VN" smtClean="0"/>
              <a:t>25</a:t>
            </a:fld>
            <a:endParaRPr lang="vi-VN"/>
          </a:p>
        </p:txBody>
      </p:sp>
    </p:spTree>
    <p:extLst>
      <p:ext uri="{BB962C8B-B14F-4D97-AF65-F5344CB8AC3E}">
        <p14:creationId xmlns:p14="http://schemas.microsoft.com/office/powerpoint/2010/main" val="40927593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dirty="0">
                <a:solidFill>
                  <a:srgbClr val="333333"/>
                </a:solidFill>
                <a:effectLst/>
                <a:latin typeface="Helvetica Neue"/>
              </a:rPr>
              <a:t>Trong c# có từ khóa this giúp chúng ta giải quyết khó khăn trên</a:t>
            </a:r>
          </a:p>
          <a:p>
            <a:pPr algn="l"/>
            <a:r>
              <a:rPr lang="vi-VN" b="0" i="0" dirty="0">
                <a:solidFill>
                  <a:srgbClr val="333333"/>
                </a:solidFill>
                <a:effectLst/>
                <a:latin typeface="Helvetica Neue"/>
              </a:rPr>
              <a:t>Chúng ta sẽ thay đổi đoạn code trên như sau:</a:t>
            </a:r>
          </a:p>
          <a:p>
            <a:endParaRPr lang="en-US" dirty="0"/>
          </a:p>
          <a:p>
            <a:pPr algn="l"/>
            <a:r>
              <a:rPr lang="vi-VN" b="0" i="0" dirty="0">
                <a:solidFill>
                  <a:srgbClr val="333333"/>
                </a:solidFill>
                <a:effectLst/>
                <a:latin typeface="Helvetica Neue"/>
              </a:rPr>
              <a:t>Như vậy chúng ta hiểu từ khóa this trong c# một cách đơn giản như sạu:</a:t>
            </a:r>
          </a:p>
          <a:p>
            <a:pPr algn="l"/>
            <a:r>
              <a:rPr lang="vi-VN" b="0" i="0" dirty="0">
                <a:solidFill>
                  <a:srgbClr val="333333"/>
                </a:solidFill>
                <a:effectLst/>
                <a:latin typeface="Helvetica Neue"/>
              </a:rPr>
              <a:t>Từ khóa this trong  c# được sử dụng để tham chiếu đến thể hiện (</a:t>
            </a:r>
            <a:r>
              <a:rPr lang="vi-VN" b="0" i="1" dirty="0">
                <a:solidFill>
                  <a:srgbClr val="333333"/>
                </a:solidFill>
                <a:effectLst/>
                <a:latin typeface="arial" panose="020B0604020202020204" pitchFamily="34" charset="0"/>
              </a:rPr>
              <a:t>instance</a:t>
            </a:r>
            <a:r>
              <a:rPr lang="vi-VN" b="0" i="0" dirty="0">
                <a:solidFill>
                  <a:srgbClr val="333333"/>
                </a:solidFill>
                <a:effectLst/>
                <a:latin typeface="Helvetica Neue"/>
              </a:rPr>
              <a:t>) hiện tại của lớp. Nó cũng được sử dụng để phân biệt giữa các tham số phương thức và các dữ liệu thành viên của lớp nếu cả hai đều có cùng tên.</a:t>
            </a:r>
          </a:p>
          <a:p>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t>26</a:t>
            </a:fld>
            <a:endParaRPr lang="vi-VN"/>
          </a:p>
        </p:txBody>
      </p:sp>
    </p:spTree>
    <p:extLst>
      <p:ext uri="{BB962C8B-B14F-4D97-AF65-F5344CB8AC3E}">
        <p14:creationId xmlns:p14="http://schemas.microsoft.com/office/powerpoint/2010/main" val="11449621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http://itprotraining.vn/vi/lap-trinh-c</a:t>
            </a:r>
            <a:r>
              <a:rPr lang="en-US"/>
              <a:t>/lop-va-phuong-thuc-trong-c-5-0-phan-2-bai-6-visual-studio-2015</a:t>
            </a:r>
          </a:p>
          <a:p>
            <a:r>
              <a:rPr lang="vi-VN" b="1"/>
              <a:t>ref</a:t>
            </a:r>
            <a:r>
              <a:rPr lang="vi-VN"/>
              <a:t>: Dùng để truyền tham chiếu và yêu cầu tham số phải được khởi tạo trước khi truyền vào hàm.</a:t>
            </a:r>
            <a:endParaRPr lang="en-US"/>
          </a:p>
          <a:p>
            <a:r>
              <a:rPr lang="vi-VN" b="1"/>
              <a:t>out</a:t>
            </a:r>
            <a:r>
              <a:rPr lang="vi-VN"/>
              <a:t>: Dùng để truyền tham chiếu nhưng không yêu cầu tham số phải được khởi tạo trước khi truyền vào hàm. Tham số sẽ phải được gán giá trị trong hàm.</a:t>
            </a:r>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t>27</a:t>
            </a:fld>
            <a:endParaRPr lang="vi-VN"/>
          </a:p>
        </p:txBody>
      </p:sp>
    </p:spTree>
    <p:extLst>
      <p:ext uri="{BB962C8B-B14F-4D97-AF65-F5344CB8AC3E}">
        <p14:creationId xmlns:p14="http://schemas.microsoft.com/office/powerpoint/2010/main" val="42770212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A7600A-770C-47F1-89C1-5023B6D362E3}" type="slidenum">
              <a:rPr lang="vi-VN" smtClean="0"/>
              <a:t>32</a:t>
            </a:fld>
            <a:endParaRPr lang="vi-VN"/>
          </a:p>
        </p:txBody>
      </p:sp>
    </p:spTree>
    <p:extLst>
      <p:ext uri="{BB962C8B-B14F-4D97-AF65-F5344CB8AC3E}">
        <p14:creationId xmlns:p14="http://schemas.microsoft.com/office/powerpoint/2010/main" val="25042065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A7600A-770C-47F1-89C1-5023B6D362E3}" type="slidenum">
              <a:rPr lang="vi-VN" smtClean="0"/>
              <a:t>33</a:t>
            </a:fld>
            <a:endParaRPr lang="vi-VN"/>
          </a:p>
        </p:txBody>
      </p:sp>
    </p:spTree>
    <p:extLst>
      <p:ext uri="{BB962C8B-B14F-4D97-AF65-F5344CB8AC3E}">
        <p14:creationId xmlns:p14="http://schemas.microsoft.com/office/powerpoint/2010/main" val="13238367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Ở</a:t>
            </a:r>
            <a:r>
              <a:rPr lang="en-US" dirty="0"/>
              <a:t> </a:t>
            </a:r>
            <a:r>
              <a:rPr lang="en-US" dirty="0" err="1"/>
              <a:t>đây</a:t>
            </a:r>
            <a:r>
              <a:rPr lang="en-US" dirty="0"/>
              <a:t>, n =&gt; n % 2 == 0 </a:t>
            </a:r>
            <a:r>
              <a:rPr lang="en-US" dirty="0" err="1"/>
              <a:t>là</a:t>
            </a:r>
            <a:r>
              <a:rPr lang="en-US" dirty="0"/>
              <a:t> </a:t>
            </a:r>
            <a:r>
              <a:rPr lang="en-US" dirty="0" err="1"/>
              <a:t>một</a:t>
            </a:r>
            <a:r>
              <a:rPr lang="en-US" dirty="0"/>
              <a:t> </a:t>
            </a:r>
            <a:r>
              <a:rPr lang="en-US" dirty="0" err="1"/>
              <a:t>biểu</a:t>
            </a:r>
            <a:r>
              <a:rPr lang="en-US" dirty="0"/>
              <a:t> </a:t>
            </a:r>
            <a:r>
              <a:rPr lang="en-US" dirty="0" err="1"/>
              <a:t>thức</a:t>
            </a:r>
            <a:r>
              <a:rPr lang="en-US" dirty="0"/>
              <a:t> lambda </a:t>
            </a:r>
            <a:r>
              <a:rPr lang="en-US" dirty="0" err="1"/>
              <a:t>kiểm</a:t>
            </a:r>
            <a:r>
              <a:rPr lang="en-US" dirty="0"/>
              <a:t> </a:t>
            </a:r>
            <a:r>
              <a:rPr lang="en-US" dirty="0" err="1"/>
              <a:t>tra</a:t>
            </a:r>
            <a:r>
              <a:rPr lang="en-US" dirty="0"/>
              <a:t> </a:t>
            </a:r>
            <a:r>
              <a:rPr lang="en-US" dirty="0" err="1"/>
              <a:t>xem</a:t>
            </a:r>
            <a:r>
              <a:rPr lang="en-US" dirty="0"/>
              <a:t> </a:t>
            </a:r>
            <a:r>
              <a:rPr lang="en-US" dirty="0" err="1"/>
              <a:t>một</a:t>
            </a:r>
            <a:r>
              <a:rPr lang="en-US" dirty="0"/>
              <a:t> </a:t>
            </a:r>
            <a:r>
              <a:rPr lang="en-US" dirty="0" err="1"/>
              <a:t>số</a:t>
            </a:r>
            <a:r>
              <a:rPr lang="en-US" dirty="0"/>
              <a:t> n </a:t>
            </a:r>
            <a:r>
              <a:rPr lang="en-US" dirty="0" err="1"/>
              <a:t>có</a:t>
            </a:r>
            <a:r>
              <a:rPr lang="en-US" dirty="0"/>
              <a:t> </a:t>
            </a:r>
            <a:r>
              <a:rPr lang="en-US" dirty="0" err="1"/>
              <a:t>phải</a:t>
            </a:r>
            <a:r>
              <a:rPr lang="en-US" dirty="0"/>
              <a:t> </a:t>
            </a:r>
            <a:r>
              <a:rPr lang="en-US" dirty="0" err="1"/>
              <a:t>là</a:t>
            </a:r>
            <a:r>
              <a:rPr lang="en-US" dirty="0"/>
              <a:t> </a:t>
            </a:r>
            <a:r>
              <a:rPr lang="en-US" dirty="0" err="1"/>
              <a:t>số</a:t>
            </a:r>
            <a:r>
              <a:rPr lang="en-US" dirty="0"/>
              <a:t> </a:t>
            </a:r>
            <a:r>
              <a:rPr lang="en-US" dirty="0" err="1"/>
              <a:t>chẵn</a:t>
            </a:r>
            <a:r>
              <a:rPr lang="en-US" dirty="0"/>
              <a:t> </a:t>
            </a:r>
            <a:r>
              <a:rPr lang="en-US" dirty="0" err="1"/>
              <a:t>không</a:t>
            </a:r>
            <a:r>
              <a:rPr lang="en-US" dirty="0"/>
              <a:t>.</a:t>
            </a:r>
          </a:p>
          <a:p>
            <a:r>
              <a:rPr lang="vi-VN" b="1" dirty="0"/>
              <a:t>LINQ (Language Integrated Query)</a:t>
            </a:r>
            <a:r>
              <a:rPr lang="vi-VN" dirty="0"/>
              <a:t> là một tính năng mạnh mẽ trong C# giúp bạn dễ dàng thực hiện các truy vấn dữ liệu ngay trong mã C# mà không cần phải sử dụng SQL hoặc các công cụ truy vấn riêng biệt. LINQ cho phép bạn truy vấn, lọc, nhóm, sắp xếp và thao tác với dữ liệu theo cách rất trực quan và dễ hiểu ngay trong mã nguồn của ứng dụng.</a:t>
            </a:r>
          </a:p>
          <a:p>
            <a:r>
              <a:rPr lang="vi-VN" dirty="0"/>
              <a:t>LINQ được tích hợp trực tiếp vào C#, cho phép bạn viết các câu lệnh truy vấn trong cú pháp giống như SQL nhưng lại có thể áp dụng trên mọi kiểu dữ liệu trong C# (mảng, danh sách, cơ sở dữ liệu, XML, v.v.).</a:t>
            </a:r>
          </a:p>
          <a:p>
            <a:r>
              <a:rPr lang="vi-VN" b="1" dirty="0"/>
              <a:t>Các thao tác cơ bản trong LINQ:</a:t>
            </a:r>
          </a:p>
          <a:p>
            <a:r>
              <a:rPr lang="vi-VN" b="1" dirty="0"/>
              <a:t>Where</a:t>
            </a:r>
            <a:r>
              <a:rPr lang="vi-VN" dirty="0"/>
              <a:t>: Lọc các phần tử dựa trên điều kiện.</a:t>
            </a:r>
          </a:p>
          <a:p>
            <a:r>
              <a:rPr lang="vi-VN" b="1" dirty="0"/>
              <a:t>Select</a:t>
            </a:r>
            <a:r>
              <a:rPr lang="vi-VN" dirty="0"/>
              <a:t>: Chọn các phần tử hoặc ánh xạ chúng.</a:t>
            </a:r>
          </a:p>
          <a:p>
            <a:r>
              <a:rPr lang="vi-VN" b="1" dirty="0"/>
              <a:t>OrderBy</a:t>
            </a:r>
            <a:r>
              <a:rPr lang="vi-VN" dirty="0"/>
              <a:t>: Sắp xếp các phần tử.</a:t>
            </a:r>
          </a:p>
          <a:p>
            <a:r>
              <a:rPr lang="vi-VN" b="1" dirty="0"/>
              <a:t>GroupBy</a:t>
            </a:r>
            <a:r>
              <a:rPr lang="vi-VN" dirty="0"/>
              <a:t>: Nhóm các phần tử theo một tiêu chí.</a:t>
            </a:r>
          </a:p>
          <a:p>
            <a:r>
              <a:rPr lang="vi-VN" b="1" dirty="0"/>
              <a:t>Join</a:t>
            </a:r>
            <a:r>
              <a:rPr lang="vi-VN" dirty="0"/>
              <a:t>: Kết nối hai tập dữ liệu.</a:t>
            </a:r>
          </a:p>
          <a:p>
            <a:r>
              <a:rPr lang="vi-VN" b="1" dirty="0"/>
              <a:t>Distinct</a:t>
            </a:r>
            <a:r>
              <a:rPr lang="vi-VN" dirty="0"/>
              <a:t>: Lọc bỏ các phần tử trùng lặp.</a:t>
            </a:r>
          </a:p>
          <a:p>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t>34</a:t>
            </a:fld>
            <a:endParaRPr lang="vi-VN"/>
          </a:p>
        </p:txBody>
      </p:sp>
    </p:spTree>
    <p:extLst>
      <p:ext uri="{BB962C8B-B14F-4D97-AF65-F5344CB8AC3E}">
        <p14:creationId xmlns:p14="http://schemas.microsoft.com/office/powerpoint/2010/main" val="15695009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OrderBy(n =&gt; n)</a:t>
            </a:r>
            <a:r>
              <a:rPr lang="en-US"/>
              <a:t>: Sắp xếp các phần tử trong danh sách numbers theo thứ tự tăng dần.</a:t>
            </a:r>
          </a:p>
          <a:p>
            <a:endParaRPr lang="en-US"/>
          </a:p>
        </p:txBody>
      </p:sp>
      <p:sp>
        <p:nvSpPr>
          <p:cNvPr id="4" name="Slide Number Placeholder 3"/>
          <p:cNvSpPr>
            <a:spLocks noGrp="1"/>
          </p:cNvSpPr>
          <p:nvPr>
            <p:ph type="sldNum" sz="quarter" idx="5"/>
          </p:nvPr>
        </p:nvSpPr>
        <p:spPr/>
        <p:txBody>
          <a:bodyPr/>
          <a:lstStyle/>
          <a:p>
            <a:fld id="{EEA7600A-770C-47F1-89C1-5023B6D362E3}" type="slidenum">
              <a:rPr lang="vi-VN" smtClean="0"/>
              <a:t>35</a:t>
            </a:fld>
            <a:endParaRPr lang="vi-VN"/>
          </a:p>
        </p:txBody>
      </p:sp>
    </p:spTree>
    <p:extLst>
      <p:ext uri="{BB962C8B-B14F-4D97-AF65-F5344CB8AC3E}">
        <p14:creationId xmlns:p14="http://schemas.microsoft.com/office/powerpoint/2010/main" val="39698478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Sum(n =&gt; n)</a:t>
            </a:r>
            <a:r>
              <a:rPr lang="en-US" dirty="0"/>
              <a:t>: </a:t>
            </a:r>
            <a:r>
              <a:rPr lang="en-US" dirty="0" err="1"/>
              <a:t>Tính</a:t>
            </a:r>
            <a:r>
              <a:rPr lang="en-US" dirty="0"/>
              <a:t> </a:t>
            </a:r>
            <a:r>
              <a:rPr lang="en-US" dirty="0" err="1"/>
              <a:t>tổng</a:t>
            </a:r>
            <a:r>
              <a:rPr lang="en-US" dirty="0"/>
              <a:t> </a:t>
            </a:r>
            <a:r>
              <a:rPr lang="en-US" dirty="0" err="1"/>
              <a:t>của</a:t>
            </a:r>
            <a:r>
              <a:rPr lang="en-US" dirty="0"/>
              <a:t> </a:t>
            </a:r>
            <a:r>
              <a:rPr lang="en-US" dirty="0" err="1"/>
              <a:t>tất</a:t>
            </a:r>
            <a:r>
              <a:rPr lang="en-US" dirty="0"/>
              <a:t> </a:t>
            </a:r>
            <a:r>
              <a:rPr lang="en-US" dirty="0" err="1"/>
              <a:t>cả</a:t>
            </a:r>
            <a:r>
              <a:rPr lang="en-US" dirty="0"/>
              <a:t> </a:t>
            </a:r>
            <a:r>
              <a:rPr lang="en-US" dirty="0" err="1"/>
              <a:t>các</a:t>
            </a:r>
            <a:r>
              <a:rPr lang="en-US" dirty="0"/>
              <a:t> </a:t>
            </a:r>
            <a:r>
              <a:rPr lang="en-US" dirty="0" err="1"/>
              <a:t>số</a:t>
            </a:r>
            <a:r>
              <a:rPr lang="en-US" dirty="0"/>
              <a:t> </a:t>
            </a:r>
            <a:r>
              <a:rPr lang="en-US" dirty="0" err="1"/>
              <a:t>trong</a:t>
            </a:r>
            <a:r>
              <a:rPr lang="en-US" dirty="0"/>
              <a:t> </a:t>
            </a:r>
            <a:r>
              <a:rPr lang="en-US" dirty="0" err="1"/>
              <a:t>danh</a:t>
            </a:r>
            <a:r>
              <a:rPr lang="en-US" dirty="0"/>
              <a:t> </a:t>
            </a:r>
            <a:r>
              <a:rPr lang="en-US" dirty="0" err="1"/>
              <a:t>sách</a:t>
            </a:r>
            <a:r>
              <a:rPr lang="en-US" dirty="0"/>
              <a:t> numbers.</a:t>
            </a:r>
          </a:p>
          <a:p>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t>36</a:t>
            </a:fld>
            <a:endParaRPr lang="vi-VN"/>
          </a:p>
        </p:txBody>
      </p:sp>
    </p:spTree>
    <p:extLst>
      <p:ext uri="{BB962C8B-B14F-4D97-AF65-F5344CB8AC3E}">
        <p14:creationId xmlns:p14="http://schemas.microsoft.com/office/powerpoint/2010/main" val="3681076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Where(n =&gt; n % 3 == 0 &amp;&amp; n % 5 == 0)</a:t>
            </a:r>
            <a:r>
              <a:rPr lang="en-US"/>
              <a:t>: Lọc ra các số chia hết cho cả 3 và 5 từ mảng numbers.</a:t>
            </a:r>
          </a:p>
          <a:p>
            <a:endParaRPr lang="en-US"/>
          </a:p>
        </p:txBody>
      </p:sp>
      <p:sp>
        <p:nvSpPr>
          <p:cNvPr id="4" name="Slide Number Placeholder 3"/>
          <p:cNvSpPr>
            <a:spLocks noGrp="1"/>
          </p:cNvSpPr>
          <p:nvPr>
            <p:ph type="sldNum" sz="quarter" idx="5"/>
          </p:nvPr>
        </p:nvSpPr>
        <p:spPr/>
        <p:txBody>
          <a:bodyPr/>
          <a:lstStyle/>
          <a:p>
            <a:fld id="{EEA7600A-770C-47F1-89C1-5023B6D362E3}" type="slidenum">
              <a:rPr lang="vi-VN" smtClean="0"/>
              <a:t>37</a:t>
            </a:fld>
            <a:endParaRPr lang="vi-VN"/>
          </a:p>
        </p:txBody>
      </p:sp>
    </p:spTree>
    <p:extLst>
      <p:ext uri="{BB962C8B-B14F-4D97-AF65-F5344CB8AC3E}">
        <p14:creationId xmlns:p14="http://schemas.microsoft.com/office/powerpoint/2010/main" val="41946822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Giả sử bạn có một mảng các số và bạn muốn lọc ra những số chẵn:</a:t>
            </a:r>
          </a:p>
          <a:p>
            <a:r>
              <a:rPr lang="en-US"/>
              <a:t>Trong ví dụ trên:</a:t>
            </a:r>
          </a:p>
          <a:p>
            <a:r>
              <a:rPr lang="en-US"/>
              <a:t>from n in numbers: Chỉ định nguồn dữ liệu (numbers).</a:t>
            </a:r>
          </a:p>
          <a:p>
            <a:r>
              <a:rPr lang="en-US"/>
              <a:t>where n % 2 == 0: Điều kiện lọc (chỉ chọn các số chẵn).</a:t>
            </a:r>
          </a:p>
          <a:p>
            <a:r>
              <a:rPr lang="en-US"/>
              <a:t>select n: Chọn các phần tử sau khi đã lọc.</a:t>
            </a:r>
          </a:p>
          <a:p>
            <a:endParaRPr lang="en-US"/>
          </a:p>
        </p:txBody>
      </p:sp>
      <p:sp>
        <p:nvSpPr>
          <p:cNvPr id="4" name="Slide Number Placeholder 3"/>
          <p:cNvSpPr>
            <a:spLocks noGrp="1"/>
          </p:cNvSpPr>
          <p:nvPr>
            <p:ph type="sldNum" sz="quarter" idx="5"/>
          </p:nvPr>
        </p:nvSpPr>
        <p:spPr/>
        <p:txBody>
          <a:bodyPr/>
          <a:lstStyle/>
          <a:p>
            <a:fld id="{EEA7600A-770C-47F1-89C1-5023B6D362E3}" type="slidenum">
              <a:rPr lang="vi-VN" smtClean="0"/>
              <a:t>38</a:t>
            </a:fld>
            <a:endParaRPr lang="vi-VN"/>
          </a:p>
        </p:txBody>
      </p:sp>
    </p:spTree>
    <p:extLst>
      <p:ext uri="{BB962C8B-B14F-4D97-AF65-F5344CB8AC3E}">
        <p14:creationId xmlns:p14="http://schemas.microsoft.com/office/powerpoint/2010/main" val="28986947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Thành</a:t>
            </a:r>
            <a:r>
              <a:rPr lang="en-US" dirty="0"/>
              <a:t> </a:t>
            </a:r>
            <a:r>
              <a:rPr lang="en-US" dirty="0" err="1"/>
              <a:t>phần</a:t>
            </a:r>
            <a:r>
              <a:rPr lang="en-US" dirty="0"/>
              <a:t> </a:t>
            </a:r>
            <a:r>
              <a:rPr lang="en-US" dirty="0" err="1"/>
              <a:t>tĩnh</a:t>
            </a:r>
            <a:r>
              <a:rPr lang="en-US" dirty="0"/>
              <a:t>:</a:t>
            </a:r>
          </a:p>
          <a:p>
            <a:r>
              <a:rPr lang="en-US" dirty="0"/>
              <a:t>https://freetuts.net/tim-hieu-tu-khoa-this-va-static-trong-c-1688</a:t>
            </a:r>
            <a:r>
              <a:rPr lang="en-US"/>
              <a:t>.html</a:t>
            </a:r>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41</a:t>
            </a:fld>
            <a:endParaRPr lang="vi-VN">
              <a:uFillTx/>
            </a:endParaRPr>
          </a:p>
        </p:txBody>
      </p:sp>
    </p:spTree>
    <p:extLst>
      <p:ext uri="{BB962C8B-B14F-4D97-AF65-F5344CB8AC3E}">
        <p14:creationId xmlns:p14="http://schemas.microsoft.com/office/powerpoint/2010/main" val="32487268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http://minhhn.com/lap-trinh-c-sharp/tinh-da-hinh-polymorphism-trong-csharp/</a:t>
            </a:r>
          </a:p>
          <a:p>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50</a:t>
            </a:fld>
            <a:endParaRPr lang="vi-VN">
              <a:uFillTx/>
            </a:endParaRPr>
          </a:p>
        </p:txBody>
      </p:sp>
    </p:spTree>
    <p:extLst>
      <p:ext uri="{BB962C8B-B14F-4D97-AF65-F5344CB8AC3E}">
        <p14:creationId xmlns:p14="http://schemas.microsoft.com/office/powerpoint/2010/main" val="26855207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i="0" dirty="0">
                <a:solidFill>
                  <a:srgbClr val="000000"/>
                </a:solidFill>
                <a:effectLst/>
                <a:latin typeface="Quicksand"/>
              </a:rPr>
              <a:t>– Một đối tượng thuộc lớp cha có thể tham chiếu đến một đối tượng thuộc lớp con, nhưng ngược lại thì không được.</a:t>
            </a:r>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56</a:t>
            </a:fld>
            <a:endParaRPr lang="vi-VN">
              <a:uFillTx/>
            </a:endParaRPr>
          </a:p>
        </p:txBody>
      </p:sp>
    </p:spTree>
    <p:extLst>
      <p:ext uri="{BB962C8B-B14F-4D97-AF65-F5344CB8AC3E}">
        <p14:creationId xmlns:p14="http://schemas.microsoft.com/office/powerpoint/2010/main" val="2463418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https://www.quantrimaytinh.com/2020/05/tinh-da-hinh-trong-c-sharp.html</a:t>
            </a:r>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57</a:t>
            </a:fld>
            <a:endParaRPr lang="vi-VN">
              <a:uFillTx/>
            </a:endParaRPr>
          </a:p>
        </p:txBody>
      </p:sp>
    </p:spTree>
    <p:extLst>
      <p:ext uri="{BB962C8B-B14F-4D97-AF65-F5344CB8AC3E}">
        <p14:creationId xmlns:p14="http://schemas.microsoft.com/office/powerpoint/2010/main" val="41944831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vi-VN" b="0" i="0" dirty="0">
                <a:solidFill>
                  <a:srgbClr val="2C3E50"/>
                </a:solidFill>
                <a:effectLst/>
                <a:latin typeface="Source Sans Pro" panose="020B0503030403020204" pitchFamily="34" charset="0"/>
              </a:rPr>
              <a:t>Thừa kế là cách tạo mới một lớp từ những lớp có sẵn. Tức là nó cho phép tái sử dụng lại mã nguồn đã viết trong lớp có sẵn. Thừa kế nói đơn giản là việc tạo một đối tượng khác B thừa hưởng tất cả các đặc tính của lớp A. </a:t>
            </a:r>
            <a:endParaRPr lang="en-US" b="0" i="0" dirty="0">
              <a:solidFill>
                <a:srgbClr val="2C3E50"/>
              </a:solidFill>
              <a:effectLst/>
              <a:latin typeface="Source Sans Pro" panose="020B0503030403020204" pitchFamily="34" charset="0"/>
            </a:endParaRPr>
          </a:p>
          <a:p>
            <a:pPr algn="l" fontAlgn="base"/>
            <a:r>
              <a:rPr lang="vi-VN" b="0" i="0" dirty="0">
                <a:solidFill>
                  <a:srgbClr val="2C3E50"/>
                </a:solidFill>
                <a:effectLst/>
                <a:latin typeface="Source Sans Pro" panose="020B0503030403020204" pitchFamily="34" charset="0"/>
              </a:rPr>
              <a:t>Đa hình là việc lớp B thừa kế các đặc tính từ lớp A nhưng có thêm một số cài đặt riêng.</a:t>
            </a:r>
            <a:endParaRPr lang="en-US" b="0" i="0" dirty="0">
              <a:solidFill>
                <a:srgbClr val="2C3E50"/>
              </a:solidFill>
              <a:effectLst/>
              <a:latin typeface="Source Sans Pro" panose="020B0503030403020204" pitchFamily="34" charset="0"/>
            </a:endParaRPr>
          </a:p>
          <a:p>
            <a:pPr algn="l" fontAlgn="base"/>
            <a:endParaRPr lang="en-US" b="0" i="0" dirty="0">
              <a:solidFill>
                <a:srgbClr val="2C3E50"/>
              </a:solidFill>
              <a:effectLst/>
              <a:latin typeface="Source Sans Pro" panose="020B0503030403020204" pitchFamily="34" charset="0"/>
            </a:endParaRPr>
          </a:p>
          <a:p>
            <a:pPr algn="l" fontAlgn="base"/>
            <a:r>
              <a:rPr lang="vi-VN" b="0" i="0" dirty="0">
                <a:solidFill>
                  <a:srgbClr val="2C3E50"/>
                </a:solidFill>
                <a:effectLst/>
                <a:latin typeface="Source Sans Pro" panose="020B0503030403020204" pitchFamily="34" charset="0"/>
              </a:rPr>
              <a:t>https://qastack.vn/programming/6308178/what-is-the-main-difference-between-inheritance-and-polymorphism</a:t>
            </a:r>
            <a:endParaRPr lang="en-US" b="0" i="0" dirty="0">
              <a:solidFill>
                <a:srgbClr val="2C3E50"/>
              </a:solidFill>
              <a:effectLst/>
              <a:latin typeface="Source Sans Pro" panose="020B0503030403020204" pitchFamily="34" charset="0"/>
            </a:endParaRPr>
          </a:p>
          <a:p>
            <a:pPr algn="l" fontAlgn="base"/>
            <a:endParaRPr lang="vi-VN" b="0" i="0" dirty="0">
              <a:solidFill>
                <a:srgbClr val="2C3E50"/>
              </a:solidFill>
              <a:effectLst/>
              <a:latin typeface="Source Sans Pro" panose="020B0503030403020204" pitchFamily="34" charset="0"/>
            </a:endParaRPr>
          </a:p>
          <a:p>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61</a:t>
            </a:fld>
            <a:endParaRPr lang="vi-VN">
              <a:uFillTx/>
            </a:endParaRPr>
          </a:p>
        </p:txBody>
      </p:sp>
    </p:spTree>
    <p:extLst>
      <p:ext uri="{BB962C8B-B14F-4D97-AF65-F5344CB8AC3E}">
        <p14:creationId xmlns:p14="http://schemas.microsoft.com/office/powerpoint/2010/main" val="18178412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sz="2800" b="0" i="0" dirty="0">
                <a:solidFill>
                  <a:srgbClr val="000000"/>
                </a:solidFill>
                <a:effectLst/>
                <a:latin typeface="Libre Franklin" panose="020B0604020202020204" pitchFamily="2" charset="0"/>
              </a:rPr>
              <a:t>Lập trình hướng đối tượng là phương pháp lập trình nhằm mô tả các đối tượng trong thế giới thực vào trong chương trình với những dữ liệu và hành động được chứa trong đối tượng đó. Tuy nhiên, có những dữ liệu và hành vi trong đối tượng đó cần phải được bảo vệ, được giấu khỏi những tác động không mong muốn từ bên ngoài. Đặc điểm này là thể hiện tính đóng gói  (Encapsulation) của Lập trình hướng đối tượng.</a:t>
            </a:r>
          </a:p>
          <a:p>
            <a:pPr algn="l"/>
            <a:r>
              <a:rPr lang="vi-VN" sz="2800" b="0" i="0" dirty="0">
                <a:solidFill>
                  <a:srgbClr val="000000"/>
                </a:solidFill>
                <a:effectLst/>
                <a:latin typeface="Libre Franklin" panose="020B0604020202020204" pitchFamily="2" charset="0"/>
              </a:rPr>
              <a:t>Sẽ không quá ngạc nhiên với những ai mới bắt đầu lập trình hướng đối tượng khi một ngày nào đó các bạn đang làm và tự hỏi tại sao không làm cho mọi thứ trong đối tượng đó đều public ra ngoài, khi cần giá trị nào thì gọi được giá trị đó ngay.</a:t>
            </a:r>
          </a:p>
          <a:p>
            <a:pPr marL="0" marR="0" algn="just">
              <a:lnSpc>
                <a:spcPct val="115000"/>
              </a:lnSpc>
              <a:spcBef>
                <a:spcPts val="0"/>
              </a:spcBef>
              <a:spcAft>
                <a:spcPts val="1000"/>
              </a:spcAft>
            </a:pPr>
            <a:endParaRPr lang="en-US" sz="18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lgn="l">
              <a:lnSpc>
                <a:spcPct val="115000"/>
              </a:lnSpc>
              <a:spcBef>
                <a:spcPts val="0"/>
              </a:spcBef>
              <a:spcAft>
                <a:spcPts val="1000"/>
              </a:spcAft>
            </a:pPr>
            <a:r>
              <a:rPr lang="en-US" sz="18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https://chienuit.wordpress.com/2010/11/05/property-trong-c/</a:t>
            </a:r>
            <a:br>
              <a:rPr lang="en-US" sz="18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br>
            <a:r>
              <a:rPr lang="en-US" sz="18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http://code5s.com/property-trong-csharp/</a:t>
            </a:r>
          </a:p>
          <a:p>
            <a:pPr marL="0" marR="0" algn="just">
              <a:lnSpc>
                <a:spcPct val="115000"/>
              </a:lnSpc>
              <a:spcBef>
                <a:spcPts val="0"/>
              </a:spcBef>
              <a:spcAft>
                <a:spcPts val="1000"/>
              </a:spcAft>
            </a:pPr>
            <a:endParaRPr lang="en-US" sz="1800" dirty="0">
              <a:solidFill>
                <a:srgbClr val="333333"/>
              </a:solidFill>
              <a:effectLst/>
              <a:latin typeface="Verdana" panose="020B0604030504040204" pitchFamily="34" charset="0"/>
              <a:cs typeface="Times New Roman" panose="02020603050405020304" pitchFamily="18" charset="0"/>
            </a:endParaRPr>
          </a:p>
          <a:p>
            <a:pPr marL="0" marR="0" algn="just">
              <a:lnSpc>
                <a:spcPct val="115000"/>
              </a:lnSpc>
              <a:spcBef>
                <a:spcPts val="0"/>
              </a:spcBef>
              <a:spcAft>
                <a:spcPts val="1000"/>
              </a:spcAft>
            </a:pPr>
            <a:endParaRPr lang="en-US" sz="1800" dirty="0">
              <a:solidFill>
                <a:srgbClr val="333333"/>
              </a:solidFill>
              <a:effectLst/>
              <a:latin typeface="Verdana" panose="020B0604030504040204" pitchFamily="34" charset="0"/>
              <a:cs typeface="Times New Roman" panose="02020603050405020304" pitchFamily="18" charset="0"/>
            </a:endParaRPr>
          </a:p>
          <a:p>
            <a:pPr marL="0" marR="0" algn="l">
              <a:lnSpc>
                <a:spcPct val="115000"/>
              </a:lnSpc>
              <a:spcBef>
                <a:spcPts val="0"/>
              </a:spcBef>
              <a:spcAft>
                <a:spcPts val="1000"/>
              </a:spcAft>
            </a:pPr>
            <a:r>
              <a:rPr lang="vi-VN" b="0" i="0" dirty="0">
                <a:solidFill>
                  <a:srgbClr val="333333"/>
                </a:solidFill>
                <a:effectLst/>
                <a:latin typeface="Source Sans Pro" panose="020B0503030403020204" pitchFamily="34" charset="0"/>
              </a:rPr>
              <a:t>Trong ví dụ trên, chúng ta tạo ra lớp </a:t>
            </a:r>
            <a:r>
              <a:rPr lang="en-US" b="0" i="0" dirty="0">
                <a:solidFill>
                  <a:srgbClr val="333333"/>
                </a:solidFill>
                <a:effectLst/>
                <a:latin typeface="Source Sans Pro" panose="020B0503030403020204" pitchFamily="34" charset="0"/>
              </a:rPr>
              <a:t>Person</a:t>
            </a:r>
            <a:r>
              <a:rPr lang="vi-VN" b="0" i="0" dirty="0">
                <a:solidFill>
                  <a:srgbClr val="333333"/>
                </a:solidFill>
                <a:effectLst/>
                <a:latin typeface="Source Sans Pro" panose="020B0503030403020204" pitchFamily="34" charset="0"/>
              </a:rPr>
              <a:t> dùng để chứa thông tin về</a:t>
            </a:r>
            <a:r>
              <a:rPr lang="en-US" b="0" i="0" dirty="0">
                <a:solidFill>
                  <a:srgbClr val="333333"/>
                </a:solidFill>
                <a:effectLst/>
                <a:latin typeface="Source Sans Pro" panose="020B0503030403020204" pitchFamily="34" charset="0"/>
              </a:rPr>
              <a:t> </a:t>
            </a:r>
            <a:r>
              <a:rPr lang="en-US" b="0" i="0" dirty="0" err="1">
                <a:solidFill>
                  <a:srgbClr val="333333"/>
                </a:solidFill>
                <a:effectLst/>
                <a:latin typeface="Source Sans Pro" panose="020B0503030403020204" pitchFamily="34" charset="0"/>
              </a:rPr>
              <a:t>tuổi</a:t>
            </a:r>
            <a:r>
              <a:rPr lang="vi-VN" b="0" i="0" dirty="0">
                <a:solidFill>
                  <a:srgbClr val="333333"/>
                </a:solidFill>
                <a:effectLst/>
                <a:latin typeface="Source Sans Pro" panose="020B0503030403020204" pitchFamily="34" charset="0"/>
              </a:rPr>
              <a:t> (</a:t>
            </a:r>
            <a:r>
              <a:rPr lang="en-US" b="0" i="0" dirty="0">
                <a:solidFill>
                  <a:srgbClr val="333333"/>
                </a:solidFill>
                <a:effectLst/>
                <a:latin typeface="Source Sans Pro" panose="020B0503030403020204" pitchFamily="34" charset="0"/>
              </a:rPr>
              <a:t>age</a:t>
            </a:r>
            <a:r>
              <a:rPr lang="vi-VN" b="0" i="0" dirty="0">
                <a:solidFill>
                  <a:srgbClr val="333333"/>
                </a:solidFill>
                <a:effectLst/>
                <a:latin typeface="Source Sans Pro" panose="020B0503030403020204" pitchFamily="34" charset="0"/>
              </a:rPr>
              <a:t>) và tên (name) của một sinh viên. Sau đó, trong hàm Main(), chúng ta tạo ra một đối tượng </a:t>
            </a:r>
            <a:r>
              <a:rPr lang="en-US" b="0" i="0" dirty="0">
                <a:solidFill>
                  <a:srgbClr val="333333"/>
                </a:solidFill>
                <a:effectLst/>
                <a:latin typeface="Source Sans Pro" panose="020B0503030403020204" pitchFamily="34" charset="0"/>
              </a:rPr>
              <a:t>Person</a:t>
            </a:r>
            <a:r>
              <a:rPr lang="vi-VN" b="0" i="0" dirty="0">
                <a:solidFill>
                  <a:srgbClr val="333333"/>
                </a:solidFill>
                <a:effectLst/>
                <a:latin typeface="Source Sans Pro" panose="020B0503030403020204" pitchFamily="34" charset="0"/>
              </a:rPr>
              <a:t>, nhập thông tin cho đối tượng này.</a:t>
            </a:r>
            <a:br>
              <a:rPr lang="vi-VN" dirty="0"/>
            </a:br>
            <a:r>
              <a:rPr lang="vi-VN" b="0" i="0" dirty="0">
                <a:solidFill>
                  <a:srgbClr val="333333"/>
                </a:solidFill>
                <a:effectLst/>
                <a:latin typeface="Source Sans Pro" panose="020B0503030403020204" pitchFamily="34" charset="0"/>
              </a:rPr>
              <a:t>Các bạn thấy rằng, lớp </a:t>
            </a:r>
            <a:r>
              <a:rPr lang="en-US" b="0" i="0" dirty="0">
                <a:solidFill>
                  <a:srgbClr val="333333"/>
                </a:solidFill>
                <a:effectLst/>
                <a:latin typeface="Source Sans Pro" panose="020B0503030403020204" pitchFamily="34" charset="0"/>
              </a:rPr>
              <a:t>Person</a:t>
            </a:r>
            <a:r>
              <a:rPr lang="vi-VN" b="0" i="0" dirty="0">
                <a:solidFill>
                  <a:srgbClr val="333333"/>
                </a:solidFill>
                <a:effectLst/>
                <a:latin typeface="Source Sans Pro" panose="020B0503030403020204" pitchFamily="34" charset="0"/>
              </a:rPr>
              <a:t> này của chúng ta được sử dụng bình thường mà không cần quan tâm đến việc cài đặt chỉ định từ truy xuất </a:t>
            </a:r>
            <a:r>
              <a:rPr lang="vi-VN" b="0" i="0" dirty="0">
                <a:effectLst/>
                <a:latin typeface="Source Sans Pro" panose="020B0503030403020204" pitchFamily="34" charset="0"/>
              </a:rPr>
              <a:t>public</a:t>
            </a:r>
            <a:r>
              <a:rPr lang="vi-VN" b="0" i="0" dirty="0">
                <a:solidFill>
                  <a:srgbClr val="333333"/>
                </a:solidFill>
                <a:effectLst/>
                <a:latin typeface="Source Sans Pro" panose="020B0503030403020204" pitchFamily="34" charset="0"/>
              </a:rPr>
              <a:t>, hay </a:t>
            </a:r>
            <a:r>
              <a:rPr lang="vi-VN" b="0" i="0" dirty="0">
                <a:effectLst/>
                <a:latin typeface="Source Sans Pro" panose="020B0503030403020204" pitchFamily="34" charset="0"/>
              </a:rPr>
              <a:t>private</a:t>
            </a:r>
            <a:r>
              <a:rPr lang="vi-VN" b="0" i="0" dirty="0">
                <a:solidFill>
                  <a:srgbClr val="333333"/>
                </a:solidFill>
                <a:effectLst/>
                <a:latin typeface="Source Sans Pro" panose="020B0503030403020204" pitchFamily="34" charset="0"/>
              </a:rPr>
              <a:t> cho các thành viên trong lớp. Chúng ta giả sử rằng tất cả dữ liệu sẽ hợp lệ (ví dụ giá trị của stuId luôn lớn hơn 0).</a:t>
            </a:r>
            <a:br>
              <a:rPr lang="vi-VN" dirty="0"/>
            </a:br>
            <a:r>
              <a:rPr lang="vi-VN" b="0" i="0" dirty="0">
                <a:solidFill>
                  <a:srgbClr val="333333"/>
                </a:solidFill>
                <a:effectLst/>
                <a:latin typeface="Source Sans Pro" panose="020B0503030403020204" pitchFamily="34" charset="0"/>
              </a:rPr>
              <a:t>Tuy nhiên, thực tế lại không giống với sự tưởng tượng của chúng ta. Có thể, khi các bạn đưa chương trình này cho người khác sử dụng thì khi nhập giá trị cho </a:t>
            </a:r>
            <a:r>
              <a:rPr lang="en-US" b="1" i="1" dirty="0">
                <a:solidFill>
                  <a:srgbClr val="333333"/>
                </a:solidFill>
                <a:effectLst/>
                <a:latin typeface="inherit"/>
              </a:rPr>
              <a:t>age</a:t>
            </a:r>
            <a:r>
              <a:rPr lang="vi-VN" b="0" i="0" dirty="0">
                <a:solidFill>
                  <a:srgbClr val="333333"/>
                </a:solidFill>
                <a:effectLst/>
                <a:latin typeface="Source Sans Pro" panose="020B0503030403020204" pitchFamily="34" charset="0"/>
              </a:rPr>
              <a:t>, người ta lại nhập vào một giá trị âm. Và do đó, có thể dẫn đến một loại tính toán sai lầm về sau.</a:t>
            </a:r>
            <a:br>
              <a:rPr lang="vi-VN" dirty="0"/>
            </a:br>
            <a:r>
              <a:rPr lang="vi-VN" b="0" i="0" dirty="0">
                <a:solidFill>
                  <a:srgbClr val="333333"/>
                </a:solidFill>
                <a:effectLst/>
                <a:latin typeface="Source Sans Pro" panose="020B0503030403020204" pitchFamily="34" charset="0"/>
              </a:rPr>
              <a:t>Vì vậy, vấn đề che dấu thông tin trở nên cần thiết để người sử dụng chương trình không thể truy cập trực tiếp vào các thành phần được bảo vệ trong lớp (ví dụ trong trường hợp này của chúng ta là trường </a:t>
            </a:r>
            <a:r>
              <a:rPr lang="en-US" b="1" i="1" dirty="0">
                <a:solidFill>
                  <a:srgbClr val="333333"/>
                </a:solidFill>
                <a:effectLst/>
                <a:latin typeface="inherit"/>
              </a:rPr>
              <a:t>age</a:t>
            </a:r>
            <a:r>
              <a:rPr lang="vi-VN" b="0" i="0" dirty="0">
                <a:solidFill>
                  <a:srgbClr val="333333"/>
                </a:solidFill>
                <a:effectLst/>
                <a:latin typeface="Source Sans Pro" panose="020B0503030403020204" pitchFamily="34" charset="0"/>
              </a:rPr>
              <a:t>). Đây cũng chính là lý do từ khóa </a:t>
            </a:r>
            <a:r>
              <a:rPr lang="vi-VN" b="0" i="0" dirty="0">
                <a:effectLst/>
                <a:latin typeface="Source Sans Pro" panose="020B0503030403020204" pitchFamily="34" charset="0"/>
              </a:rPr>
              <a:t>private</a:t>
            </a:r>
            <a:r>
              <a:rPr lang="vi-VN" b="0" i="0" dirty="0">
                <a:solidFill>
                  <a:srgbClr val="333333"/>
                </a:solidFill>
                <a:effectLst/>
                <a:latin typeface="Source Sans Pro" panose="020B0503030403020204" pitchFamily="34" charset="0"/>
              </a:rPr>
              <a:t> xuất hiện. Và như vậy, chúng ta có thể viết lại ví dụ trên như sau:</a:t>
            </a:r>
            <a:endParaRPr lang="en-US" b="0" i="0" dirty="0">
              <a:solidFill>
                <a:srgbClr val="333333"/>
              </a:solidFill>
              <a:effectLst/>
              <a:latin typeface="Source Sans Pro" panose="020B0503030403020204" pitchFamily="34" charset="0"/>
            </a:endParaRPr>
          </a:p>
          <a:p>
            <a:pPr marL="0" marR="0" algn="l">
              <a:lnSpc>
                <a:spcPct val="115000"/>
              </a:lnSpc>
              <a:spcBef>
                <a:spcPts val="0"/>
              </a:spcBef>
              <a:spcAft>
                <a:spcPts val="1000"/>
              </a:spcAft>
            </a:pPr>
            <a:endParaRPr lang="en-US" b="0" i="0" dirty="0">
              <a:solidFill>
                <a:srgbClr val="333333"/>
              </a:solidFill>
              <a:effectLst/>
              <a:latin typeface="Source Sans Pro" panose="020B0503030403020204" pitchFamily="34" charset="0"/>
            </a:endParaRPr>
          </a:p>
          <a:p>
            <a:pPr marL="0" marR="0" algn="l">
              <a:lnSpc>
                <a:spcPct val="115000"/>
              </a:lnSpc>
              <a:spcBef>
                <a:spcPts val="0"/>
              </a:spcBef>
              <a:spcAft>
                <a:spcPts val="1000"/>
              </a:spcAft>
            </a:pPr>
            <a:endParaRPr lang="en-US" b="0" i="0" dirty="0">
              <a:solidFill>
                <a:srgbClr val="333333"/>
              </a:solidFill>
              <a:effectLst/>
              <a:latin typeface="Source Sans Pro" panose="020B0503030403020204" pitchFamily="34" charset="0"/>
            </a:endParaRPr>
          </a:p>
          <a:p>
            <a:pPr marL="0" marR="0" lvl="0" indent="0" algn="l" defTabSz="914400" rtl="0" eaLnBrk="1" fontAlgn="auto" latinLnBrk="0" hangingPunct="1">
              <a:lnSpc>
                <a:spcPct val="115000"/>
              </a:lnSpc>
              <a:spcBef>
                <a:spcPts val="0"/>
              </a:spcBef>
              <a:spcAft>
                <a:spcPts val="1000"/>
              </a:spcAft>
              <a:buClrTx/>
              <a:buSzTx/>
              <a:buFontTx/>
              <a:buNone/>
              <a:tabLst/>
              <a:defRPr/>
            </a:pP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Trước</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tiên</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quay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lại</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thời</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kì</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chưa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có</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ngôn</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ngữ</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lập</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trình</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hướng</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đối</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tượng</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Khi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bạn</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khai</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báo</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1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biến</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toàn</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cục</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(global),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vậy</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thì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tất</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cả</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các</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hàm</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đều</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có</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quyền</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truy</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cập</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và</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thay</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đổi</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giá</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trị</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của</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biến</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toàn</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cục</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đó</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Trong</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1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chương</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trình</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lớn</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việc</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này là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rất</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nguy</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hiểm</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và</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khó</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quản</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lý</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Người</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ta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mới</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nghĩ</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ra cái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trò</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để</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các</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thuộc</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tính</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của</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lớp</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là private,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bên</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ngoài</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không</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có</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quyền</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truy</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cập</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chỉ</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có</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các</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hàm</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nội</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tại</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của</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lớp</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đó</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mới</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có</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quyền</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truy</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cập</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như</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vậy</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nó</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đảm</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bảo</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được</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tính</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đóng</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gói</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(encapsulation)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và</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che</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giấu</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thông</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tin (information hiding).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Đây</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là 1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trong</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các</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tính</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chất</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quan</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trọng</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nhất</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của</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OOP.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Vì</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member variables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đã</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để</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là private, thì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tất</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nhiên</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là class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phải</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cung</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cấp</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1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cách</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thức</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nào</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đó</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để</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cho</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thằng</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bên</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ngoài</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có</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thể</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truy</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cập</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vào</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biến</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thành</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viên</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của</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class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đó</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và</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thế</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 là Get + Set ra </a:t>
            </a:r>
            <a:r>
              <a:rPr lang="en-US" sz="1200" dirty="0" err="1">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đời</a:t>
            </a:r>
            <a:r>
              <a:rPr lang="en-US" sz="1200" dirty="0">
                <a:solidFill>
                  <a:srgbClr val="333333"/>
                </a:solidFill>
                <a:effectLst/>
                <a:latin typeface="Verdana" panose="020B0604030504040204" pitchFamily="34" charset="0"/>
                <a:ea typeface="Calibri" panose="020F0502020204030204" pitchFamily="34" charset="0"/>
                <a:cs typeface="Times New Roman" panose="02020603050405020304" pitchFamily="18" charset="0"/>
              </a:rPr>
              <a:t>.</a:t>
            </a:r>
            <a:r>
              <a:rPr lang="en-U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Đối</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với</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một</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project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nhỏ</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một</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hai</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người</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chung</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sức</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làm</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và</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không</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có</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gì</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phức</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tạp</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không</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có</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gì</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khác</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nhau</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cả</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Đối</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với</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project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nhiều</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ngừoi</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làm</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và</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đối</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với</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các</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lớp</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(class)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viết</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để</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dùng</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lại</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nhiều</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lần</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vd</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copy qua project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khác</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hoặc</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kế</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thừa</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nhiều</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lần</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vv...) Hai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cách</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viết</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hoàn</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toàn</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khác</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US" sz="1200" dirty="0" err="1">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nhau</a:t>
            </a:r>
            <a:r>
              <a:rPr lang="en-US" sz="1200" dirty="0">
                <a:solidFill>
                  <a:srgbClr val="333333"/>
                </a:solidFill>
                <a:effectLst/>
                <a:latin typeface="Verdana" panose="020B0604030504040204" pitchFamily="34" charset="0"/>
                <a:ea typeface="Times New Roman" panose="02020603050405020304" pitchFamily="18" charset="0"/>
                <a:cs typeface="Times New Roman" panose="02020603050405020304" pitchFamily="18" charset="0"/>
              </a:rPr>
              <a:t>.</a:t>
            </a:r>
          </a:p>
          <a:p>
            <a:pPr marL="0" marR="0" algn="l">
              <a:lnSpc>
                <a:spcPct val="115000"/>
              </a:lnSpc>
              <a:spcBef>
                <a:spcPts val="0"/>
              </a:spcBef>
              <a:spcAft>
                <a:spcPts val="1000"/>
              </a:spcAft>
            </a:pPr>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67</a:t>
            </a:fld>
            <a:endParaRPr lang="vi-VN">
              <a:uFillTx/>
            </a:endParaRPr>
          </a:p>
        </p:txBody>
      </p:sp>
    </p:spTree>
    <p:extLst>
      <p:ext uri="{BB962C8B-B14F-4D97-AF65-F5344CB8AC3E}">
        <p14:creationId xmlns:p14="http://schemas.microsoft.com/office/powerpoint/2010/main" val="27187911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dirty="0">
              <a:solidFill>
                <a:srgbClr val="333333"/>
              </a:solidFill>
              <a:effectLst/>
              <a:latin typeface="Source Sans Pro" panose="020B0503030403020204" pitchFamily="34" charset="0"/>
            </a:endParaRPr>
          </a:p>
          <a:p>
            <a:r>
              <a:rPr lang="vi-VN" b="0" i="0" dirty="0">
                <a:solidFill>
                  <a:srgbClr val="333333"/>
                </a:solidFill>
                <a:effectLst/>
                <a:latin typeface="Source Sans Pro" panose="020B0503030403020204" pitchFamily="34" charset="0"/>
              </a:rPr>
              <a:t>Nếu như các bạn cố gắng biên dịch đoạn mã trên thì chắc chắn các bạn sẽ gặp lỗi tại nơi truy cập vào các dữ liệu thành viên của đối tượng </a:t>
            </a:r>
            <a:r>
              <a:rPr lang="en-US" b="0" i="0" dirty="0">
                <a:solidFill>
                  <a:srgbClr val="333333"/>
                </a:solidFill>
                <a:effectLst/>
                <a:latin typeface="Source Sans Pro" panose="020B0503030403020204" pitchFamily="34" charset="0"/>
              </a:rPr>
              <a:t>Person. L</a:t>
            </a:r>
            <a:r>
              <a:rPr lang="vi-VN" b="0" i="0" dirty="0">
                <a:solidFill>
                  <a:srgbClr val="333333"/>
                </a:solidFill>
                <a:effectLst/>
                <a:latin typeface="Source Sans Pro" panose="020B0503030403020204" pitchFamily="34" charset="0"/>
              </a:rPr>
              <a:t>ý do là hai thành phần member: </a:t>
            </a:r>
            <a:r>
              <a:rPr lang="en-US" b="1" i="1" dirty="0">
                <a:solidFill>
                  <a:srgbClr val="333333"/>
                </a:solidFill>
                <a:effectLst/>
                <a:latin typeface="inherit"/>
              </a:rPr>
              <a:t>age</a:t>
            </a:r>
            <a:r>
              <a:rPr lang="vi-VN" b="0" i="0" dirty="0">
                <a:solidFill>
                  <a:srgbClr val="333333"/>
                </a:solidFill>
                <a:effectLst/>
                <a:latin typeface="Source Sans Pro" panose="020B0503030403020204" pitchFamily="34" charset="0"/>
              </a:rPr>
              <a:t> và </a:t>
            </a:r>
            <a:r>
              <a:rPr lang="vi-VN" b="1" i="1" dirty="0">
                <a:solidFill>
                  <a:srgbClr val="333333"/>
                </a:solidFill>
                <a:effectLst/>
                <a:latin typeface="inherit"/>
              </a:rPr>
              <a:t>name</a:t>
            </a:r>
            <a:r>
              <a:rPr lang="vi-VN" b="0" i="0" dirty="0">
                <a:solidFill>
                  <a:srgbClr val="333333"/>
                </a:solidFill>
                <a:effectLst/>
                <a:latin typeface="Source Sans Pro" panose="020B0503030403020204" pitchFamily="34" charset="0"/>
              </a:rPr>
              <a:t> đã trở thành dữ liệu riêng, nội bộ của lớp </a:t>
            </a:r>
            <a:r>
              <a:rPr lang="en-US" b="0" i="0" dirty="0">
                <a:solidFill>
                  <a:srgbClr val="333333"/>
                </a:solidFill>
                <a:effectLst/>
                <a:latin typeface="Source Sans Pro" panose="020B0503030403020204" pitchFamily="34" charset="0"/>
              </a:rPr>
              <a:t>Person</a:t>
            </a:r>
            <a:r>
              <a:rPr lang="vi-VN" b="0" i="0" dirty="0">
                <a:solidFill>
                  <a:srgbClr val="333333"/>
                </a:solidFill>
                <a:effectLst/>
                <a:latin typeface="Source Sans Pro" panose="020B0503030403020204" pitchFamily="34" charset="0"/>
              </a:rPr>
              <a:t>, không thể truy cập trực tiếp từ bên ngoài.</a:t>
            </a:r>
            <a:br>
              <a:rPr lang="vi-VN" dirty="0"/>
            </a:br>
            <a:r>
              <a:rPr lang="vi-VN" b="0" i="0" dirty="0">
                <a:solidFill>
                  <a:srgbClr val="333333"/>
                </a:solidFill>
                <a:effectLst/>
                <a:latin typeface="Source Sans Pro" panose="020B0503030403020204" pitchFamily="34" charset="0"/>
              </a:rPr>
              <a:t>Như vậy, làm cách nào để có thể từ bên ngoài đưa dữ liệu vào cho đối tượng của lớp </a:t>
            </a:r>
            <a:r>
              <a:rPr lang="en-US" b="0" i="0" dirty="0">
                <a:solidFill>
                  <a:srgbClr val="333333"/>
                </a:solidFill>
                <a:effectLst/>
                <a:latin typeface="Source Sans Pro" panose="020B0503030403020204" pitchFamily="34" charset="0"/>
              </a:rPr>
              <a:t>Person</a:t>
            </a:r>
            <a:r>
              <a:rPr lang="vi-VN" b="0" i="0" dirty="0">
                <a:solidFill>
                  <a:srgbClr val="333333"/>
                </a:solidFill>
                <a:effectLst/>
                <a:latin typeface="Source Sans Pro" panose="020B0503030403020204" pitchFamily="34" charset="0"/>
              </a:rPr>
              <a:t>?</a:t>
            </a:r>
            <a:br>
              <a:rPr lang="vi-VN" dirty="0"/>
            </a:br>
            <a:r>
              <a:rPr lang="en-US" dirty="0"/>
              <a:t>=&gt;</a:t>
            </a:r>
            <a:r>
              <a:rPr lang="vi-VN" b="0" i="0" dirty="0">
                <a:solidFill>
                  <a:srgbClr val="333333"/>
                </a:solidFill>
                <a:effectLst/>
                <a:latin typeface="Source Sans Pro" panose="020B0503030403020204" pitchFamily="34" charset="0"/>
              </a:rPr>
              <a:t>thực hiện là thêm phương thức đặc biệt hổ trợ truy cập vào. Những phương thức này có nhiệm vụ thay đổi giá trị được đóng gói bên trong hoặc lấy giá trị đó ra để sử dụng. Tên của các phương thức này bắt đầu bằng </a:t>
            </a:r>
            <a:r>
              <a:rPr lang="vi-VN" b="1" i="1" dirty="0">
                <a:solidFill>
                  <a:srgbClr val="333333"/>
                </a:solidFill>
                <a:effectLst/>
                <a:latin typeface="inherit"/>
              </a:rPr>
              <a:t>set</a:t>
            </a:r>
            <a:r>
              <a:rPr lang="vi-VN" b="0" i="0" dirty="0">
                <a:solidFill>
                  <a:srgbClr val="333333"/>
                </a:solidFill>
                <a:effectLst/>
                <a:latin typeface="Source Sans Pro" panose="020B0503030403020204" pitchFamily="34" charset="0"/>
              </a:rPr>
              <a:t> (thiết lập giá trị) hoặc </a:t>
            </a:r>
            <a:r>
              <a:rPr lang="vi-VN" b="1" i="1" dirty="0">
                <a:solidFill>
                  <a:srgbClr val="333333"/>
                </a:solidFill>
                <a:effectLst/>
                <a:latin typeface="inherit"/>
              </a:rPr>
              <a:t>get</a:t>
            </a:r>
            <a:r>
              <a:rPr lang="vi-VN" b="0" i="0" dirty="0">
                <a:solidFill>
                  <a:srgbClr val="333333"/>
                </a:solidFill>
                <a:effectLst/>
                <a:latin typeface="Source Sans Pro" panose="020B0503030403020204" pitchFamily="34" charset="0"/>
              </a:rPr>
              <a:t> (lấy giá trị). Ví dụ:</a:t>
            </a:r>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68</a:t>
            </a:fld>
            <a:endParaRPr lang="vi-VN">
              <a:uFillTx/>
            </a:endParaRPr>
          </a:p>
        </p:txBody>
      </p:sp>
    </p:spTree>
    <p:extLst>
      <p:ext uri="{BB962C8B-B14F-4D97-AF65-F5344CB8AC3E}">
        <p14:creationId xmlns:p14="http://schemas.microsoft.com/office/powerpoint/2010/main" val="17766433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69</a:t>
            </a:fld>
            <a:endParaRPr lang="vi-VN">
              <a:uFillTx/>
            </a:endParaRPr>
          </a:p>
        </p:txBody>
      </p:sp>
    </p:spTree>
    <p:extLst>
      <p:ext uri="{BB962C8B-B14F-4D97-AF65-F5344CB8AC3E}">
        <p14:creationId xmlns:p14="http://schemas.microsoft.com/office/powerpoint/2010/main" val="7802700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i="0" dirty="0">
                <a:solidFill>
                  <a:srgbClr val="000000"/>
                </a:solidFill>
                <a:effectLst/>
                <a:latin typeface="Libre Franklin"/>
              </a:rPr>
              <a:t>Ở đây, chúng ta đã thêm vào các phương thức public để truy cập vào dữ liệu, đồng thời thay thế việc truy cập trực tiếp vào các biến bằng việc gọi các phương thức tương ứng.</a:t>
            </a:r>
            <a:endParaRPr lang="en-US" b="0" i="0" dirty="0">
              <a:solidFill>
                <a:srgbClr val="000000"/>
              </a:solidFill>
              <a:effectLst/>
              <a:latin typeface="Libre Franklin"/>
            </a:endParaRPr>
          </a:p>
          <a:p>
            <a:r>
              <a:rPr lang="vi-VN" b="0" i="0" dirty="0">
                <a:solidFill>
                  <a:srgbClr val="000000"/>
                </a:solidFill>
                <a:effectLst/>
                <a:latin typeface="Libre Franklin"/>
              </a:rPr>
              <a:t>Trong phương thức setAge, chúng ta còn thêm một số xử lý để đảm bảo rằng biến age của chúng ta luôn có giá trị từ 1 trở lên</a:t>
            </a:r>
            <a:r>
              <a:rPr lang="en-US" b="0" i="0" dirty="0">
                <a:solidFill>
                  <a:srgbClr val="000000"/>
                </a:solidFill>
                <a:effectLst/>
                <a:latin typeface="Libre Franklin"/>
              </a:rPr>
              <a:t>.</a:t>
            </a:r>
          </a:p>
          <a:p>
            <a:r>
              <a:rPr lang="vi-VN" b="0" i="0" dirty="0">
                <a:solidFill>
                  <a:srgbClr val="000000"/>
                </a:solidFill>
                <a:effectLst/>
                <a:latin typeface="Libre Franklin"/>
              </a:rPr>
              <a:t>Trong lập trình hướng đối tượng thì hai phương thức trên là đủ cho chúng ta bảo vệ các dữ liệu cá nhân. </a:t>
            </a:r>
            <a:endParaRPr lang="en-US" b="0" i="0" dirty="0">
              <a:solidFill>
                <a:srgbClr val="000000"/>
              </a:solidFill>
              <a:effectLst/>
              <a:latin typeface="Libre Franklin"/>
            </a:endParaRPr>
          </a:p>
          <a:p>
            <a:r>
              <a:rPr lang="vi-VN" b="0" i="0" dirty="0">
                <a:solidFill>
                  <a:srgbClr val="000000"/>
                </a:solidFill>
                <a:effectLst/>
                <a:latin typeface="Libre Franklin"/>
              </a:rPr>
              <a:t>Riêng C# đã nâng cấp hai phương thức trên thành một cấu trúc mới, đó là Property. Sử dụng Property, chúng ta có thể truy cập, thao tác tới các dữ liệu cá nhân trong đối tượng theo một cách rất là tự nhiên như là truy cập vào một biến dữ liệu public. Chúng ta sẽ sửa lại các phương thức setName, setAge và getName, getAge ở trên thành các property như sau:</a:t>
            </a:r>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70</a:t>
            </a:fld>
            <a:endParaRPr lang="vi-VN">
              <a:uFillTx/>
            </a:endParaRPr>
          </a:p>
        </p:txBody>
      </p:sp>
    </p:spTree>
    <p:extLst>
      <p:ext uri="{BB962C8B-B14F-4D97-AF65-F5344CB8AC3E}">
        <p14:creationId xmlns:p14="http://schemas.microsoft.com/office/powerpoint/2010/main" val="30388331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Libre Franklin" pitchFamily="2" charset="0"/>
              </a:rPr>
              <a:t>Public int Age =&gt;</a:t>
            </a:r>
            <a:r>
              <a:rPr lang="en-US" b="0" i="0" dirty="0" err="1">
                <a:solidFill>
                  <a:srgbClr val="000000"/>
                </a:solidFill>
                <a:effectLst/>
                <a:latin typeface="Libre Franklin" pitchFamily="2" charset="0"/>
              </a:rPr>
              <a:t>sửa</a:t>
            </a:r>
            <a:r>
              <a:rPr lang="en-US" b="0" i="0" dirty="0">
                <a:solidFill>
                  <a:srgbClr val="000000"/>
                </a:solidFill>
                <a:effectLst/>
                <a:latin typeface="Libre Franklin" pitchFamily="2" charset="0"/>
              </a:rPr>
              <a:t> </a:t>
            </a:r>
          </a:p>
          <a:p>
            <a:r>
              <a:rPr lang="vi-VN" b="0" i="0" dirty="0">
                <a:solidFill>
                  <a:srgbClr val="000000"/>
                </a:solidFill>
                <a:effectLst/>
                <a:latin typeface="Libre Franklin" pitchFamily="2" charset="0"/>
              </a:rPr>
              <a:t>chúng ta đã thêm vào các phương thức public để truy cập vào dữ liệu, đồng thời thay thế việc truy cập trực tiếp vào các biến bằng việc gọi các phương thức tương ứng. Trong phương thức setAge, chúng ta còn thêm một số xử lý để đảm bảo rằng biến age của chúng ta luôn có giá trị từ 1 trở lên (đây là cách để bảo vệ dữ liệu cho các tính toán sau này).</a:t>
            </a:r>
            <a:endParaRPr lang="en-US" b="0" i="0" dirty="0">
              <a:solidFill>
                <a:srgbClr val="000000"/>
              </a:solidFill>
              <a:effectLst/>
              <a:latin typeface="Libre Franklin" pitchFamily="2" charset="0"/>
            </a:endParaRPr>
          </a:p>
          <a:p>
            <a:r>
              <a:rPr lang="vi-VN" b="0" i="0" dirty="0">
                <a:solidFill>
                  <a:srgbClr val="000000"/>
                </a:solidFill>
                <a:effectLst/>
                <a:latin typeface="Libre Franklin" pitchFamily="2" charset="0"/>
              </a:rPr>
              <a:t>Riêng C# đã nâng cấp hai phương thức trên thành một cấu trúc mới, đó là Property. Sử dụng Property, chúng ta có thể truy cập, thao tác tới các dữ liệu cá nhân trong đối tượng theo một cách rất là tự nhiên như là truy cập vào một biến dữ liệu public. Chúng ta sẽ sửa lại các phương thức setName, setAge và getName, getAge ở trên thành các property như sau:</a:t>
            </a:r>
            <a:endParaRPr lang="en-US" b="0" i="0" dirty="0">
              <a:solidFill>
                <a:srgbClr val="000000"/>
              </a:solidFill>
              <a:effectLst/>
              <a:latin typeface="Libre Franklin" pitchFamily="2" charset="0"/>
            </a:endParaRPr>
          </a:p>
          <a:p>
            <a:endParaRPr lang="en-US" b="0" i="0" dirty="0">
              <a:solidFill>
                <a:srgbClr val="000000"/>
              </a:solidFill>
              <a:effectLst/>
              <a:latin typeface="Libre Franklin" pitchFamily="2" charset="0"/>
            </a:endParaRPr>
          </a:p>
          <a:p>
            <a:pPr marL="171450" indent="-171450">
              <a:buFont typeface="Symbol" panose="05050102010706020507" pitchFamily="18" charset="2"/>
              <a:buChar char="Þ"/>
            </a:pPr>
            <a:r>
              <a:rPr lang="vi-VN" b="0" i="0" dirty="0">
                <a:solidFill>
                  <a:srgbClr val="000000"/>
                </a:solidFill>
                <a:effectLst/>
                <a:latin typeface="Libre Franklin"/>
              </a:rPr>
              <a:t>Khi chúng ta gọi: p.Name = “Tran Xuan Chien”, có nghĩa là chúng ta truyền chuỗi “Tran Xuan Chien” này vào cho biến name, thông qua Property Name. Và đoạn mã trong phần set của Property Name sẽ được thực thi</a:t>
            </a:r>
            <a:r>
              <a:rPr lang="en-US" b="0" i="0" dirty="0">
                <a:solidFill>
                  <a:srgbClr val="000000"/>
                </a:solidFill>
                <a:effectLst/>
                <a:latin typeface="Libre Franklin"/>
              </a:rPr>
              <a:t>: </a:t>
            </a:r>
            <a:r>
              <a:rPr lang="en-US" dirty="0"/>
              <a:t>name = value;</a:t>
            </a:r>
            <a:endParaRPr lang="en-US" b="0" i="0" dirty="0">
              <a:solidFill>
                <a:srgbClr val="000000"/>
              </a:solidFill>
              <a:effectLst/>
              <a:latin typeface="Libre Franklin"/>
            </a:endParaRPr>
          </a:p>
          <a:p>
            <a:pPr marL="171450" indent="-171450">
              <a:buFont typeface="Symbol" panose="05050102010706020507" pitchFamily="18" charset="2"/>
              <a:buChar char="Þ"/>
            </a:pPr>
            <a:endParaRPr lang="en-US" b="0" i="0" dirty="0">
              <a:solidFill>
                <a:srgbClr val="000000"/>
              </a:solidFill>
              <a:effectLst/>
              <a:latin typeface="Libre Franklin"/>
            </a:endParaRPr>
          </a:p>
          <a:p>
            <a:pPr marL="171450" indent="-171450">
              <a:buFont typeface="Symbol" panose="05050102010706020507" pitchFamily="18" charset="2"/>
              <a:buChar char="Þ"/>
            </a:pPr>
            <a:r>
              <a:rPr lang="vi-VN" b="1" i="1" dirty="0">
                <a:solidFill>
                  <a:srgbClr val="000000"/>
                </a:solidFill>
                <a:effectLst/>
                <a:latin typeface="Libre Franklin"/>
              </a:rPr>
              <a:t>value</a:t>
            </a:r>
            <a:r>
              <a:rPr lang="vi-VN" b="0" i="0" dirty="0">
                <a:solidFill>
                  <a:srgbClr val="000000"/>
                </a:solidFill>
                <a:effectLst/>
                <a:latin typeface="Libre Franklin"/>
              </a:rPr>
              <a:t> là từ khóa mà sẽ mang giá trị chúng ta truyền vào cho một property (kiểu dữ liệu của value được hiểu như là kiểu dữ liệu của giá trị được truyền vào) – chuỗi “Tran Xuan Chien”. Và biến thành viên name đã được gán giá trị tương ứng. Tương tự, khi chúng ta gọi: p.Age = 20 thì đoạn mã trong phần set của Property Age sẽ được thực thi</a:t>
            </a:r>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71</a:t>
            </a:fld>
            <a:endParaRPr lang="vi-VN">
              <a:uFillTx/>
            </a:endParaRPr>
          </a:p>
        </p:txBody>
      </p:sp>
    </p:spTree>
    <p:extLst>
      <p:ext uri="{BB962C8B-B14F-4D97-AF65-F5344CB8AC3E}">
        <p14:creationId xmlns:p14="http://schemas.microsoft.com/office/powerpoint/2010/main" val="29628686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i="0" dirty="0">
                <a:solidFill>
                  <a:srgbClr val="000000"/>
                </a:solidFill>
                <a:effectLst/>
                <a:latin typeface="Libre Franklin"/>
              </a:rPr>
              <a:t>Chúng ta hãy xem xét với Property Age như trên thì cách thức hoạt động của chúng là như thế nào với đoạn chương trình</a:t>
            </a:r>
            <a:r>
              <a:rPr lang="en-US" b="0" i="0" dirty="0">
                <a:solidFill>
                  <a:srgbClr val="000000"/>
                </a:solidFill>
                <a:effectLst/>
                <a:latin typeface="Libre Franklin"/>
              </a:rPr>
              <a:t> </a:t>
            </a:r>
            <a:r>
              <a:rPr lang="en-US" b="0" i="0" dirty="0" err="1">
                <a:solidFill>
                  <a:srgbClr val="000000"/>
                </a:solidFill>
                <a:effectLst/>
                <a:latin typeface="Libre Franklin"/>
              </a:rPr>
              <a:t>bên</a:t>
            </a:r>
            <a:r>
              <a:rPr lang="en-US" b="0" i="0" dirty="0">
                <a:solidFill>
                  <a:srgbClr val="000000"/>
                </a:solidFill>
                <a:effectLst/>
                <a:latin typeface="Libre Franklin"/>
              </a:rPr>
              <a:t> </a:t>
            </a:r>
            <a:r>
              <a:rPr lang="en-US" b="0" i="0" dirty="0" err="1">
                <a:solidFill>
                  <a:srgbClr val="000000"/>
                </a:solidFill>
                <a:effectLst/>
                <a:latin typeface="Libre Franklin"/>
              </a:rPr>
              <a:t>cạnh</a:t>
            </a:r>
            <a:endParaRPr lang="en-US" b="0" i="0" dirty="0">
              <a:solidFill>
                <a:srgbClr val="000000"/>
              </a:solidFill>
              <a:effectLst/>
              <a:latin typeface="Libre Franklin"/>
            </a:endParaRPr>
          </a:p>
          <a:p>
            <a:pPr marL="171450" indent="-171450">
              <a:buFont typeface="Symbol" panose="05050102010706020507" pitchFamily="18" charset="2"/>
              <a:buChar char="Þ"/>
            </a:pPr>
            <a:r>
              <a:rPr lang="vi-VN" b="0" i="0" dirty="0">
                <a:solidFill>
                  <a:srgbClr val="000000"/>
                </a:solidFill>
                <a:effectLst/>
                <a:latin typeface="Libre Franklin"/>
              </a:rPr>
              <a:t>Khi chúng ta gọi: p.Name = “Tran Xuan Chien”, có nghĩa là chúng ta truyền chuỗi “Tran Xuan Chien” này vào cho biến name, thông qua Property Name. Và đoạn mã trong phần set của Property Name sẽ được thực thi</a:t>
            </a:r>
            <a:r>
              <a:rPr lang="en-US" b="0" i="0" dirty="0">
                <a:solidFill>
                  <a:srgbClr val="000000"/>
                </a:solidFill>
                <a:effectLst/>
                <a:latin typeface="Libre Franklin"/>
              </a:rPr>
              <a:t>: </a:t>
            </a:r>
            <a:r>
              <a:rPr lang="en-US" dirty="0"/>
              <a:t>name = value;</a:t>
            </a:r>
            <a:endParaRPr lang="en-US" b="0" i="0" dirty="0">
              <a:solidFill>
                <a:srgbClr val="000000"/>
              </a:solidFill>
              <a:effectLst/>
              <a:latin typeface="Libre Franklin"/>
            </a:endParaRPr>
          </a:p>
          <a:p>
            <a:pPr marL="171450" indent="-171450">
              <a:buFont typeface="Symbol" panose="05050102010706020507" pitchFamily="18" charset="2"/>
              <a:buChar char="Þ"/>
            </a:pPr>
            <a:endParaRPr lang="en-US" b="0" i="0" dirty="0">
              <a:solidFill>
                <a:srgbClr val="000000"/>
              </a:solidFill>
              <a:effectLst/>
              <a:latin typeface="Libre Franklin"/>
            </a:endParaRPr>
          </a:p>
          <a:p>
            <a:pPr marL="171450" indent="-171450">
              <a:buFont typeface="Symbol" panose="05050102010706020507" pitchFamily="18" charset="2"/>
              <a:buChar char="Þ"/>
            </a:pPr>
            <a:r>
              <a:rPr lang="vi-VN" b="1" i="1" dirty="0">
                <a:solidFill>
                  <a:srgbClr val="000000"/>
                </a:solidFill>
                <a:effectLst/>
                <a:latin typeface="Libre Franklin"/>
              </a:rPr>
              <a:t>value</a:t>
            </a:r>
            <a:r>
              <a:rPr lang="vi-VN" b="0" i="0" dirty="0">
                <a:solidFill>
                  <a:srgbClr val="000000"/>
                </a:solidFill>
                <a:effectLst/>
                <a:latin typeface="Libre Franklin"/>
              </a:rPr>
              <a:t> là từ khóa mà sẽ mang giá trị chúng ta truyền vào cho một property (kiểu dữ liệu của value được hiểu như là kiểu dữ liệu của giá trị được truyền vào) – chuỗi “Tran Xuan Chien”. Và biến thành viên name đã được gán giá trị tương ứng. Tương tự, khi chúng ta gọi: p.Age = 20 thì đoạn mã trong phần set của Property Age sẽ được thực thi</a:t>
            </a:r>
            <a:endParaRPr lang="en-US" b="0" i="0" dirty="0">
              <a:solidFill>
                <a:srgbClr val="000000"/>
              </a:solidFill>
              <a:effectLst/>
              <a:latin typeface="Libre Franklin"/>
            </a:endParaRPr>
          </a:p>
          <a:p>
            <a:pPr marL="0" indent="0">
              <a:buFont typeface="Symbol" panose="05050102010706020507" pitchFamily="18" charset="2"/>
              <a:buNone/>
            </a:pPr>
            <a:endParaRPr lang="en-US" b="0" i="0" dirty="0">
              <a:solidFill>
                <a:srgbClr val="000000"/>
              </a:solidFill>
              <a:effectLst/>
              <a:latin typeface="Libre Franklin"/>
            </a:endParaRPr>
          </a:p>
          <a:p>
            <a:pPr marL="0" indent="0">
              <a:buFont typeface="Symbol" panose="05050102010706020507" pitchFamily="18" charset="2"/>
              <a:buNone/>
            </a:pPr>
            <a:r>
              <a:rPr lang="vi-VN" b="0" i="0" dirty="0">
                <a:solidFill>
                  <a:srgbClr val="000000"/>
                </a:solidFill>
                <a:effectLst/>
                <a:latin typeface="Libre Franklin"/>
              </a:rPr>
              <a:t>Chúng ta xem giá trị truyền vào có nhỏ hơn 1 hay không. Nếu nhỏ hơn 1 thì mặc định cho age = 1, còn ngược lại thì gán age là giá trị được truyền vào, ở đây là giá trị 20.</a:t>
            </a:r>
            <a:endParaRPr lang="en-US" b="0" i="0" dirty="0">
              <a:solidFill>
                <a:srgbClr val="000000"/>
              </a:solidFill>
              <a:effectLst/>
              <a:latin typeface="Libre Franklin"/>
            </a:endParaRPr>
          </a:p>
          <a:p>
            <a:pPr marL="0" indent="0">
              <a:buFont typeface="Symbol" panose="05050102010706020507" pitchFamily="18" charset="2"/>
              <a:buNone/>
            </a:pPr>
            <a:r>
              <a:rPr lang="vi-VN" b="0" i="0" dirty="0">
                <a:solidFill>
                  <a:srgbClr val="000000"/>
                </a:solidFill>
                <a:effectLst/>
                <a:latin typeface="Libre Franklin"/>
              </a:rPr>
              <a:t>Cũng như vậy, khi chúng ta gọi:</a:t>
            </a:r>
            <a:r>
              <a:rPr lang="en-US" b="0" i="0" dirty="0">
                <a:solidFill>
                  <a:srgbClr val="000000"/>
                </a:solidFill>
                <a:effectLst/>
                <a:latin typeface="Libre Franklin"/>
              </a:rPr>
              <a:t> </a:t>
            </a:r>
            <a:r>
              <a:rPr lang="en-US" dirty="0" err="1"/>
              <a:t>Console.WriteLine</a:t>
            </a:r>
            <a:r>
              <a:rPr lang="en-US" dirty="0"/>
              <a:t>(</a:t>
            </a:r>
            <a:r>
              <a:rPr lang="en-US" dirty="0" err="1"/>
              <a:t>p.Name</a:t>
            </a:r>
            <a:r>
              <a:rPr lang="en-US" dirty="0"/>
              <a:t> + "is " + </a:t>
            </a:r>
            <a:r>
              <a:rPr lang="en-US" dirty="0" err="1"/>
              <a:t>p.Age</a:t>
            </a:r>
            <a:r>
              <a:rPr lang="en-US" dirty="0"/>
              <a:t>);</a:t>
            </a:r>
            <a:endParaRPr lang="en-US" b="0" i="0" dirty="0">
              <a:solidFill>
                <a:srgbClr val="000000"/>
              </a:solidFill>
              <a:effectLst/>
              <a:latin typeface="Libre Franklin"/>
            </a:endParaRPr>
          </a:p>
          <a:p>
            <a:pPr algn="l"/>
            <a:r>
              <a:rPr lang="vi-VN" b="0" i="0" dirty="0">
                <a:solidFill>
                  <a:srgbClr val="000000"/>
                </a:solidFill>
                <a:effectLst/>
                <a:latin typeface="Libre Franklin"/>
              </a:rPr>
              <a:t>thì đoạn code trong phần get của hai Property Name và Age sẽ được gọi để lấy dữ liệu đã được lưu trong các biến thành viên name và age. Trình biên dịch sẽ tự động xử lý để biết được là chúng ta gọi p.Name để truyền dữ liệu vào hay là lấy dữ liệu ra ngoài.</a:t>
            </a:r>
          </a:p>
          <a:p>
            <a:pPr algn="l"/>
            <a:r>
              <a:rPr lang="vi-VN" b="0" i="0" dirty="0">
                <a:solidFill>
                  <a:srgbClr val="000000"/>
                </a:solidFill>
                <a:effectLst/>
                <a:latin typeface="Libre Franklin"/>
              </a:rPr>
              <a:t>Như chúng ta thấy, việc sử dụng Property giúp cho code của chúng ta tự nhiên hơn và dễ đọc hơn rất nhiều. Giả sử bạn muốn tăng tuổi của đối tượng Person lên 1 thông qua các phương thức getAge và setAge thì bạn phải gọi:</a:t>
            </a:r>
          </a:p>
          <a:p>
            <a:pPr algn="l"/>
            <a:r>
              <a:rPr lang="vi-VN" dirty="0"/>
              <a:t>p.setAge(p.getAge() + 1);</a:t>
            </a:r>
            <a:r>
              <a:rPr lang="vi-VN" b="0" i="0" dirty="0">
                <a:solidFill>
                  <a:srgbClr val="000000"/>
                </a:solidFill>
                <a:effectLst/>
                <a:latin typeface="Libre Franklin"/>
              </a:rPr>
              <a:t>Trong khi nếu như sử dụng Property Age, thì chúng ta chỉ cần gọi:</a:t>
            </a:r>
          </a:p>
          <a:p>
            <a:r>
              <a:rPr lang="vi-VN" dirty="0"/>
              <a:t>p.Age++;</a:t>
            </a:r>
            <a:endParaRPr lang="en-US" b="0" i="0" dirty="0">
              <a:solidFill>
                <a:srgbClr val="000000"/>
              </a:solidFill>
              <a:effectLst/>
              <a:latin typeface="Libre Franklin"/>
            </a:endParaRPr>
          </a:p>
          <a:p>
            <a:endParaRPr lang="en-US" b="0" i="0" dirty="0">
              <a:solidFill>
                <a:srgbClr val="000000"/>
              </a:solidFill>
              <a:effectLst/>
              <a:latin typeface="Libre Franklin"/>
            </a:endParaRPr>
          </a:p>
          <a:p>
            <a:endParaRPr lang="en-US" b="0" i="0" dirty="0">
              <a:solidFill>
                <a:srgbClr val="000000"/>
              </a:solidFill>
              <a:effectLst/>
              <a:latin typeface="Libre Franklin"/>
            </a:endParaRPr>
          </a:p>
          <a:p>
            <a:r>
              <a:rPr lang="en-US" b="0" i="0" dirty="0">
                <a:solidFill>
                  <a:srgbClr val="000000"/>
                </a:solidFill>
                <a:effectLst/>
                <a:latin typeface="Libre Franklin"/>
              </a:rPr>
              <a:t>=&gt; </a:t>
            </a:r>
            <a:r>
              <a:rPr lang="vi-VN" b="0" i="0" dirty="0">
                <a:solidFill>
                  <a:srgbClr val="000000"/>
                </a:solidFill>
                <a:effectLst/>
                <a:latin typeface="Libre Franklin"/>
              </a:rPr>
              <a:t>Sử dụng Property trong C# không mang lại lợi ích nào về tốc độ hoạt động của chương trình mà chỉ là một cách giúp cho code của chúng ta dễ đọc và dễ viết hơn </a:t>
            </a:r>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72</a:t>
            </a:fld>
            <a:endParaRPr lang="vi-VN">
              <a:uFillTx/>
            </a:endParaRPr>
          </a:p>
        </p:txBody>
      </p:sp>
    </p:spTree>
    <p:extLst>
      <p:ext uri="{BB962C8B-B14F-4D97-AF65-F5344CB8AC3E}">
        <p14:creationId xmlns:p14="http://schemas.microsoft.com/office/powerpoint/2010/main" val="31764731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https://chienuit.wordpress.com/2010/11/05/property-trong-c/</a:t>
            </a:r>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73</a:t>
            </a:fld>
            <a:endParaRPr lang="vi-VN">
              <a:uFillTx/>
            </a:endParaRPr>
          </a:p>
        </p:txBody>
      </p:sp>
    </p:spTree>
    <p:extLst>
      <p:ext uri="{BB962C8B-B14F-4D97-AF65-F5344CB8AC3E}">
        <p14:creationId xmlns:p14="http://schemas.microsoft.com/office/powerpoint/2010/main" val="175498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t>
            </a:r>
            <a:r>
              <a:rPr lang="en-US" dirty="0" err="1"/>
              <a:t>lớp</a:t>
            </a:r>
            <a:r>
              <a:rPr lang="en-US" dirty="0"/>
              <a:t> </a:t>
            </a:r>
            <a:r>
              <a:rPr lang="en-US" dirty="0" err="1"/>
              <a:t>trừu</a:t>
            </a:r>
            <a:r>
              <a:rPr lang="en-US" dirty="0"/>
              <a:t> </a:t>
            </a:r>
            <a:r>
              <a:rPr lang="en-US" dirty="0" err="1"/>
              <a:t>tượng</a:t>
            </a:r>
            <a:r>
              <a:rPr lang="en-US" dirty="0"/>
              <a:t> ko </a:t>
            </a:r>
            <a:r>
              <a:rPr lang="en-US" dirty="0" err="1"/>
              <a:t>thể</a:t>
            </a:r>
            <a:r>
              <a:rPr lang="en-US" dirty="0"/>
              <a:t> </a:t>
            </a:r>
            <a:r>
              <a:rPr lang="en-US" dirty="0" err="1"/>
              <a:t>tạo</a:t>
            </a:r>
            <a:r>
              <a:rPr lang="en-US" dirty="0"/>
              <a:t> ra </a:t>
            </a:r>
            <a:r>
              <a:rPr lang="en-US" dirty="0" err="1"/>
              <a:t>được</a:t>
            </a:r>
            <a:r>
              <a:rPr lang="en-US" dirty="0"/>
              <a:t> </a:t>
            </a:r>
            <a:r>
              <a:rPr lang="en-US" dirty="0" err="1"/>
              <a:t>đối</a:t>
            </a:r>
            <a:r>
              <a:rPr lang="en-US" dirty="0"/>
              <a:t> </a:t>
            </a:r>
            <a:r>
              <a:rPr lang="en-US" dirty="0" err="1"/>
              <a:t>tượng</a:t>
            </a:r>
            <a:r>
              <a:rPr lang="en-US" dirty="0"/>
              <a:t> </a:t>
            </a:r>
            <a:r>
              <a:rPr lang="en-US" dirty="0" err="1"/>
              <a:t>mà</a:t>
            </a:r>
            <a:r>
              <a:rPr lang="en-US" dirty="0"/>
              <a:t> </a:t>
            </a:r>
            <a:r>
              <a:rPr lang="en-US" dirty="0" err="1"/>
              <a:t>phải</a:t>
            </a:r>
            <a:r>
              <a:rPr lang="en-US" dirty="0"/>
              <a:t> </a:t>
            </a:r>
            <a:r>
              <a:rPr lang="en-US" dirty="0" err="1"/>
              <a:t>tạo</a:t>
            </a:r>
            <a:r>
              <a:rPr lang="en-US" dirty="0"/>
              <a:t> </a:t>
            </a:r>
            <a:r>
              <a:rPr lang="en-US" dirty="0" err="1"/>
              <a:t>thông</a:t>
            </a:r>
            <a:r>
              <a:rPr lang="en-US" dirty="0"/>
              <a:t> qua </a:t>
            </a:r>
            <a:r>
              <a:rPr lang="en-US" dirty="0" err="1"/>
              <a:t>lớp</a:t>
            </a:r>
            <a:r>
              <a:rPr lang="en-US" dirty="0"/>
              <a:t> con </a:t>
            </a:r>
            <a:r>
              <a:rPr lang="en-US" dirty="0" err="1"/>
              <a:t>kế</a:t>
            </a:r>
            <a:r>
              <a:rPr lang="en-US" dirty="0"/>
              <a:t> </a:t>
            </a:r>
            <a:r>
              <a:rPr lang="en-US" dirty="0" err="1"/>
              <a:t>thừa</a:t>
            </a:r>
            <a:r>
              <a:rPr lang="en-US" dirty="0"/>
              <a:t> </a:t>
            </a:r>
            <a:r>
              <a:rPr lang="en-US" dirty="0" err="1"/>
              <a:t>từ</a:t>
            </a:r>
            <a:r>
              <a:rPr lang="en-US" dirty="0"/>
              <a:t> </a:t>
            </a:r>
            <a:r>
              <a:rPr lang="en-US" dirty="0" err="1"/>
              <a:t>nó</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1 abstract class </a:t>
            </a:r>
            <a:r>
              <a:rPr lang="en-US" sz="1200" dirty="0" err="1"/>
              <a:t>bắt</a:t>
            </a:r>
            <a:r>
              <a:rPr lang="en-US" sz="1200" dirty="0"/>
              <a:t> </a:t>
            </a:r>
            <a:r>
              <a:rPr lang="en-US" sz="1200" dirty="0" err="1"/>
              <a:t>buộc</a:t>
            </a:r>
            <a:r>
              <a:rPr lang="en-US" sz="1200" dirty="0"/>
              <a:t> </a:t>
            </a:r>
            <a:r>
              <a:rPr lang="en-US" sz="1200" dirty="0" err="1"/>
              <a:t>phải</a:t>
            </a:r>
            <a:r>
              <a:rPr lang="en-US" sz="1200" dirty="0"/>
              <a:t> </a:t>
            </a:r>
            <a:r>
              <a:rPr lang="en-US" sz="1200" dirty="0" err="1"/>
              <a:t>có</a:t>
            </a:r>
            <a:r>
              <a:rPr lang="en-US" sz="1200" dirty="0"/>
              <a:t> </a:t>
            </a:r>
            <a:r>
              <a:rPr lang="en-US" sz="1200" dirty="0" err="1"/>
              <a:t>tối</a:t>
            </a:r>
            <a:r>
              <a:rPr lang="en-US" sz="1200" dirty="0"/>
              <a:t> </a:t>
            </a:r>
            <a:r>
              <a:rPr lang="en-US" sz="1200" dirty="0" err="1"/>
              <a:t>thiểu</a:t>
            </a:r>
            <a:r>
              <a:rPr lang="en-US" sz="1200" dirty="0"/>
              <a:t> 1 </a:t>
            </a:r>
            <a:r>
              <a:rPr lang="en-US" sz="1200" dirty="0" err="1"/>
              <a:t>phương</a:t>
            </a:r>
            <a:r>
              <a:rPr lang="en-US" sz="1200" dirty="0"/>
              <a:t> </a:t>
            </a:r>
            <a:r>
              <a:rPr lang="en-US" sz="1200" dirty="0" err="1"/>
              <a:t>thức</a:t>
            </a:r>
            <a:r>
              <a:rPr lang="en-US" sz="1200" dirty="0"/>
              <a:t> abstract, ko </a:t>
            </a:r>
            <a:r>
              <a:rPr lang="en-US" sz="1200" dirty="0" err="1"/>
              <a:t>xảy</a:t>
            </a:r>
            <a:r>
              <a:rPr lang="en-US" sz="1200" dirty="0"/>
              <a:t> ra </a:t>
            </a:r>
            <a:r>
              <a:rPr lang="en-US" sz="1200" dirty="0" err="1"/>
              <a:t>lỗi</a:t>
            </a:r>
            <a:r>
              <a:rPr lang="en-US" sz="1200" dirty="0"/>
              <a:t> </a:t>
            </a:r>
            <a:r>
              <a:rPr lang="en-US" sz="1200" dirty="0" err="1"/>
              <a:t>nhưng</a:t>
            </a:r>
            <a:r>
              <a:rPr lang="en-US" sz="1200" dirty="0"/>
              <a:t> ko </a:t>
            </a:r>
            <a:r>
              <a:rPr lang="en-US" sz="1200" dirty="0" err="1"/>
              <a:t>đúng</a:t>
            </a:r>
            <a:r>
              <a:rPr lang="en-US" sz="1200" dirty="0"/>
              <a:t> </a:t>
            </a:r>
            <a:r>
              <a:rPr lang="en-US" sz="1200" dirty="0" err="1"/>
              <a:t>với</a:t>
            </a:r>
            <a:r>
              <a:rPr lang="en-US" sz="1200" dirty="0"/>
              <a:t> </a:t>
            </a:r>
            <a:r>
              <a:rPr lang="en-US" sz="1200" dirty="0" err="1"/>
              <a:t>định</a:t>
            </a:r>
            <a:r>
              <a:rPr lang="en-US" sz="1200" dirty="0"/>
              <a:t> </a:t>
            </a:r>
            <a:r>
              <a:rPr lang="en-US" sz="1200" dirty="0" err="1"/>
              <a:t>nghĩa</a:t>
            </a:r>
            <a:r>
              <a:rPr lang="en-US" sz="1200" dirty="0"/>
              <a:t> </a:t>
            </a:r>
            <a:r>
              <a:rPr lang="en-US" sz="1200" dirty="0" err="1"/>
              <a:t>của</a:t>
            </a:r>
            <a:r>
              <a:rPr lang="en-US" sz="1200" dirty="0"/>
              <a:t> abstract class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t>Không</a:t>
            </a:r>
            <a:r>
              <a:rPr lang="en-US" sz="1200" dirty="0"/>
              <a:t> </a:t>
            </a:r>
            <a:r>
              <a:rPr lang="en-US" sz="1200" dirty="0" err="1"/>
              <a:t>thể</a:t>
            </a:r>
            <a:r>
              <a:rPr lang="en-US" sz="1200" dirty="0"/>
              <a:t> </a:t>
            </a:r>
            <a:r>
              <a:rPr lang="en-US" sz="1200" dirty="0" err="1"/>
              <a:t>tạo</a:t>
            </a:r>
            <a:r>
              <a:rPr lang="en-US" sz="1200" dirty="0"/>
              <a:t> ra </a:t>
            </a:r>
            <a:r>
              <a:rPr lang="en-US" sz="1200" dirty="0" err="1"/>
              <a:t>các</a:t>
            </a:r>
            <a:r>
              <a:rPr lang="en-US" sz="1200" dirty="0"/>
              <a:t> </a:t>
            </a:r>
            <a:r>
              <a:rPr lang="en-US" sz="1200" dirty="0" err="1"/>
              <a:t>đối</a:t>
            </a:r>
            <a:r>
              <a:rPr lang="en-US" sz="1200" dirty="0"/>
              <a:t> </a:t>
            </a:r>
            <a:r>
              <a:rPr lang="en-US" sz="1200" dirty="0" err="1"/>
              <a:t>tượng</a:t>
            </a:r>
            <a:r>
              <a:rPr lang="en-US" sz="1200" dirty="0"/>
              <a:t> </a:t>
            </a:r>
            <a:r>
              <a:rPr lang="en-US" sz="1200" dirty="0" err="1"/>
              <a:t>từ</a:t>
            </a:r>
            <a:r>
              <a:rPr lang="en-US" sz="1200" dirty="0"/>
              <a:t> abstract class =&gt; </a:t>
            </a:r>
            <a:r>
              <a:rPr lang="en-US" sz="1200" dirty="0" err="1"/>
              <a:t>mục</a:t>
            </a:r>
            <a:r>
              <a:rPr lang="en-US" sz="1200" dirty="0"/>
              <a:t> </a:t>
            </a:r>
            <a:r>
              <a:rPr lang="en-US" sz="1200" dirty="0" err="1"/>
              <a:t>đích</a:t>
            </a:r>
            <a:r>
              <a:rPr lang="en-US" sz="1200" dirty="0"/>
              <a:t> </a:t>
            </a:r>
            <a:r>
              <a:rPr lang="en-US" sz="1200" dirty="0" err="1"/>
              <a:t>để</a:t>
            </a:r>
            <a:r>
              <a:rPr lang="en-US" sz="1200" dirty="0"/>
              <a:t> </a:t>
            </a:r>
            <a:r>
              <a:rPr lang="en-US" sz="1200" dirty="0" err="1"/>
              <a:t>các</a:t>
            </a:r>
            <a:r>
              <a:rPr lang="en-US" sz="1200" dirty="0"/>
              <a:t> </a:t>
            </a:r>
            <a:r>
              <a:rPr lang="en-US" sz="1200" dirty="0" err="1"/>
              <a:t>lớp</a:t>
            </a:r>
            <a:r>
              <a:rPr lang="en-US" sz="1200" dirty="0"/>
              <a:t> con </a:t>
            </a:r>
            <a:r>
              <a:rPr lang="en-US" sz="1200" dirty="0" err="1"/>
              <a:t>phải</a:t>
            </a:r>
            <a:r>
              <a:rPr lang="en-US" sz="1200" dirty="0"/>
              <a:t> </a:t>
            </a:r>
            <a:r>
              <a:rPr lang="en-US" sz="1200" dirty="0" err="1"/>
              <a:t>kế</a:t>
            </a:r>
            <a:r>
              <a:rPr lang="en-US" sz="1200" dirty="0"/>
              <a:t> </a:t>
            </a:r>
            <a:r>
              <a:rPr lang="en-US" sz="1200" dirty="0" err="1"/>
              <a:t>thừa</a:t>
            </a:r>
            <a:r>
              <a:rPr lang="en-US" sz="1200" dirty="0"/>
              <a:t> </a:t>
            </a:r>
            <a:r>
              <a:rPr lang="en-US" sz="1200" dirty="0" err="1"/>
              <a:t>từ</a:t>
            </a:r>
            <a:r>
              <a:rPr lang="en-US" sz="1200" dirty="0"/>
              <a:t> </a:t>
            </a:r>
            <a:r>
              <a:rPr lang="en-US" sz="1200" dirty="0" err="1"/>
              <a:t>nó</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t>76</a:t>
            </a:fld>
            <a:endParaRPr lang="vi-VN"/>
          </a:p>
        </p:txBody>
      </p:sp>
    </p:spTree>
    <p:extLst>
      <p:ext uri="{BB962C8B-B14F-4D97-AF65-F5344CB8AC3E}">
        <p14:creationId xmlns:p14="http://schemas.microsoft.com/office/powerpoint/2010/main" val="35701547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https://codelearn.io/sharing/cau-hoi-thuong-gap-khi-lam-quen-voi-oop</a:t>
            </a:r>
          </a:p>
          <a:p>
            <a:r>
              <a:rPr lang="en-US" dirty="0"/>
              <a:t>http://minhhn.com/lap-trinh-c-sharp/lop-truu-tuong-abstract-class-trong-csharp/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https://v1study.com/csharp-abstract-class-va-interface-a611.html</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t>Có</a:t>
            </a:r>
            <a:r>
              <a:rPr lang="en-US" sz="1200" dirty="0"/>
              <a:t> </a:t>
            </a:r>
            <a:r>
              <a:rPr lang="en-US" sz="1200" dirty="0" err="1"/>
              <a:t>một</a:t>
            </a:r>
            <a:r>
              <a:rPr lang="en-US" sz="1200" dirty="0"/>
              <a:t> </a:t>
            </a:r>
            <a:r>
              <a:rPr lang="en-US" sz="1200" dirty="0" err="1"/>
              <a:t>lớp</a:t>
            </a:r>
            <a:r>
              <a:rPr lang="en-US" sz="1200" dirty="0"/>
              <a:t> </a:t>
            </a:r>
            <a:r>
              <a:rPr lang="en-US" sz="1200" dirty="0" err="1"/>
              <a:t>Động</a:t>
            </a:r>
            <a:r>
              <a:rPr lang="en-US" sz="1200" dirty="0"/>
              <a:t> </a:t>
            </a:r>
            <a:r>
              <a:rPr lang="en-US" sz="1200" dirty="0" err="1"/>
              <a:t>vật</a:t>
            </a:r>
            <a:r>
              <a:rPr lang="en-US" sz="1200" dirty="0"/>
              <a:t>, </a:t>
            </a:r>
            <a:r>
              <a:rPr lang="en-US" sz="1200" dirty="0" err="1"/>
              <a:t>mà</a:t>
            </a:r>
            <a:r>
              <a:rPr lang="en-US" sz="1200" dirty="0"/>
              <a:t> </a:t>
            </a:r>
            <a:r>
              <a:rPr lang="en-US" sz="1200" dirty="0" err="1"/>
              <a:t>động</a:t>
            </a:r>
            <a:r>
              <a:rPr lang="en-US" sz="1200" dirty="0"/>
              <a:t> </a:t>
            </a:r>
            <a:r>
              <a:rPr lang="en-US" sz="1200" dirty="0" err="1"/>
              <a:t>vật</a:t>
            </a:r>
            <a:r>
              <a:rPr lang="en-US" sz="1200" dirty="0"/>
              <a:t> thì </a:t>
            </a:r>
            <a:r>
              <a:rPr lang="en-US" sz="1200" dirty="0" err="1"/>
              <a:t>phải</a:t>
            </a:r>
            <a:r>
              <a:rPr lang="en-US" sz="1200" dirty="0"/>
              <a:t> </a:t>
            </a:r>
            <a:r>
              <a:rPr lang="en-US" sz="1200" dirty="0" err="1"/>
              <a:t>ăn</a:t>
            </a:r>
            <a:r>
              <a:rPr lang="en-US" sz="1200" dirty="0"/>
              <a:t> </a:t>
            </a:r>
            <a:r>
              <a:rPr lang="en-US" sz="1200" dirty="0" err="1"/>
              <a:t>mới</a:t>
            </a:r>
            <a:r>
              <a:rPr lang="en-US" sz="1200" dirty="0"/>
              <a:t> </a:t>
            </a:r>
            <a:r>
              <a:rPr lang="en-US" sz="1200" dirty="0" err="1"/>
              <a:t>tồn</a:t>
            </a:r>
            <a:r>
              <a:rPr lang="en-US" sz="1200" dirty="0"/>
              <a:t> </a:t>
            </a:r>
            <a:r>
              <a:rPr lang="en-US" sz="1200" dirty="0" err="1"/>
              <a:t>tại</a:t>
            </a:r>
            <a:r>
              <a:rPr lang="en-US" sz="1200" dirty="0"/>
              <a:t>, </a:t>
            </a:r>
            <a:r>
              <a:rPr lang="en-US" sz="1200" dirty="0" err="1"/>
              <a:t>tức</a:t>
            </a:r>
            <a:r>
              <a:rPr lang="en-US" sz="1200" dirty="0"/>
              <a:t> là </a:t>
            </a:r>
            <a:r>
              <a:rPr lang="en-US" sz="1200" dirty="0" err="1"/>
              <a:t>sẽ</a:t>
            </a:r>
            <a:r>
              <a:rPr lang="en-US" sz="1200" dirty="0"/>
              <a:t> </a:t>
            </a:r>
            <a:r>
              <a:rPr lang="en-US" sz="1200" dirty="0" err="1"/>
              <a:t>xuất</a:t>
            </a:r>
            <a:r>
              <a:rPr lang="en-US" sz="1200" dirty="0"/>
              <a:t> </a:t>
            </a:r>
            <a:r>
              <a:rPr lang="en-US" sz="1200" dirty="0" err="1"/>
              <a:t>hiện</a:t>
            </a:r>
            <a:r>
              <a:rPr lang="en-US" sz="1200" dirty="0"/>
              <a:t> </a:t>
            </a:r>
            <a:r>
              <a:rPr lang="en-US" sz="1200" dirty="0" err="1"/>
              <a:t>hành</a:t>
            </a:r>
            <a:r>
              <a:rPr lang="en-US" sz="1200" dirty="0"/>
              <a:t> vi </a:t>
            </a:r>
            <a:r>
              <a:rPr lang="en-US" sz="1200" dirty="0" err="1"/>
              <a:t>ăn</a:t>
            </a:r>
            <a:r>
              <a:rPr lang="en-US" sz="1200" dirty="0"/>
              <a:t>, </a:t>
            </a:r>
            <a:r>
              <a:rPr lang="en-US" sz="1200" dirty="0" err="1"/>
              <a:t>nhưng</a:t>
            </a:r>
            <a:r>
              <a:rPr lang="en-US" sz="1200" dirty="0"/>
              <a:t> </a:t>
            </a:r>
            <a:r>
              <a:rPr lang="en-US" sz="1200" dirty="0" err="1"/>
              <a:t>những</a:t>
            </a:r>
            <a:r>
              <a:rPr lang="en-US" sz="1200" dirty="0"/>
              <a:t> </a:t>
            </a:r>
            <a:r>
              <a:rPr lang="en-US" sz="1200" dirty="0" err="1"/>
              <a:t>loài</a:t>
            </a:r>
            <a:r>
              <a:rPr lang="en-US" sz="1200" dirty="0"/>
              <a:t> </a:t>
            </a:r>
            <a:r>
              <a:rPr lang="en-US" sz="1200" dirty="0" err="1"/>
              <a:t>vật</a:t>
            </a:r>
            <a:r>
              <a:rPr lang="en-US" sz="1200" dirty="0"/>
              <a:t> </a:t>
            </a:r>
            <a:r>
              <a:rPr lang="en-US" sz="1200" dirty="0" err="1"/>
              <a:t>khác</a:t>
            </a:r>
            <a:r>
              <a:rPr lang="en-US" sz="1200" dirty="0"/>
              <a:t> </a:t>
            </a:r>
            <a:r>
              <a:rPr lang="en-US" sz="1200" dirty="0" err="1"/>
              <a:t>nhau</a:t>
            </a:r>
            <a:r>
              <a:rPr lang="en-US" sz="1200" dirty="0"/>
              <a:t> thì </a:t>
            </a:r>
            <a:r>
              <a:rPr lang="en-US" sz="1200" dirty="0" err="1"/>
              <a:t>hành</a:t>
            </a:r>
            <a:r>
              <a:rPr lang="en-US" sz="1200" dirty="0"/>
              <a:t> vi </a:t>
            </a:r>
            <a:r>
              <a:rPr lang="en-US" sz="1200" dirty="0" err="1"/>
              <a:t>ăn</a:t>
            </a:r>
            <a:r>
              <a:rPr lang="en-US" sz="1200" dirty="0"/>
              <a:t> cũng </a:t>
            </a:r>
            <a:r>
              <a:rPr lang="en-US" sz="1200" dirty="0" err="1"/>
              <a:t>như</a:t>
            </a:r>
            <a:r>
              <a:rPr lang="en-US" sz="1200" dirty="0"/>
              <a:t> </a:t>
            </a:r>
            <a:r>
              <a:rPr lang="en-US" sz="1200" dirty="0" err="1"/>
              <a:t>loại</a:t>
            </a:r>
            <a:r>
              <a:rPr lang="en-US" sz="1200" dirty="0"/>
              <a:t> </a:t>
            </a:r>
            <a:r>
              <a:rPr lang="en-US" sz="1200" dirty="0" err="1"/>
              <a:t>thức</a:t>
            </a:r>
            <a:r>
              <a:rPr lang="en-US" sz="1200" dirty="0"/>
              <a:t> </a:t>
            </a:r>
            <a:r>
              <a:rPr lang="en-US" sz="1200" dirty="0" err="1"/>
              <a:t>ăn</a:t>
            </a:r>
            <a:r>
              <a:rPr lang="en-US" sz="1200" dirty="0"/>
              <a:t> là </a:t>
            </a:r>
            <a:r>
              <a:rPr lang="en-US" sz="1200" dirty="0" err="1"/>
              <a:t>khác</a:t>
            </a:r>
            <a:r>
              <a:rPr lang="en-US" sz="1200" dirty="0"/>
              <a:t> </a:t>
            </a:r>
            <a:r>
              <a:rPr lang="en-US" sz="1200" dirty="0" err="1"/>
              <a:t>nhau</a:t>
            </a:r>
            <a:r>
              <a:rPr lang="en-US" sz="1200"/>
              <a:t>. Chẳng </a:t>
            </a:r>
            <a:r>
              <a:rPr lang="en-US" sz="1200" dirty="0" err="1"/>
              <a:t>hạn</a:t>
            </a:r>
            <a:r>
              <a:rPr lang="en-US" sz="1200" dirty="0"/>
              <a:t> </a:t>
            </a:r>
            <a:r>
              <a:rPr lang="en-US" sz="1200" dirty="0" err="1"/>
              <a:t>như</a:t>
            </a:r>
            <a:r>
              <a:rPr lang="en-US" sz="1200" dirty="0"/>
              <a:t> </a:t>
            </a:r>
            <a:r>
              <a:rPr lang="en-US" sz="1200" dirty="0" err="1"/>
              <a:t>lớp</a:t>
            </a:r>
            <a:r>
              <a:rPr lang="en-US" sz="1200" dirty="0"/>
              <a:t> </a:t>
            </a:r>
            <a:r>
              <a:rPr lang="en-US" sz="1200" dirty="0" err="1"/>
              <a:t>gia</a:t>
            </a:r>
            <a:r>
              <a:rPr lang="en-US" sz="1200" dirty="0"/>
              <a:t> </a:t>
            </a:r>
            <a:r>
              <a:rPr lang="en-US" sz="1200" dirty="0" err="1"/>
              <a:t>súc</a:t>
            </a:r>
            <a:r>
              <a:rPr lang="en-US" sz="1200" dirty="0"/>
              <a:t> thì </a:t>
            </a:r>
            <a:r>
              <a:rPr lang="en-US" sz="1200" dirty="0" err="1"/>
              <a:t>ăn</a:t>
            </a:r>
            <a:r>
              <a:rPr lang="en-US" sz="1200" dirty="0"/>
              <a:t> </a:t>
            </a:r>
            <a:r>
              <a:rPr lang="en-US" sz="1200" dirty="0" err="1"/>
              <a:t>cỏ</a:t>
            </a:r>
            <a:r>
              <a:rPr lang="en-US" sz="1200" dirty="0"/>
              <a:t>, </a:t>
            </a:r>
            <a:r>
              <a:rPr lang="en-US" sz="1200" dirty="0" err="1"/>
              <a:t>lớp</a:t>
            </a:r>
            <a:r>
              <a:rPr lang="en-US" sz="1200" dirty="0"/>
              <a:t> </a:t>
            </a:r>
            <a:r>
              <a:rPr lang="en-US" sz="1200" dirty="0" err="1"/>
              <a:t>động</a:t>
            </a:r>
            <a:r>
              <a:rPr lang="en-US" sz="1200" dirty="0"/>
              <a:t> </a:t>
            </a:r>
            <a:r>
              <a:rPr lang="en-US" sz="1200" dirty="0" err="1"/>
              <a:t>vật</a:t>
            </a:r>
            <a:r>
              <a:rPr lang="en-US" sz="1200" dirty="0"/>
              <a:t> </a:t>
            </a:r>
            <a:r>
              <a:rPr lang="en-US" sz="1200" dirty="0" err="1"/>
              <a:t>họ</a:t>
            </a:r>
            <a:r>
              <a:rPr lang="en-US" sz="1200" dirty="0"/>
              <a:t> </a:t>
            </a:r>
            <a:r>
              <a:rPr lang="en-US" sz="1200" dirty="0" err="1"/>
              <a:t>mèo</a:t>
            </a:r>
            <a:r>
              <a:rPr lang="en-US" sz="1200" dirty="0"/>
              <a:t> thì </a:t>
            </a:r>
            <a:r>
              <a:rPr lang="en-US" sz="1200" dirty="0" err="1"/>
              <a:t>ăn</a:t>
            </a:r>
            <a:r>
              <a:rPr lang="en-US" sz="1200" dirty="0"/>
              <a:t> </a:t>
            </a:r>
            <a:r>
              <a:rPr lang="en-US" sz="1200" dirty="0" err="1"/>
              <a:t>thịt</a:t>
            </a:r>
            <a:r>
              <a:rPr lang="en-US" sz="1200" dirty="0"/>
              <a:t>. </a:t>
            </a:r>
            <a:r>
              <a:rPr lang="en-US" sz="1200" dirty="0" err="1"/>
              <a:t>Vì</a:t>
            </a:r>
            <a:r>
              <a:rPr lang="en-US" sz="1200" dirty="0"/>
              <a:t> </a:t>
            </a:r>
            <a:r>
              <a:rPr lang="en-US" sz="1200" dirty="0" err="1"/>
              <a:t>thế</a:t>
            </a:r>
            <a:r>
              <a:rPr lang="en-US" sz="1200" dirty="0"/>
              <a:t> </a:t>
            </a:r>
            <a:r>
              <a:rPr lang="en-US" sz="1200" dirty="0" err="1"/>
              <a:t>nếu</a:t>
            </a:r>
            <a:r>
              <a:rPr lang="en-US" sz="1200" dirty="0"/>
              <a:t> </a:t>
            </a:r>
            <a:r>
              <a:rPr lang="en-US" sz="1200" dirty="0" err="1"/>
              <a:t>lớp</a:t>
            </a:r>
            <a:r>
              <a:rPr lang="en-US" sz="1200" dirty="0"/>
              <a:t> </a:t>
            </a:r>
            <a:r>
              <a:rPr lang="en-US" sz="1200" dirty="0" err="1"/>
              <a:t>Động</a:t>
            </a:r>
            <a:r>
              <a:rPr lang="en-US" sz="1200" dirty="0"/>
              <a:t> </a:t>
            </a:r>
            <a:r>
              <a:rPr lang="en-US" sz="1200" dirty="0" err="1"/>
              <a:t>vật</a:t>
            </a:r>
            <a:r>
              <a:rPr lang="en-US" sz="1200" dirty="0"/>
              <a:t> </a:t>
            </a:r>
            <a:r>
              <a:rPr lang="en-US" sz="1200" dirty="0" err="1"/>
              <a:t>được</a:t>
            </a:r>
            <a:r>
              <a:rPr lang="en-US" sz="1200" dirty="0"/>
              <a:t> </a:t>
            </a:r>
            <a:r>
              <a:rPr lang="en-US" sz="1200" dirty="0" err="1"/>
              <a:t>xây</a:t>
            </a:r>
            <a:r>
              <a:rPr lang="en-US" sz="1200" dirty="0"/>
              <a:t> </a:t>
            </a:r>
            <a:r>
              <a:rPr lang="en-US" sz="1200" dirty="0" err="1"/>
              <a:t>dựng</a:t>
            </a:r>
            <a:r>
              <a:rPr lang="en-US" sz="1200" dirty="0"/>
              <a:t> </a:t>
            </a:r>
            <a:r>
              <a:rPr lang="en-US" sz="1200" dirty="0" err="1"/>
              <a:t>như</a:t>
            </a:r>
            <a:r>
              <a:rPr lang="en-US" sz="1200" dirty="0"/>
              <a:t> </a:t>
            </a:r>
            <a:r>
              <a:rPr lang="en-US" sz="1200" dirty="0" err="1"/>
              <a:t>lớp</a:t>
            </a:r>
            <a:r>
              <a:rPr lang="en-US" sz="1200" dirty="0"/>
              <a:t> </a:t>
            </a:r>
            <a:r>
              <a:rPr lang="en-US" sz="1200" dirty="0" err="1"/>
              <a:t>thông</a:t>
            </a:r>
            <a:r>
              <a:rPr lang="en-US" sz="1200" dirty="0"/>
              <a:t> </a:t>
            </a:r>
            <a:r>
              <a:rPr lang="en-US" sz="1200" dirty="0" err="1"/>
              <a:t>thường</a:t>
            </a:r>
            <a:r>
              <a:rPr lang="en-US" sz="1200" dirty="0"/>
              <a:t> thì </a:t>
            </a:r>
            <a:r>
              <a:rPr lang="en-US" sz="1200" dirty="0" err="1"/>
              <a:t>khi</a:t>
            </a:r>
            <a:r>
              <a:rPr lang="en-US" sz="1200" dirty="0"/>
              <a:t> ta </a:t>
            </a:r>
            <a:r>
              <a:rPr lang="en-US" sz="1200" dirty="0" err="1"/>
              <a:t>định</a:t>
            </a:r>
            <a:r>
              <a:rPr lang="en-US" sz="1200" dirty="0"/>
              <a:t> </a:t>
            </a:r>
            <a:r>
              <a:rPr lang="en-US" sz="1200" dirty="0" err="1"/>
              <a:t>nghĩa</a:t>
            </a:r>
            <a:r>
              <a:rPr lang="en-US" sz="1200" dirty="0"/>
              <a:t> </a:t>
            </a:r>
            <a:r>
              <a:rPr lang="en-US" sz="1200" dirty="0" err="1"/>
              <a:t>phương</a:t>
            </a:r>
            <a:r>
              <a:rPr lang="en-US" sz="1200" dirty="0"/>
              <a:t> </a:t>
            </a:r>
            <a:r>
              <a:rPr lang="en-US" sz="1200" dirty="0" err="1"/>
              <a:t>thức</a:t>
            </a:r>
            <a:r>
              <a:rPr lang="en-US" sz="1200" dirty="0"/>
              <a:t> </a:t>
            </a:r>
            <a:r>
              <a:rPr lang="en-US" sz="1200" dirty="0" err="1"/>
              <a:t>ăn</a:t>
            </a:r>
            <a:r>
              <a:rPr lang="en-US" sz="1200" dirty="0"/>
              <a:t> </a:t>
            </a:r>
            <a:r>
              <a:rPr lang="en-US" sz="1200" dirty="0" err="1"/>
              <a:t>chắc</a:t>
            </a:r>
            <a:r>
              <a:rPr lang="en-US" sz="1200" dirty="0"/>
              <a:t> </a:t>
            </a:r>
            <a:r>
              <a:rPr lang="en-US" sz="1200" dirty="0" err="1"/>
              <a:t>chắn</a:t>
            </a:r>
            <a:r>
              <a:rPr lang="en-US" sz="1200" dirty="0"/>
              <a:t> </a:t>
            </a:r>
            <a:r>
              <a:rPr lang="en-US" sz="1200" dirty="0" err="1"/>
              <a:t>rằng</a:t>
            </a:r>
            <a:r>
              <a:rPr lang="en-US" sz="1200" dirty="0"/>
              <a:t> </a:t>
            </a:r>
            <a:r>
              <a:rPr lang="en-US" sz="1200" dirty="0" err="1"/>
              <a:t>sẽ</a:t>
            </a:r>
            <a:r>
              <a:rPr lang="en-US" sz="1200" dirty="0"/>
              <a:t> </a:t>
            </a:r>
            <a:r>
              <a:rPr lang="en-US" sz="1200" dirty="0" err="1"/>
              <a:t>không</a:t>
            </a:r>
            <a:r>
              <a:rPr lang="en-US" sz="1200" dirty="0"/>
              <a:t> </a:t>
            </a:r>
            <a:r>
              <a:rPr lang="en-US" sz="1200" dirty="0" err="1"/>
              <a:t>thể</a:t>
            </a:r>
            <a:r>
              <a:rPr lang="en-US" sz="1200" dirty="0"/>
              <a:t> </a:t>
            </a:r>
            <a:r>
              <a:rPr lang="en-US" sz="1200" dirty="0" err="1"/>
              <a:t>miêu</a:t>
            </a:r>
            <a:r>
              <a:rPr lang="en-US" sz="1200" dirty="0"/>
              <a:t> </a:t>
            </a:r>
            <a:r>
              <a:rPr lang="en-US" sz="1200" dirty="0" err="1"/>
              <a:t>tả</a:t>
            </a:r>
            <a:r>
              <a:rPr lang="en-US" sz="1200" dirty="0"/>
              <a:t> </a:t>
            </a:r>
            <a:r>
              <a:rPr lang="en-US" sz="1200" dirty="0" err="1"/>
              <a:t>được</a:t>
            </a:r>
            <a:r>
              <a:rPr lang="en-US" sz="1200" dirty="0"/>
              <a:t> </a:t>
            </a:r>
            <a:r>
              <a:rPr lang="en-US" sz="1200" dirty="0" err="1"/>
              <a:t>hành</a:t>
            </a:r>
            <a:r>
              <a:rPr lang="en-US" sz="1200" dirty="0"/>
              <a:t> vi </a:t>
            </a:r>
            <a:r>
              <a:rPr lang="en-US" sz="1200" dirty="0" err="1"/>
              <a:t>ăn</a:t>
            </a:r>
            <a:r>
              <a:rPr lang="en-US" sz="1200" dirty="0"/>
              <a:t> cũng </a:t>
            </a:r>
            <a:r>
              <a:rPr lang="en-US" sz="1200" dirty="0" err="1"/>
              <a:t>như</a:t>
            </a:r>
            <a:r>
              <a:rPr lang="en-US" sz="1200" dirty="0"/>
              <a:t> </a:t>
            </a:r>
            <a:r>
              <a:rPr lang="en-US" sz="1200" dirty="0" err="1"/>
              <a:t>loại</a:t>
            </a:r>
            <a:r>
              <a:rPr lang="en-US" sz="1200" dirty="0"/>
              <a:t> </a:t>
            </a:r>
            <a:r>
              <a:rPr lang="en-US" sz="1200" dirty="0" err="1"/>
              <a:t>thức</a:t>
            </a:r>
            <a:r>
              <a:rPr lang="en-US" sz="1200" dirty="0"/>
              <a:t> </a:t>
            </a:r>
            <a:r>
              <a:rPr lang="en-US" sz="1200" dirty="0" err="1"/>
              <a:t>ăn</a:t>
            </a:r>
            <a:r>
              <a:rPr lang="en-US" sz="1200" dirty="0"/>
              <a:t> </a:t>
            </a:r>
            <a:r>
              <a:rPr lang="en-US" sz="1200" dirty="0" err="1"/>
              <a:t>đặc</a:t>
            </a:r>
            <a:r>
              <a:rPr lang="en-US" sz="1200" dirty="0"/>
              <a:t> </a:t>
            </a:r>
            <a:r>
              <a:rPr lang="en-US" sz="1200" dirty="0" err="1"/>
              <a:t>trưng</a:t>
            </a:r>
            <a:r>
              <a:rPr lang="en-US" sz="1200" dirty="0"/>
              <a:t> </a:t>
            </a:r>
            <a:r>
              <a:rPr lang="en-US" sz="1200" dirty="0" err="1"/>
              <a:t>của</a:t>
            </a:r>
            <a:r>
              <a:rPr lang="en-US" sz="1200" dirty="0"/>
              <a:t> </a:t>
            </a:r>
            <a:r>
              <a:rPr lang="en-US" sz="1200" dirty="0" err="1"/>
              <a:t>từng</a:t>
            </a:r>
            <a:r>
              <a:rPr lang="en-US" sz="1200" dirty="0"/>
              <a:t> </a:t>
            </a:r>
            <a:r>
              <a:rPr lang="en-US" sz="1200" dirty="0" err="1"/>
              <a:t>loài</a:t>
            </a:r>
            <a:r>
              <a:rPr lang="en-US" sz="1200" dirty="0"/>
              <a:t>. </a:t>
            </a:r>
            <a:r>
              <a:rPr lang="en-US" sz="1200" dirty="0" err="1"/>
              <a:t>Trong</a:t>
            </a:r>
            <a:r>
              <a:rPr lang="en-US" sz="1200" dirty="0"/>
              <a:t> TH này ta </a:t>
            </a:r>
            <a:r>
              <a:rPr lang="en-US" sz="1200" dirty="0" err="1"/>
              <a:t>xây</a:t>
            </a:r>
            <a:r>
              <a:rPr lang="en-US" sz="1200" dirty="0"/>
              <a:t> </a:t>
            </a:r>
            <a:r>
              <a:rPr lang="en-US" sz="1200" dirty="0" err="1"/>
              <a:t>dựng</a:t>
            </a:r>
            <a:r>
              <a:rPr lang="en-US" sz="1200" dirty="0"/>
              <a:t> </a:t>
            </a:r>
            <a:r>
              <a:rPr lang="en-US" sz="1200" dirty="0" err="1"/>
              <a:t>lớp</a:t>
            </a:r>
            <a:r>
              <a:rPr lang="en-US" sz="1200" dirty="0"/>
              <a:t> </a:t>
            </a:r>
            <a:r>
              <a:rPr lang="en-US" sz="1200" dirty="0" err="1"/>
              <a:t>Động</a:t>
            </a:r>
            <a:r>
              <a:rPr lang="en-US" sz="1200" dirty="0"/>
              <a:t> </a:t>
            </a:r>
            <a:r>
              <a:rPr lang="en-US" sz="1200" dirty="0" err="1"/>
              <a:t>vật</a:t>
            </a:r>
            <a:r>
              <a:rPr lang="en-US" sz="1200" dirty="0"/>
              <a:t> là </a:t>
            </a:r>
            <a:r>
              <a:rPr lang="en-US" sz="1200" dirty="0" err="1"/>
              <a:t>loại</a:t>
            </a:r>
            <a:r>
              <a:rPr lang="en-US" sz="1200" dirty="0"/>
              <a:t> </a:t>
            </a:r>
            <a:r>
              <a:rPr lang="en-US" sz="1200" dirty="0" err="1"/>
              <a:t>lớp</a:t>
            </a:r>
            <a:r>
              <a:rPr lang="en-US" sz="1200" dirty="0"/>
              <a:t> </a:t>
            </a:r>
            <a:r>
              <a:rPr lang="en-US" sz="1200" dirty="0" err="1"/>
              <a:t>từu</a:t>
            </a:r>
            <a:r>
              <a:rPr lang="en-US" sz="1200" dirty="0"/>
              <a:t> </a:t>
            </a:r>
            <a:r>
              <a:rPr lang="en-US" sz="1200" dirty="0" err="1"/>
              <a:t>tượng</a:t>
            </a:r>
            <a:r>
              <a:rPr lang="en-US" sz="1200" dirty="0"/>
              <a:t> </a:t>
            </a:r>
            <a:r>
              <a:rPr lang="en-US" sz="1200" dirty="0" err="1"/>
              <a:t>và</a:t>
            </a:r>
            <a:r>
              <a:rPr lang="en-US" sz="1200" dirty="0"/>
              <a:t> </a:t>
            </a:r>
            <a:r>
              <a:rPr lang="en-US" sz="1200" dirty="0" err="1"/>
              <a:t>phương</a:t>
            </a:r>
            <a:r>
              <a:rPr lang="en-US" sz="1200" dirty="0"/>
              <a:t> </a:t>
            </a:r>
            <a:r>
              <a:rPr lang="en-US" sz="1200" dirty="0" err="1"/>
              <a:t>thức</a:t>
            </a:r>
            <a:r>
              <a:rPr lang="en-US" sz="1200" dirty="0"/>
              <a:t> </a:t>
            </a:r>
            <a:r>
              <a:rPr lang="en-US" sz="1200" dirty="0" err="1"/>
              <a:t>ăn</a:t>
            </a:r>
            <a:r>
              <a:rPr lang="en-US" sz="1200" dirty="0"/>
              <a:t> ta </a:t>
            </a:r>
            <a:r>
              <a:rPr lang="en-US" sz="1200" dirty="0" err="1"/>
              <a:t>khai</a:t>
            </a:r>
            <a:r>
              <a:rPr lang="en-US" sz="1200" dirty="0"/>
              <a:t> </a:t>
            </a:r>
            <a:r>
              <a:rPr lang="en-US" sz="1200" dirty="0" err="1"/>
              <a:t>báo</a:t>
            </a:r>
            <a:r>
              <a:rPr lang="en-US" sz="1200" dirty="0"/>
              <a:t> là </a:t>
            </a:r>
            <a:r>
              <a:rPr lang="en-US" sz="1200" dirty="0" err="1"/>
              <a:t>phương</a:t>
            </a:r>
            <a:r>
              <a:rPr lang="en-US" sz="1200" dirty="0"/>
              <a:t> </a:t>
            </a:r>
            <a:r>
              <a:rPr lang="en-US" sz="1200" dirty="0" err="1"/>
              <a:t>thức</a:t>
            </a:r>
            <a:r>
              <a:rPr lang="en-US" sz="1200" dirty="0"/>
              <a:t> </a:t>
            </a:r>
            <a:r>
              <a:rPr lang="en-US" sz="1200" dirty="0" err="1"/>
              <a:t>trừu</a:t>
            </a:r>
            <a:r>
              <a:rPr lang="en-US" sz="1200" dirty="0"/>
              <a:t> </a:t>
            </a:r>
            <a:r>
              <a:rPr lang="en-US" sz="1200" dirty="0" err="1"/>
              <a:t>tượng</a:t>
            </a:r>
            <a:r>
              <a:rPr lang="en-US" sz="1200" dirty="0"/>
              <a:t>, </a:t>
            </a:r>
            <a:r>
              <a:rPr lang="en-US" sz="1200" dirty="0" err="1"/>
              <a:t>nghĩa</a:t>
            </a:r>
            <a:r>
              <a:rPr lang="en-US" sz="1200" dirty="0"/>
              <a:t> là ko </a:t>
            </a:r>
            <a:r>
              <a:rPr lang="en-US" sz="1200" dirty="0" err="1"/>
              <a:t>định</a:t>
            </a:r>
            <a:r>
              <a:rPr lang="en-US" sz="1200" dirty="0"/>
              <a:t> </a:t>
            </a:r>
            <a:r>
              <a:rPr lang="en-US" sz="1200" dirty="0" err="1"/>
              <a:t>nghĩa</a:t>
            </a:r>
            <a:r>
              <a:rPr lang="en-US" sz="1200" dirty="0"/>
              <a:t> </a:t>
            </a:r>
            <a:r>
              <a:rPr lang="en-US" sz="1200" dirty="0" err="1"/>
              <a:t>cụ</a:t>
            </a:r>
            <a:r>
              <a:rPr lang="en-US" sz="1200" dirty="0"/>
              <a:t> </a:t>
            </a:r>
            <a:r>
              <a:rPr lang="en-US" sz="1200" dirty="0" err="1"/>
              <a:t>thể</a:t>
            </a:r>
            <a:r>
              <a:rPr lang="en-US" sz="1200" dirty="0"/>
              <a:t>, </a:t>
            </a:r>
            <a:r>
              <a:rPr lang="en-US" sz="1200" dirty="0" err="1"/>
              <a:t>điều</a:t>
            </a:r>
            <a:r>
              <a:rPr lang="en-US" sz="1200" dirty="0"/>
              <a:t> này </a:t>
            </a:r>
            <a:r>
              <a:rPr lang="en-US" sz="1200" dirty="0" err="1"/>
              <a:t>sẽ</a:t>
            </a:r>
            <a:r>
              <a:rPr lang="en-US" sz="1200" dirty="0"/>
              <a:t> </a:t>
            </a:r>
            <a:r>
              <a:rPr lang="en-US" sz="1200" dirty="0" err="1"/>
              <a:t>được</a:t>
            </a:r>
            <a:r>
              <a:rPr lang="en-US" sz="1200" dirty="0"/>
              <a:t> </a:t>
            </a:r>
            <a:r>
              <a:rPr lang="en-US" sz="1200" dirty="0" err="1"/>
              <a:t>nhường</a:t>
            </a:r>
            <a:r>
              <a:rPr lang="en-US" sz="1200" dirty="0"/>
              <a:t> </a:t>
            </a:r>
            <a:r>
              <a:rPr lang="en-US" sz="1200" dirty="0" err="1"/>
              <a:t>cho</a:t>
            </a:r>
            <a:r>
              <a:rPr lang="en-US" sz="1200" dirty="0"/>
              <a:t> </a:t>
            </a:r>
            <a:r>
              <a:rPr lang="en-US" sz="1200" dirty="0" err="1"/>
              <a:t>các</a:t>
            </a:r>
            <a:r>
              <a:rPr lang="en-US" sz="1200" dirty="0"/>
              <a:t> </a:t>
            </a:r>
            <a:r>
              <a:rPr lang="en-US" sz="1200" dirty="0" err="1"/>
              <a:t>lớp</a:t>
            </a:r>
            <a:r>
              <a:rPr lang="en-US" sz="1200" dirty="0"/>
              <a:t> </a:t>
            </a:r>
            <a:r>
              <a:rPr lang="en-US" sz="1200" dirty="0" err="1"/>
              <a:t>động</a:t>
            </a:r>
            <a:r>
              <a:rPr lang="en-US" sz="1200" dirty="0"/>
              <a:t> </a:t>
            </a:r>
            <a:r>
              <a:rPr lang="en-US" sz="1200" dirty="0" err="1"/>
              <a:t>vật</a:t>
            </a:r>
            <a:r>
              <a:rPr lang="en-US" sz="1200" dirty="0"/>
              <a:t> </a:t>
            </a:r>
            <a:r>
              <a:rPr lang="en-US" sz="1200" dirty="0" err="1"/>
              <a:t>khác</a:t>
            </a:r>
            <a:r>
              <a:rPr lang="en-US" sz="1200" dirty="0"/>
              <a:t> </a:t>
            </a:r>
            <a:r>
              <a:rPr lang="en-US" sz="1200" dirty="0" err="1"/>
              <a:t>nhau</a:t>
            </a:r>
            <a:r>
              <a:rPr lang="en-US" sz="1200" dirty="0"/>
              <a:t> </a:t>
            </a:r>
            <a:r>
              <a:rPr lang="en-US" sz="1200" dirty="0" err="1"/>
              <a:t>kế</a:t>
            </a:r>
            <a:r>
              <a:rPr lang="en-US" sz="1200" dirty="0"/>
              <a:t> </a:t>
            </a:r>
            <a:r>
              <a:rPr lang="en-US" sz="1200" dirty="0" err="1"/>
              <a:t>thừa</a:t>
            </a:r>
            <a:r>
              <a:rPr lang="en-US" sz="1200" dirty="0"/>
              <a:t> </a:t>
            </a:r>
            <a:r>
              <a:rPr lang="en-US" sz="1200" dirty="0" err="1"/>
              <a:t>từ</a:t>
            </a:r>
            <a:r>
              <a:rPr lang="en-US" sz="1200" dirty="0"/>
              <a:t> </a:t>
            </a:r>
            <a:r>
              <a:rPr lang="en-US" sz="1200" dirty="0" err="1"/>
              <a:t>Động</a:t>
            </a:r>
            <a:r>
              <a:rPr lang="en-US" sz="1200" dirty="0"/>
              <a:t> </a:t>
            </a:r>
            <a:r>
              <a:rPr lang="en-US" sz="1200" dirty="0" err="1"/>
              <a:t>vật</a:t>
            </a:r>
            <a:r>
              <a:rPr lang="en-US" sz="1200" dirty="0"/>
              <a:t> </a:t>
            </a:r>
            <a:r>
              <a:rPr lang="en-US" sz="1200" dirty="0" err="1"/>
              <a:t>thực</a:t>
            </a:r>
            <a:r>
              <a:rPr lang="en-US" sz="1200" dirty="0"/>
              <a:t> </a:t>
            </a:r>
            <a:r>
              <a:rPr lang="en-US" sz="1200" dirty="0" err="1"/>
              <a:t>thi</a:t>
            </a:r>
            <a:r>
              <a:rPr lang="en-US" sz="1200" dirty="0"/>
              <a:t> </a:t>
            </a:r>
            <a:r>
              <a:rPr lang="en-US" sz="1200" dirty="0" err="1"/>
              <a:t>cụ</a:t>
            </a:r>
            <a:r>
              <a:rPr lang="en-US" sz="1200" dirty="0"/>
              <a:t> </a:t>
            </a:r>
            <a:r>
              <a:rPr lang="en-US" sz="1200" dirty="0" err="1"/>
              <a:t>thể</a:t>
            </a:r>
            <a:r>
              <a:rPr lang="en-US" sz="1200" dirty="0"/>
              <a:t>. </a:t>
            </a:r>
            <a:r>
              <a:rPr lang="en-US" sz="1200" dirty="0" err="1"/>
              <a:t>Như</a:t>
            </a:r>
            <a:r>
              <a:rPr lang="en-US" sz="1200" dirty="0"/>
              <a:t> </a:t>
            </a:r>
            <a:r>
              <a:rPr lang="en-US" sz="1200" dirty="0" err="1"/>
              <a:t>vậy</a:t>
            </a:r>
            <a:r>
              <a:rPr lang="en-US" sz="1200" dirty="0"/>
              <a:t>, </a:t>
            </a:r>
            <a:r>
              <a:rPr lang="en-US" sz="1200" dirty="0" err="1"/>
              <a:t>lớp</a:t>
            </a:r>
            <a:r>
              <a:rPr lang="en-US" sz="1200" dirty="0"/>
              <a:t> </a:t>
            </a:r>
            <a:r>
              <a:rPr lang="en-US" sz="1200" dirty="0" err="1"/>
              <a:t>trừu</a:t>
            </a:r>
            <a:r>
              <a:rPr lang="en-US" sz="1200" dirty="0"/>
              <a:t> </a:t>
            </a:r>
            <a:r>
              <a:rPr lang="en-US" sz="1200" dirty="0" err="1"/>
              <a:t>tượng</a:t>
            </a:r>
            <a:r>
              <a:rPr lang="en-US" sz="1200" dirty="0"/>
              <a:t> </a:t>
            </a:r>
            <a:r>
              <a:rPr lang="en-US" sz="1200" dirty="0" err="1"/>
              <a:t>sẽ</a:t>
            </a:r>
            <a:r>
              <a:rPr lang="en-US" sz="1200" dirty="0"/>
              <a:t> </a:t>
            </a:r>
            <a:r>
              <a:rPr lang="en-US" sz="1200" dirty="0" err="1"/>
              <a:t>khai</a:t>
            </a:r>
            <a:r>
              <a:rPr lang="en-US" sz="1200" dirty="0"/>
              <a:t> </a:t>
            </a:r>
            <a:r>
              <a:rPr lang="en-US" sz="1200" dirty="0" err="1"/>
              <a:t>báo</a:t>
            </a:r>
            <a:r>
              <a:rPr lang="en-US" sz="1200" dirty="0"/>
              <a:t> </a:t>
            </a:r>
            <a:r>
              <a:rPr lang="en-US" sz="1200" dirty="0" err="1"/>
              <a:t>các</a:t>
            </a:r>
            <a:r>
              <a:rPr lang="en-US" sz="1200" dirty="0"/>
              <a:t> </a:t>
            </a:r>
            <a:r>
              <a:rPr lang="en-US" sz="1200" dirty="0" err="1"/>
              <a:t>phương</a:t>
            </a:r>
            <a:r>
              <a:rPr lang="en-US" sz="1200" dirty="0"/>
              <a:t> </a:t>
            </a:r>
            <a:r>
              <a:rPr lang="en-US" sz="1200" dirty="0" err="1"/>
              <a:t>thức</a:t>
            </a:r>
            <a:r>
              <a:rPr lang="en-US" sz="1200" dirty="0"/>
              <a:t> </a:t>
            </a:r>
            <a:r>
              <a:rPr lang="en-US" sz="1200" dirty="0" err="1"/>
              <a:t>chung</a:t>
            </a:r>
            <a:r>
              <a:rPr lang="en-US" sz="1200" dirty="0"/>
              <a:t> </a:t>
            </a:r>
            <a:r>
              <a:rPr lang="en-US" sz="1200" dirty="0" err="1"/>
              <a:t>cho</a:t>
            </a:r>
            <a:r>
              <a:rPr lang="en-US" sz="1200" dirty="0"/>
              <a:t> </a:t>
            </a:r>
            <a:r>
              <a:rPr lang="en-US" sz="1200" dirty="0" err="1"/>
              <a:t>tất</a:t>
            </a:r>
            <a:r>
              <a:rPr lang="en-US" sz="1200" dirty="0"/>
              <a:t> </a:t>
            </a:r>
            <a:r>
              <a:rPr lang="en-US" sz="1200" dirty="0" err="1"/>
              <a:t>cả</a:t>
            </a:r>
            <a:r>
              <a:rPr lang="en-US" sz="1200" dirty="0"/>
              <a:t> </a:t>
            </a:r>
            <a:r>
              <a:rPr lang="en-US" sz="1200" dirty="0" err="1"/>
              <a:t>cac</a:t>
            </a:r>
            <a:r>
              <a:rPr lang="en-US" sz="1200" dirty="0"/>
              <a:t> </a:t>
            </a:r>
            <a:r>
              <a:rPr lang="en-US" sz="1200" dirty="0" err="1"/>
              <a:t>lớp</a:t>
            </a:r>
            <a:r>
              <a:rPr lang="en-US" sz="1200" dirty="0"/>
              <a:t> </a:t>
            </a:r>
            <a:r>
              <a:rPr lang="en-US" sz="1200" dirty="0" err="1"/>
              <a:t>thừa</a:t>
            </a:r>
            <a:r>
              <a:rPr lang="en-US" sz="1200" dirty="0"/>
              <a:t> </a:t>
            </a:r>
            <a:r>
              <a:rPr lang="en-US" sz="1200" dirty="0" err="1"/>
              <a:t>kế</a:t>
            </a:r>
            <a:r>
              <a:rPr lang="en-US" sz="1200" dirty="0"/>
              <a:t> </a:t>
            </a:r>
            <a:r>
              <a:rPr lang="en-US" sz="1200" dirty="0" err="1"/>
              <a:t>từ</a:t>
            </a:r>
            <a:r>
              <a:rPr lang="en-US" sz="1200" dirty="0"/>
              <a:t> </a:t>
            </a:r>
            <a:r>
              <a:rPr lang="en-US" sz="1200" dirty="0" err="1"/>
              <a:t>nó</a:t>
            </a:r>
            <a:r>
              <a:rPr lang="en-US" sz="1200" dirty="0"/>
              <a:t>, </a:t>
            </a:r>
            <a:r>
              <a:rPr lang="en-US" sz="1200" dirty="0" err="1"/>
              <a:t>những</a:t>
            </a:r>
            <a:r>
              <a:rPr lang="en-US" sz="1200" dirty="0"/>
              <a:t> </a:t>
            </a:r>
            <a:r>
              <a:rPr lang="en-US" sz="1200" dirty="0" err="1"/>
              <a:t>lớp</a:t>
            </a:r>
            <a:r>
              <a:rPr lang="en-US" sz="1200" dirty="0"/>
              <a:t> này </a:t>
            </a:r>
            <a:r>
              <a:rPr lang="en-US" sz="1200" dirty="0" err="1"/>
              <a:t>phải</a:t>
            </a:r>
            <a:r>
              <a:rPr lang="en-US" sz="1200" dirty="0"/>
              <a:t> </a:t>
            </a:r>
            <a:r>
              <a:rPr lang="en-US" sz="1200" dirty="0" err="1"/>
              <a:t>có</a:t>
            </a:r>
            <a:r>
              <a:rPr lang="en-US" sz="1200" dirty="0"/>
              <a:t> </a:t>
            </a:r>
            <a:r>
              <a:rPr lang="en-US" sz="1200" dirty="0" err="1"/>
              <a:t>nhiệm</a:t>
            </a:r>
            <a:r>
              <a:rPr lang="en-US" sz="1200" dirty="0"/>
              <a:t> </a:t>
            </a:r>
            <a:r>
              <a:rPr lang="en-US" sz="1200" dirty="0" err="1"/>
              <a:t>vụ</a:t>
            </a:r>
            <a:r>
              <a:rPr lang="en-US" sz="1200" dirty="0"/>
              <a:t> </a:t>
            </a:r>
            <a:r>
              <a:rPr lang="en-US" sz="1200" dirty="0" err="1"/>
              <a:t>thực</a:t>
            </a:r>
            <a:r>
              <a:rPr lang="en-US" sz="1200" dirty="0"/>
              <a:t> </a:t>
            </a:r>
            <a:r>
              <a:rPr lang="en-US" sz="1200" dirty="0" err="1"/>
              <a:t>thi</a:t>
            </a:r>
            <a:r>
              <a:rPr lang="en-US" sz="1200" dirty="0"/>
              <a:t> </a:t>
            </a:r>
            <a:r>
              <a:rPr lang="en-US" sz="1200" dirty="0" err="1"/>
              <a:t>phương</a:t>
            </a:r>
            <a:r>
              <a:rPr lang="en-US" sz="1200" dirty="0"/>
              <a:t> </a:t>
            </a:r>
            <a:r>
              <a:rPr lang="en-US" sz="1200" dirty="0" err="1"/>
              <a:t>thức</a:t>
            </a:r>
            <a:r>
              <a:rPr lang="en-US" sz="1200" dirty="0"/>
              <a:t> </a:t>
            </a:r>
            <a:r>
              <a:rPr lang="en-US" sz="1200" dirty="0" err="1"/>
              <a:t>đó</a:t>
            </a:r>
            <a:r>
              <a:rPr lang="en-US" sz="1200" dirty="0"/>
              <a:t> </a:t>
            </a:r>
            <a:r>
              <a:rPr lang="en-US" sz="1200" dirty="0" err="1"/>
              <a:t>nhưng</a:t>
            </a:r>
            <a:r>
              <a:rPr lang="en-US" sz="1200" dirty="0"/>
              <a:t> </a:t>
            </a:r>
            <a:r>
              <a:rPr lang="en-US" sz="1200" dirty="0" err="1"/>
              <a:t>theo</a:t>
            </a:r>
            <a:r>
              <a:rPr lang="en-US" sz="1200" dirty="0"/>
              <a:t> </a:t>
            </a:r>
            <a:r>
              <a:rPr lang="en-US" sz="1200" dirty="0" err="1"/>
              <a:t>cách</a:t>
            </a:r>
            <a:r>
              <a:rPr lang="en-US" sz="1200" dirty="0"/>
              <a:t> </a:t>
            </a:r>
            <a:r>
              <a:rPr lang="en-US" sz="1200" dirty="0" err="1"/>
              <a:t>thức</a:t>
            </a:r>
            <a:r>
              <a:rPr lang="en-US" sz="1200" dirty="0"/>
              <a:t> </a:t>
            </a:r>
            <a:r>
              <a:rPr lang="en-US" sz="1200" dirty="0" err="1"/>
              <a:t>riêng</a:t>
            </a:r>
            <a:r>
              <a:rPr lang="en-US" sz="1200" dirty="0"/>
              <a:t> </a:t>
            </a:r>
            <a:r>
              <a:rPr lang="en-US" sz="1200" dirty="0" err="1"/>
              <a:t>của</a:t>
            </a:r>
            <a:r>
              <a:rPr lang="en-US" sz="1200" dirty="0"/>
              <a:t> </a:t>
            </a:r>
            <a:r>
              <a:rPr lang="en-US" sz="1200" dirty="0" err="1"/>
              <a:t>từng</a:t>
            </a:r>
            <a:r>
              <a:rPr lang="en-US" sz="1200" dirty="0"/>
              <a:t> </a:t>
            </a:r>
            <a:r>
              <a:rPr lang="en-US" sz="1200" dirty="0" err="1"/>
              <a:t>lớp</a:t>
            </a:r>
            <a:r>
              <a:rPr lang="en-US" sz="1200" dirty="0"/>
              <a:t>.</a:t>
            </a:r>
          </a:p>
          <a:p>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t>77</a:t>
            </a:fld>
            <a:endParaRPr lang="vi-VN"/>
          </a:p>
        </p:txBody>
      </p:sp>
    </p:spTree>
    <p:extLst>
      <p:ext uri="{BB962C8B-B14F-4D97-AF65-F5344CB8AC3E}">
        <p14:creationId xmlns:p14="http://schemas.microsoft.com/office/powerpoint/2010/main" val="20894251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t>
            </a:r>
            <a:r>
              <a:rPr lang="en-US" dirty="0" err="1"/>
              <a:t>lớp</a:t>
            </a:r>
            <a:r>
              <a:rPr lang="en-US" dirty="0"/>
              <a:t> abstract </a:t>
            </a:r>
            <a:r>
              <a:rPr lang="en-US" dirty="0" err="1"/>
              <a:t>bắt</a:t>
            </a:r>
            <a:r>
              <a:rPr lang="en-US" dirty="0"/>
              <a:t> </a:t>
            </a:r>
            <a:r>
              <a:rPr lang="en-US" dirty="0" err="1"/>
              <a:t>buộc</a:t>
            </a:r>
            <a:r>
              <a:rPr lang="en-US" dirty="0"/>
              <a:t> </a:t>
            </a:r>
            <a:r>
              <a:rPr lang="en-US" dirty="0" err="1"/>
              <a:t>phải</a:t>
            </a:r>
            <a:r>
              <a:rPr lang="en-US" dirty="0"/>
              <a:t> </a:t>
            </a:r>
            <a:r>
              <a:rPr lang="en-US" dirty="0" err="1"/>
              <a:t>có</a:t>
            </a:r>
            <a:r>
              <a:rPr lang="en-US" dirty="0"/>
              <a:t> 1 </a:t>
            </a:r>
            <a:r>
              <a:rPr lang="en-US" dirty="0" err="1"/>
              <a:t>phương</a:t>
            </a:r>
            <a:r>
              <a:rPr lang="en-US" dirty="0"/>
              <a:t> </a:t>
            </a:r>
            <a:r>
              <a:rPr lang="en-US" dirty="0" err="1"/>
              <a:t>thức</a:t>
            </a:r>
            <a:r>
              <a:rPr lang="en-US" dirty="0"/>
              <a:t> abstract, </a:t>
            </a:r>
            <a:r>
              <a:rPr lang="en-US" dirty="0" err="1"/>
              <a:t>chỉ</a:t>
            </a:r>
            <a:r>
              <a:rPr lang="en-US" dirty="0"/>
              <a:t> </a:t>
            </a:r>
            <a:r>
              <a:rPr lang="en-US" dirty="0" err="1"/>
              <a:t>có</a:t>
            </a:r>
            <a:r>
              <a:rPr lang="en-US" dirty="0"/>
              <a:t> </a:t>
            </a:r>
            <a:r>
              <a:rPr lang="en-US" dirty="0" err="1"/>
              <a:t>phần</a:t>
            </a:r>
            <a:r>
              <a:rPr lang="en-US" dirty="0"/>
              <a:t> </a:t>
            </a:r>
            <a:r>
              <a:rPr lang="en-US" dirty="0" err="1"/>
              <a:t>khai</a:t>
            </a:r>
            <a:r>
              <a:rPr lang="en-US" dirty="0"/>
              <a:t> </a:t>
            </a:r>
            <a:r>
              <a:rPr lang="en-US" dirty="0" err="1"/>
              <a:t>báo</a:t>
            </a:r>
            <a:r>
              <a:rPr lang="en-US" dirty="0"/>
              <a:t>, ko </a:t>
            </a:r>
            <a:r>
              <a:rPr lang="en-US" dirty="0" err="1"/>
              <a:t>cần</a:t>
            </a:r>
            <a:r>
              <a:rPr lang="en-US" dirty="0"/>
              <a:t> </a:t>
            </a:r>
            <a:r>
              <a:rPr lang="en-US" dirty="0" err="1"/>
              <a:t>khai</a:t>
            </a:r>
            <a:r>
              <a:rPr lang="en-US" dirty="0"/>
              <a:t> </a:t>
            </a:r>
            <a:r>
              <a:rPr lang="en-US" dirty="0" err="1"/>
              <a:t>báo</a:t>
            </a:r>
            <a:r>
              <a:rPr lang="en-US" dirty="0"/>
              <a:t> </a:t>
            </a:r>
            <a:r>
              <a:rPr lang="en-US" dirty="0" err="1"/>
              <a:t>nội</a:t>
            </a:r>
            <a:r>
              <a:rPr lang="en-US" dirty="0"/>
              <a:t> dung </a:t>
            </a:r>
            <a:r>
              <a:rPr lang="en-US" dirty="0" err="1"/>
              <a:t>bên</a:t>
            </a:r>
            <a:r>
              <a:rPr lang="en-US" dirty="0"/>
              <a:t> </a:t>
            </a:r>
            <a:r>
              <a:rPr lang="en-US" dirty="0" err="1"/>
              <a:t>trong</a:t>
            </a:r>
            <a:endParaRPr lang="en-US" dirty="0"/>
          </a:p>
          <a:p>
            <a:r>
              <a:rPr lang="en-US" dirty="0" err="1"/>
              <a:t>Phạm</a:t>
            </a:r>
            <a:r>
              <a:rPr lang="en-US" dirty="0"/>
              <a:t> vi </a:t>
            </a:r>
            <a:r>
              <a:rPr lang="en-US" dirty="0" err="1"/>
              <a:t>truy</a:t>
            </a:r>
            <a:r>
              <a:rPr lang="en-US" dirty="0"/>
              <a:t> </a:t>
            </a:r>
            <a:r>
              <a:rPr lang="en-US" dirty="0" err="1"/>
              <a:t>cập</a:t>
            </a:r>
            <a:r>
              <a:rPr lang="en-US" dirty="0"/>
              <a:t> </a:t>
            </a:r>
            <a:r>
              <a:rPr lang="en-US" dirty="0" err="1"/>
              <a:t>của</a:t>
            </a:r>
            <a:r>
              <a:rPr lang="en-US" dirty="0"/>
              <a:t> </a:t>
            </a:r>
            <a:r>
              <a:rPr lang="en-US" dirty="0" err="1"/>
              <a:t>phương</a:t>
            </a:r>
            <a:r>
              <a:rPr lang="en-US" dirty="0"/>
              <a:t> </a:t>
            </a:r>
            <a:r>
              <a:rPr lang="en-US" dirty="0" err="1"/>
              <a:t>thức</a:t>
            </a:r>
            <a:r>
              <a:rPr lang="en-US" dirty="0"/>
              <a:t> </a:t>
            </a:r>
            <a:r>
              <a:rPr lang="en-US" dirty="0" err="1"/>
              <a:t>trong</a:t>
            </a:r>
            <a:r>
              <a:rPr lang="en-US" dirty="0"/>
              <a:t> abstract </a:t>
            </a:r>
            <a:r>
              <a:rPr lang="en-US" dirty="0" err="1"/>
              <a:t>phải</a:t>
            </a:r>
            <a:r>
              <a:rPr lang="en-US" dirty="0"/>
              <a:t> </a:t>
            </a:r>
            <a:r>
              <a:rPr lang="en-US" dirty="0" err="1"/>
              <a:t>để</a:t>
            </a:r>
            <a:r>
              <a:rPr lang="en-US" dirty="0"/>
              <a:t> public </a:t>
            </a:r>
            <a:r>
              <a:rPr lang="en-US" dirty="0" err="1"/>
              <a:t>vì</a:t>
            </a:r>
            <a:r>
              <a:rPr lang="en-US" dirty="0"/>
              <a:t> </a:t>
            </a:r>
            <a:r>
              <a:rPr lang="en-US" dirty="0" err="1"/>
              <a:t>để</a:t>
            </a:r>
            <a:r>
              <a:rPr lang="en-US" dirty="0"/>
              <a:t> </a:t>
            </a:r>
            <a:r>
              <a:rPr lang="en-US" dirty="0" err="1"/>
              <a:t>lớp</a:t>
            </a:r>
            <a:r>
              <a:rPr lang="en-US" dirty="0"/>
              <a:t> con </a:t>
            </a:r>
            <a:r>
              <a:rPr lang="en-US" dirty="0" err="1"/>
              <a:t>kế</a:t>
            </a:r>
            <a:r>
              <a:rPr lang="en-US" dirty="0"/>
              <a:t> </a:t>
            </a:r>
            <a:r>
              <a:rPr lang="en-US" dirty="0" err="1"/>
              <a:t>thừa</a:t>
            </a:r>
            <a:r>
              <a:rPr lang="en-US" dirty="0"/>
              <a:t> </a:t>
            </a:r>
            <a:r>
              <a:rPr lang="en-US" dirty="0" err="1"/>
              <a:t>lớp</a:t>
            </a:r>
            <a:r>
              <a:rPr lang="en-US" dirty="0"/>
              <a:t> abstract </a:t>
            </a:r>
            <a:r>
              <a:rPr lang="en-US" dirty="0" err="1"/>
              <a:t>có</a:t>
            </a:r>
            <a:r>
              <a:rPr lang="en-US" dirty="0"/>
              <a:t> </a:t>
            </a:r>
            <a:r>
              <a:rPr lang="en-US" dirty="0" err="1"/>
              <a:t>thể</a:t>
            </a:r>
            <a:r>
              <a:rPr lang="en-US" dirty="0"/>
              <a:t> </a:t>
            </a:r>
            <a:r>
              <a:rPr lang="en-US" dirty="0" err="1"/>
              <a:t>hiện</a:t>
            </a:r>
            <a:r>
              <a:rPr lang="en-US" dirty="0"/>
              <a:t> </a:t>
            </a:r>
            <a:r>
              <a:rPr lang="en-US" dirty="0" err="1"/>
              <a:t>thực</a:t>
            </a:r>
            <a:r>
              <a:rPr lang="en-US" dirty="0"/>
              <a:t> </a:t>
            </a:r>
            <a:r>
              <a:rPr lang="en-US" dirty="0" err="1"/>
              <a:t>lại</a:t>
            </a:r>
            <a:r>
              <a:rPr lang="en-US" dirty="0"/>
              <a:t> dc, </a:t>
            </a:r>
            <a:r>
              <a:rPr lang="en-US" dirty="0" err="1"/>
              <a:t>nếu</a:t>
            </a:r>
            <a:r>
              <a:rPr lang="en-US" dirty="0"/>
              <a:t> </a:t>
            </a:r>
            <a:r>
              <a:rPr lang="en-US" dirty="0" err="1"/>
              <a:t>để</a:t>
            </a:r>
            <a:r>
              <a:rPr lang="en-US" dirty="0"/>
              <a:t> private thì ko </a:t>
            </a:r>
            <a:r>
              <a:rPr lang="en-US" dirty="0" err="1"/>
              <a:t>truy</a:t>
            </a:r>
            <a:r>
              <a:rPr lang="en-US" dirty="0"/>
              <a:t> </a:t>
            </a:r>
            <a:r>
              <a:rPr lang="en-US" dirty="0" err="1"/>
              <a:t>cập</a:t>
            </a:r>
            <a:r>
              <a:rPr lang="en-US" dirty="0"/>
              <a:t> </a:t>
            </a:r>
            <a:r>
              <a:rPr lang="en-US" dirty="0" err="1"/>
              <a:t>để</a:t>
            </a:r>
            <a:r>
              <a:rPr lang="en-US" dirty="0"/>
              <a:t> </a:t>
            </a:r>
            <a:r>
              <a:rPr lang="en-US" dirty="0" err="1"/>
              <a:t>hiện</a:t>
            </a:r>
            <a:r>
              <a:rPr lang="en-US" dirty="0"/>
              <a:t> </a:t>
            </a:r>
            <a:r>
              <a:rPr lang="en-US" dirty="0" err="1"/>
              <a:t>thực</a:t>
            </a:r>
            <a:r>
              <a:rPr lang="en-US" dirty="0"/>
              <a:t> dc.</a:t>
            </a:r>
          </a:p>
          <a:p>
            <a:endParaRPr lang="en-US" dirty="0"/>
          </a:p>
          <a:p>
            <a:r>
              <a:rPr lang="en-US" dirty="0"/>
              <a:t>https://www.youtube.com/watch?v=Li3wgruDbmY</a:t>
            </a:r>
          </a:p>
        </p:txBody>
      </p:sp>
      <p:sp>
        <p:nvSpPr>
          <p:cNvPr id="4" name="Slide Number Placeholder 3"/>
          <p:cNvSpPr>
            <a:spLocks noGrp="1"/>
          </p:cNvSpPr>
          <p:nvPr>
            <p:ph type="sldNum" sz="quarter" idx="5"/>
          </p:nvPr>
        </p:nvSpPr>
        <p:spPr/>
        <p:txBody>
          <a:bodyPr/>
          <a:lstStyle/>
          <a:p>
            <a:fld id="{EEA7600A-770C-47F1-89C1-5023B6D362E3}" type="slidenum">
              <a:rPr lang="vi-VN" smtClean="0"/>
              <a:t>78</a:t>
            </a:fld>
            <a:endParaRPr lang="vi-VN"/>
          </a:p>
        </p:txBody>
      </p:sp>
    </p:spTree>
    <p:extLst>
      <p:ext uri="{BB962C8B-B14F-4D97-AF65-F5344CB8AC3E}">
        <p14:creationId xmlns:p14="http://schemas.microsoft.com/office/powerpoint/2010/main" val="10963248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Lớp</a:t>
            </a:r>
            <a:r>
              <a:rPr lang="en-US" dirty="0"/>
              <a:t> </a:t>
            </a:r>
            <a:r>
              <a:rPr lang="en-US" dirty="0" err="1"/>
              <a:t>kế</a:t>
            </a:r>
            <a:r>
              <a:rPr lang="en-US" dirty="0"/>
              <a:t> </a:t>
            </a:r>
            <a:r>
              <a:rPr lang="en-US" dirty="0" err="1"/>
              <a:t>thừa</a:t>
            </a:r>
            <a:r>
              <a:rPr lang="en-US" dirty="0"/>
              <a:t> </a:t>
            </a:r>
            <a:r>
              <a:rPr lang="en-US" dirty="0" err="1"/>
              <a:t>từ</a:t>
            </a:r>
            <a:r>
              <a:rPr lang="en-US" dirty="0"/>
              <a:t> abstract là tam </a:t>
            </a:r>
            <a:r>
              <a:rPr lang="en-US" dirty="0" err="1"/>
              <a:t>giác</a:t>
            </a:r>
            <a:endParaRPr lang="en-US" dirty="0"/>
          </a:p>
          <a:p>
            <a:r>
              <a:rPr lang="en-US" dirty="0" err="1"/>
              <a:t>Phương</a:t>
            </a:r>
            <a:r>
              <a:rPr lang="en-US" dirty="0"/>
              <a:t> </a:t>
            </a:r>
            <a:r>
              <a:rPr lang="en-US" dirty="0" err="1"/>
              <a:t>thức</a:t>
            </a:r>
            <a:r>
              <a:rPr lang="en-US" dirty="0"/>
              <a:t> </a:t>
            </a:r>
            <a:r>
              <a:rPr lang="en-US" dirty="0" err="1"/>
              <a:t>kế</a:t>
            </a:r>
            <a:r>
              <a:rPr lang="en-US" dirty="0"/>
              <a:t> </a:t>
            </a:r>
            <a:r>
              <a:rPr lang="en-US" dirty="0" err="1"/>
              <a:t>thừa</a:t>
            </a:r>
            <a:r>
              <a:rPr lang="en-US" dirty="0"/>
              <a:t> </a:t>
            </a:r>
            <a:r>
              <a:rPr lang="en-US" dirty="0" err="1"/>
              <a:t>từ</a:t>
            </a:r>
            <a:r>
              <a:rPr lang="en-US" dirty="0"/>
              <a:t> </a:t>
            </a:r>
            <a:r>
              <a:rPr lang="en-US" dirty="0" err="1"/>
              <a:t>lớp</a:t>
            </a:r>
            <a:r>
              <a:rPr lang="en-US" dirty="0"/>
              <a:t> </a:t>
            </a:r>
            <a:r>
              <a:rPr lang="en-US" dirty="0" err="1"/>
              <a:t>kế</a:t>
            </a:r>
            <a:r>
              <a:rPr lang="en-US" dirty="0"/>
              <a:t> </a:t>
            </a:r>
            <a:r>
              <a:rPr lang="en-US" dirty="0" err="1"/>
              <a:t>thừa</a:t>
            </a:r>
            <a:r>
              <a:rPr lang="en-US" dirty="0"/>
              <a:t> </a:t>
            </a:r>
            <a:r>
              <a:rPr lang="en-US" dirty="0" err="1"/>
              <a:t>phải</a:t>
            </a:r>
            <a:r>
              <a:rPr lang="en-US" dirty="0"/>
              <a:t> </a:t>
            </a:r>
            <a:r>
              <a:rPr lang="en-US" dirty="0" err="1"/>
              <a:t>có</a:t>
            </a:r>
            <a:r>
              <a:rPr lang="en-US" dirty="0"/>
              <a:t> override</a:t>
            </a:r>
          </a:p>
        </p:txBody>
      </p:sp>
      <p:sp>
        <p:nvSpPr>
          <p:cNvPr id="4" name="Slide Number Placeholder 3"/>
          <p:cNvSpPr>
            <a:spLocks noGrp="1"/>
          </p:cNvSpPr>
          <p:nvPr>
            <p:ph type="sldNum" sz="quarter" idx="5"/>
          </p:nvPr>
        </p:nvSpPr>
        <p:spPr/>
        <p:txBody>
          <a:bodyPr/>
          <a:lstStyle/>
          <a:p>
            <a:fld id="{EEA7600A-770C-47F1-89C1-5023B6D362E3}" type="slidenum">
              <a:rPr lang="vi-VN" smtClean="0"/>
              <a:t>79</a:t>
            </a:fld>
            <a:endParaRPr lang="vi-VN"/>
          </a:p>
        </p:txBody>
      </p:sp>
    </p:spTree>
    <p:extLst>
      <p:ext uri="{BB962C8B-B14F-4D97-AF65-F5344CB8AC3E}">
        <p14:creationId xmlns:p14="http://schemas.microsoft.com/office/powerpoint/2010/main" val="6817124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Trong</a:t>
            </a:r>
            <a:r>
              <a:rPr lang="en-US" dirty="0"/>
              <a:t> </a:t>
            </a:r>
            <a:r>
              <a:rPr lang="en-US" dirty="0" err="1"/>
              <a:t>hàm</a:t>
            </a:r>
            <a:r>
              <a:rPr lang="en-US" dirty="0"/>
              <a:t> Main, ko </a:t>
            </a:r>
            <a:r>
              <a:rPr lang="en-US" dirty="0" err="1"/>
              <a:t>thể</a:t>
            </a:r>
            <a:r>
              <a:rPr lang="en-US" dirty="0"/>
              <a:t> </a:t>
            </a:r>
            <a:r>
              <a:rPr lang="en-US" dirty="0" err="1"/>
              <a:t>tạo</a:t>
            </a:r>
            <a:r>
              <a:rPr lang="en-US" dirty="0"/>
              <a:t> ra 1 </a:t>
            </a:r>
            <a:r>
              <a:rPr lang="en-US" dirty="0" err="1"/>
              <a:t>đối</a:t>
            </a:r>
            <a:r>
              <a:rPr lang="en-US" dirty="0"/>
              <a:t> </a:t>
            </a:r>
            <a:r>
              <a:rPr lang="en-US" dirty="0" err="1"/>
              <a:t>tượng</a:t>
            </a:r>
            <a:r>
              <a:rPr lang="en-US" dirty="0"/>
              <a:t> </a:t>
            </a:r>
            <a:r>
              <a:rPr lang="en-US" dirty="0" err="1"/>
              <a:t>từ</a:t>
            </a:r>
            <a:r>
              <a:rPr lang="en-US" dirty="0"/>
              <a:t> </a:t>
            </a:r>
            <a:r>
              <a:rPr lang="en-US" dirty="0" err="1"/>
              <a:t>lớp</a:t>
            </a:r>
            <a:r>
              <a:rPr lang="en-US" dirty="0"/>
              <a:t> </a:t>
            </a:r>
            <a:r>
              <a:rPr lang="en-US" dirty="0" err="1"/>
              <a:t>HinhHoc</a:t>
            </a:r>
            <a:r>
              <a:rPr lang="en-US" dirty="0"/>
              <a:t>, </a:t>
            </a:r>
            <a:r>
              <a:rPr lang="en-US" dirty="0" err="1"/>
              <a:t>chỉ</a:t>
            </a:r>
            <a:r>
              <a:rPr lang="en-US" dirty="0"/>
              <a:t> </a:t>
            </a:r>
            <a:r>
              <a:rPr lang="en-US" dirty="0" err="1"/>
              <a:t>có</a:t>
            </a:r>
            <a:r>
              <a:rPr lang="en-US" dirty="0"/>
              <a:t> </a:t>
            </a:r>
            <a:r>
              <a:rPr lang="en-US" dirty="0" err="1"/>
              <a:t>thể</a:t>
            </a:r>
            <a:r>
              <a:rPr lang="en-US" dirty="0"/>
              <a:t> </a:t>
            </a:r>
            <a:r>
              <a:rPr lang="en-US" dirty="0" err="1"/>
              <a:t>tạo</a:t>
            </a:r>
            <a:r>
              <a:rPr lang="en-US" dirty="0"/>
              <a:t> ra </a:t>
            </a:r>
            <a:r>
              <a:rPr lang="en-US" dirty="0" err="1"/>
              <a:t>đối</a:t>
            </a:r>
            <a:r>
              <a:rPr lang="en-US" dirty="0"/>
              <a:t> </a:t>
            </a:r>
            <a:r>
              <a:rPr lang="en-US" dirty="0" err="1"/>
              <a:t>tượng</a:t>
            </a:r>
            <a:r>
              <a:rPr lang="en-US" dirty="0"/>
              <a:t> </a:t>
            </a:r>
            <a:r>
              <a:rPr lang="en-US" dirty="0" err="1"/>
              <a:t>từ</a:t>
            </a:r>
            <a:r>
              <a:rPr lang="en-US" dirty="0"/>
              <a:t> </a:t>
            </a:r>
            <a:r>
              <a:rPr lang="en-US" dirty="0" err="1"/>
              <a:t>lớp</a:t>
            </a:r>
            <a:r>
              <a:rPr lang="en-US" dirty="0"/>
              <a:t> con: </a:t>
            </a:r>
            <a:r>
              <a:rPr lang="en-US" dirty="0" err="1"/>
              <a:t>TamGiac</a:t>
            </a:r>
            <a:r>
              <a:rPr lang="en-US" dirty="0"/>
              <a:t> hay </a:t>
            </a:r>
            <a:r>
              <a:rPr lang="en-US" dirty="0" err="1"/>
              <a:t>HinhChuNhat</a:t>
            </a:r>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t>81</a:t>
            </a:fld>
            <a:endParaRPr lang="vi-VN"/>
          </a:p>
        </p:txBody>
      </p:sp>
    </p:spTree>
    <p:extLst>
      <p:ext uri="{BB962C8B-B14F-4D97-AF65-F5344CB8AC3E}">
        <p14:creationId xmlns:p14="http://schemas.microsoft.com/office/powerpoint/2010/main" val="402722311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vi-VN" b="1" i="0" dirty="0">
                <a:solidFill>
                  <a:srgbClr val="333333"/>
                </a:solidFill>
                <a:effectLst/>
                <a:latin typeface="Muli"/>
              </a:rPr>
              <a:t>2. Khi nào sử dụng Abstract và Interface?</a:t>
            </a:r>
          </a:p>
          <a:p>
            <a:pPr algn="just"/>
            <a:r>
              <a:rPr lang="vi-VN" b="0" i="0" dirty="0">
                <a:solidFill>
                  <a:srgbClr val="333333"/>
                </a:solidFill>
                <a:effectLst/>
                <a:latin typeface="Muli"/>
              </a:rPr>
              <a:t>Như đã nói ở trên thì Interface có hỗ trợ đa kế thừa còn Abstract thì lại không. Ngoài ra thì còn một trường hợp nữa, bạn xem ví dụ sau nha:</a:t>
            </a:r>
            <a:br>
              <a:rPr lang="vi-VN" b="0" i="0" dirty="0">
                <a:solidFill>
                  <a:srgbClr val="333333"/>
                </a:solidFill>
                <a:effectLst/>
                <a:latin typeface="Muli"/>
              </a:rPr>
            </a:br>
            <a:r>
              <a:rPr lang="vi-VN" b="1" i="0" dirty="0">
                <a:solidFill>
                  <a:srgbClr val="333333"/>
                </a:solidFill>
                <a:effectLst/>
                <a:latin typeface="Muli"/>
              </a:rPr>
              <a:t>Bài toán:</a:t>
            </a:r>
            <a:r>
              <a:rPr lang="vi-VN" b="0" i="0" dirty="0">
                <a:solidFill>
                  <a:srgbClr val="333333"/>
                </a:solidFill>
                <a:effectLst/>
                <a:latin typeface="Muli"/>
              </a:rPr>
              <a:t> Bạn cần phải tạo ra một vườn thú gồm có các con vật sau: Chó, Mèo, Chim và Cá. Mỗi loài vật đều có điểm chung như có tên, tiếng kêu nhưng cũng có điểm riêng như bơi, bay, chạy.</a:t>
            </a:r>
          </a:p>
          <a:p>
            <a:pPr algn="just"/>
            <a:r>
              <a:rPr lang="vi-VN" b="0" i="0" dirty="0">
                <a:solidFill>
                  <a:srgbClr val="333333"/>
                </a:solidFill>
                <a:effectLst/>
                <a:latin typeface="Muli"/>
              </a:rPr>
              <a:t>Vậy ta nên giải quyết vấn đề này như nào bây giờ? Chả nhẽ lại viết một Class Animal cha rồi ở mỗi Class con thì sẽ viết từng điểm riêng cho nó sao?</a:t>
            </a:r>
          </a:p>
          <a:p>
            <a:pPr algn="just"/>
            <a:r>
              <a:rPr lang="vi-VN" b="0" i="0" dirty="0">
                <a:solidFill>
                  <a:srgbClr val="333333"/>
                </a:solidFill>
                <a:effectLst/>
                <a:latin typeface="Muli"/>
              </a:rPr>
              <a:t>Vậy thì rối quá, nếu như có nhiều thuộc tính hơn nữa thì bạn sẽ khó xác định được chúng thuộc chức năng nào</a:t>
            </a:r>
          </a:p>
          <a:p>
            <a:pPr algn="just"/>
            <a:r>
              <a:rPr lang="vi-VN" b="0" i="0" dirty="0">
                <a:solidFill>
                  <a:srgbClr val="333333"/>
                </a:solidFill>
                <a:effectLst/>
                <a:latin typeface="Muli"/>
              </a:rPr>
              <a:t>Nhưng chúng ta hãy phân tích lại nhé :) Mỗi loài vật đều có những điểm chung cố định, vậy nên chúng ta sẽ cho nó vào 1 Abstract class. Còn các điểm riêng thì sao? Đây chính là lúc mà Interface phát huy tác dụng, nó dùng các </a:t>
            </a:r>
            <a:r>
              <a:rPr lang="vi-VN" b="1" i="0" dirty="0">
                <a:solidFill>
                  <a:srgbClr val="333333"/>
                </a:solidFill>
                <a:effectLst/>
                <a:latin typeface="Muli"/>
              </a:rPr>
              <a:t>chức năng</a:t>
            </a:r>
            <a:r>
              <a:rPr lang="vi-VN" b="0" i="0" dirty="0">
                <a:solidFill>
                  <a:srgbClr val="333333"/>
                </a:solidFill>
                <a:effectLst/>
                <a:latin typeface="Muli"/>
              </a:rPr>
              <a:t> mà :) Nên chúng ta có thể sử dụng chúng để thiết kế cho từng chức năng Chạy, Bơi, Bay, ... Rồi implements cho từng Class riêng biệt. Điều này cũng có thể giải quyết cho những loài vật có nhiều khả năng như cả chạy cả bay.</a:t>
            </a:r>
          </a:p>
          <a:p>
            <a:r>
              <a:rPr lang="en-US" dirty="0"/>
              <a:t>https://codelearn.io/sharing/cau-hoi-thuong-gap-khi-lam-quen-voi-oop</a:t>
            </a:r>
          </a:p>
        </p:txBody>
      </p:sp>
      <p:sp>
        <p:nvSpPr>
          <p:cNvPr id="4" name="Slide Number Placeholder 3"/>
          <p:cNvSpPr>
            <a:spLocks noGrp="1"/>
          </p:cNvSpPr>
          <p:nvPr>
            <p:ph type="sldNum" sz="quarter" idx="5"/>
          </p:nvPr>
        </p:nvSpPr>
        <p:spPr/>
        <p:txBody>
          <a:bodyPr/>
          <a:lstStyle/>
          <a:p>
            <a:fld id="{EEA7600A-770C-47F1-89C1-5023B6D362E3}" type="slidenum">
              <a:rPr lang="vi-VN" smtClean="0"/>
              <a:t>82</a:t>
            </a:fld>
            <a:endParaRPr lang="vi-VN"/>
          </a:p>
        </p:txBody>
      </p:sp>
    </p:spTree>
    <p:extLst>
      <p:ext uri="{BB962C8B-B14F-4D97-AF65-F5344CB8AC3E}">
        <p14:creationId xmlns:p14="http://schemas.microsoft.com/office/powerpoint/2010/main" val="241187799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000000"/>
                </a:solidFill>
                <a:effectLst/>
                <a:latin typeface="inherit"/>
              </a:rPr>
              <a:t>https://www.quantrimaytinh.com/2020/05/interface-trong-c.html</a:t>
            </a:r>
          </a:p>
          <a:p>
            <a:r>
              <a:rPr lang="vi-VN" b="1" i="0" dirty="0">
                <a:solidFill>
                  <a:srgbClr val="000000"/>
                </a:solidFill>
                <a:effectLst/>
                <a:latin typeface="inherit"/>
              </a:rPr>
              <a:t>Đặc điểm của Interface</a:t>
            </a:r>
            <a:br>
              <a:rPr lang="vi-VN" dirty="0"/>
            </a:br>
            <a:r>
              <a:rPr lang="vi-VN" b="0" i="0" dirty="0">
                <a:solidFill>
                  <a:srgbClr val="000000"/>
                </a:solidFill>
                <a:effectLst/>
                <a:latin typeface="arial" panose="020B0604020202020204" pitchFamily="34" charset="0"/>
              </a:rPr>
              <a:t>- </a:t>
            </a:r>
            <a:r>
              <a:rPr lang="vi-VN" b="1" i="0" dirty="0">
                <a:solidFill>
                  <a:srgbClr val="000000"/>
                </a:solidFill>
                <a:effectLst/>
                <a:latin typeface="inherit"/>
              </a:rPr>
              <a:t>Interface</a:t>
            </a:r>
            <a:r>
              <a:rPr lang="vi-VN" b="0" i="0" dirty="0">
                <a:solidFill>
                  <a:srgbClr val="000000"/>
                </a:solidFill>
                <a:effectLst/>
                <a:latin typeface="arial" panose="020B0604020202020204" pitchFamily="34" charset="0"/>
              </a:rPr>
              <a:t> không chứa các thuộc tính (các biến) dù là hằng số hay biến tĩnh vẫn không được.</a:t>
            </a:r>
            <a:br>
              <a:rPr lang="vi-VN" dirty="0"/>
            </a:br>
            <a:r>
              <a:rPr lang="vi-VN" b="0" i="0" dirty="0">
                <a:solidFill>
                  <a:srgbClr val="000000"/>
                </a:solidFill>
                <a:effectLst/>
                <a:latin typeface="arial" panose="020B0604020202020204" pitchFamily="34" charset="0"/>
              </a:rPr>
              <a:t>- </a:t>
            </a:r>
            <a:r>
              <a:rPr lang="vi-VN" b="1" i="0" dirty="0">
                <a:solidFill>
                  <a:srgbClr val="000000"/>
                </a:solidFill>
                <a:effectLst/>
                <a:latin typeface="inherit"/>
              </a:rPr>
              <a:t>Interface</a:t>
            </a:r>
            <a:r>
              <a:rPr lang="vi-VN" b="0" i="0" dirty="0">
                <a:solidFill>
                  <a:srgbClr val="000000"/>
                </a:solidFill>
                <a:effectLst/>
                <a:latin typeface="arial" panose="020B0604020202020204" pitchFamily="34" charset="0"/>
              </a:rPr>
              <a:t> không có hàm khởi tạo và hàm hủy.</a:t>
            </a:r>
            <a:br>
              <a:rPr lang="vi-VN" dirty="0"/>
            </a:br>
            <a:r>
              <a:rPr lang="vi-VN" b="0" i="0" dirty="0">
                <a:solidFill>
                  <a:srgbClr val="000000"/>
                </a:solidFill>
                <a:effectLst/>
                <a:latin typeface="arial" panose="020B0604020202020204" pitchFamily="34" charset="0"/>
              </a:rPr>
              <a:t>- Các lớp có thể thực thi nhiều </a:t>
            </a:r>
            <a:r>
              <a:rPr lang="vi-VN" b="1" i="0" dirty="0">
                <a:solidFill>
                  <a:srgbClr val="000000"/>
                </a:solidFill>
                <a:effectLst/>
                <a:latin typeface="inherit"/>
              </a:rPr>
              <a:t>interface</a:t>
            </a:r>
            <a:r>
              <a:rPr lang="vi-VN" b="0" i="0" dirty="0">
                <a:solidFill>
                  <a:srgbClr val="000000"/>
                </a:solidFill>
                <a:effectLst/>
                <a:latin typeface="arial" panose="020B0604020202020204" pitchFamily="34" charset="0"/>
              </a:rPr>
              <a:t> cùng lúc, đây là giải pháp thay thế đa kế thừa.</a:t>
            </a:r>
            <a:br>
              <a:rPr lang="vi-VN" dirty="0"/>
            </a:br>
            <a:r>
              <a:rPr lang="vi-VN" b="0" i="0" dirty="0">
                <a:solidFill>
                  <a:srgbClr val="000000"/>
                </a:solidFill>
                <a:effectLst/>
                <a:latin typeface="arial" panose="020B0604020202020204" pitchFamily="34" charset="0"/>
              </a:rPr>
              <a:t>- Một</a:t>
            </a:r>
            <a:r>
              <a:rPr lang="vi-VN" b="1" i="0" dirty="0">
                <a:solidFill>
                  <a:srgbClr val="000000"/>
                </a:solidFill>
                <a:effectLst/>
                <a:latin typeface="inherit"/>
              </a:rPr>
              <a:t> interface</a:t>
            </a:r>
            <a:r>
              <a:rPr lang="vi-VN" b="0" i="0" dirty="0">
                <a:solidFill>
                  <a:srgbClr val="000000"/>
                </a:solidFill>
                <a:effectLst/>
                <a:latin typeface="arial" panose="020B0604020202020204" pitchFamily="34" charset="0"/>
              </a:rPr>
              <a:t> có thể kế thừa nhiều</a:t>
            </a:r>
            <a:r>
              <a:rPr lang="vi-VN" b="1" i="0" dirty="0">
                <a:solidFill>
                  <a:srgbClr val="000000"/>
                </a:solidFill>
                <a:effectLst/>
                <a:latin typeface="inherit"/>
              </a:rPr>
              <a:t> interface </a:t>
            </a:r>
            <a:r>
              <a:rPr lang="vi-VN" b="0" i="0" dirty="0">
                <a:solidFill>
                  <a:srgbClr val="000000"/>
                </a:solidFill>
                <a:effectLst/>
                <a:latin typeface="arial" panose="020B0604020202020204" pitchFamily="34" charset="0"/>
              </a:rPr>
              <a:t>khác nhưng không thể kế thừa bất kỳ lớp nào.</a:t>
            </a:r>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t>83</a:t>
            </a:fld>
            <a:endParaRPr lang="vi-VN"/>
          </a:p>
        </p:txBody>
      </p:sp>
    </p:spTree>
    <p:extLst>
      <p:ext uri="{BB962C8B-B14F-4D97-AF65-F5344CB8AC3E}">
        <p14:creationId xmlns:p14="http://schemas.microsoft.com/office/powerpoint/2010/main" val="15472135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https://www.quantrimaytinh.com/2020/05/interface-trong-c.html</a:t>
            </a:r>
          </a:p>
          <a:p>
            <a:r>
              <a:rPr lang="en-US" dirty="0" err="1"/>
              <a:t>Các</a:t>
            </a:r>
            <a:r>
              <a:rPr lang="en-US" dirty="0"/>
              <a:t> </a:t>
            </a:r>
            <a:r>
              <a:rPr lang="en-US" dirty="0" err="1"/>
              <a:t>thành</a:t>
            </a:r>
            <a:r>
              <a:rPr lang="en-US" dirty="0"/>
              <a:t> </a:t>
            </a:r>
            <a:r>
              <a:rPr lang="en-US" dirty="0" err="1"/>
              <a:t>phần</a:t>
            </a:r>
            <a:r>
              <a:rPr lang="en-US" dirty="0"/>
              <a:t> </a:t>
            </a:r>
            <a:r>
              <a:rPr lang="en-US" dirty="0" err="1"/>
              <a:t>trong</a:t>
            </a:r>
            <a:r>
              <a:rPr lang="en-US" dirty="0"/>
              <a:t> </a:t>
            </a:r>
            <a:r>
              <a:rPr lang="en-US" dirty="0" err="1"/>
              <a:t>giao</a:t>
            </a:r>
            <a:r>
              <a:rPr lang="en-US" dirty="0"/>
              <a:t> </a:t>
            </a:r>
            <a:r>
              <a:rPr lang="en-US" dirty="0" err="1"/>
              <a:t>diện</a:t>
            </a:r>
            <a:r>
              <a:rPr lang="en-US" dirty="0"/>
              <a:t> </a:t>
            </a:r>
            <a:r>
              <a:rPr lang="en-US" dirty="0" err="1"/>
              <a:t>mặc</a:t>
            </a:r>
            <a:r>
              <a:rPr lang="en-US" dirty="0"/>
              <a:t> </a:t>
            </a:r>
            <a:r>
              <a:rPr lang="en-US" dirty="0" err="1"/>
              <a:t>định</a:t>
            </a:r>
            <a:r>
              <a:rPr lang="en-US" dirty="0"/>
              <a:t> </a:t>
            </a:r>
            <a:r>
              <a:rPr lang="en-US" dirty="0" err="1"/>
              <a:t>đều</a:t>
            </a:r>
            <a:r>
              <a:rPr lang="en-US" dirty="0"/>
              <a:t> là public =&gt; </a:t>
            </a:r>
            <a:r>
              <a:rPr lang="en-US" dirty="0" err="1"/>
              <a:t>phương</a:t>
            </a:r>
            <a:r>
              <a:rPr lang="en-US" dirty="0"/>
              <a:t> </a:t>
            </a:r>
            <a:r>
              <a:rPr lang="en-US" dirty="0" err="1"/>
              <a:t>thức</a:t>
            </a:r>
            <a:r>
              <a:rPr lang="en-US" dirty="0"/>
              <a:t> void Jump() </a:t>
            </a:r>
            <a:r>
              <a:rPr lang="en-US" dirty="0" err="1"/>
              <a:t>nếu</a:t>
            </a:r>
            <a:r>
              <a:rPr lang="en-US" dirty="0"/>
              <a:t> </a:t>
            </a:r>
            <a:r>
              <a:rPr lang="en-US" dirty="0" err="1"/>
              <a:t>thêm</a:t>
            </a:r>
            <a:r>
              <a:rPr lang="en-US" dirty="0"/>
              <a:t> </a:t>
            </a:r>
            <a:r>
              <a:rPr lang="en-US" dirty="0" err="1"/>
              <a:t>chữ</a:t>
            </a:r>
            <a:r>
              <a:rPr lang="en-US" dirty="0"/>
              <a:t> public void Jump() thì </a:t>
            </a:r>
            <a:r>
              <a:rPr lang="en-US" dirty="0" err="1"/>
              <a:t>sẽ</a:t>
            </a:r>
            <a:r>
              <a:rPr lang="en-US" dirty="0"/>
              <a:t> </a:t>
            </a:r>
            <a:r>
              <a:rPr lang="en-US" dirty="0" err="1"/>
              <a:t>báo</a:t>
            </a:r>
            <a:r>
              <a:rPr lang="en-US" dirty="0"/>
              <a:t> </a:t>
            </a:r>
            <a:r>
              <a:rPr lang="en-US" dirty="0" err="1"/>
              <a:t>lỗi</a:t>
            </a:r>
            <a:endParaRPr lang="en-US" dirty="0"/>
          </a:p>
          <a:p>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t>85</a:t>
            </a:fld>
            <a:endParaRPr lang="vi-VN"/>
          </a:p>
        </p:txBody>
      </p:sp>
    </p:spTree>
    <p:extLst>
      <p:ext uri="{BB962C8B-B14F-4D97-AF65-F5344CB8AC3E}">
        <p14:creationId xmlns:p14="http://schemas.microsoft.com/office/powerpoint/2010/main" val="16538639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Phải có hàm tạo để khởi tạo số phần tử của mảng=0;</a:t>
            </a:r>
          </a:p>
        </p:txBody>
      </p:sp>
      <p:sp>
        <p:nvSpPr>
          <p:cNvPr id="4" name="Slide Number Placeholder 3"/>
          <p:cNvSpPr>
            <a:spLocks noGrp="1"/>
          </p:cNvSpPr>
          <p:nvPr>
            <p:ph type="sldNum" sz="quarter" idx="5"/>
          </p:nvPr>
        </p:nvSpPr>
        <p:spPr/>
        <p:txBody>
          <a:bodyPr/>
          <a:lstStyle/>
          <a:p>
            <a:fld id="{EEA7600A-770C-47F1-89C1-5023B6D362E3}" type="slidenum">
              <a:rPr lang="vi-VN" smtClean="0"/>
              <a:t>91</a:t>
            </a:fld>
            <a:endParaRPr lang="vi-VN"/>
          </a:p>
        </p:txBody>
      </p:sp>
    </p:spTree>
    <p:extLst>
      <p:ext uri="{BB962C8B-B14F-4D97-AF65-F5344CB8AC3E}">
        <p14:creationId xmlns:p14="http://schemas.microsoft.com/office/powerpoint/2010/main" val="16092159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b="0" i="0">
                <a:solidFill>
                  <a:srgbClr val="53585C"/>
                </a:solidFill>
                <a:effectLst/>
                <a:latin typeface="Monaco"/>
              </a:rPr>
              <a:t>public Student()</a:t>
            </a:r>
          </a:p>
          <a:p>
            <a:pPr algn="l" rtl="0" fontAlgn="base"/>
            <a:r>
              <a:rPr lang="en-US" b="0" i="0">
                <a:solidFill>
                  <a:srgbClr val="53585C"/>
                </a:solidFill>
                <a:effectLst/>
                <a:latin typeface="Monaco"/>
              </a:rPr>
              <a:t>{</a:t>
            </a:r>
          </a:p>
          <a:p>
            <a:pPr algn="l" rtl="0" fontAlgn="base"/>
            <a:r>
              <a:rPr lang="en-US" b="0" i="0">
                <a:solidFill>
                  <a:srgbClr val="53585C"/>
                </a:solidFill>
                <a:effectLst/>
                <a:latin typeface="Monaco"/>
              </a:rPr>
              <a:t>stuId = 0;</a:t>
            </a:r>
          </a:p>
          <a:p>
            <a:pPr algn="l" rtl="0" fontAlgn="base"/>
            <a:r>
              <a:rPr lang="en-US" b="0" i="0">
                <a:solidFill>
                  <a:srgbClr val="53585C"/>
                </a:solidFill>
                <a:effectLst/>
                <a:latin typeface="Monaco"/>
              </a:rPr>
              <a:t>name = string.Empty;</a:t>
            </a:r>
          </a:p>
          <a:p>
            <a:pPr algn="l" rtl="0" fontAlgn="base"/>
            <a:r>
              <a:rPr lang="en-US" b="0" i="0">
                <a:solidFill>
                  <a:srgbClr val="53585C"/>
                </a:solidFill>
                <a:effectLst/>
                <a:latin typeface="Monaco"/>
              </a:rPr>
              <a:t>}</a:t>
            </a:r>
          </a:p>
          <a:p>
            <a:endParaRPr lang="en-US"/>
          </a:p>
        </p:txBody>
      </p:sp>
      <p:sp>
        <p:nvSpPr>
          <p:cNvPr id="4" name="Slide Number Placeholder 3"/>
          <p:cNvSpPr>
            <a:spLocks noGrp="1"/>
          </p:cNvSpPr>
          <p:nvPr>
            <p:ph type="sldNum" sz="quarter" idx="5"/>
          </p:nvPr>
        </p:nvSpPr>
        <p:spPr/>
        <p:txBody>
          <a:bodyPr/>
          <a:lstStyle/>
          <a:p>
            <a:fld id="{EEA7600A-770C-47F1-89C1-5023B6D362E3}" type="slidenum">
              <a:rPr lang="vi-VN" smtClean="0"/>
              <a:t>92</a:t>
            </a:fld>
            <a:endParaRPr lang="vi-VN"/>
          </a:p>
        </p:txBody>
      </p:sp>
    </p:spTree>
    <p:extLst>
      <p:ext uri="{BB962C8B-B14F-4D97-AF65-F5344CB8AC3E}">
        <p14:creationId xmlns:p14="http://schemas.microsoft.com/office/powerpoint/2010/main" val="2577574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123" name="Rectangle 3"/>
          <p:cNvSpPr>
            <a:spLocks noGrp="1" noChangeArrowheads="1"/>
          </p:cNvSpPr>
          <p:nvPr>
            <p:ph type="subTitle" idx="1"/>
          </p:nvPr>
        </p:nvSpPr>
        <p:spPr>
          <a:xfrm>
            <a:off x="1295400" y="4495800"/>
            <a:ext cx="7010400" cy="990600"/>
          </a:xfrm>
        </p:spPr>
        <p:txBody>
          <a:bodyPr/>
          <a:lstStyle>
            <a:lvl1pPr marL="0" indent="0" algn="ctr">
              <a:buFont typeface="Wingdings" pitchFamily="2" charset="2"/>
              <a:buNone/>
              <a:defRPr sz="2200" b="1">
                <a:solidFill>
                  <a:srgbClr val="000066"/>
                </a:solidFill>
              </a:defRPr>
            </a:lvl1pPr>
          </a:lstStyle>
          <a:p>
            <a:r>
              <a:rPr lang="en-US" dirty="0"/>
              <a:t>Click to edit Master subtitle style</a:t>
            </a:r>
            <a:endParaRPr lang="en-GB" dirty="0"/>
          </a:p>
        </p:txBody>
      </p:sp>
      <p:sp>
        <p:nvSpPr>
          <p:cNvPr id="6" name="Rectangle 5"/>
          <p:cNvSpPr>
            <a:spLocks noGrp="1" noChangeArrowheads="1"/>
          </p:cNvSpPr>
          <p:nvPr>
            <p:ph type="dt" sz="half" idx="10"/>
          </p:nvPr>
        </p:nvSpPr>
        <p:spPr>
          <a:xfrm>
            <a:off x="685800" y="6248400"/>
            <a:ext cx="1905000" cy="457200"/>
          </a:xfrm>
        </p:spPr>
        <p:txBody>
          <a:bodyPr/>
          <a:lstStyle>
            <a:lvl1pPr>
              <a:defRPr smtClean="0"/>
            </a:lvl1pPr>
          </a:lstStyle>
          <a:p>
            <a:fld id="{D04CCED5-B784-4A0E-86D1-755D6A8BDAEE}" type="datetime1">
              <a:rPr lang="vi-VN" smtClean="0"/>
              <a:t>04/02/2025</a:t>
            </a:fld>
            <a:endParaRPr lang="vi-VN"/>
          </a:p>
        </p:txBody>
      </p:sp>
      <p:sp>
        <p:nvSpPr>
          <p:cNvPr id="7" name="Rectangle 6"/>
          <p:cNvSpPr>
            <a:spLocks noGrp="1" noChangeArrowheads="1"/>
          </p:cNvSpPr>
          <p:nvPr>
            <p:ph type="ftr" sz="quarter" idx="11"/>
          </p:nvPr>
        </p:nvSpPr>
        <p:spPr>
          <a:xfrm>
            <a:off x="2643188" y="6248400"/>
            <a:ext cx="4357687" cy="457200"/>
          </a:xfrm>
        </p:spPr>
        <p:txBody>
          <a:bodyPr/>
          <a:lstStyle>
            <a:lvl1pPr>
              <a:defRPr smtClean="0"/>
            </a:lvl1pPr>
          </a:lstStyle>
          <a:p>
            <a:r>
              <a:rPr lang="vi-VN"/>
              <a:t>Chương 3. Lập trình hướng đối tượng trong C#</a:t>
            </a:r>
          </a:p>
        </p:txBody>
      </p:sp>
      <p:sp>
        <p:nvSpPr>
          <p:cNvPr id="8" name="Rectangle 7"/>
          <p:cNvSpPr>
            <a:spLocks noGrp="1" noChangeArrowheads="1"/>
          </p:cNvSpPr>
          <p:nvPr>
            <p:ph type="sldNum" sz="quarter" idx="12"/>
          </p:nvPr>
        </p:nvSpPr>
        <p:spPr>
          <a:xfrm>
            <a:off x="7215188" y="6248400"/>
            <a:ext cx="1243012" cy="457200"/>
          </a:xfrm>
        </p:spPr>
        <p:txBody>
          <a:bodyPr/>
          <a:lstStyle>
            <a:lvl1pPr>
              <a:defRPr/>
            </a:lvl1pPr>
          </a:lstStyle>
          <a:p>
            <a:fld id="{5AB95402-1E0D-474E-8D8C-CBE7F053639E}" type="slidenum">
              <a:rPr lang="vi-VN" smtClean="0"/>
              <a:t>‹#›</a:t>
            </a:fld>
            <a:endParaRPr lang="vi-VN"/>
          </a:p>
        </p:txBody>
      </p:sp>
      <p:sp>
        <p:nvSpPr>
          <p:cNvPr id="10" name="Google Shape;21;p2">
            <a:extLst>
              <a:ext uri="{FF2B5EF4-FFF2-40B4-BE49-F238E27FC236}">
                <a16:creationId xmlns:a16="http://schemas.microsoft.com/office/drawing/2014/main" id="{AA310E7A-E5DA-435F-8002-AD83405DA8AF}"/>
              </a:ext>
            </a:extLst>
          </p:cNvPr>
          <p:cNvSpPr txBox="1"/>
          <p:nvPr userDrawn="1"/>
        </p:nvSpPr>
        <p:spPr>
          <a:xfrm>
            <a:off x="2411760" y="404664"/>
            <a:ext cx="51543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dirty="0">
                <a:solidFill>
                  <a:srgbClr val="0033CC"/>
                </a:solidFill>
                <a:latin typeface="Cambria"/>
                <a:ea typeface="Cambria"/>
                <a:cs typeface="Cambria"/>
                <a:sym typeface="Cambria"/>
              </a:rPr>
              <a:t>HỌC VIỆN NGÂN HÀNG</a:t>
            </a:r>
            <a:endParaRPr dirty="0"/>
          </a:p>
          <a:p>
            <a:pPr marL="0" marR="0" lvl="0" indent="0" algn="ctr" rtl="0">
              <a:spcBef>
                <a:spcPts val="0"/>
              </a:spcBef>
              <a:spcAft>
                <a:spcPts val="0"/>
              </a:spcAft>
              <a:buNone/>
            </a:pPr>
            <a:r>
              <a:rPr lang="en-US" sz="1800" b="1" dirty="0">
                <a:solidFill>
                  <a:srgbClr val="0033CC"/>
                </a:solidFill>
                <a:latin typeface="Cambria"/>
                <a:ea typeface="Cambria"/>
                <a:cs typeface="Cambria"/>
                <a:sym typeface="Cambria"/>
              </a:rPr>
              <a:t>KHOA CÔNG NGHỆ THÔNG TIN VÀ KINH TẾ SỐ</a:t>
            </a:r>
            <a:endParaRPr sz="1800" b="1" dirty="0">
              <a:solidFill>
                <a:srgbClr val="0033CC"/>
              </a:solidFill>
              <a:latin typeface="Cambria"/>
              <a:ea typeface="Cambria"/>
              <a:cs typeface="Cambria"/>
              <a:sym typeface="Cambria"/>
            </a:endParaRPr>
          </a:p>
        </p:txBody>
      </p:sp>
      <p:sp>
        <p:nvSpPr>
          <p:cNvPr id="12" name="Rectangle 2">
            <a:extLst>
              <a:ext uri="{FF2B5EF4-FFF2-40B4-BE49-F238E27FC236}">
                <a16:creationId xmlns:a16="http://schemas.microsoft.com/office/drawing/2014/main" id="{D7E2560A-59D3-49CD-B712-A71D6BEE60FC}"/>
              </a:ext>
            </a:extLst>
          </p:cNvPr>
          <p:cNvSpPr>
            <a:spLocks noGrp="1" noChangeArrowheads="1"/>
          </p:cNvSpPr>
          <p:nvPr>
            <p:ph type="ctrTitle"/>
          </p:nvPr>
        </p:nvSpPr>
        <p:spPr>
          <a:xfrm>
            <a:off x="1066800" y="2590800"/>
            <a:ext cx="7620000" cy="990600"/>
          </a:xfrm>
          <a:prstGeom prst="rect">
            <a:avLst/>
          </a:prstGeom>
        </p:spPr>
        <p:txBody>
          <a:bodyPr/>
          <a:lstStyle>
            <a:lvl1pPr algn="ctr">
              <a:defRPr sz="3600" b="1">
                <a:solidFill>
                  <a:srgbClr val="0070C0"/>
                </a:solidFill>
                <a:effectLst/>
              </a:defRPr>
            </a:lvl1pPr>
          </a:lstStyle>
          <a:p>
            <a:r>
              <a:rPr lang="en-US" dirty="0"/>
              <a:t>Click to edit Master title style</a:t>
            </a:r>
            <a:endParaRPr lang="en-GB" dirty="0"/>
          </a:p>
        </p:txBody>
      </p:sp>
    </p:spTree>
    <p:extLst>
      <p:ext uri="{BB962C8B-B14F-4D97-AF65-F5344CB8AC3E}">
        <p14:creationId xmlns:p14="http://schemas.microsoft.com/office/powerpoint/2010/main" val="2461499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lgn="just">
              <a:defRPr sz="2800"/>
            </a:lvl1pPr>
            <a:lvl2pPr algn="just">
              <a:defRPr sz="2400">
                <a:solidFill>
                  <a:srgbClr val="0000FF"/>
                </a:solidFill>
              </a:defRPr>
            </a:lvl2pPr>
            <a:lvl3pPr algn="just">
              <a:defRPr sz="2000">
                <a:solidFill>
                  <a:srgbClr val="002060"/>
                </a:solidFill>
              </a:defRPr>
            </a:lvl3pPr>
            <a:lvl4pPr algn="just">
              <a:defRPr sz="1800">
                <a:solidFill>
                  <a:srgbClr val="000066"/>
                </a:solidFill>
              </a:defRPr>
            </a:lvl4pPr>
            <a:lvl5pPr algn="just">
              <a:defRPr sz="1800">
                <a:solidFill>
                  <a:schemeClr val="tx1">
                    <a:lumMod val="95000"/>
                    <a:lumOff val="5000"/>
                  </a:schemeClr>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4719FDB1-9615-4287-8D55-AF20E3CF298E}" type="datetime1">
              <a:rPr lang="vi-VN" smtClean="0"/>
              <a:t>04/02/2025</a:t>
            </a:fld>
            <a:endParaRPr lang="vi-VN"/>
          </a:p>
        </p:txBody>
      </p:sp>
      <p:sp>
        <p:nvSpPr>
          <p:cNvPr id="5" name="Rectangle 7"/>
          <p:cNvSpPr>
            <a:spLocks noGrp="1" noChangeArrowheads="1"/>
          </p:cNvSpPr>
          <p:nvPr>
            <p:ph type="ftr" sz="quarter" idx="11"/>
          </p:nvPr>
        </p:nvSpPr>
        <p:spPr>
          <a:ln/>
        </p:spPr>
        <p:txBody>
          <a:bodyPr/>
          <a:lstStyle>
            <a:lvl1pPr>
              <a:defRPr/>
            </a:lvl1pPr>
          </a:lstStyle>
          <a:p>
            <a:r>
              <a:rPr lang="vi-VN"/>
              <a:t>Chương 3. Lập trình hướng đối tượng trong C#</a:t>
            </a:r>
          </a:p>
        </p:txBody>
      </p:sp>
      <p:sp>
        <p:nvSpPr>
          <p:cNvPr id="6" name="Rectangle 8"/>
          <p:cNvSpPr>
            <a:spLocks noGrp="1" noChangeArrowheads="1"/>
          </p:cNvSpPr>
          <p:nvPr>
            <p:ph type="sldNum" sz="quarter" idx="12"/>
          </p:nvPr>
        </p:nvSpPr>
        <p:spPr>
          <a:ln/>
        </p:spPr>
        <p:txBody>
          <a:bodyPr/>
          <a:lstStyle>
            <a:lvl1pPr>
              <a:defRPr/>
            </a:lvl1pPr>
          </a:lstStyle>
          <a:p>
            <a:fld id="{5AB95402-1E0D-474E-8D8C-CBE7F053639E}" type="slidenum">
              <a:rPr lang="vi-VN" smtClean="0"/>
              <a:pPr/>
              <a:t>‹#›</a:t>
            </a:fld>
            <a:r>
              <a:rPr lang="vi-VN"/>
              <a:t>/33</a:t>
            </a:r>
          </a:p>
        </p:txBody>
      </p:sp>
      <p:sp>
        <p:nvSpPr>
          <p:cNvPr id="7" name="Title 1">
            <a:extLst>
              <a:ext uri="{FF2B5EF4-FFF2-40B4-BE49-F238E27FC236}">
                <a16:creationId xmlns:a16="http://schemas.microsoft.com/office/drawing/2014/main" id="{2783988D-941B-4D11-B261-C6D0BD51434D}"/>
              </a:ext>
            </a:extLst>
          </p:cNvPr>
          <p:cNvSpPr>
            <a:spLocks noGrp="1"/>
          </p:cNvSpPr>
          <p:nvPr>
            <p:ph type="title"/>
          </p:nvPr>
        </p:nvSpPr>
        <p:spPr>
          <a:xfrm>
            <a:off x="971600" y="381000"/>
            <a:ext cx="7488832" cy="685800"/>
          </a:xfrm>
          <a:prstGeom prst="rect">
            <a:avLst/>
          </a:prstGeom>
        </p:spPr>
        <p:txBody>
          <a:bodyPr/>
          <a:lstStyle/>
          <a:p>
            <a:r>
              <a:rPr lang="en-US" dirty="0"/>
              <a:t>Click to edit Master title style</a:t>
            </a:r>
          </a:p>
        </p:txBody>
      </p:sp>
    </p:spTree>
    <p:extLst>
      <p:ext uri="{BB962C8B-B14F-4D97-AF65-F5344CB8AC3E}">
        <p14:creationId xmlns:p14="http://schemas.microsoft.com/office/powerpoint/2010/main" val="683437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71600" y="381000"/>
            <a:ext cx="7488832" cy="685800"/>
          </a:xfrm>
          <a:prstGeom prst="rect">
            <a:avLst/>
          </a:prstGeom>
        </p:spPr>
        <p:txBody>
          <a:bodyPr/>
          <a:lstStyle/>
          <a:p>
            <a:r>
              <a:rPr lang="en-US" dirty="0"/>
              <a:t>Click to edit Master title style</a:t>
            </a:r>
          </a:p>
        </p:txBody>
      </p:sp>
      <p:sp>
        <p:nvSpPr>
          <p:cNvPr id="3" name="Content Placeholder 2"/>
          <p:cNvSpPr>
            <a:spLocks noGrp="1"/>
          </p:cNvSpPr>
          <p:nvPr>
            <p:ph idx="1"/>
          </p:nvPr>
        </p:nvSpPr>
        <p:spPr/>
        <p:txBody>
          <a:bodyPr/>
          <a:lstStyle>
            <a:lvl1pPr algn="just">
              <a:defRPr sz="2800"/>
            </a:lvl1pPr>
            <a:lvl2pPr algn="just">
              <a:defRPr sz="2400">
                <a:solidFill>
                  <a:srgbClr val="0000FF"/>
                </a:solidFill>
              </a:defRPr>
            </a:lvl2pPr>
            <a:lvl3pPr algn="just">
              <a:defRPr sz="2000">
                <a:solidFill>
                  <a:srgbClr val="002060"/>
                </a:solidFill>
              </a:defRPr>
            </a:lvl3pPr>
            <a:lvl4pPr algn="just">
              <a:defRPr sz="1800">
                <a:solidFill>
                  <a:srgbClr val="000066"/>
                </a:solidFill>
              </a:defRPr>
            </a:lvl4pPr>
            <a:lvl5pPr algn="just">
              <a:defRPr sz="1800">
                <a:solidFill>
                  <a:schemeClr val="tx1">
                    <a:lumMod val="95000"/>
                    <a:lumOff val="5000"/>
                  </a:schemeClr>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322627A4-408B-428D-97B9-668ACE392443}" type="datetime1">
              <a:rPr lang="vi-VN" smtClean="0"/>
              <a:t>04/02/2025</a:t>
            </a:fld>
            <a:endParaRPr lang="vi-VN"/>
          </a:p>
        </p:txBody>
      </p:sp>
      <p:sp>
        <p:nvSpPr>
          <p:cNvPr id="5" name="Rectangle 7"/>
          <p:cNvSpPr>
            <a:spLocks noGrp="1" noChangeArrowheads="1"/>
          </p:cNvSpPr>
          <p:nvPr>
            <p:ph type="ftr" sz="quarter" idx="11"/>
          </p:nvPr>
        </p:nvSpPr>
        <p:spPr>
          <a:ln/>
        </p:spPr>
        <p:txBody>
          <a:bodyPr/>
          <a:lstStyle>
            <a:lvl1pPr>
              <a:defRPr/>
            </a:lvl1pPr>
          </a:lstStyle>
          <a:p>
            <a:r>
              <a:rPr lang="vi-VN"/>
              <a:t>Chương 2. Các thành phần cơ bản trong C#</a:t>
            </a:r>
          </a:p>
        </p:txBody>
      </p:sp>
      <p:sp>
        <p:nvSpPr>
          <p:cNvPr id="6" name="Rectangle 8"/>
          <p:cNvSpPr>
            <a:spLocks noGrp="1" noChangeArrowheads="1"/>
          </p:cNvSpPr>
          <p:nvPr>
            <p:ph type="sldNum" sz="quarter" idx="12"/>
          </p:nvPr>
        </p:nvSpPr>
        <p:spPr>
          <a:ln/>
        </p:spPr>
        <p:txBody>
          <a:bodyPr/>
          <a:lstStyle>
            <a:lvl1pPr>
              <a:defRPr/>
            </a:lvl1pPr>
          </a:lstStyle>
          <a:p>
            <a:fld id="{5AB95402-1E0D-474E-8D8C-CBE7F053639E}" type="slidenum">
              <a:rPr lang="vi-VN" smtClean="0"/>
              <a:pPr/>
              <a:t>‹#›</a:t>
            </a:fld>
            <a:r>
              <a:rPr lang="vi-VN"/>
              <a:t>/47</a:t>
            </a:r>
          </a:p>
        </p:txBody>
      </p:sp>
    </p:spTree>
    <p:extLst>
      <p:ext uri="{BB962C8B-B14F-4D97-AF65-F5344CB8AC3E}">
        <p14:creationId xmlns:p14="http://schemas.microsoft.com/office/powerpoint/2010/main" val="3896809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99592" y="332656"/>
            <a:ext cx="8382000" cy="6858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762000" y="1143000"/>
            <a:ext cx="38862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143000"/>
            <a:ext cx="38862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p:txBody>
          <a:bodyPr/>
          <a:lstStyle>
            <a:lvl1pPr>
              <a:defRPr smtClean="0"/>
            </a:lvl1pPr>
          </a:lstStyle>
          <a:p>
            <a:fld id="{E62148AC-5D1A-430E-8E1E-1D68BFBB2285}" type="datetime1">
              <a:rPr lang="vi-VN" smtClean="0"/>
              <a:t>04/02/2025</a:t>
            </a:fld>
            <a:endParaRPr lang="vi-VN"/>
          </a:p>
        </p:txBody>
      </p:sp>
      <p:sp>
        <p:nvSpPr>
          <p:cNvPr id="6" name="Rectangle 7"/>
          <p:cNvSpPr>
            <a:spLocks noGrp="1" noChangeArrowheads="1"/>
          </p:cNvSpPr>
          <p:nvPr>
            <p:ph type="ftr" sz="quarter" idx="11"/>
          </p:nvPr>
        </p:nvSpPr>
        <p:spPr/>
        <p:txBody>
          <a:bodyPr/>
          <a:lstStyle>
            <a:lvl1pPr>
              <a:defRPr smtClean="0"/>
            </a:lvl1pPr>
          </a:lstStyle>
          <a:p>
            <a:r>
              <a:rPr lang="vi-VN"/>
              <a:t>Chương 3. Lập trình hướng đối tượng trong C#</a:t>
            </a:r>
          </a:p>
        </p:txBody>
      </p:sp>
      <p:sp>
        <p:nvSpPr>
          <p:cNvPr id="7" name="Rectangle 8"/>
          <p:cNvSpPr>
            <a:spLocks noGrp="1" noChangeArrowheads="1"/>
          </p:cNvSpPr>
          <p:nvPr>
            <p:ph type="sldNum" sz="quarter" idx="12"/>
          </p:nvPr>
        </p:nvSpPr>
        <p:spPr/>
        <p:txBody>
          <a:bodyPr/>
          <a:lstStyle>
            <a:lvl1pPr>
              <a:defRPr smtClean="0"/>
            </a:lvl1pPr>
          </a:lstStyle>
          <a:p>
            <a:fld id="{5AB95402-1E0D-474E-8D8C-CBE7F053639E}" type="slidenum">
              <a:rPr lang="vi-VN" smtClean="0"/>
              <a:t>‹#›</a:t>
            </a:fld>
            <a:endParaRPr lang="vi-VN"/>
          </a:p>
        </p:txBody>
      </p:sp>
    </p:spTree>
    <p:extLst>
      <p:ext uri="{BB962C8B-B14F-4D97-AF65-F5344CB8AC3E}">
        <p14:creationId xmlns:p14="http://schemas.microsoft.com/office/powerpoint/2010/main" val="238079831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body" idx="1"/>
          </p:nvPr>
        </p:nvSpPr>
        <p:spPr bwMode="auto">
          <a:xfrm>
            <a:off x="762000" y="1143000"/>
            <a:ext cx="79248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1029" name="Line 5"/>
          <p:cNvSpPr>
            <a:spLocks noChangeShapeType="1"/>
          </p:cNvSpPr>
          <p:nvPr/>
        </p:nvSpPr>
        <p:spPr bwMode="auto">
          <a:xfrm flipV="1">
            <a:off x="381000" y="6400800"/>
            <a:ext cx="8534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4102" name="Rectangle 6"/>
          <p:cNvSpPr>
            <a:spLocks noGrp="1" noChangeArrowheads="1"/>
          </p:cNvSpPr>
          <p:nvPr>
            <p:ph type="dt" sz="half" idx="2"/>
          </p:nvPr>
        </p:nvSpPr>
        <p:spPr bwMode="auto">
          <a:xfrm>
            <a:off x="381000" y="6400800"/>
            <a:ext cx="19812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cs typeface="Arial" charset="0"/>
              </a:defRPr>
            </a:lvl1pPr>
          </a:lstStyle>
          <a:p>
            <a:fld id="{36D4F72C-3AC6-4151-914F-431D244F56B4}" type="datetime1">
              <a:rPr lang="vi-VN" smtClean="0"/>
              <a:t>04/02/2025</a:t>
            </a:fld>
            <a:endParaRPr lang="vi-VN"/>
          </a:p>
        </p:txBody>
      </p:sp>
      <p:sp>
        <p:nvSpPr>
          <p:cNvPr id="4103" name="Rectangle 7"/>
          <p:cNvSpPr>
            <a:spLocks noGrp="1" noChangeArrowheads="1"/>
          </p:cNvSpPr>
          <p:nvPr>
            <p:ph type="ftr" sz="quarter" idx="3"/>
          </p:nvPr>
        </p:nvSpPr>
        <p:spPr bwMode="auto">
          <a:xfrm>
            <a:off x="2667000" y="6400800"/>
            <a:ext cx="39624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smtClean="0">
                <a:cs typeface="Arial" charset="0"/>
              </a:defRPr>
            </a:lvl1pPr>
          </a:lstStyle>
          <a:p>
            <a:r>
              <a:rPr lang="vi-VN"/>
              <a:t>Chương 3. Lập trình hướng đối tượng trong C#</a:t>
            </a:r>
          </a:p>
        </p:txBody>
      </p:sp>
      <p:sp>
        <p:nvSpPr>
          <p:cNvPr id="4104" name="Rectangle 8"/>
          <p:cNvSpPr>
            <a:spLocks noGrp="1" noChangeArrowheads="1"/>
          </p:cNvSpPr>
          <p:nvPr>
            <p:ph type="sldNum" sz="quarter" idx="4"/>
          </p:nvPr>
        </p:nvSpPr>
        <p:spPr bwMode="auto">
          <a:xfrm>
            <a:off x="6934200" y="6400800"/>
            <a:ext cx="19812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cs typeface="Arial" charset="0"/>
              </a:defRPr>
            </a:lvl1pPr>
          </a:lstStyle>
          <a:p>
            <a:fld id="{5AB95402-1E0D-474E-8D8C-CBE7F053639E}" type="slidenum">
              <a:rPr lang="vi-VN" smtClean="0"/>
              <a:pPr/>
              <a:t>‹#›</a:t>
            </a:fld>
            <a:endParaRPr lang="vi-VN"/>
          </a:p>
        </p:txBody>
      </p:sp>
      <p:sp>
        <p:nvSpPr>
          <p:cNvPr id="10" name="Google Shape;10;p1">
            <a:extLst>
              <a:ext uri="{FF2B5EF4-FFF2-40B4-BE49-F238E27FC236}">
                <a16:creationId xmlns:a16="http://schemas.microsoft.com/office/drawing/2014/main" id="{AB76684D-C5AC-4EAC-9A78-150E667B573D}"/>
              </a:ext>
            </a:extLst>
          </p:cNvPr>
          <p:cNvSpPr/>
          <p:nvPr userDrawn="1"/>
        </p:nvSpPr>
        <p:spPr>
          <a:xfrm>
            <a:off x="783336" y="390700"/>
            <a:ext cx="7884368" cy="620363"/>
          </a:xfrm>
          <a:prstGeom prst="rect">
            <a:avLst/>
          </a:prstGeom>
          <a:solidFill>
            <a:srgbClr val="FF66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11" name="Google Shape;12;p1">
            <a:extLst>
              <a:ext uri="{FF2B5EF4-FFF2-40B4-BE49-F238E27FC236}">
                <a16:creationId xmlns:a16="http://schemas.microsoft.com/office/drawing/2014/main" id="{917AF832-8BF5-4EE9-90AC-04B6A8FFBD63}"/>
              </a:ext>
            </a:extLst>
          </p:cNvPr>
          <p:cNvSpPr txBox="1">
            <a:spLocks noGrp="1"/>
          </p:cNvSpPr>
          <p:nvPr>
            <p:ph type="title"/>
          </p:nvPr>
        </p:nvSpPr>
        <p:spPr>
          <a:xfrm>
            <a:off x="903348" y="457199"/>
            <a:ext cx="7642103" cy="48736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2800" b="1" i="0" u="none" strike="noStrike" cap="none">
                <a:solidFill>
                  <a:schemeClr val="lt1"/>
                </a:solidFill>
                <a:latin typeface="Cambria"/>
                <a:ea typeface="Cambria"/>
                <a:cs typeface="Cambria"/>
                <a:sym typeface="Cambria"/>
              </a:defRPr>
            </a:lvl1pPr>
            <a:lvl2pPr marR="0" lvl="1" algn="l" rtl="0">
              <a:spcBef>
                <a:spcPts val="0"/>
              </a:spcBef>
              <a:spcAft>
                <a:spcPts val="0"/>
              </a:spcAft>
              <a:buSzPts val="1400"/>
              <a:buNone/>
              <a:defRPr sz="2800" b="1"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2800" b="1"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2800" b="1"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2800" b="1"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2800" b="1"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2800" b="1"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2800" b="1"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2800" b="1" i="0" u="none" strike="noStrike" cap="none">
                <a:solidFill>
                  <a:schemeClr val="lt1"/>
                </a:solidFill>
                <a:latin typeface="Arial"/>
                <a:ea typeface="Arial"/>
                <a:cs typeface="Arial"/>
                <a:sym typeface="Arial"/>
              </a:defRPr>
            </a:lvl9pPr>
          </a:lstStyle>
          <a:p>
            <a:endParaRPr/>
          </a:p>
        </p:txBody>
      </p:sp>
      <p:pic>
        <p:nvPicPr>
          <p:cNvPr id="12" name="Google Shape;22;p2">
            <a:extLst>
              <a:ext uri="{FF2B5EF4-FFF2-40B4-BE49-F238E27FC236}">
                <a16:creationId xmlns:a16="http://schemas.microsoft.com/office/drawing/2014/main" id="{B881DEFE-B494-4541-8506-93EF8ABDD582}"/>
              </a:ext>
            </a:extLst>
          </p:cNvPr>
          <p:cNvPicPr preferRelativeResize="0"/>
          <p:nvPr userDrawn="1"/>
        </p:nvPicPr>
        <p:blipFill rotWithShape="1">
          <a:blip r:embed="rId6">
            <a:alphaModFix/>
          </a:blip>
          <a:srcRect/>
          <a:stretch/>
        </p:blipFill>
        <p:spPr>
          <a:xfrm>
            <a:off x="-195064" y="0"/>
            <a:ext cx="1152128" cy="1152128"/>
          </a:xfrm>
          <a:prstGeom prst="rect">
            <a:avLst/>
          </a:prstGeom>
          <a:noFill/>
          <a:ln>
            <a:noFill/>
          </a:ln>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7" r:id="rId3"/>
    <p:sldLayoutId id="2147483676" r:id="rId4"/>
  </p:sldLayoutIdLst>
  <p:hf hdr="0"/>
  <p:txStyles>
    <p:titleStyle>
      <a:lvl1pPr algn="l" rtl="0" eaLnBrk="1" fontAlgn="base" hangingPunct="1">
        <a:spcBef>
          <a:spcPct val="0"/>
        </a:spcBef>
        <a:spcAft>
          <a:spcPct val="0"/>
        </a:spcAft>
        <a:defRPr sz="3400">
          <a:solidFill>
            <a:schemeClr val="folHlink"/>
          </a:solidFill>
          <a:latin typeface="+mj-lt"/>
          <a:ea typeface="+mj-ea"/>
          <a:cs typeface="+mj-cs"/>
        </a:defRPr>
      </a:lvl1pPr>
      <a:lvl2pPr algn="l" rtl="0" eaLnBrk="1" fontAlgn="base" hangingPunct="1">
        <a:spcBef>
          <a:spcPct val="0"/>
        </a:spcBef>
        <a:spcAft>
          <a:spcPct val="0"/>
        </a:spcAft>
        <a:defRPr sz="3400">
          <a:solidFill>
            <a:schemeClr val="folHlink"/>
          </a:solidFill>
          <a:latin typeface="Arial" charset="0"/>
          <a:cs typeface="Arial" charset="0"/>
        </a:defRPr>
      </a:lvl2pPr>
      <a:lvl3pPr algn="l" rtl="0" eaLnBrk="1" fontAlgn="base" hangingPunct="1">
        <a:spcBef>
          <a:spcPct val="0"/>
        </a:spcBef>
        <a:spcAft>
          <a:spcPct val="0"/>
        </a:spcAft>
        <a:defRPr sz="3400">
          <a:solidFill>
            <a:schemeClr val="folHlink"/>
          </a:solidFill>
          <a:latin typeface="Arial" charset="0"/>
          <a:cs typeface="Arial" charset="0"/>
        </a:defRPr>
      </a:lvl3pPr>
      <a:lvl4pPr algn="l" rtl="0" eaLnBrk="1" fontAlgn="base" hangingPunct="1">
        <a:spcBef>
          <a:spcPct val="0"/>
        </a:spcBef>
        <a:spcAft>
          <a:spcPct val="0"/>
        </a:spcAft>
        <a:defRPr sz="3400">
          <a:solidFill>
            <a:schemeClr val="folHlink"/>
          </a:solidFill>
          <a:latin typeface="Arial" charset="0"/>
          <a:cs typeface="Arial" charset="0"/>
        </a:defRPr>
      </a:lvl4pPr>
      <a:lvl5pPr algn="l" rtl="0" eaLnBrk="1" fontAlgn="base" hangingPunct="1">
        <a:spcBef>
          <a:spcPct val="0"/>
        </a:spcBef>
        <a:spcAft>
          <a:spcPct val="0"/>
        </a:spcAft>
        <a:defRPr sz="3400">
          <a:solidFill>
            <a:schemeClr val="folHlink"/>
          </a:solidFill>
          <a:latin typeface="Arial" charset="0"/>
          <a:cs typeface="Arial" charset="0"/>
        </a:defRPr>
      </a:lvl5pPr>
      <a:lvl6pPr marL="457200" algn="l" rtl="0" eaLnBrk="1" fontAlgn="base" hangingPunct="1">
        <a:spcBef>
          <a:spcPct val="0"/>
        </a:spcBef>
        <a:spcAft>
          <a:spcPct val="0"/>
        </a:spcAft>
        <a:defRPr sz="3400">
          <a:solidFill>
            <a:schemeClr val="folHlink"/>
          </a:solidFill>
          <a:latin typeface="Arial" charset="0"/>
          <a:cs typeface="Arial" charset="0"/>
        </a:defRPr>
      </a:lvl6pPr>
      <a:lvl7pPr marL="914400" algn="l" rtl="0" eaLnBrk="1" fontAlgn="base" hangingPunct="1">
        <a:spcBef>
          <a:spcPct val="0"/>
        </a:spcBef>
        <a:spcAft>
          <a:spcPct val="0"/>
        </a:spcAft>
        <a:defRPr sz="3400">
          <a:solidFill>
            <a:schemeClr val="folHlink"/>
          </a:solidFill>
          <a:latin typeface="Arial" charset="0"/>
          <a:cs typeface="Arial" charset="0"/>
        </a:defRPr>
      </a:lvl7pPr>
      <a:lvl8pPr marL="1371600" algn="l" rtl="0" eaLnBrk="1" fontAlgn="base" hangingPunct="1">
        <a:spcBef>
          <a:spcPct val="0"/>
        </a:spcBef>
        <a:spcAft>
          <a:spcPct val="0"/>
        </a:spcAft>
        <a:defRPr sz="3400">
          <a:solidFill>
            <a:schemeClr val="folHlink"/>
          </a:solidFill>
          <a:latin typeface="Arial" charset="0"/>
          <a:cs typeface="Arial" charset="0"/>
        </a:defRPr>
      </a:lvl8pPr>
      <a:lvl9pPr marL="1828800" algn="l" rtl="0" eaLnBrk="1" fontAlgn="base" hangingPunct="1">
        <a:spcBef>
          <a:spcPct val="0"/>
        </a:spcBef>
        <a:spcAft>
          <a:spcPct val="0"/>
        </a:spcAft>
        <a:defRPr sz="3400">
          <a:solidFill>
            <a:schemeClr val="folHlink"/>
          </a:solidFill>
          <a:latin typeface="Arial" charset="0"/>
          <a:cs typeface="Arial" charset="0"/>
        </a:defRPr>
      </a:lvl9pPr>
    </p:titleStyle>
    <p:bodyStyle>
      <a:lvl1pPr marL="469900" indent="-469900" algn="l" rtl="0" eaLnBrk="1" fontAlgn="base" hangingPunct="1">
        <a:spcBef>
          <a:spcPct val="20000"/>
        </a:spcBef>
        <a:spcAft>
          <a:spcPct val="0"/>
        </a:spcAft>
        <a:buClr>
          <a:schemeClr val="accent2"/>
        </a:buClr>
        <a:buFont typeface="Wingdings" pitchFamily="2" charset="2"/>
        <a:buChar char="o"/>
        <a:defRPr lang="en-GB" sz="2800" smtClean="0">
          <a:solidFill>
            <a:schemeClr val="tx1"/>
          </a:solidFill>
          <a:latin typeface="+mn-lt"/>
          <a:ea typeface="+mn-ea"/>
          <a:cs typeface="+mn-cs"/>
        </a:defRPr>
      </a:lvl1pPr>
      <a:lvl2pPr marL="908050" indent="-436563" algn="l" rtl="0" eaLnBrk="1" fontAlgn="base" hangingPunct="1">
        <a:spcBef>
          <a:spcPct val="15000"/>
        </a:spcBef>
        <a:spcAft>
          <a:spcPct val="0"/>
        </a:spcAft>
        <a:buClr>
          <a:schemeClr val="accent2"/>
        </a:buClr>
        <a:buSzPct val="80000"/>
        <a:buFont typeface="Wingdings" pitchFamily="2" charset="2"/>
        <a:buChar char="n"/>
        <a:defRPr lang="en-GB" sz="2400" smtClean="0">
          <a:solidFill>
            <a:srgbClr val="0000FF"/>
          </a:solidFill>
          <a:latin typeface="+mn-lt"/>
          <a:cs typeface="+mn-cs"/>
        </a:defRPr>
      </a:lvl2pPr>
      <a:lvl3pPr marL="1304925" indent="-395288" algn="l" rtl="0" eaLnBrk="1" fontAlgn="base" hangingPunct="1">
        <a:spcBef>
          <a:spcPct val="15000"/>
        </a:spcBef>
        <a:spcAft>
          <a:spcPct val="0"/>
        </a:spcAft>
        <a:buClr>
          <a:schemeClr val="accent2"/>
        </a:buClr>
        <a:buSzPct val="80000"/>
        <a:buFont typeface="Wingdings" pitchFamily="2" charset="2"/>
        <a:buChar char="o"/>
        <a:defRPr lang="en-GB" sz="2000" smtClean="0">
          <a:solidFill>
            <a:srgbClr val="002060"/>
          </a:solidFill>
          <a:latin typeface="+mn-lt"/>
          <a:cs typeface="+mn-cs"/>
        </a:defRPr>
      </a:lvl3pPr>
      <a:lvl4pPr marL="1693863" indent="-387350" algn="l" rtl="0" eaLnBrk="1" fontAlgn="base" hangingPunct="1">
        <a:spcBef>
          <a:spcPct val="15000"/>
        </a:spcBef>
        <a:spcAft>
          <a:spcPct val="0"/>
        </a:spcAft>
        <a:buClr>
          <a:schemeClr val="accent2"/>
        </a:buClr>
        <a:buSzPct val="80000"/>
        <a:buFont typeface="Wingdings" pitchFamily="2" charset="2"/>
        <a:buChar char="n"/>
        <a:defRPr lang="en-GB" sz="1800" smtClean="0">
          <a:solidFill>
            <a:srgbClr val="000066"/>
          </a:solidFill>
          <a:latin typeface="+mn-lt"/>
          <a:cs typeface="+mn-cs"/>
        </a:defRPr>
      </a:lvl4pPr>
      <a:lvl5pPr marL="20939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5pPr>
      <a:lvl6pPr marL="25511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6pPr>
      <a:lvl7pPr marL="30083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7pPr>
      <a:lvl8pPr marL="34655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8pPr>
      <a:lvl9pPr marL="39227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microsoft.com/office/2018/10/relationships/comments" Target="../comments/modernComment_10E_F3FCE189.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7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7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31.wmf"/><Relationship Id="rId4" Type="http://schemas.openxmlformats.org/officeDocument/2006/relationships/oleObject" Target="../embeddings/oleObject1.bin"/></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wmf"/></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590800"/>
            <a:ext cx="9144000" cy="990600"/>
          </a:xfrm>
        </p:spPr>
        <p:txBody>
          <a:bodyPr/>
          <a:lstStyle/>
          <a:p>
            <a:r>
              <a:rPr lang="en-US">
                <a:solidFill>
                  <a:srgbClr val="002060"/>
                </a:solidFill>
              </a:rPr>
              <a:t>Chương 3</a:t>
            </a:r>
            <a:br>
              <a:rPr lang="en-US">
                <a:solidFill>
                  <a:srgbClr val="002060"/>
                </a:solidFill>
              </a:rPr>
            </a:br>
            <a:r>
              <a:rPr lang="en-US">
                <a:solidFill>
                  <a:srgbClr val="002060"/>
                </a:solidFill>
              </a:rPr>
              <a:t>LẬP TRÌNH HƯỚNG ĐỐI TƯỢNG</a:t>
            </a:r>
            <a:br>
              <a:rPr lang="en-US">
                <a:solidFill>
                  <a:srgbClr val="002060"/>
                </a:solidFill>
              </a:rPr>
            </a:br>
            <a:r>
              <a:rPr lang="en-US">
                <a:solidFill>
                  <a:srgbClr val="002060"/>
                </a:solidFill>
              </a:rPr>
              <a:t>TRONG C#</a:t>
            </a:r>
            <a:endParaRPr lang="vi-VN">
              <a:solidFill>
                <a:srgbClr val="002060"/>
              </a:solidFill>
            </a:endParaRPr>
          </a:p>
        </p:txBody>
      </p:sp>
      <p:sp>
        <p:nvSpPr>
          <p:cNvPr id="4" name="Subtitle 3"/>
          <p:cNvSpPr>
            <a:spLocks noGrp="1"/>
          </p:cNvSpPr>
          <p:nvPr>
            <p:ph type="subTitle" idx="1"/>
          </p:nvPr>
        </p:nvSpPr>
        <p:spPr/>
        <p:txBody>
          <a:bodyPr/>
          <a:lstStyle/>
          <a:p>
            <a:endParaRPr lang="en-US"/>
          </a:p>
        </p:txBody>
      </p:sp>
    </p:spTree>
    <p:extLst>
      <p:ext uri="{BB962C8B-B14F-4D97-AF65-F5344CB8AC3E}">
        <p14:creationId xmlns:p14="http://schemas.microsoft.com/office/powerpoint/2010/main" val="665657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899592" y="342544"/>
            <a:ext cx="8382000" cy="685800"/>
          </a:xfrm>
        </p:spPr>
        <p:txBody>
          <a:bodyPr/>
          <a:lstStyle/>
          <a:p>
            <a:r>
              <a:rPr lang="en-US" dirty="0" err="1"/>
              <a:t>Nội</a:t>
            </a:r>
            <a:r>
              <a:rPr lang="en-US" dirty="0"/>
              <a:t> dung </a:t>
            </a:r>
            <a:r>
              <a:rPr lang="en-US" dirty="0" err="1"/>
              <a:t>ch</a:t>
            </a:r>
            <a:r>
              <a:rPr lang="vi-VN" dirty="0"/>
              <a:t>ư</a:t>
            </a:r>
            <a:r>
              <a:rPr lang="en-US" dirty="0" err="1"/>
              <a:t>ơng</a:t>
            </a:r>
            <a:r>
              <a:rPr lang="en-US" dirty="0"/>
              <a:t> 3</a:t>
            </a:r>
          </a:p>
        </p:txBody>
      </p:sp>
      <p:sp>
        <p:nvSpPr>
          <p:cNvPr id="2" name="Date Placeholder 1"/>
          <p:cNvSpPr>
            <a:spLocks noGrp="1"/>
          </p:cNvSpPr>
          <p:nvPr>
            <p:ph type="dt" sz="half" idx="10"/>
          </p:nvPr>
        </p:nvSpPr>
        <p:spPr/>
        <p:txBody>
          <a:bodyPr/>
          <a:lstStyle/>
          <a:p>
            <a:fld id="{2B434496-E018-4569-8ABB-490BEF7C3CDC}" type="datetime1">
              <a:rPr lang="vi-VN" smtClean="0"/>
              <a:t>04/02/2025</a:t>
            </a:fld>
            <a:endParaRPr lang="vi-VN"/>
          </a:p>
        </p:txBody>
      </p:sp>
      <p:sp>
        <p:nvSpPr>
          <p:cNvPr id="16387" name="Footer Placeholder 3"/>
          <p:cNvSpPr>
            <a:spLocks noGrp="1"/>
          </p:cNvSpPr>
          <p:nvPr>
            <p:ph type="ftr" sz="quarter" idx="11"/>
          </p:nvPr>
        </p:nvSpPr>
        <p:spPr>
          <a:noFill/>
        </p:spPr>
        <p:txBody>
          <a:bodyPr/>
          <a:lstStyle/>
          <a:p>
            <a:r>
              <a:rPr lang="vi-VN"/>
              <a:t>Chương 3. Lập trình hướng đối tượng trong C#</a:t>
            </a:r>
            <a:endParaRPr lang="en-US"/>
          </a:p>
        </p:txBody>
      </p:sp>
      <p:grpSp>
        <p:nvGrpSpPr>
          <p:cNvPr id="44" name="Group 46"/>
          <p:cNvGrpSpPr>
            <a:grpSpLocks/>
          </p:cNvGrpSpPr>
          <p:nvPr/>
        </p:nvGrpSpPr>
        <p:grpSpPr bwMode="auto">
          <a:xfrm>
            <a:off x="1905000" y="1490751"/>
            <a:ext cx="4724400" cy="685800"/>
            <a:chOff x="1296" y="1824"/>
            <a:chExt cx="2976" cy="432"/>
          </a:xfrm>
        </p:grpSpPr>
        <p:sp>
          <p:nvSpPr>
            <p:cNvPr id="45" name="AutoShape 47"/>
            <p:cNvSpPr>
              <a:spLocks noChangeArrowheads="1"/>
            </p:cNvSpPr>
            <p:nvPr/>
          </p:nvSpPr>
          <p:spPr bwMode="gray">
            <a:xfrm>
              <a:off x="1536" y="1899"/>
              <a:ext cx="2736" cy="288"/>
            </a:xfrm>
            <a:prstGeom prst="roundRect">
              <a:avLst>
                <a:gd name="adj" fmla="val 16667"/>
              </a:avLst>
            </a:prstGeom>
            <a:gradFill rotWithShape="1">
              <a:gsLst>
                <a:gs pos="0">
                  <a:srgbClr val="85BA54">
                    <a:gamma/>
                    <a:tint val="21176"/>
                    <a:invGamma/>
                  </a:srgbClr>
                </a:gs>
                <a:gs pos="100000">
                  <a:srgbClr val="85BA54"/>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46" name="AutoShape 48"/>
            <p:cNvSpPr>
              <a:spLocks noChangeArrowheads="1"/>
            </p:cNvSpPr>
            <p:nvPr/>
          </p:nvSpPr>
          <p:spPr bwMode="gray">
            <a:xfrm>
              <a:off x="1296" y="1824"/>
              <a:ext cx="432" cy="432"/>
            </a:xfrm>
            <a:prstGeom prst="diamond">
              <a:avLst/>
            </a:prstGeom>
            <a:solidFill>
              <a:srgbClr val="85BA54"/>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47" name="Text Box 49"/>
            <p:cNvSpPr txBox="1">
              <a:spLocks noChangeArrowheads="1"/>
            </p:cNvSpPr>
            <p:nvPr/>
          </p:nvSpPr>
          <p:spPr bwMode="gray">
            <a:xfrm>
              <a:off x="1824" y="1934"/>
              <a:ext cx="2448" cy="233"/>
            </a:xfrm>
            <a:prstGeom prst="rect">
              <a:avLst/>
            </a:prstGeom>
            <a:noFill/>
            <a:ln w="9525" algn="ctr">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lang="en-US" b="1" kern="0">
                  <a:solidFill>
                    <a:srgbClr val="000000"/>
                  </a:solidFill>
                  <a:latin typeface="Arial" charset="0"/>
                  <a:cs typeface="Arial" charset="0"/>
                </a:rPr>
                <a:t>Lớp và đối tượng</a:t>
              </a:r>
              <a:endParaRPr kumimoji="0" lang="en-US" sz="1800" b="1" i="0" u="none" strike="noStrike" kern="0" cap="none" spc="0" normalizeH="0" baseline="0" noProof="0">
                <a:ln>
                  <a:noFill/>
                </a:ln>
                <a:solidFill>
                  <a:srgbClr val="000000"/>
                </a:solidFill>
                <a:effectLst/>
                <a:uLnTx/>
                <a:uFillTx/>
                <a:latin typeface="Arial" charset="0"/>
                <a:cs typeface="Arial" charset="0"/>
              </a:endParaRPr>
            </a:p>
          </p:txBody>
        </p:sp>
        <p:sp>
          <p:nvSpPr>
            <p:cNvPr id="48" name="Text Box 50"/>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FFFFFF"/>
                  </a:solidFill>
                  <a:effectLst/>
                  <a:uLnTx/>
                  <a:uFillTx/>
                  <a:latin typeface="Arial" charset="0"/>
                  <a:cs typeface="Arial" charset="0"/>
                </a:rPr>
                <a:t>1</a:t>
              </a:r>
            </a:p>
          </p:txBody>
        </p:sp>
      </p:grpSp>
      <p:grpSp>
        <p:nvGrpSpPr>
          <p:cNvPr id="32" name="Group 51"/>
          <p:cNvGrpSpPr>
            <a:grpSpLocks/>
          </p:cNvGrpSpPr>
          <p:nvPr/>
        </p:nvGrpSpPr>
        <p:grpSpPr bwMode="auto">
          <a:xfrm>
            <a:off x="1905000" y="2185922"/>
            <a:ext cx="4724400" cy="685800"/>
            <a:chOff x="1296" y="1824"/>
            <a:chExt cx="2976" cy="432"/>
          </a:xfrm>
        </p:grpSpPr>
        <p:sp>
          <p:nvSpPr>
            <p:cNvPr id="33" name="AutoShape 52"/>
            <p:cNvSpPr>
              <a:spLocks noChangeArrowheads="1"/>
            </p:cNvSpPr>
            <p:nvPr/>
          </p:nvSpPr>
          <p:spPr bwMode="gray">
            <a:xfrm>
              <a:off x="1536" y="1899"/>
              <a:ext cx="2736" cy="288"/>
            </a:xfrm>
            <a:prstGeom prst="roundRect">
              <a:avLst>
                <a:gd name="adj" fmla="val 16667"/>
              </a:avLst>
            </a:prstGeom>
            <a:gradFill rotWithShape="1">
              <a:gsLst>
                <a:gs pos="0">
                  <a:srgbClr val="DE8848">
                    <a:gamma/>
                    <a:tint val="21176"/>
                    <a:invGamma/>
                  </a:srgbClr>
                </a:gs>
                <a:gs pos="100000">
                  <a:srgbClr val="DE8848"/>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34" name="AutoShape 53"/>
            <p:cNvSpPr>
              <a:spLocks noChangeArrowheads="1"/>
            </p:cNvSpPr>
            <p:nvPr/>
          </p:nvSpPr>
          <p:spPr bwMode="gray">
            <a:xfrm>
              <a:off x="1296" y="1824"/>
              <a:ext cx="432" cy="432"/>
            </a:xfrm>
            <a:prstGeom prst="diamond">
              <a:avLst/>
            </a:prstGeom>
            <a:solidFill>
              <a:srgbClr val="DE8848"/>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35" name="Text Box 54"/>
            <p:cNvSpPr txBox="1">
              <a:spLocks noChangeArrowheads="1"/>
            </p:cNvSpPr>
            <p:nvPr/>
          </p:nvSpPr>
          <p:spPr bwMode="gray">
            <a:xfrm>
              <a:off x="1824" y="1934"/>
              <a:ext cx="2448" cy="233"/>
            </a:xfrm>
            <a:prstGeom prst="rect">
              <a:avLst/>
            </a:prstGeom>
            <a:noFill/>
            <a:ln w="9525" algn="ctr">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000000"/>
                  </a:solidFill>
                  <a:effectLst/>
                  <a:uLnTx/>
                  <a:uFillTx/>
                  <a:latin typeface="Arial" charset="0"/>
                  <a:cs typeface="Arial" charset="0"/>
                </a:rPr>
                <a:t>Kế</a:t>
              </a:r>
              <a:r>
                <a:rPr kumimoji="0" lang="en-US" sz="1800" b="1" i="0" u="none" strike="noStrike" kern="0" cap="none" spc="0" normalizeH="0" noProof="0">
                  <a:ln>
                    <a:noFill/>
                  </a:ln>
                  <a:solidFill>
                    <a:srgbClr val="000000"/>
                  </a:solidFill>
                  <a:effectLst/>
                  <a:uLnTx/>
                  <a:uFillTx/>
                  <a:latin typeface="Arial" charset="0"/>
                  <a:cs typeface="Arial" charset="0"/>
                </a:rPr>
                <a:t> thừa và đa hình</a:t>
              </a:r>
              <a:endParaRPr kumimoji="0" lang="en-US" sz="1800" b="1" i="0" u="none" strike="noStrike" kern="0" cap="none" spc="0" normalizeH="0" baseline="0" noProof="0">
                <a:ln>
                  <a:noFill/>
                </a:ln>
                <a:solidFill>
                  <a:srgbClr val="000000"/>
                </a:solidFill>
                <a:effectLst/>
                <a:uLnTx/>
                <a:uFillTx/>
                <a:latin typeface="Arial" charset="0"/>
                <a:cs typeface="Arial" charset="0"/>
              </a:endParaRPr>
            </a:p>
          </p:txBody>
        </p:sp>
        <p:sp>
          <p:nvSpPr>
            <p:cNvPr id="36" name="Text Box 55"/>
            <p:cNvSpPr txBox="1">
              <a:spLocks noChangeArrowheads="1"/>
            </p:cNvSpPr>
            <p:nvPr/>
          </p:nvSpPr>
          <p:spPr bwMode="gray">
            <a:xfrm>
              <a:off x="1392" y="1886"/>
              <a:ext cx="224" cy="291"/>
            </a:xfrm>
            <a:prstGeom prst="rect">
              <a:avLst/>
            </a:prstGeom>
            <a:noFill/>
            <a:ln w="9525" algn="ctr">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2400" kern="0">
                  <a:solidFill>
                    <a:srgbClr val="FFFFFF"/>
                  </a:solidFill>
                  <a:latin typeface="Arial" charset="0"/>
                  <a:cs typeface="Arial" charset="0"/>
                </a:rPr>
                <a:t>2</a:t>
              </a:r>
              <a:endParaRPr kumimoji="0" lang="en-US" sz="2400" b="0" i="0" u="none" strike="noStrike" kern="0" cap="none" spc="0" normalizeH="0" baseline="0" noProof="0">
                <a:ln>
                  <a:noFill/>
                </a:ln>
                <a:solidFill>
                  <a:srgbClr val="FFFFFF"/>
                </a:solidFill>
                <a:effectLst/>
                <a:uLnTx/>
                <a:uFillTx/>
                <a:latin typeface="Arial" charset="0"/>
                <a:cs typeface="Arial" charset="0"/>
              </a:endParaRPr>
            </a:p>
          </p:txBody>
        </p:sp>
      </p:grpSp>
      <p:grpSp>
        <p:nvGrpSpPr>
          <p:cNvPr id="37" name="Group 56"/>
          <p:cNvGrpSpPr>
            <a:grpSpLocks/>
          </p:cNvGrpSpPr>
          <p:nvPr/>
        </p:nvGrpSpPr>
        <p:grpSpPr bwMode="auto">
          <a:xfrm>
            <a:off x="1905000" y="2868274"/>
            <a:ext cx="4724400" cy="685800"/>
            <a:chOff x="1296" y="1824"/>
            <a:chExt cx="2976" cy="432"/>
          </a:xfrm>
        </p:grpSpPr>
        <p:sp>
          <p:nvSpPr>
            <p:cNvPr id="38" name="AutoShape 57"/>
            <p:cNvSpPr>
              <a:spLocks noChangeArrowheads="1"/>
            </p:cNvSpPr>
            <p:nvPr/>
          </p:nvSpPr>
          <p:spPr bwMode="gray">
            <a:xfrm>
              <a:off x="1536" y="1899"/>
              <a:ext cx="2736" cy="288"/>
            </a:xfrm>
            <a:prstGeom prst="roundRect">
              <a:avLst>
                <a:gd name="adj" fmla="val 16667"/>
              </a:avLst>
            </a:prstGeom>
            <a:gradFill rotWithShape="1">
              <a:gsLst>
                <a:gs pos="0">
                  <a:srgbClr val="5086C2">
                    <a:gamma/>
                    <a:tint val="21176"/>
                    <a:invGamma/>
                  </a:srgbClr>
                </a:gs>
                <a:gs pos="100000">
                  <a:srgbClr val="5086C2"/>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39" name="AutoShape 58"/>
            <p:cNvSpPr>
              <a:spLocks noChangeArrowheads="1"/>
            </p:cNvSpPr>
            <p:nvPr/>
          </p:nvSpPr>
          <p:spPr bwMode="gray">
            <a:xfrm>
              <a:off x="1296" y="1824"/>
              <a:ext cx="432" cy="432"/>
            </a:xfrm>
            <a:prstGeom prst="diamond">
              <a:avLst/>
            </a:prstGeom>
            <a:solidFill>
              <a:srgbClr val="4C59D2"/>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40" name="Text Box 59"/>
            <p:cNvSpPr txBox="1">
              <a:spLocks noChangeArrowheads="1"/>
            </p:cNvSpPr>
            <p:nvPr/>
          </p:nvSpPr>
          <p:spPr bwMode="gray">
            <a:xfrm>
              <a:off x="1824" y="1934"/>
              <a:ext cx="2448" cy="231"/>
            </a:xfrm>
            <a:prstGeom prst="rect">
              <a:avLst/>
            </a:prstGeom>
            <a:noFill/>
            <a:ln w="9525" algn="ctr">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000000"/>
                  </a:solidFill>
                  <a:effectLst/>
                  <a:uLnTx/>
                  <a:uFillTx/>
                  <a:latin typeface="Arial" charset="0"/>
                  <a:cs typeface="Arial" charset="0"/>
                </a:rPr>
                <a:t>Mảng</a:t>
              </a:r>
            </a:p>
          </p:txBody>
        </p:sp>
        <p:sp>
          <p:nvSpPr>
            <p:cNvPr id="41" name="Text Box 60"/>
            <p:cNvSpPr txBox="1">
              <a:spLocks noChangeArrowheads="1"/>
            </p:cNvSpPr>
            <p:nvPr/>
          </p:nvSpPr>
          <p:spPr bwMode="gray">
            <a:xfrm>
              <a:off x="1392" y="1886"/>
              <a:ext cx="224" cy="291"/>
            </a:xfrm>
            <a:prstGeom prst="rect">
              <a:avLst/>
            </a:prstGeom>
            <a:noFill/>
            <a:ln w="9525" algn="ctr">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2400" kern="0">
                  <a:solidFill>
                    <a:srgbClr val="FFFFFF"/>
                  </a:solidFill>
                  <a:latin typeface="Arial" charset="0"/>
                  <a:cs typeface="Arial" charset="0"/>
                </a:rPr>
                <a:t>3</a:t>
              </a:r>
              <a:endParaRPr kumimoji="0" lang="en-US" sz="2400" b="0" i="0" u="none" strike="noStrike" kern="0" cap="none" spc="0" normalizeH="0" baseline="0" noProof="0">
                <a:ln>
                  <a:noFill/>
                </a:ln>
                <a:solidFill>
                  <a:srgbClr val="FFFFFF"/>
                </a:solidFill>
                <a:effectLst/>
                <a:uLnTx/>
                <a:uFillTx/>
                <a:latin typeface="Arial" charset="0"/>
                <a:cs typeface="Arial" charset="0"/>
              </a:endParaRPr>
            </a:p>
          </p:txBody>
        </p:sp>
      </p:grpSp>
      <p:grpSp>
        <p:nvGrpSpPr>
          <p:cNvPr id="42" name="Group 61"/>
          <p:cNvGrpSpPr>
            <a:grpSpLocks/>
          </p:cNvGrpSpPr>
          <p:nvPr/>
        </p:nvGrpSpPr>
        <p:grpSpPr bwMode="auto">
          <a:xfrm>
            <a:off x="1933128" y="3554683"/>
            <a:ext cx="4724400" cy="685800"/>
            <a:chOff x="1296" y="1824"/>
            <a:chExt cx="2976" cy="432"/>
          </a:xfrm>
        </p:grpSpPr>
        <p:sp>
          <p:nvSpPr>
            <p:cNvPr id="43" name="AutoShape 62"/>
            <p:cNvSpPr>
              <a:spLocks noChangeArrowheads="1"/>
            </p:cNvSpPr>
            <p:nvPr/>
          </p:nvSpPr>
          <p:spPr bwMode="gray">
            <a:xfrm>
              <a:off x="1536" y="1899"/>
              <a:ext cx="2736" cy="288"/>
            </a:xfrm>
            <a:prstGeom prst="roundRect">
              <a:avLst>
                <a:gd name="adj" fmla="val 16667"/>
              </a:avLst>
            </a:prstGeom>
            <a:gradFill rotWithShape="1">
              <a:gsLst>
                <a:gs pos="0">
                  <a:srgbClr val="A0B5C4">
                    <a:gamma/>
                    <a:tint val="21176"/>
                    <a:invGamma/>
                  </a:srgbClr>
                </a:gs>
                <a:gs pos="100000">
                  <a:srgbClr val="A0B5C4"/>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64" name="AutoShape 63"/>
            <p:cNvSpPr>
              <a:spLocks noChangeArrowheads="1"/>
            </p:cNvSpPr>
            <p:nvPr/>
          </p:nvSpPr>
          <p:spPr bwMode="gray">
            <a:xfrm>
              <a:off x="1296" y="1824"/>
              <a:ext cx="432" cy="432"/>
            </a:xfrm>
            <a:prstGeom prst="diamond">
              <a:avLst/>
            </a:prstGeom>
            <a:solidFill>
              <a:srgbClr val="A0B5C4"/>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65" name="Text Box 64"/>
            <p:cNvSpPr txBox="1">
              <a:spLocks noChangeArrowheads="1"/>
            </p:cNvSpPr>
            <p:nvPr/>
          </p:nvSpPr>
          <p:spPr bwMode="gray">
            <a:xfrm>
              <a:off x="1824" y="1934"/>
              <a:ext cx="2448" cy="233"/>
            </a:xfrm>
            <a:prstGeom prst="rect">
              <a:avLst/>
            </a:prstGeom>
            <a:noFill/>
            <a:ln w="9525" algn="ctr">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000000"/>
                  </a:solidFill>
                  <a:effectLst/>
                  <a:uLnTx/>
                  <a:uFillTx/>
                  <a:latin typeface="Arial" charset="0"/>
                  <a:cs typeface="Arial" charset="0"/>
                </a:rPr>
                <a:t>Danh sách</a:t>
              </a:r>
            </a:p>
          </p:txBody>
        </p:sp>
        <p:sp>
          <p:nvSpPr>
            <p:cNvPr id="66" name="Text Box 65"/>
            <p:cNvSpPr txBox="1">
              <a:spLocks noChangeArrowheads="1"/>
            </p:cNvSpPr>
            <p:nvPr/>
          </p:nvSpPr>
          <p:spPr bwMode="gray">
            <a:xfrm>
              <a:off x="1392" y="1886"/>
              <a:ext cx="224" cy="291"/>
            </a:xfrm>
            <a:prstGeom prst="rect">
              <a:avLst/>
            </a:prstGeom>
            <a:noFill/>
            <a:ln w="9525" algn="ctr">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FFFFFF"/>
                  </a:solidFill>
                  <a:effectLst/>
                  <a:uLnTx/>
                  <a:uFillTx/>
                  <a:latin typeface="Arial" charset="0"/>
                  <a:cs typeface="Arial" charset="0"/>
                </a:rPr>
                <a:t>4</a:t>
              </a:r>
            </a:p>
          </p:txBody>
        </p:sp>
      </p:grpSp>
      <p:sp>
        <p:nvSpPr>
          <p:cNvPr id="5" name="Slide Number Placeholder 4"/>
          <p:cNvSpPr>
            <a:spLocks noGrp="1"/>
          </p:cNvSpPr>
          <p:nvPr>
            <p:ph type="sldNum" sz="quarter" idx="12"/>
          </p:nvPr>
        </p:nvSpPr>
        <p:spPr/>
        <p:txBody>
          <a:bodyPr/>
          <a:lstStyle/>
          <a:p>
            <a:fld id="{5AB95402-1E0D-474E-8D8C-CBE7F053639E}" type="slidenum">
              <a:rPr lang="vi-VN" smtClean="0"/>
              <a:pPr/>
              <a:t>2</a:t>
            </a:fld>
            <a:r>
              <a:rPr lang="vi-VN"/>
              <a:t>/33</a:t>
            </a:r>
          </a:p>
        </p:txBody>
      </p:sp>
      <p:grpSp>
        <p:nvGrpSpPr>
          <p:cNvPr id="67" name="Group 51">
            <a:extLst>
              <a:ext uri="{FF2B5EF4-FFF2-40B4-BE49-F238E27FC236}">
                <a16:creationId xmlns:a16="http://schemas.microsoft.com/office/drawing/2014/main" id="{70C0FA55-52CB-4D53-8224-A18A6A07F3EB}"/>
              </a:ext>
            </a:extLst>
          </p:cNvPr>
          <p:cNvGrpSpPr>
            <a:grpSpLocks/>
          </p:cNvGrpSpPr>
          <p:nvPr/>
        </p:nvGrpSpPr>
        <p:grpSpPr bwMode="auto">
          <a:xfrm>
            <a:off x="1905000" y="4283294"/>
            <a:ext cx="4724400" cy="685800"/>
            <a:chOff x="1296" y="1824"/>
            <a:chExt cx="2976" cy="432"/>
          </a:xfrm>
        </p:grpSpPr>
        <p:sp>
          <p:nvSpPr>
            <p:cNvPr id="68" name="AutoShape 52">
              <a:extLst>
                <a:ext uri="{FF2B5EF4-FFF2-40B4-BE49-F238E27FC236}">
                  <a16:creationId xmlns:a16="http://schemas.microsoft.com/office/drawing/2014/main" id="{086F91F9-BBFE-4C09-8EBA-6BE79E418A39}"/>
                </a:ext>
              </a:extLst>
            </p:cNvPr>
            <p:cNvSpPr>
              <a:spLocks noChangeArrowheads="1"/>
            </p:cNvSpPr>
            <p:nvPr/>
          </p:nvSpPr>
          <p:spPr bwMode="gray">
            <a:xfrm>
              <a:off x="1536" y="1899"/>
              <a:ext cx="2736" cy="288"/>
            </a:xfrm>
            <a:prstGeom prst="roundRect">
              <a:avLst>
                <a:gd name="adj" fmla="val 16667"/>
              </a:avLst>
            </a:prstGeom>
            <a:gradFill rotWithShape="1">
              <a:gsLst>
                <a:gs pos="0">
                  <a:srgbClr val="DE8848">
                    <a:gamma/>
                    <a:tint val="21176"/>
                    <a:invGamma/>
                  </a:srgbClr>
                </a:gs>
                <a:gs pos="100000">
                  <a:srgbClr val="DE8848"/>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69" name="AutoShape 53">
              <a:extLst>
                <a:ext uri="{FF2B5EF4-FFF2-40B4-BE49-F238E27FC236}">
                  <a16:creationId xmlns:a16="http://schemas.microsoft.com/office/drawing/2014/main" id="{631DC098-107A-41F1-8B13-3C4E33625E71}"/>
                </a:ext>
              </a:extLst>
            </p:cNvPr>
            <p:cNvSpPr>
              <a:spLocks noChangeArrowheads="1"/>
            </p:cNvSpPr>
            <p:nvPr/>
          </p:nvSpPr>
          <p:spPr bwMode="gray">
            <a:xfrm>
              <a:off x="1296" y="1824"/>
              <a:ext cx="432" cy="432"/>
            </a:xfrm>
            <a:prstGeom prst="diamond">
              <a:avLst/>
            </a:prstGeom>
            <a:solidFill>
              <a:srgbClr val="DE8848"/>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70" name="Text Box 54">
              <a:extLst>
                <a:ext uri="{FF2B5EF4-FFF2-40B4-BE49-F238E27FC236}">
                  <a16:creationId xmlns:a16="http://schemas.microsoft.com/office/drawing/2014/main" id="{5314B2C1-E641-4EA5-8FD0-BFD3AA69A700}"/>
                </a:ext>
              </a:extLst>
            </p:cNvPr>
            <p:cNvSpPr txBox="1">
              <a:spLocks noChangeArrowheads="1"/>
            </p:cNvSpPr>
            <p:nvPr/>
          </p:nvSpPr>
          <p:spPr bwMode="gray">
            <a:xfrm>
              <a:off x="1824" y="1934"/>
              <a:ext cx="2448" cy="233"/>
            </a:xfrm>
            <a:prstGeom prst="rect">
              <a:avLst/>
            </a:prstGeom>
            <a:noFill/>
            <a:ln w="9525" algn="ctr">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000000"/>
                  </a:solidFill>
                  <a:effectLst/>
                  <a:uLnTx/>
                  <a:uFillTx/>
                  <a:latin typeface="Arial" charset="0"/>
                  <a:cs typeface="Arial" charset="0"/>
                </a:rPr>
                <a:t>S</a:t>
              </a:r>
              <a:r>
                <a:rPr lang="en-US" b="1" kern="0">
                  <a:solidFill>
                    <a:srgbClr val="000000"/>
                  </a:solidFill>
                  <a:latin typeface="Arial" charset="0"/>
                  <a:cs typeface="Arial" charset="0"/>
                </a:rPr>
                <a:t>ử dụng Generic</a:t>
              </a:r>
              <a:endParaRPr kumimoji="0" lang="en-US" sz="1800" b="1" i="0" u="none" strike="noStrike" kern="0" cap="none" spc="0" normalizeH="0" baseline="0" noProof="0">
                <a:ln>
                  <a:noFill/>
                </a:ln>
                <a:solidFill>
                  <a:srgbClr val="000000"/>
                </a:solidFill>
                <a:effectLst/>
                <a:uLnTx/>
                <a:uFillTx/>
                <a:latin typeface="Arial" charset="0"/>
                <a:cs typeface="Arial" charset="0"/>
              </a:endParaRPr>
            </a:p>
          </p:txBody>
        </p:sp>
        <p:sp>
          <p:nvSpPr>
            <p:cNvPr id="71" name="Text Box 55">
              <a:extLst>
                <a:ext uri="{FF2B5EF4-FFF2-40B4-BE49-F238E27FC236}">
                  <a16:creationId xmlns:a16="http://schemas.microsoft.com/office/drawing/2014/main" id="{1FC21887-C75D-4205-98BA-129959560B25}"/>
                </a:ext>
              </a:extLst>
            </p:cNvPr>
            <p:cNvSpPr txBox="1">
              <a:spLocks noChangeArrowheads="1"/>
            </p:cNvSpPr>
            <p:nvPr/>
          </p:nvSpPr>
          <p:spPr bwMode="gray">
            <a:xfrm>
              <a:off x="1392" y="1886"/>
              <a:ext cx="224" cy="291"/>
            </a:xfrm>
            <a:prstGeom prst="rect">
              <a:avLst/>
            </a:prstGeom>
            <a:noFill/>
            <a:ln w="9525" algn="ctr">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2400" kern="0">
                  <a:solidFill>
                    <a:srgbClr val="FFFFFF"/>
                  </a:solidFill>
                  <a:latin typeface="Arial" charset="0"/>
                  <a:cs typeface="Arial" charset="0"/>
                </a:rPr>
                <a:t>5</a:t>
              </a:r>
              <a:endParaRPr kumimoji="0" lang="en-US" sz="2400" b="0" i="0" u="none" strike="noStrike" kern="0" cap="none" spc="0" normalizeH="0" baseline="0" noProof="0">
                <a:ln>
                  <a:noFill/>
                </a:ln>
                <a:solidFill>
                  <a:srgbClr val="FFFFFF"/>
                </a:solidFill>
                <a:effectLst/>
                <a:uLnTx/>
                <a:uFillTx/>
                <a:latin typeface="Arial" charset="0"/>
                <a:cs typeface="Arial" charset="0"/>
              </a:endParaRPr>
            </a:p>
          </p:txBody>
        </p:sp>
      </p:grpSp>
      <p:grpSp>
        <p:nvGrpSpPr>
          <p:cNvPr id="72" name="Group 56">
            <a:extLst>
              <a:ext uri="{FF2B5EF4-FFF2-40B4-BE49-F238E27FC236}">
                <a16:creationId xmlns:a16="http://schemas.microsoft.com/office/drawing/2014/main" id="{37D406F0-E207-4944-9643-F829D133A28F}"/>
              </a:ext>
            </a:extLst>
          </p:cNvPr>
          <p:cNvGrpSpPr>
            <a:grpSpLocks/>
          </p:cNvGrpSpPr>
          <p:nvPr/>
        </p:nvGrpSpPr>
        <p:grpSpPr bwMode="auto">
          <a:xfrm>
            <a:off x="1948736" y="5030468"/>
            <a:ext cx="4724400" cy="685800"/>
            <a:chOff x="1296" y="1824"/>
            <a:chExt cx="2976" cy="432"/>
          </a:xfrm>
        </p:grpSpPr>
        <p:sp>
          <p:nvSpPr>
            <p:cNvPr id="73" name="AutoShape 57">
              <a:extLst>
                <a:ext uri="{FF2B5EF4-FFF2-40B4-BE49-F238E27FC236}">
                  <a16:creationId xmlns:a16="http://schemas.microsoft.com/office/drawing/2014/main" id="{D8225481-51E4-4A94-B27F-E41602B42559}"/>
                </a:ext>
              </a:extLst>
            </p:cNvPr>
            <p:cNvSpPr>
              <a:spLocks noChangeArrowheads="1"/>
            </p:cNvSpPr>
            <p:nvPr/>
          </p:nvSpPr>
          <p:spPr bwMode="gray">
            <a:xfrm>
              <a:off x="1536" y="1899"/>
              <a:ext cx="2736" cy="288"/>
            </a:xfrm>
            <a:prstGeom prst="roundRect">
              <a:avLst>
                <a:gd name="adj" fmla="val 16667"/>
              </a:avLst>
            </a:prstGeom>
            <a:gradFill rotWithShape="1">
              <a:gsLst>
                <a:gs pos="0">
                  <a:srgbClr val="5086C2">
                    <a:gamma/>
                    <a:tint val="21176"/>
                    <a:invGamma/>
                  </a:srgbClr>
                </a:gs>
                <a:gs pos="100000">
                  <a:srgbClr val="5086C2"/>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74" name="AutoShape 58">
              <a:extLst>
                <a:ext uri="{FF2B5EF4-FFF2-40B4-BE49-F238E27FC236}">
                  <a16:creationId xmlns:a16="http://schemas.microsoft.com/office/drawing/2014/main" id="{64280D28-C60C-43C5-B65F-A7FB6BC0701E}"/>
                </a:ext>
              </a:extLst>
            </p:cNvPr>
            <p:cNvSpPr>
              <a:spLocks noChangeArrowheads="1"/>
            </p:cNvSpPr>
            <p:nvPr/>
          </p:nvSpPr>
          <p:spPr bwMode="gray">
            <a:xfrm>
              <a:off x="1296" y="1824"/>
              <a:ext cx="432" cy="432"/>
            </a:xfrm>
            <a:prstGeom prst="diamond">
              <a:avLst/>
            </a:prstGeom>
            <a:solidFill>
              <a:srgbClr val="4C59D2"/>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75" name="Text Box 59">
              <a:extLst>
                <a:ext uri="{FF2B5EF4-FFF2-40B4-BE49-F238E27FC236}">
                  <a16:creationId xmlns:a16="http://schemas.microsoft.com/office/drawing/2014/main" id="{7536349E-BE8A-49AE-8F58-03F834CFCBB3}"/>
                </a:ext>
              </a:extLst>
            </p:cNvPr>
            <p:cNvSpPr txBox="1">
              <a:spLocks noChangeArrowheads="1"/>
            </p:cNvSpPr>
            <p:nvPr/>
          </p:nvSpPr>
          <p:spPr bwMode="gray">
            <a:xfrm>
              <a:off x="1824" y="1934"/>
              <a:ext cx="2448" cy="231"/>
            </a:xfrm>
            <a:prstGeom prst="rect">
              <a:avLst/>
            </a:prstGeom>
            <a:noFill/>
            <a:ln w="9525" algn="ctr">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000000"/>
                  </a:solidFill>
                  <a:effectLst/>
                  <a:uLnTx/>
                  <a:uFillTx/>
                  <a:latin typeface="Arial" charset="0"/>
                  <a:cs typeface="Arial" charset="0"/>
                </a:rPr>
                <a:t>X</a:t>
              </a:r>
              <a:r>
                <a:rPr lang="en-US" b="1" kern="0">
                  <a:solidFill>
                    <a:srgbClr val="000000"/>
                  </a:solidFill>
                  <a:latin typeface="Arial" charset="0"/>
                  <a:cs typeface="Arial" charset="0"/>
                </a:rPr>
                <a:t>ử lý ngoại lệ</a:t>
              </a:r>
              <a:endParaRPr kumimoji="0" lang="en-US" sz="1800" b="1" i="0" u="none" strike="noStrike" kern="0" cap="none" spc="0" normalizeH="0" baseline="0" noProof="0">
                <a:ln>
                  <a:noFill/>
                </a:ln>
                <a:solidFill>
                  <a:srgbClr val="000000"/>
                </a:solidFill>
                <a:effectLst/>
                <a:uLnTx/>
                <a:uFillTx/>
                <a:latin typeface="Arial" charset="0"/>
                <a:cs typeface="Arial" charset="0"/>
              </a:endParaRPr>
            </a:p>
          </p:txBody>
        </p:sp>
        <p:sp>
          <p:nvSpPr>
            <p:cNvPr id="76" name="Text Box 60">
              <a:extLst>
                <a:ext uri="{FF2B5EF4-FFF2-40B4-BE49-F238E27FC236}">
                  <a16:creationId xmlns:a16="http://schemas.microsoft.com/office/drawing/2014/main" id="{EE2C8047-E1D8-4202-915A-6FF42C0E156B}"/>
                </a:ext>
              </a:extLst>
            </p:cNvPr>
            <p:cNvSpPr txBox="1">
              <a:spLocks noChangeArrowheads="1"/>
            </p:cNvSpPr>
            <p:nvPr/>
          </p:nvSpPr>
          <p:spPr bwMode="gray">
            <a:xfrm>
              <a:off x="1392" y="1886"/>
              <a:ext cx="224" cy="291"/>
            </a:xfrm>
            <a:prstGeom prst="rect">
              <a:avLst/>
            </a:prstGeom>
            <a:noFill/>
            <a:ln w="9525" algn="ctr">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2400" kern="0">
                  <a:solidFill>
                    <a:srgbClr val="FFFFFF"/>
                  </a:solidFill>
                  <a:latin typeface="Arial" charset="0"/>
                  <a:cs typeface="Arial" charset="0"/>
                </a:rPr>
                <a:t>6</a:t>
              </a:r>
              <a:endParaRPr kumimoji="0" lang="en-US" sz="2400" b="0" i="0" u="none" strike="noStrike" kern="0" cap="none" spc="0" normalizeH="0" baseline="0" noProof="0">
                <a:ln>
                  <a:noFill/>
                </a:ln>
                <a:solidFill>
                  <a:srgbClr val="FFFFFF"/>
                </a:solidFill>
                <a:effectLst/>
                <a:uLnTx/>
                <a:uFillTx/>
                <a:latin typeface="Arial" charset="0"/>
                <a:cs typeface="Arial" charset="0"/>
              </a:endParaRPr>
            </a:p>
          </p:txBody>
        </p:sp>
      </p:grpSp>
    </p:spTree>
    <p:extLst>
      <p:ext uri="{BB962C8B-B14F-4D97-AF65-F5344CB8AC3E}">
        <p14:creationId xmlns:p14="http://schemas.microsoft.com/office/powerpoint/2010/main" val="1855818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anim calcmode="lin" valueType="num">
                                      <p:cBhvr>
                                        <p:cTn id="8" dur="500" fill="hold"/>
                                        <p:tgtEl>
                                          <p:spTgt spid="44"/>
                                        </p:tgtEl>
                                        <p:attrNameLst>
                                          <p:attrName>ppt_x</p:attrName>
                                        </p:attrNameLst>
                                      </p:cBhvr>
                                      <p:tavLst>
                                        <p:tav tm="0">
                                          <p:val>
                                            <p:strVal val="#ppt_x"/>
                                          </p:val>
                                        </p:tav>
                                        <p:tav tm="100000">
                                          <p:val>
                                            <p:strVal val="#ppt_x"/>
                                          </p:val>
                                        </p:tav>
                                      </p:tavLst>
                                    </p:anim>
                                    <p:anim calcmode="lin" valueType="num">
                                      <p:cBhvr>
                                        <p:cTn id="9" dur="500" fill="hold"/>
                                        <p:tgtEl>
                                          <p:spTgt spid="44"/>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7" presetClass="entr" presetSubtype="0" fill="hold" nodeType="after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1000"/>
                                        <p:tgtEl>
                                          <p:spTgt spid="32"/>
                                        </p:tgtEl>
                                      </p:cBhvr>
                                    </p:animEffect>
                                    <p:anim calcmode="lin" valueType="num">
                                      <p:cBhvr>
                                        <p:cTn id="14" dur="1000" fill="hold"/>
                                        <p:tgtEl>
                                          <p:spTgt spid="32"/>
                                        </p:tgtEl>
                                        <p:attrNameLst>
                                          <p:attrName>ppt_x</p:attrName>
                                        </p:attrNameLst>
                                      </p:cBhvr>
                                      <p:tavLst>
                                        <p:tav tm="0">
                                          <p:val>
                                            <p:strVal val="#ppt_x"/>
                                          </p:val>
                                        </p:tav>
                                        <p:tav tm="100000">
                                          <p:val>
                                            <p:strVal val="#ppt_x"/>
                                          </p:val>
                                        </p:tav>
                                      </p:tavLst>
                                    </p:anim>
                                    <p:anim calcmode="lin" valueType="num">
                                      <p:cBhvr>
                                        <p:cTn id="15" dur="1000" fill="hold"/>
                                        <p:tgtEl>
                                          <p:spTgt spid="32"/>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47" presetClass="entr" presetSubtype="0" fill="hold" nodeType="after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1000"/>
                                        <p:tgtEl>
                                          <p:spTgt spid="37"/>
                                        </p:tgtEl>
                                      </p:cBhvr>
                                    </p:animEffect>
                                    <p:anim calcmode="lin" valueType="num">
                                      <p:cBhvr>
                                        <p:cTn id="20" dur="1000" fill="hold"/>
                                        <p:tgtEl>
                                          <p:spTgt spid="37"/>
                                        </p:tgtEl>
                                        <p:attrNameLst>
                                          <p:attrName>ppt_x</p:attrName>
                                        </p:attrNameLst>
                                      </p:cBhvr>
                                      <p:tavLst>
                                        <p:tav tm="0">
                                          <p:val>
                                            <p:strVal val="#ppt_x"/>
                                          </p:val>
                                        </p:tav>
                                        <p:tav tm="100000">
                                          <p:val>
                                            <p:strVal val="#ppt_x"/>
                                          </p:val>
                                        </p:tav>
                                      </p:tavLst>
                                    </p:anim>
                                    <p:anim calcmode="lin" valueType="num">
                                      <p:cBhvr>
                                        <p:cTn id="21" dur="1000" fill="hold"/>
                                        <p:tgtEl>
                                          <p:spTgt spid="37"/>
                                        </p:tgtEl>
                                        <p:attrNameLst>
                                          <p:attrName>ppt_y</p:attrName>
                                        </p:attrNameLst>
                                      </p:cBhvr>
                                      <p:tavLst>
                                        <p:tav tm="0">
                                          <p:val>
                                            <p:strVal val="#ppt_y-.1"/>
                                          </p:val>
                                        </p:tav>
                                        <p:tav tm="100000">
                                          <p:val>
                                            <p:strVal val="#ppt_y"/>
                                          </p:val>
                                        </p:tav>
                                      </p:tavLst>
                                    </p:anim>
                                  </p:childTnLst>
                                </p:cTn>
                              </p:par>
                            </p:childTnLst>
                          </p:cTn>
                        </p:par>
                        <p:par>
                          <p:cTn id="22" fill="hold">
                            <p:stCondLst>
                              <p:cond delay="2500"/>
                            </p:stCondLst>
                            <p:childTnLst>
                              <p:par>
                                <p:cTn id="23" presetID="47" presetClass="entr" presetSubtype="0" fill="hold" nodeType="afterEffect">
                                  <p:stCondLst>
                                    <p:cond delay="0"/>
                                  </p:stCondLst>
                                  <p:childTnLst>
                                    <p:set>
                                      <p:cBhvr>
                                        <p:cTn id="24" dur="1" fill="hold">
                                          <p:stCondLst>
                                            <p:cond delay="0"/>
                                          </p:stCondLst>
                                        </p:cTn>
                                        <p:tgtEl>
                                          <p:spTgt spid="42"/>
                                        </p:tgtEl>
                                        <p:attrNameLst>
                                          <p:attrName>style.visibility</p:attrName>
                                        </p:attrNameLst>
                                      </p:cBhvr>
                                      <p:to>
                                        <p:strVal val="visible"/>
                                      </p:to>
                                    </p:set>
                                    <p:animEffect transition="in" filter="fade">
                                      <p:cBhvr>
                                        <p:cTn id="25" dur="1000"/>
                                        <p:tgtEl>
                                          <p:spTgt spid="42"/>
                                        </p:tgtEl>
                                      </p:cBhvr>
                                    </p:animEffect>
                                    <p:anim calcmode="lin" valueType="num">
                                      <p:cBhvr>
                                        <p:cTn id="26" dur="1000" fill="hold"/>
                                        <p:tgtEl>
                                          <p:spTgt spid="42"/>
                                        </p:tgtEl>
                                        <p:attrNameLst>
                                          <p:attrName>ppt_x</p:attrName>
                                        </p:attrNameLst>
                                      </p:cBhvr>
                                      <p:tavLst>
                                        <p:tav tm="0">
                                          <p:val>
                                            <p:strVal val="#ppt_x"/>
                                          </p:val>
                                        </p:tav>
                                        <p:tav tm="100000">
                                          <p:val>
                                            <p:strVal val="#ppt_x"/>
                                          </p:val>
                                        </p:tav>
                                      </p:tavLst>
                                    </p:anim>
                                    <p:anim calcmode="lin" valueType="num">
                                      <p:cBhvr>
                                        <p:cTn id="27" dur="1000" fill="hold"/>
                                        <p:tgtEl>
                                          <p:spTgt spid="42"/>
                                        </p:tgtEl>
                                        <p:attrNameLst>
                                          <p:attrName>ppt_y</p:attrName>
                                        </p:attrNameLst>
                                      </p:cBhvr>
                                      <p:tavLst>
                                        <p:tav tm="0">
                                          <p:val>
                                            <p:strVal val="#ppt_y-.1"/>
                                          </p:val>
                                        </p:tav>
                                        <p:tav tm="100000">
                                          <p:val>
                                            <p:strVal val="#ppt_y"/>
                                          </p:val>
                                        </p:tav>
                                      </p:tavLst>
                                    </p:anim>
                                  </p:childTnLst>
                                </p:cTn>
                              </p:par>
                            </p:childTnLst>
                          </p:cTn>
                        </p:par>
                        <p:par>
                          <p:cTn id="28" fill="hold">
                            <p:stCondLst>
                              <p:cond delay="3500"/>
                            </p:stCondLst>
                            <p:childTnLst>
                              <p:par>
                                <p:cTn id="29" presetID="47" presetClass="entr" presetSubtype="0" fill="hold" nodeType="afterEffect">
                                  <p:stCondLst>
                                    <p:cond delay="0"/>
                                  </p:stCondLst>
                                  <p:childTnLst>
                                    <p:set>
                                      <p:cBhvr>
                                        <p:cTn id="30" dur="1" fill="hold">
                                          <p:stCondLst>
                                            <p:cond delay="0"/>
                                          </p:stCondLst>
                                        </p:cTn>
                                        <p:tgtEl>
                                          <p:spTgt spid="67"/>
                                        </p:tgtEl>
                                        <p:attrNameLst>
                                          <p:attrName>style.visibility</p:attrName>
                                        </p:attrNameLst>
                                      </p:cBhvr>
                                      <p:to>
                                        <p:strVal val="visible"/>
                                      </p:to>
                                    </p:set>
                                    <p:animEffect transition="in" filter="fade">
                                      <p:cBhvr>
                                        <p:cTn id="31" dur="1000"/>
                                        <p:tgtEl>
                                          <p:spTgt spid="67"/>
                                        </p:tgtEl>
                                      </p:cBhvr>
                                    </p:animEffect>
                                    <p:anim calcmode="lin" valueType="num">
                                      <p:cBhvr>
                                        <p:cTn id="32" dur="1000" fill="hold"/>
                                        <p:tgtEl>
                                          <p:spTgt spid="67"/>
                                        </p:tgtEl>
                                        <p:attrNameLst>
                                          <p:attrName>ppt_x</p:attrName>
                                        </p:attrNameLst>
                                      </p:cBhvr>
                                      <p:tavLst>
                                        <p:tav tm="0">
                                          <p:val>
                                            <p:strVal val="#ppt_x"/>
                                          </p:val>
                                        </p:tav>
                                        <p:tav tm="100000">
                                          <p:val>
                                            <p:strVal val="#ppt_x"/>
                                          </p:val>
                                        </p:tav>
                                      </p:tavLst>
                                    </p:anim>
                                    <p:anim calcmode="lin" valueType="num">
                                      <p:cBhvr>
                                        <p:cTn id="33" dur="1000" fill="hold"/>
                                        <p:tgtEl>
                                          <p:spTgt spid="67"/>
                                        </p:tgtEl>
                                        <p:attrNameLst>
                                          <p:attrName>ppt_y</p:attrName>
                                        </p:attrNameLst>
                                      </p:cBhvr>
                                      <p:tavLst>
                                        <p:tav tm="0">
                                          <p:val>
                                            <p:strVal val="#ppt_y-.1"/>
                                          </p:val>
                                        </p:tav>
                                        <p:tav tm="100000">
                                          <p:val>
                                            <p:strVal val="#ppt_y"/>
                                          </p:val>
                                        </p:tav>
                                      </p:tavLst>
                                    </p:anim>
                                  </p:childTnLst>
                                </p:cTn>
                              </p:par>
                            </p:childTnLst>
                          </p:cTn>
                        </p:par>
                        <p:par>
                          <p:cTn id="34" fill="hold">
                            <p:stCondLst>
                              <p:cond delay="4500"/>
                            </p:stCondLst>
                            <p:childTnLst>
                              <p:par>
                                <p:cTn id="35" presetID="47" presetClass="entr" presetSubtype="0" fill="hold" nodeType="afterEffect">
                                  <p:stCondLst>
                                    <p:cond delay="0"/>
                                  </p:stCondLst>
                                  <p:childTnLst>
                                    <p:set>
                                      <p:cBhvr>
                                        <p:cTn id="36" dur="1" fill="hold">
                                          <p:stCondLst>
                                            <p:cond delay="0"/>
                                          </p:stCondLst>
                                        </p:cTn>
                                        <p:tgtEl>
                                          <p:spTgt spid="72"/>
                                        </p:tgtEl>
                                        <p:attrNameLst>
                                          <p:attrName>style.visibility</p:attrName>
                                        </p:attrNameLst>
                                      </p:cBhvr>
                                      <p:to>
                                        <p:strVal val="visible"/>
                                      </p:to>
                                    </p:set>
                                    <p:animEffect transition="in" filter="fade">
                                      <p:cBhvr>
                                        <p:cTn id="37" dur="1000"/>
                                        <p:tgtEl>
                                          <p:spTgt spid="72"/>
                                        </p:tgtEl>
                                      </p:cBhvr>
                                    </p:animEffect>
                                    <p:anim calcmode="lin" valueType="num">
                                      <p:cBhvr>
                                        <p:cTn id="38" dur="1000" fill="hold"/>
                                        <p:tgtEl>
                                          <p:spTgt spid="72"/>
                                        </p:tgtEl>
                                        <p:attrNameLst>
                                          <p:attrName>ppt_x</p:attrName>
                                        </p:attrNameLst>
                                      </p:cBhvr>
                                      <p:tavLst>
                                        <p:tav tm="0">
                                          <p:val>
                                            <p:strVal val="#ppt_x"/>
                                          </p:val>
                                        </p:tav>
                                        <p:tav tm="100000">
                                          <p:val>
                                            <p:strVal val="#ppt_x"/>
                                          </p:val>
                                        </p:tav>
                                      </p:tavLst>
                                    </p:anim>
                                    <p:anim calcmode="lin" valueType="num">
                                      <p:cBhvr>
                                        <p:cTn id="39" dur="1000" fill="hold"/>
                                        <p:tgtEl>
                                          <p:spTgt spid="7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899592" y="342544"/>
            <a:ext cx="8382000" cy="685800"/>
          </a:xfrm>
        </p:spPr>
        <p:txBody>
          <a:bodyPr/>
          <a:lstStyle/>
          <a:p>
            <a:r>
              <a:rPr lang="en-US"/>
              <a:t>3.1. Lớp và đối t</a:t>
            </a:r>
            <a:r>
              <a:rPr lang="vi-VN"/>
              <a:t>ư</a:t>
            </a:r>
            <a:r>
              <a:rPr lang="en-US"/>
              <a:t>ợng</a:t>
            </a:r>
          </a:p>
        </p:txBody>
      </p:sp>
      <p:sp>
        <p:nvSpPr>
          <p:cNvPr id="2" name="Date Placeholder 1"/>
          <p:cNvSpPr>
            <a:spLocks noGrp="1"/>
          </p:cNvSpPr>
          <p:nvPr>
            <p:ph type="dt" sz="half" idx="10"/>
          </p:nvPr>
        </p:nvSpPr>
        <p:spPr/>
        <p:txBody>
          <a:bodyPr/>
          <a:lstStyle/>
          <a:p>
            <a:fld id="{2B434496-E018-4569-8ABB-490BEF7C3CDC}" type="datetime1">
              <a:rPr lang="vi-VN" smtClean="0"/>
              <a:t>04/02/2025</a:t>
            </a:fld>
            <a:endParaRPr lang="vi-VN"/>
          </a:p>
        </p:txBody>
      </p:sp>
      <p:grpSp>
        <p:nvGrpSpPr>
          <p:cNvPr id="44" name="Group 46"/>
          <p:cNvGrpSpPr>
            <a:grpSpLocks/>
          </p:cNvGrpSpPr>
          <p:nvPr/>
        </p:nvGrpSpPr>
        <p:grpSpPr bwMode="auto">
          <a:xfrm>
            <a:off x="2051720" y="1844824"/>
            <a:ext cx="5400600" cy="685800"/>
            <a:chOff x="1296" y="1824"/>
            <a:chExt cx="2976" cy="432"/>
          </a:xfrm>
        </p:grpSpPr>
        <p:sp>
          <p:nvSpPr>
            <p:cNvPr id="45" name="AutoShape 47"/>
            <p:cNvSpPr>
              <a:spLocks noChangeArrowheads="1"/>
            </p:cNvSpPr>
            <p:nvPr/>
          </p:nvSpPr>
          <p:spPr bwMode="gray">
            <a:xfrm>
              <a:off x="1536" y="1899"/>
              <a:ext cx="2736" cy="288"/>
            </a:xfrm>
            <a:prstGeom prst="roundRect">
              <a:avLst>
                <a:gd name="adj" fmla="val 16667"/>
              </a:avLst>
            </a:prstGeom>
            <a:gradFill rotWithShape="1">
              <a:gsLst>
                <a:gs pos="0">
                  <a:srgbClr val="85BA54">
                    <a:gamma/>
                    <a:tint val="21176"/>
                    <a:invGamma/>
                  </a:srgbClr>
                </a:gs>
                <a:gs pos="100000">
                  <a:srgbClr val="85BA54"/>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46" name="AutoShape 48"/>
            <p:cNvSpPr>
              <a:spLocks noChangeArrowheads="1"/>
            </p:cNvSpPr>
            <p:nvPr/>
          </p:nvSpPr>
          <p:spPr bwMode="gray">
            <a:xfrm>
              <a:off x="1296" y="1824"/>
              <a:ext cx="432" cy="432"/>
            </a:xfrm>
            <a:prstGeom prst="diamond">
              <a:avLst/>
            </a:prstGeom>
            <a:solidFill>
              <a:srgbClr val="85BA54"/>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47" name="Text Box 49"/>
            <p:cNvSpPr txBox="1">
              <a:spLocks noChangeArrowheads="1"/>
            </p:cNvSpPr>
            <p:nvPr/>
          </p:nvSpPr>
          <p:spPr bwMode="gray">
            <a:xfrm>
              <a:off x="1824" y="1934"/>
              <a:ext cx="2448" cy="233"/>
            </a:xfrm>
            <a:prstGeom prst="rect">
              <a:avLst/>
            </a:prstGeom>
            <a:noFill/>
            <a:ln w="9525" algn="ctr">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000000"/>
                  </a:solidFill>
                  <a:effectLst/>
                  <a:uLnTx/>
                  <a:uFillTx/>
                  <a:latin typeface="Arial" charset="0"/>
                  <a:cs typeface="Arial" charset="0"/>
                </a:rPr>
                <a:t>Định nghĩa l</a:t>
              </a:r>
              <a:r>
                <a:rPr lang="en-US" b="1" kern="0">
                  <a:solidFill>
                    <a:srgbClr val="000000"/>
                  </a:solidFill>
                  <a:latin typeface="Arial" charset="0"/>
                  <a:cs typeface="Arial" charset="0"/>
                </a:rPr>
                <a:t>ớp, đối t</a:t>
              </a:r>
              <a:r>
                <a:rPr lang="vi-VN" b="1" kern="0">
                  <a:solidFill>
                    <a:srgbClr val="000000"/>
                  </a:solidFill>
                  <a:latin typeface="Arial" charset="0"/>
                  <a:cs typeface="Arial" charset="0"/>
                </a:rPr>
                <a:t>ư</a:t>
              </a:r>
              <a:r>
                <a:rPr lang="en-US" b="1" kern="0">
                  <a:solidFill>
                    <a:srgbClr val="000000"/>
                  </a:solidFill>
                  <a:latin typeface="Arial" charset="0"/>
                  <a:cs typeface="Arial" charset="0"/>
                </a:rPr>
                <a:t>ợng</a:t>
              </a:r>
              <a:endParaRPr kumimoji="0" lang="en-US" sz="1800" b="1" i="0" u="none" strike="noStrike" kern="0" cap="none" spc="0" normalizeH="0" baseline="0" noProof="0">
                <a:ln>
                  <a:noFill/>
                </a:ln>
                <a:solidFill>
                  <a:srgbClr val="000000"/>
                </a:solidFill>
                <a:effectLst/>
                <a:uLnTx/>
                <a:uFillTx/>
                <a:latin typeface="Arial" charset="0"/>
                <a:cs typeface="Arial" charset="0"/>
              </a:endParaRPr>
            </a:p>
          </p:txBody>
        </p:sp>
        <p:sp>
          <p:nvSpPr>
            <p:cNvPr id="48" name="Text Box 50"/>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FFFFFF"/>
                  </a:solidFill>
                  <a:effectLst/>
                  <a:uLnTx/>
                  <a:uFillTx/>
                  <a:latin typeface="Arial" charset="0"/>
                  <a:cs typeface="Arial" charset="0"/>
                </a:rPr>
                <a:t>1</a:t>
              </a:r>
            </a:p>
          </p:txBody>
        </p:sp>
      </p:grpSp>
      <p:grpSp>
        <p:nvGrpSpPr>
          <p:cNvPr id="49" name="Group 51"/>
          <p:cNvGrpSpPr>
            <a:grpSpLocks/>
          </p:cNvGrpSpPr>
          <p:nvPr/>
        </p:nvGrpSpPr>
        <p:grpSpPr bwMode="auto">
          <a:xfrm>
            <a:off x="2041848" y="2572059"/>
            <a:ext cx="5410472" cy="820738"/>
            <a:chOff x="1296" y="1824"/>
            <a:chExt cx="2976" cy="517"/>
          </a:xfrm>
        </p:grpSpPr>
        <p:sp>
          <p:nvSpPr>
            <p:cNvPr id="50" name="AutoShape 52"/>
            <p:cNvSpPr>
              <a:spLocks noChangeArrowheads="1"/>
            </p:cNvSpPr>
            <p:nvPr/>
          </p:nvSpPr>
          <p:spPr bwMode="gray">
            <a:xfrm>
              <a:off x="1536" y="1899"/>
              <a:ext cx="2736" cy="288"/>
            </a:xfrm>
            <a:prstGeom prst="roundRect">
              <a:avLst>
                <a:gd name="adj" fmla="val 16667"/>
              </a:avLst>
            </a:prstGeom>
            <a:gradFill rotWithShape="1">
              <a:gsLst>
                <a:gs pos="0">
                  <a:srgbClr val="DE8848">
                    <a:gamma/>
                    <a:tint val="21176"/>
                    <a:invGamma/>
                  </a:srgbClr>
                </a:gs>
                <a:gs pos="100000">
                  <a:srgbClr val="DE8848"/>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51" name="AutoShape 53"/>
            <p:cNvSpPr>
              <a:spLocks noChangeArrowheads="1"/>
            </p:cNvSpPr>
            <p:nvPr/>
          </p:nvSpPr>
          <p:spPr bwMode="gray">
            <a:xfrm>
              <a:off x="1296" y="1824"/>
              <a:ext cx="432" cy="432"/>
            </a:xfrm>
            <a:prstGeom prst="diamond">
              <a:avLst/>
            </a:prstGeom>
            <a:solidFill>
              <a:srgbClr val="DE8848"/>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52" name="Text Box 54"/>
            <p:cNvSpPr txBox="1">
              <a:spLocks noChangeArrowheads="1"/>
            </p:cNvSpPr>
            <p:nvPr/>
          </p:nvSpPr>
          <p:spPr bwMode="gray">
            <a:xfrm>
              <a:off x="1824" y="1934"/>
              <a:ext cx="2448" cy="407"/>
            </a:xfrm>
            <a:prstGeom prst="rect">
              <a:avLst/>
            </a:prstGeom>
            <a:noFill/>
            <a:ln w="9525" algn="ctr">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lang="en-US" b="1" kern="0">
                  <a:solidFill>
                    <a:srgbClr val="000000"/>
                  </a:solidFill>
                  <a:latin typeface="Arial" charset="0"/>
                  <a:cs typeface="Arial" charset="0"/>
                </a:rPr>
                <a:t>Phư</a:t>
              </a:r>
              <a:r>
                <a:rPr lang="vi-VN" b="1" kern="0">
                  <a:solidFill>
                    <a:srgbClr val="000000"/>
                  </a:solidFill>
                  <a:latin typeface="Arial" charset="0"/>
                  <a:cs typeface="Arial" charset="0"/>
                </a:rPr>
                <a:t>ơ</a:t>
              </a:r>
              <a:r>
                <a:rPr lang="en-US" b="1" kern="0">
                  <a:solidFill>
                    <a:srgbClr val="000000"/>
                  </a:solidFill>
                  <a:latin typeface="Arial" charset="0"/>
                  <a:cs typeface="Arial" charset="0"/>
                </a:rPr>
                <a:t>ng thức khởi tạo, hủy đối t</a:t>
              </a:r>
              <a:r>
                <a:rPr lang="vi-VN" b="1" kern="0">
                  <a:solidFill>
                    <a:srgbClr val="000000"/>
                  </a:solidFill>
                  <a:latin typeface="Arial" charset="0"/>
                  <a:cs typeface="Arial" charset="0"/>
                </a:rPr>
                <a:t>ư</a:t>
              </a:r>
              <a:r>
                <a:rPr lang="en-US" b="1" kern="0">
                  <a:solidFill>
                    <a:srgbClr val="000000"/>
                  </a:solidFill>
                  <a:latin typeface="Arial" charset="0"/>
                  <a:cs typeface="Arial" charset="0"/>
                </a:rPr>
                <a:t>ợng</a:t>
              </a:r>
              <a:endParaRPr kumimoji="0" lang="en-US" sz="1800" b="1" i="0" u="none" strike="noStrike" kern="0" cap="none" spc="0" normalizeH="0" baseline="0" noProof="0">
                <a:ln>
                  <a:noFill/>
                </a:ln>
                <a:solidFill>
                  <a:srgbClr val="000000"/>
                </a:solidFill>
                <a:effectLst/>
                <a:uLnTx/>
                <a:uFillTx/>
                <a:latin typeface="Arial" charset="0"/>
                <a:cs typeface="Arial" charset="0"/>
              </a:endParaRPr>
            </a:p>
          </p:txBody>
        </p:sp>
        <p:sp>
          <p:nvSpPr>
            <p:cNvPr id="53" name="Text Box 55"/>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FFFFFF"/>
                  </a:solidFill>
                  <a:effectLst/>
                  <a:uLnTx/>
                  <a:uFillTx/>
                  <a:latin typeface="Arial" charset="0"/>
                  <a:cs typeface="Arial" charset="0"/>
                </a:rPr>
                <a:t>2</a:t>
              </a:r>
            </a:p>
          </p:txBody>
        </p:sp>
      </p:grpSp>
      <p:grpSp>
        <p:nvGrpSpPr>
          <p:cNvPr id="54" name="Group 56"/>
          <p:cNvGrpSpPr>
            <a:grpSpLocks/>
          </p:cNvGrpSpPr>
          <p:nvPr/>
        </p:nvGrpSpPr>
        <p:grpSpPr bwMode="auto">
          <a:xfrm>
            <a:off x="2051720" y="3257857"/>
            <a:ext cx="5400600" cy="685800"/>
            <a:chOff x="1296" y="1824"/>
            <a:chExt cx="2976" cy="432"/>
          </a:xfrm>
        </p:grpSpPr>
        <p:sp>
          <p:nvSpPr>
            <p:cNvPr id="55" name="AutoShape 57"/>
            <p:cNvSpPr>
              <a:spLocks noChangeArrowheads="1"/>
            </p:cNvSpPr>
            <p:nvPr/>
          </p:nvSpPr>
          <p:spPr bwMode="gray">
            <a:xfrm>
              <a:off x="1536" y="1899"/>
              <a:ext cx="2736" cy="288"/>
            </a:xfrm>
            <a:prstGeom prst="roundRect">
              <a:avLst>
                <a:gd name="adj" fmla="val 16667"/>
              </a:avLst>
            </a:prstGeom>
            <a:gradFill rotWithShape="1">
              <a:gsLst>
                <a:gs pos="0">
                  <a:srgbClr val="5086C2">
                    <a:gamma/>
                    <a:tint val="21176"/>
                    <a:invGamma/>
                  </a:srgbClr>
                </a:gs>
                <a:gs pos="100000">
                  <a:srgbClr val="5086C2"/>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56" name="AutoShape 58"/>
            <p:cNvSpPr>
              <a:spLocks noChangeArrowheads="1"/>
            </p:cNvSpPr>
            <p:nvPr/>
          </p:nvSpPr>
          <p:spPr bwMode="gray">
            <a:xfrm>
              <a:off x="1296" y="1824"/>
              <a:ext cx="432" cy="432"/>
            </a:xfrm>
            <a:prstGeom prst="diamond">
              <a:avLst/>
            </a:prstGeom>
            <a:solidFill>
              <a:srgbClr val="4C59D2"/>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57" name="Text Box 59"/>
            <p:cNvSpPr txBox="1">
              <a:spLocks noChangeArrowheads="1"/>
            </p:cNvSpPr>
            <p:nvPr/>
          </p:nvSpPr>
          <p:spPr bwMode="gray">
            <a:xfrm>
              <a:off x="1824" y="1934"/>
              <a:ext cx="2448" cy="231"/>
            </a:xfrm>
            <a:prstGeom prst="rect">
              <a:avLst/>
            </a:prstGeom>
            <a:noFill/>
            <a:ln w="9525" algn="ctr">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000000"/>
                  </a:solidFill>
                  <a:effectLst/>
                  <a:uLnTx/>
                  <a:uFillTx/>
                  <a:latin typeface="Arial" charset="0"/>
                  <a:cs typeface="Arial" charset="0"/>
                </a:rPr>
                <a:t>Truyền tham số</a:t>
              </a:r>
            </a:p>
          </p:txBody>
        </p:sp>
        <p:sp>
          <p:nvSpPr>
            <p:cNvPr id="58" name="Text Box 60"/>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FFFFFF"/>
                  </a:solidFill>
                  <a:effectLst/>
                  <a:uLnTx/>
                  <a:uFillTx/>
                  <a:latin typeface="Arial" charset="0"/>
                  <a:cs typeface="Arial" charset="0"/>
                </a:rPr>
                <a:t>3</a:t>
              </a:r>
            </a:p>
          </p:txBody>
        </p:sp>
      </p:grpSp>
      <p:grpSp>
        <p:nvGrpSpPr>
          <p:cNvPr id="59" name="Group 61"/>
          <p:cNvGrpSpPr>
            <a:grpSpLocks/>
          </p:cNvGrpSpPr>
          <p:nvPr/>
        </p:nvGrpSpPr>
        <p:grpSpPr bwMode="auto">
          <a:xfrm>
            <a:off x="2051720" y="3977937"/>
            <a:ext cx="5400600" cy="685800"/>
            <a:chOff x="1296" y="1824"/>
            <a:chExt cx="2976" cy="432"/>
          </a:xfrm>
        </p:grpSpPr>
        <p:sp>
          <p:nvSpPr>
            <p:cNvPr id="60" name="AutoShape 62"/>
            <p:cNvSpPr>
              <a:spLocks noChangeArrowheads="1"/>
            </p:cNvSpPr>
            <p:nvPr/>
          </p:nvSpPr>
          <p:spPr bwMode="gray">
            <a:xfrm>
              <a:off x="1536" y="1899"/>
              <a:ext cx="2736" cy="288"/>
            </a:xfrm>
            <a:prstGeom prst="roundRect">
              <a:avLst>
                <a:gd name="adj" fmla="val 16667"/>
              </a:avLst>
            </a:prstGeom>
            <a:gradFill rotWithShape="1">
              <a:gsLst>
                <a:gs pos="0">
                  <a:srgbClr val="A0B5C4">
                    <a:gamma/>
                    <a:tint val="21176"/>
                    <a:invGamma/>
                  </a:srgbClr>
                </a:gs>
                <a:gs pos="100000">
                  <a:srgbClr val="A0B5C4"/>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61" name="AutoShape 63"/>
            <p:cNvSpPr>
              <a:spLocks noChangeArrowheads="1"/>
            </p:cNvSpPr>
            <p:nvPr/>
          </p:nvSpPr>
          <p:spPr bwMode="gray">
            <a:xfrm>
              <a:off x="1296" y="1824"/>
              <a:ext cx="432" cy="432"/>
            </a:xfrm>
            <a:prstGeom prst="diamond">
              <a:avLst/>
            </a:prstGeom>
            <a:solidFill>
              <a:srgbClr val="A0B5C4"/>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62" name="Text Box 64"/>
            <p:cNvSpPr txBox="1">
              <a:spLocks noChangeArrowheads="1"/>
            </p:cNvSpPr>
            <p:nvPr/>
          </p:nvSpPr>
          <p:spPr bwMode="gray">
            <a:xfrm>
              <a:off x="1824" y="1934"/>
              <a:ext cx="2448" cy="233"/>
            </a:xfrm>
            <a:prstGeom prst="rect">
              <a:avLst/>
            </a:prstGeom>
            <a:noFill/>
            <a:ln w="9525" algn="ctr">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000000"/>
                  </a:solidFill>
                  <a:effectLst/>
                  <a:uLnTx/>
                  <a:uFillTx/>
                  <a:latin typeface="Arial" charset="0"/>
                  <a:cs typeface="Arial" charset="0"/>
                </a:rPr>
                <a:t>Biểu th</a:t>
              </a:r>
              <a:r>
                <a:rPr lang="en-US" b="1" kern="0">
                  <a:solidFill>
                    <a:srgbClr val="000000"/>
                  </a:solidFill>
                  <a:latin typeface="Arial" charset="0"/>
                  <a:cs typeface="Arial" charset="0"/>
                </a:rPr>
                <a:t>ức Lamda</a:t>
              </a:r>
              <a:endParaRPr kumimoji="0" lang="en-US" sz="1800" b="1" i="0" u="none" strike="noStrike" kern="0" cap="none" spc="0" normalizeH="0" baseline="0" noProof="0">
                <a:ln>
                  <a:noFill/>
                </a:ln>
                <a:solidFill>
                  <a:srgbClr val="000000"/>
                </a:solidFill>
                <a:effectLst/>
                <a:uLnTx/>
                <a:uFillTx/>
                <a:latin typeface="Arial" charset="0"/>
                <a:cs typeface="Arial" charset="0"/>
              </a:endParaRPr>
            </a:p>
          </p:txBody>
        </p:sp>
        <p:sp>
          <p:nvSpPr>
            <p:cNvPr id="63" name="Text Box 65"/>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FFFFFF"/>
                  </a:solidFill>
                  <a:effectLst/>
                  <a:uLnTx/>
                  <a:uFillTx/>
                  <a:latin typeface="Arial" charset="0"/>
                  <a:cs typeface="Arial" charset="0"/>
                </a:rPr>
                <a:t>4</a:t>
              </a:r>
            </a:p>
          </p:txBody>
        </p:sp>
      </p:grpSp>
    </p:spTree>
    <p:extLst>
      <p:ext uri="{BB962C8B-B14F-4D97-AF65-F5344CB8AC3E}">
        <p14:creationId xmlns:p14="http://schemas.microsoft.com/office/powerpoint/2010/main" val="689447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anim calcmode="lin" valueType="num">
                                      <p:cBhvr>
                                        <p:cTn id="8" dur="500" fill="hold"/>
                                        <p:tgtEl>
                                          <p:spTgt spid="44"/>
                                        </p:tgtEl>
                                        <p:attrNameLst>
                                          <p:attrName>ppt_x</p:attrName>
                                        </p:attrNameLst>
                                      </p:cBhvr>
                                      <p:tavLst>
                                        <p:tav tm="0">
                                          <p:val>
                                            <p:strVal val="#ppt_x"/>
                                          </p:val>
                                        </p:tav>
                                        <p:tav tm="100000">
                                          <p:val>
                                            <p:strVal val="#ppt_x"/>
                                          </p:val>
                                        </p:tav>
                                      </p:tavLst>
                                    </p:anim>
                                    <p:anim calcmode="lin" valueType="num">
                                      <p:cBhvr>
                                        <p:cTn id="9" dur="500" fill="hold"/>
                                        <p:tgtEl>
                                          <p:spTgt spid="44"/>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7" presetClass="entr" presetSubtype="0" fill="hold" nodeType="afterEffect">
                                  <p:stCondLst>
                                    <p:cond delay="0"/>
                                  </p:stCondLst>
                                  <p:childTnLst>
                                    <p:set>
                                      <p:cBhvr>
                                        <p:cTn id="12" dur="1" fill="hold">
                                          <p:stCondLst>
                                            <p:cond delay="0"/>
                                          </p:stCondLst>
                                        </p:cTn>
                                        <p:tgtEl>
                                          <p:spTgt spid="49"/>
                                        </p:tgtEl>
                                        <p:attrNameLst>
                                          <p:attrName>style.visibility</p:attrName>
                                        </p:attrNameLst>
                                      </p:cBhvr>
                                      <p:to>
                                        <p:strVal val="visible"/>
                                      </p:to>
                                    </p:set>
                                    <p:animEffect transition="in" filter="fade">
                                      <p:cBhvr>
                                        <p:cTn id="13" dur="1000"/>
                                        <p:tgtEl>
                                          <p:spTgt spid="49"/>
                                        </p:tgtEl>
                                      </p:cBhvr>
                                    </p:animEffect>
                                    <p:anim calcmode="lin" valueType="num">
                                      <p:cBhvr>
                                        <p:cTn id="14" dur="1000" fill="hold"/>
                                        <p:tgtEl>
                                          <p:spTgt spid="49"/>
                                        </p:tgtEl>
                                        <p:attrNameLst>
                                          <p:attrName>ppt_x</p:attrName>
                                        </p:attrNameLst>
                                      </p:cBhvr>
                                      <p:tavLst>
                                        <p:tav tm="0">
                                          <p:val>
                                            <p:strVal val="#ppt_x"/>
                                          </p:val>
                                        </p:tav>
                                        <p:tav tm="100000">
                                          <p:val>
                                            <p:strVal val="#ppt_x"/>
                                          </p:val>
                                        </p:tav>
                                      </p:tavLst>
                                    </p:anim>
                                    <p:anim calcmode="lin" valueType="num">
                                      <p:cBhvr>
                                        <p:cTn id="15" dur="1000" fill="hold"/>
                                        <p:tgtEl>
                                          <p:spTgt spid="49"/>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47" presetClass="entr" presetSubtype="0" fill="hold" nodeType="afterEffect">
                                  <p:stCondLst>
                                    <p:cond delay="0"/>
                                  </p:stCondLst>
                                  <p:childTnLst>
                                    <p:set>
                                      <p:cBhvr>
                                        <p:cTn id="18" dur="1" fill="hold">
                                          <p:stCondLst>
                                            <p:cond delay="0"/>
                                          </p:stCondLst>
                                        </p:cTn>
                                        <p:tgtEl>
                                          <p:spTgt spid="54"/>
                                        </p:tgtEl>
                                        <p:attrNameLst>
                                          <p:attrName>style.visibility</p:attrName>
                                        </p:attrNameLst>
                                      </p:cBhvr>
                                      <p:to>
                                        <p:strVal val="visible"/>
                                      </p:to>
                                    </p:set>
                                    <p:animEffect transition="in" filter="fade">
                                      <p:cBhvr>
                                        <p:cTn id="19" dur="1000"/>
                                        <p:tgtEl>
                                          <p:spTgt spid="54"/>
                                        </p:tgtEl>
                                      </p:cBhvr>
                                    </p:animEffect>
                                    <p:anim calcmode="lin" valueType="num">
                                      <p:cBhvr>
                                        <p:cTn id="20" dur="1000" fill="hold"/>
                                        <p:tgtEl>
                                          <p:spTgt spid="54"/>
                                        </p:tgtEl>
                                        <p:attrNameLst>
                                          <p:attrName>ppt_x</p:attrName>
                                        </p:attrNameLst>
                                      </p:cBhvr>
                                      <p:tavLst>
                                        <p:tav tm="0">
                                          <p:val>
                                            <p:strVal val="#ppt_x"/>
                                          </p:val>
                                        </p:tav>
                                        <p:tav tm="100000">
                                          <p:val>
                                            <p:strVal val="#ppt_x"/>
                                          </p:val>
                                        </p:tav>
                                      </p:tavLst>
                                    </p:anim>
                                    <p:anim calcmode="lin" valueType="num">
                                      <p:cBhvr>
                                        <p:cTn id="21" dur="1000" fill="hold"/>
                                        <p:tgtEl>
                                          <p:spTgt spid="54"/>
                                        </p:tgtEl>
                                        <p:attrNameLst>
                                          <p:attrName>ppt_y</p:attrName>
                                        </p:attrNameLst>
                                      </p:cBhvr>
                                      <p:tavLst>
                                        <p:tav tm="0">
                                          <p:val>
                                            <p:strVal val="#ppt_y-.1"/>
                                          </p:val>
                                        </p:tav>
                                        <p:tav tm="100000">
                                          <p:val>
                                            <p:strVal val="#ppt_y"/>
                                          </p:val>
                                        </p:tav>
                                      </p:tavLst>
                                    </p:anim>
                                  </p:childTnLst>
                                </p:cTn>
                              </p:par>
                            </p:childTnLst>
                          </p:cTn>
                        </p:par>
                        <p:par>
                          <p:cTn id="22" fill="hold">
                            <p:stCondLst>
                              <p:cond delay="2500"/>
                            </p:stCondLst>
                            <p:childTnLst>
                              <p:par>
                                <p:cTn id="23" presetID="47" presetClass="entr" presetSubtype="0" fill="hold" nodeType="afterEffect">
                                  <p:stCondLst>
                                    <p:cond delay="0"/>
                                  </p:stCondLst>
                                  <p:childTnLst>
                                    <p:set>
                                      <p:cBhvr>
                                        <p:cTn id="24" dur="1" fill="hold">
                                          <p:stCondLst>
                                            <p:cond delay="0"/>
                                          </p:stCondLst>
                                        </p:cTn>
                                        <p:tgtEl>
                                          <p:spTgt spid="59"/>
                                        </p:tgtEl>
                                        <p:attrNameLst>
                                          <p:attrName>style.visibility</p:attrName>
                                        </p:attrNameLst>
                                      </p:cBhvr>
                                      <p:to>
                                        <p:strVal val="visible"/>
                                      </p:to>
                                    </p:set>
                                    <p:animEffect transition="in" filter="fade">
                                      <p:cBhvr>
                                        <p:cTn id="25" dur="1000"/>
                                        <p:tgtEl>
                                          <p:spTgt spid="59"/>
                                        </p:tgtEl>
                                      </p:cBhvr>
                                    </p:animEffect>
                                    <p:anim calcmode="lin" valueType="num">
                                      <p:cBhvr>
                                        <p:cTn id="26" dur="1000" fill="hold"/>
                                        <p:tgtEl>
                                          <p:spTgt spid="59"/>
                                        </p:tgtEl>
                                        <p:attrNameLst>
                                          <p:attrName>ppt_x</p:attrName>
                                        </p:attrNameLst>
                                      </p:cBhvr>
                                      <p:tavLst>
                                        <p:tav tm="0">
                                          <p:val>
                                            <p:strVal val="#ppt_x"/>
                                          </p:val>
                                        </p:tav>
                                        <p:tav tm="100000">
                                          <p:val>
                                            <p:strVal val="#ppt_x"/>
                                          </p:val>
                                        </p:tav>
                                      </p:tavLst>
                                    </p:anim>
                                    <p:anim calcmode="lin" valueType="num">
                                      <p:cBhvr>
                                        <p:cTn id="27" dur="1000" fill="hold"/>
                                        <p:tgtEl>
                                          <p:spTgt spid="5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F34D058-F4C5-4E9F-5177-9A1688E38904}"/>
              </a:ext>
            </a:extLst>
          </p:cNvPr>
          <p:cNvSpPr>
            <a:spLocks noGrp="1"/>
          </p:cNvSpPr>
          <p:nvPr>
            <p:ph type="title"/>
          </p:nvPr>
        </p:nvSpPr>
        <p:spPr>
          <a:xfrm>
            <a:off x="971600" y="381000"/>
            <a:ext cx="7488832" cy="685800"/>
          </a:xfrm>
        </p:spPr>
        <p:txBody>
          <a:bodyPr wrap="square" anchor="ctr">
            <a:normAutofit/>
          </a:bodyPr>
          <a:lstStyle/>
          <a:p>
            <a:r>
              <a:rPr lang="en-VN" dirty="0"/>
              <a:t>3.1.1 Định nghĩa lớp và đối </a:t>
            </a:r>
          </a:p>
        </p:txBody>
      </p:sp>
      <p:pic>
        <p:nvPicPr>
          <p:cNvPr id="6152" name="Picture 8" descr="Object Oriented Programming 101 — Classes and Objects | by SUMIT SHARMA |  Geek Culture | Medium">
            <a:extLst>
              <a:ext uri="{FF2B5EF4-FFF2-40B4-BE49-F238E27FC236}">
                <a16:creationId xmlns:a16="http://schemas.microsoft.com/office/drawing/2014/main" id="{62AB896B-2299-8AC7-95D4-2FB991246F8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62000" y="1514856"/>
            <a:ext cx="7924800" cy="4437888"/>
          </a:xfrm>
          <a:prstGeom prst="rect">
            <a:avLst/>
          </a:prstGeom>
          <a:solidFill>
            <a:srgbClr val="FFFFFF"/>
          </a:solidFill>
        </p:spPr>
      </p:pic>
      <p:sp>
        <p:nvSpPr>
          <p:cNvPr id="3" name="Date Placeholder 2">
            <a:extLst>
              <a:ext uri="{FF2B5EF4-FFF2-40B4-BE49-F238E27FC236}">
                <a16:creationId xmlns:a16="http://schemas.microsoft.com/office/drawing/2014/main" id="{60211ECC-AF60-7086-E9BF-4BC61DA404E5}"/>
              </a:ext>
            </a:extLst>
          </p:cNvPr>
          <p:cNvSpPr>
            <a:spLocks noGrp="1"/>
          </p:cNvSpPr>
          <p:nvPr>
            <p:ph type="dt" sz="half" idx="10"/>
          </p:nvPr>
        </p:nvSpPr>
        <p:spPr>
          <a:xfrm>
            <a:off x="381000" y="6400800"/>
            <a:ext cx="1981200" cy="320675"/>
          </a:xfrm>
        </p:spPr>
        <p:txBody>
          <a:bodyPr wrap="square" anchor="t">
            <a:normAutofit/>
          </a:bodyPr>
          <a:lstStyle/>
          <a:p>
            <a:pPr>
              <a:spcAft>
                <a:spcPts val="600"/>
              </a:spcAft>
            </a:pPr>
            <a:fld id="{4719FDB1-9615-4287-8D55-AF20E3CF298E}" type="datetime1">
              <a:rPr lang="vi-VN" smtClean="0"/>
              <a:pPr>
                <a:spcAft>
                  <a:spcPts val="600"/>
                </a:spcAft>
              </a:pPr>
              <a:t>04/02/2025</a:t>
            </a:fld>
            <a:endParaRPr lang="vi-VN"/>
          </a:p>
        </p:txBody>
      </p:sp>
      <p:sp>
        <p:nvSpPr>
          <p:cNvPr id="4" name="Footer Placeholder 3">
            <a:extLst>
              <a:ext uri="{FF2B5EF4-FFF2-40B4-BE49-F238E27FC236}">
                <a16:creationId xmlns:a16="http://schemas.microsoft.com/office/drawing/2014/main" id="{C69374C8-EE23-7634-0C28-2F7EF257392D}"/>
              </a:ext>
            </a:extLst>
          </p:cNvPr>
          <p:cNvSpPr>
            <a:spLocks noGrp="1"/>
          </p:cNvSpPr>
          <p:nvPr>
            <p:ph type="ftr" sz="quarter" idx="11"/>
          </p:nvPr>
        </p:nvSpPr>
        <p:spPr>
          <a:xfrm>
            <a:off x="2667000" y="6400800"/>
            <a:ext cx="3962400" cy="320675"/>
          </a:xfrm>
        </p:spPr>
        <p:txBody>
          <a:bodyPr wrap="square" anchor="t">
            <a:normAutofit/>
          </a:bodyPr>
          <a:lstStyle/>
          <a:p>
            <a:pPr>
              <a:spcAft>
                <a:spcPts val="600"/>
              </a:spcAft>
            </a:pPr>
            <a:r>
              <a:rPr lang="vi-VN"/>
              <a:t>Chương 3. Lập trình hướng đối tượng trong C#</a:t>
            </a:r>
          </a:p>
        </p:txBody>
      </p:sp>
      <p:sp>
        <p:nvSpPr>
          <p:cNvPr id="5" name="Slide Number Placeholder 4">
            <a:extLst>
              <a:ext uri="{FF2B5EF4-FFF2-40B4-BE49-F238E27FC236}">
                <a16:creationId xmlns:a16="http://schemas.microsoft.com/office/drawing/2014/main" id="{25A994BD-AAD8-B021-E528-2DD836D527B9}"/>
              </a:ext>
            </a:extLst>
          </p:cNvPr>
          <p:cNvSpPr>
            <a:spLocks noGrp="1"/>
          </p:cNvSpPr>
          <p:nvPr>
            <p:ph type="sldNum" sz="quarter" idx="12"/>
          </p:nvPr>
        </p:nvSpPr>
        <p:spPr>
          <a:xfrm>
            <a:off x="6934200" y="6400800"/>
            <a:ext cx="1981200" cy="320675"/>
          </a:xfrm>
        </p:spPr>
        <p:txBody>
          <a:bodyPr wrap="square" anchor="t">
            <a:normAutofit/>
          </a:bodyPr>
          <a:lstStyle/>
          <a:p>
            <a:pPr>
              <a:spcAft>
                <a:spcPts val="600"/>
              </a:spcAft>
            </a:pPr>
            <a:fld id="{5AB95402-1E0D-474E-8D8C-CBE7F053639E}" type="slidenum">
              <a:rPr lang="vi-VN" smtClean="0"/>
              <a:pPr>
                <a:spcAft>
                  <a:spcPts val="600"/>
                </a:spcAft>
              </a:pPr>
              <a:t>4</a:t>
            </a:fld>
            <a:r>
              <a:rPr lang="vi-VN"/>
              <a:t>/33</a:t>
            </a:r>
          </a:p>
        </p:txBody>
      </p:sp>
      <p:sp>
        <p:nvSpPr>
          <p:cNvPr id="7" name="AutoShape 2" descr="Tổng quan về lập trình hướng đối tượng">
            <a:extLst>
              <a:ext uri="{FF2B5EF4-FFF2-40B4-BE49-F238E27FC236}">
                <a16:creationId xmlns:a16="http://schemas.microsoft.com/office/drawing/2014/main" id="{89A32D4C-6437-5CD8-47B4-7650B459AA1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VN"/>
          </a:p>
        </p:txBody>
      </p:sp>
    </p:spTree>
    <p:extLst>
      <p:ext uri="{BB962C8B-B14F-4D97-AF65-F5344CB8AC3E}">
        <p14:creationId xmlns:p14="http://schemas.microsoft.com/office/powerpoint/2010/main" val="25493560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5A64F30-B330-143A-B12D-948879DC25D4}"/>
              </a:ext>
            </a:extLst>
          </p:cNvPr>
          <p:cNvSpPr>
            <a:spLocks noGrp="1"/>
          </p:cNvSpPr>
          <p:nvPr>
            <p:ph idx="1"/>
          </p:nvPr>
        </p:nvSpPr>
        <p:spPr/>
        <p:txBody>
          <a:bodyPr/>
          <a:lstStyle/>
          <a:p>
            <a:endParaRPr lang="en-VN"/>
          </a:p>
        </p:txBody>
      </p:sp>
      <p:sp>
        <p:nvSpPr>
          <p:cNvPr id="3" name="Date Placeholder 2">
            <a:extLst>
              <a:ext uri="{FF2B5EF4-FFF2-40B4-BE49-F238E27FC236}">
                <a16:creationId xmlns:a16="http://schemas.microsoft.com/office/drawing/2014/main" id="{02FBF9FA-EB6C-CEFD-E6C8-2A963A9D1027}"/>
              </a:ext>
            </a:extLst>
          </p:cNvPr>
          <p:cNvSpPr>
            <a:spLocks noGrp="1"/>
          </p:cNvSpPr>
          <p:nvPr>
            <p:ph type="dt" sz="half" idx="10"/>
          </p:nvPr>
        </p:nvSpPr>
        <p:spPr/>
        <p:txBody>
          <a:bodyPr/>
          <a:lstStyle/>
          <a:p>
            <a:fld id="{4719FDB1-9615-4287-8D55-AF20E3CF298E}" type="datetime1">
              <a:rPr lang="vi-VN" smtClean="0"/>
              <a:t>04/02/2025</a:t>
            </a:fld>
            <a:endParaRPr lang="vi-VN"/>
          </a:p>
        </p:txBody>
      </p:sp>
      <p:sp>
        <p:nvSpPr>
          <p:cNvPr id="4" name="Footer Placeholder 3">
            <a:extLst>
              <a:ext uri="{FF2B5EF4-FFF2-40B4-BE49-F238E27FC236}">
                <a16:creationId xmlns:a16="http://schemas.microsoft.com/office/drawing/2014/main" id="{90D26CF1-8007-9DF6-FC8D-84767B603817}"/>
              </a:ext>
            </a:extLst>
          </p:cNvPr>
          <p:cNvSpPr>
            <a:spLocks noGrp="1"/>
          </p:cNvSpPr>
          <p:nvPr>
            <p:ph type="ftr" sz="quarter" idx="11"/>
          </p:nvPr>
        </p:nvSpPr>
        <p:spPr/>
        <p:txBody>
          <a:bodyPr/>
          <a:lstStyle/>
          <a:p>
            <a:r>
              <a:rPr lang="vi-VN"/>
              <a:t>Chương 3. Lập trình hướng đối tượng trong C#</a:t>
            </a:r>
          </a:p>
        </p:txBody>
      </p:sp>
      <p:sp>
        <p:nvSpPr>
          <p:cNvPr id="5" name="Slide Number Placeholder 4">
            <a:extLst>
              <a:ext uri="{FF2B5EF4-FFF2-40B4-BE49-F238E27FC236}">
                <a16:creationId xmlns:a16="http://schemas.microsoft.com/office/drawing/2014/main" id="{E8E532BF-14CC-086C-B15E-05FC1014C195}"/>
              </a:ext>
            </a:extLst>
          </p:cNvPr>
          <p:cNvSpPr>
            <a:spLocks noGrp="1"/>
          </p:cNvSpPr>
          <p:nvPr>
            <p:ph type="sldNum" sz="quarter" idx="12"/>
          </p:nvPr>
        </p:nvSpPr>
        <p:spPr/>
        <p:txBody>
          <a:bodyPr/>
          <a:lstStyle/>
          <a:p>
            <a:fld id="{5AB95402-1E0D-474E-8D8C-CBE7F053639E}" type="slidenum">
              <a:rPr lang="vi-VN" smtClean="0"/>
              <a:pPr/>
              <a:t>5</a:t>
            </a:fld>
            <a:r>
              <a:rPr lang="vi-VN"/>
              <a:t>/33</a:t>
            </a:r>
          </a:p>
        </p:txBody>
      </p:sp>
      <p:sp>
        <p:nvSpPr>
          <p:cNvPr id="6" name="Title 5">
            <a:extLst>
              <a:ext uri="{FF2B5EF4-FFF2-40B4-BE49-F238E27FC236}">
                <a16:creationId xmlns:a16="http://schemas.microsoft.com/office/drawing/2014/main" id="{56BB76DB-7A1A-7A82-0513-C53C3CC03C7A}"/>
              </a:ext>
            </a:extLst>
          </p:cNvPr>
          <p:cNvSpPr>
            <a:spLocks noGrp="1"/>
          </p:cNvSpPr>
          <p:nvPr>
            <p:ph type="title"/>
          </p:nvPr>
        </p:nvSpPr>
        <p:spPr/>
        <p:txBody>
          <a:bodyPr/>
          <a:lstStyle/>
          <a:p>
            <a:r>
              <a:rPr lang="en-VN" dirty="0"/>
              <a:t>Định nghĩa lớp và đối tượng</a:t>
            </a:r>
          </a:p>
        </p:txBody>
      </p:sp>
      <p:pic>
        <p:nvPicPr>
          <p:cNvPr id="8194" name="Picture 2" descr="Understanding OOP concepts | codersite">
            <a:extLst>
              <a:ext uri="{FF2B5EF4-FFF2-40B4-BE49-F238E27FC236}">
                <a16:creationId xmlns:a16="http://schemas.microsoft.com/office/drawing/2014/main" id="{6CBF1B57-4B50-7B9F-0141-664B02B6B6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30288"/>
            <a:ext cx="9144000" cy="4797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06410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8311" y="321192"/>
            <a:ext cx="8382000" cy="685800"/>
          </a:xfrm>
        </p:spPr>
        <p:txBody>
          <a:bodyPr/>
          <a:lstStyle/>
          <a:p>
            <a:r>
              <a:rPr lang="vi-VN"/>
              <a:t>3.1.1 Định nghĩa lớp, đối tượng</a:t>
            </a:r>
            <a:endParaRPr lang="en-US"/>
          </a:p>
        </p:txBody>
      </p:sp>
      <p:sp>
        <p:nvSpPr>
          <p:cNvPr id="3" name="Content Placeholder 2"/>
          <p:cNvSpPr>
            <a:spLocks noGrp="1"/>
          </p:cNvSpPr>
          <p:nvPr>
            <p:ph idx="1"/>
          </p:nvPr>
        </p:nvSpPr>
        <p:spPr>
          <a:xfrm>
            <a:off x="463709" y="1052964"/>
            <a:ext cx="8216579" cy="5181600"/>
          </a:xfrm>
        </p:spPr>
        <p:txBody>
          <a:bodyPr/>
          <a:lstStyle/>
          <a:p>
            <a:pPr marL="0" indent="0">
              <a:buNone/>
            </a:pPr>
            <a:endParaRPr lang="en-US" sz="2000" dirty="0"/>
          </a:p>
          <a:p>
            <a:r>
              <a:rPr lang="en-US" sz="2000" dirty="0" err="1"/>
              <a:t>Người</a:t>
            </a:r>
            <a:r>
              <a:rPr lang="en-US" sz="2000" dirty="0"/>
              <a:t> ta </a:t>
            </a:r>
            <a:r>
              <a:rPr lang="en-US" sz="2000" dirty="0" err="1"/>
              <a:t>gộp</a:t>
            </a:r>
            <a:r>
              <a:rPr lang="en-US" sz="2000" dirty="0"/>
              <a:t> </a:t>
            </a:r>
            <a:r>
              <a:rPr lang="en-US" sz="2000" dirty="0" err="1"/>
              <a:t>tất</a:t>
            </a:r>
            <a:r>
              <a:rPr lang="en-US" sz="2000" dirty="0"/>
              <a:t> </a:t>
            </a:r>
            <a:r>
              <a:rPr lang="en-US" sz="2000" dirty="0" err="1"/>
              <a:t>cả</a:t>
            </a:r>
            <a:r>
              <a:rPr lang="en-US" sz="2000" dirty="0"/>
              <a:t> </a:t>
            </a:r>
            <a:r>
              <a:rPr lang="en-US" sz="2000" dirty="0" err="1"/>
              <a:t>các</a:t>
            </a:r>
            <a:r>
              <a:rPr lang="en-US" sz="2000" dirty="0"/>
              <a:t> </a:t>
            </a:r>
            <a:r>
              <a:rPr lang="en-US" sz="2000" dirty="0" err="1"/>
              <a:t>đối</a:t>
            </a:r>
            <a:r>
              <a:rPr lang="en-US" sz="2000" dirty="0"/>
              <a:t> </a:t>
            </a:r>
            <a:r>
              <a:rPr lang="en-US" sz="2000" dirty="0" err="1"/>
              <a:t>tượng</a:t>
            </a:r>
            <a:r>
              <a:rPr lang="en-US" sz="2000" dirty="0"/>
              <a:t> </a:t>
            </a:r>
            <a:r>
              <a:rPr lang="en-US" sz="2000" dirty="0" err="1"/>
              <a:t>cùng</a:t>
            </a:r>
            <a:r>
              <a:rPr lang="en-US" sz="2000" dirty="0"/>
              <a:t> </a:t>
            </a:r>
            <a:r>
              <a:rPr lang="en-US" sz="2000" dirty="0" err="1"/>
              <a:t>chung</a:t>
            </a:r>
            <a:r>
              <a:rPr lang="en-US" sz="2000" dirty="0"/>
              <a:t> </a:t>
            </a:r>
            <a:r>
              <a:rPr lang="en-US" sz="2000" dirty="0" err="1"/>
              <a:t>thuộc</a:t>
            </a:r>
            <a:r>
              <a:rPr lang="en-US" sz="2000" dirty="0"/>
              <a:t> </a:t>
            </a:r>
            <a:r>
              <a:rPr lang="en-US" sz="2000" dirty="0" err="1"/>
              <a:t>tính</a:t>
            </a:r>
            <a:r>
              <a:rPr lang="en-US" sz="2000" dirty="0"/>
              <a:t>, </a:t>
            </a:r>
            <a:r>
              <a:rPr lang="en-US" sz="2000" dirty="0" err="1"/>
              <a:t>phương</a:t>
            </a:r>
            <a:r>
              <a:rPr lang="en-US" sz="2000" dirty="0"/>
              <a:t> </a:t>
            </a:r>
            <a:r>
              <a:rPr lang="en-US" sz="2000" dirty="0" err="1"/>
              <a:t>thức</a:t>
            </a:r>
            <a:r>
              <a:rPr lang="en-US" sz="2000" dirty="0"/>
              <a:t> </a:t>
            </a:r>
            <a:r>
              <a:rPr lang="en-US" sz="2000" dirty="0" err="1"/>
              <a:t>thành</a:t>
            </a:r>
            <a:r>
              <a:rPr lang="en-US" sz="2000" dirty="0"/>
              <a:t> 1 </a:t>
            </a:r>
            <a:r>
              <a:rPr lang="en-US" sz="2000" dirty="0" err="1"/>
              <a:t>lớp</a:t>
            </a:r>
            <a:r>
              <a:rPr lang="en-US" sz="2000" dirty="0"/>
              <a:t>.</a:t>
            </a:r>
          </a:p>
          <a:p>
            <a:r>
              <a:rPr lang="en-US" sz="2000" dirty="0" err="1"/>
              <a:t>Một</a:t>
            </a:r>
            <a:r>
              <a:rPr lang="en-US" sz="2000" dirty="0"/>
              <a:t> </a:t>
            </a:r>
            <a:r>
              <a:rPr lang="en-US" sz="2000" dirty="0" err="1"/>
              <a:t>lớp</a:t>
            </a:r>
            <a:r>
              <a:rPr lang="en-US" sz="2000" dirty="0"/>
              <a:t> </a:t>
            </a:r>
            <a:r>
              <a:rPr lang="en-US" sz="2000" dirty="0" err="1"/>
              <a:t>là</a:t>
            </a:r>
            <a:r>
              <a:rPr lang="en-US" sz="2000" dirty="0"/>
              <a:t> </a:t>
            </a:r>
            <a:r>
              <a:rPr lang="en-US" sz="2000" dirty="0" err="1"/>
              <a:t>một</a:t>
            </a:r>
            <a:r>
              <a:rPr lang="en-US" sz="2000" dirty="0"/>
              <a:t> </a:t>
            </a:r>
            <a:r>
              <a:rPr lang="en-US" sz="2000" dirty="0" err="1"/>
              <a:t>kiểu</a:t>
            </a:r>
            <a:r>
              <a:rPr lang="en-US" sz="2000" dirty="0"/>
              <a:t> </a:t>
            </a:r>
            <a:r>
              <a:rPr lang="en-US" sz="2000" dirty="0" err="1"/>
              <a:t>mẫu</a:t>
            </a:r>
            <a:r>
              <a:rPr lang="en-US" sz="2000" dirty="0"/>
              <a:t> </a:t>
            </a:r>
            <a:r>
              <a:rPr lang="en-US" sz="2000" dirty="0" err="1"/>
              <a:t>chung</a:t>
            </a:r>
            <a:r>
              <a:rPr lang="en-US" sz="2000" dirty="0"/>
              <a:t> </a:t>
            </a:r>
            <a:r>
              <a:rPr lang="en-US" sz="2000" dirty="0" err="1"/>
              <a:t>cho</a:t>
            </a:r>
            <a:r>
              <a:rPr lang="en-US" sz="2000" dirty="0"/>
              <a:t> </a:t>
            </a:r>
            <a:r>
              <a:rPr lang="en-US" sz="2000" dirty="0" err="1"/>
              <a:t>các</a:t>
            </a:r>
            <a:r>
              <a:rPr lang="en-US" sz="2000" dirty="0"/>
              <a:t> </a:t>
            </a:r>
            <a:r>
              <a:rPr lang="en-US" sz="2000" dirty="0" err="1"/>
              <a:t>đối</a:t>
            </a:r>
            <a:r>
              <a:rPr lang="en-US" sz="2000" dirty="0"/>
              <a:t> </a:t>
            </a:r>
            <a:r>
              <a:rPr lang="en-US" sz="2000" dirty="0" err="1"/>
              <a:t>tượng</a:t>
            </a:r>
            <a:r>
              <a:rPr lang="en-US" sz="2000" dirty="0"/>
              <a:t> </a:t>
            </a:r>
            <a:r>
              <a:rPr lang="en-US" sz="2000" dirty="0" err="1"/>
              <a:t>thuộc</a:t>
            </a:r>
            <a:r>
              <a:rPr lang="en-US" sz="2000" dirty="0"/>
              <a:t> </a:t>
            </a:r>
            <a:r>
              <a:rPr lang="en-US" sz="2000" dirty="0" err="1"/>
              <a:t>cùng</a:t>
            </a:r>
            <a:r>
              <a:rPr lang="en-US" sz="2000" dirty="0"/>
              <a:t> </a:t>
            </a:r>
            <a:r>
              <a:rPr lang="en-US" sz="2000" dirty="0" err="1"/>
              <a:t>một</a:t>
            </a:r>
            <a:r>
              <a:rPr lang="en-US" sz="2000" dirty="0"/>
              <a:t> </a:t>
            </a:r>
            <a:r>
              <a:rPr lang="en-US" sz="2000" dirty="0" err="1"/>
              <a:t>loại</a:t>
            </a:r>
            <a:r>
              <a:rPr lang="en-US" sz="2000" dirty="0"/>
              <a:t>.</a:t>
            </a:r>
          </a:p>
          <a:p>
            <a:r>
              <a:rPr lang="en-US" sz="2000" dirty="0" err="1"/>
              <a:t>Lớp</a:t>
            </a:r>
            <a:r>
              <a:rPr lang="en-US" sz="2000" dirty="0"/>
              <a:t> </a:t>
            </a:r>
            <a:r>
              <a:rPr lang="en-US" sz="2000" dirty="0" err="1"/>
              <a:t>là</a:t>
            </a:r>
            <a:r>
              <a:rPr lang="en-US" sz="2000" dirty="0"/>
              <a:t> </a:t>
            </a:r>
            <a:r>
              <a:rPr lang="en-US" sz="2000" dirty="0" err="1"/>
              <a:t>một</a:t>
            </a:r>
            <a:r>
              <a:rPr lang="en-US" sz="2000" dirty="0"/>
              <a:t> </a:t>
            </a:r>
            <a:r>
              <a:rPr lang="en-US" sz="2000" dirty="0" err="1"/>
              <a:t>kiểu</a:t>
            </a:r>
            <a:r>
              <a:rPr lang="en-US" sz="2000" dirty="0"/>
              <a:t> </a:t>
            </a:r>
            <a:r>
              <a:rPr lang="en-US" sz="2000" dirty="0" err="1"/>
              <a:t>dữ</a:t>
            </a:r>
            <a:r>
              <a:rPr lang="en-US" sz="2000" dirty="0"/>
              <a:t> </a:t>
            </a:r>
            <a:r>
              <a:rPr lang="en-US" sz="2000" dirty="0" err="1"/>
              <a:t>liệu</a:t>
            </a:r>
            <a:r>
              <a:rPr lang="en-US" sz="2000" dirty="0"/>
              <a:t> </a:t>
            </a:r>
            <a:r>
              <a:rPr lang="en-US" sz="2000" dirty="0" err="1"/>
              <a:t>để</a:t>
            </a:r>
            <a:r>
              <a:rPr lang="en-US" sz="2000" dirty="0"/>
              <a:t> </a:t>
            </a:r>
            <a:r>
              <a:rPr lang="en-US" sz="2000" dirty="0" err="1"/>
              <a:t>tạo</a:t>
            </a:r>
            <a:r>
              <a:rPr lang="en-US" sz="2000" dirty="0"/>
              <a:t> </a:t>
            </a:r>
            <a:r>
              <a:rPr lang="en-US" sz="2000" dirty="0" err="1"/>
              <a:t>ra</a:t>
            </a:r>
            <a:r>
              <a:rPr lang="en-US" sz="2000" dirty="0"/>
              <a:t> </a:t>
            </a:r>
            <a:r>
              <a:rPr lang="en-US" sz="2000" dirty="0" err="1"/>
              <a:t>các</a:t>
            </a:r>
            <a:r>
              <a:rPr lang="en-US" sz="2000" dirty="0"/>
              <a:t> </a:t>
            </a:r>
            <a:r>
              <a:rPr lang="en-US" sz="2000" dirty="0" err="1"/>
              <a:t>đối</a:t>
            </a:r>
            <a:r>
              <a:rPr lang="en-US" sz="2000" dirty="0"/>
              <a:t> </a:t>
            </a:r>
            <a:r>
              <a:rPr lang="en-US" sz="2000" dirty="0" err="1"/>
              <a:t>tượng</a:t>
            </a:r>
            <a:r>
              <a:rPr lang="en-US" sz="2000" dirty="0"/>
              <a:t>.</a:t>
            </a:r>
          </a:p>
          <a:p>
            <a:r>
              <a:rPr lang="en-US" sz="2000" dirty="0"/>
              <a:t>Cú </a:t>
            </a:r>
            <a:r>
              <a:rPr lang="en-US" sz="2000" dirty="0" err="1"/>
              <a:t>pháp</a:t>
            </a:r>
            <a:r>
              <a:rPr lang="en-US" sz="2000" dirty="0"/>
              <a:t>:</a:t>
            </a:r>
          </a:p>
          <a:p>
            <a:pPr marL="471487" lvl="1" indent="0">
              <a:buNone/>
            </a:pPr>
            <a:r>
              <a:rPr lang="en-US" sz="2000" dirty="0"/>
              <a:t>[</a:t>
            </a:r>
            <a:r>
              <a:rPr lang="en-US" sz="2000" dirty="0" err="1"/>
              <a:t>phạm</a:t>
            </a:r>
            <a:r>
              <a:rPr lang="en-US" sz="2000" dirty="0"/>
              <a:t> vi </a:t>
            </a:r>
            <a:r>
              <a:rPr lang="en-US" sz="2000" dirty="0" err="1"/>
              <a:t>truy</a:t>
            </a:r>
            <a:r>
              <a:rPr lang="en-US" sz="2000" dirty="0"/>
              <a:t> </a:t>
            </a:r>
            <a:r>
              <a:rPr lang="en-US" sz="2000" dirty="0" err="1"/>
              <a:t>cập</a:t>
            </a:r>
            <a:r>
              <a:rPr lang="en-US" sz="2000" dirty="0"/>
              <a:t>] [</a:t>
            </a:r>
            <a:r>
              <a:rPr lang="en-US" sz="2000" dirty="0" err="1">
                <a:solidFill>
                  <a:schemeClr val="tx1">
                    <a:lumMod val="95000"/>
                    <a:lumOff val="5000"/>
                  </a:schemeClr>
                </a:solidFill>
              </a:rPr>
              <a:t>thuộc</a:t>
            </a:r>
            <a:r>
              <a:rPr lang="en-US" sz="2000" dirty="0">
                <a:solidFill>
                  <a:schemeClr val="tx1">
                    <a:lumMod val="95000"/>
                    <a:lumOff val="5000"/>
                  </a:schemeClr>
                </a:solidFill>
              </a:rPr>
              <a:t> </a:t>
            </a:r>
            <a:r>
              <a:rPr lang="en-US" sz="2000" dirty="0" err="1">
                <a:solidFill>
                  <a:schemeClr val="tx1">
                    <a:lumMod val="95000"/>
                    <a:lumOff val="5000"/>
                  </a:schemeClr>
                </a:solidFill>
              </a:rPr>
              <a:t>tính</a:t>
            </a:r>
            <a:r>
              <a:rPr lang="en-US" sz="2000" dirty="0"/>
              <a:t>] </a:t>
            </a:r>
            <a:r>
              <a:rPr lang="en-US" sz="2000" b="1" dirty="0">
                <a:solidFill>
                  <a:srgbClr val="FF0000"/>
                </a:solidFill>
              </a:rPr>
              <a:t>class</a:t>
            </a:r>
            <a:r>
              <a:rPr lang="en-US" sz="2000" dirty="0">
                <a:solidFill>
                  <a:srgbClr val="FF0000"/>
                </a:solidFill>
              </a:rPr>
              <a:t> </a:t>
            </a:r>
            <a:r>
              <a:rPr lang="en-US" sz="2000" dirty="0"/>
              <a:t>&lt;</a:t>
            </a:r>
            <a:r>
              <a:rPr lang="en-US" sz="2000" b="1" dirty="0" err="1">
                <a:solidFill>
                  <a:srgbClr val="002060"/>
                </a:solidFill>
              </a:rPr>
              <a:t>tên</a:t>
            </a:r>
            <a:r>
              <a:rPr lang="en-US" sz="2000" b="1" dirty="0">
                <a:solidFill>
                  <a:srgbClr val="002060"/>
                </a:solidFill>
              </a:rPr>
              <a:t> </a:t>
            </a:r>
            <a:r>
              <a:rPr lang="en-US" sz="2000" b="1" dirty="0" err="1">
                <a:solidFill>
                  <a:srgbClr val="002060"/>
                </a:solidFill>
              </a:rPr>
              <a:t>lớp</a:t>
            </a:r>
            <a:r>
              <a:rPr lang="en-US" sz="2000" dirty="0"/>
              <a:t>&gt;</a:t>
            </a:r>
          </a:p>
          <a:p>
            <a:pPr marL="471487" lvl="1" indent="0">
              <a:buNone/>
            </a:pPr>
            <a:r>
              <a:rPr lang="en-US" sz="2000" b="1" dirty="0">
                <a:solidFill>
                  <a:srgbClr val="FF0000"/>
                </a:solidFill>
              </a:rPr>
              <a:t>{</a:t>
            </a:r>
          </a:p>
          <a:p>
            <a:pPr marL="471487" lvl="1" indent="0">
              <a:buNone/>
            </a:pPr>
            <a:r>
              <a:rPr lang="en-US" sz="2000" dirty="0"/>
              <a:t> 	//Khai </a:t>
            </a:r>
            <a:r>
              <a:rPr lang="en-US" sz="2000" dirty="0" err="1"/>
              <a:t>báo</a:t>
            </a:r>
            <a:r>
              <a:rPr lang="en-US" sz="2000" dirty="0"/>
              <a:t> </a:t>
            </a:r>
            <a:r>
              <a:rPr lang="en-US" sz="2000" dirty="0" err="1"/>
              <a:t>các</a:t>
            </a:r>
            <a:r>
              <a:rPr lang="en-US" sz="2000" dirty="0"/>
              <a:t> </a:t>
            </a:r>
            <a:r>
              <a:rPr lang="en-US" sz="2000" dirty="0" err="1"/>
              <a:t>thuộc</a:t>
            </a:r>
            <a:r>
              <a:rPr lang="en-US" sz="2000" dirty="0"/>
              <a:t> </a:t>
            </a:r>
            <a:r>
              <a:rPr lang="en-US" sz="2000" dirty="0" err="1"/>
              <a:t>tính</a:t>
            </a:r>
            <a:endParaRPr lang="en-US" sz="2000" dirty="0"/>
          </a:p>
          <a:p>
            <a:pPr marL="471487" lvl="1" indent="0">
              <a:buNone/>
            </a:pPr>
            <a:r>
              <a:rPr lang="en-US" sz="2000" dirty="0"/>
              <a:t>	//Khai </a:t>
            </a:r>
            <a:r>
              <a:rPr lang="en-US" sz="2000" dirty="0" err="1"/>
              <a:t>báo</a:t>
            </a:r>
            <a:r>
              <a:rPr lang="en-US" sz="2000" dirty="0"/>
              <a:t> </a:t>
            </a:r>
            <a:r>
              <a:rPr lang="en-US" sz="2000" dirty="0" err="1"/>
              <a:t>các</a:t>
            </a:r>
            <a:r>
              <a:rPr lang="en-US" sz="2000" dirty="0"/>
              <a:t> </a:t>
            </a:r>
            <a:r>
              <a:rPr lang="en-US" sz="2000" dirty="0" err="1"/>
              <a:t>phương</a:t>
            </a:r>
            <a:r>
              <a:rPr lang="en-US" sz="2000" dirty="0"/>
              <a:t> </a:t>
            </a:r>
            <a:r>
              <a:rPr lang="en-US" sz="2000" dirty="0" err="1"/>
              <a:t>thức</a:t>
            </a:r>
            <a:endParaRPr lang="en-US" sz="2000" dirty="0"/>
          </a:p>
          <a:p>
            <a:pPr marL="471487" lvl="1" indent="0">
              <a:buNone/>
            </a:pPr>
            <a:r>
              <a:rPr lang="en-US" sz="2000" b="1" dirty="0">
                <a:solidFill>
                  <a:srgbClr val="FF0000"/>
                </a:solidFill>
              </a:rPr>
              <a:t>}</a:t>
            </a:r>
          </a:p>
          <a:p>
            <a:pPr marL="471487" lvl="1" indent="0">
              <a:buNone/>
            </a:pPr>
            <a:r>
              <a:rPr lang="en-US" sz="2000" dirty="0"/>
              <a:t>[</a:t>
            </a:r>
            <a:r>
              <a:rPr lang="en-US" sz="2000" b="1" dirty="0" err="1"/>
              <a:t>phạm</a:t>
            </a:r>
            <a:r>
              <a:rPr lang="en-US" sz="2000" b="1" dirty="0"/>
              <a:t> vi </a:t>
            </a:r>
            <a:r>
              <a:rPr lang="en-US" sz="2000" b="1" dirty="0" err="1"/>
              <a:t>truy</a:t>
            </a:r>
            <a:r>
              <a:rPr lang="en-US" sz="2000" b="1" dirty="0"/>
              <a:t> </a:t>
            </a:r>
            <a:r>
              <a:rPr lang="en-US" sz="2000" b="1" dirty="0" err="1"/>
              <a:t>cập</a:t>
            </a:r>
            <a:r>
              <a:rPr lang="en-US" sz="2000" dirty="0"/>
              <a:t>]: </a:t>
            </a:r>
            <a:r>
              <a:rPr lang="en-US" sz="2000" dirty="0" err="1"/>
              <a:t>khả</a:t>
            </a:r>
            <a:r>
              <a:rPr lang="en-US" sz="2000" dirty="0"/>
              <a:t> </a:t>
            </a:r>
            <a:r>
              <a:rPr lang="en-US" sz="2000" dirty="0" err="1"/>
              <a:t>năng</a:t>
            </a:r>
            <a:r>
              <a:rPr lang="en-US" sz="2000" dirty="0"/>
              <a:t> </a:t>
            </a:r>
            <a:r>
              <a:rPr lang="en-US" sz="2000" dirty="0" err="1"/>
              <a:t>truy</a:t>
            </a:r>
            <a:r>
              <a:rPr lang="en-US" sz="2000" dirty="0"/>
              <a:t> </a:t>
            </a:r>
            <a:r>
              <a:rPr lang="en-US" sz="2000" dirty="0" err="1"/>
              <a:t>nhập</a:t>
            </a:r>
            <a:r>
              <a:rPr lang="en-US" sz="2000" dirty="0"/>
              <a:t> </a:t>
            </a:r>
            <a:r>
              <a:rPr lang="en-US" sz="2000" dirty="0" err="1"/>
              <a:t>thành</a:t>
            </a:r>
            <a:r>
              <a:rPr lang="en-US" sz="2000" dirty="0"/>
              <a:t> </a:t>
            </a:r>
            <a:r>
              <a:rPr lang="en-US" sz="2000" dirty="0" err="1"/>
              <a:t>phần</a:t>
            </a:r>
            <a:r>
              <a:rPr lang="en-US" sz="2000" dirty="0"/>
              <a:t> </a:t>
            </a:r>
            <a:r>
              <a:rPr lang="en-US" sz="2000" dirty="0" err="1"/>
              <a:t>dữ</a:t>
            </a:r>
            <a:r>
              <a:rPr lang="en-US" sz="2000" dirty="0"/>
              <a:t> </a:t>
            </a:r>
            <a:r>
              <a:rPr lang="en-US" sz="2000" dirty="0" err="1"/>
              <a:t>liệu</a:t>
            </a:r>
            <a:r>
              <a:rPr lang="en-US" sz="2000" dirty="0"/>
              <a:t> (public, private, internal, protected, internal protected)</a:t>
            </a:r>
          </a:p>
          <a:p>
            <a:pPr marL="471487" lvl="1" indent="0">
              <a:buNone/>
            </a:pPr>
            <a:r>
              <a:rPr lang="en-US" sz="2000" dirty="0"/>
              <a:t>[</a:t>
            </a:r>
            <a:r>
              <a:rPr lang="en-US" sz="2000" b="1" dirty="0" err="1">
                <a:solidFill>
                  <a:schemeClr val="tx1">
                    <a:lumMod val="95000"/>
                    <a:lumOff val="5000"/>
                  </a:schemeClr>
                </a:solidFill>
              </a:rPr>
              <a:t>thuộc</a:t>
            </a:r>
            <a:r>
              <a:rPr lang="en-US" sz="2000" b="1" dirty="0">
                <a:solidFill>
                  <a:schemeClr val="tx1">
                    <a:lumMod val="95000"/>
                    <a:lumOff val="5000"/>
                  </a:schemeClr>
                </a:solidFill>
              </a:rPr>
              <a:t> </a:t>
            </a:r>
            <a:r>
              <a:rPr lang="en-US" sz="2000" b="1" dirty="0" err="1">
                <a:solidFill>
                  <a:schemeClr val="tx1">
                    <a:lumMod val="95000"/>
                    <a:lumOff val="5000"/>
                  </a:schemeClr>
                </a:solidFill>
              </a:rPr>
              <a:t>tính</a:t>
            </a:r>
            <a:r>
              <a:rPr lang="en-US" sz="2000" dirty="0"/>
              <a:t>]: </a:t>
            </a:r>
            <a:r>
              <a:rPr lang="en-US" sz="2000" dirty="0" err="1"/>
              <a:t>có</a:t>
            </a:r>
            <a:r>
              <a:rPr lang="en-US" sz="2000" dirty="0"/>
              <a:t> </a:t>
            </a:r>
            <a:r>
              <a:rPr lang="en-US" sz="2000" dirty="0" err="1"/>
              <a:t>thể</a:t>
            </a:r>
            <a:r>
              <a:rPr lang="en-US" sz="2000" dirty="0"/>
              <a:t> </a:t>
            </a:r>
            <a:r>
              <a:rPr lang="en-US" sz="2000" dirty="0" err="1"/>
              <a:t>là</a:t>
            </a:r>
            <a:r>
              <a:rPr lang="en-US" sz="2000" dirty="0"/>
              <a:t> static</a:t>
            </a:r>
          </a:p>
          <a:p>
            <a:pP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4FC11459-1175-4056-B1C9-C1D910115250}" type="datetime1">
              <a:rPr lang="vi-VN" smtClean="0"/>
              <a:t>04/02/2025</a:t>
            </a:fld>
            <a:endParaRPr lang="vi-VN"/>
          </a:p>
        </p:txBody>
      </p:sp>
      <p:sp>
        <p:nvSpPr>
          <p:cNvPr id="5" name="Footer Placeholder 4"/>
          <p:cNvSpPr>
            <a:spLocks noGrp="1"/>
          </p:cNvSpPr>
          <p:nvPr>
            <p:ph type="ftr" sz="quarter" idx="11"/>
          </p:nvPr>
        </p:nvSpPr>
        <p:spPr/>
        <p:txBody>
          <a:bodyPr/>
          <a:lstStyle/>
          <a:p>
            <a:r>
              <a:rPr lang="vi-VN"/>
              <a:t>Chương 3. Lập trình hướng đối tượng trong C#</a:t>
            </a:r>
          </a:p>
        </p:txBody>
      </p:sp>
      <p:sp>
        <p:nvSpPr>
          <p:cNvPr id="8" name="Slide Number Placeholder 7"/>
          <p:cNvSpPr>
            <a:spLocks noGrp="1"/>
          </p:cNvSpPr>
          <p:nvPr>
            <p:ph type="sldNum" sz="quarter" idx="12"/>
          </p:nvPr>
        </p:nvSpPr>
        <p:spPr/>
        <p:txBody>
          <a:bodyPr/>
          <a:lstStyle/>
          <a:p>
            <a:fld id="{5AB95402-1E0D-474E-8D8C-CBE7F053639E}" type="slidenum">
              <a:rPr lang="vi-VN" smtClean="0"/>
              <a:pPr/>
              <a:t>6</a:t>
            </a:fld>
            <a:r>
              <a:rPr lang="vi-VN"/>
              <a:t>/33</a:t>
            </a:r>
          </a:p>
        </p:txBody>
      </p:sp>
    </p:spTree>
    <p:extLst>
      <p:ext uri="{BB962C8B-B14F-4D97-AF65-F5344CB8AC3E}">
        <p14:creationId xmlns:p14="http://schemas.microsoft.com/office/powerpoint/2010/main" val="2749202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Đối tượng (Object)</a:t>
            </a:r>
            <a:endParaRPr lang="vi-VN"/>
          </a:p>
        </p:txBody>
      </p:sp>
      <p:sp>
        <p:nvSpPr>
          <p:cNvPr id="3" name="Content Placeholder 2"/>
          <p:cNvSpPr>
            <a:spLocks noGrp="1"/>
          </p:cNvSpPr>
          <p:nvPr>
            <p:ph idx="1"/>
          </p:nvPr>
        </p:nvSpPr>
        <p:spPr/>
        <p:txBody>
          <a:bodyPr/>
          <a:lstStyle/>
          <a:p>
            <a:r>
              <a:rPr lang="en-US"/>
              <a:t>Đối tượng” là gì?</a:t>
            </a:r>
          </a:p>
          <a:p>
            <a:pPr lvl="1"/>
            <a:r>
              <a:rPr lang="en-US"/>
              <a:t>là một người, địa điểm, sự kiện, sự vật …</a:t>
            </a:r>
          </a:p>
          <a:p>
            <a:r>
              <a:rPr lang="en-US"/>
              <a:t>Ví dụ: Đối tượng trong thế giới thực: Khách hàng sử dụng thẻ ATM</a:t>
            </a:r>
          </a:p>
          <a:p>
            <a:pPr lvl="1"/>
            <a:r>
              <a:rPr lang="en-US"/>
              <a:t>Thông tin cá nhân: tên, tuổi, số tài khoản, lượng tiền đang có trong tài khoản…</a:t>
            </a:r>
          </a:p>
          <a:p>
            <a:pPr lvl="1"/>
            <a:r>
              <a:rPr lang="en-US"/>
              <a:t>Hoạt động: Đăng ký làm thẻ, huỷ thẻ, rút tiền, nạp tiền…</a:t>
            </a:r>
            <a:endParaRPr lang="vi-VN"/>
          </a:p>
        </p:txBody>
      </p:sp>
      <p:sp>
        <p:nvSpPr>
          <p:cNvPr id="4" name="Date Placeholder 3"/>
          <p:cNvSpPr>
            <a:spLocks noGrp="1"/>
          </p:cNvSpPr>
          <p:nvPr>
            <p:ph type="dt" sz="half" idx="10"/>
          </p:nvPr>
        </p:nvSpPr>
        <p:spPr/>
        <p:txBody>
          <a:bodyPr/>
          <a:lstStyle/>
          <a:p>
            <a:fld id="{F7A7B9B2-600C-48DE-BF00-75F2D3FAECE7}" type="datetime1">
              <a:rPr lang="vi-VN" smtClean="0"/>
              <a:t>04/02/2025</a:t>
            </a:fld>
            <a:endParaRPr lang="vi-VN"/>
          </a:p>
        </p:txBody>
      </p:sp>
      <p:sp>
        <p:nvSpPr>
          <p:cNvPr id="5" name="Footer Placeholder 4"/>
          <p:cNvSpPr>
            <a:spLocks noGrp="1"/>
          </p:cNvSpPr>
          <p:nvPr>
            <p:ph type="ftr" sz="quarter" idx="11"/>
          </p:nvPr>
        </p:nvSpPr>
        <p:spPr/>
        <p:txBody>
          <a:bodyPr/>
          <a:lstStyle/>
          <a:p>
            <a:r>
              <a:rPr lang="vi-VN"/>
              <a:t>Chương 1. Tổng quan về lập trình hướng đối tượng và ngôn ngữ C#</a:t>
            </a:r>
          </a:p>
        </p:txBody>
      </p:sp>
      <p:sp>
        <p:nvSpPr>
          <p:cNvPr id="7" name="Slide Number Placeholder 6"/>
          <p:cNvSpPr>
            <a:spLocks noGrp="1"/>
          </p:cNvSpPr>
          <p:nvPr>
            <p:ph type="sldNum" sz="quarter" idx="12"/>
          </p:nvPr>
        </p:nvSpPr>
        <p:spPr/>
        <p:txBody>
          <a:bodyPr/>
          <a:lstStyle/>
          <a:p>
            <a:fld id="{5AB95402-1E0D-474E-8D8C-CBE7F053639E}" type="slidenum">
              <a:rPr lang="vi-VN" smtClean="0"/>
              <a:pPr/>
              <a:t>7</a:t>
            </a:fld>
            <a:r>
              <a:rPr lang="vi-VN"/>
              <a:t>/46</a:t>
            </a:r>
          </a:p>
        </p:txBody>
      </p:sp>
    </p:spTree>
    <p:extLst>
      <p:ext uri="{BB962C8B-B14F-4D97-AF65-F5344CB8AC3E}">
        <p14:creationId xmlns:p14="http://schemas.microsoft.com/office/powerpoint/2010/main" val="531831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Đối tượng trong thế giới thực</a:t>
            </a:r>
            <a:endParaRPr lang="vi-VN"/>
          </a:p>
        </p:txBody>
      </p:sp>
      <p:sp>
        <p:nvSpPr>
          <p:cNvPr id="3" name="Content Placeholder 2"/>
          <p:cNvSpPr>
            <a:spLocks noGrp="1"/>
          </p:cNvSpPr>
          <p:nvPr>
            <p:ph idx="1"/>
          </p:nvPr>
        </p:nvSpPr>
        <p:spPr/>
        <p:txBody>
          <a:bodyPr/>
          <a:lstStyle/>
          <a:p>
            <a:r>
              <a:rPr lang="en-US" b="1"/>
              <a:t>Một đối tượng trong thế giới thực </a:t>
            </a:r>
            <a:r>
              <a:rPr lang="en-US"/>
              <a:t>là một thực thể cụ thể mà thông thường chúng ta có thể </a:t>
            </a:r>
            <a:r>
              <a:rPr lang="en-US" i="1"/>
              <a:t>sờ, nhìn thấy hay cảm nhận được</a:t>
            </a:r>
          </a:p>
          <a:p>
            <a:endParaRPr lang="vi-VN"/>
          </a:p>
        </p:txBody>
      </p:sp>
      <p:sp>
        <p:nvSpPr>
          <p:cNvPr id="4" name="Date Placeholder 3"/>
          <p:cNvSpPr>
            <a:spLocks noGrp="1"/>
          </p:cNvSpPr>
          <p:nvPr>
            <p:ph type="dt" sz="half" idx="10"/>
          </p:nvPr>
        </p:nvSpPr>
        <p:spPr/>
        <p:txBody>
          <a:bodyPr/>
          <a:lstStyle/>
          <a:p>
            <a:fld id="{2B17758D-2D30-4A9E-80B1-F8B0DBD39F96}" type="datetime1">
              <a:rPr lang="vi-VN" smtClean="0"/>
              <a:t>04/02/2025</a:t>
            </a:fld>
            <a:endParaRPr lang="vi-VN"/>
          </a:p>
        </p:txBody>
      </p:sp>
      <p:sp>
        <p:nvSpPr>
          <p:cNvPr id="5" name="Footer Placeholder 4"/>
          <p:cNvSpPr>
            <a:spLocks noGrp="1"/>
          </p:cNvSpPr>
          <p:nvPr>
            <p:ph type="ftr" sz="quarter" idx="11"/>
          </p:nvPr>
        </p:nvSpPr>
        <p:spPr/>
        <p:txBody>
          <a:bodyPr/>
          <a:lstStyle/>
          <a:p>
            <a:r>
              <a:rPr lang="vi-VN"/>
              <a:t>Chương 1. Tổng quan về lập trình hướng đối tượng và ngôn ngữ C#</a:t>
            </a:r>
          </a:p>
        </p:txBody>
      </p:sp>
      <p:graphicFrame>
        <p:nvGraphicFramePr>
          <p:cNvPr id="6" name="Table 5"/>
          <p:cNvGraphicFramePr>
            <a:graphicFrameLocks noGrp="1"/>
          </p:cNvGraphicFramePr>
          <p:nvPr/>
        </p:nvGraphicFramePr>
        <p:xfrm>
          <a:off x="3635896" y="2996952"/>
          <a:ext cx="5029200" cy="3061308"/>
        </p:xfrm>
        <a:graphic>
          <a:graphicData uri="http://schemas.openxmlformats.org/drawingml/2006/table">
            <a:tbl>
              <a:tblPr firstRow="1" bandRow="1">
                <a:tableStyleId>{073A0DAA-6AF3-43AB-8588-CEC1D06C72B9}</a:tableStyleId>
              </a:tblPr>
              <a:tblGrid>
                <a:gridCol w="12192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2362200">
                  <a:extLst>
                    <a:ext uri="{9D8B030D-6E8A-4147-A177-3AD203B41FA5}">
                      <a16:colId xmlns:a16="http://schemas.microsoft.com/office/drawing/2014/main" val="20002"/>
                    </a:ext>
                  </a:extLst>
                </a:gridCol>
              </a:tblGrid>
              <a:tr h="609600">
                <a:tc>
                  <a:txBody>
                    <a:bodyPr/>
                    <a:lstStyle/>
                    <a:p>
                      <a:endParaRPr lang="en-US" dirty="0"/>
                    </a:p>
                  </a:txBody>
                  <a:tcPr/>
                </a:tc>
                <a:tc>
                  <a:txBody>
                    <a:bodyPr/>
                    <a:lstStyle/>
                    <a:p>
                      <a:r>
                        <a:rPr lang="en-US" dirty="0" err="1"/>
                        <a:t>Trạng</a:t>
                      </a:r>
                      <a:r>
                        <a:rPr lang="en-US" baseline="0" dirty="0"/>
                        <a:t> </a:t>
                      </a:r>
                      <a:r>
                        <a:rPr lang="en-US" baseline="0" dirty="0" err="1"/>
                        <a:t>thái</a:t>
                      </a:r>
                      <a:endParaRPr lang="en-US" dirty="0"/>
                    </a:p>
                  </a:txBody>
                  <a:tcPr/>
                </a:tc>
                <a:tc>
                  <a:txBody>
                    <a:bodyPr/>
                    <a:lstStyle/>
                    <a:p>
                      <a:r>
                        <a:rPr lang="en-US" dirty="0" err="1"/>
                        <a:t>Hành</a:t>
                      </a:r>
                      <a:r>
                        <a:rPr lang="en-US" baseline="0" dirty="0"/>
                        <a:t> </a:t>
                      </a:r>
                      <a:r>
                        <a:rPr lang="en-US" baseline="0" dirty="0" err="1"/>
                        <a:t>động</a:t>
                      </a:r>
                      <a:endParaRPr lang="en-US" dirty="0"/>
                    </a:p>
                  </a:txBody>
                  <a:tcPr/>
                </a:tc>
                <a:extLst>
                  <a:ext uri="{0D108BD9-81ED-4DB2-BD59-A6C34878D82A}">
                    <a16:rowId xmlns:a16="http://schemas.microsoft.com/office/drawing/2014/main" val="10000"/>
                  </a:ext>
                </a:extLst>
              </a:tr>
              <a:tr h="1236335">
                <a:tc>
                  <a:txBody>
                    <a:bodyPr/>
                    <a:lstStyle/>
                    <a:p>
                      <a:r>
                        <a:rPr lang="en-US" dirty="0"/>
                        <a:t>Con </a:t>
                      </a:r>
                      <a:r>
                        <a:rPr lang="en-US" dirty="0" err="1"/>
                        <a:t>chó</a:t>
                      </a:r>
                      <a:endParaRPr lang="en-US" dirty="0"/>
                    </a:p>
                  </a:txBody>
                  <a:tcPr/>
                </a:tc>
                <a:tc>
                  <a:txBody>
                    <a:bodyPr/>
                    <a:lstStyle/>
                    <a:p>
                      <a:r>
                        <a:rPr lang="en-US" dirty="0" err="1"/>
                        <a:t>Tên</a:t>
                      </a:r>
                      <a:endParaRPr lang="en-US" dirty="0"/>
                    </a:p>
                    <a:p>
                      <a:r>
                        <a:rPr lang="en-US" dirty="0" err="1"/>
                        <a:t>Màu</a:t>
                      </a:r>
                      <a:endParaRPr lang="en-US" dirty="0"/>
                    </a:p>
                    <a:p>
                      <a:r>
                        <a:rPr lang="en-US" dirty="0" err="1"/>
                        <a:t>Giống</a:t>
                      </a:r>
                      <a:endParaRPr lang="en-US" dirty="0"/>
                    </a:p>
                  </a:txBody>
                  <a:tcPr/>
                </a:tc>
                <a:tc>
                  <a:txBody>
                    <a:bodyPr/>
                    <a:lstStyle/>
                    <a:p>
                      <a:r>
                        <a:rPr lang="en-US" dirty="0" err="1"/>
                        <a:t>Sủa</a:t>
                      </a:r>
                      <a:endParaRPr lang="en-US" dirty="0"/>
                    </a:p>
                    <a:p>
                      <a:r>
                        <a:rPr lang="en-US" dirty="0" err="1"/>
                        <a:t>Vẩy</a:t>
                      </a:r>
                      <a:r>
                        <a:rPr lang="en-US" dirty="0"/>
                        <a:t> tai</a:t>
                      </a:r>
                    </a:p>
                    <a:p>
                      <a:r>
                        <a:rPr lang="en-US" dirty="0" err="1"/>
                        <a:t>Chạy</a:t>
                      </a:r>
                      <a:endParaRPr lang="en-US" dirty="0"/>
                    </a:p>
                    <a:p>
                      <a:r>
                        <a:rPr lang="en-US" dirty="0" err="1"/>
                        <a:t>ăn</a:t>
                      </a:r>
                      <a:endParaRPr lang="en-US" dirty="0"/>
                    </a:p>
                  </a:txBody>
                  <a:tcPr/>
                </a:tc>
                <a:extLst>
                  <a:ext uri="{0D108BD9-81ED-4DB2-BD59-A6C34878D82A}">
                    <a16:rowId xmlns:a16="http://schemas.microsoft.com/office/drawing/2014/main" val="10001"/>
                  </a:ext>
                </a:extLst>
              </a:tr>
              <a:tr h="1215373">
                <a:tc>
                  <a:txBody>
                    <a:bodyPr/>
                    <a:lstStyle/>
                    <a:p>
                      <a:r>
                        <a:rPr lang="en-US" dirty="0" err="1"/>
                        <a:t>Xe</a:t>
                      </a:r>
                      <a:r>
                        <a:rPr lang="en-US" dirty="0"/>
                        <a:t> </a:t>
                      </a:r>
                      <a:r>
                        <a:rPr lang="en-US" dirty="0" err="1"/>
                        <a:t>đạp</a:t>
                      </a:r>
                      <a:endParaRPr lang="en-US" dirty="0"/>
                    </a:p>
                  </a:txBody>
                  <a:tcPr/>
                </a:tc>
                <a:tc>
                  <a:txBody>
                    <a:bodyPr/>
                    <a:lstStyle/>
                    <a:p>
                      <a:r>
                        <a:rPr lang="en-US" dirty="0" err="1"/>
                        <a:t>Bánh</a:t>
                      </a:r>
                      <a:r>
                        <a:rPr lang="en-US" baseline="0" dirty="0"/>
                        <a:t> </a:t>
                      </a:r>
                      <a:r>
                        <a:rPr lang="en-US" baseline="0" dirty="0" err="1"/>
                        <a:t>xe</a:t>
                      </a:r>
                      <a:endParaRPr lang="en-US" baseline="0" dirty="0"/>
                    </a:p>
                    <a:p>
                      <a:r>
                        <a:rPr lang="en-US" baseline="0" dirty="0" err="1"/>
                        <a:t>Bàn</a:t>
                      </a:r>
                      <a:r>
                        <a:rPr lang="en-US" baseline="0" dirty="0"/>
                        <a:t> </a:t>
                      </a:r>
                      <a:r>
                        <a:rPr lang="en-US" baseline="0" dirty="0" err="1"/>
                        <a:t>đạp</a:t>
                      </a:r>
                      <a:endParaRPr lang="en-US" baseline="0" dirty="0"/>
                    </a:p>
                    <a:p>
                      <a:r>
                        <a:rPr lang="en-US" baseline="0" dirty="0" err="1"/>
                        <a:t>Dây</a:t>
                      </a:r>
                      <a:r>
                        <a:rPr lang="en-US" baseline="0" dirty="0"/>
                        <a:t> </a:t>
                      </a:r>
                      <a:r>
                        <a:rPr lang="en-US" baseline="0" dirty="0" err="1"/>
                        <a:t>xích</a:t>
                      </a:r>
                      <a:endParaRPr lang="en-US" baseline="0" dirty="0"/>
                    </a:p>
                  </a:txBody>
                  <a:tcPr/>
                </a:tc>
                <a:tc>
                  <a:txBody>
                    <a:bodyPr/>
                    <a:lstStyle/>
                    <a:p>
                      <a:r>
                        <a:rPr lang="en-US" dirty="0" err="1"/>
                        <a:t>Tăng</a:t>
                      </a:r>
                      <a:r>
                        <a:rPr lang="en-US" baseline="0" dirty="0"/>
                        <a:t> </a:t>
                      </a:r>
                      <a:r>
                        <a:rPr lang="en-US" baseline="0" dirty="0" err="1"/>
                        <a:t>tốc</a:t>
                      </a:r>
                      <a:endParaRPr lang="en-US" baseline="0" dirty="0"/>
                    </a:p>
                    <a:p>
                      <a:r>
                        <a:rPr lang="en-US" baseline="0" dirty="0" err="1"/>
                        <a:t>Giảm</a:t>
                      </a:r>
                      <a:r>
                        <a:rPr lang="en-US" baseline="0" dirty="0"/>
                        <a:t> </a:t>
                      </a:r>
                      <a:r>
                        <a:rPr lang="en-US" baseline="0" dirty="0" err="1"/>
                        <a:t>tốc</a:t>
                      </a:r>
                      <a:endParaRPr lang="en-US" baseline="0" dirty="0"/>
                    </a:p>
                    <a:p>
                      <a:r>
                        <a:rPr lang="en-US" baseline="0" dirty="0" err="1"/>
                        <a:t>Chuyển</a:t>
                      </a:r>
                      <a:r>
                        <a:rPr lang="en-US" baseline="0" dirty="0"/>
                        <a:t> </a:t>
                      </a:r>
                      <a:r>
                        <a:rPr lang="en-US" baseline="0" dirty="0" err="1"/>
                        <a:t>bánh</a:t>
                      </a:r>
                      <a:r>
                        <a:rPr lang="en-US" baseline="0" dirty="0"/>
                        <a:t> </a:t>
                      </a:r>
                      <a:r>
                        <a:rPr lang="en-US" baseline="0" dirty="0" err="1"/>
                        <a:t>răng</a:t>
                      </a:r>
                      <a:endParaRPr lang="en-US" dirty="0"/>
                    </a:p>
                  </a:txBody>
                  <a:tcPr/>
                </a:tc>
                <a:extLst>
                  <a:ext uri="{0D108BD9-81ED-4DB2-BD59-A6C34878D82A}">
                    <a16:rowId xmlns:a16="http://schemas.microsoft.com/office/drawing/2014/main" val="10002"/>
                  </a:ext>
                </a:extLst>
              </a:tr>
            </a:tbl>
          </a:graphicData>
        </a:graphic>
      </p:graphicFrame>
      <p:sp>
        <p:nvSpPr>
          <p:cNvPr id="7" name="Content Placeholder 2"/>
          <p:cNvSpPr txBox="1">
            <a:spLocks/>
          </p:cNvSpPr>
          <p:nvPr/>
        </p:nvSpPr>
        <p:spPr bwMode="auto">
          <a:xfrm>
            <a:off x="683568" y="3356992"/>
            <a:ext cx="2808312"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cs typeface="+mn-cs"/>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cs typeface="+mn-cs"/>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cs typeface="+mn-cs"/>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9pPr>
          </a:lstStyle>
          <a:p>
            <a:pPr marL="0" indent="0">
              <a:buFont typeface="Wingdings" pitchFamily="2" charset="2"/>
              <a:buNone/>
            </a:pPr>
            <a:r>
              <a:rPr lang="en-US" sz="2400"/>
              <a:t>Đối tượng có: </a:t>
            </a:r>
            <a:br>
              <a:rPr lang="en-US" sz="2400"/>
            </a:br>
            <a:r>
              <a:rPr lang="en-US" sz="2400"/>
              <a:t>trạng </a:t>
            </a:r>
            <a:r>
              <a:rPr lang="en-US" sz="2400" dirty="0" err="1"/>
              <a:t>thái</a:t>
            </a:r>
            <a:r>
              <a:rPr lang="en-US" sz="2400" dirty="0"/>
              <a:t> (</a:t>
            </a:r>
            <a:r>
              <a:rPr lang="en-US" sz="2400" b="1" dirty="0"/>
              <a:t>state</a:t>
            </a:r>
            <a:r>
              <a:rPr lang="en-US" sz="2400"/>
              <a:t>) </a:t>
            </a:r>
            <a:br>
              <a:rPr lang="en-US" sz="2400"/>
            </a:br>
            <a:r>
              <a:rPr lang="en-US" sz="2400"/>
              <a:t>và </a:t>
            </a:r>
            <a:r>
              <a:rPr lang="en-US" sz="2400" dirty="0" err="1"/>
              <a:t>hành</a:t>
            </a:r>
            <a:r>
              <a:rPr lang="en-US" sz="2400" dirty="0"/>
              <a:t> </a:t>
            </a:r>
            <a:r>
              <a:rPr lang="en-US" sz="2400" dirty="0" err="1"/>
              <a:t>động</a:t>
            </a:r>
            <a:r>
              <a:rPr lang="en-US" sz="2400" dirty="0"/>
              <a:t> (</a:t>
            </a:r>
            <a:r>
              <a:rPr lang="en-US" sz="2400" b="1" dirty="0"/>
              <a:t>behavior</a:t>
            </a:r>
            <a:r>
              <a:rPr lang="en-US" sz="2400" dirty="0"/>
              <a:t>)</a:t>
            </a:r>
          </a:p>
        </p:txBody>
      </p:sp>
      <p:sp>
        <p:nvSpPr>
          <p:cNvPr id="9" name="Slide Number Placeholder 8"/>
          <p:cNvSpPr>
            <a:spLocks noGrp="1"/>
          </p:cNvSpPr>
          <p:nvPr>
            <p:ph type="sldNum" sz="quarter" idx="12"/>
          </p:nvPr>
        </p:nvSpPr>
        <p:spPr/>
        <p:txBody>
          <a:bodyPr/>
          <a:lstStyle/>
          <a:p>
            <a:fld id="{5AB95402-1E0D-474E-8D8C-CBE7F053639E}" type="slidenum">
              <a:rPr lang="vi-VN" smtClean="0"/>
              <a:pPr/>
              <a:t>8</a:t>
            </a:fld>
            <a:r>
              <a:rPr lang="vi-VN"/>
              <a:t>/46</a:t>
            </a:r>
          </a:p>
        </p:txBody>
      </p:sp>
    </p:spTree>
    <p:extLst>
      <p:ext uri="{BB962C8B-B14F-4D97-AF65-F5344CB8AC3E}">
        <p14:creationId xmlns:p14="http://schemas.microsoft.com/office/powerpoint/2010/main" val="1311678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Đối tượng phần mềm</a:t>
            </a:r>
            <a:endParaRPr lang="vi-VN"/>
          </a:p>
        </p:txBody>
      </p:sp>
      <p:sp>
        <p:nvSpPr>
          <p:cNvPr id="3" name="Content Placeholder 2"/>
          <p:cNvSpPr>
            <a:spLocks noGrp="1"/>
          </p:cNvSpPr>
          <p:nvPr>
            <p:ph idx="1"/>
          </p:nvPr>
        </p:nvSpPr>
        <p:spPr/>
        <p:txBody>
          <a:bodyPr>
            <a:normAutofit lnSpcReduction="10000"/>
          </a:bodyPr>
          <a:lstStyle/>
          <a:p>
            <a:r>
              <a:rPr lang="en-US" sz="2400"/>
              <a:t>Các </a:t>
            </a:r>
            <a:r>
              <a:rPr lang="en-US" sz="2400" b="1" i="1"/>
              <a:t>đối tượng phần mềm </a:t>
            </a:r>
            <a:r>
              <a:rPr lang="en-US" sz="2400"/>
              <a:t>có thể được dùng để biểu diễn các đối tượng trong thế giới thực</a:t>
            </a:r>
          </a:p>
          <a:p>
            <a:r>
              <a:rPr lang="en-US" sz="2400"/>
              <a:t>Cũng có trạng thái và hành động</a:t>
            </a:r>
          </a:p>
          <a:p>
            <a:pPr lvl="1"/>
            <a:r>
              <a:rPr lang="en-US" sz="2000"/>
              <a:t>Trạng thái: thuộc tính (attribute, property)</a:t>
            </a:r>
          </a:p>
          <a:p>
            <a:pPr lvl="1"/>
            <a:r>
              <a:rPr lang="en-US" sz="2000"/>
              <a:t>Hành động: Phương thức (method)</a:t>
            </a:r>
          </a:p>
          <a:p>
            <a:r>
              <a:rPr lang="vi-VN" sz="2400"/>
              <a:t>Đối tượng (object) là một thực thể phần mềm bao bọc thuộc tính và các phương thức liên quan</a:t>
            </a:r>
          </a:p>
          <a:p>
            <a:r>
              <a:rPr lang="en-US" sz="2400"/>
              <a:t>Có  trạng thái và hành động</a:t>
            </a:r>
          </a:p>
          <a:p>
            <a:pPr lvl="1"/>
            <a:r>
              <a:rPr lang="en-US" sz="2000"/>
              <a:t>Trạng thái: </a:t>
            </a:r>
            <a:r>
              <a:rPr lang="en-US" sz="2000" b="1">
                <a:solidFill>
                  <a:srgbClr val="FF0000"/>
                </a:solidFill>
              </a:rPr>
              <a:t>Thuộc tính </a:t>
            </a:r>
            <a:r>
              <a:rPr lang="en-US" sz="2000"/>
              <a:t>(attribute, property)</a:t>
            </a:r>
          </a:p>
          <a:p>
            <a:pPr lvl="1"/>
            <a:r>
              <a:rPr lang="en-US" sz="2000"/>
              <a:t>Hành động: </a:t>
            </a:r>
            <a:r>
              <a:rPr lang="en-US" sz="2000" b="1">
                <a:solidFill>
                  <a:srgbClr val="FF0000"/>
                </a:solidFill>
              </a:rPr>
              <a:t>Phương thức </a:t>
            </a:r>
            <a:r>
              <a:rPr lang="en-US" sz="2000"/>
              <a:t>(method)</a:t>
            </a:r>
          </a:p>
          <a:p>
            <a:pPr lvl="1" algn="l"/>
            <a:r>
              <a:rPr lang="vi-VN" sz="2000"/>
              <a:t>Thuộc tính được xác định bởi </a:t>
            </a:r>
            <a:br>
              <a:rPr lang="vi-VN" sz="2000"/>
            </a:br>
            <a:r>
              <a:rPr lang="vi-VN" sz="2000"/>
              <a:t>các giá trị gọi là </a:t>
            </a:r>
            <a:r>
              <a:rPr lang="vi-VN" sz="2000" b="1"/>
              <a:t>thuộc tính thể hiện </a:t>
            </a:r>
          </a:p>
          <a:p>
            <a:pPr algn="l"/>
            <a:r>
              <a:rPr lang="vi-VN" sz="2400"/>
              <a:t>Các đối tượng giao tiếp </a:t>
            </a:r>
            <a:br>
              <a:rPr lang="vi-VN" sz="2400"/>
            </a:br>
            <a:r>
              <a:rPr lang="vi-VN" sz="2400"/>
              <a:t>với nhau bằng các </a:t>
            </a:r>
            <a:r>
              <a:rPr lang="vi-VN" sz="2400" b="1">
                <a:solidFill>
                  <a:srgbClr val="FF0000"/>
                </a:solidFill>
              </a:rPr>
              <a:t>thông điệp</a:t>
            </a:r>
          </a:p>
          <a:p>
            <a:endParaRPr lang="vi-VN"/>
          </a:p>
        </p:txBody>
      </p:sp>
      <p:sp>
        <p:nvSpPr>
          <p:cNvPr id="4" name="Date Placeholder 3"/>
          <p:cNvSpPr>
            <a:spLocks noGrp="1"/>
          </p:cNvSpPr>
          <p:nvPr>
            <p:ph type="dt" sz="half" idx="10"/>
          </p:nvPr>
        </p:nvSpPr>
        <p:spPr/>
        <p:txBody>
          <a:bodyPr/>
          <a:lstStyle/>
          <a:p>
            <a:fld id="{D5B1A0BA-B305-435E-BD16-BB7843298443}" type="datetime1">
              <a:rPr lang="vi-VN" smtClean="0"/>
              <a:t>04/02/2025</a:t>
            </a:fld>
            <a:endParaRPr lang="vi-VN"/>
          </a:p>
        </p:txBody>
      </p:sp>
      <p:sp>
        <p:nvSpPr>
          <p:cNvPr id="5" name="Footer Placeholder 4"/>
          <p:cNvSpPr>
            <a:spLocks noGrp="1"/>
          </p:cNvSpPr>
          <p:nvPr>
            <p:ph type="ftr" sz="quarter" idx="11"/>
          </p:nvPr>
        </p:nvSpPr>
        <p:spPr/>
        <p:txBody>
          <a:bodyPr/>
          <a:lstStyle/>
          <a:p>
            <a:r>
              <a:rPr lang="vi-VN"/>
              <a:t>Chương 1. Tổng quan về lập trình hướng đối tượng và ngôn ngữ C#</a:t>
            </a:r>
          </a:p>
        </p:txBody>
      </p:sp>
      <p:grpSp>
        <p:nvGrpSpPr>
          <p:cNvPr id="12" name="Group 11"/>
          <p:cNvGrpSpPr/>
          <p:nvPr/>
        </p:nvGrpSpPr>
        <p:grpSpPr>
          <a:xfrm>
            <a:off x="6140896" y="3600182"/>
            <a:ext cx="2895600" cy="2853154"/>
            <a:chOff x="5867400" y="3048000"/>
            <a:chExt cx="2895600" cy="2853154"/>
          </a:xfrm>
        </p:grpSpPr>
        <p:sp>
          <p:nvSpPr>
            <p:cNvPr id="13" name="Oval 12"/>
            <p:cNvSpPr/>
            <p:nvPr/>
          </p:nvSpPr>
          <p:spPr>
            <a:xfrm>
              <a:off x="5867400" y="3657600"/>
              <a:ext cx="2057400" cy="1752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6153150" y="4038600"/>
              <a:ext cx="1295399" cy="9144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629400" y="4267200"/>
              <a:ext cx="152400"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p:cNvSpPr/>
            <p:nvPr/>
          </p:nvSpPr>
          <p:spPr>
            <a:xfrm>
              <a:off x="6972299" y="4267200"/>
              <a:ext cx="114301" cy="45719"/>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6705600" y="4495800"/>
              <a:ext cx="1905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5-Point Star 17"/>
            <p:cNvSpPr/>
            <p:nvPr/>
          </p:nvSpPr>
          <p:spPr>
            <a:xfrm>
              <a:off x="7086600" y="4533900"/>
              <a:ext cx="152400" cy="45719"/>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239000" y="4312919"/>
              <a:ext cx="76200"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6324600" y="4495800"/>
              <a:ext cx="76200" cy="838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6781800" y="4724400"/>
              <a:ext cx="1143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6477000" y="4579619"/>
              <a:ext cx="152400" cy="1447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p:cNvCxnSpPr/>
            <p:nvPr/>
          </p:nvCxnSpPr>
          <p:spPr>
            <a:xfrm flipH="1">
              <a:off x="7277100" y="3505200"/>
              <a:ext cx="419100" cy="784859"/>
            </a:xfrm>
            <a:prstGeom prst="straightConnector1">
              <a:avLst/>
            </a:prstGeom>
            <a:ln w="28575">
              <a:solidFill>
                <a:schemeClr val="tx1">
                  <a:lumMod val="65000"/>
                  <a:lumOff val="35000"/>
                </a:schemeClr>
              </a:solidFill>
              <a:tailEnd type="arrow"/>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7185891" y="3048000"/>
              <a:ext cx="1447800" cy="369332"/>
            </a:xfrm>
            <a:prstGeom prst="rect">
              <a:avLst/>
            </a:prstGeom>
            <a:noFill/>
          </p:spPr>
          <p:txBody>
            <a:bodyPr wrap="square" rtlCol="0">
              <a:spAutoFit/>
            </a:bodyPr>
            <a:lstStyle/>
            <a:p>
              <a:r>
                <a:rPr lang="en-US" b="1" dirty="0" err="1">
                  <a:solidFill>
                    <a:srgbClr val="FF0000"/>
                  </a:solidFill>
                </a:rPr>
                <a:t>Thuộc</a:t>
              </a:r>
              <a:r>
                <a:rPr lang="en-US" b="1" dirty="0">
                  <a:solidFill>
                    <a:srgbClr val="FF0000"/>
                  </a:solidFill>
                </a:rPr>
                <a:t> </a:t>
              </a:r>
              <a:r>
                <a:rPr lang="en-US" b="1" dirty="0" err="1">
                  <a:solidFill>
                    <a:srgbClr val="FF0000"/>
                  </a:solidFill>
                </a:rPr>
                <a:t>tính</a:t>
              </a:r>
              <a:endParaRPr lang="en-US" b="1" dirty="0">
                <a:solidFill>
                  <a:srgbClr val="FF0000"/>
                </a:solidFill>
              </a:endParaRPr>
            </a:p>
          </p:txBody>
        </p:sp>
        <p:cxnSp>
          <p:nvCxnSpPr>
            <p:cNvPr id="25" name="Straight Arrow Connector 24"/>
            <p:cNvCxnSpPr/>
            <p:nvPr/>
          </p:nvCxnSpPr>
          <p:spPr>
            <a:xfrm flipH="1" flipV="1">
              <a:off x="7315200" y="5105400"/>
              <a:ext cx="381000" cy="3810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7239000" y="5562600"/>
              <a:ext cx="1524000" cy="338554"/>
            </a:xfrm>
            <a:prstGeom prst="rect">
              <a:avLst/>
            </a:prstGeom>
            <a:noFill/>
          </p:spPr>
          <p:txBody>
            <a:bodyPr wrap="square" rtlCol="0">
              <a:spAutoFit/>
            </a:bodyPr>
            <a:lstStyle/>
            <a:p>
              <a:r>
                <a:rPr lang="en-US" sz="1600" b="1" dirty="0" err="1">
                  <a:solidFill>
                    <a:srgbClr val="FF0000"/>
                  </a:solidFill>
                </a:rPr>
                <a:t>Phương</a:t>
              </a:r>
              <a:r>
                <a:rPr lang="en-US" sz="1600" b="1" dirty="0">
                  <a:solidFill>
                    <a:srgbClr val="FF0000"/>
                  </a:solidFill>
                </a:rPr>
                <a:t> </a:t>
              </a:r>
              <a:r>
                <a:rPr lang="en-US" sz="1600" b="1" dirty="0" err="1">
                  <a:solidFill>
                    <a:srgbClr val="FF0000"/>
                  </a:solidFill>
                </a:rPr>
                <a:t>thức</a:t>
              </a:r>
              <a:endParaRPr lang="en-US" sz="1600" b="1" dirty="0">
                <a:solidFill>
                  <a:srgbClr val="FF0000"/>
                </a:solidFill>
              </a:endParaRPr>
            </a:p>
          </p:txBody>
        </p:sp>
      </p:grpSp>
      <p:sp>
        <p:nvSpPr>
          <p:cNvPr id="6" name="Slide Number Placeholder 5"/>
          <p:cNvSpPr>
            <a:spLocks noGrp="1"/>
          </p:cNvSpPr>
          <p:nvPr>
            <p:ph type="sldNum" sz="quarter" idx="12"/>
          </p:nvPr>
        </p:nvSpPr>
        <p:spPr/>
        <p:txBody>
          <a:bodyPr/>
          <a:lstStyle/>
          <a:p>
            <a:fld id="{5AB95402-1E0D-474E-8D8C-CBE7F053639E}" type="slidenum">
              <a:rPr lang="vi-VN" smtClean="0"/>
              <a:pPr/>
              <a:t>9</a:t>
            </a:fld>
            <a:r>
              <a:rPr lang="vi-VN"/>
              <a:t>/46</a:t>
            </a:r>
          </a:p>
        </p:txBody>
      </p:sp>
    </p:spTree>
    <p:extLst>
      <p:ext uri="{BB962C8B-B14F-4D97-AF65-F5344CB8AC3E}">
        <p14:creationId xmlns:p14="http://schemas.microsoft.com/office/powerpoint/2010/main" val="38890041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01E62-C971-46B2-9B9B-4D0F44C6FFBA}"/>
              </a:ext>
            </a:extLst>
          </p:cNvPr>
          <p:cNvSpPr>
            <a:spLocks noGrp="1"/>
          </p:cNvSpPr>
          <p:nvPr>
            <p:ph type="title"/>
          </p:nvPr>
        </p:nvSpPr>
        <p:spPr/>
        <p:txBody>
          <a:bodyPr/>
          <a:lstStyle/>
          <a:p>
            <a:r>
              <a:rPr lang="en-US" dirty="0" err="1"/>
              <a:t>Quản</a:t>
            </a:r>
            <a:r>
              <a:rPr lang="en-US" dirty="0"/>
              <a:t> </a:t>
            </a:r>
            <a:r>
              <a:rPr lang="en-US" dirty="0" err="1"/>
              <a:t>lý</a:t>
            </a:r>
            <a:r>
              <a:rPr lang="en-US" dirty="0"/>
              <a:t> </a:t>
            </a:r>
            <a:r>
              <a:rPr lang="en-US" dirty="0" err="1"/>
              <a:t>thư</a:t>
            </a:r>
            <a:r>
              <a:rPr lang="en-US" dirty="0"/>
              <a:t> </a:t>
            </a:r>
            <a:r>
              <a:rPr lang="en-US" dirty="0" err="1"/>
              <a:t>viện</a:t>
            </a:r>
            <a:endParaRPr lang="en-US" dirty="0"/>
          </a:p>
        </p:txBody>
      </p:sp>
      <p:sp>
        <p:nvSpPr>
          <p:cNvPr id="3" name="Content Placeholder 2">
            <a:extLst>
              <a:ext uri="{FF2B5EF4-FFF2-40B4-BE49-F238E27FC236}">
                <a16:creationId xmlns:a16="http://schemas.microsoft.com/office/drawing/2014/main" id="{E9CC2097-5182-460A-9838-4A6F85F9D9A0}"/>
              </a:ext>
            </a:extLst>
          </p:cNvPr>
          <p:cNvSpPr>
            <a:spLocks noGrp="1"/>
          </p:cNvSpPr>
          <p:nvPr>
            <p:ph idx="1"/>
          </p:nvPr>
        </p:nvSpPr>
        <p:spPr/>
        <p:txBody>
          <a:bodyPr/>
          <a:lstStyle/>
          <a:p>
            <a:r>
              <a:rPr lang="en-US" dirty="0" err="1"/>
              <a:t>Sinh</a:t>
            </a:r>
            <a:r>
              <a:rPr lang="en-US" dirty="0"/>
              <a:t> </a:t>
            </a:r>
            <a:r>
              <a:rPr lang="en-US" dirty="0" err="1"/>
              <a:t>viên</a:t>
            </a:r>
            <a:r>
              <a:rPr lang="en-US" dirty="0"/>
              <a:t> </a:t>
            </a:r>
            <a:r>
              <a:rPr lang="en-US" dirty="0" err="1"/>
              <a:t>mượn</a:t>
            </a:r>
            <a:r>
              <a:rPr lang="en-US" dirty="0"/>
              <a:t> </a:t>
            </a:r>
            <a:r>
              <a:rPr lang="en-US" dirty="0" err="1"/>
              <a:t>sách</a:t>
            </a:r>
            <a:endParaRPr lang="en-US" dirty="0"/>
          </a:p>
          <a:p>
            <a:pPr lvl="1"/>
            <a:r>
              <a:rPr lang="en-US" dirty="0"/>
              <a:t>class Sinh </a:t>
            </a:r>
            <a:r>
              <a:rPr lang="en-US" dirty="0" err="1"/>
              <a:t>viên</a:t>
            </a:r>
            <a:r>
              <a:rPr lang="en-US" dirty="0"/>
              <a:t>{</a:t>
            </a:r>
          </a:p>
          <a:p>
            <a:pPr marL="909637" lvl="2" indent="0">
              <a:buNone/>
            </a:pPr>
            <a:r>
              <a:rPr lang="en-US" dirty="0"/>
              <a:t>string </a:t>
            </a:r>
            <a:r>
              <a:rPr lang="en-US" dirty="0" err="1"/>
              <a:t>HoTenSV</a:t>
            </a:r>
            <a:endParaRPr lang="en-US" dirty="0"/>
          </a:p>
          <a:p>
            <a:pPr marL="909637" lvl="2" indent="0">
              <a:buNone/>
            </a:pPr>
            <a:r>
              <a:rPr lang="en-US" dirty="0"/>
              <a:t> string </a:t>
            </a:r>
            <a:r>
              <a:rPr lang="en-US" dirty="0" err="1"/>
              <a:t>MaSV</a:t>
            </a:r>
            <a:endParaRPr lang="en-US" dirty="0"/>
          </a:p>
          <a:p>
            <a:pPr marL="909637" lvl="2" indent="0">
              <a:buNone/>
            </a:pPr>
            <a:r>
              <a:rPr lang="en-US" dirty="0"/>
              <a:t>void </a:t>
            </a:r>
            <a:r>
              <a:rPr lang="en-US" dirty="0" err="1"/>
              <a:t>Nhap</a:t>
            </a:r>
            <a:r>
              <a:rPr lang="en-US" dirty="0"/>
              <a:t>()</a:t>
            </a:r>
          </a:p>
          <a:p>
            <a:pPr marL="909637" lvl="2" indent="0">
              <a:buNone/>
            </a:pPr>
            <a:r>
              <a:rPr lang="en-US" dirty="0"/>
              <a:t>void </a:t>
            </a:r>
            <a:r>
              <a:rPr lang="en-US" dirty="0" err="1"/>
              <a:t>Nhap</a:t>
            </a:r>
            <a:r>
              <a:rPr lang="en-US" dirty="0"/>
              <a:t> (string </a:t>
            </a:r>
            <a:r>
              <a:rPr lang="en-US" dirty="0" err="1"/>
              <a:t>masv</a:t>
            </a:r>
            <a:r>
              <a:rPr lang="en-US" dirty="0"/>
              <a:t>, string </a:t>
            </a:r>
            <a:r>
              <a:rPr lang="en-US" dirty="0" err="1"/>
              <a:t>tensinhvien</a:t>
            </a:r>
            <a:r>
              <a:rPr lang="en-US" dirty="0"/>
              <a:t>)</a:t>
            </a:r>
          </a:p>
          <a:p>
            <a:pPr marL="909637" lvl="2" indent="0">
              <a:buNone/>
            </a:pPr>
            <a:r>
              <a:rPr lang="en-US" dirty="0"/>
              <a:t>Muon (Sach q1)</a:t>
            </a:r>
          </a:p>
          <a:p>
            <a:pPr marL="457200" lvl="1" indent="0">
              <a:buNone/>
            </a:pPr>
            <a:r>
              <a:rPr lang="en-US" dirty="0"/>
              <a:t>}</a:t>
            </a:r>
          </a:p>
          <a:p>
            <a:pPr marL="457200" lvl="1" indent="0">
              <a:buNone/>
            </a:pPr>
            <a:r>
              <a:rPr lang="en-US" dirty="0"/>
              <a:t>class Sach{</a:t>
            </a:r>
          </a:p>
          <a:p>
            <a:pPr marL="854075" lvl="2" indent="0">
              <a:buNone/>
            </a:pPr>
            <a:r>
              <a:rPr lang="en-US" dirty="0"/>
              <a:t>string </a:t>
            </a:r>
            <a:r>
              <a:rPr lang="en-US" dirty="0" err="1"/>
              <a:t>MaSach</a:t>
            </a:r>
            <a:endParaRPr lang="en-US" dirty="0"/>
          </a:p>
          <a:p>
            <a:pPr marL="854075" lvl="2" indent="0">
              <a:buNone/>
            </a:pPr>
            <a:r>
              <a:rPr lang="en-US" dirty="0"/>
              <a:t>string </a:t>
            </a:r>
            <a:r>
              <a:rPr lang="en-US" dirty="0" err="1"/>
              <a:t>TenSach</a:t>
            </a:r>
            <a:endParaRPr lang="en-US" dirty="0"/>
          </a:p>
          <a:p>
            <a:pPr marL="854075" lvl="2" indent="0">
              <a:buNone/>
            </a:pPr>
            <a:r>
              <a:rPr lang="en-US" dirty="0"/>
              <a:t>string </a:t>
            </a:r>
            <a:r>
              <a:rPr lang="en-US" dirty="0" err="1"/>
              <a:t>NamXuatBan</a:t>
            </a:r>
            <a:endParaRPr lang="en-US" dirty="0"/>
          </a:p>
          <a:p>
            <a:pPr marL="854075" lvl="2" indent="0">
              <a:buNone/>
            </a:pPr>
            <a:r>
              <a:rPr lang="en-US" dirty="0"/>
              <a:t>void </a:t>
            </a:r>
            <a:r>
              <a:rPr lang="en-US" dirty="0" err="1"/>
              <a:t>Nhap</a:t>
            </a:r>
            <a:r>
              <a:rPr lang="en-US" dirty="0"/>
              <a:t> (string ma, string ten, int </a:t>
            </a:r>
            <a:r>
              <a:rPr lang="en-US" dirty="0" err="1"/>
              <a:t>namxuatban</a:t>
            </a:r>
            <a:r>
              <a:rPr lang="en-US" dirty="0"/>
              <a:t>)</a:t>
            </a:r>
          </a:p>
          <a:p>
            <a:pPr marL="457200" lvl="1" indent="0">
              <a:buNone/>
            </a:pPr>
            <a:r>
              <a:rPr lang="en-US" dirty="0"/>
              <a:t>}</a:t>
            </a:r>
          </a:p>
          <a:p>
            <a:endParaRPr lang="en-US" dirty="0"/>
          </a:p>
        </p:txBody>
      </p:sp>
      <p:sp>
        <p:nvSpPr>
          <p:cNvPr id="4" name="Date Placeholder 3">
            <a:extLst>
              <a:ext uri="{FF2B5EF4-FFF2-40B4-BE49-F238E27FC236}">
                <a16:creationId xmlns:a16="http://schemas.microsoft.com/office/drawing/2014/main" id="{BA5FFC4A-F58F-4BF8-8E90-EB2326FA80AE}"/>
              </a:ext>
            </a:extLst>
          </p:cNvPr>
          <p:cNvSpPr>
            <a:spLocks noGrp="1"/>
          </p:cNvSpPr>
          <p:nvPr>
            <p:ph type="dt" sz="half" idx="10"/>
          </p:nvPr>
        </p:nvSpPr>
        <p:spPr/>
        <p:txBody>
          <a:bodyPr/>
          <a:lstStyle/>
          <a:p>
            <a:fld id="{4719FDB1-9615-4287-8D55-AF20E3CF298E}" type="datetime1">
              <a:rPr lang="vi-VN" smtClean="0"/>
              <a:t>04/02/2025</a:t>
            </a:fld>
            <a:endParaRPr lang="vi-VN"/>
          </a:p>
        </p:txBody>
      </p:sp>
      <p:sp>
        <p:nvSpPr>
          <p:cNvPr id="5" name="Footer Placeholder 4">
            <a:extLst>
              <a:ext uri="{FF2B5EF4-FFF2-40B4-BE49-F238E27FC236}">
                <a16:creationId xmlns:a16="http://schemas.microsoft.com/office/drawing/2014/main" id="{45328FAC-BDF6-480E-A5C7-2C4EF8456DC7}"/>
              </a:ext>
            </a:extLst>
          </p:cNvPr>
          <p:cNvSpPr>
            <a:spLocks noGrp="1"/>
          </p:cNvSpPr>
          <p:nvPr>
            <p:ph type="ftr" sz="quarter" idx="11"/>
          </p:nvPr>
        </p:nvSpPr>
        <p:spPr/>
        <p:txBody>
          <a:bodyPr/>
          <a:lstStyle/>
          <a:p>
            <a:r>
              <a:rPr lang="vi-VN"/>
              <a:t>Chương 3. Lập trình hướng đối tượng trong C#</a:t>
            </a:r>
          </a:p>
        </p:txBody>
      </p:sp>
      <p:sp>
        <p:nvSpPr>
          <p:cNvPr id="6" name="Slide Number Placeholder 5">
            <a:extLst>
              <a:ext uri="{FF2B5EF4-FFF2-40B4-BE49-F238E27FC236}">
                <a16:creationId xmlns:a16="http://schemas.microsoft.com/office/drawing/2014/main" id="{BE02ABA4-2ACA-4786-A1F7-4D5E826CE48F}"/>
              </a:ext>
            </a:extLst>
          </p:cNvPr>
          <p:cNvSpPr>
            <a:spLocks noGrp="1"/>
          </p:cNvSpPr>
          <p:nvPr>
            <p:ph type="sldNum" sz="quarter" idx="12"/>
          </p:nvPr>
        </p:nvSpPr>
        <p:spPr/>
        <p:txBody>
          <a:bodyPr/>
          <a:lstStyle/>
          <a:p>
            <a:fld id="{5AB95402-1E0D-474E-8D8C-CBE7F053639E}" type="slidenum">
              <a:rPr lang="vi-VN" smtClean="0"/>
              <a:pPr/>
              <a:t>10</a:t>
            </a:fld>
            <a:r>
              <a:rPr lang="vi-VN"/>
              <a:t>/33</a:t>
            </a:r>
          </a:p>
        </p:txBody>
      </p:sp>
    </p:spTree>
    <p:extLst>
      <p:ext uri="{BB962C8B-B14F-4D97-AF65-F5344CB8AC3E}">
        <p14:creationId xmlns:p14="http://schemas.microsoft.com/office/powerpoint/2010/main" val="5356945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Phạm vi truy nhập</a:t>
            </a:r>
          </a:p>
        </p:txBody>
      </p:sp>
      <p:graphicFrame>
        <p:nvGraphicFramePr>
          <p:cNvPr id="6" name="Content Placeholder 5"/>
          <p:cNvGraphicFramePr>
            <a:graphicFrameLocks noGrp="1"/>
          </p:cNvGraphicFramePr>
          <p:nvPr>
            <p:ph idx="1"/>
          </p:nvPr>
        </p:nvGraphicFramePr>
        <p:xfrm>
          <a:off x="457200" y="1357313"/>
          <a:ext cx="8229600" cy="5166319"/>
        </p:xfrm>
        <a:graphic>
          <a:graphicData uri="http://schemas.openxmlformats.org/drawingml/2006/table">
            <a:tbl>
              <a:tblPr firstRow="1" bandRow="1">
                <a:tableStyleId>{5C22544A-7EE6-4342-B048-85BDC9FD1C3A}</a:tableStyleId>
              </a:tblPr>
              <a:tblGrid>
                <a:gridCol w="1787990">
                  <a:extLst>
                    <a:ext uri="{9D8B030D-6E8A-4147-A177-3AD203B41FA5}">
                      <a16:colId xmlns:a16="http://schemas.microsoft.com/office/drawing/2014/main" val="20000"/>
                    </a:ext>
                  </a:extLst>
                </a:gridCol>
                <a:gridCol w="6441610">
                  <a:extLst>
                    <a:ext uri="{9D8B030D-6E8A-4147-A177-3AD203B41FA5}">
                      <a16:colId xmlns:a16="http://schemas.microsoft.com/office/drawing/2014/main" val="20001"/>
                    </a:ext>
                  </a:extLst>
                </a:gridCol>
              </a:tblGrid>
              <a:tr h="949691">
                <a:tc>
                  <a:txBody>
                    <a:bodyPr/>
                    <a:lstStyle/>
                    <a:p>
                      <a:r>
                        <a:rPr lang="en-US" sz="2200" b="0"/>
                        <a:t>public</a:t>
                      </a:r>
                    </a:p>
                  </a:txBody>
                  <a:tcPr marL="94957" marR="94957"/>
                </a:tc>
                <a:tc>
                  <a:txBody>
                    <a:bodyPr/>
                    <a:lstStyle/>
                    <a:p>
                      <a:r>
                        <a:rPr lang="en-US" sz="2200" b="0"/>
                        <a:t>Có</a:t>
                      </a:r>
                      <a:r>
                        <a:rPr lang="en-US" sz="2200" b="0" baseline="0"/>
                        <a:t> thể được truy xuất bởi bất cứ phương thức của lớp nào khác</a:t>
                      </a:r>
                      <a:endParaRPr lang="en-US" sz="2200" b="0"/>
                    </a:p>
                  </a:txBody>
                  <a:tcPr marL="94957" marR="94957"/>
                </a:tc>
                <a:extLst>
                  <a:ext uri="{0D108BD9-81ED-4DB2-BD59-A6C34878D82A}">
                    <a16:rowId xmlns:a16="http://schemas.microsoft.com/office/drawing/2014/main" val="10000"/>
                  </a:ext>
                </a:extLst>
              </a:tr>
              <a:tr h="949691">
                <a:tc>
                  <a:txBody>
                    <a:bodyPr/>
                    <a:lstStyle/>
                    <a:p>
                      <a:r>
                        <a:rPr lang="en-US" sz="2200"/>
                        <a:t>private</a:t>
                      </a:r>
                    </a:p>
                  </a:txBody>
                  <a:tcPr marL="94957" marR="94957"/>
                </a:tc>
                <a:tc>
                  <a:txBody>
                    <a:bodyPr/>
                    <a:lstStyle/>
                    <a:p>
                      <a:r>
                        <a:rPr lang="en-US" sz="2200"/>
                        <a:t>Chỉ có</a:t>
                      </a:r>
                      <a:r>
                        <a:rPr lang="en-US" sz="2200" baseline="0"/>
                        <a:t> thể truy xuất bởi các phương thức của chính lớp đó</a:t>
                      </a:r>
                      <a:endParaRPr lang="en-US" sz="2200"/>
                    </a:p>
                  </a:txBody>
                  <a:tcPr marL="94957" marR="94957"/>
                </a:tc>
                <a:extLst>
                  <a:ext uri="{0D108BD9-81ED-4DB2-BD59-A6C34878D82A}">
                    <a16:rowId xmlns:a16="http://schemas.microsoft.com/office/drawing/2014/main" val="10001"/>
                  </a:ext>
                </a:extLst>
              </a:tr>
              <a:tr h="949691">
                <a:tc>
                  <a:txBody>
                    <a:bodyPr/>
                    <a:lstStyle/>
                    <a:p>
                      <a:r>
                        <a:rPr lang="en-US" sz="2200"/>
                        <a:t>protected</a:t>
                      </a:r>
                    </a:p>
                  </a:txBody>
                  <a:tcPr marL="94957" marR="94957"/>
                </a:tc>
                <a:tc>
                  <a:txBody>
                    <a:bodyPr/>
                    <a:lstStyle/>
                    <a:p>
                      <a:r>
                        <a:rPr lang="en-US" sz="2200"/>
                        <a:t>Có</a:t>
                      </a:r>
                      <a:r>
                        <a:rPr lang="en-US" sz="2200" baseline="0"/>
                        <a:t> thể được truy xuất bởi các phương thức của chính lớp đó và các lớp dẫn xuất (derived) từ nó</a:t>
                      </a:r>
                      <a:endParaRPr lang="en-US" sz="2200"/>
                    </a:p>
                  </a:txBody>
                  <a:tcPr marL="94957" marR="94957"/>
                </a:tc>
                <a:extLst>
                  <a:ext uri="{0D108BD9-81ED-4DB2-BD59-A6C34878D82A}">
                    <a16:rowId xmlns:a16="http://schemas.microsoft.com/office/drawing/2014/main" val="10002"/>
                  </a:ext>
                </a:extLst>
              </a:tr>
              <a:tr h="949691">
                <a:tc>
                  <a:txBody>
                    <a:bodyPr/>
                    <a:lstStyle/>
                    <a:p>
                      <a:r>
                        <a:rPr lang="en-US" sz="2200"/>
                        <a:t>internal</a:t>
                      </a:r>
                    </a:p>
                  </a:txBody>
                  <a:tcPr marL="94957" marR="94957"/>
                </a:tc>
                <a:tc>
                  <a:txBody>
                    <a:bodyPr/>
                    <a:lstStyle/>
                    <a:p>
                      <a:r>
                        <a:rPr lang="en-US" sz="2200"/>
                        <a:t>Có</a:t>
                      </a:r>
                      <a:r>
                        <a:rPr lang="en-US" sz="2200" baseline="0"/>
                        <a:t> thể được truy xuất bởi các phương thức của các lớp trong cùng khối kết hợp (assembly)</a:t>
                      </a:r>
                      <a:endParaRPr lang="en-US" sz="2200"/>
                    </a:p>
                  </a:txBody>
                  <a:tcPr marL="94957" marR="94957"/>
                </a:tc>
                <a:extLst>
                  <a:ext uri="{0D108BD9-81ED-4DB2-BD59-A6C34878D82A}">
                    <a16:rowId xmlns:a16="http://schemas.microsoft.com/office/drawing/2014/main" val="10003"/>
                  </a:ext>
                </a:extLst>
              </a:tr>
              <a:tr h="1367555">
                <a:tc>
                  <a:txBody>
                    <a:bodyPr/>
                    <a:lstStyle/>
                    <a:p>
                      <a:r>
                        <a:rPr lang="en-US" sz="2200"/>
                        <a:t>internal protected</a:t>
                      </a:r>
                    </a:p>
                  </a:txBody>
                  <a:tcPr marL="94957" marR="94957"/>
                </a:tc>
                <a:tc>
                  <a:txBody>
                    <a:bodyPr/>
                    <a:lstStyle/>
                    <a:p>
                      <a:r>
                        <a:rPr lang="en-US" sz="2200"/>
                        <a:t>Có</a:t>
                      </a:r>
                      <a:r>
                        <a:rPr lang="en-US" sz="2200" baseline="0"/>
                        <a:t> thể được truy xuất bởi các phương thức của lớp đó, lớp dẫn xuất từ lớp đó và các lớp trong cùng khối kết hợp (assembly) với nó</a:t>
                      </a:r>
                      <a:endParaRPr lang="en-US" sz="2200"/>
                    </a:p>
                  </a:txBody>
                  <a:tcPr marL="94957" marR="94957"/>
                </a:tc>
                <a:extLst>
                  <a:ext uri="{0D108BD9-81ED-4DB2-BD59-A6C34878D82A}">
                    <a16:rowId xmlns:a16="http://schemas.microsoft.com/office/drawing/2014/main" val="10004"/>
                  </a:ext>
                </a:extLst>
              </a:tr>
            </a:tbl>
          </a:graphicData>
        </a:graphic>
      </p:graphicFrame>
      <p:sp>
        <p:nvSpPr>
          <p:cNvPr id="4" name="Date Placeholder 3"/>
          <p:cNvSpPr>
            <a:spLocks noGrp="1"/>
          </p:cNvSpPr>
          <p:nvPr>
            <p:ph type="dt" sz="half" idx="10"/>
          </p:nvPr>
        </p:nvSpPr>
        <p:spPr/>
        <p:txBody>
          <a:bodyPr/>
          <a:lstStyle/>
          <a:p>
            <a:fld id="{EC7DA459-D0BD-481A-8BB2-EA30FB1765F7}" type="datetime1">
              <a:rPr lang="vi-VN" smtClean="0"/>
              <a:t>04/02/2025</a:t>
            </a:fld>
            <a:endParaRPr lang="vi-VN"/>
          </a:p>
        </p:txBody>
      </p:sp>
      <p:sp>
        <p:nvSpPr>
          <p:cNvPr id="5" name="Footer Placeholder 4"/>
          <p:cNvSpPr>
            <a:spLocks noGrp="1"/>
          </p:cNvSpPr>
          <p:nvPr>
            <p:ph type="ftr" sz="quarter" idx="11"/>
          </p:nvPr>
        </p:nvSpPr>
        <p:spPr/>
        <p:txBody>
          <a:bodyPr/>
          <a:lstStyle/>
          <a:p>
            <a:r>
              <a:rPr lang="vi-VN"/>
              <a:t>Chương 3. Lập trình hướng đối tượng trong C#</a:t>
            </a:r>
          </a:p>
        </p:txBody>
      </p:sp>
      <p:sp>
        <p:nvSpPr>
          <p:cNvPr id="8" name="Slide Number Placeholder 7"/>
          <p:cNvSpPr>
            <a:spLocks noGrp="1"/>
          </p:cNvSpPr>
          <p:nvPr>
            <p:ph type="sldNum" sz="quarter" idx="12"/>
          </p:nvPr>
        </p:nvSpPr>
        <p:spPr/>
        <p:txBody>
          <a:bodyPr/>
          <a:lstStyle/>
          <a:p>
            <a:fld id="{5AB95402-1E0D-474E-8D8C-CBE7F053639E}" type="slidenum">
              <a:rPr lang="vi-VN" smtClean="0"/>
              <a:pPr/>
              <a:t>11</a:t>
            </a:fld>
            <a:r>
              <a:rPr lang="vi-VN"/>
              <a:t>/33</a:t>
            </a:r>
          </a:p>
        </p:txBody>
      </p:sp>
    </p:spTree>
    <p:extLst>
      <p:ext uri="{BB962C8B-B14F-4D97-AF65-F5344CB8AC3E}">
        <p14:creationId xmlns:p14="http://schemas.microsoft.com/office/powerpoint/2010/main" val="3595679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Ví dụ - Lớp hình chữ nhật</a:t>
            </a:r>
          </a:p>
        </p:txBody>
      </p:sp>
      <p:sp>
        <p:nvSpPr>
          <p:cNvPr id="3" name="Content Placeholder 2"/>
          <p:cNvSpPr>
            <a:spLocks noGrp="1"/>
          </p:cNvSpPr>
          <p:nvPr>
            <p:ph idx="1"/>
          </p:nvPr>
        </p:nvSpPr>
        <p:spPr/>
        <p:txBody>
          <a:bodyPr>
            <a:normAutofit fontScale="92500" lnSpcReduction="20000"/>
          </a:bodyPr>
          <a:lstStyle/>
          <a:p>
            <a:pPr marL="0" indent="0">
              <a:buNone/>
            </a:pPr>
            <a:r>
              <a:rPr lang="en-US" sz="1600" dirty="0">
                <a:solidFill>
                  <a:srgbClr val="0000FF"/>
                </a:solidFill>
                <a:latin typeface="Courier New" pitchFamily="49" charset="0"/>
                <a:cs typeface="Courier New" pitchFamily="49" charset="0"/>
              </a:rPr>
              <a:t>class </a:t>
            </a:r>
            <a:r>
              <a:rPr lang="en-US" sz="1600" dirty="0">
                <a:latin typeface="Courier New" pitchFamily="49" charset="0"/>
                <a:cs typeface="Courier New" pitchFamily="49" charset="0"/>
              </a:rPr>
              <a:t>HCN</a:t>
            </a:r>
          </a:p>
          <a:p>
            <a:pPr marL="0" indent="0">
              <a:buNone/>
            </a:pPr>
            <a:r>
              <a:rPr lang="en-US" sz="1600" dirty="0">
                <a:latin typeface="Courier New" pitchFamily="49" charset="0"/>
                <a:cs typeface="Courier New" pitchFamily="49" charset="0"/>
              </a:rPr>
              <a:t>{	</a:t>
            </a:r>
            <a:r>
              <a:rPr lang="en-US" sz="1600" dirty="0">
                <a:solidFill>
                  <a:srgbClr val="0000FF"/>
                </a:solidFill>
                <a:latin typeface="Courier New" pitchFamily="49" charset="0"/>
                <a:cs typeface="Courier New" pitchFamily="49" charset="0"/>
              </a:rPr>
              <a:t>private </a:t>
            </a:r>
            <a:r>
              <a:rPr lang="en-US" sz="1600" dirty="0">
                <a:latin typeface="Courier New" pitchFamily="49" charset="0"/>
                <a:cs typeface="Courier New" pitchFamily="49" charset="0"/>
              </a:rPr>
              <a:t>float Dai, Rong ; </a:t>
            </a:r>
          </a:p>
          <a:p>
            <a:pPr marL="0" indent="0">
              <a:buNone/>
            </a:pPr>
            <a:r>
              <a:rPr lang="en-US" sz="1600" dirty="0">
                <a:latin typeface="Courier New" pitchFamily="49" charset="0"/>
                <a:cs typeface="Courier New" pitchFamily="49" charset="0"/>
              </a:rPr>
              <a:t>	</a:t>
            </a:r>
            <a:r>
              <a:rPr lang="en-US" sz="1600" dirty="0">
                <a:solidFill>
                  <a:srgbClr val="0000FF"/>
                </a:solidFill>
                <a:latin typeface="Courier New" pitchFamily="49" charset="0"/>
                <a:cs typeface="Courier New" pitchFamily="49" charset="0"/>
              </a:rPr>
              <a:t>public</a:t>
            </a:r>
            <a:r>
              <a:rPr lang="en-US" sz="1600" dirty="0">
                <a:latin typeface="Courier New" pitchFamily="49" charset="0"/>
                <a:cs typeface="Courier New" pitchFamily="49" charset="0"/>
              </a:rPr>
              <a:t> </a:t>
            </a:r>
            <a:r>
              <a:rPr lang="en-US" sz="1600" dirty="0">
                <a:solidFill>
                  <a:srgbClr val="0000FF"/>
                </a:solidFill>
                <a:latin typeface="Courier New" pitchFamily="49" charset="0"/>
                <a:cs typeface="Courier New" pitchFamily="49" charset="0"/>
              </a:rPr>
              <a:t>float</a:t>
            </a: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ChuVi</a:t>
            </a:r>
            <a:r>
              <a:rPr lang="en-US" sz="1600" dirty="0">
                <a:latin typeface="Courier New" pitchFamily="49" charset="0"/>
                <a:cs typeface="Courier New" pitchFamily="49" charset="0"/>
              </a:rPr>
              <a:t>()</a:t>
            </a:r>
          </a:p>
          <a:p>
            <a:pPr marL="0" indent="0">
              <a:buNone/>
            </a:pPr>
            <a:r>
              <a:rPr lang="en-US" sz="1600" dirty="0">
                <a:latin typeface="Courier New" pitchFamily="49" charset="0"/>
                <a:cs typeface="Courier New" pitchFamily="49" charset="0"/>
              </a:rPr>
              <a:t>	{</a:t>
            </a:r>
          </a:p>
          <a:p>
            <a:pPr marL="0" indent="0">
              <a:buNone/>
            </a:pPr>
            <a:r>
              <a:rPr lang="en-US" sz="1600" dirty="0">
                <a:latin typeface="Courier New" pitchFamily="49" charset="0"/>
                <a:cs typeface="Courier New" pitchFamily="49" charset="0"/>
              </a:rPr>
              <a:t>		return (Dai + </a:t>
            </a:r>
            <a:r>
              <a:rPr lang="en-US" sz="1600" dirty="0" err="1">
                <a:latin typeface="Courier New" pitchFamily="49" charset="0"/>
                <a:cs typeface="Courier New" pitchFamily="49" charset="0"/>
              </a:rPr>
              <a:t>Rong</a:t>
            </a:r>
            <a:r>
              <a:rPr lang="en-US" sz="1600" dirty="0">
                <a:latin typeface="Courier New" pitchFamily="49" charset="0"/>
                <a:cs typeface="Courier New" pitchFamily="49" charset="0"/>
              </a:rPr>
              <a:t> )*2;</a:t>
            </a:r>
          </a:p>
          <a:p>
            <a:pPr marL="0" indent="0">
              <a:buNone/>
            </a:pPr>
            <a:r>
              <a:rPr lang="en-US" sz="1600" dirty="0">
                <a:latin typeface="Courier New" pitchFamily="49" charset="0"/>
                <a:cs typeface="Courier New" pitchFamily="49" charset="0"/>
              </a:rPr>
              <a:t>	}</a:t>
            </a:r>
          </a:p>
          <a:p>
            <a:pPr marL="0" indent="0">
              <a:buNone/>
            </a:pPr>
            <a:r>
              <a:rPr lang="en-US" sz="1600" dirty="0">
                <a:latin typeface="Courier New" pitchFamily="49" charset="0"/>
                <a:cs typeface="Courier New" pitchFamily="49" charset="0"/>
              </a:rPr>
              <a:t>	</a:t>
            </a:r>
            <a:r>
              <a:rPr lang="en-US" sz="1600" dirty="0">
                <a:solidFill>
                  <a:srgbClr val="0000FF"/>
                </a:solidFill>
                <a:latin typeface="Courier New" pitchFamily="49" charset="0"/>
                <a:cs typeface="Courier New" pitchFamily="49" charset="0"/>
              </a:rPr>
              <a:t>public</a:t>
            </a:r>
            <a:r>
              <a:rPr lang="en-US" sz="1600" dirty="0">
                <a:latin typeface="Courier New" pitchFamily="49" charset="0"/>
                <a:cs typeface="Courier New" pitchFamily="49" charset="0"/>
              </a:rPr>
              <a:t> </a:t>
            </a:r>
            <a:r>
              <a:rPr lang="en-US" sz="1600" dirty="0">
                <a:solidFill>
                  <a:srgbClr val="0000FF"/>
                </a:solidFill>
                <a:latin typeface="Courier New" pitchFamily="49" charset="0"/>
                <a:cs typeface="Courier New" pitchFamily="49" charset="0"/>
              </a:rPr>
              <a:t>float</a:t>
            </a: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DienTich</a:t>
            </a:r>
            <a:r>
              <a:rPr lang="en-US" sz="1600" dirty="0">
                <a:latin typeface="Courier New" pitchFamily="49" charset="0"/>
                <a:cs typeface="Courier New" pitchFamily="49" charset="0"/>
              </a:rPr>
              <a:t>()</a:t>
            </a:r>
          </a:p>
          <a:p>
            <a:pPr marL="0" indent="0">
              <a:buNone/>
            </a:pPr>
            <a:r>
              <a:rPr lang="en-US" sz="1600" dirty="0">
                <a:latin typeface="Courier New" pitchFamily="49" charset="0"/>
                <a:cs typeface="Courier New" pitchFamily="49" charset="0"/>
              </a:rPr>
              <a:t>	{</a:t>
            </a:r>
          </a:p>
          <a:p>
            <a:pPr marL="0" indent="0">
              <a:buNone/>
            </a:pPr>
            <a:r>
              <a:rPr lang="en-US" sz="1600" dirty="0">
                <a:latin typeface="Courier New" pitchFamily="49" charset="0"/>
                <a:cs typeface="Courier New" pitchFamily="49" charset="0"/>
              </a:rPr>
              <a:t>		return Dai* </a:t>
            </a:r>
            <a:r>
              <a:rPr lang="en-US" sz="1600" dirty="0" err="1">
                <a:latin typeface="Courier New" pitchFamily="49" charset="0"/>
                <a:cs typeface="Courier New" pitchFamily="49" charset="0"/>
              </a:rPr>
              <a:t>Rong</a:t>
            </a:r>
            <a:r>
              <a:rPr lang="en-US" sz="1600" dirty="0">
                <a:latin typeface="Courier New" pitchFamily="49" charset="0"/>
                <a:cs typeface="Courier New" pitchFamily="49" charset="0"/>
              </a:rPr>
              <a:t>;</a:t>
            </a:r>
          </a:p>
          <a:p>
            <a:pPr marL="0" indent="0">
              <a:buNone/>
            </a:pPr>
            <a:r>
              <a:rPr lang="en-US" sz="1600" dirty="0">
                <a:latin typeface="Courier New" pitchFamily="49" charset="0"/>
                <a:cs typeface="Courier New" pitchFamily="49" charset="0"/>
              </a:rPr>
              <a:t>	}</a:t>
            </a:r>
          </a:p>
          <a:p>
            <a:pPr marL="0" indent="0">
              <a:buNone/>
            </a:pPr>
            <a:r>
              <a:rPr lang="en-US" sz="1600" dirty="0">
                <a:latin typeface="Courier New" pitchFamily="49" charset="0"/>
                <a:cs typeface="Courier New" pitchFamily="49" charset="0"/>
              </a:rPr>
              <a:t>	</a:t>
            </a:r>
            <a:r>
              <a:rPr lang="en-US" sz="1600" dirty="0">
                <a:solidFill>
                  <a:srgbClr val="0000FF"/>
                </a:solidFill>
                <a:latin typeface="Courier New" pitchFamily="49" charset="0"/>
                <a:cs typeface="Courier New" pitchFamily="49" charset="0"/>
              </a:rPr>
              <a:t>public</a:t>
            </a:r>
            <a:r>
              <a:rPr lang="en-US" sz="1600" dirty="0">
                <a:latin typeface="Courier New" pitchFamily="49" charset="0"/>
                <a:cs typeface="Courier New" pitchFamily="49" charset="0"/>
              </a:rPr>
              <a:t> </a:t>
            </a:r>
            <a:r>
              <a:rPr lang="en-US" sz="1600" dirty="0">
                <a:solidFill>
                  <a:srgbClr val="0000FF"/>
                </a:solidFill>
                <a:latin typeface="Courier New" pitchFamily="49" charset="0"/>
                <a:cs typeface="Courier New" pitchFamily="49" charset="0"/>
              </a:rPr>
              <a:t>void</a:t>
            </a: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Nhap</a:t>
            </a:r>
            <a:r>
              <a:rPr lang="en-US" sz="1600" dirty="0">
                <a:latin typeface="Courier New" pitchFamily="49" charset="0"/>
                <a:cs typeface="Courier New" pitchFamily="49" charset="0"/>
              </a:rPr>
              <a:t>()</a:t>
            </a:r>
          </a:p>
          <a:p>
            <a:pPr marL="0" indent="0">
              <a:buNone/>
            </a:pPr>
            <a:r>
              <a:rPr lang="en-US" sz="1600" dirty="0">
                <a:latin typeface="Courier New" pitchFamily="49" charset="0"/>
                <a:cs typeface="Courier New" pitchFamily="49" charset="0"/>
              </a:rPr>
              <a:t>	{</a:t>
            </a:r>
          </a:p>
          <a:p>
            <a:pPr marL="0" indent="0">
              <a:buNone/>
            </a:pP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Console.WriteLine</a:t>
            </a:r>
            <a:r>
              <a:rPr lang="en-US" sz="1600" dirty="0">
                <a:latin typeface="Courier New" pitchFamily="49" charset="0"/>
                <a:cs typeface="Courier New" pitchFamily="49" charset="0"/>
              </a:rPr>
              <a:t>("</a:t>
            </a:r>
            <a:r>
              <a:rPr lang="en-US" sz="1600" dirty="0" err="1">
                <a:latin typeface="Courier New" pitchFamily="49" charset="0"/>
                <a:cs typeface="Courier New" pitchFamily="49" charset="0"/>
              </a:rPr>
              <a:t>Nhap</a:t>
            </a: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chieu</a:t>
            </a: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dai</a:t>
            </a:r>
            <a:r>
              <a:rPr lang="en-US" sz="1600" dirty="0">
                <a:latin typeface="Courier New" pitchFamily="49" charset="0"/>
                <a:cs typeface="Courier New" pitchFamily="49" charset="0"/>
              </a:rPr>
              <a:t>: ");</a:t>
            </a:r>
          </a:p>
          <a:p>
            <a:pPr marL="0" indent="0">
              <a:buNone/>
            </a:pPr>
            <a:r>
              <a:rPr lang="en-US" sz="1600" dirty="0">
                <a:latin typeface="Courier New" pitchFamily="49" charset="0"/>
                <a:cs typeface="Courier New" pitchFamily="49" charset="0"/>
              </a:rPr>
              <a:t>		Dai = </a:t>
            </a:r>
            <a:r>
              <a:rPr lang="en-US" sz="1600" dirty="0" err="1">
                <a:latin typeface="Courier New" pitchFamily="49" charset="0"/>
                <a:cs typeface="Courier New" pitchFamily="49" charset="0"/>
              </a:rPr>
              <a:t>float.Parse</a:t>
            </a:r>
            <a:r>
              <a:rPr lang="en-US" sz="1600" dirty="0">
                <a:latin typeface="Courier New" pitchFamily="49" charset="0"/>
                <a:cs typeface="Courier New" pitchFamily="49" charset="0"/>
              </a:rPr>
              <a:t>(</a:t>
            </a:r>
            <a:r>
              <a:rPr lang="en-US" sz="1600" dirty="0" err="1">
                <a:latin typeface="Courier New" pitchFamily="49" charset="0"/>
                <a:cs typeface="Courier New" pitchFamily="49" charset="0"/>
              </a:rPr>
              <a:t>Console.ReadLine</a:t>
            </a:r>
            <a:r>
              <a:rPr lang="en-US" sz="1600" dirty="0">
                <a:latin typeface="Courier New" pitchFamily="49" charset="0"/>
                <a:cs typeface="Courier New" pitchFamily="49" charset="0"/>
              </a:rPr>
              <a:t>());</a:t>
            </a:r>
          </a:p>
          <a:p>
            <a:pPr marL="0" indent="0">
              <a:buNone/>
            </a:pP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Console.WriteLine</a:t>
            </a:r>
            <a:r>
              <a:rPr lang="en-US" sz="1600" dirty="0">
                <a:latin typeface="Courier New" pitchFamily="49" charset="0"/>
                <a:cs typeface="Courier New" pitchFamily="49" charset="0"/>
              </a:rPr>
              <a:t>("</a:t>
            </a:r>
            <a:r>
              <a:rPr lang="en-US" sz="1600" dirty="0" err="1">
                <a:latin typeface="Courier New" pitchFamily="49" charset="0"/>
                <a:cs typeface="Courier New" pitchFamily="49" charset="0"/>
              </a:rPr>
              <a:t>Nhap</a:t>
            </a: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chieu</a:t>
            </a: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rong</a:t>
            </a:r>
            <a:r>
              <a:rPr lang="en-US" sz="1600" dirty="0">
                <a:latin typeface="Courier New" pitchFamily="49" charset="0"/>
                <a:cs typeface="Courier New" pitchFamily="49" charset="0"/>
              </a:rPr>
              <a:t>: ");</a:t>
            </a:r>
          </a:p>
          <a:p>
            <a:pPr marL="0" indent="0">
              <a:buNone/>
            </a:pP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Rong</a:t>
            </a:r>
            <a:r>
              <a:rPr lang="en-US" sz="1600" dirty="0">
                <a:latin typeface="Courier New" pitchFamily="49" charset="0"/>
                <a:cs typeface="Courier New" pitchFamily="49" charset="0"/>
              </a:rPr>
              <a:t> = </a:t>
            </a:r>
            <a:r>
              <a:rPr lang="en-US" sz="1600" dirty="0" err="1">
                <a:latin typeface="Courier New" pitchFamily="49" charset="0"/>
                <a:cs typeface="Courier New" pitchFamily="49" charset="0"/>
              </a:rPr>
              <a:t>float.Parse</a:t>
            </a:r>
            <a:r>
              <a:rPr lang="en-US" sz="1600" dirty="0">
                <a:latin typeface="Courier New" pitchFamily="49" charset="0"/>
                <a:cs typeface="Courier New" pitchFamily="49" charset="0"/>
              </a:rPr>
              <a:t>(</a:t>
            </a:r>
            <a:r>
              <a:rPr lang="en-US" sz="1600" dirty="0" err="1">
                <a:latin typeface="Courier New" pitchFamily="49" charset="0"/>
                <a:cs typeface="Courier New" pitchFamily="49" charset="0"/>
              </a:rPr>
              <a:t>Console.ReadLine</a:t>
            </a:r>
            <a:r>
              <a:rPr lang="en-US" sz="1600" dirty="0">
                <a:latin typeface="Courier New" pitchFamily="49" charset="0"/>
                <a:cs typeface="Courier New" pitchFamily="49" charset="0"/>
              </a:rPr>
              <a:t>());</a:t>
            </a:r>
          </a:p>
          <a:p>
            <a:pPr marL="0" indent="0">
              <a:buNone/>
            </a:pPr>
            <a:r>
              <a:rPr lang="en-US" sz="1600" dirty="0">
                <a:latin typeface="Courier New" pitchFamily="49" charset="0"/>
                <a:cs typeface="Courier New" pitchFamily="49" charset="0"/>
              </a:rPr>
              <a:t>	}</a:t>
            </a:r>
          </a:p>
          <a:p>
            <a:pPr marL="0" indent="0">
              <a:buNone/>
            </a:pPr>
            <a:r>
              <a:rPr lang="en-US" sz="1600" dirty="0">
                <a:latin typeface="Courier New" pitchFamily="49" charset="0"/>
                <a:cs typeface="Courier New" pitchFamily="49" charset="0"/>
              </a:rPr>
              <a:t>	</a:t>
            </a:r>
            <a:r>
              <a:rPr lang="en-US" sz="1600" dirty="0">
                <a:solidFill>
                  <a:srgbClr val="0000FF"/>
                </a:solidFill>
                <a:latin typeface="Courier New" pitchFamily="49" charset="0"/>
                <a:cs typeface="Courier New" pitchFamily="49" charset="0"/>
              </a:rPr>
              <a:t>public</a:t>
            </a:r>
            <a:r>
              <a:rPr lang="en-US" sz="1600" dirty="0">
                <a:latin typeface="Courier New" pitchFamily="49" charset="0"/>
                <a:cs typeface="Courier New" pitchFamily="49" charset="0"/>
              </a:rPr>
              <a:t> </a:t>
            </a:r>
            <a:r>
              <a:rPr lang="en-US" sz="1600" dirty="0">
                <a:solidFill>
                  <a:srgbClr val="0000FF"/>
                </a:solidFill>
                <a:latin typeface="Courier New" pitchFamily="49" charset="0"/>
                <a:cs typeface="Courier New" pitchFamily="49" charset="0"/>
              </a:rPr>
              <a:t>void</a:t>
            </a: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Xuat</a:t>
            </a:r>
            <a:r>
              <a:rPr lang="en-US" sz="1600" dirty="0">
                <a:latin typeface="Courier New" pitchFamily="49" charset="0"/>
                <a:cs typeface="Courier New" pitchFamily="49" charset="0"/>
              </a:rPr>
              <a:t>(){</a:t>
            </a:r>
          </a:p>
          <a:p>
            <a:pPr marL="0" indent="0">
              <a:buNone/>
            </a:pPr>
            <a:r>
              <a:rPr lang="en-US" sz="1600" dirty="0">
                <a:latin typeface="Courier New" pitchFamily="49" charset="0"/>
                <a:cs typeface="Courier New" pitchFamily="49" charset="0"/>
              </a:rPr>
              <a:t>		// </a:t>
            </a:r>
            <a:r>
              <a:rPr lang="en-US" sz="1600" dirty="0" err="1">
                <a:latin typeface="Courier New" pitchFamily="49" charset="0"/>
                <a:cs typeface="Courier New" pitchFamily="49" charset="0"/>
              </a:rPr>
              <a:t>Tự</a:t>
            </a: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viết</a:t>
            </a:r>
            <a:endParaRPr lang="en-US" sz="1600" dirty="0">
              <a:latin typeface="Courier New" pitchFamily="49" charset="0"/>
              <a:cs typeface="Courier New" pitchFamily="49" charset="0"/>
            </a:endParaRPr>
          </a:p>
          <a:p>
            <a:pPr marL="0" indent="0">
              <a:buNone/>
            </a:pPr>
            <a:r>
              <a:rPr lang="en-US" sz="1600" dirty="0">
                <a:latin typeface="Courier New" pitchFamily="49" charset="0"/>
                <a:cs typeface="Courier New" pitchFamily="49" charset="0"/>
              </a:rPr>
              <a:t>	}</a:t>
            </a:r>
          </a:p>
          <a:p>
            <a:pPr marL="0" indent="0">
              <a:buNone/>
            </a:pPr>
            <a:endParaRPr lang="en-US" sz="1600" dirty="0">
              <a:latin typeface="Courier New" pitchFamily="49" charset="0"/>
              <a:cs typeface="Courier New" pitchFamily="49" charset="0"/>
            </a:endParaRPr>
          </a:p>
          <a:p>
            <a:pPr marL="0" indent="0">
              <a:buNone/>
            </a:pPr>
            <a:r>
              <a:rPr lang="en-US" sz="1600" dirty="0">
                <a:latin typeface="Courier New" pitchFamily="49" charset="0"/>
                <a:cs typeface="Courier New" pitchFamily="49" charset="0"/>
              </a:rPr>
              <a:t>}</a:t>
            </a:r>
          </a:p>
        </p:txBody>
      </p:sp>
      <p:sp>
        <p:nvSpPr>
          <p:cNvPr id="4" name="Date Placeholder 3"/>
          <p:cNvSpPr>
            <a:spLocks noGrp="1"/>
          </p:cNvSpPr>
          <p:nvPr>
            <p:ph type="dt" sz="half" idx="10"/>
          </p:nvPr>
        </p:nvSpPr>
        <p:spPr/>
        <p:txBody>
          <a:bodyPr/>
          <a:lstStyle/>
          <a:p>
            <a:fld id="{946C3566-B52F-451F-9663-BEA2D252C05C}" type="datetime1">
              <a:rPr lang="vi-VN" smtClean="0"/>
              <a:t>04/02/2025</a:t>
            </a:fld>
            <a:endParaRPr lang="vi-VN"/>
          </a:p>
        </p:txBody>
      </p:sp>
      <p:sp>
        <p:nvSpPr>
          <p:cNvPr id="5" name="Footer Placeholder 4"/>
          <p:cNvSpPr>
            <a:spLocks noGrp="1"/>
          </p:cNvSpPr>
          <p:nvPr>
            <p:ph type="ftr" sz="quarter" idx="11"/>
          </p:nvPr>
        </p:nvSpPr>
        <p:spPr/>
        <p:txBody>
          <a:bodyPr/>
          <a:lstStyle/>
          <a:p>
            <a:r>
              <a:rPr lang="vi-VN"/>
              <a:t>Chương 3. Lập trình hướng đối tượng trong C#</a:t>
            </a:r>
          </a:p>
        </p:txBody>
      </p:sp>
      <p:sp>
        <p:nvSpPr>
          <p:cNvPr id="8" name="Slide Number Placeholder 7"/>
          <p:cNvSpPr>
            <a:spLocks noGrp="1"/>
          </p:cNvSpPr>
          <p:nvPr>
            <p:ph type="sldNum" sz="quarter" idx="12"/>
          </p:nvPr>
        </p:nvSpPr>
        <p:spPr/>
        <p:txBody>
          <a:bodyPr/>
          <a:lstStyle/>
          <a:p>
            <a:fld id="{5AB95402-1E0D-474E-8D8C-CBE7F053639E}" type="slidenum">
              <a:rPr lang="vi-VN" smtClean="0"/>
              <a:pPr/>
              <a:t>12</a:t>
            </a:fld>
            <a:r>
              <a:rPr lang="vi-VN"/>
              <a:t>/33</a:t>
            </a:r>
          </a:p>
        </p:txBody>
      </p:sp>
    </p:spTree>
    <p:extLst>
      <p:ext uri="{BB962C8B-B14F-4D97-AF65-F5344CB8AC3E}">
        <p14:creationId xmlns:p14="http://schemas.microsoft.com/office/powerpoint/2010/main" val="26579819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Chú ý</a:t>
            </a:r>
          </a:p>
        </p:txBody>
      </p:sp>
      <p:sp>
        <p:nvSpPr>
          <p:cNvPr id="3" name="Content Placeholder 2"/>
          <p:cNvSpPr>
            <a:spLocks noGrp="1"/>
          </p:cNvSpPr>
          <p:nvPr>
            <p:ph idx="1"/>
          </p:nvPr>
        </p:nvSpPr>
        <p:spPr/>
        <p:txBody>
          <a:bodyPr/>
          <a:lstStyle/>
          <a:p>
            <a:r>
              <a:rPr lang="en-US"/>
              <a:t>Các thành phần dữ liệu xem như biến toàn cục đối với các phương thức của lớp (các phương thức của lớp có quyền truy cập đến các thành phần này mà không cần khai báo lại)</a:t>
            </a:r>
          </a:p>
          <a:p>
            <a:r>
              <a:rPr lang="en-US"/>
              <a:t>Mặc định, mức độ truy cập là </a:t>
            </a:r>
            <a:r>
              <a:rPr lang="en-US" b="1">
                <a:solidFill>
                  <a:srgbClr val="0000FF"/>
                </a:solidFill>
              </a:rPr>
              <a:t>private</a:t>
            </a:r>
          </a:p>
          <a:p>
            <a:r>
              <a:rPr lang="en-US"/>
              <a:t>Các lớp thuộc cùng một project có thể xem là cùng một khối kết hợp (</a:t>
            </a:r>
            <a:r>
              <a:rPr lang="en-US" b="1">
                <a:solidFill>
                  <a:srgbClr val="0000FF"/>
                </a:solidFill>
              </a:rPr>
              <a:t>assembly</a:t>
            </a:r>
            <a:r>
              <a:rPr lang="en-US"/>
              <a:t>)</a:t>
            </a:r>
          </a:p>
        </p:txBody>
      </p:sp>
      <p:sp>
        <p:nvSpPr>
          <p:cNvPr id="4" name="Date Placeholder 3"/>
          <p:cNvSpPr>
            <a:spLocks noGrp="1"/>
          </p:cNvSpPr>
          <p:nvPr>
            <p:ph type="dt" sz="half" idx="10"/>
          </p:nvPr>
        </p:nvSpPr>
        <p:spPr/>
        <p:txBody>
          <a:bodyPr/>
          <a:lstStyle/>
          <a:p>
            <a:fld id="{B5581DE5-922C-46E9-AA07-6F1ECB5333C2}" type="datetime1">
              <a:rPr lang="vi-VN" smtClean="0"/>
              <a:t>04/02/2025</a:t>
            </a:fld>
            <a:endParaRPr lang="vi-VN"/>
          </a:p>
        </p:txBody>
      </p:sp>
      <p:sp>
        <p:nvSpPr>
          <p:cNvPr id="5" name="Footer Placeholder 4"/>
          <p:cNvSpPr>
            <a:spLocks noGrp="1"/>
          </p:cNvSpPr>
          <p:nvPr>
            <p:ph type="ftr" sz="quarter" idx="11"/>
          </p:nvPr>
        </p:nvSpPr>
        <p:spPr/>
        <p:txBody>
          <a:bodyPr/>
          <a:lstStyle/>
          <a:p>
            <a:r>
              <a:rPr lang="vi-VN"/>
              <a:t>Chương 3. Lập trình hướng đối tượng trong C#</a:t>
            </a:r>
          </a:p>
        </p:txBody>
      </p:sp>
      <p:sp>
        <p:nvSpPr>
          <p:cNvPr id="8" name="Slide Number Placeholder 7"/>
          <p:cNvSpPr>
            <a:spLocks noGrp="1"/>
          </p:cNvSpPr>
          <p:nvPr>
            <p:ph type="sldNum" sz="quarter" idx="12"/>
          </p:nvPr>
        </p:nvSpPr>
        <p:spPr/>
        <p:txBody>
          <a:bodyPr/>
          <a:lstStyle/>
          <a:p>
            <a:fld id="{5AB95402-1E0D-474E-8D8C-CBE7F053639E}" type="slidenum">
              <a:rPr lang="vi-VN" smtClean="0"/>
              <a:pPr/>
              <a:t>13</a:t>
            </a:fld>
            <a:r>
              <a:rPr lang="vi-VN"/>
              <a:t>/33</a:t>
            </a:r>
          </a:p>
        </p:txBody>
      </p:sp>
    </p:spTree>
    <p:extLst>
      <p:ext uri="{BB962C8B-B14F-4D97-AF65-F5344CB8AC3E}">
        <p14:creationId xmlns:p14="http://schemas.microsoft.com/office/powerpoint/2010/main" val="35745639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Khai báo đối tượng</a:t>
            </a:r>
          </a:p>
        </p:txBody>
      </p:sp>
      <p:sp>
        <p:nvSpPr>
          <p:cNvPr id="3" name="Content Placeholder 2"/>
          <p:cNvSpPr>
            <a:spLocks noGrp="1"/>
          </p:cNvSpPr>
          <p:nvPr>
            <p:ph idx="1"/>
          </p:nvPr>
        </p:nvSpPr>
        <p:spPr/>
        <p:txBody>
          <a:bodyPr>
            <a:normAutofit lnSpcReduction="10000"/>
          </a:bodyPr>
          <a:lstStyle/>
          <a:p>
            <a:r>
              <a:rPr lang="en-US"/>
              <a:t>Cú pháp: Sử dụng từ khoá </a:t>
            </a:r>
            <a:r>
              <a:rPr lang="en-US" sz="2600" b="1">
                <a:solidFill>
                  <a:srgbClr val="FF0000"/>
                </a:solidFill>
              </a:rPr>
              <a:t>new</a:t>
            </a:r>
          </a:p>
          <a:p>
            <a:pPr marL="0" indent="0">
              <a:buNone/>
            </a:pPr>
            <a:r>
              <a:rPr lang="en-US" sz="2600" b="1">
                <a:solidFill>
                  <a:srgbClr val="000066"/>
                </a:solidFill>
              </a:rPr>
              <a:t>&lt;tên lớp&gt; </a:t>
            </a:r>
            <a:r>
              <a:rPr lang="en-US" sz="2600">
                <a:solidFill>
                  <a:srgbClr val="0000FF"/>
                </a:solidFill>
              </a:rPr>
              <a:t>&lt;tên đối tượng&gt; ;</a:t>
            </a:r>
          </a:p>
          <a:p>
            <a:pPr marL="0" indent="0">
              <a:buNone/>
            </a:pPr>
            <a:r>
              <a:rPr lang="en-US" sz="2600">
                <a:solidFill>
                  <a:srgbClr val="0000FF"/>
                </a:solidFill>
              </a:rPr>
              <a:t>&lt;tên đối tượng&gt; = </a:t>
            </a:r>
            <a:r>
              <a:rPr lang="en-US" sz="2600" b="1">
                <a:solidFill>
                  <a:srgbClr val="FF0000"/>
                </a:solidFill>
              </a:rPr>
              <a:t>new</a:t>
            </a:r>
            <a:r>
              <a:rPr lang="en-US" sz="2600">
                <a:solidFill>
                  <a:srgbClr val="FF0000"/>
                </a:solidFill>
              </a:rPr>
              <a:t> </a:t>
            </a:r>
            <a:r>
              <a:rPr lang="en-US" sz="2600" b="1">
                <a:solidFill>
                  <a:srgbClr val="000066"/>
                </a:solidFill>
              </a:rPr>
              <a:t>&lt;tên lớp&gt;</a:t>
            </a:r>
            <a:r>
              <a:rPr lang="en-US" sz="2600">
                <a:solidFill>
                  <a:srgbClr val="FF0000"/>
                </a:solidFill>
              </a:rPr>
              <a:t>(</a:t>
            </a:r>
            <a:r>
              <a:rPr lang="en-US" sz="2600">
                <a:solidFill>
                  <a:srgbClr val="0000FF"/>
                </a:solidFill>
              </a:rPr>
              <a:t>[các giá trị khởi tạo nếu có]</a:t>
            </a:r>
            <a:r>
              <a:rPr lang="en-US" sz="2600">
                <a:solidFill>
                  <a:srgbClr val="FF0000"/>
                </a:solidFill>
              </a:rPr>
              <a:t>)</a:t>
            </a:r>
            <a:r>
              <a:rPr lang="en-US" sz="2600">
                <a:solidFill>
                  <a:srgbClr val="0000FF"/>
                </a:solidFill>
              </a:rPr>
              <a:t>;</a:t>
            </a:r>
          </a:p>
          <a:p>
            <a:pPr marL="0" indent="0">
              <a:buNone/>
            </a:pPr>
            <a:r>
              <a:rPr lang="en-US"/>
              <a:t>Hoặc:</a:t>
            </a:r>
          </a:p>
          <a:p>
            <a:pPr marL="0" indent="0">
              <a:buNone/>
            </a:pPr>
            <a:r>
              <a:rPr lang="en-US" sz="2600" b="1">
                <a:solidFill>
                  <a:srgbClr val="000066"/>
                </a:solidFill>
              </a:rPr>
              <a:t>&lt;tên lớp&gt; </a:t>
            </a:r>
            <a:r>
              <a:rPr lang="en-US" sz="2600">
                <a:solidFill>
                  <a:srgbClr val="0000FF"/>
                </a:solidFill>
              </a:rPr>
              <a:t>&lt;tên đối tượng&gt; = </a:t>
            </a:r>
            <a:r>
              <a:rPr lang="en-US" sz="2600" b="1">
                <a:solidFill>
                  <a:srgbClr val="FF0000"/>
                </a:solidFill>
              </a:rPr>
              <a:t>new</a:t>
            </a:r>
            <a:r>
              <a:rPr lang="en-US" sz="2600">
                <a:solidFill>
                  <a:srgbClr val="FF0000"/>
                </a:solidFill>
              </a:rPr>
              <a:t> </a:t>
            </a:r>
            <a:r>
              <a:rPr lang="en-US" sz="2600" b="1">
                <a:solidFill>
                  <a:srgbClr val="000066"/>
                </a:solidFill>
              </a:rPr>
              <a:t>&lt;tên lớp&gt;</a:t>
            </a:r>
            <a:r>
              <a:rPr lang="en-US" sz="2600">
                <a:solidFill>
                  <a:srgbClr val="FF0000"/>
                </a:solidFill>
              </a:rPr>
              <a:t>(</a:t>
            </a:r>
            <a:r>
              <a:rPr lang="en-US" sz="2600">
                <a:solidFill>
                  <a:srgbClr val="0000FF"/>
                </a:solidFill>
              </a:rPr>
              <a:t>[các giá trị khởi tạo nếu có]</a:t>
            </a:r>
            <a:r>
              <a:rPr lang="en-US" sz="2600">
                <a:solidFill>
                  <a:srgbClr val="FF0000"/>
                </a:solidFill>
              </a:rPr>
              <a:t>)</a:t>
            </a:r>
            <a:r>
              <a:rPr lang="en-US" sz="2600">
                <a:solidFill>
                  <a:srgbClr val="0000FF"/>
                </a:solidFill>
              </a:rPr>
              <a:t>;</a:t>
            </a:r>
          </a:p>
          <a:p>
            <a:r>
              <a:rPr lang="en-US"/>
              <a:t>Chú ý</a:t>
            </a:r>
          </a:p>
          <a:p>
            <a:pPr lvl="1"/>
            <a:r>
              <a:rPr lang="en-US"/>
              <a:t>Sau khi khai báo biến đối tượng thì biến đó chỉ là một con trỏ</a:t>
            </a:r>
          </a:p>
          <a:p>
            <a:pPr lvl="1"/>
            <a:r>
              <a:rPr lang="en-US"/>
              <a:t>Sau khi cấp phát bằng từ khoá </a:t>
            </a:r>
            <a:r>
              <a:rPr lang="en-US" sz="2600" b="1">
                <a:solidFill>
                  <a:srgbClr val="FF0000"/>
                </a:solidFill>
                <a:ea typeface="+mn-ea"/>
              </a:rPr>
              <a:t>new</a:t>
            </a:r>
            <a:r>
              <a:rPr lang="en-US"/>
              <a:t> thì biến trỏ tới một đối tượng thực sự</a:t>
            </a:r>
          </a:p>
          <a:p>
            <a:endParaRPr lang="en-US">
              <a:solidFill>
                <a:srgbClr val="0000FF"/>
              </a:solidFill>
            </a:endParaRPr>
          </a:p>
          <a:p>
            <a:pPr marL="0" indent="0">
              <a:buNone/>
            </a:pPr>
            <a:endParaRPr lang="en-US"/>
          </a:p>
        </p:txBody>
      </p:sp>
      <p:sp>
        <p:nvSpPr>
          <p:cNvPr id="4" name="Date Placeholder 3"/>
          <p:cNvSpPr>
            <a:spLocks noGrp="1"/>
          </p:cNvSpPr>
          <p:nvPr>
            <p:ph type="dt" sz="half" idx="10"/>
          </p:nvPr>
        </p:nvSpPr>
        <p:spPr/>
        <p:txBody>
          <a:bodyPr/>
          <a:lstStyle/>
          <a:p>
            <a:fld id="{99F0EA07-31FB-4E67-B060-FB6B32670DD6}" type="datetime1">
              <a:rPr lang="vi-VN" smtClean="0"/>
              <a:t>04/02/2025</a:t>
            </a:fld>
            <a:endParaRPr lang="vi-VN"/>
          </a:p>
        </p:txBody>
      </p:sp>
      <p:sp>
        <p:nvSpPr>
          <p:cNvPr id="5" name="Footer Placeholder 4"/>
          <p:cNvSpPr>
            <a:spLocks noGrp="1"/>
          </p:cNvSpPr>
          <p:nvPr>
            <p:ph type="ftr" sz="quarter" idx="11"/>
          </p:nvPr>
        </p:nvSpPr>
        <p:spPr/>
        <p:txBody>
          <a:bodyPr/>
          <a:lstStyle/>
          <a:p>
            <a:r>
              <a:rPr lang="vi-VN"/>
              <a:t>Chương 3. Lập trình hướng đối tượng trong C#</a:t>
            </a:r>
          </a:p>
        </p:txBody>
      </p:sp>
      <p:sp>
        <p:nvSpPr>
          <p:cNvPr id="8" name="Slide Number Placeholder 7"/>
          <p:cNvSpPr>
            <a:spLocks noGrp="1"/>
          </p:cNvSpPr>
          <p:nvPr>
            <p:ph type="sldNum" sz="quarter" idx="12"/>
          </p:nvPr>
        </p:nvSpPr>
        <p:spPr/>
        <p:txBody>
          <a:bodyPr/>
          <a:lstStyle/>
          <a:p>
            <a:fld id="{5AB95402-1E0D-474E-8D8C-CBE7F053639E}" type="slidenum">
              <a:rPr lang="vi-VN" smtClean="0"/>
              <a:pPr/>
              <a:t>14</a:t>
            </a:fld>
            <a:r>
              <a:rPr lang="vi-VN"/>
              <a:t>/33</a:t>
            </a:r>
          </a:p>
        </p:txBody>
      </p:sp>
    </p:spTree>
    <p:extLst>
      <p:ext uri="{BB962C8B-B14F-4D97-AF65-F5344CB8AC3E}">
        <p14:creationId xmlns:p14="http://schemas.microsoft.com/office/powerpoint/2010/main" val="3510933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Truy cập thuộc tính/phương thức</a:t>
            </a:r>
          </a:p>
        </p:txBody>
      </p:sp>
      <p:sp>
        <p:nvSpPr>
          <p:cNvPr id="3" name="Content Placeholder 2"/>
          <p:cNvSpPr>
            <a:spLocks noGrp="1"/>
          </p:cNvSpPr>
          <p:nvPr>
            <p:ph idx="1"/>
          </p:nvPr>
        </p:nvSpPr>
        <p:spPr/>
        <p:txBody>
          <a:bodyPr>
            <a:normAutofit fontScale="77500" lnSpcReduction="20000"/>
          </a:bodyPr>
          <a:lstStyle/>
          <a:p>
            <a:r>
              <a:rPr lang="en-US" dirty="0" err="1"/>
              <a:t>Truy</a:t>
            </a:r>
            <a:r>
              <a:rPr lang="en-US" dirty="0"/>
              <a:t> </a:t>
            </a:r>
            <a:r>
              <a:rPr lang="en-US" dirty="0" err="1"/>
              <a:t>cập</a:t>
            </a:r>
            <a:r>
              <a:rPr lang="en-US" dirty="0"/>
              <a:t> </a:t>
            </a:r>
            <a:r>
              <a:rPr lang="en-US" dirty="0" err="1"/>
              <a:t>thuộc</a:t>
            </a:r>
            <a:r>
              <a:rPr lang="en-US" dirty="0"/>
              <a:t> </a:t>
            </a:r>
            <a:r>
              <a:rPr lang="en-US" dirty="0" err="1"/>
              <a:t>tính</a:t>
            </a:r>
            <a:endParaRPr lang="en-US" dirty="0"/>
          </a:p>
          <a:p>
            <a:pPr lvl="1"/>
            <a:r>
              <a:rPr lang="en-US" dirty="0"/>
              <a:t>&lt;</a:t>
            </a:r>
            <a:r>
              <a:rPr lang="en-US" dirty="0" err="1"/>
              <a:t>tên</a:t>
            </a:r>
            <a:r>
              <a:rPr lang="en-US" dirty="0"/>
              <a:t> </a:t>
            </a:r>
            <a:r>
              <a:rPr lang="en-US" dirty="0" err="1"/>
              <a:t>đối</a:t>
            </a:r>
            <a:r>
              <a:rPr lang="en-US" dirty="0"/>
              <a:t> </a:t>
            </a:r>
            <a:r>
              <a:rPr lang="en-US" dirty="0" err="1"/>
              <a:t>tượng</a:t>
            </a:r>
            <a:r>
              <a:rPr lang="en-US" dirty="0"/>
              <a:t>&gt;.&lt;</a:t>
            </a:r>
            <a:r>
              <a:rPr lang="en-US" dirty="0" err="1"/>
              <a:t>tên</a:t>
            </a:r>
            <a:r>
              <a:rPr lang="en-US" dirty="0"/>
              <a:t> </a:t>
            </a:r>
            <a:r>
              <a:rPr lang="en-US" dirty="0" err="1"/>
              <a:t>thuộc</a:t>
            </a:r>
            <a:r>
              <a:rPr lang="en-US" dirty="0"/>
              <a:t> </a:t>
            </a:r>
            <a:r>
              <a:rPr lang="en-US" dirty="0" err="1"/>
              <a:t>tính</a:t>
            </a:r>
            <a:r>
              <a:rPr lang="en-US" dirty="0"/>
              <a:t>&gt;</a:t>
            </a:r>
          </a:p>
          <a:p>
            <a:r>
              <a:rPr lang="en-US" dirty="0" err="1"/>
              <a:t>Truy</a:t>
            </a:r>
            <a:r>
              <a:rPr lang="en-US" dirty="0"/>
              <a:t> </a:t>
            </a:r>
            <a:r>
              <a:rPr lang="en-US" dirty="0" err="1"/>
              <a:t>cập</a:t>
            </a:r>
            <a:r>
              <a:rPr lang="en-US" dirty="0"/>
              <a:t> </a:t>
            </a:r>
            <a:r>
              <a:rPr lang="en-US" dirty="0" err="1"/>
              <a:t>phương</a:t>
            </a:r>
            <a:r>
              <a:rPr lang="en-US" dirty="0"/>
              <a:t> </a:t>
            </a:r>
            <a:r>
              <a:rPr lang="en-US" dirty="0" err="1"/>
              <a:t>thức</a:t>
            </a:r>
            <a:endParaRPr lang="en-US" dirty="0"/>
          </a:p>
          <a:p>
            <a:pPr lvl="1"/>
            <a:r>
              <a:rPr lang="en-US" dirty="0"/>
              <a:t>&lt;</a:t>
            </a:r>
            <a:r>
              <a:rPr lang="en-US" dirty="0" err="1"/>
              <a:t>tên</a:t>
            </a:r>
            <a:r>
              <a:rPr lang="en-US" dirty="0"/>
              <a:t> </a:t>
            </a:r>
            <a:r>
              <a:rPr lang="en-US" dirty="0" err="1"/>
              <a:t>đối</a:t>
            </a:r>
            <a:r>
              <a:rPr lang="en-US" dirty="0"/>
              <a:t> </a:t>
            </a:r>
            <a:r>
              <a:rPr lang="en-US" dirty="0" err="1"/>
              <a:t>tượng</a:t>
            </a:r>
            <a:r>
              <a:rPr lang="en-US" dirty="0"/>
              <a:t>&gt;.&lt;</a:t>
            </a:r>
            <a:r>
              <a:rPr lang="en-US" dirty="0" err="1"/>
              <a:t>tên</a:t>
            </a:r>
            <a:r>
              <a:rPr lang="en-US" dirty="0"/>
              <a:t> </a:t>
            </a:r>
            <a:r>
              <a:rPr lang="en-US" dirty="0" err="1"/>
              <a:t>phương</a:t>
            </a:r>
            <a:r>
              <a:rPr lang="en-US" dirty="0"/>
              <a:t> </a:t>
            </a:r>
            <a:r>
              <a:rPr lang="en-US" dirty="0" err="1"/>
              <a:t>thức</a:t>
            </a:r>
            <a:r>
              <a:rPr lang="en-US" dirty="0"/>
              <a:t>&gt;([</a:t>
            </a:r>
            <a:r>
              <a:rPr lang="en-US" dirty="0" err="1"/>
              <a:t>danh</a:t>
            </a:r>
            <a:r>
              <a:rPr lang="en-US" dirty="0"/>
              <a:t> </a:t>
            </a:r>
            <a:r>
              <a:rPr lang="en-US" dirty="0" err="1"/>
              <a:t>sách</a:t>
            </a:r>
            <a:r>
              <a:rPr lang="en-US" dirty="0"/>
              <a:t> </a:t>
            </a:r>
            <a:r>
              <a:rPr lang="en-US" dirty="0" err="1"/>
              <a:t>đối</a:t>
            </a:r>
            <a:r>
              <a:rPr lang="en-US" dirty="0"/>
              <a:t> </a:t>
            </a:r>
            <a:r>
              <a:rPr lang="en-US" dirty="0" err="1"/>
              <a:t>số</a:t>
            </a:r>
            <a:r>
              <a:rPr lang="en-US" dirty="0"/>
              <a:t> </a:t>
            </a:r>
            <a:r>
              <a:rPr lang="en-US" dirty="0" err="1"/>
              <a:t>nếu</a:t>
            </a:r>
            <a:r>
              <a:rPr lang="en-US" dirty="0"/>
              <a:t> </a:t>
            </a:r>
            <a:r>
              <a:rPr lang="en-US" dirty="0" err="1"/>
              <a:t>có</a:t>
            </a:r>
            <a:r>
              <a:rPr lang="en-US" dirty="0"/>
              <a:t>])</a:t>
            </a:r>
          </a:p>
          <a:p>
            <a:r>
              <a:rPr lang="en-US" dirty="0" err="1"/>
              <a:t>Ví</a:t>
            </a:r>
            <a:r>
              <a:rPr lang="en-US" dirty="0"/>
              <a:t> </a:t>
            </a:r>
            <a:r>
              <a:rPr lang="en-US" dirty="0" err="1"/>
              <a:t>dụ</a:t>
            </a:r>
            <a:r>
              <a:rPr lang="en-US" dirty="0"/>
              <a:t>:</a:t>
            </a:r>
          </a:p>
          <a:p>
            <a:pPr lvl="1"/>
            <a:r>
              <a:rPr lang="en-US" dirty="0" err="1"/>
              <a:t>Tạo</a:t>
            </a:r>
            <a:r>
              <a:rPr lang="en-US" dirty="0"/>
              <a:t> </a:t>
            </a:r>
            <a:r>
              <a:rPr lang="en-US" dirty="0" err="1"/>
              <a:t>đối</a:t>
            </a:r>
            <a:r>
              <a:rPr lang="en-US" dirty="0"/>
              <a:t> </a:t>
            </a:r>
            <a:r>
              <a:rPr lang="en-US" dirty="0" err="1"/>
              <a:t>tượng</a:t>
            </a:r>
            <a:r>
              <a:rPr lang="en-US" dirty="0"/>
              <a:t> </a:t>
            </a:r>
            <a:r>
              <a:rPr lang="en-US" dirty="0" err="1"/>
              <a:t>hình</a:t>
            </a:r>
            <a:r>
              <a:rPr lang="en-US" dirty="0"/>
              <a:t> </a:t>
            </a:r>
            <a:r>
              <a:rPr lang="en-US" dirty="0" err="1"/>
              <a:t>chữ</a:t>
            </a:r>
            <a:r>
              <a:rPr lang="en-US" dirty="0"/>
              <a:t> </a:t>
            </a:r>
            <a:r>
              <a:rPr lang="en-US" dirty="0" err="1"/>
              <a:t>nhật</a:t>
            </a:r>
            <a:r>
              <a:rPr lang="en-US" dirty="0"/>
              <a:t> h</a:t>
            </a:r>
          </a:p>
          <a:p>
            <a:pPr marL="469900" lvl="1" indent="506413">
              <a:buNone/>
            </a:pPr>
            <a:r>
              <a:rPr lang="en-US" sz="2500" dirty="0">
                <a:solidFill>
                  <a:srgbClr val="000066"/>
                </a:solidFill>
                <a:latin typeface="Courier New" pitchFamily="49" charset="0"/>
                <a:cs typeface="Courier New" pitchFamily="49" charset="0"/>
              </a:rPr>
              <a:t>internal class Program</a:t>
            </a:r>
          </a:p>
          <a:p>
            <a:pPr marL="31750" indent="506413">
              <a:buNone/>
            </a:pPr>
            <a:r>
              <a:rPr lang="en-US" sz="2900" dirty="0">
                <a:solidFill>
                  <a:srgbClr val="000066"/>
                </a:solidFill>
                <a:latin typeface="Courier New" pitchFamily="49" charset="0"/>
                <a:cs typeface="Courier New" pitchFamily="49" charset="0"/>
              </a:rPr>
              <a:t>    {</a:t>
            </a:r>
          </a:p>
          <a:p>
            <a:pPr marL="31750" indent="506413">
              <a:buNone/>
            </a:pPr>
            <a:r>
              <a:rPr lang="en-US" sz="2900" dirty="0">
                <a:solidFill>
                  <a:srgbClr val="000066"/>
                </a:solidFill>
                <a:latin typeface="Courier New" pitchFamily="49" charset="0"/>
                <a:cs typeface="Courier New" pitchFamily="49" charset="0"/>
              </a:rPr>
              <a:t>        static void Main(string[] </a:t>
            </a:r>
            <a:r>
              <a:rPr lang="en-US" sz="2900" dirty="0" err="1">
                <a:solidFill>
                  <a:srgbClr val="000066"/>
                </a:solidFill>
                <a:latin typeface="Courier New" pitchFamily="49" charset="0"/>
                <a:cs typeface="Courier New" pitchFamily="49" charset="0"/>
              </a:rPr>
              <a:t>args</a:t>
            </a:r>
            <a:r>
              <a:rPr lang="en-US" sz="2900" dirty="0">
                <a:solidFill>
                  <a:srgbClr val="000066"/>
                </a:solidFill>
                <a:latin typeface="Courier New" pitchFamily="49" charset="0"/>
                <a:cs typeface="Courier New" pitchFamily="49" charset="0"/>
              </a:rPr>
              <a:t>)</a:t>
            </a:r>
          </a:p>
          <a:p>
            <a:pPr marL="31750" indent="506413">
              <a:buNone/>
            </a:pPr>
            <a:r>
              <a:rPr lang="en-US" sz="2900" dirty="0">
                <a:solidFill>
                  <a:srgbClr val="000066"/>
                </a:solidFill>
                <a:latin typeface="Courier New" pitchFamily="49" charset="0"/>
                <a:cs typeface="Courier New" pitchFamily="49" charset="0"/>
              </a:rPr>
              <a:t>        {</a:t>
            </a:r>
            <a:endParaRPr lang="en-US" dirty="0">
              <a:solidFill>
                <a:srgbClr val="000066"/>
              </a:solidFill>
              <a:latin typeface="Courier New" pitchFamily="49" charset="0"/>
              <a:cs typeface="Courier New" pitchFamily="49" charset="0"/>
            </a:endParaRPr>
          </a:p>
          <a:p>
            <a:pPr marL="1655763" lvl="4" indent="506413">
              <a:buNone/>
            </a:pPr>
            <a:r>
              <a:rPr lang="en-US" sz="2800" dirty="0">
                <a:solidFill>
                  <a:srgbClr val="000066"/>
                </a:solidFill>
                <a:latin typeface="Courier New" pitchFamily="49" charset="0"/>
                <a:cs typeface="Courier New" pitchFamily="49" charset="0"/>
              </a:rPr>
              <a:t>HCN h;</a:t>
            </a:r>
          </a:p>
          <a:p>
            <a:pPr marL="1655763" lvl="4" indent="506413">
              <a:buNone/>
            </a:pPr>
            <a:r>
              <a:rPr lang="en-US" sz="2800" dirty="0">
                <a:solidFill>
                  <a:srgbClr val="000066"/>
                </a:solidFill>
                <a:latin typeface="Courier New" pitchFamily="49" charset="0"/>
                <a:cs typeface="Courier New" pitchFamily="49" charset="0"/>
              </a:rPr>
              <a:t>h = new HCN();</a:t>
            </a:r>
          </a:p>
          <a:p>
            <a:pPr marL="1655763" lvl="4" indent="506413">
              <a:buNone/>
            </a:pPr>
            <a:r>
              <a:rPr lang="en-US" sz="2800" dirty="0" err="1">
                <a:solidFill>
                  <a:srgbClr val="000066"/>
                </a:solidFill>
                <a:latin typeface="Courier New" pitchFamily="49" charset="0"/>
                <a:cs typeface="Courier New" pitchFamily="49" charset="0"/>
              </a:rPr>
              <a:t>h.Nhap</a:t>
            </a:r>
            <a:r>
              <a:rPr lang="en-US" sz="2800" dirty="0">
                <a:solidFill>
                  <a:srgbClr val="000066"/>
                </a:solidFill>
                <a:latin typeface="Courier New" pitchFamily="49" charset="0"/>
                <a:cs typeface="Courier New" pitchFamily="49" charset="0"/>
              </a:rPr>
              <a:t>(); </a:t>
            </a:r>
          </a:p>
          <a:p>
            <a:pPr marL="1655763" lvl="4" indent="506413">
              <a:buNone/>
            </a:pPr>
            <a:r>
              <a:rPr lang="en-US" sz="2800" dirty="0" err="1">
                <a:solidFill>
                  <a:srgbClr val="000066"/>
                </a:solidFill>
                <a:latin typeface="Courier New" pitchFamily="49" charset="0"/>
                <a:cs typeface="Courier New" pitchFamily="49" charset="0"/>
              </a:rPr>
              <a:t>h.Xuat</a:t>
            </a:r>
            <a:r>
              <a:rPr lang="en-US" sz="2800" dirty="0">
                <a:solidFill>
                  <a:srgbClr val="000066"/>
                </a:solidFill>
                <a:latin typeface="Courier New" pitchFamily="49" charset="0"/>
                <a:cs typeface="Courier New" pitchFamily="49" charset="0"/>
              </a:rPr>
              <a:t>();</a:t>
            </a:r>
          </a:p>
          <a:p>
            <a:pPr marL="31750" indent="506413">
              <a:buNone/>
            </a:pPr>
            <a:r>
              <a:rPr lang="en-US" dirty="0">
                <a:solidFill>
                  <a:srgbClr val="000066"/>
                </a:solidFill>
                <a:latin typeface="Courier New" pitchFamily="49" charset="0"/>
                <a:cs typeface="Courier New" pitchFamily="49" charset="0"/>
              </a:rPr>
              <a:t>		}</a:t>
            </a:r>
          </a:p>
          <a:p>
            <a:pPr marL="31750" indent="506413">
              <a:buNone/>
            </a:pPr>
            <a:r>
              <a:rPr lang="en-US" dirty="0">
                <a:solidFill>
                  <a:srgbClr val="000066"/>
                </a:solidFill>
                <a:latin typeface="Courier New" pitchFamily="49" charset="0"/>
                <a:cs typeface="Courier New" pitchFamily="49" charset="0"/>
              </a:rPr>
              <a:t>	}</a:t>
            </a:r>
          </a:p>
        </p:txBody>
      </p:sp>
      <p:sp>
        <p:nvSpPr>
          <p:cNvPr id="4" name="Date Placeholder 3"/>
          <p:cNvSpPr>
            <a:spLocks noGrp="1"/>
          </p:cNvSpPr>
          <p:nvPr>
            <p:ph type="dt" sz="half" idx="10"/>
          </p:nvPr>
        </p:nvSpPr>
        <p:spPr/>
        <p:txBody>
          <a:bodyPr/>
          <a:lstStyle/>
          <a:p>
            <a:fld id="{EF449604-7EA1-4A7F-917E-D831B9ABBE59}" type="datetime1">
              <a:rPr lang="vi-VN" smtClean="0"/>
              <a:t>04/02/2025</a:t>
            </a:fld>
            <a:endParaRPr lang="vi-VN"/>
          </a:p>
        </p:txBody>
      </p:sp>
      <p:sp>
        <p:nvSpPr>
          <p:cNvPr id="5" name="Footer Placeholder 4"/>
          <p:cNvSpPr>
            <a:spLocks noGrp="1"/>
          </p:cNvSpPr>
          <p:nvPr>
            <p:ph type="ftr" sz="quarter" idx="11"/>
          </p:nvPr>
        </p:nvSpPr>
        <p:spPr/>
        <p:txBody>
          <a:bodyPr/>
          <a:lstStyle/>
          <a:p>
            <a:r>
              <a:rPr lang="vi-VN"/>
              <a:t>Chương 3. Lập trình hướng đối tượng trong C#</a:t>
            </a:r>
          </a:p>
        </p:txBody>
      </p:sp>
      <p:sp>
        <p:nvSpPr>
          <p:cNvPr id="8" name="Slide Number Placeholder 7"/>
          <p:cNvSpPr>
            <a:spLocks noGrp="1"/>
          </p:cNvSpPr>
          <p:nvPr>
            <p:ph type="sldNum" sz="quarter" idx="12"/>
          </p:nvPr>
        </p:nvSpPr>
        <p:spPr/>
        <p:txBody>
          <a:bodyPr/>
          <a:lstStyle/>
          <a:p>
            <a:fld id="{5AB95402-1E0D-474E-8D8C-CBE7F053639E}" type="slidenum">
              <a:rPr lang="vi-VN" smtClean="0"/>
              <a:pPr/>
              <a:t>15</a:t>
            </a:fld>
            <a:r>
              <a:rPr lang="vi-VN"/>
              <a:t>/33</a:t>
            </a:r>
          </a:p>
        </p:txBody>
      </p:sp>
    </p:spTree>
    <p:extLst>
      <p:ext uri="{BB962C8B-B14F-4D97-AF65-F5344CB8AC3E}">
        <p14:creationId xmlns:p14="http://schemas.microsoft.com/office/powerpoint/2010/main" val="27946972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0F94A7C-41A4-11AA-06CC-7F374D82D748}"/>
              </a:ext>
            </a:extLst>
          </p:cNvPr>
          <p:cNvSpPr>
            <a:spLocks noGrp="1"/>
          </p:cNvSpPr>
          <p:nvPr>
            <p:ph idx="1"/>
          </p:nvPr>
        </p:nvSpPr>
        <p:spPr/>
        <p:txBody>
          <a:bodyPr/>
          <a:lstStyle/>
          <a:p>
            <a:r>
              <a:rPr lang="en-US" dirty="0" err="1"/>
              <a:t>Hãy</a:t>
            </a:r>
            <a:r>
              <a:rPr lang="en-US" dirty="0"/>
              <a:t> </a:t>
            </a:r>
            <a:r>
              <a:rPr lang="en-US" dirty="0" err="1"/>
              <a:t>tạo</a:t>
            </a:r>
            <a:r>
              <a:rPr lang="en-US" dirty="0"/>
              <a:t> </a:t>
            </a:r>
            <a:r>
              <a:rPr lang="en-US" dirty="0" err="1"/>
              <a:t>lớp</a:t>
            </a:r>
            <a:r>
              <a:rPr lang="en-US" dirty="0"/>
              <a:t> </a:t>
            </a:r>
            <a:r>
              <a:rPr lang="en-US" dirty="0" err="1"/>
              <a:t>SinhVien</a:t>
            </a:r>
            <a:r>
              <a:rPr lang="en-US" dirty="0"/>
              <a:t>:</a:t>
            </a:r>
          </a:p>
          <a:p>
            <a:pPr lvl="1"/>
            <a:r>
              <a:rPr lang="en-US" dirty="0" err="1"/>
              <a:t>Thuộc</a:t>
            </a:r>
            <a:r>
              <a:rPr lang="en-US" dirty="0"/>
              <a:t> </a:t>
            </a:r>
            <a:r>
              <a:rPr lang="en-US" dirty="0" err="1"/>
              <a:t>tính</a:t>
            </a:r>
            <a:r>
              <a:rPr lang="en-US" dirty="0"/>
              <a:t> private: </a:t>
            </a:r>
            <a:r>
              <a:rPr lang="en-US" dirty="0" err="1"/>
              <a:t>maSV</a:t>
            </a:r>
            <a:r>
              <a:rPr lang="en-US" dirty="0"/>
              <a:t>, </a:t>
            </a:r>
            <a:r>
              <a:rPr lang="en-US" dirty="0" err="1"/>
              <a:t>tenSV</a:t>
            </a:r>
            <a:r>
              <a:rPr lang="en-US" dirty="0"/>
              <a:t> </a:t>
            </a:r>
          </a:p>
          <a:p>
            <a:pPr lvl="1"/>
            <a:r>
              <a:rPr lang="en-US" dirty="0" err="1"/>
              <a:t>Phương</a:t>
            </a:r>
            <a:r>
              <a:rPr lang="en-US" dirty="0"/>
              <a:t> </a:t>
            </a:r>
            <a:r>
              <a:rPr lang="en-US" dirty="0" err="1"/>
              <a:t>thức</a:t>
            </a:r>
            <a:r>
              <a:rPr lang="en-US" dirty="0"/>
              <a:t> public: </a:t>
            </a:r>
            <a:r>
              <a:rPr lang="en-US" dirty="0" err="1"/>
              <a:t>Nhap</a:t>
            </a:r>
            <a:r>
              <a:rPr lang="en-US" dirty="0"/>
              <a:t>(), </a:t>
            </a:r>
            <a:r>
              <a:rPr lang="en-US" dirty="0" err="1"/>
              <a:t>Xuat</a:t>
            </a:r>
            <a:r>
              <a:rPr lang="en-US" dirty="0"/>
              <a:t>()</a:t>
            </a:r>
          </a:p>
          <a:p>
            <a:pPr lvl="1"/>
            <a:r>
              <a:rPr lang="en-US" dirty="0" err="1"/>
              <a:t>Từ</a:t>
            </a:r>
            <a:r>
              <a:rPr lang="en-US" dirty="0"/>
              <a:t> </a:t>
            </a:r>
            <a:r>
              <a:rPr lang="en-US" dirty="0" err="1"/>
              <a:t>hàm</a:t>
            </a:r>
            <a:r>
              <a:rPr lang="en-US" dirty="0"/>
              <a:t> Main </a:t>
            </a:r>
            <a:r>
              <a:rPr lang="en-US" dirty="0" err="1"/>
              <a:t>của</a:t>
            </a:r>
            <a:r>
              <a:rPr lang="en-US" dirty="0"/>
              <a:t> </a:t>
            </a:r>
            <a:r>
              <a:rPr lang="en-US" dirty="0" err="1"/>
              <a:t>lớp</a:t>
            </a:r>
            <a:r>
              <a:rPr lang="en-US" dirty="0"/>
              <a:t> Program </a:t>
            </a:r>
            <a:r>
              <a:rPr lang="en-US" dirty="0" err="1"/>
              <a:t>hãy</a:t>
            </a:r>
            <a:r>
              <a:rPr lang="en-US" dirty="0"/>
              <a:t> </a:t>
            </a:r>
            <a:r>
              <a:rPr lang="en-US" dirty="0" err="1"/>
              <a:t>tạo</a:t>
            </a:r>
            <a:r>
              <a:rPr lang="en-US" dirty="0"/>
              <a:t> </a:t>
            </a:r>
            <a:r>
              <a:rPr lang="en-US" dirty="0" err="1"/>
              <a:t>một</a:t>
            </a:r>
            <a:r>
              <a:rPr lang="en-US" dirty="0"/>
              <a:t> </a:t>
            </a:r>
            <a:r>
              <a:rPr lang="en-US" dirty="0" err="1"/>
              <a:t>đối</a:t>
            </a:r>
            <a:r>
              <a:rPr lang="en-US" dirty="0"/>
              <a:t> </a:t>
            </a:r>
            <a:r>
              <a:rPr lang="en-US" dirty="0" err="1"/>
              <a:t>tượng</a:t>
            </a:r>
            <a:r>
              <a:rPr lang="en-US" dirty="0"/>
              <a:t> </a:t>
            </a:r>
            <a:r>
              <a:rPr lang="en-US" dirty="0" err="1"/>
              <a:t>SinhVien</a:t>
            </a:r>
            <a:r>
              <a:rPr lang="en-US" dirty="0"/>
              <a:t>, </a:t>
            </a:r>
            <a:r>
              <a:rPr lang="en-US" dirty="0" err="1"/>
              <a:t>thực</a:t>
            </a:r>
            <a:r>
              <a:rPr lang="en-US" dirty="0"/>
              <a:t> </a:t>
            </a:r>
            <a:r>
              <a:rPr lang="en-US" dirty="0" err="1"/>
              <a:t>hiện</a:t>
            </a:r>
            <a:r>
              <a:rPr lang="en-US" dirty="0"/>
              <a:t> </a:t>
            </a:r>
            <a:r>
              <a:rPr lang="en-US" dirty="0" err="1"/>
              <a:t>nhập</a:t>
            </a:r>
            <a:r>
              <a:rPr lang="en-US" dirty="0"/>
              <a:t>/</a:t>
            </a:r>
            <a:r>
              <a:rPr lang="en-US" dirty="0" err="1"/>
              <a:t>xuất</a:t>
            </a:r>
            <a:r>
              <a:rPr lang="en-US" dirty="0"/>
              <a:t> </a:t>
            </a:r>
            <a:r>
              <a:rPr lang="en-US" dirty="0" err="1"/>
              <a:t>thông</a:t>
            </a:r>
            <a:r>
              <a:rPr lang="en-US" dirty="0"/>
              <a:t> tin </a:t>
            </a:r>
            <a:r>
              <a:rPr lang="en-US" dirty="0" err="1"/>
              <a:t>của</a:t>
            </a:r>
            <a:r>
              <a:rPr lang="en-US" dirty="0"/>
              <a:t> </a:t>
            </a:r>
            <a:r>
              <a:rPr lang="en-US" dirty="0" err="1"/>
              <a:t>sinh</a:t>
            </a:r>
            <a:r>
              <a:rPr lang="en-US" dirty="0"/>
              <a:t> </a:t>
            </a:r>
            <a:r>
              <a:rPr lang="en-US" dirty="0" err="1"/>
              <a:t>viên</a:t>
            </a:r>
            <a:r>
              <a:rPr lang="en-US" dirty="0"/>
              <a:t> </a:t>
            </a:r>
            <a:r>
              <a:rPr lang="en-US" dirty="0" err="1"/>
              <a:t>đó</a:t>
            </a:r>
            <a:endParaRPr lang="en-GB" dirty="0"/>
          </a:p>
        </p:txBody>
      </p:sp>
      <p:sp>
        <p:nvSpPr>
          <p:cNvPr id="3" name="Date Placeholder 2">
            <a:extLst>
              <a:ext uri="{FF2B5EF4-FFF2-40B4-BE49-F238E27FC236}">
                <a16:creationId xmlns:a16="http://schemas.microsoft.com/office/drawing/2014/main" id="{FC699B8C-A917-F642-8CD7-A70F8BDF7A07}"/>
              </a:ext>
            </a:extLst>
          </p:cNvPr>
          <p:cNvSpPr>
            <a:spLocks noGrp="1"/>
          </p:cNvSpPr>
          <p:nvPr>
            <p:ph type="dt" sz="half" idx="10"/>
          </p:nvPr>
        </p:nvSpPr>
        <p:spPr/>
        <p:txBody>
          <a:bodyPr/>
          <a:lstStyle/>
          <a:p>
            <a:fld id="{4719FDB1-9615-4287-8D55-AF20E3CF298E}" type="datetime1">
              <a:rPr lang="vi-VN" smtClean="0"/>
              <a:t>04/02/2025</a:t>
            </a:fld>
            <a:endParaRPr lang="vi-VN"/>
          </a:p>
        </p:txBody>
      </p:sp>
      <p:sp>
        <p:nvSpPr>
          <p:cNvPr id="4" name="Footer Placeholder 3">
            <a:extLst>
              <a:ext uri="{FF2B5EF4-FFF2-40B4-BE49-F238E27FC236}">
                <a16:creationId xmlns:a16="http://schemas.microsoft.com/office/drawing/2014/main" id="{7E32C32C-A88E-2CB1-C59C-18AC91890787}"/>
              </a:ext>
            </a:extLst>
          </p:cNvPr>
          <p:cNvSpPr>
            <a:spLocks noGrp="1"/>
          </p:cNvSpPr>
          <p:nvPr>
            <p:ph type="ftr" sz="quarter" idx="11"/>
          </p:nvPr>
        </p:nvSpPr>
        <p:spPr/>
        <p:txBody>
          <a:bodyPr/>
          <a:lstStyle/>
          <a:p>
            <a:r>
              <a:rPr lang="vi-VN"/>
              <a:t>Chương 3. Lập trình hướng đối tượng trong C#</a:t>
            </a:r>
          </a:p>
        </p:txBody>
      </p:sp>
      <p:sp>
        <p:nvSpPr>
          <p:cNvPr id="5" name="Slide Number Placeholder 4">
            <a:extLst>
              <a:ext uri="{FF2B5EF4-FFF2-40B4-BE49-F238E27FC236}">
                <a16:creationId xmlns:a16="http://schemas.microsoft.com/office/drawing/2014/main" id="{EBA20EBA-11FE-0DB6-3B68-D8AB900E5A5C}"/>
              </a:ext>
            </a:extLst>
          </p:cNvPr>
          <p:cNvSpPr>
            <a:spLocks noGrp="1"/>
          </p:cNvSpPr>
          <p:nvPr>
            <p:ph type="sldNum" sz="quarter" idx="12"/>
          </p:nvPr>
        </p:nvSpPr>
        <p:spPr/>
        <p:txBody>
          <a:bodyPr/>
          <a:lstStyle/>
          <a:p>
            <a:fld id="{5AB95402-1E0D-474E-8D8C-CBE7F053639E}" type="slidenum">
              <a:rPr lang="vi-VN" smtClean="0"/>
              <a:pPr/>
              <a:t>16</a:t>
            </a:fld>
            <a:r>
              <a:rPr lang="vi-VN"/>
              <a:t>/33</a:t>
            </a:r>
          </a:p>
        </p:txBody>
      </p:sp>
      <p:sp>
        <p:nvSpPr>
          <p:cNvPr id="6" name="Title 5">
            <a:extLst>
              <a:ext uri="{FF2B5EF4-FFF2-40B4-BE49-F238E27FC236}">
                <a16:creationId xmlns:a16="http://schemas.microsoft.com/office/drawing/2014/main" id="{45D8AF4B-320B-AE0B-1E21-C96053163CB2}"/>
              </a:ext>
            </a:extLst>
          </p:cNvPr>
          <p:cNvSpPr>
            <a:spLocks noGrp="1"/>
          </p:cNvSpPr>
          <p:nvPr>
            <p:ph type="title"/>
          </p:nvPr>
        </p:nvSpPr>
        <p:spPr/>
        <p:txBody>
          <a:bodyPr/>
          <a:lstStyle/>
          <a:p>
            <a:r>
              <a:rPr lang="en-US" dirty="0" err="1"/>
              <a:t>Bài</a:t>
            </a:r>
            <a:r>
              <a:rPr lang="en-US" dirty="0"/>
              <a:t> </a:t>
            </a:r>
            <a:r>
              <a:rPr lang="en-US" dirty="0" err="1"/>
              <a:t>tập</a:t>
            </a:r>
            <a:r>
              <a:rPr lang="en-US" dirty="0"/>
              <a:t> 1 </a:t>
            </a:r>
            <a:endParaRPr lang="en-GB" dirty="0"/>
          </a:p>
        </p:txBody>
      </p:sp>
    </p:spTree>
    <p:extLst>
      <p:ext uri="{BB962C8B-B14F-4D97-AF65-F5344CB8AC3E}">
        <p14:creationId xmlns:p14="http://schemas.microsoft.com/office/powerpoint/2010/main" val="27613949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959312B-917F-DCF0-2882-D3B63A35B4F0}"/>
              </a:ext>
            </a:extLst>
          </p:cNvPr>
          <p:cNvSpPr>
            <a:spLocks noGrp="1"/>
          </p:cNvSpPr>
          <p:nvPr>
            <p:ph idx="1"/>
          </p:nvPr>
        </p:nvSpPr>
        <p:spPr/>
        <p:txBody>
          <a:bodyPr/>
          <a:lstStyle/>
          <a:p>
            <a:r>
              <a:rPr lang="en-US" sz="1800" dirty="0" err="1"/>
              <a:t>Thuộc</a:t>
            </a:r>
            <a:r>
              <a:rPr lang="en-US" sz="1800" dirty="0"/>
              <a:t> </a:t>
            </a:r>
            <a:r>
              <a:rPr lang="en-US" sz="1800" dirty="0" err="1"/>
              <a:t>tính</a:t>
            </a:r>
            <a:r>
              <a:rPr lang="en-US" sz="1800" dirty="0"/>
              <a:t> </a:t>
            </a:r>
            <a:r>
              <a:rPr lang="en-US" sz="1800" b="1" i="1" dirty="0"/>
              <a:t>static</a:t>
            </a:r>
            <a:r>
              <a:rPr lang="en-US" sz="1800" dirty="0"/>
              <a:t> l</a:t>
            </a:r>
            <a:r>
              <a:rPr lang="vi-VN" sz="1800" dirty="0"/>
              <a:t>à thuộc tính thuộc về lớp (class) chứ không thuộc về riêng một đối tượng (instance). Tất cả các đối tượng của lớp đều chia sẻ cùng một bản sao của thuộc tính này.</a:t>
            </a:r>
            <a:endParaRPr lang="en-US" sz="1800" dirty="0"/>
          </a:p>
          <a:p>
            <a:pPr marL="438150" lvl="1" indent="0">
              <a:buNone/>
            </a:pPr>
            <a:r>
              <a:rPr lang="en-GB" sz="1800" dirty="0"/>
              <a:t>class </a:t>
            </a:r>
            <a:r>
              <a:rPr lang="en-GB" sz="1800" dirty="0" err="1"/>
              <a:t>SinhVien</a:t>
            </a:r>
            <a:endParaRPr lang="en-GB" sz="1800" dirty="0"/>
          </a:p>
          <a:p>
            <a:pPr marL="438150" lvl="1" indent="0">
              <a:buNone/>
            </a:pPr>
            <a:r>
              <a:rPr lang="en-GB" sz="1800" dirty="0"/>
              <a:t>{</a:t>
            </a:r>
          </a:p>
          <a:p>
            <a:pPr marL="438150" lvl="1" indent="0">
              <a:buNone/>
            </a:pPr>
            <a:r>
              <a:rPr lang="en-GB" sz="1800" dirty="0"/>
              <a:t>    public static String </a:t>
            </a:r>
            <a:r>
              <a:rPr lang="en-GB" sz="1800" dirty="0" err="1"/>
              <a:t>TenTruong</a:t>
            </a:r>
            <a:r>
              <a:rPr lang="en-GB" sz="1800" dirty="0"/>
              <a:t> = “</a:t>
            </a:r>
            <a:r>
              <a:rPr lang="en-GB" sz="1800" dirty="0" err="1"/>
              <a:t>Học</a:t>
            </a:r>
            <a:r>
              <a:rPr lang="en-GB" sz="1800" dirty="0"/>
              <a:t> </a:t>
            </a:r>
            <a:r>
              <a:rPr lang="en-GB" sz="1800" dirty="0" err="1"/>
              <a:t>viện</a:t>
            </a:r>
            <a:r>
              <a:rPr lang="en-GB" sz="1800" dirty="0"/>
              <a:t> </a:t>
            </a:r>
            <a:r>
              <a:rPr lang="en-GB" sz="1800" dirty="0" err="1"/>
              <a:t>Ngân</a:t>
            </a:r>
            <a:r>
              <a:rPr lang="en-GB" sz="1800" dirty="0"/>
              <a:t> </a:t>
            </a:r>
            <a:r>
              <a:rPr lang="en-GB" sz="1800" dirty="0" err="1"/>
              <a:t>hàng</a:t>
            </a:r>
            <a:r>
              <a:rPr lang="en-GB" sz="1800" dirty="0"/>
              <a:t>”;</a:t>
            </a:r>
          </a:p>
          <a:p>
            <a:pPr marL="438150" lvl="1" indent="0">
              <a:buNone/>
            </a:pPr>
            <a:r>
              <a:rPr lang="en-GB" sz="1800" dirty="0"/>
              <a:t>}</a:t>
            </a:r>
          </a:p>
          <a:p>
            <a:pPr marL="342900" indent="-342900"/>
            <a:r>
              <a:rPr lang="en-GB" sz="1800" dirty="0" err="1"/>
              <a:t>Phương</a:t>
            </a:r>
            <a:r>
              <a:rPr lang="en-GB" sz="1800" dirty="0"/>
              <a:t> </a:t>
            </a:r>
            <a:r>
              <a:rPr lang="en-GB" sz="1800" dirty="0" err="1"/>
              <a:t>thức</a:t>
            </a:r>
            <a:r>
              <a:rPr lang="en-GB" sz="1800" dirty="0"/>
              <a:t> </a:t>
            </a:r>
            <a:r>
              <a:rPr lang="en-GB" sz="1800" b="1" i="1" dirty="0"/>
              <a:t>static</a:t>
            </a:r>
            <a:r>
              <a:rPr lang="en-GB" sz="1800" dirty="0"/>
              <a:t> </a:t>
            </a:r>
            <a:r>
              <a:rPr lang="en-GB" sz="1800" dirty="0" err="1"/>
              <a:t>là</a:t>
            </a:r>
            <a:r>
              <a:rPr lang="en-GB" sz="1800" dirty="0"/>
              <a:t> </a:t>
            </a:r>
            <a:r>
              <a:rPr lang="en-GB" sz="1800" dirty="0" err="1"/>
              <a:t>một</a:t>
            </a:r>
            <a:r>
              <a:rPr lang="en-GB" sz="1800" dirty="0"/>
              <a:t> </a:t>
            </a:r>
            <a:r>
              <a:rPr lang="en-GB" sz="1800" dirty="0" err="1"/>
              <a:t>phương</a:t>
            </a:r>
            <a:r>
              <a:rPr lang="en-GB" sz="1800" dirty="0"/>
              <a:t> </a:t>
            </a:r>
            <a:r>
              <a:rPr lang="en-GB" sz="1800" dirty="0" err="1"/>
              <a:t>thức</a:t>
            </a:r>
            <a:r>
              <a:rPr lang="en-GB" sz="1800" dirty="0"/>
              <a:t> </a:t>
            </a:r>
            <a:r>
              <a:rPr lang="en-GB" sz="1800" dirty="0" err="1"/>
              <a:t>được</a:t>
            </a:r>
            <a:r>
              <a:rPr lang="en-GB" sz="1800" dirty="0"/>
              <a:t> </a:t>
            </a:r>
            <a:r>
              <a:rPr lang="en-GB" sz="1800" dirty="0" err="1"/>
              <a:t>gọi</a:t>
            </a:r>
            <a:r>
              <a:rPr lang="en-GB" sz="1800" dirty="0"/>
              <a:t> </a:t>
            </a:r>
            <a:r>
              <a:rPr lang="en-GB" sz="1800" dirty="0" err="1"/>
              <a:t>mà</a:t>
            </a:r>
            <a:r>
              <a:rPr lang="en-GB" sz="1800" dirty="0"/>
              <a:t> </a:t>
            </a:r>
            <a:r>
              <a:rPr lang="en-GB" sz="1800" dirty="0" err="1"/>
              <a:t>không</a:t>
            </a:r>
            <a:r>
              <a:rPr lang="en-GB" sz="1800" dirty="0"/>
              <a:t> </a:t>
            </a:r>
            <a:r>
              <a:rPr lang="en-GB" sz="1800" dirty="0" err="1"/>
              <a:t>cần</a:t>
            </a:r>
            <a:r>
              <a:rPr lang="en-GB" sz="1800" dirty="0"/>
              <a:t> </a:t>
            </a:r>
            <a:r>
              <a:rPr lang="en-GB" sz="1800" dirty="0" err="1"/>
              <a:t>tạo</a:t>
            </a:r>
            <a:r>
              <a:rPr lang="en-GB" sz="1800" dirty="0"/>
              <a:t> </a:t>
            </a:r>
            <a:r>
              <a:rPr lang="en-GB" sz="1800" dirty="0" err="1"/>
              <a:t>ra</a:t>
            </a:r>
            <a:r>
              <a:rPr lang="en-GB" sz="1800" dirty="0"/>
              <a:t> </a:t>
            </a:r>
            <a:r>
              <a:rPr lang="en-GB" sz="1800" dirty="0" err="1"/>
              <a:t>một</a:t>
            </a:r>
            <a:r>
              <a:rPr lang="en-GB" sz="1800" dirty="0"/>
              <a:t> </a:t>
            </a:r>
            <a:r>
              <a:rPr lang="en-GB" sz="1800" dirty="0" err="1"/>
              <a:t>đối</a:t>
            </a:r>
            <a:r>
              <a:rPr lang="en-GB" sz="1800" dirty="0"/>
              <a:t> </a:t>
            </a:r>
            <a:r>
              <a:rPr lang="en-GB" sz="1800" dirty="0" err="1"/>
              <a:t>tượng</a:t>
            </a:r>
            <a:r>
              <a:rPr lang="en-GB" sz="1800" dirty="0"/>
              <a:t> </a:t>
            </a:r>
            <a:r>
              <a:rPr lang="en-GB" sz="1800" dirty="0" err="1"/>
              <a:t>của</a:t>
            </a:r>
            <a:r>
              <a:rPr lang="en-GB" sz="1800" dirty="0"/>
              <a:t> </a:t>
            </a:r>
            <a:r>
              <a:rPr lang="en-GB" sz="1800" dirty="0" err="1"/>
              <a:t>lớp</a:t>
            </a:r>
            <a:r>
              <a:rPr lang="en-GB" sz="1800" dirty="0"/>
              <a:t>. </a:t>
            </a:r>
            <a:r>
              <a:rPr lang="en-GB" sz="1800" dirty="0" err="1"/>
              <a:t>Nó</a:t>
            </a:r>
            <a:r>
              <a:rPr lang="en-GB" sz="1800" dirty="0"/>
              <a:t> </a:t>
            </a:r>
            <a:r>
              <a:rPr lang="en-GB" sz="1800" dirty="0" err="1"/>
              <a:t>chỉ</a:t>
            </a:r>
            <a:r>
              <a:rPr lang="en-GB" sz="1800" dirty="0"/>
              <a:t> </a:t>
            </a:r>
            <a:r>
              <a:rPr lang="en-GB" sz="1800" dirty="0" err="1"/>
              <a:t>có</a:t>
            </a:r>
            <a:r>
              <a:rPr lang="en-GB" sz="1800" dirty="0"/>
              <a:t> </a:t>
            </a:r>
            <a:r>
              <a:rPr lang="en-GB" sz="1800" dirty="0" err="1"/>
              <a:t>thể</a:t>
            </a:r>
            <a:r>
              <a:rPr lang="en-GB" sz="1800" dirty="0"/>
              <a:t> </a:t>
            </a:r>
            <a:r>
              <a:rPr lang="en-GB" sz="1800" dirty="0" err="1"/>
              <a:t>truy</a:t>
            </a:r>
            <a:r>
              <a:rPr lang="en-GB" sz="1800" dirty="0"/>
              <a:t> </a:t>
            </a:r>
            <a:r>
              <a:rPr lang="en-GB" sz="1800" dirty="0" err="1"/>
              <a:t>cập</a:t>
            </a:r>
            <a:r>
              <a:rPr lang="en-GB" sz="1800" dirty="0"/>
              <a:t> </a:t>
            </a:r>
            <a:r>
              <a:rPr lang="en-GB" sz="1800" dirty="0" err="1"/>
              <a:t>các</a:t>
            </a:r>
            <a:r>
              <a:rPr lang="en-GB" sz="1800" dirty="0"/>
              <a:t> </a:t>
            </a:r>
            <a:r>
              <a:rPr lang="en-GB" sz="1800" dirty="0" err="1"/>
              <a:t>thành</a:t>
            </a:r>
            <a:r>
              <a:rPr lang="en-GB" sz="1800" dirty="0"/>
              <a:t> </a:t>
            </a:r>
            <a:r>
              <a:rPr lang="en-GB" sz="1800" dirty="0" err="1"/>
              <a:t>viên</a:t>
            </a:r>
            <a:r>
              <a:rPr lang="en-GB" sz="1800" dirty="0"/>
              <a:t> static </a:t>
            </a:r>
            <a:r>
              <a:rPr lang="en-GB" sz="1800" dirty="0" err="1"/>
              <a:t>trong</a:t>
            </a:r>
            <a:r>
              <a:rPr lang="en-GB" sz="1800" dirty="0"/>
              <a:t> </a:t>
            </a:r>
            <a:r>
              <a:rPr lang="en-GB" sz="1800" dirty="0" err="1"/>
              <a:t>lớp</a:t>
            </a:r>
            <a:endParaRPr lang="en-GB" sz="1800" dirty="0"/>
          </a:p>
          <a:p>
            <a:pPr marL="438150" lvl="1" indent="0">
              <a:buNone/>
            </a:pPr>
            <a:r>
              <a:rPr lang="en-GB" sz="1800" dirty="0"/>
              <a:t>class </a:t>
            </a:r>
            <a:r>
              <a:rPr lang="en-GB" sz="1800" dirty="0" err="1"/>
              <a:t>SinhVien</a:t>
            </a:r>
            <a:endParaRPr lang="en-GB" sz="1800" dirty="0"/>
          </a:p>
          <a:p>
            <a:pPr marL="438150" lvl="1" indent="0">
              <a:buNone/>
            </a:pPr>
            <a:r>
              <a:rPr lang="en-GB" sz="1800" dirty="0"/>
              <a:t>{</a:t>
            </a:r>
          </a:p>
          <a:p>
            <a:pPr marL="438150" lvl="1" indent="0">
              <a:buNone/>
            </a:pPr>
            <a:r>
              <a:rPr lang="en-GB" sz="1800" dirty="0"/>
              <a:t>    public static void </a:t>
            </a:r>
            <a:r>
              <a:rPr lang="en-GB" sz="1800" dirty="0" err="1"/>
              <a:t>SayHello</a:t>
            </a:r>
            <a:r>
              <a:rPr lang="en-GB" sz="1800" dirty="0"/>
              <a:t>()</a:t>
            </a:r>
          </a:p>
          <a:p>
            <a:pPr marL="438150" lvl="1" indent="0">
              <a:buNone/>
            </a:pPr>
            <a:r>
              <a:rPr lang="en-GB" sz="1800" dirty="0"/>
              <a:t>    {</a:t>
            </a:r>
          </a:p>
          <a:p>
            <a:pPr marL="438150" lvl="1" indent="0">
              <a:buNone/>
            </a:pPr>
            <a:r>
              <a:rPr lang="en-GB" sz="1800" dirty="0"/>
              <a:t>        </a:t>
            </a:r>
            <a:r>
              <a:rPr lang="en-GB" sz="1800" dirty="0" err="1"/>
              <a:t>Console.WriteLine</a:t>
            </a:r>
            <a:r>
              <a:rPr lang="en-GB" sz="1800" dirty="0"/>
              <a:t>("Hello, world!, I am from “ + </a:t>
            </a:r>
            <a:r>
              <a:rPr lang="en-GB" sz="1800" dirty="0" err="1"/>
              <a:t>TenTruong</a:t>
            </a:r>
            <a:r>
              <a:rPr lang="en-GB" sz="1800" dirty="0"/>
              <a:t>);</a:t>
            </a:r>
          </a:p>
          <a:p>
            <a:pPr marL="438150" lvl="1" indent="0">
              <a:buNone/>
            </a:pPr>
            <a:r>
              <a:rPr lang="en-GB" sz="1800" dirty="0"/>
              <a:t>    }</a:t>
            </a:r>
          </a:p>
          <a:p>
            <a:pPr marL="438150" lvl="1" indent="0">
              <a:buNone/>
            </a:pPr>
            <a:r>
              <a:rPr lang="en-GB" sz="1800" dirty="0"/>
              <a:t>}</a:t>
            </a:r>
          </a:p>
        </p:txBody>
      </p:sp>
      <p:sp>
        <p:nvSpPr>
          <p:cNvPr id="3" name="Date Placeholder 2">
            <a:extLst>
              <a:ext uri="{FF2B5EF4-FFF2-40B4-BE49-F238E27FC236}">
                <a16:creationId xmlns:a16="http://schemas.microsoft.com/office/drawing/2014/main" id="{7B882011-8BC6-6D6B-3124-9B01EBC92CE6}"/>
              </a:ext>
            </a:extLst>
          </p:cNvPr>
          <p:cNvSpPr>
            <a:spLocks noGrp="1"/>
          </p:cNvSpPr>
          <p:nvPr>
            <p:ph type="dt" sz="half" idx="10"/>
          </p:nvPr>
        </p:nvSpPr>
        <p:spPr/>
        <p:txBody>
          <a:bodyPr/>
          <a:lstStyle/>
          <a:p>
            <a:fld id="{4719FDB1-9615-4287-8D55-AF20E3CF298E}" type="datetime1">
              <a:rPr lang="vi-VN" smtClean="0"/>
              <a:t>04/02/2025</a:t>
            </a:fld>
            <a:endParaRPr lang="vi-VN" dirty="0"/>
          </a:p>
        </p:txBody>
      </p:sp>
      <p:sp>
        <p:nvSpPr>
          <p:cNvPr id="4" name="Footer Placeholder 3">
            <a:extLst>
              <a:ext uri="{FF2B5EF4-FFF2-40B4-BE49-F238E27FC236}">
                <a16:creationId xmlns:a16="http://schemas.microsoft.com/office/drawing/2014/main" id="{38EA1326-7E48-3D27-0CD7-22D7B45D9A58}"/>
              </a:ext>
            </a:extLst>
          </p:cNvPr>
          <p:cNvSpPr>
            <a:spLocks noGrp="1"/>
          </p:cNvSpPr>
          <p:nvPr>
            <p:ph type="ftr" sz="quarter" idx="11"/>
          </p:nvPr>
        </p:nvSpPr>
        <p:spPr/>
        <p:txBody>
          <a:bodyPr/>
          <a:lstStyle/>
          <a:p>
            <a:r>
              <a:rPr lang="vi-VN"/>
              <a:t>Chương 3. Lập trình hướng đối tượng trong C#</a:t>
            </a:r>
          </a:p>
        </p:txBody>
      </p:sp>
      <p:sp>
        <p:nvSpPr>
          <p:cNvPr id="5" name="Slide Number Placeholder 4">
            <a:extLst>
              <a:ext uri="{FF2B5EF4-FFF2-40B4-BE49-F238E27FC236}">
                <a16:creationId xmlns:a16="http://schemas.microsoft.com/office/drawing/2014/main" id="{2E05F406-B8C0-42D0-D012-00BF0C9D8AD8}"/>
              </a:ext>
            </a:extLst>
          </p:cNvPr>
          <p:cNvSpPr>
            <a:spLocks noGrp="1"/>
          </p:cNvSpPr>
          <p:nvPr>
            <p:ph type="sldNum" sz="quarter" idx="12"/>
          </p:nvPr>
        </p:nvSpPr>
        <p:spPr/>
        <p:txBody>
          <a:bodyPr/>
          <a:lstStyle/>
          <a:p>
            <a:fld id="{5AB95402-1E0D-474E-8D8C-CBE7F053639E}" type="slidenum">
              <a:rPr lang="vi-VN" smtClean="0"/>
              <a:pPr/>
              <a:t>17</a:t>
            </a:fld>
            <a:r>
              <a:rPr lang="vi-VN"/>
              <a:t>/33</a:t>
            </a:r>
          </a:p>
        </p:txBody>
      </p:sp>
      <p:sp>
        <p:nvSpPr>
          <p:cNvPr id="6" name="Title 5">
            <a:extLst>
              <a:ext uri="{FF2B5EF4-FFF2-40B4-BE49-F238E27FC236}">
                <a16:creationId xmlns:a16="http://schemas.microsoft.com/office/drawing/2014/main" id="{4F19BE3E-AB42-B423-2B53-F8FFC68D0E00}"/>
              </a:ext>
            </a:extLst>
          </p:cNvPr>
          <p:cNvSpPr>
            <a:spLocks noGrp="1"/>
          </p:cNvSpPr>
          <p:nvPr>
            <p:ph type="title"/>
          </p:nvPr>
        </p:nvSpPr>
        <p:spPr/>
        <p:txBody>
          <a:bodyPr/>
          <a:lstStyle/>
          <a:p>
            <a:r>
              <a:rPr lang="en-US" dirty="0" err="1"/>
              <a:t>Thuộc</a:t>
            </a:r>
            <a:r>
              <a:rPr lang="en-US" dirty="0"/>
              <a:t> </a:t>
            </a:r>
            <a:r>
              <a:rPr lang="en-US" dirty="0" err="1"/>
              <a:t>tính</a:t>
            </a:r>
            <a:r>
              <a:rPr lang="en-US" dirty="0"/>
              <a:t>/</a:t>
            </a:r>
            <a:r>
              <a:rPr lang="en-US" dirty="0" err="1"/>
              <a:t>phương</a:t>
            </a:r>
            <a:r>
              <a:rPr lang="en-US" dirty="0"/>
              <a:t> </a:t>
            </a:r>
            <a:r>
              <a:rPr lang="en-US" dirty="0" err="1"/>
              <a:t>thức</a:t>
            </a:r>
            <a:r>
              <a:rPr lang="en-US" dirty="0"/>
              <a:t> </a:t>
            </a:r>
            <a:r>
              <a:rPr lang="en-US" dirty="0" err="1"/>
              <a:t>tĩnh</a:t>
            </a:r>
            <a:r>
              <a:rPr lang="en-US" dirty="0"/>
              <a:t> static</a:t>
            </a:r>
            <a:endParaRPr lang="en-GB" dirty="0"/>
          </a:p>
        </p:txBody>
      </p:sp>
    </p:spTree>
    <p:extLst>
      <p:ext uri="{BB962C8B-B14F-4D97-AF65-F5344CB8AC3E}">
        <p14:creationId xmlns:p14="http://schemas.microsoft.com/office/powerpoint/2010/main" val="2037080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F3B45B-A47A-2221-E21F-BD9AF6AE0ECC}"/>
              </a:ext>
            </a:extLst>
          </p:cNvPr>
          <p:cNvSpPr>
            <a:spLocks noGrp="1"/>
          </p:cNvSpPr>
          <p:nvPr>
            <p:ph idx="1"/>
          </p:nvPr>
        </p:nvSpPr>
        <p:spPr/>
        <p:txBody>
          <a:bodyPr/>
          <a:lstStyle/>
          <a:p>
            <a:r>
              <a:rPr lang="en-US" sz="2200" dirty="0" err="1"/>
              <a:t>Khởi</a:t>
            </a:r>
            <a:r>
              <a:rPr lang="en-US" sz="2200" dirty="0"/>
              <a:t> </a:t>
            </a:r>
            <a:r>
              <a:rPr lang="en-US" sz="2200" dirty="0" err="1"/>
              <a:t>tạo</a:t>
            </a:r>
            <a:r>
              <a:rPr lang="en-US" sz="2200" dirty="0"/>
              <a:t> </a:t>
            </a:r>
            <a:r>
              <a:rPr lang="en-US" sz="2200" dirty="0" err="1"/>
              <a:t>đối</a:t>
            </a:r>
            <a:r>
              <a:rPr lang="en-US" sz="2200" dirty="0"/>
              <a:t> </a:t>
            </a:r>
            <a:r>
              <a:rPr lang="en-US" sz="2200" dirty="0" err="1"/>
              <a:t>tượng</a:t>
            </a:r>
            <a:r>
              <a:rPr lang="en-US" sz="2200" dirty="0"/>
              <a:t> </a:t>
            </a:r>
            <a:r>
              <a:rPr lang="en-US" sz="2200" dirty="0">
                <a:sym typeface="Wingdings" pitchFamily="2" charset="2"/>
              </a:rPr>
              <a:t> </a:t>
            </a:r>
            <a:r>
              <a:rPr lang="en-US" sz="2200" dirty="0" err="1">
                <a:sym typeface="Wingdings" pitchFamily="2" charset="2"/>
              </a:rPr>
              <a:t>Gọi</a:t>
            </a:r>
            <a:r>
              <a:rPr lang="en-US" sz="2200" dirty="0">
                <a:sym typeface="Wingdings" pitchFamily="2" charset="2"/>
              </a:rPr>
              <a:t> </a:t>
            </a:r>
            <a:r>
              <a:rPr lang="en-US" sz="2200" dirty="0" err="1">
                <a:sym typeface="Wingdings" pitchFamily="2" charset="2"/>
              </a:rPr>
              <a:t>phương</a:t>
            </a:r>
            <a:r>
              <a:rPr lang="en-US" sz="2200" dirty="0">
                <a:sym typeface="Wingdings" pitchFamily="2" charset="2"/>
              </a:rPr>
              <a:t> </a:t>
            </a:r>
            <a:r>
              <a:rPr lang="en-US" sz="2200" dirty="0" err="1">
                <a:sym typeface="Wingdings" pitchFamily="2" charset="2"/>
              </a:rPr>
              <a:t>thức</a:t>
            </a:r>
            <a:r>
              <a:rPr lang="en-US" sz="2200" dirty="0">
                <a:sym typeface="Wingdings" pitchFamily="2" charset="2"/>
              </a:rPr>
              <a:t> </a:t>
            </a:r>
            <a:r>
              <a:rPr lang="en-US" sz="2200" dirty="0" err="1">
                <a:sym typeface="Wingdings" pitchFamily="2" charset="2"/>
              </a:rPr>
              <a:t>tạo</a:t>
            </a:r>
            <a:r>
              <a:rPr lang="en-US" sz="2200" dirty="0">
                <a:sym typeface="Wingdings" pitchFamily="2" charset="2"/>
              </a:rPr>
              <a:t> </a:t>
            </a:r>
            <a:r>
              <a:rPr lang="en-US" sz="2200" dirty="0" err="1">
                <a:sym typeface="Wingdings" pitchFamily="2" charset="2"/>
              </a:rPr>
              <a:t>lập</a:t>
            </a:r>
            <a:r>
              <a:rPr lang="en-US" sz="2200" dirty="0">
                <a:sym typeface="Wingdings" pitchFamily="2" charset="2"/>
              </a:rPr>
              <a:t> (constructor)</a:t>
            </a:r>
          </a:p>
          <a:p>
            <a:pPr lvl="1"/>
            <a:r>
              <a:rPr lang="en-US" sz="2000" dirty="0" err="1">
                <a:sym typeface="Wingdings" pitchFamily="2" charset="2"/>
              </a:rPr>
              <a:t>Được</a:t>
            </a:r>
            <a:r>
              <a:rPr lang="en-US" sz="2000" dirty="0">
                <a:sym typeface="Wingdings" pitchFamily="2" charset="2"/>
              </a:rPr>
              <a:t> </a:t>
            </a:r>
            <a:r>
              <a:rPr lang="en-US" sz="2000" dirty="0" err="1">
                <a:sym typeface="Wingdings" pitchFamily="2" charset="2"/>
              </a:rPr>
              <a:t>gọi</a:t>
            </a:r>
            <a:r>
              <a:rPr lang="en-US" sz="2000" dirty="0">
                <a:sym typeface="Wingdings" pitchFamily="2" charset="2"/>
              </a:rPr>
              <a:t> </a:t>
            </a:r>
            <a:r>
              <a:rPr lang="en-US" sz="2000" dirty="0" err="1">
                <a:sym typeface="Wingdings" pitchFamily="2" charset="2"/>
              </a:rPr>
              <a:t>đến</a:t>
            </a:r>
            <a:r>
              <a:rPr lang="en-US" sz="2000" dirty="0">
                <a:sym typeface="Wingdings" pitchFamily="2" charset="2"/>
              </a:rPr>
              <a:t> 1 </a:t>
            </a:r>
            <a:r>
              <a:rPr lang="en-US" sz="2000" dirty="0" err="1">
                <a:sym typeface="Wingdings" pitchFamily="2" charset="2"/>
              </a:rPr>
              <a:t>cách</a:t>
            </a:r>
            <a:r>
              <a:rPr lang="en-US" sz="2000" dirty="0">
                <a:sym typeface="Wingdings" pitchFamily="2" charset="2"/>
              </a:rPr>
              <a:t> </a:t>
            </a:r>
            <a:r>
              <a:rPr lang="en-US" sz="2000" dirty="0" err="1">
                <a:sym typeface="Wingdings" pitchFamily="2" charset="2"/>
              </a:rPr>
              <a:t>tự</a:t>
            </a:r>
            <a:r>
              <a:rPr lang="en-US" sz="2000" dirty="0">
                <a:sym typeface="Wingdings" pitchFamily="2" charset="2"/>
              </a:rPr>
              <a:t> </a:t>
            </a:r>
            <a:r>
              <a:rPr lang="en-US" sz="2000" dirty="0" err="1">
                <a:sym typeface="Wingdings" pitchFamily="2" charset="2"/>
              </a:rPr>
              <a:t>động</a:t>
            </a:r>
            <a:r>
              <a:rPr lang="en-US" sz="2000" dirty="0">
                <a:sym typeface="Wingdings" pitchFamily="2" charset="2"/>
              </a:rPr>
              <a:t> </a:t>
            </a:r>
            <a:r>
              <a:rPr lang="en-US" sz="2000" dirty="0" err="1">
                <a:sym typeface="Wingdings" pitchFamily="2" charset="2"/>
              </a:rPr>
              <a:t>khi</a:t>
            </a:r>
            <a:r>
              <a:rPr lang="en-US" sz="2000" dirty="0">
                <a:sym typeface="Wingdings" pitchFamily="2" charset="2"/>
              </a:rPr>
              <a:t> </a:t>
            </a:r>
            <a:r>
              <a:rPr lang="en-US" sz="2000" dirty="0" err="1">
                <a:sym typeface="Wingdings" pitchFamily="2" charset="2"/>
              </a:rPr>
              <a:t>đối</a:t>
            </a:r>
            <a:r>
              <a:rPr lang="en-US" sz="2000" dirty="0">
                <a:sym typeface="Wingdings" pitchFamily="2" charset="2"/>
              </a:rPr>
              <a:t> </a:t>
            </a:r>
            <a:r>
              <a:rPr lang="en-US" sz="2000" dirty="0" err="1">
                <a:sym typeface="Wingdings" pitchFamily="2" charset="2"/>
              </a:rPr>
              <a:t>tượng</a:t>
            </a:r>
            <a:r>
              <a:rPr lang="en-US" sz="2000" dirty="0">
                <a:sym typeface="Wingdings" pitchFamily="2" charset="2"/>
              </a:rPr>
              <a:t> </a:t>
            </a:r>
            <a:r>
              <a:rPr lang="en-US" sz="2000" dirty="0" err="1">
                <a:sym typeface="Wingdings" pitchFamily="2" charset="2"/>
              </a:rPr>
              <a:t>của</a:t>
            </a:r>
            <a:r>
              <a:rPr lang="en-US" sz="2000" dirty="0">
                <a:sym typeface="Wingdings" pitchFamily="2" charset="2"/>
              </a:rPr>
              <a:t> </a:t>
            </a:r>
            <a:r>
              <a:rPr lang="en-US" sz="2000" dirty="0" err="1">
                <a:sym typeface="Wingdings" pitchFamily="2" charset="2"/>
              </a:rPr>
              <a:t>lớp</a:t>
            </a:r>
            <a:r>
              <a:rPr lang="en-US" sz="2000" dirty="0">
                <a:sym typeface="Wingdings" pitchFamily="2" charset="2"/>
              </a:rPr>
              <a:t> </a:t>
            </a:r>
            <a:r>
              <a:rPr lang="en-US" sz="2000" dirty="0" err="1">
                <a:sym typeface="Wingdings" pitchFamily="2" charset="2"/>
              </a:rPr>
              <a:t>được</a:t>
            </a:r>
            <a:r>
              <a:rPr lang="en-US" sz="2000" dirty="0">
                <a:sym typeface="Wingdings" pitchFamily="2" charset="2"/>
              </a:rPr>
              <a:t> </a:t>
            </a:r>
            <a:r>
              <a:rPr lang="en-US" sz="2000" dirty="0" err="1">
                <a:sym typeface="Wingdings" pitchFamily="2" charset="2"/>
              </a:rPr>
              <a:t>tạo</a:t>
            </a:r>
            <a:r>
              <a:rPr lang="en-US" sz="2000" dirty="0">
                <a:sym typeface="Wingdings" pitchFamily="2" charset="2"/>
              </a:rPr>
              <a:t> </a:t>
            </a:r>
            <a:r>
              <a:rPr lang="en-US" sz="2000" dirty="0" err="1">
                <a:sym typeface="Wingdings" pitchFamily="2" charset="2"/>
              </a:rPr>
              <a:t>ra.</a:t>
            </a:r>
            <a:r>
              <a:rPr lang="en-US" sz="2000" dirty="0">
                <a:sym typeface="Wingdings" pitchFamily="2" charset="2"/>
              </a:rPr>
              <a:t> </a:t>
            </a:r>
            <a:r>
              <a:rPr lang="en-US" sz="2000" dirty="0" err="1">
                <a:sym typeface="Wingdings" pitchFamily="2" charset="2"/>
              </a:rPr>
              <a:t>Dùng</a:t>
            </a:r>
            <a:r>
              <a:rPr lang="en-US" sz="2000" dirty="0">
                <a:sym typeface="Wingdings" pitchFamily="2" charset="2"/>
              </a:rPr>
              <a:t> </a:t>
            </a:r>
            <a:r>
              <a:rPr lang="en-US" sz="2000" dirty="0" err="1">
                <a:sym typeface="Wingdings" pitchFamily="2" charset="2"/>
              </a:rPr>
              <a:t>để</a:t>
            </a:r>
            <a:r>
              <a:rPr lang="en-US" sz="2000" dirty="0">
                <a:sym typeface="Wingdings" pitchFamily="2" charset="2"/>
              </a:rPr>
              <a:t> </a:t>
            </a:r>
            <a:r>
              <a:rPr lang="en-US" sz="2000" dirty="0" err="1">
                <a:sym typeface="Wingdings" pitchFamily="2" charset="2"/>
              </a:rPr>
              <a:t>khởi</a:t>
            </a:r>
            <a:r>
              <a:rPr lang="en-US" sz="2000" dirty="0">
                <a:sym typeface="Wingdings" pitchFamily="2" charset="2"/>
              </a:rPr>
              <a:t> </a:t>
            </a:r>
            <a:r>
              <a:rPr lang="en-US" sz="2000" dirty="0" err="1">
                <a:sym typeface="Wingdings" pitchFamily="2" charset="2"/>
              </a:rPr>
              <a:t>tạo</a:t>
            </a:r>
            <a:r>
              <a:rPr lang="en-US" sz="2000" dirty="0">
                <a:sym typeface="Wingdings" pitchFamily="2" charset="2"/>
              </a:rPr>
              <a:t> </a:t>
            </a:r>
            <a:r>
              <a:rPr lang="en-US" sz="2000" dirty="0" err="1">
                <a:sym typeface="Wingdings" pitchFamily="2" charset="2"/>
              </a:rPr>
              <a:t>giá</a:t>
            </a:r>
            <a:r>
              <a:rPr lang="en-US" sz="2000" dirty="0">
                <a:sym typeface="Wingdings" pitchFamily="2" charset="2"/>
              </a:rPr>
              <a:t> </a:t>
            </a:r>
            <a:r>
              <a:rPr lang="en-US" sz="2000" dirty="0" err="1">
                <a:sym typeface="Wingdings" pitchFamily="2" charset="2"/>
              </a:rPr>
              <a:t>trị</a:t>
            </a:r>
            <a:r>
              <a:rPr lang="en-US" sz="2000" dirty="0">
                <a:sym typeface="Wingdings" pitchFamily="2" charset="2"/>
              </a:rPr>
              <a:t> </a:t>
            </a:r>
            <a:r>
              <a:rPr lang="en-US" sz="2000" dirty="0" err="1">
                <a:sym typeface="Wingdings" pitchFamily="2" charset="2"/>
              </a:rPr>
              <a:t>đầu</a:t>
            </a:r>
            <a:r>
              <a:rPr lang="en-US" sz="2000" dirty="0">
                <a:sym typeface="Wingdings" pitchFamily="2" charset="2"/>
              </a:rPr>
              <a:t> </a:t>
            </a:r>
            <a:r>
              <a:rPr lang="en-US" sz="2000" dirty="0" err="1">
                <a:sym typeface="Wingdings" pitchFamily="2" charset="2"/>
              </a:rPr>
              <a:t>cho</a:t>
            </a:r>
            <a:r>
              <a:rPr lang="en-US" sz="2000" dirty="0">
                <a:sym typeface="Wingdings" pitchFamily="2" charset="2"/>
              </a:rPr>
              <a:t> </a:t>
            </a:r>
            <a:r>
              <a:rPr lang="en-US" sz="2000" dirty="0" err="1">
                <a:sym typeface="Wingdings" pitchFamily="2" charset="2"/>
              </a:rPr>
              <a:t>các</a:t>
            </a:r>
            <a:r>
              <a:rPr lang="en-US" sz="2000" dirty="0">
                <a:sym typeface="Wingdings" pitchFamily="2" charset="2"/>
              </a:rPr>
              <a:t> </a:t>
            </a:r>
            <a:r>
              <a:rPr lang="en-US" sz="2000" dirty="0" err="1">
                <a:sym typeface="Wingdings" pitchFamily="2" charset="2"/>
              </a:rPr>
              <a:t>thành</a:t>
            </a:r>
            <a:r>
              <a:rPr lang="en-US" sz="2000" dirty="0">
                <a:sym typeface="Wingdings" pitchFamily="2" charset="2"/>
              </a:rPr>
              <a:t> </a:t>
            </a:r>
            <a:r>
              <a:rPr lang="en-US" sz="2000" dirty="0" err="1">
                <a:sym typeface="Wingdings" pitchFamily="2" charset="2"/>
              </a:rPr>
              <a:t>phần</a:t>
            </a:r>
            <a:r>
              <a:rPr lang="en-US" sz="2000" dirty="0">
                <a:sym typeface="Wingdings" pitchFamily="2" charset="2"/>
              </a:rPr>
              <a:t> </a:t>
            </a:r>
            <a:r>
              <a:rPr lang="en-US" sz="2000" dirty="0" err="1">
                <a:sym typeface="Wingdings" pitchFamily="2" charset="2"/>
              </a:rPr>
              <a:t>dữ</a:t>
            </a:r>
            <a:r>
              <a:rPr lang="en-US" sz="2000" dirty="0">
                <a:sym typeface="Wingdings" pitchFamily="2" charset="2"/>
              </a:rPr>
              <a:t> </a:t>
            </a:r>
            <a:r>
              <a:rPr lang="en-US" sz="2000" dirty="0" err="1">
                <a:sym typeface="Wingdings" pitchFamily="2" charset="2"/>
              </a:rPr>
              <a:t>liệu</a:t>
            </a:r>
            <a:r>
              <a:rPr lang="en-US" sz="2000" dirty="0">
                <a:sym typeface="Wingdings" pitchFamily="2" charset="2"/>
              </a:rPr>
              <a:t> </a:t>
            </a:r>
            <a:r>
              <a:rPr lang="en-US" sz="2000" dirty="0" err="1">
                <a:sym typeface="Wingdings" pitchFamily="2" charset="2"/>
              </a:rPr>
              <a:t>của</a:t>
            </a:r>
            <a:r>
              <a:rPr lang="en-US" sz="2000" dirty="0">
                <a:sym typeface="Wingdings" pitchFamily="2" charset="2"/>
              </a:rPr>
              <a:t> </a:t>
            </a:r>
            <a:r>
              <a:rPr lang="en-US" sz="2000" dirty="0" err="1">
                <a:sym typeface="Wingdings" pitchFamily="2" charset="2"/>
              </a:rPr>
              <a:t>đối</a:t>
            </a:r>
            <a:r>
              <a:rPr lang="en-US" sz="2000" dirty="0">
                <a:sym typeface="Wingdings" pitchFamily="2" charset="2"/>
              </a:rPr>
              <a:t> </a:t>
            </a:r>
            <a:r>
              <a:rPr lang="en-US" sz="2000" dirty="0" err="1">
                <a:sym typeface="Wingdings" pitchFamily="2" charset="2"/>
              </a:rPr>
              <a:t>tượng</a:t>
            </a:r>
            <a:r>
              <a:rPr lang="en-US" sz="2000" dirty="0">
                <a:sym typeface="Wingdings" pitchFamily="2" charset="2"/>
              </a:rPr>
              <a:t> </a:t>
            </a:r>
            <a:r>
              <a:rPr lang="en-US" sz="2000" dirty="0" err="1">
                <a:sym typeface="Wingdings" pitchFamily="2" charset="2"/>
              </a:rPr>
              <a:t>thuộc</a:t>
            </a:r>
            <a:r>
              <a:rPr lang="en-US" sz="2000" dirty="0">
                <a:sym typeface="Wingdings" pitchFamily="2" charset="2"/>
              </a:rPr>
              <a:t> </a:t>
            </a:r>
            <a:r>
              <a:rPr lang="en-US" sz="2000" dirty="0" err="1">
                <a:sym typeface="Wingdings" pitchFamily="2" charset="2"/>
              </a:rPr>
              <a:t>lớp</a:t>
            </a:r>
            <a:r>
              <a:rPr lang="en-US" sz="2000" dirty="0">
                <a:sym typeface="Wingdings" pitchFamily="2" charset="2"/>
              </a:rPr>
              <a:t>.</a:t>
            </a:r>
          </a:p>
          <a:p>
            <a:pPr lvl="1"/>
            <a:r>
              <a:rPr lang="en-US" sz="2000" dirty="0" err="1">
                <a:sym typeface="Wingdings" pitchFamily="2" charset="2"/>
              </a:rPr>
              <a:t>Phương</a:t>
            </a:r>
            <a:r>
              <a:rPr lang="en-US" sz="2000" dirty="0">
                <a:sym typeface="Wingdings" pitchFamily="2" charset="2"/>
              </a:rPr>
              <a:t> </a:t>
            </a:r>
            <a:r>
              <a:rPr lang="en-US" sz="2000" dirty="0" err="1">
                <a:sym typeface="Wingdings" pitchFamily="2" charset="2"/>
              </a:rPr>
              <a:t>thức</a:t>
            </a:r>
            <a:r>
              <a:rPr lang="en-US" sz="2000" dirty="0">
                <a:sym typeface="Wingdings" pitchFamily="2" charset="2"/>
              </a:rPr>
              <a:t> </a:t>
            </a:r>
            <a:r>
              <a:rPr lang="en-US" sz="2000" dirty="0" err="1">
                <a:sym typeface="Wingdings" pitchFamily="2" charset="2"/>
              </a:rPr>
              <a:t>tạo</a:t>
            </a:r>
            <a:r>
              <a:rPr lang="en-US" sz="2000" dirty="0">
                <a:sym typeface="Wingdings" pitchFamily="2" charset="2"/>
              </a:rPr>
              <a:t> </a:t>
            </a:r>
            <a:r>
              <a:rPr lang="en-US" sz="2000" dirty="0" err="1">
                <a:sym typeface="Wingdings" pitchFamily="2" charset="2"/>
              </a:rPr>
              <a:t>lập</a:t>
            </a:r>
            <a:r>
              <a:rPr lang="en-US" sz="2000" dirty="0">
                <a:sym typeface="Wingdings" pitchFamily="2" charset="2"/>
              </a:rPr>
              <a:t> </a:t>
            </a:r>
            <a:r>
              <a:rPr lang="en-US" sz="2000" dirty="0" err="1">
                <a:sym typeface="Wingdings" pitchFamily="2" charset="2"/>
              </a:rPr>
              <a:t>mặc</a:t>
            </a:r>
            <a:r>
              <a:rPr lang="en-US" sz="2000" dirty="0">
                <a:sym typeface="Wingdings" pitchFamily="2" charset="2"/>
              </a:rPr>
              <a:t> </a:t>
            </a:r>
            <a:r>
              <a:rPr lang="en-US" sz="2000" dirty="0" err="1">
                <a:sym typeface="Wingdings" pitchFamily="2" charset="2"/>
              </a:rPr>
              <a:t>định</a:t>
            </a:r>
            <a:r>
              <a:rPr lang="en-US" sz="2000" dirty="0">
                <a:sym typeface="Wingdings" pitchFamily="2" charset="2"/>
              </a:rPr>
              <a:t>: </a:t>
            </a:r>
            <a:r>
              <a:rPr lang="en-US" sz="2000" dirty="0" err="1">
                <a:sym typeface="Wingdings" pitchFamily="2" charset="2"/>
              </a:rPr>
              <a:t>được</a:t>
            </a:r>
            <a:r>
              <a:rPr lang="en-US" sz="2000" dirty="0">
                <a:sym typeface="Wingdings" pitchFamily="2" charset="2"/>
              </a:rPr>
              <a:t> CLR </a:t>
            </a:r>
            <a:r>
              <a:rPr lang="en-US" sz="2000" dirty="0" err="1">
                <a:sym typeface="Wingdings" pitchFamily="2" charset="2"/>
              </a:rPr>
              <a:t>cung</a:t>
            </a:r>
            <a:r>
              <a:rPr lang="en-US" sz="2000" dirty="0">
                <a:sym typeface="Wingdings" pitchFamily="2" charset="2"/>
              </a:rPr>
              <a:t> </a:t>
            </a:r>
            <a:r>
              <a:rPr lang="en-US" sz="2000" dirty="0" err="1">
                <a:sym typeface="Wingdings" pitchFamily="2" charset="2"/>
              </a:rPr>
              <a:t>cấp</a:t>
            </a:r>
            <a:r>
              <a:rPr lang="en-US" sz="2000" dirty="0">
                <a:sym typeface="Wingdings" pitchFamily="2" charset="2"/>
              </a:rPr>
              <a:t> </a:t>
            </a:r>
            <a:r>
              <a:rPr lang="en-US" sz="2000" dirty="0" err="1">
                <a:sym typeface="Wingdings" pitchFamily="2" charset="2"/>
              </a:rPr>
              <a:t>nếu</a:t>
            </a:r>
            <a:r>
              <a:rPr lang="en-US" sz="2000" dirty="0">
                <a:sym typeface="Wingdings" pitchFamily="2" charset="2"/>
              </a:rPr>
              <a:t> </a:t>
            </a:r>
            <a:r>
              <a:rPr lang="en-US" sz="2000" dirty="0" err="1">
                <a:sym typeface="Wingdings" pitchFamily="2" charset="2"/>
              </a:rPr>
              <a:t>người</a:t>
            </a:r>
            <a:r>
              <a:rPr lang="en-US" sz="2000" dirty="0">
                <a:sym typeface="Wingdings" pitchFamily="2" charset="2"/>
              </a:rPr>
              <a:t> </a:t>
            </a:r>
            <a:r>
              <a:rPr lang="en-US" sz="2000" dirty="0" err="1">
                <a:sym typeface="Wingdings" pitchFamily="2" charset="2"/>
              </a:rPr>
              <a:t>lập</a:t>
            </a:r>
            <a:r>
              <a:rPr lang="en-US" sz="2000" dirty="0">
                <a:sym typeface="Wingdings" pitchFamily="2" charset="2"/>
              </a:rPr>
              <a:t> </a:t>
            </a:r>
            <a:r>
              <a:rPr lang="en-US" sz="2000" dirty="0" err="1">
                <a:sym typeface="Wingdings" pitchFamily="2" charset="2"/>
              </a:rPr>
              <a:t>trình</a:t>
            </a:r>
            <a:r>
              <a:rPr lang="en-US" sz="2000" dirty="0">
                <a:sym typeface="Wingdings" pitchFamily="2" charset="2"/>
              </a:rPr>
              <a:t> </a:t>
            </a:r>
            <a:r>
              <a:rPr lang="en-US" sz="2000" dirty="0" err="1">
                <a:sym typeface="Wingdings" pitchFamily="2" charset="2"/>
              </a:rPr>
              <a:t>không</a:t>
            </a:r>
            <a:r>
              <a:rPr lang="en-US" sz="2000" dirty="0">
                <a:sym typeface="Wingdings" pitchFamily="2" charset="2"/>
              </a:rPr>
              <a:t> </a:t>
            </a:r>
            <a:r>
              <a:rPr lang="en-US" sz="2000" dirty="0" err="1">
                <a:sym typeface="Wingdings" pitchFamily="2" charset="2"/>
              </a:rPr>
              <a:t>định</a:t>
            </a:r>
            <a:r>
              <a:rPr lang="en-US" sz="2000" dirty="0">
                <a:sym typeface="Wingdings" pitchFamily="2" charset="2"/>
              </a:rPr>
              <a:t> </a:t>
            </a:r>
            <a:r>
              <a:rPr lang="en-US" sz="2000" dirty="0" err="1">
                <a:sym typeface="Wingdings" pitchFamily="2" charset="2"/>
              </a:rPr>
              <a:t>nghĩa</a:t>
            </a:r>
            <a:endParaRPr lang="en-US" sz="2000" dirty="0">
              <a:sym typeface="Wingdings" pitchFamily="2" charset="2"/>
            </a:endParaRPr>
          </a:p>
          <a:p>
            <a:pPr lvl="1"/>
            <a:r>
              <a:rPr lang="en-US" sz="2000" dirty="0" err="1">
                <a:sym typeface="Wingdings" pitchFamily="2" charset="2"/>
              </a:rPr>
              <a:t>Phương</a:t>
            </a:r>
            <a:r>
              <a:rPr lang="en-US" sz="2000" dirty="0">
                <a:sym typeface="Wingdings" pitchFamily="2" charset="2"/>
              </a:rPr>
              <a:t> </a:t>
            </a:r>
            <a:r>
              <a:rPr lang="en-US" sz="2000" dirty="0" err="1">
                <a:sym typeface="Wingdings" pitchFamily="2" charset="2"/>
              </a:rPr>
              <a:t>thức</a:t>
            </a:r>
            <a:r>
              <a:rPr lang="en-US" sz="2000" dirty="0">
                <a:sym typeface="Wingdings" pitchFamily="2" charset="2"/>
              </a:rPr>
              <a:t> </a:t>
            </a:r>
            <a:r>
              <a:rPr lang="en-US" sz="2000" dirty="0" err="1">
                <a:sym typeface="Wingdings" pitchFamily="2" charset="2"/>
              </a:rPr>
              <a:t>tạo</a:t>
            </a:r>
            <a:r>
              <a:rPr lang="en-US" sz="2000" dirty="0">
                <a:sym typeface="Wingdings" pitchFamily="2" charset="2"/>
              </a:rPr>
              <a:t> </a:t>
            </a:r>
            <a:r>
              <a:rPr lang="en-US" sz="2000" dirty="0" err="1">
                <a:sym typeface="Wingdings" pitchFamily="2" charset="2"/>
              </a:rPr>
              <a:t>lập</a:t>
            </a:r>
            <a:r>
              <a:rPr lang="en-US" sz="2000" dirty="0">
                <a:sym typeface="Wingdings" pitchFamily="2" charset="2"/>
              </a:rPr>
              <a:t> do </a:t>
            </a:r>
            <a:r>
              <a:rPr lang="en-US" sz="2000" dirty="0" err="1">
                <a:sym typeface="Wingdings" pitchFamily="2" charset="2"/>
              </a:rPr>
              <a:t>người</a:t>
            </a:r>
            <a:r>
              <a:rPr lang="en-US" sz="2000" dirty="0">
                <a:sym typeface="Wingdings" pitchFamily="2" charset="2"/>
              </a:rPr>
              <a:t> </a:t>
            </a:r>
            <a:r>
              <a:rPr lang="en-US" sz="2000" dirty="0" err="1">
                <a:sym typeface="Wingdings" pitchFamily="2" charset="2"/>
              </a:rPr>
              <a:t>lập</a:t>
            </a:r>
            <a:r>
              <a:rPr lang="en-US" sz="2000" dirty="0">
                <a:sym typeface="Wingdings" pitchFamily="2" charset="2"/>
              </a:rPr>
              <a:t> </a:t>
            </a:r>
            <a:r>
              <a:rPr lang="en-US" sz="2000" dirty="0" err="1">
                <a:sym typeface="Wingdings" pitchFamily="2" charset="2"/>
              </a:rPr>
              <a:t>trình</a:t>
            </a:r>
            <a:r>
              <a:rPr lang="en-US" sz="2000" dirty="0">
                <a:sym typeface="Wingdings" pitchFamily="2" charset="2"/>
              </a:rPr>
              <a:t> </a:t>
            </a:r>
            <a:r>
              <a:rPr lang="en-US" sz="2000" dirty="0" err="1">
                <a:sym typeface="Wingdings" pitchFamily="2" charset="2"/>
              </a:rPr>
              <a:t>định</a:t>
            </a:r>
            <a:r>
              <a:rPr lang="en-US" sz="2000" dirty="0">
                <a:sym typeface="Wingdings" pitchFamily="2" charset="2"/>
              </a:rPr>
              <a:t> </a:t>
            </a:r>
            <a:r>
              <a:rPr lang="en-US" sz="2000" dirty="0" err="1">
                <a:sym typeface="Wingdings" pitchFamily="2" charset="2"/>
              </a:rPr>
              <a:t>nghĩa</a:t>
            </a:r>
            <a:endParaRPr lang="en-US" sz="2000" dirty="0">
              <a:sym typeface="Wingdings" pitchFamily="2" charset="2"/>
            </a:endParaRPr>
          </a:p>
          <a:p>
            <a:pPr lvl="1"/>
            <a:r>
              <a:rPr lang="en-US" sz="2000" dirty="0" err="1">
                <a:sym typeface="Wingdings" pitchFamily="2" charset="2"/>
              </a:rPr>
              <a:t>Trước</a:t>
            </a:r>
            <a:r>
              <a:rPr lang="en-US" sz="2000" dirty="0">
                <a:sym typeface="Wingdings" pitchFamily="2" charset="2"/>
              </a:rPr>
              <a:t> </a:t>
            </a:r>
            <a:r>
              <a:rPr lang="en-US" sz="2000" dirty="0" err="1">
                <a:sym typeface="Wingdings" pitchFamily="2" charset="2"/>
              </a:rPr>
              <a:t>khi</a:t>
            </a:r>
            <a:r>
              <a:rPr lang="en-US" sz="2000" dirty="0">
                <a:sym typeface="Wingdings" pitchFamily="2" charset="2"/>
              </a:rPr>
              <a:t> </a:t>
            </a:r>
            <a:r>
              <a:rPr lang="en-US" sz="2000" dirty="0" err="1">
                <a:sym typeface="Wingdings" pitchFamily="2" charset="2"/>
              </a:rPr>
              <a:t>phương</a:t>
            </a:r>
            <a:r>
              <a:rPr lang="en-US" sz="2000" dirty="0">
                <a:sym typeface="Wingdings" pitchFamily="2" charset="2"/>
              </a:rPr>
              <a:t> </a:t>
            </a:r>
            <a:r>
              <a:rPr lang="en-US" sz="2000" dirty="0" err="1">
                <a:sym typeface="Wingdings" pitchFamily="2" charset="2"/>
              </a:rPr>
              <a:t>thức</a:t>
            </a:r>
            <a:r>
              <a:rPr lang="en-US" sz="2000" dirty="0">
                <a:sym typeface="Wingdings" pitchFamily="2" charset="2"/>
              </a:rPr>
              <a:t> </a:t>
            </a:r>
            <a:r>
              <a:rPr lang="en-US" sz="2000" dirty="0" err="1">
                <a:sym typeface="Wingdings" pitchFamily="2" charset="2"/>
              </a:rPr>
              <a:t>tạo</a:t>
            </a:r>
            <a:r>
              <a:rPr lang="en-US" sz="2000" dirty="0">
                <a:sym typeface="Wingdings" pitchFamily="2" charset="2"/>
              </a:rPr>
              <a:t> </a:t>
            </a:r>
            <a:r>
              <a:rPr lang="en-US" sz="2000" dirty="0" err="1">
                <a:sym typeface="Wingdings" pitchFamily="2" charset="2"/>
              </a:rPr>
              <a:t>lập</a:t>
            </a:r>
            <a:r>
              <a:rPr lang="en-US" sz="2000" dirty="0">
                <a:sym typeface="Wingdings" pitchFamily="2" charset="2"/>
              </a:rPr>
              <a:t> </a:t>
            </a:r>
            <a:r>
              <a:rPr lang="en-US" sz="2000" dirty="0" err="1">
                <a:sym typeface="Wingdings" pitchFamily="2" charset="2"/>
              </a:rPr>
              <a:t>được</a:t>
            </a:r>
            <a:r>
              <a:rPr lang="en-US" sz="2000" dirty="0">
                <a:sym typeface="Wingdings" pitchFamily="2" charset="2"/>
              </a:rPr>
              <a:t> </a:t>
            </a:r>
            <a:r>
              <a:rPr lang="en-US" sz="2000" dirty="0" err="1">
                <a:sym typeface="Wingdings" pitchFamily="2" charset="2"/>
              </a:rPr>
              <a:t>chạy</a:t>
            </a:r>
            <a:r>
              <a:rPr lang="en-US" sz="2000" dirty="0">
                <a:sym typeface="Wingdings" pitchFamily="2" charset="2"/>
              </a:rPr>
              <a:t>, </a:t>
            </a:r>
            <a:r>
              <a:rPr lang="en-US" sz="2000" dirty="0" err="1">
                <a:sym typeface="Wingdings" pitchFamily="2" charset="2"/>
              </a:rPr>
              <a:t>đối</a:t>
            </a:r>
            <a:r>
              <a:rPr lang="en-US" sz="2000" dirty="0">
                <a:sym typeface="Wingdings" pitchFamily="2" charset="2"/>
              </a:rPr>
              <a:t> </a:t>
            </a:r>
            <a:r>
              <a:rPr lang="en-US" sz="2000" dirty="0" err="1">
                <a:sym typeface="Wingdings" pitchFamily="2" charset="2"/>
              </a:rPr>
              <a:t>tượng</a:t>
            </a:r>
            <a:r>
              <a:rPr lang="en-US" sz="2000" dirty="0">
                <a:sym typeface="Wingdings" pitchFamily="2" charset="2"/>
              </a:rPr>
              <a:t> </a:t>
            </a:r>
            <a:r>
              <a:rPr lang="en-US" sz="2000" dirty="0" err="1">
                <a:sym typeface="Wingdings" pitchFamily="2" charset="2"/>
              </a:rPr>
              <a:t>chưa</a:t>
            </a:r>
            <a:r>
              <a:rPr lang="en-US" sz="2000" dirty="0">
                <a:sym typeface="Wingdings" pitchFamily="2" charset="2"/>
              </a:rPr>
              <a:t> </a:t>
            </a:r>
            <a:r>
              <a:rPr lang="en-US" sz="2000" dirty="0" err="1">
                <a:sym typeface="Wingdings" pitchFamily="2" charset="2"/>
              </a:rPr>
              <a:t>thực</a:t>
            </a:r>
            <a:r>
              <a:rPr lang="en-US" sz="2000" dirty="0">
                <a:sym typeface="Wingdings" pitchFamily="2" charset="2"/>
              </a:rPr>
              <a:t> </a:t>
            </a:r>
            <a:r>
              <a:rPr lang="en-US" sz="2000" dirty="0" err="1">
                <a:sym typeface="Wingdings" pitchFamily="2" charset="2"/>
              </a:rPr>
              <a:t>sự</a:t>
            </a:r>
            <a:r>
              <a:rPr lang="en-US" sz="2000" dirty="0">
                <a:sym typeface="Wingdings" pitchFamily="2" charset="2"/>
              </a:rPr>
              <a:t> </a:t>
            </a:r>
            <a:r>
              <a:rPr lang="en-US" sz="2000" dirty="0" err="1">
                <a:sym typeface="Wingdings" pitchFamily="2" charset="2"/>
              </a:rPr>
              <a:t>tồn</a:t>
            </a:r>
            <a:r>
              <a:rPr lang="en-US" sz="2000" dirty="0">
                <a:sym typeface="Wingdings" pitchFamily="2" charset="2"/>
              </a:rPr>
              <a:t> </a:t>
            </a:r>
            <a:r>
              <a:rPr lang="en-US" sz="2000" dirty="0" err="1">
                <a:sym typeface="Wingdings" pitchFamily="2" charset="2"/>
              </a:rPr>
              <a:t>tại</a:t>
            </a:r>
            <a:r>
              <a:rPr lang="en-US" sz="2000" dirty="0">
                <a:sym typeface="Wingdings" pitchFamily="2" charset="2"/>
              </a:rPr>
              <a:t> </a:t>
            </a:r>
            <a:r>
              <a:rPr lang="en-US" sz="2000" dirty="0" err="1">
                <a:sym typeface="Wingdings" pitchFamily="2" charset="2"/>
              </a:rPr>
              <a:t>trong</a:t>
            </a:r>
            <a:r>
              <a:rPr lang="en-US" sz="2000" dirty="0">
                <a:sym typeface="Wingdings" pitchFamily="2" charset="2"/>
              </a:rPr>
              <a:t> </a:t>
            </a:r>
            <a:r>
              <a:rPr lang="en-US" sz="2000" dirty="0" err="1">
                <a:sym typeface="Wingdings" pitchFamily="2" charset="2"/>
              </a:rPr>
              <a:t>bộ</a:t>
            </a:r>
            <a:r>
              <a:rPr lang="en-US" sz="2000" dirty="0">
                <a:sym typeface="Wingdings" pitchFamily="2" charset="2"/>
              </a:rPr>
              <a:t> </a:t>
            </a:r>
            <a:r>
              <a:rPr lang="en-US" sz="2000" dirty="0" err="1">
                <a:sym typeface="Wingdings" pitchFamily="2" charset="2"/>
              </a:rPr>
              <a:t>nhớ</a:t>
            </a:r>
            <a:r>
              <a:rPr lang="en-US" sz="2000" dirty="0">
                <a:sym typeface="Wingdings" pitchFamily="2" charset="2"/>
              </a:rPr>
              <a:t>, </a:t>
            </a:r>
            <a:r>
              <a:rPr lang="en-US" sz="2000" dirty="0" err="1">
                <a:sym typeface="Wingdings" pitchFamily="2" charset="2"/>
              </a:rPr>
              <a:t>sau</a:t>
            </a:r>
            <a:r>
              <a:rPr lang="en-US" sz="2000" dirty="0">
                <a:sym typeface="Wingdings" pitchFamily="2" charset="2"/>
              </a:rPr>
              <a:t> </a:t>
            </a:r>
            <a:r>
              <a:rPr lang="en-US" sz="2000" dirty="0" err="1">
                <a:sym typeface="Wingdings" pitchFamily="2" charset="2"/>
              </a:rPr>
              <a:t>khi</a:t>
            </a:r>
            <a:r>
              <a:rPr lang="en-US" sz="2000" dirty="0">
                <a:sym typeface="Wingdings" pitchFamily="2" charset="2"/>
              </a:rPr>
              <a:t> </a:t>
            </a:r>
            <a:r>
              <a:rPr lang="en-US" sz="2000" dirty="0" err="1">
                <a:sym typeface="Wingdings" pitchFamily="2" charset="2"/>
              </a:rPr>
              <a:t>tạo</a:t>
            </a:r>
            <a:r>
              <a:rPr lang="en-US" sz="2000" dirty="0">
                <a:sym typeface="Wingdings" pitchFamily="2" charset="2"/>
              </a:rPr>
              <a:t> </a:t>
            </a:r>
            <a:r>
              <a:rPr lang="en-US" sz="2000" dirty="0" err="1">
                <a:sym typeface="Wingdings" pitchFamily="2" charset="2"/>
              </a:rPr>
              <a:t>lập</a:t>
            </a:r>
            <a:r>
              <a:rPr lang="en-US" sz="2000" dirty="0">
                <a:sym typeface="Wingdings" pitchFamily="2" charset="2"/>
              </a:rPr>
              <a:t> </a:t>
            </a:r>
            <a:r>
              <a:rPr lang="en-US" sz="2000" dirty="0" err="1">
                <a:sym typeface="Wingdings" pitchFamily="2" charset="2"/>
              </a:rPr>
              <a:t>hoàn</a:t>
            </a:r>
            <a:r>
              <a:rPr lang="en-US" sz="2000" dirty="0">
                <a:sym typeface="Wingdings" pitchFamily="2" charset="2"/>
              </a:rPr>
              <a:t> </a:t>
            </a:r>
            <a:r>
              <a:rPr lang="en-US" sz="2000" dirty="0" err="1">
                <a:sym typeface="Wingdings" pitchFamily="2" charset="2"/>
              </a:rPr>
              <a:t>thành</a:t>
            </a:r>
            <a:r>
              <a:rPr lang="en-US" sz="2000" dirty="0">
                <a:sym typeface="Wingdings" pitchFamily="2" charset="2"/>
              </a:rPr>
              <a:t>, </a:t>
            </a:r>
            <a:r>
              <a:rPr lang="en-US" sz="2000" dirty="0" err="1">
                <a:sym typeface="Wingdings" pitchFamily="2" charset="2"/>
              </a:rPr>
              <a:t>bộ</a:t>
            </a:r>
            <a:r>
              <a:rPr lang="en-US" sz="2000" dirty="0">
                <a:sym typeface="Wingdings" pitchFamily="2" charset="2"/>
              </a:rPr>
              <a:t> </a:t>
            </a:r>
            <a:r>
              <a:rPr lang="en-US" sz="2000" dirty="0" err="1">
                <a:sym typeface="Wingdings" pitchFamily="2" charset="2"/>
              </a:rPr>
              <a:t>nhớ</a:t>
            </a:r>
            <a:r>
              <a:rPr lang="en-US" sz="2000" dirty="0">
                <a:sym typeface="Wingdings" pitchFamily="2" charset="2"/>
              </a:rPr>
              <a:t> </a:t>
            </a:r>
            <a:r>
              <a:rPr lang="en-US" sz="2000" dirty="0" err="1">
                <a:sym typeface="Wingdings" pitchFamily="2" charset="2"/>
              </a:rPr>
              <a:t>lưu</a:t>
            </a:r>
            <a:r>
              <a:rPr lang="en-US" sz="2000" dirty="0">
                <a:sym typeface="Wingdings" pitchFamily="2" charset="2"/>
              </a:rPr>
              <a:t> </a:t>
            </a:r>
            <a:r>
              <a:rPr lang="en-US" sz="2000" dirty="0" err="1">
                <a:sym typeface="Wingdings" pitchFamily="2" charset="2"/>
              </a:rPr>
              <a:t>trữ</a:t>
            </a:r>
            <a:r>
              <a:rPr lang="en-US" sz="2000" dirty="0">
                <a:sym typeface="Wingdings" pitchFamily="2" charset="2"/>
              </a:rPr>
              <a:t> </a:t>
            </a:r>
            <a:r>
              <a:rPr lang="en-US" sz="2000" dirty="0" err="1">
                <a:sym typeface="Wingdings" pitchFamily="2" charset="2"/>
              </a:rPr>
              <a:t>một</a:t>
            </a:r>
            <a:r>
              <a:rPr lang="en-US" sz="2000" dirty="0">
                <a:sym typeface="Wingdings" pitchFamily="2" charset="2"/>
              </a:rPr>
              <a:t> </a:t>
            </a:r>
            <a:r>
              <a:rPr lang="en-US" sz="2000" dirty="0" err="1">
                <a:sym typeface="Wingdings" pitchFamily="2" charset="2"/>
              </a:rPr>
              <a:t>thể</a:t>
            </a:r>
            <a:r>
              <a:rPr lang="en-US" sz="2000" dirty="0">
                <a:sym typeface="Wingdings" pitchFamily="2" charset="2"/>
              </a:rPr>
              <a:t> </a:t>
            </a:r>
            <a:r>
              <a:rPr lang="en-US" sz="2000" dirty="0" err="1">
                <a:sym typeface="Wingdings" pitchFamily="2" charset="2"/>
              </a:rPr>
              <a:t>hiện</a:t>
            </a:r>
            <a:r>
              <a:rPr lang="en-US" sz="2000" dirty="0">
                <a:sym typeface="Wingdings" pitchFamily="2" charset="2"/>
              </a:rPr>
              <a:t> </a:t>
            </a:r>
            <a:r>
              <a:rPr lang="en-US" sz="2000" dirty="0" err="1">
                <a:sym typeface="Wingdings" pitchFamily="2" charset="2"/>
              </a:rPr>
              <a:t>của</a:t>
            </a:r>
            <a:r>
              <a:rPr lang="en-US" sz="2000" dirty="0">
                <a:sym typeface="Wingdings" pitchFamily="2" charset="2"/>
              </a:rPr>
              <a:t> </a:t>
            </a:r>
            <a:r>
              <a:rPr lang="en-US" sz="2000" dirty="0" err="1">
                <a:sym typeface="Wingdings" pitchFamily="2" charset="2"/>
              </a:rPr>
              <a:t>lớp</a:t>
            </a:r>
            <a:r>
              <a:rPr lang="en-US" sz="2000" dirty="0">
                <a:sym typeface="Wingdings" pitchFamily="2" charset="2"/>
              </a:rPr>
              <a:t>.</a:t>
            </a:r>
          </a:p>
          <a:p>
            <a:pPr lvl="1"/>
            <a:r>
              <a:rPr lang="en-US" sz="2000" dirty="0">
                <a:sym typeface="Wingdings" pitchFamily="2" charset="2"/>
              </a:rPr>
              <a:t>Khi ta </a:t>
            </a:r>
            <a:r>
              <a:rPr lang="en-US" sz="2000" dirty="0" err="1">
                <a:sym typeface="Wingdings" pitchFamily="2" charset="2"/>
              </a:rPr>
              <a:t>không</a:t>
            </a:r>
            <a:r>
              <a:rPr lang="en-US" sz="2000" dirty="0">
                <a:sym typeface="Wingdings" pitchFamily="2" charset="2"/>
              </a:rPr>
              <a:t> </a:t>
            </a:r>
            <a:r>
              <a:rPr lang="en-US" sz="2000" dirty="0" err="1">
                <a:sym typeface="Wingdings" pitchFamily="2" charset="2"/>
              </a:rPr>
              <a:t>định</a:t>
            </a:r>
            <a:r>
              <a:rPr lang="en-US" sz="2000" dirty="0">
                <a:sym typeface="Wingdings" pitchFamily="2" charset="2"/>
              </a:rPr>
              <a:t> </a:t>
            </a:r>
            <a:r>
              <a:rPr lang="en-US" sz="2000" dirty="0" err="1">
                <a:sym typeface="Wingdings" pitchFamily="2" charset="2"/>
              </a:rPr>
              <a:t>nghĩa</a:t>
            </a:r>
            <a:r>
              <a:rPr lang="en-US" sz="2000" dirty="0">
                <a:sym typeface="Wingdings" pitchFamily="2" charset="2"/>
              </a:rPr>
              <a:t> </a:t>
            </a:r>
            <a:r>
              <a:rPr lang="en-US" sz="2000" dirty="0" err="1">
                <a:sym typeface="Wingdings" pitchFamily="2" charset="2"/>
              </a:rPr>
              <a:t>một</a:t>
            </a:r>
            <a:r>
              <a:rPr lang="en-US" sz="2000" dirty="0">
                <a:sym typeface="Wingdings" pitchFamily="2" charset="2"/>
              </a:rPr>
              <a:t> </a:t>
            </a:r>
            <a:r>
              <a:rPr lang="en-US" sz="2000" dirty="0" err="1">
                <a:sym typeface="Wingdings" pitchFamily="2" charset="2"/>
              </a:rPr>
              <a:t>phương</a:t>
            </a:r>
            <a:r>
              <a:rPr lang="en-US" sz="2000" dirty="0">
                <a:sym typeface="Wingdings" pitchFamily="2" charset="2"/>
              </a:rPr>
              <a:t> </a:t>
            </a:r>
            <a:r>
              <a:rPr lang="en-US" sz="2000" dirty="0" err="1">
                <a:sym typeface="Wingdings" pitchFamily="2" charset="2"/>
              </a:rPr>
              <a:t>thức</a:t>
            </a:r>
            <a:r>
              <a:rPr lang="en-US" sz="2000" dirty="0">
                <a:sym typeface="Wingdings" pitchFamily="2" charset="2"/>
              </a:rPr>
              <a:t> </a:t>
            </a:r>
            <a:r>
              <a:rPr lang="en-US" sz="2000" dirty="0" err="1">
                <a:sym typeface="Wingdings" pitchFamily="2" charset="2"/>
              </a:rPr>
              <a:t>tạo</a:t>
            </a:r>
            <a:r>
              <a:rPr lang="en-US" sz="2000" dirty="0">
                <a:sym typeface="Wingdings" pitchFamily="2" charset="2"/>
              </a:rPr>
              <a:t> </a:t>
            </a:r>
            <a:r>
              <a:rPr lang="en-US" sz="2000" dirty="0" err="1">
                <a:sym typeface="Wingdings" pitchFamily="2" charset="2"/>
              </a:rPr>
              <a:t>lập</a:t>
            </a:r>
            <a:r>
              <a:rPr lang="en-US" sz="2000" dirty="0">
                <a:sym typeface="Wingdings" pitchFamily="2" charset="2"/>
              </a:rPr>
              <a:t> </a:t>
            </a:r>
            <a:r>
              <a:rPr lang="en-US" sz="2000" dirty="0" err="1">
                <a:sym typeface="Wingdings" pitchFamily="2" charset="2"/>
              </a:rPr>
              <a:t>nào</a:t>
            </a:r>
            <a:r>
              <a:rPr lang="en-US" sz="2000" dirty="0">
                <a:sym typeface="Wingdings" pitchFamily="2" charset="2"/>
              </a:rPr>
              <a:t> </a:t>
            </a:r>
            <a:r>
              <a:rPr lang="en-US" sz="2000" dirty="0" err="1">
                <a:sym typeface="Wingdings" pitchFamily="2" charset="2"/>
              </a:rPr>
              <a:t>cho</a:t>
            </a:r>
            <a:r>
              <a:rPr lang="en-US" sz="2000" dirty="0">
                <a:sym typeface="Wingdings" pitchFamily="2" charset="2"/>
              </a:rPr>
              <a:t> </a:t>
            </a:r>
            <a:r>
              <a:rPr lang="en-US" sz="2000" dirty="0" err="1">
                <a:sym typeface="Wingdings" pitchFamily="2" charset="2"/>
              </a:rPr>
              <a:t>lớp</a:t>
            </a:r>
            <a:r>
              <a:rPr lang="en-US" sz="2000" dirty="0">
                <a:sym typeface="Wingdings" pitchFamily="2" charset="2"/>
              </a:rPr>
              <a:t>, </a:t>
            </a:r>
            <a:r>
              <a:rPr lang="en-US" sz="2000" dirty="0" err="1">
                <a:sym typeface="Wingdings" pitchFamily="2" charset="2"/>
              </a:rPr>
              <a:t>trình</a:t>
            </a:r>
            <a:r>
              <a:rPr lang="en-US" sz="2000" dirty="0">
                <a:sym typeface="Wingdings" pitchFamily="2" charset="2"/>
              </a:rPr>
              <a:t> </a:t>
            </a:r>
            <a:r>
              <a:rPr lang="en-US" sz="2000" dirty="0" err="1">
                <a:sym typeface="Wingdings" pitchFamily="2" charset="2"/>
              </a:rPr>
              <a:t>biên</a:t>
            </a:r>
            <a:r>
              <a:rPr lang="en-US" sz="2000" dirty="0">
                <a:sym typeface="Wingdings" pitchFamily="2" charset="2"/>
              </a:rPr>
              <a:t> </a:t>
            </a:r>
            <a:r>
              <a:rPr lang="en-US" sz="2000" dirty="0" err="1">
                <a:sym typeface="Wingdings" pitchFamily="2" charset="2"/>
              </a:rPr>
              <a:t>dịch</a:t>
            </a:r>
            <a:r>
              <a:rPr lang="en-US" sz="2000" dirty="0">
                <a:sym typeface="Wingdings" pitchFamily="2" charset="2"/>
              </a:rPr>
              <a:t> </a:t>
            </a:r>
            <a:r>
              <a:rPr lang="en-US" sz="2000" dirty="0" err="1">
                <a:sym typeface="Wingdings" pitchFamily="2" charset="2"/>
              </a:rPr>
              <a:t>sẽ</a:t>
            </a:r>
            <a:r>
              <a:rPr lang="en-US" sz="2000" dirty="0">
                <a:sym typeface="Wingdings" pitchFamily="2" charset="2"/>
              </a:rPr>
              <a:t> </a:t>
            </a:r>
            <a:r>
              <a:rPr lang="en-US" sz="2000" dirty="0" err="1">
                <a:sym typeface="Wingdings" pitchFamily="2" charset="2"/>
              </a:rPr>
              <a:t>tự</a:t>
            </a:r>
            <a:r>
              <a:rPr lang="en-US" sz="2000" dirty="0">
                <a:sym typeface="Wingdings" pitchFamily="2" charset="2"/>
              </a:rPr>
              <a:t> </a:t>
            </a:r>
            <a:r>
              <a:rPr lang="en-US" sz="2000" dirty="0" err="1">
                <a:sym typeface="Wingdings" pitchFamily="2" charset="2"/>
              </a:rPr>
              <a:t>động</a:t>
            </a:r>
            <a:r>
              <a:rPr lang="en-US" sz="2000" dirty="0">
                <a:sym typeface="Wingdings" pitchFamily="2" charset="2"/>
              </a:rPr>
              <a:t> </a:t>
            </a:r>
            <a:r>
              <a:rPr lang="en-US" sz="2000" dirty="0" err="1">
                <a:sym typeface="Wingdings" pitchFamily="2" charset="2"/>
              </a:rPr>
              <a:t>tạo</a:t>
            </a:r>
            <a:r>
              <a:rPr lang="en-US" sz="2000" dirty="0">
                <a:sym typeface="Wingdings" pitchFamily="2" charset="2"/>
              </a:rPr>
              <a:t> </a:t>
            </a:r>
            <a:r>
              <a:rPr lang="en-US" sz="2000" dirty="0" err="1">
                <a:sym typeface="Wingdings" pitchFamily="2" charset="2"/>
              </a:rPr>
              <a:t>một</a:t>
            </a:r>
            <a:r>
              <a:rPr lang="en-US" sz="2000" dirty="0">
                <a:sym typeface="Wingdings" pitchFamily="2" charset="2"/>
              </a:rPr>
              <a:t> </a:t>
            </a:r>
            <a:r>
              <a:rPr lang="en-US" sz="2000" dirty="0" err="1">
                <a:sym typeface="Wingdings" pitchFamily="2" charset="2"/>
              </a:rPr>
              <a:t>phương</a:t>
            </a:r>
            <a:r>
              <a:rPr lang="en-US" sz="2000" dirty="0">
                <a:sym typeface="Wingdings" pitchFamily="2" charset="2"/>
              </a:rPr>
              <a:t> </a:t>
            </a:r>
            <a:r>
              <a:rPr lang="en-US" sz="2000" dirty="0" err="1">
                <a:sym typeface="Wingdings" pitchFamily="2" charset="2"/>
              </a:rPr>
              <a:t>thức</a:t>
            </a:r>
            <a:r>
              <a:rPr lang="en-US" sz="2000" dirty="0">
                <a:sym typeface="Wingdings" pitchFamily="2" charset="2"/>
              </a:rPr>
              <a:t> </a:t>
            </a:r>
            <a:r>
              <a:rPr lang="en-US" sz="2000" dirty="0" err="1">
                <a:sym typeface="Wingdings" pitchFamily="2" charset="2"/>
              </a:rPr>
              <a:t>tạo</a:t>
            </a:r>
            <a:r>
              <a:rPr lang="en-US" sz="2000" dirty="0">
                <a:sym typeface="Wingdings" pitchFamily="2" charset="2"/>
              </a:rPr>
              <a:t> </a:t>
            </a:r>
            <a:r>
              <a:rPr lang="en-US" sz="2000" dirty="0" err="1">
                <a:sym typeface="Wingdings" pitchFamily="2" charset="2"/>
              </a:rPr>
              <a:t>lập</a:t>
            </a:r>
            <a:r>
              <a:rPr lang="en-US" sz="2000" dirty="0">
                <a:sym typeface="Wingdings" pitchFamily="2" charset="2"/>
              </a:rPr>
              <a:t> </a:t>
            </a:r>
            <a:r>
              <a:rPr lang="en-US" sz="2000" dirty="0" err="1">
                <a:sym typeface="Wingdings" pitchFamily="2" charset="2"/>
              </a:rPr>
              <a:t>mặc</a:t>
            </a:r>
            <a:r>
              <a:rPr lang="en-US" sz="2000" dirty="0">
                <a:sym typeface="Wingdings" pitchFamily="2" charset="2"/>
              </a:rPr>
              <a:t> </a:t>
            </a:r>
            <a:r>
              <a:rPr lang="en-US" sz="2000" dirty="0" err="1">
                <a:sym typeface="Wingdings" pitchFamily="2" charset="2"/>
              </a:rPr>
              <a:t>định</a:t>
            </a:r>
            <a:r>
              <a:rPr lang="en-US" sz="2000" dirty="0">
                <a:sym typeface="Wingdings" pitchFamily="2" charset="2"/>
              </a:rPr>
              <a:t> </a:t>
            </a:r>
            <a:r>
              <a:rPr lang="en-US" sz="2000" dirty="0" err="1">
                <a:sym typeface="Wingdings" pitchFamily="2" charset="2"/>
              </a:rPr>
              <a:t>cho</a:t>
            </a:r>
            <a:r>
              <a:rPr lang="en-US" sz="2000" dirty="0">
                <a:sym typeface="Wingdings" pitchFamily="2" charset="2"/>
              </a:rPr>
              <a:t> </a:t>
            </a:r>
            <a:r>
              <a:rPr lang="en-US" sz="2000" dirty="0" err="1">
                <a:sym typeface="Wingdings" pitchFamily="2" charset="2"/>
              </a:rPr>
              <a:t>lớp</a:t>
            </a:r>
            <a:r>
              <a:rPr lang="en-US" sz="2000" dirty="0">
                <a:sym typeface="Wingdings" pitchFamily="2" charset="2"/>
              </a:rPr>
              <a:t> </a:t>
            </a:r>
            <a:r>
              <a:rPr lang="en-US" sz="2000" dirty="0" err="1">
                <a:sym typeface="Wingdings" pitchFamily="2" charset="2"/>
              </a:rPr>
              <a:t>đó</a:t>
            </a:r>
            <a:r>
              <a:rPr lang="en-US" sz="2000" dirty="0">
                <a:sym typeface="Wingdings" pitchFamily="2" charset="2"/>
              </a:rPr>
              <a:t> </a:t>
            </a:r>
            <a:r>
              <a:rPr lang="en-US" sz="2000" dirty="0" err="1">
                <a:sym typeface="Wingdings" pitchFamily="2" charset="2"/>
              </a:rPr>
              <a:t>và</a:t>
            </a:r>
            <a:r>
              <a:rPr lang="en-US" sz="2000" dirty="0">
                <a:sym typeface="Wingdings" pitchFamily="2" charset="2"/>
              </a:rPr>
              <a:t> </a:t>
            </a:r>
            <a:r>
              <a:rPr lang="en-US" sz="2000" dirty="0" err="1">
                <a:sym typeface="Wingdings" pitchFamily="2" charset="2"/>
              </a:rPr>
              <a:t>khởi</a:t>
            </a:r>
            <a:r>
              <a:rPr lang="en-US" sz="2000" dirty="0">
                <a:sym typeface="Wingdings" pitchFamily="2" charset="2"/>
              </a:rPr>
              <a:t> </a:t>
            </a:r>
            <a:r>
              <a:rPr lang="en-US" sz="2000" dirty="0" err="1">
                <a:sym typeface="Wingdings" pitchFamily="2" charset="2"/>
              </a:rPr>
              <a:t>tạo</a:t>
            </a:r>
            <a:r>
              <a:rPr lang="en-US" sz="2000" dirty="0">
                <a:sym typeface="Wingdings" pitchFamily="2" charset="2"/>
              </a:rPr>
              <a:t> </a:t>
            </a:r>
            <a:r>
              <a:rPr lang="en-US" sz="2000" dirty="0" err="1">
                <a:sym typeface="Wingdings" pitchFamily="2" charset="2"/>
              </a:rPr>
              <a:t>các</a:t>
            </a:r>
            <a:r>
              <a:rPr lang="en-US" sz="2000" dirty="0">
                <a:sym typeface="Wingdings" pitchFamily="2" charset="2"/>
              </a:rPr>
              <a:t> </a:t>
            </a:r>
            <a:r>
              <a:rPr lang="en-US" sz="2000" dirty="0" err="1">
                <a:sym typeface="Wingdings" pitchFamily="2" charset="2"/>
              </a:rPr>
              <a:t>biến</a:t>
            </a:r>
            <a:r>
              <a:rPr lang="en-US" sz="2000" dirty="0">
                <a:sym typeface="Wingdings" pitchFamily="2" charset="2"/>
              </a:rPr>
              <a:t> </a:t>
            </a:r>
            <a:r>
              <a:rPr lang="en-US" sz="2000" dirty="0" err="1">
                <a:sym typeface="Wingdings" pitchFamily="2" charset="2"/>
              </a:rPr>
              <a:t>bằng</a:t>
            </a:r>
            <a:r>
              <a:rPr lang="en-US" sz="2000" dirty="0">
                <a:sym typeface="Wingdings" pitchFamily="2" charset="2"/>
              </a:rPr>
              <a:t> </a:t>
            </a:r>
            <a:r>
              <a:rPr lang="en-US" sz="2000" dirty="0" err="1">
                <a:sym typeface="Wingdings" pitchFamily="2" charset="2"/>
              </a:rPr>
              <a:t>các</a:t>
            </a:r>
            <a:r>
              <a:rPr lang="en-US" sz="2000" dirty="0">
                <a:sym typeface="Wingdings" pitchFamily="2" charset="2"/>
              </a:rPr>
              <a:t> </a:t>
            </a:r>
            <a:r>
              <a:rPr lang="en-US" sz="2000" dirty="0" err="1">
                <a:sym typeface="Wingdings" pitchFamily="2" charset="2"/>
              </a:rPr>
              <a:t>giá</a:t>
            </a:r>
            <a:r>
              <a:rPr lang="en-US" sz="2000" dirty="0">
                <a:sym typeface="Wingdings" pitchFamily="2" charset="2"/>
              </a:rPr>
              <a:t> </a:t>
            </a:r>
            <a:r>
              <a:rPr lang="en-US" sz="2000" dirty="0" err="1">
                <a:sym typeface="Wingdings" pitchFamily="2" charset="2"/>
              </a:rPr>
              <a:t>trị</a:t>
            </a:r>
            <a:r>
              <a:rPr lang="en-US" sz="2000" dirty="0">
                <a:sym typeface="Wingdings" pitchFamily="2" charset="2"/>
              </a:rPr>
              <a:t> </a:t>
            </a:r>
            <a:r>
              <a:rPr lang="en-US" sz="2000" dirty="0" err="1">
                <a:sym typeface="Wingdings" pitchFamily="2" charset="2"/>
              </a:rPr>
              <a:t>mặc</a:t>
            </a:r>
            <a:r>
              <a:rPr lang="en-US" sz="2000" dirty="0">
                <a:sym typeface="Wingdings" pitchFamily="2" charset="2"/>
              </a:rPr>
              <a:t> </a:t>
            </a:r>
            <a:r>
              <a:rPr lang="en-US" sz="2000" dirty="0" err="1">
                <a:sym typeface="Wingdings" pitchFamily="2" charset="2"/>
              </a:rPr>
              <a:t>định</a:t>
            </a:r>
            <a:r>
              <a:rPr lang="en-US" sz="2000" dirty="0">
                <a:sym typeface="Wingdings" pitchFamily="2" charset="2"/>
              </a:rPr>
              <a:t>.</a:t>
            </a:r>
          </a:p>
          <a:p>
            <a:endParaRPr lang="en-VN" dirty="0"/>
          </a:p>
        </p:txBody>
      </p:sp>
      <p:sp>
        <p:nvSpPr>
          <p:cNvPr id="3" name="Date Placeholder 2">
            <a:extLst>
              <a:ext uri="{FF2B5EF4-FFF2-40B4-BE49-F238E27FC236}">
                <a16:creationId xmlns:a16="http://schemas.microsoft.com/office/drawing/2014/main" id="{7A5F3E9B-5AF8-2C25-6BF6-96F88E15147A}"/>
              </a:ext>
            </a:extLst>
          </p:cNvPr>
          <p:cNvSpPr>
            <a:spLocks noGrp="1"/>
          </p:cNvSpPr>
          <p:nvPr>
            <p:ph type="dt" sz="half" idx="10"/>
          </p:nvPr>
        </p:nvSpPr>
        <p:spPr/>
        <p:txBody>
          <a:bodyPr/>
          <a:lstStyle/>
          <a:p>
            <a:fld id="{4719FDB1-9615-4287-8D55-AF20E3CF298E}" type="datetime1">
              <a:rPr lang="vi-VN" smtClean="0"/>
              <a:t>04/02/2025</a:t>
            </a:fld>
            <a:endParaRPr lang="vi-VN"/>
          </a:p>
        </p:txBody>
      </p:sp>
      <p:sp>
        <p:nvSpPr>
          <p:cNvPr id="4" name="Footer Placeholder 3">
            <a:extLst>
              <a:ext uri="{FF2B5EF4-FFF2-40B4-BE49-F238E27FC236}">
                <a16:creationId xmlns:a16="http://schemas.microsoft.com/office/drawing/2014/main" id="{C22290CA-5397-9DB4-1223-46EAC77BD716}"/>
              </a:ext>
            </a:extLst>
          </p:cNvPr>
          <p:cNvSpPr>
            <a:spLocks noGrp="1"/>
          </p:cNvSpPr>
          <p:nvPr>
            <p:ph type="ftr" sz="quarter" idx="11"/>
          </p:nvPr>
        </p:nvSpPr>
        <p:spPr/>
        <p:txBody>
          <a:bodyPr/>
          <a:lstStyle/>
          <a:p>
            <a:r>
              <a:rPr lang="vi-VN"/>
              <a:t>Chương 3. Lập trình hướng đối tượng trong C#</a:t>
            </a:r>
          </a:p>
        </p:txBody>
      </p:sp>
      <p:sp>
        <p:nvSpPr>
          <p:cNvPr id="5" name="Slide Number Placeholder 4">
            <a:extLst>
              <a:ext uri="{FF2B5EF4-FFF2-40B4-BE49-F238E27FC236}">
                <a16:creationId xmlns:a16="http://schemas.microsoft.com/office/drawing/2014/main" id="{ACCAC730-3151-D286-AFDB-DC38A37676C7}"/>
              </a:ext>
            </a:extLst>
          </p:cNvPr>
          <p:cNvSpPr>
            <a:spLocks noGrp="1"/>
          </p:cNvSpPr>
          <p:nvPr>
            <p:ph type="sldNum" sz="quarter" idx="12"/>
          </p:nvPr>
        </p:nvSpPr>
        <p:spPr/>
        <p:txBody>
          <a:bodyPr/>
          <a:lstStyle/>
          <a:p>
            <a:fld id="{5AB95402-1E0D-474E-8D8C-CBE7F053639E}" type="slidenum">
              <a:rPr lang="vi-VN" smtClean="0"/>
              <a:pPr/>
              <a:t>18</a:t>
            </a:fld>
            <a:r>
              <a:rPr lang="vi-VN"/>
              <a:t>/33</a:t>
            </a:r>
          </a:p>
        </p:txBody>
      </p:sp>
      <p:sp>
        <p:nvSpPr>
          <p:cNvPr id="6" name="Title 5">
            <a:extLst>
              <a:ext uri="{FF2B5EF4-FFF2-40B4-BE49-F238E27FC236}">
                <a16:creationId xmlns:a16="http://schemas.microsoft.com/office/drawing/2014/main" id="{28363878-9749-2D4E-C566-A1F6AD0982D8}"/>
              </a:ext>
            </a:extLst>
          </p:cNvPr>
          <p:cNvSpPr>
            <a:spLocks noGrp="1"/>
          </p:cNvSpPr>
          <p:nvPr>
            <p:ph type="title"/>
          </p:nvPr>
        </p:nvSpPr>
        <p:spPr/>
        <p:txBody>
          <a:bodyPr/>
          <a:lstStyle/>
          <a:p>
            <a:r>
              <a:rPr lang="en-VN" dirty="0"/>
              <a:t>Phương thức khởi tạo, huỷ đối tượng</a:t>
            </a:r>
          </a:p>
        </p:txBody>
      </p:sp>
    </p:spTree>
    <p:extLst>
      <p:ext uri="{BB962C8B-B14F-4D97-AF65-F5344CB8AC3E}">
        <p14:creationId xmlns:p14="http://schemas.microsoft.com/office/powerpoint/2010/main" val="28156791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A38F7D0-1274-44A8-A4FE-268EC312DAE9}"/>
              </a:ext>
            </a:extLst>
          </p:cNvPr>
          <p:cNvSpPr>
            <a:spLocks noGrp="1"/>
          </p:cNvSpPr>
          <p:nvPr>
            <p:ph type="dt" sz="half" idx="10"/>
          </p:nvPr>
        </p:nvSpPr>
        <p:spPr/>
        <p:txBody>
          <a:bodyPr/>
          <a:lstStyle/>
          <a:p>
            <a:fld id="{4719FDB1-9615-4287-8D55-AF20E3CF298E}" type="datetime1">
              <a:rPr lang="vi-VN" smtClean="0"/>
              <a:t>04/02/2025</a:t>
            </a:fld>
            <a:endParaRPr lang="vi-VN"/>
          </a:p>
        </p:txBody>
      </p:sp>
      <p:sp>
        <p:nvSpPr>
          <p:cNvPr id="4" name="Footer Placeholder 3">
            <a:extLst>
              <a:ext uri="{FF2B5EF4-FFF2-40B4-BE49-F238E27FC236}">
                <a16:creationId xmlns:a16="http://schemas.microsoft.com/office/drawing/2014/main" id="{9B0A867D-33A8-4BB3-AE31-2F8F77269666}"/>
              </a:ext>
            </a:extLst>
          </p:cNvPr>
          <p:cNvSpPr>
            <a:spLocks noGrp="1"/>
          </p:cNvSpPr>
          <p:nvPr>
            <p:ph type="ftr" sz="quarter" idx="11"/>
          </p:nvPr>
        </p:nvSpPr>
        <p:spPr/>
        <p:txBody>
          <a:bodyPr/>
          <a:lstStyle/>
          <a:p>
            <a:r>
              <a:rPr lang="vi-VN"/>
              <a:t>Chương 3. Lập trình hướng đối tượng trong C#</a:t>
            </a:r>
          </a:p>
        </p:txBody>
      </p:sp>
      <p:sp>
        <p:nvSpPr>
          <p:cNvPr id="5" name="Slide Number Placeholder 4">
            <a:extLst>
              <a:ext uri="{FF2B5EF4-FFF2-40B4-BE49-F238E27FC236}">
                <a16:creationId xmlns:a16="http://schemas.microsoft.com/office/drawing/2014/main" id="{05BF6F4C-0CCB-406B-BB2B-3770477E3515}"/>
              </a:ext>
            </a:extLst>
          </p:cNvPr>
          <p:cNvSpPr>
            <a:spLocks noGrp="1"/>
          </p:cNvSpPr>
          <p:nvPr>
            <p:ph type="sldNum" sz="quarter" idx="12"/>
          </p:nvPr>
        </p:nvSpPr>
        <p:spPr/>
        <p:txBody>
          <a:bodyPr/>
          <a:lstStyle/>
          <a:p>
            <a:fld id="{5AB95402-1E0D-474E-8D8C-CBE7F053639E}" type="slidenum">
              <a:rPr lang="vi-VN" smtClean="0"/>
              <a:pPr/>
              <a:t>19</a:t>
            </a:fld>
            <a:r>
              <a:rPr lang="vi-VN"/>
              <a:t>/33</a:t>
            </a:r>
          </a:p>
        </p:txBody>
      </p:sp>
      <p:sp>
        <p:nvSpPr>
          <p:cNvPr id="6" name="Title 5">
            <a:extLst>
              <a:ext uri="{FF2B5EF4-FFF2-40B4-BE49-F238E27FC236}">
                <a16:creationId xmlns:a16="http://schemas.microsoft.com/office/drawing/2014/main" id="{88B60847-7DB6-4D7F-BCD8-79151993A65D}"/>
              </a:ext>
            </a:extLst>
          </p:cNvPr>
          <p:cNvSpPr>
            <a:spLocks noGrp="1"/>
          </p:cNvSpPr>
          <p:nvPr>
            <p:ph type="title"/>
          </p:nvPr>
        </p:nvSpPr>
        <p:spPr/>
        <p:txBody>
          <a:bodyPr/>
          <a:lstStyle/>
          <a:p>
            <a:r>
              <a:rPr lang="vi-VN"/>
              <a:t>3.1.2 Phương thức khởi tạo, huỷ đối tượng</a:t>
            </a:r>
            <a:endParaRPr lang="en-US"/>
          </a:p>
        </p:txBody>
      </p:sp>
      <p:sp>
        <p:nvSpPr>
          <p:cNvPr id="7" name="Content Placeholder 2">
            <a:extLst>
              <a:ext uri="{FF2B5EF4-FFF2-40B4-BE49-F238E27FC236}">
                <a16:creationId xmlns:a16="http://schemas.microsoft.com/office/drawing/2014/main" id="{144407B9-2567-49B0-80B7-F04E4B30DF7A}"/>
              </a:ext>
            </a:extLst>
          </p:cNvPr>
          <p:cNvSpPr txBox="1">
            <a:spLocks/>
          </p:cNvSpPr>
          <p:nvPr/>
        </p:nvSpPr>
        <p:spPr bwMode="auto">
          <a:xfrm>
            <a:off x="348072" y="1123299"/>
            <a:ext cx="8256376" cy="5740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just" rtl="0" eaLnBrk="1" fontAlgn="base" hangingPunct="1">
              <a:spcBef>
                <a:spcPct val="20000"/>
              </a:spcBef>
              <a:spcAft>
                <a:spcPct val="0"/>
              </a:spcAft>
              <a:buClr>
                <a:schemeClr val="accent2"/>
              </a:buClr>
              <a:buFont typeface="Wingdings" pitchFamily="2" charset="2"/>
              <a:buChar char="o"/>
              <a:defRPr lang="en-GB" sz="2800">
                <a:solidFill>
                  <a:schemeClr val="tx1"/>
                </a:solidFill>
                <a:latin typeface="+mn-lt"/>
                <a:ea typeface="+mn-ea"/>
                <a:cs typeface="+mn-cs"/>
              </a:defRPr>
            </a:lvl1pPr>
            <a:lvl2pPr marL="908050" indent="-436563" algn="just" rtl="0" eaLnBrk="1" fontAlgn="base" hangingPunct="1">
              <a:spcBef>
                <a:spcPct val="15000"/>
              </a:spcBef>
              <a:spcAft>
                <a:spcPct val="0"/>
              </a:spcAft>
              <a:buClr>
                <a:schemeClr val="accent2"/>
              </a:buClr>
              <a:buSzPct val="80000"/>
              <a:buFont typeface="Wingdings" pitchFamily="2" charset="2"/>
              <a:buChar char="n"/>
              <a:defRPr lang="en-GB" sz="2400">
                <a:solidFill>
                  <a:srgbClr val="0000FF"/>
                </a:solidFill>
                <a:latin typeface="+mn-lt"/>
                <a:cs typeface="+mn-cs"/>
              </a:defRPr>
            </a:lvl2pPr>
            <a:lvl3pPr marL="1304925" indent="-395288" algn="just" rtl="0" eaLnBrk="1" fontAlgn="base" hangingPunct="1">
              <a:spcBef>
                <a:spcPct val="15000"/>
              </a:spcBef>
              <a:spcAft>
                <a:spcPct val="0"/>
              </a:spcAft>
              <a:buClr>
                <a:schemeClr val="accent2"/>
              </a:buClr>
              <a:buSzPct val="80000"/>
              <a:buFont typeface="Wingdings" pitchFamily="2" charset="2"/>
              <a:buChar char="o"/>
              <a:defRPr lang="en-GB" sz="2000">
                <a:solidFill>
                  <a:srgbClr val="002060"/>
                </a:solidFill>
                <a:latin typeface="+mn-lt"/>
                <a:cs typeface="+mn-cs"/>
              </a:defRPr>
            </a:lvl3pPr>
            <a:lvl4pPr marL="1693863" indent="-387350" algn="just" rtl="0" eaLnBrk="1" fontAlgn="base" hangingPunct="1">
              <a:spcBef>
                <a:spcPct val="15000"/>
              </a:spcBef>
              <a:spcAft>
                <a:spcPct val="0"/>
              </a:spcAft>
              <a:buClr>
                <a:schemeClr val="accent2"/>
              </a:buClr>
              <a:buSzPct val="80000"/>
              <a:buFont typeface="Wingdings" pitchFamily="2" charset="2"/>
              <a:buChar char="n"/>
              <a:defRPr lang="en-GB" sz="1800">
                <a:solidFill>
                  <a:srgbClr val="000066"/>
                </a:solidFill>
                <a:latin typeface="+mn-lt"/>
                <a:cs typeface="+mn-cs"/>
              </a:defRPr>
            </a:lvl4pPr>
            <a:lvl5pPr marL="2093913" indent="-398463" algn="just" rtl="0" eaLnBrk="1" fontAlgn="base" hangingPunct="1">
              <a:spcBef>
                <a:spcPct val="15000"/>
              </a:spcBef>
              <a:spcAft>
                <a:spcPct val="0"/>
              </a:spcAft>
              <a:buClr>
                <a:schemeClr val="accent2"/>
              </a:buClr>
              <a:buFont typeface="Wingdings" pitchFamily="2" charset="2"/>
              <a:buChar char="§"/>
              <a:defRPr sz="1800">
                <a:solidFill>
                  <a:schemeClr val="tx1">
                    <a:lumMod val="95000"/>
                    <a:lumOff val="5000"/>
                  </a:schemeClr>
                </a:solidFill>
                <a:latin typeface="+mj-lt"/>
                <a:cs typeface="+mn-cs"/>
              </a:defRPr>
            </a:lvl5pPr>
            <a:lvl6pPr marL="25511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6pPr>
            <a:lvl7pPr marL="30083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7pPr>
            <a:lvl8pPr marL="34655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8pPr>
            <a:lvl9pPr marL="39227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9pPr>
          </a:lstStyle>
          <a:p>
            <a:r>
              <a:rPr lang="vi-VN" sz="2200" dirty="0">
                <a:solidFill>
                  <a:srgbClr val="222C37"/>
                </a:solidFill>
                <a:latin typeface="Times New Roman" panose="02020603050405020304" pitchFamily="18" charset="0"/>
                <a:cs typeface="Times New Roman" panose="02020603050405020304" pitchFamily="18" charset="0"/>
              </a:rPr>
              <a:t>Có 2 loại phương thức khởi tạo:</a:t>
            </a:r>
          </a:p>
          <a:p>
            <a:pPr marL="0" indent="0">
              <a:buNone/>
            </a:pPr>
            <a:r>
              <a:rPr lang="vi-VN" sz="2200" b="1" dirty="0">
                <a:solidFill>
                  <a:srgbClr val="222C37"/>
                </a:solidFill>
                <a:latin typeface="Times New Roman" panose="02020603050405020304" pitchFamily="18" charset="0"/>
                <a:cs typeface="Times New Roman" panose="02020603050405020304" pitchFamily="18" charset="0"/>
              </a:rPr>
              <a:t>Phương thức khởi tạo không </a:t>
            </a:r>
            <a:r>
              <a:rPr lang="en-US" sz="2200" b="1" dirty="0" err="1">
                <a:solidFill>
                  <a:srgbClr val="222C37"/>
                </a:solidFill>
                <a:latin typeface="Times New Roman" panose="02020603050405020304" pitchFamily="18" charset="0"/>
                <a:cs typeface="Times New Roman" panose="02020603050405020304" pitchFamily="18" charset="0"/>
              </a:rPr>
              <a:t>tham</a:t>
            </a:r>
            <a:r>
              <a:rPr lang="vi-VN" sz="2200" b="1" dirty="0">
                <a:solidFill>
                  <a:srgbClr val="222C37"/>
                </a:solidFill>
                <a:latin typeface="Times New Roman" panose="02020603050405020304" pitchFamily="18" charset="0"/>
                <a:cs typeface="Times New Roman" panose="02020603050405020304" pitchFamily="18" charset="0"/>
              </a:rPr>
              <a:t> số:</a:t>
            </a:r>
          </a:p>
          <a:p>
            <a:pPr marL="800100" lvl="1" indent="-342900">
              <a:buFont typeface="Wingdings" panose="05000000000000000000" pitchFamily="2" charset="2"/>
              <a:buChar char="ü"/>
            </a:pPr>
            <a:r>
              <a:rPr lang="vi-VN" sz="2200" dirty="0">
                <a:solidFill>
                  <a:srgbClr val="222C37"/>
                </a:solidFill>
                <a:latin typeface="Times New Roman" panose="02020603050405020304" pitchFamily="18" charset="0"/>
                <a:cs typeface="Times New Roman" panose="02020603050405020304" pitchFamily="18" charset="0"/>
              </a:rPr>
              <a:t>Là phương thức khởi tạo không có bất kỳ tham số truyền vào nào.</a:t>
            </a:r>
            <a:endParaRPr lang="en-US" sz="2200" dirty="0">
              <a:solidFill>
                <a:srgbClr val="222C37"/>
              </a:solidFill>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ü"/>
            </a:pPr>
            <a:r>
              <a:rPr lang="vi-VN" sz="2200" dirty="0">
                <a:solidFill>
                  <a:srgbClr val="222C37"/>
                </a:solidFill>
                <a:latin typeface="Times New Roman" panose="02020603050405020304" pitchFamily="18" charset="0"/>
                <a:cs typeface="Times New Roman" panose="02020603050405020304" pitchFamily="18" charset="0"/>
              </a:rPr>
              <a:t>Thường dùng để khởi tạo các giá trị mặc định cho các thuộc tính bên trong </a:t>
            </a:r>
            <a:r>
              <a:rPr lang="vi-VN" sz="2200" dirty="0">
                <a:latin typeface="Times New Roman" panose="02020603050405020304" pitchFamily="18" charset="0"/>
                <a:cs typeface="Times New Roman" panose="02020603050405020304" pitchFamily="18" charset="0"/>
              </a:rPr>
              <a:t>class</a:t>
            </a:r>
            <a:r>
              <a:rPr lang="vi-VN" sz="2200" dirty="0">
                <a:solidFill>
                  <a:srgbClr val="222C37"/>
                </a:solidFill>
                <a:latin typeface="Times New Roman" panose="02020603050405020304" pitchFamily="18" charset="0"/>
                <a:cs typeface="Times New Roman" panose="02020603050405020304" pitchFamily="18" charset="0"/>
              </a:rPr>
              <a:t> khi khởi tạo đối tượng</a:t>
            </a:r>
            <a:r>
              <a:rPr lang="en-US" sz="2200" dirty="0">
                <a:solidFill>
                  <a:srgbClr val="222C37"/>
                </a:solidFill>
                <a:latin typeface="Times New Roman" panose="02020603050405020304" pitchFamily="18" charset="0"/>
                <a:cs typeface="Times New Roman" panose="02020603050405020304" pitchFamily="18" charset="0"/>
              </a:rPr>
              <a:t>.</a:t>
            </a:r>
          </a:p>
          <a:p>
            <a:pPr marL="0" indent="0">
              <a:buNone/>
            </a:pPr>
            <a:r>
              <a:rPr lang="vi-VN" sz="2200" b="1" dirty="0">
                <a:solidFill>
                  <a:srgbClr val="222C37"/>
                </a:solidFill>
                <a:latin typeface="Times New Roman" panose="02020603050405020304" pitchFamily="18" charset="0"/>
                <a:cs typeface="Times New Roman" panose="02020603050405020304" pitchFamily="18" charset="0"/>
              </a:rPr>
              <a:t>Phương thức khởi tạo có </a:t>
            </a:r>
            <a:r>
              <a:rPr lang="en-US" sz="2200" b="1" dirty="0" err="1">
                <a:solidFill>
                  <a:srgbClr val="222C37"/>
                </a:solidFill>
                <a:latin typeface="Times New Roman" panose="02020603050405020304" pitchFamily="18" charset="0"/>
                <a:cs typeface="Times New Roman" panose="02020603050405020304" pitchFamily="18" charset="0"/>
              </a:rPr>
              <a:t>tham</a:t>
            </a:r>
            <a:r>
              <a:rPr lang="vi-VN" sz="2200" b="1" dirty="0">
                <a:solidFill>
                  <a:srgbClr val="222C37"/>
                </a:solidFill>
                <a:latin typeface="Times New Roman" panose="02020603050405020304" pitchFamily="18" charset="0"/>
                <a:cs typeface="Times New Roman" panose="02020603050405020304" pitchFamily="18" charset="0"/>
              </a:rPr>
              <a:t> số:</a:t>
            </a:r>
          </a:p>
          <a:p>
            <a:pPr marL="800100" lvl="1" indent="-342900">
              <a:buFont typeface="Wingdings" panose="05000000000000000000" pitchFamily="2" charset="2"/>
              <a:buChar char="ü"/>
            </a:pPr>
            <a:r>
              <a:rPr lang="vi-VN" sz="2200" dirty="0">
                <a:solidFill>
                  <a:srgbClr val="222C37"/>
                </a:solidFill>
                <a:latin typeface="Times New Roman" panose="02020603050405020304" pitchFamily="18" charset="0"/>
                <a:cs typeface="Times New Roman" panose="02020603050405020304" pitchFamily="18" charset="0"/>
              </a:rPr>
              <a:t>Là phương thức khởi tạo có tham số truyền vào. Và khi khởi tạo đối tượng để phương thức này được gọi ta cần truyền đầy đủ các tham số.</a:t>
            </a:r>
          </a:p>
          <a:p>
            <a:pPr marL="800100" lvl="1" indent="-342900">
              <a:buFont typeface="Wingdings" panose="05000000000000000000" pitchFamily="2" charset="2"/>
              <a:buChar char="ü"/>
            </a:pPr>
            <a:r>
              <a:rPr lang="vi-VN" sz="2200" dirty="0">
                <a:solidFill>
                  <a:srgbClr val="222C37"/>
                </a:solidFill>
                <a:latin typeface="Times New Roman" panose="02020603050405020304" pitchFamily="18" charset="0"/>
                <a:cs typeface="Times New Roman" panose="02020603050405020304" pitchFamily="18" charset="0"/>
              </a:rPr>
              <a:t>Thường dùng để khởi tạo các giá trị cho các thuộc thuộc tính bên trong </a:t>
            </a:r>
            <a:r>
              <a:rPr lang="vi-VN" sz="2200" dirty="0">
                <a:latin typeface="Times New Roman" panose="02020603050405020304" pitchFamily="18" charset="0"/>
                <a:cs typeface="Times New Roman" panose="02020603050405020304" pitchFamily="18" charset="0"/>
              </a:rPr>
              <a:t>class</a:t>
            </a:r>
            <a:r>
              <a:rPr lang="vi-VN" sz="2200" dirty="0">
                <a:solidFill>
                  <a:srgbClr val="222C37"/>
                </a:solidFill>
                <a:latin typeface="Times New Roman" panose="02020603050405020304" pitchFamily="18" charset="0"/>
                <a:cs typeface="Times New Roman" panose="02020603050405020304" pitchFamily="18" charset="0"/>
              </a:rPr>
              <a:t> khi khởi tạo đối tượng (các giá trị này do người khởi tạo đối tượng truyền vào).</a:t>
            </a:r>
          </a:p>
        </p:txBody>
      </p:sp>
    </p:spTree>
    <p:extLst>
      <p:ext uri="{BB962C8B-B14F-4D97-AF65-F5344CB8AC3E}">
        <p14:creationId xmlns:p14="http://schemas.microsoft.com/office/powerpoint/2010/main" val="42733750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357285"/>
            <a:ext cx="8382000" cy="685800"/>
          </a:xfrm>
        </p:spPr>
        <p:txBody>
          <a:bodyPr/>
          <a:lstStyle/>
          <a:p>
            <a:r>
              <a:rPr lang="en-US"/>
              <a:t>Phương thức khởi tạo mặc định</a:t>
            </a:r>
          </a:p>
        </p:txBody>
      </p:sp>
      <p:sp>
        <p:nvSpPr>
          <p:cNvPr id="3" name="Content Placeholder 2"/>
          <p:cNvSpPr>
            <a:spLocks noGrp="1"/>
          </p:cNvSpPr>
          <p:nvPr>
            <p:ph idx="1"/>
          </p:nvPr>
        </p:nvSpPr>
        <p:spPr>
          <a:xfrm>
            <a:off x="762000" y="1143000"/>
            <a:ext cx="7698432" cy="5181600"/>
          </a:xfrm>
        </p:spPr>
        <p:txBody>
          <a:bodyPr/>
          <a:lstStyle/>
          <a:p>
            <a:r>
              <a:rPr lang="en-US" sz="2200"/>
              <a:t>K</a:t>
            </a:r>
            <a:r>
              <a:rPr lang="vi-VN" sz="2200"/>
              <a:t>hi tạo đối tượng của lớp mà không khai báo phương thức khởi tạo (constructor), C# sẽ tự động cung cấp một phương thức khởi tạo mặc định (default constructor). Phương thức khởi tạo mặc định này không có tham số và sẽ tự động khởi tạo các thuộc tính của đối tượng với các giá trị mặc định.</a:t>
            </a:r>
            <a:endParaRPr lang="en-US" sz="2200"/>
          </a:p>
          <a:p>
            <a:pPr marL="0" indent="0">
              <a:buNone/>
            </a:pPr>
            <a:endParaRPr lang="en-US" sz="2200"/>
          </a:p>
        </p:txBody>
      </p:sp>
      <p:sp>
        <p:nvSpPr>
          <p:cNvPr id="4" name="Date Placeholder 3"/>
          <p:cNvSpPr>
            <a:spLocks noGrp="1"/>
          </p:cNvSpPr>
          <p:nvPr>
            <p:ph type="dt" sz="half" idx="10"/>
          </p:nvPr>
        </p:nvSpPr>
        <p:spPr/>
        <p:txBody>
          <a:bodyPr/>
          <a:lstStyle/>
          <a:p>
            <a:fld id="{66AD0679-876F-4F99-BB62-8649478A9496}" type="datetime1">
              <a:rPr lang="vi-VN" smtClean="0"/>
              <a:t>04/02/2025</a:t>
            </a:fld>
            <a:endParaRPr lang="vi-VN"/>
          </a:p>
        </p:txBody>
      </p:sp>
      <p:sp>
        <p:nvSpPr>
          <p:cNvPr id="5" name="Footer Placeholder 4"/>
          <p:cNvSpPr>
            <a:spLocks noGrp="1"/>
          </p:cNvSpPr>
          <p:nvPr>
            <p:ph type="ftr" sz="quarter" idx="11"/>
          </p:nvPr>
        </p:nvSpPr>
        <p:spPr/>
        <p:txBody>
          <a:bodyPr/>
          <a:lstStyle/>
          <a:p>
            <a:r>
              <a:rPr lang="vi-VN"/>
              <a:t>Chương 3. Lập trình hướng đối tượng trong C#</a:t>
            </a:r>
          </a:p>
        </p:txBody>
      </p:sp>
      <p:graphicFrame>
        <p:nvGraphicFramePr>
          <p:cNvPr id="6" name="Table 5"/>
          <p:cNvGraphicFramePr>
            <a:graphicFrameLocks noGrp="1"/>
          </p:cNvGraphicFramePr>
          <p:nvPr>
            <p:extLst>
              <p:ext uri="{D42A27DB-BD31-4B8C-83A1-F6EECF244321}">
                <p14:modId xmlns:p14="http://schemas.microsoft.com/office/powerpoint/2010/main" val="2652354547"/>
              </p:ext>
            </p:extLst>
          </p:nvPr>
        </p:nvGraphicFramePr>
        <p:xfrm>
          <a:off x="1403648" y="3296541"/>
          <a:ext cx="6521152" cy="2940770"/>
        </p:xfrm>
        <a:graphic>
          <a:graphicData uri="http://schemas.openxmlformats.org/drawingml/2006/table">
            <a:tbl>
              <a:tblPr firstRow="1" bandRow="1">
                <a:tableStyleId>{5C22544A-7EE6-4342-B048-85BDC9FD1C3A}</a:tableStyleId>
              </a:tblPr>
              <a:tblGrid>
                <a:gridCol w="3260576">
                  <a:extLst>
                    <a:ext uri="{9D8B030D-6E8A-4147-A177-3AD203B41FA5}">
                      <a16:colId xmlns:a16="http://schemas.microsoft.com/office/drawing/2014/main" val="20000"/>
                    </a:ext>
                  </a:extLst>
                </a:gridCol>
                <a:gridCol w="3260576">
                  <a:extLst>
                    <a:ext uri="{9D8B030D-6E8A-4147-A177-3AD203B41FA5}">
                      <a16:colId xmlns:a16="http://schemas.microsoft.com/office/drawing/2014/main" val="20001"/>
                    </a:ext>
                  </a:extLst>
                </a:gridCol>
              </a:tblGrid>
              <a:tr h="561229">
                <a:tc>
                  <a:txBody>
                    <a:bodyPr/>
                    <a:lstStyle/>
                    <a:p>
                      <a:pPr algn="ctr"/>
                      <a:r>
                        <a:rPr lang="en-US" sz="2400"/>
                        <a:t>Kiểu</a:t>
                      </a:r>
                      <a:r>
                        <a:rPr lang="en-US" sz="2400" baseline="0"/>
                        <a:t> dữ liệu</a:t>
                      </a:r>
                      <a:endParaRPr lang="en-US" sz="2400"/>
                    </a:p>
                  </a:txBody>
                  <a:tcPr/>
                </a:tc>
                <a:tc>
                  <a:txBody>
                    <a:bodyPr/>
                    <a:lstStyle/>
                    <a:p>
                      <a:pPr algn="ctr"/>
                      <a:r>
                        <a:rPr lang="en-US" sz="2400"/>
                        <a:t>Giá</a:t>
                      </a:r>
                      <a:r>
                        <a:rPr lang="en-US" sz="2400" baseline="0"/>
                        <a:t> trị mặc định</a:t>
                      </a:r>
                      <a:endParaRPr lang="en-US" sz="2400"/>
                    </a:p>
                  </a:txBody>
                  <a:tcPr/>
                </a:tc>
                <a:extLst>
                  <a:ext uri="{0D108BD9-81ED-4DB2-BD59-A6C34878D82A}">
                    <a16:rowId xmlns:a16="http://schemas.microsoft.com/office/drawing/2014/main" val="10000"/>
                  </a:ext>
                </a:extLst>
              </a:tr>
              <a:tr h="695854">
                <a:tc>
                  <a:txBody>
                    <a:bodyPr/>
                    <a:lstStyle/>
                    <a:p>
                      <a:r>
                        <a:rPr lang="en-US" sz="2400"/>
                        <a:t>Numeric (int, long,…)</a:t>
                      </a:r>
                    </a:p>
                  </a:txBody>
                  <a:tcPr/>
                </a:tc>
                <a:tc>
                  <a:txBody>
                    <a:bodyPr/>
                    <a:lstStyle/>
                    <a:p>
                      <a:r>
                        <a:rPr lang="en-US" sz="2400"/>
                        <a:t>0</a:t>
                      </a:r>
                    </a:p>
                  </a:txBody>
                  <a:tcPr/>
                </a:tc>
                <a:extLst>
                  <a:ext uri="{0D108BD9-81ED-4DB2-BD59-A6C34878D82A}">
                    <a16:rowId xmlns:a16="http://schemas.microsoft.com/office/drawing/2014/main" val="10001"/>
                  </a:ext>
                </a:extLst>
              </a:tr>
              <a:tr h="561229">
                <a:tc>
                  <a:txBody>
                    <a:bodyPr/>
                    <a:lstStyle/>
                    <a:p>
                      <a:r>
                        <a:rPr lang="en-US" sz="2400"/>
                        <a:t>bool</a:t>
                      </a:r>
                    </a:p>
                  </a:txBody>
                  <a:tcPr/>
                </a:tc>
                <a:tc>
                  <a:txBody>
                    <a:bodyPr/>
                    <a:lstStyle/>
                    <a:p>
                      <a:r>
                        <a:rPr lang="en-US" sz="2400"/>
                        <a:t>false</a:t>
                      </a:r>
                    </a:p>
                  </a:txBody>
                  <a:tcPr/>
                </a:tc>
                <a:extLst>
                  <a:ext uri="{0D108BD9-81ED-4DB2-BD59-A6C34878D82A}">
                    <a16:rowId xmlns:a16="http://schemas.microsoft.com/office/drawing/2014/main" val="10002"/>
                  </a:ext>
                </a:extLst>
              </a:tr>
              <a:tr h="561229">
                <a:tc>
                  <a:txBody>
                    <a:bodyPr/>
                    <a:lstStyle/>
                    <a:p>
                      <a:r>
                        <a:rPr lang="en-US" sz="2400"/>
                        <a:t>char</a:t>
                      </a:r>
                    </a:p>
                  </a:txBody>
                  <a:tcPr/>
                </a:tc>
                <a:tc>
                  <a:txBody>
                    <a:bodyPr/>
                    <a:lstStyle/>
                    <a:p>
                      <a:r>
                        <a:rPr lang="en-US" sz="2400"/>
                        <a:t>‘\0’ (null)</a:t>
                      </a:r>
                    </a:p>
                  </a:txBody>
                  <a:tcPr/>
                </a:tc>
                <a:extLst>
                  <a:ext uri="{0D108BD9-81ED-4DB2-BD59-A6C34878D82A}">
                    <a16:rowId xmlns:a16="http://schemas.microsoft.com/office/drawing/2014/main" val="10003"/>
                  </a:ext>
                </a:extLst>
              </a:tr>
              <a:tr h="561229">
                <a:tc>
                  <a:txBody>
                    <a:bodyPr/>
                    <a:lstStyle/>
                    <a:p>
                      <a:r>
                        <a:rPr lang="en-US" sz="2400"/>
                        <a:t>reference</a:t>
                      </a:r>
                    </a:p>
                  </a:txBody>
                  <a:tcPr/>
                </a:tc>
                <a:tc>
                  <a:txBody>
                    <a:bodyPr/>
                    <a:lstStyle/>
                    <a:p>
                      <a:r>
                        <a:rPr lang="en-US" sz="2400"/>
                        <a:t>null</a:t>
                      </a:r>
                    </a:p>
                  </a:txBody>
                  <a:tcPr/>
                </a:tc>
                <a:extLst>
                  <a:ext uri="{0D108BD9-81ED-4DB2-BD59-A6C34878D82A}">
                    <a16:rowId xmlns:a16="http://schemas.microsoft.com/office/drawing/2014/main" val="10004"/>
                  </a:ext>
                </a:extLst>
              </a:tr>
            </a:tbl>
          </a:graphicData>
        </a:graphic>
      </p:graphicFrame>
      <p:sp>
        <p:nvSpPr>
          <p:cNvPr id="9" name="Slide Number Placeholder 8"/>
          <p:cNvSpPr>
            <a:spLocks noGrp="1"/>
          </p:cNvSpPr>
          <p:nvPr>
            <p:ph type="sldNum" sz="quarter" idx="12"/>
          </p:nvPr>
        </p:nvSpPr>
        <p:spPr/>
        <p:txBody>
          <a:bodyPr/>
          <a:lstStyle/>
          <a:p>
            <a:fld id="{5AB95402-1E0D-474E-8D8C-CBE7F053639E}" type="slidenum">
              <a:rPr lang="vi-VN" smtClean="0"/>
              <a:pPr/>
              <a:t>20</a:t>
            </a:fld>
            <a:r>
              <a:rPr lang="vi-VN"/>
              <a:t>/33</a:t>
            </a:r>
          </a:p>
        </p:txBody>
      </p:sp>
    </p:spTree>
    <p:extLst>
      <p:ext uri="{BB962C8B-B14F-4D97-AF65-F5344CB8AC3E}">
        <p14:creationId xmlns:p14="http://schemas.microsoft.com/office/powerpoint/2010/main" val="2183767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347120"/>
            <a:ext cx="8382000" cy="685800"/>
          </a:xfrm>
        </p:spPr>
        <p:txBody>
          <a:bodyPr/>
          <a:lstStyle/>
          <a:p>
            <a:r>
              <a:rPr lang="en-US"/>
              <a:t>Xây dựng phương thức khởi tạo</a:t>
            </a:r>
          </a:p>
        </p:txBody>
      </p:sp>
      <p:sp>
        <p:nvSpPr>
          <p:cNvPr id="3" name="Content Placeholder 2"/>
          <p:cNvSpPr>
            <a:spLocks noGrp="1"/>
          </p:cNvSpPr>
          <p:nvPr>
            <p:ph idx="1"/>
          </p:nvPr>
        </p:nvSpPr>
        <p:spPr/>
        <p:txBody>
          <a:bodyPr/>
          <a:lstStyle/>
          <a:p>
            <a:r>
              <a:rPr lang="en-US" sz="2400" dirty="0" err="1"/>
              <a:t>Phương</a:t>
            </a:r>
            <a:r>
              <a:rPr lang="en-US" sz="2400" dirty="0"/>
              <a:t> </a:t>
            </a:r>
            <a:r>
              <a:rPr lang="en-US" sz="2400" dirty="0" err="1"/>
              <a:t>thức</a:t>
            </a:r>
            <a:r>
              <a:rPr lang="en-US" sz="2400" dirty="0"/>
              <a:t> </a:t>
            </a:r>
            <a:r>
              <a:rPr lang="en-US" sz="2400" dirty="0" err="1"/>
              <a:t>khởi</a:t>
            </a:r>
            <a:r>
              <a:rPr lang="en-US" sz="2400" dirty="0"/>
              <a:t> </a:t>
            </a:r>
            <a:r>
              <a:rPr lang="en-US" sz="2400" dirty="0" err="1"/>
              <a:t>tạo</a:t>
            </a:r>
            <a:r>
              <a:rPr lang="en-US" sz="2400" dirty="0"/>
              <a:t> </a:t>
            </a:r>
            <a:r>
              <a:rPr lang="en-US" sz="2400" b="1" dirty="0" err="1">
                <a:solidFill>
                  <a:srgbClr val="FF0000"/>
                </a:solidFill>
              </a:rPr>
              <a:t>có</a:t>
            </a:r>
            <a:r>
              <a:rPr lang="en-US" sz="2400" b="1" dirty="0">
                <a:solidFill>
                  <a:srgbClr val="FF0000"/>
                </a:solidFill>
              </a:rPr>
              <a:t> </a:t>
            </a:r>
            <a:r>
              <a:rPr lang="en-US" sz="2400" b="1" dirty="0" err="1">
                <a:solidFill>
                  <a:srgbClr val="FF0000"/>
                </a:solidFill>
              </a:rPr>
              <a:t>tên</a:t>
            </a:r>
            <a:r>
              <a:rPr lang="en-US" sz="2400" b="1" dirty="0">
                <a:solidFill>
                  <a:srgbClr val="FF0000"/>
                </a:solidFill>
              </a:rPr>
              <a:t> </a:t>
            </a:r>
            <a:r>
              <a:rPr lang="en-US" sz="2400" b="1" dirty="0" err="1">
                <a:solidFill>
                  <a:srgbClr val="FF0000"/>
                </a:solidFill>
              </a:rPr>
              <a:t>trùng</a:t>
            </a:r>
            <a:r>
              <a:rPr lang="en-US" sz="2400" b="1" dirty="0">
                <a:solidFill>
                  <a:srgbClr val="FF0000"/>
                </a:solidFill>
              </a:rPr>
              <a:t> </a:t>
            </a:r>
            <a:r>
              <a:rPr lang="en-US" sz="2400" b="1" dirty="0" err="1">
                <a:solidFill>
                  <a:srgbClr val="FF0000"/>
                </a:solidFill>
              </a:rPr>
              <a:t>với</a:t>
            </a:r>
            <a:r>
              <a:rPr lang="en-US" sz="2400" b="1" dirty="0">
                <a:solidFill>
                  <a:srgbClr val="FF0000"/>
                </a:solidFill>
              </a:rPr>
              <a:t> </a:t>
            </a:r>
            <a:r>
              <a:rPr lang="en-US" sz="2400" b="1" dirty="0" err="1">
                <a:solidFill>
                  <a:srgbClr val="FF0000"/>
                </a:solidFill>
              </a:rPr>
              <a:t>tên</a:t>
            </a:r>
            <a:r>
              <a:rPr lang="en-US" sz="2400" b="1" dirty="0">
                <a:solidFill>
                  <a:srgbClr val="FF0000"/>
                </a:solidFill>
              </a:rPr>
              <a:t> </a:t>
            </a:r>
            <a:r>
              <a:rPr lang="en-US" sz="2400" b="1" dirty="0" err="1">
                <a:solidFill>
                  <a:srgbClr val="FF0000"/>
                </a:solidFill>
              </a:rPr>
              <a:t>lớp</a:t>
            </a:r>
            <a:r>
              <a:rPr lang="en-US" sz="2400" dirty="0"/>
              <a:t>, </a:t>
            </a:r>
            <a:r>
              <a:rPr lang="en-US" sz="2400" dirty="0" err="1">
                <a:solidFill>
                  <a:srgbClr val="FF0000"/>
                </a:solidFill>
              </a:rPr>
              <a:t>không</a:t>
            </a:r>
            <a:r>
              <a:rPr lang="en-US" sz="2400" dirty="0">
                <a:solidFill>
                  <a:srgbClr val="FF0000"/>
                </a:solidFill>
              </a:rPr>
              <a:t> </a:t>
            </a:r>
            <a:r>
              <a:rPr lang="en-US" sz="2400" dirty="0" err="1">
                <a:solidFill>
                  <a:srgbClr val="FF0000"/>
                </a:solidFill>
              </a:rPr>
              <a:t>có</a:t>
            </a:r>
            <a:r>
              <a:rPr lang="en-US" sz="2400" dirty="0">
                <a:solidFill>
                  <a:srgbClr val="FF0000"/>
                </a:solidFill>
              </a:rPr>
              <a:t> </a:t>
            </a:r>
            <a:r>
              <a:rPr lang="en-US" sz="2400" dirty="0" err="1">
                <a:solidFill>
                  <a:srgbClr val="FF0000"/>
                </a:solidFill>
              </a:rPr>
              <a:t>kiểu</a:t>
            </a:r>
            <a:r>
              <a:rPr lang="en-US" sz="2400" dirty="0">
                <a:solidFill>
                  <a:srgbClr val="FF0000"/>
                </a:solidFill>
              </a:rPr>
              <a:t> </a:t>
            </a:r>
            <a:r>
              <a:rPr lang="en-US" sz="2400" dirty="0" err="1">
                <a:solidFill>
                  <a:srgbClr val="FF0000"/>
                </a:solidFill>
              </a:rPr>
              <a:t>trả</a:t>
            </a:r>
            <a:r>
              <a:rPr lang="en-US" sz="2400" dirty="0">
                <a:solidFill>
                  <a:srgbClr val="FF0000"/>
                </a:solidFill>
              </a:rPr>
              <a:t> </a:t>
            </a:r>
            <a:r>
              <a:rPr lang="en-US" sz="2400" dirty="0" err="1">
                <a:solidFill>
                  <a:srgbClr val="FF0000"/>
                </a:solidFill>
              </a:rPr>
              <a:t>về</a:t>
            </a:r>
            <a:r>
              <a:rPr lang="en-US" sz="2400" dirty="0"/>
              <a:t>, </a:t>
            </a:r>
            <a:r>
              <a:rPr lang="en-US" sz="2400" dirty="0" err="1">
                <a:solidFill>
                  <a:srgbClr val="FF0000"/>
                </a:solidFill>
              </a:rPr>
              <a:t>phạm</a:t>
            </a:r>
            <a:r>
              <a:rPr lang="en-US" sz="2400" dirty="0">
                <a:solidFill>
                  <a:srgbClr val="FF0000"/>
                </a:solidFill>
              </a:rPr>
              <a:t> vi </a:t>
            </a:r>
            <a:r>
              <a:rPr lang="en-US" sz="2400" dirty="0" err="1">
                <a:solidFill>
                  <a:srgbClr val="FF0000"/>
                </a:solidFill>
              </a:rPr>
              <a:t>truy</a:t>
            </a:r>
            <a:r>
              <a:rPr lang="en-US" sz="2400" dirty="0">
                <a:solidFill>
                  <a:srgbClr val="FF0000"/>
                </a:solidFill>
              </a:rPr>
              <a:t> </a:t>
            </a:r>
            <a:r>
              <a:rPr lang="en-US" sz="2400" dirty="0" err="1">
                <a:solidFill>
                  <a:srgbClr val="FF0000"/>
                </a:solidFill>
              </a:rPr>
              <a:t>cập</a:t>
            </a:r>
            <a:r>
              <a:rPr lang="en-US" sz="2400" dirty="0">
                <a:solidFill>
                  <a:srgbClr val="FF0000"/>
                </a:solidFill>
              </a:rPr>
              <a:t> </a:t>
            </a:r>
            <a:r>
              <a:rPr lang="en-US" sz="2400" dirty="0" err="1">
                <a:solidFill>
                  <a:srgbClr val="FF0000"/>
                </a:solidFill>
              </a:rPr>
              <a:t>thường</a:t>
            </a:r>
            <a:r>
              <a:rPr lang="en-US" sz="2400" dirty="0">
                <a:solidFill>
                  <a:srgbClr val="FF0000"/>
                </a:solidFill>
              </a:rPr>
              <a:t> là public</a:t>
            </a:r>
          </a:p>
          <a:p>
            <a:r>
              <a:rPr lang="en-US" sz="2400" dirty="0" err="1"/>
              <a:t>Có</a:t>
            </a:r>
            <a:r>
              <a:rPr lang="en-US" sz="2400" dirty="0"/>
              <a:t> </a:t>
            </a:r>
            <a:r>
              <a:rPr lang="en-US" sz="2400" dirty="0" err="1"/>
              <a:t>thể</a:t>
            </a:r>
            <a:r>
              <a:rPr lang="en-US" sz="2400" dirty="0"/>
              <a:t> </a:t>
            </a:r>
            <a:r>
              <a:rPr lang="en-US" sz="2400" dirty="0" err="1"/>
              <a:t>có</a:t>
            </a:r>
            <a:r>
              <a:rPr lang="en-US" sz="2400" dirty="0"/>
              <a:t> </a:t>
            </a:r>
            <a:r>
              <a:rPr lang="en-US" sz="2400" dirty="0" err="1"/>
              <a:t>nhiều</a:t>
            </a:r>
            <a:r>
              <a:rPr lang="en-US" sz="2400" dirty="0"/>
              <a:t> </a:t>
            </a:r>
            <a:r>
              <a:rPr lang="en-US" sz="2400" dirty="0" err="1"/>
              <a:t>phương</a:t>
            </a:r>
            <a:r>
              <a:rPr lang="en-US" sz="2400" dirty="0"/>
              <a:t> </a:t>
            </a:r>
            <a:r>
              <a:rPr lang="en-US" sz="2400" dirty="0" err="1"/>
              <a:t>thức</a:t>
            </a:r>
            <a:r>
              <a:rPr lang="en-US" sz="2400" dirty="0"/>
              <a:t> </a:t>
            </a:r>
            <a:r>
              <a:rPr lang="en-US" sz="2400" dirty="0" err="1"/>
              <a:t>khởi</a:t>
            </a:r>
            <a:r>
              <a:rPr lang="en-US" sz="2400" dirty="0"/>
              <a:t> </a:t>
            </a:r>
            <a:r>
              <a:rPr lang="en-US" sz="2400" dirty="0" err="1"/>
              <a:t>tạo</a:t>
            </a:r>
            <a:r>
              <a:rPr lang="en-US" sz="2400" dirty="0"/>
              <a:t> </a:t>
            </a:r>
            <a:r>
              <a:rPr lang="en-US" sz="2400" dirty="0" err="1"/>
              <a:t>trong</a:t>
            </a:r>
            <a:r>
              <a:rPr lang="en-US" sz="2400" dirty="0"/>
              <a:t> </a:t>
            </a:r>
            <a:r>
              <a:rPr lang="en-US" sz="2400" dirty="0" err="1"/>
              <a:t>cùng</a:t>
            </a:r>
            <a:r>
              <a:rPr lang="en-US" sz="2400" dirty="0"/>
              <a:t> </a:t>
            </a:r>
            <a:r>
              <a:rPr lang="en-US" sz="2400" dirty="0" err="1"/>
              <a:t>lớp</a:t>
            </a:r>
            <a:endParaRPr lang="en-US" sz="2400" dirty="0"/>
          </a:p>
          <a:p>
            <a:r>
              <a:rPr lang="en-US" sz="2400" dirty="0" err="1"/>
              <a:t>Phương</a:t>
            </a:r>
            <a:r>
              <a:rPr lang="en-US" sz="2400" dirty="0"/>
              <a:t> </a:t>
            </a:r>
            <a:r>
              <a:rPr lang="en-US" sz="2400" dirty="0" err="1"/>
              <a:t>thức</a:t>
            </a:r>
            <a:r>
              <a:rPr lang="en-US" sz="2400" dirty="0"/>
              <a:t> </a:t>
            </a:r>
            <a:r>
              <a:rPr lang="en-US" sz="2400" dirty="0" err="1"/>
              <a:t>khởi</a:t>
            </a:r>
            <a:r>
              <a:rPr lang="en-US" sz="2400" dirty="0"/>
              <a:t> </a:t>
            </a:r>
            <a:r>
              <a:rPr lang="en-US" sz="2400" dirty="0" err="1"/>
              <a:t>tạo</a:t>
            </a:r>
            <a:r>
              <a:rPr lang="en-US" sz="2400" dirty="0"/>
              <a:t> </a:t>
            </a:r>
            <a:r>
              <a:rPr lang="en-US" sz="2400" dirty="0" err="1"/>
              <a:t>có</a:t>
            </a:r>
            <a:r>
              <a:rPr lang="en-US" sz="2400" dirty="0"/>
              <a:t> </a:t>
            </a:r>
            <a:r>
              <a:rPr lang="en-US" sz="2400" dirty="0" err="1"/>
              <a:t>thể</a:t>
            </a:r>
            <a:r>
              <a:rPr lang="en-US" sz="2400" dirty="0"/>
              <a:t> </a:t>
            </a:r>
            <a:r>
              <a:rPr lang="en-US" sz="2400" dirty="0" err="1"/>
              <a:t>có</a:t>
            </a:r>
            <a:r>
              <a:rPr lang="en-US" sz="2400" dirty="0"/>
              <a:t> </a:t>
            </a:r>
            <a:r>
              <a:rPr lang="en-US" sz="2400" dirty="0" err="1"/>
              <a:t>tham</a:t>
            </a:r>
            <a:r>
              <a:rPr lang="en-US" sz="2400" dirty="0"/>
              <a:t> </a:t>
            </a:r>
            <a:r>
              <a:rPr lang="en-US" sz="2400" dirty="0" err="1"/>
              <a:t>số</a:t>
            </a:r>
            <a:r>
              <a:rPr lang="en-US" sz="2400" dirty="0"/>
              <a:t> </a:t>
            </a:r>
            <a:r>
              <a:rPr lang="en-US" sz="2400" dirty="0" err="1"/>
              <a:t>hoặc</a:t>
            </a:r>
            <a:r>
              <a:rPr lang="en-US" sz="2400" dirty="0"/>
              <a:t> </a:t>
            </a:r>
            <a:r>
              <a:rPr lang="en-US" sz="2400" dirty="0" err="1"/>
              <a:t>không</a:t>
            </a:r>
            <a:endParaRPr lang="en-US" sz="2400" dirty="0"/>
          </a:p>
          <a:p>
            <a:pPr lvl="1"/>
            <a:r>
              <a:rPr lang="en-US" dirty="0" err="1"/>
              <a:t>Ví</a:t>
            </a:r>
            <a:r>
              <a:rPr lang="en-US" dirty="0"/>
              <a:t> </a:t>
            </a:r>
            <a:r>
              <a:rPr lang="en-US" dirty="0" err="1"/>
              <a:t>dụ</a:t>
            </a:r>
            <a:r>
              <a:rPr lang="en-US" dirty="0"/>
              <a:t>:</a:t>
            </a:r>
          </a:p>
          <a:p>
            <a:pPr marL="471487" lvl="1" indent="0">
              <a:buNone/>
            </a:pPr>
            <a:r>
              <a:rPr lang="en-US" b="1" dirty="0">
                <a:latin typeface="Courier New" pitchFamily="49" charset="0"/>
                <a:cs typeface="Courier New" pitchFamily="49" charset="0"/>
              </a:rPr>
              <a:t>public</a:t>
            </a:r>
            <a:r>
              <a:rPr lang="en-US" dirty="0">
                <a:latin typeface="Courier New" pitchFamily="49" charset="0"/>
                <a:cs typeface="Courier New" pitchFamily="49" charset="0"/>
              </a:rPr>
              <a:t> </a:t>
            </a:r>
            <a:r>
              <a:rPr lang="en-US" dirty="0" err="1">
                <a:solidFill>
                  <a:srgbClr val="000066"/>
                </a:solidFill>
                <a:latin typeface="Courier New" pitchFamily="49" charset="0"/>
                <a:cs typeface="Courier New" pitchFamily="49" charset="0"/>
              </a:rPr>
              <a:t>class_name</a:t>
            </a:r>
            <a:r>
              <a:rPr lang="en-US" dirty="0">
                <a:latin typeface="Courier New" pitchFamily="49" charset="0"/>
                <a:cs typeface="Courier New" pitchFamily="49" charset="0"/>
              </a:rPr>
              <a:t>()</a:t>
            </a:r>
          </a:p>
          <a:p>
            <a:pPr marL="471487" lvl="1" indent="0">
              <a:buNone/>
            </a:pPr>
            <a:r>
              <a:rPr lang="en-US" b="1" dirty="0">
                <a:latin typeface="Courier New" pitchFamily="49" charset="0"/>
                <a:cs typeface="Courier New" pitchFamily="49" charset="0"/>
              </a:rPr>
              <a:t>public</a:t>
            </a:r>
            <a:r>
              <a:rPr lang="en-US" dirty="0">
                <a:latin typeface="Courier New" pitchFamily="49" charset="0"/>
                <a:cs typeface="Courier New" pitchFamily="49" charset="0"/>
              </a:rPr>
              <a:t> </a:t>
            </a:r>
            <a:r>
              <a:rPr lang="en-US" dirty="0" err="1">
                <a:solidFill>
                  <a:srgbClr val="000066"/>
                </a:solidFill>
                <a:latin typeface="Courier New" pitchFamily="49" charset="0"/>
                <a:cs typeface="Courier New" pitchFamily="49" charset="0"/>
              </a:rPr>
              <a:t>class_name</a:t>
            </a:r>
            <a:r>
              <a:rPr lang="en-US" dirty="0">
                <a:latin typeface="Courier New" pitchFamily="49" charset="0"/>
                <a:cs typeface="Courier New" pitchFamily="49" charset="0"/>
              </a:rPr>
              <a:t>(</a:t>
            </a:r>
            <a:r>
              <a:rPr lang="en-US" dirty="0" err="1">
                <a:solidFill>
                  <a:srgbClr val="00B050"/>
                </a:solidFill>
                <a:latin typeface="Courier New" pitchFamily="49" charset="0"/>
                <a:cs typeface="Courier New" pitchFamily="49" charset="0"/>
              </a:rPr>
              <a:t>danh</a:t>
            </a:r>
            <a:r>
              <a:rPr lang="en-US" dirty="0">
                <a:solidFill>
                  <a:srgbClr val="00B050"/>
                </a:solidFill>
                <a:latin typeface="Courier New" pitchFamily="49" charset="0"/>
                <a:cs typeface="Courier New" pitchFamily="49" charset="0"/>
              </a:rPr>
              <a:t> </a:t>
            </a:r>
            <a:r>
              <a:rPr lang="en-US" dirty="0" err="1">
                <a:solidFill>
                  <a:srgbClr val="00B050"/>
                </a:solidFill>
                <a:latin typeface="Courier New" pitchFamily="49" charset="0"/>
                <a:cs typeface="Courier New" pitchFamily="49" charset="0"/>
              </a:rPr>
              <a:t>sách</a:t>
            </a:r>
            <a:r>
              <a:rPr lang="en-US" dirty="0">
                <a:solidFill>
                  <a:srgbClr val="00B050"/>
                </a:solidFill>
                <a:latin typeface="Courier New" pitchFamily="49" charset="0"/>
                <a:cs typeface="Courier New" pitchFamily="49" charset="0"/>
              </a:rPr>
              <a:t> </a:t>
            </a:r>
            <a:r>
              <a:rPr lang="en-US" dirty="0" err="1">
                <a:solidFill>
                  <a:srgbClr val="00B050"/>
                </a:solidFill>
                <a:latin typeface="Courier New" pitchFamily="49" charset="0"/>
                <a:cs typeface="Courier New" pitchFamily="49" charset="0"/>
              </a:rPr>
              <a:t>tham</a:t>
            </a:r>
            <a:r>
              <a:rPr lang="en-US" dirty="0">
                <a:solidFill>
                  <a:srgbClr val="00B050"/>
                </a:solidFill>
                <a:latin typeface="Courier New" pitchFamily="49" charset="0"/>
                <a:cs typeface="Courier New" pitchFamily="49" charset="0"/>
              </a:rPr>
              <a:t> </a:t>
            </a:r>
            <a:r>
              <a:rPr lang="en-US" dirty="0" err="1">
                <a:solidFill>
                  <a:srgbClr val="00B050"/>
                </a:solidFill>
                <a:latin typeface="Courier New" pitchFamily="49" charset="0"/>
                <a:cs typeface="Courier New" pitchFamily="49" charset="0"/>
              </a:rPr>
              <a:t>số</a:t>
            </a:r>
            <a:r>
              <a:rPr lang="en-US" dirty="0">
                <a:latin typeface="Courier New" pitchFamily="49" charset="0"/>
                <a:cs typeface="Courier New" pitchFamily="49" charset="0"/>
              </a:rPr>
              <a:t>)</a:t>
            </a:r>
          </a:p>
        </p:txBody>
      </p:sp>
      <p:sp>
        <p:nvSpPr>
          <p:cNvPr id="4" name="Date Placeholder 3"/>
          <p:cNvSpPr>
            <a:spLocks noGrp="1"/>
          </p:cNvSpPr>
          <p:nvPr>
            <p:ph type="dt" sz="half" idx="10"/>
          </p:nvPr>
        </p:nvSpPr>
        <p:spPr/>
        <p:txBody>
          <a:bodyPr/>
          <a:lstStyle/>
          <a:p>
            <a:fld id="{6B7335B1-5692-471D-87A1-956E0501E81C}" type="datetime1">
              <a:rPr lang="vi-VN" smtClean="0"/>
              <a:t>04/02/2025</a:t>
            </a:fld>
            <a:endParaRPr lang="vi-VN"/>
          </a:p>
        </p:txBody>
      </p:sp>
      <p:sp>
        <p:nvSpPr>
          <p:cNvPr id="5" name="Footer Placeholder 4"/>
          <p:cNvSpPr>
            <a:spLocks noGrp="1"/>
          </p:cNvSpPr>
          <p:nvPr>
            <p:ph type="ftr" sz="quarter" idx="11"/>
          </p:nvPr>
        </p:nvSpPr>
        <p:spPr/>
        <p:txBody>
          <a:bodyPr/>
          <a:lstStyle/>
          <a:p>
            <a:r>
              <a:rPr lang="vi-VN"/>
              <a:t>Chương 3. Lập trình hướng đối tượng trong C#</a:t>
            </a:r>
          </a:p>
        </p:txBody>
      </p:sp>
      <p:sp>
        <p:nvSpPr>
          <p:cNvPr id="8" name="Slide Number Placeholder 7"/>
          <p:cNvSpPr>
            <a:spLocks noGrp="1"/>
          </p:cNvSpPr>
          <p:nvPr>
            <p:ph type="sldNum" sz="quarter" idx="12"/>
          </p:nvPr>
        </p:nvSpPr>
        <p:spPr/>
        <p:txBody>
          <a:bodyPr/>
          <a:lstStyle/>
          <a:p>
            <a:fld id="{5AB95402-1E0D-474E-8D8C-CBE7F053639E}" type="slidenum">
              <a:rPr lang="vi-VN" smtClean="0"/>
              <a:pPr/>
              <a:t>21</a:t>
            </a:fld>
            <a:r>
              <a:rPr lang="vi-VN"/>
              <a:t>/33</a:t>
            </a:r>
          </a:p>
        </p:txBody>
      </p:sp>
    </p:spTree>
    <p:extLst>
      <p:ext uri="{BB962C8B-B14F-4D97-AF65-F5344CB8AC3E}">
        <p14:creationId xmlns:p14="http://schemas.microsoft.com/office/powerpoint/2010/main" val="19853622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319740"/>
            <a:ext cx="8382000" cy="685800"/>
          </a:xfrm>
        </p:spPr>
        <p:txBody>
          <a:bodyPr/>
          <a:lstStyle/>
          <a:p>
            <a:r>
              <a:rPr lang="en-US"/>
              <a:t>Ví dụ - Phương thức khởi tạo</a:t>
            </a:r>
          </a:p>
        </p:txBody>
      </p:sp>
      <p:sp>
        <p:nvSpPr>
          <p:cNvPr id="4" name="Date Placeholder 3"/>
          <p:cNvSpPr>
            <a:spLocks noGrp="1"/>
          </p:cNvSpPr>
          <p:nvPr>
            <p:ph type="dt" sz="half" idx="10"/>
          </p:nvPr>
        </p:nvSpPr>
        <p:spPr/>
        <p:txBody>
          <a:bodyPr/>
          <a:lstStyle/>
          <a:p>
            <a:fld id="{CA9CF61C-39D9-452B-A4F3-31BFAB290D0A}" type="datetime1">
              <a:rPr lang="vi-VN" smtClean="0"/>
              <a:t>04/02/2025</a:t>
            </a:fld>
            <a:endParaRPr lang="vi-VN"/>
          </a:p>
        </p:txBody>
      </p:sp>
      <p:sp>
        <p:nvSpPr>
          <p:cNvPr id="5" name="Footer Placeholder 4"/>
          <p:cNvSpPr>
            <a:spLocks noGrp="1"/>
          </p:cNvSpPr>
          <p:nvPr>
            <p:ph type="ftr" sz="quarter" idx="11"/>
          </p:nvPr>
        </p:nvSpPr>
        <p:spPr/>
        <p:txBody>
          <a:bodyPr/>
          <a:lstStyle/>
          <a:p>
            <a:r>
              <a:rPr lang="vi-VN"/>
              <a:t>Chương 3. Lập trình hướng đối tượng trong C#</a:t>
            </a:r>
          </a:p>
        </p:txBody>
      </p:sp>
      <p:sp>
        <p:nvSpPr>
          <p:cNvPr id="8" name="Slide Number Placeholder 7"/>
          <p:cNvSpPr>
            <a:spLocks noGrp="1"/>
          </p:cNvSpPr>
          <p:nvPr>
            <p:ph type="sldNum" sz="quarter" idx="12"/>
          </p:nvPr>
        </p:nvSpPr>
        <p:spPr/>
        <p:txBody>
          <a:bodyPr/>
          <a:lstStyle/>
          <a:p>
            <a:fld id="{5AB95402-1E0D-474E-8D8C-CBE7F053639E}" type="slidenum">
              <a:rPr lang="vi-VN" smtClean="0"/>
              <a:pPr/>
              <a:t>22</a:t>
            </a:fld>
            <a:r>
              <a:rPr lang="vi-VN"/>
              <a:t>/33</a:t>
            </a:r>
          </a:p>
        </p:txBody>
      </p:sp>
      <p:pic>
        <p:nvPicPr>
          <p:cNvPr id="6146" name="Picture 2">
            <a:extLst>
              <a:ext uri="{FF2B5EF4-FFF2-40B4-BE49-F238E27FC236}">
                <a16:creationId xmlns:a16="http://schemas.microsoft.com/office/drawing/2014/main" id="{5F68B50A-3183-4072-97EC-554F80E8020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9633" y="1224956"/>
            <a:ext cx="6984776" cy="51758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3436297"/>
      </p:ext>
    </p:extLst>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359646"/>
            <a:ext cx="8382000" cy="685800"/>
          </a:xfrm>
        </p:spPr>
        <p:txBody>
          <a:bodyPr/>
          <a:lstStyle/>
          <a:p>
            <a:r>
              <a:rPr lang="en-US"/>
              <a:t>3.1.2. Phương thức huỷ (destructor)</a:t>
            </a:r>
          </a:p>
        </p:txBody>
      </p:sp>
      <p:sp>
        <p:nvSpPr>
          <p:cNvPr id="3" name="Content Placeholder 2"/>
          <p:cNvSpPr>
            <a:spLocks noGrp="1"/>
          </p:cNvSpPr>
          <p:nvPr>
            <p:ph idx="1"/>
          </p:nvPr>
        </p:nvSpPr>
        <p:spPr>
          <a:xfrm>
            <a:off x="762000" y="1143000"/>
            <a:ext cx="7626424" cy="5181600"/>
          </a:xfrm>
        </p:spPr>
        <p:txBody>
          <a:bodyPr/>
          <a:lstStyle/>
          <a:p>
            <a:r>
              <a:rPr lang="en-US" sz="2000" b="1" dirty="0"/>
              <a:t>P</a:t>
            </a:r>
            <a:r>
              <a:rPr lang="vi-VN" sz="2000" b="1" dirty="0"/>
              <a:t>hương thức hủy</a:t>
            </a:r>
            <a:r>
              <a:rPr lang="vi-VN" sz="2000" dirty="0"/>
              <a:t> (destructor) được sử dụng để dọn dẹp tài nguyên hoặc thực hiện các công việc cần thiết khi đối tượng bị hủy và bị xóa khỏi bộ nhớ. Phương thức hủy cũng có cùng tên với tên lớp tuy nhiên phía trước có dấu “~”.</a:t>
            </a:r>
            <a:endParaRPr lang="en-US" sz="2000" dirty="0"/>
          </a:p>
          <a:p>
            <a:pPr>
              <a:buFont typeface="Wingdings" panose="05000000000000000000" pitchFamily="2" charset="2"/>
              <a:buChar char="q"/>
            </a:pPr>
            <a:r>
              <a:rPr lang="vi-VN" sz="2000" dirty="0"/>
              <a:t>Đặc điểm của phương thức hủy như sau :</a:t>
            </a:r>
            <a:endParaRPr lang="en-US" sz="2000" dirty="0"/>
          </a:p>
          <a:p>
            <a:pPr lvl="1">
              <a:buFont typeface="Wingdings" panose="05000000000000000000" pitchFamily="2" charset="2"/>
              <a:buChar char="ü"/>
            </a:pPr>
            <a:r>
              <a:rPr lang="vi-VN" sz="2000" dirty="0">
                <a:solidFill>
                  <a:schemeClr val="tx1"/>
                </a:solidFill>
              </a:rPr>
              <a:t>Phương thức hủy không cho phép kế thừa và không cho phép nạp chồng</a:t>
            </a:r>
          </a:p>
          <a:p>
            <a:pPr lvl="1">
              <a:buFont typeface="Wingdings" panose="05000000000000000000" pitchFamily="2" charset="2"/>
              <a:buChar char="ü"/>
            </a:pPr>
            <a:r>
              <a:rPr lang="vi-VN" sz="2000" dirty="0">
                <a:solidFill>
                  <a:schemeClr val="tx1"/>
                </a:solidFill>
              </a:rPr>
              <a:t>Phương thức hủy không được gọi tường minh</a:t>
            </a:r>
          </a:p>
          <a:p>
            <a:pPr lvl="1">
              <a:buFont typeface="Wingdings" panose="05000000000000000000" pitchFamily="2" charset="2"/>
              <a:buChar char="ü"/>
            </a:pPr>
            <a:r>
              <a:rPr lang="vi-VN" sz="2000" dirty="0">
                <a:solidFill>
                  <a:schemeClr val="tx1"/>
                </a:solidFill>
              </a:rPr>
              <a:t>Phương thức hủy không có phạm vi truy cập và không có tham số truyền vào</a:t>
            </a:r>
            <a:endParaRPr lang="en-US" sz="2000" dirty="0">
              <a:solidFill>
                <a:schemeClr val="tx1"/>
              </a:solidFill>
            </a:endParaRPr>
          </a:p>
          <a:p>
            <a:r>
              <a:rPr lang="en-US" sz="2000" dirty="0"/>
              <a:t>Cú </a:t>
            </a:r>
            <a:r>
              <a:rPr lang="en-US" sz="2000" dirty="0" err="1"/>
              <a:t>pháp</a:t>
            </a:r>
            <a:r>
              <a:rPr lang="en-US" sz="2000" dirty="0"/>
              <a:t>:           ~&lt;</a:t>
            </a:r>
            <a:r>
              <a:rPr lang="en-US" sz="2000" dirty="0" err="1"/>
              <a:t>tên</a:t>
            </a:r>
            <a:r>
              <a:rPr lang="en-US" sz="2000" dirty="0"/>
              <a:t> </a:t>
            </a:r>
            <a:r>
              <a:rPr lang="en-US" sz="2000" dirty="0" err="1"/>
              <a:t>lớp</a:t>
            </a:r>
            <a:r>
              <a:rPr lang="en-US" sz="2000" dirty="0"/>
              <a:t>&gt;()</a:t>
            </a:r>
          </a:p>
        </p:txBody>
      </p:sp>
      <p:sp>
        <p:nvSpPr>
          <p:cNvPr id="4" name="Date Placeholder 3"/>
          <p:cNvSpPr>
            <a:spLocks noGrp="1"/>
          </p:cNvSpPr>
          <p:nvPr>
            <p:ph type="dt" sz="half" idx="10"/>
          </p:nvPr>
        </p:nvSpPr>
        <p:spPr/>
        <p:txBody>
          <a:bodyPr/>
          <a:lstStyle/>
          <a:p>
            <a:fld id="{777EE0A6-C5DF-4745-8975-FF2C37C3104D}" type="datetime1">
              <a:rPr lang="vi-VN" smtClean="0"/>
              <a:t>04/02/2025</a:t>
            </a:fld>
            <a:endParaRPr lang="vi-VN"/>
          </a:p>
        </p:txBody>
      </p:sp>
      <p:sp>
        <p:nvSpPr>
          <p:cNvPr id="5" name="Footer Placeholder 4"/>
          <p:cNvSpPr>
            <a:spLocks noGrp="1"/>
          </p:cNvSpPr>
          <p:nvPr>
            <p:ph type="ftr" sz="quarter" idx="11"/>
          </p:nvPr>
        </p:nvSpPr>
        <p:spPr/>
        <p:txBody>
          <a:bodyPr/>
          <a:lstStyle/>
          <a:p>
            <a:r>
              <a:rPr lang="vi-VN"/>
              <a:t>Chương 3. Lập trình hướng đối tượng trong C#</a:t>
            </a:r>
          </a:p>
        </p:txBody>
      </p:sp>
      <p:sp>
        <p:nvSpPr>
          <p:cNvPr id="8" name="Slide Number Placeholder 7"/>
          <p:cNvSpPr>
            <a:spLocks noGrp="1"/>
          </p:cNvSpPr>
          <p:nvPr>
            <p:ph type="sldNum" sz="quarter" idx="12"/>
          </p:nvPr>
        </p:nvSpPr>
        <p:spPr/>
        <p:txBody>
          <a:bodyPr/>
          <a:lstStyle/>
          <a:p>
            <a:fld id="{5AB95402-1E0D-474E-8D8C-CBE7F053639E}" type="slidenum">
              <a:rPr lang="vi-VN" smtClean="0"/>
              <a:pPr/>
              <a:t>23</a:t>
            </a:fld>
            <a:r>
              <a:rPr lang="vi-VN"/>
              <a:t>/33</a:t>
            </a:r>
          </a:p>
        </p:txBody>
      </p:sp>
    </p:spTree>
    <p:extLst>
      <p:ext uri="{BB962C8B-B14F-4D97-AF65-F5344CB8AC3E}">
        <p14:creationId xmlns:p14="http://schemas.microsoft.com/office/powerpoint/2010/main" val="31089389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000" dirty="0"/>
              <a:t>C# </a:t>
            </a:r>
            <a:r>
              <a:rPr lang="en-US" sz="2000" dirty="0" err="1"/>
              <a:t>có</a:t>
            </a:r>
            <a:r>
              <a:rPr lang="en-US" sz="2000" dirty="0"/>
              <a:t> </a:t>
            </a:r>
            <a:r>
              <a:rPr lang="en-US" sz="2000" dirty="0" err="1"/>
              <a:t>cơ</a:t>
            </a:r>
            <a:r>
              <a:rPr lang="en-US" sz="2000" dirty="0"/>
              <a:t> </a:t>
            </a:r>
            <a:r>
              <a:rPr lang="en-US" sz="2000" dirty="0" err="1"/>
              <a:t>chế</a:t>
            </a:r>
            <a:r>
              <a:rPr lang="en-US" sz="2000" dirty="0"/>
              <a:t> </a:t>
            </a:r>
            <a:r>
              <a:rPr lang="en-US" sz="2000" dirty="0" err="1"/>
              <a:t>tự</a:t>
            </a:r>
            <a:r>
              <a:rPr lang="en-US" sz="2000" dirty="0"/>
              <a:t> </a:t>
            </a:r>
            <a:r>
              <a:rPr lang="en-US" sz="2000" dirty="0" err="1"/>
              <a:t>động</a:t>
            </a:r>
            <a:r>
              <a:rPr lang="en-US" sz="2000" dirty="0"/>
              <a:t> </a:t>
            </a:r>
            <a:r>
              <a:rPr lang="en-US" sz="2000" dirty="0" err="1"/>
              <a:t>thu</a:t>
            </a:r>
            <a:r>
              <a:rPr lang="en-US" sz="2000" dirty="0"/>
              <a:t> </a:t>
            </a:r>
            <a:r>
              <a:rPr lang="en-US" sz="2000" dirty="0" err="1"/>
              <a:t>gom</a:t>
            </a:r>
            <a:r>
              <a:rPr lang="en-US" sz="2000" dirty="0"/>
              <a:t> </a:t>
            </a:r>
            <a:r>
              <a:rPr lang="en-US" sz="2000" dirty="0" err="1"/>
              <a:t>rác</a:t>
            </a:r>
            <a:r>
              <a:rPr lang="en-US" sz="2000" dirty="0"/>
              <a:t> (garbage collector) </a:t>
            </a:r>
            <a:r>
              <a:rPr lang="en-US" sz="2000" dirty="0">
                <a:sym typeface="Wingdings" pitchFamily="2" charset="2"/>
              </a:rPr>
              <a:t> </a:t>
            </a:r>
            <a:r>
              <a:rPr lang="en-US" sz="2000" dirty="0" err="1">
                <a:sym typeface="Wingdings" pitchFamily="2" charset="2"/>
              </a:rPr>
              <a:t>người</a:t>
            </a:r>
            <a:r>
              <a:rPr lang="en-US" sz="2000" dirty="0">
                <a:sym typeface="Wingdings" pitchFamily="2" charset="2"/>
              </a:rPr>
              <a:t> </a:t>
            </a:r>
            <a:r>
              <a:rPr lang="en-US" sz="2000" dirty="0" err="1">
                <a:sym typeface="Wingdings" pitchFamily="2" charset="2"/>
              </a:rPr>
              <a:t>lập</a:t>
            </a:r>
            <a:r>
              <a:rPr lang="en-US" sz="2000" dirty="0">
                <a:sym typeface="Wingdings" pitchFamily="2" charset="2"/>
              </a:rPr>
              <a:t> </a:t>
            </a:r>
            <a:r>
              <a:rPr lang="en-US" sz="2000" dirty="0" err="1">
                <a:sym typeface="Wingdings" pitchFamily="2" charset="2"/>
              </a:rPr>
              <a:t>trình</a:t>
            </a:r>
            <a:r>
              <a:rPr lang="en-US" sz="2000" dirty="0">
                <a:sym typeface="Wingdings" pitchFamily="2" charset="2"/>
              </a:rPr>
              <a:t> </a:t>
            </a:r>
            <a:r>
              <a:rPr lang="en-US" sz="2000" dirty="0" err="1">
                <a:sym typeface="Wingdings" pitchFamily="2" charset="2"/>
              </a:rPr>
              <a:t>không</a:t>
            </a:r>
            <a:r>
              <a:rPr lang="en-US" sz="2000" dirty="0">
                <a:sym typeface="Wingdings" pitchFamily="2" charset="2"/>
              </a:rPr>
              <a:t> </a:t>
            </a:r>
            <a:r>
              <a:rPr lang="en-US" sz="2000" dirty="0" err="1">
                <a:sym typeface="Wingdings" pitchFamily="2" charset="2"/>
              </a:rPr>
              <a:t>phải</a:t>
            </a:r>
            <a:r>
              <a:rPr lang="en-US" sz="2000" dirty="0">
                <a:sym typeface="Wingdings" pitchFamily="2" charset="2"/>
              </a:rPr>
              <a:t> </a:t>
            </a:r>
            <a:r>
              <a:rPr lang="en-US" sz="2000" dirty="0" err="1">
                <a:sym typeface="Wingdings" pitchFamily="2" charset="2"/>
              </a:rPr>
              <a:t>huỷ</a:t>
            </a:r>
            <a:r>
              <a:rPr lang="en-US" sz="2000" dirty="0">
                <a:sym typeface="Wingdings" pitchFamily="2" charset="2"/>
              </a:rPr>
              <a:t> </a:t>
            </a:r>
            <a:r>
              <a:rPr lang="en-US" sz="2000" dirty="0" err="1">
                <a:sym typeface="Wingdings" pitchFamily="2" charset="2"/>
              </a:rPr>
              <a:t>đối</a:t>
            </a:r>
            <a:r>
              <a:rPr lang="en-US" sz="2000" dirty="0">
                <a:sym typeface="Wingdings" pitchFamily="2" charset="2"/>
              </a:rPr>
              <a:t> </a:t>
            </a:r>
            <a:r>
              <a:rPr lang="en-US" sz="2000" dirty="0" err="1">
                <a:sym typeface="Wingdings" pitchFamily="2" charset="2"/>
              </a:rPr>
              <a:t>tượng</a:t>
            </a:r>
            <a:r>
              <a:rPr lang="en-US" sz="2000" dirty="0">
                <a:sym typeface="Wingdings" pitchFamily="2" charset="2"/>
              </a:rPr>
              <a:t> </a:t>
            </a:r>
            <a:r>
              <a:rPr lang="en-US" sz="2000" dirty="0" err="1">
                <a:sym typeface="Wingdings" pitchFamily="2" charset="2"/>
              </a:rPr>
              <a:t>một</a:t>
            </a:r>
            <a:r>
              <a:rPr lang="en-US" sz="2000" dirty="0">
                <a:sym typeface="Wingdings" pitchFamily="2" charset="2"/>
              </a:rPr>
              <a:t> </a:t>
            </a:r>
            <a:r>
              <a:rPr lang="en-US" sz="2000" dirty="0" err="1">
                <a:sym typeface="Wingdings" pitchFamily="2" charset="2"/>
              </a:rPr>
              <a:t>cách</a:t>
            </a:r>
            <a:r>
              <a:rPr lang="en-US" sz="2000" dirty="0">
                <a:sym typeface="Wingdings" pitchFamily="2" charset="2"/>
              </a:rPr>
              <a:t> </a:t>
            </a:r>
            <a:r>
              <a:rPr lang="en-US" sz="2000" dirty="0" err="1">
                <a:sym typeface="Wingdings" pitchFamily="2" charset="2"/>
              </a:rPr>
              <a:t>tường</a:t>
            </a:r>
            <a:r>
              <a:rPr lang="en-US" sz="2000" dirty="0">
                <a:sym typeface="Wingdings" pitchFamily="2" charset="2"/>
              </a:rPr>
              <a:t> </a:t>
            </a:r>
            <a:r>
              <a:rPr lang="en-US" sz="2000" dirty="0" err="1">
                <a:sym typeface="Wingdings" pitchFamily="2" charset="2"/>
              </a:rPr>
              <a:t>minh</a:t>
            </a:r>
            <a:endParaRPr lang="en-US" sz="2000" dirty="0">
              <a:sym typeface="Wingdings" pitchFamily="2" charset="2"/>
            </a:endParaRPr>
          </a:p>
          <a:p>
            <a:r>
              <a:rPr lang="en-US" sz="2000" dirty="0" err="1">
                <a:sym typeface="Wingdings" pitchFamily="2" charset="2"/>
              </a:rPr>
              <a:t>Bộ</a:t>
            </a:r>
            <a:r>
              <a:rPr lang="en-US" sz="2000" dirty="0">
                <a:sym typeface="Wingdings" pitchFamily="2" charset="2"/>
              </a:rPr>
              <a:t> </a:t>
            </a:r>
            <a:r>
              <a:rPr lang="en-US" sz="2000" dirty="0" err="1">
                <a:sym typeface="Wingdings" pitchFamily="2" charset="2"/>
              </a:rPr>
              <a:t>thu</a:t>
            </a:r>
            <a:r>
              <a:rPr lang="en-US" sz="2000" dirty="0">
                <a:sym typeface="Wingdings" pitchFamily="2" charset="2"/>
              </a:rPr>
              <a:t> </a:t>
            </a:r>
            <a:r>
              <a:rPr lang="en-US" sz="2000" dirty="0" err="1">
                <a:sym typeface="Wingdings" pitchFamily="2" charset="2"/>
              </a:rPr>
              <a:t>gom</a:t>
            </a:r>
            <a:r>
              <a:rPr lang="en-US" sz="2000" dirty="0">
                <a:sym typeface="Wingdings" pitchFamily="2" charset="2"/>
              </a:rPr>
              <a:t> </a:t>
            </a:r>
            <a:r>
              <a:rPr lang="en-US" sz="2000" dirty="0" err="1">
                <a:sym typeface="Wingdings" pitchFamily="2" charset="2"/>
              </a:rPr>
              <a:t>rác</a:t>
            </a:r>
            <a:r>
              <a:rPr lang="en-US" sz="2000" dirty="0">
                <a:sym typeface="Wingdings" pitchFamily="2" charset="2"/>
              </a:rPr>
              <a:t> </a:t>
            </a:r>
            <a:r>
              <a:rPr lang="en-US" sz="2000" dirty="0" err="1">
                <a:sym typeface="Wingdings" pitchFamily="2" charset="2"/>
              </a:rPr>
              <a:t>tự</a:t>
            </a:r>
            <a:r>
              <a:rPr lang="en-US" sz="2000" dirty="0">
                <a:sym typeface="Wingdings" pitchFamily="2" charset="2"/>
              </a:rPr>
              <a:t> </a:t>
            </a:r>
            <a:r>
              <a:rPr lang="en-US" sz="2000" dirty="0" err="1">
                <a:sym typeface="Wingdings" pitchFamily="2" charset="2"/>
              </a:rPr>
              <a:t>động</a:t>
            </a:r>
            <a:r>
              <a:rPr lang="en-US" sz="2000" dirty="0">
                <a:sym typeface="Wingdings" pitchFamily="2" charset="2"/>
              </a:rPr>
              <a:t> </a:t>
            </a:r>
            <a:r>
              <a:rPr lang="en-US" sz="2000" dirty="0" err="1">
                <a:sym typeface="Wingdings" pitchFamily="2" charset="2"/>
              </a:rPr>
              <a:t>gọi</a:t>
            </a:r>
            <a:r>
              <a:rPr lang="en-US" sz="2000" dirty="0">
                <a:sym typeface="Wingdings" pitchFamily="2" charset="2"/>
              </a:rPr>
              <a:t> </a:t>
            </a:r>
            <a:r>
              <a:rPr lang="en-US" sz="2000" dirty="0" err="1">
                <a:sym typeface="Wingdings" pitchFamily="2" charset="2"/>
              </a:rPr>
              <a:t>phương</a:t>
            </a:r>
            <a:r>
              <a:rPr lang="en-US" sz="2000" dirty="0">
                <a:sym typeface="Wingdings" pitchFamily="2" charset="2"/>
              </a:rPr>
              <a:t> </a:t>
            </a:r>
            <a:r>
              <a:rPr lang="en-US" sz="2000" dirty="0" err="1">
                <a:sym typeface="Wingdings" pitchFamily="2" charset="2"/>
              </a:rPr>
              <a:t>thức</a:t>
            </a:r>
            <a:r>
              <a:rPr lang="en-US" sz="2000" dirty="0">
                <a:sym typeface="Wingdings" pitchFamily="2" charset="2"/>
              </a:rPr>
              <a:t> </a:t>
            </a:r>
            <a:r>
              <a:rPr lang="en-US" sz="2000" dirty="0" err="1">
                <a:sym typeface="Wingdings" pitchFamily="2" charset="2"/>
              </a:rPr>
              <a:t>huỷ</a:t>
            </a:r>
            <a:endParaRPr lang="en-US" sz="2000" dirty="0"/>
          </a:p>
          <a:p>
            <a:pPr marL="0" indent="0">
              <a:buNone/>
            </a:pPr>
            <a:endParaRPr lang="vi-VN" sz="1050" dirty="0"/>
          </a:p>
          <a:p>
            <a:pPr marL="0" indent="0">
              <a:buNone/>
            </a:pPr>
            <a:r>
              <a:rPr lang="vi-VN" sz="1200" dirty="0"/>
              <a:t>public class </a:t>
            </a:r>
            <a:r>
              <a:rPr lang="en-US" sz="1200" dirty="0"/>
              <a:t>HCN</a:t>
            </a:r>
            <a:endParaRPr lang="vi-VN" sz="1200" dirty="0"/>
          </a:p>
          <a:p>
            <a:pPr marL="0" indent="0">
              <a:buNone/>
            </a:pPr>
            <a:r>
              <a:rPr lang="vi-VN" sz="1200" dirty="0"/>
              <a:t>{</a:t>
            </a:r>
          </a:p>
          <a:p>
            <a:pPr marL="0" indent="0">
              <a:buNone/>
            </a:pPr>
            <a:r>
              <a:rPr lang="vi-VN" sz="1200" dirty="0"/>
              <a:t>    // Thuộc tính</a:t>
            </a:r>
          </a:p>
          <a:p>
            <a:pPr marL="0" indent="0">
              <a:buNone/>
            </a:pPr>
            <a:r>
              <a:rPr lang="vi-VN" sz="1200" dirty="0"/>
              <a:t>    public double Dai</a:t>
            </a:r>
            <a:r>
              <a:rPr lang="en-US" sz="1200" dirty="0"/>
              <a:t>;</a:t>
            </a:r>
          </a:p>
          <a:p>
            <a:pPr marL="0" indent="0">
              <a:buNone/>
            </a:pPr>
            <a:r>
              <a:rPr lang="en-US" sz="1200" dirty="0"/>
              <a:t>    </a:t>
            </a:r>
            <a:r>
              <a:rPr lang="vi-VN" sz="1200" dirty="0"/>
              <a:t>public double Rong</a:t>
            </a:r>
            <a:r>
              <a:rPr lang="en-US" sz="1200" dirty="0"/>
              <a:t>;</a:t>
            </a:r>
            <a:endParaRPr lang="vi-VN" sz="1200" dirty="0"/>
          </a:p>
          <a:p>
            <a:pPr marL="0" indent="0">
              <a:buNone/>
            </a:pPr>
            <a:r>
              <a:rPr lang="vi-VN" sz="1200" dirty="0"/>
              <a:t>    // Phương thức hủy</a:t>
            </a:r>
          </a:p>
          <a:p>
            <a:pPr marL="0" indent="0">
              <a:buNone/>
            </a:pPr>
            <a:r>
              <a:rPr lang="vi-VN" sz="1200" dirty="0"/>
              <a:t>    ~</a:t>
            </a:r>
            <a:r>
              <a:rPr lang="en-US" sz="1200" dirty="0"/>
              <a:t>HCN</a:t>
            </a:r>
            <a:r>
              <a:rPr lang="vi-VN" sz="1200" dirty="0"/>
              <a:t>()</a:t>
            </a:r>
          </a:p>
          <a:p>
            <a:pPr marL="0" indent="0">
              <a:buNone/>
            </a:pPr>
            <a:r>
              <a:rPr lang="vi-VN" sz="1200" dirty="0"/>
              <a:t>    {</a:t>
            </a:r>
          </a:p>
          <a:p>
            <a:pPr marL="0" indent="0">
              <a:buNone/>
            </a:pPr>
            <a:r>
              <a:rPr lang="vi-VN" sz="1200" dirty="0"/>
              <a:t>        Console.WriteLine("Phương thức hủy được gọi. Đối tượng </a:t>
            </a:r>
            <a:r>
              <a:rPr lang="en-US" sz="1200" dirty="0"/>
              <a:t>HCN</a:t>
            </a:r>
            <a:r>
              <a:rPr lang="vi-VN" sz="1200" dirty="0"/>
              <a:t> đã bị hủy.");</a:t>
            </a:r>
          </a:p>
          <a:p>
            <a:pPr marL="0" indent="0">
              <a:buNone/>
            </a:pPr>
            <a:r>
              <a:rPr lang="vi-VN" sz="1200" dirty="0"/>
              <a:t>    }</a:t>
            </a:r>
          </a:p>
          <a:p>
            <a:pPr marL="0" indent="0">
              <a:buNone/>
            </a:pPr>
            <a:r>
              <a:rPr lang="vi-VN" sz="1200" dirty="0"/>
              <a:t>}</a:t>
            </a:r>
            <a:endParaRPr lang="en-US" sz="1200" dirty="0"/>
          </a:p>
          <a:p>
            <a:pPr marL="0" indent="0">
              <a:buNone/>
            </a:pPr>
            <a:r>
              <a:rPr lang="en-US" sz="1200" dirty="0"/>
              <a:t>////</a:t>
            </a:r>
            <a:endParaRPr lang="vi-VN" sz="1200" dirty="0"/>
          </a:p>
          <a:p>
            <a:pPr marL="0" indent="0">
              <a:buNone/>
            </a:pPr>
            <a:r>
              <a:rPr lang="vi-VN" sz="1200" dirty="0"/>
              <a:t>class Program</a:t>
            </a:r>
          </a:p>
          <a:p>
            <a:pPr marL="0" indent="0">
              <a:buNone/>
            </a:pPr>
            <a:r>
              <a:rPr lang="vi-VN" sz="1200" dirty="0"/>
              <a:t>{</a:t>
            </a:r>
          </a:p>
          <a:p>
            <a:pPr marL="0" indent="0">
              <a:buNone/>
            </a:pPr>
            <a:r>
              <a:rPr lang="vi-VN" sz="1200" dirty="0"/>
              <a:t>    static void Main()</a:t>
            </a:r>
          </a:p>
          <a:p>
            <a:pPr marL="0" indent="0">
              <a:buNone/>
            </a:pPr>
            <a:r>
              <a:rPr lang="vi-VN" sz="1200" dirty="0"/>
              <a:t>    {</a:t>
            </a:r>
          </a:p>
          <a:p>
            <a:pPr marL="0" indent="0">
              <a:buNone/>
            </a:pPr>
            <a:r>
              <a:rPr lang="vi-VN" sz="1200" dirty="0"/>
              <a:t>        // Tạo đối tượng HinhChuNhat</a:t>
            </a:r>
          </a:p>
          <a:p>
            <a:pPr marL="0" indent="0">
              <a:buNone/>
            </a:pPr>
            <a:r>
              <a:rPr lang="vi-VN" sz="1200" dirty="0"/>
              <a:t>        </a:t>
            </a:r>
            <a:r>
              <a:rPr lang="en-US" sz="1200" dirty="0"/>
              <a:t>HCN</a:t>
            </a:r>
            <a:r>
              <a:rPr lang="vi-VN" sz="1200" dirty="0"/>
              <a:t> hcn</a:t>
            </a:r>
            <a:r>
              <a:rPr lang="en-US" sz="1200" dirty="0"/>
              <a:t>1</a:t>
            </a:r>
            <a:r>
              <a:rPr lang="vi-VN" sz="1200" dirty="0"/>
              <a:t> = new </a:t>
            </a:r>
            <a:r>
              <a:rPr lang="en-US" sz="1200" dirty="0"/>
              <a:t>HCN </a:t>
            </a:r>
            <a:r>
              <a:rPr lang="vi-VN" sz="1200" dirty="0"/>
              <a:t>();</a:t>
            </a:r>
          </a:p>
          <a:p>
            <a:pPr marL="0" indent="0">
              <a:buNone/>
            </a:pPr>
            <a:r>
              <a:rPr lang="vi-VN" sz="1200" dirty="0"/>
              <a:t>}</a:t>
            </a:r>
          </a:p>
          <a:p>
            <a:pPr marL="0" indent="0">
              <a:buNone/>
            </a:pPr>
            <a:endParaRPr lang="en-US" sz="2000" dirty="0"/>
          </a:p>
        </p:txBody>
      </p:sp>
      <p:sp>
        <p:nvSpPr>
          <p:cNvPr id="4" name="Date Placeholder 3"/>
          <p:cNvSpPr>
            <a:spLocks noGrp="1"/>
          </p:cNvSpPr>
          <p:nvPr>
            <p:ph type="dt" sz="half" idx="10"/>
          </p:nvPr>
        </p:nvSpPr>
        <p:spPr/>
        <p:txBody>
          <a:bodyPr/>
          <a:lstStyle/>
          <a:p>
            <a:fld id="{4719FDB1-9615-4287-8D55-AF20E3CF298E}" type="datetime1">
              <a:rPr lang="vi-VN" smtClean="0"/>
              <a:t>04/02/2025</a:t>
            </a:fld>
            <a:endParaRPr lang="vi-VN"/>
          </a:p>
        </p:txBody>
      </p:sp>
      <p:sp>
        <p:nvSpPr>
          <p:cNvPr id="5" name="Footer Placeholder 4"/>
          <p:cNvSpPr>
            <a:spLocks noGrp="1"/>
          </p:cNvSpPr>
          <p:nvPr>
            <p:ph type="ftr" sz="quarter" idx="11"/>
          </p:nvPr>
        </p:nvSpPr>
        <p:spPr/>
        <p:txBody>
          <a:bodyPr/>
          <a:lstStyle/>
          <a:p>
            <a:r>
              <a:rPr lang="vi-VN"/>
              <a:t>Chương 3. Lập trình hướng đối tượng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24</a:t>
            </a:fld>
            <a:r>
              <a:rPr lang="vi-VN"/>
              <a:t>/33</a:t>
            </a:r>
          </a:p>
        </p:txBody>
      </p:sp>
      <p:sp>
        <p:nvSpPr>
          <p:cNvPr id="8" name="Title 1"/>
          <p:cNvSpPr txBox="1">
            <a:spLocks/>
          </p:cNvSpPr>
          <p:nvPr/>
        </p:nvSpPr>
        <p:spPr bwMode="auto">
          <a:xfrm>
            <a:off x="971600" y="266700"/>
            <a:ext cx="6696744"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3400">
                <a:solidFill>
                  <a:schemeClr val="folHlink"/>
                </a:solidFill>
                <a:latin typeface="+mj-lt"/>
                <a:ea typeface="+mj-ea"/>
                <a:cs typeface="+mj-cs"/>
              </a:defRPr>
            </a:lvl1pPr>
            <a:lvl2pPr algn="l" rtl="0" eaLnBrk="1" fontAlgn="base" hangingPunct="1">
              <a:spcBef>
                <a:spcPct val="0"/>
              </a:spcBef>
              <a:spcAft>
                <a:spcPct val="0"/>
              </a:spcAft>
              <a:defRPr sz="3400">
                <a:solidFill>
                  <a:schemeClr val="folHlink"/>
                </a:solidFill>
                <a:latin typeface="Arial" charset="0"/>
                <a:cs typeface="Arial" charset="0"/>
              </a:defRPr>
            </a:lvl2pPr>
            <a:lvl3pPr algn="l" rtl="0" eaLnBrk="1" fontAlgn="base" hangingPunct="1">
              <a:spcBef>
                <a:spcPct val="0"/>
              </a:spcBef>
              <a:spcAft>
                <a:spcPct val="0"/>
              </a:spcAft>
              <a:defRPr sz="3400">
                <a:solidFill>
                  <a:schemeClr val="folHlink"/>
                </a:solidFill>
                <a:latin typeface="Arial" charset="0"/>
                <a:cs typeface="Arial" charset="0"/>
              </a:defRPr>
            </a:lvl3pPr>
            <a:lvl4pPr algn="l" rtl="0" eaLnBrk="1" fontAlgn="base" hangingPunct="1">
              <a:spcBef>
                <a:spcPct val="0"/>
              </a:spcBef>
              <a:spcAft>
                <a:spcPct val="0"/>
              </a:spcAft>
              <a:defRPr sz="3400">
                <a:solidFill>
                  <a:schemeClr val="folHlink"/>
                </a:solidFill>
                <a:latin typeface="Arial" charset="0"/>
                <a:cs typeface="Arial" charset="0"/>
              </a:defRPr>
            </a:lvl4pPr>
            <a:lvl5pPr algn="l" rtl="0" eaLnBrk="1" fontAlgn="base" hangingPunct="1">
              <a:spcBef>
                <a:spcPct val="0"/>
              </a:spcBef>
              <a:spcAft>
                <a:spcPct val="0"/>
              </a:spcAft>
              <a:defRPr sz="3400">
                <a:solidFill>
                  <a:schemeClr val="folHlink"/>
                </a:solidFill>
                <a:latin typeface="Arial" charset="0"/>
                <a:cs typeface="Arial" charset="0"/>
              </a:defRPr>
            </a:lvl5pPr>
            <a:lvl6pPr marL="457200" algn="l" rtl="0" eaLnBrk="1" fontAlgn="base" hangingPunct="1">
              <a:spcBef>
                <a:spcPct val="0"/>
              </a:spcBef>
              <a:spcAft>
                <a:spcPct val="0"/>
              </a:spcAft>
              <a:defRPr sz="3400">
                <a:solidFill>
                  <a:schemeClr val="folHlink"/>
                </a:solidFill>
                <a:latin typeface="Arial" charset="0"/>
                <a:cs typeface="Arial" charset="0"/>
              </a:defRPr>
            </a:lvl6pPr>
            <a:lvl7pPr marL="914400" algn="l" rtl="0" eaLnBrk="1" fontAlgn="base" hangingPunct="1">
              <a:spcBef>
                <a:spcPct val="0"/>
              </a:spcBef>
              <a:spcAft>
                <a:spcPct val="0"/>
              </a:spcAft>
              <a:defRPr sz="3400">
                <a:solidFill>
                  <a:schemeClr val="folHlink"/>
                </a:solidFill>
                <a:latin typeface="Arial" charset="0"/>
                <a:cs typeface="Arial" charset="0"/>
              </a:defRPr>
            </a:lvl7pPr>
            <a:lvl8pPr marL="1371600" algn="l" rtl="0" eaLnBrk="1" fontAlgn="base" hangingPunct="1">
              <a:spcBef>
                <a:spcPct val="0"/>
              </a:spcBef>
              <a:spcAft>
                <a:spcPct val="0"/>
              </a:spcAft>
              <a:defRPr sz="3400">
                <a:solidFill>
                  <a:schemeClr val="folHlink"/>
                </a:solidFill>
                <a:latin typeface="Arial" charset="0"/>
                <a:cs typeface="Arial" charset="0"/>
              </a:defRPr>
            </a:lvl8pPr>
            <a:lvl9pPr marL="1828800" algn="l" rtl="0" eaLnBrk="1" fontAlgn="base" hangingPunct="1">
              <a:spcBef>
                <a:spcPct val="0"/>
              </a:spcBef>
              <a:spcAft>
                <a:spcPct val="0"/>
              </a:spcAft>
              <a:defRPr sz="3400">
                <a:solidFill>
                  <a:schemeClr val="folHlink"/>
                </a:solidFill>
                <a:latin typeface="Arial" charset="0"/>
                <a:cs typeface="Arial" charset="0"/>
              </a:defRPr>
            </a:lvl9pPr>
          </a:lstStyle>
          <a:p>
            <a:r>
              <a:rPr lang="en-US" sz="2800" b="1">
                <a:solidFill>
                  <a:schemeClr val="bg1"/>
                </a:solidFill>
              </a:rPr>
              <a:t>3.1.2. Phương thức huỷ (destructor)</a:t>
            </a:r>
            <a:endParaRPr lang="en-US" sz="2800" b="1">
              <a:solidFill>
                <a:schemeClr val="bg1"/>
              </a:solidFill>
              <a:latin typeface="Cambria"/>
              <a:ea typeface="Cambria"/>
              <a:sym typeface="Cambria"/>
            </a:endParaRPr>
          </a:p>
        </p:txBody>
      </p:sp>
    </p:spTree>
    <p:extLst>
      <p:ext uri="{BB962C8B-B14F-4D97-AF65-F5344CB8AC3E}">
        <p14:creationId xmlns:p14="http://schemas.microsoft.com/office/powerpoint/2010/main" val="10843018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358" y="342449"/>
            <a:ext cx="8382000" cy="685800"/>
          </a:xfrm>
        </p:spPr>
        <p:txBody>
          <a:bodyPr/>
          <a:lstStyle/>
          <a:p>
            <a:r>
              <a:rPr lang="en-US"/>
              <a:t>Từ khoá this</a:t>
            </a:r>
          </a:p>
        </p:txBody>
      </p:sp>
      <p:sp>
        <p:nvSpPr>
          <p:cNvPr id="3" name="Content Placeholder 2"/>
          <p:cNvSpPr>
            <a:spLocks noGrp="1"/>
          </p:cNvSpPr>
          <p:nvPr>
            <p:ph idx="1"/>
          </p:nvPr>
        </p:nvSpPr>
        <p:spPr>
          <a:xfrm>
            <a:off x="409575" y="1028249"/>
            <a:ext cx="7924800" cy="5181600"/>
          </a:xfrm>
        </p:spPr>
        <p:txBody>
          <a:bodyPr/>
          <a:lstStyle/>
          <a:p>
            <a:r>
              <a:rPr lang="en-US" sz="2000" dirty="0" err="1"/>
              <a:t>Từ</a:t>
            </a:r>
            <a:r>
              <a:rPr lang="en-US" sz="2000" dirty="0"/>
              <a:t> </a:t>
            </a:r>
            <a:r>
              <a:rPr lang="en-US" sz="2000" dirty="0" err="1"/>
              <a:t>khoá</a:t>
            </a:r>
            <a:r>
              <a:rPr lang="en-US" sz="2000" dirty="0"/>
              <a:t> </a:t>
            </a:r>
            <a:r>
              <a:rPr lang="en-US" sz="2000" b="1" dirty="0">
                <a:solidFill>
                  <a:srgbClr val="FF0000"/>
                </a:solidFill>
              </a:rPr>
              <a:t>this</a:t>
            </a:r>
            <a:r>
              <a:rPr lang="en-US" sz="2000" dirty="0"/>
              <a:t> </a:t>
            </a:r>
            <a:r>
              <a:rPr lang="en-US" sz="2000" dirty="0" err="1"/>
              <a:t>trỏ</a:t>
            </a:r>
            <a:r>
              <a:rPr lang="en-US" sz="2000" dirty="0"/>
              <a:t> </a:t>
            </a:r>
            <a:r>
              <a:rPr lang="en-US" sz="2000" dirty="0" err="1"/>
              <a:t>đến</a:t>
            </a:r>
            <a:r>
              <a:rPr lang="en-US" sz="2000" dirty="0"/>
              <a:t> </a:t>
            </a:r>
            <a:r>
              <a:rPr lang="en-US" sz="2000" dirty="0" err="1"/>
              <a:t>thể</a:t>
            </a:r>
            <a:r>
              <a:rPr lang="en-US" sz="2000" dirty="0"/>
              <a:t> </a:t>
            </a:r>
            <a:r>
              <a:rPr lang="en-US" sz="2000" dirty="0" err="1"/>
              <a:t>hiện</a:t>
            </a:r>
            <a:r>
              <a:rPr lang="en-US" sz="2000" dirty="0"/>
              <a:t> </a:t>
            </a:r>
            <a:r>
              <a:rPr lang="en-US" sz="2000" dirty="0" err="1"/>
              <a:t>hiện</a:t>
            </a:r>
            <a:r>
              <a:rPr lang="en-US" sz="2000" dirty="0"/>
              <a:t> </a:t>
            </a:r>
            <a:r>
              <a:rPr lang="en-US" sz="2000" dirty="0" err="1"/>
              <a:t>tại</a:t>
            </a:r>
            <a:r>
              <a:rPr lang="en-US" sz="2000" dirty="0"/>
              <a:t> (current instance) </a:t>
            </a:r>
            <a:r>
              <a:rPr lang="en-US" sz="2000" dirty="0" err="1"/>
              <a:t>của</a:t>
            </a:r>
            <a:r>
              <a:rPr lang="en-US" sz="2000" dirty="0"/>
              <a:t> </a:t>
            </a:r>
            <a:r>
              <a:rPr lang="en-US" sz="2000" dirty="0" err="1"/>
              <a:t>đối</a:t>
            </a:r>
            <a:r>
              <a:rPr lang="en-US" sz="2000" dirty="0"/>
              <a:t> </a:t>
            </a:r>
            <a:r>
              <a:rPr lang="en-US" sz="2000" dirty="0" err="1"/>
              <a:t>tượng</a:t>
            </a:r>
            <a:endParaRPr lang="en-US" sz="2000" dirty="0"/>
          </a:p>
          <a:p>
            <a:pPr marL="471487" lvl="1" indent="0">
              <a:buNone/>
            </a:pPr>
            <a:r>
              <a:rPr lang="en-US" sz="1800" dirty="0" err="1"/>
              <a:t>Trước</a:t>
            </a:r>
            <a:r>
              <a:rPr lang="en-US" sz="1800" dirty="0"/>
              <a:t> </a:t>
            </a:r>
            <a:r>
              <a:rPr lang="en-US" sz="1800" dirty="0" err="1"/>
              <a:t>khi</a:t>
            </a:r>
            <a:r>
              <a:rPr lang="en-US" sz="1800" dirty="0"/>
              <a:t> </a:t>
            </a:r>
            <a:r>
              <a:rPr lang="en-US" sz="1800" dirty="0" err="1"/>
              <a:t>tìm</a:t>
            </a:r>
            <a:r>
              <a:rPr lang="en-US" sz="1800" dirty="0"/>
              <a:t> </a:t>
            </a:r>
            <a:r>
              <a:rPr lang="en-US" sz="1800" dirty="0" err="1"/>
              <a:t>hiểu</a:t>
            </a:r>
            <a:r>
              <a:rPr lang="en-US" sz="1800" dirty="0"/>
              <a:t> </a:t>
            </a:r>
            <a:r>
              <a:rPr lang="en-US" sz="1800" dirty="0" err="1"/>
              <a:t>từ</a:t>
            </a:r>
            <a:r>
              <a:rPr lang="en-US" sz="1800" dirty="0"/>
              <a:t> </a:t>
            </a:r>
            <a:r>
              <a:rPr lang="en-US" sz="1800" dirty="0" err="1"/>
              <a:t>khóa</a:t>
            </a:r>
            <a:r>
              <a:rPr lang="en-US" sz="1800" dirty="0"/>
              <a:t> this là </a:t>
            </a:r>
            <a:r>
              <a:rPr lang="en-US" sz="1800" dirty="0" err="1"/>
              <a:t>gì</a:t>
            </a:r>
            <a:r>
              <a:rPr lang="en-US" sz="1800" dirty="0"/>
              <a:t>, </a:t>
            </a:r>
            <a:r>
              <a:rPr lang="en-US" sz="1800" dirty="0" err="1"/>
              <a:t>giả</a:t>
            </a:r>
            <a:r>
              <a:rPr lang="en-US" sz="1800" dirty="0"/>
              <a:t> </a:t>
            </a:r>
            <a:r>
              <a:rPr lang="en-US" sz="1800" dirty="0" err="1"/>
              <a:t>sử</a:t>
            </a:r>
            <a:r>
              <a:rPr lang="en-US" sz="1800" dirty="0"/>
              <a:t> </a:t>
            </a:r>
            <a:r>
              <a:rPr lang="en-US" sz="1800" dirty="0" err="1"/>
              <a:t>chúng</a:t>
            </a:r>
            <a:r>
              <a:rPr lang="en-US" sz="1800" dirty="0"/>
              <a:t> ta </a:t>
            </a:r>
            <a:r>
              <a:rPr lang="en-US" sz="1800" dirty="0" err="1"/>
              <a:t>cho</a:t>
            </a:r>
            <a:r>
              <a:rPr lang="en-US" sz="1800" dirty="0"/>
              <a:t> </a:t>
            </a:r>
            <a:r>
              <a:rPr lang="en-US" sz="1800" dirty="0" err="1"/>
              <a:t>tham</a:t>
            </a:r>
            <a:r>
              <a:rPr lang="en-US" sz="1800" dirty="0"/>
              <a:t> </a:t>
            </a:r>
            <a:r>
              <a:rPr lang="en-US" sz="1800" dirty="0" err="1"/>
              <a:t>số</a:t>
            </a:r>
            <a:r>
              <a:rPr lang="en-US" sz="1800" dirty="0"/>
              <a:t> </a:t>
            </a:r>
            <a:r>
              <a:rPr lang="en-US" sz="1800" dirty="0" err="1"/>
              <a:t>của</a:t>
            </a:r>
            <a:r>
              <a:rPr lang="en-US" sz="1800" dirty="0"/>
              <a:t> </a:t>
            </a:r>
            <a:r>
              <a:rPr lang="en-US" sz="1800" dirty="0" err="1"/>
              <a:t>hàm</a:t>
            </a:r>
            <a:r>
              <a:rPr lang="en-US" sz="1800" dirty="0"/>
              <a:t> </a:t>
            </a:r>
            <a:r>
              <a:rPr lang="en-US" sz="1800" dirty="0" err="1"/>
              <a:t>xây</a:t>
            </a:r>
            <a:r>
              <a:rPr lang="en-US" sz="1800" dirty="0"/>
              <a:t> </a:t>
            </a:r>
            <a:r>
              <a:rPr lang="en-US" sz="1800" dirty="0" err="1"/>
              <a:t>dựng</a:t>
            </a:r>
            <a:r>
              <a:rPr lang="en-US" sz="1800" dirty="0"/>
              <a:t> </a:t>
            </a:r>
            <a:r>
              <a:rPr lang="en-US" sz="1800" dirty="0" err="1"/>
              <a:t>cùng</a:t>
            </a:r>
            <a:r>
              <a:rPr lang="en-US" sz="1800" dirty="0"/>
              <a:t> </a:t>
            </a:r>
            <a:r>
              <a:rPr lang="en-US" sz="1800" dirty="0" err="1"/>
              <a:t>tên</a:t>
            </a:r>
            <a:r>
              <a:rPr lang="en-US" sz="1800" dirty="0"/>
              <a:t> </a:t>
            </a:r>
            <a:r>
              <a:rPr lang="en-US" sz="1800" dirty="0" err="1"/>
              <a:t>với</a:t>
            </a:r>
            <a:r>
              <a:rPr lang="en-US" sz="1800" dirty="0"/>
              <a:t> </a:t>
            </a:r>
            <a:r>
              <a:rPr lang="en-US" sz="1800" dirty="0" err="1"/>
              <a:t>dữ</a:t>
            </a:r>
            <a:r>
              <a:rPr lang="en-US" sz="1800" dirty="0"/>
              <a:t> </a:t>
            </a:r>
            <a:r>
              <a:rPr lang="en-US" sz="1800" dirty="0" err="1"/>
              <a:t>liệu</a:t>
            </a:r>
            <a:r>
              <a:rPr lang="en-US" sz="1800" dirty="0"/>
              <a:t> </a:t>
            </a:r>
            <a:r>
              <a:rPr lang="en-US" sz="1800" dirty="0" err="1"/>
              <a:t>thành</a:t>
            </a:r>
            <a:r>
              <a:rPr lang="en-US" sz="1800" dirty="0"/>
              <a:t> </a:t>
            </a:r>
            <a:r>
              <a:rPr lang="en-US" sz="1800" dirty="0" err="1"/>
              <a:t>viên</a:t>
            </a:r>
            <a:r>
              <a:rPr lang="en-US" sz="1800" dirty="0"/>
              <a:t> </a:t>
            </a:r>
            <a:r>
              <a:rPr lang="en-US" sz="1800" dirty="0" err="1"/>
              <a:t>của</a:t>
            </a:r>
            <a:r>
              <a:rPr lang="en-US" sz="1800" dirty="0"/>
              <a:t> </a:t>
            </a:r>
            <a:r>
              <a:rPr lang="en-US" sz="1800" dirty="0" err="1"/>
              <a:t>lớp</a:t>
            </a:r>
            <a:endParaRPr lang="en-US" sz="1800" dirty="0"/>
          </a:p>
        </p:txBody>
      </p:sp>
      <p:sp>
        <p:nvSpPr>
          <p:cNvPr id="4" name="Date Placeholder 3"/>
          <p:cNvSpPr>
            <a:spLocks noGrp="1"/>
          </p:cNvSpPr>
          <p:nvPr>
            <p:ph type="dt" sz="half" idx="10"/>
          </p:nvPr>
        </p:nvSpPr>
        <p:spPr/>
        <p:txBody>
          <a:bodyPr/>
          <a:lstStyle/>
          <a:p>
            <a:fld id="{569E720A-7CFE-4D84-95DF-525F22AC5182}" type="datetime1">
              <a:rPr lang="vi-VN" smtClean="0"/>
              <a:t>04/02/2025</a:t>
            </a:fld>
            <a:endParaRPr lang="vi-VN"/>
          </a:p>
        </p:txBody>
      </p:sp>
      <p:sp>
        <p:nvSpPr>
          <p:cNvPr id="5" name="Footer Placeholder 4"/>
          <p:cNvSpPr>
            <a:spLocks noGrp="1"/>
          </p:cNvSpPr>
          <p:nvPr>
            <p:ph type="ftr" sz="quarter" idx="11"/>
          </p:nvPr>
        </p:nvSpPr>
        <p:spPr/>
        <p:txBody>
          <a:bodyPr/>
          <a:lstStyle/>
          <a:p>
            <a:r>
              <a:rPr lang="vi-VN"/>
              <a:t>Chương 3. Lập trình hướng đối tượng trong C#</a:t>
            </a:r>
          </a:p>
        </p:txBody>
      </p:sp>
      <p:sp>
        <p:nvSpPr>
          <p:cNvPr id="8" name="Slide Number Placeholder 7"/>
          <p:cNvSpPr>
            <a:spLocks noGrp="1"/>
          </p:cNvSpPr>
          <p:nvPr>
            <p:ph type="sldNum" sz="quarter" idx="12"/>
          </p:nvPr>
        </p:nvSpPr>
        <p:spPr/>
        <p:txBody>
          <a:bodyPr/>
          <a:lstStyle/>
          <a:p>
            <a:fld id="{5AB95402-1E0D-474E-8D8C-CBE7F053639E}" type="slidenum">
              <a:rPr lang="vi-VN" smtClean="0"/>
              <a:pPr/>
              <a:t>25</a:t>
            </a:fld>
            <a:r>
              <a:rPr lang="vi-VN"/>
              <a:t>/33</a:t>
            </a:r>
          </a:p>
        </p:txBody>
      </p:sp>
      <p:pic>
        <p:nvPicPr>
          <p:cNvPr id="10" name="Picture 9">
            <a:extLst>
              <a:ext uri="{FF2B5EF4-FFF2-40B4-BE49-F238E27FC236}">
                <a16:creationId xmlns:a16="http://schemas.microsoft.com/office/drawing/2014/main" id="{8CE18F21-FC29-4BEA-8A9F-AFD19E4B6F21}"/>
              </a:ext>
            </a:extLst>
          </p:cNvPr>
          <p:cNvPicPr>
            <a:picLocks noChangeAspect="1"/>
          </p:cNvPicPr>
          <p:nvPr/>
        </p:nvPicPr>
        <p:blipFill>
          <a:blip r:embed="rId3"/>
          <a:stretch>
            <a:fillRect/>
          </a:stretch>
        </p:blipFill>
        <p:spPr>
          <a:xfrm>
            <a:off x="762000" y="2350102"/>
            <a:ext cx="5610200" cy="4087009"/>
          </a:xfrm>
          <a:prstGeom prst="rect">
            <a:avLst/>
          </a:prstGeom>
        </p:spPr>
      </p:pic>
      <p:pic>
        <p:nvPicPr>
          <p:cNvPr id="14" name="Picture 13">
            <a:extLst>
              <a:ext uri="{FF2B5EF4-FFF2-40B4-BE49-F238E27FC236}">
                <a16:creationId xmlns:a16="http://schemas.microsoft.com/office/drawing/2014/main" id="{4CBC60AF-6720-4FCD-BFCB-C3ABCA1A3489}"/>
              </a:ext>
            </a:extLst>
          </p:cNvPr>
          <p:cNvPicPr>
            <a:picLocks noChangeAspect="1"/>
          </p:cNvPicPr>
          <p:nvPr/>
        </p:nvPicPr>
        <p:blipFill>
          <a:blip r:embed="rId4"/>
          <a:stretch>
            <a:fillRect/>
          </a:stretch>
        </p:blipFill>
        <p:spPr>
          <a:xfrm>
            <a:off x="6499523" y="4077072"/>
            <a:ext cx="2448273" cy="1824687"/>
          </a:xfrm>
          <a:prstGeom prst="rect">
            <a:avLst/>
          </a:prstGeom>
        </p:spPr>
      </p:pic>
    </p:spTree>
    <p:extLst>
      <p:ext uri="{BB962C8B-B14F-4D97-AF65-F5344CB8AC3E}">
        <p14:creationId xmlns:p14="http://schemas.microsoft.com/office/powerpoint/2010/main" val="29645950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1055" y="334650"/>
            <a:ext cx="8382000" cy="685800"/>
          </a:xfrm>
        </p:spPr>
        <p:txBody>
          <a:bodyPr/>
          <a:lstStyle/>
          <a:p>
            <a:r>
              <a:rPr lang="en-US"/>
              <a:t>Từ khoá this</a:t>
            </a:r>
          </a:p>
        </p:txBody>
      </p:sp>
      <p:sp>
        <p:nvSpPr>
          <p:cNvPr id="4" name="Date Placeholder 3"/>
          <p:cNvSpPr>
            <a:spLocks noGrp="1"/>
          </p:cNvSpPr>
          <p:nvPr>
            <p:ph type="dt" sz="half" idx="10"/>
          </p:nvPr>
        </p:nvSpPr>
        <p:spPr/>
        <p:txBody>
          <a:bodyPr/>
          <a:lstStyle/>
          <a:p>
            <a:fld id="{E1736380-0CCD-48F3-BDCF-22641E20D2B2}" type="datetime1">
              <a:rPr lang="vi-VN" smtClean="0"/>
              <a:t>04/02/2025</a:t>
            </a:fld>
            <a:endParaRPr lang="vi-VN"/>
          </a:p>
        </p:txBody>
      </p:sp>
      <p:sp>
        <p:nvSpPr>
          <p:cNvPr id="5" name="Footer Placeholder 4"/>
          <p:cNvSpPr>
            <a:spLocks noGrp="1"/>
          </p:cNvSpPr>
          <p:nvPr>
            <p:ph type="ftr" sz="quarter" idx="11"/>
          </p:nvPr>
        </p:nvSpPr>
        <p:spPr/>
        <p:txBody>
          <a:bodyPr/>
          <a:lstStyle/>
          <a:p>
            <a:r>
              <a:rPr lang="vi-VN"/>
              <a:t>Chương 3. Lập trình hướng đối tượng trong C#</a:t>
            </a:r>
          </a:p>
        </p:txBody>
      </p:sp>
      <p:sp>
        <p:nvSpPr>
          <p:cNvPr id="8" name="Slide Number Placeholder 7"/>
          <p:cNvSpPr>
            <a:spLocks noGrp="1"/>
          </p:cNvSpPr>
          <p:nvPr>
            <p:ph type="sldNum" sz="quarter" idx="12"/>
          </p:nvPr>
        </p:nvSpPr>
        <p:spPr/>
        <p:txBody>
          <a:bodyPr/>
          <a:lstStyle/>
          <a:p>
            <a:fld id="{5AB95402-1E0D-474E-8D8C-CBE7F053639E}" type="slidenum">
              <a:rPr lang="vi-VN" smtClean="0"/>
              <a:pPr/>
              <a:t>26</a:t>
            </a:fld>
            <a:r>
              <a:rPr lang="vi-VN"/>
              <a:t>/33</a:t>
            </a:r>
          </a:p>
        </p:txBody>
      </p:sp>
      <p:pic>
        <p:nvPicPr>
          <p:cNvPr id="6" name="Picture 5">
            <a:extLst>
              <a:ext uri="{FF2B5EF4-FFF2-40B4-BE49-F238E27FC236}">
                <a16:creationId xmlns:a16="http://schemas.microsoft.com/office/drawing/2014/main" id="{E9D179AE-0D8A-433C-9207-BF3D7B9D8608}"/>
              </a:ext>
            </a:extLst>
          </p:cNvPr>
          <p:cNvPicPr>
            <a:picLocks noChangeAspect="1"/>
          </p:cNvPicPr>
          <p:nvPr/>
        </p:nvPicPr>
        <p:blipFill>
          <a:blip r:embed="rId3"/>
          <a:stretch>
            <a:fillRect/>
          </a:stretch>
        </p:blipFill>
        <p:spPr>
          <a:xfrm>
            <a:off x="304800" y="992477"/>
            <a:ext cx="6938847" cy="5728998"/>
          </a:xfrm>
          <a:prstGeom prst="rect">
            <a:avLst/>
          </a:prstGeom>
        </p:spPr>
      </p:pic>
      <p:pic>
        <p:nvPicPr>
          <p:cNvPr id="9" name="Picture 8">
            <a:extLst>
              <a:ext uri="{FF2B5EF4-FFF2-40B4-BE49-F238E27FC236}">
                <a16:creationId xmlns:a16="http://schemas.microsoft.com/office/drawing/2014/main" id="{3E99A51F-42FB-4089-9888-793CBFEC937D}"/>
              </a:ext>
            </a:extLst>
          </p:cNvPr>
          <p:cNvPicPr>
            <a:picLocks noChangeAspect="1"/>
          </p:cNvPicPr>
          <p:nvPr/>
        </p:nvPicPr>
        <p:blipFill>
          <a:blip r:embed="rId4"/>
          <a:stretch>
            <a:fillRect/>
          </a:stretch>
        </p:blipFill>
        <p:spPr>
          <a:xfrm>
            <a:off x="7196202" y="3645024"/>
            <a:ext cx="1981201" cy="1414242"/>
          </a:xfrm>
          <a:prstGeom prst="rect">
            <a:avLst/>
          </a:prstGeom>
        </p:spPr>
      </p:pic>
    </p:spTree>
    <p:extLst>
      <p:ext uri="{BB962C8B-B14F-4D97-AF65-F5344CB8AC3E}">
        <p14:creationId xmlns:p14="http://schemas.microsoft.com/office/powerpoint/2010/main" val="19034137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584" y="368724"/>
            <a:ext cx="8382000" cy="685800"/>
          </a:xfrm>
        </p:spPr>
        <p:txBody>
          <a:bodyPr/>
          <a:lstStyle/>
          <a:p>
            <a:r>
              <a:rPr lang="en-US"/>
              <a:t>3.1.3. Truyền tham số</a:t>
            </a:r>
          </a:p>
        </p:txBody>
      </p:sp>
      <p:sp>
        <p:nvSpPr>
          <p:cNvPr id="3" name="Content Placeholder 2"/>
          <p:cNvSpPr>
            <a:spLocks noGrp="1"/>
          </p:cNvSpPr>
          <p:nvPr>
            <p:ph idx="1"/>
          </p:nvPr>
        </p:nvSpPr>
        <p:spPr>
          <a:xfrm>
            <a:off x="304801" y="1071114"/>
            <a:ext cx="8382000" cy="5181600"/>
          </a:xfrm>
        </p:spPr>
        <p:txBody>
          <a:bodyPr/>
          <a:lstStyle/>
          <a:p>
            <a:pPr marL="0" indent="0" algn="l">
              <a:buNone/>
            </a:pPr>
            <a:r>
              <a:rPr lang="vi-VN" sz="2000" b="0" i="0" dirty="0">
                <a:solidFill>
                  <a:srgbClr val="222222"/>
                </a:solidFill>
                <a:effectLst/>
                <a:latin typeface="Times New Roman" panose="02020603050405020304" pitchFamily="18" charset="0"/>
                <a:cs typeface="Times New Roman" panose="02020603050405020304" pitchFamily="18" charset="0"/>
              </a:rPr>
              <a:t>Trong lập trình C#, có hai loại truyền tham số vào hàm:</a:t>
            </a:r>
          </a:p>
          <a:p>
            <a:pPr algn="l">
              <a:buFont typeface="Arial" panose="020B0604020202020204" pitchFamily="34" charset="0"/>
              <a:buChar char="•"/>
            </a:pPr>
            <a:r>
              <a:rPr lang="vi-VN" sz="2000" b="1" i="0" dirty="0">
                <a:solidFill>
                  <a:srgbClr val="222222"/>
                </a:solidFill>
                <a:effectLst/>
                <a:latin typeface="Times New Roman" panose="02020603050405020304" pitchFamily="18" charset="0"/>
                <a:cs typeface="Times New Roman" panose="02020603050405020304" pitchFamily="18" charset="0"/>
              </a:rPr>
              <a:t>Truyền tham trị</a:t>
            </a:r>
            <a:r>
              <a:rPr lang="vi-VN" sz="2000" b="0" i="0" dirty="0">
                <a:solidFill>
                  <a:srgbClr val="222222"/>
                </a:solidFill>
                <a:effectLst/>
                <a:latin typeface="Times New Roman" panose="02020603050405020304" pitchFamily="18" charset="0"/>
                <a:cs typeface="Times New Roman" panose="02020603050405020304" pitchFamily="18" charset="0"/>
              </a:rPr>
              <a:t>: một bản sao của biến sẽ được tạo ra, sao chép giá trị của biến, truyền biến đã được sao chép này vào hàm, dù có thực hiện bao nhiêu phép tính toán cũng không ảnh hưởng đến biến gốc</a:t>
            </a:r>
          </a:p>
          <a:p>
            <a:pPr algn="l">
              <a:buFont typeface="Arial" panose="020B0604020202020204" pitchFamily="34" charset="0"/>
              <a:buChar char="•"/>
            </a:pPr>
            <a:r>
              <a:rPr lang="vi-VN" sz="2000" b="1" i="0" dirty="0">
                <a:solidFill>
                  <a:srgbClr val="222222"/>
                </a:solidFill>
                <a:effectLst/>
                <a:latin typeface="Times New Roman" panose="02020603050405020304" pitchFamily="18" charset="0"/>
                <a:cs typeface="Times New Roman" panose="02020603050405020304" pitchFamily="18" charset="0"/>
              </a:rPr>
              <a:t>Truyền tham chiếu</a:t>
            </a:r>
            <a:r>
              <a:rPr lang="vi-VN" sz="2000" b="0" i="0" dirty="0">
                <a:solidFill>
                  <a:srgbClr val="222222"/>
                </a:solidFill>
                <a:effectLst/>
                <a:latin typeface="Times New Roman" panose="02020603050405020304" pitchFamily="18" charset="0"/>
                <a:cs typeface="Times New Roman" panose="02020603050405020304" pitchFamily="18" charset="0"/>
              </a:rPr>
              <a:t>: truyền ngay địa chỉ của biến được lưu trên bộ nhớ vào hàm (hay hiểu cách khác là truyền chính biến đó vào hàm) khi thực hiện tính toán thì giá trị biến này thay đổi theo</a:t>
            </a:r>
            <a:r>
              <a:rPr lang="vi-VN" sz="2000" b="0" i="0">
                <a:solidFill>
                  <a:srgbClr val="222222"/>
                </a:solidFill>
                <a:effectLst/>
                <a:latin typeface="Times New Roman" panose="02020603050405020304" pitchFamily="18" charset="0"/>
                <a:cs typeface="Times New Roman" panose="02020603050405020304" pitchFamily="18" charset="0"/>
              </a:rPr>
              <a:t>.</a:t>
            </a:r>
            <a:r>
              <a:rPr lang="en-US" sz="2000" b="0" i="0">
                <a:solidFill>
                  <a:srgbClr val="222222"/>
                </a:solidFill>
                <a:effectLst/>
                <a:latin typeface="Times New Roman" panose="02020603050405020304" pitchFamily="18" charset="0"/>
                <a:cs typeface="Times New Roman" panose="02020603050405020304" pitchFamily="18" charset="0"/>
              </a:rPr>
              <a:t> </a:t>
            </a:r>
            <a:r>
              <a:rPr lang="en-US" sz="2000" b="0" i="0" dirty="0">
                <a:solidFill>
                  <a:srgbClr val="222222"/>
                </a:solidFill>
                <a:effectLst/>
                <a:latin typeface="Times New Roman" panose="02020603050405020304" pitchFamily="18" charset="0"/>
                <a:cs typeface="Times New Roman" panose="02020603050405020304" pitchFamily="18" charset="0"/>
              </a:rPr>
              <a:t>r</a:t>
            </a:r>
            <a:r>
              <a:rPr lang="en-US" sz="2000">
                <a:solidFill>
                  <a:srgbClr val="222222"/>
                </a:solidFill>
                <a:latin typeface="Times New Roman" panose="02020603050405020304" pitchFamily="18" charset="0"/>
                <a:cs typeface="Times New Roman" panose="02020603050405020304" pitchFamily="18" charset="0"/>
              </a:rPr>
              <a:t>ef </a:t>
            </a:r>
            <a:r>
              <a:rPr lang="en-US" sz="2000" dirty="0" err="1">
                <a:solidFill>
                  <a:srgbClr val="222222"/>
                </a:solidFill>
                <a:latin typeface="Times New Roman" panose="02020603050405020304" pitchFamily="18" charset="0"/>
                <a:cs typeface="Times New Roman" panose="02020603050405020304" pitchFamily="18" charset="0"/>
              </a:rPr>
              <a:t>và</a:t>
            </a:r>
            <a:r>
              <a:rPr lang="en-US" sz="2000" dirty="0">
                <a:solidFill>
                  <a:srgbClr val="222222"/>
                </a:solidFill>
                <a:latin typeface="Times New Roman" panose="02020603050405020304" pitchFamily="18" charset="0"/>
                <a:cs typeface="Times New Roman" panose="02020603050405020304" pitchFamily="18" charset="0"/>
              </a:rPr>
              <a:t> out là </a:t>
            </a:r>
            <a:r>
              <a:rPr lang="en-US" sz="2000" dirty="0" err="1">
                <a:solidFill>
                  <a:srgbClr val="222222"/>
                </a:solidFill>
                <a:latin typeface="Times New Roman" panose="02020603050405020304" pitchFamily="18" charset="0"/>
                <a:cs typeface="Times New Roman" panose="02020603050405020304" pitchFamily="18" charset="0"/>
              </a:rPr>
              <a:t>hai</a:t>
            </a:r>
            <a:r>
              <a:rPr lang="en-US" sz="2000" dirty="0">
                <a:solidFill>
                  <a:srgbClr val="222222"/>
                </a:solidFill>
                <a:latin typeface="Times New Roman" panose="02020603050405020304" pitchFamily="18" charset="0"/>
                <a:cs typeface="Times New Roman" panose="02020603050405020304" pitchFamily="18" charset="0"/>
              </a:rPr>
              <a:t> </a:t>
            </a:r>
            <a:r>
              <a:rPr lang="en-US" sz="2000" dirty="0" err="1">
                <a:solidFill>
                  <a:srgbClr val="222222"/>
                </a:solidFill>
                <a:latin typeface="Times New Roman" panose="02020603050405020304" pitchFamily="18" charset="0"/>
                <a:cs typeface="Times New Roman" panose="02020603050405020304" pitchFamily="18" charset="0"/>
              </a:rPr>
              <a:t>từ</a:t>
            </a:r>
            <a:r>
              <a:rPr lang="en-US" sz="2000" dirty="0">
                <a:solidFill>
                  <a:srgbClr val="222222"/>
                </a:solidFill>
                <a:latin typeface="Times New Roman" panose="02020603050405020304" pitchFamily="18" charset="0"/>
                <a:cs typeface="Times New Roman" panose="02020603050405020304" pitchFamily="18" charset="0"/>
              </a:rPr>
              <a:t> </a:t>
            </a:r>
            <a:r>
              <a:rPr lang="en-US" sz="2000" dirty="0" err="1">
                <a:solidFill>
                  <a:srgbClr val="222222"/>
                </a:solidFill>
                <a:latin typeface="Times New Roman" panose="02020603050405020304" pitchFamily="18" charset="0"/>
                <a:cs typeface="Times New Roman" panose="02020603050405020304" pitchFamily="18" charset="0"/>
              </a:rPr>
              <a:t>khóa</a:t>
            </a:r>
            <a:r>
              <a:rPr lang="en-US" sz="2000" dirty="0">
                <a:solidFill>
                  <a:srgbClr val="222222"/>
                </a:solidFill>
                <a:latin typeface="Times New Roman" panose="02020603050405020304" pitchFamily="18" charset="0"/>
                <a:cs typeface="Times New Roman" panose="02020603050405020304" pitchFamily="18" charset="0"/>
              </a:rPr>
              <a:t> </a:t>
            </a:r>
            <a:r>
              <a:rPr lang="en-US" sz="2000" dirty="0" err="1">
                <a:solidFill>
                  <a:srgbClr val="222222"/>
                </a:solidFill>
                <a:latin typeface="Times New Roman" panose="02020603050405020304" pitchFamily="18" charset="0"/>
                <a:cs typeface="Times New Roman" panose="02020603050405020304" pitchFamily="18" charset="0"/>
              </a:rPr>
              <a:t>dùng</a:t>
            </a:r>
            <a:r>
              <a:rPr lang="en-US" sz="2000" dirty="0">
                <a:solidFill>
                  <a:srgbClr val="222222"/>
                </a:solidFill>
                <a:latin typeface="Times New Roman" panose="02020603050405020304" pitchFamily="18" charset="0"/>
                <a:cs typeface="Times New Roman" panose="02020603050405020304" pitchFamily="18" charset="0"/>
              </a:rPr>
              <a:t> </a:t>
            </a:r>
            <a:r>
              <a:rPr lang="en-US" sz="2000" dirty="0" err="1">
                <a:solidFill>
                  <a:srgbClr val="222222"/>
                </a:solidFill>
                <a:latin typeface="Times New Roman" panose="02020603050405020304" pitchFamily="18" charset="0"/>
                <a:cs typeface="Times New Roman" panose="02020603050405020304" pitchFamily="18" charset="0"/>
              </a:rPr>
              <a:t>để</a:t>
            </a:r>
            <a:r>
              <a:rPr lang="en-US" sz="2000" dirty="0">
                <a:solidFill>
                  <a:srgbClr val="222222"/>
                </a:solidFill>
                <a:latin typeface="Times New Roman" panose="02020603050405020304" pitchFamily="18" charset="0"/>
                <a:cs typeface="Times New Roman" panose="02020603050405020304" pitchFamily="18" charset="0"/>
              </a:rPr>
              <a:t> </a:t>
            </a:r>
            <a:r>
              <a:rPr lang="en-US" sz="2000" dirty="0" err="1">
                <a:solidFill>
                  <a:srgbClr val="222222"/>
                </a:solidFill>
                <a:latin typeface="Times New Roman" panose="02020603050405020304" pitchFamily="18" charset="0"/>
                <a:cs typeface="Times New Roman" panose="02020603050405020304" pitchFamily="18" charset="0"/>
              </a:rPr>
              <a:t>truyền</a:t>
            </a:r>
            <a:r>
              <a:rPr lang="en-US" sz="2000" dirty="0">
                <a:solidFill>
                  <a:srgbClr val="222222"/>
                </a:solidFill>
                <a:latin typeface="Times New Roman" panose="02020603050405020304" pitchFamily="18" charset="0"/>
                <a:cs typeface="Times New Roman" panose="02020603050405020304" pitchFamily="18" charset="0"/>
              </a:rPr>
              <a:t> </a:t>
            </a:r>
            <a:r>
              <a:rPr lang="en-US" sz="2000" dirty="0" err="1">
                <a:solidFill>
                  <a:srgbClr val="222222"/>
                </a:solidFill>
                <a:latin typeface="Times New Roman" panose="02020603050405020304" pitchFamily="18" charset="0"/>
                <a:cs typeface="Times New Roman" panose="02020603050405020304" pitchFamily="18" charset="0"/>
              </a:rPr>
              <a:t>tham</a:t>
            </a:r>
            <a:r>
              <a:rPr lang="en-US" sz="2000" dirty="0">
                <a:solidFill>
                  <a:srgbClr val="222222"/>
                </a:solidFill>
                <a:latin typeface="Times New Roman" panose="02020603050405020304" pitchFamily="18" charset="0"/>
                <a:cs typeface="Times New Roman" panose="02020603050405020304" pitchFamily="18" charset="0"/>
              </a:rPr>
              <a:t> </a:t>
            </a:r>
            <a:r>
              <a:rPr lang="en-US" sz="2000" dirty="0" err="1">
                <a:solidFill>
                  <a:srgbClr val="222222"/>
                </a:solidFill>
                <a:latin typeface="Times New Roman" panose="02020603050405020304" pitchFamily="18" charset="0"/>
                <a:cs typeface="Times New Roman" panose="02020603050405020304" pitchFamily="18" charset="0"/>
              </a:rPr>
              <a:t>chiếu</a:t>
            </a:r>
            <a:r>
              <a:rPr lang="en-US" sz="2000" dirty="0">
                <a:solidFill>
                  <a:srgbClr val="222222"/>
                </a:solidFill>
                <a:latin typeface="Times New Roman" panose="02020603050405020304" pitchFamily="18" charset="0"/>
                <a:cs typeface="Times New Roman" panose="02020603050405020304" pitchFamily="18" charset="0"/>
              </a:rPr>
              <a:t> </a:t>
            </a:r>
            <a:r>
              <a:rPr lang="en-US" sz="2000" dirty="0" err="1">
                <a:solidFill>
                  <a:srgbClr val="222222"/>
                </a:solidFill>
                <a:latin typeface="Times New Roman" panose="02020603050405020304" pitchFamily="18" charset="0"/>
                <a:cs typeface="Times New Roman" panose="02020603050405020304" pitchFamily="18" charset="0"/>
              </a:rPr>
              <a:t>vào</a:t>
            </a:r>
            <a:r>
              <a:rPr lang="en-US" sz="2000" dirty="0">
                <a:solidFill>
                  <a:srgbClr val="222222"/>
                </a:solidFill>
                <a:latin typeface="Times New Roman" panose="02020603050405020304" pitchFamily="18" charset="0"/>
                <a:cs typeface="Times New Roman" panose="02020603050405020304" pitchFamily="18" charset="0"/>
              </a:rPr>
              <a:t> </a:t>
            </a:r>
            <a:r>
              <a:rPr lang="en-US" sz="2000" dirty="0" err="1">
                <a:solidFill>
                  <a:srgbClr val="222222"/>
                </a:solidFill>
                <a:latin typeface="Times New Roman" panose="02020603050405020304" pitchFamily="18" charset="0"/>
                <a:cs typeface="Times New Roman" panose="02020603050405020304" pitchFamily="18" charset="0"/>
              </a:rPr>
              <a:t>hàm</a:t>
            </a:r>
            <a:r>
              <a:rPr lang="en-US" sz="2000" dirty="0">
                <a:solidFill>
                  <a:srgbClr val="222222"/>
                </a:solidFill>
                <a:latin typeface="Times New Roman" panose="02020603050405020304" pitchFamily="18" charset="0"/>
                <a:cs typeface="Times New Roman" panose="02020603050405020304" pitchFamily="18" charset="0"/>
              </a:rPr>
              <a:t>. </a:t>
            </a:r>
            <a:endParaRPr lang="vi-VN" sz="2000" dirty="0">
              <a:solidFill>
                <a:srgbClr val="222222"/>
              </a:solidFill>
              <a:latin typeface="Times New Roman" panose="02020603050405020304" pitchFamily="18" charset="0"/>
              <a:cs typeface="Times New Roman" panose="02020603050405020304" pitchFamily="18" charset="0"/>
            </a:endParaRPr>
          </a:p>
          <a:p>
            <a:pPr marL="33337" indent="0">
              <a:buNone/>
            </a:pPr>
            <a:endParaRPr lang="en-US" sz="2000" b="0" i="0" dirty="0">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9F7A01B3-1450-4D9E-BF5E-C44211EA18F8}" type="datetime1">
              <a:rPr lang="vi-VN" smtClean="0"/>
              <a:t>04/02/2025</a:t>
            </a:fld>
            <a:endParaRPr lang="vi-VN"/>
          </a:p>
        </p:txBody>
      </p:sp>
      <p:sp>
        <p:nvSpPr>
          <p:cNvPr id="5" name="Footer Placeholder 4"/>
          <p:cNvSpPr>
            <a:spLocks noGrp="1"/>
          </p:cNvSpPr>
          <p:nvPr>
            <p:ph type="ftr" sz="quarter" idx="11"/>
          </p:nvPr>
        </p:nvSpPr>
        <p:spPr/>
        <p:txBody>
          <a:bodyPr/>
          <a:lstStyle/>
          <a:p>
            <a:r>
              <a:rPr lang="vi-VN"/>
              <a:t>Chương 3. Lập trình hướng đối tượng trong C#</a:t>
            </a:r>
          </a:p>
        </p:txBody>
      </p:sp>
      <p:sp>
        <p:nvSpPr>
          <p:cNvPr id="8" name="Slide Number Placeholder 7"/>
          <p:cNvSpPr>
            <a:spLocks noGrp="1"/>
          </p:cNvSpPr>
          <p:nvPr>
            <p:ph type="sldNum" sz="quarter" idx="12"/>
          </p:nvPr>
        </p:nvSpPr>
        <p:spPr/>
        <p:txBody>
          <a:bodyPr/>
          <a:lstStyle/>
          <a:p>
            <a:fld id="{5AB95402-1E0D-474E-8D8C-CBE7F053639E}" type="slidenum">
              <a:rPr lang="vi-VN" smtClean="0"/>
              <a:pPr/>
              <a:t>27</a:t>
            </a:fld>
            <a:r>
              <a:rPr lang="vi-VN"/>
              <a:t>/33</a:t>
            </a:r>
          </a:p>
        </p:txBody>
      </p:sp>
      <p:pic>
        <p:nvPicPr>
          <p:cNvPr id="7" name="Picture 2">
            <a:extLst>
              <a:ext uri="{FF2B5EF4-FFF2-40B4-BE49-F238E27FC236}">
                <a16:creationId xmlns:a16="http://schemas.microsoft.com/office/drawing/2014/main" id="{607AF13A-29C0-451D-BD04-C34842790C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3957974"/>
            <a:ext cx="5618446" cy="2780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4305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6D700F3-FA31-10F5-C8DE-71ED1CA05AE3}"/>
              </a:ext>
            </a:extLst>
          </p:cNvPr>
          <p:cNvSpPr>
            <a:spLocks noGrp="1"/>
          </p:cNvSpPr>
          <p:nvPr>
            <p:ph idx="1"/>
          </p:nvPr>
        </p:nvSpPr>
        <p:spPr/>
        <p:txBody>
          <a:bodyPr/>
          <a:lstStyle/>
          <a:p>
            <a:pPr marL="471487" lvl="1" indent="0">
              <a:buNone/>
            </a:pPr>
            <a:r>
              <a:rPr lang="en-US" dirty="0" err="1"/>
              <a:t>Ví</a:t>
            </a:r>
            <a:r>
              <a:rPr lang="en-US" dirty="0"/>
              <a:t> </a:t>
            </a:r>
            <a:r>
              <a:rPr lang="en-US" dirty="0" err="1"/>
              <a:t>dụ</a:t>
            </a:r>
            <a:r>
              <a:rPr lang="en-US" dirty="0"/>
              <a:t> </a:t>
            </a:r>
            <a:r>
              <a:rPr lang="en-US" dirty="0" err="1"/>
              <a:t>truyền</a:t>
            </a:r>
            <a:r>
              <a:rPr lang="en-US" dirty="0"/>
              <a:t> </a:t>
            </a:r>
            <a:r>
              <a:rPr lang="en-US" dirty="0" err="1"/>
              <a:t>tham</a:t>
            </a:r>
            <a:r>
              <a:rPr lang="en-US" dirty="0"/>
              <a:t> </a:t>
            </a:r>
            <a:r>
              <a:rPr lang="en-US" dirty="0" err="1"/>
              <a:t>trị</a:t>
            </a:r>
            <a:r>
              <a:rPr lang="en-US" dirty="0"/>
              <a:t>:</a:t>
            </a:r>
          </a:p>
          <a:p>
            <a:pPr marL="3175" lvl="2" indent="0">
              <a:spcBef>
                <a:spcPts val="0"/>
              </a:spcBef>
              <a:buNone/>
            </a:pPr>
            <a:r>
              <a:rPr lang="vi-VN" sz="1800" dirty="0">
                <a:latin typeface="Courier New" pitchFamily="49" charset="0"/>
                <a:cs typeface="Courier New" pitchFamily="49" charset="0"/>
              </a:rPr>
              <a:t>//Phương thức đổi chỗ 2 số, truyền tham trị</a:t>
            </a:r>
          </a:p>
          <a:p>
            <a:pPr marL="3175" lvl="2" indent="0">
              <a:spcBef>
                <a:spcPts val="0"/>
              </a:spcBef>
              <a:buNone/>
            </a:pPr>
            <a:r>
              <a:rPr lang="en-US" sz="1800" dirty="0">
                <a:latin typeface="Courier New" pitchFamily="49" charset="0"/>
                <a:cs typeface="Courier New" pitchFamily="49" charset="0"/>
              </a:rPr>
              <a:t>  </a:t>
            </a:r>
            <a:r>
              <a:rPr lang="en-US" sz="1800" b="1" dirty="0">
                <a:solidFill>
                  <a:srgbClr val="0000FF"/>
                </a:solidFill>
                <a:latin typeface="Courier New" pitchFamily="49" charset="0"/>
                <a:cs typeface="Courier New" pitchFamily="49" charset="0"/>
              </a:rPr>
              <a:t>static</a:t>
            </a:r>
            <a:r>
              <a:rPr lang="en-US" sz="1800" dirty="0">
                <a:solidFill>
                  <a:srgbClr val="0000FF"/>
                </a:solidFill>
                <a:latin typeface="Courier New" pitchFamily="49" charset="0"/>
                <a:cs typeface="Courier New" pitchFamily="49" charset="0"/>
              </a:rPr>
              <a:t> </a:t>
            </a:r>
            <a:r>
              <a:rPr lang="en-US" sz="1800" b="1" dirty="0">
                <a:solidFill>
                  <a:srgbClr val="0000FF"/>
                </a:solidFill>
                <a:latin typeface="Courier New" pitchFamily="49" charset="0"/>
                <a:cs typeface="Courier New" pitchFamily="49" charset="0"/>
              </a:rPr>
              <a:t>void</a:t>
            </a:r>
            <a:r>
              <a:rPr lang="en-US" sz="1800" dirty="0">
                <a:latin typeface="Courier New" pitchFamily="49" charset="0"/>
                <a:cs typeface="Courier New" pitchFamily="49" charset="0"/>
              </a:rPr>
              <a:t> Swap1(int a, int b)</a:t>
            </a:r>
          </a:p>
          <a:p>
            <a:pPr marL="3175" lvl="2" indent="0">
              <a:spcBef>
                <a:spcPts val="0"/>
              </a:spcBef>
              <a:buNone/>
            </a:pPr>
            <a:r>
              <a:rPr lang="en-US" sz="1800" dirty="0">
                <a:latin typeface="Courier New" pitchFamily="49" charset="0"/>
                <a:cs typeface="Courier New" pitchFamily="49" charset="0"/>
              </a:rPr>
              <a:t>        {</a:t>
            </a:r>
          </a:p>
          <a:p>
            <a:pPr marL="3175" lvl="2" indent="0">
              <a:spcBef>
                <a:spcPts val="0"/>
              </a:spcBef>
              <a:buNone/>
            </a:pPr>
            <a:r>
              <a:rPr lang="en-US" sz="1800" dirty="0">
                <a:latin typeface="Courier New" pitchFamily="49" charset="0"/>
                <a:cs typeface="Courier New" pitchFamily="49" charset="0"/>
              </a:rPr>
              <a:t>            int temp;</a:t>
            </a:r>
          </a:p>
          <a:p>
            <a:pPr marL="3175" lvl="2" indent="0">
              <a:spcBef>
                <a:spcPts val="0"/>
              </a:spcBef>
              <a:buNone/>
            </a:pPr>
            <a:r>
              <a:rPr lang="en-US" sz="1800" dirty="0">
                <a:latin typeface="Courier New" pitchFamily="49" charset="0"/>
                <a:cs typeface="Courier New" pitchFamily="49" charset="0"/>
              </a:rPr>
              <a:t>            temp=a; </a:t>
            </a:r>
          </a:p>
          <a:p>
            <a:pPr marL="3175" lvl="2" indent="0">
              <a:spcBef>
                <a:spcPts val="0"/>
              </a:spcBef>
              <a:buNone/>
            </a:pPr>
            <a:r>
              <a:rPr lang="en-US" sz="1800" dirty="0">
                <a:latin typeface="Courier New" pitchFamily="49" charset="0"/>
                <a:cs typeface="Courier New" pitchFamily="49" charset="0"/>
              </a:rPr>
              <a:t>            a=b; </a:t>
            </a:r>
          </a:p>
          <a:p>
            <a:pPr marL="3175" lvl="2" indent="0">
              <a:spcBef>
                <a:spcPts val="0"/>
              </a:spcBef>
              <a:buNone/>
            </a:pPr>
            <a:r>
              <a:rPr lang="en-US" sz="1800" dirty="0">
                <a:latin typeface="Courier New" pitchFamily="49" charset="0"/>
                <a:cs typeface="Courier New" pitchFamily="49" charset="0"/>
              </a:rPr>
              <a:t>            b=temp;</a:t>
            </a:r>
          </a:p>
          <a:p>
            <a:pPr marL="3175" lvl="2" indent="0">
              <a:spcBef>
                <a:spcPts val="0"/>
              </a:spcBef>
              <a:buNone/>
            </a:pPr>
            <a:r>
              <a:rPr lang="en-US" sz="1800" dirty="0">
                <a:latin typeface="Courier New" pitchFamily="49" charset="0"/>
                <a:cs typeface="Courier New" pitchFamily="49" charset="0"/>
              </a:rPr>
              <a:t>	 }</a:t>
            </a:r>
          </a:p>
          <a:p>
            <a:pPr marL="3175" lvl="2" indent="0">
              <a:spcBef>
                <a:spcPts val="0"/>
              </a:spcBef>
              <a:buNone/>
            </a:pPr>
            <a:r>
              <a:rPr lang="en-US" sz="1800" dirty="0">
                <a:latin typeface="Courier New" pitchFamily="49" charset="0"/>
                <a:cs typeface="Courier New" pitchFamily="49" charset="0"/>
                <a:sym typeface="Wingdings" pitchFamily="2" charset="2"/>
              </a:rPr>
              <a:t> int x=10; int y = 20; </a:t>
            </a:r>
            <a:r>
              <a:rPr lang="en-US" sz="1800" dirty="0">
                <a:latin typeface="Courier New" pitchFamily="49" charset="0"/>
                <a:cs typeface="Courier New" pitchFamily="49" charset="0"/>
              </a:rPr>
              <a:t>Swap1 (</a:t>
            </a:r>
            <a:r>
              <a:rPr lang="en-US" sz="1800" dirty="0" err="1">
                <a:latin typeface="Courier New" pitchFamily="49" charset="0"/>
                <a:cs typeface="Courier New" pitchFamily="49" charset="0"/>
              </a:rPr>
              <a:t>x,y</a:t>
            </a:r>
            <a:r>
              <a:rPr lang="en-US" sz="1800" dirty="0">
                <a:latin typeface="Courier New" pitchFamily="49" charset="0"/>
                <a:cs typeface="Courier New" pitchFamily="49" charset="0"/>
              </a:rPr>
              <a:t>) </a:t>
            </a:r>
            <a:r>
              <a:rPr lang="en-US" sz="1800" dirty="0">
                <a:latin typeface="Courier New" pitchFamily="49" charset="0"/>
                <a:cs typeface="Courier New" pitchFamily="49" charset="0"/>
                <a:sym typeface="Wingdings" pitchFamily="2" charset="2"/>
              </a:rPr>
              <a:t> </a:t>
            </a:r>
            <a:r>
              <a:rPr lang="en-US" sz="1800" dirty="0" err="1">
                <a:latin typeface="Courier New" pitchFamily="49" charset="0"/>
                <a:cs typeface="Courier New" pitchFamily="49" charset="0"/>
                <a:sym typeface="Wingdings" pitchFamily="2" charset="2"/>
              </a:rPr>
              <a:t>giá</a:t>
            </a:r>
            <a:r>
              <a:rPr lang="en-US" sz="1800" dirty="0">
                <a:latin typeface="Courier New" pitchFamily="49" charset="0"/>
                <a:cs typeface="Courier New" pitchFamily="49" charset="0"/>
                <a:sym typeface="Wingdings" pitchFamily="2" charset="2"/>
              </a:rPr>
              <a:t> </a:t>
            </a:r>
            <a:r>
              <a:rPr lang="en-US" sz="1800" dirty="0" err="1">
                <a:latin typeface="Courier New" pitchFamily="49" charset="0"/>
                <a:cs typeface="Courier New" pitchFamily="49" charset="0"/>
                <a:sym typeface="Wingdings" pitchFamily="2" charset="2"/>
              </a:rPr>
              <a:t>trị</a:t>
            </a:r>
            <a:r>
              <a:rPr lang="en-US" sz="1800" dirty="0">
                <a:latin typeface="Courier New" pitchFamily="49" charset="0"/>
                <a:cs typeface="Courier New" pitchFamily="49" charset="0"/>
                <a:sym typeface="Wingdings" pitchFamily="2" charset="2"/>
              </a:rPr>
              <a:t> </a:t>
            </a:r>
            <a:r>
              <a:rPr lang="en-US" sz="1800" dirty="0" err="1">
                <a:latin typeface="Courier New" pitchFamily="49" charset="0"/>
                <a:cs typeface="Courier New" pitchFamily="49" charset="0"/>
                <a:sym typeface="Wingdings" pitchFamily="2" charset="2"/>
              </a:rPr>
              <a:t>của</a:t>
            </a:r>
            <a:r>
              <a:rPr lang="en-US" sz="1800" dirty="0">
                <a:latin typeface="Courier New" pitchFamily="49" charset="0"/>
                <a:cs typeface="Courier New" pitchFamily="49" charset="0"/>
                <a:sym typeface="Wingdings" pitchFamily="2" charset="2"/>
              </a:rPr>
              <a:t> x </a:t>
            </a:r>
            <a:r>
              <a:rPr lang="en-US" sz="1800" dirty="0" err="1">
                <a:latin typeface="Courier New" pitchFamily="49" charset="0"/>
                <a:cs typeface="Courier New" pitchFamily="49" charset="0"/>
                <a:sym typeface="Wingdings" pitchFamily="2" charset="2"/>
              </a:rPr>
              <a:t>và</a:t>
            </a:r>
            <a:r>
              <a:rPr lang="en-US" sz="1800" dirty="0">
                <a:latin typeface="Courier New" pitchFamily="49" charset="0"/>
                <a:cs typeface="Courier New" pitchFamily="49" charset="0"/>
                <a:sym typeface="Wingdings" pitchFamily="2" charset="2"/>
              </a:rPr>
              <a:t> y = ?</a:t>
            </a:r>
            <a:endParaRPr lang="en-US" sz="1800" dirty="0">
              <a:latin typeface="Courier New" pitchFamily="49" charset="0"/>
              <a:cs typeface="Courier New" pitchFamily="49" charset="0"/>
            </a:endParaRPr>
          </a:p>
          <a:p>
            <a:endParaRPr lang="en-VN" dirty="0"/>
          </a:p>
        </p:txBody>
      </p:sp>
      <p:sp>
        <p:nvSpPr>
          <p:cNvPr id="3" name="Date Placeholder 2">
            <a:extLst>
              <a:ext uri="{FF2B5EF4-FFF2-40B4-BE49-F238E27FC236}">
                <a16:creationId xmlns:a16="http://schemas.microsoft.com/office/drawing/2014/main" id="{A3A050DC-4174-02D9-1094-33544D1A002B}"/>
              </a:ext>
            </a:extLst>
          </p:cNvPr>
          <p:cNvSpPr>
            <a:spLocks noGrp="1"/>
          </p:cNvSpPr>
          <p:nvPr>
            <p:ph type="dt" sz="half" idx="10"/>
          </p:nvPr>
        </p:nvSpPr>
        <p:spPr/>
        <p:txBody>
          <a:bodyPr/>
          <a:lstStyle/>
          <a:p>
            <a:fld id="{4719FDB1-9615-4287-8D55-AF20E3CF298E}" type="datetime1">
              <a:rPr lang="vi-VN" smtClean="0"/>
              <a:t>04/02/2025</a:t>
            </a:fld>
            <a:endParaRPr lang="vi-VN"/>
          </a:p>
        </p:txBody>
      </p:sp>
      <p:sp>
        <p:nvSpPr>
          <p:cNvPr id="4" name="Footer Placeholder 3">
            <a:extLst>
              <a:ext uri="{FF2B5EF4-FFF2-40B4-BE49-F238E27FC236}">
                <a16:creationId xmlns:a16="http://schemas.microsoft.com/office/drawing/2014/main" id="{9B063FF9-66FC-C04A-7370-0706DACD21EE}"/>
              </a:ext>
            </a:extLst>
          </p:cNvPr>
          <p:cNvSpPr>
            <a:spLocks noGrp="1"/>
          </p:cNvSpPr>
          <p:nvPr>
            <p:ph type="ftr" sz="quarter" idx="11"/>
          </p:nvPr>
        </p:nvSpPr>
        <p:spPr/>
        <p:txBody>
          <a:bodyPr/>
          <a:lstStyle/>
          <a:p>
            <a:r>
              <a:rPr lang="vi-VN"/>
              <a:t>Chương 3. Lập trình hướng đối tượng trong C#</a:t>
            </a:r>
          </a:p>
        </p:txBody>
      </p:sp>
      <p:sp>
        <p:nvSpPr>
          <p:cNvPr id="5" name="Slide Number Placeholder 4">
            <a:extLst>
              <a:ext uri="{FF2B5EF4-FFF2-40B4-BE49-F238E27FC236}">
                <a16:creationId xmlns:a16="http://schemas.microsoft.com/office/drawing/2014/main" id="{51EF6DD0-1AEB-73D3-A4F1-F199B4FA3186}"/>
              </a:ext>
            </a:extLst>
          </p:cNvPr>
          <p:cNvSpPr>
            <a:spLocks noGrp="1"/>
          </p:cNvSpPr>
          <p:nvPr>
            <p:ph type="sldNum" sz="quarter" idx="12"/>
          </p:nvPr>
        </p:nvSpPr>
        <p:spPr/>
        <p:txBody>
          <a:bodyPr/>
          <a:lstStyle/>
          <a:p>
            <a:fld id="{5AB95402-1E0D-474E-8D8C-CBE7F053639E}" type="slidenum">
              <a:rPr lang="vi-VN" smtClean="0"/>
              <a:pPr/>
              <a:t>28</a:t>
            </a:fld>
            <a:r>
              <a:rPr lang="vi-VN"/>
              <a:t>/33</a:t>
            </a:r>
          </a:p>
        </p:txBody>
      </p:sp>
      <p:sp>
        <p:nvSpPr>
          <p:cNvPr id="6" name="Title 5">
            <a:extLst>
              <a:ext uri="{FF2B5EF4-FFF2-40B4-BE49-F238E27FC236}">
                <a16:creationId xmlns:a16="http://schemas.microsoft.com/office/drawing/2014/main" id="{F35C4F88-A9E3-4B8E-1A3A-BBA024C8E1F0}"/>
              </a:ext>
            </a:extLst>
          </p:cNvPr>
          <p:cNvSpPr>
            <a:spLocks noGrp="1"/>
          </p:cNvSpPr>
          <p:nvPr>
            <p:ph type="title"/>
          </p:nvPr>
        </p:nvSpPr>
        <p:spPr/>
        <p:txBody>
          <a:bodyPr/>
          <a:lstStyle/>
          <a:p>
            <a:r>
              <a:rPr lang="en-VN" dirty="0"/>
              <a:t>3.1.3 Truyền tham số</a:t>
            </a:r>
          </a:p>
        </p:txBody>
      </p:sp>
    </p:spTree>
    <p:extLst>
      <p:ext uri="{BB962C8B-B14F-4D97-AF65-F5344CB8AC3E}">
        <p14:creationId xmlns:p14="http://schemas.microsoft.com/office/powerpoint/2010/main" val="6362915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Truyền tham chiếu</a:t>
            </a:r>
          </a:p>
        </p:txBody>
      </p:sp>
      <p:sp>
        <p:nvSpPr>
          <p:cNvPr id="3" name="Content Placeholder 2"/>
          <p:cNvSpPr>
            <a:spLocks noGrp="1"/>
          </p:cNvSpPr>
          <p:nvPr>
            <p:ph idx="1"/>
          </p:nvPr>
        </p:nvSpPr>
        <p:spPr/>
        <p:txBody>
          <a:bodyPr/>
          <a:lstStyle/>
          <a:p>
            <a:r>
              <a:rPr lang="en-US" dirty="0"/>
              <a:t>C# </a:t>
            </a:r>
            <a:r>
              <a:rPr lang="en-US" dirty="0" err="1"/>
              <a:t>hỗ</a:t>
            </a:r>
            <a:r>
              <a:rPr lang="en-US" dirty="0"/>
              <a:t> </a:t>
            </a:r>
            <a:r>
              <a:rPr lang="en-US" dirty="0" err="1"/>
              <a:t>trợ</a:t>
            </a:r>
            <a:r>
              <a:rPr lang="en-US" dirty="0"/>
              <a:t> </a:t>
            </a:r>
            <a:r>
              <a:rPr lang="en-US" dirty="0" err="1"/>
              <a:t>truyền</a:t>
            </a:r>
            <a:r>
              <a:rPr lang="en-US" dirty="0"/>
              <a:t> </a:t>
            </a:r>
            <a:r>
              <a:rPr lang="en-US" dirty="0" err="1"/>
              <a:t>tham</a:t>
            </a:r>
            <a:r>
              <a:rPr lang="en-US" dirty="0"/>
              <a:t> </a:t>
            </a:r>
            <a:r>
              <a:rPr lang="en-US" dirty="0" err="1"/>
              <a:t>chiếu</a:t>
            </a:r>
            <a:r>
              <a:rPr lang="en-US" dirty="0"/>
              <a:t>, </a:t>
            </a:r>
            <a:r>
              <a:rPr lang="en-US" dirty="0" err="1"/>
              <a:t>sử</a:t>
            </a:r>
            <a:r>
              <a:rPr lang="en-US" dirty="0"/>
              <a:t> </a:t>
            </a:r>
            <a:r>
              <a:rPr lang="en-US" dirty="0" err="1"/>
              <a:t>dụng</a:t>
            </a:r>
            <a:r>
              <a:rPr lang="en-US" dirty="0"/>
              <a:t> </a:t>
            </a:r>
            <a:r>
              <a:rPr lang="en-US" dirty="0" err="1"/>
              <a:t>các</a:t>
            </a:r>
            <a:r>
              <a:rPr lang="en-US" dirty="0"/>
              <a:t> </a:t>
            </a:r>
            <a:r>
              <a:rPr lang="en-US" dirty="0" err="1"/>
              <a:t>từ</a:t>
            </a:r>
            <a:r>
              <a:rPr lang="en-US" dirty="0"/>
              <a:t> </a:t>
            </a:r>
            <a:r>
              <a:rPr lang="en-US" dirty="0" err="1"/>
              <a:t>khoá</a:t>
            </a:r>
            <a:r>
              <a:rPr lang="en-US" dirty="0"/>
              <a:t>:</a:t>
            </a:r>
          </a:p>
          <a:p>
            <a:pPr lvl="1"/>
            <a:r>
              <a:rPr lang="en-US" b="1" dirty="0">
                <a:solidFill>
                  <a:srgbClr val="FF0000"/>
                </a:solidFill>
              </a:rPr>
              <a:t>ref</a:t>
            </a:r>
            <a:r>
              <a:rPr lang="en-US" dirty="0"/>
              <a:t>: </a:t>
            </a:r>
            <a:r>
              <a:rPr lang="en-US" dirty="0" err="1"/>
              <a:t>truyền</a:t>
            </a:r>
            <a:r>
              <a:rPr lang="en-US" dirty="0"/>
              <a:t> </a:t>
            </a:r>
            <a:r>
              <a:rPr lang="en-US" dirty="0" err="1"/>
              <a:t>tham</a:t>
            </a:r>
            <a:r>
              <a:rPr lang="en-US" dirty="0"/>
              <a:t> </a:t>
            </a:r>
            <a:r>
              <a:rPr lang="en-US" dirty="0" err="1"/>
              <a:t>chiếu</a:t>
            </a:r>
            <a:r>
              <a:rPr lang="en-US" dirty="0"/>
              <a:t>, </a:t>
            </a:r>
            <a:r>
              <a:rPr lang="en-US" dirty="0" err="1"/>
              <a:t>biến</a:t>
            </a:r>
            <a:r>
              <a:rPr lang="en-US" dirty="0"/>
              <a:t> </a:t>
            </a:r>
            <a:r>
              <a:rPr lang="en-US" dirty="0" err="1"/>
              <a:t>được</a:t>
            </a:r>
            <a:r>
              <a:rPr lang="en-US" dirty="0"/>
              <a:t> </a:t>
            </a:r>
            <a:r>
              <a:rPr lang="en-US" dirty="0" err="1"/>
              <a:t>tham</a:t>
            </a:r>
            <a:r>
              <a:rPr lang="en-US" dirty="0"/>
              <a:t> </a:t>
            </a:r>
            <a:r>
              <a:rPr lang="en-US" dirty="0" err="1"/>
              <a:t>chiếu</a:t>
            </a:r>
            <a:r>
              <a:rPr lang="en-US" dirty="0"/>
              <a:t> </a:t>
            </a:r>
            <a:r>
              <a:rPr lang="en-US" dirty="0" err="1"/>
              <a:t>phải</a:t>
            </a:r>
            <a:r>
              <a:rPr lang="en-US" dirty="0"/>
              <a:t> </a:t>
            </a:r>
            <a:r>
              <a:rPr lang="en-US" dirty="0" err="1"/>
              <a:t>được</a:t>
            </a:r>
            <a:r>
              <a:rPr lang="en-US" dirty="0"/>
              <a:t> </a:t>
            </a:r>
            <a:r>
              <a:rPr lang="en-US" dirty="0" err="1"/>
              <a:t>khởi</a:t>
            </a:r>
            <a:r>
              <a:rPr lang="en-US" dirty="0"/>
              <a:t> </a:t>
            </a:r>
            <a:r>
              <a:rPr lang="en-US" dirty="0" err="1"/>
              <a:t>tạo</a:t>
            </a:r>
            <a:r>
              <a:rPr lang="en-US" dirty="0"/>
              <a:t> </a:t>
            </a:r>
            <a:r>
              <a:rPr lang="en-US" dirty="0" err="1"/>
              <a:t>trước</a:t>
            </a:r>
            <a:r>
              <a:rPr lang="en-US" dirty="0"/>
              <a:t> </a:t>
            </a:r>
            <a:r>
              <a:rPr lang="en-US" dirty="0" err="1"/>
              <a:t>khi</a:t>
            </a:r>
            <a:r>
              <a:rPr lang="en-US" dirty="0"/>
              <a:t> </a:t>
            </a:r>
            <a:r>
              <a:rPr lang="en-US" dirty="0" err="1"/>
              <a:t>truyền</a:t>
            </a:r>
            <a:endParaRPr lang="en-US" dirty="0"/>
          </a:p>
          <a:p>
            <a:pPr lvl="1"/>
            <a:r>
              <a:rPr lang="en-US" b="1" dirty="0">
                <a:solidFill>
                  <a:srgbClr val="FF0000"/>
                </a:solidFill>
              </a:rPr>
              <a:t>out</a:t>
            </a:r>
            <a:r>
              <a:rPr lang="en-US" dirty="0"/>
              <a:t>: </a:t>
            </a:r>
            <a:r>
              <a:rPr lang="en-US" dirty="0" err="1"/>
              <a:t>truyền</a:t>
            </a:r>
            <a:r>
              <a:rPr lang="en-US" dirty="0"/>
              <a:t> </a:t>
            </a:r>
            <a:r>
              <a:rPr lang="en-US" dirty="0" err="1"/>
              <a:t>tham</a:t>
            </a:r>
            <a:r>
              <a:rPr lang="en-US" dirty="0"/>
              <a:t> </a:t>
            </a:r>
            <a:r>
              <a:rPr lang="en-US" dirty="0" err="1"/>
              <a:t>chiếu</a:t>
            </a:r>
            <a:r>
              <a:rPr lang="en-US" dirty="0"/>
              <a:t>, </a:t>
            </a:r>
            <a:r>
              <a:rPr lang="en-US" dirty="0" err="1"/>
              <a:t>biến</a:t>
            </a:r>
            <a:r>
              <a:rPr lang="en-US" dirty="0"/>
              <a:t> </a:t>
            </a:r>
            <a:r>
              <a:rPr lang="en-US" dirty="0" err="1"/>
              <a:t>được</a:t>
            </a:r>
            <a:r>
              <a:rPr lang="en-US" dirty="0"/>
              <a:t> </a:t>
            </a:r>
            <a:r>
              <a:rPr lang="en-US" dirty="0" err="1"/>
              <a:t>tham</a:t>
            </a:r>
            <a:r>
              <a:rPr lang="en-US" dirty="0"/>
              <a:t> </a:t>
            </a:r>
            <a:r>
              <a:rPr lang="en-US" dirty="0" err="1"/>
              <a:t>chiếu</a:t>
            </a:r>
            <a:r>
              <a:rPr lang="en-US" dirty="0"/>
              <a:t> </a:t>
            </a:r>
            <a:r>
              <a:rPr lang="en-US" dirty="0" err="1"/>
              <a:t>không</a:t>
            </a:r>
            <a:r>
              <a:rPr lang="en-US" dirty="0"/>
              <a:t> </a:t>
            </a:r>
            <a:r>
              <a:rPr lang="en-US" dirty="0" err="1"/>
              <a:t>cần</a:t>
            </a:r>
            <a:r>
              <a:rPr lang="en-US" dirty="0"/>
              <a:t> </a:t>
            </a:r>
            <a:r>
              <a:rPr lang="en-US" dirty="0" err="1"/>
              <a:t>khởi</a:t>
            </a:r>
            <a:r>
              <a:rPr lang="en-US" dirty="0"/>
              <a:t> </a:t>
            </a:r>
            <a:r>
              <a:rPr lang="en-US" dirty="0" err="1"/>
              <a:t>gán</a:t>
            </a:r>
            <a:r>
              <a:rPr lang="en-US" dirty="0"/>
              <a:t> </a:t>
            </a:r>
            <a:r>
              <a:rPr lang="en-US" dirty="0" err="1"/>
              <a:t>trước</a:t>
            </a:r>
            <a:r>
              <a:rPr lang="en-US" dirty="0"/>
              <a:t> </a:t>
            </a:r>
            <a:r>
              <a:rPr lang="en-US" dirty="0" err="1"/>
              <a:t>khi</a:t>
            </a:r>
            <a:r>
              <a:rPr lang="en-US" dirty="0"/>
              <a:t> </a:t>
            </a:r>
            <a:r>
              <a:rPr lang="en-US" dirty="0" err="1"/>
              <a:t>truyền</a:t>
            </a:r>
            <a:r>
              <a:rPr lang="en-US" dirty="0"/>
              <a:t>. </a:t>
            </a:r>
            <a:r>
              <a:rPr lang="en-US" dirty="0" err="1"/>
              <a:t>Trong</a:t>
            </a:r>
            <a:r>
              <a:rPr lang="en-US" dirty="0"/>
              <a:t> </a:t>
            </a:r>
            <a:r>
              <a:rPr lang="en-US" dirty="0" err="1"/>
              <a:t>phương</a:t>
            </a:r>
            <a:r>
              <a:rPr lang="en-US" dirty="0"/>
              <a:t> </a:t>
            </a:r>
            <a:r>
              <a:rPr lang="en-US" dirty="0" err="1"/>
              <a:t>thức</a:t>
            </a:r>
            <a:r>
              <a:rPr lang="en-US" dirty="0"/>
              <a:t> </a:t>
            </a:r>
            <a:r>
              <a:rPr lang="en-US" dirty="0" err="1"/>
              <a:t>phải</a:t>
            </a:r>
            <a:r>
              <a:rPr lang="en-US" dirty="0"/>
              <a:t> </a:t>
            </a:r>
            <a:r>
              <a:rPr lang="en-US" dirty="0" err="1"/>
              <a:t>có</a:t>
            </a:r>
            <a:r>
              <a:rPr lang="en-US" dirty="0"/>
              <a:t> </a:t>
            </a:r>
            <a:r>
              <a:rPr lang="en-US" dirty="0" err="1"/>
              <a:t>lệnh</a:t>
            </a:r>
            <a:r>
              <a:rPr lang="en-US" dirty="0"/>
              <a:t> </a:t>
            </a:r>
            <a:r>
              <a:rPr lang="en-US" dirty="0" err="1"/>
              <a:t>gán</a:t>
            </a:r>
            <a:r>
              <a:rPr lang="en-US" dirty="0"/>
              <a:t> </a:t>
            </a:r>
            <a:r>
              <a:rPr lang="en-US" dirty="0" err="1"/>
              <a:t>giá</a:t>
            </a:r>
            <a:r>
              <a:rPr lang="en-US" dirty="0"/>
              <a:t> </a:t>
            </a:r>
            <a:r>
              <a:rPr lang="en-US" dirty="0" err="1"/>
              <a:t>trị</a:t>
            </a:r>
            <a:r>
              <a:rPr lang="en-US" dirty="0"/>
              <a:t> </a:t>
            </a:r>
            <a:r>
              <a:rPr lang="en-US" dirty="0" err="1"/>
              <a:t>cho</a:t>
            </a:r>
            <a:r>
              <a:rPr lang="en-US" dirty="0"/>
              <a:t> </a:t>
            </a:r>
            <a:r>
              <a:rPr lang="en-US" dirty="0" err="1"/>
              <a:t>các</a:t>
            </a:r>
            <a:r>
              <a:rPr lang="en-US" dirty="0"/>
              <a:t> </a:t>
            </a:r>
            <a:r>
              <a:rPr lang="en-US" dirty="0" err="1"/>
              <a:t>biến</a:t>
            </a:r>
            <a:r>
              <a:rPr lang="en-US" dirty="0"/>
              <a:t> </a:t>
            </a:r>
            <a:r>
              <a:rPr lang="en-US" dirty="0" err="1"/>
              <a:t>tham</a:t>
            </a:r>
            <a:r>
              <a:rPr lang="en-US" dirty="0"/>
              <a:t> </a:t>
            </a:r>
            <a:r>
              <a:rPr lang="en-US" dirty="0" err="1"/>
              <a:t>chiếu</a:t>
            </a:r>
            <a:r>
              <a:rPr lang="en-US" dirty="0"/>
              <a:t> </a:t>
            </a:r>
            <a:r>
              <a:rPr lang="en-US" dirty="0" err="1"/>
              <a:t>này</a:t>
            </a:r>
            <a:r>
              <a:rPr lang="en-US" dirty="0"/>
              <a:t>.</a:t>
            </a:r>
          </a:p>
          <a:p>
            <a:pPr lvl="1"/>
            <a:endParaRPr lang="en-US" dirty="0"/>
          </a:p>
        </p:txBody>
      </p:sp>
      <p:sp>
        <p:nvSpPr>
          <p:cNvPr id="4" name="Date Placeholder 3"/>
          <p:cNvSpPr>
            <a:spLocks noGrp="1"/>
          </p:cNvSpPr>
          <p:nvPr>
            <p:ph type="dt" sz="half" idx="10"/>
          </p:nvPr>
        </p:nvSpPr>
        <p:spPr/>
        <p:txBody>
          <a:bodyPr/>
          <a:lstStyle/>
          <a:p>
            <a:fld id="{FD919224-C033-45CC-800B-BC578A80F7A0}" type="datetime1">
              <a:rPr lang="vi-VN" smtClean="0"/>
              <a:t>04/02/2025</a:t>
            </a:fld>
            <a:endParaRPr lang="vi-VN"/>
          </a:p>
        </p:txBody>
      </p:sp>
      <p:sp>
        <p:nvSpPr>
          <p:cNvPr id="5" name="Footer Placeholder 4"/>
          <p:cNvSpPr>
            <a:spLocks noGrp="1"/>
          </p:cNvSpPr>
          <p:nvPr>
            <p:ph type="ftr" sz="quarter" idx="11"/>
          </p:nvPr>
        </p:nvSpPr>
        <p:spPr/>
        <p:txBody>
          <a:bodyPr/>
          <a:lstStyle/>
          <a:p>
            <a:r>
              <a:rPr lang="vi-VN"/>
              <a:t>Chương 3. Lập trình hướng đối tượng trong C#</a:t>
            </a:r>
          </a:p>
        </p:txBody>
      </p:sp>
      <p:sp>
        <p:nvSpPr>
          <p:cNvPr id="8" name="Slide Number Placeholder 7"/>
          <p:cNvSpPr>
            <a:spLocks noGrp="1"/>
          </p:cNvSpPr>
          <p:nvPr>
            <p:ph type="sldNum" sz="quarter" idx="12"/>
          </p:nvPr>
        </p:nvSpPr>
        <p:spPr/>
        <p:txBody>
          <a:bodyPr/>
          <a:lstStyle/>
          <a:p>
            <a:fld id="{5AB95402-1E0D-474E-8D8C-CBE7F053639E}" type="slidenum">
              <a:rPr lang="vi-VN" smtClean="0"/>
              <a:pPr/>
              <a:t>29</a:t>
            </a:fld>
            <a:r>
              <a:rPr lang="vi-VN"/>
              <a:t>/33</a:t>
            </a:r>
          </a:p>
        </p:txBody>
      </p:sp>
    </p:spTree>
    <p:extLst>
      <p:ext uri="{BB962C8B-B14F-4D97-AF65-F5344CB8AC3E}">
        <p14:creationId xmlns:p14="http://schemas.microsoft.com/office/powerpoint/2010/main" val="32028913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Ví dụ - truyền tham chiếu, từ khoá ref</a:t>
            </a:r>
          </a:p>
        </p:txBody>
      </p:sp>
      <p:sp>
        <p:nvSpPr>
          <p:cNvPr id="3" name="Content Placeholder 2"/>
          <p:cNvSpPr>
            <a:spLocks noGrp="1"/>
          </p:cNvSpPr>
          <p:nvPr>
            <p:ph idx="1"/>
          </p:nvPr>
        </p:nvSpPr>
        <p:spPr>
          <a:xfrm>
            <a:off x="762000" y="1143000"/>
            <a:ext cx="8382000" cy="5181600"/>
          </a:xfrm>
        </p:spPr>
        <p:txBody>
          <a:bodyPr>
            <a:normAutofit lnSpcReduction="10000"/>
          </a:bodyPr>
          <a:lstStyle/>
          <a:p>
            <a:pPr marL="0" indent="0">
              <a:buNone/>
            </a:pPr>
            <a:r>
              <a:rPr lang="vi-VN" sz="1600" dirty="0">
                <a:solidFill>
                  <a:srgbClr val="00B050"/>
                </a:solidFill>
                <a:latin typeface="Courier New" pitchFamily="49" charset="0"/>
                <a:cs typeface="Courier New" pitchFamily="49" charset="0"/>
              </a:rPr>
              <a:t>//Phương thức đổi chỗ 2 số, truyền tham chiếu, từ khoá ref</a:t>
            </a:r>
          </a:p>
          <a:p>
            <a:pPr marL="0" indent="0">
              <a:buNone/>
            </a:pPr>
            <a:r>
              <a:rPr lang="en-US" sz="1600" b="1" dirty="0">
                <a:solidFill>
                  <a:srgbClr val="0000FF"/>
                </a:solidFill>
                <a:latin typeface="Courier New" pitchFamily="49" charset="0"/>
                <a:cs typeface="Courier New" pitchFamily="49" charset="0"/>
              </a:rPr>
              <a:t>static void</a:t>
            </a:r>
            <a:r>
              <a:rPr lang="en-US" sz="1600" dirty="0">
                <a:latin typeface="Courier New" pitchFamily="49" charset="0"/>
                <a:cs typeface="Courier New" pitchFamily="49" charset="0"/>
              </a:rPr>
              <a:t> Swap2(</a:t>
            </a:r>
            <a:r>
              <a:rPr lang="en-US" sz="1600" b="1" dirty="0">
                <a:solidFill>
                  <a:srgbClr val="0000FF"/>
                </a:solidFill>
                <a:latin typeface="Courier New" pitchFamily="49" charset="0"/>
                <a:cs typeface="Courier New" pitchFamily="49" charset="0"/>
              </a:rPr>
              <a:t>ref </a:t>
            </a:r>
            <a:r>
              <a:rPr lang="en-US" sz="1600" b="1" dirty="0" err="1">
                <a:solidFill>
                  <a:srgbClr val="0000FF"/>
                </a:solidFill>
                <a:latin typeface="Courier New" pitchFamily="49" charset="0"/>
                <a:cs typeface="Courier New" pitchFamily="49" charset="0"/>
              </a:rPr>
              <a:t>int</a:t>
            </a:r>
            <a:r>
              <a:rPr lang="en-US" sz="1600" b="1" dirty="0">
                <a:solidFill>
                  <a:srgbClr val="0000FF"/>
                </a:solidFill>
                <a:latin typeface="Courier New" pitchFamily="49" charset="0"/>
                <a:cs typeface="Courier New" pitchFamily="49" charset="0"/>
              </a:rPr>
              <a:t> a, ref </a:t>
            </a:r>
            <a:r>
              <a:rPr lang="en-US" sz="1600" b="1" dirty="0" err="1">
                <a:solidFill>
                  <a:srgbClr val="0000FF"/>
                </a:solidFill>
                <a:latin typeface="Courier New" pitchFamily="49" charset="0"/>
                <a:cs typeface="Courier New" pitchFamily="49" charset="0"/>
              </a:rPr>
              <a:t>int</a:t>
            </a:r>
            <a:r>
              <a:rPr lang="en-US" sz="1600" b="1" dirty="0">
                <a:solidFill>
                  <a:srgbClr val="0000FF"/>
                </a:solidFill>
                <a:latin typeface="Courier New" pitchFamily="49" charset="0"/>
                <a:cs typeface="Courier New" pitchFamily="49" charset="0"/>
              </a:rPr>
              <a:t> b</a:t>
            </a:r>
            <a:r>
              <a:rPr lang="en-US" sz="1600" dirty="0">
                <a:latin typeface="Courier New" pitchFamily="49" charset="0"/>
                <a:cs typeface="Courier New" pitchFamily="49" charset="0"/>
              </a:rPr>
              <a:t>)</a:t>
            </a:r>
          </a:p>
          <a:p>
            <a:pPr marL="0" indent="0">
              <a:buNone/>
            </a:pPr>
            <a:r>
              <a:rPr lang="en-US" sz="1600" dirty="0">
                <a:latin typeface="Courier New" pitchFamily="49" charset="0"/>
                <a:cs typeface="Courier New" pitchFamily="49" charset="0"/>
              </a:rPr>
              <a:t>   {</a:t>
            </a:r>
          </a:p>
          <a:p>
            <a:pPr marL="0" indent="0">
              <a:buNone/>
            </a:pPr>
            <a:r>
              <a:rPr lang="en-US" sz="1600" dirty="0">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int</a:t>
            </a:r>
            <a:r>
              <a:rPr lang="en-US" sz="1600" dirty="0">
                <a:latin typeface="Courier New" pitchFamily="49" charset="0"/>
                <a:cs typeface="Courier New" pitchFamily="49" charset="0"/>
              </a:rPr>
              <a:t> temp;</a:t>
            </a:r>
          </a:p>
          <a:p>
            <a:pPr marL="0" indent="0">
              <a:buNone/>
            </a:pPr>
            <a:r>
              <a:rPr lang="en-US" sz="1600" dirty="0">
                <a:latin typeface="Courier New" pitchFamily="49" charset="0"/>
                <a:cs typeface="Courier New" pitchFamily="49" charset="0"/>
              </a:rPr>
              <a:t>     temp = a;</a:t>
            </a:r>
          </a:p>
          <a:p>
            <a:pPr marL="0" indent="0">
              <a:buNone/>
            </a:pPr>
            <a:r>
              <a:rPr lang="en-US" sz="1600" dirty="0">
                <a:latin typeface="Courier New" pitchFamily="49" charset="0"/>
                <a:cs typeface="Courier New" pitchFamily="49" charset="0"/>
              </a:rPr>
              <a:t>     a = b;</a:t>
            </a:r>
          </a:p>
          <a:p>
            <a:pPr marL="0" indent="0">
              <a:buNone/>
            </a:pPr>
            <a:r>
              <a:rPr lang="en-US" sz="1600" dirty="0">
                <a:latin typeface="Courier New" pitchFamily="49" charset="0"/>
                <a:cs typeface="Courier New" pitchFamily="49" charset="0"/>
              </a:rPr>
              <a:t>     b = temp;</a:t>
            </a:r>
          </a:p>
          <a:p>
            <a:pPr marL="0" indent="0">
              <a:buNone/>
            </a:pP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Console.WriteLine</a:t>
            </a:r>
            <a:r>
              <a:rPr lang="en-US" sz="1600" dirty="0">
                <a:latin typeface="Courier New" pitchFamily="49" charset="0"/>
                <a:cs typeface="Courier New" pitchFamily="49" charset="0"/>
              </a:rPr>
              <a:t>("</a:t>
            </a:r>
            <a:r>
              <a:rPr lang="en-US" sz="1600" dirty="0" err="1">
                <a:latin typeface="Courier New" pitchFamily="49" charset="0"/>
                <a:cs typeface="Courier New" pitchFamily="49" charset="0"/>
              </a:rPr>
              <a:t>Trong</a:t>
            </a: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phuong</a:t>
            </a: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thuc</a:t>
            </a:r>
            <a:r>
              <a:rPr lang="en-US" sz="1600" dirty="0">
                <a:latin typeface="Courier New" pitchFamily="49" charset="0"/>
                <a:cs typeface="Courier New" pitchFamily="49" charset="0"/>
              </a:rPr>
              <a:t>: a={0}, b={1},",</a:t>
            </a:r>
            <a:r>
              <a:rPr lang="en-US" sz="1600" dirty="0" err="1">
                <a:latin typeface="Courier New" pitchFamily="49" charset="0"/>
                <a:cs typeface="Courier New" pitchFamily="49" charset="0"/>
              </a:rPr>
              <a:t>a,b</a:t>
            </a:r>
            <a:r>
              <a:rPr lang="en-US" sz="1600" dirty="0">
                <a:latin typeface="Courier New" pitchFamily="49" charset="0"/>
                <a:cs typeface="Courier New" pitchFamily="49" charset="0"/>
              </a:rPr>
              <a:t>);</a:t>
            </a:r>
          </a:p>
          <a:p>
            <a:pPr marL="0" indent="0">
              <a:buNone/>
            </a:pPr>
            <a:r>
              <a:rPr lang="en-US" sz="1600" dirty="0">
                <a:latin typeface="Courier New" pitchFamily="49" charset="0"/>
                <a:cs typeface="Courier New" pitchFamily="49" charset="0"/>
              </a:rPr>
              <a:t>   }</a:t>
            </a:r>
          </a:p>
          <a:p>
            <a:pPr marL="0" indent="0">
              <a:buNone/>
            </a:pPr>
            <a:r>
              <a:rPr lang="en-US" sz="1600" b="1" dirty="0">
                <a:solidFill>
                  <a:srgbClr val="0000FF"/>
                </a:solidFill>
                <a:latin typeface="Courier New" pitchFamily="49" charset="0"/>
                <a:cs typeface="Courier New" pitchFamily="49" charset="0"/>
              </a:rPr>
              <a:t>static</a:t>
            </a:r>
            <a:r>
              <a:rPr lang="en-US" sz="1600" dirty="0">
                <a:latin typeface="Courier New" pitchFamily="49" charset="0"/>
                <a:cs typeface="Courier New" pitchFamily="49" charset="0"/>
              </a:rPr>
              <a:t> </a:t>
            </a:r>
            <a:r>
              <a:rPr lang="en-US" sz="1600" b="1" dirty="0">
                <a:solidFill>
                  <a:srgbClr val="0000FF"/>
                </a:solidFill>
                <a:latin typeface="Courier New" pitchFamily="49" charset="0"/>
                <a:cs typeface="Courier New" pitchFamily="49" charset="0"/>
              </a:rPr>
              <a:t>void</a:t>
            </a:r>
            <a:r>
              <a:rPr lang="en-US" sz="1600" dirty="0">
                <a:latin typeface="Courier New" pitchFamily="49" charset="0"/>
                <a:cs typeface="Courier New" pitchFamily="49" charset="0"/>
              </a:rPr>
              <a:t> Main(string[] </a:t>
            </a:r>
            <a:r>
              <a:rPr lang="en-US" sz="1600" dirty="0" err="1">
                <a:latin typeface="Courier New" pitchFamily="49" charset="0"/>
                <a:cs typeface="Courier New" pitchFamily="49" charset="0"/>
              </a:rPr>
              <a:t>args</a:t>
            </a:r>
            <a:r>
              <a:rPr lang="en-US" sz="1600" dirty="0">
                <a:latin typeface="Courier New" pitchFamily="49" charset="0"/>
                <a:cs typeface="Courier New" pitchFamily="49" charset="0"/>
              </a:rPr>
              <a:t>)</a:t>
            </a:r>
          </a:p>
          <a:p>
            <a:pPr marL="0" indent="0">
              <a:buNone/>
            </a:pPr>
            <a:r>
              <a:rPr lang="en-US" sz="1600" dirty="0">
                <a:latin typeface="Courier New" pitchFamily="49" charset="0"/>
                <a:cs typeface="Courier New" pitchFamily="49" charset="0"/>
              </a:rPr>
              <a:t>   {</a:t>
            </a:r>
          </a:p>
          <a:p>
            <a:pPr marL="0" indent="0">
              <a:buNone/>
            </a:pPr>
            <a:r>
              <a:rPr lang="en-US" sz="1600" dirty="0">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int</a:t>
            </a: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n,m</a:t>
            </a:r>
            <a:r>
              <a:rPr lang="en-US" sz="1600" dirty="0">
                <a:latin typeface="Courier New" pitchFamily="49" charset="0"/>
                <a:cs typeface="Courier New" pitchFamily="49" charset="0"/>
              </a:rPr>
              <a:t>;</a:t>
            </a:r>
          </a:p>
          <a:p>
            <a:pPr marL="0" indent="0">
              <a:buNone/>
            </a:pPr>
            <a:r>
              <a:rPr lang="en-US" sz="1600" dirty="0">
                <a:latin typeface="Courier New" pitchFamily="49" charset="0"/>
                <a:cs typeface="Courier New" pitchFamily="49" charset="0"/>
              </a:rPr>
              <a:t>   n = 30; m = 40;</a:t>
            </a:r>
          </a:p>
          <a:p>
            <a:pPr marL="0" indent="0">
              <a:buNone/>
            </a:pP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Console.WriteLine</a:t>
            </a:r>
            <a:r>
              <a:rPr lang="en-US" sz="1600" dirty="0">
                <a:latin typeface="Courier New" pitchFamily="49" charset="0"/>
                <a:cs typeface="Courier New" pitchFamily="49" charset="0"/>
              </a:rPr>
              <a:t>("</a:t>
            </a:r>
            <a:r>
              <a:rPr lang="en-US" sz="1600" dirty="0" err="1">
                <a:latin typeface="Courier New" pitchFamily="49" charset="0"/>
                <a:cs typeface="Courier New" pitchFamily="49" charset="0"/>
              </a:rPr>
              <a:t>Truoc</a:t>
            </a: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khi</a:t>
            </a: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goi</a:t>
            </a:r>
            <a:r>
              <a:rPr lang="en-US" sz="1600" dirty="0">
                <a:latin typeface="Courier New" pitchFamily="49" charset="0"/>
                <a:cs typeface="Courier New" pitchFamily="49" charset="0"/>
              </a:rPr>
              <a:t> swap2: n = {0}, m={1},", n, m);</a:t>
            </a:r>
          </a:p>
          <a:p>
            <a:pPr marL="0" indent="0">
              <a:buNone/>
            </a:pPr>
            <a:r>
              <a:rPr lang="en-US" sz="1600" b="1" dirty="0">
                <a:solidFill>
                  <a:srgbClr val="0000FF"/>
                </a:solidFill>
                <a:latin typeface="Courier New" pitchFamily="49" charset="0"/>
                <a:cs typeface="Courier New" pitchFamily="49" charset="0"/>
              </a:rPr>
              <a:t>   Swap2(ref n, ref m);</a:t>
            </a:r>
          </a:p>
          <a:p>
            <a:pPr marL="0" indent="0">
              <a:buNone/>
            </a:pP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Console.WriteLine</a:t>
            </a:r>
            <a:r>
              <a:rPr lang="en-US" sz="1600" dirty="0">
                <a:latin typeface="Courier New" pitchFamily="49" charset="0"/>
                <a:cs typeface="Courier New" pitchFamily="49" charset="0"/>
              </a:rPr>
              <a:t>("</a:t>
            </a:r>
            <a:r>
              <a:rPr lang="en-US" sz="1600" dirty="0" err="1">
                <a:latin typeface="Courier New" pitchFamily="49" charset="0"/>
                <a:cs typeface="Courier New" pitchFamily="49" charset="0"/>
              </a:rPr>
              <a:t>Sau</a:t>
            </a: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khi</a:t>
            </a: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goi</a:t>
            </a:r>
            <a:r>
              <a:rPr lang="en-US" sz="1600" dirty="0">
                <a:latin typeface="Courier New" pitchFamily="49" charset="0"/>
                <a:cs typeface="Courier New" pitchFamily="49" charset="0"/>
              </a:rPr>
              <a:t> swap2: n = {0}, m = {1},", n, m);</a:t>
            </a:r>
          </a:p>
          <a:p>
            <a:pPr marL="0" indent="0">
              <a:buNone/>
            </a:pP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Console.ReadLine</a:t>
            </a:r>
            <a:r>
              <a:rPr lang="en-US" sz="1600" dirty="0">
                <a:latin typeface="Courier New" pitchFamily="49" charset="0"/>
                <a:cs typeface="Courier New" pitchFamily="49" charset="0"/>
              </a:rPr>
              <a:t>();</a:t>
            </a:r>
          </a:p>
          <a:p>
            <a:pPr marL="0" indent="0">
              <a:buNone/>
            </a:pPr>
            <a:r>
              <a:rPr lang="en-US" sz="1600" dirty="0">
                <a:latin typeface="Courier New" pitchFamily="49" charset="0"/>
                <a:cs typeface="Courier New" pitchFamily="49" charset="0"/>
              </a:rPr>
              <a:t>   }</a:t>
            </a:r>
          </a:p>
        </p:txBody>
      </p:sp>
      <p:sp>
        <p:nvSpPr>
          <p:cNvPr id="4" name="Date Placeholder 3"/>
          <p:cNvSpPr>
            <a:spLocks noGrp="1"/>
          </p:cNvSpPr>
          <p:nvPr>
            <p:ph type="dt" sz="half" idx="10"/>
          </p:nvPr>
        </p:nvSpPr>
        <p:spPr/>
        <p:txBody>
          <a:bodyPr/>
          <a:lstStyle/>
          <a:p>
            <a:fld id="{E604F37D-71C1-44A1-8504-D61A93E27612}" type="datetime1">
              <a:rPr lang="vi-VN" smtClean="0"/>
              <a:t>04/02/2025</a:t>
            </a:fld>
            <a:endParaRPr lang="vi-VN"/>
          </a:p>
        </p:txBody>
      </p:sp>
      <p:sp>
        <p:nvSpPr>
          <p:cNvPr id="5" name="Footer Placeholder 4"/>
          <p:cNvSpPr>
            <a:spLocks noGrp="1"/>
          </p:cNvSpPr>
          <p:nvPr>
            <p:ph type="ftr" sz="quarter" idx="11"/>
          </p:nvPr>
        </p:nvSpPr>
        <p:spPr/>
        <p:txBody>
          <a:bodyPr/>
          <a:lstStyle/>
          <a:p>
            <a:r>
              <a:rPr lang="vi-VN"/>
              <a:t>Chương 3. Lập trình hướng đối tượng trong C#</a:t>
            </a:r>
          </a:p>
        </p:txBody>
      </p:sp>
      <p:sp>
        <p:nvSpPr>
          <p:cNvPr id="8" name="Slide Number Placeholder 7"/>
          <p:cNvSpPr>
            <a:spLocks noGrp="1"/>
          </p:cNvSpPr>
          <p:nvPr>
            <p:ph type="sldNum" sz="quarter" idx="12"/>
          </p:nvPr>
        </p:nvSpPr>
        <p:spPr/>
        <p:txBody>
          <a:bodyPr/>
          <a:lstStyle/>
          <a:p>
            <a:fld id="{5AB95402-1E0D-474E-8D8C-CBE7F053639E}" type="slidenum">
              <a:rPr lang="vi-VN" smtClean="0"/>
              <a:pPr/>
              <a:t>30</a:t>
            </a:fld>
            <a:r>
              <a:rPr lang="vi-VN"/>
              <a:t>/33</a:t>
            </a:r>
          </a:p>
        </p:txBody>
      </p:sp>
    </p:spTree>
    <p:extLst>
      <p:ext uri="{BB962C8B-B14F-4D97-AF65-F5344CB8AC3E}">
        <p14:creationId xmlns:p14="http://schemas.microsoft.com/office/powerpoint/2010/main" val="33981055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Ví dụ - truyền tham chiếu, từ khoá out</a:t>
            </a:r>
          </a:p>
        </p:txBody>
      </p:sp>
      <p:sp>
        <p:nvSpPr>
          <p:cNvPr id="3" name="Content Placeholder 2"/>
          <p:cNvSpPr>
            <a:spLocks noGrp="1"/>
          </p:cNvSpPr>
          <p:nvPr>
            <p:ph idx="1"/>
          </p:nvPr>
        </p:nvSpPr>
        <p:spPr/>
        <p:txBody>
          <a:bodyPr>
            <a:normAutofit/>
          </a:bodyPr>
          <a:lstStyle/>
          <a:p>
            <a:pPr marL="0" indent="0">
              <a:buNone/>
            </a:pPr>
            <a:r>
              <a:rPr lang="vi-VN" sz="1600" b="1" dirty="0">
                <a:solidFill>
                  <a:srgbClr val="00B050"/>
                </a:solidFill>
                <a:latin typeface="Courier New" pitchFamily="49" charset="0"/>
                <a:cs typeface="Courier New" pitchFamily="49" charset="0"/>
              </a:rPr>
              <a:t>//Phương thức thay đổi giá trị, sử dụng truyền tham chiếu, từ khoá out</a:t>
            </a:r>
          </a:p>
          <a:p>
            <a:pPr marL="0" indent="0">
              <a:buNone/>
            </a:pPr>
            <a:r>
              <a:rPr lang="en-US" sz="1600" b="1" dirty="0">
                <a:solidFill>
                  <a:srgbClr val="0000FF"/>
                </a:solidFill>
                <a:latin typeface="Courier New" pitchFamily="49" charset="0"/>
                <a:cs typeface="Courier New" pitchFamily="49" charset="0"/>
              </a:rPr>
              <a:t>static</a:t>
            </a:r>
            <a:r>
              <a:rPr lang="en-US" sz="1600" dirty="0">
                <a:latin typeface="Courier New" pitchFamily="49" charset="0"/>
                <a:cs typeface="Courier New" pitchFamily="49" charset="0"/>
              </a:rPr>
              <a:t> </a:t>
            </a:r>
            <a:r>
              <a:rPr lang="en-US" sz="1600" b="1" dirty="0">
                <a:solidFill>
                  <a:srgbClr val="0000FF"/>
                </a:solidFill>
                <a:latin typeface="Courier New" pitchFamily="49" charset="0"/>
                <a:cs typeface="Courier New" pitchFamily="49" charset="0"/>
              </a:rPr>
              <a:t>void</a:t>
            </a:r>
            <a:r>
              <a:rPr lang="en-US" sz="1600" dirty="0">
                <a:latin typeface="Courier New" pitchFamily="49" charset="0"/>
                <a:cs typeface="Courier New" pitchFamily="49" charset="0"/>
              </a:rPr>
              <a:t> Change(</a:t>
            </a:r>
            <a:r>
              <a:rPr lang="en-US" sz="1600" b="1" dirty="0">
                <a:solidFill>
                  <a:srgbClr val="0000FF"/>
                </a:solidFill>
                <a:latin typeface="Courier New" pitchFamily="49" charset="0"/>
                <a:cs typeface="Courier New" pitchFamily="49" charset="0"/>
              </a:rPr>
              <a:t>out </a:t>
            </a:r>
            <a:r>
              <a:rPr lang="en-US" sz="1600" b="1" dirty="0" err="1">
                <a:solidFill>
                  <a:srgbClr val="0000FF"/>
                </a:solidFill>
                <a:latin typeface="Courier New" pitchFamily="49" charset="0"/>
                <a:cs typeface="Courier New" pitchFamily="49" charset="0"/>
              </a:rPr>
              <a:t>int</a:t>
            </a:r>
            <a:r>
              <a:rPr lang="en-US" sz="1600" b="1" dirty="0">
                <a:solidFill>
                  <a:srgbClr val="0000FF"/>
                </a:solidFill>
                <a:latin typeface="Courier New" pitchFamily="49" charset="0"/>
                <a:cs typeface="Courier New" pitchFamily="49" charset="0"/>
              </a:rPr>
              <a:t> a, out </a:t>
            </a:r>
            <a:r>
              <a:rPr lang="en-US" sz="1600" b="1" dirty="0" err="1">
                <a:solidFill>
                  <a:srgbClr val="0000FF"/>
                </a:solidFill>
                <a:latin typeface="Courier New" pitchFamily="49" charset="0"/>
                <a:cs typeface="Courier New" pitchFamily="49" charset="0"/>
              </a:rPr>
              <a:t>int</a:t>
            </a:r>
            <a:r>
              <a:rPr lang="en-US" sz="1600" b="1" dirty="0">
                <a:solidFill>
                  <a:srgbClr val="0000FF"/>
                </a:solidFill>
                <a:latin typeface="Courier New" pitchFamily="49" charset="0"/>
                <a:cs typeface="Courier New" pitchFamily="49" charset="0"/>
              </a:rPr>
              <a:t> b</a:t>
            </a:r>
            <a:r>
              <a:rPr lang="en-US" sz="1600" dirty="0">
                <a:latin typeface="Courier New" pitchFamily="49" charset="0"/>
                <a:cs typeface="Courier New" pitchFamily="49" charset="0"/>
              </a:rPr>
              <a:t>)</a:t>
            </a:r>
          </a:p>
          <a:p>
            <a:pPr marL="0" indent="0">
              <a:buNone/>
            </a:pPr>
            <a:r>
              <a:rPr lang="en-US" sz="1600" dirty="0">
                <a:latin typeface="Courier New" pitchFamily="49" charset="0"/>
                <a:cs typeface="Courier New" pitchFamily="49" charset="0"/>
              </a:rPr>
              <a:t>{</a:t>
            </a:r>
          </a:p>
          <a:p>
            <a:pPr marL="0" indent="0">
              <a:buNone/>
            </a:pPr>
            <a:r>
              <a:rPr lang="en-US" sz="1600" dirty="0">
                <a:latin typeface="Courier New" pitchFamily="49" charset="0"/>
                <a:cs typeface="Courier New" pitchFamily="49" charset="0"/>
              </a:rPr>
              <a:t>   a = 100;</a:t>
            </a:r>
          </a:p>
          <a:p>
            <a:pPr marL="0" indent="0">
              <a:buNone/>
            </a:pPr>
            <a:r>
              <a:rPr lang="en-US" sz="1600" dirty="0">
                <a:latin typeface="Courier New" pitchFamily="49" charset="0"/>
                <a:cs typeface="Courier New" pitchFamily="49" charset="0"/>
              </a:rPr>
              <a:t>   b = 200;</a:t>
            </a:r>
          </a:p>
          <a:p>
            <a:pPr marL="0" indent="0">
              <a:buNone/>
            </a:pP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Console.WriteLine</a:t>
            </a:r>
            <a:r>
              <a:rPr lang="en-US" sz="1600" dirty="0">
                <a:latin typeface="Courier New" pitchFamily="49" charset="0"/>
                <a:cs typeface="Courier New" pitchFamily="49" charset="0"/>
              </a:rPr>
              <a:t>("</a:t>
            </a:r>
            <a:r>
              <a:rPr lang="en-US" sz="1600" dirty="0" err="1">
                <a:latin typeface="Courier New" pitchFamily="49" charset="0"/>
                <a:cs typeface="Courier New" pitchFamily="49" charset="0"/>
              </a:rPr>
              <a:t>Trong</a:t>
            </a: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phuong</a:t>
            </a: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thuc</a:t>
            </a:r>
            <a:r>
              <a:rPr lang="en-US" sz="1600" dirty="0">
                <a:latin typeface="Courier New" pitchFamily="49" charset="0"/>
                <a:cs typeface="Courier New" pitchFamily="49" charset="0"/>
              </a:rPr>
              <a:t>: a={0},b={1},", a, b);</a:t>
            </a:r>
          </a:p>
          <a:p>
            <a:pPr marL="0" indent="0">
              <a:buNone/>
            </a:pPr>
            <a:r>
              <a:rPr lang="en-US" sz="1600" dirty="0">
                <a:latin typeface="Courier New" pitchFamily="49" charset="0"/>
                <a:cs typeface="Courier New" pitchFamily="49" charset="0"/>
              </a:rPr>
              <a:t>}</a:t>
            </a:r>
          </a:p>
          <a:p>
            <a:pPr marL="0" indent="0">
              <a:buNone/>
            </a:pPr>
            <a:r>
              <a:rPr lang="en-US" sz="1600" b="1" dirty="0">
                <a:solidFill>
                  <a:srgbClr val="0000FF"/>
                </a:solidFill>
                <a:latin typeface="Courier New" pitchFamily="49" charset="0"/>
                <a:cs typeface="Courier New" pitchFamily="49" charset="0"/>
              </a:rPr>
              <a:t>static</a:t>
            </a:r>
            <a:r>
              <a:rPr lang="en-US" sz="1600" dirty="0">
                <a:latin typeface="Courier New" pitchFamily="49" charset="0"/>
                <a:cs typeface="Courier New" pitchFamily="49" charset="0"/>
              </a:rPr>
              <a:t> </a:t>
            </a:r>
            <a:r>
              <a:rPr lang="en-US" sz="1600" b="1" dirty="0">
                <a:solidFill>
                  <a:srgbClr val="0000FF"/>
                </a:solidFill>
                <a:latin typeface="Courier New" pitchFamily="49" charset="0"/>
                <a:cs typeface="Courier New" pitchFamily="49" charset="0"/>
              </a:rPr>
              <a:t>void</a:t>
            </a:r>
            <a:r>
              <a:rPr lang="en-US" sz="1600" dirty="0">
                <a:latin typeface="Courier New" pitchFamily="49" charset="0"/>
                <a:cs typeface="Courier New" pitchFamily="49" charset="0"/>
              </a:rPr>
              <a:t> Main(string[] </a:t>
            </a:r>
            <a:r>
              <a:rPr lang="en-US" sz="1600" dirty="0" err="1">
                <a:latin typeface="Courier New" pitchFamily="49" charset="0"/>
                <a:cs typeface="Courier New" pitchFamily="49" charset="0"/>
              </a:rPr>
              <a:t>args</a:t>
            </a:r>
            <a:r>
              <a:rPr lang="en-US" sz="1600" dirty="0">
                <a:latin typeface="Courier New" pitchFamily="49" charset="0"/>
                <a:cs typeface="Courier New" pitchFamily="49" charset="0"/>
              </a:rPr>
              <a:t>)</a:t>
            </a:r>
          </a:p>
          <a:p>
            <a:pPr marL="0" indent="0">
              <a:buNone/>
            </a:pPr>
            <a:r>
              <a:rPr lang="en-US" sz="1600" dirty="0">
                <a:latin typeface="Courier New" pitchFamily="49" charset="0"/>
                <a:cs typeface="Courier New" pitchFamily="49" charset="0"/>
              </a:rPr>
              <a:t>{</a:t>
            </a:r>
          </a:p>
          <a:p>
            <a:pPr marL="0" indent="0">
              <a:buNone/>
            </a:pPr>
            <a:r>
              <a:rPr lang="en-US" sz="1600" dirty="0">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int</a:t>
            </a: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n,m</a:t>
            </a:r>
            <a:r>
              <a:rPr lang="en-US" sz="1600" dirty="0">
                <a:latin typeface="Courier New" pitchFamily="49" charset="0"/>
                <a:cs typeface="Courier New" pitchFamily="49" charset="0"/>
              </a:rPr>
              <a:t>;</a:t>
            </a:r>
          </a:p>
          <a:p>
            <a:pPr marL="0" indent="0">
              <a:buNone/>
            </a:pPr>
            <a:r>
              <a:rPr lang="en-US" sz="1600" dirty="0">
                <a:latin typeface="Courier New" pitchFamily="49" charset="0"/>
                <a:cs typeface="Courier New" pitchFamily="49" charset="0"/>
              </a:rPr>
              <a:t>  </a:t>
            </a:r>
            <a:r>
              <a:rPr lang="en-US" sz="1600" b="1" dirty="0">
                <a:solidFill>
                  <a:srgbClr val="0000FF"/>
                </a:solidFill>
                <a:latin typeface="Courier New" pitchFamily="49" charset="0"/>
                <a:cs typeface="Courier New" pitchFamily="49" charset="0"/>
              </a:rPr>
              <a:t>Change (out n, out m);</a:t>
            </a:r>
          </a:p>
          <a:p>
            <a:pPr marL="0" indent="0">
              <a:buNone/>
            </a:pP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Console.WriteLine</a:t>
            </a:r>
            <a:r>
              <a:rPr lang="en-US" sz="1600" dirty="0">
                <a:latin typeface="Courier New" pitchFamily="49" charset="0"/>
                <a:cs typeface="Courier New" pitchFamily="49" charset="0"/>
              </a:rPr>
              <a:t>("</a:t>
            </a:r>
            <a:r>
              <a:rPr lang="en-US" sz="1600" dirty="0" err="1">
                <a:latin typeface="Courier New" pitchFamily="49" charset="0"/>
                <a:cs typeface="Courier New" pitchFamily="49" charset="0"/>
              </a:rPr>
              <a:t>Sau</a:t>
            </a: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khi</a:t>
            </a: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goi</a:t>
            </a:r>
            <a:r>
              <a:rPr lang="en-US" sz="1600" dirty="0">
                <a:latin typeface="Courier New" pitchFamily="49" charset="0"/>
                <a:cs typeface="Courier New" pitchFamily="49" charset="0"/>
              </a:rPr>
              <a:t> Change: n={0}, m={1},",n, m);</a:t>
            </a:r>
          </a:p>
          <a:p>
            <a:pPr marL="0" indent="0">
              <a:buNone/>
            </a:pP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Console.ReadLine</a:t>
            </a:r>
            <a:r>
              <a:rPr lang="en-US" sz="1600" dirty="0">
                <a:latin typeface="Courier New" pitchFamily="49" charset="0"/>
                <a:cs typeface="Courier New" pitchFamily="49" charset="0"/>
              </a:rPr>
              <a:t>();</a:t>
            </a:r>
          </a:p>
          <a:p>
            <a:pPr marL="0" indent="0">
              <a:buNone/>
            </a:pPr>
            <a:r>
              <a:rPr lang="en-US" sz="1600" dirty="0">
                <a:latin typeface="Courier New" pitchFamily="49" charset="0"/>
                <a:cs typeface="Courier New" pitchFamily="49" charset="0"/>
              </a:rPr>
              <a:t>}</a:t>
            </a:r>
          </a:p>
        </p:txBody>
      </p:sp>
      <p:sp>
        <p:nvSpPr>
          <p:cNvPr id="4" name="Date Placeholder 3"/>
          <p:cNvSpPr>
            <a:spLocks noGrp="1"/>
          </p:cNvSpPr>
          <p:nvPr>
            <p:ph type="dt" sz="half" idx="10"/>
          </p:nvPr>
        </p:nvSpPr>
        <p:spPr/>
        <p:txBody>
          <a:bodyPr/>
          <a:lstStyle/>
          <a:p>
            <a:fld id="{D8942A18-ABEF-4196-955B-F6901CC2356E}" type="datetime1">
              <a:rPr lang="vi-VN" smtClean="0"/>
              <a:t>04/02/2025</a:t>
            </a:fld>
            <a:endParaRPr lang="vi-VN"/>
          </a:p>
        </p:txBody>
      </p:sp>
      <p:sp>
        <p:nvSpPr>
          <p:cNvPr id="5" name="Footer Placeholder 4"/>
          <p:cNvSpPr>
            <a:spLocks noGrp="1"/>
          </p:cNvSpPr>
          <p:nvPr>
            <p:ph type="ftr" sz="quarter" idx="11"/>
          </p:nvPr>
        </p:nvSpPr>
        <p:spPr/>
        <p:txBody>
          <a:bodyPr/>
          <a:lstStyle/>
          <a:p>
            <a:r>
              <a:rPr lang="vi-VN"/>
              <a:t>Chương 3. Lập trình hướng đối tượng trong C#</a:t>
            </a:r>
          </a:p>
        </p:txBody>
      </p:sp>
      <p:sp>
        <p:nvSpPr>
          <p:cNvPr id="8" name="Slide Number Placeholder 7"/>
          <p:cNvSpPr>
            <a:spLocks noGrp="1"/>
          </p:cNvSpPr>
          <p:nvPr>
            <p:ph type="sldNum" sz="quarter" idx="12"/>
          </p:nvPr>
        </p:nvSpPr>
        <p:spPr/>
        <p:txBody>
          <a:bodyPr/>
          <a:lstStyle/>
          <a:p>
            <a:fld id="{5AB95402-1E0D-474E-8D8C-CBE7F053639E}" type="slidenum">
              <a:rPr lang="vi-VN" smtClean="0"/>
              <a:pPr/>
              <a:t>31</a:t>
            </a:fld>
            <a:r>
              <a:rPr lang="vi-VN"/>
              <a:t>/33</a:t>
            </a:r>
          </a:p>
        </p:txBody>
      </p:sp>
    </p:spTree>
    <p:extLst>
      <p:ext uri="{BB962C8B-B14F-4D97-AF65-F5344CB8AC3E}">
        <p14:creationId xmlns:p14="http://schemas.microsoft.com/office/powerpoint/2010/main" val="27916121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EF5E67-9F0E-452F-A39F-ABF3A802B006}"/>
              </a:ext>
            </a:extLst>
          </p:cNvPr>
          <p:cNvSpPr>
            <a:spLocks noGrp="1"/>
          </p:cNvSpPr>
          <p:nvPr>
            <p:ph idx="1"/>
          </p:nvPr>
        </p:nvSpPr>
        <p:spPr/>
        <p:txBody>
          <a:bodyPr/>
          <a:lstStyle/>
          <a:p>
            <a:r>
              <a:rPr lang="vi-VN" sz="2200"/>
              <a:t>Biểu thức </a:t>
            </a:r>
            <a:r>
              <a:rPr lang="vi-VN" sz="2200" b="1"/>
              <a:t>lambda</a:t>
            </a:r>
            <a:r>
              <a:rPr lang="vi-VN" sz="2200"/>
              <a:t> trong C# là một cách ngắn gọn để định nghĩa một hàm vô danh (không có tên) ngay trong mã mà không cần phải khai báo một phương thức riêng biệt. Lambda rất hữu ích khi cần một hàm đơn giản, đặc biệt khi làm việc với các API như LINQ hoặc các phương thức yêu cầu hành động như sắp xếp hoặc lọc dữ liệu.</a:t>
            </a:r>
          </a:p>
          <a:p>
            <a:r>
              <a:rPr lang="vi-VN" sz="2400"/>
              <a:t>Cấu trúc cơ bản của biểu thức lambda:</a:t>
            </a:r>
            <a:endParaRPr lang="en-US" sz="2400"/>
          </a:p>
          <a:p>
            <a:pPr>
              <a:buFont typeface="Wingdings" panose="05000000000000000000" pitchFamily="2" charset="2"/>
              <a:buChar char="ü"/>
            </a:pPr>
            <a:r>
              <a:rPr lang="en-US" sz="2400"/>
              <a:t>Sử dụng toán tử =&gt;</a:t>
            </a:r>
          </a:p>
          <a:p>
            <a:pPr marL="0" indent="0">
              <a:buNone/>
            </a:pPr>
            <a:r>
              <a:rPr lang="en-US" sz="2400"/>
              <a:t>	</a:t>
            </a:r>
            <a:r>
              <a:rPr lang="en-US" sz="2400" b="1"/>
              <a:t>(các_tham_số) =&gt; biểu_thức;</a:t>
            </a:r>
          </a:p>
          <a:p>
            <a:pPr>
              <a:buFont typeface="Wingdings" panose="05000000000000000000" pitchFamily="2" charset="2"/>
              <a:buChar char="ü"/>
            </a:pPr>
            <a:r>
              <a:rPr lang="en-US" sz="2400" kern="1200"/>
              <a:t>Một cấu trúc lệnh sau toán tử </a:t>
            </a:r>
            <a:r>
              <a:rPr lang="en-US" sz="2400"/>
              <a:t>=&gt;</a:t>
            </a:r>
          </a:p>
          <a:p>
            <a:pPr marL="0" indent="0">
              <a:buNone/>
            </a:pPr>
            <a:endParaRPr lang="en-US" sz="2400"/>
          </a:p>
          <a:p>
            <a:pPr>
              <a:buFont typeface="Wingdings" panose="05000000000000000000" pitchFamily="2" charset="2"/>
              <a:buChar char="ü"/>
            </a:pPr>
            <a:endParaRPr lang="en-US" sz="2400"/>
          </a:p>
          <a:p>
            <a:pPr marL="0" indent="0">
              <a:buNone/>
            </a:pPr>
            <a:endParaRPr lang="en-US" sz="2200"/>
          </a:p>
        </p:txBody>
      </p:sp>
      <p:sp>
        <p:nvSpPr>
          <p:cNvPr id="3" name="Date Placeholder 2">
            <a:extLst>
              <a:ext uri="{FF2B5EF4-FFF2-40B4-BE49-F238E27FC236}">
                <a16:creationId xmlns:a16="http://schemas.microsoft.com/office/drawing/2014/main" id="{FC763BF6-6A21-4B77-AA79-BDD6E4EE001D}"/>
              </a:ext>
            </a:extLst>
          </p:cNvPr>
          <p:cNvSpPr>
            <a:spLocks noGrp="1"/>
          </p:cNvSpPr>
          <p:nvPr>
            <p:ph type="dt" sz="half" idx="10"/>
          </p:nvPr>
        </p:nvSpPr>
        <p:spPr/>
        <p:txBody>
          <a:bodyPr/>
          <a:lstStyle/>
          <a:p>
            <a:fld id="{4719FDB1-9615-4287-8D55-AF20E3CF298E}" type="datetime1">
              <a:rPr lang="vi-VN" smtClean="0"/>
              <a:t>04/02/2025</a:t>
            </a:fld>
            <a:endParaRPr lang="vi-VN"/>
          </a:p>
        </p:txBody>
      </p:sp>
      <p:sp>
        <p:nvSpPr>
          <p:cNvPr id="4" name="Footer Placeholder 3">
            <a:extLst>
              <a:ext uri="{FF2B5EF4-FFF2-40B4-BE49-F238E27FC236}">
                <a16:creationId xmlns:a16="http://schemas.microsoft.com/office/drawing/2014/main" id="{AFA93F80-4377-4726-846E-F7450DCEDF7C}"/>
              </a:ext>
            </a:extLst>
          </p:cNvPr>
          <p:cNvSpPr>
            <a:spLocks noGrp="1"/>
          </p:cNvSpPr>
          <p:nvPr>
            <p:ph type="ftr" sz="quarter" idx="11"/>
          </p:nvPr>
        </p:nvSpPr>
        <p:spPr/>
        <p:txBody>
          <a:bodyPr/>
          <a:lstStyle/>
          <a:p>
            <a:r>
              <a:rPr lang="vi-VN"/>
              <a:t>Chương 3. Lập trình hướng đối tượng trong C#</a:t>
            </a:r>
          </a:p>
        </p:txBody>
      </p:sp>
      <p:sp>
        <p:nvSpPr>
          <p:cNvPr id="5" name="Slide Number Placeholder 4">
            <a:extLst>
              <a:ext uri="{FF2B5EF4-FFF2-40B4-BE49-F238E27FC236}">
                <a16:creationId xmlns:a16="http://schemas.microsoft.com/office/drawing/2014/main" id="{D09AC86B-C133-4695-A4E2-EF165BFA1EC4}"/>
              </a:ext>
            </a:extLst>
          </p:cNvPr>
          <p:cNvSpPr>
            <a:spLocks noGrp="1"/>
          </p:cNvSpPr>
          <p:nvPr>
            <p:ph type="sldNum" sz="quarter" idx="12"/>
          </p:nvPr>
        </p:nvSpPr>
        <p:spPr/>
        <p:txBody>
          <a:bodyPr/>
          <a:lstStyle/>
          <a:p>
            <a:fld id="{5AB95402-1E0D-474E-8D8C-CBE7F053639E}" type="slidenum">
              <a:rPr lang="vi-VN" smtClean="0"/>
              <a:pPr/>
              <a:t>32</a:t>
            </a:fld>
            <a:r>
              <a:rPr lang="vi-VN"/>
              <a:t>/33</a:t>
            </a:r>
          </a:p>
        </p:txBody>
      </p:sp>
      <p:sp>
        <p:nvSpPr>
          <p:cNvPr id="6" name="Title 5">
            <a:extLst>
              <a:ext uri="{FF2B5EF4-FFF2-40B4-BE49-F238E27FC236}">
                <a16:creationId xmlns:a16="http://schemas.microsoft.com/office/drawing/2014/main" id="{551A41DB-0D5B-4E78-A0F2-378A4F3630D5}"/>
              </a:ext>
            </a:extLst>
          </p:cNvPr>
          <p:cNvSpPr>
            <a:spLocks noGrp="1"/>
          </p:cNvSpPr>
          <p:nvPr>
            <p:ph type="title"/>
          </p:nvPr>
        </p:nvSpPr>
        <p:spPr>
          <a:xfrm>
            <a:off x="979984" y="533400"/>
            <a:ext cx="7488832" cy="685800"/>
          </a:xfrm>
        </p:spPr>
        <p:txBody>
          <a:bodyPr/>
          <a:lstStyle/>
          <a:p>
            <a:r>
              <a:rPr lang="vi-VN"/>
              <a:t>3.1.4 Biểu thức lamda</a:t>
            </a:r>
            <a:br>
              <a:rPr lang="en-US"/>
            </a:br>
            <a:endParaRPr lang="en-US"/>
          </a:p>
        </p:txBody>
      </p:sp>
      <p:pic>
        <p:nvPicPr>
          <p:cNvPr id="9" name="Picture 8">
            <a:extLst>
              <a:ext uri="{FF2B5EF4-FFF2-40B4-BE49-F238E27FC236}">
                <a16:creationId xmlns:a16="http://schemas.microsoft.com/office/drawing/2014/main" id="{01146FD5-EA8E-4F11-8182-3DD0F63400B7}"/>
              </a:ext>
            </a:extLst>
          </p:cNvPr>
          <p:cNvPicPr>
            <a:picLocks noChangeAspect="1"/>
          </p:cNvPicPr>
          <p:nvPr/>
        </p:nvPicPr>
        <p:blipFill>
          <a:blip r:embed="rId3"/>
          <a:stretch>
            <a:fillRect/>
          </a:stretch>
        </p:blipFill>
        <p:spPr>
          <a:xfrm>
            <a:off x="1763688" y="5115447"/>
            <a:ext cx="4286250" cy="1323975"/>
          </a:xfrm>
          <a:prstGeom prst="rect">
            <a:avLst/>
          </a:prstGeom>
        </p:spPr>
      </p:pic>
    </p:spTree>
    <p:extLst>
      <p:ext uri="{BB962C8B-B14F-4D97-AF65-F5344CB8AC3E}">
        <p14:creationId xmlns:p14="http://schemas.microsoft.com/office/powerpoint/2010/main" val="4596670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3C2076F-2B1A-4721-A5DD-27F8ACA3B6DB}"/>
              </a:ext>
            </a:extLst>
          </p:cNvPr>
          <p:cNvSpPr>
            <a:spLocks noGrp="1"/>
          </p:cNvSpPr>
          <p:nvPr>
            <p:ph idx="1"/>
          </p:nvPr>
        </p:nvSpPr>
        <p:spPr/>
        <p:txBody>
          <a:bodyPr/>
          <a:lstStyle/>
          <a:p>
            <a:pPr marL="0" indent="0">
              <a:buNone/>
            </a:pPr>
            <a:r>
              <a:rPr lang="en-US" sz="2000" b="1"/>
              <a:t>Các loại biểu thức lambda:</a:t>
            </a:r>
          </a:p>
          <a:p>
            <a:r>
              <a:rPr lang="vi-VN" sz="2000" b="1"/>
              <a:t>Biểu thức lambda với một tham số:</a:t>
            </a:r>
            <a:r>
              <a:rPr lang="en-US" sz="2000" b="1"/>
              <a:t> </a:t>
            </a:r>
            <a:r>
              <a:rPr lang="vi-VN" sz="2000"/>
              <a:t>Nếu chỉ có một tham số, có thể bỏ qua dấu ngoặc đơn.</a:t>
            </a:r>
          </a:p>
          <a:p>
            <a:pPr marL="0" lvl="0" indent="0" algn="l" fontAlgn="auto">
              <a:spcBef>
                <a:spcPts val="0"/>
              </a:spcBef>
              <a:spcAft>
                <a:spcPts val="0"/>
              </a:spcAft>
              <a:buClrTx/>
              <a:buNone/>
              <a:defRPr/>
            </a:pPr>
            <a:r>
              <a:rPr lang="en-US" sz="2000"/>
              <a:t>	var square = x =&gt; x * x; </a:t>
            </a:r>
          </a:p>
          <a:p>
            <a:pPr marL="0" lvl="0" indent="0" algn="l" fontAlgn="auto">
              <a:spcBef>
                <a:spcPts val="0"/>
              </a:spcBef>
              <a:spcAft>
                <a:spcPts val="0"/>
              </a:spcAft>
              <a:buClrTx/>
              <a:buNone/>
              <a:defRPr/>
            </a:pPr>
            <a:r>
              <a:rPr lang="en-US" sz="2000"/>
              <a:t>	Console.WriteLine(square(5)); // Output: 25 </a:t>
            </a:r>
          </a:p>
          <a:p>
            <a:r>
              <a:rPr lang="en-US" sz="2000" b="1"/>
              <a:t>Biểu thức lambda với nhiều tham số: </a:t>
            </a:r>
            <a:r>
              <a:rPr lang="vi-VN" sz="2000"/>
              <a:t>Khi có nhiều tham số, cần dùng dấu ngoặc đơn.</a:t>
            </a:r>
          </a:p>
          <a:p>
            <a:pPr marL="0" indent="0">
              <a:buNone/>
            </a:pPr>
            <a:r>
              <a:rPr lang="es-ES" sz="2000"/>
              <a:t>	var sum = (x, y) =&gt; x + y;</a:t>
            </a:r>
          </a:p>
          <a:p>
            <a:pPr marL="0" indent="0">
              <a:buNone/>
            </a:pPr>
            <a:r>
              <a:rPr lang="es-ES" sz="2000"/>
              <a:t>	Console.WriteLine(sum(5, 3));  // Output: 8</a:t>
            </a:r>
          </a:p>
          <a:p>
            <a:r>
              <a:rPr lang="en-US" sz="2000" b="1"/>
              <a:t>Biểu thức lambda với khối lệnh: </a:t>
            </a:r>
            <a:r>
              <a:rPr lang="en-US" sz="2000"/>
              <a:t>Nếu biểu thức lambda có nhiều dòng mã, ta cần dùng dấu ngoặc nhọn {}.</a:t>
            </a:r>
          </a:p>
          <a:p>
            <a:endParaRPr lang="en-US" sz="2000"/>
          </a:p>
          <a:p>
            <a:endParaRPr lang="en-US" sz="2000"/>
          </a:p>
          <a:p>
            <a:endParaRPr lang="en-US" sz="2000"/>
          </a:p>
          <a:p>
            <a:pPr marL="0" indent="0">
              <a:buNone/>
            </a:pPr>
            <a:endParaRPr lang="en-US" sz="2000"/>
          </a:p>
          <a:p>
            <a:endParaRPr lang="en-US" sz="2000"/>
          </a:p>
          <a:p>
            <a:endParaRPr lang="en-US" sz="2000"/>
          </a:p>
          <a:p>
            <a:endParaRPr lang="en-US" sz="2000"/>
          </a:p>
        </p:txBody>
      </p:sp>
      <p:sp>
        <p:nvSpPr>
          <p:cNvPr id="3" name="Date Placeholder 2">
            <a:extLst>
              <a:ext uri="{FF2B5EF4-FFF2-40B4-BE49-F238E27FC236}">
                <a16:creationId xmlns:a16="http://schemas.microsoft.com/office/drawing/2014/main" id="{D7209318-1855-488F-A87F-94DAF858A94C}"/>
              </a:ext>
            </a:extLst>
          </p:cNvPr>
          <p:cNvSpPr>
            <a:spLocks noGrp="1"/>
          </p:cNvSpPr>
          <p:nvPr>
            <p:ph type="dt" sz="half" idx="10"/>
          </p:nvPr>
        </p:nvSpPr>
        <p:spPr/>
        <p:txBody>
          <a:bodyPr/>
          <a:lstStyle/>
          <a:p>
            <a:fld id="{4719FDB1-9615-4287-8D55-AF20E3CF298E}" type="datetime1">
              <a:rPr lang="vi-VN" smtClean="0"/>
              <a:t>04/02/2025</a:t>
            </a:fld>
            <a:endParaRPr lang="vi-VN"/>
          </a:p>
        </p:txBody>
      </p:sp>
      <p:sp>
        <p:nvSpPr>
          <p:cNvPr id="4" name="Footer Placeholder 3">
            <a:extLst>
              <a:ext uri="{FF2B5EF4-FFF2-40B4-BE49-F238E27FC236}">
                <a16:creationId xmlns:a16="http://schemas.microsoft.com/office/drawing/2014/main" id="{0E0E6469-6381-4AC4-8AE0-7774C25C2B31}"/>
              </a:ext>
            </a:extLst>
          </p:cNvPr>
          <p:cNvSpPr>
            <a:spLocks noGrp="1"/>
          </p:cNvSpPr>
          <p:nvPr>
            <p:ph type="ftr" sz="quarter" idx="11"/>
          </p:nvPr>
        </p:nvSpPr>
        <p:spPr/>
        <p:txBody>
          <a:bodyPr/>
          <a:lstStyle/>
          <a:p>
            <a:r>
              <a:rPr lang="vi-VN"/>
              <a:t>Chương 3. Lập trình hướng đối tượng trong C#</a:t>
            </a:r>
          </a:p>
        </p:txBody>
      </p:sp>
      <p:sp>
        <p:nvSpPr>
          <p:cNvPr id="5" name="Slide Number Placeholder 4">
            <a:extLst>
              <a:ext uri="{FF2B5EF4-FFF2-40B4-BE49-F238E27FC236}">
                <a16:creationId xmlns:a16="http://schemas.microsoft.com/office/drawing/2014/main" id="{6A5CC3DE-DC48-4EC3-BA07-F5E4201B317B}"/>
              </a:ext>
            </a:extLst>
          </p:cNvPr>
          <p:cNvSpPr>
            <a:spLocks noGrp="1"/>
          </p:cNvSpPr>
          <p:nvPr>
            <p:ph type="sldNum" sz="quarter" idx="12"/>
          </p:nvPr>
        </p:nvSpPr>
        <p:spPr/>
        <p:txBody>
          <a:bodyPr/>
          <a:lstStyle/>
          <a:p>
            <a:fld id="{5AB95402-1E0D-474E-8D8C-CBE7F053639E}" type="slidenum">
              <a:rPr lang="vi-VN" smtClean="0"/>
              <a:pPr/>
              <a:t>33</a:t>
            </a:fld>
            <a:r>
              <a:rPr lang="vi-VN"/>
              <a:t>/33</a:t>
            </a:r>
          </a:p>
        </p:txBody>
      </p:sp>
      <p:sp>
        <p:nvSpPr>
          <p:cNvPr id="6" name="Title 5">
            <a:extLst>
              <a:ext uri="{FF2B5EF4-FFF2-40B4-BE49-F238E27FC236}">
                <a16:creationId xmlns:a16="http://schemas.microsoft.com/office/drawing/2014/main" id="{07B8D62B-A529-40B1-A455-E5D8DD2D379E}"/>
              </a:ext>
            </a:extLst>
          </p:cNvPr>
          <p:cNvSpPr>
            <a:spLocks noGrp="1"/>
          </p:cNvSpPr>
          <p:nvPr>
            <p:ph type="title"/>
          </p:nvPr>
        </p:nvSpPr>
        <p:spPr>
          <a:xfrm>
            <a:off x="979984" y="533400"/>
            <a:ext cx="7488832" cy="685800"/>
          </a:xfrm>
        </p:spPr>
        <p:txBody>
          <a:bodyPr/>
          <a:lstStyle/>
          <a:p>
            <a:r>
              <a:rPr lang="vi-VN"/>
              <a:t>3.1.4 Biểu thức lamda</a:t>
            </a:r>
            <a:br>
              <a:rPr lang="en-US"/>
            </a:br>
            <a:endParaRPr lang="en-US"/>
          </a:p>
        </p:txBody>
      </p:sp>
      <p:pic>
        <p:nvPicPr>
          <p:cNvPr id="10" name="Picture 9">
            <a:extLst>
              <a:ext uri="{FF2B5EF4-FFF2-40B4-BE49-F238E27FC236}">
                <a16:creationId xmlns:a16="http://schemas.microsoft.com/office/drawing/2014/main" id="{CE2C8DA6-2B10-4D7D-B9F8-77D6891D4491}"/>
              </a:ext>
            </a:extLst>
          </p:cNvPr>
          <p:cNvPicPr>
            <a:picLocks noChangeAspect="1"/>
          </p:cNvPicPr>
          <p:nvPr/>
        </p:nvPicPr>
        <p:blipFill>
          <a:blip r:embed="rId3"/>
          <a:stretch>
            <a:fillRect/>
          </a:stretch>
        </p:blipFill>
        <p:spPr>
          <a:xfrm>
            <a:off x="2195736" y="4933950"/>
            <a:ext cx="3714750" cy="1390650"/>
          </a:xfrm>
          <a:prstGeom prst="rect">
            <a:avLst/>
          </a:prstGeom>
        </p:spPr>
      </p:pic>
    </p:spTree>
    <p:extLst>
      <p:ext uri="{BB962C8B-B14F-4D97-AF65-F5344CB8AC3E}">
        <p14:creationId xmlns:p14="http://schemas.microsoft.com/office/powerpoint/2010/main" val="5073570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1ED08C-67F9-4077-A0B0-950B3F2FE1B8}"/>
              </a:ext>
            </a:extLst>
          </p:cNvPr>
          <p:cNvSpPr>
            <a:spLocks noGrp="1"/>
          </p:cNvSpPr>
          <p:nvPr>
            <p:ph idx="1"/>
          </p:nvPr>
        </p:nvSpPr>
        <p:spPr/>
        <p:txBody>
          <a:bodyPr/>
          <a:lstStyle/>
          <a:p>
            <a:r>
              <a:rPr lang="vi-VN" sz="2200"/>
              <a:t>Biểu thức lambda rất thường được dùng trong </a:t>
            </a:r>
            <a:r>
              <a:rPr lang="vi-VN" sz="2200" b="1"/>
              <a:t>LINQ</a:t>
            </a:r>
            <a:r>
              <a:rPr lang="en-US" sz="2200" b="1"/>
              <a:t> </a:t>
            </a:r>
            <a:r>
              <a:rPr lang="en-US" sz="2200" err="1"/>
              <a:t>thay</a:t>
            </a:r>
            <a:r>
              <a:rPr lang="en-US" sz="2400"/>
              <a:t> </a:t>
            </a:r>
            <a:r>
              <a:rPr lang="en-US" sz="2200" dirty="0" err="1"/>
              <a:t>cho</a:t>
            </a:r>
            <a:r>
              <a:rPr lang="en-US" sz="2200" dirty="0"/>
              <a:t> </a:t>
            </a:r>
            <a:r>
              <a:rPr lang="en-US" sz="2200" dirty="0" err="1"/>
              <a:t>cú</a:t>
            </a:r>
            <a:r>
              <a:rPr lang="en-US" sz="2200" dirty="0"/>
              <a:t> </a:t>
            </a:r>
            <a:r>
              <a:rPr lang="en-US" sz="2200" dirty="0" err="1"/>
              <a:t>pháp</a:t>
            </a:r>
            <a:r>
              <a:rPr lang="en-US" sz="2200" dirty="0"/>
              <a:t> </a:t>
            </a:r>
            <a:r>
              <a:rPr lang="en-US" sz="2200" dirty="0" err="1"/>
              <a:t>truy</a:t>
            </a:r>
            <a:r>
              <a:rPr lang="en-US" sz="2200" dirty="0"/>
              <a:t> </a:t>
            </a:r>
            <a:r>
              <a:rPr lang="en-US" sz="2200" dirty="0" err="1"/>
              <a:t>vấn</a:t>
            </a:r>
            <a:r>
              <a:rPr lang="en-US" sz="2200" dirty="0"/>
              <a:t> SQL</a:t>
            </a:r>
            <a:r>
              <a:rPr lang="vi-VN" sz="2200" dirty="0"/>
              <a:t> để truy vấn dữ liệu.</a:t>
            </a:r>
            <a:endParaRPr lang="en-US" sz="2200" dirty="0"/>
          </a:p>
        </p:txBody>
      </p:sp>
      <p:sp>
        <p:nvSpPr>
          <p:cNvPr id="3" name="Date Placeholder 2">
            <a:extLst>
              <a:ext uri="{FF2B5EF4-FFF2-40B4-BE49-F238E27FC236}">
                <a16:creationId xmlns:a16="http://schemas.microsoft.com/office/drawing/2014/main" id="{B39AB2D5-6B9A-4136-893C-C098C3C4BF16}"/>
              </a:ext>
            </a:extLst>
          </p:cNvPr>
          <p:cNvSpPr>
            <a:spLocks noGrp="1"/>
          </p:cNvSpPr>
          <p:nvPr>
            <p:ph type="dt" sz="half" idx="10"/>
          </p:nvPr>
        </p:nvSpPr>
        <p:spPr/>
        <p:txBody>
          <a:bodyPr/>
          <a:lstStyle/>
          <a:p>
            <a:fld id="{4719FDB1-9615-4287-8D55-AF20E3CF298E}" type="datetime1">
              <a:rPr lang="vi-VN" smtClean="0"/>
              <a:t>04/02/2025</a:t>
            </a:fld>
            <a:endParaRPr lang="vi-VN"/>
          </a:p>
        </p:txBody>
      </p:sp>
      <p:sp>
        <p:nvSpPr>
          <p:cNvPr id="4" name="Footer Placeholder 3">
            <a:extLst>
              <a:ext uri="{FF2B5EF4-FFF2-40B4-BE49-F238E27FC236}">
                <a16:creationId xmlns:a16="http://schemas.microsoft.com/office/drawing/2014/main" id="{4E7F5284-BEB5-4205-977E-9828930A7166}"/>
              </a:ext>
            </a:extLst>
          </p:cNvPr>
          <p:cNvSpPr>
            <a:spLocks noGrp="1"/>
          </p:cNvSpPr>
          <p:nvPr>
            <p:ph type="ftr" sz="quarter" idx="11"/>
          </p:nvPr>
        </p:nvSpPr>
        <p:spPr/>
        <p:txBody>
          <a:bodyPr/>
          <a:lstStyle/>
          <a:p>
            <a:r>
              <a:rPr lang="vi-VN"/>
              <a:t>Chương 3. Lập trình hướng đối tượng trong C#</a:t>
            </a:r>
          </a:p>
        </p:txBody>
      </p:sp>
      <p:sp>
        <p:nvSpPr>
          <p:cNvPr id="5" name="Slide Number Placeholder 4">
            <a:extLst>
              <a:ext uri="{FF2B5EF4-FFF2-40B4-BE49-F238E27FC236}">
                <a16:creationId xmlns:a16="http://schemas.microsoft.com/office/drawing/2014/main" id="{29C83292-6DCB-47D7-809F-E2BF12A7C405}"/>
              </a:ext>
            </a:extLst>
          </p:cNvPr>
          <p:cNvSpPr>
            <a:spLocks noGrp="1"/>
          </p:cNvSpPr>
          <p:nvPr>
            <p:ph type="sldNum" sz="quarter" idx="12"/>
          </p:nvPr>
        </p:nvSpPr>
        <p:spPr/>
        <p:txBody>
          <a:bodyPr/>
          <a:lstStyle/>
          <a:p>
            <a:fld id="{5AB95402-1E0D-474E-8D8C-CBE7F053639E}" type="slidenum">
              <a:rPr lang="vi-VN" smtClean="0"/>
              <a:pPr/>
              <a:t>34</a:t>
            </a:fld>
            <a:r>
              <a:rPr lang="vi-VN"/>
              <a:t>/33</a:t>
            </a:r>
          </a:p>
        </p:txBody>
      </p:sp>
      <p:sp>
        <p:nvSpPr>
          <p:cNvPr id="6" name="Title 5">
            <a:extLst>
              <a:ext uri="{FF2B5EF4-FFF2-40B4-BE49-F238E27FC236}">
                <a16:creationId xmlns:a16="http://schemas.microsoft.com/office/drawing/2014/main" id="{372A9E56-15F3-410D-BFB0-6370112CDB30}"/>
              </a:ext>
            </a:extLst>
          </p:cNvPr>
          <p:cNvSpPr>
            <a:spLocks noGrp="1"/>
          </p:cNvSpPr>
          <p:nvPr>
            <p:ph type="title"/>
          </p:nvPr>
        </p:nvSpPr>
        <p:spPr>
          <a:xfrm>
            <a:off x="979984" y="522962"/>
            <a:ext cx="7488832" cy="685800"/>
          </a:xfrm>
        </p:spPr>
        <p:txBody>
          <a:bodyPr/>
          <a:lstStyle/>
          <a:p>
            <a:r>
              <a:rPr lang="vi-VN"/>
              <a:t>3.1.4 Biểu thức lamda</a:t>
            </a:r>
            <a:br>
              <a:rPr lang="en-US"/>
            </a:br>
            <a:endParaRPr lang="en-US"/>
          </a:p>
        </p:txBody>
      </p:sp>
      <p:pic>
        <p:nvPicPr>
          <p:cNvPr id="7" name="Picture 6">
            <a:extLst>
              <a:ext uri="{FF2B5EF4-FFF2-40B4-BE49-F238E27FC236}">
                <a16:creationId xmlns:a16="http://schemas.microsoft.com/office/drawing/2014/main" id="{22086F8B-ED9B-4973-8654-852EDABD66E7}"/>
              </a:ext>
            </a:extLst>
          </p:cNvPr>
          <p:cNvPicPr>
            <a:picLocks noChangeAspect="1"/>
          </p:cNvPicPr>
          <p:nvPr/>
        </p:nvPicPr>
        <p:blipFill>
          <a:blip r:embed="rId3"/>
          <a:stretch>
            <a:fillRect/>
          </a:stretch>
        </p:blipFill>
        <p:spPr>
          <a:xfrm>
            <a:off x="1936548" y="2136873"/>
            <a:ext cx="4724400" cy="4162425"/>
          </a:xfrm>
          <a:prstGeom prst="rect">
            <a:avLst/>
          </a:prstGeom>
        </p:spPr>
      </p:pic>
    </p:spTree>
    <p:extLst>
      <p:ext uri="{BB962C8B-B14F-4D97-AF65-F5344CB8AC3E}">
        <p14:creationId xmlns:p14="http://schemas.microsoft.com/office/powerpoint/2010/main" val="6662275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F0BE7C-66F9-45CA-B19F-EA75E44ADFA5}"/>
              </a:ext>
            </a:extLst>
          </p:cNvPr>
          <p:cNvSpPr>
            <a:spLocks noGrp="1"/>
          </p:cNvSpPr>
          <p:nvPr>
            <p:ph idx="1"/>
          </p:nvPr>
        </p:nvSpPr>
        <p:spPr/>
        <p:txBody>
          <a:bodyPr/>
          <a:lstStyle/>
          <a:p>
            <a:r>
              <a:rPr lang="en-US" sz="2200"/>
              <a:t>Sắp xếp một danh sách số theo thứ tự tăng dần</a:t>
            </a:r>
          </a:p>
          <a:p>
            <a:endParaRPr lang="en-US" sz="2200"/>
          </a:p>
        </p:txBody>
      </p:sp>
      <p:sp>
        <p:nvSpPr>
          <p:cNvPr id="3" name="Date Placeholder 2">
            <a:extLst>
              <a:ext uri="{FF2B5EF4-FFF2-40B4-BE49-F238E27FC236}">
                <a16:creationId xmlns:a16="http://schemas.microsoft.com/office/drawing/2014/main" id="{A3F55497-5884-4B43-AECC-A3826AC07FEC}"/>
              </a:ext>
            </a:extLst>
          </p:cNvPr>
          <p:cNvSpPr>
            <a:spLocks noGrp="1"/>
          </p:cNvSpPr>
          <p:nvPr>
            <p:ph type="dt" sz="half" idx="10"/>
          </p:nvPr>
        </p:nvSpPr>
        <p:spPr/>
        <p:txBody>
          <a:bodyPr/>
          <a:lstStyle/>
          <a:p>
            <a:fld id="{4719FDB1-9615-4287-8D55-AF20E3CF298E}" type="datetime1">
              <a:rPr lang="vi-VN" smtClean="0"/>
              <a:t>04/02/2025</a:t>
            </a:fld>
            <a:endParaRPr lang="vi-VN"/>
          </a:p>
        </p:txBody>
      </p:sp>
      <p:sp>
        <p:nvSpPr>
          <p:cNvPr id="4" name="Footer Placeholder 3">
            <a:extLst>
              <a:ext uri="{FF2B5EF4-FFF2-40B4-BE49-F238E27FC236}">
                <a16:creationId xmlns:a16="http://schemas.microsoft.com/office/drawing/2014/main" id="{E2927A09-2EBA-4B30-A5ED-35B57E43E1C0}"/>
              </a:ext>
            </a:extLst>
          </p:cNvPr>
          <p:cNvSpPr>
            <a:spLocks noGrp="1"/>
          </p:cNvSpPr>
          <p:nvPr>
            <p:ph type="ftr" sz="quarter" idx="11"/>
          </p:nvPr>
        </p:nvSpPr>
        <p:spPr/>
        <p:txBody>
          <a:bodyPr/>
          <a:lstStyle/>
          <a:p>
            <a:r>
              <a:rPr lang="vi-VN"/>
              <a:t>Chương 3. Lập trình hướng đối tượng trong C#</a:t>
            </a:r>
          </a:p>
        </p:txBody>
      </p:sp>
      <p:sp>
        <p:nvSpPr>
          <p:cNvPr id="5" name="Slide Number Placeholder 4">
            <a:extLst>
              <a:ext uri="{FF2B5EF4-FFF2-40B4-BE49-F238E27FC236}">
                <a16:creationId xmlns:a16="http://schemas.microsoft.com/office/drawing/2014/main" id="{A087074F-A245-4A01-89B3-B53A04319581}"/>
              </a:ext>
            </a:extLst>
          </p:cNvPr>
          <p:cNvSpPr>
            <a:spLocks noGrp="1"/>
          </p:cNvSpPr>
          <p:nvPr>
            <p:ph type="sldNum" sz="quarter" idx="12"/>
          </p:nvPr>
        </p:nvSpPr>
        <p:spPr/>
        <p:txBody>
          <a:bodyPr/>
          <a:lstStyle/>
          <a:p>
            <a:fld id="{5AB95402-1E0D-474E-8D8C-CBE7F053639E}" type="slidenum">
              <a:rPr lang="vi-VN" smtClean="0"/>
              <a:pPr/>
              <a:t>35</a:t>
            </a:fld>
            <a:r>
              <a:rPr lang="vi-VN"/>
              <a:t>/33</a:t>
            </a:r>
          </a:p>
        </p:txBody>
      </p:sp>
      <p:sp>
        <p:nvSpPr>
          <p:cNvPr id="6" name="Title 5">
            <a:extLst>
              <a:ext uri="{FF2B5EF4-FFF2-40B4-BE49-F238E27FC236}">
                <a16:creationId xmlns:a16="http://schemas.microsoft.com/office/drawing/2014/main" id="{DB349130-9EA0-41C5-9E31-12FE032FC8CC}"/>
              </a:ext>
            </a:extLst>
          </p:cNvPr>
          <p:cNvSpPr>
            <a:spLocks noGrp="1"/>
          </p:cNvSpPr>
          <p:nvPr>
            <p:ph type="title"/>
          </p:nvPr>
        </p:nvSpPr>
        <p:spPr>
          <a:xfrm>
            <a:off x="979984" y="533400"/>
            <a:ext cx="7488832" cy="685800"/>
          </a:xfrm>
        </p:spPr>
        <p:txBody>
          <a:bodyPr/>
          <a:lstStyle/>
          <a:p>
            <a:r>
              <a:rPr lang="vi-VN"/>
              <a:t>3.1.4 Biểu thức lamda</a:t>
            </a:r>
            <a:br>
              <a:rPr lang="en-US"/>
            </a:br>
            <a:endParaRPr lang="en-US"/>
          </a:p>
        </p:txBody>
      </p:sp>
      <p:pic>
        <p:nvPicPr>
          <p:cNvPr id="7" name="Picture 6">
            <a:extLst>
              <a:ext uri="{FF2B5EF4-FFF2-40B4-BE49-F238E27FC236}">
                <a16:creationId xmlns:a16="http://schemas.microsoft.com/office/drawing/2014/main" id="{EC98E558-5EB1-4CF2-ACB9-42143DD6F62A}"/>
              </a:ext>
            </a:extLst>
          </p:cNvPr>
          <p:cNvPicPr>
            <a:picLocks noChangeAspect="1"/>
          </p:cNvPicPr>
          <p:nvPr/>
        </p:nvPicPr>
        <p:blipFill>
          <a:blip r:embed="rId3"/>
          <a:stretch>
            <a:fillRect/>
          </a:stretch>
        </p:blipFill>
        <p:spPr>
          <a:xfrm>
            <a:off x="1371600" y="1587169"/>
            <a:ext cx="5200650" cy="4419600"/>
          </a:xfrm>
          <a:prstGeom prst="rect">
            <a:avLst/>
          </a:prstGeom>
        </p:spPr>
      </p:pic>
      <p:pic>
        <p:nvPicPr>
          <p:cNvPr id="8" name="Picture 7">
            <a:extLst>
              <a:ext uri="{FF2B5EF4-FFF2-40B4-BE49-F238E27FC236}">
                <a16:creationId xmlns:a16="http://schemas.microsoft.com/office/drawing/2014/main" id="{18DCB4DF-556E-4103-A62C-97D821C69A67}"/>
              </a:ext>
            </a:extLst>
          </p:cNvPr>
          <p:cNvPicPr>
            <a:picLocks noChangeAspect="1"/>
          </p:cNvPicPr>
          <p:nvPr/>
        </p:nvPicPr>
        <p:blipFill>
          <a:blip r:embed="rId4"/>
          <a:stretch>
            <a:fillRect/>
          </a:stretch>
        </p:blipFill>
        <p:spPr>
          <a:xfrm>
            <a:off x="7691437" y="3170683"/>
            <a:ext cx="466725" cy="2105025"/>
          </a:xfrm>
          <a:prstGeom prst="rect">
            <a:avLst/>
          </a:prstGeom>
        </p:spPr>
      </p:pic>
    </p:spTree>
    <p:extLst>
      <p:ext uri="{BB962C8B-B14F-4D97-AF65-F5344CB8AC3E}">
        <p14:creationId xmlns:p14="http://schemas.microsoft.com/office/powerpoint/2010/main" val="26252209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F00A29E-AECC-4810-8C18-62252E10D899}"/>
              </a:ext>
            </a:extLst>
          </p:cNvPr>
          <p:cNvSpPr>
            <a:spLocks noGrp="1"/>
          </p:cNvSpPr>
          <p:nvPr>
            <p:ph idx="1"/>
          </p:nvPr>
        </p:nvSpPr>
        <p:spPr/>
        <p:txBody>
          <a:bodyPr/>
          <a:lstStyle/>
          <a:p>
            <a:r>
              <a:rPr lang="en-US" sz="2400"/>
              <a:t>Tính tổng các số trong danh sách</a:t>
            </a:r>
          </a:p>
        </p:txBody>
      </p:sp>
      <p:sp>
        <p:nvSpPr>
          <p:cNvPr id="3" name="Date Placeholder 2">
            <a:extLst>
              <a:ext uri="{FF2B5EF4-FFF2-40B4-BE49-F238E27FC236}">
                <a16:creationId xmlns:a16="http://schemas.microsoft.com/office/drawing/2014/main" id="{D081B188-E36F-46F2-96A7-FF72ED669180}"/>
              </a:ext>
            </a:extLst>
          </p:cNvPr>
          <p:cNvSpPr>
            <a:spLocks noGrp="1"/>
          </p:cNvSpPr>
          <p:nvPr>
            <p:ph type="dt" sz="half" idx="10"/>
          </p:nvPr>
        </p:nvSpPr>
        <p:spPr/>
        <p:txBody>
          <a:bodyPr/>
          <a:lstStyle/>
          <a:p>
            <a:fld id="{4719FDB1-9615-4287-8D55-AF20E3CF298E}" type="datetime1">
              <a:rPr lang="vi-VN" smtClean="0"/>
              <a:t>04/02/2025</a:t>
            </a:fld>
            <a:endParaRPr lang="vi-VN"/>
          </a:p>
        </p:txBody>
      </p:sp>
      <p:sp>
        <p:nvSpPr>
          <p:cNvPr id="4" name="Footer Placeholder 3">
            <a:extLst>
              <a:ext uri="{FF2B5EF4-FFF2-40B4-BE49-F238E27FC236}">
                <a16:creationId xmlns:a16="http://schemas.microsoft.com/office/drawing/2014/main" id="{0D76D407-B321-429F-BE11-E8F7BE14CF4E}"/>
              </a:ext>
            </a:extLst>
          </p:cNvPr>
          <p:cNvSpPr>
            <a:spLocks noGrp="1"/>
          </p:cNvSpPr>
          <p:nvPr>
            <p:ph type="ftr" sz="quarter" idx="11"/>
          </p:nvPr>
        </p:nvSpPr>
        <p:spPr/>
        <p:txBody>
          <a:bodyPr/>
          <a:lstStyle/>
          <a:p>
            <a:r>
              <a:rPr lang="vi-VN"/>
              <a:t>Chương 3. Lập trình hướng đối tượng trong C#</a:t>
            </a:r>
          </a:p>
        </p:txBody>
      </p:sp>
      <p:sp>
        <p:nvSpPr>
          <p:cNvPr id="5" name="Slide Number Placeholder 4">
            <a:extLst>
              <a:ext uri="{FF2B5EF4-FFF2-40B4-BE49-F238E27FC236}">
                <a16:creationId xmlns:a16="http://schemas.microsoft.com/office/drawing/2014/main" id="{40DF7860-B1F4-4386-95F1-C88F3451EB05}"/>
              </a:ext>
            </a:extLst>
          </p:cNvPr>
          <p:cNvSpPr>
            <a:spLocks noGrp="1"/>
          </p:cNvSpPr>
          <p:nvPr>
            <p:ph type="sldNum" sz="quarter" idx="12"/>
          </p:nvPr>
        </p:nvSpPr>
        <p:spPr/>
        <p:txBody>
          <a:bodyPr/>
          <a:lstStyle/>
          <a:p>
            <a:fld id="{5AB95402-1E0D-474E-8D8C-CBE7F053639E}" type="slidenum">
              <a:rPr lang="vi-VN" smtClean="0"/>
              <a:pPr/>
              <a:t>36</a:t>
            </a:fld>
            <a:r>
              <a:rPr lang="vi-VN"/>
              <a:t>/33</a:t>
            </a:r>
          </a:p>
        </p:txBody>
      </p:sp>
      <p:sp>
        <p:nvSpPr>
          <p:cNvPr id="6" name="Title 5">
            <a:extLst>
              <a:ext uri="{FF2B5EF4-FFF2-40B4-BE49-F238E27FC236}">
                <a16:creationId xmlns:a16="http://schemas.microsoft.com/office/drawing/2014/main" id="{1B023EBD-541F-4B2B-A943-E21BF31E69FD}"/>
              </a:ext>
            </a:extLst>
          </p:cNvPr>
          <p:cNvSpPr>
            <a:spLocks noGrp="1"/>
          </p:cNvSpPr>
          <p:nvPr>
            <p:ph type="title"/>
          </p:nvPr>
        </p:nvSpPr>
        <p:spPr/>
        <p:txBody>
          <a:bodyPr/>
          <a:lstStyle/>
          <a:p>
            <a:r>
              <a:rPr lang="vi-VN"/>
              <a:t>3.1.4 Biểu thức lamda</a:t>
            </a:r>
            <a:endParaRPr lang="en-US"/>
          </a:p>
        </p:txBody>
      </p:sp>
      <p:pic>
        <p:nvPicPr>
          <p:cNvPr id="7" name="Picture 6">
            <a:extLst>
              <a:ext uri="{FF2B5EF4-FFF2-40B4-BE49-F238E27FC236}">
                <a16:creationId xmlns:a16="http://schemas.microsoft.com/office/drawing/2014/main" id="{CEE23F9C-487E-4F15-A49F-A18824E5321E}"/>
              </a:ext>
            </a:extLst>
          </p:cNvPr>
          <p:cNvPicPr>
            <a:picLocks noChangeAspect="1"/>
          </p:cNvPicPr>
          <p:nvPr/>
        </p:nvPicPr>
        <p:blipFill>
          <a:blip r:embed="rId3"/>
          <a:stretch>
            <a:fillRect/>
          </a:stretch>
        </p:blipFill>
        <p:spPr>
          <a:xfrm>
            <a:off x="1847850" y="1844824"/>
            <a:ext cx="5448300" cy="3552825"/>
          </a:xfrm>
          <a:prstGeom prst="rect">
            <a:avLst/>
          </a:prstGeom>
        </p:spPr>
      </p:pic>
      <p:pic>
        <p:nvPicPr>
          <p:cNvPr id="8" name="Picture 7">
            <a:extLst>
              <a:ext uri="{FF2B5EF4-FFF2-40B4-BE49-F238E27FC236}">
                <a16:creationId xmlns:a16="http://schemas.microsoft.com/office/drawing/2014/main" id="{61918B3E-FB34-4B41-AAD1-7E9C21747C2E}"/>
              </a:ext>
            </a:extLst>
          </p:cNvPr>
          <p:cNvPicPr>
            <a:picLocks noChangeAspect="1"/>
          </p:cNvPicPr>
          <p:nvPr/>
        </p:nvPicPr>
        <p:blipFill>
          <a:blip r:embed="rId4"/>
          <a:stretch>
            <a:fillRect/>
          </a:stretch>
        </p:blipFill>
        <p:spPr>
          <a:xfrm>
            <a:off x="2195736" y="5651668"/>
            <a:ext cx="4026071" cy="575153"/>
          </a:xfrm>
          <a:prstGeom prst="rect">
            <a:avLst/>
          </a:prstGeom>
        </p:spPr>
      </p:pic>
    </p:spTree>
    <p:extLst>
      <p:ext uri="{BB962C8B-B14F-4D97-AF65-F5344CB8AC3E}">
        <p14:creationId xmlns:p14="http://schemas.microsoft.com/office/powerpoint/2010/main" val="36147021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4488B70-D1AA-4337-9C40-AC4FC27E360A}"/>
              </a:ext>
            </a:extLst>
          </p:cNvPr>
          <p:cNvSpPr>
            <a:spLocks noGrp="1"/>
          </p:cNvSpPr>
          <p:nvPr>
            <p:ph idx="1"/>
          </p:nvPr>
        </p:nvSpPr>
        <p:spPr/>
        <p:txBody>
          <a:bodyPr/>
          <a:lstStyle/>
          <a:p>
            <a:r>
              <a:rPr lang="en-US" sz="2400"/>
              <a:t>Tìm các số chia hết cho 3 và 5</a:t>
            </a:r>
          </a:p>
        </p:txBody>
      </p:sp>
      <p:sp>
        <p:nvSpPr>
          <p:cNvPr id="3" name="Date Placeholder 2">
            <a:extLst>
              <a:ext uri="{FF2B5EF4-FFF2-40B4-BE49-F238E27FC236}">
                <a16:creationId xmlns:a16="http://schemas.microsoft.com/office/drawing/2014/main" id="{8D959C68-4042-4F46-B07C-0BF3509EE872}"/>
              </a:ext>
            </a:extLst>
          </p:cNvPr>
          <p:cNvSpPr>
            <a:spLocks noGrp="1"/>
          </p:cNvSpPr>
          <p:nvPr>
            <p:ph type="dt" sz="half" idx="10"/>
          </p:nvPr>
        </p:nvSpPr>
        <p:spPr/>
        <p:txBody>
          <a:bodyPr/>
          <a:lstStyle/>
          <a:p>
            <a:fld id="{4719FDB1-9615-4287-8D55-AF20E3CF298E}" type="datetime1">
              <a:rPr lang="vi-VN" smtClean="0"/>
              <a:t>04/02/2025</a:t>
            </a:fld>
            <a:endParaRPr lang="vi-VN"/>
          </a:p>
        </p:txBody>
      </p:sp>
      <p:sp>
        <p:nvSpPr>
          <p:cNvPr id="4" name="Footer Placeholder 3">
            <a:extLst>
              <a:ext uri="{FF2B5EF4-FFF2-40B4-BE49-F238E27FC236}">
                <a16:creationId xmlns:a16="http://schemas.microsoft.com/office/drawing/2014/main" id="{EB9C9C9E-DE71-4849-BCAE-FF47C7B92AF5}"/>
              </a:ext>
            </a:extLst>
          </p:cNvPr>
          <p:cNvSpPr>
            <a:spLocks noGrp="1"/>
          </p:cNvSpPr>
          <p:nvPr>
            <p:ph type="ftr" sz="quarter" idx="11"/>
          </p:nvPr>
        </p:nvSpPr>
        <p:spPr/>
        <p:txBody>
          <a:bodyPr/>
          <a:lstStyle/>
          <a:p>
            <a:r>
              <a:rPr lang="vi-VN"/>
              <a:t>Chương 3. Lập trình hướng đối tượng trong C#</a:t>
            </a:r>
          </a:p>
        </p:txBody>
      </p:sp>
      <p:sp>
        <p:nvSpPr>
          <p:cNvPr id="5" name="Slide Number Placeholder 4">
            <a:extLst>
              <a:ext uri="{FF2B5EF4-FFF2-40B4-BE49-F238E27FC236}">
                <a16:creationId xmlns:a16="http://schemas.microsoft.com/office/drawing/2014/main" id="{49602EF7-9B9E-49F9-AE99-E74E2550B9F7}"/>
              </a:ext>
            </a:extLst>
          </p:cNvPr>
          <p:cNvSpPr>
            <a:spLocks noGrp="1"/>
          </p:cNvSpPr>
          <p:nvPr>
            <p:ph type="sldNum" sz="quarter" idx="12"/>
          </p:nvPr>
        </p:nvSpPr>
        <p:spPr/>
        <p:txBody>
          <a:bodyPr/>
          <a:lstStyle/>
          <a:p>
            <a:fld id="{5AB95402-1E0D-474E-8D8C-CBE7F053639E}" type="slidenum">
              <a:rPr lang="vi-VN" smtClean="0"/>
              <a:pPr/>
              <a:t>37</a:t>
            </a:fld>
            <a:r>
              <a:rPr lang="vi-VN"/>
              <a:t>/33</a:t>
            </a:r>
          </a:p>
        </p:txBody>
      </p:sp>
      <p:sp>
        <p:nvSpPr>
          <p:cNvPr id="6" name="Title 5">
            <a:extLst>
              <a:ext uri="{FF2B5EF4-FFF2-40B4-BE49-F238E27FC236}">
                <a16:creationId xmlns:a16="http://schemas.microsoft.com/office/drawing/2014/main" id="{201CE3FF-7778-4124-AF5F-CDCDC3880B4B}"/>
              </a:ext>
            </a:extLst>
          </p:cNvPr>
          <p:cNvSpPr>
            <a:spLocks noGrp="1"/>
          </p:cNvSpPr>
          <p:nvPr>
            <p:ph type="title"/>
          </p:nvPr>
        </p:nvSpPr>
        <p:spPr/>
        <p:txBody>
          <a:bodyPr/>
          <a:lstStyle/>
          <a:p>
            <a:r>
              <a:rPr lang="vi-VN"/>
              <a:t>3.1.4 Biểu thức lamda</a:t>
            </a:r>
            <a:endParaRPr lang="en-US"/>
          </a:p>
        </p:txBody>
      </p:sp>
      <p:pic>
        <p:nvPicPr>
          <p:cNvPr id="7" name="Picture 6">
            <a:extLst>
              <a:ext uri="{FF2B5EF4-FFF2-40B4-BE49-F238E27FC236}">
                <a16:creationId xmlns:a16="http://schemas.microsoft.com/office/drawing/2014/main" id="{9AEED2A1-EA98-489E-BDBD-5BD5E29EED1B}"/>
              </a:ext>
            </a:extLst>
          </p:cNvPr>
          <p:cNvPicPr>
            <a:picLocks noChangeAspect="1"/>
          </p:cNvPicPr>
          <p:nvPr/>
        </p:nvPicPr>
        <p:blipFill>
          <a:blip r:embed="rId3"/>
          <a:stretch>
            <a:fillRect/>
          </a:stretch>
        </p:blipFill>
        <p:spPr>
          <a:xfrm>
            <a:off x="780356" y="1772816"/>
            <a:ext cx="5505450" cy="4162425"/>
          </a:xfrm>
          <a:prstGeom prst="rect">
            <a:avLst/>
          </a:prstGeom>
        </p:spPr>
      </p:pic>
      <p:pic>
        <p:nvPicPr>
          <p:cNvPr id="8" name="Picture 7">
            <a:extLst>
              <a:ext uri="{FF2B5EF4-FFF2-40B4-BE49-F238E27FC236}">
                <a16:creationId xmlns:a16="http://schemas.microsoft.com/office/drawing/2014/main" id="{F23AA813-9FAB-4650-9B06-BA8404366B31}"/>
              </a:ext>
            </a:extLst>
          </p:cNvPr>
          <p:cNvPicPr>
            <a:picLocks noChangeAspect="1"/>
          </p:cNvPicPr>
          <p:nvPr/>
        </p:nvPicPr>
        <p:blipFill>
          <a:blip r:embed="rId4"/>
          <a:stretch>
            <a:fillRect/>
          </a:stretch>
        </p:blipFill>
        <p:spPr>
          <a:xfrm>
            <a:off x="7438064" y="4005064"/>
            <a:ext cx="911385" cy="1152128"/>
          </a:xfrm>
          <a:prstGeom prst="rect">
            <a:avLst/>
          </a:prstGeom>
        </p:spPr>
      </p:pic>
    </p:spTree>
    <p:extLst>
      <p:ext uri="{BB962C8B-B14F-4D97-AF65-F5344CB8AC3E}">
        <p14:creationId xmlns:p14="http://schemas.microsoft.com/office/powerpoint/2010/main" val="36778444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568FD17-ECE3-4A62-B823-18FD921EC2B5}"/>
              </a:ext>
            </a:extLst>
          </p:cNvPr>
          <p:cNvSpPr>
            <a:spLocks noGrp="1"/>
          </p:cNvSpPr>
          <p:nvPr>
            <p:ph idx="1"/>
          </p:nvPr>
        </p:nvSpPr>
        <p:spPr/>
        <p:txBody>
          <a:bodyPr/>
          <a:lstStyle/>
          <a:p>
            <a:r>
              <a:rPr lang="en-US" b="1"/>
              <a:t>Ví dụ sử dụng LINQ để lọc dữ liệu:</a:t>
            </a:r>
          </a:p>
          <a:p>
            <a:endParaRPr lang="en-US"/>
          </a:p>
        </p:txBody>
      </p:sp>
      <p:sp>
        <p:nvSpPr>
          <p:cNvPr id="3" name="Date Placeholder 2">
            <a:extLst>
              <a:ext uri="{FF2B5EF4-FFF2-40B4-BE49-F238E27FC236}">
                <a16:creationId xmlns:a16="http://schemas.microsoft.com/office/drawing/2014/main" id="{7C9E7E97-2DA8-4041-9E2C-01CF5BC34319}"/>
              </a:ext>
            </a:extLst>
          </p:cNvPr>
          <p:cNvSpPr>
            <a:spLocks noGrp="1"/>
          </p:cNvSpPr>
          <p:nvPr>
            <p:ph type="dt" sz="half" idx="10"/>
          </p:nvPr>
        </p:nvSpPr>
        <p:spPr/>
        <p:txBody>
          <a:bodyPr/>
          <a:lstStyle/>
          <a:p>
            <a:fld id="{4719FDB1-9615-4287-8D55-AF20E3CF298E}" type="datetime1">
              <a:rPr lang="vi-VN" smtClean="0"/>
              <a:t>04/02/2025</a:t>
            </a:fld>
            <a:endParaRPr lang="vi-VN"/>
          </a:p>
        </p:txBody>
      </p:sp>
      <p:sp>
        <p:nvSpPr>
          <p:cNvPr id="4" name="Footer Placeholder 3">
            <a:extLst>
              <a:ext uri="{FF2B5EF4-FFF2-40B4-BE49-F238E27FC236}">
                <a16:creationId xmlns:a16="http://schemas.microsoft.com/office/drawing/2014/main" id="{C34ED791-7101-41E7-92B5-0EE73A28C5BD}"/>
              </a:ext>
            </a:extLst>
          </p:cNvPr>
          <p:cNvSpPr>
            <a:spLocks noGrp="1"/>
          </p:cNvSpPr>
          <p:nvPr>
            <p:ph type="ftr" sz="quarter" idx="11"/>
          </p:nvPr>
        </p:nvSpPr>
        <p:spPr/>
        <p:txBody>
          <a:bodyPr/>
          <a:lstStyle/>
          <a:p>
            <a:r>
              <a:rPr lang="vi-VN"/>
              <a:t>Chương 3. Lập trình hướng đối tượng trong C#</a:t>
            </a:r>
          </a:p>
        </p:txBody>
      </p:sp>
      <p:sp>
        <p:nvSpPr>
          <p:cNvPr id="5" name="Slide Number Placeholder 4">
            <a:extLst>
              <a:ext uri="{FF2B5EF4-FFF2-40B4-BE49-F238E27FC236}">
                <a16:creationId xmlns:a16="http://schemas.microsoft.com/office/drawing/2014/main" id="{68F4D9B6-083D-45B5-BD38-AB145C2A7DEB}"/>
              </a:ext>
            </a:extLst>
          </p:cNvPr>
          <p:cNvSpPr>
            <a:spLocks noGrp="1"/>
          </p:cNvSpPr>
          <p:nvPr>
            <p:ph type="sldNum" sz="quarter" idx="12"/>
          </p:nvPr>
        </p:nvSpPr>
        <p:spPr/>
        <p:txBody>
          <a:bodyPr/>
          <a:lstStyle/>
          <a:p>
            <a:fld id="{5AB95402-1E0D-474E-8D8C-CBE7F053639E}" type="slidenum">
              <a:rPr lang="vi-VN" smtClean="0"/>
              <a:pPr/>
              <a:t>38</a:t>
            </a:fld>
            <a:r>
              <a:rPr lang="vi-VN"/>
              <a:t>/33</a:t>
            </a:r>
          </a:p>
        </p:txBody>
      </p:sp>
      <p:pic>
        <p:nvPicPr>
          <p:cNvPr id="7" name="Picture 6">
            <a:extLst>
              <a:ext uri="{FF2B5EF4-FFF2-40B4-BE49-F238E27FC236}">
                <a16:creationId xmlns:a16="http://schemas.microsoft.com/office/drawing/2014/main" id="{1B62B77B-9E53-4418-8B32-62463C1DA7F0}"/>
              </a:ext>
            </a:extLst>
          </p:cNvPr>
          <p:cNvPicPr>
            <a:picLocks noChangeAspect="1"/>
          </p:cNvPicPr>
          <p:nvPr/>
        </p:nvPicPr>
        <p:blipFill>
          <a:blip r:embed="rId3"/>
          <a:stretch>
            <a:fillRect/>
          </a:stretch>
        </p:blipFill>
        <p:spPr>
          <a:xfrm>
            <a:off x="2062162" y="1827191"/>
            <a:ext cx="5019675" cy="4857750"/>
          </a:xfrm>
          <a:prstGeom prst="rect">
            <a:avLst/>
          </a:prstGeom>
        </p:spPr>
      </p:pic>
      <p:sp>
        <p:nvSpPr>
          <p:cNvPr id="8" name="Title 5">
            <a:extLst>
              <a:ext uri="{FF2B5EF4-FFF2-40B4-BE49-F238E27FC236}">
                <a16:creationId xmlns:a16="http://schemas.microsoft.com/office/drawing/2014/main" id="{5A4ABC29-D75F-4569-A256-374D82EF172D}"/>
              </a:ext>
            </a:extLst>
          </p:cNvPr>
          <p:cNvSpPr>
            <a:spLocks noGrp="1"/>
          </p:cNvSpPr>
          <p:nvPr>
            <p:ph type="title"/>
          </p:nvPr>
        </p:nvSpPr>
        <p:spPr>
          <a:xfrm>
            <a:off x="971600" y="381000"/>
            <a:ext cx="7488832" cy="685800"/>
          </a:xfrm>
        </p:spPr>
        <p:txBody>
          <a:bodyPr/>
          <a:lstStyle/>
          <a:p>
            <a:r>
              <a:rPr lang="vi-VN"/>
              <a:t>3.1.4 Biểu thức lamda</a:t>
            </a:r>
            <a:endParaRPr lang="en-US"/>
          </a:p>
        </p:txBody>
      </p:sp>
    </p:spTree>
    <p:extLst>
      <p:ext uri="{BB962C8B-B14F-4D97-AF65-F5344CB8AC3E}">
        <p14:creationId xmlns:p14="http://schemas.microsoft.com/office/powerpoint/2010/main" val="33332958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123DC01-6688-445E-8985-D0413798A5A6}"/>
              </a:ext>
            </a:extLst>
          </p:cNvPr>
          <p:cNvSpPr>
            <a:spLocks noGrp="1"/>
          </p:cNvSpPr>
          <p:nvPr>
            <p:ph type="dt" sz="half" idx="10"/>
          </p:nvPr>
        </p:nvSpPr>
        <p:spPr/>
        <p:txBody>
          <a:bodyPr/>
          <a:lstStyle/>
          <a:p>
            <a:fld id="{4719FDB1-9615-4287-8D55-AF20E3CF298E}" type="datetime1">
              <a:rPr lang="vi-VN" smtClean="0"/>
              <a:t>04/02/2025</a:t>
            </a:fld>
            <a:endParaRPr lang="vi-VN"/>
          </a:p>
        </p:txBody>
      </p:sp>
      <p:sp>
        <p:nvSpPr>
          <p:cNvPr id="4" name="Footer Placeholder 3">
            <a:extLst>
              <a:ext uri="{FF2B5EF4-FFF2-40B4-BE49-F238E27FC236}">
                <a16:creationId xmlns:a16="http://schemas.microsoft.com/office/drawing/2014/main" id="{D68D3051-291F-4401-96F4-8CBBA573D01D}"/>
              </a:ext>
            </a:extLst>
          </p:cNvPr>
          <p:cNvSpPr>
            <a:spLocks noGrp="1"/>
          </p:cNvSpPr>
          <p:nvPr>
            <p:ph type="ftr" sz="quarter" idx="11"/>
          </p:nvPr>
        </p:nvSpPr>
        <p:spPr/>
        <p:txBody>
          <a:bodyPr/>
          <a:lstStyle/>
          <a:p>
            <a:r>
              <a:rPr lang="vi-VN"/>
              <a:t>Chương 3. Lập trình hướng đối tượng trong C#</a:t>
            </a:r>
          </a:p>
        </p:txBody>
      </p:sp>
      <p:sp>
        <p:nvSpPr>
          <p:cNvPr id="5" name="Slide Number Placeholder 4">
            <a:extLst>
              <a:ext uri="{FF2B5EF4-FFF2-40B4-BE49-F238E27FC236}">
                <a16:creationId xmlns:a16="http://schemas.microsoft.com/office/drawing/2014/main" id="{B8C6A000-F563-40FC-A494-C280370306AF}"/>
              </a:ext>
            </a:extLst>
          </p:cNvPr>
          <p:cNvSpPr>
            <a:spLocks noGrp="1"/>
          </p:cNvSpPr>
          <p:nvPr>
            <p:ph type="sldNum" sz="quarter" idx="12"/>
          </p:nvPr>
        </p:nvSpPr>
        <p:spPr/>
        <p:txBody>
          <a:bodyPr/>
          <a:lstStyle/>
          <a:p>
            <a:fld id="{5AB95402-1E0D-474E-8D8C-CBE7F053639E}" type="slidenum">
              <a:rPr lang="vi-VN" smtClean="0"/>
              <a:pPr/>
              <a:t>39</a:t>
            </a:fld>
            <a:r>
              <a:rPr lang="vi-VN"/>
              <a:t>/33</a:t>
            </a:r>
          </a:p>
        </p:txBody>
      </p:sp>
      <p:sp>
        <p:nvSpPr>
          <p:cNvPr id="6" name="Title 5">
            <a:extLst>
              <a:ext uri="{FF2B5EF4-FFF2-40B4-BE49-F238E27FC236}">
                <a16:creationId xmlns:a16="http://schemas.microsoft.com/office/drawing/2014/main" id="{6A04CA5F-CF4F-4CF9-8AEB-CC5A5DB382D1}"/>
              </a:ext>
            </a:extLst>
          </p:cNvPr>
          <p:cNvSpPr>
            <a:spLocks noGrp="1"/>
          </p:cNvSpPr>
          <p:nvPr>
            <p:ph type="title"/>
          </p:nvPr>
        </p:nvSpPr>
        <p:spPr/>
        <p:txBody>
          <a:bodyPr/>
          <a:lstStyle/>
          <a:p>
            <a:r>
              <a:rPr lang="en-US"/>
              <a:t>3.2. Kế thừa và đa hình</a:t>
            </a:r>
          </a:p>
        </p:txBody>
      </p:sp>
      <p:grpSp>
        <p:nvGrpSpPr>
          <p:cNvPr id="7" name="Group 46">
            <a:extLst>
              <a:ext uri="{FF2B5EF4-FFF2-40B4-BE49-F238E27FC236}">
                <a16:creationId xmlns:a16="http://schemas.microsoft.com/office/drawing/2014/main" id="{68A655A0-F58A-479C-8677-D1C228653B25}"/>
              </a:ext>
            </a:extLst>
          </p:cNvPr>
          <p:cNvGrpSpPr>
            <a:grpSpLocks/>
          </p:cNvGrpSpPr>
          <p:nvPr/>
        </p:nvGrpSpPr>
        <p:grpSpPr bwMode="auto">
          <a:xfrm>
            <a:off x="1979712" y="1998583"/>
            <a:ext cx="5400600" cy="685800"/>
            <a:chOff x="1296" y="1824"/>
            <a:chExt cx="2976" cy="432"/>
          </a:xfrm>
        </p:grpSpPr>
        <p:sp>
          <p:nvSpPr>
            <p:cNvPr id="8" name="AutoShape 47">
              <a:extLst>
                <a:ext uri="{FF2B5EF4-FFF2-40B4-BE49-F238E27FC236}">
                  <a16:creationId xmlns:a16="http://schemas.microsoft.com/office/drawing/2014/main" id="{42FFA249-F04A-4B1E-9702-DD9CB81A571D}"/>
                </a:ext>
              </a:extLst>
            </p:cNvPr>
            <p:cNvSpPr>
              <a:spLocks noChangeArrowheads="1"/>
            </p:cNvSpPr>
            <p:nvPr/>
          </p:nvSpPr>
          <p:spPr bwMode="gray">
            <a:xfrm>
              <a:off x="1536" y="1899"/>
              <a:ext cx="2736" cy="288"/>
            </a:xfrm>
            <a:prstGeom prst="roundRect">
              <a:avLst>
                <a:gd name="adj" fmla="val 16667"/>
              </a:avLst>
            </a:prstGeom>
            <a:gradFill rotWithShape="1">
              <a:gsLst>
                <a:gs pos="0">
                  <a:srgbClr val="85BA54">
                    <a:gamma/>
                    <a:tint val="21176"/>
                    <a:invGamma/>
                  </a:srgbClr>
                </a:gs>
                <a:gs pos="100000">
                  <a:srgbClr val="85BA54"/>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9" name="AutoShape 48">
              <a:extLst>
                <a:ext uri="{FF2B5EF4-FFF2-40B4-BE49-F238E27FC236}">
                  <a16:creationId xmlns:a16="http://schemas.microsoft.com/office/drawing/2014/main" id="{B7195FB5-6F9A-4D88-9326-0CFC0AB77BC1}"/>
                </a:ext>
              </a:extLst>
            </p:cNvPr>
            <p:cNvSpPr>
              <a:spLocks noChangeArrowheads="1"/>
            </p:cNvSpPr>
            <p:nvPr/>
          </p:nvSpPr>
          <p:spPr bwMode="gray">
            <a:xfrm>
              <a:off x="1296" y="1824"/>
              <a:ext cx="432" cy="432"/>
            </a:xfrm>
            <a:prstGeom prst="diamond">
              <a:avLst/>
            </a:prstGeom>
            <a:solidFill>
              <a:srgbClr val="85BA54"/>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10" name="Text Box 49">
              <a:extLst>
                <a:ext uri="{FF2B5EF4-FFF2-40B4-BE49-F238E27FC236}">
                  <a16:creationId xmlns:a16="http://schemas.microsoft.com/office/drawing/2014/main" id="{1693477F-53A6-4E79-AD85-13736D465FB4}"/>
                </a:ext>
              </a:extLst>
            </p:cNvPr>
            <p:cNvSpPr txBox="1">
              <a:spLocks noChangeArrowheads="1"/>
            </p:cNvSpPr>
            <p:nvPr/>
          </p:nvSpPr>
          <p:spPr bwMode="gray">
            <a:xfrm>
              <a:off x="1824" y="1934"/>
              <a:ext cx="2448" cy="233"/>
            </a:xfrm>
            <a:prstGeom prst="rect">
              <a:avLst/>
            </a:prstGeom>
            <a:noFill/>
            <a:ln w="9525" algn="ctr">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dirty="0" err="1">
                  <a:ln>
                    <a:noFill/>
                  </a:ln>
                  <a:solidFill>
                    <a:srgbClr val="000000"/>
                  </a:solidFill>
                  <a:effectLst/>
                  <a:uLnTx/>
                  <a:uFillTx/>
                  <a:latin typeface="Arial" charset="0"/>
                  <a:cs typeface="Arial" charset="0"/>
                </a:rPr>
                <a:t>Kế</a:t>
              </a:r>
              <a:r>
                <a:rPr kumimoji="0" lang="en-US" sz="1800" b="1" i="0" u="none" strike="noStrike" kern="0" cap="none" spc="0" normalizeH="0" baseline="0" noProof="0" dirty="0">
                  <a:ln>
                    <a:noFill/>
                  </a:ln>
                  <a:solidFill>
                    <a:srgbClr val="000000"/>
                  </a:solidFill>
                  <a:effectLst/>
                  <a:uLnTx/>
                  <a:uFillTx/>
                  <a:latin typeface="Arial" charset="0"/>
                  <a:cs typeface="Arial" charset="0"/>
                </a:rPr>
                <a:t> </a:t>
              </a:r>
              <a:r>
                <a:rPr kumimoji="0" lang="en-US" sz="1800" b="1" i="0" u="none" strike="noStrike" kern="0" cap="none" spc="0" normalizeH="0" baseline="0" noProof="0" dirty="0" err="1">
                  <a:ln>
                    <a:noFill/>
                  </a:ln>
                  <a:solidFill>
                    <a:srgbClr val="000000"/>
                  </a:solidFill>
                  <a:effectLst/>
                  <a:uLnTx/>
                  <a:uFillTx/>
                  <a:latin typeface="Arial" charset="0"/>
                  <a:cs typeface="Arial" charset="0"/>
                </a:rPr>
                <a:t>th</a:t>
              </a:r>
              <a:r>
                <a:rPr lang="en-US" b="1" kern="0" dirty="0" err="1">
                  <a:solidFill>
                    <a:srgbClr val="000000"/>
                  </a:solidFill>
                  <a:latin typeface="Arial" charset="0"/>
                  <a:cs typeface="Arial" charset="0"/>
                </a:rPr>
                <a:t>ừa</a:t>
              </a:r>
              <a:endParaRPr kumimoji="0" lang="en-US" sz="1800" b="1" i="0" u="none" strike="noStrike" kern="0" cap="none" spc="0" normalizeH="0" baseline="0" noProof="0" dirty="0">
                <a:ln>
                  <a:noFill/>
                </a:ln>
                <a:solidFill>
                  <a:srgbClr val="000000"/>
                </a:solidFill>
                <a:effectLst/>
                <a:uLnTx/>
                <a:uFillTx/>
                <a:latin typeface="Arial" charset="0"/>
                <a:cs typeface="Arial" charset="0"/>
              </a:endParaRPr>
            </a:p>
          </p:txBody>
        </p:sp>
        <p:sp>
          <p:nvSpPr>
            <p:cNvPr id="11" name="Text Box 50">
              <a:extLst>
                <a:ext uri="{FF2B5EF4-FFF2-40B4-BE49-F238E27FC236}">
                  <a16:creationId xmlns:a16="http://schemas.microsoft.com/office/drawing/2014/main" id="{3EAEF2FF-31D4-4B85-8B8D-61292ECADB6B}"/>
                </a:ext>
              </a:extLst>
            </p:cNvPr>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FFFFFF"/>
                  </a:solidFill>
                  <a:effectLst/>
                  <a:uLnTx/>
                  <a:uFillTx/>
                  <a:latin typeface="Arial" charset="0"/>
                  <a:cs typeface="Arial" charset="0"/>
                </a:rPr>
                <a:t>1</a:t>
              </a:r>
            </a:p>
          </p:txBody>
        </p:sp>
      </p:grpSp>
      <p:grpSp>
        <p:nvGrpSpPr>
          <p:cNvPr id="12" name="Group 51">
            <a:extLst>
              <a:ext uri="{FF2B5EF4-FFF2-40B4-BE49-F238E27FC236}">
                <a16:creationId xmlns:a16="http://schemas.microsoft.com/office/drawing/2014/main" id="{CA1B13C3-5D60-4800-8213-75F261BAE664}"/>
              </a:ext>
            </a:extLst>
          </p:cNvPr>
          <p:cNvGrpSpPr>
            <a:grpSpLocks/>
          </p:cNvGrpSpPr>
          <p:nvPr/>
        </p:nvGrpSpPr>
        <p:grpSpPr bwMode="auto">
          <a:xfrm>
            <a:off x="1969840" y="2725816"/>
            <a:ext cx="5410472" cy="685800"/>
            <a:chOff x="1296" y="1824"/>
            <a:chExt cx="2976" cy="432"/>
          </a:xfrm>
        </p:grpSpPr>
        <p:sp>
          <p:nvSpPr>
            <p:cNvPr id="13" name="AutoShape 52">
              <a:extLst>
                <a:ext uri="{FF2B5EF4-FFF2-40B4-BE49-F238E27FC236}">
                  <a16:creationId xmlns:a16="http://schemas.microsoft.com/office/drawing/2014/main" id="{D5CA505E-5EC1-4FBF-B60E-329B803BF5A5}"/>
                </a:ext>
              </a:extLst>
            </p:cNvPr>
            <p:cNvSpPr>
              <a:spLocks noChangeArrowheads="1"/>
            </p:cNvSpPr>
            <p:nvPr/>
          </p:nvSpPr>
          <p:spPr bwMode="gray">
            <a:xfrm>
              <a:off x="1536" y="1899"/>
              <a:ext cx="2736" cy="288"/>
            </a:xfrm>
            <a:prstGeom prst="roundRect">
              <a:avLst>
                <a:gd name="adj" fmla="val 16667"/>
              </a:avLst>
            </a:prstGeom>
            <a:gradFill rotWithShape="1">
              <a:gsLst>
                <a:gs pos="0">
                  <a:srgbClr val="DE8848">
                    <a:gamma/>
                    <a:tint val="21176"/>
                    <a:invGamma/>
                  </a:srgbClr>
                </a:gs>
                <a:gs pos="100000">
                  <a:srgbClr val="DE8848"/>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14" name="AutoShape 53">
              <a:extLst>
                <a:ext uri="{FF2B5EF4-FFF2-40B4-BE49-F238E27FC236}">
                  <a16:creationId xmlns:a16="http://schemas.microsoft.com/office/drawing/2014/main" id="{4A58161C-12DA-4423-890B-5582190373F7}"/>
                </a:ext>
              </a:extLst>
            </p:cNvPr>
            <p:cNvSpPr>
              <a:spLocks noChangeArrowheads="1"/>
            </p:cNvSpPr>
            <p:nvPr/>
          </p:nvSpPr>
          <p:spPr bwMode="gray">
            <a:xfrm>
              <a:off x="1296" y="1824"/>
              <a:ext cx="432" cy="432"/>
            </a:xfrm>
            <a:prstGeom prst="diamond">
              <a:avLst/>
            </a:prstGeom>
            <a:solidFill>
              <a:srgbClr val="DE8848"/>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15" name="Text Box 54">
              <a:extLst>
                <a:ext uri="{FF2B5EF4-FFF2-40B4-BE49-F238E27FC236}">
                  <a16:creationId xmlns:a16="http://schemas.microsoft.com/office/drawing/2014/main" id="{392A7906-BF5D-436D-86D5-4D2396720929}"/>
                </a:ext>
              </a:extLst>
            </p:cNvPr>
            <p:cNvSpPr txBox="1">
              <a:spLocks noChangeArrowheads="1"/>
            </p:cNvSpPr>
            <p:nvPr/>
          </p:nvSpPr>
          <p:spPr bwMode="gray">
            <a:xfrm>
              <a:off x="1824" y="1934"/>
              <a:ext cx="2448" cy="233"/>
            </a:xfrm>
            <a:prstGeom prst="rect">
              <a:avLst/>
            </a:prstGeom>
            <a:noFill/>
            <a:ln w="9525" algn="ctr">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lang="en-US" b="1" kern="0" dirty="0" err="1">
                  <a:solidFill>
                    <a:srgbClr val="000000"/>
                  </a:solidFill>
                  <a:latin typeface="Arial" charset="0"/>
                  <a:cs typeface="Arial" charset="0"/>
                </a:rPr>
                <a:t>Đa</a:t>
              </a:r>
              <a:r>
                <a:rPr lang="en-US" b="1" kern="0" dirty="0">
                  <a:solidFill>
                    <a:srgbClr val="000000"/>
                  </a:solidFill>
                  <a:latin typeface="Arial" charset="0"/>
                  <a:cs typeface="Arial" charset="0"/>
                </a:rPr>
                <a:t> </a:t>
              </a:r>
              <a:r>
                <a:rPr lang="en-US" b="1" kern="0" dirty="0" err="1">
                  <a:solidFill>
                    <a:srgbClr val="000000"/>
                  </a:solidFill>
                  <a:latin typeface="Arial" charset="0"/>
                  <a:cs typeface="Arial" charset="0"/>
                </a:rPr>
                <a:t>hình</a:t>
              </a:r>
              <a:endParaRPr kumimoji="0" lang="en-US" sz="1800" b="1" i="0" u="none" strike="noStrike" kern="0" cap="none" spc="0" normalizeH="0" baseline="0" noProof="0" dirty="0">
                <a:ln>
                  <a:noFill/>
                </a:ln>
                <a:solidFill>
                  <a:srgbClr val="000000"/>
                </a:solidFill>
                <a:effectLst/>
                <a:uLnTx/>
                <a:uFillTx/>
                <a:latin typeface="Arial" charset="0"/>
                <a:cs typeface="Arial" charset="0"/>
              </a:endParaRPr>
            </a:p>
          </p:txBody>
        </p:sp>
        <p:sp>
          <p:nvSpPr>
            <p:cNvPr id="16" name="Text Box 55">
              <a:extLst>
                <a:ext uri="{FF2B5EF4-FFF2-40B4-BE49-F238E27FC236}">
                  <a16:creationId xmlns:a16="http://schemas.microsoft.com/office/drawing/2014/main" id="{19549559-20DD-418C-9EE7-8F264601F777}"/>
                </a:ext>
              </a:extLst>
            </p:cNvPr>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FFFFFF"/>
                  </a:solidFill>
                  <a:effectLst/>
                  <a:uLnTx/>
                  <a:uFillTx/>
                  <a:latin typeface="Arial" charset="0"/>
                  <a:cs typeface="Arial" charset="0"/>
                </a:rPr>
                <a:t>2</a:t>
              </a:r>
            </a:p>
          </p:txBody>
        </p:sp>
      </p:grpSp>
      <p:grpSp>
        <p:nvGrpSpPr>
          <p:cNvPr id="17" name="Group 56">
            <a:extLst>
              <a:ext uri="{FF2B5EF4-FFF2-40B4-BE49-F238E27FC236}">
                <a16:creationId xmlns:a16="http://schemas.microsoft.com/office/drawing/2014/main" id="{DDF5B5E9-7048-48C6-81B3-C5F8A9F0DBAE}"/>
              </a:ext>
            </a:extLst>
          </p:cNvPr>
          <p:cNvGrpSpPr>
            <a:grpSpLocks/>
          </p:cNvGrpSpPr>
          <p:nvPr/>
        </p:nvGrpSpPr>
        <p:grpSpPr bwMode="auto">
          <a:xfrm>
            <a:off x="1979712" y="3411616"/>
            <a:ext cx="5400600" cy="685800"/>
            <a:chOff x="1296" y="1824"/>
            <a:chExt cx="2976" cy="432"/>
          </a:xfrm>
        </p:grpSpPr>
        <p:sp>
          <p:nvSpPr>
            <p:cNvPr id="18" name="AutoShape 57">
              <a:extLst>
                <a:ext uri="{FF2B5EF4-FFF2-40B4-BE49-F238E27FC236}">
                  <a16:creationId xmlns:a16="http://schemas.microsoft.com/office/drawing/2014/main" id="{CAAFD668-2A1B-4B81-9161-A458B7F8100B}"/>
                </a:ext>
              </a:extLst>
            </p:cNvPr>
            <p:cNvSpPr>
              <a:spLocks noChangeArrowheads="1"/>
            </p:cNvSpPr>
            <p:nvPr/>
          </p:nvSpPr>
          <p:spPr bwMode="gray">
            <a:xfrm>
              <a:off x="1536" y="1899"/>
              <a:ext cx="2736" cy="288"/>
            </a:xfrm>
            <a:prstGeom prst="roundRect">
              <a:avLst>
                <a:gd name="adj" fmla="val 16667"/>
              </a:avLst>
            </a:prstGeom>
            <a:gradFill rotWithShape="1">
              <a:gsLst>
                <a:gs pos="0">
                  <a:srgbClr val="5086C2">
                    <a:gamma/>
                    <a:tint val="21176"/>
                    <a:invGamma/>
                  </a:srgbClr>
                </a:gs>
                <a:gs pos="100000">
                  <a:srgbClr val="5086C2"/>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19" name="AutoShape 58">
              <a:extLst>
                <a:ext uri="{FF2B5EF4-FFF2-40B4-BE49-F238E27FC236}">
                  <a16:creationId xmlns:a16="http://schemas.microsoft.com/office/drawing/2014/main" id="{B6FCD24D-87E2-43D6-8AC6-AAF2FBC3CFF0}"/>
                </a:ext>
              </a:extLst>
            </p:cNvPr>
            <p:cNvSpPr>
              <a:spLocks noChangeArrowheads="1"/>
            </p:cNvSpPr>
            <p:nvPr/>
          </p:nvSpPr>
          <p:spPr bwMode="gray">
            <a:xfrm>
              <a:off x="1296" y="1824"/>
              <a:ext cx="432" cy="432"/>
            </a:xfrm>
            <a:prstGeom prst="diamond">
              <a:avLst/>
            </a:prstGeom>
            <a:solidFill>
              <a:srgbClr val="4C59D2"/>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20" name="Text Box 59">
              <a:extLst>
                <a:ext uri="{FF2B5EF4-FFF2-40B4-BE49-F238E27FC236}">
                  <a16:creationId xmlns:a16="http://schemas.microsoft.com/office/drawing/2014/main" id="{C0293131-D91C-4772-92D4-FB1CFD400B8C}"/>
                </a:ext>
              </a:extLst>
            </p:cNvPr>
            <p:cNvSpPr txBox="1">
              <a:spLocks noChangeArrowheads="1"/>
            </p:cNvSpPr>
            <p:nvPr/>
          </p:nvSpPr>
          <p:spPr bwMode="gray">
            <a:xfrm>
              <a:off x="1824" y="1934"/>
              <a:ext cx="2448" cy="231"/>
            </a:xfrm>
            <a:prstGeom prst="rect">
              <a:avLst/>
            </a:prstGeom>
            <a:noFill/>
            <a:ln w="9525" algn="ctr">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000000"/>
                  </a:solidFill>
                  <a:effectLst/>
                  <a:uLnTx/>
                  <a:uFillTx/>
                  <a:latin typeface="Arial" charset="0"/>
                  <a:cs typeface="Arial" charset="0"/>
                </a:rPr>
                <a:t>L</a:t>
              </a:r>
              <a:r>
                <a:rPr lang="en-US" b="1" kern="0">
                  <a:solidFill>
                    <a:srgbClr val="000000"/>
                  </a:solidFill>
                  <a:latin typeface="Arial" charset="0"/>
                  <a:cs typeface="Arial" charset="0"/>
                </a:rPr>
                <a:t>ớp trừu t</a:t>
              </a:r>
              <a:r>
                <a:rPr lang="vi-VN" b="1" kern="0">
                  <a:solidFill>
                    <a:srgbClr val="000000"/>
                  </a:solidFill>
                  <a:latin typeface="Arial" charset="0"/>
                  <a:cs typeface="Arial" charset="0"/>
                </a:rPr>
                <a:t>ư</a:t>
              </a:r>
              <a:r>
                <a:rPr lang="en-US" b="1" kern="0">
                  <a:solidFill>
                    <a:srgbClr val="000000"/>
                  </a:solidFill>
                  <a:latin typeface="Arial" charset="0"/>
                  <a:cs typeface="Arial" charset="0"/>
                </a:rPr>
                <a:t>ợng và giao diện</a:t>
              </a:r>
              <a:endParaRPr kumimoji="0" lang="en-US" sz="1800" b="1" i="0" u="none" strike="noStrike" kern="0" cap="none" spc="0" normalizeH="0" baseline="0" noProof="0">
                <a:ln>
                  <a:noFill/>
                </a:ln>
                <a:solidFill>
                  <a:srgbClr val="000000"/>
                </a:solidFill>
                <a:effectLst/>
                <a:uLnTx/>
                <a:uFillTx/>
                <a:latin typeface="Arial" charset="0"/>
                <a:cs typeface="Arial" charset="0"/>
              </a:endParaRPr>
            </a:p>
          </p:txBody>
        </p:sp>
        <p:sp>
          <p:nvSpPr>
            <p:cNvPr id="21" name="Text Box 60">
              <a:extLst>
                <a:ext uri="{FF2B5EF4-FFF2-40B4-BE49-F238E27FC236}">
                  <a16:creationId xmlns:a16="http://schemas.microsoft.com/office/drawing/2014/main" id="{7F0E6C5E-3201-451C-8C19-84DC57F2C0D7}"/>
                </a:ext>
              </a:extLst>
            </p:cNvPr>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FFFFFF"/>
                  </a:solidFill>
                  <a:effectLst/>
                  <a:uLnTx/>
                  <a:uFillTx/>
                  <a:latin typeface="Arial" charset="0"/>
                  <a:cs typeface="Arial" charset="0"/>
                </a:rPr>
                <a:t>3</a:t>
              </a:r>
            </a:p>
          </p:txBody>
        </p:sp>
      </p:grpSp>
    </p:spTree>
    <p:extLst>
      <p:ext uri="{BB962C8B-B14F-4D97-AF65-F5344CB8AC3E}">
        <p14:creationId xmlns:p14="http://schemas.microsoft.com/office/powerpoint/2010/main" val="135741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7" presetClass="entr" presetSubtype="0" fill="hold" nodeType="after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1000"/>
                                        <p:tgtEl>
                                          <p:spTgt spid="12"/>
                                        </p:tgtEl>
                                      </p:cBhvr>
                                    </p:animEffect>
                                    <p:anim calcmode="lin" valueType="num">
                                      <p:cBhvr>
                                        <p:cTn id="14" dur="1000" fill="hold"/>
                                        <p:tgtEl>
                                          <p:spTgt spid="12"/>
                                        </p:tgtEl>
                                        <p:attrNameLst>
                                          <p:attrName>ppt_x</p:attrName>
                                        </p:attrNameLst>
                                      </p:cBhvr>
                                      <p:tavLst>
                                        <p:tav tm="0">
                                          <p:val>
                                            <p:strVal val="#ppt_x"/>
                                          </p:val>
                                        </p:tav>
                                        <p:tav tm="100000">
                                          <p:val>
                                            <p:strVal val="#ppt_x"/>
                                          </p:val>
                                        </p:tav>
                                      </p:tavLst>
                                    </p:anim>
                                    <p:anim calcmode="lin" valueType="num">
                                      <p:cBhvr>
                                        <p:cTn id="15" dur="1000" fill="hold"/>
                                        <p:tgtEl>
                                          <p:spTgt spid="12"/>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47" presetClass="entr" presetSubtype="0" fill="hold"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1000"/>
                                        <p:tgtEl>
                                          <p:spTgt spid="17"/>
                                        </p:tgtEl>
                                      </p:cBhvr>
                                    </p:animEffect>
                                    <p:anim calcmode="lin" valueType="num">
                                      <p:cBhvr>
                                        <p:cTn id="20" dur="1000" fill="hold"/>
                                        <p:tgtEl>
                                          <p:spTgt spid="17"/>
                                        </p:tgtEl>
                                        <p:attrNameLst>
                                          <p:attrName>ppt_x</p:attrName>
                                        </p:attrNameLst>
                                      </p:cBhvr>
                                      <p:tavLst>
                                        <p:tav tm="0">
                                          <p:val>
                                            <p:strVal val="#ppt_x"/>
                                          </p:val>
                                        </p:tav>
                                        <p:tav tm="100000">
                                          <p:val>
                                            <p:strVal val="#ppt_x"/>
                                          </p:val>
                                        </p:tav>
                                      </p:tavLst>
                                    </p:anim>
                                    <p:anim calcmode="lin" valueType="num">
                                      <p:cBhvr>
                                        <p:cTn id="21"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69DC2E0-8D9C-2FE2-E610-BDAD758E5197}"/>
              </a:ext>
            </a:extLst>
          </p:cNvPr>
          <p:cNvSpPr>
            <a:spLocks noGrp="1"/>
          </p:cNvSpPr>
          <p:nvPr>
            <p:ph type="dt" sz="half" idx="10"/>
          </p:nvPr>
        </p:nvSpPr>
        <p:spPr/>
        <p:txBody>
          <a:bodyPr/>
          <a:lstStyle/>
          <a:p>
            <a:fld id="{4719FDB1-9615-4287-8D55-AF20E3CF298E}" type="datetime1">
              <a:rPr lang="vi-VN" smtClean="0"/>
              <a:t>04/02/2025</a:t>
            </a:fld>
            <a:endParaRPr lang="vi-VN"/>
          </a:p>
        </p:txBody>
      </p:sp>
      <p:sp>
        <p:nvSpPr>
          <p:cNvPr id="4" name="Footer Placeholder 3">
            <a:extLst>
              <a:ext uri="{FF2B5EF4-FFF2-40B4-BE49-F238E27FC236}">
                <a16:creationId xmlns:a16="http://schemas.microsoft.com/office/drawing/2014/main" id="{EB616461-B204-F82A-36EB-6F7CE6638AEF}"/>
              </a:ext>
            </a:extLst>
          </p:cNvPr>
          <p:cNvSpPr>
            <a:spLocks noGrp="1"/>
          </p:cNvSpPr>
          <p:nvPr>
            <p:ph type="ftr" sz="quarter" idx="11"/>
          </p:nvPr>
        </p:nvSpPr>
        <p:spPr/>
        <p:txBody>
          <a:bodyPr/>
          <a:lstStyle/>
          <a:p>
            <a:r>
              <a:rPr lang="vi-VN"/>
              <a:t>Chương 3. Lập trình hướng đối tượng trong C#</a:t>
            </a:r>
          </a:p>
        </p:txBody>
      </p:sp>
      <p:sp>
        <p:nvSpPr>
          <p:cNvPr id="5" name="Slide Number Placeholder 4">
            <a:extLst>
              <a:ext uri="{FF2B5EF4-FFF2-40B4-BE49-F238E27FC236}">
                <a16:creationId xmlns:a16="http://schemas.microsoft.com/office/drawing/2014/main" id="{4554AF63-7D01-193C-0215-C54ACBC70230}"/>
              </a:ext>
            </a:extLst>
          </p:cNvPr>
          <p:cNvSpPr>
            <a:spLocks noGrp="1"/>
          </p:cNvSpPr>
          <p:nvPr>
            <p:ph type="sldNum" sz="quarter" idx="12"/>
          </p:nvPr>
        </p:nvSpPr>
        <p:spPr/>
        <p:txBody>
          <a:bodyPr/>
          <a:lstStyle/>
          <a:p>
            <a:fld id="{5AB95402-1E0D-474E-8D8C-CBE7F053639E}" type="slidenum">
              <a:rPr lang="vi-VN" smtClean="0"/>
              <a:pPr/>
              <a:t>40</a:t>
            </a:fld>
            <a:r>
              <a:rPr lang="vi-VN"/>
              <a:t>/33</a:t>
            </a:r>
          </a:p>
        </p:txBody>
      </p:sp>
      <p:sp>
        <p:nvSpPr>
          <p:cNvPr id="6" name="Title 5">
            <a:extLst>
              <a:ext uri="{FF2B5EF4-FFF2-40B4-BE49-F238E27FC236}">
                <a16:creationId xmlns:a16="http://schemas.microsoft.com/office/drawing/2014/main" id="{6BA51725-AB66-5354-11DD-1723BC4375F1}"/>
              </a:ext>
            </a:extLst>
          </p:cNvPr>
          <p:cNvSpPr>
            <a:spLocks noGrp="1"/>
          </p:cNvSpPr>
          <p:nvPr>
            <p:ph type="title"/>
          </p:nvPr>
        </p:nvSpPr>
        <p:spPr/>
        <p:txBody>
          <a:bodyPr/>
          <a:lstStyle/>
          <a:p>
            <a:r>
              <a:rPr lang="en-VN" dirty="0"/>
              <a:t>3.2.1 Kế thừa</a:t>
            </a:r>
          </a:p>
        </p:txBody>
      </p:sp>
      <p:pic>
        <p:nvPicPr>
          <p:cNvPr id="9222" name="Picture 6" descr="So sánh tính kế thừa và tính bao đóng trong lập trình hướng đối tượng (trong  Java) | Học trực tuyến CNTT, học lập trình từ cơ bản đến nâng cao">
            <a:extLst>
              <a:ext uri="{FF2B5EF4-FFF2-40B4-BE49-F238E27FC236}">
                <a16:creationId xmlns:a16="http://schemas.microsoft.com/office/drawing/2014/main" id="{CC1E6094-1593-0200-DF65-52F8FEB0A1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8152" y="1539284"/>
            <a:ext cx="6126619" cy="42535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41709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3.2.1</a:t>
            </a:r>
            <a:r>
              <a:rPr lang="en-US" dirty="0">
                <a:uFillTx/>
              </a:rPr>
              <a:t>. </a:t>
            </a:r>
            <a:r>
              <a:rPr lang="en-US" dirty="0" err="1">
                <a:uFillTx/>
              </a:rPr>
              <a:t>Kế</a:t>
            </a:r>
            <a:r>
              <a:rPr lang="en-US" dirty="0">
                <a:uFillTx/>
              </a:rPr>
              <a:t> </a:t>
            </a:r>
            <a:r>
              <a:rPr lang="en-US" dirty="0" err="1">
                <a:uFillTx/>
              </a:rPr>
              <a:t>thừa</a:t>
            </a:r>
            <a:endParaRPr lang="en-US" dirty="0">
              <a:uFillTx/>
            </a:endParaRPr>
          </a:p>
        </p:txBody>
      </p:sp>
      <p:sp>
        <p:nvSpPr>
          <p:cNvPr id="3" name="Content Placeholder 2"/>
          <p:cNvSpPr>
            <a:spLocks noGrp="1"/>
          </p:cNvSpPr>
          <p:nvPr>
            <p:ph idx="1"/>
          </p:nvPr>
        </p:nvSpPr>
        <p:spPr/>
        <p:txBody>
          <a:bodyPr/>
          <a:lstStyle/>
          <a:p>
            <a:r>
              <a:rPr lang="en-US" dirty="0" err="1">
                <a:uFillTx/>
              </a:rPr>
              <a:t>Kế</a:t>
            </a:r>
            <a:r>
              <a:rPr lang="en-US" dirty="0">
                <a:uFillTx/>
              </a:rPr>
              <a:t> </a:t>
            </a:r>
            <a:r>
              <a:rPr lang="en-US" dirty="0" err="1">
                <a:uFillTx/>
              </a:rPr>
              <a:t>thừa</a:t>
            </a:r>
            <a:endParaRPr lang="en-US" dirty="0">
              <a:uFillTx/>
            </a:endParaRPr>
          </a:p>
          <a:p>
            <a:pPr lvl="1"/>
            <a:r>
              <a:rPr lang="en-US" dirty="0">
                <a:uFillTx/>
              </a:rPr>
              <a:t>Là </a:t>
            </a:r>
            <a:r>
              <a:rPr lang="en-US" dirty="0" err="1">
                <a:uFillTx/>
              </a:rPr>
              <a:t>cơ</a:t>
            </a:r>
            <a:r>
              <a:rPr lang="en-US" dirty="0">
                <a:uFillTx/>
              </a:rPr>
              <a:t> </a:t>
            </a:r>
            <a:r>
              <a:rPr lang="en-US" dirty="0" err="1">
                <a:uFillTx/>
              </a:rPr>
              <a:t>chế</a:t>
            </a:r>
            <a:r>
              <a:rPr lang="en-US" dirty="0">
                <a:uFillTx/>
              </a:rPr>
              <a:t> </a:t>
            </a:r>
            <a:r>
              <a:rPr lang="en-US" dirty="0" err="1">
                <a:uFillTx/>
              </a:rPr>
              <a:t>cho</a:t>
            </a:r>
            <a:r>
              <a:rPr lang="en-US" dirty="0">
                <a:uFillTx/>
              </a:rPr>
              <a:t> </a:t>
            </a:r>
            <a:r>
              <a:rPr lang="en-US" dirty="0" err="1">
                <a:uFillTx/>
              </a:rPr>
              <a:t>phép</a:t>
            </a:r>
            <a:r>
              <a:rPr lang="en-US" dirty="0">
                <a:uFillTx/>
              </a:rPr>
              <a:t> </a:t>
            </a:r>
            <a:r>
              <a:rPr lang="en-US" dirty="0" err="1">
                <a:uFillTx/>
              </a:rPr>
              <a:t>định</a:t>
            </a:r>
            <a:r>
              <a:rPr lang="en-US" dirty="0">
                <a:uFillTx/>
              </a:rPr>
              <a:t> </a:t>
            </a:r>
            <a:r>
              <a:rPr lang="en-US" dirty="0" err="1">
                <a:uFillTx/>
              </a:rPr>
              <a:t>nghĩa</a:t>
            </a:r>
            <a:r>
              <a:rPr lang="en-US" dirty="0">
                <a:uFillTx/>
              </a:rPr>
              <a:t> </a:t>
            </a:r>
            <a:r>
              <a:rPr lang="en-US" dirty="0" err="1">
                <a:uFillTx/>
              </a:rPr>
              <a:t>một</a:t>
            </a:r>
            <a:r>
              <a:rPr lang="en-US" dirty="0">
                <a:uFillTx/>
              </a:rPr>
              <a:t> </a:t>
            </a:r>
            <a:r>
              <a:rPr lang="en-US" dirty="0" err="1">
                <a:uFillTx/>
              </a:rPr>
              <a:t>lớp</a:t>
            </a:r>
            <a:r>
              <a:rPr lang="en-US" dirty="0">
                <a:uFillTx/>
              </a:rPr>
              <a:t> </a:t>
            </a:r>
            <a:r>
              <a:rPr lang="en-US" dirty="0" err="1">
                <a:uFillTx/>
              </a:rPr>
              <a:t>mới</a:t>
            </a:r>
            <a:r>
              <a:rPr lang="en-US" dirty="0">
                <a:uFillTx/>
              </a:rPr>
              <a:t> (</a:t>
            </a:r>
            <a:r>
              <a:rPr lang="en-US" dirty="0" err="1">
                <a:uFillTx/>
              </a:rPr>
              <a:t>lớp</a:t>
            </a:r>
            <a:r>
              <a:rPr lang="en-US" dirty="0">
                <a:uFillTx/>
              </a:rPr>
              <a:t> </a:t>
            </a:r>
            <a:r>
              <a:rPr lang="en-US" dirty="0" err="1">
                <a:uFillTx/>
              </a:rPr>
              <a:t>dẫn</a:t>
            </a:r>
            <a:r>
              <a:rPr lang="en-US" dirty="0">
                <a:uFillTx/>
              </a:rPr>
              <a:t> </a:t>
            </a:r>
            <a:r>
              <a:rPr lang="en-US" dirty="0" err="1">
                <a:uFillTx/>
              </a:rPr>
              <a:t>xuất</a:t>
            </a:r>
            <a:r>
              <a:rPr lang="en-US" dirty="0">
                <a:uFillTx/>
              </a:rPr>
              <a:t> - </a:t>
            </a:r>
            <a:r>
              <a:rPr lang="en-US" dirty="0" err="1">
                <a:uFillTx/>
              </a:rPr>
              <a:t>drived</a:t>
            </a:r>
            <a:r>
              <a:rPr lang="en-US" dirty="0">
                <a:uFillTx/>
              </a:rPr>
              <a:t> class) </a:t>
            </a:r>
            <a:r>
              <a:rPr lang="en-US" dirty="0" err="1">
                <a:uFillTx/>
              </a:rPr>
              <a:t>dựa</a:t>
            </a:r>
            <a:r>
              <a:rPr lang="en-US" dirty="0">
                <a:uFillTx/>
              </a:rPr>
              <a:t> </a:t>
            </a:r>
            <a:r>
              <a:rPr lang="en-US" dirty="0" err="1">
                <a:uFillTx/>
              </a:rPr>
              <a:t>trên</a:t>
            </a:r>
            <a:r>
              <a:rPr lang="en-US" dirty="0">
                <a:uFillTx/>
              </a:rPr>
              <a:t> </a:t>
            </a:r>
            <a:r>
              <a:rPr lang="en-US" dirty="0" err="1">
                <a:uFillTx/>
              </a:rPr>
              <a:t>một</a:t>
            </a:r>
            <a:r>
              <a:rPr lang="en-US" dirty="0">
                <a:uFillTx/>
              </a:rPr>
              <a:t> </a:t>
            </a:r>
            <a:r>
              <a:rPr lang="en-US" dirty="0" err="1">
                <a:uFillTx/>
              </a:rPr>
              <a:t>lớp</a:t>
            </a:r>
            <a:r>
              <a:rPr lang="en-US" dirty="0">
                <a:uFillTx/>
              </a:rPr>
              <a:t> </a:t>
            </a:r>
            <a:r>
              <a:rPr lang="en-US" dirty="0" err="1">
                <a:uFillTx/>
              </a:rPr>
              <a:t>có</a:t>
            </a:r>
            <a:r>
              <a:rPr lang="en-US" dirty="0">
                <a:uFillTx/>
              </a:rPr>
              <a:t> </a:t>
            </a:r>
            <a:r>
              <a:rPr lang="en-US" dirty="0" err="1">
                <a:uFillTx/>
              </a:rPr>
              <a:t>sẵn</a:t>
            </a:r>
            <a:r>
              <a:rPr lang="en-US" dirty="0">
                <a:uFillTx/>
              </a:rPr>
              <a:t> (</a:t>
            </a:r>
            <a:r>
              <a:rPr lang="en-US" dirty="0" err="1">
                <a:uFillTx/>
              </a:rPr>
              <a:t>lớp</a:t>
            </a:r>
            <a:r>
              <a:rPr lang="en-US" dirty="0">
                <a:uFillTx/>
              </a:rPr>
              <a:t> </a:t>
            </a:r>
            <a:r>
              <a:rPr lang="en-US" dirty="0" err="1">
                <a:uFillTx/>
              </a:rPr>
              <a:t>cơ</a:t>
            </a:r>
            <a:r>
              <a:rPr lang="en-US" dirty="0">
                <a:uFillTx/>
              </a:rPr>
              <a:t> </a:t>
            </a:r>
            <a:r>
              <a:rPr lang="en-US" dirty="0" err="1">
                <a:uFillTx/>
              </a:rPr>
              <a:t>sở</a:t>
            </a:r>
            <a:r>
              <a:rPr lang="en-US" dirty="0">
                <a:uFillTx/>
              </a:rPr>
              <a:t> - base class)</a:t>
            </a:r>
          </a:p>
          <a:p>
            <a:pPr lvl="1"/>
            <a:r>
              <a:rPr lang="en-US" dirty="0" err="1">
                <a:uFillTx/>
              </a:rPr>
              <a:t>Lớp</a:t>
            </a:r>
            <a:r>
              <a:rPr lang="en-US" dirty="0">
                <a:uFillTx/>
              </a:rPr>
              <a:t> </a:t>
            </a:r>
            <a:r>
              <a:rPr lang="en-US" dirty="0" err="1">
                <a:uFillTx/>
              </a:rPr>
              <a:t>dẫn</a:t>
            </a:r>
            <a:r>
              <a:rPr lang="en-US" dirty="0">
                <a:uFillTx/>
              </a:rPr>
              <a:t> </a:t>
            </a:r>
            <a:r>
              <a:rPr lang="en-US" dirty="0" err="1">
                <a:uFillTx/>
              </a:rPr>
              <a:t>xuất</a:t>
            </a:r>
            <a:r>
              <a:rPr lang="en-US" dirty="0">
                <a:uFillTx/>
              </a:rPr>
              <a:t> </a:t>
            </a:r>
            <a:r>
              <a:rPr lang="en-US" dirty="0" err="1">
                <a:uFillTx/>
              </a:rPr>
              <a:t>kế</a:t>
            </a:r>
            <a:r>
              <a:rPr lang="en-US" dirty="0">
                <a:uFillTx/>
              </a:rPr>
              <a:t> </a:t>
            </a:r>
            <a:r>
              <a:rPr lang="en-US" dirty="0" err="1">
                <a:uFillTx/>
              </a:rPr>
              <a:t>thừa</a:t>
            </a:r>
            <a:r>
              <a:rPr lang="en-US" dirty="0">
                <a:uFillTx/>
              </a:rPr>
              <a:t> </a:t>
            </a:r>
            <a:r>
              <a:rPr lang="en-US" dirty="0" err="1">
                <a:uFillTx/>
              </a:rPr>
              <a:t>hầu</a:t>
            </a:r>
            <a:r>
              <a:rPr lang="en-US" dirty="0">
                <a:uFillTx/>
              </a:rPr>
              <a:t> </a:t>
            </a:r>
            <a:r>
              <a:rPr lang="en-US" dirty="0" err="1">
                <a:uFillTx/>
              </a:rPr>
              <a:t>hết</a:t>
            </a:r>
            <a:r>
              <a:rPr lang="en-US" dirty="0">
                <a:uFillTx/>
              </a:rPr>
              <a:t> </a:t>
            </a:r>
            <a:r>
              <a:rPr lang="en-US" dirty="0" err="1">
                <a:uFillTx/>
              </a:rPr>
              <a:t>các</a:t>
            </a:r>
            <a:r>
              <a:rPr lang="en-US" dirty="0">
                <a:uFillTx/>
              </a:rPr>
              <a:t> </a:t>
            </a:r>
            <a:r>
              <a:rPr lang="en-US" dirty="0" err="1">
                <a:uFillTx/>
              </a:rPr>
              <a:t>thành</a:t>
            </a:r>
            <a:r>
              <a:rPr lang="en-US" dirty="0">
                <a:uFillTx/>
              </a:rPr>
              <a:t> </a:t>
            </a:r>
            <a:r>
              <a:rPr lang="en-US" dirty="0" err="1">
                <a:uFillTx/>
              </a:rPr>
              <a:t>phần</a:t>
            </a:r>
            <a:r>
              <a:rPr lang="en-US" dirty="0">
                <a:uFillTx/>
              </a:rPr>
              <a:t> </a:t>
            </a:r>
            <a:r>
              <a:rPr lang="en-US" dirty="0" err="1">
                <a:uFillTx/>
              </a:rPr>
              <a:t>của</a:t>
            </a:r>
            <a:r>
              <a:rPr lang="en-US" dirty="0">
                <a:uFillTx/>
              </a:rPr>
              <a:t> </a:t>
            </a:r>
            <a:r>
              <a:rPr lang="en-US" dirty="0" err="1">
                <a:uFillTx/>
              </a:rPr>
              <a:t>lớp</a:t>
            </a:r>
            <a:r>
              <a:rPr lang="en-US" dirty="0">
                <a:uFillTx/>
              </a:rPr>
              <a:t> </a:t>
            </a:r>
            <a:r>
              <a:rPr lang="en-US" dirty="0" err="1">
                <a:uFillTx/>
              </a:rPr>
              <a:t>cơ</a:t>
            </a:r>
            <a:r>
              <a:rPr lang="en-US" dirty="0">
                <a:uFillTx/>
              </a:rPr>
              <a:t> </a:t>
            </a:r>
            <a:r>
              <a:rPr lang="en-US" dirty="0" err="1">
                <a:uFillTx/>
              </a:rPr>
              <a:t>sở</a:t>
            </a:r>
            <a:r>
              <a:rPr lang="en-US" dirty="0">
                <a:uFillTx/>
              </a:rPr>
              <a:t> (</a:t>
            </a:r>
            <a:r>
              <a:rPr lang="en-US" dirty="0" err="1">
                <a:uFillTx/>
              </a:rPr>
              <a:t>biến</a:t>
            </a:r>
            <a:r>
              <a:rPr lang="en-US" dirty="0">
                <a:uFillTx/>
              </a:rPr>
              <a:t> </a:t>
            </a:r>
            <a:r>
              <a:rPr lang="en-US" dirty="0" err="1">
                <a:uFillTx/>
              </a:rPr>
              <a:t>thành</a:t>
            </a:r>
            <a:r>
              <a:rPr lang="en-US" dirty="0">
                <a:uFillTx/>
              </a:rPr>
              <a:t> </a:t>
            </a:r>
            <a:r>
              <a:rPr lang="en-US" dirty="0" err="1">
                <a:uFillTx/>
              </a:rPr>
              <a:t>viên</a:t>
            </a:r>
            <a:r>
              <a:rPr lang="en-US" dirty="0">
                <a:uFillTx/>
              </a:rPr>
              <a:t>, </a:t>
            </a:r>
            <a:r>
              <a:rPr lang="en-US" dirty="0" err="1">
                <a:uFillTx/>
              </a:rPr>
              <a:t>phương</a:t>
            </a:r>
            <a:r>
              <a:rPr lang="en-US" dirty="0">
                <a:uFillTx/>
              </a:rPr>
              <a:t> </a:t>
            </a:r>
            <a:r>
              <a:rPr lang="en-US" dirty="0" err="1">
                <a:uFillTx/>
              </a:rPr>
              <a:t>thức</a:t>
            </a:r>
            <a:r>
              <a:rPr lang="en-US" dirty="0">
                <a:uFillTx/>
              </a:rPr>
              <a:t>), </a:t>
            </a:r>
            <a:r>
              <a:rPr lang="en-US" dirty="0" err="1">
                <a:uFillTx/>
              </a:rPr>
              <a:t>ngoại</a:t>
            </a:r>
            <a:r>
              <a:rPr lang="en-US" dirty="0">
                <a:uFillTx/>
              </a:rPr>
              <a:t> </a:t>
            </a:r>
            <a:r>
              <a:rPr lang="en-US" dirty="0" err="1">
                <a:uFillTx/>
              </a:rPr>
              <a:t>trừ</a:t>
            </a:r>
            <a:endParaRPr lang="en-US" dirty="0">
              <a:uFillTx/>
            </a:endParaRPr>
          </a:p>
          <a:p>
            <a:pPr lvl="2"/>
            <a:r>
              <a:rPr lang="en-US" dirty="0" err="1">
                <a:uFillTx/>
              </a:rPr>
              <a:t>Các</a:t>
            </a:r>
            <a:r>
              <a:rPr lang="en-US" dirty="0">
                <a:uFillTx/>
              </a:rPr>
              <a:t> </a:t>
            </a:r>
            <a:r>
              <a:rPr lang="en-US" dirty="0" err="1">
                <a:uFillTx/>
              </a:rPr>
              <a:t>thành</a:t>
            </a:r>
            <a:r>
              <a:rPr lang="en-US" dirty="0">
                <a:uFillTx/>
              </a:rPr>
              <a:t> </a:t>
            </a:r>
            <a:r>
              <a:rPr lang="en-US" dirty="0" err="1">
                <a:uFillTx/>
              </a:rPr>
              <a:t>phần</a:t>
            </a:r>
            <a:r>
              <a:rPr lang="en-US" dirty="0">
                <a:uFillTx/>
              </a:rPr>
              <a:t> private</a:t>
            </a:r>
          </a:p>
          <a:p>
            <a:pPr lvl="2"/>
            <a:r>
              <a:rPr lang="en-US" dirty="0" err="1">
                <a:uFillTx/>
              </a:rPr>
              <a:t>Phương</a:t>
            </a:r>
            <a:r>
              <a:rPr lang="en-US" dirty="0">
                <a:uFillTx/>
              </a:rPr>
              <a:t> </a:t>
            </a:r>
            <a:r>
              <a:rPr lang="en-US" dirty="0" err="1">
                <a:uFillTx/>
              </a:rPr>
              <a:t>thức</a:t>
            </a:r>
            <a:r>
              <a:rPr lang="en-US" dirty="0">
                <a:uFillTx/>
              </a:rPr>
              <a:t> </a:t>
            </a:r>
            <a:r>
              <a:rPr lang="en-US" dirty="0" err="1">
                <a:uFillTx/>
              </a:rPr>
              <a:t>tạo</a:t>
            </a:r>
            <a:r>
              <a:rPr lang="en-US" dirty="0">
                <a:uFillTx/>
              </a:rPr>
              <a:t> </a:t>
            </a:r>
            <a:r>
              <a:rPr lang="en-US" dirty="0" err="1">
                <a:uFillTx/>
              </a:rPr>
              <a:t>lập</a:t>
            </a:r>
            <a:endParaRPr lang="en-US" dirty="0">
              <a:uFillTx/>
            </a:endParaRPr>
          </a:p>
          <a:p>
            <a:pPr lvl="2"/>
            <a:r>
              <a:rPr lang="en-US" dirty="0" err="1">
                <a:uFillTx/>
              </a:rPr>
              <a:t>Phương</a:t>
            </a:r>
            <a:r>
              <a:rPr lang="en-US" dirty="0">
                <a:uFillTx/>
              </a:rPr>
              <a:t> </a:t>
            </a:r>
            <a:r>
              <a:rPr lang="en-US" dirty="0" err="1">
                <a:uFillTx/>
              </a:rPr>
              <a:t>thức</a:t>
            </a:r>
            <a:r>
              <a:rPr lang="en-US" dirty="0">
                <a:uFillTx/>
              </a:rPr>
              <a:t> </a:t>
            </a:r>
            <a:r>
              <a:rPr lang="en-US" dirty="0" err="1">
                <a:uFillTx/>
              </a:rPr>
              <a:t>huỷ</a:t>
            </a:r>
            <a:endParaRPr lang="en-US" dirty="0">
              <a:uFillTx/>
            </a:endParaRPr>
          </a:p>
          <a:p>
            <a:pPr lvl="2"/>
            <a:r>
              <a:rPr lang="en-US" dirty="0" err="1">
                <a:uFillTx/>
              </a:rPr>
              <a:t>Các</a:t>
            </a:r>
            <a:r>
              <a:rPr lang="en-US" dirty="0">
                <a:uFillTx/>
              </a:rPr>
              <a:t> </a:t>
            </a:r>
            <a:r>
              <a:rPr lang="en-US" dirty="0" err="1">
                <a:uFillTx/>
              </a:rPr>
              <a:t>thành</a:t>
            </a:r>
            <a:r>
              <a:rPr lang="en-US" dirty="0">
                <a:uFillTx/>
              </a:rPr>
              <a:t> </a:t>
            </a:r>
            <a:r>
              <a:rPr lang="en-US" dirty="0" err="1">
                <a:uFillTx/>
              </a:rPr>
              <a:t>phần</a:t>
            </a:r>
            <a:r>
              <a:rPr lang="en-US" dirty="0">
                <a:uFillTx/>
              </a:rPr>
              <a:t> </a:t>
            </a:r>
            <a:r>
              <a:rPr lang="en-US" dirty="0" err="1">
                <a:uFillTx/>
              </a:rPr>
              <a:t>tĩnh</a:t>
            </a:r>
            <a:r>
              <a:rPr lang="en-US" dirty="0">
                <a:uFillTx/>
              </a:rPr>
              <a:t> (static)</a:t>
            </a:r>
          </a:p>
          <a:p>
            <a:pPr lvl="1"/>
            <a:r>
              <a:rPr lang="en-US" dirty="0" err="1">
                <a:uFillTx/>
              </a:rPr>
              <a:t>Lớp</a:t>
            </a:r>
            <a:r>
              <a:rPr lang="en-US" dirty="0">
                <a:uFillTx/>
              </a:rPr>
              <a:t> </a:t>
            </a:r>
            <a:r>
              <a:rPr lang="en-US" dirty="0" err="1">
                <a:uFillTx/>
              </a:rPr>
              <a:t>dẫn</a:t>
            </a:r>
            <a:r>
              <a:rPr lang="en-US" dirty="0">
                <a:uFillTx/>
              </a:rPr>
              <a:t> </a:t>
            </a:r>
            <a:r>
              <a:rPr lang="en-US" dirty="0" err="1">
                <a:uFillTx/>
              </a:rPr>
              <a:t>xuất</a:t>
            </a:r>
            <a:r>
              <a:rPr lang="en-US" dirty="0">
                <a:uFillTx/>
              </a:rPr>
              <a:t> </a:t>
            </a:r>
            <a:r>
              <a:rPr lang="en-US" dirty="0" err="1">
                <a:uFillTx/>
              </a:rPr>
              <a:t>chỉ</a:t>
            </a:r>
            <a:r>
              <a:rPr lang="en-US" dirty="0">
                <a:uFillTx/>
              </a:rPr>
              <a:t> </a:t>
            </a:r>
            <a:r>
              <a:rPr lang="en-US" dirty="0" err="1">
                <a:uFillTx/>
              </a:rPr>
              <a:t>có</a:t>
            </a:r>
            <a:r>
              <a:rPr lang="en-US" dirty="0">
                <a:uFillTx/>
              </a:rPr>
              <a:t> </a:t>
            </a:r>
            <a:r>
              <a:rPr lang="en-US" dirty="0" err="1">
                <a:uFillTx/>
              </a:rPr>
              <a:t>thể</a:t>
            </a:r>
            <a:r>
              <a:rPr lang="en-US" dirty="0">
                <a:uFillTx/>
              </a:rPr>
              <a:t> </a:t>
            </a:r>
            <a:r>
              <a:rPr lang="en-US" dirty="0" err="1">
                <a:uFillTx/>
              </a:rPr>
              <a:t>kế</a:t>
            </a:r>
            <a:r>
              <a:rPr lang="en-US" dirty="0">
                <a:uFillTx/>
              </a:rPr>
              <a:t> </a:t>
            </a:r>
            <a:r>
              <a:rPr lang="en-US" dirty="0" err="1">
                <a:uFillTx/>
              </a:rPr>
              <a:t>thừa</a:t>
            </a:r>
            <a:r>
              <a:rPr lang="en-US" dirty="0">
                <a:uFillTx/>
              </a:rPr>
              <a:t> </a:t>
            </a:r>
            <a:r>
              <a:rPr lang="en-US" dirty="0" err="1">
                <a:uFillTx/>
              </a:rPr>
              <a:t>trực</a:t>
            </a:r>
            <a:r>
              <a:rPr lang="en-US" dirty="0">
                <a:uFillTx/>
              </a:rPr>
              <a:t> </a:t>
            </a:r>
            <a:r>
              <a:rPr lang="en-US" dirty="0" err="1">
                <a:uFillTx/>
              </a:rPr>
              <a:t>tiếp</a:t>
            </a:r>
            <a:r>
              <a:rPr lang="en-US" dirty="0">
                <a:uFillTx/>
              </a:rPr>
              <a:t> </a:t>
            </a:r>
            <a:r>
              <a:rPr lang="en-US" dirty="0" err="1">
                <a:uFillTx/>
              </a:rPr>
              <a:t>từ</a:t>
            </a:r>
            <a:r>
              <a:rPr lang="en-US" dirty="0">
                <a:uFillTx/>
              </a:rPr>
              <a:t> </a:t>
            </a:r>
            <a:r>
              <a:rPr lang="en-US" dirty="0" err="1">
                <a:uFillTx/>
              </a:rPr>
              <a:t>một</a:t>
            </a:r>
            <a:r>
              <a:rPr lang="en-US" dirty="0">
                <a:uFillTx/>
              </a:rPr>
              <a:t> </a:t>
            </a:r>
            <a:r>
              <a:rPr lang="en-US" dirty="0" err="1">
                <a:uFillTx/>
              </a:rPr>
              <a:t>lớp</a:t>
            </a:r>
            <a:r>
              <a:rPr lang="en-US" dirty="0">
                <a:uFillTx/>
              </a:rPr>
              <a:t> </a:t>
            </a:r>
            <a:r>
              <a:rPr lang="en-US" dirty="0" err="1">
                <a:uFillTx/>
              </a:rPr>
              <a:t>cơ</a:t>
            </a:r>
            <a:r>
              <a:rPr lang="en-US" dirty="0">
                <a:uFillTx/>
              </a:rPr>
              <a:t> </a:t>
            </a:r>
            <a:r>
              <a:rPr lang="en-US" dirty="0" err="1">
                <a:uFillTx/>
              </a:rPr>
              <a:t>sở</a:t>
            </a:r>
            <a:endParaRPr lang="en-US" dirty="0">
              <a:uFillTx/>
            </a:endParaRPr>
          </a:p>
        </p:txBody>
      </p:sp>
      <p:sp>
        <p:nvSpPr>
          <p:cNvPr id="4" name="Date Placeholder 3"/>
          <p:cNvSpPr>
            <a:spLocks noGrp="1"/>
          </p:cNvSpPr>
          <p:nvPr>
            <p:ph type="dt" sz="half" idx="10"/>
          </p:nvPr>
        </p:nvSpPr>
        <p:spPr/>
        <p:txBody>
          <a:bodyPr/>
          <a:lstStyle/>
          <a:p>
            <a:fld id="{7987AED9-3728-4EB8-97CD-5C2E4FA5D63D}" type="datetime1">
              <a:rPr lang="vi-VN" smtClean="0">
                <a:uFillTx/>
              </a:rPr>
              <a:t>04/02/2025</a:t>
            </a:fld>
            <a:endParaRPr lang="vi-VN">
              <a:uFillTx/>
            </a:endParaRPr>
          </a:p>
        </p:txBody>
      </p:sp>
      <p:sp>
        <p:nvSpPr>
          <p:cNvPr id="5" name="Footer Placeholder 4"/>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uFillTx/>
              </a:rPr>
              <a:pPr/>
              <a:t>41</a:t>
            </a:fld>
            <a:r>
              <a:rPr lang="vi-VN">
                <a:uFillTx/>
              </a:rPr>
              <a:t>/28</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uFillTx/>
              </a:rPr>
              <a:t>3.2.1 </a:t>
            </a:r>
            <a:r>
              <a:rPr lang="en-US" dirty="0" err="1">
                <a:uFillTx/>
              </a:rPr>
              <a:t>Kế</a:t>
            </a:r>
            <a:r>
              <a:rPr lang="en-US" dirty="0">
                <a:uFillTx/>
              </a:rPr>
              <a:t> </a:t>
            </a:r>
            <a:r>
              <a:rPr lang="en-US" dirty="0" err="1">
                <a:uFillTx/>
              </a:rPr>
              <a:t>thừa</a:t>
            </a:r>
            <a:endParaRPr lang="en-US" dirty="0">
              <a:uFillTx/>
            </a:endParaRPr>
          </a:p>
        </p:txBody>
      </p:sp>
      <p:sp>
        <p:nvSpPr>
          <p:cNvPr id="3" name="Content Placeholder 2"/>
          <p:cNvSpPr>
            <a:spLocks noGrp="1"/>
          </p:cNvSpPr>
          <p:nvPr>
            <p:ph idx="1"/>
          </p:nvPr>
        </p:nvSpPr>
        <p:spPr/>
        <p:txBody>
          <a:bodyPr>
            <a:normAutofit/>
          </a:bodyPr>
          <a:lstStyle/>
          <a:p>
            <a:r>
              <a:rPr lang="en-US">
                <a:uFillTx/>
              </a:rPr>
              <a:t>Cú pháp định nghĩa:</a:t>
            </a:r>
          </a:p>
          <a:p>
            <a:pPr marL="438150" lvl="1" indent="0">
              <a:buNone/>
            </a:pPr>
            <a:r>
              <a:rPr lang="en-US">
                <a:solidFill>
                  <a:srgbClr val="FF0000"/>
                </a:solidFill>
                <a:uFillTx/>
              </a:rPr>
              <a:t>class</a:t>
            </a:r>
            <a:r>
              <a:rPr lang="en-US">
                <a:uFillTx/>
              </a:rPr>
              <a:t> &lt;Tên lớp dẫn xuất&gt; </a:t>
            </a:r>
            <a:r>
              <a:rPr lang="en-US" b="1">
                <a:solidFill>
                  <a:srgbClr val="FF0000"/>
                </a:solidFill>
                <a:uFillTx/>
              </a:rPr>
              <a:t>:</a:t>
            </a:r>
            <a:r>
              <a:rPr lang="en-US">
                <a:uFillTx/>
              </a:rPr>
              <a:t> &lt;Tên lớp cơ sở&gt;</a:t>
            </a:r>
          </a:p>
          <a:p>
            <a:pPr marL="438150" lvl="1" indent="0">
              <a:buNone/>
            </a:pPr>
            <a:r>
              <a:rPr lang="en-US">
                <a:uFillTx/>
              </a:rPr>
              <a:t>{</a:t>
            </a:r>
          </a:p>
          <a:p>
            <a:pPr marL="438150" lvl="1" indent="0">
              <a:buNone/>
            </a:pPr>
            <a:r>
              <a:rPr lang="en-US">
                <a:uFillTx/>
              </a:rPr>
              <a:t>    // Thân lớp dẫn xuất</a:t>
            </a:r>
          </a:p>
          <a:p>
            <a:pPr marL="438150" lvl="1" indent="0">
              <a:buNone/>
            </a:pPr>
            <a:r>
              <a:rPr lang="en-US">
                <a:uFillTx/>
              </a:rPr>
              <a:t>}</a:t>
            </a:r>
          </a:p>
          <a:p>
            <a:pPr marL="342900" indent="-342900"/>
            <a:r>
              <a:rPr lang="en-US">
                <a:uFillTx/>
              </a:rPr>
              <a:t> Ví dụ:</a:t>
            </a:r>
          </a:p>
          <a:p>
            <a:pPr marL="781050" lvl="1" indent="-342900"/>
            <a:r>
              <a:rPr lang="en-US">
                <a:uFillTx/>
              </a:rPr>
              <a:t>Khai báo lớp Nguoi gồm </a:t>
            </a:r>
          </a:p>
          <a:p>
            <a:pPr marL="1177925" lvl="2" indent="-342900"/>
            <a:r>
              <a:rPr lang="en-US">
                <a:uFillTx/>
              </a:rPr>
              <a:t>Các thuộc tính: HoTen, NgaySinh, QueQuan</a:t>
            </a:r>
          </a:p>
          <a:p>
            <a:pPr marL="1177925" lvl="2" indent="-342900"/>
            <a:r>
              <a:rPr lang="en-US">
                <a:uFillTx/>
              </a:rPr>
              <a:t>Phương thức: Xuat</a:t>
            </a:r>
          </a:p>
          <a:p>
            <a:pPr marL="781050" lvl="1" indent="-342900"/>
            <a:r>
              <a:rPr lang="en-US">
                <a:uFillTx/>
              </a:rPr>
              <a:t>Khai báo lớp SinhVien kế thừa từ lớp Nguoi</a:t>
            </a:r>
          </a:p>
          <a:p>
            <a:pPr marL="1177925" lvl="2" indent="-342900"/>
            <a:r>
              <a:rPr lang="en-US">
                <a:uFillTx/>
              </a:rPr>
              <a:t>Bổ sung thêm thuộc tính MaSV</a:t>
            </a:r>
          </a:p>
        </p:txBody>
      </p:sp>
      <p:sp>
        <p:nvSpPr>
          <p:cNvPr id="4" name="Date Placeholder 3"/>
          <p:cNvSpPr>
            <a:spLocks noGrp="1"/>
          </p:cNvSpPr>
          <p:nvPr>
            <p:ph type="dt" sz="half" idx="10"/>
          </p:nvPr>
        </p:nvSpPr>
        <p:spPr/>
        <p:txBody>
          <a:bodyPr/>
          <a:lstStyle/>
          <a:p>
            <a:fld id="{3150504F-9B94-412B-89E9-58180B4A4004}" type="datetime1">
              <a:rPr lang="vi-VN" smtClean="0">
                <a:uFillTx/>
              </a:rPr>
              <a:t>04/02/2025</a:t>
            </a:fld>
            <a:endParaRPr lang="vi-VN">
              <a:uFillTx/>
            </a:endParaRPr>
          </a:p>
        </p:txBody>
      </p:sp>
      <p:sp>
        <p:nvSpPr>
          <p:cNvPr id="5" name="Footer Placeholder 4"/>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uFillTx/>
              </a:rPr>
              <a:pPr/>
              <a:t>42</a:t>
            </a:fld>
            <a:r>
              <a:rPr lang="vi-VN">
                <a:uFillTx/>
              </a:rPr>
              <a:t>/28</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uFillTx/>
              </a:rPr>
              <a:t>Ví dụ - Kế thừa</a:t>
            </a:r>
          </a:p>
        </p:txBody>
      </p:sp>
      <p:sp>
        <p:nvSpPr>
          <p:cNvPr id="3" name="Content Placeholder 2"/>
          <p:cNvSpPr>
            <a:spLocks noGrp="1"/>
          </p:cNvSpPr>
          <p:nvPr>
            <p:ph idx="1"/>
          </p:nvPr>
        </p:nvSpPr>
        <p:spPr/>
        <p:txBody>
          <a:bodyPr>
            <a:normAutofit lnSpcReduction="10000"/>
          </a:bodyPr>
          <a:lstStyle/>
          <a:p>
            <a:pPr marL="0" indent="0">
              <a:buNone/>
            </a:pPr>
            <a:r>
              <a:rPr lang="en-US" sz="1600" b="1" dirty="0">
                <a:solidFill>
                  <a:srgbClr val="0000FF"/>
                </a:solidFill>
                <a:uFillTx/>
                <a:latin typeface="Courier New" pitchFamily="49" charset="0"/>
                <a:cs typeface="Courier New" pitchFamily="49" charset="0"/>
              </a:rPr>
              <a:t>class</a:t>
            </a:r>
            <a:r>
              <a:rPr lang="en-US" sz="1600" dirty="0">
                <a:uFillTx/>
                <a:latin typeface="Courier New" pitchFamily="49" charset="0"/>
                <a:cs typeface="Courier New" pitchFamily="49" charset="0"/>
              </a:rPr>
              <a:t> </a:t>
            </a:r>
            <a:r>
              <a:rPr lang="en-US" sz="1600" dirty="0" err="1">
                <a:solidFill>
                  <a:srgbClr val="C00000"/>
                </a:solidFill>
                <a:uFillTx/>
                <a:latin typeface="Courier New" pitchFamily="49" charset="0"/>
                <a:cs typeface="Courier New" pitchFamily="49" charset="0"/>
              </a:rPr>
              <a:t>Nguoi</a:t>
            </a:r>
            <a:endParaRPr lang="en-US" sz="1600" dirty="0">
              <a:solidFill>
                <a:srgbClr val="C00000"/>
              </a:solidFill>
              <a:uFillTx/>
              <a:latin typeface="Courier New" pitchFamily="49" charset="0"/>
              <a:cs typeface="Courier New" pitchFamily="49" charset="0"/>
            </a:endParaRPr>
          </a:p>
          <a:p>
            <a:pPr marL="0" indent="0">
              <a:buNone/>
            </a:pPr>
            <a:r>
              <a:rPr lang="en-US" sz="1600" dirty="0">
                <a:uFillTx/>
                <a:latin typeface="Courier New" pitchFamily="49" charset="0"/>
                <a:cs typeface="Courier New" pitchFamily="49" charset="0"/>
              </a:rPr>
              <a:t>    {</a:t>
            </a:r>
          </a:p>
          <a:p>
            <a:pPr marL="0" indent="0">
              <a:buNone/>
            </a:pPr>
            <a:r>
              <a:rPr lang="en-US" sz="1600" dirty="0">
                <a:uFillTx/>
                <a:latin typeface="Courier New" pitchFamily="49" charset="0"/>
                <a:cs typeface="Courier New" pitchFamily="49" charset="0"/>
              </a:rPr>
              <a:t>        </a:t>
            </a:r>
            <a:r>
              <a:rPr lang="en-US" sz="1600" dirty="0">
                <a:solidFill>
                  <a:srgbClr val="0000FF"/>
                </a:solidFill>
                <a:uFillTx/>
                <a:latin typeface="Courier New" pitchFamily="49" charset="0"/>
                <a:cs typeface="Courier New" pitchFamily="49" charset="0"/>
              </a:rPr>
              <a:t>public</a:t>
            </a:r>
            <a:r>
              <a:rPr lang="en-US" sz="1600" dirty="0">
                <a:uFillTx/>
                <a:latin typeface="Courier New" pitchFamily="49" charset="0"/>
                <a:cs typeface="Courier New" pitchFamily="49" charset="0"/>
              </a:rPr>
              <a:t> </a:t>
            </a:r>
            <a:r>
              <a:rPr lang="en-US" sz="1600" dirty="0">
                <a:solidFill>
                  <a:srgbClr val="0000FF"/>
                </a:solidFill>
                <a:uFillTx/>
                <a:latin typeface="Courier New" pitchFamily="49" charset="0"/>
                <a:cs typeface="Courier New" pitchFamily="49" charset="0"/>
              </a:rPr>
              <a:t>string</a:t>
            </a:r>
            <a:r>
              <a:rPr lang="en-US" sz="1600" dirty="0">
                <a:uFillTx/>
                <a:latin typeface="Courier New" pitchFamily="49" charset="0"/>
                <a:cs typeface="Courier New" pitchFamily="49" charset="0"/>
              </a:rPr>
              <a:t> </a:t>
            </a:r>
            <a:r>
              <a:rPr lang="en-US" sz="1600" dirty="0" err="1">
                <a:uFillTx/>
                <a:latin typeface="Courier New" pitchFamily="49" charset="0"/>
                <a:cs typeface="Courier New" pitchFamily="49" charset="0"/>
              </a:rPr>
              <a:t>HoTen</a:t>
            </a:r>
            <a:r>
              <a:rPr lang="en-US" sz="1600" dirty="0">
                <a:uFillTx/>
                <a:latin typeface="Courier New" pitchFamily="49" charset="0"/>
                <a:cs typeface="Courier New" pitchFamily="49" charset="0"/>
              </a:rPr>
              <a:t>;</a:t>
            </a:r>
          </a:p>
          <a:p>
            <a:pPr marL="0" indent="0">
              <a:buNone/>
            </a:pPr>
            <a:r>
              <a:rPr lang="en-US" sz="1600" dirty="0">
                <a:uFillTx/>
                <a:latin typeface="Courier New" pitchFamily="49" charset="0"/>
                <a:cs typeface="Courier New" pitchFamily="49" charset="0"/>
              </a:rPr>
              <a:t>        </a:t>
            </a:r>
            <a:r>
              <a:rPr lang="en-US" sz="1600" dirty="0">
                <a:solidFill>
                  <a:srgbClr val="0000FF"/>
                </a:solidFill>
                <a:uFillTx/>
                <a:latin typeface="Courier New" pitchFamily="49" charset="0"/>
                <a:cs typeface="Courier New" pitchFamily="49" charset="0"/>
              </a:rPr>
              <a:t>public</a:t>
            </a:r>
            <a:r>
              <a:rPr lang="en-US" sz="1600" dirty="0">
                <a:uFillTx/>
                <a:latin typeface="Courier New" pitchFamily="49" charset="0"/>
                <a:cs typeface="Courier New" pitchFamily="49" charset="0"/>
              </a:rPr>
              <a:t> </a:t>
            </a:r>
            <a:r>
              <a:rPr lang="en-US" sz="1600" dirty="0" err="1">
                <a:solidFill>
                  <a:srgbClr val="0000FF"/>
                </a:solidFill>
                <a:uFillTx/>
                <a:latin typeface="Courier New" pitchFamily="49" charset="0"/>
                <a:cs typeface="Courier New" pitchFamily="49" charset="0"/>
              </a:rPr>
              <a:t>DateTime</a:t>
            </a:r>
            <a:r>
              <a:rPr lang="en-US" sz="1600" dirty="0">
                <a:uFillTx/>
                <a:latin typeface="Courier New" pitchFamily="49" charset="0"/>
                <a:cs typeface="Courier New" pitchFamily="49" charset="0"/>
              </a:rPr>
              <a:t> </a:t>
            </a:r>
            <a:r>
              <a:rPr lang="en-US" sz="1600" dirty="0" err="1">
                <a:uFillTx/>
                <a:latin typeface="Courier New" pitchFamily="49" charset="0"/>
                <a:cs typeface="Courier New" pitchFamily="49" charset="0"/>
              </a:rPr>
              <a:t>NgaySinh</a:t>
            </a:r>
            <a:r>
              <a:rPr lang="en-US" sz="1600" dirty="0">
                <a:uFillTx/>
                <a:latin typeface="Courier New" pitchFamily="49" charset="0"/>
                <a:cs typeface="Courier New" pitchFamily="49" charset="0"/>
              </a:rPr>
              <a:t>;</a:t>
            </a:r>
          </a:p>
          <a:p>
            <a:pPr marL="0" indent="0">
              <a:buNone/>
            </a:pPr>
            <a:r>
              <a:rPr lang="en-US" sz="1600" dirty="0">
                <a:uFillTx/>
                <a:latin typeface="Courier New" pitchFamily="49" charset="0"/>
                <a:cs typeface="Courier New" pitchFamily="49" charset="0"/>
              </a:rPr>
              <a:t>        </a:t>
            </a:r>
            <a:r>
              <a:rPr lang="en-US" sz="1600" dirty="0">
                <a:solidFill>
                  <a:srgbClr val="0000FF"/>
                </a:solidFill>
                <a:uFillTx/>
                <a:latin typeface="Courier New" pitchFamily="49" charset="0"/>
                <a:cs typeface="Courier New" pitchFamily="49" charset="0"/>
              </a:rPr>
              <a:t>public</a:t>
            </a:r>
            <a:r>
              <a:rPr lang="en-US" sz="1600" dirty="0">
                <a:uFillTx/>
                <a:latin typeface="Courier New" pitchFamily="49" charset="0"/>
                <a:cs typeface="Courier New" pitchFamily="49" charset="0"/>
              </a:rPr>
              <a:t> </a:t>
            </a:r>
            <a:r>
              <a:rPr lang="en-US" sz="1600" dirty="0">
                <a:solidFill>
                  <a:srgbClr val="0000FF"/>
                </a:solidFill>
                <a:uFillTx/>
                <a:latin typeface="Courier New" pitchFamily="49" charset="0"/>
                <a:cs typeface="Courier New" pitchFamily="49" charset="0"/>
              </a:rPr>
              <a:t>string</a:t>
            </a:r>
            <a:r>
              <a:rPr lang="en-US" sz="1600" dirty="0">
                <a:uFillTx/>
                <a:latin typeface="Courier New" pitchFamily="49" charset="0"/>
                <a:cs typeface="Courier New" pitchFamily="49" charset="0"/>
              </a:rPr>
              <a:t> </a:t>
            </a:r>
            <a:r>
              <a:rPr lang="en-US" sz="1600" dirty="0" err="1">
                <a:uFillTx/>
                <a:latin typeface="Courier New" pitchFamily="49" charset="0"/>
                <a:cs typeface="Courier New" pitchFamily="49" charset="0"/>
              </a:rPr>
              <a:t>QueQuan</a:t>
            </a:r>
            <a:r>
              <a:rPr lang="en-US" sz="1600" dirty="0">
                <a:uFillTx/>
                <a:latin typeface="Courier New" pitchFamily="49" charset="0"/>
                <a:cs typeface="Courier New" pitchFamily="49" charset="0"/>
              </a:rPr>
              <a:t>;       </a:t>
            </a:r>
          </a:p>
          <a:p>
            <a:pPr marL="0" indent="0">
              <a:buNone/>
            </a:pPr>
            <a:r>
              <a:rPr lang="en-US" sz="1600" dirty="0">
                <a:uFillTx/>
                <a:latin typeface="Courier New" pitchFamily="49" charset="0"/>
                <a:cs typeface="Courier New" pitchFamily="49" charset="0"/>
              </a:rPr>
              <a:t>        </a:t>
            </a:r>
            <a:r>
              <a:rPr lang="en-US" sz="1600" dirty="0">
                <a:solidFill>
                  <a:srgbClr val="0000FF"/>
                </a:solidFill>
                <a:uFillTx/>
                <a:latin typeface="Courier New" pitchFamily="49" charset="0"/>
                <a:cs typeface="Courier New" pitchFamily="49" charset="0"/>
              </a:rPr>
              <a:t>public</a:t>
            </a:r>
            <a:r>
              <a:rPr lang="en-US" sz="1600" dirty="0">
                <a:uFillTx/>
                <a:latin typeface="Courier New" pitchFamily="49" charset="0"/>
                <a:cs typeface="Courier New" pitchFamily="49" charset="0"/>
              </a:rPr>
              <a:t> </a:t>
            </a:r>
            <a:r>
              <a:rPr lang="en-US" sz="1600" dirty="0">
                <a:solidFill>
                  <a:srgbClr val="0000FF"/>
                </a:solidFill>
                <a:uFillTx/>
                <a:latin typeface="Courier New" pitchFamily="49" charset="0"/>
                <a:cs typeface="Courier New" pitchFamily="49" charset="0"/>
              </a:rPr>
              <a:t>void</a:t>
            </a:r>
            <a:r>
              <a:rPr lang="en-US" sz="1600" dirty="0">
                <a:uFillTx/>
                <a:latin typeface="Courier New" pitchFamily="49" charset="0"/>
                <a:cs typeface="Courier New" pitchFamily="49" charset="0"/>
              </a:rPr>
              <a:t> </a:t>
            </a:r>
            <a:r>
              <a:rPr lang="en-US" sz="1600" dirty="0" err="1">
                <a:solidFill>
                  <a:srgbClr val="FF0000"/>
                </a:solidFill>
                <a:uFillTx/>
                <a:latin typeface="Courier New" pitchFamily="49" charset="0"/>
                <a:cs typeface="Courier New" pitchFamily="49" charset="0"/>
              </a:rPr>
              <a:t>Xuat</a:t>
            </a:r>
            <a:r>
              <a:rPr lang="en-US" sz="1600" dirty="0">
                <a:uFillTx/>
                <a:latin typeface="Courier New" pitchFamily="49" charset="0"/>
                <a:cs typeface="Courier New" pitchFamily="49" charset="0"/>
              </a:rPr>
              <a:t>()</a:t>
            </a:r>
          </a:p>
          <a:p>
            <a:pPr marL="0" indent="0">
              <a:buNone/>
            </a:pPr>
            <a:r>
              <a:rPr lang="en-US" sz="1600" dirty="0">
                <a:uFillTx/>
                <a:latin typeface="Courier New" pitchFamily="49" charset="0"/>
                <a:cs typeface="Courier New" pitchFamily="49" charset="0"/>
              </a:rPr>
              <a:t>        {</a:t>
            </a:r>
          </a:p>
          <a:p>
            <a:pPr marL="0" indent="0">
              <a:buNone/>
            </a:pPr>
            <a:r>
              <a:rPr lang="it-IT" sz="1600" dirty="0">
                <a:uFillTx/>
                <a:latin typeface="Courier New" pitchFamily="49" charset="0"/>
                <a:cs typeface="Courier New" pitchFamily="49" charset="0"/>
              </a:rPr>
              <a:t>            </a:t>
            </a:r>
            <a:r>
              <a:rPr lang="it-IT" sz="1600" dirty="0" err="1">
                <a:uFillTx/>
                <a:latin typeface="Courier New" pitchFamily="49" charset="0"/>
                <a:cs typeface="Courier New" pitchFamily="49" charset="0"/>
              </a:rPr>
              <a:t>Console.WriteLine</a:t>
            </a:r>
            <a:r>
              <a:rPr lang="it-IT" sz="1600" dirty="0">
                <a:uFillTx/>
                <a:latin typeface="Courier New" pitchFamily="49" charset="0"/>
                <a:cs typeface="Courier New" pitchFamily="49" charset="0"/>
              </a:rPr>
              <a:t>("Ho va </a:t>
            </a:r>
            <a:r>
              <a:rPr lang="it-IT" sz="1600" dirty="0" err="1">
                <a:uFillTx/>
                <a:latin typeface="Courier New" pitchFamily="49" charset="0"/>
                <a:cs typeface="Courier New" pitchFamily="49" charset="0"/>
              </a:rPr>
              <a:t>ten</a:t>
            </a:r>
            <a:r>
              <a:rPr lang="it-IT" sz="1600" dirty="0">
                <a:uFillTx/>
                <a:latin typeface="Courier New" pitchFamily="49" charset="0"/>
                <a:cs typeface="Courier New" pitchFamily="49" charset="0"/>
              </a:rPr>
              <a:t>: " +</a:t>
            </a:r>
            <a:r>
              <a:rPr lang="it-IT" sz="1600" dirty="0" err="1">
                <a:uFillTx/>
                <a:latin typeface="Courier New" pitchFamily="49" charset="0"/>
                <a:cs typeface="Courier New" pitchFamily="49" charset="0"/>
              </a:rPr>
              <a:t>HoTen</a:t>
            </a:r>
            <a:r>
              <a:rPr lang="it-IT" sz="1600" dirty="0">
                <a:uFillTx/>
                <a:latin typeface="Courier New" pitchFamily="49" charset="0"/>
                <a:cs typeface="Courier New" pitchFamily="49" charset="0"/>
              </a:rPr>
              <a:t>);</a:t>
            </a:r>
          </a:p>
          <a:p>
            <a:pPr marL="0" indent="0">
              <a:buNone/>
            </a:pPr>
            <a:r>
              <a:rPr lang="en-US" sz="1600" dirty="0">
                <a:uFillTx/>
                <a:latin typeface="Courier New" pitchFamily="49" charset="0"/>
                <a:cs typeface="Courier New" pitchFamily="49" charset="0"/>
              </a:rPr>
              <a:t>            </a:t>
            </a:r>
            <a:r>
              <a:rPr lang="en-US" sz="1600" dirty="0" err="1">
                <a:uFillTx/>
                <a:latin typeface="Courier New" pitchFamily="49" charset="0"/>
                <a:cs typeface="Courier New" pitchFamily="49" charset="0"/>
              </a:rPr>
              <a:t>Console.WriteLine</a:t>
            </a:r>
            <a:r>
              <a:rPr lang="en-US" sz="1600" dirty="0">
                <a:uFillTx/>
                <a:latin typeface="Courier New" pitchFamily="49" charset="0"/>
                <a:cs typeface="Courier New" pitchFamily="49" charset="0"/>
              </a:rPr>
              <a:t>("</a:t>
            </a:r>
            <a:r>
              <a:rPr lang="en-US" sz="1600" dirty="0" err="1">
                <a:uFillTx/>
                <a:latin typeface="Courier New" pitchFamily="49" charset="0"/>
                <a:cs typeface="Courier New" pitchFamily="49" charset="0"/>
              </a:rPr>
              <a:t>Ngay</a:t>
            </a:r>
            <a:r>
              <a:rPr lang="en-US" sz="1600" dirty="0">
                <a:uFillTx/>
                <a:latin typeface="Courier New" pitchFamily="49" charset="0"/>
                <a:cs typeface="Courier New" pitchFamily="49" charset="0"/>
              </a:rPr>
              <a:t> </a:t>
            </a:r>
            <a:r>
              <a:rPr lang="en-US" sz="1600" dirty="0" err="1">
                <a:uFillTx/>
                <a:latin typeface="Courier New" pitchFamily="49" charset="0"/>
                <a:cs typeface="Courier New" pitchFamily="49" charset="0"/>
              </a:rPr>
              <a:t>sinh</a:t>
            </a:r>
            <a:r>
              <a:rPr lang="en-US" sz="1600" dirty="0">
                <a:uFillTx/>
                <a:latin typeface="Courier New" pitchFamily="49" charset="0"/>
                <a:cs typeface="Courier New" pitchFamily="49" charset="0"/>
              </a:rPr>
              <a:t>: {0}/{1}/{2}", </a:t>
            </a:r>
            <a:r>
              <a:rPr lang="en-US" sz="1600" dirty="0" err="1">
                <a:uFillTx/>
                <a:latin typeface="Courier New" pitchFamily="49" charset="0"/>
                <a:cs typeface="Courier New" pitchFamily="49" charset="0"/>
              </a:rPr>
              <a:t>NgaySinh.Day,NgaySinh.Month,NgaySinh.Year</a:t>
            </a:r>
            <a:r>
              <a:rPr lang="en-US" sz="1600" dirty="0">
                <a:uFillTx/>
                <a:latin typeface="Courier New" pitchFamily="49" charset="0"/>
                <a:cs typeface="Courier New" pitchFamily="49" charset="0"/>
              </a:rPr>
              <a:t>);</a:t>
            </a:r>
          </a:p>
          <a:p>
            <a:pPr marL="0" indent="0">
              <a:buNone/>
            </a:pPr>
            <a:r>
              <a:rPr lang="en-US" sz="1600" dirty="0">
                <a:uFillTx/>
                <a:latin typeface="Courier New" pitchFamily="49" charset="0"/>
                <a:cs typeface="Courier New" pitchFamily="49" charset="0"/>
              </a:rPr>
              <a:t>            </a:t>
            </a:r>
            <a:r>
              <a:rPr lang="en-US" sz="1600" dirty="0" err="1">
                <a:uFillTx/>
                <a:latin typeface="Courier New" pitchFamily="49" charset="0"/>
                <a:cs typeface="Courier New" pitchFamily="49" charset="0"/>
              </a:rPr>
              <a:t>Console.WriteLine</a:t>
            </a:r>
            <a:r>
              <a:rPr lang="en-US" sz="1600" dirty="0">
                <a:uFillTx/>
                <a:latin typeface="Courier New" pitchFamily="49" charset="0"/>
                <a:cs typeface="Courier New" pitchFamily="49" charset="0"/>
              </a:rPr>
              <a:t>("Que </a:t>
            </a:r>
            <a:r>
              <a:rPr lang="en-US" sz="1600" dirty="0" err="1">
                <a:uFillTx/>
                <a:latin typeface="Courier New" pitchFamily="49" charset="0"/>
                <a:cs typeface="Courier New" pitchFamily="49" charset="0"/>
              </a:rPr>
              <a:t>quan</a:t>
            </a:r>
            <a:r>
              <a:rPr lang="en-US" sz="1600" dirty="0">
                <a:uFillTx/>
                <a:latin typeface="Courier New" pitchFamily="49" charset="0"/>
                <a:cs typeface="Courier New" pitchFamily="49" charset="0"/>
              </a:rPr>
              <a:t>: " +</a:t>
            </a:r>
            <a:r>
              <a:rPr lang="en-US" sz="1600" dirty="0" err="1">
                <a:uFillTx/>
                <a:latin typeface="Courier New" pitchFamily="49" charset="0"/>
                <a:cs typeface="Courier New" pitchFamily="49" charset="0"/>
              </a:rPr>
              <a:t>QueQuan</a:t>
            </a:r>
            <a:r>
              <a:rPr lang="en-US" sz="1600" dirty="0">
                <a:uFillTx/>
                <a:latin typeface="Courier New" pitchFamily="49" charset="0"/>
                <a:cs typeface="Courier New" pitchFamily="49" charset="0"/>
              </a:rPr>
              <a:t>);</a:t>
            </a:r>
          </a:p>
          <a:p>
            <a:pPr marL="0" indent="0">
              <a:buNone/>
            </a:pPr>
            <a:r>
              <a:rPr lang="en-US" sz="1600" dirty="0">
                <a:uFillTx/>
                <a:latin typeface="Courier New" pitchFamily="49" charset="0"/>
                <a:cs typeface="Courier New" pitchFamily="49" charset="0"/>
              </a:rPr>
              <a:t>        }</a:t>
            </a:r>
          </a:p>
          <a:p>
            <a:pPr marL="0" indent="0">
              <a:buNone/>
            </a:pPr>
            <a:r>
              <a:rPr lang="en-US" sz="1600" dirty="0">
                <a:uFillTx/>
                <a:latin typeface="Courier New" pitchFamily="49" charset="0"/>
                <a:cs typeface="Courier New" pitchFamily="49" charset="0"/>
              </a:rPr>
              <a:t>        </a:t>
            </a:r>
          </a:p>
          <a:p>
            <a:pPr marL="0" indent="0">
              <a:buNone/>
            </a:pPr>
            <a:r>
              <a:rPr lang="en-US" sz="1600" dirty="0">
                <a:uFillTx/>
                <a:latin typeface="Courier New" pitchFamily="49" charset="0"/>
                <a:cs typeface="Courier New" pitchFamily="49" charset="0"/>
              </a:rPr>
              <a:t>    }</a:t>
            </a:r>
          </a:p>
          <a:p>
            <a:pPr marL="0" indent="0">
              <a:buNone/>
            </a:pPr>
            <a:r>
              <a:rPr lang="en-US" sz="1600" b="1" dirty="0">
                <a:solidFill>
                  <a:srgbClr val="0000FF"/>
                </a:solidFill>
                <a:uFillTx/>
                <a:latin typeface="Courier New" pitchFamily="49" charset="0"/>
                <a:cs typeface="Courier New" pitchFamily="49" charset="0"/>
              </a:rPr>
              <a:t>class</a:t>
            </a:r>
            <a:r>
              <a:rPr lang="en-US" sz="1600" dirty="0">
                <a:uFillTx/>
                <a:latin typeface="Courier New" pitchFamily="49" charset="0"/>
                <a:cs typeface="Courier New" pitchFamily="49" charset="0"/>
              </a:rPr>
              <a:t> </a:t>
            </a:r>
            <a:r>
              <a:rPr lang="en-US" sz="1600" dirty="0" err="1">
                <a:solidFill>
                  <a:srgbClr val="C00000"/>
                </a:solidFill>
                <a:uFillTx/>
                <a:latin typeface="Courier New" pitchFamily="49" charset="0"/>
                <a:cs typeface="Courier New" pitchFamily="49" charset="0"/>
              </a:rPr>
              <a:t>SinhVien:Nguoi</a:t>
            </a:r>
            <a:endParaRPr lang="en-US" sz="1600" dirty="0">
              <a:solidFill>
                <a:srgbClr val="C00000"/>
              </a:solidFill>
              <a:uFillTx/>
              <a:latin typeface="Courier New" pitchFamily="49" charset="0"/>
              <a:cs typeface="Courier New" pitchFamily="49" charset="0"/>
            </a:endParaRPr>
          </a:p>
          <a:p>
            <a:pPr marL="0" indent="0">
              <a:buNone/>
            </a:pPr>
            <a:r>
              <a:rPr lang="en-US" sz="1600" dirty="0">
                <a:uFillTx/>
                <a:latin typeface="Courier New" pitchFamily="49" charset="0"/>
                <a:cs typeface="Courier New" pitchFamily="49" charset="0"/>
              </a:rPr>
              <a:t>    {</a:t>
            </a:r>
          </a:p>
          <a:p>
            <a:pPr marL="0" indent="0">
              <a:buNone/>
            </a:pPr>
            <a:r>
              <a:rPr lang="en-US" sz="1600" dirty="0">
                <a:uFillTx/>
                <a:latin typeface="Courier New" pitchFamily="49" charset="0"/>
                <a:cs typeface="Courier New" pitchFamily="49" charset="0"/>
              </a:rPr>
              <a:t>        </a:t>
            </a:r>
            <a:r>
              <a:rPr lang="en-US" sz="1600" dirty="0">
                <a:solidFill>
                  <a:srgbClr val="0000FF"/>
                </a:solidFill>
                <a:uFillTx/>
                <a:latin typeface="Courier New" pitchFamily="49" charset="0"/>
                <a:cs typeface="Courier New" pitchFamily="49" charset="0"/>
              </a:rPr>
              <a:t>public</a:t>
            </a:r>
            <a:r>
              <a:rPr lang="en-US" sz="1600" dirty="0">
                <a:uFillTx/>
                <a:latin typeface="Courier New" pitchFamily="49" charset="0"/>
                <a:cs typeface="Courier New" pitchFamily="49" charset="0"/>
              </a:rPr>
              <a:t> </a:t>
            </a:r>
            <a:r>
              <a:rPr lang="en-US" sz="1600" dirty="0">
                <a:solidFill>
                  <a:srgbClr val="0000FF"/>
                </a:solidFill>
                <a:uFillTx/>
                <a:latin typeface="Courier New" pitchFamily="49" charset="0"/>
                <a:cs typeface="Courier New" pitchFamily="49" charset="0"/>
              </a:rPr>
              <a:t>string</a:t>
            </a:r>
            <a:r>
              <a:rPr lang="en-US" sz="1600" dirty="0">
                <a:uFillTx/>
                <a:latin typeface="Courier New" pitchFamily="49" charset="0"/>
                <a:cs typeface="Courier New" pitchFamily="49" charset="0"/>
              </a:rPr>
              <a:t> </a:t>
            </a:r>
            <a:r>
              <a:rPr lang="en-US" sz="1600" dirty="0" err="1">
                <a:uFillTx/>
                <a:latin typeface="Courier New" pitchFamily="49" charset="0"/>
                <a:cs typeface="Courier New" pitchFamily="49" charset="0"/>
              </a:rPr>
              <a:t>MaSV</a:t>
            </a:r>
            <a:r>
              <a:rPr lang="en-US" sz="1600" dirty="0">
                <a:uFillTx/>
                <a:latin typeface="Courier New" pitchFamily="49" charset="0"/>
                <a:cs typeface="Courier New" pitchFamily="49" charset="0"/>
              </a:rPr>
              <a:t>;        </a:t>
            </a:r>
          </a:p>
          <a:p>
            <a:pPr marL="0" indent="0">
              <a:buNone/>
            </a:pPr>
            <a:r>
              <a:rPr lang="en-US" sz="1600" dirty="0">
                <a:uFillTx/>
                <a:latin typeface="Courier New" pitchFamily="49" charset="0"/>
                <a:cs typeface="Courier New" pitchFamily="49" charset="0"/>
              </a:rPr>
              <a:t>    }</a:t>
            </a:r>
          </a:p>
          <a:p>
            <a:pPr marL="0" lvl="2" indent="0" defTabSz="628650">
              <a:buNone/>
            </a:pPr>
            <a:endParaRPr lang="en-US" dirty="0">
              <a:uFillTx/>
            </a:endParaRPr>
          </a:p>
        </p:txBody>
      </p:sp>
      <p:sp>
        <p:nvSpPr>
          <p:cNvPr id="4" name="Date Placeholder 3"/>
          <p:cNvSpPr>
            <a:spLocks noGrp="1"/>
          </p:cNvSpPr>
          <p:nvPr>
            <p:ph type="dt" sz="half" idx="10"/>
          </p:nvPr>
        </p:nvSpPr>
        <p:spPr/>
        <p:txBody>
          <a:bodyPr/>
          <a:lstStyle/>
          <a:p>
            <a:fld id="{477BD1BB-629A-4797-ABBA-17EF2B19A12A}" type="datetime1">
              <a:rPr lang="vi-VN" smtClean="0">
                <a:uFillTx/>
              </a:rPr>
              <a:t>04/02/2025</a:t>
            </a:fld>
            <a:endParaRPr lang="vi-VN">
              <a:uFillTx/>
            </a:endParaRPr>
          </a:p>
        </p:txBody>
      </p:sp>
      <p:sp>
        <p:nvSpPr>
          <p:cNvPr id="5" name="Footer Placeholder 4"/>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uFillTx/>
              </a:rPr>
              <a:pPr/>
              <a:t>43</a:t>
            </a:fld>
            <a:r>
              <a:rPr lang="vi-VN">
                <a:uFillTx/>
              </a:rPr>
              <a:t>/28</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uFillTx/>
              </a:rPr>
              <a:t>Ví dụ - Kế thừa</a:t>
            </a:r>
          </a:p>
        </p:txBody>
      </p:sp>
      <p:sp>
        <p:nvSpPr>
          <p:cNvPr id="3" name="Content Placeholder 2"/>
          <p:cNvSpPr>
            <a:spLocks noGrp="1"/>
          </p:cNvSpPr>
          <p:nvPr>
            <p:ph idx="1"/>
          </p:nvPr>
        </p:nvSpPr>
        <p:spPr/>
        <p:txBody>
          <a:bodyPr>
            <a:normAutofit/>
          </a:bodyPr>
          <a:lstStyle/>
          <a:p>
            <a:pPr marL="0" indent="0">
              <a:buNone/>
            </a:pPr>
            <a:r>
              <a:rPr lang="en-US" sz="1400" b="1" dirty="0">
                <a:solidFill>
                  <a:srgbClr val="0000FF"/>
                </a:solidFill>
                <a:uFillTx/>
                <a:latin typeface="Courier New" pitchFamily="49" charset="0"/>
                <a:cs typeface="Courier New" pitchFamily="49" charset="0"/>
              </a:rPr>
              <a:t>class</a:t>
            </a:r>
            <a:r>
              <a:rPr lang="en-US" sz="1400" b="1" dirty="0">
                <a:uFillTx/>
                <a:latin typeface="Courier New" pitchFamily="49" charset="0"/>
                <a:cs typeface="Courier New" pitchFamily="49" charset="0"/>
              </a:rPr>
              <a:t> Program</a:t>
            </a:r>
          </a:p>
          <a:p>
            <a:pPr marL="0" indent="0">
              <a:buNone/>
            </a:pPr>
            <a:r>
              <a:rPr lang="en-US" sz="1400" b="1" dirty="0">
                <a:uFillTx/>
                <a:latin typeface="Courier New" pitchFamily="49" charset="0"/>
                <a:cs typeface="Courier New" pitchFamily="49" charset="0"/>
              </a:rPr>
              <a:t>    {</a:t>
            </a:r>
          </a:p>
          <a:p>
            <a:pPr marL="0" indent="0">
              <a:buNone/>
            </a:pPr>
            <a:r>
              <a:rPr lang="en-US" sz="1400" b="1" dirty="0">
                <a:uFillTx/>
                <a:latin typeface="Courier New" pitchFamily="49" charset="0"/>
                <a:cs typeface="Courier New" pitchFamily="49" charset="0"/>
              </a:rPr>
              <a:t>        </a:t>
            </a:r>
            <a:r>
              <a:rPr lang="en-US" sz="1400" b="1" dirty="0">
                <a:solidFill>
                  <a:srgbClr val="0000FF"/>
                </a:solidFill>
                <a:uFillTx/>
                <a:latin typeface="Courier New" pitchFamily="49" charset="0"/>
                <a:cs typeface="Courier New" pitchFamily="49" charset="0"/>
              </a:rPr>
              <a:t>static</a:t>
            </a:r>
            <a:r>
              <a:rPr lang="en-US" sz="1400" b="1" dirty="0">
                <a:uFillTx/>
                <a:latin typeface="Courier New" pitchFamily="49" charset="0"/>
                <a:cs typeface="Courier New" pitchFamily="49" charset="0"/>
              </a:rPr>
              <a:t> </a:t>
            </a:r>
            <a:r>
              <a:rPr lang="en-US" sz="1400" b="1" dirty="0">
                <a:solidFill>
                  <a:srgbClr val="0000FF"/>
                </a:solidFill>
                <a:uFillTx/>
                <a:latin typeface="Courier New" pitchFamily="49" charset="0"/>
                <a:cs typeface="Courier New" pitchFamily="49" charset="0"/>
              </a:rPr>
              <a:t>void</a:t>
            </a:r>
            <a:r>
              <a:rPr lang="en-US" sz="1400" b="1" dirty="0">
                <a:uFillTx/>
                <a:latin typeface="Courier New" pitchFamily="49" charset="0"/>
                <a:cs typeface="Courier New" pitchFamily="49" charset="0"/>
              </a:rPr>
              <a:t> Main(string[] </a:t>
            </a:r>
            <a:r>
              <a:rPr lang="en-US" sz="1400" b="1" dirty="0" err="1">
                <a:uFillTx/>
                <a:latin typeface="Courier New" pitchFamily="49" charset="0"/>
                <a:cs typeface="Courier New" pitchFamily="49" charset="0"/>
              </a:rPr>
              <a:t>args</a:t>
            </a:r>
            <a:r>
              <a:rPr lang="en-US" sz="1400" b="1" dirty="0">
                <a:uFillTx/>
                <a:latin typeface="Courier New" pitchFamily="49" charset="0"/>
                <a:cs typeface="Courier New" pitchFamily="49" charset="0"/>
              </a:rPr>
              <a:t>)</a:t>
            </a:r>
          </a:p>
          <a:p>
            <a:pPr marL="0" indent="0">
              <a:buNone/>
            </a:pPr>
            <a:r>
              <a:rPr lang="en-US" sz="1400" b="1" dirty="0">
                <a:uFillTx/>
                <a:latin typeface="Courier New" pitchFamily="49" charset="0"/>
                <a:cs typeface="Courier New" pitchFamily="49" charset="0"/>
              </a:rPr>
              <a:t>        {   </a:t>
            </a:r>
            <a:r>
              <a:rPr lang="en-US" sz="1400" b="1" dirty="0" err="1">
                <a:uFillTx/>
                <a:latin typeface="Courier New" pitchFamily="49" charset="0"/>
                <a:cs typeface="Courier New" pitchFamily="49" charset="0"/>
              </a:rPr>
              <a:t>Nguoi</a:t>
            </a:r>
            <a:r>
              <a:rPr lang="en-US" sz="1400" b="1" dirty="0">
                <a:uFillTx/>
                <a:latin typeface="Courier New" pitchFamily="49" charset="0"/>
                <a:cs typeface="Courier New" pitchFamily="49" charset="0"/>
              </a:rPr>
              <a:t> P1 = </a:t>
            </a:r>
            <a:r>
              <a:rPr lang="en-US" sz="1400" b="1" dirty="0">
                <a:solidFill>
                  <a:srgbClr val="0000FF"/>
                </a:solidFill>
                <a:uFillTx/>
                <a:latin typeface="Courier New" pitchFamily="49" charset="0"/>
                <a:cs typeface="Courier New" pitchFamily="49" charset="0"/>
              </a:rPr>
              <a:t>new</a:t>
            </a:r>
            <a:r>
              <a:rPr lang="en-US" sz="1400" b="1" dirty="0">
                <a:uFillTx/>
                <a:latin typeface="Courier New" pitchFamily="49" charset="0"/>
                <a:cs typeface="Courier New" pitchFamily="49" charset="0"/>
              </a:rPr>
              <a:t> </a:t>
            </a:r>
            <a:r>
              <a:rPr lang="en-US" sz="1400" b="1" dirty="0" err="1">
                <a:uFillTx/>
                <a:latin typeface="Courier New" pitchFamily="49" charset="0"/>
                <a:cs typeface="Courier New" pitchFamily="49" charset="0"/>
              </a:rPr>
              <a:t>Nguoi</a:t>
            </a:r>
            <a:r>
              <a:rPr lang="en-US" sz="1400" b="1" dirty="0">
                <a:uFillTx/>
                <a:latin typeface="Courier New" pitchFamily="49" charset="0"/>
                <a:cs typeface="Courier New" pitchFamily="49" charset="0"/>
              </a:rPr>
              <a:t>();</a:t>
            </a:r>
          </a:p>
          <a:p>
            <a:pPr marL="0" indent="0">
              <a:buNone/>
            </a:pPr>
            <a:r>
              <a:rPr lang="en-US" sz="1400" b="1" dirty="0">
                <a:uFillTx/>
                <a:latin typeface="Courier New" pitchFamily="49" charset="0"/>
                <a:cs typeface="Courier New" pitchFamily="49" charset="0"/>
              </a:rPr>
              <a:t>            P1.HoTen = "Nguyen Van A";</a:t>
            </a:r>
          </a:p>
          <a:p>
            <a:pPr marL="0" indent="0">
              <a:buNone/>
            </a:pPr>
            <a:r>
              <a:rPr lang="en-US" sz="1400" b="1" dirty="0">
                <a:uFillTx/>
                <a:latin typeface="Courier New" pitchFamily="49" charset="0"/>
                <a:cs typeface="Courier New" pitchFamily="49" charset="0"/>
              </a:rPr>
              <a:t>            P1.NgaySinh = </a:t>
            </a:r>
            <a:r>
              <a:rPr lang="en-US" sz="1400" b="1" dirty="0" err="1">
                <a:uFillTx/>
                <a:latin typeface="Courier New" pitchFamily="49" charset="0"/>
                <a:cs typeface="Courier New" pitchFamily="49" charset="0"/>
              </a:rPr>
              <a:t>Convert.ToDateTime</a:t>
            </a:r>
            <a:r>
              <a:rPr lang="en-US" sz="1400" b="1" dirty="0">
                <a:uFillTx/>
                <a:latin typeface="Courier New" pitchFamily="49" charset="0"/>
                <a:cs typeface="Courier New" pitchFamily="49" charset="0"/>
              </a:rPr>
              <a:t>("3/9/1994");</a:t>
            </a:r>
          </a:p>
          <a:p>
            <a:pPr marL="0" indent="0">
              <a:buNone/>
            </a:pPr>
            <a:r>
              <a:rPr lang="en-US" sz="1400" b="1" dirty="0">
                <a:uFillTx/>
                <a:latin typeface="Courier New" pitchFamily="49" charset="0"/>
                <a:cs typeface="Courier New" pitchFamily="49" charset="0"/>
              </a:rPr>
              <a:t>            P1.QueQuan = "Ha </a:t>
            </a:r>
            <a:r>
              <a:rPr lang="en-US" sz="1400" b="1" dirty="0" err="1">
                <a:uFillTx/>
                <a:latin typeface="Courier New" pitchFamily="49" charset="0"/>
                <a:cs typeface="Courier New" pitchFamily="49" charset="0"/>
              </a:rPr>
              <a:t>Noi</a:t>
            </a:r>
            <a:r>
              <a:rPr lang="en-US" sz="1400" b="1" dirty="0">
                <a:uFillTx/>
                <a:latin typeface="Courier New" pitchFamily="49" charset="0"/>
                <a:cs typeface="Courier New" pitchFamily="49" charset="0"/>
              </a:rPr>
              <a:t>";</a:t>
            </a:r>
          </a:p>
          <a:p>
            <a:pPr marL="0" indent="0">
              <a:buNone/>
            </a:pPr>
            <a:r>
              <a:rPr lang="en-US" sz="1400" b="1" dirty="0">
                <a:uFillTx/>
                <a:latin typeface="Courier New" pitchFamily="49" charset="0"/>
                <a:cs typeface="Courier New" pitchFamily="49" charset="0"/>
              </a:rPr>
              <a:t>            </a:t>
            </a:r>
            <a:r>
              <a:rPr lang="en-US" sz="1400" b="1" dirty="0" err="1">
                <a:uFillTx/>
                <a:latin typeface="Courier New" pitchFamily="49" charset="0"/>
                <a:cs typeface="Courier New" pitchFamily="49" charset="0"/>
              </a:rPr>
              <a:t>Console.WriteLine</a:t>
            </a:r>
            <a:r>
              <a:rPr lang="en-US" sz="1400" b="1" dirty="0">
                <a:uFillTx/>
                <a:latin typeface="Courier New" pitchFamily="49" charset="0"/>
                <a:cs typeface="Courier New" pitchFamily="49" charset="0"/>
              </a:rPr>
              <a:t>("Thong tin </a:t>
            </a:r>
            <a:r>
              <a:rPr lang="en-US" sz="1400" b="1" dirty="0" err="1">
                <a:uFillTx/>
                <a:latin typeface="Courier New" pitchFamily="49" charset="0"/>
                <a:cs typeface="Courier New" pitchFamily="49" charset="0"/>
              </a:rPr>
              <a:t>cua</a:t>
            </a:r>
            <a:r>
              <a:rPr lang="en-US" sz="1400" b="1" dirty="0">
                <a:uFillTx/>
                <a:latin typeface="Courier New" pitchFamily="49" charset="0"/>
                <a:cs typeface="Courier New" pitchFamily="49" charset="0"/>
              </a:rPr>
              <a:t> </a:t>
            </a:r>
            <a:r>
              <a:rPr lang="en-US" sz="1400" b="1" dirty="0" err="1">
                <a:uFillTx/>
                <a:latin typeface="Courier New" pitchFamily="49" charset="0"/>
                <a:cs typeface="Courier New" pitchFamily="49" charset="0"/>
              </a:rPr>
              <a:t>nguoi</a:t>
            </a:r>
            <a:r>
              <a:rPr lang="en-US" sz="1400" b="1" dirty="0">
                <a:uFillTx/>
                <a:latin typeface="Courier New" pitchFamily="49" charset="0"/>
                <a:cs typeface="Courier New" pitchFamily="49" charset="0"/>
              </a:rPr>
              <a:t>: ");</a:t>
            </a:r>
          </a:p>
          <a:p>
            <a:pPr marL="0" indent="0">
              <a:buNone/>
            </a:pPr>
            <a:r>
              <a:rPr lang="en-US" sz="1400" b="1" dirty="0">
                <a:uFillTx/>
                <a:latin typeface="Courier New" pitchFamily="49" charset="0"/>
                <a:cs typeface="Courier New" pitchFamily="49" charset="0"/>
              </a:rPr>
              <a:t>            </a:t>
            </a:r>
            <a:r>
              <a:rPr lang="en-US" sz="1400" b="1" dirty="0">
                <a:solidFill>
                  <a:srgbClr val="0000FF"/>
                </a:solidFill>
                <a:uFillTx/>
                <a:latin typeface="Courier New" pitchFamily="49" charset="0"/>
                <a:cs typeface="Courier New" pitchFamily="49" charset="0"/>
              </a:rPr>
              <a:t>P1.Xuat();</a:t>
            </a:r>
          </a:p>
          <a:p>
            <a:pPr marL="0" indent="0">
              <a:buNone/>
            </a:pPr>
            <a:r>
              <a:rPr lang="en-US" sz="1400" b="1" dirty="0">
                <a:uFillTx/>
                <a:latin typeface="Courier New" pitchFamily="49" charset="0"/>
                <a:cs typeface="Courier New" pitchFamily="49" charset="0"/>
              </a:rPr>
              <a:t>            </a:t>
            </a:r>
            <a:r>
              <a:rPr lang="en-US" sz="1400" b="1" dirty="0" err="1">
                <a:uFillTx/>
                <a:latin typeface="Courier New" pitchFamily="49" charset="0"/>
                <a:cs typeface="Courier New" pitchFamily="49" charset="0"/>
              </a:rPr>
              <a:t>SinhVien</a:t>
            </a:r>
            <a:r>
              <a:rPr lang="en-US" sz="1400" b="1" dirty="0">
                <a:uFillTx/>
                <a:latin typeface="Courier New" pitchFamily="49" charset="0"/>
                <a:cs typeface="Courier New" pitchFamily="49" charset="0"/>
              </a:rPr>
              <a:t> sv1 = </a:t>
            </a:r>
            <a:r>
              <a:rPr lang="en-US" sz="1400" b="1" dirty="0">
                <a:solidFill>
                  <a:srgbClr val="0000FF"/>
                </a:solidFill>
                <a:uFillTx/>
                <a:latin typeface="Courier New" pitchFamily="49" charset="0"/>
                <a:cs typeface="Courier New" pitchFamily="49" charset="0"/>
              </a:rPr>
              <a:t>new</a:t>
            </a:r>
            <a:r>
              <a:rPr lang="en-US" sz="1400" b="1" dirty="0">
                <a:uFillTx/>
                <a:latin typeface="Courier New" pitchFamily="49" charset="0"/>
                <a:cs typeface="Courier New" pitchFamily="49" charset="0"/>
              </a:rPr>
              <a:t> </a:t>
            </a:r>
            <a:r>
              <a:rPr lang="en-US" sz="1400" b="1" dirty="0" err="1">
                <a:uFillTx/>
                <a:latin typeface="Courier New" pitchFamily="49" charset="0"/>
                <a:cs typeface="Courier New" pitchFamily="49" charset="0"/>
              </a:rPr>
              <a:t>SinhVien</a:t>
            </a:r>
            <a:r>
              <a:rPr lang="en-US" sz="1400" b="1" dirty="0">
                <a:uFillTx/>
                <a:latin typeface="Courier New" pitchFamily="49" charset="0"/>
                <a:cs typeface="Courier New" pitchFamily="49" charset="0"/>
              </a:rPr>
              <a:t>();</a:t>
            </a:r>
          </a:p>
          <a:p>
            <a:pPr marL="0" indent="0">
              <a:buNone/>
            </a:pPr>
            <a:r>
              <a:rPr lang="en-US" sz="1400" b="1" dirty="0">
                <a:uFillTx/>
                <a:latin typeface="Courier New" pitchFamily="49" charset="0"/>
                <a:cs typeface="Courier New" pitchFamily="49" charset="0"/>
              </a:rPr>
              <a:t>            sv1.HoTen = "Nguyen Van B";</a:t>
            </a:r>
          </a:p>
          <a:p>
            <a:pPr marL="0" indent="0">
              <a:buNone/>
            </a:pPr>
            <a:r>
              <a:rPr lang="en-US" sz="1400" b="1" dirty="0">
                <a:uFillTx/>
                <a:latin typeface="Courier New" pitchFamily="49" charset="0"/>
                <a:cs typeface="Courier New" pitchFamily="49" charset="0"/>
              </a:rPr>
              <a:t>            sv1.NgaySinh = </a:t>
            </a:r>
            <a:r>
              <a:rPr lang="en-US" sz="1400" b="1" dirty="0" err="1">
                <a:uFillTx/>
                <a:latin typeface="Courier New" pitchFamily="49" charset="0"/>
                <a:cs typeface="Courier New" pitchFamily="49" charset="0"/>
              </a:rPr>
              <a:t>Convert.ToDateTime</a:t>
            </a:r>
            <a:r>
              <a:rPr lang="en-US" sz="1400" b="1" dirty="0">
                <a:uFillTx/>
                <a:latin typeface="Courier New" pitchFamily="49" charset="0"/>
                <a:cs typeface="Courier New" pitchFamily="49" charset="0"/>
              </a:rPr>
              <a:t>("30/9/1994");</a:t>
            </a:r>
          </a:p>
          <a:p>
            <a:pPr marL="0" indent="0">
              <a:buNone/>
            </a:pPr>
            <a:r>
              <a:rPr lang="en-US" sz="1400" b="1" dirty="0">
                <a:uFillTx/>
                <a:latin typeface="Courier New" pitchFamily="49" charset="0"/>
                <a:cs typeface="Courier New" pitchFamily="49" charset="0"/>
              </a:rPr>
              <a:t>            sv1.QueQuan = "Thai </a:t>
            </a:r>
            <a:r>
              <a:rPr lang="en-US" sz="1400" b="1" dirty="0" err="1">
                <a:uFillTx/>
                <a:latin typeface="Courier New" pitchFamily="49" charset="0"/>
                <a:cs typeface="Courier New" pitchFamily="49" charset="0"/>
              </a:rPr>
              <a:t>Binh</a:t>
            </a:r>
            <a:r>
              <a:rPr lang="en-US" sz="1400" b="1" dirty="0">
                <a:uFillTx/>
                <a:latin typeface="Courier New" pitchFamily="49" charset="0"/>
                <a:cs typeface="Courier New" pitchFamily="49" charset="0"/>
              </a:rPr>
              <a:t>";</a:t>
            </a:r>
          </a:p>
          <a:p>
            <a:pPr marL="0" indent="0">
              <a:buNone/>
            </a:pPr>
            <a:r>
              <a:rPr lang="en-US" sz="1400" b="1" dirty="0">
                <a:uFillTx/>
                <a:latin typeface="Courier New" pitchFamily="49" charset="0"/>
                <a:cs typeface="Courier New" pitchFamily="49" charset="0"/>
              </a:rPr>
              <a:t>            sv1.MaSV = "15A4040011";</a:t>
            </a:r>
          </a:p>
          <a:p>
            <a:pPr marL="0" indent="0">
              <a:buNone/>
            </a:pPr>
            <a:r>
              <a:rPr lang="en-US" sz="1400" b="1" dirty="0">
                <a:uFillTx/>
                <a:latin typeface="Courier New" pitchFamily="49" charset="0"/>
                <a:cs typeface="Courier New" pitchFamily="49" charset="0"/>
              </a:rPr>
              <a:t>            </a:t>
            </a:r>
            <a:r>
              <a:rPr lang="en-US" sz="1400" b="1" dirty="0" err="1">
                <a:uFillTx/>
                <a:latin typeface="Courier New" pitchFamily="49" charset="0"/>
                <a:cs typeface="Courier New" pitchFamily="49" charset="0"/>
              </a:rPr>
              <a:t>Console.WriteLine</a:t>
            </a:r>
            <a:r>
              <a:rPr lang="en-US" sz="1400" b="1" dirty="0">
                <a:uFillTx/>
                <a:latin typeface="Courier New" pitchFamily="49" charset="0"/>
                <a:cs typeface="Courier New" pitchFamily="49" charset="0"/>
              </a:rPr>
              <a:t>("\</a:t>
            </a:r>
            <a:r>
              <a:rPr lang="en-US" sz="1400" b="1" dirty="0" err="1">
                <a:uFillTx/>
                <a:latin typeface="Courier New" pitchFamily="49" charset="0"/>
                <a:cs typeface="Courier New" pitchFamily="49" charset="0"/>
              </a:rPr>
              <a:t>nThong</a:t>
            </a:r>
            <a:r>
              <a:rPr lang="en-US" sz="1400" b="1" dirty="0">
                <a:uFillTx/>
                <a:latin typeface="Courier New" pitchFamily="49" charset="0"/>
                <a:cs typeface="Courier New" pitchFamily="49" charset="0"/>
              </a:rPr>
              <a:t> tin </a:t>
            </a:r>
            <a:r>
              <a:rPr lang="en-US" sz="1400" b="1" dirty="0" err="1">
                <a:uFillTx/>
                <a:latin typeface="Courier New" pitchFamily="49" charset="0"/>
                <a:cs typeface="Courier New" pitchFamily="49" charset="0"/>
              </a:rPr>
              <a:t>cua</a:t>
            </a:r>
            <a:r>
              <a:rPr lang="en-US" sz="1400" b="1" dirty="0">
                <a:uFillTx/>
                <a:latin typeface="Courier New" pitchFamily="49" charset="0"/>
                <a:cs typeface="Courier New" pitchFamily="49" charset="0"/>
              </a:rPr>
              <a:t> </a:t>
            </a:r>
            <a:r>
              <a:rPr lang="en-US" sz="1400" b="1" dirty="0" err="1">
                <a:uFillTx/>
                <a:latin typeface="Courier New" pitchFamily="49" charset="0"/>
                <a:cs typeface="Courier New" pitchFamily="49" charset="0"/>
              </a:rPr>
              <a:t>sinh</a:t>
            </a:r>
            <a:r>
              <a:rPr lang="en-US" sz="1400" b="1" dirty="0">
                <a:uFillTx/>
                <a:latin typeface="Courier New" pitchFamily="49" charset="0"/>
                <a:cs typeface="Courier New" pitchFamily="49" charset="0"/>
              </a:rPr>
              <a:t> </a:t>
            </a:r>
            <a:r>
              <a:rPr lang="en-US" sz="1400" b="1" dirty="0" err="1">
                <a:uFillTx/>
                <a:latin typeface="Courier New" pitchFamily="49" charset="0"/>
                <a:cs typeface="Courier New" pitchFamily="49" charset="0"/>
              </a:rPr>
              <a:t>vien</a:t>
            </a:r>
            <a:r>
              <a:rPr lang="en-US" sz="1400" b="1" dirty="0">
                <a:uFillTx/>
                <a:latin typeface="Courier New" pitchFamily="49" charset="0"/>
                <a:cs typeface="Courier New" pitchFamily="49" charset="0"/>
              </a:rPr>
              <a:t>: ");</a:t>
            </a:r>
          </a:p>
          <a:p>
            <a:pPr marL="0" indent="0">
              <a:buNone/>
            </a:pPr>
            <a:r>
              <a:rPr lang="en-US" sz="1400" b="1" dirty="0">
                <a:uFillTx/>
                <a:latin typeface="Courier New" pitchFamily="49" charset="0"/>
                <a:cs typeface="Courier New" pitchFamily="49" charset="0"/>
              </a:rPr>
              <a:t>           </a:t>
            </a:r>
            <a:r>
              <a:rPr lang="en-US" sz="1400" b="1" dirty="0">
                <a:solidFill>
                  <a:srgbClr val="0000FF"/>
                </a:solidFill>
                <a:uFillTx/>
                <a:latin typeface="Courier New" pitchFamily="49" charset="0"/>
                <a:cs typeface="Courier New" pitchFamily="49" charset="0"/>
              </a:rPr>
              <a:t> sv1.Xuat();</a:t>
            </a:r>
          </a:p>
          <a:p>
            <a:pPr marL="0" indent="0">
              <a:buNone/>
            </a:pPr>
            <a:r>
              <a:rPr lang="it-IT" sz="1400" b="1" dirty="0">
                <a:uFillTx/>
                <a:latin typeface="Courier New" pitchFamily="49" charset="0"/>
                <a:cs typeface="Courier New" pitchFamily="49" charset="0"/>
              </a:rPr>
              <a:t>            Console.WriteLine("Ma sinh vien: " + </a:t>
            </a:r>
            <a:r>
              <a:rPr lang="it-IT" sz="1400" b="1" dirty="0">
                <a:latin typeface="Courier New" pitchFamily="49" charset="0"/>
                <a:cs typeface="Courier New" pitchFamily="49" charset="0"/>
              </a:rPr>
              <a:t>sv1</a:t>
            </a:r>
            <a:r>
              <a:rPr lang="it-IT" sz="1400" b="1" dirty="0">
                <a:uFillTx/>
                <a:latin typeface="Courier New" pitchFamily="49" charset="0"/>
                <a:cs typeface="Courier New" pitchFamily="49" charset="0"/>
              </a:rPr>
              <a:t>.MaSV);</a:t>
            </a:r>
          </a:p>
          <a:p>
            <a:pPr marL="0" indent="0">
              <a:buNone/>
            </a:pPr>
            <a:r>
              <a:rPr lang="en-US" sz="1400" b="1" dirty="0">
                <a:uFillTx/>
                <a:latin typeface="Courier New" pitchFamily="49" charset="0"/>
                <a:cs typeface="Courier New" pitchFamily="49" charset="0"/>
              </a:rPr>
              <a:t>            </a:t>
            </a:r>
            <a:r>
              <a:rPr lang="en-US" sz="1400" b="1" dirty="0" err="1">
                <a:uFillTx/>
                <a:latin typeface="Courier New" pitchFamily="49" charset="0"/>
                <a:cs typeface="Courier New" pitchFamily="49" charset="0"/>
              </a:rPr>
              <a:t>Console.ReadLine</a:t>
            </a:r>
            <a:r>
              <a:rPr lang="en-US" sz="1400" b="1" dirty="0">
                <a:uFillTx/>
                <a:latin typeface="Courier New" pitchFamily="49" charset="0"/>
                <a:cs typeface="Courier New" pitchFamily="49" charset="0"/>
              </a:rPr>
              <a:t>();</a:t>
            </a:r>
          </a:p>
          <a:p>
            <a:pPr marL="0" indent="0">
              <a:buNone/>
            </a:pPr>
            <a:r>
              <a:rPr lang="en-US" sz="1400" b="1" dirty="0">
                <a:uFillTx/>
                <a:latin typeface="Courier New" pitchFamily="49" charset="0"/>
                <a:cs typeface="Courier New" pitchFamily="49" charset="0"/>
              </a:rPr>
              <a:t>        }</a:t>
            </a:r>
          </a:p>
          <a:p>
            <a:pPr marL="0" indent="0">
              <a:buNone/>
            </a:pPr>
            <a:r>
              <a:rPr lang="en-US" sz="1400" b="1" dirty="0">
                <a:uFillTx/>
                <a:latin typeface="Courier New" pitchFamily="49" charset="0"/>
                <a:cs typeface="Courier New" pitchFamily="49" charset="0"/>
              </a:rPr>
              <a:t>    }</a:t>
            </a:r>
          </a:p>
        </p:txBody>
      </p:sp>
      <p:sp>
        <p:nvSpPr>
          <p:cNvPr id="4" name="Date Placeholder 3"/>
          <p:cNvSpPr>
            <a:spLocks noGrp="1"/>
          </p:cNvSpPr>
          <p:nvPr>
            <p:ph type="dt" sz="half" idx="10"/>
          </p:nvPr>
        </p:nvSpPr>
        <p:spPr/>
        <p:txBody>
          <a:bodyPr/>
          <a:lstStyle/>
          <a:p>
            <a:fld id="{27779511-C662-4E6F-9A11-1C60680DA776}" type="datetime1">
              <a:rPr lang="vi-VN" smtClean="0">
                <a:uFillTx/>
              </a:rPr>
              <a:t>04/02/2025</a:t>
            </a:fld>
            <a:endParaRPr lang="vi-VN">
              <a:uFillTx/>
            </a:endParaRPr>
          </a:p>
        </p:txBody>
      </p:sp>
      <p:sp>
        <p:nvSpPr>
          <p:cNvPr id="5" name="Footer Placeholder 4"/>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uFillTx/>
              </a:rPr>
              <a:pPr/>
              <a:t>44</a:t>
            </a:fld>
            <a:r>
              <a:rPr lang="vi-VN">
                <a:uFillTx/>
              </a:rPr>
              <a:t>/28</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uFillTx/>
              </a:rPr>
              <a:t>Gọi phương thức tạo lập</a:t>
            </a:r>
          </a:p>
        </p:txBody>
      </p:sp>
      <p:sp>
        <p:nvSpPr>
          <p:cNvPr id="3" name="Content Placeholder 2"/>
          <p:cNvSpPr>
            <a:spLocks noGrp="1"/>
          </p:cNvSpPr>
          <p:nvPr>
            <p:ph idx="1"/>
          </p:nvPr>
        </p:nvSpPr>
        <p:spPr/>
        <p:txBody>
          <a:bodyPr>
            <a:normAutofit lnSpcReduction="10000"/>
          </a:bodyPr>
          <a:lstStyle/>
          <a:p>
            <a:r>
              <a:rPr lang="en-US">
                <a:uFillTx/>
              </a:rPr>
              <a:t>Phương thức tạo lập trong lớp dẫn xuất</a:t>
            </a:r>
          </a:p>
          <a:p>
            <a:pPr lvl="1"/>
            <a:r>
              <a:rPr lang="en-US">
                <a:uFillTx/>
              </a:rPr>
              <a:t>Nếu lớp cơ sở không có phương thức tạo lập hoặc có phương thức tạo lập không có tham số thì phương thức tạo lập ở lớp dẫn xuất được định nghĩa như cách thông thường</a:t>
            </a:r>
          </a:p>
          <a:p>
            <a:pPr lvl="1"/>
            <a:r>
              <a:rPr lang="en-US">
                <a:uFillTx/>
              </a:rPr>
              <a:t>Nếu lớp cơ sở phương thức tạo lập có tham số thì phương thức tạo lập của lớp dẫn xuất cũng phải có tham số</a:t>
            </a:r>
          </a:p>
          <a:p>
            <a:pPr lvl="1"/>
            <a:r>
              <a:rPr lang="en-US">
                <a:uFillTx/>
              </a:rPr>
              <a:t>Cú pháp:</a:t>
            </a:r>
          </a:p>
          <a:p>
            <a:pPr marL="471487" lvl="1" indent="0">
              <a:buNone/>
            </a:pPr>
            <a:r>
              <a:rPr lang="en-US">
                <a:uFillTx/>
              </a:rPr>
              <a:t>&lt;Tên lớp dẫn xuất&gt;</a:t>
            </a:r>
            <a:r>
              <a:rPr lang="en-US" b="1">
                <a:solidFill>
                  <a:srgbClr val="FF0000"/>
                </a:solidFill>
                <a:uFillTx/>
              </a:rPr>
              <a:t>(</a:t>
            </a:r>
            <a:r>
              <a:rPr lang="en-US">
                <a:uFillTx/>
              </a:rPr>
              <a:t>Tham số lớp dẫn xuất</a:t>
            </a:r>
            <a:r>
              <a:rPr lang="en-US" b="1">
                <a:solidFill>
                  <a:srgbClr val="FF0000"/>
                </a:solidFill>
                <a:uFillTx/>
              </a:rPr>
              <a:t>): </a:t>
            </a:r>
            <a:r>
              <a:rPr lang="en-US" b="1">
                <a:solidFill>
                  <a:schemeClr val="tx1">
                    <a:lumMod val="95000"/>
                    <a:lumOff val="5000"/>
                  </a:schemeClr>
                </a:solidFill>
                <a:uFillTx/>
              </a:rPr>
              <a:t>base</a:t>
            </a:r>
            <a:r>
              <a:rPr lang="en-US">
                <a:solidFill>
                  <a:srgbClr val="FF0000"/>
                </a:solidFill>
                <a:uFillTx/>
              </a:rPr>
              <a:t>(</a:t>
            </a:r>
            <a:r>
              <a:rPr lang="en-US">
                <a:uFillTx/>
              </a:rPr>
              <a:t>tham số lớp cơ sở</a:t>
            </a:r>
            <a:r>
              <a:rPr lang="en-US">
                <a:solidFill>
                  <a:srgbClr val="FF0000"/>
                </a:solidFill>
                <a:uFillTx/>
              </a:rPr>
              <a:t>)</a:t>
            </a:r>
          </a:p>
          <a:p>
            <a:pPr lvl="1"/>
            <a:r>
              <a:rPr lang="en-US">
                <a:uFillTx/>
              </a:rPr>
              <a:t>Truy xuất đến các thành phần của lớp cơ sở:</a:t>
            </a:r>
          </a:p>
          <a:p>
            <a:pPr marL="471487" lvl="1" indent="0">
              <a:buNone/>
            </a:pPr>
            <a:r>
              <a:rPr lang="en-US">
                <a:solidFill>
                  <a:srgbClr val="FF0000"/>
                </a:solidFill>
                <a:uFillTx/>
              </a:rPr>
              <a:t>	</a:t>
            </a:r>
            <a:r>
              <a:rPr lang="en-US" b="1">
                <a:solidFill>
                  <a:schemeClr val="tx1">
                    <a:lumMod val="95000"/>
                    <a:lumOff val="5000"/>
                  </a:schemeClr>
                </a:solidFill>
                <a:uFillTx/>
              </a:rPr>
              <a:t>base.TênThànhPhần</a:t>
            </a:r>
          </a:p>
        </p:txBody>
      </p:sp>
      <p:sp>
        <p:nvSpPr>
          <p:cNvPr id="4" name="Date Placeholder 3"/>
          <p:cNvSpPr>
            <a:spLocks noGrp="1"/>
          </p:cNvSpPr>
          <p:nvPr>
            <p:ph type="dt" sz="half" idx="10"/>
          </p:nvPr>
        </p:nvSpPr>
        <p:spPr/>
        <p:txBody>
          <a:bodyPr/>
          <a:lstStyle/>
          <a:p>
            <a:fld id="{4B2E7C2A-FBF0-403D-9FA5-480A90E8409A}" type="datetime1">
              <a:rPr lang="vi-VN" smtClean="0">
                <a:uFillTx/>
              </a:rPr>
              <a:t>04/02/2025</a:t>
            </a:fld>
            <a:endParaRPr lang="vi-VN">
              <a:uFillTx/>
            </a:endParaRPr>
          </a:p>
        </p:txBody>
      </p:sp>
      <p:sp>
        <p:nvSpPr>
          <p:cNvPr id="5" name="Footer Placeholder 4"/>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uFillTx/>
              </a:rPr>
              <a:pPr/>
              <a:t>45</a:t>
            </a:fld>
            <a:r>
              <a:rPr lang="vi-VN">
                <a:uFillTx/>
              </a:rPr>
              <a:t>/28</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uFillTx/>
              </a:rPr>
              <a:t>Ví dụ - Phương thức tạo lập</a:t>
            </a:r>
          </a:p>
        </p:txBody>
      </p:sp>
      <p:sp>
        <p:nvSpPr>
          <p:cNvPr id="3" name="Content Placeholder 2"/>
          <p:cNvSpPr>
            <a:spLocks noGrp="1"/>
          </p:cNvSpPr>
          <p:nvPr>
            <p:ph idx="1"/>
          </p:nvPr>
        </p:nvSpPr>
        <p:spPr/>
        <p:txBody>
          <a:bodyPr>
            <a:normAutofit lnSpcReduction="10000"/>
          </a:bodyPr>
          <a:lstStyle/>
          <a:p>
            <a:r>
              <a:rPr lang="en-US" dirty="0" err="1">
                <a:uFillTx/>
              </a:rPr>
              <a:t>Xây</a:t>
            </a:r>
            <a:r>
              <a:rPr lang="en-US" dirty="0">
                <a:uFillTx/>
              </a:rPr>
              <a:t> </a:t>
            </a:r>
            <a:r>
              <a:rPr lang="en-US" dirty="0" err="1">
                <a:uFillTx/>
              </a:rPr>
              <a:t>dựng</a:t>
            </a:r>
            <a:r>
              <a:rPr lang="en-US" dirty="0">
                <a:uFillTx/>
              </a:rPr>
              <a:t> </a:t>
            </a:r>
            <a:r>
              <a:rPr lang="en-US" dirty="0" err="1">
                <a:uFillTx/>
              </a:rPr>
              <a:t>phương</a:t>
            </a:r>
            <a:r>
              <a:rPr lang="en-US" dirty="0">
                <a:uFillTx/>
              </a:rPr>
              <a:t> </a:t>
            </a:r>
            <a:r>
              <a:rPr lang="en-US" dirty="0" err="1">
                <a:uFillTx/>
              </a:rPr>
              <a:t>thức</a:t>
            </a:r>
            <a:r>
              <a:rPr lang="en-US" dirty="0">
                <a:uFillTx/>
              </a:rPr>
              <a:t> </a:t>
            </a:r>
            <a:r>
              <a:rPr lang="en-US" dirty="0" err="1">
                <a:uFillTx/>
              </a:rPr>
              <a:t>tạo</a:t>
            </a:r>
            <a:r>
              <a:rPr lang="en-US" dirty="0">
                <a:uFillTx/>
              </a:rPr>
              <a:t> </a:t>
            </a:r>
            <a:r>
              <a:rPr lang="en-US" dirty="0" err="1">
                <a:uFillTx/>
              </a:rPr>
              <a:t>lập</a:t>
            </a:r>
            <a:r>
              <a:rPr lang="en-US" dirty="0">
                <a:uFillTx/>
              </a:rPr>
              <a:t> </a:t>
            </a:r>
            <a:r>
              <a:rPr lang="en-US" dirty="0" err="1">
                <a:uFillTx/>
              </a:rPr>
              <a:t>cho</a:t>
            </a:r>
            <a:r>
              <a:rPr lang="en-US" dirty="0">
                <a:uFillTx/>
              </a:rPr>
              <a:t> </a:t>
            </a:r>
            <a:r>
              <a:rPr lang="en-US" dirty="0" err="1">
                <a:uFillTx/>
              </a:rPr>
              <a:t>lớp</a:t>
            </a:r>
            <a:r>
              <a:rPr lang="en-US" dirty="0">
                <a:uFillTx/>
              </a:rPr>
              <a:t> </a:t>
            </a:r>
            <a:r>
              <a:rPr lang="en-US" dirty="0" err="1">
                <a:uFillTx/>
              </a:rPr>
              <a:t>Nguoi</a:t>
            </a:r>
            <a:r>
              <a:rPr lang="en-US" dirty="0">
                <a:uFillTx/>
              </a:rPr>
              <a:t> </a:t>
            </a:r>
            <a:r>
              <a:rPr lang="en-US" dirty="0" err="1">
                <a:uFillTx/>
              </a:rPr>
              <a:t>và</a:t>
            </a:r>
            <a:r>
              <a:rPr lang="en-US" dirty="0">
                <a:uFillTx/>
              </a:rPr>
              <a:t> </a:t>
            </a:r>
            <a:r>
              <a:rPr lang="en-US" dirty="0" err="1">
                <a:uFillTx/>
              </a:rPr>
              <a:t>lớp</a:t>
            </a:r>
            <a:r>
              <a:rPr lang="en-US" dirty="0">
                <a:uFillTx/>
              </a:rPr>
              <a:t> </a:t>
            </a:r>
            <a:r>
              <a:rPr lang="en-US" dirty="0" err="1">
                <a:uFillTx/>
              </a:rPr>
              <a:t>SinhVien</a:t>
            </a:r>
            <a:endParaRPr lang="en-US" dirty="0">
              <a:uFillTx/>
            </a:endParaRPr>
          </a:p>
          <a:p>
            <a:pPr marL="0" indent="0">
              <a:spcBef>
                <a:spcPts val="0"/>
              </a:spcBef>
              <a:buNone/>
            </a:pPr>
            <a:r>
              <a:rPr lang="en-US" sz="1500" dirty="0">
                <a:solidFill>
                  <a:srgbClr val="0000FF"/>
                </a:solidFill>
                <a:uFillTx/>
                <a:latin typeface="Courier New" pitchFamily="49" charset="0"/>
                <a:cs typeface="Courier New" pitchFamily="49" charset="0"/>
              </a:rPr>
              <a:t>class </a:t>
            </a:r>
            <a:r>
              <a:rPr lang="en-US" sz="1500" dirty="0" err="1">
                <a:solidFill>
                  <a:srgbClr val="0000FF"/>
                </a:solidFill>
                <a:uFillTx/>
                <a:latin typeface="Courier New" pitchFamily="49" charset="0"/>
                <a:cs typeface="Courier New" pitchFamily="49" charset="0"/>
              </a:rPr>
              <a:t>Nguoi</a:t>
            </a:r>
            <a:endParaRPr lang="en-US" sz="1500" dirty="0">
              <a:solidFill>
                <a:srgbClr val="0000FF"/>
              </a:solidFill>
              <a:uFillTx/>
              <a:latin typeface="Courier New" pitchFamily="49" charset="0"/>
              <a:cs typeface="Courier New" pitchFamily="49" charset="0"/>
            </a:endParaRPr>
          </a:p>
          <a:p>
            <a:pPr marL="0" indent="0">
              <a:spcBef>
                <a:spcPts val="0"/>
              </a:spcBef>
              <a:buNone/>
            </a:pPr>
            <a:r>
              <a:rPr lang="en-US" sz="1500" dirty="0">
                <a:uFillTx/>
                <a:latin typeface="Courier New" pitchFamily="49" charset="0"/>
                <a:cs typeface="Courier New" pitchFamily="49" charset="0"/>
              </a:rPr>
              <a:t>    {</a:t>
            </a:r>
          </a:p>
          <a:p>
            <a:pPr marL="0" indent="0">
              <a:spcBef>
                <a:spcPts val="0"/>
              </a:spcBef>
              <a:buNone/>
            </a:pPr>
            <a:r>
              <a:rPr lang="en-US" sz="1500" dirty="0">
                <a:uFillTx/>
                <a:latin typeface="Courier New" pitchFamily="49" charset="0"/>
                <a:cs typeface="Courier New" pitchFamily="49" charset="0"/>
              </a:rPr>
              <a:t>        public string </a:t>
            </a:r>
            <a:r>
              <a:rPr lang="en-US" sz="1500" dirty="0" err="1">
                <a:uFillTx/>
                <a:latin typeface="Courier New" pitchFamily="49" charset="0"/>
                <a:cs typeface="Courier New" pitchFamily="49" charset="0"/>
              </a:rPr>
              <a:t>HoTen</a:t>
            </a:r>
            <a:r>
              <a:rPr lang="en-US" sz="1500" dirty="0">
                <a:uFillTx/>
                <a:latin typeface="Courier New" pitchFamily="49" charset="0"/>
                <a:cs typeface="Courier New" pitchFamily="49" charset="0"/>
              </a:rPr>
              <a:t>;</a:t>
            </a:r>
          </a:p>
          <a:p>
            <a:pPr marL="0" indent="0">
              <a:spcBef>
                <a:spcPts val="0"/>
              </a:spcBef>
              <a:buNone/>
            </a:pPr>
            <a:r>
              <a:rPr lang="en-US" sz="1500" dirty="0">
                <a:uFillTx/>
                <a:latin typeface="Courier New" pitchFamily="49" charset="0"/>
                <a:cs typeface="Courier New" pitchFamily="49" charset="0"/>
              </a:rPr>
              <a:t>        public </a:t>
            </a:r>
            <a:r>
              <a:rPr lang="en-US" sz="1500" dirty="0" err="1">
                <a:uFillTx/>
                <a:latin typeface="Courier New" pitchFamily="49" charset="0"/>
                <a:cs typeface="Courier New" pitchFamily="49" charset="0"/>
              </a:rPr>
              <a:t>DateTime</a:t>
            </a:r>
            <a:r>
              <a:rPr lang="en-US" sz="1500" dirty="0">
                <a:uFillTx/>
                <a:latin typeface="Courier New" pitchFamily="49" charset="0"/>
                <a:cs typeface="Courier New" pitchFamily="49" charset="0"/>
              </a:rPr>
              <a:t> </a:t>
            </a:r>
            <a:r>
              <a:rPr lang="en-US" sz="1500" dirty="0" err="1">
                <a:uFillTx/>
                <a:latin typeface="Courier New" pitchFamily="49" charset="0"/>
                <a:cs typeface="Courier New" pitchFamily="49" charset="0"/>
              </a:rPr>
              <a:t>NgaySinh</a:t>
            </a:r>
            <a:r>
              <a:rPr lang="en-US" sz="1500" dirty="0">
                <a:uFillTx/>
                <a:latin typeface="Courier New" pitchFamily="49" charset="0"/>
                <a:cs typeface="Courier New" pitchFamily="49" charset="0"/>
              </a:rPr>
              <a:t>;</a:t>
            </a:r>
          </a:p>
          <a:p>
            <a:pPr marL="0" indent="0">
              <a:spcBef>
                <a:spcPts val="0"/>
              </a:spcBef>
              <a:buNone/>
            </a:pPr>
            <a:r>
              <a:rPr lang="en-US" sz="1500" dirty="0">
                <a:uFillTx/>
                <a:latin typeface="Courier New" pitchFamily="49" charset="0"/>
                <a:cs typeface="Courier New" pitchFamily="49" charset="0"/>
              </a:rPr>
              <a:t>        public string </a:t>
            </a:r>
            <a:r>
              <a:rPr lang="en-US" sz="1500" dirty="0" err="1">
                <a:uFillTx/>
                <a:latin typeface="Courier New" pitchFamily="49" charset="0"/>
                <a:cs typeface="Courier New" pitchFamily="49" charset="0"/>
              </a:rPr>
              <a:t>QueQuan</a:t>
            </a:r>
            <a:r>
              <a:rPr lang="en-US" sz="1500" dirty="0">
                <a:uFillTx/>
                <a:latin typeface="Courier New" pitchFamily="49" charset="0"/>
                <a:cs typeface="Courier New" pitchFamily="49" charset="0"/>
              </a:rPr>
              <a:t>;       </a:t>
            </a:r>
          </a:p>
          <a:p>
            <a:pPr marL="0" indent="0">
              <a:spcBef>
                <a:spcPts val="0"/>
              </a:spcBef>
              <a:buNone/>
            </a:pPr>
            <a:r>
              <a:rPr lang="en-US" sz="1500" dirty="0">
                <a:uFillTx/>
                <a:latin typeface="Courier New" pitchFamily="49" charset="0"/>
                <a:cs typeface="Courier New" pitchFamily="49" charset="0"/>
              </a:rPr>
              <a:t>        public void </a:t>
            </a:r>
            <a:r>
              <a:rPr lang="en-US" sz="1500" dirty="0" err="1">
                <a:uFillTx/>
                <a:latin typeface="Courier New" pitchFamily="49" charset="0"/>
                <a:cs typeface="Courier New" pitchFamily="49" charset="0"/>
              </a:rPr>
              <a:t>Xuat</a:t>
            </a:r>
            <a:r>
              <a:rPr lang="en-US" sz="1500" dirty="0">
                <a:uFillTx/>
                <a:latin typeface="Courier New" pitchFamily="49" charset="0"/>
                <a:cs typeface="Courier New" pitchFamily="49" charset="0"/>
              </a:rPr>
              <a:t>()</a:t>
            </a:r>
          </a:p>
          <a:p>
            <a:pPr marL="0" indent="0">
              <a:spcBef>
                <a:spcPts val="0"/>
              </a:spcBef>
              <a:buNone/>
            </a:pPr>
            <a:r>
              <a:rPr lang="en-US" sz="1500" dirty="0">
                <a:uFillTx/>
                <a:latin typeface="Courier New" pitchFamily="49" charset="0"/>
                <a:cs typeface="Courier New" pitchFamily="49" charset="0"/>
              </a:rPr>
              <a:t>        {</a:t>
            </a:r>
          </a:p>
          <a:p>
            <a:pPr marL="0" indent="0">
              <a:spcBef>
                <a:spcPts val="0"/>
              </a:spcBef>
              <a:buNone/>
            </a:pPr>
            <a:r>
              <a:rPr lang="it-IT" sz="1500" dirty="0">
                <a:uFillTx/>
                <a:latin typeface="Courier New" pitchFamily="49" charset="0"/>
                <a:cs typeface="Courier New" pitchFamily="49" charset="0"/>
              </a:rPr>
              <a:t>            </a:t>
            </a:r>
            <a:r>
              <a:rPr lang="it-IT" sz="1500" dirty="0" err="1">
                <a:uFillTx/>
                <a:latin typeface="Courier New" pitchFamily="49" charset="0"/>
                <a:cs typeface="Courier New" pitchFamily="49" charset="0"/>
              </a:rPr>
              <a:t>Console.WriteLine</a:t>
            </a:r>
            <a:r>
              <a:rPr lang="it-IT" sz="1500" dirty="0">
                <a:uFillTx/>
                <a:latin typeface="Courier New" pitchFamily="49" charset="0"/>
                <a:cs typeface="Courier New" pitchFamily="49" charset="0"/>
              </a:rPr>
              <a:t>("Ho va </a:t>
            </a:r>
            <a:r>
              <a:rPr lang="it-IT" sz="1500" dirty="0" err="1">
                <a:uFillTx/>
                <a:latin typeface="Courier New" pitchFamily="49" charset="0"/>
                <a:cs typeface="Courier New" pitchFamily="49" charset="0"/>
              </a:rPr>
              <a:t>ten</a:t>
            </a:r>
            <a:r>
              <a:rPr lang="it-IT" sz="1500" dirty="0">
                <a:uFillTx/>
                <a:latin typeface="Courier New" pitchFamily="49" charset="0"/>
                <a:cs typeface="Courier New" pitchFamily="49" charset="0"/>
              </a:rPr>
              <a:t>: " +</a:t>
            </a:r>
            <a:r>
              <a:rPr lang="it-IT" sz="1500" dirty="0" err="1">
                <a:uFillTx/>
                <a:latin typeface="Courier New" pitchFamily="49" charset="0"/>
                <a:cs typeface="Courier New" pitchFamily="49" charset="0"/>
              </a:rPr>
              <a:t>HoTen</a:t>
            </a:r>
            <a:r>
              <a:rPr lang="it-IT" sz="1500" dirty="0">
                <a:uFillTx/>
                <a:latin typeface="Courier New" pitchFamily="49" charset="0"/>
                <a:cs typeface="Courier New" pitchFamily="49" charset="0"/>
              </a:rPr>
              <a:t>);</a:t>
            </a:r>
          </a:p>
          <a:p>
            <a:pPr marL="0" indent="0" algn="l">
              <a:spcBef>
                <a:spcPts val="0"/>
              </a:spcBef>
              <a:buNone/>
            </a:pPr>
            <a:r>
              <a:rPr lang="en-US" sz="1500" dirty="0">
                <a:uFillTx/>
                <a:latin typeface="Courier New" pitchFamily="49" charset="0"/>
                <a:cs typeface="Courier New" pitchFamily="49" charset="0"/>
              </a:rPr>
              <a:t>            </a:t>
            </a:r>
            <a:r>
              <a:rPr lang="en-US" sz="1500" dirty="0" err="1">
                <a:uFillTx/>
                <a:latin typeface="Courier New" pitchFamily="49" charset="0"/>
                <a:cs typeface="Courier New" pitchFamily="49" charset="0"/>
              </a:rPr>
              <a:t>Console.WriteLine</a:t>
            </a:r>
            <a:r>
              <a:rPr lang="en-US" sz="1500" dirty="0">
                <a:uFillTx/>
                <a:latin typeface="Courier New" pitchFamily="49" charset="0"/>
                <a:cs typeface="Courier New" pitchFamily="49" charset="0"/>
              </a:rPr>
              <a:t>("</a:t>
            </a:r>
            <a:r>
              <a:rPr lang="en-US" sz="1500" dirty="0" err="1">
                <a:uFillTx/>
                <a:latin typeface="Courier New" pitchFamily="49" charset="0"/>
                <a:cs typeface="Courier New" pitchFamily="49" charset="0"/>
              </a:rPr>
              <a:t>Ngay</a:t>
            </a:r>
            <a:r>
              <a:rPr lang="en-US" sz="1500" dirty="0">
                <a:latin typeface="Courier New" pitchFamily="49" charset="0"/>
                <a:cs typeface="Courier New" pitchFamily="49" charset="0"/>
              </a:rPr>
              <a:t> </a:t>
            </a:r>
            <a:r>
              <a:rPr lang="en-US" sz="1500" dirty="0" err="1">
                <a:uFillTx/>
                <a:latin typeface="Courier New" pitchFamily="49" charset="0"/>
                <a:cs typeface="Courier New" pitchFamily="49" charset="0"/>
              </a:rPr>
              <a:t>sinh</a:t>
            </a:r>
            <a:r>
              <a:rPr lang="en-US" sz="1500" dirty="0">
                <a:uFillTx/>
                <a:latin typeface="Courier New" pitchFamily="49" charset="0"/>
                <a:cs typeface="Courier New" pitchFamily="49" charset="0"/>
              </a:rPr>
              <a:t>: {0}/{1}/{2}",    </a:t>
            </a:r>
            <a:r>
              <a:rPr lang="en-US" sz="1500" dirty="0" err="1">
                <a:uFillTx/>
                <a:latin typeface="Courier New" pitchFamily="49" charset="0"/>
                <a:cs typeface="Courier New" pitchFamily="49" charset="0"/>
              </a:rPr>
              <a:t>NgaySinh.Day,NgaySinh.Month,NgaySinh.Year</a:t>
            </a:r>
            <a:r>
              <a:rPr lang="en-US" sz="1500" dirty="0">
                <a:uFillTx/>
                <a:latin typeface="Courier New" pitchFamily="49" charset="0"/>
                <a:cs typeface="Courier New" pitchFamily="49" charset="0"/>
              </a:rPr>
              <a:t>);</a:t>
            </a:r>
          </a:p>
          <a:p>
            <a:pPr marL="0" indent="0">
              <a:spcBef>
                <a:spcPts val="0"/>
              </a:spcBef>
              <a:buNone/>
            </a:pPr>
            <a:r>
              <a:rPr lang="en-US" sz="1500" dirty="0">
                <a:uFillTx/>
                <a:latin typeface="Courier New" pitchFamily="49" charset="0"/>
                <a:cs typeface="Courier New" pitchFamily="49" charset="0"/>
              </a:rPr>
              <a:t>            </a:t>
            </a:r>
            <a:r>
              <a:rPr lang="en-US" sz="1500" dirty="0" err="1">
                <a:uFillTx/>
                <a:latin typeface="Courier New" pitchFamily="49" charset="0"/>
                <a:cs typeface="Courier New" pitchFamily="49" charset="0"/>
              </a:rPr>
              <a:t>Console.WriteLine</a:t>
            </a:r>
            <a:r>
              <a:rPr lang="en-US" sz="1500" dirty="0">
                <a:uFillTx/>
                <a:latin typeface="Courier New" pitchFamily="49" charset="0"/>
                <a:cs typeface="Courier New" pitchFamily="49" charset="0"/>
              </a:rPr>
              <a:t>("Que </a:t>
            </a:r>
            <a:r>
              <a:rPr lang="en-US" sz="1500" dirty="0" err="1">
                <a:uFillTx/>
                <a:latin typeface="Courier New" pitchFamily="49" charset="0"/>
                <a:cs typeface="Courier New" pitchFamily="49" charset="0"/>
              </a:rPr>
              <a:t>quan</a:t>
            </a:r>
            <a:r>
              <a:rPr lang="en-US" sz="1500" dirty="0">
                <a:uFillTx/>
                <a:latin typeface="Courier New" pitchFamily="49" charset="0"/>
                <a:cs typeface="Courier New" pitchFamily="49" charset="0"/>
              </a:rPr>
              <a:t>: " +</a:t>
            </a:r>
            <a:r>
              <a:rPr lang="en-US" sz="1500" dirty="0" err="1">
                <a:uFillTx/>
                <a:latin typeface="Courier New" pitchFamily="49" charset="0"/>
                <a:cs typeface="Courier New" pitchFamily="49" charset="0"/>
              </a:rPr>
              <a:t>QueQuan</a:t>
            </a:r>
            <a:r>
              <a:rPr lang="en-US" sz="1500" dirty="0">
                <a:uFillTx/>
                <a:latin typeface="Courier New" pitchFamily="49" charset="0"/>
                <a:cs typeface="Courier New" pitchFamily="49" charset="0"/>
              </a:rPr>
              <a:t>);</a:t>
            </a:r>
          </a:p>
          <a:p>
            <a:pPr marL="0" indent="0">
              <a:spcBef>
                <a:spcPts val="0"/>
              </a:spcBef>
              <a:buNone/>
            </a:pPr>
            <a:r>
              <a:rPr lang="en-US" sz="1500" dirty="0">
                <a:uFillTx/>
                <a:latin typeface="Courier New" pitchFamily="49" charset="0"/>
                <a:cs typeface="Courier New" pitchFamily="49" charset="0"/>
              </a:rPr>
              <a:t>        }</a:t>
            </a:r>
          </a:p>
          <a:p>
            <a:pPr marL="0" indent="0">
              <a:spcBef>
                <a:spcPts val="0"/>
              </a:spcBef>
              <a:buNone/>
            </a:pPr>
            <a:r>
              <a:rPr lang="en-US" sz="1500" dirty="0">
                <a:uFillTx/>
                <a:latin typeface="Courier New" pitchFamily="49" charset="0"/>
                <a:cs typeface="Courier New" pitchFamily="49" charset="0"/>
              </a:rPr>
              <a:t>        </a:t>
            </a:r>
            <a:r>
              <a:rPr lang="en-US" sz="1500" dirty="0">
                <a:solidFill>
                  <a:srgbClr val="0000FF"/>
                </a:solidFill>
                <a:uFillTx/>
                <a:latin typeface="Courier New" pitchFamily="49" charset="0"/>
                <a:cs typeface="Courier New" pitchFamily="49" charset="0"/>
              </a:rPr>
              <a:t>public </a:t>
            </a:r>
            <a:r>
              <a:rPr lang="en-US" sz="1500" dirty="0" err="1">
                <a:solidFill>
                  <a:srgbClr val="0000FF"/>
                </a:solidFill>
                <a:uFillTx/>
                <a:latin typeface="Courier New" pitchFamily="49" charset="0"/>
                <a:cs typeface="Courier New" pitchFamily="49" charset="0"/>
              </a:rPr>
              <a:t>Nguoi</a:t>
            </a:r>
            <a:r>
              <a:rPr lang="en-US" sz="1500" dirty="0">
                <a:solidFill>
                  <a:srgbClr val="0000FF"/>
                </a:solidFill>
                <a:uFillTx/>
                <a:latin typeface="Courier New" pitchFamily="49" charset="0"/>
                <a:cs typeface="Courier New" pitchFamily="49" charset="0"/>
              </a:rPr>
              <a:t>(string </a:t>
            </a:r>
            <a:r>
              <a:rPr lang="en-US" sz="1500" dirty="0" err="1">
                <a:solidFill>
                  <a:srgbClr val="0000FF"/>
                </a:solidFill>
                <a:uFillTx/>
                <a:latin typeface="Courier New" pitchFamily="49" charset="0"/>
                <a:cs typeface="Courier New" pitchFamily="49" charset="0"/>
              </a:rPr>
              <a:t>ht</a:t>
            </a:r>
            <a:r>
              <a:rPr lang="en-US" sz="1500" dirty="0">
                <a:solidFill>
                  <a:srgbClr val="0000FF"/>
                </a:solidFill>
                <a:uFillTx/>
                <a:latin typeface="Courier New" pitchFamily="49" charset="0"/>
                <a:cs typeface="Courier New" pitchFamily="49" charset="0"/>
              </a:rPr>
              <a:t>, </a:t>
            </a:r>
            <a:r>
              <a:rPr lang="en-US" sz="1500" dirty="0" err="1">
                <a:solidFill>
                  <a:srgbClr val="0000FF"/>
                </a:solidFill>
                <a:uFillTx/>
                <a:latin typeface="Courier New" pitchFamily="49" charset="0"/>
                <a:cs typeface="Courier New" pitchFamily="49" charset="0"/>
              </a:rPr>
              <a:t>DateTime</a:t>
            </a:r>
            <a:r>
              <a:rPr lang="en-US" sz="1500" dirty="0">
                <a:solidFill>
                  <a:srgbClr val="0000FF"/>
                </a:solidFill>
                <a:uFillTx/>
                <a:latin typeface="Courier New" pitchFamily="49" charset="0"/>
                <a:cs typeface="Courier New" pitchFamily="49" charset="0"/>
              </a:rPr>
              <a:t> dt, string </a:t>
            </a:r>
            <a:r>
              <a:rPr lang="en-US" sz="1500" dirty="0" err="1">
                <a:solidFill>
                  <a:srgbClr val="0000FF"/>
                </a:solidFill>
                <a:uFillTx/>
                <a:latin typeface="Courier New" pitchFamily="49" charset="0"/>
                <a:cs typeface="Courier New" pitchFamily="49" charset="0"/>
              </a:rPr>
              <a:t>qq</a:t>
            </a:r>
            <a:r>
              <a:rPr lang="en-US" sz="1500" dirty="0">
                <a:solidFill>
                  <a:srgbClr val="0000FF"/>
                </a:solidFill>
                <a:uFillTx/>
                <a:latin typeface="Courier New" pitchFamily="49" charset="0"/>
                <a:cs typeface="Courier New" pitchFamily="49" charset="0"/>
              </a:rPr>
              <a:t>)</a:t>
            </a:r>
          </a:p>
          <a:p>
            <a:pPr marL="0" indent="0">
              <a:spcBef>
                <a:spcPts val="0"/>
              </a:spcBef>
              <a:buNone/>
            </a:pPr>
            <a:r>
              <a:rPr lang="en-US" sz="1500" dirty="0">
                <a:uFillTx/>
                <a:latin typeface="Courier New" pitchFamily="49" charset="0"/>
                <a:cs typeface="Courier New" pitchFamily="49" charset="0"/>
              </a:rPr>
              <a:t>        {</a:t>
            </a:r>
          </a:p>
          <a:p>
            <a:pPr marL="0" indent="0">
              <a:spcBef>
                <a:spcPts val="0"/>
              </a:spcBef>
              <a:buNone/>
            </a:pPr>
            <a:r>
              <a:rPr lang="en-US" sz="1500" dirty="0">
                <a:uFillTx/>
                <a:latin typeface="Courier New" pitchFamily="49" charset="0"/>
                <a:cs typeface="Courier New" pitchFamily="49" charset="0"/>
              </a:rPr>
              <a:t>            </a:t>
            </a:r>
            <a:r>
              <a:rPr lang="en-US" sz="1500" dirty="0" err="1">
                <a:uFillTx/>
                <a:latin typeface="Courier New" pitchFamily="49" charset="0"/>
                <a:cs typeface="Courier New" pitchFamily="49" charset="0"/>
              </a:rPr>
              <a:t>this.HoTen</a:t>
            </a:r>
            <a:r>
              <a:rPr lang="en-US" sz="1500" dirty="0">
                <a:uFillTx/>
                <a:latin typeface="Courier New" pitchFamily="49" charset="0"/>
                <a:cs typeface="Courier New" pitchFamily="49" charset="0"/>
              </a:rPr>
              <a:t> = </a:t>
            </a:r>
            <a:r>
              <a:rPr lang="en-US" sz="1500" dirty="0" err="1">
                <a:uFillTx/>
                <a:latin typeface="Courier New" pitchFamily="49" charset="0"/>
                <a:cs typeface="Courier New" pitchFamily="49" charset="0"/>
              </a:rPr>
              <a:t>ht</a:t>
            </a:r>
            <a:r>
              <a:rPr lang="en-US" sz="1500" dirty="0">
                <a:uFillTx/>
                <a:latin typeface="Courier New" pitchFamily="49" charset="0"/>
                <a:cs typeface="Courier New" pitchFamily="49" charset="0"/>
              </a:rPr>
              <a:t>;</a:t>
            </a:r>
          </a:p>
          <a:p>
            <a:pPr marL="0" indent="0">
              <a:spcBef>
                <a:spcPts val="0"/>
              </a:spcBef>
              <a:buNone/>
            </a:pPr>
            <a:r>
              <a:rPr lang="en-US" sz="1500" dirty="0">
                <a:uFillTx/>
                <a:latin typeface="Courier New" pitchFamily="49" charset="0"/>
                <a:cs typeface="Courier New" pitchFamily="49" charset="0"/>
              </a:rPr>
              <a:t>            </a:t>
            </a:r>
            <a:r>
              <a:rPr lang="en-US" sz="1500" dirty="0" err="1">
                <a:uFillTx/>
                <a:latin typeface="Courier New" pitchFamily="49" charset="0"/>
                <a:cs typeface="Courier New" pitchFamily="49" charset="0"/>
              </a:rPr>
              <a:t>this.NgaySinh</a:t>
            </a:r>
            <a:r>
              <a:rPr lang="en-US" sz="1500" dirty="0">
                <a:uFillTx/>
                <a:latin typeface="Courier New" pitchFamily="49" charset="0"/>
                <a:cs typeface="Courier New" pitchFamily="49" charset="0"/>
              </a:rPr>
              <a:t> = dt;</a:t>
            </a:r>
          </a:p>
          <a:p>
            <a:pPr marL="0" indent="0">
              <a:spcBef>
                <a:spcPts val="0"/>
              </a:spcBef>
              <a:buNone/>
            </a:pPr>
            <a:r>
              <a:rPr lang="en-US" sz="1500" dirty="0">
                <a:uFillTx/>
                <a:latin typeface="Courier New" pitchFamily="49" charset="0"/>
                <a:cs typeface="Courier New" pitchFamily="49" charset="0"/>
              </a:rPr>
              <a:t>            </a:t>
            </a:r>
            <a:r>
              <a:rPr lang="en-US" sz="1500" dirty="0" err="1">
                <a:uFillTx/>
                <a:latin typeface="Courier New" pitchFamily="49" charset="0"/>
                <a:cs typeface="Courier New" pitchFamily="49" charset="0"/>
              </a:rPr>
              <a:t>this.QueQuan</a:t>
            </a:r>
            <a:r>
              <a:rPr lang="en-US" sz="1500" dirty="0">
                <a:uFillTx/>
                <a:latin typeface="Courier New" pitchFamily="49" charset="0"/>
                <a:cs typeface="Courier New" pitchFamily="49" charset="0"/>
              </a:rPr>
              <a:t> = </a:t>
            </a:r>
            <a:r>
              <a:rPr lang="en-US" sz="1500" dirty="0" err="1">
                <a:uFillTx/>
                <a:latin typeface="Courier New" pitchFamily="49" charset="0"/>
                <a:cs typeface="Courier New" pitchFamily="49" charset="0"/>
              </a:rPr>
              <a:t>qq</a:t>
            </a:r>
            <a:r>
              <a:rPr lang="en-US" sz="1500" dirty="0">
                <a:uFillTx/>
                <a:latin typeface="Courier New" pitchFamily="49" charset="0"/>
                <a:cs typeface="Courier New" pitchFamily="49" charset="0"/>
              </a:rPr>
              <a:t>;</a:t>
            </a:r>
          </a:p>
          <a:p>
            <a:pPr marL="0" indent="0">
              <a:spcBef>
                <a:spcPts val="0"/>
              </a:spcBef>
              <a:buNone/>
            </a:pPr>
            <a:r>
              <a:rPr lang="en-US" sz="1500" dirty="0">
                <a:uFillTx/>
                <a:latin typeface="Courier New" pitchFamily="49" charset="0"/>
                <a:cs typeface="Courier New" pitchFamily="49" charset="0"/>
              </a:rPr>
              <a:t>        }        </a:t>
            </a:r>
          </a:p>
          <a:p>
            <a:pPr marL="0" indent="0">
              <a:spcBef>
                <a:spcPts val="0"/>
              </a:spcBef>
              <a:buNone/>
            </a:pPr>
            <a:r>
              <a:rPr lang="en-US" sz="1500" dirty="0">
                <a:uFillTx/>
                <a:latin typeface="Courier New" pitchFamily="49" charset="0"/>
                <a:cs typeface="Courier New" pitchFamily="49" charset="0"/>
              </a:rPr>
              <a:t>    }</a:t>
            </a:r>
          </a:p>
        </p:txBody>
      </p:sp>
      <p:sp>
        <p:nvSpPr>
          <p:cNvPr id="4" name="Date Placeholder 3"/>
          <p:cNvSpPr>
            <a:spLocks noGrp="1"/>
          </p:cNvSpPr>
          <p:nvPr>
            <p:ph type="dt" sz="half" idx="10"/>
          </p:nvPr>
        </p:nvSpPr>
        <p:spPr/>
        <p:txBody>
          <a:bodyPr/>
          <a:lstStyle/>
          <a:p>
            <a:fld id="{D616A8F1-991F-4E8B-BC98-8085C56C868F}" type="datetime1">
              <a:rPr lang="vi-VN" smtClean="0">
                <a:uFillTx/>
              </a:rPr>
              <a:t>04/02/2025</a:t>
            </a:fld>
            <a:endParaRPr lang="vi-VN">
              <a:uFillTx/>
            </a:endParaRPr>
          </a:p>
        </p:txBody>
      </p:sp>
      <p:sp>
        <p:nvSpPr>
          <p:cNvPr id="5" name="Footer Placeholder 4"/>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uFillTx/>
              </a:rPr>
              <a:pPr/>
              <a:t>46</a:t>
            </a:fld>
            <a:r>
              <a:rPr lang="vi-VN">
                <a:uFillTx/>
              </a:rPr>
              <a:t>/28</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uFillTx/>
              </a:rPr>
              <a:t>Ví dụ - Phương thức tạo lập</a:t>
            </a:r>
          </a:p>
        </p:txBody>
      </p:sp>
      <p:sp>
        <p:nvSpPr>
          <p:cNvPr id="3" name="Content Placeholder 2"/>
          <p:cNvSpPr>
            <a:spLocks noGrp="1"/>
          </p:cNvSpPr>
          <p:nvPr>
            <p:ph idx="1"/>
          </p:nvPr>
        </p:nvSpPr>
        <p:spPr>
          <a:xfrm>
            <a:off x="762000" y="1052736"/>
            <a:ext cx="7924800" cy="5181600"/>
          </a:xfrm>
        </p:spPr>
        <p:txBody>
          <a:bodyPr>
            <a:normAutofit lnSpcReduction="10000"/>
          </a:bodyPr>
          <a:lstStyle/>
          <a:p>
            <a:pPr marL="0" indent="0">
              <a:spcBef>
                <a:spcPts val="0"/>
              </a:spcBef>
              <a:buNone/>
            </a:pPr>
            <a:r>
              <a:rPr lang="en-US" sz="1400" dirty="0">
                <a:solidFill>
                  <a:srgbClr val="0000FF"/>
                </a:solidFill>
                <a:uFillTx/>
                <a:latin typeface="Courier New" pitchFamily="49" charset="0"/>
                <a:cs typeface="Courier New" pitchFamily="49" charset="0"/>
              </a:rPr>
              <a:t>class </a:t>
            </a:r>
            <a:r>
              <a:rPr lang="en-US" sz="1400" dirty="0" err="1">
                <a:solidFill>
                  <a:srgbClr val="0000FF"/>
                </a:solidFill>
                <a:uFillTx/>
                <a:latin typeface="Courier New" pitchFamily="49" charset="0"/>
                <a:cs typeface="Courier New" pitchFamily="49" charset="0"/>
              </a:rPr>
              <a:t>SinhVien:Nguoi</a:t>
            </a:r>
            <a:endParaRPr lang="en-US" sz="1400" dirty="0">
              <a:solidFill>
                <a:srgbClr val="0000FF"/>
              </a:solidFill>
              <a:uFillTx/>
              <a:latin typeface="Courier New" pitchFamily="49" charset="0"/>
              <a:cs typeface="Courier New" pitchFamily="49" charset="0"/>
            </a:endParaRPr>
          </a:p>
          <a:p>
            <a:pPr marL="0" indent="0">
              <a:spcBef>
                <a:spcPts val="0"/>
              </a:spcBef>
              <a:buNone/>
            </a:pPr>
            <a:r>
              <a:rPr lang="en-US" sz="1400" dirty="0">
                <a:uFillTx/>
                <a:latin typeface="Courier New" pitchFamily="49" charset="0"/>
                <a:cs typeface="Courier New" pitchFamily="49" charset="0"/>
              </a:rPr>
              <a:t>    {</a:t>
            </a:r>
          </a:p>
          <a:p>
            <a:pPr marL="0" indent="0">
              <a:spcBef>
                <a:spcPts val="0"/>
              </a:spcBef>
              <a:buNone/>
            </a:pPr>
            <a:r>
              <a:rPr lang="en-US" sz="1400" dirty="0">
                <a:uFillTx/>
                <a:latin typeface="Courier New" pitchFamily="49" charset="0"/>
                <a:cs typeface="Courier New" pitchFamily="49" charset="0"/>
              </a:rPr>
              <a:t>        public string </a:t>
            </a:r>
            <a:r>
              <a:rPr lang="en-US" sz="1400" dirty="0" err="1">
                <a:uFillTx/>
                <a:latin typeface="Courier New" pitchFamily="49" charset="0"/>
                <a:cs typeface="Courier New" pitchFamily="49" charset="0"/>
              </a:rPr>
              <a:t>MaSV</a:t>
            </a:r>
            <a:r>
              <a:rPr lang="en-US" sz="1400" dirty="0">
                <a:uFillTx/>
                <a:latin typeface="Courier New" pitchFamily="49" charset="0"/>
                <a:cs typeface="Courier New" pitchFamily="49" charset="0"/>
              </a:rPr>
              <a:t>;</a:t>
            </a:r>
          </a:p>
          <a:p>
            <a:pPr marL="0" indent="0">
              <a:spcBef>
                <a:spcPts val="0"/>
              </a:spcBef>
              <a:buNone/>
            </a:pPr>
            <a:r>
              <a:rPr lang="en-US" sz="1400" dirty="0">
                <a:uFillTx/>
                <a:latin typeface="Courier New" pitchFamily="49" charset="0"/>
                <a:cs typeface="Courier New" pitchFamily="49" charset="0"/>
              </a:rPr>
              <a:t>        </a:t>
            </a:r>
            <a:r>
              <a:rPr lang="en-US" sz="1400" dirty="0">
                <a:solidFill>
                  <a:srgbClr val="0000FF"/>
                </a:solidFill>
                <a:uFillTx/>
                <a:latin typeface="Courier New" pitchFamily="49" charset="0"/>
                <a:cs typeface="Courier New" pitchFamily="49" charset="0"/>
              </a:rPr>
              <a:t>public </a:t>
            </a:r>
            <a:r>
              <a:rPr lang="en-US" sz="1400" dirty="0" err="1">
                <a:solidFill>
                  <a:srgbClr val="0000FF"/>
                </a:solidFill>
                <a:uFillTx/>
                <a:latin typeface="Courier New" pitchFamily="49" charset="0"/>
                <a:cs typeface="Courier New" pitchFamily="49" charset="0"/>
              </a:rPr>
              <a:t>SinhVien</a:t>
            </a:r>
            <a:r>
              <a:rPr lang="en-US" sz="1400" dirty="0">
                <a:solidFill>
                  <a:srgbClr val="0000FF"/>
                </a:solidFill>
                <a:uFillTx/>
                <a:latin typeface="Courier New" pitchFamily="49" charset="0"/>
                <a:cs typeface="Courier New" pitchFamily="49" charset="0"/>
              </a:rPr>
              <a:t>(string </a:t>
            </a:r>
            <a:r>
              <a:rPr lang="en-US" sz="1400" dirty="0" err="1">
                <a:solidFill>
                  <a:srgbClr val="0000FF"/>
                </a:solidFill>
                <a:uFillTx/>
                <a:latin typeface="Courier New" pitchFamily="49" charset="0"/>
                <a:cs typeface="Courier New" pitchFamily="49" charset="0"/>
              </a:rPr>
              <a:t>ht</a:t>
            </a:r>
            <a:r>
              <a:rPr lang="en-US" sz="1400" dirty="0">
                <a:solidFill>
                  <a:srgbClr val="0000FF"/>
                </a:solidFill>
                <a:uFillTx/>
                <a:latin typeface="Courier New" pitchFamily="49" charset="0"/>
                <a:cs typeface="Courier New" pitchFamily="49" charset="0"/>
              </a:rPr>
              <a:t>, </a:t>
            </a:r>
            <a:r>
              <a:rPr lang="en-US" sz="1400" dirty="0" err="1">
                <a:solidFill>
                  <a:srgbClr val="0000FF"/>
                </a:solidFill>
                <a:uFillTx/>
                <a:latin typeface="Courier New" pitchFamily="49" charset="0"/>
                <a:cs typeface="Courier New" pitchFamily="49" charset="0"/>
              </a:rPr>
              <a:t>DateTime</a:t>
            </a:r>
            <a:r>
              <a:rPr lang="en-US" sz="1400" dirty="0">
                <a:solidFill>
                  <a:srgbClr val="0000FF"/>
                </a:solidFill>
                <a:uFillTx/>
                <a:latin typeface="Courier New" pitchFamily="49" charset="0"/>
                <a:cs typeface="Courier New" pitchFamily="49" charset="0"/>
              </a:rPr>
              <a:t> dt, string </a:t>
            </a:r>
            <a:r>
              <a:rPr lang="en-US" sz="1400" dirty="0" err="1">
                <a:solidFill>
                  <a:srgbClr val="0000FF"/>
                </a:solidFill>
                <a:uFillTx/>
                <a:latin typeface="Courier New" pitchFamily="49" charset="0"/>
                <a:cs typeface="Courier New" pitchFamily="49" charset="0"/>
              </a:rPr>
              <a:t>qq</a:t>
            </a:r>
            <a:r>
              <a:rPr lang="en-US" sz="1400" dirty="0">
                <a:solidFill>
                  <a:srgbClr val="0000FF"/>
                </a:solidFill>
                <a:uFillTx/>
                <a:latin typeface="Courier New" pitchFamily="49" charset="0"/>
                <a:cs typeface="Courier New" pitchFamily="49" charset="0"/>
              </a:rPr>
              <a:t>, string ma): base(</a:t>
            </a:r>
            <a:r>
              <a:rPr lang="en-US" sz="1400" dirty="0" err="1">
                <a:solidFill>
                  <a:srgbClr val="0000FF"/>
                </a:solidFill>
                <a:uFillTx/>
                <a:latin typeface="Courier New" pitchFamily="49" charset="0"/>
                <a:cs typeface="Courier New" pitchFamily="49" charset="0"/>
              </a:rPr>
              <a:t>ht</a:t>
            </a:r>
            <a:r>
              <a:rPr lang="en-US" sz="1400" dirty="0">
                <a:solidFill>
                  <a:srgbClr val="0000FF"/>
                </a:solidFill>
                <a:uFillTx/>
                <a:latin typeface="Courier New" pitchFamily="49" charset="0"/>
                <a:cs typeface="Courier New" pitchFamily="49" charset="0"/>
              </a:rPr>
              <a:t>, dt, </a:t>
            </a:r>
            <a:r>
              <a:rPr lang="en-US" sz="1400" dirty="0" err="1">
                <a:solidFill>
                  <a:srgbClr val="0000FF"/>
                </a:solidFill>
                <a:uFillTx/>
                <a:latin typeface="Courier New" pitchFamily="49" charset="0"/>
                <a:cs typeface="Courier New" pitchFamily="49" charset="0"/>
              </a:rPr>
              <a:t>qq</a:t>
            </a:r>
            <a:r>
              <a:rPr lang="en-US" sz="1400" dirty="0">
                <a:solidFill>
                  <a:srgbClr val="0000FF"/>
                </a:solidFill>
                <a:uFillTx/>
                <a:latin typeface="Courier New" pitchFamily="49" charset="0"/>
                <a:cs typeface="Courier New" pitchFamily="49" charset="0"/>
              </a:rPr>
              <a:t>)</a:t>
            </a:r>
          </a:p>
          <a:p>
            <a:pPr marL="0" indent="0">
              <a:spcBef>
                <a:spcPts val="0"/>
              </a:spcBef>
              <a:buNone/>
            </a:pPr>
            <a:r>
              <a:rPr lang="en-US" sz="1400" dirty="0">
                <a:uFillTx/>
                <a:latin typeface="Courier New" pitchFamily="49" charset="0"/>
                <a:cs typeface="Courier New" pitchFamily="49" charset="0"/>
              </a:rPr>
              <a:t>        {</a:t>
            </a:r>
          </a:p>
          <a:p>
            <a:pPr marL="0" indent="0">
              <a:spcBef>
                <a:spcPts val="0"/>
              </a:spcBef>
              <a:buNone/>
            </a:pPr>
            <a:r>
              <a:rPr lang="en-US" sz="1400" dirty="0">
                <a:uFillTx/>
                <a:latin typeface="Courier New" pitchFamily="49" charset="0"/>
                <a:cs typeface="Courier New" pitchFamily="49" charset="0"/>
              </a:rPr>
              <a:t>            </a:t>
            </a:r>
            <a:r>
              <a:rPr lang="en-US" sz="1400" dirty="0" err="1">
                <a:uFillTx/>
                <a:latin typeface="Courier New" pitchFamily="49" charset="0"/>
                <a:cs typeface="Courier New" pitchFamily="49" charset="0"/>
              </a:rPr>
              <a:t>this.MaSV</a:t>
            </a:r>
            <a:r>
              <a:rPr lang="en-US" sz="1400" dirty="0">
                <a:uFillTx/>
                <a:latin typeface="Courier New" pitchFamily="49" charset="0"/>
                <a:cs typeface="Courier New" pitchFamily="49" charset="0"/>
              </a:rPr>
              <a:t>=ma;</a:t>
            </a:r>
          </a:p>
          <a:p>
            <a:pPr marL="0" indent="0">
              <a:spcBef>
                <a:spcPts val="0"/>
              </a:spcBef>
              <a:buNone/>
            </a:pPr>
            <a:r>
              <a:rPr lang="en-US" sz="1400" dirty="0">
                <a:uFillTx/>
                <a:latin typeface="Courier New" pitchFamily="49" charset="0"/>
                <a:cs typeface="Courier New" pitchFamily="49" charset="0"/>
              </a:rPr>
              <a:t>        }</a:t>
            </a:r>
          </a:p>
          <a:p>
            <a:pPr marL="0" indent="0">
              <a:spcBef>
                <a:spcPts val="0"/>
              </a:spcBef>
              <a:buNone/>
            </a:pPr>
            <a:r>
              <a:rPr lang="en-US" sz="1400" dirty="0">
                <a:uFillTx/>
                <a:latin typeface="Courier New" pitchFamily="49" charset="0"/>
                <a:cs typeface="Courier New" pitchFamily="49" charset="0"/>
              </a:rPr>
              <a:t>    }</a:t>
            </a:r>
          </a:p>
          <a:p>
            <a:pPr marL="0" indent="0">
              <a:spcBef>
                <a:spcPts val="0"/>
              </a:spcBef>
              <a:buNone/>
            </a:pPr>
            <a:r>
              <a:rPr lang="en-US" sz="1400" b="1" dirty="0">
                <a:solidFill>
                  <a:srgbClr val="0000FF"/>
                </a:solidFill>
                <a:uFillTx/>
                <a:latin typeface="Courier New" pitchFamily="49" charset="0"/>
                <a:cs typeface="Courier New" pitchFamily="49" charset="0"/>
              </a:rPr>
              <a:t>class Program</a:t>
            </a:r>
          </a:p>
          <a:p>
            <a:pPr marL="0" indent="0">
              <a:spcBef>
                <a:spcPts val="0"/>
              </a:spcBef>
              <a:buNone/>
            </a:pPr>
            <a:r>
              <a:rPr lang="en-US" sz="1400" dirty="0">
                <a:uFillTx/>
                <a:latin typeface="Courier New" pitchFamily="49" charset="0"/>
                <a:cs typeface="Courier New" pitchFamily="49" charset="0"/>
              </a:rPr>
              <a:t>    {</a:t>
            </a:r>
          </a:p>
          <a:p>
            <a:pPr marL="0" indent="0">
              <a:spcBef>
                <a:spcPts val="0"/>
              </a:spcBef>
              <a:buNone/>
            </a:pPr>
            <a:r>
              <a:rPr lang="en-US" sz="1400" dirty="0">
                <a:uFillTx/>
                <a:latin typeface="Courier New" pitchFamily="49" charset="0"/>
                <a:cs typeface="Courier New" pitchFamily="49" charset="0"/>
              </a:rPr>
              <a:t>        </a:t>
            </a:r>
            <a:r>
              <a:rPr lang="en-US" sz="1400" dirty="0">
                <a:solidFill>
                  <a:srgbClr val="0000FF"/>
                </a:solidFill>
                <a:uFillTx/>
                <a:latin typeface="Courier New" pitchFamily="49" charset="0"/>
                <a:cs typeface="Courier New" pitchFamily="49" charset="0"/>
              </a:rPr>
              <a:t>static void Main(string[] </a:t>
            </a:r>
            <a:r>
              <a:rPr lang="en-US" sz="1400" dirty="0" err="1">
                <a:solidFill>
                  <a:srgbClr val="0000FF"/>
                </a:solidFill>
                <a:uFillTx/>
                <a:latin typeface="Courier New" pitchFamily="49" charset="0"/>
                <a:cs typeface="Courier New" pitchFamily="49" charset="0"/>
              </a:rPr>
              <a:t>args</a:t>
            </a:r>
            <a:r>
              <a:rPr lang="en-US" sz="1400" dirty="0">
                <a:solidFill>
                  <a:srgbClr val="0000FF"/>
                </a:solidFill>
                <a:uFillTx/>
                <a:latin typeface="Courier New" pitchFamily="49" charset="0"/>
                <a:cs typeface="Courier New" pitchFamily="49" charset="0"/>
              </a:rPr>
              <a:t>)</a:t>
            </a:r>
          </a:p>
          <a:p>
            <a:pPr marL="0" indent="0">
              <a:spcBef>
                <a:spcPts val="0"/>
              </a:spcBef>
              <a:buNone/>
            </a:pPr>
            <a:r>
              <a:rPr lang="en-US" sz="1400" dirty="0">
                <a:uFillTx/>
                <a:latin typeface="Courier New" pitchFamily="49" charset="0"/>
                <a:cs typeface="Courier New" pitchFamily="49" charset="0"/>
              </a:rPr>
              <a:t>        {</a:t>
            </a:r>
          </a:p>
          <a:p>
            <a:pPr marL="0" indent="0">
              <a:spcBef>
                <a:spcPts val="0"/>
              </a:spcBef>
              <a:buNone/>
            </a:pPr>
            <a:r>
              <a:rPr lang="it-IT" sz="1400" dirty="0">
                <a:uFillTx/>
                <a:latin typeface="Courier New" pitchFamily="49" charset="0"/>
                <a:cs typeface="Courier New" pitchFamily="49" charset="0"/>
              </a:rPr>
              <a:t>            Nguoi P1 = new Nguoi("Nguyen Van A", Convert.ToDateTime("3/8/1994"),"Ha Noi");</a:t>
            </a:r>
          </a:p>
          <a:p>
            <a:pPr marL="0" indent="0">
              <a:spcBef>
                <a:spcPts val="0"/>
              </a:spcBef>
              <a:buNone/>
            </a:pPr>
            <a:r>
              <a:rPr lang="en-US" sz="1400" dirty="0">
                <a:uFillTx/>
                <a:latin typeface="Courier New" pitchFamily="49" charset="0"/>
                <a:cs typeface="Courier New" pitchFamily="49" charset="0"/>
              </a:rPr>
              <a:t>            </a:t>
            </a:r>
            <a:r>
              <a:rPr lang="en-US" sz="1400" dirty="0" err="1">
                <a:uFillTx/>
                <a:latin typeface="Courier New" pitchFamily="49" charset="0"/>
                <a:cs typeface="Courier New" pitchFamily="49" charset="0"/>
              </a:rPr>
              <a:t>Console.WriteLine</a:t>
            </a:r>
            <a:r>
              <a:rPr lang="en-US" sz="1400" dirty="0">
                <a:uFillTx/>
                <a:latin typeface="Courier New" pitchFamily="49" charset="0"/>
                <a:cs typeface="Courier New" pitchFamily="49" charset="0"/>
              </a:rPr>
              <a:t>("Thong tin </a:t>
            </a:r>
            <a:r>
              <a:rPr lang="en-US" sz="1400" dirty="0" err="1">
                <a:uFillTx/>
                <a:latin typeface="Courier New" pitchFamily="49" charset="0"/>
                <a:cs typeface="Courier New" pitchFamily="49" charset="0"/>
              </a:rPr>
              <a:t>cua</a:t>
            </a:r>
            <a:r>
              <a:rPr lang="en-US" sz="1400" dirty="0">
                <a:uFillTx/>
                <a:latin typeface="Courier New" pitchFamily="49" charset="0"/>
                <a:cs typeface="Courier New" pitchFamily="49" charset="0"/>
              </a:rPr>
              <a:t> </a:t>
            </a:r>
            <a:r>
              <a:rPr lang="en-US" sz="1400" dirty="0" err="1">
                <a:uFillTx/>
                <a:latin typeface="Courier New" pitchFamily="49" charset="0"/>
                <a:cs typeface="Courier New" pitchFamily="49" charset="0"/>
              </a:rPr>
              <a:t>nguoi</a:t>
            </a:r>
            <a:r>
              <a:rPr lang="en-US" sz="1400" dirty="0">
                <a:uFillTx/>
                <a:latin typeface="Courier New" pitchFamily="49" charset="0"/>
                <a:cs typeface="Courier New" pitchFamily="49" charset="0"/>
              </a:rPr>
              <a:t>: ");</a:t>
            </a:r>
          </a:p>
          <a:p>
            <a:pPr marL="0" indent="0">
              <a:spcBef>
                <a:spcPts val="0"/>
              </a:spcBef>
              <a:buNone/>
            </a:pPr>
            <a:r>
              <a:rPr lang="en-US" sz="1400" dirty="0">
                <a:uFillTx/>
                <a:latin typeface="Courier New" pitchFamily="49" charset="0"/>
                <a:cs typeface="Courier New" pitchFamily="49" charset="0"/>
              </a:rPr>
              <a:t>            P1.Xuat();</a:t>
            </a:r>
          </a:p>
          <a:p>
            <a:pPr marL="0" indent="0">
              <a:spcBef>
                <a:spcPts val="0"/>
              </a:spcBef>
              <a:buNone/>
            </a:pPr>
            <a:r>
              <a:rPr lang="en-US" sz="1400" dirty="0">
                <a:uFillTx/>
                <a:latin typeface="Courier New" pitchFamily="49" charset="0"/>
                <a:cs typeface="Courier New" pitchFamily="49" charset="0"/>
              </a:rPr>
              <a:t>            </a:t>
            </a:r>
            <a:r>
              <a:rPr lang="en-US" sz="1400" dirty="0" err="1">
                <a:uFillTx/>
                <a:latin typeface="Courier New" pitchFamily="49" charset="0"/>
                <a:cs typeface="Courier New" pitchFamily="49" charset="0"/>
              </a:rPr>
              <a:t>SinhVien</a:t>
            </a:r>
            <a:r>
              <a:rPr lang="en-US" sz="1400" dirty="0">
                <a:uFillTx/>
                <a:latin typeface="Courier New" pitchFamily="49" charset="0"/>
                <a:cs typeface="Courier New" pitchFamily="49" charset="0"/>
              </a:rPr>
              <a:t> sv1 = new </a:t>
            </a:r>
            <a:r>
              <a:rPr lang="en-US" sz="1400" dirty="0" err="1">
                <a:uFillTx/>
                <a:latin typeface="Courier New" pitchFamily="49" charset="0"/>
                <a:cs typeface="Courier New" pitchFamily="49" charset="0"/>
              </a:rPr>
              <a:t>SinhVien</a:t>
            </a:r>
            <a:r>
              <a:rPr lang="en-US" sz="1400" dirty="0">
                <a:uFillTx/>
                <a:latin typeface="Courier New" pitchFamily="49" charset="0"/>
                <a:cs typeface="Courier New" pitchFamily="49" charset="0"/>
              </a:rPr>
              <a:t>("Nguyen </a:t>
            </a:r>
            <a:r>
              <a:rPr lang="en-US" sz="1400" dirty="0" err="1">
                <a:uFillTx/>
                <a:latin typeface="Courier New" pitchFamily="49" charset="0"/>
                <a:cs typeface="Courier New" pitchFamily="49" charset="0"/>
              </a:rPr>
              <a:t>Thi</a:t>
            </a:r>
            <a:r>
              <a:rPr lang="en-US" sz="1400" dirty="0">
                <a:uFillTx/>
                <a:latin typeface="Courier New" pitchFamily="49" charset="0"/>
                <a:cs typeface="Courier New" pitchFamily="49" charset="0"/>
              </a:rPr>
              <a:t> B",</a:t>
            </a:r>
            <a:r>
              <a:rPr lang="en-US" sz="1400" dirty="0" err="1">
                <a:uFillTx/>
                <a:latin typeface="Courier New" pitchFamily="49" charset="0"/>
                <a:cs typeface="Courier New" pitchFamily="49" charset="0"/>
              </a:rPr>
              <a:t>Convert.ToDateTime</a:t>
            </a:r>
            <a:r>
              <a:rPr lang="en-US" sz="1400" dirty="0">
                <a:uFillTx/>
                <a:latin typeface="Courier New" pitchFamily="49" charset="0"/>
                <a:cs typeface="Courier New" pitchFamily="49" charset="0"/>
              </a:rPr>
              <a:t>("12/9/1994"),"Ha Tay","15A4040012");</a:t>
            </a:r>
          </a:p>
          <a:p>
            <a:pPr marL="0" indent="0">
              <a:spcBef>
                <a:spcPts val="0"/>
              </a:spcBef>
              <a:buNone/>
            </a:pPr>
            <a:r>
              <a:rPr lang="en-US" sz="1400" dirty="0">
                <a:uFillTx/>
                <a:latin typeface="Courier New" pitchFamily="49" charset="0"/>
                <a:cs typeface="Courier New" pitchFamily="49" charset="0"/>
              </a:rPr>
              <a:t>            </a:t>
            </a:r>
            <a:r>
              <a:rPr lang="en-US" sz="1400" dirty="0" err="1">
                <a:uFillTx/>
                <a:latin typeface="Courier New" pitchFamily="49" charset="0"/>
                <a:cs typeface="Courier New" pitchFamily="49" charset="0"/>
              </a:rPr>
              <a:t>Console.WriteLine</a:t>
            </a:r>
            <a:r>
              <a:rPr lang="en-US" sz="1400" dirty="0">
                <a:uFillTx/>
                <a:latin typeface="Courier New" pitchFamily="49" charset="0"/>
                <a:cs typeface="Courier New" pitchFamily="49" charset="0"/>
              </a:rPr>
              <a:t>("\</a:t>
            </a:r>
            <a:r>
              <a:rPr lang="en-US" sz="1400" dirty="0" err="1">
                <a:uFillTx/>
                <a:latin typeface="Courier New" pitchFamily="49" charset="0"/>
                <a:cs typeface="Courier New" pitchFamily="49" charset="0"/>
              </a:rPr>
              <a:t>nThong</a:t>
            </a:r>
            <a:r>
              <a:rPr lang="en-US" sz="1400" dirty="0">
                <a:uFillTx/>
                <a:latin typeface="Courier New" pitchFamily="49" charset="0"/>
                <a:cs typeface="Courier New" pitchFamily="49" charset="0"/>
              </a:rPr>
              <a:t> tin </a:t>
            </a:r>
            <a:r>
              <a:rPr lang="en-US" sz="1400" dirty="0" err="1">
                <a:uFillTx/>
                <a:latin typeface="Courier New" pitchFamily="49" charset="0"/>
                <a:cs typeface="Courier New" pitchFamily="49" charset="0"/>
              </a:rPr>
              <a:t>cua</a:t>
            </a:r>
            <a:r>
              <a:rPr lang="en-US" sz="1400" dirty="0">
                <a:uFillTx/>
                <a:latin typeface="Courier New" pitchFamily="49" charset="0"/>
                <a:cs typeface="Courier New" pitchFamily="49" charset="0"/>
              </a:rPr>
              <a:t> </a:t>
            </a:r>
            <a:r>
              <a:rPr lang="en-US" sz="1400" dirty="0" err="1">
                <a:uFillTx/>
                <a:latin typeface="Courier New" pitchFamily="49" charset="0"/>
                <a:cs typeface="Courier New" pitchFamily="49" charset="0"/>
              </a:rPr>
              <a:t>sinh</a:t>
            </a:r>
            <a:r>
              <a:rPr lang="en-US" sz="1400" dirty="0">
                <a:uFillTx/>
                <a:latin typeface="Courier New" pitchFamily="49" charset="0"/>
                <a:cs typeface="Courier New" pitchFamily="49" charset="0"/>
              </a:rPr>
              <a:t> </a:t>
            </a:r>
            <a:r>
              <a:rPr lang="en-US" sz="1400" dirty="0" err="1">
                <a:uFillTx/>
                <a:latin typeface="Courier New" pitchFamily="49" charset="0"/>
                <a:cs typeface="Courier New" pitchFamily="49" charset="0"/>
              </a:rPr>
              <a:t>vien</a:t>
            </a:r>
            <a:r>
              <a:rPr lang="en-US" sz="1400" dirty="0">
                <a:uFillTx/>
                <a:latin typeface="Courier New" pitchFamily="49" charset="0"/>
                <a:cs typeface="Courier New" pitchFamily="49" charset="0"/>
              </a:rPr>
              <a:t>: ");</a:t>
            </a:r>
          </a:p>
          <a:p>
            <a:pPr marL="0" indent="0">
              <a:spcBef>
                <a:spcPts val="0"/>
              </a:spcBef>
              <a:buNone/>
            </a:pPr>
            <a:r>
              <a:rPr lang="en-US" sz="1400" dirty="0">
                <a:uFillTx/>
                <a:latin typeface="Courier New" pitchFamily="49" charset="0"/>
                <a:cs typeface="Courier New" pitchFamily="49" charset="0"/>
              </a:rPr>
              <a:t>            sv1.Xuat();</a:t>
            </a:r>
          </a:p>
          <a:p>
            <a:pPr marL="0" indent="0">
              <a:spcBef>
                <a:spcPts val="0"/>
              </a:spcBef>
              <a:buNone/>
            </a:pPr>
            <a:r>
              <a:rPr lang="it-IT" sz="1400" dirty="0">
                <a:uFillTx/>
                <a:latin typeface="Courier New" pitchFamily="49" charset="0"/>
                <a:cs typeface="Courier New" pitchFamily="49" charset="0"/>
              </a:rPr>
              <a:t>            Console.WriteLine("Ma sinh vien: " +sv1.MaSV);</a:t>
            </a:r>
          </a:p>
          <a:p>
            <a:pPr marL="0" indent="0">
              <a:spcBef>
                <a:spcPts val="0"/>
              </a:spcBef>
              <a:buNone/>
            </a:pPr>
            <a:r>
              <a:rPr lang="en-US" sz="1400" dirty="0">
                <a:uFillTx/>
                <a:latin typeface="Courier New" pitchFamily="49" charset="0"/>
                <a:cs typeface="Courier New" pitchFamily="49" charset="0"/>
              </a:rPr>
              <a:t>            </a:t>
            </a:r>
            <a:r>
              <a:rPr lang="en-US" sz="1400" dirty="0" err="1">
                <a:uFillTx/>
                <a:latin typeface="Courier New" pitchFamily="49" charset="0"/>
                <a:cs typeface="Courier New" pitchFamily="49" charset="0"/>
              </a:rPr>
              <a:t>Console.ReadLine</a:t>
            </a:r>
            <a:r>
              <a:rPr lang="en-US" sz="1400" dirty="0">
                <a:uFillTx/>
                <a:latin typeface="Courier New" pitchFamily="49" charset="0"/>
                <a:cs typeface="Courier New" pitchFamily="49" charset="0"/>
              </a:rPr>
              <a:t>();</a:t>
            </a:r>
          </a:p>
          <a:p>
            <a:pPr marL="0" indent="0">
              <a:spcBef>
                <a:spcPts val="0"/>
              </a:spcBef>
              <a:buNone/>
            </a:pPr>
            <a:r>
              <a:rPr lang="en-US" sz="1400" dirty="0">
                <a:uFillTx/>
                <a:latin typeface="Courier New" pitchFamily="49" charset="0"/>
                <a:cs typeface="Courier New" pitchFamily="49" charset="0"/>
              </a:rPr>
              <a:t>        }</a:t>
            </a:r>
          </a:p>
          <a:p>
            <a:pPr marL="0" indent="0">
              <a:spcBef>
                <a:spcPts val="0"/>
              </a:spcBef>
              <a:buNone/>
            </a:pPr>
            <a:r>
              <a:rPr lang="en-US" sz="1400" dirty="0">
                <a:uFillTx/>
                <a:latin typeface="Courier New" pitchFamily="49" charset="0"/>
                <a:cs typeface="Courier New" pitchFamily="49" charset="0"/>
              </a:rPr>
              <a:t>    }</a:t>
            </a:r>
          </a:p>
        </p:txBody>
      </p:sp>
      <p:sp>
        <p:nvSpPr>
          <p:cNvPr id="4" name="Date Placeholder 3"/>
          <p:cNvSpPr>
            <a:spLocks noGrp="1"/>
          </p:cNvSpPr>
          <p:nvPr>
            <p:ph type="dt" sz="half" idx="10"/>
          </p:nvPr>
        </p:nvSpPr>
        <p:spPr/>
        <p:txBody>
          <a:bodyPr/>
          <a:lstStyle/>
          <a:p>
            <a:fld id="{073E59CB-AA46-410E-8E70-B1605068C9EB}" type="datetime1">
              <a:rPr lang="vi-VN" smtClean="0">
                <a:uFillTx/>
              </a:rPr>
              <a:t>04/02/2025</a:t>
            </a:fld>
            <a:endParaRPr lang="vi-VN">
              <a:uFillTx/>
            </a:endParaRPr>
          </a:p>
        </p:txBody>
      </p:sp>
      <p:sp>
        <p:nvSpPr>
          <p:cNvPr id="5" name="Footer Placeholder 4"/>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uFillTx/>
              </a:rPr>
              <a:pPr/>
              <a:t>47</a:t>
            </a:fld>
            <a:r>
              <a:rPr lang="vi-VN">
                <a:uFillTx/>
              </a:rPr>
              <a:t>/28</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uFillTx/>
              </a:rPr>
              <a:t>Ghi đè phương thức của lớp cha</a:t>
            </a:r>
          </a:p>
        </p:txBody>
      </p:sp>
      <p:sp>
        <p:nvSpPr>
          <p:cNvPr id="3" name="Content Placeholder 2"/>
          <p:cNvSpPr>
            <a:spLocks noGrp="1"/>
          </p:cNvSpPr>
          <p:nvPr>
            <p:ph idx="1"/>
          </p:nvPr>
        </p:nvSpPr>
        <p:spPr/>
        <p:txBody>
          <a:bodyPr>
            <a:normAutofit lnSpcReduction="10000"/>
          </a:bodyPr>
          <a:lstStyle/>
          <a:p>
            <a:r>
              <a:rPr lang="en-US">
                <a:uFillTx/>
              </a:rPr>
              <a:t>Ghi đè phương thức lớp cha: Dùng từ khoá override</a:t>
            </a:r>
          </a:p>
          <a:p>
            <a:pPr lvl="1"/>
            <a:r>
              <a:rPr lang="en-US">
                <a:uFillTx/>
              </a:rPr>
              <a:t>Ví dụ:</a:t>
            </a:r>
          </a:p>
          <a:p>
            <a:pPr marL="471487" lvl="1" indent="0">
              <a:buNone/>
            </a:pPr>
            <a:r>
              <a:rPr lang="en-US">
                <a:uFillTx/>
              </a:rPr>
              <a:t>public override void Xuat()</a:t>
            </a:r>
          </a:p>
          <a:p>
            <a:pPr marL="471487" lvl="1" indent="0">
              <a:buNone/>
            </a:pPr>
            <a:r>
              <a:rPr lang="en-US">
                <a:uFillTx/>
              </a:rPr>
              <a:t>{  </a:t>
            </a:r>
          </a:p>
          <a:p>
            <a:pPr marL="471487" lvl="1" indent="0">
              <a:buNone/>
            </a:pPr>
            <a:r>
              <a:rPr lang="en-US">
                <a:uFillTx/>
              </a:rPr>
              <a:t>	//Nội dung phương thức</a:t>
            </a:r>
          </a:p>
          <a:p>
            <a:pPr marL="471487" lvl="1" indent="0">
              <a:buNone/>
            </a:pPr>
            <a:r>
              <a:rPr lang="en-US">
                <a:uFillTx/>
              </a:rPr>
              <a:t>}</a:t>
            </a:r>
          </a:p>
          <a:p>
            <a:r>
              <a:rPr lang="en-US">
                <a:uFillTx/>
              </a:rPr>
              <a:t>Che phương thức lớp cha: Dùng từ khoá new</a:t>
            </a:r>
          </a:p>
          <a:p>
            <a:pPr lvl="1"/>
            <a:r>
              <a:rPr lang="en-US">
                <a:uFillTx/>
              </a:rPr>
              <a:t>Ví dụ:</a:t>
            </a:r>
          </a:p>
          <a:p>
            <a:pPr marL="471487" lvl="1" indent="0">
              <a:buNone/>
            </a:pPr>
            <a:r>
              <a:rPr lang="en-US">
                <a:uFillTx/>
              </a:rPr>
              <a:t>public new Xuat()</a:t>
            </a:r>
          </a:p>
          <a:p>
            <a:pPr marL="471487" lvl="1" indent="0">
              <a:buNone/>
            </a:pPr>
            <a:r>
              <a:rPr lang="en-US">
                <a:uFillTx/>
              </a:rPr>
              <a:t>{    //Nội dung phương thức</a:t>
            </a:r>
          </a:p>
          <a:p>
            <a:pPr marL="471487" lvl="1" indent="0">
              <a:buNone/>
            </a:pPr>
            <a:r>
              <a:rPr lang="en-US">
                <a:uFillTx/>
              </a:rPr>
              <a:t>}</a:t>
            </a:r>
          </a:p>
        </p:txBody>
      </p:sp>
      <p:sp>
        <p:nvSpPr>
          <p:cNvPr id="4" name="Date Placeholder 3"/>
          <p:cNvSpPr>
            <a:spLocks noGrp="1"/>
          </p:cNvSpPr>
          <p:nvPr>
            <p:ph type="dt" sz="half" idx="10"/>
          </p:nvPr>
        </p:nvSpPr>
        <p:spPr/>
        <p:txBody>
          <a:bodyPr/>
          <a:lstStyle/>
          <a:p>
            <a:fld id="{5ECDFAD3-001C-469A-AA11-6B5D25322272}" type="datetime1">
              <a:rPr lang="vi-VN" smtClean="0">
                <a:uFillTx/>
              </a:rPr>
              <a:t>04/02/2025</a:t>
            </a:fld>
            <a:endParaRPr lang="vi-VN">
              <a:uFillTx/>
            </a:endParaRPr>
          </a:p>
        </p:txBody>
      </p:sp>
      <p:sp>
        <p:nvSpPr>
          <p:cNvPr id="5" name="Footer Placeholder 4"/>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uFillTx/>
              </a:rPr>
              <a:pPr/>
              <a:t>48</a:t>
            </a:fld>
            <a:r>
              <a:rPr lang="vi-VN">
                <a:uFillTx/>
              </a:rPr>
              <a:t>/28</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uFillTx/>
              </a:rPr>
              <a:t>Cấm kế thừa lớp</a:t>
            </a:r>
          </a:p>
        </p:txBody>
      </p:sp>
      <p:sp>
        <p:nvSpPr>
          <p:cNvPr id="3" name="Content Placeholder 2"/>
          <p:cNvSpPr>
            <a:spLocks noGrp="1"/>
          </p:cNvSpPr>
          <p:nvPr>
            <p:ph idx="1"/>
          </p:nvPr>
        </p:nvSpPr>
        <p:spPr/>
        <p:txBody>
          <a:bodyPr>
            <a:normAutofit/>
          </a:bodyPr>
          <a:lstStyle/>
          <a:p>
            <a:r>
              <a:rPr lang="en-US">
                <a:uFillTx/>
              </a:rPr>
              <a:t>Dùng từ khoá </a:t>
            </a:r>
            <a:r>
              <a:rPr lang="en-US">
                <a:solidFill>
                  <a:srgbClr val="FF0000"/>
                </a:solidFill>
                <a:uFillTx/>
              </a:rPr>
              <a:t>sealed</a:t>
            </a:r>
          </a:p>
          <a:p>
            <a:r>
              <a:rPr lang="en-US">
                <a:uFillTx/>
              </a:rPr>
              <a:t>Ví dụ:</a:t>
            </a:r>
          </a:p>
          <a:p>
            <a:pPr>
              <a:lnSpc>
                <a:spcPct val="80000"/>
              </a:lnSpc>
              <a:buNone/>
            </a:pPr>
            <a:endParaRPr lang="en-US" sz="1600" b="1" i="1">
              <a:solidFill>
                <a:srgbClr val="008000"/>
              </a:solidFill>
              <a:uFillTx/>
              <a:latin typeface="Courier New" pitchFamily="49" charset="0"/>
              <a:cs typeface="Times New Roman" pitchFamily="18" charset="0"/>
            </a:endParaRPr>
          </a:p>
          <a:p>
            <a:pPr>
              <a:lnSpc>
                <a:spcPct val="80000"/>
              </a:lnSpc>
              <a:buNone/>
            </a:pPr>
            <a:r>
              <a:rPr lang="en-US" sz="1600" b="1">
                <a:solidFill>
                  <a:srgbClr val="008000"/>
                </a:solidFill>
                <a:uFillTx/>
                <a:latin typeface="Courier New" pitchFamily="49" charset="0"/>
                <a:cs typeface="Times New Roman" pitchFamily="18" charset="0"/>
              </a:rPr>
              <a:t>using </a:t>
            </a:r>
            <a:r>
              <a:rPr lang="en-US" sz="1600" b="1">
                <a:solidFill>
                  <a:srgbClr val="000000"/>
                </a:solidFill>
                <a:uFillTx/>
                <a:latin typeface="Courier New" pitchFamily="49" charset="0"/>
                <a:cs typeface="Times New Roman" pitchFamily="18" charset="0"/>
              </a:rPr>
              <a:t>System</a:t>
            </a:r>
            <a:r>
              <a:rPr lang="en-US" sz="1600" b="1">
                <a:solidFill>
                  <a:srgbClr val="006400"/>
                </a:solidFill>
                <a:uFillTx/>
                <a:latin typeface="Courier New" pitchFamily="49" charset="0"/>
                <a:cs typeface="Times New Roman" pitchFamily="18" charset="0"/>
              </a:rPr>
              <a:t>;</a:t>
            </a:r>
          </a:p>
          <a:p>
            <a:pPr>
              <a:lnSpc>
                <a:spcPct val="80000"/>
              </a:lnSpc>
              <a:buNone/>
            </a:pPr>
            <a:r>
              <a:rPr lang="en-US" sz="1600" b="1">
                <a:solidFill>
                  <a:srgbClr val="0000FF"/>
                </a:solidFill>
                <a:uFillTx/>
                <a:latin typeface="Courier New" pitchFamily="49" charset="0"/>
                <a:cs typeface="Times New Roman" pitchFamily="18" charset="0"/>
              </a:rPr>
              <a:t>public </a:t>
            </a:r>
            <a:r>
              <a:rPr lang="en-US" sz="1600" b="1">
                <a:solidFill>
                  <a:srgbClr val="A52A2A"/>
                </a:solidFill>
                <a:uFillTx/>
                <a:latin typeface="Courier New" pitchFamily="49" charset="0"/>
                <a:cs typeface="Times New Roman" pitchFamily="18" charset="0"/>
              </a:rPr>
              <a:t>sealed </a:t>
            </a:r>
            <a:r>
              <a:rPr lang="en-US" sz="1600" b="1">
                <a:solidFill>
                  <a:srgbClr val="FF0000"/>
                </a:solidFill>
                <a:uFillTx/>
                <a:latin typeface="Courier New" pitchFamily="49" charset="0"/>
                <a:cs typeface="Times New Roman" pitchFamily="18" charset="0"/>
              </a:rPr>
              <a:t>class </a:t>
            </a:r>
            <a:r>
              <a:rPr lang="en-US" sz="1600" b="1">
                <a:solidFill>
                  <a:srgbClr val="000000"/>
                </a:solidFill>
                <a:uFillTx/>
                <a:latin typeface="Courier New" pitchFamily="49" charset="0"/>
                <a:cs typeface="Times New Roman" pitchFamily="18" charset="0"/>
              </a:rPr>
              <a:t>MyClass</a:t>
            </a:r>
          </a:p>
          <a:p>
            <a:pPr>
              <a:lnSpc>
                <a:spcPct val="80000"/>
              </a:lnSpc>
              <a:buNone/>
            </a:pPr>
            <a:r>
              <a:rPr lang="en-US" sz="1600" b="1">
                <a:solidFill>
                  <a:srgbClr val="006400"/>
                </a:solidFill>
                <a:uFillTx/>
                <a:latin typeface="Courier New" pitchFamily="49" charset="0"/>
                <a:cs typeface="Times New Roman" pitchFamily="18" charset="0"/>
              </a:rPr>
              <a:t>{</a:t>
            </a:r>
          </a:p>
          <a:p>
            <a:pPr>
              <a:lnSpc>
                <a:spcPct val="80000"/>
              </a:lnSpc>
              <a:buNone/>
            </a:pPr>
            <a:r>
              <a:rPr lang="en-US" sz="1600" b="1">
                <a:solidFill>
                  <a:srgbClr val="006400"/>
                </a:solidFill>
                <a:uFillTx/>
                <a:latin typeface="Courier New" pitchFamily="49" charset="0"/>
                <a:cs typeface="Times New Roman" pitchFamily="18" charset="0"/>
              </a:rPr>
              <a:t>	</a:t>
            </a:r>
            <a:r>
              <a:rPr lang="en-US" sz="1600" b="1">
                <a:solidFill>
                  <a:srgbClr val="0000FF"/>
                </a:solidFill>
                <a:uFillTx/>
                <a:latin typeface="Courier New" pitchFamily="49" charset="0"/>
                <a:cs typeface="Times New Roman" pitchFamily="18" charset="0"/>
              </a:rPr>
              <a:t>public </a:t>
            </a:r>
            <a:r>
              <a:rPr lang="en-US" sz="1600" b="1">
                <a:solidFill>
                  <a:srgbClr val="191970"/>
                </a:solidFill>
                <a:uFillTx/>
                <a:latin typeface="Courier New" pitchFamily="49" charset="0"/>
                <a:cs typeface="Times New Roman" pitchFamily="18" charset="0"/>
              </a:rPr>
              <a:t>MyClass</a:t>
            </a:r>
            <a:r>
              <a:rPr lang="en-US" sz="1600" b="1">
                <a:solidFill>
                  <a:srgbClr val="006400"/>
                </a:solidFill>
                <a:uFillTx/>
                <a:latin typeface="Courier New" pitchFamily="49" charset="0"/>
                <a:cs typeface="Times New Roman" pitchFamily="18" charset="0"/>
              </a:rPr>
              <a:t>(){}</a:t>
            </a:r>
          </a:p>
          <a:p>
            <a:pPr>
              <a:lnSpc>
                <a:spcPct val="80000"/>
              </a:lnSpc>
              <a:buNone/>
            </a:pPr>
            <a:r>
              <a:rPr lang="en-US" sz="1600" b="1">
                <a:solidFill>
                  <a:srgbClr val="006400"/>
                </a:solidFill>
                <a:uFillTx/>
                <a:latin typeface="Courier New" pitchFamily="49" charset="0"/>
                <a:cs typeface="Times New Roman" pitchFamily="18" charset="0"/>
              </a:rPr>
              <a:t>}</a:t>
            </a:r>
          </a:p>
          <a:p>
            <a:pPr>
              <a:lnSpc>
                <a:spcPct val="80000"/>
              </a:lnSpc>
              <a:buNone/>
            </a:pPr>
            <a:endParaRPr lang="en-US" sz="1600" b="1">
              <a:solidFill>
                <a:srgbClr val="006400"/>
              </a:solidFill>
              <a:uFillTx/>
              <a:latin typeface="Courier New" pitchFamily="49" charset="0"/>
              <a:cs typeface="Times New Roman" pitchFamily="18" charset="0"/>
            </a:endParaRPr>
          </a:p>
          <a:p>
            <a:pPr>
              <a:lnSpc>
                <a:spcPct val="80000"/>
              </a:lnSpc>
              <a:buNone/>
            </a:pPr>
            <a:r>
              <a:rPr lang="en-US" sz="1600" b="1">
                <a:solidFill>
                  <a:srgbClr val="0000FF"/>
                </a:solidFill>
                <a:uFillTx/>
                <a:latin typeface="Courier New" pitchFamily="49" charset="0"/>
                <a:cs typeface="Times New Roman" pitchFamily="18" charset="0"/>
              </a:rPr>
              <a:t>public </a:t>
            </a:r>
            <a:r>
              <a:rPr lang="en-US" sz="1600" b="1">
                <a:solidFill>
                  <a:srgbClr val="FF0000"/>
                </a:solidFill>
                <a:uFillTx/>
                <a:latin typeface="Courier New" pitchFamily="49" charset="0"/>
                <a:cs typeface="Times New Roman" pitchFamily="18" charset="0"/>
              </a:rPr>
              <a:t>class </a:t>
            </a:r>
            <a:r>
              <a:rPr lang="en-US" sz="1600" b="1">
                <a:solidFill>
                  <a:srgbClr val="000000"/>
                </a:solidFill>
                <a:uFillTx/>
                <a:latin typeface="Courier New" pitchFamily="49" charset="0"/>
                <a:cs typeface="Times New Roman" pitchFamily="18" charset="0"/>
              </a:rPr>
              <a:t>MyNewClass:MyClass </a:t>
            </a:r>
            <a:r>
              <a:rPr lang="en-US" sz="1600" b="1" i="1">
                <a:solidFill>
                  <a:srgbClr val="008000"/>
                </a:solidFill>
                <a:uFillTx/>
                <a:latin typeface="Courier New" pitchFamily="49" charset="0"/>
                <a:cs typeface="Times New Roman" pitchFamily="18" charset="0"/>
              </a:rPr>
              <a:t>//Định nghĩa lỗi</a:t>
            </a:r>
          </a:p>
          <a:p>
            <a:pPr>
              <a:lnSpc>
                <a:spcPct val="80000"/>
              </a:lnSpc>
              <a:buNone/>
            </a:pPr>
            <a:r>
              <a:rPr lang="en-US" sz="1600" b="1">
                <a:solidFill>
                  <a:srgbClr val="006400"/>
                </a:solidFill>
                <a:uFillTx/>
                <a:latin typeface="Courier New" pitchFamily="49" charset="0"/>
                <a:cs typeface="Times New Roman" pitchFamily="18" charset="0"/>
              </a:rPr>
              <a:t>{</a:t>
            </a:r>
          </a:p>
          <a:p>
            <a:pPr>
              <a:lnSpc>
                <a:spcPct val="80000"/>
              </a:lnSpc>
              <a:buNone/>
            </a:pPr>
            <a:r>
              <a:rPr lang="en-US" sz="1600" b="1">
                <a:solidFill>
                  <a:srgbClr val="006400"/>
                </a:solidFill>
                <a:uFillTx/>
                <a:latin typeface="Courier New" pitchFamily="49" charset="0"/>
                <a:cs typeface="Times New Roman" pitchFamily="18" charset="0"/>
              </a:rPr>
              <a:t>}</a:t>
            </a:r>
          </a:p>
          <a:p>
            <a:pPr>
              <a:lnSpc>
                <a:spcPct val="80000"/>
              </a:lnSpc>
              <a:buNone/>
            </a:pPr>
            <a:endParaRPr lang="en-US" sz="1600" b="1">
              <a:solidFill>
                <a:srgbClr val="006400"/>
              </a:solidFill>
              <a:uFillTx/>
              <a:latin typeface="Courier New" pitchFamily="49" charset="0"/>
              <a:cs typeface="Times New Roman" pitchFamily="18" charset="0"/>
            </a:endParaRPr>
          </a:p>
          <a:p>
            <a:pPr>
              <a:lnSpc>
                <a:spcPct val="80000"/>
              </a:lnSpc>
              <a:buNone/>
            </a:pPr>
            <a:r>
              <a:rPr lang="en-US" sz="1600" b="1">
                <a:solidFill>
                  <a:srgbClr val="FF0000"/>
                </a:solidFill>
                <a:uFillTx/>
                <a:latin typeface="Courier New" pitchFamily="49" charset="0"/>
                <a:cs typeface="Times New Roman" pitchFamily="18" charset="0"/>
              </a:rPr>
              <a:t>class </a:t>
            </a:r>
            <a:r>
              <a:rPr lang="en-US" sz="1600" b="1">
                <a:solidFill>
                  <a:srgbClr val="000000"/>
                </a:solidFill>
                <a:uFillTx/>
                <a:latin typeface="Courier New" pitchFamily="49" charset="0"/>
                <a:cs typeface="Times New Roman" pitchFamily="18" charset="0"/>
              </a:rPr>
              <a:t>Test</a:t>
            </a:r>
          </a:p>
          <a:p>
            <a:pPr>
              <a:lnSpc>
                <a:spcPct val="80000"/>
              </a:lnSpc>
              <a:buNone/>
            </a:pPr>
            <a:r>
              <a:rPr lang="en-US" sz="1600" b="1">
                <a:solidFill>
                  <a:srgbClr val="006400"/>
                </a:solidFill>
                <a:uFillTx/>
                <a:latin typeface="Courier New" pitchFamily="49" charset="0"/>
                <a:cs typeface="Times New Roman" pitchFamily="18" charset="0"/>
              </a:rPr>
              <a:t>{</a:t>
            </a:r>
          </a:p>
          <a:p>
            <a:pPr>
              <a:lnSpc>
                <a:spcPct val="80000"/>
              </a:lnSpc>
              <a:buNone/>
            </a:pPr>
            <a:r>
              <a:rPr lang="en-US" sz="1600" b="1">
                <a:solidFill>
                  <a:srgbClr val="006400"/>
                </a:solidFill>
                <a:uFillTx/>
                <a:latin typeface="Courier New" pitchFamily="49" charset="0"/>
                <a:cs typeface="Times New Roman" pitchFamily="18" charset="0"/>
              </a:rPr>
              <a:t>	</a:t>
            </a:r>
            <a:r>
              <a:rPr lang="en-US" sz="1600" b="1">
                <a:solidFill>
                  <a:srgbClr val="0000FF"/>
                </a:solidFill>
                <a:uFillTx/>
                <a:latin typeface="Courier New" pitchFamily="49" charset="0"/>
                <a:cs typeface="Times New Roman" pitchFamily="18" charset="0"/>
              </a:rPr>
              <a:t>public </a:t>
            </a:r>
            <a:r>
              <a:rPr lang="en-US" sz="1600" b="1">
                <a:solidFill>
                  <a:srgbClr val="A52A2A"/>
                </a:solidFill>
                <a:uFillTx/>
                <a:latin typeface="Courier New" pitchFamily="49" charset="0"/>
                <a:cs typeface="Times New Roman" pitchFamily="18" charset="0"/>
              </a:rPr>
              <a:t>static </a:t>
            </a:r>
            <a:r>
              <a:rPr lang="en-US" sz="1600" b="1">
                <a:solidFill>
                  <a:srgbClr val="FF0000"/>
                </a:solidFill>
                <a:uFillTx/>
                <a:latin typeface="Courier New" pitchFamily="49" charset="0"/>
                <a:cs typeface="Times New Roman" pitchFamily="18" charset="0"/>
              </a:rPr>
              <a:t>void </a:t>
            </a:r>
            <a:r>
              <a:rPr lang="en-US" sz="1600" b="1">
                <a:solidFill>
                  <a:srgbClr val="191970"/>
                </a:solidFill>
                <a:uFillTx/>
                <a:latin typeface="Courier New" pitchFamily="49" charset="0"/>
                <a:cs typeface="Times New Roman" pitchFamily="18" charset="0"/>
              </a:rPr>
              <a:t>Main</a:t>
            </a:r>
            <a:r>
              <a:rPr lang="en-US" sz="1600" b="1">
                <a:solidFill>
                  <a:srgbClr val="006400"/>
                </a:solidFill>
                <a:uFillTx/>
                <a:latin typeface="Courier New" pitchFamily="49" charset="0"/>
                <a:cs typeface="Times New Roman" pitchFamily="18" charset="0"/>
              </a:rPr>
              <a:t>()</a:t>
            </a:r>
          </a:p>
          <a:p>
            <a:pPr>
              <a:lnSpc>
                <a:spcPct val="80000"/>
              </a:lnSpc>
              <a:buNone/>
            </a:pPr>
            <a:r>
              <a:rPr lang="en-US" sz="1600" b="1">
                <a:solidFill>
                  <a:srgbClr val="006400"/>
                </a:solidFill>
                <a:uFillTx/>
                <a:latin typeface="Courier New" pitchFamily="49" charset="0"/>
                <a:cs typeface="Times New Roman" pitchFamily="18" charset="0"/>
              </a:rPr>
              <a:t>	{		</a:t>
            </a:r>
          </a:p>
          <a:p>
            <a:pPr>
              <a:lnSpc>
                <a:spcPct val="80000"/>
              </a:lnSpc>
              <a:buNone/>
            </a:pPr>
            <a:r>
              <a:rPr lang="en-US" sz="1600" b="1">
                <a:solidFill>
                  <a:srgbClr val="006400"/>
                </a:solidFill>
                <a:uFillTx/>
                <a:latin typeface="Courier New" pitchFamily="49" charset="0"/>
                <a:cs typeface="Times New Roman" pitchFamily="18" charset="0"/>
              </a:rPr>
              <a:t>	}</a:t>
            </a:r>
          </a:p>
          <a:p>
            <a:pPr>
              <a:lnSpc>
                <a:spcPct val="80000"/>
              </a:lnSpc>
              <a:buNone/>
            </a:pPr>
            <a:r>
              <a:rPr lang="en-US" sz="1600" b="1">
                <a:solidFill>
                  <a:srgbClr val="006400"/>
                </a:solidFill>
                <a:uFillTx/>
                <a:latin typeface="Courier New" pitchFamily="49" charset="0"/>
                <a:cs typeface="Times New Roman" pitchFamily="18" charset="0"/>
              </a:rPr>
              <a:t>}</a:t>
            </a:r>
          </a:p>
          <a:p>
            <a:pPr marL="0" indent="0">
              <a:buNone/>
            </a:pPr>
            <a:endParaRPr lang="en-US">
              <a:uFillTx/>
            </a:endParaRPr>
          </a:p>
        </p:txBody>
      </p:sp>
      <p:sp>
        <p:nvSpPr>
          <p:cNvPr id="4" name="Date Placeholder 3"/>
          <p:cNvSpPr>
            <a:spLocks noGrp="1"/>
          </p:cNvSpPr>
          <p:nvPr>
            <p:ph type="dt" sz="half" idx="10"/>
          </p:nvPr>
        </p:nvSpPr>
        <p:spPr/>
        <p:txBody>
          <a:bodyPr/>
          <a:lstStyle/>
          <a:p>
            <a:fld id="{AB825F30-1FB9-45DF-ADBA-78F1AB4CF369}" type="datetime1">
              <a:rPr lang="vi-VN" smtClean="0">
                <a:uFillTx/>
              </a:rPr>
              <a:t>04/02/2025</a:t>
            </a:fld>
            <a:endParaRPr lang="vi-VN">
              <a:uFillTx/>
            </a:endParaRPr>
          </a:p>
        </p:txBody>
      </p:sp>
      <p:sp>
        <p:nvSpPr>
          <p:cNvPr id="5" name="Footer Placeholder 4"/>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uFillTx/>
              </a:rPr>
              <a:pPr/>
              <a:t>49</a:t>
            </a:fld>
            <a:r>
              <a:rPr lang="vi-VN">
                <a:uFillTx/>
              </a:rPr>
              <a:t>/28</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uFillTx/>
              </a:rPr>
              <a:t>3.2.2 </a:t>
            </a:r>
            <a:r>
              <a:rPr lang="en-US" dirty="0" err="1">
                <a:uFillTx/>
              </a:rPr>
              <a:t>Đa</a:t>
            </a:r>
            <a:r>
              <a:rPr lang="en-US" dirty="0">
                <a:uFillTx/>
              </a:rPr>
              <a:t> </a:t>
            </a:r>
            <a:r>
              <a:rPr lang="en-US" dirty="0" err="1">
                <a:uFillTx/>
              </a:rPr>
              <a:t>hình</a:t>
            </a:r>
            <a:r>
              <a:rPr lang="en-US" dirty="0">
                <a:uFillTx/>
              </a:rPr>
              <a:t> (polymorphism)</a:t>
            </a:r>
          </a:p>
        </p:txBody>
      </p:sp>
      <p:sp>
        <p:nvSpPr>
          <p:cNvPr id="4" name="Date Placeholder 3"/>
          <p:cNvSpPr>
            <a:spLocks noGrp="1"/>
          </p:cNvSpPr>
          <p:nvPr>
            <p:ph type="dt" sz="half" idx="10"/>
          </p:nvPr>
        </p:nvSpPr>
        <p:spPr/>
        <p:txBody>
          <a:bodyPr/>
          <a:lstStyle/>
          <a:p>
            <a:fld id="{8D7E6C10-CD1B-48C8-B9D6-8FDAB464CED0}" type="datetime1">
              <a:rPr lang="vi-VN" smtClean="0">
                <a:uFillTx/>
              </a:rPr>
              <a:t>04/02/2025</a:t>
            </a:fld>
            <a:endParaRPr lang="vi-VN">
              <a:uFillTx/>
            </a:endParaRPr>
          </a:p>
        </p:txBody>
      </p:sp>
      <p:sp>
        <p:nvSpPr>
          <p:cNvPr id="5" name="Footer Placeholder 4"/>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uFillTx/>
              </a:rPr>
              <a:pPr/>
              <a:t>50</a:t>
            </a:fld>
            <a:r>
              <a:rPr lang="vi-VN">
                <a:uFillTx/>
              </a:rPr>
              <a:t>/28</a:t>
            </a:r>
          </a:p>
        </p:txBody>
      </p:sp>
      <p:sp>
        <p:nvSpPr>
          <p:cNvPr id="12" name="Content Placeholder 11">
            <a:extLst>
              <a:ext uri="{FF2B5EF4-FFF2-40B4-BE49-F238E27FC236}">
                <a16:creationId xmlns:a16="http://schemas.microsoft.com/office/drawing/2014/main" id="{D140CDE1-CEF7-4CB5-985B-85CCA56A0B29}"/>
              </a:ext>
            </a:extLst>
          </p:cNvPr>
          <p:cNvSpPr>
            <a:spLocks noGrp="1"/>
          </p:cNvSpPr>
          <p:nvPr>
            <p:ph idx="1"/>
          </p:nvPr>
        </p:nvSpPr>
        <p:spPr>
          <a:xfrm>
            <a:off x="762000" y="1143000"/>
            <a:ext cx="7698432" cy="5181600"/>
          </a:xfrm>
        </p:spPr>
        <p:txBody>
          <a:bodyPr/>
          <a:lstStyle/>
          <a:p>
            <a:r>
              <a:rPr lang="en-US" sz="2400" dirty="0" err="1"/>
              <a:t>Tính</a:t>
            </a:r>
            <a:r>
              <a:rPr lang="en-US" sz="2400" dirty="0"/>
              <a:t> </a:t>
            </a:r>
            <a:r>
              <a:rPr lang="en-US" sz="2400" dirty="0" err="1"/>
              <a:t>đa</a:t>
            </a:r>
            <a:r>
              <a:rPr lang="en-US" sz="2400" dirty="0"/>
              <a:t> </a:t>
            </a:r>
            <a:r>
              <a:rPr lang="en-US" sz="2400" dirty="0" err="1"/>
              <a:t>hình</a:t>
            </a:r>
            <a:r>
              <a:rPr lang="en-US" sz="2400" dirty="0"/>
              <a:t> </a:t>
            </a:r>
            <a:r>
              <a:rPr lang="vi-VN" sz="2400" dirty="0"/>
              <a:t>là hiện tượng các đối tượng thuộc các lớp khác nhau có thể hiểu cùng 1 thông điệp theo các cách khác nhau.</a:t>
            </a:r>
            <a:endParaRPr lang="en-US" sz="2400" dirty="0"/>
          </a:p>
          <a:p>
            <a:pPr algn="l"/>
            <a:r>
              <a:rPr lang="vi-VN" sz="2400" dirty="0"/>
              <a:t>Để thể hiện được tính đa hình:</a:t>
            </a:r>
          </a:p>
          <a:p>
            <a:pPr lvl="1" algn="l">
              <a:buFont typeface="Wingdings" panose="05000000000000000000" pitchFamily="2" charset="2"/>
              <a:buChar char="§"/>
            </a:pPr>
            <a:r>
              <a:rPr lang="vi-VN" sz="2000" dirty="0"/>
              <a:t>Các lớp phải có quan hệ kế thừa với cùng 1 lớp cha nào đó.</a:t>
            </a:r>
          </a:p>
          <a:p>
            <a:pPr lvl="1" algn="l">
              <a:buFont typeface="Wingdings" panose="05000000000000000000" pitchFamily="2" charset="2"/>
              <a:buChar char="§"/>
            </a:pPr>
            <a:r>
              <a:rPr lang="vi-VN" sz="2000" dirty="0"/>
              <a:t>Phương thức đa hình phải được ghi đè (override) ở các lớp con</a:t>
            </a:r>
            <a:endParaRPr lang="en-US" sz="2000" dirty="0"/>
          </a:p>
          <a:p>
            <a:r>
              <a:rPr lang="en-US" sz="2400" dirty="0" err="1"/>
              <a:t>Đa</a:t>
            </a:r>
            <a:r>
              <a:rPr lang="en-US" sz="2400" dirty="0"/>
              <a:t> </a:t>
            </a:r>
            <a:r>
              <a:rPr lang="en-US" sz="2400" dirty="0" err="1"/>
              <a:t>hình</a:t>
            </a:r>
            <a:r>
              <a:rPr lang="en-US" sz="2400" dirty="0"/>
              <a:t> </a:t>
            </a:r>
            <a:r>
              <a:rPr lang="en-US" sz="2400" dirty="0" err="1"/>
              <a:t>gồm</a:t>
            </a:r>
            <a:r>
              <a:rPr lang="en-US" sz="2400" dirty="0"/>
              <a:t> </a:t>
            </a:r>
            <a:r>
              <a:rPr lang="en-US" sz="2400" dirty="0" err="1"/>
              <a:t>có</a:t>
            </a:r>
            <a:r>
              <a:rPr lang="en-US" sz="2400" dirty="0"/>
              <a:t> 2 </a:t>
            </a:r>
            <a:r>
              <a:rPr lang="en-US" sz="2400" dirty="0" err="1"/>
              <a:t>loại</a:t>
            </a:r>
            <a:r>
              <a:rPr lang="en-US" sz="2400" dirty="0"/>
              <a:t>:</a:t>
            </a:r>
          </a:p>
          <a:p>
            <a:pPr lvl="1"/>
            <a:r>
              <a:rPr lang="en-US" sz="2000" dirty="0" err="1"/>
              <a:t>Đa</a:t>
            </a:r>
            <a:r>
              <a:rPr lang="en-US" sz="2000" dirty="0"/>
              <a:t> </a:t>
            </a:r>
            <a:r>
              <a:rPr lang="en-US" sz="2000" dirty="0" err="1"/>
              <a:t>hình</a:t>
            </a:r>
            <a:r>
              <a:rPr lang="en-US" sz="2000" dirty="0"/>
              <a:t> </a:t>
            </a:r>
            <a:r>
              <a:rPr lang="en-US" sz="2000" dirty="0" err="1"/>
              <a:t>khi</a:t>
            </a:r>
            <a:r>
              <a:rPr lang="en-US" sz="2000" dirty="0"/>
              <a:t> </a:t>
            </a:r>
            <a:r>
              <a:rPr lang="en-US" sz="2000" dirty="0" err="1"/>
              <a:t>chạy</a:t>
            </a:r>
            <a:r>
              <a:rPr lang="en-US" sz="2000" dirty="0"/>
              <a:t>: override – </a:t>
            </a:r>
            <a:r>
              <a:rPr lang="en-US" sz="2000" dirty="0" err="1"/>
              <a:t>ghi</a:t>
            </a:r>
            <a:r>
              <a:rPr lang="en-US" sz="2000" dirty="0"/>
              <a:t> </a:t>
            </a:r>
            <a:r>
              <a:rPr lang="en-US" sz="2000" dirty="0" err="1"/>
              <a:t>đè</a:t>
            </a:r>
            <a:r>
              <a:rPr lang="en-US" sz="2000" dirty="0"/>
              <a:t> </a:t>
            </a:r>
          </a:p>
          <a:p>
            <a:pPr lvl="1"/>
            <a:r>
              <a:rPr lang="en-US" sz="2000" dirty="0" err="1"/>
              <a:t>Đa</a:t>
            </a:r>
            <a:r>
              <a:rPr lang="en-US" sz="2000" dirty="0"/>
              <a:t> </a:t>
            </a:r>
            <a:r>
              <a:rPr lang="en-US" sz="2000" dirty="0" err="1"/>
              <a:t>hình</a:t>
            </a:r>
            <a:r>
              <a:rPr lang="en-US" sz="2000" dirty="0"/>
              <a:t> </a:t>
            </a:r>
            <a:r>
              <a:rPr lang="en-US" sz="2000" dirty="0" err="1"/>
              <a:t>khi</a:t>
            </a:r>
            <a:r>
              <a:rPr lang="en-US" sz="2000" dirty="0"/>
              <a:t> </a:t>
            </a:r>
            <a:r>
              <a:rPr lang="en-US" sz="2000" dirty="0" err="1"/>
              <a:t>biên</a:t>
            </a:r>
            <a:r>
              <a:rPr lang="en-US" sz="2000" dirty="0"/>
              <a:t> </a:t>
            </a:r>
            <a:r>
              <a:rPr lang="en-US" sz="2000" dirty="0" err="1"/>
              <a:t>dịch</a:t>
            </a:r>
            <a:r>
              <a:rPr lang="en-US" sz="2000" dirty="0"/>
              <a:t>: overload – </a:t>
            </a:r>
            <a:r>
              <a:rPr lang="en-US" sz="2000" dirty="0" err="1"/>
              <a:t>nạp</a:t>
            </a:r>
            <a:r>
              <a:rPr lang="en-US" sz="2000" dirty="0"/>
              <a:t> </a:t>
            </a:r>
            <a:r>
              <a:rPr lang="en-US" sz="2000" dirty="0" err="1"/>
              <a:t>chồng</a:t>
            </a:r>
            <a:endParaRPr lang="en-US" sz="2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uFillTx/>
              </a:rPr>
              <a:t>3.2.2 </a:t>
            </a:r>
            <a:r>
              <a:rPr lang="en-US" dirty="0" err="1">
                <a:uFillTx/>
              </a:rPr>
              <a:t>Đa</a:t>
            </a:r>
            <a:r>
              <a:rPr lang="en-US" dirty="0">
                <a:uFillTx/>
              </a:rPr>
              <a:t> </a:t>
            </a:r>
            <a:r>
              <a:rPr lang="en-US" dirty="0" err="1">
                <a:uFillTx/>
              </a:rPr>
              <a:t>hình</a:t>
            </a:r>
            <a:r>
              <a:rPr lang="en-US" dirty="0">
                <a:uFillTx/>
              </a:rPr>
              <a:t> – </a:t>
            </a:r>
            <a:r>
              <a:rPr lang="en-US" dirty="0" err="1">
                <a:uFillTx/>
              </a:rPr>
              <a:t>Ghi</a:t>
            </a:r>
            <a:r>
              <a:rPr lang="en-US" dirty="0">
                <a:uFillTx/>
              </a:rPr>
              <a:t> </a:t>
            </a:r>
            <a:r>
              <a:rPr lang="en-US" dirty="0" err="1">
                <a:uFillTx/>
              </a:rPr>
              <a:t>đè</a:t>
            </a:r>
            <a:endParaRPr lang="en-US" dirty="0">
              <a:uFillTx/>
            </a:endParaRPr>
          </a:p>
        </p:txBody>
      </p:sp>
      <p:sp>
        <p:nvSpPr>
          <p:cNvPr id="3" name="Content Placeholder 2"/>
          <p:cNvSpPr>
            <a:spLocks noGrp="1"/>
          </p:cNvSpPr>
          <p:nvPr>
            <p:ph idx="1"/>
          </p:nvPr>
        </p:nvSpPr>
        <p:spPr/>
        <p:txBody>
          <a:bodyPr>
            <a:normAutofit lnSpcReduction="10000"/>
          </a:bodyPr>
          <a:lstStyle/>
          <a:p>
            <a:r>
              <a:rPr lang="en-US">
                <a:uFillTx/>
              </a:rPr>
              <a:t>Các bước thực hiện</a:t>
            </a:r>
          </a:p>
          <a:p>
            <a:pPr lvl="1"/>
            <a:r>
              <a:rPr lang="en-US">
                <a:uFillTx/>
              </a:rPr>
              <a:t>Bước 1: </a:t>
            </a:r>
          </a:p>
          <a:p>
            <a:pPr marL="471487" lvl="1" indent="0">
              <a:buNone/>
            </a:pPr>
            <a:r>
              <a:rPr lang="en-US">
                <a:uFillTx/>
              </a:rPr>
              <a:t>Đánh dấu phương thức ảo (virtual) trong lớp cơ sở</a:t>
            </a:r>
          </a:p>
          <a:p>
            <a:pPr marL="471487" lvl="1" indent="0">
              <a:buNone/>
            </a:pPr>
            <a:r>
              <a:rPr lang="en-US">
                <a:uFillTx/>
              </a:rPr>
              <a:t>Ví dụ:</a:t>
            </a:r>
          </a:p>
          <a:p>
            <a:pPr marL="471487" lvl="1" indent="0">
              <a:buNone/>
            </a:pPr>
            <a:r>
              <a:rPr lang="en-US">
                <a:uFillTx/>
                <a:latin typeface="Courier New" pitchFamily="49" charset="0"/>
                <a:cs typeface="Courier New" pitchFamily="49" charset="0"/>
              </a:rPr>
              <a:t>public </a:t>
            </a:r>
            <a:r>
              <a:rPr lang="en-US">
                <a:solidFill>
                  <a:srgbClr val="FF0000"/>
                </a:solidFill>
                <a:uFillTx/>
                <a:latin typeface="Courier New" pitchFamily="49" charset="0"/>
                <a:cs typeface="Courier New" pitchFamily="49" charset="0"/>
              </a:rPr>
              <a:t>virtual</a:t>
            </a:r>
            <a:r>
              <a:rPr lang="en-US">
                <a:uFillTx/>
                <a:latin typeface="Courier New" pitchFamily="49" charset="0"/>
                <a:cs typeface="Courier New" pitchFamily="49" charset="0"/>
              </a:rPr>
              <a:t> void Draw( )</a:t>
            </a:r>
          </a:p>
          <a:p>
            <a:pPr marL="471487" lvl="1" indent="0">
              <a:buNone/>
            </a:pPr>
            <a:r>
              <a:rPr lang="en-US" b="1">
                <a:uFillTx/>
                <a:latin typeface="Courier New" pitchFamily="49" charset="0"/>
                <a:cs typeface="Courier New" pitchFamily="49" charset="0"/>
              </a:rPr>
              <a:t>{ </a:t>
            </a:r>
            <a:r>
              <a:rPr lang="en-US" sz="1800" b="1" i="1">
                <a:solidFill>
                  <a:srgbClr val="008000"/>
                </a:solidFill>
                <a:uFillTx/>
                <a:latin typeface="Courier New" pitchFamily="49" charset="0"/>
                <a:ea typeface="+mn-ea"/>
                <a:cs typeface="Times New Roman" pitchFamily="18" charset="0"/>
              </a:rPr>
              <a:t>//Nội dung phương thức</a:t>
            </a:r>
          </a:p>
          <a:p>
            <a:pPr marL="471487" lvl="1" indent="0">
              <a:buNone/>
            </a:pPr>
            <a:r>
              <a:rPr lang="en-US" b="1">
                <a:uFillTx/>
                <a:latin typeface="Courier New" pitchFamily="49" charset="0"/>
                <a:cs typeface="Courier New" pitchFamily="49" charset="0"/>
              </a:rPr>
              <a:t>}</a:t>
            </a:r>
            <a:endParaRPr lang="en-US">
              <a:uFillTx/>
              <a:latin typeface="Courier New" pitchFamily="49" charset="0"/>
              <a:cs typeface="Courier New" pitchFamily="49" charset="0"/>
            </a:endParaRPr>
          </a:p>
          <a:p>
            <a:pPr lvl="1"/>
            <a:r>
              <a:rPr lang="en-US">
                <a:uFillTx/>
              </a:rPr>
              <a:t>Bước 2:</a:t>
            </a:r>
          </a:p>
          <a:p>
            <a:pPr marL="471487" lvl="1" indent="0">
              <a:buNone/>
            </a:pPr>
            <a:r>
              <a:rPr lang="en-US">
                <a:uFillTx/>
              </a:rPr>
              <a:t>Đánh dấu phương thức ghi đè (override) trong lớp dẫn xuất</a:t>
            </a:r>
          </a:p>
          <a:p>
            <a:pPr marL="471487" lvl="1" indent="0">
              <a:buNone/>
            </a:pPr>
            <a:r>
              <a:rPr lang="en-US">
                <a:uFillTx/>
                <a:latin typeface="Courier New" pitchFamily="49" charset="0"/>
                <a:cs typeface="Courier New" pitchFamily="49" charset="0"/>
              </a:rPr>
              <a:t>public </a:t>
            </a:r>
            <a:r>
              <a:rPr lang="en-US">
                <a:solidFill>
                  <a:srgbClr val="FF0000"/>
                </a:solidFill>
                <a:uFillTx/>
                <a:latin typeface="Courier New" pitchFamily="49" charset="0"/>
                <a:cs typeface="Courier New" pitchFamily="49" charset="0"/>
              </a:rPr>
              <a:t>override </a:t>
            </a:r>
            <a:r>
              <a:rPr lang="en-US">
                <a:uFillTx/>
                <a:latin typeface="Courier New" pitchFamily="49" charset="0"/>
                <a:cs typeface="Courier New" pitchFamily="49" charset="0"/>
              </a:rPr>
              <a:t>void Draw( )</a:t>
            </a:r>
          </a:p>
          <a:p>
            <a:pPr marL="471487" lvl="1" indent="0">
              <a:buNone/>
            </a:pPr>
            <a:r>
              <a:rPr lang="en-US" b="1">
                <a:uFillTx/>
                <a:latin typeface="Courier New" pitchFamily="49" charset="0"/>
                <a:cs typeface="Courier New" pitchFamily="49" charset="0"/>
              </a:rPr>
              <a:t>{ </a:t>
            </a:r>
            <a:r>
              <a:rPr lang="en-US" sz="1800" b="1" i="1">
                <a:solidFill>
                  <a:srgbClr val="008000"/>
                </a:solidFill>
                <a:uFillTx/>
                <a:latin typeface="Courier New" pitchFamily="49" charset="0"/>
                <a:cs typeface="Times New Roman" pitchFamily="18" charset="0"/>
              </a:rPr>
              <a:t>//Nội dung phương thức</a:t>
            </a:r>
          </a:p>
          <a:p>
            <a:pPr marL="471487" lvl="1" indent="0">
              <a:buNone/>
            </a:pPr>
            <a:r>
              <a:rPr lang="en-US" b="1">
                <a:uFillTx/>
                <a:latin typeface="Courier New" pitchFamily="49" charset="0"/>
                <a:cs typeface="Courier New" pitchFamily="49" charset="0"/>
              </a:rPr>
              <a:t>}</a:t>
            </a:r>
            <a:endParaRPr lang="en-US">
              <a:uFillTx/>
              <a:latin typeface="Courier New" pitchFamily="49" charset="0"/>
              <a:cs typeface="Courier New" pitchFamily="49" charset="0"/>
            </a:endParaRPr>
          </a:p>
          <a:p>
            <a:pPr marL="471487" lvl="1" indent="0">
              <a:buNone/>
            </a:pPr>
            <a:endParaRPr lang="en-US">
              <a:uFillTx/>
            </a:endParaRPr>
          </a:p>
        </p:txBody>
      </p:sp>
      <p:sp>
        <p:nvSpPr>
          <p:cNvPr id="4" name="Date Placeholder 3"/>
          <p:cNvSpPr>
            <a:spLocks noGrp="1"/>
          </p:cNvSpPr>
          <p:nvPr>
            <p:ph type="dt" sz="half" idx="10"/>
          </p:nvPr>
        </p:nvSpPr>
        <p:spPr/>
        <p:txBody>
          <a:bodyPr/>
          <a:lstStyle/>
          <a:p>
            <a:fld id="{6DD9362E-72E4-445F-AA61-F54A2823DA52}" type="datetime1">
              <a:rPr lang="vi-VN" smtClean="0">
                <a:uFillTx/>
              </a:rPr>
              <a:t>04/02/2025</a:t>
            </a:fld>
            <a:endParaRPr lang="vi-VN">
              <a:uFillTx/>
            </a:endParaRPr>
          </a:p>
        </p:txBody>
      </p:sp>
      <p:sp>
        <p:nvSpPr>
          <p:cNvPr id="5" name="Footer Placeholder 4"/>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uFillTx/>
              </a:rPr>
              <a:pPr/>
              <a:t>51</a:t>
            </a:fld>
            <a:r>
              <a:rPr lang="vi-VN">
                <a:uFillTx/>
              </a:rPr>
              <a:t>/28</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uFillTx/>
              </a:rPr>
              <a:t>3.2.2 Đa hình</a:t>
            </a:r>
            <a:r>
              <a:rPr lang="en-US" dirty="0">
                <a:uFillTx/>
              </a:rPr>
              <a:t> – </a:t>
            </a:r>
            <a:r>
              <a:rPr lang="en-US" dirty="0" err="1">
                <a:uFillTx/>
              </a:rPr>
              <a:t>Ghi</a:t>
            </a:r>
            <a:r>
              <a:rPr lang="en-US" dirty="0">
                <a:uFillTx/>
              </a:rPr>
              <a:t> </a:t>
            </a:r>
            <a:r>
              <a:rPr lang="en-US" dirty="0" err="1">
                <a:uFillTx/>
              </a:rPr>
              <a:t>đè</a:t>
            </a:r>
            <a:endParaRPr lang="en-US" dirty="0">
              <a:uFillTx/>
            </a:endParaRPr>
          </a:p>
        </p:txBody>
      </p:sp>
      <p:sp>
        <p:nvSpPr>
          <p:cNvPr id="3" name="Content Placeholder 2"/>
          <p:cNvSpPr>
            <a:spLocks noGrp="1"/>
          </p:cNvSpPr>
          <p:nvPr>
            <p:ph idx="1"/>
          </p:nvPr>
        </p:nvSpPr>
        <p:spPr/>
        <p:txBody>
          <a:bodyPr/>
          <a:lstStyle/>
          <a:p>
            <a:pPr marL="342900" indent="-342900"/>
            <a:r>
              <a:rPr lang="en-US">
                <a:uFillTx/>
              </a:rPr>
              <a:t> Ví dụ:</a:t>
            </a:r>
          </a:p>
          <a:p>
            <a:pPr marL="781050" lvl="1" indent="-342900"/>
            <a:r>
              <a:rPr lang="en-US">
                <a:uFillTx/>
              </a:rPr>
              <a:t>Khai báo lớp Nguoi gồm </a:t>
            </a:r>
          </a:p>
          <a:p>
            <a:pPr marL="1177925" lvl="2" indent="-342900"/>
            <a:r>
              <a:rPr lang="en-US">
                <a:uFillTx/>
              </a:rPr>
              <a:t>Các thuộc tính: HoTen, NgaySinh, QueQuan</a:t>
            </a:r>
          </a:p>
          <a:p>
            <a:pPr marL="1177925" lvl="2" indent="-342900"/>
            <a:r>
              <a:rPr lang="en-US">
                <a:uFillTx/>
              </a:rPr>
              <a:t>Phương thức: Xuat (virtual)</a:t>
            </a:r>
          </a:p>
          <a:p>
            <a:pPr marL="781050" lvl="1" indent="-342900"/>
            <a:r>
              <a:rPr lang="en-US">
                <a:uFillTx/>
              </a:rPr>
              <a:t>Khai báo lớp SinhVien kế thừa từ lớp Nguoi</a:t>
            </a:r>
          </a:p>
          <a:p>
            <a:pPr marL="1177925" lvl="2" indent="-342900"/>
            <a:r>
              <a:rPr lang="en-US">
                <a:uFillTx/>
              </a:rPr>
              <a:t>Bổ sung thêm thuộc tính MaSV</a:t>
            </a:r>
          </a:p>
          <a:p>
            <a:pPr marL="1177925" lvl="2" indent="-342900"/>
            <a:r>
              <a:rPr lang="en-US">
                <a:uFillTx/>
              </a:rPr>
              <a:t>Phương thức: Xuat (override)</a:t>
            </a:r>
          </a:p>
          <a:p>
            <a:pPr lvl="1"/>
            <a:endParaRPr lang="en-US">
              <a:uFillTx/>
            </a:endParaRPr>
          </a:p>
        </p:txBody>
      </p:sp>
      <p:sp>
        <p:nvSpPr>
          <p:cNvPr id="4" name="Date Placeholder 3"/>
          <p:cNvSpPr>
            <a:spLocks noGrp="1"/>
          </p:cNvSpPr>
          <p:nvPr>
            <p:ph type="dt" sz="half" idx="10"/>
          </p:nvPr>
        </p:nvSpPr>
        <p:spPr/>
        <p:txBody>
          <a:bodyPr/>
          <a:lstStyle/>
          <a:p>
            <a:fld id="{26ACE33E-6BB9-4949-AD5D-FA2DE001A7AC}" type="datetime1">
              <a:rPr lang="vi-VN" smtClean="0">
                <a:uFillTx/>
              </a:rPr>
              <a:t>04/02/2025</a:t>
            </a:fld>
            <a:endParaRPr lang="vi-VN">
              <a:uFillTx/>
            </a:endParaRPr>
          </a:p>
        </p:txBody>
      </p:sp>
      <p:sp>
        <p:nvSpPr>
          <p:cNvPr id="5" name="Footer Placeholder 4"/>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uFillTx/>
              </a:rPr>
              <a:pPr/>
              <a:t>52</a:t>
            </a:fld>
            <a:r>
              <a:rPr lang="vi-VN">
                <a:uFillTx/>
              </a:rPr>
              <a:t>/28</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uFillTx/>
              </a:rPr>
              <a:t>Ví dụ - Đa hình</a:t>
            </a:r>
          </a:p>
        </p:txBody>
      </p:sp>
      <p:sp>
        <p:nvSpPr>
          <p:cNvPr id="3" name="Content Placeholder 2"/>
          <p:cNvSpPr>
            <a:spLocks noGrp="1"/>
          </p:cNvSpPr>
          <p:nvPr>
            <p:ph idx="1"/>
          </p:nvPr>
        </p:nvSpPr>
        <p:spPr/>
        <p:txBody>
          <a:bodyPr>
            <a:normAutofit lnSpcReduction="10000"/>
          </a:bodyPr>
          <a:lstStyle/>
          <a:p>
            <a:pPr marL="0" indent="0">
              <a:buNone/>
            </a:pPr>
            <a:r>
              <a:rPr lang="en-US" sz="1500" b="1">
                <a:solidFill>
                  <a:schemeClr val="accent2">
                    <a:lumMod val="60000"/>
                    <a:lumOff val="40000"/>
                  </a:schemeClr>
                </a:solidFill>
                <a:uFillTx/>
                <a:latin typeface="Courier New" pitchFamily="49" charset="0"/>
                <a:cs typeface="Courier New" pitchFamily="49" charset="0"/>
              </a:rPr>
              <a:t>class</a:t>
            </a:r>
            <a:r>
              <a:rPr lang="en-US" sz="1500" b="1">
                <a:uFillTx/>
                <a:latin typeface="Courier New" pitchFamily="49" charset="0"/>
                <a:cs typeface="Courier New" pitchFamily="49" charset="0"/>
              </a:rPr>
              <a:t> Nguoi</a:t>
            </a:r>
          </a:p>
          <a:p>
            <a:pPr marL="0" indent="0">
              <a:buNone/>
            </a:pPr>
            <a:r>
              <a:rPr lang="en-US" sz="1500" b="1">
                <a:uFillTx/>
                <a:latin typeface="Courier New" pitchFamily="49" charset="0"/>
                <a:cs typeface="Courier New" pitchFamily="49" charset="0"/>
              </a:rPr>
              <a:t>    {</a:t>
            </a:r>
          </a:p>
          <a:p>
            <a:pPr marL="0" indent="0">
              <a:buNone/>
            </a:pPr>
            <a:r>
              <a:rPr lang="en-US" sz="1500" b="1">
                <a:uFillTx/>
                <a:latin typeface="Courier New" pitchFamily="49" charset="0"/>
                <a:cs typeface="Courier New" pitchFamily="49" charset="0"/>
              </a:rPr>
              <a:t>        public string HoTen;</a:t>
            </a:r>
          </a:p>
          <a:p>
            <a:pPr marL="0" indent="0">
              <a:buNone/>
            </a:pPr>
            <a:r>
              <a:rPr lang="en-US" sz="1500" b="1">
                <a:uFillTx/>
                <a:latin typeface="Courier New" pitchFamily="49" charset="0"/>
                <a:cs typeface="Courier New" pitchFamily="49" charset="0"/>
              </a:rPr>
              <a:t>        public DateTime NgaySinh;</a:t>
            </a:r>
          </a:p>
          <a:p>
            <a:pPr marL="0" indent="0">
              <a:buNone/>
            </a:pPr>
            <a:r>
              <a:rPr lang="en-US" sz="1500" b="1">
                <a:uFillTx/>
                <a:latin typeface="Courier New" pitchFamily="49" charset="0"/>
                <a:cs typeface="Courier New" pitchFamily="49" charset="0"/>
              </a:rPr>
              <a:t>        public string QueQuan;</a:t>
            </a:r>
          </a:p>
          <a:p>
            <a:pPr marL="0" indent="0">
              <a:buNone/>
            </a:pPr>
            <a:r>
              <a:rPr lang="vi-VN" sz="1500" b="1">
                <a:uFillTx/>
                <a:latin typeface="Courier New" pitchFamily="49" charset="0"/>
                <a:cs typeface="Courier New" pitchFamily="49" charset="0"/>
              </a:rPr>
              <a:t>        public Nguoi(string ht, DateTime dt, string qq)</a:t>
            </a:r>
          </a:p>
          <a:p>
            <a:pPr marL="0" indent="0">
              <a:buNone/>
            </a:pPr>
            <a:r>
              <a:rPr lang="en-US" sz="1500" b="1">
                <a:uFillTx/>
                <a:latin typeface="Courier New" pitchFamily="49" charset="0"/>
                <a:cs typeface="Courier New" pitchFamily="49" charset="0"/>
              </a:rPr>
              <a:t>        {</a:t>
            </a:r>
          </a:p>
          <a:p>
            <a:pPr marL="0" indent="0">
              <a:buNone/>
            </a:pPr>
            <a:r>
              <a:rPr lang="en-US" sz="1500" b="1">
                <a:uFillTx/>
                <a:latin typeface="Courier New" pitchFamily="49" charset="0"/>
                <a:cs typeface="Courier New" pitchFamily="49" charset="0"/>
              </a:rPr>
              <a:t>            this.HoTen = ht;</a:t>
            </a:r>
          </a:p>
          <a:p>
            <a:pPr marL="0" indent="0">
              <a:buNone/>
            </a:pPr>
            <a:r>
              <a:rPr lang="en-US" sz="1500" b="1">
                <a:uFillTx/>
                <a:latin typeface="Courier New" pitchFamily="49" charset="0"/>
                <a:cs typeface="Courier New" pitchFamily="49" charset="0"/>
              </a:rPr>
              <a:t>            this.NgaySinh = dt;</a:t>
            </a:r>
          </a:p>
          <a:p>
            <a:pPr marL="0" indent="0">
              <a:buNone/>
            </a:pPr>
            <a:r>
              <a:rPr lang="en-US" sz="1500" b="1">
                <a:uFillTx/>
                <a:latin typeface="Courier New" pitchFamily="49" charset="0"/>
                <a:cs typeface="Courier New" pitchFamily="49" charset="0"/>
              </a:rPr>
              <a:t>            this.QueQuan = qq;</a:t>
            </a:r>
          </a:p>
          <a:p>
            <a:pPr marL="0" indent="0">
              <a:buNone/>
            </a:pPr>
            <a:r>
              <a:rPr lang="en-US" sz="1500" b="1">
                <a:uFillTx/>
                <a:latin typeface="Courier New" pitchFamily="49" charset="0"/>
                <a:cs typeface="Courier New" pitchFamily="49" charset="0"/>
              </a:rPr>
              <a:t>        }</a:t>
            </a:r>
          </a:p>
          <a:p>
            <a:pPr marL="0" indent="0">
              <a:buNone/>
            </a:pPr>
            <a:r>
              <a:rPr lang="vi-VN" sz="1500" b="1">
                <a:uFillTx/>
                <a:latin typeface="Courier New" pitchFamily="49" charset="0"/>
                <a:cs typeface="Courier New" pitchFamily="49" charset="0"/>
              </a:rPr>
              <a:t>        </a:t>
            </a:r>
            <a:r>
              <a:rPr lang="vi-VN" sz="1500" b="1">
                <a:solidFill>
                  <a:schemeClr val="accent2">
                    <a:lumMod val="60000"/>
                    <a:lumOff val="40000"/>
                  </a:schemeClr>
                </a:solidFill>
                <a:uFillTx/>
                <a:latin typeface="Courier New" pitchFamily="49" charset="0"/>
                <a:cs typeface="Courier New" pitchFamily="49" charset="0"/>
              </a:rPr>
              <a:t>public virtual void Xuat()</a:t>
            </a:r>
            <a:r>
              <a:rPr lang="vi-VN" sz="1500" b="1">
                <a:uFillTx/>
                <a:latin typeface="Courier New" pitchFamily="49" charset="0"/>
                <a:cs typeface="Courier New" pitchFamily="49" charset="0"/>
              </a:rPr>
              <a:t> //</a:t>
            </a:r>
            <a:r>
              <a:rPr lang="vi-VN" sz="1500" b="1">
                <a:solidFill>
                  <a:srgbClr val="00B050"/>
                </a:solidFill>
                <a:uFillTx/>
                <a:latin typeface="Courier New" pitchFamily="49" charset="0"/>
                <a:cs typeface="Courier New" pitchFamily="49" charset="0"/>
              </a:rPr>
              <a:t>Khai báo phương thức ảo</a:t>
            </a:r>
          </a:p>
          <a:p>
            <a:pPr marL="0" indent="0">
              <a:buNone/>
            </a:pPr>
            <a:r>
              <a:rPr lang="en-US" sz="1500" b="1">
                <a:uFillTx/>
                <a:latin typeface="Courier New" pitchFamily="49" charset="0"/>
                <a:cs typeface="Courier New" pitchFamily="49" charset="0"/>
              </a:rPr>
              <a:t>        {</a:t>
            </a:r>
          </a:p>
          <a:p>
            <a:pPr marL="0" indent="0">
              <a:buNone/>
            </a:pPr>
            <a:r>
              <a:rPr lang="it-IT" sz="1500" b="1">
                <a:uFillTx/>
                <a:latin typeface="Courier New" pitchFamily="49" charset="0"/>
                <a:cs typeface="Courier New" pitchFamily="49" charset="0"/>
              </a:rPr>
              <a:t>            Console.WriteLine("Ho va ten: " + HoTen);</a:t>
            </a:r>
          </a:p>
          <a:p>
            <a:pPr marL="0" indent="0">
              <a:buNone/>
            </a:pPr>
            <a:r>
              <a:rPr lang="en-US" sz="1500" b="1">
                <a:uFillTx/>
                <a:latin typeface="Courier New" pitchFamily="49" charset="0"/>
                <a:cs typeface="Courier New" pitchFamily="49" charset="0"/>
              </a:rPr>
              <a:t>            Console.WriteLine("Ngay sinh: {0}/{1}/{2}", NgaySinh.Day, NgaySinh.Month, NgaySinh.Year);</a:t>
            </a:r>
          </a:p>
          <a:p>
            <a:pPr marL="0" indent="0">
              <a:buNone/>
            </a:pPr>
            <a:r>
              <a:rPr lang="en-US" sz="1500" b="1">
                <a:uFillTx/>
                <a:latin typeface="Courier New" pitchFamily="49" charset="0"/>
                <a:cs typeface="Courier New" pitchFamily="49" charset="0"/>
              </a:rPr>
              <a:t>            Console.WriteLine("Que quan: " + QueQuan);</a:t>
            </a:r>
          </a:p>
          <a:p>
            <a:pPr marL="0" indent="0">
              <a:buNone/>
            </a:pPr>
            <a:r>
              <a:rPr lang="en-US" sz="1500" b="1">
                <a:uFillTx/>
                <a:latin typeface="Courier New" pitchFamily="49" charset="0"/>
                <a:cs typeface="Courier New" pitchFamily="49" charset="0"/>
              </a:rPr>
              <a:t>        }        </a:t>
            </a:r>
          </a:p>
          <a:p>
            <a:pPr marL="0" indent="0">
              <a:buNone/>
            </a:pPr>
            <a:r>
              <a:rPr lang="en-US" sz="1500" b="1">
                <a:uFillTx/>
                <a:latin typeface="Courier New" pitchFamily="49" charset="0"/>
                <a:cs typeface="Courier New" pitchFamily="49" charset="0"/>
              </a:rPr>
              <a:t>    }</a:t>
            </a:r>
          </a:p>
          <a:p>
            <a:pPr marL="0" indent="0">
              <a:buNone/>
            </a:pPr>
            <a:endParaRPr lang="en-US">
              <a:uFillTx/>
            </a:endParaRPr>
          </a:p>
        </p:txBody>
      </p:sp>
      <p:sp>
        <p:nvSpPr>
          <p:cNvPr id="4" name="Date Placeholder 3"/>
          <p:cNvSpPr>
            <a:spLocks noGrp="1"/>
          </p:cNvSpPr>
          <p:nvPr>
            <p:ph type="dt" sz="half" idx="10"/>
          </p:nvPr>
        </p:nvSpPr>
        <p:spPr/>
        <p:txBody>
          <a:bodyPr/>
          <a:lstStyle/>
          <a:p>
            <a:fld id="{45FB9944-19A0-427F-BF1E-71037730C03C}" type="datetime1">
              <a:rPr lang="vi-VN" smtClean="0">
                <a:uFillTx/>
              </a:rPr>
              <a:t>04/02/2025</a:t>
            </a:fld>
            <a:endParaRPr lang="vi-VN">
              <a:uFillTx/>
            </a:endParaRPr>
          </a:p>
        </p:txBody>
      </p:sp>
      <p:sp>
        <p:nvSpPr>
          <p:cNvPr id="5" name="Footer Placeholder 4"/>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uFillTx/>
              </a:rPr>
              <a:pPr/>
              <a:t>53</a:t>
            </a:fld>
            <a:r>
              <a:rPr lang="vi-VN">
                <a:uFillTx/>
              </a:rPr>
              <a:t>/28</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uFillTx/>
              </a:rPr>
              <a:t>Ví dụ - Đa hình</a:t>
            </a:r>
          </a:p>
        </p:txBody>
      </p:sp>
      <p:sp>
        <p:nvSpPr>
          <p:cNvPr id="3" name="Content Placeholder 2"/>
          <p:cNvSpPr>
            <a:spLocks noGrp="1"/>
          </p:cNvSpPr>
          <p:nvPr>
            <p:ph idx="1"/>
          </p:nvPr>
        </p:nvSpPr>
        <p:spPr/>
        <p:txBody>
          <a:bodyPr>
            <a:normAutofit/>
          </a:bodyPr>
          <a:lstStyle/>
          <a:p>
            <a:pPr marL="0" indent="0">
              <a:buNone/>
            </a:pPr>
            <a:r>
              <a:rPr lang="en-US" sz="1600">
                <a:solidFill>
                  <a:srgbClr val="FF0000"/>
                </a:solidFill>
                <a:uFillTx/>
                <a:latin typeface="Courier New" pitchFamily="49" charset="0"/>
                <a:cs typeface="Courier New" pitchFamily="49" charset="0"/>
              </a:rPr>
              <a:t>class</a:t>
            </a:r>
            <a:r>
              <a:rPr lang="en-US" sz="1600">
                <a:uFillTx/>
                <a:latin typeface="Courier New" pitchFamily="49" charset="0"/>
                <a:cs typeface="Courier New" pitchFamily="49" charset="0"/>
              </a:rPr>
              <a:t> SinhVien : Nguoi</a:t>
            </a:r>
          </a:p>
          <a:p>
            <a:pPr marL="0" indent="0">
              <a:buNone/>
            </a:pPr>
            <a:r>
              <a:rPr lang="en-US" sz="1600">
                <a:uFillTx/>
                <a:latin typeface="Courier New" pitchFamily="49" charset="0"/>
                <a:cs typeface="Courier New" pitchFamily="49" charset="0"/>
              </a:rPr>
              <a:t>    {</a:t>
            </a:r>
          </a:p>
          <a:p>
            <a:pPr marL="0" indent="0">
              <a:buNone/>
            </a:pPr>
            <a:r>
              <a:rPr lang="en-US" sz="1600">
                <a:uFillTx/>
                <a:latin typeface="Courier New" pitchFamily="49" charset="0"/>
                <a:cs typeface="Courier New" pitchFamily="49" charset="0"/>
              </a:rPr>
              <a:t>        public string MaSV;</a:t>
            </a:r>
          </a:p>
          <a:p>
            <a:pPr marL="0" indent="0">
              <a:buNone/>
            </a:pPr>
            <a:r>
              <a:rPr lang="vi-VN" sz="1600">
                <a:uFillTx/>
                <a:latin typeface="Courier New" pitchFamily="49" charset="0"/>
                <a:cs typeface="Courier New" pitchFamily="49" charset="0"/>
              </a:rPr>
              <a:t>        public SinhVien(string ht, DateTime dt, string qq, string ma) </a:t>
            </a:r>
            <a:r>
              <a:rPr lang="en-US" sz="1600">
                <a:uFillTx/>
                <a:latin typeface="Courier New" pitchFamily="49" charset="0"/>
                <a:cs typeface="Courier New" pitchFamily="49" charset="0"/>
              </a:rPr>
              <a:t>: base(ht, dt, qq)</a:t>
            </a:r>
          </a:p>
          <a:p>
            <a:pPr marL="0" indent="0">
              <a:buNone/>
            </a:pPr>
            <a:r>
              <a:rPr lang="en-US" sz="1600">
                <a:uFillTx/>
                <a:latin typeface="Courier New" pitchFamily="49" charset="0"/>
                <a:cs typeface="Courier New" pitchFamily="49" charset="0"/>
              </a:rPr>
              <a:t>        {</a:t>
            </a:r>
          </a:p>
          <a:p>
            <a:pPr marL="0" indent="0">
              <a:buNone/>
            </a:pPr>
            <a:r>
              <a:rPr lang="en-US" sz="1600">
                <a:uFillTx/>
                <a:latin typeface="Courier New" pitchFamily="49" charset="0"/>
                <a:cs typeface="Courier New" pitchFamily="49" charset="0"/>
              </a:rPr>
              <a:t>            this.MaSV = ma;</a:t>
            </a:r>
          </a:p>
          <a:p>
            <a:pPr marL="0" indent="0">
              <a:buNone/>
            </a:pPr>
            <a:r>
              <a:rPr lang="en-US" sz="1600">
                <a:uFillTx/>
                <a:latin typeface="Courier New" pitchFamily="49" charset="0"/>
                <a:cs typeface="Courier New" pitchFamily="49" charset="0"/>
              </a:rPr>
              <a:t>        }</a:t>
            </a:r>
          </a:p>
          <a:p>
            <a:pPr marL="0" indent="0">
              <a:buNone/>
            </a:pPr>
            <a:r>
              <a:rPr lang="en-US" sz="1600">
                <a:uFillTx/>
                <a:latin typeface="Courier New" pitchFamily="49" charset="0"/>
                <a:cs typeface="Courier New" pitchFamily="49" charset="0"/>
              </a:rPr>
              <a:t>        </a:t>
            </a:r>
            <a:r>
              <a:rPr lang="en-US" sz="1600">
                <a:solidFill>
                  <a:schemeClr val="accent2">
                    <a:lumMod val="60000"/>
                    <a:lumOff val="40000"/>
                  </a:schemeClr>
                </a:solidFill>
                <a:uFillTx/>
                <a:latin typeface="Courier New" pitchFamily="49" charset="0"/>
                <a:cs typeface="Courier New" pitchFamily="49" charset="0"/>
              </a:rPr>
              <a:t>public override void Xuat() </a:t>
            </a:r>
            <a:r>
              <a:rPr lang="en-US" sz="1600">
                <a:solidFill>
                  <a:srgbClr val="00B050"/>
                </a:solidFill>
                <a:uFillTx/>
                <a:latin typeface="Courier New" pitchFamily="49" charset="0"/>
                <a:cs typeface="Courier New" pitchFamily="49" charset="0"/>
              </a:rPr>
              <a:t>//Ghi đè phương thức</a:t>
            </a:r>
          </a:p>
          <a:p>
            <a:pPr marL="0" indent="0">
              <a:buNone/>
            </a:pPr>
            <a:r>
              <a:rPr lang="en-US" sz="1600">
                <a:uFillTx/>
                <a:latin typeface="Courier New" pitchFamily="49" charset="0"/>
                <a:cs typeface="Courier New" pitchFamily="49" charset="0"/>
              </a:rPr>
              <a:t>        {</a:t>
            </a:r>
          </a:p>
          <a:p>
            <a:pPr marL="0" indent="0">
              <a:buNone/>
            </a:pPr>
            <a:r>
              <a:rPr lang="it-IT" sz="1600">
                <a:uFillTx/>
                <a:latin typeface="Courier New" pitchFamily="49" charset="0"/>
                <a:cs typeface="Courier New" pitchFamily="49" charset="0"/>
              </a:rPr>
              <a:t>            Console.WriteLine("Ma sinh vien: " + MaSV);</a:t>
            </a:r>
          </a:p>
          <a:p>
            <a:pPr marL="0" indent="0">
              <a:buNone/>
            </a:pPr>
            <a:r>
              <a:rPr lang="vi-VN" sz="1600">
                <a:uFillTx/>
                <a:latin typeface="Courier New" pitchFamily="49" charset="0"/>
                <a:cs typeface="Courier New" pitchFamily="49" charset="0"/>
              </a:rPr>
              <a:t>            base.Xuat(); //Kế thừa lại phương thức            </a:t>
            </a:r>
          </a:p>
          <a:p>
            <a:pPr marL="0" indent="0">
              <a:buNone/>
            </a:pPr>
            <a:r>
              <a:rPr lang="en-US" sz="1600">
                <a:uFillTx/>
                <a:latin typeface="Courier New" pitchFamily="49" charset="0"/>
                <a:cs typeface="Courier New" pitchFamily="49" charset="0"/>
              </a:rPr>
              <a:t>        }</a:t>
            </a:r>
          </a:p>
          <a:p>
            <a:pPr marL="0" indent="0">
              <a:buNone/>
            </a:pPr>
            <a:r>
              <a:rPr lang="en-US" sz="1600">
                <a:uFillTx/>
                <a:latin typeface="Courier New" pitchFamily="49" charset="0"/>
                <a:cs typeface="Courier New" pitchFamily="49" charset="0"/>
              </a:rPr>
              <a:t>    }</a:t>
            </a:r>
          </a:p>
          <a:p>
            <a:pPr marL="0" indent="0">
              <a:buNone/>
            </a:pPr>
            <a:endParaRPr lang="en-US">
              <a:uFillTx/>
            </a:endParaRPr>
          </a:p>
        </p:txBody>
      </p:sp>
      <p:sp>
        <p:nvSpPr>
          <p:cNvPr id="4" name="Date Placeholder 3"/>
          <p:cNvSpPr>
            <a:spLocks noGrp="1"/>
          </p:cNvSpPr>
          <p:nvPr>
            <p:ph type="dt" sz="half" idx="10"/>
          </p:nvPr>
        </p:nvSpPr>
        <p:spPr/>
        <p:txBody>
          <a:bodyPr/>
          <a:lstStyle/>
          <a:p>
            <a:fld id="{970E0B45-30C9-4CCB-BA46-CBD963C33506}" type="datetime1">
              <a:rPr lang="vi-VN" smtClean="0">
                <a:uFillTx/>
              </a:rPr>
              <a:t>04/02/2025</a:t>
            </a:fld>
            <a:endParaRPr lang="vi-VN">
              <a:uFillTx/>
            </a:endParaRPr>
          </a:p>
        </p:txBody>
      </p:sp>
      <p:sp>
        <p:nvSpPr>
          <p:cNvPr id="5" name="Footer Placeholder 4"/>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uFillTx/>
              </a:rPr>
              <a:pPr/>
              <a:t>54</a:t>
            </a:fld>
            <a:r>
              <a:rPr lang="vi-VN">
                <a:uFillTx/>
              </a:rPr>
              <a:t>/28</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uFillTx/>
              </a:rPr>
              <a:t>Ví dụ - Đa hình</a:t>
            </a:r>
          </a:p>
        </p:txBody>
      </p:sp>
      <p:sp>
        <p:nvSpPr>
          <p:cNvPr id="3" name="Content Placeholder 2"/>
          <p:cNvSpPr>
            <a:spLocks noGrp="1"/>
          </p:cNvSpPr>
          <p:nvPr>
            <p:ph idx="1"/>
          </p:nvPr>
        </p:nvSpPr>
        <p:spPr/>
        <p:txBody>
          <a:bodyPr>
            <a:normAutofit/>
          </a:bodyPr>
          <a:lstStyle/>
          <a:p>
            <a:pPr marL="0" indent="0">
              <a:buNone/>
            </a:pPr>
            <a:r>
              <a:rPr lang="en-US" sz="1600">
                <a:solidFill>
                  <a:srgbClr val="FF0000"/>
                </a:solidFill>
                <a:uFillTx/>
                <a:latin typeface="Courier New" pitchFamily="49" charset="0"/>
                <a:cs typeface="Courier New" pitchFamily="49" charset="0"/>
              </a:rPr>
              <a:t>class</a:t>
            </a:r>
            <a:r>
              <a:rPr lang="en-US" sz="1600">
                <a:uFillTx/>
                <a:latin typeface="Courier New" pitchFamily="49" charset="0"/>
                <a:cs typeface="Courier New" pitchFamily="49" charset="0"/>
              </a:rPr>
              <a:t> Program</a:t>
            </a:r>
          </a:p>
          <a:p>
            <a:pPr marL="0" indent="0">
              <a:buNone/>
            </a:pPr>
            <a:r>
              <a:rPr lang="en-US" sz="1600">
                <a:uFillTx/>
                <a:latin typeface="Courier New" pitchFamily="49" charset="0"/>
                <a:cs typeface="Courier New" pitchFamily="49" charset="0"/>
              </a:rPr>
              <a:t>    {</a:t>
            </a:r>
          </a:p>
          <a:p>
            <a:pPr marL="0" indent="0">
              <a:buNone/>
            </a:pPr>
            <a:r>
              <a:rPr lang="en-US" sz="1600">
                <a:uFillTx/>
                <a:latin typeface="Courier New" pitchFamily="49" charset="0"/>
                <a:cs typeface="Courier New" pitchFamily="49" charset="0"/>
              </a:rPr>
              <a:t>        static void Main(string[] args)</a:t>
            </a:r>
          </a:p>
          <a:p>
            <a:pPr marL="0" indent="0">
              <a:buNone/>
            </a:pPr>
            <a:r>
              <a:rPr lang="en-US" sz="1600">
                <a:uFillTx/>
                <a:latin typeface="Courier New" pitchFamily="49" charset="0"/>
                <a:cs typeface="Courier New" pitchFamily="49" charset="0"/>
              </a:rPr>
              <a:t>        {</a:t>
            </a:r>
          </a:p>
          <a:p>
            <a:pPr marL="0" indent="0">
              <a:buNone/>
            </a:pPr>
            <a:r>
              <a:rPr lang="it-IT" sz="1600">
                <a:uFillTx/>
                <a:latin typeface="Courier New" pitchFamily="49" charset="0"/>
                <a:cs typeface="Courier New" pitchFamily="49" charset="0"/>
              </a:rPr>
              <a:t>            Nguoi P1 = new Nguoi("Nguyen Van A", Convert.ToDateTime("3/8/1994"), "Ha Noi");</a:t>
            </a:r>
          </a:p>
          <a:p>
            <a:pPr marL="0" indent="0">
              <a:buNone/>
            </a:pPr>
            <a:r>
              <a:rPr lang="en-US" sz="1600">
                <a:uFillTx/>
                <a:latin typeface="Courier New" pitchFamily="49" charset="0"/>
                <a:cs typeface="Courier New" pitchFamily="49" charset="0"/>
              </a:rPr>
              <a:t>            Console.WriteLine("Thong tin cua nguoi: ");</a:t>
            </a:r>
          </a:p>
          <a:p>
            <a:pPr marL="0" indent="0">
              <a:buNone/>
            </a:pPr>
            <a:r>
              <a:rPr lang="vi-VN" sz="1600">
                <a:uFillTx/>
                <a:latin typeface="Courier New" pitchFamily="49" charset="0"/>
                <a:cs typeface="Courier New" pitchFamily="49" charset="0"/>
              </a:rPr>
              <a:t>            </a:t>
            </a:r>
            <a:r>
              <a:rPr lang="vi-VN" sz="1600">
                <a:solidFill>
                  <a:srgbClr val="FF0000"/>
                </a:solidFill>
                <a:uFillTx/>
                <a:latin typeface="Courier New" pitchFamily="49" charset="0"/>
                <a:cs typeface="Courier New" pitchFamily="49" charset="0"/>
              </a:rPr>
              <a:t>P1.Xuat(); </a:t>
            </a:r>
            <a:r>
              <a:rPr lang="vi-VN" sz="1600">
                <a:solidFill>
                  <a:srgbClr val="00B050"/>
                </a:solidFill>
                <a:uFillTx/>
                <a:latin typeface="Courier New" pitchFamily="49" charset="0"/>
                <a:cs typeface="Courier New" pitchFamily="49" charset="0"/>
              </a:rPr>
              <a:t>//Phương thức Xuat của lớp Nguoi</a:t>
            </a:r>
          </a:p>
          <a:p>
            <a:pPr marL="0" indent="0">
              <a:buNone/>
            </a:pPr>
            <a:r>
              <a:rPr lang="en-US" sz="1600">
                <a:uFillTx/>
                <a:latin typeface="Courier New" pitchFamily="49" charset="0"/>
                <a:cs typeface="Courier New" pitchFamily="49" charset="0"/>
              </a:rPr>
              <a:t>            SinhVien sv1 = new SinhVien("Nguyen Thi B", Convert.ToDateTime("12/9/1994"), "Ha Tay", "15A4040012");</a:t>
            </a:r>
          </a:p>
          <a:p>
            <a:pPr marL="0" indent="0">
              <a:buNone/>
            </a:pPr>
            <a:r>
              <a:rPr lang="en-US" sz="1600">
                <a:uFillTx/>
                <a:latin typeface="Courier New" pitchFamily="49" charset="0"/>
                <a:cs typeface="Courier New" pitchFamily="49" charset="0"/>
              </a:rPr>
              <a:t>            Console.WriteLine("\nThong tin cua sinh vien: ");</a:t>
            </a:r>
          </a:p>
          <a:p>
            <a:pPr marL="0" indent="0">
              <a:buNone/>
            </a:pPr>
            <a:r>
              <a:rPr lang="vi-VN" sz="1600">
                <a:uFillTx/>
                <a:latin typeface="Courier New" pitchFamily="49" charset="0"/>
                <a:cs typeface="Courier New" pitchFamily="49" charset="0"/>
              </a:rPr>
              <a:t>            </a:t>
            </a:r>
            <a:r>
              <a:rPr lang="vi-VN" sz="1600">
                <a:solidFill>
                  <a:srgbClr val="FF0000"/>
                </a:solidFill>
                <a:uFillTx/>
                <a:latin typeface="Courier New" pitchFamily="49" charset="0"/>
                <a:cs typeface="Courier New" pitchFamily="49" charset="0"/>
              </a:rPr>
              <a:t>sv1.Xuat(); </a:t>
            </a:r>
            <a:r>
              <a:rPr lang="vi-VN" sz="1600">
                <a:solidFill>
                  <a:srgbClr val="00B050"/>
                </a:solidFill>
                <a:uFillTx/>
                <a:latin typeface="Courier New" pitchFamily="49" charset="0"/>
                <a:cs typeface="Courier New" pitchFamily="49" charset="0"/>
              </a:rPr>
              <a:t>//Phương thức Xuat của lớp SinhVien</a:t>
            </a:r>
          </a:p>
          <a:p>
            <a:pPr marL="0" indent="0">
              <a:buNone/>
            </a:pPr>
            <a:r>
              <a:rPr lang="en-US" sz="1600">
                <a:uFillTx/>
                <a:latin typeface="Courier New" pitchFamily="49" charset="0"/>
                <a:cs typeface="Courier New" pitchFamily="49" charset="0"/>
              </a:rPr>
              <a:t>            Console.ReadLine();</a:t>
            </a:r>
          </a:p>
          <a:p>
            <a:pPr marL="0" indent="0">
              <a:buNone/>
            </a:pPr>
            <a:r>
              <a:rPr lang="en-US" sz="1600">
                <a:uFillTx/>
                <a:latin typeface="Courier New" pitchFamily="49" charset="0"/>
                <a:cs typeface="Courier New" pitchFamily="49" charset="0"/>
              </a:rPr>
              <a:t>        }</a:t>
            </a:r>
          </a:p>
          <a:p>
            <a:pPr marL="0" indent="0">
              <a:buNone/>
            </a:pPr>
            <a:r>
              <a:rPr lang="en-US" sz="1600">
                <a:uFillTx/>
                <a:latin typeface="Courier New" pitchFamily="49" charset="0"/>
                <a:cs typeface="Courier New" pitchFamily="49" charset="0"/>
              </a:rPr>
              <a:t>    }   </a:t>
            </a:r>
          </a:p>
          <a:p>
            <a:pPr marL="0" indent="0">
              <a:buNone/>
            </a:pPr>
            <a:endParaRPr lang="en-US">
              <a:uFillTx/>
            </a:endParaRPr>
          </a:p>
        </p:txBody>
      </p:sp>
      <p:sp>
        <p:nvSpPr>
          <p:cNvPr id="4" name="Date Placeholder 3"/>
          <p:cNvSpPr>
            <a:spLocks noGrp="1"/>
          </p:cNvSpPr>
          <p:nvPr>
            <p:ph type="dt" sz="half" idx="10"/>
          </p:nvPr>
        </p:nvSpPr>
        <p:spPr/>
        <p:txBody>
          <a:bodyPr/>
          <a:lstStyle/>
          <a:p>
            <a:fld id="{22D63B65-69CC-432F-A6EC-21AA97CAE24F}" type="datetime1">
              <a:rPr lang="vi-VN" smtClean="0">
                <a:uFillTx/>
              </a:rPr>
              <a:t>04/02/2025</a:t>
            </a:fld>
            <a:endParaRPr lang="vi-VN">
              <a:uFillTx/>
            </a:endParaRPr>
          </a:p>
        </p:txBody>
      </p:sp>
      <p:sp>
        <p:nvSpPr>
          <p:cNvPr id="5" name="Footer Placeholder 4"/>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uFillTx/>
              </a:rPr>
              <a:pPr/>
              <a:t>55</a:t>
            </a:fld>
            <a:r>
              <a:rPr lang="vi-VN">
                <a:uFillTx/>
              </a:rPr>
              <a:t>/28</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9E4B8BD-F3F6-62E4-F6E4-6889D42573CF}"/>
              </a:ext>
            </a:extLst>
          </p:cNvPr>
          <p:cNvSpPr>
            <a:spLocks noGrp="1"/>
          </p:cNvSpPr>
          <p:nvPr>
            <p:ph type="dt" sz="half" idx="10"/>
          </p:nvPr>
        </p:nvSpPr>
        <p:spPr/>
        <p:txBody>
          <a:bodyPr/>
          <a:lstStyle/>
          <a:p>
            <a:fld id="{1FCC884B-1AA7-4469-B526-594A4B1341A0}" type="datetime1">
              <a:rPr lang="vi-VN" smtClean="0">
                <a:uFillTx/>
              </a:rPr>
              <a:t>04/02/2025</a:t>
            </a:fld>
            <a:endParaRPr lang="vi-VN">
              <a:uFillTx/>
            </a:endParaRPr>
          </a:p>
        </p:txBody>
      </p:sp>
      <p:sp>
        <p:nvSpPr>
          <p:cNvPr id="5" name="Footer Placeholder 4">
            <a:extLst>
              <a:ext uri="{FF2B5EF4-FFF2-40B4-BE49-F238E27FC236}">
                <a16:creationId xmlns:a16="http://schemas.microsoft.com/office/drawing/2014/main" id="{4D296AF2-3758-0262-E731-B04E3FA6DBBE}"/>
              </a:ext>
            </a:extLst>
          </p:cNvPr>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a:extLst>
              <a:ext uri="{FF2B5EF4-FFF2-40B4-BE49-F238E27FC236}">
                <a16:creationId xmlns:a16="http://schemas.microsoft.com/office/drawing/2014/main" id="{B5AAC0C7-5A91-C492-2F84-A875BBB6557E}"/>
              </a:ext>
            </a:extLst>
          </p:cNvPr>
          <p:cNvSpPr>
            <a:spLocks noGrp="1"/>
          </p:cNvSpPr>
          <p:nvPr>
            <p:ph type="sldNum" sz="quarter" idx="12"/>
          </p:nvPr>
        </p:nvSpPr>
        <p:spPr/>
        <p:txBody>
          <a:bodyPr/>
          <a:lstStyle/>
          <a:p>
            <a:fld id="{5AB95402-1E0D-474E-8D8C-CBE7F053639E}" type="slidenum">
              <a:rPr lang="vi-VN" smtClean="0">
                <a:uFillTx/>
              </a:rPr>
              <a:pPr/>
              <a:t>56</a:t>
            </a:fld>
            <a:r>
              <a:rPr lang="vi-VN">
                <a:uFillTx/>
              </a:rPr>
              <a:t>/28</a:t>
            </a:r>
          </a:p>
        </p:txBody>
      </p:sp>
      <p:sp>
        <p:nvSpPr>
          <p:cNvPr id="7" name="Rectangle 1">
            <a:extLst>
              <a:ext uri="{FF2B5EF4-FFF2-40B4-BE49-F238E27FC236}">
                <a16:creationId xmlns:a16="http://schemas.microsoft.com/office/drawing/2014/main" id="{5062B896-BAD9-3FFA-0287-9E5A1B64F336}"/>
              </a:ext>
            </a:extLst>
          </p:cNvPr>
          <p:cNvSpPr>
            <a:spLocks noGrp="1" noChangeArrowheads="1"/>
          </p:cNvSpPr>
          <p:nvPr>
            <p:ph idx="1"/>
          </p:nvPr>
        </p:nvSpPr>
        <p:spPr bwMode="auto">
          <a:xfrm>
            <a:off x="381000" y="1502712"/>
            <a:ext cx="8731696"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Hãy</a:t>
            </a:r>
            <a:r>
              <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cho</a:t>
            </a:r>
            <a:r>
              <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biết</a:t>
            </a:r>
            <a:r>
              <a:rPr lang="en-US" altLang="en-US" sz="2200" dirty="0">
                <a:solidFill>
                  <a:srgbClr val="000000"/>
                </a:solidFill>
                <a:latin typeface="Times New Roman" panose="02020603050405020304" pitchFamily="18" charset="0"/>
                <a:cs typeface="Times New Roman" panose="02020603050405020304" pitchFamily="18" charset="0"/>
              </a:rPr>
              <a:t> 2 </a:t>
            </a:r>
            <a:r>
              <a:rPr lang="en-US" altLang="en-US" sz="2200" dirty="0" err="1">
                <a:solidFill>
                  <a:srgbClr val="000000"/>
                </a:solidFill>
                <a:latin typeface="Times New Roman" panose="02020603050405020304" pitchFamily="18" charset="0"/>
                <a:cs typeface="Times New Roman" panose="02020603050405020304" pitchFamily="18" charset="0"/>
              </a:rPr>
              <a:t>câu</a:t>
            </a:r>
            <a:r>
              <a:rPr lang="en-US" altLang="en-US" sz="2200" dirty="0">
                <a:solidFill>
                  <a:srgbClr val="000000"/>
                </a:solidFill>
                <a:latin typeface="Times New Roman" panose="02020603050405020304" pitchFamily="18" charset="0"/>
                <a:cs typeface="Times New Roman" panose="02020603050405020304" pitchFamily="18" charset="0"/>
              </a:rPr>
              <a:t> </a:t>
            </a:r>
            <a:r>
              <a:rPr lang="en-US" altLang="en-US" sz="2200" dirty="0" err="1">
                <a:solidFill>
                  <a:srgbClr val="000000"/>
                </a:solidFill>
                <a:latin typeface="Times New Roman" panose="02020603050405020304" pitchFamily="18" charset="0"/>
                <a:cs typeface="Times New Roman" panose="02020603050405020304" pitchFamily="18" charset="0"/>
              </a:rPr>
              <a:t>lệnh</a:t>
            </a:r>
            <a:r>
              <a:rPr lang="en-US" altLang="en-US" sz="2200" dirty="0">
                <a:solidFill>
                  <a:srgbClr val="000000"/>
                </a:solidFill>
                <a:latin typeface="Times New Roman" panose="02020603050405020304" pitchFamily="18" charset="0"/>
                <a:cs typeface="Times New Roman" panose="02020603050405020304" pitchFamily="18" charset="0"/>
              </a:rPr>
              <a:t> </a:t>
            </a:r>
            <a:r>
              <a:rPr lang="en-US" altLang="en-US" sz="2200" dirty="0" err="1">
                <a:solidFill>
                  <a:srgbClr val="000000"/>
                </a:solidFill>
                <a:latin typeface="Times New Roman" panose="02020603050405020304" pitchFamily="18" charset="0"/>
                <a:cs typeface="Times New Roman" panose="02020603050405020304" pitchFamily="18" charset="0"/>
              </a:rPr>
              <a:t>sau</a:t>
            </a:r>
            <a:r>
              <a:rPr lang="en-US" altLang="en-US" sz="2200" dirty="0">
                <a:solidFill>
                  <a:srgbClr val="000000"/>
                </a:solidFill>
                <a:latin typeface="Times New Roman" panose="02020603050405020304" pitchFamily="18" charset="0"/>
                <a:cs typeface="Times New Roman" panose="02020603050405020304" pitchFamily="18" charset="0"/>
              </a:rPr>
              <a:t>, </a:t>
            </a:r>
            <a:r>
              <a:rPr lang="en-US" altLang="en-US" sz="2200" dirty="0" err="1">
                <a:solidFill>
                  <a:srgbClr val="000000"/>
                </a:solidFill>
                <a:latin typeface="Times New Roman" panose="02020603050405020304" pitchFamily="18" charset="0"/>
                <a:cs typeface="Times New Roman" panose="02020603050405020304" pitchFamily="18" charset="0"/>
              </a:rPr>
              <a:t>câu</a:t>
            </a:r>
            <a:r>
              <a:rPr lang="en-US" altLang="en-US" sz="2200" dirty="0">
                <a:solidFill>
                  <a:srgbClr val="000000"/>
                </a:solidFill>
                <a:latin typeface="Times New Roman" panose="02020603050405020304" pitchFamily="18" charset="0"/>
                <a:cs typeface="Times New Roman" panose="02020603050405020304" pitchFamily="18" charset="0"/>
              </a:rPr>
              <a:t> </a:t>
            </a:r>
            <a:r>
              <a:rPr lang="en-US" altLang="en-US" sz="2200" dirty="0" err="1">
                <a:solidFill>
                  <a:srgbClr val="000000"/>
                </a:solidFill>
                <a:latin typeface="Times New Roman" panose="02020603050405020304" pitchFamily="18" charset="0"/>
                <a:cs typeface="Times New Roman" panose="02020603050405020304" pitchFamily="18" charset="0"/>
              </a:rPr>
              <a:t>nào</a:t>
            </a:r>
            <a:r>
              <a:rPr lang="en-US" altLang="en-US" sz="2200" dirty="0">
                <a:solidFill>
                  <a:srgbClr val="000000"/>
                </a:solidFill>
                <a:latin typeface="Times New Roman" panose="02020603050405020304" pitchFamily="18" charset="0"/>
                <a:cs typeface="Times New Roman" panose="02020603050405020304" pitchFamily="18" charset="0"/>
              </a:rPr>
              <a:t> </a:t>
            </a:r>
            <a:r>
              <a:rPr lang="en-US" altLang="en-US" sz="2200" dirty="0" err="1">
                <a:solidFill>
                  <a:srgbClr val="000000"/>
                </a:solidFill>
                <a:latin typeface="Times New Roman" panose="02020603050405020304" pitchFamily="18" charset="0"/>
                <a:cs typeface="Times New Roman" panose="02020603050405020304" pitchFamily="18" charset="0"/>
              </a:rPr>
              <a:t>lỗi</a:t>
            </a:r>
            <a:endPar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Tx/>
              <a:buAutoNum type="arabicParenR"/>
              <a:tabLst/>
            </a:pPr>
            <a:r>
              <a:rPr lang="en-US" altLang="en-US" sz="2200" dirty="0" err="1">
                <a:solidFill>
                  <a:srgbClr val="000000"/>
                </a:solidFill>
                <a:latin typeface="Times New Roman" panose="02020603050405020304" pitchFamily="18" charset="0"/>
                <a:cs typeface="Times New Roman" panose="02020603050405020304" pitchFamily="18" charset="0"/>
              </a:rPr>
              <a:t>SinhVien</a:t>
            </a:r>
            <a:r>
              <a:rPr lang="en-US" altLang="en-US" sz="2200" dirty="0">
                <a:solidFill>
                  <a:srgbClr val="000000"/>
                </a:solidFill>
                <a:latin typeface="Times New Roman" panose="02020603050405020304" pitchFamily="18" charset="0"/>
                <a:cs typeface="Times New Roman" panose="02020603050405020304" pitchFamily="18" charset="0"/>
              </a:rPr>
              <a:t> x = new </a:t>
            </a:r>
            <a:r>
              <a:rPr lang="en-US" altLang="en-US" sz="2200" dirty="0" err="1">
                <a:solidFill>
                  <a:srgbClr val="000000"/>
                </a:solidFill>
                <a:latin typeface="Times New Roman" panose="02020603050405020304" pitchFamily="18" charset="0"/>
                <a:cs typeface="Times New Roman" panose="02020603050405020304" pitchFamily="18" charset="0"/>
              </a:rPr>
              <a:t>Nguoi</a:t>
            </a:r>
            <a:r>
              <a:rPr lang="en-US" altLang="en-US" sz="2200" dirty="0">
                <a:solidFill>
                  <a:srgbClr val="000000"/>
                </a:solidFill>
                <a:latin typeface="Times New Roman" panose="02020603050405020304" pitchFamily="18" charset="0"/>
                <a:cs typeface="Times New Roman" panose="02020603050405020304" pitchFamily="18" charset="0"/>
              </a:rPr>
              <a:t>();</a:t>
            </a:r>
          </a:p>
          <a:p>
            <a:pPr marL="457200" marR="0" lvl="0" indent="-457200" algn="l" defTabSz="914400" rtl="0" eaLnBrk="0" fontAlgn="base" latinLnBrk="0" hangingPunct="0">
              <a:lnSpc>
                <a:spcPct val="100000"/>
              </a:lnSpc>
              <a:spcBef>
                <a:spcPct val="0"/>
              </a:spcBef>
              <a:spcAft>
                <a:spcPct val="0"/>
              </a:spcAft>
              <a:buClrTx/>
              <a:buSzTx/>
              <a:buFontTx/>
              <a:buAutoNum type="arabicParenR"/>
              <a:tabLst/>
            </a:pPr>
            <a:r>
              <a:rPr lang="en-US" altLang="en-US" sz="2200" dirty="0" err="1">
                <a:solidFill>
                  <a:srgbClr val="000000"/>
                </a:solidFill>
                <a:latin typeface="Times New Roman" panose="02020603050405020304" pitchFamily="18" charset="0"/>
                <a:cs typeface="Times New Roman" panose="02020603050405020304" pitchFamily="18" charset="0"/>
              </a:rPr>
              <a:t>Nguoi</a:t>
            </a:r>
            <a:r>
              <a:rPr lang="en-US" altLang="en-US" sz="2200" dirty="0">
                <a:solidFill>
                  <a:srgbClr val="000000"/>
                </a:solidFill>
                <a:latin typeface="Times New Roman" panose="02020603050405020304" pitchFamily="18" charset="0"/>
                <a:cs typeface="Times New Roman" panose="02020603050405020304" pitchFamily="18" charset="0"/>
              </a:rPr>
              <a:t> a = new </a:t>
            </a:r>
            <a:r>
              <a:rPr lang="en-US" altLang="en-US" sz="2200" dirty="0" err="1">
                <a:solidFill>
                  <a:srgbClr val="000000"/>
                </a:solidFill>
                <a:latin typeface="Times New Roman" panose="02020603050405020304" pitchFamily="18" charset="0"/>
                <a:cs typeface="Times New Roman" panose="02020603050405020304" pitchFamily="18" charset="0"/>
              </a:rPr>
              <a:t>SinhVien</a:t>
            </a:r>
            <a:r>
              <a:rPr lang="en-US" altLang="en-US" sz="2200" dirty="0">
                <a:solidFill>
                  <a:srgbClr val="000000"/>
                </a:solidFill>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200" dirty="0">
                <a:solidFill>
                  <a:srgbClr val="000000"/>
                </a:solidFill>
                <a:latin typeface="Times New Roman" panose="02020603050405020304" pitchFamily="18" charset="0"/>
                <a:cs typeface="Times New Roman" panose="02020603050405020304" pitchFamily="18" charset="0"/>
                <a:sym typeface="Wingdings" pitchFamily="2" charset="2"/>
              </a:rPr>
              <a:t> </a:t>
            </a:r>
            <a:r>
              <a:rPr lang="en-US" altLang="en-US" sz="2200" dirty="0" err="1">
                <a:solidFill>
                  <a:srgbClr val="000000"/>
                </a:solidFill>
                <a:latin typeface="Times New Roman" panose="02020603050405020304" pitchFamily="18" charset="0"/>
                <a:cs typeface="Times New Roman" panose="02020603050405020304" pitchFamily="18" charset="0"/>
                <a:sym typeface="Wingdings" pitchFamily="2" charset="2"/>
              </a:rPr>
              <a:t>Vấn</a:t>
            </a:r>
            <a:r>
              <a:rPr lang="en-US" altLang="en-US" sz="2200" dirty="0">
                <a:solidFill>
                  <a:srgbClr val="000000"/>
                </a:solidFill>
                <a:latin typeface="Times New Roman" panose="02020603050405020304" pitchFamily="18" charset="0"/>
                <a:cs typeface="Times New Roman" panose="02020603050405020304" pitchFamily="18" charset="0"/>
                <a:sym typeface="Wingdings" pitchFamily="2" charset="2"/>
              </a:rPr>
              <a:t> </a:t>
            </a:r>
            <a:r>
              <a:rPr lang="en-US" altLang="en-US" sz="2200" dirty="0" err="1">
                <a:solidFill>
                  <a:srgbClr val="000000"/>
                </a:solidFill>
                <a:latin typeface="Times New Roman" panose="02020603050405020304" pitchFamily="18" charset="0"/>
                <a:cs typeface="Times New Roman" panose="02020603050405020304" pitchFamily="18" charset="0"/>
                <a:sym typeface="Wingdings" pitchFamily="2" charset="2"/>
              </a:rPr>
              <a:t>đề</a:t>
            </a:r>
            <a:r>
              <a:rPr lang="en-US" altLang="en-US" sz="2200" dirty="0">
                <a:solidFill>
                  <a:srgbClr val="000000"/>
                </a:solidFill>
                <a:latin typeface="Times New Roman" panose="02020603050405020304" pitchFamily="18" charset="0"/>
                <a:cs typeface="Times New Roman" panose="02020603050405020304" pitchFamily="18" charset="0"/>
                <a:sym typeface="Wingdings" pitchFamily="2" charset="2"/>
              </a:rPr>
              <a:t> </a:t>
            </a:r>
            <a:r>
              <a:rPr lang="en-US" altLang="en-US" sz="2200" dirty="0" err="1">
                <a:solidFill>
                  <a:srgbClr val="000000"/>
                </a:solidFill>
                <a:latin typeface="Times New Roman" panose="02020603050405020304" pitchFamily="18" charset="0"/>
                <a:cs typeface="Times New Roman" panose="02020603050405020304" pitchFamily="18" charset="0"/>
                <a:sym typeface="Wingdings" pitchFamily="2" charset="2"/>
              </a:rPr>
              <a:t>sâu</a:t>
            </a:r>
            <a:r>
              <a:rPr lang="en-US" altLang="en-US" sz="2200" dirty="0">
                <a:solidFill>
                  <a:srgbClr val="000000"/>
                </a:solidFill>
                <a:latin typeface="Times New Roman" panose="02020603050405020304" pitchFamily="18" charset="0"/>
                <a:cs typeface="Times New Roman" panose="02020603050405020304" pitchFamily="18" charset="0"/>
                <a:sym typeface="Wingdings" pitchFamily="2" charset="2"/>
              </a:rPr>
              <a:t> xa </a:t>
            </a:r>
            <a:r>
              <a:rPr lang="en-US" altLang="en-US" sz="2200" dirty="0" err="1">
                <a:solidFill>
                  <a:srgbClr val="000000"/>
                </a:solidFill>
                <a:latin typeface="Times New Roman" panose="02020603050405020304" pitchFamily="18" charset="0"/>
                <a:cs typeface="Times New Roman" panose="02020603050405020304" pitchFamily="18" charset="0"/>
                <a:sym typeface="Wingdings" pitchFamily="2" charset="2"/>
              </a:rPr>
              <a:t>nằm</a:t>
            </a:r>
            <a:r>
              <a:rPr lang="en-US" altLang="en-US" sz="2200" dirty="0">
                <a:solidFill>
                  <a:srgbClr val="000000"/>
                </a:solidFill>
                <a:latin typeface="Times New Roman" panose="02020603050405020304" pitchFamily="18" charset="0"/>
                <a:cs typeface="Times New Roman" panose="02020603050405020304" pitchFamily="18" charset="0"/>
                <a:sym typeface="Wingdings" pitchFamily="2" charset="2"/>
              </a:rPr>
              <a:t> </a:t>
            </a:r>
            <a:r>
              <a:rPr lang="en-US" altLang="en-US" sz="2200" dirty="0" err="1">
                <a:solidFill>
                  <a:srgbClr val="000000"/>
                </a:solidFill>
                <a:latin typeface="Times New Roman" panose="02020603050405020304" pitchFamily="18" charset="0"/>
                <a:cs typeface="Times New Roman" panose="02020603050405020304" pitchFamily="18" charset="0"/>
                <a:sym typeface="Wingdings" pitchFamily="2" charset="2"/>
              </a:rPr>
              <a:t>ở</a:t>
            </a:r>
            <a:r>
              <a:rPr lang="en-US" altLang="en-US" sz="2200" dirty="0">
                <a:solidFill>
                  <a:srgbClr val="000000"/>
                </a:solidFill>
                <a:latin typeface="Times New Roman" panose="02020603050405020304" pitchFamily="18" charset="0"/>
                <a:cs typeface="Times New Roman" panose="02020603050405020304" pitchFamily="18" charset="0"/>
                <a:sym typeface="Wingdings" pitchFamily="2" charset="2"/>
              </a:rPr>
              <a:t> </a:t>
            </a:r>
            <a:r>
              <a:rPr lang="en-US" altLang="en-US" sz="2200" dirty="0" err="1">
                <a:solidFill>
                  <a:srgbClr val="000000"/>
                </a:solidFill>
                <a:latin typeface="Times New Roman" panose="02020603050405020304" pitchFamily="18" charset="0"/>
                <a:cs typeface="Times New Roman" panose="02020603050405020304" pitchFamily="18" charset="0"/>
                <a:sym typeface="Wingdings" pitchFamily="2" charset="2"/>
              </a:rPr>
              <a:t>đâu</a:t>
            </a:r>
            <a:r>
              <a:rPr lang="en-US" altLang="en-US" sz="2200" dirty="0">
                <a:solidFill>
                  <a:srgbClr val="000000"/>
                </a:solidFill>
                <a:latin typeface="Times New Roman" panose="02020603050405020304" pitchFamily="18" charset="0"/>
                <a:cs typeface="Times New Roman" panose="02020603050405020304" pitchFamily="18" charset="0"/>
                <a:sym typeface="Wingdings" pitchFamily="2" charset="2"/>
              </a:rPr>
              <a:t>?</a:t>
            </a:r>
            <a:endPar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2E5B3ABD-9120-B6D5-C9A7-5C02A1812062}"/>
              </a:ext>
            </a:extLst>
          </p:cNvPr>
          <p:cNvSpPr txBox="1"/>
          <p:nvPr/>
        </p:nvSpPr>
        <p:spPr>
          <a:xfrm>
            <a:off x="899592" y="441956"/>
            <a:ext cx="8576902" cy="46166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a:solidFill>
                  <a:schemeClr val="bg1"/>
                </a:solidFill>
                <a:latin typeface="+mj-lt"/>
                <a:ea typeface="+mj-ea"/>
                <a:cs typeface="+mj-cs"/>
              </a:rPr>
              <a:t>Vấn đề cấp phát vùng nhớ cho đối tượng</a:t>
            </a:r>
            <a:endParaRPr lang="en-US" altLang="en-US" sz="2400" b="1" dirty="0">
              <a:solidFill>
                <a:schemeClr val="bg1"/>
              </a:solidFill>
              <a:latin typeface="+mj-lt"/>
              <a:ea typeface="+mj-ea"/>
              <a:cs typeface="+mj-cs"/>
            </a:endParaRPr>
          </a:p>
        </p:txBody>
      </p:sp>
    </p:spTree>
    <p:extLst>
      <p:ext uri="{BB962C8B-B14F-4D97-AF65-F5344CB8AC3E}">
        <p14:creationId xmlns:p14="http://schemas.microsoft.com/office/powerpoint/2010/main" val="6359059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uFillTx/>
              </a:rPr>
              <a:t>3.2.2 Đa hình</a:t>
            </a:r>
            <a:endParaRPr lang="en-US" dirty="0">
              <a:uFillTx/>
            </a:endParaRPr>
          </a:p>
        </p:txBody>
      </p:sp>
      <p:sp>
        <p:nvSpPr>
          <p:cNvPr id="3" name="Content Placeholder 2"/>
          <p:cNvSpPr>
            <a:spLocks noGrp="1"/>
          </p:cNvSpPr>
          <p:nvPr>
            <p:ph idx="1"/>
          </p:nvPr>
        </p:nvSpPr>
        <p:spPr/>
        <p:txBody>
          <a:bodyPr/>
          <a:lstStyle/>
          <a:p>
            <a:pPr marL="342900" indent="-342900"/>
            <a:r>
              <a:rPr lang="en-US">
                <a:uFillTx/>
              </a:rPr>
              <a:t> Ví dụ:</a:t>
            </a:r>
          </a:p>
          <a:p>
            <a:pPr marL="781050" lvl="1" indent="-342900"/>
            <a:r>
              <a:rPr lang="en-US">
                <a:uFillTx/>
              </a:rPr>
              <a:t>Khai báo lớp Nguoi gồm </a:t>
            </a:r>
          </a:p>
          <a:p>
            <a:pPr marL="1177925" lvl="2" indent="-342900"/>
            <a:r>
              <a:rPr lang="en-US">
                <a:uFillTx/>
              </a:rPr>
              <a:t>Các thuộc tính: HoTen, NgaySinh, QueQuan</a:t>
            </a:r>
          </a:p>
          <a:p>
            <a:pPr marL="1177925" lvl="2" indent="-342900"/>
            <a:r>
              <a:rPr lang="en-US">
                <a:uFillTx/>
              </a:rPr>
              <a:t>Phương thức: Xuat (virtual)</a:t>
            </a:r>
          </a:p>
          <a:p>
            <a:pPr marL="781050" lvl="1" indent="-342900"/>
            <a:r>
              <a:rPr lang="en-US">
                <a:uFillTx/>
              </a:rPr>
              <a:t>Khai báo lớp SinhVien kế thừa từ lớp Nguoi</a:t>
            </a:r>
          </a:p>
          <a:p>
            <a:pPr marL="1177925" lvl="2" indent="-342900"/>
            <a:r>
              <a:rPr lang="en-US">
                <a:uFillTx/>
              </a:rPr>
              <a:t>Bổ sung thêm thuộc tính MaSV</a:t>
            </a:r>
          </a:p>
          <a:p>
            <a:pPr marL="1177925" lvl="2" indent="-342900"/>
            <a:r>
              <a:rPr lang="en-US">
                <a:uFillTx/>
              </a:rPr>
              <a:t>Phương thức: Xuat (override)</a:t>
            </a:r>
          </a:p>
          <a:p>
            <a:pPr lvl="1"/>
            <a:endParaRPr lang="en-US">
              <a:uFillTx/>
            </a:endParaRPr>
          </a:p>
        </p:txBody>
      </p:sp>
      <p:sp>
        <p:nvSpPr>
          <p:cNvPr id="4" name="Date Placeholder 3"/>
          <p:cNvSpPr>
            <a:spLocks noGrp="1"/>
          </p:cNvSpPr>
          <p:nvPr>
            <p:ph type="dt" sz="half" idx="10"/>
          </p:nvPr>
        </p:nvSpPr>
        <p:spPr/>
        <p:txBody>
          <a:bodyPr/>
          <a:lstStyle/>
          <a:p>
            <a:fld id="{26ACE33E-6BB9-4949-AD5D-FA2DE001A7AC}" type="datetime1">
              <a:rPr lang="vi-VN" smtClean="0">
                <a:uFillTx/>
              </a:rPr>
              <a:t>04/02/2025</a:t>
            </a:fld>
            <a:endParaRPr lang="vi-VN">
              <a:uFillTx/>
            </a:endParaRPr>
          </a:p>
        </p:txBody>
      </p:sp>
      <p:sp>
        <p:nvSpPr>
          <p:cNvPr id="5" name="Footer Placeholder 4"/>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uFillTx/>
              </a:rPr>
              <a:pPr/>
              <a:t>57</a:t>
            </a:fld>
            <a:r>
              <a:rPr lang="vi-VN">
                <a:uFillTx/>
              </a:rPr>
              <a:t>/28</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uFillTx/>
              </a:rPr>
              <a:t>Ví dụ - Đa hình</a:t>
            </a:r>
          </a:p>
        </p:txBody>
      </p:sp>
      <p:sp>
        <p:nvSpPr>
          <p:cNvPr id="3" name="Content Placeholder 2"/>
          <p:cNvSpPr>
            <a:spLocks noGrp="1"/>
          </p:cNvSpPr>
          <p:nvPr>
            <p:ph idx="1"/>
          </p:nvPr>
        </p:nvSpPr>
        <p:spPr/>
        <p:txBody>
          <a:bodyPr/>
          <a:lstStyle/>
          <a:p>
            <a:pPr marL="0" indent="0">
              <a:buNone/>
            </a:pPr>
            <a:r>
              <a:rPr lang="en-US" sz="1500" b="1" dirty="0">
                <a:solidFill>
                  <a:schemeClr val="accent2">
                    <a:lumMod val="60000"/>
                    <a:lumOff val="40000"/>
                  </a:schemeClr>
                </a:solidFill>
                <a:uFillTx/>
                <a:latin typeface="Courier New" pitchFamily="49" charset="0"/>
                <a:cs typeface="Courier New" pitchFamily="49" charset="0"/>
              </a:rPr>
              <a:t>class</a:t>
            </a:r>
            <a:r>
              <a:rPr lang="en-US" sz="1500" b="1" dirty="0">
                <a:uFillTx/>
                <a:latin typeface="Courier New" pitchFamily="49" charset="0"/>
                <a:cs typeface="Courier New" pitchFamily="49" charset="0"/>
              </a:rPr>
              <a:t> </a:t>
            </a:r>
            <a:r>
              <a:rPr lang="en-US" sz="1500" b="1" dirty="0" err="1">
                <a:uFillTx/>
                <a:latin typeface="Courier New" pitchFamily="49" charset="0"/>
                <a:cs typeface="Courier New" pitchFamily="49" charset="0"/>
              </a:rPr>
              <a:t>Nguoi</a:t>
            </a:r>
            <a:endParaRPr lang="en-US" sz="1500" b="1" dirty="0">
              <a:uFillTx/>
              <a:latin typeface="Courier New" pitchFamily="49" charset="0"/>
              <a:cs typeface="Courier New" pitchFamily="49" charset="0"/>
            </a:endParaRPr>
          </a:p>
          <a:p>
            <a:pPr marL="0" indent="0">
              <a:buNone/>
            </a:pPr>
            <a:r>
              <a:rPr lang="en-US" sz="1500" b="1" dirty="0">
                <a:uFillTx/>
                <a:latin typeface="Courier New" pitchFamily="49" charset="0"/>
                <a:cs typeface="Courier New" pitchFamily="49" charset="0"/>
              </a:rPr>
              <a:t>    {</a:t>
            </a:r>
          </a:p>
          <a:p>
            <a:pPr marL="0" indent="0">
              <a:buNone/>
            </a:pPr>
            <a:r>
              <a:rPr lang="en-US" sz="1500" b="1" dirty="0">
                <a:uFillTx/>
                <a:latin typeface="Courier New" pitchFamily="49" charset="0"/>
                <a:cs typeface="Courier New" pitchFamily="49" charset="0"/>
              </a:rPr>
              <a:t>        public string </a:t>
            </a:r>
            <a:r>
              <a:rPr lang="en-US" sz="1500" b="1" dirty="0" err="1">
                <a:uFillTx/>
                <a:latin typeface="Courier New" pitchFamily="49" charset="0"/>
                <a:cs typeface="Courier New" pitchFamily="49" charset="0"/>
              </a:rPr>
              <a:t>HoTen</a:t>
            </a:r>
            <a:r>
              <a:rPr lang="en-US" sz="1500" b="1" dirty="0">
                <a:uFillTx/>
                <a:latin typeface="Courier New" pitchFamily="49" charset="0"/>
                <a:cs typeface="Courier New" pitchFamily="49" charset="0"/>
              </a:rPr>
              <a:t>;</a:t>
            </a:r>
          </a:p>
          <a:p>
            <a:pPr marL="0" indent="0">
              <a:buNone/>
            </a:pPr>
            <a:r>
              <a:rPr lang="en-US" sz="1500" b="1" dirty="0">
                <a:uFillTx/>
                <a:latin typeface="Courier New" pitchFamily="49" charset="0"/>
                <a:cs typeface="Courier New" pitchFamily="49" charset="0"/>
              </a:rPr>
              <a:t>        public </a:t>
            </a:r>
            <a:r>
              <a:rPr lang="en-US" sz="1500" b="1" dirty="0" err="1">
                <a:uFillTx/>
                <a:latin typeface="Courier New" pitchFamily="49" charset="0"/>
                <a:cs typeface="Courier New" pitchFamily="49" charset="0"/>
              </a:rPr>
              <a:t>DateTime</a:t>
            </a:r>
            <a:r>
              <a:rPr lang="en-US" sz="1500" b="1" dirty="0">
                <a:uFillTx/>
                <a:latin typeface="Courier New" pitchFamily="49" charset="0"/>
                <a:cs typeface="Courier New" pitchFamily="49" charset="0"/>
              </a:rPr>
              <a:t> </a:t>
            </a:r>
            <a:r>
              <a:rPr lang="en-US" sz="1500" b="1" dirty="0" err="1">
                <a:uFillTx/>
                <a:latin typeface="Courier New" pitchFamily="49" charset="0"/>
                <a:cs typeface="Courier New" pitchFamily="49" charset="0"/>
              </a:rPr>
              <a:t>NgaySinh</a:t>
            </a:r>
            <a:r>
              <a:rPr lang="en-US" sz="1500" b="1" dirty="0">
                <a:uFillTx/>
                <a:latin typeface="Courier New" pitchFamily="49" charset="0"/>
                <a:cs typeface="Courier New" pitchFamily="49" charset="0"/>
              </a:rPr>
              <a:t>;</a:t>
            </a:r>
          </a:p>
          <a:p>
            <a:pPr marL="0" indent="0">
              <a:buNone/>
            </a:pPr>
            <a:r>
              <a:rPr lang="en-US" sz="1500" b="1" dirty="0">
                <a:uFillTx/>
                <a:latin typeface="Courier New" pitchFamily="49" charset="0"/>
                <a:cs typeface="Courier New" pitchFamily="49" charset="0"/>
              </a:rPr>
              <a:t>        public string </a:t>
            </a:r>
            <a:r>
              <a:rPr lang="en-US" sz="1500" b="1" dirty="0" err="1">
                <a:uFillTx/>
                <a:latin typeface="Courier New" pitchFamily="49" charset="0"/>
                <a:cs typeface="Courier New" pitchFamily="49" charset="0"/>
              </a:rPr>
              <a:t>QueQuan</a:t>
            </a:r>
            <a:r>
              <a:rPr lang="en-US" sz="1500" b="1" dirty="0">
                <a:uFillTx/>
                <a:latin typeface="Courier New" pitchFamily="49" charset="0"/>
                <a:cs typeface="Courier New" pitchFamily="49" charset="0"/>
              </a:rPr>
              <a:t>;</a:t>
            </a:r>
          </a:p>
          <a:p>
            <a:pPr marL="0" indent="0">
              <a:buNone/>
            </a:pPr>
            <a:r>
              <a:rPr lang="vi-VN" sz="1500" b="1" dirty="0">
                <a:uFillTx/>
                <a:latin typeface="Courier New" pitchFamily="49" charset="0"/>
                <a:cs typeface="Courier New" pitchFamily="49" charset="0"/>
              </a:rPr>
              <a:t>        public Nguoi(string ht, DateTime dt, string qq)</a:t>
            </a:r>
          </a:p>
          <a:p>
            <a:pPr marL="0" indent="0">
              <a:buNone/>
            </a:pPr>
            <a:r>
              <a:rPr lang="en-US" sz="1500" b="1" dirty="0">
                <a:uFillTx/>
                <a:latin typeface="Courier New" pitchFamily="49" charset="0"/>
                <a:cs typeface="Courier New" pitchFamily="49" charset="0"/>
              </a:rPr>
              <a:t>        {</a:t>
            </a:r>
          </a:p>
          <a:p>
            <a:pPr marL="0" indent="0">
              <a:buNone/>
            </a:pPr>
            <a:r>
              <a:rPr lang="en-US" sz="1500" b="1" dirty="0">
                <a:uFillTx/>
                <a:latin typeface="Courier New" pitchFamily="49" charset="0"/>
                <a:cs typeface="Courier New" pitchFamily="49" charset="0"/>
              </a:rPr>
              <a:t>            </a:t>
            </a:r>
            <a:r>
              <a:rPr lang="en-US" sz="1500" b="1" dirty="0" err="1">
                <a:uFillTx/>
                <a:latin typeface="Courier New" pitchFamily="49" charset="0"/>
                <a:cs typeface="Courier New" pitchFamily="49" charset="0"/>
              </a:rPr>
              <a:t>this.HoTen</a:t>
            </a:r>
            <a:r>
              <a:rPr lang="en-US" sz="1500" b="1" dirty="0">
                <a:uFillTx/>
                <a:latin typeface="Courier New" pitchFamily="49" charset="0"/>
                <a:cs typeface="Courier New" pitchFamily="49" charset="0"/>
              </a:rPr>
              <a:t> = </a:t>
            </a:r>
            <a:r>
              <a:rPr lang="en-US" sz="1500" b="1" dirty="0" err="1">
                <a:uFillTx/>
                <a:latin typeface="Courier New" pitchFamily="49" charset="0"/>
                <a:cs typeface="Courier New" pitchFamily="49" charset="0"/>
              </a:rPr>
              <a:t>ht</a:t>
            </a:r>
            <a:r>
              <a:rPr lang="en-US" sz="1500" b="1" dirty="0">
                <a:uFillTx/>
                <a:latin typeface="Courier New" pitchFamily="49" charset="0"/>
                <a:cs typeface="Courier New" pitchFamily="49" charset="0"/>
              </a:rPr>
              <a:t>;</a:t>
            </a:r>
          </a:p>
          <a:p>
            <a:pPr marL="0" indent="0">
              <a:buNone/>
            </a:pPr>
            <a:r>
              <a:rPr lang="en-US" sz="1500" b="1" dirty="0">
                <a:uFillTx/>
                <a:latin typeface="Courier New" pitchFamily="49" charset="0"/>
                <a:cs typeface="Courier New" pitchFamily="49" charset="0"/>
              </a:rPr>
              <a:t>            </a:t>
            </a:r>
            <a:r>
              <a:rPr lang="en-US" sz="1500" b="1" dirty="0" err="1">
                <a:uFillTx/>
                <a:latin typeface="Courier New" pitchFamily="49" charset="0"/>
                <a:cs typeface="Courier New" pitchFamily="49" charset="0"/>
              </a:rPr>
              <a:t>this.NgaySinh</a:t>
            </a:r>
            <a:r>
              <a:rPr lang="en-US" sz="1500" b="1" dirty="0">
                <a:uFillTx/>
                <a:latin typeface="Courier New" pitchFamily="49" charset="0"/>
                <a:cs typeface="Courier New" pitchFamily="49" charset="0"/>
              </a:rPr>
              <a:t> = dt;</a:t>
            </a:r>
          </a:p>
          <a:p>
            <a:pPr marL="0" indent="0">
              <a:buNone/>
            </a:pPr>
            <a:r>
              <a:rPr lang="en-US" sz="1500" b="1" dirty="0">
                <a:uFillTx/>
                <a:latin typeface="Courier New" pitchFamily="49" charset="0"/>
                <a:cs typeface="Courier New" pitchFamily="49" charset="0"/>
              </a:rPr>
              <a:t>            </a:t>
            </a:r>
            <a:r>
              <a:rPr lang="en-US" sz="1500" b="1" dirty="0" err="1">
                <a:uFillTx/>
                <a:latin typeface="Courier New" pitchFamily="49" charset="0"/>
                <a:cs typeface="Courier New" pitchFamily="49" charset="0"/>
              </a:rPr>
              <a:t>this.QueQuan</a:t>
            </a:r>
            <a:r>
              <a:rPr lang="en-US" sz="1500" b="1" dirty="0">
                <a:uFillTx/>
                <a:latin typeface="Courier New" pitchFamily="49" charset="0"/>
                <a:cs typeface="Courier New" pitchFamily="49" charset="0"/>
              </a:rPr>
              <a:t> = </a:t>
            </a:r>
            <a:r>
              <a:rPr lang="en-US" sz="1500" b="1" dirty="0" err="1">
                <a:uFillTx/>
                <a:latin typeface="Courier New" pitchFamily="49" charset="0"/>
                <a:cs typeface="Courier New" pitchFamily="49" charset="0"/>
              </a:rPr>
              <a:t>qq</a:t>
            </a:r>
            <a:r>
              <a:rPr lang="en-US" sz="1500" b="1" dirty="0">
                <a:uFillTx/>
                <a:latin typeface="Courier New" pitchFamily="49" charset="0"/>
                <a:cs typeface="Courier New" pitchFamily="49" charset="0"/>
              </a:rPr>
              <a:t>;</a:t>
            </a:r>
          </a:p>
          <a:p>
            <a:pPr marL="0" indent="0">
              <a:buNone/>
            </a:pPr>
            <a:r>
              <a:rPr lang="en-US" sz="1500" b="1" dirty="0">
                <a:uFillTx/>
                <a:latin typeface="Courier New" pitchFamily="49" charset="0"/>
                <a:cs typeface="Courier New" pitchFamily="49" charset="0"/>
              </a:rPr>
              <a:t>        }</a:t>
            </a:r>
          </a:p>
          <a:p>
            <a:pPr marL="0" indent="0">
              <a:buNone/>
            </a:pPr>
            <a:r>
              <a:rPr lang="vi-VN" sz="1500" b="1" dirty="0">
                <a:uFillTx/>
                <a:latin typeface="Courier New" pitchFamily="49" charset="0"/>
                <a:cs typeface="Courier New" pitchFamily="49" charset="0"/>
              </a:rPr>
              <a:t>        </a:t>
            </a:r>
            <a:r>
              <a:rPr lang="vi-VN" sz="1500" b="1" dirty="0">
                <a:solidFill>
                  <a:schemeClr val="accent2">
                    <a:lumMod val="60000"/>
                    <a:lumOff val="40000"/>
                  </a:schemeClr>
                </a:solidFill>
                <a:uFillTx/>
                <a:latin typeface="Courier New" pitchFamily="49" charset="0"/>
                <a:cs typeface="Courier New" pitchFamily="49" charset="0"/>
              </a:rPr>
              <a:t>public virtual void Xuat()</a:t>
            </a:r>
            <a:r>
              <a:rPr lang="vi-VN" sz="1500" b="1" dirty="0">
                <a:uFillTx/>
                <a:latin typeface="Courier New" pitchFamily="49" charset="0"/>
                <a:cs typeface="Courier New" pitchFamily="49" charset="0"/>
              </a:rPr>
              <a:t> //</a:t>
            </a:r>
            <a:r>
              <a:rPr lang="vi-VN" sz="1500" b="1" dirty="0">
                <a:solidFill>
                  <a:srgbClr val="00B050"/>
                </a:solidFill>
                <a:uFillTx/>
                <a:latin typeface="Courier New" pitchFamily="49" charset="0"/>
                <a:cs typeface="Courier New" pitchFamily="49" charset="0"/>
              </a:rPr>
              <a:t>Khai báo phương thức ảo</a:t>
            </a:r>
          </a:p>
          <a:p>
            <a:pPr marL="0" indent="0">
              <a:buNone/>
            </a:pPr>
            <a:r>
              <a:rPr lang="en-US" sz="1500" b="1" dirty="0">
                <a:uFillTx/>
                <a:latin typeface="Courier New" pitchFamily="49" charset="0"/>
                <a:cs typeface="Courier New" pitchFamily="49" charset="0"/>
              </a:rPr>
              <a:t>        {</a:t>
            </a:r>
          </a:p>
          <a:p>
            <a:pPr marL="0" indent="0">
              <a:buNone/>
            </a:pPr>
            <a:r>
              <a:rPr lang="it-IT" sz="1500" b="1" dirty="0">
                <a:uFillTx/>
                <a:latin typeface="Courier New" pitchFamily="49" charset="0"/>
                <a:cs typeface="Courier New" pitchFamily="49" charset="0"/>
              </a:rPr>
              <a:t>            </a:t>
            </a:r>
            <a:r>
              <a:rPr lang="it-IT" sz="1500" b="1" dirty="0" err="1">
                <a:uFillTx/>
                <a:latin typeface="Courier New" pitchFamily="49" charset="0"/>
                <a:cs typeface="Courier New" pitchFamily="49" charset="0"/>
              </a:rPr>
              <a:t>Console.WriteLine</a:t>
            </a:r>
            <a:r>
              <a:rPr lang="it-IT" sz="1500" b="1" dirty="0">
                <a:uFillTx/>
                <a:latin typeface="Courier New" pitchFamily="49" charset="0"/>
                <a:cs typeface="Courier New" pitchFamily="49" charset="0"/>
              </a:rPr>
              <a:t>("Ho va </a:t>
            </a:r>
            <a:r>
              <a:rPr lang="it-IT" sz="1500" b="1" dirty="0" err="1">
                <a:uFillTx/>
                <a:latin typeface="Courier New" pitchFamily="49" charset="0"/>
                <a:cs typeface="Courier New" pitchFamily="49" charset="0"/>
              </a:rPr>
              <a:t>ten</a:t>
            </a:r>
            <a:r>
              <a:rPr lang="it-IT" sz="1500" b="1" dirty="0">
                <a:uFillTx/>
                <a:latin typeface="Courier New" pitchFamily="49" charset="0"/>
                <a:cs typeface="Courier New" pitchFamily="49" charset="0"/>
              </a:rPr>
              <a:t>: " + </a:t>
            </a:r>
            <a:r>
              <a:rPr lang="it-IT" sz="1500" b="1" dirty="0" err="1">
                <a:uFillTx/>
                <a:latin typeface="Courier New" pitchFamily="49" charset="0"/>
                <a:cs typeface="Courier New" pitchFamily="49" charset="0"/>
              </a:rPr>
              <a:t>HoTen</a:t>
            </a:r>
            <a:r>
              <a:rPr lang="it-IT" sz="1500" b="1" dirty="0">
                <a:uFillTx/>
                <a:latin typeface="Courier New" pitchFamily="49" charset="0"/>
                <a:cs typeface="Courier New" pitchFamily="49" charset="0"/>
              </a:rPr>
              <a:t>);</a:t>
            </a:r>
          </a:p>
          <a:p>
            <a:pPr marL="0" indent="0">
              <a:buNone/>
            </a:pPr>
            <a:r>
              <a:rPr lang="en-US" sz="1500" b="1" dirty="0">
                <a:uFillTx/>
                <a:latin typeface="Courier New" pitchFamily="49" charset="0"/>
                <a:cs typeface="Courier New" pitchFamily="49" charset="0"/>
              </a:rPr>
              <a:t>            </a:t>
            </a:r>
            <a:r>
              <a:rPr lang="en-US" sz="1500" b="1" dirty="0" err="1">
                <a:uFillTx/>
                <a:latin typeface="Courier New" pitchFamily="49" charset="0"/>
                <a:cs typeface="Courier New" pitchFamily="49" charset="0"/>
              </a:rPr>
              <a:t>Console.WriteLine</a:t>
            </a:r>
            <a:r>
              <a:rPr lang="en-US" sz="1500" b="1" dirty="0">
                <a:uFillTx/>
                <a:latin typeface="Courier New" pitchFamily="49" charset="0"/>
                <a:cs typeface="Courier New" pitchFamily="49" charset="0"/>
              </a:rPr>
              <a:t>("</a:t>
            </a:r>
            <a:r>
              <a:rPr lang="en-US" sz="1500" b="1" dirty="0" err="1">
                <a:uFillTx/>
                <a:latin typeface="Courier New" pitchFamily="49" charset="0"/>
                <a:cs typeface="Courier New" pitchFamily="49" charset="0"/>
              </a:rPr>
              <a:t>Ngay</a:t>
            </a:r>
            <a:r>
              <a:rPr lang="en-US" sz="1500" b="1" dirty="0">
                <a:uFillTx/>
                <a:latin typeface="Courier New" pitchFamily="49" charset="0"/>
                <a:cs typeface="Courier New" pitchFamily="49" charset="0"/>
              </a:rPr>
              <a:t> </a:t>
            </a:r>
            <a:r>
              <a:rPr lang="en-US" sz="1500" b="1" dirty="0" err="1">
                <a:uFillTx/>
                <a:latin typeface="Courier New" pitchFamily="49" charset="0"/>
                <a:cs typeface="Courier New" pitchFamily="49" charset="0"/>
              </a:rPr>
              <a:t>sinh</a:t>
            </a:r>
            <a:r>
              <a:rPr lang="en-US" sz="1500" b="1" dirty="0">
                <a:uFillTx/>
                <a:latin typeface="Courier New" pitchFamily="49" charset="0"/>
                <a:cs typeface="Courier New" pitchFamily="49" charset="0"/>
              </a:rPr>
              <a:t>: {0}/{1}/{2}", </a:t>
            </a:r>
            <a:r>
              <a:rPr lang="en-US" sz="1500" b="1" dirty="0" err="1">
                <a:uFillTx/>
                <a:latin typeface="Courier New" pitchFamily="49" charset="0"/>
                <a:cs typeface="Courier New" pitchFamily="49" charset="0"/>
              </a:rPr>
              <a:t>NgaySinh.Day</a:t>
            </a:r>
            <a:r>
              <a:rPr lang="en-US" sz="1500" b="1" dirty="0">
                <a:uFillTx/>
                <a:latin typeface="Courier New" pitchFamily="49" charset="0"/>
                <a:cs typeface="Courier New" pitchFamily="49" charset="0"/>
              </a:rPr>
              <a:t>, </a:t>
            </a:r>
            <a:r>
              <a:rPr lang="en-US" sz="1500" b="1" dirty="0" err="1">
                <a:uFillTx/>
                <a:latin typeface="Courier New" pitchFamily="49" charset="0"/>
                <a:cs typeface="Courier New" pitchFamily="49" charset="0"/>
              </a:rPr>
              <a:t>NgaySinh.Month</a:t>
            </a:r>
            <a:r>
              <a:rPr lang="en-US" sz="1500" b="1" dirty="0">
                <a:uFillTx/>
                <a:latin typeface="Courier New" pitchFamily="49" charset="0"/>
                <a:cs typeface="Courier New" pitchFamily="49" charset="0"/>
              </a:rPr>
              <a:t>, </a:t>
            </a:r>
            <a:r>
              <a:rPr lang="en-US" sz="1500" b="1" dirty="0" err="1">
                <a:uFillTx/>
                <a:latin typeface="Courier New" pitchFamily="49" charset="0"/>
                <a:cs typeface="Courier New" pitchFamily="49" charset="0"/>
              </a:rPr>
              <a:t>NgaySinh.Year</a:t>
            </a:r>
            <a:r>
              <a:rPr lang="en-US" sz="1500" b="1" dirty="0">
                <a:uFillTx/>
                <a:latin typeface="Courier New" pitchFamily="49" charset="0"/>
                <a:cs typeface="Courier New" pitchFamily="49" charset="0"/>
              </a:rPr>
              <a:t>);</a:t>
            </a:r>
          </a:p>
          <a:p>
            <a:pPr marL="0" indent="0">
              <a:buNone/>
            </a:pPr>
            <a:r>
              <a:rPr lang="en-US" sz="1500" b="1" dirty="0">
                <a:uFillTx/>
                <a:latin typeface="Courier New" pitchFamily="49" charset="0"/>
                <a:cs typeface="Courier New" pitchFamily="49" charset="0"/>
              </a:rPr>
              <a:t>            </a:t>
            </a:r>
            <a:r>
              <a:rPr lang="en-US" sz="1500" b="1" dirty="0" err="1">
                <a:uFillTx/>
                <a:latin typeface="Courier New" pitchFamily="49" charset="0"/>
                <a:cs typeface="Courier New" pitchFamily="49" charset="0"/>
              </a:rPr>
              <a:t>Console.WriteLine</a:t>
            </a:r>
            <a:r>
              <a:rPr lang="en-US" sz="1500" b="1" dirty="0">
                <a:uFillTx/>
                <a:latin typeface="Courier New" pitchFamily="49" charset="0"/>
                <a:cs typeface="Courier New" pitchFamily="49" charset="0"/>
              </a:rPr>
              <a:t>("Que </a:t>
            </a:r>
            <a:r>
              <a:rPr lang="en-US" sz="1500" b="1" dirty="0" err="1">
                <a:uFillTx/>
                <a:latin typeface="Courier New" pitchFamily="49" charset="0"/>
                <a:cs typeface="Courier New" pitchFamily="49" charset="0"/>
              </a:rPr>
              <a:t>quan</a:t>
            </a:r>
            <a:r>
              <a:rPr lang="en-US" sz="1500" b="1" dirty="0">
                <a:uFillTx/>
                <a:latin typeface="Courier New" pitchFamily="49" charset="0"/>
                <a:cs typeface="Courier New" pitchFamily="49" charset="0"/>
              </a:rPr>
              <a:t>: " + </a:t>
            </a:r>
            <a:r>
              <a:rPr lang="en-US" sz="1500" b="1" dirty="0" err="1">
                <a:uFillTx/>
                <a:latin typeface="Courier New" pitchFamily="49" charset="0"/>
                <a:cs typeface="Courier New" pitchFamily="49" charset="0"/>
              </a:rPr>
              <a:t>QueQuan</a:t>
            </a:r>
            <a:r>
              <a:rPr lang="en-US" sz="1500" b="1" dirty="0">
                <a:uFillTx/>
                <a:latin typeface="Courier New" pitchFamily="49" charset="0"/>
                <a:cs typeface="Courier New" pitchFamily="49" charset="0"/>
              </a:rPr>
              <a:t>);</a:t>
            </a:r>
          </a:p>
          <a:p>
            <a:pPr marL="0" indent="0">
              <a:buNone/>
            </a:pPr>
            <a:r>
              <a:rPr lang="en-US" sz="1500" b="1" dirty="0">
                <a:uFillTx/>
                <a:latin typeface="Courier New" pitchFamily="49" charset="0"/>
                <a:cs typeface="Courier New" pitchFamily="49" charset="0"/>
              </a:rPr>
              <a:t>        }        </a:t>
            </a:r>
          </a:p>
          <a:p>
            <a:pPr marL="0" indent="0">
              <a:buNone/>
            </a:pPr>
            <a:r>
              <a:rPr lang="en-US" sz="1500" b="1" dirty="0">
                <a:uFillTx/>
                <a:latin typeface="Courier New" pitchFamily="49" charset="0"/>
                <a:cs typeface="Courier New" pitchFamily="49" charset="0"/>
              </a:rPr>
              <a:t>    }</a:t>
            </a:r>
          </a:p>
          <a:p>
            <a:pPr marL="0" indent="0">
              <a:buNone/>
            </a:pPr>
            <a:endParaRPr lang="en-US" dirty="0">
              <a:uFillTx/>
            </a:endParaRPr>
          </a:p>
        </p:txBody>
      </p:sp>
      <p:sp>
        <p:nvSpPr>
          <p:cNvPr id="4" name="Date Placeholder 3"/>
          <p:cNvSpPr>
            <a:spLocks noGrp="1"/>
          </p:cNvSpPr>
          <p:nvPr>
            <p:ph type="dt" sz="half" idx="10"/>
          </p:nvPr>
        </p:nvSpPr>
        <p:spPr/>
        <p:txBody>
          <a:bodyPr/>
          <a:lstStyle/>
          <a:p>
            <a:fld id="{45FB9944-19A0-427F-BF1E-71037730C03C}" type="datetime1">
              <a:rPr lang="vi-VN" smtClean="0">
                <a:uFillTx/>
              </a:rPr>
              <a:t>04/02/2025</a:t>
            </a:fld>
            <a:endParaRPr lang="vi-VN">
              <a:uFillTx/>
            </a:endParaRPr>
          </a:p>
        </p:txBody>
      </p:sp>
      <p:sp>
        <p:nvSpPr>
          <p:cNvPr id="5" name="Footer Placeholder 4"/>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uFillTx/>
              </a:rPr>
              <a:pPr/>
              <a:t>58</a:t>
            </a:fld>
            <a:r>
              <a:rPr lang="vi-VN">
                <a:uFillTx/>
              </a:rPr>
              <a:t>/28</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uFillTx/>
              </a:rPr>
              <a:t>Ví dụ - Đa hình</a:t>
            </a:r>
          </a:p>
        </p:txBody>
      </p:sp>
      <p:sp>
        <p:nvSpPr>
          <p:cNvPr id="3" name="Content Placeholder 2"/>
          <p:cNvSpPr>
            <a:spLocks noGrp="1"/>
          </p:cNvSpPr>
          <p:nvPr>
            <p:ph idx="1"/>
          </p:nvPr>
        </p:nvSpPr>
        <p:spPr/>
        <p:txBody>
          <a:bodyPr/>
          <a:lstStyle/>
          <a:p>
            <a:pPr marL="0" indent="0">
              <a:buNone/>
            </a:pPr>
            <a:r>
              <a:rPr lang="en-US" sz="1600">
                <a:solidFill>
                  <a:srgbClr val="FF0000"/>
                </a:solidFill>
                <a:uFillTx/>
                <a:latin typeface="Courier New" pitchFamily="49" charset="0"/>
                <a:cs typeface="Courier New" pitchFamily="49" charset="0"/>
              </a:rPr>
              <a:t>class</a:t>
            </a:r>
            <a:r>
              <a:rPr lang="en-US" sz="1600">
                <a:uFillTx/>
                <a:latin typeface="Courier New" pitchFamily="49" charset="0"/>
                <a:cs typeface="Courier New" pitchFamily="49" charset="0"/>
              </a:rPr>
              <a:t> SinhVien : Nguoi</a:t>
            </a:r>
          </a:p>
          <a:p>
            <a:pPr marL="0" indent="0">
              <a:buNone/>
            </a:pPr>
            <a:r>
              <a:rPr lang="en-US" sz="1600">
                <a:uFillTx/>
                <a:latin typeface="Courier New" pitchFamily="49" charset="0"/>
                <a:cs typeface="Courier New" pitchFamily="49" charset="0"/>
              </a:rPr>
              <a:t>    {</a:t>
            </a:r>
          </a:p>
          <a:p>
            <a:pPr marL="0" indent="0">
              <a:buNone/>
            </a:pPr>
            <a:r>
              <a:rPr lang="en-US" sz="1600">
                <a:uFillTx/>
                <a:latin typeface="Courier New" pitchFamily="49" charset="0"/>
                <a:cs typeface="Courier New" pitchFamily="49" charset="0"/>
              </a:rPr>
              <a:t>        public string MaSV;</a:t>
            </a:r>
          </a:p>
          <a:p>
            <a:pPr marL="0" indent="0">
              <a:buNone/>
            </a:pPr>
            <a:r>
              <a:rPr lang="vi-VN" sz="1600">
                <a:uFillTx/>
                <a:latin typeface="Courier New" pitchFamily="49" charset="0"/>
                <a:cs typeface="Courier New" pitchFamily="49" charset="0"/>
              </a:rPr>
              <a:t>        public SinhVien(string ht, DateTime dt, string qq, string ma) </a:t>
            </a:r>
            <a:r>
              <a:rPr lang="en-US" sz="1600">
                <a:uFillTx/>
                <a:latin typeface="Courier New" pitchFamily="49" charset="0"/>
                <a:cs typeface="Courier New" pitchFamily="49" charset="0"/>
              </a:rPr>
              <a:t>: base(ht, dt, qq)</a:t>
            </a:r>
          </a:p>
          <a:p>
            <a:pPr marL="0" indent="0">
              <a:buNone/>
            </a:pPr>
            <a:r>
              <a:rPr lang="en-US" sz="1600">
                <a:uFillTx/>
                <a:latin typeface="Courier New" pitchFamily="49" charset="0"/>
                <a:cs typeface="Courier New" pitchFamily="49" charset="0"/>
              </a:rPr>
              <a:t>        {</a:t>
            </a:r>
          </a:p>
          <a:p>
            <a:pPr marL="0" indent="0">
              <a:buNone/>
            </a:pPr>
            <a:r>
              <a:rPr lang="en-US" sz="1600">
                <a:uFillTx/>
                <a:latin typeface="Courier New" pitchFamily="49" charset="0"/>
                <a:cs typeface="Courier New" pitchFamily="49" charset="0"/>
              </a:rPr>
              <a:t>            this.MaSV = ma;</a:t>
            </a:r>
          </a:p>
          <a:p>
            <a:pPr marL="0" indent="0">
              <a:buNone/>
            </a:pPr>
            <a:r>
              <a:rPr lang="en-US" sz="1600">
                <a:uFillTx/>
                <a:latin typeface="Courier New" pitchFamily="49" charset="0"/>
                <a:cs typeface="Courier New" pitchFamily="49" charset="0"/>
              </a:rPr>
              <a:t>        }</a:t>
            </a:r>
          </a:p>
          <a:p>
            <a:pPr marL="0" indent="0">
              <a:buNone/>
            </a:pPr>
            <a:r>
              <a:rPr lang="en-US" sz="1600">
                <a:uFillTx/>
                <a:latin typeface="Courier New" pitchFamily="49" charset="0"/>
                <a:cs typeface="Courier New" pitchFamily="49" charset="0"/>
              </a:rPr>
              <a:t>        </a:t>
            </a:r>
            <a:r>
              <a:rPr lang="en-US" sz="1600">
                <a:solidFill>
                  <a:schemeClr val="accent2">
                    <a:lumMod val="60000"/>
                    <a:lumOff val="40000"/>
                  </a:schemeClr>
                </a:solidFill>
                <a:uFillTx/>
                <a:latin typeface="Courier New" pitchFamily="49" charset="0"/>
                <a:cs typeface="Courier New" pitchFamily="49" charset="0"/>
              </a:rPr>
              <a:t>public override void Xuat() </a:t>
            </a:r>
            <a:r>
              <a:rPr lang="en-US" sz="1600">
                <a:solidFill>
                  <a:srgbClr val="00B050"/>
                </a:solidFill>
                <a:uFillTx/>
                <a:latin typeface="Courier New" pitchFamily="49" charset="0"/>
                <a:cs typeface="Courier New" pitchFamily="49" charset="0"/>
              </a:rPr>
              <a:t>//Ghi đè phương thức</a:t>
            </a:r>
          </a:p>
          <a:p>
            <a:pPr marL="0" indent="0">
              <a:buNone/>
            </a:pPr>
            <a:r>
              <a:rPr lang="en-US" sz="1600">
                <a:uFillTx/>
                <a:latin typeface="Courier New" pitchFamily="49" charset="0"/>
                <a:cs typeface="Courier New" pitchFamily="49" charset="0"/>
              </a:rPr>
              <a:t>        {</a:t>
            </a:r>
          </a:p>
          <a:p>
            <a:pPr marL="0" indent="0">
              <a:buNone/>
            </a:pPr>
            <a:r>
              <a:rPr lang="it-IT" sz="1600">
                <a:uFillTx/>
                <a:latin typeface="Courier New" pitchFamily="49" charset="0"/>
                <a:cs typeface="Courier New" pitchFamily="49" charset="0"/>
              </a:rPr>
              <a:t>            Console.WriteLine("Ma sinh vien: " + MaSV);</a:t>
            </a:r>
          </a:p>
          <a:p>
            <a:pPr marL="0" indent="0">
              <a:buNone/>
            </a:pPr>
            <a:r>
              <a:rPr lang="vi-VN" sz="1600">
                <a:uFillTx/>
                <a:latin typeface="Courier New" pitchFamily="49" charset="0"/>
                <a:cs typeface="Courier New" pitchFamily="49" charset="0"/>
              </a:rPr>
              <a:t>            base.Xuat(); //Kế thừa lại phương thức            </a:t>
            </a:r>
          </a:p>
          <a:p>
            <a:pPr marL="0" indent="0">
              <a:buNone/>
            </a:pPr>
            <a:r>
              <a:rPr lang="en-US" sz="1600">
                <a:uFillTx/>
                <a:latin typeface="Courier New" pitchFamily="49" charset="0"/>
                <a:cs typeface="Courier New" pitchFamily="49" charset="0"/>
              </a:rPr>
              <a:t>        }</a:t>
            </a:r>
          </a:p>
          <a:p>
            <a:pPr marL="0" indent="0">
              <a:buNone/>
            </a:pPr>
            <a:r>
              <a:rPr lang="en-US" sz="1600">
                <a:uFillTx/>
                <a:latin typeface="Courier New" pitchFamily="49" charset="0"/>
                <a:cs typeface="Courier New" pitchFamily="49" charset="0"/>
              </a:rPr>
              <a:t>    }</a:t>
            </a:r>
          </a:p>
          <a:p>
            <a:pPr marL="0" indent="0">
              <a:buNone/>
            </a:pPr>
            <a:endParaRPr lang="en-US">
              <a:uFillTx/>
            </a:endParaRPr>
          </a:p>
        </p:txBody>
      </p:sp>
      <p:sp>
        <p:nvSpPr>
          <p:cNvPr id="4" name="Date Placeholder 3"/>
          <p:cNvSpPr>
            <a:spLocks noGrp="1"/>
          </p:cNvSpPr>
          <p:nvPr>
            <p:ph type="dt" sz="half" idx="10"/>
          </p:nvPr>
        </p:nvSpPr>
        <p:spPr/>
        <p:txBody>
          <a:bodyPr/>
          <a:lstStyle/>
          <a:p>
            <a:fld id="{970E0B45-30C9-4CCB-BA46-CBD963C33506}" type="datetime1">
              <a:rPr lang="vi-VN" smtClean="0">
                <a:uFillTx/>
              </a:rPr>
              <a:t>04/02/2025</a:t>
            </a:fld>
            <a:endParaRPr lang="vi-VN">
              <a:uFillTx/>
            </a:endParaRPr>
          </a:p>
        </p:txBody>
      </p:sp>
      <p:sp>
        <p:nvSpPr>
          <p:cNvPr id="5" name="Footer Placeholder 4"/>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uFillTx/>
              </a:rPr>
              <a:pPr/>
              <a:t>59</a:t>
            </a:fld>
            <a:r>
              <a:rPr lang="vi-VN">
                <a:uFillTx/>
              </a:rPr>
              <a:t>/28</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uFillTx/>
              </a:rPr>
              <a:t>Ví dụ - Đa hình</a:t>
            </a:r>
          </a:p>
        </p:txBody>
      </p:sp>
      <p:sp>
        <p:nvSpPr>
          <p:cNvPr id="3" name="Content Placeholder 2"/>
          <p:cNvSpPr>
            <a:spLocks noGrp="1"/>
          </p:cNvSpPr>
          <p:nvPr>
            <p:ph idx="1"/>
          </p:nvPr>
        </p:nvSpPr>
        <p:spPr/>
        <p:txBody>
          <a:bodyPr/>
          <a:lstStyle/>
          <a:p>
            <a:pPr marL="0" indent="0">
              <a:buNone/>
            </a:pPr>
            <a:r>
              <a:rPr lang="en-US" sz="1600">
                <a:solidFill>
                  <a:srgbClr val="FF0000"/>
                </a:solidFill>
                <a:uFillTx/>
                <a:latin typeface="Courier New" pitchFamily="49" charset="0"/>
                <a:cs typeface="Courier New" pitchFamily="49" charset="0"/>
              </a:rPr>
              <a:t>class</a:t>
            </a:r>
            <a:r>
              <a:rPr lang="en-US" sz="1600">
                <a:uFillTx/>
                <a:latin typeface="Courier New" pitchFamily="49" charset="0"/>
                <a:cs typeface="Courier New" pitchFamily="49" charset="0"/>
              </a:rPr>
              <a:t> Program</a:t>
            </a:r>
          </a:p>
          <a:p>
            <a:pPr marL="0" indent="0">
              <a:buNone/>
            </a:pPr>
            <a:r>
              <a:rPr lang="en-US" sz="1600">
                <a:uFillTx/>
                <a:latin typeface="Courier New" pitchFamily="49" charset="0"/>
                <a:cs typeface="Courier New" pitchFamily="49" charset="0"/>
              </a:rPr>
              <a:t>    {</a:t>
            </a:r>
          </a:p>
          <a:p>
            <a:pPr marL="0" indent="0">
              <a:buNone/>
            </a:pPr>
            <a:r>
              <a:rPr lang="en-US" sz="1600">
                <a:uFillTx/>
                <a:latin typeface="Courier New" pitchFamily="49" charset="0"/>
                <a:cs typeface="Courier New" pitchFamily="49" charset="0"/>
              </a:rPr>
              <a:t>        static void Main(string[] args)</a:t>
            </a:r>
          </a:p>
          <a:p>
            <a:pPr marL="0" indent="0">
              <a:buNone/>
            </a:pPr>
            <a:r>
              <a:rPr lang="en-US" sz="1600">
                <a:uFillTx/>
                <a:latin typeface="Courier New" pitchFamily="49" charset="0"/>
                <a:cs typeface="Courier New" pitchFamily="49" charset="0"/>
              </a:rPr>
              <a:t>        {</a:t>
            </a:r>
          </a:p>
          <a:p>
            <a:pPr marL="0" indent="0">
              <a:buNone/>
            </a:pPr>
            <a:r>
              <a:rPr lang="it-IT" sz="1600">
                <a:uFillTx/>
                <a:latin typeface="Courier New" pitchFamily="49" charset="0"/>
                <a:cs typeface="Courier New" pitchFamily="49" charset="0"/>
              </a:rPr>
              <a:t>            Nguoi P1 = new Nguoi("Nguyen Van A", Convert.ToDateTime("3/8/1994"), "Ha Noi");</a:t>
            </a:r>
          </a:p>
          <a:p>
            <a:pPr marL="0" indent="0">
              <a:buNone/>
            </a:pPr>
            <a:r>
              <a:rPr lang="en-US" sz="1600">
                <a:uFillTx/>
                <a:latin typeface="Courier New" pitchFamily="49" charset="0"/>
                <a:cs typeface="Courier New" pitchFamily="49" charset="0"/>
              </a:rPr>
              <a:t>            Console.WriteLine("Thong tin cua nguoi: ");</a:t>
            </a:r>
          </a:p>
          <a:p>
            <a:pPr marL="0" indent="0">
              <a:buNone/>
            </a:pPr>
            <a:r>
              <a:rPr lang="vi-VN" sz="1600">
                <a:uFillTx/>
                <a:latin typeface="Courier New" pitchFamily="49" charset="0"/>
                <a:cs typeface="Courier New" pitchFamily="49" charset="0"/>
              </a:rPr>
              <a:t>            </a:t>
            </a:r>
            <a:r>
              <a:rPr lang="vi-VN" sz="1600">
                <a:solidFill>
                  <a:srgbClr val="FF0000"/>
                </a:solidFill>
                <a:uFillTx/>
                <a:latin typeface="Courier New" pitchFamily="49" charset="0"/>
                <a:cs typeface="Courier New" pitchFamily="49" charset="0"/>
              </a:rPr>
              <a:t>P1.Xuat(); </a:t>
            </a:r>
            <a:r>
              <a:rPr lang="vi-VN" sz="1600">
                <a:solidFill>
                  <a:srgbClr val="00B050"/>
                </a:solidFill>
                <a:uFillTx/>
                <a:latin typeface="Courier New" pitchFamily="49" charset="0"/>
                <a:cs typeface="Courier New" pitchFamily="49" charset="0"/>
              </a:rPr>
              <a:t>//Phương thức Xuat của lớp Nguoi</a:t>
            </a:r>
          </a:p>
          <a:p>
            <a:pPr marL="0" indent="0">
              <a:buNone/>
            </a:pPr>
            <a:r>
              <a:rPr lang="en-US" sz="1600">
                <a:uFillTx/>
                <a:latin typeface="Courier New" pitchFamily="49" charset="0"/>
                <a:cs typeface="Courier New" pitchFamily="49" charset="0"/>
              </a:rPr>
              <a:t>            SinhVien sv1 = new SinhVien("Nguyen Thi B", Convert.ToDateTime("12/9/1994"), "Ha Tay", "15A4040012");</a:t>
            </a:r>
          </a:p>
          <a:p>
            <a:pPr marL="0" indent="0">
              <a:buNone/>
            </a:pPr>
            <a:r>
              <a:rPr lang="en-US" sz="1600">
                <a:uFillTx/>
                <a:latin typeface="Courier New" pitchFamily="49" charset="0"/>
                <a:cs typeface="Courier New" pitchFamily="49" charset="0"/>
              </a:rPr>
              <a:t>            Console.WriteLine("\nThong tin cua sinh vien: ");</a:t>
            </a:r>
          </a:p>
          <a:p>
            <a:pPr marL="0" indent="0">
              <a:buNone/>
            </a:pPr>
            <a:r>
              <a:rPr lang="vi-VN" sz="1600">
                <a:uFillTx/>
                <a:latin typeface="Courier New" pitchFamily="49" charset="0"/>
                <a:cs typeface="Courier New" pitchFamily="49" charset="0"/>
              </a:rPr>
              <a:t>            </a:t>
            </a:r>
            <a:r>
              <a:rPr lang="vi-VN" sz="1600">
                <a:solidFill>
                  <a:srgbClr val="FF0000"/>
                </a:solidFill>
                <a:uFillTx/>
                <a:latin typeface="Courier New" pitchFamily="49" charset="0"/>
                <a:cs typeface="Courier New" pitchFamily="49" charset="0"/>
              </a:rPr>
              <a:t>sv1.Xuat(); </a:t>
            </a:r>
            <a:r>
              <a:rPr lang="vi-VN" sz="1600">
                <a:solidFill>
                  <a:srgbClr val="00B050"/>
                </a:solidFill>
                <a:uFillTx/>
                <a:latin typeface="Courier New" pitchFamily="49" charset="0"/>
                <a:cs typeface="Courier New" pitchFamily="49" charset="0"/>
              </a:rPr>
              <a:t>//Phương thức Xuat của lớp SinhVien</a:t>
            </a:r>
          </a:p>
          <a:p>
            <a:pPr marL="0" indent="0">
              <a:buNone/>
            </a:pPr>
            <a:r>
              <a:rPr lang="en-US" sz="1600">
                <a:uFillTx/>
                <a:latin typeface="Courier New" pitchFamily="49" charset="0"/>
                <a:cs typeface="Courier New" pitchFamily="49" charset="0"/>
              </a:rPr>
              <a:t>            Console.ReadLine();</a:t>
            </a:r>
          </a:p>
          <a:p>
            <a:pPr marL="0" indent="0">
              <a:buNone/>
            </a:pPr>
            <a:r>
              <a:rPr lang="en-US" sz="1600">
                <a:uFillTx/>
                <a:latin typeface="Courier New" pitchFamily="49" charset="0"/>
                <a:cs typeface="Courier New" pitchFamily="49" charset="0"/>
              </a:rPr>
              <a:t>        }</a:t>
            </a:r>
          </a:p>
          <a:p>
            <a:pPr marL="0" indent="0">
              <a:buNone/>
            </a:pPr>
            <a:r>
              <a:rPr lang="en-US" sz="1600">
                <a:uFillTx/>
                <a:latin typeface="Courier New" pitchFamily="49" charset="0"/>
                <a:cs typeface="Courier New" pitchFamily="49" charset="0"/>
              </a:rPr>
              <a:t>    }   </a:t>
            </a:r>
          </a:p>
          <a:p>
            <a:pPr marL="0" indent="0">
              <a:buNone/>
            </a:pPr>
            <a:endParaRPr lang="en-US">
              <a:uFillTx/>
            </a:endParaRPr>
          </a:p>
        </p:txBody>
      </p:sp>
      <p:sp>
        <p:nvSpPr>
          <p:cNvPr id="4" name="Date Placeholder 3"/>
          <p:cNvSpPr>
            <a:spLocks noGrp="1"/>
          </p:cNvSpPr>
          <p:nvPr>
            <p:ph type="dt" sz="half" idx="10"/>
          </p:nvPr>
        </p:nvSpPr>
        <p:spPr/>
        <p:txBody>
          <a:bodyPr/>
          <a:lstStyle/>
          <a:p>
            <a:fld id="{22D63B65-69CC-432F-A6EC-21AA97CAE24F}" type="datetime1">
              <a:rPr lang="vi-VN" smtClean="0">
                <a:uFillTx/>
              </a:rPr>
              <a:t>04/02/2025</a:t>
            </a:fld>
            <a:endParaRPr lang="vi-VN">
              <a:uFillTx/>
            </a:endParaRPr>
          </a:p>
        </p:txBody>
      </p:sp>
      <p:sp>
        <p:nvSpPr>
          <p:cNvPr id="5" name="Footer Placeholder 4"/>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uFillTx/>
              </a:rPr>
              <a:pPr/>
              <a:t>60</a:t>
            </a:fld>
            <a:r>
              <a:rPr lang="vi-VN">
                <a:uFillTx/>
              </a:rPr>
              <a:t>/28</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uFillTx/>
              </a:rPr>
              <a:t>Ví dụ - Đa hình</a:t>
            </a:r>
          </a:p>
        </p:txBody>
      </p:sp>
      <p:sp>
        <p:nvSpPr>
          <p:cNvPr id="4" name="Date Placeholder 3"/>
          <p:cNvSpPr>
            <a:spLocks noGrp="1"/>
          </p:cNvSpPr>
          <p:nvPr>
            <p:ph type="dt" sz="half" idx="10"/>
          </p:nvPr>
        </p:nvSpPr>
        <p:spPr/>
        <p:txBody>
          <a:bodyPr/>
          <a:lstStyle/>
          <a:p>
            <a:fld id="{22D63B65-69CC-432F-A6EC-21AA97CAE24F}" type="datetime1">
              <a:rPr lang="vi-VN" smtClean="0">
                <a:uFillTx/>
              </a:rPr>
              <a:t>04/02/2025</a:t>
            </a:fld>
            <a:endParaRPr lang="vi-VN">
              <a:uFillTx/>
            </a:endParaRPr>
          </a:p>
        </p:txBody>
      </p:sp>
      <p:sp>
        <p:nvSpPr>
          <p:cNvPr id="5" name="Footer Placeholder 4"/>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uFillTx/>
              </a:rPr>
              <a:pPr/>
              <a:t>61</a:t>
            </a:fld>
            <a:r>
              <a:rPr lang="vi-VN">
                <a:uFillTx/>
              </a:rPr>
              <a:t>/28</a:t>
            </a:r>
          </a:p>
        </p:txBody>
      </p:sp>
      <p:sp>
        <p:nvSpPr>
          <p:cNvPr id="8" name="Content Placeholder 7">
            <a:extLst>
              <a:ext uri="{FF2B5EF4-FFF2-40B4-BE49-F238E27FC236}">
                <a16:creationId xmlns:a16="http://schemas.microsoft.com/office/drawing/2014/main" id="{BE730413-1860-4A8A-B892-2BC20CF5604C}"/>
              </a:ext>
            </a:extLst>
          </p:cNvPr>
          <p:cNvSpPr>
            <a:spLocks noGrp="1"/>
          </p:cNvSpPr>
          <p:nvPr>
            <p:ph idx="1"/>
          </p:nvPr>
        </p:nvSpPr>
        <p:spPr/>
        <p:txBody>
          <a:bodyPr/>
          <a:lstStyle/>
          <a:p>
            <a:r>
              <a:rPr lang="en-US" dirty="0" err="1"/>
              <a:t>Nêu</a:t>
            </a:r>
            <a:r>
              <a:rPr lang="en-US" dirty="0"/>
              <a:t> </a:t>
            </a:r>
            <a:r>
              <a:rPr lang="en-US" dirty="0" err="1"/>
              <a:t>sự</a:t>
            </a:r>
            <a:r>
              <a:rPr lang="en-US" dirty="0"/>
              <a:t> </a:t>
            </a:r>
            <a:r>
              <a:rPr lang="en-US" dirty="0" err="1"/>
              <a:t>khác</a:t>
            </a:r>
            <a:r>
              <a:rPr lang="en-US" dirty="0"/>
              <a:t> </a:t>
            </a:r>
            <a:r>
              <a:rPr lang="en-US" dirty="0" err="1"/>
              <a:t>nhau</a:t>
            </a:r>
            <a:r>
              <a:rPr lang="en-US" dirty="0"/>
              <a:t> </a:t>
            </a:r>
            <a:r>
              <a:rPr lang="en-US" dirty="0" err="1"/>
              <a:t>giữa</a:t>
            </a:r>
            <a:r>
              <a:rPr lang="en-US" dirty="0"/>
              <a:t> </a:t>
            </a:r>
            <a:r>
              <a:rPr lang="en-US" dirty="0" err="1"/>
              <a:t>kế</a:t>
            </a:r>
            <a:r>
              <a:rPr lang="en-US" dirty="0"/>
              <a:t> </a:t>
            </a:r>
            <a:r>
              <a:rPr lang="en-US" dirty="0" err="1"/>
              <a:t>thừa</a:t>
            </a:r>
            <a:r>
              <a:rPr lang="en-US" dirty="0"/>
              <a:t> </a:t>
            </a:r>
            <a:r>
              <a:rPr lang="en-US" dirty="0" err="1"/>
              <a:t>và</a:t>
            </a:r>
            <a:r>
              <a:rPr lang="en-US" dirty="0"/>
              <a:t> </a:t>
            </a:r>
            <a:r>
              <a:rPr lang="en-US" dirty="0" err="1"/>
              <a:t>đa</a:t>
            </a:r>
            <a:r>
              <a:rPr lang="en-US" dirty="0"/>
              <a:t> </a:t>
            </a:r>
            <a:r>
              <a:rPr lang="en-US" dirty="0" err="1"/>
              <a:t>hình</a:t>
            </a:r>
            <a:r>
              <a:rPr lang="en-US" dirty="0"/>
              <a:t>?</a:t>
            </a:r>
          </a:p>
        </p:txBody>
      </p:sp>
    </p:spTree>
    <p:extLst>
      <p:ext uri="{BB962C8B-B14F-4D97-AF65-F5344CB8AC3E}">
        <p14:creationId xmlns:p14="http://schemas.microsoft.com/office/powerpoint/2010/main" val="13645588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381000"/>
            <a:ext cx="8382000" cy="685800"/>
          </a:xfrm>
        </p:spPr>
        <p:txBody>
          <a:bodyPr/>
          <a:lstStyle/>
          <a:p>
            <a:r>
              <a:rPr lang="en-US" sz="2400" dirty="0" err="1"/>
              <a:t>Nạp</a:t>
            </a:r>
            <a:r>
              <a:rPr lang="en-US" sz="2400" dirty="0"/>
              <a:t> </a:t>
            </a:r>
            <a:r>
              <a:rPr lang="en-US" sz="2400" dirty="0" err="1"/>
              <a:t>chồng</a:t>
            </a:r>
            <a:r>
              <a:rPr lang="en-US" sz="2400" dirty="0"/>
              <a:t> </a:t>
            </a:r>
            <a:r>
              <a:rPr lang="en-US" sz="2400" dirty="0" err="1"/>
              <a:t>ph</a:t>
            </a:r>
            <a:r>
              <a:rPr lang="vi-VN" sz="2400" dirty="0"/>
              <a:t>ư</a:t>
            </a:r>
            <a:r>
              <a:rPr lang="en-US" sz="2400" dirty="0" err="1"/>
              <a:t>ơng</a:t>
            </a:r>
            <a:r>
              <a:rPr lang="en-US" sz="2400" dirty="0"/>
              <a:t> </a:t>
            </a:r>
            <a:r>
              <a:rPr lang="en-US" sz="2400" dirty="0" err="1"/>
              <a:t>thức</a:t>
            </a:r>
            <a:r>
              <a:rPr lang="en-US" sz="2400" dirty="0"/>
              <a:t> (Method Overloading)</a:t>
            </a:r>
          </a:p>
        </p:txBody>
      </p:sp>
      <p:sp>
        <p:nvSpPr>
          <p:cNvPr id="3" name="Content Placeholder 2"/>
          <p:cNvSpPr>
            <a:spLocks noGrp="1"/>
          </p:cNvSpPr>
          <p:nvPr>
            <p:ph idx="1"/>
          </p:nvPr>
        </p:nvSpPr>
        <p:spPr/>
        <p:txBody>
          <a:bodyPr/>
          <a:lstStyle/>
          <a:p>
            <a:r>
              <a:rPr lang="vi-VN" sz="2200" b="0" i="0" dirty="0">
                <a:effectLst/>
                <a:latin typeface="Roboto" panose="02000000000000000000" pitchFamily="2" charset="0"/>
              </a:rPr>
              <a:t>Các phương thức trực thuộc lớp có thể trùng tên nhau nhưng phải khác nhau ở kiểu giá trị trả về, danh sách kiểu các tham số, cách xây dựng các phương thức như vậy người ta gọi là  phương thức nạp chồng :</a:t>
            </a:r>
            <a:endParaRPr lang="en-US" sz="2200" b="0" i="0" dirty="0">
              <a:effectLst/>
              <a:latin typeface="Roboto" panose="02000000000000000000" pitchFamily="2" charset="0"/>
            </a:endParaRPr>
          </a:p>
          <a:p>
            <a:r>
              <a:rPr lang="en-US" sz="2200" dirty="0" err="1">
                <a:sym typeface="Wingdings" pitchFamily="2" charset="2"/>
              </a:rPr>
              <a:t>Để</a:t>
            </a:r>
            <a:r>
              <a:rPr lang="en-US" sz="2200" dirty="0">
                <a:sym typeface="Wingdings" pitchFamily="2" charset="2"/>
              </a:rPr>
              <a:t> </a:t>
            </a:r>
            <a:r>
              <a:rPr lang="en-US" sz="2200" dirty="0" err="1">
                <a:sym typeface="Wingdings" pitchFamily="2" charset="2"/>
              </a:rPr>
              <a:t>phân</a:t>
            </a:r>
            <a:r>
              <a:rPr lang="en-US" sz="2200" dirty="0">
                <a:sym typeface="Wingdings" pitchFamily="2" charset="2"/>
              </a:rPr>
              <a:t> </a:t>
            </a:r>
            <a:r>
              <a:rPr lang="en-US" sz="2200" dirty="0" err="1">
                <a:sym typeface="Wingdings" pitchFamily="2" charset="2"/>
              </a:rPr>
              <a:t>biệt</a:t>
            </a:r>
            <a:r>
              <a:rPr lang="en-US" sz="2200" dirty="0">
                <a:sym typeface="Wingdings" pitchFamily="2" charset="2"/>
              </a:rPr>
              <a:t> </a:t>
            </a:r>
            <a:r>
              <a:rPr lang="en-US" sz="2200" dirty="0" err="1">
                <a:sym typeface="Wingdings" pitchFamily="2" charset="2"/>
              </a:rPr>
              <a:t>được</a:t>
            </a:r>
            <a:r>
              <a:rPr lang="en-US" sz="2200" dirty="0">
                <a:sym typeface="Wingdings" pitchFamily="2" charset="2"/>
              </a:rPr>
              <a:t> </a:t>
            </a:r>
            <a:r>
              <a:rPr lang="en-US" sz="2200" dirty="0" err="1">
                <a:sym typeface="Wingdings" pitchFamily="2" charset="2"/>
              </a:rPr>
              <a:t>các</a:t>
            </a:r>
            <a:r>
              <a:rPr lang="en-US" sz="2200" dirty="0">
                <a:sym typeface="Wingdings" pitchFamily="2" charset="2"/>
              </a:rPr>
              <a:t> </a:t>
            </a:r>
            <a:r>
              <a:rPr lang="en-US" sz="2200" dirty="0" err="1">
                <a:sym typeface="Wingdings" pitchFamily="2" charset="2"/>
              </a:rPr>
              <a:t>hàm</a:t>
            </a:r>
            <a:r>
              <a:rPr lang="en-US" sz="2200" dirty="0">
                <a:sym typeface="Wingdings" pitchFamily="2" charset="2"/>
              </a:rPr>
              <a:t> </a:t>
            </a:r>
            <a:r>
              <a:rPr lang="en-US" sz="2200" dirty="0" err="1">
                <a:sym typeface="Wingdings" pitchFamily="2" charset="2"/>
              </a:rPr>
              <a:t>với</a:t>
            </a:r>
            <a:r>
              <a:rPr lang="en-US" sz="2200" dirty="0">
                <a:sym typeface="Wingdings" pitchFamily="2" charset="2"/>
              </a:rPr>
              <a:t> </a:t>
            </a:r>
            <a:r>
              <a:rPr lang="en-US" sz="2200" dirty="0" err="1">
                <a:sym typeface="Wingdings" pitchFamily="2" charset="2"/>
              </a:rPr>
              <a:t>nhau</a:t>
            </a:r>
            <a:r>
              <a:rPr lang="en-US" sz="2200" dirty="0">
                <a:sym typeface="Wingdings" pitchFamily="2" charset="2"/>
              </a:rPr>
              <a:t>, </a:t>
            </a:r>
            <a:r>
              <a:rPr lang="en-US" sz="2200" dirty="0" err="1">
                <a:sym typeface="Wingdings" pitchFamily="2" charset="2"/>
              </a:rPr>
              <a:t>căn</a:t>
            </a:r>
            <a:r>
              <a:rPr lang="en-US" sz="2200" dirty="0">
                <a:sym typeface="Wingdings" pitchFamily="2" charset="2"/>
              </a:rPr>
              <a:t> </a:t>
            </a:r>
            <a:r>
              <a:rPr lang="en-US" sz="2200" dirty="0" err="1">
                <a:sym typeface="Wingdings" pitchFamily="2" charset="2"/>
              </a:rPr>
              <a:t>cứ</a:t>
            </a:r>
            <a:r>
              <a:rPr lang="en-US" sz="2200" dirty="0">
                <a:sym typeface="Wingdings" pitchFamily="2" charset="2"/>
              </a:rPr>
              <a:t> </a:t>
            </a:r>
            <a:r>
              <a:rPr lang="en-US" sz="2200" dirty="0" err="1">
                <a:sym typeface="Wingdings" pitchFamily="2" charset="2"/>
              </a:rPr>
              <a:t>vào</a:t>
            </a:r>
            <a:r>
              <a:rPr lang="en-US" sz="2200" dirty="0">
                <a:sym typeface="Wingdings" pitchFamily="2" charset="2"/>
              </a:rPr>
              <a:t> </a:t>
            </a:r>
            <a:r>
              <a:rPr lang="en-US" sz="2200" dirty="0" err="1">
                <a:sym typeface="Wingdings" pitchFamily="2" charset="2"/>
              </a:rPr>
              <a:t>một</a:t>
            </a:r>
            <a:r>
              <a:rPr lang="en-US" sz="2200" dirty="0">
                <a:sym typeface="Wingdings" pitchFamily="2" charset="2"/>
              </a:rPr>
              <a:t> </a:t>
            </a:r>
            <a:r>
              <a:rPr lang="en-US" sz="2200" dirty="0" err="1">
                <a:sym typeface="Wingdings" pitchFamily="2" charset="2"/>
              </a:rPr>
              <a:t>trong</a:t>
            </a:r>
            <a:r>
              <a:rPr lang="en-US" sz="2200" dirty="0">
                <a:sym typeface="Wingdings" pitchFamily="2" charset="2"/>
              </a:rPr>
              <a:t> </a:t>
            </a:r>
            <a:r>
              <a:rPr lang="en-US" sz="2200" dirty="0" err="1">
                <a:sym typeface="Wingdings" pitchFamily="2" charset="2"/>
              </a:rPr>
              <a:t>hai</a:t>
            </a:r>
            <a:r>
              <a:rPr lang="en-US" sz="2200" dirty="0">
                <a:sym typeface="Wingdings" pitchFamily="2" charset="2"/>
              </a:rPr>
              <a:t> </a:t>
            </a:r>
            <a:r>
              <a:rPr lang="en-US" sz="2200" dirty="0" err="1">
                <a:sym typeface="Wingdings" pitchFamily="2" charset="2"/>
              </a:rPr>
              <a:t>yếu</a:t>
            </a:r>
            <a:r>
              <a:rPr lang="en-US" sz="2200" dirty="0">
                <a:sym typeface="Wingdings" pitchFamily="2" charset="2"/>
              </a:rPr>
              <a:t> </a:t>
            </a:r>
            <a:r>
              <a:rPr lang="en-US" sz="2200" dirty="0" err="1">
                <a:sym typeface="Wingdings" pitchFamily="2" charset="2"/>
              </a:rPr>
              <a:t>tố</a:t>
            </a:r>
            <a:r>
              <a:rPr lang="en-US" sz="2200" dirty="0">
                <a:sym typeface="Wingdings" pitchFamily="2" charset="2"/>
              </a:rPr>
              <a:t>:</a:t>
            </a:r>
          </a:p>
          <a:p>
            <a:pPr lvl="1"/>
            <a:r>
              <a:rPr lang="en-US" sz="2200" dirty="0" err="1">
                <a:sym typeface="Wingdings" pitchFamily="2" charset="2"/>
              </a:rPr>
              <a:t>Khác</a:t>
            </a:r>
            <a:r>
              <a:rPr lang="en-US" sz="2200" dirty="0">
                <a:sym typeface="Wingdings" pitchFamily="2" charset="2"/>
              </a:rPr>
              <a:t> </a:t>
            </a:r>
            <a:r>
              <a:rPr lang="en-US" sz="2200" dirty="0" err="1">
                <a:sym typeface="Wingdings" pitchFamily="2" charset="2"/>
              </a:rPr>
              <a:t>tên</a:t>
            </a:r>
            <a:endParaRPr lang="en-US" sz="2200" dirty="0">
              <a:sym typeface="Wingdings" pitchFamily="2" charset="2"/>
            </a:endParaRPr>
          </a:p>
          <a:p>
            <a:pPr lvl="1"/>
            <a:r>
              <a:rPr lang="en-US" sz="2200" dirty="0" err="1">
                <a:sym typeface="Wingdings" pitchFamily="2" charset="2"/>
              </a:rPr>
              <a:t>Khác</a:t>
            </a:r>
            <a:r>
              <a:rPr lang="en-US" sz="2200" dirty="0">
                <a:sym typeface="Wingdings" pitchFamily="2" charset="2"/>
              </a:rPr>
              <a:t> </a:t>
            </a:r>
            <a:r>
              <a:rPr lang="en-US" sz="2200" dirty="0" err="1">
                <a:sym typeface="Wingdings" pitchFamily="2" charset="2"/>
              </a:rPr>
              <a:t>tham</a:t>
            </a:r>
            <a:r>
              <a:rPr lang="en-US" sz="2200" dirty="0">
                <a:sym typeface="Wingdings" pitchFamily="2" charset="2"/>
              </a:rPr>
              <a:t> </a:t>
            </a:r>
            <a:r>
              <a:rPr lang="en-US" sz="2200" dirty="0" err="1">
                <a:sym typeface="Wingdings" pitchFamily="2" charset="2"/>
              </a:rPr>
              <a:t>số</a:t>
            </a:r>
            <a:r>
              <a:rPr lang="en-US" sz="2200" dirty="0">
                <a:sym typeface="Wingdings" pitchFamily="2" charset="2"/>
              </a:rPr>
              <a:t> </a:t>
            </a:r>
            <a:r>
              <a:rPr lang="en-US" sz="2200" dirty="0" err="1">
                <a:sym typeface="Wingdings" pitchFamily="2" charset="2"/>
              </a:rPr>
              <a:t>hoặc</a:t>
            </a:r>
            <a:r>
              <a:rPr lang="en-US" sz="2200" dirty="0">
                <a:sym typeface="Wingdings" pitchFamily="2" charset="2"/>
              </a:rPr>
              <a:t> </a:t>
            </a:r>
            <a:r>
              <a:rPr lang="en-US" sz="2200" dirty="0" err="1">
                <a:sym typeface="Wingdings" pitchFamily="2" charset="2"/>
              </a:rPr>
              <a:t>kiểu</a:t>
            </a:r>
            <a:r>
              <a:rPr lang="en-US" sz="2200" dirty="0">
                <a:sym typeface="Wingdings" pitchFamily="2" charset="2"/>
              </a:rPr>
              <a:t> </a:t>
            </a:r>
            <a:r>
              <a:rPr lang="en-US" sz="2200" dirty="0" err="1">
                <a:sym typeface="Wingdings" pitchFamily="2" charset="2"/>
              </a:rPr>
              <a:t>dữ</a:t>
            </a:r>
            <a:r>
              <a:rPr lang="en-US" sz="2200" dirty="0">
                <a:sym typeface="Wingdings" pitchFamily="2" charset="2"/>
              </a:rPr>
              <a:t> </a:t>
            </a:r>
            <a:r>
              <a:rPr lang="en-US" sz="2200" dirty="0" err="1">
                <a:sym typeface="Wingdings" pitchFamily="2" charset="2"/>
              </a:rPr>
              <a:t>liệu</a:t>
            </a:r>
            <a:r>
              <a:rPr lang="en-US" sz="2200" dirty="0">
                <a:sym typeface="Wingdings" pitchFamily="2" charset="2"/>
              </a:rPr>
              <a:t> </a:t>
            </a:r>
            <a:r>
              <a:rPr lang="en-US" sz="2200" dirty="0" err="1">
                <a:sym typeface="Wingdings" pitchFamily="2" charset="2"/>
              </a:rPr>
              <a:t>của</a:t>
            </a:r>
            <a:r>
              <a:rPr lang="en-US" sz="2200" dirty="0">
                <a:sym typeface="Wingdings" pitchFamily="2" charset="2"/>
              </a:rPr>
              <a:t> </a:t>
            </a:r>
            <a:r>
              <a:rPr lang="en-US" sz="2200" dirty="0" err="1">
                <a:sym typeface="Wingdings" pitchFamily="2" charset="2"/>
              </a:rPr>
              <a:t>tham</a:t>
            </a:r>
            <a:r>
              <a:rPr lang="en-US" sz="2200" dirty="0">
                <a:sym typeface="Wingdings" pitchFamily="2" charset="2"/>
              </a:rPr>
              <a:t> </a:t>
            </a:r>
            <a:r>
              <a:rPr lang="en-US" sz="2200" dirty="0" err="1">
                <a:sym typeface="Wingdings" pitchFamily="2" charset="2"/>
              </a:rPr>
              <a:t>số</a:t>
            </a:r>
            <a:endParaRPr lang="en-US" sz="2200" dirty="0">
              <a:sym typeface="Wingdings" pitchFamily="2" charset="2"/>
            </a:endParaRPr>
          </a:p>
          <a:p>
            <a:pPr marL="471487" lvl="1" indent="0">
              <a:buNone/>
            </a:pPr>
            <a:r>
              <a:rPr lang="en-US" sz="2200" b="1" dirty="0" err="1">
                <a:sym typeface="Wingdings" pitchFamily="2" charset="2"/>
              </a:rPr>
              <a:t>Ví</a:t>
            </a:r>
            <a:r>
              <a:rPr lang="en-US" sz="2200" b="1" dirty="0">
                <a:sym typeface="Wingdings" pitchFamily="2" charset="2"/>
              </a:rPr>
              <a:t> </a:t>
            </a:r>
            <a:r>
              <a:rPr lang="en-US" sz="2200" b="1" dirty="0" err="1">
                <a:sym typeface="Wingdings" pitchFamily="2" charset="2"/>
              </a:rPr>
              <a:t>dụ</a:t>
            </a:r>
            <a:r>
              <a:rPr lang="en-US" sz="2200" b="1" dirty="0">
                <a:sym typeface="Wingdings" pitchFamily="2" charset="2"/>
              </a:rPr>
              <a:t>:</a:t>
            </a:r>
          </a:p>
          <a:p>
            <a:pPr marL="471487" lvl="1" indent="0">
              <a:buNone/>
            </a:pPr>
            <a:r>
              <a:rPr lang="en-US" sz="2200" b="1" dirty="0">
                <a:latin typeface="Courier New" pitchFamily="49" charset="0"/>
                <a:cs typeface="Courier New" pitchFamily="49" charset="0"/>
                <a:sym typeface="Wingdings" pitchFamily="2" charset="2"/>
              </a:rPr>
              <a:t>void</a:t>
            </a:r>
            <a:r>
              <a:rPr lang="en-US" sz="2200" dirty="0">
                <a:solidFill>
                  <a:srgbClr val="000066"/>
                </a:solidFill>
                <a:latin typeface="Courier New" pitchFamily="49" charset="0"/>
                <a:cs typeface="Courier New" pitchFamily="49" charset="0"/>
                <a:sym typeface="Wingdings" pitchFamily="2" charset="2"/>
              </a:rPr>
              <a:t> </a:t>
            </a:r>
            <a:r>
              <a:rPr lang="en-US" sz="2200" b="1" dirty="0" err="1">
                <a:solidFill>
                  <a:srgbClr val="C00000"/>
                </a:solidFill>
                <a:latin typeface="Courier New" pitchFamily="49" charset="0"/>
                <a:cs typeface="Courier New" pitchFamily="49" charset="0"/>
                <a:sym typeface="Wingdings" pitchFamily="2" charset="2"/>
              </a:rPr>
              <a:t>myMethod</a:t>
            </a:r>
            <a:r>
              <a:rPr lang="en-US" sz="2200" b="1" dirty="0">
                <a:solidFill>
                  <a:srgbClr val="000066"/>
                </a:solidFill>
                <a:latin typeface="Courier New" pitchFamily="49" charset="0"/>
                <a:cs typeface="Courier New" pitchFamily="49" charset="0"/>
                <a:sym typeface="Wingdings" pitchFamily="2" charset="2"/>
              </a:rPr>
              <a:t>(int</a:t>
            </a:r>
            <a:r>
              <a:rPr lang="en-US" sz="2200" dirty="0">
                <a:solidFill>
                  <a:srgbClr val="000066"/>
                </a:solidFill>
                <a:latin typeface="Courier New" pitchFamily="49" charset="0"/>
                <a:cs typeface="Courier New" pitchFamily="49" charset="0"/>
                <a:sym typeface="Wingdings" pitchFamily="2" charset="2"/>
              </a:rPr>
              <a:t> p1);</a:t>
            </a:r>
          </a:p>
          <a:p>
            <a:pPr marL="471487" lvl="1" indent="0">
              <a:buNone/>
            </a:pPr>
            <a:r>
              <a:rPr lang="en-US" sz="2200" dirty="0">
                <a:latin typeface="Courier New" pitchFamily="49" charset="0"/>
                <a:cs typeface="Courier New" pitchFamily="49" charset="0"/>
                <a:sym typeface="Wingdings" pitchFamily="2" charset="2"/>
              </a:rPr>
              <a:t>void </a:t>
            </a:r>
            <a:r>
              <a:rPr lang="en-US" sz="2200" dirty="0" err="1">
                <a:solidFill>
                  <a:srgbClr val="C00000"/>
                </a:solidFill>
                <a:latin typeface="Courier New" pitchFamily="49" charset="0"/>
                <a:cs typeface="Courier New" pitchFamily="49" charset="0"/>
                <a:sym typeface="Wingdings" pitchFamily="2" charset="2"/>
              </a:rPr>
              <a:t>myMethod</a:t>
            </a:r>
            <a:r>
              <a:rPr lang="en-US" sz="2200" dirty="0">
                <a:solidFill>
                  <a:srgbClr val="000066"/>
                </a:solidFill>
                <a:latin typeface="Courier New" pitchFamily="49" charset="0"/>
                <a:cs typeface="Courier New" pitchFamily="49" charset="0"/>
                <a:sym typeface="Wingdings" pitchFamily="2" charset="2"/>
              </a:rPr>
              <a:t>(int p1, int p2);</a:t>
            </a:r>
          </a:p>
          <a:p>
            <a:pPr marL="471487" lvl="1" indent="0">
              <a:buNone/>
            </a:pPr>
            <a:r>
              <a:rPr lang="en-US" sz="2200" dirty="0">
                <a:latin typeface="Courier New" pitchFamily="49" charset="0"/>
                <a:cs typeface="Courier New" pitchFamily="49" charset="0"/>
                <a:sym typeface="Wingdings" pitchFamily="2" charset="2"/>
              </a:rPr>
              <a:t>void</a:t>
            </a:r>
            <a:r>
              <a:rPr lang="en-US" sz="2200" dirty="0">
                <a:solidFill>
                  <a:srgbClr val="000066"/>
                </a:solidFill>
                <a:latin typeface="Courier New" pitchFamily="49" charset="0"/>
                <a:cs typeface="Courier New" pitchFamily="49" charset="0"/>
                <a:sym typeface="Wingdings" pitchFamily="2" charset="2"/>
              </a:rPr>
              <a:t> </a:t>
            </a:r>
            <a:r>
              <a:rPr lang="en-US" sz="2200" dirty="0" err="1">
                <a:solidFill>
                  <a:srgbClr val="C00000"/>
                </a:solidFill>
                <a:latin typeface="Courier New" pitchFamily="49" charset="0"/>
                <a:cs typeface="Courier New" pitchFamily="49" charset="0"/>
                <a:sym typeface="Wingdings" pitchFamily="2" charset="2"/>
              </a:rPr>
              <a:t>myMethod</a:t>
            </a:r>
            <a:r>
              <a:rPr lang="en-US" sz="2200" dirty="0">
                <a:solidFill>
                  <a:srgbClr val="000066"/>
                </a:solidFill>
                <a:latin typeface="Courier New" pitchFamily="49" charset="0"/>
                <a:cs typeface="Courier New" pitchFamily="49" charset="0"/>
                <a:sym typeface="Wingdings" pitchFamily="2" charset="2"/>
              </a:rPr>
              <a:t>(double p1, double s1);</a:t>
            </a:r>
          </a:p>
          <a:p>
            <a:pPr marL="471487" lvl="1" indent="0">
              <a:buNone/>
            </a:pPr>
            <a:endParaRPr lang="en-US" sz="2200" dirty="0"/>
          </a:p>
        </p:txBody>
      </p:sp>
      <p:sp>
        <p:nvSpPr>
          <p:cNvPr id="4" name="Date Placeholder 3"/>
          <p:cNvSpPr>
            <a:spLocks noGrp="1"/>
          </p:cNvSpPr>
          <p:nvPr>
            <p:ph type="dt" sz="half" idx="10"/>
          </p:nvPr>
        </p:nvSpPr>
        <p:spPr/>
        <p:txBody>
          <a:bodyPr/>
          <a:lstStyle/>
          <a:p>
            <a:fld id="{DD5067C6-674B-43BE-A985-3005ECC76BC9}" type="datetime1">
              <a:rPr lang="vi-VN" smtClean="0"/>
              <a:t>04/02/2025</a:t>
            </a:fld>
            <a:endParaRPr lang="vi-VN"/>
          </a:p>
        </p:txBody>
      </p:sp>
      <p:sp>
        <p:nvSpPr>
          <p:cNvPr id="5" name="Footer Placeholder 4"/>
          <p:cNvSpPr>
            <a:spLocks noGrp="1"/>
          </p:cNvSpPr>
          <p:nvPr>
            <p:ph type="ftr" sz="quarter" idx="11"/>
          </p:nvPr>
        </p:nvSpPr>
        <p:spPr/>
        <p:txBody>
          <a:bodyPr/>
          <a:lstStyle/>
          <a:p>
            <a:r>
              <a:rPr lang="vi-VN"/>
              <a:t>Chương 3. Lập trình hướng đối tượng trong C#</a:t>
            </a:r>
          </a:p>
        </p:txBody>
      </p:sp>
      <p:sp>
        <p:nvSpPr>
          <p:cNvPr id="8" name="Slide Number Placeholder 7"/>
          <p:cNvSpPr>
            <a:spLocks noGrp="1"/>
          </p:cNvSpPr>
          <p:nvPr>
            <p:ph type="sldNum" sz="quarter" idx="12"/>
          </p:nvPr>
        </p:nvSpPr>
        <p:spPr/>
        <p:txBody>
          <a:bodyPr/>
          <a:lstStyle/>
          <a:p>
            <a:fld id="{5AB95402-1E0D-474E-8D8C-CBE7F053639E}" type="slidenum">
              <a:rPr lang="vi-VN" smtClean="0"/>
              <a:pPr/>
              <a:t>62</a:t>
            </a:fld>
            <a:r>
              <a:rPr lang="vi-VN"/>
              <a:t>/33</a:t>
            </a:r>
          </a:p>
        </p:txBody>
      </p:sp>
    </p:spTree>
    <p:extLst>
      <p:ext uri="{BB962C8B-B14F-4D97-AF65-F5344CB8AC3E}">
        <p14:creationId xmlns:p14="http://schemas.microsoft.com/office/powerpoint/2010/main" val="164650809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C7377-A471-4E28-A902-A19DC240ADF4}"/>
              </a:ext>
            </a:extLst>
          </p:cNvPr>
          <p:cNvSpPr>
            <a:spLocks noGrp="1"/>
          </p:cNvSpPr>
          <p:nvPr>
            <p:ph type="title"/>
          </p:nvPr>
        </p:nvSpPr>
        <p:spPr>
          <a:xfrm>
            <a:off x="971600" y="336362"/>
            <a:ext cx="8382000" cy="685800"/>
          </a:xfrm>
        </p:spPr>
        <p:txBody>
          <a:bodyPr/>
          <a:lstStyle/>
          <a:p>
            <a:r>
              <a:rPr lang="en-US" sz="2400" dirty="0" err="1"/>
              <a:t>Nạp</a:t>
            </a:r>
            <a:r>
              <a:rPr lang="en-US" sz="2400" dirty="0"/>
              <a:t> </a:t>
            </a:r>
            <a:r>
              <a:rPr lang="en-US" sz="2400" err="1"/>
              <a:t>chồng</a:t>
            </a:r>
            <a:r>
              <a:rPr lang="en-US" sz="2400"/>
              <a:t> phư</a:t>
            </a:r>
            <a:r>
              <a:rPr lang="vi-VN" sz="2400"/>
              <a:t>ơ</a:t>
            </a:r>
            <a:r>
              <a:rPr lang="en-US" sz="2400"/>
              <a:t>ng thức (Method Overloading)</a:t>
            </a:r>
            <a:endParaRPr lang="en-US" sz="2400" dirty="0"/>
          </a:p>
        </p:txBody>
      </p:sp>
      <p:sp>
        <p:nvSpPr>
          <p:cNvPr id="4" name="Date Placeholder 3">
            <a:extLst>
              <a:ext uri="{FF2B5EF4-FFF2-40B4-BE49-F238E27FC236}">
                <a16:creationId xmlns:a16="http://schemas.microsoft.com/office/drawing/2014/main" id="{0AB13C3C-908C-4EB8-A9C2-5F7EA31CC32A}"/>
              </a:ext>
            </a:extLst>
          </p:cNvPr>
          <p:cNvSpPr>
            <a:spLocks noGrp="1"/>
          </p:cNvSpPr>
          <p:nvPr>
            <p:ph type="dt" sz="half" idx="10"/>
          </p:nvPr>
        </p:nvSpPr>
        <p:spPr/>
        <p:txBody>
          <a:bodyPr/>
          <a:lstStyle/>
          <a:p>
            <a:fld id="{4719FDB1-9615-4287-8D55-AF20E3CF298E}" type="datetime1">
              <a:rPr lang="vi-VN" smtClean="0"/>
              <a:t>04/02/2025</a:t>
            </a:fld>
            <a:endParaRPr lang="vi-VN"/>
          </a:p>
        </p:txBody>
      </p:sp>
      <p:sp>
        <p:nvSpPr>
          <p:cNvPr id="5" name="Footer Placeholder 4">
            <a:extLst>
              <a:ext uri="{FF2B5EF4-FFF2-40B4-BE49-F238E27FC236}">
                <a16:creationId xmlns:a16="http://schemas.microsoft.com/office/drawing/2014/main" id="{B8C0462A-5900-4BDE-85FA-41F00CA2D819}"/>
              </a:ext>
            </a:extLst>
          </p:cNvPr>
          <p:cNvSpPr>
            <a:spLocks noGrp="1"/>
          </p:cNvSpPr>
          <p:nvPr>
            <p:ph type="ftr" sz="quarter" idx="11"/>
          </p:nvPr>
        </p:nvSpPr>
        <p:spPr/>
        <p:txBody>
          <a:bodyPr/>
          <a:lstStyle/>
          <a:p>
            <a:r>
              <a:rPr lang="vi-VN"/>
              <a:t>Chương 3. Lập trình hướng đối tượng trong C#</a:t>
            </a:r>
          </a:p>
        </p:txBody>
      </p:sp>
      <p:sp>
        <p:nvSpPr>
          <p:cNvPr id="6" name="Slide Number Placeholder 5">
            <a:extLst>
              <a:ext uri="{FF2B5EF4-FFF2-40B4-BE49-F238E27FC236}">
                <a16:creationId xmlns:a16="http://schemas.microsoft.com/office/drawing/2014/main" id="{83BD2F1A-301F-40D1-B63F-3D774CC22D41}"/>
              </a:ext>
            </a:extLst>
          </p:cNvPr>
          <p:cNvSpPr>
            <a:spLocks noGrp="1"/>
          </p:cNvSpPr>
          <p:nvPr>
            <p:ph type="sldNum" sz="quarter" idx="12"/>
          </p:nvPr>
        </p:nvSpPr>
        <p:spPr/>
        <p:txBody>
          <a:bodyPr/>
          <a:lstStyle/>
          <a:p>
            <a:fld id="{5AB95402-1E0D-474E-8D8C-CBE7F053639E}" type="slidenum">
              <a:rPr lang="vi-VN" smtClean="0"/>
              <a:pPr/>
              <a:t>63</a:t>
            </a:fld>
            <a:r>
              <a:rPr lang="vi-VN"/>
              <a:t>/33</a:t>
            </a:r>
          </a:p>
        </p:txBody>
      </p:sp>
      <p:pic>
        <p:nvPicPr>
          <p:cNvPr id="4098" name="Picture 2">
            <a:extLst>
              <a:ext uri="{FF2B5EF4-FFF2-40B4-BE49-F238E27FC236}">
                <a16:creationId xmlns:a16="http://schemas.microsoft.com/office/drawing/2014/main" id="{9528C77A-BADE-4FC2-82A4-F1C8117938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1" y="1018385"/>
            <a:ext cx="8610600" cy="55427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85100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DA85C-4E9B-B8B5-F4CF-F58AB347CF07}"/>
              </a:ext>
            </a:extLst>
          </p:cNvPr>
          <p:cNvSpPr>
            <a:spLocks noGrp="1"/>
          </p:cNvSpPr>
          <p:nvPr>
            <p:ph type="title"/>
          </p:nvPr>
        </p:nvSpPr>
        <p:spPr>
          <a:xfrm>
            <a:off x="899592" y="291083"/>
            <a:ext cx="8382000" cy="685800"/>
          </a:xfrm>
        </p:spPr>
        <p:txBody>
          <a:bodyPr/>
          <a:lstStyle/>
          <a:p>
            <a:r>
              <a:rPr lang="en-US" sz="2400" dirty="0" err="1"/>
              <a:t>Nạp</a:t>
            </a:r>
            <a:r>
              <a:rPr lang="en-US" sz="2400" dirty="0"/>
              <a:t> </a:t>
            </a:r>
            <a:r>
              <a:rPr lang="en-US" sz="2400" err="1"/>
              <a:t>chồng</a:t>
            </a:r>
            <a:r>
              <a:rPr lang="en-US" sz="2400"/>
              <a:t> phư</a:t>
            </a:r>
            <a:r>
              <a:rPr lang="vi-VN" sz="2400"/>
              <a:t>ơ</a:t>
            </a:r>
            <a:r>
              <a:rPr lang="en-US" sz="2400"/>
              <a:t>ng thức (Method Overloading)</a:t>
            </a:r>
            <a:endParaRPr lang="en-US" sz="2400" dirty="0"/>
          </a:p>
        </p:txBody>
      </p:sp>
      <p:sp>
        <p:nvSpPr>
          <p:cNvPr id="4" name="Date Placeholder 3">
            <a:extLst>
              <a:ext uri="{FF2B5EF4-FFF2-40B4-BE49-F238E27FC236}">
                <a16:creationId xmlns:a16="http://schemas.microsoft.com/office/drawing/2014/main" id="{D30436B3-2860-063D-D176-8519B37DCEAC}"/>
              </a:ext>
            </a:extLst>
          </p:cNvPr>
          <p:cNvSpPr>
            <a:spLocks noGrp="1"/>
          </p:cNvSpPr>
          <p:nvPr>
            <p:ph type="dt" sz="half" idx="10"/>
          </p:nvPr>
        </p:nvSpPr>
        <p:spPr/>
        <p:txBody>
          <a:bodyPr/>
          <a:lstStyle/>
          <a:p>
            <a:fld id="{4719FDB1-9615-4287-8D55-AF20E3CF298E}" type="datetime1">
              <a:rPr lang="vi-VN" smtClean="0"/>
              <a:t>04/02/2025</a:t>
            </a:fld>
            <a:endParaRPr lang="vi-VN"/>
          </a:p>
        </p:txBody>
      </p:sp>
      <p:sp>
        <p:nvSpPr>
          <p:cNvPr id="5" name="Footer Placeholder 4">
            <a:extLst>
              <a:ext uri="{FF2B5EF4-FFF2-40B4-BE49-F238E27FC236}">
                <a16:creationId xmlns:a16="http://schemas.microsoft.com/office/drawing/2014/main" id="{98F968C6-4B73-2962-9919-510CA58B46B9}"/>
              </a:ext>
            </a:extLst>
          </p:cNvPr>
          <p:cNvSpPr>
            <a:spLocks noGrp="1"/>
          </p:cNvSpPr>
          <p:nvPr>
            <p:ph type="ftr" sz="quarter" idx="11"/>
          </p:nvPr>
        </p:nvSpPr>
        <p:spPr/>
        <p:txBody>
          <a:bodyPr/>
          <a:lstStyle/>
          <a:p>
            <a:r>
              <a:rPr lang="vi-VN"/>
              <a:t>Chương 3. Lập trình hướng đối tượng trong C#</a:t>
            </a:r>
          </a:p>
        </p:txBody>
      </p:sp>
      <p:sp>
        <p:nvSpPr>
          <p:cNvPr id="6" name="Slide Number Placeholder 5">
            <a:extLst>
              <a:ext uri="{FF2B5EF4-FFF2-40B4-BE49-F238E27FC236}">
                <a16:creationId xmlns:a16="http://schemas.microsoft.com/office/drawing/2014/main" id="{6DE32D60-F735-1451-ADF2-6DFD165877D2}"/>
              </a:ext>
            </a:extLst>
          </p:cNvPr>
          <p:cNvSpPr>
            <a:spLocks noGrp="1"/>
          </p:cNvSpPr>
          <p:nvPr>
            <p:ph type="sldNum" sz="quarter" idx="12"/>
          </p:nvPr>
        </p:nvSpPr>
        <p:spPr/>
        <p:txBody>
          <a:bodyPr/>
          <a:lstStyle/>
          <a:p>
            <a:fld id="{5AB95402-1E0D-474E-8D8C-CBE7F053639E}" type="slidenum">
              <a:rPr lang="vi-VN" smtClean="0"/>
              <a:pPr/>
              <a:t>64</a:t>
            </a:fld>
            <a:r>
              <a:rPr lang="vi-VN"/>
              <a:t>/33</a:t>
            </a:r>
          </a:p>
        </p:txBody>
      </p:sp>
      <p:pic>
        <p:nvPicPr>
          <p:cNvPr id="8" name="Picture 7">
            <a:extLst>
              <a:ext uri="{FF2B5EF4-FFF2-40B4-BE49-F238E27FC236}">
                <a16:creationId xmlns:a16="http://schemas.microsoft.com/office/drawing/2014/main" id="{CBDCD5AB-1AAD-B88A-104B-A417B022A740}"/>
              </a:ext>
            </a:extLst>
          </p:cNvPr>
          <p:cNvPicPr>
            <a:picLocks noChangeAspect="1"/>
          </p:cNvPicPr>
          <p:nvPr/>
        </p:nvPicPr>
        <p:blipFill>
          <a:blip r:embed="rId2"/>
          <a:stretch>
            <a:fillRect/>
          </a:stretch>
        </p:blipFill>
        <p:spPr>
          <a:xfrm>
            <a:off x="179512" y="1484784"/>
            <a:ext cx="5184538" cy="4561337"/>
          </a:xfrm>
          <a:prstGeom prst="rect">
            <a:avLst/>
          </a:prstGeom>
        </p:spPr>
      </p:pic>
      <p:pic>
        <p:nvPicPr>
          <p:cNvPr id="3" name="Picture 2">
            <a:extLst>
              <a:ext uri="{FF2B5EF4-FFF2-40B4-BE49-F238E27FC236}">
                <a16:creationId xmlns:a16="http://schemas.microsoft.com/office/drawing/2014/main" id="{A5C2F36E-89AE-42F2-97D1-2F654949E76C}"/>
              </a:ext>
            </a:extLst>
          </p:cNvPr>
          <p:cNvPicPr>
            <a:picLocks noChangeAspect="1"/>
          </p:cNvPicPr>
          <p:nvPr/>
        </p:nvPicPr>
        <p:blipFill>
          <a:blip r:embed="rId3"/>
          <a:stretch>
            <a:fillRect/>
          </a:stretch>
        </p:blipFill>
        <p:spPr>
          <a:xfrm>
            <a:off x="5652120" y="3765452"/>
            <a:ext cx="2962275" cy="1190625"/>
          </a:xfrm>
          <a:prstGeom prst="rect">
            <a:avLst/>
          </a:prstGeom>
        </p:spPr>
      </p:pic>
    </p:spTree>
    <p:extLst>
      <p:ext uri="{BB962C8B-B14F-4D97-AF65-F5344CB8AC3E}">
        <p14:creationId xmlns:p14="http://schemas.microsoft.com/office/powerpoint/2010/main" val="80535287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5056" y="357200"/>
            <a:ext cx="8382000" cy="685800"/>
          </a:xfrm>
        </p:spPr>
        <p:txBody>
          <a:bodyPr/>
          <a:lstStyle/>
          <a:p>
            <a:r>
              <a:rPr lang="en-US" dirty="0" err="1"/>
              <a:t>Ví</a:t>
            </a:r>
            <a:r>
              <a:rPr lang="en-US" dirty="0"/>
              <a:t> </a:t>
            </a:r>
            <a:r>
              <a:rPr lang="en-US" dirty="0" err="1"/>
              <a:t>dụ</a:t>
            </a:r>
            <a:r>
              <a:rPr lang="en-US" dirty="0"/>
              <a:t> </a:t>
            </a:r>
            <a:r>
              <a:rPr lang="en-US" dirty="0" err="1"/>
              <a:t>tổng</a:t>
            </a:r>
            <a:r>
              <a:rPr lang="en-US" dirty="0"/>
              <a:t> </a:t>
            </a:r>
            <a:r>
              <a:rPr lang="en-US" dirty="0" err="1"/>
              <a:t>quát</a:t>
            </a:r>
            <a:endParaRPr lang="en-US" dirty="0"/>
          </a:p>
        </p:txBody>
      </p:sp>
      <p:sp>
        <p:nvSpPr>
          <p:cNvPr id="3" name="Content Placeholder 2"/>
          <p:cNvSpPr>
            <a:spLocks noGrp="1"/>
          </p:cNvSpPr>
          <p:nvPr>
            <p:ph idx="1"/>
          </p:nvPr>
        </p:nvSpPr>
        <p:spPr>
          <a:xfrm>
            <a:off x="762000" y="1143000"/>
            <a:ext cx="4314056" cy="5181600"/>
          </a:xfrm>
        </p:spPr>
        <p:txBody>
          <a:bodyPr/>
          <a:lstStyle/>
          <a:p>
            <a:r>
              <a:rPr lang="en-US"/>
              <a:t>Xây dựng lớp PhanSo</a:t>
            </a:r>
          </a:p>
          <a:p>
            <a:pPr marL="0" indent="0">
              <a:spcBef>
                <a:spcPts val="0"/>
              </a:spcBef>
              <a:buNone/>
            </a:pPr>
            <a:r>
              <a:rPr lang="en-US" sz="1500" b="1">
                <a:solidFill>
                  <a:srgbClr val="0000FF"/>
                </a:solidFill>
                <a:latin typeface="Courier New" pitchFamily="49" charset="0"/>
                <a:cs typeface="Courier New" pitchFamily="49" charset="0"/>
              </a:rPr>
              <a:t>class</a:t>
            </a:r>
            <a:r>
              <a:rPr lang="en-US" sz="1500">
                <a:latin typeface="Courier New" pitchFamily="49" charset="0"/>
                <a:cs typeface="Courier New" pitchFamily="49" charset="0"/>
              </a:rPr>
              <a:t> PhanSo</a:t>
            </a:r>
          </a:p>
          <a:p>
            <a:pPr marL="0" indent="0">
              <a:spcBef>
                <a:spcPts val="0"/>
              </a:spcBef>
              <a:buNone/>
            </a:pPr>
            <a:r>
              <a:rPr lang="en-US" sz="1500">
                <a:latin typeface="Courier New" pitchFamily="49" charset="0"/>
                <a:cs typeface="Courier New" pitchFamily="49" charset="0"/>
              </a:rPr>
              <a:t>    {</a:t>
            </a:r>
          </a:p>
          <a:p>
            <a:pPr marL="0" indent="0">
              <a:spcBef>
                <a:spcPts val="0"/>
              </a:spcBef>
              <a:buNone/>
            </a:pPr>
            <a:r>
              <a:rPr lang="en-US" sz="1500">
                <a:latin typeface="Courier New" pitchFamily="49" charset="0"/>
                <a:cs typeface="Courier New" pitchFamily="49" charset="0"/>
              </a:rPr>
              <a:t>        </a:t>
            </a:r>
            <a:r>
              <a:rPr lang="en-US" sz="1500" b="1">
                <a:solidFill>
                  <a:srgbClr val="0000FF"/>
                </a:solidFill>
                <a:latin typeface="Courier New" pitchFamily="49" charset="0"/>
                <a:cs typeface="Courier New" pitchFamily="49" charset="0"/>
              </a:rPr>
              <a:t>int</a:t>
            </a:r>
            <a:r>
              <a:rPr lang="en-US" sz="1500">
                <a:latin typeface="Courier New" pitchFamily="49" charset="0"/>
                <a:cs typeface="Courier New" pitchFamily="49" charset="0"/>
              </a:rPr>
              <a:t> Tu, Mau;</a:t>
            </a:r>
            <a:endParaRPr lang="vi-VN" sz="1500">
              <a:latin typeface="Courier New" pitchFamily="49" charset="0"/>
              <a:cs typeface="Courier New" pitchFamily="49" charset="0"/>
            </a:endParaRPr>
          </a:p>
          <a:p>
            <a:pPr marL="0" indent="0">
              <a:spcBef>
                <a:spcPts val="0"/>
              </a:spcBef>
              <a:buNone/>
            </a:pPr>
            <a:r>
              <a:rPr lang="vi-VN" sz="1500">
                <a:solidFill>
                  <a:srgbClr val="00B050"/>
                </a:solidFill>
                <a:latin typeface="Courier New" pitchFamily="49" charset="0"/>
                <a:cs typeface="Courier New" pitchFamily="49" charset="0"/>
              </a:rPr>
              <a:t>//nạp chồng các phương thức khởi tạo</a:t>
            </a:r>
          </a:p>
          <a:p>
            <a:pPr marL="0" indent="0">
              <a:spcBef>
                <a:spcPts val="0"/>
              </a:spcBef>
              <a:buNone/>
            </a:pPr>
            <a:r>
              <a:rPr lang="en-US" sz="1500">
                <a:latin typeface="Courier New" pitchFamily="49" charset="0"/>
                <a:cs typeface="Courier New" pitchFamily="49" charset="0"/>
              </a:rPr>
              <a:t>        </a:t>
            </a:r>
            <a:r>
              <a:rPr lang="en-US" sz="1500" b="1">
                <a:solidFill>
                  <a:srgbClr val="0000FF"/>
                </a:solidFill>
                <a:latin typeface="Courier New" pitchFamily="49" charset="0"/>
                <a:cs typeface="Courier New" pitchFamily="49" charset="0"/>
              </a:rPr>
              <a:t>public</a:t>
            </a:r>
            <a:r>
              <a:rPr lang="en-US" sz="1500">
                <a:latin typeface="Courier New" pitchFamily="49" charset="0"/>
                <a:cs typeface="Courier New" pitchFamily="49" charset="0"/>
              </a:rPr>
              <a:t> </a:t>
            </a:r>
            <a:r>
              <a:rPr lang="en-US" sz="1500">
                <a:solidFill>
                  <a:srgbClr val="FF0000"/>
                </a:solidFill>
                <a:latin typeface="Courier New" pitchFamily="49" charset="0"/>
                <a:cs typeface="Courier New" pitchFamily="49" charset="0"/>
              </a:rPr>
              <a:t>PhanSo</a:t>
            </a:r>
            <a:r>
              <a:rPr lang="en-US" sz="1500">
                <a:latin typeface="Courier New" pitchFamily="49" charset="0"/>
                <a:cs typeface="Courier New" pitchFamily="49" charset="0"/>
              </a:rPr>
              <a:t>()</a:t>
            </a:r>
          </a:p>
          <a:p>
            <a:pPr marL="0" indent="0">
              <a:spcBef>
                <a:spcPts val="0"/>
              </a:spcBef>
              <a:buNone/>
            </a:pPr>
            <a:r>
              <a:rPr lang="en-US" sz="1500">
                <a:latin typeface="Courier New" pitchFamily="49" charset="0"/>
                <a:cs typeface="Courier New" pitchFamily="49" charset="0"/>
              </a:rPr>
              <a:t>        {</a:t>
            </a:r>
          </a:p>
          <a:p>
            <a:pPr marL="0" indent="0">
              <a:spcBef>
                <a:spcPts val="0"/>
              </a:spcBef>
              <a:buNone/>
            </a:pPr>
            <a:r>
              <a:rPr lang="en-US" sz="1500">
                <a:latin typeface="Courier New" pitchFamily="49" charset="0"/>
                <a:cs typeface="Courier New" pitchFamily="49" charset="0"/>
              </a:rPr>
              <a:t>            Tu = 0;</a:t>
            </a:r>
          </a:p>
          <a:p>
            <a:pPr marL="0" indent="0">
              <a:spcBef>
                <a:spcPts val="0"/>
              </a:spcBef>
              <a:buNone/>
            </a:pPr>
            <a:r>
              <a:rPr lang="en-US" sz="1500">
                <a:latin typeface="Courier New" pitchFamily="49" charset="0"/>
                <a:cs typeface="Courier New" pitchFamily="49" charset="0"/>
              </a:rPr>
              <a:t>            Mau = 1;</a:t>
            </a:r>
          </a:p>
          <a:p>
            <a:pPr marL="0" indent="0">
              <a:spcBef>
                <a:spcPts val="0"/>
              </a:spcBef>
              <a:buNone/>
            </a:pPr>
            <a:r>
              <a:rPr lang="en-US" sz="1500">
                <a:latin typeface="Courier New" pitchFamily="49" charset="0"/>
                <a:cs typeface="Courier New" pitchFamily="49" charset="0"/>
              </a:rPr>
              <a:t>        }</a:t>
            </a:r>
          </a:p>
          <a:p>
            <a:pPr marL="0" indent="0">
              <a:spcBef>
                <a:spcPts val="0"/>
              </a:spcBef>
              <a:buNone/>
            </a:pPr>
            <a:r>
              <a:rPr lang="en-US" sz="1500">
                <a:latin typeface="Courier New" pitchFamily="49" charset="0"/>
                <a:cs typeface="Courier New" pitchFamily="49" charset="0"/>
              </a:rPr>
              <a:t>        </a:t>
            </a:r>
            <a:r>
              <a:rPr lang="en-US" sz="1500" b="1">
                <a:solidFill>
                  <a:srgbClr val="0000FF"/>
                </a:solidFill>
                <a:latin typeface="Courier New" pitchFamily="49" charset="0"/>
                <a:cs typeface="Courier New" pitchFamily="49" charset="0"/>
              </a:rPr>
              <a:t>public</a:t>
            </a:r>
            <a:r>
              <a:rPr lang="en-US" sz="1500">
                <a:latin typeface="Courier New" pitchFamily="49" charset="0"/>
                <a:cs typeface="Courier New" pitchFamily="49" charset="0"/>
              </a:rPr>
              <a:t> </a:t>
            </a:r>
            <a:r>
              <a:rPr lang="en-US" sz="1500" b="1">
                <a:solidFill>
                  <a:srgbClr val="FF0000"/>
                </a:solidFill>
                <a:latin typeface="Courier New" pitchFamily="49" charset="0"/>
                <a:cs typeface="Courier New" pitchFamily="49" charset="0"/>
              </a:rPr>
              <a:t>PhanSo</a:t>
            </a:r>
            <a:r>
              <a:rPr lang="en-US" sz="1500" b="1">
                <a:solidFill>
                  <a:srgbClr val="0000FF"/>
                </a:solidFill>
                <a:latin typeface="Courier New" pitchFamily="49" charset="0"/>
                <a:cs typeface="Courier New" pitchFamily="49" charset="0"/>
              </a:rPr>
              <a:t>(int</a:t>
            </a:r>
            <a:r>
              <a:rPr lang="en-US" sz="1500">
                <a:latin typeface="Courier New" pitchFamily="49" charset="0"/>
                <a:cs typeface="Courier New" pitchFamily="49" charset="0"/>
              </a:rPr>
              <a:t> x)</a:t>
            </a:r>
          </a:p>
          <a:p>
            <a:pPr marL="0" indent="0">
              <a:spcBef>
                <a:spcPts val="0"/>
              </a:spcBef>
              <a:buNone/>
            </a:pPr>
            <a:r>
              <a:rPr lang="en-US" sz="1500">
                <a:latin typeface="Courier New" pitchFamily="49" charset="0"/>
                <a:cs typeface="Courier New" pitchFamily="49" charset="0"/>
              </a:rPr>
              <a:t>        {</a:t>
            </a:r>
          </a:p>
          <a:p>
            <a:pPr marL="0" indent="0">
              <a:spcBef>
                <a:spcPts val="0"/>
              </a:spcBef>
              <a:buNone/>
            </a:pPr>
            <a:r>
              <a:rPr lang="en-US" sz="1500">
                <a:latin typeface="Courier New" pitchFamily="49" charset="0"/>
                <a:cs typeface="Courier New" pitchFamily="49" charset="0"/>
              </a:rPr>
              <a:t>            Tu = x;</a:t>
            </a:r>
          </a:p>
          <a:p>
            <a:pPr marL="0" indent="0">
              <a:spcBef>
                <a:spcPts val="0"/>
              </a:spcBef>
              <a:buNone/>
            </a:pPr>
            <a:r>
              <a:rPr lang="en-US" sz="1500">
                <a:latin typeface="Courier New" pitchFamily="49" charset="0"/>
                <a:cs typeface="Courier New" pitchFamily="49" charset="0"/>
              </a:rPr>
              <a:t>            Mau = 1;</a:t>
            </a:r>
          </a:p>
          <a:p>
            <a:pPr marL="0" indent="0">
              <a:spcBef>
                <a:spcPts val="0"/>
              </a:spcBef>
              <a:buNone/>
            </a:pPr>
            <a:r>
              <a:rPr lang="en-US" sz="1500">
                <a:latin typeface="Courier New" pitchFamily="49" charset="0"/>
                <a:cs typeface="Courier New" pitchFamily="49" charset="0"/>
              </a:rPr>
              <a:t>        }</a:t>
            </a:r>
          </a:p>
          <a:p>
            <a:pPr marL="0" indent="0">
              <a:spcBef>
                <a:spcPts val="0"/>
              </a:spcBef>
              <a:buNone/>
            </a:pPr>
            <a:r>
              <a:rPr lang="fr-FR" sz="1500">
                <a:latin typeface="Courier New" pitchFamily="49" charset="0"/>
                <a:cs typeface="Courier New" pitchFamily="49" charset="0"/>
              </a:rPr>
              <a:t>        </a:t>
            </a:r>
            <a:r>
              <a:rPr lang="fr-FR" sz="1500" b="1">
                <a:solidFill>
                  <a:srgbClr val="0000FF"/>
                </a:solidFill>
                <a:latin typeface="Courier New" pitchFamily="49" charset="0"/>
                <a:cs typeface="Courier New" pitchFamily="49" charset="0"/>
              </a:rPr>
              <a:t>public</a:t>
            </a:r>
            <a:r>
              <a:rPr lang="fr-FR" sz="1500">
                <a:latin typeface="Courier New" pitchFamily="49" charset="0"/>
                <a:cs typeface="Courier New" pitchFamily="49" charset="0"/>
              </a:rPr>
              <a:t> </a:t>
            </a:r>
            <a:r>
              <a:rPr lang="fr-FR" sz="1500" b="1">
                <a:solidFill>
                  <a:srgbClr val="FF0000"/>
                </a:solidFill>
                <a:latin typeface="Courier New" pitchFamily="49" charset="0"/>
                <a:cs typeface="Courier New" pitchFamily="49" charset="0"/>
              </a:rPr>
              <a:t>PhanSo</a:t>
            </a:r>
            <a:r>
              <a:rPr lang="fr-FR" sz="1500" b="1">
                <a:solidFill>
                  <a:srgbClr val="0000FF"/>
                </a:solidFill>
                <a:latin typeface="Courier New" pitchFamily="49" charset="0"/>
                <a:cs typeface="Courier New" pitchFamily="49" charset="0"/>
              </a:rPr>
              <a:t>(int</a:t>
            </a:r>
            <a:r>
              <a:rPr lang="fr-FR" sz="1500">
                <a:latin typeface="Courier New" pitchFamily="49" charset="0"/>
                <a:cs typeface="Courier New" pitchFamily="49" charset="0"/>
              </a:rPr>
              <a:t> t, </a:t>
            </a:r>
            <a:r>
              <a:rPr lang="fr-FR" sz="1500" b="1">
                <a:solidFill>
                  <a:srgbClr val="0000FF"/>
                </a:solidFill>
                <a:latin typeface="Courier New" pitchFamily="49" charset="0"/>
                <a:cs typeface="Courier New" pitchFamily="49" charset="0"/>
              </a:rPr>
              <a:t>int</a:t>
            </a:r>
            <a:r>
              <a:rPr lang="fr-FR" sz="1500">
                <a:latin typeface="Courier New" pitchFamily="49" charset="0"/>
                <a:cs typeface="Courier New" pitchFamily="49" charset="0"/>
              </a:rPr>
              <a:t> m)</a:t>
            </a:r>
          </a:p>
          <a:p>
            <a:pPr marL="0" indent="0">
              <a:spcBef>
                <a:spcPts val="0"/>
              </a:spcBef>
              <a:buNone/>
            </a:pPr>
            <a:r>
              <a:rPr lang="en-US" sz="1500">
                <a:latin typeface="Courier New" pitchFamily="49" charset="0"/>
                <a:cs typeface="Courier New" pitchFamily="49" charset="0"/>
              </a:rPr>
              <a:t>        {</a:t>
            </a:r>
          </a:p>
          <a:p>
            <a:pPr marL="0" indent="0">
              <a:spcBef>
                <a:spcPts val="0"/>
              </a:spcBef>
              <a:buNone/>
            </a:pPr>
            <a:r>
              <a:rPr lang="en-US" sz="1500">
                <a:latin typeface="Courier New" pitchFamily="49" charset="0"/>
                <a:cs typeface="Courier New" pitchFamily="49" charset="0"/>
              </a:rPr>
              <a:t>            Tu = t;</a:t>
            </a:r>
          </a:p>
          <a:p>
            <a:pPr marL="0" indent="0">
              <a:spcBef>
                <a:spcPts val="0"/>
              </a:spcBef>
              <a:buNone/>
            </a:pPr>
            <a:r>
              <a:rPr lang="en-US" sz="1500">
                <a:latin typeface="Courier New" pitchFamily="49" charset="0"/>
                <a:cs typeface="Courier New" pitchFamily="49" charset="0"/>
              </a:rPr>
              <a:t>            Mau = m;</a:t>
            </a:r>
          </a:p>
          <a:p>
            <a:pPr marL="0" indent="0">
              <a:spcBef>
                <a:spcPts val="0"/>
              </a:spcBef>
              <a:buNone/>
            </a:pPr>
            <a:r>
              <a:rPr lang="en-US" sz="1500">
                <a:latin typeface="Courier New" pitchFamily="49" charset="0"/>
                <a:cs typeface="Courier New" pitchFamily="49" charset="0"/>
              </a:rPr>
              <a:t>        }</a:t>
            </a:r>
          </a:p>
          <a:p>
            <a:pPr marL="0" indent="0">
              <a:spcBef>
                <a:spcPts val="0"/>
              </a:spcBef>
              <a:buNone/>
            </a:pPr>
            <a:r>
              <a:rPr lang="en-US" sz="1500"/>
              <a:t>        </a:t>
            </a:r>
          </a:p>
          <a:p>
            <a:pPr marL="0" indent="0">
              <a:spcBef>
                <a:spcPts val="0"/>
              </a:spcBef>
              <a:buNone/>
            </a:pPr>
            <a:endParaRPr lang="en-US" sz="1500"/>
          </a:p>
        </p:txBody>
      </p:sp>
      <p:sp>
        <p:nvSpPr>
          <p:cNvPr id="4" name="Date Placeholder 3"/>
          <p:cNvSpPr>
            <a:spLocks noGrp="1"/>
          </p:cNvSpPr>
          <p:nvPr>
            <p:ph type="dt" sz="half" idx="10"/>
          </p:nvPr>
        </p:nvSpPr>
        <p:spPr/>
        <p:txBody>
          <a:bodyPr/>
          <a:lstStyle/>
          <a:p>
            <a:fld id="{1B8A8481-AD2D-4F1A-B3B5-0859064143D9}" type="datetime1">
              <a:rPr lang="vi-VN" smtClean="0"/>
              <a:t>04/02/2025</a:t>
            </a:fld>
            <a:endParaRPr lang="vi-VN"/>
          </a:p>
        </p:txBody>
      </p:sp>
      <p:sp>
        <p:nvSpPr>
          <p:cNvPr id="5" name="Footer Placeholder 4"/>
          <p:cNvSpPr>
            <a:spLocks noGrp="1"/>
          </p:cNvSpPr>
          <p:nvPr>
            <p:ph type="ftr" sz="quarter" idx="11"/>
          </p:nvPr>
        </p:nvSpPr>
        <p:spPr/>
        <p:txBody>
          <a:bodyPr/>
          <a:lstStyle/>
          <a:p>
            <a:r>
              <a:rPr lang="vi-VN"/>
              <a:t>Chương 3. Lập trình hướng đối tượng trong C#</a:t>
            </a:r>
          </a:p>
        </p:txBody>
      </p:sp>
      <p:sp>
        <p:nvSpPr>
          <p:cNvPr id="7" name="Rectangle 6"/>
          <p:cNvSpPr/>
          <p:nvPr/>
        </p:nvSpPr>
        <p:spPr>
          <a:xfrm>
            <a:off x="5076056" y="1628800"/>
            <a:ext cx="3744416" cy="4016484"/>
          </a:xfrm>
          <a:prstGeom prst="rect">
            <a:avLst/>
          </a:prstGeom>
        </p:spPr>
        <p:txBody>
          <a:bodyPr wrap="square">
            <a:spAutoFit/>
          </a:bodyPr>
          <a:lstStyle/>
          <a:p>
            <a:r>
              <a:rPr lang="en-US" sz="1500" b="1" dirty="0">
                <a:solidFill>
                  <a:srgbClr val="0000FF"/>
                </a:solidFill>
                <a:latin typeface="Courier New" pitchFamily="49" charset="0"/>
                <a:cs typeface="Courier New" pitchFamily="49" charset="0"/>
              </a:rPr>
              <a:t>public</a:t>
            </a:r>
            <a:r>
              <a:rPr lang="en-US" sz="1500" dirty="0">
                <a:latin typeface="Courier New" pitchFamily="49" charset="0"/>
                <a:cs typeface="Courier New" pitchFamily="49" charset="0"/>
              </a:rPr>
              <a:t> void </a:t>
            </a:r>
            <a:r>
              <a:rPr lang="en-US" sz="1500" dirty="0" err="1">
                <a:latin typeface="Courier New" pitchFamily="49" charset="0"/>
                <a:cs typeface="Courier New" pitchFamily="49" charset="0"/>
              </a:rPr>
              <a:t>InPhanSo</a:t>
            </a:r>
            <a:r>
              <a:rPr lang="en-US" sz="1500" dirty="0">
                <a:latin typeface="Courier New" pitchFamily="49" charset="0"/>
                <a:cs typeface="Courier New" pitchFamily="49" charset="0"/>
              </a:rPr>
              <a:t>()</a:t>
            </a:r>
          </a:p>
          <a:p>
            <a:r>
              <a:rPr lang="en-US" sz="1500" dirty="0">
                <a:latin typeface="Courier New" pitchFamily="49" charset="0"/>
                <a:cs typeface="Courier New" pitchFamily="49" charset="0"/>
              </a:rPr>
              <a:t>    {</a:t>
            </a:r>
          </a:p>
          <a:p>
            <a:r>
              <a:rPr lang="fr-FR" sz="1500" dirty="0">
                <a:latin typeface="Courier New" pitchFamily="49" charset="0"/>
                <a:cs typeface="Courier New" pitchFamily="49" charset="0"/>
              </a:rPr>
              <a:t>            </a:t>
            </a:r>
            <a:r>
              <a:rPr lang="fr-FR" sz="1500" dirty="0" err="1">
                <a:latin typeface="Courier New" pitchFamily="49" charset="0"/>
                <a:cs typeface="Courier New" pitchFamily="49" charset="0"/>
              </a:rPr>
              <a:t>Console.WriteLine</a:t>
            </a:r>
            <a:r>
              <a:rPr lang="fr-FR" sz="1500" dirty="0">
                <a:latin typeface="Courier New" pitchFamily="49" charset="0"/>
                <a:cs typeface="Courier New" pitchFamily="49" charset="0"/>
              </a:rPr>
              <a:t>("{0}/{1} ", Tu, Mau);</a:t>
            </a:r>
          </a:p>
          <a:p>
            <a:r>
              <a:rPr lang="en-US" sz="1500" dirty="0">
                <a:latin typeface="Courier New" pitchFamily="49" charset="0"/>
                <a:cs typeface="Courier New" pitchFamily="49" charset="0"/>
              </a:rPr>
              <a:t>    }</a:t>
            </a:r>
          </a:p>
          <a:p>
            <a:r>
              <a:rPr lang="en-US" sz="1500" b="1" dirty="0">
                <a:solidFill>
                  <a:srgbClr val="0000FF"/>
                </a:solidFill>
                <a:latin typeface="Courier New" pitchFamily="49" charset="0"/>
                <a:cs typeface="Courier New" pitchFamily="49" charset="0"/>
              </a:rPr>
              <a:t>Public static</a:t>
            </a:r>
            <a:r>
              <a:rPr lang="en-US" sz="1500" dirty="0">
                <a:latin typeface="Courier New" pitchFamily="49" charset="0"/>
                <a:cs typeface="Courier New" pitchFamily="49" charset="0"/>
              </a:rPr>
              <a:t> </a:t>
            </a:r>
            <a:r>
              <a:rPr lang="en-US" sz="1500" dirty="0" err="1">
                <a:latin typeface="Courier New" pitchFamily="49" charset="0"/>
                <a:cs typeface="Courier New" pitchFamily="49" charset="0"/>
              </a:rPr>
              <a:t>PhanSo</a:t>
            </a:r>
            <a:r>
              <a:rPr lang="en-US" sz="1500" dirty="0">
                <a:latin typeface="Courier New" pitchFamily="49" charset="0"/>
                <a:cs typeface="Courier New" pitchFamily="49" charset="0"/>
              </a:rPr>
              <a:t> Cong(</a:t>
            </a:r>
            <a:r>
              <a:rPr lang="en-US" sz="1500" dirty="0" err="1">
                <a:latin typeface="Courier New" pitchFamily="49" charset="0"/>
                <a:cs typeface="Courier New" pitchFamily="49" charset="0"/>
              </a:rPr>
              <a:t>PhanSo</a:t>
            </a:r>
            <a:r>
              <a:rPr lang="en-US" sz="1500" dirty="0">
                <a:latin typeface="Courier New" pitchFamily="49" charset="0"/>
                <a:cs typeface="Courier New" pitchFamily="49" charset="0"/>
              </a:rPr>
              <a:t> PS1, </a:t>
            </a:r>
            <a:r>
              <a:rPr lang="en-US" sz="1500" dirty="0" err="1">
                <a:latin typeface="Courier New" pitchFamily="49" charset="0"/>
                <a:cs typeface="Courier New" pitchFamily="49" charset="0"/>
              </a:rPr>
              <a:t>PhanSo</a:t>
            </a:r>
            <a:r>
              <a:rPr lang="en-US" sz="1500" dirty="0">
                <a:latin typeface="Courier New" pitchFamily="49" charset="0"/>
                <a:cs typeface="Courier New" pitchFamily="49" charset="0"/>
              </a:rPr>
              <a:t> PS2)</a:t>
            </a:r>
          </a:p>
          <a:p>
            <a:r>
              <a:rPr lang="en-US" sz="1500" dirty="0">
                <a:latin typeface="Courier New" pitchFamily="49" charset="0"/>
                <a:cs typeface="Courier New" pitchFamily="49" charset="0"/>
              </a:rPr>
              <a:t>   {</a:t>
            </a:r>
          </a:p>
          <a:p>
            <a:r>
              <a:rPr lang="fr-FR" sz="1500" dirty="0">
                <a:latin typeface="Courier New" pitchFamily="49" charset="0"/>
                <a:cs typeface="Courier New" pitchFamily="49" charset="0"/>
              </a:rPr>
              <a:t>      </a:t>
            </a:r>
            <a:r>
              <a:rPr lang="fr-FR" sz="1500" dirty="0" err="1">
                <a:latin typeface="Courier New" pitchFamily="49" charset="0"/>
                <a:cs typeface="Courier New" pitchFamily="49" charset="0"/>
              </a:rPr>
              <a:t>int</a:t>
            </a:r>
            <a:r>
              <a:rPr lang="fr-FR" sz="1500" dirty="0">
                <a:latin typeface="Courier New" pitchFamily="49" charset="0"/>
                <a:cs typeface="Courier New" pitchFamily="49" charset="0"/>
              </a:rPr>
              <a:t> TS = Tu * PS2.Mau + Mau * PS2.Tu;</a:t>
            </a:r>
          </a:p>
          <a:p>
            <a:r>
              <a:rPr lang="en-US" sz="1500" dirty="0">
                <a:latin typeface="Courier New" pitchFamily="49" charset="0"/>
                <a:cs typeface="Courier New" pitchFamily="49" charset="0"/>
              </a:rPr>
              <a:t>      int MS = Mau * PS2.Mau;</a:t>
            </a:r>
          </a:p>
          <a:p>
            <a:pPr algn="just" fontAlgn="base">
              <a:spcAft>
                <a:spcPct val="0"/>
              </a:spcAft>
              <a:buClr>
                <a:schemeClr val="accent2"/>
              </a:buClr>
            </a:pPr>
            <a:r>
              <a:rPr lang="vi-VN" sz="1500" dirty="0">
                <a:solidFill>
                  <a:srgbClr val="00B050"/>
                </a:solidFill>
                <a:latin typeface="Courier New" pitchFamily="49" charset="0"/>
                <a:cs typeface="Courier New" pitchFamily="49" charset="0"/>
              </a:rPr>
              <a:t>//Gọi phương thức tạo 2 tham số</a:t>
            </a:r>
          </a:p>
          <a:p>
            <a:r>
              <a:rPr lang="en-US" sz="1500" dirty="0">
                <a:latin typeface="Courier New" pitchFamily="49" charset="0"/>
                <a:cs typeface="Courier New" pitchFamily="49" charset="0"/>
              </a:rPr>
              <a:t>      </a:t>
            </a:r>
            <a:r>
              <a:rPr lang="en-US" sz="1500" dirty="0" err="1">
                <a:latin typeface="Courier New" pitchFamily="49" charset="0"/>
                <a:cs typeface="Courier New" pitchFamily="49" charset="0"/>
              </a:rPr>
              <a:t>PhanSo</a:t>
            </a:r>
            <a:r>
              <a:rPr lang="en-US" sz="1500" dirty="0">
                <a:latin typeface="Courier New" pitchFamily="49" charset="0"/>
                <a:cs typeface="Courier New" pitchFamily="49" charset="0"/>
              </a:rPr>
              <a:t> </a:t>
            </a:r>
            <a:r>
              <a:rPr lang="en-US" sz="1500" dirty="0" err="1">
                <a:latin typeface="Courier New" pitchFamily="49" charset="0"/>
                <a:cs typeface="Courier New" pitchFamily="49" charset="0"/>
              </a:rPr>
              <a:t>KetQua</a:t>
            </a:r>
            <a:r>
              <a:rPr lang="en-US" sz="1500" dirty="0">
                <a:latin typeface="Courier New" pitchFamily="49" charset="0"/>
                <a:cs typeface="Courier New" pitchFamily="49" charset="0"/>
              </a:rPr>
              <a:t> = </a:t>
            </a:r>
            <a:r>
              <a:rPr lang="en-US" sz="1500" b="1" dirty="0">
                <a:solidFill>
                  <a:srgbClr val="0000FF"/>
                </a:solidFill>
                <a:latin typeface="Courier New" pitchFamily="49" charset="0"/>
                <a:cs typeface="Courier New" pitchFamily="49" charset="0"/>
              </a:rPr>
              <a:t>new</a:t>
            </a:r>
            <a:r>
              <a:rPr lang="en-US" sz="1500" dirty="0">
                <a:latin typeface="Courier New" pitchFamily="49" charset="0"/>
                <a:cs typeface="Courier New" pitchFamily="49" charset="0"/>
              </a:rPr>
              <a:t> </a:t>
            </a:r>
            <a:r>
              <a:rPr lang="en-US" sz="1500" dirty="0" err="1">
                <a:latin typeface="Courier New" pitchFamily="49" charset="0"/>
                <a:cs typeface="Courier New" pitchFamily="49" charset="0"/>
              </a:rPr>
              <a:t>PhanSo</a:t>
            </a:r>
            <a:r>
              <a:rPr lang="en-US" sz="1500" dirty="0">
                <a:latin typeface="Courier New" pitchFamily="49" charset="0"/>
                <a:cs typeface="Courier New" pitchFamily="49" charset="0"/>
              </a:rPr>
              <a:t>(TS, MS);</a:t>
            </a:r>
          </a:p>
          <a:p>
            <a:r>
              <a:rPr lang="en-US" sz="1500" dirty="0">
                <a:latin typeface="Courier New" pitchFamily="49" charset="0"/>
                <a:cs typeface="Courier New" pitchFamily="49" charset="0"/>
              </a:rPr>
              <a:t>      </a:t>
            </a:r>
            <a:r>
              <a:rPr lang="en-US" sz="1500" b="1" dirty="0">
                <a:solidFill>
                  <a:srgbClr val="0000FF"/>
                </a:solidFill>
                <a:latin typeface="Courier New" pitchFamily="49" charset="0"/>
                <a:cs typeface="Courier New" pitchFamily="49" charset="0"/>
              </a:rPr>
              <a:t>return</a:t>
            </a:r>
            <a:r>
              <a:rPr lang="en-US" sz="1500" dirty="0">
                <a:latin typeface="Courier New" pitchFamily="49" charset="0"/>
                <a:cs typeface="Courier New" pitchFamily="49" charset="0"/>
              </a:rPr>
              <a:t> </a:t>
            </a:r>
            <a:r>
              <a:rPr lang="en-US" sz="1500" dirty="0" err="1">
                <a:latin typeface="Courier New" pitchFamily="49" charset="0"/>
                <a:cs typeface="Courier New" pitchFamily="49" charset="0"/>
              </a:rPr>
              <a:t>KetQua</a:t>
            </a:r>
            <a:r>
              <a:rPr lang="en-US" sz="1500" dirty="0">
                <a:latin typeface="Courier New" pitchFamily="49" charset="0"/>
                <a:cs typeface="Courier New" pitchFamily="49" charset="0"/>
              </a:rPr>
              <a:t>;</a:t>
            </a:r>
          </a:p>
          <a:p>
            <a:r>
              <a:rPr lang="en-US" sz="1500" dirty="0">
                <a:latin typeface="Courier New" pitchFamily="49" charset="0"/>
                <a:cs typeface="Courier New" pitchFamily="49" charset="0"/>
              </a:rPr>
              <a:t>   }</a:t>
            </a:r>
          </a:p>
        </p:txBody>
      </p:sp>
      <p:sp>
        <p:nvSpPr>
          <p:cNvPr id="9" name="Slide Number Placeholder 8"/>
          <p:cNvSpPr>
            <a:spLocks noGrp="1"/>
          </p:cNvSpPr>
          <p:nvPr>
            <p:ph type="sldNum" sz="quarter" idx="12"/>
          </p:nvPr>
        </p:nvSpPr>
        <p:spPr/>
        <p:txBody>
          <a:bodyPr/>
          <a:lstStyle/>
          <a:p>
            <a:fld id="{5AB95402-1E0D-474E-8D8C-CBE7F053639E}" type="slidenum">
              <a:rPr lang="vi-VN" smtClean="0"/>
              <a:pPr/>
              <a:t>65</a:t>
            </a:fld>
            <a:r>
              <a:rPr lang="vi-VN"/>
              <a:t>/33</a:t>
            </a:r>
          </a:p>
        </p:txBody>
      </p:sp>
    </p:spTree>
    <p:extLst>
      <p:ext uri="{BB962C8B-B14F-4D97-AF65-F5344CB8AC3E}">
        <p14:creationId xmlns:p14="http://schemas.microsoft.com/office/powerpoint/2010/main" val="343915957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359646"/>
            <a:ext cx="8382000" cy="685800"/>
          </a:xfrm>
        </p:spPr>
        <p:txBody>
          <a:bodyPr/>
          <a:lstStyle/>
          <a:p>
            <a:r>
              <a:rPr lang="en-US" dirty="0" err="1"/>
              <a:t>Ví</a:t>
            </a:r>
            <a:r>
              <a:rPr lang="en-US" dirty="0"/>
              <a:t> </a:t>
            </a:r>
            <a:r>
              <a:rPr lang="en-US" dirty="0" err="1"/>
              <a:t>dụ</a:t>
            </a:r>
            <a:r>
              <a:rPr lang="en-US" dirty="0"/>
              <a:t> </a:t>
            </a:r>
            <a:r>
              <a:rPr lang="en-US" dirty="0" err="1"/>
              <a:t>tổng</a:t>
            </a:r>
            <a:r>
              <a:rPr lang="en-US" dirty="0"/>
              <a:t> </a:t>
            </a:r>
            <a:r>
              <a:rPr lang="en-US"/>
              <a:t>quát</a:t>
            </a:r>
            <a:endParaRPr lang="en-US" dirty="0"/>
          </a:p>
        </p:txBody>
      </p:sp>
      <p:sp>
        <p:nvSpPr>
          <p:cNvPr id="3" name="Content Placeholder 2"/>
          <p:cNvSpPr>
            <a:spLocks noGrp="1"/>
          </p:cNvSpPr>
          <p:nvPr>
            <p:ph idx="1"/>
          </p:nvPr>
        </p:nvSpPr>
        <p:spPr/>
        <p:txBody>
          <a:bodyPr/>
          <a:lstStyle/>
          <a:p>
            <a:pPr marL="0" indent="0">
              <a:spcBef>
                <a:spcPts val="0"/>
              </a:spcBef>
              <a:buNone/>
            </a:pPr>
            <a:r>
              <a:rPr lang="en-US" sz="1500" b="1" dirty="0">
                <a:solidFill>
                  <a:srgbClr val="0000FF"/>
                </a:solidFill>
                <a:latin typeface="Courier New" pitchFamily="49" charset="0"/>
                <a:cs typeface="Courier New" pitchFamily="49" charset="0"/>
              </a:rPr>
              <a:t>static</a:t>
            </a:r>
            <a:r>
              <a:rPr lang="en-US" sz="1500" dirty="0">
                <a:latin typeface="Courier New" pitchFamily="49" charset="0"/>
                <a:cs typeface="Courier New" pitchFamily="49" charset="0"/>
              </a:rPr>
              <a:t> </a:t>
            </a:r>
            <a:r>
              <a:rPr lang="en-US" sz="1500" b="1" dirty="0">
                <a:solidFill>
                  <a:srgbClr val="0000FF"/>
                </a:solidFill>
                <a:latin typeface="Courier New" pitchFamily="49" charset="0"/>
                <a:cs typeface="Courier New" pitchFamily="49" charset="0"/>
              </a:rPr>
              <a:t>void</a:t>
            </a:r>
            <a:r>
              <a:rPr lang="en-US" sz="1500" dirty="0">
                <a:latin typeface="Courier New" pitchFamily="49" charset="0"/>
                <a:cs typeface="Courier New" pitchFamily="49" charset="0"/>
              </a:rPr>
              <a:t> </a:t>
            </a:r>
            <a:r>
              <a:rPr lang="en-US" sz="1500" b="1" dirty="0">
                <a:solidFill>
                  <a:srgbClr val="0000FF"/>
                </a:solidFill>
                <a:latin typeface="Courier New" pitchFamily="49" charset="0"/>
                <a:cs typeface="Courier New" pitchFamily="49" charset="0"/>
              </a:rPr>
              <a:t>Main(string</a:t>
            </a:r>
            <a:r>
              <a:rPr lang="en-US" sz="1500" dirty="0">
                <a:latin typeface="Courier New" pitchFamily="49" charset="0"/>
                <a:cs typeface="Courier New" pitchFamily="49" charset="0"/>
              </a:rPr>
              <a:t>[] </a:t>
            </a:r>
            <a:r>
              <a:rPr lang="en-US" sz="1500" dirty="0" err="1">
                <a:latin typeface="Courier New" pitchFamily="49" charset="0"/>
                <a:cs typeface="Courier New" pitchFamily="49" charset="0"/>
              </a:rPr>
              <a:t>args</a:t>
            </a:r>
            <a:r>
              <a:rPr lang="en-US" sz="1500" dirty="0">
                <a:latin typeface="Courier New" pitchFamily="49" charset="0"/>
                <a:cs typeface="Courier New" pitchFamily="49" charset="0"/>
              </a:rPr>
              <a:t>)</a:t>
            </a:r>
          </a:p>
          <a:p>
            <a:pPr marL="0" indent="0">
              <a:spcBef>
                <a:spcPts val="0"/>
              </a:spcBef>
              <a:buNone/>
            </a:pPr>
            <a:r>
              <a:rPr lang="en-US" sz="1500" dirty="0">
                <a:latin typeface="Courier New" pitchFamily="49" charset="0"/>
                <a:cs typeface="Courier New" pitchFamily="49" charset="0"/>
              </a:rPr>
              <a:t>        {</a:t>
            </a:r>
          </a:p>
          <a:p>
            <a:pPr marL="0" indent="0">
              <a:spcBef>
                <a:spcPts val="0"/>
              </a:spcBef>
              <a:buNone/>
            </a:pPr>
            <a:r>
              <a:rPr lang="en-US" sz="1500" dirty="0">
                <a:latin typeface="Courier New" pitchFamily="49" charset="0"/>
                <a:cs typeface="Courier New" pitchFamily="49" charset="0"/>
              </a:rPr>
              <a:t>            </a:t>
            </a:r>
            <a:r>
              <a:rPr lang="en-US" sz="1500" b="1" dirty="0" err="1">
                <a:solidFill>
                  <a:srgbClr val="0000FF"/>
                </a:solidFill>
                <a:latin typeface="Courier New" pitchFamily="49" charset="0"/>
                <a:cs typeface="Courier New" pitchFamily="49" charset="0"/>
              </a:rPr>
              <a:t>PhanSo</a:t>
            </a:r>
            <a:r>
              <a:rPr lang="en-US" sz="1500" dirty="0">
                <a:latin typeface="Courier New" pitchFamily="49" charset="0"/>
                <a:cs typeface="Courier New" pitchFamily="49" charset="0"/>
              </a:rPr>
              <a:t> </a:t>
            </a:r>
            <a:r>
              <a:rPr lang="en-US" sz="1500" b="1" dirty="0">
                <a:solidFill>
                  <a:srgbClr val="FF0000"/>
                </a:solidFill>
                <a:latin typeface="Courier New" pitchFamily="49" charset="0"/>
                <a:cs typeface="Courier New" pitchFamily="49" charset="0"/>
              </a:rPr>
              <a:t>p1</a:t>
            </a:r>
            <a:r>
              <a:rPr lang="en-US" sz="1500" dirty="0">
                <a:latin typeface="Courier New" pitchFamily="49" charset="0"/>
                <a:cs typeface="Courier New" pitchFamily="49" charset="0"/>
              </a:rPr>
              <a:t> = </a:t>
            </a:r>
            <a:r>
              <a:rPr lang="en-US" sz="1500" b="1" dirty="0">
                <a:solidFill>
                  <a:srgbClr val="0000FF"/>
                </a:solidFill>
                <a:latin typeface="Courier New" pitchFamily="49" charset="0"/>
                <a:cs typeface="Courier New" pitchFamily="49" charset="0"/>
              </a:rPr>
              <a:t>new</a:t>
            </a:r>
            <a:r>
              <a:rPr lang="en-US" sz="1500" dirty="0">
                <a:latin typeface="Courier New" pitchFamily="49" charset="0"/>
                <a:cs typeface="Courier New" pitchFamily="49" charset="0"/>
              </a:rPr>
              <a:t> </a:t>
            </a:r>
            <a:r>
              <a:rPr lang="en-US" sz="1500" b="1" dirty="0" err="1">
                <a:solidFill>
                  <a:srgbClr val="0000FF"/>
                </a:solidFill>
                <a:latin typeface="Courier New" pitchFamily="49" charset="0"/>
                <a:cs typeface="Courier New" pitchFamily="49" charset="0"/>
              </a:rPr>
              <a:t>PhanSo</a:t>
            </a:r>
            <a:r>
              <a:rPr lang="en-US" sz="1500" dirty="0">
                <a:latin typeface="Courier New" pitchFamily="49" charset="0"/>
                <a:cs typeface="Courier New" pitchFamily="49" charset="0"/>
              </a:rPr>
              <a:t>();</a:t>
            </a:r>
          </a:p>
          <a:p>
            <a:pPr marL="0" indent="0">
              <a:spcBef>
                <a:spcPts val="0"/>
              </a:spcBef>
              <a:buNone/>
            </a:pPr>
            <a:r>
              <a:rPr lang="en-US" sz="1500" dirty="0">
                <a:latin typeface="Courier New" pitchFamily="49" charset="0"/>
                <a:cs typeface="Courier New" pitchFamily="49" charset="0"/>
              </a:rPr>
              <a:t>            </a:t>
            </a:r>
            <a:r>
              <a:rPr lang="en-US" sz="1500" dirty="0" err="1">
                <a:latin typeface="Courier New" pitchFamily="49" charset="0"/>
                <a:cs typeface="Courier New" pitchFamily="49" charset="0"/>
              </a:rPr>
              <a:t>Console.Write</a:t>
            </a:r>
            <a:r>
              <a:rPr lang="en-US" sz="1500" dirty="0">
                <a:latin typeface="Courier New" pitchFamily="49" charset="0"/>
                <a:cs typeface="Courier New" pitchFamily="49" charset="0"/>
              </a:rPr>
              <a:t>("Phan so p1 = ");</a:t>
            </a:r>
          </a:p>
          <a:p>
            <a:pPr marL="0" indent="0">
              <a:spcBef>
                <a:spcPts val="0"/>
              </a:spcBef>
              <a:buNone/>
            </a:pPr>
            <a:r>
              <a:rPr lang="en-US" sz="1500" dirty="0">
                <a:latin typeface="Courier New" pitchFamily="49" charset="0"/>
                <a:cs typeface="Courier New" pitchFamily="49" charset="0"/>
              </a:rPr>
              <a:t>            p1.InPhanSo();</a:t>
            </a:r>
          </a:p>
          <a:p>
            <a:pPr marL="0" indent="0">
              <a:spcBef>
                <a:spcPts val="0"/>
              </a:spcBef>
              <a:buNone/>
            </a:pPr>
            <a:r>
              <a:rPr lang="en-US" sz="1500" dirty="0">
                <a:latin typeface="Courier New" pitchFamily="49" charset="0"/>
                <a:cs typeface="Courier New" pitchFamily="49" charset="0"/>
              </a:rPr>
              <a:t>            </a:t>
            </a:r>
            <a:r>
              <a:rPr lang="en-US" sz="1500" b="1" dirty="0" err="1">
                <a:solidFill>
                  <a:srgbClr val="0000FF"/>
                </a:solidFill>
                <a:latin typeface="Courier New" pitchFamily="49" charset="0"/>
                <a:cs typeface="Courier New" pitchFamily="49" charset="0"/>
              </a:rPr>
              <a:t>PhanSo</a:t>
            </a:r>
            <a:r>
              <a:rPr lang="en-US" sz="1500" dirty="0">
                <a:latin typeface="Courier New" pitchFamily="49" charset="0"/>
                <a:cs typeface="Courier New" pitchFamily="49" charset="0"/>
              </a:rPr>
              <a:t> </a:t>
            </a:r>
            <a:r>
              <a:rPr lang="en-US" sz="1500" b="1" dirty="0">
                <a:solidFill>
                  <a:srgbClr val="FF0000"/>
                </a:solidFill>
                <a:latin typeface="Courier New" pitchFamily="49" charset="0"/>
                <a:cs typeface="Courier New" pitchFamily="49" charset="0"/>
              </a:rPr>
              <a:t>p2</a:t>
            </a:r>
            <a:r>
              <a:rPr lang="en-US" sz="1500" dirty="0">
                <a:latin typeface="Courier New" pitchFamily="49" charset="0"/>
                <a:cs typeface="Courier New" pitchFamily="49" charset="0"/>
              </a:rPr>
              <a:t> = </a:t>
            </a:r>
            <a:r>
              <a:rPr lang="en-US" sz="1500" b="1" dirty="0">
                <a:solidFill>
                  <a:srgbClr val="0000FF"/>
                </a:solidFill>
                <a:latin typeface="Courier New" pitchFamily="49" charset="0"/>
                <a:cs typeface="Courier New" pitchFamily="49" charset="0"/>
              </a:rPr>
              <a:t>new</a:t>
            </a:r>
            <a:r>
              <a:rPr lang="en-US" sz="1500" dirty="0">
                <a:latin typeface="Courier New" pitchFamily="49" charset="0"/>
                <a:cs typeface="Courier New" pitchFamily="49" charset="0"/>
              </a:rPr>
              <a:t> </a:t>
            </a:r>
            <a:r>
              <a:rPr lang="en-US" sz="1500" b="1" dirty="0" err="1">
                <a:solidFill>
                  <a:srgbClr val="0000FF"/>
                </a:solidFill>
                <a:latin typeface="Courier New" pitchFamily="49" charset="0"/>
                <a:cs typeface="Courier New" pitchFamily="49" charset="0"/>
              </a:rPr>
              <a:t>PhanSo</a:t>
            </a:r>
            <a:r>
              <a:rPr lang="en-US" sz="1500" b="1" dirty="0">
                <a:solidFill>
                  <a:srgbClr val="0000FF"/>
                </a:solidFill>
                <a:latin typeface="Courier New" pitchFamily="49" charset="0"/>
                <a:cs typeface="Courier New" pitchFamily="49" charset="0"/>
              </a:rPr>
              <a:t>(5</a:t>
            </a:r>
            <a:r>
              <a:rPr lang="en-US" sz="1500" dirty="0">
                <a:latin typeface="Courier New" pitchFamily="49" charset="0"/>
                <a:cs typeface="Courier New" pitchFamily="49" charset="0"/>
              </a:rPr>
              <a:t>);</a:t>
            </a:r>
          </a:p>
          <a:p>
            <a:pPr marL="0" indent="0">
              <a:spcBef>
                <a:spcPts val="0"/>
              </a:spcBef>
              <a:buNone/>
            </a:pPr>
            <a:r>
              <a:rPr lang="en-US" sz="1500" dirty="0">
                <a:latin typeface="Courier New" pitchFamily="49" charset="0"/>
                <a:cs typeface="Courier New" pitchFamily="49" charset="0"/>
              </a:rPr>
              <a:t>            </a:t>
            </a:r>
            <a:r>
              <a:rPr lang="en-US" sz="1500" dirty="0" err="1">
                <a:latin typeface="Courier New" pitchFamily="49" charset="0"/>
                <a:cs typeface="Courier New" pitchFamily="49" charset="0"/>
              </a:rPr>
              <a:t>Console.Write</a:t>
            </a:r>
            <a:r>
              <a:rPr lang="en-US" sz="1500" dirty="0">
                <a:latin typeface="Courier New" pitchFamily="49" charset="0"/>
                <a:cs typeface="Courier New" pitchFamily="49" charset="0"/>
              </a:rPr>
              <a:t>("Phan so p2 = ");</a:t>
            </a:r>
          </a:p>
          <a:p>
            <a:pPr marL="0" indent="0">
              <a:spcBef>
                <a:spcPts val="0"/>
              </a:spcBef>
              <a:buNone/>
            </a:pPr>
            <a:r>
              <a:rPr lang="en-US" sz="1500" dirty="0">
                <a:latin typeface="Courier New" pitchFamily="49" charset="0"/>
                <a:cs typeface="Courier New" pitchFamily="49" charset="0"/>
              </a:rPr>
              <a:t>            p2.InPhanSo();</a:t>
            </a:r>
          </a:p>
          <a:p>
            <a:pPr marL="0" indent="0">
              <a:spcBef>
                <a:spcPts val="0"/>
              </a:spcBef>
              <a:buNone/>
            </a:pPr>
            <a:r>
              <a:rPr lang="en-US" sz="1500" dirty="0">
                <a:latin typeface="Courier New" pitchFamily="49" charset="0"/>
                <a:cs typeface="Courier New" pitchFamily="49" charset="0"/>
              </a:rPr>
              <a:t>            int </a:t>
            </a:r>
            <a:r>
              <a:rPr lang="en-US" sz="1500" dirty="0" err="1">
                <a:latin typeface="Courier New" pitchFamily="49" charset="0"/>
                <a:cs typeface="Courier New" pitchFamily="49" charset="0"/>
              </a:rPr>
              <a:t>ts</a:t>
            </a:r>
            <a:r>
              <a:rPr lang="en-US" sz="1500" dirty="0">
                <a:latin typeface="Courier New" pitchFamily="49" charset="0"/>
                <a:cs typeface="Courier New" pitchFamily="49" charset="0"/>
              </a:rPr>
              <a:t>, </a:t>
            </a:r>
            <a:r>
              <a:rPr lang="en-US" sz="1500" dirty="0" err="1">
                <a:latin typeface="Courier New" pitchFamily="49" charset="0"/>
                <a:cs typeface="Courier New" pitchFamily="49" charset="0"/>
              </a:rPr>
              <a:t>ms</a:t>
            </a:r>
            <a:r>
              <a:rPr lang="en-US" sz="1500" dirty="0">
                <a:latin typeface="Courier New" pitchFamily="49" charset="0"/>
                <a:cs typeface="Courier New" pitchFamily="49" charset="0"/>
              </a:rPr>
              <a:t>;</a:t>
            </a:r>
          </a:p>
          <a:p>
            <a:pPr marL="0" indent="0">
              <a:spcBef>
                <a:spcPts val="0"/>
              </a:spcBef>
              <a:buNone/>
            </a:pPr>
            <a:r>
              <a:rPr lang="en-US" sz="1500" dirty="0">
                <a:latin typeface="Courier New" pitchFamily="49" charset="0"/>
                <a:cs typeface="Courier New" pitchFamily="49" charset="0"/>
              </a:rPr>
              <a:t>            </a:t>
            </a:r>
            <a:r>
              <a:rPr lang="en-US" sz="1500" dirty="0" err="1">
                <a:latin typeface="Courier New" pitchFamily="49" charset="0"/>
                <a:cs typeface="Courier New" pitchFamily="49" charset="0"/>
              </a:rPr>
              <a:t>Console.Write</a:t>
            </a:r>
            <a:r>
              <a:rPr lang="en-US" sz="1500" dirty="0">
                <a:latin typeface="Courier New" pitchFamily="49" charset="0"/>
                <a:cs typeface="Courier New" pitchFamily="49" charset="0"/>
              </a:rPr>
              <a:t>("</a:t>
            </a:r>
            <a:r>
              <a:rPr lang="en-US" sz="1500" dirty="0" err="1">
                <a:latin typeface="Courier New" pitchFamily="49" charset="0"/>
                <a:cs typeface="Courier New" pitchFamily="49" charset="0"/>
              </a:rPr>
              <a:t>Nhap</a:t>
            </a:r>
            <a:r>
              <a:rPr lang="en-US" sz="1500" dirty="0">
                <a:latin typeface="Courier New" pitchFamily="49" charset="0"/>
                <a:cs typeface="Courier New" pitchFamily="49" charset="0"/>
              </a:rPr>
              <a:t> </a:t>
            </a:r>
            <a:r>
              <a:rPr lang="en-US" sz="1500" dirty="0" err="1">
                <a:latin typeface="Courier New" pitchFamily="49" charset="0"/>
                <a:cs typeface="Courier New" pitchFamily="49" charset="0"/>
              </a:rPr>
              <a:t>tu</a:t>
            </a:r>
            <a:r>
              <a:rPr lang="en-US" sz="1500" dirty="0">
                <a:latin typeface="Courier New" pitchFamily="49" charset="0"/>
                <a:cs typeface="Courier New" pitchFamily="49" charset="0"/>
              </a:rPr>
              <a:t> so: ");</a:t>
            </a:r>
          </a:p>
          <a:p>
            <a:pPr marL="0" indent="0">
              <a:spcBef>
                <a:spcPts val="0"/>
              </a:spcBef>
              <a:buNone/>
            </a:pPr>
            <a:r>
              <a:rPr lang="en-US" sz="1500" dirty="0">
                <a:latin typeface="Courier New" pitchFamily="49" charset="0"/>
                <a:cs typeface="Courier New" pitchFamily="49" charset="0"/>
              </a:rPr>
              <a:t>            </a:t>
            </a:r>
            <a:r>
              <a:rPr lang="en-US" sz="1500" dirty="0" err="1">
                <a:latin typeface="Courier New" pitchFamily="49" charset="0"/>
                <a:cs typeface="Courier New" pitchFamily="49" charset="0"/>
              </a:rPr>
              <a:t>ts</a:t>
            </a:r>
            <a:r>
              <a:rPr lang="en-US" sz="1500" dirty="0">
                <a:latin typeface="Courier New" pitchFamily="49" charset="0"/>
                <a:cs typeface="Courier New" pitchFamily="49" charset="0"/>
              </a:rPr>
              <a:t> = </a:t>
            </a:r>
            <a:r>
              <a:rPr lang="en-US" sz="1500" dirty="0" err="1">
                <a:latin typeface="Courier New" pitchFamily="49" charset="0"/>
                <a:cs typeface="Courier New" pitchFamily="49" charset="0"/>
              </a:rPr>
              <a:t>int.Parse</a:t>
            </a:r>
            <a:r>
              <a:rPr lang="en-US" sz="1500" dirty="0">
                <a:latin typeface="Courier New" pitchFamily="49" charset="0"/>
                <a:cs typeface="Courier New" pitchFamily="49" charset="0"/>
              </a:rPr>
              <a:t>(</a:t>
            </a:r>
            <a:r>
              <a:rPr lang="en-US" sz="1500" dirty="0" err="1">
                <a:latin typeface="Courier New" pitchFamily="49" charset="0"/>
                <a:cs typeface="Courier New" pitchFamily="49" charset="0"/>
              </a:rPr>
              <a:t>Console.ReadLine</a:t>
            </a:r>
            <a:r>
              <a:rPr lang="en-US" sz="1500" dirty="0">
                <a:latin typeface="Courier New" pitchFamily="49" charset="0"/>
                <a:cs typeface="Courier New" pitchFamily="49" charset="0"/>
              </a:rPr>
              <a:t>());</a:t>
            </a:r>
          </a:p>
          <a:p>
            <a:pPr marL="0" indent="0">
              <a:spcBef>
                <a:spcPts val="0"/>
              </a:spcBef>
              <a:buNone/>
            </a:pPr>
            <a:r>
              <a:rPr lang="en-US" sz="1500" dirty="0">
                <a:latin typeface="Courier New" pitchFamily="49" charset="0"/>
                <a:cs typeface="Courier New" pitchFamily="49" charset="0"/>
              </a:rPr>
              <a:t>            </a:t>
            </a:r>
            <a:r>
              <a:rPr lang="en-US" sz="1500" dirty="0" err="1">
                <a:latin typeface="Courier New" pitchFamily="49" charset="0"/>
                <a:cs typeface="Courier New" pitchFamily="49" charset="0"/>
              </a:rPr>
              <a:t>Console.Write</a:t>
            </a:r>
            <a:r>
              <a:rPr lang="en-US" sz="1500" dirty="0">
                <a:latin typeface="Courier New" pitchFamily="49" charset="0"/>
                <a:cs typeface="Courier New" pitchFamily="49" charset="0"/>
              </a:rPr>
              <a:t>("</a:t>
            </a:r>
            <a:r>
              <a:rPr lang="en-US" sz="1500" dirty="0" err="1">
                <a:latin typeface="Courier New" pitchFamily="49" charset="0"/>
                <a:cs typeface="Courier New" pitchFamily="49" charset="0"/>
              </a:rPr>
              <a:t>Nhap</a:t>
            </a:r>
            <a:r>
              <a:rPr lang="en-US" sz="1500" dirty="0">
                <a:latin typeface="Courier New" pitchFamily="49" charset="0"/>
                <a:cs typeface="Courier New" pitchFamily="49" charset="0"/>
              </a:rPr>
              <a:t> </a:t>
            </a:r>
            <a:r>
              <a:rPr lang="en-US" sz="1500" dirty="0" err="1">
                <a:latin typeface="Courier New" pitchFamily="49" charset="0"/>
                <a:cs typeface="Courier New" pitchFamily="49" charset="0"/>
              </a:rPr>
              <a:t>mau</a:t>
            </a:r>
            <a:r>
              <a:rPr lang="en-US" sz="1500" dirty="0">
                <a:latin typeface="Courier New" pitchFamily="49" charset="0"/>
                <a:cs typeface="Courier New" pitchFamily="49" charset="0"/>
              </a:rPr>
              <a:t> so: ");</a:t>
            </a:r>
          </a:p>
          <a:p>
            <a:pPr marL="0" indent="0">
              <a:spcBef>
                <a:spcPts val="0"/>
              </a:spcBef>
              <a:buNone/>
            </a:pPr>
            <a:r>
              <a:rPr lang="en-US" sz="1500" dirty="0">
                <a:latin typeface="Courier New" pitchFamily="49" charset="0"/>
                <a:cs typeface="Courier New" pitchFamily="49" charset="0"/>
              </a:rPr>
              <a:t>            </a:t>
            </a:r>
            <a:r>
              <a:rPr lang="en-US" sz="1500" dirty="0" err="1">
                <a:latin typeface="Courier New" pitchFamily="49" charset="0"/>
                <a:cs typeface="Courier New" pitchFamily="49" charset="0"/>
              </a:rPr>
              <a:t>ms</a:t>
            </a:r>
            <a:r>
              <a:rPr lang="en-US" sz="1500" dirty="0">
                <a:latin typeface="Courier New" pitchFamily="49" charset="0"/>
                <a:cs typeface="Courier New" pitchFamily="49" charset="0"/>
              </a:rPr>
              <a:t> = </a:t>
            </a:r>
            <a:r>
              <a:rPr lang="en-US" sz="1500" dirty="0" err="1">
                <a:latin typeface="Courier New" pitchFamily="49" charset="0"/>
                <a:cs typeface="Courier New" pitchFamily="49" charset="0"/>
              </a:rPr>
              <a:t>int.Parse</a:t>
            </a:r>
            <a:r>
              <a:rPr lang="en-US" sz="1500" dirty="0">
                <a:latin typeface="Courier New" pitchFamily="49" charset="0"/>
                <a:cs typeface="Courier New" pitchFamily="49" charset="0"/>
              </a:rPr>
              <a:t>(</a:t>
            </a:r>
            <a:r>
              <a:rPr lang="en-US" sz="1500" dirty="0" err="1">
                <a:latin typeface="Courier New" pitchFamily="49" charset="0"/>
                <a:cs typeface="Courier New" pitchFamily="49" charset="0"/>
              </a:rPr>
              <a:t>Console.ReadLine</a:t>
            </a:r>
            <a:r>
              <a:rPr lang="en-US" sz="1500" dirty="0">
                <a:latin typeface="Courier New" pitchFamily="49" charset="0"/>
                <a:cs typeface="Courier New" pitchFamily="49" charset="0"/>
              </a:rPr>
              <a:t>());</a:t>
            </a:r>
          </a:p>
          <a:p>
            <a:pPr marL="0" indent="0">
              <a:spcBef>
                <a:spcPts val="0"/>
              </a:spcBef>
              <a:buNone/>
            </a:pPr>
            <a:r>
              <a:rPr lang="en-US" sz="1500" dirty="0">
                <a:latin typeface="Courier New" pitchFamily="49" charset="0"/>
                <a:cs typeface="Courier New" pitchFamily="49" charset="0"/>
              </a:rPr>
              <a:t>            </a:t>
            </a:r>
            <a:r>
              <a:rPr lang="en-US" sz="1500" b="1" dirty="0" err="1">
                <a:solidFill>
                  <a:srgbClr val="0000FF"/>
                </a:solidFill>
                <a:latin typeface="Courier New" pitchFamily="49" charset="0"/>
                <a:cs typeface="Courier New" pitchFamily="49" charset="0"/>
              </a:rPr>
              <a:t>PhanSo</a:t>
            </a:r>
            <a:r>
              <a:rPr lang="en-US" sz="1500" dirty="0">
                <a:latin typeface="Courier New" pitchFamily="49" charset="0"/>
                <a:cs typeface="Courier New" pitchFamily="49" charset="0"/>
              </a:rPr>
              <a:t> </a:t>
            </a:r>
            <a:r>
              <a:rPr lang="en-US" sz="1500" b="1" dirty="0">
                <a:solidFill>
                  <a:srgbClr val="FF0000"/>
                </a:solidFill>
                <a:latin typeface="Courier New" pitchFamily="49" charset="0"/>
                <a:cs typeface="Courier New" pitchFamily="49" charset="0"/>
              </a:rPr>
              <a:t>p3</a:t>
            </a:r>
            <a:r>
              <a:rPr lang="en-US" sz="1500" dirty="0">
                <a:latin typeface="Courier New" pitchFamily="49" charset="0"/>
                <a:cs typeface="Courier New" pitchFamily="49" charset="0"/>
              </a:rPr>
              <a:t> = </a:t>
            </a:r>
            <a:r>
              <a:rPr lang="en-US" sz="1500" b="1" dirty="0">
                <a:solidFill>
                  <a:srgbClr val="0000FF"/>
                </a:solidFill>
                <a:latin typeface="Courier New" pitchFamily="49" charset="0"/>
                <a:cs typeface="Courier New" pitchFamily="49" charset="0"/>
              </a:rPr>
              <a:t>new</a:t>
            </a:r>
            <a:r>
              <a:rPr lang="en-US" sz="1500" dirty="0">
                <a:latin typeface="Courier New" pitchFamily="49" charset="0"/>
                <a:cs typeface="Courier New" pitchFamily="49" charset="0"/>
              </a:rPr>
              <a:t> </a:t>
            </a:r>
            <a:r>
              <a:rPr lang="en-US" sz="1500" b="1" dirty="0" err="1">
                <a:solidFill>
                  <a:srgbClr val="0000FF"/>
                </a:solidFill>
                <a:latin typeface="Courier New" pitchFamily="49" charset="0"/>
                <a:cs typeface="Courier New" pitchFamily="49" charset="0"/>
              </a:rPr>
              <a:t>PhanSo</a:t>
            </a:r>
            <a:r>
              <a:rPr lang="en-US" sz="1500" b="1" dirty="0">
                <a:solidFill>
                  <a:srgbClr val="0000FF"/>
                </a:solidFill>
                <a:latin typeface="Courier New" pitchFamily="49" charset="0"/>
                <a:cs typeface="Courier New" pitchFamily="49" charset="0"/>
              </a:rPr>
              <a:t>(</a:t>
            </a:r>
            <a:r>
              <a:rPr lang="en-US" sz="1500" b="1" dirty="0" err="1">
                <a:solidFill>
                  <a:srgbClr val="0000FF"/>
                </a:solidFill>
                <a:latin typeface="Courier New" pitchFamily="49" charset="0"/>
                <a:cs typeface="Courier New" pitchFamily="49" charset="0"/>
              </a:rPr>
              <a:t>ts</a:t>
            </a:r>
            <a:r>
              <a:rPr lang="en-US" sz="1500" dirty="0">
                <a:latin typeface="Courier New" pitchFamily="49" charset="0"/>
                <a:cs typeface="Courier New" pitchFamily="49" charset="0"/>
              </a:rPr>
              <a:t>, </a:t>
            </a:r>
            <a:r>
              <a:rPr lang="en-US" sz="1500" dirty="0" err="1">
                <a:latin typeface="Courier New" pitchFamily="49" charset="0"/>
                <a:cs typeface="Courier New" pitchFamily="49" charset="0"/>
              </a:rPr>
              <a:t>ms</a:t>
            </a:r>
            <a:r>
              <a:rPr lang="en-US" sz="1500" dirty="0">
                <a:latin typeface="Courier New" pitchFamily="49" charset="0"/>
                <a:cs typeface="Courier New" pitchFamily="49" charset="0"/>
              </a:rPr>
              <a:t>);</a:t>
            </a:r>
          </a:p>
          <a:p>
            <a:pPr marL="0" indent="0">
              <a:spcBef>
                <a:spcPts val="0"/>
              </a:spcBef>
              <a:buNone/>
            </a:pPr>
            <a:r>
              <a:rPr lang="en-US" sz="1500" dirty="0">
                <a:latin typeface="Courier New" pitchFamily="49" charset="0"/>
                <a:cs typeface="Courier New" pitchFamily="49" charset="0"/>
              </a:rPr>
              <a:t>            </a:t>
            </a:r>
            <a:r>
              <a:rPr lang="en-US" sz="1500" dirty="0" err="1">
                <a:latin typeface="Courier New" pitchFamily="49" charset="0"/>
                <a:cs typeface="Courier New" pitchFamily="49" charset="0"/>
              </a:rPr>
              <a:t>Console.Write</a:t>
            </a:r>
            <a:r>
              <a:rPr lang="en-US" sz="1500" dirty="0">
                <a:latin typeface="Courier New" pitchFamily="49" charset="0"/>
                <a:cs typeface="Courier New" pitchFamily="49" charset="0"/>
              </a:rPr>
              <a:t>("Phan so p3 = ");</a:t>
            </a:r>
          </a:p>
          <a:p>
            <a:pPr marL="0" indent="0">
              <a:spcBef>
                <a:spcPts val="0"/>
              </a:spcBef>
              <a:buNone/>
            </a:pPr>
            <a:r>
              <a:rPr lang="en-US" sz="1500" dirty="0">
                <a:latin typeface="Courier New" pitchFamily="49" charset="0"/>
                <a:cs typeface="Courier New" pitchFamily="49" charset="0"/>
              </a:rPr>
              <a:t>            p3.InPhanSo();</a:t>
            </a:r>
          </a:p>
          <a:p>
            <a:pPr marL="0" indent="0">
              <a:spcBef>
                <a:spcPts val="0"/>
              </a:spcBef>
              <a:buNone/>
            </a:pPr>
            <a:r>
              <a:rPr lang="en-US" sz="1500" dirty="0">
                <a:latin typeface="Courier New" pitchFamily="49" charset="0"/>
                <a:cs typeface="Courier New" pitchFamily="49" charset="0"/>
              </a:rPr>
              <a:t>            </a:t>
            </a:r>
            <a:r>
              <a:rPr lang="en-US" sz="1500" b="1" dirty="0">
                <a:solidFill>
                  <a:srgbClr val="00B050"/>
                </a:solidFill>
                <a:latin typeface="Courier New" pitchFamily="49" charset="0"/>
                <a:cs typeface="Courier New" pitchFamily="49" charset="0"/>
              </a:rPr>
              <a:t>//p1=p2+p3</a:t>
            </a:r>
          </a:p>
          <a:p>
            <a:pPr marL="0" indent="0">
              <a:spcBef>
                <a:spcPts val="0"/>
              </a:spcBef>
              <a:buNone/>
            </a:pPr>
            <a:r>
              <a:rPr lang="en-US" sz="1500" dirty="0">
                <a:latin typeface="Courier New" pitchFamily="49" charset="0"/>
                <a:cs typeface="Courier New" pitchFamily="49" charset="0"/>
              </a:rPr>
              <a:t>            p1 = </a:t>
            </a:r>
            <a:r>
              <a:rPr lang="en-US" sz="1500" b="1" dirty="0" err="1">
                <a:solidFill>
                  <a:srgbClr val="0000FF"/>
                </a:solidFill>
                <a:latin typeface="Courier New" pitchFamily="49" charset="0"/>
                <a:cs typeface="Courier New" pitchFamily="49" charset="0"/>
              </a:rPr>
              <a:t>PhanSo</a:t>
            </a:r>
            <a:r>
              <a:rPr lang="en-US" sz="1500" dirty="0" err="1">
                <a:latin typeface="Courier New" pitchFamily="49" charset="0"/>
                <a:cs typeface="Courier New" pitchFamily="49" charset="0"/>
              </a:rPr>
              <a:t>.Cong</a:t>
            </a:r>
            <a:r>
              <a:rPr lang="en-US" sz="1500" dirty="0">
                <a:latin typeface="Courier New" pitchFamily="49" charset="0"/>
                <a:cs typeface="Courier New" pitchFamily="49" charset="0"/>
              </a:rPr>
              <a:t>(p2,p3);</a:t>
            </a:r>
          </a:p>
          <a:p>
            <a:pPr marL="0" indent="0">
              <a:spcBef>
                <a:spcPts val="0"/>
              </a:spcBef>
              <a:buNone/>
            </a:pPr>
            <a:r>
              <a:rPr lang="en-US" sz="1500" dirty="0">
                <a:latin typeface="Courier New" pitchFamily="49" charset="0"/>
                <a:cs typeface="Courier New" pitchFamily="49" charset="0"/>
              </a:rPr>
              <a:t>            </a:t>
            </a:r>
            <a:r>
              <a:rPr lang="en-US" sz="1500" dirty="0" err="1">
                <a:latin typeface="Courier New" pitchFamily="49" charset="0"/>
                <a:cs typeface="Courier New" pitchFamily="49" charset="0"/>
              </a:rPr>
              <a:t>Console.Write</a:t>
            </a:r>
            <a:r>
              <a:rPr lang="en-US" sz="1500" dirty="0">
                <a:latin typeface="Courier New" pitchFamily="49" charset="0"/>
                <a:cs typeface="Courier New" pitchFamily="49" charset="0"/>
              </a:rPr>
              <a:t>("Phan so p1 = p2 + p3 = ");</a:t>
            </a:r>
          </a:p>
          <a:p>
            <a:pPr marL="0" indent="0">
              <a:spcBef>
                <a:spcPts val="0"/>
              </a:spcBef>
              <a:buNone/>
            </a:pPr>
            <a:r>
              <a:rPr lang="en-US" sz="1500" dirty="0">
                <a:latin typeface="Courier New" pitchFamily="49" charset="0"/>
                <a:cs typeface="Courier New" pitchFamily="49" charset="0"/>
              </a:rPr>
              <a:t>            p1.InPhanSo();</a:t>
            </a:r>
          </a:p>
          <a:p>
            <a:pPr marL="0" indent="0">
              <a:spcBef>
                <a:spcPts val="0"/>
              </a:spcBef>
              <a:buNone/>
            </a:pPr>
            <a:r>
              <a:rPr lang="en-US" sz="1500" dirty="0">
                <a:latin typeface="Courier New" pitchFamily="49" charset="0"/>
                <a:cs typeface="Courier New" pitchFamily="49" charset="0"/>
              </a:rPr>
              <a:t>            </a:t>
            </a:r>
            <a:r>
              <a:rPr lang="en-US" sz="1500" dirty="0" err="1">
                <a:latin typeface="Courier New" pitchFamily="49" charset="0"/>
                <a:cs typeface="Courier New" pitchFamily="49" charset="0"/>
              </a:rPr>
              <a:t>Console.ReadLine</a:t>
            </a:r>
            <a:r>
              <a:rPr lang="en-US" sz="1500" dirty="0">
                <a:latin typeface="Courier New" pitchFamily="49" charset="0"/>
                <a:cs typeface="Courier New" pitchFamily="49" charset="0"/>
              </a:rPr>
              <a:t>();</a:t>
            </a:r>
          </a:p>
          <a:p>
            <a:pPr marL="0" indent="0">
              <a:spcBef>
                <a:spcPts val="0"/>
              </a:spcBef>
              <a:buNone/>
            </a:pPr>
            <a:r>
              <a:rPr lang="en-US" sz="1500" dirty="0">
                <a:latin typeface="Courier New" pitchFamily="49" charset="0"/>
                <a:cs typeface="Courier New" pitchFamily="49" charset="0"/>
              </a:rPr>
              <a:t>        }</a:t>
            </a:r>
          </a:p>
        </p:txBody>
      </p:sp>
      <p:sp>
        <p:nvSpPr>
          <p:cNvPr id="4" name="Date Placeholder 3"/>
          <p:cNvSpPr>
            <a:spLocks noGrp="1"/>
          </p:cNvSpPr>
          <p:nvPr>
            <p:ph type="dt" sz="half" idx="10"/>
          </p:nvPr>
        </p:nvSpPr>
        <p:spPr/>
        <p:txBody>
          <a:bodyPr/>
          <a:lstStyle/>
          <a:p>
            <a:fld id="{9583D572-BDC5-4F69-866B-9CFBC5FB3298}" type="datetime1">
              <a:rPr lang="vi-VN" smtClean="0"/>
              <a:t>04/02/2025</a:t>
            </a:fld>
            <a:endParaRPr lang="vi-VN"/>
          </a:p>
        </p:txBody>
      </p:sp>
      <p:sp>
        <p:nvSpPr>
          <p:cNvPr id="5" name="Footer Placeholder 4"/>
          <p:cNvSpPr>
            <a:spLocks noGrp="1"/>
          </p:cNvSpPr>
          <p:nvPr>
            <p:ph type="ftr" sz="quarter" idx="11"/>
          </p:nvPr>
        </p:nvSpPr>
        <p:spPr/>
        <p:txBody>
          <a:bodyPr/>
          <a:lstStyle/>
          <a:p>
            <a:r>
              <a:rPr lang="vi-VN"/>
              <a:t>Chương 3. Lập trình hướng đối tượng trong C#</a:t>
            </a:r>
          </a:p>
        </p:txBody>
      </p:sp>
      <p:sp>
        <p:nvSpPr>
          <p:cNvPr id="8" name="Slide Number Placeholder 7"/>
          <p:cNvSpPr>
            <a:spLocks noGrp="1"/>
          </p:cNvSpPr>
          <p:nvPr>
            <p:ph type="sldNum" sz="quarter" idx="12"/>
          </p:nvPr>
        </p:nvSpPr>
        <p:spPr/>
        <p:txBody>
          <a:bodyPr/>
          <a:lstStyle/>
          <a:p>
            <a:fld id="{5AB95402-1E0D-474E-8D8C-CBE7F053639E}" type="slidenum">
              <a:rPr lang="vi-VN" smtClean="0"/>
              <a:pPr/>
              <a:t>66</a:t>
            </a:fld>
            <a:r>
              <a:rPr lang="vi-VN"/>
              <a:t>/33</a:t>
            </a:r>
          </a:p>
        </p:txBody>
      </p:sp>
    </p:spTree>
    <p:extLst>
      <p:ext uri="{BB962C8B-B14F-4D97-AF65-F5344CB8AC3E}">
        <p14:creationId xmlns:p14="http://schemas.microsoft.com/office/powerpoint/2010/main" val="4188471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t>3.2.</a:t>
            </a:r>
            <a:r>
              <a:rPr lang="en-US" sz="2400" dirty="0"/>
              <a:t>3</a:t>
            </a:r>
            <a:r>
              <a:rPr lang="en-US" sz="2400">
                <a:uFillTx/>
              </a:rPr>
              <a:t>. </a:t>
            </a:r>
            <a:r>
              <a:rPr lang="en-US" sz="2400" dirty="0" err="1">
                <a:uFillTx/>
              </a:rPr>
              <a:t>Đóng</a:t>
            </a:r>
            <a:r>
              <a:rPr lang="en-US" sz="2400" dirty="0">
                <a:uFillTx/>
              </a:rPr>
              <a:t> </a:t>
            </a:r>
            <a:r>
              <a:rPr lang="en-US" sz="2400" dirty="0" err="1">
                <a:uFillTx/>
              </a:rPr>
              <a:t>gói</a:t>
            </a:r>
            <a:r>
              <a:rPr lang="en-US" sz="2400" dirty="0">
                <a:uFillTx/>
              </a:rPr>
              <a:t> </a:t>
            </a:r>
            <a:r>
              <a:rPr lang="en-US" sz="2400" dirty="0" err="1">
                <a:uFillTx/>
              </a:rPr>
              <a:t>dữ</a:t>
            </a:r>
            <a:r>
              <a:rPr lang="en-US" sz="2400" dirty="0">
                <a:uFillTx/>
              </a:rPr>
              <a:t> </a:t>
            </a:r>
            <a:r>
              <a:rPr lang="en-US" sz="2400" dirty="0" err="1">
                <a:uFillTx/>
              </a:rPr>
              <a:t>liệu</a:t>
            </a:r>
            <a:r>
              <a:rPr lang="en-US" sz="2400" dirty="0">
                <a:uFillTx/>
              </a:rPr>
              <a:t> </a:t>
            </a:r>
            <a:r>
              <a:rPr lang="en-US" sz="2400" dirty="0" err="1">
                <a:uFillTx/>
              </a:rPr>
              <a:t>với</a:t>
            </a:r>
            <a:r>
              <a:rPr lang="en-US" sz="2400" dirty="0">
                <a:uFillTx/>
              </a:rPr>
              <a:t> </a:t>
            </a:r>
            <a:r>
              <a:rPr lang="en-US" sz="2400" dirty="0" err="1">
                <a:uFillTx/>
              </a:rPr>
              <a:t>thuộc</a:t>
            </a:r>
            <a:r>
              <a:rPr lang="en-US" sz="2400" dirty="0">
                <a:uFillTx/>
              </a:rPr>
              <a:t> </a:t>
            </a:r>
            <a:r>
              <a:rPr lang="en-US" sz="2400" dirty="0" err="1">
                <a:uFillTx/>
              </a:rPr>
              <a:t>tính</a:t>
            </a:r>
            <a:r>
              <a:rPr lang="en-US" sz="2400" dirty="0">
                <a:uFillTx/>
              </a:rPr>
              <a:t> (property)</a:t>
            </a:r>
          </a:p>
        </p:txBody>
      </p:sp>
      <p:sp>
        <p:nvSpPr>
          <p:cNvPr id="4" name="Date Placeholder 3"/>
          <p:cNvSpPr>
            <a:spLocks noGrp="1"/>
          </p:cNvSpPr>
          <p:nvPr>
            <p:ph type="dt" sz="half" idx="10"/>
          </p:nvPr>
        </p:nvSpPr>
        <p:spPr/>
        <p:txBody>
          <a:bodyPr/>
          <a:lstStyle/>
          <a:p>
            <a:fld id="{BCF40E6E-8837-4462-B37C-34E71261D819}" type="datetime1">
              <a:rPr lang="vi-VN" smtClean="0">
                <a:uFillTx/>
              </a:rPr>
              <a:t>04/02/2025</a:t>
            </a:fld>
            <a:endParaRPr lang="vi-VN" dirty="0">
              <a:uFillTx/>
            </a:endParaRPr>
          </a:p>
        </p:txBody>
      </p:sp>
      <p:sp>
        <p:nvSpPr>
          <p:cNvPr id="5" name="Footer Placeholder 4"/>
          <p:cNvSpPr>
            <a:spLocks noGrp="1"/>
          </p:cNvSpPr>
          <p:nvPr>
            <p:ph type="ftr" sz="quarter" idx="11"/>
          </p:nvPr>
        </p:nvSpPr>
        <p:spPr/>
        <p:txBody>
          <a:bodyPr/>
          <a:lstStyle/>
          <a:p>
            <a:r>
              <a:rPr lang="vi-VN" dirty="0">
                <a:uFillTx/>
              </a:rPr>
              <a:t>Chương 3. Lập trình hướng đối tượng trong C#</a:t>
            </a:r>
          </a:p>
        </p:txBody>
      </p:sp>
      <p:sp>
        <p:nvSpPr>
          <p:cNvPr id="7" name="Slide Number Placeholder 6"/>
          <p:cNvSpPr>
            <a:spLocks noGrp="1"/>
          </p:cNvSpPr>
          <p:nvPr>
            <p:ph type="sldNum" sz="quarter" idx="12"/>
          </p:nvPr>
        </p:nvSpPr>
        <p:spPr/>
        <p:txBody>
          <a:bodyPr/>
          <a:lstStyle/>
          <a:p>
            <a:fld id="{5AB95402-1E0D-474E-8D8C-CBE7F053639E}" type="slidenum">
              <a:rPr lang="vi-VN" smtClean="0">
                <a:uFillTx/>
              </a:rPr>
              <a:pPr/>
              <a:t>67</a:t>
            </a:fld>
            <a:r>
              <a:rPr lang="vi-VN">
                <a:uFillTx/>
              </a:rPr>
              <a:t>/38</a:t>
            </a:r>
          </a:p>
        </p:txBody>
      </p:sp>
      <p:pic>
        <p:nvPicPr>
          <p:cNvPr id="6" name="Picture 5">
            <a:extLst>
              <a:ext uri="{FF2B5EF4-FFF2-40B4-BE49-F238E27FC236}">
                <a16:creationId xmlns:a16="http://schemas.microsoft.com/office/drawing/2014/main" id="{CC33092D-58DD-44CC-91EE-FFA9DB330216}"/>
              </a:ext>
            </a:extLst>
          </p:cNvPr>
          <p:cNvPicPr>
            <a:picLocks noChangeAspect="1"/>
          </p:cNvPicPr>
          <p:nvPr/>
        </p:nvPicPr>
        <p:blipFill>
          <a:blip r:embed="rId3"/>
          <a:stretch>
            <a:fillRect/>
          </a:stretch>
        </p:blipFill>
        <p:spPr>
          <a:xfrm>
            <a:off x="1503066" y="1124745"/>
            <a:ext cx="5733230" cy="5184576"/>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598F451-4840-4FFD-8912-833D774E48F6}"/>
              </a:ext>
            </a:extLst>
          </p:cNvPr>
          <p:cNvSpPr>
            <a:spLocks noGrp="1"/>
          </p:cNvSpPr>
          <p:nvPr>
            <p:ph type="dt" sz="half" idx="10"/>
          </p:nvPr>
        </p:nvSpPr>
        <p:spPr/>
        <p:txBody>
          <a:bodyPr/>
          <a:lstStyle/>
          <a:p>
            <a:fld id="{1FCC884B-1AA7-4469-B526-594A4B1341A0}" type="datetime1">
              <a:rPr lang="vi-VN" smtClean="0">
                <a:uFillTx/>
              </a:rPr>
              <a:t>04/02/2025</a:t>
            </a:fld>
            <a:endParaRPr lang="vi-VN">
              <a:uFillTx/>
            </a:endParaRPr>
          </a:p>
        </p:txBody>
      </p:sp>
      <p:sp>
        <p:nvSpPr>
          <p:cNvPr id="5" name="Footer Placeholder 4">
            <a:extLst>
              <a:ext uri="{FF2B5EF4-FFF2-40B4-BE49-F238E27FC236}">
                <a16:creationId xmlns:a16="http://schemas.microsoft.com/office/drawing/2014/main" id="{0204232F-456A-4110-80FC-B48D35780BC7}"/>
              </a:ext>
            </a:extLst>
          </p:cNvPr>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a:extLst>
              <a:ext uri="{FF2B5EF4-FFF2-40B4-BE49-F238E27FC236}">
                <a16:creationId xmlns:a16="http://schemas.microsoft.com/office/drawing/2014/main" id="{AE070D01-29F9-4D39-9314-479C5F659A20}"/>
              </a:ext>
            </a:extLst>
          </p:cNvPr>
          <p:cNvSpPr>
            <a:spLocks noGrp="1"/>
          </p:cNvSpPr>
          <p:nvPr>
            <p:ph type="sldNum" sz="quarter" idx="12"/>
          </p:nvPr>
        </p:nvSpPr>
        <p:spPr/>
        <p:txBody>
          <a:bodyPr/>
          <a:lstStyle/>
          <a:p>
            <a:fld id="{5AB95402-1E0D-474E-8D8C-CBE7F053639E}" type="slidenum">
              <a:rPr lang="vi-VN" smtClean="0">
                <a:uFillTx/>
              </a:rPr>
              <a:pPr/>
              <a:t>68</a:t>
            </a:fld>
            <a:r>
              <a:rPr lang="vi-VN">
                <a:uFillTx/>
              </a:rPr>
              <a:t>/28</a:t>
            </a:r>
          </a:p>
        </p:txBody>
      </p:sp>
      <p:pic>
        <p:nvPicPr>
          <p:cNvPr id="10" name="Picture 9">
            <a:extLst>
              <a:ext uri="{FF2B5EF4-FFF2-40B4-BE49-F238E27FC236}">
                <a16:creationId xmlns:a16="http://schemas.microsoft.com/office/drawing/2014/main" id="{F5490C56-E427-4B8C-93FE-795BCFE5F2E7}"/>
              </a:ext>
            </a:extLst>
          </p:cNvPr>
          <p:cNvPicPr>
            <a:picLocks noChangeAspect="1"/>
          </p:cNvPicPr>
          <p:nvPr/>
        </p:nvPicPr>
        <p:blipFill>
          <a:blip r:embed="rId3"/>
          <a:stretch>
            <a:fillRect/>
          </a:stretch>
        </p:blipFill>
        <p:spPr>
          <a:xfrm>
            <a:off x="1373372" y="990600"/>
            <a:ext cx="5430876" cy="5282899"/>
          </a:xfrm>
          <a:prstGeom prst="rect">
            <a:avLst/>
          </a:prstGeom>
        </p:spPr>
      </p:pic>
      <p:sp>
        <p:nvSpPr>
          <p:cNvPr id="9" name="Title 1">
            <a:extLst>
              <a:ext uri="{FF2B5EF4-FFF2-40B4-BE49-F238E27FC236}">
                <a16:creationId xmlns:a16="http://schemas.microsoft.com/office/drawing/2014/main" id="{412105D8-B88B-4BBF-A7A0-20914CDB78D4}"/>
              </a:ext>
            </a:extLst>
          </p:cNvPr>
          <p:cNvSpPr>
            <a:spLocks noGrp="1"/>
          </p:cNvSpPr>
          <p:nvPr>
            <p:ph type="title"/>
          </p:nvPr>
        </p:nvSpPr>
        <p:spPr>
          <a:xfrm>
            <a:off x="971600" y="381000"/>
            <a:ext cx="7488832" cy="685800"/>
          </a:xfrm>
        </p:spPr>
        <p:txBody>
          <a:bodyPr/>
          <a:lstStyle/>
          <a:p>
            <a:r>
              <a:rPr lang="en-US" sz="2400"/>
              <a:t>3.2.</a:t>
            </a:r>
            <a:r>
              <a:rPr lang="en-US" sz="2400" dirty="0"/>
              <a:t>3</a:t>
            </a:r>
            <a:r>
              <a:rPr lang="en-US" sz="2400">
                <a:uFillTx/>
              </a:rPr>
              <a:t>. </a:t>
            </a:r>
            <a:r>
              <a:rPr lang="en-US" sz="2400" dirty="0" err="1">
                <a:uFillTx/>
              </a:rPr>
              <a:t>Đóng</a:t>
            </a:r>
            <a:r>
              <a:rPr lang="en-US" sz="2400" dirty="0">
                <a:uFillTx/>
              </a:rPr>
              <a:t> </a:t>
            </a:r>
            <a:r>
              <a:rPr lang="en-US" sz="2400" dirty="0" err="1">
                <a:uFillTx/>
              </a:rPr>
              <a:t>gói</a:t>
            </a:r>
            <a:r>
              <a:rPr lang="en-US" sz="2400" dirty="0">
                <a:uFillTx/>
              </a:rPr>
              <a:t> </a:t>
            </a:r>
            <a:r>
              <a:rPr lang="en-US" sz="2400" dirty="0" err="1">
                <a:uFillTx/>
              </a:rPr>
              <a:t>dữ</a:t>
            </a:r>
            <a:r>
              <a:rPr lang="en-US" sz="2400" dirty="0">
                <a:uFillTx/>
              </a:rPr>
              <a:t> </a:t>
            </a:r>
            <a:r>
              <a:rPr lang="en-US" sz="2400" dirty="0" err="1">
                <a:uFillTx/>
              </a:rPr>
              <a:t>liệu</a:t>
            </a:r>
            <a:r>
              <a:rPr lang="en-US" sz="2400" dirty="0">
                <a:uFillTx/>
              </a:rPr>
              <a:t> </a:t>
            </a:r>
            <a:r>
              <a:rPr lang="en-US" sz="2400" dirty="0" err="1">
                <a:uFillTx/>
              </a:rPr>
              <a:t>với</a:t>
            </a:r>
            <a:r>
              <a:rPr lang="en-US" sz="2400" dirty="0">
                <a:uFillTx/>
              </a:rPr>
              <a:t> </a:t>
            </a:r>
            <a:r>
              <a:rPr lang="en-US" sz="2400" dirty="0" err="1">
                <a:uFillTx/>
              </a:rPr>
              <a:t>thuộc</a:t>
            </a:r>
            <a:r>
              <a:rPr lang="en-US" sz="2400" dirty="0">
                <a:uFillTx/>
              </a:rPr>
              <a:t> </a:t>
            </a:r>
            <a:r>
              <a:rPr lang="en-US" sz="2400" dirty="0" err="1">
                <a:uFillTx/>
              </a:rPr>
              <a:t>tính</a:t>
            </a:r>
            <a:r>
              <a:rPr lang="en-US" sz="2400" dirty="0">
                <a:uFillTx/>
              </a:rPr>
              <a:t> (property)</a:t>
            </a:r>
          </a:p>
        </p:txBody>
      </p:sp>
    </p:spTree>
    <p:extLst>
      <p:ext uri="{BB962C8B-B14F-4D97-AF65-F5344CB8AC3E}">
        <p14:creationId xmlns:p14="http://schemas.microsoft.com/office/powerpoint/2010/main" val="186876141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000" dirty="0" err="1">
                <a:uFillTx/>
              </a:rPr>
              <a:t>Thuộc</a:t>
            </a:r>
            <a:r>
              <a:rPr lang="en-US" sz="2000" dirty="0">
                <a:uFillTx/>
              </a:rPr>
              <a:t> </a:t>
            </a:r>
            <a:r>
              <a:rPr lang="en-US" sz="2000" dirty="0" err="1">
                <a:uFillTx/>
              </a:rPr>
              <a:t>tính</a:t>
            </a:r>
            <a:r>
              <a:rPr lang="en-US" sz="2000" dirty="0">
                <a:uFillTx/>
              </a:rPr>
              <a:t> (property) là </a:t>
            </a:r>
            <a:r>
              <a:rPr lang="en-US" sz="2000" dirty="0" err="1">
                <a:uFillTx/>
              </a:rPr>
              <a:t>đặc</a:t>
            </a:r>
            <a:r>
              <a:rPr lang="en-US" sz="2000" dirty="0">
                <a:uFillTx/>
              </a:rPr>
              <a:t> </a:t>
            </a:r>
            <a:r>
              <a:rPr lang="en-US" sz="2000" dirty="0" err="1">
                <a:uFillTx/>
              </a:rPr>
              <a:t>tính</a:t>
            </a:r>
            <a:r>
              <a:rPr lang="en-US" sz="2000" dirty="0">
                <a:uFillTx/>
              </a:rPr>
              <a:t> </a:t>
            </a:r>
            <a:r>
              <a:rPr lang="en-US" sz="2000" dirty="0" err="1">
                <a:uFillTx/>
              </a:rPr>
              <a:t>mới</a:t>
            </a:r>
            <a:r>
              <a:rPr lang="en-US" sz="2000" dirty="0">
                <a:uFillTx/>
              </a:rPr>
              <a:t> </a:t>
            </a:r>
            <a:r>
              <a:rPr lang="en-US" sz="2000" dirty="0" err="1">
                <a:uFillTx/>
              </a:rPr>
              <a:t>trong</a:t>
            </a:r>
            <a:r>
              <a:rPr lang="en-US" sz="2000" dirty="0">
                <a:uFillTx/>
              </a:rPr>
              <a:t> C#. </a:t>
            </a:r>
          </a:p>
          <a:p>
            <a:r>
              <a:rPr lang="en-US" sz="2000" dirty="0" err="1">
                <a:uFillTx/>
              </a:rPr>
              <a:t>Thuộc</a:t>
            </a:r>
            <a:r>
              <a:rPr lang="en-US" sz="2000" dirty="0">
                <a:uFillTx/>
              </a:rPr>
              <a:t> </a:t>
            </a:r>
            <a:r>
              <a:rPr lang="en-US" sz="2000" dirty="0" err="1">
                <a:uFillTx/>
              </a:rPr>
              <a:t>tính</a:t>
            </a:r>
            <a:r>
              <a:rPr lang="en-US" sz="2000" dirty="0">
                <a:uFillTx/>
              </a:rPr>
              <a:t> là </a:t>
            </a:r>
            <a:r>
              <a:rPr lang="en-US" sz="2000" dirty="0" err="1">
                <a:uFillTx/>
              </a:rPr>
              <a:t>các</a:t>
            </a:r>
            <a:r>
              <a:rPr lang="en-US" sz="2000" dirty="0">
                <a:uFillTx/>
              </a:rPr>
              <a:t> </a:t>
            </a:r>
            <a:r>
              <a:rPr lang="en-US" sz="2000" dirty="0" err="1">
                <a:uFillTx/>
              </a:rPr>
              <a:t>phương</a:t>
            </a:r>
            <a:r>
              <a:rPr lang="en-US" sz="2000" dirty="0">
                <a:uFillTx/>
              </a:rPr>
              <a:t> </a:t>
            </a:r>
            <a:r>
              <a:rPr lang="en-US" sz="2000" dirty="0" err="1">
                <a:uFillTx/>
              </a:rPr>
              <a:t>thức</a:t>
            </a:r>
            <a:r>
              <a:rPr lang="en-US" sz="2000" dirty="0">
                <a:uFillTx/>
              </a:rPr>
              <a:t> </a:t>
            </a:r>
            <a:r>
              <a:rPr lang="en-US" sz="2000" dirty="0" err="1">
                <a:uFillTx/>
              </a:rPr>
              <a:t>lấy</a:t>
            </a:r>
            <a:r>
              <a:rPr lang="en-US" sz="2000" dirty="0">
                <a:uFillTx/>
              </a:rPr>
              <a:t> </a:t>
            </a:r>
            <a:r>
              <a:rPr lang="en-US" sz="2000" dirty="0" err="1">
                <a:uFillTx/>
              </a:rPr>
              <a:t>giá</a:t>
            </a:r>
            <a:r>
              <a:rPr lang="en-US" sz="2000" dirty="0">
                <a:uFillTx/>
              </a:rPr>
              <a:t> </a:t>
            </a:r>
            <a:r>
              <a:rPr lang="en-US" sz="2000" dirty="0" err="1">
                <a:uFillTx/>
              </a:rPr>
              <a:t>trị</a:t>
            </a:r>
            <a:r>
              <a:rPr lang="en-US" sz="2000" dirty="0">
                <a:uFillTx/>
              </a:rPr>
              <a:t> (get) </a:t>
            </a:r>
            <a:r>
              <a:rPr lang="en-US" sz="2000" dirty="0" err="1">
                <a:uFillTx/>
              </a:rPr>
              <a:t>và</a:t>
            </a:r>
            <a:r>
              <a:rPr lang="en-US" sz="2000" dirty="0">
                <a:uFillTx/>
              </a:rPr>
              <a:t> </a:t>
            </a:r>
            <a:r>
              <a:rPr lang="en-US" sz="2000" dirty="0" err="1">
                <a:uFillTx/>
              </a:rPr>
              <a:t>gán</a:t>
            </a:r>
            <a:r>
              <a:rPr lang="en-US" sz="2000" dirty="0">
                <a:uFillTx/>
              </a:rPr>
              <a:t> </a:t>
            </a:r>
            <a:r>
              <a:rPr lang="en-US" sz="2000" dirty="0" err="1">
                <a:uFillTx/>
              </a:rPr>
              <a:t>giá</a:t>
            </a:r>
            <a:r>
              <a:rPr lang="en-US" sz="2000" dirty="0">
                <a:uFillTx/>
              </a:rPr>
              <a:t> </a:t>
            </a:r>
            <a:r>
              <a:rPr lang="en-US" sz="2000" dirty="0" err="1">
                <a:uFillTx/>
              </a:rPr>
              <a:t>trị</a:t>
            </a:r>
            <a:r>
              <a:rPr lang="en-US" sz="2000" dirty="0">
                <a:uFillTx/>
              </a:rPr>
              <a:t> (set).</a:t>
            </a:r>
          </a:p>
          <a:p>
            <a:r>
              <a:rPr lang="en-US" sz="2000" dirty="0">
                <a:uFillTx/>
              </a:rPr>
              <a:t>Cho </a:t>
            </a:r>
            <a:r>
              <a:rPr lang="en-US" sz="2000" dirty="0" err="1">
                <a:uFillTx/>
              </a:rPr>
              <a:t>phép</a:t>
            </a:r>
            <a:r>
              <a:rPr lang="en-US" sz="2000" dirty="0">
                <a:uFillTx/>
              </a:rPr>
              <a:t> </a:t>
            </a:r>
            <a:r>
              <a:rPr lang="en-US" sz="2000" dirty="0" err="1">
                <a:uFillTx/>
              </a:rPr>
              <a:t>truy</a:t>
            </a:r>
            <a:r>
              <a:rPr lang="en-US" sz="2000" dirty="0">
                <a:uFillTx/>
              </a:rPr>
              <a:t> </a:t>
            </a:r>
            <a:r>
              <a:rPr lang="en-US" sz="2000" dirty="0" err="1">
                <a:uFillTx/>
              </a:rPr>
              <a:t>cập</a:t>
            </a:r>
            <a:r>
              <a:rPr lang="en-US" sz="2000" dirty="0">
                <a:uFillTx/>
              </a:rPr>
              <a:t> </a:t>
            </a:r>
            <a:r>
              <a:rPr lang="en-US" sz="2000" dirty="0" err="1">
                <a:uFillTx/>
              </a:rPr>
              <a:t>đến</a:t>
            </a:r>
            <a:r>
              <a:rPr lang="en-US" sz="2000" dirty="0">
                <a:uFillTx/>
              </a:rPr>
              <a:t> </a:t>
            </a:r>
            <a:r>
              <a:rPr lang="en-US" sz="2000" dirty="0" err="1">
                <a:uFillTx/>
              </a:rPr>
              <a:t>các</a:t>
            </a:r>
            <a:r>
              <a:rPr lang="en-US" sz="2000" dirty="0">
                <a:uFillTx/>
              </a:rPr>
              <a:t> </a:t>
            </a:r>
            <a:r>
              <a:rPr lang="en-US" sz="2000" dirty="0" err="1">
                <a:uFillTx/>
              </a:rPr>
              <a:t>thành</a:t>
            </a:r>
            <a:r>
              <a:rPr lang="en-US" sz="2000" dirty="0">
                <a:uFillTx/>
              </a:rPr>
              <a:t> </a:t>
            </a:r>
            <a:r>
              <a:rPr lang="en-US" sz="2000" dirty="0" err="1">
                <a:uFillTx/>
              </a:rPr>
              <a:t>phần</a:t>
            </a:r>
            <a:r>
              <a:rPr lang="en-US" sz="2000" dirty="0">
                <a:uFillTx/>
              </a:rPr>
              <a:t> </a:t>
            </a:r>
            <a:r>
              <a:rPr lang="en-US" sz="2000" dirty="0" err="1">
                <a:uFillTx/>
              </a:rPr>
              <a:t>dữ</a:t>
            </a:r>
            <a:r>
              <a:rPr lang="en-US" sz="2000" dirty="0">
                <a:uFillTx/>
              </a:rPr>
              <a:t> </a:t>
            </a:r>
            <a:r>
              <a:rPr lang="en-US" sz="2000" dirty="0" err="1">
                <a:uFillTx/>
              </a:rPr>
              <a:t>liệu</a:t>
            </a:r>
            <a:r>
              <a:rPr lang="en-US" sz="2000" dirty="0">
                <a:uFillTx/>
              </a:rPr>
              <a:t> </a:t>
            </a:r>
            <a:r>
              <a:rPr lang="en-US" sz="2000" dirty="0" err="1">
                <a:uFillTx/>
              </a:rPr>
              <a:t>của</a:t>
            </a:r>
            <a:r>
              <a:rPr lang="en-US" sz="2000" dirty="0">
                <a:uFillTx/>
              </a:rPr>
              <a:t> </a:t>
            </a:r>
            <a:r>
              <a:rPr lang="en-US" sz="2000" dirty="0" err="1">
                <a:uFillTx/>
              </a:rPr>
              <a:t>đối</a:t>
            </a:r>
            <a:r>
              <a:rPr lang="en-US" sz="2000" dirty="0">
                <a:uFillTx/>
              </a:rPr>
              <a:t> </a:t>
            </a:r>
            <a:r>
              <a:rPr lang="en-US" sz="2000" dirty="0" err="1">
                <a:uFillTx/>
              </a:rPr>
              <a:t>tượng</a:t>
            </a:r>
            <a:r>
              <a:rPr lang="en-US" sz="2000" dirty="0">
                <a:uFillTx/>
              </a:rPr>
              <a:t> ở </a:t>
            </a:r>
            <a:r>
              <a:rPr lang="en-US" sz="2000" dirty="0" err="1">
                <a:uFillTx/>
              </a:rPr>
              <a:t>mức</a:t>
            </a:r>
            <a:r>
              <a:rPr lang="en-US" sz="2000" dirty="0">
                <a:uFillTx/>
              </a:rPr>
              <a:t> </a:t>
            </a:r>
            <a:r>
              <a:rPr lang="en-US" sz="2000" dirty="0" err="1">
                <a:uFillTx/>
              </a:rPr>
              <a:t>độ</a:t>
            </a:r>
            <a:r>
              <a:rPr lang="en-US" sz="2000" dirty="0">
                <a:uFillTx/>
              </a:rPr>
              <a:t> </a:t>
            </a:r>
            <a:r>
              <a:rPr lang="en-US" sz="2000" dirty="0" err="1">
                <a:uFillTx/>
              </a:rPr>
              <a:t>đọc</a:t>
            </a:r>
            <a:r>
              <a:rPr lang="en-US" sz="2000" dirty="0">
                <a:uFillTx/>
              </a:rPr>
              <a:t> </a:t>
            </a:r>
            <a:r>
              <a:rPr lang="en-US" sz="2000" dirty="0" err="1">
                <a:uFillTx/>
              </a:rPr>
              <a:t>hoặc</a:t>
            </a:r>
            <a:r>
              <a:rPr lang="en-US" sz="2000" dirty="0">
                <a:uFillTx/>
              </a:rPr>
              <a:t> </a:t>
            </a:r>
            <a:r>
              <a:rPr lang="en-US" sz="2000" dirty="0" err="1">
                <a:uFillTx/>
              </a:rPr>
              <a:t>ghi</a:t>
            </a:r>
            <a:r>
              <a:rPr lang="en-US" sz="2000" dirty="0">
                <a:uFillTx/>
              </a:rPr>
              <a:t> </a:t>
            </a:r>
            <a:r>
              <a:rPr lang="en-US" sz="2000" dirty="0" err="1">
                <a:uFillTx/>
              </a:rPr>
              <a:t>hoặc</a:t>
            </a:r>
            <a:r>
              <a:rPr lang="en-US" sz="2000" dirty="0">
                <a:uFillTx/>
              </a:rPr>
              <a:t> </a:t>
            </a:r>
            <a:r>
              <a:rPr lang="en-US" sz="2000" dirty="0" err="1">
                <a:uFillTx/>
              </a:rPr>
              <a:t>cả</a:t>
            </a:r>
            <a:r>
              <a:rPr lang="en-US" sz="2000" dirty="0">
                <a:uFillTx/>
              </a:rPr>
              <a:t> 2 </a:t>
            </a:r>
            <a:r>
              <a:rPr lang="en-US" sz="2000" dirty="0" err="1">
                <a:uFillTx/>
              </a:rPr>
              <a:t>và</a:t>
            </a:r>
            <a:r>
              <a:rPr lang="en-US" sz="2000" dirty="0">
                <a:uFillTx/>
              </a:rPr>
              <a:t> </a:t>
            </a:r>
            <a:r>
              <a:rPr lang="en-US" sz="2000" dirty="0" err="1">
                <a:uFillTx/>
              </a:rPr>
              <a:t>che</a:t>
            </a:r>
            <a:r>
              <a:rPr lang="en-US" sz="2000" dirty="0">
                <a:uFillTx/>
              </a:rPr>
              <a:t> </a:t>
            </a:r>
            <a:r>
              <a:rPr lang="en-US" sz="2000" dirty="0" err="1">
                <a:uFillTx/>
              </a:rPr>
              <a:t>giấu</a:t>
            </a:r>
            <a:r>
              <a:rPr lang="en-US" sz="2000" dirty="0">
                <a:uFillTx/>
              </a:rPr>
              <a:t> </a:t>
            </a:r>
            <a:r>
              <a:rPr lang="en-US" sz="2000" dirty="0" err="1">
                <a:uFillTx/>
              </a:rPr>
              <a:t>cài</a:t>
            </a:r>
            <a:r>
              <a:rPr lang="en-US" sz="2000" dirty="0">
                <a:uFillTx/>
              </a:rPr>
              <a:t> </a:t>
            </a:r>
            <a:r>
              <a:rPr lang="en-US" sz="2000" dirty="0" err="1">
                <a:uFillTx/>
              </a:rPr>
              <a:t>đặt</a:t>
            </a:r>
            <a:r>
              <a:rPr lang="en-US" sz="2000" dirty="0">
                <a:uFillTx/>
              </a:rPr>
              <a:t> </a:t>
            </a:r>
            <a:r>
              <a:rPr lang="en-US" sz="2000" dirty="0" err="1">
                <a:uFillTx/>
              </a:rPr>
              <a:t>thực</a:t>
            </a:r>
            <a:r>
              <a:rPr lang="en-US" sz="2000" dirty="0">
                <a:uFillTx/>
              </a:rPr>
              <a:t> </a:t>
            </a:r>
            <a:r>
              <a:rPr lang="en-US" sz="2000" dirty="0" err="1">
                <a:uFillTx/>
              </a:rPr>
              <a:t>sự</a:t>
            </a:r>
            <a:r>
              <a:rPr lang="en-US" sz="2000" dirty="0">
                <a:uFillTx/>
              </a:rPr>
              <a:t> </a:t>
            </a:r>
            <a:r>
              <a:rPr lang="en-US" sz="2000" dirty="0" err="1">
                <a:uFillTx/>
              </a:rPr>
              <a:t>bên</a:t>
            </a:r>
            <a:r>
              <a:rPr lang="en-US" sz="2000" dirty="0">
                <a:uFillTx/>
              </a:rPr>
              <a:t> </a:t>
            </a:r>
            <a:r>
              <a:rPr lang="en-US" sz="2000" dirty="0" err="1">
                <a:uFillTx/>
              </a:rPr>
              <a:t>trong</a:t>
            </a:r>
            <a:r>
              <a:rPr lang="en-US" sz="2000" dirty="0">
                <a:uFillTx/>
              </a:rPr>
              <a:t> </a:t>
            </a:r>
            <a:r>
              <a:rPr lang="en-US" sz="2000" dirty="0" err="1">
                <a:uFillTx/>
              </a:rPr>
              <a:t>lớp</a:t>
            </a:r>
            <a:r>
              <a:rPr lang="en-US" sz="2000" dirty="0">
                <a:uFillTx/>
              </a:rPr>
              <a:t>.</a:t>
            </a:r>
          </a:p>
          <a:p>
            <a:r>
              <a:rPr lang="en-US" sz="2400" dirty="0" err="1">
                <a:uFillTx/>
              </a:rPr>
              <a:t>Các</a:t>
            </a:r>
            <a:r>
              <a:rPr lang="en-US" sz="2400" dirty="0">
                <a:uFillTx/>
              </a:rPr>
              <a:t> </a:t>
            </a:r>
            <a:r>
              <a:rPr lang="en-US" sz="2400" dirty="0" err="1">
                <a:uFillTx/>
              </a:rPr>
              <a:t>thuộc</a:t>
            </a:r>
            <a:r>
              <a:rPr lang="en-US" sz="2400" dirty="0">
                <a:uFillTx/>
              </a:rPr>
              <a:t> </a:t>
            </a:r>
            <a:r>
              <a:rPr lang="en-US" sz="2400" dirty="0" err="1">
                <a:uFillTx/>
              </a:rPr>
              <a:t>tính</a:t>
            </a:r>
            <a:endParaRPr lang="en-US" sz="2400" dirty="0">
              <a:uFillTx/>
            </a:endParaRPr>
          </a:p>
          <a:p>
            <a:pPr lvl="1"/>
            <a:r>
              <a:rPr lang="en-US" sz="2000" dirty="0" err="1">
                <a:uFillTx/>
              </a:rPr>
              <a:t>Chỉ</a:t>
            </a:r>
            <a:r>
              <a:rPr lang="en-US" sz="2000" dirty="0">
                <a:uFillTx/>
              </a:rPr>
              <a:t> </a:t>
            </a:r>
            <a:r>
              <a:rPr lang="en-US" sz="2000" dirty="0" err="1">
                <a:uFillTx/>
              </a:rPr>
              <a:t>đọc</a:t>
            </a:r>
            <a:r>
              <a:rPr lang="en-US" sz="2000" dirty="0">
                <a:uFillTx/>
              </a:rPr>
              <a:t> (</a:t>
            </a:r>
            <a:r>
              <a:rPr lang="en-US" sz="2000" dirty="0">
                <a:solidFill>
                  <a:srgbClr val="FF0000"/>
                </a:solidFill>
                <a:uFillTx/>
              </a:rPr>
              <a:t>read only</a:t>
            </a:r>
            <a:r>
              <a:rPr lang="en-US" sz="2000" dirty="0">
                <a:uFillTx/>
              </a:rPr>
              <a:t>): </a:t>
            </a:r>
            <a:r>
              <a:rPr lang="en-US" sz="2000" dirty="0" err="1">
                <a:uFillTx/>
              </a:rPr>
              <a:t>chỉ</a:t>
            </a:r>
            <a:r>
              <a:rPr lang="en-US" sz="2000" dirty="0">
                <a:uFillTx/>
              </a:rPr>
              <a:t> </a:t>
            </a:r>
            <a:r>
              <a:rPr lang="en-US" sz="2000" dirty="0" err="1">
                <a:uFillTx/>
              </a:rPr>
              <a:t>có</a:t>
            </a:r>
            <a:r>
              <a:rPr lang="en-US" sz="2000" dirty="0">
                <a:uFillTx/>
              </a:rPr>
              <a:t> </a:t>
            </a:r>
            <a:r>
              <a:rPr lang="en-US" sz="2000" b="1" dirty="0" err="1">
                <a:uFillTx/>
              </a:rPr>
              <a:t>phương</a:t>
            </a:r>
            <a:r>
              <a:rPr lang="en-US" sz="2000" b="1" dirty="0">
                <a:uFillTx/>
              </a:rPr>
              <a:t> </a:t>
            </a:r>
            <a:r>
              <a:rPr lang="en-US" sz="2000" b="1" dirty="0" err="1">
                <a:uFillTx/>
              </a:rPr>
              <a:t>thức</a:t>
            </a:r>
            <a:r>
              <a:rPr lang="en-US" sz="2000" b="1" dirty="0">
                <a:uFillTx/>
              </a:rPr>
              <a:t> get </a:t>
            </a:r>
            <a:r>
              <a:rPr lang="en-US" sz="2000" dirty="0">
                <a:uFillTx/>
              </a:rPr>
              <a:t>(</a:t>
            </a:r>
            <a:r>
              <a:rPr lang="en-US" sz="2000" dirty="0" err="1">
                <a:uFillTx/>
              </a:rPr>
              <a:t>chỉ</a:t>
            </a:r>
            <a:r>
              <a:rPr lang="en-US" sz="2000" dirty="0">
                <a:uFillTx/>
              </a:rPr>
              <a:t> </a:t>
            </a:r>
            <a:r>
              <a:rPr lang="en-US" sz="2000" dirty="0" err="1">
                <a:uFillTx/>
              </a:rPr>
              <a:t>đọc</a:t>
            </a:r>
            <a:r>
              <a:rPr lang="en-US" sz="2000" dirty="0">
                <a:uFillTx/>
              </a:rPr>
              <a:t> </a:t>
            </a:r>
            <a:r>
              <a:rPr lang="en-US" sz="2000" dirty="0" err="1">
                <a:uFillTx/>
              </a:rPr>
              <a:t>giá</a:t>
            </a:r>
            <a:r>
              <a:rPr lang="en-US" sz="2000" dirty="0">
                <a:uFillTx/>
              </a:rPr>
              <a:t> </a:t>
            </a:r>
            <a:r>
              <a:rPr lang="en-US" sz="2000" dirty="0" err="1">
                <a:uFillTx/>
              </a:rPr>
              <a:t>trị</a:t>
            </a:r>
            <a:r>
              <a:rPr lang="en-US" sz="2000" dirty="0">
                <a:uFillTx/>
              </a:rPr>
              <a:t> </a:t>
            </a:r>
            <a:r>
              <a:rPr lang="en-US" sz="2000" dirty="0" err="1">
                <a:uFillTx/>
              </a:rPr>
              <a:t>của</a:t>
            </a:r>
            <a:r>
              <a:rPr lang="en-US" sz="2000" dirty="0">
                <a:uFillTx/>
              </a:rPr>
              <a:t> </a:t>
            </a:r>
            <a:r>
              <a:rPr lang="en-US" sz="2000" dirty="0" err="1">
                <a:uFillTx/>
              </a:rPr>
              <a:t>thuộc</a:t>
            </a:r>
            <a:r>
              <a:rPr lang="en-US" sz="2000" dirty="0">
                <a:uFillTx/>
              </a:rPr>
              <a:t> </a:t>
            </a:r>
            <a:r>
              <a:rPr lang="en-US" sz="2000" dirty="0" err="1">
                <a:uFillTx/>
              </a:rPr>
              <a:t>tính</a:t>
            </a:r>
            <a:r>
              <a:rPr lang="en-US" sz="2000" dirty="0">
                <a:uFillTx/>
              </a:rPr>
              <a:t>)</a:t>
            </a:r>
          </a:p>
          <a:p>
            <a:pPr lvl="1"/>
            <a:r>
              <a:rPr lang="en-US" sz="2000" dirty="0" err="1">
                <a:uFillTx/>
              </a:rPr>
              <a:t>Chỉ</a:t>
            </a:r>
            <a:r>
              <a:rPr lang="en-US" sz="2000" dirty="0">
                <a:uFillTx/>
              </a:rPr>
              <a:t> </a:t>
            </a:r>
            <a:r>
              <a:rPr lang="en-US" sz="2000" dirty="0" err="1">
                <a:uFillTx/>
              </a:rPr>
              <a:t>ghi</a:t>
            </a:r>
            <a:r>
              <a:rPr lang="en-US" sz="2000" dirty="0">
                <a:uFillTx/>
              </a:rPr>
              <a:t> (</a:t>
            </a:r>
            <a:r>
              <a:rPr lang="en-US" sz="2000" dirty="0">
                <a:solidFill>
                  <a:srgbClr val="FF0000"/>
                </a:solidFill>
                <a:uFillTx/>
              </a:rPr>
              <a:t>write only</a:t>
            </a:r>
            <a:r>
              <a:rPr lang="en-US" sz="2000" dirty="0">
                <a:uFillTx/>
              </a:rPr>
              <a:t>): </a:t>
            </a:r>
            <a:r>
              <a:rPr lang="en-US" sz="2000" dirty="0" err="1">
                <a:uFillTx/>
              </a:rPr>
              <a:t>chỉ</a:t>
            </a:r>
            <a:r>
              <a:rPr lang="en-US" sz="2000" dirty="0">
                <a:uFillTx/>
              </a:rPr>
              <a:t> </a:t>
            </a:r>
            <a:r>
              <a:rPr lang="en-US" sz="2000" dirty="0" err="1">
                <a:uFillTx/>
              </a:rPr>
              <a:t>có</a:t>
            </a:r>
            <a:r>
              <a:rPr lang="en-US" sz="2000" dirty="0">
                <a:uFillTx/>
              </a:rPr>
              <a:t> </a:t>
            </a:r>
            <a:r>
              <a:rPr lang="en-US" sz="2000" b="1" dirty="0" err="1">
                <a:uFillTx/>
              </a:rPr>
              <a:t>phương</a:t>
            </a:r>
            <a:r>
              <a:rPr lang="en-US" sz="2000" b="1" dirty="0">
                <a:uFillTx/>
              </a:rPr>
              <a:t> </a:t>
            </a:r>
            <a:r>
              <a:rPr lang="en-US" sz="2000" b="1" dirty="0" err="1">
                <a:uFillTx/>
              </a:rPr>
              <a:t>thức</a:t>
            </a:r>
            <a:r>
              <a:rPr lang="en-US" sz="2000" b="1" dirty="0">
                <a:uFillTx/>
              </a:rPr>
              <a:t> set </a:t>
            </a:r>
            <a:r>
              <a:rPr lang="en-US" sz="2000" dirty="0">
                <a:uFillTx/>
              </a:rPr>
              <a:t>(</a:t>
            </a:r>
            <a:r>
              <a:rPr lang="en-US" sz="2000" dirty="0" err="1">
                <a:uFillTx/>
              </a:rPr>
              <a:t>chỉ</a:t>
            </a:r>
            <a:r>
              <a:rPr lang="en-US" sz="2000" dirty="0">
                <a:uFillTx/>
              </a:rPr>
              <a:t> </a:t>
            </a:r>
            <a:r>
              <a:rPr lang="en-US" sz="2000" dirty="0" err="1">
                <a:uFillTx/>
              </a:rPr>
              <a:t>ghi</a:t>
            </a:r>
            <a:r>
              <a:rPr lang="en-US" sz="2000" dirty="0">
                <a:uFillTx/>
              </a:rPr>
              <a:t> </a:t>
            </a:r>
            <a:r>
              <a:rPr lang="en-US" sz="2000" dirty="0" err="1">
                <a:uFillTx/>
              </a:rPr>
              <a:t>giá</a:t>
            </a:r>
            <a:r>
              <a:rPr lang="en-US" sz="2000" dirty="0">
                <a:uFillTx/>
              </a:rPr>
              <a:t> </a:t>
            </a:r>
            <a:r>
              <a:rPr lang="en-US" sz="2000" dirty="0" err="1">
                <a:uFillTx/>
              </a:rPr>
              <a:t>trị</a:t>
            </a:r>
            <a:r>
              <a:rPr lang="en-US" sz="2000" dirty="0">
                <a:uFillTx/>
              </a:rPr>
              <a:t> </a:t>
            </a:r>
            <a:r>
              <a:rPr lang="en-US" sz="2000" dirty="0" err="1">
                <a:uFillTx/>
              </a:rPr>
              <a:t>cho</a:t>
            </a:r>
            <a:r>
              <a:rPr lang="en-US" sz="2000" dirty="0">
                <a:uFillTx/>
              </a:rPr>
              <a:t> </a:t>
            </a:r>
            <a:r>
              <a:rPr lang="en-US" sz="2000" dirty="0" err="1">
                <a:uFillTx/>
              </a:rPr>
              <a:t>thuộc</a:t>
            </a:r>
            <a:r>
              <a:rPr lang="en-US" sz="2000" dirty="0">
                <a:uFillTx/>
              </a:rPr>
              <a:t> </a:t>
            </a:r>
            <a:r>
              <a:rPr lang="en-US" sz="2000" dirty="0" err="1">
                <a:uFillTx/>
              </a:rPr>
              <a:t>tính</a:t>
            </a:r>
            <a:r>
              <a:rPr lang="en-US" sz="2000" dirty="0">
                <a:uFillTx/>
              </a:rPr>
              <a:t>)</a:t>
            </a:r>
          </a:p>
          <a:p>
            <a:pPr lvl="1"/>
            <a:r>
              <a:rPr lang="en-US" sz="2000" dirty="0" err="1">
                <a:uFillTx/>
              </a:rPr>
              <a:t>Vừa</a:t>
            </a:r>
            <a:r>
              <a:rPr lang="en-US" sz="2000" dirty="0">
                <a:uFillTx/>
              </a:rPr>
              <a:t> </a:t>
            </a:r>
            <a:r>
              <a:rPr lang="en-US" sz="2000" dirty="0" err="1">
                <a:uFillTx/>
              </a:rPr>
              <a:t>đọc</a:t>
            </a:r>
            <a:r>
              <a:rPr lang="en-US" sz="2000" dirty="0">
                <a:uFillTx/>
              </a:rPr>
              <a:t> </a:t>
            </a:r>
            <a:r>
              <a:rPr lang="en-US" sz="2000" dirty="0" err="1">
                <a:uFillTx/>
              </a:rPr>
              <a:t>vừa</a:t>
            </a:r>
            <a:r>
              <a:rPr lang="en-US" sz="2000" dirty="0">
                <a:uFillTx/>
              </a:rPr>
              <a:t> </a:t>
            </a:r>
            <a:r>
              <a:rPr lang="en-US" sz="2000" dirty="0" err="1">
                <a:uFillTx/>
              </a:rPr>
              <a:t>ghi</a:t>
            </a:r>
            <a:r>
              <a:rPr lang="en-US" sz="2000" dirty="0">
                <a:uFillTx/>
              </a:rPr>
              <a:t> (</a:t>
            </a:r>
            <a:r>
              <a:rPr lang="en-US" sz="2000" dirty="0">
                <a:solidFill>
                  <a:srgbClr val="FF0000"/>
                </a:solidFill>
                <a:uFillTx/>
              </a:rPr>
              <a:t>read/write</a:t>
            </a:r>
            <a:r>
              <a:rPr lang="en-US" sz="2000" dirty="0">
                <a:uFillTx/>
              </a:rPr>
              <a:t>): </a:t>
            </a:r>
            <a:r>
              <a:rPr lang="en-US" sz="2000" dirty="0" err="1">
                <a:uFillTx/>
              </a:rPr>
              <a:t>có</a:t>
            </a:r>
            <a:r>
              <a:rPr lang="en-US" sz="2000" dirty="0">
                <a:uFillTx/>
              </a:rPr>
              <a:t> </a:t>
            </a:r>
            <a:r>
              <a:rPr lang="en-US" sz="2000" dirty="0" err="1">
                <a:uFillTx/>
              </a:rPr>
              <a:t>cả</a:t>
            </a:r>
            <a:r>
              <a:rPr lang="en-US" sz="2000" dirty="0">
                <a:uFillTx/>
              </a:rPr>
              <a:t> 2 </a:t>
            </a:r>
            <a:r>
              <a:rPr lang="en-US" sz="2000" dirty="0" err="1">
                <a:uFillTx/>
              </a:rPr>
              <a:t>phương</a:t>
            </a:r>
            <a:r>
              <a:rPr lang="en-US" sz="2000" dirty="0">
                <a:uFillTx/>
              </a:rPr>
              <a:t> </a:t>
            </a:r>
            <a:r>
              <a:rPr lang="en-US" sz="2000" dirty="0" err="1">
                <a:uFillTx/>
              </a:rPr>
              <a:t>thức</a:t>
            </a:r>
            <a:r>
              <a:rPr lang="en-US" sz="2000" dirty="0">
                <a:uFillTx/>
              </a:rPr>
              <a:t> </a:t>
            </a:r>
            <a:r>
              <a:rPr lang="en-US" sz="2000" b="1" dirty="0">
                <a:solidFill>
                  <a:srgbClr val="FF0000"/>
                </a:solidFill>
                <a:uFillTx/>
              </a:rPr>
              <a:t>get</a:t>
            </a:r>
            <a:r>
              <a:rPr lang="en-US" sz="2000" dirty="0">
                <a:uFillTx/>
              </a:rPr>
              <a:t> </a:t>
            </a:r>
            <a:r>
              <a:rPr lang="en-US" sz="2000" dirty="0" err="1">
                <a:uFillTx/>
              </a:rPr>
              <a:t>và</a:t>
            </a:r>
            <a:r>
              <a:rPr lang="en-US" sz="2000" dirty="0">
                <a:uFillTx/>
              </a:rPr>
              <a:t> </a:t>
            </a:r>
            <a:r>
              <a:rPr lang="en-US" sz="2000" b="1" dirty="0">
                <a:solidFill>
                  <a:srgbClr val="FF0000"/>
                </a:solidFill>
                <a:uFillTx/>
              </a:rPr>
              <a:t>set</a:t>
            </a:r>
            <a:r>
              <a:rPr lang="en-US" sz="2000" dirty="0">
                <a:uFillTx/>
              </a:rPr>
              <a:t>. </a:t>
            </a:r>
            <a:r>
              <a:rPr lang="en-US" sz="2000" dirty="0" err="1">
                <a:uFillTx/>
              </a:rPr>
              <a:t>Được</a:t>
            </a:r>
            <a:r>
              <a:rPr lang="en-US" sz="2000" dirty="0">
                <a:uFillTx/>
              </a:rPr>
              <a:t> </a:t>
            </a:r>
            <a:r>
              <a:rPr lang="en-US" sz="2000" dirty="0" err="1">
                <a:uFillTx/>
              </a:rPr>
              <a:t>phép</a:t>
            </a:r>
            <a:r>
              <a:rPr lang="en-US" sz="2000" dirty="0">
                <a:uFillTx/>
              </a:rPr>
              <a:t> </a:t>
            </a:r>
            <a:r>
              <a:rPr lang="en-US" sz="2000" dirty="0" err="1">
                <a:uFillTx/>
              </a:rPr>
              <a:t>đọc</a:t>
            </a:r>
            <a:r>
              <a:rPr lang="en-US" sz="2000" dirty="0">
                <a:uFillTx/>
              </a:rPr>
              <a:t> </a:t>
            </a:r>
            <a:r>
              <a:rPr lang="en-US" sz="2000" dirty="0" err="1">
                <a:uFillTx/>
              </a:rPr>
              <a:t>và</a:t>
            </a:r>
            <a:r>
              <a:rPr lang="en-US" sz="2000" dirty="0">
                <a:uFillTx/>
              </a:rPr>
              <a:t> </a:t>
            </a:r>
            <a:r>
              <a:rPr lang="en-US" sz="2000" dirty="0" err="1">
                <a:uFillTx/>
              </a:rPr>
              <a:t>ghi</a:t>
            </a:r>
            <a:r>
              <a:rPr lang="en-US" sz="2000" dirty="0">
                <a:uFillTx/>
              </a:rPr>
              <a:t> </a:t>
            </a:r>
            <a:r>
              <a:rPr lang="en-US" sz="2000" dirty="0" err="1">
                <a:uFillTx/>
              </a:rPr>
              <a:t>giá</a:t>
            </a:r>
            <a:r>
              <a:rPr lang="en-US" sz="2000" dirty="0">
                <a:uFillTx/>
              </a:rPr>
              <a:t> </a:t>
            </a:r>
            <a:r>
              <a:rPr lang="en-US" sz="2000" dirty="0" err="1">
                <a:uFillTx/>
              </a:rPr>
              <a:t>trị</a:t>
            </a:r>
            <a:endParaRPr lang="en-US" sz="2000" dirty="0">
              <a:uFillTx/>
            </a:endParaRPr>
          </a:p>
          <a:p>
            <a:endParaRPr lang="en-US" sz="2000" dirty="0">
              <a:uFillTx/>
            </a:endParaRPr>
          </a:p>
        </p:txBody>
      </p:sp>
      <p:sp>
        <p:nvSpPr>
          <p:cNvPr id="4" name="Date Placeholder 3"/>
          <p:cNvSpPr>
            <a:spLocks noGrp="1"/>
          </p:cNvSpPr>
          <p:nvPr>
            <p:ph type="dt" sz="half" idx="10"/>
          </p:nvPr>
        </p:nvSpPr>
        <p:spPr/>
        <p:txBody>
          <a:bodyPr/>
          <a:lstStyle/>
          <a:p>
            <a:fld id="{BCF40E6E-8837-4462-B37C-34E71261D819}" type="datetime1">
              <a:rPr lang="vi-VN" smtClean="0">
                <a:uFillTx/>
              </a:rPr>
              <a:t>04/02/2025</a:t>
            </a:fld>
            <a:endParaRPr lang="vi-VN">
              <a:uFillTx/>
            </a:endParaRPr>
          </a:p>
        </p:txBody>
      </p:sp>
      <p:sp>
        <p:nvSpPr>
          <p:cNvPr id="5" name="Footer Placeholder 4"/>
          <p:cNvSpPr>
            <a:spLocks noGrp="1"/>
          </p:cNvSpPr>
          <p:nvPr>
            <p:ph type="ftr" sz="quarter" idx="11"/>
          </p:nvPr>
        </p:nvSpPr>
        <p:spPr/>
        <p:txBody>
          <a:bodyPr/>
          <a:lstStyle/>
          <a:p>
            <a:r>
              <a:rPr lang="vi-VN">
                <a:uFillTx/>
              </a:rPr>
              <a:t>Chương 3. Lập trình hướng đối tượng trong C#</a:t>
            </a:r>
          </a:p>
        </p:txBody>
      </p:sp>
      <p:sp>
        <p:nvSpPr>
          <p:cNvPr id="7" name="Slide Number Placeholder 6"/>
          <p:cNvSpPr>
            <a:spLocks noGrp="1"/>
          </p:cNvSpPr>
          <p:nvPr>
            <p:ph type="sldNum" sz="quarter" idx="12"/>
          </p:nvPr>
        </p:nvSpPr>
        <p:spPr/>
        <p:txBody>
          <a:bodyPr/>
          <a:lstStyle/>
          <a:p>
            <a:fld id="{5AB95402-1E0D-474E-8D8C-CBE7F053639E}" type="slidenum">
              <a:rPr lang="vi-VN" smtClean="0">
                <a:uFillTx/>
              </a:rPr>
              <a:pPr/>
              <a:t>69</a:t>
            </a:fld>
            <a:r>
              <a:rPr lang="vi-VN">
                <a:uFillTx/>
              </a:rPr>
              <a:t>/38</a:t>
            </a:r>
          </a:p>
        </p:txBody>
      </p:sp>
      <p:sp>
        <p:nvSpPr>
          <p:cNvPr id="9" name="Title 1">
            <a:extLst>
              <a:ext uri="{FF2B5EF4-FFF2-40B4-BE49-F238E27FC236}">
                <a16:creationId xmlns:a16="http://schemas.microsoft.com/office/drawing/2014/main" id="{5C0CE021-F770-4D2B-BC3B-0063DFD8DFC2}"/>
              </a:ext>
            </a:extLst>
          </p:cNvPr>
          <p:cNvSpPr>
            <a:spLocks noGrp="1"/>
          </p:cNvSpPr>
          <p:nvPr>
            <p:ph type="title"/>
          </p:nvPr>
        </p:nvSpPr>
        <p:spPr>
          <a:xfrm>
            <a:off x="971600" y="381000"/>
            <a:ext cx="7488832" cy="685800"/>
          </a:xfrm>
        </p:spPr>
        <p:txBody>
          <a:bodyPr/>
          <a:lstStyle/>
          <a:p>
            <a:r>
              <a:rPr lang="en-US" sz="2400"/>
              <a:t>3.2.</a:t>
            </a:r>
            <a:r>
              <a:rPr lang="en-US" sz="2400" dirty="0"/>
              <a:t>3</a:t>
            </a:r>
            <a:r>
              <a:rPr lang="en-US" sz="2400">
                <a:uFillTx/>
              </a:rPr>
              <a:t>. </a:t>
            </a:r>
            <a:r>
              <a:rPr lang="en-US" sz="2400" dirty="0" err="1">
                <a:uFillTx/>
              </a:rPr>
              <a:t>Đóng</a:t>
            </a:r>
            <a:r>
              <a:rPr lang="en-US" sz="2400" dirty="0">
                <a:uFillTx/>
              </a:rPr>
              <a:t> </a:t>
            </a:r>
            <a:r>
              <a:rPr lang="en-US" sz="2400" dirty="0" err="1">
                <a:uFillTx/>
              </a:rPr>
              <a:t>gói</a:t>
            </a:r>
            <a:r>
              <a:rPr lang="en-US" sz="2400" dirty="0">
                <a:uFillTx/>
              </a:rPr>
              <a:t> </a:t>
            </a:r>
            <a:r>
              <a:rPr lang="en-US" sz="2400" dirty="0" err="1">
                <a:uFillTx/>
              </a:rPr>
              <a:t>dữ</a:t>
            </a:r>
            <a:r>
              <a:rPr lang="en-US" sz="2400" dirty="0">
                <a:uFillTx/>
              </a:rPr>
              <a:t> </a:t>
            </a:r>
            <a:r>
              <a:rPr lang="en-US" sz="2400" dirty="0" err="1">
                <a:uFillTx/>
              </a:rPr>
              <a:t>liệu</a:t>
            </a:r>
            <a:r>
              <a:rPr lang="en-US" sz="2400" dirty="0">
                <a:uFillTx/>
              </a:rPr>
              <a:t> </a:t>
            </a:r>
            <a:r>
              <a:rPr lang="en-US" sz="2400" dirty="0" err="1">
                <a:uFillTx/>
              </a:rPr>
              <a:t>với</a:t>
            </a:r>
            <a:r>
              <a:rPr lang="en-US" sz="2400" dirty="0">
                <a:uFillTx/>
              </a:rPr>
              <a:t> </a:t>
            </a:r>
            <a:r>
              <a:rPr lang="en-US" sz="2400" dirty="0" err="1">
                <a:uFillTx/>
              </a:rPr>
              <a:t>thuộc</a:t>
            </a:r>
            <a:r>
              <a:rPr lang="en-US" sz="2400" dirty="0">
                <a:uFillTx/>
              </a:rPr>
              <a:t> </a:t>
            </a:r>
            <a:r>
              <a:rPr lang="en-US" sz="2400" dirty="0" err="1">
                <a:uFillTx/>
              </a:rPr>
              <a:t>tính</a:t>
            </a:r>
            <a:r>
              <a:rPr lang="en-US" sz="2400" dirty="0">
                <a:uFillTx/>
              </a:rPr>
              <a:t> (property)</a:t>
            </a:r>
          </a:p>
        </p:txBody>
      </p:sp>
    </p:spTree>
    <p:extLst>
      <p:ext uri="{BB962C8B-B14F-4D97-AF65-F5344CB8AC3E}">
        <p14:creationId xmlns:p14="http://schemas.microsoft.com/office/powerpoint/2010/main" val="154409169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7C6E0-E35A-4626-ADD0-A7DBC7313CCB}"/>
              </a:ext>
            </a:extLst>
          </p:cNvPr>
          <p:cNvSpPr>
            <a:spLocks noGrp="1"/>
          </p:cNvSpPr>
          <p:nvPr>
            <p:ph type="title"/>
          </p:nvPr>
        </p:nvSpPr>
        <p:spPr/>
        <p:txBody>
          <a:bodyPr/>
          <a:lstStyle/>
          <a:p>
            <a:r>
              <a:rPr lang="en-US" dirty="0" err="1">
                <a:uFillTx/>
              </a:rPr>
              <a:t>Thuộc</a:t>
            </a:r>
            <a:r>
              <a:rPr lang="en-US" dirty="0">
                <a:uFillTx/>
              </a:rPr>
              <a:t> </a:t>
            </a:r>
            <a:r>
              <a:rPr lang="en-US" dirty="0" err="1">
                <a:uFillTx/>
              </a:rPr>
              <a:t>tính</a:t>
            </a:r>
            <a:r>
              <a:rPr lang="en-US" dirty="0">
                <a:uFillTx/>
              </a:rPr>
              <a:t> (property)</a:t>
            </a:r>
            <a:endParaRPr lang="en-US" dirty="0"/>
          </a:p>
        </p:txBody>
      </p:sp>
      <p:sp>
        <p:nvSpPr>
          <p:cNvPr id="4" name="Date Placeholder 3">
            <a:extLst>
              <a:ext uri="{FF2B5EF4-FFF2-40B4-BE49-F238E27FC236}">
                <a16:creationId xmlns:a16="http://schemas.microsoft.com/office/drawing/2014/main" id="{81027FFF-4E79-44BA-B55B-C7E5CFE636F1}"/>
              </a:ext>
            </a:extLst>
          </p:cNvPr>
          <p:cNvSpPr>
            <a:spLocks noGrp="1"/>
          </p:cNvSpPr>
          <p:nvPr>
            <p:ph type="dt" sz="half" idx="10"/>
          </p:nvPr>
        </p:nvSpPr>
        <p:spPr/>
        <p:txBody>
          <a:bodyPr/>
          <a:lstStyle/>
          <a:p>
            <a:fld id="{1FCC884B-1AA7-4469-B526-594A4B1341A0}" type="datetime1">
              <a:rPr lang="vi-VN" smtClean="0">
                <a:uFillTx/>
              </a:rPr>
              <a:t>04/02/2025</a:t>
            </a:fld>
            <a:endParaRPr lang="vi-VN">
              <a:uFillTx/>
            </a:endParaRPr>
          </a:p>
        </p:txBody>
      </p:sp>
      <p:sp>
        <p:nvSpPr>
          <p:cNvPr id="5" name="Footer Placeholder 4">
            <a:extLst>
              <a:ext uri="{FF2B5EF4-FFF2-40B4-BE49-F238E27FC236}">
                <a16:creationId xmlns:a16="http://schemas.microsoft.com/office/drawing/2014/main" id="{BFBB9C07-9FB0-45F0-A8B6-E0F6BFE92B86}"/>
              </a:ext>
            </a:extLst>
          </p:cNvPr>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a:extLst>
              <a:ext uri="{FF2B5EF4-FFF2-40B4-BE49-F238E27FC236}">
                <a16:creationId xmlns:a16="http://schemas.microsoft.com/office/drawing/2014/main" id="{62A60864-BA1F-4B29-BCF9-86C9687D04A3}"/>
              </a:ext>
            </a:extLst>
          </p:cNvPr>
          <p:cNvSpPr>
            <a:spLocks noGrp="1"/>
          </p:cNvSpPr>
          <p:nvPr>
            <p:ph type="sldNum" sz="quarter" idx="12"/>
          </p:nvPr>
        </p:nvSpPr>
        <p:spPr/>
        <p:txBody>
          <a:bodyPr/>
          <a:lstStyle/>
          <a:p>
            <a:fld id="{5AB95402-1E0D-474E-8D8C-CBE7F053639E}" type="slidenum">
              <a:rPr lang="vi-VN" smtClean="0">
                <a:uFillTx/>
              </a:rPr>
              <a:pPr/>
              <a:t>70</a:t>
            </a:fld>
            <a:r>
              <a:rPr lang="vi-VN">
                <a:uFillTx/>
              </a:rPr>
              <a:t>/28</a:t>
            </a:r>
          </a:p>
        </p:txBody>
      </p:sp>
      <p:pic>
        <p:nvPicPr>
          <p:cNvPr id="9" name="Picture 8">
            <a:extLst>
              <a:ext uri="{FF2B5EF4-FFF2-40B4-BE49-F238E27FC236}">
                <a16:creationId xmlns:a16="http://schemas.microsoft.com/office/drawing/2014/main" id="{578E3609-EF8D-46D4-BA8B-20AD953D3679}"/>
              </a:ext>
            </a:extLst>
          </p:cNvPr>
          <p:cNvPicPr>
            <a:picLocks noChangeAspect="1"/>
          </p:cNvPicPr>
          <p:nvPr/>
        </p:nvPicPr>
        <p:blipFill>
          <a:blip r:embed="rId3"/>
          <a:stretch>
            <a:fillRect/>
          </a:stretch>
        </p:blipFill>
        <p:spPr>
          <a:xfrm>
            <a:off x="228600" y="1073473"/>
            <a:ext cx="4559424" cy="5327327"/>
          </a:xfrm>
          <a:prstGeom prst="rect">
            <a:avLst/>
          </a:prstGeom>
        </p:spPr>
      </p:pic>
      <p:pic>
        <p:nvPicPr>
          <p:cNvPr id="11" name="Picture 10">
            <a:extLst>
              <a:ext uri="{FF2B5EF4-FFF2-40B4-BE49-F238E27FC236}">
                <a16:creationId xmlns:a16="http://schemas.microsoft.com/office/drawing/2014/main" id="{D4E9AD7A-6A7D-4A5E-B69F-0FB7B07AB431}"/>
              </a:ext>
            </a:extLst>
          </p:cNvPr>
          <p:cNvPicPr>
            <a:picLocks noChangeAspect="1"/>
          </p:cNvPicPr>
          <p:nvPr/>
        </p:nvPicPr>
        <p:blipFill>
          <a:blip r:embed="rId4"/>
          <a:stretch>
            <a:fillRect/>
          </a:stretch>
        </p:blipFill>
        <p:spPr>
          <a:xfrm>
            <a:off x="4788024" y="1044526"/>
            <a:ext cx="4248472" cy="5356273"/>
          </a:xfrm>
          <a:prstGeom prst="rect">
            <a:avLst/>
          </a:prstGeom>
        </p:spPr>
      </p:pic>
    </p:spTree>
    <p:extLst>
      <p:ext uri="{BB962C8B-B14F-4D97-AF65-F5344CB8AC3E}">
        <p14:creationId xmlns:p14="http://schemas.microsoft.com/office/powerpoint/2010/main" val="281360937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7432B-0886-4FEA-8B7A-891048A841C1}"/>
              </a:ext>
            </a:extLst>
          </p:cNvPr>
          <p:cNvSpPr>
            <a:spLocks noGrp="1"/>
          </p:cNvSpPr>
          <p:nvPr>
            <p:ph type="title"/>
          </p:nvPr>
        </p:nvSpPr>
        <p:spPr/>
        <p:txBody>
          <a:bodyPr/>
          <a:lstStyle/>
          <a:p>
            <a:r>
              <a:rPr lang="en-US" dirty="0" err="1">
                <a:uFillTx/>
              </a:rPr>
              <a:t>Thuộc</a:t>
            </a:r>
            <a:r>
              <a:rPr lang="en-US" dirty="0">
                <a:uFillTx/>
              </a:rPr>
              <a:t> </a:t>
            </a:r>
            <a:r>
              <a:rPr lang="en-US" dirty="0" err="1">
                <a:uFillTx/>
              </a:rPr>
              <a:t>tính</a:t>
            </a:r>
            <a:r>
              <a:rPr lang="en-US" dirty="0">
                <a:uFillTx/>
              </a:rPr>
              <a:t> (property)</a:t>
            </a:r>
            <a:endParaRPr lang="en-US" dirty="0"/>
          </a:p>
        </p:txBody>
      </p:sp>
      <p:sp>
        <p:nvSpPr>
          <p:cNvPr id="4" name="Date Placeholder 3">
            <a:extLst>
              <a:ext uri="{FF2B5EF4-FFF2-40B4-BE49-F238E27FC236}">
                <a16:creationId xmlns:a16="http://schemas.microsoft.com/office/drawing/2014/main" id="{7788FB99-94E1-4299-83A0-0489EB9BFF4A}"/>
              </a:ext>
            </a:extLst>
          </p:cNvPr>
          <p:cNvSpPr>
            <a:spLocks noGrp="1"/>
          </p:cNvSpPr>
          <p:nvPr>
            <p:ph type="dt" sz="half" idx="10"/>
          </p:nvPr>
        </p:nvSpPr>
        <p:spPr/>
        <p:txBody>
          <a:bodyPr/>
          <a:lstStyle/>
          <a:p>
            <a:fld id="{1FCC884B-1AA7-4469-B526-594A4B1341A0}" type="datetime1">
              <a:rPr lang="vi-VN" smtClean="0">
                <a:uFillTx/>
              </a:rPr>
              <a:t>04/02/2025</a:t>
            </a:fld>
            <a:endParaRPr lang="vi-VN">
              <a:uFillTx/>
            </a:endParaRPr>
          </a:p>
        </p:txBody>
      </p:sp>
      <p:sp>
        <p:nvSpPr>
          <p:cNvPr id="6" name="Slide Number Placeholder 5">
            <a:extLst>
              <a:ext uri="{FF2B5EF4-FFF2-40B4-BE49-F238E27FC236}">
                <a16:creationId xmlns:a16="http://schemas.microsoft.com/office/drawing/2014/main" id="{537E2B09-B6FA-4893-9E93-F2D7956CF794}"/>
              </a:ext>
            </a:extLst>
          </p:cNvPr>
          <p:cNvSpPr>
            <a:spLocks noGrp="1"/>
          </p:cNvSpPr>
          <p:nvPr>
            <p:ph type="sldNum" sz="quarter" idx="12"/>
          </p:nvPr>
        </p:nvSpPr>
        <p:spPr/>
        <p:txBody>
          <a:bodyPr/>
          <a:lstStyle/>
          <a:p>
            <a:fld id="{5AB95402-1E0D-474E-8D8C-CBE7F053639E}" type="slidenum">
              <a:rPr lang="vi-VN" smtClean="0">
                <a:uFillTx/>
              </a:rPr>
              <a:pPr/>
              <a:t>71</a:t>
            </a:fld>
            <a:r>
              <a:rPr lang="vi-VN">
                <a:uFillTx/>
              </a:rPr>
              <a:t>/28</a:t>
            </a:r>
          </a:p>
        </p:txBody>
      </p:sp>
      <p:pic>
        <p:nvPicPr>
          <p:cNvPr id="8" name="Picture 7">
            <a:extLst>
              <a:ext uri="{FF2B5EF4-FFF2-40B4-BE49-F238E27FC236}">
                <a16:creationId xmlns:a16="http://schemas.microsoft.com/office/drawing/2014/main" id="{EDF92D56-1989-4D32-B40A-0263C5F28290}"/>
              </a:ext>
            </a:extLst>
          </p:cNvPr>
          <p:cNvPicPr>
            <a:picLocks noChangeAspect="1"/>
          </p:cNvPicPr>
          <p:nvPr/>
        </p:nvPicPr>
        <p:blipFill>
          <a:blip r:embed="rId3"/>
          <a:stretch>
            <a:fillRect/>
          </a:stretch>
        </p:blipFill>
        <p:spPr>
          <a:xfrm>
            <a:off x="222796" y="1125603"/>
            <a:ext cx="4522224" cy="5732397"/>
          </a:xfrm>
          <a:prstGeom prst="rect">
            <a:avLst/>
          </a:prstGeom>
        </p:spPr>
      </p:pic>
      <p:pic>
        <p:nvPicPr>
          <p:cNvPr id="10" name="Picture 9">
            <a:extLst>
              <a:ext uri="{FF2B5EF4-FFF2-40B4-BE49-F238E27FC236}">
                <a16:creationId xmlns:a16="http://schemas.microsoft.com/office/drawing/2014/main" id="{F720B16F-289B-4C70-B000-9BDB814D526E}"/>
              </a:ext>
            </a:extLst>
          </p:cNvPr>
          <p:cNvPicPr>
            <a:picLocks noChangeAspect="1"/>
          </p:cNvPicPr>
          <p:nvPr/>
        </p:nvPicPr>
        <p:blipFill>
          <a:blip r:embed="rId4"/>
          <a:stretch>
            <a:fillRect/>
          </a:stretch>
        </p:blipFill>
        <p:spPr>
          <a:xfrm>
            <a:off x="4903224" y="1125603"/>
            <a:ext cx="4398980" cy="5732397"/>
          </a:xfrm>
          <a:prstGeom prst="rect">
            <a:avLst/>
          </a:prstGeom>
        </p:spPr>
      </p:pic>
      <p:sp>
        <p:nvSpPr>
          <p:cNvPr id="5" name="Oval 4">
            <a:extLst>
              <a:ext uri="{FF2B5EF4-FFF2-40B4-BE49-F238E27FC236}">
                <a16:creationId xmlns:a16="http://schemas.microsoft.com/office/drawing/2014/main" id="{CAFACE14-84FB-446C-B73F-E52E96FB03DF}"/>
              </a:ext>
            </a:extLst>
          </p:cNvPr>
          <p:cNvSpPr/>
          <p:nvPr/>
        </p:nvSpPr>
        <p:spPr>
          <a:xfrm>
            <a:off x="6804248" y="1125603"/>
            <a:ext cx="864096" cy="320675"/>
          </a:xfrm>
          <a:prstGeom prst="ellipse">
            <a:avLst/>
          </a:prstGeom>
        </p:spPr>
        <p:style>
          <a:lnRef idx="1">
            <a:schemeClr val="accent1"/>
          </a:lnRef>
          <a:fillRef idx="1">
            <a:schemeClr val="accent1"/>
          </a:fillRef>
          <a:effectRef idx="1">
            <a:schemeClr val="accent1"/>
          </a:effectRef>
          <a:fontRef idx="minor">
            <a:schemeClr val="lt1"/>
          </a:fontRef>
        </p:style>
        <p:txBody>
          <a:bodyPr rtlCol="0" anchor="ctr"/>
          <a:lstStyle/>
          <a:p>
            <a:pPr algn="ctr"/>
            <a:r>
              <a:rPr lang="en-US" b="1" dirty="0">
                <a:solidFill>
                  <a:schemeClr val="tx1"/>
                </a:solidFill>
              </a:rPr>
              <a:t>int</a:t>
            </a:r>
          </a:p>
        </p:txBody>
      </p:sp>
    </p:spTree>
    <p:extLst>
      <p:ext uri="{BB962C8B-B14F-4D97-AF65-F5344CB8AC3E}">
        <p14:creationId xmlns:p14="http://schemas.microsoft.com/office/powerpoint/2010/main" val="166864278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55F62-52F8-4136-A05A-98E688C6FB70}"/>
              </a:ext>
            </a:extLst>
          </p:cNvPr>
          <p:cNvSpPr>
            <a:spLocks noGrp="1"/>
          </p:cNvSpPr>
          <p:nvPr>
            <p:ph type="title"/>
          </p:nvPr>
        </p:nvSpPr>
        <p:spPr/>
        <p:txBody>
          <a:bodyPr/>
          <a:lstStyle/>
          <a:p>
            <a:r>
              <a:rPr lang="en-US" dirty="0" err="1">
                <a:uFillTx/>
              </a:rPr>
              <a:t>Thuộc</a:t>
            </a:r>
            <a:r>
              <a:rPr lang="en-US" dirty="0">
                <a:uFillTx/>
              </a:rPr>
              <a:t> </a:t>
            </a:r>
            <a:r>
              <a:rPr lang="en-US" dirty="0" err="1">
                <a:uFillTx/>
              </a:rPr>
              <a:t>tính</a:t>
            </a:r>
            <a:r>
              <a:rPr lang="en-US" dirty="0">
                <a:uFillTx/>
              </a:rPr>
              <a:t> (property)</a:t>
            </a:r>
            <a:endParaRPr lang="en-US" dirty="0"/>
          </a:p>
        </p:txBody>
      </p:sp>
      <p:sp>
        <p:nvSpPr>
          <p:cNvPr id="4" name="Date Placeholder 3">
            <a:extLst>
              <a:ext uri="{FF2B5EF4-FFF2-40B4-BE49-F238E27FC236}">
                <a16:creationId xmlns:a16="http://schemas.microsoft.com/office/drawing/2014/main" id="{03A233EF-D27F-4FD8-8D67-88CA38DFD4F9}"/>
              </a:ext>
            </a:extLst>
          </p:cNvPr>
          <p:cNvSpPr>
            <a:spLocks noGrp="1"/>
          </p:cNvSpPr>
          <p:nvPr>
            <p:ph type="dt" sz="half" idx="10"/>
          </p:nvPr>
        </p:nvSpPr>
        <p:spPr/>
        <p:txBody>
          <a:bodyPr/>
          <a:lstStyle/>
          <a:p>
            <a:fld id="{1FCC884B-1AA7-4469-B526-594A4B1341A0}" type="datetime1">
              <a:rPr lang="vi-VN" smtClean="0">
                <a:uFillTx/>
              </a:rPr>
              <a:t>04/02/2025</a:t>
            </a:fld>
            <a:endParaRPr lang="vi-VN">
              <a:uFillTx/>
            </a:endParaRPr>
          </a:p>
        </p:txBody>
      </p:sp>
      <p:sp>
        <p:nvSpPr>
          <p:cNvPr id="5" name="Footer Placeholder 4">
            <a:extLst>
              <a:ext uri="{FF2B5EF4-FFF2-40B4-BE49-F238E27FC236}">
                <a16:creationId xmlns:a16="http://schemas.microsoft.com/office/drawing/2014/main" id="{C875619D-2DBC-4BAE-8DCD-450D8DEE9CC0}"/>
              </a:ext>
            </a:extLst>
          </p:cNvPr>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a:extLst>
              <a:ext uri="{FF2B5EF4-FFF2-40B4-BE49-F238E27FC236}">
                <a16:creationId xmlns:a16="http://schemas.microsoft.com/office/drawing/2014/main" id="{F873425E-75F3-4792-B59E-D6E4681C523E}"/>
              </a:ext>
            </a:extLst>
          </p:cNvPr>
          <p:cNvSpPr>
            <a:spLocks noGrp="1"/>
          </p:cNvSpPr>
          <p:nvPr>
            <p:ph type="sldNum" sz="quarter" idx="12"/>
          </p:nvPr>
        </p:nvSpPr>
        <p:spPr/>
        <p:txBody>
          <a:bodyPr/>
          <a:lstStyle/>
          <a:p>
            <a:fld id="{5AB95402-1E0D-474E-8D8C-CBE7F053639E}" type="slidenum">
              <a:rPr lang="vi-VN" smtClean="0">
                <a:uFillTx/>
              </a:rPr>
              <a:pPr/>
              <a:t>72</a:t>
            </a:fld>
            <a:r>
              <a:rPr lang="vi-VN">
                <a:uFillTx/>
              </a:rPr>
              <a:t>/28</a:t>
            </a:r>
          </a:p>
        </p:txBody>
      </p:sp>
      <p:pic>
        <p:nvPicPr>
          <p:cNvPr id="8" name="Picture 7">
            <a:extLst>
              <a:ext uri="{FF2B5EF4-FFF2-40B4-BE49-F238E27FC236}">
                <a16:creationId xmlns:a16="http://schemas.microsoft.com/office/drawing/2014/main" id="{EF8DDC25-28AC-4FB8-BE30-CFD3B3F7A155}"/>
              </a:ext>
            </a:extLst>
          </p:cNvPr>
          <p:cNvPicPr>
            <a:picLocks noChangeAspect="1"/>
          </p:cNvPicPr>
          <p:nvPr/>
        </p:nvPicPr>
        <p:blipFill>
          <a:blip r:embed="rId3"/>
          <a:stretch>
            <a:fillRect/>
          </a:stretch>
        </p:blipFill>
        <p:spPr>
          <a:xfrm>
            <a:off x="11832" y="1268760"/>
            <a:ext cx="4416152" cy="3676650"/>
          </a:xfrm>
          <a:prstGeom prst="rect">
            <a:avLst/>
          </a:prstGeom>
        </p:spPr>
      </p:pic>
      <p:graphicFrame>
        <p:nvGraphicFramePr>
          <p:cNvPr id="9" name="Object 8">
            <a:extLst>
              <a:ext uri="{FF2B5EF4-FFF2-40B4-BE49-F238E27FC236}">
                <a16:creationId xmlns:a16="http://schemas.microsoft.com/office/drawing/2014/main" id="{1F17273E-B416-4376-887B-CBCA1FA81685}"/>
              </a:ext>
            </a:extLst>
          </p:cNvPr>
          <p:cNvGraphicFramePr>
            <a:graphicFrameLocks noChangeAspect="1"/>
          </p:cNvGraphicFramePr>
          <p:nvPr/>
        </p:nvGraphicFramePr>
        <p:xfrm>
          <a:off x="4448944" y="2171700"/>
          <a:ext cx="4800600" cy="1524000"/>
        </p:xfrm>
        <a:graphic>
          <a:graphicData uri="http://schemas.openxmlformats.org/presentationml/2006/ole">
            <mc:AlternateContent xmlns:mc="http://schemas.openxmlformats.org/markup-compatibility/2006">
              <mc:Choice xmlns:v="urn:schemas-microsoft-com:vml" Requires="v">
                <p:oleObj name="Bitmap Image" r:id="rId4" imgW="4800600" imgH="1523880" progId="Paint.Picture">
                  <p:embed/>
                </p:oleObj>
              </mc:Choice>
              <mc:Fallback>
                <p:oleObj name="Bitmap Image" r:id="rId4" imgW="4800600" imgH="1523880" progId="Paint.Picture">
                  <p:embed/>
                  <p:pic>
                    <p:nvPicPr>
                      <p:cNvPr id="9" name="Object 8">
                        <a:extLst>
                          <a:ext uri="{FF2B5EF4-FFF2-40B4-BE49-F238E27FC236}">
                            <a16:creationId xmlns:a16="http://schemas.microsoft.com/office/drawing/2014/main" id="{1F17273E-B416-4376-887B-CBCA1FA81685}"/>
                          </a:ext>
                        </a:extLst>
                      </p:cNvPr>
                      <p:cNvPicPr/>
                      <p:nvPr/>
                    </p:nvPicPr>
                    <p:blipFill>
                      <a:blip r:embed="rId5"/>
                      <a:stretch>
                        <a:fillRect/>
                      </a:stretch>
                    </p:blipFill>
                    <p:spPr>
                      <a:xfrm>
                        <a:off x="4448944" y="2171700"/>
                        <a:ext cx="4800600" cy="1524000"/>
                      </a:xfrm>
                      <a:prstGeom prst="rect">
                        <a:avLst/>
                      </a:prstGeom>
                    </p:spPr>
                  </p:pic>
                </p:oleObj>
              </mc:Fallback>
            </mc:AlternateContent>
          </a:graphicData>
        </a:graphic>
      </p:graphicFrame>
    </p:spTree>
    <p:extLst>
      <p:ext uri="{BB962C8B-B14F-4D97-AF65-F5344CB8AC3E}">
        <p14:creationId xmlns:p14="http://schemas.microsoft.com/office/powerpoint/2010/main" val="121990277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uFillTx/>
              </a:rPr>
              <a:t>Thuộc</a:t>
            </a:r>
            <a:r>
              <a:rPr lang="en-US" dirty="0">
                <a:uFillTx/>
              </a:rPr>
              <a:t> </a:t>
            </a:r>
            <a:r>
              <a:rPr lang="en-US" dirty="0" err="1">
                <a:uFillTx/>
              </a:rPr>
              <a:t>tính</a:t>
            </a:r>
            <a:r>
              <a:rPr lang="en-US" dirty="0">
                <a:uFillTx/>
              </a:rPr>
              <a:t> (property)</a:t>
            </a:r>
          </a:p>
        </p:txBody>
      </p:sp>
      <p:sp>
        <p:nvSpPr>
          <p:cNvPr id="3" name="Content Placeholder 2"/>
          <p:cNvSpPr>
            <a:spLocks noGrp="1"/>
          </p:cNvSpPr>
          <p:nvPr>
            <p:ph idx="1"/>
          </p:nvPr>
        </p:nvSpPr>
        <p:spPr/>
        <p:txBody>
          <a:bodyPr/>
          <a:lstStyle/>
          <a:p>
            <a:r>
              <a:rPr lang="en-US">
                <a:uFillTx/>
              </a:rPr>
              <a:t>Cú pháp</a:t>
            </a:r>
          </a:p>
          <a:p>
            <a:pPr marL="471487" lvl="1" indent="0">
              <a:spcBef>
                <a:spcPts val="0"/>
              </a:spcBef>
              <a:buNone/>
            </a:pPr>
            <a:r>
              <a:rPr lang="en-US" sz="2200">
                <a:solidFill>
                  <a:srgbClr val="FF0000"/>
                </a:solidFill>
                <a:uFillTx/>
                <a:latin typeface="Courier New" pitchFamily="49" charset="0"/>
                <a:cs typeface="Courier New" pitchFamily="49" charset="0"/>
              </a:rPr>
              <a:t>public</a:t>
            </a:r>
            <a:r>
              <a:rPr lang="en-US" sz="2200">
                <a:uFillTx/>
                <a:latin typeface="Courier New" pitchFamily="49" charset="0"/>
                <a:cs typeface="Courier New" pitchFamily="49" charset="0"/>
              </a:rPr>
              <a:t> &lt;Kiểu trả về&gt;   &lt;Tên thuộc tính&gt;</a:t>
            </a:r>
          </a:p>
          <a:p>
            <a:pPr marL="471487" lvl="1" indent="0">
              <a:spcBef>
                <a:spcPts val="0"/>
              </a:spcBef>
              <a:buNone/>
            </a:pPr>
            <a:r>
              <a:rPr lang="en-US" sz="2200">
                <a:uFillTx/>
                <a:latin typeface="Courier New" pitchFamily="49" charset="0"/>
                <a:cs typeface="Courier New" pitchFamily="49" charset="0"/>
              </a:rPr>
              <a:t>{	//Phương thức lấy giá trị</a:t>
            </a:r>
          </a:p>
          <a:p>
            <a:pPr marL="471487" lvl="1" indent="0">
              <a:spcBef>
                <a:spcPts val="0"/>
              </a:spcBef>
              <a:buNone/>
            </a:pPr>
            <a:r>
              <a:rPr lang="en-US" sz="2200">
                <a:uFillTx/>
                <a:latin typeface="Courier New" pitchFamily="49" charset="0"/>
                <a:cs typeface="Courier New" pitchFamily="49" charset="0"/>
              </a:rPr>
              <a:t>	</a:t>
            </a:r>
            <a:r>
              <a:rPr lang="en-US" sz="2200" b="1">
                <a:solidFill>
                  <a:srgbClr val="FF0000"/>
                </a:solidFill>
                <a:uFillTx/>
                <a:latin typeface="Courier New" pitchFamily="49" charset="0"/>
                <a:cs typeface="Courier New" pitchFamily="49" charset="0"/>
              </a:rPr>
              <a:t>get</a:t>
            </a:r>
          </a:p>
          <a:p>
            <a:pPr marL="471487" lvl="1" indent="0">
              <a:spcBef>
                <a:spcPts val="0"/>
              </a:spcBef>
              <a:buNone/>
            </a:pPr>
            <a:r>
              <a:rPr lang="en-US" sz="2200">
                <a:uFillTx/>
                <a:latin typeface="Courier New" pitchFamily="49" charset="0"/>
                <a:cs typeface="Courier New" pitchFamily="49" charset="0"/>
              </a:rPr>
              <a:t>	{     </a:t>
            </a:r>
            <a:r>
              <a:rPr lang="en-US" sz="2200">
                <a:solidFill>
                  <a:srgbClr val="00B050"/>
                </a:solidFill>
                <a:uFillTx/>
                <a:latin typeface="Courier New" pitchFamily="49" charset="0"/>
                <a:cs typeface="Courier New" pitchFamily="49" charset="0"/>
              </a:rPr>
              <a:t>//các lệnh</a:t>
            </a:r>
          </a:p>
          <a:p>
            <a:pPr marL="471487" lvl="1" indent="0">
              <a:spcBef>
                <a:spcPts val="0"/>
              </a:spcBef>
              <a:buNone/>
            </a:pPr>
            <a:r>
              <a:rPr lang="en-US" sz="2200">
                <a:uFillTx/>
                <a:latin typeface="Courier New" pitchFamily="49" charset="0"/>
                <a:cs typeface="Courier New" pitchFamily="49" charset="0"/>
              </a:rPr>
              <a:t>		</a:t>
            </a:r>
            <a:r>
              <a:rPr lang="en-US" sz="2200" b="1">
                <a:solidFill>
                  <a:srgbClr val="FF0000"/>
                </a:solidFill>
                <a:uFillTx/>
                <a:latin typeface="Courier New" pitchFamily="49" charset="0"/>
                <a:cs typeface="Courier New" pitchFamily="49" charset="0"/>
              </a:rPr>
              <a:t>return</a:t>
            </a:r>
            <a:r>
              <a:rPr lang="en-US" sz="2200">
                <a:uFillTx/>
                <a:latin typeface="Courier New" pitchFamily="49" charset="0"/>
                <a:cs typeface="Courier New" pitchFamily="49" charset="0"/>
              </a:rPr>
              <a:t> &lt;Biểu thức&gt;;</a:t>
            </a:r>
          </a:p>
          <a:p>
            <a:pPr marL="471487" lvl="1" indent="0">
              <a:spcBef>
                <a:spcPts val="0"/>
              </a:spcBef>
              <a:buNone/>
            </a:pPr>
            <a:r>
              <a:rPr lang="en-US" sz="2200">
                <a:uFillTx/>
                <a:latin typeface="Courier New" pitchFamily="49" charset="0"/>
                <a:cs typeface="Courier New" pitchFamily="49" charset="0"/>
              </a:rPr>
              <a:t>	}</a:t>
            </a:r>
          </a:p>
          <a:p>
            <a:pPr marL="471487" lvl="1" indent="0">
              <a:spcBef>
                <a:spcPts val="0"/>
              </a:spcBef>
              <a:buNone/>
            </a:pPr>
            <a:r>
              <a:rPr lang="en-US" sz="2200">
                <a:uFillTx/>
                <a:latin typeface="Courier New" pitchFamily="49" charset="0"/>
                <a:cs typeface="Courier New" pitchFamily="49" charset="0"/>
              </a:rPr>
              <a:t>	</a:t>
            </a:r>
            <a:r>
              <a:rPr lang="en-US" sz="2200" b="1">
                <a:solidFill>
                  <a:srgbClr val="FF0000"/>
                </a:solidFill>
                <a:uFillTx/>
                <a:latin typeface="Courier New" pitchFamily="49" charset="0"/>
                <a:cs typeface="Courier New" pitchFamily="49" charset="0"/>
              </a:rPr>
              <a:t>set </a:t>
            </a:r>
          </a:p>
          <a:p>
            <a:pPr marL="471487" lvl="1" indent="0">
              <a:spcBef>
                <a:spcPts val="0"/>
              </a:spcBef>
              <a:buNone/>
            </a:pPr>
            <a:r>
              <a:rPr lang="en-US" sz="2200">
                <a:uFillTx/>
                <a:latin typeface="Courier New" pitchFamily="49" charset="0"/>
                <a:cs typeface="Courier New" pitchFamily="49" charset="0"/>
              </a:rPr>
              <a:t>	{    </a:t>
            </a:r>
            <a:r>
              <a:rPr lang="en-US" sz="2200">
                <a:solidFill>
                  <a:srgbClr val="00B050"/>
                </a:solidFill>
                <a:uFillTx/>
                <a:latin typeface="Courier New" pitchFamily="49" charset="0"/>
                <a:cs typeface="Courier New" pitchFamily="49" charset="0"/>
              </a:rPr>
              <a:t>//các lệnh</a:t>
            </a:r>
          </a:p>
          <a:p>
            <a:pPr marL="471487" lvl="1" indent="0">
              <a:spcBef>
                <a:spcPts val="0"/>
              </a:spcBef>
              <a:buNone/>
            </a:pPr>
            <a:r>
              <a:rPr lang="en-US" sz="2200">
                <a:uFillTx/>
                <a:latin typeface="Courier New" pitchFamily="49" charset="0"/>
                <a:cs typeface="Courier New" pitchFamily="49" charset="0"/>
              </a:rPr>
              <a:t>		&lt;Biến thành viên&gt; = </a:t>
            </a:r>
            <a:r>
              <a:rPr lang="en-US" sz="2200" b="1">
                <a:solidFill>
                  <a:srgbClr val="FF0000"/>
                </a:solidFill>
                <a:uFillTx/>
                <a:latin typeface="Courier New" pitchFamily="49" charset="0"/>
                <a:cs typeface="Courier New" pitchFamily="49" charset="0"/>
              </a:rPr>
              <a:t>value</a:t>
            </a:r>
            <a:r>
              <a:rPr lang="en-US" sz="2200">
                <a:uFillTx/>
                <a:latin typeface="Courier New" pitchFamily="49" charset="0"/>
                <a:cs typeface="Courier New" pitchFamily="49" charset="0"/>
              </a:rPr>
              <a:t>;</a:t>
            </a:r>
          </a:p>
          <a:p>
            <a:pPr marL="471487" lvl="1" indent="0">
              <a:spcBef>
                <a:spcPts val="0"/>
              </a:spcBef>
              <a:buNone/>
            </a:pPr>
            <a:r>
              <a:rPr lang="en-US" sz="2200">
                <a:uFillTx/>
                <a:latin typeface="Courier New" pitchFamily="49" charset="0"/>
                <a:cs typeface="Courier New" pitchFamily="49" charset="0"/>
              </a:rPr>
              <a:t>	}</a:t>
            </a:r>
          </a:p>
          <a:p>
            <a:pPr marL="471487" lvl="1" indent="0">
              <a:spcBef>
                <a:spcPts val="0"/>
              </a:spcBef>
              <a:buNone/>
            </a:pPr>
            <a:r>
              <a:rPr lang="en-US" sz="2200">
                <a:uFillTx/>
                <a:latin typeface="Courier New" pitchFamily="49" charset="0"/>
                <a:cs typeface="Courier New" pitchFamily="49" charset="0"/>
              </a:rPr>
              <a:t>}</a:t>
            </a:r>
          </a:p>
          <a:p>
            <a:pPr marL="490537" indent="-457200"/>
            <a:r>
              <a:rPr lang="en-US">
                <a:uFillTx/>
              </a:rPr>
              <a:t>Chú ý</a:t>
            </a:r>
          </a:p>
          <a:p>
            <a:pPr marL="928687" lvl="1" indent="-457200"/>
            <a:r>
              <a:rPr lang="en-US" sz="2000" b="1">
                <a:solidFill>
                  <a:srgbClr val="FF0000"/>
                </a:solidFill>
                <a:uFillTx/>
              </a:rPr>
              <a:t>value</a:t>
            </a:r>
            <a:r>
              <a:rPr lang="en-US" sz="2000">
                <a:uFillTx/>
              </a:rPr>
              <a:t>: từ khoá chỉ giá trị dùng để gán 	</a:t>
            </a:r>
            <a:endParaRPr lang="en-US">
              <a:uFillTx/>
            </a:endParaRPr>
          </a:p>
        </p:txBody>
      </p:sp>
      <p:sp>
        <p:nvSpPr>
          <p:cNvPr id="4" name="Date Placeholder 3"/>
          <p:cNvSpPr>
            <a:spLocks noGrp="1"/>
          </p:cNvSpPr>
          <p:nvPr>
            <p:ph type="dt" sz="half" idx="10"/>
          </p:nvPr>
        </p:nvSpPr>
        <p:spPr/>
        <p:txBody>
          <a:bodyPr/>
          <a:lstStyle/>
          <a:p>
            <a:fld id="{7A42F2DC-C9A3-4251-ADD6-10237A9A7103}" type="datetime1">
              <a:rPr lang="vi-VN" smtClean="0">
                <a:uFillTx/>
              </a:rPr>
              <a:t>04/02/2025</a:t>
            </a:fld>
            <a:endParaRPr lang="vi-VN">
              <a:uFillTx/>
            </a:endParaRPr>
          </a:p>
        </p:txBody>
      </p:sp>
      <p:sp>
        <p:nvSpPr>
          <p:cNvPr id="5" name="Footer Placeholder 4"/>
          <p:cNvSpPr>
            <a:spLocks noGrp="1"/>
          </p:cNvSpPr>
          <p:nvPr>
            <p:ph type="ftr" sz="quarter" idx="11"/>
          </p:nvPr>
        </p:nvSpPr>
        <p:spPr/>
        <p:txBody>
          <a:bodyPr/>
          <a:lstStyle/>
          <a:p>
            <a:r>
              <a:rPr lang="vi-VN">
                <a:uFillTx/>
              </a:rPr>
              <a:t>Chương 3. Lập trình hướng đối tượng trong C#</a:t>
            </a:r>
          </a:p>
        </p:txBody>
      </p:sp>
      <p:sp>
        <p:nvSpPr>
          <p:cNvPr id="7" name="Slide Number Placeholder 6"/>
          <p:cNvSpPr>
            <a:spLocks noGrp="1"/>
          </p:cNvSpPr>
          <p:nvPr>
            <p:ph type="sldNum" sz="quarter" idx="12"/>
          </p:nvPr>
        </p:nvSpPr>
        <p:spPr/>
        <p:txBody>
          <a:bodyPr/>
          <a:lstStyle/>
          <a:p>
            <a:fld id="{5AB95402-1E0D-474E-8D8C-CBE7F053639E}" type="slidenum">
              <a:rPr lang="vi-VN" smtClean="0">
                <a:uFillTx/>
              </a:rPr>
              <a:pPr/>
              <a:t>73</a:t>
            </a:fld>
            <a:r>
              <a:rPr lang="vi-VN">
                <a:uFillTx/>
              </a:rPr>
              <a:t>/38</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uFillTx/>
              </a:rPr>
              <a:t>Ví dụ - Thuộc tính</a:t>
            </a:r>
          </a:p>
        </p:txBody>
      </p:sp>
      <p:sp>
        <p:nvSpPr>
          <p:cNvPr id="3" name="Content Placeholder 2"/>
          <p:cNvSpPr>
            <a:spLocks noGrp="1"/>
          </p:cNvSpPr>
          <p:nvPr>
            <p:ph idx="1"/>
          </p:nvPr>
        </p:nvSpPr>
        <p:spPr>
          <a:xfrm>
            <a:off x="689992" y="1247934"/>
            <a:ext cx="4242048" cy="5181600"/>
          </a:xfrm>
        </p:spPr>
        <p:txBody>
          <a:bodyPr/>
          <a:lstStyle/>
          <a:p>
            <a:r>
              <a:rPr lang="en-US">
                <a:uFillTx/>
              </a:rPr>
              <a:t>Khai báo lớp Student</a:t>
            </a:r>
          </a:p>
          <a:p>
            <a:pPr marL="0" indent="0">
              <a:spcBef>
                <a:spcPts val="0"/>
              </a:spcBef>
              <a:buNone/>
            </a:pPr>
            <a:r>
              <a:rPr lang="en-US" sz="1600" b="1">
                <a:solidFill>
                  <a:srgbClr val="0000FF"/>
                </a:solidFill>
                <a:uFillTx/>
              </a:rPr>
              <a:t>class</a:t>
            </a:r>
            <a:r>
              <a:rPr lang="en-US" sz="1600">
                <a:uFillTx/>
              </a:rPr>
              <a:t> Student</a:t>
            </a:r>
          </a:p>
          <a:p>
            <a:pPr marL="0" indent="0">
              <a:spcBef>
                <a:spcPts val="0"/>
              </a:spcBef>
              <a:buNone/>
            </a:pPr>
            <a:r>
              <a:rPr lang="en-US" sz="1600">
                <a:uFillTx/>
              </a:rPr>
              <a:t>    {</a:t>
            </a:r>
          </a:p>
          <a:p>
            <a:pPr marL="0" indent="0">
              <a:spcBef>
                <a:spcPts val="0"/>
              </a:spcBef>
              <a:buNone/>
            </a:pPr>
            <a:r>
              <a:rPr lang="en-US" sz="1600">
                <a:solidFill>
                  <a:srgbClr val="00B050"/>
                </a:solidFill>
                <a:uFillTx/>
              </a:rPr>
              <a:t> //Tên các property không có dấu _, tên </a:t>
            </a:r>
          </a:p>
          <a:p>
            <a:pPr marL="0" indent="0">
              <a:spcBef>
                <a:spcPts val="0"/>
              </a:spcBef>
              <a:buNone/>
            </a:pPr>
            <a:r>
              <a:rPr lang="en-US" sz="1600">
                <a:solidFill>
                  <a:srgbClr val="00B050"/>
                </a:solidFill>
                <a:uFillTx/>
              </a:rPr>
              <a:t> // các thành phần dữ liệu có dấu _</a:t>
            </a:r>
          </a:p>
          <a:p>
            <a:pPr marL="0" indent="0">
              <a:spcBef>
                <a:spcPts val="0"/>
              </a:spcBef>
              <a:buNone/>
            </a:pPr>
            <a:r>
              <a:rPr lang="en-US" sz="1600">
                <a:uFillTx/>
              </a:rPr>
              <a:t>        private </a:t>
            </a:r>
            <a:r>
              <a:rPr lang="en-US" sz="1600" b="1">
                <a:solidFill>
                  <a:srgbClr val="0000FF"/>
                </a:solidFill>
                <a:uFillTx/>
              </a:rPr>
              <a:t>string</a:t>
            </a:r>
            <a:r>
              <a:rPr lang="en-US" sz="1600">
                <a:uFillTx/>
              </a:rPr>
              <a:t> </a:t>
            </a:r>
            <a:r>
              <a:rPr lang="en-US" sz="1600">
                <a:solidFill>
                  <a:srgbClr val="FF0000"/>
                </a:solidFill>
                <a:uFillTx/>
              </a:rPr>
              <a:t>_Ten;</a:t>
            </a:r>
          </a:p>
          <a:p>
            <a:pPr marL="0" indent="0">
              <a:spcBef>
                <a:spcPts val="0"/>
              </a:spcBef>
              <a:buNone/>
            </a:pPr>
            <a:r>
              <a:rPr lang="en-US" sz="1600">
                <a:uFillTx/>
              </a:rPr>
              <a:t>        </a:t>
            </a:r>
            <a:r>
              <a:rPr lang="en-US" sz="1600" b="1">
                <a:solidFill>
                  <a:srgbClr val="0000FF"/>
                </a:solidFill>
                <a:uFillTx/>
              </a:rPr>
              <a:t>float</a:t>
            </a:r>
            <a:r>
              <a:rPr lang="en-US" sz="1600">
                <a:solidFill>
                  <a:srgbClr val="0000FF"/>
                </a:solidFill>
                <a:uFillTx/>
              </a:rPr>
              <a:t> </a:t>
            </a:r>
            <a:r>
              <a:rPr lang="en-US" sz="1600">
                <a:solidFill>
                  <a:srgbClr val="FF0000"/>
                </a:solidFill>
                <a:uFillTx/>
              </a:rPr>
              <a:t>_DiemToan</a:t>
            </a:r>
            <a:r>
              <a:rPr lang="en-US" sz="1600">
                <a:uFillTx/>
              </a:rPr>
              <a:t>, </a:t>
            </a:r>
            <a:r>
              <a:rPr lang="en-US" sz="1600">
                <a:solidFill>
                  <a:srgbClr val="FF0000"/>
                </a:solidFill>
                <a:uFillTx/>
              </a:rPr>
              <a:t>_DiemTin</a:t>
            </a:r>
            <a:r>
              <a:rPr lang="en-US" sz="1600">
                <a:uFillTx/>
              </a:rPr>
              <a:t>, </a:t>
            </a:r>
            <a:r>
              <a:rPr lang="en-US" sz="1600">
                <a:solidFill>
                  <a:srgbClr val="FF0000"/>
                </a:solidFill>
                <a:uFillTx/>
              </a:rPr>
              <a:t>_DiemTB</a:t>
            </a:r>
            <a:r>
              <a:rPr lang="en-US" sz="1600">
                <a:uFillTx/>
              </a:rPr>
              <a:t>;</a:t>
            </a:r>
          </a:p>
          <a:p>
            <a:pPr marL="0" indent="0">
              <a:spcBef>
                <a:spcPts val="0"/>
              </a:spcBef>
              <a:buNone/>
            </a:pPr>
            <a:r>
              <a:rPr lang="en-US" sz="1600">
                <a:solidFill>
                  <a:srgbClr val="00B050"/>
                </a:solidFill>
                <a:uFillTx/>
              </a:rPr>
              <a:t>        //Hàm tạo</a:t>
            </a:r>
          </a:p>
          <a:p>
            <a:pPr marL="0" indent="0">
              <a:spcBef>
                <a:spcPts val="0"/>
              </a:spcBef>
              <a:buNone/>
            </a:pPr>
            <a:r>
              <a:rPr lang="en-US" sz="1600">
                <a:uFillTx/>
              </a:rPr>
              <a:t>        public Student()</a:t>
            </a:r>
          </a:p>
          <a:p>
            <a:pPr marL="0" indent="0">
              <a:spcBef>
                <a:spcPts val="0"/>
              </a:spcBef>
              <a:buNone/>
            </a:pPr>
            <a:r>
              <a:rPr lang="en-US" sz="1600">
                <a:uFillTx/>
              </a:rPr>
              <a:t>        {</a:t>
            </a:r>
          </a:p>
          <a:p>
            <a:pPr marL="0" indent="0">
              <a:spcBef>
                <a:spcPts val="0"/>
              </a:spcBef>
              <a:buNone/>
            </a:pPr>
            <a:r>
              <a:rPr lang="en-US" sz="1600">
                <a:uFillTx/>
              </a:rPr>
              <a:t>            _Ten = "";</a:t>
            </a:r>
          </a:p>
          <a:p>
            <a:pPr marL="0" indent="0">
              <a:spcBef>
                <a:spcPts val="0"/>
              </a:spcBef>
              <a:buNone/>
            </a:pPr>
            <a:r>
              <a:rPr lang="en-US" sz="1600">
                <a:uFillTx/>
              </a:rPr>
              <a:t>            _DiemToan = 0;</a:t>
            </a:r>
          </a:p>
          <a:p>
            <a:pPr marL="0" indent="0">
              <a:spcBef>
                <a:spcPts val="0"/>
              </a:spcBef>
              <a:buNone/>
            </a:pPr>
            <a:r>
              <a:rPr lang="en-US" sz="1600">
                <a:uFillTx/>
              </a:rPr>
              <a:t>            _DiemTin = 0;</a:t>
            </a:r>
          </a:p>
          <a:p>
            <a:pPr marL="0" indent="0">
              <a:spcBef>
                <a:spcPts val="0"/>
              </a:spcBef>
              <a:buNone/>
            </a:pPr>
            <a:r>
              <a:rPr lang="en-US" sz="1600">
                <a:uFillTx/>
              </a:rPr>
              <a:t>            _DiemTB = 0;</a:t>
            </a:r>
          </a:p>
          <a:p>
            <a:pPr marL="0" indent="0">
              <a:spcBef>
                <a:spcPts val="0"/>
              </a:spcBef>
              <a:buNone/>
            </a:pPr>
            <a:r>
              <a:rPr lang="en-US" sz="1600">
                <a:uFillTx/>
              </a:rPr>
              <a:t>        }</a:t>
            </a:r>
          </a:p>
          <a:p>
            <a:pPr marL="0" indent="0">
              <a:spcBef>
                <a:spcPts val="0"/>
              </a:spcBef>
              <a:buNone/>
            </a:pPr>
            <a:r>
              <a:rPr lang="en-US" sz="1600">
                <a:uFillTx/>
              </a:rPr>
              <a:t>        </a:t>
            </a:r>
            <a:r>
              <a:rPr lang="en-US" sz="1600">
                <a:solidFill>
                  <a:srgbClr val="00B050"/>
                </a:solidFill>
                <a:uFillTx/>
              </a:rPr>
              <a:t>//Thuộc tính Ten (read/write)</a:t>
            </a:r>
          </a:p>
          <a:p>
            <a:pPr marL="0" indent="0">
              <a:spcBef>
                <a:spcPts val="0"/>
              </a:spcBef>
              <a:buNone/>
            </a:pPr>
            <a:r>
              <a:rPr lang="en-US" sz="1600">
                <a:uFillTx/>
              </a:rPr>
              <a:t>        </a:t>
            </a:r>
            <a:r>
              <a:rPr lang="en-US" sz="1600" b="1">
                <a:solidFill>
                  <a:srgbClr val="0000FF"/>
                </a:solidFill>
                <a:uFillTx/>
              </a:rPr>
              <a:t>public</a:t>
            </a:r>
            <a:r>
              <a:rPr lang="en-US" sz="1600">
                <a:solidFill>
                  <a:srgbClr val="0000FF"/>
                </a:solidFill>
                <a:uFillTx/>
              </a:rPr>
              <a:t> </a:t>
            </a:r>
            <a:r>
              <a:rPr lang="en-US" sz="1600" b="1">
                <a:solidFill>
                  <a:srgbClr val="0000FF"/>
                </a:solidFill>
                <a:uFillTx/>
              </a:rPr>
              <a:t>string</a:t>
            </a:r>
            <a:r>
              <a:rPr lang="en-US" sz="1600">
                <a:solidFill>
                  <a:srgbClr val="0000FF"/>
                </a:solidFill>
                <a:uFillTx/>
              </a:rPr>
              <a:t> </a:t>
            </a:r>
            <a:r>
              <a:rPr lang="en-US" sz="1600" b="1">
                <a:solidFill>
                  <a:srgbClr val="FF0000"/>
                </a:solidFill>
                <a:uFillTx/>
              </a:rPr>
              <a:t>Ten</a:t>
            </a:r>
          </a:p>
          <a:p>
            <a:pPr marL="0" indent="0">
              <a:spcBef>
                <a:spcPts val="0"/>
              </a:spcBef>
              <a:buNone/>
            </a:pPr>
            <a:r>
              <a:rPr lang="en-US" sz="1600">
                <a:uFillTx/>
              </a:rPr>
              <a:t>        {</a:t>
            </a:r>
          </a:p>
          <a:p>
            <a:pPr marL="0" indent="0">
              <a:spcBef>
                <a:spcPts val="0"/>
              </a:spcBef>
              <a:buNone/>
            </a:pPr>
            <a:r>
              <a:rPr lang="en-US" sz="1600">
                <a:uFillTx/>
              </a:rPr>
              <a:t>            </a:t>
            </a:r>
            <a:r>
              <a:rPr lang="en-US" sz="1600">
                <a:solidFill>
                  <a:srgbClr val="FF0000"/>
                </a:solidFill>
                <a:uFillTx/>
              </a:rPr>
              <a:t>get</a:t>
            </a:r>
            <a:r>
              <a:rPr lang="en-US" sz="1600">
                <a:uFillTx/>
              </a:rPr>
              <a:t> { return _Ten; }</a:t>
            </a:r>
          </a:p>
          <a:p>
            <a:pPr marL="0" indent="0">
              <a:spcBef>
                <a:spcPts val="0"/>
              </a:spcBef>
              <a:buNone/>
            </a:pPr>
            <a:r>
              <a:rPr lang="en-US" sz="1600">
                <a:uFillTx/>
              </a:rPr>
              <a:t>            </a:t>
            </a:r>
            <a:r>
              <a:rPr lang="en-US" sz="1600">
                <a:solidFill>
                  <a:srgbClr val="FF0000"/>
                </a:solidFill>
                <a:uFillTx/>
              </a:rPr>
              <a:t>set</a:t>
            </a:r>
            <a:r>
              <a:rPr lang="en-US" sz="1600">
                <a:uFillTx/>
              </a:rPr>
              <a:t> { _Ten = </a:t>
            </a:r>
            <a:r>
              <a:rPr lang="en-US" sz="1600" b="1">
                <a:solidFill>
                  <a:srgbClr val="0070C0"/>
                </a:solidFill>
                <a:uFillTx/>
              </a:rPr>
              <a:t>value</a:t>
            </a:r>
            <a:r>
              <a:rPr lang="en-US" sz="1600">
                <a:uFillTx/>
              </a:rPr>
              <a:t>; }</a:t>
            </a:r>
          </a:p>
          <a:p>
            <a:pPr marL="0" indent="0">
              <a:spcBef>
                <a:spcPts val="0"/>
              </a:spcBef>
              <a:buNone/>
            </a:pPr>
            <a:r>
              <a:rPr lang="en-US" sz="1600">
                <a:uFillTx/>
              </a:rPr>
              <a:t>        }</a:t>
            </a:r>
          </a:p>
          <a:p>
            <a:pPr marL="0" indent="0">
              <a:spcBef>
                <a:spcPts val="0"/>
              </a:spcBef>
              <a:buNone/>
            </a:pPr>
            <a:r>
              <a:rPr lang="en-US" sz="1600">
                <a:uFillTx/>
              </a:rPr>
              <a:t>       </a:t>
            </a:r>
          </a:p>
        </p:txBody>
      </p:sp>
      <p:sp>
        <p:nvSpPr>
          <p:cNvPr id="4" name="Date Placeholder 3"/>
          <p:cNvSpPr>
            <a:spLocks noGrp="1"/>
          </p:cNvSpPr>
          <p:nvPr>
            <p:ph type="dt" sz="half" idx="10"/>
          </p:nvPr>
        </p:nvSpPr>
        <p:spPr/>
        <p:txBody>
          <a:bodyPr/>
          <a:lstStyle/>
          <a:p>
            <a:fld id="{3351A492-FFC4-4475-8619-9A2D85E1A1EC}" type="datetime1">
              <a:rPr lang="vi-VN" smtClean="0">
                <a:uFillTx/>
              </a:rPr>
              <a:t>04/02/2025</a:t>
            </a:fld>
            <a:endParaRPr lang="vi-VN">
              <a:uFillTx/>
            </a:endParaRPr>
          </a:p>
        </p:txBody>
      </p:sp>
      <p:sp>
        <p:nvSpPr>
          <p:cNvPr id="5" name="Footer Placeholder 4"/>
          <p:cNvSpPr>
            <a:spLocks noGrp="1"/>
          </p:cNvSpPr>
          <p:nvPr>
            <p:ph type="ftr" sz="quarter" idx="11"/>
          </p:nvPr>
        </p:nvSpPr>
        <p:spPr/>
        <p:txBody>
          <a:bodyPr/>
          <a:lstStyle/>
          <a:p>
            <a:r>
              <a:rPr lang="vi-VN">
                <a:uFillTx/>
              </a:rPr>
              <a:t>Chương 3. Lập trình hướng đối tượng trong C#</a:t>
            </a:r>
          </a:p>
        </p:txBody>
      </p:sp>
      <p:sp>
        <p:nvSpPr>
          <p:cNvPr id="6" name="Rectangle 5"/>
          <p:cNvSpPr>
            <a:spLocks/>
          </p:cNvSpPr>
          <p:nvPr/>
        </p:nvSpPr>
        <p:spPr>
          <a:xfrm>
            <a:off x="4932040" y="1412776"/>
            <a:ext cx="3960440" cy="5016758"/>
          </a:xfrm>
          <a:prstGeom prst="rect">
            <a:avLst/>
          </a:prstGeom>
        </p:spPr>
        <p:txBody>
          <a:bodyPr wrap="square">
            <a:spAutoFit/>
          </a:bodyPr>
          <a:lstStyle/>
          <a:p>
            <a:r>
              <a:rPr lang="en-US" sz="1600">
                <a:uFillTx/>
              </a:rPr>
              <a:t> </a:t>
            </a:r>
            <a:r>
              <a:rPr lang="en-US" sz="1600">
                <a:solidFill>
                  <a:srgbClr val="00B050"/>
                </a:solidFill>
                <a:uFillTx/>
              </a:rPr>
              <a:t>//Thuộc tính DiemToan (read/write)</a:t>
            </a:r>
          </a:p>
          <a:p>
            <a:r>
              <a:rPr lang="en-US" sz="1600">
                <a:uFillTx/>
              </a:rPr>
              <a:t>        </a:t>
            </a:r>
            <a:r>
              <a:rPr lang="en-US" sz="1600" b="1">
                <a:solidFill>
                  <a:srgbClr val="0000FF"/>
                </a:solidFill>
                <a:uFillTx/>
              </a:rPr>
              <a:t>public</a:t>
            </a:r>
            <a:r>
              <a:rPr lang="en-US" sz="1600">
                <a:uFillTx/>
              </a:rPr>
              <a:t> </a:t>
            </a:r>
            <a:r>
              <a:rPr lang="en-US" sz="1600" b="1">
                <a:solidFill>
                  <a:srgbClr val="0000FF"/>
                </a:solidFill>
                <a:uFillTx/>
              </a:rPr>
              <a:t>float</a:t>
            </a:r>
            <a:r>
              <a:rPr lang="en-US" sz="1600">
                <a:uFillTx/>
              </a:rPr>
              <a:t> </a:t>
            </a:r>
            <a:r>
              <a:rPr lang="en-US" sz="1600" b="1">
                <a:solidFill>
                  <a:srgbClr val="FF0000"/>
                </a:solidFill>
                <a:uFillTx/>
              </a:rPr>
              <a:t>DiemToan</a:t>
            </a:r>
          </a:p>
          <a:p>
            <a:r>
              <a:rPr lang="en-US" sz="1600">
                <a:uFillTx/>
              </a:rPr>
              <a:t>        {   </a:t>
            </a:r>
            <a:r>
              <a:rPr lang="en-US" sz="1600">
                <a:solidFill>
                  <a:srgbClr val="FF0000"/>
                </a:solidFill>
                <a:uFillTx/>
              </a:rPr>
              <a:t>get</a:t>
            </a:r>
            <a:r>
              <a:rPr lang="en-US" sz="1600">
                <a:uFillTx/>
              </a:rPr>
              <a:t> { return _DiemToan; }</a:t>
            </a:r>
          </a:p>
          <a:p>
            <a:r>
              <a:rPr lang="en-US" sz="1600">
                <a:uFillTx/>
              </a:rPr>
              <a:t>            </a:t>
            </a:r>
            <a:r>
              <a:rPr lang="en-US" sz="1600">
                <a:solidFill>
                  <a:srgbClr val="FF0000"/>
                </a:solidFill>
                <a:uFillTx/>
              </a:rPr>
              <a:t>set</a:t>
            </a:r>
          </a:p>
          <a:p>
            <a:r>
              <a:rPr lang="en-US" sz="1600">
                <a:uFillTx/>
              </a:rPr>
              <a:t>            {</a:t>
            </a:r>
          </a:p>
          <a:p>
            <a:r>
              <a:rPr lang="en-US" sz="1600">
                <a:uFillTx/>
              </a:rPr>
              <a:t>                _DiemToan = </a:t>
            </a:r>
            <a:r>
              <a:rPr lang="en-US" sz="1600" b="1">
                <a:solidFill>
                  <a:srgbClr val="0070C0"/>
                </a:solidFill>
                <a:uFillTx/>
              </a:rPr>
              <a:t>value</a:t>
            </a:r>
            <a:r>
              <a:rPr lang="en-US" sz="1600">
                <a:uFillTx/>
              </a:rPr>
              <a:t>;</a:t>
            </a:r>
          </a:p>
          <a:p>
            <a:r>
              <a:rPr lang="en-US" sz="1600">
                <a:uFillTx/>
              </a:rPr>
              <a:t>                _DiemTB = (_DiemToan + _DiemTin) / 2;</a:t>
            </a:r>
          </a:p>
          <a:p>
            <a:r>
              <a:rPr lang="en-US" sz="1600">
                <a:uFillTx/>
              </a:rPr>
              <a:t>            }</a:t>
            </a:r>
          </a:p>
          <a:p>
            <a:r>
              <a:rPr lang="en-US" sz="1600">
                <a:uFillTx/>
              </a:rPr>
              <a:t>        }</a:t>
            </a:r>
          </a:p>
          <a:p>
            <a:r>
              <a:rPr lang="en-US" sz="1600">
                <a:solidFill>
                  <a:srgbClr val="00B050"/>
                </a:solidFill>
                <a:uFillTx/>
              </a:rPr>
              <a:t>//Thuộc tính DiemTin (read/write)</a:t>
            </a:r>
          </a:p>
          <a:p>
            <a:r>
              <a:rPr lang="en-US" sz="1600">
                <a:uFillTx/>
              </a:rPr>
              <a:t>        </a:t>
            </a:r>
            <a:r>
              <a:rPr lang="en-US" sz="1600" b="1">
                <a:solidFill>
                  <a:srgbClr val="0000FF"/>
                </a:solidFill>
                <a:uFillTx/>
              </a:rPr>
              <a:t>public</a:t>
            </a:r>
            <a:r>
              <a:rPr lang="en-US" sz="1600">
                <a:uFillTx/>
              </a:rPr>
              <a:t> </a:t>
            </a:r>
            <a:r>
              <a:rPr lang="en-US" sz="1600" b="1">
                <a:solidFill>
                  <a:srgbClr val="0000FF"/>
                </a:solidFill>
                <a:uFillTx/>
              </a:rPr>
              <a:t>float</a:t>
            </a:r>
            <a:r>
              <a:rPr lang="en-US" sz="1600">
                <a:uFillTx/>
              </a:rPr>
              <a:t> </a:t>
            </a:r>
            <a:r>
              <a:rPr lang="en-US" sz="1600" b="1">
                <a:solidFill>
                  <a:srgbClr val="FF0000"/>
                </a:solidFill>
                <a:uFillTx/>
              </a:rPr>
              <a:t>DiemTin</a:t>
            </a:r>
          </a:p>
          <a:p>
            <a:r>
              <a:rPr lang="en-US" sz="1600">
                <a:uFillTx/>
              </a:rPr>
              <a:t>        {</a:t>
            </a:r>
          </a:p>
          <a:p>
            <a:r>
              <a:rPr lang="en-US" sz="1600">
                <a:uFillTx/>
              </a:rPr>
              <a:t>            </a:t>
            </a:r>
            <a:r>
              <a:rPr lang="en-US" sz="1600">
                <a:solidFill>
                  <a:srgbClr val="FF0000"/>
                </a:solidFill>
                <a:uFillTx/>
              </a:rPr>
              <a:t>get</a:t>
            </a:r>
            <a:r>
              <a:rPr lang="en-US" sz="1600">
                <a:uFillTx/>
              </a:rPr>
              <a:t> { return _DiemTin; }</a:t>
            </a:r>
          </a:p>
          <a:p>
            <a:r>
              <a:rPr lang="en-US" sz="1600">
                <a:uFillTx/>
              </a:rPr>
              <a:t>            </a:t>
            </a:r>
            <a:r>
              <a:rPr lang="en-US" sz="1600">
                <a:solidFill>
                  <a:srgbClr val="FF0000"/>
                </a:solidFill>
                <a:uFillTx/>
              </a:rPr>
              <a:t>set</a:t>
            </a:r>
          </a:p>
          <a:p>
            <a:r>
              <a:rPr lang="en-US" sz="1600">
                <a:uFillTx/>
              </a:rPr>
              <a:t>            {   _DiemTin = </a:t>
            </a:r>
            <a:r>
              <a:rPr lang="en-US" sz="1600" b="1">
                <a:solidFill>
                  <a:srgbClr val="0070C0"/>
                </a:solidFill>
                <a:uFillTx/>
              </a:rPr>
              <a:t>value</a:t>
            </a:r>
            <a:r>
              <a:rPr lang="en-US" sz="1600">
                <a:uFillTx/>
              </a:rPr>
              <a:t>;</a:t>
            </a:r>
          </a:p>
          <a:p>
            <a:r>
              <a:rPr lang="en-US" sz="1600">
                <a:uFillTx/>
              </a:rPr>
              <a:t>                _DiemTB = (_DiemToan + _DiemTin) / 2;</a:t>
            </a:r>
          </a:p>
          <a:p>
            <a:r>
              <a:rPr lang="en-US" sz="1600">
                <a:uFillTx/>
              </a:rPr>
              <a:t>            }</a:t>
            </a:r>
          </a:p>
          <a:p>
            <a:r>
              <a:rPr lang="en-US" sz="1600">
                <a:uFillTx/>
              </a:rPr>
              <a:t>        }</a:t>
            </a:r>
          </a:p>
        </p:txBody>
      </p:sp>
      <p:sp>
        <p:nvSpPr>
          <p:cNvPr id="8" name="Slide Number Placeholder 7"/>
          <p:cNvSpPr>
            <a:spLocks noGrp="1"/>
          </p:cNvSpPr>
          <p:nvPr>
            <p:ph type="sldNum" sz="quarter" idx="12"/>
          </p:nvPr>
        </p:nvSpPr>
        <p:spPr/>
        <p:txBody>
          <a:bodyPr/>
          <a:lstStyle/>
          <a:p>
            <a:fld id="{5AB95402-1E0D-474E-8D8C-CBE7F053639E}" type="slidenum">
              <a:rPr lang="vi-VN" smtClean="0">
                <a:uFillTx/>
              </a:rPr>
              <a:pPr/>
              <a:t>74</a:t>
            </a:fld>
            <a:r>
              <a:rPr lang="vi-VN">
                <a:uFillTx/>
              </a:rPr>
              <a:t>/38</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uFillTx/>
              </a:rPr>
              <a:t>Ví dụ - Thuộc tính (tiếp)</a:t>
            </a:r>
          </a:p>
        </p:txBody>
      </p:sp>
      <p:sp>
        <p:nvSpPr>
          <p:cNvPr id="4" name="Date Placeholder 3"/>
          <p:cNvSpPr>
            <a:spLocks noGrp="1"/>
          </p:cNvSpPr>
          <p:nvPr>
            <p:ph type="dt" sz="half" idx="10"/>
          </p:nvPr>
        </p:nvSpPr>
        <p:spPr/>
        <p:txBody>
          <a:bodyPr/>
          <a:lstStyle/>
          <a:p>
            <a:fld id="{A4E842D3-F595-4DA6-B120-A12525239A05}" type="datetime1">
              <a:rPr lang="vi-VN" smtClean="0">
                <a:uFillTx/>
              </a:rPr>
              <a:t>04/02/2025</a:t>
            </a:fld>
            <a:endParaRPr lang="vi-VN">
              <a:uFillTx/>
            </a:endParaRPr>
          </a:p>
        </p:txBody>
      </p:sp>
      <p:sp>
        <p:nvSpPr>
          <p:cNvPr id="5" name="Footer Placeholder 4"/>
          <p:cNvSpPr>
            <a:spLocks noGrp="1"/>
          </p:cNvSpPr>
          <p:nvPr>
            <p:ph type="ftr" sz="quarter" idx="11"/>
          </p:nvPr>
        </p:nvSpPr>
        <p:spPr/>
        <p:txBody>
          <a:bodyPr/>
          <a:lstStyle/>
          <a:p>
            <a:r>
              <a:rPr lang="vi-VN">
                <a:uFillTx/>
              </a:rPr>
              <a:t>Chương 3. Lập trình hướng đối tượng trong C#</a:t>
            </a:r>
          </a:p>
        </p:txBody>
      </p:sp>
      <p:sp>
        <p:nvSpPr>
          <p:cNvPr id="7" name="Rectangle 6"/>
          <p:cNvSpPr>
            <a:spLocks/>
          </p:cNvSpPr>
          <p:nvPr/>
        </p:nvSpPr>
        <p:spPr>
          <a:xfrm>
            <a:off x="709180" y="1213008"/>
            <a:ext cx="6671131" cy="1477328"/>
          </a:xfrm>
          <a:prstGeom prst="rect">
            <a:avLst/>
          </a:prstGeom>
        </p:spPr>
        <p:txBody>
          <a:bodyPr wrap="square">
            <a:spAutoFit/>
          </a:bodyPr>
          <a:lstStyle/>
          <a:p>
            <a:r>
              <a:rPr lang="en-US">
                <a:uFillTx/>
              </a:rPr>
              <a:t> </a:t>
            </a:r>
            <a:r>
              <a:rPr lang="en-US">
                <a:solidFill>
                  <a:srgbClr val="00B050"/>
                </a:solidFill>
                <a:uFillTx/>
              </a:rPr>
              <a:t>//Thuoc tinh DiemTrungBinh- (read only)</a:t>
            </a:r>
          </a:p>
          <a:p>
            <a:r>
              <a:rPr lang="en-US">
                <a:uFillTx/>
              </a:rPr>
              <a:t>        </a:t>
            </a:r>
            <a:r>
              <a:rPr lang="en-US" sz="1600" b="1">
                <a:solidFill>
                  <a:srgbClr val="0000FF"/>
                </a:solidFill>
                <a:uFillTx/>
              </a:rPr>
              <a:t>public</a:t>
            </a:r>
            <a:r>
              <a:rPr lang="en-US">
                <a:uFillTx/>
              </a:rPr>
              <a:t> </a:t>
            </a:r>
            <a:r>
              <a:rPr lang="en-US" sz="1600" b="1">
                <a:solidFill>
                  <a:srgbClr val="0000FF"/>
                </a:solidFill>
                <a:uFillTx/>
              </a:rPr>
              <a:t>float</a:t>
            </a:r>
            <a:r>
              <a:rPr lang="en-US">
                <a:uFillTx/>
              </a:rPr>
              <a:t> </a:t>
            </a:r>
            <a:r>
              <a:rPr lang="en-US" b="1">
                <a:solidFill>
                  <a:srgbClr val="FF0000"/>
                </a:solidFill>
                <a:uFillTx/>
              </a:rPr>
              <a:t>DiemTrungBinh</a:t>
            </a:r>
          </a:p>
          <a:p>
            <a:r>
              <a:rPr lang="en-US">
                <a:uFillTx/>
              </a:rPr>
              <a:t>        {</a:t>
            </a:r>
          </a:p>
          <a:p>
            <a:r>
              <a:rPr lang="en-US">
                <a:uFillTx/>
              </a:rPr>
              <a:t>            </a:t>
            </a:r>
            <a:r>
              <a:rPr lang="en-US">
                <a:solidFill>
                  <a:srgbClr val="FF0000"/>
                </a:solidFill>
                <a:uFillTx/>
              </a:rPr>
              <a:t>get</a:t>
            </a:r>
            <a:r>
              <a:rPr lang="en-US">
                <a:uFillTx/>
              </a:rPr>
              <a:t> { return _DiemTB; }</a:t>
            </a:r>
          </a:p>
          <a:p>
            <a:r>
              <a:rPr lang="en-US">
                <a:uFillTx/>
              </a:rPr>
              <a:t>        }</a:t>
            </a:r>
          </a:p>
        </p:txBody>
      </p:sp>
      <p:sp>
        <p:nvSpPr>
          <p:cNvPr id="8" name="Rectangle 7"/>
          <p:cNvSpPr>
            <a:spLocks/>
          </p:cNvSpPr>
          <p:nvPr/>
        </p:nvSpPr>
        <p:spPr>
          <a:xfrm>
            <a:off x="690778" y="2780928"/>
            <a:ext cx="8201702" cy="3693319"/>
          </a:xfrm>
          <a:prstGeom prst="rect">
            <a:avLst/>
          </a:prstGeom>
        </p:spPr>
        <p:txBody>
          <a:bodyPr wrap="square">
            <a:spAutoFit/>
          </a:bodyPr>
          <a:lstStyle/>
          <a:p>
            <a:r>
              <a:rPr lang="en-US" sz="1600" b="1">
                <a:solidFill>
                  <a:srgbClr val="0000FF"/>
                </a:solidFill>
                <a:uFillTx/>
              </a:rPr>
              <a:t>static</a:t>
            </a:r>
            <a:r>
              <a:rPr lang="en-US">
                <a:uFillTx/>
              </a:rPr>
              <a:t> </a:t>
            </a:r>
            <a:r>
              <a:rPr lang="en-US" sz="1600" b="1">
                <a:solidFill>
                  <a:srgbClr val="0000FF"/>
                </a:solidFill>
                <a:uFillTx/>
              </a:rPr>
              <a:t>void</a:t>
            </a:r>
            <a:r>
              <a:rPr lang="en-US">
                <a:uFillTx/>
              </a:rPr>
              <a:t> Main(string[] args)</a:t>
            </a:r>
          </a:p>
          <a:p>
            <a:r>
              <a:rPr lang="en-US">
                <a:uFillTx/>
              </a:rPr>
              <a:t>        {</a:t>
            </a:r>
          </a:p>
          <a:p>
            <a:r>
              <a:rPr lang="en-US">
                <a:uFillTx/>
              </a:rPr>
              <a:t>            Student s1 = </a:t>
            </a:r>
            <a:r>
              <a:rPr lang="en-US" sz="1600" b="1">
                <a:solidFill>
                  <a:srgbClr val="0000FF"/>
                </a:solidFill>
                <a:uFillTx/>
              </a:rPr>
              <a:t>new</a:t>
            </a:r>
            <a:r>
              <a:rPr lang="en-US">
                <a:uFillTx/>
              </a:rPr>
              <a:t> Student();</a:t>
            </a:r>
          </a:p>
          <a:p>
            <a:r>
              <a:rPr lang="en-US">
                <a:uFillTx/>
              </a:rPr>
              <a:t>            Console.Write("Nhap ho ten: ");</a:t>
            </a:r>
          </a:p>
          <a:p>
            <a:r>
              <a:rPr lang="en-US">
                <a:uFillTx/>
              </a:rPr>
              <a:t>            s1.Ten = </a:t>
            </a:r>
            <a:r>
              <a:rPr lang="en-US" sz="1600" b="1">
                <a:solidFill>
                  <a:srgbClr val="0000FF"/>
                </a:solidFill>
                <a:uFillTx/>
              </a:rPr>
              <a:t>Console.ReadLine</a:t>
            </a:r>
            <a:r>
              <a:rPr lang="en-US">
                <a:uFillTx/>
              </a:rPr>
              <a:t>();</a:t>
            </a:r>
          </a:p>
          <a:p>
            <a:r>
              <a:rPr lang="en-US">
                <a:uFillTx/>
              </a:rPr>
              <a:t>            Console.Write("Nhap diem Toan: ");</a:t>
            </a:r>
          </a:p>
          <a:p>
            <a:r>
              <a:rPr lang="en-US">
                <a:uFillTx/>
              </a:rPr>
              <a:t>            s1.DiemToan = </a:t>
            </a:r>
            <a:r>
              <a:rPr lang="en-US" sz="1600" b="1">
                <a:solidFill>
                  <a:srgbClr val="0000FF"/>
                </a:solidFill>
                <a:uFillTx/>
              </a:rPr>
              <a:t>float.Parse(Console.ReadLine</a:t>
            </a:r>
            <a:r>
              <a:rPr lang="en-US">
                <a:uFillTx/>
              </a:rPr>
              <a:t>());</a:t>
            </a:r>
          </a:p>
          <a:p>
            <a:r>
              <a:rPr lang="en-US">
                <a:uFillTx/>
              </a:rPr>
              <a:t>            Console.Write("Nhap diem Tin: ");</a:t>
            </a:r>
          </a:p>
          <a:p>
            <a:r>
              <a:rPr lang="en-US">
                <a:uFillTx/>
              </a:rPr>
              <a:t>            s1.DiemTin = </a:t>
            </a:r>
            <a:r>
              <a:rPr lang="en-US" sz="1600" b="1">
                <a:solidFill>
                  <a:srgbClr val="0000FF"/>
                </a:solidFill>
                <a:uFillTx/>
              </a:rPr>
              <a:t>float.Parse(Console.ReadLine</a:t>
            </a:r>
            <a:r>
              <a:rPr lang="en-US">
                <a:uFillTx/>
              </a:rPr>
              <a:t>());</a:t>
            </a:r>
          </a:p>
          <a:p>
            <a:r>
              <a:rPr lang="en-US">
                <a:uFillTx/>
              </a:rPr>
              <a:t>            Console.WriteLine("Ten: {0}, diem Toan: {1}, diem Tin: {2}, diem Trung binh: {3}", s1.Ten, s1.DiemToan, s1.DiemTin, s1.DiemTrungBinh);</a:t>
            </a:r>
          </a:p>
          <a:p>
            <a:r>
              <a:rPr lang="en-US">
                <a:uFillTx/>
              </a:rPr>
              <a:t>            Console.ReadLine();</a:t>
            </a:r>
          </a:p>
          <a:p>
            <a:r>
              <a:rPr lang="en-US">
                <a:uFillTx/>
              </a:rPr>
              <a:t>        }</a:t>
            </a:r>
          </a:p>
        </p:txBody>
      </p:sp>
      <p:sp>
        <p:nvSpPr>
          <p:cNvPr id="6" name="Slide Number Placeholder 5"/>
          <p:cNvSpPr>
            <a:spLocks noGrp="1"/>
          </p:cNvSpPr>
          <p:nvPr>
            <p:ph type="sldNum" sz="quarter" idx="12"/>
          </p:nvPr>
        </p:nvSpPr>
        <p:spPr/>
        <p:txBody>
          <a:bodyPr/>
          <a:lstStyle/>
          <a:p>
            <a:fld id="{5AB95402-1E0D-474E-8D8C-CBE7F053639E}" type="slidenum">
              <a:rPr lang="vi-VN" smtClean="0">
                <a:uFillTx/>
              </a:rPr>
              <a:pPr/>
              <a:t>75</a:t>
            </a:fld>
            <a:r>
              <a:rPr lang="vi-VN">
                <a:uFillTx/>
              </a:rPr>
              <a:t>/38</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3.2.</a:t>
            </a:r>
            <a:r>
              <a:rPr lang="en-US" dirty="0"/>
              <a:t>4</a:t>
            </a:r>
            <a:r>
              <a:rPr lang="en-US"/>
              <a:t>. </a:t>
            </a:r>
            <a:r>
              <a:rPr lang="en-US" dirty="0" err="1"/>
              <a:t>Lớp</a:t>
            </a:r>
            <a:r>
              <a:rPr lang="en-US" dirty="0"/>
              <a:t> </a:t>
            </a:r>
            <a:r>
              <a:rPr lang="en-US" dirty="0" err="1"/>
              <a:t>trừu</a:t>
            </a:r>
            <a:r>
              <a:rPr lang="en-US" dirty="0"/>
              <a:t> </a:t>
            </a:r>
            <a:r>
              <a:rPr lang="en-US" dirty="0" err="1"/>
              <a:t>tượng</a:t>
            </a:r>
            <a:r>
              <a:rPr lang="en-US" dirty="0"/>
              <a:t> </a:t>
            </a:r>
            <a:r>
              <a:rPr lang="en-US" dirty="0" err="1"/>
              <a:t>và</a:t>
            </a:r>
            <a:r>
              <a:rPr lang="en-US" dirty="0"/>
              <a:t> </a:t>
            </a:r>
            <a:r>
              <a:rPr lang="en-US" dirty="0" err="1"/>
              <a:t>giao</a:t>
            </a:r>
            <a:r>
              <a:rPr lang="en-US" dirty="0"/>
              <a:t> </a:t>
            </a:r>
            <a:r>
              <a:rPr lang="en-US" dirty="0" err="1"/>
              <a:t>diện</a:t>
            </a:r>
            <a:endParaRPr lang="en-US" dirty="0"/>
          </a:p>
        </p:txBody>
      </p:sp>
      <p:sp>
        <p:nvSpPr>
          <p:cNvPr id="3" name="Content Placeholder 2"/>
          <p:cNvSpPr>
            <a:spLocks noGrp="1"/>
          </p:cNvSpPr>
          <p:nvPr>
            <p:ph idx="1"/>
          </p:nvPr>
        </p:nvSpPr>
        <p:spPr/>
        <p:txBody>
          <a:bodyPr/>
          <a:lstStyle/>
          <a:p>
            <a:r>
              <a:rPr lang="en-US" sz="2000" dirty="0" err="1"/>
              <a:t>Lớp</a:t>
            </a:r>
            <a:r>
              <a:rPr lang="en-US" sz="2000" dirty="0"/>
              <a:t> </a:t>
            </a:r>
            <a:r>
              <a:rPr lang="en-US" sz="2000" dirty="0" err="1"/>
              <a:t>trừu</a:t>
            </a:r>
            <a:r>
              <a:rPr lang="en-US" sz="2000" dirty="0"/>
              <a:t> </a:t>
            </a:r>
            <a:r>
              <a:rPr lang="en-US" sz="2000" dirty="0" err="1"/>
              <a:t>tượng</a:t>
            </a:r>
            <a:endParaRPr lang="en-US" sz="2000" dirty="0"/>
          </a:p>
          <a:p>
            <a:pPr lvl="1"/>
            <a:r>
              <a:rPr lang="en-US" sz="1800" dirty="0"/>
              <a:t>Là </a:t>
            </a:r>
            <a:r>
              <a:rPr lang="en-US" sz="1800" dirty="0" err="1"/>
              <a:t>những</a:t>
            </a:r>
            <a:r>
              <a:rPr lang="en-US" sz="1800" dirty="0"/>
              <a:t> </a:t>
            </a:r>
            <a:r>
              <a:rPr lang="en-US" sz="1800" dirty="0" err="1"/>
              <a:t>lớp</a:t>
            </a:r>
            <a:r>
              <a:rPr lang="en-US" sz="1800" dirty="0"/>
              <a:t> </a:t>
            </a:r>
            <a:r>
              <a:rPr lang="en-US" sz="1800" dirty="0" err="1"/>
              <a:t>không</a:t>
            </a:r>
            <a:r>
              <a:rPr lang="en-US" sz="1800" dirty="0"/>
              <a:t> </a:t>
            </a:r>
            <a:r>
              <a:rPr lang="en-US" sz="1800" dirty="0" err="1"/>
              <a:t>hoàn</a:t>
            </a:r>
            <a:r>
              <a:rPr lang="en-US" sz="1800" dirty="0"/>
              <a:t> </a:t>
            </a:r>
            <a:r>
              <a:rPr lang="en-US" sz="1800" dirty="0" err="1"/>
              <a:t>thiện</a:t>
            </a:r>
            <a:endParaRPr lang="en-US" sz="1800" dirty="0"/>
          </a:p>
          <a:p>
            <a:pPr lvl="1"/>
            <a:r>
              <a:rPr lang="en-US" sz="1800" dirty="0" err="1"/>
              <a:t>Thiết</a:t>
            </a:r>
            <a:r>
              <a:rPr lang="en-US" sz="1800" dirty="0"/>
              <a:t> </a:t>
            </a:r>
            <a:r>
              <a:rPr lang="en-US" sz="1800" dirty="0" err="1"/>
              <a:t>lập</a:t>
            </a:r>
            <a:r>
              <a:rPr lang="en-US" sz="1800" dirty="0"/>
              <a:t> </a:t>
            </a:r>
            <a:r>
              <a:rPr lang="en-US" sz="1800" dirty="0" err="1"/>
              <a:t>như</a:t>
            </a:r>
            <a:r>
              <a:rPr lang="en-US" sz="1800" dirty="0"/>
              <a:t> là </a:t>
            </a:r>
            <a:r>
              <a:rPr lang="en-US" sz="1800" dirty="0" err="1"/>
              <a:t>lớp</a:t>
            </a:r>
            <a:r>
              <a:rPr lang="en-US" sz="1800" dirty="0"/>
              <a:t> </a:t>
            </a:r>
            <a:r>
              <a:rPr lang="en-US" sz="1800" dirty="0" err="1"/>
              <a:t>cơ</a:t>
            </a:r>
            <a:r>
              <a:rPr lang="en-US" sz="1800" dirty="0"/>
              <a:t> </a:t>
            </a:r>
            <a:r>
              <a:rPr lang="en-US" sz="1800" dirty="0" err="1"/>
              <a:t>sở</a:t>
            </a:r>
            <a:r>
              <a:rPr lang="en-US" sz="1800" dirty="0"/>
              <a:t> </a:t>
            </a:r>
            <a:r>
              <a:rPr lang="en-US" sz="1800" dirty="0" err="1"/>
              <a:t>cho</a:t>
            </a:r>
            <a:r>
              <a:rPr lang="en-US" sz="1800" dirty="0"/>
              <a:t> </a:t>
            </a:r>
            <a:r>
              <a:rPr lang="en-US" sz="1800" dirty="0" err="1"/>
              <a:t>những</a:t>
            </a:r>
            <a:r>
              <a:rPr lang="en-US" sz="1800" dirty="0"/>
              <a:t> </a:t>
            </a:r>
            <a:r>
              <a:rPr lang="en-US" sz="1800" dirty="0" err="1"/>
              <a:t>lớp</a:t>
            </a:r>
            <a:r>
              <a:rPr lang="en-US" sz="1800" dirty="0"/>
              <a:t> </a:t>
            </a:r>
            <a:r>
              <a:rPr lang="en-US" sz="1800" dirty="0" err="1"/>
              <a:t>dẫn</a:t>
            </a:r>
            <a:r>
              <a:rPr lang="en-US" sz="1800" dirty="0"/>
              <a:t> </a:t>
            </a:r>
            <a:r>
              <a:rPr lang="en-US" sz="1800" dirty="0" err="1"/>
              <a:t>xuất</a:t>
            </a:r>
            <a:endParaRPr lang="en-US" sz="1800" dirty="0"/>
          </a:p>
          <a:p>
            <a:r>
              <a:rPr lang="en-US" sz="2000" dirty="0" err="1"/>
              <a:t>Phương</a:t>
            </a:r>
            <a:r>
              <a:rPr lang="en-US" sz="2000" dirty="0"/>
              <a:t> </a:t>
            </a:r>
            <a:r>
              <a:rPr lang="en-US" sz="2000" dirty="0" err="1"/>
              <a:t>thức</a:t>
            </a:r>
            <a:r>
              <a:rPr lang="en-US" sz="2000" dirty="0"/>
              <a:t> </a:t>
            </a:r>
            <a:r>
              <a:rPr lang="en-US" sz="2000" dirty="0" err="1"/>
              <a:t>trừu</a:t>
            </a:r>
            <a:r>
              <a:rPr lang="en-US" sz="2000" dirty="0"/>
              <a:t> </a:t>
            </a:r>
            <a:r>
              <a:rPr lang="en-US" sz="2000" dirty="0" err="1"/>
              <a:t>tượng</a:t>
            </a:r>
            <a:endParaRPr lang="en-US" sz="2000" dirty="0"/>
          </a:p>
          <a:p>
            <a:pPr lvl="1"/>
            <a:r>
              <a:rPr lang="en-US" sz="1800" dirty="0"/>
              <a:t>Là </a:t>
            </a:r>
            <a:r>
              <a:rPr lang="en-US" sz="1800" dirty="0" err="1"/>
              <a:t>phương</a:t>
            </a:r>
            <a:r>
              <a:rPr lang="en-US" sz="1800" dirty="0"/>
              <a:t> </a:t>
            </a:r>
            <a:r>
              <a:rPr lang="en-US" sz="1800" dirty="0" err="1"/>
              <a:t>thức</a:t>
            </a:r>
            <a:r>
              <a:rPr lang="en-US" sz="1800" dirty="0"/>
              <a:t> </a:t>
            </a:r>
            <a:r>
              <a:rPr lang="en-US" sz="1800" dirty="0" err="1"/>
              <a:t>không</a:t>
            </a:r>
            <a:r>
              <a:rPr lang="en-US" sz="1800" dirty="0"/>
              <a:t> </a:t>
            </a:r>
            <a:r>
              <a:rPr lang="en-US" sz="1800" dirty="0" err="1"/>
              <a:t>hoàn</a:t>
            </a:r>
            <a:r>
              <a:rPr lang="en-US" sz="1800" dirty="0"/>
              <a:t> </a:t>
            </a:r>
            <a:r>
              <a:rPr lang="en-US" sz="1800" dirty="0" err="1"/>
              <a:t>thiện</a:t>
            </a:r>
            <a:r>
              <a:rPr lang="en-US" sz="1800" dirty="0"/>
              <a:t> (</a:t>
            </a:r>
            <a:r>
              <a:rPr lang="en-US" sz="1800" dirty="0" err="1"/>
              <a:t>chỉ</a:t>
            </a:r>
            <a:r>
              <a:rPr lang="en-US" sz="1800" dirty="0"/>
              <a:t> </a:t>
            </a:r>
            <a:r>
              <a:rPr lang="en-US" sz="1800" dirty="0" err="1"/>
              <a:t>có</a:t>
            </a:r>
            <a:r>
              <a:rPr lang="en-US" sz="1800" dirty="0"/>
              <a:t> </a:t>
            </a:r>
            <a:r>
              <a:rPr lang="en-US" sz="1800" dirty="0" err="1"/>
              <a:t>nguyên</a:t>
            </a:r>
            <a:r>
              <a:rPr lang="en-US" sz="1800" dirty="0"/>
              <a:t> </a:t>
            </a:r>
            <a:r>
              <a:rPr lang="en-US" sz="1800" dirty="0" err="1"/>
              <a:t>mẫu</a:t>
            </a:r>
            <a:r>
              <a:rPr lang="en-US" sz="1800" dirty="0"/>
              <a:t>, </a:t>
            </a:r>
            <a:r>
              <a:rPr lang="en-US" sz="1800" dirty="0" err="1"/>
              <a:t>không</a:t>
            </a:r>
            <a:r>
              <a:rPr lang="en-US" sz="1800" dirty="0"/>
              <a:t> </a:t>
            </a:r>
            <a:r>
              <a:rPr lang="en-US" sz="1800" dirty="0" err="1"/>
              <a:t>có</a:t>
            </a:r>
            <a:r>
              <a:rPr lang="en-US" sz="1800" dirty="0"/>
              <a:t> </a:t>
            </a:r>
            <a:r>
              <a:rPr lang="en-US" sz="1800" dirty="0" err="1"/>
              <a:t>phần</a:t>
            </a:r>
            <a:r>
              <a:rPr lang="en-US" sz="1800" dirty="0"/>
              <a:t> </a:t>
            </a:r>
            <a:r>
              <a:rPr lang="en-US" sz="1800" dirty="0" err="1"/>
              <a:t>mô</a:t>
            </a:r>
            <a:r>
              <a:rPr lang="en-US" sz="1800" dirty="0"/>
              <a:t> </a:t>
            </a:r>
            <a:r>
              <a:rPr lang="en-US" sz="1800" dirty="0" err="1"/>
              <a:t>tả</a:t>
            </a:r>
            <a:r>
              <a:rPr lang="en-US" sz="1800" dirty="0"/>
              <a:t> </a:t>
            </a:r>
            <a:r>
              <a:rPr lang="en-US" sz="1800" dirty="0" err="1"/>
              <a:t>cài</a:t>
            </a:r>
            <a:r>
              <a:rPr lang="en-US" sz="1800" dirty="0"/>
              <a:t> </a:t>
            </a:r>
            <a:r>
              <a:rPr lang="en-US" sz="1800" dirty="0" err="1"/>
              <a:t>đặt</a:t>
            </a:r>
            <a:r>
              <a:rPr lang="en-US" sz="1800" dirty="0"/>
              <a:t> chi </a:t>
            </a:r>
            <a:r>
              <a:rPr lang="en-US" sz="1800" dirty="0" err="1"/>
              <a:t>tiết</a:t>
            </a:r>
            <a:r>
              <a:rPr lang="en-US" sz="1800" dirty="0"/>
              <a:t>)</a:t>
            </a:r>
          </a:p>
          <a:p>
            <a:pPr lvl="1"/>
            <a:r>
              <a:rPr lang="en-US" sz="1800" dirty="0" err="1"/>
              <a:t>Không</a:t>
            </a:r>
            <a:r>
              <a:rPr lang="en-US" sz="1800" dirty="0"/>
              <a:t> </a:t>
            </a:r>
            <a:r>
              <a:rPr lang="en-US" sz="1800" dirty="0" err="1"/>
              <a:t>có</a:t>
            </a:r>
            <a:r>
              <a:rPr lang="en-US" sz="1800" dirty="0"/>
              <a:t> </a:t>
            </a:r>
            <a:r>
              <a:rPr lang="en-US" sz="1800" dirty="0" err="1"/>
              <a:t>sự</a:t>
            </a:r>
            <a:r>
              <a:rPr lang="en-US" sz="1800" dirty="0"/>
              <a:t> </a:t>
            </a:r>
            <a:r>
              <a:rPr lang="en-US" sz="1800" dirty="0" err="1"/>
              <a:t>thực</a:t>
            </a:r>
            <a:r>
              <a:rPr lang="en-US" sz="1800" dirty="0"/>
              <a:t> </a:t>
            </a:r>
            <a:r>
              <a:rPr lang="en-US" sz="1800" dirty="0" err="1"/>
              <a:t>thi</a:t>
            </a:r>
            <a:endParaRPr lang="en-US" sz="1800" dirty="0"/>
          </a:p>
          <a:p>
            <a:r>
              <a:rPr lang="en-US" sz="2000" dirty="0" err="1"/>
              <a:t>Cú</a:t>
            </a:r>
            <a:r>
              <a:rPr lang="en-US" sz="2000" dirty="0"/>
              <a:t> </a:t>
            </a:r>
            <a:r>
              <a:rPr lang="en-US" sz="2000" dirty="0" err="1"/>
              <a:t>pháp</a:t>
            </a:r>
            <a:endParaRPr lang="en-US" sz="2000" dirty="0"/>
          </a:p>
          <a:p>
            <a:pPr marL="471487" lvl="1" indent="0">
              <a:buNone/>
            </a:pPr>
            <a:r>
              <a:rPr lang="en-US" sz="1800" dirty="0">
                <a:solidFill>
                  <a:srgbClr val="FF0000"/>
                </a:solidFill>
              </a:rPr>
              <a:t>abstract</a:t>
            </a:r>
            <a:r>
              <a:rPr lang="en-US" sz="1800" dirty="0"/>
              <a:t>  class &lt;</a:t>
            </a:r>
            <a:r>
              <a:rPr lang="en-US" sz="1800" dirty="0" err="1"/>
              <a:t>tên</a:t>
            </a:r>
            <a:r>
              <a:rPr lang="en-US" sz="1800" dirty="0"/>
              <a:t> </a:t>
            </a:r>
            <a:r>
              <a:rPr lang="en-US" sz="1800" dirty="0" err="1"/>
              <a:t>lớp</a:t>
            </a:r>
            <a:r>
              <a:rPr lang="en-US" sz="1800" dirty="0"/>
              <a:t>&gt;</a:t>
            </a:r>
          </a:p>
          <a:p>
            <a:pPr marL="471487" lvl="1" indent="0">
              <a:buNone/>
            </a:pPr>
            <a:r>
              <a:rPr lang="en-US" sz="1800" dirty="0">
                <a:solidFill>
                  <a:srgbClr val="FF0000"/>
                </a:solidFill>
              </a:rPr>
              <a:t>abstract</a:t>
            </a:r>
            <a:r>
              <a:rPr lang="en-US" sz="1800" dirty="0"/>
              <a:t>  void &lt;</a:t>
            </a:r>
            <a:r>
              <a:rPr lang="en-US" sz="1800" dirty="0" err="1"/>
              <a:t>tên</a:t>
            </a:r>
            <a:r>
              <a:rPr lang="en-US" sz="1800" dirty="0"/>
              <a:t> </a:t>
            </a:r>
            <a:r>
              <a:rPr lang="en-US" sz="1800" dirty="0" err="1"/>
              <a:t>phương</a:t>
            </a:r>
            <a:r>
              <a:rPr lang="en-US" sz="1800" dirty="0"/>
              <a:t> </a:t>
            </a:r>
            <a:r>
              <a:rPr lang="en-US" sz="1800" dirty="0" err="1"/>
              <a:t>thức</a:t>
            </a:r>
            <a:r>
              <a:rPr lang="en-US" sz="1800" dirty="0"/>
              <a:t>&gt;()</a:t>
            </a:r>
            <a:r>
              <a:rPr lang="en-US" sz="1800" dirty="0">
                <a:solidFill>
                  <a:srgbClr val="FF0000"/>
                </a:solidFill>
              </a:rPr>
              <a:t>;</a:t>
            </a:r>
            <a:r>
              <a:rPr lang="en-US" sz="1800" dirty="0"/>
              <a:t> </a:t>
            </a:r>
          </a:p>
          <a:p>
            <a:pPr marL="471487" lvl="1" indent="0">
              <a:buNone/>
            </a:pPr>
            <a:r>
              <a:rPr lang="en-US" sz="1800" dirty="0"/>
              <a:t>(</a:t>
            </a:r>
            <a:r>
              <a:rPr lang="en-US" sz="1800" dirty="0" err="1"/>
              <a:t>có</a:t>
            </a:r>
            <a:r>
              <a:rPr lang="en-US" sz="1800" dirty="0"/>
              <a:t> </a:t>
            </a:r>
            <a:r>
              <a:rPr lang="en-US" sz="1800" dirty="0" err="1"/>
              <a:t>dấu</a:t>
            </a:r>
            <a:r>
              <a:rPr lang="en-US" sz="1800" dirty="0"/>
              <a:t> </a:t>
            </a:r>
            <a:r>
              <a:rPr lang="en-US" sz="1800" dirty="0" err="1"/>
              <a:t>chấm</a:t>
            </a:r>
            <a:r>
              <a:rPr lang="en-US" sz="1800" dirty="0"/>
              <a:t> </a:t>
            </a:r>
            <a:r>
              <a:rPr lang="en-US" sz="1800" dirty="0" err="1"/>
              <a:t>phẩy</a:t>
            </a:r>
            <a:r>
              <a:rPr lang="en-US" sz="1800" dirty="0"/>
              <a:t> </a:t>
            </a:r>
            <a:r>
              <a:rPr lang="en-US" sz="1800" b="1" dirty="0"/>
              <a:t>;</a:t>
            </a:r>
            <a:r>
              <a:rPr lang="en-US" sz="1800" dirty="0"/>
              <a:t> </a:t>
            </a:r>
            <a:r>
              <a:rPr lang="en-US" sz="1800" dirty="0" err="1"/>
              <a:t>sau</a:t>
            </a:r>
            <a:r>
              <a:rPr lang="en-US" sz="1800" dirty="0"/>
              <a:t> </a:t>
            </a:r>
            <a:r>
              <a:rPr lang="en-US" sz="1800" dirty="0" err="1"/>
              <a:t>tên</a:t>
            </a:r>
            <a:r>
              <a:rPr lang="en-US" sz="1800" dirty="0"/>
              <a:t> </a:t>
            </a:r>
            <a:r>
              <a:rPr lang="en-US" sz="1800" dirty="0" err="1"/>
              <a:t>phương</a:t>
            </a:r>
            <a:r>
              <a:rPr lang="en-US" sz="1800" dirty="0"/>
              <a:t> </a:t>
            </a:r>
            <a:r>
              <a:rPr lang="en-US" sz="1800" dirty="0" err="1"/>
              <a:t>thức</a:t>
            </a:r>
            <a:r>
              <a:rPr lang="en-US" sz="1800" dirty="0"/>
              <a:t>)</a:t>
            </a:r>
          </a:p>
          <a:p>
            <a:pPr marL="33337" indent="0">
              <a:buNone/>
            </a:pPr>
            <a:r>
              <a:rPr lang="en-US" sz="2000" dirty="0"/>
              <a:t>- Khi </a:t>
            </a:r>
            <a:r>
              <a:rPr lang="en-US" sz="2000" dirty="0" err="1"/>
              <a:t>kế</a:t>
            </a:r>
            <a:r>
              <a:rPr lang="en-US" sz="2000" dirty="0"/>
              <a:t> </a:t>
            </a:r>
            <a:r>
              <a:rPr lang="en-US" sz="2000" dirty="0" err="1"/>
              <a:t>thừa</a:t>
            </a:r>
            <a:r>
              <a:rPr lang="en-US" sz="2000" dirty="0"/>
              <a:t> 1 </a:t>
            </a:r>
            <a:r>
              <a:rPr lang="en-US" sz="2000" dirty="0" err="1"/>
              <a:t>lớp</a:t>
            </a:r>
            <a:r>
              <a:rPr lang="en-US" sz="2000" dirty="0"/>
              <a:t> </a:t>
            </a:r>
            <a:r>
              <a:rPr lang="en-US" sz="2000" dirty="0" err="1"/>
              <a:t>trừu</a:t>
            </a:r>
            <a:r>
              <a:rPr lang="en-US" sz="2000" dirty="0"/>
              <a:t> </a:t>
            </a:r>
            <a:r>
              <a:rPr lang="en-US" sz="2000" dirty="0" err="1"/>
              <a:t>tượng</a:t>
            </a:r>
            <a:r>
              <a:rPr lang="en-US" sz="2000" dirty="0"/>
              <a:t>, </a:t>
            </a:r>
            <a:r>
              <a:rPr lang="en-US" sz="2000" dirty="0" err="1"/>
              <a:t>bắt</a:t>
            </a:r>
            <a:r>
              <a:rPr lang="en-US" sz="2000" dirty="0"/>
              <a:t> </a:t>
            </a:r>
            <a:r>
              <a:rPr lang="en-US" sz="2000" dirty="0" err="1"/>
              <a:t>buộc</a:t>
            </a:r>
            <a:r>
              <a:rPr lang="en-US" sz="2000" dirty="0"/>
              <a:t> </a:t>
            </a:r>
            <a:r>
              <a:rPr lang="en-US" sz="2000" dirty="0" err="1"/>
              <a:t>phải</a:t>
            </a:r>
            <a:r>
              <a:rPr lang="en-US" sz="2000" dirty="0"/>
              <a:t> override </a:t>
            </a:r>
            <a:r>
              <a:rPr lang="en-US" sz="2000" dirty="0" err="1"/>
              <a:t>tất</a:t>
            </a:r>
            <a:r>
              <a:rPr lang="en-US" sz="2000" dirty="0"/>
              <a:t> </a:t>
            </a:r>
            <a:r>
              <a:rPr lang="en-US" sz="2000" dirty="0" err="1"/>
              <a:t>cả</a:t>
            </a:r>
            <a:r>
              <a:rPr lang="en-US" sz="2000" dirty="0"/>
              <a:t> </a:t>
            </a:r>
            <a:r>
              <a:rPr lang="en-US" sz="2000" dirty="0" err="1"/>
              <a:t>các</a:t>
            </a:r>
            <a:r>
              <a:rPr lang="en-US" sz="2000" dirty="0"/>
              <a:t> </a:t>
            </a:r>
            <a:r>
              <a:rPr lang="en-US" sz="2000" dirty="0" err="1"/>
              <a:t>phương</a:t>
            </a:r>
            <a:r>
              <a:rPr lang="en-US" sz="2000" dirty="0"/>
              <a:t> </a:t>
            </a:r>
            <a:r>
              <a:rPr lang="en-US" sz="2000" dirty="0" err="1"/>
              <a:t>thức</a:t>
            </a:r>
            <a:r>
              <a:rPr lang="en-US" sz="2000" dirty="0"/>
              <a:t> </a:t>
            </a:r>
            <a:r>
              <a:rPr lang="en-US" sz="2000" dirty="0" err="1"/>
              <a:t>trừu</a:t>
            </a:r>
            <a:r>
              <a:rPr lang="en-US" sz="2000" dirty="0"/>
              <a:t> </a:t>
            </a:r>
            <a:r>
              <a:rPr lang="en-US" sz="2000" dirty="0" err="1"/>
              <a:t>tượng</a:t>
            </a:r>
            <a:r>
              <a:rPr lang="en-US" sz="2000" dirty="0"/>
              <a:t>.</a:t>
            </a:r>
          </a:p>
          <a:p>
            <a:pPr marL="376237" indent="-342900">
              <a:buFontTx/>
              <a:buChar char="-"/>
            </a:pPr>
            <a:r>
              <a:rPr lang="en-US" sz="2000" dirty="0" err="1"/>
              <a:t>Không</a:t>
            </a:r>
            <a:r>
              <a:rPr lang="en-US" sz="2000" dirty="0"/>
              <a:t> </a:t>
            </a:r>
            <a:r>
              <a:rPr lang="en-US" sz="2000" dirty="0" err="1"/>
              <a:t>thể</a:t>
            </a:r>
            <a:r>
              <a:rPr lang="en-US" sz="2000" dirty="0"/>
              <a:t> </a:t>
            </a:r>
            <a:r>
              <a:rPr lang="en-US" sz="2000" dirty="0" err="1"/>
              <a:t>tạo</a:t>
            </a:r>
            <a:r>
              <a:rPr lang="en-US" sz="2000" dirty="0"/>
              <a:t> ra </a:t>
            </a:r>
            <a:r>
              <a:rPr lang="en-US" sz="2000" dirty="0" err="1"/>
              <a:t>các</a:t>
            </a:r>
            <a:r>
              <a:rPr lang="en-US" sz="2000" dirty="0"/>
              <a:t> </a:t>
            </a:r>
            <a:r>
              <a:rPr lang="en-US" sz="2000" dirty="0" err="1"/>
              <a:t>đối</a:t>
            </a:r>
            <a:r>
              <a:rPr lang="en-US" sz="2000" dirty="0"/>
              <a:t> </a:t>
            </a:r>
            <a:r>
              <a:rPr lang="en-US" sz="2000" dirty="0" err="1"/>
              <a:t>tượng</a:t>
            </a:r>
            <a:r>
              <a:rPr lang="en-US" sz="2000" dirty="0"/>
              <a:t> </a:t>
            </a:r>
            <a:r>
              <a:rPr lang="en-US" sz="2000" dirty="0" err="1"/>
              <a:t>từ</a:t>
            </a:r>
            <a:r>
              <a:rPr lang="en-US" sz="2000" dirty="0"/>
              <a:t> abstract class.</a:t>
            </a:r>
          </a:p>
          <a:p>
            <a:pPr marL="376237" indent="-342900">
              <a:buFontTx/>
              <a:buChar char="-"/>
            </a:pPr>
            <a:r>
              <a:rPr lang="en-US" sz="2000" dirty="0"/>
              <a:t>1 abstract class </a:t>
            </a:r>
            <a:r>
              <a:rPr lang="en-US" sz="2000" dirty="0" err="1"/>
              <a:t>bắt</a:t>
            </a:r>
            <a:r>
              <a:rPr lang="en-US" sz="2000" dirty="0"/>
              <a:t> </a:t>
            </a:r>
            <a:r>
              <a:rPr lang="en-US" sz="2000" dirty="0" err="1"/>
              <a:t>buộc</a:t>
            </a:r>
            <a:r>
              <a:rPr lang="en-US" sz="2000" dirty="0"/>
              <a:t> </a:t>
            </a:r>
            <a:r>
              <a:rPr lang="en-US" sz="2000" dirty="0" err="1"/>
              <a:t>phải</a:t>
            </a:r>
            <a:r>
              <a:rPr lang="en-US" sz="2000" dirty="0"/>
              <a:t> </a:t>
            </a:r>
            <a:r>
              <a:rPr lang="en-US" sz="2000" dirty="0" err="1"/>
              <a:t>có</a:t>
            </a:r>
            <a:r>
              <a:rPr lang="en-US" sz="2000" dirty="0"/>
              <a:t> </a:t>
            </a:r>
            <a:r>
              <a:rPr lang="en-US" sz="2000" dirty="0" err="1"/>
              <a:t>tối</a:t>
            </a:r>
            <a:r>
              <a:rPr lang="en-US" sz="2000" dirty="0"/>
              <a:t> </a:t>
            </a:r>
            <a:r>
              <a:rPr lang="en-US" sz="2000" dirty="0" err="1"/>
              <a:t>thiểu</a:t>
            </a:r>
            <a:r>
              <a:rPr lang="en-US" sz="2000" dirty="0"/>
              <a:t> 1 </a:t>
            </a:r>
            <a:r>
              <a:rPr lang="en-US" sz="2000" dirty="0" err="1"/>
              <a:t>phương</a:t>
            </a:r>
            <a:r>
              <a:rPr lang="en-US" sz="2000" dirty="0"/>
              <a:t> </a:t>
            </a:r>
            <a:r>
              <a:rPr lang="en-US" sz="2000" dirty="0" err="1"/>
              <a:t>thức</a:t>
            </a:r>
            <a:r>
              <a:rPr lang="en-US" sz="2000" dirty="0"/>
              <a:t> abstract</a:t>
            </a:r>
          </a:p>
        </p:txBody>
      </p:sp>
      <p:sp>
        <p:nvSpPr>
          <p:cNvPr id="7" name="Date Placeholder 6"/>
          <p:cNvSpPr>
            <a:spLocks noGrp="1"/>
          </p:cNvSpPr>
          <p:nvPr>
            <p:ph type="dt" sz="half" idx="10"/>
          </p:nvPr>
        </p:nvSpPr>
        <p:spPr/>
        <p:txBody>
          <a:bodyPr/>
          <a:lstStyle/>
          <a:p>
            <a:fld id="{4BFB0BE8-1B97-476D-98E0-4B511044B19F}" type="datetime1">
              <a:rPr lang="vi-VN" smtClean="0"/>
              <a:t>04/02/2025</a:t>
            </a:fld>
            <a:endParaRPr lang="vi-VN"/>
          </a:p>
        </p:txBody>
      </p:sp>
      <p:sp>
        <p:nvSpPr>
          <p:cNvPr id="8" name="Footer Placeholder 7"/>
          <p:cNvSpPr>
            <a:spLocks noGrp="1"/>
          </p:cNvSpPr>
          <p:nvPr>
            <p:ph type="ftr" sz="quarter" idx="11"/>
          </p:nvPr>
        </p:nvSpPr>
        <p:spPr/>
        <p:txBody>
          <a:bodyPr/>
          <a:lstStyle/>
          <a:p>
            <a:r>
              <a:rPr lang="vi-VN"/>
              <a:t>Chương 3 - Lập trình hướng đối tượng trong C#</a:t>
            </a:r>
          </a:p>
        </p:txBody>
      </p:sp>
      <p:sp>
        <p:nvSpPr>
          <p:cNvPr id="9" name="Slide Number Placeholder 8"/>
          <p:cNvSpPr>
            <a:spLocks noGrp="1"/>
          </p:cNvSpPr>
          <p:nvPr>
            <p:ph type="sldNum" sz="quarter" idx="12"/>
          </p:nvPr>
        </p:nvSpPr>
        <p:spPr/>
        <p:txBody>
          <a:bodyPr/>
          <a:lstStyle/>
          <a:p>
            <a:fld id="{5AB95402-1E0D-474E-8D8C-CBE7F053639E}" type="slidenum">
              <a:rPr lang="vi-VN" smtClean="0"/>
              <a:pPr/>
              <a:t>76</a:t>
            </a:fld>
            <a:r>
              <a:rPr lang="vi-VN"/>
              <a:t>/28</a:t>
            </a:r>
          </a:p>
        </p:txBody>
      </p:sp>
    </p:spTree>
    <p:extLst>
      <p:ext uri="{BB962C8B-B14F-4D97-AF65-F5344CB8AC3E}">
        <p14:creationId xmlns:p14="http://schemas.microsoft.com/office/powerpoint/2010/main" val="265109015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D55BD-E60B-4014-9A00-EAAF0CE5EB77}"/>
              </a:ext>
            </a:extLst>
          </p:cNvPr>
          <p:cNvSpPr>
            <a:spLocks noGrp="1"/>
          </p:cNvSpPr>
          <p:nvPr>
            <p:ph type="title"/>
          </p:nvPr>
        </p:nvSpPr>
        <p:spPr/>
        <p:txBody>
          <a:bodyPr/>
          <a:lstStyle/>
          <a:p>
            <a:r>
              <a:rPr lang="en-US" dirty="0" err="1"/>
              <a:t>Lớp</a:t>
            </a:r>
            <a:r>
              <a:rPr lang="en-US" dirty="0"/>
              <a:t> </a:t>
            </a:r>
            <a:r>
              <a:rPr lang="en-US" dirty="0" err="1"/>
              <a:t>trừu</a:t>
            </a:r>
            <a:r>
              <a:rPr lang="en-US" dirty="0"/>
              <a:t> </a:t>
            </a:r>
            <a:r>
              <a:rPr lang="en-US" dirty="0" err="1"/>
              <a:t>tượng</a:t>
            </a:r>
            <a:endParaRPr lang="en-US" dirty="0"/>
          </a:p>
        </p:txBody>
      </p:sp>
      <p:sp>
        <p:nvSpPr>
          <p:cNvPr id="3" name="Content Placeholder 2">
            <a:extLst>
              <a:ext uri="{FF2B5EF4-FFF2-40B4-BE49-F238E27FC236}">
                <a16:creationId xmlns:a16="http://schemas.microsoft.com/office/drawing/2014/main" id="{031246BF-5693-45E6-B27B-0B6513872ADE}"/>
              </a:ext>
            </a:extLst>
          </p:cNvPr>
          <p:cNvSpPr>
            <a:spLocks noGrp="1"/>
          </p:cNvSpPr>
          <p:nvPr>
            <p:ph idx="1"/>
          </p:nvPr>
        </p:nvSpPr>
        <p:spPr>
          <a:xfrm>
            <a:off x="539552" y="1030375"/>
            <a:ext cx="8208912" cy="5181600"/>
          </a:xfrm>
        </p:spPr>
        <p:txBody>
          <a:bodyPr/>
          <a:lstStyle/>
          <a:p>
            <a:pPr marL="0" indent="0">
              <a:buNone/>
            </a:pPr>
            <a:r>
              <a:rPr lang="en-US" sz="1800" dirty="0"/>
              <a:t>VD: </a:t>
            </a:r>
            <a:r>
              <a:rPr lang="en-US" sz="1800" dirty="0" err="1"/>
              <a:t>Chúng</a:t>
            </a:r>
            <a:r>
              <a:rPr lang="en-US" sz="1800" dirty="0"/>
              <a:t> ta </a:t>
            </a:r>
            <a:r>
              <a:rPr lang="en-US" sz="1800" dirty="0" err="1"/>
              <a:t>có</a:t>
            </a:r>
            <a:r>
              <a:rPr lang="en-US" sz="1800" dirty="0"/>
              <a:t> </a:t>
            </a:r>
            <a:r>
              <a:rPr lang="en-US" sz="1800" dirty="0" err="1"/>
              <a:t>một</a:t>
            </a:r>
            <a:r>
              <a:rPr lang="en-US" sz="1800" dirty="0"/>
              <a:t> </a:t>
            </a:r>
            <a:r>
              <a:rPr lang="en-US" sz="1800" dirty="0" err="1"/>
              <a:t>lớp</a:t>
            </a:r>
            <a:r>
              <a:rPr lang="en-US" sz="1800" dirty="0"/>
              <a:t> Animal </a:t>
            </a:r>
            <a:r>
              <a:rPr lang="en-US" sz="1800" dirty="0" err="1"/>
              <a:t>gồm</a:t>
            </a:r>
            <a:r>
              <a:rPr lang="en-US" sz="1800" dirty="0"/>
              <a:t> 2 </a:t>
            </a:r>
            <a:r>
              <a:rPr lang="en-US" sz="1800" dirty="0" err="1"/>
              <a:t>phương</a:t>
            </a:r>
            <a:r>
              <a:rPr lang="en-US" sz="1800" dirty="0"/>
              <a:t> </a:t>
            </a:r>
            <a:r>
              <a:rPr lang="en-US" sz="1800" dirty="0" err="1"/>
              <a:t>thức</a:t>
            </a:r>
            <a:r>
              <a:rPr lang="en-US" sz="1800" dirty="0"/>
              <a:t>:</a:t>
            </a:r>
            <a:endParaRPr lang="en-US" sz="1800" b="1" dirty="0"/>
          </a:p>
          <a:p>
            <a:pPr marL="0" indent="0">
              <a:buNone/>
            </a:pPr>
            <a:r>
              <a:rPr lang="en-US" sz="1800" b="1" dirty="0"/>
              <a:t>Eat()</a:t>
            </a:r>
          </a:p>
          <a:p>
            <a:pPr marL="0" indent="0">
              <a:buNone/>
            </a:pPr>
            <a:r>
              <a:rPr lang="en-US" sz="1800" dirty="0"/>
              <a:t>{ //</a:t>
            </a:r>
            <a:r>
              <a:rPr lang="en-US" sz="1800" dirty="0" err="1"/>
              <a:t>thức</a:t>
            </a:r>
            <a:r>
              <a:rPr lang="en-US" sz="1800" dirty="0"/>
              <a:t> </a:t>
            </a:r>
            <a:r>
              <a:rPr lang="en-US" sz="1800" dirty="0" err="1"/>
              <a:t>ăn</a:t>
            </a:r>
            <a:r>
              <a:rPr lang="en-US" sz="1800" dirty="0"/>
              <a:t> </a:t>
            </a:r>
          </a:p>
          <a:p>
            <a:pPr marL="0" indent="0">
              <a:buNone/>
            </a:pPr>
            <a:r>
              <a:rPr lang="en-US" sz="1800" dirty="0"/>
              <a:t>“</a:t>
            </a:r>
            <a:r>
              <a:rPr lang="en-US" sz="1800" dirty="0" err="1"/>
              <a:t>Động</a:t>
            </a:r>
            <a:r>
              <a:rPr lang="en-US" sz="1800" dirty="0"/>
              <a:t> </a:t>
            </a:r>
            <a:r>
              <a:rPr lang="en-US" sz="1800" dirty="0" err="1"/>
              <a:t>vật</a:t>
            </a:r>
            <a:r>
              <a:rPr lang="en-US" sz="1800" dirty="0"/>
              <a:t> </a:t>
            </a:r>
            <a:r>
              <a:rPr lang="en-US" sz="1800" dirty="0" err="1"/>
              <a:t>ăn</a:t>
            </a:r>
            <a:r>
              <a:rPr lang="en-US" sz="1800" dirty="0"/>
              <a:t> </a:t>
            </a:r>
            <a:r>
              <a:rPr lang="en-US" sz="1800" dirty="0" err="1"/>
              <a:t>cỏ</a:t>
            </a:r>
            <a:r>
              <a:rPr lang="en-US" sz="1800" dirty="0"/>
              <a:t>”}</a:t>
            </a:r>
          </a:p>
          <a:p>
            <a:pPr marL="0" indent="0">
              <a:buNone/>
            </a:pPr>
            <a:r>
              <a:rPr lang="en-US" sz="1800" b="1" dirty="0" err="1"/>
              <a:t>AnimalSound</a:t>
            </a:r>
            <a:r>
              <a:rPr lang="en-US" sz="1800" b="1" dirty="0"/>
              <a:t>()</a:t>
            </a:r>
          </a:p>
          <a:p>
            <a:pPr marL="0" indent="0">
              <a:buNone/>
            </a:pPr>
            <a:r>
              <a:rPr lang="en-US" sz="1800" dirty="0"/>
              <a:t>{//</a:t>
            </a:r>
            <a:r>
              <a:rPr lang="en-US" sz="1800" dirty="0" err="1"/>
              <a:t>Tiếng</a:t>
            </a:r>
            <a:r>
              <a:rPr lang="en-US" sz="1800" dirty="0"/>
              <a:t> </a:t>
            </a:r>
            <a:r>
              <a:rPr lang="en-US" sz="1800" dirty="0" err="1"/>
              <a:t>kêu</a:t>
            </a:r>
            <a:r>
              <a:rPr lang="en-US" sz="1800" dirty="0"/>
              <a:t> </a:t>
            </a:r>
          </a:p>
          <a:p>
            <a:pPr marL="0" indent="0">
              <a:buNone/>
            </a:pPr>
            <a:r>
              <a:rPr lang="en-US" sz="1800" dirty="0"/>
              <a:t>“</a:t>
            </a:r>
            <a:r>
              <a:rPr lang="en-US" sz="1800" dirty="0" err="1"/>
              <a:t>Quạ</a:t>
            </a:r>
            <a:r>
              <a:rPr lang="en-US" sz="1800" dirty="0"/>
              <a:t> </a:t>
            </a:r>
            <a:r>
              <a:rPr lang="en-US" sz="1800" dirty="0" err="1"/>
              <a:t>quạ</a:t>
            </a:r>
            <a:r>
              <a:rPr lang="en-US" sz="1800" dirty="0"/>
              <a:t>” }</a:t>
            </a:r>
          </a:p>
          <a:p>
            <a:pPr marL="0" indent="0">
              <a:buNone/>
            </a:pPr>
            <a:r>
              <a:rPr lang="en-US" sz="1800" dirty="0" err="1"/>
              <a:t>Và</a:t>
            </a:r>
            <a:r>
              <a:rPr lang="en-US" sz="1800" dirty="0"/>
              <a:t> </a:t>
            </a:r>
            <a:r>
              <a:rPr lang="en-US" sz="1800" dirty="0" err="1"/>
              <a:t>chúng</a:t>
            </a:r>
            <a:r>
              <a:rPr lang="en-US" sz="1800" dirty="0"/>
              <a:t> ta </a:t>
            </a:r>
            <a:r>
              <a:rPr lang="en-US" sz="1800" dirty="0" err="1"/>
              <a:t>có</a:t>
            </a:r>
            <a:r>
              <a:rPr lang="en-US" sz="1800" dirty="0"/>
              <a:t> 3 </a:t>
            </a:r>
            <a:r>
              <a:rPr lang="en-US" sz="1800" dirty="0" err="1"/>
              <a:t>lớp</a:t>
            </a:r>
            <a:r>
              <a:rPr lang="en-US" sz="1800" dirty="0"/>
              <a:t>: Cow, Cat, Bird </a:t>
            </a:r>
            <a:r>
              <a:rPr lang="en-US" sz="1800" dirty="0" err="1"/>
              <a:t>kế</a:t>
            </a:r>
            <a:r>
              <a:rPr lang="en-US" sz="1800" dirty="0"/>
              <a:t> </a:t>
            </a:r>
            <a:r>
              <a:rPr lang="en-US" sz="1800" dirty="0" err="1"/>
              <a:t>thừa</a:t>
            </a:r>
            <a:r>
              <a:rPr lang="en-US" sz="1800" dirty="0"/>
              <a:t> </a:t>
            </a:r>
            <a:r>
              <a:rPr lang="en-US" sz="1800" dirty="0" err="1"/>
              <a:t>từ</a:t>
            </a:r>
            <a:r>
              <a:rPr lang="en-US" sz="1800" dirty="0"/>
              <a:t> </a:t>
            </a:r>
            <a:r>
              <a:rPr lang="en-US" sz="1800" dirty="0" err="1"/>
              <a:t>lớp</a:t>
            </a:r>
            <a:r>
              <a:rPr lang="en-US" sz="1800" dirty="0"/>
              <a:t> Animal, </a:t>
            </a:r>
            <a:r>
              <a:rPr lang="en-US" sz="1800" dirty="0" err="1"/>
              <a:t>tuy</a:t>
            </a:r>
            <a:r>
              <a:rPr lang="en-US" sz="1800" dirty="0"/>
              <a:t> </a:t>
            </a:r>
            <a:r>
              <a:rPr lang="en-US" sz="1800" dirty="0" err="1"/>
              <a:t>nhiên</a:t>
            </a:r>
            <a:r>
              <a:rPr lang="en-US" sz="1800" dirty="0"/>
              <a:t> 3 </a:t>
            </a:r>
            <a:r>
              <a:rPr lang="en-US" sz="1800" dirty="0" err="1"/>
              <a:t>loài</a:t>
            </a:r>
            <a:r>
              <a:rPr lang="en-US" sz="1800" dirty="0"/>
              <a:t> này thì:</a:t>
            </a:r>
          </a:p>
          <a:p>
            <a:pPr lvl="1"/>
            <a:r>
              <a:rPr lang="en-US" sz="1800" err="1"/>
              <a:t>Không</a:t>
            </a:r>
            <a:r>
              <a:rPr lang="en-US" sz="1800"/>
              <a:t> cùng </a:t>
            </a:r>
            <a:r>
              <a:rPr lang="en-US" sz="1800" dirty="0" err="1"/>
              <a:t>ăn</a:t>
            </a:r>
            <a:r>
              <a:rPr lang="en-US" sz="1800" dirty="0"/>
              <a:t> </a:t>
            </a:r>
            <a:r>
              <a:rPr lang="en-US" sz="1800" dirty="0" err="1"/>
              <a:t>một</a:t>
            </a:r>
            <a:r>
              <a:rPr lang="en-US" sz="1800" dirty="0"/>
              <a:t> </a:t>
            </a:r>
            <a:r>
              <a:rPr lang="en-US" sz="1800" dirty="0" err="1"/>
              <a:t>loại</a:t>
            </a:r>
            <a:r>
              <a:rPr lang="en-US" sz="1800" dirty="0"/>
              <a:t> </a:t>
            </a:r>
            <a:r>
              <a:rPr lang="en-US" sz="1800" dirty="0" err="1"/>
              <a:t>thức</a:t>
            </a:r>
            <a:r>
              <a:rPr lang="en-US" sz="1800" dirty="0"/>
              <a:t> </a:t>
            </a:r>
            <a:r>
              <a:rPr lang="en-US" sz="1800" dirty="0" err="1"/>
              <a:t>ăn</a:t>
            </a:r>
            <a:endParaRPr lang="en-US" sz="1800" dirty="0"/>
          </a:p>
          <a:p>
            <a:pPr lvl="1"/>
            <a:r>
              <a:rPr lang="en-US" sz="1800" dirty="0" err="1"/>
              <a:t>Và</a:t>
            </a:r>
            <a:r>
              <a:rPr lang="en-US" sz="1800" dirty="0"/>
              <a:t> </a:t>
            </a:r>
            <a:r>
              <a:rPr lang="en-US" sz="1800" dirty="0" err="1"/>
              <a:t>tiếng</a:t>
            </a:r>
            <a:r>
              <a:rPr lang="en-US" sz="1800" dirty="0"/>
              <a:t> </a:t>
            </a:r>
            <a:r>
              <a:rPr lang="en-US" sz="1800" dirty="0" err="1"/>
              <a:t>kêu</a:t>
            </a:r>
            <a:r>
              <a:rPr lang="en-US" sz="1800" dirty="0"/>
              <a:t> cũng </a:t>
            </a:r>
            <a:r>
              <a:rPr lang="en-US" sz="1800" dirty="0" err="1"/>
              <a:t>không</a:t>
            </a:r>
            <a:r>
              <a:rPr lang="en-US" sz="1800" dirty="0"/>
              <a:t> </a:t>
            </a:r>
            <a:r>
              <a:rPr lang="en-US" sz="1800" dirty="0" err="1"/>
              <a:t>giống</a:t>
            </a:r>
            <a:r>
              <a:rPr lang="en-US" sz="1800" dirty="0"/>
              <a:t> </a:t>
            </a:r>
            <a:r>
              <a:rPr lang="en-US" sz="1800" dirty="0" err="1"/>
              <a:t>nhau</a:t>
            </a:r>
            <a:endParaRPr lang="en-US" sz="1800" dirty="0"/>
          </a:p>
          <a:p>
            <a:pPr marL="33337" indent="0">
              <a:buNone/>
            </a:pPr>
            <a:r>
              <a:rPr lang="en-US" sz="1800" dirty="0"/>
              <a:t>Do </a:t>
            </a:r>
            <a:r>
              <a:rPr lang="en-US" sz="1800" dirty="0" err="1"/>
              <a:t>đó</a:t>
            </a:r>
            <a:r>
              <a:rPr lang="en-US" sz="1800" dirty="0"/>
              <a:t> </a:t>
            </a:r>
            <a:r>
              <a:rPr lang="en-US" sz="1800" dirty="0" err="1"/>
              <a:t>mà</a:t>
            </a:r>
            <a:r>
              <a:rPr lang="en-US" sz="1800" dirty="0"/>
              <a:t> </a:t>
            </a:r>
            <a:r>
              <a:rPr lang="en-US" sz="1800" dirty="0" err="1"/>
              <a:t>các</a:t>
            </a:r>
            <a:r>
              <a:rPr lang="en-US" sz="1800" dirty="0"/>
              <a:t> </a:t>
            </a:r>
            <a:r>
              <a:rPr lang="en-US" sz="1800" dirty="0" err="1"/>
              <a:t>phương</a:t>
            </a:r>
            <a:r>
              <a:rPr lang="en-US" sz="1800" dirty="0"/>
              <a:t> </a:t>
            </a:r>
            <a:r>
              <a:rPr lang="en-US" sz="1800" dirty="0" err="1"/>
              <a:t>thức</a:t>
            </a:r>
            <a:r>
              <a:rPr lang="en-US" sz="1800" dirty="0"/>
              <a:t> Eat(), </a:t>
            </a:r>
            <a:r>
              <a:rPr lang="en-US" sz="1800" dirty="0" err="1"/>
              <a:t>AnimalSound</a:t>
            </a:r>
            <a:r>
              <a:rPr lang="en-US" sz="1800" dirty="0"/>
              <a:t>() </a:t>
            </a:r>
            <a:r>
              <a:rPr lang="en-US" sz="1800" dirty="0" err="1"/>
              <a:t>cần</a:t>
            </a:r>
            <a:r>
              <a:rPr lang="en-US" sz="1800" dirty="0"/>
              <a:t> </a:t>
            </a:r>
            <a:r>
              <a:rPr lang="en-US" sz="1800" dirty="0" err="1"/>
              <a:t>phải</a:t>
            </a:r>
            <a:r>
              <a:rPr lang="en-US" sz="1800" dirty="0"/>
              <a:t> </a:t>
            </a:r>
            <a:r>
              <a:rPr lang="en-US" sz="1800" dirty="0" err="1"/>
              <a:t>khác</a:t>
            </a:r>
            <a:r>
              <a:rPr lang="en-US" sz="1800" dirty="0"/>
              <a:t> </a:t>
            </a:r>
            <a:r>
              <a:rPr lang="en-US" sz="1800" dirty="0" err="1"/>
              <a:t>nhau</a:t>
            </a:r>
            <a:r>
              <a:rPr lang="en-US" sz="1800" dirty="0"/>
              <a:t> </a:t>
            </a:r>
            <a:r>
              <a:rPr lang="en-US" sz="1800" dirty="0" err="1"/>
              <a:t>cho</a:t>
            </a:r>
            <a:r>
              <a:rPr lang="en-US" sz="1800" dirty="0"/>
              <a:t> </a:t>
            </a:r>
            <a:r>
              <a:rPr lang="en-US" sz="1800" dirty="0" err="1"/>
              <a:t>từng</a:t>
            </a:r>
            <a:r>
              <a:rPr lang="en-US" sz="1800" dirty="0"/>
              <a:t> </a:t>
            </a:r>
            <a:r>
              <a:rPr lang="en-US" sz="1800" dirty="0" err="1"/>
              <a:t>loại</a:t>
            </a:r>
            <a:r>
              <a:rPr lang="en-US" sz="1800" dirty="0"/>
              <a:t> </a:t>
            </a:r>
            <a:r>
              <a:rPr lang="en-US" sz="1800" dirty="0" err="1"/>
              <a:t>động</a:t>
            </a:r>
            <a:r>
              <a:rPr lang="en-US" sz="1800" dirty="0"/>
              <a:t> </a:t>
            </a:r>
            <a:r>
              <a:rPr lang="en-US" sz="1800" dirty="0" err="1"/>
              <a:t>vật</a:t>
            </a:r>
            <a:r>
              <a:rPr lang="en-US" sz="1800" dirty="0"/>
              <a:t> </a:t>
            </a:r>
            <a:r>
              <a:rPr lang="en-US" sz="1800" dirty="0" err="1"/>
              <a:t>trong</a:t>
            </a:r>
            <a:r>
              <a:rPr lang="en-US" sz="1800" dirty="0"/>
              <a:t> </a:t>
            </a:r>
            <a:r>
              <a:rPr lang="en-US" sz="1800" dirty="0" err="1"/>
              <a:t>khi</a:t>
            </a:r>
            <a:r>
              <a:rPr lang="en-US" sz="1800" dirty="0"/>
              <a:t> </a:t>
            </a:r>
            <a:r>
              <a:rPr lang="en-US" sz="1800" dirty="0" err="1"/>
              <a:t>chúng</a:t>
            </a:r>
            <a:r>
              <a:rPr lang="en-US" sz="1800" dirty="0"/>
              <a:t> cũng </a:t>
            </a:r>
            <a:r>
              <a:rPr lang="en-US" sz="1800" dirty="0" err="1"/>
              <a:t>được</a:t>
            </a:r>
            <a:r>
              <a:rPr lang="en-US" sz="1800" dirty="0"/>
              <a:t> </a:t>
            </a:r>
            <a:r>
              <a:rPr lang="en-US" sz="1800" dirty="0" err="1"/>
              <a:t>kế</a:t>
            </a:r>
            <a:r>
              <a:rPr lang="en-US" sz="1800" dirty="0"/>
              <a:t> </a:t>
            </a:r>
            <a:r>
              <a:rPr lang="en-US" sz="1800" dirty="0" err="1"/>
              <a:t>thừa</a:t>
            </a:r>
            <a:r>
              <a:rPr lang="en-US" sz="1800" dirty="0"/>
              <a:t> </a:t>
            </a:r>
            <a:r>
              <a:rPr lang="en-US" sz="1800" dirty="0" err="1"/>
              <a:t>từ</a:t>
            </a:r>
            <a:r>
              <a:rPr lang="en-US" sz="1800" dirty="0"/>
              <a:t> </a:t>
            </a:r>
            <a:r>
              <a:rPr lang="en-US" sz="1800" dirty="0" err="1"/>
              <a:t>một</a:t>
            </a:r>
            <a:r>
              <a:rPr lang="en-US" sz="1800" dirty="0"/>
              <a:t> </a:t>
            </a:r>
            <a:r>
              <a:rPr lang="en-US" sz="1800" dirty="0" err="1"/>
              <a:t>lớp</a:t>
            </a:r>
            <a:r>
              <a:rPr lang="en-US" sz="1800" dirty="0"/>
              <a:t> </a:t>
            </a:r>
            <a:r>
              <a:rPr lang="en-US" sz="1800" dirty="0" err="1"/>
              <a:t>duy</a:t>
            </a:r>
            <a:r>
              <a:rPr lang="en-US" sz="1800" dirty="0"/>
              <a:t> </a:t>
            </a:r>
            <a:r>
              <a:rPr lang="en-US" sz="1800" dirty="0" err="1"/>
              <a:t>nhất</a:t>
            </a:r>
            <a:r>
              <a:rPr lang="en-US" sz="1800" dirty="0"/>
              <a:t> là Animal.</a:t>
            </a:r>
          </a:p>
          <a:p>
            <a:pPr marL="33337" indent="0">
              <a:buNone/>
            </a:pPr>
            <a:r>
              <a:rPr lang="en-US" sz="1800" dirty="0" err="1"/>
              <a:t>Để</a:t>
            </a:r>
            <a:r>
              <a:rPr lang="en-US" sz="1800" dirty="0"/>
              <a:t> </a:t>
            </a:r>
            <a:r>
              <a:rPr lang="en-US" sz="1800" dirty="0" err="1"/>
              <a:t>giải</a:t>
            </a:r>
            <a:r>
              <a:rPr lang="en-US" sz="1800" dirty="0"/>
              <a:t> </a:t>
            </a:r>
            <a:r>
              <a:rPr lang="en-US" sz="1800" dirty="0" err="1"/>
              <a:t>quyết</a:t>
            </a:r>
            <a:r>
              <a:rPr lang="en-US" sz="1800" dirty="0"/>
              <a:t> </a:t>
            </a:r>
            <a:r>
              <a:rPr lang="en-US" sz="1800" dirty="0" err="1"/>
              <a:t>vấn</a:t>
            </a:r>
            <a:r>
              <a:rPr lang="en-US" sz="1800" dirty="0"/>
              <a:t> </a:t>
            </a:r>
            <a:r>
              <a:rPr lang="en-US" sz="1800" dirty="0" err="1"/>
              <a:t>đề</a:t>
            </a:r>
            <a:r>
              <a:rPr lang="en-US" sz="1800" dirty="0"/>
              <a:t> này, </a:t>
            </a:r>
            <a:r>
              <a:rPr lang="en-US" sz="1800" dirty="0" err="1"/>
              <a:t>chúng</a:t>
            </a:r>
            <a:r>
              <a:rPr lang="en-US" sz="1800" dirty="0"/>
              <a:t> ta </a:t>
            </a:r>
            <a:r>
              <a:rPr lang="en-US" sz="1800" dirty="0" err="1"/>
              <a:t>cần</a:t>
            </a:r>
            <a:r>
              <a:rPr lang="en-US" sz="1800" dirty="0"/>
              <a:t> </a:t>
            </a:r>
            <a:r>
              <a:rPr lang="en-US" sz="1800" dirty="0" err="1"/>
              <a:t>đến</a:t>
            </a:r>
            <a:r>
              <a:rPr lang="en-US" sz="1800" dirty="0"/>
              <a:t> abstract class, </a:t>
            </a:r>
            <a:r>
              <a:rPr lang="en-US" sz="1800" dirty="0" err="1"/>
              <a:t>tức</a:t>
            </a:r>
            <a:r>
              <a:rPr lang="en-US" sz="1800" dirty="0"/>
              <a:t> là </a:t>
            </a:r>
            <a:r>
              <a:rPr lang="en-US" sz="1800" dirty="0" err="1"/>
              <a:t>lớp</a:t>
            </a:r>
            <a:r>
              <a:rPr lang="en-US" sz="1800" dirty="0"/>
              <a:t> abstract Animal </a:t>
            </a:r>
            <a:r>
              <a:rPr lang="en-US" sz="1800" dirty="0" err="1"/>
              <a:t>sẽ</a:t>
            </a:r>
            <a:r>
              <a:rPr lang="en-US" sz="1800" dirty="0"/>
              <a:t> </a:t>
            </a:r>
            <a:r>
              <a:rPr lang="en-US" sz="1800" dirty="0" err="1"/>
              <a:t>khai</a:t>
            </a:r>
            <a:r>
              <a:rPr lang="en-US" sz="1800" dirty="0"/>
              <a:t> </a:t>
            </a:r>
            <a:r>
              <a:rPr lang="en-US" sz="1800" dirty="0" err="1"/>
              <a:t>báo</a:t>
            </a:r>
            <a:r>
              <a:rPr lang="en-US" sz="1800" dirty="0"/>
              <a:t> ra </a:t>
            </a:r>
            <a:r>
              <a:rPr lang="en-US" sz="1800" dirty="0" err="1"/>
              <a:t>khuôn</a:t>
            </a:r>
            <a:r>
              <a:rPr lang="en-US" sz="1800" dirty="0"/>
              <a:t> </a:t>
            </a:r>
            <a:r>
              <a:rPr lang="en-US" sz="1800" dirty="0" err="1"/>
              <a:t>mẫu</a:t>
            </a:r>
            <a:r>
              <a:rPr lang="en-US" sz="1800" dirty="0"/>
              <a:t> là Eat() </a:t>
            </a:r>
            <a:r>
              <a:rPr lang="en-US" sz="1800" dirty="0" err="1"/>
              <a:t>và</a:t>
            </a:r>
            <a:r>
              <a:rPr lang="en-US" sz="1800" dirty="0"/>
              <a:t> </a:t>
            </a:r>
            <a:r>
              <a:rPr lang="en-US" sz="1800" dirty="0" err="1"/>
              <a:t>AnimalSound</a:t>
            </a:r>
            <a:r>
              <a:rPr lang="en-US" sz="1800" dirty="0"/>
              <a:t>(), </a:t>
            </a:r>
            <a:r>
              <a:rPr lang="en-US" sz="1800" dirty="0" err="1"/>
              <a:t>rồi</a:t>
            </a:r>
            <a:r>
              <a:rPr lang="en-US" sz="1800" dirty="0"/>
              <a:t> </a:t>
            </a:r>
            <a:r>
              <a:rPr lang="en-US" sz="1800" dirty="0" err="1"/>
              <a:t>ứng</a:t>
            </a:r>
            <a:r>
              <a:rPr lang="en-US" sz="1800" dirty="0"/>
              <a:t> </a:t>
            </a:r>
            <a:r>
              <a:rPr lang="en-US" sz="1800" dirty="0" err="1"/>
              <a:t>với</a:t>
            </a:r>
            <a:r>
              <a:rPr lang="en-US" sz="1800" dirty="0"/>
              <a:t> </a:t>
            </a:r>
            <a:r>
              <a:rPr lang="en-US" sz="1800" dirty="0" err="1"/>
              <a:t>mỗi</a:t>
            </a:r>
            <a:r>
              <a:rPr lang="en-US" sz="1800" dirty="0"/>
              <a:t> </a:t>
            </a:r>
            <a:r>
              <a:rPr lang="en-US" sz="1800" dirty="0" err="1"/>
              <a:t>lớp</a:t>
            </a:r>
            <a:r>
              <a:rPr lang="en-US" sz="1800" dirty="0"/>
              <a:t> con </a:t>
            </a:r>
            <a:r>
              <a:rPr lang="en-US" sz="1800" dirty="0" err="1"/>
              <a:t>kế</a:t>
            </a:r>
            <a:r>
              <a:rPr lang="en-US" sz="1800" dirty="0"/>
              <a:t> </a:t>
            </a:r>
            <a:r>
              <a:rPr lang="en-US" sz="1800" dirty="0" err="1"/>
              <a:t>thừa</a:t>
            </a:r>
            <a:r>
              <a:rPr lang="en-US" sz="1800" dirty="0"/>
              <a:t> </a:t>
            </a:r>
            <a:r>
              <a:rPr lang="en-US" sz="1800" dirty="0" err="1"/>
              <a:t>Cow,Bird</a:t>
            </a:r>
            <a:r>
              <a:rPr lang="en-US" sz="1800" dirty="0"/>
              <a:t>, Cat </a:t>
            </a:r>
            <a:r>
              <a:rPr lang="en-US" sz="1800" dirty="0" err="1"/>
              <a:t>sẽ</a:t>
            </a:r>
            <a:r>
              <a:rPr lang="en-US" sz="1800" dirty="0"/>
              <a:t> </a:t>
            </a:r>
            <a:r>
              <a:rPr lang="en-US" sz="1800" dirty="0" err="1"/>
              <a:t>định</a:t>
            </a:r>
            <a:r>
              <a:rPr lang="en-US" sz="1800" dirty="0"/>
              <a:t> </a:t>
            </a:r>
            <a:r>
              <a:rPr lang="en-US" sz="1800" dirty="0" err="1"/>
              <a:t>nghĩa</a:t>
            </a:r>
            <a:r>
              <a:rPr lang="en-US" sz="1800" dirty="0"/>
              <a:t> </a:t>
            </a:r>
            <a:r>
              <a:rPr lang="en-US" sz="1800" dirty="0" err="1"/>
              <a:t>lại</a:t>
            </a:r>
            <a:r>
              <a:rPr lang="en-US" sz="1800" dirty="0"/>
              <a:t> </a:t>
            </a:r>
            <a:r>
              <a:rPr lang="en-US" sz="1800" dirty="0" err="1"/>
              <a:t>cho</a:t>
            </a:r>
            <a:r>
              <a:rPr lang="en-US" sz="1800" dirty="0"/>
              <a:t> </a:t>
            </a:r>
            <a:r>
              <a:rPr lang="en-US" sz="1800" dirty="0" err="1"/>
              <a:t>phù</a:t>
            </a:r>
            <a:r>
              <a:rPr lang="en-US" sz="1800" dirty="0"/>
              <a:t> </a:t>
            </a:r>
            <a:r>
              <a:rPr lang="en-US" sz="1800" dirty="0" err="1"/>
              <a:t>hợp</a:t>
            </a:r>
            <a:r>
              <a:rPr lang="en-US" sz="1800" dirty="0"/>
              <a:t> </a:t>
            </a:r>
            <a:r>
              <a:rPr lang="en-US" sz="1800" dirty="0" err="1"/>
              <a:t>với</a:t>
            </a:r>
            <a:r>
              <a:rPr lang="en-US" sz="1800" dirty="0"/>
              <a:t> </a:t>
            </a:r>
            <a:r>
              <a:rPr lang="en-US" sz="1800" dirty="0" err="1"/>
              <a:t>chất</a:t>
            </a:r>
            <a:r>
              <a:rPr lang="en-US" sz="1800" dirty="0"/>
              <a:t> </a:t>
            </a:r>
            <a:r>
              <a:rPr lang="en-US" sz="1800" dirty="0" err="1"/>
              <a:t>riêng</a:t>
            </a:r>
            <a:r>
              <a:rPr lang="en-US" sz="1800" dirty="0"/>
              <a:t> </a:t>
            </a:r>
            <a:r>
              <a:rPr lang="en-US" sz="1800" dirty="0" err="1"/>
              <a:t>của</a:t>
            </a:r>
            <a:r>
              <a:rPr lang="en-US" sz="1800" dirty="0"/>
              <a:t> </a:t>
            </a:r>
            <a:r>
              <a:rPr lang="en-US" sz="1800" dirty="0" err="1"/>
              <a:t>nó</a:t>
            </a:r>
            <a:r>
              <a:rPr lang="en-US" sz="1800" dirty="0"/>
              <a:t>.</a:t>
            </a:r>
          </a:p>
        </p:txBody>
      </p:sp>
      <p:sp>
        <p:nvSpPr>
          <p:cNvPr id="4" name="Date Placeholder 3">
            <a:extLst>
              <a:ext uri="{FF2B5EF4-FFF2-40B4-BE49-F238E27FC236}">
                <a16:creationId xmlns:a16="http://schemas.microsoft.com/office/drawing/2014/main" id="{4E1DFF4B-A3F3-43CE-B9FB-3D90FAC8135F}"/>
              </a:ext>
            </a:extLst>
          </p:cNvPr>
          <p:cNvSpPr>
            <a:spLocks noGrp="1"/>
          </p:cNvSpPr>
          <p:nvPr>
            <p:ph type="dt" sz="half" idx="10"/>
          </p:nvPr>
        </p:nvSpPr>
        <p:spPr/>
        <p:txBody>
          <a:bodyPr/>
          <a:lstStyle/>
          <a:p>
            <a:fld id="{B88E2A3D-1029-49D6-A4F5-3296B04E5FA7}" type="datetime1">
              <a:rPr lang="vi-VN" smtClean="0"/>
              <a:t>04/02/2025</a:t>
            </a:fld>
            <a:endParaRPr lang="vi-VN"/>
          </a:p>
        </p:txBody>
      </p:sp>
      <p:sp>
        <p:nvSpPr>
          <p:cNvPr id="5" name="Footer Placeholder 4">
            <a:extLst>
              <a:ext uri="{FF2B5EF4-FFF2-40B4-BE49-F238E27FC236}">
                <a16:creationId xmlns:a16="http://schemas.microsoft.com/office/drawing/2014/main" id="{9C275465-13B4-4157-8DB5-690F71A378F2}"/>
              </a:ext>
            </a:extLst>
          </p:cNvPr>
          <p:cNvSpPr>
            <a:spLocks noGrp="1"/>
          </p:cNvSpPr>
          <p:nvPr>
            <p:ph type="ftr" sz="quarter" idx="11"/>
          </p:nvPr>
        </p:nvSpPr>
        <p:spPr/>
        <p:txBody>
          <a:bodyPr/>
          <a:lstStyle/>
          <a:p>
            <a:r>
              <a:rPr lang="vi-VN"/>
              <a:t>Chương 3 - Lập trình hướng đối tượng trong C#</a:t>
            </a:r>
          </a:p>
        </p:txBody>
      </p:sp>
      <p:sp>
        <p:nvSpPr>
          <p:cNvPr id="6" name="Slide Number Placeholder 5">
            <a:extLst>
              <a:ext uri="{FF2B5EF4-FFF2-40B4-BE49-F238E27FC236}">
                <a16:creationId xmlns:a16="http://schemas.microsoft.com/office/drawing/2014/main" id="{7FD1F52B-FF36-46C1-AB43-9219BB9D12A9}"/>
              </a:ext>
            </a:extLst>
          </p:cNvPr>
          <p:cNvSpPr>
            <a:spLocks noGrp="1"/>
          </p:cNvSpPr>
          <p:nvPr>
            <p:ph type="sldNum" sz="quarter" idx="12"/>
          </p:nvPr>
        </p:nvSpPr>
        <p:spPr/>
        <p:txBody>
          <a:bodyPr/>
          <a:lstStyle/>
          <a:p>
            <a:fld id="{5AB95402-1E0D-474E-8D8C-CBE7F053639E}" type="slidenum">
              <a:rPr lang="vi-VN" smtClean="0"/>
              <a:pPr/>
              <a:t>77</a:t>
            </a:fld>
            <a:r>
              <a:rPr lang="vi-VN"/>
              <a:t>/30</a:t>
            </a:r>
          </a:p>
        </p:txBody>
      </p:sp>
    </p:spTree>
    <p:extLst>
      <p:ext uri="{BB962C8B-B14F-4D97-AF65-F5344CB8AC3E}">
        <p14:creationId xmlns:p14="http://schemas.microsoft.com/office/powerpoint/2010/main" val="226252926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Lớp trừu tượng</a:t>
            </a:r>
          </a:p>
        </p:txBody>
      </p:sp>
      <p:sp>
        <p:nvSpPr>
          <p:cNvPr id="3" name="Content Placeholder 2"/>
          <p:cNvSpPr>
            <a:spLocks noGrp="1"/>
          </p:cNvSpPr>
          <p:nvPr>
            <p:ph idx="1"/>
          </p:nvPr>
        </p:nvSpPr>
        <p:spPr/>
        <p:txBody>
          <a:bodyPr/>
          <a:lstStyle/>
          <a:p>
            <a:pPr marL="0" indent="0">
              <a:buNone/>
            </a:pPr>
            <a:r>
              <a:rPr lang="en-US" dirty="0" err="1"/>
              <a:t>Ví</a:t>
            </a:r>
            <a:r>
              <a:rPr lang="en-US" dirty="0"/>
              <a:t> </a:t>
            </a:r>
            <a:r>
              <a:rPr lang="en-US" dirty="0" err="1"/>
              <a:t>dụ</a:t>
            </a:r>
            <a:endParaRPr lang="en-US" dirty="0"/>
          </a:p>
          <a:p>
            <a:pPr lvl="1"/>
            <a:r>
              <a:rPr lang="en-US" dirty="0" err="1"/>
              <a:t>Xây</a:t>
            </a:r>
            <a:r>
              <a:rPr lang="en-US" dirty="0"/>
              <a:t> </a:t>
            </a:r>
            <a:r>
              <a:rPr lang="en-US" dirty="0" err="1"/>
              <a:t>dựng</a:t>
            </a:r>
            <a:r>
              <a:rPr lang="en-US" dirty="0"/>
              <a:t> </a:t>
            </a:r>
            <a:r>
              <a:rPr lang="en-US" dirty="0" err="1"/>
              <a:t>lớp</a:t>
            </a:r>
            <a:r>
              <a:rPr lang="en-US" dirty="0"/>
              <a:t> </a:t>
            </a:r>
            <a:r>
              <a:rPr lang="en-US" dirty="0" err="1">
                <a:solidFill>
                  <a:srgbClr val="FF0000"/>
                </a:solidFill>
              </a:rPr>
              <a:t>HinhHoc</a:t>
            </a:r>
            <a:r>
              <a:rPr lang="en-US" dirty="0"/>
              <a:t> </a:t>
            </a:r>
            <a:r>
              <a:rPr lang="en-US"/>
              <a:t>gồm </a:t>
            </a:r>
            <a:r>
              <a:rPr lang="en-US" dirty="0" err="1"/>
              <a:t>phương</a:t>
            </a:r>
            <a:r>
              <a:rPr lang="en-US" dirty="0"/>
              <a:t> </a:t>
            </a:r>
            <a:r>
              <a:rPr lang="en-US" dirty="0" err="1"/>
              <a:t>thức</a:t>
            </a:r>
            <a:r>
              <a:rPr lang="en-US" dirty="0"/>
              <a:t>: </a:t>
            </a:r>
            <a:r>
              <a:rPr lang="en-US" dirty="0" err="1"/>
              <a:t>Tính</a:t>
            </a:r>
            <a:r>
              <a:rPr lang="en-US" dirty="0"/>
              <a:t> chu vi, </a:t>
            </a:r>
            <a:r>
              <a:rPr lang="en-US" dirty="0" err="1"/>
              <a:t>diện</a:t>
            </a:r>
            <a:r>
              <a:rPr lang="en-US" dirty="0"/>
              <a:t> </a:t>
            </a:r>
            <a:r>
              <a:rPr lang="en-US" dirty="0" err="1"/>
              <a:t>tích</a:t>
            </a:r>
            <a:r>
              <a:rPr lang="en-US" dirty="0"/>
              <a:t> là </a:t>
            </a:r>
            <a:r>
              <a:rPr lang="en-US" dirty="0" err="1"/>
              <a:t>phương</a:t>
            </a:r>
            <a:r>
              <a:rPr lang="en-US" dirty="0"/>
              <a:t> </a:t>
            </a:r>
            <a:r>
              <a:rPr lang="en-US" dirty="0" err="1"/>
              <a:t>thức</a:t>
            </a:r>
            <a:r>
              <a:rPr lang="en-US" dirty="0"/>
              <a:t> </a:t>
            </a:r>
            <a:r>
              <a:rPr lang="en-US" dirty="0" err="1"/>
              <a:t>trừu</a:t>
            </a:r>
            <a:r>
              <a:rPr lang="en-US" dirty="0"/>
              <a:t> </a:t>
            </a:r>
            <a:r>
              <a:rPr lang="en-US" dirty="0" err="1"/>
              <a:t>tượng</a:t>
            </a:r>
            <a:r>
              <a:rPr lang="en-US" dirty="0"/>
              <a:t>.</a:t>
            </a:r>
          </a:p>
          <a:p>
            <a:pPr lvl="1"/>
            <a:r>
              <a:rPr lang="en-US" dirty="0" err="1"/>
              <a:t>Xây</a:t>
            </a:r>
            <a:r>
              <a:rPr lang="en-US" dirty="0"/>
              <a:t> </a:t>
            </a:r>
            <a:r>
              <a:rPr lang="en-US" dirty="0" err="1"/>
              <a:t>dựng</a:t>
            </a:r>
            <a:r>
              <a:rPr lang="en-US" dirty="0"/>
              <a:t> </a:t>
            </a:r>
            <a:r>
              <a:rPr lang="en-US" dirty="0" err="1"/>
              <a:t>lớp</a:t>
            </a:r>
            <a:r>
              <a:rPr lang="en-US" dirty="0"/>
              <a:t> </a:t>
            </a:r>
            <a:r>
              <a:rPr lang="en-US" dirty="0" err="1">
                <a:solidFill>
                  <a:srgbClr val="FF0000"/>
                </a:solidFill>
              </a:rPr>
              <a:t>TamGiac</a:t>
            </a:r>
            <a:r>
              <a:rPr lang="en-US" dirty="0"/>
              <a:t>, </a:t>
            </a:r>
            <a:r>
              <a:rPr lang="en-US" dirty="0" err="1">
                <a:solidFill>
                  <a:srgbClr val="FF0000"/>
                </a:solidFill>
              </a:rPr>
              <a:t>HinhChuNhat</a:t>
            </a:r>
            <a:r>
              <a:rPr lang="en-US" dirty="0"/>
              <a:t> </a:t>
            </a:r>
            <a:r>
              <a:rPr lang="en-US" dirty="0" err="1"/>
              <a:t>kế</a:t>
            </a:r>
            <a:r>
              <a:rPr lang="en-US" dirty="0"/>
              <a:t> </a:t>
            </a:r>
            <a:r>
              <a:rPr lang="en-US" dirty="0" err="1"/>
              <a:t>thừa</a:t>
            </a:r>
            <a:r>
              <a:rPr lang="en-US" dirty="0"/>
              <a:t> </a:t>
            </a:r>
            <a:r>
              <a:rPr lang="en-US" dirty="0" err="1"/>
              <a:t>từ</a:t>
            </a:r>
            <a:r>
              <a:rPr lang="en-US" dirty="0"/>
              <a:t> </a:t>
            </a:r>
            <a:r>
              <a:rPr lang="en-US" dirty="0" err="1"/>
              <a:t>lớp</a:t>
            </a:r>
            <a:r>
              <a:rPr lang="en-US" dirty="0"/>
              <a:t> </a:t>
            </a:r>
            <a:r>
              <a:rPr lang="en-US" dirty="0" err="1">
                <a:solidFill>
                  <a:srgbClr val="FF0000"/>
                </a:solidFill>
              </a:rPr>
              <a:t>HinhHoc</a:t>
            </a:r>
            <a:r>
              <a:rPr lang="en-US" dirty="0"/>
              <a:t>, </a:t>
            </a:r>
            <a:r>
              <a:rPr lang="en-US" dirty="0" err="1"/>
              <a:t>xây</a:t>
            </a:r>
            <a:r>
              <a:rPr lang="en-US" dirty="0"/>
              <a:t> </a:t>
            </a:r>
            <a:r>
              <a:rPr lang="en-US" dirty="0" err="1"/>
              <a:t>dựng</a:t>
            </a:r>
            <a:r>
              <a:rPr lang="en-US" dirty="0"/>
              <a:t> </a:t>
            </a:r>
            <a:r>
              <a:rPr lang="en-US" dirty="0" err="1"/>
              <a:t>phương</a:t>
            </a:r>
            <a:r>
              <a:rPr lang="en-US" dirty="0"/>
              <a:t> </a:t>
            </a:r>
            <a:r>
              <a:rPr lang="en-US" dirty="0" err="1"/>
              <a:t>thức</a:t>
            </a:r>
            <a:r>
              <a:rPr lang="en-US" dirty="0"/>
              <a:t> </a:t>
            </a:r>
            <a:r>
              <a:rPr lang="en-US" dirty="0" err="1"/>
              <a:t>tính</a:t>
            </a:r>
            <a:r>
              <a:rPr lang="en-US" dirty="0"/>
              <a:t> chu vi, </a:t>
            </a:r>
            <a:r>
              <a:rPr lang="en-US" dirty="0" err="1"/>
              <a:t>diện</a:t>
            </a:r>
            <a:r>
              <a:rPr lang="en-US" dirty="0"/>
              <a:t> </a:t>
            </a:r>
            <a:r>
              <a:rPr lang="en-US" dirty="0" err="1"/>
              <a:t>tích</a:t>
            </a:r>
            <a:endParaRPr lang="en-US" dirty="0"/>
          </a:p>
          <a:p>
            <a:pPr marL="471487" lvl="1" indent="0">
              <a:buNone/>
            </a:pPr>
            <a:endParaRPr lang="en-US" dirty="0"/>
          </a:p>
          <a:p>
            <a:pPr marL="0" indent="0">
              <a:buNone/>
            </a:pPr>
            <a:r>
              <a:rPr lang="vi-VN" sz="1800" dirty="0">
                <a:solidFill>
                  <a:srgbClr val="00B050"/>
                </a:solidFill>
                <a:latin typeface="Courier New" pitchFamily="49" charset="0"/>
                <a:cs typeface="Courier New" pitchFamily="49" charset="0"/>
              </a:rPr>
              <a:t>//Lớp trừu tượng</a:t>
            </a:r>
          </a:p>
          <a:p>
            <a:pPr marL="0" indent="0">
              <a:buNone/>
            </a:pPr>
            <a:r>
              <a:rPr lang="en-US" sz="1800" dirty="0">
                <a:latin typeface="Courier New" pitchFamily="49" charset="0"/>
                <a:cs typeface="Courier New" pitchFamily="49" charset="0"/>
              </a:rPr>
              <a:t>    </a:t>
            </a:r>
            <a:r>
              <a:rPr lang="en-US" sz="1800" b="1" dirty="0">
                <a:solidFill>
                  <a:srgbClr val="0000FF"/>
                </a:solidFill>
                <a:latin typeface="Courier New" pitchFamily="49" charset="0"/>
                <a:cs typeface="Courier New" pitchFamily="49" charset="0"/>
              </a:rPr>
              <a:t>abstract</a:t>
            </a:r>
            <a:r>
              <a:rPr lang="en-US" sz="1800" dirty="0">
                <a:latin typeface="Courier New" pitchFamily="49" charset="0"/>
                <a:cs typeface="Courier New" pitchFamily="49" charset="0"/>
              </a:rPr>
              <a:t> public class </a:t>
            </a:r>
            <a:r>
              <a:rPr lang="en-US" sz="1800" b="1" dirty="0" err="1">
                <a:solidFill>
                  <a:srgbClr val="0000FF"/>
                </a:solidFill>
                <a:latin typeface="Courier New" pitchFamily="49" charset="0"/>
                <a:cs typeface="Courier New" pitchFamily="49" charset="0"/>
              </a:rPr>
              <a:t>HinhHoc</a:t>
            </a:r>
            <a:endParaRPr lang="en-US" sz="1800" b="1" dirty="0">
              <a:solidFill>
                <a:srgbClr val="0000FF"/>
              </a:solidFill>
              <a:latin typeface="Courier New" pitchFamily="49" charset="0"/>
              <a:cs typeface="Courier New" pitchFamily="49" charset="0"/>
            </a:endParaRPr>
          </a:p>
          <a:p>
            <a:pPr marL="0" indent="0">
              <a:buNone/>
            </a:pPr>
            <a:r>
              <a:rPr lang="en-US" sz="1800" dirty="0">
                <a:latin typeface="Courier New" pitchFamily="49" charset="0"/>
                <a:cs typeface="Courier New" pitchFamily="49" charset="0"/>
              </a:rPr>
              <a:t>    {</a:t>
            </a:r>
          </a:p>
          <a:p>
            <a:pPr marL="0" indent="0">
              <a:buNone/>
            </a:pPr>
            <a:r>
              <a:rPr lang="en-US" sz="1800" dirty="0">
                <a:latin typeface="Courier New" pitchFamily="49" charset="0"/>
                <a:cs typeface="Courier New" pitchFamily="49" charset="0"/>
              </a:rPr>
              <a:t>        abstract public void </a:t>
            </a:r>
            <a:r>
              <a:rPr lang="en-US" sz="1800" dirty="0" err="1">
                <a:latin typeface="Courier New" pitchFamily="49" charset="0"/>
                <a:cs typeface="Courier New" pitchFamily="49" charset="0"/>
              </a:rPr>
              <a:t>Nhap</a:t>
            </a:r>
            <a:r>
              <a:rPr lang="en-US" sz="1800" dirty="0">
                <a:latin typeface="Courier New" pitchFamily="49" charset="0"/>
                <a:cs typeface="Courier New" pitchFamily="49" charset="0"/>
              </a:rPr>
              <a:t>();</a:t>
            </a:r>
          </a:p>
          <a:p>
            <a:pPr marL="0" indent="0">
              <a:buNone/>
            </a:pPr>
            <a:r>
              <a:rPr lang="en-US" sz="1800" dirty="0">
                <a:latin typeface="Courier New" pitchFamily="49" charset="0"/>
                <a:cs typeface="Courier New" pitchFamily="49" charset="0"/>
              </a:rPr>
              <a:t>        abstract public double  </a:t>
            </a:r>
            <a:r>
              <a:rPr lang="en-US" sz="1800" dirty="0" err="1">
                <a:latin typeface="Courier New" pitchFamily="49" charset="0"/>
                <a:cs typeface="Courier New" pitchFamily="49" charset="0"/>
              </a:rPr>
              <a:t>ChuVi</a:t>
            </a:r>
            <a:r>
              <a:rPr lang="en-US" sz="1800" dirty="0">
                <a:latin typeface="Courier New" pitchFamily="49" charset="0"/>
                <a:cs typeface="Courier New" pitchFamily="49" charset="0"/>
              </a:rPr>
              <a:t>();</a:t>
            </a:r>
          </a:p>
          <a:p>
            <a:pPr marL="0" indent="0">
              <a:buNone/>
            </a:pPr>
            <a:r>
              <a:rPr lang="en-US" sz="1800" dirty="0">
                <a:latin typeface="Courier New" pitchFamily="49" charset="0"/>
                <a:cs typeface="Courier New" pitchFamily="49" charset="0"/>
              </a:rPr>
              <a:t>        abstract public double  </a:t>
            </a:r>
            <a:r>
              <a:rPr lang="en-US" sz="1800" dirty="0" err="1">
                <a:latin typeface="Courier New" pitchFamily="49" charset="0"/>
                <a:cs typeface="Courier New" pitchFamily="49" charset="0"/>
              </a:rPr>
              <a:t>DienTich</a:t>
            </a:r>
            <a:r>
              <a:rPr lang="en-US" sz="1800" dirty="0">
                <a:latin typeface="Courier New" pitchFamily="49" charset="0"/>
                <a:cs typeface="Courier New" pitchFamily="49" charset="0"/>
              </a:rPr>
              <a:t>();</a:t>
            </a:r>
          </a:p>
          <a:p>
            <a:pPr marL="0" indent="0">
              <a:buNone/>
            </a:pPr>
            <a:r>
              <a:rPr lang="en-US" sz="1800" dirty="0">
                <a:latin typeface="Courier New" pitchFamily="49" charset="0"/>
                <a:cs typeface="Courier New" pitchFamily="49" charset="0"/>
              </a:rPr>
              <a:t>    }</a:t>
            </a:r>
          </a:p>
          <a:p>
            <a:pPr marL="471487" lvl="1" indent="0">
              <a:buNone/>
            </a:pPr>
            <a:endParaRPr lang="en-US" dirty="0"/>
          </a:p>
        </p:txBody>
      </p:sp>
      <p:sp>
        <p:nvSpPr>
          <p:cNvPr id="7" name="Date Placeholder 6"/>
          <p:cNvSpPr>
            <a:spLocks noGrp="1"/>
          </p:cNvSpPr>
          <p:nvPr>
            <p:ph type="dt" sz="half" idx="10"/>
          </p:nvPr>
        </p:nvSpPr>
        <p:spPr/>
        <p:txBody>
          <a:bodyPr/>
          <a:lstStyle/>
          <a:p>
            <a:fld id="{5BF72EC1-64B4-4CD2-A4C1-6373C501EA33}" type="datetime1">
              <a:rPr lang="vi-VN" smtClean="0"/>
              <a:t>04/02/2025</a:t>
            </a:fld>
            <a:endParaRPr lang="vi-VN"/>
          </a:p>
        </p:txBody>
      </p:sp>
      <p:sp>
        <p:nvSpPr>
          <p:cNvPr id="8" name="Footer Placeholder 7"/>
          <p:cNvSpPr>
            <a:spLocks noGrp="1"/>
          </p:cNvSpPr>
          <p:nvPr>
            <p:ph type="ftr" sz="quarter" idx="11"/>
          </p:nvPr>
        </p:nvSpPr>
        <p:spPr/>
        <p:txBody>
          <a:bodyPr/>
          <a:lstStyle/>
          <a:p>
            <a:r>
              <a:rPr lang="vi-VN"/>
              <a:t>Chương 3 - Lập trình hướng đối tượng trong C#</a:t>
            </a:r>
          </a:p>
        </p:txBody>
      </p:sp>
      <p:sp>
        <p:nvSpPr>
          <p:cNvPr id="9" name="Slide Number Placeholder 8"/>
          <p:cNvSpPr>
            <a:spLocks noGrp="1"/>
          </p:cNvSpPr>
          <p:nvPr>
            <p:ph type="sldNum" sz="quarter" idx="12"/>
          </p:nvPr>
        </p:nvSpPr>
        <p:spPr/>
        <p:txBody>
          <a:bodyPr/>
          <a:lstStyle/>
          <a:p>
            <a:fld id="{5AB95402-1E0D-474E-8D8C-CBE7F053639E}" type="slidenum">
              <a:rPr lang="vi-VN" smtClean="0"/>
              <a:pPr/>
              <a:t>78</a:t>
            </a:fld>
            <a:r>
              <a:rPr lang="vi-VN"/>
              <a:t>/28</a:t>
            </a:r>
          </a:p>
        </p:txBody>
      </p:sp>
    </p:spTree>
    <p:extLst>
      <p:ext uri="{BB962C8B-B14F-4D97-AF65-F5344CB8AC3E}">
        <p14:creationId xmlns:p14="http://schemas.microsoft.com/office/powerpoint/2010/main" val="331618667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Ví dụ lớp trừu tượng</a:t>
            </a:r>
          </a:p>
        </p:txBody>
      </p:sp>
      <p:sp>
        <p:nvSpPr>
          <p:cNvPr id="3" name="Content Placeholder 2"/>
          <p:cNvSpPr>
            <a:spLocks noGrp="1"/>
          </p:cNvSpPr>
          <p:nvPr>
            <p:ph idx="1"/>
          </p:nvPr>
        </p:nvSpPr>
        <p:spPr/>
        <p:txBody>
          <a:bodyPr/>
          <a:lstStyle/>
          <a:p>
            <a:pPr marL="0" indent="0">
              <a:buNone/>
            </a:pPr>
            <a:r>
              <a:rPr lang="en-US" sz="1500">
                <a:solidFill>
                  <a:srgbClr val="00B050"/>
                </a:solidFill>
                <a:latin typeface="Courier New" pitchFamily="49" charset="0"/>
                <a:cs typeface="Courier New" pitchFamily="49" charset="0"/>
              </a:rPr>
              <a:t> //Lớp TamGiac</a:t>
            </a:r>
          </a:p>
          <a:p>
            <a:pPr marL="0" indent="0">
              <a:buNone/>
            </a:pPr>
            <a:r>
              <a:rPr lang="en-US" sz="1500">
                <a:solidFill>
                  <a:srgbClr val="0000FF"/>
                </a:solidFill>
                <a:latin typeface="Courier New" pitchFamily="49" charset="0"/>
                <a:cs typeface="Courier New" pitchFamily="49" charset="0"/>
              </a:rPr>
              <a:t>    public class TamGiac:HinhHoc</a:t>
            </a:r>
          </a:p>
          <a:p>
            <a:pPr marL="0" indent="0">
              <a:buNone/>
            </a:pPr>
            <a:r>
              <a:rPr lang="en-US" sz="1500">
                <a:latin typeface="Courier New" pitchFamily="49" charset="0"/>
                <a:cs typeface="Courier New" pitchFamily="49" charset="0"/>
              </a:rPr>
              <a:t>    {   private double a, b, c;</a:t>
            </a:r>
          </a:p>
          <a:p>
            <a:pPr marL="0" indent="0">
              <a:buNone/>
            </a:pPr>
            <a:r>
              <a:rPr lang="en-US" sz="1500">
                <a:latin typeface="Courier New" pitchFamily="49" charset="0"/>
                <a:cs typeface="Courier New" pitchFamily="49" charset="0"/>
              </a:rPr>
              <a:t>        public override void Nhap()</a:t>
            </a:r>
          </a:p>
          <a:p>
            <a:pPr marL="0" indent="0">
              <a:buNone/>
            </a:pPr>
            <a:r>
              <a:rPr lang="en-US" sz="1500">
                <a:latin typeface="Courier New" pitchFamily="49" charset="0"/>
                <a:cs typeface="Courier New" pitchFamily="49" charset="0"/>
              </a:rPr>
              <a:t>        {   Console.Write("Nhap canh a: ");</a:t>
            </a:r>
          </a:p>
          <a:p>
            <a:pPr marL="0" indent="0">
              <a:buNone/>
            </a:pPr>
            <a:r>
              <a:rPr lang="en-US" sz="1500">
                <a:latin typeface="Courier New" pitchFamily="49" charset="0"/>
                <a:cs typeface="Courier New" pitchFamily="49" charset="0"/>
              </a:rPr>
              <a:t>            a=Convert.ToDouble(Console.ReadLine());</a:t>
            </a:r>
          </a:p>
          <a:p>
            <a:pPr marL="0" indent="0">
              <a:buNone/>
            </a:pPr>
            <a:r>
              <a:rPr lang="en-US" sz="1500">
                <a:latin typeface="Courier New" pitchFamily="49" charset="0"/>
                <a:cs typeface="Courier New" pitchFamily="49" charset="0"/>
              </a:rPr>
              <a:t>            Console.Write("Nhap canh b: ");</a:t>
            </a:r>
          </a:p>
          <a:p>
            <a:pPr marL="0" indent="0">
              <a:buNone/>
            </a:pPr>
            <a:r>
              <a:rPr lang="en-US" sz="1500">
                <a:latin typeface="Courier New" pitchFamily="49" charset="0"/>
                <a:cs typeface="Courier New" pitchFamily="49" charset="0"/>
              </a:rPr>
              <a:t>            b=Convert.ToDouble(Console.ReadLine());</a:t>
            </a:r>
          </a:p>
          <a:p>
            <a:pPr marL="0" indent="0">
              <a:buNone/>
            </a:pPr>
            <a:r>
              <a:rPr lang="en-US" sz="1500">
                <a:latin typeface="Courier New" pitchFamily="49" charset="0"/>
                <a:cs typeface="Courier New" pitchFamily="49" charset="0"/>
              </a:rPr>
              <a:t>            Console.Write("Nhap canh c: ");</a:t>
            </a:r>
          </a:p>
          <a:p>
            <a:pPr marL="0" indent="0">
              <a:buNone/>
            </a:pPr>
            <a:r>
              <a:rPr lang="en-US" sz="1500">
                <a:latin typeface="Courier New" pitchFamily="49" charset="0"/>
                <a:cs typeface="Courier New" pitchFamily="49" charset="0"/>
              </a:rPr>
              <a:t>            c=Convert.ToDouble(Console.ReadLine());            </a:t>
            </a:r>
          </a:p>
          <a:p>
            <a:pPr marL="0" indent="0">
              <a:buNone/>
            </a:pPr>
            <a:r>
              <a:rPr lang="en-US" sz="1500">
                <a:latin typeface="Courier New" pitchFamily="49" charset="0"/>
                <a:cs typeface="Courier New" pitchFamily="49" charset="0"/>
              </a:rPr>
              <a:t>        }</a:t>
            </a:r>
          </a:p>
          <a:p>
            <a:pPr marL="0" indent="0">
              <a:buNone/>
            </a:pPr>
            <a:r>
              <a:rPr lang="en-US" sz="1500">
                <a:latin typeface="Courier New" pitchFamily="49" charset="0"/>
                <a:cs typeface="Courier New" pitchFamily="49" charset="0"/>
              </a:rPr>
              <a:t>        public override double ChuVi()</a:t>
            </a:r>
          </a:p>
          <a:p>
            <a:pPr marL="0" indent="0">
              <a:buNone/>
            </a:pPr>
            <a:r>
              <a:rPr lang="en-US" sz="1500">
                <a:latin typeface="Courier New" pitchFamily="49" charset="0"/>
                <a:cs typeface="Courier New" pitchFamily="49" charset="0"/>
              </a:rPr>
              <a:t>        { return a + b + c;</a:t>
            </a:r>
          </a:p>
          <a:p>
            <a:pPr marL="0" indent="0">
              <a:buNone/>
            </a:pPr>
            <a:r>
              <a:rPr lang="en-US" sz="1500">
                <a:latin typeface="Courier New" pitchFamily="49" charset="0"/>
                <a:cs typeface="Courier New" pitchFamily="49" charset="0"/>
              </a:rPr>
              <a:t>        }</a:t>
            </a:r>
          </a:p>
          <a:p>
            <a:pPr marL="0" indent="0">
              <a:buNone/>
            </a:pPr>
            <a:r>
              <a:rPr lang="en-US" sz="1500">
                <a:latin typeface="Courier New" pitchFamily="49" charset="0"/>
                <a:cs typeface="Courier New" pitchFamily="49" charset="0"/>
              </a:rPr>
              <a:t>        public override double DienTich()</a:t>
            </a:r>
          </a:p>
          <a:p>
            <a:pPr marL="0" indent="0">
              <a:buNone/>
            </a:pPr>
            <a:r>
              <a:rPr lang="en-US" sz="1500">
                <a:latin typeface="Courier New" pitchFamily="49" charset="0"/>
                <a:cs typeface="Courier New" pitchFamily="49" charset="0"/>
              </a:rPr>
              <a:t>        {   double p = (a + b + c) / 2;</a:t>
            </a:r>
          </a:p>
          <a:p>
            <a:pPr marL="0" indent="0">
              <a:buNone/>
            </a:pPr>
            <a:r>
              <a:rPr lang="en-US" sz="1500">
                <a:latin typeface="Courier New" pitchFamily="49" charset="0"/>
                <a:cs typeface="Courier New" pitchFamily="49" charset="0"/>
              </a:rPr>
              <a:t>            return Math.Sqrt(p * (p - a) * (p - b) * (p - c));</a:t>
            </a:r>
          </a:p>
          <a:p>
            <a:pPr marL="0" indent="0">
              <a:buNone/>
            </a:pPr>
            <a:r>
              <a:rPr lang="en-US" sz="1500">
                <a:latin typeface="Courier New" pitchFamily="49" charset="0"/>
                <a:cs typeface="Courier New" pitchFamily="49" charset="0"/>
              </a:rPr>
              <a:t>        }</a:t>
            </a:r>
          </a:p>
          <a:p>
            <a:pPr marL="0" indent="0">
              <a:buNone/>
            </a:pPr>
            <a:r>
              <a:rPr lang="en-US" sz="1500">
                <a:latin typeface="Courier New" pitchFamily="49" charset="0"/>
                <a:cs typeface="Courier New" pitchFamily="49" charset="0"/>
              </a:rPr>
              <a:t>    }</a:t>
            </a:r>
          </a:p>
          <a:p>
            <a:pPr marL="0" indent="0">
              <a:buNone/>
            </a:pPr>
            <a:endParaRPr lang="en-US"/>
          </a:p>
        </p:txBody>
      </p:sp>
      <p:sp>
        <p:nvSpPr>
          <p:cNvPr id="7" name="Date Placeholder 6"/>
          <p:cNvSpPr>
            <a:spLocks noGrp="1"/>
          </p:cNvSpPr>
          <p:nvPr>
            <p:ph type="dt" sz="half" idx="10"/>
          </p:nvPr>
        </p:nvSpPr>
        <p:spPr/>
        <p:txBody>
          <a:bodyPr/>
          <a:lstStyle/>
          <a:p>
            <a:fld id="{4B57814A-137B-4498-BF40-844550DCF40E}" type="datetime1">
              <a:rPr lang="vi-VN" smtClean="0"/>
              <a:t>04/02/2025</a:t>
            </a:fld>
            <a:endParaRPr lang="vi-VN"/>
          </a:p>
        </p:txBody>
      </p:sp>
      <p:sp>
        <p:nvSpPr>
          <p:cNvPr id="8" name="Footer Placeholder 7"/>
          <p:cNvSpPr>
            <a:spLocks noGrp="1"/>
          </p:cNvSpPr>
          <p:nvPr>
            <p:ph type="ftr" sz="quarter" idx="11"/>
          </p:nvPr>
        </p:nvSpPr>
        <p:spPr/>
        <p:txBody>
          <a:bodyPr/>
          <a:lstStyle/>
          <a:p>
            <a:r>
              <a:rPr lang="vi-VN"/>
              <a:t>Chương 3 - Lập trình hướng đối tượng trong C#</a:t>
            </a:r>
          </a:p>
        </p:txBody>
      </p:sp>
      <p:sp>
        <p:nvSpPr>
          <p:cNvPr id="9" name="Slide Number Placeholder 8"/>
          <p:cNvSpPr>
            <a:spLocks noGrp="1"/>
          </p:cNvSpPr>
          <p:nvPr>
            <p:ph type="sldNum" sz="quarter" idx="12"/>
          </p:nvPr>
        </p:nvSpPr>
        <p:spPr/>
        <p:txBody>
          <a:bodyPr/>
          <a:lstStyle/>
          <a:p>
            <a:fld id="{5AB95402-1E0D-474E-8D8C-CBE7F053639E}" type="slidenum">
              <a:rPr lang="vi-VN" smtClean="0"/>
              <a:pPr/>
              <a:t>79</a:t>
            </a:fld>
            <a:r>
              <a:rPr lang="vi-VN"/>
              <a:t>/28</a:t>
            </a:r>
          </a:p>
        </p:txBody>
      </p:sp>
    </p:spTree>
    <p:extLst>
      <p:ext uri="{BB962C8B-B14F-4D97-AF65-F5344CB8AC3E}">
        <p14:creationId xmlns:p14="http://schemas.microsoft.com/office/powerpoint/2010/main" val="374274183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Ví dụ lớp trừu tượng</a:t>
            </a:r>
          </a:p>
        </p:txBody>
      </p:sp>
      <p:sp>
        <p:nvSpPr>
          <p:cNvPr id="3" name="Content Placeholder 2"/>
          <p:cNvSpPr>
            <a:spLocks noGrp="1"/>
          </p:cNvSpPr>
          <p:nvPr>
            <p:ph idx="1"/>
          </p:nvPr>
        </p:nvSpPr>
        <p:spPr/>
        <p:txBody>
          <a:bodyPr/>
          <a:lstStyle/>
          <a:p>
            <a:pPr marL="0" indent="0">
              <a:buNone/>
            </a:pPr>
            <a:r>
              <a:rPr lang="en-US" sz="1500">
                <a:solidFill>
                  <a:srgbClr val="00B050"/>
                </a:solidFill>
                <a:latin typeface="Courier New" pitchFamily="49" charset="0"/>
                <a:cs typeface="Courier New" pitchFamily="49" charset="0"/>
              </a:rPr>
              <a:t>//Lớp hình chữ nhật</a:t>
            </a:r>
          </a:p>
          <a:p>
            <a:pPr marL="0" indent="0">
              <a:buNone/>
            </a:pPr>
            <a:r>
              <a:rPr lang="en-US" sz="1500">
                <a:solidFill>
                  <a:srgbClr val="0000FF"/>
                </a:solidFill>
                <a:latin typeface="Courier New" pitchFamily="49" charset="0"/>
                <a:cs typeface="Courier New" pitchFamily="49" charset="0"/>
              </a:rPr>
              <a:t>public class HinhChuNhat : HinhHoc</a:t>
            </a:r>
          </a:p>
          <a:p>
            <a:pPr marL="0" indent="0">
              <a:buNone/>
            </a:pPr>
            <a:r>
              <a:rPr lang="en-US" sz="1500">
                <a:latin typeface="Courier New" pitchFamily="49" charset="0"/>
                <a:cs typeface="Courier New" pitchFamily="49" charset="0"/>
              </a:rPr>
              <a:t>    {   private double a, b;</a:t>
            </a:r>
          </a:p>
          <a:p>
            <a:pPr marL="0" indent="0">
              <a:buNone/>
            </a:pPr>
            <a:r>
              <a:rPr lang="en-US" sz="1500">
                <a:latin typeface="Courier New" pitchFamily="49" charset="0"/>
                <a:cs typeface="Courier New" pitchFamily="49" charset="0"/>
              </a:rPr>
              <a:t>        public override void Nhap()</a:t>
            </a:r>
          </a:p>
          <a:p>
            <a:pPr marL="0" indent="0">
              <a:buNone/>
            </a:pPr>
            <a:r>
              <a:rPr lang="en-US" sz="1500">
                <a:latin typeface="Courier New" pitchFamily="49" charset="0"/>
                <a:cs typeface="Courier New" pitchFamily="49" charset="0"/>
              </a:rPr>
              <a:t>        {</a:t>
            </a:r>
          </a:p>
          <a:p>
            <a:pPr marL="0" indent="0">
              <a:buNone/>
            </a:pPr>
            <a:r>
              <a:rPr lang="en-US" sz="1500">
                <a:latin typeface="Courier New" pitchFamily="49" charset="0"/>
                <a:cs typeface="Courier New" pitchFamily="49" charset="0"/>
              </a:rPr>
              <a:t>            Console.Write("Nhap chieu dai: ");</a:t>
            </a:r>
          </a:p>
          <a:p>
            <a:pPr marL="0" indent="0">
              <a:buNone/>
            </a:pPr>
            <a:r>
              <a:rPr lang="en-US" sz="1500">
                <a:latin typeface="Courier New" pitchFamily="49" charset="0"/>
                <a:cs typeface="Courier New" pitchFamily="49" charset="0"/>
              </a:rPr>
              <a:t>            a = Convert.ToDouble(Console.ReadLine());</a:t>
            </a:r>
          </a:p>
          <a:p>
            <a:pPr marL="0" indent="0">
              <a:buNone/>
            </a:pPr>
            <a:r>
              <a:rPr lang="en-US" sz="1500">
                <a:latin typeface="Courier New" pitchFamily="49" charset="0"/>
                <a:cs typeface="Courier New" pitchFamily="49" charset="0"/>
              </a:rPr>
              <a:t>            Console.Write("Nhap chieu rong: ");</a:t>
            </a:r>
          </a:p>
          <a:p>
            <a:pPr marL="0" indent="0">
              <a:buNone/>
            </a:pPr>
            <a:r>
              <a:rPr lang="en-US" sz="1500">
                <a:latin typeface="Courier New" pitchFamily="49" charset="0"/>
                <a:cs typeface="Courier New" pitchFamily="49" charset="0"/>
              </a:rPr>
              <a:t>            b = Convert.ToDouble(Console.ReadLine());</a:t>
            </a:r>
          </a:p>
          <a:p>
            <a:pPr marL="0" indent="0">
              <a:buNone/>
            </a:pPr>
            <a:r>
              <a:rPr lang="en-US" sz="1500">
                <a:latin typeface="Courier New" pitchFamily="49" charset="0"/>
                <a:cs typeface="Courier New" pitchFamily="49" charset="0"/>
              </a:rPr>
              <a:t>        }</a:t>
            </a:r>
          </a:p>
          <a:p>
            <a:pPr marL="0" indent="0">
              <a:buNone/>
            </a:pPr>
            <a:r>
              <a:rPr lang="en-US" sz="1500">
                <a:latin typeface="Courier New" pitchFamily="49" charset="0"/>
                <a:cs typeface="Courier New" pitchFamily="49" charset="0"/>
              </a:rPr>
              <a:t>        public override double  ChuVi()</a:t>
            </a:r>
          </a:p>
          <a:p>
            <a:pPr marL="0" indent="0">
              <a:buNone/>
            </a:pPr>
            <a:r>
              <a:rPr lang="en-US" sz="1500">
                <a:latin typeface="Courier New" pitchFamily="49" charset="0"/>
                <a:cs typeface="Courier New" pitchFamily="49" charset="0"/>
              </a:rPr>
              <a:t>        {</a:t>
            </a:r>
          </a:p>
          <a:p>
            <a:pPr marL="0" indent="0">
              <a:buNone/>
            </a:pPr>
            <a:r>
              <a:rPr lang="en-US" sz="1500">
                <a:latin typeface="Courier New" pitchFamily="49" charset="0"/>
                <a:cs typeface="Courier New" pitchFamily="49" charset="0"/>
              </a:rPr>
              <a:t>            return (a + b) * 2;</a:t>
            </a:r>
          </a:p>
          <a:p>
            <a:pPr marL="0" indent="0">
              <a:buNone/>
            </a:pPr>
            <a:r>
              <a:rPr lang="en-US" sz="1500">
                <a:latin typeface="Courier New" pitchFamily="49" charset="0"/>
                <a:cs typeface="Courier New" pitchFamily="49" charset="0"/>
              </a:rPr>
              <a:t>        }</a:t>
            </a:r>
          </a:p>
          <a:p>
            <a:pPr marL="0" indent="0">
              <a:buNone/>
            </a:pPr>
            <a:r>
              <a:rPr lang="en-US" sz="1500">
                <a:latin typeface="Courier New" pitchFamily="49" charset="0"/>
                <a:cs typeface="Courier New" pitchFamily="49" charset="0"/>
              </a:rPr>
              <a:t>        public override double  DienTich()</a:t>
            </a:r>
          </a:p>
          <a:p>
            <a:pPr marL="0" indent="0">
              <a:buNone/>
            </a:pPr>
            <a:r>
              <a:rPr lang="en-US" sz="1500">
                <a:latin typeface="Courier New" pitchFamily="49" charset="0"/>
                <a:cs typeface="Courier New" pitchFamily="49" charset="0"/>
              </a:rPr>
              <a:t>        {</a:t>
            </a:r>
          </a:p>
          <a:p>
            <a:pPr marL="0" indent="0">
              <a:buNone/>
            </a:pPr>
            <a:r>
              <a:rPr lang="en-US" sz="1500">
                <a:latin typeface="Courier New" pitchFamily="49" charset="0"/>
                <a:cs typeface="Courier New" pitchFamily="49" charset="0"/>
              </a:rPr>
              <a:t>            return a * b;</a:t>
            </a:r>
          </a:p>
          <a:p>
            <a:pPr marL="0" indent="0">
              <a:buNone/>
            </a:pPr>
            <a:r>
              <a:rPr lang="en-US" sz="1500">
                <a:latin typeface="Courier New" pitchFamily="49" charset="0"/>
                <a:cs typeface="Courier New" pitchFamily="49" charset="0"/>
              </a:rPr>
              <a:t>        }</a:t>
            </a:r>
          </a:p>
          <a:p>
            <a:pPr marL="0" indent="0">
              <a:buNone/>
            </a:pPr>
            <a:r>
              <a:rPr lang="en-US" sz="1500">
                <a:latin typeface="Courier New" pitchFamily="49" charset="0"/>
                <a:cs typeface="Courier New" pitchFamily="49" charset="0"/>
              </a:rPr>
              <a:t>    }</a:t>
            </a:r>
          </a:p>
        </p:txBody>
      </p:sp>
      <p:sp>
        <p:nvSpPr>
          <p:cNvPr id="7" name="Date Placeholder 6"/>
          <p:cNvSpPr>
            <a:spLocks noGrp="1"/>
          </p:cNvSpPr>
          <p:nvPr>
            <p:ph type="dt" sz="half" idx="10"/>
          </p:nvPr>
        </p:nvSpPr>
        <p:spPr/>
        <p:txBody>
          <a:bodyPr/>
          <a:lstStyle/>
          <a:p>
            <a:fld id="{33D89922-5755-417E-8217-67719D4A08F4}" type="datetime1">
              <a:rPr lang="vi-VN" smtClean="0"/>
              <a:t>04/02/2025</a:t>
            </a:fld>
            <a:endParaRPr lang="vi-VN"/>
          </a:p>
        </p:txBody>
      </p:sp>
      <p:sp>
        <p:nvSpPr>
          <p:cNvPr id="8" name="Footer Placeholder 7"/>
          <p:cNvSpPr>
            <a:spLocks noGrp="1"/>
          </p:cNvSpPr>
          <p:nvPr>
            <p:ph type="ftr" sz="quarter" idx="11"/>
          </p:nvPr>
        </p:nvSpPr>
        <p:spPr/>
        <p:txBody>
          <a:bodyPr/>
          <a:lstStyle/>
          <a:p>
            <a:r>
              <a:rPr lang="vi-VN"/>
              <a:t>Chương 3 - Lập trình hướng đối tượng trong C#</a:t>
            </a:r>
          </a:p>
        </p:txBody>
      </p:sp>
      <p:sp>
        <p:nvSpPr>
          <p:cNvPr id="9" name="Slide Number Placeholder 8"/>
          <p:cNvSpPr>
            <a:spLocks noGrp="1"/>
          </p:cNvSpPr>
          <p:nvPr>
            <p:ph type="sldNum" sz="quarter" idx="12"/>
          </p:nvPr>
        </p:nvSpPr>
        <p:spPr/>
        <p:txBody>
          <a:bodyPr/>
          <a:lstStyle/>
          <a:p>
            <a:fld id="{5AB95402-1E0D-474E-8D8C-CBE7F053639E}" type="slidenum">
              <a:rPr lang="vi-VN" smtClean="0"/>
              <a:pPr/>
              <a:t>80</a:t>
            </a:fld>
            <a:r>
              <a:rPr lang="vi-VN"/>
              <a:t>/28</a:t>
            </a:r>
          </a:p>
        </p:txBody>
      </p:sp>
    </p:spTree>
    <p:extLst>
      <p:ext uri="{BB962C8B-B14F-4D97-AF65-F5344CB8AC3E}">
        <p14:creationId xmlns:p14="http://schemas.microsoft.com/office/powerpoint/2010/main" val="247819838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1143000"/>
            <a:ext cx="8382000" cy="5181600"/>
          </a:xfrm>
        </p:spPr>
        <p:txBody>
          <a:bodyPr/>
          <a:lstStyle/>
          <a:p>
            <a:pPr marL="0" indent="0">
              <a:buNone/>
            </a:pPr>
            <a:r>
              <a:rPr lang="en-US" sz="1400" dirty="0">
                <a:latin typeface="Courier New" pitchFamily="49" charset="0"/>
                <a:cs typeface="Courier New" pitchFamily="49" charset="0"/>
              </a:rPr>
              <a:t>class Program</a:t>
            </a:r>
          </a:p>
          <a:p>
            <a:pPr marL="0" indent="0">
              <a:buNone/>
            </a:pPr>
            <a:r>
              <a:rPr lang="en-US" sz="1400" dirty="0">
                <a:latin typeface="Courier New" pitchFamily="49" charset="0"/>
                <a:cs typeface="Courier New" pitchFamily="49" charset="0"/>
              </a:rPr>
              <a:t>    {</a:t>
            </a:r>
          </a:p>
          <a:p>
            <a:pPr marL="0" indent="0">
              <a:buNone/>
            </a:pPr>
            <a:r>
              <a:rPr lang="en-US" sz="1400" dirty="0">
                <a:latin typeface="Courier New" pitchFamily="49" charset="0"/>
                <a:cs typeface="Courier New" pitchFamily="49" charset="0"/>
              </a:rPr>
              <a:t>        static void Main(string[] </a:t>
            </a:r>
            <a:r>
              <a:rPr lang="en-US" sz="1400" dirty="0" err="1">
                <a:latin typeface="Courier New" pitchFamily="49" charset="0"/>
                <a:cs typeface="Courier New" pitchFamily="49" charset="0"/>
              </a:rPr>
              <a:t>args</a:t>
            </a:r>
            <a:r>
              <a:rPr lang="en-US" sz="1400" dirty="0">
                <a:latin typeface="Courier New" pitchFamily="49" charset="0"/>
                <a:cs typeface="Courier New" pitchFamily="49" charset="0"/>
              </a:rPr>
              <a:t>)</a:t>
            </a:r>
          </a:p>
          <a:p>
            <a:pPr marL="0" indent="0">
              <a:buNone/>
            </a:pPr>
            <a:r>
              <a:rPr lang="en-US" sz="1400" dirty="0">
                <a:latin typeface="Courier New" pitchFamily="49" charset="0"/>
                <a:cs typeface="Courier New" pitchFamily="49" charset="0"/>
              </a:rPr>
              <a:t>        {</a:t>
            </a:r>
          </a:p>
          <a:p>
            <a:pPr marL="0" indent="0">
              <a:buNone/>
            </a:pPr>
            <a:r>
              <a:rPr lang="en-US" sz="1400" dirty="0">
                <a:latin typeface="Courier New" pitchFamily="49" charset="0"/>
                <a:cs typeface="Courier New" pitchFamily="49" charset="0"/>
              </a:rPr>
              <a:t>           // </a:t>
            </a:r>
            <a:r>
              <a:rPr lang="en-US" sz="1400" dirty="0" err="1">
                <a:latin typeface="Courier New" pitchFamily="49" charset="0"/>
                <a:cs typeface="Courier New" pitchFamily="49" charset="0"/>
              </a:rPr>
              <a:t>HinhHoc</a:t>
            </a:r>
            <a:r>
              <a:rPr lang="en-US" sz="1400" dirty="0">
                <a:latin typeface="Courier New" pitchFamily="49" charset="0"/>
                <a:cs typeface="Courier New" pitchFamily="49" charset="0"/>
              </a:rPr>
              <a:t> H1= new </a:t>
            </a:r>
            <a:r>
              <a:rPr lang="en-US" sz="1400" dirty="0" err="1">
                <a:latin typeface="Courier New" pitchFamily="49" charset="0"/>
                <a:cs typeface="Courier New" pitchFamily="49" charset="0"/>
              </a:rPr>
              <a:t>HinhHoc</a:t>
            </a:r>
            <a:r>
              <a:rPr lang="en-US" sz="1400" dirty="0">
                <a:latin typeface="Courier New" pitchFamily="49" charset="0"/>
                <a:cs typeface="Courier New" pitchFamily="49" charset="0"/>
              </a:rPr>
              <a:t>(); =&gt; </a:t>
            </a:r>
            <a:r>
              <a:rPr lang="en-US" sz="1400" dirty="0" err="1">
                <a:latin typeface="Courier New" pitchFamily="49" charset="0"/>
                <a:cs typeface="Courier New" pitchFamily="49" charset="0"/>
              </a:rPr>
              <a:t>báo</a:t>
            </a: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lỗi</a:t>
            </a:r>
            <a:endParaRPr lang="en-US" sz="1400" dirty="0">
              <a:latin typeface="Courier New" pitchFamily="49" charset="0"/>
              <a:cs typeface="Courier New" pitchFamily="49" charset="0"/>
            </a:endParaRPr>
          </a:p>
          <a:p>
            <a:pPr marL="0" indent="0">
              <a:buNone/>
            </a:pP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TamGiac</a:t>
            </a:r>
            <a:r>
              <a:rPr lang="en-US" sz="1400" dirty="0">
                <a:latin typeface="Courier New" pitchFamily="49" charset="0"/>
                <a:cs typeface="Courier New" pitchFamily="49" charset="0"/>
              </a:rPr>
              <a:t> TG1 = new </a:t>
            </a:r>
            <a:r>
              <a:rPr lang="en-US" sz="1400" dirty="0" err="1">
                <a:latin typeface="Courier New" pitchFamily="49" charset="0"/>
                <a:cs typeface="Courier New" pitchFamily="49" charset="0"/>
              </a:rPr>
              <a:t>TamGiac</a:t>
            </a: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hoặc</a:t>
            </a: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HinhHoc</a:t>
            </a:r>
            <a:r>
              <a:rPr lang="en-US" sz="1400" dirty="0">
                <a:latin typeface="Courier New" pitchFamily="49" charset="0"/>
                <a:cs typeface="Courier New" pitchFamily="49" charset="0"/>
              </a:rPr>
              <a:t> TG1=new </a:t>
            </a:r>
            <a:r>
              <a:rPr lang="en-US" sz="1400" dirty="0" err="1">
                <a:latin typeface="Courier New" pitchFamily="49" charset="0"/>
                <a:cs typeface="Courier New" pitchFamily="49" charset="0"/>
              </a:rPr>
              <a:t>TamGiac</a:t>
            </a:r>
            <a:r>
              <a:rPr lang="en-US" sz="1400" dirty="0">
                <a:latin typeface="Courier New" pitchFamily="49" charset="0"/>
                <a:cs typeface="Courier New" pitchFamily="49" charset="0"/>
              </a:rPr>
              <a:t>();)</a:t>
            </a:r>
          </a:p>
          <a:p>
            <a:pPr marL="0" indent="0">
              <a:buNone/>
            </a:pPr>
            <a:r>
              <a:rPr lang="en-US" sz="1400" dirty="0">
                <a:latin typeface="Courier New" pitchFamily="49" charset="0"/>
                <a:cs typeface="Courier New" pitchFamily="49" charset="0"/>
              </a:rPr>
              <a:t>            TG1.Nhap();</a:t>
            </a:r>
          </a:p>
          <a:p>
            <a:pPr marL="0" indent="0">
              <a:buNone/>
            </a:pP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Console.WriteLine</a:t>
            </a:r>
            <a:r>
              <a:rPr lang="en-US" sz="1400" dirty="0">
                <a:latin typeface="Courier New" pitchFamily="49" charset="0"/>
                <a:cs typeface="Courier New" pitchFamily="49" charset="0"/>
              </a:rPr>
              <a:t>("Thong tin </a:t>
            </a:r>
            <a:r>
              <a:rPr lang="en-US" sz="1400" dirty="0" err="1">
                <a:latin typeface="Courier New" pitchFamily="49" charset="0"/>
                <a:cs typeface="Courier New" pitchFamily="49" charset="0"/>
              </a:rPr>
              <a:t>ve</a:t>
            </a:r>
            <a:r>
              <a:rPr lang="en-US" sz="1400" dirty="0">
                <a:latin typeface="Courier New" pitchFamily="49" charset="0"/>
                <a:cs typeface="Courier New" pitchFamily="49" charset="0"/>
              </a:rPr>
              <a:t> tam </a:t>
            </a:r>
            <a:r>
              <a:rPr lang="en-US" sz="1400" dirty="0" err="1">
                <a:latin typeface="Courier New" pitchFamily="49" charset="0"/>
                <a:cs typeface="Courier New" pitchFamily="49" charset="0"/>
              </a:rPr>
              <a:t>giac</a:t>
            </a:r>
            <a:r>
              <a:rPr lang="en-US" sz="1400" dirty="0">
                <a:latin typeface="Courier New" pitchFamily="49" charset="0"/>
                <a:cs typeface="Courier New" pitchFamily="49" charset="0"/>
              </a:rPr>
              <a:t>: ");</a:t>
            </a:r>
          </a:p>
          <a:p>
            <a:pPr marL="0" indent="0">
              <a:buNone/>
            </a:pPr>
            <a:r>
              <a:rPr lang="it-IT" sz="1400" dirty="0">
                <a:latin typeface="Courier New" pitchFamily="49" charset="0"/>
                <a:cs typeface="Courier New" pitchFamily="49" charset="0"/>
              </a:rPr>
              <a:t>            Console.WriteLine("Chu vi la : {0}", TG1.ChuVi());</a:t>
            </a:r>
          </a:p>
          <a:p>
            <a:pPr marL="0" indent="0">
              <a:buNone/>
            </a:pP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Console.WriteLine</a:t>
            </a:r>
            <a:r>
              <a:rPr lang="en-US" sz="1400" dirty="0">
                <a:latin typeface="Courier New" pitchFamily="49" charset="0"/>
                <a:cs typeface="Courier New" pitchFamily="49" charset="0"/>
              </a:rPr>
              <a:t>("</a:t>
            </a:r>
            <a:r>
              <a:rPr lang="en-US" sz="1400" dirty="0" err="1">
                <a:latin typeface="Courier New" pitchFamily="49" charset="0"/>
                <a:cs typeface="Courier New" pitchFamily="49" charset="0"/>
              </a:rPr>
              <a:t>Dien</a:t>
            </a: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tich</a:t>
            </a:r>
            <a:r>
              <a:rPr lang="en-US" sz="1400" dirty="0">
                <a:latin typeface="Courier New" pitchFamily="49" charset="0"/>
                <a:cs typeface="Courier New" pitchFamily="49" charset="0"/>
              </a:rPr>
              <a:t> la : {0,8:f2}", TG1.DienTich());</a:t>
            </a:r>
          </a:p>
          <a:p>
            <a:pPr marL="0" indent="0">
              <a:buNone/>
            </a:pP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HinhChuNhat</a:t>
            </a:r>
            <a:r>
              <a:rPr lang="en-US" sz="1400" dirty="0">
                <a:latin typeface="Courier New" pitchFamily="49" charset="0"/>
                <a:cs typeface="Courier New" pitchFamily="49" charset="0"/>
              </a:rPr>
              <a:t>  HCN1 = new </a:t>
            </a:r>
            <a:r>
              <a:rPr lang="en-US" sz="1400" dirty="0" err="1">
                <a:latin typeface="Courier New" pitchFamily="49" charset="0"/>
                <a:cs typeface="Courier New" pitchFamily="49" charset="0"/>
              </a:rPr>
              <a:t>HinhChuNhat</a:t>
            </a:r>
            <a:r>
              <a:rPr lang="en-US" sz="1400" dirty="0">
                <a:latin typeface="Courier New" pitchFamily="49" charset="0"/>
                <a:cs typeface="Courier New" pitchFamily="49" charset="0"/>
              </a:rPr>
              <a:t>();</a:t>
            </a:r>
          </a:p>
          <a:p>
            <a:pPr marL="0" indent="0">
              <a:buNone/>
            </a:pPr>
            <a:r>
              <a:rPr lang="en-US" sz="1400" dirty="0">
                <a:latin typeface="Courier New" pitchFamily="49" charset="0"/>
                <a:cs typeface="Courier New" pitchFamily="49" charset="0"/>
              </a:rPr>
              <a:t>            HCN1.Nhap();</a:t>
            </a:r>
          </a:p>
          <a:p>
            <a:pPr marL="0" indent="0">
              <a:buNone/>
            </a:pP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Console.WriteLine</a:t>
            </a:r>
            <a:r>
              <a:rPr lang="en-US" sz="1400" dirty="0">
                <a:latin typeface="Courier New" pitchFamily="49" charset="0"/>
                <a:cs typeface="Courier New" pitchFamily="49" charset="0"/>
              </a:rPr>
              <a:t>("Thong tin </a:t>
            </a:r>
            <a:r>
              <a:rPr lang="en-US" sz="1400" dirty="0" err="1">
                <a:latin typeface="Courier New" pitchFamily="49" charset="0"/>
                <a:cs typeface="Courier New" pitchFamily="49" charset="0"/>
              </a:rPr>
              <a:t>ve</a:t>
            </a: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hinh</a:t>
            </a:r>
            <a:r>
              <a:rPr lang="en-US" sz="1400" dirty="0">
                <a:latin typeface="Courier New" pitchFamily="49" charset="0"/>
                <a:cs typeface="Courier New" pitchFamily="49" charset="0"/>
              </a:rPr>
              <a:t> chu </a:t>
            </a:r>
            <a:r>
              <a:rPr lang="en-US" sz="1400" dirty="0" err="1">
                <a:latin typeface="Courier New" pitchFamily="49" charset="0"/>
                <a:cs typeface="Courier New" pitchFamily="49" charset="0"/>
              </a:rPr>
              <a:t>nhat</a:t>
            </a:r>
            <a:r>
              <a:rPr lang="en-US" sz="1400" dirty="0">
                <a:latin typeface="Courier New" pitchFamily="49" charset="0"/>
                <a:cs typeface="Courier New" pitchFamily="49" charset="0"/>
              </a:rPr>
              <a:t>: ");</a:t>
            </a:r>
          </a:p>
          <a:p>
            <a:pPr marL="0" indent="0">
              <a:buNone/>
            </a:pPr>
            <a:r>
              <a:rPr lang="en-US" sz="1400" dirty="0">
                <a:latin typeface="Courier New" pitchFamily="49" charset="0"/>
                <a:cs typeface="Courier New" pitchFamily="49" charset="0"/>
              </a:rPr>
              <a:t>            H1 = HCN1 ;</a:t>
            </a:r>
          </a:p>
          <a:p>
            <a:pPr marL="0" indent="0">
              <a:buNone/>
            </a:pP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Console.WriteLine</a:t>
            </a:r>
            <a:r>
              <a:rPr lang="en-US" sz="1400" dirty="0">
                <a:latin typeface="Courier New" pitchFamily="49" charset="0"/>
                <a:cs typeface="Courier New" pitchFamily="49" charset="0"/>
              </a:rPr>
              <a:t>("Chu vi la : {0}", H1.ChuVi());</a:t>
            </a:r>
          </a:p>
          <a:p>
            <a:pPr marL="0" indent="0">
              <a:buNone/>
            </a:pP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Console.WriteLine</a:t>
            </a:r>
            <a:r>
              <a:rPr lang="en-US" sz="1400" dirty="0">
                <a:latin typeface="Courier New" pitchFamily="49" charset="0"/>
                <a:cs typeface="Courier New" pitchFamily="49" charset="0"/>
              </a:rPr>
              <a:t>("</a:t>
            </a:r>
            <a:r>
              <a:rPr lang="en-US" sz="1400" dirty="0" err="1">
                <a:latin typeface="Courier New" pitchFamily="49" charset="0"/>
                <a:cs typeface="Courier New" pitchFamily="49" charset="0"/>
              </a:rPr>
              <a:t>Dien</a:t>
            </a: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tich</a:t>
            </a:r>
            <a:r>
              <a:rPr lang="en-US" sz="1400" dirty="0">
                <a:latin typeface="Courier New" pitchFamily="49" charset="0"/>
                <a:cs typeface="Courier New" pitchFamily="49" charset="0"/>
              </a:rPr>
              <a:t> la : {0,8:f2}", H1.DienTich());</a:t>
            </a:r>
          </a:p>
          <a:p>
            <a:pPr marL="0" indent="0">
              <a:buNone/>
            </a:pP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Console.ReadLine</a:t>
            </a:r>
            <a:r>
              <a:rPr lang="en-US" sz="1400" dirty="0">
                <a:latin typeface="Courier New" pitchFamily="49" charset="0"/>
                <a:cs typeface="Courier New" pitchFamily="49" charset="0"/>
              </a:rPr>
              <a:t>();</a:t>
            </a:r>
          </a:p>
          <a:p>
            <a:pPr marL="0" indent="0">
              <a:buNone/>
            </a:pPr>
            <a:r>
              <a:rPr lang="en-US" sz="1400" dirty="0">
                <a:latin typeface="Courier New" pitchFamily="49" charset="0"/>
                <a:cs typeface="Courier New" pitchFamily="49" charset="0"/>
              </a:rPr>
              <a:t>        }</a:t>
            </a:r>
          </a:p>
          <a:p>
            <a:pPr marL="0" indent="0">
              <a:buNone/>
            </a:pPr>
            <a:r>
              <a:rPr lang="en-US" sz="1400" dirty="0">
                <a:latin typeface="Courier New" pitchFamily="49" charset="0"/>
                <a:cs typeface="Courier New" pitchFamily="49" charset="0"/>
              </a:rPr>
              <a:t>    }</a:t>
            </a:r>
          </a:p>
        </p:txBody>
      </p:sp>
      <p:sp>
        <p:nvSpPr>
          <p:cNvPr id="7" name="Date Placeholder 6"/>
          <p:cNvSpPr>
            <a:spLocks noGrp="1"/>
          </p:cNvSpPr>
          <p:nvPr>
            <p:ph type="dt" sz="half" idx="10"/>
          </p:nvPr>
        </p:nvSpPr>
        <p:spPr/>
        <p:txBody>
          <a:bodyPr/>
          <a:lstStyle/>
          <a:p>
            <a:fld id="{D0B56D2D-A074-4B77-B849-F12AF738EE52}" type="datetime1">
              <a:rPr lang="vi-VN" smtClean="0"/>
              <a:t>04/02/2025</a:t>
            </a:fld>
            <a:endParaRPr lang="vi-VN"/>
          </a:p>
        </p:txBody>
      </p:sp>
      <p:sp>
        <p:nvSpPr>
          <p:cNvPr id="8" name="Footer Placeholder 7"/>
          <p:cNvSpPr>
            <a:spLocks noGrp="1"/>
          </p:cNvSpPr>
          <p:nvPr>
            <p:ph type="ftr" sz="quarter" idx="11"/>
          </p:nvPr>
        </p:nvSpPr>
        <p:spPr/>
        <p:txBody>
          <a:bodyPr/>
          <a:lstStyle/>
          <a:p>
            <a:r>
              <a:rPr lang="vi-VN"/>
              <a:t>Chương 3 - Lập trình hướng đối tượng trong C#</a:t>
            </a:r>
          </a:p>
        </p:txBody>
      </p:sp>
      <p:sp>
        <p:nvSpPr>
          <p:cNvPr id="9" name="Slide Number Placeholder 8"/>
          <p:cNvSpPr>
            <a:spLocks noGrp="1"/>
          </p:cNvSpPr>
          <p:nvPr>
            <p:ph type="sldNum" sz="quarter" idx="12"/>
          </p:nvPr>
        </p:nvSpPr>
        <p:spPr/>
        <p:txBody>
          <a:bodyPr/>
          <a:lstStyle/>
          <a:p>
            <a:fld id="{5AB95402-1E0D-474E-8D8C-CBE7F053639E}" type="slidenum">
              <a:rPr lang="vi-VN" smtClean="0"/>
              <a:pPr/>
              <a:t>81</a:t>
            </a:fld>
            <a:r>
              <a:rPr lang="vi-VN"/>
              <a:t>/28</a:t>
            </a:r>
          </a:p>
        </p:txBody>
      </p:sp>
      <p:sp>
        <p:nvSpPr>
          <p:cNvPr id="10" name="Title 1">
            <a:extLst>
              <a:ext uri="{FF2B5EF4-FFF2-40B4-BE49-F238E27FC236}">
                <a16:creationId xmlns:a16="http://schemas.microsoft.com/office/drawing/2014/main" id="{D1BDD974-102C-49F4-97E8-65AB82626B32}"/>
              </a:ext>
            </a:extLst>
          </p:cNvPr>
          <p:cNvSpPr>
            <a:spLocks noGrp="1"/>
          </p:cNvSpPr>
          <p:nvPr>
            <p:ph type="title"/>
          </p:nvPr>
        </p:nvSpPr>
        <p:spPr>
          <a:xfrm>
            <a:off x="971600" y="381000"/>
            <a:ext cx="7488832" cy="685800"/>
          </a:xfrm>
        </p:spPr>
        <p:txBody>
          <a:bodyPr/>
          <a:lstStyle/>
          <a:p>
            <a:r>
              <a:rPr lang="en-US"/>
              <a:t>Ví dụ lớp trừu tượng</a:t>
            </a:r>
          </a:p>
        </p:txBody>
      </p:sp>
    </p:spTree>
    <p:extLst>
      <p:ext uri="{BB962C8B-B14F-4D97-AF65-F5344CB8AC3E}">
        <p14:creationId xmlns:p14="http://schemas.microsoft.com/office/powerpoint/2010/main" val="226487807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Giao </a:t>
            </a:r>
            <a:r>
              <a:rPr lang="en-US" dirty="0" err="1"/>
              <a:t>diện</a:t>
            </a:r>
            <a:r>
              <a:rPr lang="en-US" dirty="0"/>
              <a:t> (interface)</a:t>
            </a:r>
          </a:p>
        </p:txBody>
      </p:sp>
      <p:sp>
        <p:nvSpPr>
          <p:cNvPr id="3" name="Content Placeholder 2"/>
          <p:cNvSpPr>
            <a:spLocks noGrp="1"/>
          </p:cNvSpPr>
          <p:nvPr>
            <p:ph idx="1"/>
          </p:nvPr>
        </p:nvSpPr>
        <p:spPr/>
        <p:txBody>
          <a:bodyPr/>
          <a:lstStyle/>
          <a:p>
            <a:r>
              <a:rPr lang="en-US" dirty="0"/>
              <a:t>Giao </a:t>
            </a:r>
            <a:r>
              <a:rPr lang="en-US" dirty="0" err="1"/>
              <a:t>diện</a:t>
            </a:r>
            <a:endParaRPr lang="en-US" dirty="0"/>
          </a:p>
          <a:p>
            <a:pPr lvl="1"/>
            <a:r>
              <a:rPr lang="en-US" dirty="0"/>
              <a:t>Là </a:t>
            </a:r>
            <a:r>
              <a:rPr lang="en-US" dirty="0" err="1"/>
              <a:t>một</a:t>
            </a:r>
            <a:r>
              <a:rPr lang="en-US" dirty="0"/>
              <a:t> </a:t>
            </a:r>
            <a:r>
              <a:rPr lang="en-US" dirty="0" err="1"/>
              <a:t>dạng</a:t>
            </a:r>
            <a:r>
              <a:rPr lang="en-US" dirty="0"/>
              <a:t> </a:t>
            </a:r>
            <a:r>
              <a:rPr lang="en-US" dirty="0" err="1"/>
              <a:t>của</a:t>
            </a:r>
            <a:r>
              <a:rPr lang="en-US" dirty="0"/>
              <a:t> </a:t>
            </a:r>
            <a:r>
              <a:rPr lang="en-US" dirty="0" err="1"/>
              <a:t>lớp</a:t>
            </a:r>
            <a:r>
              <a:rPr lang="en-US" dirty="0"/>
              <a:t> </a:t>
            </a:r>
            <a:r>
              <a:rPr lang="en-US" dirty="0" err="1"/>
              <a:t>trừu</a:t>
            </a:r>
            <a:r>
              <a:rPr lang="en-US" dirty="0"/>
              <a:t> </a:t>
            </a:r>
            <a:r>
              <a:rPr lang="en-US" dirty="0" err="1"/>
              <a:t>tượng</a:t>
            </a:r>
            <a:endParaRPr lang="en-US" dirty="0"/>
          </a:p>
          <a:p>
            <a:pPr lvl="1"/>
            <a:r>
              <a:rPr lang="en-US" dirty="0" err="1"/>
              <a:t>Sử</a:t>
            </a:r>
            <a:r>
              <a:rPr lang="en-US" dirty="0"/>
              <a:t> </a:t>
            </a:r>
            <a:r>
              <a:rPr lang="en-US" dirty="0" err="1"/>
              <a:t>dụng</a:t>
            </a:r>
            <a:r>
              <a:rPr lang="en-US" dirty="0"/>
              <a:t> </a:t>
            </a:r>
            <a:r>
              <a:rPr lang="en-US" dirty="0" err="1"/>
              <a:t>với</a:t>
            </a:r>
            <a:r>
              <a:rPr lang="en-US" dirty="0"/>
              <a:t> </a:t>
            </a:r>
            <a:r>
              <a:rPr lang="en-US" dirty="0" err="1"/>
              <a:t>mục</a:t>
            </a:r>
            <a:r>
              <a:rPr lang="en-US" dirty="0"/>
              <a:t> </a:t>
            </a:r>
            <a:r>
              <a:rPr lang="en-US" dirty="0" err="1"/>
              <a:t>đích</a:t>
            </a:r>
            <a:r>
              <a:rPr lang="en-US" dirty="0"/>
              <a:t> </a:t>
            </a:r>
            <a:r>
              <a:rPr lang="en-US" dirty="0" err="1"/>
              <a:t>hỗ</a:t>
            </a:r>
            <a:r>
              <a:rPr lang="en-US" dirty="0"/>
              <a:t> </a:t>
            </a:r>
            <a:r>
              <a:rPr lang="en-US" dirty="0" err="1"/>
              <a:t>trợ</a:t>
            </a:r>
            <a:r>
              <a:rPr lang="en-US" dirty="0"/>
              <a:t> </a:t>
            </a:r>
            <a:r>
              <a:rPr lang="en-US" dirty="0" err="1"/>
              <a:t>tính</a:t>
            </a:r>
            <a:r>
              <a:rPr lang="en-US" dirty="0"/>
              <a:t> </a:t>
            </a:r>
            <a:r>
              <a:rPr lang="en-US" dirty="0" err="1"/>
              <a:t>đa</a:t>
            </a:r>
            <a:r>
              <a:rPr lang="en-US" dirty="0"/>
              <a:t> </a:t>
            </a:r>
            <a:r>
              <a:rPr lang="en-US" dirty="0" err="1"/>
              <a:t>hình</a:t>
            </a:r>
            <a:r>
              <a:rPr lang="en-US" dirty="0"/>
              <a:t> (</a:t>
            </a:r>
            <a:r>
              <a:rPr lang="en-US" dirty="0" err="1"/>
              <a:t>đa</a:t>
            </a:r>
            <a:r>
              <a:rPr lang="en-US" dirty="0"/>
              <a:t> </a:t>
            </a:r>
            <a:r>
              <a:rPr lang="en-US" dirty="0" err="1"/>
              <a:t>kế</a:t>
            </a:r>
            <a:r>
              <a:rPr lang="en-US" dirty="0"/>
              <a:t> </a:t>
            </a:r>
            <a:r>
              <a:rPr lang="en-US" dirty="0" err="1"/>
              <a:t>thừa</a:t>
            </a:r>
            <a:r>
              <a:rPr lang="en-US" dirty="0"/>
              <a:t>)</a:t>
            </a:r>
          </a:p>
          <a:p>
            <a:pPr lvl="1"/>
            <a:r>
              <a:rPr lang="en-US" dirty="0" err="1"/>
              <a:t>Chỉ</a:t>
            </a:r>
            <a:r>
              <a:rPr lang="en-US" dirty="0"/>
              <a:t> </a:t>
            </a:r>
            <a:r>
              <a:rPr lang="en-US" dirty="0" err="1"/>
              <a:t>có</a:t>
            </a:r>
            <a:r>
              <a:rPr lang="en-US" dirty="0"/>
              <a:t> </a:t>
            </a:r>
            <a:r>
              <a:rPr lang="en-US" dirty="0" err="1"/>
              <a:t>nguyên</a:t>
            </a:r>
            <a:r>
              <a:rPr lang="en-US" dirty="0"/>
              <a:t> </a:t>
            </a:r>
            <a:r>
              <a:rPr lang="en-US" dirty="0" err="1"/>
              <a:t>mẫu</a:t>
            </a:r>
            <a:r>
              <a:rPr lang="en-US" dirty="0"/>
              <a:t> </a:t>
            </a:r>
            <a:r>
              <a:rPr lang="en-US" dirty="0" err="1"/>
              <a:t>của</a:t>
            </a:r>
            <a:r>
              <a:rPr lang="en-US" dirty="0"/>
              <a:t> </a:t>
            </a:r>
            <a:r>
              <a:rPr lang="en-US" dirty="0" err="1"/>
              <a:t>phương</a:t>
            </a:r>
            <a:r>
              <a:rPr lang="en-US" dirty="0"/>
              <a:t> </a:t>
            </a:r>
            <a:r>
              <a:rPr lang="en-US" dirty="0" err="1"/>
              <a:t>thức</a:t>
            </a:r>
            <a:r>
              <a:rPr lang="en-US" dirty="0"/>
              <a:t>, </a:t>
            </a:r>
            <a:r>
              <a:rPr lang="en-US" dirty="0" err="1"/>
              <a:t>thuộc</a:t>
            </a:r>
            <a:r>
              <a:rPr lang="en-US" dirty="0"/>
              <a:t> </a:t>
            </a:r>
            <a:r>
              <a:rPr lang="en-US" dirty="0" err="1"/>
              <a:t>tính</a:t>
            </a:r>
            <a:r>
              <a:rPr lang="en-US" dirty="0"/>
              <a:t> (</a:t>
            </a:r>
            <a:r>
              <a:rPr lang="en-US" dirty="0" err="1"/>
              <a:t>Lớp</a:t>
            </a:r>
            <a:r>
              <a:rPr lang="en-US" dirty="0"/>
              <a:t> </a:t>
            </a:r>
            <a:r>
              <a:rPr lang="en-US" dirty="0" err="1"/>
              <a:t>kế</a:t>
            </a:r>
            <a:r>
              <a:rPr lang="en-US" dirty="0"/>
              <a:t> </a:t>
            </a:r>
            <a:r>
              <a:rPr lang="en-US" dirty="0" err="1"/>
              <a:t>thừa</a:t>
            </a:r>
            <a:r>
              <a:rPr lang="en-US" dirty="0"/>
              <a:t> </a:t>
            </a:r>
            <a:r>
              <a:rPr lang="en-US" dirty="0" err="1"/>
              <a:t>từ</a:t>
            </a:r>
            <a:r>
              <a:rPr lang="en-US" dirty="0"/>
              <a:t> </a:t>
            </a:r>
            <a:r>
              <a:rPr lang="en-US" dirty="0" err="1"/>
              <a:t>giao</a:t>
            </a:r>
            <a:r>
              <a:rPr lang="en-US" dirty="0"/>
              <a:t> </a:t>
            </a:r>
            <a:r>
              <a:rPr lang="en-US" dirty="0" err="1"/>
              <a:t>diện</a:t>
            </a:r>
            <a:r>
              <a:rPr lang="en-US" dirty="0"/>
              <a:t> </a:t>
            </a:r>
            <a:r>
              <a:rPr lang="en-US" dirty="0" err="1"/>
              <a:t>phải</a:t>
            </a:r>
            <a:r>
              <a:rPr lang="en-US" dirty="0"/>
              <a:t> </a:t>
            </a:r>
            <a:r>
              <a:rPr lang="en-US" dirty="0" err="1"/>
              <a:t>có</a:t>
            </a:r>
            <a:r>
              <a:rPr lang="en-US" dirty="0"/>
              <a:t> </a:t>
            </a:r>
            <a:r>
              <a:rPr lang="en-US" dirty="0" err="1"/>
              <a:t>cài</a:t>
            </a:r>
            <a:r>
              <a:rPr lang="en-US" dirty="0"/>
              <a:t> </a:t>
            </a:r>
            <a:r>
              <a:rPr lang="en-US" dirty="0" err="1"/>
              <a:t>đặt</a:t>
            </a:r>
            <a:r>
              <a:rPr lang="en-US" dirty="0"/>
              <a:t> </a:t>
            </a:r>
            <a:r>
              <a:rPr lang="en-US" dirty="0" err="1"/>
              <a:t>cụ</a:t>
            </a:r>
            <a:r>
              <a:rPr lang="en-US" dirty="0"/>
              <a:t> </a:t>
            </a:r>
            <a:r>
              <a:rPr lang="en-US" dirty="0" err="1"/>
              <a:t>thể</a:t>
            </a:r>
            <a:r>
              <a:rPr lang="en-US" dirty="0"/>
              <a:t>)</a:t>
            </a:r>
          </a:p>
          <a:p>
            <a:pPr lvl="1"/>
            <a:r>
              <a:rPr lang="en-US" dirty="0" err="1"/>
              <a:t>Lớp</a:t>
            </a:r>
            <a:r>
              <a:rPr lang="en-US" dirty="0"/>
              <a:t> </a:t>
            </a:r>
            <a:r>
              <a:rPr lang="en-US" dirty="0" err="1"/>
              <a:t>kế</a:t>
            </a:r>
            <a:r>
              <a:rPr lang="en-US" dirty="0"/>
              <a:t> </a:t>
            </a:r>
            <a:r>
              <a:rPr lang="en-US" dirty="0" err="1"/>
              <a:t>thừa</a:t>
            </a:r>
            <a:r>
              <a:rPr lang="en-US" dirty="0"/>
              <a:t> </a:t>
            </a:r>
            <a:r>
              <a:rPr lang="en-US" dirty="0" err="1"/>
              <a:t>giao</a:t>
            </a:r>
            <a:r>
              <a:rPr lang="en-US" dirty="0"/>
              <a:t> </a:t>
            </a:r>
            <a:r>
              <a:rPr lang="en-US" dirty="0" err="1"/>
              <a:t>diện</a:t>
            </a:r>
            <a:r>
              <a:rPr lang="en-US" dirty="0"/>
              <a:t> </a:t>
            </a:r>
            <a:r>
              <a:rPr lang="en-US" dirty="0" err="1"/>
              <a:t>được</a:t>
            </a:r>
            <a:r>
              <a:rPr lang="en-US" dirty="0"/>
              <a:t> </a:t>
            </a:r>
            <a:r>
              <a:rPr lang="en-US" dirty="0" err="1"/>
              <a:t>gọi</a:t>
            </a:r>
            <a:r>
              <a:rPr lang="en-US" dirty="0"/>
              <a:t> là </a:t>
            </a:r>
            <a:r>
              <a:rPr lang="en-US" dirty="0" err="1"/>
              <a:t>lớp</a:t>
            </a:r>
            <a:r>
              <a:rPr lang="en-US" dirty="0"/>
              <a:t> </a:t>
            </a:r>
            <a:r>
              <a:rPr lang="en-US" dirty="0" err="1"/>
              <a:t>thực</a:t>
            </a:r>
            <a:r>
              <a:rPr lang="en-US" dirty="0"/>
              <a:t> </a:t>
            </a:r>
            <a:r>
              <a:rPr lang="en-US" dirty="0" err="1"/>
              <a:t>thi</a:t>
            </a:r>
            <a:r>
              <a:rPr lang="en-US" dirty="0"/>
              <a:t> (implement) </a:t>
            </a:r>
            <a:r>
              <a:rPr lang="en-US" dirty="0" err="1"/>
              <a:t>giao</a:t>
            </a:r>
            <a:r>
              <a:rPr lang="en-US" dirty="0"/>
              <a:t> </a:t>
            </a:r>
            <a:r>
              <a:rPr lang="en-US" dirty="0" err="1"/>
              <a:t>diện</a:t>
            </a:r>
            <a:endParaRPr lang="en-US" dirty="0"/>
          </a:p>
          <a:p>
            <a:pPr marL="471487" lvl="1" indent="0">
              <a:buNone/>
            </a:pPr>
            <a:endParaRPr lang="en-US" dirty="0"/>
          </a:p>
          <a:p>
            <a:pPr lvl="1"/>
            <a:endParaRPr lang="en-US" dirty="0"/>
          </a:p>
        </p:txBody>
      </p:sp>
      <p:sp>
        <p:nvSpPr>
          <p:cNvPr id="7" name="Date Placeholder 6"/>
          <p:cNvSpPr>
            <a:spLocks noGrp="1"/>
          </p:cNvSpPr>
          <p:nvPr>
            <p:ph type="dt" sz="half" idx="10"/>
          </p:nvPr>
        </p:nvSpPr>
        <p:spPr/>
        <p:txBody>
          <a:bodyPr/>
          <a:lstStyle/>
          <a:p>
            <a:fld id="{FCF532EB-F99A-4FC4-99DA-4E707C01A567}" type="datetime1">
              <a:rPr lang="vi-VN" smtClean="0"/>
              <a:t>04/02/2025</a:t>
            </a:fld>
            <a:endParaRPr lang="vi-VN"/>
          </a:p>
        </p:txBody>
      </p:sp>
      <p:sp>
        <p:nvSpPr>
          <p:cNvPr id="8" name="Footer Placeholder 7"/>
          <p:cNvSpPr>
            <a:spLocks noGrp="1"/>
          </p:cNvSpPr>
          <p:nvPr>
            <p:ph type="ftr" sz="quarter" idx="11"/>
          </p:nvPr>
        </p:nvSpPr>
        <p:spPr/>
        <p:txBody>
          <a:bodyPr/>
          <a:lstStyle/>
          <a:p>
            <a:r>
              <a:rPr lang="vi-VN"/>
              <a:t>Chương 3 - Lập trình hướng đối tượng trong C#</a:t>
            </a:r>
          </a:p>
        </p:txBody>
      </p:sp>
      <p:sp>
        <p:nvSpPr>
          <p:cNvPr id="9" name="Slide Number Placeholder 8"/>
          <p:cNvSpPr>
            <a:spLocks noGrp="1"/>
          </p:cNvSpPr>
          <p:nvPr>
            <p:ph type="sldNum" sz="quarter" idx="12"/>
          </p:nvPr>
        </p:nvSpPr>
        <p:spPr/>
        <p:txBody>
          <a:bodyPr/>
          <a:lstStyle/>
          <a:p>
            <a:fld id="{5AB95402-1E0D-474E-8D8C-CBE7F053639E}" type="slidenum">
              <a:rPr lang="vi-VN" smtClean="0"/>
              <a:pPr/>
              <a:t>82</a:t>
            </a:fld>
            <a:r>
              <a:rPr lang="vi-VN"/>
              <a:t>/28</a:t>
            </a:r>
          </a:p>
        </p:txBody>
      </p:sp>
    </p:spTree>
    <p:extLst>
      <p:ext uri="{BB962C8B-B14F-4D97-AF65-F5344CB8AC3E}">
        <p14:creationId xmlns:p14="http://schemas.microsoft.com/office/powerpoint/2010/main" val="234857558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7A3DE-D31B-4A85-8A89-D4F4A6675764}"/>
              </a:ext>
            </a:extLst>
          </p:cNvPr>
          <p:cNvSpPr>
            <a:spLocks noGrp="1"/>
          </p:cNvSpPr>
          <p:nvPr>
            <p:ph type="title"/>
          </p:nvPr>
        </p:nvSpPr>
        <p:spPr/>
        <p:txBody>
          <a:bodyPr/>
          <a:lstStyle/>
          <a:p>
            <a:r>
              <a:rPr lang="en-US" dirty="0"/>
              <a:t>Giao </a:t>
            </a:r>
            <a:r>
              <a:rPr lang="en-US" dirty="0" err="1"/>
              <a:t>diện</a:t>
            </a:r>
            <a:r>
              <a:rPr lang="en-US" dirty="0"/>
              <a:t> (interface)</a:t>
            </a:r>
          </a:p>
        </p:txBody>
      </p:sp>
      <p:sp>
        <p:nvSpPr>
          <p:cNvPr id="3" name="Content Placeholder 2">
            <a:extLst>
              <a:ext uri="{FF2B5EF4-FFF2-40B4-BE49-F238E27FC236}">
                <a16:creationId xmlns:a16="http://schemas.microsoft.com/office/drawing/2014/main" id="{3A651F61-FA16-4D56-95E1-AF795E334DE2}"/>
              </a:ext>
            </a:extLst>
          </p:cNvPr>
          <p:cNvSpPr>
            <a:spLocks noGrp="1"/>
          </p:cNvSpPr>
          <p:nvPr>
            <p:ph idx="1"/>
          </p:nvPr>
        </p:nvSpPr>
        <p:spPr>
          <a:xfrm>
            <a:off x="258924" y="1200944"/>
            <a:ext cx="8417532" cy="5181600"/>
          </a:xfrm>
        </p:spPr>
        <p:txBody>
          <a:bodyPr/>
          <a:lstStyle/>
          <a:p>
            <a:pPr algn="l"/>
            <a:r>
              <a:rPr lang="vi-VN" sz="2000" b="0" i="0" dirty="0">
                <a:solidFill>
                  <a:srgbClr val="000000"/>
                </a:solidFill>
                <a:effectLst/>
                <a:latin typeface="+mj-lt"/>
                <a:cs typeface="Times New Roman" panose="02020603050405020304" pitchFamily="18" charset="0"/>
              </a:rPr>
              <a:t>Giả sử có 2 lớp </a:t>
            </a:r>
            <a:br>
              <a:rPr lang="vi-VN" sz="2000" dirty="0">
                <a:latin typeface="+mj-lt"/>
                <a:cs typeface="Times New Roman" panose="02020603050405020304" pitchFamily="18" charset="0"/>
              </a:rPr>
            </a:br>
            <a:r>
              <a:rPr lang="vi-VN" sz="2000" b="0" i="0" dirty="0">
                <a:solidFill>
                  <a:srgbClr val="000000"/>
                </a:solidFill>
                <a:effectLst/>
                <a:latin typeface="+mj-lt"/>
                <a:cs typeface="Times New Roman" panose="02020603050405020304" pitchFamily="18" charset="0"/>
              </a:rPr>
              <a:t>- Động vật trên cạn </a:t>
            </a:r>
            <a:br>
              <a:rPr lang="vi-VN" sz="2000" dirty="0">
                <a:latin typeface="+mj-lt"/>
                <a:cs typeface="Times New Roman" panose="02020603050405020304" pitchFamily="18" charset="0"/>
              </a:rPr>
            </a:br>
            <a:r>
              <a:rPr lang="vi-VN" sz="2000" b="0" i="0" dirty="0">
                <a:solidFill>
                  <a:srgbClr val="000000"/>
                </a:solidFill>
                <a:effectLst/>
                <a:latin typeface="+mj-lt"/>
                <a:cs typeface="Times New Roman" panose="02020603050405020304" pitchFamily="18" charset="0"/>
              </a:rPr>
              <a:t>- Động vật dưới nước </a:t>
            </a:r>
            <a:endParaRPr lang="en-US" sz="2000" b="0" i="0" dirty="0">
              <a:solidFill>
                <a:srgbClr val="000000"/>
              </a:solidFill>
              <a:effectLst/>
              <a:latin typeface="+mj-lt"/>
              <a:cs typeface="Times New Roman" panose="02020603050405020304" pitchFamily="18" charset="0"/>
            </a:endParaRPr>
          </a:p>
          <a:p>
            <a:pPr algn="l"/>
            <a:r>
              <a:rPr lang="vi-VN" sz="2000" b="0" i="0" dirty="0">
                <a:solidFill>
                  <a:srgbClr val="000000"/>
                </a:solidFill>
                <a:effectLst/>
                <a:latin typeface="+mj-lt"/>
                <a:cs typeface="Times New Roman" panose="02020603050405020304" pitchFamily="18" charset="0"/>
              </a:rPr>
              <a:t>Tiếp theo mình tạo 1 lớp </a:t>
            </a:r>
            <a:r>
              <a:rPr lang="vi-VN" sz="2000" b="1" i="0" dirty="0">
                <a:solidFill>
                  <a:srgbClr val="000000"/>
                </a:solidFill>
                <a:effectLst/>
                <a:latin typeface="+mj-lt"/>
                <a:cs typeface="Times New Roman" panose="02020603050405020304" pitchFamily="18" charset="0"/>
              </a:rPr>
              <a:t>Ếch</a:t>
            </a:r>
            <a:r>
              <a:rPr lang="vi-VN" sz="2000" b="0" i="0" dirty="0">
                <a:solidFill>
                  <a:srgbClr val="000000"/>
                </a:solidFill>
                <a:effectLst/>
                <a:latin typeface="+mj-lt"/>
                <a:cs typeface="Times New Roman" panose="02020603050405020304" pitchFamily="18" charset="0"/>
              </a:rPr>
              <a:t>. Vì ếch là loài lưỡng cư nên nó phải được thừa hưởng thuộc tính và phương thức của cả 2 lớp </a:t>
            </a:r>
            <a:r>
              <a:rPr lang="vi-VN" sz="2000" b="1" i="0" dirty="0">
                <a:solidFill>
                  <a:srgbClr val="000000"/>
                </a:solidFill>
                <a:effectLst/>
                <a:latin typeface="+mj-lt"/>
                <a:cs typeface="Times New Roman" panose="02020603050405020304" pitchFamily="18" charset="0"/>
              </a:rPr>
              <a:t>Động vật trên cạn</a:t>
            </a:r>
            <a:r>
              <a:rPr lang="vi-VN" sz="2000" b="0" i="0" dirty="0">
                <a:solidFill>
                  <a:srgbClr val="000000"/>
                </a:solidFill>
                <a:effectLst/>
                <a:latin typeface="+mj-lt"/>
                <a:cs typeface="Times New Roman" panose="02020603050405020304" pitchFamily="18" charset="0"/>
              </a:rPr>
              <a:t> và </a:t>
            </a:r>
            <a:r>
              <a:rPr lang="vi-VN" sz="2000" b="1" i="0" dirty="0">
                <a:solidFill>
                  <a:srgbClr val="000000"/>
                </a:solidFill>
                <a:effectLst/>
                <a:latin typeface="+mj-lt"/>
                <a:cs typeface="Times New Roman" panose="02020603050405020304" pitchFamily="18" charset="0"/>
              </a:rPr>
              <a:t>Động vật dưới nước</a:t>
            </a:r>
            <a:r>
              <a:rPr lang="vi-VN" sz="2000" b="0" i="0" dirty="0">
                <a:solidFill>
                  <a:srgbClr val="000000"/>
                </a:solidFill>
                <a:effectLst/>
                <a:latin typeface="+mj-lt"/>
                <a:cs typeface="Times New Roman" panose="02020603050405020304" pitchFamily="18" charset="0"/>
              </a:rPr>
              <a:t>. Nhưng </a:t>
            </a:r>
            <a:r>
              <a:rPr lang="vi-VN" sz="2000" b="1" i="0" dirty="0">
                <a:solidFill>
                  <a:srgbClr val="000000"/>
                </a:solidFill>
                <a:effectLst/>
                <a:latin typeface="+mj-lt"/>
                <a:cs typeface="Times New Roman" panose="02020603050405020304" pitchFamily="18" charset="0"/>
              </a:rPr>
              <a:t>C#</a:t>
            </a:r>
            <a:r>
              <a:rPr lang="vi-VN" sz="2000" b="0" i="0" dirty="0">
                <a:solidFill>
                  <a:srgbClr val="000000"/>
                </a:solidFill>
                <a:effectLst/>
                <a:latin typeface="+mj-lt"/>
                <a:cs typeface="Times New Roman" panose="02020603050405020304" pitchFamily="18" charset="0"/>
              </a:rPr>
              <a:t> không hỗ trợ đa kế thừa, vì vậy </a:t>
            </a:r>
            <a:r>
              <a:rPr lang="vi-VN" sz="2000" b="1" i="0" dirty="0">
                <a:solidFill>
                  <a:srgbClr val="000000"/>
                </a:solidFill>
                <a:effectLst/>
                <a:latin typeface="+mj-lt"/>
                <a:cs typeface="Times New Roman" panose="02020603050405020304" pitchFamily="18" charset="0"/>
              </a:rPr>
              <a:t>Interface </a:t>
            </a:r>
            <a:r>
              <a:rPr lang="vi-VN" sz="2000" b="0" i="0" dirty="0">
                <a:solidFill>
                  <a:srgbClr val="000000"/>
                </a:solidFill>
                <a:effectLst/>
                <a:latin typeface="+mj-lt"/>
                <a:cs typeface="Times New Roman" panose="02020603050405020304" pitchFamily="18" charset="0"/>
              </a:rPr>
              <a:t>ra đời như một giải pháp thay thế.</a:t>
            </a:r>
            <a:endParaRPr lang="en-US" sz="2000" b="0" i="0" dirty="0">
              <a:solidFill>
                <a:srgbClr val="000000"/>
              </a:solidFill>
              <a:effectLst/>
              <a:latin typeface="+mj-lt"/>
              <a:cs typeface="Times New Roman" panose="02020603050405020304" pitchFamily="18" charset="0"/>
            </a:endParaRPr>
          </a:p>
          <a:p>
            <a:pPr algn="l"/>
            <a:r>
              <a:rPr lang="vi-VN" sz="2000" b="1" i="0" dirty="0">
                <a:solidFill>
                  <a:srgbClr val="000000"/>
                </a:solidFill>
                <a:effectLst/>
                <a:latin typeface="+mj-lt"/>
                <a:cs typeface="Times New Roman" panose="02020603050405020304" pitchFamily="18" charset="0"/>
              </a:rPr>
              <a:t>Interface</a:t>
            </a:r>
            <a:r>
              <a:rPr lang="vi-VN" sz="2000" b="0" i="0" dirty="0">
                <a:solidFill>
                  <a:srgbClr val="000000"/>
                </a:solidFill>
                <a:effectLst/>
                <a:latin typeface="+mj-lt"/>
                <a:cs typeface="Times New Roman" panose="02020603050405020304" pitchFamily="18" charset="0"/>
              </a:rPr>
              <a:t> được hiểu như là 1 khuôn mẫu chung mà mọi lớp thực thi nó đều phải tuân theo. Bên trong </a:t>
            </a:r>
            <a:r>
              <a:rPr lang="vi-VN" sz="2000" b="1" i="0" dirty="0">
                <a:solidFill>
                  <a:srgbClr val="000000"/>
                </a:solidFill>
                <a:effectLst/>
                <a:latin typeface="+mj-lt"/>
                <a:cs typeface="Times New Roman" panose="02020603050405020304" pitchFamily="18" charset="0"/>
              </a:rPr>
              <a:t>Interface</a:t>
            </a:r>
            <a:r>
              <a:rPr lang="vi-VN" sz="2000" b="0" i="0" dirty="0">
                <a:solidFill>
                  <a:srgbClr val="000000"/>
                </a:solidFill>
                <a:effectLst/>
                <a:latin typeface="+mj-lt"/>
                <a:cs typeface="Times New Roman" panose="02020603050405020304" pitchFamily="18" charset="0"/>
              </a:rPr>
              <a:t> là 1 tập hợp các thành phần chỉ có khai báo mà không có phần định nghĩa.</a:t>
            </a:r>
            <a:endParaRPr lang="en-US" sz="2000" b="0" i="0" dirty="0">
              <a:solidFill>
                <a:srgbClr val="000000"/>
              </a:solidFill>
              <a:effectLst/>
              <a:latin typeface="+mj-lt"/>
              <a:cs typeface="Times New Roman" panose="02020603050405020304" pitchFamily="18" charset="0"/>
            </a:endParaRPr>
          </a:p>
          <a:p>
            <a:pPr marL="1120775" lvl="2" indent="-285750" algn="l">
              <a:buFontTx/>
              <a:buChar char="-"/>
            </a:pPr>
            <a:r>
              <a:rPr lang="vi-VN" b="0" i="0" dirty="0">
                <a:solidFill>
                  <a:srgbClr val="000000"/>
                </a:solidFill>
                <a:effectLst/>
                <a:latin typeface="+mj-lt"/>
                <a:cs typeface="Times New Roman" panose="02020603050405020304" pitchFamily="18" charset="0"/>
              </a:rPr>
              <a:t>Chỉ chứa khai báo không chứa phần định nghĩa.</a:t>
            </a:r>
            <a:br>
              <a:rPr lang="vi-VN" dirty="0">
                <a:latin typeface="+mj-lt"/>
                <a:cs typeface="Times New Roman" panose="02020603050405020304" pitchFamily="18" charset="0"/>
              </a:rPr>
            </a:br>
            <a:r>
              <a:rPr lang="vi-VN" b="0" i="0" dirty="0">
                <a:solidFill>
                  <a:srgbClr val="000000"/>
                </a:solidFill>
                <a:effectLst/>
                <a:latin typeface="+mj-lt"/>
                <a:cs typeface="Times New Roman" panose="02020603050405020304" pitchFamily="18" charset="0"/>
              </a:rPr>
              <a:t>- Việc ghi đè 1 thành phần trong </a:t>
            </a:r>
            <a:r>
              <a:rPr lang="vi-VN" b="1" i="0" dirty="0">
                <a:solidFill>
                  <a:srgbClr val="000000"/>
                </a:solidFill>
                <a:effectLst/>
                <a:latin typeface="+mj-lt"/>
                <a:cs typeface="Times New Roman" panose="02020603050405020304" pitchFamily="18" charset="0"/>
              </a:rPr>
              <a:t>interface</a:t>
            </a:r>
            <a:r>
              <a:rPr lang="vi-VN" b="0" i="0" dirty="0">
                <a:solidFill>
                  <a:srgbClr val="000000"/>
                </a:solidFill>
                <a:effectLst/>
                <a:latin typeface="+mj-lt"/>
                <a:cs typeface="Times New Roman" panose="02020603050405020304" pitchFamily="18" charset="0"/>
              </a:rPr>
              <a:t> cũng không cần từ</a:t>
            </a:r>
            <a:r>
              <a:rPr lang="en-US" b="0" i="0" dirty="0">
                <a:solidFill>
                  <a:srgbClr val="000000"/>
                </a:solidFill>
                <a:effectLst/>
                <a:latin typeface="+mj-lt"/>
                <a:cs typeface="Times New Roman" panose="02020603050405020304" pitchFamily="18" charset="0"/>
              </a:rPr>
              <a:t> </a:t>
            </a:r>
            <a:r>
              <a:rPr lang="vi-VN" b="0" i="0" dirty="0">
                <a:solidFill>
                  <a:srgbClr val="000000"/>
                </a:solidFill>
                <a:effectLst/>
                <a:latin typeface="+mj-lt"/>
                <a:cs typeface="Times New Roman" panose="02020603050405020304" pitchFamily="18" charset="0"/>
              </a:rPr>
              <a:t>khoá </a:t>
            </a:r>
            <a:r>
              <a:rPr lang="vi-VN" b="1" i="0" dirty="0">
                <a:solidFill>
                  <a:srgbClr val="000000"/>
                </a:solidFill>
                <a:effectLst/>
                <a:latin typeface="+mj-lt"/>
                <a:cs typeface="Times New Roman" panose="02020603050405020304" pitchFamily="18" charset="0"/>
              </a:rPr>
              <a:t>override</a:t>
            </a:r>
            <a:r>
              <a:rPr lang="vi-VN" b="0" i="0" dirty="0">
                <a:solidFill>
                  <a:srgbClr val="000000"/>
                </a:solidFill>
                <a:effectLst/>
                <a:latin typeface="+mj-lt"/>
                <a:cs typeface="Times New Roman" panose="02020603050405020304" pitchFamily="18" charset="0"/>
              </a:rPr>
              <a:t>.</a:t>
            </a:r>
            <a:br>
              <a:rPr lang="vi-VN" dirty="0">
                <a:latin typeface="+mj-lt"/>
                <a:cs typeface="Times New Roman" panose="02020603050405020304" pitchFamily="18" charset="0"/>
              </a:rPr>
            </a:br>
            <a:r>
              <a:rPr lang="vi-VN" b="0" i="0" dirty="0">
                <a:solidFill>
                  <a:srgbClr val="000000"/>
                </a:solidFill>
                <a:effectLst/>
                <a:latin typeface="+mj-lt"/>
                <a:cs typeface="Times New Roman" panose="02020603050405020304" pitchFamily="18" charset="0"/>
              </a:rPr>
              <a:t>- Không thể khai báo phạm vi truy cập cho các thành phần bên trong </a:t>
            </a:r>
            <a:r>
              <a:rPr lang="vi-VN" b="1" i="0" dirty="0">
                <a:solidFill>
                  <a:srgbClr val="000000"/>
                </a:solidFill>
                <a:effectLst/>
                <a:latin typeface="+mj-lt"/>
                <a:cs typeface="Times New Roman" panose="02020603050405020304" pitchFamily="18" charset="0"/>
              </a:rPr>
              <a:t>interface</a:t>
            </a:r>
            <a:r>
              <a:rPr lang="vi-VN" b="0" i="0" dirty="0">
                <a:solidFill>
                  <a:srgbClr val="000000"/>
                </a:solidFill>
                <a:effectLst/>
                <a:latin typeface="+mj-lt"/>
                <a:cs typeface="Times New Roman" panose="02020603050405020304" pitchFamily="18" charset="0"/>
              </a:rPr>
              <a:t>. Các thành phần này sẽ mặc định là </a:t>
            </a:r>
            <a:r>
              <a:rPr lang="vi-VN" b="1" i="0" dirty="0">
                <a:solidFill>
                  <a:srgbClr val="000000"/>
                </a:solidFill>
                <a:effectLst/>
                <a:latin typeface="+mj-lt"/>
                <a:cs typeface="Times New Roman" panose="02020603050405020304" pitchFamily="18" charset="0"/>
              </a:rPr>
              <a:t>public</a:t>
            </a:r>
            <a:r>
              <a:rPr lang="vi-VN" b="0" i="0" dirty="0">
                <a:solidFill>
                  <a:srgbClr val="000000"/>
                </a:solidFill>
                <a:effectLst/>
                <a:latin typeface="+mj-lt"/>
                <a:cs typeface="Times New Roman" panose="02020603050405020304" pitchFamily="18" charset="0"/>
              </a:rPr>
              <a:t>.</a:t>
            </a:r>
            <a:endParaRPr lang="en-US" b="0" i="0" dirty="0">
              <a:solidFill>
                <a:srgbClr val="000000"/>
              </a:solidFill>
              <a:effectLst/>
              <a:latin typeface="+mj-lt"/>
              <a:cs typeface="Times New Roman" panose="02020603050405020304" pitchFamily="18" charset="0"/>
            </a:endParaRPr>
          </a:p>
          <a:p>
            <a:pPr marL="1120775" lvl="2" indent="-285750" algn="l">
              <a:buFontTx/>
              <a:buChar char="-"/>
            </a:pPr>
            <a:r>
              <a:rPr lang="en-US" dirty="0" err="1">
                <a:solidFill>
                  <a:srgbClr val="000000"/>
                </a:solidFill>
                <a:latin typeface="+mj-lt"/>
                <a:cs typeface="Times New Roman" panose="02020603050405020304" pitchFamily="18" charset="0"/>
              </a:rPr>
              <a:t>Giải</a:t>
            </a:r>
            <a:r>
              <a:rPr lang="en-US" dirty="0">
                <a:solidFill>
                  <a:srgbClr val="000000"/>
                </a:solidFill>
                <a:latin typeface="+mj-lt"/>
                <a:cs typeface="Times New Roman" panose="02020603050405020304" pitchFamily="18" charset="0"/>
              </a:rPr>
              <a:t> </a:t>
            </a:r>
            <a:r>
              <a:rPr lang="en-US" dirty="0" err="1">
                <a:solidFill>
                  <a:srgbClr val="000000"/>
                </a:solidFill>
                <a:latin typeface="+mj-lt"/>
                <a:cs typeface="Times New Roman" panose="02020603050405020304" pitchFamily="18" charset="0"/>
              </a:rPr>
              <a:t>quyết</a:t>
            </a:r>
            <a:r>
              <a:rPr lang="en-US" dirty="0">
                <a:solidFill>
                  <a:srgbClr val="000000"/>
                </a:solidFill>
                <a:latin typeface="+mj-lt"/>
                <a:cs typeface="Times New Roman" panose="02020603050405020304" pitchFamily="18" charset="0"/>
              </a:rPr>
              <a:t> </a:t>
            </a:r>
            <a:r>
              <a:rPr lang="en-US" dirty="0" err="1">
                <a:solidFill>
                  <a:srgbClr val="000000"/>
                </a:solidFill>
                <a:latin typeface="+mj-lt"/>
                <a:cs typeface="Times New Roman" panose="02020603050405020304" pitchFamily="18" charset="0"/>
              </a:rPr>
              <a:t>được</a:t>
            </a:r>
            <a:r>
              <a:rPr lang="en-US" dirty="0">
                <a:solidFill>
                  <a:srgbClr val="000000"/>
                </a:solidFill>
                <a:latin typeface="+mj-lt"/>
                <a:cs typeface="Times New Roman" panose="02020603050405020304" pitchFamily="18" charset="0"/>
              </a:rPr>
              <a:t> </a:t>
            </a:r>
            <a:r>
              <a:rPr lang="en-US" dirty="0" err="1">
                <a:solidFill>
                  <a:srgbClr val="000000"/>
                </a:solidFill>
                <a:latin typeface="+mj-lt"/>
                <a:cs typeface="Times New Roman" panose="02020603050405020304" pitchFamily="18" charset="0"/>
              </a:rPr>
              <a:t>đa</a:t>
            </a:r>
            <a:r>
              <a:rPr lang="en-US" dirty="0">
                <a:solidFill>
                  <a:srgbClr val="000000"/>
                </a:solidFill>
                <a:latin typeface="+mj-lt"/>
                <a:cs typeface="Times New Roman" panose="02020603050405020304" pitchFamily="18" charset="0"/>
              </a:rPr>
              <a:t> </a:t>
            </a:r>
            <a:r>
              <a:rPr lang="en-US" dirty="0" err="1">
                <a:solidFill>
                  <a:srgbClr val="000000"/>
                </a:solidFill>
                <a:latin typeface="+mj-lt"/>
                <a:cs typeface="Times New Roman" panose="02020603050405020304" pitchFamily="18" charset="0"/>
              </a:rPr>
              <a:t>kế</a:t>
            </a:r>
            <a:r>
              <a:rPr lang="en-US" dirty="0">
                <a:solidFill>
                  <a:srgbClr val="000000"/>
                </a:solidFill>
                <a:latin typeface="+mj-lt"/>
                <a:cs typeface="Times New Roman" panose="02020603050405020304" pitchFamily="18" charset="0"/>
              </a:rPr>
              <a:t> </a:t>
            </a:r>
            <a:r>
              <a:rPr lang="en-US" dirty="0" err="1">
                <a:solidFill>
                  <a:srgbClr val="000000"/>
                </a:solidFill>
                <a:latin typeface="+mj-lt"/>
                <a:cs typeface="Times New Roman" panose="02020603050405020304" pitchFamily="18" charset="0"/>
              </a:rPr>
              <a:t>thừa</a:t>
            </a:r>
            <a:r>
              <a:rPr lang="en-US" dirty="0">
                <a:solidFill>
                  <a:srgbClr val="000000"/>
                </a:solidFill>
                <a:latin typeface="+mj-lt"/>
                <a:cs typeface="Times New Roman" panose="02020603050405020304" pitchFamily="18" charset="0"/>
              </a:rPr>
              <a:t>.</a:t>
            </a:r>
            <a:br>
              <a:rPr lang="vi-VN" dirty="0">
                <a:latin typeface="+mj-lt"/>
                <a:cs typeface="Times New Roman" panose="02020603050405020304" pitchFamily="18" charset="0"/>
              </a:rPr>
            </a:br>
            <a:endParaRPr lang="en-US" dirty="0">
              <a:latin typeface="+mj-lt"/>
              <a:cs typeface="Times New Roman" panose="02020603050405020304" pitchFamily="18" charset="0"/>
            </a:endParaRPr>
          </a:p>
        </p:txBody>
      </p:sp>
      <p:sp>
        <p:nvSpPr>
          <p:cNvPr id="4" name="Date Placeholder 3">
            <a:extLst>
              <a:ext uri="{FF2B5EF4-FFF2-40B4-BE49-F238E27FC236}">
                <a16:creationId xmlns:a16="http://schemas.microsoft.com/office/drawing/2014/main" id="{E851AB7B-C084-44AD-94C3-E7099047619D}"/>
              </a:ext>
            </a:extLst>
          </p:cNvPr>
          <p:cNvSpPr>
            <a:spLocks noGrp="1"/>
          </p:cNvSpPr>
          <p:nvPr>
            <p:ph type="dt" sz="half" idx="10"/>
          </p:nvPr>
        </p:nvSpPr>
        <p:spPr/>
        <p:txBody>
          <a:bodyPr/>
          <a:lstStyle/>
          <a:p>
            <a:fld id="{B88E2A3D-1029-49D6-A4F5-3296B04E5FA7}" type="datetime1">
              <a:rPr lang="vi-VN" smtClean="0"/>
              <a:t>04/02/2025</a:t>
            </a:fld>
            <a:endParaRPr lang="vi-VN"/>
          </a:p>
        </p:txBody>
      </p:sp>
      <p:sp>
        <p:nvSpPr>
          <p:cNvPr id="5" name="Footer Placeholder 4">
            <a:extLst>
              <a:ext uri="{FF2B5EF4-FFF2-40B4-BE49-F238E27FC236}">
                <a16:creationId xmlns:a16="http://schemas.microsoft.com/office/drawing/2014/main" id="{4F17D6EA-D419-4313-A17C-119299E1B758}"/>
              </a:ext>
            </a:extLst>
          </p:cNvPr>
          <p:cNvSpPr>
            <a:spLocks noGrp="1"/>
          </p:cNvSpPr>
          <p:nvPr>
            <p:ph type="ftr" sz="quarter" idx="11"/>
          </p:nvPr>
        </p:nvSpPr>
        <p:spPr/>
        <p:txBody>
          <a:bodyPr/>
          <a:lstStyle/>
          <a:p>
            <a:r>
              <a:rPr lang="vi-VN"/>
              <a:t>Chương 3 - Lập trình hướng đối tượng trong C#</a:t>
            </a:r>
          </a:p>
        </p:txBody>
      </p:sp>
      <p:sp>
        <p:nvSpPr>
          <p:cNvPr id="6" name="Slide Number Placeholder 5">
            <a:extLst>
              <a:ext uri="{FF2B5EF4-FFF2-40B4-BE49-F238E27FC236}">
                <a16:creationId xmlns:a16="http://schemas.microsoft.com/office/drawing/2014/main" id="{E10CA1E0-5B48-4113-BB62-A39BB94C64F0}"/>
              </a:ext>
            </a:extLst>
          </p:cNvPr>
          <p:cNvSpPr>
            <a:spLocks noGrp="1"/>
          </p:cNvSpPr>
          <p:nvPr>
            <p:ph type="sldNum" sz="quarter" idx="12"/>
          </p:nvPr>
        </p:nvSpPr>
        <p:spPr/>
        <p:txBody>
          <a:bodyPr/>
          <a:lstStyle/>
          <a:p>
            <a:fld id="{5AB95402-1E0D-474E-8D8C-CBE7F053639E}" type="slidenum">
              <a:rPr lang="vi-VN" smtClean="0"/>
              <a:pPr/>
              <a:t>83</a:t>
            </a:fld>
            <a:r>
              <a:rPr lang="vi-VN"/>
              <a:t>/30</a:t>
            </a:r>
          </a:p>
        </p:txBody>
      </p:sp>
    </p:spTree>
    <p:extLst>
      <p:ext uri="{BB962C8B-B14F-4D97-AF65-F5344CB8AC3E}">
        <p14:creationId xmlns:p14="http://schemas.microsoft.com/office/powerpoint/2010/main" val="173172991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Giao diện (interface)</a:t>
            </a:r>
          </a:p>
        </p:txBody>
      </p:sp>
      <p:sp>
        <p:nvSpPr>
          <p:cNvPr id="3" name="Content Placeholder 2"/>
          <p:cNvSpPr>
            <a:spLocks noGrp="1"/>
          </p:cNvSpPr>
          <p:nvPr>
            <p:ph idx="1"/>
          </p:nvPr>
        </p:nvSpPr>
        <p:spPr/>
        <p:txBody>
          <a:bodyPr/>
          <a:lstStyle/>
          <a:p>
            <a:r>
              <a:rPr lang="en-US" dirty="0" err="1"/>
              <a:t>Cú</a:t>
            </a:r>
            <a:r>
              <a:rPr lang="en-US" dirty="0"/>
              <a:t> </a:t>
            </a:r>
            <a:r>
              <a:rPr lang="en-US" dirty="0" err="1"/>
              <a:t>pháp</a:t>
            </a:r>
            <a:endParaRPr lang="en-US" dirty="0"/>
          </a:p>
          <a:p>
            <a:pPr marL="0" indent="0">
              <a:buNone/>
            </a:pPr>
            <a:r>
              <a:rPr lang="en-US" sz="2200" b="1" dirty="0">
                <a:solidFill>
                  <a:srgbClr val="FF0000"/>
                </a:solidFill>
              </a:rPr>
              <a:t>interface</a:t>
            </a:r>
            <a:r>
              <a:rPr lang="en-US" sz="2200" dirty="0">
                <a:solidFill>
                  <a:srgbClr val="0000FF"/>
                </a:solidFill>
              </a:rPr>
              <a:t> &lt;</a:t>
            </a:r>
            <a:r>
              <a:rPr lang="en-US" sz="2200" dirty="0" err="1">
                <a:solidFill>
                  <a:srgbClr val="0000FF"/>
                </a:solidFill>
              </a:rPr>
              <a:t>Tên</a:t>
            </a:r>
            <a:r>
              <a:rPr lang="en-US" sz="2200" dirty="0">
                <a:solidFill>
                  <a:srgbClr val="0000FF"/>
                </a:solidFill>
              </a:rPr>
              <a:t> </a:t>
            </a:r>
            <a:r>
              <a:rPr lang="en-US" sz="2200" err="1">
                <a:solidFill>
                  <a:srgbClr val="0000FF"/>
                </a:solidFill>
              </a:rPr>
              <a:t>giao</a:t>
            </a:r>
            <a:r>
              <a:rPr lang="en-US" sz="2200">
                <a:solidFill>
                  <a:srgbClr val="0000FF"/>
                </a:solidFill>
              </a:rPr>
              <a:t> diện</a:t>
            </a:r>
            <a:r>
              <a:rPr lang="en-US" sz="2200" dirty="0">
                <a:solidFill>
                  <a:srgbClr val="0000FF"/>
                </a:solidFill>
              </a:rPr>
              <a:t>&gt;</a:t>
            </a:r>
            <a:r>
              <a:rPr lang="en-US" sz="2200">
                <a:solidFill>
                  <a:srgbClr val="0000FF"/>
                </a:solidFill>
              </a:rPr>
              <a:t>[:</a:t>
            </a:r>
            <a:r>
              <a:rPr lang="en-US" sz="2200" dirty="0">
                <a:solidFill>
                  <a:srgbClr val="0000FF"/>
                </a:solidFill>
              </a:rPr>
              <a:t>Giao </a:t>
            </a:r>
            <a:r>
              <a:rPr lang="en-US" sz="2200" dirty="0" err="1">
                <a:solidFill>
                  <a:srgbClr val="0000FF"/>
                </a:solidFill>
              </a:rPr>
              <a:t>diện</a:t>
            </a:r>
            <a:r>
              <a:rPr lang="en-US" sz="2200" dirty="0">
                <a:solidFill>
                  <a:srgbClr val="0000FF"/>
                </a:solidFill>
              </a:rPr>
              <a:t> </a:t>
            </a:r>
            <a:r>
              <a:rPr lang="en-US" sz="2200" dirty="0" err="1">
                <a:solidFill>
                  <a:srgbClr val="0000FF"/>
                </a:solidFill>
              </a:rPr>
              <a:t>cơ</a:t>
            </a:r>
            <a:r>
              <a:rPr lang="en-US" sz="2200" dirty="0">
                <a:solidFill>
                  <a:srgbClr val="0000FF"/>
                </a:solidFill>
              </a:rPr>
              <a:t> </a:t>
            </a:r>
            <a:r>
              <a:rPr lang="en-US" sz="2200" dirty="0" err="1">
                <a:solidFill>
                  <a:srgbClr val="0000FF"/>
                </a:solidFill>
              </a:rPr>
              <a:t>sở</a:t>
            </a:r>
            <a:r>
              <a:rPr lang="en-US" sz="2200" dirty="0">
                <a:solidFill>
                  <a:srgbClr val="0000FF"/>
                </a:solidFill>
              </a:rPr>
              <a:t>]</a:t>
            </a:r>
          </a:p>
          <a:p>
            <a:pPr marL="471487" lvl="1" indent="0">
              <a:buNone/>
            </a:pPr>
            <a:r>
              <a:rPr lang="en-US" sz="2000" dirty="0"/>
              <a:t>{</a:t>
            </a:r>
          </a:p>
          <a:p>
            <a:pPr marL="471487" lvl="1" indent="0">
              <a:buNone/>
            </a:pPr>
            <a:r>
              <a:rPr lang="en-US" sz="2000" dirty="0"/>
              <a:t>	</a:t>
            </a:r>
            <a:r>
              <a:rPr lang="en-US" sz="2000" dirty="0" err="1"/>
              <a:t>Nội</a:t>
            </a:r>
            <a:r>
              <a:rPr lang="en-US" sz="2000" dirty="0"/>
              <a:t> dung</a:t>
            </a:r>
          </a:p>
          <a:p>
            <a:pPr marL="471487" lvl="1" indent="0">
              <a:buNone/>
            </a:pPr>
            <a:r>
              <a:rPr lang="en-US" sz="2000" dirty="0"/>
              <a:t>}</a:t>
            </a:r>
          </a:p>
          <a:p>
            <a:pPr marL="471487" lvl="1" indent="0">
              <a:buNone/>
            </a:pPr>
            <a:r>
              <a:rPr lang="en-US" sz="2000" dirty="0"/>
              <a:t>[Giao </a:t>
            </a:r>
            <a:r>
              <a:rPr lang="en-US" sz="2000" dirty="0" err="1"/>
              <a:t>diện</a:t>
            </a:r>
            <a:r>
              <a:rPr lang="en-US" sz="2000" dirty="0"/>
              <a:t> </a:t>
            </a:r>
            <a:r>
              <a:rPr lang="en-US" sz="2000" dirty="0" err="1"/>
              <a:t>cơ</a:t>
            </a:r>
            <a:r>
              <a:rPr lang="en-US" sz="2000" dirty="0"/>
              <a:t> </a:t>
            </a:r>
            <a:r>
              <a:rPr lang="en-US" sz="2000" dirty="0" err="1"/>
              <a:t>sở</a:t>
            </a:r>
            <a:r>
              <a:rPr lang="en-US" sz="2000" dirty="0"/>
              <a:t>] : interface </a:t>
            </a:r>
            <a:r>
              <a:rPr lang="en-US" sz="2000" dirty="0" err="1"/>
              <a:t>khác</a:t>
            </a:r>
            <a:r>
              <a:rPr lang="en-US" sz="2000" dirty="0"/>
              <a:t> </a:t>
            </a:r>
            <a:r>
              <a:rPr lang="en-US" sz="2000" dirty="0" err="1"/>
              <a:t>mà</a:t>
            </a:r>
            <a:r>
              <a:rPr lang="en-US" sz="2000" dirty="0"/>
              <a:t> </a:t>
            </a:r>
            <a:r>
              <a:rPr lang="en-US" sz="2000" dirty="0" err="1"/>
              <a:t>nó</a:t>
            </a:r>
            <a:r>
              <a:rPr lang="en-US" sz="2000" dirty="0"/>
              <a:t> </a:t>
            </a:r>
            <a:r>
              <a:rPr lang="en-US" sz="2000" dirty="0" err="1"/>
              <a:t>kế</a:t>
            </a:r>
            <a:r>
              <a:rPr lang="en-US" sz="2000" dirty="0"/>
              <a:t> </a:t>
            </a:r>
            <a:r>
              <a:rPr lang="en-US" sz="2000" dirty="0" err="1"/>
              <a:t>thừa</a:t>
            </a:r>
            <a:endParaRPr lang="en-US" sz="2000" dirty="0"/>
          </a:p>
          <a:p>
            <a:pPr marL="471487" lvl="1" indent="0">
              <a:buNone/>
            </a:pPr>
            <a:r>
              <a:rPr lang="en-US" sz="2000" dirty="0" err="1"/>
              <a:t>Tên</a:t>
            </a:r>
            <a:r>
              <a:rPr lang="en-US" sz="2000" dirty="0"/>
              <a:t> </a:t>
            </a:r>
            <a:r>
              <a:rPr lang="en-US" sz="2000" dirty="0" err="1"/>
              <a:t>giao</a:t>
            </a:r>
            <a:r>
              <a:rPr lang="en-US" sz="2000" dirty="0"/>
              <a:t> </a:t>
            </a:r>
            <a:r>
              <a:rPr lang="en-US" sz="2000" dirty="0" err="1"/>
              <a:t>diện</a:t>
            </a:r>
            <a:r>
              <a:rPr lang="en-US" sz="2000" dirty="0"/>
              <a:t> </a:t>
            </a:r>
            <a:r>
              <a:rPr lang="en-US" sz="2000" dirty="0" err="1"/>
              <a:t>bắt</a:t>
            </a:r>
            <a:r>
              <a:rPr lang="en-US" sz="2000" dirty="0"/>
              <a:t> </a:t>
            </a:r>
            <a:r>
              <a:rPr lang="en-US" sz="2000" dirty="0" err="1"/>
              <a:t>đầu</a:t>
            </a:r>
            <a:r>
              <a:rPr lang="en-US" sz="2000" dirty="0"/>
              <a:t> </a:t>
            </a:r>
            <a:r>
              <a:rPr lang="en-US" sz="2000" dirty="0" err="1"/>
              <a:t>bằng</a:t>
            </a:r>
            <a:r>
              <a:rPr lang="en-US" sz="2000" dirty="0"/>
              <a:t> </a:t>
            </a:r>
            <a:r>
              <a:rPr lang="en-US" sz="2000" dirty="0" err="1"/>
              <a:t>chữ</a:t>
            </a:r>
            <a:r>
              <a:rPr lang="en-US" sz="2000" dirty="0"/>
              <a:t> </a:t>
            </a:r>
            <a:r>
              <a:rPr lang="en-US" sz="2000" dirty="0">
                <a:solidFill>
                  <a:srgbClr val="FF0000"/>
                </a:solidFill>
                <a:latin typeface="Courier New" pitchFamily="49" charset="0"/>
                <a:cs typeface="Courier New" pitchFamily="49" charset="0"/>
              </a:rPr>
              <a:t>I</a:t>
            </a:r>
          </a:p>
          <a:p>
            <a:r>
              <a:rPr lang="en-US" dirty="0" err="1"/>
              <a:t>Chú</a:t>
            </a:r>
            <a:r>
              <a:rPr lang="en-US" dirty="0"/>
              <a:t> ý</a:t>
            </a:r>
          </a:p>
          <a:p>
            <a:pPr lvl="1"/>
            <a:r>
              <a:rPr lang="en-US" dirty="0" err="1"/>
              <a:t>Các</a:t>
            </a:r>
            <a:r>
              <a:rPr lang="en-US" dirty="0"/>
              <a:t> </a:t>
            </a:r>
            <a:r>
              <a:rPr lang="en-US" dirty="0" err="1"/>
              <a:t>thành</a:t>
            </a:r>
            <a:r>
              <a:rPr lang="en-US" dirty="0"/>
              <a:t> </a:t>
            </a:r>
            <a:r>
              <a:rPr lang="en-US" dirty="0" err="1"/>
              <a:t>phần</a:t>
            </a:r>
            <a:r>
              <a:rPr lang="en-US" dirty="0"/>
              <a:t> </a:t>
            </a:r>
            <a:r>
              <a:rPr lang="en-US" dirty="0" err="1"/>
              <a:t>trong</a:t>
            </a:r>
            <a:r>
              <a:rPr lang="en-US" dirty="0"/>
              <a:t> </a:t>
            </a:r>
            <a:r>
              <a:rPr lang="en-US" dirty="0" err="1"/>
              <a:t>giao</a:t>
            </a:r>
            <a:r>
              <a:rPr lang="en-US" dirty="0"/>
              <a:t> </a:t>
            </a:r>
            <a:r>
              <a:rPr lang="en-US" dirty="0" err="1"/>
              <a:t>diện</a:t>
            </a:r>
            <a:r>
              <a:rPr lang="en-US" dirty="0"/>
              <a:t> </a:t>
            </a:r>
            <a:r>
              <a:rPr lang="en-US" dirty="0" err="1"/>
              <a:t>mặc</a:t>
            </a:r>
            <a:r>
              <a:rPr lang="en-US" dirty="0"/>
              <a:t> </a:t>
            </a:r>
            <a:r>
              <a:rPr lang="en-US" dirty="0" err="1"/>
              <a:t>định</a:t>
            </a:r>
            <a:r>
              <a:rPr lang="en-US" dirty="0"/>
              <a:t> </a:t>
            </a:r>
            <a:r>
              <a:rPr lang="en-US" dirty="0" err="1"/>
              <a:t>đều</a:t>
            </a:r>
            <a:r>
              <a:rPr lang="en-US" dirty="0"/>
              <a:t> là public</a:t>
            </a:r>
          </a:p>
          <a:p>
            <a:pPr lvl="1"/>
            <a:r>
              <a:rPr lang="en-US" dirty="0" err="1"/>
              <a:t>Mỗi</a:t>
            </a:r>
            <a:r>
              <a:rPr lang="en-US" dirty="0"/>
              <a:t> </a:t>
            </a:r>
            <a:r>
              <a:rPr lang="en-US" dirty="0" err="1"/>
              <a:t>lớp</a:t>
            </a:r>
            <a:r>
              <a:rPr lang="en-US" dirty="0"/>
              <a:t> </a:t>
            </a:r>
            <a:r>
              <a:rPr lang="en-US" dirty="0" err="1"/>
              <a:t>có</a:t>
            </a:r>
            <a:r>
              <a:rPr lang="en-US" dirty="0"/>
              <a:t> </a:t>
            </a:r>
            <a:r>
              <a:rPr lang="en-US" dirty="0" err="1"/>
              <a:t>thể</a:t>
            </a:r>
            <a:r>
              <a:rPr lang="en-US" dirty="0"/>
              <a:t> </a:t>
            </a:r>
            <a:r>
              <a:rPr lang="en-US" dirty="0" err="1"/>
              <a:t>kế</a:t>
            </a:r>
            <a:r>
              <a:rPr lang="en-US" dirty="0"/>
              <a:t> </a:t>
            </a:r>
            <a:r>
              <a:rPr lang="en-US" dirty="0" err="1"/>
              <a:t>thừa</a:t>
            </a:r>
            <a:r>
              <a:rPr lang="en-US" dirty="0"/>
              <a:t> </a:t>
            </a:r>
            <a:r>
              <a:rPr lang="en-US" dirty="0" err="1"/>
              <a:t>một</a:t>
            </a:r>
            <a:r>
              <a:rPr lang="en-US" dirty="0"/>
              <a:t> </a:t>
            </a:r>
            <a:r>
              <a:rPr lang="en-US" dirty="0" err="1"/>
              <a:t>lớp</a:t>
            </a:r>
            <a:r>
              <a:rPr lang="en-US" dirty="0"/>
              <a:t> </a:t>
            </a:r>
            <a:r>
              <a:rPr lang="en-US" dirty="0" err="1"/>
              <a:t>khác</a:t>
            </a:r>
            <a:r>
              <a:rPr lang="en-US" dirty="0"/>
              <a:t> </a:t>
            </a:r>
            <a:r>
              <a:rPr lang="en-US" dirty="0" err="1"/>
              <a:t>đồng</a:t>
            </a:r>
            <a:r>
              <a:rPr lang="en-US" dirty="0"/>
              <a:t> </a:t>
            </a:r>
            <a:r>
              <a:rPr lang="en-US" dirty="0" err="1"/>
              <a:t>thời</a:t>
            </a:r>
            <a:r>
              <a:rPr lang="en-US" dirty="0"/>
              <a:t> </a:t>
            </a:r>
            <a:r>
              <a:rPr lang="en-US" dirty="0" err="1"/>
              <a:t>kế</a:t>
            </a:r>
            <a:r>
              <a:rPr lang="en-US" dirty="0"/>
              <a:t> </a:t>
            </a:r>
            <a:r>
              <a:rPr lang="en-US" dirty="0" err="1"/>
              <a:t>thừa</a:t>
            </a:r>
            <a:r>
              <a:rPr lang="en-US" dirty="0"/>
              <a:t> </a:t>
            </a:r>
            <a:r>
              <a:rPr lang="en-US" dirty="0" err="1"/>
              <a:t>nhiều</a:t>
            </a:r>
            <a:r>
              <a:rPr lang="en-US" dirty="0"/>
              <a:t> </a:t>
            </a:r>
            <a:r>
              <a:rPr lang="en-US" dirty="0" err="1"/>
              <a:t>giao</a:t>
            </a:r>
            <a:r>
              <a:rPr lang="en-US" dirty="0"/>
              <a:t> </a:t>
            </a:r>
            <a:r>
              <a:rPr lang="en-US" dirty="0" err="1"/>
              <a:t>diện</a:t>
            </a:r>
            <a:endParaRPr lang="en-US" dirty="0"/>
          </a:p>
          <a:p>
            <a:pPr marL="471487" lvl="1" indent="0">
              <a:buNone/>
            </a:pPr>
            <a:endParaRPr lang="en-US" dirty="0"/>
          </a:p>
        </p:txBody>
      </p:sp>
      <p:sp>
        <p:nvSpPr>
          <p:cNvPr id="7" name="Date Placeholder 6"/>
          <p:cNvSpPr>
            <a:spLocks noGrp="1"/>
          </p:cNvSpPr>
          <p:nvPr>
            <p:ph type="dt" sz="half" idx="10"/>
          </p:nvPr>
        </p:nvSpPr>
        <p:spPr/>
        <p:txBody>
          <a:bodyPr/>
          <a:lstStyle/>
          <a:p>
            <a:fld id="{87D50936-9964-49E1-BAFE-F7CCCB224578}" type="datetime1">
              <a:rPr lang="vi-VN" smtClean="0"/>
              <a:t>04/02/2025</a:t>
            </a:fld>
            <a:endParaRPr lang="vi-VN"/>
          </a:p>
        </p:txBody>
      </p:sp>
      <p:sp>
        <p:nvSpPr>
          <p:cNvPr id="8" name="Footer Placeholder 7"/>
          <p:cNvSpPr>
            <a:spLocks noGrp="1"/>
          </p:cNvSpPr>
          <p:nvPr>
            <p:ph type="ftr" sz="quarter" idx="11"/>
          </p:nvPr>
        </p:nvSpPr>
        <p:spPr/>
        <p:txBody>
          <a:bodyPr/>
          <a:lstStyle/>
          <a:p>
            <a:r>
              <a:rPr lang="vi-VN"/>
              <a:t>Chương 3 - Lập trình hướng đối tượng trong C#</a:t>
            </a:r>
          </a:p>
        </p:txBody>
      </p:sp>
      <p:sp>
        <p:nvSpPr>
          <p:cNvPr id="9" name="Slide Number Placeholder 8"/>
          <p:cNvSpPr>
            <a:spLocks noGrp="1"/>
          </p:cNvSpPr>
          <p:nvPr>
            <p:ph type="sldNum" sz="quarter" idx="12"/>
          </p:nvPr>
        </p:nvSpPr>
        <p:spPr/>
        <p:txBody>
          <a:bodyPr/>
          <a:lstStyle/>
          <a:p>
            <a:fld id="{5AB95402-1E0D-474E-8D8C-CBE7F053639E}" type="slidenum">
              <a:rPr lang="vi-VN" smtClean="0"/>
              <a:pPr/>
              <a:t>84</a:t>
            </a:fld>
            <a:r>
              <a:rPr lang="vi-VN"/>
              <a:t>/28</a:t>
            </a:r>
          </a:p>
        </p:txBody>
      </p:sp>
    </p:spTree>
    <p:extLst>
      <p:ext uri="{BB962C8B-B14F-4D97-AF65-F5344CB8AC3E}">
        <p14:creationId xmlns:p14="http://schemas.microsoft.com/office/powerpoint/2010/main" val="812458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5E348-68E1-45B1-9F0C-E27505A11681}"/>
              </a:ext>
            </a:extLst>
          </p:cNvPr>
          <p:cNvSpPr>
            <a:spLocks noGrp="1"/>
          </p:cNvSpPr>
          <p:nvPr>
            <p:ph type="title"/>
          </p:nvPr>
        </p:nvSpPr>
        <p:spPr/>
        <p:txBody>
          <a:bodyPr/>
          <a:lstStyle/>
          <a:p>
            <a:r>
              <a:rPr lang="en-US"/>
              <a:t>Giao diện (interface)</a:t>
            </a:r>
            <a:endParaRPr lang="en-US" dirty="0"/>
          </a:p>
        </p:txBody>
      </p:sp>
      <p:sp>
        <p:nvSpPr>
          <p:cNvPr id="3" name="Content Placeholder 2">
            <a:extLst>
              <a:ext uri="{FF2B5EF4-FFF2-40B4-BE49-F238E27FC236}">
                <a16:creationId xmlns:a16="http://schemas.microsoft.com/office/drawing/2014/main" id="{41137611-742F-4391-A487-E1F800E3926A}"/>
              </a:ext>
            </a:extLst>
          </p:cNvPr>
          <p:cNvSpPr>
            <a:spLocks noGrp="1"/>
          </p:cNvSpPr>
          <p:nvPr>
            <p:ph idx="1"/>
          </p:nvPr>
        </p:nvSpPr>
        <p:spPr/>
        <p:txBody>
          <a:bodyPr/>
          <a:lstStyle/>
          <a:p>
            <a:pPr marL="0" indent="0" algn="l">
              <a:buNone/>
            </a:pPr>
            <a:r>
              <a:rPr lang="vi-VN" sz="2000" b="1" i="0" dirty="0">
                <a:solidFill>
                  <a:srgbClr val="000000"/>
                </a:solidFill>
                <a:effectLst/>
                <a:latin typeface="inherit"/>
              </a:rPr>
              <a:t>Ví dụ</a:t>
            </a:r>
            <a:r>
              <a:rPr lang="vi-VN" sz="2000" b="0" i="0" dirty="0">
                <a:solidFill>
                  <a:srgbClr val="000000"/>
                </a:solidFill>
                <a:effectLst/>
                <a:latin typeface="arial" panose="020B0604020202020204" pitchFamily="34" charset="0"/>
              </a:rPr>
              <a:t>: Lớp ếch kế thừa 2 </a:t>
            </a:r>
            <a:r>
              <a:rPr lang="vi-VN" sz="2000" b="1" i="0" dirty="0">
                <a:solidFill>
                  <a:srgbClr val="000000"/>
                </a:solidFill>
                <a:effectLst/>
                <a:latin typeface="inherit"/>
              </a:rPr>
              <a:t>interface</a:t>
            </a:r>
            <a:r>
              <a:rPr lang="vi-VN" sz="2000" b="0" i="0" dirty="0">
                <a:solidFill>
                  <a:srgbClr val="000000"/>
                </a:solidFill>
                <a:effectLst/>
                <a:latin typeface="arial" panose="020B0604020202020204" pitchFamily="34" charset="0"/>
              </a:rPr>
              <a:t> là động vật trên cạn và động vật dưới nước.</a:t>
            </a:r>
            <a:br>
              <a:rPr lang="vi-VN" sz="2000" dirty="0"/>
            </a:br>
            <a:endParaRPr lang="en-US" sz="2000" dirty="0"/>
          </a:p>
        </p:txBody>
      </p:sp>
      <p:sp>
        <p:nvSpPr>
          <p:cNvPr id="4" name="Date Placeholder 3">
            <a:extLst>
              <a:ext uri="{FF2B5EF4-FFF2-40B4-BE49-F238E27FC236}">
                <a16:creationId xmlns:a16="http://schemas.microsoft.com/office/drawing/2014/main" id="{2B51D6A9-9E84-4876-89FF-E6F6DCFD7DB4}"/>
              </a:ext>
            </a:extLst>
          </p:cNvPr>
          <p:cNvSpPr>
            <a:spLocks noGrp="1"/>
          </p:cNvSpPr>
          <p:nvPr>
            <p:ph type="dt" sz="half" idx="10"/>
          </p:nvPr>
        </p:nvSpPr>
        <p:spPr/>
        <p:txBody>
          <a:bodyPr/>
          <a:lstStyle/>
          <a:p>
            <a:fld id="{B88E2A3D-1029-49D6-A4F5-3296B04E5FA7}" type="datetime1">
              <a:rPr lang="vi-VN" smtClean="0"/>
              <a:t>04/02/2025</a:t>
            </a:fld>
            <a:endParaRPr lang="vi-VN"/>
          </a:p>
        </p:txBody>
      </p:sp>
      <p:sp>
        <p:nvSpPr>
          <p:cNvPr id="5" name="Footer Placeholder 4">
            <a:extLst>
              <a:ext uri="{FF2B5EF4-FFF2-40B4-BE49-F238E27FC236}">
                <a16:creationId xmlns:a16="http://schemas.microsoft.com/office/drawing/2014/main" id="{7614D094-8C6D-43CB-BE95-FC6E7D0503E5}"/>
              </a:ext>
            </a:extLst>
          </p:cNvPr>
          <p:cNvSpPr>
            <a:spLocks noGrp="1"/>
          </p:cNvSpPr>
          <p:nvPr>
            <p:ph type="ftr" sz="quarter" idx="11"/>
          </p:nvPr>
        </p:nvSpPr>
        <p:spPr/>
        <p:txBody>
          <a:bodyPr/>
          <a:lstStyle/>
          <a:p>
            <a:r>
              <a:rPr lang="vi-VN"/>
              <a:t>Chương 3 - Lập trình hướng đối tượng trong C#</a:t>
            </a:r>
          </a:p>
        </p:txBody>
      </p:sp>
      <p:sp>
        <p:nvSpPr>
          <p:cNvPr id="6" name="Slide Number Placeholder 5">
            <a:extLst>
              <a:ext uri="{FF2B5EF4-FFF2-40B4-BE49-F238E27FC236}">
                <a16:creationId xmlns:a16="http://schemas.microsoft.com/office/drawing/2014/main" id="{44225CCA-6D89-43BE-A62E-6F2804889AF1}"/>
              </a:ext>
            </a:extLst>
          </p:cNvPr>
          <p:cNvSpPr>
            <a:spLocks noGrp="1"/>
          </p:cNvSpPr>
          <p:nvPr>
            <p:ph type="sldNum" sz="quarter" idx="12"/>
          </p:nvPr>
        </p:nvSpPr>
        <p:spPr/>
        <p:txBody>
          <a:bodyPr/>
          <a:lstStyle/>
          <a:p>
            <a:fld id="{5AB95402-1E0D-474E-8D8C-CBE7F053639E}" type="slidenum">
              <a:rPr lang="vi-VN" smtClean="0"/>
              <a:pPr/>
              <a:t>85</a:t>
            </a:fld>
            <a:r>
              <a:rPr lang="vi-VN"/>
              <a:t>/30</a:t>
            </a:r>
          </a:p>
        </p:txBody>
      </p:sp>
      <p:graphicFrame>
        <p:nvGraphicFramePr>
          <p:cNvPr id="8" name="Object 7">
            <a:extLst>
              <a:ext uri="{FF2B5EF4-FFF2-40B4-BE49-F238E27FC236}">
                <a16:creationId xmlns:a16="http://schemas.microsoft.com/office/drawing/2014/main" id="{07B079B5-FBF1-45A2-B1D2-0919F579FFD5}"/>
              </a:ext>
            </a:extLst>
          </p:cNvPr>
          <p:cNvGraphicFramePr>
            <a:graphicFrameLocks noChangeAspect="1"/>
          </p:cNvGraphicFramePr>
          <p:nvPr/>
        </p:nvGraphicFramePr>
        <p:xfrm>
          <a:off x="228600" y="2204864"/>
          <a:ext cx="4961279" cy="4254996"/>
        </p:xfrm>
        <a:graphic>
          <a:graphicData uri="http://schemas.openxmlformats.org/presentationml/2006/ole">
            <mc:AlternateContent xmlns:mc="http://schemas.openxmlformats.org/markup-compatibility/2006">
              <mc:Choice xmlns:v="urn:schemas-microsoft-com:vml" Requires="v">
                <p:oleObj name="Bitmap Image" r:id="rId3" imgW="5463720" imgH="4686480" progId="Paint.Picture">
                  <p:embed/>
                </p:oleObj>
              </mc:Choice>
              <mc:Fallback>
                <p:oleObj name="Bitmap Image" r:id="rId3" imgW="5463720" imgH="4686480" progId="Paint.Picture">
                  <p:embed/>
                  <p:pic>
                    <p:nvPicPr>
                      <p:cNvPr id="8" name="Object 7">
                        <a:extLst>
                          <a:ext uri="{FF2B5EF4-FFF2-40B4-BE49-F238E27FC236}">
                            <a16:creationId xmlns:a16="http://schemas.microsoft.com/office/drawing/2014/main" id="{07B079B5-FBF1-45A2-B1D2-0919F579FFD5}"/>
                          </a:ext>
                        </a:extLst>
                      </p:cNvPr>
                      <p:cNvPicPr/>
                      <p:nvPr/>
                    </p:nvPicPr>
                    <p:blipFill>
                      <a:blip r:embed="rId4"/>
                      <a:stretch>
                        <a:fillRect/>
                      </a:stretch>
                    </p:blipFill>
                    <p:spPr>
                      <a:xfrm>
                        <a:off x="228600" y="2204864"/>
                        <a:ext cx="4961279" cy="4254996"/>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9D50F48C-8ED5-4053-8B3E-573854A5894B}"/>
              </a:ext>
            </a:extLst>
          </p:cNvPr>
          <p:cNvPicPr>
            <a:picLocks noChangeAspect="1"/>
          </p:cNvPicPr>
          <p:nvPr/>
        </p:nvPicPr>
        <p:blipFill>
          <a:blip r:embed="rId5"/>
          <a:stretch>
            <a:fillRect/>
          </a:stretch>
        </p:blipFill>
        <p:spPr>
          <a:xfrm>
            <a:off x="5189879" y="2636912"/>
            <a:ext cx="3977995" cy="3078088"/>
          </a:xfrm>
          <a:prstGeom prst="rect">
            <a:avLst/>
          </a:prstGeom>
        </p:spPr>
      </p:pic>
    </p:spTree>
    <p:extLst>
      <p:ext uri="{BB962C8B-B14F-4D97-AF65-F5344CB8AC3E}">
        <p14:creationId xmlns:p14="http://schemas.microsoft.com/office/powerpoint/2010/main" val="239064266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Ví dụ Giao diện</a:t>
            </a:r>
          </a:p>
        </p:txBody>
      </p:sp>
      <p:sp>
        <p:nvSpPr>
          <p:cNvPr id="3" name="Content Placeholder 2"/>
          <p:cNvSpPr>
            <a:spLocks noGrp="1"/>
          </p:cNvSpPr>
          <p:nvPr>
            <p:ph idx="1"/>
          </p:nvPr>
        </p:nvSpPr>
        <p:spPr/>
        <p:txBody>
          <a:bodyPr/>
          <a:lstStyle/>
          <a:p>
            <a:r>
              <a:rPr lang="en-US" sz="2400">
                <a:solidFill>
                  <a:srgbClr val="0000FF"/>
                </a:solidFill>
                <a:latin typeface="+mj-lt"/>
                <a:cs typeface="Courier New" pitchFamily="49" charset="0"/>
              </a:rPr>
              <a:t>Xây dựng giao diện Inguoi gồm các phương thức Nhập, Xuất, thuộc tính Tuoi</a:t>
            </a:r>
          </a:p>
          <a:p>
            <a:pPr marL="0" indent="0">
              <a:buNone/>
            </a:pPr>
            <a:r>
              <a:rPr lang="en-US" sz="2000">
                <a:solidFill>
                  <a:srgbClr val="00B050"/>
                </a:solidFill>
                <a:latin typeface="Courier New" pitchFamily="49" charset="0"/>
                <a:cs typeface="Courier New" pitchFamily="49" charset="0"/>
              </a:rPr>
              <a:t>//Giao diện Inguoi</a:t>
            </a:r>
          </a:p>
          <a:p>
            <a:pPr marL="0" indent="0">
              <a:buNone/>
            </a:pPr>
            <a:r>
              <a:rPr lang="en-US" sz="2000">
                <a:latin typeface="Courier New" pitchFamily="49" charset="0"/>
                <a:cs typeface="Courier New" pitchFamily="49" charset="0"/>
              </a:rPr>
              <a:t>public </a:t>
            </a:r>
            <a:r>
              <a:rPr lang="en-US" sz="2000">
                <a:solidFill>
                  <a:srgbClr val="0000FF"/>
                </a:solidFill>
                <a:latin typeface="Courier New" pitchFamily="49" charset="0"/>
                <a:cs typeface="Courier New" pitchFamily="49" charset="0"/>
              </a:rPr>
              <a:t>interface</a:t>
            </a:r>
            <a:r>
              <a:rPr lang="en-US" sz="2000">
                <a:latin typeface="Courier New" pitchFamily="49" charset="0"/>
                <a:cs typeface="Courier New" pitchFamily="49" charset="0"/>
              </a:rPr>
              <a:t> INguoi</a:t>
            </a:r>
          </a:p>
          <a:p>
            <a:pPr marL="0" indent="0">
              <a:buNone/>
            </a:pPr>
            <a:r>
              <a:rPr lang="en-US" sz="2000">
                <a:latin typeface="Courier New" pitchFamily="49" charset="0"/>
                <a:cs typeface="Courier New" pitchFamily="49" charset="0"/>
              </a:rPr>
              <a:t>    {</a:t>
            </a:r>
          </a:p>
          <a:p>
            <a:pPr marL="0" indent="0">
              <a:buNone/>
            </a:pPr>
            <a:r>
              <a:rPr lang="en-US" sz="2000">
                <a:latin typeface="Courier New" pitchFamily="49" charset="0"/>
                <a:cs typeface="Courier New" pitchFamily="49" charset="0"/>
              </a:rPr>
              <a:t>        void Nhap();</a:t>
            </a:r>
          </a:p>
          <a:p>
            <a:pPr marL="0" indent="0">
              <a:buNone/>
            </a:pPr>
            <a:r>
              <a:rPr lang="en-US" sz="2000">
                <a:latin typeface="Courier New" pitchFamily="49" charset="0"/>
                <a:cs typeface="Courier New" pitchFamily="49" charset="0"/>
              </a:rPr>
              <a:t>        void Xuat();</a:t>
            </a:r>
          </a:p>
          <a:p>
            <a:pPr marL="0" indent="0">
              <a:buNone/>
            </a:pPr>
            <a:r>
              <a:rPr lang="en-US" sz="2000">
                <a:latin typeface="Courier New" pitchFamily="49" charset="0"/>
                <a:cs typeface="Courier New" pitchFamily="49" charset="0"/>
              </a:rPr>
              <a:t>        int Tuoi</a:t>
            </a:r>
          </a:p>
          <a:p>
            <a:pPr marL="0" indent="0">
              <a:buNone/>
            </a:pPr>
            <a:r>
              <a:rPr lang="en-US" sz="2000">
                <a:latin typeface="Courier New" pitchFamily="49" charset="0"/>
                <a:cs typeface="Courier New" pitchFamily="49" charset="0"/>
              </a:rPr>
              <a:t>        {</a:t>
            </a:r>
          </a:p>
          <a:p>
            <a:pPr marL="0" indent="0">
              <a:buNone/>
            </a:pPr>
            <a:r>
              <a:rPr lang="en-US" sz="2000">
                <a:latin typeface="Courier New" pitchFamily="49" charset="0"/>
                <a:cs typeface="Courier New" pitchFamily="49" charset="0"/>
              </a:rPr>
              <a:t>            get;</a:t>
            </a:r>
          </a:p>
          <a:p>
            <a:pPr marL="0" indent="0">
              <a:buNone/>
            </a:pPr>
            <a:r>
              <a:rPr lang="en-US" sz="2000">
                <a:latin typeface="Courier New" pitchFamily="49" charset="0"/>
                <a:cs typeface="Courier New" pitchFamily="49" charset="0"/>
              </a:rPr>
              <a:t>        }</a:t>
            </a:r>
          </a:p>
          <a:p>
            <a:pPr marL="0" indent="0">
              <a:buNone/>
            </a:pPr>
            <a:r>
              <a:rPr lang="en-US" sz="2000">
                <a:latin typeface="Courier New" pitchFamily="49" charset="0"/>
                <a:cs typeface="Courier New" pitchFamily="49" charset="0"/>
              </a:rPr>
              <a:t>    }</a:t>
            </a:r>
          </a:p>
          <a:p>
            <a:pPr marL="0" indent="0">
              <a:buNone/>
            </a:pPr>
            <a:endParaRPr lang="en-US" sz="2000">
              <a:latin typeface="Courier New" pitchFamily="49" charset="0"/>
              <a:cs typeface="Courier New" pitchFamily="49" charset="0"/>
            </a:endParaRPr>
          </a:p>
        </p:txBody>
      </p:sp>
      <p:sp>
        <p:nvSpPr>
          <p:cNvPr id="7" name="Date Placeholder 6"/>
          <p:cNvSpPr>
            <a:spLocks noGrp="1"/>
          </p:cNvSpPr>
          <p:nvPr>
            <p:ph type="dt" sz="half" idx="10"/>
          </p:nvPr>
        </p:nvSpPr>
        <p:spPr/>
        <p:txBody>
          <a:bodyPr/>
          <a:lstStyle/>
          <a:p>
            <a:fld id="{388F0B44-C6DC-4816-8EF6-8ECBC3505B1E}" type="datetime1">
              <a:rPr lang="vi-VN" smtClean="0"/>
              <a:t>04/02/2025</a:t>
            </a:fld>
            <a:endParaRPr lang="vi-VN"/>
          </a:p>
        </p:txBody>
      </p:sp>
      <p:sp>
        <p:nvSpPr>
          <p:cNvPr id="8" name="Footer Placeholder 7"/>
          <p:cNvSpPr>
            <a:spLocks noGrp="1"/>
          </p:cNvSpPr>
          <p:nvPr>
            <p:ph type="ftr" sz="quarter" idx="11"/>
          </p:nvPr>
        </p:nvSpPr>
        <p:spPr/>
        <p:txBody>
          <a:bodyPr/>
          <a:lstStyle/>
          <a:p>
            <a:r>
              <a:rPr lang="vi-VN"/>
              <a:t>Chương 3 - Lập trình hướng đối tượng trong C#</a:t>
            </a:r>
          </a:p>
        </p:txBody>
      </p:sp>
      <p:sp>
        <p:nvSpPr>
          <p:cNvPr id="9" name="Slide Number Placeholder 8"/>
          <p:cNvSpPr>
            <a:spLocks noGrp="1"/>
          </p:cNvSpPr>
          <p:nvPr>
            <p:ph type="sldNum" sz="quarter" idx="12"/>
          </p:nvPr>
        </p:nvSpPr>
        <p:spPr/>
        <p:txBody>
          <a:bodyPr/>
          <a:lstStyle/>
          <a:p>
            <a:fld id="{5AB95402-1E0D-474E-8D8C-CBE7F053639E}" type="slidenum">
              <a:rPr lang="vi-VN" smtClean="0"/>
              <a:pPr/>
              <a:t>86</a:t>
            </a:fld>
            <a:r>
              <a:rPr lang="vi-VN"/>
              <a:t>/28</a:t>
            </a:r>
          </a:p>
        </p:txBody>
      </p:sp>
    </p:spTree>
    <p:extLst>
      <p:ext uri="{BB962C8B-B14F-4D97-AF65-F5344CB8AC3E}">
        <p14:creationId xmlns:p14="http://schemas.microsoft.com/office/powerpoint/2010/main" val="85180849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Ví dụ Giao diện</a:t>
            </a:r>
          </a:p>
        </p:txBody>
      </p:sp>
      <p:sp>
        <p:nvSpPr>
          <p:cNvPr id="3" name="Content Placeholder 2"/>
          <p:cNvSpPr>
            <a:spLocks noGrp="1"/>
          </p:cNvSpPr>
          <p:nvPr>
            <p:ph idx="1"/>
          </p:nvPr>
        </p:nvSpPr>
        <p:spPr/>
        <p:txBody>
          <a:bodyPr/>
          <a:lstStyle/>
          <a:p>
            <a:pPr marL="0" indent="0">
              <a:buNone/>
            </a:pPr>
            <a:r>
              <a:rPr lang="en-US" sz="1600">
                <a:solidFill>
                  <a:srgbClr val="00B050"/>
                </a:solidFill>
                <a:latin typeface="Courier New" pitchFamily="49" charset="0"/>
                <a:cs typeface="Courier New" pitchFamily="49" charset="0"/>
              </a:rPr>
              <a:t>//Lớp SinhVien thực thi giao diện INguoi</a:t>
            </a:r>
          </a:p>
          <a:p>
            <a:pPr marL="0" indent="0">
              <a:buNone/>
            </a:pPr>
            <a:r>
              <a:rPr lang="en-US" sz="1400">
                <a:solidFill>
                  <a:srgbClr val="0000FF"/>
                </a:solidFill>
                <a:latin typeface="Courier New" pitchFamily="49" charset="0"/>
                <a:cs typeface="Courier New" pitchFamily="49" charset="0"/>
              </a:rPr>
              <a:t>public class SinhVien : INguoi</a:t>
            </a:r>
          </a:p>
          <a:p>
            <a:pPr marL="0" indent="0">
              <a:buNone/>
            </a:pPr>
            <a:r>
              <a:rPr lang="en-US" sz="1400">
                <a:latin typeface="Courier New" pitchFamily="49" charset="0"/>
                <a:cs typeface="Courier New" pitchFamily="49" charset="0"/>
              </a:rPr>
              <a:t>    {   private string HoTen;</a:t>
            </a:r>
          </a:p>
          <a:p>
            <a:pPr marL="0" indent="0">
              <a:buNone/>
            </a:pPr>
            <a:r>
              <a:rPr lang="en-US" sz="1400">
                <a:latin typeface="Courier New" pitchFamily="49" charset="0"/>
                <a:cs typeface="Courier New" pitchFamily="49" charset="0"/>
              </a:rPr>
              <a:t>        private int NamSinh;</a:t>
            </a:r>
          </a:p>
          <a:p>
            <a:pPr marL="0" indent="0">
              <a:buNone/>
            </a:pPr>
            <a:r>
              <a:rPr lang="en-US" sz="1400">
                <a:latin typeface="Courier New" pitchFamily="49" charset="0"/>
                <a:cs typeface="Courier New" pitchFamily="49" charset="0"/>
              </a:rPr>
              <a:t>        public void Nhap()</a:t>
            </a:r>
          </a:p>
          <a:p>
            <a:pPr marL="0" indent="0">
              <a:buNone/>
            </a:pPr>
            <a:r>
              <a:rPr lang="en-US" sz="1400">
                <a:latin typeface="Courier New" pitchFamily="49" charset="0"/>
                <a:cs typeface="Courier New" pitchFamily="49" charset="0"/>
              </a:rPr>
              <a:t>        {  Console.Write("Nhap ho ten: ");</a:t>
            </a:r>
          </a:p>
          <a:p>
            <a:pPr marL="0" indent="0">
              <a:buNone/>
            </a:pPr>
            <a:r>
              <a:rPr lang="en-US" sz="1400">
                <a:latin typeface="Courier New" pitchFamily="49" charset="0"/>
                <a:cs typeface="Courier New" pitchFamily="49" charset="0"/>
              </a:rPr>
              <a:t>            HoTen = Console.ReadLine();</a:t>
            </a:r>
          </a:p>
          <a:p>
            <a:pPr marL="0" indent="0">
              <a:buNone/>
            </a:pPr>
            <a:r>
              <a:rPr lang="en-US" sz="1400">
                <a:latin typeface="Courier New" pitchFamily="49" charset="0"/>
                <a:cs typeface="Courier New" pitchFamily="49" charset="0"/>
              </a:rPr>
              <a:t>            Console.Write("Nhap nam sinh: ");</a:t>
            </a:r>
          </a:p>
          <a:p>
            <a:pPr marL="0" indent="0">
              <a:buNone/>
            </a:pPr>
            <a:r>
              <a:rPr lang="en-US" sz="1400">
                <a:latin typeface="Courier New" pitchFamily="49" charset="0"/>
                <a:cs typeface="Courier New" pitchFamily="49" charset="0"/>
              </a:rPr>
              <a:t>            NamSinh = Convert.ToInt16(Console.ReadLine());</a:t>
            </a:r>
          </a:p>
          <a:p>
            <a:pPr marL="0" indent="0">
              <a:buNone/>
            </a:pPr>
            <a:r>
              <a:rPr lang="en-US" sz="1400">
                <a:latin typeface="Courier New" pitchFamily="49" charset="0"/>
                <a:cs typeface="Courier New" pitchFamily="49" charset="0"/>
              </a:rPr>
              <a:t>        }        </a:t>
            </a:r>
          </a:p>
          <a:p>
            <a:pPr marL="0" indent="0">
              <a:buNone/>
            </a:pPr>
            <a:r>
              <a:rPr lang="en-US" sz="1400">
                <a:latin typeface="Courier New" pitchFamily="49" charset="0"/>
                <a:cs typeface="Courier New" pitchFamily="49" charset="0"/>
              </a:rPr>
              <a:t>        public int Tuoi</a:t>
            </a:r>
          </a:p>
          <a:p>
            <a:pPr marL="0" indent="0">
              <a:buNone/>
            </a:pPr>
            <a:r>
              <a:rPr lang="en-US" sz="1400">
                <a:latin typeface="Courier New" pitchFamily="49" charset="0"/>
                <a:cs typeface="Courier New" pitchFamily="49" charset="0"/>
              </a:rPr>
              <a:t>        {   get</a:t>
            </a:r>
          </a:p>
          <a:p>
            <a:pPr marL="0" indent="0">
              <a:buNone/>
            </a:pPr>
            <a:r>
              <a:rPr lang="en-US" sz="1400">
                <a:latin typeface="Courier New" pitchFamily="49" charset="0"/>
                <a:cs typeface="Courier New" pitchFamily="49" charset="0"/>
              </a:rPr>
              <a:t>            { return System.DateTime.Today.Year - NamSinh;</a:t>
            </a:r>
          </a:p>
          <a:p>
            <a:pPr marL="0" indent="0">
              <a:buNone/>
            </a:pPr>
            <a:r>
              <a:rPr lang="en-US" sz="1400">
                <a:latin typeface="Courier New" pitchFamily="49" charset="0"/>
                <a:cs typeface="Courier New" pitchFamily="49" charset="0"/>
              </a:rPr>
              <a:t>            }</a:t>
            </a:r>
          </a:p>
          <a:p>
            <a:pPr marL="0" indent="0">
              <a:buNone/>
            </a:pPr>
            <a:r>
              <a:rPr lang="en-US" sz="1400">
                <a:latin typeface="Courier New" pitchFamily="49" charset="0"/>
                <a:cs typeface="Courier New" pitchFamily="49" charset="0"/>
              </a:rPr>
              <a:t>        }</a:t>
            </a:r>
          </a:p>
          <a:p>
            <a:pPr marL="0" indent="0">
              <a:buNone/>
            </a:pPr>
            <a:r>
              <a:rPr lang="en-US" sz="1400">
                <a:latin typeface="Courier New" pitchFamily="49" charset="0"/>
                <a:cs typeface="Courier New" pitchFamily="49" charset="0"/>
              </a:rPr>
              <a:t>        public void Xuat()</a:t>
            </a:r>
          </a:p>
          <a:p>
            <a:pPr marL="0" indent="0">
              <a:buNone/>
            </a:pPr>
            <a:r>
              <a:rPr lang="en-US" sz="1400">
                <a:latin typeface="Courier New" pitchFamily="49" charset="0"/>
                <a:cs typeface="Courier New" pitchFamily="49" charset="0"/>
              </a:rPr>
              <a:t>        {   Console.WriteLine("Ho ten: " + HoTen);</a:t>
            </a:r>
          </a:p>
          <a:p>
            <a:pPr marL="0" indent="0">
              <a:buNone/>
            </a:pPr>
            <a:r>
              <a:rPr lang="en-US" sz="1400">
                <a:latin typeface="Courier New" pitchFamily="49" charset="0"/>
                <a:cs typeface="Courier New" pitchFamily="49" charset="0"/>
              </a:rPr>
              <a:t>            Console.WriteLine("Tuoi: " + Tuoi );            </a:t>
            </a:r>
          </a:p>
          <a:p>
            <a:pPr marL="0" indent="0">
              <a:buNone/>
            </a:pPr>
            <a:r>
              <a:rPr lang="en-US" sz="1400">
                <a:latin typeface="Courier New" pitchFamily="49" charset="0"/>
                <a:cs typeface="Courier New" pitchFamily="49" charset="0"/>
              </a:rPr>
              <a:t>        }</a:t>
            </a:r>
          </a:p>
          <a:p>
            <a:pPr marL="0" indent="0">
              <a:buNone/>
            </a:pPr>
            <a:r>
              <a:rPr lang="en-US" sz="1400">
                <a:latin typeface="Courier New" pitchFamily="49" charset="0"/>
                <a:cs typeface="Courier New" pitchFamily="49" charset="0"/>
              </a:rPr>
              <a:t>    }</a:t>
            </a:r>
          </a:p>
        </p:txBody>
      </p:sp>
      <p:sp>
        <p:nvSpPr>
          <p:cNvPr id="7" name="Date Placeholder 6"/>
          <p:cNvSpPr>
            <a:spLocks noGrp="1"/>
          </p:cNvSpPr>
          <p:nvPr>
            <p:ph type="dt" sz="half" idx="10"/>
          </p:nvPr>
        </p:nvSpPr>
        <p:spPr/>
        <p:txBody>
          <a:bodyPr/>
          <a:lstStyle/>
          <a:p>
            <a:fld id="{6DEABA16-BA04-41F2-A81A-E8690AA63FB8}" type="datetime1">
              <a:rPr lang="vi-VN" smtClean="0"/>
              <a:t>04/02/2025</a:t>
            </a:fld>
            <a:endParaRPr lang="vi-VN"/>
          </a:p>
        </p:txBody>
      </p:sp>
      <p:sp>
        <p:nvSpPr>
          <p:cNvPr id="8" name="Footer Placeholder 7"/>
          <p:cNvSpPr>
            <a:spLocks noGrp="1"/>
          </p:cNvSpPr>
          <p:nvPr>
            <p:ph type="ftr" sz="quarter" idx="11"/>
          </p:nvPr>
        </p:nvSpPr>
        <p:spPr/>
        <p:txBody>
          <a:bodyPr/>
          <a:lstStyle/>
          <a:p>
            <a:r>
              <a:rPr lang="vi-VN"/>
              <a:t>Chương 3 - Lập trình hướng đối tượng trong C#</a:t>
            </a:r>
          </a:p>
        </p:txBody>
      </p:sp>
      <p:sp>
        <p:nvSpPr>
          <p:cNvPr id="9" name="Slide Number Placeholder 8"/>
          <p:cNvSpPr>
            <a:spLocks noGrp="1"/>
          </p:cNvSpPr>
          <p:nvPr>
            <p:ph type="sldNum" sz="quarter" idx="12"/>
          </p:nvPr>
        </p:nvSpPr>
        <p:spPr/>
        <p:txBody>
          <a:bodyPr/>
          <a:lstStyle/>
          <a:p>
            <a:fld id="{5AB95402-1E0D-474E-8D8C-CBE7F053639E}" type="slidenum">
              <a:rPr lang="vi-VN" smtClean="0"/>
              <a:pPr/>
              <a:t>87</a:t>
            </a:fld>
            <a:r>
              <a:rPr lang="vi-VN"/>
              <a:t>/28</a:t>
            </a:r>
          </a:p>
        </p:txBody>
      </p:sp>
    </p:spTree>
    <p:extLst>
      <p:ext uri="{BB962C8B-B14F-4D97-AF65-F5344CB8AC3E}">
        <p14:creationId xmlns:p14="http://schemas.microsoft.com/office/powerpoint/2010/main" val="109418851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Ví dụ Giao diện</a:t>
            </a:r>
          </a:p>
        </p:txBody>
      </p:sp>
      <p:sp>
        <p:nvSpPr>
          <p:cNvPr id="3" name="Content Placeholder 2"/>
          <p:cNvSpPr>
            <a:spLocks noGrp="1"/>
          </p:cNvSpPr>
          <p:nvPr>
            <p:ph idx="1"/>
          </p:nvPr>
        </p:nvSpPr>
        <p:spPr/>
        <p:txBody>
          <a:bodyPr/>
          <a:lstStyle/>
          <a:p>
            <a:pPr marL="0" indent="0">
              <a:buNone/>
            </a:pPr>
            <a:r>
              <a:rPr lang="en-US" sz="1500" dirty="0">
                <a:latin typeface="Courier New" pitchFamily="49" charset="0"/>
                <a:cs typeface="Courier New" pitchFamily="49" charset="0"/>
              </a:rPr>
              <a:t>class Program</a:t>
            </a:r>
          </a:p>
          <a:p>
            <a:pPr marL="0" indent="0">
              <a:buNone/>
            </a:pPr>
            <a:r>
              <a:rPr lang="en-US" sz="1500" dirty="0">
                <a:latin typeface="Courier New" pitchFamily="49" charset="0"/>
                <a:cs typeface="Courier New" pitchFamily="49" charset="0"/>
              </a:rPr>
              <a:t>    {</a:t>
            </a:r>
          </a:p>
          <a:p>
            <a:pPr marL="0" indent="0">
              <a:buNone/>
            </a:pPr>
            <a:r>
              <a:rPr lang="en-US" sz="1500" dirty="0">
                <a:latin typeface="Courier New" pitchFamily="49" charset="0"/>
                <a:cs typeface="Courier New" pitchFamily="49" charset="0"/>
              </a:rPr>
              <a:t>        static void Main(string[] </a:t>
            </a:r>
            <a:r>
              <a:rPr lang="en-US" sz="1500" dirty="0" err="1">
                <a:latin typeface="Courier New" pitchFamily="49" charset="0"/>
                <a:cs typeface="Courier New" pitchFamily="49" charset="0"/>
              </a:rPr>
              <a:t>args</a:t>
            </a:r>
            <a:r>
              <a:rPr lang="en-US" sz="1500" dirty="0">
                <a:latin typeface="Courier New" pitchFamily="49" charset="0"/>
                <a:cs typeface="Courier New" pitchFamily="49" charset="0"/>
              </a:rPr>
              <a:t>)</a:t>
            </a:r>
          </a:p>
          <a:p>
            <a:pPr marL="0" indent="0">
              <a:buNone/>
            </a:pPr>
            <a:r>
              <a:rPr lang="en-US" sz="1500" dirty="0">
                <a:latin typeface="Courier New" pitchFamily="49" charset="0"/>
                <a:cs typeface="Courier New" pitchFamily="49" charset="0"/>
              </a:rPr>
              <a:t>        {</a:t>
            </a:r>
          </a:p>
          <a:p>
            <a:pPr marL="0" indent="0">
              <a:buNone/>
            </a:pPr>
            <a:r>
              <a:rPr lang="en-US" sz="1500" dirty="0">
                <a:latin typeface="Courier New" pitchFamily="49" charset="0"/>
                <a:cs typeface="Courier New" pitchFamily="49" charset="0"/>
              </a:rPr>
              <a:t>            </a:t>
            </a:r>
            <a:r>
              <a:rPr lang="en-US" sz="1500" dirty="0" err="1">
                <a:latin typeface="Courier New" pitchFamily="49" charset="0"/>
                <a:cs typeface="Courier New" pitchFamily="49" charset="0"/>
              </a:rPr>
              <a:t>SinhVien</a:t>
            </a:r>
            <a:r>
              <a:rPr lang="en-US" sz="1500" dirty="0">
                <a:latin typeface="Courier New" pitchFamily="49" charset="0"/>
                <a:cs typeface="Courier New" pitchFamily="49" charset="0"/>
              </a:rPr>
              <a:t> SV1 = new </a:t>
            </a:r>
            <a:r>
              <a:rPr lang="en-US" sz="1500" dirty="0" err="1">
                <a:latin typeface="Courier New" pitchFamily="49" charset="0"/>
                <a:cs typeface="Courier New" pitchFamily="49" charset="0"/>
              </a:rPr>
              <a:t>SinhVien</a:t>
            </a:r>
            <a:r>
              <a:rPr lang="en-US" sz="1500" dirty="0">
                <a:latin typeface="Courier New" pitchFamily="49" charset="0"/>
                <a:cs typeface="Courier New" pitchFamily="49" charset="0"/>
              </a:rPr>
              <a:t>();</a:t>
            </a:r>
          </a:p>
          <a:p>
            <a:pPr marL="0" indent="0">
              <a:buNone/>
            </a:pPr>
            <a:r>
              <a:rPr lang="en-US" sz="1500" dirty="0">
                <a:latin typeface="Courier New" pitchFamily="49" charset="0"/>
                <a:cs typeface="Courier New" pitchFamily="49" charset="0"/>
              </a:rPr>
              <a:t>            SV1.Nhap();</a:t>
            </a:r>
          </a:p>
          <a:p>
            <a:pPr marL="0" indent="0">
              <a:buNone/>
            </a:pPr>
            <a:r>
              <a:rPr lang="en-US" sz="1500" dirty="0">
                <a:latin typeface="Courier New" pitchFamily="49" charset="0"/>
                <a:cs typeface="Courier New" pitchFamily="49" charset="0"/>
              </a:rPr>
              <a:t>            SV1.Xuat();</a:t>
            </a:r>
          </a:p>
          <a:p>
            <a:pPr marL="0" indent="0">
              <a:buNone/>
            </a:pPr>
            <a:r>
              <a:rPr lang="en-US" sz="1500" dirty="0">
                <a:latin typeface="Courier New" pitchFamily="49" charset="0"/>
                <a:cs typeface="Courier New" pitchFamily="49" charset="0"/>
              </a:rPr>
              <a:t>	    </a:t>
            </a:r>
            <a:r>
              <a:rPr lang="en-US" sz="1500" dirty="0" err="1">
                <a:latin typeface="Courier New" pitchFamily="49" charset="0"/>
                <a:cs typeface="Courier New" pitchFamily="49" charset="0"/>
              </a:rPr>
              <a:t>Console.ReadLine</a:t>
            </a:r>
            <a:r>
              <a:rPr lang="en-US" sz="1500" dirty="0">
                <a:latin typeface="Courier New" pitchFamily="49" charset="0"/>
                <a:cs typeface="Courier New" pitchFamily="49" charset="0"/>
              </a:rPr>
              <a:t>();</a:t>
            </a:r>
          </a:p>
          <a:p>
            <a:pPr marL="0" indent="0">
              <a:buNone/>
            </a:pPr>
            <a:r>
              <a:rPr lang="en-US" sz="1500" dirty="0">
                <a:latin typeface="Courier New" pitchFamily="49" charset="0"/>
                <a:cs typeface="Courier New" pitchFamily="49" charset="0"/>
              </a:rPr>
              <a:t>        }</a:t>
            </a:r>
          </a:p>
          <a:p>
            <a:pPr marL="0" indent="0">
              <a:buNone/>
            </a:pPr>
            <a:r>
              <a:rPr lang="en-US" sz="1500" dirty="0">
                <a:latin typeface="Courier New" pitchFamily="49" charset="0"/>
                <a:cs typeface="Courier New" pitchFamily="49" charset="0"/>
              </a:rPr>
              <a:t>    }</a:t>
            </a:r>
          </a:p>
          <a:p>
            <a:pPr marL="0" indent="0">
              <a:buNone/>
            </a:pPr>
            <a:endParaRPr lang="en-US" dirty="0"/>
          </a:p>
        </p:txBody>
      </p:sp>
      <p:sp>
        <p:nvSpPr>
          <p:cNvPr id="7" name="Date Placeholder 6"/>
          <p:cNvSpPr>
            <a:spLocks noGrp="1"/>
          </p:cNvSpPr>
          <p:nvPr>
            <p:ph type="dt" sz="half" idx="10"/>
          </p:nvPr>
        </p:nvSpPr>
        <p:spPr/>
        <p:txBody>
          <a:bodyPr/>
          <a:lstStyle/>
          <a:p>
            <a:fld id="{963FEBE3-12C6-4FD9-A69E-3730CA6DED4A}" type="datetime1">
              <a:rPr lang="vi-VN" smtClean="0"/>
              <a:t>04/02/2025</a:t>
            </a:fld>
            <a:endParaRPr lang="vi-VN"/>
          </a:p>
        </p:txBody>
      </p:sp>
      <p:sp>
        <p:nvSpPr>
          <p:cNvPr id="8" name="Footer Placeholder 7"/>
          <p:cNvSpPr>
            <a:spLocks noGrp="1"/>
          </p:cNvSpPr>
          <p:nvPr>
            <p:ph type="ftr" sz="quarter" idx="11"/>
          </p:nvPr>
        </p:nvSpPr>
        <p:spPr/>
        <p:txBody>
          <a:bodyPr/>
          <a:lstStyle/>
          <a:p>
            <a:r>
              <a:rPr lang="vi-VN"/>
              <a:t>Chương 3 - Lập trình hướng đối tượng trong C#</a:t>
            </a:r>
          </a:p>
        </p:txBody>
      </p:sp>
      <p:sp>
        <p:nvSpPr>
          <p:cNvPr id="9" name="Slide Number Placeholder 8"/>
          <p:cNvSpPr>
            <a:spLocks noGrp="1"/>
          </p:cNvSpPr>
          <p:nvPr>
            <p:ph type="sldNum" sz="quarter" idx="12"/>
          </p:nvPr>
        </p:nvSpPr>
        <p:spPr/>
        <p:txBody>
          <a:bodyPr/>
          <a:lstStyle/>
          <a:p>
            <a:fld id="{5AB95402-1E0D-474E-8D8C-CBE7F053639E}" type="slidenum">
              <a:rPr lang="vi-VN" smtClean="0"/>
              <a:pPr/>
              <a:t>88</a:t>
            </a:fld>
            <a:r>
              <a:rPr lang="vi-VN"/>
              <a:t>/28</a:t>
            </a:r>
          </a:p>
        </p:txBody>
      </p:sp>
    </p:spTree>
    <p:extLst>
      <p:ext uri="{BB962C8B-B14F-4D97-AF65-F5344CB8AC3E}">
        <p14:creationId xmlns:p14="http://schemas.microsoft.com/office/powerpoint/2010/main" val="210808960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372172"/>
            <a:ext cx="8382000" cy="685800"/>
          </a:xfrm>
        </p:spPr>
        <p:txBody>
          <a:bodyPr/>
          <a:lstStyle/>
          <a:p>
            <a:r>
              <a:rPr lang="en-US"/>
              <a:t>Bài tập về nhà</a:t>
            </a:r>
          </a:p>
        </p:txBody>
      </p:sp>
      <p:sp>
        <p:nvSpPr>
          <p:cNvPr id="3" name="Content Placeholder 2"/>
          <p:cNvSpPr>
            <a:spLocks noGrp="1"/>
          </p:cNvSpPr>
          <p:nvPr>
            <p:ph idx="1"/>
          </p:nvPr>
        </p:nvSpPr>
        <p:spPr/>
        <p:txBody>
          <a:bodyPr/>
          <a:lstStyle/>
          <a:p>
            <a:r>
              <a:rPr lang="en-US" dirty="0" err="1"/>
              <a:t>Bài</a:t>
            </a:r>
            <a:r>
              <a:rPr lang="en-US" dirty="0"/>
              <a:t> 1. </a:t>
            </a:r>
            <a:r>
              <a:rPr lang="en-US" dirty="0" err="1"/>
              <a:t>Xây</a:t>
            </a:r>
            <a:r>
              <a:rPr lang="en-US" dirty="0"/>
              <a:t> </a:t>
            </a:r>
            <a:r>
              <a:rPr lang="en-US" dirty="0" err="1"/>
              <a:t>dựng</a:t>
            </a:r>
            <a:r>
              <a:rPr lang="en-US" dirty="0"/>
              <a:t> </a:t>
            </a:r>
            <a:r>
              <a:rPr lang="en-US" dirty="0" err="1"/>
              <a:t>chương</a:t>
            </a:r>
            <a:r>
              <a:rPr lang="en-US" dirty="0"/>
              <a:t> </a:t>
            </a:r>
            <a:r>
              <a:rPr lang="en-US" dirty="0" err="1"/>
              <a:t>trình</a:t>
            </a:r>
            <a:r>
              <a:rPr lang="en-US" dirty="0"/>
              <a:t> </a:t>
            </a:r>
            <a:r>
              <a:rPr lang="en-US" dirty="0" err="1"/>
              <a:t>làm</a:t>
            </a:r>
            <a:r>
              <a:rPr lang="en-US" dirty="0"/>
              <a:t> </a:t>
            </a:r>
            <a:r>
              <a:rPr lang="en-US" dirty="0" err="1"/>
              <a:t>việc</a:t>
            </a:r>
            <a:r>
              <a:rPr lang="en-US" dirty="0"/>
              <a:t> </a:t>
            </a:r>
            <a:r>
              <a:rPr lang="en-US" dirty="0" err="1"/>
              <a:t>với</a:t>
            </a:r>
            <a:r>
              <a:rPr lang="en-US" dirty="0"/>
              <a:t> </a:t>
            </a:r>
            <a:r>
              <a:rPr lang="en-US" dirty="0" err="1"/>
              <a:t>phân</a:t>
            </a:r>
            <a:r>
              <a:rPr lang="en-US" dirty="0"/>
              <a:t> </a:t>
            </a:r>
            <a:r>
              <a:rPr lang="en-US" dirty="0" err="1"/>
              <a:t>số</a:t>
            </a:r>
            <a:endParaRPr lang="en-US" dirty="0"/>
          </a:p>
          <a:p>
            <a:pPr lvl="1"/>
            <a:r>
              <a:rPr lang="en-US" dirty="0" err="1"/>
              <a:t>Xây</a:t>
            </a:r>
            <a:r>
              <a:rPr lang="en-US" dirty="0"/>
              <a:t> </a:t>
            </a:r>
            <a:r>
              <a:rPr lang="en-US" dirty="0" err="1"/>
              <a:t>dựng</a:t>
            </a:r>
            <a:r>
              <a:rPr lang="en-US" dirty="0"/>
              <a:t> </a:t>
            </a:r>
            <a:r>
              <a:rPr lang="en-US" dirty="0" err="1"/>
              <a:t>lớp</a:t>
            </a:r>
            <a:r>
              <a:rPr lang="en-US" dirty="0"/>
              <a:t> </a:t>
            </a:r>
            <a:r>
              <a:rPr lang="en-US" dirty="0" err="1"/>
              <a:t>PhanSo</a:t>
            </a:r>
            <a:r>
              <a:rPr lang="en-US" dirty="0"/>
              <a:t> </a:t>
            </a:r>
            <a:r>
              <a:rPr lang="en-US" dirty="0" err="1"/>
              <a:t>gồm</a:t>
            </a:r>
            <a:r>
              <a:rPr lang="en-US" dirty="0"/>
              <a:t>:</a:t>
            </a:r>
          </a:p>
          <a:p>
            <a:pPr marL="909637" lvl="2" indent="0">
              <a:buNone/>
            </a:pPr>
            <a:r>
              <a:rPr lang="en-US" dirty="0"/>
              <a:t>class </a:t>
            </a:r>
            <a:r>
              <a:rPr lang="en-US" dirty="0" err="1"/>
              <a:t>PhanSo</a:t>
            </a:r>
            <a:r>
              <a:rPr lang="en-US" dirty="0"/>
              <a:t>{</a:t>
            </a:r>
          </a:p>
          <a:p>
            <a:pPr marL="909637" lvl="2" indent="0">
              <a:buNone/>
            </a:pPr>
            <a:r>
              <a:rPr lang="en-US" dirty="0"/>
              <a:t>         private int </a:t>
            </a:r>
            <a:r>
              <a:rPr lang="en-US" dirty="0" err="1"/>
              <a:t>TuSo</a:t>
            </a:r>
            <a:r>
              <a:rPr lang="en-US" dirty="0"/>
              <a:t>; //</a:t>
            </a:r>
            <a:r>
              <a:rPr lang="en-US" dirty="0" err="1"/>
              <a:t>Tử</a:t>
            </a:r>
            <a:r>
              <a:rPr lang="en-US" dirty="0"/>
              <a:t> </a:t>
            </a:r>
            <a:r>
              <a:rPr lang="en-US" dirty="0" err="1"/>
              <a:t>số</a:t>
            </a:r>
            <a:endParaRPr lang="en-US" dirty="0"/>
          </a:p>
          <a:p>
            <a:pPr marL="909637" lvl="2" indent="0">
              <a:buNone/>
            </a:pPr>
            <a:r>
              <a:rPr lang="en-US" dirty="0"/>
              <a:t>	         private int </a:t>
            </a:r>
            <a:r>
              <a:rPr lang="en-US" dirty="0" err="1"/>
              <a:t>MauSo</a:t>
            </a:r>
            <a:r>
              <a:rPr lang="en-US" dirty="0"/>
              <a:t>; //</a:t>
            </a:r>
            <a:r>
              <a:rPr lang="en-US" dirty="0" err="1"/>
              <a:t>Mẫu</a:t>
            </a:r>
            <a:r>
              <a:rPr lang="en-US" dirty="0"/>
              <a:t> </a:t>
            </a:r>
            <a:r>
              <a:rPr lang="en-US" dirty="0" err="1"/>
              <a:t>số</a:t>
            </a:r>
            <a:endParaRPr lang="en-US" dirty="0"/>
          </a:p>
          <a:p>
            <a:pPr marL="909637" lvl="2" indent="0">
              <a:buNone/>
            </a:pPr>
            <a:r>
              <a:rPr lang="en-US" dirty="0"/>
              <a:t>}	</a:t>
            </a:r>
          </a:p>
          <a:p>
            <a:pPr lvl="1"/>
            <a:r>
              <a:rPr lang="en-US" dirty="0" err="1"/>
              <a:t>Xây</a:t>
            </a:r>
            <a:r>
              <a:rPr lang="en-US" dirty="0"/>
              <a:t> </a:t>
            </a:r>
            <a:r>
              <a:rPr lang="en-US" dirty="0" err="1"/>
              <a:t>dựng</a:t>
            </a:r>
            <a:r>
              <a:rPr lang="en-US" dirty="0"/>
              <a:t> </a:t>
            </a:r>
            <a:r>
              <a:rPr lang="en-US" dirty="0" err="1"/>
              <a:t>các</a:t>
            </a:r>
            <a:r>
              <a:rPr lang="en-US" dirty="0"/>
              <a:t> </a:t>
            </a:r>
            <a:r>
              <a:rPr lang="en-US" dirty="0" err="1"/>
              <a:t>phương</a:t>
            </a:r>
            <a:r>
              <a:rPr lang="en-US" dirty="0"/>
              <a:t> </a:t>
            </a:r>
            <a:r>
              <a:rPr lang="en-US" dirty="0" err="1"/>
              <a:t>thức</a:t>
            </a:r>
            <a:r>
              <a:rPr lang="en-US" dirty="0"/>
              <a:t> </a:t>
            </a:r>
            <a:r>
              <a:rPr lang="en-US" dirty="0" err="1"/>
              <a:t>trong</a:t>
            </a:r>
            <a:r>
              <a:rPr lang="en-US" dirty="0"/>
              <a:t> </a:t>
            </a:r>
            <a:r>
              <a:rPr lang="en-US" dirty="0" err="1"/>
              <a:t>lớp</a:t>
            </a:r>
            <a:r>
              <a:rPr lang="en-US" dirty="0"/>
              <a:t> </a:t>
            </a:r>
            <a:r>
              <a:rPr lang="en-US" dirty="0" err="1"/>
              <a:t>PhanSo</a:t>
            </a:r>
            <a:endParaRPr lang="en-US" dirty="0"/>
          </a:p>
          <a:p>
            <a:pPr lvl="2"/>
            <a:r>
              <a:rPr lang="en-US" dirty="0" err="1"/>
              <a:t>Hàm</a:t>
            </a:r>
            <a:r>
              <a:rPr lang="en-US" dirty="0"/>
              <a:t> </a:t>
            </a:r>
            <a:r>
              <a:rPr lang="en-US" dirty="0" err="1"/>
              <a:t>tạo</a:t>
            </a:r>
            <a:r>
              <a:rPr lang="en-US" dirty="0"/>
              <a:t> (</a:t>
            </a:r>
            <a:r>
              <a:rPr lang="en-US" dirty="0" err="1"/>
              <a:t>khởi</a:t>
            </a:r>
            <a:r>
              <a:rPr lang="en-US" dirty="0"/>
              <a:t> </a:t>
            </a:r>
            <a:r>
              <a:rPr lang="en-US" dirty="0" err="1"/>
              <a:t>tạo</a:t>
            </a:r>
            <a:r>
              <a:rPr lang="en-US" dirty="0"/>
              <a:t> </a:t>
            </a:r>
            <a:r>
              <a:rPr lang="en-US" dirty="0" err="1"/>
              <a:t>tử</a:t>
            </a:r>
            <a:r>
              <a:rPr lang="en-US" dirty="0"/>
              <a:t> </a:t>
            </a:r>
            <a:r>
              <a:rPr lang="en-US" dirty="0" err="1"/>
              <a:t>số</a:t>
            </a:r>
            <a:r>
              <a:rPr lang="en-US" dirty="0"/>
              <a:t> = 0, </a:t>
            </a:r>
            <a:r>
              <a:rPr lang="en-US" dirty="0" err="1"/>
              <a:t>mẫu</a:t>
            </a:r>
            <a:r>
              <a:rPr lang="en-US" dirty="0"/>
              <a:t> </a:t>
            </a:r>
            <a:r>
              <a:rPr lang="en-US" dirty="0" err="1"/>
              <a:t>số</a:t>
            </a:r>
            <a:r>
              <a:rPr lang="en-US" dirty="0"/>
              <a:t> = 1)</a:t>
            </a:r>
          </a:p>
          <a:p>
            <a:pPr lvl="2"/>
            <a:r>
              <a:rPr lang="en-US" dirty="0" err="1"/>
              <a:t>Hàm</a:t>
            </a:r>
            <a:r>
              <a:rPr lang="en-US" dirty="0"/>
              <a:t> </a:t>
            </a:r>
            <a:r>
              <a:rPr lang="en-US" dirty="0" err="1"/>
              <a:t>tạo</a:t>
            </a:r>
            <a:r>
              <a:rPr lang="en-US" dirty="0"/>
              <a:t> 2 </a:t>
            </a:r>
            <a:r>
              <a:rPr lang="en-US" dirty="0" err="1"/>
              <a:t>tham</a:t>
            </a:r>
            <a:r>
              <a:rPr lang="en-US" dirty="0"/>
              <a:t> </a:t>
            </a:r>
            <a:r>
              <a:rPr lang="en-US" dirty="0" err="1"/>
              <a:t>số</a:t>
            </a:r>
            <a:r>
              <a:rPr lang="en-US" dirty="0"/>
              <a:t> </a:t>
            </a:r>
            <a:r>
              <a:rPr lang="en-US" dirty="0" err="1"/>
              <a:t>tử</a:t>
            </a:r>
            <a:r>
              <a:rPr lang="en-US" dirty="0"/>
              <a:t>, </a:t>
            </a:r>
            <a:r>
              <a:rPr lang="en-US" dirty="0" err="1"/>
              <a:t>mẫu</a:t>
            </a:r>
            <a:endParaRPr lang="en-US" dirty="0"/>
          </a:p>
          <a:p>
            <a:pPr lvl="2"/>
            <a:r>
              <a:rPr lang="en-US" dirty="0" err="1"/>
              <a:t>Nhập</a:t>
            </a:r>
            <a:r>
              <a:rPr lang="en-US" dirty="0"/>
              <a:t> </a:t>
            </a:r>
            <a:r>
              <a:rPr lang="en-US" dirty="0" err="1"/>
              <a:t>phân</a:t>
            </a:r>
            <a:r>
              <a:rPr lang="en-US" dirty="0"/>
              <a:t> </a:t>
            </a:r>
            <a:r>
              <a:rPr lang="en-US" dirty="0" err="1"/>
              <a:t>số</a:t>
            </a:r>
            <a:endParaRPr lang="en-US" dirty="0"/>
          </a:p>
          <a:p>
            <a:pPr lvl="2"/>
            <a:r>
              <a:rPr lang="en-US" dirty="0"/>
              <a:t>In </a:t>
            </a:r>
            <a:r>
              <a:rPr lang="en-US" dirty="0" err="1"/>
              <a:t>phân</a:t>
            </a:r>
            <a:r>
              <a:rPr lang="en-US" dirty="0"/>
              <a:t> </a:t>
            </a:r>
            <a:r>
              <a:rPr lang="en-US" dirty="0" err="1"/>
              <a:t>số</a:t>
            </a:r>
            <a:endParaRPr lang="en-US" dirty="0"/>
          </a:p>
          <a:p>
            <a:pPr lvl="2"/>
            <a:r>
              <a:rPr lang="en-US" dirty="0" err="1"/>
              <a:t>Rút</a:t>
            </a:r>
            <a:r>
              <a:rPr lang="en-US" dirty="0"/>
              <a:t> </a:t>
            </a:r>
            <a:r>
              <a:rPr lang="en-US" dirty="0" err="1"/>
              <a:t>gọn</a:t>
            </a:r>
            <a:r>
              <a:rPr lang="en-US" dirty="0"/>
              <a:t> </a:t>
            </a:r>
            <a:r>
              <a:rPr lang="en-US" dirty="0" err="1"/>
              <a:t>phân</a:t>
            </a:r>
            <a:r>
              <a:rPr lang="en-US" dirty="0"/>
              <a:t> </a:t>
            </a:r>
            <a:r>
              <a:rPr lang="en-US" dirty="0" err="1"/>
              <a:t>số</a:t>
            </a:r>
            <a:endParaRPr lang="en-US" dirty="0"/>
          </a:p>
          <a:p>
            <a:pPr lvl="2"/>
            <a:r>
              <a:rPr lang="en-US" dirty="0" err="1"/>
              <a:t>Tính</a:t>
            </a:r>
            <a:r>
              <a:rPr lang="en-US" dirty="0"/>
              <a:t> </a:t>
            </a:r>
            <a:r>
              <a:rPr lang="en-US" dirty="0" err="1"/>
              <a:t>tổng</a:t>
            </a:r>
            <a:r>
              <a:rPr lang="en-US" dirty="0"/>
              <a:t>/</a:t>
            </a:r>
            <a:r>
              <a:rPr lang="en-US" dirty="0" err="1"/>
              <a:t>hiệu</a:t>
            </a:r>
            <a:r>
              <a:rPr lang="en-US" dirty="0"/>
              <a:t>/</a:t>
            </a:r>
            <a:r>
              <a:rPr lang="en-US" dirty="0" err="1"/>
              <a:t>tích</a:t>
            </a:r>
            <a:r>
              <a:rPr lang="en-US" dirty="0"/>
              <a:t>/</a:t>
            </a:r>
            <a:r>
              <a:rPr lang="en-US" dirty="0" err="1"/>
              <a:t>thương</a:t>
            </a:r>
            <a:r>
              <a:rPr lang="en-US" dirty="0"/>
              <a:t> 2 </a:t>
            </a:r>
            <a:r>
              <a:rPr lang="en-US" dirty="0" err="1"/>
              <a:t>phân</a:t>
            </a:r>
            <a:r>
              <a:rPr lang="en-US" dirty="0"/>
              <a:t> </a:t>
            </a:r>
            <a:r>
              <a:rPr lang="en-US" dirty="0" err="1"/>
              <a:t>số</a:t>
            </a:r>
            <a:endParaRPr lang="en-US" dirty="0"/>
          </a:p>
        </p:txBody>
      </p:sp>
      <p:sp>
        <p:nvSpPr>
          <p:cNvPr id="4" name="Date Placeholder 3"/>
          <p:cNvSpPr>
            <a:spLocks noGrp="1"/>
          </p:cNvSpPr>
          <p:nvPr>
            <p:ph type="dt" sz="half" idx="10"/>
          </p:nvPr>
        </p:nvSpPr>
        <p:spPr/>
        <p:txBody>
          <a:bodyPr/>
          <a:lstStyle/>
          <a:p>
            <a:fld id="{A83A2F6A-0C91-4A69-B879-383AE4CC140E}" type="datetime1">
              <a:rPr lang="vi-VN" smtClean="0"/>
              <a:t>04/02/2025</a:t>
            </a:fld>
            <a:endParaRPr lang="vi-VN"/>
          </a:p>
        </p:txBody>
      </p:sp>
      <p:sp>
        <p:nvSpPr>
          <p:cNvPr id="5" name="Footer Placeholder 4"/>
          <p:cNvSpPr>
            <a:spLocks noGrp="1"/>
          </p:cNvSpPr>
          <p:nvPr>
            <p:ph type="ftr" sz="quarter" idx="11"/>
          </p:nvPr>
        </p:nvSpPr>
        <p:spPr/>
        <p:txBody>
          <a:bodyPr/>
          <a:lstStyle/>
          <a:p>
            <a:r>
              <a:rPr lang="vi-VN"/>
              <a:t>Chương 3. Lập trình hướng đối tượng trong C#</a:t>
            </a:r>
          </a:p>
        </p:txBody>
      </p:sp>
      <p:sp>
        <p:nvSpPr>
          <p:cNvPr id="8" name="Slide Number Placeholder 7"/>
          <p:cNvSpPr>
            <a:spLocks noGrp="1"/>
          </p:cNvSpPr>
          <p:nvPr>
            <p:ph type="sldNum" sz="quarter" idx="12"/>
          </p:nvPr>
        </p:nvSpPr>
        <p:spPr/>
        <p:txBody>
          <a:bodyPr/>
          <a:lstStyle/>
          <a:p>
            <a:fld id="{5AB95402-1E0D-474E-8D8C-CBE7F053639E}" type="slidenum">
              <a:rPr lang="vi-VN" smtClean="0"/>
              <a:pPr/>
              <a:t>89</a:t>
            </a:fld>
            <a:r>
              <a:rPr lang="vi-VN"/>
              <a:t>/33</a:t>
            </a:r>
          </a:p>
        </p:txBody>
      </p:sp>
    </p:spTree>
    <p:extLst>
      <p:ext uri="{BB962C8B-B14F-4D97-AF65-F5344CB8AC3E}">
        <p14:creationId xmlns:p14="http://schemas.microsoft.com/office/powerpoint/2010/main" val="177037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381000"/>
            <a:ext cx="8382000" cy="685800"/>
          </a:xfrm>
        </p:spPr>
        <p:txBody>
          <a:bodyPr/>
          <a:lstStyle/>
          <a:p>
            <a:r>
              <a:rPr lang="en-US"/>
              <a:t>Bài tập về nhà</a:t>
            </a:r>
          </a:p>
        </p:txBody>
      </p:sp>
      <p:sp>
        <p:nvSpPr>
          <p:cNvPr id="3" name="Content Placeholder 2"/>
          <p:cNvSpPr>
            <a:spLocks noGrp="1"/>
          </p:cNvSpPr>
          <p:nvPr>
            <p:ph idx="1"/>
          </p:nvPr>
        </p:nvSpPr>
        <p:spPr/>
        <p:txBody>
          <a:bodyPr/>
          <a:lstStyle/>
          <a:p>
            <a:r>
              <a:rPr lang="en-US" dirty="0" err="1"/>
              <a:t>Bài</a:t>
            </a:r>
            <a:r>
              <a:rPr lang="en-US" dirty="0"/>
              <a:t> 2. </a:t>
            </a:r>
            <a:r>
              <a:rPr lang="en-US" dirty="0" err="1"/>
              <a:t>Xây</a:t>
            </a:r>
            <a:r>
              <a:rPr lang="en-US" dirty="0"/>
              <a:t> </a:t>
            </a:r>
            <a:r>
              <a:rPr lang="en-US" dirty="0" err="1"/>
              <a:t>dựng</a:t>
            </a:r>
            <a:r>
              <a:rPr lang="en-US" dirty="0"/>
              <a:t> </a:t>
            </a:r>
            <a:r>
              <a:rPr lang="en-US" dirty="0" err="1"/>
              <a:t>chương</a:t>
            </a:r>
            <a:r>
              <a:rPr lang="en-US" dirty="0"/>
              <a:t> </a:t>
            </a:r>
            <a:r>
              <a:rPr lang="en-US" dirty="0" err="1"/>
              <a:t>trình</a:t>
            </a:r>
            <a:r>
              <a:rPr lang="en-US" dirty="0"/>
              <a:t> </a:t>
            </a:r>
            <a:r>
              <a:rPr lang="en-US" dirty="0" err="1"/>
              <a:t>làm</a:t>
            </a:r>
            <a:r>
              <a:rPr lang="en-US" dirty="0"/>
              <a:t> </a:t>
            </a:r>
            <a:r>
              <a:rPr lang="en-US" dirty="0" err="1"/>
              <a:t>việc</a:t>
            </a:r>
            <a:r>
              <a:rPr lang="en-US" dirty="0"/>
              <a:t> </a:t>
            </a:r>
            <a:r>
              <a:rPr lang="en-US" dirty="0" err="1"/>
              <a:t>với</a:t>
            </a:r>
            <a:r>
              <a:rPr lang="en-US" dirty="0"/>
              <a:t> </a:t>
            </a:r>
            <a:r>
              <a:rPr lang="en-US" dirty="0" err="1"/>
              <a:t>các</a:t>
            </a:r>
            <a:r>
              <a:rPr lang="en-US" dirty="0"/>
              <a:t> </a:t>
            </a:r>
            <a:r>
              <a:rPr lang="en-US" dirty="0" err="1"/>
              <a:t>điểm</a:t>
            </a:r>
            <a:r>
              <a:rPr lang="en-US" dirty="0"/>
              <a:t> </a:t>
            </a:r>
            <a:r>
              <a:rPr lang="en-US" dirty="0" err="1"/>
              <a:t>trong</a:t>
            </a:r>
            <a:r>
              <a:rPr lang="en-US" dirty="0"/>
              <a:t> </a:t>
            </a:r>
            <a:r>
              <a:rPr lang="en-US" dirty="0" err="1"/>
              <a:t>không</a:t>
            </a:r>
            <a:r>
              <a:rPr lang="en-US" dirty="0"/>
              <a:t> </a:t>
            </a:r>
            <a:r>
              <a:rPr lang="en-US" dirty="0" err="1"/>
              <a:t>gian</a:t>
            </a:r>
            <a:r>
              <a:rPr lang="en-US" dirty="0"/>
              <a:t> 2 </a:t>
            </a:r>
            <a:r>
              <a:rPr lang="en-US" dirty="0" err="1"/>
              <a:t>chiều</a:t>
            </a:r>
            <a:endParaRPr lang="en-US" dirty="0"/>
          </a:p>
          <a:p>
            <a:pPr lvl="1"/>
            <a:r>
              <a:rPr lang="en-US" dirty="0" err="1"/>
              <a:t>Khai</a:t>
            </a:r>
            <a:r>
              <a:rPr lang="en-US" dirty="0"/>
              <a:t> </a:t>
            </a:r>
            <a:r>
              <a:rPr lang="en-US" dirty="0" err="1"/>
              <a:t>báo</a:t>
            </a:r>
            <a:r>
              <a:rPr lang="en-US" dirty="0"/>
              <a:t> </a:t>
            </a:r>
            <a:r>
              <a:rPr lang="en-US" dirty="0" err="1"/>
              <a:t>lớp</a:t>
            </a:r>
            <a:r>
              <a:rPr lang="en-US" dirty="0"/>
              <a:t> </a:t>
            </a:r>
            <a:r>
              <a:rPr lang="en-US" dirty="0" err="1"/>
              <a:t>Điểm</a:t>
            </a:r>
            <a:r>
              <a:rPr lang="en-US" dirty="0"/>
              <a:t> </a:t>
            </a:r>
            <a:r>
              <a:rPr lang="en-US" dirty="0" err="1"/>
              <a:t>gồm</a:t>
            </a:r>
            <a:r>
              <a:rPr lang="en-US" dirty="0"/>
              <a:t>:</a:t>
            </a:r>
          </a:p>
          <a:p>
            <a:pPr marL="909637" lvl="2" indent="0">
              <a:buNone/>
            </a:pPr>
            <a:r>
              <a:rPr lang="en-US" dirty="0"/>
              <a:t>class Diem{</a:t>
            </a:r>
          </a:p>
          <a:p>
            <a:pPr marL="909637" lvl="2" indent="0">
              <a:buNone/>
            </a:pPr>
            <a:r>
              <a:rPr lang="en-US" dirty="0"/>
              <a:t>	       private double x; //</a:t>
            </a:r>
            <a:r>
              <a:rPr lang="en-US" dirty="0" err="1"/>
              <a:t>Hoành</a:t>
            </a:r>
            <a:r>
              <a:rPr lang="en-US" dirty="0"/>
              <a:t> </a:t>
            </a:r>
            <a:r>
              <a:rPr lang="en-US" dirty="0" err="1"/>
              <a:t>độ</a:t>
            </a:r>
            <a:endParaRPr lang="en-US" dirty="0"/>
          </a:p>
          <a:p>
            <a:pPr marL="909637" lvl="2" indent="0">
              <a:buNone/>
            </a:pPr>
            <a:r>
              <a:rPr lang="en-US" dirty="0"/>
              <a:t>       private double y; //Tung </a:t>
            </a:r>
            <a:r>
              <a:rPr lang="en-US" dirty="0" err="1"/>
              <a:t>độ</a:t>
            </a:r>
            <a:endParaRPr lang="en-US" dirty="0"/>
          </a:p>
          <a:p>
            <a:pPr marL="909637" lvl="2" indent="0">
              <a:buNone/>
            </a:pPr>
            <a:r>
              <a:rPr lang="en-US" dirty="0"/>
              <a:t>}</a:t>
            </a:r>
          </a:p>
          <a:p>
            <a:pPr lvl="1"/>
            <a:r>
              <a:rPr lang="en-US" dirty="0" err="1"/>
              <a:t>Xây</a:t>
            </a:r>
            <a:r>
              <a:rPr lang="en-US" dirty="0"/>
              <a:t> </a:t>
            </a:r>
            <a:r>
              <a:rPr lang="en-US" dirty="0" err="1"/>
              <a:t>dựng</a:t>
            </a:r>
            <a:r>
              <a:rPr lang="en-US" dirty="0"/>
              <a:t> </a:t>
            </a:r>
            <a:r>
              <a:rPr lang="en-US" dirty="0" err="1"/>
              <a:t>các</a:t>
            </a:r>
            <a:r>
              <a:rPr lang="en-US" dirty="0"/>
              <a:t> </a:t>
            </a:r>
            <a:r>
              <a:rPr lang="en-US" dirty="0" err="1"/>
              <a:t>phương</a:t>
            </a:r>
            <a:r>
              <a:rPr lang="en-US" dirty="0"/>
              <a:t> </a:t>
            </a:r>
            <a:r>
              <a:rPr lang="en-US" dirty="0" err="1"/>
              <a:t>thức</a:t>
            </a:r>
            <a:endParaRPr lang="en-US" dirty="0"/>
          </a:p>
          <a:p>
            <a:pPr lvl="2"/>
            <a:r>
              <a:rPr lang="en-US" dirty="0" err="1"/>
              <a:t>Hàm</a:t>
            </a:r>
            <a:r>
              <a:rPr lang="en-US" dirty="0"/>
              <a:t> </a:t>
            </a:r>
            <a:r>
              <a:rPr lang="en-US" dirty="0" err="1"/>
              <a:t>tạo</a:t>
            </a:r>
            <a:r>
              <a:rPr lang="en-US" dirty="0"/>
              <a:t> </a:t>
            </a:r>
            <a:r>
              <a:rPr lang="en-US" dirty="0" err="1"/>
              <a:t>không</a:t>
            </a:r>
            <a:r>
              <a:rPr lang="en-US" dirty="0"/>
              <a:t> </a:t>
            </a:r>
            <a:r>
              <a:rPr lang="en-US" dirty="0" err="1"/>
              <a:t>tham</a:t>
            </a:r>
            <a:r>
              <a:rPr lang="en-US" dirty="0"/>
              <a:t> </a:t>
            </a:r>
            <a:r>
              <a:rPr lang="en-US" dirty="0" err="1"/>
              <a:t>số</a:t>
            </a:r>
            <a:r>
              <a:rPr lang="en-US" dirty="0"/>
              <a:t>: </a:t>
            </a:r>
            <a:r>
              <a:rPr lang="en-US" dirty="0" err="1"/>
              <a:t>khởi</a:t>
            </a:r>
            <a:r>
              <a:rPr lang="en-US" dirty="0"/>
              <a:t> </a:t>
            </a:r>
            <a:r>
              <a:rPr lang="en-US" dirty="0" err="1"/>
              <a:t>tạo</a:t>
            </a:r>
            <a:r>
              <a:rPr lang="en-US" dirty="0"/>
              <a:t> </a:t>
            </a:r>
            <a:r>
              <a:rPr lang="en-US" dirty="0" err="1"/>
              <a:t>điểm</a:t>
            </a:r>
            <a:r>
              <a:rPr lang="en-US" dirty="0"/>
              <a:t> </a:t>
            </a:r>
            <a:r>
              <a:rPr lang="en-US" dirty="0" err="1"/>
              <a:t>toạ</a:t>
            </a:r>
            <a:r>
              <a:rPr lang="en-US" dirty="0"/>
              <a:t> </a:t>
            </a:r>
            <a:r>
              <a:rPr lang="en-US" dirty="0" err="1"/>
              <a:t>độ</a:t>
            </a:r>
            <a:r>
              <a:rPr lang="en-US" dirty="0"/>
              <a:t> (0,0)</a:t>
            </a:r>
          </a:p>
          <a:p>
            <a:pPr lvl="2"/>
            <a:r>
              <a:rPr lang="en-US" dirty="0" err="1"/>
              <a:t>Hàm</a:t>
            </a:r>
            <a:r>
              <a:rPr lang="en-US" dirty="0"/>
              <a:t> </a:t>
            </a:r>
            <a:r>
              <a:rPr lang="en-US" dirty="0" err="1"/>
              <a:t>tạo</a:t>
            </a:r>
            <a:r>
              <a:rPr lang="en-US" dirty="0"/>
              <a:t> 2 </a:t>
            </a:r>
            <a:r>
              <a:rPr lang="en-US" dirty="0" err="1"/>
              <a:t>tham</a:t>
            </a:r>
            <a:r>
              <a:rPr lang="en-US" dirty="0"/>
              <a:t> </a:t>
            </a:r>
            <a:r>
              <a:rPr lang="en-US" dirty="0" err="1"/>
              <a:t>số</a:t>
            </a:r>
            <a:r>
              <a:rPr lang="en-US" dirty="0"/>
              <a:t> x, y: </a:t>
            </a:r>
            <a:r>
              <a:rPr lang="en-US" dirty="0" err="1"/>
              <a:t>khởi</a:t>
            </a:r>
            <a:r>
              <a:rPr lang="en-US" dirty="0"/>
              <a:t> </a:t>
            </a:r>
            <a:r>
              <a:rPr lang="en-US" dirty="0" err="1"/>
              <a:t>tạo</a:t>
            </a:r>
            <a:r>
              <a:rPr lang="en-US" dirty="0"/>
              <a:t> </a:t>
            </a:r>
            <a:r>
              <a:rPr lang="en-US" dirty="0" err="1"/>
              <a:t>điểm</a:t>
            </a:r>
            <a:r>
              <a:rPr lang="en-US" dirty="0"/>
              <a:t> </a:t>
            </a:r>
            <a:r>
              <a:rPr lang="en-US" dirty="0" err="1"/>
              <a:t>có</a:t>
            </a:r>
            <a:r>
              <a:rPr lang="en-US" dirty="0"/>
              <a:t> </a:t>
            </a:r>
            <a:r>
              <a:rPr lang="en-US" dirty="0" err="1"/>
              <a:t>toạ</a:t>
            </a:r>
            <a:r>
              <a:rPr lang="en-US" dirty="0"/>
              <a:t> </a:t>
            </a:r>
            <a:r>
              <a:rPr lang="en-US" dirty="0" err="1"/>
              <a:t>độ</a:t>
            </a:r>
            <a:r>
              <a:rPr lang="en-US" dirty="0"/>
              <a:t> (</a:t>
            </a:r>
            <a:r>
              <a:rPr lang="en-US" dirty="0" err="1"/>
              <a:t>x,y</a:t>
            </a:r>
            <a:r>
              <a:rPr lang="en-US" dirty="0"/>
              <a:t>)</a:t>
            </a:r>
          </a:p>
          <a:p>
            <a:pPr lvl="2"/>
            <a:r>
              <a:rPr lang="en-US" dirty="0" err="1"/>
              <a:t>Nhập</a:t>
            </a:r>
            <a:r>
              <a:rPr lang="en-US" dirty="0"/>
              <a:t> </a:t>
            </a:r>
            <a:r>
              <a:rPr lang="en-US" dirty="0" err="1"/>
              <a:t>toạ</a:t>
            </a:r>
            <a:r>
              <a:rPr lang="en-US" dirty="0"/>
              <a:t> </a:t>
            </a:r>
            <a:r>
              <a:rPr lang="en-US" dirty="0" err="1"/>
              <a:t>độ</a:t>
            </a:r>
            <a:endParaRPr lang="en-US" dirty="0"/>
          </a:p>
          <a:p>
            <a:pPr lvl="2"/>
            <a:r>
              <a:rPr lang="en-US" dirty="0"/>
              <a:t>In </a:t>
            </a:r>
            <a:r>
              <a:rPr lang="en-US" dirty="0" err="1"/>
              <a:t>toạ</a:t>
            </a:r>
            <a:r>
              <a:rPr lang="en-US" dirty="0"/>
              <a:t> </a:t>
            </a:r>
            <a:r>
              <a:rPr lang="en-US" dirty="0" err="1"/>
              <a:t>độ</a:t>
            </a:r>
            <a:r>
              <a:rPr lang="en-US" dirty="0"/>
              <a:t> </a:t>
            </a:r>
            <a:r>
              <a:rPr lang="en-US" dirty="0" err="1"/>
              <a:t>điểm</a:t>
            </a:r>
            <a:r>
              <a:rPr lang="en-US" dirty="0"/>
              <a:t> ra </a:t>
            </a:r>
            <a:r>
              <a:rPr lang="en-US" dirty="0" err="1"/>
              <a:t>màn</a:t>
            </a:r>
            <a:r>
              <a:rPr lang="en-US" dirty="0"/>
              <a:t> </a:t>
            </a:r>
            <a:r>
              <a:rPr lang="en-US" dirty="0" err="1"/>
              <a:t>hình</a:t>
            </a:r>
            <a:endParaRPr lang="en-US" dirty="0"/>
          </a:p>
          <a:p>
            <a:pPr lvl="2"/>
            <a:r>
              <a:rPr lang="en-US" dirty="0" err="1"/>
              <a:t>Tính</a:t>
            </a:r>
            <a:r>
              <a:rPr lang="en-US" dirty="0"/>
              <a:t> </a:t>
            </a:r>
            <a:r>
              <a:rPr lang="en-US" dirty="0" err="1"/>
              <a:t>khoảng</a:t>
            </a:r>
            <a:r>
              <a:rPr lang="en-US" dirty="0"/>
              <a:t> </a:t>
            </a:r>
            <a:r>
              <a:rPr lang="en-US" dirty="0" err="1"/>
              <a:t>cách</a:t>
            </a:r>
            <a:r>
              <a:rPr lang="en-US" dirty="0"/>
              <a:t> </a:t>
            </a:r>
            <a:r>
              <a:rPr lang="en-US" dirty="0" err="1"/>
              <a:t>giữa</a:t>
            </a:r>
            <a:r>
              <a:rPr lang="en-US" dirty="0"/>
              <a:t> 2 </a:t>
            </a:r>
            <a:r>
              <a:rPr lang="en-US" dirty="0" err="1"/>
              <a:t>điểm</a:t>
            </a:r>
            <a:endParaRPr lang="en-US" dirty="0"/>
          </a:p>
        </p:txBody>
      </p:sp>
      <p:sp>
        <p:nvSpPr>
          <p:cNvPr id="4" name="Date Placeholder 3"/>
          <p:cNvSpPr>
            <a:spLocks noGrp="1"/>
          </p:cNvSpPr>
          <p:nvPr>
            <p:ph type="dt" sz="half" idx="10"/>
          </p:nvPr>
        </p:nvSpPr>
        <p:spPr/>
        <p:txBody>
          <a:bodyPr/>
          <a:lstStyle/>
          <a:p>
            <a:fld id="{BBBEF843-30DB-4EC0-B5D8-13B5F030E036}" type="datetime1">
              <a:rPr lang="vi-VN" smtClean="0"/>
              <a:t>04/02/2025</a:t>
            </a:fld>
            <a:endParaRPr lang="vi-VN"/>
          </a:p>
        </p:txBody>
      </p:sp>
      <p:sp>
        <p:nvSpPr>
          <p:cNvPr id="5" name="Footer Placeholder 4"/>
          <p:cNvSpPr>
            <a:spLocks noGrp="1"/>
          </p:cNvSpPr>
          <p:nvPr>
            <p:ph type="ftr" sz="quarter" idx="11"/>
          </p:nvPr>
        </p:nvSpPr>
        <p:spPr/>
        <p:txBody>
          <a:bodyPr/>
          <a:lstStyle/>
          <a:p>
            <a:r>
              <a:rPr lang="vi-VN"/>
              <a:t>Chương 3. Lập trình hướng đối tượng trong C#</a:t>
            </a:r>
          </a:p>
        </p:txBody>
      </p:sp>
      <p:sp>
        <p:nvSpPr>
          <p:cNvPr id="8" name="Slide Number Placeholder 7"/>
          <p:cNvSpPr>
            <a:spLocks noGrp="1"/>
          </p:cNvSpPr>
          <p:nvPr>
            <p:ph type="sldNum" sz="quarter" idx="12"/>
          </p:nvPr>
        </p:nvSpPr>
        <p:spPr/>
        <p:txBody>
          <a:bodyPr/>
          <a:lstStyle/>
          <a:p>
            <a:fld id="{5AB95402-1E0D-474E-8D8C-CBE7F053639E}" type="slidenum">
              <a:rPr lang="vi-VN" smtClean="0"/>
              <a:pPr/>
              <a:t>90</a:t>
            </a:fld>
            <a:r>
              <a:rPr lang="vi-VN"/>
              <a:t>/33</a:t>
            </a:r>
          </a:p>
        </p:txBody>
      </p:sp>
    </p:spTree>
    <p:extLst>
      <p:ext uri="{BB962C8B-B14F-4D97-AF65-F5344CB8AC3E}">
        <p14:creationId xmlns:p14="http://schemas.microsoft.com/office/powerpoint/2010/main" val="288127383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372172"/>
            <a:ext cx="8382000" cy="685800"/>
          </a:xfrm>
        </p:spPr>
        <p:txBody>
          <a:bodyPr/>
          <a:lstStyle/>
          <a:p>
            <a:r>
              <a:rPr lang="en-US"/>
              <a:t>Bài tập về nhà</a:t>
            </a:r>
          </a:p>
        </p:txBody>
      </p:sp>
      <p:sp>
        <p:nvSpPr>
          <p:cNvPr id="3" name="Content Placeholder 2"/>
          <p:cNvSpPr>
            <a:spLocks noGrp="1"/>
          </p:cNvSpPr>
          <p:nvPr>
            <p:ph idx="1"/>
          </p:nvPr>
        </p:nvSpPr>
        <p:spPr>
          <a:xfrm>
            <a:off x="762000" y="1143000"/>
            <a:ext cx="8382000" cy="5181600"/>
          </a:xfrm>
        </p:spPr>
        <p:txBody>
          <a:bodyPr/>
          <a:lstStyle/>
          <a:p>
            <a:r>
              <a:rPr lang="en-US"/>
              <a:t>Bài 3. Chương trình làm việc với mảng 1 chiều</a:t>
            </a:r>
          </a:p>
          <a:p>
            <a:pPr lvl="1"/>
            <a:r>
              <a:rPr lang="en-US"/>
              <a:t>Xây dựng lớp Mang1Chieu gồm</a:t>
            </a:r>
          </a:p>
          <a:p>
            <a:pPr marL="909637" lvl="2" indent="0">
              <a:buNone/>
            </a:pPr>
            <a:r>
              <a:rPr lang="en-US"/>
              <a:t>class Mang1Chieu{</a:t>
            </a:r>
          </a:p>
          <a:p>
            <a:pPr marL="909637" lvl="2" indent="0">
              <a:buNone/>
            </a:pPr>
            <a:r>
              <a:rPr lang="en-US"/>
              <a:t>     private int n; //Số phần tử của mảng</a:t>
            </a:r>
          </a:p>
          <a:p>
            <a:pPr marL="909637" lvl="2" indent="0">
              <a:buNone/>
            </a:pPr>
            <a:r>
              <a:rPr lang="en-US"/>
              <a:t>     int[ ] a; //Mảng 1 chiều</a:t>
            </a:r>
          </a:p>
          <a:p>
            <a:pPr marL="909637" lvl="2" indent="0">
              <a:buNone/>
            </a:pPr>
            <a:r>
              <a:rPr lang="en-US"/>
              <a:t>}</a:t>
            </a:r>
          </a:p>
          <a:p>
            <a:pPr lvl="1"/>
            <a:r>
              <a:rPr lang="en-US"/>
              <a:t>Xây dựng các phương thức trong lớp Mang1Chieu</a:t>
            </a:r>
          </a:p>
          <a:p>
            <a:pPr marL="908050" lvl="2" indent="-184150"/>
            <a:r>
              <a:rPr lang="en-US"/>
              <a:t> Hàm tạo Mang1Chieu(int n) để khởi tạo mảng gồm n phần tử</a:t>
            </a:r>
          </a:p>
          <a:p>
            <a:pPr marL="908050" lvl="2" indent="-184150"/>
            <a:r>
              <a:rPr lang="en-US"/>
              <a:t> Nhập mảng</a:t>
            </a:r>
          </a:p>
          <a:p>
            <a:pPr marL="908050" lvl="2" indent="-184150"/>
            <a:r>
              <a:rPr lang="en-US"/>
              <a:t> In mảng ra màn hình</a:t>
            </a:r>
          </a:p>
          <a:p>
            <a:pPr marL="908050" lvl="2" indent="-184150"/>
            <a:r>
              <a:rPr lang="en-US"/>
              <a:t> Sắp xếp mảng</a:t>
            </a:r>
          </a:p>
          <a:p>
            <a:pPr marL="908050" lvl="3" indent="-184150">
              <a:buNone/>
            </a:pPr>
            <a:r>
              <a:rPr lang="en-US"/>
              <a:t>     public  void sapxep(int thutu) //thutu = 0: tăng dần, thutu=1: giảm dần</a:t>
            </a:r>
          </a:p>
          <a:p>
            <a:pPr marL="908050" lvl="2" indent="-184150"/>
            <a:r>
              <a:rPr lang="en-US"/>
              <a:t> Tìm kiếm</a:t>
            </a:r>
          </a:p>
          <a:p>
            <a:pPr marL="908050" lvl="2" indent="-184150">
              <a:buNone/>
            </a:pPr>
            <a:r>
              <a:rPr lang="en-US" sz="1800"/>
              <a:t>     public  int timkiem(int  m) //Trả về -1 nếu không thấy, trả về vị trí nếu tìm thầy</a:t>
            </a:r>
          </a:p>
          <a:p>
            <a:pPr lvl="2"/>
            <a:endParaRPr lang="en-US"/>
          </a:p>
        </p:txBody>
      </p:sp>
      <p:sp>
        <p:nvSpPr>
          <p:cNvPr id="4" name="Date Placeholder 3"/>
          <p:cNvSpPr>
            <a:spLocks noGrp="1"/>
          </p:cNvSpPr>
          <p:nvPr>
            <p:ph type="dt" sz="half" idx="10"/>
          </p:nvPr>
        </p:nvSpPr>
        <p:spPr/>
        <p:txBody>
          <a:bodyPr/>
          <a:lstStyle/>
          <a:p>
            <a:fld id="{9307DC92-D28D-4626-A724-EBFA2F81813C}" type="datetime1">
              <a:rPr lang="vi-VN" smtClean="0"/>
              <a:t>04/02/2025</a:t>
            </a:fld>
            <a:endParaRPr lang="vi-VN"/>
          </a:p>
        </p:txBody>
      </p:sp>
      <p:sp>
        <p:nvSpPr>
          <p:cNvPr id="5" name="Footer Placeholder 4"/>
          <p:cNvSpPr>
            <a:spLocks noGrp="1"/>
          </p:cNvSpPr>
          <p:nvPr>
            <p:ph type="ftr" sz="quarter" idx="11"/>
          </p:nvPr>
        </p:nvSpPr>
        <p:spPr/>
        <p:txBody>
          <a:bodyPr/>
          <a:lstStyle/>
          <a:p>
            <a:r>
              <a:rPr lang="vi-VN"/>
              <a:t>Chương 3. Lập trình hướng đối tượng trong C#</a:t>
            </a:r>
          </a:p>
        </p:txBody>
      </p:sp>
      <p:sp>
        <p:nvSpPr>
          <p:cNvPr id="8" name="Slide Number Placeholder 7"/>
          <p:cNvSpPr>
            <a:spLocks noGrp="1"/>
          </p:cNvSpPr>
          <p:nvPr>
            <p:ph type="sldNum" sz="quarter" idx="12"/>
          </p:nvPr>
        </p:nvSpPr>
        <p:spPr/>
        <p:txBody>
          <a:bodyPr/>
          <a:lstStyle/>
          <a:p>
            <a:fld id="{5AB95402-1E0D-474E-8D8C-CBE7F053639E}" type="slidenum">
              <a:rPr lang="vi-VN" smtClean="0"/>
              <a:pPr/>
              <a:t>91</a:t>
            </a:fld>
            <a:r>
              <a:rPr lang="vi-VN"/>
              <a:t>/33</a:t>
            </a:r>
          </a:p>
        </p:txBody>
      </p:sp>
    </p:spTree>
    <p:extLst>
      <p:ext uri="{BB962C8B-B14F-4D97-AF65-F5344CB8AC3E}">
        <p14:creationId xmlns:p14="http://schemas.microsoft.com/office/powerpoint/2010/main" val="314452929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347120"/>
            <a:ext cx="8382000" cy="685800"/>
          </a:xfrm>
        </p:spPr>
        <p:txBody>
          <a:bodyPr/>
          <a:lstStyle/>
          <a:p>
            <a:r>
              <a:rPr lang="en-US"/>
              <a:t>Bài tập về nhà</a:t>
            </a:r>
          </a:p>
        </p:txBody>
      </p:sp>
      <p:sp>
        <p:nvSpPr>
          <p:cNvPr id="3" name="Content Placeholder 2"/>
          <p:cNvSpPr>
            <a:spLocks noGrp="1"/>
          </p:cNvSpPr>
          <p:nvPr>
            <p:ph idx="1"/>
          </p:nvPr>
        </p:nvSpPr>
        <p:spPr/>
        <p:txBody>
          <a:bodyPr/>
          <a:lstStyle/>
          <a:p>
            <a:r>
              <a:rPr lang="en-US" dirty="0" err="1"/>
              <a:t>Bài</a:t>
            </a:r>
            <a:r>
              <a:rPr lang="en-US" dirty="0"/>
              <a:t> 4. </a:t>
            </a:r>
            <a:r>
              <a:rPr lang="en-US" dirty="0" err="1"/>
              <a:t>Xây</a:t>
            </a:r>
            <a:r>
              <a:rPr lang="en-US" dirty="0"/>
              <a:t> </a:t>
            </a:r>
            <a:r>
              <a:rPr lang="en-US" dirty="0" err="1"/>
              <a:t>dựng</a:t>
            </a:r>
            <a:r>
              <a:rPr lang="en-US" dirty="0"/>
              <a:t> </a:t>
            </a:r>
            <a:r>
              <a:rPr lang="en-US" dirty="0" err="1"/>
              <a:t>lớp</a:t>
            </a:r>
            <a:r>
              <a:rPr lang="en-US" dirty="0"/>
              <a:t> </a:t>
            </a:r>
            <a:r>
              <a:rPr lang="en-US" dirty="0" err="1"/>
              <a:t>NhanVien</a:t>
            </a:r>
            <a:endParaRPr lang="en-US" dirty="0"/>
          </a:p>
          <a:p>
            <a:pPr lvl="1"/>
            <a:r>
              <a:rPr lang="en-US" dirty="0" err="1"/>
              <a:t>Các</a:t>
            </a:r>
            <a:r>
              <a:rPr lang="en-US" dirty="0"/>
              <a:t> </a:t>
            </a:r>
            <a:r>
              <a:rPr lang="en-US" dirty="0" err="1"/>
              <a:t>thành</a:t>
            </a:r>
            <a:r>
              <a:rPr lang="en-US" dirty="0"/>
              <a:t> </a:t>
            </a:r>
            <a:r>
              <a:rPr lang="en-US" dirty="0" err="1"/>
              <a:t>phần</a:t>
            </a:r>
            <a:r>
              <a:rPr lang="en-US" dirty="0"/>
              <a:t> </a:t>
            </a:r>
            <a:r>
              <a:rPr lang="en-US" dirty="0" err="1"/>
              <a:t>dữ</a:t>
            </a:r>
            <a:r>
              <a:rPr lang="en-US" dirty="0"/>
              <a:t> </a:t>
            </a:r>
            <a:r>
              <a:rPr lang="en-US" dirty="0" err="1"/>
              <a:t>liệu</a:t>
            </a:r>
            <a:endParaRPr lang="en-US" dirty="0"/>
          </a:p>
          <a:p>
            <a:pPr lvl="2"/>
            <a:r>
              <a:rPr lang="en-US" dirty="0" err="1"/>
              <a:t>Họ</a:t>
            </a:r>
            <a:r>
              <a:rPr lang="en-US" dirty="0"/>
              <a:t> </a:t>
            </a:r>
            <a:r>
              <a:rPr lang="en-US" dirty="0" err="1"/>
              <a:t>tên</a:t>
            </a:r>
            <a:r>
              <a:rPr lang="en-US" dirty="0"/>
              <a:t>, </a:t>
            </a:r>
            <a:r>
              <a:rPr lang="en-US" dirty="0" err="1"/>
              <a:t>Năm</a:t>
            </a:r>
            <a:r>
              <a:rPr lang="en-US" dirty="0"/>
              <a:t> </a:t>
            </a:r>
            <a:r>
              <a:rPr lang="en-US" dirty="0" err="1"/>
              <a:t>sinh</a:t>
            </a:r>
            <a:r>
              <a:rPr lang="en-US" dirty="0"/>
              <a:t>, </a:t>
            </a:r>
            <a:r>
              <a:rPr lang="en-US" dirty="0" err="1"/>
              <a:t>Địa</a:t>
            </a:r>
            <a:r>
              <a:rPr lang="en-US" dirty="0"/>
              <a:t> </a:t>
            </a:r>
            <a:r>
              <a:rPr lang="en-US" dirty="0" err="1"/>
              <a:t>chỉ</a:t>
            </a:r>
            <a:r>
              <a:rPr lang="en-US" dirty="0"/>
              <a:t>, </a:t>
            </a:r>
            <a:r>
              <a:rPr lang="en-US" dirty="0" err="1"/>
              <a:t>Lương</a:t>
            </a:r>
            <a:r>
              <a:rPr lang="en-US" dirty="0"/>
              <a:t> </a:t>
            </a:r>
            <a:r>
              <a:rPr lang="en-US" dirty="0" err="1"/>
              <a:t>cơ</a:t>
            </a:r>
            <a:r>
              <a:rPr lang="en-US" dirty="0"/>
              <a:t> </a:t>
            </a:r>
            <a:r>
              <a:rPr lang="en-US" dirty="0" err="1"/>
              <a:t>bản</a:t>
            </a:r>
            <a:r>
              <a:rPr lang="en-US" dirty="0"/>
              <a:t>, </a:t>
            </a:r>
            <a:r>
              <a:rPr lang="en-US" dirty="0" err="1"/>
              <a:t>Hệ</a:t>
            </a:r>
            <a:r>
              <a:rPr lang="en-US" dirty="0"/>
              <a:t> </a:t>
            </a:r>
            <a:r>
              <a:rPr lang="en-US" dirty="0" err="1"/>
              <a:t>số</a:t>
            </a:r>
            <a:r>
              <a:rPr lang="en-US" dirty="0"/>
              <a:t>, </a:t>
            </a:r>
            <a:r>
              <a:rPr lang="en-US" dirty="0" err="1"/>
              <a:t>Phụ</a:t>
            </a:r>
            <a:r>
              <a:rPr lang="en-US" dirty="0"/>
              <a:t> </a:t>
            </a:r>
            <a:r>
              <a:rPr lang="en-US" dirty="0" err="1"/>
              <a:t>cấp</a:t>
            </a:r>
            <a:r>
              <a:rPr lang="en-US" dirty="0"/>
              <a:t>, </a:t>
            </a:r>
            <a:r>
              <a:rPr lang="en-US" dirty="0" err="1"/>
              <a:t>Tổng</a:t>
            </a:r>
            <a:r>
              <a:rPr lang="en-US" dirty="0"/>
              <a:t> </a:t>
            </a:r>
            <a:r>
              <a:rPr lang="en-US" dirty="0" err="1"/>
              <a:t>tiền</a:t>
            </a:r>
            <a:endParaRPr lang="en-US" dirty="0"/>
          </a:p>
          <a:p>
            <a:pPr lvl="1"/>
            <a:r>
              <a:rPr lang="en-US" dirty="0" err="1"/>
              <a:t>Các</a:t>
            </a:r>
            <a:r>
              <a:rPr lang="en-US" dirty="0"/>
              <a:t> </a:t>
            </a:r>
            <a:r>
              <a:rPr lang="en-US" dirty="0" err="1"/>
              <a:t>phương</a:t>
            </a:r>
            <a:r>
              <a:rPr lang="en-US" dirty="0"/>
              <a:t> </a:t>
            </a:r>
            <a:r>
              <a:rPr lang="en-US" dirty="0" err="1"/>
              <a:t>thức</a:t>
            </a:r>
            <a:endParaRPr lang="en-US" dirty="0"/>
          </a:p>
          <a:p>
            <a:pPr lvl="2"/>
            <a:r>
              <a:rPr lang="en-US" dirty="0" err="1"/>
              <a:t>Hàm</a:t>
            </a:r>
            <a:r>
              <a:rPr lang="en-US" dirty="0"/>
              <a:t> </a:t>
            </a:r>
            <a:r>
              <a:rPr lang="en-US" dirty="0" err="1"/>
              <a:t>tạo</a:t>
            </a:r>
            <a:r>
              <a:rPr lang="en-US" dirty="0"/>
              <a:t> </a:t>
            </a:r>
            <a:r>
              <a:rPr lang="en-US" dirty="0" err="1"/>
              <a:t>không</a:t>
            </a:r>
            <a:r>
              <a:rPr lang="en-US" dirty="0"/>
              <a:t> </a:t>
            </a:r>
            <a:r>
              <a:rPr lang="en-US" dirty="0" err="1"/>
              <a:t>tham</a:t>
            </a:r>
            <a:r>
              <a:rPr lang="en-US" dirty="0"/>
              <a:t> </a:t>
            </a:r>
            <a:r>
              <a:rPr lang="en-US" dirty="0" err="1"/>
              <a:t>số</a:t>
            </a:r>
            <a:endParaRPr lang="en-US" dirty="0"/>
          </a:p>
          <a:p>
            <a:pPr lvl="2"/>
            <a:r>
              <a:rPr lang="en-US" dirty="0" err="1"/>
              <a:t>Nhập</a:t>
            </a:r>
            <a:r>
              <a:rPr lang="en-US" dirty="0"/>
              <a:t> </a:t>
            </a:r>
            <a:r>
              <a:rPr lang="en-US" dirty="0" err="1"/>
              <a:t>nhân</a:t>
            </a:r>
            <a:r>
              <a:rPr lang="en-US" dirty="0"/>
              <a:t> </a:t>
            </a:r>
            <a:r>
              <a:rPr lang="en-US" dirty="0" err="1"/>
              <a:t>viên</a:t>
            </a:r>
            <a:endParaRPr lang="en-US" dirty="0"/>
          </a:p>
          <a:p>
            <a:pPr lvl="2"/>
            <a:r>
              <a:rPr lang="en-US" dirty="0" err="1"/>
              <a:t>Tính</a:t>
            </a:r>
            <a:r>
              <a:rPr lang="en-US" dirty="0"/>
              <a:t> </a:t>
            </a:r>
            <a:r>
              <a:rPr lang="en-US" dirty="0" err="1"/>
              <a:t>lương</a:t>
            </a:r>
            <a:r>
              <a:rPr lang="en-US" dirty="0"/>
              <a:t>: </a:t>
            </a:r>
            <a:r>
              <a:rPr lang="en-US" dirty="0" err="1"/>
              <a:t>Tổng</a:t>
            </a:r>
            <a:r>
              <a:rPr lang="en-US" dirty="0"/>
              <a:t> </a:t>
            </a:r>
            <a:r>
              <a:rPr lang="en-US" dirty="0" err="1"/>
              <a:t>tiền</a:t>
            </a:r>
            <a:r>
              <a:rPr lang="en-US" dirty="0"/>
              <a:t> = </a:t>
            </a:r>
            <a:r>
              <a:rPr lang="en-US" dirty="0" err="1"/>
              <a:t>Lương</a:t>
            </a:r>
            <a:r>
              <a:rPr lang="en-US" dirty="0"/>
              <a:t> </a:t>
            </a:r>
            <a:r>
              <a:rPr lang="en-US" dirty="0" err="1"/>
              <a:t>cơ</a:t>
            </a:r>
            <a:r>
              <a:rPr lang="en-US" dirty="0"/>
              <a:t> </a:t>
            </a:r>
            <a:r>
              <a:rPr lang="en-US" dirty="0" err="1"/>
              <a:t>bản</a:t>
            </a:r>
            <a:r>
              <a:rPr lang="en-US" dirty="0"/>
              <a:t> x </a:t>
            </a:r>
            <a:r>
              <a:rPr lang="en-US" dirty="0" err="1"/>
              <a:t>Hệ</a:t>
            </a:r>
            <a:r>
              <a:rPr lang="en-US" dirty="0"/>
              <a:t> </a:t>
            </a:r>
            <a:r>
              <a:rPr lang="en-US" dirty="0" err="1"/>
              <a:t>số</a:t>
            </a:r>
            <a:r>
              <a:rPr lang="en-US" dirty="0"/>
              <a:t> + </a:t>
            </a:r>
            <a:r>
              <a:rPr lang="en-US" dirty="0" err="1"/>
              <a:t>Phụ</a:t>
            </a:r>
            <a:r>
              <a:rPr lang="en-US" dirty="0"/>
              <a:t> </a:t>
            </a:r>
            <a:r>
              <a:rPr lang="en-US" dirty="0" err="1"/>
              <a:t>cấp</a:t>
            </a:r>
            <a:endParaRPr lang="en-US" dirty="0"/>
          </a:p>
          <a:p>
            <a:pPr lvl="2"/>
            <a:r>
              <a:rPr lang="en-US" dirty="0"/>
              <a:t>In </a:t>
            </a:r>
            <a:r>
              <a:rPr lang="en-US" dirty="0" err="1"/>
              <a:t>nhân</a:t>
            </a:r>
            <a:r>
              <a:rPr lang="en-US" dirty="0"/>
              <a:t> </a:t>
            </a:r>
            <a:r>
              <a:rPr lang="en-US" dirty="0" err="1"/>
              <a:t>viên</a:t>
            </a:r>
            <a:r>
              <a:rPr lang="en-US" dirty="0"/>
              <a:t> </a:t>
            </a:r>
            <a:r>
              <a:rPr lang="en-US" dirty="0" err="1"/>
              <a:t>ra</a:t>
            </a:r>
            <a:r>
              <a:rPr lang="en-US" dirty="0"/>
              <a:t> </a:t>
            </a:r>
            <a:r>
              <a:rPr lang="en-US" dirty="0" err="1"/>
              <a:t>màn</a:t>
            </a:r>
            <a:r>
              <a:rPr lang="en-US" dirty="0"/>
              <a:t> </a:t>
            </a:r>
            <a:r>
              <a:rPr lang="en-US" dirty="0" err="1"/>
              <a:t>hình</a:t>
            </a:r>
            <a:endParaRPr lang="en-US" dirty="0"/>
          </a:p>
          <a:p>
            <a:pPr lvl="2"/>
            <a:endParaRPr lang="en-US" dirty="0"/>
          </a:p>
        </p:txBody>
      </p:sp>
      <p:sp>
        <p:nvSpPr>
          <p:cNvPr id="4" name="Date Placeholder 3"/>
          <p:cNvSpPr>
            <a:spLocks noGrp="1"/>
          </p:cNvSpPr>
          <p:nvPr>
            <p:ph type="dt" sz="half" idx="10"/>
          </p:nvPr>
        </p:nvSpPr>
        <p:spPr/>
        <p:txBody>
          <a:bodyPr/>
          <a:lstStyle/>
          <a:p>
            <a:fld id="{4432D43F-DF81-440A-A98C-CC918185A4E8}" type="datetime1">
              <a:rPr lang="vi-VN" smtClean="0"/>
              <a:t>04/02/2025</a:t>
            </a:fld>
            <a:endParaRPr lang="vi-VN"/>
          </a:p>
        </p:txBody>
      </p:sp>
      <p:sp>
        <p:nvSpPr>
          <p:cNvPr id="5" name="Footer Placeholder 4"/>
          <p:cNvSpPr>
            <a:spLocks noGrp="1"/>
          </p:cNvSpPr>
          <p:nvPr>
            <p:ph type="ftr" sz="quarter" idx="11"/>
          </p:nvPr>
        </p:nvSpPr>
        <p:spPr/>
        <p:txBody>
          <a:bodyPr/>
          <a:lstStyle/>
          <a:p>
            <a:r>
              <a:rPr lang="vi-VN"/>
              <a:t>Chương 3. Lập trình hướng đối tượng trong C#</a:t>
            </a:r>
          </a:p>
        </p:txBody>
      </p:sp>
      <p:sp>
        <p:nvSpPr>
          <p:cNvPr id="8" name="Slide Number Placeholder 7"/>
          <p:cNvSpPr>
            <a:spLocks noGrp="1"/>
          </p:cNvSpPr>
          <p:nvPr>
            <p:ph type="sldNum" sz="quarter" idx="12"/>
          </p:nvPr>
        </p:nvSpPr>
        <p:spPr/>
        <p:txBody>
          <a:bodyPr/>
          <a:lstStyle/>
          <a:p>
            <a:fld id="{5AB95402-1E0D-474E-8D8C-CBE7F053639E}" type="slidenum">
              <a:rPr lang="vi-VN" smtClean="0"/>
              <a:pPr/>
              <a:t>92</a:t>
            </a:fld>
            <a:r>
              <a:rPr lang="vi-VN"/>
              <a:t>/33</a:t>
            </a:r>
          </a:p>
        </p:txBody>
      </p:sp>
    </p:spTree>
    <p:extLst>
      <p:ext uri="{BB962C8B-B14F-4D97-AF65-F5344CB8AC3E}">
        <p14:creationId xmlns:p14="http://schemas.microsoft.com/office/powerpoint/2010/main" val="349529097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4463" y="381000"/>
            <a:ext cx="8382000" cy="685800"/>
          </a:xfrm>
        </p:spPr>
        <p:txBody>
          <a:bodyPr/>
          <a:lstStyle/>
          <a:p>
            <a:r>
              <a:rPr lang="en-US"/>
              <a:t>Bài tập về nhà</a:t>
            </a:r>
          </a:p>
        </p:txBody>
      </p:sp>
      <p:sp>
        <p:nvSpPr>
          <p:cNvPr id="3" name="Content Placeholder 2"/>
          <p:cNvSpPr>
            <a:spLocks noGrp="1"/>
          </p:cNvSpPr>
          <p:nvPr>
            <p:ph idx="1"/>
          </p:nvPr>
        </p:nvSpPr>
        <p:spPr/>
        <p:txBody>
          <a:bodyPr/>
          <a:lstStyle/>
          <a:p>
            <a:r>
              <a:rPr lang="en-US" dirty="0" err="1"/>
              <a:t>Bài</a:t>
            </a:r>
            <a:r>
              <a:rPr lang="en-US" dirty="0"/>
              <a:t> 5. </a:t>
            </a:r>
            <a:r>
              <a:rPr lang="en-US" dirty="0" err="1"/>
              <a:t>Chương</a:t>
            </a:r>
            <a:r>
              <a:rPr lang="en-US" dirty="0"/>
              <a:t> </a:t>
            </a:r>
            <a:r>
              <a:rPr lang="en-US" dirty="0" err="1"/>
              <a:t>trình</a:t>
            </a:r>
            <a:r>
              <a:rPr lang="en-US" dirty="0"/>
              <a:t> </a:t>
            </a:r>
            <a:r>
              <a:rPr lang="en-US" dirty="0" err="1"/>
              <a:t>quản</a:t>
            </a:r>
            <a:r>
              <a:rPr lang="en-US" dirty="0"/>
              <a:t> </a:t>
            </a:r>
            <a:r>
              <a:rPr lang="en-US" dirty="0" err="1"/>
              <a:t>lý</a:t>
            </a:r>
            <a:r>
              <a:rPr lang="en-US" dirty="0"/>
              <a:t> </a:t>
            </a:r>
            <a:r>
              <a:rPr lang="en-US" dirty="0" err="1"/>
              <a:t>Sinh</a:t>
            </a:r>
            <a:r>
              <a:rPr lang="en-US" dirty="0"/>
              <a:t> </a:t>
            </a:r>
            <a:r>
              <a:rPr lang="en-US" dirty="0" err="1"/>
              <a:t>viên</a:t>
            </a:r>
            <a:endParaRPr lang="en-US" dirty="0"/>
          </a:p>
          <a:p>
            <a:pPr lvl="1"/>
            <a:r>
              <a:rPr lang="en-US" dirty="0" err="1"/>
              <a:t>Xây</a:t>
            </a:r>
            <a:r>
              <a:rPr lang="en-US" dirty="0"/>
              <a:t> </a:t>
            </a:r>
            <a:r>
              <a:rPr lang="en-US" dirty="0" err="1"/>
              <a:t>dựng</a:t>
            </a:r>
            <a:r>
              <a:rPr lang="en-US" dirty="0"/>
              <a:t> </a:t>
            </a:r>
            <a:r>
              <a:rPr lang="en-US" dirty="0" err="1"/>
              <a:t>lớp</a:t>
            </a:r>
            <a:r>
              <a:rPr lang="en-US" dirty="0"/>
              <a:t> </a:t>
            </a:r>
            <a:r>
              <a:rPr lang="en-US" dirty="0" err="1"/>
              <a:t>SinhVien</a:t>
            </a:r>
            <a:endParaRPr lang="en-US" dirty="0"/>
          </a:p>
          <a:p>
            <a:pPr lvl="2"/>
            <a:r>
              <a:rPr lang="en-US" dirty="0" err="1"/>
              <a:t>Các</a:t>
            </a:r>
            <a:r>
              <a:rPr lang="en-US" dirty="0"/>
              <a:t> </a:t>
            </a:r>
            <a:r>
              <a:rPr lang="en-US" dirty="0" err="1"/>
              <a:t>thành</a:t>
            </a:r>
            <a:r>
              <a:rPr lang="en-US" dirty="0"/>
              <a:t> </a:t>
            </a:r>
            <a:r>
              <a:rPr lang="en-US" dirty="0" err="1"/>
              <a:t>phần</a:t>
            </a:r>
            <a:r>
              <a:rPr lang="en-US" dirty="0"/>
              <a:t> </a:t>
            </a:r>
            <a:r>
              <a:rPr lang="en-US" dirty="0" err="1"/>
              <a:t>dữ</a:t>
            </a:r>
            <a:r>
              <a:rPr lang="en-US" dirty="0"/>
              <a:t> </a:t>
            </a:r>
            <a:r>
              <a:rPr lang="en-US" dirty="0" err="1"/>
              <a:t>liệu</a:t>
            </a:r>
            <a:r>
              <a:rPr lang="en-US" dirty="0"/>
              <a:t>: </a:t>
            </a:r>
          </a:p>
          <a:p>
            <a:pPr lvl="3"/>
            <a:r>
              <a:rPr lang="en-US" dirty="0" err="1"/>
              <a:t>Mã</a:t>
            </a:r>
            <a:r>
              <a:rPr lang="en-US" dirty="0"/>
              <a:t> </a:t>
            </a:r>
            <a:r>
              <a:rPr lang="en-US" dirty="0" err="1"/>
              <a:t>sinh</a:t>
            </a:r>
            <a:r>
              <a:rPr lang="en-US" dirty="0"/>
              <a:t> </a:t>
            </a:r>
            <a:r>
              <a:rPr lang="en-US" dirty="0" err="1"/>
              <a:t>viên</a:t>
            </a:r>
            <a:r>
              <a:rPr lang="en-US" dirty="0"/>
              <a:t>, </a:t>
            </a:r>
            <a:r>
              <a:rPr lang="en-US" dirty="0" err="1"/>
              <a:t>Họ</a:t>
            </a:r>
            <a:r>
              <a:rPr lang="en-US" dirty="0"/>
              <a:t> </a:t>
            </a:r>
            <a:r>
              <a:rPr lang="en-US" dirty="0" err="1"/>
              <a:t>tên</a:t>
            </a:r>
            <a:r>
              <a:rPr lang="en-US" dirty="0"/>
              <a:t>, </a:t>
            </a:r>
            <a:r>
              <a:rPr lang="en-US" dirty="0" err="1"/>
              <a:t>Năm</a:t>
            </a:r>
            <a:r>
              <a:rPr lang="en-US" dirty="0"/>
              <a:t> </a:t>
            </a:r>
            <a:r>
              <a:rPr lang="en-US" dirty="0" err="1"/>
              <a:t>sinh</a:t>
            </a:r>
            <a:r>
              <a:rPr lang="en-US" dirty="0"/>
              <a:t>, </a:t>
            </a:r>
            <a:r>
              <a:rPr lang="en-US" dirty="0" err="1"/>
              <a:t>Quê</a:t>
            </a:r>
            <a:r>
              <a:rPr lang="en-US" dirty="0"/>
              <a:t> </a:t>
            </a:r>
            <a:r>
              <a:rPr lang="en-US" dirty="0" err="1"/>
              <a:t>quán</a:t>
            </a:r>
            <a:r>
              <a:rPr lang="en-US" dirty="0"/>
              <a:t>, </a:t>
            </a:r>
            <a:r>
              <a:rPr lang="en-US" dirty="0" err="1"/>
              <a:t>Điểm</a:t>
            </a:r>
            <a:r>
              <a:rPr lang="en-US" dirty="0"/>
              <a:t> </a:t>
            </a:r>
            <a:r>
              <a:rPr lang="en-US" dirty="0" err="1"/>
              <a:t>lập</a:t>
            </a:r>
            <a:r>
              <a:rPr lang="en-US" dirty="0"/>
              <a:t> </a:t>
            </a:r>
            <a:r>
              <a:rPr lang="en-US" dirty="0" err="1"/>
              <a:t>trình</a:t>
            </a:r>
            <a:r>
              <a:rPr lang="en-US" dirty="0"/>
              <a:t>, </a:t>
            </a:r>
            <a:r>
              <a:rPr lang="en-US" dirty="0" err="1"/>
              <a:t>Điểm</a:t>
            </a:r>
            <a:r>
              <a:rPr lang="en-US" dirty="0"/>
              <a:t> CSDL , </a:t>
            </a:r>
            <a:r>
              <a:rPr lang="en-US" dirty="0" err="1"/>
              <a:t>Điểm</a:t>
            </a:r>
            <a:r>
              <a:rPr lang="en-US" dirty="0"/>
              <a:t> TB (</a:t>
            </a:r>
            <a:r>
              <a:rPr lang="en-US" dirty="0" err="1"/>
              <a:t>trong</a:t>
            </a:r>
            <a:r>
              <a:rPr lang="en-US" dirty="0"/>
              <a:t> </a:t>
            </a:r>
            <a:r>
              <a:rPr lang="en-US" dirty="0" err="1"/>
              <a:t>đó</a:t>
            </a:r>
            <a:r>
              <a:rPr lang="en-US" dirty="0"/>
              <a:t>: </a:t>
            </a:r>
            <a:r>
              <a:rPr lang="en-US" dirty="0" err="1"/>
              <a:t>Điểm</a:t>
            </a:r>
            <a:r>
              <a:rPr lang="en-US" dirty="0"/>
              <a:t> TB=</a:t>
            </a:r>
            <a:r>
              <a:rPr lang="en-US" dirty="0" err="1"/>
              <a:t>Điểm</a:t>
            </a:r>
            <a:r>
              <a:rPr lang="en-US" dirty="0"/>
              <a:t> </a:t>
            </a:r>
            <a:r>
              <a:rPr lang="en-US" dirty="0" err="1"/>
              <a:t>Lập</a:t>
            </a:r>
            <a:r>
              <a:rPr lang="en-US" dirty="0"/>
              <a:t> </a:t>
            </a:r>
            <a:r>
              <a:rPr lang="en-US" dirty="0" err="1"/>
              <a:t>trình</a:t>
            </a:r>
            <a:r>
              <a:rPr lang="en-US" dirty="0"/>
              <a:t> + </a:t>
            </a:r>
            <a:r>
              <a:rPr lang="en-US" dirty="0" err="1"/>
              <a:t>Điểm</a:t>
            </a:r>
            <a:r>
              <a:rPr lang="en-US" dirty="0"/>
              <a:t> CSDL)/2</a:t>
            </a:r>
          </a:p>
          <a:p>
            <a:pPr lvl="2"/>
            <a:r>
              <a:rPr lang="en-US" dirty="0" err="1"/>
              <a:t>Các</a:t>
            </a:r>
            <a:r>
              <a:rPr lang="en-US" dirty="0"/>
              <a:t> </a:t>
            </a:r>
            <a:r>
              <a:rPr lang="en-US" dirty="0" err="1"/>
              <a:t>hàm</a:t>
            </a:r>
            <a:r>
              <a:rPr lang="en-US" dirty="0"/>
              <a:t> </a:t>
            </a:r>
            <a:r>
              <a:rPr lang="en-US" dirty="0" err="1"/>
              <a:t>tạo</a:t>
            </a:r>
            <a:endParaRPr lang="en-US" dirty="0"/>
          </a:p>
          <a:p>
            <a:pPr lvl="3"/>
            <a:r>
              <a:rPr lang="en-US" dirty="0" err="1"/>
              <a:t>Hàm</a:t>
            </a:r>
            <a:r>
              <a:rPr lang="en-US" dirty="0"/>
              <a:t> </a:t>
            </a:r>
            <a:r>
              <a:rPr lang="en-US" dirty="0" err="1"/>
              <a:t>tạo</a:t>
            </a:r>
            <a:r>
              <a:rPr lang="en-US" dirty="0"/>
              <a:t> </a:t>
            </a:r>
            <a:r>
              <a:rPr lang="en-US" dirty="0" err="1"/>
              <a:t>không</a:t>
            </a:r>
            <a:r>
              <a:rPr lang="en-US" dirty="0"/>
              <a:t> </a:t>
            </a:r>
            <a:r>
              <a:rPr lang="en-US" dirty="0" err="1"/>
              <a:t>tham</a:t>
            </a:r>
            <a:r>
              <a:rPr lang="en-US" dirty="0"/>
              <a:t> </a:t>
            </a:r>
            <a:r>
              <a:rPr lang="en-US" dirty="0" err="1"/>
              <a:t>số</a:t>
            </a:r>
            <a:endParaRPr lang="en-US" dirty="0"/>
          </a:p>
          <a:p>
            <a:pPr lvl="3"/>
            <a:r>
              <a:rPr lang="en-US" dirty="0" err="1"/>
              <a:t>Hàm</a:t>
            </a:r>
            <a:r>
              <a:rPr lang="en-US" dirty="0"/>
              <a:t> </a:t>
            </a:r>
            <a:r>
              <a:rPr lang="en-US" dirty="0" err="1"/>
              <a:t>tạo</a:t>
            </a:r>
            <a:r>
              <a:rPr lang="en-US" dirty="0"/>
              <a:t> </a:t>
            </a:r>
            <a:r>
              <a:rPr lang="en-US" dirty="0" err="1"/>
              <a:t>có</a:t>
            </a:r>
            <a:r>
              <a:rPr lang="en-US" dirty="0"/>
              <a:t> 5 </a:t>
            </a:r>
            <a:r>
              <a:rPr lang="en-US" dirty="0" err="1"/>
              <a:t>tham</a:t>
            </a:r>
            <a:r>
              <a:rPr lang="en-US" dirty="0"/>
              <a:t> </a:t>
            </a:r>
            <a:r>
              <a:rPr lang="en-US" dirty="0" err="1"/>
              <a:t>số</a:t>
            </a:r>
            <a:r>
              <a:rPr lang="en-US" dirty="0"/>
              <a:t> (</a:t>
            </a:r>
            <a:r>
              <a:rPr lang="en-US" dirty="0" err="1"/>
              <a:t>Họ</a:t>
            </a:r>
            <a:r>
              <a:rPr lang="en-US" dirty="0"/>
              <a:t> </a:t>
            </a:r>
            <a:r>
              <a:rPr lang="en-US" dirty="0" err="1"/>
              <a:t>tên</a:t>
            </a:r>
            <a:r>
              <a:rPr lang="en-US" dirty="0"/>
              <a:t>, </a:t>
            </a:r>
            <a:r>
              <a:rPr lang="en-US" dirty="0" err="1"/>
              <a:t>năm</a:t>
            </a:r>
            <a:r>
              <a:rPr lang="en-US" dirty="0"/>
              <a:t> </a:t>
            </a:r>
            <a:r>
              <a:rPr lang="en-US" dirty="0" err="1"/>
              <a:t>sinh</a:t>
            </a:r>
            <a:r>
              <a:rPr lang="en-US" dirty="0"/>
              <a:t>, </a:t>
            </a:r>
            <a:r>
              <a:rPr lang="en-US" dirty="0" err="1"/>
              <a:t>quê</a:t>
            </a:r>
            <a:r>
              <a:rPr lang="en-US" dirty="0"/>
              <a:t> </a:t>
            </a:r>
            <a:r>
              <a:rPr lang="en-US" dirty="0" err="1"/>
              <a:t>quán</a:t>
            </a:r>
            <a:r>
              <a:rPr lang="en-US" dirty="0"/>
              <a:t>, </a:t>
            </a:r>
            <a:r>
              <a:rPr lang="en-US" dirty="0" err="1"/>
              <a:t>Điểm</a:t>
            </a:r>
            <a:r>
              <a:rPr lang="en-US" dirty="0"/>
              <a:t> </a:t>
            </a:r>
            <a:r>
              <a:rPr lang="en-US" dirty="0" err="1"/>
              <a:t>lập</a:t>
            </a:r>
            <a:r>
              <a:rPr lang="en-US" dirty="0"/>
              <a:t> </a:t>
            </a:r>
            <a:r>
              <a:rPr lang="en-US" dirty="0" err="1"/>
              <a:t>trình</a:t>
            </a:r>
            <a:r>
              <a:rPr lang="en-US" dirty="0"/>
              <a:t>, </a:t>
            </a:r>
            <a:r>
              <a:rPr lang="en-US" dirty="0" err="1"/>
              <a:t>Điểm</a:t>
            </a:r>
            <a:r>
              <a:rPr lang="en-US" dirty="0"/>
              <a:t> CSDL)</a:t>
            </a:r>
          </a:p>
          <a:p>
            <a:pPr lvl="2"/>
            <a:r>
              <a:rPr lang="en-US" dirty="0" err="1"/>
              <a:t>Các</a:t>
            </a:r>
            <a:r>
              <a:rPr lang="en-US" dirty="0"/>
              <a:t> </a:t>
            </a:r>
            <a:r>
              <a:rPr lang="en-US" dirty="0" err="1"/>
              <a:t>phương</a:t>
            </a:r>
            <a:r>
              <a:rPr lang="en-US" dirty="0"/>
              <a:t> </a:t>
            </a:r>
            <a:r>
              <a:rPr lang="en-US" dirty="0" err="1"/>
              <a:t>thức</a:t>
            </a:r>
            <a:endParaRPr lang="en-US" dirty="0"/>
          </a:p>
          <a:p>
            <a:pPr lvl="3"/>
            <a:r>
              <a:rPr lang="en-US" dirty="0" err="1"/>
              <a:t>Nhập</a:t>
            </a:r>
            <a:r>
              <a:rPr lang="en-US" dirty="0"/>
              <a:t> </a:t>
            </a:r>
            <a:r>
              <a:rPr lang="en-US" dirty="0" err="1"/>
              <a:t>thông</a:t>
            </a:r>
            <a:r>
              <a:rPr lang="en-US" dirty="0"/>
              <a:t> tin </a:t>
            </a:r>
            <a:r>
              <a:rPr lang="en-US" dirty="0" err="1"/>
              <a:t>sinh</a:t>
            </a:r>
            <a:r>
              <a:rPr lang="en-US" dirty="0"/>
              <a:t> </a:t>
            </a:r>
            <a:r>
              <a:rPr lang="en-US" dirty="0" err="1"/>
              <a:t>viên</a:t>
            </a:r>
            <a:endParaRPr lang="en-US" dirty="0"/>
          </a:p>
          <a:p>
            <a:pPr lvl="3"/>
            <a:r>
              <a:rPr lang="en-US" dirty="0"/>
              <a:t>In </a:t>
            </a:r>
            <a:r>
              <a:rPr lang="en-US" dirty="0" err="1"/>
              <a:t>thông</a:t>
            </a:r>
            <a:r>
              <a:rPr lang="en-US" dirty="0"/>
              <a:t> tin </a:t>
            </a:r>
            <a:r>
              <a:rPr lang="en-US" dirty="0" err="1"/>
              <a:t>sinh</a:t>
            </a:r>
            <a:r>
              <a:rPr lang="en-US" dirty="0"/>
              <a:t> </a:t>
            </a:r>
            <a:r>
              <a:rPr lang="en-US" dirty="0" err="1"/>
              <a:t>viên</a:t>
            </a:r>
            <a:r>
              <a:rPr lang="en-US" dirty="0"/>
              <a:t> ra </a:t>
            </a:r>
            <a:r>
              <a:rPr lang="en-US" dirty="0" err="1"/>
              <a:t>màn</a:t>
            </a:r>
            <a:r>
              <a:rPr lang="en-US" dirty="0"/>
              <a:t> </a:t>
            </a:r>
            <a:r>
              <a:rPr lang="en-US" dirty="0" err="1"/>
              <a:t>hình</a:t>
            </a:r>
            <a:endParaRPr lang="en-US" dirty="0"/>
          </a:p>
          <a:p>
            <a:pPr lvl="3"/>
            <a:endParaRPr lang="en-US" dirty="0"/>
          </a:p>
          <a:p>
            <a:endParaRPr lang="en-US" dirty="0"/>
          </a:p>
        </p:txBody>
      </p:sp>
      <p:sp>
        <p:nvSpPr>
          <p:cNvPr id="4" name="Date Placeholder 3"/>
          <p:cNvSpPr>
            <a:spLocks noGrp="1"/>
          </p:cNvSpPr>
          <p:nvPr>
            <p:ph type="dt" sz="half" idx="10"/>
          </p:nvPr>
        </p:nvSpPr>
        <p:spPr/>
        <p:txBody>
          <a:bodyPr/>
          <a:lstStyle/>
          <a:p>
            <a:fld id="{392E7D5C-3296-44A2-B203-344FEDE516DA}" type="datetime1">
              <a:rPr lang="vi-VN" smtClean="0"/>
              <a:t>04/02/2025</a:t>
            </a:fld>
            <a:endParaRPr lang="vi-VN"/>
          </a:p>
        </p:txBody>
      </p:sp>
      <p:sp>
        <p:nvSpPr>
          <p:cNvPr id="5" name="Footer Placeholder 4"/>
          <p:cNvSpPr>
            <a:spLocks noGrp="1"/>
          </p:cNvSpPr>
          <p:nvPr>
            <p:ph type="ftr" sz="quarter" idx="11"/>
          </p:nvPr>
        </p:nvSpPr>
        <p:spPr/>
        <p:txBody>
          <a:bodyPr/>
          <a:lstStyle/>
          <a:p>
            <a:r>
              <a:rPr lang="vi-VN"/>
              <a:t>Chương 3. Lập trình hướng đối tượng trong C#</a:t>
            </a:r>
          </a:p>
        </p:txBody>
      </p:sp>
      <p:sp>
        <p:nvSpPr>
          <p:cNvPr id="8" name="Slide Number Placeholder 7"/>
          <p:cNvSpPr>
            <a:spLocks noGrp="1"/>
          </p:cNvSpPr>
          <p:nvPr>
            <p:ph type="sldNum" sz="quarter" idx="12"/>
          </p:nvPr>
        </p:nvSpPr>
        <p:spPr/>
        <p:txBody>
          <a:bodyPr/>
          <a:lstStyle/>
          <a:p>
            <a:fld id="{5AB95402-1E0D-474E-8D8C-CBE7F053639E}" type="slidenum">
              <a:rPr lang="vi-VN" smtClean="0"/>
              <a:pPr/>
              <a:t>93</a:t>
            </a:fld>
            <a:r>
              <a:rPr lang="vi-VN"/>
              <a:t>/33</a:t>
            </a:r>
          </a:p>
        </p:txBody>
      </p:sp>
    </p:spTree>
    <p:extLst>
      <p:ext uri="{BB962C8B-B14F-4D97-AF65-F5344CB8AC3E}">
        <p14:creationId xmlns:p14="http://schemas.microsoft.com/office/powerpoint/2010/main" val="273050628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666EB48-3AD3-F27A-EB7B-D7890644B0C4}"/>
              </a:ext>
            </a:extLst>
          </p:cNvPr>
          <p:cNvSpPr>
            <a:spLocks noGrp="1"/>
          </p:cNvSpPr>
          <p:nvPr>
            <p:ph idx="1"/>
          </p:nvPr>
        </p:nvSpPr>
        <p:spPr/>
        <p:txBody>
          <a:bodyPr/>
          <a:lstStyle/>
          <a:p>
            <a:r>
              <a:rPr lang="en-US" dirty="0" err="1"/>
              <a:t>Xây</a:t>
            </a:r>
            <a:r>
              <a:rPr lang="en-US" dirty="0"/>
              <a:t> </a:t>
            </a:r>
            <a:r>
              <a:rPr lang="en-US" dirty="0" err="1"/>
              <a:t>dựng</a:t>
            </a:r>
            <a:r>
              <a:rPr lang="en-US" dirty="0"/>
              <a:t> </a:t>
            </a:r>
            <a:r>
              <a:rPr lang="en-US" dirty="0" err="1"/>
              <a:t>lớp</a:t>
            </a:r>
            <a:r>
              <a:rPr lang="en-US" dirty="0"/>
              <a:t> </a:t>
            </a:r>
            <a:r>
              <a:rPr lang="en-US" dirty="0" err="1"/>
              <a:t>NhanVien</a:t>
            </a:r>
            <a:endParaRPr lang="en-US" dirty="0"/>
          </a:p>
          <a:p>
            <a:pPr lvl="1"/>
            <a:r>
              <a:rPr lang="en-US" dirty="0" err="1"/>
              <a:t>Thuộc</a:t>
            </a:r>
            <a:r>
              <a:rPr lang="en-US" dirty="0"/>
              <a:t> </a:t>
            </a:r>
            <a:r>
              <a:rPr lang="en-US" dirty="0" err="1"/>
              <a:t>tính</a:t>
            </a:r>
            <a:r>
              <a:rPr lang="en-US" dirty="0"/>
              <a:t>: </a:t>
            </a:r>
            <a:r>
              <a:rPr lang="en-US" dirty="0" err="1"/>
              <a:t>HoTen</a:t>
            </a:r>
            <a:r>
              <a:rPr lang="en-US" dirty="0"/>
              <a:t>, </a:t>
            </a:r>
            <a:r>
              <a:rPr lang="en-US" dirty="0" err="1"/>
              <a:t>NgaySinh</a:t>
            </a:r>
            <a:endParaRPr lang="en-US" dirty="0"/>
          </a:p>
          <a:p>
            <a:pPr lvl="1"/>
            <a:r>
              <a:rPr lang="en-US" dirty="0" err="1"/>
              <a:t>Phương</a:t>
            </a:r>
            <a:r>
              <a:rPr lang="en-US" dirty="0"/>
              <a:t> </a:t>
            </a:r>
            <a:r>
              <a:rPr lang="en-US" dirty="0" err="1"/>
              <a:t>thức</a:t>
            </a:r>
            <a:r>
              <a:rPr lang="en-US" dirty="0"/>
              <a:t>: </a:t>
            </a:r>
            <a:r>
              <a:rPr lang="en-US" dirty="0" err="1"/>
              <a:t>Nhap</a:t>
            </a:r>
            <a:r>
              <a:rPr lang="en-US" dirty="0"/>
              <a:t>, </a:t>
            </a:r>
            <a:r>
              <a:rPr lang="en-US" dirty="0" err="1"/>
              <a:t>Xuat</a:t>
            </a:r>
            <a:endParaRPr lang="en-US" dirty="0"/>
          </a:p>
          <a:p>
            <a:r>
              <a:rPr lang="en-US" dirty="0" err="1"/>
              <a:t>Xây</a:t>
            </a:r>
            <a:r>
              <a:rPr lang="en-US" dirty="0"/>
              <a:t> </a:t>
            </a:r>
            <a:r>
              <a:rPr lang="en-US" dirty="0" err="1"/>
              <a:t>dựng</a:t>
            </a:r>
            <a:r>
              <a:rPr lang="en-US" dirty="0"/>
              <a:t> 2 </a:t>
            </a:r>
            <a:r>
              <a:rPr lang="en-US" dirty="0" err="1"/>
              <a:t>lớp</a:t>
            </a:r>
            <a:r>
              <a:rPr lang="en-US" dirty="0"/>
              <a:t> </a:t>
            </a:r>
            <a:r>
              <a:rPr lang="en-US" dirty="0" err="1"/>
              <a:t>NhanVienCongNhat</a:t>
            </a:r>
            <a:r>
              <a:rPr lang="en-US" dirty="0"/>
              <a:t>, </a:t>
            </a:r>
            <a:r>
              <a:rPr lang="en-US" dirty="0" err="1"/>
              <a:t>NhanVienChinhThuc</a:t>
            </a:r>
            <a:r>
              <a:rPr lang="en-GB" dirty="0"/>
              <a:t> </a:t>
            </a:r>
            <a:r>
              <a:rPr lang="en-GB" dirty="0" err="1"/>
              <a:t>kế</a:t>
            </a:r>
            <a:r>
              <a:rPr lang="en-GB" dirty="0"/>
              <a:t> </a:t>
            </a:r>
            <a:r>
              <a:rPr lang="en-GB" dirty="0" err="1"/>
              <a:t>thừa</a:t>
            </a:r>
            <a:r>
              <a:rPr lang="en-GB" dirty="0"/>
              <a:t> </a:t>
            </a:r>
            <a:r>
              <a:rPr lang="en-GB" dirty="0" err="1"/>
              <a:t>lớp</a:t>
            </a:r>
            <a:r>
              <a:rPr lang="en-GB" dirty="0"/>
              <a:t> </a:t>
            </a:r>
            <a:r>
              <a:rPr lang="en-GB" dirty="0" err="1"/>
              <a:t>NhanVien</a:t>
            </a:r>
            <a:endParaRPr lang="en-GB" dirty="0"/>
          </a:p>
          <a:p>
            <a:pPr lvl="1"/>
            <a:r>
              <a:rPr lang="en-GB" dirty="0" err="1"/>
              <a:t>NhanVienCongNhat</a:t>
            </a:r>
            <a:endParaRPr lang="en-GB" dirty="0"/>
          </a:p>
          <a:p>
            <a:pPr lvl="2"/>
            <a:r>
              <a:rPr lang="en-GB" dirty="0" err="1"/>
              <a:t>Thuộc</a:t>
            </a:r>
            <a:r>
              <a:rPr lang="en-GB" dirty="0"/>
              <a:t> </a:t>
            </a:r>
            <a:r>
              <a:rPr lang="en-GB" dirty="0" err="1"/>
              <a:t>tính</a:t>
            </a:r>
            <a:r>
              <a:rPr lang="en-GB" dirty="0"/>
              <a:t>: </a:t>
            </a:r>
            <a:r>
              <a:rPr lang="en-GB" dirty="0" err="1"/>
              <a:t>SoNgayCong</a:t>
            </a:r>
            <a:endParaRPr lang="en-US" dirty="0"/>
          </a:p>
          <a:p>
            <a:pPr lvl="2"/>
            <a:r>
              <a:rPr lang="en-US" dirty="0" err="1"/>
              <a:t>Phương</a:t>
            </a:r>
            <a:r>
              <a:rPr lang="en-US" dirty="0"/>
              <a:t> </a:t>
            </a:r>
            <a:r>
              <a:rPr lang="en-US" dirty="0" err="1"/>
              <a:t>thức</a:t>
            </a:r>
            <a:r>
              <a:rPr lang="en-US" dirty="0"/>
              <a:t>: </a:t>
            </a:r>
            <a:r>
              <a:rPr lang="en-US" dirty="0" err="1"/>
              <a:t>TinhLuong</a:t>
            </a:r>
            <a:r>
              <a:rPr lang="en-US" dirty="0"/>
              <a:t> </a:t>
            </a:r>
            <a:r>
              <a:rPr lang="en-US" dirty="0">
                <a:sym typeface="Wingdings" panose="05000000000000000000" pitchFamily="2" charset="2"/>
              </a:rPr>
              <a:t> </a:t>
            </a:r>
            <a:r>
              <a:rPr lang="en-US" dirty="0" err="1">
                <a:sym typeface="Wingdings" panose="05000000000000000000" pitchFamily="2" charset="2"/>
              </a:rPr>
              <a:t>trả</a:t>
            </a:r>
            <a:r>
              <a:rPr lang="en-US" dirty="0">
                <a:sym typeface="Wingdings" panose="05000000000000000000" pitchFamily="2" charset="2"/>
              </a:rPr>
              <a:t> </a:t>
            </a:r>
            <a:r>
              <a:rPr lang="en-US" dirty="0" err="1">
                <a:sym typeface="Wingdings" panose="05000000000000000000" pitchFamily="2" charset="2"/>
              </a:rPr>
              <a:t>về</a:t>
            </a:r>
            <a:r>
              <a:rPr lang="en-US" dirty="0">
                <a:sym typeface="Wingdings" panose="05000000000000000000" pitchFamily="2" charset="2"/>
              </a:rPr>
              <a:t> </a:t>
            </a:r>
            <a:r>
              <a:rPr lang="en-GB" dirty="0" err="1"/>
              <a:t>SoNgayCong</a:t>
            </a:r>
            <a:r>
              <a:rPr lang="en-GB" dirty="0"/>
              <a:t>*200.000</a:t>
            </a:r>
          </a:p>
          <a:p>
            <a:pPr lvl="2"/>
            <a:r>
              <a:rPr lang="en-GB" dirty="0" err="1"/>
              <a:t>Ghi</a:t>
            </a:r>
            <a:r>
              <a:rPr lang="en-GB" dirty="0"/>
              <a:t> </a:t>
            </a:r>
            <a:r>
              <a:rPr lang="en-GB" dirty="0" err="1"/>
              <a:t>đè</a:t>
            </a:r>
            <a:r>
              <a:rPr lang="en-GB" dirty="0"/>
              <a:t> </a:t>
            </a:r>
            <a:r>
              <a:rPr lang="en-GB" dirty="0" err="1"/>
              <a:t>phương</a:t>
            </a:r>
            <a:r>
              <a:rPr lang="en-GB" dirty="0"/>
              <a:t> </a:t>
            </a:r>
            <a:r>
              <a:rPr lang="en-GB" dirty="0" err="1"/>
              <a:t>thức</a:t>
            </a:r>
            <a:r>
              <a:rPr lang="en-GB" dirty="0"/>
              <a:t> </a:t>
            </a:r>
            <a:r>
              <a:rPr lang="en-GB" dirty="0" err="1"/>
              <a:t>Nhap</a:t>
            </a:r>
            <a:r>
              <a:rPr lang="en-GB" dirty="0"/>
              <a:t>, </a:t>
            </a:r>
            <a:r>
              <a:rPr lang="en-GB" dirty="0" err="1"/>
              <a:t>Xuat</a:t>
            </a:r>
            <a:endParaRPr lang="en-GB" dirty="0"/>
          </a:p>
          <a:p>
            <a:pPr lvl="1"/>
            <a:r>
              <a:rPr lang="en-GB" dirty="0" err="1"/>
              <a:t>NhanVienChinhThuc</a:t>
            </a:r>
            <a:endParaRPr lang="en-GB" dirty="0"/>
          </a:p>
          <a:p>
            <a:pPr lvl="2"/>
            <a:r>
              <a:rPr lang="en-GB" dirty="0" err="1"/>
              <a:t>Thuộc</a:t>
            </a:r>
            <a:r>
              <a:rPr lang="en-GB" dirty="0"/>
              <a:t> </a:t>
            </a:r>
            <a:r>
              <a:rPr lang="en-GB" dirty="0" err="1"/>
              <a:t>tính</a:t>
            </a:r>
            <a:r>
              <a:rPr lang="en-GB" dirty="0"/>
              <a:t>: </a:t>
            </a:r>
            <a:r>
              <a:rPr lang="en-GB" dirty="0" err="1"/>
              <a:t>HeSoLuong</a:t>
            </a:r>
            <a:endParaRPr lang="en-US" dirty="0"/>
          </a:p>
          <a:p>
            <a:pPr lvl="2"/>
            <a:r>
              <a:rPr lang="en-US" dirty="0" err="1"/>
              <a:t>Phương</a:t>
            </a:r>
            <a:r>
              <a:rPr lang="en-US" dirty="0"/>
              <a:t> </a:t>
            </a:r>
            <a:r>
              <a:rPr lang="en-US" dirty="0" err="1"/>
              <a:t>thức</a:t>
            </a:r>
            <a:r>
              <a:rPr lang="en-US" dirty="0"/>
              <a:t>: </a:t>
            </a:r>
            <a:r>
              <a:rPr lang="en-US" dirty="0" err="1"/>
              <a:t>TinhLuong</a:t>
            </a:r>
            <a:r>
              <a:rPr lang="en-US" dirty="0"/>
              <a:t> </a:t>
            </a:r>
            <a:r>
              <a:rPr lang="en-US" dirty="0">
                <a:sym typeface="Wingdings" panose="05000000000000000000" pitchFamily="2" charset="2"/>
              </a:rPr>
              <a:t> </a:t>
            </a:r>
            <a:r>
              <a:rPr lang="en-US" dirty="0" err="1">
                <a:sym typeface="Wingdings" panose="05000000000000000000" pitchFamily="2" charset="2"/>
              </a:rPr>
              <a:t>trả</a:t>
            </a:r>
            <a:r>
              <a:rPr lang="en-US" dirty="0">
                <a:sym typeface="Wingdings" panose="05000000000000000000" pitchFamily="2" charset="2"/>
              </a:rPr>
              <a:t> </a:t>
            </a:r>
            <a:r>
              <a:rPr lang="en-US" dirty="0" err="1">
                <a:sym typeface="Wingdings" panose="05000000000000000000" pitchFamily="2" charset="2"/>
              </a:rPr>
              <a:t>về</a:t>
            </a:r>
            <a:r>
              <a:rPr lang="en-US" dirty="0">
                <a:sym typeface="Wingdings" panose="05000000000000000000" pitchFamily="2" charset="2"/>
              </a:rPr>
              <a:t> </a:t>
            </a:r>
            <a:r>
              <a:rPr lang="en-GB" dirty="0" err="1"/>
              <a:t>HeSoLuong</a:t>
            </a:r>
            <a:r>
              <a:rPr lang="en-GB" dirty="0"/>
              <a:t>*2.000.000</a:t>
            </a:r>
          </a:p>
          <a:p>
            <a:pPr lvl="2"/>
            <a:r>
              <a:rPr lang="en-GB" dirty="0" err="1"/>
              <a:t>Ghi</a:t>
            </a:r>
            <a:r>
              <a:rPr lang="en-GB" dirty="0"/>
              <a:t> </a:t>
            </a:r>
            <a:r>
              <a:rPr lang="en-GB" dirty="0" err="1"/>
              <a:t>đè</a:t>
            </a:r>
            <a:r>
              <a:rPr lang="en-GB" dirty="0"/>
              <a:t> </a:t>
            </a:r>
            <a:r>
              <a:rPr lang="en-GB" dirty="0" err="1"/>
              <a:t>phương</a:t>
            </a:r>
            <a:r>
              <a:rPr lang="en-GB" dirty="0"/>
              <a:t> </a:t>
            </a:r>
            <a:r>
              <a:rPr lang="en-GB" dirty="0" err="1"/>
              <a:t>thức</a:t>
            </a:r>
            <a:r>
              <a:rPr lang="en-GB" dirty="0"/>
              <a:t> </a:t>
            </a:r>
            <a:r>
              <a:rPr lang="en-GB" dirty="0" err="1"/>
              <a:t>Nhap</a:t>
            </a:r>
            <a:r>
              <a:rPr lang="en-GB" dirty="0"/>
              <a:t>, </a:t>
            </a:r>
            <a:r>
              <a:rPr lang="en-GB" dirty="0" err="1"/>
              <a:t>Xuat</a:t>
            </a:r>
            <a:endParaRPr lang="en-GB" dirty="0"/>
          </a:p>
          <a:p>
            <a:pPr lvl="1"/>
            <a:endParaRPr lang="en-GB" dirty="0"/>
          </a:p>
        </p:txBody>
      </p:sp>
      <p:sp>
        <p:nvSpPr>
          <p:cNvPr id="3" name="Date Placeholder 2">
            <a:extLst>
              <a:ext uri="{FF2B5EF4-FFF2-40B4-BE49-F238E27FC236}">
                <a16:creationId xmlns:a16="http://schemas.microsoft.com/office/drawing/2014/main" id="{1E91A29A-4658-E1E7-32BB-3E64EFFFB7CF}"/>
              </a:ext>
            </a:extLst>
          </p:cNvPr>
          <p:cNvSpPr>
            <a:spLocks noGrp="1"/>
          </p:cNvSpPr>
          <p:nvPr>
            <p:ph type="dt" sz="half" idx="10"/>
          </p:nvPr>
        </p:nvSpPr>
        <p:spPr/>
        <p:txBody>
          <a:bodyPr/>
          <a:lstStyle/>
          <a:p>
            <a:fld id="{4719FDB1-9615-4287-8D55-AF20E3CF298E}" type="datetime1">
              <a:rPr lang="vi-VN" smtClean="0"/>
              <a:t>04/02/2025</a:t>
            </a:fld>
            <a:endParaRPr lang="vi-VN"/>
          </a:p>
        </p:txBody>
      </p:sp>
      <p:sp>
        <p:nvSpPr>
          <p:cNvPr id="4" name="Footer Placeholder 3">
            <a:extLst>
              <a:ext uri="{FF2B5EF4-FFF2-40B4-BE49-F238E27FC236}">
                <a16:creationId xmlns:a16="http://schemas.microsoft.com/office/drawing/2014/main" id="{45E4330E-D67F-BC92-14D5-54B058E270BA}"/>
              </a:ext>
            </a:extLst>
          </p:cNvPr>
          <p:cNvSpPr>
            <a:spLocks noGrp="1"/>
          </p:cNvSpPr>
          <p:nvPr>
            <p:ph type="ftr" sz="quarter" idx="11"/>
          </p:nvPr>
        </p:nvSpPr>
        <p:spPr/>
        <p:txBody>
          <a:bodyPr/>
          <a:lstStyle/>
          <a:p>
            <a:r>
              <a:rPr lang="vi-VN"/>
              <a:t>Chương 3. Lập trình hướng đối tượng trong C#</a:t>
            </a:r>
          </a:p>
        </p:txBody>
      </p:sp>
      <p:sp>
        <p:nvSpPr>
          <p:cNvPr id="5" name="Slide Number Placeholder 4">
            <a:extLst>
              <a:ext uri="{FF2B5EF4-FFF2-40B4-BE49-F238E27FC236}">
                <a16:creationId xmlns:a16="http://schemas.microsoft.com/office/drawing/2014/main" id="{F04A36AC-3BD0-35F1-CF07-7F388E7EF6AF}"/>
              </a:ext>
            </a:extLst>
          </p:cNvPr>
          <p:cNvSpPr>
            <a:spLocks noGrp="1"/>
          </p:cNvSpPr>
          <p:nvPr>
            <p:ph type="sldNum" sz="quarter" idx="12"/>
          </p:nvPr>
        </p:nvSpPr>
        <p:spPr/>
        <p:txBody>
          <a:bodyPr/>
          <a:lstStyle/>
          <a:p>
            <a:fld id="{5AB95402-1E0D-474E-8D8C-CBE7F053639E}" type="slidenum">
              <a:rPr lang="vi-VN" smtClean="0"/>
              <a:pPr/>
              <a:t>94</a:t>
            </a:fld>
            <a:r>
              <a:rPr lang="vi-VN"/>
              <a:t>/33</a:t>
            </a:r>
          </a:p>
        </p:txBody>
      </p:sp>
      <p:sp>
        <p:nvSpPr>
          <p:cNvPr id="6" name="Title 5">
            <a:extLst>
              <a:ext uri="{FF2B5EF4-FFF2-40B4-BE49-F238E27FC236}">
                <a16:creationId xmlns:a16="http://schemas.microsoft.com/office/drawing/2014/main" id="{DC15DDBF-D5F4-5C3F-1D4F-288DBBE90BD4}"/>
              </a:ext>
            </a:extLst>
          </p:cNvPr>
          <p:cNvSpPr>
            <a:spLocks noGrp="1"/>
          </p:cNvSpPr>
          <p:nvPr>
            <p:ph type="title"/>
          </p:nvPr>
        </p:nvSpPr>
        <p:spPr/>
        <p:txBody>
          <a:bodyPr/>
          <a:lstStyle/>
          <a:p>
            <a:r>
              <a:rPr lang="en-US" dirty="0" err="1"/>
              <a:t>Bài</a:t>
            </a:r>
            <a:r>
              <a:rPr lang="en-US" dirty="0"/>
              <a:t> 6</a:t>
            </a:r>
            <a:endParaRPr lang="en-GB" dirty="0"/>
          </a:p>
        </p:txBody>
      </p:sp>
    </p:spTree>
    <p:extLst>
      <p:ext uri="{BB962C8B-B14F-4D97-AF65-F5344CB8AC3E}">
        <p14:creationId xmlns:p14="http://schemas.microsoft.com/office/powerpoint/2010/main" val="322636012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B060CEF-D0B4-814A-B6A3-D451424499C9}"/>
              </a:ext>
            </a:extLst>
          </p:cNvPr>
          <p:cNvSpPr>
            <a:spLocks noGrp="1"/>
          </p:cNvSpPr>
          <p:nvPr>
            <p:ph idx="1"/>
          </p:nvPr>
        </p:nvSpPr>
        <p:spPr/>
        <p:txBody>
          <a:bodyPr/>
          <a:lstStyle/>
          <a:p>
            <a:r>
              <a:rPr lang="en-US" dirty="0"/>
              <a:t>Trong </a:t>
            </a:r>
            <a:r>
              <a:rPr lang="en-US" dirty="0" err="1"/>
              <a:t>lớp</a:t>
            </a:r>
            <a:r>
              <a:rPr lang="en-US" dirty="0"/>
              <a:t> program:</a:t>
            </a:r>
            <a:endParaRPr lang="en-GB" dirty="0"/>
          </a:p>
          <a:p>
            <a:pPr marL="0" indent="0">
              <a:buNone/>
            </a:pPr>
            <a:r>
              <a:rPr lang="en-GB" dirty="0" err="1"/>
              <a:t>Viết</a:t>
            </a:r>
            <a:r>
              <a:rPr lang="en-GB" dirty="0"/>
              <a:t> </a:t>
            </a:r>
            <a:r>
              <a:rPr lang="en-GB" dirty="0" err="1"/>
              <a:t>chương</a:t>
            </a:r>
            <a:r>
              <a:rPr lang="en-GB" dirty="0"/>
              <a:t> </a:t>
            </a:r>
            <a:r>
              <a:rPr lang="en-GB" dirty="0" err="1"/>
              <a:t>trình</a:t>
            </a:r>
            <a:r>
              <a:rPr lang="en-GB" dirty="0"/>
              <a:t> </a:t>
            </a:r>
            <a:r>
              <a:rPr lang="en-GB" dirty="0" err="1"/>
              <a:t>cho</a:t>
            </a:r>
            <a:r>
              <a:rPr lang="en-GB" dirty="0"/>
              <a:t> </a:t>
            </a:r>
            <a:r>
              <a:rPr lang="en-GB" dirty="0" err="1"/>
              <a:t>phép</a:t>
            </a:r>
            <a:r>
              <a:rPr lang="en-GB" dirty="0"/>
              <a:t> </a:t>
            </a:r>
            <a:r>
              <a:rPr lang="en-GB" dirty="0" err="1"/>
              <a:t>người</a:t>
            </a:r>
            <a:r>
              <a:rPr lang="en-GB" dirty="0"/>
              <a:t> </a:t>
            </a:r>
            <a:r>
              <a:rPr lang="en-GB" dirty="0" err="1"/>
              <a:t>dùng</a:t>
            </a:r>
            <a:r>
              <a:rPr lang="en-GB" dirty="0"/>
              <a:t> </a:t>
            </a:r>
            <a:r>
              <a:rPr lang="en-GB" dirty="0" err="1"/>
              <a:t>được</a:t>
            </a:r>
            <a:r>
              <a:rPr lang="en-GB" dirty="0"/>
              <a:t> </a:t>
            </a:r>
            <a:r>
              <a:rPr lang="en-GB" dirty="0" err="1"/>
              <a:t>phép</a:t>
            </a:r>
            <a:r>
              <a:rPr lang="en-GB" dirty="0"/>
              <a:t> </a:t>
            </a:r>
            <a:r>
              <a:rPr lang="en-GB" dirty="0" err="1"/>
              <a:t>lựa</a:t>
            </a:r>
            <a:r>
              <a:rPr lang="en-GB" dirty="0"/>
              <a:t> </a:t>
            </a:r>
            <a:r>
              <a:rPr lang="en-GB" dirty="0" err="1"/>
              <a:t>chọn</a:t>
            </a:r>
            <a:r>
              <a:rPr lang="en-GB" dirty="0"/>
              <a:t> </a:t>
            </a:r>
            <a:r>
              <a:rPr lang="en-GB" dirty="0" err="1"/>
              <a:t>nhập</a:t>
            </a:r>
            <a:r>
              <a:rPr lang="en-GB" dirty="0"/>
              <a:t> </a:t>
            </a:r>
            <a:r>
              <a:rPr lang="en-GB" dirty="0" err="1"/>
              <a:t>loại</a:t>
            </a:r>
            <a:r>
              <a:rPr lang="en-GB" dirty="0"/>
              <a:t> </a:t>
            </a:r>
            <a:r>
              <a:rPr lang="en-GB" dirty="0" err="1"/>
              <a:t>nhân</a:t>
            </a:r>
            <a:r>
              <a:rPr lang="en-GB" dirty="0"/>
              <a:t> </a:t>
            </a:r>
            <a:r>
              <a:rPr lang="en-GB" dirty="0" err="1"/>
              <a:t>viên</a:t>
            </a:r>
            <a:r>
              <a:rPr lang="en-GB" dirty="0"/>
              <a:t> </a:t>
            </a:r>
            <a:r>
              <a:rPr lang="en-GB" dirty="0" err="1"/>
              <a:t>bất</a:t>
            </a:r>
            <a:r>
              <a:rPr lang="en-GB" dirty="0"/>
              <a:t> </a:t>
            </a:r>
            <a:r>
              <a:rPr lang="en-GB" dirty="0" err="1"/>
              <a:t>kỳ</a:t>
            </a:r>
            <a:r>
              <a:rPr lang="en-GB" dirty="0"/>
              <a:t> </a:t>
            </a:r>
            <a:r>
              <a:rPr lang="en-GB" dirty="0" err="1"/>
              <a:t>từ</a:t>
            </a:r>
            <a:r>
              <a:rPr lang="en-GB" dirty="0"/>
              <a:t> </a:t>
            </a:r>
            <a:r>
              <a:rPr lang="en-GB" dirty="0" err="1"/>
              <a:t>bàn</a:t>
            </a:r>
            <a:r>
              <a:rPr lang="en-GB" dirty="0"/>
              <a:t> </a:t>
            </a:r>
            <a:r>
              <a:rPr lang="en-GB" dirty="0" err="1"/>
              <a:t>phím</a:t>
            </a:r>
            <a:r>
              <a:rPr lang="en-GB" dirty="0"/>
              <a:t>: </a:t>
            </a:r>
            <a:r>
              <a:rPr lang="en-GB" dirty="0" err="1"/>
              <a:t>chọn</a:t>
            </a:r>
            <a:r>
              <a:rPr lang="en-GB" dirty="0"/>
              <a:t> 1 </a:t>
            </a:r>
            <a:r>
              <a:rPr lang="en-GB" dirty="0" err="1"/>
              <a:t>được</a:t>
            </a:r>
            <a:r>
              <a:rPr lang="en-GB" dirty="0"/>
              <a:t> </a:t>
            </a:r>
            <a:r>
              <a:rPr lang="en-GB" dirty="0" err="1"/>
              <a:t>nhập</a:t>
            </a:r>
            <a:r>
              <a:rPr lang="en-GB" dirty="0"/>
              <a:t> </a:t>
            </a:r>
            <a:r>
              <a:rPr lang="en-GB" dirty="0" err="1"/>
              <a:t>nhân</a:t>
            </a:r>
            <a:r>
              <a:rPr lang="en-GB" dirty="0"/>
              <a:t> </a:t>
            </a:r>
            <a:r>
              <a:rPr lang="en-GB" dirty="0" err="1"/>
              <a:t>viên</a:t>
            </a:r>
            <a:r>
              <a:rPr lang="en-GB" dirty="0"/>
              <a:t> </a:t>
            </a:r>
            <a:r>
              <a:rPr lang="en-GB" dirty="0" err="1"/>
              <a:t>công</a:t>
            </a:r>
            <a:r>
              <a:rPr lang="en-GB" dirty="0"/>
              <a:t> </a:t>
            </a:r>
            <a:r>
              <a:rPr lang="en-GB" dirty="0" err="1"/>
              <a:t>nhật</a:t>
            </a:r>
            <a:r>
              <a:rPr lang="en-GB" dirty="0"/>
              <a:t>, </a:t>
            </a:r>
            <a:r>
              <a:rPr lang="en-GB" dirty="0" err="1"/>
              <a:t>chọn</a:t>
            </a:r>
            <a:r>
              <a:rPr lang="en-GB" dirty="0"/>
              <a:t> 2 </a:t>
            </a:r>
            <a:r>
              <a:rPr lang="en-GB" dirty="0" err="1"/>
              <a:t>được</a:t>
            </a:r>
            <a:r>
              <a:rPr lang="en-GB" dirty="0"/>
              <a:t> </a:t>
            </a:r>
            <a:r>
              <a:rPr lang="en-GB" dirty="0" err="1"/>
              <a:t>nhập</a:t>
            </a:r>
            <a:r>
              <a:rPr lang="en-GB" dirty="0"/>
              <a:t> </a:t>
            </a:r>
            <a:r>
              <a:rPr lang="en-GB" dirty="0" err="1"/>
              <a:t>nhân</a:t>
            </a:r>
            <a:r>
              <a:rPr lang="en-GB" dirty="0"/>
              <a:t> </a:t>
            </a:r>
            <a:r>
              <a:rPr lang="en-GB" dirty="0" err="1"/>
              <a:t>viên</a:t>
            </a:r>
            <a:r>
              <a:rPr lang="en-GB" dirty="0"/>
              <a:t> </a:t>
            </a:r>
            <a:r>
              <a:rPr lang="en-GB" dirty="0" err="1"/>
              <a:t>chính</a:t>
            </a:r>
            <a:r>
              <a:rPr lang="en-GB" dirty="0"/>
              <a:t> </a:t>
            </a:r>
            <a:r>
              <a:rPr lang="en-GB" dirty="0" err="1"/>
              <a:t>thức</a:t>
            </a:r>
            <a:endParaRPr lang="en-GB" dirty="0"/>
          </a:p>
          <a:p>
            <a:pPr marL="0" indent="0">
              <a:buNone/>
            </a:pPr>
            <a:r>
              <a:rPr lang="en-GB" dirty="0"/>
              <a:t>- </a:t>
            </a:r>
            <a:r>
              <a:rPr lang="en-GB" dirty="0" err="1"/>
              <a:t>Hiển</a:t>
            </a:r>
            <a:r>
              <a:rPr lang="en-GB" dirty="0"/>
              <a:t> </a:t>
            </a:r>
            <a:r>
              <a:rPr lang="en-GB" dirty="0" err="1"/>
              <a:t>thị</a:t>
            </a:r>
            <a:r>
              <a:rPr lang="en-GB" dirty="0"/>
              <a:t> </a:t>
            </a:r>
            <a:r>
              <a:rPr lang="en-GB" dirty="0" err="1"/>
              <a:t>thông</a:t>
            </a:r>
            <a:r>
              <a:rPr lang="en-GB" dirty="0"/>
              <a:t> tin </a:t>
            </a:r>
            <a:r>
              <a:rPr lang="en-GB" dirty="0" err="1"/>
              <a:t>nhân</a:t>
            </a:r>
            <a:r>
              <a:rPr lang="en-GB" dirty="0"/>
              <a:t> </a:t>
            </a:r>
            <a:r>
              <a:rPr lang="en-GB" dirty="0" err="1"/>
              <a:t>viên</a:t>
            </a:r>
            <a:r>
              <a:rPr lang="en-GB" dirty="0"/>
              <a:t> </a:t>
            </a:r>
            <a:r>
              <a:rPr lang="en-GB" dirty="0" err="1"/>
              <a:t>vừa</a:t>
            </a:r>
            <a:r>
              <a:rPr lang="en-GB" dirty="0"/>
              <a:t> </a:t>
            </a:r>
            <a:r>
              <a:rPr lang="en-GB" dirty="0" err="1"/>
              <a:t>nhập</a:t>
            </a:r>
            <a:r>
              <a:rPr lang="en-GB" dirty="0"/>
              <a:t>.</a:t>
            </a:r>
          </a:p>
        </p:txBody>
      </p:sp>
      <p:sp>
        <p:nvSpPr>
          <p:cNvPr id="3" name="Date Placeholder 2">
            <a:extLst>
              <a:ext uri="{FF2B5EF4-FFF2-40B4-BE49-F238E27FC236}">
                <a16:creationId xmlns:a16="http://schemas.microsoft.com/office/drawing/2014/main" id="{C4EFC8A2-FDF1-CBA7-8032-8D4B4BA07D53}"/>
              </a:ext>
            </a:extLst>
          </p:cNvPr>
          <p:cNvSpPr>
            <a:spLocks noGrp="1"/>
          </p:cNvSpPr>
          <p:nvPr>
            <p:ph type="dt" sz="half" idx="10"/>
          </p:nvPr>
        </p:nvSpPr>
        <p:spPr/>
        <p:txBody>
          <a:bodyPr/>
          <a:lstStyle/>
          <a:p>
            <a:fld id="{4719FDB1-9615-4287-8D55-AF20E3CF298E}" type="datetime1">
              <a:rPr lang="vi-VN" smtClean="0"/>
              <a:t>04/02/2025</a:t>
            </a:fld>
            <a:endParaRPr lang="vi-VN"/>
          </a:p>
        </p:txBody>
      </p:sp>
      <p:sp>
        <p:nvSpPr>
          <p:cNvPr id="4" name="Footer Placeholder 3">
            <a:extLst>
              <a:ext uri="{FF2B5EF4-FFF2-40B4-BE49-F238E27FC236}">
                <a16:creationId xmlns:a16="http://schemas.microsoft.com/office/drawing/2014/main" id="{275C4E5F-5D63-DC4B-F232-F424209F7251}"/>
              </a:ext>
            </a:extLst>
          </p:cNvPr>
          <p:cNvSpPr>
            <a:spLocks noGrp="1"/>
          </p:cNvSpPr>
          <p:nvPr>
            <p:ph type="ftr" sz="quarter" idx="11"/>
          </p:nvPr>
        </p:nvSpPr>
        <p:spPr/>
        <p:txBody>
          <a:bodyPr/>
          <a:lstStyle/>
          <a:p>
            <a:r>
              <a:rPr lang="vi-VN"/>
              <a:t>Chương 3. Lập trình hướng đối tượng trong C#</a:t>
            </a:r>
          </a:p>
        </p:txBody>
      </p:sp>
      <p:sp>
        <p:nvSpPr>
          <p:cNvPr id="5" name="Slide Number Placeholder 4">
            <a:extLst>
              <a:ext uri="{FF2B5EF4-FFF2-40B4-BE49-F238E27FC236}">
                <a16:creationId xmlns:a16="http://schemas.microsoft.com/office/drawing/2014/main" id="{37C5AD7A-1527-6C73-3260-E9279BD18A45}"/>
              </a:ext>
            </a:extLst>
          </p:cNvPr>
          <p:cNvSpPr>
            <a:spLocks noGrp="1"/>
          </p:cNvSpPr>
          <p:nvPr>
            <p:ph type="sldNum" sz="quarter" idx="12"/>
          </p:nvPr>
        </p:nvSpPr>
        <p:spPr/>
        <p:txBody>
          <a:bodyPr/>
          <a:lstStyle/>
          <a:p>
            <a:fld id="{5AB95402-1E0D-474E-8D8C-CBE7F053639E}" type="slidenum">
              <a:rPr lang="vi-VN" smtClean="0"/>
              <a:pPr/>
              <a:t>95</a:t>
            </a:fld>
            <a:r>
              <a:rPr lang="vi-VN"/>
              <a:t>/33</a:t>
            </a:r>
          </a:p>
        </p:txBody>
      </p:sp>
      <p:sp>
        <p:nvSpPr>
          <p:cNvPr id="6" name="Title 5">
            <a:extLst>
              <a:ext uri="{FF2B5EF4-FFF2-40B4-BE49-F238E27FC236}">
                <a16:creationId xmlns:a16="http://schemas.microsoft.com/office/drawing/2014/main" id="{FEB14849-2F64-D407-681D-2A534E893545}"/>
              </a:ext>
            </a:extLst>
          </p:cNvPr>
          <p:cNvSpPr>
            <a:spLocks noGrp="1"/>
          </p:cNvSpPr>
          <p:nvPr>
            <p:ph type="title"/>
          </p:nvPr>
        </p:nvSpPr>
        <p:spPr/>
        <p:txBody>
          <a:bodyPr/>
          <a:lstStyle/>
          <a:p>
            <a:endParaRPr lang="en-GB" dirty="0"/>
          </a:p>
        </p:txBody>
      </p:sp>
    </p:spTree>
    <p:extLst>
      <p:ext uri="{BB962C8B-B14F-4D97-AF65-F5344CB8AC3E}">
        <p14:creationId xmlns:p14="http://schemas.microsoft.com/office/powerpoint/2010/main" val="205499858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9EF98F-D8F2-046B-B0F2-5C0222FD6909}"/>
              </a:ext>
            </a:extLst>
          </p:cNvPr>
          <p:cNvSpPr>
            <a:spLocks noGrp="1"/>
          </p:cNvSpPr>
          <p:nvPr>
            <p:ph idx="1"/>
          </p:nvPr>
        </p:nvSpPr>
        <p:spPr/>
        <p:txBody>
          <a:bodyPr/>
          <a:lstStyle/>
          <a:p>
            <a:pPr marL="0" indent="0">
              <a:buNone/>
            </a:pPr>
            <a:r>
              <a:rPr lang="en-GB" dirty="0"/>
              <a:t>https://www.tutorialsteacher.com/online-test/csharp-test</a:t>
            </a:r>
          </a:p>
        </p:txBody>
      </p:sp>
      <p:sp>
        <p:nvSpPr>
          <p:cNvPr id="3" name="Date Placeholder 2">
            <a:extLst>
              <a:ext uri="{FF2B5EF4-FFF2-40B4-BE49-F238E27FC236}">
                <a16:creationId xmlns:a16="http://schemas.microsoft.com/office/drawing/2014/main" id="{C8B65004-8B32-3089-7421-1B04BBA48CD3}"/>
              </a:ext>
            </a:extLst>
          </p:cNvPr>
          <p:cNvSpPr>
            <a:spLocks noGrp="1"/>
          </p:cNvSpPr>
          <p:nvPr>
            <p:ph type="dt" sz="half" idx="10"/>
          </p:nvPr>
        </p:nvSpPr>
        <p:spPr/>
        <p:txBody>
          <a:bodyPr/>
          <a:lstStyle/>
          <a:p>
            <a:fld id="{4719FDB1-9615-4287-8D55-AF20E3CF298E}" type="datetime1">
              <a:rPr lang="vi-VN" smtClean="0"/>
              <a:t>04/02/2025</a:t>
            </a:fld>
            <a:endParaRPr lang="vi-VN"/>
          </a:p>
        </p:txBody>
      </p:sp>
      <p:sp>
        <p:nvSpPr>
          <p:cNvPr id="4" name="Footer Placeholder 3">
            <a:extLst>
              <a:ext uri="{FF2B5EF4-FFF2-40B4-BE49-F238E27FC236}">
                <a16:creationId xmlns:a16="http://schemas.microsoft.com/office/drawing/2014/main" id="{6F736D23-9608-B43E-66CD-00DF3C5AE2C5}"/>
              </a:ext>
            </a:extLst>
          </p:cNvPr>
          <p:cNvSpPr>
            <a:spLocks noGrp="1"/>
          </p:cNvSpPr>
          <p:nvPr>
            <p:ph type="ftr" sz="quarter" idx="11"/>
          </p:nvPr>
        </p:nvSpPr>
        <p:spPr/>
        <p:txBody>
          <a:bodyPr/>
          <a:lstStyle/>
          <a:p>
            <a:r>
              <a:rPr lang="vi-VN"/>
              <a:t>Chương 3. Lập trình hướng đối tượng trong C#</a:t>
            </a:r>
          </a:p>
        </p:txBody>
      </p:sp>
      <p:sp>
        <p:nvSpPr>
          <p:cNvPr id="5" name="Slide Number Placeholder 4">
            <a:extLst>
              <a:ext uri="{FF2B5EF4-FFF2-40B4-BE49-F238E27FC236}">
                <a16:creationId xmlns:a16="http://schemas.microsoft.com/office/drawing/2014/main" id="{45CF14DA-E650-3A3C-0BA9-6AE71BBACDAB}"/>
              </a:ext>
            </a:extLst>
          </p:cNvPr>
          <p:cNvSpPr>
            <a:spLocks noGrp="1"/>
          </p:cNvSpPr>
          <p:nvPr>
            <p:ph type="sldNum" sz="quarter" idx="12"/>
          </p:nvPr>
        </p:nvSpPr>
        <p:spPr/>
        <p:txBody>
          <a:bodyPr/>
          <a:lstStyle/>
          <a:p>
            <a:fld id="{5AB95402-1E0D-474E-8D8C-CBE7F053639E}" type="slidenum">
              <a:rPr lang="vi-VN" smtClean="0"/>
              <a:pPr/>
              <a:t>96</a:t>
            </a:fld>
            <a:r>
              <a:rPr lang="vi-VN"/>
              <a:t>/33</a:t>
            </a:r>
          </a:p>
        </p:txBody>
      </p:sp>
      <p:sp>
        <p:nvSpPr>
          <p:cNvPr id="6" name="Title 5">
            <a:extLst>
              <a:ext uri="{FF2B5EF4-FFF2-40B4-BE49-F238E27FC236}">
                <a16:creationId xmlns:a16="http://schemas.microsoft.com/office/drawing/2014/main" id="{6CD88117-37FD-9003-4915-35FDAD2FFD36}"/>
              </a:ext>
            </a:extLst>
          </p:cNvPr>
          <p:cNvSpPr>
            <a:spLocks noGrp="1"/>
          </p:cNvSpPr>
          <p:nvPr>
            <p:ph type="title"/>
          </p:nvPr>
        </p:nvSpPr>
        <p:spPr/>
        <p:txBody>
          <a:bodyPr/>
          <a:lstStyle/>
          <a:p>
            <a:r>
              <a:rPr lang="en-US" dirty="0" err="1"/>
              <a:t>Bài</a:t>
            </a:r>
            <a:r>
              <a:rPr lang="en-US" dirty="0"/>
              <a:t> </a:t>
            </a:r>
            <a:r>
              <a:rPr lang="en-US" dirty="0" err="1"/>
              <a:t>tập</a:t>
            </a:r>
            <a:r>
              <a:rPr lang="en-US" dirty="0"/>
              <a:t> </a:t>
            </a:r>
            <a:r>
              <a:rPr lang="en-US" dirty="0" err="1"/>
              <a:t>trắc</a:t>
            </a:r>
            <a:r>
              <a:rPr lang="en-US" dirty="0"/>
              <a:t> </a:t>
            </a:r>
            <a:r>
              <a:rPr lang="en-US" dirty="0" err="1"/>
              <a:t>nghiệm</a:t>
            </a:r>
            <a:endParaRPr lang="en-GB" dirty="0"/>
          </a:p>
        </p:txBody>
      </p:sp>
    </p:spTree>
    <p:extLst>
      <p:ext uri="{BB962C8B-B14F-4D97-AF65-F5344CB8AC3E}">
        <p14:creationId xmlns:p14="http://schemas.microsoft.com/office/powerpoint/2010/main" val="2074052973"/>
      </p:ext>
    </p:extLst>
  </p:cSld>
  <p:clrMapOvr>
    <a:masterClrMapping/>
  </p:clrMapOvr>
</p:sld>
</file>

<file path=ppt/theme/theme1.xml><?xml version="1.0" encoding="utf-8"?>
<a:theme xmlns:a="http://schemas.openxmlformats.org/drawingml/2006/main" name="MM_Lec1">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45659</TotalTime>
  <Words>13573</Words>
  <Application>Microsoft Office PowerPoint</Application>
  <PresentationFormat>On-screen Show (4:3)</PresentationFormat>
  <Paragraphs>1507</Paragraphs>
  <Slides>96</Slides>
  <Notes>42</Notes>
  <HiddenSlides>0</HiddenSlides>
  <MMClips>0</MMClips>
  <ScaleCrop>false</ScaleCrop>
  <HeadingPairs>
    <vt:vector size="8" baseType="variant">
      <vt:variant>
        <vt:lpstr>Fonts Used</vt:lpstr>
      </vt:variant>
      <vt:variant>
        <vt:i4>21</vt:i4>
      </vt:variant>
      <vt:variant>
        <vt:lpstr>Theme</vt:lpstr>
      </vt:variant>
      <vt:variant>
        <vt:i4>1</vt:i4>
      </vt:variant>
      <vt:variant>
        <vt:lpstr>Embedded OLE Servers</vt:lpstr>
      </vt:variant>
      <vt:variant>
        <vt:i4>1</vt:i4>
      </vt:variant>
      <vt:variant>
        <vt:lpstr>Slide Titles</vt:lpstr>
      </vt:variant>
      <vt:variant>
        <vt:i4>96</vt:i4>
      </vt:variant>
    </vt:vector>
  </HeadingPairs>
  <TitlesOfParts>
    <vt:vector size="119" baseType="lpstr">
      <vt:lpstr>-apple-system</vt:lpstr>
      <vt:lpstr>Arial</vt:lpstr>
      <vt:lpstr>Arial</vt:lpstr>
      <vt:lpstr>Calibri</vt:lpstr>
      <vt:lpstr>Cambria</vt:lpstr>
      <vt:lpstr>Courier New</vt:lpstr>
      <vt:lpstr>Google Sans</vt:lpstr>
      <vt:lpstr>Helvetica Neue</vt:lpstr>
      <vt:lpstr>inherit</vt:lpstr>
      <vt:lpstr>Libre Franklin</vt:lpstr>
      <vt:lpstr>Monaco</vt:lpstr>
      <vt:lpstr>Muli</vt:lpstr>
      <vt:lpstr>Quicksand</vt:lpstr>
      <vt:lpstr>Roboto</vt:lpstr>
      <vt:lpstr>Segoe UI</vt:lpstr>
      <vt:lpstr>Source Sans Pro</vt:lpstr>
      <vt:lpstr>Symbol</vt:lpstr>
      <vt:lpstr>Tahoma</vt:lpstr>
      <vt:lpstr>Times New Roman</vt:lpstr>
      <vt:lpstr>Verdana</vt:lpstr>
      <vt:lpstr>Wingdings</vt:lpstr>
      <vt:lpstr>MM_Lec1</vt:lpstr>
      <vt:lpstr>Bitmap Image</vt:lpstr>
      <vt:lpstr>Chương 3 LẬP TRÌNH HƯỚNG ĐỐI TƯỢNG TRONG C#</vt:lpstr>
      <vt:lpstr>Nội dung chương 3</vt:lpstr>
      <vt:lpstr>3.1. Lớp và đối tượng</vt:lpstr>
      <vt:lpstr>3.1.1 Định nghĩa lớp và đối </vt:lpstr>
      <vt:lpstr>Định nghĩa lớp và đối tượng</vt:lpstr>
      <vt:lpstr>3.1.1 Định nghĩa lớp, đối tượng</vt:lpstr>
      <vt:lpstr>Đối tượng (Object)</vt:lpstr>
      <vt:lpstr>Đối tượng trong thế giới thực</vt:lpstr>
      <vt:lpstr>Đối tượng phần mềm</vt:lpstr>
      <vt:lpstr>Quản lý thư viện</vt:lpstr>
      <vt:lpstr>Phạm vi truy nhập</vt:lpstr>
      <vt:lpstr>Ví dụ - Lớp hình chữ nhật</vt:lpstr>
      <vt:lpstr>Chú ý</vt:lpstr>
      <vt:lpstr>Khai báo đối tượng</vt:lpstr>
      <vt:lpstr>Truy cập thuộc tính/phương thức</vt:lpstr>
      <vt:lpstr>Bài tập 1 </vt:lpstr>
      <vt:lpstr>Thuộc tính/phương thức tĩnh static</vt:lpstr>
      <vt:lpstr>Phương thức khởi tạo, huỷ đối tượng</vt:lpstr>
      <vt:lpstr>3.1.2 Phương thức khởi tạo, huỷ đối tượng</vt:lpstr>
      <vt:lpstr>Phương thức khởi tạo mặc định</vt:lpstr>
      <vt:lpstr>Xây dựng phương thức khởi tạo</vt:lpstr>
      <vt:lpstr>Ví dụ - Phương thức khởi tạo</vt:lpstr>
      <vt:lpstr>3.1.2. Phương thức huỷ (destructor)</vt:lpstr>
      <vt:lpstr>PowerPoint Presentation</vt:lpstr>
      <vt:lpstr>Từ khoá this</vt:lpstr>
      <vt:lpstr>Từ khoá this</vt:lpstr>
      <vt:lpstr>3.1.3. Truyền tham số</vt:lpstr>
      <vt:lpstr>3.1.3 Truyền tham số</vt:lpstr>
      <vt:lpstr>Truyền tham chiếu</vt:lpstr>
      <vt:lpstr>Ví dụ - truyền tham chiếu, từ khoá ref</vt:lpstr>
      <vt:lpstr>Ví dụ - truyền tham chiếu, từ khoá out</vt:lpstr>
      <vt:lpstr>3.1.4 Biểu thức lamda </vt:lpstr>
      <vt:lpstr>3.1.4 Biểu thức lamda </vt:lpstr>
      <vt:lpstr>3.1.4 Biểu thức lamda </vt:lpstr>
      <vt:lpstr>3.1.4 Biểu thức lamda </vt:lpstr>
      <vt:lpstr>3.1.4 Biểu thức lamda</vt:lpstr>
      <vt:lpstr>3.1.4 Biểu thức lamda</vt:lpstr>
      <vt:lpstr>3.1.4 Biểu thức lamda</vt:lpstr>
      <vt:lpstr>3.2. Kế thừa và đa hình</vt:lpstr>
      <vt:lpstr>3.2.1 Kế thừa</vt:lpstr>
      <vt:lpstr>3.2.1. Kế thừa</vt:lpstr>
      <vt:lpstr>3.2.1 Kế thừa</vt:lpstr>
      <vt:lpstr>Ví dụ - Kế thừa</vt:lpstr>
      <vt:lpstr>Ví dụ - Kế thừa</vt:lpstr>
      <vt:lpstr>Gọi phương thức tạo lập</vt:lpstr>
      <vt:lpstr>Ví dụ - Phương thức tạo lập</vt:lpstr>
      <vt:lpstr>Ví dụ - Phương thức tạo lập</vt:lpstr>
      <vt:lpstr>Ghi đè phương thức của lớp cha</vt:lpstr>
      <vt:lpstr>Cấm kế thừa lớp</vt:lpstr>
      <vt:lpstr>3.2.2 Đa hình (polymorphism)</vt:lpstr>
      <vt:lpstr>3.2.2 Đa hình – Ghi đè</vt:lpstr>
      <vt:lpstr>3.2.2 Đa hình – Ghi đè</vt:lpstr>
      <vt:lpstr>Ví dụ - Đa hình</vt:lpstr>
      <vt:lpstr>Ví dụ - Đa hình</vt:lpstr>
      <vt:lpstr>Ví dụ - Đa hình</vt:lpstr>
      <vt:lpstr>PowerPoint Presentation</vt:lpstr>
      <vt:lpstr>3.2.2 Đa hình</vt:lpstr>
      <vt:lpstr>Ví dụ - Đa hình</vt:lpstr>
      <vt:lpstr>Ví dụ - Đa hình</vt:lpstr>
      <vt:lpstr>Ví dụ - Đa hình</vt:lpstr>
      <vt:lpstr>Ví dụ - Đa hình</vt:lpstr>
      <vt:lpstr>Nạp chồng phương thức (Method Overloading)</vt:lpstr>
      <vt:lpstr>Nạp chồng phương thức (Method Overloading)</vt:lpstr>
      <vt:lpstr>Nạp chồng phương thức (Method Overloading)</vt:lpstr>
      <vt:lpstr>Ví dụ tổng quát</vt:lpstr>
      <vt:lpstr>Ví dụ tổng quát</vt:lpstr>
      <vt:lpstr>3.2.3. Đóng gói dữ liệu với thuộc tính (property)</vt:lpstr>
      <vt:lpstr>3.2.3. Đóng gói dữ liệu với thuộc tính (property)</vt:lpstr>
      <vt:lpstr>3.2.3. Đóng gói dữ liệu với thuộc tính (property)</vt:lpstr>
      <vt:lpstr>Thuộc tính (property)</vt:lpstr>
      <vt:lpstr>Thuộc tính (property)</vt:lpstr>
      <vt:lpstr>Thuộc tính (property)</vt:lpstr>
      <vt:lpstr>Thuộc tính (property)</vt:lpstr>
      <vt:lpstr>Ví dụ - Thuộc tính</vt:lpstr>
      <vt:lpstr>Ví dụ - Thuộc tính (tiếp)</vt:lpstr>
      <vt:lpstr>3.2.4. Lớp trừu tượng và giao diện</vt:lpstr>
      <vt:lpstr>Lớp trừu tượng</vt:lpstr>
      <vt:lpstr>Lớp trừu tượng</vt:lpstr>
      <vt:lpstr>Ví dụ lớp trừu tượng</vt:lpstr>
      <vt:lpstr>Ví dụ lớp trừu tượng</vt:lpstr>
      <vt:lpstr>Ví dụ lớp trừu tượng</vt:lpstr>
      <vt:lpstr>Giao diện (interface)</vt:lpstr>
      <vt:lpstr>Giao diện (interface)</vt:lpstr>
      <vt:lpstr>Giao diện (interface)</vt:lpstr>
      <vt:lpstr>Giao diện (interface)</vt:lpstr>
      <vt:lpstr>Ví dụ Giao diện</vt:lpstr>
      <vt:lpstr>Ví dụ Giao diện</vt:lpstr>
      <vt:lpstr>Ví dụ Giao diện</vt:lpstr>
      <vt:lpstr>Bài tập về nhà</vt:lpstr>
      <vt:lpstr>Bài tập về nhà</vt:lpstr>
      <vt:lpstr>Bài tập về nhà</vt:lpstr>
      <vt:lpstr>Bài tập về nhà</vt:lpstr>
      <vt:lpstr>Bài tập về nhà</vt:lpstr>
      <vt:lpstr>Bài 6</vt:lpstr>
      <vt:lpstr>PowerPoint Presentation</vt:lpstr>
      <vt:lpstr>Bài tập trắc nghiệm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CƠ SỞ LẬP TRÌNH 1</dc:title>
  <dc:creator>Quy Tai</dc:creator>
  <cp:lastModifiedBy>Office</cp:lastModifiedBy>
  <cp:revision>379</cp:revision>
  <dcterms:created xsi:type="dcterms:W3CDTF">2011-07-17T01:46:34Z</dcterms:created>
  <dcterms:modified xsi:type="dcterms:W3CDTF">2025-02-04T10:01:01Z</dcterms:modified>
</cp:coreProperties>
</file>