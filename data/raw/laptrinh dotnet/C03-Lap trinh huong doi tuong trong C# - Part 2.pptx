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5"/>
  </p:notesMasterIdLst>
  <p:sldIdLst>
    <p:sldId id="256" r:id="rId2"/>
    <p:sldId id="257" r:id="rId3"/>
    <p:sldId id="298" r:id="rId4"/>
    <p:sldId id="299" r:id="rId5"/>
    <p:sldId id="300" r:id="rId6"/>
    <p:sldId id="304" r:id="rId7"/>
    <p:sldId id="302" r:id="rId8"/>
    <p:sldId id="303" r:id="rId9"/>
    <p:sldId id="305" r:id="rId10"/>
    <p:sldId id="306" r:id="rId11"/>
    <p:sldId id="307" r:id="rId12"/>
    <p:sldId id="308" r:id="rId13"/>
    <p:sldId id="309" r:id="rId14"/>
    <p:sldId id="310" r:id="rId15"/>
    <p:sldId id="311" r:id="rId16"/>
    <p:sldId id="312" r:id="rId17"/>
    <p:sldId id="313" r:id="rId18"/>
    <p:sldId id="314" r:id="rId19"/>
    <p:sldId id="315" r:id="rId20"/>
    <p:sldId id="316" r:id="rId21"/>
    <p:sldId id="261" r:id="rId22"/>
    <p:sldId id="273" r:id="rId23"/>
    <p:sldId id="276" r:id="rId24"/>
    <p:sldId id="277" r:id="rId25"/>
    <p:sldId id="321" r:id="rId26"/>
    <p:sldId id="284" r:id="rId27"/>
    <p:sldId id="285" r:id="rId28"/>
    <p:sldId id="286" r:id="rId29"/>
    <p:sldId id="287" r:id="rId30"/>
    <p:sldId id="288" r:id="rId31"/>
    <p:sldId id="317" r:id="rId32"/>
    <p:sldId id="318" r:id="rId33"/>
    <p:sldId id="319" r:id="rId34"/>
    <p:sldId id="320" r:id="rId35"/>
    <p:sldId id="278" r:id="rId36"/>
    <p:sldId id="279" r:id="rId37"/>
    <p:sldId id="280" r:id="rId38"/>
    <p:sldId id="281" r:id="rId39"/>
    <p:sldId id="282" r:id="rId40"/>
    <p:sldId id="283" r:id="rId41"/>
    <p:sldId id="289" r:id="rId42"/>
    <p:sldId id="290" r:id="rId43"/>
    <p:sldId id="291" r:id="rId44"/>
  </p:sldIdLst>
  <p:sldSz cx="9144000" cy="6858000" type="screen4x3"/>
  <p:notesSz cx="6858000" cy="9144000"/>
  <p:defaultTextStyle>
    <a:defPPr>
      <a:defRPr lang="vi-VN">
        <a:uFillTx/>
      </a:defRPr>
    </a:defPPr>
    <a:lvl1pPr marL="0" algn="l" defTabSz="914400" rtl="0" eaLnBrk="1" latinLnBrk="0" hangingPunct="1">
      <a:defRPr sz="1800" kern="1200">
        <a:solidFill>
          <a:schemeClr val="tx1"/>
        </a:solidFill>
        <a:uFillTx/>
        <a:latin typeface="+mn-lt"/>
        <a:ea typeface="+mn-ea"/>
        <a:cs typeface="+mn-cs"/>
      </a:defRPr>
    </a:lvl1pPr>
    <a:lvl2pPr marL="457200" algn="l" defTabSz="914400" rtl="0" eaLnBrk="1" latinLnBrk="0" hangingPunct="1">
      <a:defRPr sz="1800" kern="1200">
        <a:solidFill>
          <a:schemeClr val="tx1"/>
        </a:solidFill>
        <a:uFillTx/>
        <a:latin typeface="+mn-lt"/>
        <a:ea typeface="+mn-ea"/>
        <a:cs typeface="+mn-cs"/>
      </a:defRPr>
    </a:lvl2pPr>
    <a:lvl3pPr marL="914400" algn="l" defTabSz="914400" rtl="0" eaLnBrk="1" latinLnBrk="0" hangingPunct="1">
      <a:defRPr sz="1800" kern="1200">
        <a:solidFill>
          <a:schemeClr val="tx1"/>
        </a:solidFill>
        <a:uFillTx/>
        <a:latin typeface="+mn-lt"/>
        <a:ea typeface="+mn-ea"/>
        <a:cs typeface="+mn-cs"/>
      </a:defRPr>
    </a:lvl3pPr>
    <a:lvl4pPr marL="1371600" algn="l" defTabSz="914400" rtl="0" eaLnBrk="1" latinLnBrk="0" hangingPunct="1">
      <a:defRPr sz="1800" kern="1200">
        <a:solidFill>
          <a:schemeClr val="tx1"/>
        </a:solidFill>
        <a:uFillTx/>
        <a:latin typeface="+mn-lt"/>
        <a:ea typeface="+mn-ea"/>
        <a:cs typeface="+mn-cs"/>
      </a:defRPr>
    </a:lvl4pPr>
    <a:lvl5pPr marL="1828800" algn="l" defTabSz="914400" rtl="0" eaLnBrk="1" latinLnBrk="0" hangingPunct="1">
      <a:defRPr sz="1800" kern="1200">
        <a:solidFill>
          <a:schemeClr val="tx1"/>
        </a:solidFill>
        <a:uFillTx/>
        <a:latin typeface="+mn-lt"/>
        <a:ea typeface="+mn-ea"/>
        <a:cs typeface="+mn-cs"/>
      </a:defRPr>
    </a:lvl5pPr>
    <a:lvl6pPr marL="2286000" algn="l" defTabSz="914400" rtl="0" eaLnBrk="1" latinLnBrk="0" hangingPunct="1">
      <a:defRPr sz="1800" kern="1200">
        <a:solidFill>
          <a:schemeClr val="tx1"/>
        </a:solidFill>
        <a:uFillTx/>
        <a:latin typeface="+mn-lt"/>
        <a:ea typeface="+mn-ea"/>
        <a:cs typeface="+mn-cs"/>
      </a:defRPr>
    </a:lvl6pPr>
    <a:lvl7pPr marL="2743200" algn="l" defTabSz="914400" rtl="0" eaLnBrk="1" latinLnBrk="0" hangingPunct="1">
      <a:defRPr sz="1800" kern="1200">
        <a:solidFill>
          <a:schemeClr val="tx1"/>
        </a:solidFill>
        <a:uFillTx/>
        <a:latin typeface="+mn-lt"/>
        <a:ea typeface="+mn-ea"/>
        <a:cs typeface="+mn-cs"/>
      </a:defRPr>
    </a:lvl7pPr>
    <a:lvl8pPr marL="3200400" algn="l" defTabSz="914400" rtl="0" eaLnBrk="1" latinLnBrk="0" hangingPunct="1">
      <a:defRPr sz="1800" kern="1200">
        <a:solidFill>
          <a:schemeClr val="tx1"/>
        </a:solidFill>
        <a:uFillTx/>
        <a:latin typeface="+mn-lt"/>
        <a:ea typeface="+mn-ea"/>
        <a:cs typeface="+mn-cs"/>
      </a:defRPr>
    </a:lvl8pPr>
    <a:lvl9pPr marL="3657600" algn="l" defTabSz="914400" rtl="0" eaLnBrk="1" latinLnBrk="0" hangingPunct="1">
      <a:defRPr sz="1800" kern="1200">
        <a:solidFill>
          <a:schemeClr val="tx1"/>
        </a:solidFill>
        <a:uFillTx/>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srgbClr val="000000"/>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srgbClr val="000000"/>
        </a:fontRef>
        <a:schemeClr val="lt1"/>
      </a:tcTxStyle>
      <a:tcStyle>
        <a:tcBdr/>
        <a:fill>
          <a:solidFill>
            <a:schemeClr val="accent1"/>
          </a:solidFill>
        </a:fill>
      </a:tcStyle>
    </a:lastCol>
    <a:firstCol>
      <a:tcTxStyle b="on">
        <a:fontRef idx="minor">
          <a:srgbClr val="000000"/>
        </a:fontRef>
        <a:schemeClr val="lt1"/>
      </a:tcTxStyle>
      <a:tcStyle>
        <a:tcBdr/>
        <a:fill>
          <a:solidFill>
            <a:schemeClr val="accent1"/>
          </a:solidFill>
        </a:fill>
      </a:tcStyle>
    </a:firstCol>
    <a:lastRow>
      <a:tcTxStyle b="on">
        <a:fontRef idx="minor">
          <a:srgbClr val="000000"/>
        </a:fontRef>
        <a:schemeClr val="lt1"/>
      </a:tcTxStyle>
      <a:tcStyle>
        <a:tcBdr>
          <a:top>
            <a:ln w="38100" cmpd="sng">
              <a:solidFill>
                <a:schemeClr val="lt1"/>
              </a:solidFill>
            </a:ln>
          </a:top>
        </a:tcBdr>
        <a:fill>
          <a:solidFill>
            <a:schemeClr val="accent1"/>
          </a:solidFill>
        </a:fill>
      </a:tcStyle>
    </a:lastRow>
    <a:firstRow>
      <a:tcTxStyle b="on">
        <a:fontRef idx="minor">
          <a:srgbClr val="000000"/>
        </a:fontRef>
        <a:schemeClr val="lt1"/>
      </a:tcTxStyle>
      <a:tcStyle>
        <a:tcBdr>
          <a:bottom>
            <a:ln w="38100" cmpd="sng">
              <a:solidFill>
                <a:schemeClr val="lt1"/>
              </a:solidFill>
            </a:ln>
          </a:bottom>
        </a:tcBdr>
        <a:fill>
          <a:solidFill>
            <a:schemeClr val="accent1"/>
          </a:solidFill>
        </a:fill>
      </a:tcStyle>
    </a:firstRow>
  </a:tblStyle>
  <a:tblStyle styleId="{69012ECD-51FC-41F1-AA8D-1B2483CD663E}" styleName="Light Style 2 - Accent 1">
    <a:wholeTbl>
      <a:tcTxStyle>
        <a:fontRef idx="minor">
          <a:srgbClr val="00000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rgbClr val="000000"/>
        </a:fontRef>
        <a:schemeClr val="bg1"/>
      </a:tcTxStyle>
      <a:tcStyle>
        <a:tcBdr/>
        <a:fillRef idx="1">
          <a:schemeClr val="accent1"/>
        </a:fillRef>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63469" autoAdjust="0"/>
  </p:normalViewPr>
  <p:slideViewPr>
    <p:cSldViewPr>
      <p:cViewPr varScale="1">
        <p:scale>
          <a:sx n="66" d="100"/>
          <a:sy n="66" d="100"/>
        </p:scale>
        <p:origin x="2904" y="78"/>
      </p:cViewPr>
      <p:guideLst>
        <p:guide orient="horz" pos="2160"/>
        <p:guide pos="2880"/>
      </p:guideLst>
    </p:cSldViewPr>
  </p:slideViewPr>
  <p:outlineViewPr>
    <p:cViewPr>
      <p:scale>
        <a:sx n="33" d="100"/>
        <a:sy n="33" d="100"/>
      </p:scale>
      <p:origin x="0" y="0"/>
    </p:cViewPr>
  </p:outlineViewPr>
  <p:notesTextViewPr>
    <p:cViewPr>
      <p:scale>
        <a:sx n="1" d="1"/>
        <a:sy n="1" d="1"/>
      </p:scale>
      <p:origin x="0" y="0"/>
    </p:cViewPr>
  </p:notesTextViewPr>
  <p:notesViewPr>
    <p:cSldViewPr>
      <p:cViewPr varScale="1">
        <p:scale>
          <a:sx n="75" d="100"/>
          <a:sy n="75" d="100"/>
        </p:scale>
        <p:origin x="2938" y="-106"/>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heme" Target="theme/theme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uFillTx/>
              </a:defRPr>
            </a:lvl1pPr>
          </a:lstStyle>
          <a:p>
            <a:endParaRPr lang="vi-VN">
              <a:uFillTx/>
            </a:endParaRPr>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uFillTx/>
              </a:defRPr>
            </a:lvl1pPr>
          </a:lstStyle>
          <a:p>
            <a:fld id="{5FB59136-7F74-4509-B20E-AE351757F38F}" type="datetimeFigureOut">
              <a:rPr lang="vi-VN" smtClean="0">
                <a:uFillTx/>
              </a:rPr>
              <a:t>08/02/2025</a:t>
            </a:fld>
            <a:endParaRPr lang="vi-VN">
              <a:uFillTx/>
            </a:endParaRPr>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srgbClr val="000000"/>
            </a:solidFill>
          </a:ln>
        </p:spPr>
        <p:txBody>
          <a:bodyPr vert="horz" lIns="91440" tIns="45720" rIns="91440" bIns="45720" rtlCol="0" anchor="ctr"/>
          <a:lstStyle/>
          <a:p>
            <a:endParaRPr lang="vi-VN">
              <a:uFillTx/>
            </a:endParaRPr>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uFillTx/>
              </a:rPr>
              <a:t>Click to edit Master text styles</a:t>
            </a:r>
          </a:p>
          <a:p>
            <a:pPr lvl="1"/>
            <a:r>
              <a:rPr lang="en-US">
                <a:uFillTx/>
              </a:rPr>
              <a:t>Second level</a:t>
            </a:r>
          </a:p>
          <a:p>
            <a:pPr lvl="2"/>
            <a:r>
              <a:rPr lang="en-US">
                <a:uFillTx/>
              </a:rPr>
              <a:t>Third level</a:t>
            </a:r>
          </a:p>
          <a:p>
            <a:pPr lvl="3"/>
            <a:r>
              <a:rPr lang="en-US">
                <a:uFillTx/>
              </a:rPr>
              <a:t>Fourth level</a:t>
            </a:r>
          </a:p>
          <a:p>
            <a:pPr lvl="4"/>
            <a:r>
              <a:rPr lang="en-US">
                <a:uFillTx/>
              </a:rPr>
              <a:t>Fifth level</a:t>
            </a:r>
            <a:endParaRPr lang="vi-VN">
              <a:uFillTx/>
            </a:endParaRP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uFillTx/>
              </a:defRPr>
            </a:lvl1pPr>
          </a:lstStyle>
          <a:p>
            <a:endParaRPr lang="vi-VN">
              <a:uFillTx/>
            </a:endParaRPr>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uFillTx/>
              </a:defRPr>
            </a:lvl1pPr>
          </a:lstStyle>
          <a:p>
            <a:fld id="{EEA7600A-770C-47F1-89C1-5023B6D362E3}" type="slidenum">
              <a:rPr lang="vi-VN" smtClean="0">
                <a:uFillTx/>
              </a:rPr>
              <a:t>‹#›</a:t>
            </a:fld>
            <a:endParaRPr lang="vi-VN">
              <a:uFillTx/>
            </a:endParaRPr>
          </a:p>
        </p:txBody>
      </p:sp>
    </p:spTree>
    <p:extLst>
      <p:ext uri="{BB962C8B-B14F-4D97-AF65-F5344CB8AC3E}">
        <p14:creationId xmlns:p14="http://schemas.microsoft.com/office/powerpoint/2010/main" val="12718491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uFillTx/>
        <a:latin typeface="+mn-lt"/>
        <a:ea typeface="+mn-ea"/>
        <a:cs typeface="+mn-cs"/>
      </a:defRPr>
    </a:lvl1pPr>
    <a:lvl2pPr marL="457200" algn="l" defTabSz="914400" rtl="0" eaLnBrk="1" latinLnBrk="0" hangingPunct="1">
      <a:defRPr sz="1200" kern="1200">
        <a:solidFill>
          <a:schemeClr val="tx1"/>
        </a:solidFill>
        <a:uFillTx/>
        <a:latin typeface="+mn-lt"/>
        <a:ea typeface="+mn-ea"/>
        <a:cs typeface="+mn-cs"/>
      </a:defRPr>
    </a:lvl2pPr>
    <a:lvl3pPr marL="914400" algn="l" defTabSz="914400" rtl="0" eaLnBrk="1" latinLnBrk="0" hangingPunct="1">
      <a:defRPr sz="1200" kern="1200">
        <a:solidFill>
          <a:schemeClr val="tx1"/>
        </a:solidFill>
        <a:uFillTx/>
        <a:latin typeface="+mn-lt"/>
        <a:ea typeface="+mn-ea"/>
        <a:cs typeface="+mn-cs"/>
      </a:defRPr>
    </a:lvl3pPr>
    <a:lvl4pPr marL="1371600" algn="l" defTabSz="914400" rtl="0" eaLnBrk="1" latinLnBrk="0" hangingPunct="1">
      <a:defRPr sz="1200" kern="1200">
        <a:solidFill>
          <a:schemeClr val="tx1"/>
        </a:solidFill>
        <a:uFillTx/>
        <a:latin typeface="+mn-lt"/>
        <a:ea typeface="+mn-ea"/>
        <a:cs typeface="+mn-cs"/>
      </a:defRPr>
    </a:lvl4pPr>
    <a:lvl5pPr marL="1828800" algn="l" defTabSz="914400" rtl="0" eaLnBrk="1" latinLnBrk="0" hangingPunct="1">
      <a:defRPr sz="1200" kern="1200">
        <a:solidFill>
          <a:schemeClr val="tx1"/>
        </a:solidFill>
        <a:uFillTx/>
        <a:latin typeface="+mn-lt"/>
        <a:ea typeface="+mn-ea"/>
        <a:cs typeface="+mn-cs"/>
      </a:defRPr>
    </a:lvl5pPr>
    <a:lvl6pPr marL="2286000" algn="l" defTabSz="914400" rtl="0" eaLnBrk="1" latinLnBrk="0" hangingPunct="1">
      <a:defRPr sz="1200" kern="1200">
        <a:solidFill>
          <a:schemeClr val="tx1"/>
        </a:solidFill>
        <a:uFillTx/>
        <a:latin typeface="+mn-lt"/>
        <a:ea typeface="+mn-ea"/>
        <a:cs typeface="+mn-cs"/>
      </a:defRPr>
    </a:lvl6pPr>
    <a:lvl7pPr marL="2743200" algn="l" defTabSz="914400" rtl="0" eaLnBrk="1" latinLnBrk="0" hangingPunct="1">
      <a:defRPr sz="1200" kern="1200">
        <a:solidFill>
          <a:schemeClr val="tx1"/>
        </a:solidFill>
        <a:uFillTx/>
        <a:latin typeface="+mn-lt"/>
        <a:ea typeface="+mn-ea"/>
        <a:cs typeface="+mn-cs"/>
      </a:defRPr>
    </a:lvl7pPr>
    <a:lvl8pPr marL="3200400" algn="l" defTabSz="914400" rtl="0" eaLnBrk="1" latinLnBrk="0" hangingPunct="1">
      <a:defRPr sz="1200" kern="1200">
        <a:solidFill>
          <a:schemeClr val="tx1"/>
        </a:solidFill>
        <a:uFillTx/>
        <a:latin typeface="+mn-lt"/>
        <a:ea typeface="+mn-ea"/>
        <a:cs typeface="+mn-cs"/>
      </a:defRPr>
    </a:lvl8pPr>
    <a:lvl9pPr marL="3657600" algn="l" defTabSz="914400" rtl="0" eaLnBrk="1" latinLnBrk="0" hangingPunct="1">
      <a:defRPr sz="1200" kern="1200">
        <a:solidFill>
          <a:schemeClr val="tx1"/>
        </a:solidFill>
        <a:uFillTx/>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3" Type="http://schemas.openxmlformats.org/officeDocument/2006/relationships/hyperlink" Target="http://www.howkteam.vn/course/khoa-hoc-lap-trinh-c-can-ban-4" TargetMode="External"/><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Slide Image Placeholder 1"/>
          <p:cNvSpPr>
            <a:spLocks noGrp="1" noRot="1" noChangeAspect="1" noTextEdit="1"/>
          </p:cNvSpPr>
          <p:nvPr>
            <p:ph type="sldImg"/>
          </p:nvPr>
        </p:nvSpPr>
        <p:spPr bwMode="auto">
          <a:noFill/>
          <a:ln>
            <a:solidFill>
              <a:srgbClr val="000000"/>
            </a:solidFill>
            <a:miter lim="800000"/>
          </a:ln>
        </p:spPr>
      </p:sp>
      <p:sp>
        <p:nvSpPr>
          <p:cNvPr id="38915" name="Notes Placeholder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en-US">
              <a:uFillTx/>
            </a:endParaRPr>
          </a:p>
        </p:txBody>
      </p:sp>
      <p:sp>
        <p:nvSpPr>
          <p:cNvPr id="38916" name="Slide Number Placeholder 3"/>
          <p:cNvSpPr>
            <a:spLocks noGrp="1"/>
          </p:cNvSpPr>
          <p:nvPr>
            <p:ph type="sldNum" sz="quarter" idx="5"/>
          </p:nvPr>
        </p:nvSpPr>
        <p:spPr bwMode="auto">
          <a:noFill/>
          <a:ln>
            <a:miter lim="800000"/>
          </a:ln>
        </p:spPr>
        <p:txBody>
          <a:bodyPr wrap="square" numCol="1" anchorCtr="0" compatLnSpc="1">
            <a:prstTxWarp prst="textNoShape">
              <a:avLst/>
            </a:prstTxWarp>
          </a:bodyPr>
          <a:lstStyle/>
          <a:p>
            <a:fld id="{2F68E398-2F6C-4593-8EEE-8DC7A0A69EB4}" type="slidenum">
              <a:rPr lang="en-US">
                <a:uFillTx/>
              </a:rPr>
              <a:pPr/>
              <a:t>2</a:t>
            </a:fld>
            <a:endParaRPr lang="en-US">
              <a:uFillTx/>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buFont typeface="Arial" panose="020B0604020202020204" pitchFamily="34" charset="0"/>
              <a:buChar char="•"/>
            </a:pPr>
            <a:r>
              <a:rPr lang="vi-VN" b="0" i="0" dirty="0">
                <a:solidFill>
                  <a:srgbClr val="0000FF"/>
                </a:solidFill>
                <a:effectLst/>
                <a:latin typeface="Google Sans"/>
              </a:rPr>
              <a:t>&lt;kiểu dữ liệu&gt;</a:t>
            </a:r>
            <a:r>
              <a:rPr lang="vi-VN" b="0" i="0" dirty="0">
                <a:solidFill>
                  <a:srgbClr val="222C37"/>
                </a:solidFill>
                <a:effectLst/>
                <a:latin typeface="Google Sans"/>
              </a:rPr>
              <a:t> là kiểu dữ liệu của các phần tử trong mảng.</a:t>
            </a:r>
          </a:p>
          <a:p>
            <a:pPr algn="l">
              <a:buFont typeface="Arial" panose="020B0604020202020204" pitchFamily="34" charset="0"/>
              <a:buChar char="•"/>
            </a:pPr>
            <a:r>
              <a:rPr lang="vi-VN" b="0" i="0" dirty="0">
                <a:solidFill>
                  <a:srgbClr val="222C37"/>
                </a:solidFill>
                <a:effectLst/>
                <a:latin typeface="Google Sans"/>
              </a:rPr>
              <a:t>Cặp dấu </a:t>
            </a:r>
            <a:r>
              <a:rPr lang="vi-VN" b="1" i="0" dirty="0">
                <a:solidFill>
                  <a:srgbClr val="222C37"/>
                </a:solidFill>
                <a:effectLst/>
                <a:latin typeface="Google Sans"/>
              </a:rPr>
              <a:t>[]</a:t>
            </a:r>
            <a:r>
              <a:rPr lang="vi-VN" b="0" i="0" dirty="0">
                <a:solidFill>
                  <a:srgbClr val="222C37"/>
                </a:solidFill>
                <a:effectLst/>
                <a:latin typeface="Google Sans"/>
              </a:rPr>
              <a:t> là ký hiệu cho khai báo mảng 1 chiều.</a:t>
            </a:r>
          </a:p>
          <a:p>
            <a:pPr algn="l">
              <a:buFont typeface="Arial" panose="020B0604020202020204" pitchFamily="34" charset="0"/>
              <a:buChar char="•"/>
            </a:pPr>
            <a:r>
              <a:rPr lang="vi-VN" b="0" i="0" dirty="0">
                <a:solidFill>
                  <a:srgbClr val="B22222"/>
                </a:solidFill>
                <a:effectLst/>
                <a:latin typeface="Google Sans"/>
              </a:rPr>
              <a:t>&lt;tên mảng&gt; </a:t>
            </a:r>
            <a:r>
              <a:rPr lang="vi-VN" b="0" i="0" dirty="0">
                <a:solidFill>
                  <a:srgbClr val="222C37"/>
                </a:solidFill>
                <a:effectLst/>
                <a:latin typeface="Google Sans"/>
              </a:rPr>
              <a:t>là tên của mảng, cách đặt tên mảng cũng như cách đặt tên biến</a:t>
            </a:r>
          </a:p>
          <a:p>
            <a:endParaRPr lang="en-US" dirty="0"/>
          </a:p>
          <a:p>
            <a:endParaRPr lang="en-US" dirty="0"/>
          </a:p>
          <a:p>
            <a:pPr algn="l">
              <a:buFont typeface="Arial" panose="020B0604020202020204" pitchFamily="34" charset="0"/>
              <a:buChar char="•"/>
            </a:pPr>
            <a:r>
              <a:rPr lang="vi-VN" b="0" i="0" dirty="0">
                <a:solidFill>
                  <a:srgbClr val="222C37"/>
                </a:solidFill>
                <a:effectLst/>
                <a:latin typeface="Google Sans"/>
              </a:rPr>
              <a:t>Sau khi mảng được cấp phát vùng nhớ thì các phần tử trong mảng sẽ mang giá trị mặc định:</a:t>
            </a:r>
          </a:p>
          <a:p>
            <a:pPr marL="742950" lvl="1" indent="-285750" algn="l">
              <a:buFont typeface="Arial" panose="020B0604020202020204" pitchFamily="34" charset="0"/>
              <a:buChar char="•"/>
            </a:pPr>
            <a:r>
              <a:rPr lang="vi-VN" b="0" i="0" dirty="0">
                <a:solidFill>
                  <a:srgbClr val="222C37"/>
                </a:solidFill>
                <a:effectLst/>
                <a:latin typeface="Google Sans"/>
              </a:rPr>
              <a:t>Đối với số nguyên là 0</a:t>
            </a:r>
          </a:p>
          <a:p>
            <a:pPr marL="742950" lvl="1" indent="-285750" algn="l">
              <a:buFont typeface="Arial" panose="020B0604020202020204" pitchFamily="34" charset="0"/>
              <a:buChar char="•"/>
            </a:pPr>
            <a:r>
              <a:rPr lang="vi-VN" b="0" i="0" dirty="0">
                <a:solidFill>
                  <a:srgbClr val="222C37"/>
                </a:solidFill>
                <a:effectLst/>
                <a:latin typeface="Google Sans"/>
              </a:rPr>
              <a:t>Đối với số thực là 0.0</a:t>
            </a:r>
          </a:p>
          <a:p>
            <a:pPr marL="742950" lvl="1" indent="-285750" algn="l">
              <a:buFont typeface="Arial" panose="020B0604020202020204" pitchFamily="34" charset="0"/>
              <a:buChar char="•"/>
            </a:pPr>
            <a:r>
              <a:rPr lang="vi-VN" b="0" i="0" dirty="0">
                <a:solidFill>
                  <a:srgbClr val="222C37"/>
                </a:solidFill>
                <a:effectLst/>
                <a:latin typeface="Google Sans"/>
              </a:rPr>
              <a:t>Đối với kiểu ký tự là ‘’ (ký tự rỗng)</a:t>
            </a:r>
          </a:p>
          <a:p>
            <a:pPr marL="742950" lvl="1" indent="-285750" algn="l">
              <a:buFont typeface="Arial" panose="020B0604020202020204" pitchFamily="34" charset="0"/>
              <a:buChar char="•"/>
            </a:pPr>
            <a:r>
              <a:rPr lang="vi-VN" b="0" i="0" dirty="0">
                <a:solidFill>
                  <a:srgbClr val="222C37"/>
                </a:solidFill>
                <a:effectLst/>
                <a:latin typeface="Google Sans"/>
              </a:rPr>
              <a:t>Đối với kiểu tham chiếu là </a:t>
            </a:r>
            <a:r>
              <a:rPr lang="vi-VN" b="0" i="0" dirty="0">
                <a:solidFill>
                  <a:srgbClr val="0000FF"/>
                </a:solidFill>
                <a:effectLst/>
                <a:latin typeface="Google Sans"/>
              </a:rPr>
              <a:t>null</a:t>
            </a:r>
            <a:endParaRPr lang="vi-VN" b="0" i="0" dirty="0">
              <a:solidFill>
                <a:srgbClr val="222C37"/>
              </a:solidFill>
              <a:effectLst/>
              <a:latin typeface="Google Sans"/>
            </a:endParaRPr>
          </a:p>
          <a:p>
            <a:endParaRPr lang="en-US" dirty="0"/>
          </a:p>
          <a:p>
            <a:r>
              <a:rPr lang="en-US" dirty="0"/>
              <a:t>https://www.howkteam.vn/Course/C-Basics/Mang-1-chieu-trong-C-97</a:t>
            </a:r>
          </a:p>
          <a:p>
            <a:endParaRPr lang="en-US" dirty="0"/>
          </a:p>
        </p:txBody>
      </p:sp>
      <p:sp>
        <p:nvSpPr>
          <p:cNvPr id="4" name="Slide Number Placeholder 3"/>
          <p:cNvSpPr>
            <a:spLocks noGrp="1"/>
          </p:cNvSpPr>
          <p:nvPr>
            <p:ph type="sldNum" sz="quarter" idx="5"/>
          </p:nvPr>
        </p:nvSpPr>
        <p:spPr/>
        <p:txBody>
          <a:bodyPr/>
          <a:lstStyle/>
          <a:p>
            <a:fld id="{EEA7600A-770C-47F1-89C1-5023B6D362E3}" type="slidenum">
              <a:rPr lang="vi-VN" smtClean="0"/>
              <a:t>3</a:t>
            </a:fld>
            <a:endParaRPr lang="vi-VN"/>
          </a:p>
        </p:txBody>
      </p:sp>
    </p:spTree>
    <p:extLst>
      <p:ext uri="{BB962C8B-B14F-4D97-AF65-F5344CB8AC3E}">
        <p14:creationId xmlns:p14="http://schemas.microsoft.com/office/powerpoint/2010/main" val="341992934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vi-VN" b="1"/>
              <a:t>Chỉ khai báo biến mảng</a:t>
            </a:r>
            <a:r>
              <a:rPr lang="vi-VN"/>
              <a:t>, chưa thể sử dụng ngay vì chưa được cấp phát bộ nhớ.</a:t>
            </a:r>
            <a:endParaRPr lang="en-US"/>
          </a:p>
          <a:p>
            <a:pPr marL="0" marR="0" lvl="0" indent="0" algn="l" defTabSz="914400" rtl="0" eaLnBrk="1" fontAlgn="auto" latinLnBrk="0" hangingPunct="1">
              <a:lnSpc>
                <a:spcPct val="100000"/>
              </a:lnSpc>
              <a:spcBef>
                <a:spcPts val="0"/>
              </a:spcBef>
              <a:spcAft>
                <a:spcPts val="0"/>
              </a:spcAft>
              <a:buClrTx/>
              <a:buSzTx/>
              <a:buFontTx/>
              <a:buNone/>
              <a:tabLst/>
              <a:defRPr/>
            </a:pPr>
            <a:r>
              <a:rPr lang="en-US" b="1"/>
              <a:t>Mảng có 5 phần tử</a:t>
            </a:r>
            <a:r>
              <a:rPr lang="en-US"/>
              <a:t>, mỗi phần tử sẽ có giá trị mặc định (0 đối với int, null đối với string, false đối với bool).</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t>📌 </a:t>
            </a:r>
            <a:r>
              <a:rPr lang="vi-VN" b="1"/>
              <a:t>Lưu ý:</a:t>
            </a:r>
            <a:r>
              <a:rPr lang="vi-VN"/>
              <a:t> Nếu đã khởi tạo giá trị trực tiếp, có thể bỏ new int[].</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p>
          <a:p>
            <a:pPr marL="0" marR="0" lvl="0" indent="0" algn="l" defTabSz="914400" rtl="0" eaLnBrk="1" fontAlgn="auto" latinLnBrk="0" hangingPunct="1">
              <a:lnSpc>
                <a:spcPct val="100000"/>
              </a:lnSpc>
              <a:spcBef>
                <a:spcPts val="0"/>
              </a:spcBef>
              <a:spcAft>
                <a:spcPts val="0"/>
              </a:spcAft>
              <a:buClrTx/>
              <a:buSzTx/>
              <a:buFontTx/>
              <a:buNone/>
              <a:tabLst/>
              <a:defRPr/>
            </a:pPr>
            <a:endParaRPr lang="vi-VN"/>
          </a:p>
          <a:p>
            <a:endParaRPr lang="en-US" dirty="0"/>
          </a:p>
        </p:txBody>
      </p:sp>
      <p:sp>
        <p:nvSpPr>
          <p:cNvPr id="4" name="Slide Number Placeholder 3"/>
          <p:cNvSpPr>
            <a:spLocks noGrp="1"/>
          </p:cNvSpPr>
          <p:nvPr>
            <p:ph type="sldNum" sz="quarter" idx="5"/>
          </p:nvPr>
        </p:nvSpPr>
        <p:spPr/>
        <p:txBody>
          <a:bodyPr/>
          <a:lstStyle/>
          <a:p>
            <a:fld id="{EEA7600A-770C-47F1-89C1-5023B6D362E3}" type="slidenum">
              <a:rPr lang="vi-VN" smtClean="0"/>
              <a:t>4</a:t>
            </a:fld>
            <a:endParaRPr lang="vi-VN"/>
          </a:p>
        </p:txBody>
      </p:sp>
    </p:spTree>
    <p:extLst>
      <p:ext uri="{BB962C8B-B14F-4D97-AF65-F5344CB8AC3E}">
        <p14:creationId xmlns:p14="http://schemas.microsoft.com/office/powerpoint/2010/main" val="401393680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EEA7600A-770C-47F1-89C1-5023B6D362E3}" type="slidenum">
              <a:rPr lang="vi-VN" smtClean="0">
                <a:uFillTx/>
              </a:rPr>
              <a:t>6</a:t>
            </a:fld>
            <a:endParaRPr lang="vi-VN">
              <a:uFillTx/>
            </a:endParaRPr>
          </a:p>
        </p:txBody>
      </p:sp>
    </p:spTree>
    <p:extLst>
      <p:ext uri="{BB962C8B-B14F-4D97-AF65-F5344CB8AC3E}">
        <p14:creationId xmlns:p14="http://schemas.microsoft.com/office/powerpoint/2010/main" val="304654366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EEA7600A-770C-47F1-89C1-5023B6D362E3}" type="slidenum">
              <a:rPr lang="vi-VN" smtClean="0">
                <a:uFillTx/>
              </a:rPr>
              <a:t>8</a:t>
            </a:fld>
            <a:endParaRPr lang="vi-VN">
              <a:uFillTx/>
            </a:endParaRPr>
          </a:p>
        </p:txBody>
      </p:sp>
    </p:spTree>
    <p:extLst>
      <p:ext uri="{BB962C8B-B14F-4D97-AF65-F5344CB8AC3E}">
        <p14:creationId xmlns:p14="http://schemas.microsoft.com/office/powerpoint/2010/main" val="264308607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None/>
            </a:pPr>
            <a:r>
              <a:rPr lang="en-US" sz="1200"/>
              <a:t>using System;</a:t>
            </a:r>
          </a:p>
          <a:p>
            <a:pPr marL="0" indent="0">
              <a:buNone/>
            </a:pPr>
            <a:r>
              <a:rPr lang="en-US" sz="1200"/>
              <a:t>class Program</a:t>
            </a:r>
          </a:p>
          <a:p>
            <a:pPr marL="0" indent="0">
              <a:buNone/>
            </a:pPr>
            <a:r>
              <a:rPr lang="en-US" sz="1200"/>
              <a:t>{</a:t>
            </a:r>
          </a:p>
          <a:p>
            <a:pPr marL="0" indent="0">
              <a:buNone/>
            </a:pPr>
            <a:r>
              <a:rPr lang="en-US" sz="1200"/>
              <a:t>    static void Main()</a:t>
            </a:r>
          </a:p>
          <a:p>
            <a:pPr marL="0" indent="0">
              <a:buNone/>
            </a:pPr>
            <a:r>
              <a:rPr lang="en-US" sz="1200"/>
              <a:t>    {</a:t>
            </a:r>
          </a:p>
          <a:p>
            <a:pPr marL="0" indent="0">
              <a:buNone/>
            </a:pPr>
            <a:r>
              <a:rPr lang="en-US" sz="1200"/>
              <a:t>        int[] numbers = { 5, 2, 8, 1, 4 };</a:t>
            </a:r>
          </a:p>
          <a:p>
            <a:pPr marL="0" indent="0">
              <a:buNone/>
            </a:pPr>
            <a:r>
              <a:rPr lang="en-US" sz="1200"/>
              <a:t>        Console.WriteLine("Mảng ban đầu:");</a:t>
            </a:r>
          </a:p>
          <a:p>
            <a:pPr marL="0" indent="0">
              <a:buNone/>
            </a:pPr>
            <a:r>
              <a:rPr lang="en-US" sz="1200"/>
              <a:t>        foreach (int num in numbers)</a:t>
            </a:r>
          </a:p>
          <a:p>
            <a:pPr marL="0" indent="0">
              <a:buNone/>
            </a:pPr>
            <a:r>
              <a:rPr lang="en-US" sz="1200"/>
              <a:t>        {</a:t>
            </a:r>
          </a:p>
          <a:p>
            <a:pPr marL="0" indent="0">
              <a:buNone/>
            </a:pPr>
            <a:r>
              <a:rPr lang="en-US" sz="1200"/>
              <a:t>            Console.Write(num + " ");</a:t>
            </a:r>
          </a:p>
          <a:p>
            <a:pPr marL="0" indent="0">
              <a:buNone/>
            </a:pPr>
            <a:r>
              <a:rPr lang="en-US" sz="1200"/>
              <a:t>        }</a:t>
            </a:r>
          </a:p>
          <a:p>
            <a:pPr marL="0" indent="0">
              <a:buNone/>
            </a:pPr>
            <a:r>
              <a:rPr lang="en-US" sz="1200"/>
              <a:t>        Array.Sort(numbers);</a:t>
            </a:r>
          </a:p>
          <a:p>
            <a:pPr marL="0" indent="0">
              <a:buNone/>
            </a:pPr>
            <a:r>
              <a:rPr lang="en-US" sz="1200"/>
              <a:t>        Console.WriteLine("\nMảng sau khi sắp xếp:");</a:t>
            </a:r>
          </a:p>
          <a:p>
            <a:pPr marL="0" indent="0">
              <a:buNone/>
            </a:pPr>
            <a:r>
              <a:rPr lang="en-US" sz="1200"/>
              <a:t>        foreach (int num in numbers)</a:t>
            </a:r>
          </a:p>
          <a:p>
            <a:pPr marL="0" indent="0">
              <a:buNone/>
            </a:pPr>
            <a:r>
              <a:rPr lang="en-US" sz="1200"/>
              <a:t>        {</a:t>
            </a:r>
          </a:p>
          <a:p>
            <a:pPr marL="0" indent="0">
              <a:buNone/>
            </a:pPr>
            <a:r>
              <a:rPr lang="en-US" sz="1200"/>
              <a:t>            Console.Write(num + " ");</a:t>
            </a:r>
          </a:p>
          <a:p>
            <a:pPr marL="0" indent="0">
              <a:buNone/>
            </a:pPr>
            <a:r>
              <a:rPr lang="en-US" sz="1200"/>
              <a:t>        }</a:t>
            </a:r>
          </a:p>
          <a:p>
            <a:pPr marL="0" indent="0">
              <a:buNone/>
            </a:pPr>
            <a:r>
              <a:rPr lang="en-US" sz="1200"/>
              <a:t>    }</a:t>
            </a:r>
          </a:p>
          <a:p>
            <a:pPr marL="0" indent="0">
              <a:buNone/>
            </a:pPr>
            <a:r>
              <a:rPr lang="en-US" sz="1200"/>
              <a:t>}</a:t>
            </a:r>
          </a:p>
          <a:p>
            <a:endParaRPr lang="en-US"/>
          </a:p>
          <a:p>
            <a:endParaRPr lang="en-US"/>
          </a:p>
        </p:txBody>
      </p:sp>
      <p:sp>
        <p:nvSpPr>
          <p:cNvPr id="4" name="Slide Number Placeholder 3"/>
          <p:cNvSpPr>
            <a:spLocks noGrp="1"/>
          </p:cNvSpPr>
          <p:nvPr>
            <p:ph type="sldNum" sz="quarter" idx="5"/>
          </p:nvPr>
        </p:nvSpPr>
        <p:spPr/>
        <p:txBody>
          <a:bodyPr/>
          <a:lstStyle/>
          <a:p>
            <a:fld id="{EEA7600A-770C-47F1-89C1-5023B6D362E3}" type="slidenum">
              <a:rPr lang="vi-VN" smtClean="0">
                <a:uFillTx/>
              </a:rPr>
              <a:t>9</a:t>
            </a:fld>
            <a:endParaRPr lang="vi-VN">
              <a:uFillTx/>
            </a:endParaRPr>
          </a:p>
        </p:txBody>
      </p:sp>
    </p:spTree>
    <p:extLst>
      <p:ext uri="{BB962C8B-B14F-4D97-AF65-F5344CB8AC3E}">
        <p14:creationId xmlns:p14="http://schemas.microsoft.com/office/powerpoint/2010/main" val="300540644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EEA7600A-770C-47F1-89C1-5023B6D362E3}" type="slidenum">
              <a:rPr lang="vi-VN" smtClean="0">
                <a:uFillTx/>
              </a:rPr>
              <a:t>10</a:t>
            </a:fld>
            <a:endParaRPr lang="vi-VN">
              <a:uFillTx/>
            </a:endParaRPr>
          </a:p>
        </p:txBody>
      </p:sp>
    </p:spTree>
    <p:extLst>
      <p:ext uri="{BB962C8B-B14F-4D97-AF65-F5344CB8AC3E}">
        <p14:creationId xmlns:p14="http://schemas.microsoft.com/office/powerpoint/2010/main" val="68319985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EEA7600A-770C-47F1-89C1-5023B6D362E3}" type="slidenum">
              <a:rPr lang="vi-VN" smtClean="0">
                <a:uFillTx/>
              </a:rPr>
              <a:t>12</a:t>
            </a:fld>
            <a:endParaRPr lang="vi-VN">
              <a:uFillTx/>
            </a:endParaRPr>
          </a:p>
        </p:txBody>
      </p:sp>
    </p:spTree>
    <p:extLst>
      <p:ext uri="{BB962C8B-B14F-4D97-AF65-F5344CB8AC3E}">
        <p14:creationId xmlns:p14="http://schemas.microsoft.com/office/powerpoint/2010/main" val="250746946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EEA7600A-770C-47F1-89C1-5023B6D362E3}" type="slidenum">
              <a:rPr lang="vi-VN" smtClean="0">
                <a:uFillTx/>
              </a:rPr>
              <a:t>13</a:t>
            </a:fld>
            <a:endParaRPr lang="vi-VN">
              <a:uFillTx/>
            </a:endParaRPr>
          </a:p>
        </p:txBody>
      </p:sp>
    </p:spTree>
    <p:extLst>
      <p:ext uri="{BB962C8B-B14F-4D97-AF65-F5344CB8AC3E}">
        <p14:creationId xmlns:p14="http://schemas.microsoft.com/office/powerpoint/2010/main" val="267361355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EEA7600A-770C-47F1-89C1-5023B6D362E3}" type="slidenum">
              <a:rPr lang="vi-VN" smtClean="0">
                <a:uFillTx/>
              </a:rPr>
              <a:t>14</a:t>
            </a:fld>
            <a:endParaRPr lang="vi-VN">
              <a:uFillTx/>
            </a:endParaRPr>
          </a:p>
        </p:txBody>
      </p:sp>
    </p:spTree>
    <p:extLst>
      <p:ext uri="{BB962C8B-B14F-4D97-AF65-F5344CB8AC3E}">
        <p14:creationId xmlns:p14="http://schemas.microsoft.com/office/powerpoint/2010/main" val="7130484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b="1"/>
              <a:t>Tổng kết</a:t>
            </a:r>
          </a:p>
          <a:p>
            <a:r>
              <a:rPr lang="en-US"/>
              <a:t>✅ </a:t>
            </a:r>
            <a:r>
              <a:rPr lang="vi-VN"/>
              <a:t>List&lt;T&gt; là một danh sách động trong C#.</a:t>
            </a:r>
            <a:br>
              <a:rPr lang="vi-VN"/>
            </a:br>
            <a:r>
              <a:rPr lang="en-US"/>
              <a:t>✅ </a:t>
            </a:r>
            <a:r>
              <a:rPr lang="vi-VN"/>
              <a:t>Hỗ trợ nhiều phương thức thao tác như </a:t>
            </a:r>
            <a:r>
              <a:rPr lang="vi-VN" b="1"/>
              <a:t>Add()</a:t>
            </a:r>
            <a:r>
              <a:rPr lang="vi-VN"/>
              <a:t>, </a:t>
            </a:r>
            <a:r>
              <a:rPr lang="vi-VN" b="1"/>
              <a:t>Remove()</a:t>
            </a:r>
            <a:r>
              <a:rPr lang="vi-VN"/>
              <a:t>, </a:t>
            </a:r>
            <a:r>
              <a:rPr lang="vi-VN" b="1"/>
              <a:t>Sort()</a:t>
            </a:r>
            <a:r>
              <a:rPr lang="vi-VN"/>
              <a:t>, </a:t>
            </a:r>
            <a:r>
              <a:rPr lang="vi-VN" b="1"/>
              <a:t>Find()</a:t>
            </a:r>
            <a:r>
              <a:rPr lang="vi-VN"/>
              <a:t>...</a:t>
            </a:r>
            <a:br>
              <a:rPr lang="vi-VN"/>
            </a:br>
            <a:r>
              <a:rPr lang="en-US"/>
              <a:t>✅ </a:t>
            </a:r>
            <a:r>
              <a:rPr lang="vi-VN"/>
              <a:t>Duyệt danh sách bằng </a:t>
            </a:r>
            <a:r>
              <a:rPr lang="vi-VN" b="1"/>
              <a:t>for</a:t>
            </a:r>
            <a:r>
              <a:rPr lang="vi-VN"/>
              <a:t>, </a:t>
            </a:r>
            <a:r>
              <a:rPr lang="vi-VN" b="1"/>
              <a:t>foreach</a:t>
            </a:r>
            <a:r>
              <a:rPr lang="vi-VN"/>
              <a:t>, hoặc </a:t>
            </a:r>
            <a:r>
              <a:rPr lang="vi-VN" b="1"/>
              <a:t>ForEach()</a:t>
            </a:r>
            <a:r>
              <a:rPr lang="vi-VN"/>
              <a:t>.</a:t>
            </a:r>
            <a:br>
              <a:rPr lang="vi-VN"/>
            </a:br>
            <a:r>
              <a:rPr lang="en-US"/>
              <a:t>✅ </a:t>
            </a:r>
            <a:r>
              <a:rPr lang="vi-VN"/>
              <a:t>Không cần xác định kích thước trước như mảng (Array).</a:t>
            </a:r>
          </a:p>
          <a:p>
            <a:endParaRPr lang="en-US"/>
          </a:p>
        </p:txBody>
      </p:sp>
      <p:sp>
        <p:nvSpPr>
          <p:cNvPr id="4" name="Slide Number Placeholder 3"/>
          <p:cNvSpPr>
            <a:spLocks noGrp="1"/>
          </p:cNvSpPr>
          <p:nvPr>
            <p:ph type="sldNum" sz="quarter" idx="5"/>
          </p:nvPr>
        </p:nvSpPr>
        <p:spPr/>
        <p:txBody>
          <a:bodyPr/>
          <a:lstStyle/>
          <a:p>
            <a:fld id="{EEA7600A-770C-47F1-89C1-5023B6D362E3}" type="slidenum">
              <a:rPr lang="vi-VN" smtClean="0">
                <a:uFillTx/>
              </a:rPr>
              <a:t>15</a:t>
            </a:fld>
            <a:endParaRPr lang="vi-VN">
              <a:uFillTx/>
            </a:endParaRPr>
          </a:p>
        </p:txBody>
      </p:sp>
    </p:spTree>
    <p:extLst>
      <p:ext uri="{BB962C8B-B14F-4D97-AF65-F5344CB8AC3E}">
        <p14:creationId xmlns:p14="http://schemas.microsoft.com/office/powerpoint/2010/main" val="142782742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sz="1200" b="0" i="0" kern="1200">
                <a:solidFill>
                  <a:schemeClr val="tx1"/>
                </a:solidFill>
                <a:effectLst/>
                <a:uFillTx/>
                <a:latin typeface="+mn-lt"/>
                <a:ea typeface="+mn-ea"/>
                <a:cs typeface="+mn-cs"/>
              </a:rPr>
              <a:t>Nếu bạn đã từng học </a:t>
            </a:r>
            <a:r>
              <a:rPr lang="vi-VN" sz="1200" b="0" i="0" u="none" strike="noStrike" kern="1200">
                <a:solidFill>
                  <a:schemeClr val="tx1"/>
                </a:solidFill>
                <a:effectLst/>
                <a:uFillTx/>
                <a:latin typeface="+mn-lt"/>
                <a:ea typeface="+mn-ea"/>
                <a:cs typeface="+mn-cs"/>
                <a:hlinkClick r:id="rId3"/>
              </a:rPr>
              <a:t>LẬP TRÌNH C++</a:t>
            </a:r>
            <a:r>
              <a:rPr lang="vi-VN" sz="1200" b="0" i="0" kern="1200">
                <a:solidFill>
                  <a:schemeClr val="tx1"/>
                </a:solidFill>
                <a:effectLst/>
                <a:uFillTx/>
                <a:latin typeface="+mn-lt"/>
                <a:ea typeface="+mn-ea"/>
                <a:cs typeface="+mn-cs"/>
              </a:rPr>
              <a:t> thì chắc hẳn bạn đã từng biết tới khái niệm </a:t>
            </a:r>
            <a:r>
              <a:rPr lang="vi-VN" sz="1200" b="1" i="0" kern="1200">
                <a:solidFill>
                  <a:schemeClr val="tx1"/>
                </a:solidFill>
                <a:effectLst/>
                <a:uFillTx/>
                <a:latin typeface="+mn-lt"/>
                <a:ea typeface="+mn-ea"/>
                <a:cs typeface="+mn-cs"/>
              </a:rPr>
              <a:t>Template </a:t>
            </a:r>
            <a:r>
              <a:rPr lang="vi-VN" sz="1200" b="0" i="0" kern="1200">
                <a:solidFill>
                  <a:schemeClr val="tx1"/>
                </a:solidFill>
                <a:effectLst/>
                <a:uFillTx/>
                <a:latin typeface="+mn-lt"/>
                <a:ea typeface="+mn-ea"/>
                <a:cs typeface="+mn-cs"/>
              </a:rPr>
              <a:t>(hay còn gọi là mẫu).</a:t>
            </a:r>
          </a:p>
          <a:p>
            <a:r>
              <a:rPr lang="vi-VN" sz="1200" b="1" i="0" kern="1200">
                <a:solidFill>
                  <a:schemeClr val="tx1"/>
                </a:solidFill>
                <a:effectLst/>
                <a:uFillTx/>
                <a:latin typeface="+mn-lt"/>
                <a:ea typeface="+mn-ea"/>
                <a:cs typeface="+mn-cs"/>
              </a:rPr>
              <a:t>Template </a:t>
            </a:r>
            <a:r>
              <a:rPr lang="vi-VN" sz="1200" b="0" i="0" kern="1200">
                <a:solidFill>
                  <a:schemeClr val="tx1"/>
                </a:solidFill>
                <a:effectLst/>
                <a:uFillTx/>
                <a:latin typeface="+mn-lt"/>
                <a:ea typeface="+mn-ea"/>
                <a:cs typeface="+mn-cs"/>
              </a:rPr>
              <a:t>được dùng để tạo ra các lớp, các hàm mà không cần quan tâm đến đối số kiểu dữ liệu là gì. Template được đưa ra với mục đích tăng tính tái sử dụng lại mã nguồn.</a:t>
            </a:r>
          </a:p>
          <a:p>
            <a:r>
              <a:rPr lang="vi-VN" sz="1200" b="0" i="0" kern="1200">
                <a:solidFill>
                  <a:schemeClr val="tx1"/>
                </a:solidFill>
                <a:effectLst/>
                <a:uFillTx/>
                <a:latin typeface="+mn-lt"/>
                <a:ea typeface="+mn-ea"/>
                <a:cs typeface="+mn-cs"/>
              </a:rPr>
              <a:t>Tượng tự Template của C++, </a:t>
            </a:r>
            <a:r>
              <a:rPr lang="vi-VN" sz="1200" b="1" i="0" kern="1200">
                <a:solidFill>
                  <a:schemeClr val="tx1"/>
                </a:solidFill>
                <a:effectLst/>
                <a:uFillTx/>
                <a:latin typeface="+mn-lt"/>
                <a:ea typeface="+mn-ea"/>
                <a:cs typeface="+mn-cs"/>
              </a:rPr>
              <a:t>Generic </a:t>
            </a:r>
            <a:r>
              <a:rPr lang="vi-VN" sz="1200" b="0" i="0" kern="1200">
                <a:solidFill>
                  <a:schemeClr val="tx1"/>
                </a:solidFill>
                <a:effectLst/>
                <a:uFillTx/>
                <a:latin typeface="+mn-lt"/>
                <a:ea typeface="+mn-ea"/>
                <a:cs typeface="+mn-cs"/>
              </a:rPr>
              <a:t>trong C# cho phép bạn định nghĩa một hàm, một lớp mà không cần chỉ ra đối số kiểu dữ liệu là gì. Tuỳ vào kiểu dữ liệu mà người dùng truyền vào thì nó sẽ hoạt động theo kiểu dữ liệu đó.</a:t>
            </a:r>
            <a:endParaRPr lang="en-US" sz="1200" b="0" i="0" kern="1200">
              <a:solidFill>
                <a:schemeClr val="tx1"/>
              </a:solidFill>
              <a:effectLst/>
              <a:uFillTx/>
              <a:latin typeface="+mn-lt"/>
              <a:ea typeface="+mn-ea"/>
              <a:cs typeface="+mn-cs"/>
            </a:endParaRPr>
          </a:p>
          <a:p>
            <a:r>
              <a:rPr lang="en-US" sz="1200" b="0" i="0" kern="1200">
                <a:solidFill>
                  <a:schemeClr val="tx1"/>
                </a:solidFill>
                <a:effectLst/>
                <a:uFillTx/>
                <a:latin typeface="+mn-lt"/>
                <a:ea typeface="+mn-ea"/>
                <a:cs typeface="+mn-cs"/>
              </a:rPr>
              <a:t>-------</a:t>
            </a:r>
          </a:p>
          <a:p>
            <a:r>
              <a:rPr lang="vi-VN" sz="1200" b="1" i="0" kern="1200">
                <a:solidFill>
                  <a:schemeClr val="tx1"/>
                </a:solidFill>
                <a:effectLst/>
                <a:uFillTx/>
                <a:latin typeface="+mn-lt"/>
                <a:ea typeface="+mn-ea"/>
                <a:cs typeface="+mn-cs"/>
              </a:rPr>
              <a:t>Ví dụ: </a:t>
            </a:r>
            <a:r>
              <a:rPr lang="vi-VN" sz="1200" b="0" i="0" kern="1200">
                <a:solidFill>
                  <a:schemeClr val="tx1"/>
                </a:solidFill>
                <a:effectLst/>
                <a:uFillTx/>
                <a:latin typeface="+mn-lt"/>
                <a:ea typeface="+mn-ea"/>
                <a:cs typeface="+mn-cs"/>
              </a:rPr>
              <a:t>bạn muốn hàm hoán đổi giá trị 2 số nguyên ta sẽ viết như sau:</a:t>
            </a:r>
            <a:endParaRPr lang="en-US" sz="1200" b="0" i="0" kern="1200">
              <a:solidFill>
                <a:schemeClr val="tx1"/>
              </a:solidFill>
              <a:effectLst/>
              <a:uFillTx/>
              <a:latin typeface="+mn-lt"/>
              <a:ea typeface="+mn-ea"/>
              <a:cs typeface="+mn-cs"/>
            </a:endParaRPr>
          </a:p>
          <a:p>
            <a:r>
              <a:rPr lang="vi-VN" sz="1200" b="0" i="0" kern="1200">
                <a:solidFill>
                  <a:schemeClr val="tx1"/>
                </a:solidFill>
                <a:effectLst/>
                <a:uFillTx/>
                <a:latin typeface="+mn-lt"/>
                <a:ea typeface="+mn-ea"/>
                <a:cs typeface="+mn-cs"/>
              </a:rPr>
              <a:t>Mọi thứ đều hoạt động tốt cho đến khi bạn hoán đổi 2 số thực. Khi đó bạn phải viết lại 1 hàm </a:t>
            </a:r>
            <a:r>
              <a:rPr lang="vi-VN" sz="1200" b="1" i="0" kern="1200">
                <a:solidFill>
                  <a:schemeClr val="tx1"/>
                </a:solidFill>
                <a:effectLst/>
                <a:uFillTx/>
                <a:latin typeface="+mn-lt"/>
                <a:ea typeface="+mn-ea"/>
                <a:cs typeface="+mn-cs"/>
              </a:rPr>
              <a:t>Swap </a:t>
            </a:r>
            <a:r>
              <a:rPr lang="vi-VN" sz="1200" b="0" i="0" kern="1200">
                <a:solidFill>
                  <a:schemeClr val="tx1"/>
                </a:solidFill>
                <a:effectLst/>
                <a:uFillTx/>
                <a:latin typeface="+mn-lt"/>
                <a:ea typeface="+mn-ea"/>
                <a:cs typeface="+mn-cs"/>
              </a:rPr>
              <a:t>mới với kiểu dữ liệu của tham số truyền vào là kiểu số thực.</a:t>
            </a:r>
          </a:p>
          <a:p>
            <a:r>
              <a:rPr lang="vi-VN" sz="1200" b="0" i="0" kern="1200">
                <a:solidFill>
                  <a:schemeClr val="tx1"/>
                </a:solidFill>
                <a:effectLst/>
                <a:uFillTx/>
                <a:latin typeface="+mn-lt"/>
                <a:ea typeface="+mn-ea"/>
                <a:cs typeface="+mn-cs"/>
              </a:rPr>
              <a:t>Mặc dù thao tác giống nhau nhưng ta phải viết hàm này 2 lần. Chính vì vậy mà Generic ra đời để giúp chúng ta giảm thiểu việc code và tăng tính tái sử dụng.</a:t>
            </a:r>
            <a:endParaRPr lang="en-US" sz="1200" b="0" i="0" kern="1200">
              <a:solidFill>
                <a:schemeClr val="tx1"/>
              </a:solidFill>
              <a:effectLst/>
              <a:uFillTx/>
              <a:latin typeface="+mn-lt"/>
              <a:ea typeface="+mn-ea"/>
              <a:cs typeface="+mn-cs"/>
            </a:endParaRPr>
          </a:p>
          <a:p>
            <a:r>
              <a:rPr lang="en-US" sz="1200" b="0" i="0" kern="1200">
                <a:solidFill>
                  <a:schemeClr val="tx1"/>
                </a:solidFill>
                <a:effectLst/>
                <a:uFillTx/>
                <a:latin typeface="+mn-lt"/>
                <a:ea typeface="+mn-ea"/>
                <a:cs typeface="+mn-cs"/>
              </a:rPr>
              <a:t>-------</a:t>
            </a:r>
          </a:p>
          <a:p>
            <a:r>
              <a:rPr lang="en-US" sz="1200" b="0" i="0" kern="1200">
                <a:solidFill>
                  <a:schemeClr val="tx1"/>
                </a:solidFill>
                <a:effectLst/>
                <a:uFillTx/>
                <a:latin typeface="+mn-lt"/>
                <a:ea typeface="+mn-ea"/>
                <a:cs typeface="+mn-cs"/>
              </a:rPr>
              <a:t>Bạn chỉ cần đặt 1 chữ cái nào đó thay cho kiểu dữ liệu và khi gọi hàm bạn chỉ ra kiểu dữ liệu bạn đang thao tác là gì.</a:t>
            </a:r>
          </a:p>
          <a:p>
            <a:r>
              <a:rPr lang="vi-VN" sz="1200" b="0" i="0" kern="1200">
                <a:solidFill>
                  <a:schemeClr val="tx1"/>
                </a:solidFill>
                <a:effectLst/>
                <a:uFillTx/>
                <a:latin typeface="+mn-lt"/>
                <a:ea typeface="+mn-ea"/>
                <a:cs typeface="+mn-cs"/>
              </a:rPr>
              <a:t>Khi bạn gọi cú pháp bên dưới thì hàm Swap sẽ chạy và thay ký tự </a:t>
            </a:r>
            <a:r>
              <a:rPr lang="vi-VN" sz="1200" b="1" i="0" kern="1200">
                <a:solidFill>
                  <a:schemeClr val="tx1"/>
                </a:solidFill>
                <a:effectLst/>
                <a:uFillTx/>
                <a:latin typeface="+mn-lt"/>
                <a:ea typeface="+mn-ea"/>
                <a:cs typeface="+mn-cs"/>
              </a:rPr>
              <a:t>T</a:t>
            </a:r>
            <a:r>
              <a:rPr lang="vi-VN" sz="1200" b="0" i="0" kern="1200">
                <a:solidFill>
                  <a:schemeClr val="tx1"/>
                </a:solidFill>
                <a:effectLst/>
                <a:uFillTx/>
                <a:latin typeface="+mn-lt"/>
                <a:ea typeface="+mn-ea"/>
                <a:cs typeface="+mn-cs"/>
              </a:rPr>
              <a:t> thành kiểu dữ liệu int tương ứng.</a:t>
            </a:r>
          </a:p>
          <a:p>
            <a:br>
              <a:rPr lang="vi-VN" sz="1200" b="0" i="0" kern="1200">
                <a:solidFill>
                  <a:schemeClr val="tx1"/>
                </a:solidFill>
                <a:effectLst/>
                <a:uFillTx/>
                <a:latin typeface="+mn-lt"/>
                <a:ea typeface="+mn-ea"/>
                <a:cs typeface="+mn-cs"/>
              </a:rPr>
            </a:br>
            <a:endParaRPr lang="en-US" sz="1200" b="0" i="0" kern="1200">
              <a:solidFill>
                <a:schemeClr val="tx1"/>
              </a:solidFill>
              <a:effectLst/>
              <a:uFillTx/>
              <a:latin typeface="+mn-lt"/>
              <a:ea typeface="+mn-ea"/>
              <a:cs typeface="+mn-cs"/>
            </a:endParaRPr>
          </a:p>
          <a:p>
            <a:endParaRPr lang="vi-VN" sz="1200" b="0" i="0" kern="1200">
              <a:solidFill>
                <a:schemeClr val="tx1"/>
              </a:solidFill>
              <a:effectLst/>
              <a:uFillTx/>
              <a:latin typeface="+mn-lt"/>
              <a:ea typeface="+mn-ea"/>
              <a:cs typeface="+mn-cs"/>
            </a:endParaRPr>
          </a:p>
          <a:p>
            <a:endParaRPr lang="vi-VN" sz="1200" b="0" i="0" kern="1200">
              <a:solidFill>
                <a:schemeClr val="tx1"/>
              </a:solidFill>
              <a:effectLst/>
              <a:uFillTx/>
              <a:latin typeface="+mn-lt"/>
              <a:ea typeface="+mn-ea"/>
              <a:cs typeface="+mn-cs"/>
            </a:endParaRPr>
          </a:p>
          <a:p>
            <a:endParaRPr lang="en-US"/>
          </a:p>
        </p:txBody>
      </p:sp>
      <p:sp>
        <p:nvSpPr>
          <p:cNvPr id="4" name="Slide Number Placeholder 3"/>
          <p:cNvSpPr>
            <a:spLocks noGrp="1"/>
          </p:cNvSpPr>
          <p:nvPr>
            <p:ph type="sldNum" sz="quarter" idx="5"/>
          </p:nvPr>
        </p:nvSpPr>
        <p:spPr/>
        <p:txBody>
          <a:bodyPr/>
          <a:lstStyle/>
          <a:p>
            <a:fld id="{EEA7600A-770C-47F1-89C1-5023B6D362E3}" type="slidenum">
              <a:rPr lang="vi-VN" smtClean="0">
                <a:uFillTx/>
              </a:rPr>
              <a:t>16</a:t>
            </a:fld>
            <a:endParaRPr lang="vi-VN">
              <a:uFillTx/>
            </a:endParaRPr>
          </a:p>
        </p:txBody>
      </p:sp>
    </p:spTree>
    <p:extLst>
      <p:ext uri="{BB962C8B-B14F-4D97-AF65-F5344CB8AC3E}">
        <p14:creationId xmlns:p14="http://schemas.microsoft.com/office/powerpoint/2010/main" val="147678031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a:t>Swap&lt;T&gt; có thể dùng với bất kỳ kiểu dữ liệu nào (int, string, double…).</a:t>
            </a:r>
          </a:p>
          <a:p>
            <a:r>
              <a:rPr lang="vi-VN"/>
              <a:t>Khi gọi Swap(ref x, ref y), chương trình tự động thay T bằng int.</a:t>
            </a:r>
          </a:p>
          <a:p>
            <a:r>
              <a:rPr lang="vi-VN"/>
              <a:t>Khi gọi Swap(ref s1, ref s2), T sẽ là string.</a:t>
            </a:r>
          </a:p>
          <a:p>
            <a:endParaRPr lang="en-US"/>
          </a:p>
          <a:p>
            <a:r>
              <a:rPr lang="en-US"/>
              <a:t>https://howkteam.vn/course/khoa-hoc-lap-trinh-c-nang-cao/generic-trong-c-1565</a:t>
            </a:r>
          </a:p>
          <a:p>
            <a:endParaRPr lang="en-US"/>
          </a:p>
        </p:txBody>
      </p:sp>
      <p:sp>
        <p:nvSpPr>
          <p:cNvPr id="4" name="Slide Number Placeholder 3"/>
          <p:cNvSpPr>
            <a:spLocks noGrp="1"/>
          </p:cNvSpPr>
          <p:nvPr>
            <p:ph type="sldNum" sz="quarter" idx="5"/>
          </p:nvPr>
        </p:nvSpPr>
        <p:spPr/>
        <p:txBody>
          <a:bodyPr/>
          <a:lstStyle/>
          <a:p>
            <a:fld id="{EEA7600A-770C-47F1-89C1-5023B6D362E3}" type="slidenum">
              <a:rPr lang="vi-VN" smtClean="0">
                <a:uFillTx/>
              </a:rPr>
              <a:t>17</a:t>
            </a:fld>
            <a:endParaRPr lang="vi-VN">
              <a:uFillTx/>
            </a:endParaRPr>
          </a:p>
        </p:txBody>
      </p:sp>
    </p:spTree>
    <p:extLst>
      <p:ext uri="{BB962C8B-B14F-4D97-AF65-F5344CB8AC3E}">
        <p14:creationId xmlns:p14="http://schemas.microsoft.com/office/powerpoint/2010/main" val="403683755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b="1"/>
              <a:t>Ứng dụng thực tế:</a:t>
            </a:r>
          </a:p>
          <a:p>
            <a:r>
              <a:rPr lang="vi-VN" b="1"/>
              <a:t>List&lt;T&gt;</a:t>
            </a:r>
            <a:r>
              <a:rPr lang="vi-VN"/>
              <a:t> có thể dùng để lưu trữ danh sách sản phẩm trong kho.</a:t>
            </a:r>
          </a:p>
          <a:p>
            <a:r>
              <a:rPr lang="vi-VN" b="1"/>
              <a:t>Dictionary&lt;TKey, TValue&gt;</a:t>
            </a:r>
            <a:r>
              <a:rPr lang="vi-VN"/>
              <a:t> rất hữu ích cho việc lưu trữ các cặp giá trị như </a:t>
            </a:r>
            <a:r>
              <a:rPr lang="vi-VN" b="1"/>
              <a:t>ID và tên người dùng</a:t>
            </a:r>
            <a:r>
              <a:rPr lang="vi-VN"/>
              <a:t>.</a:t>
            </a:r>
          </a:p>
          <a:p>
            <a:r>
              <a:rPr lang="vi-VN" b="1"/>
              <a:t>SortedDictionary&lt;TKey, TValue&gt;</a:t>
            </a:r>
            <a:r>
              <a:rPr lang="vi-VN"/>
              <a:t> có thể được sử dụng khi bạn cần dữ liệu </a:t>
            </a:r>
            <a:r>
              <a:rPr lang="vi-VN" b="1"/>
              <a:t>được sắp xếp tự động</a:t>
            </a:r>
            <a:r>
              <a:rPr lang="vi-VN"/>
              <a:t>.</a:t>
            </a:r>
          </a:p>
          <a:p>
            <a:r>
              <a:rPr lang="vi-VN" b="1"/>
              <a:t>Queue&lt;T&gt;</a:t>
            </a:r>
            <a:r>
              <a:rPr lang="vi-VN"/>
              <a:t> thường được dùng trong các hệ thống xử lý công việc như </a:t>
            </a:r>
            <a:r>
              <a:rPr lang="vi-VN" b="1"/>
              <a:t>hàng đợi in ấn</a:t>
            </a:r>
            <a:r>
              <a:rPr lang="vi-VN"/>
              <a:t>.</a:t>
            </a:r>
          </a:p>
          <a:p>
            <a:r>
              <a:rPr lang="vi-VN" b="1"/>
              <a:t>Stack&lt;T&gt;</a:t>
            </a:r>
            <a:r>
              <a:rPr lang="vi-VN"/>
              <a:t> rất hữu ích cho các thao tác như </a:t>
            </a:r>
            <a:r>
              <a:rPr lang="vi-VN" b="1"/>
              <a:t>hoàn tác (undo)</a:t>
            </a:r>
            <a:r>
              <a:rPr lang="vi-VN"/>
              <a:t> trong phần mềm.</a:t>
            </a:r>
          </a:p>
          <a:p>
            <a:endParaRPr lang="en-US"/>
          </a:p>
        </p:txBody>
      </p:sp>
      <p:sp>
        <p:nvSpPr>
          <p:cNvPr id="4" name="Slide Number Placeholder 3"/>
          <p:cNvSpPr>
            <a:spLocks noGrp="1"/>
          </p:cNvSpPr>
          <p:nvPr>
            <p:ph type="sldNum" sz="quarter" idx="5"/>
          </p:nvPr>
        </p:nvSpPr>
        <p:spPr/>
        <p:txBody>
          <a:bodyPr/>
          <a:lstStyle/>
          <a:p>
            <a:fld id="{EEA7600A-770C-47F1-89C1-5023B6D362E3}" type="slidenum">
              <a:rPr lang="vi-VN" smtClean="0">
                <a:uFillTx/>
              </a:rPr>
              <a:t>18</a:t>
            </a:fld>
            <a:endParaRPr lang="vi-VN">
              <a:uFillTx/>
            </a:endParaRPr>
          </a:p>
        </p:txBody>
      </p:sp>
    </p:spTree>
    <p:extLst>
      <p:ext uri="{BB962C8B-B14F-4D97-AF65-F5344CB8AC3E}">
        <p14:creationId xmlns:p14="http://schemas.microsoft.com/office/powerpoint/2010/main" val="136031363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b="1"/>
              <a:t>Giải thích:</a:t>
            </a:r>
          </a:p>
          <a:p>
            <a:r>
              <a:rPr lang="vi-VN" b="1"/>
              <a:t>List&lt;int&gt;</a:t>
            </a:r>
            <a:r>
              <a:rPr lang="vi-VN"/>
              <a:t> chứa các số nguyên và sử dụng các phương thức như </a:t>
            </a:r>
            <a:r>
              <a:rPr lang="vi-VN" b="1"/>
              <a:t>Add</a:t>
            </a:r>
            <a:r>
              <a:rPr lang="vi-VN"/>
              <a:t>, </a:t>
            </a:r>
            <a:r>
              <a:rPr lang="vi-VN" b="1"/>
              <a:t>Remove</a:t>
            </a:r>
            <a:r>
              <a:rPr lang="vi-VN"/>
              <a:t>, và </a:t>
            </a:r>
            <a:r>
              <a:rPr lang="vi-VN" b="1"/>
              <a:t>Sort</a:t>
            </a:r>
            <a:r>
              <a:rPr lang="vi-VN"/>
              <a:t>.</a:t>
            </a:r>
          </a:p>
          <a:p>
            <a:r>
              <a:rPr lang="vi-VN" b="1"/>
              <a:t>List&lt;string&gt;</a:t>
            </a:r>
            <a:r>
              <a:rPr lang="vi-VN"/>
              <a:t> chứa các chuỗi và bạn có thể thêm các chuỗi mới vào danh sách.</a:t>
            </a:r>
          </a:p>
          <a:p>
            <a:r>
              <a:rPr lang="vi-VN" b="1"/>
              <a:t>List&lt;double&gt;</a:t>
            </a:r>
            <a:r>
              <a:rPr lang="vi-VN"/>
              <a:t> chứa các số thực và bạn cũng có thể thêm phần tử vào danh sách đó.</a:t>
            </a:r>
          </a:p>
          <a:p>
            <a:r>
              <a:rPr lang="en-US"/>
              <a:t>Kết quả:</a:t>
            </a:r>
          </a:p>
          <a:p>
            <a:r>
              <a:rPr lang="en-US"/>
              <a:t>List&lt;int&gt;:</a:t>
            </a:r>
          </a:p>
          <a:p>
            <a:r>
              <a:rPr lang="en-US"/>
              <a:t>1 3 4 5 6 </a:t>
            </a:r>
          </a:p>
          <a:p>
            <a:endParaRPr lang="en-US"/>
          </a:p>
          <a:p>
            <a:r>
              <a:rPr lang="en-US"/>
              <a:t>List&lt;string&gt;:</a:t>
            </a:r>
          </a:p>
          <a:p>
            <a:r>
              <a:rPr lang="en-US"/>
              <a:t>Hello World C# Generics Programming </a:t>
            </a:r>
          </a:p>
          <a:p>
            <a:endParaRPr lang="en-US"/>
          </a:p>
          <a:p>
            <a:r>
              <a:rPr lang="en-US"/>
              <a:t>List&lt;double&gt;:</a:t>
            </a:r>
          </a:p>
          <a:p>
            <a:r>
              <a:rPr lang="en-US"/>
              <a:t>3.14 2.718 1.618 1.414</a:t>
            </a:r>
          </a:p>
          <a:p>
            <a:r>
              <a:rPr lang="en-US"/>
              <a:t>============</a:t>
            </a:r>
          </a:p>
          <a:p>
            <a:r>
              <a:rPr lang="vi-VN"/>
              <a:t>Trong ví dụ </a:t>
            </a:r>
            <a:r>
              <a:rPr lang="en-US"/>
              <a:t>trên</a:t>
            </a:r>
            <a:r>
              <a:rPr lang="vi-VN"/>
              <a:t>, </a:t>
            </a:r>
            <a:r>
              <a:rPr lang="vi-VN" b="1"/>
              <a:t>List&lt;int&gt;</a:t>
            </a:r>
            <a:r>
              <a:rPr lang="vi-VN"/>
              <a:t> sử dụng </a:t>
            </a:r>
            <a:r>
              <a:rPr lang="vi-VN" b="1"/>
              <a:t>kiểu dữ liệu int</a:t>
            </a:r>
            <a:r>
              <a:rPr lang="vi-VN"/>
              <a:t> để lưu trữ các số nguyên. Tuy nhiên, nếu muốn </a:t>
            </a:r>
            <a:r>
              <a:rPr lang="vi-VN" b="1"/>
              <a:t>List</a:t>
            </a:r>
            <a:r>
              <a:rPr lang="vi-VN"/>
              <a:t> có thể chứa các loại dữ liệu khác nhau như </a:t>
            </a:r>
            <a:r>
              <a:rPr lang="vi-VN" b="1"/>
              <a:t>int</a:t>
            </a:r>
            <a:r>
              <a:rPr lang="vi-VN"/>
              <a:t>, </a:t>
            </a:r>
            <a:r>
              <a:rPr lang="vi-VN" b="1"/>
              <a:t>string</a:t>
            </a:r>
            <a:r>
              <a:rPr lang="vi-VN"/>
              <a:t>, </a:t>
            </a:r>
            <a:r>
              <a:rPr lang="vi-VN" b="1"/>
              <a:t>double</a:t>
            </a:r>
            <a:r>
              <a:rPr lang="vi-VN"/>
              <a:t> trong cùng một danh sách, bạn có thể sử dụng kiểu </a:t>
            </a:r>
            <a:r>
              <a:rPr lang="vi-VN" b="1"/>
              <a:t>List&lt;object&gt;</a:t>
            </a:r>
            <a:r>
              <a:rPr lang="vi-VN"/>
              <a:t> vì </a:t>
            </a:r>
            <a:r>
              <a:rPr lang="vi-VN" b="1"/>
              <a:t>object</a:t>
            </a:r>
            <a:r>
              <a:rPr lang="vi-VN"/>
              <a:t> là kiểu cơ sở cho tất cả các kiểu dữ liệu trong C#.</a:t>
            </a:r>
            <a:endParaRPr lang="en-US"/>
          </a:p>
          <a:p>
            <a:r>
              <a:rPr lang="en-US"/>
              <a:t>List&lt;object&gt; items = new List&lt;object&gt; { 1, "Hello", 3.14, true }; </a:t>
            </a:r>
          </a:p>
          <a:p>
            <a:r>
              <a:rPr lang="vi-VN" b="1"/>
              <a:t>Generic với object</a:t>
            </a:r>
            <a:r>
              <a:rPr lang="vi-VN"/>
              <a:t> giúp tạo một danh sách có thể chứa nhiều kiểu dữ liệu khác nhau, khi không biết trước kiểu dữ liệu sẽ được lưu trữ trong danh sách.Tuy nhiên, khi sử dụng List&lt;object&gt;, bạn cần phải </a:t>
            </a:r>
            <a:r>
              <a:rPr lang="vi-VN" b="1"/>
              <a:t>ép kiểu (casting)</a:t>
            </a:r>
            <a:r>
              <a:rPr lang="vi-VN"/>
              <a:t> để truy cập các thuộc tính hoặc phương thức riêng của kiểu dữ liệu gốc, vì object không hỗ trợ các phương thức đặc trưng của kiểu con.</a:t>
            </a:r>
            <a:endParaRPr lang="en-US"/>
          </a:p>
          <a:p>
            <a:endParaRPr lang="en-US"/>
          </a:p>
          <a:p>
            <a:endParaRPr lang="en-US"/>
          </a:p>
          <a:p>
            <a:endParaRPr lang="en-US"/>
          </a:p>
        </p:txBody>
      </p:sp>
      <p:sp>
        <p:nvSpPr>
          <p:cNvPr id="4" name="Slide Number Placeholder 3"/>
          <p:cNvSpPr>
            <a:spLocks noGrp="1"/>
          </p:cNvSpPr>
          <p:nvPr>
            <p:ph type="sldNum" sz="quarter" idx="5"/>
          </p:nvPr>
        </p:nvSpPr>
        <p:spPr/>
        <p:txBody>
          <a:bodyPr/>
          <a:lstStyle/>
          <a:p>
            <a:fld id="{EEA7600A-770C-47F1-89C1-5023B6D362E3}" type="slidenum">
              <a:rPr lang="vi-VN" smtClean="0">
                <a:uFillTx/>
              </a:rPr>
              <a:t>19</a:t>
            </a:fld>
            <a:endParaRPr lang="vi-VN">
              <a:uFillTx/>
            </a:endParaRPr>
          </a:p>
        </p:txBody>
      </p:sp>
    </p:spTree>
    <p:extLst>
      <p:ext uri="{BB962C8B-B14F-4D97-AF65-F5344CB8AC3E}">
        <p14:creationId xmlns:p14="http://schemas.microsoft.com/office/powerpoint/2010/main" val="426476602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List&lt;int&gt; numbers = new List&lt;int&gt;(); </a:t>
            </a:r>
          </a:p>
          <a:p>
            <a:r>
              <a:rPr lang="en-US"/>
              <a:t>numbers.Add(5); </a:t>
            </a:r>
          </a:p>
          <a:p>
            <a:r>
              <a:rPr lang="en-US"/>
              <a:t>// numbers.Add("Hello"); // Lỗi biên dịch, không thể thêm chuỗi vào List&lt;int&gt;</a:t>
            </a:r>
          </a:p>
          <a:p>
            <a:r>
              <a:rPr lang="en-US"/>
              <a:t>========</a:t>
            </a:r>
          </a:p>
          <a:p>
            <a:r>
              <a:rPr lang="vi-VN" b="1"/>
              <a:t>Generic</a:t>
            </a:r>
            <a:r>
              <a:rPr lang="vi-VN"/>
              <a:t> giúp bạn tạo ra các phương thức, lớp và cấu trúc dữ liệu có thể hoạt động với nhiều kiểu dữ liệu mà không cần viết lại mã cho mỗi kiểu.Thay vì viết một lớp cho </a:t>
            </a:r>
            <a:r>
              <a:rPr lang="vi-VN" b="1"/>
              <a:t>List&lt;int&gt;</a:t>
            </a:r>
            <a:r>
              <a:rPr lang="vi-VN"/>
              <a:t>, một lớp cho </a:t>
            </a:r>
            <a:r>
              <a:rPr lang="vi-VN" b="1"/>
              <a:t>List&lt;string&gt;</a:t>
            </a:r>
            <a:r>
              <a:rPr lang="vi-VN"/>
              <a:t>, bạn có thể viết một lớp </a:t>
            </a:r>
            <a:r>
              <a:rPr lang="vi-VN" b="1"/>
              <a:t>List&lt;T&gt;</a:t>
            </a:r>
            <a:r>
              <a:rPr lang="vi-VN"/>
              <a:t> duy nhất, làm việc với bất kỳ kiểu dữ liệu nào.</a:t>
            </a:r>
            <a:endParaRPr lang="en-US"/>
          </a:p>
          <a:p>
            <a:r>
              <a:rPr lang="en-US"/>
              <a:t>public class Box&lt;T&gt;</a:t>
            </a:r>
          </a:p>
          <a:p>
            <a:r>
              <a:rPr lang="en-US"/>
              <a:t>{</a:t>
            </a:r>
          </a:p>
          <a:p>
            <a:r>
              <a:rPr lang="en-US"/>
              <a:t>    public T Item { get; set; }</a:t>
            </a:r>
          </a:p>
          <a:p>
            <a:endParaRPr lang="en-US"/>
          </a:p>
          <a:p>
            <a:r>
              <a:rPr lang="en-US"/>
              <a:t>    public Box(T item)</a:t>
            </a:r>
          </a:p>
          <a:p>
            <a:r>
              <a:rPr lang="en-US"/>
              <a:t>    {</a:t>
            </a:r>
          </a:p>
          <a:p>
            <a:r>
              <a:rPr lang="en-US"/>
              <a:t>        Item = item;</a:t>
            </a:r>
          </a:p>
          <a:p>
            <a:r>
              <a:rPr lang="en-US"/>
              <a:t>    }</a:t>
            </a:r>
          </a:p>
          <a:p>
            <a:r>
              <a:rPr lang="en-US"/>
              <a:t>}</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t>Box có thể chứa bất kỳ kiểu dữ liệu nào: Box&lt;int&gt;, Box&lt;string&gt;, Box&lt;double&gt;, v.v.</a:t>
            </a:r>
          </a:p>
          <a:p>
            <a:r>
              <a:rPr lang="en-US"/>
              <a:t>=========</a:t>
            </a:r>
          </a:p>
          <a:p>
            <a:endParaRPr lang="en-US"/>
          </a:p>
        </p:txBody>
      </p:sp>
      <p:sp>
        <p:nvSpPr>
          <p:cNvPr id="4" name="Slide Number Placeholder 3"/>
          <p:cNvSpPr>
            <a:spLocks noGrp="1"/>
          </p:cNvSpPr>
          <p:nvPr>
            <p:ph type="sldNum" sz="quarter" idx="5"/>
          </p:nvPr>
        </p:nvSpPr>
        <p:spPr/>
        <p:txBody>
          <a:bodyPr/>
          <a:lstStyle/>
          <a:p>
            <a:fld id="{EEA7600A-770C-47F1-89C1-5023B6D362E3}" type="slidenum">
              <a:rPr lang="vi-VN" smtClean="0">
                <a:uFillTx/>
              </a:rPr>
              <a:t>20</a:t>
            </a:fld>
            <a:endParaRPr lang="vi-VN">
              <a:uFillTx/>
            </a:endParaRPr>
          </a:p>
        </p:txBody>
      </p:sp>
    </p:spTree>
    <p:extLst>
      <p:ext uri="{BB962C8B-B14F-4D97-AF65-F5344CB8AC3E}">
        <p14:creationId xmlns:p14="http://schemas.microsoft.com/office/powerpoint/2010/main" val="182977004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https://xuanthulab.net/tim-hieu-va-su-dung-ngoai-le-exception-cau-lenh-try-catch-trong-c-c-sharp.html</a:t>
            </a:r>
          </a:p>
          <a:p>
            <a:r>
              <a:rPr lang="en-US" dirty="0"/>
              <a:t>=&gt; hay</a:t>
            </a:r>
          </a:p>
        </p:txBody>
      </p:sp>
      <p:sp>
        <p:nvSpPr>
          <p:cNvPr id="4" name="Slide Number Placeholder 3"/>
          <p:cNvSpPr>
            <a:spLocks noGrp="1"/>
          </p:cNvSpPr>
          <p:nvPr>
            <p:ph type="sldNum" sz="quarter" idx="5"/>
          </p:nvPr>
        </p:nvSpPr>
        <p:spPr/>
        <p:txBody>
          <a:bodyPr/>
          <a:lstStyle/>
          <a:p>
            <a:fld id="{EEA7600A-770C-47F1-89C1-5023B6D362E3}" type="slidenum">
              <a:rPr lang="vi-VN" smtClean="0"/>
              <a:t>21</a:t>
            </a:fld>
            <a:endParaRPr lang="vi-VN"/>
          </a:p>
        </p:txBody>
      </p:sp>
    </p:spTree>
    <p:extLst>
      <p:ext uri="{BB962C8B-B14F-4D97-AF65-F5344CB8AC3E}">
        <p14:creationId xmlns:p14="http://schemas.microsoft.com/office/powerpoint/2010/main" val="400453688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Trong</a:t>
            </a:r>
            <a:r>
              <a:rPr lang="en-US" dirty="0"/>
              <a:t> </a:t>
            </a:r>
            <a:r>
              <a:rPr lang="en-US" dirty="0" err="1"/>
              <a:t>lập</a:t>
            </a:r>
            <a:r>
              <a:rPr lang="en-US" dirty="0"/>
              <a:t> </a:t>
            </a:r>
            <a:r>
              <a:rPr lang="en-US" dirty="0" err="1"/>
              <a:t>trình</a:t>
            </a:r>
            <a:r>
              <a:rPr lang="en-US" dirty="0"/>
              <a:t> </a:t>
            </a:r>
            <a:r>
              <a:rPr lang="en-US" dirty="0" err="1"/>
              <a:t>có</a:t>
            </a:r>
            <a:r>
              <a:rPr lang="en-US" dirty="0"/>
              <a:t> </a:t>
            </a:r>
            <a:r>
              <a:rPr lang="en-US" dirty="0" err="1"/>
              <a:t>thể</a:t>
            </a:r>
            <a:r>
              <a:rPr lang="en-US" dirty="0"/>
              <a:t> </a:t>
            </a:r>
            <a:r>
              <a:rPr lang="en-US" dirty="0" err="1"/>
              <a:t>gặp</a:t>
            </a:r>
            <a:r>
              <a:rPr lang="en-US" dirty="0"/>
              <a:t> </a:t>
            </a:r>
            <a:r>
              <a:rPr lang="en-US" dirty="0" err="1"/>
              <a:t>các</a:t>
            </a:r>
            <a:r>
              <a:rPr lang="en-US" dirty="0"/>
              <a:t> </a:t>
            </a:r>
            <a:r>
              <a:rPr lang="en-US" dirty="0" err="1"/>
              <a:t>lỗi</a:t>
            </a:r>
            <a:r>
              <a:rPr lang="en-US" dirty="0"/>
              <a:t> </a:t>
            </a:r>
            <a:r>
              <a:rPr lang="en-US" dirty="0" err="1"/>
              <a:t>sau</a:t>
            </a:r>
            <a:r>
              <a:rPr lang="en-US" dirty="0"/>
              <a:t>:</a:t>
            </a:r>
          </a:p>
          <a:p>
            <a:pPr lvl="1"/>
            <a:r>
              <a:rPr lang="en-US" dirty="0" err="1"/>
              <a:t>Lỗi</a:t>
            </a:r>
            <a:r>
              <a:rPr lang="en-US" dirty="0"/>
              <a:t> </a:t>
            </a:r>
            <a:r>
              <a:rPr lang="en-US" dirty="0" err="1"/>
              <a:t>cú</a:t>
            </a:r>
            <a:r>
              <a:rPr lang="en-US" dirty="0"/>
              <a:t> </a:t>
            </a:r>
            <a:r>
              <a:rPr lang="en-US" dirty="0" err="1"/>
              <a:t>pháp</a:t>
            </a:r>
            <a:endParaRPr lang="en-US" dirty="0"/>
          </a:p>
          <a:p>
            <a:pPr lvl="1"/>
            <a:r>
              <a:rPr lang="en-US" dirty="0" err="1"/>
              <a:t>Lỗi</a:t>
            </a:r>
            <a:r>
              <a:rPr lang="en-US" dirty="0"/>
              <a:t> logic thuật </a:t>
            </a:r>
            <a:r>
              <a:rPr lang="en-US" dirty="0" err="1"/>
              <a:t>toán</a:t>
            </a:r>
            <a:endParaRPr lang="en-US" dirty="0"/>
          </a:p>
          <a:p>
            <a:pPr lvl="1"/>
            <a:r>
              <a:rPr lang="en-US" dirty="0" err="1"/>
              <a:t>Lỗi</a:t>
            </a:r>
            <a:r>
              <a:rPr lang="en-US" dirty="0"/>
              <a:t> </a:t>
            </a:r>
            <a:r>
              <a:rPr lang="en-US" dirty="0" err="1"/>
              <a:t>thực</a:t>
            </a:r>
            <a:r>
              <a:rPr lang="en-US" dirty="0"/>
              <a:t> </a:t>
            </a:r>
            <a:r>
              <a:rPr lang="en-US" dirty="0" err="1"/>
              <a:t>thi</a:t>
            </a:r>
            <a:endParaRPr lang="en-US" dirty="0"/>
          </a:p>
          <a:p>
            <a:endParaRPr lang="en-US" dirty="0"/>
          </a:p>
          <a:p>
            <a:r>
              <a:rPr lang="vi-VN" b="0" i="0" dirty="0">
                <a:solidFill>
                  <a:srgbClr val="212529"/>
                </a:solidFill>
                <a:effectLst/>
                <a:latin typeface="-apple-system"/>
              </a:rPr>
              <a:t>Trong C# khi có một lỗi phát sinh </a:t>
            </a:r>
            <a:r>
              <a:rPr lang="vi-VN" dirty="0"/>
              <a:t>hầu hết các lỗi đều có thể quản lý bởi thư viện C#</a:t>
            </a:r>
            <a:r>
              <a:rPr lang="vi-VN" b="0" i="0" dirty="0">
                <a:solidFill>
                  <a:srgbClr val="212529"/>
                </a:solidFill>
                <a:effectLst/>
                <a:latin typeface="-apple-system"/>
              </a:rPr>
              <a:t> thì nó sẽ phát sinh ra một đối tượng lớp </a:t>
            </a:r>
            <a:r>
              <a:rPr lang="vi-VN" dirty="0"/>
              <a:t>Exeption</a:t>
            </a:r>
            <a:r>
              <a:rPr lang="vi-VN" b="0" i="0" dirty="0">
                <a:solidFill>
                  <a:srgbClr val="212529"/>
                </a:solidFill>
                <a:effectLst/>
                <a:latin typeface="-apple-system"/>
              </a:rPr>
              <a:t> (System.System) hoặc đối tượng lớp nào đó kế thừa từ </a:t>
            </a:r>
            <a:r>
              <a:rPr lang="vi-VN" dirty="0"/>
              <a:t>Exception</a:t>
            </a:r>
            <a:endParaRPr lang="en-US" dirty="0"/>
          </a:p>
          <a:p>
            <a:r>
              <a:rPr lang="vi-VN" b="0" i="0" dirty="0">
                <a:solidFill>
                  <a:srgbClr val="212529"/>
                </a:solidFill>
                <a:effectLst/>
                <a:latin typeface="-apple-system"/>
              </a:rPr>
              <a:t>Khi một đối tượng lớp </a:t>
            </a:r>
            <a:r>
              <a:rPr lang="vi-VN" dirty="0"/>
              <a:t>Exception</a:t>
            </a:r>
            <a:r>
              <a:rPr lang="vi-VN" b="0" i="0" dirty="0">
                <a:solidFill>
                  <a:srgbClr val="212529"/>
                </a:solidFill>
                <a:effectLst/>
                <a:latin typeface="-apple-system"/>
              </a:rPr>
              <a:t> sinh ra - mà chương trình không chủ động xử lý đối tượng này thì chương trình sẽ kết thúc. Đối tượng lớp </a:t>
            </a:r>
            <a:r>
              <a:rPr lang="vi-VN" dirty="0"/>
              <a:t>Exception</a:t>
            </a:r>
            <a:r>
              <a:rPr lang="vi-VN" b="0" i="0" dirty="0">
                <a:solidFill>
                  <a:srgbClr val="212529"/>
                </a:solidFill>
                <a:effectLst/>
                <a:latin typeface="-apple-system"/>
              </a:rPr>
              <a:t> chứa trong nó các thông tin về lỗi (dòng thông báo, nguyên nhân lỗi, nơi phát sinh lỗi ...)</a:t>
            </a:r>
            <a:endParaRPr lang="en-US" dirty="0"/>
          </a:p>
        </p:txBody>
      </p:sp>
      <p:sp>
        <p:nvSpPr>
          <p:cNvPr id="4" name="Slide Number Placeholder 3"/>
          <p:cNvSpPr>
            <a:spLocks noGrp="1"/>
          </p:cNvSpPr>
          <p:nvPr>
            <p:ph type="sldNum" sz="quarter" idx="5"/>
          </p:nvPr>
        </p:nvSpPr>
        <p:spPr/>
        <p:txBody>
          <a:bodyPr/>
          <a:lstStyle/>
          <a:p>
            <a:fld id="{EEA7600A-770C-47F1-89C1-5023B6D362E3}" type="slidenum">
              <a:rPr lang="vi-VN" smtClean="0"/>
              <a:t>22</a:t>
            </a:fld>
            <a:endParaRPr lang="vi-VN"/>
          </a:p>
        </p:txBody>
      </p:sp>
    </p:spTree>
    <p:extLst>
      <p:ext uri="{BB962C8B-B14F-4D97-AF65-F5344CB8AC3E}">
        <p14:creationId xmlns:p14="http://schemas.microsoft.com/office/powerpoint/2010/main" val="397880272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vi-VN" b="0" i="0" dirty="0">
                <a:solidFill>
                  <a:srgbClr val="212529"/>
                </a:solidFill>
                <a:effectLst/>
                <a:latin typeface="-apple-system"/>
              </a:rPr>
              <a:t>Trong C# khi có một lỗi phát sinh hầu hết các lỗi đều có thể quản lý bởi thư viện C# thì nó sẽ phát sinh ra một đối tượng lớp</a:t>
            </a:r>
            <a:r>
              <a:rPr lang="vi-VN" b="0" i="0">
                <a:solidFill>
                  <a:srgbClr val="212529"/>
                </a:solidFill>
                <a:effectLst/>
                <a:latin typeface="-apple-system"/>
              </a:rPr>
              <a:t> Ex</a:t>
            </a:r>
            <a:r>
              <a:rPr lang="en-US" b="0" i="0">
                <a:solidFill>
                  <a:srgbClr val="212529"/>
                </a:solidFill>
                <a:effectLst/>
                <a:latin typeface="-apple-system"/>
              </a:rPr>
              <a:t>c</a:t>
            </a:r>
            <a:r>
              <a:rPr lang="vi-VN" b="0" i="0">
                <a:solidFill>
                  <a:srgbClr val="212529"/>
                </a:solidFill>
                <a:effectLst/>
                <a:latin typeface="-apple-system"/>
              </a:rPr>
              <a:t>eption</a:t>
            </a:r>
            <a:r>
              <a:rPr lang="vi-VN" b="0" i="0" dirty="0">
                <a:solidFill>
                  <a:srgbClr val="212529"/>
                </a:solidFill>
                <a:effectLst/>
                <a:latin typeface="-apple-system"/>
              </a:rPr>
              <a:t> (System.System) hoặc đối tượng lớp nào đó kế thừa từ Exception</a:t>
            </a:r>
          </a:p>
          <a:p>
            <a:pPr algn="l"/>
            <a:r>
              <a:rPr lang="vi-VN" b="0" i="0" dirty="0">
                <a:solidFill>
                  <a:srgbClr val="212529"/>
                </a:solidFill>
                <a:effectLst/>
                <a:latin typeface="-apple-system"/>
              </a:rPr>
              <a:t>Đối tượng lớp Exception chứa trong nó các thông tin về lỗi (dòng thông báo, nguyên nhân lỗi, nơi phát sinh </a:t>
            </a:r>
            <a:r>
              <a:rPr lang="vi-VN" b="0" i="0">
                <a:solidFill>
                  <a:srgbClr val="212529"/>
                </a:solidFill>
                <a:effectLst/>
                <a:latin typeface="-apple-system"/>
              </a:rPr>
              <a:t>lỗi ...)</a:t>
            </a:r>
            <a:endParaRPr lang="en-US" b="0" i="0">
              <a:solidFill>
                <a:srgbClr val="212529"/>
              </a:solidFill>
              <a:effectLst/>
              <a:latin typeface="-apple-system"/>
            </a:endParaRPr>
          </a:p>
          <a:p>
            <a:pPr algn="l"/>
            <a:r>
              <a:rPr lang="en-US" b="0" i="0">
                <a:solidFill>
                  <a:srgbClr val="212529"/>
                </a:solidFill>
                <a:effectLst/>
                <a:latin typeface="-apple-system"/>
              </a:rPr>
              <a:t>========</a:t>
            </a:r>
          </a:p>
          <a:p>
            <a:r>
              <a:rPr lang="vi-VN" b="1"/>
              <a:t>Cơ chế ném ngoại lệ (throw)</a:t>
            </a:r>
          </a:p>
          <a:p>
            <a:r>
              <a:rPr lang="vi-VN"/>
              <a:t>Khi một điều kiện không bình thường hoặc lỗi xảy ra, bạn có thể </a:t>
            </a:r>
            <a:r>
              <a:rPr lang="vi-VN" b="1"/>
              <a:t>ném ngoại lệ</a:t>
            </a:r>
            <a:r>
              <a:rPr lang="vi-VN"/>
              <a:t> để thông báo rằng có một lỗi hoặc tình huống bất thường xảy ra. Sau khi ngoại lệ được ném, điều khiển sẽ được chuyển lên mức trên (nơi có cấu trúc </a:t>
            </a:r>
            <a:r>
              <a:rPr lang="vi-VN" b="1"/>
              <a:t>catch</a:t>
            </a:r>
            <a:r>
              <a:rPr lang="vi-VN"/>
              <a:t>) để xử lý.</a:t>
            </a:r>
            <a:endParaRPr lang="en-US"/>
          </a:p>
          <a:p>
            <a:r>
              <a:rPr lang="en-US"/>
              <a:t>=======</a:t>
            </a:r>
          </a:p>
          <a:p>
            <a:r>
              <a:rPr lang="vi-VN" b="1"/>
              <a:t>Cơ chế bắt ngoại lệ (catch)</a:t>
            </a:r>
          </a:p>
          <a:p>
            <a:r>
              <a:rPr lang="vi-VN"/>
              <a:t>Khi bạn muốn xử lý các lỗi hoặc ngoại lệ có thể xảy ra trong chương trình, bạn sử dụng cấu trúc </a:t>
            </a:r>
            <a:r>
              <a:rPr lang="vi-VN" b="1"/>
              <a:t>try-catch</a:t>
            </a:r>
            <a:r>
              <a:rPr lang="vi-VN"/>
              <a:t>. Cấu trúc này sẽ kiểm tra xem liệu một đoạn mã có gây ra lỗi hay không, và nếu có, </a:t>
            </a:r>
            <a:r>
              <a:rPr lang="vi-VN" b="1"/>
              <a:t>catch</a:t>
            </a:r>
            <a:r>
              <a:rPr lang="vi-VN"/>
              <a:t> sẽ bắt lỗi đó và xử lý nó.</a:t>
            </a:r>
          </a:p>
          <a:p>
            <a:endParaRPr lang="vi-VN"/>
          </a:p>
          <a:p>
            <a:pPr algn="l"/>
            <a:endParaRPr lang="vi-VN" b="0" i="0" dirty="0">
              <a:solidFill>
                <a:srgbClr val="212529"/>
              </a:solidFill>
              <a:effectLst/>
              <a:latin typeface="-apple-system"/>
            </a:endParaRPr>
          </a:p>
          <a:p>
            <a:endParaRPr lang="en-US" dirty="0"/>
          </a:p>
        </p:txBody>
      </p:sp>
      <p:sp>
        <p:nvSpPr>
          <p:cNvPr id="4" name="Slide Number Placeholder 3"/>
          <p:cNvSpPr>
            <a:spLocks noGrp="1"/>
          </p:cNvSpPr>
          <p:nvPr>
            <p:ph type="sldNum" sz="quarter" idx="5"/>
          </p:nvPr>
        </p:nvSpPr>
        <p:spPr/>
        <p:txBody>
          <a:bodyPr/>
          <a:lstStyle/>
          <a:p>
            <a:fld id="{EEA7600A-770C-47F1-89C1-5023B6D362E3}" type="slidenum">
              <a:rPr lang="vi-VN" smtClean="0"/>
              <a:t>23</a:t>
            </a:fld>
            <a:endParaRPr lang="vi-VN"/>
          </a:p>
        </p:txBody>
      </p:sp>
    </p:spTree>
    <p:extLst>
      <p:ext uri="{BB962C8B-B14F-4D97-AF65-F5344CB8AC3E}">
        <p14:creationId xmlns:p14="http://schemas.microsoft.com/office/powerpoint/2010/main" val="159231052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vi-VN" sz="1200" b="0" i="0">
                <a:solidFill>
                  <a:srgbClr val="333333"/>
                </a:solidFill>
                <a:effectLst/>
                <a:latin typeface="Times New Roman" panose="02020603050405020304" pitchFamily="18" charset="0"/>
                <a:cs typeface="Times New Roman" panose="02020603050405020304" pitchFamily="18" charset="0"/>
              </a:rPr>
              <a:t>Các Exception trong C# được biểu diễn bởi các lớp. Các lớp Exception trong C# chủ yếu được kế thừa một cách trực tiếp hoặc không trực tiếp từ lớp </a:t>
            </a:r>
            <a:r>
              <a:rPr lang="vi-VN" sz="1200" b="1" i="0">
                <a:solidFill>
                  <a:srgbClr val="333333"/>
                </a:solidFill>
                <a:effectLst/>
                <a:latin typeface="Times New Roman" panose="02020603050405020304" pitchFamily="18" charset="0"/>
                <a:cs typeface="Times New Roman" panose="02020603050405020304" pitchFamily="18" charset="0"/>
              </a:rPr>
              <a:t>System.Exception</a:t>
            </a:r>
            <a:r>
              <a:rPr lang="vi-VN" sz="1200" b="0" i="0">
                <a:solidFill>
                  <a:srgbClr val="333333"/>
                </a:solidFill>
                <a:effectLst/>
                <a:latin typeface="Times New Roman" panose="02020603050405020304" pitchFamily="18" charset="0"/>
                <a:cs typeface="Times New Roman" panose="02020603050405020304" pitchFamily="18" charset="0"/>
              </a:rPr>
              <a:t> trong C#. </a:t>
            </a:r>
            <a:endParaRPr lang="en-US" sz="1200">
              <a:latin typeface="Times New Roman" panose="02020603050405020304" pitchFamily="18" charset="0"/>
              <a:cs typeface="Times New Roman" panose="02020603050405020304" pitchFamily="18" charset="0"/>
            </a:endParaRPr>
          </a:p>
          <a:p>
            <a:endParaRPr lang="en-US"/>
          </a:p>
        </p:txBody>
      </p:sp>
      <p:sp>
        <p:nvSpPr>
          <p:cNvPr id="4" name="Slide Number Placeholder 3"/>
          <p:cNvSpPr>
            <a:spLocks noGrp="1"/>
          </p:cNvSpPr>
          <p:nvPr>
            <p:ph type="sldNum" sz="quarter" idx="5"/>
          </p:nvPr>
        </p:nvSpPr>
        <p:spPr/>
        <p:txBody>
          <a:bodyPr/>
          <a:lstStyle/>
          <a:p>
            <a:fld id="{EEA7600A-770C-47F1-89C1-5023B6D362E3}" type="slidenum">
              <a:rPr lang="vi-VN" smtClean="0">
                <a:uFillTx/>
              </a:rPr>
              <a:t>24</a:t>
            </a:fld>
            <a:endParaRPr lang="vi-VN">
              <a:uFillTx/>
            </a:endParaRPr>
          </a:p>
        </p:txBody>
      </p:sp>
    </p:spTree>
    <p:extLst>
      <p:ext uri="{BB962C8B-B14F-4D97-AF65-F5344CB8AC3E}">
        <p14:creationId xmlns:p14="http://schemas.microsoft.com/office/powerpoint/2010/main" val="3335583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EEA7600A-770C-47F1-89C1-5023B6D362E3}" type="slidenum">
              <a:rPr lang="vi-VN" smtClean="0">
                <a:uFillTx/>
              </a:rPr>
              <a:t>25</a:t>
            </a:fld>
            <a:endParaRPr lang="vi-VN">
              <a:uFillTx/>
            </a:endParaRPr>
          </a:p>
        </p:txBody>
      </p:sp>
    </p:spTree>
    <p:extLst>
      <p:ext uri="{BB962C8B-B14F-4D97-AF65-F5344CB8AC3E}">
        <p14:creationId xmlns:p14="http://schemas.microsoft.com/office/powerpoint/2010/main" val="206441583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r>
              <a:rPr lang="vi-VN" b="0" i="0" dirty="0">
                <a:solidFill>
                  <a:srgbClr val="212529"/>
                </a:solidFill>
                <a:effectLst/>
                <a:latin typeface="-apple-system"/>
              </a:rPr>
              <a:t>Như vậy đoạn code nào muốn giám sát để bắt ngoại lệ - thì đưa vào khối </a:t>
            </a:r>
            <a:r>
              <a:rPr lang="vi-VN" dirty="0"/>
              <a:t>try</a:t>
            </a:r>
            <a:r>
              <a:rPr lang="vi-VN" b="0" i="0" dirty="0">
                <a:solidFill>
                  <a:srgbClr val="212529"/>
                </a:solidFill>
                <a:effectLst/>
                <a:latin typeface="-apple-system"/>
              </a:rPr>
              <a:t>, nếu ngoại lệ xảy ra do code trong khối đó thì sẽ bắt được - chương trình sẽ không kết thúc mà lập tức chuyển sang khối </a:t>
            </a:r>
            <a:r>
              <a:rPr lang="vi-VN" dirty="0"/>
              <a:t>catch</a:t>
            </a:r>
            <a:r>
              <a:rPr lang="vi-VN" b="0" i="0" dirty="0">
                <a:solidFill>
                  <a:srgbClr val="212529"/>
                </a:solidFill>
                <a:effectLst/>
                <a:latin typeface="-apple-system"/>
              </a:rPr>
              <a:t>, tại đó bạn có ngay đối tượng lớp Exception - bạn cần xử lý theo logic ứng dụng của bạn điều hướng chương trình một cách thích hợp ở </a:t>
            </a:r>
            <a:r>
              <a:rPr lang="vi-VN" b="0" i="0">
                <a:solidFill>
                  <a:srgbClr val="212529"/>
                </a:solidFill>
                <a:effectLst/>
                <a:latin typeface="-apple-system"/>
              </a:rPr>
              <a:t>đây.</a:t>
            </a:r>
            <a:endParaRPr lang="en-US" b="0" i="0">
              <a:solidFill>
                <a:srgbClr val="212529"/>
              </a:solidFill>
              <a:effectLst/>
              <a:latin typeface="-apple-system"/>
            </a:endParaRPr>
          </a:p>
          <a:p>
            <a:r>
              <a:rPr lang="vi-VN" b="1"/>
              <a:t>Giải thích:</a:t>
            </a:r>
          </a:p>
          <a:p>
            <a:r>
              <a:rPr lang="vi-VN" b="1"/>
              <a:t>try</a:t>
            </a:r>
            <a:r>
              <a:rPr lang="vi-VN"/>
              <a:t>: Bạn đặt đoạn mã có thể gây lỗi trong khối </a:t>
            </a:r>
            <a:r>
              <a:rPr lang="vi-VN" b="1"/>
              <a:t>try</a:t>
            </a:r>
            <a:r>
              <a:rPr lang="vi-VN"/>
              <a:t>. Đây là nơi mà ngoại lệ có thể xảy ra.</a:t>
            </a:r>
          </a:p>
          <a:p>
            <a:r>
              <a:rPr lang="vi-VN" b="1"/>
              <a:t>catch</a:t>
            </a:r>
            <a:r>
              <a:rPr lang="vi-VN"/>
              <a:t>: Khối </a:t>
            </a:r>
            <a:r>
              <a:rPr lang="vi-VN" b="1"/>
              <a:t>catch</a:t>
            </a:r>
            <a:r>
              <a:rPr lang="vi-VN"/>
              <a:t> sẽ bắt ngoại lệ khi một ngoại lệ xảy ra trong khối </a:t>
            </a:r>
            <a:r>
              <a:rPr lang="vi-VN" b="1"/>
              <a:t>try</a:t>
            </a:r>
            <a:r>
              <a:rPr lang="vi-VN"/>
              <a:t>. Bạn có thể chỉ định loại ngoại lệ (ví dụ: </a:t>
            </a:r>
            <a:r>
              <a:rPr lang="vi-VN" b="1"/>
              <a:t>FormatException</a:t>
            </a:r>
            <a:r>
              <a:rPr lang="vi-VN"/>
              <a:t>, </a:t>
            </a:r>
            <a:r>
              <a:rPr lang="vi-VN" b="1"/>
              <a:t>NullReferenceException</a:t>
            </a:r>
            <a:r>
              <a:rPr lang="vi-VN"/>
              <a:t>) hoặc bắt tất cả các loại ngoại lệ bằng </a:t>
            </a:r>
            <a:r>
              <a:rPr lang="vi-VN" b="1"/>
              <a:t>Exception</a:t>
            </a:r>
            <a:r>
              <a:rPr lang="vi-VN"/>
              <a:t>.</a:t>
            </a:r>
          </a:p>
          <a:p>
            <a:endParaRPr lang="en-US" dirty="0"/>
          </a:p>
        </p:txBody>
      </p:sp>
      <p:sp>
        <p:nvSpPr>
          <p:cNvPr id="4" name="Slide Number Placeholder 3"/>
          <p:cNvSpPr>
            <a:spLocks noGrp="1"/>
          </p:cNvSpPr>
          <p:nvPr>
            <p:ph type="sldNum" sz="quarter" idx="5"/>
          </p:nvPr>
        </p:nvSpPr>
        <p:spPr/>
        <p:txBody>
          <a:bodyPr/>
          <a:lstStyle/>
          <a:p>
            <a:fld id="{EEA7600A-770C-47F1-89C1-5023B6D362E3}" type="slidenum">
              <a:rPr lang="vi-VN" smtClean="0"/>
              <a:t>26</a:t>
            </a:fld>
            <a:endParaRPr lang="vi-VN"/>
          </a:p>
        </p:txBody>
      </p:sp>
    </p:spTree>
    <p:extLst>
      <p:ext uri="{BB962C8B-B14F-4D97-AF65-F5344CB8AC3E}">
        <p14:creationId xmlns:p14="http://schemas.microsoft.com/office/powerpoint/2010/main" val="194506650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b="1"/>
              <a:t>Giải thích:</a:t>
            </a:r>
          </a:p>
          <a:p>
            <a:r>
              <a:rPr lang="vi-VN" b="1"/>
              <a:t>try</a:t>
            </a:r>
            <a:r>
              <a:rPr lang="vi-VN"/>
              <a:t>: Bạn đặt đoạn mã có thể gây lỗi trong khối </a:t>
            </a:r>
            <a:r>
              <a:rPr lang="vi-VN" b="1"/>
              <a:t>try</a:t>
            </a:r>
            <a:r>
              <a:rPr lang="vi-VN"/>
              <a:t>. Đây là nơi mà ngoại lệ có thể xảy ra.</a:t>
            </a:r>
          </a:p>
          <a:p>
            <a:r>
              <a:rPr lang="vi-VN" b="1"/>
              <a:t>catch</a:t>
            </a:r>
            <a:r>
              <a:rPr lang="vi-VN"/>
              <a:t>: Khối </a:t>
            </a:r>
            <a:r>
              <a:rPr lang="vi-VN" b="1"/>
              <a:t>catch</a:t>
            </a:r>
            <a:r>
              <a:rPr lang="vi-VN"/>
              <a:t> sẽ bắt ngoại lệ khi một ngoại lệ xảy ra trong khối </a:t>
            </a:r>
            <a:r>
              <a:rPr lang="vi-VN" b="1"/>
              <a:t>try</a:t>
            </a:r>
            <a:r>
              <a:rPr lang="vi-VN"/>
              <a:t>. Bạn có thể chỉ định loại ngoại lệ (ví dụ: </a:t>
            </a:r>
            <a:r>
              <a:rPr lang="vi-VN" b="1"/>
              <a:t>FormatException</a:t>
            </a:r>
            <a:r>
              <a:rPr lang="vi-VN"/>
              <a:t>, </a:t>
            </a:r>
            <a:r>
              <a:rPr lang="vi-VN" b="1"/>
              <a:t>NullReferenceException</a:t>
            </a:r>
            <a:r>
              <a:rPr lang="vi-VN"/>
              <a:t>) hoặc bắt tất cả các loại ngoại lệ bằng </a:t>
            </a:r>
            <a:r>
              <a:rPr lang="vi-VN" b="1"/>
              <a:t>Exception</a:t>
            </a:r>
            <a:r>
              <a:rPr lang="vi-VN"/>
              <a:t>.</a:t>
            </a:r>
          </a:p>
          <a:p>
            <a:r>
              <a:rPr lang="vi-VN" b="1"/>
              <a:t>finally</a:t>
            </a:r>
            <a:r>
              <a:rPr lang="vi-VN"/>
              <a:t> (tùy chọn): Đây là phần mã luôn được thực thi, dù có ngoại lệ xảy ra hay không. Phần này thường dùng để giải phóng tài nguyên hoặc thực hiện các thao tác dọn dẹp (cleanup).</a:t>
            </a:r>
          </a:p>
          <a:p>
            <a:endParaRPr lang="en-US"/>
          </a:p>
        </p:txBody>
      </p:sp>
      <p:sp>
        <p:nvSpPr>
          <p:cNvPr id="4" name="Slide Number Placeholder 3"/>
          <p:cNvSpPr>
            <a:spLocks noGrp="1"/>
          </p:cNvSpPr>
          <p:nvPr>
            <p:ph type="sldNum" sz="quarter" idx="5"/>
          </p:nvPr>
        </p:nvSpPr>
        <p:spPr/>
        <p:txBody>
          <a:bodyPr/>
          <a:lstStyle/>
          <a:p>
            <a:fld id="{EEA7600A-770C-47F1-89C1-5023B6D362E3}" type="slidenum">
              <a:rPr lang="vi-VN" smtClean="0">
                <a:uFillTx/>
              </a:rPr>
              <a:t>28</a:t>
            </a:fld>
            <a:endParaRPr lang="vi-VN">
              <a:uFillTx/>
            </a:endParaRPr>
          </a:p>
        </p:txBody>
      </p:sp>
    </p:spTree>
    <p:extLst>
      <p:ext uri="{BB962C8B-B14F-4D97-AF65-F5344CB8AC3E}">
        <p14:creationId xmlns:p14="http://schemas.microsoft.com/office/powerpoint/2010/main" val="263845153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b="0" i="0" dirty="0">
                <a:solidFill>
                  <a:srgbClr val="212529"/>
                </a:solidFill>
                <a:effectLst/>
                <a:latin typeface="-apple-system"/>
              </a:rPr>
              <a:t>Khi có ngoại lệ chia một số cho 0, thì khối </a:t>
            </a:r>
            <a:r>
              <a:rPr lang="vi-VN" dirty="0"/>
              <a:t>catch</a:t>
            </a:r>
            <a:r>
              <a:rPr lang="vi-VN" b="0" i="0" dirty="0">
                <a:solidFill>
                  <a:srgbClr val="212529"/>
                </a:solidFill>
                <a:effectLst/>
                <a:latin typeface="-apple-system"/>
              </a:rPr>
              <a:t> với ngoại lệ kiểu </a:t>
            </a:r>
            <a:r>
              <a:rPr lang="vi-VN" dirty="0"/>
              <a:t>DivideByZeroException</a:t>
            </a:r>
            <a:r>
              <a:rPr lang="vi-VN" b="0" i="0" dirty="0">
                <a:solidFill>
                  <a:srgbClr val="212529"/>
                </a:solidFill>
                <a:effectLst/>
                <a:latin typeface="-apple-system"/>
              </a:rPr>
              <a:t> được thi hành, còn ngoại lệ khác sẽ do khối </a:t>
            </a:r>
            <a:r>
              <a:rPr lang="vi-VN" dirty="0"/>
              <a:t>catch</a:t>
            </a:r>
            <a:r>
              <a:rPr lang="vi-VN" b="0" i="0" dirty="0">
                <a:solidFill>
                  <a:srgbClr val="212529"/>
                </a:solidFill>
                <a:effectLst/>
                <a:latin typeface="-apple-system"/>
              </a:rPr>
              <a:t> thứ 2 thi hành. Bằng cách như vậy bạn có thể khai báo nhiều khối catch tùy nhu cầu.</a:t>
            </a:r>
            <a:endParaRPr lang="en-US" b="0" i="0" dirty="0">
              <a:solidFill>
                <a:srgbClr val="212529"/>
              </a:solidFill>
              <a:effectLst/>
              <a:latin typeface="-apple-system"/>
            </a:endParaRPr>
          </a:p>
          <a:p>
            <a:endParaRPr lang="en-US" b="0" i="0" dirty="0">
              <a:solidFill>
                <a:srgbClr val="212529"/>
              </a:solidFill>
              <a:effectLst/>
              <a:latin typeface="-apple-system"/>
            </a:endParaRPr>
          </a:p>
          <a:p>
            <a:r>
              <a:rPr lang="vi-VN" b="0" i="0" dirty="0">
                <a:solidFill>
                  <a:srgbClr val="212529"/>
                </a:solidFill>
                <a:effectLst/>
                <a:latin typeface="-apple-system"/>
              </a:rPr>
              <a:t>Trong lệnh try ... catch, bạn có thể thêm một tùy chọn là khối </a:t>
            </a:r>
            <a:r>
              <a:rPr lang="vi-VN" dirty="0"/>
              <a:t>finally</a:t>
            </a:r>
            <a:r>
              <a:rPr lang="vi-VN" b="0" i="0" dirty="0">
                <a:solidFill>
                  <a:srgbClr val="212529"/>
                </a:solidFill>
                <a:effectLst/>
                <a:latin typeface="-apple-system"/>
              </a:rPr>
              <a:t>, code trong khối này được thực thi ngay cả khi có phát sinh ngoại lệ hay không. Khối này cơ bản để giải phóng các tài nguyên chiếm giữ.</a:t>
            </a:r>
            <a:endParaRPr lang="en-US" b="0" i="0" dirty="0">
              <a:solidFill>
                <a:srgbClr val="212529"/>
              </a:solidFill>
              <a:effectLst/>
              <a:latin typeface="-apple-system"/>
            </a:endParaRPr>
          </a:p>
          <a:p>
            <a:endParaRPr lang="en-US" b="0" i="0" dirty="0">
              <a:solidFill>
                <a:srgbClr val="212529"/>
              </a:solidFill>
              <a:effectLst/>
              <a:latin typeface="-apple-system"/>
            </a:endParaRPr>
          </a:p>
          <a:p>
            <a:r>
              <a:rPr lang="en-US" sz="1800" dirty="0">
                <a:solidFill>
                  <a:srgbClr val="000000"/>
                </a:solidFill>
                <a:latin typeface="Consolas" panose="020B0609020204030204" pitchFamily="49" charset="0"/>
              </a:rPr>
              <a:t> </a:t>
            </a:r>
            <a:r>
              <a:rPr lang="en-US" sz="1800" dirty="0" err="1">
                <a:solidFill>
                  <a:srgbClr val="000000"/>
                </a:solidFill>
                <a:latin typeface="Consolas" panose="020B0609020204030204" pitchFamily="49" charset="0"/>
              </a:rPr>
              <a:t>Console.WriteLine</a:t>
            </a:r>
            <a:r>
              <a:rPr lang="en-US" sz="1800" dirty="0">
                <a:solidFill>
                  <a:srgbClr val="000000"/>
                </a:solidFill>
                <a:latin typeface="Consolas" panose="020B0609020204030204" pitchFamily="49" charset="0"/>
              </a:rPr>
              <a:t>(</a:t>
            </a:r>
            <a:r>
              <a:rPr lang="en-US" sz="1800" dirty="0" err="1">
                <a:solidFill>
                  <a:srgbClr val="000000"/>
                </a:solidFill>
                <a:latin typeface="Consolas" panose="020B0609020204030204" pitchFamily="49" charset="0"/>
              </a:rPr>
              <a:t>loi.StackTrace</a:t>
            </a:r>
            <a:r>
              <a:rPr lang="en-US" sz="1800" dirty="0">
                <a:solidFill>
                  <a:srgbClr val="000000"/>
                </a:solidFill>
                <a:latin typeface="Consolas" panose="020B0609020204030204" pitchFamily="49" charset="0"/>
              </a:rPr>
              <a:t>);</a:t>
            </a:r>
            <a:r>
              <a:rPr lang="en-US" sz="1800" b="0" i="0" dirty="0">
                <a:solidFill>
                  <a:srgbClr val="212529"/>
                </a:solidFill>
                <a:effectLst/>
                <a:latin typeface="-apple-system"/>
              </a:rPr>
              <a:t> //</a:t>
            </a:r>
            <a:r>
              <a:rPr lang="en-US" sz="1800" b="0" i="0" dirty="0" err="1">
                <a:solidFill>
                  <a:srgbClr val="212529"/>
                </a:solidFill>
                <a:effectLst/>
                <a:latin typeface="-apple-system"/>
              </a:rPr>
              <a:t>lỗi</a:t>
            </a:r>
            <a:r>
              <a:rPr lang="en-US" sz="1800" b="0" i="0" dirty="0">
                <a:solidFill>
                  <a:srgbClr val="212529"/>
                </a:solidFill>
                <a:effectLst/>
                <a:latin typeface="-apple-system"/>
              </a:rPr>
              <a:t> ở </a:t>
            </a:r>
            <a:r>
              <a:rPr lang="en-US" sz="1800" b="0" i="0" dirty="0" err="1">
                <a:solidFill>
                  <a:srgbClr val="212529"/>
                </a:solidFill>
                <a:effectLst/>
                <a:latin typeface="-apple-system"/>
              </a:rPr>
              <a:t>dòng</a:t>
            </a:r>
            <a:r>
              <a:rPr lang="en-US" sz="1800" b="0" i="0" dirty="0">
                <a:solidFill>
                  <a:srgbClr val="212529"/>
                </a:solidFill>
                <a:effectLst/>
                <a:latin typeface="-apple-system"/>
              </a:rPr>
              <a:t> </a:t>
            </a:r>
            <a:r>
              <a:rPr lang="en-US" sz="1800" b="0" i="0" dirty="0" err="1">
                <a:solidFill>
                  <a:srgbClr val="212529"/>
                </a:solidFill>
                <a:effectLst/>
                <a:latin typeface="-apple-system"/>
              </a:rPr>
              <a:t>nào</a:t>
            </a:r>
            <a:endParaRPr lang="en-US" dirty="0"/>
          </a:p>
        </p:txBody>
      </p:sp>
      <p:sp>
        <p:nvSpPr>
          <p:cNvPr id="4" name="Slide Number Placeholder 3"/>
          <p:cNvSpPr>
            <a:spLocks noGrp="1"/>
          </p:cNvSpPr>
          <p:nvPr>
            <p:ph type="sldNum" sz="quarter" idx="5"/>
          </p:nvPr>
        </p:nvSpPr>
        <p:spPr/>
        <p:txBody>
          <a:bodyPr/>
          <a:lstStyle/>
          <a:p>
            <a:fld id="{EEA7600A-770C-47F1-89C1-5023B6D362E3}" type="slidenum">
              <a:rPr lang="vi-VN" smtClean="0"/>
              <a:t>30</a:t>
            </a:fld>
            <a:endParaRPr lang="vi-VN"/>
          </a:p>
        </p:txBody>
      </p:sp>
    </p:spTree>
    <p:extLst>
      <p:ext uri="{BB962C8B-B14F-4D97-AF65-F5344CB8AC3E}">
        <p14:creationId xmlns:p14="http://schemas.microsoft.com/office/powerpoint/2010/main" val="145901520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a:t>Hoặc có thể sử dụng các lớp ngoại lệ cụ thể, chẳng hạn như </a:t>
            </a:r>
            <a:r>
              <a:rPr lang="vi-VN" b="1"/>
              <a:t>ArgumentException</a:t>
            </a:r>
            <a:r>
              <a:rPr lang="vi-VN"/>
              <a:t>, </a:t>
            </a:r>
            <a:r>
              <a:rPr lang="vi-VN" b="1"/>
              <a:t>FormatException</a:t>
            </a:r>
            <a:r>
              <a:rPr lang="vi-VN"/>
              <a:t>, v.v., thay vì chỉ dùng lớp </a:t>
            </a:r>
            <a:r>
              <a:rPr lang="vi-VN" b="1"/>
              <a:t>Exception</a:t>
            </a:r>
            <a:r>
              <a:rPr lang="vi-VN"/>
              <a:t> tổng quát.</a:t>
            </a:r>
            <a:endParaRPr lang="en-US"/>
          </a:p>
        </p:txBody>
      </p:sp>
      <p:sp>
        <p:nvSpPr>
          <p:cNvPr id="4" name="Slide Number Placeholder 3"/>
          <p:cNvSpPr>
            <a:spLocks noGrp="1"/>
          </p:cNvSpPr>
          <p:nvPr>
            <p:ph type="sldNum" sz="quarter" idx="5"/>
          </p:nvPr>
        </p:nvSpPr>
        <p:spPr/>
        <p:txBody>
          <a:bodyPr/>
          <a:lstStyle/>
          <a:p>
            <a:fld id="{EEA7600A-770C-47F1-89C1-5023B6D362E3}" type="slidenum">
              <a:rPr lang="vi-VN" smtClean="0">
                <a:uFillTx/>
              </a:rPr>
              <a:t>31</a:t>
            </a:fld>
            <a:endParaRPr lang="vi-VN">
              <a:uFillTx/>
            </a:endParaRPr>
          </a:p>
        </p:txBody>
      </p:sp>
    </p:spTree>
    <p:extLst>
      <p:ext uri="{BB962C8B-B14F-4D97-AF65-F5344CB8AC3E}">
        <p14:creationId xmlns:p14="http://schemas.microsoft.com/office/powerpoint/2010/main" val="263551493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b="1"/>
              <a:t>Giải thích ví dụ:</a:t>
            </a:r>
          </a:p>
          <a:p>
            <a:r>
              <a:rPr lang="vi-VN" b="1"/>
              <a:t>Phương thức Divide</a:t>
            </a:r>
            <a:r>
              <a:rPr lang="vi-VN"/>
              <a:t>: Kiểm tra nếu mẫu số là 0. Nếu đúng, phương thức sẽ </a:t>
            </a:r>
            <a:r>
              <a:rPr lang="vi-VN" b="1"/>
              <a:t>ném ngoại lệ DivideByZeroException</a:t>
            </a:r>
            <a:r>
              <a:rPr lang="vi-VN"/>
              <a:t> với thông báo lỗi "Không thể chia cho 0".</a:t>
            </a:r>
          </a:p>
          <a:p>
            <a:r>
              <a:rPr lang="vi-VN" b="1"/>
              <a:t>Phương thức Main</a:t>
            </a:r>
            <a:r>
              <a:rPr lang="vi-VN"/>
              <a:t>: Gọi phương thức Divide(10, 0), gây ra ngoại lệ. Ngoại lệ này được bắt trong khối </a:t>
            </a:r>
            <a:r>
              <a:rPr lang="vi-VN" b="1"/>
              <a:t>catch</a:t>
            </a:r>
            <a:r>
              <a:rPr lang="vi-VN"/>
              <a:t> và thông báo lỗi sẽ được in ra.</a:t>
            </a:r>
          </a:p>
          <a:p>
            <a:endParaRPr lang="en-US"/>
          </a:p>
        </p:txBody>
      </p:sp>
      <p:sp>
        <p:nvSpPr>
          <p:cNvPr id="4" name="Slide Number Placeholder 3"/>
          <p:cNvSpPr>
            <a:spLocks noGrp="1"/>
          </p:cNvSpPr>
          <p:nvPr>
            <p:ph type="sldNum" sz="quarter" idx="5"/>
          </p:nvPr>
        </p:nvSpPr>
        <p:spPr/>
        <p:txBody>
          <a:bodyPr/>
          <a:lstStyle/>
          <a:p>
            <a:fld id="{EEA7600A-770C-47F1-89C1-5023B6D362E3}" type="slidenum">
              <a:rPr lang="vi-VN" smtClean="0">
                <a:uFillTx/>
              </a:rPr>
              <a:t>32</a:t>
            </a:fld>
            <a:endParaRPr lang="vi-VN">
              <a:uFillTx/>
            </a:endParaRPr>
          </a:p>
        </p:txBody>
      </p:sp>
    </p:spTree>
    <p:extLst>
      <p:ext uri="{BB962C8B-B14F-4D97-AF65-F5344CB8AC3E}">
        <p14:creationId xmlns:p14="http://schemas.microsoft.com/office/powerpoint/2010/main" val="209730643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EEA7600A-770C-47F1-89C1-5023B6D362E3}" type="slidenum">
              <a:rPr lang="vi-VN" smtClean="0">
                <a:uFillTx/>
              </a:rPr>
              <a:t>33</a:t>
            </a:fld>
            <a:endParaRPr lang="vi-VN">
              <a:uFillTx/>
            </a:endParaRPr>
          </a:p>
        </p:txBody>
      </p:sp>
    </p:spTree>
    <p:extLst>
      <p:ext uri="{BB962C8B-B14F-4D97-AF65-F5344CB8AC3E}">
        <p14:creationId xmlns:p14="http://schemas.microsoft.com/office/powerpoint/2010/main" val="94868282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t>Giải thích:</a:t>
            </a:r>
          </a:p>
          <a:p>
            <a:r>
              <a:rPr lang="en-US" b="1"/>
              <a:t>Tạo lớp ngoại lệ tùy chỉnh</a:t>
            </a:r>
            <a:r>
              <a:rPr lang="en-US"/>
              <a:t>:</a:t>
            </a:r>
          </a:p>
          <a:p>
            <a:pPr lvl="1"/>
            <a:r>
              <a:rPr lang="en-US"/>
              <a:t>DivideByZeroCustomException kế thừa từ Exception.</a:t>
            </a:r>
          </a:p>
          <a:p>
            <a:pPr lvl="1"/>
            <a:r>
              <a:rPr lang="en-US"/>
              <a:t>Nhận thông báo lỗi và chuyển lên lớp cha (Exception).</a:t>
            </a:r>
          </a:p>
          <a:p>
            <a:r>
              <a:rPr lang="en-US" b="1"/>
              <a:t>Trong Main()</a:t>
            </a:r>
            <a:r>
              <a:rPr lang="en-US"/>
              <a:t>:</a:t>
            </a:r>
          </a:p>
          <a:p>
            <a:pPr lvl="1"/>
            <a:r>
              <a:rPr lang="en-US"/>
              <a:t>Kiểm tra nếu mẫu số bằng 0, ném ngoại lệ tùy chỉnh (throw new DivideByZeroCustomException).</a:t>
            </a:r>
          </a:p>
          <a:p>
            <a:pPr lvl="1"/>
            <a:r>
              <a:rPr lang="en-US"/>
              <a:t>Bắt ngoại lệ trong catch và hiển thị thông báo lỗi.</a:t>
            </a:r>
          </a:p>
          <a:p>
            <a:r>
              <a:rPr lang="en-US"/>
              <a:t>====</a:t>
            </a:r>
          </a:p>
          <a:p>
            <a:r>
              <a:rPr lang="vi-VN"/>
              <a:t>Kết quả khi chạy chương trình:</a:t>
            </a:r>
            <a:endParaRPr lang="en-US"/>
          </a:p>
          <a:p>
            <a:r>
              <a:rPr lang="en-US"/>
              <a:t>Ngoại lệ xảy ra: Lỗi: Không thể chia cho 0!</a:t>
            </a:r>
          </a:p>
        </p:txBody>
      </p:sp>
      <p:sp>
        <p:nvSpPr>
          <p:cNvPr id="4" name="Slide Number Placeholder 3"/>
          <p:cNvSpPr>
            <a:spLocks noGrp="1"/>
          </p:cNvSpPr>
          <p:nvPr>
            <p:ph type="sldNum" sz="quarter" idx="5"/>
          </p:nvPr>
        </p:nvSpPr>
        <p:spPr/>
        <p:txBody>
          <a:bodyPr/>
          <a:lstStyle/>
          <a:p>
            <a:fld id="{EEA7600A-770C-47F1-89C1-5023B6D362E3}" type="slidenum">
              <a:rPr lang="vi-VN" smtClean="0">
                <a:uFillTx/>
              </a:rPr>
              <a:t>34</a:t>
            </a:fld>
            <a:endParaRPr lang="vi-VN">
              <a:uFillTx/>
            </a:endParaRPr>
          </a:p>
        </p:txBody>
      </p:sp>
    </p:spTree>
    <p:extLst>
      <p:ext uri="{BB962C8B-B14F-4D97-AF65-F5344CB8AC3E}">
        <p14:creationId xmlns:p14="http://schemas.microsoft.com/office/powerpoint/2010/main" val="167410556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Float a;</a:t>
            </a:r>
          </a:p>
          <a:p>
            <a:r>
              <a:rPr lang="en-US" sz="1800" dirty="0">
                <a:solidFill>
                  <a:srgbClr val="000000"/>
                </a:solidFill>
                <a:latin typeface="Consolas" panose="020B0609020204030204" pitchFamily="49" charset="0"/>
              </a:rPr>
              <a:t>a = </a:t>
            </a:r>
            <a:r>
              <a:rPr lang="en-US" sz="1800" dirty="0" err="1">
                <a:solidFill>
                  <a:srgbClr val="000000"/>
                </a:solidFill>
                <a:latin typeface="Consolas" panose="020B0609020204030204" pitchFamily="49" charset="0"/>
              </a:rPr>
              <a:t>Convert.ToSingle</a:t>
            </a:r>
            <a:r>
              <a:rPr lang="en-US" sz="1800" dirty="0">
                <a:solidFill>
                  <a:srgbClr val="000000"/>
                </a:solidFill>
                <a:latin typeface="Consolas" panose="020B0609020204030204" pitchFamily="49" charset="0"/>
              </a:rPr>
              <a:t>(</a:t>
            </a:r>
            <a:r>
              <a:rPr lang="en-US" sz="1800" dirty="0" err="1">
                <a:solidFill>
                  <a:srgbClr val="000000"/>
                </a:solidFill>
                <a:latin typeface="Consolas" panose="020B0609020204030204" pitchFamily="49" charset="0"/>
              </a:rPr>
              <a:t>Console.ReadLine</a:t>
            </a:r>
            <a:r>
              <a:rPr lang="en-US" sz="1800">
                <a:solidFill>
                  <a:srgbClr val="000000"/>
                </a:solidFill>
                <a:latin typeface="Consolas" panose="020B0609020204030204" pitchFamily="49" charset="0"/>
              </a:rPr>
              <a:t>());</a:t>
            </a:r>
            <a:endParaRPr lang="en-US" dirty="0"/>
          </a:p>
        </p:txBody>
      </p:sp>
      <p:sp>
        <p:nvSpPr>
          <p:cNvPr id="4" name="Slide Number Placeholder 3"/>
          <p:cNvSpPr>
            <a:spLocks noGrp="1"/>
          </p:cNvSpPr>
          <p:nvPr>
            <p:ph type="sldNum" sz="quarter" idx="5"/>
          </p:nvPr>
        </p:nvSpPr>
        <p:spPr/>
        <p:txBody>
          <a:bodyPr/>
          <a:lstStyle/>
          <a:p>
            <a:fld id="{EEA7600A-770C-47F1-89C1-5023B6D362E3}" type="slidenum">
              <a:rPr lang="vi-VN" smtClean="0">
                <a:uFillTx/>
              </a:rPr>
              <a:t>35</a:t>
            </a:fld>
            <a:endParaRPr lang="vi-VN">
              <a:uFillTx/>
            </a:endParaRPr>
          </a:p>
        </p:txBody>
      </p:sp>
    </p:spTree>
    <p:extLst>
      <p:ext uri="{BB962C8B-B14F-4D97-AF65-F5344CB8AC3E}">
        <p14:creationId xmlns:p14="http://schemas.microsoft.com/office/powerpoint/2010/main" val="1245147874"/>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p:spTree>
      <p:nvGrpSpPr>
        <p:cNvPr id="1" name=""/>
        <p:cNvGrpSpPr/>
        <p:nvPr/>
      </p:nvGrpSpPr>
      <p:grpSpPr>
        <a:xfrm>
          <a:off x="0" y="0"/>
          <a:ext cx="0" cy="0"/>
          <a:chOff x="0" y="0"/>
          <a:chExt cx="0" cy="0"/>
        </a:xfrm>
      </p:grpSpPr>
      <p:sp>
        <p:nvSpPr>
          <p:cNvPr id="5123" name="Rectangle 3"/>
          <p:cNvSpPr>
            <a:spLocks noGrp="1" noChangeArrowheads="1"/>
          </p:cNvSpPr>
          <p:nvPr>
            <p:ph type="subTitle" idx="1"/>
          </p:nvPr>
        </p:nvSpPr>
        <p:spPr>
          <a:xfrm>
            <a:off x="1295400" y="4495800"/>
            <a:ext cx="7010400" cy="990600"/>
          </a:xfrm>
        </p:spPr>
        <p:txBody>
          <a:bodyPr/>
          <a:lstStyle>
            <a:lvl1pPr marL="0" indent="0" algn="ctr">
              <a:buFont typeface="Wingdings" pitchFamily="2" charset="2"/>
              <a:buNone/>
              <a:defRPr sz="2200" b="1">
                <a:solidFill>
                  <a:srgbClr val="000066"/>
                </a:solidFill>
                <a:uFillTx/>
              </a:defRPr>
            </a:lvl1pPr>
          </a:lstStyle>
          <a:p>
            <a:r>
              <a:rPr lang="en-US" dirty="0">
                <a:uFillTx/>
              </a:rPr>
              <a:t>Click to edit Master subtitle style</a:t>
            </a:r>
            <a:endParaRPr lang="en-GB" dirty="0">
              <a:uFillTx/>
            </a:endParaRPr>
          </a:p>
        </p:txBody>
      </p:sp>
      <p:sp>
        <p:nvSpPr>
          <p:cNvPr id="6" name="Rectangle 5"/>
          <p:cNvSpPr>
            <a:spLocks noGrp="1" noChangeArrowheads="1"/>
          </p:cNvSpPr>
          <p:nvPr>
            <p:ph type="dt" sz="half" idx="10"/>
          </p:nvPr>
        </p:nvSpPr>
        <p:spPr>
          <a:xfrm>
            <a:off x="685800" y="6248400"/>
            <a:ext cx="1905000" cy="457200"/>
          </a:xfrm>
        </p:spPr>
        <p:txBody>
          <a:bodyPr/>
          <a:lstStyle>
            <a:lvl1pPr>
              <a:defRPr smtClean="0">
                <a:uFillTx/>
              </a:defRPr>
            </a:lvl1pPr>
          </a:lstStyle>
          <a:p>
            <a:fld id="{F24D28AD-2906-4ACB-A762-9275CF763951}" type="datetime1">
              <a:rPr lang="vi-VN" smtClean="0">
                <a:uFillTx/>
              </a:rPr>
              <a:t>08/02/2025</a:t>
            </a:fld>
            <a:endParaRPr lang="vi-VN">
              <a:uFillTx/>
            </a:endParaRPr>
          </a:p>
        </p:txBody>
      </p:sp>
      <p:sp>
        <p:nvSpPr>
          <p:cNvPr id="7" name="Rectangle 6"/>
          <p:cNvSpPr>
            <a:spLocks noGrp="1" noChangeArrowheads="1"/>
          </p:cNvSpPr>
          <p:nvPr>
            <p:ph type="ftr" sz="quarter" idx="11"/>
          </p:nvPr>
        </p:nvSpPr>
        <p:spPr>
          <a:xfrm>
            <a:off x="2643188" y="6248400"/>
            <a:ext cx="4357687" cy="457200"/>
          </a:xfrm>
        </p:spPr>
        <p:txBody>
          <a:bodyPr/>
          <a:lstStyle>
            <a:lvl1pPr>
              <a:defRPr smtClean="0">
                <a:uFillTx/>
              </a:defRPr>
            </a:lvl1pPr>
          </a:lstStyle>
          <a:p>
            <a:r>
              <a:rPr lang="vi-VN">
                <a:uFillTx/>
              </a:rPr>
              <a:t>Chương 3. Lập trình hướng đối tượng trong C#</a:t>
            </a:r>
          </a:p>
        </p:txBody>
      </p:sp>
      <p:sp>
        <p:nvSpPr>
          <p:cNvPr id="8" name="Rectangle 7"/>
          <p:cNvSpPr>
            <a:spLocks noGrp="1" noChangeArrowheads="1"/>
          </p:cNvSpPr>
          <p:nvPr>
            <p:ph type="sldNum" sz="quarter" idx="12"/>
          </p:nvPr>
        </p:nvSpPr>
        <p:spPr>
          <a:xfrm>
            <a:off x="7215188" y="6248400"/>
            <a:ext cx="1243012" cy="457200"/>
          </a:xfrm>
        </p:spPr>
        <p:txBody>
          <a:bodyPr/>
          <a:lstStyle>
            <a:lvl1pPr>
              <a:defRPr>
                <a:uFillTx/>
              </a:defRPr>
            </a:lvl1pPr>
          </a:lstStyle>
          <a:p>
            <a:fld id="{5AB95402-1E0D-474E-8D8C-CBE7F053639E}" type="slidenum">
              <a:rPr lang="vi-VN" smtClean="0">
                <a:uFillTx/>
              </a:rPr>
              <a:t>‹#›</a:t>
            </a:fld>
            <a:endParaRPr lang="vi-VN">
              <a:uFillTx/>
            </a:endParaRPr>
          </a:p>
        </p:txBody>
      </p:sp>
      <p:sp>
        <p:nvSpPr>
          <p:cNvPr id="10" name="Rectangle 2">
            <a:extLst>
              <a:ext uri="{FF2B5EF4-FFF2-40B4-BE49-F238E27FC236}">
                <a16:creationId xmlns:a16="http://schemas.microsoft.com/office/drawing/2014/main" id="{84E65097-9E90-4BDF-BFE3-B1A9FA85D6DE}"/>
              </a:ext>
            </a:extLst>
          </p:cNvPr>
          <p:cNvSpPr>
            <a:spLocks noGrp="1" noChangeArrowheads="1"/>
          </p:cNvSpPr>
          <p:nvPr>
            <p:ph type="ctrTitle"/>
          </p:nvPr>
        </p:nvSpPr>
        <p:spPr>
          <a:xfrm>
            <a:off x="1066800" y="2590800"/>
            <a:ext cx="7620000" cy="990600"/>
          </a:xfrm>
          <a:prstGeom prst="rect">
            <a:avLst/>
          </a:prstGeom>
        </p:spPr>
        <p:txBody>
          <a:bodyPr/>
          <a:lstStyle>
            <a:lvl1pPr algn="ctr">
              <a:defRPr sz="3600" b="1">
                <a:solidFill>
                  <a:srgbClr val="0070C0"/>
                </a:solidFill>
                <a:effectLst/>
              </a:defRPr>
            </a:lvl1pPr>
          </a:lstStyle>
          <a:p>
            <a:r>
              <a:rPr lang="en-US" dirty="0"/>
              <a:t>Click to edit Master title style</a:t>
            </a:r>
            <a:endParaRPr lang="en-GB" dirty="0"/>
          </a:p>
        </p:txBody>
      </p:sp>
      <p:pic>
        <p:nvPicPr>
          <p:cNvPr id="11" name="Google Shape;22;p2">
            <a:extLst>
              <a:ext uri="{FF2B5EF4-FFF2-40B4-BE49-F238E27FC236}">
                <a16:creationId xmlns:a16="http://schemas.microsoft.com/office/drawing/2014/main" id="{804B5FD0-2B16-4E89-AFA7-5A4D7C57C24F}"/>
              </a:ext>
            </a:extLst>
          </p:cNvPr>
          <p:cNvPicPr preferRelativeResize="0"/>
          <p:nvPr userDrawn="1"/>
        </p:nvPicPr>
        <p:blipFill rotWithShape="1">
          <a:blip r:embed="rId2">
            <a:alphaModFix/>
          </a:blip>
          <a:srcRect/>
          <a:stretch/>
        </p:blipFill>
        <p:spPr>
          <a:xfrm>
            <a:off x="35496" y="-27384"/>
            <a:ext cx="1152128" cy="1152128"/>
          </a:xfrm>
          <a:prstGeom prst="rect">
            <a:avLst/>
          </a:prstGeom>
          <a:noFill/>
          <a:ln>
            <a:noFill/>
          </a:ln>
        </p:spPr>
      </p:pic>
      <p:sp>
        <p:nvSpPr>
          <p:cNvPr id="12" name="Google Shape;21;p2">
            <a:extLst>
              <a:ext uri="{FF2B5EF4-FFF2-40B4-BE49-F238E27FC236}">
                <a16:creationId xmlns:a16="http://schemas.microsoft.com/office/drawing/2014/main" id="{81FCB311-6E94-45DF-B9A2-86C60BB03C57}"/>
              </a:ext>
            </a:extLst>
          </p:cNvPr>
          <p:cNvSpPr txBox="1"/>
          <p:nvPr userDrawn="1"/>
        </p:nvSpPr>
        <p:spPr>
          <a:xfrm>
            <a:off x="2339752" y="478413"/>
            <a:ext cx="5154352" cy="646331"/>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800" b="1" dirty="0">
                <a:solidFill>
                  <a:srgbClr val="0033CC"/>
                </a:solidFill>
                <a:latin typeface="Cambria"/>
                <a:ea typeface="Cambria"/>
                <a:cs typeface="Cambria"/>
                <a:sym typeface="Cambria"/>
              </a:rPr>
              <a:t>HỌC VIỆN NGÂN HÀNG</a:t>
            </a:r>
            <a:endParaRPr dirty="0"/>
          </a:p>
          <a:p>
            <a:pPr marL="0" marR="0" lvl="0" indent="0" algn="ctr" rtl="0">
              <a:spcBef>
                <a:spcPts val="0"/>
              </a:spcBef>
              <a:spcAft>
                <a:spcPts val="0"/>
              </a:spcAft>
              <a:buNone/>
            </a:pPr>
            <a:r>
              <a:rPr lang="en-US" sz="1800" b="1" dirty="0">
                <a:solidFill>
                  <a:srgbClr val="0033CC"/>
                </a:solidFill>
                <a:latin typeface="Cambria"/>
                <a:ea typeface="Cambria"/>
                <a:cs typeface="Cambria"/>
                <a:sym typeface="Cambria"/>
              </a:rPr>
              <a:t>KHOA CÔNG NGHỆ THÔNG TIN VÀ KINH TẾ SỐ</a:t>
            </a:r>
            <a:endParaRPr sz="1800" b="1" dirty="0">
              <a:solidFill>
                <a:srgbClr val="0033CC"/>
              </a:solidFill>
              <a:latin typeface="Cambria"/>
              <a:ea typeface="Cambria"/>
              <a:cs typeface="Cambria"/>
              <a:sym typeface="Cambria"/>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899592" y="346744"/>
            <a:ext cx="8382000" cy="685800"/>
          </a:xfrm>
          <a:prstGeom prst="rect">
            <a:avLst/>
          </a:prstGeom>
        </p:spPr>
        <p:txBody>
          <a:bodyPr/>
          <a:lstStyle/>
          <a:p>
            <a:r>
              <a:rPr lang="en-US" dirty="0">
                <a:uFillTx/>
              </a:rPr>
              <a:t>Click to edit Master title style</a:t>
            </a:r>
          </a:p>
        </p:txBody>
      </p:sp>
      <p:sp>
        <p:nvSpPr>
          <p:cNvPr id="3" name="Content Placeholder 2"/>
          <p:cNvSpPr>
            <a:spLocks noGrp="1"/>
          </p:cNvSpPr>
          <p:nvPr>
            <p:ph idx="1"/>
          </p:nvPr>
        </p:nvSpPr>
        <p:spPr/>
        <p:txBody>
          <a:bodyPr/>
          <a:lstStyle>
            <a:lvl1pPr algn="just">
              <a:defRPr sz="2800">
                <a:uFillTx/>
              </a:defRPr>
            </a:lvl1pPr>
            <a:lvl2pPr algn="just">
              <a:defRPr sz="2400">
                <a:solidFill>
                  <a:srgbClr val="0000FF"/>
                </a:solidFill>
                <a:uFillTx/>
              </a:defRPr>
            </a:lvl2pPr>
            <a:lvl3pPr algn="just">
              <a:defRPr sz="2000">
                <a:solidFill>
                  <a:srgbClr val="002060"/>
                </a:solidFill>
                <a:uFillTx/>
              </a:defRPr>
            </a:lvl3pPr>
            <a:lvl4pPr algn="just">
              <a:defRPr sz="1800">
                <a:solidFill>
                  <a:srgbClr val="000066"/>
                </a:solidFill>
                <a:uFillTx/>
              </a:defRPr>
            </a:lvl4pPr>
            <a:lvl5pPr algn="just">
              <a:defRPr sz="1800">
                <a:solidFill>
                  <a:schemeClr val="tx1">
                    <a:lumMod val="95000"/>
                    <a:lumOff val="5000"/>
                  </a:schemeClr>
                </a:solidFill>
                <a:uFillTx/>
                <a:latin typeface="+mj-lt"/>
              </a:defRPr>
            </a:lvl5pPr>
          </a:lstStyle>
          <a:p>
            <a:pPr lvl="0"/>
            <a:r>
              <a:rPr lang="en-US">
                <a:uFillTx/>
              </a:rPr>
              <a:t>Click to edit Master text styles</a:t>
            </a:r>
          </a:p>
          <a:p>
            <a:pPr lvl="1"/>
            <a:r>
              <a:rPr lang="en-US">
                <a:uFillTx/>
              </a:rPr>
              <a:t>Second level</a:t>
            </a:r>
          </a:p>
          <a:p>
            <a:pPr lvl="2"/>
            <a:r>
              <a:rPr lang="en-US">
                <a:uFillTx/>
              </a:rPr>
              <a:t>Third level</a:t>
            </a:r>
          </a:p>
          <a:p>
            <a:pPr lvl="3"/>
            <a:r>
              <a:rPr lang="en-US">
                <a:uFillTx/>
              </a:rPr>
              <a:t>Fourth level</a:t>
            </a:r>
          </a:p>
          <a:p>
            <a:pPr lvl="4"/>
            <a:r>
              <a:rPr lang="en-US">
                <a:uFillTx/>
              </a:rPr>
              <a:t>Fifth level</a:t>
            </a:r>
          </a:p>
        </p:txBody>
      </p:sp>
      <p:sp>
        <p:nvSpPr>
          <p:cNvPr id="4" name="Rectangle 6"/>
          <p:cNvSpPr>
            <a:spLocks noGrp="1" noChangeArrowheads="1"/>
          </p:cNvSpPr>
          <p:nvPr>
            <p:ph type="dt" sz="half" idx="10"/>
          </p:nvPr>
        </p:nvSpPr>
        <p:spPr/>
        <p:txBody>
          <a:bodyPr/>
          <a:lstStyle>
            <a:lvl1pPr>
              <a:defRPr>
                <a:uFillTx/>
              </a:defRPr>
            </a:lvl1pPr>
          </a:lstStyle>
          <a:p>
            <a:fld id="{1FCC884B-1AA7-4469-B526-594A4B1341A0}" type="datetime1">
              <a:rPr lang="vi-VN" smtClean="0">
                <a:uFillTx/>
              </a:rPr>
              <a:t>08/02/2025</a:t>
            </a:fld>
            <a:endParaRPr lang="vi-VN">
              <a:uFillTx/>
            </a:endParaRPr>
          </a:p>
        </p:txBody>
      </p:sp>
      <p:sp>
        <p:nvSpPr>
          <p:cNvPr id="5" name="Rectangle 7"/>
          <p:cNvSpPr>
            <a:spLocks noGrp="1" noChangeArrowheads="1"/>
          </p:cNvSpPr>
          <p:nvPr>
            <p:ph type="ftr" sz="quarter" idx="11"/>
          </p:nvPr>
        </p:nvSpPr>
        <p:spPr/>
        <p:txBody>
          <a:bodyPr/>
          <a:lstStyle>
            <a:lvl1pPr>
              <a:defRPr>
                <a:uFillTx/>
              </a:defRPr>
            </a:lvl1pPr>
          </a:lstStyle>
          <a:p>
            <a:r>
              <a:rPr lang="vi-VN">
                <a:uFillTx/>
              </a:rPr>
              <a:t>Chương 3. Lập trình hướng đối tượng trong C#</a:t>
            </a:r>
          </a:p>
        </p:txBody>
      </p:sp>
      <p:sp>
        <p:nvSpPr>
          <p:cNvPr id="6" name="Rectangle 8"/>
          <p:cNvSpPr>
            <a:spLocks noGrp="1" noChangeArrowheads="1"/>
          </p:cNvSpPr>
          <p:nvPr>
            <p:ph type="sldNum" sz="quarter" idx="12"/>
          </p:nvPr>
        </p:nvSpPr>
        <p:spPr/>
        <p:txBody>
          <a:bodyPr/>
          <a:lstStyle>
            <a:lvl1pPr>
              <a:defRPr>
                <a:uFillTx/>
              </a:defRPr>
            </a:lvl1pPr>
          </a:lstStyle>
          <a:p>
            <a:fld id="{5AB95402-1E0D-474E-8D8C-CBE7F053639E}" type="slidenum">
              <a:rPr lang="vi-VN" smtClean="0">
                <a:uFillTx/>
              </a:rPr>
              <a:pPr/>
              <a:t>‹#›</a:t>
            </a:fld>
            <a:r>
              <a:rPr lang="vi-VN">
                <a:uFillTx/>
              </a:rPr>
              <a:t>/28</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899592" y="381000"/>
            <a:ext cx="8382000" cy="685800"/>
          </a:xfrm>
          <a:prstGeom prst="rect">
            <a:avLst/>
          </a:prstGeom>
        </p:spPr>
        <p:txBody>
          <a:bodyPr/>
          <a:lstStyle/>
          <a:p>
            <a:r>
              <a:rPr lang="en-US">
                <a:uFillTx/>
              </a:rPr>
              <a:t>Click to edit Master title style</a:t>
            </a:r>
          </a:p>
        </p:txBody>
      </p:sp>
      <p:sp>
        <p:nvSpPr>
          <p:cNvPr id="3" name="Content Placeholder 2"/>
          <p:cNvSpPr>
            <a:spLocks noGrp="1"/>
          </p:cNvSpPr>
          <p:nvPr>
            <p:ph sz="half" idx="1"/>
          </p:nvPr>
        </p:nvSpPr>
        <p:spPr>
          <a:xfrm>
            <a:off x="762000" y="1143000"/>
            <a:ext cx="3886200" cy="5181600"/>
          </a:xfrm>
        </p:spPr>
        <p:txBody>
          <a:bodyPr/>
          <a:lstStyle>
            <a:lvl1pPr>
              <a:defRPr sz="2800">
                <a:uFillTx/>
              </a:defRPr>
            </a:lvl1pPr>
            <a:lvl2pPr>
              <a:defRPr sz="2400">
                <a:uFillTx/>
              </a:defRPr>
            </a:lvl2pPr>
            <a:lvl3pPr>
              <a:defRPr sz="2000">
                <a:uFillTx/>
              </a:defRPr>
            </a:lvl3pPr>
            <a:lvl4pPr>
              <a:defRPr sz="1800">
                <a:uFillTx/>
              </a:defRPr>
            </a:lvl4pPr>
            <a:lvl5pPr>
              <a:defRPr sz="1800">
                <a:uFillTx/>
              </a:defRPr>
            </a:lvl5pPr>
            <a:lvl6pPr>
              <a:defRPr sz="1800">
                <a:uFillTx/>
              </a:defRPr>
            </a:lvl6pPr>
            <a:lvl7pPr>
              <a:defRPr sz="1800">
                <a:uFillTx/>
              </a:defRPr>
            </a:lvl7pPr>
            <a:lvl8pPr>
              <a:defRPr sz="1800">
                <a:uFillTx/>
              </a:defRPr>
            </a:lvl8pPr>
            <a:lvl9pPr>
              <a:defRPr sz="1800">
                <a:uFillTx/>
              </a:defRPr>
            </a:lvl9pPr>
          </a:lstStyle>
          <a:p>
            <a:pPr lvl="0"/>
            <a:r>
              <a:rPr lang="en-US">
                <a:uFillTx/>
              </a:rPr>
              <a:t>Click to edit Master text styles</a:t>
            </a:r>
          </a:p>
          <a:p>
            <a:pPr lvl="1"/>
            <a:r>
              <a:rPr lang="en-US">
                <a:uFillTx/>
              </a:rPr>
              <a:t>Second level</a:t>
            </a:r>
          </a:p>
          <a:p>
            <a:pPr lvl="2"/>
            <a:r>
              <a:rPr lang="en-US">
                <a:uFillTx/>
              </a:rPr>
              <a:t>Third level</a:t>
            </a:r>
          </a:p>
          <a:p>
            <a:pPr lvl="3"/>
            <a:r>
              <a:rPr lang="en-US">
                <a:uFillTx/>
              </a:rPr>
              <a:t>Fourth level</a:t>
            </a:r>
          </a:p>
          <a:p>
            <a:pPr lvl="4"/>
            <a:r>
              <a:rPr lang="en-US">
                <a:uFillTx/>
              </a:rPr>
              <a:t>Fifth level</a:t>
            </a:r>
          </a:p>
        </p:txBody>
      </p:sp>
      <p:sp>
        <p:nvSpPr>
          <p:cNvPr id="4" name="Content Placeholder 3"/>
          <p:cNvSpPr>
            <a:spLocks noGrp="1"/>
          </p:cNvSpPr>
          <p:nvPr>
            <p:ph sz="half" idx="2"/>
          </p:nvPr>
        </p:nvSpPr>
        <p:spPr>
          <a:xfrm>
            <a:off x="4800600" y="1143000"/>
            <a:ext cx="3886200" cy="5181600"/>
          </a:xfrm>
        </p:spPr>
        <p:txBody>
          <a:bodyPr/>
          <a:lstStyle>
            <a:lvl1pPr>
              <a:defRPr sz="2800">
                <a:uFillTx/>
              </a:defRPr>
            </a:lvl1pPr>
            <a:lvl2pPr>
              <a:defRPr sz="2400">
                <a:uFillTx/>
              </a:defRPr>
            </a:lvl2pPr>
            <a:lvl3pPr>
              <a:defRPr sz="2000">
                <a:uFillTx/>
              </a:defRPr>
            </a:lvl3pPr>
            <a:lvl4pPr>
              <a:defRPr sz="1800">
                <a:uFillTx/>
              </a:defRPr>
            </a:lvl4pPr>
            <a:lvl5pPr>
              <a:defRPr sz="1800">
                <a:uFillTx/>
              </a:defRPr>
            </a:lvl5pPr>
            <a:lvl6pPr>
              <a:defRPr sz="1800">
                <a:uFillTx/>
              </a:defRPr>
            </a:lvl6pPr>
            <a:lvl7pPr>
              <a:defRPr sz="1800">
                <a:uFillTx/>
              </a:defRPr>
            </a:lvl7pPr>
            <a:lvl8pPr>
              <a:defRPr sz="1800">
                <a:uFillTx/>
              </a:defRPr>
            </a:lvl8pPr>
            <a:lvl9pPr>
              <a:defRPr sz="1800">
                <a:uFillTx/>
              </a:defRPr>
            </a:lvl9pPr>
          </a:lstStyle>
          <a:p>
            <a:pPr lvl="0"/>
            <a:r>
              <a:rPr lang="en-US">
                <a:uFillTx/>
              </a:rPr>
              <a:t>Click to edit Master text styles</a:t>
            </a:r>
          </a:p>
          <a:p>
            <a:pPr lvl="1"/>
            <a:r>
              <a:rPr lang="en-US">
                <a:uFillTx/>
              </a:rPr>
              <a:t>Second level</a:t>
            </a:r>
          </a:p>
          <a:p>
            <a:pPr lvl="2"/>
            <a:r>
              <a:rPr lang="en-US">
                <a:uFillTx/>
              </a:rPr>
              <a:t>Third level</a:t>
            </a:r>
          </a:p>
          <a:p>
            <a:pPr lvl="3"/>
            <a:r>
              <a:rPr lang="en-US">
                <a:uFillTx/>
              </a:rPr>
              <a:t>Fourth level</a:t>
            </a:r>
          </a:p>
          <a:p>
            <a:pPr lvl="4"/>
            <a:r>
              <a:rPr lang="en-US">
                <a:uFillTx/>
              </a:rPr>
              <a:t>Fifth level</a:t>
            </a:r>
          </a:p>
        </p:txBody>
      </p:sp>
      <p:sp>
        <p:nvSpPr>
          <p:cNvPr id="5" name="Rectangle 6"/>
          <p:cNvSpPr>
            <a:spLocks noGrp="1" noChangeArrowheads="1"/>
          </p:cNvSpPr>
          <p:nvPr>
            <p:ph type="dt" sz="half" idx="10"/>
          </p:nvPr>
        </p:nvSpPr>
        <p:spPr/>
        <p:txBody>
          <a:bodyPr/>
          <a:lstStyle>
            <a:lvl1pPr>
              <a:defRPr smtClean="0">
                <a:uFillTx/>
              </a:defRPr>
            </a:lvl1pPr>
          </a:lstStyle>
          <a:p>
            <a:fld id="{966155D5-943F-475E-9BAD-8AD840126BFC}" type="datetime1">
              <a:rPr lang="vi-VN" smtClean="0">
                <a:uFillTx/>
              </a:rPr>
              <a:t>08/02/2025</a:t>
            </a:fld>
            <a:endParaRPr lang="vi-VN">
              <a:uFillTx/>
            </a:endParaRPr>
          </a:p>
        </p:txBody>
      </p:sp>
      <p:sp>
        <p:nvSpPr>
          <p:cNvPr id="6" name="Rectangle 7"/>
          <p:cNvSpPr>
            <a:spLocks noGrp="1" noChangeArrowheads="1"/>
          </p:cNvSpPr>
          <p:nvPr>
            <p:ph type="ftr" sz="quarter" idx="11"/>
          </p:nvPr>
        </p:nvSpPr>
        <p:spPr/>
        <p:txBody>
          <a:bodyPr/>
          <a:lstStyle>
            <a:lvl1pPr>
              <a:defRPr smtClean="0">
                <a:uFillTx/>
              </a:defRPr>
            </a:lvl1pPr>
          </a:lstStyle>
          <a:p>
            <a:r>
              <a:rPr lang="vi-VN">
                <a:uFillTx/>
              </a:rPr>
              <a:t>Chương 3. Lập trình hướng đối tượng trong C#</a:t>
            </a:r>
          </a:p>
        </p:txBody>
      </p:sp>
      <p:sp>
        <p:nvSpPr>
          <p:cNvPr id="7" name="Rectangle 8"/>
          <p:cNvSpPr>
            <a:spLocks noGrp="1" noChangeArrowheads="1"/>
          </p:cNvSpPr>
          <p:nvPr>
            <p:ph type="sldNum" sz="quarter" idx="12"/>
          </p:nvPr>
        </p:nvSpPr>
        <p:spPr/>
        <p:txBody>
          <a:bodyPr/>
          <a:lstStyle>
            <a:lvl1pPr>
              <a:defRPr smtClean="0">
                <a:uFillTx/>
              </a:defRPr>
            </a:lvl1pPr>
          </a:lstStyle>
          <a:p>
            <a:fld id="{5AB95402-1E0D-474E-8D8C-CBE7F053639E}" type="slidenum">
              <a:rPr lang="vi-VN" smtClean="0">
                <a:uFillTx/>
              </a:rPr>
              <a:t>‹#›</a:t>
            </a:fld>
            <a:endParaRPr lang="vi-VN">
              <a:uFillTx/>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image" Target="../media/image1.png"/><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pattFill prst="ltHorz">
          <a:fgClr>
            <a:schemeClr val="bg2"/>
          </a:fgClr>
          <a:bgClr>
            <a:schemeClr val="bg1"/>
          </a:bgClr>
        </a:pattFill>
        <a:effectLst/>
      </p:bgPr>
    </p:bg>
    <p:spTree>
      <p:nvGrpSpPr>
        <p:cNvPr id="1" name=""/>
        <p:cNvGrpSpPr/>
        <p:nvPr/>
      </p:nvGrpSpPr>
      <p:grpSpPr>
        <a:xfrm>
          <a:off x="0" y="0"/>
          <a:ext cx="0" cy="0"/>
          <a:chOff x="0" y="0"/>
          <a:chExt cx="0" cy="0"/>
        </a:xfrm>
      </p:grpSpPr>
      <p:sp>
        <p:nvSpPr>
          <p:cNvPr id="1027" name="Rectangle 3"/>
          <p:cNvSpPr>
            <a:spLocks noGrp="1" noChangeArrowheads="1"/>
          </p:cNvSpPr>
          <p:nvPr>
            <p:ph type="body" idx="1"/>
          </p:nvPr>
        </p:nvSpPr>
        <p:spPr bwMode="auto">
          <a:xfrm>
            <a:off x="762000" y="1143000"/>
            <a:ext cx="7924800" cy="5181600"/>
          </a:xfrm>
          <a:prstGeom prst="rect">
            <a:avLst/>
          </a:prstGeom>
          <a:noFill/>
          <a:ln>
            <a:noFill/>
          </a:ln>
        </p:spPr>
        <p:txBody>
          <a:bodyPr vert="horz" wrap="square" lIns="91440" tIns="45720" rIns="91440" bIns="45720" numCol="1" anchor="t" anchorCtr="0" compatLnSpc="1">
            <a:prstTxWarp prst="textNoShape">
              <a:avLst/>
            </a:prstTxWarp>
          </a:bodyPr>
          <a:lstStyle/>
          <a:p>
            <a:pPr lvl="0"/>
            <a:r>
              <a:rPr lang="en-GB">
                <a:uFillTx/>
              </a:rPr>
              <a:t>Click to edit Master text styles</a:t>
            </a:r>
          </a:p>
          <a:p>
            <a:pPr lvl="1"/>
            <a:r>
              <a:rPr lang="en-GB">
                <a:uFillTx/>
              </a:rPr>
              <a:t>Second level</a:t>
            </a:r>
          </a:p>
          <a:p>
            <a:pPr lvl="2"/>
            <a:r>
              <a:rPr lang="en-GB">
                <a:uFillTx/>
              </a:rPr>
              <a:t>Third level</a:t>
            </a:r>
          </a:p>
          <a:p>
            <a:pPr lvl="3"/>
            <a:r>
              <a:rPr lang="en-GB">
                <a:uFillTx/>
              </a:rPr>
              <a:t>Fourth level</a:t>
            </a:r>
          </a:p>
        </p:txBody>
      </p:sp>
      <p:sp>
        <p:nvSpPr>
          <p:cNvPr id="1029" name="Line 5"/>
          <p:cNvSpPr>
            <a:spLocks noChangeShapeType="1"/>
          </p:cNvSpPr>
          <p:nvPr/>
        </p:nvSpPr>
        <p:spPr bwMode="auto">
          <a:xfrm flipV="1">
            <a:off x="381000" y="6400800"/>
            <a:ext cx="8534400" cy="0"/>
          </a:xfrm>
          <a:prstGeom prst="line">
            <a:avLst/>
          </a:prstGeom>
          <a:noFill/>
          <a:ln w="3175">
            <a:solidFill>
              <a:schemeClr val="accent2"/>
            </a:solidFill>
            <a:round/>
          </a:ln>
        </p:spPr>
        <p:txBody>
          <a:bodyPr/>
          <a:lstStyle/>
          <a:p>
            <a:endParaRPr lang="vi-VN">
              <a:uFillTx/>
            </a:endParaRPr>
          </a:p>
        </p:txBody>
      </p:sp>
      <p:sp>
        <p:nvSpPr>
          <p:cNvPr id="4102" name="Rectangle 6"/>
          <p:cNvSpPr>
            <a:spLocks noGrp="1" noChangeArrowheads="1"/>
          </p:cNvSpPr>
          <p:nvPr>
            <p:ph type="dt" sz="half" idx="2"/>
          </p:nvPr>
        </p:nvSpPr>
        <p:spPr bwMode="auto">
          <a:xfrm>
            <a:off x="381000" y="6400800"/>
            <a:ext cx="1981200" cy="320675"/>
          </a:xfrm>
          <a:prstGeom prst="rect">
            <a:avLst/>
          </a:prstGeom>
          <a:noFill/>
          <a:ln w="9525">
            <a:noFill/>
            <a:miter lim="800000"/>
          </a:ln>
          <a:effectLst/>
        </p:spPr>
        <p:txBody>
          <a:bodyPr vert="horz" wrap="square" lIns="91440" tIns="45720" rIns="91440" bIns="45720" numCol="1" anchor="t" anchorCtr="0" compatLnSpc="1">
            <a:prstTxWarp prst="textNoShape">
              <a:avLst/>
            </a:prstTxWarp>
          </a:bodyPr>
          <a:lstStyle>
            <a:lvl1pPr>
              <a:defRPr sz="1200" smtClean="0">
                <a:uFillTx/>
                <a:cs typeface="Arial" charset="0"/>
              </a:defRPr>
            </a:lvl1pPr>
          </a:lstStyle>
          <a:p>
            <a:fld id="{7EDA2B44-B613-4609-93D3-FB83F9BBABFB}" type="datetime1">
              <a:rPr lang="vi-VN" smtClean="0">
                <a:uFillTx/>
              </a:rPr>
              <a:t>08/02/2025</a:t>
            </a:fld>
            <a:endParaRPr lang="vi-VN">
              <a:uFillTx/>
            </a:endParaRPr>
          </a:p>
        </p:txBody>
      </p:sp>
      <p:sp>
        <p:nvSpPr>
          <p:cNvPr id="4103" name="Rectangle 7"/>
          <p:cNvSpPr>
            <a:spLocks noGrp="1" noChangeArrowheads="1"/>
          </p:cNvSpPr>
          <p:nvPr>
            <p:ph type="ftr" sz="quarter" idx="3"/>
          </p:nvPr>
        </p:nvSpPr>
        <p:spPr bwMode="auto">
          <a:xfrm>
            <a:off x="2667000" y="6400800"/>
            <a:ext cx="3962400" cy="320675"/>
          </a:xfrm>
          <a:prstGeom prst="rect">
            <a:avLst/>
          </a:prstGeom>
          <a:noFill/>
          <a:ln w="9525">
            <a:noFill/>
            <a:miter lim="800000"/>
          </a:ln>
          <a:effectLst/>
        </p:spPr>
        <p:txBody>
          <a:bodyPr vert="horz" wrap="square" lIns="91440" tIns="45720" rIns="91440" bIns="45720" numCol="1" anchor="t" anchorCtr="0" compatLnSpc="1">
            <a:prstTxWarp prst="textNoShape">
              <a:avLst/>
            </a:prstTxWarp>
          </a:bodyPr>
          <a:lstStyle>
            <a:lvl1pPr algn="ctr">
              <a:defRPr sz="1200" smtClean="0">
                <a:uFillTx/>
                <a:cs typeface="Arial" charset="0"/>
              </a:defRPr>
            </a:lvl1pPr>
          </a:lstStyle>
          <a:p>
            <a:r>
              <a:rPr lang="vi-VN">
                <a:uFillTx/>
              </a:rPr>
              <a:t>Chương 3. Lập trình hướng đối tượng trong C#</a:t>
            </a:r>
          </a:p>
        </p:txBody>
      </p:sp>
      <p:sp>
        <p:nvSpPr>
          <p:cNvPr id="4104" name="Rectangle 8"/>
          <p:cNvSpPr>
            <a:spLocks noGrp="1" noChangeArrowheads="1"/>
          </p:cNvSpPr>
          <p:nvPr>
            <p:ph type="sldNum" sz="quarter" idx="4"/>
          </p:nvPr>
        </p:nvSpPr>
        <p:spPr bwMode="auto">
          <a:xfrm>
            <a:off x="6934200" y="6400800"/>
            <a:ext cx="1981200" cy="320675"/>
          </a:xfrm>
          <a:prstGeom prst="rect">
            <a:avLst/>
          </a:prstGeom>
          <a:noFill/>
          <a:ln w="9525">
            <a:noFill/>
            <a:miter lim="800000"/>
          </a:ln>
          <a:effectLst/>
        </p:spPr>
        <p:txBody>
          <a:bodyPr vert="horz" wrap="square" lIns="91440" tIns="45720" rIns="91440" bIns="45720" numCol="1" anchor="t" anchorCtr="0" compatLnSpc="1">
            <a:prstTxWarp prst="textNoShape">
              <a:avLst/>
            </a:prstTxWarp>
          </a:bodyPr>
          <a:lstStyle>
            <a:lvl1pPr algn="r">
              <a:defRPr sz="1200" smtClean="0">
                <a:uFillTx/>
                <a:cs typeface="Arial" charset="0"/>
              </a:defRPr>
            </a:lvl1pPr>
          </a:lstStyle>
          <a:p>
            <a:fld id="{5AB95402-1E0D-474E-8D8C-CBE7F053639E}" type="slidenum">
              <a:rPr lang="vi-VN" smtClean="0">
                <a:uFillTx/>
              </a:rPr>
              <a:pPr/>
              <a:t>‹#›</a:t>
            </a:fld>
            <a:endParaRPr lang="vi-VN">
              <a:uFillTx/>
            </a:endParaRPr>
          </a:p>
        </p:txBody>
      </p:sp>
      <p:sp>
        <p:nvSpPr>
          <p:cNvPr id="9" name="Google Shape;10;p1">
            <a:extLst>
              <a:ext uri="{FF2B5EF4-FFF2-40B4-BE49-F238E27FC236}">
                <a16:creationId xmlns:a16="http://schemas.microsoft.com/office/drawing/2014/main" id="{368F5A4F-222F-4913-AE46-9326C7B50A9D}"/>
              </a:ext>
            </a:extLst>
          </p:cNvPr>
          <p:cNvSpPr/>
          <p:nvPr userDrawn="1"/>
        </p:nvSpPr>
        <p:spPr>
          <a:xfrm>
            <a:off x="783336" y="390700"/>
            <a:ext cx="7884368" cy="620363"/>
          </a:xfrm>
          <a:prstGeom prst="rect">
            <a:avLst/>
          </a:prstGeom>
          <a:solidFill>
            <a:srgbClr val="FF66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Verdana"/>
              <a:ea typeface="Verdana"/>
              <a:cs typeface="Verdana"/>
              <a:sym typeface="Verdana"/>
            </a:endParaRPr>
          </a:p>
        </p:txBody>
      </p:sp>
      <p:sp>
        <p:nvSpPr>
          <p:cNvPr id="10" name="Google Shape;12;p1">
            <a:extLst>
              <a:ext uri="{FF2B5EF4-FFF2-40B4-BE49-F238E27FC236}">
                <a16:creationId xmlns:a16="http://schemas.microsoft.com/office/drawing/2014/main" id="{8C550606-49E2-4351-A48B-C16B3FAF008D}"/>
              </a:ext>
            </a:extLst>
          </p:cNvPr>
          <p:cNvSpPr txBox="1">
            <a:spLocks noGrp="1"/>
          </p:cNvSpPr>
          <p:nvPr>
            <p:ph type="title"/>
          </p:nvPr>
        </p:nvSpPr>
        <p:spPr>
          <a:xfrm>
            <a:off x="846088" y="457199"/>
            <a:ext cx="7642103" cy="487363"/>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2800" b="1" i="0" u="none" strike="noStrike" cap="none">
                <a:solidFill>
                  <a:schemeClr val="lt1"/>
                </a:solidFill>
                <a:latin typeface="Cambria"/>
                <a:ea typeface="Cambria"/>
                <a:cs typeface="Cambria"/>
                <a:sym typeface="Cambria"/>
              </a:defRPr>
            </a:lvl1pPr>
            <a:lvl2pPr marR="0" lvl="1" algn="l" rtl="0">
              <a:spcBef>
                <a:spcPts val="0"/>
              </a:spcBef>
              <a:spcAft>
                <a:spcPts val="0"/>
              </a:spcAft>
              <a:buSzPts val="1400"/>
              <a:buNone/>
              <a:defRPr sz="2800" b="1" i="0" u="none" strike="noStrike" cap="none">
                <a:solidFill>
                  <a:schemeClr val="lt1"/>
                </a:solidFill>
                <a:latin typeface="Arial"/>
                <a:ea typeface="Arial"/>
                <a:cs typeface="Arial"/>
                <a:sym typeface="Arial"/>
              </a:defRPr>
            </a:lvl2pPr>
            <a:lvl3pPr marR="0" lvl="2" algn="l" rtl="0">
              <a:spcBef>
                <a:spcPts val="0"/>
              </a:spcBef>
              <a:spcAft>
                <a:spcPts val="0"/>
              </a:spcAft>
              <a:buSzPts val="1400"/>
              <a:buNone/>
              <a:defRPr sz="2800" b="1" i="0" u="none" strike="noStrike" cap="none">
                <a:solidFill>
                  <a:schemeClr val="lt1"/>
                </a:solidFill>
                <a:latin typeface="Arial"/>
                <a:ea typeface="Arial"/>
                <a:cs typeface="Arial"/>
                <a:sym typeface="Arial"/>
              </a:defRPr>
            </a:lvl3pPr>
            <a:lvl4pPr marR="0" lvl="3" algn="l" rtl="0">
              <a:spcBef>
                <a:spcPts val="0"/>
              </a:spcBef>
              <a:spcAft>
                <a:spcPts val="0"/>
              </a:spcAft>
              <a:buSzPts val="1400"/>
              <a:buNone/>
              <a:defRPr sz="2800" b="1" i="0" u="none" strike="noStrike" cap="none">
                <a:solidFill>
                  <a:schemeClr val="lt1"/>
                </a:solidFill>
                <a:latin typeface="Arial"/>
                <a:ea typeface="Arial"/>
                <a:cs typeface="Arial"/>
                <a:sym typeface="Arial"/>
              </a:defRPr>
            </a:lvl4pPr>
            <a:lvl5pPr marR="0" lvl="4" algn="l" rtl="0">
              <a:spcBef>
                <a:spcPts val="0"/>
              </a:spcBef>
              <a:spcAft>
                <a:spcPts val="0"/>
              </a:spcAft>
              <a:buSzPts val="1400"/>
              <a:buNone/>
              <a:defRPr sz="2800" b="1" i="0" u="none" strike="noStrike" cap="none">
                <a:solidFill>
                  <a:schemeClr val="lt1"/>
                </a:solidFill>
                <a:latin typeface="Arial"/>
                <a:ea typeface="Arial"/>
                <a:cs typeface="Arial"/>
                <a:sym typeface="Arial"/>
              </a:defRPr>
            </a:lvl5pPr>
            <a:lvl6pPr marR="0" lvl="5" algn="l" rtl="0">
              <a:spcBef>
                <a:spcPts val="0"/>
              </a:spcBef>
              <a:spcAft>
                <a:spcPts val="0"/>
              </a:spcAft>
              <a:buSzPts val="1400"/>
              <a:buNone/>
              <a:defRPr sz="2800" b="1" i="0" u="none" strike="noStrike" cap="none">
                <a:solidFill>
                  <a:schemeClr val="lt1"/>
                </a:solidFill>
                <a:latin typeface="Arial"/>
                <a:ea typeface="Arial"/>
                <a:cs typeface="Arial"/>
                <a:sym typeface="Arial"/>
              </a:defRPr>
            </a:lvl6pPr>
            <a:lvl7pPr marR="0" lvl="6" algn="l" rtl="0">
              <a:spcBef>
                <a:spcPts val="0"/>
              </a:spcBef>
              <a:spcAft>
                <a:spcPts val="0"/>
              </a:spcAft>
              <a:buSzPts val="1400"/>
              <a:buNone/>
              <a:defRPr sz="2800" b="1" i="0" u="none" strike="noStrike" cap="none">
                <a:solidFill>
                  <a:schemeClr val="lt1"/>
                </a:solidFill>
                <a:latin typeface="Arial"/>
                <a:ea typeface="Arial"/>
                <a:cs typeface="Arial"/>
                <a:sym typeface="Arial"/>
              </a:defRPr>
            </a:lvl7pPr>
            <a:lvl8pPr marR="0" lvl="7" algn="l" rtl="0">
              <a:spcBef>
                <a:spcPts val="0"/>
              </a:spcBef>
              <a:spcAft>
                <a:spcPts val="0"/>
              </a:spcAft>
              <a:buSzPts val="1400"/>
              <a:buNone/>
              <a:defRPr sz="2800" b="1" i="0" u="none" strike="noStrike" cap="none">
                <a:solidFill>
                  <a:schemeClr val="lt1"/>
                </a:solidFill>
                <a:latin typeface="Arial"/>
                <a:ea typeface="Arial"/>
                <a:cs typeface="Arial"/>
                <a:sym typeface="Arial"/>
              </a:defRPr>
            </a:lvl8pPr>
            <a:lvl9pPr marR="0" lvl="8" algn="l" rtl="0">
              <a:spcBef>
                <a:spcPts val="0"/>
              </a:spcBef>
              <a:spcAft>
                <a:spcPts val="0"/>
              </a:spcAft>
              <a:buSzPts val="1400"/>
              <a:buNone/>
              <a:defRPr sz="2800" b="1" i="0" u="none" strike="noStrike" cap="none">
                <a:solidFill>
                  <a:schemeClr val="lt1"/>
                </a:solidFill>
                <a:latin typeface="Arial"/>
                <a:ea typeface="Arial"/>
                <a:cs typeface="Arial"/>
                <a:sym typeface="Arial"/>
              </a:defRPr>
            </a:lvl9pPr>
          </a:lstStyle>
          <a:p>
            <a:endParaRPr/>
          </a:p>
        </p:txBody>
      </p:sp>
      <p:pic>
        <p:nvPicPr>
          <p:cNvPr id="11" name="Google Shape;22;p2">
            <a:extLst>
              <a:ext uri="{FF2B5EF4-FFF2-40B4-BE49-F238E27FC236}">
                <a16:creationId xmlns:a16="http://schemas.microsoft.com/office/drawing/2014/main" id="{F5741CB6-3C0C-4C53-BC98-9AE5D79F073E}"/>
              </a:ext>
            </a:extLst>
          </p:cNvPr>
          <p:cNvPicPr preferRelativeResize="0"/>
          <p:nvPr userDrawn="1"/>
        </p:nvPicPr>
        <p:blipFill rotWithShape="1">
          <a:blip r:embed="rId5">
            <a:alphaModFix/>
          </a:blip>
          <a:srcRect/>
          <a:stretch/>
        </p:blipFill>
        <p:spPr>
          <a:xfrm>
            <a:off x="-195064" y="0"/>
            <a:ext cx="1152128" cy="1152128"/>
          </a:xfrm>
          <a:prstGeom prst="rect">
            <a:avLst/>
          </a:prstGeom>
          <a:noFill/>
          <a:ln>
            <a:noFill/>
          </a:ln>
        </p:spPr>
      </p:pic>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Lst>
  <p:hf hdr="0"/>
  <p:txStyles>
    <p:titleStyle>
      <a:lvl1pPr algn="l" rtl="0" eaLnBrk="1" fontAlgn="base" hangingPunct="1">
        <a:spcBef>
          <a:spcPct val="0"/>
        </a:spcBef>
        <a:spcAft>
          <a:spcPct val="0"/>
        </a:spcAft>
        <a:defRPr sz="3400">
          <a:solidFill>
            <a:schemeClr val="folHlink"/>
          </a:solidFill>
          <a:uFillTx/>
          <a:latin typeface="+mj-lt"/>
          <a:ea typeface="+mj-ea"/>
          <a:cs typeface="+mj-cs"/>
        </a:defRPr>
      </a:lvl1pPr>
      <a:lvl2pPr algn="l" rtl="0" eaLnBrk="1" fontAlgn="base" hangingPunct="1">
        <a:spcBef>
          <a:spcPct val="0"/>
        </a:spcBef>
        <a:spcAft>
          <a:spcPct val="0"/>
        </a:spcAft>
        <a:defRPr sz="3400">
          <a:solidFill>
            <a:schemeClr val="folHlink"/>
          </a:solidFill>
          <a:uFillTx/>
          <a:latin typeface="Arial" charset="0"/>
          <a:cs typeface="Arial" charset="0"/>
        </a:defRPr>
      </a:lvl2pPr>
      <a:lvl3pPr algn="l" rtl="0" eaLnBrk="1" fontAlgn="base" hangingPunct="1">
        <a:spcBef>
          <a:spcPct val="0"/>
        </a:spcBef>
        <a:spcAft>
          <a:spcPct val="0"/>
        </a:spcAft>
        <a:defRPr sz="3400">
          <a:solidFill>
            <a:schemeClr val="folHlink"/>
          </a:solidFill>
          <a:uFillTx/>
          <a:latin typeface="Arial" charset="0"/>
          <a:cs typeface="Arial" charset="0"/>
        </a:defRPr>
      </a:lvl3pPr>
      <a:lvl4pPr algn="l" rtl="0" eaLnBrk="1" fontAlgn="base" hangingPunct="1">
        <a:spcBef>
          <a:spcPct val="0"/>
        </a:spcBef>
        <a:spcAft>
          <a:spcPct val="0"/>
        </a:spcAft>
        <a:defRPr sz="3400">
          <a:solidFill>
            <a:schemeClr val="folHlink"/>
          </a:solidFill>
          <a:uFillTx/>
          <a:latin typeface="Arial" charset="0"/>
          <a:cs typeface="Arial" charset="0"/>
        </a:defRPr>
      </a:lvl4pPr>
      <a:lvl5pPr algn="l" rtl="0" eaLnBrk="1" fontAlgn="base" hangingPunct="1">
        <a:spcBef>
          <a:spcPct val="0"/>
        </a:spcBef>
        <a:spcAft>
          <a:spcPct val="0"/>
        </a:spcAft>
        <a:defRPr sz="3400">
          <a:solidFill>
            <a:schemeClr val="folHlink"/>
          </a:solidFill>
          <a:uFillTx/>
          <a:latin typeface="Arial" charset="0"/>
          <a:cs typeface="Arial" charset="0"/>
        </a:defRPr>
      </a:lvl5pPr>
      <a:lvl6pPr marL="457200" algn="l" rtl="0" eaLnBrk="1" fontAlgn="base" hangingPunct="1">
        <a:spcBef>
          <a:spcPct val="0"/>
        </a:spcBef>
        <a:spcAft>
          <a:spcPct val="0"/>
        </a:spcAft>
        <a:defRPr sz="3400">
          <a:solidFill>
            <a:schemeClr val="folHlink"/>
          </a:solidFill>
          <a:uFillTx/>
          <a:latin typeface="Arial" charset="0"/>
          <a:cs typeface="Arial" charset="0"/>
        </a:defRPr>
      </a:lvl6pPr>
      <a:lvl7pPr marL="914400" algn="l" rtl="0" eaLnBrk="1" fontAlgn="base" hangingPunct="1">
        <a:spcBef>
          <a:spcPct val="0"/>
        </a:spcBef>
        <a:spcAft>
          <a:spcPct val="0"/>
        </a:spcAft>
        <a:defRPr sz="3400">
          <a:solidFill>
            <a:schemeClr val="folHlink"/>
          </a:solidFill>
          <a:uFillTx/>
          <a:latin typeface="Arial" charset="0"/>
          <a:cs typeface="Arial" charset="0"/>
        </a:defRPr>
      </a:lvl7pPr>
      <a:lvl8pPr marL="1371600" algn="l" rtl="0" eaLnBrk="1" fontAlgn="base" hangingPunct="1">
        <a:spcBef>
          <a:spcPct val="0"/>
        </a:spcBef>
        <a:spcAft>
          <a:spcPct val="0"/>
        </a:spcAft>
        <a:defRPr sz="3400">
          <a:solidFill>
            <a:schemeClr val="folHlink"/>
          </a:solidFill>
          <a:uFillTx/>
          <a:latin typeface="Arial" charset="0"/>
          <a:cs typeface="Arial" charset="0"/>
        </a:defRPr>
      </a:lvl8pPr>
      <a:lvl9pPr marL="1828800" algn="l" rtl="0" eaLnBrk="1" fontAlgn="base" hangingPunct="1">
        <a:spcBef>
          <a:spcPct val="0"/>
        </a:spcBef>
        <a:spcAft>
          <a:spcPct val="0"/>
        </a:spcAft>
        <a:defRPr sz="3400">
          <a:solidFill>
            <a:schemeClr val="folHlink"/>
          </a:solidFill>
          <a:uFillTx/>
          <a:latin typeface="Arial" charset="0"/>
          <a:cs typeface="Arial" charset="0"/>
        </a:defRPr>
      </a:lvl9pPr>
    </p:titleStyle>
    <p:bodyStyle>
      <a:lvl1pPr marL="469900" indent="-469900" algn="l" rtl="0" eaLnBrk="1" fontAlgn="base" hangingPunct="1">
        <a:spcBef>
          <a:spcPct val="20000"/>
        </a:spcBef>
        <a:spcAft>
          <a:spcPct val="0"/>
        </a:spcAft>
        <a:buClr>
          <a:schemeClr val="accent2"/>
        </a:buClr>
        <a:buFont typeface="Wingdings" pitchFamily="2" charset="2"/>
        <a:buChar char="o"/>
        <a:defRPr lang="en-GB" sz="2800" smtClean="0">
          <a:solidFill>
            <a:schemeClr val="tx1"/>
          </a:solidFill>
          <a:uFillTx/>
          <a:latin typeface="+mn-lt"/>
          <a:ea typeface="+mn-ea"/>
          <a:cs typeface="+mn-cs"/>
        </a:defRPr>
      </a:lvl1pPr>
      <a:lvl2pPr marL="908050" indent="-436563" algn="l" rtl="0" eaLnBrk="1" fontAlgn="base" hangingPunct="1">
        <a:spcBef>
          <a:spcPct val="15000"/>
        </a:spcBef>
        <a:spcAft>
          <a:spcPct val="0"/>
        </a:spcAft>
        <a:buClr>
          <a:schemeClr val="accent2"/>
        </a:buClr>
        <a:buSzPct val="80000"/>
        <a:buFont typeface="Wingdings" pitchFamily="2" charset="2"/>
        <a:buChar char="n"/>
        <a:defRPr lang="en-GB" sz="2400" smtClean="0">
          <a:solidFill>
            <a:srgbClr val="0000FF"/>
          </a:solidFill>
          <a:uFillTx/>
          <a:latin typeface="+mn-lt"/>
          <a:cs typeface="+mn-cs"/>
        </a:defRPr>
      </a:lvl2pPr>
      <a:lvl3pPr marL="1304925" indent="-395288" algn="l" rtl="0" eaLnBrk="1" fontAlgn="base" hangingPunct="1">
        <a:spcBef>
          <a:spcPct val="15000"/>
        </a:spcBef>
        <a:spcAft>
          <a:spcPct val="0"/>
        </a:spcAft>
        <a:buClr>
          <a:schemeClr val="accent2"/>
        </a:buClr>
        <a:buSzPct val="80000"/>
        <a:buFont typeface="Wingdings" pitchFamily="2" charset="2"/>
        <a:buChar char="o"/>
        <a:defRPr lang="en-GB" sz="2000" smtClean="0">
          <a:solidFill>
            <a:srgbClr val="002060"/>
          </a:solidFill>
          <a:uFillTx/>
          <a:latin typeface="+mn-lt"/>
          <a:cs typeface="+mn-cs"/>
        </a:defRPr>
      </a:lvl3pPr>
      <a:lvl4pPr marL="1693863" indent="-387350" algn="l" rtl="0" eaLnBrk="1" fontAlgn="base" hangingPunct="1">
        <a:spcBef>
          <a:spcPct val="15000"/>
        </a:spcBef>
        <a:spcAft>
          <a:spcPct val="0"/>
        </a:spcAft>
        <a:buClr>
          <a:schemeClr val="accent2"/>
        </a:buClr>
        <a:buSzPct val="80000"/>
        <a:buFont typeface="Wingdings" pitchFamily="2" charset="2"/>
        <a:buChar char="n"/>
        <a:defRPr lang="en-GB" sz="1800" smtClean="0">
          <a:solidFill>
            <a:srgbClr val="000066"/>
          </a:solidFill>
          <a:uFillTx/>
          <a:latin typeface="+mn-lt"/>
          <a:cs typeface="+mn-cs"/>
        </a:defRPr>
      </a:lvl4pPr>
      <a:lvl5pPr marL="2093913" indent="-398463" algn="l" rtl="0" eaLnBrk="1" fontAlgn="base" hangingPunct="1">
        <a:spcBef>
          <a:spcPct val="15000"/>
        </a:spcBef>
        <a:spcAft>
          <a:spcPct val="0"/>
        </a:spcAft>
        <a:buClr>
          <a:schemeClr val="accent2"/>
        </a:buClr>
        <a:buFont typeface="Wingdings" pitchFamily="2" charset="2"/>
        <a:buChar char="§"/>
        <a:defRPr sz="1400">
          <a:solidFill>
            <a:schemeClr val="accent2"/>
          </a:solidFill>
          <a:uFillTx/>
          <a:latin typeface="Tahoma" pitchFamily="34" charset="0"/>
          <a:cs typeface="+mn-cs"/>
        </a:defRPr>
      </a:lvl5pPr>
      <a:lvl6pPr marL="2551113" indent="-398463" algn="l" rtl="0" eaLnBrk="1" fontAlgn="base" hangingPunct="1">
        <a:spcBef>
          <a:spcPct val="15000"/>
        </a:spcBef>
        <a:spcAft>
          <a:spcPct val="0"/>
        </a:spcAft>
        <a:buClr>
          <a:schemeClr val="accent2"/>
        </a:buClr>
        <a:buFont typeface="Wingdings" pitchFamily="2" charset="2"/>
        <a:buChar char="§"/>
        <a:defRPr sz="1400">
          <a:solidFill>
            <a:schemeClr val="accent2"/>
          </a:solidFill>
          <a:uFillTx/>
          <a:latin typeface="Tahoma" pitchFamily="34" charset="0"/>
          <a:cs typeface="+mn-cs"/>
        </a:defRPr>
      </a:lvl6pPr>
      <a:lvl7pPr marL="3008313" indent="-398463" algn="l" rtl="0" eaLnBrk="1" fontAlgn="base" hangingPunct="1">
        <a:spcBef>
          <a:spcPct val="15000"/>
        </a:spcBef>
        <a:spcAft>
          <a:spcPct val="0"/>
        </a:spcAft>
        <a:buClr>
          <a:schemeClr val="accent2"/>
        </a:buClr>
        <a:buFont typeface="Wingdings" pitchFamily="2" charset="2"/>
        <a:buChar char="§"/>
        <a:defRPr sz="1400">
          <a:solidFill>
            <a:schemeClr val="accent2"/>
          </a:solidFill>
          <a:uFillTx/>
          <a:latin typeface="Tahoma" pitchFamily="34" charset="0"/>
          <a:cs typeface="+mn-cs"/>
        </a:defRPr>
      </a:lvl7pPr>
      <a:lvl8pPr marL="3465513" indent="-398463" algn="l" rtl="0" eaLnBrk="1" fontAlgn="base" hangingPunct="1">
        <a:spcBef>
          <a:spcPct val="15000"/>
        </a:spcBef>
        <a:spcAft>
          <a:spcPct val="0"/>
        </a:spcAft>
        <a:buClr>
          <a:schemeClr val="accent2"/>
        </a:buClr>
        <a:buFont typeface="Wingdings" pitchFamily="2" charset="2"/>
        <a:buChar char="§"/>
        <a:defRPr sz="1400">
          <a:solidFill>
            <a:schemeClr val="accent2"/>
          </a:solidFill>
          <a:uFillTx/>
          <a:latin typeface="Tahoma" pitchFamily="34" charset="0"/>
          <a:cs typeface="+mn-cs"/>
        </a:defRPr>
      </a:lvl8pPr>
      <a:lvl9pPr marL="3922713" indent="-398463" algn="l" rtl="0" eaLnBrk="1" fontAlgn="base" hangingPunct="1">
        <a:spcBef>
          <a:spcPct val="15000"/>
        </a:spcBef>
        <a:spcAft>
          <a:spcPct val="0"/>
        </a:spcAft>
        <a:buClr>
          <a:schemeClr val="accent2"/>
        </a:buClr>
        <a:buFont typeface="Wingdings" pitchFamily="2" charset="2"/>
        <a:buChar char="§"/>
        <a:defRPr sz="1400">
          <a:solidFill>
            <a:schemeClr val="accent2"/>
          </a:solidFill>
          <a:uFillTx/>
          <a:latin typeface="Tahoma" pitchFamily="34" charset="0"/>
          <a:cs typeface="+mn-cs"/>
        </a:defRPr>
      </a:lvl9pPr>
    </p:bodyStyle>
    <p:otherStyle>
      <a:defPPr>
        <a:defRPr lang="en-US">
          <a:uFillTx/>
        </a:defRPr>
      </a:defPPr>
      <a:lvl1pPr marL="0" algn="l" defTabSz="914400" rtl="0" eaLnBrk="1" latinLnBrk="0" hangingPunct="1">
        <a:defRPr sz="1800" kern="1200">
          <a:solidFill>
            <a:schemeClr val="tx1"/>
          </a:solidFill>
          <a:uFillTx/>
          <a:latin typeface="+mn-lt"/>
          <a:ea typeface="+mn-ea"/>
          <a:cs typeface="+mn-cs"/>
        </a:defRPr>
      </a:lvl1pPr>
      <a:lvl2pPr marL="457200" algn="l" defTabSz="914400" rtl="0" eaLnBrk="1" latinLnBrk="0" hangingPunct="1">
        <a:defRPr sz="1800" kern="1200">
          <a:solidFill>
            <a:schemeClr val="tx1"/>
          </a:solidFill>
          <a:uFillTx/>
          <a:latin typeface="+mn-lt"/>
          <a:ea typeface="+mn-ea"/>
          <a:cs typeface="+mn-cs"/>
        </a:defRPr>
      </a:lvl2pPr>
      <a:lvl3pPr marL="914400" algn="l" defTabSz="914400" rtl="0" eaLnBrk="1" latinLnBrk="0" hangingPunct="1">
        <a:defRPr sz="1800" kern="1200">
          <a:solidFill>
            <a:schemeClr val="tx1"/>
          </a:solidFill>
          <a:uFillTx/>
          <a:latin typeface="+mn-lt"/>
          <a:ea typeface="+mn-ea"/>
          <a:cs typeface="+mn-cs"/>
        </a:defRPr>
      </a:lvl3pPr>
      <a:lvl4pPr marL="1371600" algn="l" defTabSz="914400" rtl="0" eaLnBrk="1" latinLnBrk="0" hangingPunct="1">
        <a:defRPr sz="1800" kern="1200">
          <a:solidFill>
            <a:schemeClr val="tx1"/>
          </a:solidFill>
          <a:uFillTx/>
          <a:latin typeface="+mn-lt"/>
          <a:ea typeface="+mn-ea"/>
          <a:cs typeface="+mn-cs"/>
        </a:defRPr>
      </a:lvl4pPr>
      <a:lvl5pPr marL="1828800" algn="l" defTabSz="914400" rtl="0" eaLnBrk="1" latinLnBrk="0" hangingPunct="1">
        <a:defRPr sz="1800" kern="1200">
          <a:solidFill>
            <a:schemeClr val="tx1"/>
          </a:solidFill>
          <a:uFillTx/>
          <a:latin typeface="+mn-lt"/>
          <a:ea typeface="+mn-ea"/>
          <a:cs typeface="+mn-cs"/>
        </a:defRPr>
      </a:lvl5pPr>
      <a:lvl6pPr marL="2286000" algn="l" defTabSz="914400" rtl="0" eaLnBrk="1" latinLnBrk="0" hangingPunct="1">
        <a:defRPr sz="1800" kern="1200">
          <a:solidFill>
            <a:schemeClr val="tx1"/>
          </a:solidFill>
          <a:uFillTx/>
          <a:latin typeface="+mn-lt"/>
          <a:ea typeface="+mn-ea"/>
          <a:cs typeface="+mn-cs"/>
        </a:defRPr>
      </a:lvl6pPr>
      <a:lvl7pPr marL="2743200" algn="l" defTabSz="914400" rtl="0" eaLnBrk="1" latinLnBrk="0" hangingPunct="1">
        <a:defRPr sz="1800" kern="1200">
          <a:solidFill>
            <a:schemeClr val="tx1"/>
          </a:solidFill>
          <a:uFillTx/>
          <a:latin typeface="+mn-lt"/>
          <a:ea typeface="+mn-ea"/>
          <a:cs typeface="+mn-cs"/>
        </a:defRPr>
      </a:lvl7pPr>
      <a:lvl8pPr marL="3200400" algn="l" defTabSz="914400" rtl="0" eaLnBrk="1" latinLnBrk="0" hangingPunct="1">
        <a:defRPr sz="1800" kern="1200">
          <a:solidFill>
            <a:schemeClr val="tx1"/>
          </a:solidFill>
          <a:uFillTx/>
          <a:latin typeface="+mn-lt"/>
          <a:ea typeface="+mn-ea"/>
          <a:cs typeface="+mn-cs"/>
        </a:defRPr>
      </a:lvl8pPr>
      <a:lvl9pPr marL="3657600" algn="l" defTabSz="914400" rtl="0" eaLnBrk="1" latinLnBrk="0" hangingPunct="1">
        <a:defRPr sz="1800" kern="1200">
          <a:solidFill>
            <a:schemeClr val="tx1"/>
          </a:solidFill>
          <a:uFillTx/>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1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2.xml"/><Relationship Id="rId1" Type="http://schemas.openxmlformats.org/officeDocument/2006/relationships/slideLayout" Target="../slideLayouts/slideLayout2.xml"/><Relationship Id="rId5" Type="http://schemas.openxmlformats.org/officeDocument/2006/relationships/image" Target="../media/image10.png"/><Relationship Id="rId4" Type="http://schemas.openxmlformats.org/officeDocument/2006/relationships/image" Target="../media/image9.png"/></Relationships>
</file>

<file path=ppt/slides/_rels/slide1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1.xml"/><Relationship Id="rId1" Type="http://schemas.openxmlformats.org/officeDocument/2006/relationships/slideLayout" Target="../slideLayouts/slideLayout2.xml"/><Relationship Id="rId5" Type="http://schemas.openxmlformats.org/officeDocument/2006/relationships/image" Target="../media/image18.png"/><Relationship Id="rId4" Type="http://schemas.openxmlformats.org/officeDocument/2006/relationships/image" Target="../media/image17.png"/></Relationships>
</file>

<file path=ppt/slides/_rels/slide2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4.xml"/><Relationship Id="rId1" Type="http://schemas.openxmlformats.org/officeDocument/2006/relationships/slideLayout" Target="../slideLayouts/slideLayout2.xml"/><Relationship Id="rId4" Type="http://schemas.openxmlformats.org/officeDocument/2006/relationships/image" Target="../media/image24.png"/></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2590800"/>
            <a:ext cx="9144000" cy="990600"/>
          </a:xfrm>
          <a:prstGeom prst="rect">
            <a:avLst/>
          </a:prstGeom>
        </p:spPr>
        <p:txBody>
          <a:bodyPr/>
          <a:lstStyle/>
          <a:p>
            <a:r>
              <a:rPr lang="en-US">
                <a:solidFill>
                  <a:srgbClr val="002060"/>
                </a:solidFill>
                <a:uFillTx/>
              </a:rPr>
              <a:t>Chương 3</a:t>
            </a:r>
            <a:br>
              <a:rPr lang="en-US">
                <a:solidFill>
                  <a:srgbClr val="002060"/>
                </a:solidFill>
                <a:uFillTx/>
              </a:rPr>
            </a:br>
            <a:r>
              <a:rPr lang="en-US">
                <a:solidFill>
                  <a:srgbClr val="002060"/>
                </a:solidFill>
                <a:uFillTx/>
              </a:rPr>
              <a:t>LẬP TRÌNH HƯỚNG ĐỐI TƯỢNG</a:t>
            </a:r>
            <a:br>
              <a:rPr lang="en-US">
                <a:solidFill>
                  <a:srgbClr val="002060"/>
                </a:solidFill>
                <a:uFillTx/>
              </a:rPr>
            </a:br>
            <a:r>
              <a:rPr lang="en-US">
                <a:solidFill>
                  <a:srgbClr val="002060"/>
                </a:solidFill>
                <a:uFillTx/>
              </a:rPr>
              <a:t>TRONG C#</a:t>
            </a:r>
            <a:endParaRPr lang="vi-VN">
              <a:solidFill>
                <a:srgbClr val="002060"/>
              </a:solidFill>
              <a:uFillTx/>
            </a:endParaRPr>
          </a:p>
        </p:txBody>
      </p:sp>
      <p:sp>
        <p:nvSpPr>
          <p:cNvPr id="4" name="Subtitle 3"/>
          <p:cNvSpPr>
            <a:spLocks noGrp="1"/>
          </p:cNvSpPr>
          <p:nvPr>
            <p:ph type="subTitle" idx="1"/>
          </p:nvPr>
        </p:nvSpPr>
        <p:spPr/>
        <p:txBody>
          <a:bodyPr/>
          <a:lstStyle/>
          <a:p>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Title 1"/>
          <p:cNvSpPr>
            <a:spLocks noGrp="1"/>
          </p:cNvSpPr>
          <p:nvPr>
            <p:ph type="title"/>
          </p:nvPr>
        </p:nvSpPr>
        <p:spPr>
          <a:xfrm>
            <a:off x="899592" y="346744"/>
            <a:ext cx="8382000" cy="685800"/>
          </a:xfrm>
        </p:spPr>
        <p:txBody>
          <a:bodyPr/>
          <a:lstStyle/>
          <a:p>
            <a:r>
              <a:rPr lang="en-US">
                <a:uFillTx/>
              </a:rPr>
              <a:t>Nội dung</a:t>
            </a:r>
          </a:p>
        </p:txBody>
      </p:sp>
      <p:sp>
        <p:nvSpPr>
          <p:cNvPr id="2" name="Date Placeholder 1"/>
          <p:cNvSpPr>
            <a:spLocks noGrp="1"/>
          </p:cNvSpPr>
          <p:nvPr>
            <p:ph type="dt" sz="half" idx="10"/>
          </p:nvPr>
        </p:nvSpPr>
        <p:spPr/>
        <p:txBody>
          <a:bodyPr/>
          <a:lstStyle/>
          <a:p>
            <a:fld id="{DB3982DE-7BF5-4E80-A0F4-D4DEBDFAD6A5}" type="datetime1">
              <a:rPr lang="vi-VN" smtClean="0">
                <a:uFillTx/>
              </a:rPr>
              <a:t>08/02/2025</a:t>
            </a:fld>
            <a:endParaRPr lang="vi-VN">
              <a:uFillTx/>
            </a:endParaRPr>
          </a:p>
        </p:txBody>
      </p:sp>
      <p:sp>
        <p:nvSpPr>
          <p:cNvPr id="16387" name="Footer Placeholder 3"/>
          <p:cNvSpPr>
            <a:spLocks noGrp="1"/>
          </p:cNvSpPr>
          <p:nvPr>
            <p:ph type="ftr" sz="quarter" idx="11"/>
          </p:nvPr>
        </p:nvSpPr>
        <p:spPr>
          <a:xfrm>
            <a:off x="2746676" y="6400800"/>
            <a:ext cx="3962400" cy="320675"/>
          </a:xfrm>
          <a:noFill/>
        </p:spPr>
        <p:txBody>
          <a:bodyPr/>
          <a:lstStyle/>
          <a:p>
            <a:r>
              <a:rPr lang="vi-VN">
                <a:uFillTx/>
              </a:rPr>
              <a:t>Chương 3. Lập trình hướng đối tượng trong C#</a:t>
            </a:r>
            <a:endParaRPr lang="en-US">
              <a:uFillTx/>
            </a:endParaRPr>
          </a:p>
        </p:txBody>
      </p:sp>
      <p:grpSp>
        <p:nvGrpSpPr>
          <p:cNvPr id="59" name="Group 61"/>
          <p:cNvGrpSpPr/>
          <p:nvPr/>
        </p:nvGrpSpPr>
        <p:grpSpPr>
          <a:xfrm>
            <a:off x="2111414" y="1905336"/>
            <a:ext cx="4724400" cy="685800"/>
            <a:chOff x="1296" y="1824"/>
            <a:chExt cx="2976" cy="432"/>
          </a:xfrm>
        </p:grpSpPr>
        <p:sp>
          <p:nvSpPr>
            <p:cNvPr id="60" name="AutoShape 62"/>
            <p:cNvSpPr>
              <a:spLocks noChangeArrowheads="1"/>
            </p:cNvSpPr>
            <p:nvPr/>
          </p:nvSpPr>
          <p:spPr bwMode="gray">
            <a:xfrm>
              <a:off x="1536" y="1899"/>
              <a:ext cx="2736" cy="288"/>
            </a:xfrm>
            <a:prstGeom prst="roundRect">
              <a:avLst>
                <a:gd name="adj" fmla="val 16667"/>
              </a:avLst>
            </a:prstGeom>
            <a:gradFill rotWithShape="1">
              <a:gsLst>
                <a:gs pos="0">
                  <a:srgbClr val="A0B5C4">
                    <a:tint val="21176"/>
                  </a:srgbClr>
                </a:gs>
                <a:gs pos="100000">
                  <a:srgbClr val="A0B5C4"/>
                </a:gs>
              </a:gsLst>
              <a:lin ang="0" scaled="1"/>
            </a:gradFill>
            <a:ln w="12700" algn="ctr">
              <a:solidFill>
                <a:srgbClr val="FFFFFF"/>
              </a:solidFill>
              <a:round/>
            </a:ln>
            <a:effectLst>
              <a:outerShdw dist="99190" dir="2388334" algn="ctr" rotWithShape="0">
                <a:srgbClr val="333333">
                  <a:alpha val="50000"/>
                </a:srgbClr>
              </a:outerShdw>
            </a:effectLst>
          </p:spPr>
          <p:txBody>
            <a:bodyPr wrap="none" anchor="ctr"/>
            <a:lstStyle/>
            <a:p>
              <a:pPr marL="0" marR="0" lvl="0" indent="0" defTabSz="914400" eaLnBrk="1" fontAlgn="base" latinLnBrk="0" hangingPunct="1">
                <a:lnSpc>
                  <a:spcPct val="100000"/>
                </a:lnSpc>
                <a:spcBef>
                  <a:spcPct val="0"/>
                </a:spcBef>
                <a:spcAft>
                  <a:spcPct val="0"/>
                </a:spcAft>
                <a:buFontTx/>
                <a:buNone/>
                <a:defRPr>
                  <a:uFillTx/>
                </a:defRPr>
              </a:pPr>
              <a:endParaRPr kumimoji="0" lang="en-US" sz="1800" b="0" i="0" u="none" strike="noStrike" kern="0" cap="none" spc="0" normalizeH="0" baseline="0" noProof="0">
                <a:ln>
                  <a:noFill/>
                </a:ln>
                <a:solidFill>
                  <a:srgbClr val="003366"/>
                </a:solidFill>
                <a:effectLst/>
                <a:uFillTx/>
                <a:latin typeface="Arial" charset="0"/>
                <a:cs typeface="Arial" charset="0"/>
              </a:endParaRPr>
            </a:p>
          </p:txBody>
        </p:sp>
        <p:sp>
          <p:nvSpPr>
            <p:cNvPr id="61" name="AutoShape 63"/>
            <p:cNvSpPr>
              <a:spLocks noChangeArrowheads="1"/>
            </p:cNvSpPr>
            <p:nvPr/>
          </p:nvSpPr>
          <p:spPr bwMode="gray">
            <a:xfrm>
              <a:off x="1296" y="1824"/>
              <a:ext cx="432" cy="432"/>
            </a:xfrm>
            <a:prstGeom prst="diamond">
              <a:avLst/>
            </a:prstGeom>
            <a:solidFill>
              <a:srgbClr val="A0B5C4"/>
            </a:solidFill>
            <a:ln w="25400" algn="ctr">
              <a:solidFill>
                <a:srgbClr val="FFFFFF"/>
              </a:solidFill>
              <a:miter lim="800000"/>
            </a:ln>
            <a:effectLst>
              <a:outerShdw dist="63500" dir="2212194" algn="ctr" rotWithShape="0">
                <a:srgbClr val="333333">
                  <a:alpha val="50000"/>
                </a:srgbClr>
              </a:outerShdw>
            </a:effectLst>
          </p:spPr>
          <p:txBody>
            <a:bodyPr wrap="none" anchor="ctr"/>
            <a:lstStyle/>
            <a:p>
              <a:pPr marL="0" marR="0" lvl="0" indent="0" defTabSz="914400" eaLnBrk="1" fontAlgn="base" latinLnBrk="0" hangingPunct="1">
                <a:lnSpc>
                  <a:spcPct val="100000"/>
                </a:lnSpc>
                <a:spcBef>
                  <a:spcPct val="0"/>
                </a:spcBef>
                <a:spcAft>
                  <a:spcPct val="0"/>
                </a:spcAft>
                <a:buFontTx/>
                <a:buNone/>
                <a:defRPr>
                  <a:uFillTx/>
                </a:defRPr>
              </a:pPr>
              <a:endParaRPr kumimoji="0" lang="en-US" sz="1800" b="0" i="0" u="none" strike="noStrike" kern="0" cap="none" spc="0" normalizeH="0" baseline="0" noProof="0">
                <a:ln>
                  <a:noFill/>
                </a:ln>
                <a:solidFill>
                  <a:srgbClr val="003366"/>
                </a:solidFill>
                <a:effectLst/>
                <a:uFillTx/>
                <a:latin typeface="Arial" charset="0"/>
                <a:cs typeface="Arial" charset="0"/>
              </a:endParaRPr>
            </a:p>
          </p:txBody>
        </p:sp>
        <p:sp>
          <p:nvSpPr>
            <p:cNvPr id="62" name="Text Box 64"/>
            <p:cNvSpPr txBox="1">
              <a:spLocks noChangeArrowheads="1"/>
            </p:cNvSpPr>
            <p:nvPr/>
          </p:nvSpPr>
          <p:spPr bwMode="gray">
            <a:xfrm>
              <a:off x="1824" y="1934"/>
              <a:ext cx="2448" cy="233"/>
            </a:xfrm>
            <a:prstGeom prst="rect">
              <a:avLst/>
            </a:prstGeom>
            <a:noFill/>
            <a:ln w="9525" algn="ctr">
              <a:noFill/>
              <a:miter lim="800000"/>
            </a:ln>
          </p:spPr>
          <p:txBody>
            <a:bodyPr>
              <a:spAutoFit/>
            </a:bodyPr>
            <a:lstStyle/>
            <a:p>
              <a:pPr marL="0" marR="0" lvl="0" indent="0" defTabSz="914400" eaLnBrk="0" fontAlgn="base" latinLnBrk="0" hangingPunct="0">
                <a:lnSpc>
                  <a:spcPct val="100000"/>
                </a:lnSpc>
                <a:spcBef>
                  <a:spcPct val="0"/>
                </a:spcBef>
                <a:spcAft>
                  <a:spcPct val="0"/>
                </a:spcAft>
                <a:buFontTx/>
                <a:buNone/>
                <a:defRPr>
                  <a:uFillTx/>
                </a:defRPr>
              </a:pPr>
              <a:r>
                <a:rPr kumimoji="0" lang="en-US" sz="1800" b="1" i="0" u="none" strike="noStrike" kern="0" cap="none" spc="0" normalizeH="0" baseline="0" noProof="0">
                  <a:ln>
                    <a:noFill/>
                  </a:ln>
                  <a:solidFill>
                    <a:srgbClr val="000000"/>
                  </a:solidFill>
                  <a:effectLst/>
                  <a:uFillTx/>
                  <a:latin typeface="Arial" charset="0"/>
                  <a:cs typeface="Arial" charset="0"/>
                </a:rPr>
                <a:t>Mảng</a:t>
              </a:r>
            </a:p>
          </p:txBody>
        </p:sp>
        <p:sp>
          <p:nvSpPr>
            <p:cNvPr id="63" name="Text Box 65"/>
            <p:cNvSpPr txBox="1">
              <a:spLocks noChangeArrowheads="1"/>
            </p:cNvSpPr>
            <p:nvPr/>
          </p:nvSpPr>
          <p:spPr bwMode="gray">
            <a:xfrm>
              <a:off x="1392" y="1886"/>
              <a:ext cx="224" cy="291"/>
            </a:xfrm>
            <a:prstGeom prst="rect">
              <a:avLst/>
            </a:prstGeom>
            <a:noFill/>
            <a:ln w="9525" algn="ctr">
              <a:noFill/>
              <a:miter lim="800000"/>
            </a:ln>
          </p:spPr>
          <p:txBody>
            <a:bodyPr wrap="none">
              <a:spAutoFit/>
            </a:bodyPr>
            <a:lstStyle/>
            <a:p>
              <a:pPr marL="0" marR="0" lvl="0" indent="0" algn="ctr" defTabSz="914400" eaLnBrk="0" fontAlgn="base" latinLnBrk="0" hangingPunct="0">
                <a:lnSpc>
                  <a:spcPct val="100000"/>
                </a:lnSpc>
                <a:spcBef>
                  <a:spcPct val="0"/>
                </a:spcBef>
                <a:spcAft>
                  <a:spcPct val="0"/>
                </a:spcAft>
                <a:buFontTx/>
                <a:buNone/>
                <a:defRPr>
                  <a:uFillTx/>
                </a:defRPr>
              </a:pPr>
              <a:r>
                <a:rPr lang="en-US" sz="2400" kern="0">
                  <a:solidFill>
                    <a:srgbClr val="FFFFFF"/>
                  </a:solidFill>
                  <a:latin typeface="Arial" charset="0"/>
                  <a:cs typeface="Arial" charset="0"/>
                </a:rPr>
                <a:t>3</a:t>
              </a:r>
              <a:endParaRPr kumimoji="0" lang="en-US" sz="2400" b="0" i="0" u="none" strike="noStrike" kern="0" cap="none" spc="0" normalizeH="0" baseline="0" noProof="0">
                <a:ln>
                  <a:noFill/>
                </a:ln>
                <a:solidFill>
                  <a:srgbClr val="FFFFFF"/>
                </a:solidFill>
                <a:effectLst/>
                <a:uFillTx/>
                <a:latin typeface="Arial" charset="0"/>
                <a:cs typeface="Arial" charset="0"/>
              </a:endParaRPr>
            </a:p>
          </p:txBody>
        </p:sp>
      </p:grpSp>
      <p:grpSp>
        <p:nvGrpSpPr>
          <p:cNvPr id="27" name="Group 46"/>
          <p:cNvGrpSpPr/>
          <p:nvPr/>
        </p:nvGrpSpPr>
        <p:grpSpPr>
          <a:xfrm>
            <a:off x="2129670" y="2587688"/>
            <a:ext cx="4724400" cy="685800"/>
            <a:chOff x="1296" y="1824"/>
            <a:chExt cx="2976" cy="432"/>
          </a:xfrm>
        </p:grpSpPr>
        <p:sp>
          <p:nvSpPr>
            <p:cNvPr id="28" name="AutoShape 47"/>
            <p:cNvSpPr>
              <a:spLocks noChangeArrowheads="1"/>
            </p:cNvSpPr>
            <p:nvPr/>
          </p:nvSpPr>
          <p:spPr bwMode="gray">
            <a:xfrm>
              <a:off x="1536" y="1899"/>
              <a:ext cx="2736" cy="288"/>
            </a:xfrm>
            <a:prstGeom prst="roundRect">
              <a:avLst>
                <a:gd name="adj" fmla="val 16667"/>
              </a:avLst>
            </a:prstGeom>
            <a:gradFill rotWithShape="1">
              <a:gsLst>
                <a:gs pos="0">
                  <a:srgbClr val="85BA54">
                    <a:tint val="21176"/>
                  </a:srgbClr>
                </a:gs>
                <a:gs pos="100000">
                  <a:srgbClr val="85BA54"/>
                </a:gs>
              </a:gsLst>
              <a:lin ang="0" scaled="1"/>
            </a:gradFill>
            <a:ln w="12700" algn="ctr">
              <a:solidFill>
                <a:srgbClr val="FFFFFF"/>
              </a:solidFill>
              <a:round/>
            </a:ln>
            <a:effectLst>
              <a:outerShdw dist="99190" dir="2388334" algn="ctr" rotWithShape="0">
                <a:srgbClr val="333333">
                  <a:alpha val="50000"/>
                </a:srgbClr>
              </a:outerShdw>
            </a:effectLst>
          </p:spPr>
          <p:txBody>
            <a:bodyPr wrap="none" anchor="ctr"/>
            <a:lstStyle/>
            <a:p>
              <a:pPr marL="0" marR="0" lvl="0" indent="0" defTabSz="914400" eaLnBrk="1" fontAlgn="base" latinLnBrk="0" hangingPunct="1">
                <a:lnSpc>
                  <a:spcPct val="100000"/>
                </a:lnSpc>
                <a:spcBef>
                  <a:spcPct val="0"/>
                </a:spcBef>
                <a:spcAft>
                  <a:spcPct val="0"/>
                </a:spcAft>
                <a:buFontTx/>
                <a:buNone/>
                <a:defRPr>
                  <a:uFillTx/>
                </a:defRPr>
              </a:pPr>
              <a:endParaRPr kumimoji="0" lang="en-US" sz="1800" b="0" i="0" u="none" strike="noStrike" kern="0" cap="none" spc="0" normalizeH="0" baseline="0" noProof="0">
                <a:ln>
                  <a:noFill/>
                </a:ln>
                <a:solidFill>
                  <a:srgbClr val="003366"/>
                </a:solidFill>
                <a:effectLst/>
                <a:uFillTx/>
                <a:latin typeface="Arial" charset="0"/>
                <a:cs typeface="Arial" charset="0"/>
              </a:endParaRPr>
            </a:p>
          </p:txBody>
        </p:sp>
        <p:sp>
          <p:nvSpPr>
            <p:cNvPr id="29" name="AutoShape 48"/>
            <p:cNvSpPr>
              <a:spLocks noChangeArrowheads="1"/>
            </p:cNvSpPr>
            <p:nvPr/>
          </p:nvSpPr>
          <p:spPr bwMode="gray">
            <a:xfrm>
              <a:off x="1296" y="1824"/>
              <a:ext cx="432" cy="432"/>
            </a:xfrm>
            <a:prstGeom prst="diamond">
              <a:avLst/>
            </a:prstGeom>
            <a:solidFill>
              <a:srgbClr val="85BA54"/>
            </a:solidFill>
            <a:ln w="25400" algn="ctr">
              <a:solidFill>
                <a:srgbClr val="FFFFFF"/>
              </a:solidFill>
              <a:miter lim="800000"/>
            </a:ln>
            <a:effectLst>
              <a:outerShdw dist="63500" dir="2212194" algn="ctr" rotWithShape="0">
                <a:srgbClr val="333333">
                  <a:alpha val="50000"/>
                </a:srgbClr>
              </a:outerShdw>
            </a:effectLst>
          </p:spPr>
          <p:txBody>
            <a:bodyPr wrap="none" anchor="ctr"/>
            <a:lstStyle/>
            <a:p>
              <a:pPr marL="0" marR="0" lvl="0" indent="0" defTabSz="914400" eaLnBrk="1" fontAlgn="base" latinLnBrk="0" hangingPunct="1">
                <a:lnSpc>
                  <a:spcPct val="100000"/>
                </a:lnSpc>
                <a:spcBef>
                  <a:spcPct val="0"/>
                </a:spcBef>
                <a:spcAft>
                  <a:spcPct val="0"/>
                </a:spcAft>
                <a:buFontTx/>
                <a:buNone/>
                <a:defRPr>
                  <a:uFillTx/>
                </a:defRPr>
              </a:pPr>
              <a:endParaRPr kumimoji="0" lang="en-US" sz="1800" b="0" i="0" u="none" strike="noStrike" kern="0" cap="none" spc="0" normalizeH="0" baseline="0" noProof="0">
                <a:ln>
                  <a:noFill/>
                </a:ln>
                <a:solidFill>
                  <a:srgbClr val="003366"/>
                </a:solidFill>
                <a:effectLst/>
                <a:uFillTx/>
                <a:latin typeface="Arial" charset="0"/>
                <a:cs typeface="Arial" charset="0"/>
              </a:endParaRPr>
            </a:p>
          </p:txBody>
        </p:sp>
        <p:sp>
          <p:nvSpPr>
            <p:cNvPr id="30" name="Text Box 49"/>
            <p:cNvSpPr txBox="1">
              <a:spLocks noChangeArrowheads="1"/>
            </p:cNvSpPr>
            <p:nvPr/>
          </p:nvSpPr>
          <p:spPr bwMode="gray">
            <a:xfrm>
              <a:off x="1824" y="1934"/>
              <a:ext cx="2448" cy="233"/>
            </a:xfrm>
            <a:prstGeom prst="rect">
              <a:avLst/>
            </a:prstGeom>
            <a:noFill/>
            <a:ln w="9525" algn="ctr">
              <a:noFill/>
              <a:miter lim="800000"/>
            </a:ln>
          </p:spPr>
          <p:txBody>
            <a:bodyPr>
              <a:spAutoFit/>
            </a:bodyPr>
            <a:lstStyle/>
            <a:p>
              <a:pPr marL="0" marR="0" lvl="0" indent="0" defTabSz="914400" eaLnBrk="0" fontAlgn="base" latinLnBrk="0" hangingPunct="0">
                <a:lnSpc>
                  <a:spcPct val="100000"/>
                </a:lnSpc>
                <a:spcBef>
                  <a:spcPct val="0"/>
                </a:spcBef>
                <a:spcAft>
                  <a:spcPct val="0"/>
                </a:spcAft>
                <a:buFontTx/>
                <a:buNone/>
                <a:defRPr>
                  <a:uFillTx/>
                </a:defRPr>
              </a:pPr>
              <a:r>
                <a:rPr lang="en-US" b="1" kern="0">
                  <a:solidFill>
                    <a:srgbClr val="000000"/>
                  </a:solidFill>
                  <a:uFillTx/>
                  <a:latin typeface="Arial" charset="0"/>
                  <a:cs typeface="Arial" charset="0"/>
                </a:rPr>
                <a:t>Danh sách</a:t>
              </a:r>
              <a:endParaRPr kumimoji="0" lang="en-US" sz="1800" b="1" i="0" u="none" strike="noStrike" kern="0" cap="none" spc="0" normalizeH="0" baseline="0" noProof="0">
                <a:ln>
                  <a:noFill/>
                </a:ln>
                <a:solidFill>
                  <a:srgbClr val="000000"/>
                </a:solidFill>
                <a:effectLst/>
                <a:uFillTx/>
                <a:latin typeface="Arial" charset="0"/>
                <a:cs typeface="Arial" charset="0"/>
              </a:endParaRPr>
            </a:p>
          </p:txBody>
        </p:sp>
        <p:sp>
          <p:nvSpPr>
            <p:cNvPr id="31" name="Text Box 50"/>
            <p:cNvSpPr txBox="1">
              <a:spLocks noChangeArrowheads="1"/>
            </p:cNvSpPr>
            <p:nvPr/>
          </p:nvSpPr>
          <p:spPr bwMode="gray">
            <a:xfrm>
              <a:off x="1392" y="1886"/>
              <a:ext cx="224" cy="291"/>
            </a:xfrm>
            <a:prstGeom prst="rect">
              <a:avLst/>
            </a:prstGeom>
            <a:noFill/>
            <a:ln w="9525" algn="ctr">
              <a:noFill/>
              <a:miter lim="800000"/>
            </a:ln>
          </p:spPr>
          <p:txBody>
            <a:bodyPr wrap="none">
              <a:spAutoFit/>
            </a:bodyPr>
            <a:lstStyle/>
            <a:p>
              <a:pPr marL="0" marR="0" lvl="0" indent="0" algn="ctr" defTabSz="914400" eaLnBrk="0" fontAlgn="base" latinLnBrk="0" hangingPunct="0">
                <a:lnSpc>
                  <a:spcPct val="100000"/>
                </a:lnSpc>
                <a:spcBef>
                  <a:spcPct val="0"/>
                </a:spcBef>
                <a:spcAft>
                  <a:spcPct val="0"/>
                </a:spcAft>
                <a:buFontTx/>
                <a:buNone/>
                <a:defRPr>
                  <a:uFillTx/>
                </a:defRPr>
              </a:pPr>
              <a:r>
                <a:rPr lang="en-US" sz="2400" kern="0">
                  <a:solidFill>
                    <a:srgbClr val="FFFFFF"/>
                  </a:solidFill>
                  <a:latin typeface="Arial" charset="0"/>
                  <a:cs typeface="Arial" charset="0"/>
                </a:rPr>
                <a:t>4</a:t>
              </a:r>
              <a:endParaRPr kumimoji="0" lang="en-US" sz="2400" b="0" i="0" u="none" strike="noStrike" kern="0" cap="none" spc="0" normalizeH="0" baseline="0" noProof="0">
                <a:ln>
                  <a:noFill/>
                </a:ln>
                <a:solidFill>
                  <a:srgbClr val="FFFFFF"/>
                </a:solidFill>
                <a:effectLst/>
                <a:uFillTx/>
                <a:latin typeface="Arial" charset="0"/>
                <a:cs typeface="Arial" charset="0"/>
              </a:endParaRPr>
            </a:p>
          </p:txBody>
        </p:sp>
      </p:grpSp>
      <p:grpSp>
        <p:nvGrpSpPr>
          <p:cNvPr id="32" name="Group 51"/>
          <p:cNvGrpSpPr/>
          <p:nvPr/>
        </p:nvGrpSpPr>
        <p:grpSpPr>
          <a:xfrm>
            <a:off x="2121810" y="3329717"/>
            <a:ext cx="4724400" cy="685800"/>
            <a:chOff x="1296" y="1824"/>
            <a:chExt cx="2976" cy="432"/>
          </a:xfrm>
        </p:grpSpPr>
        <p:sp>
          <p:nvSpPr>
            <p:cNvPr id="33" name="AutoShape 52"/>
            <p:cNvSpPr>
              <a:spLocks noChangeArrowheads="1"/>
            </p:cNvSpPr>
            <p:nvPr/>
          </p:nvSpPr>
          <p:spPr bwMode="gray">
            <a:xfrm>
              <a:off x="1536" y="1899"/>
              <a:ext cx="2736" cy="288"/>
            </a:xfrm>
            <a:prstGeom prst="roundRect">
              <a:avLst>
                <a:gd name="adj" fmla="val 16667"/>
              </a:avLst>
            </a:prstGeom>
            <a:gradFill rotWithShape="1">
              <a:gsLst>
                <a:gs pos="0">
                  <a:srgbClr val="DE8848">
                    <a:tint val="21176"/>
                  </a:srgbClr>
                </a:gs>
                <a:gs pos="100000">
                  <a:srgbClr val="DE8848"/>
                </a:gs>
              </a:gsLst>
              <a:lin ang="0" scaled="1"/>
            </a:gradFill>
            <a:ln w="12700" algn="ctr">
              <a:solidFill>
                <a:srgbClr val="FFFFFF"/>
              </a:solidFill>
              <a:round/>
            </a:ln>
            <a:effectLst>
              <a:outerShdw dist="99190" dir="2388334" algn="ctr" rotWithShape="0">
                <a:srgbClr val="333333">
                  <a:alpha val="50000"/>
                </a:srgbClr>
              </a:outerShdw>
            </a:effectLst>
          </p:spPr>
          <p:txBody>
            <a:bodyPr wrap="none" anchor="ctr"/>
            <a:lstStyle/>
            <a:p>
              <a:pPr marL="0" marR="0" lvl="0" indent="0" defTabSz="914400" eaLnBrk="1" fontAlgn="base" latinLnBrk="0" hangingPunct="1">
                <a:lnSpc>
                  <a:spcPct val="100000"/>
                </a:lnSpc>
                <a:spcBef>
                  <a:spcPct val="0"/>
                </a:spcBef>
                <a:spcAft>
                  <a:spcPct val="0"/>
                </a:spcAft>
                <a:buFontTx/>
                <a:buNone/>
                <a:defRPr>
                  <a:uFillTx/>
                </a:defRPr>
              </a:pPr>
              <a:endParaRPr kumimoji="0" lang="en-US" sz="1800" b="0" i="0" u="none" strike="noStrike" kern="0" cap="none" spc="0" normalizeH="0" baseline="0" noProof="0">
                <a:ln>
                  <a:noFill/>
                </a:ln>
                <a:solidFill>
                  <a:srgbClr val="003366"/>
                </a:solidFill>
                <a:effectLst/>
                <a:uFillTx/>
                <a:latin typeface="Arial" charset="0"/>
                <a:cs typeface="Arial" charset="0"/>
              </a:endParaRPr>
            </a:p>
          </p:txBody>
        </p:sp>
        <p:sp>
          <p:nvSpPr>
            <p:cNvPr id="34" name="AutoShape 53"/>
            <p:cNvSpPr>
              <a:spLocks noChangeArrowheads="1"/>
            </p:cNvSpPr>
            <p:nvPr/>
          </p:nvSpPr>
          <p:spPr bwMode="gray">
            <a:xfrm>
              <a:off x="1296" y="1824"/>
              <a:ext cx="432" cy="432"/>
            </a:xfrm>
            <a:prstGeom prst="diamond">
              <a:avLst/>
            </a:prstGeom>
            <a:solidFill>
              <a:srgbClr val="DE8848"/>
            </a:solidFill>
            <a:ln w="25400" algn="ctr">
              <a:solidFill>
                <a:srgbClr val="FFFFFF"/>
              </a:solidFill>
              <a:miter lim="800000"/>
            </a:ln>
            <a:effectLst>
              <a:outerShdw dist="63500" dir="2212194" algn="ctr" rotWithShape="0">
                <a:srgbClr val="333333">
                  <a:alpha val="50000"/>
                </a:srgbClr>
              </a:outerShdw>
            </a:effectLst>
          </p:spPr>
          <p:txBody>
            <a:bodyPr wrap="none" anchor="ctr"/>
            <a:lstStyle/>
            <a:p>
              <a:pPr marL="0" marR="0" lvl="0" indent="0" defTabSz="914400" eaLnBrk="1" fontAlgn="base" latinLnBrk="0" hangingPunct="1">
                <a:lnSpc>
                  <a:spcPct val="100000"/>
                </a:lnSpc>
                <a:spcBef>
                  <a:spcPct val="0"/>
                </a:spcBef>
                <a:spcAft>
                  <a:spcPct val="0"/>
                </a:spcAft>
                <a:buFontTx/>
                <a:buNone/>
                <a:defRPr>
                  <a:uFillTx/>
                </a:defRPr>
              </a:pPr>
              <a:endParaRPr kumimoji="0" lang="en-US" sz="1800" b="0" i="0" u="none" strike="noStrike" kern="0" cap="none" spc="0" normalizeH="0" baseline="0" noProof="0">
                <a:ln>
                  <a:noFill/>
                </a:ln>
                <a:solidFill>
                  <a:srgbClr val="003366"/>
                </a:solidFill>
                <a:effectLst/>
                <a:uFillTx/>
                <a:latin typeface="Arial" charset="0"/>
                <a:cs typeface="Arial" charset="0"/>
              </a:endParaRPr>
            </a:p>
          </p:txBody>
        </p:sp>
        <p:sp>
          <p:nvSpPr>
            <p:cNvPr id="35" name="Text Box 54"/>
            <p:cNvSpPr txBox="1">
              <a:spLocks noChangeArrowheads="1"/>
            </p:cNvSpPr>
            <p:nvPr/>
          </p:nvSpPr>
          <p:spPr bwMode="gray">
            <a:xfrm>
              <a:off x="1824" y="1934"/>
              <a:ext cx="2448" cy="233"/>
            </a:xfrm>
            <a:prstGeom prst="rect">
              <a:avLst/>
            </a:prstGeom>
            <a:noFill/>
            <a:ln w="9525" algn="ctr">
              <a:noFill/>
              <a:miter lim="800000"/>
            </a:ln>
          </p:spPr>
          <p:txBody>
            <a:bodyPr>
              <a:spAutoFit/>
            </a:bodyPr>
            <a:lstStyle/>
            <a:p>
              <a:pPr marL="0" marR="0" lvl="0" indent="0" defTabSz="914400" eaLnBrk="0" fontAlgn="base" latinLnBrk="0" hangingPunct="0">
                <a:lnSpc>
                  <a:spcPct val="100000"/>
                </a:lnSpc>
                <a:spcBef>
                  <a:spcPct val="0"/>
                </a:spcBef>
                <a:spcAft>
                  <a:spcPct val="0"/>
                </a:spcAft>
                <a:buFontTx/>
                <a:buNone/>
                <a:defRPr>
                  <a:uFillTx/>
                </a:defRPr>
              </a:pPr>
              <a:r>
                <a:rPr kumimoji="0" lang="en-US" sz="1800" b="1" i="0" u="none" strike="noStrike" kern="0" cap="none" spc="0" normalizeH="0" baseline="0" noProof="0">
                  <a:ln>
                    <a:noFill/>
                  </a:ln>
                  <a:solidFill>
                    <a:srgbClr val="000000"/>
                  </a:solidFill>
                  <a:effectLst/>
                  <a:uFillTx/>
                  <a:latin typeface="Arial" charset="0"/>
                  <a:cs typeface="Arial" charset="0"/>
                </a:rPr>
                <a:t>S</a:t>
              </a:r>
              <a:r>
                <a:rPr lang="en-US" b="1" kern="0">
                  <a:solidFill>
                    <a:srgbClr val="000000"/>
                  </a:solidFill>
                  <a:latin typeface="Arial" charset="0"/>
                  <a:cs typeface="Arial" charset="0"/>
                </a:rPr>
                <a:t>ử dụng Generic</a:t>
              </a:r>
              <a:endParaRPr kumimoji="0" lang="en-US" sz="1800" b="1" i="0" u="none" strike="noStrike" kern="0" cap="none" spc="0" normalizeH="0" baseline="0" noProof="0">
                <a:ln>
                  <a:noFill/>
                </a:ln>
                <a:solidFill>
                  <a:srgbClr val="000000"/>
                </a:solidFill>
                <a:effectLst/>
                <a:uFillTx/>
                <a:latin typeface="Arial" charset="0"/>
                <a:cs typeface="Arial" charset="0"/>
              </a:endParaRPr>
            </a:p>
          </p:txBody>
        </p:sp>
        <p:sp>
          <p:nvSpPr>
            <p:cNvPr id="36" name="Text Box 55"/>
            <p:cNvSpPr txBox="1">
              <a:spLocks noChangeArrowheads="1"/>
            </p:cNvSpPr>
            <p:nvPr/>
          </p:nvSpPr>
          <p:spPr bwMode="gray">
            <a:xfrm>
              <a:off x="1392" y="1886"/>
              <a:ext cx="224" cy="291"/>
            </a:xfrm>
            <a:prstGeom prst="rect">
              <a:avLst/>
            </a:prstGeom>
            <a:noFill/>
            <a:ln w="9525" algn="ctr">
              <a:noFill/>
              <a:miter lim="800000"/>
            </a:ln>
          </p:spPr>
          <p:txBody>
            <a:bodyPr wrap="none">
              <a:spAutoFit/>
            </a:bodyPr>
            <a:lstStyle/>
            <a:p>
              <a:pPr marL="0" marR="0" lvl="0" indent="0" algn="ctr" defTabSz="914400" eaLnBrk="0" fontAlgn="base" latinLnBrk="0" hangingPunct="0">
                <a:lnSpc>
                  <a:spcPct val="100000"/>
                </a:lnSpc>
                <a:spcBef>
                  <a:spcPct val="0"/>
                </a:spcBef>
                <a:spcAft>
                  <a:spcPct val="0"/>
                </a:spcAft>
                <a:buFontTx/>
                <a:buNone/>
                <a:defRPr>
                  <a:uFillTx/>
                </a:defRPr>
              </a:pPr>
              <a:r>
                <a:rPr lang="en-US" sz="2400" kern="0">
                  <a:solidFill>
                    <a:srgbClr val="FFFFFF"/>
                  </a:solidFill>
                  <a:uFillTx/>
                  <a:latin typeface="Arial" charset="0"/>
                  <a:cs typeface="Arial" charset="0"/>
                </a:rPr>
                <a:t>5</a:t>
              </a:r>
              <a:endParaRPr kumimoji="0" lang="en-US" sz="2400" b="0" i="0" u="none" strike="noStrike" kern="0" cap="none" spc="0" normalizeH="0" baseline="0" noProof="0">
                <a:ln>
                  <a:noFill/>
                </a:ln>
                <a:solidFill>
                  <a:srgbClr val="FFFFFF"/>
                </a:solidFill>
                <a:effectLst/>
                <a:uFillTx/>
                <a:latin typeface="Arial" charset="0"/>
                <a:cs typeface="Arial" charset="0"/>
              </a:endParaRPr>
            </a:p>
          </p:txBody>
        </p:sp>
      </p:grpSp>
      <p:grpSp>
        <p:nvGrpSpPr>
          <p:cNvPr id="37" name="Group 56"/>
          <p:cNvGrpSpPr/>
          <p:nvPr/>
        </p:nvGrpSpPr>
        <p:grpSpPr>
          <a:xfrm>
            <a:off x="2129670" y="4025043"/>
            <a:ext cx="4724400" cy="685800"/>
            <a:chOff x="1296" y="1824"/>
            <a:chExt cx="2976" cy="432"/>
          </a:xfrm>
        </p:grpSpPr>
        <p:sp>
          <p:nvSpPr>
            <p:cNvPr id="38" name="AutoShape 57"/>
            <p:cNvSpPr>
              <a:spLocks noChangeArrowheads="1"/>
            </p:cNvSpPr>
            <p:nvPr/>
          </p:nvSpPr>
          <p:spPr bwMode="gray">
            <a:xfrm>
              <a:off x="1536" y="1899"/>
              <a:ext cx="2736" cy="288"/>
            </a:xfrm>
            <a:prstGeom prst="roundRect">
              <a:avLst>
                <a:gd name="adj" fmla="val 16667"/>
              </a:avLst>
            </a:prstGeom>
            <a:gradFill rotWithShape="1">
              <a:gsLst>
                <a:gs pos="0">
                  <a:srgbClr val="5086C2">
                    <a:tint val="21176"/>
                  </a:srgbClr>
                </a:gs>
                <a:gs pos="100000">
                  <a:srgbClr val="5086C2"/>
                </a:gs>
              </a:gsLst>
              <a:lin ang="0" scaled="1"/>
            </a:gradFill>
            <a:ln w="12700" algn="ctr">
              <a:solidFill>
                <a:srgbClr val="FFFFFF"/>
              </a:solidFill>
              <a:round/>
            </a:ln>
            <a:effectLst>
              <a:outerShdw dist="99190" dir="2388334" algn="ctr" rotWithShape="0">
                <a:srgbClr val="333333">
                  <a:alpha val="50000"/>
                </a:srgbClr>
              </a:outerShdw>
            </a:effectLst>
          </p:spPr>
          <p:txBody>
            <a:bodyPr wrap="none" anchor="ctr"/>
            <a:lstStyle/>
            <a:p>
              <a:pPr marL="0" marR="0" lvl="0" indent="0" defTabSz="914400" eaLnBrk="1" fontAlgn="base" latinLnBrk="0" hangingPunct="1">
                <a:lnSpc>
                  <a:spcPct val="100000"/>
                </a:lnSpc>
                <a:spcBef>
                  <a:spcPct val="0"/>
                </a:spcBef>
                <a:spcAft>
                  <a:spcPct val="0"/>
                </a:spcAft>
                <a:buFontTx/>
                <a:buNone/>
                <a:defRPr>
                  <a:uFillTx/>
                </a:defRPr>
              </a:pPr>
              <a:endParaRPr kumimoji="0" lang="en-US" sz="1800" b="0" i="0" u="none" strike="noStrike" kern="0" cap="none" spc="0" normalizeH="0" baseline="0" noProof="0">
                <a:ln>
                  <a:noFill/>
                </a:ln>
                <a:solidFill>
                  <a:srgbClr val="003366"/>
                </a:solidFill>
                <a:effectLst/>
                <a:uFillTx/>
                <a:latin typeface="Arial" charset="0"/>
                <a:cs typeface="Arial" charset="0"/>
              </a:endParaRPr>
            </a:p>
          </p:txBody>
        </p:sp>
        <p:sp>
          <p:nvSpPr>
            <p:cNvPr id="39" name="AutoShape 58"/>
            <p:cNvSpPr>
              <a:spLocks noChangeArrowheads="1"/>
            </p:cNvSpPr>
            <p:nvPr/>
          </p:nvSpPr>
          <p:spPr bwMode="gray">
            <a:xfrm>
              <a:off x="1296" y="1824"/>
              <a:ext cx="432" cy="432"/>
            </a:xfrm>
            <a:prstGeom prst="diamond">
              <a:avLst/>
            </a:prstGeom>
            <a:solidFill>
              <a:srgbClr val="4C59D2"/>
            </a:solidFill>
            <a:ln w="25400" algn="ctr">
              <a:solidFill>
                <a:srgbClr val="FFFFFF"/>
              </a:solidFill>
              <a:miter lim="800000"/>
            </a:ln>
            <a:effectLst>
              <a:outerShdw dist="63500" dir="2212194" algn="ctr" rotWithShape="0">
                <a:srgbClr val="333333">
                  <a:alpha val="50000"/>
                </a:srgbClr>
              </a:outerShdw>
            </a:effectLst>
          </p:spPr>
          <p:txBody>
            <a:bodyPr wrap="none" anchor="ctr"/>
            <a:lstStyle/>
            <a:p>
              <a:pPr marL="0" marR="0" lvl="0" indent="0" defTabSz="914400" eaLnBrk="1" fontAlgn="base" latinLnBrk="0" hangingPunct="1">
                <a:lnSpc>
                  <a:spcPct val="100000"/>
                </a:lnSpc>
                <a:spcBef>
                  <a:spcPct val="0"/>
                </a:spcBef>
                <a:spcAft>
                  <a:spcPct val="0"/>
                </a:spcAft>
                <a:buFontTx/>
                <a:buNone/>
                <a:defRPr>
                  <a:uFillTx/>
                </a:defRPr>
              </a:pPr>
              <a:endParaRPr kumimoji="0" lang="en-US" sz="1800" b="0" i="0" u="none" strike="noStrike" kern="0" cap="none" spc="0" normalizeH="0" baseline="0" noProof="0">
                <a:ln>
                  <a:noFill/>
                </a:ln>
                <a:solidFill>
                  <a:srgbClr val="003366"/>
                </a:solidFill>
                <a:effectLst/>
                <a:uFillTx/>
                <a:latin typeface="Arial" charset="0"/>
                <a:cs typeface="Arial" charset="0"/>
              </a:endParaRPr>
            </a:p>
          </p:txBody>
        </p:sp>
        <p:sp>
          <p:nvSpPr>
            <p:cNvPr id="40" name="Text Box 59"/>
            <p:cNvSpPr txBox="1">
              <a:spLocks noChangeArrowheads="1"/>
            </p:cNvSpPr>
            <p:nvPr/>
          </p:nvSpPr>
          <p:spPr bwMode="gray">
            <a:xfrm>
              <a:off x="1824" y="1934"/>
              <a:ext cx="2448" cy="231"/>
            </a:xfrm>
            <a:prstGeom prst="rect">
              <a:avLst/>
            </a:prstGeom>
            <a:noFill/>
            <a:ln w="9525" algn="ctr">
              <a:noFill/>
              <a:miter lim="800000"/>
            </a:ln>
          </p:spPr>
          <p:txBody>
            <a:bodyPr>
              <a:spAutoFit/>
            </a:bodyPr>
            <a:lstStyle/>
            <a:p>
              <a:pPr marL="0" marR="0" lvl="0" indent="0" defTabSz="914400" eaLnBrk="0" fontAlgn="base" latinLnBrk="0" hangingPunct="0">
                <a:lnSpc>
                  <a:spcPct val="100000"/>
                </a:lnSpc>
                <a:spcBef>
                  <a:spcPct val="0"/>
                </a:spcBef>
                <a:spcAft>
                  <a:spcPct val="0"/>
                </a:spcAft>
                <a:buFontTx/>
                <a:buNone/>
                <a:defRPr>
                  <a:uFillTx/>
                </a:defRPr>
              </a:pPr>
              <a:r>
                <a:rPr kumimoji="0" lang="en-US" sz="1800" b="1" i="0" u="none" strike="noStrike" kern="0" cap="none" spc="0" normalizeH="0" baseline="0" noProof="0">
                  <a:ln>
                    <a:noFill/>
                  </a:ln>
                  <a:solidFill>
                    <a:srgbClr val="000000"/>
                  </a:solidFill>
                  <a:effectLst/>
                  <a:uFillTx/>
                  <a:latin typeface="Arial" charset="0"/>
                  <a:cs typeface="Arial" charset="0"/>
                </a:rPr>
                <a:t>X</a:t>
              </a:r>
              <a:r>
                <a:rPr lang="en-US" b="1" kern="0">
                  <a:solidFill>
                    <a:srgbClr val="000000"/>
                  </a:solidFill>
                  <a:latin typeface="Arial" charset="0"/>
                  <a:cs typeface="Arial" charset="0"/>
                </a:rPr>
                <a:t>ử lý ngoại lệ</a:t>
              </a:r>
              <a:endParaRPr kumimoji="0" lang="en-US" sz="1800" b="1" i="0" u="none" strike="noStrike" kern="0" cap="none" spc="0" normalizeH="0" baseline="0" noProof="0">
                <a:ln>
                  <a:noFill/>
                </a:ln>
                <a:solidFill>
                  <a:srgbClr val="000000"/>
                </a:solidFill>
                <a:effectLst/>
                <a:uFillTx/>
                <a:latin typeface="Arial" charset="0"/>
                <a:cs typeface="Arial" charset="0"/>
              </a:endParaRPr>
            </a:p>
          </p:txBody>
        </p:sp>
        <p:sp>
          <p:nvSpPr>
            <p:cNvPr id="41" name="Text Box 60"/>
            <p:cNvSpPr txBox="1">
              <a:spLocks noChangeArrowheads="1"/>
            </p:cNvSpPr>
            <p:nvPr/>
          </p:nvSpPr>
          <p:spPr bwMode="gray">
            <a:xfrm>
              <a:off x="1392" y="1886"/>
              <a:ext cx="224" cy="291"/>
            </a:xfrm>
            <a:prstGeom prst="rect">
              <a:avLst/>
            </a:prstGeom>
            <a:noFill/>
            <a:ln w="9525" algn="ctr">
              <a:noFill/>
              <a:miter lim="800000"/>
            </a:ln>
          </p:spPr>
          <p:txBody>
            <a:bodyPr wrap="none">
              <a:spAutoFit/>
            </a:bodyPr>
            <a:lstStyle/>
            <a:p>
              <a:pPr marL="0" marR="0" lvl="0" indent="0" algn="ctr" defTabSz="914400" eaLnBrk="0" fontAlgn="base" latinLnBrk="0" hangingPunct="0">
                <a:lnSpc>
                  <a:spcPct val="100000"/>
                </a:lnSpc>
                <a:spcBef>
                  <a:spcPct val="0"/>
                </a:spcBef>
                <a:spcAft>
                  <a:spcPct val="0"/>
                </a:spcAft>
                <a:buFontTx/>
                <a:buNone/>
                <a:defRPr>
                  <a:uFillTx/>
                </a:defRPr>
              </a:pPr>
              <a:r>
                <a:rPr lang="en-US" sz="2400" kern="0">
                  <a:solidFill>
                    <a:srgbClr val="FFFFFF"/>
                  </a:solidFill>
                  <a:uFillTx/>
                  <a:latin typeface="Arial" charset="0"/>
                  <a:cs typeface="Arial" charset="0"/>
                </a:rPr>
                <a:t>6</a:t>
              </a:r>
              <a:endParaRPr kumimoji="0" lang="en-US" sz="2400" b="0" i="0" u="none" strike="noStrike" kern="0" cap="none" spc="0" normalizeH="0" baseline="0" noProof="0">
                <a:ln>
                  <a:noFill/>
                </a:ln>
                <a:solidFill>
                  <a:srgbClr val="FFFFFF"/>
                </a:solidFill>
                <a:effectLst/>
                <a:uFillTx/>
                <a:latin typeface="Arial" charset="0"/>
                <a:cs typeface="Arial" charset="0"/>
              </a:endParaRPr>
            </a:p>
          </p:txBody>
        </p:sp>
      </p:grpSp>
      <p:sp>
        <p:nvSpPr>
          <p:cNvPr id="3" name="Slide Number Placeholder 2"/>
          <p:cNvSpPr>
            <a:spLocks noGrp="1"/>
          </p:cNvSpPr>
          <p:nvPr>
            <p:ph type="sldNum" sz="quarter" idx="12"/>
          </p:nvPr>
        </p:nvSpPr>
        <p:spPr/>
        <p:txBody>
          <a:bodyPr/>
          <a:lstStyle/>
          <a:p>
            <a:fld id="{5AB95402-1E0D-474E-8D8C-CBE7F053639E}" type="slidenum">
              <a:rPr lang="vi-VN" smtClean="0">
                <a:uFillTx/>
              </a:rPr>
              <a:pPr/>
              <a:t>2</a:t>
            </a:fld>
            <a:r>
              <a:rPr lang="vi-VN">
                <a:uFillTx/>
              </a:rPr>
              <a:t>/28</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7" presetClass="entr" presetSubtype="0" fill="hold" nodeType="afterEffect">
                                  <p:stCondLst>
                                    <p:cond delay="0"/>
                                  </p:stCondLst>
                                  <p:childTnLst>
                                    <p:set>
                                      <p:cBhvr>
                                        <p:cTn id="6" dur="1" fill="hold">
                                          <p:stCondLst>
                                            <p:cond delay="0"/>
                                          </p:stCondLst>
                                        </p:cTn>
                                        <p:tgtEl>
                                          <p:spTgt spid="59"/>
                                        </p:tgtEl>
                                        <p:attrNameLst>
                                          <p:attrName>style.visibility</p:attrName>
                                        </p:attrNameLst>
                                      </p:cBhvr>
                                      <p:to>
                                        <p:strVal val="visible"/>
                                      </p:to>
                                    </p:set>
                                    <p:animEffect transition="in" filter="fade">
                                      <p:cBhvr>
                                        <p:cTn id="7" dur="1000"/>
                                        <p:tgtEl>
                                          <p:spTgt spid="59"/>
                                        </p:tgtEl>
                                      </p:cBhvr>
                                    </p:animEffect>
                                    <p:anim calcmode="lin" valueType="num">
                                      <p:cBhvr>
                                        <p:cTn id="8" dur="1000" fill="hold"/>
                                        <p:tgtEl>
                                          <p:spTgt spid="59"/>
                                        </p:tgtEl>
                                        <p:attrNameLst>
                                          <p:attrName>ppt_x</p:attrName>
                                        </p:attrNameLst>
                                      </p:cBhvr>
                                      <p:tavLst>
                                        <p:tav tm="0">
                                          <p:val>
                                            <p:strVal val="#ppt_x"/>
                                          </p:val>
                                        </p:tav>
                                        <p:tav tm="100000">
                                          <p:val>
                                            <p:strVal val="#ppt_x"/>
                                          </p:val>
                                        </p:tav>
                                      </p:tavLst>
                                    </p:anim>
                                    <p:anim calcmode="lin" valueType="num">
                                      <p:cBhvr>
                                        <p:cTn id="9" dur="1000" fill="hold"/>
                                        <p:tgtEl>
                                          <p:spTgt spid="59"/>
                                        </p:tgtEl>
                                        <p:attrNameLst>
                                          <p:attrName>ppt_y</p:attrName>
                                        </p:attrNameLst>
                                      </p:cBhvr>
                                      <p:tavLst>
                                        <p:tav tm="0">
                                          <p:val>
                                            <p:strVal val="#ppt_y-.1"/>
                                          </p:val>
                                        </p:tav>
                                        <p:tav tm="100000">
                                          <p:val>
                                            <p:strVal val="#ppt_y"/>
                                          </p:val>
                                        </p:tav>
                                      </p:tavLst>
                                    </p:anim>
                                  </p:childTnLst>
                                </p:cTn>
                              </p:par>
                              <p:par>
                                <p:cTn id="10" presetID="47" presetClass="entr" presetSubtype="0" fill="hold" nodeType="withEffect">
                                  <p:stCondLst>
                                    <p:cond delay="0"/>
                                  </p:stCondLst>
                                  <p:childTnLst>
                                    <p:set>
                                      <p:cBhvr>
                                        <p:cTn id="11" dur="1" fill="hold">
                                          <p:stCondLst>
                                            <p:cond delay="0"/>
                                          </p:stCondLst>
                                        </p:cTn>
                                        <p:tgtEl>
                                          <p:spTgt spid="27"/>
                                        </p:tgtEl>
                                        <p:attrNameLst>
                                          <p:attrName>style.visibility</p:attrName>
                                        </p:attrNameLst>
                                      </p:cBhvr>
                                      <p:to>
                                        <p:strVal val="visible"/>
                                      </p:to>
                                    </p:set>
                                    <p:animEffect transition="in" filter="fade">
                                      <p:cBhvr>
                                        <p:cTn id="12" dur="500"/>
                                        <p:tgtEl>
                                          <p:spTgt spid="27"/>
                                        </p:tgtEl>
                                      </p:cBhvr>
                                    </p:animEffect>
                                    <p:anim calcmode="lin" valueType="num">
                                      <p:cBhvr>
                                        <p:cTn id="13" dur="500" fill="hold"/>
                                        <p:tgtEl>
                                          <p:spTgt spid="27"/>
                                        </p:tgtEl>
                                        <p:attrNameLst>
                                          <p:attrName>ppt_x</p:attrName>
                                        </p:attrNameLst>
                                      </p:cBhvr>
                                      <p:tavLst>
                                        <p:tav tm="0">
                                          <p:val>
                                            <p:strVal val="#ppt_x"/>
                                          </p:val>
                                        </p:tav>
                                        <p:tav tm="100000">
                                          <p:val>
                                            <p:strVal val="#ppt_x"/>
                                          </p:val>
                                        </p:tav>
                                      </p:tavLst>
                                    </p:anim>
                                    <p:anim calcmode="lin" valueType="num">
                                      <p:cBhvr>
                                        <p:cTn id="14" dur="500" fill="hold"/>
                                        <p:tgtEl>
                                          <p:spTgt spid="27"/>
                                        </p:tgtEl>
                                        <p:attrNameLst>
                                          <p:attrName>ppt_y</p:attrName>
                                        </p:attrNameLst>
                                      </p:cBhvr>
                                      <p:tavLst>
                                        <p:tav tm="0">
                                          <p:val>
                                            <p:strVal val="#ppt_y-.1"/>
                                          </p:val>
                                        </p:tav>
                                        <p:tav tm="100000">
                                          <p:val>
                                            <p:strVal val="#ppt_y"/>
                                          </p:val>
                                        </p:tav>
                                      </p:tavLst>
                                    </p:anim>
                                  </p:childTnLst>
                                </p:cTn>
                              </p:par>
                            </p:childTnLst>
                          </p:cTn>
                        </p:par>
                        <p:par>
                          <p:cTn id="15" fill="hold">
                            <p:stCondLst>
                              <p:cond delay="1000"/>
                            </p:stCondLst>
                            <p:childTnLst>
                              <p:par>
                                <p:cTn id="16" presetID="47" presetClass="entr" presetSubtype="0" fill="hold" nodeType="afterEffect">
                                  <p:stCondLst>
                                    <p:cond delay="0"/>
                                  </p:stCondLst>
                                  <p:childTnLst>
                                    <p:set>
                                      <p:cBhvr>
                                        <p:cTn id="17" dur="1" fill="hold">
                                          <p:stCondLst>
                                            <p:cond delay="0"/>
                                          </p:stCondLst>
                                        </p:cTn>
                                        <p:tgtEl>
                                          <p:spTgt spid="32"/>
                                        </p:tgtEl>
                                        <p:attrNameLst>
                                          <p:attrName>style.visibility</p:attrName>
                                        </p:attrNameLst>
                                      </p:cBhvr>
                                      <p:to>
                                        <p:strVal val="visible"/>
                                      </p:to>
                                    </p:set>
                                    <p:animEffect transition="in" filter="fade">
                                      <p:cBhvr>
                                        <p:cTn id="18" dur="1000"/>
                                        <p:tgtEl>
                                          <p:spTgt spid="32"/>
                                        </p:tgtEl>
                                      </p:cBhvr>
                                    </p:animEffect>
                                    <p:anim calcmode="lin" valueType="num">
                                      <p:cBhvr>
                                        <p:cTn id="19" dur="1000" fill="hold"/>
                                        <p:tgtEl>
                                          <p:spTgt spid="32"/>
                                        </p:tgtEl>
                                        <p:attrNameLst>
                                          <p:attrName>ppt_x</p:attrName>
                                        </p:attrNameLst>
                                      </p:cBhvr>
                                      <p:tavLst>
                                        <p:tav tm="0">
                                          <p:val>
                                            <p:strVal val="#ppt_x"/>
                                          </p:val>
                                        </p:tav>
                                        <p:tav tm="100000">
                                          <p:val>
                                            <p:strVal val="#ppt_x"/>
                                          </p:val>
                                        </p:tav>
                                      </p:tavLst>
                                    </p:anim>
                                    <p:anim calcmode="lin" valueType="num">
                                      <p:cBhvr>
                                        <p:cTn id="20" dur="1000" fill="hold"/>
                                        <p:tgtEl>
                                          <p:spTgt spid="32"/>
                                        </p:tgtEl>
                                        <p:attrNameLst>
                                          <p:attrName>ppt_y</p:attrName>
                                        </p:attrNameLst>
                                      </p:cBhvr>
                                      <p:tavLst>
                                        <p:tav tm="0">
                                          <p:val>
                                            <p:strVal val="#ppt_y-.1"/>
                                          </p:val>
                                        </p:tav>
                                        <p:tav tm="100000">
                                          <p:val>
                                            <p:strVal val="#ppt_y"/>
                                          </p:val>
                                        </p:tav>
                                      </p:tavLst>
                                    </p:anim>
                                  </p:childTnLst>
                                </p:cTn>
                              </p:par>
                            </p:childTnLst>
                          </p:cTn>
                        </p:par>
                        <p:par>
                          <p:cTn id="21" fill="hold">
                            <p:stCondLst>
                              <p:cond delay="2000"/>
                            </p:stCondLst>
                            <p:childTnLst>
                              <p:par>
                                <p:cTn id="22" presetID="47" presetClass="entr" presetSubtype="0" fill="hold" nodeType="afterEffect">
                                  <p:stCondLst>
                                    <p:cond delay="0"/>
                                  </p:stCondLst>
                                  <p:childTnLst>
                                    <p:set>
                                      <p:cBhvr>
                                        <p:cTn id="23" dur="1" fill="hold">
                                          <p:stCondLst>
                                            <p:cond delay="0"/>
                                          </p:stCondLst>
                                        </p:cTn>
                                        <p:tgtEl>
                                          <p:spTgt spid="37"/>
                                        </p:tgtEl>
                                        <p:attrNameLst>
                                          <p:attrName>style.visibility</p:attrName>
                                        </p:attrNameLst>
                                      </p:cBhvr>
                                      <p:to>
                                        <p:strVal val="visible"/>
                                      </p:to>
                                    </p:set>
                                    <p:animEffect transition="in" filter="fade">
                                      <p:cBhvr>
                                        <p:cTn id="24" dur="1000"/>
                                        <p:tgtEl>
                                          <p:spTgt spid="37"/>
                                        </p:tgtEl>
                                      </p:cBhvr>
                                    </p:animEffect>
                                    <p:anim calcmode="lin" valueType="num">
                                      <p:cBhvr>
                                        <p:cTn id="25" dur="1000" fill="hold"/>
                                        <p:tgtEl>
                                          <p:spTgt spid="37"/>
                                        </p:tgtEl>
                                        <p:attrNameLst>
                                          <p:attrName>ppt_x</p:attrName>
                                        </p:attrNameLst>
                                      </p:cBhvr>
                                      <p:tavLst>
                                        <p:tav tm="0">
                                          <p:val>
                                            <p:strVal val="#ppt_x"/>
                                          </p:val>
                                        </p:tav>
                                        <p:tav tm="100000">
                                          <p:val>
                                            <p:strVal val="#ppt_x"/>
                                          </p:val>
                                        </p:tav>
                                      </p:tavLst>
                                    </p:anim>
                                    <p:anim calcmode="lin" valueType="num">
                                      <p:cBhvr>
                                        <p:cTn id="26" dur="1000" fill="hold"/>
                                        <p:tgtEl>
                                          <p:spTgt spid="3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94048" y="361950"/>
            <a:ext cx="8382000" cy="685800"/>
          </a:xfrm>
        </p:spPr>
        <p:txBody>
          <a:bodyPr/>
          <a:lstStyle/>
          <a:p>
            <a:r>
              <a:rPr lang="en-US"/>
              <a:t>3.3. Mảng trong C#</a:t>
            </a:r>
            <a:endParaRPr lang="vi-VN"/>
          </a:p>
        </p:txBody>
      </p:sp>
      <p:sp>
        <p:nvSpPr>
          <p:cNvPr id="3" name="Content Placeholder 2"/>
          <p:cNvSpPr>
            <a:spLocks noGrp="1"/>
          </p:cNvSpPr>
          <p:nvPr>
            <p:ph idx="1"/>
          </p:nvPr>
        </p:nvSpPr>
        <p:spPr>
          <a:xfrm>
            <a:off x="651756" y="1086943"/>
            <a:ext cx="8263644" cy="5181600"/>
          </a:xfrm>
        </p:spPr>
        <p:txBody>
          <a:bodyPr/>
          <a:lstStyle/>
          <a:p>
            <a:pPr>
              <a:buFont typeface="Wingdings" panose="05000000000000000000" pitchFamily="2" charset="2"/>
              <a:buChar char="q"/>
            </a:pPr>
            <a:r>
              <a:rPr lang="en-US" sz="2200">
                <a:latin typeface="+mj-lt"/>
              </a:rPr>
              <a:t>Mảng</a:t>
            </a:r>
            <a:r>
              <a:rPr lang="en-US" sz="2200" dirty="0">
                <a:latin typeface="+mj-lt"/>
              </a:rPr>
              <a:t> </a:t>
            </a:r>
            <a:r>
              <a:rPr lang="en-US" sz="2200">
                <a:latin typeface="+mj-lt"/>
              </a:rPr>
              <a:t>là tập hữu hạn các phần tử có cùng kiểu dữ liệu</a:t>
            </a:r>
          </a:p>
          <a:p>
            <a:pPr marL="0" indent="0">
              <a:buNone/>
            </a:pPr>
            <a:endParaRPr lang="en-US" sz="2200" dirty="0">
              <a:latin typeface="+mj-lt"/>
            </a:endParaRPr>
          </a:p>
          <a:p>
            <a:pPr>
              <a:spcBef>
                <a:spcPts val="0"/>
              </a:spcBef>
              <a:buFont typeface="Wingdings" panose="05000000000000000000" pitchFamily="2" charset="2"/>
              <a:buChar char="q"/>
            </a:pPr>
            <a:r>
              <a:rPr lang="en-US" sz="2200">
                <a:latin typeface="+mj-lt"/>
              </a:rPr>
              <a:t>Khai báo	</a:t>
            </a:r>
            <a:r>
              <a:rPr lang="en-US" sz="2200" dirty="0">
                <a:latin typeface="+mj-lt"/>
              </a:rPr>
              <a:t>	</a:t>
            </a:r>
            <a:r>
              <a:rPr lang="en-US" sz="2200">
                <a:latin typeface="+mj-lt"/>
                <a:cs typeface="Times New Roman" panose="02020603050405020304" pitchFamily="18" charset="0"/>
              </a:rPr>
              <a:t>&lt;</a:t>
            </a:r>
            <a:r>
              <a:rPr lang="en-US" sz="2200" b="1" dirty="0" err="1">
                <a:solidFill>
                  <a:srgbClr val="0070C0"/>
                </a:solidFill>
                <a:latin typeface="+mj-lt"/>
                <a:cs typeface="Times New Roman" panose="02020603050405020304" pitchFamily="18" charset="0"/>
              </a:rPr>
              <a:t>kiểu</a:t>
            </a:r>
            <a:r>
              <a:rPr lang="en-US" sz="2200" b="1" dirty="0">
                <a:solidFill>
                  <a:srgbClr val="0070C0"/>
                </a:solidFill>
                <a:latin typeface="+mj-lt"/>
                <a:cs typeface="Times New Roman" panose="02020603050405020304" pitchFamily="18" charset="0"/>
              </a:rPr>
              <a:t> </a:t>
            </a:r>
            <a:r>
              <a:rPr lang="en-US" sz="2200" b="1" dirty="0" err="1">
                <a:solidFill>
                  <a:srgbClr val="0070C0"/>
                </a:solidFill>
                <a:latin typeface="+mj-lt"/>
                <a:cs typeface="Times New Roman" panose="02020603050405020304" pitchFamily="18" charset="0"/>
              </a:rPr>
              <a:t>dữ</a:t>
            </a:r>
            <a:r>
              <a:rPr lang="en-US" sz="2200" b="1" dirty="0">
                <a:solidFill>
                  <a:srgbClr val="0070C0"/>
                </a:solidFill>
                <a:latin typeface="+mj-lt"/>
                <a:cs typeface="Times New Roman" panose="02020603050405020304" pitchFamily="18" charset="0"/>
              </a:rPr>
              <a:t> </a:t>
            </a:r>
            <a:r>
              <a:rPr lang="en-US" sz="2200" b="1" dirty="0" err="1">
                <a:solidFill>
                  <a:srgbClr val="0070C0"/>
                </a:solidFill>
                <a:latin typeface="+mj-lt"/>
                <a:cs typeface="Times New Roman" panose="02020603050405020304" pitchFamily="18" charset="0"/>
              </a:rPr>
              <a:t>liệu</a:t>
            </a:r>
            <a:r>
              <a:rPr lang="en-US" sz="2200" dirty="0">
                <a:latin typeface="+mj-lt"/>
                <a:cs typeface="Times New Roman" panose="02020603050405020304" pitchFamily="18" charset="0"/>
              </a:rPr>
              <a:t>&gt;[] &lt;</a:t>
            </a:r>
            <a:r>
              <a:rPr lang="en-US" sz="2200" b="1" dirty="0" err="1">
                <a:solidFill>
                  <a:srgbClr val="C00000"/>
                </a:solidFill>
                <a:latin typeface="+mj-lt"/>
                <a:cs typeface="Times New Roman" panose="02020603050405020304" pitchFamily="18" charset="0"/>
              </a:rPr>
              <a:t>tên</a:t>
            </a:r>
            <a:r>
              <a:rPr lang="en-US" sz="2200" b="1" dirty="0">
                <a:solidFill>
                  <a:srgbClr val="C00000"/>
                </a:solidFill>
                <a:latin typeface="+mj-lt"/>
                <a:cs typeface="Times New Roman" panose="02020603050405020304" pitchFamily="18" charset="0"/>
              </a:rPr>
              <a:t> </a:t>
            </a:r>
            <a:r>
              <a:rPr lang="en-US" sz="2200" b="1" dirty="0" err="1">
                <a:solidFill>
                  <a:srgbClr val="C00000"/>
                </a:solidFill>
                <a:latin typeface="+mj-lt"/>
                <a:cs typeface="Times New Roman" panose="02020603050405020304" pitchFamily="18" charset="0"/>
              </a:rPr>
              <a:t>mảng</a:t>
            </a:r>
            <a:r>
              <a:rPr lang="en-US" sz="2200" dirty="0">
                <a:latin typeface="+mj-lt"/>
                <a:cs typeface="Times New Roman" panose="02020603050405020304" pitchFamily="18" charset="0"/>
              </a:rPr>
              <a:t>&gt;</a:t>
            </a:r>
          </a:p>
          <a:p>
            <a:pPr marL="0" indent="0">
              <a:buNone/>
            </a:pPr>
            <a:r>
              <a:rPr lang="en-US" sz="2200" dirty="0">
                <a:solidFill>
                  <a:srgbClr val="000099"/>
                </a:solidFill>
                <a:latin typeface="+mj-lt"/>
                <a:cs typeface="Times New Roman" panose="02020603050405020304" pitchFamily="18" charset="0"/>
              </a:rPr>
              <a:t>	int[] so;             float[] diem;          string[] </a:t>
            </a:r>
            <a:r>
              <a:rPr lang="en-US" sz="2200" err="1">
                <a:solidFill>
                  <a:srgbClr val="000099"/>
                </a:solidFill>
                <a:latin typeface="+mj-lt"/>
                <a:cs typeface="Times New Roman" panose="02020603050405020304" pitchFamily="18" charset="0"/>
              </a:rPr>
              <a:t>tenlop</a:t>
            </a:r>
            <a:r>
              <a:rPr lang="en-US" sz="2200">
                <a:solidFill>
                  <a:srgbClr val="000099"/>
                </a:solidFill>
                <a:latin typeface="+mj-lt"/>
                <a:cs typeface="Times New Roman" panose="02020603050405020304" pitchFamily="18" charset="0"/>
              </a:rPr>
              <a:t>;</a:t>
            </a:r>
          </a:p>
          <a:p>
            <a:pPr marL="0" indent="0">
              <a:buNone/>
            </a:pPr>
            <a:endParaRPr lang="en-US" sz="2200" dirty="0">
              <a:solidFill>
                <a:srgbClr val="0000FF"/>
              </a:solidFill>
              <a:latin typeface="+mj-lt"/>
              <a:cs typeface="Times New Roman" panose="02020603050405020304" pitchFamily="18" charset="0"/>
            </a:endParaRPr>
          </a:p>
          <a:p>
            <a:pPr>
              <a:buFont typeface="Wingdings" panose="05000000000000000000" pitchFamily="2" charset="2"/>
              <a:buChar char="q"/>
            </a:pPr>
            <a:r>
              <a:rPr lang="vi-VN" sz="2200" dirty="0">
                <a:latin typeface="+mj-lt"/>
              </a:rPr>
              <a:t>Để sử dụng được mảng ta phải khởi tạo giá trị hoặc cấp phát vùng nhớ cho mảng</a:t>
            </a:r>
            <a:r>
              <a:rPr lang="vi-VN" sz="2200">
                <a:latin typeface="+mj-lt"/>
              </a:rPr>
              <a:t>. </a:t>
            </a:r>
            <a:endParaRPr lang="en-US" sz="2200" dirty="0">
              <a:latin typeface="+mj-lt"/>
            </a:endParaRPr>
          </a:p>
          <a:p>
            <a:pPr algn="l">
              <a:buFont typeface="Wingdings" panose="05000000000000000000" pitchFamily="2" charset="2"/>
              <a:buChar char="ü"/>
            </a:pPr>
            <a:r>
              <a:rPr lang="vi-VN" sz="2200" dirty="0">
                <a:latin typeface="+mj-lt"/>
              </a:rPr>
              <a:t>Cấp phát </a:t>
            </a:r>
            <a:r>
              <a:rPr lang="vi-VN" sz="2200">
                <a:latin typeface="+mj-lt"/>
              </a:rPr>
              <a:t>vùng nhớ</a:t>
            </a:r>
            <a:r>
              <a:rPr lang="en-US" sz="2200">
                <a:latin typeface="+mj-lt"/>
              </a:rPr>
              <a:t> </a:t>
            </a:r>
            <a:r>
              <a:rPr lang="en-US" sz="2200" dirty="0">
                <a:latin typeface="+mj-lt"/>
              </a:rPr>
              <a:t>đ</a:t>
            </a:r>
            <a:r>
              <a:rPr lang="vi-VN" sz="2200" dirty="0">
                <a:latin typeface="+mj-lt"/>
              </a:rPr>
              <a:t>ược thực hiện thông qua toán tử</a:t>
            </a:r>
            <a:r>
              <a:rPr lang="vi-VN" sz="2200" b="0" i="0" dirty="0">
                <a:effectLst/>
                <a:latin typeface="+mj-lt"/>
                <a:cs typeface="Times New Roman" panose="02020603050405020304" pitchFamily="18" charset="0"/>
              </a:rPr>
              <a:t> </a:t>
            </a:r>
            <a:r>
              <a:rPr lang="vi-VN" sz="2200" b="1" i="0" dirty="0">
                <a:solidFill>
                  <a:schemeClr val="accent2"/>
                </a:solidFill>
                <a:effectLst/>
                <a:latin typeface="+mj-lt"/>
                <a:cs typeface="Times New Roman" panose="02020603050405020304" pitchFamily="18" charset="0"/>
              </a:rPr>
              <a:t>new</a:t>
            </a:r>
            <a:endParaRPr lang="en-US" sz="2200" b="1" dirty="0">
              <a:latin typeface="+mj-lt"/>
              <a:cs typeface="Times New Roman" panose="02020603050405020304" pitchFamily="18" charset="0"/>
            </a:endParaRPr>
          </a:p>
          <a:p>
            <a:pPr marL="0" indent="0" algn="l">
              <a:buNone/>
            </a:pPr>
            <a:r>
              <a:rPr lang="en-US" sz="2000" b="1" dirty="0">
                <a:solidFill>
                  <a:srgbClr val="0070C0"/>
                </a:solidFill>
                <a:latin typeface="+mj-lt"/>
                <a:cs typeface="Times New Roman" panose="02020603050405020304" pitchFamily="18" charset="0"/>
              </a:rPr>
              <a:t>&lt;</a:t>
            </a:r>
            <a:r>
              <a:rPr lang="en-US" sz="2000" b="1" dirty="0" err="1">
                <a:solidFill>
                  <a:srgbClr val="0070C0"/>
                </a:solidFill>
                <a:latin typeface="+mj-lt"/>
                <a:cs typeface="Times New Roman" panose="02020603050405020304" pitchFamily="18" charset="0"/>
              </a:rPr>
              <a:t>kiểu</a:t>
            </a:r>
            <a:r>
              <a:rPr lang="en-US" sz="2000" b="1" dirty="0">
                <a:solidFill>
                  <a:srgbClr val="0070C0"/>
                </a:solidFill>
                <a:latin typeface="+mj-lt"/>
                <a:cs typeface="Times New Roman" panose="02020603050405020304" pitchFamily="18" charset="0"/>
              </a:rPr>
              <a:t> </a:t>
            </a:r>
            <a:r>
              <a:rPr lang="en-US" sz="2000" b="1" dirty="0" err="1">
                <a:solidFill>
                  <a:srgbClr val="0070C0"/>
                </a:solidFill>
                <a:latin typeface="+mj-lt"/>
                <a:cs typeface="Times New Roman" panose="02020603050405020304" pitchFamily="18" charset="0"/>
              </a:rPr>
              <a:t>dữ</a:t>
            </a:r>
            <a:r>
              <a:rPr lang="en-US" sz="2000" b="1" dirty="0">
                <a:solidFill>
                  <a:srgbClr val="0070C0"/>
                </a:solidFill>
                <a:latin typeface="+mj-lt"/>
                <a:cs typeface="Times New Roman" panose="02020603050405020304" pitchFamily="18" charset="0"/>
              </a:rPr>
              <a:t> </a:t>
            </a:r>
            <a:r>
              <a:rPr lang="en-US" sz="2000" b="1" dirty="0" err="1">
                <a:solidFill>
                  <a:srgbClr val="0070C0"/>
                </a:solidFill>
                <a:latin typeface="+mj-lt"/>
                <a:cs typeface="Times New Roman" panose="02020603050405020304" pitchFamily="18" charset="0"/>
              </a:rPr>
              <a:t>liệu</a:t>
            </a:r>
            <a:r>
              <a:rPr lang="en-US" sz="2000" b="1" dirty="0">
                <a:solidFill>
                  <a:srgbClr val="0070C0"/>
                </a:solidFill>
                <a:latin typeface="+mj-lt"/>
                <a:cs typeface="Times New Roman" panose="02020603050405020304" pitchFamily="18" charset="0"/>
              </a:rPr>
              <a:t>&gt;</a:t>
            </a:r>
            <a:r>
              <a:rPr lang="en-US" sz="2000" b="1" dirty="0">
                <a:latin typeface="+mj-lt"/>
                <a:cs typeface="Times New Roman" panose="02020603050405020304" pitchFamily="18" charset="0"/>
              </a:rPr>
              <a:t>[ ] [</a:t>
            </a:r>
            <a:r>
              <a:rPr lang="en-US" sz="2000" b="1" dirty="0" err="1">
                <a:solidFill>
                  <a:srgbClr val="C00000"/>
                </a:solidFill>
                <a:latin typeface="+mj-lt"/>
                <a:cs typeface="Times New Roman" panose="02020603050405020304" pitchFamily="18" charset="0"/>
              </a:rPr>
              <a:t>tên</a:t>
            </a:r>
            <a:r>
              <a:rPr lang="en-US" sz="2000" b="1" dirty="0">
                <a:solidFill>
                  <a:srgbClr val="C00000"/>
                </a:solidFill>
                <a:latin typeface="+mj-lt"/>
                <a:cs typeface="Times New Roman" panose="02020603050405020304" pitchFamily="18" charset="0"/>
              </a:rPr>
              <a:t> </a:t>
            </a:r>
            <a:r>
              <a:rPr lang="en-US" sz="2000" b="1" dirty="0" err="1">
                <a:solidFill>
                  <a:srgbClr val="C00000"/>
                </a:solidFill>
                <a:latin typeface="+mj-lt"/>
                <a:cs typeface="Times New Roman" panose="02020603050405020304" pitchFamily="18" charset="0"/>
              </a:rPr>
              <a:t>mảng</a:t>
            </a:r>
            <a:r>
              <a:rPr lang="en-US" sz="2000" b="1" dirty="0">
                <a:latin typeface="+mj-lt"/>
                <a:cs typeface="Times New Roman" panose="02020603050405020304" pitchFamily="18" charset="0"/>
              </a:rPr>
              <a:t>] = </a:t>
            </a:r>
            <a:r>
              <a:rPr lang="en-US" sz="2000" b="1" dirty="0">
                <a:solidFill>
                  <a:srgbClr val="FF0000"/>
                </a:solidFill>
                <a:latin typeface="+mj-lt"/>
                <a:cs typeface="Times New Roman" panose="02020603050405020304" pitchFamily="18" charset="0"/>
              </a:rPr>
              <a:t>new &lt;</a:t>
            </a:r>
            <a:r>
              <a:rPr lang="en-US" sz="2000" b="1" dirty="0" err="1">
                <a:solidFill>
                  <a:srgbClr val="0070C0"/>
                </a:solidFill>
                <a:latin typeface="+mj-lt"/>
                <a:cs typeface="Times New Roman" panose="02020603050405020304" pitchFamily="18" charset="0"/>
              </a:rPr>
              <a:t>kiểu</a:t>
            </a:r>
            <a:r>
              <a:rPr lang="en-US" sz="2000" b="1" dirty="0">
                <a:solidFill>
                  <a:srgbClr val="0070C0"/>
                </a:solidFill>
                <a:latin typeface="+mj-lt"/>
                <a:cs typeface="Times New Roman" panose="02020603050405020304" pitchFamily="18" charset="0"/>
              </a:rPr>
              <a:t> </a:t>
            </a:r>
            <a:r>
              <a:rPr lang="en-US" sz="2000" b="1" dirty="0" err="1">
                <a:solidFill>
                  <a:srgbClr val="0070C0"/>
                </a:solidFill>
                <a:latin typeface="+mj-lt"/>
                <a:cs typeface="Times New Roman" panose="02020603050405020304" pitchFamily="18" charset="0"/>
              </a:rPr>
              <a:t>dữ</a:t>
            </a:r>
            <a:r>
              <a:rPr lang="en-US" sz="2000" b="1" dirty="0">
                <a:solidFill>
                  <a:srgbClr val="0070C0"/>
                </a:solidFill>
                <a:latin typeface="+mj-lt"/>
                <a:cs typeface="Times New Roman" panose="02020603050405020304" pitchFamily="18" charset="0"/>
              </a:rPr>
              <a:t> </a:t>
            </a:r>
            <a:r>
              <a:rPr lang="en-US" sz="2000" b="1" dirty="0" err="1">
                <a:solidFill>
                  <a:srgbClr val="0070C0"/>
                </a:solidFill>
                <a:latin typeface="+mj-lt"/>
                <a:cs typeface="Times New Roman" panose="02020603050405020304" pitchFamily="18" charset="0"/>
              </a:rPr>
              <a:t>liệu</a:t>
            </a:r>
            <a:r>
              <a:rPr lang="en-US" sz="2000" b="1" dirty="0">
                <a:solidFill>
                  <a:srgbClr val="0070C0"/>
                </a:solidFill>
                <a:latin typeface="+mj-lt"/>
                <a:cs typeface="Times New Roman" panose="02020603050405020304" pitchFamily="18" charset="0"/>
              </a:rPr>
              <a:t>&gt;</a:t>
            </a:r>
            <a:r>
              <a:rPr lang="en-US" sz="2000" b="1" dirty="0">
                <a:latin typeface="+mj-lt"/>
                <a:cs typeface="Times New Roman" panose="02020603050405020304" pitchFamily="18" charset="0"/>
              </a:rPr>
              <a:t>[</a:t>
            </a:r>
            <a:r>
              <a:rPr lang="en-US" sz="2000" b="1" dirty="0" err="1">
                <a:solidFill>
                  <a:srgbClr val="C00000"/>
                </a:solidFill>
                <a:latin typeface="+mj-lt"/>
                <a:cs typeface="Times New Roman" panose="02020603050405020304" pitchFamily="18" charset="0"/>
              </a:rPr>
              <a:t>tổng</a:t>
            </a:r>
            <a:r>
              <a:rPr lang="en-US" sz="2000" b="1" dirty="0">
                <a:solidFill>
                  <a:srgbClr val="C00000"/>
                </a:solidFill>
                <a:latin typeface="+mj-lt"/>
                <a:cs typeface="Times New Roman" panose="02020603050405020304" pitchFamily="18" charset="0"/>
              </a:rPr>
              <a:t> </a:t>
            </a:r>
            <a:r>
              <a:rPr lang="en-US" sz="2000" b="1" dirty="0" err="1">
                <a:solidFill>
                  <a:srgbClr val="C00000"/>
                </a:solidFill>
                <a:latin typeface="+mj-lt"/>
                <a:cs typeface="Times New Roman" panose="02020603050405020304" pitchFamily="18" charset="0"/>
              </a:rPr>
              <a:t>số</a:t>
            </a:r>
            <a:r>
              <a:rPr lang="en-US" sz="2000" b="1" dirty="0">
                <a:solidFill>
                  <a:srgbClr val="C00000"/>
                </a:solidFill>
                <a:latin typeface="+mj-lt"/>
                <a:cs typeface="Times New Roman" panose="02020603050405020304" pitchFamily="18" charset="0"/>
              </a:rPr>
              <a:t> </a:t>
            </a:r>
            <a:r>
              <a:rPr lang="en-US" sz="2000" b="1" dirty="0" err="1">
                <a:solidFill>
                  <a:srgbClr val="C00000"/>
                </a:solidFill>
                <a:latin typeface="+mj-lt"/>
                <a:cs typeface="Times New Roman" panose="02020603050405020304" pitchFamily="18" charset="0"/>
              </a:rPr>
              <a:t>phần</a:t>
            </a:r>
            <a:r>
              <a:rPr lang="en-US" sz="2000" b="1" dirty="0">
                <a:solidFill>
                  <a:srgbClr val="C00000"/>
                </a:solidFill>
                <a:latin typeface="+mj-lt"/>
                <a:cs typeface="Times New Roman" panose="02020603050405020304" pitchFamily="18" charset="0"/>
              </a:rPr>
              <a:t> </a:t>
            </a:r>
            <a:r>
              <a:rPr lang="en-US" sz="2000" b="1" dirty="0" err="1">
                <a:solidFill>
                  <a:srgbClr val="C00000"/>
                </a:solidFill>
                <a:latin typeface="+mj-lt"/>
                <a:cs typeface="Times New Roman" panose="02020603050405020304" pitchFamily="18" charset="0"/>
              </a:rPr>
              <a:t>tử</a:t>
            </a:r>
            <a:r>
              <a:rPr lang="en-US" sz="2000" b="1" dirty="0">
                <a:latin typeface="+mj-lt"/>
                <a:cs typeface="Times New Roman" panose="02020603050405020304" pitchFamily="18" charset="0"/>
              </a:rPr>
              <a:t>]</a:t>
            </a:r>
          </a:p>
          <a:p>
            <a:pPr marL="0" indent="0" algn="l">
              <a:spcBef>
                <a:spcPts val="0"/>
              </a:spcBef>
              <a:buNone/>
            </a:pPr>
            <a:r>
              <a:rPr lang="en-US" sz="2200" b="1" dirty="0">
                <a:latin typeface="+mj-lt"/>
                <a:cs typeface="Times New Roman" panose="02020603050405020304" pitchFamily="18" charset="0"/>
              </a:rPr>
              <a:t>	</a:t>
            </a:r>
            <a:r>
              <a:rPr lang="en-US" sz="2200" dirty="0">
                <a:solidFill>
                  <a:srgbClr val="000099"/>
                </a:solidFill>
                <a:latin typeface="+mj-lt"/>
                <a:cs typeface="Times New Roman" panose="02020603050405020304" pitchFamily="18" charset="0"/>
              </a:rPr>
              <a:t>int [] so = new int[10];</a:t>
            </a:r>
          </a:p>
          <a:p>
            <a:pPr marL="0" indent="0" algn="l">
              <a:spcBef>
                <a:spcPts val="0"/>
              </a:spcBef>
              <a:buNone/>
            </a:pPr>
            <a:r>
              <a:rPr lang="en-US" sz="2200" dirty="0">
                <a:solidFill>
                  <a:srgbClr val="000099"/>
                </a:solidFill>
                <a:latin typeface="+mj-lt"/>
                <a:cs typeface="Times New Roman" panose="02020603050405020304" pitchFamily="18" charset="0"/>
              </a:rPr>
              <a:t>	float[] diem = new float[3];</a:t>
            </a:r>
          </a:p>
          <a:p>
            <a:pPr marL="376237" indent="-342900" algn="l">
              <a:buFont typeface="Wingdings" panose="05000000000000000000" pitchFamily="2" charset="2"/>
              <a:buChar char="ü"/>
            </a:pPr>
            <a:r>
              <a:rPr lang="en-US" sz="2200" i="0" dirty="0" err="1">
                <a:effectLst/>
                <a:latin typeface="+mj-lt"/>
                <a:cs typeface="Times New Roman" panose="02020603050405020304" pitchFamily="18" charset="0"/>
              </a:rPr>
              <a:t>Khởi</a:t>
            </a:r>
            <a:r>
              <a:rPr lang="en-US" sz="2200" i="0" dirty="0">
                <a:effectLst/>
                <a:latin typeface="+mj-lt"/>
                <a:cs typeface="Times New Roman" panose="02020603050405020304" pitchFamily="18" charset="0"/>
              </a:rPr>
              <a:t> </a:t>
            </a:r>
            <a:r>
              <a:rPr lang="en-US" sz="2200" i="0" dirty="0" err="1">
                <a:effectLst/>
                <a:latin typeface="+mj-lt"/>
                <a:cs typeface="Times New Roman" panose="02020603050405020304" pitchFamily="18" charset="0"/>
              </a:rPr>
              <a:t>tạo</a:t>
            </a:r>
            <a:r>
              <a:rPr lang="en-US" sz="2200" i="0" dirty="0">
                <a:effectLst/>
                <a:latin typeface="+mj-lt"/>
                <a:cs typeface="Times New Roman" panose="02020603050405020304" pitchFamily="18" charset="0"/>
              </a:rPr>
              <a:t> </a:t>
            </a:r>
            <a:r>
              <a:rPr lang="en-US" sz="2200" i="0" dirty="0" err="1">
                <a:effectLst/>
                <a:latin typeface="+mj-lt"/>
                <a:cs typeface="Times New Roman" panose="02020603050405020304" pitchFamily="18" charset="0"/>
              </a:rPr>
              <a:t>giá</a:t>
            </a:r>
            <a:r>
              <a:rPr lang="en-US" sz="2200" i="0" dirty="0">
                <a:effectLst/>
                <a:latin typeface="+mj-lt"/>
                <a:cs typeface="Times New Roman" panose="02020603050405020304" pitchFamily="18" charset="0"/>
              </a:rPr>
              <a:t> </a:t>
            </a:r>
            <a:r>
              <a:rPr lang="en-US" sz="2200" i="0" dirty="0" err="1">
                <a:effectLst/>
                <a:latin typeface="+mj-lt"/>
                <a:cs typeface="Times New Roman" panose="02020603050405020304" pitchFamily="18" charset="0"/>
              </a:rPr>
              <a:t>trị</a:t>
            </a:r>
            <a:endParaRPr lang="en-US" sz="2200" i="0" dirty="0">
              <a:effectLst/>
              <a:latin typeface="+mj-lt"/>
              <a:cs typeface="Times New Roman" panose="02020603050405020304" pitchFamily="18" charset="0"/>
            </a:endParaRPr>
          </a:p>
          <a:p>
            <a:pPr marL="471487" lvl="1" indent="0">
              <a:buNone/>
            </a:pPr>
            <a:r>
              <a:rPr lang="en-US" sz="2200" b="1" i="0" dirty="0">
                <a:solidFill>
                  <a:srgbClr val="0000FF"/>
                </a:solidFill>
                <a:effectLst/>
                <a:latin typeface="+mj-lt"/>
                <a:cs typeface="Times New Roman" panose="02020603050405020304" pitchFamily="18" charset="0"/>
              </a:rPr>
              <a:t>&lt;</a:t>
            </a:r>
            <a:r>
              <a:rPr lang="en-US" sz="2200" b="1" i="0" dirty="0" err="1">
                <a:solidFill>
                  <a:srgbClr val="0000FF"/>
                </a:solidFill>
                <a:effectLst/>
                <a:latin typeface="+mj-lt"/>
                <a:cs typeface="Times New Roman" panose="02020603050405020304" pitchFamily="18" charset="0"/>
              </a:rPr>
              <a:t>kiểu</a:t>
            </a:r>
            <a:r>
              <a:rPr lang="en-US" sz="2200" b="1" i="0" dirty="0">
                <a:solidFill>
                  <a:srgbClr val="0000FF"/>
                </a:solidFill>
                <a:effectLst/>
                <a:latin typeface="+mj-lt"/>
                <a:cs typeface="Times New Roman" panose="02020603050405020304" pitchFamily="18" charset="0"/>
              </a:rPr>
              <a:t> </a:t>
            </a:r>
            <a:r>
              <a:rPr lang="en-US" sz="2200" b="1" i="0" dirty="0" err="1">
                <a:solidFill>
                  <a:srgbClr val="0000FF"/>
                </a:solidFill>
                <a:effectLst/>
                <a:latin typeface="+mj-lt"/>
                <a:cs typeface="Times New Roman" panose="02020603050405020304" pitchFamily="18" charset="0"/>
              </a:rPr>
              <a:t>dữ</a:t>
            </a:r>
            <a:r>
              <a:rPr lang="en-US" sz="2200" b="1" i="0" dirty="0">
                <a:solidFill>
                  <a:srgbClr val="0000FF"/>
                </a:solidFill>
                <a:effectLst/>
                <a:latin typeface="+mj-lt"/>
                <a:cs typeface="Times New Roman" panose="02020603050405020304" pitchFamily="18" charset="0"/>
              </a:rPr>
              <a:t> </a:t>
            </a:r>
            <a:r>
              <a:rPr lang="en-US" sz="2200" b="1" i="0" dirty="0" err="1">
                <a:solidFill>
                  <a:srgbClr val="0000FF"/>
                </a:solidFill>
                <a:effectLst/>
                <a:latin typeface="+mj-lt"/>
                <a:cs typeface="Times New Roman" panose="02020603050405020304" pitchFamily="18" charset="0"/>
              </a:rPr>
              <a:t>liệu</a:t>
            </a:r>
            <a:r>
              <a:rPr lang="en-US" sz="2200" b="1" i="0" dirty="0">
                <a:solidFill>
                  <a:srgbClr val="0000FF"/>
                </a:solidFill>
                <a:effectLst/>
                <a:latin typeface="+mj-lt"/>
                <a:cs typeface="Times New Roman" panose="02020603050405020304" pitchFamily="18" charset="0"/>
              </a:rPr>
              <a:t>&gt;</a:t>
            </a:r>
            <a:r>
              <a:rPr lang="en-US" sz="2200" b="1" i="0" dirty="0">
                <a:solidFill>
                  <a:srgbClr val="222C37"/>
                </a:solidFill>
                <a:effectLst/>
                <a:latin typeface="+mj-lt"/>
                <a:cs typeface="Times New Roman" panose="02020603050405020304" pitchFamily="18" charset="0"/>
              </a:rPr>
              <a:t>[]</a:t>
            </a:r>
            <a:r>
              <a:rPr lang="en-US" sz="2200" b="0" i="0" dirty="0">
                <a:solidFill>
                  <a:srgbClr val="222C37"/>
                </a:solidFill>
                <a:effectLst/>
                <a:latin typeface="+mj-lt"/>
                <a:cs typeface="Times New Roman" panose="02020603050405020304" pitchFamily="18" charset="0"/>
              </a:rPr>
              <a:t> </a:t>
            </a:r>
            <a:r>
              <a:rPr lang="en-US" sz="2200" b="1" i="0" dirty="0">
                <a:solidFill>
                  <a:srgbClr val="B22222"/>
                </a:solidFill>
                <a:effectLst/>
                <a:latin typeface="+mj-lt"/>
                <a:cs typeface="Times New Roman" panose="02020603050405020304" pitchFamily="18" charset="0"/>
              </a:rPr>
              <a:t>&lt;</a:t>
            </a:r>
            <a:r>
              <a:rPr lang="en-US" sz="2200" b="1" i="0" dirty="0" err="1">
                <a:solidFill>
                  <a:srgbClr val="B22222"/>
                </a:solidFill>
                <a:effectLst/>
                <a:latin typeface="+mj-lt"/>
                <a:cs typeface="Times New Roman" panose="02020603050405020304" pitchFamily="18" charset="0"/>
              </a:rPr>
              <a:t>tên</a:t>
            </a:r>
            <a:r>
              <a:rPr lang="en-US" sz="2200" b="1" i="0" dirty="0">
                <a:solidFill>
                  <a:srgbClr val="B22222"/>
                </a:solidFill>
                <a:effectLst/>
                <a:latin typeface="+mj-lt"/>
                <a:cs typeface="Times New Roman" panose="02020603050405020304" pitchFamily="18" charset="0"/>
              </a:rPr>
              <a:t> </a:t>
            </a:r>
            <a:r>
              <a:rPr lang="en-US" sz="2200" b="1" i="0" dirty="0" err="1">
                <a:solidFill>
                  <a:srgbClr val="B22222"/>
                </a:solidFill>
                <a:effectLst/>
                <a:latin typeface="+mj-lt"/>
                <a:cs typeface="Times New Roman" panose="02020603050405020304" pitchFamily="18" charset="0"/>
              </a:rPr>
              <a:t>mảng</a:t>
            </a:r>
            <a:r>
              <a:rPr lang="en-US" sz="2200" b="1" i="0" dirty="0">
                <a:solidFill>
                  <a:srgbClr val="B22222"/>
                </a:solidFill>
                <a:effectLst/>
                <a:latin typeface="+mj-lt"/>
                <a:cs typeface="Times New Roman" panose="02020603050405020304" pitchFamily="18" charset="0"/>
              </a:rPr>
              <a:t>&gt;</a:t>
            </a:r>
            <a:r>
              <a:rPr lang="en-US" sz="2200" b="0" i="0" dirty="0">
                <a:solidFill>
                  <a:srgbClr val="222C37"/>
                </a:solidFill>
                <a:effectLst/>
                <a:latin typeface="+mj-lt"/>
                <a:cs typeface="Times New Roman" panose="02020603050405020304" pitchFamily="18" charset="0"/>
              </a:rPr>
              <a:t> = { </a:t>
            </a:r>
            <a:r>
              <a:rPr lang="en-US" sz="2200" b="0" i="0" dirty="0">
                <a:solidFill>
                  <a:srgbClr val="008000"/>
                </a:solidFill>
                <a:effectLst/>
                <a:latin typeface="+mj-lt"/>
                <a:cs typeface="Times New Roman" panose="02020603050405020304" pitchFamily="18" charset="0"/>
              </a:rPr>
              <a:t>&lt;</a:t>
            </a:r>
            <a:r>
              <a:rPr lang="en-US" sz="2200" b="0" i="0" dirty="0" err="1">
                <a:solidFill>
                  <a:srgbClr val="008000"/>
                </a:solidFill>
                <a:effectLst/>
                <a:latin typeface="+mj-lt"/>
                <a:cs typeface="Times New Roman" panose="02020603050405020304" pitchFamily="18" charset="0"/>
              </a:rPr>
              <a:t>giá</a:t>
            </a:r>
            <a:r>
              <a:rPr lang="en-US" sz="2200" b="0" i="0" dirty="0">
                <a:solidFill>
                  <a:srgbClr val="008000"/>
                </a:solidFill>
                <a:effectLst/>
                <a:latin typeface="+mj-lt"/>
                <a:cs typeface="Times New Roman" panose="02020603050405020304" pitchFamily="18" charset="0"/>
              </a:rPr>
              <a:t> </a:t>
            </a:r>
            <a:r>
              <a:rPr lang="en-US" sz="2200" b="0" i="0" dirty="0" err="1">
                <a:solidFill>
                  <a:srgbClr val="008000"/>
                </a:solidFill>
                <a:effectLst/>
                <a:latin typeface="+mj-lt"/>
                <a:cs typeface="Times New Roman" panose="02020603050405020304" pitchFamily="18" charset="0"/>
              </a:rPr>
              <a:t>trị</a:t>
            </a:r>
            <a:r>
              <a:rPr lang="en-US" sz="2200" b="0" i="0" dirty="0">
                <a:solidFill>
                  <a:srgbClr val="008000"/>
                </a:solidFill>
                <a:effectLst/>
                <a:latin typeface="+mj-lt"/>
                <a:cs typeface="Times New Roman" panose="02020603050405020304" pitchFamily="18" charset="0"/>
              </a:rPr>
              <a:t> 1&gt;, …, &lt;</a:t>
            </a:r>
            <a:r>
              <a:rPr lang="en-US" sz="2200" b="0" i="0" dirty="0" err="1">
                <a:solidFill>
                  <a:srgbClr val="008000"/>
                </a:solidFill>
                <a:effectLst/>
                <a:latin typeface="+mj-lt"/>
                <a:cs typeface="Times New Roman" panose="02020603050405020304" pitchFamily="18" charset="0"/>
              </a:rPr>
              <a:t>giá</a:t>
            </a:r>
            <a:r>
              <a:rPr lang="en-US" sz="2200" b="0" i="0" dirty="0">
                <a:solidFill>
                  <a:srgbClr val="008000"/>
                </a:solidFill>
                <a:effectLst/>
                <a:latin typeface="+mj-lt"/>
                <a:cs typeface="Times New Roman" panose="02020603050405020304" pitchFamily="18" charset="0"/>
              </a:rPr>
              <a:t> </a:t>
            </a:r>
            <a:r>
              <a:rPr lang="en-US" sz="2200" b="0" i="0" dirty="0" err="1">
                <a:solidFill>
                  <a:srgbClr val="008000"/>
                </a:solidFill>
                <a:effectLst/>
                <a:latin typeface="+mj-lt"/>
                <a:cs typeface="Times New Roman" panose="02020603050405020304" pitchFamily="18" charset="0"/>
              </a:rPr>
              <a:t>trị</a:t>
            </a:r>
            <a:r>
              <a:rPr lang="en-US" sz="2200" b="0" i="0" dirty="0">
                <a:solidFill>
                  <a:srgbClr val="008000"/>
                </a:solidFill>
                <a:effectLst/>
                <a:latin typeface="+mj-lt"/>
                <a:cs typeface="Times New Roman" panose="02020603050405020304" pitchFamily="18" charset="0"/>
              </a:rPr>
              <a:t> n&gt;</a:t>
            </a:r>
            <a:r>
              <a:rPr lang="en-US" sz="2200" b="0" i="0" dirty="0">
                <a:solidFill>
                  <a:srgbClr val="222C37"/>
                </a:solidFill>
                <a:effectLst/>
                <a:latin typeface="+mj-lt"/>
                <a:cs typeface="Times New Roman" panose="02020603050405020304" pitchFamily="18" charset="0"/>
              </a:rPr>
              <a:t> };</a:t>
            </a:r>
          </a:p>
          <a:p>
            <a:pPr marL="33337" indent="0">
              <a:buNone/>
            </a:pPr>
            <a:r>
              <a:rPr lang="en-US" sz="2200" b="1" i="0" dirty="0">
                <a:solidFill>
                  <a:srgbClr val="6377C5"/>
                </a:solidFill>
                <a:effectLst/>
                <a:latin typeface="+mj-lt"/>
                <a:cs typeface="Times New Roman" panose="02020603050405020304" pitchFamily="18" charset="0"/>
              </a:rPr>
              <a:t>	int</a:t>
            </a:r>
            <a:r>
              <a:rPr lang="en-US" sz="2200" b="0" i="0" dirty="0">
                <a:solidFill>
                  <a:srgbClr val="800080"/>
                </a:solidFill>
                <a:effectLst/>
                <a:latin typeface="+mj-lt"/>
                <a:cs typeface="Times New Roman" panose="02020603050405020304" pitchFamily="18" charset="0"/>
              </a:rPr>
              <a:t>[] </a:t>
            </a:r>
            <a:r>
              <a:rPr lang="en-US" sz="2200" b="0" i="0" dirty="0" err="1">
                <a:solidFill>
                  <a:srgbClr val="800080"/>
                </a:solidFill>
                <a:effectLst/>
                <a:latin typeface="+mj-lt"/>
                <a:cs typeface="Times New Roman" panose="02020603050405020304" pitchFamily="18" charset="0"/>
              </a:rPr>
              <a:t>IntArray</a:t>
            </a:r>
            <a:r>
              <a:rPr lang="en-US" sz="2200" b="0" i="0" dirty="0">
                <a:solidFill>
                  <a:srgbClr val="800080"/>
                </a:solidFill>
                <a:effectLst/>
                <a:latin typeface="+mj-lt"/>
                <a:cs typeface="Times New Roman" panose="02020603050405020304" pitchFamily="18" charset="0"/>
              </a:rPr>
              <a:t> = { </a:t>
            </a:r>
            <a:r>
              <a:rPr lang="en-US" sz="2200" b="0" i="0" dirty="0">
                <a:solidFill>
                  <a:srgbClr val="008800"/>
                </a:solidFill>
                <a:effectLst/>
                <a:latin typeface="+mj-lt"/>
                <a:cs typeface="Times New Roman" panose="02020603050405020304" pitchFamily="18" charset="0"/>
              </a:rPr>
              <a:t>3</a:t>
            </a:r>
            <a:r>
              <a:rPr lang="en-US" sz="2200" b="0" i="0" dirty="0">
                <a:solidFill>
                  <a:srgbClr val="800080"/>
                </a:solidFill>
                <a:effectLst/>
                <a:latin typeface="+mj-lt"/>
                <a:cs typeface="Times New Roman" panose="02020603050405020304" pitchFamily="18" charset="0"/>
              </a:rPr>
              <a:t>, </a:t>
            </a:r>
            <a:r>
              <a:rPr lang="en-US" sz="2200" b="0" i="0" dirty="0">
                <a:solidFill>
                  <a:srgbClr val="008800"/>
                </a:solidFill>
                <a:effectLst/>
                <a:latin typeface="+mj-lt"/>
                <a:cs typeface="Times New Roman" panose="02020603050405020304" pitchFamily="18" charset="0"/>
              </a:rPr>
              <a:t>9</a:t>
            </a:r>
            <a:r>
              <a:rPr lang="en-US" sz="2200" b="0" i="0" dirty="0">
                <a:solidFill>
                  <a:srgbClr val="800080"/>
                </a:solidFill>
                <a:effectLst/>
                <a:latin typeface="+mj-lt"/>
                <a:cs typeface="Times New Roman" panose="02020603050405020304" pitchFamily="18" charset="0"/>
              </a:rPr>
              <a:t>, </a:t>
            </a:r>
            <a:r>
              <a:rPr lang="en-US" sz="2200" b="0" i="0" dirty="0">
                <a:solidFill>
                  <a:srgbClr val="008800"/>
                </a:solidFill>
                <a:effectLst/>
                <a:latin typeface="+mj-lt"/>
                <a:cs typeface="Times New Roman" panose="02020603050405020304" pitchFamily="18" charset="0"/>
              </a:rPr>
              <a:t>10</a:t>
            </a:r>
            <a:r>
              <a:rPr lang="en-US" sz="2200" b="0" i="0" dirty="0">
                <a:solidFill>
                  <a:srgbClr val="800080"/>
                </a:solidFill>
                <a:effectLst/>
                <a:latin typeface="+mj-lt"/>
                <a:cs typeface="Times New Roman" panose="02020603050405020304" pitchFamily="18" charset="0"/>
              </a:rPr>
              <a:t> };</a:t>
            </a:r>
            <a:endParaRPr lang="en-US" sz="2200" b="0" i="0" dirty="0">
              <a:solidFill>
                <a:srgbClr val="222C37"/>
              </a:solidFill>
              <a:effectLst/>
              <a:latin typeface="+mj-lt"/>
              <a:cs typeface="Times New Roman" panose="02020603050405020304" pitchFamily="18" charset="0"/>
            </a:endParaRPr>
          </a:p>
          <a:p>
            <a:pPr marL="0" indent="0" algn="l">
              <a:spcBef>
                <a:spcPts val="0"/>
              </a:spcBef>
              <a:buNone/>
            </a:pPr>
            <a:endParaRPr lang="en-US" sz="2200" dirty="0">
              <a:solidFill>
                <a:srgbClr val="000099"/>
              </a:solidFill>
              <a:latin typeface="+mj-lt"/>
              <a:cs typeface="Times New Roman" panose="02020603050405020304" pitchFamily="18" charset="0"/>
            </a:endParaRPr>
          </a:p>
        </p:txBody>
      </p:sp>
      <p:sp>
        <p:nvSpPr>
          <p:cNvPr id="4" name="Date Placeholder 3"/>
          <p:cNvSpPr>
            <a:spLocks noGrp="1"/>
          </p:cNvSpPr>
          <p:nvPr>
            <p:ph type="dt" sz="half" idx="10"/>
          </p:nvPr>
        </p:nvSpPr>
        <p:spPr/>
        <p:txBody>
          <a:bodyPr/>
          <a:lstStyle/>
          <a:p>
            <a:fld id="{F2EBAA08-7C8F-4CA2-8751-6991ACB89095}" type="datetime1">
              <a:rPr lang="vi-VN" smtClean="0"/>
              <a:t>08/02/2025</a:t>
            </a:fld>
            <a:endParaRPr lang="vi-VN"/>
          </a:p>
        </p:txBody>
      </p:sp>
      <p:sp>
        <p:nvSpPr>
          <p:cNvPr id="5" name="Footer Placeholder 4"/>
          <p:cNvSpPr>
            <a:spLocks noGrp="1"/>
          </p:cNvSpPr>
          <p:nvPr>
            <p:ph type="ftr" sz="quarter" idx="11"/>
          </p:nvPr>
        </p:nvSpPr>
        <p:spPr/>
        <p:txBody>
          <a:bodyPr/>
          <a:lstStyle/>
          <a:p>
            <a:r>
              <a:rPr lang="vi-VN"/>
              <a:t>Chương 2. Các thành phần cơ bản trong C#</a:t>
            </a:r>
          </a:p>
        </p:txBody>
      </p:sp>
      <p:sp>
        <p:nvSpPr>
          <p:cNvPr id="6" name="Slide Number Placeholder 5"/>
          <p:cNvSpPr>
            <a:spLocks noGrp="1"/>
          </p:cNvSpPr>
          <p:nvPr>
            <p:ph type="sldNum" sz="quarter" idx="12"/>
          </p:nvPr>
        </p:nvSpPr>
        <p:spPr/>
        <p:txBody>
          <a:bodyPr/>
          <a:lstStyle/>
          <a:p>
            <a:fld id="{5AB95402-1E0D-474E-8D8C-CBE7F053639E}" type="slidenum">
              <a:rPr lang="vi-VN" smtClean="0"/>
              <a:pPr/>
              <a:t>3</a:t>
            </a:fld>
            <a:r>
              <a:rPr lang="vi-VN"/>
              <a:t>/47</a:t>
            </a:r>
          </a:p>
        </p:txBody>
      </p:sp>
    </p:spTree>
    <p:extLst>
      <p:ext uri="{BB962C8B-B14F-4D97-AF65-F5344CB8AC3E}">
        <p14:creationId xmlns:p14="http://schemas.microsoft.com/office/powerpoint/2010/main" val="428467075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EE71A463-D6BC-4952-A402-F9D96CF5AA60}" type="datetime1">
              <a:rPr lang="vi-VN" smtClean="0"/>
              <a:t>08/02/2025</a:t>
            </a:fld>
            <a:endParaRPr lang="vi-VN"/>
          </a:p>
        </p:txBody>
      </p:sp>
      <p:sp>
        <p:nvSpPr>
          <p:cNvPr id="5" name="Footer Placeholder 4"/>
          <p:cNvSpPr>
            <a:spLocks noGrp="1"/>
          </p:cNvSpPr>
          <p:nvPr>
            <p:ph type="ftr" sz="quarter" idx="11"/>
          </p:nvPr>
        </p:nvSpPr>
        <p:spPr/>
        <p:txBody>
          <a:bodyPr/>
          <a:lstStyle/>
          <a:p>
            <a:r>
              <a:rPr lang="vi-VN"/>
              <a:t>Chương 2. Các thành phần cơ bản trong C#</a:t>
            </a:r>
          </a:p>
        </p:txBody>
      </p:sp>
      <p:sp>
        <p:nvSpPr>
          <p:cNvPr id="6" name="Slide Number Placeholder 5"/>
          <p:cNvSpPr>
            <a:spLocks noGrp="1"/>
          </p:cNvSpPr>
          <p:nvPr>
            <p:ph type="sldNum" sz="quarter" idx="12"/>
          </p:nvPr>
        </p:nvSpPr>
        <p:spPr/>
        <p:txBody>
          <a:bodyPr/>
          <a:lstStyle/>
          <a:p>
            <a:fld id="{5AB95402-1E0D-474E-8D8C-CBE7F053639E}" type="slidenum">
              <a:rPr lang="vi-VN" smtClean="0"/>
              <a:pPr/>
              <a:t>4</a:t>
            </a:fld>
            <a:r>
              <a:rPr lang="vi-VN"/>
              <a:t>/47</a:t>
            </a:r>
          </a:p>
        </p:txBody>
      </p:sp>
      <p:sp>
        <p:nvSpPr>
          <p:cNvPr id="10" name="Title 1">
            <a:extLst>
              <a:ext uri="{FF2B5EF4-FFF2-40B4-BE49-F238E27FC236}">
                <a16:creationId xmlns:a16="http://schemas.microsoft.com/office/drawing/2014/main" id="{59E5D437-4157-4EBD-8666-0F8753BCAE8D}"/>
              </a:ext>
            </a:extLst>
          </p:cNvPr>
          <p:cNvSpPr>
            <a:spLocks noGrp="1"/>
          </p:cNvSpPr>
          <p:nvPr>
            <p:ph type="title"/>
          </p:nvPr>
        </p:nvSpPr>
        <p:spPr>
          <a:xfrm>
            <a:off x="794048" y="361950"/>
            <a:ext cx="8382000" cy="685800"/>
          </a:xfrm>
        </p:spPr>
        <p:txBody>
          <a:bodyPr/>
          <a:lstStyle/>
          <a:p>
            <a:r>
              <a:rPr lang="en-US"/>
              <a:t>3.3. Mảng trong C#</a:t>
            </a:r>
            <a:endParaRPr lang="vi-VN"/>
          </a:p>
        </p:txBody>
      </p:sp>
      <p:sp>
        <p:nvSpPr>
          <p:cNvPr id="12" name="Content Placeholder 2">
            <a:extLst>
              <a:ext uri="{FF2B5EF4-FFF2-40B4-BE49-F238E27FC236}">
                <a16:creationId xmlns:a16="http://schemas.microsoft.com/office/drawing/2014/main" id="{B365CA6F-4D6E-4A6F-8CD2-DAAB108C1413}"/>
              </a:ext>
            </a:extLst>
          </p:cNvPr>
          <p:cNvSpPr>
            <a:spLocks noGrp="1"/>
          </p:cNvSpPr>
          <p:nvPr>
            <p:ph idx="1"/>
          </p:nvPr>
        </p:nvSpPr>
        <p:spPr>
          <a:xfrm>
            <a:off x="465978" y="1104900"/>
            <a:ext cx="8382000" cy="5181600"/>
          </a:xfrm>
        </p:spPr>
        <p:txBody>
          <a:bodyPr/>
          <a:lstStyle/>
          <a:p>
            <a:r>
              <a:rPr lang="vi-VN" sz="2400"/>
              <a:t> Khai báo mảng nhưng chưa cấp phát vùng nhớ</a:t>
            </a:r>
            <a:endParaRPr lang="en-US" sz="2400"/>
          </a:p>
          <a:p>
            <a:pPr marL="0" indent="0">
              <a:buNone/>
            </a:pPr>
            <a:r>
              <a:rPr lang="en-US" sz="2400"/>
              <a:t>		</a:t>
            </a:r>
            <a:r>
              <a:rPr lang="vi-VN" sz="2400" b="1">
                <a:solidFill>
                  <a:srgbClr val="0000FF"/>
                </a:solidFill>
              </a:rPr>
              <a:t>int[] numbers;</a:t>
            </a:r>
          </a:p>
          <a:p>
            <a:r>
              <a:rPr lang="vi-VN" sz="2400" dirty="0"/>
              <a:t>Khai báo và cấp phát vùng nhớ (nhưng chưa khởi tạo giá trị)</a:t>
            </a:r>
          </a:p>
          <a:p>
            <a:pPr marL="0" indent="0">
              <a:buNone/>
            </a:pPr>
            <a:r>
              <a:rPr lang="en-US" sz="2400" b="1" dirty="0"/>
              <a:t>	</a:t>
            </a:r>
            <a:r>
              <a:rPr lang="en-US" sz="2400" b="1"/>
              <a:t>	</a:t>
            </a:r>
            <a:r>
              <a:rPr lang="en-US" sz="2400" b="1">
                <a:solidFill>
                  <a:srgbClr val="0000FF"/>
                </a:solidFill>
              </a:rPr>
              <a:t>int</a:t>
            </a:r>
            <a:r>
              <a:rPr lang="en-US" sz="2400" b="1" dirty="0">
                <a:solidFill>
                  <a:srgbClr val="0000FF"/>
                </a:solidFill>
              </a:rPr>
              <a:t>[] numbers = new int[5];</a:t>
            </a:r>
          </a:p>
          <a:p>
            <a:r>
              <a:rPr lang="en-US" sz="2400"/>
              <a:t>Khai </a:t>
            </a:r>
            <a:r>
              <a:rPr lang="en-US" sz="2400" dirty="0" err="1"/>
              <a:t>báo</a:t>
            </a:r>
            <a:r>
              <a:rPr lang="en-US" sz="2400" dirty="0"/>
              <a:t>, </a:t>
            </a:r>
            <a:r>
              <a:rPr lang="en-US" sz="2400" dirty="0" err="1"/>
              <a:t>cấp</a:t>
            </a:r>
            <a:r>
              <a:rPr lang="en-US" sz="2400" dirty="0"/>
              <a:t> </a:t>
            </a:r>
            <a:r>
              <a:rPr lang="en-US" sz="2400" dirty="0" err="1"/>
              <a:t>phát</a:t>
            </a:r>
            <a:r>
              <a:rPr lang="en-US" sz="2400" dirty="0"/>
              <a:t> </a:t>
            </a:r>
            <a:r>
              <a:rPr lang="en-US" sz="2400" dirty="0" err="1"/>
              <a:t>và</a:t>
            </a:r>
            <a:r>
              <a:rPr lang="en-US" sz="2400" dirty="0"/>
              <a:t> </a:t>
            </a:r>
            <a:r>
              <a:rPr lang="en-US" sz="2400" dirty="0" err="1"/>
              <a:t>khởi</a:t>
            </a:r>
            <a:r>
              <a:rPr lang="en-US" sz="2400" dirty="0"/>
              <a:t> </a:t>
            </a:r>
            <a:r>
              <a:rPr lang="en-US" sz="2400" dirty="0" err="1"/>
              <a:t>tạo</a:t>
            </a:r>
            <a:r>
              <a:rPr lang="en-US" sz="2400" dirty="0"/>
              <a:t> </a:t>
            </a:r>
            <a:r>
              <a:rPr lang="en-US" sz="2400" dirty="0" err="1"/>
              <a:t>giá</a:t>
            </a:r>
            <a:r>
              <a:rPr lang="en-US" sz="2400" dirty="0"/>
              <a:t> </a:t>
            </a:r>
            <a:r>
              <a:rPr lang="en-US" sz="2400" dirty="0" err="1"/>
              <a:t>trị</a:t>
            </a:r>
            <a:r>
              <a:rPr lang="en-US" sz="2400" dirty="0"/>
              <a:t> </a:t>
            </a:r>
            <a:r>
              <a:rPr lang="en-US" sz="2400" dirty="0" err="1"/>
              <a:t>ngay</a:t>
            </a:r>
            <a:endParaRPr lang="en-US" sz="2400" dirty="0"/>
          </a:p>
          <a:p>
            <a:pPr marL="0" indent="0">
              <a:buNone/>
            </a:pPr>
            <a:r>
              <a:rPr lang="en-US" sz="2400"/>
              <a:t>	</a:t>
            </a:r>
            <a:r>
              <a:rPr lang="en-US" sz="2400" b="1">
                <a:solidFill>
                  <a:srgbClr val="0000FF"/>
                </a:solidFill>
              </a:rPr>
              <a:t>int</a:t>
            </a:r>
            <a:r>
              <a:rPr lang="en-US" sz="2400" b="1" dirty="0">
                <a:solidFill>
                  <a:srgbClr val="0000FF"/>
                </a:solidFill>
              </a:rPr>
              <a:t>[] numbers = new int[] { 1, 2, 3, 4, 5 };</a:t>
            </a:r>
          </a:p>
          <a:p>
            <a:pPr marL="0" indent="0">
              <a:buNone/>
            </a:pPr>
            <a:r>
              <a:rPr lang="en-US" sz="2400"/>
              <a:t> </a:t>
            </a:r>
            <a:r>
              <a:rPr lang="en-US" sz="2400" dirty="0" err="1"/>
              <a:t>Hoặc</a:t>
            </a:r>
            <a:r>
              <a:rPr lang="en-US" sz="2400"/>
              <a:t>: </a:t>
            </a:r>
            <a:r>
              <a:rPr lang="en-US" sz="2400" b="1" dirty="0">
                <a:solidFill>
                  <a:srgbClr val="0000FF"/>
                </a:solidFill>
              </a:rPr>
              <a:t>int[] numbers = { 1, 2, 3, 4, 5 };</a:t>
            </a:r>
          </a:p>
          <a:p>
            <a:r>
              <a:rPr lang="en-US" sz="2400"/>
              <a:t>Khai </a:t>
            </a:r>
            <a:r>
              <a:rPr lang="en-US" sz="2400" dirty="0" err="1"/>
              <a:t>báo</a:t>
            </a:r>
            <a:r>
              <a:rPr lang="en-US" sz="2400" dirty="0"/>
              <a:t> </a:t>
            </a:r>
            <a:r>
              <a:rPr lang="en-US" sz="2400" dirty="0" err="1"/>
              <a:t>và</a:t>
            </a:r>
            <a:r>
              <a:rPr lang="en-US" sz="2400" dirty="0"/>
              <a:t> </a:t>
            </a:r>
            <a:r>
              <a:rPr lang="en-US" sz="2400" dirty="0" err="1"/>
              <a:t>khởi</a:t>
            </a:r>
            <a:r>
              <a:rPr lang="en-US" sz="2400" dirty="0"/>
              <a:t> </a:t>
            </a:r>
            <a:r>
              <a:rPr lang="en-US" sz="2400" dirty="0" err="1"/>
              <a:t>tạo</a:t>
            </a:r>
            <a:r>
              <a:rPr lang="en-US" sz="2400" dirty="0"/>
              <a:t> </a:t>
            </a:r>
            <a:r>
              <a:rPr lang="en-US" sz="2400" dirty="0" err="1"/>
              <a:t>mảng</a:t>
            </a:r>
            <a:r>
              <a:rPr lang="en-US" sz="2400" dirty="0"/>
              <a:t> </a:t>
            </a:r>
            <a:r>
              <a:rPr lang="en-US" sz="2400" dirty="0" err="1"/>
              <a:t>chuỗi</a:t>
            </a:r>
            <a:endParaRPr lang="vi-VN" sz="2400" dirty="0"/>
          </a:p>
          <a:p>
            <a:pPr marL="0" indent="0">
              <a:buNone/>
            </a:pPr>
            <a:r>
              <a:rPr lang="en-US" sz="2400" dirty="0"/>
              <a:t>	</a:t>
            </a:r>
            <a:r>
              <a:rPr lang="en-US" sz="2400" b="1" dirty="0">
                <a:solidFill>
                  <a:srgbClr val="0000FF"/>
                </a:solidFill>
              </a:rPr>
              <a:t>string[] names = { "Alice", "Bob", "Charlie" };</a:t>
            </a:r>
          </a:p>
          <a:p>
            <a:pPr marL="0" indent="0">
              <a:buNone/>
            </a:pPr>
            <a:endParaRPr lang="en-US" sz="2400" b="1" dirty="0">
              <a:solidFill>
                <a:srgbClr val="0000FF"/>
              </a:solidFill>
            </a:endParaRPr>
          </a:p>
          <a:p>
            <a:pPr marL="0" indent="0" algn="l">
              <a:spcBef>
                <a:spcPts val="0"/>
              </a:spcBef>
              <a:buNone/>
            </a:pPr>
            <a:endParaRPr lang="en-US" sz="2200" dirty="0">
              <a:solidFill>
                <a:srgbClr val="000099"/>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3681373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a:t>Truy cập các thành phần trong mảng</a:t>
            </a:r>
          </a:p>
          <a:p>
            <a:pPr lvl="1"/>
            <a:r>
              <a:rPr lang="en-US"/>
              <a:t>Dùng toán tử chỉ số [ ]</a:t>
            </a:r>
          </a:p>
          <a:p>
            <a:pPr marL="471487" lvl="1" indent="0">
              <a:buNone/>
            </a:pPr>
            <a:r>
              <a:rPr lang="en-US"/>
              <a:t>		 &lt;tên mảng&gt;[chỉ số]</a:t>
            </a:r>
          </a:p>
          <a:p>
            <a:pPr lvl="1"/>
            <a:r>
              <a:rPr lang="en-US"/>
              <a:t>Chỉ số phần tử đầu tiên là 0</a:t>
            </a:r>
          </a:p>
          <a:p>
            <a:r>
              <a:rPr lang="en-US"/>
              <a:t>Ví dụ:</a:t>
            </a:r>
            <a:endParaRPr lang="vi-VN"/>
          </a:p>
        </p:txBody>
      </p:sp>
      <p:sp>
        <p:nvSpPr>
          <p:cNvPr id="4" name="Date Placeholder 3"/>
          <p:cNvSpPr>
            <a:spLocks noGrp="1"/>
          </p:cNvSpPr>
          <p:nvPr>
            <p:ph type="dt" sz="half" idx="10"/>
          </p:nvPr>
        </p:nvSpPr>
        <p:spPr/>
        <p:txBody>
          <a:bodyPr/>
          <a:lstStyle/>
          <a:p>
            <a:fld id="{0D565AEE-60B3-4D87-873C-43898D5321ED}" type="datetime1">
              <a:rPr lang="vi-VN" smtClean="0"/>
              <a:t>08/02/2025</a:t>
            </a:fld>
            <a:endParaRPr lang="vi-VN"/>
          </a:p>
        </p:txBody>
      </p:sp>
      <p:sp>
        <p:nvSpPr>
          <p:cNvPr id="5" name="Footer Placeholder 4"/>
          <p:cNvSpPr>
            <a:spLocks noGrp="1"/>
          </p:cNvSpPr>
          <p:nvPr>
            <p:ph type="ftr" sz="quarter" idx="11"/>
          </p:nvPr>
        </p:nvSpPr>
        <p:spPr/>
        <p:txBody>
          <a:bodyPr/>
          <a:lstStyle/>
          <a:p>
            <a:r>
              <a:rPr lang="vi-VN"/>
              <a:t>Chương 2. Các thành phần cơ bản trong C#</a:t>
            </a:r>
          </a:p>
        </p:txBody>
      </p:sp>
      <p:pic>
        <p:nvPicPr>
          <p:cNvPr id="6" name="Picture 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47800" y="3745595"/>
            <a:ext cx="7200800" cy="2326662"/>
          </a:xfrm>
          <a:prstGeom prst="rect">
            <a:avLst/>
          </a:prstGeom>
          <a:noFill/>
          <a:ln w="38100">
            <a:solidFill>
              <a:schemeClr val="folHlink"/>
            </a:solidFill>
            <a:miter lim="800000"/>
            <a:headEnd/>
            <a:tailEnd/>
          </a:ln>
          <a:extLst>
            <a:ext uri="{909E8E84-426E-40DD-AFC4-6F175D3DCCD1}">
              <a14:hiddenFill xmlns:a14="http://schemas.microsoft.com/office/drawing/2010/main">
                <a:solidFill>
                  <a:srgbClr val="FFFFFF"/>
                </a:solidFill>
              </a14:hiddenFill>
            </a:ext>
          </a:extLst>
        </p:spPr>
      </p:pic>
      <p:sp>
        <p:nvSpPr>
          <p:cNvPr id="7" name="Slide Number Placeholder 6"/>
          <p:cNvSpPr>
            <a:spLocks noGrp="1"/>
          </p:cNvSpPr>
          <p:nvPr>
            <p:ph type="sldNum" sz="quarter" idx="12"/>
          </p:nvPr>
        </p:nvSpPr>
        <p:spPr/>
        <p:txBody>
          <a:bodyPr/>
          <a:lstStyle/>
          <a:p>
            <a:fld id="{5AB95402-1E0D-474E-8D8C-CBE7F053639E}" type="slidenum">
              <a:rPr lang="vi-VN" smtClean="0"/>
              <a:pPr/>
              <a:t>5</a:t>
            </a:fld>
            <a:r>
              <a:rPr lang="vi-VN"/>
              <a:t>/47</a:t>
            </a:r>
          </a:p>
        </p:txBody>
      </p:sp>
      <p:sp>
        <p:nvSpPr>
          <p:cNvPr id="10" name="Title 1">
            <a:extLst>
              <a:ext uri="{FF2B5EF4-FFF2-40B4-BE49-F238E27FC236}">
                <a16:creationId xmlns:a16="http://schemas.microsoft.com/office/drawing/2014/main" id="{D5A85BC2-4241-4697-9DB4-4152CC0BAA84}"/>
              </a:ext>
            </a:extLst>
          </p:cNvPr>
          <p:cNvSpPr>
            <a:spLocks noGrp="1"/>
          </p:cNvSpPr>
          <p:nvPr>
            <p:ph type="title"/>
          </p:nvPr>
        </p:nvSpPr>
        <p:spPr>
          <a:xfrm>
            <a:off x="794048" y="361950"/>
            <a:ext cx="8382000" cy="685800"/>
          </a:xfrm>
        </p:spPr>
        <p:txBody>
          <a:bodyPr/>
          <a:lstStyle/>
          <a:p>
            <a:r>
              <a:rPr lang="en-US"/>
              <a:t>3.3. Mảng trong C#</a:t>
            </a:r>
            <a:endParaRPr lang="vi-VN"/>
          </a:p>
        </p:txBody>
      </p:sp>
    </p:spTree>
    <p:extLst>
      <p:ext uri="{BB962C8B-B14F-4D97-AF65-F5344CB8AC3E}">
        <p14:creationId xmlns:p14="http://schemas.microsoft.com/office/powerpoint/2010/main" val="24123959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box(in)">
                                      <p:cBhvr>
                                        <p:cTn id="7" dur="1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9771592-AF8A-417A-8E75-C4EE42E72D80}"/>
              </a:ext>
            </a:extLst>
          </p:cNvPr>
          <p:cNvSpPr>
            <a:spLocks noGrp="1"/>
          </p:cNvSpPr>
          <p:nvPr>
            <p:ph idx="1"/>
          </p:nvPr>
        </p:nvSpPr>
        <p:spPr>
          <a:xfrm>
            <a:off x="609600" y="1133475"/>
            <a:ext cx="7924800" cy="5181600"/>
          </a:xfrm>
        </p:spPr>
        <p:txBody>
          <a:bodyPr/>
          <a:lstStyle/>
          <a:p>
            <a:r>
              <a:rPr lang="en-US"/>
              <a:t>Duyệt mảng</a:t>
            </a:r>
          </a:p>
          <a:p>
            <a:pPr marL="0" indent="0">
              <a:buNone/>
            </a:pPr>
            <a:r>
              <a:rPr lang="en-US" sz="2200" b="1"/>
              <a:t>Dùng vòng lặp for</a:t>
            </a:r>
          </a:p>
          <a:p>
            <a:pPr marL="785813" lvl="3" indent="0">
              <a:buNone/>
            </a:pPr>
            <a:r>
              <a:rPr lang="nn-NO" sz="2400">
                <a:solidFill>
                  <a:srgbClr val="0000FF"/>
                </a:solidFill>
              </a:rPr>
              <a:t>int[] arr = { 1, 2, 3, 4, 5 };</a:t>
            </a:r>
          </a:p>
          <a:p>
            <a:pPr marL="785813" lvl="3" indent="0">
              <a:buNone/>
            </a:pPr>
            <a:r>
              <a:rPr lang="nn-NO" sz="2400">
                <a:solidFill>
                  <a:srgbClr val="0000FF"/>
                </a:solidFill>
              </a:rPr>
              <a:t>for (int i = 0; i &lt; arr.Length; i++)</a:t>
            </a:r>
          </a:p>
          <a:p>
            <a:pPr marL="785813" lvl="3" indent="0">
              <a:buNone/>
            </a:pPr>
            <a:r>
              <a:rPr lang="nn-NO" sz="2400">
                <a:solidFill>
                  <a:srgbClr val="0000FF"/>
                </a:solidFill>
              </a:rPr>
              <a:t>{</a:t>
            </a:r>
          </a:p>
          <a:p>
            <a:pPr marL="785813" lvl="3" indent="0">
              <a:buNone/>
            </a:pPr>
            <a:r>
              <a:rPr lang="nn-NO" sz="2400">
                <a:solidFill>
                  <a:srgbClr val="0000FF"/>
                </a:solidFill>
              </a:rPr>
              <a:t>    Console.WriteLine(arr[i]);</a:t>
            </a:r>
          </a:p>
          <a:p>
            <a:pPr marL="785813" lvl="3" indent="0">
              <a:buNone/>
            </a:pPr>
            <a:r>
              <a:rPr lang="nn-NO" sz="2400">
                <a:solidFill>
                  <a:srgbClr val="0000FF"/>
                </a:solidFill>
              </a:rPr>
              <a:t>}</a:t>
            </a:r>
          </a:p>
          <a:p>
            <a:pPr marL="0" indent="0">
              <a:buNone/>
            </a:pPr>
            <a:r>
              <a:rPr lang="en-US" sz="2200" b="1"/>
              <a:t>Dùng </a:t>
            </a:r>
            <a:r>
              <a:rPr lang="en-US" sz="2200" b="1" dirty="0" err="1"/>
              <a:t>vòng</a:t>
            </a:r>
            <a:r>
              <a:rPr lang="en-US" sz="2200" b="1" dirty="0"/>
              <a:t> </a:t>
            </a:r>
            <a:r>
              <a:rPr lang="en-US" sz="2200" b="1" dirty="0" err="1"/>
              <a:t>lặp</a:t>
            </a:r>
            <a:r>
              <a:rPr lang="en-US" sz="2200" b="1" dirty="0"/>
              <a:t> foreach</a:t>
            </a:r>
          </a:p>
          <a:p>
            <a:pPr marL="785813" lvl="3" indent="0">
              <a:buNone/>
            </a:pPr>
            <a:r>
              <a:rPr lang="en-US" sz="2400" dirty="0">
                <a:solidFill>
                  <a:srgbClr val="0000FF"/>
                </a:solidFill>
              </a:rPr>
              <a:t>foreach (int num </a:t>
            </a:r>
            <a:r>
              <a:rPr lang="en-US" sz="2400">
                <a:solidFill>
                  <a:srgbClr val="0000FF"/>
                </a:solidFill>
              </a:rPr>
              <a:t>in arr</a:t>
            </a:r>
            <a:r>
              <a:rPr lang="en-US" sz="2400" dirty="0">
                <a:solidFill>
                  <a:srgbClr val="0000FF"/>
                </a:solidFill>
              </a:rPr>
              <a:t>)</a:t>
            </a:r>
          </a:p>
          <a:p>
            <a:pPr marL="785813" lvl="3" indent="0">
              <a:buNone/>
            </a:pPr>
            <a:r>
              <a:rPr lang="en-US" sz="2400" dirty="0">
                <a:solidFill>
                  <a:srgbClr val="0000FF"/>
                </a:solidFill>
              </a:rPr>
              <a:t>{</a:t>
            </a:r>
          </a:p>
          <a:p>
            <a:pPr marL="785813" lvl="3" indent="0">
              <a:buNone/>
            </a:pPr>
            <a:r>
              <a:rPr lang="en-US" sz="2400">
                <a:solidFill>
                  <a:srgbClr val="0000FF"/>
                </a:solidFill>
              </a:rPr>
              <a:t>    </a:t>
            </a:r>
            <a:r>
              <a:rPr lang="en-US" sz="2400" err="1">
                <a:solidFill>
                  <a:srgbClr val="0000FF"/>
                </a:solidFill>
              </a:rPr>
              <a:t>Console</a:t>
            </a:r>
            <a:r>
              <a:rPr lang="en-US" sz="2400">
                <a:solidFill>
                  <a:srgbClr val="0000FF"/>
                </a:solidFill>
              </a:rPr>
              <a:t>.WriteLine</a:t>
            </a:r>
            <a:r>
              <a:rPr lang="en-US" sz="2400" dirty="0">
                <a:solidFill>
                  <a:srgbClr val="0000FF"/>
                </a:solidFill>
              </a:rPr>
              <a:t>(num);</a:t>
            </a:r>
          </a:p>
          <a:p>
            <a:pPr marL="785813" lvl="3" indent="0">
              <a:buNone/>
            </a:pPr>
            <a:r>
              <a:rPr lang="en-US" sz="2400" dirty="0">
                <a:solidFill>
                  <a:srgbClr val="0000FF"/>
                </a:solidFill>
              </a:rPr>
              <a:t>}</a:t>
            </a:r>
          </a:p>
          <a:p>
            <a:endParaRPr lang="en-US" sz="2400" dirty="0"/>
          </a:p>
        </p:txBody>
      </p:sp>
      <p:sp>
        <p:nvSpPr>
          <p:cNvPr id="4" name="Date Placeholder 3">
            <a:extLst>
              <a:ext uri="{FF2B5EF4-FFF2-40B4-BE49-F238E27FC236}">
                <a16:creationId xmlns:a16="http://schemas.microsoft.com/office/drawing/2014/main" id="{7CC1E7DE-010F-4DA9-9C42-99083A61507C}"/>
              </a:ext>
            </a:extLst>
          </p:cNvPr>
          <p:cNvSpPr>
            <a:spLocks noGrp="1"/>
          </p:cNvSpPr>
          <p:nvPr>
            <p:ph type="dt" sz="half" idx="10"/>
          </p:nvPr>
        </p:nvSpPr>
        <p:spPr/>
        <p:txBody>
          <a:bodyPr/>
          <a:lstStyle/>
          <a:p>
            <a:fld id="{1FCC884B-1AA7-4469-B526-594A4B1341A0}" type="datetime1">
              <a:rPr lang="vi-VN" smtClean="0">
                <a:uFillTx/>
              </a:rPr>
              <a:t>08/02/2025</a:t>
            </a:fld>
            <a:endParaRPr lang="vi-VN">
              <a:uFillTx/>
            </a:endParaRPr>
          </a:p>
        </p:txBody>
      </p:sp>
      <p:sp>
        <p:nvSpPr>
          <p:cNvPr id="5" name="Footer Placeholder 4">
            <a:extLst>
              <a:ext uri="{FF2B5EF4-FFF2-40B4-BE49-F238E27FC236}">
                <a16:creationId xmlns:a16="http://schemas.microsoft.com/office/drawing/2014/main" id="{F2E44DF8-F3A5-41BE-8FBE-72917BF7520D}"/>
              </a:ext>
            </a:extLst>
          </p:cNvPr>
          <p:cNvSpPr>
            <a:spLocks noGrp="1"/>
          </p:cNvSpPr>
          <p:nvPr>
            <p:ph type="ftr" sz="quarter" idx="11"/>
          </p:nvPr>
        </p:nvSpPr>
        <p:spPr/>
        <p:txBody>
          <a:bodyPr/>
          <a:lstStyle/>
          <a:p>
            <a:r>
              <a:rPr lang="vi-VN">
                <a:uFillTx/>
              </a:rPr>
              <a:t>Chương 3. Lập trình hướng đối tượng trong C#</a:t>
            </a:r>
          </a:p>
        </p:txBody>
      </p:sp>
      <p:sp>
        <p:nvSpPr>
          <p:cNvPr id="6" name="Slide Number Placeholder 5">
            <a:extLst>
              <a:ext uri="{FF2B5EF4-FFF2-40B4-BE49-F238E27FC236}">
                <a16:creationId xmlns:a16="http://schemas.microsoft.com/office/drawing/2014/main" id="{5486BFCE-894F-415C-B5BB-38FDC58D55AD}"/>
              </a:ext>
            </a:extLst>
          </p:cNvPr>
          <p:cNvSpPr>
            <a:spLocks noGrp="1"/>
          </p:cNvSpPr>
          <p:nvPr>
            <p:ph type="sldNum" sz="quarter" idx="12"/>
          </p:nvPr>
        </p:nvSpPr>
        <p:spPr/>
        <p:txBody>
          <a:bodyPr/>
          <a:lstStyle/>
          <a:p>
            <a:fld id="{5AB95402-1E0D-474E-8D8C-CBE7F053639E}" type="slidenum">
              <a:rPr lang="vi-VN" smtClean="0">
                <a:uFillTx/>
              </a:rPr>
              <a:pPr/>
              <a:t>6</a:t>
            </a:fld>
            <a:r>
              <a:rPr lang="vi-VN">
                <a:uFillTx/>
              </a:rPr>
              <a:t>/28</a:t>
            </a:r>
          </a:p>
        </p:txBody>
      </p:sp>
      <p:sp>
        <p:nvSpPr>
          <p:cNvPr id="7" name="Title 1">
            <a:extLst>
              <a:ext uri="{FF2B5EF4-FFF2-40B4-BE49-F238E27FC236}">
                <a16:creationId xmlns:a16="http://schemas.microsoft.com/office/drawing/2014/main" id="{F44CC490-EDFE-44B0-BAC7-F382D087B46E}"/>
              </a:ext>
            </a:extLst>
          </p:cNvPr>
          <p:cNvSpPr>
            <a:spLocks noGrp="1"/>
          </p:cNvSpPr>
          <p:nvPr>
            <p:ph type="title"/>
          </p:nvPr>
        </p:nvSpPr>
        <p:spPr>
          <a:xfrm>
            <a:off x="794048" y="361950"/>
            <a:ext cx="8382000" cy="685800"/>
          </a:xfrm>
        </p:spPr>
        <p:txBody>
          <a:bodyPr/>
          <a:lstStyle/>
          <a:p>
            <a:r>
              <a:rPr lang="en-US"/>
              <a:t>3.3. Mảng trong C#</a:t>
            </a:r>
            <a:endParaRPr lang="vi-VN"/>
          </a:p>
        </p:txBody>
      </p:sp>
      <p:pic>
        <p:nvPicPr>
          <p:cNvPr id="9" name="Picture 8">
            <a:extLst>
              <a:ext uri="{FF2B5EF4-FFF2-40B4-BE49-F238E27FC236}">
                <a16:creationId xmlns:a16="http://schemas.microsoft.com/office/drawing/2014/main" id="{C752D67B-B606-42CC-B4F1-0C08C156D44E}"/>
              </a:ext>
            </a:extLst>
          </p:cNvPr>
          <p:cNvPicPr>
            <a:picLocks noChangeAspect="1"/>
          </p:cNvPicPr>
          <p:nvPr/>
        </p:nvPicPr>
        <p:blipFill>
          <a:blip r:embed="rId3"/>
          <a:stretch>
            <a:fillRect/>
          </a:stretch>
        </p:blipFill>
        <p:spPr>
          <a:xfrm>
            <a:off x="7060704" y="2438869"/>
            <a:ext cx="864096" cy="2552097"/>
          </a:xfrm>
          <a:prstGeom prst="rect">
            <a:avLst/>
          </a:prstGeom>
        </p:spPr>
      </p:pic>
    </p:spTree>
    <p:extLst>
      <p:ext uri="{BB962C8B-B14F-4D97-AF65-F5344CB8AC3E}">
        <p14:creationId xmlns:p14="http://schemas.microsoft.com/office/powerpoint/2010/main" val="272211750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b="1"/>
              <a:t>Ví dụ: </a:t>
            </a:r>
            <a:r>
              <a:rPr lang="en-US"/>
              <a:t>Nhập mảng a gồm N phần tử, in mảng vừa nhập ra màn hình</a:t>
            </a:r>
            <a:endParaRPr lang="vi-VN"/>
          </a:p>
        </p:txBody>
      </p:sp>
      <p:sp>
        <p:nvSpPr>
          <p:cNvPr id="4" name="Date Placeholder 3"/>
          <p:cNvSpPr>
            <a:spLocks noGrp="1"/>
          </p:cNvSpPr>
          <p:nvPr>
            <p:ph type="dt" sz="half" idx="10"/>
          </p:nvPr>
        </p:nvSpPr>
        <p:spPr/>
        <p:txBody>
          <a:bodyPr/>
          <a:lstStyle/>
          <a:p>
            <a:fld id="{31BFF8A1-91B8-40DD-B3D7-E4C648EC0C6B}" type="datetime1">
              <a:rPr lang="vi-VN" smtClean="0"/>
              <a:t>08/02/2025</a:t>
            </a:fld>
            <a:endParaRPr lang="vi-VN"/>
          </a:p>
        </p:txBody>
      </p:sp>
      <p:sp>
        <p:nvSpPr>
          <p:cNvPr id="5" name="Footer Placeholder 4"/>
          <p:cNvSpPr>
            <a:spLocks noGrp="1"/>
          </p:cNvSpPr>
          <p:nvPr>
            <p:ph type="ftr" sz="quarter" idx="11"/>
          </p:nvPr>
        </p:nvSpPr>
        <p:spPr/>
        <p:txBody>
          <a:bodyPr/>
          <a:lstStyle/>
          <a:p>
            <a:r>
              <a:rPr lang="vi-VN"/>
              <a:t>Chương 2. Các thành phần cơ bản trong C#</a:t>
            </a:r>
          </a:p>
        </p:txBody>
      </p:sp>
      <p:sp>
        <p:nvSpPr>
          <p:cNvPr id="6" name="Rectangle 5"/>
          <p:cNvSpPr/>
          <p:nvPr/>
        </p:nvSpPr>
        <p:spPr>
          <a:xfrm>
            <a:off x="607640" y="2001029"/>
            <a:ext cx="7924800" cy="4524315"/>
          </a:xfrm>
          <a:prstGeom prst="rect">
            <a:avLst/>
          </a:prstGeom>
        </p:spPr>
        <p:txBody>
          <a:bodyPr wrap="square">
            <a:spAutoFit/>
          </a:bodyPr>
          <a:lstStyle/>
          <a:p>
            <a:r>
              <a:rPr lang="vi-VN" sz="1600" b="1" dirty="0">
                <a:latin typeface="Courier New" panose="02070309020205020404" pitchFamily="49" charset="0"/>
                <a:cs typeface="Courier New" panose="02070309020205020404" pitchFamily="49" charset="0"/>
              </a:rPr>
              <a:t>class Program</a:t>
            </a:r>
          </a:p>
          <a:p>
            <a:r>
              <a:rPr lang="vi-VN" sz="1600" b="1" dirty="0">
                <a:latin typeface="Courier New" panose="02070309020205020404" pitchFamily="49" charset="0"/>
                <a:cs typeface="Courier New" panose="02070309020205020404" pitchFamily="49" charset="0"/>
              </a:rPr>
              <a:t>    {  static void Main(string[] args)</a:t>
            </a:r>
          </a:p>
          <a:p>
            <a:r>
              <a:rPr lang="vi-VN" sz="1600" b="1" dirty="0">
                <a:latin typeface="Courier New" panose="02070309020205020404" pitchFamily="49" charset="0"/>
                <a:cs typeface="Courier New" panose="02070309020205020404" pitchFamily="49" charset="0"/>
              </a:rPr>
              <a:t>        {  int n, i;</a:t>
            </a:r>
          </a:p>
          <a:p>
            <a:r>
              <a:rPr lang="vi-VN" sz="1600" b="1" dirty="0">
                <a:latin typeface="Courier New" panose="02070309020205020404" pitchFamily="49" charset="0"/>
                <a:cs typeface="Courier New" panose="02070309020205020404" pitchFamily="49" charset="0"/>
              </a:rPr>
              <a:t>           int[] a;</a:t>
            </a:r>
          </a:p>
          <a:p>
            <a:r>
              <a:rPr lang="vi-VN" sz="1600" b="1" dirty="0">
                <a:latin typeface="Courier New" panose="02070309020205020404" pitchFamily="49" charset="0"/>
                <a:cs typeface="Courier New" panose="02070309020205020404" pitchFamily="49" charset="0"/>
              </a:rPr>
              <a:t>           Console.WriteLine("Nhap so luong phan tu: ");</a:t>
            </a:r>
          </a:p>
          <a:p>
            <a:r>
              <a:rPr lang="vi-VN" sz="1600" b="1" dirty="0">
                <a:latin typeface="Courier New" panose="02070309020205020404" pitchFamily="49" charset="0"/>
                <a:cs typeface="Courier New" panose="02070309020205020404" pitchFamily="49" charset="0"/>
              </a:rPr>
              <a:t>           n = Convert.ToInt32(Console.ReadLine());</a:t>
            </a:r>
          </a:p>
          <a:p>
            <a:r>
              <a:rPr lang="vi-VN" sz="1600" b="1" dirty="0">
                <a:latin typeface="Courier New" panose="02070309020205020404" pitchFamily="49" charset="0"/>
                <a:cs typeface="Courier New" panose="02070309020205020404" pitchFamily="49" charset="0"/>
              </a:rPr>
              <a:t>           a = new int[n];</a:t>
            </a:r>
          </a:p>
          <a:p>
            <a:r>
              <a:rPr lang="nn-NO" sz="1600" b="1" dirty="0">
                <a:latin typeface="Courier New" panose="02070309020205020404" pitchFamily="49" charset="0"/>
                <a:cs typeface="Courier New" panose="02070309020205020404" pitchFamily="49" charset="0"/>
              </a:rPr>
              <a:t>           for (i = 0; i &lt; n; i++)</a:t>
            </a:r>
          </a:p>
          <a:p>
            <a:r>
              <a:rPr lang="vi-VN" sz="1600" b="1" dirty="0">
                <a:latin typeface="Courier New" panose="02070309020205020404" pitchFamily="49" charset="0"/>
                <a:cs typeface="Courier New" panose="02070309020205020404" pitchFamily="49" charset="0"/>
              </a:rPr>
              <a:t>           {   Console.WriteLine("Nhap phan tu thu {0}: ", i);</a:t>
            </a:r>
          </a:p>
          <a:p>
            <a:r>
              <a:rPr lang="vi-VN" sz="1600" b="1" dirty="0">
                <a:latin typeface="Courier New" panose="02070309020205020404" pitchFamily="49" charset="0"/>
                <a:cs typeface="Courier New" panose="02070309020205020404" pitchFamily="49" charset="0"/>
              </a:rPr>
              <a:t>               a[i] = </a:t>
            </a:r>
            <a:r>
              <a:rPr lang="en-US" sz="1600" b="1" dirty="0">
                <a:latin typeface="Courier New" panose="02070309020205020404" pitchFamily="49" charset="0"/>
                <a:cs typeface="Courier New" panose="02070309020205020404" pitchFamily="49" charset="0"/>
              </a:rPr>
              <a:t>convert.Toint32</a:t>
            </a:r>
            <a:r>
              <a:rPr lang="vi-VN" sz="1600" b="1" dirty="0">
                <a:latin typeface="Courier New" panose="02070309020205020404" pitchFamily="49" charset="0"/>
                <a:cs typeface="Courier New" panose="02070309020205020404" pitchFamily="49" charset="0"/>
              </a:rPr>
              <a:t>(Console.ReadLine());</a:t>
            </a:r>
          </a:p>
          <a:p>
            <a:r>
              <a:rPr lang="vi-VN" sz="1600" b="1" dirty="0">
                <a:latin typeface="Courier New" panose="02070309020205020404" pitchFamily="49" charset="0"/>
                <a:cs typeface="Courier New" panose="02070309020205020404" pitchFamily="49" charset="0"/>
              </a:rPr>
              <a:t>           }</a:t>
            </a:r>
          </a:p>
          <a:p>
            <a:r>
              <a:rPr lang="fr-FR" sz="1600" b="1" dirty="0">
                <a:latin typeface="Courier New" panose="02070309020205020404" pitchFamily="49" charset="0"/>
                <a:cs typeface="Courier New" panose="02070309020205020404" pitchFamily="49" charset="0"/>
              </a:rPr>
              <a:t>           </a:t>
            </a:r>
            <a:r>
              <a:rPr lang="fr-FR" sz="1600" b="1" dirty="0" err="1">
                <a:latin typeface="Courier New" panose="02070309020205020404" pitchFamily="49" charset="0"/>
                <a:cs typeface="Courier New" panose="02070309020205020404" pitchFamily="49" charset="0"/>
              </a:rPr>
              <a:t>Console.WriteLine</a:t>
            </a:r>
            <a:r>
              <a:rPr lang="fr-FR" sz="1600" b="1" dirty="0">
                <a:latin typeface="Courier New" panose="02070309020205020404" pitchFamily="49" charset="0"/>
                <a:cs typeface="Courier New" panose="02070309020205020404" pitchFamily="49" charset="0"/>
              </a:rPr>
              <a:t>("</a:t>
            </a:r>
            <a:r>
              <a:rPr lang="fr-FR" sz="1600" b="1" dirty="0" err="1">
                <a:latin typeface="Courier New" panose="02070309020205020404" pitchFamily="49" charset="0"/>
                <a:cs typeface="Courier New" panose="02070309020205020404" pitchFamily="49" charset="0"/>
              </a:rPr>
              <a:t>Mang</a:t>
            </a:r>
            <a:r>
              <a:rPr lang="fr-FR" sz="1600" b="1" dirty="0">
                <a:latin typeface="Courier New" panose="02070309020205020404" pitchFamily="49" charset="0"/>
                <a:cs typeface="Courier New" panose="02070309020205020404" pitchFamily="49" charset="0"/>
              </a:rPr>
              <a:t> </a:t>
            </a:r>
            <a:r>
              <a:rPr lang="fr-FR" sz="1600" b="1" dirty="0" err="1">
                <a:latin typeface="Courier New" panose="02070309020205020404" pitchFamily="49" charset="0"/>
                <a:cs typeface="Courier New" panose="02070309020205020404" pitchFamily="49" charset="0"/>
              </a:rPr>
              <a:t>vua</a:t>
            </a:r>
            <a:r>
              <a:rPr lang="fr-FR" sz="1600" b="1" dirty="0">
                <a:latin typeface="Courier New" panose="02070309020205020404" pitchFamily="49" charset="0"/>
                <a:cs typeface="Courier New" panose="02070309020205020404" pitchFamily="49" charset="0"/>
              </a:rPr>
              <a:t> </a:t>
            </a:r>
            <a:r>
              <a:rPr lang="fr-FR" sz="1600" b="1" dirty="0" err="1">
                <a:latin typeface="Courier New" panose="02070309020205020404" pitchFamily="49" charset="0"/>
                <a:cs typeface="Courier New" panose="02070309020205020404" pitchFamily="49" charset="0"/>
              </a:rPr>
              <a:t>nhap</a:t>
            </a:r>
            <a:r>
              <a:rPr lang="fr-FR" sz="1600" b="1" dirty="0">
                <a:latin typeface="Courier New" panose="02070309020205020404" pitchFamily="49" charset="0"/>
                <a:cs typeface="Courier New" panose="02070309020205020404" pitchFamily="49" charset="0"/>
              </a:rPr>
              <a:t> la: ");</a:t>
            </a:r>
          </a:p>
          <a:p>
            <a:r>
              <a:rPr lang="nn-NO" sz="1600" b="1" dirty="0">
                <a:latin typeface="Courier New" panose="02070309020205020404" pitchFamily="49" charset="0"/>
                <a:cs typeface="Courier New" panose="02070309020205020404" pitchFamily="49" charset="0"/>
              </a:rPr>
              <a:t>           for (i = 0; i &lt; n; i++)</a:t>
            </a:r>
          </a:p>
          <a:p>
            <a:r>
              <a:rPr lang="vi-VN" sz="1600" b="1" dirty="0">
                <a:latin typeface="Courier New" panose="02070309020205020404" pitchFamily="49" charset="0"/>
                <a:cs typeface="Courier New" panose="02070309020205020404" pitchFamily="49" charset="0"/>
              </a:rPr>
              <a:t>           { Console.Write("{0} ", a[i]);</a:t>
            </a:r>
          </a:p>
          <a:p>
            <a:r>
              <a:rPr lang="vi-VN" sz="1600" b="1" dirty="0">
                <a:latin typeface="Courier New" panose="02070309020205020404" pitchFamily="49" charset="0"/>
                <a:cs typeface="Courier New" panose="02070309020205020404" pitchFamily="49" charset="0"/>
              </a:rPr>
              <a:t>           }</a:t>
            </a:r>
          </a:p>
          <a:p>
            <a:r>
              <a:rPr lang="vi-VN" sz="1600" b="1" dirty="0">
                <a:latin typeface="Courier New" panose="02070309020205020404" pitchFamily="49" charset="0"/>
                <a:cs typeface="Courier New" panose="02070309020205020404" pitchFamily="49" charset="0"/>
              </a:rPr>
              <a:t>           Console.ReadLine();</a:t>
            </a:r>
          </a:p>
          <a:p>
            <a:r>
              <a:rPr lang="vi-VN" sz="1600" b="1" dirty="0">
                <a:latin typeface="Courier New" panose="02070309020205020404" pitchFamily="49" charset="0"/>
                <a:cs typeface="Courier New" panose="02070309020205020404" pitchFamily="49" charset="0"/>
              </a:rPr>
              <a:t>        }</a:t>
            </a:r>
          </a:p>
          <a:p>
            <a:r>
              <a:rPr lang="vi-VN" sz="1600" b="1" dirty="0">
                <a:latin typeface="Courier New" panose="02070309020205020404" pitchFamily="49" charset="0"/>
                <a:cs typeface="Courier New" panose="02070309020205020404" pitchFamily="49" charset="0"/>
              </a:rPr>
              <a:t>    }</a:t>
            </a:r>
          </a:p>
        </p:txBody>
      </p:sp>
      <p:sp>
        <p:nvSpPr>
          <p:cNvPr id="7" name="Slide Number Placeholder 6"/>
          <p:cNvSpPr>
            <a:spLocks noGrp="1"/>
          </p:cNvSpPr>
          <p:nvPr>
            <p:ph type="sldNum" sz="quarter" idx="12"/>
          </p:nvPr>
        </p:nvSpPr>
        <p:spPr/>
        <p:txBody>
          <a:bodyPr/>
          <a:lstStyle/>
          <a:p>
            <a:fld id="{5AB95402-1E0D-474E-8D8C-CBE7F053639E}" type="slidenum">
              <a:rPr lang="vi-VN" smtClean="0"/>
              <a:pPr/>
              <a:t>7</a:t>
            </a:fld>
            <a:r>
              <a:rPr lang="vi-VN"/>
              <a:t>/47</a:t>
            </a:r>
          </a:p>
        </p:txBody>
      </p:sp>
      <p:sp>
        <p:nvSpPr>
          <p:cNvPr id="10" name="Title 1">
            <a:extLst>
              <a:ext uri="{FF2B5EF4-FFF2-40B4-BE49-F238E27FC236}">
                <a16:creationId xmlns:a16="http://schemas.microsoft.com/office/drawing/2014/main" id="{2AEFDEC1-701F-46E9-B014-755DC9A8F981}"/>
              </a:ext>
            </a:extLst>
          </p:cNvPr>
          <p:cNvSpPr>
            <a:spLocks noGrp="1"/>
          </p:cNvSpPr>
          <p:nvPr>
            <p:ph type="title"/>
          </p:nvPr>
        </p:nvSpPr>
        <p:spPr>
          <a:xfrm>
            <a:off x="794048" y="361950"/>
            <a:ext cx="8382000" cy="685800"/>
          </a:xfrm>
        </p:spPr>
        <p:txBody>
          <a:bodyPr/>
          <a:lstStyle/>
          <a:p>
            <a:r>
              <a:rPr lang="en-US"/>
              <a:t>3.3. Mảng trong C#</a:t>
            </a:r>
            <a:endParaRPr lang="vi-VN"/>
          </a:p>
        </p:txBody>
      </p:sp>
    </p:spTree>
    <p:extLst>
      <p:ext uri="{BB962C8B-B14F-4D97-AF65-F5344CB8AC3E}">
        <p14:creationId xmlns:p14="http://schemas.microsoft.com/office/powerpoint/2010/main" val="114628727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vi-VN" b="0" i="0" dirty="0">
                <a:solidFill>
                  <a:srgbClr val="222C37"/>
                </a:solidFill>
                <a:effectLst/>
                <a:latin typeface="Times New Roman" panose="02020603050405020304" pitchFamily="18" charset="0"/>
              </a:rPr>
              <a:t>Một số thuộc tính và phương thức đặc trưng </a:t>
            </a:r>
            <a:r>
              <a:rPr lang="vi-VN" b="0" i="0">
                <a:solidFill>
                  <a:srgbClr val="222C37"/>
                </a:solidFill>
                <a:effectLst/>
                <a:latin typeface="Times New Roman" panose="02020603050405020304" pitchFamily="18" charset="0"/>
              </a:rPr>
              <a:t>của mảng </a:t>
            </a:r>
            <a:r>
              <a:rPr lang="vi-VN" b="0" i="0" dirty="0">
                <a:solidFill>
                  <a:srgbClr val="222C37"/>
                </a:solidFill>
                <a:effectLst/>
                <a:latin typeface="Times New Roman" panose="02020603050405020304" pitchFamily="18" charset="0"/>
              </a:rPr>
              <a:t>1 </a:t>
            </a:r>
            <a:r>
              <a:rPr lang="vi-VN" b="0" i="0">
                <a:solidFill>
                  <a:srgbClr val="222C37"/>
                </a:solidFill>
                <a:effectLst/>
                <a:latin typeface="Times New Roman" panose="02020603050405020304" pitchFamily="18" charset="0"/>
              </a:rPr>
              <a:t>chiều:</a:t>
            </a:r>
            <a:endParaRPr lang="en-US" b="0" i="0">
              <a:solidFill>
                <a:srgbClr val="222C37"/>
              </a:solidFill>
              <a:effectLst/>
              <a:latin typeface="Times New Roman" panose="02020603050405020304" pitchFamily="18" charset="0"/>
            </a:endParaRPr>
          </a:p>
          <a:p>
            <a:pPr lvl="1"/>
            <a:r>
              <a:rPr lang="vi-VN" b="1"/>
              <a:t>Length</a:t>
            </a:r>
            <a:r>
              <a:rPr lang="vi-VN"/>
              <a:t> – Lấy độ dài của mảng</a:t>
            </a:r>
            <a:endParaRPr lang="en-US"/>
          </a:p>
          <a:p>
            <a:pPr lvl="1"/>
            <a:r>
              <a:rPr lang="vi-VN" b="1"/>
              <a:t>Array.Sort(mang)</a:t>
            </a:r>
            <a:r>
              <a:rPr lang="vi-VN"/>
              <a:t> – Sắp xếp mảng tăng dần</a:t>
            </a:r>
            <a:endParaRPr lang="en-US"/>
          </a:p>
          <a:p>
            <a:pPr lvl="1"/>
            <a:r>
              <a:rPr lang="vi-VN" b="1"/>
              <a:t>Array.Reverse(mang)</a:t>
            </a:r>
            <a:r>
              <a:rPr lang="vi-VN"/>
              <a:t> – Đảo ngược mảng</a:t>
            </a:r>
            <a:endParaRPr lang="en-US"/>
          </a:p>
          <a:p>
            <a:r>
              <a:rPr lang="en-US"/>
              <a:t>Ví dụ:</a:t>
            </a:r>
          </a:p>
          <a:p>
            <a:pPr lvl="1"/>
            <a:r>
              <a:rPr lang="vi-VN"/>
              <a:t>int[] arr = { 5, 2, 8, 1, 4 };</a:t>
            </a:r>
          </a:p>
          <a:p>
            <a:pPr lvl="1"/>
            <a:r>
              <a:rPr lang="vi-VN"/>
              <a:t>Array.Sort(arr); // Mảng sẽ thành {1, 2, 4, 5, 8}</a:t>
            </a:r>
          </a:p>
          <a:p>
            <a:pPr lvl="1"/>
            <a:r>
              <a:rPr lang="vi-VN"/>
              <a:t>Array.Reverse(arr); // Mảng sẽ thành {8, 5, 4, 2, 1}</a:t>
            </a:r>
          </a:p>
          <a:p>
            <a:endParaRPr lang="vi-VN" dirty="0"/>
          </a:p>
        </p:txBody>
      </p:sp>
      <p:sp>
        <p:nvSpPr>
          <p:cNvPr id="4" name="Date Placeholder 3"/>
          <p:cNvSpPr>
            <a:spLocks noGrp="1"/>
          </p:cNvSpPr>
          <p:nvPr>
            <p:ph type="dt" sz="half" idx="10"/>
          </p:nvPr>
        </p:nvSpPr>
        <p:spPr/>
        <p:txBody>
          <a:bodyPr/>
          <a:lstStyle/>
          <a:p>
            <a:fld id="{027EC593-B0D4-4A4B-95DC-889290328ECC}" type="datetime1">
              <a:rPr lang="vi-VN" smtClean="0"/>
              <a:t>08/02/2025</a:t>
            </a:fld>
            <a:endParaRPr lang="vi-VN"/>
          </a:p>
        </p:txBody>
      </p:sp>
      <p:sp>
        <p:nvSpPr>
          <p:cNvPr id="5" name="Footer Placeholder 4"/>
          <p:cNvSpPr>
            <a:spLocks noGrp="1"/>
          </p:cNvSpPr>
          <p:nvPr>
            <p:ph type="ftr" sz="quarter" idx="11"/>
          </p:nvPr>
        </p:nvSpPr>
        <p:spPr>
          <a:xfrm>
            <a:off x="2699792" y="6381328"/>
            <a:ext cx="3962400" cy="320675"/>
          </a:xfrm>
        </p:spPr>
        <p:txBody>
          <a:bodyPr/>
          <a:lstStyle/>
          <a:p>
            <a:r>
              <a:rPr lang="vi-VN"/>
              <a:t>Chương 2. Các thành phần cơ bản trong C#</a:t>
            </a:r>
          </a:p>
        </p:txBody>
      </p:sp>
      <p:sp>
        <p:nvSpPr>
          <p:cNvPr id="7" name="Slide Number Placeholder 6"/>
          <p:cNvSpPr>
            <a:spLocks noGrp="1"/>
          </p:cNvSpPr>
          <p:nvPr>
            <p:ph type="sldNum" sz="quarter" idx="12"/>
          </p:nvPr>
        </p:nvSpPr>
        <p:spPr/>
        <p:txBody>
          <a:bodyPr/>
          <a:lstStyle/>
          <a:p>
            <a:fld id="{5AB95402-1E0D-474E-8D8C-CBE7F053639E}" type="slidenum">
              <a:rPr lang="vi-VN" smtClean="0"/>
              <a:pPr/>
              <a:t>8</a:t>
            </a:fld>
            <a:r>
              <a:rPr lang="vi-VN"/>
              <a:t>/47</a:t>
            </a:r>
          </a:p>
        </p:txBody>
      </p:sp>
      <p:sp>
        <p:nvSpPr>
          <p:cNvPr id="10" name="Title 1">
            <a:extLst>
              <a:ext uri="{FF2B5EF4-FFF2-40B4-BE49-F238E27FC236}">
                <a16:creationId xmlns:a16="http://schemas.microsoft.com/office/drawing/2014/main" id="{E4C611F0-2F0F-4E0A-BC61-6EA27F78C5E4}"/>
              </a:ext>
            </a:extLst>
          </p:cNvPr>
          <p:cNvSpPr>
            <a:spLocks noGrp="1"/>
          </p:cNvSpPr>
          <p:nvPr>
            <p:ph type="title"/>
          </p:nvPr>
        </p:nvSpPr>
        <p:spPr>
          <a:xfrm>
            <a:off x="794048" y="361950"/>
            <a:ext cx="8382000" cy="685800"/>
          </a:xfrm>
        </p:spPr>
        <p:txBody>
          <a:bodyPr/>
          <a:lstStyle/>
          <a:p>
            <a:r>
              <a:rPr lang="en-US"/>
              <a:t>3.3. Mảng trong C#</a:t>
            </a:r>
            <a:endParaRPr lang="vi-VN"/>
          </a:p>
        </p:txBody>
      </p:sp>
    </p:spTree>
    <p:extLst>
      <p:ext uri="{BB962C8B-B14F-4D97-AF65-F5344CB8AC3E}">
        <p14:creationId xmlns:p14="http://schemas.microsoft.com/office/powerpoint/2010/main" val="242544380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7BECA2-4649-4D57-A4CE-2914BF630AB7}"/>
              </a:ext>
            </a:extLst>
          </p:cNvPr>
          <p:cNvSpPr>
            <a:spLocks noGrp="1"/>
          </p:cNvSpPr>
          <p:nvPr>
            <p:ph type="title"/>
          </p:nvPr>
        </p:nvSpPr>
        <p:spPr/>
        <p:txBody>
          <a:bodyPr/>
          <a:lstStyle/>
          <a:p>
            <a:r>
              <a:rPr lang="en-US"/>
              <a:t>Ví dụ</a:t>
            </a:r>
          </a:p>
        </p:txBody>
      </p:sp>
      <p:sp>
        <p:nvSpPr>
          <p:cNvPr id="4" name="Date Placeholder 3">
            <a:extLst>
              <a:ext uri="{FF2B5EF4-FFF2-40B4-BE49-F238E27FC236}">
                <a16:creationId xmlns:a16="http://schemas.microsoft.com/office/drawing/2014/main" id="{0B797B21-E9BB-4837-8791-FF28C0D4BFD3}"/>
              </a:ext>
            </a:extLst>
          </p:cNvPr>
          <p:cNvSpPr>
            <a:spLocks noGrp="1"/>
          </p:cNvSpPr>
          <p:nvPr>
            <p:ph type="dt" sz="half" idx="10"/>
          </p:nvPr>
        </p:nvSpPr>
        <p:spPr/>
        <p:txBody>
          <a:bodyPr/>
          <a:lstStyle/>
          <a:p>
            <a:fld id="{1FCC884B-1AA7-4469-B526-594A4B1341A0}" type="datetime1">
              <a:rPr lang="vi-VN" smtClean="0">
                <a:uFillTx/>
              </a:rPr>
              <a:t>08/02/2025</a:t>
            </a:fld>
            <a:endParaRPr lang="vi-VN">
              <a:uFillTx/>
            </a:endParaRPr>
          </a:p>
        </p:txBody>
      </p:sp>
      <p:sp>
        <p:nvSpPr>
          <p:cNvPr id="5" name="Footer Placeholder 4">
            <a:extLst>
              <a:ext uri="{FF2B5EF4-FFF2-40B4-BE49-F238E27FC236}">
                <a16:creationId xmlns:a16="http://schemas.microsoft.com/office/drawing/2014/main" id="{081D4890-E8D5-4F33-A249-D4E5E4B00728}"/>
              </a:ext>
            </a:extLst>
          </p:cNvPr>
          <p:cNvSpPr>
            <a:spLocks noGrp="1"/>
          </p:cNvSpPr>
          <p:nvPr>
            <p:ph type="ftr" sz="quarter" idx="11"/>
          </p:nvPr>
        </p:nvSpPr>
        <p:spPr/>
        <p:txBody>
          <a:bodyPr/>
          <a:lstStyle/>
          <a:p>
            <a:r>
              <a:rPr lang="vi-VN">
                <a:uFillTx/>
              </a:rPr>
              <a:t>Chương 3. Lập trình hướng đối tượng trong C#</a:t>
            </a:r>
          </a:p>
        </p:txBody>
      </p:sp>
      <p:sp>
        <p:nvSpPr>
          <p:cNvPr id="6" name="Slide Number Placeholder 5">
            <a:extLst>
              <a:ext uri="{FF2B5EF4-FFF2-40B4-BE49-F238E27FC236}">
                <a16:creationId xmlns:a16="http://schemas.microsoft.com/office/drawing/2014/main" id="{CEFBEEF7-EABD-4C19-84FE-0F0478F359A2}"/>
              </a:ext>
            </a:extLst>
          </p:cNvPr>
          <p:cNvSpPr>
            <a:spLocks noGrp="1"/>
          </p:cNvSpPr>
          <p:nvPr>
            <p:ph type="sldNum" sz="quarter" idx="12"/>
          </p:nvPr>
        </p:nvSpPr>
        <p:spPr/>
        <p:txBody>
          <a:bodyPr/>
          <a:lstStyle/>
          <a:p>
            <a:fld id="{5AB95402-1E0D-474E-8D8C-CBE7F053639E}" type="slidenum">
              <a:rPr lang="vi-VN" smtClean="0">
                <a:uFillTx/>
              </a:rPr>
              <a:pPr/>
              <a:t>9</a:t>
            </a:fld>
            <a:r>
              <a:rPr lang="vi-VN">
                <a:uFillTx/>
              </a:rPr>
              <a:t>/28</a:t>
            </a:r>
          </a:p>
        </p:txBody>
      </p:sp>
      <p:pic>
        <p:nvPicPr>
          <p:cNvPr id="7" name="Picture 6">
            <a:extLst>
              <a:ext uri="{FF2B5EF4-FFF2-40B4-BE49-F238E27FC236}">
                <a16:creationId xmlns:a16="http://schemas.microsoft.com/office/drawing/2014/main" id="{008F72C5-85CD-49B1-A81B-1B68D99278B4}"/>
              </a:ext>
            </a:extLst>
          </p:cNvPr>
          <p:cNvPicPr>
            <a:picLocks noChangeAspect="1"/>
          </p:cNvPicPr>
          <p:nvPr/>
        </p:nvPicPr>
        <p:blipFill>
          <a:blip r:embed="rId3"/>
          <a:stretch>
            <a:fillRect/>
          </a:stretch>
        </p:blipFill>
        <p:spPr>
          <a:xfrm>
            <a:off x="899592" y="1089493"/>
            <a:ext cx="4752527" cy="5768507"/>
          </a:xfrm>
          <a:prstGeom prst="rect">
            <a:avLst/>
          </a:prstGeom>
        </p:spPr>
      </p:pic>
      <p:pic>
        <p:nvPicPr>
          <p:cNvPr id="8" name="Picture 7">
            <a:extLst>
              <a:ext uri="{FF2B5EF4-FFF2-40B4-BE49-F238E27FC236}">
                <a16:creationId xmlns:a16="http://schemas.microsoft.com/office/drawing/2014/main" id="{B7BA9212-0B5E-40A9-8E8F-1FC37F53E5E7}"/>
              </a:ext>
            </a:extLst>
          </p:cNvPr>
          <p:cNvPicPr>
            <a:picLocks noChangeAspect="1"/>
          </p:cNvPicPr>
          <p:nvPr/>
        </p:nvPicPr>
        <p:blipFill>
          <a:blip r:embed="rId4"/>
          <a:stretch>
            <a:fillRect/>
          </a:stretch>
        </p:blipFill>
        <p:spPr>
          <a:xfrm>
            <a:off x="5708625" y="4365104"/>
            <a:ext cx="3110588" cy="685799"/>
          </a:xfrm>
          <a:prstGeom prst="rect">
            <a:avLst/>
          </a:prstGeom>
        </p:spPr>
      </p:pic>
    </p:spTree>
    <p:extLst>
      <p:ext uri="{BB962C8B-B14F-4D97-AF65-F5344CB8AC3E}">
        <p14:creationId xmlns:p14="http://schemas.microsoft.com/office/powerpoint/2010/main" val="107769140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27EE15-87B2-4963-845D-F3F07EBE99E9}"/>
              </a:ext>
            </a:extLst>
          </p:cNvPr>
          <p:cNvSpPr>
            <a:spLocks noGrp="1"/>
          </p:cNvSpPr>
          <p:nvPr>
            <p:ph type="title"/>
          </p:nvPr>
        </p:nvSpPr>
        <p:spPr/>
        <p:txBody>
          <a:bodyPr/>
          <a:lstStyle/>
          <a:p>
            <a:r>
              <a:rPr lang="en-US"/>
              <a:t>3.4. Danh sách</a:t>
            </a:r>
          </a:p>
        </p:txBody>
      </p:sp>
      <p:sp>
        <p:nvSpPr>
          <p:cNvPr id="3" name="Content Placeholder 2">
            <a:extLst>
              <a:ext uri="{FF2B5EF4-FFF2-40B4-BE49-F238E27FC236}">
                <a16:creationId xmlns:a16="http://schemas.microsoft.com/office/drawing/2014/main" id="{57D91C31-1A83-4C42-87DF-4FA480E74FE2}"/>
              </a:ext>
            </a:extLst>
          </p:cNvPr>
          <p:cNvSpPr>
            <a:spLocks noGrp="1"/>
          </p:cNvSpPr>
          <p:nvPr>
            <p:ph idx="1"/>
          </p:nvPr>
        </p:nvSpPr>
        <p:spPr>
          <a:xfrm>
            <a:off x="304800" y="1143000"/>
            <a:ext cx="8382000" cy="5181600"/>
          </a:xfrm>
        </p:spPr>
        <p:txBody>
          <a:bodyPr/>
          <a:lstStyle/>
          <a:p>
            <a:r>
              <a:rPr lang="en-US" sz="2200"/>
              <a:t>Danh sách (List) là </a:t>
            </a:r>
            <a:r>
              <a:rPr lang="vi-VN" sz="2200"/>
              <a:t>một </a:t>
            </a:r>
            <a:r>
              <a:rPr lang="vi-VN" sz="2200" b="1"/>
              <a:t>danh sách động</a:t>
            </a:r>
            <a:r>
              <a:rPr lang="vi-VN" sz="2200"/>
              <a:t> (dynamic array), thuộc </a:t>
            </a:r>
            <a:r>
              <a:rPr lang="vi-VN" sz="2200" b="1"/>
              <a:t>namespace System.Collections.Generic</a:t>
            </a:r>
            <a:r>
              <a:rPr lang="vi-VN" sz="2200"/>
              <a:t>, giúp lưu trữ nhiều phần tử cùng kiểu dữ liệu mà không cần xác định kích thước trước như mảng (array).</a:t>
            </a:r>
            <a:endParaRPr lang="en-US" sz="2200"/>
          </a:p>
          <a:p>
            <a:r>
              <a:rPr lang="en-US" sz="2200"/>
              <a:t> </a:t>
            </a:r>
            <a:r>
              <a:rPr lang="en-US" sz="2400"/>
              <a:t>Khai báo và khởi tạo List</a:t>
            </a:r>
          </a:p>
          <a:p>
            <a:pPr marL="0" indent="0">
              <a:buNone/>
            </a:pPr>
            <a:r>
              <a:rPr lang="en-US" sz="2200"/>
              <a:t>	List&lt;T&gt; listName = new List&lt;T&gt;();</a:t>
            </a:r>
          </a:p>
          <a:p>
            <a:pPr lvl="1"/>
            <a:r>
              <a:rPr lang="en-US" sz="2000"/>
              <a:t>T: Kiểu dữ liệu của danh sách (int, string, double, object, v.v.).</a:t>
            </a:r>
          </a:p>
          <a:p>
            <a:pPr lvl="1"/>
            <a:r>
              <a:rPr lang="en-US" sz="2000"/>
              <a:t>listName: Tên danh sách.</a:t>
            </a:r>
          </a:p>
          <a:p>
            <a:r>
              <a:rPr lang="en-US" sz="2400"/>
              <a:t>Ví dụ khai báo danh sách số nguyên</a:t>
            </a:r>
          </a:p>
          <a:p>
            <a:pPr marL="0" indent="0">
              <a:buNone/>
            </a:pPr>
            <a:r>
              <a:rPr lang="en-US" sz="2400"/>
              <a:t>	</a:t>
            </a:r>
            <a:r>
              <a:rPr lang="en-US" sz="2200">
                <a:solidFill>
                  <a:srgbClr val="0000FF"/>
                </a:solidFill>
              </a:rPr>
              <a:t>List&lt;int&gt; numbers = new List&lt;int&gt;();</a:t>
            </a:r>
          </a:p>
          <a:p>
            <a:r>
              <a:rPr lang="en-US" sz="2400"/>
              <a:t>Ví </a:t>
            </a:r>
            <a:r>
              <a:rPr lang="en-US" sz="2400" dirty="0" err="1"/>
              <a:t>dụ</a:t>
            </a:r>
            <a:r>
              <a:rPr lang="en-US" sz="2400" dirty="0"/>
              <a:t> </a:t>
            </a:r>
            <a:r>
              <a:rPr lang="en-US" sz="2400" dirty="0" err="1"/>
              <a:t>khai</a:t>
            </a:r>
            <a:r>
              <a:rPr lang="en-US" sz="2400" dirty="0"/>
              <a:t> </a:t>
            </a:r>
            <a:r>
              <a:rPr lang="en-US" sz="2400" dirty="0" err="1"/>
              <a:t>báo</a:t>
            </a:r>
            <a:r>
              <a:rPr lang="en-US" sz="2400" dirty="0"/>
              <a:t> </a:t>
            </a:r>
            <a:r>
              <a:rPr lang="en-US" sz="2400" dirty="0" err="1"/>
              <a:t>danh</a:t>
            </a:r>
            <a:r>
              <a:rPr lang="en-US" sz="2400" dirty="0"/>
              <a:t> </a:t>
            </a:r>
            <a:r>
              <a:rPr lang="en-US" sz="2400" dirty="0" err="1"/>
              <a:t>sách</a:t>
            </a:r>
            <a:r>
              <a:rPr lang="en-US" sz="2400" dirty="0"/>
              <a:t> </a:t>
            </a:r>
            <a:r>
              <a:rPr lang="en-US" sz="2400" dirty="0" err="1"/>
              <a:t>chuỗi</a:t>
            </a:r>
            <a:endParaRPr lang="en-US" sz="2400" dirty="0"/>
          </a:p>
          <a:p>
            <a:pPr marL="0" indent="0">
              <a:buNone/>
            </a:pPr>
            <a:r>
              <a:rPr lang="en-US" sz="2200" dirty="0">
                <a:solidFill>
                  <a:srgbClr val="0000FF"/>
                </a:solidFill>
              </a:rPr>
              <a:t>List&lt;string&gt; names = new List&lt;string&gt; { "Alice", "Bob", "Charlie" };</a:t>
            </a:r>
          </a:p>
          <a:p>
            <a:endParaRPr lang="en-US" sz="2200" dirty="0"/>
          </a:p>
        </p:txBody>
      </p:sp>
      <p:sp>
        <p:nvSpPr>
          <p:cNvPr id="4" name="Date Placeholder 3">
            <a:extLst>
              <a:ext uri="{FF2B5EF4-FFF2-40B4-BE49-F238E27FC236}">
                <a16:creationId xmlns:a16="http://schemas.microsoft.com/office/drawing/2014/main" id="{BB566E60-7338-47FA-82CA-F7768B7D8120}"/>
              </a:ext>
            </a:extLst>
          </p:cNvPr>
          <p:cNvSpPr>
            <a:spLocks noGrp="1"/>
          </p:cNvSpPr>
          <p:nvPr>
            <p:ph type="dt" sz="half" idx="10"/>
          </p:nvPr>
        </p:nvSpPr>
        <p:spPr/>
        <p:txBody>
          <a:bodyPr/>
          <a:lstStyle/>
          <a:p>
            <a:fld id="{1FCC884B-1AA7-4469-B526-594A4B1341A0}" type="datetime1">
              <a:rPr lang="vi-VN" smtClean="0">
                <a:uFillTx/>
              </a:rPr>
              <a:t>08/02/2025</a:t>
            </a:fld>
            <a:endParaRPr lang="vi-VN">
              <a:uFillTx/>
            </a:endParaRPr>
          </a:p>
        </p:txBody>
      </p:sp>
      <p:sp>
        <p:nvSpPr>
          <p:cNvPr id="5" name="Footer Placeholder 4">
            <a:extLst>
              <a:ext uri="{FF2B5EF4-FFF2-40B4-BE49-F238E27FC236}">
                <a16:creationId xmlns:a16="http://schemas.microsoft.com/office/drawing/2014/main" id="{F5A3EC7B-9C95-4C36-86D2-914EBB1726CC}"/>
              </a:ext>
            </a:extLst>
          </p:cNvPr>
          <p:cNvSpPr>
            <a:spLocks noGrp="1"/>
          </p:cNvSpPr>
          <p:nvPr>
            <p:ph type="ftr" sz="quarter" idx="11"/>
          </p:nvPr>
        </p:nvSpPr>
        <p:spPr/>
        <p:txBody>
          <a:bodyPr/>
          <a:lstStyle/>
          <a:p>
            <a:r>
              <a:rPr lang="vi-VN">
                <a:uFillTx/>
              </a:rPr>
              <a:t>Chương 3. Lập trình hướng đối tượng trong C#</a:t>
            </a:r>
          </a:p>
        </p:txBody>
      </p:sp>
      <p:sp>
        <p:nvSpPr>
          <p:cNvPr id="6" name="Slide Number Placeholder 5">
            <a:extLst>
              <a:ext uri="{FF2B5EF4-FFF2-40B4-BE49-F238E27FC236}">
                <a16:creationId xmlns:a16="http://schemas.microsoft.com/office/drawing/2014/main" id="{4CBE3987-8122-4364-B374-CC9FC64E2DE7}"/>
              </a:ext>
            </a:extLst>
          </p:cNvPr>
          <p:cNvSpPr>
            <a:spLocks noGrp="1"/>
          </p:cNvSpPr>
          <p:nvPr>
            <p:ph type="sldNum" sz="quarter" idx="12"/>
          </p:nvPr>
        </p:nvSpPr>
        <p:spPr/>
        <p:txBody>
          <a:bodyPr/>
          <a:lstStyle/>
          <a:p>
            <a:fld id="{5AB95402-1E0D-474E-8D8C-CBE7F053639E}" type="slidenum">
              <a:rPr lang="vi-VN" smtClean="0">
                <a:uFillTx/>
              </a:rPr>
              <a:pPr/>
              <a:t>10</a:t>
            </a:fld>
            <a:r>
              <a:rPr lang="vi-VN">
                <a:uFillTx/>
              </a:rPr>
              <a:t>/28</a:t>
            </a:r>
          </a:p>
        </p:txBody>
      </p:sp>
    </p:spTree>
    <p:extLst>
      <p:ext uri="{BB962C8B-B14F-4D97-AF65-F5344CB8AC3E}">
        <p14:creationId xmlns:p14="http://schemas.microsoft.com/office/powerpoint/2010/main" val="232260780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11DBD1E-8E93-4704-A9BB-9FF817DD6E2D}"/>
              </a:ext>
            </a:extLst>
          </p:cNvPr>
          <p:cNvSpPr>
            <a:spLocks noGrp="1"/>
          </p:cNvSpPr>
          <p:nvPr>
            <p:ph idx="1"/>
          </p:nvPr>
        </p:nvSpPr>
        <p:spPr/>
        <p:txBody>
          <a:bodyPr/>
          <a:lstStyle/>
          <a:p>
            <a:r>
              <a:rPr lang="en-US"/>
              <a:t>Thêm phần tử vào List</a:t>
            </a:r>
          </a:p>
          <a:p>
            <a:pPr marL="0" indent="0">
              <a:buNone/>
            </a:pPr>
            <a:r>
              <a:rPr lang="en-US"/>
              <a:t>Thêm một phần tử:</a:t>
            </a:r>
          </a:p>
          <a:p>
            <a:pPr lvl="1"/>
            <a:r>
              <a:rPr lang="en-US"/>
              <a:t>numbers.Add(10);</a:t>
            </a:r>
          </a:p>
          <a:p>
            <a:pPr lvl="1"/>
            <a:r>
              <a:rPr lang="en-US"/>
              <a:t>numbers.Add(20);</a:t>
            </a:r>
          </a:p>
          <a:p>
            <a:pPr lvl="1"/>
            <a:r>
              <a:rPr lang="en-US"/>
              <a:t>numbers.Add(30);</a:t>
            </a:r>
          </a:p>
          <a:p>
            <a:pPr marL="0" indent="0">
              <a:buNone/>
            </a:pPr>
            <a:r>
              <a:rPr lang="en-US"/>
              <a:t>Thêm nhiều phần tử:</a:t>
            </a:r>
          </a:p>
          <a:p>
            <a:pPr marL="0" indent="0" algn="ctr">
              <a:buNone/>
            </a:pPr>
            <a:r>
              <a:rPr lang="en-US" sz="2200">
                <a:solidFill>
                  <a:srgbClr val="0000FF"/>
                </a:solidFill>
              </a:rPr>
              <a:t>numbers.AddRange(new int[] { 40, 50, 60 });</a:t>
            </a:r>
          </a:p>
          <a:p>
            <a:pPr marL="0" indent="0">
              <a:buNone/>
            </a:pPr>
            <a:r>
              <a:rPr lang="en-US"/>
              <a:t>Chèn </a:t>
            </a:r>
            <a:r>
              <a:rPr lang="en-US" dirty="0" err="1"/>
              <a:t>phần</a:t>
            </a:r>
            <a:r>
              <a:rPr lang="en-US" dirty="0"/>
              <a:t> </a:t>
            </a:r>
            <a:r>
              <a:rPr lang="en-US" dirty="0" err="1"/>
              <a:t>tử</a:t>
            </a:r>
            <a:r>
              <a:rPr lang="en-US" dirty="0"/>
              <a:t> </a:t>
            </a:r>
            <a:r>
              <a:rPr lang="en-US" dirty="0" err="1"/>
              <a:t>vào</a:t>
            </a:r>
            <a:r>
              <a:rPr lang="en-US" dirty="0"/>
              <a:t> </a:t>
            </a:r>
            <a:r>
              <a:rPr lang="en-US" dirty="0" err="1"/>
              <a:t>vị</a:t>
            </a:r>
            <a:r>
              <a:rPr lang="en-US" dirty="0"/>
              <a:t> </a:t>
            </a:r>
            <a:r>
              <a:rPr lang="en-US" dirty="0" err="1"/>
              <a:t>trí</a:t>
            </a:r>
            <a:r>
              <a:rPr lang="en-US" dirty="0"/>
              <a:t> </a:t>
            </a:r>
            <a:r>
              <a:rPr lang="en-US" dirty="0" err="1"/>
              <a:t>bất</a:t>
            </a:r>
            <a:r>
              <a:rPr lang="en-US" dirty="0"/>
              <a:t> </a:t>
            </a:r>
            <a:r>
              <a:rPr lang="en-US" dirty="0" err="1"/>
              <a:t>kỳ</a:t>
            </a:r>
            <a:r>
              <a:rPr lang="en-US" dirty="0"/>
              <a:t>:</a:t>
            </a:r>
          </a:p>
          <a:p>
            <a:pPr marL="0" indent="0" algn="ctr">
              <a:buNone/>
            </a:pPr>
            <a:r>
              <a:rPr lang="en-US" sz="2200" dirty="0" err="1">
                <a:solidFill>
                  <a:srgbClr val="0000FF"/>
                </a:solidFill>
              </a:rPr>
              <a:t>numbers</a:t>
            </a:r>
            <a:r>
              <a:rPr lang="en-US" sz="2200" err="1">
                <a:solidFill>
                  <a:srgbClr val="0000FF"/>
                </a:solidFill>
              </a:rPr>
              <a:t>.</a:t>
            </a:r>
            <a:r>
              <a:rPr lang="en-US" sz="2200">
                <a:solidFill>
                  <a:srgbClr val="0000FF"/>
                </a:solidFill>
              </a:rPr>
              <a:t>Insert</a:t>
            </a:r>
            <a:r>
              <a:rPr lang="en-US" sz="2200" dirty="0">
                <a:solidFill>
                  <a:srgbClr val="0000FF"/>
                </a:solidFill>
              </a:rPr>
              <a:t>(1, 15); </a:t>
            </a:r>
            <a:r>
              <a:rPr lang="en-US" sz="2200">
                <a:solidFill>
                  <a:srgbClr val="0000FF"/>
                </a:solidFill>
              </a:rPr>
              <a:t>// Chèn số</a:t>
            </a:r>
            <a:r>
              <a:rPr lang="en-US" sz="2200" dirty="0">
                <a:solidFill>
                  <a:srgbClr val="0000FF"/>
                </a:solidFill>
              </a:rPr>
              <a:t> </a:t>
            </a:r>
            <a:r>
              <a:rPr lang="en-US" sz="2200">
                <a:solidFill>
                  <a:srgbClr val="0000FF"/>
                </a:solidFill>
              </a:rPr>
              <a:t>15 vào vị trí</a:t>
            </a:r>
            <a:r>
              <a:rPr lang="en-US" sz="2200" dirty="0">
                <a:solidFill>
                  <a:srgbClr val="0000FF"/>
                </a:solidFill>
              </a:rPr>
              <a:t> index = 1</a:t>
            </a:r>
          </a:p>
          <a:p>
            <a:endParaRPr lang="en-US" dirty="0"/>
          </a:p>
        </p:txBody>
      </p:sp>
      <p:sp>
        <p:nvSpPr>
          <p:cNvPr id="4" name="Date Placeholder 3">
            <a:extLst>
              <a:ext uri="{FF2B5EF4-FFF2-40B4-BE49-F238E27FC236}">
                <a16:creationId xmlns:a16="http://schemas.microsoft.com/office/drawing/2014/main" id="{40D29EDE-0CC3-4AD2-8011-102894E143AB}"/>
              </a:ext>
            </a:extLst>
          </p:cNvPr>
          <p:cNvSpPr>
            <a:spLocks noGrp="1"/>
          </p:cNvSpPr>
          <p:nvPr>
            <p:ph type="dt" sz="half" idx="10"/>
          </p:nvPr>
        </p:nvSpPr>
        <p:spPr/>
        <p:txBody>
          <a:bodyPr/>
          <a:lstStyle/>
          <a:p>
            <a:fld id="{1FCC884B-1AA7-4469-B526-594A4B1341A0}" type="datetime1">
              <a:rPr lang="vi-VN" smtClean="0">
                <a:uFillTx/>
              </a:rPr>
              <a:t>08/02/2025</a:t>
            </a:fld>
            <a:endParaRPr lang="vi-VN">
              <a:uFillTx/>
            </a:endParaRPr>
          </a:p>
        </p:txBody>
      </p:sp>
      <p:sp>
        <p:nvSpPr>
          <p:cNvPr id="5" name="Footer Placeholder 4">
            <a:extLst>
              <a:ext uri="{FF2B5EF4-FFF2-40B4-BE49-F238E27FC236}">
                <a16:creationId xmlns:a16="http://schemas.microsoft.com/office/drawing/2014/main" id="{EFB4F0C2-CA63-4608-9C0C-C451D5D2B4FA}"/>
              </a:ext>
            </a:extLst>
          </p:cNvPr>
          <p:cNvSpPr>
            <a:spLocks noGrp="1"/>
          </p:cNvSpPr>
          <p:nvPr>
            <p:ph type="ftr" sz="quarter" idx="11"/>
          </p:nvPr>
        </p:nvSpPr>
        <p:spPr/>
        <p:txBody>
          <a:bodyPr/>
          <a:lstStyle/>
          <a:p>
            <a:r>
              <a:rPr lang="vi-VN">
                <a:uFillTx/>
              </a:rPr>
              <a:t>Chương 3. Lập trình hướng đối tượng trong C#</a:t>
            </a:r>
          </a:p>
        </p:txBody>
      </p:sp>
      <p:sp>
        <p:nvSpPr>
          <p:cNvPr id="6" name="Slide Number Placeholder 5">
            <a:extLst>
              <a:ext uri="{FF2B5EF4-FFF2-40B4-BE49-F238E27FC236}">
                <a16:creationId xmlns:a16="http://schemas.microsoft.com/office/drawing/2014/main" id="{CCAAA5E4-4B7C-461C-85BB-275469EEF0CB}"/>
              </a:ext>
            </a:extLst>
          </p:cNvPr>
          <p:cNvSpPr>
            <a:spLocks noGrp="1"/>
          </p:cNvSpPr>
          <p:nvPr>
            <p:ph type="sldNum" sz="quarter" idx="12"/>
          </p:nvPr>
        </p:nvSpPr>
        <p:spPr/>
        <p:txBody>
          <a:bodyPr/>
          <a:lstStyle/>
          <a:p>
            <a:fld id="{5AB95402-1E0D-474E-8D8C-CBE7F053639E}" type="slidenum">
              <a:rPr lang="vi-VN" smtClean="0">
                <a:uFillTx/>
              </a:rPr>
              <a:pPr/>
              <a:t>11</a:t>
            </a:fld>
            <a:r>
              <a:rPr lang="vi-VN">
                <a:uFillTx/>
              </a:rPr>
              <a:t>/28</a:t>
            </a:r>
          </a:p>
        </p:txBody>
      </p:sp>
      <p:sp>
        <p:nvSpPr>
          <p:cNvPr id="7" name="Title 1">
            <a:extLst>
              <a:ext uri="{FF2B5EF4-FFF2-40B4-BE49-F238E27FC236}">
                <a16:creationId xmlns:a16="http://schemas.microsoft.com/office/drawing/2014/main" id="{2D3BB3C1-C7BE-4611-B889-41BEE1466DCA}"/>
              </a:ext>
            </a:extLst>
          </p:cNvPr>
          <p:cNvSpPr>
            <a:spLocks noGrp="1"/>
          </p:cNvSpPr>
          <p:nvPr>
            <p:ph type="title"/>
          </p:nvPr>
        </p:nvSpPr>
        <p:spPr>
          <a:xfrm>
            <a:off x="899592" y="346744"/>
            <a:ext cx="8382000" cy="685800"/>
          </a:xfrm>
        </p:spPr>
        <p:txBody>
          <a:bodyPr/>
          <a:lstStyle/>
          <a:p>
            <a:r>
              <a:rPr lang="en-US"/>
              <a:t>3.4. Danh sách</a:t>
            </a:r>
          </a:p>
        </p:txBody>
      </p:sp>
    </p:spTree>
    <p:extLst>
      <p:ext uri="{BB962C8B-B14F-4D97-AF65-F5344CB8AC3E}">
        <p14:creationId xmlns:p14="http://schemas.microsoft.com/office/powerpoint/2010/main" val="248579810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6C94625-AD21-4266-A3B2-FE8B83978C40}"/>
              </a:ext>
            </a:extLst>
          </p:cNvPr>
          <p:cNvSpPr>
            <a:spLocks noGrp="1"/>
          </p:cNvSpPr>
          <p:nvPr>
            <p:ph idx="1"/>
          </p:nvPr>
        </p:nvSpPr>
        <p:spPr>
          <a:xfrm>
            <a:off x="685800" y="1074544"/>
            <a:ext cx="7924800" cy="5646931"/>
          </a:xfrm>
        </p:spPr>
        <p:txBody>
          <a:bodyPr/>
          <a:lstStyle/>
          <a:p>
            <a:r>
              <a:rPr lang="en-US" sz="2200" b="1"/>
              <a:t>Duyệt qua List</a:t>
            </a:r>
          </a:p>
          <a:p>
            <a:pPr marL="0" indent="0">
              <a:buNone/>
            </a:pPr>
            <a:r>
              <a:rPr lang="en-US" sz="2200" b="1"/>
              <a:t>Dùng for</a:t>
            </a:r>
          </a:p>
          <a:p>
            <a:pPr marL="438150" lvl="1" indent="0">
              <a:buNone/>
            </a:pPr>
            <a:r>
              <a:rPr lang="en-US" sz="2200">
                <a:solidFill>
                  <a:srgbClr val="0000FF"/>
                </a:solidFill>
              </a:rPr>
              <a:t>for (int i = 0; i &lt; numbers.Count; i++)</a:t>
            </a:r>
          </a:p>
          <a:p>
            <a:pPr marL="438150" lvl="1" indent="0">
              <a:buNone/>
            </a:pPr>
            <a:r>
              <a:rPr lang="en-US" sz="2200">
                <a:solidFill>
                  <a:srgbClr val="0000FF"/>
                </a:solidFill>
              </a:rPr>
              <a:t>{</a:t>
            </a:r>
          </a:p>
          <a:p>
            <a:pPr marL="438150" lvl="1" indent="0">
              <a:buNone/>
            </a:pPr>
            <a:r>
              <a:rPr lang="en-US" sz="2200">
                <a:solidFill>
                  <a:srgbClr val="0000FF"/>
                </a:solidFill>
              </a:rPr>
              <a:t>    Console.WriteLine(numbers[i]);</a:t>
            </a:r>
          </a:p>
          <a:p>
            <a:pPr marL="438150" lvl="1" indent="0">
              <a:buNone/>
            </a:pPr>
            <a:r>
              <a:rPr lang="en-US" sz="2200">
                <a:solidFill>
                  <a:srgbClr val="0000FF"/>
                </a:solidFill>
              </a:rPr>
              <a:t>}</a:t>
            </a:r>
          </a:p>
          <a:p>
            <a:pPr marL="0" indent="0">
              <a:buNone/>
            </a:pPr>
            <a:r>
              <a:rPr lang="en-US" sz="2200" b="1"/>
              <a:t>Dùng </a:t>
            </a:r>
            <a:r>
              <a:rPr lang="en-US" sz="2200" b="1" dirty="0"/>
              <a:t>foreach</a:t>
            </a:r>
          </a:p>
          <a:p>
            <a:pPr marL="438150" lvl="1" indent="0">
              <a:buNone/>
            </a:pPr>
            <a:r>
              <a:rPr lang="en-US" sz="2200" dirty="0">
                <a:solidFill>
                  <a:srgbClr val="0000FF"/>
                </a:solidFill>
              </a:rPr>
              <a:t>foreach (int num in numbers)</a:t>
            </a:r>
          </a:p>
          <a:p>
            <a:pPr marL="438150" lvl="1" indent="0">
              <a:buNone/>
            </a:pPr>
            <a:r>
              <a:rPr lang="en-US" sz="2200" dirty="0">
                <a:solidFill>
                  <a:srgbClr val="0000FF"/>
                </a:solidFill>
              </a:rPr>
              <a:t>{</a:t>
            </a:r>
          </a:p>
          <a:p>
            <a:pPr marL="438150" lvl="1" indent="0">
              <a:buNone/>
            </a:pPr>
            <a:r>
              <a:rPr lang="en-US" sz="2200">
                <a:solidFill>
                  <a:srgbClr val="0000FF"/>
                </a:solidFill>
              </a:rPr>
              <a:t>    </a:t>
            </a:r>
            <a:r>
              <a:rPr lang="en-US" sz="2200" dirty="0" err="1">
                <a:solidFill>
                  <a:srgbClr val="0000FF"/>
                </a:solidFill>
              </a:rPr>
              <a:t>Console</a:t>
            </a:r>
            <a:r>
              <a:rPr lang="en-US" sz="2200" err="1">
                <a:solidFill>
                  <a:srgbClr val="0000FF"/>
                </a:solidFill>
              </a:rPr>
              <a:t>.</a:t>
            </a:r>
            <a:r>
              <a:rPr lang="en-US" sz="2200">
                <a:solidFill>
                  <a:srgbClr val="0000FF"/>
                </a:solidFill>
              </a:rPr>
              <a:t>WriteLine</a:t>
            </a:r>
            <a:r>
              <a:rPr lang="en-US" sz="2200" dirty="0">
                <a:solidFill>
                  <a:srgbClr val="0000FF"/>
                </a:solidFill>
              </a:rPr>
              <a:t>(num);</a:t>
            </a:r>
          </a:p>
          <a:p>
            <a:pPr marL="438150" lvl="1" indent="0">
              <a:buNone/>
            </a:pPr>
            <a:r>
              <a:rPr lang="en-US" sz="2200" dirty="0">
                <a:solidFill>
                  <a:srgbClr val="0000FF"/>
                </a:solidFill>
              </a:rPr>
              <a:t>}</a:t>
            </a:r>
          </a:p>
          <a:p>
            <a:pPr marL="0" indent="0">
              <a:buNone/>
            </a:pPr>
            <a:r>
              <a:rPr lang="en-US" sz="2200" b="1"/>
              <a:t>Dùng </a:t>
            </a:r>
            <a:r>
              <a:rPr lang="en-US" sz="2200" b="1" dirty="0" err="1"/>
              <a:t>List.ForEach</a:t>
            </a:r>
            <a:r>
              <a:rPr lang="en-US" sz="2200" b="1" dirty="0"/>
              <a:t>()</a:t>
            </a:r>
          </a:p>
          <a:p>
            <a:pPr marL="0" indent="0">
              <a:buNone/>
            </a:pPr>
            <a:r>
              <a:rPr lang="en-US" sz="2200" dirty="0" err="1">
                <a:solidFill>
                  <a:srgbClr val="0000FF"/>
                </a:solidFill>
              </a:rPr>
              <a:t>numbers</a:t>
            </a:r>
            <a:r>
              <a:rPr lang="en-US" sz="2200" err="1">
                <a:solidFill>
                  <a:srgbClr val="0000FF"/>
                </a:solidFill>
              </a:rPr>
              <a:t>.</a:t>
            </a:r>
            <a:r>
              <a:rPr lang="en-US" sz="2200">
                <a:solidFill>
                  <a:srgbClr val="0000FF"/>
                </a:solidFill>
              </a:rPr>
              <a:t>ForEach</a:t>
            </a:r>
            <a:r>
              <a:rPr lang="en-US" sz="2200" dirty="0">
                <a:solidFill>
                  <a:srgbClr val="0000FF"/>
                </a:solidFill>
              </a:rPr>
              <a:t>(num </a:t>
            </a:r>
            <a:r>
              <a:rPr lang="en-US" sz="2200">
                <a:solidFill>
                  <a:srgbClr val="0000FF"/>
                </a:solidFill>
              </a:rPr>
              <a:t>=&gt; </a:t>
            </a:r>
            <a:r>
              <a:rPr lang="en-US" sz="2200" dirty="0" err="1">
                <a:solidFill>
                  <a:srgbClr val="0000FF"/>
                </a:solidFill>
              </a:rPr>
              <a:t>Console</a:t>
            </a:r>
            <a:r>
              <a:rPr lang="en-US" sz="2200" err="1">
                <a:solidFill>
                  <a:srgbClr val="0000FF"/>
                </a:solidFill>
              </a:rPr>
              <a:t>.</a:t>
            </a:r>
            <a:r>
              <a:rPr lang="en-US" sz="2200">
                <a:solidFill>
                  <a:srgbClr val="0000FF"/>
                </a:solidFill>
              </a:rPr>
              <a:t>WriteLine</a:t>
            </a:r>
            <a:r>
              <a:rPr lang="en-US" sz="2200" dirty="0">
                <a:solidFill>
                  <a:srgbClr val="0000FF"/>
                </a:solidFill>
              </a:rPr>
              <a:t>(num));</a:t>
            </a:r>
          </a:p>
          <a:p>
            <a:endParaRPr lang="en-US" sz="2200" dirty="0"/>
          </a:p>
          <a:p>
            <a:pPr marL="0" indent="0">
              <a:buNone/>
            </a:pPr>
            <a:endParaRPr lang="en-US" sz="2200" dirty="0"/>
          </a:p>
        </p:txBody>
      </p:sp>
      <p:sp>
        <p:nvSpPr>
          <p:cNvPr id="4" name="Date Placeholder 3">
            <a:extLst>
              <a:ext uri="{FF2B5EF4-FFF2-40B4-BE49-F238E27FC236}">
                <a16:creationId xmlns:a16="http://schemas.microsoft.com/office/drawing/2014/main" id="{9B9E14FC-EC5E-47A9-B359-6EFA24CFE6F2}"/>
              </a:ext>
            </a:extLst>
          </p:cNvPr>
          <p:cNvSpPr>
            <a:spLocks noGrp="1"/>
          </p:cNvSpPr>
          <p:nvPr>
            <p:ph type="dt" sz="half" idx="10"/>
          </p:nvPr>
        </p:nvSpPr>
        <p:spPr/>
        <p:txBody>
          <a:bodyPr/>
          <a:lstStyle/>
          <a:p>
            <a:fld id="{1FCC884B-1AA7-4469-B526-594A4B1341A0}" type="datetime1">
              <a:rPr lang="vi-VN" smtClean="0">
                <a:uFillTx/>
              </a:rPr>
              <a:t>08/02/2025</a:t>
            </a:fld>
            <a:endParaRPr lang="vi-VN">
              <a:uFillTx/>
            </a:endParaRPr>
          </a:p>
        </p:txBody>
      </p:sp>
      <p:sp>
        <p:nvSpPr>
          <p:cNvPr id="5" name="Footer Placeholder 4">
            <a:extLst>
              <a:ext uri="{FF2B5EF4-FFF2-40B4-BE49-F238E27FC236}">
                <a16:creationId xmlns:a16="http://schemas.microsoft.com/office/drawing/2014/main" id="{81D87A0A-7B64-470E-BAE5-6D9A7EA42674}"/>
              </a:ext>
            </a:extLst>
          </p:cNvPr>
          <p:cNvSpPr>
            <a:spLocks noGrp="1"/>
          </p:cNvSpPr>
          <p:nvPr>
            <p:ph type="ftr" sz="quarter" idx="11"/>
          </p:nvPr>
        </p:nvSpPr>
        <p:spPr/>
        <p:txBody>
          <a:bodyPr/>
          <a:lstStyle/>
          <a:p>
            <a:r>
              <a:rPr lang="vi-VN">
                <a:uFillTx/>
              </a:rPr>
              <a:t>Chương 3. Lập trình hướng đối tượng trong C#</a:t>
            </a:r>
          </a:p>
        </p:txBody>
      </p:sp>
      <p:sp>
        <p:nvSpPr>
          <p:cNvPr id="6" name="Slide Number Placeholder 5">
            <a:extLst>
              <a:ext uri="{FF2B5EF4-FFF2-40B4-BE49-F238E27FC236}">
                <a16:creationId xmlns:a16="http://schemas.microsoft.com/office/drawing/2014/main" id="{A26DF478-A0BD-4A24-9CE5-28F2CF34876D}"/>
              </a:ext>
            </a:extLst>
          </p:cNvPr>
          <p:cNvSpPr>
            <a:spLocks noGrp="1"/>
          </p:cNvSpPr>
          <p:nvPr>
            <p:ph type="sldNum" sz="quarter" idx="12"/>
          </p:nvPr>
        </p:nvSpPr>
        <p:spPr/>
        <p:txBody>
          <a:bodyPr/>
          <a:lstStyle/>
          <a:p>
            <a:fld id="{5AB95402-1E0D-474E-8D8C-CBE7F053639E}" type="slidenum">
              <a:rPr lang="vi-VN" smtClean="0">
                <a:uFillTx/>
              </a:rPr>
              <a:pPr/>
              <a:t>12</a:t>
            </a:fld>
            <a:r>
              <a:rPr lang="vi-VN">
                <a:uFillTx/>
              </a:rPr>
              <a:t>/28</a:t>
            </a:r>
          </a:p>
        </p:txBody>
      </p:sp>
      <p:sp>
        <p:nvSpPr>
          <p:cNvPr id="7" name="Title 1">
            <a:extLst>
              <a:ext uri="{FF2B5EF4-FFF2-40B4-BE49-F238E27FC236}">
                <a16:creationId xmlns:a16="http://schemas.microsoft.com/office/drawing/2014/main" id="{2861F881-4915-45E4-8541-93917B56755E}"/>
              </a:ext>
            </a:extLst>
          </p:cNvPr>
          <p:cNvSpPr>
            <a:spLocks noGrp="1"/>
          </p:cNvSpPr>
          <p:nvPr>
            <p:ph type="title"/>
          </p:nvPr>
        </p:nvSpPr>
        <p:spPr>
          <a:xfrm>
            <a:off x="899592" y="346744"/>
            <a:ext cx="8382000" cy="685800"/>
          </a:xfrm>
        </p:spPr>
        <p:txBody>
          <a:bodyPr/>
          <a:lstStyle/>
          <a:p>
            <a:r>
              <a:rPr lang="en-US"/>
              <a:t>3.4. Danh sách</a:t>
            </a:r>
          </a:p>
        </p:txBody>
      </p:sp>
    </p:spTree>
    <p:extLst>
      <p:ext uri="{BB962C8B-B14F-4D97-AF65-F5344CB8AC3E}">
        <p14:creationId xmlns:p14="http://schemas.microsoft.com/office/powerpoint/2010/main" val="24623845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6C94625-AD21-4266-A3B2-FE8B83978C40}"/>
              </a:ext>
            </a:extLst>
          </p:cNvPr>
          <p:cNvSpPr>
            <a:spLocks noGrp="1"/>
          </p:cNvSpPr>
          <p:nvPr>
            <p:ph idx="1"/>
          </p:nvPr>
        </p:nvSpPr>
        <p:spPr>
          <a:xfrm>
            <a:off x="611560" y="1143000"/>
            <a:ext cx="8303840" cy="5181600"/>
          </a:xfrm>
        </p:spPr>
        <p:txBody>
          <a:bodyPr/>
          <a:lstStyle/>
          <a:p>
            <a:r>
              <a:rPr lang="en-US" sz="2400"/>
              <a:t>Xóa phần tử trong List</a:t>
            </a:r>
          </a:p>
          <a:p>
            <a:pPr marL="0" indent="0">
              <a:buNone/>
            </a:pPr>
            <a:r>
              <a:rPr lang="en-US" sz="2400"/>
              <a:t>Xóa phần tử theo giá trị:</a:t>
            </a:r>
          </a:p>
          <a:p>
            <a:pPr marL="0" indent="0">
              <a:buNone/>
            </a:pPr>
            <a:r>
              <a:rPr lang="en-US" sz="2400"/>
              <a:t>	</a:t>
            </a:r>
            <a:r>
              <a:rPr lang="en-US" sz="2400" dirty="0" err="1">
                <a:solidFill>
                  <a:srgbClr val="0000FF"/>
                </a:solidFill>
              </a:rPr>
              <a:t>numbers.Remove</a:t>
            </a:r>
            <a:r>
              <a:rPr lang="en-US" sz="2400" dirty="0">
                <a:solidFill>
                  <a:srgbClr val="0000FF"/>
                </a:solidFill>
              </a:rPr>
              <a:t>(20</a:t>
            </a:r>
            <a:r>
              <a:rPr lang="en-US" sz="2400">
                <a:solidFill>
                  <a:srgbClr val="0000FF"/>
                </a:solidFill>
              </a:rPr>
              <a:t>); </a:t>
            </a:r>
            <a:r>
              <a:rPr lang="en-US" sz="2400"/>
              <a:t>// Xóa số 20</a:t>
            </a:r>
          </a:p>
          <a:p>
            <a:pPr marL="0" indent="0">
              <a:buNone/>
            </a:pPr>
            <a:r>
              <a:rPr lang="en-US" sz="2400"/>
              <a:t>Xóa </a:t>
            </a:r>
            <a:r>
              <a:rPr lang="en-US" sz="2400" dirty="0" err="1"/>
              <a:t>phần</a:t>
            </a:r>
            <a:r>
              <a:rPr lang="en-US" sz="2400" dirty="0"/>
              <a:t> </a:t>
            </a:r>
            <a:r>
              <a:rPr lang="en-US" sz="2400" dirty="0" err="1"/>
              <a:t>tử</a:t>
            </a:r>
            <a:r>
              <a:rPr lang="en-US" sz="2400" dirty="0"/>
              <a:t> </a:t>
            </a:r>
            <a:r>
              <a:rPr lang="en-US" sz="2400" dirty="0" err="1"/>
              <a:t>theo</a:t>
            </a:r>
            <a:r>
              <a:rPr lang="en-US" sz="2400" dirty="0"/>
              <a:t> </a:t>
            </a:r>
            <a:r>
              <a:rPr lang="en-US" sz="2400" dirty="0" err="1"/>
              <a:t>vị</a:t>
            </a:r>
            <a:r>
              <a:rPr lang="en-US" sz="2400" dirty="0"/>
              <a:t> </a:t>
            </a:r>
            <a:r>
              <a:rPr lang="en-US" sz="2400" dirty="0" err="1"/>
              <a:t>trí</a:t>
            </a:r>
            <a:r>
              <a:rPr lang="en-US" sz="2400" dirty="0"/>
              <a:t> (index):</a:t>
            </a:r>
          </a:p>
          <a:p>
            <a:pPr marL="0" indent="0">
              <a:buNone/>
            </a:pPr>
            <a:r>
              <a:rPr lang="en-US" sz="2400" dirty="0"/>
              <a:t>	</a:t>
            </a:r>
            <a:r>
              <a:rPr lang="en-US" sz="2400" dirty="0" err="1">
                <a:solidFill>
                  <a:srgbClr val="0000FF"/>
                </a:solidFill>
              </a:rPr>
              <a:t>numbers.RemoveAt</a:t>
            </a:r>
            <a:r>
              <a:rPr lang="en-US" sz="2400" dirty="0">
                <a:solidFill>
                  <a:srgbClr val="0000FF"/>
                </a:solidFill>
              </a:rPr>
              <a:t>(2); </a:t>
            </a:r>
            <a:r>
              <a:rPr lang="en-US" sz="2400" dirty="0"/>
              <a:t>//</a:t>
            </a:r>
            <a:r>
              <a:rPr lang="en-US" sz="2400" dirty="0" err="1"/>
              <a:t>Xóa</a:t>
            </a:r>
            <a:r>
              <a:rPr lang="en-US" sz="2400" dirty="0"/>
              <a:t> </a:t>
            </a:r>
            <a:r>
              <a:rPr lang="en-US" sz="2400" dirty="0" err="1"/>
              <a:t>phần</a:t>
            </a:r>
            <a:r>
              <a:rPr lang="en-US" sz="2400" dirty="0"/>
              <a:t> </a:t>
            </a:r>
            <a:r>
              <a:rPr lang="en-US" sz="2400" dirty="0" err="1"/>
              <a:t>tử</a:t>
            </a:r>
            <a:r>
              <a:rPr lang="en-US" sz="2400" dirty="0"/>
              <a:t> </a:t>
            </a:r>
            <a:r>
              <a:rPr lang="en-US" sz="2400" dirty="0" err="1"/>
              <a:t>vị</a:t>
            </a:r>
            <a:r>
              <a:rPr lang="en-US" sz="2400" dirty="0"/>
              <a:t> </a:t>
            </a:r>
            <a:r>
              <a:rPr lang="en-US" sz="2400" dirty="0" err="1"/>
              <a:t>trí</a:t>
            </a:r>
            <a:r>
              <a:rPr lang="en-US" sz="2400" dirty="0"/>
              <a:t> index= 2</a:t>
            </a:r>
          </a:p>
          <a:p>
            <a:pPr marL="0" indent="0">
              <a:buNone/>
            </a:pPr>
            <a:r>
              <a:rPr lang="en-US" sz="2400" dirty="0" err="1"/>
              <a:t>Xóa</a:t>
            </a:r>
            <a:r>
              <a:rPr lang="en-US" sz="2400" dirty="0"/>
              <a:t> </a:t>
            </a:r>
            <a:r>
              <a:rPr lang="en-US" sz="2400" dirty="0" err="1"/>
              <a:t>tất</a:t>
            </a:r>
            <a:r>
              <a:rPr lang="en-US" sz="2400" dirty="0"/>
              <a:t> </a:t>
            </a:r>
            <a:r>
              <a:rPr lang="en-US" sz="2400" dirty="0" err="1"/>
              <a:t>cả</a:t>
            </a:r>
            <a:r>
              <a:rPr lang="en-US" sz="2400" dirty="0"/>
              <a:t> </a:t>
            </a:r>
            <a:r>
              <a:rPr lang="en-US" sz="2400" dirty="0" err="1"/>
              <a:t>phần</a:t>
            </a:r>
            <a:r>
              <a:rPr lang="en-US" sz="2400" dirty="0"/>
              <a:t> </a:t>
            </a:r>
            <a:r>
              <a:rPr lang="en-US" sz="2400" dirty="0" err="1"/>
              <a:t>tử</a:t>
            </a:r>
            <a:r>
              <a:rPr lang="en-US" sz="2400" dirty="0"/>
              <a:t> </a:t>
            </a:r>
            <a:r>
              <a:rPr lang="en-US" sz="2400" dirty="0" err="1"/>
              <a:t>trong</a:t>
            </a:r>
            <a:r>
              <a:rPr lang="en-US" sz="2400" dirty="0"/>
              <a:t> </a:t>
            </a:r>
            <a:r>
              <a:rPr lang="en-US" sz="2400" dirty="0" err="1"/>
              <a:t>danh</a:t>
            </a:r>
            <a:r>
              <a:rPr lang="en-US" sz="2400" dirty="0"/>
              <a:t> </a:t>
            </a:r>
            <a:r>
              <a:rPr lang="en-US" sz="2400" dirty="0" err="1"/>
              <a:t>sách</a:t>
            </a:r>
            <a:r>
              <a:rPr lang="en-US" sz="2400" dirty="0"/>
              <a:t>:</a:t>
            </a:r>
          </a:p>
          <a:p>
            <a:pPr marL="0" indent="0">
              <a:buNone/>
            </a:pPr>
            <a:r>
              <a:rPr lang="en-US" sz="2400" dirty="0"/>
              <a:t>	</a:t>
            </a:r>
            <a:r>
              <a:rPr lang="en-US" sz="2400" dirty="0" err="1">
                <a:solidFill>
                  <a:srgbClr val="0000FF"/>
                </a:solidFill>
              </a:rPr>
              <a:t>numbers.Clear</a:t>
            </a:r>
            <a:r>
              <a:rPr lang="en-US" sz="2400" dirty="0">
                <a:solidFill>
                  <a:srgbClr val="0000FF"/>
                </a:solidFill>
              </a:rPr>
              <a:t>();</a:t>
            </a:r>
          </a:p>
          <a:p>
            <a:r>
              <a:rPr lang="en-US" sz="2400"/>
              <a:t>Sắp xếp danh sách</a:t>
            </a:r>
          </a:p>
          <a:p>
            <a:pPr marL="0" indent="0">
              <a:buNone/>
            </a:pPr>
            <a:r>
              <a:rPr lang="en-US" sz="2400"/>
              <a:t>Sắp xếp tăng dần (Sort)</a:t>
            </a:r>
          </a:p>
          <a:p>
            <a:pPr marL="0" indent="0">
              <a:buNone/>
            </a:pPr>
            <a:r>
              <a:rPr lang="en-US" sz="2400"/>
              <a:t>	</a:t>
            </a:r>
            <a:r>
              <a:rPr lang="en-US" sz="2400">
                <a:solidFill>
                  <a:srgbClr val="0000FF"/>
                </a:solidFill>
              </a:rPr>
              <a:t>numbers.Sort();</a:t>
            </a:r>
          </a:p>
          <a:p>
            <a:pPr marL="0" indent="0">
              <a:buNone/>
            </a:pPr>
            <a:r>
              <a:rPr lang="en-US" sz="2400"/>
              <a:t>Sắp </a:t>
            </a:r>
            <a:r>
              <a:rPr lang="en-US" sz="2400" dirty="0" err="1"/>
              <a:t>xếp</a:t>
            </a:r>
            <a:r>
              <a:rPr lang="en-US" sz="2400" dirty="0"/>
              <a:t> </a:t>
            </a:r>
            <a:r>
              <a:rPr lang="en-US" sz="2400" dirty="0" err="1"/>
              <a:t>giảm</a:t>
            </a:r>
            <a:r>
              <a:rPr lang="en-US" sz="2400" dirty="0"/>
              <a:t> </a:t>
            </a:r>
            <a:r>
              <a:rPr lang="en-US" sz="2400" dirty="0" err="1"/>
              <a:t>dần</a:t>
            </a:r>
            <a:r>
              <a:rPr lang="en-US" sz="2400" dirty="0"/>
              <a:t> (Sort + Reverse)</a:t>
            </a:r>
          </a:p>
          <a:p>
            <a:pPr marL="0" indent="0">
              <a:buNone/>
            </a:pPr>
            <a:r>
              <a:rPr lang="en-US" sz="2400"/>
              <a:t>	</a:t>
            </a:r>
            <a:r>
              <a:rPr lang="en-US" sz="2400">
                <a:solidFill>
                  <a:srgbClr val="0000FF"/>
                </a:solidFill>
              </a:rPr>
              <a:t>numbers</a:t>
            </a:r>
            <a:r>
              <a:rPr lang="en-US" sz="2400" err="1">
                <a:solidFill>
                  <a:srgbClr val="0000FF"/>
                </a:solidFill>
              </a:rPr>
              <a:t>.</a:t>
            </a:r>
            <a:r>
              <a:rPr lang="en-US" sz="2400">
                <a:solidFill>
                  <a:srgbClr val="0000FF"/>
                </a:solidFill>
              </a:rPr>
              <a:t>Sort</a:t>
            </a:r>
            <a:r>
              <a:rPr lang="en-US" sz="2400" dirty="0">
                <a:solidFill>
                  <a:srgbClr val="0000FF"/>
                </a:solidFill>
              </a:rPr>
              <a:t>();</a:t>
            </a:r>
          </a:p>
          <a:p>
            <a:pPr marL="0" indent="0">
              <a:buNone/>
            </a:pPr>
            <a:r>
              <a:rPr lang="en-US" sz="2400">
                <a:solidFill>
                  <a:srgbClr val="0000FF"/>
                </a:solidFill>
              </a:rPr>
              <a:t>	numbers</a:t>
            </a:r>
            <a:r>
              <a:rPr lang="en-US" sz="2400" err="1">
                <a:solidFill>
                  <a:srgbClr val="0000FF"/>
                </a:solidFill>
              </a:rPr>
              <a:t>.</a:t>
            </a:r>
            <a:r>
              <a:rPr lang="en-US" sz="2400">
                <a:solidFill>
                  <a:srgbClr val="0000FF"/>
                </a:solidFill>
              </a:rPr>
              <a:t>Reverse</a:t>
            </a:r>
            <a:r>
              <a:rPr lang="en-US" sz="2400" dirty="0">
                <a:solidFill>
                  <a:srgbClr val="0000FF"/>
                </a:solidFill>
              </a:rPr>
              <a:t>();</a:t>
            </a:r>
          </a:p>
          <a:p>
            <a:endParaRPr lang="en-US" sz="2400" dirty="0"/>
          </a:p>
          <a:p>
            <a:endParaRPr lang="en-US" sz="2400" dirty="0"/>
          </a:p>
        </p:txBody>
      </p:sp>
      <p:sp>
        <p:nvSpPr>
          <p:cNvPr id="4" name="Date Placeholder 3">
            <a:extLst>
              <a:ext uri="{FF2B5EF4-FFF2-40B4-BE49-F238E27FC236}">
                <a16:creationId xmlns:a16="http://schemas.microsoft.com/office/drawing/2014/main" id="{9B9E14FC-EC5E-47A9-B359-6EFA24CFE6F2}"/>
              </a:ext>
            </a:extLst>
          </p:cNvPr>
          <p:cNvSpPr>
            <a:spLocks noGrp="1"/>
          </p:cNvSpPr>
          <p:nvPr>
            <p:ph type="dt" sz="half" idx="10"/>
          </p:nvPr>
        </p:nvSpPr>
        <p:spPr/>
        <p:txBody>
          <a:bodyPr/>
          <a:lstStyle/>
          <a:p>
            <a:fld id="{1FCC884B-1AA7-4469-B526-594A4B1341A0}" type="datetime1">
              <a:rPr lang="vi-VN" smtClean="0">
                <a:uFillTx/>
              </a:rPr>
              <a:t>08/02/2025</a:t>
            </a:fld>
            <a:endParaRPr lang="vi-VN">
              <a:uFillTx/>
            </a:endParaRPr>
          </a:p>
        </p:txBody>
      </p:sp>
      <p:sp>
        <p:nvSpPr>
          <p:cNvPr id="5" name="Footer Placeholder 4">
            <a:extLst>
              <a:ext uri="{FF2B5EF4-FFF2-40B4-BE49-F238E27FC236}">
                <a16:creationId xmlns:a16="http://schemas.microsoft.com/office/drawing/2014/main" id="{81D87A0A-7B64-470E-BAE5-6D9A7EA42674}"/>
              </a:ext>
            </a:extLst>
          </p:cNvPr>
          <p:cNvSpPr>
            <a:spLocks noGrp="1"/>
          </p:cNvSpPr>
          <p:nvPr>
            <p:ph type="ftr" sz="quarter" idx="11"/>
          </p:nvPr>
        </p:nvSpPr>
        <p:spPr/>
        <p:txBody>
          <a:bodyPr/>
          <a:lstStyle/>
          <a:p>
            <a:r>
              <a:rPr lang="vi-VN">
                <a:uFillTx/>
              </a:rPr>
              <a:t>Chương 3. Lập trình hướng đối tượng trong C#</a:t>
            </a:r>
          </a:p>
        </p:txBody>
      </p:sp>
      <p:sp>
        <p:nvSpPr>
          <p:cNvPr id="6" name="Slide Number Placeholder 5">
            <a:extLst>
              <a:ext uri="{FF2B5EF4-FFF2-40B4-BE49-F238E27FC236}">
                <a16:creationId xmlns:a16="http://schemas.microsoft.com/office/drawing/2014/main" id="{A26DF478-A0BD-4A24-9CE5-28F2CF34876D}"/>
              </a:ext>
            </a:extLst>
          </p:cNvPr>
          <p:cNvSpPr>
            <a:spLocks noGrp="1"/>
          </p:cNvSpPr>
          <p:nvPr>
            <p:ph type="sldNum" sz="quarter" idx="12"/>
          </p:nvPr>
        </p:nvSpPr>
        <p:spPr/>
        <p:txBody>
          <a:bodyPr/>
          <a:lstStyle/>
          <a:p>
            <a:fld id="{5AB95402-1E0D-474E-8D8C-CBE7F053639E}" type="slidenum">
              <a:rPr lang="vi-VN" smtClean="0">
                <a:uFillTx/>
              </a:rPr>
              <a:pPr/>
              <a:t>13</a:t>
            </a:fld>
            <a:r>
              <a:rPr lang="vi-VN">
                <a:uFillTx/>
              </a:rPr>
              <a:t>/28</a:t>
            </a:r>
          </a:p>
        </p:txBody>
      </p:sp>
      <p:sp>
        <p:nvSpPr>
          <p:cNvPr id="7" name="Title 1">
            <a:extLst>
              <a:ext uri="{FF2B5EF4-FFF2-40B4-BE49-F238E27FC236}">
                <a16:creationId xmlns:a16="http://schemas.microsoft.com/office/drawing/2014/main" id="{2861F881-4915-45E4-8541-93917B56755E}"/>
              </a:ext>
            </a:extLst>
          </p:cNvPr>
          <p:cNvSpPr>
            <a:spLocks noGrp="1"/>
          </p:cNvSpPr>
          <p:nvPr>
            <p:ph type="title"/>
          </p:nvPr>
        </p:nvSpPr>
        <p:spPr>
          <a:xfrm>
            <a:off x="899592" y="346744"/>
            <a:ext cx="8382000" cy="685800"/>
          </a:xfrm>
        </p:spPr>
        <p:txBody>
          <a:bodyPr/>
          <a:lstStyle/>
          <a:p>
            <a:r>
              <a:rPr lang="en-US"/>
              <a:t>3.4. Danh sách</a:t>
            </a:r>
          </a:p>
        </p:txBody>
      </p:sp>
    </p:spTree>
    <p:extLst>
      <p:ext uri="{BB962C8B-B14F-4D97-AF65-F5344CB8AC3E}">
        <p14:creationId xmlns:p14="http://schemas.microsoft.com/office/powerpoint/2010/main" val="417250395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6C94625-AD21-4266-A3B2-FE8B83978C40}"/>
              </a:ext>
            </a:extLst>
          </p:cNvPr>
          <p:cNvSpPr>
            <a:spLocks noGrp="1"/>
          </p:cNvSpPr>
          <p:nvPr>
            <p:ph idx="1"/>
          </p:nvPr>
        </p:nvSpPr>
        <p:spPr>
          <a:xfrm>
            <a:off x="611560" y="1143000"/>
            <a:ext cx="8303840" cy="5181600"/>
          </a:xfrm>
        </p:spPr>
        <p:txBody>
          <a:bodyPr/>
          <a:lstStyle/>
          <a:p>
            <a:r>
              <a:rPr lang="en-US" sz="2400"/>
              <a:t>Tìm kiếm và kiểm tra phần tử</a:t>
            </a:r>
          </a:p>
          <a:p>
            <a:pPr marL="0" indent="0">
              <a:buNone/>
            </a:pPr>
            <a:r>
              <a:rPr lang="en-US" sz="2400"/>
              <a:t>Kiểm tra phần tử có tồn tại không (Contains)</a:t>
            </a:r>
          </a:p>
          <a:p>
            <a:pPr marL="0" indent="0">
              <a:buNone/>
            </a:pPr>
            <a:r>
              <a:rPr lang="en-US" sz="2400"/>
              <a:t>	</a:t>
            </a:r>
            <a:r>
              <a:rPr lang="vi-VN" sz="2400">
                <a:solidFill>
                  <a:srgbClr val="0000FF"/>
                </a:solidFill>
              </a:rPr>
              <a:t>bool exists = numbers.Contains(10); </a:t>
            </a:r>
            <a:endParaRPr lang="en-US" sz="2400">
              <a:solidFill>
                <a:srgbClr val="0000FF"/>
              </a:solidFill>
            </a:endParaRPr>
          </a:p>
          <a:p>
            <a:pPr marL="0" indent="0">
              <a:buNone/>
            </a:pPr>
            <a:r>
              <a:rPr lang="en-US" sz="2400" dirty="0"/>
              <a:t>	</a:t>
            </a:r>
            <a:r>
              <a:rPr lang="vi-VN" sz="2400" dirty="0"/>
              <a:t>// True nếu có số 10, ngược lại False</a:t>
            </a:r>
          </a:p>
          <a:p>
            <a:pPr marL="0" indent="0">
              <a:buNone/>
            </a:pPr>
            <a:r>
              <a:rPr lang="en-US" sz="2400" dirty="0" err="1"/>
              <a:t>Tìm</a:t>
            </a:r>
            <a:r>
              <a:rPr lang="en-US" sz="2400" dirty="0"/>
              <a:t> </a:t>
            </a:r>
            <a:r>
              <a:rPr lang="en-US" sz="2400" dirty="0" err="1"/>
              <a:t>chỉ</a:t>
            </a:r>
            <a:r>
              <a:rPr lang="en-US" sz="2400" dirty="0"/>
              <a:t> </a:t>
            </a:r>
            <a:r>
              <a:rPr lang="en-US" sz="2400" dirty="0" err="1"/>
              <a:t>mục</a:t>
            </a:r>
            <a:r>
              <a:rPr lang="en-US" sz="2400" dirty="0"/>
              <a:t> </a:t>
            </a:r>
            <a:r>
              <a:rPr lang="en-US" sz="2400" dirty="0" err="1"/>
              <a:t>của</a:t>
            </a:r>
            <a:r>
              <a:rPr lang="en-US" sz="2400" dirty="0"/>
              <a:t> </a:t>
            </a:r>
            <a:r>
              <a:rPr lang="en-US" sz="2400" dirty="0" err="1"/>
              <a:t>phần</a:t>
            </a:r>
            <a:r>
              <a:rPr lang="en-US" sz="2400" dirty="0"/>
              <a:t> </a:t>
            </a:r>
            <a:r>
              <a:rPr lang="en-US" sz="2400" dirty="0" err="1"/>
              <a:t>tử</a:t>
            </a:r>
            <a:r>
              <a:rPr lang="en-US" sz="2400" dirty="0"/>
              <a:t> (</a:t>
            </a:r>
            <a:r>
              <a:rPr lang="en-US" sz="2400" dirty="0" err="1"/>
              <a:t>IndexOf</a:t>
            </a:r>
            <a:r>
              <a:rPr lang="en-US" sz="2400" dirty="0"/>
              <a:t>)</a:t>
            </a:r>
          </a:p>
          <a:p>
            <a:pPr marL="0" indent="0">
              <a:buNone/>
            </a:pPr>
            <a:r>
              <a:rPr lang="en-US" sz="2400"/>
              <a:t>	</a:t>
            </a:r>
            <a:r>
              <a:rPr lang="en-US" sz="2400">
                <a:solidFill>
                  <a:srgbClr val="0000FF"/>
                </a:solidFill>
              </a:rPr>
              <a:t>int </a:t>
            </a:r>
            <a:r>
              <a:rPr lang="en-US" sz="2400" dirty="0">
                <a:solidFill>
                  <a:srgbClr val="0000FF"/>
                </a:solidFill>
              </a:rPr>
              <a:t>index </a:t>
            </a:r>
            <a:r>
              <a:rPr lang="en-US" sz="2400">
                <a:solidFill>
                  <a:srgbClr val="0000FF"/>
                </a:solidFill>
              </a:rPr>
              <a:t>= </a:t>
            </a:r>
            <a:r>
              <a:rPr lang="en-US" sz="2400" dirty="0" err="1">
                <a:solidFill>
                  <a:srgbClr val="0000FF"/>
                </a:solidFill>
              </a:rPr>
              <a:t>numbers</a:t>
            </a:r>
            <a:r>
              <a:rPr lang="en-US" sz="2400" err="1">
                <a:solidFill>
                  <a:srgbClr val="0000FF"/>
                </a:solidFill>
              </a:rPr>
              <a:t>.</a:t>
            </a:r>
            <a:r>
              <a:rPr lang="en-US" sz="2400">
                <a:solidFill>
                  <a:srgbClr val="0000FF"/>
                </a:solidFill>
              </a:rPr>
              <a:t>IndexOf</a:t>
            </a:r>
            <a:r>
              <a:rPr lang="en-US" sz="2400" dirty="0">
                <a:solidFill>
                  <a:srgbClr val="0000FF"/>
                </a:solidFill>
              </a:rPr>
              <a:t>(30</a:t>
            </a:r>
            <a:r>
              <a:rPr lang="en-US" sz="2400">
                <a:solidFill>
                  <a:srgbClr val="0000FF"/>
                </a:solidFill>
              </a:rPr>
              <a:t>); </a:t>
            </a:r>
            <a:endParaRPr lang="en-US" sz="2400" dirty="0">
              <a:solidFill>
                <a:srgbClr val="0000FF"/>
              </a:solidFill>
            </a:endParaRPr>
          </a:p>
          <a:p>
            <a:pPr marL="0" indent="0">
              <a:buNone/>
            </a:pPr>
            <a:r>
              <a:rPr lang="en-US" sz="2400" dirty="0"/>
              <a:t>	// </a:t>
            </a:r>
            <a:r>
              <a:rPr lang="en-US" sz="2400" dirty="0" err="1"/>
              <a:t>Trả</a:t>
            </a:r>
            <a:r>
              <a:rPr lang="en-US" sz="2400" dirty="0"/>
              <a:t> </a:t>
            </a:r>
            <a:r>
              <a:rPr lang="en-US" sz="2400" dirty="0" err="1"/>
              <a:t>về</a:t>
            </a:r>
            <a:r>
              <a:rPr lang="en-US" sz="2400" dirty="0"/>
              <a:t> </a:t>
            </a:r>
            <a:r>
              <a:rPr lang="en-US" sz="2400" dirty="0" err="1"/>
              <a:t>vị</a:t>
            </a:r>
            <a:r>
              <a:rPr lang="en-US" sz="2400" dirty="0"/>
              <a:t> </a:t>
            </a:r>
            <a:r>
              <a:rPr lang="en-US" sz="2400" dirty="0" err="1"/>
              <a:t>trí</a:t>
            </a:r>
            <a:r>
              <a:rPr lang="en-US" sz="2400" dirty="0"/>
              <a:t> </a:t>
            </a:r>
            <a:r>
              <a:rPr lang="en-US" sz="2400" dirty="0" err="1"/>
              <a:t>đầu</a:t>
            </a:r>
            <a:r>
              <a:rPr lang="en-US" sz="2400" dirty="0"/>
              <a:t> </a:t>
            </a:r>
            <a:r>
              <a:rPr lang="en-US" sz="2400" dirty="0" err="1"/>
              <a:t>tiên</a:t>
            </a:r>
            <a:r>
              <a:rPr lang="en-US" sz="2400" dirty="0"/>
              <a:t> </a:t>
            </a:r>
            <a:r>
              <a:rPr lang="en-US" sz="2400" dirty="0" err="1"/>
              <a:t>của</a:t>
            </a:r>
            <a:r>
              <a:rPr lang="en-US" sz="2400" dirty="0"/>
              <a:t> 30</a:t>
            </a:r>
          </a:p>
          <a:p>
            <a:pPr marL="0" indent="0">
              <a:buNone/>
            </a:pPr>
            <a:r>
              <a:rPr lang="en-US" sz="2400" dirty="0" err="1"/>
              <a:t>Tìm</a:t>
            </a:r>
            <a:r>
              <a:rPr lang="en-US" sz="2400" dirty="0"/>
              <a:t> </a:t>
            </a:r>
            <a:r>
              <a:rPr lang="en-US" sz="2400" dirty="0" err="1"/>
              <a:t>phần</a:t>
            </a:r>
            <a:r>
              <a:rPr lang="en-US" sz="2400" dirty="0"/>
              <a:t> </a:t>
            </a:r>
            <a:r>
              <a:rPr lang="en-US" sz="2400" dirty="0" err="1"/>
              <a:t>tử</a:t>
            </a:r>
            <a:r>
              <a:rPr lang="en-US" sz="2400" dirty="0"/>
              <a:t> </a:t>
            </a:r>
            <a:r>
              <a:rPr lang="en-US" sz="2400" dirty="0" err="1"/>
              <a:t>theo</a:t>
            </a:r>
            <a:r>
              <a:rPr lang="en-US" sz="2400" dirty="0"/>
              <a:t> </a:t>
            </a:r>
            <a:r>
              <a:rPr lang="en-US" sz="2400" dirty="0" err="1"/>
              <a:t>điều</a:t>
            </a:r>
            <a:r>
              <a:rPr lang="en-US" sz="2400" dirty="0"/>
              <a:t> </a:t>
            </a:r>
            <a:r>
              <a:rPr lang="en-US" sz="2400" dirty="0" err="1"/>
              <a:t>kiện</a:t>
            </a:r>
            <a:r>
              <a:rPr lang="en-US" sz="2400" dirty="0"/>
              <a:t> (Find </a:t>
            </a:r>
            <a:r>
              <a:rPr lang="en-US" sz="2400" dirty="0" err="1"/>
              <a:t>và</a:t>
            </a:r>
            <a:r>
              <a:rPr lang="en-US" sz="2400" dirty="0"/>
              <a:t> </a:t>
            </a:r>
            <a:r>
              <a:rPr lang="en-US" sz="2400" dirty="0" err="1"/>
              <a:t>FindAll</a:t>
            </a:r>
            <a:r>
              <a:rPr lang="en-US" sz="2400" dirty="0"/>
              <a:t>)</a:t>
            </a:r>
          </a:p>
          <a:p>
            <a:pPr marL="0" indent="0">
              <a:buNone/>
            </a:pPr>
            <a:r>
              <a:rPr lang="en-US" sz="2400"/>
              <a:t>	</a:t>
            </a:r>
            <a:r>
              <a:rPr lang="en-US" sz="2400">
                <a:solidFill>
                  <a:srgbClr val="0000FF"/>
                </a:solidFill>
              </a:rPr>
              <a:t>int </a:t>
            </a:r>
            <a:r>
              <a:rPr lang="en-US" sz="2400" dirty="0">
                <a:solidFill>
                  <a:srgbClr val="0000FF"/>
                </a:solidFill>
              </a:rPr>
              <a:t>found </a:t>
            </a:r>
            <a:r>
              <a:rPr lang="en-US" sz="2400">
                <a:solidFill>
                  <a:srgbClr val="0000FF"/>
                </a:solidFill>
              </a:rPr>
              <a:t>= </a:t>
            </a:r>
            <a:r>
              <a:rPr lang="en-US" sz="2400" dirty="0" err="1">
                <a:solidFill>
                  <a:srgbClr val="0000FF"/>
                </a:solidFill>
              </a:rPr>
              <a:t>numbers</a:t>
            </a:r>
            <a:r>
              <a:rPr lang="en-US" sz="2400" err="1">
                <a:solidFill>
                  <a:srgbClr val="0000FF"/>
                </a:solidFill>
              </a:rPr>
              <a:t>.</a:t>
            </a:r>
            <a:r>
              <a:rPr lang="en-US" sz="2400">
                <a:solidFill>
                  <a:srgbClr val="0000FF"/>
                </a:solidFill>
              </a:rPr>
              <a:t>Find</a:t>
            </a:r>
            <a:r>
              <a:rPr lang="en-US" sz="2400" dirty="0">
                <a:solidFill>
                  <a:srgbClr val="0000FF"/>
                </a:solidFill>
              </a:rPr>
              <a:t>(x =&gt; x &gt; 25</a:t>
            </a:r>
            <a:r>
              <a:rPr lang="en-US" sz="2400">
                <a:solidFill>
                  <a:srgbClr val="0000FF"/>
                </a:solidFill>
              </a:rPr>
              <a:t>); </a:t>
            </a:r>
            <a:endParaRPr lang="en-US" sz="2400" dirty="0">
              <a:solidFill>
                <a:srgbClr val="0000FF"/>
              </a:solidFill>
            </a:endParaRPr>
          </a:p>
          <a:p>
            <a:pPr marL="0" indent="0">
              <a:buNone/>
            </a:pPr>
            <a:r>
              <a:rPr lang="en-US" sz="2400" dirty="0"/>
              <a:t>	// </a:t>
            </a:r>
            <a:r>
              <a:rPr lang="en-US" sz="2400" dirty="0" err="1"/>
              <a:t>Tìm</a:t>
            </a:r>
            <a:r>
              <a:rPr lang="en-US" sz="2400" dirty="0"/>
              <a:t> </a:t>
            </a:r>
            <a:r>
              <a:rPr lang="en-US" sz="2400" dirty="0" err="1"/>
              <a:t>số</a:t>
            </a:r>
            <a:r>
              <a:rPr lang="en-US" sz="2400" dirty="0"/>
              <a:t> </a:t>
            </a:r>
            <a:r>
              <a:rPr lang="en-US" sz="2400" dirty="0" err="1"/>
              <a:t>đầu</a:t>
            </a:r>
            <a:r>
              <a:rPr lang="en-US" sz="2400" dirty="0"/>
              <a:t> </a:t>
            </a:r>
            <a:r>
              <a:rPr lang="en-US" sz="2400" dirty="0" err="1"/>
              <a:t>tiên</a:t>
            </a:r>
            <a:r>
              <a:rPr lang="en-US" sz="2400" dirty="0"/>
              <a:t> &gt; 25</a:t>
            </a:r>
          </a:p>
          <a:p>
            <a:pPr marL="0" indent="0">
              <a:buNone/>
            </a:pPr>
            <a:r>
              <a:rPr lang="en-US" sz="2400" dirty="0">
                <a:solidFill>
                  <a:srgbClr val="0000FF"/>
                </a:solidFill>
              </a:rPr>
              <a:t>List&lt;int</a:t>
            </a:r>
            <a:r>
              <a:rPr lang="en-US" sz="2400">
                <a:solidFill>
                  <a:srgbClr val="0000FF"/>
                </a:solidFill>
              </a:rPr>
              <a:t>&gt; foundList</a:t>
            </a:r>
            <a:r>
              <a:rPr lang="en-US" sz="2400" dirty="0">
                <a:solidFill>
                  <a:srgbClr val="0000FF"/>
                </a:solidFill>
              </a:rPr>
              <a:t> </a:t>
            </a:r>
            <a:r>
              <a:rPr lang="en-US" sz="2400">
                <a:solidFill>
                  <a:srgbClr val="0000FF"/>
                </a:solidFill>
              </a:rPr>
              <a:t>= </a:t>
            </a:r>
            <a:r>
              <a:rPr lang="en-US" sz="2400" dirty="0" err="1">
                <a:solidFill>
                  <a:srgbClr val="0000FF"/>
                </a:solidFill>
              </a:rPr>
              <a:t>numbers</a:t>
            </a:r>
            <a:r>
              <a:rPr lang="en-US" sz="2400" err="1">
                <a:solidFill>
                  <a:srgbClr val="0000FF"/>
                </a:solidFill>
              </a:rPr>
              <a:t>.</a:t>
            </a:r>
            <a:r>
              <a:rPr lang="en-US" sz="2400">
                <a:solidFill>
                  <a:srgbClr val="0000FF"/>
                </a:solidFill>
              </a:rPr>
              <a:t>FindAll</a:t>
            </a:r>
            <a:r>
              <a:rPr lang="en-US" sz="2400" dirty="0">
                <a:solidFill>
                  <a:srgbClr val="0000FF"/>
                </a:solidFill>
              </a:rPr>
              <a:t>(x =&gt; x &gt; 25</a:t>
            </a:r>
            <a:r>
              <a:rPr lang="en-US" sz="2400">
                <a:solidFill>
                  <a:srgbClr val="0000FF"/>
                </a:solidFill>
              </a:rPr>
              <a:t>); </a:t>
            </a:r>
            <a:endParaRPr lang="en-US" sz="2400" dirty="0">
              <a:solidFill>
                <a:srgbClr val="0000FF"/>
              </a:solidFill>
            </a:endParaRPr>
          </a:p>
          <a:p>
            <a:pPr marL="0" indent="0">
              <a:buNone/>
            </a:pPr>
            <a:r>
              <a:rPr lang="en-US" sz="2400" dirty="0"/>
              <a:t>	// </a:t>
            </a:r>
            <a:r>
              <a:rPr lang="en-US" sz="2400" dirty="0" err="1"/>
              <a:t>Tìm</a:t>
            </a:r>
            <a:r>
              <a:rPr lang="en-US" sz="2400" dirty="0"/>
              <a:t> </a:t>
            </a:r>
            <a:r>
              <a:rPr lang="en-US" sz="2400" dirty="0" err="1"/>
              <a:t>tất</a:t>
            </a:r>
            <a:r>
              <a:rPr lang="en-US" sz="2400" dirty="0"/>
              <a:t> </a:t>
            </a:r>
            <a:r>
              <a:rPr lang="en-US" sz="2400" dirty="0" err="1"/>
              <a:t>cả</a:t>
            </a:r>
            <a:r>
              <a:rPr lang="en-US" sz="2400" dirty="0"/>
              <a:t> </a:t>
            </a:r>
            <a:r>
              <a:rPr lang="en-US" sz="2400" dirty="0" err="1"/>
              <a:t>số</a:t>
            </a:r>
            <a:r>
              <a:rPr lang="en-US" sz="2400" dirty="0"/>
              <a:t> &gt; 25</a:t>
            </a:r>
          </a:p>
          <a:p>
            <a:endParaRPr lang="en-US" sz="2400" dirty="0"/>
          </a:p>
          <a:p>
            <a:endParaRPr lang="en-US" sz="2400" dirty="0"/>
          </a:p>
          <a:p>
            <a:endParaRPr lang="en-US" sz="2400" dirty="0"/>
          </a:p>
        </p:txBody>
      </p:sp>
      <p:sp>
        <p:nvSpPr>
          <p:cNvPr id="4" name="Date Placeholder 3">
            <a:extLst>
              <a:ext uri="{FF2B5EF4-FFF2-40B4-BE49-F238E27FC236}">
                <a16:creationId xmlns:a16="http://schemas.microsoft.com/office/drawing/2014/main" id="{9B9E14FC-EC5E-47A9-B359-6EFA24CFE6F2}"/>
              </a:ext>
            </a:extLst>
          </p:cNvPr>
          <p:cNvSpPr>
            <a:spLocks noGrp="1"/>
          </p:cNvSpPr>
          <p:nvPr>
            <p:ph type="dt" sz="half" idx="10"/>
          </p:nvPr>
        </p:nvSpPr>
        <p:spPr/>
        <p:txBody>
          <a:bodyPr/>
          <a:lstStyle/>
          <a:p>
            <a:fld id="{1FCC884B-1AA7-4469-B526-594A4B1341A0}" type="datetime1">
              <a:rPr lang="vi-VN" smtClean="0">
                <a:uFillTx/>
              </a:rPr>
              <a:t>08/02/2025</a:t>
            </a:fld>
            <a:endParaRPr lang="vi-VN">
              <a:uFillTx/>
            </a:endParaRPr>
          </a:p>
        </p:txBody>
      </p:sp>
      <p:sp>
        <p:nvSpPr>
          <p:cNvPr id="5" name="Footer Placeholder 4">
            <a:extLst>
              <a:ext uri="{FF2B5EF4-FFF2-40B4-BE49-F238E27FC236}">
                <a16:creationId xmlns:a16="http://schemas.microsoft.com/office/drawing/2014/main" id="{81D87A0A-7B64-470E-BAE5-6D9A7EA42674}"/>
              </a:ext>
            </a:extLst>
          </p:cNvPr>
          <p:cNvSpPr>
            <a:spLocks noGrp="1"/>
          </p:cNvSpPr>
          <p:nvPr>
            <p:ph type="ftr" sz="quarter" idx="11"/>
          </p:nvPr>
        </p:nvSpPr>
        <p:spPr/>
        <p:txBody>
          <a:bodyPr/>
          <a:lstStyle/>
          <a:p>
            <a:r>
              <a:rPr lang="vi-VN">
                <a:uFillTx/>
              </a:rPr>
              <a:t>Chương 3. Lập trình hướng đối tượng trong C#</a:t>
            </a:r>
          </a:p>
        </p:txBody>
      </p:sp>
      <p:sp>
        <p:nvSpPr>
          <p:cNvPr id="6" name="Slide Number Placeholder 5">
            <a:extLst>
              <a:ext uri="{FF2B5EF4-FFF2-40B4-BE49-F238E27FC236}">
                <a16:creationId xmlns:a16="http://schemas.microsoft.com/office/drawing/2014/main" id="{A26DF478-A0BD-4A24-9CE5-28F2CF34876D}"/>
              </a:ext>
            </a:extLst>
          </p:cNvPr>
          <p:cNvSpPr>
            <a:spLocks noGrp="1"/>
          </p:cNvSpPr>
          <p:nvPr>
            <p:ph type="sldNum" sz="quarter" idx="12"/>
          </p:nvPr>
        </p:nvSpPr>
        <p:spPr/>
        <p:txBody>
          <a:bodyPr/>
          <a:lstStyle/>
          <a:p>
            <a:fld id="{5AB95402-1E0D-474E-8D8C-CBE7F053639E}" type="slidenum">
              <a:rPr lang="vi-VN" smtClean="0">
                <a:uFillTx/>
              </a:rPr>
              <a:pPr/>
              <a:t>14</a:t>
            </a:fld>
            <a:r>
              <a:rPr lang="vi-VN">
                <a:uFillTx/>
              </a:rPr>
              <a:t>/28</a:t>
            </a:r>
          </a:p>
        </p:txBody>
      </p:sp>
      <p:sp>
        <p:nvSpPr>
          <p:cNvPr id="7" name="Title 1">
            <a:extLst>
              <a:ext uri="{FF2B5EF4-FFF2-40B4-BE49-F238E27FC236}">
                <a16:creationId xmlns:a16="http://schemas.microsoft.com/office/drawing/2014/main" id="{2861F881-4915-45E4-8541-93917B56755E}"/>
              </a:ext>
            </a:extLst>
          </p:cNvPr>
          <p:cNvSpPr>
            <a:spLocks noGrp="1"/>
          </p:cNvSpPr>
          <p:nvPr>
            <p:ph type="title"/>
          </p:nvPr>
        </p:nvSpPr>
        <p:spPr>
          <a:xfrm>
            <a:off x="899592" y="346744"/>
            <a:ext cx="8382000" cy="685800"/>
          </a:xfrm>
        </p:spPr>
        <p:txBody>
          <a:bodyPr/>
          <a:lstStyle/>
          <a:p>
            <a:r>
              <a:rPr lang="en-US"/>
              <a:t>3.4. Danh sách</a:t>
            </a:r>
          </a:p>
        </p:txBody>
      </p:sp>
    </p:spTree>
    <p:extLst>
      <p:ext uri="{BB962C8B-B14F-4D97-AF65-F5344CB8AC3E}">
        <p14:creationId xmlns:p14="http://schemas.microsoft.com/office/powerpoint/2010/main" val="249441473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2494A0-8FC0-496D-B9E8-AC76D092D9BE}"/>
              </a:ext>
            </a:extLst>
          </p:cNvPr>
          <p:cNvSpPr>
            <a:spLocks noGrp="1"/>
          </p:cNvSpPr>
          <p:nvPr>
            <p:ph type="title"/>
          </p:nvPr>
        </p:nvSpPr>
        <p:spPr/>
        <p:txBody>
          <a:bodyPr/>
          <a:lstStyle/>
          <a:p>
            <a:r>
              <a:rPr lang="en-US"/>
              <a:t>Ví dụ</a:t>
            </a:r>
          </a:p>
        </p:txBody>
      </p:sp>
      <p:sp>
        <p:nvSpPr>
          <p:cNvPr id="4" name="Date Placeholder 3">
            <a:extLst>
              <a:ext uri="{FF2B5EF4-FFF2-40B4-BE49-F238E27FC236}">
                <a16:creationId xmlns:a16="http://schemas.microsoft.com/office/drawing/2014/main" id="{E9780030-5B05-446C-A87C-23E605320911}"/>
              </a:ext>
            </a:extLst>
          </p:cNvPr>
          <p:cNvSpPr>
            <a:spLocks noGrp="1"/>
          </p:cNvSpPr>
          <p:nvPr>
            <p:ph type="dt" sz="half" idx="10"/>
          </p:nvPr>
        </p:nvSpPr>
        <p:spPr/>
        <p:txBody>
          <a:bodyPr/>
          <a:lstStyle/>
          <a:p>
            <a:fld id="{1FCC884B-1AA7-4469-B526-594A4B1341A0}" type="datetime1">
              <a:rPr lang="vi-VN" smtClean="0">
                <a:uFillTx/>
              </a:rPr>
              <a:t>08/02/2025</a:t>
            </a:fld>
            <a:endParaRPr lang="vi-VN">
              <a:uFillTx/>
            </a:endParaRPr>
          </a:p>
        </p:txBody>
      </p:sp>
      <p:sp>
        <p:nvSpPr>
          <p:cNvPr id="5" name="Footer Placeholder 4">
            <a:extLst>
              <a:ext uri="{FF2B5EF4-FFF2-40B4-BE49-F238E27FC236}">
                <a16:creationId xmlns:a16="http://schemas.microsoft.com/office/drawing/2014/main" id="{05132F07-7A44-4CA9-B697-DC91A3B30D4B}"/>
              </a:ext>
            </a:extLst>
          </p:cNvPr>
          <p:cNvSpPr>
            <a:spLocks noGrp="1"/>
          </p:cNvSpPr>
          <p:nvPr>
            <p:ph type="ftr" sz="quarter" idx="11"/>
          </p:nvPr>
        </p:nvSpPr>
        <p:spPr/>
        <p:txBody>
          <a:bodyPr/>
          <a:lstStyle/>
          <a:p>
            <a:r>
              <a:rPr lang="vi-VN">
                <a:uFillTx/>
              </a:rPr>
              <a:t>Chương 3. Lập trình hướng đối tượng trong C#</a:t>
            </a:r>
          </a:p>
        </p:txBody>
      </p:sp>
      <p:sp>
        <p:nvSpPr>
          <p:cNvPr id="6" name="Slide Number Placeholder 5">
            <a:extLst>
              <a:ext uri="{FF2B5EF4-FFF2-40B4-BE49-F238E27FC236}">
                <a16:creationId xmlns:a16="http://schemas.microsoft.com/office/drawing/2014/main" id="{78967691-5F6C-4A18-98AF-E5E96919718B}"/>
              </a:ext>
            </a:extLst>
          </p:cNvPr>
          <p:cNvSpPr>
            <a:spLocks noGrp="1"/>
          </p:cNvSpPr>
          <p:nvPr>
            <p:ph type="sldNum" sz="quarter" idx="12"/>
          </p:nvPr>
        </p:nvSpPr>
        <p:spPr/>
        <p:txBody>
          <a:bodyPr/>
          <a:lstStyle/>
          <a:p>
            <a:fld id="{5AB95402-1E0D-474E-8D8C-CBE7F053639E}" type="slidenum">
              <a:rPr lang="vi-VN" smtClean="0">
                <a:uFillTx/>
              </a:rPr>
              <a:pPr/>
              <a:t>15</a:t>
            </a:fld>
            <a:r>
              <a:rPr lang="vi-VN">
                <a:uFillTx/>
              </a:rPr>
              <a:t>/28</a:t>
            </a:r>
          </a:p>
        </p:txBody>
      </p:sp>
      <p:pic>
        <p:nvPicPr>
          <p:cNvPr id="7" name="Picture 6">
            <a:extLst>
              <a:ext uri="{FF2B5EF4-FFF2-40B4-BE49-F238E27FC236}">
                <a16:creationId xmlns:a16="http://schemas.microsoft.com/office/drawing/2014/main" id="{240878B9-15FE-4DAC-A00E-254F991654A1}"/>
              </a:ext>
            </a:extLst>
          </p:cNvPr>
          <p:cNvPicPr>
            <a:picLocks noChangeAspect="1"/>
          </p:cNvPicPr>
          <p:nvPr/>
        </p:nvPicPr>
        <p:blipFill>
          <a:blip r:embed="rId3"/>
          <a:stretch>
            <a:fillRect/>
          </a:stretch>
        </p:blipFill>
        <p:spPr>
          <a:xfrm>
            <a:off x="1115616" y="1354501"/>
            <a:ext cx="4962525" cy="4772025"/>
          </a:xfrm>
          <a:prstGeom prst="rect">
            <a:avLst/>
          </a:prstGeom>
        </p:spPr>
      </p:pic>
      <p:pic>
        <p:nvPicPr>
          <p:cNvPr id="8" name="Picture 7">
            <a:extLst>
              <a:ext uri="{FF2B5EF4-FFF2-40B4-BE49-F238E27FC236}">
                <a16:creationId xmlns:a16="http://schemas.microsoft.com/office/drawing/2014/main" id="{09BBE9EB-90E2-4D23-8807-D08B648ED399}"/>
              </a:ext>
            </a:extLst>
          </p:cNvPr>
          <p:cNvPicPr>
            <a:picLocks noChangeAspect="1"/>
          </p:cNvPicPr>
          <p:nvPr/>
        </p:nvPicPr>
        <p:blipFill>
          <a:blip r:embed="rId4"/>
          <a:stretch>
            <a:fillRect/>
          </a:stretch>
        </p:blipFill>
        <p:spPr>
          <a:xfrm>
            <a:off x="6124575" y="3861048"/>
            <a:ext cx="2790825" cy="1019175"/>
          </a:xfrm>
          <a:prstGeom prst="rect">
            <a:avLst/>
          </a:prstGeom>
        </p:spPr>
      </p:pic>
    </p:spTree>
    <p:extLst>
      <p:ext uri="{BB962C8B-B14F-4D97-AF65-F5344CB8AC3E}">
        <p14:creationId xmlns:p14="http://schemas.microsoft.com/office/powerpoint/2010/main" val="406914440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E5A290-5D40-4376-9216-3D1495B8C685}"/>
              </a:ext>
            </a:extLst>
          </p:cNvPr>
          <p:cNvSpPr>
            <a:spLocks noGrp="1"/>
          </p:cNvSpPr>
          <p:nvPr>
            <p:ph type="title"/>
          </p:nvPr>
        </p:nvSpPr>
        <p:spPr/>
        <p:txBody>
          <a:bodyPr/>
          <a:lstStyle/>
          <a:p>
            <a:r>
              <a:rPr lang="en-US"/>
              <a:t>3.5. Sử dụng Generic</a:t>
            </a:r>
          </a:p>
        </p:txBody>
      </p:sp>
      <p:sp>
        <p:nvSpPr>
          <p:cNvPr id="3" name="Content Placeholder 2">
            <a:extLst>
              <a:ext uri="{FF2B5EF4-FFF2-40B4-BE49-F238E27FC236}">
                <a16:creationId xmlns:a16="http://schemas.microsoft.com/office/drawing/2014/main" id="{F645220E-D2FB-4742-A937-9BE520963CED}"/>
              </a:ext>
            </a:extLst>
          </p:cNvPr>
          <p:cNvSpPr>
            <a:spLocks noGrp="1"/>
          </p:cNvSpPr>
          <p:nvPr>
            <p:ph idx="1"/>
          </p:nvPr>
        </p:nvSpPr>
        <p:spPr/>
        <p:txBody>
          <a:bodyPr/>
          <a:lstStyle/>
          <a:p>
            <a:r>
              <a:rPr lang="en-US" sz="2200"/>
              <a:t>Generic là gì? </a:t>
            </a:r>
            <a:r>
              <a:rPr lang="vi-VN" sz="2200" b="1"/>
              <a:t>Generic </a:t>
            </a:r>
            <a:r>
              <a:rPr lang="vi-VN" sz="2200"/>
              <a:t>trong C# cho phép bạn định nghĩa một hàm, một lớp mà không cần chỉ ra đối số kiểu dữ liệu là gì. Tuỳ vào kiểu dữ liệu mà người dùng truyền vào thì nó sẽ hoạt động theo kiểu dữ liệu đó.</a:t>
            </a:r>
            <a:endParaRPr lang="en-US" sz="2200"/>
          </a:p>
          <a:p>
            <a:endParaRPr lang="en-US" sz="2200"/>
          </a:p>
          <a:p>
            <a:endParaRPr lang="en-US" sz="2200"/>
          </a:p>
          <a:p>
            <a:endParaRPr lang="en-US" sz="2200"/>
          </a:p>
          <a:p>
            <a:endParaRPr lang="en-US" sz="2200"/>
          </a:p>
          <a:p>
            <a:r>
              <a:rPr lang="vi-VN" sz="2200"/>
              <a:t>Nếu sử dụng Generic ta sẽ viết như sau:</a:t>
            </a:r>
            <a:endParaRPr lang="en-US" sz="2200"/>
          </a:p>
        </p:txBody>
      </p:sp>
      <p:sp>
        <p:nvSpPr>
          <p:cNvPr id="4" name="Date Placeholder 3">
            <a:extLst>
              <a:ext uri="{FF2B5EF4-FFF2-40B4-BE49-F238E27FC236}">
                <a16:creationId xmlns:a16="http://schemas.microsoft.com/office/drawing/2014/main" id="{09A099CB-AAC1-4BA4-B16E-47E1F1317777}"/>
              </a:ext>
            </a:extLst>
          </p:cNvPr>
          <p:cNvSpPr>
            <a:spLocks noGrp="1"/>
          </p:cNvSpPr>
          <p:nvPr>
            <p:ph type="dt" sz="half" idx="10"/>
          </p:nvPr>
        </p:nvSpPr>
        <p:spPr/>
        <p:txBody>
          <a:bodyPr/>
          <a:lstStyle/>
          <a:p>
            <a:fld id="{1FCC884B-1AA7-4469-B526-594A4B1341A0}" type="datetime1">
              <a:rPr lang="vi-VN" smtClean="0">
                <a:uFillTx/>
              </a:rPr>
              <a:t>08/02/2025</a:t>
            </a:fld>
            <a:endParaRPr lang="vi-VN">
              <a:uFillTx/>
            </a:endParaRPr>
          </a:p>
        </p:txBody>
      </p:sp>
      <p:sp>
        <p:nvSpPr>
          <p:cNvPr id="5" name="Footer Placeholder 4">
            <a:extLst>
              <a:ext uri="{FF2B5EF4-FFF2-40B4-BE49-F238E27FC236}">
                <a16:creationId xmlns:a16="http://schemas.microsoft.com/office/drawing/2014/main" id="{370557BC-036B-40A1-9830-41CD9AC0D59B}"/>
              </a:ext>
            </a:extLst>
          </p:cNvPr>
          <p:cNvSpPr>
            <a:spLocks noGrp="1"/>
          </p:cNvSpPr>
          <p:nvPr>
            <p:ph type="ftr" sz="quarter" idx="11"/>
          </p:nvPr>
        </p:nvSpPr>
        <p:spPr/>
        <p:txBody>
          <a:bodyPr/>
          <a:lstStyle/>
          <a:p>
            <a:r>
              <a:rPr lang="vi-VN">
                <a:uFillTx/>
              </a:rPr>
              <a:t>Chương 3. Lập trình hướng đối tượng trong C#</a:t>
            </a:r>
          </a:p>
        </p:txBody>
      </p:sp>
      <p:sp>
        <p:nvSpPr>
          <p:cNvPr id="6" name="Slide Number Placeholder 5">
            <a:extLst>
              <a:ext uri="{FF2B5EF4-FFF2-40B4-BE49-F238E27FC236}">
                <a16:creationId xmlns:a16="http://schemas.microsoft.com/office/drawing/2014/main" id="{96A5FE8E-85EF-4A1C-85E0-BA2D9E56A474}"/>
              </a:ext>
            </a:extLst>
          </p:cNvPr>
          <p:cNvSpPr>
            <a:spLocks noGrp="1"/>
          </p:cNvSpPr>
          <p:nvPr>
            <p:ph type="sldNum" sz="quarter" idx="12"/>
          </p:nvPr>
        </p:nvSpPr>
        <p:spPr/>
        <p:txBody>
          <a:bodyPr/>
          <a:lstStyle/>
          <a:p>
            <a:fld id="{5AB95402-1E0D-474E-8D8C-CBE7F053639E}" type="slidenum">
              <a:rPr lang="vi-VN" smtClean="0">
                <a:uFillTx/>
              </a:rPr>
              <a:pPr/>
              <a:t>16</a:t>
            </a:fld>
            <a:r>
              <a:rPr lang="vi-VN">
                <a:uFillTx/>
              </a:rPr>
              <a:t>/28</a:t>
            </a:r>
          </a:p>
        </p:txBody>
      </p:sp>
      <p:pic>
        <p:nvPicPr>
          <p:cNvPr id="7" name="Picture 6">
            <a:extLst>
              <a:ext uri="{FF2B5EF4-FFF2-40B4-BE49-F238E27FC236}">
                <a16:creationId xmlns:a16="http://schemas.microsoft.com/office/drawing/2014/main" id="{DEC35779-8B88-41A7-A740-FD93E984FB4E}"/>
              </a:ext>
            </a:extLst>
          </p:cNvPr>
          <p:cNvPicPr>
            <a:picLocks noChangeAspect="1"/>
          </p:cNvPicPr>
          <p:nvPr/>
        </p:nvPicPr>
        <p:blipFill>
          <a:blip r:embed="rId3"/>
          <a:stretch>
            <a:fillRect/>
          </a:stretch>
        </p:blipFill>
        <p:spPr>
          <a:xfrm>
            <a:off x="2000250" y="2647950"/>
            <a:ext cx="4629150" cy="1562100"/>
          </a:xfrm>
          <a:prstGeom prst="rect">
            <a:avLst/>
          </a:prstGeom>
        </p:spPr>
      </p:pic>
      <p:pic>
        <p:nvPicPr>
          <p:cNvPr id="8" name="Picture 7">
            <a:extLst>
              <a:ext uri="{FF2B5EF4-FFF2-40B4-BE49-F238E27FC236}">
                <a16:creationId xmlns:a16="http://schemas.microsoft.com/office/drawing/2014/main" id="{7A9BECF9-2814-486F-BFE3-D7545CFEED19}"/>
              </a:ext>
            </a:extLst>
          </p:cNvPr>
          <p:cNvPicPr>
            <a:picLocks noChangeAspect="1"/>
          </p:cNvPicPr>
          <p:nvPr/>
        </p:nvPicPr>
        <p:blipFill>
          <a:blip r:embed="rId4"/>
          <a:stretch>
            <a:fillRect/>
          </a:stretch>
        </p:blipFill>
        <p:spPr>
          <a:xfrm>
            <a:off x="66675" y="4838700"/>
            <a:ext cx="4657725" cy="1524000"/>
          </a:xfrm>
          <a:prstGeom prst="rect">
            <a:avLst/>
          </a:prstGeom>
        </p:spPr>
      </p:pic>
      <p:pic>
        <p:nvPicPr>
          <p:cNvPr id="9" name="Picture 8">
            <a:extLst>
              <a:ext uri="{FF2B5EF4-FFF2-40B4-BE49-F238E27FC236}">
                <a16:creationId xmlns:a16="http://schemas.microsoft.com/office/drawing/2014/main" id="{7B641AF8-5018-4DD2-99CF-4A730E29073F}"/>
              </a:ext>
            </a:extLst>
          </p:cNvPr>
          <p:cNvPicPr>
            <a:picLocks noChangeAspect="1"/>
          </p:cNvPicPr>
          <p:nvPr/>
        </p:nvPicPr>
        <p:blipFill>
          <a:blip r:embed="rId5"/>
          <a:stretch>
            <a:fillRect/>
          </a:stretch>
        </p:blipFill>
        <p:spPr>
          <a:xfrm>
            <a:off x="5090592" y="4854939"/>
            <a:ext cx="3171825" cy="1333500"/>
          </a:xfrm>
          <a:prstGeom prst="rect">
            <a:avLst/>
          </a:prstGeom>
        </p:spPr>
      </p:pic>
    </p:spTree>
    <p:extLst>
      <p:ext uri="{BB962C8B-B14F-4D97-AF65-F5344CB8AC3E}">
        <p14:creationId xmlns:p14="http://schemas.microsoft.com/office/powerpoint/2010/main" val="312344833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77618E-4888-415E-9D2D-0323B8E890E9}"/>
              </a:ext>
            </a:extLst>
          </p:cNvPr>
          <p:cNvSpPr>
            <a:spLocks noGrp="1"/>
          </p:cNvSpPr>
          <p:nvPr>
            <p:ph type="title"/>
          </p:nvPr>
        </p:nvSpPr>
        <p:spPr/>
        <p:txBody>
          <a:bodyPr/>
          <a:lstStyle/>
          <a:p>
            <a:r>
              <a:rPr lang="en-US"/>
              <a:t>Ví dụ ph</a:t>
            </a:r>
            <a:r>
              <a:rPr lang="vi-VN"/>
              <a:t>ư</a:t>
            </a:r>
            <a:r>
              <a:rPr lang="en-US"/>
              <a:t>ơng thức generic</a:t>
            </a:r>
          </a:p>
        </p:txBody>
      </p:sp>
      <p:sp>
        <p:nvSpPr>
          <p:cNvPr id="4" name="Date Placeholder 3">
            <a:extLst>
              <a:ext uri="{FF2B5EF4-FFF2-40B4-BE49-F238E27FC236}">
                <a16:creationId xmlns:a16="http://schemas.microsoft.com/office/drawing/2014/main" id="{B96CA90F-6E71-4867-8574-69CD4C15DB86}"/>
              </a:ext>
            </a:extLst>
          </p:cNvPr>
          <p:cNvSpPr>
            <a:spLocks noGrp="1"/>
          </p:cNvSpPr>
          <p:nvPr>
            <p:ph type="dt" sz="half" idx="10"/>
          </p:nvPr>
        </p:nvSpPr>
        <p:spPr/>
        <p:txBody>
          <a:bodyPr/>
          <a:lstStyle/>
          <a:p>
            <a:fld id="{1FCC884B-1AA7-4469-B526-594A4B1341A0}" type="datetime1">
              <a:rPr lang="vi-VN" smtClean="0">
                <a:uFillTx/>
              </a:rPr>
              <a:t>08/02/2025</a:t>
            </a:fld>
            <a:endParaRPr lang="vi-VN">
              <a:uFillTx/>
            </a:endParaRPr>
          </a:p>
        </p:txBody>
      </p:sp>
      <p:sp>
        <p:nvSpPr>
          <p:cNvPr id="5" name="Footer Placeholder 4">
            <a:extLst>
              <a:ext uri="{FF2B5EF4-FFF2-40B4-BE49-F238E27FC236}">
                <a16:creationId xmlns:a16="http://schemas.microsoft.com/office/drawing/2014/main" id="{CD9913C3-8A2A-4330-B4B0-5002F665A74D}"/>
              </a:ext>
            </a:extLst>
          </p:cNvPr>
          <p:cNvSpPr>
            <a:spLocks noGrp="1"/>
          </p:cNvSpPr>
          <p:nvPr>
            <p:ph type="ftr" sz="quarter" idx="11"/>
          </p:nvPr>
        </p:nvSpPr>
        <p:spPr/>
        <p:txBody>
          <a:bodyPr/>
          <a:lstStyle/>
          <a:p>
            <a:r>
              <a:rPr lang="vi-VN">
                <a:uFillTx/>
              </a:rPr>
              <a:t>Chương 3. Lập trình hướng đối tượng trong C#</a:t>
            </a:r>
          </a:p>
        </p:txBody>
      </p:sp>
      <p:sp>
        <p:nvSpPr>
          <p:cNvPr id="6" name="Slide Number Placeholder 5">
            <a:extLst>
              <a:ext uri="{FF2B5EF4-FFF2-40B4-BE49-F238E27FC236}">
                <a16:creationId xmlns:a16="http://schemas.microsoft.com/office/drawing/2014/main" id="{E09753C7-CB35-4A6D-87D2-CDA9E277A483}"/>
              </a:ext>
            </a:extLst>
          </p:cNvPr>
          <p:cNvSpPr>
            <a:spLocks noGrp="1"/>
          </p:cNvSpPr>
          <p:nvPr>
            <p:ph type="sldNum" sz="quarter" idx="12"/>
          </p:nvPr>
        </p:nvSpPr>
        <p:spPr/>
        <p:txBody>
          <a:bodyPr/>
          <a:lstStyle/>
          <a:p>
            <a:fld id="{5AB95402-1E0D-474E-8D8C-CBE7F053639E}" type="slidenum">
              <a:rPr lang="vi-VN" smtClean="0">
                <a:uFillTx/>
              </a:rPr>
              <a:pPr/>
              <a:t>17</a:t>
            </a:fld>
            <a:r>
              <a:rPr lang="vi-VN">
                <a:uFillTx/>
              </a:rPr>
              <a:t>/28</a:t>
            </a:r>
          </a:p>
        </p:txBody>
      </p:sp>
      <p:pic>
        <p:nvPicPr>
          <p:cNvPr id="7" name="Picture 6">
            <a:extLst>
              <a:ext uri="{FF2B5EF4-FFF2-40B4-BE49-F238E27FC236}">
                <a16:creationId xmlns:a16="http://schemas.microsoft.com/office/drawing/2014/main" id="{5B91C54E-AAEC-450B-829D-F89F7819867A}"/>
              </a:ext>
            </a:extLst>
          </p:cNvPr>
          <p:cNvPicPr>
            <a:picLocks noChangeAspect="1"/>
          </p:cNvPicPr>
          <p:nvPr/>
        </p:nvPicPr>
        <p:blipFill>
          <a:blip r:embed="rId3"/>
          <a:stretch>
            <a:fillRect/>
          </a:stretch>
        </p:blipFill>
        <p:spPr>
          <a:xfrm>
            <a:off x="1631768" y="1047247"/>
            <a:ext cx="6291783" cy="5513890"/>
          </a:xfrm>
          <a:prstGeom prst="rect">
            <a:avLst/>
          </a:prstGeom>
        </p:spPr>
      </p:pic>
    </p:spTree>
    <p:extLst>
      <p:ext uri="{BB962C8B-B14F-4D97-AF65-F5344CB8AC3E}">
        <p14:creationId xmlns:p14="http://schemas.microsoft.com/office/powerpoint/2010/main" val="25017850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24B5BF5-02B9-4212-B550-175736D2819D}"/>
              </a:ext>
            </a:extLst>
          </p:cNvPr>
          <p:cNvSpPr>
            <a:spLocks noGrp="1"/>
          </p:cNvSpPr>
          <p:nvPr>
            <p:ph idx="1"/>
          </p:nvPr>
        </p:nvSpPr>
        <p:spPr/>
        <p:txBody>
          <a:bodyPr/>
          <a:lstStyle/>
          <a:p>
            <a:r>
              <a:rPr lang="en-US"/>
              <a:t>Các loại Generic thông dụng</a:t>
            </a:r>
          </a:p>
        </p:txBody>
      </p:sp>
      <p:sp>
        <p:nvSpPr>
          <p:cNvPr id="4" name="Date Placeholder 3">
            <a:extLst>
              <a:ext uri="{FF2B5EF4-FFF2-40B4-BE49-F238E27FC236}">
                <a16:creationId xmlns:a16="http://schemas.microsoft.com/office/drawing/2014/main" id="{F2695C29-EEEB-441B-BE29-8906C28AB553}"/>
              </a:ext>
            </a:extLst>
          </p:cNvPr>
          <p:cNvSpPr>
            <a:spLocks noGrp="1"/>
          </p:cNvSpPr>
          <p:nvPr>
            <p:ph type="dt" sz="half" idx="10"/>
          </p:nvPr>
        </p:nvSpPr>
        <p:spPr/>
        <p:txBody>
          <a:bodyPr/>
          <a:lstStyle/>
          <a:p>
            <a:fld id="{1FCC884B-1AA7-4469-B526-594A4B1341A0}" type="datetime1">
              <a:rPr lang="vi-VN" smtClean="0">
                <a:uFillTx/>
              </a:rPr>
              <a:t>08/02/2025</a:t>
            </a:fld>
            <a:endParaRPr lang="vi-VN">
              <a:uFillTx/>
            </a:endParaRPr>
          </a:p>
        </p:txBody>
      </p:sp>
      <p:sp>
        <p:nvSpPr>
          <p:cNvPr id="5" name="Footer Placeholder 4">
            <a:extLst>
              <a:ext uri="{FF2B5EF4-FFF2-40B4-BE49-F238E27FC236}">
                <a16:creationId xmlns:a16="http://schemas.microsoft.com/office/drawing/2014/main" id="{27ACBEFE-6BBB-443B-9BA2-727186007BE9}"/>
              </a:ext>
            </a:extLst>
          </p:cNvPr>
          <p:cNvSpPr>
            <a:spLocks noGrp="1"/>
          </p:cNvSpPr>
          <p:nvPr>
            <p:ph type="ftr" sz="quarter" idx="11"/>
          </p:nvPr>
        </p:nvSpPr>
        <p:spPr/>
        <p:txBody>
          <a:bodyPr/>
          <a:lstStyle/>
          <a:p>
            <a:r>
              <a:rPr lang="vi-VN">
                <a:uFillTx/>
              </a:rPr>
              <a:t>Chương 3. Lập trình hướng đối tượng trong C#</a:t>
            </a:r>
          </a:p>
        </p:txBody>
      </p:sp>
      <p:sp>
        <p:nvSpPr>
          <p:cNvPr id="6" name="Slide Number Placeholder 5">
            <a:extLst>
              <a:ext uri="{FF2B5EF4-FFF2-40B4-BE49-F238E27FC236}">
                <a16:creationId xmlns:a16="http://schemas.microsoft.com/office/drawing/2014/main" id="{04DB9F48-B71D-457B-8C74-1B80708C9FB7}"/>
              </a:ext>
            </a:extLst>
          </p:cNvPr>
          <p:cNvSpPr>
            <a:spLocks noGrp="1"/>
          </p:cNvSpPr>
          <p:nvPr>
            <p:ph type="sldNum" sz="quarter" idx="12"/>
          </p:nvPr>
        </p:nvSpPr>
        <p:spPr/>
        <p:txBody>
          <a:bodyPr/>
          <a:lstStyle/>
          <a:p>
            <a:fld id="{5AB95402-1E0D-474E-8D8C-CBE7F053639E}" type="slidenum">
              <a:rPr lang="vi-VN" smtClean="0">
                <a:uFillTx/>
              </a:rPr>
              <a:pPr/>
              <a:t>18</a:t>
            </a:fld>
            <a:r>
              <a:rPr lang="vi-VN">
                <a:uFillTx/>
              </a:rPr>
              <a:t>/28</a:t>
            </a:r>
          </a:p>
        </p:txBody>
      </p:sp>
      <p:sp>
        <p:nvSpPr>
          <p:cNvPr id="7" name="Title 1">
            <a:extLst>
              <a:ext uri="{FF2B5EF4-FFF2-40B4-BE49-F238E27FC236}">
                <a16:creationId xmlns:a16="http://schemas.microsoft.com/office/drawing/2014/main" id="{0D1424B7-24F5-4587-A646-FEC788306F28}"/>
              </a:ext>
            </a:extLst>
          </p:cNvPr>
          <p:cNvSpPr>
            <a:spLocks noGrp="1"/>
          </p:cNvSpPr>
          <p:nvPr>
            <p:ph type="title"/>
          </p:nvPr>
        </p:nvSpPr>
        <p:spPr>
          <a:xfrm>
            <a:off x="899592" y="346744"/>
            <a:ext cx="8382000" cy="685800"/>
          </a:xfrm>
        </p:spPr>
        <p:txBody>
          <a:bodyPr/>
          <a:lstStyle/>
          <a:p>
            <a:r>
              <a:rPr lang="en-US"/>
              <a:t>3.5. Sử dụng Generic</a:t>
            </a:r>
          </a:p>
        </p:txBody>
      </p:sp>
      <p:pic>
        <p:nvPicPr>
          <p:cNvPr id="8" name="Picture 7">
            <a:extLst>
              <a:ext uri="{FF2B5EF4-FFF2-40B4-BE49-F238E27FC236}">
                <a16:creationId xmlns:a16="http://schemas.microsoft.com/office/drawing/2014/main" id="{942707FD-A43E-4057-9D0A-345B5D549AD6}"/>
              </a:ext>
            </a:extLst>
          </p:cNvPr>
          <p:cNvPicPr>
            <a:picLocks noChangeAspect="1"/>
          </p:cNvPicPr>
          <p:nvPr/>
        </p:nvPicPr>
        <p:blipFill>
          <a:blip r:embed="rId3"/>
          <a:stretch>
            <a:fillRect/>
          </a:stretch>
        </p:blipFill>
        <p:spPr>
          <a:xfrm>
            <a:off x="729905" y="1844824"/>
            <a:ext cx="7924800" cy="3717948"/>
          </a:xfrm>
          <a:prstGeom prst="rect">
            <a:avLst/>
          </a:prstGeom>
        </p:spPr>
      </p:pic>
    </p:spTree>
    <p:extLst>
      <p:ext uri="{BB962C8B-B14F-4D97-AF65-F5344CB8AC3E}">
        <p14:creationId xmlns:p14="http://schemas.microsoft.com/office/powerpoint/2010/main" val="293481884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B2B59E-F810-4B36-8DA4-AB1E8027C357}"/>
              </a:ext>
            </a:extLst>
          </p:cNvPr>
          <p:cNvSpPr>
            <a:spLocks noGrp="1"/>
          </p:cNvSpPr>
          <p:nvPr>
            <p:ph type="title"/>
          </p:nvPr>
        </p:nvSpPr>
        <p:spPr/>
        <p:txBody>
          <a:bodyPr/>
          <a:lstStyle/>
          <a:p>
            <a:r>
              <a:rPr lang="en-US"/>
              <a:t>Ví dụ List Generic</a:t>
            </a:r>
          </a:p>
        </p:txBody>
      </p:sp>
      <p:sp>
        <p:nvSpPr>
          <p:cNvPr id="4" name="Date Placeholder 3">
            <a:extLst>
              <a:ext uri="{FF2B5EF4-FFF2-40B4-BE49-F238E27FC236}">
                <a16:creationId xmlns:a16="http://schemas.microsoft.com/office/drawing/2014/main" id="{1AA2C9BE-8AE4-48B3-90C8-29717C703245}"/>
              </a:ext>
            </a:extLst>
          </p:cNvPr>
          <p:cNvSpPr>
            <a:spLocks noGrp="1"/>
          </p:cNvSpPr>
          <p:nvPr>
            <p:ph type="dt" sz="half" idx="10"/>
          </p:nvPr>
        </p:nvSpPr>
        <p:spPr/>
        <p:txBody>
          <a:bodyPr/>
          <a:lstStyle/>
          <a:p>
            <a:fld id="{1FCC884B-1AA7-4469-B526-594A4B1341A0}" type="datetime1">
              <a:rPr lang="vi-VN" smtClean="0">
                <a:uFillTx/>
              </a:rPr>
              <a:t>08/02/2025</a:t>
            </a:fld>
            <a:endParaRPr lang="vi-VN">
              <a:uFillTx/>
            </a:endParaRPr>
          </a:p>
        </p:txBody>
      </p:sp>
      <p:sp>
        <p:nvSpPr>
          <p:cNvPr id="5" name="Footer Placeholder 4">
            <a:extLst>
              <a:ext uri="{FF2B5EF4-FFF2-40B4-BE49-F238E27FC236}">
                <a16:creationId xmlns:a16="http://schemas.microsoft.com/office/drawing/2014/main" id="{2FD241E2-7F5C-402E-8914-369A49C40667}"/>
              </a:ext>
            </a:extLst>
          </p:cNvPr>
          <p:cNvSpPr>
            <a:spLocks noGrp="1"/>
          </p:cNvSpPr>
          <p:nvPr>
            <p:ph type="ftr" sz="quarter" idx="11"/>
          </p:nvPr>
        </p:nvSpPr>
        <p:spPr/>
        <p:txBody>
          <a:bodyPr/>
          <a:lstStyle/>
          <a:p>
            <a:r>
              <a:rPr lang="vi-VN">
                <a:uFillTx/>
              </a:rPr>
              <a:t>Chương 3. Lập trình hướng đối tượng trong C#</a:t>
            </a:r>
          </a:p>
        </p:txBody>
      </p:sp>
      <p:sp>
        <p:nvSpPr>
          <p:cNvPr id="6" name="Slide Number Placeholder 5">
            <a:extLst>
              <a:ext uri="{FF2B5EF4-FFF2-40B4-BE49-F238E27FC236}">
                <a16:creationId xmlns:a16="http://schemas.microsoft.com/office/drawing/2014/main" id="{136BF3FB-FD7D-4CED-AB33-CD6B47922DA0}"/>
              </a:ext>
            </a:extLst>
          </p:cNvPr>
          <p:cNvSpPr>
            <a:spLocks noGrp="1"/>
          </p:cNvSpPr>
          <p:nvPr>
            <p:ph type="sldNum" sz="quarter" idx="12"/>
          </p:nvPr>
        </p:nvSpPr>
        <p:spPr/>
        <p:txBody>
          <a:bodyPr/>
          <a:lstStyle/>
          <a:p>
            <a:fld id="{5AB95402-1E0D-474E-8D8C-CBE7F053639E}" type="slidenum">
              <a:rPr lang="vi-VN" smtClean="0">
                <a:uFillTx/>
              </a:rPr>
              <a:pPr/>
              <a:t>19</a:t>
            </a:fld>
            <a:r>
              <a:rPr lang="vi-VN">
                <a:uFillTx/>
              </a:rPr>
              <a:t>/28</a:t>
            </a:r>
          </a:p>
        </p:txBody>
      </p:sp>
      <p:pic>
        <p:nvPicPr>
          <p:cNvPr id="8" name="Picture 7">
            <a:extLst>
              <a:ext uri="{FF2B5EF4-FFF2-40B4-BE49-F238E27FC236}">
                <a16:creationId xmlns:a16="http://schemas.microsoft.com/office/drawing/2014/main" id="{F6C719DB-43E5-4998-AC0E-0228F3945D7A}"/>
              </a:ext>
            </a:extLst>
          </p:cNvPr>
          <p:cNvPicPr>
            <a:picLocks noChangeAspect="1"/>
          </p:cNvPicPr>
          <p:nvPr/>
        </p:nvPicPr>
        <p:blipFill>
          <a:blip r:embed="rId3"/>
          <a:stretch>
            <a:fillRect/>
          </a:stretch>
        </p:blipFill>
        <p:spPr>
          <a:xfrm>
            <a:off x="-16093" y="1271587"/>
            <a:ext cx="3723998" cy="4314825"/>
          </a:xfrm>
          <a:prstGeom prst="rect">
            <a:avLst/>
          </a:prstGeom>
        </p:spPr>
      </p:pic>
      <p:pic>
        <p:nvPicPr>
          <p:cNvPr id="9" name="Picture 8">
            <a:extLst>
              <a:ext uri="{FF2B5EF4-FFF2-40B4-BE49-F238E27FC236}">
                <a16:creationId xmlns:a16="http://schemas.microsoft.com/office/drawing/2014/main" id="{1604E72B-B871-43E0-98A9-1C99B7B776E7}"/>
              </a:ext>
            </a:extLst>
          </p:cNvPr>
          <p:cNvPicPr>
            <a:picLocks noChangeAspect="1"/>
          </p:cNvPicPr>
          <p:nvPr/>
        </p:nvPicPr>
        <p:blipFill>
          <a:blip r:embed="rId4"/>
          <a:stretch>
            <a:fillRect/>
          </a:stretch>
        </p:blipFill>
        <p:spPr>
          <a:xfrm>
            <a:off x="3707905" y="1271587"/>
            <a:ext cx="5451746" cy="4821709"/>
          </a:xfrm>
          <a:prstGeom prst="rect">
            <a:avLst/>
          </a:prstGeom>
        </p:spPr>
      </p:pic>
    </p:spTree>
    <p:extLst>
      <p:ext uri="{BB962C8B-B14F-4D97-AF65-F5344CB8AC3E}">
        <p14:creationId xmlns:p14="http://schemas.microsoft.com/office/powerpoint/2010/main" val="85106947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7614645-C2F9-4CD1-926C-4063402B069D}"/>
              </a:ext>
            </a:extLst>
          </p:cNvPr>
          <p:cNvSpPr>
            <a:spLocks noGrp="1"/>
          </p:cNvSpPr>
          <p:nvPr>
            <p:ph idx="1"/>
          </p:nvPr>
        </p:nvSpPr>
        <p:spPr/>
        <p:txBody>
          <a:bodyPr/>
          <a:lstStyle/>
          <a:p>
            <a:r>
              <a:rPr lang="en-US"/>
              <a:t>Các đặc điểm của Generic:</a:t>
            </a:r>
          </a:p>
          <a:p>
            <a:pPr marL="0" indent="0">
              <a:buNone/>
            </a:pPr>
            <a:endParaRPr lang="en-US"/>
          </a:p>
          <a:p>
            <a:endParaRPr lang="en-US"/>
          </a:p>
        </p:txBody>
      </p:sp>
      <p:sp>
        <p:nvSpPr>
          <p:cNvPr id="4" name="Date Placeholder 3">
            <a:extLst>
              <a:ext uri="{FF2B5EF4-FFF2-40B4-BE49-F238E27FC236}">
                <a16:creationId xmlns:a16="http://schemas.microsoft.com/office/drawing/2014/main" id="{C76F980A-D68D-4101-AEB2-2615F019A738}"/>
              </a:ext>
            </a:extLst>
          </p:cNvPr>
          <p:cNvSpPr>
            <a:spLocks noGrp="1"/>
          </p:cNvSpPr>
          <p:nvPr>
            <p:ph type="dt" sz="half" idx="10"/>
          </p:nvPr>
        </p:nvSpPr>
        <p:spPr/>
        <p:txBody>
          <a:bodyPr/>
          <a:lstStyle/>
          <a:p>
            <a:fld id="{1FCC884B-1AA7-4469-B526-594A4B1341A0}" type="datetime1">
              <a:rPr lang="vi-VN" smtClean="0">
                <a:uFillTx/>
              </a:rPr>
              <a:t>08/02/2025</a:t>
            </a:fld>
            <a:endParaRPr lang="vi-VN">
              <a:uFillTx/>
            </a:endParaRPr>
          </a:p>
        </p:txBody>
      </p:sp>
      <p:sp>
        <p:nvSpPr>
          <p:cNvPr id="5" name="Footer Placeholder 4">
            <a:extLst>
              <a:ext uri="{FF2B5EF4-FFF2-40B4-BE49-F238E27FC236}">
                <a16:creationId xmlns:a16="http://schemas.microsoft.com/office/drawing/2014/main" id="{2D7E657F-2C16-4FB3-9329-088441E45B14}"/>
              </a:ext>
            </a:extLst>
          </p:cNvPr>
          <p:cNvSpPr>
            <a:spLocks noGrp="1"/>
          </p:cNvSpPr>
          <p:nvPr>
            <p:ph type="ftr" sz="quarter" idx="11"/>
          </p:nvPr>
        </p:nvSpPr>
        <p:spPr/>
        <p:txBody>
          <a:bodyPr/>
          <a:lstStyle/>
          <a:p>
            <a:r>
              <a:rPr lang="vi-VN">
                <a:uFillTx/>
              </a:rPr>
              <a:t>Chương 3. Lập trình hướng đối tượng trong C#</a:t>
            </a:r>
          </a:p>
        </p:txBody>
      </p:sp>
      <p:sp>
        <p:nvSpPr>
          <p:cNvPr id="6" name="Slide Number Placeholder 5">
            <a:extLst>
              <a:ext uri="{FF2B5EF4-FFF2-40B4-BE49-F238E27FC236}">
                <a16:creationId xmlns:a16="http://schemas.microsoft.com/office/drawing/2014/main" id="{E0D5041F-E868-4F8F-B7CE-56E72C9836C5}"/>
              </a:ext>
            </a:extLst>
          </p:cNvPr>
          <p:cNvSpPr>
            <a:spLocks noGrp="1"/>
          </p:cNvSpPr>
          <p:nvPr>
            <p:ph type="sldNum" sz="quarter" idx="12"/>
          </p:nvPr>
        </p:nvSpPr>
        <p:spPr/>
        <p:txBody>
          <a:bodyPr/>
          <a:lstStyle/>
          <a:p>
            <a:fld id="{5AB95402-1E0D-474E-8D8C-CBE7F053639E}" type="slidenum">
              <a:rPr lang="vi-VN" smtClean="0">
                <a:uFillTx/>
              </a:rPr>
              <a:pPr/>
              <a:t>20</a:t>
            </a:fld>
            <a:r>
              <a:rPr lang="vi-VN">
                <a:uFillTx/>
              </a:rPr>
              <a:t>/28</a:t>
            </a:r>
          </a:p>
        </p:txBody>
      </p:sp>
      <p:graphicFrame>
        <p:nvGraphicFramePr>
          <p:cNvPr id="16" name="Table 15">
            <a:extLst>
              <a:ext uri="{FF2B5EF4-FFF2-40B4-BE49-F238E27FC236}">
                <a16:creationId xmlns:a16="http://schemas.microsoft.com/office/drawing/2014/main" id="{561C76F1-0336-4717-8553-4F7F7E6A28D2}"/>
              </a:ext>
            </a:extLst>
          </p:cNvPr>
          <p:cNvGraphicFramePr>
            <a:graphicFrameLocks noGrp="1"/>
          </p:cNvGraphicFramePr>
          <p:nvPr>
            <p:extLst>
              <p:ext uri="{D42A27DB-BD31-4B8C-83A1-F6EECF244321}">
                <p14:modId xmlns:p14="http://schemas.microsoft.com/office/powerpoint/2010/main" val="3374454664"/>
              </p:ext>
            </p:extLst>
          </p:nvPr>
        </p:nvGraphicFramePr>
        <p:xfrm>
          <a:off x="609600" y="1916832"/>
          <a:ext cx="8305800" cy="4176465"/>
        </p:xfrm>
        <a:graphic>
          <a:graphicData uri="http://schemas.openxmlformats.org/drawingml/2006/table">
            <a:tbl>
              <a:tblPr firstRow="1" bandRow="1">
                <a:tableStyleId>{5C22544A-7EE6-4342-B048-85BDC9FD1C3A}</a:tableStyleId>
              </a:tblPr>
              <a:tblGrid>
                <a:gridCol w="2954288">
                  <a:extLst>
                    <a:ext uri="{9D8B030D-6E8A-4147-A177-3AD203B41FA5}">
                      <a16:colId xmlns:a16="http://schemas.microsoft.com/office/drawing/2014/main" val="989470265"/>
                    </a:ext>
                  </a:extLst>
                </a:gridCol>
                <a:gridCol w="5351512">
                  <a:extLst>
                    <a:ext uri="{9D8B030D-6E8A-4147-A177-3AD203B41FA5}">
                      <a16:colId xmlns:a16="http://schemas.microsoft.com/office/drawing/2014/main" val="965013702"/>
                    </a:ext>
                  </a:extLst>
                </a:gridCol>
              </a:tblGrid>
              <a:tr h="428355">
                <a:tc>
                  <a:txBody>
                    <a:bodyPr/>
                    <a:lstStyle/>
                    <a:p>
                      <a:r>
                        <a:rPr lang="en-US"/>
                        <a:t>Đặc điểm</a:t>
                      </a:r>
                    </a:p>
                  </a:txBody>
                  <a:tcPr/>
                </a:tc>
                <a:tc>
                  <a:txBody>
                    <a:bodyPr/>
                    <a:lstStyle/>
                    <a:p>
                      <a:r>
                        <a:rPr lang="en-US"/>
                        <a:t>Mô tả</a:t>
                      </a:r>
                    </a:p>
                  </a:txBody>
                  <a:tcPr/>
                </a:tc>
                <a:extLst>
                  <a:ext uri="{0D108BD9-81ED-4DB2-BD59-A6C34878D82A}">
                    <a16:rowId xmlns:a16="http://schemas.microsoft.com/office/drawing/2014/main" val="541235851"/>
                  </a:ext>
                </a:extLst>
              </a:tr>
              <a:tr h="749622">
                <a:tc>
                  <a:txBody>
                    <a:bodyPr/>
                    <a:lstStyle/>
                    <a:p>
                      <a:r>
                        <a:rPr lang="en-US"/>
                        <a:t>An toàn kiểu dữ liệu</a:t>
                      </a:r>
                    </a:p>
                  </a:txBody>
                  <a:tcPr/>
                </a:tc>
                <a:tc>
                  <a:txBody>
                    <a:bodyPr/>
                    <a:lstStyle/>
                    <a:p>
                      <a:r>
                        <a:rPr lang="en-US"/>
                        <a:t>Giúp tránh lỗi ép kiểu (casting) và đảm bảo an toàn khi biên dịch.</a:t>
                      </a:r>
                    </a:p>
                  </a:txBody>
                  <a:tcPr anchor="ctr"/>
                </a:tc>
                <a:extLst>
                  <a:ext uri="{0D108BD9-81ED-4DB2-BD59-A6C34878D82A}">
                    <a16:rowId xmlns:a16="http://schemas.microsoft.com/office/drawing/2014/main" val="679462080"/>
                  </a:ext>
                </a:extLst>
              </a:tr>
              <a:tr h="749622">
                <a:tc>
                  <a:txBody>
                    <a:bodyPr/>
                    <a:lstStyle/>
                    <a:p>
                      <a:r>
                        <a:rPr lang="en-US"/>
                        <a:t>Tái sử dụng mã</a:t>
                      </a:r>
                    </a:p>
                  </a:txBody>
                  <a:tcPr/>
                </a:tc>
                <a:tc>
                  <a:txBody>
                    <a:bodyPr/>
                    <a:lstStyle/>
                    <a:p>
                      <a:r>
                        <a:rPr lang="en-US"/>
                        <a:t>Một mã có thể sử dụng cho nhiều kiểu dữ liệu khác nhau.</a:t>
                      </a:r>
                    </a:p>
                  </a:txBody>
                  <a:tcPr anchor="ctr"/>
                </a:tc>
                <a:extLst>
                  <a:ext uri="{0D108BD9-81ED-4DB2-BD59-A6C34878D82A}">
                    <a16:rowId xmlns:a16="http://schemas.microsoft.com/office/drawing/2014/main" val="2333706832"/>
                  </a:ext>
                </a:extLst>
              </a:tr>
              <a:tr h="749622">
                <a:tc>
                  <a:txBody>
                    <a:bodyPr/>
                    <a:lstStyle/>
                    <a:p>
                      <a:r>
                        <a:rPr lang="en-US"/>
                        <a:t>Tính linh hoạt</a:t>
                      </a:r>
                    </a:p>
                  </a:txBody>
                  <a:tcPr/>
                </a:tc>
                <a:tc>
                  <a:txBody>
                    <a:bodyPr/>
                    <a:lstStyle/>
                    <a:p>
                      <a:r>
                        <a:rPr lang="en-US"/>
                        <a:t>Có thể sử dụng cho nhiều kiểu dữ liệu khác nhau mà không cần thay đổi mã.</a:t>
                      </a:r>
                    </a:p>
                  </a:txBody>
                  <a:tcPr anchor="ctr"/>
                </a:tc>
                <a:extLst>
                  <a:ext uri="{0D108BD9-81ED-4DB2-BD59-A6C34878D82A}">
                    <a16:rowId xmlns:a16="http://schemas.microsoft.com/office/drawing/2014/main" val="3907693531"/>
                  </a:ext>
                </a:extLst>
              </a:tr>
              <a:tr h="749622">
                <a:tc>
                  <a:txBody>
                    <a:bodyPr/>
                    <a:lstStyle/>
                    <a:p>
                      <a:r>
                        <a:rPr lang="en-US"/>
                        <a:t>Hỗ trợ cấu trúc phức tạp</a:t>
                      </a:r>
                    </a:p>
                  </a:txBody>
                  <a:tcPr/>
                </a:tc>
                <a:tc>
                  <a:txBody>
                    <a:bodyPr/>
                    <a:lstStyle/>
                    <a:p>
                      <a:r>
                        <a:rPr lang="vi-VN"/>
                        <a:t>Hỗ trợ các cấu trúc dữ liệu như List, Dictionary, Stack, Queue.</a:t>
                      </a:r>
                    </a:p>
                  </a:txBody>
                  <a:tcPr anchor="ctr"/>
                </a:tc>
                <a:extLst>
                  <a:ext uri="{0D108BD9-81ED-4DB2-BD59-A6C34878D82A}">
                    <a16:rowId xmlns:a16="http://schemas.microsoft.com/office/drawing/2014/main" val="3430980512"/>
                  </a:ext>
                </a:extLst>
              </a:tr>
              <a:tr h="749622">
                <a:tc>
                  <a:txBody>
                    <a:bodyPr/>
                    <a:lstStyle/>
                    <a:p>
                      <a:r>
                        <a:rPr lang="en-US"/>
                        <a:t>Dễ bảo trì</a:t>
                      </a:r>
                    </a:p>
                  </a:txBody>
                  <a:tcPr/>
                </a:tc>
                <a:tc>
                  <a:txBody>
                    <a:bodyPr/>
                    <a:lstStyle/>
                    <a:p>
                      <a:r>
                        <a:rPr lang="en-US"/>
                        <a:t>Mã dễ bảo trì và mở rộng, giảm bớt việc lặp lại mã.</a:t>
                      </a:r>
                    </a:p>
                  </a:txBody>
                  <a:tcPr/>
                </a:tc>
                <a:extLst>
                  <a:ext uri="{0D108BD9-81ED-4DB2-BD59-A6C34878D82A}">
                    <a16:rowId xmlns:a16="http://schemas.microsoft.com/office/drawing/2014/main" val="3534585958"/>
                  </a:ext>
                </a:extLst>
              </a:tr>
            </a:tbl>
          </a:graphicData>
        </a:graphic>
      </p:graphicFrame>
      <p:sp>
        <p:nvSpPr>
          <p:cNvPr id="17" name="Title 1">
            <a:extLst>
              <a:ext uri="{FF2B5EF4-FFF2-40B4-BE49-F238E27FC236}">
                <a16:creationId xmlns:a16="http://schemas.microsoft.com/office/drawing/2014/main" id="{F9139936-E829-48CD-8BEC-5B6E7CF0C359}"/>
              </a:ext>
            </a:extLst>
          </p:cNvPr>
          <p:cNvSpPr>
            <a:spLocks noGrp="1"/>
          </p:cNvSpPr>
          <p:nvPr>
            <p:ph type="title"/>
          </p:nvPr>
        </p:nvSpPr>
        <p:spPr>
          <a:xfrm>
            <a:off x="899592" y="346744"/>
            <a:ext cx="8382000" cy="685800"/>
          </a:xfrm>
        </p:spPr>
        <p:txBody>
          <a:bodyPr/>
          <a:lstStyle/>
          <a:p>
            <a:r>
              <a:rPr lang="en-US"/>
              <a:t>3.5. Sử dụng Generic</a:t>
            </a:r>
          </a:p>
        </p:txBody>
      </p:sp>
    </p:spTree>
    <p:extLst>
      <p:ext uri="{BB962C8B-B14F-4D97-AF65-F5344CB8AC3E}">
        <p14:creationId xmlns:p14="http://schemas.microsoft.com/office/powerpoint/2010/main" val="4578264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3.6. Xử lý ngoại lệ</a:t>
            </a:r>
          </a:p>
        </p:txBody>
      </p:sp>
      <p:sp>
        <p:nvSpPr>
          <p:cNvPr id="3" name="Content Placeholder 2"/>
          <p:cNvSpPr>
            <a:spLocks noGrp="1"/>
          </p:cNvSpPr>
          <p:nvPr>
            <p:ph idx="1"/>
          </p:nvPr>
        </p:nvSpPr>
        <p:spPr/>
        <p:txBody>
          <a:bodyPr/>
          <a:lstStyle/>
          <a:p>
            <a:pPr>
              <a:lnSpc>
                <a:spcPct val="90000"/>
              </a:lnSpc>
            </a:pPr>
            <a:r>
              <a:rPr lang="en-US"/>
              <a:t>Khái niệm về ngoại lệ</a:t>
            </a:r>
          </a:p>
          <a:p>
            <a:pPr>
              <a:lnSpc>
                <a:spcPct val="90000"/>
              </a:lnSpc>
            </a:pPr>
            <a:r>
              <a:rPr lang="en-US"/>
              <a:t>Xử lý ngoại lệ</a:t>
            </a:r>
          </a:p>
          <a:p>
            <a:pPr>
              <a:lnSpc>
                <a:spcPct val="90000"/>
              </a:lnSpc>
            </a:pPr>
            <a:r>
              <a:rPr lang="en-US"/>
              <a:t>Cấu trúc try … catch</a:t>
            </a:r>
          </a:p>
          <a:p>
            <a:pPr>
              <a:lnSpc>
                <a:spcPct val="90000"/>
              </a:lnSpc>
            </a:pPr>
            <a:r>
              <a:rPr lang="en-US"/>
              <a:t>Cấu trúc try …catch …finally</a:t>
            </a:r>
          </a:p>
          <a:p>
            <a:pPr>
              <a:lnSpc>
                <a:spcPct val="90000"/>
              </a:lnSpc>
            </a:pPr>
            <a:r>
              <a:rPr lang="en-US"/>
              <a:t>Tạo ngoại lệ tùy chỉnh</a:t>
            </a:r>
          </a:p>
          <a:p>
            <a:pPr marL="0" indent="0">
              <a:buNone/>
            </a:pPr>
            <a:endParaRPr lang="en-US"/>
          </a:p>
        </p:txBody>
      </p:sp>
      <p:sp>
        <p:nvSpPr>
          <p:cNvPr id="7" name="Date Placeholder 6"/>
          <p:cNvSpPr>
            <a:spLocks noGrp="1"/>
          </p:cNvSpPr>
          <p:nvPr>
            <p:ph type="dt" sz="half" idx="10"/>
          </p:nvPr>
        </p:nvSpPr>
        <p:spPr/>
        <p:txBody>
          <a:bodyPr/>
          <a:lstStyle/>
          <a:p>
            <a:fld id="{C456F324-C7F3-46EC-8538-D4E3B1DB1004}" type="datetime1">
              <a:rPr lang="vi-VN" smtClean="0"/>
              <a:t>08/02/2025</a:t>
            </a:fld>
            <a:endParaRPr lang="vi-VN"/>
          </a:p>
        </p:txBody>
      </p:sp>
      <p:sp>
        <p:nvSpPr>
          <p:cNvPr id="8" name="Footer Placeholder 7"/>
          <p:cNvSpPr>
            <a:spLocks noGrp="1"/>
          </p:cNvSpPr>
          <p:nvPr>
            <p:ph type="ftr" sz="quarter" idx="11"/>
          </p:nvPr>
        </p:nvSpPr>
        <p:spPr/>
        <p:txBody>
          <a:bodyPr/>
          <a:lstStyle/>
          <a:p>
            <a:r>
              <a:rPr lang="vi-VN"/>
              <a:t>Chương 3 - Lập trình hướng đối tượng trong C#</a:t>
            </a:r>
          </a:p>
        </p:txBody>
      </p:sp>
      <p:sp>
        <p:nvSpPr>
          <p:cNvPr id="9" name="Slide Number Placeholder 8"/>
          <p:cNvSpPr>
            <a:spLocks noGrp="1"/>
          </p:cNvSpPr>
          <p:nvPr>
            <p:ph type="sldNum" sz="quarter" idx="12"/>
          </p:nvPr>
        </p:nvSpPr>
        <p:spPr/>
        <p:txBody>
          <a:bodyPr/>
          <a:lstStyle/>
          <a:p>
            <a:fld id="{5AB95402-1E0D-474E-8D8C-CBE7F053639E}" type="slidenum">
              <a:rPr lang="vi-VN" smtClean="0"/>
              <a:pPr/>
              <a:t>21</a:t>
            </a:fld>
            <a:r>
              <a:rPr lang="vi-VN"/>
              <a:t>/28</a:t>
            </a:r>
          </a:p>
        </p:txBody>
      </p:sp>
    </p:spTree>
    <p:extLst>
      <p:ext uri="{BB962C8B-B14F-4D97-AF65-F5344CB8AC3E}">
        <p14:creationId xmlns:p14="http://schemas.microsoft.com/office/powerpoint/2010/main" val="132690569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6914" name="Rectangle 2"/>
          <p:cNvSpPr>
            <a:spLocks noGrp="1" noChangeArrowheads="1"/>
          </p:cNvSpPr>
          <p:nvPr>
            <p:ph type="title"/>
          </p:nvPr>
        </p:nvSpPr>
        <p:spPr/>
        <p:txBody>
          <a:bodyPr/>
          <a:lstStyle/>
          <a:p>
            <a:r>
              <a:rPr lang="en-US"/>
              <a:t>Khái niệm về ngoại lệ</a:t>
            </a:r>
          </a:p>
        </p:txBody>
      </p:sp>
      <p:sp>
        <p:nvSpPr>
          <p:cNvPr id="166915" name="Rectangle 3"/>
          <p:cNvSpPr>
            <a:spLocks noGrp="1" noChangeArrowheads="1"/>
          </p:cNvSpPr>
          <p:nvPr>
            <p:ph type="body" idx="1"/>
          </p:nvPr>
        </p:nvSpPr>
        <p:spPr>
          <a:xfrm>
            <a:off x="304800" y="1143000"/>
            <a:ext cx="8382000" cy="4878288"/>
          </a:xfrm>
        </p:spPr>
        <p:txBody>
          <a:bodyPr/>
          <a:lstStyle/>
          <a:p>
            <a:r>
              <a:rPr lang="vi-VN" sz="2400" b="0" i="0" dirty="0">
                <a:solidFill>
                  <a:srgbClr val="212529"/>
                </a:solidFill>
                <a:effectLst/>
                <a:latin typeface="+mj-lt"/>
                <a:cs typeface="Times New Roman" panose="02020603050405020304" pitchFamily="18" charset="0"/>
              </a:rPr>
              <a:t>Ngoại lệ (exception) là vấn đề - lỗi phát sinh trong quá trình thực thi chương trình. Thường khi chương trình đang chạy mà phát sinh </a:t>
            </a:r>
            <a:r>
              <a:rPr lang="vi-VN" sz="2400" b="0" i="0">
                <a:solidFill>
                  <a:srgbClr val="212529"/>
                </a:solidFill>
                <a:effectLst/>
                <a:latin typeface="+mj-lt"/>
                <a:cs typeface="Times New Roman" panose="02020603050405020304" pitchFamily="18" charset="0"/>
              </a:rPr>
              <a:t>ngoại lệ</a:t>
            </a:r>
            <a:r>
              <a:rPr lang="en-US" sz="2400" b="0" i="0">
                <a:solidFill>
                  <a:srgbClr val="212529"/>
                </a:solidFill>
                <a:effectLst/>
                <a:latin typeface="+mj-lt"/>
                <a:cs typeface="Times New Roman" panose="02020603050405020304" pitchFamily="18" charset="0"/>
              </a:rPr>
              <a:t> </a:t>
            </a:r>
            <a:r>
              <a:rPr lang="vi-VN" sz="2400" b="0" i="0">
                <a:solidFill>
                  <a:srgbClr val="212529"/>
                </a:solidFill>
                <a:effectLst/>
                <a:latin typeface="+mj-lt"/>
                <a:cs typeface="Times New Roman" panose="02020603050405020304" pitchFamily="18" charset="0"/>
              </a:rPr>
              <a:t>(</a:t>
            </a:r>
            <a:r>
              <a:rPr lang="vi-VN" sz="2400" b="0" i="0" dirty="0">
                <a:solidFill>
                  <a:srgbClr val="212529"/>
                </a:solidFill>
                <a:effectLst/>
                <a:latin typeface="+mj-lt"/>
                <a:cs typeface="Times New Roman" panose="02020603050405020304" pitchFamily="18" charset="0"/>
              </a:rPr>
              <a:t>lỗi) thì dẫn đến chương trình kết thúc ngay lập tức. Có vô số nguyên nhân để chương trình đang chạy mà phát sinh ngoại lệ</a:t>
            </a:r>
            <a:r>
              <a:rPr lang="en-US" sz="2400" b="0" i="0" dirty="0">
                <a:solidFill>
                  <a:srgbClr val="212529"/>
                </a:solidFill>
                <a:effectLst/>
                <a:latin typeface="+mj-lt"/>
                <a:cs typeface="Times New Roman" panose="02020603050405020304" pitchFamily="18" charset="0"/>
              </a:rPr>
              <a:t>:</a:t>
            </a:r>
          </a:p>
          <a:p>
            <a:pPr lvl="1">
              <a:buFont typeface="Wingdings" panose="05000000000000000000" pitchFamily="2" charset="2"/>
              <a:buChar char="ü"/>
            </a:pPr>
            <a:r>
              <a:rPr lang="vi-VN" b="0" i="0" dirty="0">
                <a:solidFill>
                  <a:srgbClr val="212529"/>
                </a:solidFill>
                <a:effectLst/>
                <a:latin typeface="+mj-lt"/>
                <a:cs typeface="Times New Roman" panose="02020603050405020304" pitchFamily="18" charset="0"/>
              </a:rPr>
              <a:t>Dữ liệu người dùng nhập sai, mà chương trình không kiểm soát được</a:t>
            </a:r>
          </a:p>
          <a:p>
            <a:pPr lvl="1">
              <a:buFont typeface="Wingdings" panose="05000000000000000000" pitchFamily="2" charset="2"/>
              <a:buChar char="ü"/>
            </a:pPr>
            <a:r>
              <a:rPr lang="vi-VN" b="0" i="0" dirty="0">
                <a:solidFill>
                  <a:srgbClr val="212529"/>
                </a:solidFill>
                <a:effectLst/>
                <a:latin typeface="+mj-lt"/>
                <a:cs typeface="Times New Roman" panose="02020603050405020304" pitchFamily="18" charset="0"/>
              </a:rPr>
              <a:t>Thực hiện các phép toán không được phép (như chia một số cho 0)</a:t>
            </a:r>
          </a:p>
          <a:p>
            <a:pPr lvl="1">
              <a:buFont typeface="Wingdings" panose="05000000000000000000" pitchFamily="2" charset="2"/>
              <a:buChar char="ü"/>
            </a:pPr>
            <a:r>
              <a:rPr lang="vi-VN" b="0" i="0" dirty="0">
                <a:solidFill>
                  <a:srgbClr val="212529"/>
                </a:solidFill>
                <a:effectLst/>
                <a:latin typeface="+mj-lt"/>
                <a:cs typeface="Times New Roman" panose="02020603050405020304" pitchFamily="18" charset="0"/>
              </a:rPr>
              <a:t>Thao tác với tài nguyên không tồn tại (như mở file không có trên đĩa, kết nối đến CSDL không tồn tại ...)</a:t>
            </a:r>
          </a:p>
          <a:p>
            <a:pPr lvl="1">
              <a:buFont typeface="Wingdings" panose="05000000000000000000" pitchFamily="2" charset="2"/>
              <a:buChar char="ü"/>
            </a:pPr>
            <a:r>
              <a:rPr lang="vi-VN" b="0" i="0" dirty="0">
                <a:solidFill>
                  <a:srgbClr val="212529"/>
                </a:solidFill>
                <a:effectLst/>
                <a:latin typeface="+mj-lt"/>
                <a:cs typeface="Times New Roman" panose="02020603050405020304" pitchFamily="18" charset="0"/>
              </a:rPr>
              <a:t>Thiếu bộ nhớ</a:t>
            </a:r>
            <a:endParaRPr lang="en-US" b="0" i="0" dirty="0">
              <a:solidFill>
                <a:srgbClr val="212529"/>
              </a:solidFill>
              <a:effectLst/>
              <a:latin typeface="+mj-lt"/>
              <a:cs typeface="Times New Roman" panose="02020603050405020304" pitchFamily="18" charset="0"/>
            </a:endParaRPr>
          </a:p>
          <a:p>
            <a:pPr>
              <a:buFont typeface="Arial" panose="020B0604020202020204" pitchFamily="34" charset="0"/>
              <a:buChar char="•"/>
            </a:pPr>
            <a:endParaRPr lang="en-US" sz="2400" b="0" i="0" dirty="0">
              <a:solidFill>
                <a:srgbClr val="212529"/>
              </a:solidFill>
              <a:effectLst/>
              <a:latin typeface="+mj-lt"/>
              <a:cs typeface="Times New Roman" panose="02020603050405020304" pitchFamily="18" charset="0"/>
            </a:endParaRPr>
          </a:p>
          <a:p>
            <a:pPr>
              <a:buFont typeface="Arial" panose="020B0604020202020204" pitchFamily="34" charset="0"/>
              <a:buChar char="•"/>
            </a:pPr>
            <a:endParaRPr lang="vi-VN" sz="2400" b="0" i="0" dirty="0">
              <a:solidFill>
                <a:srgbClr val="212529"/>
              </a:solidFill>
              <a:effectLst/>
              <a:latin typeface="+mj-lt"/>
              <a:cs typeface="Times New Roman" panose="02020603050405020304" pitchFamily="18" charset="0"/>
            </a:endParaRPr>
          </a:p>
        </p:txBody>
      </p:sp>
      <p:sp>
        <p:nvSpPr>
          <p:cNvPr id="2" name="Date Placeholder 1"/>
          <p:cNvSpPr>
            <a:spLocks noGrp="1"/>
          </p:cNvSpPr>
          <p:nvPr>
            <p:ph type="dt" sz="half" idx="10"/>
          </p:nvPr>
        </p:nvSpPr>
        <p:spPr/>
        <p:txBody>
          <a:bodyPr/>
          <a:lstStyle/>
          <a:p>
            <a:fld id="{4866A1A4-3F57-4F4D-8BA5-DC4C04526B82}" type="datetime1">
              <a:rPr lang="vi-VN" smtClean="0"/>
              <a:t>08/02/2025</a:t>
            </a:fld>
            <a:endParaRPr lang="vi-VN"/>
          </a:p>
        </p:txBody>
      </p:sp>
      <p:sp>
        <p:nvSpPr>
          <p:cNvPr id="3" name="Footer Placeholder 2"/>
          <p:cNvSpPr>
            <a:spLocks noGrp="1"/>
          </p:cNvSpPr>
          <p:nvPr>
            <p:ph type="ftr" sz="quarter" idx="11"/>
          </p:nvPr>
        </p:nvSpPr>
        <p:spPr/>
        <p:txBody>
          <a:bodyPr/>
          <a:lstStyle/>
          <a:p>
            <a:r>
              <a:rPr lang="vi-VN"/>
              <a:t>Chương 3 - Lập trình hướng đối tượng trong C#</a:t>
            </a:r>
          </a:p>
        </p:txBody>
      </p:sp>
      <p:sp>
        <p:nvSpPr>
          <p:cNvPr id="7" name="Slide Number Placeholder 6"/>
          <p:cNvSpPr>
            <a:spLocks noGrp="1"/>
          </p:cNvSpPr>
          <p:nvPr>
            <p:ph type="sldNum" sz="quarter" idx="12"/>
          </p:nvPr>
        </p:nvSpPr>
        <p:spPr/>
        <p:txBody>
          <a:bodyPr/>
          <a:lstStyle/>
          <a:p>
            <a:fld id="{5AB95402-1E0D-474E-8D8C-CBE7F053639E}" type="slidenum">
              <a:rPr lang="vi-VN" smtClean="0"/>
              <a:pPr/>
              <a:t>22</a:t>
            </a:fld>
            <a:r>
              <a:rPr lang="vi-VN"/>
              <a:t>/28</a:t>
            </a:r>
          </a:p>
        </p:txBody>
      </p:sp>
    </p:spTree>
    <p:extLst>
      <p:ext uri="{BB962C8B-B14F-4D97-AF65-F5344CB8AC3E}">
        <p14:creationId xmlns:p14="http://schemas.microsoft.com/office/powerpoint/2010/main" val="418882148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9986" name="Rectangle 2"/>
          <p:cNvSpPr>
            <a:spLocks noGrp="1" noChangeArrowheads="1"/>
          </p:cNvSpPr>
          <p:nvPr>
            <p:ph type="title"/>
          </p:nvPr>
        </p:nvSpPr>
        <p:spPr/>
        <p:txBody>
          <a:bodyPr/>
          <a:lstStyle/>
          <a:p>
            <a:r>
              <a:rPr lang="en-US"/>
              <a:t>Xử lý ngoại lệ trong C#</a:t>
            </a:r>
          </a:p>
        </p:txBody>
      </p:sp>
      <p:sp>
        <p:nvSpPr>
          <p:cNvPr id="169987" name="Rectangle 3"/>
          <p:cNvSpPr>
            <a:spLocks noGrp="1" noChangeArrowheads="1"/>
          </p:cNvSpPr>
          <p:nvPr>
            <p:ph type="body" idx="1"/>
          </p:nvPr>
        </p:nvSpPr>
        <p:spPr>
          <a:xfrm>
            <a:off x="685800" y="1125872"/>
            <a:ext cx="7924800" cy="5181600"/>
          </a:xfrm>
        </p:spPr>
        <p:txBody>
          <a:bodyPr/>
          <a:lstStyle/>
          <a:p>
            <a:r>
              <a:rPr lang="en-US" sz="2200" dirty="0" err="1"/>
              <a:t>Dựa</a:t>
            </a:r>
            <a:r>
              <a:rPr lang="en-US" sz="2200" dirty="0"/>
              <a:t> </a:t>
            </a:r>
            <a:r>
              <a:rPr lang="en-US" sz="2200" dirty="0" err="1"/>
              <a:t>trên</a:t>
            </a:r>
            <a:r>
              <a:rPr lang="en-US" sz="2200" dirty="0"/>
              <a:t> </a:t>
            </a:r>
            <a:r>
              <a:rPr lang="en-US" sz="2200" dirty="0" err="1"/>
              <a:t>cơ</a:t>
            </a:r>
            <a:r>
              <a:rPr lang="en-US" sz="2200" dirty="0"/>
              <a:t> </a:t>
            </a:r>
            <a:r>
              <a:rPr lang="en-US" sz="2200" dirty="0" err="1"/>
              <a:t>chế</a:t>
            </a:r>
            <a:r>
              <a:rPr lang="en-US" sz="2200" dirty="0"/>
              <a:t> </a:t>
            </a:r>
            <a:r>
              <a:rPr lang="en-US" sz="2200" dirty="0" err="1"/>
              <a:t>ném</a:t>
            </a:r>
            <a:r>
              <a:rPr lang="en-US" sz="2200" dirty="0"/>
              <a:t> </a:t>
            </a:r>
            <a:r>
              <a:rPr lang="en-US" sz="2200" dirty="0" err="1"/>
              <a:t>và</a:t>
            </a:r>
            <a:r>
              <a:rPr lang="en-US" sz="2200" dirty="0"/>
              <a:t> </a:t>
            </a:r>
            <a:r>
              <a:rPr lang="en-US" sz="2200" dirty="0" err="1"/>
              <a:t>bắt</a:t>
            </a:r>
            <a:r>
              <a:rPr lang="en-US" sz="2200" dirty="0"/>
              <a:t> </a:t>
            </a:r>
            <a:r>
              <a:rPr lang="en-US" sz="2200" err="1"/>
              <a:t>ngoại</a:t>
            </a:r>
            <a:r>
              <a:rPr lang="en-US" sz="2200"/>
              <a:t> lệ</a:t>
            </a:r>
            <a:endParaRPr lang="en-US" sz="2200" dirty="0"/>
          </a:p>
          <a:p>
            <a:pPr marL="0" indent="0">
              <a:buNone/>
            </a:pPr>
            <a:r>
              <a:rPr lang="en-US" sz="2200" b="1"/>
              <a:t>Ném </a:t>
            </a:r>
            <a:r>
              <a:rPr lang="en-US" sz="2200" b="1" err="1"/>
              <a:t>ngoại</a:t>
            </a:r>
            <a:r>
              <a:rPr lang="en-US" sz="2200" b="1"/>
              <a:t> lệ (throw): </a:t>
            </a:r>
            <a:r>
              <a:rPr lang="en-US" sz="2200" dirty="0" err="1"/>
              <a:t>Dừng</a:t>
            </a:r>
            <a:r>
              <a:rPr lang="en-US" sz="2200" dirty="0"/>
              <a:t> </a:t>
            </a:r>
            <a:r>
              <a:rPr lang="en-US" sz="2200" dirty="0" err="1"/>
              <a:t>chương</a:t>
            </a:r>
            <a:r>
              <a:rPr lang="en-US" sz="2200" dirty="0"/>
              <a:t> </a:t>
            </a:r>
            <a:r>
              <a:rPr lang="en-US" sz="2200" dirty="0" err="1"/>
              <a:t>trình</a:t>
            </a:r>
            <a:r>
              <a:rPr lang="en-US" sz="2200" dirty="0"/>
              <a:t> </a:t>
            </a:r>
            <a:r>
              <a:rPr lang="en-US" sz="2200" dirty="0" err="1"/>
              <a:t>và</a:t>
            </a:r>
            <a:r>
              <a:rPr lang="en-US" sz="2200" dirty="0"/>
              <a:t> </a:t>
            </a:r>
            <a:r>
              <a:rPr lang="en-US" sz="2200" dirty="0" err="1"/>
              <a:t>chuyển</a:t>
            </a:r>
            <a:r>
              <a:rPr lang="en-US" sz="2200" dirty="0"/>
              <a:t> </a:t>
            </a:r>
            <a:r>
              <a:rPr lang="en-US" sz="2200" dirty="0" err="1"/>
              <a:t>điều</a:t>
            </a:r>
            <a:r>
              <a:rPr lang="en-US" sz="2200" dirty="0"/>
              <a:t> </a:t>
            </a:r>
            <a:r>
              <a:rPr lang="en-US" sz="2200" dirty="0" err="1"/>
              <a:t>khiển</a:t>
            </a:r>
            <a:r>
              <a:rPr lang="en-US" sz="2200" dirty="0"/>
              <a:t> </a:t>
            </a:r>
            <a:r>
              <a:rPr lang="en-US" sz="2200" dirty="0" err="1"/>
              <a:t>lên</a:t>
            </a:r>
            <a:r>
              <a:rPr lang="en-US" sz="2200" dirty="0"/>
              <a:t> </a:t>
            </a:r>
            <a:r>
              <a:rPr lang="en-US" sz="2200" dirty="0" err="1"/>
              <a:t>mức</a:t>
            </a:r>
            <a:r>
              <a:rPr lang="en-US" sz="2200" dirty="0"/>
              <a:t> </a:t>
            </a:r>
            <a:r>
              <a:rPr lang="en-US" sz="2200" dirty="0" err="1"/>
              <a:t>trên</a:t>
            </a:r>
            <a:r>
              <a:rPr lang="en-US" sz="2200" dirty="0"/>
              <a:t> (</a:t>
            </a:r>
            <a:r>
              <a:rPr lang="en-US" sz="2200" dirty="0" err="1"/>
              <a:t>nơi</a:t>
            </a:r>
            <a:r>
              <a:rPr lang="en-US" sz="2200" dirty="0"/>
              <a:t> </a:t>
            </a:r>
            <a:r>
              <a:rPr lang="en-US" sz="2200" dirty="0" err="1"/>
              <a:t>bắt</a:t>
            </a:r>
            <a:r>
              <a:rPr lang="en-US" sz="2200" dirty="0"/>
              <a:t> </a:t>
            </a:r>
            <a:r>
              <a:rPr lang="en-US" sz="2200" dirty="0" err="1"/>
              <a:t>ngoại</a:t>
            </a:r>
            <a:r>
              <a:rPr lang="en-US" sz="2200" dirty="0"/>
              <a:t> </a:t>
            </a:r>
            <a:r>
              <a:rPr lang="en-US" sz="2200" err="1"/>
              <a:t>lệ</a:t>
            </a:r>
            <a:r>
              <a:rPr lang="en-US" sz="2200"/>
              <a:t>)</a:t>
            </a:r>
          </a:p>
          <a:p>
            <a:r>
              <a:rPr lang="en-US" sz="2200"/>
              <a:t>Cú pháp ném ngoại lệ:</a:t>
            </a:r>
          </a:p>
          <a:p>
            <a:pPr marL="0" indent="0">
              <a:buNone/>
            </a:pPr>
            <a:r>
              <a:rPr lang="en-US" sz="2200" b="1">
                <a:solidFill>
                  <a:srgbClr val="0000FF"/>
                </a:solidFill>
                <a:ea typeface="+mn-ea"/>
              </a:rPr>
              <a:t>	throw new Exception("Thông báo lỗi");</a:t>
            </a:r>
            <a:endParaRPr lang="en-US" sz="2200" b="1" dirty="0">
              <a:solidFill>
                <a:srgbClr val="0000FF"/>
              </a:solidFill>
              <a:ea typeface="+mn-ea"/>
            </a:endParaRPr>
          </a:p>
          <a:p>
            <a:pPr marL="33337" indent="0" algn="l">
              <a:buNone/>
            </a:pPr>
            <a:r>
              <a:rPr lang="en-US" sz="2200" b="1"/>
              <a:t>Bắt </a:t>
            </a:r>
            <a:r>
              <a:rPr lang="en-US" sz="2200" b="1" dirty="0" err="1"/>
              <a:t>ngoại</a:t>
            </a:r>
            <a:r>
              <a:rPr lang="en-US" sz="2200" b="1" dirty="0"/>
              <a:t> </a:t>
            </a:r>
            <a:r>
              <a:rPr lang="en-US" sz="2200" b="1" dirty="0" err="1"/>
              <a:t>lệ</a:t>
            </a:r>
            <a:r>
              <a:rPr lang="en-US" sz="2200" b="1" dirty="0"/>
              <a:t> (catch): </a:t>
            </a:r>
            <a:r>
              <a:rPr lang="en-US" sz="2200" dirty="0" err="1"/>
              <a:t>xử</a:t>
            </a:r>
            <a:r>
              <a:rPr lang="en-US" sz="2200" dirty="0"/>
              <a:t> </a:t>
            </a:r>
            <a:r>
              <a:rPr lang="en-US" sz="2200" dirty="0" err="1"/>
              <a:t>lý</a:t>
            </a:r>
            <a:r>
              <a:rPr lang="en-US" sz="2200" dirty="0"/>
              <a:t> </a:t>
            </a:r>
            <a:r>
              <a:rPr lang="en-US" sz="2200" dirty="0" err="1"/>
              <a:t>ngoại</a:t>
            </a:r>
            <a:r>
              <a:rPr lang="en-US" sz="2200" dirty="0"/>
              <a:t> </a:t>
            </a:r>
            <a:r>
              <a:rPr lang="en-US" sz="2200" dirty="0" err="1"/>
              <a:t>lệ</a:t>
            </a:r>
            <a:endParaRPr lang="en-US" sz="2200" dirty="0"/>
          </a:p>
          <a:p>
            <a:r>
              <a:rPr lang="en-US" sz="2200" dirty="0" err="1"/>
              <a:t>Cú</a:t>
            </a:r>
            <a:r>
              <a:rPr lang="en-US" sz="2200" dirty="0"/>
              <a:t> </a:t>
            </a:r>
            <a:r>
              <a:rPr lang="en-US" sz="2200" dirty="0" err="1"/>
              <a:t>pháp</a:t>
            </a:r>
            <a:r>
              <a:rPr lang="en-US" sz="2200" dirty="0"/>
              <a:t> </a:t>
            </a:r>
            <a:r>
              <a:rPr lang="en-US" sz="2200" dirty="0" err="1"/>
              <a:t>cấu</a:t>
            </a:r>
            <a:r>
              <a:rPr lang="en-US" sz="2200" dirty="0"/>
              <a:t> </a:t>
            </a:r>
            <a:r>
              <a:rPr lang="en-US" sz="2200" dirty="0" err="1"/>
              <a:t>trúc</a:t>
            </a:r>
            <a:r>
              <a:rPr lang="en-US" sz="2200" dirty="0"/>
              <a:t> </a:t>
            </a:r>
            <a:r>
              <a:rPr lang="en-US" sz="2200" b="1" dirty="0"/>
              <a:t>try-catch</a:t>
            </a:r>
            <a:r>
              <a:rPr lang="en-US" sz="2200" dirty="0"/>
              <a:t>:</a:t>
            </a:r>
            <a:endParaRPr lang="en-US" sz="2200" dirty="0">
              <a:solidFill>
                <a:srgbClr val="212529"/>
              </a:solidFill>
              <a:latin typeface="-apple-system"/>
            </a:endParaRPr>
          </a:p>
          <a:p>
            <a:pPr marL="1257300" lvl="3" indent="0">
              <a:buNone/>
            </a:pPr>
            <a:r>
              <a:rPr lang="en-US" sz="2200" b="1" dirty="0">
                <a:solidFill>
                  <a:srgbClr val="0000FF"/>
                </a:solidFill>
                <a:ea typeface="+mn-ea"/>
              </a:rPr>
              <a:t>try {</a:t>
            </a:r>
          </a:p>
          <a:p>
            <a:pPr marL="1257300" lvl="3" indent="0">
              <a:buNone/>
            </a:pPr>
            <a:r>
              <a:rPr lang="en-US" sz="2200" b="1" dirty="0">
                <a:solidFill>
                  <a:srgbClr val="0000FF"/>
                </a:solidFill>
                <a:ea typeface="+mn-ea"/>
              </a:rPr>
              <a:t>    // </a:t>
            </a:r>
            <a:r>
              <a:rPr lang="en-US" sz="2200" b="1" dirty="0" err="1">
                <a:solidFill>
                  <a:srgbClr val="0000FF"/>
                </a:solidFill>
                <a:ea typeface="+mn-ea"/>
              </a:rPr>
              <a:t>Mã</a:t>
            </a:r>
            <a:r>
              <a:rPr lang="en-US" sz="2200" b="1" dirty="0">
                <a:solidFill>
                  <a:srgbClr val="0000FF"/>
                </a:solidFill>
                <a:ea typeface="+mn-ea"/>
              </a:rPr>
              <a:t> </a:t>
            </a:r>
            <a:r>
              <a:rPr lang="en-US" sz="2200" b="1" dirty="0" err="1">
                <a:solidFill>
                  <a:srgbClr val="0000FF"/>
                </a:solidFill>
                <a:ea typeface="+mn-ea"/>
              </a:rPr>
              <a:t>có</a:t>
            </a:r>
            <a:r>
              <a:rPr lang="en-US" sz="2200" b="1" dirty="0">
                <a:solidFill>
                  <a:srgbClr val="0000FF"/>
                </a:solidFill>
                <a:ea typeface="+mn-ea"/>
              </a:rPr>
              <a:t> </a:t>
            </a:r>
            <a:r>
              <a:rPr lang="en-US" sz="2200" b="1" dirty="0" err="1">
                <a:solidFill>
                  <a:srgbClr val="0000FF"/>
                </a:solidFill>
                <a:ea typeface="+mn-ea"/>
              </a:rPr>
              <a:t>thể</a:t>
            </a:r>
            <a:r>
              <a:rPr lang="en-US" sz="2200" b="1" dirty="0">
                <a:solidFill>
                  <a:srgbClr val="0000FF"/>
                </a:solidFill>
                <a:ea typeface="+mn-ea"/>
              </a:rPr>
              <a:t> </a:t>
            </a:r>
            <a:r>
              <a:rPr lang="en-US" sz="2200" b="1" dirty="0" err="1">
                <a:solidFill>
                  <a:srgbClr val="0000FF"/>
                </a:solidFill>
                <a:ea typeface="+mn-ea"/>
              </a:rPr>
              <a:t>gây</a:t>
            </a:r>
            <a:r>
              <a:rPr lang="en-US" sz="2200" b="1" dirty="0">
                <a:solidFill>
                  <a:srgbClr val="0000FF"/>
                </a:solidFill>
                <a:ea typeface="+mn-ea"/>
              </a:rPr>
              <a:t> </a:t>
            </a:r>
            <a:r>
              <a:rPr lang="en-US" sz="2200" b="1" dirty="0" err="1">
                <a:solidFill>
                  <a:srgbClr val="0000FF"/>
                </a:solidFill>
                <a:ea typeface="+mn-ea"/>
              </a:rPr>
              <a:t>lỗi</a:t>
            </a:r>
            <a:endParaRPr lang="en-US" sz="2200" b="1" dirty="0">
              <a:solidFill>
                <a:srgbClr val="0000FF"/>
              </a:solidFill>
              <a:ea typeface="+mn-ea"/>
            </a:endParaRPr>
          </a:p>
          <a:p>
            <a:pPr marL="1257300" lvl="3" indent="0">
              <a:buNone/>
            </a:pPr>
            <a:r>
              <a:rPr lang="en-US" sz="2200" b="1" dirty="0">
                <a:solidFill>
                  <a:srgbClr val="0000FF"/>
                </a:solidFill>
                <a:ea typeface="+mn-ea"/>
              </a:rPr>
              <a:t>}</a:t>
            </a:r>
          </a:p>
          <a:p>
            <a:pPr marL="1257300" lvl="3" indent="0">
              <a:buNone/>
            </a:pPr>
            <a:r>
              <a:rPr lang="en-US" sz="2200" b="1" dirty="0">
                <a:solidFill>
                  <a:srgbClr val="0000FF"/>
                </a:solidFill>
                <a:ea typeface="+mn-ea"/>
              </a:rPr>
              <a:t>catch (Exception e) {</a:t>
            </a:r>
          </a:p>
          <a:p>
            <a:pPr marL="1257300" lvl="3" indent="0">
              <a:buNone/>
            </a:pPr>
            <a:r>
              <a:rPr lang="en-US" sz="2200" b="1" dirty="0">
                <a:solidFill>
                  <a:srgbClr val="0000FF"/>
                </a:solidFill>
                <a:ea typeface="+mn-ea"/>
              </a:rPr>
              <a:t>    // </a:t>
            </a:r>
            <a:r>
              <a:rPr lang="en-US" sz="2200" b="1" dirty="0" err="1">
                <a:solidFill>
                  <a:srgbClr val="0000FF"/>
                </a:solidFill>
                <a:ea typeface="+mn-ea"/>
              </a:rPr>
              <a:t>Xử</a:t>
            </a:r>
            <a:r>
              <a:rPr lang="en-US" sz="2200" b="1" dirty="0">
                <a:solidFill>
                  <a:srgbClr val="0000FF"/>
                </a:solidFill>
                <a:ea typeface="+mn-ea"/>
              </a:rPr>
              <a:t> </a:t>
            </a:r>
            <a:r>
              <a:rPr lang="en-US" sz="2200" b="1" dirty="0" err="1">
                <a:solidFill>
                  <a:srgbClr val="0000FF"/>
                </a:solidFill>
                <a:ea typeface="+mn-ea"/>
              </a:rPr>
              <a:t>lý</a:t>
            </a:r>
            <a:r>
              <a:rPr lang="en-US" sz="2200" b="1" dirty="0">
                <a:solidFill>
                  <a:srgbClr val="0000FF"/>
                </a:solidFill>
                <a:ea typeface="+mn-ea"/>
              </a:rPr>
              <a:t> </a:t>
            </a:r>
            <a:r>
              <a:rPr lang="en-US" sz="2200" b="1" dirty="0" err="1">
                <a:solidFill>
                  <a:srgbClr val="0000FF"/>
                </a:solidFill>
                <a:ea typeface="+mn-ea"/>
              </a:rPr>
              <a:t>ngoại</a:t>
            </a:r>
            <a:r>
              <a:rPr lang="en-US" sz="2200" b="1" dirty="0">
                <a:solidFill>
                  <a:srgbClr val="0000FF"/>
                </a:solidFill>
                <a:ea typeface="+mn-ea"/>
              </a:rPr>
              <a:t> </a:t>
            </a:r>
            <a:r>
              <a:rPr lang="en-US" sz="2200" b="1" dirty="0" err="1">
                <a:solidFill>
                  <a:srgbClr val="0000FF"/>
                </a:solidFill>
                <a:ea typeface="+mn-ea"/>
              </a:rPr>
              <a:t>lệ</a:t>
            </a:r>
            <a:endParaRPr lang="en-US" sz="2200" b="1" dirty="0">
              <a:solidFill>
                <a:srgbClr val="0000FF"/>
              </a:solidFill>
              <a:ea typeface="+mn-ea"/>
            </a:endParaRPr>
          </a:p>
          <a:p>
            <a:pPr marL="1257300" lvl="3" indent="0">
              <a:buNone/>
            </a:pPr>
            <a:r>
              <a:rPr lang="en-US" sz="2200" b="1">
                <a:solidFill>
                  <a:srgbClr val="0000FF"/>
                </a:solidFill>
                <a:ea typeface="+mn-ea"/>
              </a:rPr>
              <a:t>    </a:t>
            </a:r>
            <a:r>
              <a:rPr lang="en-US" sz="2200" b="1" dirty="0" err="1">
                <a:solidFill>
                  <a:srgbClr val="0000FF"/>
                </a:solidFill>
                <a:ea typeface="+mn-ea"/>
              </a:rPr>
              <a:t>Console</a:t>
            </a:r>
            <a:r>
              <a:rPr lang="en-US" sz="2200" b="1" err="1">
                <a:solidFill>
                  <a:srgbClr val="0000FF"/>
                </a:solidFill>
                <a:ea typeface="+mn-ea"/>
              </a:rPr>
              <a:t>.</a:t>
            </a:r>
            <a:r>
              <a:rPr lang="en-US" sz="2200" b="1">
                <a:solidFill>
                  <a:srgbClr val="0000FF"/>
                </a:solidFill>
                <a:ea typeface="+mn-ea"/>
              </a:rPr>
              <a:t>WriteLine("Lỗi</a:t>
            </a:r>
            <a:r>
              <a:rPr lang="en-US" sz="2200" b="1" dirty="0">
                <a:solidFill>
                  <a:srgbClr val="0000FF"/>
                </a:solidFill>
                <a:ea typeface="+mn-ea"/>
              </a:rPr>
              <a:t>: " </a:t>
            </a:r>
            <a:r>
              <a:rPr lang="en-US" sz="2200" b="1">
                <a:solidFill>
                  <a:srgbClr val="0000FF"/>
                </a:solidFill>
                <a:ea typeface="+mn-ea"/>
              </a:rPr>
              <a:t>+ </a:t>
            </a:r>
            <a:r>
              <a:rPr lang="en-US" sz="2200" b="1" dirty="0" err="1">
                <a:solidFill>
                  <a:srgbClr val="0000FF"/>
                </a:solidFill>
                <a:ea typeface="+mn-ea"/>
              </a:rPr>
              <a:t>e</a:t>
            </a:r>
            <a:r>
              <a:rPr lang="en-US" sz="2200" b="1" err="1">
                <a:solidFill>
                  <a:srgbClr val="0000FF"/>
                </a:solidFill>
                <a:ea typeface="+mn-ea"/>
              </a:rPr>
              <a:t>.</a:t>
            </a:r>
            <a:r>
              <a:rPr lang="en-US" sz="2200" b="1">
                <a:solidFill>
                  <a:srgbClr val="0000FF"/>
                </a:solidFill>
                <a:ea typeface="+mn-ea"/>
              </a:rPr>
              <a:t>Message</a:t>
            </a:r>
            <a:r>
              <a:rPr lang="en-US" sz="2200" b="1" dirty="0">
                <a:solidFill>
                  <a:srgbClr val="0000FF"/>
                </a:solidFill>
                <a:ea typeface="+mn-ea"/>
              </a:rPr>
              <a:t>);</a:t>
            </a:r>
          </a:p>
          <a:p>
            <a:pPr marL="1257300" lvl="3" indent="0">
              <a:buNone/>
            </a:pPr>
            <a:r>
              <a:rPr lang="en-US" sz="2200" b="1">
                <a:solidFill>
                  <a:srgbClr val="0000FF"/>
                </a:solidFill>
                <a:ea typeface="+mn-ea"/>
              </a:rPr>
              <a:t>}</a:t>
            </a:r>
            <a:endParaRPr lang="en-US" sz="2200" b="1" dirty="0">
              <a:solidFill>
                <a:srgbClr val="0000FF"/>
              </a:solidFill>
              <a:ea typeface="+mn-ea"/>
            </a:endParaRPr>
          </a:p>
          <a:p>
            <a:pPr lvl="1"/>
            <a:endParaRPr lang="en-US" sz="2200" dirty="0"/>
          </a:p>
          <a:p>
            <a:pPr lvl="1"/>
            <a:endParaRPr lang="en-US" sz="2200" dirty="0"/>
          </a:p>
        </p:txBody>
      </p:sp>
      <p:sp>
        <p:nvSpPr>
          <p:cNvPr id="2" name="Date Placeholder 1"/>
          <p:cNvSpPr>
            <a:spLocks noGrp="1"/>
          </p:cNvSpPr>
          <p:nvPr>
            <p:ph type="dt" sz="half" idx="10"/>
          </p:nvPr>
        </p:nvSpPr>
        <p:spPr/>
        <p:txBody>
          <a:bodyPr/>
          <a:lstStyle/>
          <a:p>
            <a:fld id="{EFDED84F-5EC0-4A9D-9068-8A5E1A38DE7C}" type="datetime1">
              <a:rPr lang="vi-VN" smtClean="0"/>
              <a:t>08/02/2025</a:t>
            </a:fld>
            <a:endParaRPr lang="vi-VN"/>
          </a:p>
        </p:txBody>
      </p:sp>
      <p:sp>
        <p:nvSpPr>
          <p:cNvPr id="3" name="Footer Placeholder 2"/>
          <p:cNvSpPr>
            <a:spLocks noGrp="1"/>
          </p:cNvSpPr>
          <p:nvPr>
            <p:ph type="ftr" sz="quarter" idx="11"/>
          </p:nvPr>
        </p:nvSpPr>
        <p:spPr/>
        <p:txBody>
          <a:bodyPr/>
          <a:lstStyle/>
          <a:p>
            <a:r>
              <a:rPr lang="vi-VN"/>
              <a:t>Chương 3 - Lập trình hướng đối tượng trong C#</a:t>
            </a:r>
          </a:p>
        </p:txBody>
      </p:sp>
      <p:sp>
        <p:nvSpPr>
          <p:cNvPr id="7" name="Slide Number Placeholder 6"/>
          <p:cNvSpPr>
            <a:spLocks noGrp="1"/>
          </p:cNvSpPr>
          <p:nvPr>
            <p:ph type="sldNum" sz="quarter" idx="12"/>
          </p:nvPr>
        </p:nvSpPr>
        <p:spPr/>
        <p:txBody>
          <a:bodyPr/>
          <a:lstStyle/>
          <a:p>
            <a:fld id="{5AB95402-1E0D-474E-8D8C-CBE7F053639E}" type="slidenum">
              <a:rPr lang="vi-VN" smtClean="0"/>
              <a:pPr/>
              <a:t>23</a:t>
            </a:fld>
            <a:r>
              <a:rPr lang="vi-VN"/>
              <a:t>/28</a:t>
            </a:r>
          </a:p>
        </p:txBody>
      </p:sp>
    </p:spTree>
    <p:extLst>
      <p:ext uri="{BB962C8B-B14F-4D97-AF65-F5344CB8AC3E}">
        <p14:creationId xmlns:p14="http://schemas.microsoft.com/office/powerpoint/2010/main" val="295889278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1013" name="Rectangle 5"/>
          <p:cNvSpPr>
            <a:spLocks noGrp="1" noChangeArrowheads="1"/>
          </p:cNvSpPr>
          <p:nvPr>
            <p:ph type="title"/>
          </p:nvPr>
        </p:nvSpPr>
        <p:spPr/>
        <p:txBody>
          <a:bodyPr/>
          <a:lstStyle/>
          <a:p>
            <a:r>
              <a:rPr lang="en-US"/>
              <a:t>Một số ngoại lệ phổ biến</a:t>
            </a:r>
            <a:endParaRPr lang="en-US" dirty="0"/>
          </a:p>
        </p:txBody>
      </p:sp>
      <p:sp>
        <p:nvSpPr>
          <p:cNvPr id="2" name="Date Placeholder 1"/>
          <p:cNvSpPr>
            <a:spLocks noGrp="1"/>
          </p:cNvSpPr>
          <p:nvPr>
            <p:ph type="dt" sz="half" idx="10"/>
          </p:nvPr>
        </p:nvSpPr>
        <p:spPr/>
        <p:txBody>
          <a:bodyPr/>
          <a:lstStyle/>
          <a:p>
            <a:fld id="{E3B8FC0B-35BC-4963-846E-65563FEB7C27}" type="datetime1">
              <a:rPr lang="vi-VN" smtClean="0"/>
              <a:t>08/02/2025</a:t>
            </a:fld>
            <a:endParaRPr lang="vi-VN"/>
          </a:p>
        </p:txBody>
      </p:sp>
      <p:sp>
        <p:nvSpPr>
          <p:cNvPr id="3" name="Footer Placeholder 2"/>
          <p:cNvSpPr>
            <a:spLocks noGrp="1"/>
          </p:cNvSpPr>
          <p:nvPr>
            <p:ph type="ftr" sz="quarter" idx="11"/>
          </p:nvPr>
        </p:nvSpPr>
        <p:spPr/>
        <p:txBody>
          <a:bodyPr/>
          <a:lstStyle/>
          <a:p>
            <a:r>
              <a:rPr lang="vi-VN"/>
              <a:t>Chương 3 - Lập trình hướng đối tượng trong C#</a:t>
            </a:r>
          </a:p>
        </p:txBody>
      </p:sp>
      <p:sp>
        <p:nvSpPr>
          <p:cNvPr id="7" name="Slide Number Placeholder 6"/>
          <p:cNvSpPr>
            <a:spLocks noGrp="1"/>
          </p:cNvSpPr>
          <p:nvPr>
            <p:ph type="sldNum" sz="quarter" idx="12"/>
          </p:nvPr>
        </p:nvSpPr>
        <p:spPr/>
        <p:txBody>
          <a:bodyPr/>
          <a:lstStyle/>
          <a:p>
            <a:fld id="{5AB95402-1E0D-474E-8D8C-CBE7F053639E}" type="slidenum">
              <a:rPr lang="vi-VN" smtClean="0"/>
              <a:pPr/>
              <a:t>24</a:t>
            </a:fld>
            <a:r>
              <a:rPr lang="vi-VN"/>
              <a:t>/28</a:t>
            </a:r>
          </a:p>
        </p:txBody>
      </p:sp>
      <p:pic>
        <p:nvPicPr>
          <p:cNvPr id="4" name="Picture 3">
            <a:extLst>
              <a:ext uri="{FF2B5EF4-FFF2-40B4-BE49-F238E27FC236}">
                <a16:creationId xmlns:a16="http://schemas.microsoft.com/office/drawing/2014/main" id="{9805D7A4-8B93-493D-8877-FF28486E5B50}"/>
              </a:ext>
            </a:extLst>
          </p:cNvPr>
          <p:cNvPicPr>
            <a:picLocks noChangeAspect="1"/>
          </p:cNvPicPr>
          <p:nvPr/>
        </p:nvPicPr>
        <p:blipFill>
          <a:blip r:embed="rId3"/>
          <a:stretch>
            <a:fillRect/>
          </a:stretch>
        </p:blipFill>
        <p:spPr>
          <a:xfrm>
            <a:off x="163528" y="1499593"/>
            <a:ext cx="8751872" cy="3404211"/>
          </a:xfrm>
          <a:prstGeom prst="rect">
            <a:avLst/>
          </a:prstGeom>
        </p:spPr>
      </p:pic>
    </p:spTree>
    <p:extLst>
      <p:ext uri="{BB962C8B-B14F-4D97-AF65-F5344CB8AC3E}">
        <p14:creationId xmlns:p14="http://schemas.microsoft.com/office/powerpoint/2010/main" val="96427361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53606C-072B-46E8-9A92-74ADE7BD5E8E}"/>
              </a:ext>
            </a:extLst>
          </p:cNvPr>
          <p:cNvSpPr>
            <a:spLocks noGrp="1"/>
          </p:cNvSpPr>
          <p:nvPr>
            <p:ph type="title"/>
          </p:nvPr>
        </p:nvSpPr>
        <p:spPr/>
        <p:txBody>
          <a:bodyPr/>
          <a:lstStyle/>
          <a:p>
            <a:r>
              <a:rPr lang="en-US"/>
              <a:t>Ví dụ ngoại lệ</a:t>
            </a:r>
          </a:p>
        </p:txBody>
      </p:sp>
      <p:sp>
        <p:nvSpPr>
          <p:cNvPr id="4" name="Date Placeholder 3">
            <a:extLst>
              <a:ext uri="{FF2B5EF4-FFF2-40B4-BE49-F238E27FC236}">
                <a16:creationId xmlns:a16="http://schemas.microsoft.com/office/drawing/2014/main" id="{30FFC991-2AFB-4561-AD5C-F9F6FE5BCC07}"/>
              </a:ext>
            </a:extLst>
          </p:cNvPr>
          <p:cNvSpPr>
            <a:spLocks noGrp="1"/>
          </p:cNvSpPr>
          <p:nvPr>
            <p:ph type="dt" sz="half" idx="10"/>
          </p:nvPr>
        </p:nvSpPr>
        <p:spPr/>
        <p:txBody>
          <a:bodyPr/>
          <a:lstStyle/>
          <a:p>
            <a:fld id="{1FCC884B-1AA7-4469-B526-594A4B1341A0}" type="datetime1">
              <a:rPr lang="vi-VN" smtClean="0">
                <a:uFillTx/>
              </a:rPr>
              <a:t>08/02/2025</a:t>
            </a:fld>
            <a:endParaRPr lang="vi-VN">
              <a:uFillTx/>
            </a:endParaRPr>
          </a:p>
        </p:txBody>
      </p:sp>
      <p:sp>
        <p:nvSpPr>
          <p:cNvPr id="5" name="Footer Placeholder 4">
            <a:extLst>
              <a:ext uri="{FF2B5EF4-FFF2-40B4-BE49-F238E27FC236}">
                <a16:creationId xmlns:a16="http://schemas.microsoft.com/office/drawing/2014/main" id="{28B988D7-341A-4545-8738-45BFEA4B10AA}"/>
              </a:ext>
            </a:extLst>
          </p:cNvPr>
          <p:cNvSpPr>
            <a:spLocks noGrp="1"/>
          </p:cNvSpPr>
          <p:nvPr>
            <p:ph type="ftr" sz="quarter" idx="11"/>
          </p:nvPr>
        </p:nvSpPr>
        <p:spPr/>
        <p:txBody>
          <a:bodyPr/>
          <a:lstStyle/>
          <a:p>
            <a:r>
              <a:rPr lang="vi-VN">
                <a:uFillTx/>
              </a:rPr>
              <a:t>Chương 3. Lập trình hướng đối tượng trong C#</a:t>
            </a:r>
          </a:p>
        </p:txBody>
      </p:sp>
      <p:sp>
        <p:nvSpPr>
          <p:cNvPr id="6" name="Slide Number Placeholder 5">
            <a:extLst>
              <a:ext uri="{FF2B5EF4-FFF2-40B4-BE49-F238E27FC236}">
                <a16:creationId xmlns:a16="http://schemas.microsoft.com/office/drawing/2014/main" id="{74139143-43BB-4B82-9654-08DCE8A15D1F}"/>
              </a:ext>
            </a:extLst>
          </p:cNvPr>
          <p:cNvSpPr>
            <a:spLocks noGrp="1"/>
          </p:cNvSpPr>
          <p:nvPr>
            <p:ph type="sldNum" sz="quarter" idx="12"/>
          </p:nvPr>
        </p:nvSpPr>
        <p:spPr/>
        <p:txBody>
          <a:bodyPr/>
          <a:lstStyle/>
          <a:p>
            <a:fld id="{5AB95402-1E0D-474E-8D8C-CBE7F053639E}" type="slidenum">
              <a:rPr lang="vi-VN" smtClean="0">
                <a:uFillTx/>
              </a:rPr>
              <a:pPr/>
              <a:t>25</a:t>
            </a:fld>
            <a:r>
              <a:rPr lang="vi-VN">
                <a:uFillTx/>
              </a:rPr>
              <a:t>/28</a:t>
            </a:r>
          </a:p>
        </p:txBody>
      </p:sp>
      <p:pic>
        <p:nvPicPr>
          <p:cNvPr id="8" name="Picture 7">
            <a:extLst>
              <a:ext uri="{FF2B5EF4-FFF2-40B4-BE49-F238E27FC236}">
                <a16:creationId xmlns:a16="http://schemas.microsoft.com/office/drawing/2014/main" id="{F20D7F72-E567-4034-8BE2-FCEDBB1BEEA3}"/>
              </a:ext>
            </a:extLst>
          </p:cNvPr>
          <p:cNvPicPr>
            <a:picLocks noChangeAspect="1"/>
          </p:cNvPicPr>
          <p:nvPr/>
        </p:nvPicPr>
        <p:blipFill>
          <a:blip r:embed="rId3"/>
          <a:stretch>
            <a:fillRect/>
          </a:stretch>
        </p:blipFill>
        <p:spPr>
          <a:xfrm>
            <a:off x="4068351" y="1032544"/>
            <a:ext cx="2865849" cy="1987330"/>
          </a:xfrm>
          <a:prstGeom prst="rect">
            <a:avLst/>
          </a:prstGeom>
        </p:spPr>
      </p:pic>
      <p:graphicFrame>
        <p:nvGraphicFramePr>
          <p:cNvPr id="10" name="Table 9">
            <a:extLst>
              <a:ext uri="{FF2B5EF4-FFF2-40B4-BE49-F238E27FC236}">
                <a16:creationId xmlns:a16="http://schemas.microsoft.com/office/drawing/2014/main" id="{63BA4B0A-3B72-426C-B1E6-15785CC5EE7F}"/>
              </a:ext>
            </a:extLst>
          </p:cNvPr>
          <p:cNvGraphicFramePr>
            <a:graphicFrameLocks noGrp="1"/>
          </p:cNvGraphicFramePr>
          <p:nvPr>
            <p:extLst>
              <p:ext uri="{D42A27DB-BD31-4B8C-83A1-F6EECF244321}">
                <p14:modId xmlns:p14="http://schemas.microsoft.com/office/powerpoint/2010/main" val="3343931512"/>
              </p:ext>
            </p:extLst>
          </p:nvPr>
        </p:nvGraphicFramePr>
        <p:xfrm>
          <a:off x="533400" y="1143000"/>
          <a:ext cx="3102496" cy="5181600"/>
        </p:xfrm>
        <a:graphic>
          <a:graphicData uri="http://schemas.openxmlformats.org/drawingml/2006/table">
            <a:tbl>
              <a:tblPr firstRow="1" bandRow="1">
                <a:tableStyleId>{2D5ABB26-0587-4C30-8999-92F81FD0307C}</a:tableStyleId>
              </a:tblPr>
              <a:tblGrid>
                <a:gridCol w="3102496">
                  <a:extLst>
                    <a:ext uri="{9D8B030D-6E8A-4147-A177-3AD203B41FA5}">
                      <a16:colId xmlns:a16="http://schemas.microsoft.com/office/drawing/2014/main" val="2046253782"/>
                    </a:ext>
                  </a:extLst>
                </a:gridCol>
              </a:tblGrid>
              <a:tr h="172720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1"/>
                        <a:t>DivideByZeroException (Chia cho 0)</a:t>
                      </a:r>
                    </a:p>
                    <a:p>
                      <a:endParaRPr lang="en-US" b="1"/>
                    </a:p>
                  </a:txBody>
                  <a:tcPr anchor="ctr"/>
                </a:tc>
                <a:extLst>
                  <a:ext uri="{0D108BD9-81ED-4DB2-BD59-A6C34878D82A}">
                    <a16:rowId xmlns:a16="http://schemas.microsoft.com/office/drawing/2014/main" val="174847657"/>
                  </a:ext>
                </a:extLst>
              </a:tr>
              <a:tr h="224536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1"/>
                        <a:t>IndexOutOfRangeException (Truy cập phần tử ngoài phạm vi)</a:t>
                      </a:r>
                    </a:p>
                    <a:p>
                      <a:endParaRPr lang="en-US" b="1"/>
                    </a:p>
                  </a:txBody>
                  <a:tcPr anchor="ctr"/>
                </a:tc>
                <a:extLst>
                  <a:ext uri="{0D108BD9-81ED-4DB2-BD59-A6C34878D82A}">
                    <a16:rowId xmlns:a16="http://schemas.microsoft.com/office/drawing/2014/main" val="2956468391"/>
                  </a:ext>
                </a:extLst>
              </a:tr>
              <a:tr h="1209040">
                <a:tc>
                  <a:txBody>
                    <a:bodyPr/>
                    <a:lstStyle/>
                    <a:p>
                      <a:r>
                        <a:rPr lang="en-US" b="1"/>
                        <a:t>NullReferenceException (Tham chiếu đến null)</a:t>
                      </a:r>
                    </a:p>
                  </a:txBody>
                  <a:tcPr anchor="ctr"/>
                </a:tc>
                <a:extLst>
                  <a:ext uri="{0D108BD9-81ED-4DB2-BD59-A6C34878D82A}">
                    <a16:rowId xmlns:a16="http://schemas.microsoft.com/office/drawing/2014/main" val="3321419832"/>
                  </a:ext>
                </a:extLst>
              </a:tr>
            </a:tbl>
          </a:graphicData>
        </a:graphic>
      </p:graphicFrame>
      <p:pic>
        <p:nvPicPr>
          <p:cNvPr id="11" name="Picture 10">
            <a:extLst>
              <a:ext uri="{FF2B5EF4-FFF2-40B4-BE49-F238E27FC236}">
                <a16:creationId xmlns:a16="http://schemas.microsoft.com/office/drawing/2014/main" id="{6984F2C0-167E-4A8A-89B7-3A561CA515BE}"/>
              </a:ext>
            </a:extLst>
          </p:cNvPr>
          <p:cNvPicPr>
            <a:picLocks noChangeAspect="1"/>
          </p:cNvPicPr>
          <p:nvPr/>
        </p:nvPicPr>
        <p:blipFill>
          <a:blip r:embed="rId4"/>
          <a:stretch>
            <a:fillRect/>
          </a:stretch>
        </p:blipFill>
        <p:spPr>
          <a:xfrm>
            <a:off x="4127376" y="3096074"/>
            <a:ext cx="4254624" cy="1919446"/>
          </a:xfrm>
          <a:prstGeom prst="rect">
            <a:avLst/>
          </a:prstGeom>
        </p:spPr>
      </p:pic>
      <p:pic>
        <p:nvPicPr>
          <p:cNvPr id="12" name="Picture 11">
            <a:extLst>
              <a:ext uri="{FF2B5EF4-FFF2-40B4-BE49-F238E27FC236}">
                <a16:creationId xmlns:a16="http://schemas.microsoft.com/office/drawing/2014/main" id="{E8EF959E-FE1D-484B-B7A0-8A23994B34DA}"/>
              </a:ext>
            </a:extLst>
          </p:cNvPr>
          <p:cNvPicPr>
            <a:picLocks noChangeAspect="1"/>
          </p:cNvPicPr>
          <p:nvPr/>
        </p:nvPicPr>
        <p:blipFill>
          <a:blip r:embed="rId5"/>
          <a:stretch>
            <a:fillRect/>
          </a:stretch>
        </p:blipFill>
        <p:spPr>
          <a:xfrm>
            <a:off x="4197288" y="5091720"/>
            <a:ext cx="4114800" cy="2009775"/>
          </a:xfrm>
          <a:prstGeom prst="rect">
            <a:avLst/>
          </a:prstGeom>
        </p:spPr>
      </p:pic>
    </p:spTree>
    <p:extLst>
      <p:ext uri="{BB962C8B-B14F-4D97-AF65-F5344CB8AC3E}">
        <p14:creationId xmlns:p14="http://schemas.microsoft.com/office/powerpoint/2010/main" val="16846374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82" name="Rectangle 2"/>
          <p:cNvSpPr>
            <a:spLocks noGrp="1" noChangeArrowheads="1"/>
          </p:cNvSpPr>
          <p:nvPr>
            <p:ph type="title"/>
          </p:nvPr>
        </p:nvSpPr>
        <p:spPr/>
        <p:txBody>
          <a:bodyPr/>
          <a:lstStyle/>
          <a:p>
            <a:r>
              <a:rPr lang="en-US"/>
              <a:t>Cấu trúc try … catch</a:t>
            </a:r>
          </a:p>
        </p:txBody>
      </p:sp>
      <p:sp>
        <p:nvSpPr>
          <p:cNvPr id="174083" name="Rectangle 3"/>
          <p:cNvSpPr>
            <a:spLocks noGrp="1" noChangeArrowheads="1"/>
          </p:cNvSpPr>
          <p:nvPr>
            <p:ph type="body" idx="1"/>
          </p:nvPr>
        </p:nvSpPr>
        <p:spPr/>
        <p:txBody>
          <a:bodyPr/>
          <a:lstStyle/>
          <a:p>
            <a:pPr marL="0" indent="0">
              <a:buNone/>
            </a:pPr>
            <a:r>
              <a:rPr lang="vi-VN" sz="2400" dirty="0">
                <a:latin typeface="+mj-lt"/>
                <a:cs typeface="Times New Roman" panose="02020603050405020304" pitchFamily="18" charset="0"/>
              </a:rPr>
              <a:t>Nếu ngoại lệ (lỗi thực thi) phát sinh mà không xử lý thì chương trình sẽ dừng đột ngột - nếu muốn xử lý ngoại lệ thì ta cần bắt lấy nó và điều hướng chương trình một cách thích hợp. Để bắt ngoại lệ ta sử dụng câu lệnh try ... catch </a:t>
            </a:r>
            <a:r>
              <a:rPr lang="vi-VN" sz="2400">
                <a:latin typeface="+mj-lt"/>
                <a:cs typeface="Times New Roman" panose="02020603050405020304" pitchFamily="18" charset="0"/>
              </a:rPr>
              <a:t>... </a:t>
            </a:r>
            <a:endParaRPr lang="en-US" sz="2400" dirty="0">
              <a:latin typeface="+mj-lt"/>
              <a:cs typeface="Courier New" pitchFamily="49" charset="0"/>
            </a:endParaRPr>
          </a:p>
          <a:p>
            <a:pPr marL="0" indent="0" algn="just">
              <a:buNone/>
            </a:pPr>
            <a:endParaRPr lang="en-US" sz="2600" dirty="0">
              <a:latin typeface="+mj-lt"/>
            </a:endParaRPr>
          </a:p>
        </p:txBody>
      </p:sp>
      <p:sp>
        <p:nvSpPr>
          <p:cNvPr id="2" name="Date Placeholder 1"/>
          <p:cNvSpPr>
            <a:spLocks noGrp="1"/>
          </p:cNvSpPr>
          <p:nvPr>
            <p:ph type="dt" sz="half" idx="10"/>
          </p:nvPr>
        </p:nvSpPr>
        <p:spPr/>
        <p:txBody>
          <a:bodyPr/>
          <a:lstStyle/>
          <a:p>
            <a:fld id="{358FE72A-F5D5-468E-9C2A-4C03CDDD8437}" type="datetime1">
              <a:rPr lang="vi-VN" smtClean="0"/>
              <a:t>08/02/2025</a:t>
            </a:fld>
            <a:endParaRPr lang="vi-VN"/>
          </a:p>
        </p:txBody>
      </p:sp>
      <p:sp>
        <p:nvSpPr>
          <p:cNvPr id="3" name="Footer Placeholder 2"/>
          <p:cNvSpPr>
            <a:spLocks noGrp="1"/>
          </p:cNvSpPr>
          <p:nvPr>
            <p:ph type="ftr" sz="quarter" idx="11"/>
          </p:nvPr>
        </p:nvSpPr>
        <p:spPr/>
        <p:txBody>
          <a:bodyPr/>
          <a:lstStyle/>
          <a:p>
            <a:r>
              <a:rPr lang="vi-VN"/>
              <a:t>Chương 3 - Lập trình hướng đối tượng trong C#</a:t>
            </a:r>
          </a:p>
        </p:txBody>
      </p:sp>
      <p:sp>
        <p:nvSpPr>
          <p:cNvPr id="7" name="Slide Number Placeholder 6"/>
          <p:cNvSpPr>
            <a:spLocks noGrp="1"/>
          </p:cNvSpPr>
          <p:nvPr>
            <p:ph type="sldNum" sz="quarter" idx="12"/>
          </p:nvPr>
        </p:nvSpPr>
        <p:spPr/>
        <p:txBody>
          <a:bodyPr/>
          <a:lstStyle/>
          <a:p>
            <a:fld id="{5AB95402-1E0D-474E-8D8C-CBE7F053639E}" type="slidenum">
              <a:rPr lang="vi-VN" smtClean="0"/>
              <a:pPr/>
              <a:t>26</a:t>
            </a:fld>
            <a:r>
              <a:rPr lang="vi-VN"/>
              <a:t>/28</a:t>
            </a:r>
          </a:p>
        </p:txBody>
      </p:sp>
      <p:pic>
        <p:nvPicPr>
          <p:cNvPr id="6" name="Picture 5">
            <a:extLst>
              <a:ext uri="{FF2B5EF4-FFF2-40B4-BE49-F238E27FC236}">
                <a16:creationId xmlns:a16="http://schemas.microsoft.com/office/drawing/2014/main" id="{E5BDEF28-9A85-42DB-B604-307DC2610509}"/>
              </a:ext>
            </a:extLst>
          </p:cNvPr>
          <p:cNvPicPr>
            <a:picLocks noChangeAspect="1"/>
          </p:cNvPicPr>
          <p:nvPr/>
        </p:nvPicPr>
        <p:blipFill>
          <a:blip r:embed="rId3"/>
          <a:stretch>
            <a:fillRect/>
          </a:stretch>
        </p:blipFill>
        <p:spPr>
          <a:xfrm>
            <a:off x="685800" y="3381375"/>
            <a:ext cx="7772400" cy="2333625"/>
          </a:xfrm>
          <a:prstGeom prst="rect">
            <a:avLst/>
          </a:prstGeom>
        </p:spPr>
      </p:pic>
    </p:spTree>
    <p:extLst>
      <p:ext uri="{BB962C8B-B14F-4D97-AF65-F5344CB8AC3E}">
        <p14:creationId xmlns:p14="http://schemas.microsoft.com/office/powerpoint/2010/main" val="146308896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5106" name="Rectangle 2"/>
          <p:cNvSpPr>
            <a:spLocks noGrp="1" noChangeArrowheads="1"/>
          </p:cNvSpPr>
          <p:nvPr>
            <p:ph type="title"/>
          </p:nvPr>
        </p:nvSpPr>
        <p:spPr/>
        <p:txBody>
          <a:bodyPr/>
          <a:lstStyle/>
          <a:p>
            <a:r>
              <a:rPr lang="en-US"/>
              <a:t>Ví dụ bắt ngoại lệ</a:t>
            </a:r>
          </a:p>
        </p:txBody>
      </p:sp>
      <p:sp>
        <p:nvSpPr>
          <p:cNvPr id="2" name="Date Placeholder 1"/>
          <p:cNvSpPr>
            <a:spLocks noGrp="1"/>
          </p:cNvSpPr>
          <p:nvPr>
            <p:ph type="dt" sz="half" idx="10"/>
          </p:nvPr>
        </p:nvSpPr>
        <p:spPr/>
        <p:txBody>
          <a:bodyPr/>
          <a:lstStyle/>
          <a:p>
            <a:fld id="{3C2BA86A-C1CD-45C5-97BD-1F979A394ACB}" type="datetime1">
              <a:rPr lang="vi-VN" smtClean="0"/>
              <a:t>08/02/2025</a:t>
            </a:fld>
            <a:endParaRPr lang="vi-VN"/>
          </a:p>
        </p:txBody>
      </p:sp>
      <p:sp>
        <p:nvSpPr>
          <p:cNvPr id="3" name="Footer Placeholder 2"/>
          <p:cNvSpPr>
            <a:spLocks noGrp="1"/>
          </p:cNvSpPr>
          <p:nvPr>
            <p:ph type="ftr" sz="quarter" idx="11"/>
          </p:nvPr>
        </p:nvSpPr>
        <p:spPr/>
        <p:txBody>
          <a:bodyPr/>
          <a:lstStyle/>
          <a:p>
            <a:r>
              <a:rPr lang="vi-VN"/>
              <a:t>Chương 3 - Lập trình hướng đối tượng trong C#</a:t>
            </a:r>
          </a:p>
        </p:txBody>
      </p:sp>
      <p:sp>
        <p:nvSpPr>
          <p:cNvPr id="4" name="Slide Number Placeholder 3"/>
          <p:cNvSpPr>
            <a:spLocks noGrp="1"/>
          </p:cNvSpPr>
          <p:nvPr>
            <p:ph type="sldNum" sz="quarter" idx="12"/>
          </p:nvPr>
        </p:nvSpPr>
        <p:spPr/>
        <p:txBody>
          <a:bodyPr/>
          <a:lstStyle/>
          <a:p>
            <a:fld id="{5AB95402-1E0D-474E-8D8C-CBE7F053639E}" type="slidenum">
              <a:rPr lang="vi-VN" smtClean="0"/>
              <a:pPr/>
              <a:t>27</a:t>
            </a:fld>
            <a:r>
              <a:rPr lang="vi-VN"/>
              <a:t>/28</a:t>
            </a:r>
          </a:p>
        </p:txBody>
      </p:sp>
      <p:pic>
        <p:nvPicPr>
          <p:cNvPr id="7" name="Picture 6">
            <a:extLst>
              <a:ext uri="{FF2B5EF4-FFF2-40B4-BE49-F238E27FC236}">
                <a16:creationId xmlns:a16="http://schemas.microsoft.com/office/drawing/2014/main" id="{4BEB479B-3112-42D9-88ED-6E084184CDEC}"/>
              </a:ext>
            </a:extLst>
          </p:cNvPr>
          <p:cNvPicPr>
            <a:picLocks noChangeAspect="1"/>
          </p:cNvPicPr>
          <p:nvPr/>
        </p:nvPicPr>
        <p:blipFill>
          <a:blip r:embed="rId2"/>
          <a:stretch>
            <a:fillRect/>
          </a:stretch>
        </p:blipFill>
        <p:spPr>
          <a:xfrm>
            <a:off x="578902" y="1062264"/>
            <a:ext cx="7223674" cy="4733472"/>
          </a:xfrm>
          <a:prstGeom prst="rect">
            <a:avLst/>
          </a:prstGeom>
        </p:spPr>
      </p:pic>
      <p:pic>
        <p:nvPicPr>
          <p:cNvPr id="10" name="Picture 9">
            <a:extLst>
              <a:ext uri="{FF2B5EF4-FFF2-40B4-BE49-F238E27FC236}">
                <a16:creationId xmlns:a16="http://schemas.microsoft.com/office/drawing/2014/main" id="{F69A8C98-F96C-4697-9411-3395883A2BA1}"/>
              </a:ext>
            </a:extLst>
          </p:cNvPr>
          <p:cNvPicPr>
            <a:picLocks noChangeAspect="1"/>
          </p:cNvPicPr>
          <p:nvPr/>
        </p:nvPicPr>
        <p:blipFill>
          <a:blip r:embed="rId3"/>
          <a:stretch>
            <a:fillRect/>
          </a:stretch>
        </p:blipFill>
        <p:spPr>
          <a:xfrm>
            <a:off x="2195736" y="5441515"/>
            <a:ext cx="5205255" cy="1267197"/>
          </a:xfrm>
          <a:prstGeom prst="rect">
            <a:avLst/>
          </a:prstGeom>
        </p:spPr>
      </p:pic>
    </p:spTree>
    <p:extLst>
      <p:ext uri="{BB962C8B-B14F-4D97-AF65-F5344CB8AC3E}">
        <p14:creationId xmlns:p14="http://schemas.microsoft.com/office/powerpoint/2010/main" val="238140269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6130" name="Rectangle 2"/>
          <p:cNvSpPr>
            <a:spLocks noGrp="1" noChangeArrowheads="1"/>
          </p:cNvSpPr>
          <p:nvPr>
            <p:ph type="title"/>
          </p:nvPr>
        </p:nvSpPr>
        <p:spPr/>
        <p:txBody>
          <a:bodyPr/>
          <a:lstStyle/>
          <a:p>
            <a:r>
              <a:rPr lang="en-US"/>
              <a:t>Cấu trúc try …catch … finally</a:t>
            </a:r>
          </a:p>
        </p:txBody>
      </p:sp>
      <p:sp>
        <p:nvSpPr>
          <p:cNvPr id="176131" name="Rectangle 3"/>
          <p:cNvSpPr>
            <a:spLocks noGrp="1" noChangeArrowheads="1"/>
          </p:cNvSpPr>
          <p:nvPr>
            <p:ph type="body" idx="1"/>
          </p:nvPr>
        </p:nvSpPr>
        <p:spPr/>
        <p:txBody>
          <a:bodyPr/>
          <a:lstStyle/>
          <a:p>
            <a:pPr algn="just"/>
            <a:r>
              <a:rPr lang="en-US" sz="2800"/>
              <a:t>C</a:t>
            </a:r>
            <a:r>
              <a:rPr lang="en-US" sz="2800" noProof="1"/>
              <a:t>ó</a:t>
            </a:r>
            <a:r>
              <a:rPr lang="en-US" sz="2800"/>
              <a:t> th</a:t>
            </a:r>
            <a:r>
              <a:rPr lang="en-US" sz="2800" noProof="1"/>
              <a:t>ể</a:t>
            </a:r>
            <a:r>
              <a:rPr lang="en-US" sz="2800"/>
              <a:t> b</a:t>
            </a:r>
            <a:r>
              <a:rPr lang="en-US" sz="2800" noProof="1"/>
              <a:t>ắt</a:t>
            </a:r>
            <a:r>
              <a:rPr lang="en-US" sz="2800"/>
              <a:t> nhi</a:t>
            </a:r>
            <a:r>
              <a:rPr lang="en-US" sz="2800" noProof="1"/>
              <a:t>ều</a:t>
            </a:r>
            <a:r>
              <a:rPr lang="en-US" sz="2800"/>
              <a:t> lo</a:t>
            </a:r>
            <a:r>
              <a:rPr lang="en-US" sz="2800" noProof="1"/>
              <a:t>ại</a:t>
            </a:r>
            <a:r>
              <a:rPr lang="en-US" sz="2800"/>
              <a:t> ngo</a:t>
            </a:r>
            <a:r>
              <a:rPr lang="en-US" sz="2800" noProof="1"/>
              <a:t>ại</a:t>
            </a:r>
            <a:r>
              <a:rPr lang="en-US" sz="2800"/>
              <a:t> l</a:t>
            </a:r>
            <a:r>
              <a:rPr lang="en-US" sz="2800" noProof="1"/>
              <a:t>ệ</a:t>
            </a:r>
            <a:r>
              <a:rPr lang="en-US" sz="2800"/>
              <a:t> kh</a:t>
            </a:r>
            <a:r>
              <a:rPr lang="en-US" sz="2800" noProof="1"/>
              <a:t>ác</a:t>
            </a:r>
            <a:r>
              <a:rPr lang="en-US" sz="2800"/>
              <a:t> nhau b</a:t>
            </a:r>
            <a:r>
              <a:rPr lang="en-US" sz="2800" noProof="1"/>
              <a:t>ằng</a:t>
            </a:r>
            <a:r>
              <a:rPr lang="en-US" sz="2800"/>
              <a:t> c</a:t>
            </a:r>
            <a:r>
              <a:rPr lang="en-US" sz="2800" noProof="1"/>
              <a:t>ác</a:t>
            </a:r>
            <a:r>
              <a:rPr lang="en-US" sz="2800"/>
              <a:t>h s</a:t>
            </a:r>
            <a:r>
              <a:rPr lang="en-US" sz="2800" noProof="1"/>
              <a:t>ử</a:t>
            </a:r>
            <a:r>
              <a:rPr lang="en-US" sz="2800"/>
              <a:t> d</a:t>
            </a:r>
            <a:r>
              <a:rPr lang="en-US" sz="2800" noProof="1"/>
              <a:t>ụng</a:t>
            </a:r>
            <a:r>
              <a:rPr lang="en-US" sz="2800"/>
              <a:t> nhi</a:t>
            </a:r>
            <a:r>
              <a:rPr lang="en-US" sz="2800" noProof="1"/>
              <a:t>ều</a:t>
            </a:r>
            <a:r>
              <a:rPr lang="en-US" sz="2800"/>
              <a:t> kh</a:t>
            </a:r>
            <a:r>
              <a:rPr lang="en-US" sz="2800" noProof="1"/>
              <a:t>ối</a:t>
            </a:r>
            <a:r>
              <a:rPr lang="en-US" sz="2800"/>
              <a:t> l</a:t>
            </a:r>
            <a:r>
              <a:rPr lang="en-US" sz="2800" noProof="1"/>
              <a:t>ện</a:t>
            </a:r>
            <a:r>
              <a:rPr lang="en-US" sz="2800"/>
              <a:t>h </a:t>
            </a:r>
            <a:r>
              <a:rPr lang="en-US" sz="2800" b="1">
                <a:effectLst>
                  <a:outerShdw blurRad="38100" dist="38100" dir="2700000" algn="tl">
                    <a:srgbClr val="C0C0C0"/>
                  </a:outerShdw>
                </a:effectLst>
                <a:latin typeface="Courier New" pitchFamily="49" charset="0"/>
                <a:cs typeface="Courier New" pitchFamily="49" charset="0"/>
              </a:rPr>
              <a:t>catch</a:t>
            </a:r>
            <a:r>
              <a:rPr lang="en-US" sz="2800"/>
              <a:t> </a:t>
            </a:r>
            <a:r>
              <a:rPr lang="vi-VN" sz="2800" noProof="1"/>
              <a:t>đặt</a:t>
            </a:r>
            <a:r>
              <a:rPr lang="en-US" sz="2800"/>
              <a:t> k</a:t>
            </a:r>
            <a:r>
              <a:rPr lang="en-US" sz="2800" noProof="1"/>
              <a:t>ế</a:t>
            </a:r>
            <a:r>
              <a:rPr lang="en-US" sz="2800"/>
              <a:t> ti</a:t>
            </a:r>
            <a:r>
              <a:rPr lang="en-US" sz="2800" noProof="1"/>
              <a:t>ếp</a:t>
            </a:r>
            <a:endParaRPr lang="en-US" sz="2800"/>
          </a:p>
          <a:p>
            <a:pPr algn="just"/>
            <a:r>
              <a:rPr lang="en-US" sz="2800"/>
              <a:t>Kh</a:t>
            </a:r>
            <a:r>
              <a:rPr lang="en-US" sz="2800" noProof="1"/>
              <a:t>ối</a:t>
            </a:r>
            <a:r>
              <a:rPr lang="en-US" sz="2800"/>
              <a:t> l</a:t>
            </a:r>
            <a:r>
              <a:rPr lang="en-US" sz="2800" noProof="1"/>
              <a:t>ệnh</a:t>
            </a:r>
            <a:r>
              <a:rPr lang="en-US" sz="2800"/>
              <a:t> </a:t>
            </a:r>
            <a:r>
              <a:rPr lang="en-US" sz="2800" b="1">
                <a:effectLst>
                  <a:outerShdw blurRad="38100" dist="38100" dir="2700000" algn="tl">
                    <a:srgbClr val="C0C0C0"/>
                  </a:outerShdw>
                </a:effectLst>
                <a:latin typeface="Courier New" pitchFamily="49" charset="0"/>
                <a:cs typeface="Courier New" pitchFamily="49" charset="0"/>
              </a:rPr>
              <a:t>finally</a:t>
            </a:r>
            <a:r>
              <a:rPr lang="en-US" sz="2800"/>
              <a:t> </a:t>
            </a:r>
            <a:r>
              <a:rPr lang="vi-VN" sz="2800" noProof="1"/>
              <a:t>được</a:t>
            </a:r>
            <a:r>
              <a:rPr lang="en-US" sz="2800"/>
              <a:t> </a:t>
            </a:r>
            <a:r>
              <a:rPr lang="vi-VN" sz="2800" noProof="1"/>
              <a:t>đặt</a:t>
            </a:r>
            <a:r>
              <a:rPr lang="en-US" sz="2800"/>
              <a:t> cu</a:t>
            </a:r>
            <a:r>
              <a:rPr lang="en-US" sz="2800" noProof="1"/>
              <a:t>ối</a:t>
            </a:r>
            <a:r>
              <a:rPr lang="en-US" sz="2800"/>
              <a:t> c</a:t>
            </a:r>
            <a:r>
              <a:rPr lang="en-US" sz="2800" noProof="1"/>
              <a:t>ùng</a:t>
            </a:r>
            <a:r>
              <a:rPr lang="en-US" sz="2800"/>
              <a:t> </a:t>
            </a:r>
            <a:r>
              <a:rPr lang="vi-VN" sz="2800" noProof="1"/>
              <a:t>để</a:t>
            </a:r>
            <a:r>
              <a:rPr lang="en-US" sz="2800"/>
              <a:t> th</a:t>
            </a:r>
            <a:r>
              <a:rPr lang="en-US" sz="2800" noProof="1"/>
              <a:t>ực</a:t>
            </a:r>
            <a:r>
              <a:rPr lang="en-US" sz="2800"/>
              <a:t> hi</a:t>
            </a:r>
            <a:r>
              <a:rPr lang="en-US" sz="2800" noProof="1"/>
              <a:t>ện</a:t>
            </a:r>
            <a:r>
              <a:rPr lang="en-US" sz="2800"/>
              <a:t> c</a:t>
            </a:r>
            <a:r>
              <a:rPr lang="en-US" sz="2800" noProof="1"/>
              <a:t>ác</a:t>
            </a:r>
            <a:r>
              <a:rPr lang="en-US" sz="2800"/>
              <a:t> c</a:t>
            </a:r>
            <a:r>
              <a:rPr lang="en-US" sz="2800" noProof="1"/>
              <a:t>ô</a:t>
            </a:r>
            <a:r>
              <a:rPr lang="en-US" sz="2800"/>
              <a:t>ng vi</a:t>
            </a:r>
            <a:r>
              <a:rPr lang="en-US" sz="2800" noProof="1"/>
              <a:t>ệc</a:t>
            </a:r>
            <a:r>
              <a:rPr lang="en-US" sz="2800"/>
              <a:t> “d</a:t>
            </a:r>
            <a:r>
              <a:rPr lang="en-US" sz="2800" noProof="1"/>
              <a:t>ọn</a:t>
            </a:r>
            <a:r>
              <a:rPr lang="en-US" sz="2800"/>
              <a:t> d</a:t>
            </a:r>
            <a:r>
              <a:rPr lang="en-US" sz="2800" noProof="1"/>
              <a:t>ẹp</a:t>
            </a:r>
            <a:r>
              <a:rPr lang="en-US" sz="2800"/>
              <a:t>” cần thiết</a:t>
            </a:r>
          </a:p>
          <a:p>
            <a:pPr lvl="1" algn="just"/>
            <a:r>
              <a:rPr lang="en-US" sz="2200">
                <a:latin typeface="Courier New" pitchFamily="49" charset="0"/>
                <a:cs typeface="Courier New" pitchFamily="49" charset="0"/>
              </a:rPr>
              <a:t>finally</a:t>
            </a:r>
            <a:r>
              <a:rPr lang="en-US" sz="2200"/>
              <a:t> lu</a:t>
            </a:r>
            <a:r>
              <a:rPr lang="en-US" sz="2200" noProof="1"/>
              <a:t>ô</a:t>
            </a:r>
            <a:r>
              <a:rPr lang="en-US" sz="2200"/>
              <a:t>n </a:t>
            </a:r>
            <a:r>
              <a:rPr lang="vi-VN" sz="2200" noProof="1"/>
              <a:t>được</a:t>
            </a:r>
            <a:r>
              <a:rPr lang="en-US" sz="2200"/>
              <a:t> th</a:t>
            </a:r>
            <a:r>
              <a:rPr lang="en-US" sz="2200" noProof="1"/>
              <a:t>ực</a:t>
            </a:r>
            <a:r>
              <a:rPr lang="en-US" sz="2200"/>
              <a:t> hi</a:t>
            </a:r>
            <a:r>
              <a:rPr lang="en-US" sz="2200" noProof="1"/>
              <a:t>ện</a:t>
            </a:r>
            <a:r>
              <a:rPr lang="en-US" sz="2200"/>
              <a:t> d</a:t>
            </a:r>
            <a:r>
              <a:rPr lang="en-US" sz="2200" noProof="1"/>
              <a:t>ù</a:t>
            </a:r>
            <a:r>
              <a:rPr lang="en-US" sz="2200"/>
              <a:t> ngo</a:t>
            </a:r>
            <a:r>
              <a:rPr lang="en-US" sz="2200" noProof="1"/>
              <a:t>ại</a:t>
            </a:r>
            <a:r>
              <a:rPr lang="en-US" sz="2200"/>
              <a:t> l</a:t>
            </a:r>
            <a:r>
              <a:rPr lang="en-US" sz="2200" noProof="1"/>
              <a:t>ệ</a:t>
            </a:r>
            <a:r>
              <a:rPr lang="en-US" sz="2200"/>
              <a:t> c</a:t>
            </a:r>
            <a:r>
              <a:rPr lang="en-US" sz="2200" noProof="1"/>
              <a:t>ó</a:t>
            </a:r>
            <a:r>
              <a:rPr lang="en-US" sz="2200"/>
              <a:t> </a:t>
            </a:r>
            <a:r>
              <a:rPr lang="vi-VN" sz="2200" noProof="1"/>
              <a:t>được</a:t>
            </a:r>
            <a:r>
              <a:rPr lang="en-US" sz="2200"/>
              <a:t> b</a:t>
            </a:r>
            <a:r>
              <a:rPr lang="en-US" sz="2200" noProof="1"/>
              <a:t>ắt</a:t>
            </a:r>
            <a:r>
              <a:rPr lang="en-US" sz="2200"/>
              <a:t> hay kh</a:t>
            </a:r>
            <a:r>
              <a:rPr lang="en-US" sz="2200" noProof="1"/>
              <a:t>ô</a:t>
            </a:r>
            <a:r>
              <a:rPr lang="en-US" sz="2200"/>
              <a:t>ng</a:t>
            </a:r>
          </a:p>
          <a:p>
            <a:pPr lvl="1" algn="just"/>
            <a:r>
              <a:rPr lang="en-US" sz="2200">
                <a:latin typeface="Courier New" pitchFamily="49" charset="0"/>
                <a:cs typeface="Courier New" pitchFamily="49" charset="0"/>
              </a:rPr>
              <a:t>finally</a:t>
            </a:r>
            <a:r>
              <a:rPr lang="en-US" sz="2200"/>
              <a:t> được thực hiện cả khi không có ngoại lệ được ném ra</a:t>
            </a:r>
          </a:p>
        </p:txBody>
      </p:sp>
      <p:sp>
        <p:nvSpPr>
          <p:cNvPr id="2" name="Date Placeholder 1"/>
          <p:cNvSpPr>
            <a:spLocks noGrp="1"/>
          </p:cNvSpPr>
          <p:nvPr>
            <p:ph type="dt" sz="half" idx="10"/>
          </p:nvPr>
        </p:nvSpPr>
        <p:spPr/>
        <p:txBody>
          <a:bodyPr/>
          <a:lstStyle/>
          <a:p>
            <a:fld id="{A4F916E5-CB58-4658-AF98-57C9FD651EA8}" type="datetime1">
              <a:rPr lang="vi-VN" smtClean="0"/>
              <a:t>08/02/2025</a:t>
            </a:fld>
            <a:endParaRPr lang="vi-VN"/>
          </a:p>
        </p:txBody>
      </p:sp>
      <p:sp>
        <p:nvSpPr>
          <p:cNvPr id="3" name="Footer Placeholder 2"/>
          <p:cNvSpPr>
            <a:spLocks noGrp="1"/>
          </p:cNvSpPr>
          <p:nvPr>
            <p:ph type="ftr" sz="quarter" idx="11"/>
          </p:nvPr>
        </p:nvSpPr>
        <p:spPr/>
        <p:txBody>
          <a:bodyPr/>
          <a:lstStyle/>
          <a:p>
            <a:r>
              <a:rPr lang="vi-VN"/>
              <a:t>Chương 3 - Lập trình hướng đối tượng trong C#</a:t>
            </a:r>
          </a:p>
        </p:txBody>
      </p:sp>
      <p:sp>
        <p:nvSpPr>
          <p:cNvPr id="7" name="Slide Number Placeholder 6"/>
          <p:cNvSpPr>
            <a:spLocks noGrp="1"/>
          </p:cNvSpPr>
          <p:nvPr>
            <p:ph type="sldNum" sz="quarter" idx="12"/>
          </p:nvPr>
        </p:nvSpPr>
        <p:spPr/>
        <p:txBody>
          <a:bodyPr/>
          <a:lstStyle/>
          <a:p>
            <a:fld id="{5AB95402-1E0D-474E-8D8C-CBE7F053639E}" type="slidenum">
              <a:rPr lang="vi-VN" smtClean="0"/>
              <a:pPr/>
              <a:t>28</a:t>
            </a:fld>
            <a:r>
              <a:rPr lang="vi-VN"/>
              <a:t>/28</a:t>
            </a:r>
          </a:p>
        </p:txBody>
      </p:sp>
    </p:spTree>
    <p:extLst>
      <p:ext uri="{BB962C8B-B14F-4D97-AF65-F5344CB8AC3E}">
        <p14:creationId xmlns:p14="http://schemas.microsoft.com/office/powerpoint/2010/main" val="332966570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7154" name="Rectangle 2"/>
          <p:cNvSpPr>
            <a:spLocks noGrp="1" noChangeArrowheads="1"/>
          </p:cNvSpPr>
          <p:nvPr>
            <p:ph type="title"/>
          </p:nvPr>
        </p:nvSpPr>
        <p:spPr/>
        <p:txBody>
          <a:bodyPr/>
          <a:lstStyle/>
          <a:p>
            <a:r>
              <a:rPr lang="en-US"/>
              <a:t>Cú pháp try … catch … finally</a:t>
            </a:r>
          </a:p>
        </p:txBody>
      </p:sp>
      <p:sp>
        <p:nvSpPr>
          <p:cNvPr id="2" name="Date Placeholder 1"/>
          <p:cNvSpPr>
            <a:spLocks noGrp="1"/>
          </p:cNvSpPr>
          <p:nvPr>
            <p:ph type="dt" sz="half" idx="10"/>
          </p:nvPr>
        </p:nvSpPr>
        <p:spPr/>
        <p:txBody>
          <a:bodyPr/>
          <a:lstStyle/>
          <a:p>
            <a:fld id="{5827DA88-F231-40FD-912C-03F78870463B}" type="datetime1">
              <a:rPr lang="vi-VN" smtClean="0"/>
              <a:t>08/02/2025</a:t>
            </a:fld>
            <a:endParaRPr lang="vi-VN"/>
          </a:p>
        </p:txBody>
      </p:sp>
      <p:sp>
        <p:nvSpPr>
          <p:cNvPr id="3" name="Footer Placeholder 2"/>
          <p:cNvSpPr>
            <a:spLocks noGrp="1"/>
          </p:cNvSpPr>
          <p:nvPr>
            <p:ph type="ftr" sz="quarter" idx="11"/>
          </p:nvPr>
        </p:nvSpPr>
        <p:spPr/>
        <p:txBody>
          <a:bodyPr/>
          <a:lstStyle/>
          <a:p>
            <a:r>
              <a:rPr lang="vi-VN"/>
              <a:t>Chương 3 - Lập trình hướng đối tượng trong C#</a:t>
            </a:r>
          </a:p>
        </p:txBody>
      </p:sp>
      <p:sp>
        <p:nvSpPr>
          <p:cNvPr id="7" name="Slide Number Placeholder 6"/>
          <p:cNvSpPr>
            <a:spLocks noGrp="1"/>
          </p:cNvSpPr>
          <p:nvPr>
            <p:ph type="sldNum" sz="quarter" idx="12"/>
          </p:nvPr>
        </p:nvSpPr>
        <p:spPr/>
        <p:txBody>
          <a:bodyPr/>
          <a:lstStyle/>
          <a:p>
            <a:fld id="{5AB95402-1E0D-474E-8D8C-CBE7F053639E}" type="slidenum">
              <a:rPr lang="vi-VN" smtClean="0"/>
              <a:pPr/>
              <a:t>29</a:t>
            </a:fld>
            <a:r>
              <a:rPr lang="vi-VN"/>
              <a:t>/28</a:t>
            </a:r>
          </a:p>
        </p:txBody>
      </p:sp>
      <p:pic>
        <p:nvPicPr>
          <p:cNvPr id="6" name="Picture 5">
            <a:extLst>
              <a:ext uri="{FF2B5EF4-FFF2-40B4-BE49-F238E27FC236}">
                <a16:creationId xmlns:a16="http://schemas.microsoft.com/office/drawing/2014/main" id="{11059112-A210-49B4-8593-3FE93032ADF2}"/>
              </a:ext>
            </a:extLst>
          </p:cNvPr>
          <p:cNvPicPr>
            <a:picLocks noChangeAspect="1"/>
          </p:cNvPicPr>
          <p:nvPr/>
        </p:nvPicPr>
        <p:blipFill>
          <a:blip r:embed="rId2"/>
          <a:stretch>
            <a:fillRect/>
          </a:stretch>
        </p:blipFill>
        <p:spPr>
          <a:xfrm>
            <a:off x="755576" y="1298575"/>
            <a:ext cx="6817718" cy="4618062"/>
          </a:xfrm>
          <a:prstGeom prst="rect">
            <a:avLst/>
          </a:prstGeom>
        </p:spPr>
      </p:pic>
    </p:spTree>
    <p:extLst>
      <p:ext uri="{BB962C8B-B14F-4D97-AF65-F5344CB8AC3E}">
        <p14:creationId xmlns:p14="http://schemas.microsoft.com/office/powerpoint/2010/main" val="101881396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8178" name="Rectangle 2"/>
          <p:cNvSpPr>
            <a:spLocks noGrp="1" noChangeArrowheads="1"/>
          </p:cNvSpPr>
          <p:nvPr>
            <p:ph type="title"/>
          </p:nvPr>
        </p:nvSpPr>
        <p:spPr/>
        <p:txBody>
          <a:bodyPr/>
          <a:lstStyle/>
          <a:p>
            <a:r>
              <a:rPr lang="en-US"/>
              <a:t>Ví dụ bắt ngoại lệ</a:t>
            </a:r>
          </a:p>
        </p:txBody>
      </p:sp>
      <p:sp>
        <p:nvSpPr>
          <p:cNvPr id="2" name="Date Placeholder 1"/>
          <p:cNvSpPr>
            <a:spLocks noGrp="1"/>
          </p:cNvSpPr>
          <p:nvPr>
            <p:ph type="dt" sz="half" idx="10"/>
          </p:nvPr>
        </p:nvSpPr>
        <p:spPr/>
        <p:txBody>
          <a:bodyPr/>
          <a:lstStyle/>
          <a:p>
            <a:fld id="{C58601CF-A34F-4336-B00A-4E07A1465949}" type="datetime1">
              <a:rPr lang="vi-VN" smtClean="0"/>
              <a:t>08/02/2025</a:t>
            </a:fld>
            <a:endParaRPr lang="vi-VN"/>
          </a:p>
        </p:txBody>
      </p:sp>
      <p:sp>
        <p:nvSpPr>
          <p:cNvPr id="3" name="Footer Placeholder 2"/>
          <p:cNvSpPr>
            <a:spLocks noGrp="1"/>
          </p:cNvSpPr>
          <p:nvPr>
            <p:ph type="ftr" sz="quarter" idx="11"/>
          </p:nvPr>
        </p:nvSpPr>
        <p:spPr/>
        <p:txBody>
          <a:bodyPr/>
          <a:lstStyle/>
          <a:p>
            <a:r>
              <a:rPr lang="vi-VN"/>
              <a:t>Chương 3 - Lập trình hướng đối tượng trong C#</a:t>
            </a:r>
          </a:p>
        </p:txBody>
      </p:sp>
      <p:sp>
        <p:nvSpPr>
          <p:cNvPr id="4" name="Slide Number Placeholder 3"/>
          <p:cNvSpPr>
            <a:spLocks noGrp="1"/>
          </p:cNvSpPr>
          <p:nvPr>
            <p:ph type="sldNum" sz="quarter" idx="12"/>
          </p:nvPr>
        </p:nvSpPr>
        <p:spPr/>
        <p:txBody>
          <a:bodyPr/>
          <a:lstStyle/>
          <a:p>
            <a:fld id="{5AB95402-1E0D-474E-8D8C-CBE7F053639E}" type="slidenum">
              <a:rPr lang="vi-VN" smtClean="0"/>
              <a:pPr/>
              <a:t>30</a:t>
            </a:fld>
            <a:r>
              <a:rPr lang="vi-VN"/>
              <a:t>/28</a:t>
            </a:r>
          </a:p>
        </p:txBody>
      </p:sp>
      <p:pic>
        <p:nvPicPr>
          <p:cNvPr id="6" name="Picture 5">
            <a:extLst>
              <a:ext uri="{FF2B5EF4-FFF2-40B4-BE49-F238E27FC236}">
                <a16:creationId xmlns:a16="http://schemas.microsoft.com/office/drawing/2014/main" id="{B43F59C7-C0D3-43B6-A7A7-75AA72A9E23F}"/>
              </a:ext>
            </a:extLst>
          </p:cNvPr>
          <p:cNvPicPr>
            <a:picLocks noChangeAspect="1"/>
          </p:cNvPicPr>
          <p:nvPr/>
        </p:nvPicPr>
        <p:blipFill>
          <a:blip r:embed="rId3"/>
          <a:stretch>
            <a:fillRect/>
          </a:stretch>
        </p:blipFill>
        <p:spPr>
          <a:xfrm>
            <a:off x="381000" y="1196752"/>
            <a:ext cx="6394803" cy="2448272"/>
          </a:xfrm>
          <a:prstGeom prst="rect">
            <a:avLst/>
          </a:prstGeom>
        </p:spPr>
      </p:pic>
      <p:pic>
        <p:nvPicPr>
          <p:cNvPr id="8" name="Picture 7">
            <a:extLst>
              <a:ext uri="{FF2B5EF4-FFF2-40B4-BE49-F238E27FC236}">
                <a16:creationId xmlns:a16="http://schemas.microsoft.com/office/drawing/2014/main" id="{1C605B04-2A5F-4EA8-BEDF-B8C68EECAD71}"/>
              </a:ext>
            </a:extLst>
          </p:cNvPr>
          <p:cNvPicPr>
            <a:picLocks noChangeAspect="1"/>
          </p:cNvPicPr>
          <p:nvPr/>
        </p:nvPicPr>
        <p:blipFill>
          <a:blip r:embed="rId4"/>
          <a:stretch>
            <a:fillRect/>
          </a:stretch>
        </p:blipFill>
        <p:spPr>
          <a:xfrm>
            <a:off x="350917" y="3735140"/>
            <a:ext cx="6424886" cy="2986335"/>
          </a:xfrm>
          <a:prstGeom prst="rect">
            <a:avLst/>
          </a:prstGeom>
        </p:spPr>
      </p:pic>
    </p:spTree>
    <p:extLst>
      <p:ext uri="{BB962C8B-B14F-4D97-AF65-F5344CB8AC3E}">
        <p14:creationId xmlns:p14="http://schemas.microsoft.com/office/powerpoint/2010/main" val="277000495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6FF052D-442A-42E2-9296-7E76C6D4B9CE}"/>
              </a:ext>
            </a:extLst>
          </p:cNvPr>
          <p:cNvSpPr>
            <a:spLocks noGrp="1"/>
          </p:cNvSpPr>
          <p:nvPr>
            <p:ph idx="1"/>
          </p:nvPr>
        </p:nvSpPr>
        <p:spPr/>
        <p:txBody>
          <a:bodyPr/>
          <a:lstStyle/>
          <a:p>
            <a:r>
              <a:rPr lang="en-US" sz="2400"/>
              <a:t>K</a:t>
            </a:r>
            <a:r>
              <a:rPr lang="vi-VN" sz="2400"/>
              <a:t>hi muốn </a:t>
            </a:r>
            <a:r>
              <a:rPr lang="vi-VN" sz="2400" b="1"/>
              <a:t>ném một ngoại lệ</a:t>
            </a:r>
            <a:r>
              <a:rPr lang="vi-VN" sz="2400"/>
              <a:t> để báo hiệu rằng có một lỗi xảy ra trong quá trình thực thi, bạn có thể tạo một đối tượng của lớp </a:t>
            </a:r>
            <a:r>
              <a:rPr lang="vi-VN" sz="2400" b="1"/>
              <a:t>Exception</a:t>
            </a:r>
            <a:r>
              <a:rPr lang="vi-VN" sz="2400"/>
              <a:t> hoặc các lớp kế thừa của nó và sử dụng câu lệnh </a:t>
            </a:r>
            <a:r>
              <a:rPr lang="vi-VN" sz="2400" b="1"/>
              <a:t>throw</a:t>
            </a:r>
            <a:r>
              <a:rPr lang="vi-VN" sz="2400"/>
              <a:t> để phát sinh ngoại lệ.</a:t>
            </a:r>
            <a:endParaRPr lang="en-US" sz="2400"/>
          </a:p>
          <a:p>
            <a:r>
              <a:rPr lang="en-US" sz="2400"/>
              <a:t>Cấu trúc ném ngoại lệ (throw)</a:t>
            </a:r>
          </a:p>
          <a:p>
            <a:pPr marL="0" indent="0">
              <a:buNone/>
            </a:pPr>
            <a:r>
              <a:rPr lang="en-US" sz="2400"/>
              <a:t>	</a:t>
            </a:r>
            <a:r>
              <a:rPr lang="en-US" sz="2400" b="1"/>
              <a:t>throw new Exception("Thông báo lỗi");</a:t>
            </a:r>
          </a:p>
          <a:p>
            <a:pPr marL="0" indent="0">
              <a:buNone/>
            </a:pPr>
            <a:endParaRPr lang="en-US" sz="2400"/>
          </a:p>
        </p:txBody>
      </p:sp>
      <p:sp>
        <p:nvSpPr>
          <p:cNvPr id="4" name="Date Placeholder 3">
            <a:extLst>
              <a:ext uri="{FF2B5EF4-FFF2-40B4-BE49-F238E27FC236}">
                <a16:creationId xmlns:a16="http://schemas.microsoft.com/office/drawing/2014/main" id="{E0F408FB-919E-4424-8D65-2FFBEEBE3595}"/>
              </a:ext>
            </a:extLst>
          </p:cNvPr>
          <p:cNvSpPr>
            <a:spLocks noGrp="1"/>
          </p:cNvSpPr>
          <p:nvPr>
            <p:ph type="dt" sz="half" idx="10"/>
          </p:nvPr>
        </p:nvSpPr>
        <p:spPr/>
        <p:txBody>
          <a:bodyPr/>
          <a:lstStyle/>
          <a:p>
            <a:fld id="{1FCC884B-1AA7-4469-B526-594A4B1341A0}" type="datetime1">
              <a:rPr lang="vi-VN" smtClean="0">
                <a:uFillTx/>
              </a:rPr>
              <a:t>08/02/2025</a:t>
            </a:fld>
            <a:endParaRPr lang="vi-VN">
              <a:uFillTx/>
            </a:endParaRPr>
          </a:p>
        </p:txBody>
      </p:sp>
      <p:sp>
        <p:nvSpPr>
          <p:cNvPr id="5" name="Footer Placeholder 4">
            <a:extLst>
              <a:ext uri="{FF2B5EF4-FFF2-40B4-BE49-F238E27FC236}">
                <a16:creationId xmlns:a16="http://schemas.microsoft.com/office/drawing/2014/main" id="{D5741C4D-0552-4B6D-9B35-46D184385320}"/>
              </a:ext>
            </a:extLst>
          </p:cNvPr>
          <p:cNvSpPr>
            <a:spLocks noGrp="1"/>
          </p:cNvSpPr>
          <p:nvPr>
            <p:ph type="ftr" sz="quarter" idx="11"/>
          </p:nvPr>
        </p:nvSpPr>
        <p:spPr/>
        <p:txBody>
          <a:bodyPr/>
          <a:lstStyle/>
          <a:p>
            <a:r>
              <a:rPr lang="vi-VN">
                <a:uFillTx/>
              </a:rPr>
              <a:t>Chương 3. Lập trình hướng đối tượng trong C#</a:t>
            </a:r>
          </a:p>
        </p:txBody>
      </p:sp>
      <p:sp>
        <p:nvSpPr>
          <p:cNvPr id="6" name="Slide Number Placeholder 5">
            <a:extLst>
              <a:ext uri="{FF2B5EF4-FFF2-40B4-BE49-F238E27FC236}">
                <a16:creationId xmlns:a16="http://schemas.microsoft.com/office/drawing/2014/main" id="{D7430EB0-B100-4485-88D1-D211D1BA8AAF}"/>
              </a:ext>
            </a:extLst>
          </p:cNvPr>
          <p:cNvSpPr>
            <a:spLocks noGrp="1"/>
          </p:cNvSpPr>
          <p:nvPr>
            <p:ph type="sldNum" sz="quarter" idx="12"/>
          </p:nvPr>
        </p:nvSpPr>
        <p:spPr/>
        <p:txBody>
          <a:bodyPr/>
          <a:lstStyle/>
          <a:p>
            <a:fld id="{5AB95402-1E0D-474E-8D8C-CBE7F053639E}" type="slidenum">
              <a:rPr lang="vi-VN" smtClean="0">
                <a:uFillTx/>
              </a:rPr>
              <a:pPr/>
              <a:t>31</a:t>
            </a:fld>
            <a:r>
              <a:rPr lang="vi-VN">
                <a:uFillTx/>
              </a:rPr>
              <a:t>/28</a:t>
            </a:r>
          </a:p>
        </p:txBody>
      </p:sp>
      <p:sp>
        <p:nvSpPr>
          <p:cNvPr id="8" name="Rectangle 2">
            <a:extLst>
              <a:ext uri="{FF2B5EF4-FFF2-40B4-BE49-F238E27FC236}">
                <a16:creationId xmlns:a16="http://schemas.microsoft.com/office/drawing/2014/main" id="{15539284-F410-4DDE-AB83-EF792FB32CA4}"/>
              </a:ext>
            </a:extLst>
          </p:cNvPr>
          <p:cNvSpPr>
            <a:spLocks noGrp="1" noChangeArrowheads="1"/>
          </p:cNvSpPr>
          <p:nvPr>
            <p:ph type="title"/>
          </p:nvPr>
        </p:nvSpPr>
        <p:spPr>
          <a:xfrm>
            <a:off x="762000" y="320227"/>
            <a:ext cx="8382000" cy="685800"/>
          </a:xfrm>
        </p:spPr>
        <p:txBody>
          <a:bodyPr/>
          <a:lstStyle/>
          <a:p>
            <a:r>
              <a:rPr lang="en-US" dirty="0" err="1"/>
              <a:t>Ném</a:t>
            </a:r>
            <a:r>
              <a:rPr lang="en-US" dirty="0"/>
              <a:t> ra </a:t>
            </a:r>
            <a:r>
              <a:rPr lang="en-US" dirty="0" err="1"/>
              <a:t>ngoại</a:t>
            </a:r>
            <a:r>
              <a:rPr lang="en-US" dirty="0"/>
              <a:t> </a:t>
            </a:r>
            <a:r>
              <a:rPr lang="en-US" dirty="0" err="1"/>
              <a:t>lệ</a:t>
            </a:r>
            <a:endParaRPr lang="en-US" dirty="0"/>
          </a:p>
        </p:txBody>
      </p:sp>
    </p:spTree>
    <p:extLst>
      <p:ext uri="{BB962C8B-B14F-4D97-AF65-F5344CB8AC3E}">
        <p14:creationId xmlns:p14="http://schemas.microsoft.com/office/powerpoint/2010/main" val="33258172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0D47DC-53B9-4C09-BF36-0D3385A6AF9E}"/>
              </a:ext>
            </a:extLst>
          </p:cNvPr>
          <p:cNvSpPr>
            <a:spLocks noGrp="1"/>
          </p:cNvSpPr>
          <p:nvPr>
            <p:ph type="title"/>
          </p:nvPr>
        </p:nvSpPr>
        <p:spPr/>
        <p:txBody>
          <a:bodyPr/>
          <a:lstStyle/>
          <a:p>
            <a:r>
              <a:rPr lang="en-US"/>
              <a:t>Ví dụ ném ngoại lệ</a:t>
            </a:r>
          </a:p>
        </p:txBody>
      </p:sp>
      <p:pic>
        <p:nvPicPr>
          <p:cNvPr id="7" name="Content Placeholder 6">
            <a:extLst>
              <a:ext uri="{FF2B5EF4-FFF2-40B4-BE49-F238E27FC236}">
                <a16:creationId xmlns:a16="http://schemas.microsoft.com/office/drawing/2014/main" id="{54C0CC6A-687C-4935-9784-AE18EF8A9D68}"/>
              </a:ext>
            </a:extLst>
          </p:cNvPr>
          <p:cNvPicPr>
            <a:picLocks noGrp="1" noChangeAspect="1"/>
          </p:cNvPicPr>
          <p:nvPr>
            <p:ph idx="1"/>
          </p:nvPr>
        </p:nvPicPr>
        <p:blipFill>
          <a:blip r:embed="rId3"/>
          <a:stretch>
            <a:fillRect/>
          </a:stretch>
        </p:blipFill>
        <p:spPr>
          <a:xfrm>
            <a:off x="1946464" y="1143000"/>
            <a:ext cx="5555872" cy="5181600"/>
          </a:xfrm>
          <a:prstGeom prst="rect">
            <a:avLst/>
          </a:prstGeom>
        </p:spPr>
      </p:pic>
      <p:sp>
        <p:nvSpPr>
          <p:cNvPr id="4" name="Date Placeholder 3">
            <a:extLst>
              <a:ext uri="{FF2B5EF4-FFF2-40B4-BE49-F238E27FC236}">
                <a16:creationId xmlns:a16="http://schemas.microsoft.com/office/drawing/2014/main" id="{C5D80F56-6FAA-4964-B412-481A6954A6B2}"/>
              </a:ext>
            </a:extLst>
          </p:cNvPr>
          <p:cNvSpPr>
            <a:spLocks noGrp="1"/>
          </p:cNvSpPr>
          <p:nvPr>
            <p:ph type="dt" sz="half" idx="10"/>
          </p:nvPr>
        </p:nvSpPr>
        <p:spPr/>
        <p:txBody>
          <a:bodyPr/>
          <a:lstStyle/>
          <a:p>
            <a:fld id="{1FCC884B-1AA7-4469-B526-594A4B1341A0}" type="datetime1">
              <a:rPr lang="vi-VN" smtClean="0">
                <a:uFillTx/>
              </a:rPr>
              <a:t>08/02/2025</a:t>
            </a:fld>
            <a:endParaRPr lang="vi-VN">
              <a:uFillTx/>
            </a:endParaRPr>
          </a:p>
        </p:txBody>
      </p:sp>
      <p:sp>
        <p:nvSpPr>
          <p:cNvPr id="5" name="Footer Placeholder 4">
            <a:extLst>
              <a:ext uri="{FF2B5EF4-FFF2-40B4-BE49-F238E27FC236}">
                <a16:creationId xmlns:a16="http://schemas.microsoft.com/office/drawing/2014/main" id="{4EFA025B-34A0-42EE-8358-44AEF895D1DD}"/>
              </a:ext>
            </a:extLst>
          </p:cNvPr>
          <p:cNvSpPr>
            <a:spLocks noGrp="1"/>
          </p:cNvSpPr>
          <p:nvPr>
            <p:ph type="ftr" sz="quarter" idx="11"/>
          </p:nvPr>
        </p:nvSpPr>
        <p:spPr/>
        <p:txBody>
          <a:bodyPr/>
          <a:lstStyle/>
          <a:p>
            <a:r>
              <a:rPr lang="vi-VN">
                <a:uFillTx/>
              </a:rPr>
              <a:t>Chương 3. Lập trình hướng đối tượng trong C#</a:t>
            </a:r>
          </a:p>
        </p:txBody>
      </p:sp>
      <p:sp>
        <p:nvSpPr>
          <p:cNvPr id="6" name="Slide Number Placeholder 5">
            <a:extLst>
              <a:ext uri="{FF2B5EF4-FFF2-40B4-BE49-F238E27FC236}">
                <a16:creationId xmlns:a16="http://schemas.microsoft.com/office/drawing/2014/main" id="{20C74108-481B-4753-B80F-0D9B35180806}"/>
              </a:ext>
            </a:extLst>
          </p:cNvPr>
          <p:cNvSpPr>
            <a:spLocks noGrp="1"/>
          </p:cNvSpPr>
          <p:nvPr>
            <p:ph type="sldNum" sz="quarter" idx="12"/>
          </p:nvPr>
        </p:nvSpPr>
        <p:spPr/>
        <p:txBody>
          <a:bodyPr/>
          <a:lstStyle/>
          <a:p>
            <a:fld id="{5AB95402-1E0D-474E-8D8C-CBE7F053639E}" type="slidenum">
              <a:rPr lang="vi-VN" smtClean="0">
                <a:uFillTx/>
              </a:rPr>
              <a:pPr/>
              <a:t>32</a:t>
            </a:fld>
            <a:r>
              <a:rPr lang="vi-VN">
                <a:uFillTx/>
              </a:rPr>
              <a:t>/28</a:t>
            </a:r>
          </a:p>
        </p:txBody>
      </p:sp>
    </p:spTree>
    <p:extLst>
      <p:ext uri="{BB962C8B-B14F-4D97-AF65-F5344CB8AC3E}">
        <p14:creationId xmlns:p14="http://schemas.microsoft.com/office/powerpoint/2010/main" val="192925778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E40E78-CC51-4A87-8312-7D6CA22226A7}"/>
              </a:ext>
            </a:extLst>
          </p:cNvPr>
          <p:cNvSpPr>
            <a:spLocks noGrp="1"/>
          </p:cNvSpPr>
          <p:nvPr>
            <p:ph type="title"/>
          </p:nvPr>
        </p:nvSpPr>
        <p:spPr/>
        <p:txBody>
          <a:bodyPr/>
          <a:lstStyle/>
          <a:p>
            <a:r>
              <a:rPr lang="en-US"/>
              <a:t>Ngoại lệ tùy chỉnh</a:t>
            </a:r>
          </a:p>
        </p:txBody>
      </p:sp>
      <p:sp>
        <p:nvSpPr>
          <p:cNvPr id="3" name="Content Placeholder 2">
            <a:extLst>
              <a:ext uri="{FF2B5EF4-FFF2-40B4-BE49-F238E27FC236}">
                <a16:creationId xmlns:a16="http://schemas.microsoft.com/office/drawing/2014/main" id="{87846560-A998-43A8-B9A8-2C5F03829871}"/>
              </a:ext>
            </a:extLst>
          </p:cNvPr>
          <p:cNvSpPr>
            <a:spLocks noGrp="1"/>
          </p:cNvSpPr>
          <p:nvPr>
            <p:ph idx="1"/>
          </p:nvPr>
        </p:nvSpPr>
        <p:spPr/>
        <p:txBody>
          <a:bodyPr/>
          <a:lstStyle/>
          <a:p>
            <a:r>
              <a:rPr lang="vi-VN" sz="2200" b="1"/>
              <a:t>Ngoại lệ tùy chỉnh</a:t>
            </a:r>
            <a:r>
              <a:rPr lang="vi-VN" sz="2200"/>
              <a:t> trong C# là một cách để tạo ra các lỗi riêng biệt, phù hợp với yêu cầu của ứng dụng. Thay vì sử dụng các ngoại lệ có sẵn như </a:t>
            </a:r>
            <a:r>
              <a:rPr lang="vi-VN" sz="2200" b="1"/>
              <a:t>ArgumentException</a:t>
            </a:r>
            <a:r>
              <a:rPr lang="vi-VN" sz="2200"/>
              <a:t>, </a:t>
            </a:r>
            <a:r>
              <a:rPr lang="vi-VN" sz="2200" b="1"/>
              <a:t>NullReferenceException</a:t>
            </a:r>
            <a:r>
              <a:rPr lang="vi-VN" sz="2200"/>
              <a:t>, có thể tạo ra các ngoại lệ của riêng mình để mô tả các tình huống lỗi đặc biệt trong chương trình.</a:t>
            </a:r>
            <a:endParaRPr lang="en-US" sz="2200"/>
          </a:p>
          <a:p>
            <a:endParaRPr lang="en-US" sz="2200"/>
          </a:p>
        </p:txBody>
      </p:sp>
      <p:sp>
        <p:nvSpPr>
          <p:cNvPr id="4" name="Date Placeholder 3">
            <a:extLst>
              <a:ext uri="{FF2B5EF4-FFF2-40B4-BE49-F238E27FC236}">
                <a16:creationId xmlns:a16="http://schemas.microsoft.com/office/drawing/2014/main" id="{44262162-F8D5-4E54-9C9D-005E52E96298}"/>
              </a:ext>
            </a:extLst>
          </p:cNvPr>
          <p:cNvSpPr>
            <a:spLocks noGrp="1"/>
          </p:cNvSpPr>
          <p:nvPr>
            <p:ph type="dt" sz="half" idx="10"/>
          </p:nvPr>
        </p:nvSpPr>
        <p:spPr/>
        <p:txBody>
          <a:bodyPr/>
          <a:lstStyle/>
          <a:p>
            <a:fld id="{1FCC884B-1AA7-4469-B526-594A4B1341A0}" type="datetime1">
              <a:rPr lang="vi-VN" smtClean="0">
                <a:uFillTx/>
              </a:rPr>
              <a:t>08/02/2025</a:t>
            </a:fld>
            <a:endParaRPr lang="vi-VN">
              <a:uFillTx/>
            </a:endParaRPr>
          </a:p>
        </p:txBody>
      </p:sp>
      <p:sp>
        <p:nvSpPr>
          <p:cNvPr id="5" name="Footer Placeholder 4">
            <a:extLst>
              <a:ext uri="{FF2B5EF4-FFF2-40B4-BE49-F238E27FC236}">
                <a16:creationId xmlns:a16="http://schemas.microsoft.com/office/drawing/2014/main" id="{DD8EBF84-B650-4594-BBC4-DCC5A916ED15}"/>
              </a:ext>
            </a:extLst>
          </p:cNvPr>
          <p:cNvSpPr>
            <a:spLocks noGrp="1"/>
          </p:cNvSpPr>
          <p:nvPr>
            <p:ph type="ftr" sz="quarter" idx="11"/>
          </p:nvPr>
        </p:nvSpPr>
        <p:spPr/>
        <p:txBody>
          <a:bodyPr/>
          <a:lstStyle/>
          <a:p>
            <a:r>
              <a:rPr lang="vi-VN">
                <a:uFillTx/>
              </a:rPr>
              <a:t>Chương 3. Lập trình hướng đối tượng trong C#</a:t>
            </a:r>
          </a:p>
        </p:txBody>
      </p:sp>
      <p:sp>
        <p:nvSpPr>
          <p:cNvPr id="6" name="Slide Number Placeholder 5">
            <a:extLst>
              <a:ext uri="{FF2B5EF4-FFF2-40B4-BE49-F238E27FC236}">
                <a16:creationId xmlns:a16="http://schemas.microsoft.com/office/drawing/2014/main" id="{274A6A89-6DA9-4172-9982-664CDF35D499}"/>
              </a:ext>
            </a:extLst>
          </p:cNvPr>
          <p:cNvSpPr>
            <a:spLocks noGrp="1"/>
          </p:cNvSpPr>
          <p:nvPr>
            <p:ph type="sldNum" sz="quarter" idx="12"/>
          </p:nvPr>
        </p:nvSpPr>
        <p:spPr/>
        <p:txBody>
          <a:bodyPr/>
          <a:lstStyle/>
          <a:p>
            <a:fld id="{5AB95402-1E0D-474E-8D8C-CBE7F053639E}" type="slidenum">
              <a:rPr lang="vi-VN" smtClean="0">
                <a:uFillTx/>
              </a:rPr>
              <a:pPr/>
              <a:t>33</a:t>
            </a:fld>
            <a:r>
              <a:rPr lang="vi-VN">
                <a:uFillTx/>
              </a:rPr>
              <a:t>/28</a:t>
            </a:r>
          </a:p>
        </p:txBody>
      </p:sp>
    </p:spTree>
    <p:extLst>
      <p:ext uri="{BB962C8B-B14F-4D97-AF65-F5344CB8AC3E}">
        <p14:creationId xmlns:p14="http://schemas.microsoft.com/office/powerpoint/2010/main" val="106892342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2D841A-9328-4D46-A4F2-1ECEF62D80E5}"/>
              </a:ext>
            </a:extLst>
          </p:cNvPr>
          <p:cNvSpPr>
            <a:spLocks noGrp="1"/>
          </p:cNvSpPr>
          <p:nvPr>
            <p:ph type="title"/>
          </p:nvPr>
        </p:nvSpPr>
        <p:spPr/>
        <p:txBody>
          <a:bodyPr/>
          <a:lstStyle/>
          <a:p>
            <a:r>
              <a:rPr lang="en-US"/>
              <a:t>Ví dụ ngoại lệ tùy chỉnh</a:t>
            </a:r>
          </a:p>
        </p:txBody>
      </p:sp>
      <p:sp>
        <p:nvSpPr>
          <p:cNvPr id="4" name="Date Placeholder 3">
            <a:extLst>
              <a:ext uri="{FF2B5EF4-FFF2-40B4-BE49-F238E27FC236}">
                <a16:creationId xmlns:a16="http://schemas.microsoft.com/office/drawing/2014/main" id="{7AB7C66F-1261-4990-ADD3-B7B184BE6567}"/>
              </a:ext>
            </a:extLst>
          </p:cNvPr>
          <p:cNvSpPr>
            <a:spLocks noGrp="1"/>
          </p:cNvSpPr>
          <p:nvPr>
            <p:ph type="dt" sz="half" idx="10"/>
          </p:nvPr>
        </p:nvSpPr>
        <p:spPr/>
        <p:txBody>
          <a:bodyPr/>
          <a:lstStyle/>
          <a:p>
            <a:fld id="{1FCC884B-1AA7-4469-B526-594A4B1341A0}" type="datetime1">
              <a:rPr lang="vi-VN" smtClean="0">
                <a:uFillTx/>
              </a:rPr>
              <a:t>08/02/2025</a:t>
            </a:fld>
            <a:endParaRPr lang="vi-VN">
              <a:uFillTx/>
            </a:endParaRPr>
          </a:p>
        </p:txBody>
      </p:sp>
      <p:sp>
        <p:nvSpPr>
          <p:cNvPr id="5" name="Footer Placeholder 4">
            <a:extLst>
              <a:ext uri="{FF2B5EF4-FFF2-40B4-BE49-F238E27FC236}">
                <a16:creationId xmlns:a16="http://schemas.microsoft.com/office/drawing/2014/main" id="{446533A9-4FD9-4103-989B-DC6511B0C3EF}"/>
              </a:ext>
            </a:extLst>
          </p:cNvPr>
          <p:cNvSpPr>
            <a:spLocks noGrp="1"/>
          </p:cNvSpPr>
          <p:nvPr>
            <p:ph type="ftr" sz="quarter" idx="11"/>
          </p:nvPr>
        </p:nvSpPr>
        <p:spPr/>
        <p:txBody>
          <a:bodyPr/>
          <a:lstStyle/>
          <a:p>
            <a:r>
              <a:rPr lang="vi-VN">
                <a:uFillTx/>
              </a:rPr>
              <a:t>Chương 3. Lập trình hướng đối tượng trong C#</a:t>
            </a:r>
          </a:p>
        </p:txBody>
      </p:sp>
      <p:sp>
        <p:nvSpPr>
          <p:cNvPr id="6" name="Slide Number Placeholder 5">
            <a:extLst>
              <a:ext uri="{FF2B5EF4-FFF2-40B4-BE49-F238E27FC236}">
                <a16:creationId xmlns:a16="http://schemas.microsoft.com/office/drawing/2014/main" id="{DB0DA03F-8D48-48CB-95CA-EEC693454A50}"/>
              </a:ext>
            </a:extLst>
          </p:cNvPr>
          <p:cNvSpPr>
            <a:spLocks noGrp="1"/>
          </p:cNvSpPr>
          <p:nvPr>
            <p:ph type="sldNum" sz="quarter" idx="12"/>
          </p:nvPr>
        </p:nvSpPr>
        <p:spPr/>
        <p:txBody>
          <a:bodyPr/>
          <a:lstStyle/>
          <a:p>
            <a:fld id="{5AB95402-1E0D-474E-8D8C-CBE7F053639E}" type="slidenum">
              <a:rPr lang="vi-VN" smtClean="0">
                <a:uFillTx/>
              </a:rPr>
              <a:pPr/>
              <a:t>34</a:t>
            </a:fld>
            <a:r>
              <a:rPr lang="vi-VN">
                <a:uFillTx/>
              </a:rPr>
              <a:t>/28</a:t>
            </a:r>
          </a:p>
        </p:txBody>
      </p:sp>
      <p:pic>
        <p:nvPicPr>
          <p:cNvPr id="7" name="Picture 6">
            <a:extLst>
              <a:ext uri="{FF2B5EF4-FFF2-40B4-BE49-F238E27FC236}">
                <a16:creationId xmlns:a16="http://schemas.microsoft.com/office/drawing/2014/main" id="{03F944E8-2F2A-48FF-8E59-A4EF8CED1253}"/>
              </a:ext>
            </a:extLst>
          </p:cNvPr>
          <p:cNvPicPr>
            <a:picLocks noChangeAspect="1"/>
          </p:cNvPicPr>
          <p:nvPr/>
        </p:nvPicPr>
        <p:blipFill>
          <a:blip r:embed="rId3"/>
          <a:stretch>
            <a:fillRect/>
          </a:stretch>
        </p:blipFill>
        <p:spPr>
          <a:xfrm>
            <a:off x="1835696" y="1052891"/>
            <a:ext cx="4660751" cy="5115282"/>
          </a:xfrm>
          <a:prstGeom prst="rect">
            <a:avLst/>
          </a:prstGeom>
        </p:spPr>
      </p:pic>
    </p:spTree>
    <p:extLst>
      <p:ext uri="{BB962C8B-B14F-4D97-AF65-F5344CB8AC3E}">
        <p14:creationId xmlns:p14="http://schemas.microsoft.com/office/powerpoint/2010/main" val="128371998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uFillTx/>
              </a:rPr>
              <a:t>Bài tập về nhà</a:t>
            </a:r>
          </a:p>
        </p:txBody>
      </p:sp>
      <p:sp>
        <p:nvSpPr>
          <p:cNvPr id="3" name="Content Placeholder 2"/>
          <p:cNvSpPr>
            <a:spLocks noGrp="1"/>
          </p:cNvSpPr>
          <p:nvPr>
            <p:ph idx="1"/>
          </p:nvPr>
        </p:nvSpPr>
        <p:spPr/>
        <p:txBody>
          <a:bodyPr/>
          <a:lstStyle/>
          <a:p>
            <a:r>
              <a:rPr lang="en-US" dirty="0" err="1">
                <a:uFillTx/>
              </a:rPr>
              <a:t>Bài</a:t>
            </a:r>
            <a:r>
              <a:rPr lang="en-US" dirty="0">
                <a:uFillTx/>
              </a:rPr>
              <a:t> 1. Tam </a:t>
            </a:r>
            <a:r>
              <a:rPr lang="en-US" dirty="0" err="1">
                <a:uFillTx/>
              </a:rPr>
              <a:t>giác</a:t>
            </a:r>
            <a:endParaRPr lang="en-US" dirty="0">
              <a:uFillTx/>
            </a:endParaRPr>
          </a:p>
          <a:p>
            <a:pPr lvl="1"/>
            <a:r>
              <a:rPr lang="en-US" dirty="0" err="1">
                <a:uFillTx/>
              </a:rPr>
              <a:t>Xây</a:t>
            </a:r>
            <a:r>
              <a:rPr lang="en-US" dirty="0">
                <a:uFillTx/>
              </a:rPr>
              <a:t> </a:t>
            </a:r>
            <a:r>
              <a:rPr lang="en-US" dirty="0" err="1">
                <a:uFillTx/>
              </a:rPr>
              <a:t>dựng</a:t>
            </a:r>
            <a:r>
              <a:rPr lang="en-US" dirty="0">
                <a:uFillTx/>
              </a:rPr>
              <a:t> </a:t>
            </a:r>
            <a:r>
              <a:rPr lang="en-US" dirty="0" err="1">
                <a:uFillTx/>
              </a:rPr>
              <a:t>lớp</a:t>
            </a:r>
            <a:r>
              <a:rPr lang="en-US" dirty="0">
                <a:uFillTx/>
              </a:rPr>
              <a:t> </a:t>
            </a:r>
            <a:r>
              <a:rPr lang="en-US" dirty="0" err="1">
                <a:uFillTx/>
              </a:rPr>
              <a:t>TamGiac</a:t>
            </a:r>
            <a:r>
              <a:rPr lang="en-US" dirty="0">
                <a:uFillTx/>
              </a:rPr>
              <a:t> </a:t>
            </a:r>
            <a:r>
              <a:rPr lang="en-US" dirty="0" err="1">
                <a:uFillTx/>
              </a:rPr>
              <a:t>gồm</a:t>
            </a:r>
            <a:r>
              <a:rPr lang="en-US" dirty="0">
                <a:uFillTx/>
              </a:rPr>
              <a:t>:</a:t>
            </a:r>
          </a:p>
          <a:p>
            <a:pPr lvl="2"/>
            <a:r>
              <a:rPr lang="en-US" dirty="0" err="1">
                <a:uFillTx/>
              </a:rPr>
              <a:t>Dữ</a:t>
            </a:r>
            <a:r>
              <a:rPr lang="en-US" dirty="0">
                <a:uFillTx/>
              </a:rPr>
              <a:t> </a:t>
            </a:r>
            <a:r>
              <a:rPr lang="en-US" dirty="0" err="1">
                <a:uFillTx/>
              </a:rPr>
              <a:t>liệu</a:t>
            </a:r>
            <a:r>
              <a:rPr lang="en-US" dirty="0">
                <a:uFillTx/>
              </a:rPr>
              <a:t>: </a:t>
            </a:r>
            <a:r>
              <a:rPr lang="en-US" dirty="0" err="1">
                <a:uFillTx/>
              </a:rPr>
              <a:t>Độ</a:t>
            </a:r>
            <a:r>
              <a:rPr lang="en-US" dirty="0">
                <a:uFillTx/>
              </a:rPr>
              <a:t> </a:t>
            </a:r>
            <a:r>
              <a:rPr lang="en-US" dirty="0" err="1">
                <a:uFillTx/>
              </a:rPr>
              <a:t>dài</a:t>
            </a:r>
            <a:r>
              <a:rPr lang="en-US" dirty="0">
                <a:uFillTx/>
              </a:rPr>
              <a:t> 3 </a:t>
            </a:r>
            <a:r>
              <a:rPr lang="en-US" dirty="0" err="1">
                <a:uFillTx/>
              </a:rPr>
              <a:t>cạnh</a:t>
            </a:r>
            <a:endParaRPr lang="en-US" dirty="0">
              <a:uFillTx/>
            </a:endParaRPr>
          </a:p>
          <a:p>
            <a:pPr lvl="2"/>
            <a:r>
              <a:rPr lang="en-US" dirty="0" err="1">
                <a:uFillTx/>
              </a:rPr>
              <a:t>Phương</a:t>
            </a:r>
            <a:r>
              <a:rPr lang="en-US" dirty="0">
                <a:uFillTx/>
              </a:rPr>
              <a:t> </a:t>
            </a:r>
            <a:r>
              <a:rPr lang="en-US" dirty="0" err="1">
                <a:uFillTx/>
              </a:rPr>
              <a:t>thức</a:t>
            </a:r>
            <a:r>
              <a:rPr lang="en-US" dirty="0">
                <a:uFillTx/>
              </a:rPr>
              <a:t>:</a:t>
            </a:r>
          </a:p>
          <a:p>
            <a:pPr lvl="3"/>
            <a:r>
              <a:rPr lang="en-US" dirty="0" err="1">
                <a:uFillTx/>
              </a:rPr>
              <a:t>Phương</a:t>
            </a:r>
            <a:r>
              <a:rPr lang="en-US" dirty="0">
                <a:uFillTx/>
              </a:rPr>
              <a:t> </a:t>
            </a:r>
            <a:r>
              <a:rPr lang="en-US" dirty="0" err="1">
                <a:uFillTx/>
              </a:rPr>
              <a:t>thức</a:t>
            </a:r>
            <a:r>
              <a:rPr lang="en-US" dirty="0">
                <a:uFillTx/>
              </a:rPr>
              <a:t> </a:t>
            </a:r>
            <a:r>
              <a:rPr lang="en-US" dirty="0" err="1">
                <a:uFillTx/>
              </a:rPr>
              <a:t>tạo</a:t>
            </a:r>
            <a:r>
              <a:rPr lang="en-US" dirty="0">
                <a:uFillTx/>
              </a:rPr>
              <a:t> </a:t>
            </a:r>
            <a:r>
              <a:rPr lang="en-US" dirty="0" err="1">
                <a:uFillTx/>
              </a:rPr>
              <a:t>không</a:t>
            </a:r>
            <a:r>
              <a:rPr lang="en-US" dirty="0">
                <a:uFillTx/>
              </a:rPr>
              <a:t> </a:t>
            </a:r>
            <a:r>
              <a:rPr lang="en-US" dirty="0" err="1">
                <a:uFillTx/>
              </a:rPr>
              <a:t>và</a:t>
            </a:r>
            <a:r>
              <a:rPr lang="en-US" dirty="0">
                <a:uFillTx/>
              </a:rPr>
              <a:t> 3 </a:t>
            </a:r>
            <a:r>
              <a:rPr lang="en-US" dirty="0" err="1">
                <a:uFillTx/>
              </a:rPr>
              <a:t>tham</a:t>
            </a:r>
            <a:r>
              <a:rPr lang="en-US" dirty="0">
                <a:uFillTx/>
              </a:rPr>
              <a:t> </a:t>
            </a:r>
            <a:r>
              <a:rPr lang="en-US" dirty="0" err="1">
                <a:uFillTx/>
              </a:rPr>
              <a:t>số</a:t>
            </a:r>
            <a:endParaRPr lang="en-US" dirty="0">
              <a:uFillTx/>
            </a:endParaRPr>
          </a:p>
          <a:p>
            <a:pPr lvl="3"/>
            <a:r>
              <a:rPr lang="en-US" dirty="0" err="1">
                <a:uFillTx/>
              </a:rPr>
              <a:t>Phương</a:t>
            </a:r>
            <a:r>
              <a:rPr lang="en-US" dirty="0">
                <a:uFillTx/>
              </a:rPr>
              <a:t> </a:t>
            </a:r>
            <a:r>
              <a:rPr lang="en-US" dirty="0" err="1">
                <a:uFillTx/>
              </a:rPr>
              <a:t>thức</a:t>
            </a:r>
            <a:r>
              <a:rPr lang="en-US" dirty="0">
                <a:uFillTx/>
              </a:rPr>
              <a:t> </a:t>
            </a:r>
            <a:r>
              <a:rPr lang="en-US" dirty="0" err="1">
                <a:uFillTx/>
              </a:rPr>
              <a:t>nhập</a:t>
            </a:r>
            <a:endParaRPr lang="en-US" dirty="0">
              <a:uFillTx/>
            </a:endParaRPr>
          </a:p>
          <a:p>
            <a:pPr lvl="3"/>
            <a:r>
              <a:rPr lang="en-US" dirty="0" err="1">
                <a:uFillTx/>
              </a:rPr>
              <a:t>Phương</a:t>
            </a:r>
            <a:r>
              <a:rPr lang="en-US" dirty="0">
                <a:uFillTx/>
              </a:rPr>
              <a:t> </a:t>
            </a:r>
            <a:r>
              <a:rPr lang="en-US" dirty="0" err="1">
                <a:uFillTx/>
              </a:rPr>
              <a:t>thức</a:t>
            </a:r>
            <a:r>
              <a:rPr lang="en-US" dirty="0">
                <a:uFillTx/>
              </a:rPr>
              <a:t> </a:t>
            </a:r>
            <a:r>
              <a:rPr lang="en-US" dirty="0" err="1">
                <a:uFillTx/>
              </a:rPr>
              <a:t>hiện</a:t>
            </a:r>
            <a:endParaRPr lang="en-US" dirty="0">
              <a:uFillTx/>
            </a:endParaRPr>
          </a:p>
          <a:p>
            <a:pPr lvl="3"/>
            <a:r>
              <a:rPr lang="en-US" dirty="0" err="1">
                <a:uFillTx/>
              </a:rPr>
              <a:t>Phương</a:t>
            </a:r>
            <a:r>
              <a:rPr lang="en-US" dirty="0">
                <a:uFillTx/>
              </a:rPr>
              <a:t> </a:t>
            </a:r>
            <a:r>
              <a:rPr lang="en-US" dirty="0" err="1">
                <a:uFillTx/>
              </a:rPr>
              <a:t>thức</a:t>
            </a:r>
            <a:r>
              <a:rPr lang="en-US" dirty="0">
                <a:uFillTx/>
              </a:rPr>
              <a:t> </a:t>
            </a:r>
            <a:r>
              <a:rPr lang="en-US" dirty="0" err="1">
                <a:uFillTx/>
              </a:rPr>
              <a:t>tính</a:t>
            </a:r>
            <a:r>
              <a:rPr lang="en-US" dirty="0">
                <a:uFillTx/>
              </a:rPr>
              <a:t> </a:t>
            </a:r>
            <a:r>
              <a:rPr lang="en-US" dirty="0" err="1">
                <a:uFillTx/>
              </a:rPr>
              <a:t>diện</a:t>
            </a:r>
            <a:r>
              <a:rPr lang="en-US" dirty="0">
                <a:uFillTx/>
              </a:rPr>
              <a:t> </a:t>
            </a:r>
            <a:r>
              <a:rPr lang="en-US" dirty="0" err="1">
                <a:uFillTx/>
              </a:rPr>
              <a:t>tích</a:t>
            </a:r>
            <a:endParaRPr lang="en-US" dirty="0">
              <a:uFillTx/>
            </a:endParaRPr>
          </a:p>
          <a:p>
            <a:pPr lvl="1"/>
            <a:r>
              <a:rPr lang="en-US" dirty="0" err="1">
                <a:uFillTx/>
              </a:rPr>
              <a:t>Xây</a:t>
            </a:r>
            <a:r>
              <a:rPr lang="en-US" dirty="0">
                <a:uFillTx/>
              </a:rPr>
              <a:t> </a:t>
            </a:r>
            <a:r>
              <a:rPr lang="en-US" dirty="0" err="1">
                <a:uFillTx/>
              </a:rPr>
              <a:t>dựng</a:t>
            </a:r>
            <a:r>
              <a:rPr lang="en-US" dirty="0">
                <a:uFillTx/>
              </a:rPr>
              <a:t> </a:t>
            </a:r>
            <a:r>
              <a:rPr lang="en-US" dirty="0" err="1">
                <a:uFillTx/>
              </a:rPr>
              <a:t>lớp</a:t>
            </a:r>
            <a:r>
              <a:rPr lang="en-US" dirty="0">
                <a:uFillTx/>
              </a:rPr>
              <a:t> </a:t>
            </a:r>
            <a:r>
              <a:rPr lang="en-US" dirty="0" err="1">
                <a:uFillTx/>
              </a:rPr>
              <a:t>TuDien</a:t>
            </a:r>
            <a:r>
              <a:rPr lang="en-US" dirty="0">
                <a:uFillTx/>
              </a:rPr>
              <a:t> </a:t>
            </a:r>
            <a:r>
              <a:rPr lang="en-US" dirty="0" err="1">
                <a:uFillTx/>
              </a:rPr>
              <a:t>kế</a:t>
            </a:r>
            <a:r>
              <a:rPr lang="en-US" dirty="0">
                <a:uFillTx/>
              </a:rPr>
              <a:t> </a:t>
            </a:r>
            <a:r>
              <a:rPr lang="en-US" dirty="0" err="1">
                <a:uFillTx/>
              </a:rPr>
              <a:t>thừa</a:t>
            </a:r>
            <a:r>
              <a:rPr lang="en-US" dirty="0">
                <a:uFillTx/>
              </a:rPr>
              <a:t> </a:t>
            </a:r>
            <a:r>
              <a:rPr lang="en-US" dirty="0" err="1">
                <a:uFillTx/>
              </a:rPr>
              <a:t>từ</a:t>
            </a:r>
            <a:r>
              <a:rPr lang="en-US" dirty="0">
                <a:uFillTx/>
              </a:rPr>
              <a:t> </a:t>
            </a:r>
            <a:r>
              <a:rPr lang="en-US" dirty="0" err="1">
                <a:uFillTx/>
              </a:rPr>
              <a:t>lớp</a:t>
            </a:r>
            <a:r>
              <a:rPr lang="en-US" dirty="0">
                <a:uFillTx/>
              </a:rPr>
              <a:t> </a:t>
            </a:r>
            <a:r>
              <a:rPr lang="en-US" dirty="0" err="1">
                <a:uFillTx/>
              </a:rPr>
              <a:t>TamGiac</a:t>
            </a:r>
            <a:endParaRPr lang="en-US" dirty="0">
              <a:uFillTx/>
            </a:endParaRPr>
          </a:p>
          <a:p>
            <a:pPr lvl="2"/>
            <a:r>
              <a:rPr lang="en-US" dirty="0" err="1">
                <a:uFillTx/>
              </a:rPr>
              <a:t>Bổ</a:t>
            </a:r>
            <a:r>
              <a:rPr lang="en-US" dirty="0">
                <a:uFillTx/>
              </a:rPr>
              <a:t> sung </a:t>
            </a:r>
            <a:r>
              <a:rPr lang="en-US" dirty="0" err="1">
                <a:uFillTx/>
              </a:rPr>
              <a:t>dữ</a:t>
            </a:r>
            <a:r>
              <a:rPr lang="en-US" dirty="0">
                <a:uFillTx/>
              </a:rPr>
              <a:t> </a:t>
            </a:r>
            <a:r>
              <a:rPr lang="en-US" dirty="0" err="1">
                <a:uFillTx/>
              </a:rPr>
              <a:t>liệu</a:t>
            </a:r>
            <a:r>
              <a:rPr lang="en-US" dirty="0">
                <a:uFillTx/>
              </a:rPr>
              <a:t>: </a:t>
            </a:r>
            <a:r>
              <a:rPr lang="en-US" dirty="0" err="1">
                <a:uFillTx/>
              </a:rPr>
              <a:t>chiều</a:t>
            </a:r>
            <a:r>
              <a:rPr lang="en-US" dirty="0">
                <a:uFillTx/>
              </a:rPr>
              <a:t> </a:t>
            </a:r>
            <a:r>
              <a:rPr lang="en-US" dirty="0" err="1">
                <a:uFillTx/>
              </a:rPr>
              <a:t>cao</a:t>
            </a:r>
            <a:endParaRPr lang="en-US" dirty="0">
              <a:uFillTx/>
            </a:endParaRPr>
          </a:p>
          <a:p>
            <a:pPr lvl="2"/>
            <a:r>
              <a:rPr lang="en-US" dirty="0" err="1">
                <a:uFillTx/>
              </a:rPr>
              <a:t>Điều</a:t>
            </a:r>
            <a:r>
              <a:rPr lang="en-US" dirty="0">
                <a:uFillTx/>
              </a:rPr>
              <a:t> </a:t>
            </a:r>
            <a:r>
              <a:rPr lang="en-US" dirty="0" err="1">
                <a:uFillTx/>
              </a:rPr>
              <a:t>chỉnh</a:t>
            </a:r>
            <a:r>
              <a:rPr lang="en-US" dirty="0">
                <a:uFillTx/>
              </a:rPr>
              <a:t> </a:t>
            </a:r>
            <a:r>
              <a:rPr lang="en-US" dirty="0" err="1">
                <a:uFillTx/>
              </a:rPr>
              <a:t>lại</a:t>
            </a:r>
            <a:r>
              <a:rPr lang="en-US" dirty="0">
                <a:uFillTx/>
              </a:rPr>
              <a:t> </a:t>
            </a:r>
            <a:r>
              <a:rPr lang="en-US" dirty="0" err="1">
                <a:uFillTx/>
              </a:rPr>
              <a:t>các</a:t>
            </a:r>
            <a:r>
              <a:rPr lang="en-US" dirty="0">
                <a:uFillTx/>
              </a:rPr>
              <a:t> </a:t>
            </a:r>
            <a:r>
              <a:rPr lang="en-US" dirty="0" err="1">
                <a:uFillTx/>
              </a:rPr>
              <a:t>phương</a:t>
            </a:r>
            <a:r>
              <a:rPr lang="en-US" dirty="0">
                <a:uFillTx/>
              </a:rPr>
              <a:t> </a:t>
            </a:r>
            <a:r>
              <a:rPr lang="en-US" dirty="0" err="1">
                <a:uFillTx/>
              </a:rPr>
              <a:t>thức</a:t>
            </a:r>
            <a:r>
              <a:rPr lang="en-US" dirty="0">
                <a:uFillTx/>
              </a:rPr>
              <a:t> </a:t>
            </a:r>
            <a:r>
              <a:rPr lang="en-US" dirty="0" err="1">
                <a:uFillTx/>
              </a:rPr>
              <a:t>nhập</a:t>
            </a:r>
            <a:r>
              <a:rPr lang="en-US" dirty="0">
                <a:uFillTx/>
              </a:rPr>
              <a:t>, </a:t>
            </a:r>
            <a:r>
              <a:rPr lang="en-US" dirty="0" err="1">
                <a:uFillTx/>
              </a:rPr>
              <a:t>hiện</a:t>
            </a:r>
            <a:endParaRPr lang="en-US" dirty="0">
              <a:uFillTx/>
            </a:endParaRPr>
          </a:p>
          <a:p>
            <a:pPr lvl="2"/>
            <a:r>
              <a:rPr lang="en-US" dirty="0" err="1">
                <a:uFillTx/>
              </a:rPr>
              <a:t>Bổ</a:t>
            </a:r>
            <a:r>
              <a:rPr lang="en-US" dirty="0">
                <a:uFillTx/>
              </a:rPr>
              <a:t> sung </a:t>
            </a:r>
            <a:r>
              <a:rPr lang="en-US" dirty="0" err="1">
                <a:uFillTx/>
              </a:rPr>
              <a:t>thêm</a:t>
            </a:r>
            <a:r>
              <a:rPr lang="en-US" dirty="0">
                <a:uFillTx/>
              </a:rPr>
              <a:t> </a:t>
            </a:r>
            <a:r>
              <a:rPr lang="en-US" dirty="0" err="1">
                <a:uFillTx/>
              </a:rPr>
              <a:t>phương</a:t>
            </a:r>
            <a:r>
              <a:rPr lang="en-US" dirty="0">
                <a:uFillTx/>
              </a:rPr>
              <a:t> </a:t>
            </a:r>
            <a:r>
              <a:rPr lang="en-US" dirty="0" err="1">
                <a:uFillTx/>
              </a:rPr>
              <a:t>thức</a:t>
            </a:r>
            <a:r>
              <a:rPr lang="en-US" dirty="0">
                <a:uFillTx/>
              </a:rPr>
              <a:t> </a:t>
            </a:r>
            <a:r>
              <a:rPr lang="en-US" dirty="0" err="1">
                <a:uFillTx/>
              </a:rPr>
              <a:t>tính</a:t>
            </a:r>
            <a:r>
              <a:rPr lang="en-US" dirty="0">
                <a:uFillTx/>
              </a:rPr>
              <a:t> </a:t>
            </a:r>
            <a:r>
              <a:rPr lang="en-US" dirty="0" err="1">
                <a:uFillTx/>
              </a:rPr>
              <a:t>thể</a:t>
            </a:r>
            <a:r>
              <a:rPr lang="en-US" dirty="0">
                <a:uFillTx/>
              </a:rPr>
              <a:t> </a:t>
            </a:r>
            <a:r>
              <a:rPr lang="en-US" dirty="0" err="1">
                <a:uFillTx/>
              </a:rPr>
              <a:t>tích</a:t>
            </a:r>
            <a:endParaRPr lang="en-US" dirty="0">
              <a:uFillTx/>
            </a:endParaRPr>
          </a:p>
          <a:p>
            <a:pPr marL="909637" lvl="2" indent="0">
              <a:buNone/>
            </a:pPr>
            <a:r>
              <a:rPr lang="en-US" dirty="0">
                <a:uFillTx/>
              </a:rPr>
              <a:t>(</a:t>
            </a:r>
            <a:r>
              <a:rPr lang="en-US" dirty="0" err="1">
                <a:uFillTx/>
              </a:rPr>
              <a:t>Công</a:t>
            </a:r>
            <a:r>
              <a:rPr lang="en-US" dirty="0">
                <a:uFillTx/>
              </a:rPr>
              <a:t> </a:t>
            </a:r>
            <a:r>
              <a:rPr lang="en-US" dirty="0" err="1">
                <a:uFillTx/>
              </a:rPr>
              <a:t>thức</a:t>
            </a:r>
            <a:r>
              <a:rPr lang="en-US" dirty="0">
                <a:uFillTx/>
              </a:rPr>
              <a:t>: V</a:t>
            </a:r>
            <a:r>
              <a:rPr lang="en-US">
                <a:uFillTx/>
              </a:rPr>
              <a:t>= 1/3*h </a:t>
            </a:r>
            <a:r>
              <a:rPr lang="en-US" dirty="0">
                <a:uFillTx/>
              </a:rPr>
              <a:t>* S, S là </a:t>
            </a:r>
            <a:r>
              <a:rPr lang="en-US" dirty="0" err="1">
                <a:uFillTx/>
              </a:rPr>
              <a:t>diện</a:t>
            </a:r>
            <a:r>
              <a:rPr lang="en-US" dirty="0">
                <a:uFillTx/>
              </a:rPr>
              <a:t> </a:t>
            </a:r>
            <a:r>
              <a:rPr lang="en-US" dirty="0" err="1">
                <a:uFillTx/>
              </a:rPr>
              <a:t>tích</a:t>
            </a:r>
            <a:r>
              <a:rPr lang="en-US" dirty="0">
                <a:uFillTx/>
              </a:rPr>
              <a:t> </a:t>
            </a:r>
            <a:r>
              <a:rPr lang="en-US" dirty="0" err="1">
                <a:uFillTx/>
              </a:rPr>
              <a:t>đáy</a:t>
            </a:r>
            <a:r>
              <a:rPr lang="en-US" dirty="0">
                <a:uFillTx/>
              </a:rPr>
              <a:t> </a:t>
            </a:r>
            <a:r>
              <a:rPr lang="en-US" dirty="0" err="1">
                <a:uFillTx/>
              </a:rPr>
              <a:t>tứ</a:t>
            </a:r>
            <a:r>
              <a:rPr lang="en-US" dirty="0">
                <a:uFillTx/>
              </a:rPr>
              <a:t> </a:t>
            </a:r>
            <a:r>
              <a:rPr lang="en-US" dirty="0" err="1">
                <a:uFillTx/>
              </a:rPr>
              <a:t>diện</a:t>
            </a:r>
            <a:r>
              <a:rPr lang="en-US" dirty="0">
                <a:uFillTx/>
              </a:rPr>
              <a:t> (tam </a:t>
            </a:r>
            <a:r>
              <a:rPr lang="en-US" dirty="0" err="1">
                <a:uFillTx/>
              </a:rPr>
              <a:t>giác</a:t>
            </a:r>
            <a:r>
              <a:rPr lang="en-US" dirty="0">
                <a:uFillTx/>
              </a:rPr>
              <a:t>)</a:t>
            </a:r>
          </a:p>
          <a:p>
            <a:pPr lvl="3"/>
            <a:endParaRPr lang="en-US" dirty="0">
              <a:uFillTx/>
            </a:endParaRPr>
          </a:p>
          <a:p>
            <a:pPr marL="0" indent="0">
              <a:buNone/>
            </a:pPr>
            <a:endParaRPr lang="en-US" dirty="0">
              <a:uFillTx/>
            </a:endParaRPr>
          </a:p>
        </p:txBody>
      </p:sp>
      <p:sp>
        <p:nvSpPr>
          <p:cNvPr id="4" name="Date Placeholder 3"/>
          <p:cNvSpPr>
            <a:spLocks noGrp="1"/>
          </p:cNvSpPr>
          <p:nvPr>
            <p:ph type="dt" sz="half" idx="10"/>
          </p:nvPr>
        </p:nvSpPr>
        <p:spPr/>
        <p:txBody>
          <a:bodyPr/>
          <a:lstStyle/>
          <a:p>
            <a:fld id="{794DE8FA-6C09-4119-B531-A674AB49FE51}" type="datetime1">
              <a:rPr lang="vi-VN" smtClean="0">
                <a:uFillTx/>
              </a:rPr>
              <a:t>08/02/2025</a:t>
            </a:fld>
            <a:endParaRPr lang="vi-VN">
              <a:uFillTx/>
            </a:endParaRPr>
          </a:p>
        </p:txBody>
      </p:sp>
      <p:sp>
        <p:nvSpPr>
          <p:cNvPr id="5" name="Footer Placeholder 4"/>
          <p:cNvSpPr>
            <a:spLocks noGrp="1"/>
          </p:cNvSpPr>
          <p:nvPr>
            <p:ph type="ftr" sz="quarter" idx="11"/>
          </p:nvPr>
        </p:nvSpPr>
        <p:spPr/>
        <p:txBody>
          <a:bodyPr/>
          <a:lstStyle/>
          <a:p>
            <a:r>
              <a:rPr lang="vi-VN">
                <a:uFillTx/>
              </a:rPr>
              <a:t>Chương 3. Lập trình hướng đối tượng trong C#</a:t>
            </a:r>
          </a:p>
        </p:txBody>
      </p:sp>
      <p:sp>
        <p:nvSpPr>
          <p:cNvPr id="6" name="Slide Number Placeholder 5"/>
          <p:cNvSpPr>
            <a:spLocks noGrp="1"/>
          </p:cNvSpPr>
          <p:nvPr>
            <p:ph type="sldNum" sz="quarter" idx="12"/>
          </p:nvPr>
        </p:nvSpPr>
        <p:spPr/>
        <p:txBody>
          <a:bodyPr/>
          <a:lstStyle/>
          <a:p>
            <a:fld id="{5AB95402-1E0D-474E-8D8C-CBE7F053639E}" type="slidenum">
              <a:rPr lang="vi-VN" smtClean="0">
                <a:uFillTx/>
              </a:rPr>
              <a:pPr/>
              <a:t>35</a:t>
            </a:fld>
            <a:r>
              <a:rPr lang="vi-VN">
                <a:uFillTx/>
              </a:rPr>
              <a:t>/28</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uFillTx/>
              </a:rPr>
              <a:t>Bài tập về nhà</a:t>
            </a:r>
          </a:p>
        </p:txBody>
      </p:sp>
      <p:sp>
        <p:nvSpPr>
          <p:cNvPr id="3" name="Content Placeholder 2"/>
          <p:cNvSpPr>
            <a:spLocks noGrp="1"/>
          </p:cNvSpPr>
          <p:nvPr>
            <p:ph idx="1"/>
          </p:nvPr>
        </p:nvSpPr>
        <p:spPr/>
        <p:txBody>
          <a:bodyPr/>
          <a:lstStyle/>
          <a:p>
            <a:r>
              <a:rPr lang="en-US" dirty="0" err="1">
                <a:uFillTx/>
              </a:rPr>
              <a:t>Bài</a:t>
            </a:r>
            <a:r>
              <a:rPr lang="en-US" dirty="0">
                <a:uFillTx/>
              </a:rPr>
              <a:t> 2. </a:t>
            </a:r>
            <a:r>
              <a:rPr lang="en-US" dirty="0" err="1">
                <a:uFillTx/>
              </a:rPr>
              <a:t>Tiền</a:t>
            </a:r>
            <a:r>
              <a:rPr lang="en-US" dirty="0">
                <a:uFillTx/>
              </a:rPr>
              <a:t> </a:t>
            </a:r>
            <a:r>
              <a:rPr lang="en-US" dirty="0" err="1">
                <a:uFillTx/>
              </a:rPr>
              <a:t>điện</a:t>
            </a:r>
            <a:endParaRPr lang="en-US" dirty="0">
              <a:uFillTx/>
            </a:endParaRPr>
          </a:p>
          <a:p>
            <a:pPr lvl="1"/>
            <a:r>
              <a:rPr lang="en-US" dirty="0" err="1">
                <a:uFillTx/>
              </a:rPr>
              <a:t>Xây</a:t>
            </a:r>
            <a:r>
              <a:rPr lang="en-US" dirty="0">
                <a:uFillTx/>
              </a:rPr>
              <a:t> </a:t>
            </a:r>
            <a:r>
              <a:rPr lang="en-US" dirty="0" err="1">
                <a:uFillTx/>
              </a:rPr>
              <a:t>dựng</a:t>
            </a:r>
            <a:r>
              <a:rPr lang="en-US" dirty="0">
                <a:uFillTx/>
              </a:rPr>
              <a:t> </a:t>
            </a:r>
            <a:r>
              <a:rPr lang="en-US" dirty="0" err="1">
                <a:uFillTx/>
              </a:rPr>
              <a:t>lớp</a:t>
            </a:r>
            <a:r>
              <a:rPr lang="en-US" dirty="0">
                <a:uFillTx/>
              </a:rPr>
              <a:t> </a:t>
            </a:r>
            <a:r>
              <a:rPr lang="en-US" dirty="0" err="1">
                <a:uFillTx/>
              </a:rPr>
              <a:t>TienDien</a:t>
            </a:r>
            <a:endParaRPr lang="en-US" dirty="0">
              <a:uFillTx/>
            </a:endParaRPr>
          </a:p>
          <a:p>
            <a:pPr lvl="2"/>
            <a:r>
              <a:rPr lang="en-US" dirty="0" err="1">
                <a:uFillTx/>
              </a:rPr>
              <a:t>Dữ</a:t>
            </a:r>
            <a:r>
              <a:rPr lang="en-US" dirty="0">
                <a:uFillTx/>
              </a:rPr>
              <a:t> </a:t>
            </a:r>
            <a:r>
              <a:rPr lang="en-US" dirty="0" err="1">
                <a:uFillTx/>
              </a:rPr>
              <a:t>liệu</a:t>
            </a:r>
            <a:r>
              <a:rPr lang="en-US" dirty="0">
                <a:uFillTx/>
              </a:rPr>
              <a:t>:</a:t>
            </a:r>
          </a:p>
          <a:p>
            <a:pPr lvl="3"/>
            <a:r>
              <a:rPr lang="en-US" dirty="0" err="1">
                <a:uFillTx/>
              </a:rPr>
              <a:t>Họ</a:t>
            </a:r>
            <a:r>
              <a:rPr lang="en-US" dirty="0">
                <a:uFillTx/>
              </a:rPr>
              <a:t> </a:t>
            </a:r>
            <a:r>
              <a:rPr lang="en-US" dirty="0" err="1">
                <a:uFillTx/>
              </a:rPr>
              <a:t>tên</a:t>
            </a:r>
            <a:r>
              <a:rPr lang="en-US" dirty="0">
                <a:uFillTx/>
              </a:rPr>
              <a:t> </a:t>
            </a:r>
            <a:r>
              <a:rPr lang="en-US" dirty="0" err="1">
                <a:uFillTx/>
              </a:rPr>
              <a:t>chủ</a:t>
            </a:r>
            <a:r>
              <a:rPr lang="en-US" dirty="0">
                <a:uFillTx/>
              </a:rPr>
              <a:t> </a:t>
            </a:r>
            <a:r>
              <a:rPr lang="en-US" dirty="0" err="1">
                <a:uFillTx/>
              </a:rPr>
              <a:t>hộ</a:t>
            </a:r>
            <a:endParaRPr lang="en-US" dirty="0">
              <a:uFillTx/>
            </a:endParaRPr>
          </a:p>
          <a:p>
            <a:pPr lvl="3"/>
            <a:r>
              <a:rPr lang="en-US" dirty="0" err="1">
                <a:uFillTx/>
              </a:rPr>
              <a:t>Địa</a:t>
            </a:r>
            <a:r>
              <a:rPr lang="en-US" dirty="0">
                <a:uFillTx/>
              </a:rPr>
              <a:t> </a:t>
            </a:r>
            <a:r>
              <a:rPr lang="en-US" dirty="0" err="1">
                <a:uFillTx/>
              </a:rPr>
              <a:t>chỉ</a:t>
            </a:r>
            <a:endParaRPr lang="en-US" dirty="0">
              <a:uFillTx/>
            </a:endParaRPr>
          </a:p>
          <a:p>
            <a:pPr lvl="3"/>
            <a:r>
              <a:rPr lang="en-US" dirty="0" err="1">
                <a:uFillTx/>
              </a:rPr>
              <a:t>Số</a:t>
            </a:r>
            <a:r>
              <a:rPr lang="en-US" dirty="0">
                <a:uFillTx/>
              </a:rPr>
              <a:t> </a:t>
            </a:r>
            <a:r>
              <a:rPr lang="en-US" dirty="0" err="1">
                <a:uFillTx/>
              </a:rPr>
              <a:t>công</a:t>
            </a:r>
            <a:r>
              <a:rPr lang="en-US" dirty="0">
                <a:uFillTx/>
              </a:rPr>
              <a:t> </a:t>
            </a:r>
            <a:r>
              <a:rPr lang="en-US" dirty="0" err="1">
                <a:uFillTx/>
              </a:rPr>
              <a:t>tơ</a:t>
            </a:r>
            <a:r>
              <a:rPr lang="en-US" dirty="0">
                <a:uFillTx/>
              </a:rPr>
              <a:t> </a:t>
            </a:r>
            <a:r>
              <a:rPr lang="en-US" dirty="0" err="1">
                <a:uFillTx/>
              </a:rPr>
              <a:t>tháng</a:t>
            </a:r>
            <a:r>
              <a:rPr lang="en-US" dirty="0">
                <a:uFillTx/>
              </a:rPr>
              <a:t> </a:t>
            </a:r>
            <a:r>
              <a:rPr lang="en-US" dirty="0" err="1">
                <a:uFillTx/>
              </a:rPr>
              <a:t>trước</a:t>
            </a:r>
            <a:endParaRPr lang="en-US" dirty="0">
              <a:uFillTx/>
            </a:endParaRPr>
          </a:p>
          <a:p>
            <a:pPr lvl="3"/>
            <a:r>
              <a:rPr lang="en-US" dirty="0" err="1">
                <a:uFillTx/>
              </a:rPr>
              <a:t>Số</a:t>
            </a:r>
            <a:r>
              <a:rPr lang="en-US" dirty="0">
                <a:uFillTx/>
              </a:rPr>
              <a:t> </a:t>
            </a:r>
            <a:r>
              <a:rPr lang="en-US" dirty="0" err="1">
                <a:uFillTx/>
              </a:rPr>
              <a:t>công</a:t>
            </a:r>
            <a:r>
              <a:rPr lang="en-US" dirty="0">
                <a:uFillTx/>
              </a:rPr>
              <a:t> </a:t>
            </a:r>
            <a:r>
              <a:rPr lang="en-US" dirty="0" err="1">
                <a:uFillTx/>
              </a:rPr>
              <a:t>tơ</a:t>
            </a:r>
            <a:r>
              <a:rPr lang="en-US" dirty="0">
                <a:uFillTx/>
              </a:rPr>
              <a:t> </a:t>
            </a:r>
            <a:r>
              <a:rPr lang="en-US" dirty="0" err="1">
                <a:uFillTx/>
              </a:rPr>
              <a:t>tháng</a:t>
            </a:r>
            <a:r>
              <a:rPr lang="en-US" dirty="0">
                <a:uFillTx/>
              </a:rPr>
              <a:t> này</a:t>
            </a:r>
          </a:p>
          <a:p>
            <a:pPr lvl="2"/>
            <a:r>
              <a:rPr lang="en-US" dirty="0" err="1">
                <a:uFillTx/>
              </a:rPr>
              <a:t>Phương</a:t>
            </a:r>
            <a:r>
              <a:rPr lang="en-US" dirty="0">
                <a:uFillTx/>
              </a:rPr>
              <a:t> </a:t>
            </a:r>
            <a:r>
              <a:rPr lang="en-US" dirty="0" err="1">
                <a:uFillTx/>
              </a:rPr>
              <a:t>thức</a:t>
            </a:r>
            <a:endParaRPr lang="en-US" dirty="0">
              <a:uFillTx/>
            </a:endParaRPr>
          </a:p>
          <a:p>
            <a:pPr lvl="3"/>
            <a:r>
              <a:rPr lang="en-US" dirty="0" err="1">
                <a:uFillTx/>
              </a:rPr>
              <a:t>Phương</a:t>
            </a:r>
            <a:r>
              <a:rPr lang="en-US" dirty="0">
                <a:uFillTx/>
              </a:rPr>
              <a:t> </a:t>
            </a:r>
            <a:r>
              <a:rPr lang="en-US" dirty="0" err="1">
                <a:uFillTx/>
              </a:rPr>
              <a:t>thức</a:t>
            </a:r>
            <a:r>
              <a:rPr lang="en-US" dirty="0">
                <a:uFillTx/>
              </a:rPr>
              <a:t>  </a:t>
            </a:r>
            <a:r>
              <a:rPr lang="en-US" dirty="0" err="1">
                <a:uFillTx/>
              </a:rPr>
              <a:t>tạo</a:t>
            </a:r>
            <a:r>
              <a:rPr lang="en-US" dirty="0">
                <a:uFillTx/>
              </a:rPr>
              <a:t> </a:t>
            </a:r>
            <a:r>
              <a:rPr lang="en-US" dirty="0" err="1">
                <a:uFillTx/>
              </a:rPr>
              <a:t>không</a:t>
            </a:r>
            <a:r>
              <a:rPr lang="en-US" dirty="0">
                <a:uFillTx/>
              </a:rPr>
              <a:t> </a:t>
            </a:r>
            <a:r>
              <a:rPr lang="en-US" dirty="0" err="1">
                <a:uFillTx/>
              </a:rPr>
              <a:t>và</a:t>
            </a:r>
            <a:r>
              <a:rPr lang="en-US" dirty="0">
                <a:uFillTx/>
              </a:rPr>
              <a:t> 4 </a:t>
            </a:r>
            <a:r>
              <a:rPr lang="en-US" dirty="0" err="1">
                <a:uFillTx/>
              </a:rPr>
              <a:t>tham</a:t>
            </a:r>
            <a:r>
              <a:rPr lang="en-US" dirty="0">
                <a:uFillTx/>
              </a:rPr>
              <a:t> </a:t>
            </a:r>
            <a:r>
              <a:rPr lang="en-US" dirty="0" err="1">
                <a:uFillTx/>
              </a:rPr>
              <a:t>số</a:t>
            </a:r>
            <a:endParaRPr lang="en-US" dirty="0">
              <a:uFillTx/>
            </a:endParaRPr>
          </a:p>
          <a:p>
            <a:pPr lvl="3"/>
            <a:r>
              <a:rPr lang="en-US" dirty="0" err="1">
                <a:uFillTx/>
              </a:rPr>
              <a:t>Phương</a:t>
            </a:r>
            <a:r>
              <a:rPr lang="en-US" dirty="0">
                <a:uFillTx/>
              </a:rPr>
              <a:t> </a:t>
            </a:r>
            <a:r>
              <a:rPr lang="en-US" dirty="0" err="1">
                <a:uFillTx/>
              </a:rPr>
              <a:t>thức</a:t>
            </a:r>
            <a:r>
              <a:rPr lang="en-US" dirty="0">
                <a:uFillTx/>
              </a:rPr>
              <a:t> </a:t>
            </a:r>
            <a:r>
              <a:rPr lang="en-US" dirty="0" err="1">
                <a:uFillTx/>
              </a:rPr>
              <a:t>nhập</a:t>
            </a:r>
            <a:endParaRPr lang="en-US" dirty="0">
              <a:uFillTx/>
            </a:endParaRPr>
          </a:p>
          <a:p>
            <a:pPr lvl="3"/>
            <a:r>
              <a:rPr lang="en-US" dirty="0" err="1">
                <a:uFillTx/>
              </a:rPr>
              <a:t>Phương</a:t>
            </a:r>
            <a:r>
              <a:rPr lang="en-US" dirty="0">
                <a:uFillTx/>
              </a:rPr>
              <a:t> </a:t>
            </a:r>
            <a:r>
              <a:rPr lang="en-US" dirty="0" err="1">
                <a:uFillTx/>
              </a:rPr>
              <a:t>thức</a:t>
            </a:r>
            <a:r>
              <a:rPr lang="en-US" dirty="0">
                <a:uFillTx/>
              </a:rPr>
              <a:t> </a:t>
            </a:r>
            <a:r>
              <a:rPr lang="en-US" dirty="0" err="1">
                <a:uFillTx/>
              </a:rPr>
              <a:t>hiện</a:t>
            </a:r>
            <a:endParaRPr lang="en-US" dirty="0">
              <a:uFillTx/>
            </a:endParaRPr>
          </a:p>
          <a:p>
            <a:pPr lvl="3"/>
            <a:r>
              <a:rPr lang="en-US" dirty="0" err="1">
                <a:uFillTx/>
              </a:rPr>
              <a:t>Thuộc</a:t>
            </a:r>
            <a:r>
              <a:rPr lang="en-US" dirty="0">
                <a:uFillTx/>
              </a:rPr>
              <a:t> </a:t>
            </a:r>
            <a:r>
              <a:rPr lang="en-US" dirty="0" err="1">
                <a:uFillTx/>
              </a:rPr>
              <a:t>tính</a:t>
            </a:r>
            <a:r>
              <a:rPr lang="en-US" dirty="0">
                <a:uFillTx/>
              </a:rPr>
              <a:t> (property) </a:t>
            </a:r>
            <a:r>
              <a:rPr lang="en-US" dirty="0" err="1">
                <a:uFillTx/>
              </a:rPr>
              <a:t>số</a:t>
            </a:r>
            <a:r>
              <a:rPr lang="en-US" dirty="0">
                <a:uFillTx/>
              </a:rPr>
              <a:t> </a:t>
            </a:r>
            <a:r>
              <a:rPr lang="en-US" dirty="0" err="1">
                <a:uFillTx/>
              </a:rPr>
              <a:t>công</a:t>
            </a:r>
            <a:r>
              <a:rPr lang="en-US" dirty="0">
                <a:uFillTx/>
              </a:rPr>
              <a:t> </a:t>
            </a:r>
            <a:r>
              <a:rPr lang="en-US" dirty="0" err="1">
                <a:uFillTx/>
              </a:rPr>
              <a:t>tơ</a:t>
            </a:r>
            <a:r>
              <a:rPr lang="en-US" dirty="0">
                <a:uFillTx/>
              </a:rPr>
              <a:t> </a:t>
            </a:r>
            <a:r>
              <a:rPr lang="en-US" dirty="0" err="1">
                <a:uFillTx/>
              </a:rPr>
              <a:t>đã</a:t>
            </a:r>
            <a:r>
              <a:rPr lang="en-US" dirty="0">
                <a:uFillTx/>
              </a:rPr>
              <a:t> </a:t>
            </a:r>
            <a:r>
              <a:rPr lang="en-US" dirty="0" err="1">
                <a:uFillTx/>
              </a:rPr>
              <a:t>dùng</a:t>
            </a:r>
            <a:r>
              <a:rPr lang="en-US" dirty="0">
                <a:uFillTx/>
              </a:rPr>
              <a:t> (=</a:t>
            </a:r>
            <a:r>
              <a:rPr lang="en-US" dirty="0" err="1">
                <a:uFillTx/>
              </a:rPr>
              <a:t>Số</a:t>
            </a:r>
            <a:r>
              <a:rPr lang="en-US" dirty="0">
                <a:uFillTx/>
              </a:rPr>
              <a:t> </a:t>
            </a:r>
            <a:r>
              <a:rPr lang="en-US" dirty="0" err="1">
                <a:uFillTx/>
              </a:rPr>
              <a:t>công</a:t>
            </a:r>
            <a:r>
              <a:rPr lang="en-US" dirty="0">
                <a:uFillTx/>
              </a:rPr>
              <a:t> </a:t>
            </a:r>
            <a:r>
              <a:rPr lang="en-US" dirty="0" err="1">
                <a:uFillTx/>
              </a:rPr>
              <a:t>tơ</a:t>
            </a:r>
            <a:r>
              <a:rPr lang="en-US" dirty="0">
                <a:uFillTx/>
              </a:rPr>
              <a:t> </a:t>
            </a:r>
            <a:r>
              <a:rPr lang="en-US" dirty="0" err="1">
                <a:uFillTx/>
              </a:rPr>
              <a:t>tháng</a:t>
            </a:r>
            <a:r>
              <a:rPr lang="en-US" dirty="0">
                <a:uFillTx/>
              </a:rPr>
              <a:t> này - </a:t>
            </a:r>
            <a:r>
              <a:rPr lang="en-US" dirty="0" err="1">
                <a:uFillTx/>
              </a:rPr>
              <a:t>Số</a:t>
            </a:r>
            <a:r>
              <a:rPr lang="en-US" dirty="0">
                <a:uFillTx/>
              </a:rPr>
              <a:t> </a:t>
            </a:r>
            <a:r>
              <a:rPr lang="en-US" dirty="0" err="1">
                <a:uFillTx/>
              </a:rPr>
              <a:t>công</a:t>
            </a:r>
            <a:r>
              <a:rPr lang="en-US" dirty="0">
                <a:uFillTx/>
              </a:rPr>
              <a:t> </a:t>
            </a:r>
            <a:r>
              <a:rPr lang="en-US" dirty="0" err="1">
                <a:uFillTx/>
              </a:rPr>
              <a:t>tơ</a:t>
            </a:r>
            <a:r>
              <a:rPr lang="en-US" dirty="0">
                <a:uFillTx/>
              </a:rPr>
              <a:t> </a:t>
            </a:r>
            <a:r>
              <a:rPr lang="en-US" dirty="0" err="1">
                <a:uFillTx/>
              </a:rPr>
              <a:t>tháng</a:t>
            </a:r>
            <a:r>
              <a:rPr lang="en-US" dirty="0">
                <a:uFillTx/>
              </a:rPr>
              <a:t> </a:t>
            </a:r>
            <a:r>
              <a:rPr lang="en-US" dirty="0" err="1">
                <a:uFillTx/>
              </a:rPr>
              <a:t>trước</a:t>
            </a:r>
            <a:r>
              <a:rPr lang="en-US" dirty="0">
                <a:uFillTx/>
              </a:rPr>
              <a:t>)</a:t>
            </a:r>
          </a:p>
          <a:p>
            <a:pPr lvl="3"/>
            <a:r>
              <a:rPr lang="en-US" dirty="0" err="1">
                <a:uFillTx/>
              </a:rPr>
              <a:t>Phương</a:t>
            </a:r>
            <a:r>
              <a:rPr lang="en-US" dirty="0">
                <a:uFillTx/>
              </a:rPr>
              <a:t> </a:t>
            </a:r>
            <a:r>
              <a:rPr lang="en-US" dirty="0" err="1">
                <a:uFillTx/>
              </a:rPr>
              <a:t>thức</a:t>
            </a:r>
            <a:r>
              <a:rPr lang="en-US" dirty="0">
                <a:uFillTx/>
              </a:rPr>
              <a:t> </a:t>
            </a:r>
            <a:r>
              <a:rPr lang="en-US" dirty="0" err="1">
                <a:uFillTx/>
              </a:rPr>
              <a:t>tính</a:t>
            </a:r>
            <a:r>
              <a:rPr lang="en-US" dirty="0">
                <a:uFillTx/>
              </a:rPr>
              <a:t> </a:t>
            </a:r>
            <a:r>
              <a:rPr lang="en-US" dirty="0" err="1">
                <a:uFillTx/>
              </a:rPr>
              <a:t>tiền</a:t>
            </a:r>
            <a:r>
              <a:rPr lang="en-US" dirty="0">
                <a:uFillTx/>
              </a:rPr>
              <a:t> </a:t>
            </a:r>
            <a:r>
              <a:rPr lang="en-US" dirty="0" err="1">
                <a:uFillTx/>
              </a:rPr>
              <a:t>điện</a:t>
            </a:r>
            <a:r>
              <a:rPr lang="en-US" dirty="0">
                <a:uFillTx/>
              </a:rPr>
              <a:t>: (= </a:t>
            </a:r>
            <a:r>
              <a:rPr lang="en-US" dirty="0" err="1">
                <a:uFillTx/>
              </a:rPr>
              <a:t>Số</a:t>
            </a:r>
            <a:r>
              <a:rPr lang="en-US" dirty="0">
                <a:uFillTx/>
              </a:rPr>
              <a:t> </a:t>
            </a:r>
            <a:r>
              <a:rPr lang="en-US" dirty="0" err="1">
                <a:uFillTx/>
              </a:rPr>
              <a:t>điện</a:t>
            </a:r>
            <a:r>
              <a:rPr lang="en-US" dirty="0">
                <a:uFillTx/>
              </a:rPr>
              <a:t> </a:t>
            </a:r>
            <a:r>
              <a:rPr lang="en-US" dirty="0" err="1">
                <a:uFillTx/>
              </a:rPr>
              <a:t>đã</a:t>
            </a:r>
            <a:r>
              <a:rPr lang="en-US" dirty="0">
                <a:uFillTx/>
              </a:rPr>
              <a:t> </a:t>
            </a:r>
            <a:r>
              <a:rPr lang="en-US" dirty="0" err="1">
                <a:uFillTx/>
              </a:rPr>
              <a:t>dùng</a:t>
            </a:r>
            <a:r>
              <a:rPr lang="en-US" dirty="0">
                <a:uFillTx/>
              </a:rPr>
              <a:t> * 500)</a:t>
            </a:r>
          </a:p>
        </p:txBody>
      </p:sp>
      <p:sp>
        <p:nvSpPr>
          <p:cNvPr id="4" name="Date Placeholder 3"/>
          <p:cNvSpPr>
            <a:spLocks noGrp="1"/>
          </p:cNvSpPr>
          <p:nvPr>
            <p:ph type="dt" sz="half" idx="10"/>
          </p:nvPr>
        </p:nvSpPr>
        <p:spPr/>
        <p:txBody>
          <a:bodyPr/>
          <a:lstStyle/>
          <a:p>
            <a:fld id="{A3534F18-842A-4E6A-BE61-3F13929BDDBD}" type="datetime1">
              <a:rPr lang="vi-VN" smtClean="0">
                <a:uFillTx/>
              </a:rPr>
              <a:t>08/02/2025</a:t>
            </a:fld>
            <a:endParaRPr lang="vi-VN">
              <a:uFillTx/>
            </a:endParaRPr>
          </a:p>
        </p:txBody>
      </p:sp>
      <p:sp>
        <p:nvSpPr>
          <p:cNvPr id="5" name="Footer Placeholder 4"/>
          <p:cNvSpPr>
            <a:spLocks noGrp="1"/>
          </p:cNvSpPr>
          <p:nvPr>
            <p:ph type="ftr" sz="quarter" idx="11"/>
          </p:nvPr>
        </p:nvSpPr>
        <p:spPr/>
        <p:txBody>
          <a:bodyPr/>
          <a:lstStyle/>
          <a:p>
            <a:r>
              <a:rPr lang="vi-VN">
                <a:uFillTx/>
              </a:rPr>
              <a:t>Chương 3. Lập trình hướng đối tượng trong C#</a:t>
            </a:r>
          </a:p>
        </p:txBody>
      </p:sp>
      <p:sp>
        <p:nvSpPr>
          <p:cNvPr id="6" name="Slide Number Placeholder 5"/>
          <p:cNvSpPr>
            <a:spLocks noGrp="1"/>
          </p:cNvSpPr>
          <p:nvPr>
            <p:ph type="sldNum" sz="quarter" idx="12"/>
          </p:nvPr>
        </p:nvSpPr>
        <p:spPr/>
        <p:txBody>
          <a:bodyPr/>
          <a:lstStyle/>
          <a:p>
            <a:fld id="{5AB95402-1E0D-474E-8D8C-CBE7F053639E}" type="slidenum">
              <a:rPr lang="vi-VN" smtClean="0">
                <a:uFillTx/>
              </a:rPr>
              <a:pPr/>
              <a:t>36</a:t>
            </a:fld>
            <a:r>
              <a:rPr lang="vi-VN">
                <a:uFillTx/>
              </a:rPr>
              <a:t>/28</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uFillTx/>
              </a:rPr>
              <a:t>Bài tập về nhà</a:t>
            </a:r>
          </a:p>
        </p:txBody>
      </p:sp>
      <p:sp>
        <p:nvSpPr>
          <p:cNvPr id="3" name="Content Placeholder 2"/>
          <p:cNvSpPr>
            <a:spLocks noGrp="1"/>
          </p:cNvSpPr>
          <p:nvPr>
            <p:ph idx="1"/>
          </p:nvPr>
        </p:nvSpPr>
        <p:spPr/>
        <p:txBody>
          <a:bodyPr/>
          <a:lstStyle/>
          <a:p>
            <a:pPr lvl="1"/>
            <a:r>
              <a:rPr lang="en-US" dirty="0" err="1">
                <a:uFillTx/>
              </a:rPr>
              <a:t>Xây</a:t>
            </a:r>
            <a:r>
              <a:rPr lang="en-US" dirty="0">
                <a:uFillTx/>
              </a:rPr>
              <a:t> </a:t>
            </a:r>
            <a:r>
              <a:rPr lang="en-US" dirty="0" err="1">
                <a:uFillTx/>
              </a:rPr>
              <a:t>dựng</a:t>
            </a:r>
            <a:r>
              <a:rPr lang="en-US" dirty="0">
                <a:uFillTx/>
              </a:rPr>
              <a:t> </a:t>
            </a:r>
            <a:r>
              <a:rPr lang="en-US" dirty="0" err="1">
                <a:uFillTx/>
              </a:rPr>
              <a:t>lớp</a:t>
            </a:r>
            <a:r>
              <a:rPr lang="en-US" dirty="0">
                <a:uFillTx/>
              </a:rPr>
              <a:t> </a:t>
            </a:r>
            <a:r>
              <a:rPr lang="en-US" dirty="0" err="1">
                <a:uFillTx/>
              </a:rPr>
              <a:t>TienDienMoi</a:t>
            </a:r>
            <a:r>
              <a:rPr lang="en-US" dirty="0">
                <a:uFillTx/>
              </a:rPr>
              <a:t> (</a:t>
            </a:r>
            <a:r>
              <a:rPr lang="en-US" dirty="0" err="1">
                <a:uFillTx/>
              </a:rPr>
              <a:t>Tiền</a:t>
            </a:r>
            <a:r>
              <a:rPr lang="en-US" dirty="0">
                <a:uFillTx/>
              </a:rPr>
              <a:t> </a:t>
            </a:r>
            <a:r>
              <a:rPr lang="en-US" dirty="0" err="1">
                <a:uFillTx/>
              </a:rPr>
              <a:t>điện</a:t>
            </a:r>
            <a:r>
              <a:rPr lang="en-US" dirty="0">
                <a:uFillTx/>
              </a:rPr>
              <a:t> </a:t>
            </a:r>
            <a:r>
              <a:rPr lang="en-US" dirty="0" err="1">
                <a:uFillTx/>
              </a:rPr>
              <a:t>mới</a:t>
            </a:r>
            <a:r>
              <a:rPr lang="en-US" dirty="0">
                <a:uFillTx/>
              </a:rPr>
              <a:t>) </a:t>
            </a:r>
            <a:r>
              <a:rPr lang="en-US" dirty="0" err="1">
                <a:uFillTx/>
              </a:rPr>
              <a:t>kế</a:t>
            </a:r>
            <a:r>
              <a:rPr lang="en-US" dirty="0">
                <a:uFillTx/>
              </a:rPr>
              <a:t> </a:t>
            </a:r>
            <a:r>
              <a:rPr lang="en-US" dirty="0" err="1">
                <a:uFillTx/>
              </a:rPr>
              <a:t>thừa</a:t>
            </a:r>
            <a:r>
              <a:rPr lang="en-US" dirty="0">
                <a:uFillTx/>
              </a:rPr>
              <a:t> </a:t>
            </a:r>
            <a:r>
              <a:rPr lang="en-US" dirty="0" err="1">
                <a:uFillTx/>
              </a:rPr>
              <a:t>từ</a:t>
            </a:r>
            <a:r>
              <a:rPr lang="en-US" dirty="0">
                <a:uFillTx/>
              </a:rPr>
              <a:t> </a:t>
            </a:r>
            <a:r>
              <a:rPr lang="en-US" dirty="0" err="1">
                <a:uFillTx/>
              </a:rPr>
              <a:t>lớp</a:t>
            </a:r>
            <a:r>
              <a:rPr lang="en-US" dirty="0">
                <a:uFillTx/>
              </a:rPr>
              <a:t> </a:t>
            </a:r>
            <a:r>
              <a:rPr lang="en-US" dirty="0" err="1">
                <a:uFillTx/>
              </a:rPr>
              <a:t>TienDien</a:t>
            </a:r>
            <a:endParaRPr lang="en-US" dirty="0">
              <a:uFillTx/>
            </a:endParaRPr>
          </a:p>
          <a:p>
            <a:pPr marL="909637" lvl="2" indent="0">
              <a:buNone/>
            </a:pPr>
            <a:r>
              <a:rPr lang="en-US" dirty="0">
                <a:uFillTx/>
              </a:rPr>
              <a:t>(</a:t>
            </a:r>
            <a:r>
              <a:rPr lang="en-US" dirty="0" err="1">
                <a:uFillTx/>
              </a:rPr>
              <a:t>Tính</a:t>
            </a:r>
            <a:r>
              <a:rPr lang="en-US" dirty="0">
                <a:uFillTx/>
              </a:rPr>
              <a:t> </a:t>
            </a:r>
            <a:r>
              <a:rPr lang="en-US" dirty="0" err="1">
                <a:uFillTx/>
              </a:rPr>
              <a:t>theo</a:t>
            </a:r>
            <a:r>
              <a:rPr lang="en-US" dirty="0">
                <a:uFillTx/>
              </a:rPr>
              <a:t> </a:t>
            </a:r>
            <a:r>
              <a:rPr lang="en-US" dirty="0" err="1">
                <a:uFillTx/>
              </a:rPr>
              <a:t>định</a:t>
            </a:r>
            <a:r>
              <a:rPr lang="en-US" dirty="0">
                <a:uFillTx/>
              </a:rPr>
              <a:t> </a:t>
            </a:r>
            <a:r>
              <a:rPr lang="en-US" dirty="0" err="1">
                <a:uFillTx/>
              </a:rPr>
              <a:t>mức</a:t>
            </a:r>
            <a:r>
              <a:rPr lang="en-US" dirty="0">
                <a:uFillTx/>
              </a:rPr>
              <a:t> </a:t>
            </a:r>
            <a:r>
              <a:rPr lang="en-US" dirty="0" err="1">
                <a:uFillTx/>
              </a:rPr>
              <a:t>quy</a:t>
            </a:r>
            <a:r>
              <a:rPr lang="en-US" dirty="0">
                <a:uFillTx/>
              </a:rPr>
              <a:t> </a:t>
            </a:r>
            <a:r>
              <a:rPr lang="en-US" dirty="0" err="1">
                <a:uFillTx/>
              </a:rPr>
              <a:t>định</a:t>
            </a:r>
            <a:r>
              <a:rPr lang="en-US" dirty="0">
                <a:uFillTx/>
              </a:rPr>
              <a:t>, </a:t>
            </a:r>
            <a:r>
              <a:rPr lang="en-US" dirty="0" err="1">
                <a:uFillTx/>
              </a:rPr>
              <a:t>trong</a:t>
            </a:r>
            <a:r>
              <a:rPr lang="en-US" dirty="0">
                <a:uFillTx/>
              </a:rPr>
              <a:t> </a:t>
            </a:r>
            <a:r>
              <a:rPr lang="en-US" dirty="0" err="1">
                <a:uFillTx/>
              </a:rPr>
              <a:t>định</a:t>
            </a:r>
            <a:r>
              <a:rPr lang="en-US" dirty="0">
                <a:uFillTx/>
              </a:rPr>
              <a:t> </a:t>
            </a:r>
            <a:r>
              <a:rPr lang="en-US" dirty="0" err="1">
                <a:uFillTx/>
              </a:rPr>
              <a:t>mức</a:t>
            </a:r>
            <a:r>
              <a:rPr lang="en-US" dirty="0">
                <a:uFillTx/>
              </a:rPr>
              <a:t> là 500, </a:t>
            </a:r>
            <a:r>
              <a:rPr lang="en-US" dirty="0" err="1">
                <a:uFillTx/>
              </a:rPr>
              <a:t>ngoài</a:t>
            </a:r>
            <a:r>
              <a:rPr lang="en-US" dirty="0">
                <a:uFillTx/>
              </a:rPr>
              <a:t> là 600)</a:t>
            </a:r>
          </a:p>
          <a:p>
            <a:pPr lvl="2"/>
            <a:r>
              <a:rPr lang="en-US" dirty="0" err="1">
                <a:uFillTx/>
              </a:rPr>
              <a:t>Bổ</a:t>
            </a:r>
            <a:r>
              <a:rPr lang="en-US" dirty="0">
                <a:uFillTx/>
              </a:rPr>
              <a:t> sung </a:t>
            </a:r>
            <a:r>
              <a:rPr lang="en-US" dirty="0" err="1">
                <a:uFillTx/>
              </a:rPr>
              <a:t>thêm</a:t>
            </a:r>
            <a:r>
              <a:rPr lang="en-US" dirty="0">
                <a:uFillTx/>
              </a:rPr>
              <a:t> </a:t>
            </a:r>
            <a:r>
              <a:rPr lang="en-US" dirty="0" err="1">
                <a:uFillTx/>
              </a:rPr>
              <a:t>thành</a:t>
            </a:r>
            <a:r>
              <a:rPr lang="en-US" dirty="0">
                <a:uFillTx/>
              </a:rPr>
              <a:t> </a:t>
            </a:r>
            <a:r>
              <a:rPr lang="en-US" dirty="0" err="1">
                <a:uFillTx/>
              </a:rPr>
              <a:t>phần</a:t>
            </a:r>
            <a:r>
              <a:rPr lang="en-US" dirty="0">
                <a:uFillTx/>
              </a:rPr>
              <a:t> </a:t>
            </a:r>
            <a:r>
              <a:rPr lang="en-US" dirty="0" err="1">
                <a:uFillTx/>
              </a:rPr>
              <a:t>dữ</a:t>
            </a:r>
            <a:r>
              <a:rPr lang="en-US" dirty="0">
                <a:uFillTx/>
              </a:rPr>
              <a:t> </a:t>
            </a:r>
            <a:r>
              <a:rPr lang="en-US" dirty="0" err="1">
                <a:uFillTx/>
              </a:rPr>
              <a:t>liệu</a:t>
            </a:r>
            <a:r>
              <a:rPr lang="en-US" dirty="0">
                <a:uFillTx/>
              </a:rPr>
              <a:t> </a:t>
            </a:r>
            <a:r>
              <a:rPr lang="en-US" dirty="0" err="1">
                <a:uFillTx/>
              </a:rPr>
              <a:t>Định</a:t>
            </a:r>
            <a:r>
              <a:rPr lang="en-US" dirty="0">
                <a:uFillTx/>
              </a:rPr>
              <a:t> </a:t>
            </a:r>
            <a:r>
              <a:rPr lang="en-US" dirty="0" err="1">
                <a:uFillTx/>
              </a:rPr>
              <a:t>mức</a:t>
            </a:r>
            <a:endParaRPr lang="en-US" dirty="0">
              <a:uFillTx/>
            </a:endParaRPr>
          </a:p>
          <a:p>
            <a:pPr lvl="2"/>
            <a:r>
              <a:rPr lang="en-US" dirty="0" err="1">
                <a:uFillTx/>
              </a:rPr>
              <a:t>Điều</a:t>
            </a:r>
            <a:r>
              <a:rPr lang="en-US" dirty="0">
                <a:uFillTx/>
              </a:rPr>
              <a:t> </a:t>
            </a:r>
            <a:r>
              <a:rPr lang="en-US" dirty="0" err="1">
                <a:uFillTx/>
              </a:rPr>
              <a:t>chỉnh</a:t>
            </a:r>
            <a:r>
              <a:rPr lang="en-US" dirty="0">
                <a:uFillTx/>
              </a:rPr>
              <a:t> </a:t>
            </a:r>
            <a:r>
              <a:rPr lang="en-US" dirty="0" err="1">
                <a:uFillTx/>
              </a:rPr>
              <a:t>lại</a:t>
            </a:r>
            <a:r>
              <a:rPr lang="en-US" dirty="0">
                <a:uFillTx/>
              </a:rPr>
              <a:t> </a:t>
            </a:r>
            <a:r>
              <a:rPr lang="en-US" dirty="0" err="1">
                <a:uFillTx/>
              </a:rPr>
              <a:t>phương</a:t>
            </a:r>
            <a:r>
              <a:rPr lang="en-US" dirty="0">
                <a:uFillTx/>
              </a:rPr>
              <a:t> </a:t>
            </a:r>
            <a:r>
              <a:rPr lang="en-US" dirty="0" err="1">
                <a:uFillTx/>
              </a:rPr>
              <a:t>thức</a:t>
            </a:r>
            <a:r>
              <a:rPr lang="en-US" dirty="0">
                <a:uFillTx/>
              </a:rPr>
              <a:t> </a:t>
            </a:r>
            <a:r>
              <a:rPr lang="en-US" dirty="0" err="1">
                <a:uFillTx/>
              </a:rPr>
              <a:t>Nhập</a:t>
            </a:r>
            <a:r>
              <a:rPr lang="en-US" dirty="0">
                <a:uFillTx/>
              </a:rPr>
              <a:t>, </a:t>
            </a:r>
            <a:r>
              <a:rPr lang="en-US" dirty="0" err="1">
                <a:uFillTx/>
              </a:rPr>
              <a:t>Hiện</a:t>
            </a:r>
            <a:r>
              <a:rPr lang="en-US" dirty="0">
                <a:uFillTx/>
              </a:rPr>
              <a:t> </a:t>
            </a:r>
            <a:r>
              <a:rPr lang="en-US" dirty="0" err="1">
                <a:uFillTx/>
              </a:rPr>
              <a:t>và</a:t>
            </a:r>
            <a:r>
              <a:rPr lang="en-US" dirty="0">
                <a:uFillTx/>
              </a:rPr>
              <a:t> </a:t>
            </a:r>
            <a:r>
              <a:rPr lang="en-US" dirty="0" err="1">
                <a:uFillTx/>
              </a:rPr>
              <a:t>Tính</a:t>
            </a:r>
            <a:r>
              <a:rPr lang="en-US" dirty="0">
                <a:uFillTx/>
              </a:rPr>
              <a:t> </a:t>
            </a:r>
            <a:r>
              <a:rPr lang="en-US" dirty="0" err="1">
                <a:uFillTx/>
              </a:rPr>
              <a:t>tiền</a:t>
            </a:r>
            <a:r>
              <a:rPr lang="en-US" dirty="0">
                <a:uFillTx/>
              </a:rPr>
              <a:t> </a:t>
            </a:r>
            <a:r>
              <a:rPr lang="en-US" dirty="0" err="1">
                <a:uFillTx/>
              </a:rPr>
              <a:t>điện</a:t>
            </a:r>
            <a:endParaRPr lang="en-US" dirty="0">
              <a:uFillTx/>
            </a:endParaRPr>
          </a:p>
        </p:txBody>
      </p:sp>
      <p:sp>
        <p:nvSpPr>
          <p:cNvPr id="4" name="Date Placeholder 3"/>
          <p:cNvSpPr>
            <a:spLocks noGrp="1"/>
          </p:cNvSpPr>
          <p:nvPr>
            <p:ph type="dt" sz="half" idx="10"/>
          </p:nvPr>
        </p:nvSpPr>
        <p:spPr/>
        <p:txBody>
          <a:bodyPr/>
          <a:lstStyle/>
          <a:p>
            <a:fld id="{B6106D95-2E43-4157-A666-B772AF6D3DE5}" type="datetime1">
              <a:rPr lang="vi-VN" smtClean="0">
                <a:uFillTx/>
              </a:rPr>
              <a:t>08/02/2025</a:t>
            </a:fld>
            <a:endParaRPr lang="vi-VN">
              <a:uFillTx/>
            </a:endParaRPr>
          </a:p>
        </p:txBody>
      </p:sp>
      <p:sp>
        <p:nvSpPr>
          <p:cNvPr id="5" name="Footer Placeholder 4"/>
          <p:cNvSpPr>
            <a:spLocks noGrp="1"/>
          </p:cNvSpPr>
          <p:nvPr>
            <p:ph type="ftr" sz="quarter" idx="11"/>
          </p:nvPr>
        </p:nvSpPr>
        <p:spPr/>
        <p:txBody>
          <a:bodyPr/>
          <a:lstStyle/>
          <a:p>
            <a:r>
              <a:rPr lang="vi-VN">
                <a:uFillTx/>
              </a:rPr>
              <a:t>Chương 3. Lập trình hướng đối tượng trong C#</a:t>
            </a:r>
          </a:p>
        </p:txBody>
      </p:sp>
      <p:sp>
        <p:nvSpPr>
          <p:cNvPr id="6" name="Slide Number Placeholder 5"/>
          <p:cNvSpPr>
            <a:spLocks noGrp="1"/>
          </p:cNvSpPr>
          <p:nvPr>
            <p:ph type="sldNum" sz="quarter" idx="12"/>
          </p:nvPr>
        </p:nvSpPr>
        <p:spPr/>
        <p:txBody>
          <a:bodyPr/>
          <a:lstStyle/>
          <a:p>
            <a:fld id="{5AB95402-1E0D-474E-8D8C-CBE7F053639E}" type="slidenum">
              <a:rPr lang="vi-VN" smtClean="0">
                <a:uFillTx/>
              </a:rPr>
              <a:pPr/>
              <a:t>37</a:t>
            </a:fld>
            <a:r>
              <a:rPr lang="vi-VN">
                <a:uFillTx/>
              </a:rPr>
              <a:t>/28</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uFillTx/>
              </a:rPr>
              <a:t>Bài tập về nhà</a:t>
            </a:r>
          </a:p>
        </p:txBody>
      </p:sp>
      <p:sp>
        <p:nvSpPr>
          <p:cNvPr id="3" name="Content Placeholder 2"/>
          <p:cNvSpPr>
            <a:spLocks noGrp="1"/>
          </p:cNvSpPr>
          <p:nvPr>
            <p:ph idx="1"/>
          </p:nvPr>
        </p:nvSpPr>
        <p:spPr/>
        <p:txBody>
          <a:bodyPr/>
          <a:lstStyle/>
          <a:p>
            <a:r>
              <a:rPr lang="en-US" dirty="0" err="1">
                <a:uFillTx/>
              </a:rPr>
              <a:t>Bài</a:t>
            </a:r>
            <a:r>
              <a:rPr lang="en-US" dirty="0">
                <a:uFillTx/>
              </a:rPr>
              <a:t> 3. </a:t>
            </a:r>
            <a:r>
              <a:rPr lang="en-US" dirty="0" err="1">
                <a:uFillTx/>
              </a:rPr>
              <a:t>Quản</a:t>
            </a:r>
            <a:r>
              <a:rPr lang="en-US" dirty="0">
                <a:uFillTx/>
              </a:rPr>
              <a:t> </a:t>
            </a:r>
            <a:r>
              <a:rPr lang="en-US" dirty="0" err="1">
                <a:uFillTx/>
              </a:rPr>
              <a:t>lý</a:t>
            </a:r>
            <a:r>
              <a:rPr lang="en-US" dirty="0">
                <a:uFillTx/>
              </a:rPr>
              <a:t> </a:t>
            </a:r>
            <a:r>
              <a:rPr lang="en-US" dirty="0" err="1">
                <a:uFillTx/>
              </a:rPr>
              <a:t>nhân</a:t>
            </a:r>
            <a:r>
              <a:rPr lang="en-US" dirty="0">
                <a:uFillTx/>
              </a:rPr>
              <a:t> </a:t>
            </a:r>
            <a:r>
              <a:rPr lang="en-US" dirty="0" err="1">
                <a:uFillTx/>
              </a:rPr>
              <a:t>viên</a:t>
            </a:r>
            <a:endParaRPr lang="en-US" dirty="0">
              <a:uFillTx/>
            </a:endParaRPr>
          </a:p>
          <a:p>
            <a:pPr lvl="1"/>
            <a:r>
              <a:rPr lang="en-US" dirty="0" err="1">
                <a:uFillTx/>
              </a:rPr>
              <a:t>Quản</a:t>
            </a:r>
            <a:r>
              <a:rPr lang="en-US" dirty="0">
                <a:uFillTx/>
              </a:rPr>
              <a:t> </a:t>
            </a:r>
            <a:r>
              <a:rPr lang="en-US" dirty="0" err="1">
                <a:uFillTx/>
              </a:rPr>
              <a:t>lý</a:t>
            </a:r>
            <a:r>
              <a:rPr lang="en-US" dirty="0">
                <a:uFillTx/>
              </a:rPr>
              <a:t> </a:t>
            </a:r>
            <a:r>
              <a:rPr lang="en-US" dirty="0" err="1">
                <a:uFillTx/>
              </a:rPr>
              <a:t>thông</a:t>
            </a:r>
            <a:r>
              <a:rPr lang="en-US" dirty="0">
                <a:uFillTx/>
              </a:rPr>
              <a:t> tin </a:t>
            </a:r>
            <a:r>
              <a:rPr lang="en-US" dirty="0" err="1">
                <a:uFillTx/>
              </a:rPr>
              <a:t>nhân</a:t>
            </a:r>
            <a:r>
              <a:rPr lang="en-US" dirty="0">
                <a:uFillTx/>
              </a:rPr>
              <a:t> </a:t>
            </a:r>
            <a:r>
              <a:rPr lang="en-US" dirty="0" err="1">
                <a:uFillTx/>
              </a:rPr>
              <a:t>viên</a:t>
            </a:r>
            <a:endParaRPr lang="en-US" dirty="0">
              <a:uFillTx/>
            </a:endParaRPr>
          </a:p>
          <a:p>
            <a:pPr lvl="1"/>
            <a:r>
              <a:rPr lang="en-US" dirty="0" err="1">
                <a:uFillTx/>
              </a:rPr>
              <a:t>Tính</a:t>
            </a:r>
            <a:r>
              <a:rPr lang="en-US" dirty="0">
                <a:uFillTx/>
              </a:rPr>
              <a:t> </a:t>
            </a:r>
            <a:r>
              <a:rPr lang="en-US" dirty="0" err="1">
                <a:uFillTx/>
              </a:rPr>
              <a:t>lương</a:t>
            </a:r>
            <a:r>
              <a:rPr lang="en-US" dirty="0">
                <a:uFillTx/>
              </a:rPr>
              <a:t> </a:t>
            </a:r>
            <a:r>
              <a:rPr lang="en-US" dirty="0" err="1">
                <a:uFillTx/>
              </a:rPr>
              <a:t>cho</a:t>
            </a:r>
            <a:r>
              <a:rPr lang="en-US" dirty="0">
                <a:uFillTx/>
              </a:rPr>
              <a:t> </a:t>
            </a:r>
            <a:r>
              <a:rPr lang="en-US" dirty="0" err="1">
                <a:uFillTx/>
              </a:rPr>
              <a:t>nhân</a:t>
            </a:r>
            <a:r>
              <a:rPr lang="en-US" dirty="0">
                <a:uFillTx/>
              </a:rPr>
              <a:t> </a:t>
            </a:r>
            <a:r>
              <a:rPr lang="en-US" dirty="0" err="1">
                <a:uFillTx/>
              </a:rPr>
              <a:t>viên</a:t>
            </a:r>
            <a:r>
              <a:rPr lang="en-US" dirty="0">
                <a:uFillTx/>
              </a:rPr>
              <a:t>. </a:t>
            </a:r>
            <a:r>
              <a:rPr lang="en-US" dirty="0" err="1">
                <a:uFillTx/>
              </a:rPr>
              <a:t>Biết</a:t>
            </a:r>
            <a:r>
              <a:rPr lang="en-US" dirty="0">
                <a:uFillTx/>
              </a:rPr>
              <a:t> </a:t>
            </a:r>
            <a:r>
              <a:rPr lang="en-US" dirty="0" err="1">
                <a:uFillTx/>
              </a:rPr>
              <a:t>có</a:t>
            </a:r>
            <a:r>
              <a:rPr lang="en-US" dirty="0">
                <a:uFillTx/>
              </a:rPr>
              <a:t> 3 </a:t>
            </a:r>
            <a:r>
              <a:rPr lang="en-US" dirty="0" err="1">
                <a:uFillTx/>
              </a:rPr>
              <a:t>loại</a:t>
            </a:r>
            <a:r>
              <a:rPr lang="en-US" dirty="0">
                <a:uFillTx/>
              </a:rPr>
              <a:t> </a:t>
            </a:r>
            <a:r>
              <a:rPr lang="en-US" dirty="0" err="1">
                <a:uFillTx/>
              </a:rPr>
              <a:t>nhân</a:t>
            </a:r>
            <a:r>
              <a:rPr lang="en-US" dirty="0">
                <a:uFillTx/>
              </a:rPr>
              <a:t> </a:t>
            </a:r>
            <a:r>
              <a:rPr lang="en-US" dirty="0" err="1">
                <a:uFillTx/>
              </a:rPr>
              <a:t>viên</a:t>
            </a:r>
            <a:endParaRPr lang="en-US" dirty="0">
              <a:uFillTx/>
            </a:endParaRPr>
          </a:p>
          <a:p>
            <a:pPr lvl="2"/>
            <a:r>
              <a:rPr lang="en-US" dirty="0" err="1">
                <a:uFillTx/>
              </a:rPr>
              <a:t>Nhân</a:t>
            </a:r>
            <a:r>
              <a:rPr lang="en-US" dirty="0">
                <a:uFillTx/>
              </a:rPr>
              <a:t> </a:t>
            </a:r>
            <a:r>
              <a:rPr lang="en-US" dirty="0" err="1">
                <a:uFillTx/>
              </a:rPr>
              <a:t>viên</a:t>
            </a:r>
            <a:r>
              <a:rPr lang="en-US" dirty="0">
                <a:uFillTx/>
              </a:rPr>
              <a:t> </a:t>
            </a:r>
            <a:r>
              <a:rPr lang="en-US" dirty="0" err="1">
                <a:uFillTx/>
              </a:rPr>
              <a:t>sản</a:t>
            </a:r>
            <a:r>
              <a:rPr lang="en-US" dirty="0">
                <a:uFillTx/>
              </a:rPr>
              <a:t> </a:t>
            </a:r>
            <a:r>
              <a:rPr lang="en-US" dirty="0" err="1">
                <a:uFillTx/>
              </a:rPr>
              <a:t>xuất</a:t>
            </a:r>
            <a:r>
              <a:rPr lang="en-US" dirty="0">
                <a:uFillTx/>
              </a:rPr>
              <a:t>: </a:t>
            </a:r>
            <a:r>
              <a:rPr lang="en-US" dirty="0" err="1">
                <a:uFillTx/>
              </a:rPr>
              <a:t>Số</a:t>
            </a:r>
            <a:r>
              <a:rPr lang="en-US" dirty="0">
                <a:uFillTx/>
              </a:rPr>
              <a:t> </a:t>
            </a:r>
            <a:r>
              <a:rPr lang="en-US" dirty="0" err="1">
                <a:uFillTx/>
              </a:rPr>
              <a:t>sản</a:t>
            </a:r>
            <a:r>
              <a:rPr lang="en-US" dirty="0">
                <a:uFillTx/>
              </a:rPr>
              <a:t> </a:t>
            </a:r>
            <a:r>
              <a:rPr lang="en-US" dirty="0" err="1">
                <a:uFillTx/>
              </a:rPr>
              <a:t>phẩm</a:t>
            </a:r>
            <a:r>
              <a:rPr lang="en-US" dirty="0">
                <a:uFillTx/>
              </a:rPr>
              <a:t> * 30000đ</a:t>
            </a:r>
          </a:p>
          <a:p>
            <a:pPr lvl="2"/>
            <a:r>
              <a:rPr lang="en-US" b="1" dirty="0" err="1">
                <a:uFillTx/>
              </a:rPr>
              <a:t>Nhân</a:t>
            </a:r>
            <a:r>
              <a:rPr lang="en-US" b="1" dirty="0">
                <a:uFillTx/>
              </a:rPr>
              <a:t> </a:t>
            </a:r>
            <a:r>
              <a:rPr lang="en-US" b="1" dirty="0" err="1">
                <a:uFillTx/>
              </a:rPr>
              <a:t>viên</a:t>
            </a:r>
            <a:r>
              <a:rPr lang="en-US" b="1" dirty="0">
                <a:uFillTx/>
              </a:rPr>
              <a:t> </a:t>
            </a:r>
            <a:r>
              <a:rPr lang="en-US" b="1" dirty="0" err="1">
                <a:uFillTx/>
              </a:rPr>
              <a:t>công</a:t>
            </a:r>
            <a:r>
              <a:rPr lang="en-US" b="1" dirty="0">
                <a:uFillTx/>
              </a:rPr>
              <a:t> </a:t>
            </a:r>
            <a:r>
              <a:rPr lang="en-US" b="1" dirty="0" err="1">
                <a:uFillTx/>
              </a:rPr>
              <a:t>nhật</a:t>
            </a:r>
            <a:r>
              <a:rPr lang="en-US" b="1" dirty="0">
                <a:uFillTx/>
              </a:rPr>
              <a:t>: </a:t>
            </a:r>
            <a:r>
              <a:rPr lang="en-US" b="1" dirty="0" err="1">
                <a:uFillTx/>
              </a:rPr>
              <a:t>Số</a:t>
            </a:r>
            <a:r>
              <a:rPr lang="en-US" b="1" dirty="0">
                <a:uFillTx/>
              </a:rPr>
              <a:t> </a:t>
            </a:r>
            <a:r>
              <a:rPr lang="en-US" b="1" dirty="0" err="1">
                <a:uFillTx/>
              </a:rPr>
              <a:t>ngày</a:t>
            </a:r>
            <a:r>
              <a:rPr lang="en-US" b="1" dirty="0">
                <a:uFillTx/>
              </a:rPr>
              <a:t> </a:t>
            </a:r>
            <a:r>
              <a:rPr lang="en-US" b="1" dirty="0" err="1">
                <a:uFillTx/>
              </a:rPr>
              <a:t>công</a:t>
            </a:r>
            <a:r>
              <a:rPr lang="en-US" b="1" dirty="0">
                <a:uFillTx/>
              </a:rPr>
              <a:t> * 90000đ</a:t>
            </a:r>
          </a:p>
          <a:p>
            <a:pPr lvl="2"/>
            <a:r>
              <a:rPr lang="en-US" b="1" dirty="0" err="1">
                <a:uFillTx/>
              </a:rPr>
              <a:t>Nhân</a:t>
            </a:r>
            <a:r>
              <a:rPr lang="en-US" b="1" dirty="0">
                <a:uFillTx/>
              </a:rPr>
              <a:t> </a:t>
            </a:r>
            <a:r>
              <a:rPr lang="en-US" b="1" dirty="0" err="1">
                <a:uFillTx/>
              </a:rPr>
              <a:t>viên</a:t>
            </a:r>
            <a:r>
              <a:rPr lang="en-US" b="1" dirty="0">
                <a:uFillTx/>
              </a:rPr>
              <a:t> </a:t>
            </a:r>
            <a:r>
              <a:rPr lang="en-US" b="1" dirty="0" err="1">
                <a:uFillTx/>
              </a:rPr>
              <a:t>quản</a:t>
            </a:r>
            <a:r>
              <a:rPr lang="en-US" b="1" dirty="0">
                <a:uFillTx/>
              </a:rPr>
              <a:t> </a:t>
            </a:r>
            <a:r>
              <a:rPr lang="en-US" b="1" dirty="0" err="1">
                <a:uFillTx/>
              </a:rPr>
              <a:t>lý</a:t>
            </a:r>
            <a:r>
              <a:rPr lang="en-US" b="1" dirty="0">
                <a:uFillTx/>
              </a:rPr>
              <a:t>: </a:t>
            </a:r>
            <a:r>
              <a:rPr lang="en-US" b="1" dirty="0" err="1">
                <a:uFillTx/>
              </a:rPr>
              <a:t>Hệ</a:t>
            </a:r>
            <a:r>
              <a:rPr lang="en-US" b="1" dirty="0">
                <a:uFillTx/>
              </a:rPr>
              <a:t> </a:t>
            </a:r>
            <a:r>
              <a:rPr lang="en-US" b="1" dirty="0" err="1">
                <a:uFillTx/>
              </a:rPr>
              <a:t>số</a:t>
            </a:r>
            <a:r>
              <a:rPr lang="en-US" b="1" dirty="0">
                <a:uFillTx/>
              </a:rPr>
              <a:t> </a:t>
            </a:r>
            <a:r>
              <a:rPr lang="en-US" b="1" dirty="0" err="1">
                <a:uFillTx/>
              </a:rPr>
              <a:t>lương</a:t>
            </a:r>
            <a:r>
              <a:rPr lang="en-US" b="1" dirty="0">
                <a:uFillTx/>
              </a:rPr>
              <a:t> * </a:t>
            </a:r>
            <a:r>
              <a:rPr lang="en-US" b="1" dirty="0" err="1">
                <a:uFillTx/>
              </a:rPr>
              <a:t>Lương</a:t>
            </a:r>
            <a:r>
              <a:rPr lang="en-US" b="1" dirty="0">
                <a:uFillTx/>
              </a:rPr>
              <a:t> </a:t>
            </a:r>
            <a:r>
              <a:rPr lang="en-US" b="1" dirty="0" err="1">
                <a:uFillTx/>
              </a:rPr>
              <a:t>cơ</a:t>
            </a:r>
            <a:r>
              <a:rPr lang="en-US" b="1" dirty="0">
                <a:uFillTx/>
              </a:rPr>
              <a:t> </a:t>
            </a:r>
            <a:r>
              <a:rPr lang="en-US" b="1" dirty="0" err="1">
                <a:uFillTx/>
              </a:rPr>
              <a:t>bản</a:t>
            </a:r>
            <a:endParaRPr lang="en-US" b="1" dirty="0">
              <a:uFillTx/>
            </a:endParaRPr>
          </a:p>
          <a:p>
            <a:pPr lvl="1"/>
            <a:r>
              <a:rPr lang="en-US" dirty="0" err="1">
                <a:uFillTx/>
              </a:rPr>
              <a:t>Hướng</a:t>
            </a:r>
            <a:r>
              <a:rPr lang="en-US" dirty="0">
                <a:uFillTx/>
              </a:rPr>
              <a:t> </a:t>
            </a:r>
            <a:r>
              <a:rPr lang="en-US" dirty="0" err="1">
                <a:uFillTx/>
              </a:rPr>
              <a:t>dẫn</a:t>
            </a:r>
            <a:r>
              <a:rPr lang="en-US" dirty="0">
                <a:uFillTx/>
              </a:rPr>
              <a:t>: </a:t>
            </a:r>
            <a:r>
              <a:rPr lang="en-US" dirty="0" err="1">
                <a:uFillTx/>
              </a:rPr>
              <a:t>Xây</a:t>
            </a:r>
            <a:r>
              <a:rPr lang="en-US" dirty="0">
                <a:uFillTx/>
              </a:rPr>
              <a:t> </a:t>
            </a:r>
            <a:r>
              <a:rPr lang="en-US" dirty="0" err="1">
                <a:uFillTx/>
              </a:rPr>
              <a:t>dựng</a:t>
            </a:r>
            <a:r>
              <a:rPr lang="en-US" dirty="0">
                <a:uFillTx/>
              </a:rPr>
              <a:t> 5 </a:t>
            </a:r>
            <a:r>
              <a:rPr lang="en-US" dirty="0" err="1">
                <a:uFillTx/>
              </a:rPr>
              <a:t>lớp</a:t>
            </a:r>
            <a:endParaRPr lang="en-US" dirty="0">
              <a:uFillTx/>
            </a:endParaRPr>
          </a:p>
          <a:p>
            <a:pPr lvl="2"/>
            <a:r>
              <a:rPr lang="en-US" dirty="0" err="1">
                <a:uFillTx/>
              </a:rPr>
              <a:t>Xây</a:t>
            </a:r>
            <a:r>
              <a:rPr lang="en-US" dirty="0">
                <a:uFillTx/>
              </a:rPr>
              <a:t> </a:t>
            </a:r>
            <a:r>
              <a:rPr lang="en-US" dirty="0" err="1">
                <a:uFillTx/>
              </a:rPr>
              <a:t>dựng</a:t>
            </a:r>
            <a:r>
              <a:rPr lang="en-US" dirty="0">
                <a:uFillTx/>
              </a:rPr>
              <a:t> </a:t>
            </a:r>
            <a:r>
              <a:rPr lang="en-US" dirty="0" err="1">
                <a:uFillTx/>
              </a:rPr>
              <a:t>lớp</a:t>
            </a:r>
            <a:r>
              <a:rPr lang="en-US" dirty="0">
                <a:uFillTx/>
              </a:rPr>
              <a:t> </a:t>
            </a:r>
            <a:r>
              <a:rPr lang="en-US" dirty="0" err="1">
                <a:uFillTx/>
              </a:rPr>
              <a:t>NhanVien</a:t>
            </a:r>
            <a:endParaRPr lang="en-US" dirty="0">
              <a:uFillTx/>
            </a:endParaRPr>
          </a:p>
          <a:p>
            <a:pPr lvl="3"/>
            <a:r>
              <a:rPr lang="en-US" dirty="0" err="1">
                <a:uFillTx/>
              </a:rPr>
              <a:t>Dữ</a:t>
            </a:r>
            <a:r>
              <a:rPr lang="en-US" dirty="0">
                <a:uFillTx/>
              </a:rPr>
              <a:t> </a:t>
            </a:r>
            <a:r>
              <a:rPr lang="en-US" dirty="0" err="1">
                <a:uFillTx/>
              </a:rPr>
              <a:t>liệu</a:t>
            </a:r>
            <a:r>
              <a:rPr lang="en-US" dirty="0">
                <a:uFillTx/>
              </a:rPr>
              <a:t>: </a:t>
            </a:r>
            <a:r>
              <a:rPr lang="en-US" dirty="0" err="1">
                <a:uFillTx/>
              </a:rPr>
              <a:t>Họ</a:t>
            </a:r>
            <a:r>
              <a:rPr lang="en-US" dirty="0">
                <a:uFillTx/>
              </a:rPr>
              <a:t> </a:t>
            </a:r>
            <a:r>
              <a:rPr lang="en-US" dirty="0" err="1">
                <a:uFillTx/>
              </a:rPr>
              <a:t>tên</a:t>
            </a:r>
            <a:r>
              <a:rPr lang="en-US" dirty="0">
                <a:uFillTx/>
              </a:rPr>
              <a:t>, </a:t>
            </a:r>
            <a:r>
              <a:rPr lang="en-US" dirty="0" err="1">
                <a:uFillTx/>
              </a:rPr>
              <a:t>Địa</a:t>
            </a:r>
            <a:r>
              <a:rPr lang="en-US" dirty="0">
                <a:uFillTx/>
              </a:rPr>
              <a:t> </a:t>
            </a:r>
            <a:r>
              <a:rPr lang="en-US" dirty="0" err="1">
                <a:uFillTx/>
              </a:rPr>
              <a:t>chỉ</a:t>
            </a:r>
            <a:r>
              <a:rPr lang="en-US" dirty="0">
                <a:uFillTx/>
              </a:rPr>
              <a:t>, </a:t>
            </a:r>
            <a:r>
              <a:rPr lang="en-US" dirty="0" err="1">
                <a:uFillTx/>
              </a:rPr>
              <a:t>ngày</a:t>
            </a:r>
            <a:r>
              <a:rPr lang="en-US" dirty="0">
                <a:uFillTx/>
              </a:rPr>
              <a:t> </a:t>
            </a:r>
            <a:r>
              <a:rPr lang="en-US" dirty="0" err="1">
                <a:uFillTx/>
              </a:rPr>
              <a:t>sinh</a:t>
            </a:r>
            <a:endParaRPr lang="en-US" dirty="0">
              <a:uFillTx/>
            </a:endParaRPr>
          </a:p>
          <a:p>
            <a:pPr lvl="3"/>
            <a:r>
              <a:rPr lang="en-US" dirty="0" err="1">
                <a:uFillTx/>
              </a:rPr>
              <a:t>Phương</a:t>
            </a:r>
            <a:r>
              <a:rPr lang="en-US" dirty="0">
                <a:uFillTx/>
              </a:rPr>
              <a:t> </a:t>
            </a:r>
            <a:r>
              <a:rPr lang="en-US" dirty="0" err="1">
                <a:uFillTx/>
              </a:rPr>
              <a:t>thức</a:t>
            </a:r>
            <a:r>
              <a:rPr lang="en-US" dirty="0">
                <a:uFillTx/>
              </a:rPr>
              <a:t>: </a:t>
            </a:r>
            <a:r>
              <a:rPr lang="en-US" dirty="0" err="1">
                <a:uFillTx/>
              </a:rPr>
              <a:t>Nhập</a:t>
            </a:r>
            <a:r>
              <a:rPr lang="en-US" dirty="0">
                <a:uFillTx/>
              </a:rPr>
              <a:t>, </a:t>
            </a:r>
            <a:r>
              <a:rPr lang="en-US" dirty="0" err="1">
                <a:uFillTx/>
              </a:rPr>
              <a:t>Xuất</a:t>
            </a:r>
            <a:r>
              <a:rPr lang="en-US" dirty="0">
                <a:uFillTx/>
              </a:rPr>
              <a:t>, </a:t>
            </a:r>
            <a:r>
              <a:rPr lang="en-US" dirty="0" err="1">
                <a:uFillTx/>
              </a:rPr>
              <a:t>Tính</a:t>
            </a:r>
            <a:r>
              <a:rPr lang="en-US" dirty="0">
                <a:uFillTx/>
              </a:rPr>
              <a:t> </a:t>
            </a:r>
            <a:r>
              <a:rPr lang="en-US" dirty="0" err="1">
                <a:uFillTx/>
              </a:rPr>
              <a:t>lương</a:t>
            </a:r>
            <a:endParaRPr lang="en-US" dirty="0">
              <a:uFillTx/>
            </a:endParaRPr>
          </a:p>
          <a:p>
            <a:pPr lvl="2"/>
            <a:r>
              <a:rPr lang="en-US" dirty="0" err="1">
                <a:uFillTx/>
              </a:rPr>
              <a:t>Xây</a:t>
            </a:r>
            <a:r>
              <a:rPr lang="en-US" dirty="0">
                <a:uFillTx/>
              </a:rPr>
              <a:t> </a:t>
            </a:r>
            <a:r>
              <a:rPr lang="en-US" dirty="0" err="1">
                <a:uFillTx/>
              </a:rPr>
              <a:t>dựng</a:t>
            </a:r>
            <a:r>
              <a:rPr lang="en-US" dirty="0">
                <a:uFillTx/>
              </a:rPr>
              <a:t> </a:t>
            </a:r>
            <a:r>
              <a:rPr lang="en-US" dirty="0" err="1">
                <a:uFillTx/>
              </a:rPr>
              <a:t>lớp</a:t>
            </a:r>
            <a:r>
              <a:rPr lang="en-US" dirty="0">
                <a:uFillTx/>
              </a:rPr>
              <a:t> </a:t>
            </a:r>
            <a:r>
              <a:rPr lang="en-US" dirty="0" err="1">
                <a:uFillTx/>
              </a:rPr>
              <a:t>NhanVienSanXuat</a:t>
            </a:r>
            <a:endParaRPr lang="en-US" dirty="0">
              <a:uFillTx/>
            </a:endParaRPr>
          </a:p>
          <a:p>
            <a:pPr lvl="3"/>
            <a:r>
              <a:rPr lang="en-US" dirty="0" err="1">
                <a:uFillTx/>
              </a:rPr>
              <a:t>Kế</a:t>
            </a:r>
            <a:r>
              <a:rPr lang="en-US" dirty="0">
                <a:uFillTx/>
              </a:rPr>
              <a:t> </a:t>
            </a:r>
            <a:r>
              <a:rPr lang="en-US" dirty="0" err="1">
                <a:uFillTx/>
              </a:rPr>
              <a:t>thừa</a:t>
            </a:r>
            <a:r>
              <a:rPr lang="en-US" dirty="0">
                <a:uFillTx/>
              </a:rPr>
              <a:t> </a:t>
            </a:r>
            <a:r>
              <a:rPr lang="en-US" dirty="0" err="1">
                <a:uFillTx/>
              </a:rPr>
              <a:t>lớp</a:t>
            </a:r>
            <a:r>
              <a:rPr lang="en-US" dirty="0">
                <a:uFillTx/>
              </a:rPr>
              <a:t> </a:t>
            </a:r>
            <a:r>
              <a:rPr lang="en-US" dirty="0" err="1">
                <a:uFillTx/>
              </a:rPr>
              <a:t>NhanVien</a:t>
            </a:r>
            <a:endParaRPr lang="en-US" dirty="0">
              <a:uFillTx/>
            </a:endParaRPr>
          </a:p>
          <a:p>
            <a:pPr lvl="3"/>
            <a:r>
              <a:rPr lang="en-US" dirty="0" err="1">
                <a:uFillTx/>
              </a:rPr>
              <a:t>Bổ</a:t>
            </a:r>
            <a:r>
              <a:rPr lang="en-US" dirty="0">
                <a:uFillTx/>
              </a:rPr>
              <a:t> sung </a:t>
            </a:r>
            <a:r>
              <a:rPr lang="en-US" dirty="0" err="1">
                <a:uFillTx/>
              </a:rPr>
              <a:t>thêm</a:t>
            </a:r>
            <a:r>
              <a:rPr lang="en-US" dirty="0">
                <a:uFillTx/>
              </a:rPr>
              <a:t> </a:t>
            </a:r>
            <a:r>
              <a:rPr lang="en-US" dirty="0" err="1">
                <a:uFillTx/>
              </a:rPr>
              <a:t>thành</a:t>
            </a:r>
            <a:r>
              <a:rPr lang="en-US" dirty="0">
                <a:uFillTx/>
              </a:rPr>
              <a:t> </a:t>
            </a:r>
            <a:r>
              <a:rPr lang="en-US" dirty="0" err="1">
                <a:uFillTx/>
              </a:rPr>
              <a:t>phần</a:t>
            </a:r>
            <a:r>
              <a:rPr lang="en-US" dirty="0">
                <a:uFillTx/>
              </a:rPr>
              <a:t> </a:t>
            </a:r>
            <a:r>
              <a:rPr lang="en-US" dirty="0" err="1">
                <a:uFillTx/>
              </a:rPr>
              <a:t>dữ</a:t>
            </a:r>
            <a:r>
              <a:rPr lang="en-US" dirty="0">
                <a:uFillTx/>
              </a:rPr>
              <a:t> </a:t>
            </a:r>
            <a:r>
              <a:rPr lang="en-US" dirty="0" err="1">
                <a:uFillTx/>
              </a:rPr>
              <a:t>liệu</a:t>
            </a:r>
            <a:r>
              <a:rPr lang="en-US" dirty="0">
                <a:uFillTx/>
              </a:rPr>
              <a:t>: </a:t>
            </a:r>
            <a:r>
              <a:rPr lang="en-US" dirty="0" err="1">
                <a:uFillTx/>
              </a:rPr>
              <a:t>Số</a:t>
            </a:r>
            <a:r>
              <a:rPr lang="en-US" dirty="0">
                <a:uFillTx/>
              </a:rPr>
              <a:t> </a:t>
            </a:r>
            <a:r>
              <a:rPr lang="en-US" dirty="0" err="1">
                <a:uFillTx/>
              </a:rPr>
              <a:t>sản</a:t>
            </a:r>
            <a:r>
              <a:rPr lang="en-US" dirty="0">
                <a:uFillTx/>
              </a:rPr>
              <a:t> </a:t>
            </a:r>
            <a:r>
              <a:rPr lang="en-US" dirty="0" err="1">
                <a:uFillTx/>
              </a:rPr>
              <a:t>phẩm</a:t>
            </a:r>
            <a:endParaRPr lang="en-US" dirty="0">
              <a:uFillTx/>
            </a:endParaRPr>
          </a:p>
          <a:p>
            <a:pPr lvl="3"/>
            <a:r>
              <a:rPr lang="en-US" dirty="0" err="1">
                <a:uFillTx/>
              </a:rPr>
              <a:t>Điều</a:t>
            </a:r>
            <a:r>
              <a:rPr lang="en-US" dirty="0">
                <a:uFillTx/>
              </a:rPr>
              <a:t> </a:t>
            </a:r>
            <a:r>
              <a:rPr lang="en-US" dirty="0" err="1">
                <a:uFillTx/>
              </a:rPr>
              <a:t>chỉnh</a:t>
            </a:r>
            <a:r>
              <a:rPr lang="en-US" dirty="0">
                <a:uFillTx/>
              </a:rPr>
              <a:t> </a:t>
            </a:r>
            <a:r>
              <a:rPr lang="en-US" dirty="0" err="1">
                <a:uFillTx/>
              </a:rPr>
              <a:t>lại</a:t>
            </a:r>
            <a:r>
              <a:rPr lang="en-US" dirty="0">
                <a:uFillTx/>
              </a:rPr>
              <a:t> </a:t>
            </a:r>
            <a:r>
              <a:rPr lang="en-US" dirty="0" err="1">
                <a:uFillTx/>
              </a:rPr>
              <a:t>phương</a:t>
            </a:r>
            <a:r>
              <a:rPr lang="en-US" dirty="0">
                <a:uFillTx/>
              </a:rPr>
              <a:t> </a:t>
            </a:r>
            <a:r>
              <a:rPr lang="en-US" dirty="0" err="1">
                <a:uFillTx/>
              </a:rPr>
              <a:t>thức</a:t>
            </a:r>
            <a:r>
              <a:rPr lang="en-US" dirty="0">
                <a:uFillTx/>
              </a:rPr>
              <a:t> </a:t>
            </a:r>
            <a:r>
              <a:rPr lang="en-US" dirty="0" err="1">
                <a:uFillTx/>
              </a:rPr>
              <a:t>Nhập</a:t>
            </a:r>
            <a:r>
              <a:rPr lang="en-US" dirty="0">
                <a:uFillTx/>
              </a:rPr>
              <a:t>,  </a:t>
            </a:r>
            <a:r>
              <a:rPr lang="en-US" dirty="0" err="1">
                <a:uFillTx/>
              </a:rPr>
              <a:t>Xuất</a:t>
            </a:r>
            <a:r>
              <a:rPr lang="en-US" dirty="0">
                <a:uFillTx/>
              </a:rPr>
              <a:t>, </a:t>
            </a:r>
            <a:r>
              <a:rPr lang="en-US" dirty="0" err="1">
                <a:uFillTx/>
              </a:rPr>
              <a:t>Tính</a:t>
            </a:r>
            <a:r>
              <a:rPr lang="en-US" dirty="0">
                <a:uFillTx/>
              </a:rPr>
              <a:t> </a:t>
            </a:r>
            <a:r>
              <a:rPr lang="en-US" dirty="0" err="1">
                <a:uFillTx/>
              </a:rPr>
              <a:t>lương</a:t>
            </a:r>
            <a:endParaRPr lang="en-US" dirty="0">
              <a:uFillTx/>
            </a:endParaRPr>
          </a:p>
          <a:p>
            <a:endParaRPr lang="en-US" dirty="0">
              <a:uFillTx/>
            </a:endParaRPr>
          </a:p>
        </p:txBody>
      </p:sp>
      <p:sp>
        <p:nvSpPr>
          <p:cNvPr id="4" name="Date Placeholder 3"/>
          <p:cNvSpPr>
            <a:spLocks noGrp="1"/>
          </p:cNvSpPr>
          <p:nvPr>
            <p:ph type="dt" sz="half" idx="10"/>
          </p:nvPr>
        </p:nvSpPr>
        <p:spPr/>
        <p:txBody>
          <a:bodyPr/>
          <a:lstStyle/>
          <a:p>
            <a:fld id="{74D22424-1A44-4C67-B8F2-F32CF2596719}" type="datetime1">
              <a:rPr lang="vi-VN" smtClean="0">
                <a:uFillTx/>
              </a:rPr>
              <a:t>08/02/2025</a:t>
            </a:fld>
            <a:endParaRPr lang="vi-VN">
              <a:uFillTx/>
            </a:endParaRPr>
          </a:p>
        </p:txBody>
      </p:sp>
      <p:sp>
        <p:nvSpPr>
          <p:cNvPr id="5" name="Footer Placeholder 4"/>
          <p:cNvSpPr>
            <a:spLocks noGrp="1"/>
          </p:cNvSpPr>
          <p:nvPr>
            <p:ph type="ftr" sz="quarter" idx="11"/>
          </p:nvPr>
        </p:nvSpPr>
        <p:spPr/>
        <p:txBody>
          <a:bodyPr/>
          <a:lstStyle/>
          <a:p>
            <a:r>
              <a:rPr lang="vi-VN">
                <a:uFillTx/>
              </a:rPr>
              <a:t>Chương 3. Lập trình hướng đối tượng trong C#</a:t>
            </a:r>
          </a:p>
        </p:txBody>
      </p:sp>
      <p:sp>
        <p:nvSpPr>
          <p:cNvPr id="6" name="Slide Number Placeholder 5"/>
          <p:cNvSpPr>
            <a:spLocks noGrp="1"/>
          </p:cNvSpPr>
          <p:nvPr>
            <p:ph type="sldNum" sz="quarter" idx="12"/>
          </p:nvPr>
        </p:nvSpPr>
        <p:spPr/>
        <p:txBody>
          <a:bodyPr/>
          <a:lstStyle/>
          <a:p>
            <a:fld id="{5AB95402-1E0D-474E-8D8C-CBE7F053639E}" type="slidenum">
              <a:rPr lang="vi-VN" smtClean="0">
                <a:uFillTx/>
              </a:rPr>
              <a:pPr/>
              <a:t>38</a:t>
            </a:fld>
            <a:r>
              <a:rPr lang="vi-VN">
                <a:uFillTx/>
              </a:rPr>
              <a:t>/28</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uFillTx/>
              </a:rPr>
              <a:t>Bài tập về nhà</a:t>
            </a:r>
          </a:p>
        </p:txBody>
      </p:sp>
      <p:sp>
        <p:nvSpPr>
          <p:cNvPr id="3" name="Content Placeholder 2"/>
          <p:cNvSpPr>
            <a:spLocks noGrp="1"/>
          </p:cNvSpPr>
          <p:nvPr>
            <p:ph idx="1"/>
          </p:nvPr>
        </p:nvSpPr>
        <p:spPr/>
        <p:txBody>
          <a:bodyPr/>
          <a:lstStyle/>
          <a:p>
            <a:pPr lvl="1"/>
            <a:r>
              <a:rPr lang="en-US" dirty="0" err="1">
                <a:uFillTx/>
              </a:rPr>
              <a:t>Hướng</a:t>
            </a:r>
            <a:r>
              <a:rPr lang="en-US" dirty="0">
                <a:uFillTx/>
              </a:rPr>
              <a:t> </a:t>
            </a:r>
            <a:r>
              <a:rPr lang="en-US" dirty="0" err="1">
                <a:uFillTx/>
              </a:rPr>
              <a:t>dẫn</a:t>
            </a:r>
            <a:r>
              <a:rPr lang="en-US" dirty="0">
                <a:uFillTx/>
              </a:rPr>
              <a:t>: </a:t>
            </a:r>
            <a:r>
              <a:rPr lang="en-US" dirty="0" err="1">
                <a:uFillTx/>
              </a:rPr>
              <a:t>Xây</a:t>
            </a:r>
            <a:r>
              <a:rPr lang="en-US" dirty="0">
                <a:uFillTx/>
              </a:rPr>
              <a:t> </a:t>
            </a:r>
            <a:r>
              <a:rPr lang="en-US" dirty="0" err="1">
                <a:uFillTx/>
              </a:rPr>
              <a:t>dựng</a:t>
            </a:r>
            <a:r>
              <a:rPr lang="en-US" dirty="0">
                <a:uFillTx/>
              </a:rPr>
              <a:t> 5 </a:t>
            </a:r>
            <a:r>
              <a:rPr lang="en-US" dirty="0" err="1">
                <a:uFillTx/>
              </a:rPr>
              <a:t>lớp</a:t>
            </a:r>
            <a:r>
              <a:rPr lang="en-US" dirty="0">
                <a:uFillTx/>
              </a:rPr>
              <a:t> </a:t>
            </a:r>
          </a:p>
          <a:p>
            <a:pPr lvl="2"/>
            <a:r>
              <a:rPr lang="en-US" dirty="0" err="1">
                <a:uFillTx/>
              </a:rPr>
              <a:t>Xây</a:t>
            </a:r>
            <a:r>
              <a:rPr lang="en-US" dirty="0">
                <a:uFillTx/>
              </a:rPr>
              <a:t> </a:t>
            </a:r>
            <a:r>
              <a:rPr lang="en-US" dirty="0" err="1">
                <a:uFillTx/>
              </a:rPr>
              <a:t>dựng</a:t>
            </a:r>
            <a:r>
              <a:rPr lang="en-US" dirty="0">
                <a:uFillTx/>
              </a:rPr>
              <a:t> </a:t>
            </a:r>
            <a:r>
              <a:rPr lang="en-US" dirty="0" err="1">
                <a:uFillTx/>
              </a:rPr>
              <a:t>lớp</a:t>
            </a:r>
            <a:r>
              <a:rPr lang="en-US" dirty="0">
                <a:uFillTx/>
              </a:rPr>
              <a:t> </a:t>
            </a:r>
            <a:r>
              <a:rPr lang="en-US" dirty="0" err="1">
                <a:uFillTx/>
              </a:rPr>
              <a:t>NhanVienCongNhat</a:t>
            </a:r>
            <a:endParaRPr lang="en-US" dirty="0">
              <a:uFillTx/>
            </a:endParaRPr>
          </a:p>
          <a:p>
            <a:pPr lvl="3"/>
            <a:r>
              <a:rPr lang="en-US" dirty="0" err="1">
                <a:uFillTx/>
              </a:rPr>
              <a:t>Kế</a:t>
            </a:r>
            <a:r>
              <a:rPr lang="en-US" dirty="0">
                <a:uFillTx/>
              </a:rPr>
              <a:t> </a:t>
            </a:r>
            <a:r>
              <a:rPr lang="en-US" dirty="0" err="1">
                <a:uFillTx/>
              </a:rPr>
              <a:t>thừa</a:t>
            </a:r>
            <a:r>
              <a:rPr lang="en-US" dirty="0">
                <a:uFillTx/>
              </a:rPr>
              <a:t> </a:t>
            </a:r>
            <a:r>
              <a:rPr lang="en-US" dirty="0" err="1">
                <a:uFillTx/>
              </a:rPr>
              <a:t>lớp</a:t>
            </a:r>
            <a:r>
              <a:rPr lang="en-US" dirty="0">
                <a:uFillTx/>
              </a:rPr>
              <a:t> </a:t>
            </a:r>
            <a:r>
              <a:rPr lang="en-US" dirty="0" err="1">
                <a:uFillTx/>
              </a:rPr>
              <a:t>NhanVien</a:t>
            </a:r>
            <a:endParaRPr lang="en-US" dirty="0">
              <a:uFillTx/>
            </a:endParaRPr>
          </a:p>
          <a:p>
            <a:pPr lvl="3"/>
            <a:r>
              <a:rPr lang="en-US" dirty="0" err="1">
                <a:uFillTx/>
              </a:rPr>
              <a:t>Bổ</a:t>
            </a:r>
            <a:r>
              <a:rPr lang="en-US" dirty="0">
                <a:uFillTx/>
              </a:rPr>
              <a:t> sung </a:t>
            </a:r>
            <a:r>
              <a:rPr lang="en-US" dirty="0" err="1">
                <a:uFillTx/>
              </a:rPr>
              <a:t>thêm</a:t>
            </a:r>
            <a:r>
              <a:rPr lang="en-US" dirty="0">
                <a:uFillTx/>
              </a:rPr>
              <a:t> </a:t>
            </a:r>
            <a:r>
              <a:rPr lang="en-US" dirty="0" err="1">
                <a:uFillTx/>
              </a:rPr>
              <a:t>thành</a:t>
            </a:r>
            <a:r>
              <a:rPr lang="en-US" dirty="0">
                <a:uFillTx/>
              </a:rPr>
              <a:t> </a:t>
            </a:r>
            <a:r>
              <a:rPr lang="en-US" dirty="0" err="1">
                <a:uFillTx/>
              </a:rPr>
              <a:t>phần</a:t>
            </a:r>
            <a:r>
              <a:rPr lang="en-US" dirty="0">
                <a:uFillTx/>
              </a:rPr>
              <a:t> </a:t>
            </a:r>
            <a:r>
              <a:rPr lang="en-US" dirty="0" err="1">
                <a:uFillTx/>
              </a:rPr>
              <a:t>dữ</a:t>
            </a:r>
            <a:r>
              <a:rPr lang="en-US" dirty="0">
                <a:uFillTx/>
              </a:rPr>
              <a:t> </a:t>
            </a:r>
            <a:r>
              <a:rPr lang="en-US" dirty="0" err="1">
                <a:uFillTx/>
              </a:rPr>
              <a:t>liệu</a:t>
            </a:r>
            <a:r>
              <a:rPr lang="en-US" dirty="0">
                <a:uFillTx/>
              </a:rPr>
              <a:t>: </a:t>
            </a:r>
            <a:r>
              <a:rPr lang="en-US" dirty="0" err="1">
                <a:uFillTx/>
              </a:rPr>
              <a:t>Số</a:t>
            </a:r>
            <a:r>
              <a:rPr lang="en-US" dirty="0">
                <a:uFillTx/>
              </a:rPr>
              <a:t> </a:t>
            </a:r>
            <a:r>
              <a:rPr lang="en-US" dirty="0" err="1">
                <a:uFillTx/>
              </a:rPr>
              <a:t>ngày</a:t>
            </a:r>
            <a:r>
              <a:rPr lang="en-US" dirty="0">
                <a:uFillTx/>
              </a:rPr>
              <a:t> </a:t>
            </a:r>
            <a:r>
              <a:rPr lang="en-US" dirty="0" err="1">
                <a:uFillTx/>
              </a:rPr>
              <a:t>công</a:t>
            </a:r>
            <a:endParaRPr lang="en-US" dirty="0">
              <a:uFillTx/>
            </a:endParaRPr>
          </a:p>
          <a:p>
            <a:pPr lvl="3"/>
            <a:r>
              <a:rPr lang="en-US" dirty="0" err="1">
                <a:uFillTx/>
              </a:rPr>
              <a:t>Điều</a:t>
            </a:r>
            <a:r>
              <a:rPr lang="en-US" dirty="0">
                <a:uFillTx/>
              </a:rPr>
              <a:t> </a:t>
            </a:r>
            <a:r>
              <a:rPr lang="en-US" dirty="0" err="1">
                <a:uFillTx/>
              </a:rPr>
              <a:t>chỉnh</a:t>
            </a:r>
            <a:r>
              <a:rPr lang="en-US" dirty="0">
                <a:uFillTx/>
              </a:rPr>
              <a:t> </a:t>
            </a:r>
            <a:r>
              <a:rPr lang="en-US" dirty="0" err="1">
                <a:uFillTx/>
              </a:rPr>
              <a:t>lại</a:t>
            </a:r>
            <a:r>
              <a:rPr lang="en-US" dirty="0">
                <a:uFillTx/>
              </a:rPr>
              <a:t> </a:t>
            </a:r>
            <a:r>
              <a:rPr lang="en-US" dirty="0" err="1">
                <a:uFillTx/>
              </a:rPr>
              <a:t>phương</a:t>
            </a:r>
            <a:r>
              <a:rPr lang="en-US" dirty="0">
                <a:uFillTx/>
              </a:rPr>
              <a:t> </a:t>
            </a:r>
            <a:r>
              <a:rPr lang="en-US" dirty="0" err="1">
                <a:uFillTx/>
              </a:rPr>
              <a:t>thức</a:t>
            </a:r>
            <a:r>
              <a:rPr lang="en-US" dirty="0">
                <a:uFillTx/>
              </a:rPr>
              <a:t> </a:t>
            </a:r>
            <a:r>
              <a:rPr lang="en-US" dirty="0" err="1">
                <a:uFillTx/>
              </a:rPr>
              <a:t>Nhập</a:t>
            </a:r>
            <a:r>
              <a:rPr lang="en-US" dirty="0">
                <a:uFillTx/>
              </a:rPr>
              <a:t>,  </a:t>
            </a:r>
            <a:r>
              <a:rPr lang="en-US" dirty="0" err="1">
                <a:uFillTx/>
              </a:rPr>
              <a:t>Xuất</a:t>
            </a:r>
            <a:r>
              <a:rPr lang="en-US" dirty="0">
                <a:uFillTx/>
              </a:rPr>
              <a:t>, </a:t>
            </a:r>
            <a:r>
              <a:rPr lang="en-US" dirty="0" err="1">
                <a:uFillTx/>
              </a:rPr>
              <a:t>Tính</a:t>
            </a:r>
            <a:r>
              <a:rPr lang="en-US" dirty="0">
                <a:uFillTx/>
              </a:rPr>
              <a:t> </a:t>
            </a:r>
            <a:r>
              <a:rPr lang="en-US" dirty="0" err="1">
                <a:uFillTx/>
              </a:rPr>
              <a:t>lương</a:t>
            </a:r>
            <a:endParaRPr lang="en-US" dirty="0">
              <a:uFillTx/>
            </a:endParaRPr>
          </a:p>
          <a:p>
            <a:pPr lvl="2"/>
            <a:r>
              <a:rPr lang="en-US" dirty="0" err="1">
                <a:uFillTx/>
              </a:rPr>
              <a:t>Xây</a:t>
            </a:r>
            <a:r>
              <a:rPr lang="en-US" dirty="0">
                <a:uFillTx/>
              </a:rPr>
              <a:t> </a:t>
            </a:r>
            <a:r>
              <a:rPr lang="en-US" dirty="0" err="1">
                <a:uFillTx/>
              </a:rPr>
              <a:t>dựng</a:t>
            </a:r>
            <a:r>
              <a:rPr lang="en-US" dirty="0">
                <a:uFillTx/>
              </a:rPr>
              <a:t> </a:t>
            </a:r>
            <a:r>
              <a:rPr lang="en-US" dirty="0" err="1">
                <a:uFillTx/>
              </a:rPr>
              <a:t>lớp</a:t>
            </a:r>
            <a:r>
              <a:rPr lang="en-US" dirty="0">
                <a:uFillTx/>
              </a:rPr>
              <a:t> </a:t>
            </a:r>
            <a:r>
              <a:rPr lang="en-US" dirty="0" err="1">
                <a:uFillTx/>
              </a:rPr>
              <a:t>NhanVienQuanLy</a:t>
            </a:r>
            <a:endParaRPr lang="en-US" dirty="0">
              <a:uFillTx/>
            </a:endParaRPr>
          </a:p>
          <a:p>
            <a:pPr lvl="3"/>
            <a:r>
              <a:rPr lang="en-US" dirty="0" err="1">
                <a:uFillTx/>
              </a:rPr>
              <a:t>Kế</a:t>
            </a:r>
            <a:r>
              <a:rPr lang="en-US" dirty="0">
                <a:uFillTx/>
              </a:rPr>
              <a:t> </a:t>
            </a:r>
            <a:r>
              <a:rPr lang="en-US" dirty="0" err="1">
                <a:uFillTx/>
              </a:rPr>
              <a:t>thừa</a:t>
            </a:r>
            <a:r>
              <a:rPr lang="en-US" dirty="0">
                <a:uFillTx/>
              </a:rPr>
              <a:t> </a:t>
            </a:r>
            <a:r>
              <a:rPr lang="en-US" dirty="0" err="1">
                <a:uFillTx/>
              </a:rPr>
              <a:t>lớp</a:t>
            </a:r>
            <a:r>
              <a:rPr lang="en-US" dirty="0">
                <a:uFillTx/>
              </a:rPr>
              <a:t> </a:t>
            </a:r>
            <a:r>
              <a:rPr lang="en-US" dirty="0" err="1">
                <a:uFillTx/>
              </a:rPr>
              <a:t>NhanVien</a:t>
            </a:r>
            <a:endParaRPr lang="en-US" dirty="0">
              <a:uFillTx/>
            </a:endParaRPr>
          </a:p>
          <a:p>
            <a:pPr lvl="3"/>
            <a:r>
              <a:rPr lang="en-US" dirty="0" err="1">
                <a:uFillTx/>
              </a:rPr>
              <a:t>Bổ</a:t>
            </a:r>
            <a:r>
              <a:rPr lang="en-US" dirty="0">
                <a:uFillTx/>
              </a:rPr>
              <a:t> sung </a:t>
            </a:r>
            <a:r>
              <a:rPr lang="en-US" dirty="0" err="1">
                <a:uFillTx/>
              </a:rPr>
              <a:t>thêm</a:t>
            </a:r>
            <a:r>
              <a:rPr lang="en-US" dirty="0">
                <a:uFillTx/>
              </a:rPr>
              <a:t> </a:t>
            </a:r>
            <a:r>
              <a:rPr lang="en-US" dirty="0" err="1">
                <a:uFillTx/>
              </a:rPr>
              <a:t>thành</a:t>
            </a:r>
            <a:r>
              <a:rPr lang="en-US" dirty="0">
                <a:uFillTx/>
              </a:rPr>
              <a:t> </a:t>
            </a:r>
            <a:r>
              <a:rPr lang="en-US" dirty="0" err="1">
                <a:uFillTx/>
              </a:rPr>
              <a:t>phần</a:t>
            </a:r>
            <a:r>
              <a:rPr lang="en-US" dirty="0">
                <a:uFillTx/>
              </a:rPr>
              <a:t> </a:t>
            </a:r>
            <a:r>
              <a:rPr lang="en-US" dirty="0" err="1">
                <a:uFillTx/>
              </a:rPr>
              <a:t>dữ</a:t>
            </a:r>
            <a:r>
              <a:rPr lang="en-US" dirty="0">
                <a:uFillTx/>
              </a:rPr>
              <a:t> </a:t>
            </a:r>
            <a:r>
              <a:rPr lang="en-US" dirty="0" err="1">
                <a:uFillTx/>
              </a:rPr>
              <a:t>liệu</a:t>
            </a:r>
            <a:r>
              <a:rPr lang="en-US" dirty="0">
                <a:uFillTx/>
              </a:rPr>
              <a:t>: </a:t>
            </a:r>
            <a:r>
              <a:rPr lang="en-US" dirty="0" err="1">
                <a:uFillTx/>
              </a:rPr>
              <a:t>Hệ</a:t>
            </a:r>
            <a:r>
              <a:rPr lang="en-US" dirty="0">
                <a:uFillTx/>
              </a:rPr>
              <a:t> </a:t>
            </a:r>
            <a:r>
              <a:rPr lang="en-US" dirty="0" err="1">
                <a:uFillTx/>
              </a:rPr>
              <a:t>số</a:t>
            </a:r>
            <a:r>
              <a:rPr lang="en-US" dirty="0">
                <a:uFillTx/>
              </a:rPr>
              <a:t> </a:t>
            </a:r>
            <a:r>
              <a:rPr lang="en-US" dirty="0" err="1">
                <a:uFillTx/>
              </a:rPr>
              <a:t>lương</a:t>
            </a:r>
            <a:r>
              <a:rPr lang="en-US" dirty="0">
                <a:uFillTx/>
              </a:rPr>
              <a:t>, </a:t>
            </a:r>
            <a:r>
              <a:rPr lang="en-US" dirty="0" err="1">
                <a:uFillTx/>
              </a:rPr>
              <a:t>Lương</a:t>
            </a:r>
            <a:r>
              <a:rPr lang="en-US" dirty="0">
                <a:uFillTx/>
              </a:rPr>
              <a:t> </a:t>
            </a:r>
            <a:r>
              <a:rPr lang="en-US" dirty="0" err="1">
                <a:uFillTx/>
              </a:rPr>
              <a:t>cơ</a:t>
            </a:r>
            <a:r>
              <a:rPr lang="en-US" dirty="0">
                <a:uFillTx/>
              </a:rPr>
              <a:t> </a:t>
            </a:r>
            <a:r>
              <a:rPr lang="en-US" dirty="0" err="1">
                <a:uFillTx/>
              </a:rPr>
              <a:t>bản</a:t>
            </a:r>
            <a:endParaRPr lang="en-US" dirty="0">
              <a:uFillTx/>
            </a:endParaRPr>
          </a:p>
          <a:p>
            <a:pPr lvl="3"/>
            <a:r>
              <a:rPr lang="en-US" dirty="0" err="1">
                <a:uFillTx/>
              </a:rPr>
              <a:t>Điều</a:t>
            </a:r>
            <a:r>
              <a:rPr lang="en-US" dirty="0">
                <a:uFillTx/>
              </a:rPr>
              <a:t> </a:t>
            </a:r>
            <a:r>
              <a:rPr lang="en-US" dirty="0" err="1">
                <a:uFillTx/>
              </a:rPr>
              <a:t>chỉnh</a:t>
            </a:r>
            <a:r>
              <a:rPr lang="en-US" dirty="0">
                <a:uFillTx/>
              </a:rPr>
              <a:t> </a:t>
            </a:r>
            <a:r>
              <a:rPr lang="en-US" dirty="0" err="1">
                <a:uFillTx/>
              </a:rPr>
              <a:t>lại</a:t>
            </a:r>
            <a:r>
              <a:rPr lang="en-US" dirty="0">
                <a:uFillTx/>
              </a:rPr>
              <a:t> </a:t>
            </a:r>
            <a:r>
              <a:rPr lang="en-US" dirty="0" err="1">
                <a:uFillTx/>
              </a:rPr>
              <a:t>phương</a:t>
            </a:r>
            <a:r>
              <a:rPr lang="en-US" dirty="0">
                <a:uFillTx/>
              </a:rPr>
              <a:t> </a:t>
            </a:r>
            <a:r>
              <a:rPr lang="en-US" dirty="0" err="1">
                <a:uFillTx/>
              </a:rPr>
              <a:t>thức</a:t>
            </a:r>
            <a:r>
              <a:rPr lang="en-US" dirty="0">
                <a:uFillTx/>
              </a:rPr>
              <a:t> </a:t>
            </a:r>
            <a:r>
              <a:rPr lang="en-US" dirty="0" err="1">
                <a:uFillTx/>
              </a:rPr>
              <a:t>Nhập</a:t>
            </a:r>
            <a:r>
              <a:rPr lang="en-US" dirty="0">
                <a:uFillTx/>
              </a:rPr>
              <a:t>,  </a:t>
            </a:r>
            <a:r>
              <a:rPr lang="en-US" dirty="0" err="1">
                <a:uFillTx/>
              </a:rPr>
              <a:t>Xuất</a:t>
            </a:r>
            <a:r>
              <a:rPr lang="en-US" dirty="0">
                <a:uFillTx/>
              </a:rPr>
              <a:t>, </a:t>
            </a:r>
            <a:r>
              <a:rPr lang="en-US" dirty="0" err="1">
                <a:uFillTx/>
              </a:rPr>
              <a:t>Tính</a:t>
            </a:r>
            <a:r>
              <a:rPr lang="en-US" dirty="0">
                <a:uFillTx/>
              </a:rPr>
              <a:t> </a:t>
            </a:r>
            <a:r>
              <a:rPr lang="en-US" dirty="0" err="1">
                <a:uFillTx/>
              </a:rPr>
              <a:t>lương</a:t>
            </a:r>
            <a:endParaRPr lang="en-US" dirty="0">
              <a:uFillTx/>
            </a:endParaRPr>
          </a:p>
          <a:p>
            <a:pPr lvl="2"/>
            <a:r>
              <a:rPr lang="en-US" dirty="0" err="1">
                <a:uFillTx/>
              </a:rPr>
              <a:t>Xây</a:t>
            </a:r>
            <a:r>
              <a:rPr lang="en-US" dirty="0">
                <a:uFillTx/>
              </a:rPr>
              <a:t> </a:t>
            </a:r>
            <a:r>
              <a:rPr lang="en-US" dirty="0" err="1">
                <a:uFillTx/>
              </a:rPr>
              <a:t>dựng</a:t>
            </a:r>
            <a:r>
              <a:rPr lang="en-US" dirty="0">
                <a:uFillTx/>
              </a:rPr>
              <a:t> </a:t>
            </a:r>
            <a:r>
              <a:rPr lang="en-US" dirty="0" err="1">
                <a:uFillTx/>
              </a:rPr>
              <a:t>lớp</a:t>
            </a:r>
            <a:r>
              <a:rPr lang="en-US" dirty="0">
                <a:uFillTx/>
              </a:rPr>
              <a:t> </a:t>
            </a:r>
            <a:r>
              <a:rPr lang="en-US" dirty="0" err="1">
                <a:uFillTx/>
              </a:rPr>
              <a:t>DanhSachNhanVien</a:t>
            </a:r>
            <a:endParaRPr lang="en-US" dirty="0">
              <a:uFillTx/>
            </a:endParaRPr>
          </a:p>
          <a:p>
            <a:pPr lvl="3"/>
            <a:r>
              <a:rPr lang="en-US" dirty="0" err="1">
                <a:uFillTx/>
              </a:rPr>
              <a:t>Dữ</a:t>
            </a:r>
            <a:r>
              <a:rPr lang="en-US" dirty="0">
                <a:uFillTx/>
              </a:rPr>
              <a:t> </a:t>
            </a:r>
            <a:r>
              <a:rPr lang="en-US" dirty="0" err="1">
                <a:uFillTx/>
              </a:rPr>
              <a:t>liệu</a:t>
            </a:r>
            <a:r>
              <a:rPr lang="en-US" dirty="0">
                <a:uFillTx/>
              </a:rPr>
              <a:t>:</a:t>
            </a:r>
          </a:p>
          <a:p>
            <a:pPr marL="1306513" lvl="3" indent="0">
              <a:buNone/>
            </a:pPr>
            <a:r>
              <a:rPr lang="en-US" dirty="0">
                <a:uFillTx/>
              </a:rPr>
              <a:t>class </a:t>
            </a:r>
            <a:r>
              <a:rPr lang="en-US" dirty="0" err="1">
                <a:uFillTx/>
              </a:rPr>
              <a:t>DanhSachNhanVien</a:t>
            </a:r>
            <a:endParaRPr lang="en-US" dirty="0">
              <a:uFillTx/>
            </a:endParaRPr>
          </a:p>
          <a:p>
            <a:pPr marL="1306513" lvl="3" indent="0">
              <a:buNone/>
            </a:pPr>
            <a:r>
              <a:rPr lang="en-US" dirty="0">
                <a:uFillTx/>
              </a:rPr>
              <a:t>{</a:t>
            </a:r>
          </a:p>
          <a:p>
            <a:pPr marL="1306513" lvl="3" indent="0">
              <a:buNone/>
            </a:pPr>
            <a:r>
              <a:rPr lang="en-US" dirty="0">
                <a:uFillTx/>
              </a:rPr>
              <a:t>	int </a:t>
            </a:r>
            <a:r>
              <a:rPr lang="en-US" dirty="0" err="1">
                <a:uFillTx/>
              </a:rPr>
              <a:t>SoLuongNhanVien</a:t>
            </a:r>
            <a:r>
              <a:rPr lang="en-US" dirty="0">
                <a:uFillTx/>
              </a:rPr>
              <a:t>; //</a:t>
            </a:r>
            <a:r>
              <a:rPr lang="en-US" dirty="0" err="1">
                <a:uFillTx/>
              </a:rPr>
              <a:t>Số</a:t>
            </a:r>
            <a:r>
              <a:rPr lang="en-US" dirty="0">
                <a:uFillTx/>
              </a:rPr>
              <a:t> </a:t>
            </a:r>
            <a:r>
              <a:rPr lang="en-US" dirty="0" err="1">
                <a:uFillTx/>
              </a:rPr>
              <a:t>lượng</a:t>
            </a:r>
            <a:r>
              <a:rPr lang="en-US" dirty="0">
                <a:uFillTx/>
              </a:rPr>
              <a:t> </a:t>
            </a:r>
            <a:r>
              <a:rPr lang="en-US" dirty="0" err="1">
                <a:uFillTx/>
              </a:rPr>
              <a:t>nhân</a:t>
            </a:r>
            <a:r>
              <a:rPr lang="en-US" dirty="0">
                <a:uFillTx/>
              </a:rPr>
              <a:t> </a:t>
            </a:r>
            <a:r>
              <a:rPr lang="en-US" dirty="0" err="1">
                <a:uFillTx/>
              </a:rPr>
              <a:t>viên</a:t>
            </a:r>
            <a:endParaRPr lang="en-US" dirty="0">
              <a:uFillTx/>
            </a:endParaRPr>
          </a:p>
          <a:p>
            <a:pPr marL="1306513" lvl="3" indent="0">
              <a:buNone/>
            </a:pPr>
            <a:r>
              <a:rPr lang="en-US" dirty="0">
                <a:uFillTx/>
              </a:rPr>
              <a:t>	</a:t>
            </a:r>
            <a:r>
              <a:rPr lang="en-US" dirty="0" err="1">
                <a:uFillTx/>
              </a:rPr>
              <a:t>NhanVien</a:t>
            </a:r>
            <a:r>
              <a:rPr lang="en-US" dirty="0">
                <a:uFillTx/>
              </a:rPr>
              <a:t> [] DS; //</a:t>
            </a:r>
            <a:r>
              <a:rPr lang="en-US" dirty="0" err="1">
                <a:uFillTx/>
              </a:rPr>
              <a:t>Danh</a:t>
            </a:r>
            <a:r>
              <a:rPr lang="en-US" dirty="0">
                <a:uFillTx/>
              </a:rPr>
              <a:t> </a:t>
            </a:r>
            <a:r>
              <a:rPr lang="en-US" dirty="0" err="1">
                <a:uFillTx/>
              </a:rPr>
              <a:t>sách</a:t>
            </a:r>
            <a:r>
              <a:rPr lang="en-US" dirty="0">
                <a:uFillTx/>
              </a:rPr>
              <a:t> </a:t>
            </a:r>
            <a:r>
              <a:rPr lang="en-US" dirty="0" err="1">
                <a:uFillTx/>
              </a:rPr>
              <a:t>nhân</a:t>
            </a:r>
            <a:r>
              <a:rPr lang="en-US" dirty="0">
                <a:uFillTx/>
              </a:rPr>
              <a:t> </a:t>
            </a:r>
            <a:r>
              <a:rPr lang="en-US" dirty="0" err="1">
                <a:uFillTx/>
              </a:rPr>
              <a:t>viên</a:t>
            </a:r>
            <a:endParaRPr lang="en-US" dirty="0">
              <a:uFillTx/>
            </a:endParaRPr>
          </a:p>
          <a:p>
            <a:pPr marL="1306513" lvl="3" indent="0">
              <a:buNone/>
            </a:pPr>
            <a:r>
              <a:rPr lang="en-US" dirty="0">
                <a:uFillTx/>
              </a:rPr>
              <a:t>}</a:t>
            </a:r>
          </a:p>
        </p:txBody>
      </p:sp>
      <p:sp>
        <p:nvSpPr>
          <p:cNvPr id="4" name="Date Placeholder 3"/>
          <p:cNvSpPr>
            <a:spLocks noGrp="1"/>
          </p:cNvSpPr>
          <p:nvPr>
            <p:ph type="dt" sz="half" idx="10"/>
          </p:nvPr>
        </p:nvSpPr>
        <p:spPr/>
        <p:txBody>
          <a:bodyPr/>
          <a:lstStyle/>
          <a:p>
            <a:fld id="{A4379139-13A0-4B6A-9EF6-796D40BBDE72}" type="datetime1">
              <a:rPr lang="vi-VN" smtClean="0">
                <a:uFillTx/>
              </a:rPr>
              <a:t>08/02/2025</a:t>
            </a:fld>
            <a:endParaRPr lang="vi-VN">
              <a:uFillTx/>
            </a:endParaRPr>
          </a:p>
        </p:txBody>
      </p:sp>
      <p:sp>
        <p:nvSpPr>
          <p:cNvPr id="5" name="Footer Placeholder 4"/>
          <p:cNvSpPr>
            <a:spLocks noGrp="1"/>
          </p:cNvSpPr>
          <p:nvPr>
            <p:ph type="ftr" sz="quarter" idx="11"/>
          </p:nvPr>
        </p:nvSpPr>
        <p:spPr/>
        <p:txBody>
          <a:bodyPr/>
          <a:lstStyle/>
          <a:p>
            <a:r>
              <a:rPr lang="vi-VN">
                <a:uFillTx/>
              </a:rPr>
              <a:t>Chương 3. Lập trình hướng đối tượng trong C#</a:t>
            </a:r>
          </a:p>
        </p:txBody>
      </p:sp>
      <p:sp>
        <p:nvSpPr>
          <p:cNvPr id="6" name="Slide Number Placeholder 5"/>
          <p:cNvSpPr>
            <a:spLocks noGrp="1"/>
          </p:cNvSpPr>
          <p:nvPr>
            <p:ph type="sldNum" sz="quarter" idx="12"/>
          </p:nvPr>
        </p:nvSpPr>
        <p:spPr/>
        <p:txBody>
          <a:bodyPr/>
          <a:lstStyle/>
          <a:p>
            <a:fld id="{5AB95402-1E0D-474E-8D8C-CBE7F053639E}" type="slidenum">
              <a:rPr lang="vi-VN" smtClean="0">
                <a:uFillTx/>
              </a:rPr>
              <a:pPr/>
              <a:t>39</a:t>
            </a:fld>
            <a:r>
              <a:rPr lang="vi-VN">
                <a:uFillTx/>
              </a:rPr>
              <a:t>/28</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uFillTx/>
              </a:rPr>
              <a:t>Bài tập về nhà</a:t>
            </a:r>
          </a:p>
        </p:txBody>
      </p:sp>
      <p:sp>
        <p:nvSpPr>
          <p:cNvPr id="3" name="Content Placeholder 2"/>
          <p:cNvSpPr>
            <a:spLocks noGrp="1"/>
          </p:cNvSpPr>
          <p:nvPr>
            <p:ph idx="1"/>
          </p:nvPr>
        </p:nvSpPr>
        <p:spPr/>
        <p:txBody>
          <a:bodyPr/>
          <a:lstStyle/>
          <a:p>
            <a:pPr lvl="2"/>
            <a:r>
              <a:rPr lang="en-US">
                <a:uFillTx/>
              </a:rPr>
              <a:t>Xây dựng lớp DanhSachNhanVien</a:t>
            </a:r>
          </a:p>
          <a:p>
            <a:pPr lvl="3"/>
            <a:r>
              <a:rPr lang="en-US">
                <a:uFillTx/>
              </a:rPr>
              <a:t>Phương thức:</a:t>
            </a:r>
          </a:p>
          <a:p>
            <a:pPr lvl="4"/>
            <a:r>
              <a:rPr lang="en-US">
                <a:uFillTx/>
              </a:rPr>
              <a:t>Nhập danh sách, In danh sách</a:t>
            </a:r>
          </a:p>
          <a:p>
            <a:pPr marL="71437" indent="0">
              <a:buNone/>
            </a:pPr>
            <a:r>
              <a:rPr lang="en-US" b="1" u="sng">
                <a:uFillTx/>
              </a:rPr>
              <a:t>Chú ý:</a:t>
            </a:r>
          </a:p>
          <a:p>
            <a:pPr lvl="2"/>
            <a:r>
              <a:rPr lang="en-US">
                <a:uFillTx/>
              </a:rPr>
              <a:t>Xây dựng lớp tính lương ở lớp cơ sở (NhanVien) là phương thức ảo (virtual)</a:t>
            </a:r>
          </a:p>
          <a:p>
            <a:pPr lvl="2"/>
            <a:r>
              <a:rPr lang="en-US">
                <a:uFillTx/>
              </a:rPr>
              <a:t>Ở các lớp dẫn xuất (NhanVienSanXuat, NhanVienCongNhat, NhanVienQuanLy) kế thừa lại phương thức tính lương bằng cách ghi đè (override)</a:t>
            </a:r>
          </a:p>
          <a:p>
            <a:pPr lvl="2"/>
            <a:endParaRPr lang="en-US">
              <a:uFillTx/>
            </a:endParaRPr>
          </a:p>
        </p:txBody>
      </p:sp>
      <p:sp>
        <p:nvSpPr>
          <p:cNvPr id="4" name="Date Placeholder 3"/>
          <p:cNvSpPr>
            <a:spLocks noGrp="1"/>
          </p:cNvSpPr>
          <p:nvPr>
            <p:ph type="dt" sz="half" idx="10"/>
          </p:nvPr>
        </p:nvSpPr>
        <p:spPr/>
        <p:txBody>
          <a:bodyPr/>
          <a:lstStyle/>
          <a:p>
            <a:fld id="{F3B64935-A50B-489B-811B-5C87E8182A52}" type="datetime1">
              <a:rPr lang="vi-VN" smtClean="0">
                <a:uFillTx/>
              </a:rPr>
              <a:t>08/02/2025</a:t>
            </a:fld>
            <a:endParaRPr lang="vi-VN">
              <a:uFillTx/>
            </a:endParaRPr>
          </a:p>
        </p:txBody>
      </p:sp>
      <p:sp>
        <p:nvSpPr>
          <p:cNvPr id="5" name="Footer Placeholder 4"/>
          <p:cNvSpPr>
            <a:spLocks noGrp="1"/>
          </p:cNvSpPr>
          <p:nvPr>
            <p:ph type="ftr" sz="quarter" idx="11"/>
          </p:nvPr>
        </p:nvSpPr>
        <p:spPr/>
        <p:txBody>
          <a:bodyPr/>
          <a:lstStyle/>
          <a:p>
            <a:r>
              <a:rPr lang="vi-VN">
                <a:uFillTx/>
              </a:rPr>
              <a:t>Chương 3. Lập trình hướng đối tượng trong C#</a:t>
            </a:r>
          </a:p>
        </p:txBody>
      </p:sp>
      <p:sp>
        <p:nvSpPr>
          <p:cNvPr id="6" name="Slide Number Placeholder 5"/>
          <p:cNvSpPr>
            <a:spLocks noGrp="1"/>
          </p:cNvSpPr>
          <p:nvPr>
            <p:ph type="sldNum" sz="quarter" idx="12"/>
          </p:nvPr>
        </p:nvSpPr>
        <p:spPr/>
        <p:txBody>
          <a:bodyPr/>
          <a:lstStyle/>
          <a:p>
            <a:fld id="{5AB95402-1E0D-474E-8D8C-CBE7F053639E}" type="slidenum">
              <a:rPr lang="vi-VN" smtClean="0">
                <a:uFillTx/>
              </a:rPr>
              <a:pPr/>
              <a:t>40</a:t>
            </a:fld>
            <a:r>
              <a:rPr lang="vi-VN">
                <a:uFillTx/>
              </a:rPr>
              <a:t>/28</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Bài tập về nhà</a:t>
            </a:r>
          </a:p>
        </p:txBody>
      </p:sp>
      <p:sp>
        <p:nvSpPr>
          <p:cNvPr id="3" name="Content Placeholder 2"/>
          <p:cNvSpPr>
            <a:spLocks noGrp="1"/>
          </p:cNvSpPr>
          <p:nvPr>
            <p:ph idx="1"/>
          </p:nvPr>
        </p:nvSpPr>
        <p:spPr/>
        <p:txBody>
          <a:bodyPr/>
          <a:lstStyle/>
          <a:p>
            <a:r>
              <a:rPr lang="en-US" err="1"/>
              <a:t>Bài</a:t>
            </a:r>
            <a:r>
              <a:rPr lang="en-US"/>
              <a:t> 4. </a:t>
            </a:r>
            <a:r>
              <a:rPr lang="en-US" dirty="0" err="1"/>
              <a:t>Quản</a:t>
            </a:r>
            <a:r>
              <a:rPr lang="en-US" dirty="0"/>
              <a:t> </a:t>
            </a:r>
            <a:r>
              <a:rPr lang="en-US" dirty="0" err="1"/>
              <a:t>lý</a:t>
            </a:r>
            <a:r>
              <a:rPr lang="en-US" dirty="0"/>
              <a:t> </a:t>
            </a:r>
            <a:r>
              <a:rPr lang="en-US" dirty="0" err="1"/>
              <a:t>sinh</a:t>
            </a:r>
            <a:r>
              <a:rPr lang="en-US" dirty="0"/>
              <a:t> </a:t>
            </a:r>
            <a:r>
              <a:rPr lang="en-US" dirty="0" err="1"/>
              <a:t>viên</a:t>
            </a:r>
            <a:endParaRPr lang="en-US" dirty="0"/>
          </a:p>
          <a:p>
            <a:pPr lvl="1"/>
            <a:r>
              <a:rPr lang="en-US" dirty="0" err="1"/>
              <a:t>Xây</a:t>
            </a:r>
            <a:r>
              <a:rPr lang="en-US" dirty="0"/>
              <a:t> </a:t>
            </a:r>
            <a:r>
              <a:rPr lang="en-US" dirty="0" err="1"/>
              <a:t>dựng</a:t>
            </a:r>
            <a:r>
              <a:rPr lang="en-US" dirty="0"/>
              <a:t> </a:t>
            </a:r>
            <a:r>
              <a:rPr lang="en-US" dirty="0" err="1"/>
              <a:t>lớp</a:t>
            </a:r>
            <a:r>
              <a:rPr lang="en-US" dirty="0"/>
              <a:t> </a:t>
            </a:r>
            <a:r>
              <a:rPr lang="en-US" dirty="0" err="1"/>
              <a:t>sinh</a:t>
            </a:r>
            <a:r>
              <a:rPr lang="en-US" dirty="0"/>
              <a:t> </a:t>
            </a:r>
            <a:r>
              <a:rPr lang="en-US" dirty="0" err="1"/>
              <a:t>viên</a:t>
            </a:r>
            <a:r>
              <a:rPr lang="en-US" dirty="0"/>
              <a:t> </a:t>
            </a:r>
            <a:r>
              <a:rPr lang="en-US" dirty="0" err="1"/>
              <a:t>quản</a:t>
            </a:r>
            <a:r>
              <a:rPr lang="en-US" dirty="0"/>
              <a:t> </a:t>
            </a:r>
            <a:r>
              <a:rPr lang="en-US" dirty="0" err="1"/>
              <a:t>lý</a:t>
            </a:r>
            <a:r>
              <a:rPr lang="en-US" dirty="0"/>
              <a:t> </a:t>
            </a:r>
            <a:r>
              <a:rPr lang="en-US" dirty="0" err="1"/>
              <a:t>Họ</a:t>
            </a:r>
            <a:r>
              <a:rPr lang="en-US" dirty="0"/>
              <a:t> </a:t>
            </a:r>
            <a:r>
              <a:rPr lang="en-US" dirty="0" err="1"/>
              <a:t>tên</a:t>
            </a:r>
            <a:r>
              <a:rPr lang="en-US" dirty="0"/>
              <a:t>, </a:t>
            </a:r>
            <a:r>
              <a:rPr lang="en-US" dirty="0" err="1"/>
              <a:t>Ngày</a:t>
            </a:r>
            <a:r>
              <a:rPr lang="en-US" dirty="0"/>
              <a:t> </a:t>
            </a:r>
            <a:r>
              <a:rPr lang="en-US" dirty="0" err="1"/>
              <a:t>sinh</a:t>
            </a:r>
            <a:r>
              <a:rPr lang="en-US" dirty="0"/>
              <a:t>, </a:t>
            </a:r>
            <a:r>
              <a:rPr lang="en-US" dirty="0" err="1"/>
              <a:t>Điểm</a:t>
            </a:r>
            <a:r>
              <a:rPr lang="en-US" dirty="0"/>
              <a:t> </a:t>
            </a:r>
            <a:r>
              <a:rPr lang="en-US" dirty="0" err="1"/>
              <a:t>thi</a:t>
            </a:r>
            <a:r>
              <a:rPr lang="en-US" dirty="0"/>
              <a:t> </a:t>
            </a:r>
            <a:r>
              <a:rPr lang="en-US" dirty="0" err="1"/>
              <a:t>môn</a:t>
            </a:r>
            <a:r>
              <a:rPr lang="en-US" dirty="0"/>
              <a:t> </a:t>
            </a:r>
            <a:r>
              <a:rPr lang="en-US" dirty="0" err="1"/>
              <a:t>Lập</a:t>
            </a:r>
            <a:r>
              <a:rPr lang="en-US" dirty="0"/>
              <a:t> </a:t>
            </a:r>
            <a:r>
              <a:rPr lang="en-US" dirty="0" err="1"/>
              <a:t>trình</a:t>
            </a:r>
            <a:r>
              <a:rPr lang="en-US" dirty="0"/>
              <a:t>, </a:t>
            </a:r>
            <a:r>
              <a:rPr lang="en-US" dirty="0" err="1"/>
              <a:t>Cơ</a:t>
            </a:r>
            <a:r>
              <a:rPr lang="en-US" dirty="0"/>
              <a:t> </a:t>
            </a:r>
            <a:r>
              <a:rPr lang="en-US" dirty="0" err="1"/>
              <a:t>sở</a:t>
            </a:r>
            <a:r>
              <a:rPr lang="en-US" dirty="0"/>
              <a:t> </a:t>
            </a:r>
            <a:r>
              <a:rPr lang="en-US" dirty="0" err="1"/>
              <a:t>dữ</a:t>
            </a:r>
            <a:r>
              <a:rPr lang="en-US" dirty="0"/>
              <a:t> </a:t>
            </a:r>
            <a:r>
              <a:rPr lang="en-US" dirty="0" err="1"/>
              <a:t>liệu</a:t>
            </a:r>
            <a:r>
              <a:rPr lang="en-US" dirty="0"/>
              <a:t>, </a:t>
            </a:r>
            <a:r>
              <a:rPr lang="en-US" dirty="0" err="1"/>
              <a:t>Thiết</a:t>
            </a:r>
            <a:r>
              <a:rPr lang="en-US" dirty="0"/>
              <a:t> </a:t>
            </a:r>
            <a:r>
              <a:rPr lang="en-US" dirty="0" err="1"/>
              <a:t>kế</a:t>
            </a:r>
            <a:r>
              <a:rPr lang="en-US" dirty="0"/>
              <a:t> web.</a:t>
            </a:r>
          </a:p>
          <a:p>
            <a:pPr lvl="1"/>
            <a:r>
              <a:rPr lang="en-US" dirty="0" err="1"/>
              <a:t>Xây</a:t>
            </a:r>
            <a:r>
              <a:rPr lang="en-US" dirty="0"/>
              <a:t> </a:t>
            </a:r>
            <a:r>
              <a:rPr lang="en-US" dirty="0" err="1"/>
              <a:t>dựng</a:t>
            </a:r>
            <a:r>
              <a:rPr lang="en-US" dirty="0"/>
              <a:t> </a:t>
            </a:r>
            <a:r>
              <a:rPr lang="en-US" dirty="0" err="1"/>
              <a:t>lớp</a:t>
            </a:r>
            <a:r>
              <a:rPr lang="en-US" dirty="0"/>
              <a:t> </a:t>
            </a:r>
            <a:r>
              <a:rPr lang="en-US" dirty="0" err="1"/>
              <a:t>danh</a:t>
            </a:r>
            <a:r>
              <a:rPr lang="en-US" dirty="0"/>
              <a:t> </a:t>
            </a:r>
            <a:r>
              <a:rPr lang="en-US" dirty="0" err="1"/>
              <a:t>sách</a:t>
            </a:r>
            <a:r>
              <a:rPr lang="en-US" dirty="0"/>
              <a:t> </a:t>
            </a:r>
            <a:r>
              <a:rPr lang="en-US" dirty="0" err="1"/>
              <a:t>gồm</a:t>
            </a:r>
            <a:r>
              <a:rPr lang="en-US" dirty="0"/>
              <a:t> N </a:t>
            </a:r>
            <a:r>
              <a:rPr lang="en-US" dirty="0" err="1"/>
              <a:t>sinh</a:t>
            </a:r>
            <a:r>
              <a:rPr lang="en-US" dirty="0"/>
              <a:t> </a:t>
            </a:r>
            <a:r>
              <a:rPr lang="en-US" dirty="0" err="1"/>
              <a:t>viên</a:t>
            </a:r>
            <a:r>
              <a:rPr lang="en-US" dirty="0"/>
              <a:t> (</a:t>
            </a:r>
            <a:r>
              <a:rPr lang="en-US" dirty="0" err="1"/>
              <a:t>nhập+xuất</a:t>
            </a:r>
            <a:r>
              <a:rPr lang="en-US"/>
              <a:t>)</a:t>
            </a:r>
          </a:p>
          <a:p>
            <a:pPr lvl="1"/>
            <a:r>
              <a:rPr lang="en-US" dirty="0" err="1"/>
              <a:t>Đưa</a:t>
            </a:r>
            <a:r>
              <a:rPr lang="en-US" dirty="0"/>
              <a:t> ra </a:t>
            </a:r>
            <a:r>
              <a:rPr lang="en-US" dirty="0" err="1"/>
              <a:t>số</a:t>
            </a:r>
            <a:r>
              <a:rPr lang="en-US" dirty="0"/>
              <a:t> </a:t>
            </a:r>
            <a:r>
              <a:rPr lang="en-US" dirty="0" err="1"/>
              <a:t>lượng</a:t>
            </a:r>
            <a:r>
              <a:rPr lang="en-US" dirty="0"/>
              <a:t> </a:t>
            </a:r>
            <a:r>
              <a:rPr lang="en-US" dirty="0" err="1"/>
              <a:t>sinh</a:t>
            </a:r>
            <a:r>
              <a:rPr lang="en-US" dirty="0"/>
              <a:t> </a:t>
            </a:r>
            <a:r>
              <a:rPr lang="en-US" dirty="0" err="1"/>
              <a:t>viên</a:t>
            </a:r>
            <a:r>
              <a:rPr lang="en-US" dirty="0"/>
              <a:t> </a:t>
            </a:r>
            <a:r>
              <a:rPr lang="en-US" dirty="0" err="1"/>
              <a:t>được</a:t>
            </a:r>
            <a:r>
              <a:rPr lang="en-US" dirty="0"/>
              <a:t> </a:t>
            </a:r>
            <a:r>
              <a:rPr lang="en-US" dirty="0" err="1"/>
              <a:t>làm</a:t>
            </a:r>
            <a:r>
              <a:rPr lang="en-US" dirty="0"/>
              <a:t> </a:t>
            </a:r>
            <a:r>
              <a:rPr lang="en-US" dirty="0" err="1"/>
              <a:t>khoá</a:t>
            </a:r>
            <a:r>
              <a:rPr lang="en-US" dirty="0"/>
              <a:t> </a:t>
            </a:r>
            <a:r>
              <a:rPr lang="en-US" dirty="0" err="1"/>
              <a:t>luận</a:t>
            </a:r>
            <a:r>
              <a:rPr lang="en-US" dirty="0"/>
              <a:t> </a:t>
            </a:r>
            <a:r>
              <a:rPr lang="en-US" dirty="0" err="1"/>
              <a:t>tốt</a:t>
            </a:r>
            <a:r>
              <a:rPr lang="en-US" dirty="0"/>
              <a:t> </a:t>
            </a:r>
            <a:r>
              <a:rPr lang="en-US" dirty="0" err="1"/>
              <a:t>nghiệp</a:t>
            </a:r>
            <a:r>
              <a:rPr lang="en-US" dirty="0"/>
              <a:t>; </a:t>
            </a:r>
            <a:r>
              <a:rPr lang="en-US" dirty="0" err="1"/>
              <a:t>Số</a:t>
            </a:r>
            <a:r>
              <a:rPr lang="en-US" dirty="0"/>
              <a:t> </a:t>
            </a:r>
            <a:r>
              <a:rPr lang="en-US" dirty="0" err="1"/>
              <a:t>lượng</a:t>
            </a:r>
            <a:r>
              <a:rPr lang="en-US" dirty="0"/>
              <a:t> </a:t>
            </a:r>
            <a:r>
              <a:rPr lang="en-US" dirty="0" err="1"/>
              <a:t>sinh</a:t>
            </a:r>
            <a:r>
              <a:rPr lang="en-US" dirty="0"/>
              <a:t> </a:t>
            </a:r>
            <a:r>
              <a:rPr lang="en-US" dirty="0" err="1"/>
              <a:t>viên</a:t>
            </a:r>
            <a:r>
              <a:rPr lang="en-US" dirty="0"/>
              <a:t> </a:t>
            </a:r>
            <a:r>
              <a:rPr lang="en-US" dirty="0" err="1"/>
              <a:t>làm</a:t>
            </a:r>
            <a:r>
              <a:rPr lang="en-US" dirty="0"/>
              <a:t> </a:t>
            </a:r>
            <a:r>
              <a:rPr lang="en-US" dirty="0" err="1"/>
              <a:t>chuyên</a:t>
            </a:r>
            <a:r>
              <a:rPr lang="en-US" dirty="0"/>
              <a:t> </a:t>
            </a:r>
            <a:r>
              <a:rPr lang="en-US" dirty="0" err="1"/>
              <a:t>đề</a:t>
            </a:r>
            <a:r>
              <a:rPr lang="en-US" dirty="0"/>
              <a:t> </a:t>
            </a:r>
            <a:r>
              <a:rPr lang="en-US" dirty="0" err="1"/>
              <a:t>tốt</a:t>
            </a:r>
            <a:r>
              <a:rPr lang="en-US" dirty="0"/>
              <a:t> </a:t>
            </a:r>
            <a:r>
              <a:rPr lang="en-US" dirty="0" err="1"/>
              <a:t>nghiệp</a:t>
            </a:r>
            <a:r>
              <a:rPr lang="en-US" dirty="0"/>
              <a:t> </a:t>
            </a:r>
            <a:r>
              <a:rPr lang="en-US" dirty="0" err="1"/>
              <a:t>với</a:t>
            </a:r>
            <a:r>
              <a:rPr lang="en-US" dirty="0"/>
              <a:t> </a:t>
            </a:r>
            <a:r>
              <a:rPr lang="en-US" dirty="0" err="1"/>
              <a:t>các</a:t>
            </a:r>
            <a:r>
              <a:rPr lang="en-US" dirty="0"/>
              <a:t> </a:t>
            </a:r>
            <a:r>
              <a:rPr lang="en-US" dirty="0" err="1"/>
              <a:t>điều</a:t>
            </a:r>
            <a:r>
              <a:rPr lang="en-US" dirty="0"/>
              <a:t> </a:t>
            </a:r>
            <a:r>
              <a:rPr lang="en-US" dirty="0" err="1"/>
              <a:t>kiện</a:t>
            </a:r>
            <a:r>
              <a:rPr lang="en-US" dirty="0"/>
              <a:t>:</a:t>
            </a:r>
          </a:p>
          <a:p>
            <a:pPr lvl="2"/>
            <a:r>
              <a:rPr lang="en-US" dirty="0" err="1"/>
              <a:t>Làm</a:t>
            </a:r>
            <a:r>
              <a:rPr lang="en-US" dirty="0"/>
              <a:t> </a:t>
            </a:r>
            <a:r>
              <a:rPr lang="en-US" dirty="0" err="1"/>
              <a:t>khoá</a:t>
            </a:r>
            <a:r>
              <a:rPr lang="en-US" dirty="0"/>
              <a:t> </a:t>
            </a:r>
            <a:r>
              <a:rPr lang="en-US" dirty="0" err="1"/>
              <a:t>luận</a:t>
            </a:r>
            <a:r>
              <a:rPr lang="en-US" dirty="0"/>
              <a:t> </a:t>
            </a:r>
            <a:r>
              <a:rPr lang="en-US" dirty="0" err="1"/>
              <a:t>nếu</a:t>
            </a:r>
            <a:r>
              <a:rPr lang="en-US" dirty="0"/>
              <a:t> </a:t>
            </a:r>
            <a:r>
              <a:rPr lang="en-US" dirty="0" err="1"/>
              <a:t>điểm</a:t>
            </a:r>
            <a:r>
              <a:rPr lang="en-US" dirty="0"/>
              <a:t> </a:t>
            </a:r>
            <a:r>
              <a:rPr lang="en-US" dirty="0" err="1"/>
              <a:t>Trung</a:t>
            </a:r>
            <a:r>
              <a:rPr lang="en-US" dirty="0"/>
              <a:t> </a:t>
            </a:r>
            <a:r>
              <a:rPr lang="en-US" dirty="0" err="1"/>
              <a:t>bình</a:t>
            </a:r>
            <a:r>
              <a:rPr lang="en-US" dirty="0"/>
              <a:t> &gt;= 8 </a:t>
            </a:r>
            <a:r>
              <a:rPr lang="en-US" dirty="0" err="1"/>
              <a:t>và</a:t>
            </a:r>
            <a:r>
              <a:rPr lang="en-US" dirty="0"/>
              <a:t> </a:t>
            </a:r>
            <a:r>
              <a:rPr lang="en-US" dirty="0" err="1"/>
              <a:t>không</a:t>
            </a:r>
            <a:r>
              <a:rPr lang="en-US" dirty="0"/>
              <a:t> </a:t>
            </a:r>
            <a:r>
              <a:rPr lang="en-US" dirty="0" err="1"/>
              <a:t>môn</a:t>
            </a:r>
            <a:r>
              <a:rPr lang="en-US" dirty="0"/>
              <a:t> </a:t>
            </a:r>
            <a:r>
              <a:rPr lang="en-US" dirty="0" err="1"/>
              <a:t>nào</a:t>
            </a:r>
            <a:r>
              <a:rPr lang="en-US" dirty="0"/>
              <a:t> </a:t>
            </a:r>
            <a:r>
              <a:rPr lang="en-US" dirty="0" err="1"/>
              <a:t>dưới</a:t>
            </a:r>
            <a:r>
              <a:rPr lang="en-US" dirty="0"/>
              <a:t> 5</a:t>
            </a:r>
          </a:p>
          <a:p>
            <a:pPr lvl="2"/>
            <a:r>
              <a:rPr lang="en-US" dirty="0" err="1"/>
              <a:t>Làm</a:t>
            </a:r>
            <a:r>
              <a:rPr lang="en-US" dirty="0"/>
              <a:t> </a:t>
            </a:r>
            <a:r>
              <a:rPr lang="en-US" dirty="0" err="1"/>
              <a:t>chuyên</a:t>
            </a:r>
            <a:r>
              <a:rPr lang="en-US" dirty="0"/>
              <a:t> </a:t>
            </a:r>
            <a:r>
              <a:rPr lang="en-US" dirty="0" err="1"/>
              <a:t>đề</a:t>
            </a:r>
            <a:r>
              <a:rPr lang="en-US" dirty="0"/>
              <a:t> </a:t>
            </a:r>
            <a:r>
              <a:rPr lang="en-US" dirty="0" err="1"/>
              <a:t>tốt</a:t>
            </a:r>
            <a:r>
              <a:rPr lang="en-US" dirty="0"/>
              <a:t> </a:t>
            </a:r>
            <a:r>
              <a:rPr lang="en-US" dirty="0" err="1"/>
              <a:t>nghiệp</a:t>
            </a:r>
            <a:r>
              <a:rPr lang="en-US" dirty="0"/>
              <a:t> </a:t>
            </a:r>
            <a:r>
              <a:rPr lang="en-US" dirty="0" err="1"/>
              <a:t>nếu</a:t>
            </a:r>
            <a:r>
              <a:rPr lang="en-US" dirty="0"/>
              <a:t> </a:t>
            </a:r>
            <a:r>
              <a:rPr lang="en-US" dirty="0" err="1"/>
              <a:t>Không</a:t>
            </a:r>
            <a:r>
              <a:rPr lang="en-US" dirty="0"/>
              <a:t> </a:t>
            </a:r>
            <a:r>
              <a:rPr lang="en-US" dirty="0" err="1"/>
              <a:t>có</a:t>
            </a:r>
            <a:r>
              <a:rPr lang="en-US" dirty="0"/>
              <a:t> </a:t>
            </a:r>
            <a:r>
              <a:rPr lang="en-US" dirty="0" err="1"/>
              <a:t>môn</a:t>
            </a:r>
            <a:r>
              <a:rPr lang="en-US" dirty="0"/>
              <a:t> </a:t>
            </a:r>
            <a:r>
              <a:rPr lang="en-US" dirty="0" err="1"/>
              <a:t>nào</a:t>
            </a:r>
            <a:r>
              <a:rPr lang="en-US" dirty="0"/>
              <a:t> </a:t>
            </a:r>
            <a:r>
              <a:rPr lang="en-US" dirty="0" err="1"/>
              <a:t>dưới</a:t>
            </a:r>
            <a:r>
              <a:rPr lang="en-US" dirty="0"/>
              <a:t> 5</a:t>
            </a:r>
          </a:p>
        </p:txBody>
      </p:sp>
      <p:sp>
        <p:nvSpPr>
          <p:cNvPr id="4" name="Date Placeholder 3"/>
          <p:cNvSpPr>
            <a:spLocks noGrp="1"/>
          </p:cNvSpPr>
          <p:nvPr>
            <p:ph type="dt" sz="half" idx="10"/>
          </p:nvPr>
        </p:nvSpPr>
        <p:spPr/>
        <p:txBody>
          <a:bodyPr/>
          <a:lstStyle/>
          <a:p>
            <a:fld id="{B88E2A3D-1029-49D6-A4F5-3296B04E5FA7}" type="datetime1">
              <a:rPr lang="vi-VN" smtClean="0"/>
              <a:t>08/02/2025</a:t>
            </a:fld>
            <a:endParaRPr lang="vi-VN"/>
          </a:p>
        </p:txBody>
      </p:sp>
      <p:sp>
        <p:nvSpPr>
          <p:cNvPr id="5" name="Footer Placeholder 4"/>
          <p:cNvSpPr>
            <a:spLocks noGrp="1"/>
          </p:cNvSpPr>
          <p:nvPr>
            <p:ph type="ftr" sz="quarter" idx="11"/>
          </p:nvPr>
        </p:nvSpPr>
        <p:spPr/>
        <p:txBody>
          <a:bodyPr/>
          <a:lstStyle/>
          <a:p>
            <a:r>
              <a:rPr lang="vi-VN"/>
              <a:t>Chương 3 - Lập trình hướng đối tượng trong C#</a:t>
            </a:r>
          </a:p>
        </p:txBody>
      </p:sp>
      <p:sp>
        <p:nvSpPr>
          <p:cNvPr id="6" name="Slide Number Placeholder 5"/>
          <p:cNvSpPr>
            <a:spLocks noGrp="1"/>
          </p:cNvSpPr>
          <p:nvPr>
            <p:ph type="sldNum" sz="quarter" idx="12"/>
          </p:nvPr>
        </p:nvSpPr>
        <p:spPr/>
        <p:txBody>
          <a:bodyPr/>
          <a:lstStyle/>
          <a:p>
            <a:fld id="{5AB95402-1E0D-474E-8D8C-CBE7F053639E}" type="slidenum">
              <a:rPr lang="vi-VN" smtClean="0"/>
              <a:pPr/>
              <a:t>41</a:t>
            </a:fld>
            <a:r>
              <a:rPr lang="vi-VN"/>
              <a:t>/28</a:t>
            </a:r>
          </a:p>
        </p:txBody>
      </p:sp>
    </p:spTree>
    <p:extLst>
      <p:ext uri="{BB962C8B-B14F-4D97-AF65-F5344CB8AC3E}">
        <p14:creationId xmlns:p14="http://schemas.microsoft.com/office/powerpoint/2010/main" val="419530398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Bài tập về nhà</a:t>
            </a:r>
          </a:p>
        </p:txBody>
      </p:sp>
      <p:sp>
        <p:nvSpPr>
          <p:cNvPr id="3" name="Content Placeholder 2"/>
          <p:cNvSpPr>
            <a:spLocks noGrp="1"/>
          </p:cNvSpPr>
          <p:nvPr>
            <p:ph idx="1"/>
          </p:nvPr>
        </p:nvSpPr>
        <p:spPr/>
        <p:txBody>
          <a:bodyPr/>
          <a:lstStyle/>
          <a:p>
            <a:r>
              <a:rPr lang="en-US"/>
              <a:t>Bài 5. </a:t>
            </a:r>
            <a:r>
              <a:rPr lang="vi-VN"/>
              <a:t>Quản lý thuê xe</a:t>
            </a:r>
          </a:p>
          <a:p>
            <a:pPr lvl="1"/>
            <a:r>
              <a:rPr lang="vi-VN" sz="2000"/>
              <a:t>Một gia đình làm dịch vụ cho thuê xe ô tô cần quản lý việc cho thuê xe. Gia đình có 2 loại xe: Xe du lịch và xe tải. </a:t>
            </a:r>
          </a:p>
          <a:p>
            <a:pPr lvl="1"/>
            <a:r>
              <a:rPr lang="vi-VN" sz="2000"/>
              <a:t>Thông tin thuê xe bao gồm: Họ tên người thuê, số giờ thuê. </a:t>
            </a:r>
          </a:p>
          <a:p>
            <a:pPr lvl="1"/>
            <a:r>
              <a:rPr lang="vi-VN" sz="2000"/>
              <a:t>Tiền thuê xe du lịch được tính như sau: 250.000đ cho giờ đầu và 70.000đ cho các giờ tiếp theo.</a:t>
            </a:r>
          </a:p>
          <a:p>
            <a:pPr lvl="1"/>
            <a:r>
              <a:rPr lang="vi-VN" sz="2000"/>
              <a:t>Tiền thuê xe tải được tính như sau: 220.000đ cho giờ đầu và 85.000đ cho </a:t>
            </a:r>
            <a:r>
              <a:rPr lang="en-US" sz="2000"/>
              <a:t>các giờ tiếp theo.</a:t>
            </a:r>
          </a:p>
          <a:p>
            <a:pPr marL="471487" lvl="1" indent="0">
              <a:buNone/>
            </a:pPr>
            <a:r>
              <a:rPr lang="en-US" sz="2000"/>
              <a:t>Viết chương trình thực hiện các yêu cầu:</a:t>
            </a:r>
          </a:p>
          <a:p>
            <a:pPr marL="928687" lvl="1" indent="-457200">
              <a:buAutoNum type="alphaLcParenR"/>
            </a:pPr>
            <a:r>
              <a:rPr lang="en-US" sz="2000"/>
              <a:t>Nhập danh sách thông tin thuê xe (bao gồm cả xe tải và xe du lịch)</a:t>
            </a:r>
          </a:p>
          <a:p>
            <a:pPr marL="928687" lvl="1" indent="-457200">
              <a:buAutoNum type="alphaLcParenR"/>
            </a:pPr>
            <a:r>
              <a:rPr lang="en-US" sz="2000"/>
              <a:t>In ra màn hình </a:t>
            </a:r>
            <a:r>
              <a:rPr lang="vi-VN" sz="2000"/>
              <a:t>tất cả thông tin thuê xe bao gồm: họ tên người thuê, số giờ thuê, thành tiền</a:t>
            </a:r>
            <a:endParaRPr lang="en-US" sz="2000"/>
          </a:p>
        </p:txBody>
      </p:sp>
      <p:sp>
        <p:nvSpPr>
          <p:cNvPr id="4" name="Date Placeholder 3"/>
          <p:cNvSpPr>
            <a:spLocks noGrp="1"/>
          </p:cNvSpPr>
          <p:nvPr>
            <p:ph type="dt" sz="half" idx="10"/>
          </p:nvPr>
        </p:nvSpPr>
        <p:spPr/>
        <p:txBody>
          <a:bodyPr/>
          <a:lstStyle/>
          <a:p>
            <a:fld id="{B88E2A3D-1029-49D6-A4F5-3296B04E5FA7}" type="datetime1">
              <a:rPr lang="vi-VN" smtClean="0"/>
              <a:t>08/02/2025</a:t>
            </a:fld>
            <a:endParaRPr lang="vi-VN"/>
          </a:p>
        </p:txBody>
      </p:sp>
      <p:sp>
        <p:nvSpPr>
          <p:cNvPr id="5" name="Footer Placeholder 4"/>
          <p:cNvSpPr>
            <a:spLocks noGrp="1"/>
          </p:cNvSpPr>
          <p:nvPr>
            <p:ph type="ftr" sz="quarter" idx="11"/>
          </p:nvPr>
        </p:nvSpPr>
        <p:spPr/>
        <p:txBody>
          <a:bodyPr/>
          <a:lstStyle/>
          <a:p>
            <a:r>
              <a:rPr lang="vi-VN"/>
              <a:t>Chương 3 - Lập trình hướng đối tượng trong C#</a:t>
            </a:r>
          </a:p>
        </p:txBody>
      </p:sp>
      <p:sp>
        <p:nvSpPr>
          <p:cNvPr id="6" name="Slide Number Placeholder 5"/>
          <p:cNvSpPr>
            <a:spLocks noGrp="1"/>
          </p:cNvSpPr>
          <p:nvPr>
            <p:ph type="sldNum" sz="quarter" idx="12"/>
          </p:nvPr>
        </p:nvSpPr>
        <p:spPr/>
        <p:txBody>
          <a:bodyPr/>
          <a:lstStyle/>
          <a:p>
            <a:fld id="{5AB95402-1E0D-474E-8D8C-CBE7F053639E}" type="slidenum">
              <a:rPr lang="vi-VN" smtClean="0"/>
              <a:pPr/>
              <a:t>42</a:t>
            </a:fld>
            <a:r>
              <a:rPr lang="vi-VN"/>
              <a:t>/28</a:t>
            </a:r>
          </a:p>
        </p:txBody>
      </p:sp>
    </p:spTree>
    <p:extLst>
      <p:ext uri="{BB962C8B-B14F-4D97-AF65-F5344CB8AC3E}">
        <p14:creationId xmlns:p14="http://schemas.microsoft.com/office/powerpoint/2010/main" val="332968009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Bài tập về nhà</a:t>
            </a:r>
          </a:p>
        </p:txBody>
      </p:sp>
      <p:sp>
        <p:nvSpPr>
          <p:cNvPr id="3" name="Content Placeholder 2"/>
          <p:cNvSpPr>
            <a:spLocks noGrp="1"/>
          </p:cNvSpPr>
          <p:nvPr>
            <p:ph idx="1"/>
          </p:nvPr>
        </p:nvSpPr>
        <p:spPr/>
        <p:txBody>
          <a:bodyPr/>
          <a:lstStyle/>
          <a:p>
            <a:pPr lvl="1"/>
            <a:r>
              <a:rPr lang="en-US"/>
              <a:t>Hướng dẫn</a:t>
            </a:r>
          </a:p>
          <a:p>
            <a:pPr lvl="2"/>
            <a:r>
              <a:rPr lang="vi-VN"/>
              <a:t>Xây dựng lớp Xe với gồm</a:t>
            </a:r>
          </a:p>
          <a:p>
            <a:pPr lvl="3"/>
            <a:r>
              <a:rPr lang="vi-VN"/>
              <a:t>Phương thức: Ba phương thức trừu tượng nhập, hiện, tính tiền với tham số đầu vào là số giờ thuê</a:t>
            </a:r>
          </a:p>
          <a:p>
            <a:pPr lvl="2"/>
            <a:r>
              <a:rPr lang="vi-VN"/>
              <a:t>Xây dựng lớp XeTai,XeKhach kế thừa từ lớp Xe với với việc triển khai các phương thức trong lớp Xe</a:t>
            </a:r>
          </a:p>
          <a:p>
            <a:pPr lvl="2"/>
            <a:r>
              <a:rPr lang="vi-VN"/>
              <a:t>Xây dựng lớp Khach với các thông tin</a:t>
            </a:r>
          </a:p>
          <a:p>
            <a:pPr lvl="3"/>
            <a:r>
              <a:rPr lang="vi-VN"/>
              <a:t>Dữ liệu: Họ tên khách, số giờ thuê, loại xe thuê</a:t>
            </a:r>
          </a:p>
          <a:p>
            <a:pPr lvl="3"/>
            <a:r>
              <a:rPr lang="vi-VN"/>
              <a:t>Phương thức: Nhập thông tin khách hàng, hiện thông tin khách hàng, tính tiền khách hàng</a:t>
            </a:r>
          </a:p>
          <a:p>
            <a:pPr lvl="2"/>
            <a:r>
              <a:rPr lang="vi-VN"/>
              <a:t>Xây dựng lớp QuanLy để quản lý các loại xe của gia đình mà khách hàng thuê gồm:</a:t>
            </a:r>
          </a:p>
          <a:p>
            <a:pPr lvl="3"/>
            <a:r>
              <a:rPr lang="vi-VN"/>
              <a:t>Dữ liệu: Mảng một chiều chứa các khách hàng thuê xe</a:t>
            </a:r>
          </a:p>
          <a:p>
            <a:pPr lvl="3"/>
            <a:r>
              <a:rPr lang="vi-VN"/>
              <a:t>Phương thức: Nhập, hiện, tính tổng tiền …</a:t>
            </a:r>
            <a:endParaRPr lang="en-US"/>
          </a:p>
        </p:txBody>
      </p:sp>
      <p:sp>
        <p:nvSpPr>
          <p:cNvPr id="4" name="Date Placeholder 3"/>
          <p:cNvSpPr>
            <a:spLocks noGrp="1"/>
          </p:cNvSpPr>
          <p:nvPr>
            <p:ph type="dt" sz="half" idx="10"/>
          </p:nvPr>
        </p:nvSpPr>
        <p:spPr/>
        <p:txBody>
          <a:bodyPr/>
          <a:lstStyle/>
          <a:p>
            <a:fld id="{B88E2A3D-1029-49D6-A4F5-3296B04E5FA7}" type="datetime1">
              <a:rPr lang="vi-VN" smtClean="0"/>
              <a:t>08/02/2025</a:t>
            </a:fld>
            <a:endParaRPr lang="vi-VN"/>
          </a:p>
        </p:txBody>
      </p:sp>
      <p:sp>
        <p:nvSpPr>
          <p:cNvPr id="5" name="Footer Placeholder 4"/>
          <p:cNvSpPr>
            <a:spLocks noGrp="1"/>
          </p:cNvSpPr>
          <p:nvPr>
            <p:ph type="ftr" sz="quarter" idx="11"/>
          </p:nvPr>
        </p:nvSpPr>
        <p:spPr/>
        <p:txBody>
          <a:bodyPr/>
          <a:lstStyle/>
          <a:p>
            <a:r>
              <a:rPr lang="vi-VN"/>
              <a:t>Chương 3 - Lập trình hướng đối tượng trong C#</a:t>
            </a:r>
          </a:p>
        </p:txBody>
      </p:sp>
      <p:sp>
        <p:nvSpPr>
          <p:cNvPr id="6" name="Slide Number Placeholder 5"/>
          <p:cNvSpPr>
            <a:spLocks noGrp="1"/>
          </p:cNvSpPr>
          <p:nvPr>
            <p:ph type="sldNum" sz="quarter" idx="12"/>
          </p:nvPr>
        </p:nvSpPr>
        <p:spPr/>
        <p:txBody>
          <a:bodyPr/>
          <a:lstStyle/>
          <a:p>
            <a:fld id="{5AB95402-1E0D-474E-8D8C-CBE7F053639E}" type="slidenum">
              <a:rPr lang="vi-VN" smtClean="0"/>
              <a:pPr/>
              <a:t>43</a:t>
            </a:fld>
            <a:r>
              <a:rPr lang="vi-VN"/>
              <a:t>/28</a:t>
            </a:r>
          </a:p>
        </p:txBody>
      </p:sp>
    </p:spTree>
    <p:extLst>
      <p:ext uri="{BB962C8B-B14F-4D97-AF65-F5344CB8AC3E}">
        <p14:creationId xmlns:p14="http://schemas.microsoft.com/office/powerpoint/2010/main" val="432589893"/>
      </p:ext>
    </p:extLst>
  </p:cSld>
  <p:clrMapOvr>
    <a:masterClrMapping/>
  </p:clrMapOvr>
</p:sld>
</file>

<file path=ppt/theme/theme1.xml><?xml version="1.0" encoding="utf-8"?>
<a:theme xmlns:a="http://schemas.openxmlformats.org/drawingml/2006/main" name="MM_Lec1">
  <a:themeElements>
    <a:clrScheme name="Profile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1">
          <a:schemeClr val="accent1"/>
        </a:fillRef>
        <a:effectRef idx="1">
          <a:schemeClr val="accent1"/>
        </a:effectRef>
        <a:fontRef idx="minor">
          <a:schemeClr val="lt1"/>
        </a:fontRef>
      </a:style>
    </a:spDef>
    <a:lnDef>
      <a:spPr/>
      <a:bodyPr/>
      <a:lstStyle/>
      <a:style>
        <a:lnRef idx="1">
          <a:schemeClr val="accent1"/>
        </a:lnRef>
        <a:fillRef idx="0">
          <a:schemeClr val="accent1"/>
        </a:fillRef>
        <a:effectRef idx="1">
          <a:schemeClr val="accent1"/>
        </a:effectRef>
        <a:fontRef idx="minor">
          <a:schemeClr val="tx1"/>
        </a:fontRef>
      </a:style>
    </a:lnDef>
    <a:txDef>
      <a:spPr/>
      <a:bodyPr/>
      <a:lstStyle/>
    </a:txDef>
  </a:objectDefaults>
  <a:extraClrSchemeLst>
    <a:extraClrScheme>
      <a:clrScheme name="Profile 1">
        <a:dk1>
          <a:srgbClr val="A50021"/>
        </a:dk1>
        <a:lt1>
          <a:srgbClr val="FFFFFF"/>
        </a:lt1>
        <a:dk2>
          <a:srgbClr val="800000"/>
        </a:dk2>
        <a:lt2>
          <a:srgbClr val="FFFFFF"/>
        </a:lt2>
        <a:accent1>
          <a:srgbClr val="FF9900"/>
        </a:accent1>
        <a:accent2>
          <a:srgbClr val="FF3300"/>
        </a:accent2>
        <a:accent3>
          <a:srgbClr val="C0AAAA"/>
        </a:accent3>
        <a:accent4>
          <a:srgbClr val="DADADA"/>
        </a:accent4>
        <a:accent5>
          <a:srgbClr val="FFCAAA"/>
        </a:accent5>
        <a:accent6>
          <a:srgbClr val="E72D00"/>
        </a:accent6>
        <a:hlink>
          <a:srgbClr val="FFFFCC"/>
        </a:hlink>
        <a:folHlink>
          <a:srgbClr val="FFCC99"/>
        </a:folHlink>
      </a:clrScheme>
      <a:clrMap bg1="dk2" tx1="lt1" bg2="dk1" tx2="lt2" accent1="accent1" accent2="accent2" accent3="accent3" accent4="accent4" accent5="accent5" accent6="accent6" hlink="hlink" folHlink="folHlink"/>
    </a:extraClrScheme>
    <a:extraClrScheme>
      <a:clrScheme name="Profile 2">
        <a:dk1>
          <a:srgbClr val="3C001E"/>
        </a:dk1>
        <a:lt1>
          <a:srgbClr val="FFFFFF"/>
        </a:lt1>
        <a:dk2>
          <a:srgbClr val="51072E"/>
        </a:dk2>
        <a:lt2>
          <a:srgbClr val="FFFFFF"/>
        </a:lt2>
        <a:accent1>
          <a:srgbClr val="89A38F"/>
        </a:accent1>
        <a:accent2>
          <a:srgbClr val="666699"/>
        </a:accent2>
        <a:accent3>
          <a:srgbClr val="B3AAAD"/>
        </a:accent3>
        <a:accent4>
          <a:srgbClr val="DADADA"/>
        </a:accent4>
        <a:accent5>
          <a:srgbClr val="C4CEC6"/>
        </a:accent5>
        <a:accent6>
          <a:srgbClr val="5C5C8A"/>
        </a:accent6>
        <a:hlink>
          <a:srgbClr val="808000"/>
        </a:hlink>
        <a:folHlink>
          <a:srgbClr val="666633"/>
        </a:folHlink>
      </a:clrScheme>
      <a:clrMap bg1="dk2" tx1="lt1" bg2="dk1" tx2="lt2" accent1="accent1" accent2="accent2" accent3="accent3" accent4="accent4" accent5="accent5" accent6="accent6" hlink="hlink" folHlink="folHlink"/>
    </a:extraClrScheme>
    <a:extraClrScheme>
      <a:clrScheme name="Profile 3">
        <a:dk1>
          <a:srgbClr val="333333"/>
        </a:dk1>
        <a:lt1>
          <a:srgbClr val="FFFFFF"/>
        </a:lt1>
        <a:dk2>
          <a:srgbClr val="000000"/>
        </a:dk2>
        <a:lt2>
          <a:srgbClr val="FFFFFF"/>
        </a:lt2>
        <a:accent1>
          <a:srgbClr val="3399FF"/>
        </a:accent1>
        <a:accent2>
          <a:srgbClr val="CC0000"/>
        </a:accent2>
        <a:accent3>
          <a:srgbClr val="AAAAAA"/>
        </a:accent3>
        <a:accent4>
          <a:srgbClr val="DADADA"/>
        </a:accent4>
        <a:accent5>
          <a:srgbClr val="ADCAFF"/>
        </a:accent5>
        <a:accent6>
          <a:srgbClr val="B90000"/>
        </a:accent6>
        <a:hlink>
          <a:srgbClr val="666699"/>
        </a:hlink>
        <a:folHlink>
          <a:srgbClr val="6600CC"/>
        </a:folHlink>
      </a:clrScheme>
      <a:clrMap bg1="dk2" tx1="lt1" bg2="dk1" tx2="lt2" accent1="accent1" accent2="accent2" accent3="accent3" accent4="accent4" accent5="accent5" accent6="accent6" hlink="hlink" folHlink="folHlink"/>
    </a:extraClrScheme>
    <a:extraClrScheme>
      <a:clrScheme name="Profile 4">
        <a:dk1>
          <a:srgbClr val="4B3D1B"/>
        </a:dk1>
        <a:lt1>
          <a:srgbClr val="FFFFFF"/>
        </a:lt1>
        <a:dk2>
          <a:srgbClr val="330000"/>
        </a:dk2>
        <a:lt2>
          <a:srgbClr val="FFFFFF"/>
        </a:lt2>
        <a:accent1>
          <a:srgbClr val="CC9900"/>
        </a:accent1>
        <a:accent2>
          <a:srgbClr val="CC6600"/>
        </a:accent2>
        <a:accent3>
          <a:srgbClr val="ADAAAA"/>
        </a:accent3>
        <a:accent4>
          <a:srgbClr val="DADADA"/>
        </a:accent4>
        <a:accent5>
          <a:srgbClr val="E2CAAA"/>
        </a:accent5>
        <a:accent6>
          <a:srgbClr val="B95C00"/>
        </a:accent6>
        <a:hlink>
          <a:srgbClr val="666699"/>
        </a:hlink>
        <a:folHlink>
          <a:srgbClr val="CCCC00"/>
        </a:folHlink>
      </a:clrScheme>
      <a:clrMap bg1="dk2" tx1="lt1" bg2="dk1" tx2="lt2" accent1="accent1" accent2="accent2" accent3="accent3" accent4="accent4" accent5="accent5" accent6="accent6" hlink="hlink" folHlink="folHlink"/>
    </a:extraClrScheme>
    <a:extraClrScheme>
      <a:clrScheme name="Profile 5">
        <a:dk1>
          <a:srgbClr val="006666"/>
        </a:dk1>
        <a:lt1>
          <a:srgbClr val="FFFFFF"/>
        </a:lt1>
        <a:dk2>
          <a:srgbClr val="003366"/>
        </a:dk2>
        <a:lt2>
          <a:srgbClr val="FFFFFF"/>
        </a:lt2>
        <a:accent1>
          <a:srgbClr val="0099CC"/>
        </a:accent1>
        <a:accent2>
          <a:srgbClr val="6666FF"/>
        </a:accent2>
        <a:accent3>
          <a:srgbClr val="AAADB8"/>
        </a:accent3>
        <a:accent4>
          <a:srgbClr val="DADADA"/>
        </a:accent4>
        <a:accent5>
          <a:srgbClr val="AACAE2"/>
        </a:accent5>
        <a:accent6>
          <a:srgbClr val="5C5CE7"/>
        </a:accent6>
        <a:hlink>
          <a:srgbClr val="FFFFCC"/>
        </a:hlink>
        <a:folHlink>
          <a:srgbClr val="FFCC00"/>
        </a:folHlink>
      </a:clrScheme>
      <a:clrMap bg1="dk2" tx1="lt1" bg2="dk1" tx2="lt2" accent1="accent1" accent2="accent2" accent3="accent3" accent4="accent4" accent5="accent5" accent6="accent6" hlink="hlink" folHlink="folHlink"/>
    </a:extraClrScheme>
    <a:extraClrScheme>
      <a:clrScheme name="Profile 6">
        <a:dk1>
          <a:srgbClr val="003366"/>
        </a:dk1>
        <a:lt1>
          <a:srgbClr val="FFFFFF"/>
        </a:lt1>
        <a:dk2>
          <a:srgbClr val="006666"/>
        </a:dk2>
        <a:lt2>
          <a:srgbClr val="FFFFFF"/>
        </a:lt2>
        <a:accent1>
          <a:srgbClr val="6699FF"/>
        </a:accent1>
        <a:accent2>
          <a:srgbClr val="00CCFF"/>
        </a:accent2>
        <a:accent3>
          <a:srgbClr val="AAB8B8"/>
        </a:accent3>
        <a:accent4>
          <a:srgbClr val="DADADA"/>
        </a:accent4>
        <a:accent5>
          <a:srgbClr val="B8CAFF"/>
        </a:accent5>
        <a:accent6>
          <a:srgbClr val="00B9E7"/>
        </a:accent6>
        <a:hlink>
          <a:srgbClr val="FFFFCC"/>
        </a:hlink>
        <a:folHlink>
          <a:srgbClr val="33CCCC"/>
        </a:folHlink>
      </a:clrScheme>
      <a:clrMap bg1="dk2" tx1="lt1" bg2="dk1" tx2="lt2" accent1="accent1" accent2="accent2" accent3="accent3" accent4="accent4" accent5="accent5" accent6="accent6" hlink="hlink" folHlink="folHlink"/>
    </a:extraClrScheme>
    <a:extraClrScheme>
      <a:clrScheme name="Profile 7">
        <a:dk1>
          <a:srgbClr val="000000"/>
        </a:dk1>
        <a:lt1>
          <a:srgbClr val="619CB1"/>
        </a:lt1>
        <a:dk2>
          <a:srgbClr val="FFFFFF"/>
        </a:dk2>
        <a:lt2>
          <a:srgbClr val="4E899E"/>
        </a:lt2>
        <a:accent1>
          <a:srgbClr val="FFCC00"/>
        </a:accent1>
        <a:accent2>
          <a:srgbClr val="B6523E"/>
        </a:accent2>
        <a:accent3>
          <a:srgbClr val="B7CBD5"/>
        </a:accent3>
        <a:accent4>
          <a:srgbClr val="000000"/>
        </a:accent4>
        <a:accent5>
          <a:srgbClr val="FFE2AA"/>
        </a:accent5>
        <a:accent6>
          <a:srgbClr val="A54937"/>
        </a:accent6>
        <a:hlink>
          <a:srgbClr val="99CC00"/>
        </a:hlink>
        <a:folHlink>
          <a:srgbClr val="666699"/>
        </a:folHlink>
      </a:clrScheme>
      <a:clrMap bg1="lt1" tx1="dk1" bg2="lt2" tx2="dk2" accent1="accent1" accent2="accent2" accent3="accent3" accent4="accent4" accent5="accent5" accent6="accent6" hlink="hlink" folHlink="folHlink"/>
    </a:extraClrScheme>
    <a:extraClrScheme>
      <a:clrScheme name="Profile 8">
        <a:dk1>
          <a:srgbClr val="598600"/>
        </a:dk1>
        <a:lt1>
          <a:srgbClr val="FFFFFF"/>
        </a:lt1>
        <a:dk2>
          <a:srgbClr val="336600"/>
        </a:dk2>
        <a:lt2>
          <a:srgbClr val="FFFFFF"/>
        </a:lt2>
        <a:accent1>
          <a:srgbClr val="33CC33"/>
        </a:accent1>
        <a:accent2>
          <a:srgbClr val="99CC00"/>
        </a:accent2>
        <a:accent3>
          <a:srgbClr val="ADB8AA"/>
        </a:accent3>
        <a:accent4>
          <a:srgbClr val="DADADA"/>
        </a:accent4>
        <a:accent5>
          <a:srgbClr val="ADE2AD"/>
        </a:accent5>
        <a:accent6>
          <a:srgbClr val="8AB900"/>
        </a:accent6>
        <a:hlink>
          <a:srgbClr val="FFCC00"/>
        </a:hlink>
        <a:folHlink>
          <a:srgbClr val="FFFF99"/>
        </a:folHlink>
      </a:clrScheme>
      <a:clrMap bg1="dk2" tx1="lt1" bg2="dk1" tx2="lt2" accent1="accent1" accent2="accent2" accent3="accent3" accent4="accent4" accent5="accent5" accent6="accent6" hlink="hlink" folHlink="folHlink"/>
    </a:extraClrScheme>
    <a:extraClrScheme>
      <a:clrScheme name="Profile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1">
          <a:schemeClr val="accent1"/>
        </a:fillRef>
        <a:effectRef idx="1">
          <a:schemeClr val="accent1"/>
        </a:effectRef>
        <a:fontRef idx="minor">
          <a:schemeClr val="lt1"/>
        </a:fontRef>
      </a:style>
    </a:spDef>
    <a:lnDef>
      <a:spPr/>
      <a:bodyPr/>
      <a:lstStyle/>
      <a:style>
        <a:lnRef idx="1">
          <a:schemeClr val="accent1"/>
        </a:lnRef>
        <a:fillRef idx="0">
          <a:schemeClr val="accent1"/>
        </a:fillRef>
        <a:effectRef idx="1">
          <a:schemeClr val="accent1"/>
        </a:effectRef>
        <a:fontRef idx="minor">
          <a:schemeClr val="tx1"/>
        </a:fontRef>
      </a:style>
    </a:lnDef>
    <a:txDef>
      <a:spPr/>
      <a:bodyPr/>
      <a:lstStyle/>
    </a:txDef>
  </a:objectDefaults>
  <a:extraClrSchemeLst/>
</a:theme>
</file>

<file path=docProps/app.xml><?xml version="1.0" encoding="utf-8"?>
<Properties xmlns="http://schemas.openxmlformats.org/officeDocument/2006/extended-properties" xmlns:vt="http://schemas.openxmlformats.org/officeDocument/2006/docPropsVTypes">
  <Template/>
  <TotalTime>31683</TotalTime>
  <Words>5745</Words>
  <Application>Microsoft Office PowerPoint</Application>
  <PresentationFormat>On-screen Show (4:3)</PresentationFormat>
  <Paragraphs>617</Paragraphs>
  <Slides>43</Slides>
  <Notes>29</Notes>
  <HiddenSlides>0</HiddenSlides>
  <MMClips>0</MMClips>
  <ScaleCrop>false</ScaleCrop>
  <HeadingPairs>
    <vt:vector size="6" baseType="variant">
      <vt:variant>
        <vt:lpstr>Fonts Used</vt:lpstr>
      </vt:variant>
      <vt:variant>
        <vt:i4>11</vt:i4>
      </vt:variant>
      <vt:variant>
        <vt:lpstr>Theme</vt:lpstr>
      </vt:variant>
      <vt:variant>
        <vt:i4>1</vt:i4>
      </vt:variant>
      <vt:variant>
        <vt:lpstr>Slide Titles</vt:lpstr>
      </vt:variant>
      <vt:variant>
        <vt:i4>43</vt:i4>
      </vt:variant>
    </vt:vector>
  </HeadingPairs>
  <TitlesOfParts>
    <vt:vector size="55" baseType="lpstr">
      <vt:lpstr>-apple-system</vt:lpstr>
      <vt:lpstr>Arial</vt:lpstr>
      <vt:lpstr>Calibri</vt:lpstr>
      <vt:lpstr>Cambria</vt:lpstr>
      <vt:lpstr>Consolas</vt:lpstr>
      <vt:lpstr>Courier New</vt:lpstr>
      <vt:lpstr>Google Sans</vt:lpstr>
      <vt:lpstr>Tahoma</vt:lpstr>
      <vt:lpstr>Times New Roman</vt:lpstr>
      <vt:lpstr>Verdana</vt:lpstr>
      <vt:lpstr>Wingdings</vt:lpstr>
      <vt:lpstr>MM_Lec1</vt:lpstr>
      <vt:lpstr>Chương 3 LẬP TRÌNH HƯỚNG ĐỐI TƯỢNG TRONG C#</vt:lpstr>
      <vt:lpstr>Nội dung</vt:lpstr>
      <vt:lpstr>3.3. Mảng trong C#</vt:lpstr>
      <vt:lpstr>3.3. Mảng trong C#</vt:lpstr>
      <vt:lpstr>3.3. Mảng trong C#</vt:lpstr>
      <vt:lpstr>3.3. Mảng trong C#</vt:lpstr>
      <vt:lpstr>3.3. Mảng trong C#</vt:lpstr>
      <vt:lpstr>3.3. Mảng trong C#</vt:lpstr>
      <vt:lpstr>Ví dụ</vt:lpstr>
      <vt:lpstr>3.4. Danh sách</vt:lpstr>
      <vt:lpstr>3.4. Danh sách</vt:lpstr>
      <vt:lpstr>3.4. Danh sách</vt:lpstr>
      <vt:lpstr>3.4. Danh sách</vt:lpstr>
      <vt:lpstr>3.4. Danh sách</vt:lpstr>
      <vt:lpstr>Ví dụ</vt:lpstr>
      <vt:lpstr>3.5. Sử dụng Generic</vt:lpstr>
      <vt:lpstr>Ví dụ phương thức generic</vt:lpstr>
      <vt:lpstr>3.5. Sử dụng Generic</vt:lpstr>
      <vt:lpstr>Ví dụ List Generic</vt:lpstr>
      <vt:lpstr>3.5. Sử dụng Generic</vt:lpstr>
      <vt:lpstr>3.6. Xử lý ngoại lệ</vt:lpstr>
      <vt:lpstr>Khái niệm về ngoại lệ</vt:lpstr>
      <vt:lpstr>Xử lý ngoại lệ trong C#</vt:lpstr>
      <vt:lpstr>Một số ngoại lệ phổ biến</vt:lpstr>
      <vt:lpstr>Ví dụ ngoại lệ</vt:lpstr>
      <vt:lpstr>Cấu trúc try … catch</vt:lpstr>
      <vt:lpstr>Ví dụ bắt ngoại lệ</vt:lpstr>
      <vt:lpstr>Cấu trúc try …catch … finally</vt:lpstr>
      <vt:lpstr>Cú pháp try … catch … finally</vt:lpstr>
      <vt:lpstr>Ví dụ bắt ngoại lệ</vt:lpstr>
      <vt:lpstr>Ném ra ngoại lệ</vt:lpstr>
      <vt:lpstr>Ví dụ ném ngoại lệ</vt:lpstr>
      <vt:lpstr>Ngoại lệ tùy chỉnh</vt:lpstr>
      <vt:lpstr>Ví dụ ngoại lệ tùy chỉnh</vt:lpstr>
      <vt:lpstr>Bài tập về nhà</vt:lpstr>
      <vt:lpstr>Bài tập về nhà</vt:lpstr>
      <vt:lpstr>Bài tập về nhà</vt:lpstr>
      <vt:lpstr>Bài tập về nhà</vt:lpstr>
      <vt:lpstr>Bài tập về nhà</vt:lpstr>
      <vt:lpstr>Bài tập về nhà</vt:lpstr>
      <vt:lpstr>Bài tập về nhà</vt:lpstr>
      <vt:lpstr>Bài tập về nhà</vt:lpstr>
      <vt:lpstr>Bài tập về nhà</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CƠ SỞ LẬP TRÌNH 1</dc:title>
  <dc:creator>Quy Tai</dc:creator>
  <cp:lastModifiedBy>Office</cp:lastModifiedBy>
  <cp:revision>378</cp:revision>
  <dcterms:created xsi:type="dcterms:W3CDTF">2011-07-17T01:46:34Z</dcterms:created>
  <dcterms:modified xsi:type="dcterms:W3CDTF">2025-02-08T07:08:17Z</dcterms:modified>
</cp:coreProperties>
</file>