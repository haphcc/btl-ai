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7" r:id="rId1"/>
  </p:sldMasterIdLst>
  <p:notesMasterIdLst>
    <p:notesMasterId r:id="rId46"/>
  </p:notesMasterIdLst>
  <p:sldIdLst>
    <p:sldId id="256" r:id="rId2"/>
    <p:sldId id="305" r:id="rId3"/>
    <p:sldId id="260" r:id="rId4"/>
    <p:sldId id="264" r:id="rId5"/>
    <p:sldId id="265" r:id="rId6"/>
    <p:sldId id="266" r:id="rId7"/>
    <p:sldId id="267" r:id="rId8"/>
    <p:sldId id="268" r:id="rId9"/>
    <p:sldId id="269" r:id="rId10"/>
    <p:sldId id="270" r:id="rId11"/>
    <p:sldId id="271" r:id="rId12"/>
    <p:sldId id="272" r:id="rId13"/>
    <p:sldId id="273" r:id="rId14"/>
    <p:sldId id="275" r:id="rId15"/>
    <p:sldId id="276" r:id="rId16"/>
    <p:sldId id="306" r:id="rId17"/>
    <p:sldId id="277" r:id="rId18"/>
    <p:sldId id="278" r:id="rId19"/>
    <p:sldId id="274"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8" r:id="rId38"/>
    <p:sldId id="299" r:id="rId39"/>
    <p:sldId id="300" r:id="rId40"/>
    <p:sldId id="302" r:id="rId41"/>
    <p:sldId id="303" r:id="rId42"/>
    <p:sldId id="304" r:id="rId43"/>
    <p:sldId id="296" r:id="rId44"/>
    <p:sldId id="29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D24F71-1600-4D77-8A27-48CFF1776A50}">
          <p14:sldIdLst>
            <p14:sldId id="256"/>
            <p14:sldId id="305"/>
            <p14:sldId id="260"/>
            <p14:sldId id="264"/>
            <p14:sldId id="265"/>
            <p14:sldId id="266"/>
            <p14:sldId id="267"/>
            <p14:sldId id="268"/>
            <p14:sldId id="269"/>
            <p14:sldId id="270"/>
            <p14:sldId id="271"/>
            <p14:sldId id="272"/>
            <p14:sldId id="273"/>
            <p14:sldId id="275"/>
            <p14:sldId id="276"/>
            <p14:sldId id="306"/>
            <p14:sldId id="277"/>
            <p14:sldId id="278"/>
            <p14:sldId id="274"/>
            <p14:sldId id="279"/>
          </p14:sldIdLst>
        </p14:section>
        <p14:section name="Untitled Section" id="{7B616C5A-4D91-4BE4-969D-4D78452FBAB9}">
          <p14:sldIdLst>
            <p14:sldId id="280"/>
            <p14:sldId id="281"/>
            <p14:sldId id="282"/>
            <p14:sldId id="283"/>
            <p14:sldId id="284"/>
            <p14:sldId id="285"/>
            <p14:sldId id="286"/>
            <p14:sldId id="287"/>
            <p14:sldId id="288"/>
            <p14:sldId id="289"/>
            <p14:sldId id="290"/>
            <p14:sldId id="291"/>
            <p14:sldId id="292"/>
            <p14:sldId id="293"/>
            <p14:sldId id="294"/>
            <p14:sldId id="295"/>
            <p14:sldId id="298"/>
            <p14:sldId id="299"/>
            <p14:sldId id="300"/>
            <p14:sldId id="302"/>
            <p14:sldId id="303"/>
            <p14:sldId id="304"/>
            <p14:sldId id="296"/>
            <p14:sldId id="2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CCFF"/>
    <a:srgbClr val="000066"/>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74211" autoAdjust="0"/>
  </p:normalViewPr>
  <p:slideViewPr>
    <p:cSldViewPr>
      <p:cViewPr varScale="1">
        <p:scale>
          <a:sx n="79" d="100"/>
          <a:sy n="79" d="100"/>
        </p:scale>
        <p:origin x="1400" y="20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08/01/2025</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86058"/>
            <a:ext cx="7772400" cy="1470025"/>
          </a:xfrm>
        </p:spPr>
        <p:txBody>
          <a:bodyPr>
            <a:normAutofit/>
          </a:bodyPr>
          <a:lstStyle>
            <a:lvl1pPr>
              <a:defRPr sz="3600" b="1">
                <a:solidFill>
                  <a:srgbClr val="000086"/>
                </a:solidFill>
                <a:latin typeface="Arial" pitchFamily="34" charset="0"/>
                <a:cs typeface="Arial" pitchFamily="34" charset="0"/>
              </a:defRPr>
            </a:lvl1pPr>
          </a:lstStyle>
          <a:p>
            <a:r>
              <a:rPr lang="en-US"/>
              <a:t>Click to edit Master title style</a:t>
            </a:r>
          </a:p>
        </p:txBody>
      </p:sp>
      <p:sp>
        <p:nvSpPr>
          <p:cNvPr id="3" name="Subtitle 2"/>
          <p:cNvSpPr>
            <a:spLocks noGrp="1"/>
          </p:cNvSpPr>
          <p:nvPr>
            <p:ph type="subTitle" idx="1"/>
          </p:nvPr>
        </p:nvSpPr>
        <p:spPr>
          <a:xfrm>
            <a:off x="1385910" y="4286256"/>
            <a:ext cx="6400800" cy="1752600"/>
          </a:xfrm>
        </p:spPr>
        <p:txBody>
          <a:bodyPr>
            <a:normAutofit/>
          </a:bodyPr>
          <a:lstStyle>
            <a:lvl1pPr marL="0" indent="0" algn="ctr">
              <a:buNone/>
              <a:defRPr sz="2400" i="1">
                <a:solidFill>
                  <a:srgbClr val="7A1D00"/>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32CE6AF-90F4-47B9-BA07-64362D078094}"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t>‹#›</a:t>
            </a:fld>
            <a:endParaRPr lang="vi-VN"/>
          </a:p>
        </p:txBody>
      </p:sp>
      <p:pic>
        <p:nvPicPr>
          <p:cNvPr id="8" name="Content Placeholder 3"/>
          <p:cNvPicPr>
            <a:picLocks noChangeAspect="1"/>
          </p:cNvPicPr>
          <p:nvPr/>
        </p:nvPicPr>
        <p:blipFill rotWithShape="1">
          <a:blip r:embed="rId2">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Content Placeholder 3">
            <a:extLst>
              <a:ext uri="{FF2B5EF4-FFF2-40B4-BE49-F238E27FC236}">
                <a16:creationId xmlns:a16="http://schemas.microsoft.com/office/drawing/2014/main" id="{41B26E9B-FCCB-46FA-A98F-BF1F746FD2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0" y="2153"/>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4041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85804" y="71414"/>
            <a:ext cx="8229600" cy="1143000"/>
          </a:xfrm>
        </p:spPr>
        <p:txBody>
          <a:bodyPr>
            <a:normAutofit/>
          </a:bodyPr>
          <a:lstStyle>
            <a:lvl1pPr algn="r">
              <a:defRPr sz="3600" b="1">
                <a:solidFill>
                  <a:srgbClr val="0070C0"/>
                </a:solidFill>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a:xfrm>
            <a:off x="457200" y="1357298"/>
            <a:ext cx="8229600" cy="4929222"/>
          </a:xfrm>
        </p:spPr>
        <p:txBody>
          <a:bodyPr/>
          <a:lstStyle>
            <a:lvl1pPr>
              <a:lnSpc>
                <a:spcPct val="130000"/>
              </a:lnSpc>
              <a:spcBef>
                <a:spcPts val="600"/>
              </a:spcBef>
              <a:buClr>
                <a:srgbClr val="0070C0"/>
              </a:buClr>
              <a:buSzPct val="140000"/>
              <a:buFont typeface="Wingdings" pitchFamily="2" charset="2"/>
              <a:buChar char="§"/>
              <a:defRPr sz="2800">
                <a:solidFill>
                  <a:srgbClr val="7A1D00"/>
                </a:solidFill>
                <a:latin typeface="Arial" pitchFamily="34" charset="0"/>
                <a:cs typeface="Arial" pitchFamily="34" charset="0"/>
              </a:defRPr>
            </a:lvl1pPr>
            <a:lvl2pPr>
              <a:lnSpc>
                <a:spcPct val="130000"/>
              </a:lnSpc>
              <a:spcBef>
                <a:spcPts val="600"/>
              </a:spcBef>
              <a:buClr>
                <a:srgbClr val="00C85A"/>
              </a:buClr>
              <a:buSzPct val="100000"/>
              <a:buFont typeface="Calibri" pitchFamily="34" charset="0"/>
              <a:buChar char="●"/>
              <a:defRPr sz="2400">
                <a:latin typeface="Arial" pitchFamily="34" charset="0"/>
                <a:cs typeface="Arial" pitchFamily="34" charset="0"/>
              </a:defRPr>
            </a:lvl2pPr>
            <a:lvl3pPr>
              <a:lnSpc>
                <a:spcPct val="130000"/>
              </a:lnSpc>
              <a:spcBef>
                <a:spcPts val="600"/>
              </a:spcBef>
              <a:buClr>
                <a:srgbClr val="FF0000"/>
              </a:buClr>
              <a:buFont typeface="Arial" pitchFamily="34" charset="0"/>
              <a:buChar char="▪"/>
              <a:defRPr sz="2000">
                <a:solidFill>
                  <a:schemeClr val="accent1">
                    <a:lumMod val="50000"/>
                  </a:schemeClr>
                </a:solidFill>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Click to edit Master text styles</a:t>
            </a:r>
          </a:p>
          <a:p>
            <a:pPr lvl="1"/>
            <a:r>
              <a:rPr lang="en-US"/>
              <a:t>Second level</a:t>
            </a:r>
          </a:p>
          <a:p>
            <a:pPr lvl="2"/>
            <a:r>
              <a:rPr lang="en-US"/>
              <a:t>Third level</a:t>
            </a:r>
          </a:p>
        </p:txBody>
      </p:sp>
      <p:sp>
        <p:nvSpPr>
          <p:cNvPr id="4" name="Date Placeholder 3"/>
          <p:cNvSpPr>
            <a:spLocks noGrp="1"/>
          </p:cNvSpPr>
          <p:nvPr>
            <p:ph type="dt" sz="half" idx="10"/>
          </p:nvPr>
        </p:nvSpPr>
        <p:spPr>
          <a:xfrm>
            <a:off x="457200" y="6429376"/>
            <a:ext cx="2133600" cy="365125"/>
          </a:xfrm>
        </p:spPr>
        <p:txBody>
          <a:bodyPr/>
          <a:lstStyle>
            <a:lvl1pPr>
              <a:defRPr/>
            </a:lvl1pPr>
          </a:lstStyle>
          <a:p>
            <a:fld id="{322627A4-408B-428D-97B9-668ACE392443}" type="datetime1">
              <a:rPr lang="vi-VN" smtClean="0"/>
              <a:t>08/01/2025</a:t>
            </a:fld>
            <a:endParaRPr lang="vi-VN"/>
          </a:p>
        </p:txBody>
      </p:sp>
      <p:sp>
        <p:nvSpPr>
          <p:cNvPr id="5" name="Footer Placeholder 4"/>
          <p:cNvSpPr>
            <a:spLocks noGrp="1"/>
          </p:cNvSpPr>
          <p:nvPr>
            <p:ph type="ftr" sz="quarter" idx="11"/>
          </p:nvPr>
        </p:nvSpPr>
        <p:spPr>
          <a:xfrm>
            <a:off x="3124200" y="6429376"/>
            <a:ext cx="2895600" cy="365125"/>
          </a:xfrm>
        </p:spPr>
        <p:txBody>
          <a:bodyPr/>
          <a:lstStyle/>
          <a:p>
            <a:r>
              <a:rPr lang="vi-VN"/>
              <a:t>Chương 2. Các thành phần cơ bản trong C#</a:t>
            </a:r>
          </a:p>
        </p:txBody>
      </p:sp>
      <p:sp>
        <p:nvSpPr>
          <p:cNvPr id="6" name="Slide Number Placeholder 5"/>
          <p:cNvSpPr>
            <a:spLocks noGrp="1"/>
          </p:cNvSpPr>
          <p:nvPr>
            <p:ph type="sldNum" sz="quarter" idx="12"/>
          </p:nvPr>
        </p:nvSpPr>
        <p:spPr>
          <a:xfrm>
            <a:off x="6553200" y="6429376"/>
            <a:ext cx="2133600" cy="365125"/>
          </a:xfrm>
        </p:spPr>
        <p:txBody>
          <a:bodyPr/>
          <a:lstStyle/>
          <a:p>
            <a:fld id="{5AB95402-1E0D-474E-8D8C-CBE7F053639E}" type="slidenum">
              <a:rPr lang="vi-VN" smtClean="0"/>
              <a:pPr/>
              <a:t>‹#›</a:t>
            </a:fld>
            <a:r>
              <a:rPr lang="vi-VN"/>
              <a:t>/47</a:t>
            </a:r>
          </a:p>
        </p:txBody>
      </p:sp>
      <p:cxnSp>
        <p:nvCxnSpPr>
          <p:cNvPr id="9" name="Straight Connector 8"/>
          <p:cNvCxnSpPr/>
          <p:nvPr/>
        </p:nvCxnSpPr>
        <p:spPr>
          <a:xfrm>
            <a:off x="500034" y="1042518"/>
            <a:ext cx="8143932" cy="1588"/>
          </a:xfrm>
          <a:prstGeom prst="line">
            <a:avLst/>
          </a:prstGeom>
          <a:ln/>
        </p:spPr>
        <p:style>
          <a:lnRef idx="2">
            <a:schemeClr val="accent6"/>
          </a:lnRef>
          <a:fillRef idx="0">
            <a:schemeClr val="accent6"/>
          </a:fillRef>
          <a:effectRef idx="1">
            <a:schemeClr val="accent6"/>
          </a:effectRef>
          <a:fontRef idx="minor">
            <a:schemeClr val="tx1"/>
          </a:fontRef>
        </p:style>
      </p:cxnSp>
      <p:cxnSp>
        <p:nvCxnSpPr>
          <p:cNvPr id="10" name="Straight Connector 9"/>
          <p:cNvCxnSpPr/>
          <p:nvPr/>
        </p:nvCxnSpPr>
        <p:spPr>
          <a:xfrm>
            <a:off x="500034" y="6455704"/>
            <a:ext cx="8143932" cy="1588"/>
          </a:xfrm>
          <a:prstGeom prst="line">
            <a:avLst/>
          </a:prstGeom>
          <a:ln/>
        </p:spPr>
        <p:style>
          <a:lnRef idx="2">
            <a:schemeClr val="accent6"/>
          </a:lnRef>
          <a:fillRef idx="0">
            <a:schemeClr val="accent6"/>
          </a:fillRef>
          <a:effectRef idx="1">
            <a:schemeClr val="accent6"/>
          </a:effectRef>
          <a:fontRef idx="minor">
            <a:schemeClr val="tx1"/>
          </a:fontRef>
        </p:style>
      </p:cxn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496" y="0"/>
            <a:ext cx="1008112" cy="1008112"/>
          </a:xfrm>
          <a:prstGeom prst="rect">
            <a:avLst/>
          </a:prstGeom>
        </p:spPr>
      </p:pic>
    </p:spTree>
    <p:extLst>
      <p:ext uri="{BB962C8B-B14F-4D97-AF65-F5344CB8AC3E}">
        <p14:creationId xmlns:p14="http://schemas.microsoft.com/office/powerpoint/2010/main" val="8877956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350EAD-9695-4335-B438-8799B91DEF16}"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427876540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5FEAC4-AAE6-4981-809D-CB66AC9383C9}" type="datetime1">
              <a:rPr lang="vi-VN" smtClean="0"/>
              <a:t>08/01/2025</a:t>
            </a:fld>
            <a:endParaRPr lang="vi-VN"/>
          </a:p>
        </p:txBody>
      </p:sp>
      <p:sp>
        <p:nvSpPr>
          <p:cNvPr id="6" name="Footer Placeholder 5"/>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t>‹#›</a:t>
            </a:fld>
            <a:endParaRPr lang="vi-VN"/>
          </a:p>
        </p:txBody>
      </p:sp>
    </p:spTree>
    <p:extLst>
      <p:ext uri="{BB962C8B-B14F-4D97-AF65-F5344CB8AC3E}">
        <p14:creationId xmlns:p14="http://schemas.microsoft.com/office/powerpoint/2010/main" val="3706042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D350EAD-9695-4335-B438-8799B91DEF16}" type="datetime1">
              <a:rPr lang="vi-VN" smtClean="0"/>
              <a:t>08/01/2025</a:t>
            </a:fld>
            <a:endParaRPr lang="vi-VN"/>
          </a:p>
        </p:txBody>
      </p:sp>
      <p:sp>
        <p:nvSpPr>
          <p:cNvPr id="8" name="Footer Placeholder 7"/>
          <p:cNvSpPr>
            <a:spLocks noGrp="1"/>
          </p:cNvSpPr>
          <p:nvPr>
            <p:ph type="ftr" sz="quarter" idx="11"/>
          </p:nvPr>
        </p:nvSpPr>
        <p:spPr/>
        <p:txBody>
          <a:bodyPr/>
          <a:lstStyle/>
          <a:p>
            <a:r>
              <a:rPr lang="vi-VN"/>
              <a:t>Chương 2. Các thành phần cơ bản trong C#</a:t>
            </a:r>
          </a:p>
        </p:txBody>
      </p:sp>
      <p:sp>
        <p:nvSpPr>
          <p:cNvPr id="9" name="Slide Number Placeholder 8"/>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207765674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D350EAD-9695-4335-B438-8799B91DEF16}" type="datetime1">
              <a:rPr lang="vi-VN" smtClean="0"/>
              <a:t>08/01/2025</a:t>
            </a:fld>
            <a:endParaRPr lang="vi-VN"/>
          </a:p>
        </p:txBody>
      </p:sp>
      <p:sp>
        <p:nvSpPr>
          <p:cNvPr id="4" name="Footer Placeholder 3"/>
          <p:cNvSpPr>
            <a:spLocks noGrp="1"/>
          </p:cNvSpPr>
          <p:nvPr>
            <p:ph type="ftr" sz="quarter" idx="11"/>
          </p:nvPr>
        </p:nvSpPr>
        <p:spPr/>
        <p:txBody>
          <a:bodyPr/>
          <a:lstStyle/>
          <a:p>
            <a:r>
              <a:rPr lang="vi-VN"/>
              <a:t>Chương 2. Các thành phần cơ bản trong C#</a:t>
            </a:r>
          </a:p>
        </p:txBody>
      </p:sp>
      <p:sp>
        <p:nvSpPr>
          <p:cNvPr id="5" name="Slide Number Placeholder 4"/>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336398395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350EAD-9695-4335-B438-8799B91DEF16}" type="datetime1">
              <a:rPr lang="vi-VN" smtClean="0"/>
              <a:t>08/01/2025</a:t>
            </a:fld>
            <a:endParaRPr lang="vi-VN"/>
          </a:p>
        </p:txBody>
      </p:sp>
      <p:sp>
        <p:nvSpPr>
          <p:cNvPr id="3" name="Footer Placeholder 2"/>
          <p:cNvSpPr>
            <a:spLocks noGrp="1"/>
          </p:cNvSpPr>
          <p:nvPr>
            <p:ph type="ftr" sz="quarter" idx="11"/>
          </p:nvPr>
        </p:nvSpPr>
        <p:spPr/>
        <p:txBody>
          <a:bodyPr/>
          <a:lstStyle/>
          <a:p>
            <a:r>
              <a:rPr lang="vi-VN"/>
              <a:t>Chương 2. Các thành phần cơ bản trong C#</a:t>
            </a:r>
          </a:p>
        </p:txBody>
      </p:sp>
      <p:sp>
        <p:nvSpPr>
          <p:cNvPr id="4" name="Slide Number Placeholder 3"/>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1476444665"/>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350EAD-9695-4335-B438-8799B91DEF16}" type="datetime1">
              <a:rPr lang="vi-VN" smtClean="0"/>
              <a:t>08/01/2025</a:t>
            </a:fld>
            <a:endParaRPr lang="vi-VN"/>
          </a:p>
        </p:txBody>
      </p:sp>
      <p:sp>
        <p:nvSpPr>
          <p:cNvPr id="6" name="Footer Placeholder 5"/>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238408922"/>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350EAD-9695-4335-B438-8799B91DEF16}" type="datetime1">
              <a:rPr lang="vi-VN" smtClean="0"/>
              <a:t>08/01/2025</a:t>
            </a:fld>
            <a:endParaRPr lang="vi-VN"/>
          </a:p>
        </p:txBody>
      </p:sp>
      <p:sp>
        <p:nvSpPr>
          <p:cNvPr id="6" name="Footer Placeholder 5"/>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164593701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350EAD-9695-4335-B438-8799B91DEF16}"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230683391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D350EAD-9695-4335-B438-8799B91DEF16}"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a:t>
            </a:fld>
            <a:endParaRPr lang="vi-VN"/>
          </a:p>
        </p:txBody>
      </p:sp>
    </p:spTree>
    <p:extLst>
      <p:ext uri="{BB962C8B-B14F-4D97-AF65-F5344CB8AC3E}">
        <p14:creationId xmlns:p14="http://schemas.microsoft.com/office/powerpoint/2010/main" val="1469377552"/>
      </p:ext>
    </p:extLst>
  </p:cSld>
  <p:clrMapOvr>
    <a:masterClrMapping/>
  </p:clrMapOvr>
  <p:hf hd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350EAD-9695-4335-B438-8799B91DEF16}" type="datetime1">
              <a:rPr lang="vi-VN" smtClean="0"/>
              <a:t>08/01/2025</a:t>
            </a:fld>
            <a:endParaRPr lang="vi-V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Chương 2. Các thành phần cơ bản trong C#</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95402-1E0D-474E-8D8C-CBE7F053639E}" type="slidenum">
              <a:rPr lang="vi-VN" smtClean="0"/>
              <a:pPr/>
              <a:t>‹#›</a:t>
            </a:fld>
            <a:endParaRPr lang="vi-VN"/>
          </a:p>
        </p:txBody>
      </p:sp>
    </p:spTree>
    <p:extLst>
      <p:ext uri="{BB962C8B-B14F-4D97-AF65-F5344CB8AC3E}">
        <p14:creationId xmlns:p14="http://schemas.microsoft.com/office/powerpoint/2010/main" val="142562631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590800"/>
            <a:ext cx="9144000" cy="990600"/>
          </a:xfrm>
        </p:spPr>
        <p:txBody>
          <a:bodyPr>
            <a:normAutofit fontScale="90000"/>
          </a:bodyPr>
          <a:lstStyle/>
          <a:p>
            <a:r>
              <a:rPr lang="en-US" dirty="0" err="1"/>
              <a:t>Chương</a:t>
            </a:r>
            <a:r>
              <a:rPr lang="en-US" dirty="0"/>
              <a:t> 2</a:t>
            </a:r>
            <a:br>
              <a:rPr lang="en-US" dirty="0"/>
            </a:br>
            <a:r>
              <a:rPr lang="en-US" dirty="0" err="1"/>
              <a:t>Ngữ</a:t>
            </a:r>
            <a:r>
              <a:rPr lang="en-US" dirty="0"/>
              <a:t> </a:t>
            </a:r>
            <a:r>
              <a:rPr lang="en-US" dirty="0" err="1"/>
              <a:t>pháp</a:t>
            </a:r>
            <a:r>
              <a:rPr lang="en-US" dirty="0"/>
              <a:t> C# </a:t>
            </a:r>
            <a:r>
              <a:rPr lang="en-US" dirty="0" err="1"/>
              <a:t>cơ</a:t>
            </a:r>
            <a:r>
              <a:rPr lang="en-US" dirty="0"/>
              <a:t> </a:t>
            </a:r>
            <a:r>
              <a:rPr lang="en-US" dirty="0" err="1"/>
              <a:t>bản</a:t>
            </a:r>
            <a:endParaRPr lang="vi-VN" dirty="0"/>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665657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83F78-5BDA-CA0C-4865-B6A33821ECAD}"/>
              </a:ext>
            </a:extLst>
          </p:cNvPr>
          <p:cNvSpPr>
            <a:spLocks noGrp="1"/>
          </p:cNvSpPr>
          <p:nvPr>
            <p:ph type="title"/>
          </p:nvPr>
        </p:nvSpPr>
        <p:spPr/>
        <p:txBody>
          <a:bodyPr/>
          <a:lstStyle/>
          <a:p>
            <a:r>
              <a:rPr lang="en-VN" dirty="0"/>
              <a:t>Nội dung</a:t>
            </a:r>
          </a:p>
        </p:txBody>
      </p:sp>
      <p:sp>
        <p:nvSpPr>
          <p:cNvPr id="3" name="Content Placeholder 2">
            <a:extLst>
              <a:ext uri="{FF2B5EF4-FFF2-40B4-BE49-F238E27FC236}">
                <a16:creationId xmlns:a16="http://schemas.microsoft.com/office/drawing/2014/main" id="{F569FD77-91F6-4D48-C193-7B23193F4901}"/>
              </a:ext>
            </a:extLst>
          </p:cNvPr>
          <p:cNvSpPr>
            <a:spLocks noGrp="1"/>
          </p:cNvSpPr>
          <p:nvPr>
            <p:ph idx="1"/>
          </p:nvPr>
        </p:nvSpPr>
        <p:spPr/>
        <p:txBody>
          <a:bodyPr/>
          <a:lstStyle/>
          <a:p>
            <a:pPr marL="514350" indent="-514350">
              <a:buFont typeface="+mj-lt"/>
              <a:buAutoNum type="arabicPeriod"/>
            </a:pPr>
            <a:r>
              <a:rPr lang="en-VN" dirty="0"/>
              <a:t>Cấu trúc chương trình C#</a:t>
            </a:r>
          </a:p>
          <a:p>
            <a:pPr marL="514350" indent="-514350">
              <a:buFont typeface="+mj-lt"/>
              <a:buAutoNum type="arabicPeriod"/>
            </a:pPr>
            <a:r>
              <a:rPr lang="en-VN" dirty="0"/>
              <a:t>Kiểu dữ liệu</a:t>
            </a:r>
          </a:p>
          <a:p>
            <a:pPr marL="514350" indent="-514350">
              <a:buFont typeface="+mj-lt"/>
              <a:buAutoNum type="arabicPeriod"/>
            </a:pPr>
            <a:r>
              <a:rPr lang="en-VN" dirty="0"/>
              <a:t>Các thành phần điều khiển</a:t>
            </a:r>
          </a:p>
          <a:p>
            <a:pPr marL="514350" indent="-514350">
              <a:buFont typeface="+mj-lt"/>
              <a:buAutoNum type="arabicPeriod"/>
            </a:pPr>
            <a:r>
              <a:rPr lang="en-VN" dirty="0"/>
              <a:t>Mảng</a:t>
            </a:r>
          </a:p>
        </p:txBody>
      </p:sp>
      <p:sp>
        <p:nvSpPr>
          <p:cNvPr id="4" name="Date Placeholder 3">
            <a:extLst>
              <a:ext uri="{FF2B5EF4-FFF2-40B4-BE49-F238E27FC236}">
                <a16:creationId xmlns:a16="http://schemas.microsoft.com/office/drawing/2014/main" id="{7A810A5B-828F-0347-8B9A-E022CA3E6FAB}"/>
              </a:ext>
            </a:extLst>
          </p:cNvPr>
          <p:cNvSpPr>
            <a:spLocks noGrp="1"/>
          </p:cNvSpPr>
          <p:nvPr>
            <p:ph type="dt" sz="half" idx="10"/>
          </p:nvPr>
        </p:nvSpPr>
        <p:spPr/>
        <p:txBody>
          <a:bodyPr/>
          <a:lstStyle/>
          <a:p>
            <a:fld id="{322627A4-408B-428D-97B9-668ACE392443}" type="datetime1">
              <a:rPr lang="vi-VN" smtClean="0"/>
              <a:t>08/01/2025</a:t>
            </a:fld>
            <a:endParaRPr lang="vi-VN"/>
          </a:p>
        </p:txBody>
      </p:sp>
      <p:sp>
        <p:nvSpPr>
          <p:cNvPr id="5" name="Footer Placeholder 4">
            <a:extLst>
              <a:ext uri="{FF2B5EF4-FFF2-40B4-BE49-F238E27FC236}">
                <a16:creationId xmlns:a16="http://schemas.microsoft.com/office/drawing/2014/main" id="{E80F7B95-9FC3-8E88-62C5-FD67C311C96E}"/>
              </a:ext>
            </a:extLst>
          </p:cNvPr>
          <p:cNvSpPr>
            <a:spLocks noGrp="1"/>
          </p:cNvSpPr>
          <p:nvPr>
            <p:ph type="ftr" sz="quarter" idx="11"/>
          </p:nvPr>
        </p:nvSpPr>
        <p:spPr/>
        <p:txBody>
          <a:bodyPr/>
          <a:lstStyle/>
          <a:p>
            <a:r>
              <a:rPr lang="vi-VN"/>
              <a:t>Chương 2. Các thành phần cơ bản trong C#</a:t>
            </a:r>
          </a:p>
        </p:txBody>
      </p:sp>
      <p:sp>
        <p:nvSpPr>
          <p:cNvPr id="6" name="Slide Number Placeholder 5">
            <a:extLst>
              <a:ext uri="{FF2B5EF4-FFF2-40B4-BE49-F238E27FC236}">
                <a16:creationId xmlns:a16="http://schemas.microsoft.com/office/drawing/2014/main" id="{8E27DFB2-AADC-0931-0938-7973DD64226C}"/>
              </a:ext>
            </a:extLst>
          </p:cNvPr>
          <p:cNvSpPr>
            <a:spLocks noGrp="1"/>
          </p:cNvSpPr>
          <p:nvPr>
            <p:ph type="sldNum" sz="quarter" idx="12"/>
          </p:nvPr>
        </p:nvSpPr>
        <p:spPr/>
        <p:txBody>
          <a:bodyPr/>
          <a:lstStyle/>
          <a:p>
            <a:fld id="{5AB95402-1E0D-474E-8D8C-CBE7F053639E}" type="slidenum">
              <a:rPr lang="vi-VN" smtClean="0"/>
              <a:pPr/>
              <a:t>2</a:t>
            </a:fld>
            <a:r>
              <a:rPr lang="vi-VN"/>
              <a:t>/47</a:t>
            </a:r>
          </a:p>
        </p:txBody>
      </p:sp>
    </p:spTree>
    <p:extLst>
      <p:ext uri="{BB962C8B-B14F-4D97-AF65-F5344CB8AC3E}">
        <p14:creationId xmlns:p14="http://schemas.microsoft.com/office/powerpoint/2010/main" val="417932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Cấu</a:t>
            </a:r>
            <a:r>
              <a:rPr lang="en-US" dirty="0"/>
              <a:t> </a:t>
            </a:r>
            <a:r>
              <a:rPr lang="en-US" dirty="0" err="1"/>
              <a:t>trúc</a:t>
            </a:r>
            <a:r>
              <a:rPr lang="en-US" dirty="0"/>
              <a:t> </a:t>
            </a:r>
            <a:r>
              <a:rPr lang="en-US" dirty="0" err="1"/>
              <a:t>chương</a:t>
            </a:r>
            <a:r>
              <a:rPr lang="en-US" dirty="0"/>
              <a:t> </a:t>
            </a:r>
            <a:r>
              <a:rPr lang="en-US" dirty="0" err="1"/>
              <a:t>trình</a:t>
            </a:r>
            <a:r>
              <a:rPr lang="en-US" dirty="0"/>
              <a:t> C# </a:t>
            </a:r>
            <a:endParaRPr lang="vi-VN" dirty="0"/>
          </a:p>
        </p:txBody>
      </p:sp>
      <p:sp>
        <p:nvSpPr>
          <p:cNvPr id="3" name="Content Placeholder 2"/>
          <p:cNvSpPr>
            <a:spLocks noGrp="1"/>
          </p:cNvSpPr>
          <p:nvPr>
            <p:ph idx="1"/>
          </p:nvPr>
        </p:nvSpPr>
        <p:spPr/>
        <p:txBody>
          <a:bodyPr>
            <a:normAutofit/>
          </a:bodyPr>
          <a:lstStyle/>
          <a:p>
            <a:pPr>
              <a:lnSpc>
                <a:spcPct val="80000"/>
              </a:lnSpc>
              <a:buNone/>
            </a:pPr>
            <a:r>
              <a:rPr lang="en-US" sz="1500" dirty="0">
                <a:solidFill>
                  <a:srgbClr val="00B050"/>
                </a:solidFill>
              </a:rPr>
              <a:t>//</a:t>
            </a:r>
            <a:r>
              <a:rPr lang="en-US" sz="1500" dirty="0" err="1">
                <a:solidFill>
                  <a:srgbClr val="00B050"/>
                </a:solidFill>
              </a:rPr>
              <a:t>Vùng</a:t>
            </a:r>
            <a:r>
              <a:rPr lang="en-US" sz="1500" dirty="0">
                <a:solidFill>
                  <a:srgbClr val="00B050"/>
                </a:solidFill>
              </a:rPr>
              <a:t> </a:t>
            </a:r>
            <a:r>
              <a:rPr lang="en-US" sz="1500" dirty="0" err="1">
                <a:solidFill>
                  <a:srgbClr val="00B050"/>
                </a:solidFill>
              </a:rPr>
              <a:t>bắt</a:t>
            </a:r>
            <a:r>
              <a:rPr lang="en-US" sz="1500" dirty="0">
                <a:solidFill>
                  <a:srgbClr val="00B050"/>
                </a:solidFill>
              </a:rPr>
              <a:t> </a:t>
            </a:r>
            <a:r>
              <a:rPr lang="en-US" sz="1500" dirty="0" err="1">
                <a:solidFill>
                  <a:srgbClr val="00B050"/>
                </a:solidFill>
              </a:rPr>
              <a:t>đầu</a:t>
            </a:r>
            <a:r>
              <a:rPr lang="en-US" sz="1500" dirty="0">
                <a:solidFill>
                  <a:srgbClr val="00B050"/>
                </a:solidFill>
              </a:rPr>
              <a:t> </a:t>
            </a:r>
            <a:r>
              <a:rPr lang="en-US" sz="1500" dirty="0" err="1">
                <a:solidFill>
                  <a:srgbClr val="00B050"/>
                </a:solidFill>
              </a:rPr>
              <a:t>khai</a:t>
            </a:r>
            <a:r>
              <a:rPr lang="en-US" sz="1500" dirty="0">
                <a:solidFill>
                  <a:srgbClr val="00B050"/>
                </a:solidFill>
              </a:rPr>
              <a:t> </a:t>
            </a:r>
            <a:r>
              <a:rPr lang="en-US" sz="1500" dirty="0" err="1">
                <a:solidFill>
                  <a:srgbClr val="00B050"/>
                </a:solidFill>
              </a:rPr>
              <a:t>báo</a:t>
            </a:r>
            <a:r>
              <a:rPr lang="en-US" sz="1500" dirty="0">
                <a:solidFill>
                  <a:srgbClr val="00B050"/>
                </a:solidFill>
              </a:rPr>
              <a:t> </a:t>
            </a:r>
            <a:r>
              <a:rPr lang="en-US" sz="1500" dirty="0" err="1">
                <a:solidFill>
                  <a:srgbClr val="00B050"/>
                </a:solidFill>
              </a:rPr>
              <a:t>sử</a:t>
            </a:r>
            <a:r>
              <a:rPr lang="en-US" sz="1500" dirty="0">
                <a:solidFill>
                  <a:srgbClr val="00B050"/>
                </a:solidFill>
              </a:rPr>
              <a:t> </a:t>
            </a:r>
            <a:r>
              <a:rPr lang="en-US" sz="1500" dirty="0" err="1">
                <a:solidFill>
                  <a:srgbClr val="00B050"/>
                </a:solidFill>
              </a:rPr>
              <a:t>dụng</a:t>
            </a:r>
            <a:r>
              <a:rPr lang="en-US" sz="1500" dirty="0">
                <a:solidFill>
                  <a:srgbClr val="00B050"/>
                </a:solidFill>
              </a:rPr>
              <a:t> </a:t>
            </a:r>
            <a:r>
              <a:rPr lang="en-US" sz="1500" dirty="0" err="1">
                <a:solidFill>
                  <a:srgbClr val="00B050"/>
                </a:solidFill>
              </a:rPr>
              <a:t>các</a:t>
            </a:r>
            <a:r>
              <a:rPr lang="en-US" sz="1500" dirty="0">
                <a:solidFill>
                  <a:srgbClr val="00B050"/>
                </a:solidFill>
              </a:rPr>
              <a:t> </a:t>
            </a:r>
            <a:r>
              <a:rPr lang="en-US" sz="1500" dirty="0" err="1">
                <a:solidFill>
                  <a:srgbClr val="00B050"/>
                </a:solidFill>
              </a:rPr>
              <a:t>không</a:t>
            </a:r>
            <a:r>
              <a:rPr lang="en-US" sz="1500" dirty="0">
                <a:solidFill>
                  <a:srgbClr val="00B050"/>
                </a:solidFill>
              </a:rPr>
              <a:t> </a:t>
            </a:r>
            <a:r>
              <a:rPr lang="en-US" sz="1500" dirty="0" err="1">
                <a:solidFill>
                  <a:srgbClr val="00B050"/>
                </a:solidFill>
              </a:rPr>
              <a:t>gian</a:t>
            </a:r>
            <a:r>
              <a:rPr lang="en-US" sz="1500" dirty="0">
                <a:solidFill>
                  <a:srgbClr val="00B050"/>
                </a:solidFill>
              </a:rPr>
              <a:t> </a:t>
            </a:r>
            <a:r>
              <a:rPr lang="en-US" sz="1500" dirty="0" err="1">
                <a:solidFill>
                  <a:srgbClr val="00B050"/>
                </a:solidFill>
              </a:rPr>
              <a:t>tên</a:t>
            </a:r>
            <a:endParaRPr lang="en-US" sz="1500" dirty="0">
              <a:solidFill>
                <a:srgbClr val="00B050"/>
              </a:solidFill>
            </a:endParaRPr>
          </a:p>
          <a:p>
            <a:pPr>
              <a:lnSpc>
                <a:spcPct val="80000"/>
              </a:lnSpc>
              <a:buNone/>
            </a:pPr>
            <a:r>
              <a:rPr lang="en-US" sz="1500" b="1" dirty="0"/>
              <a:t>using</a:t>
            </a:r>
            <a:r>
              <a:rPr lang="en-US" sz="1500" dirty="0"/>
              <a:t> System;</a:t>
            </a:r>
          </a:p>
          <a:p>
            <a:pPr>
              <a:lnSpc>
                <a:spcPct val="80000"/>
              </a:lnSpc>
              <a:buNone/>
            </a:pPr>
            <a:r>
              <a:rPr lang="en-US" sz="1500" b="1" dirty="0"/>
              <a:t>using</a:t>
            </a:r>
            <a:r>
              <a:rPr lang="en-US" sz="1500" dirty="0"/>
              <a:t> </a:t>
            </a:r>
            <a:r>
              <a:rPr lang="en-US" sz="1500" dirty="0" err="1"/>
              <a:t>System.Collections.Generic</a:t>
            </a:r>
            <a:r>
              <a:rPr lang="en-US" sz="1500" dirty="0"/>
              <a:t>;</a:t>
            </a:r>
          </a:p>
          <a:p>
            <a:pPr>
              <a:lnSpc>
                <a:spcPct val="80000"/>
              </a:lnSpc>
              <a:buNone/>
            </a:pPr>
            <a:r>
              <a:rPr lang="en-US" sz="1500" b="1" dirty="0"/>
              <a:t>using</a:t>
            </a:r>
            <a:r>
              <a:rPr lang="en-US" sz="1500" dirty="0"/>
              <a:t> </a:t>
            </a:r>
            <a:r>
              <a:rPr lang="en-US" sz="1500" dirty="0" err="1"/>
              <a:t>System.Text</a:t>
            </a:r>
            <a:r>
              <a:rPr lang="en-US" sz="1500" dirty="0"/>
              <a:t>;</a:t>
            </a:r>
          </a:p>
          <a:p>
            <a:pPr>
              <a:lnSpc>
                <a:spcPct val="80000"/>
              </a:lnSpc>
              <a:buNone/>
            </a:pPr>
            <a:r>
              <a:rPr lang="en-US" sz="1500" dirty="0">
                <a:solidFill>
                  <a:srgbClr val="00B050"/>
                </a:solidFill>
              </a:rPr>
              <a:t>//</a:t>
            </a:r>
            <a:r>
              <a:rPr lang="en-US" sz="1500" dirty="0" err="1">
                <a:solidFill>
                  <a:srgbClr val="00B050"/>
                </a:solidFill>
              </a:rPr>
              <a:t>Khai</a:t>
            </a:r>
            <a:r>
              <a:rPr lang="en-US" sz="1500" dirty="0">
                <a:solidFill>
                  <a:srgbClr val="00B050"/>
                </a:solidFill>
              </a:rPr>
              <a:t> </a:t>
            </a:r>
            <a:r>
              <a:rPr lang="en-US" sz="1500" dirty="0" err="1">
                <a:solidFill>
                  <a:srgbClr val="00B050"/>
                </a:solidFill>
              </a:rPr>
              <a:t>báo</a:t>
            </a:r>
            <a:r>
              <a:rPr lang="en-US" sz="1500" dirty="0">
                <a:solidFill>
                  <a:srgbClr val="00B050"/>
                </a:solidFill>
              </a:rPr>
              <a:t> </a:t>
            </a:r>
            <a:r>
              <a:rPr lang="en-US" sz="1500" dirty="0" err="1">
                <a:solidFill>
                  <a:srgbClr val="00B050"/>
                </a:solidFill>
              </a:rPr>
              <a:t>không</a:t>
            </a:r>
            <a:r>
              <a:rPr lang="en-US" sz="1500" dirty="0">
                <a:solidFill>
                  <a:srgbClr val="00B050"/>
                </a:solidFill>
              </a:rPr>
              <a:t> </a:t>
            </a:r>
            <a:r>
              <a:rPr lang="en-US" sz="1500" dirty="0" err="1">
                <a:solidFill>
                  <a:srgbClr val="00B050"/>
                </a:solidFill>
              </a:rPr>
              <a:t>gian</a:t>
            </a:r>
            <a:r>
              <a:rPr lang="en-US" sz="1500" dirty="0">
                <a:solidFill>
                  <a:srgbClr val="00B050"/>
                </a:solidFill>
              </a:rPr>
              <a:t> </a:t>
            </a:r>
            <a:r>
              <a:rPr lang="en-US" sz="1500" dirty="0" err="1">
                <a:solidFill>
                  <a:srgbClr val="00B050"/>
                </a:solidFill>
              </a:rPr>
              <a:t>tên</a:t>
            </a:r>
            <a:r>
              <a:rPr lang="en-US" sz="1500" dirty="0">
                <a:solidFill>
                  <a:srgbClr val="00B050"/>
                </a:solidFill>
              </a:rPr>
              <a:t> </a:t>
            </a:r>
            <a:r>
              <a:rPr lang="en-US" sz="1500" dirty="0" err="1">
                <a:solidFill>
                  <a:srgbClr val="00B050"/>
                </a:solidFill>
              </a:rPr>
              <a:t>của</a:t>
            </a:r>
            <a:r>
              <a:rPr lang="en-US" sz="1500" dirty="0">
                <a:solidFill>
                  <a:srgbClr val="00B050"/>
                </a:solidFill>
              </a:rPr>
              <a:t> </a:t>
            </a:r>
            <a:r>
              <a:rPr lang="en-US" sz="1500" dirty="0" err="1">
                <a:solidFill>
                  <a:srgbClr val="00B050"/>
                </a:solidFill>
              </a:rPr>
              <a:t>ứng</a:t>
            </a:r>
            <a:r>
              <a:rPr lang="en-US" sz="1500" dirty="0">
                <a:solidFill>
                  <a:srgbClr val="00B050"/>
                </a:solidFill>
              </a:rPr>
              <a:t> </a:t>
            </a:r>
            <a:r>
              <a:rPr lang="en-US" sz="1500" dirty="0" err="1">
                <a:solidFill>
                  <a:srgbClr val="00B050"/>
                </a:solidFill>
              </a:rPr>
              <a:t>dụng</a:t>
            </a:r>
            <a:endParaRPr lang="en-US" sz="1500" dirty="0">
              <a:solidFill>
                <a:srgbClr val="00B050"/>
              </a:solidFill>
            </a:endParaRPr>
          </a:p>
          <a:p>
            <a:pPr>
              <a:lnSpc>
                <a:spcPct val="80000"/>
              </a:lnSpc>
              <a:buNone/>
            </a:pPr>
            <a:r>
              <a:rPr lang="en-US" sz="1500" dirty="0"/>
              <a:t>namespace </a:t>
            </a:r>
            <a:r>
              <a:rPr lang="en-US" sz="1500" dirty="0" err="1"/>
              <a:t>myConsoleApplication</a:t>
            </a:r>
            <a:endParaRPr lang="en-US" sz="1500" dirty="0"/>
          </a:p>
          <a:p>
            <a:pPr>
              <a:lnSpc>
                <a:spcPct val="80000"/>
              </a:lnSpc>
              <a:buNone/>
            </a:pPr>
            <a:r>
              <a:rPr lang="en-US" sz="1500" dirty="0"/>
              <a:t>{</a:t>
            </a:r>
          </a:p>
          <a:p>
            <a:pPr>
              <a:lnSpc>
                <a:spcPct val="80000"/>
              </a:lnSpc>
              <a:buNone/>
            </a:pPr>
            <a:r>
              <a:rPr lang="en-US" sz="1500" dirty="0">
                <a:solidFill>
                  <a:srgbClr val="00B050"/>
                </a:solidFill>
              </a:rPr>
              <a:t>//</a:t>
            </a:r>
            <a:r>
              <a:rPr lang="en-US" sz="1500" dirty="0" err="1">
                <a:solidFill>
                  <a:srgbClr val="00B050"/>
                </a:solidFill>
              </a:rPr>
              <a:t>Vùng</a:t>
            </a:r>
            <a:r>
              <a:rPr lang="en-US" sz="1500" dirty="0">
                <a:solidFill>
                  <a:srgbClr val="00B050"/>
                </a:solidFill>
              </a:rPr>
              <a:t> </a:t>
            </a:r>
            <a:r>
              <a:rPr lang="en-US" sz="1500" dirty="0" err="1">
                <a:solidFill>
                  <a:srgbClr val="00B050"/>
                </a:solidFill>
              </a:rPr>
              <a:t>bắt</a:t>
            </a:r>
            <a:r>
              <a:rPr lang="en-US" sz="1500" dirty="0">
                <a:solidFill>
                  <a:srgbClr val="00B050"/>
                </a:solidFill>
              </a:rPr>
              <a:t> </a:t>
            </a:r>
            <a:r>
              <a:rPr lang="en-US" sz="1500" dirty="0" err="1">
                <a:solidFill>
                  <a:srgbClr val="00B050"/>
                </a:solidFill>
              </a:rPr>
              <a:t>đầu</a:t>
            </a:r>
            <a:r>
              <a:rPr lang="en-US" sz="1500" dirty="0">
                <a:solidFill>
                  <a:srgbClr val="00B050"/>
                </a:solidFill>
              </a:rPr>
              <a:t> </a:t>
            </a:r>
            <a:r>
              <a:rPr lang="en-US" sz="1500" dirty="0" err="1">
                <a:solidFill>
                  <a:srgbClr val="00B050"/>
                </a:solidFill>
              </a:rPr>
              <a:t>khai</a:t>
            </a:r>
            <a:r>
              <a:rPr lang="en-US" sz="1500" dirty="0">
                <a:solidFill>
                  <a:srgbClr val="00B050"/>
                </a:solidFill>
              </a:rPr>
              <a:t> </a:t>
            </a:r>
            <a:r>
              <a:rPr lang="en-US" sz="1500" dirty="0" err="1">
                <a:solidFill>
                  <a:srgbClr val="00B050"/>
                </a:solidFill>
              </a:rPr>
              <a:t>báo</a:t>
            </a:r>
            <a:r>
              <a:rPr lang="en-US" sz="1500" dirty="0">
                <a:solidFill>
                  <a:srgbClr val="00B050"/>
                </a:solidFill>
              </a:rPr>
              <a:t> </a:t>
            </a:r>
            <a:r>
              <a:rPr lang="en-US" sz="1500" dirty="0" err="1">
                <a:solidFill>
                  <a:srgbClr val="00B050"/>
                </a:solidFill>
              </a:rPr>
              <a:t>tên</a:t>
            </a:r>
            <a:r>
              <a:rPr lang="en-US" sz="1500" dirty="0">
                <a:solidFill>
                  <a:srgbClr val="00B050"/>
                </a:solidFill>
              </a:rPr>
              <a:t> </a:t>
            </a:r>
            <a:r>
              <a:rPr lang="en-US" sz="1500" dirty="0" err="1">
                <a:solidFill>
                  <a:srgbClr val="00B050"/>
                </a:solidFill>
              </a:rPr>
              <a:t>các</a:t>
            </a:r>
            <a:r>
              <a:rPr lang="en-US" sz="1500" dirty="0">
                <a:solidFill>
                  <a:srgbClr val="00B050"/>
                </a:solidFill>
              </a:rPr>
              <a:t> Class</a:t>
            </a:r>
          </a:p>
          <a:p>
            <a:pPr>
              <a:lnSpc>
                <a:spcPct val="80000"/>
              </a:lnSpc>
              <a:buNone/>
            </a:pPr>
            <a:r>
              <a:rPr lang="en-US" sz="1500" b="1" dirty="0"/>
              <a:t>    class Program</a:t>
            </a:r>
          </a:p>
          <a:p>
            <a:pPr>
              <a:lnSpc>
                <a:spcPct val="80000"/>
              </a:lnSpc>
              <a:buNone/>
            </a:pPr>
            <a:r>
              <a:rPr lang="en-US" sz="1500" dirty="0"/>
              <a:t>    {</a:t>
            </a:r>
          </a:p>
          <a:p>
            <a:pPr lvl="1">
              <a:lnSpc>
                <a:spcPct val="80000"/>
              </a:lnSpc>
              <a:buNone/>
            </a:pPr>
            <a:r>
              <a:rPr lang="en-US" sz="1500" dirty="0"/>
              <a:t>//</a:t>
            </a:r>
            <a:r>
              <a:rPr lang="en-US" sz="1500" dirty="0" err="1"/>
              <a:t>Vùng</a:t>
            </a:r>
            <a:r>
              <a:rPr lang="en-US" sz="1500" dirty="0"/>
              <a:t> </a:t>
            </a:r>
            <a:r>
              <a:rPr lang="en-US" sz="1500" dirty="0" err="1"/>
              <a:t>khai</a:t>
            </a:r>
            <a:r>
              <a:rPr lang="en-US" sz="1500" dirty="0"/>
              <a:t> </a:t>
            </a:r>
            <a:r>
              <a:rPr lang="en-US" sz="1500" dirty="0" err="1"/>
              <a:t>báo</a:t>
            </a:r>
            <a:r>
              <a:rPr lang="en-US" sz="1500" dirty="0"/>
              <a:t> </a:t>
            </a:r>
            <a:r>
              <a:rPr lang="en-US" sz="1500" dirty="0" err="1"/>
              <a:t>các</a:t>
            </a:r>
            <a:r>
              <a:rPr lang="en-US" sz="1500" dirty="0"/>
              <a:t> </a:t>
            </a:r>
            <a:r>
              <a:rPr lang="en-US" sz="1500" dirty="0" err="1"/>
              <a:t>phương</a:t>
            </a:r>
            <a:r>
              <a:rPr lang="en-US" sz="1500" dirty="0"/>
              <a:t> </a:t>
            </a:r>
            <a:r>
              <a:rPr lang="en-US" sz="1500" dirty="0" err="1"/>
              <a:t>thức</a:t>
            </a:r>
            <a:endParaRPr lang="en-US" sz="1500" dirty="0"/>
          </a:p>
          <a:p>
            <a:pPr>
              <a:lnSpc>
                <a:spcPct val="80000"/>
              </a:lnSpc>
              <a:buNone/>
            </a:pPr>
            <a:r>
              <a:rPr lang="en-US" sz="1500" dirty="0"/>
              <a:t>        static void </a:t>
            </a:r>
            <a:r>
              <a:rPr lang="en-US" sz="1500" b="1" dirty="0"/>
              <a:t>Main(string</a:t>
            </a:r>
            <a:r>
              <a:rPr lang="en-US" sz="1500" dirty="0"/>
              <a:t>[] </a:t>
            </a:r>
            <a:r>
              <a:rPr lang="en-US" sz="1500" dirty="0" err="1"/>
              <a:t>args</a:t>
            </a:r>
            <a:r>
              <a:rPr lang="en-US" sz="1500" dirty="0"/>
              <a:t>)</a:t>
            </a:r>
          </a:p>
          <a:p>
            <a:pPr>
              <a:lnSpc>
                <a:spcPct val="80000"/>
              </a:lnSpc>
              <a:buNone/>
            </a:pPr>
            <a:r>
              <a:rPr lang="en-US" sz="1500" dirty="0"/>
              <a:t>        {</a:t>
            </a:r>
          </a:p>
          <a:p>
            <a:pPr lvl="2">
              <a:lnSpc>
                <a:spcPct val="80000"/>
              </a:lnSpc>
              <a:buNone/>
            </a:pPr>
            <a:r>
              <a:rPr lang="en-US" dirty="0">
                <a:solidFill>
                  <a:srgbClr val="00B050"/>
                </a:solidFill>
              </a:rPr>
              <a:t>     //</a:t>
            </a:r>
            <a:r>
              <a:rPr lang="en-US" dirty="0" err="1">
                <a:solidFill>
                  <a:srgbClr val="00B050"/>
                </a:solidFill>
              </a:rPr>
              <a:t>Vùng</a:t>
            </a:r>
            <a:r>
              <a:rPr lang="en-US" dirty="0">
                <a:solidFill>
                  <a:srgbClr val="00B050"/>
                </a:solidFill>
              </a:rPr>
              <a:t> </a:t>
            </a:r>
            <a:r>
              <a:rPr lang="en-US" dirty="0" err="1">
                <a:solidFill>
                  <a:srgbClr val="00B050"/>
                </a:solidFill>
              </a:rPr>
              <a:t>khai</a:t>
            </a:r>
            <a:r>
              <a:rPr lang="en-US" dirty="0">
                <a:solidFill>
                  <a:srgbClr val="00B050"/>
                </a:solidFill>
              </a:rPr>
              <a:t> </a:t>
            </a:r>
            <a:r>
              <a:rPr lang="en-US" dirty="0" err="1">
                <a:solidFill>
                  <a:srgbClr val="00B050"/>
                </a:solidFill>
              </a:rPr>
              <a:t>báo</a:t>
            </a:r>
            <a:r>
              <a:rPr lang="en-US" dirty="0">
                <a:solidFill>
                  <a:srgbClr val="00B050"/>
                </a:solidFill>
              </a:rPr>
              <a:t> </a:t>
            </a:r>
            <a:r>
              <a:rPr lang="en-US" dirty="0" err="1">
                <a:solidFill>
                  <a:srgbClr val="00B050"/>
                </a:solidFill>
              </a:rPr>
              <a:t>lệnh</a:t>
            </a:r>
            <a:endParaRPr lang="en-US" dirty="0">
              <a:solidFill>
                <a:srgbClr val="00B050"/>
              </a:solidFill>
            </a:endParaRPr>
          </a:p>
          <a:p>
            <a:pPr>
              <a:lnSpc>
                <a:spcPct val="80000"/>
              </a:lnSpc>
              <a:buNone/>
            </a:pPr>
            <a:r>
              <a:rPr lang="en-US" sz="1500" dirty="0"/>
              <a:t>        }</a:t>
            </a:r>
          </a:p>
          <a:p>
            <a:pPr>
              <a:lnSpc>
                <a:spcPct val="80000"/>
              </a:lnSpc>
              <a:buNone/>
            </a:pPr>
            <a:r>
              <a:rPr lang="en-US" sz="1500" dirty="0"/>
              <a:t>    }</a:t>
            </a:r>
          </a:p>
          <a:p>
            <a:pPr>
              <a:lnSpc>
                <a:spcPct val="80000"/>
              </a:lnSpc>
              <a:buNone/>
            </a:pPr>
            <a:r>
              <a:rPr lang="en-US" sz="1500" dirty="0"/>
              <a:t>}</a:t>
            </a:r>
          </a:p>
        </p:txBody>
      </p:sp>
      <p:sp>
        <p:nvSpPr>
          <p:cNvPr id="4" name="Date Placeholder 3"/>
          <p:cNvSpPr>
            <a:spLocks noGrp="1"/>
          </p:cNvSpPr>
          <p:nvPr>
            <p:ph type="dt" sz="half" idx="10"/>
          </p:nvPr>
        </p:nvSpPr>
        <p:spPr/>
        <p:txBody>
          <a:bodyPr/>
          <a:lstStyle/>
          <a:p>
            <a:fld id="{74C7103D-31A3-4C0D-84C9-4148E9FAC004}"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a:t>
            </a:fld>
            <a:r>
              <a:rPr lang="vi-VN"/>
              <a:t>/47</a:t>
            </a:r>
          </a:p>
        </p:txBody>
      </p:sp>
    </p:spTree>
    <p:extLst>
      <p:ext uri="{BB962C8B-B14F-4D97-AF65-F5344CB8AC3E}">
        <p14:creationId xmlns:p14="http://schemas.microsoft.com/office/powerpoint/2010/main" val="514654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Không gian tên (namespace)</a:t>
            </a:r>
            <a:endParaRPr lang="vi-VN"/>
          </a:p>
        </p:txBody>
      </p:sp>
      <p:sp>
        <p:nvSpPr>
          <p:cNvPr id="3" name="Content Placeholder 2"/>
          <p:cNvSpPr>
            <a:spLocks noGrp="1"/>
          </p:cNvSpPr>
          <p:nvPr>
            <p:ph idx="1"/>
          </p:nvPr>
        </p:nvSpPr>
        <p:spPr/>
        <p:txBody>
          <a:bodyPr/>
          <a:lstStyle/>
          <a:p>
            <a:r>
              <a:rPr lang="en-US"/>
              <a:t>Nhóm các tính năng có liên quan của C# vào một loại</a:t>
            </a:r>
          </a:p>
          <a:p>
            <a:r>
              <a:rPr lang="en-US"/>
              <a:t>Cho phép dễ dàng tái sử dụng mã nguồn</a:t>
            </a:r>
          </a:p>
          <a:p>
            <a:r>
              <a:rPr lang="en-US"/>
              <a:t>Trong thư viện .NET framework có nhiều không gian tên</a:t>
            </a:r>
          </a:p>
          <a:p>
            <a:r>
              <a:rPr lang="en-US"/>
              <a:t>Phải tham chiếu tới để sử dụng</a:t>
            </a:r>
            <a:endParaRPr lang="vi-VN"/>
          </a:p>
        </p:txBody>
      </p:sp>
      <p:sp>
        <p:nvSpPr>
          <p:cNvPr id="4" name="Date Placeholder 3"/>
          <p:cNvSpPr>
            <a:spLocks noGrp="1"/>
          </p:cNvSpPr>
          <p:nvPr>
            <p:ph type="dt" sz="half" idx="10"/>
          </p:nvPr>
        </p:nvSpPr>
        <p:spPr/>
        <p:txBody>
          <a:bodyPr/>
          <a:lstStyle/>
          <a:p>
            <a:fld id="{010CD309-DB7F-4B39-AC06-E2C7277C95C5}"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a:t>
            </a:fld>
            <a:r>
              <a:rPr lang="vi-VN"/>
              <a:t>/47</a:t>
            </a:r>
          </a:p>
        </p:txBody>
      </p:sp>
    </p:spTree>
    <p:extLst>
      <p:ext uri="{BB962C8B-B14F-4D97-AF65-F5344CB8AC3E}">
        <p14:creationId xmlns:p14="http://schemas.microsoft.com/office/powerpoint/2010/main" val="112858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namespace cơ bản</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E4843999-7166-41C0-9517-CA076F5EE648}"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676" y="1916832"/>
            <a:ext cx="6083327" cy="3519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fld id="{5AB95402-1E0D-474E-8D8C-CBE7F053639E}" type="slidenum">
              <a:rPr lang="vi-VN" smtClean="0"/>
              <a:pPr/>
              <a:t>5</a:t>
            </a:fld>
            <a:r>
              <a:rPr lang="vi-VN"/>
              <a:t>/47</a:t>
            </a:r>
          </a:p>
        </p:txBody>
      </p:sp>
    </p:spTree>
    <p:extLst>
      <p:ext uri="{BB962C8B-B14F-4D97-AF65-F5344CB8AC3E}">
        <p14:creationId xmlns:p14="http://schemas.microsoft.com/office/powerpoint/2010/main" val="1864541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Không gian tên</a:t>
            </a:r>
            <a:endParaRPr lang="vi-VN"/>
          </a:p>
        </p:txBody>
      </p:sp>
      <p:sp>
        <p:nvSpPr>
          <p:cNvPr id="3" name="Content Placeholder 2"/>
          <p:cNvSpPr>
            <a:spLocks noGrp="1"/>
          </p:cNvSpPr>
          <p:nvPr>
            <p:ph idx="1"/>
          </p:nvPr>
        </p:nvSpPr>
        <p:spPr/>
        <p:txBody>
          <a:bodyPr>
            <a:normAutofit lnSpcReduction="10000"/>
          </a:bodyPr>
          <a:lstStyle/>
          <a:p>
            <a:r>
              <a:rPr lang="en-US"/>
              <a:t>Khai báo sử dụng:</a:t>
            </a:r>
          </a:p>
          <a:p>
            <a:pPr lvl="1"/>
            <a:r>
              <a:rPr lang="en-US"/>
              <a:t>Using &lt;tên namespace&gt;;</a:t>
            </a:r>
          </a:p>
          <a:p>
            <a:r>
              <a:rPr lang="en-US"/>
              <a:t>Tạo không gian tên:</a:t>
            </a:r>
          </a:p>
          <a:p>
            <a:pPr lvl="1"/>
            <a:r>
              <a:rPr lang="en-US"/>
              <a:t>namespace &lt;Tên namespace&gt;</a:t>
            </a:r>
          </a:p>
          <a:p>
            <a:pPr marL="353615" lvl="1" indent="0">
              <a:buNone/>
            </a:pPr>
            <a:r>
              <a:rPr lang="en-US"/>
              <a:t>	{</a:t>
            </a:r>
          </a:p>
          <a:p>
            <a:pPr marL="353615" lvl="1" indent="0">
              <a:buNone/>
            </a:pPr>
            <a:r>
              <a:rPr lang="en-US"/>
              <a:t>		&lt;Định nghĩa lớp A&gt;</a:t>
            </a:r>
          </a:p>
          <a:p>
            <a:pPr marL="353615" lvl="1" indent="0">
              <a:buNone/>
            </a:pPr>
            <a:r>
              <a:rPr lang="en-US"/>
              <a:t>		&lt;Định nghĩa lớp B&gt;</a:t>
            </a:r>
          </a:p>
          <a:p>
            <a:pPr marL="353615" lvl="1" indent="0">
              <a:buNone/>
            </a:pPr>
            <a:r>
              <a:rPr lang="en-US"/>
              <a:t>		….</a:t>
            </a:r>
          </a:p>
          <a:p>
            <a:pPr marL="353615" lvl="1" indent="0">
              <a:buNone/>
            </a:pPr>
            <a:r>
              <a:rPr lang="en-US"/>
              <a:t>	}</a:t>
            </a:r>
            <a:endParaRPr lang="vi-VN"/>
          </a:p>
        </p:txBody>
      </p:sp>
      <p:sp>
        <p:nvSpPr>
          <p:cNvPr id="4" name="Date Placeholder 3"/>
          <p:cNvSpPr>
            <a:spLocks noGrp="1"/>
          </p:cNvSpPr>
          <p:nvPr>
            <p:ph type="dt" sz="half" idx="10"/>
          </p:nvPr>
        </p:nvSpPr>
        <p:spPr/>
        <p:txBody>
          <a:bodyPr/>
          <a:lstStyle/>
          <a:p>
            <a:fld id="{85437967-C84E-4535-BB2B-874B85CF954C}"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6</a:t>
            </a:fld>
            <a:r>
              <a:rPr lang="vi-VN"/>
              <a:t>/47</a:t>
            </a:r>
          </a:p>
        </p:txBody>
      </p:sp>
    </p:spTree>
    <p:extLst>
      <p:ext uri="{BB962C8B-B14F-4D97-AF65-F5344CB8AC3E}">
        <p14:creationId xmlns:p14="http://schemas.microsoft.com/office/powerpoint/2010/main" val="3340623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Kiểu</a:t>
            </a:r>
            <a:r>
              <a:rPr lang="en-US" dirty="0"/>
              <a:t> </a:t>
            </a:r>
            <a:r>
              <a:rPr lang="en-US" dirty="0" err="1"/>
              <a:t>dữ</a:t>
            </a:r>
            <a:r>
              <a:rPr lang="en-US" dirty="0"/>
              <a:t> </a:t>
            </a:r>
            <a:r>
              <a:rPr lang="en-US" dirty="0" err="1"/>
              <a:t>liệu</a:t>
            </a:r>
            <a:endParaRPr lang="vi-VN" dirty="0"/>
          </a:p>
        </p:txBody>
      </p:sp>
      <p:sp>
        <p:nvSpPr>
          <p:cNvPr id="3" name="Content Placeholder 2"/>
          <p:cNvSpPr>
            <a:spLocks noGrp="1"/>
          </p:cNvSpPr>
          <p:nvPr>
            <p:ph idx="1"/>
          </p:nvPr>
        </p:nvSpPr>
        <p:spPr/>
        <p:txBody>
          <a:bodyPr/>
          <a:lstStyle/>
          <a:p>
            <a:r>
              <a:rPr lang="en-US"/>
              <a:t>Phân loại kiểu dữ liệu</a:t>
            </a:r>
          </a:p>
          <a:p>
            <a:pPr lvl="1"/>
            <a:r>
              <a:rPr lang="en-US"/>
              <a:t>Theo phương thức định nghĩa:</a:t>
            </a:r>
          </a:p>
          <a:p>
            <a:pPr lvl="2"/>
            <a:r>
              <a:rPr lang="en-US"/>
              <a:t>Có sẵn (Build-in)</a:t>
            </a:r>
          </a:p>
          <a:p>
            <a:pPr lvl="2"/>
            <a:r>
              <a:rPr lang="en-US"/>
              <a:t>Người dùng tự định nghĩa (user-defined)</a:t>
            </a:r>
          </a:p>
          <a:p>
            <a:pPr lvl="1"/>
            <a:r>
              <a:rPr lang="en-US"/>
              <a:t>Theo cách thức lưu trữ</a:t>
            </a:r>
          </a:p>
          <a:p>
            <a:pPr lvl="2"/>
            <a:r>
              <a:rPr lang="en-US"/>
              <a:t>Giá trị (Value)</a:t>
            </a:r>
          </a:p>
          <a:p>
            <a:pPr lvl="2"/>
            <a:r>
              <a:rPr lang="en-US"/>
              <a:t>Tham chiếu (Reference)</a:t>
            </a:r>
            <a:endParaRPr lang="vi-VN"/>
          </a:p>
        </p:txBody>
      </p:sp>
      <p:sp>
        <p:nvSpPr>
          <p:cNvPr id="4" name="Date Placeholder 3"/>
          <p:cNvSpPr>
            <a:spLocks noGrp="1"/>
          </p:cNvSpPr>
          <p:nvPr>
            <p:ph type="dt" sz="half" idx="10"/>
          </p:nvPr>
        </p:nvSpPr>
        <p:spPr/>
        <p:txBody>
          <a:bodyPr/>
          <a:lstStyle/>
          <a:p>
            <a:fld id="{164768B3-0E56-49F7-84AA-69C3E32379C4}"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7</a:t>
            </a:fld>
            <a:r>
              <a:rPr lang="vi-VN"/>
              <a:t>/47</a:t>
            </a:r>
          </a:p>
        </p:txBody>
      </p:sp>
    </p:spTree>
    <p:extLst>
      <p:ext uri="{BB962C8B-B14F-4D97-AF65-F5344CB8AC3E}">
        <p14:creationId xmlns:p14="http://schemas.microsoft.com/office/powerpoint/2010/main" val="3525329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dữ liệu</a:t>
            </a:r>
            <a:endParaRPr lang="vi-VN"/>
          </a:p>
        </p:txBody>
      </p:sp>
      <p:sp>
        <p:nvSpPr>
          <p:cNvPr id="3" name="Content Placeholder 2"/>
          <p:cNvSpPr>
            <a:spLocks noGrp="1"/>
          </p:cNvSpPr>
          <p:nvPr>
            <p:ph idx="1"/>
          </p:nvPr>
        </p:nvSpPr>
        <p:spPr/>
        <p:txBody>
          <a:bodyPr>
            <a:normAutofit fontScale="92500" lnSpcReduction="10000"/>
          </a:bodyPr>
          <a:lstStyle/>
          <a:p>
            <a:r>
              <a:rPr lang="en-US"/>
              <a:t>Kiểu dữ liệu có sẵn</a:t>
            </a:r>
          </a:p>
          <a:p>
            <a:pPr lvl="1"/>
            <a:r>
              <a:rPr lang="en-US"/>
              <a:t>C# hỗ trợ một số kiểu dữ liệu có sẵn, mỗi kiểu dữ liệu này tương ứng với một kiểu dữ liệu hỗ trợ bởi hệ thống xác nhận ngôn ngữ chung CLS (Common Language System) trong MS.NET</a:t>
            </a:r>
          </a:p>
          <a:p>
            <a:pPr lvl="1"/>
            <a:r>
              <a:rPr lang="en-US"/>
              <a:t>Việc ánh xạ các kiểu dữ liệu nguyên thủy của C# đến các kiểu dữ liệu của .Net sẽ đảm bảo các đối tượng được tạo ra trong C# có thể được sử dụng đồng thời với các đối tượng được tạo ra bởi bất cứ ngôn ngữ khác được biên dịch bởi .Net như VB.Net</a:t>
            </a:r>
          </a:p>
          <a:p>
            <a:pPr lvl="1"/>
            <a:r>
              <a:rPr lang="en-US"/>
              <a:t>Mỗi kiểu dữ liệu có kích thước xác định</a:t>
            </a:r>
            <a:endParaRPr lang="vi-VN"/>
          </a:p>
        </p:txBody>
      </p:sp>
      <p:sp>
        <p:nvSpPr>
          <p:cNvPr id="4" name="Date Placeholder 3"/>
          <p:cNvSpPr>
            <a:spLocks noGrp="1"/>
          </p:cNvSpPr>
          <p:nvPr>
            <p:ph type="dt" sz="half" idx="10"/>
          </p:nvPr>
        </p:nvSpPr>
        <p:spPr/>
        <p:txBody>
          <a:bodyPr/>
          <a:lstStyle/>
          <a:p>
            <a:fld id="{7B416257-F18A-4CE4-9917-2AEE6E54D1DD}"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8</a:t>
            </a:fld>
            <a:r>
              <a:rPr lang="vi-VN"/>
              <a:t>/47</a:t>
            </a:r>
          </a:p>
        </p:txBody>
      </p:sp>
    </p:spTree>
    <p:extLst>
      <p:ext uri="{BB962C8B-B14F-4D97-AF65-F5344CB8AC3E}">
        <p14:creationId xmlns:p14="http://schemas.microsoft.com/office/powerpoint/2010/main" val="3717859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dữ liệu</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D5C3B662-A204-465F-A193-E0D457D5DF61}"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9</a:t>
            </a:fld>
            <a:r>
              <a:rPr lang="vi-VN"/>
              <a:t>/47</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156" y="773213"/>
            <a:ext cx="8064896" cy="60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4046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dữ liệu</a:t>
            </a:r>
            <a:endParaRPr lang="vi-VN"/>
          </a:p>
        </p:txBody>
      </p:sp>
      <p:sp>
        <p:nvSpPr>
          <p:cNvPr id="3" name="Content Placeholder 2"/>
          <p:cNvSpPr>
            <a:spLocks noGrp="1"/>
          </p:cNvSpPr>
          <p:nvPr>
            <p:ph idx="1"/>
          </p:nvPr>
        </p:nvSpPr>
        <p:spPr/>
        <p:txBody>
          <a:bodyPr/>
          <a:lstStyle/>
          <a:p>
            <a:r>
              <a:rPr lang="en-US"/>
              <a:t>Kiểu giá trị (value type)</a:t>
            </a:r>
          </a:p>
          <a:p>
            <a:pPr lvl="1"/>
            <a:r>
              <a:rPr lang="en-US"/>
              <a:t>Dữ liệu được lưu trữ trên vùng nhớ ngăn xếp (stack)</a:t>
            </a:r>
          </a:p>
          <a:p>
            <a:pPr lvl="1"/>
            <a:r>
              <a:rPr lang="en-US"/>
              <a:t>Ví dụ: int, long, float…</a:t>
            </a:r>
          </a:p>
          <a:p>
            <a:r>
              <a:rPr lang="en-US"/>
              <a:t>Kiểu tham chiếu (reference type)</a:t>
            </a:r>
          </a:p>
          <a:p>
            <a:pPr lvl="1"/>
            <a:r>
              <a:rPr lang="en-US"/>
              <a:t>Địa chỉ lưu trữ trong ngăn xếp (stack)</a:t>
            </a:r>
          </a:p>
          <a:p>
            <a:pPr lvl="1"/>
            <a:r>
              <a:rPr lang="en-US"/>
              <a:t>Dữ liệu thực sự được lưu trữ trong vùng nhớ Heap</a:t>
            </a:r>
          </a:p>
          <a:p>
            <a:pPr lvl="1"/>
            <a:r>
              <a:rPr lang="en-US"/>
              <a:t>Ví dụ: class, delegate, interface, object, string, dynamic</a:t>
            </a:r>
            <a:endParaRPr lang="vi-VN"/>
          </a:p>
        </p:txBody>
      </p:sp>
      <p:sp>
        <p:nvSpPr>
          <p:cNvPr id="4" name="Date Placeholder 3"/>
          <p:cNvSpPr>
            <a:spLocks noGrp="1"/>
          </p:cNvSpPr>
          <p:nvPr>
            <p:ph type="dt" sz="half" idx="10"/>
          </p:nvPr>
        </p:nvSpPr>
        <p:spPr/>
        <p:txBody>
          <a:bodyPr/>
          <a:lstStyle/>
          <a:p>
            <a:fld id="{FF6C864A-FF1E-4861-9C79-12715E6E7457}"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10</a:t>
            </a:fld>
            <a:r>
              <a:rPr lang="vi-VN"/>
              <a:t>/47</a:t>
            </a:r>
          </a:p>
        </p:txBody>
      </p:sp>
    </p:spTree>
    <p:extLst>
      <p:ext uri="{BB962C8B-B14F-4D97-AF65-F5344CB8AC3E}">
        <p14:creationId xmlns:p14="http://schemas.microsoft.com/office/powerpoint/2010/main" val="1648608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Chuyển đổi các kiểu dữ liệu</a:t>
            </a:r>
            <a:endParaRPr lang="vi-VN"/>
          </a:p>
        </p:txBody>
      </p:sp>
      <p:sp>
        <p:nvSpPr>
          <p:cNvPr id="3" name="Content Placeholder 2"/>
          <p:cNvSpPr>
            <a:spLocks noGrp="1"/>
          </p:cNvSpPr>
          <p:nvPr>
            <p:ph idx="1"/>
          </p:nvPr>
        </p:nvSpPr>
        <p:spPr/>
        <p:txBody>
          <a:bodyPr/>
          <a:lstStyle/>
          <a:p>
            <a:r>
              <a:rPr lang="en-US"/>
              <a:t>Chuyển đổi ngầm định (implicity)</a:t>
            </a:r>
          </a:p>
          <a:p>
            <a:pPr lvl="1"/>
            <a:r>
              <a:rPr lang="en-US"/>
              <a:t>Trình biên dịch tự động thực hiện, đảm bảo không bị mất mát dữ liệu</a:t>
            </a:r>
          </a:p>
          <a:p>
            <a:pPr lvl="1"/>
            <a:r>
              <a:rPr lang="en-US"/>
              <a:t>Ví dụ: short x=5;</a:t>
            </a:r>
          </a:p>
          <a:p>
            <a:pPr marL="471487" lvl="1" indent="0">
              <a:buNone/>
            </a:pPr>
            <a:r>
              <a:rPr lang="en-US"/>
              <a:t>		int y=x;</a:t>
            </a:r>
          </a:p>
          <a:p>
            <a:r>
              <a:rPr lang="en-US"/>
              <a:t>Chuyển đổi tường minh (explicity)</a:t>
            </a:r>
          </a:p>
          <a:p>
            <a:pPr lvl="1"/>
            <a:r>
              <a:rPr lang="en-US"/>
              <a:t>Sử dụng toán tử chuyển kiểu</a:t>
            </a:r>
          </a:p>
          <a:p>
            <a:pPr lvl="1"/>
            <a:r>
              <a:rPr lang="en-US"/>
              <a:t>Sử dụng các tiện ích</a:t>
            </a:r>
            <a:endParaRPr lang="vi-VN"/>
          </a:p>
        </p:txBody>
      </p:sp>
      <p:sp>
        <p:nvSpPr>
          <p:cNvPr id="4" name="Date Placeholder 3"/>
          <p:cNvSpPr>
            <a:spLocks noGrp="1"/>
          </p:cNvSpPr>
          <p:nvPr>
            <p:ph type="dt" sz="half" idx="10"/>
          </p:nvPr>
        </p:nvSpPr>
        <p:spPr/>
        <p:txBody>
          <a:bodyPr/>
          <a:lstStyle/>
          <a:p>
            <a:fld id="{14A4F004-438C-4F25-9181-D8C919221BB1}"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11</a:t>
            </a:fld>
            <a:r>
              <a:rPr lang="vi-VN"/>
              <a:t>/47</a:t>
            </a:r>
          </a:p>
        </p:txBody>
      </p:sp>
    </p:spTree>
    <p:extLst>
      <p:ext uri="{BB962C8B-B14F-4D97-AF65-F5344CB8AC3E}">
        <p14:creationId xmlns:p14="http://schemas.microsoft.com/office/powerpoint/2010/main" val="1430819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Chuyển đổi các kiểu dữ liệu</a:t>
            </a:r>
            <a:endParaRPr lang="vi-VN"/>
          </a:p>
        </p:txBody>
      </p:sp>
      <p:sp>
        <p:nvSpPr>
          <p:cNvPr id="3" name="Content Placeholder 2"/>
          <p:cNvSpPr>
            <a:spLocks noGrp="1"/>
          </p:cNvSpPr>
          <p:nvPr>
            <p:ph idx="1"/>
          </p:nvPr>
        </p:nvSpPr>
        <p:spPr/>
        <p:txBody>
          <a:bodyPr>
            <a:normAutofit fontScale="62500" lnSpcReduction="20000"/>
          </a:bodyPr>
          <a:lstStyle/>
          <a:p>
            <a:r>
              <a:rPr lang="en-US" sz="1600" dirty="0" err="1"/>
              <a:t>Chuyển</a:t>
            </a:r>
            <a:r>
              <a:rPr lang="en-US" sz="1600" dirty="0"/>
              <a:t> </a:t>
            </a:r>
            <a:r>
              <a:rPr lang="en-US" sz="1600" dirty="0" err="1"/>
              <a:t>đổi</a:t>
            </a:r>
            <a:r>
              <a:rPr lang="en-US" sz="1600" dirty="0"/>
              <a:t> </a:t>
            </a:r>
            <a:r>
              <a:rPr lang="en-US" sz="1600" dirty="0" err="1"/>
              <a:t>tường</a:t>
            </a:r>
            <a:r>
              <a:rPr lang="en-US" sz="1600" dirty="0"/>
              <a:t> </a:t>
            </a:r>
            <a:r>
              <a:rPr lang="en-US" sz="1600" dirty="0" err="1"/>
              <a:t>minh</a:t>
            </a:r>
            <a:r>
              <a:rPr lang="en-US" sz="1600" dirty="0"/>
              <a:t> (</a:t>
            </a:r>
            <a:r>
              <a:rPr lang="en-US" sz="1600" dirty="0" err="1"/>
              <a:t>explicity</a:t>
            </a:r>
            <a:r>
              <a:rPr lang="en-US" sz="1600" dirty="0"/>
              <a:t>)</a:t>
            </a:r>
          </a:p>
          <a:p>
            <a:pPr lvl="1"/>
            <a:r>
              <a:rPr lang="en-US" sz="1600" dirty="0" err="1"/>
              <a:t>Sử</a:t>
            </a:r>
            <a:r>
              <a:rPr lang="en-US" sz="1600" dirty="0"/>
              <a:t> </a:t>
            </a:r>
            <a:r>
              <a:rPr lang="en-US" sz="1600" dirty="0" err="1"/>
              <a:t>dụng</a:t>
            </a:r>
            <a:r>
              <a:rPr lang="en-US" sz="1600" dirty="0"/>
              <a:t> </a:t>
            </a:r>
            <a:r>
              <a:rPr lang="en-US" sz="1600" dirty="0" err="1"/>
              <a:t>toán</a:t>
            </a:r>
            <a:r>
              <a:rPr lang="en-US" sz="1600" dirty="0"/>
              <a:t> </a:t>
            </a:r>
            <a:r>
              <a:rPr lang="en-US" sz="1600" dirty="0" err="1"/>
              <a:t>tử</a:t>
            </a:r>
            <a:r>
              <a:rPr lang="en-US" sz="1600" dirty="0"/>
              <a:t> </a:t>
            </a:r>
            <a:r>
              <a:rPr lang="en-US" sz="1600" dirty="0" err="1"/>
              <a:t>chuyển</a:t>
            </a:r>
            <a:r>
              <a:rPr lang="en-US" sz="1600" dirty="0"/>
              <a:t> </a:t>
            </a:r>
            <a:r>
              <a:rPr lang="en-US" sz="1600" dirty="0" err="1"/>
              <a:t>kiểu</a:t>
            </a:r>
            <a:r>
              <a:rPr lang="en-US" sz="1600" dirty="0"/>
              <a:t> (</a:t>
            </a:r>
            <a:r>
              <a:rPr lang="en-US" sz="1600" b="1" dirty="0">
                <a:solidFill>
                  <a:srgbClr val="FF0000"/>
                </a:solidFill>
              </a:rPr>
              <a:t>Casting</a:t>
            </a:r>
            <a:r>
              <a:rPr lang="en-US" sz="1600" dirty="0"/>
              <a:t>)</a:t>
            </a:r>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marL="469900" lvl="1" indent="1317625">
              <a:buNone/>
            </a:pPr>
            <a:endParaRPr lang="en-US" sz="1600" dirty="0"/>
          </a:p>
          <a:p>
            <a:pPr lvl="1"/>
            <a:endParaRPr lang="en-US" sz="1600" dirty="0"/>
          </a:p>
          <a:p>
            <a:pPr lvl="1"/>
            <a:r>
              <a:rPr lang="en-US" sz="1600" dirty="0" err="1"/>
              <a:t>Sử</a:t>
            </a:r>
            <a:r>
              <a:rPr lang="en-US" sz="1600" dirty="0"/>
              <a:t> </a:t>
            </a:r>
            <a:r>
              <a:rPr lang="en-US" sz="1600" dirty="0" err="1"/>
              <a:t>dụng</a:t>
            </a:r>
            <a:r>
              <a:rPr lang="en-US" sz="1600" dirty="0"/>
              <a:t> </a:t>
            </a:r>
            <a:r>
              <a:rPr lang="en-US" sz="1600" dirty="0" err="1"/>
              <a:t>các</a:t>
            </a:r>
            <a:r>
              <a:rPr lang="en-US" sz="1600" dirty="0"/>
              <a:t> </a:t>
            </a:r>
            <a:r>
              <a:rPr lang="en-US" sz="1600" dirty="0" err="1"/>
              <a:t>tiện</a:t>
            </a:r>
            <a:r>
              <a:rPr lang="en-US" sz="1600" dirty="0"/>
              <a:t> </a:t>
            </a:r>
            <a:r>
              <a:rPr lang="en-US" sz="1600" dirty="0" err="1"/>
              <a:t>ích</a:t>
            </a:r>
            <a:endParaRPr lang="en-US" sz="1600" dirty="0"/>
          </a:p>
          <a:p>
            <a:pPr lvl="2"/>
            <a:r>
              <a:rPr lang="en-US" sz="1600" b="1" dirty="0">
                <a:solidFill>
                  <a:srgbClr val="FF0000"/>
                </a:solidFill>
              </a:rPr>
              <a:t>Parse</a:t>
            </a:r>
            <a:r>
              <a:rPr lang="en-US" sz="1600" dirty="0"/>
              <a:t>: </a:t>
            </a:r>
            <a:r>
              <a:rPr lang="en-US" sz="1600" dirty="0" err="1"/>
              <a:t>phương</a:t>
            </a:r>
            <a:r>
              <a:rPr lang="en-US" sz="1600" dirty="0"/>
              <a:t> </a:t>
            </a:r>
            <a:r>
              <a:rPr lang="en-US" sz="1600" dirty="0" err="1"/>
              <a:t>thức</a:t>
            </a:r>
            <a:r>
              <a:rPr lang="en-US" sz="1600" dirty="0"/>
              <a:t> </a:t>
            </a:r>
            <a:r>
              <a:rPr lang="en-US" sz="1600" dirty="0" err="1"/>
              <a:t>chuyển</a:t>
            </a:r>
            <a:r>
              <a:rPr lang="en-US" sz="1600" dirty="0"/>
              <a:t> </a:t>
            </a:r>
            <a:r>
              <a:rPr lang="en-US" sz="1600" dirty="0" err="1"/>
              <a:t>đổi</a:t>
            </a:r>
            <a:r>
              <a:rPr lang="en-US" sz="1600" dirty="0"/>
              <a:t> </a:t>
            </a:r>
            <a:r>
              <a:rPr lang="en-US" sz="1600" dirty="0" err="1"/>
              <a:t>một</a:t>
            </a:r>
            <a:r>
              <a:rPr lang="en-US" sz="1600" dirty="0"/>
              <a:t> </a:t>
            </a:r>
            <a:r>
              <a:rPr lang="en-US" sz="1600" dirty="0" err="1"/>
              <a:t>chuỗi</a:t>
            </a:r>
            <a:r>
              <a:rPr lang="en-US" sz="1600" dirty="0"/>
              <a:t> sang </a:t>
            </a:r>
            <a:r>
              <a:rPr lang="en-US" sz="1600" dirty="0" err="1"/>
              <a:t>một</a:t>
            </a:r>
            <a:r>
              <a:rPr lang="en-US" sz="1600" dirty="0"/>
              <a:t> </a:t>
            </a:r>
            <a:r>
              <a:rPr lang="en-US" sz="1600" dirty="0" err="1"/>
              <a:t>kiểu</a:t>
            </a:r>
            <a:r>
              <a:rPr lang="en-US" sz="1600" dirty="0"/>
              <a:t> </a:t>
            </a:r>
            <a:r>
              <a:rPr lang="en-US" sz="1600" dirty="0" err="1"/>
              <a:t>dữ</a:t>
            </a:r>
            <a:r>
              <a:rPr lang="en-US" sz="1600" dirty="0"/>
              <a:t> </a:t>
            </a:r>
            <a:r>
              <a:rPr lang="en-US" sz="1600" dirty="0" err="1"/>
              <a:t>liệu</a:t>
            </a:r>
            <a:r>
              <a:rPr lang="en-US" sz="1600" dirty="0"/>
              <a:t> </a:t>
            </a:r>
            <a:r>
              <a:rPr lang="en-US" sz="1600" dirty="0" err="1"/>
              <a:t>khác</a:t>
            </a:r>
            <a:endParaRPr lang="en-US" sz="1600" dirty="0"/>
          </a:p>
          <a:p>
            <a:pPr marL="909637" lvl="2" indent="0">
              <a:buNone/>
            </a:pPr>
            <a:r>
              <a:rPr lang="en-US" sz="1600" dirty="0"/>
              <a:t>int a = Int32.Parse(“123”); // a </a:t>
            </a:r>
            <a:r>
              <a:rPr lang="en-US" sz="1600" dirty="0" err="1"/>
              <a:t>sẽ</a:t>
            </a:r>
            <a:r>
              <a:rPr lang="en-US" sz="1600" dirty="0"/>
              <a:t> </a:t>
            </a:r>
            <a:r>
              <a:rPr lang="en-US" sz="1600" dirty="0" err="1"/>
              <a:t>mang</a:t>
            </a:r>
            <a:r>
              <a:rPr lang="en-US" sz="1600" dirty="0"/>
              <a:t> </a:t>
            </a:r>
            <a:r>
              <a:rPr lang="en-US" sz="1600" dirty="0" err="1"/>
              <a:t>giá</a:t>
            </a:r>
            <a:r>
              <a:rPr lang="en-US" sz="1600" dirty="0"/>
              <a:t> </a:t>
            </a:r>
            <a:r>
              <a:rPr lang="en-US" sz="1600" dirty="0" err="1"/>
              <a:t>trị</a:t>
            </a:r>
            <a:r>
              <a:rPr lang="en-US" sz="1600" dirty="0"/>
              <a:t> </a:t>
            </a:r>
            <a:r>
              <a:rPr lang="en-US" sz="1600" dirty="0" err="1"/>
              <a:t>số</a:t>
            </a:r>
            <a:r>
              <a:rPr lang="en-US" sz="1600" dirty="0"/>
              <a:t> 123</a:t>
            </a:r>
          </a:p>
          <a:p>
            <a:pPr marL="909637" lvl="2" indent="0">
              <a:buNone/>
            </a:pPr>
            <a:r>
              <a:rPr lang="en-US" sz="1600" dirty="0"/>
              <a:t>float b = </a:t>
            </a:r>
            <a:r>
              <a:rPr lang="en-US" sz="1600" dirty="0" err="1"/>
              <a:t>Float.Parse</a:t>
            </a:r>
            <a:r>
              <a:rPr lang="en-US" sz="1600" dirty="0"/>
              <a:t>(“20.7”); //b </a:t>
            </a:r>
            <a:r>
              <a:rPr lang="en-US" sz="1600" dirty="0" err="1"/>
              <a:t>sẽ</a:t>
            </a:r>
            <a:r>
              <a:rPr lang="en-US" sz="1600" dirty="0"/>
              <a:t> </a:t>
            </a:r>
            <a:r>
              <a:rPr lang="en-US" sz="1600" dirty="0" err="1"/>
              <a:t>mang</a:t>
            </a:r>
            <a:r>
              <a:rPr lang="en-US" sz="1600" dirty="0"/>
              <a:t> </a:t>
            </a:r>
            <a:r>
              <a:rPr lang="en-US" sz="1600" dirty="0" err="1"/>
              <a:t>giá</a:t>
            </a:r>
            <a:r>
              <a:rPr lang="en-US" sz="1600" dirty="0"/>
              <a:t> </a:t>
            </a:r>
            <a:r>
              <a:rPr lang="en-US" sz="1600" dirty="0" err="1"/>
              <a:t>trị</a:t>
            </a:r>
            <a:r>
              <a:rPr lang="en-US" sz="1600" dirty="0"/>
              <a:t> 20.7</a:t>
            </a:r>
          </a:p>
          <a:p>
            <a:pPr marL="909637" lvl="2" indent="0">
              <a:buNone/>
            </a:pPr>
            <a:r>
              <a:rPr lang="en-US" sz="1600" dirty="0"/>
              <a:t>bool c = </a:t>
            </a:r>
            <a:r>
              <a:rPr lang="en-US" sz="1600" dirty="0" err="1"/>
              <a:t>Boolean.Parse</a:t>
            </a:r>
            <a:r>
              <a:rPr lang="en-US" sz="1600" dirty="0"/>
              <a:t>(“true”); //c </a:t>
            </a:r>
            <a:r>
              <a:rPr lang="en-US" sz="1600" dirty="0" err="1"/>
              <a:t>sẽ</a:t>
            </a:r>
            <a:r>
              <a:rPr lang="en-US" sz="1600" dirty="0"/>
              <a:t> </a:t>
            </a:r>
            <a:r>
              <a:rPr lang="en-US" sz="1600" dirty="0" err="1"/>
              <a:t>mang</a:t>
            </a:r>
            <a:r>
              <a:rPr lang="en-US" sz="1600" dirty="0"/>
              <a:t> </a:t>
            </a:r>
            <a:r>
              <a:rPr lang="en-US" sz="1600" dirty="0" err="1"/>
              <a:t>giá</a:t>
            </a:r>
            <a:r>
              <a:rPr lang="en-US" sz="1600" dirty="0"/>
              <a:t> </a:t>
            </a:r>
            <a:r>
              <a:rPr lang="en-US" sz="1600" dirty="0" err="1"/>
              <a:t>trị</a:t>
            </a:r>
            <a:r>
              <a:rPr lang="en-US" sz="1600" dirty="0"/>
              <a:t> true</a:t>
            </a:r>
            <a:endParaRPr lang="vi-VN" sz="1600" dirty="0"/>
          </a:p>
        </p:txBody>
      </p:sp>
      <p:sp>
        <p:nvSpPr>
          <p:cNvPr id="4" name="Date Placeholder 3"/>
          <p:cNvSpPr>
            <a:spLocks noGrp="1"/>
          </p:cNvSpPr>
          <p:nvPr>
            <p:ph type="dt" sz="half" idx="10"/>
          </p:nvPr>
        </p:nvSpPr>
        <p:spPr/>
        <p:txBody>
          <a:bodyPr/>
          <a:lstStyle/>
          <a:p>
            <a:fld id="{3A0FFBB1-B47B-4462-B73D-7C0294595DE4}"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12</a:t>
            </a:fld>
            <a:r>
              <a:rPr lang="vi-VN"/>
              <a:t>/47</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8929" y="1844824"/>
            <a:ext cx="5400600" cy="327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90896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Chuyển đổi các kiểu dữ liệu</a:t>
            </a:r>
            <a:endParaRPr lang="vi-VN"/>
          </a:p>
        </p:txBody>
      </p:sp>
      <p:sp>
        <p:nvSpPr>
          <p:cNvPr id="3" name="Content Placeholder 2"/>
          <p:cNvSpPr>
            <a:spLocks noGrp="1"/>
          </p:cNvSpPr>
          <p:nvPr>
            <p:ph idx="1"/>
          </p:nvPr>
        </p:nvSpPr>
        <p:spPr/>
        <p:txBody>
          <a:bodyPr>
            <a:normAutofit fontScale="85000" lnSpcReduction="10000"/>
          </a:bodyPr>
          <a:lstStyle/>
          <a:p>
            <a:pPr lvl="1"/>
            <a:r>
              <a:rPr lang="en-US"/>
              <a:t>Sử dụng các tiện ích</a:t>
            </a:r>
          </a:p>
          <a:p>
            <a:pPr lvl="2"/>
            <a:r>
              <a:rPr lang="en-US" b="1">
                <a:solidFill>
                  <a:srgbClr val="FF0000"/>
                </a:solidFill>
              </a:rPr>
              <a:t>TryParse</a:t>
            </a:r>
            <a:r>
              <a:rPr lang="en-US"/>
              <a:t>(chuỗi cần chuyển, out biến chứa giá trị đã được chuyển đổi)</a:t>
            </a:r>
          </a:p>
          <a:p>
            <a:pPr marL="909637" lvl="2" indent="0">
              <a:buNone/>
            </a:pPr>
            <a:r>
              <a:rPr lang="en-US" b="1"/>
              <a:t>TryParse</a:t>
            </a:r>
            <a:r>
              <a:rPr lang="en-US"/>
              <a:t> trả về giá trị true (nếu chuyển thành công) hoặc false (nếu chuyển không thành công – mặc định)</a:t>
            </a:r>
            <a:endParaRPr lang="en-US" b="1"/>
          </a:p>
          <a:p>
            <a:pPr marL="909637" lvl="2" indent="0">
              <a:buNone/>
            </a:pPr>
            <a:r>
              <a:rPr lang="en-US"/>
              <a:t>Ví dụ:</a:t>
            </a:r>
          </a:p>
          <a:p>
            <a:pPr marL="909637" lvl="2" indent="0">
              <a:buNone/>
            </a:pPr>
            <a:r>
              <a:rPr lang="en-US"/>
              <a:t>int a;</a:t>
            </a:r>
          </a:p>
          <a:p>
            <a:pPr marL="909637" lvl="2" indent="0">
              <a:buNone/>
            </a:pPr>
            <a:r>
              <a:rPr lang="en-US"/>
              <a:t>Int32.TryParse(“123”, out a); //a mang giá trị 123</a:t>
            </a:r>
          </a:p>
          <a:p>
            <a:pPr marL="909637" lvl="2" indent="0">
              <a:buNone/>
            </a:pPr>
            <a:r>
              <a:rPr lang="en-US"/>
              <a:t>bool b;</a:t>
            </a:r>
          </a:p>
          <a:p>
            <a:pPr marL="909637" lvl="2" indent="0">
              <a:buNone/>
            </a:pPr>
            <a:r>
              <a:rPr lang="en-US"/>
              <a:t>Boolean.TryParse(“false”,out b); //b sẽ mang giá trị false</a:t>
            </a:r>
          </a:p>
          <a:p>
            <a:pPr lvl="2"/>
            <a:r>
              <a:rPr lang="en-US" b="1">
                <a:solidFill>
                  <a:srgbClr val="FF0000"/>
                </a:solidFill>
              </a:rPr>
              <a:t>Convert</a:t>
            </a:r>
            <a:r>
              <a:rPr lang="en-US"/>
              <a:t>: lớp tiện ích cung cấp nhiều phương thức chuyển đổi kiểu</a:t>
            </a:r>
          </a:p>
          <a:p>
            <a:pPr marL="909637" lvl="2" indent="0">
              <a:buNone/>
            </a:pPr>
            <a:r>
              <a:rPr lang="en-US"/>
              <a:t>Ví dụ:</a:t>
            </a:r>
          </a:p>
          <a:p>
            <a:pPr marL="909637" lvl="2" indent="0">
              <a:buNone/>
            </a:pPr>
            <a:r>
              <a:rPr lang="en-US"/>
              <a:t>double d = Convert.ToInt32(“123”); //d mang giá trị 123</a:t>
            </a:r>
            <a:endParaRPr lang="vi-VN"/>
          </a:p>
        </p:txBody>
      </p:sp>
      <p:sp>
        <p:nvSpPr>
          <p:cNvPr id="4" name="Date Placeholder 3"/>
          <p:cNvSpPr>
            <a:spLocks noGrp="1"/>
          </p:cNvSpPr>
          <p:nvPr>
            <p:ph type="dt" sz="half" idx="10"/>
          </p:nvPr>
        </p:nvSpPr>
        <p:spPr/>
        <p:txBody>
          <a:bodyPr/>
          <a:lstStyle/>
          <a:p>
            <a:fld id="{FB0B75C3-6DB2-466F-9B4E-C5649CDAC1BC}"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13</a:t>
            </a:fld>
            <a:r>
              <a:rPr lang="vi-VN"/>
              <a:t>/47</a:t>
            </a:r>
          </a:p>
        </p:txBody>
      </p:sp>
    </p:spTree>
    <p:extLst>
      <p:ext uri="{BB962C8B-B14F-4D97-AF65-F5344CB8AC3E}">
        <p14:creationId xmlns:p14="http://schemas.microsoft.com/office/powerpoint/2010/main" val="2765647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Biến và hằng (Variable &amp; Constant)</a:t>
            </a:r>
            <a:endParaRPr lang="vi-VN"/>
          </a:p>
        </p:txBody>
      </p:sp>
      <p:sp>
        <p:nvSpPr>
          <p:cNvPr id="3" name="Content Placeholder 2"/>
          <p:cNvSpPr>
            <a:spLocks noGrp="1"/>
          </p:cNvSpPr>
          <p:nvPr>
            <p:ph idx="1"/>
          </p:nvPr>
        </p:nvSpPr>
        <p:spPr/>
        <p:txBody>
          <a:bodyPr/>
          <a:lstStyle/>
          <a:p>
            <a:r>
              <a:rPr lang="en-US" dirty="0" err="1"/>
              <a:t>Biến</a:t>
            </a:r>
            <a:r>
              <a:rPr lang="en-US" dirty="0"/>
              <a:t> (Variable)</a:t>
            </a:r>
          </a:p>
          <a:p>
            <a:pPr lvl="1"/>
            <a:r>
              <a:rPr lang="en-US" dirty="0" err="1"/>
              <a:t>Một</a:t>
            </a:r>
            <a:r>
              <a:rPr lang="en-US" dirty="0"/>
              <a:t> </a:t>
            </a:r>
            <a:r>
              <a:rPr lang="en-US" dirty="0" err="1"/>
              <a:t>vùng</a:t>
            </a:r>
            <a:r>
              <a:rPr lang="en-US" dirty="0"/>
              <a:t> </a:t>
            </a:r>
            <a:r>
              <a:rPr lang="en-US" dirty="0" err="1"/>
              <a:t>nhớ</a:t>
            </a:r>
            <a:r>
              <a:rPr lang="en-US" dirty="0"/>
              <a:t> </a:t>
            </a:r>
            <a:r>
              <a:rPr lang="en-US" dirty="0" err="1"/>
              <a:t>có</a:t>
            </a:r>
            <a:r>
              <a:rPr lang="en-US" dirty="0"/>
              <a:t> </a:t>
            </a:r>
            <a:r>
              <a:rPr lang="en-US" dirty="0" err="1"/>
              <a:t>định</a:t>
            </a:r>
            <a:r>
              <a:rPr lang="en-US" dirty="0"/>
              <a:t> </a:t>
            </a:r>
            <a:r>
              <a:rPr lang="en-US" dirty="0" err="1"/>
              <a:t>kiểu</a:t>
            </a:r>
            <a:endParaRPr lang="en-US" dirty="0"/>
          </a:p>
          <a:p>
            <a:pPr lvl="1"/>
            <a:r>
              <a:rPr lang="en-US" dirty="0" err="1"/>
              <a:t>Có</a:t>
            </a:r>
            <a:r>
              <a:rPr lang="en-US" dirty="0"/>
              <a:t> </a:t>
            </a:r>
            <a:r>
              <a:rPr lang="en-US" dirty="0" err="1"/>
              <a:t>thể</a:t>
            </a:r>
            <a:r>
              <a:rPr lang="en-US" dirty="0"/>
              <a:t> </a:t>
            </a:r>
            <a:r>
              <a:rPr lang="en-US" dirty="0" err="1"/>
              <a:t>gán</a:t>
            </a:r>
            <a:r>
              <a:rPr lang="en-US" dirty="0"/>
              <a:t> </a:t>
            </a:r>
            <a:r>
              <a:rPr lang="en-US" dirty="0" err="1"/>
              <a:t>và</a:t>
            </a:r>
            <a:r>
              <a:rPr lang="en-US" dirty="0"/>
              <a:t> </a:t>
            </a:r>
            <a:r>
              <a:rPr lang="en-US" dirty="0" err="1"/>
              <a:t>thay</a:t>
            </a:r>
            <a:r>
              <a:rPr lang="en-US" dirty="0"/>
              <a:t> </a:t>
            </a:r>
            <a:r>
              <a:rPr lang="en-US" dirty="0" err="1"/>
              <a:t>đổi</a:t>
            </a:r>
            <a:r>
              <a:rPr lang="en-US" dirty="0"/>
              <a:t> </a:t>
            </a:r>
            <a:r>
              <a:rPr lang="en-US" dirty="0" err="1"/>
              <a:t>giá</a:t>
            </a:r>
            <a:r>
              <a:rPr lang="en-US" dirty="0"/>
              <a:t> </a:t>
            </a:r>
            <a:r>
              <a:rPr lang="en-US" dirty="0" err="1"/>
              <a:t>trị</a:t>
            </a:r>
            <a:endParaRPr lang="en-US" dirty="0"/>
          </a:p>
          <a:p>
            <a:pPr lvl="1"/>
            <a:r>
              <a:rPr lang="en-US" dirty="0" err="1"/>
              <a:t>Các</a:t>
            </a:r>
            <a:r>
              <a:rPr lang="en-US" dirty="0"/>
              <a:t> </a:t>
            </a:r>
            <a:r>
              <a:rPr lang="en-US" dirty="0" err="1"/>
              <a:t>biến</a:t>
            </a:r>
            <a:r>
              <a:rPr lang="en-US" dirty="0"/>
              <a:t> </a:t>
            </a:r>
            <a:r>
              <a:rPr lang="en-US" dirty="0" err="1"/>
              <a:t>phải</a:t>
            </a:r>
            <a:r>
              <a:rPr lang="en-US" dirty="0"/>
              <a:t> </a:t>
            </a:r>
            <a:r>
              <a:rPr lang="en-US" dirty="0" err="1"/>
              <a:t>được</a:t>
            </a:r>
            <a:r>
              <a:rPr lang="en-US" dirty="0"/>
              <a:t> </a:t>
            </a:r>
            <a:r>
              <a:rPr lang="en-US" dirty="0" err="1"/>
              <a:t>khởi</a:t>
            </a:r>
            <a:r>
              <a:rPr lang="en-US" dirty="0"/>
              <a:t> </a:t>
            </a:r>
            <a:r>
              <a:rPr lang="en-US" dirty="0" err="1"/>
              <a:t>gán</a:t>
            </a:r>
            <a:r>
              <a:rPr lang="en-US" dirty="0"/>
              <a:t> </a:t>
            </a:r>
            <a:r>
              <a:rPr lang="en-US" dirty="0" err="1"/>
              <a:t>trước</a:t>
            </a:r>
            <a:r>
              <a:rPr lang="en-US" dirty="0"/>
              <a:t> </a:t>
            </a:r>
            <a:r>
              <a:rPr lang="en-US" dirty="0" err="1"/>
              <a:t>khi</a:t>
            </a:r>
            <a:r>
              <a:rPr lang="en-US" dirty="0"/>
              <a:t> </a:t>
            </a:r>
            <a:r>
              <a:rPr lang="en-US" dirty="0" err="1"/>
              <a:t>sử</a:t>
            </a:r>
            <a:r>
              <a:rPr lang="en-US" dirty="0"/>
              <a:t> </a:t>
            </a:r>
            <a:r>
              <a:rPr lang="en-US" dirty="0" err="1"/>
              <a:t>dụng</a:t>
            </a:r>
            <a:endParaRPr lang="en-US" dirty="0"/>
          </a:p>
          <a:p>
            <a:pPr lvl="1"/>
            <a:endParaRPr lang="vi-VN" dirty="0"/>
          </a:p>
        </p:txBody>
      </p:sp>
      <p:sp>
        <p:nvSpPr>
          <p:cNvPr id="4" name="Date Placeholder 3"/>
          <p:cNvSpPr>
            <a:spLocks noGrp="1"/>
          </p:cNvSpPr>
          <p:nvPr>
            <p:ph type="dt" sz="half" idx="10"/>
          </p:nvPr>
        </p:nvSpPr>
        <p:spPr/>
        <p:txBody>
          <a:bodyPr/>
          <a:lstStyle/>
          <a:p>
            <a:fld id="{8F5750F0-C71B-49D4-8351-93737A73E96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14</a:t>
            </a:fld>
            <a:r>
              <a:rPr lang="vi-VN"/>
              <a:t>/47</a:t>
            </a:r>
          </a:p>
        </p:txBody>
      </p:sp>
      <p:sp>
        <p:nvSpPr>
          <p:cNvPr id="6" name="Rectangle 7"/>
          <p:cNvSpPr>
            <a:spLocks noChangeArrowheads="1"/>
          </p:cNvSpPr>
          <p:nvPr/>
        </p:nvSpPr>
        <p:spPr bwMode="auto">
          <a:xfrm>
            <a:off x="1187624" y="3821909"/>
            <a:ext cx="496855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sz="2200" b="1" dirty="0" err="1">
                <a:solidFill>
                  <a:srgbClr val="000066"/>
                </a:solidFill>
              </a:rPr>
              <a:t>Cú</a:t>
            </a:r>
            <a:r>
              <a:rPr lang="en-US" sz="2200" b="1" dirty="0">
                <a:solidFill>
                  <a:srgbClr val="000066"/>
                </a:solidFill>
              </a:rPr>
              <a:t> </a:t>
            </a:r>
            <a:r>
              <a:rPr lang="en-US" sz="2200" b="1" dirty="0" err="1">
                <a:solidFill>
                  <a:srgbClr val="000066"/>
                </a:solidFill>
              </a:rPr>
              <a:t>pháp</a:t>
            </a:r>
            <a:r>
              <a:rPr lang="en-US" sz="2200" b="1" dirty="0"/>
              <a:t>:</a:t>
            </a:r>
          </a:p>
          <a:p>
            <a:pPr>
              <a:lnSpc>
                <a:spcPct val="120000"/>
              </a:lnSpc>
            </a:pPr>
            <a:r>
              <a:rPr lang="en-US" sz="2200" dirty="0"/>
              <a:t>[ </a:t>
            </a:r>
            <a:r>
              <a:rPr lang="en-US" sz="2200" i="1" dirty="0" err="1">
                <a:solidFill>
                  <a:srgbClr val="660033"/>
                </a:solidFill>
              </a:rPr>
              <a:t>loại</a:t>
            </a:r>
            <a:r>
              <a:rPr lang="en-US" sz="2200" dirty="0"/>
              <a:t>] </a:t>
            </a:r>
            <a:r>
              <a:rPr lang="en-US" sz="2200" i="1" dirty="0" err="1">
                <a:solidFill>
                  <a:srgbClr val="003300"/>
                </a:solidFill>
              </a:rPr>
              <a:t>kiểu_dữ_liệu</a:t>
            </a:r>
            <a:r>
              <a:rPr lang="en-US" sz="2200" i="1" dirty="0">
                <a:solidFill>
                  <a:srgbClr val="003300"/>
                </a:solidFill>
              </a:rPr>
              <a:t> </a:t>
            </a:r>
            <a:r>
              <a:rPr lang="en-US" sz="2200" i="1" dirty="0" err="1">
                <a:solidFill>
                  <a:srgbClr val="FF6699"/>
                </a:solidFill>
              </a:rPr>
              <a:t>tên_biến</a:t>
            </a:r>
            <a:r>
              <a:rPr lang="en-US" sz="2200" i="1" dirty="0"/>
              <a:t>;</a:t>
            </a:r>
          </a:p>
          <a:p>
            <a:pPr>
              <a:lnSpc>
                <a:spcPct val="120000"/>
              </a:lnSpc>
            </a:pPr>
            <a:r>
              <a:rPr lang="en-US" sz="2200" dirty="0"/>
              <a:t>– </a:t>
            </a:r>
            <a:r>
              <a:rPr lang="en-US" sz="2200" i="1" dirty="0" err="1">
                <a:solidFill>
                  <a:srgbClr val="660033"/>
                </a:solidFill>
              </a:rPr>
              <a:t>loại</a:t>
            </a:r>
            <a:r>
              <a:rPr lang="en-US" sz="2200" i="1" dirty="0"/>
              <a:t>: </a:t>
            </a:r>
            <a:r>
              <a:rPr lang="en-US" sz="2200" dirty="0"/>
              <a:t>public, private, protected, static</a:t>
            </a:r>
          </a:p>
          <a:p>
            <a:pPr>
              <a:lnSpc>
                <a:spcPct val="120000"/>
              </a:lnSpc>
            </a:pPr>
            <a:r>
              <a:rPr lang="en-US" sz="2200" dirty="0"/>
              <a:t>– </a:t>
            </a:r>
            <a:r>
              <a:rPr lang="en-US" sz="2200" dirty="0" err="1">
                <a:solidFill>
                  <a:srgbClr val="003300"/>
                </a:solidFill>
              </a:rPr>
              <a:t>kiểu_dữ_liệu</a:t>
            </a:r>
            <a:r>
              <a:rPr lang="en-US" sz="2200" dirty="0"/>
              <a:t>: int , long , float….</a:t>
            </a:r>
          </a:p>
          <a:p>
            <a:pPr>
              <a:lnSpc>
                <a:spcPct val="120000"/>
              </a:lnSpc>
            </a:pPr>
            <a:r>
              <a:rPr lang="en-US" sz="2200" dirty="0"/>
              <a:t>– </a:t>
            </a:r>
            <a:r>
              <a:rPr lang="en-US" sz="2200" dirty="0" err="1"/>
              <a:t>Tên</a:t>
            </a:r>
            <a:r>
              <a:rPr lang="en-US" sz="2200" dirty="0"/>
              <a:t> </a:t>
            </a:r>
            <a:r>
              <a:rPr lang="en-US" sz="2200" dirty="0" err="1"/>
              <a:t>biến</a:t>
            </a:r>
            <a:r>
              <a:rPr lang="en-US" sz="2200" dirty="0"/>
              <a:t>: </a:t>
            </a:r>
            <a:r>
              <a:rPr lang="en-US" sz="2200" dirty="0" err="1"/>
              <a:t>theo</a:t>
            </a:r>
            <a:r>
              <a:rPr lang="en-US" sz="2200" dirty="0"/>
              <a:t> </a:t>
            </a:r>
            <a:r>
              <a:rPr lang="en-US" sz="2200" dirty="0" err="1"/>
              <a:t>nguyên</a:t>
            </a:r>
            <a:r>
              <a:rPr lang="en-US" sz="2200" dirty="0"/>
              <a:t> </a:t>
            </a:r>
            <a:r>
              <a:rPr lang="en-US" sz="2200" dirty="0" err="1"/>
              <a:t>tắc</a:t>
            </a:r>
            <a:r>
              <a:rPr lang="en-US" sz="2200" dirty="0"/>
              <a:t> </a:t>
            </a:r>
            <a:r>
              <a:rPr lang="en-US" sz="2200" dirty="0" err="1"/>
              <a:t>đặt</a:t>
            </a:r>
            <a:r>
              <a:rPr lang="en-US" sz="2200" dirty="0"/>
              <a:t> </a:t>
            </a:r>
            <a:r>
              <a:rPr lang="en-US" sz="2200" dirty="0" err="1"/>
              <a:t>tên</a:t>
            </a:r>
            <a:endParaRPr lang="en-US" sz="2200" dirty="0"/>
          </a:p>
        </p:txBody>
      </p:sp>
      <p:sp>
        <p:nvSpPr>
          <p:cNvPr id="7" name="Text Box 8"/>
          <p:cNvSpPr txBox="1">
            <a:spLocks noChangeArrowheads="1"/>
          </p:cNvSpPr>
          <p:nvPr/>
        </p:nvSpPr>
        <p:spPr bwMode="auto">
          <a:xfrm>
            <a:off x="6367539" y="3821909"/>
            <a:ext cx="2362200"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200" dirty="0">
                <a:solidFill>
                  <a:srgbClr val="990000"/>
                </a:solidFill>
              </a:rPr>
              <a:t>int </a:t>
            </a:r>
            <a:r>
              <a:rPr lang="en-US" sz="2200" dirty="0" err="1">
                <a:solidFill>
                  <a:srgbClr val="990000"/>
                </a:solidFill>
              </a:rPr>
              <a:t>tuoi</a:t>
            </a:r>
            <a:r>
              <a:rPr lang="en-US" sz="2200" dirty="0">
                <a:solidFill>
                  <a:srgbClr val="990000"/>
                </a:solidFill>
              </a:rPr>
              <a:t>; </a:t>
            </a:r>
          </a:p>
          <a:p>
            <a:pPr>
              <a:spcBef>
                <a:spcPct val="50000"/>
              </a:spcBef>
            </a:pPr>
            <a:r>
              <a:rPr lang="en-US" sz="2200" dirty="0">
                <a:solidFill>
                  <a:srgbClr val="000066"/>
                </a:solidFill>
              </a:rPr>
              <a:t>float diem;</a:t>
            </a:r>
          </a:p>
          <a:p>
            <a:pPr>
              <a:spcBef>
                <a:spcPct val="50000"/>
              </a:spcBef>
            </a:pPr>
            <a:r>
              <a:rPr lang="en-US" sz="2200" dirty="0">
                <a:solidFill>
                  <a:srgbClr val="660033"/>
                </a:solidFill>
              </a:rPr>
              <a:t>double </a:t>
            </a:r>
            <a:r>
              <a:rPr lang="en-US" sz="2200" dirty="0" err="1">
                <a:solidFill>
                  <a:srgbClr val="660033"/>
                </a:solidFill>
              </a:rPr>
              <a:t>tien</a:t>
            </a:r>
            <a:r>
              <a:rPr lang="en-US" sz="2200" dirty="0">
                <a:solidFill>
                  <a:srgbClr val="660033"/>
                </a:solidFill>
              </a:rPr>
              <a:t>;</a:t>
            </a:r>
          </a:p>
          <a:p>
            <a:pPr>
              <a:spcBef>
                <a:spcPct val="50000"/>
              </a:spcBef>
            </a:pPr>
            <a:r>
              <a:rPr lang="en-US" sz="2200" dirty="0">
                <a:solidFill>
                  <a:srgbClr val="003300"/>
                </a:solidFill>
              </a:rPr>
              <a:t>string ten;</a:t>
            </a:r>
          </a:p>
          <a:p>
            <a:pPr>
              <a:spcBef>
                <a:spcPct val="50000"/>
              </a:spcBef>
            </a:pPr>
            <a:r>
              <a:rPr lang="en-US" sz="2200" b="1" dirty="0">
                <a:solidFill>
                  <a:srgbClr val="0000FF"/>
                </a:solidFill>
              </a:rPr>
              <a:t>var </a:t>
            </a:r>
            <a:r>
              <a:rPr lang="en-US" sz="2200" b="1" dirty="0" err="1">
                <a:solidFill>
                  <a:srgbClr val="0000FF"/>
                </a:solidFill>
              </a:rPr>
              <a:t>tuoi</a:t>
            </a:r>
            <a:r>
              <a:rPr lang="en-US" sz="2200" b="1" dirty="0">
                <a:solidFill>
                  <a:srgbClr val="0000FF"/>
                </a:solidFill>
              </a:rPr>
              <a:t> =30</a:t>
            </a:r>
          </a:p>
        </p:txBody>
      </p:sp>
    </p:spTree>
    <p:extLst>
      <p:ext uri="{BB962C8B-B14F-4D97-AF65-F5344CB8AC3E}">
        <p14:creationId xmlns:p14="http://schemas.microsoft.com/office/powerpoint/2010/main" val="1015291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ox(in)">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ox(in)">
                                      <p:cBhvr>
                                        <p:cTn id="12" dur="1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ox(in)">
                                      <p:cBhvr>
                                        <p:cTn id="17" dur="1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ox(in)">
                                      <p:cBhvr>
                                        <p:cTn id="22" dur="1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box(in)">
                                      <p:cBhvr>
                                        <p:cTn id="27" dur="10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ox(in)">
                                      <p:cBhvr>
                                        <p:cTn id="3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Biến và hằng (Variable &amp; Constant)</a:t>
            </a:r>
            <a:endParaRPr lang="vi-VN"/>
          </a:p>
        </p:txBody>
      </p:sp>
      <p:sp>
        <p:nvSpPr>
          <p:cNvPr id="3" name="Content Placeholder 2"/>
          <p:cNvSpPr>
            <a:spLocks noGrp="1"/>
          </p:cNvSpPr>
          <p:nvPr>
            <p:ph idx="1"/>
          </p:nvPr>
        </p:nvSpPr>
        <p:spPr>
          <a:xfrm>
            <a:off x="762000" y="1143000"/>
            <a:ext cx="8202488" cy="5181600"/>
          </a:xfrm>
        </p:spPr>
        <p:txBody>
          <a:bodyPr/>
          <a:lstStyle/>
          <a:p>
            <a:r>
              <a:rPr lang="en-US"/>
              <a:t>Hằng (Constant)</a:t>
            </a:r>
          </a:p>
          <a:p>
            <a:pPr lvl="1"/>
            <a:r>
              <a:rPr lang="en-US"/>
              <a:t>Là biến nhưng giá trị không thể thay đổi sau khi khởi gán</a:t>
            </a:r>
          </a:p>
          <a:p>
            <a:pPr lvl="1"/>
            <a:r>
              <a:rPr lang="en-US"/>
              <a:t>Cú pháp: </a:t>
            </a:r>
            <a:r>
              <a:rPr lang="en-US" b="1"/>
              <a:t>&lt;const &gt; &lt;kiểu&gt; &lt;tên hằng&gt; = &lt;giá trị&gt;;</a:t>
            </a:r>
          </a:p>
          <a:p>
            <a:pPr lvl="1"/>
            <a:r>
              <a:rPr lang="en-US"/>
              <a:t>Ví dụ: const int a = 100;</a:t>
            </a:r>
          </a:p>
          <a:p>
            <a:pPr lvl="1"/>
            <a:r>
              <a:rPr lang="en-US"/>
              <a:t>Hằng bắt buộc phải được gán giá trị lúc khai báo</a:t>
            </a:r>
          </a:p>
          <a:p>
            <a:pPr lvl="1"/>
            <a:r>
              <a:rPr lang="en-US"/>
              <a:t>Không được gán trị của hằng bằng giá trị của biến</a:t>
            </a:r>
          </a:p>
          <a:p>
            <a:pPr lvl="1"/>
            <a:endParaRPr lang="vi-VN"/>
          </a:p>
        </p:txBody>
      </p:sp>
      <p:sp>
        <p:nvSpPr>
          <p:cNvPr id="4" name="Date Placeholder 3"/>
          <p:cNvSpPr>
            <a:spLocks noGrp="1"/>
          </p:cNvSpPr>
          <p:nvPr>
            <p:ph type="dt" sz="half" idx="10"/>
          </p:nvPr>
        </p:nvSpPr>
        <p:spPr/>
        <p:txBody>
          <a:bodyPr/>
          <a:lstStyle/>
          <a:p>
            <a:fld id="{F245AD75-E6AA-4A97-BB65-C1628DFF524D}"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15</a:t>
            </a:fld>
            <a:r>
              <a:rPr lang="vi-VN"/>
              <a:t>/47</a:t>
            </a:r>
          </a:p>
        </p:txBody>
      </p:sp>
    </p:spTree>
    <p:extLst>
      <p:ext uri="{BB962C8B-B14F-4D97-AF65-F5344CB8AC3E}">
        <p14:creationId xmlns:p14="http://schemas.microsoft.com/office/powerpoint/2010/main" val="607730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86BC-9C6B-0108-F650-2B81A183EF05}"/>
              </a:ext>
            </a:extLst>
          </p:cNvPr>
          <p:cNvSpPr>
            <a:spLocks noGrp="1"/>
          </p:cNvSpPr>
          <p:nvPr>
            <p:ph type="title"/>
          </p:nvPr>
        </p:nvSpPr>
        <p:spPr/>
        <p:txBody>
          <a:bodyPr/>
          <a:lstStyle/>
          <a:p>
            <a:r>
              <a:rPr lang="en-VN" dirty="0"/>
              <a:t>Khai báo biến kiểu ngầm định</a:t>
            </a:r>
          </a:p>
        </p:txBody>
      </p:sp>
      <p:sp>
        <p:nvSpPr>
          <p:cNvPr id="3" name="Content Placeholder 2">
            <a:extLst>
              <a:ext uri="{FF2B5EF4-FFF2-40B4-BE49-F238E27FC236}">
                <a16:creationId xmlns:a16="http://schemas.microsoft.com/office/drawing/2014/main" id="{8AD4C484-B43B-EB53-24D3-23F06008C0C5}"/>
              </a:ext>
            </a:extLst>
          </p:cNvPr>
          <p:cNvSpPr>
            <a:spLocks noGrp="1"/>
          </p:cNvSpPr>
          <p:nvPr>
            <p:ph idx="1"/>
          </p:nvPr>
        </p:nvSpPr>
        <p:spPr/>
        <p:txBody>
          <a:bodyPr/>
          <a:lstStyle/>
          <a:p>
            <a:pPr marL="0" indent="0">
              <a:buNone/>
            </a:pPr>
            <a:r>
              <a:rPr lang="en-US" b="1" dirty="0">
                <a:effectLst/>
              </a:rPr>
              <a:t>var</a:t>
            </a:r>
            <a:r>
              <a:rPr lang="en-US" dirty="0"/>
              <a:t> bien1 = </a:t>
            </a:r>
            <a:r>
              <a:rPr lang="en-US" dirty="0">
                <a:solidFill>
                  <a:srgbClr val="880000"/>
                </a:solidFill>
                <a:effectLst/>
              </a:rPr>
              <a:t>3.14</a:t>
            </a:r>
            <a:r>
              <a:rPr lang="en-US" dirty="0"/>
              <a:t>; </a:t>
            </a:r>
            <a:r>
              <a:rPr lang="en-US" dirty="0">
                <a:solidFill>
                  <a:srgbClr val="697070"/>
                </a:solidFill>
                <a:effectLst/>
              </a:rPr>
              <a:t>// </a:t>
            </a:r>
            <a:r>
              <a:rPr lang="en-US" dirty="0" err="1">
                <a:solidFill>
                  <a:srgbClr val="697070"/>
                </a:solidFill>
                <a:effectLst/>
              </a:rPr>
              <a:t>biến</a:t>
            </a:r>
            <a:r>
              <a:rPr lang="en-US" dirty="0">
                <a:solidFill>
                  <a:srgbClr val="697070"/>
                </a:solidFill>
                <a:effectLst/>
              </a:rPr>
              <a:t> </a:t>
            </a:r>
            <a:r>
              <a:rPr lang="en-US" dirty="0" err="1">
                <a:solidFill>
                  <a:srgbClr val="697070"/>
                </a:solidFill>
                <a:effectLst/>
              </a:rPr>
              <a:t>sẽ</a:t>
            </a:r>
            <a:r>
              <a:rPr lang="en-US" dirty="0">
                <a:solidFill>
                  <a:srgbClr val="697070"/>
                </a:solidFill>
                <a:effectLst/>
              </a:rPr>
              <a:t> </a:t>
            </a:r>
            <a:r>
              <a:rPr lang="en-US" dirty="0" err="1">
                <a:solidFill>
                  <a:srgbClr val="697070"/>
                </a:solidFill>
                <a:effectLst/>
              </a:rPr>
              <a:t>có</a:t>
            </a:r>
            <a:r>
              <a:rPr lang="en-US" dirty="0">
                <a:solidFill>
                  <a:srgbClr val="697070"/>
                </a:solidFill>
                <a:effectLst/>
              </a:rPr>
              <a:t> </a:t>
            </a:r>
            <a:r>
              <a:rPr lang="en-US" dirty="0" err="1">
                <a:solidFill>
                  <a:srgbClr val="697070"/>
                </a:solidFill>
                <a:effectLst/>
              </a:rPr>
              <a:t>kiểu</a:t>
            </a:r>
            <a:r>
              <a:rPr lang="en-US" dirty="0">
                <a:solidFill>
                  <a:srgbClr val="697070"/>
                </a:solidFill>
                <a:effectLst/>
              </a:rPr>
              <a:t> double</a:t>
            </a:r>
            <a:r>
              <a:rPr lang="en-US" dirty="0"/>
              <a:t> </a:t>
            </a:r>
          </a:p>
          <a:p>
            <a:pPr marL="0" indent="0">
              <a:buNone/>
            </a:pPr>
            <a:r>
              <a:rPr lang="en-US" b="1" dirty="0">
                <a:effectLst/>
              </a:rPr>
              <a:t>var</a:t>
            </a:r>
            <a:r>
              <a:rPr lang="en-US" dirty="0"/>
              <a:t> bien2 = </a:t>
            </a:r>
            <a:r>
              <a:rPr lang="en-US" dirty="0">
                <a:solidFill>
                  <a:srgbClr val="880000"/>
                </a:solidFill>
                <a:effectLst/>
              </a:rPr>
              <a:t>3</a:t>
            </a:r>
            <a:r>
              <a:rPr lang="en-US" dirty="0"/>
              <a:t>; </a:t>
            </a:r>
            <a:r>
              <a:rPr lang="en-US" dirty="0">
                <a:solidFill>
                  <a:srgbClr val="697070"/>
                </a:solidFill>
                <a:effectLst/>
              </a:rPr>
              <a:t>// </a:t>
            </a:r>
            <a:r>
              <a:rPr lang="en-US" dirty="0" err="1">
                <a:solidFill>
                  <a:srgbClr val="697070"/>
                </a:solidFill>
                <a:effectLst/>
              </a:rPr>
              <a:t>biến</a:t>
            </a:r>
            <a:r>
              <a:rPr lang="en-US" dirty="0">
                <a:solidFill>
                  <a:srgbClr val="697070"/>
                </a:solidFill>
                <a:effectLst/>
              </a:rPr>
              <a:t> </a:t>
            </a:r>
            <a:r>
              <a:rPr lang="en-US" dirty="0" err="1">
                <a:solidFill>
                  <a:srgbClr val="697070"/>
                </a:solidFill>
                <a:effectLst/>
              </a:rPr>
              <a:t>sẽ</a:t>
            </a:r>
            <a:r>
              <a:rPr lang="en-US" dirty="0">
                <a:solidFill>
                  <a:srgbClr val="697070"/>
                </a:solidFill>
                <a:effectLst/>
              </a:rPr>
              <a:t> </a:t>
            </a:r>
            <a:r>
              <a:rPr lang="en-US" dirty="0" err="1">
                <a:solidFill>
                  <a:srgbClr val="697070"/>
                </a:solidFill>
                <a:effectLst/>
              </a:rPr>
              <a:t>có</a:t>
            </a:r>
            <a:r>
              <a:rPr lang="en-US" dirty="0">
                <a:solidFill>
                  <a:srgbClr val="697070"/>
                </a:solidFill>
                <a:effectLst/>
              </a:rPr>
              <a:t> </a:t>
            </a:r>
            <a:r>
              <a:rPr lang="en-US" dirty="0" err="1">
                <a:solidFill>
                  <a:srgbClr val="697070"/>
                </a:solidFill>
                <a:effectLst/>
              </a:rPr>
              <a:t>kiểu</a:t>
            </a:r>
            <a:r>
              <a:rPr lang="en-US" dirty="0">
                <a:solidFill>
                  <a:srgbClr val="697070"/>
                </a:solidFill>
                <a:effectLst/>
              </a:rPr>
              <a:t> int</a:t>
            </a:r>
            <a:r>
              <a:rPr lang="en-US" dirty="0"/>
              <a:t> </a:t>
            </a:r>
          </a:p>
          <a:p>
            <a:pPr marL="0" indent="0">
              <a:buNone/>
            </a:pPr>
            <a:r>
              <a:rPr lang="en-US" b="1" dirty="0">
                <a:effectLst/>
              </a:rPr>
              <a:t>var</a:t>
            </a:r>
            <a:r>
              <a:rPr lang="en-US" dirty="0"/>
              <a:t> bien3 = </a:t>
            </a:r>
            <a:r>
              <a:rPr lang="en-US" dirty="0">
                <a:solidFill>
                  <a:srgbClr val="880000"/>
                </a:solidFill>
                <a:effectLst/>
              </a:rPr>
              <a:t>”</a:t>
            </a:r>
            <a:r>
              <a:rPr lang="en-US" dirty="0" err="1">
                <a:solidFill>
                  <a:srgbClr val="880000"/>
                </a:solidFill>
                <a:effectLst/>
              </a:rPr>
              <a:t>cần</a:t>
            </a:r>
            <a:r>
              <a:rPr lang="en-US" dirty="0">
                <a:solidFill>
                  <a:srgbClr val="880000"/>
                </a:solidFill>
                <a:effectLst/>
              </a:rPr>
              <a:t> </a:t>
            </a:r>
            <a:r>
              <a:rPr lang="en-US" dirty="0" err="1">
                <a:solidFill>
                  <a:srgbClr val="880000"/>
                </a:solidFill>
                <a:effectLst/>
              </a:rPr>
              <a:t>khởi</a:t>
            </a:r>
            <a:r>
              <a:rPr lang="en-US" dirty="0">
                <a:solidFill>
                  <a:srgbClr val="880000"/>
                </a:solidFill>
                <a:effectLst/>
              </a:rPr>
              <a:t> </a:t>
            </a:r>
            <a:r>
              <a:rPr lang="en-US" dirty="0" err="1">
                <a:solidFill>
                  <a:srgbClr val="880000"/>
                </a:solidFill>
                <a:effectLst/>
              </a:rPr>
              <a:t>tạo</a:t>
            </a:r>
            <a:r>
              <a:rPr lang="en-US" dirty="0">
                <a:solidFill>
                  <a:srgbClr val="880000"/>
                </a:solidFill>
                <a:effectLst/>
              </a:rPr>
              <a:t> </a:t>
            </a:r>
            <a:r>
              <a:rPr lang="en-US" dirty="0" err="1">
                <a:solidFill>
                  <a:srgbClr val="880000"/>
                </a:solidFill>
                <a:effectLst/>
              </a:rPr>
              <a:t>giá</a:t>
            </a:r>
            <a:r>
              <a:rPr lang="en-US" dirty="0">
                <a:solidFill>
                  <a:srgbClr val="880000"/>
                </a:solidFill>
                <a:effectLst/>
              </a:rPr>
              <a:t> </a:t>
            </a:r>
            <a:r>
              <a:rPr lang="en-US" dirty="0" err="1">
                <a:solidFill>
                  <a:srgbClr val="880000"/>
                </a:solidFill>
                <a:effectLst/>
              </a:rPr>
              <a:t>trị</a:t>
            </a:r>
            <a:r>
              <a:rPr lang="en-US" dirty="0">
                <a:solidFill>
                  <a:srgbClr val="880000"/>
                </a:solidFill>
                <a:effectLst/>
              </a:rPr>
              <a:t>"</a:t>
            </a:r>
            <a:r>
              <a:rPr lang="en-US" dirty="0"/>
              <a:t>; </a:t>
            </a:r>
            <a:r>
              <a:rPr lang="en-US" dirty="0">
                <a:solidFill>
                  <a:srgbClr val="697070"/>
                </a:solidFill>
                <a:effectLst/>
              </a:rPr>
              <a:t>// string</a:t>
            </a:r>
            <a:r>
              <a:rPr lang="en-US" dirty="0"/>
              <a:t> </a:t>
            </a:r>
          </a:p>
          <a:p>
            <a:pPr marL="0" indent="0">
              <a:buNone/>
            </a:pPr>
            <a:r>
              <a:rPr lang="en-US" b="1" dirty="0">
                <a:effectLst/>
              </a:rPr>
              <a:t>var</a:t>
            </a:r>
            <a:r>
              <a:rPr lang="en-US" dirty="0"/>
              <a:t> bien4 = (</a:t>
            </a:r>
            <a:r>
              <a:rPr lang="en-US" dirty="0">
                <a:solidFill>
                  <a:srgbClr val="880000"/>
                </a:solidFill>
                <a:effectLst/>
              </a:rPr>
              <a:t>5</a:t>
            </a:r>
            <a:r>
              <a:rPr lang="en-US" dirty="0"/>
              <a:t> &lt; </a:t>
            </a:r>
            <a:r>
              <a:rPr lang="en-US" dirty="0">
                <a:solidFill>
                  <a:srgbClr val="880000"/>
                </a:solidFill>
                <a:effectLst/>
              </a:rPr>
              <a:t>4</a:t>
            </a:r>
            <a:r>
              <a:rPr lang="en-US" dirty="0"/>
              <a:t>); </a:t>
            </a:r>
            <a:r>
              <a:rPr lang="en-US" dirty="0">
                <a:solidFill>
                  <a:srgbClr val="697070"/>
                </a:solidFill>
                <a:effectLst/>
              </a:rPr>
              <a:t>// bool</a:t>
            </a:r>
            <a:endParaRPr lang="en-VN" dirty="0"/>
          </a:p>
        </p:txBody>
      </p:sp>
      <p:sp>
        <p:nvSpPr>
          <p:cNvPr id="4" name="Date Placeholder 3">
            <a:extLst>
              <a:ext uri="{FF2B5EF4-FFF2-40B4-BE49-F238E27FC236}">
                <a16:creationId xmlns:a16="http://schemas.microsoft.com/office/drawing/2014/main" id="{F23B788B-4211-C47B-6225-477312122200}"/>
              </a:ext>
            </a:extLst>
          </p:cNvPr>
          <p:cNvSpPr>
            <a:spLocks noGrp="1"/>
          </p:cNvSpPr>
          <p:nvPr>
            <p:ph type="dt" sz="half" idx="10"/>
          </p:nvPr>
        </p:nvSpPr>
        <p:spPr/>
        <p:txBody>
          <a:bodyPr/>
          <a:lstStyle/>
          <a:p>
            <a:fld id="{322627A4-408B-428D-97B9-668ACE392443}" type="datetime1">
              <a:rPr lang="vi-VN" smtClean="0"/>
              <a:t>08/01/2025</a:t>
            </a:fld>
            <a:endParaRPr lang="vi-VN"/>
          </a:p>
        </p:txBody>
      </p:sp>
      <p:sp>
        <p:nvSpPr>
          <p:cNvPr id="5" name="Footer Placeholder 4">
            <a:extLst>
              <a:ext uri="{FF2B5EF4-FFF2-40B4-BE49-F238E27FC236}">
                <a16:creationId xmlns:a16="http://schemas.microsoft.com/office/drawing/2014/main" id="{CF9A0E80-983B-73DE-4857-C84E77EC2868}"/>
              </a:ext>
            </a:extLst>
          </p:cNvPr>
          <p:cNvSpPr>
            <a:spLocks noGrp="1"/>
          </p:cNvSpPr>
          <p:nvPr>
            <p:ph type="ftr" sz="quarter" idx="11"/>
          </p:nvPr>
        </p:nvSpPr>
        <p:spPr/>
        <p:txBody>
          <a:bodyPr/>
          <a:lstStyle/>
          <a:p>
            <a:r>
              <a:rPr lang="vi-VN"/>
              <a:t>Chương 2. Các thành phần cơ bản trong C#</a:t>
            </a:r>
          </a:p>
        </p:txBody>
      </p:sp>
      <p:sp>
        <p:nvSpPr>
          <p:cNvPr id="6" name="Slide Number Placeholder 5">
            <a:extLst>
              <a:ext uri="{FF2B5EF4-FFF2-40B4-BE49-F238E27FC236}">
                <a16:creationId xmlns:a16="http://schemas.microsoft.com/office/drawing/2014/main" id="{FFF5F289-3D22-B0F6-8647-D9022DB600BF}"/>
              </a:ext>
            </a:extLst>
          </p:cNvPr>
          <p:cNvSpPr>
            <a:spLocks noGrp="1"/>
          </p:cNvSpPr>
          <p:nvPr>
            <p:ph type="sldNum" sz="quarter" idx="12"/>
          </p:nvPr>
        </p:nvSpPr>
        <p:spPr/>
        <p:txBody>
          <a:bodyPr/>
          <a:lstStyle/>
          <a:p>
            <a:fld id="{5AB95402-1E0D-474E-8D8C-CBE7F053639E}" type="slidenum">
              <a:rPr lang="vi-VN" smtClean="0"/>
              <a:pPr/>
              <a:t>16</a:t>
            </a:fld>
            <a:r>
              <a:rPr lang="vi-VN"/>
              <a:t>/47</a:t>
            </a:r>
          </a:p>
        </p:txBody>
      </p:sp>
    </p:spTree>
    <p:extLst>
      <p:ext uri="{BB962C8B-B14F-4D97-AF65-F5344CB8AC3E}">
        <p14:creationId xmlns:p14="http://schemas.microsoft.com/office/powerpoint/2010/main" val="1665661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liệt kê</a:t>
            </a:r>
            <a:endParaRPr lang="vi-VN"/>
          </a:p>
        </p:txBody>
      </p:sp>
      <p:sp>
        <p:nvSpPr>
          <p:cNvPr id="3" name="Content Placeholder 2"/>
          <p:cNvSpPr>
            <a:spLocks noGrp="1"/>
          </p:cNvSpPr>
          <p:nvPr>
            <p:ph idx="1"/>
          </p:nvPr>
        </p:nvSpPr>
        <p:spPr/>
        <p:txBody>
          <a:bodyPr/>
          <a:lstStyle/>
          <a:p>
            <a:r>
              <a:rPr lang="en-US" dirty="0" err="1"/>
              <a:t>Là</a:t>
            </a:r>
            <a:r>
              <a:rPr lang="en-US" dirty="0"/>
              <a:t> </a:t>
            </a:r>
            <a:r>
              <a:rPr lang="en-US" dirty="0" err="1"/>
              <a:t>tập</a:t>
            </a:r>
            <a:r>
              <a:rPr lang="en-US" dirty="0"/>
              <a:t> </a:t>
            </a:r>
            <a:r>
              <a:rPr lang="en-US" dirty="0" err="1"/>
              <a:t>hợp</a:t>
            </a:r>
            <a:r>
              <a:rPr lang="en-US" dirty="0"/>
              <a:t> </a:t>
            </a:r>
            <a:r>
              <a:rPr lang="en-US" dirty="0" err="1"/>
              <a:t>các</a:t>
            </a:r>
            <a:r>
              <a:rPr lang="en-US" dirty="0"/>
              <a:t> </a:t>
            </a:r>
            <a:r>
              <a:rPr lang="en-US" dirty="0" err="1"/>
              <a:t>tên</a:t>
            </a:r>
            <a:r>
              <a:rPr lang="en-US" dirty="0"/>
              <a:t> </a:t>
            </a:r>
            <a:r>
              <a:rPr lang="en-US" dirty="0" err="1"/>
              <a:t>hằng</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không</a:t>
            </a:r>
            <a:r>
              <a:rPr lang="en-US" dirty="0"/>
              <a:t> </a:t>
            </a:r>
            <a:r>
              <a:rPr lang="en-US" dirty="0" err="1"/>
              <a:t>thay</a:t>
            </a:r>
            <a:r>
              <a:rPr lang="en-US" dirty="0"/>
              <a:t> </a:t>
            </a:r>
            <a:r>
              <a:rPr lang="en-US" dirty="0" err="1"/>
              <a:t>đổi</a:t>
            </a:r>
            <a:r>
              <a:rPr lang="en-US" dirty="0"/>
              <a:t> (</a:t>
            </a:r>
            <a:r>
              <a:rPr lang="en-US" dirty="0" err="1"/>
              <a:t>thường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danh</a:t>
            </a:r>
            <a:r>
              <a:rPr lang="en-US" dirty="0"/>
              <a:t> </a:t>
            </a:r>
            <a:r>
              <a:rPr lang="en-US" dirty="0" err="1"/>
              <a:t>sách</a:t>
            </a:r>
            <a:r>
              <a:rPr lang="en-US" dirty="0"/>
              <a:t> </a:t>
            </a:r>
            <a:r>
              <a:rPr lang="en-US" dirty="0" err="1"/>
              <a:t>liệt</a:t>
            </a:r>
            <a:r>
              <a:rPr lang="en-US" dirty="0"/>
              <a:t> </a:t>
            </a:r>
            <a:r>
              <a:rPr lang="en-US" dirty="0" err="1"/>
              <a:t>kê</a:t>
            </a:r>
            <a:r>
              <a:rPr lang="en-US" dirty="0"/>
              <a:t>).</a:t>
            </a:r>
          </a:p>
          <a:p>
            <a:r>
              <a:rPr lang="en-US" dirty="0"/>
              <a:t>Cú </a:t>
            </a:r>
            <a:r>
              <a:rPr lang="en-US" dirty="0" err="1"/>
              <a:t>pháp</a:t>
            </a:r>
            <a:r>
              <a:rPr lang="en-US" dirty="0"/>
              <a:t>:</a:t>
            </a:r>
            <a:r>
              <a:rPr lang="en-US" dirty="0">
                <a:solidFill>
                  <a:srgbClr val="990000"/>
                </a:solidFill>
              </a:rPr>
              <a:t>[</a:t>
            </a:r>
            <a:r>
              <a:rPr lang="en-US" dirty="0" err="1">
                <a:solidFill>
                  <a:srgbClr val="990000"/>
                </a:solidFill>
              </a:rPr>
              <a:t>thuộc</a:t>
            </a:r>
            <a:r>
              <a:rPr lang="en-US" dirty="0">
                <a:solidFill>
                  <a:srgbClr val="990000"/>
                </a:solidFill>
              </a:rPr>
              <a:t> </a:t>
            </a:r>
            <a:r>
              <a:rPr lang="en-US" dirty="0" err="1">
                <a:solidFill>
                  <a:srgbClr val="990000"/>
                </a:solidFill>
              </a:rPr>
              <a:t>tính</a:t>
            </a:r>
            <a:r>
              <a:rPr lang="en-US" dirty="0">
                <a:solidFill>
                  <a:srgbClr val="990000"/>
                </a:solidFill>
              </a:rPr>
              <a:t>] [</a:t>
            </a:r>
            <a:r>
              <a:rPr lang="en-US" dirty="0" err="1">
                <a:solidFill>
                  <a:srgbClr val="990000"/>
                </a:solidFill>
              </a:rPr>
              <a:t>bổ</a:t>
            </a:r>
            <a:r>
              <a:rPr lang="en-US" dirty="0">
                <a:solidFill>
                  <a:srgbClr val="990000"/>
                </a:solidFill>
              </a:rPr>
              <a:t> sung] </a:t>
            </a:r>
            <a:r>
              <a:rPr lang="en-US" b="1" dirty="0" err="1">
                <a:solidFill>
                  <a:srgbClr val="990000"/>
                </a:solidFill>
              </a:rPr>
              <a:t>enum</a:t>
            </a:r>
            <a:r>
              <a:rPr lang="en-US" dirty="0">
                <a:solidFill>
                  <a:srgbClr val="990000"/>
                </a:solidFill>
              </a:rPr>
              <a:t> &lt;</a:t>
            </a:r>
            <a:r>
              <a:rPr lang="en-US" dirty="0" err="1">
                <a:solidFill>
                  <a:srgbClr val="990000"/>
                </a:solidFill>
              </a:rPr>
              <a:t>tên</a:t>
            </a:r>
            <a:r>
              <a:rPr lang="en-US" dirty="0">
                <a:solidFill>
                  <a:srgbClr val="990000"/>
                </a:solidFill>
              </a:rPr>
              <a:t> </a:t>
            </a:r>
            <a:r>
              <a:rPr lang="en-US" dirty="0" err="1">
                <a:solidFill>
                  <a:srgbClr val="990000"/>
                </a:solidFill>
              </a:rPr>
              <a:t>liệt</a:t>
            </a:r>
            <a:r>
              <a:rPr lang="en-US" dirty="0">
                <a:solidFill>
                  <a:srgbClr val="990000"/>
                </a:solidFill>
              </a:rPr>
              <a:t> </a:t>
            </a:r>
            <a:r>
              <a:rPr lang="en-US" dirty="0" err="1">
                <a:solidFill>
                  <a:srgbClr val="990000"/>
                </a:solidFill>
              </a:rPr>
              <a:t>kê</a:t>
            </a:r>
            <a:r>
              <a:rPr lang="en-US" dirty="0">
                <a:solidFill>
                  <a:srgbClr val="990000"/>
                </a:solidFill>
              </a:rPr>
              <a:t>&gt; [:</a:t>
            </a:r>
            <a:r>
              <a:rPr lang="en-US" dirty="0" err="1">
                <a:solidFill>
                  <a:srgbClr val="990000"/>
                </a:solidFill>
              </a:rPr>
              <a:t>kiểu</a:t>
            </a:r>
            <a:r>
              <a:rPr lang="en-US" dirty="0">
                <a:solidFill>
                  <a:srgbClr val="990000"/>
                </a:solidFill>
              </a:rPr>
              <a:t> </a:t>
            </a:r>
            <a:r>
              <a:rPr lang="en-US" dirty="0" err="1">
                <a:solidFill>
                  <a:srgbClr val="990000"/>
                </a:solidFill>
              </a:rPr>
              <a:t>cơ</a:t>
            </a:r>
            <a:r>
              <a:rPr lang="en-US" dirty="0">
                <a:solidFill>
                  <a:srgbClr val="990000"/>
                </a:solidFill>
              </a:rPr>
              <a:t> </a:t>
            </a:r>
            <a:r>
              <a:rPr lang="en-US" dirty="0" err="1">
                <a:solidFill>
                  <a:srgbClr val="990000"/>
                </a:solidFill>
              </a:rPr>
              <a:t>sở</a:t>
            </a:r>
            <a:r>
              <a:rPr lang="en-US" dirty="0">
                <a:solidFill>
                  <a:srgbClr val="990000"/>
                </a:solidFill>
              </a:rPr>
              <a:t>] {</a:t>
            </a:r>
            <a:r>
              <a:rPr lang="en-US" dirty="0" err="1">
                <a:solidFill>
                  <a:srgbClr val="990000"/>
                </a:solidFill>
              </a:rPr>
              <a:t>danh</a:t>
            </a:r>
            <a:r>
              <a:rPr lang="en-US" dirty="0">
                <a:solidFill>
                  <a:srgbClr val="990000"/>
                </a:solidFill>
              </a:rPr>
              <a:t> </a:t>
            </a:r>
            <a:r>
              <a:rPr lang="en-US" dirty="0" err="1">
                <a:solidFill>
                  <a:srgbClr val="990000"/>
                </a:solidFill>
              </a:rPr>
              <a:t>sách</a:t>
            </a:r>
            <a:r>
              <a:rPr lang="en-US" dirty="0">
                <a:solidFill>
                  <a:srgbClr val="990000"/>
                </a:solidFill>
              </a:rPr>
              <a:t> </a:t>
            </a:r>
            <a:r>
              <a:rPr lang="en-US" dirty="0" err="1">
                <a:solidFill>
                  <a:srgbClr val="990000"/>
                </a:solidFill>
              </a:rPr>
              <a:t>các</a:t>
            </a:r>
            <a:r>
              <a:rPr lang="en-US" dirty="0">
                <a:solidFill>
                  <a:srgbClr val="990000"/>
                </a:solidFill>
              </a:rPr>
              <a:t> </a:t>
            </a:r>
            <a:r>
              <a:rPr lang="en-US" dirty="0" err="1">
                <a:solidFill>
                  <a:srgbClr val="990000"/>
                </a:solidFill>
              </a:rPr>
              <a:t>thành</a:t>
            </a:r>
            <a:r>
              <a:rPr lang="en-US" dirty="0">
                <a:solidFill>
                  <a:srgbClr val="990000"/>
                </a:solidFill>
              </a:rPr>
              <a:t> </a:t>
            </a:r>
            <a:r>
              <a:rPr lang="en-US" dirty="0" err="1">
                <a:solidFill>
                  <a:srgbClr val="990000"/>
                </a:solidFill>
              </a:rPr>
              <a:t>phần</a:t>
            </a:r>
            <a:r>
              <a:rPr lang="en-US" dirty="0">
                <a:solidFill>
                  <a:srgbClr val="990000"/>
                </a:solidFill>
              </a:rPr>
              <a:t> </a:t>
            </a:r>
            <a:r>
              <a:rPr lang="en-US" dirty="0" err="1">
                <a:solidFill>
                  <a:srgbClr val="990000"/>
                </a:solidFill>
              </a:rPr>
              <a:t>liệt</a:t>
            </a:r>
            <a:r>
              <a:rPr lang="en-US" dirty="0">
                <a:solidFill>
                  <a:srgbClr val="990000"/>
                </a:solidFill>
              </a:rPr>
              <a:t> </a:t>
            </a:r>
            <a:r>
              <a:rPr lang="en-US" dirty="0" err="1">
                <a:solidFill>
                  <a:srgbClr val="990000"/>
                </a:solidFill>
              </a:rPr>
              <a:t>kê</a:t>
            </a:r>
            <a:r>
              <a:rPr lang="en-US" dirty="0">
                <a:solidFill>
                  <a:srgbClr val="990000"/>
                </a:solidFill>
              </a:rPr>
              <a:t>}</a:t>
            </a:r>
          </a:p>
          <a:p>
            <a:r>
              <a:rPr lang="en-US" dirty="0" err="1"/>
              <a:t>Ví</a:t>
            </a:r>
            <a:r>
              <a:rPr lang="en-US" dirty="0"/>
              <a:t> </a:t>
            </a:r>
            <a:r>
              <a:rPr lang="en-US" dirty="0" err="1"/>
              <a:t>dụ</a:t>
            </a:r>
            <a:r>
              <a:rPr lang="en-US" dirty="0"/>
              <a:t>:</a:t>
            </a:r>
          </a:p>
          <a:p>
            <a:endParaRPr lang="vi-VN" dirty="0"/>
          </a:p>
        </p:txBody>
      </p:sp>
      <p:sp>
        <p:nvSpPr>
          <p:cNvPr id="4" name="Date Placeholder 3"/>
          <p:cNvSpPr>
            <a:spLocks noGrp="1"/>
          </p:cNvSpPr>
          <p:nvPr>
            <p:ph type="dt" sz="half" idx="10"/>
          </p:nvPr>
        </p:nvSpPr>
        <p:spPr/>
        <p:txBody>
          <a:bodyPr/>
          <a:lstStyle/>
          <a:p>
            <a:fld id="{32E13983-5C87-4BAF-996C-DCF5ED70B70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17</a:t>
            </a:fld>
            <a:r>
              <a:rPr lang="vi-VN"/>
              <a:t>/47</a:t>
            </a:r>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5253" y="3717032"/>
            <a:ext cx="2717349" cy="2584795"/>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29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liệt kê</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4609DFCB-CC2E-4F72-B259-56DE56C39DC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18</a:t>
            </a:fld>
            <a:r>
              <a:rPr lang="vi-VN"/>
              <a:t>/47</a:t>
            </a:r>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855" y="1199728"/>
            <a:ext cx="7924800" cy="5181600"/>
          </a:xfrm>
          <a:prstGeom prst="rect">
            <a:avLst/>
          </a:prstGeom>
          <a:noFill/>
          <a:ln w="28575">
            <a:solidFill>
              <a:srgbClr val="000066"/>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338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Kiểu chuỗi kí tự (string)</a:t>
            </a:r>
            <a:endParaRPr lang="vi-VN"/>
          </a:p>
        </p:txBody>
      </p:sp>
      <p:sp>
        <p:nvSpPr>
          <p:cNvPr id="3" name="Content Placeholder 2"/>
          <p:cNvSpPr>
            <a:spLocks noGrp="1"/>
          </p:cNvSpPr>
          <p:nvPr>
            <p:ph idx="1"/>
          </p:nvPr>
        </p:nvSpPr>
        <p:spPr/>
        <p:txBody>
          <a:bodyPr>
            <a:normAutofit fontScale="92500" lnSpcReduction="20000"/>
          </a:bodyPr>
          <a:lstStyle/>
          <a:p>
            <a:r>
              <a:rPr lang="en-US"/>
              <a:t>Khai báo</a:t>
            </a:r>
          </a:p>
          <a:p>
            <a:pPr lvl="1"/>
            <a:r>
              <a:rPr lang="en-US"/>
              <a:t>Ví dụ: string st = “hello”;</a:t>
            </a:r>
          </a:p>
          <a:p>
            <a:r>
              <a:rPr lang="en-US"/>
              <a:t>Sử dụng</a:t>
            </a:r>
          </a:p>
          <a:p>
            <a:pPr lvl="1"/>
            <a:r>
              <a:rPr lang="en-US"/>
              <a:t>Sử dụng các các toán tử: == (bằng), != (khác), + (nối chuỗi)</a:t>
            </a:r>
          </a:p>
          <a:p>
            <a:pPr lvl="1"/>
            <a:r>
              <a:rPr lang="en-US"/>
              <a:t>Ví dụ: </a:t>
            </a:r>
          </a:p>
          <a:p>
            <a:pPr marL="469900" lvl="1" indent="0">
              <a:buNone/>
            </a:pPr>
            <a:r>
              <a:rPr lang="en-US" sz="2000"/>
              <a:t>	string s1 = "hello ";</a:t>
            </a:r>
          </a:p>
          <a:p>
            <a:pPr marL="469900" lvl="1" indent="0">
              <a:buNone/>
            </a:pPr>
            <a:r>
              <a:rPr lang="en-US" sz="2000"/>
              <a:t>	string s2 = "world";</a:t>
            </a:r>
          </a:p>
          <a:p>
            <a:pPr marL="469900" lvl="1" indent="0">
              <a:buNone/>
            </a:pPr>
            <a:r>
              <a:rPr lang="en-US" sz="2000"/>
              <a:t>      Console.WriteLine(s1+ s2); //”hello world”</a:t>
            </a:r>
          </a:p>
          <a:p>
            <a:pPr marL="469900" lvl="1" indent="0">
              <a:buNone/>
            </a:pPr>
            <a:r>
              <a:rPr lang="en-US" sz="2000"/>
              <a:t>      Console.WriteLine(s1 + s2 == "hello world"); //True</a:t>
            </a:r>
          </a:p>
          <a:p>
            <a:pPr marL="469900" lvl="1" indent="0">
              <a:buNone/>
            </a:pPr>
            <a:r>
              <a:rPr lang="en-US" sz="2000"/>
              <a:t>      </a:t>
            </a:r>
          </a:p>
        </p:txBody>
      </p:sp>
      <p:sp>
        <p:nvSpPr>
          <p:cNvPr id="4" name="Date Placeholder 3"/>
          <p:cNvSpPr>
            <a:spLocks noGrp="1"/>
          </p:cNvSpPr>
          <p:nvPr>
            <p:ph type="dt" sz="half" idx="10"/>
          </p:nvPr>
        </p:nvSpPr>
        <p:spPr/>
        <p:txBody>
          <a:bodyPr/>
          <a:lstStyle/>
          <a:p>
            <a:fld id="{20C94D18-24BA-4B51-AB6C-B8B4404D4F75}"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19</a:t>
            </a:fld>
            <a:r>
              <a:rPr lang="vi-VN"/>
              <a:t>/47</a:t>
            </a:r>
          </a:p>
        </p:txBody>
      </p:sp>
    </p:spTree>
    <p:extLst>
      <p:ext uri="{BB962C8B-B14F-4D97-AF65-F5344CB8AC3E}">
        <p14:creationId xmlns:p14="http://schemas.microsoft.com/office/powerpoint/2010/main" val="760906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Cách đặt tên</a:t>
            </a:r>
            <a:endParaRPr lang="vi-VN"/>
          </a:p>
        </p:txBody>
      </p:sp>
      <p:sp>
        <p:nvSpPr>
          <p:cNvPr id="3" name="Content Placeholder 2"/>
          <p:cNvSpPr>
            <a:spLocks noGrp="1"/>
          </p:cNvSpPr>
          <p:nvPr>
            <p:ph idx="1"/>
          </p:nvPr>
        </p:nvSpPr>
        <p:spPr/>
        <p:txBody>
          <a:bodyPr>
            <a:normAutofit fontScale="92500"/>
          </a:bodyPr>
          <a:lstStyle/>
          <a:p>
            <a:pPr lvl="0"/>
            <a:r>
              <a:rPr lang="en-US"/>
              <a:t>Luôn luôn sử dụng 2 cách đặt tên là Camel Case hoặc Pascal Case</a:t>
            </a:r>
          </a:p>
          <a:p>
            <a:pPr lvl="1"/>
            <a:r>
              <a:rPr lang="en-US"/>
              <a:t>Camel Case: Chữ cái đầu tiên của từ đầu tiên viết thường, các từ còn lại viết hoa chữ đầu</a:t>
            </a:r>
            <a:endParaRPr lang="vi-VN"/>
          </a:p>
          <a:p>
            <a:pPr lvl="1"/>
            <a:r>
              <a:rPr lang="en-US"/>
              <a:t>Pascal Case: Viết hoa chữ cái đầu tiên của tất cả các từ</a:t>
            </a:r>
            <a:endParaRPr lang="vi-VN"/>
          </a:p>
          <a:p>
            <a:pPr lvl="0"/>
            <a:r>
              <a:rPr lang="en-US"/>
              <a:t>Không đặt tên các biến khai báo cùng tên nhau mà chỉ khác nhau ở chữ hoa và chữ thường</a:t>
            </a:r>
            <a:endParaRPr lang="vi-VN"/>
          </a:p>
          <a:p>
            <a:pPr lvl="0"/>
            <a:r>
              <a:rPr lang="en-US"/>
              <a:t>Không sử dụng tên bắt đầu với ký tự số</a:t>
            </a:r>
            <a:endParaRPr lang="vi-VN"/>
          </a:p>
          <a:p>
            <a:pPr lvl="0"/>
            <a:r>
              <a:rPr lang="en-US"/>
              <a:t>Không sử dụng tên kết thúc với ký tự số</a:t>
            </a:r>
            <a:endParaRPr lang="vi-VN"/>
          </a:p>
          <a:p>
            <a:endParaRPr lang="vi-VN"/>
          </a:p>
        </p:txBody>
      </p:sp>
      <p:sp>
        <p:nvSpPr>
          <p:cNvPr id="4" name="Date Placeholder 3"/>
          <p:cNvSpPr>
            <a:spLocks noGrp="1"/>
          </p:cNvSpPr>
          <p:nvPr>
            <p:ph type="dt" sz="half" idx="10"/>
          </p:nvPr>
        </p:nvSpPr>
        <p:spPr/>
        <p:txBody>
          <a:bodyPr/>
          <a:lstStyle/>
          <a:p>
            <a:fld id="{92528683-2CC1-4F68-B851-B62D609ADFB8}"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20</a:t>
            </a:fld>
            <a:r>
              <a:rPr lang="vi-VN"/>
              <a:t>/47</a:t>
            </a:r>
          </a:p>
        </p:txBody>
      </p:sp>
    </p:spTree>
    <p:extLst>
      <p:ext uri="{BB962C8B-B14F-4D97-AF65-F5344CB8AC3E}">
        <p14:creationId xmlns:p14="http://schemas.microsoft.com/office/powerpoint/2010/main" val="655530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Cách đặt tên</a:t>
            </a:r>
            <a:endParaRPr lang="vi-VN"/>
          </a:p>
        </p:txBody>
      </p:sp>
      <p:sp>
        <p:nvSpPr>
          <p:cNvPr id="3" name="Content Placeholder 2"/>
          <p:cNvSpPr>
            <a:spLocks noGrp="1"/>
          </p:cNvSpPr>
          <p:nvPr>
            <p:ph idx="1"/>
          </p:nvPr>
        </p:nvSpPr>
        <p:spPr>
          <a:xfrm>
            <a:off x="457200" y="1214414"/>
            <a:ext cx="8229600" cy="5310930"/>
          </a:xfrm>
        </p:spPr>
        <p:txBody>
          <a:bodyPr>
            <a:normAutofit/>
          </a:bodyPr>
          <a:lstStyle/>
          <a:p>
            <a:pPr lvl="0"/>
            <a:r>
              <a:rPr lang="en-US" sz="2000" dirty="0" err="1"/>
              <a:t>Luôn</a:t>
            </a:r>
            <a:r>
              <a:rPr lang="en-US" sz="2000" dirty="0"/>
              <a:t> </a:t>
            </a:r>
            <a:r>
              <a:rPr lang="en-US" sz="2000" dirty="0" err="1"/>
              <a:t>luôn</a:t>
            </a:r>
            <a:r>
              <a:rPr lang="en-US" sz="2000" dirty="0"/>
              <a:t> </a:t>
            </a:r>
            <a:r>
              <a:rPr lang="en-US" sz="2000" dirty="0" err="1"/>
              <a:t>đặt</a:t>
            </a:r>
            <a:r>
              <a:rPr lang="en-US" sz="2000" dirty="0"/>
              <a:t> </a:t>
            </a:r>
            <a:r>
              <a:rPr lang="en-US" sz="2000" dirty="0" err="1"/>
              <a:t>tên</a:t>
            </a:r>
            <a:r>
              <a:rPr lang="en-US" sz="2000" dirty="0"/>
              <a:t> </a:t>
            </a:r>
            <a:r>
              <a:rPr lang="en-US" sz="2000" dirty="0" err="1"/>
              <a:t>có</a:t>
            </a:r>
            <a:r>
              <a:rPr lang="en-US" sz="2000" dirty="0"/>
              <a:t> ý </a:t>
            </a:r>
            <a:r>
              <a:rPr lang="en-US" sz="2000" dirty="0" err="1"/>
              <a:t>nghĩa</a:t>
            </a:r>
            <a:r>
              <a:rPr lang="en-US" sz="2000" dirty="0"/>
              <a:t> </a:t>
            </a:r>
            <a:r>
              <a:rPr lang="en-US" sz="2000" dirty="0" err="1"/>
              <a:t>cụ</a:t>
            </a:r>
            <a:r>
              <a:rPr lang="en-US" sz="2000" dirty="0"/>
              <a:t> </a:t>
            </a:r>
            <a:r>
              <a:rPr lang="en-US" sz="2000" dirty="0" err="1"/>
              <a:t>thể</a:t>
            </a:r>
            <a:endParaRPr lang="vi-VN" sz="2000" dirty="0"/>
          </a:p>
          <a:p>
            <a:pPr lvl="0"/>
            <a:r>
              <a:rPr lang="en-US" sz="2000" dirty="0" err="1"/>
              <a:t>Tránh</a:t>
            </a:r>
            <a:r>
              <a:rPr lang="en-US" sz="2000" dirty="0"/>
              <a:t> </a:t>
            </a:r>
            <a:r>
              <a:rPr lang="en-US" sz="2000" dirty="0" err="1"/>
              <a:t>sử</a:t>
            </a:r>
            <a:r>
              <a:rPr lang="en-US" sz="2000" dirty="0"/>
              <a:t> </a:t>
            </a:r>
            <a:r>
              <a:rPr lang="en-US" sz="2000" dirty="0" err="1"/>
              <a:t>dụng</a:t>
            </a:r>
            <a:r>
              <a:rPr lang="en-US" sz="2000" dirty="0"/>
              <a:t> </a:t>
            </a:r>
            <a:r>
              <a:rPr lang="en-US" sz="2000" dirty="0" err="1"/>
              <a:t>từ</a:t>
            </a:r>
            <a:r>
              <a:rPr lang="en-US" sz="2000" dirty="0"/>
              <a:t> </a:t>
            </a:r>
            <a:r>
              <a:rPr lang="en-US" sz="2000" dirty="0" err="1"/>
              <a:t>viết</a:t>
            </a:r>
            <a:r>
              <a:rPr lang="en-US" sz="2000" dirty="0"/>
              <a:t> </a:t>
            </a:r>
            <a:r>
              <a:rPr lang="en-US" sz="2000" dirty="0" err="1"/>
              <a:t>tắt</a:t>
            </a:r>
            <a:r>
              <a:rPr lang="en-US" sz="2000" dirty="0"/>
              <a:t> </a:t>
            </a:r>
            <a:r>
              <a:rPr lang="en-US" sz="2000" dirty="0" err="1"/>
              <a:t>trừ</a:t>
            </a:r>
            <a:r>
              <a:rPr lang="en-US" sz="2000" dirty="0"/>
              <a:t> </a:t>
            </a:r>
            <a:r>
              <a:rPr lang="en-US" sz="2000" dirty="0" err="1"/>
              <a:t>khi</a:t>
            </a:r>
            <a:r>
              <a:rPr lang="en-US" sz="2000" dirty="0"/>
              <a:t> </a:t>
            </a:r>
            <a:r>
              <a:rPr lang="en-US" sz="2000" dirty="0" err="1"/>
              <a:t>quá</a:t>
            </a:r>
            <a:r>
              <a:rPr lang="en-US" sz="2000" dirty="0"/>
              <a:t> </a:t>
            </a:r>
            <a:r>
              <a:rPr lang="en-US" sz="2000" dirty="0" err="1"/>
              <a:t>dài</a:t>
            </a:r>
            <a:endParaRPr lang="vi-VN" sz="2000" dirty="0"/>
          </a:p>
          <a:p>
            <a:pPr lvl="0"/>
            <a:r>
              <a:rPr lang="en-US" sz="2000" dirty="0" err="1"/>
              <a:t>Tránh</a:t>
            </a:r>
            <a:r>
              <a:rPr lang="en-US" sz="2000" dirty="0"/>
              <a:t> </a:t>
            </a:r>
            <a:r>
              <a:rPr lang="en-US" sz="2000" dirty="0" err="1"/>
              <a:t>viết</a:t>
            </a:r>
            <a:r>
              <a:rPr lang="en-US" sz="2000" dirty="0"/>
              <a:t> </a:t>
            </a:r>
            <a:r>
              <a:rPr lang="en-US" sz="2000" dirty="0" err="1"/>
              <a:t>tắt</a:t>
            </a:r>
            <a:r>
              <a:rPr lang="en-US" sz="2000" dirty="0"/>
              <a:t> </a:t>
            </a:r>
            <a:r>
              <a:rPr lang="en-US" sz="2000" dirty="0" err="1"/>
              <a:t>những</a:t>
            </a:r>
            <a:r>
              <a:rPr lang="en-US" sz="2000" dirty="0"/>
              <a:t> </a:t>
            </a:r>
            <a:r>
              <a:rPr lang="en-US" sz="2000" dirty="0" err="1"/>
              <a:t>từ</a:t>
            </a:r>
            <a:r>
              <a:rPr lang="en-US" sz="2000" dirty="0"/>
              <a:t> </a:t>
            </a:r>
            <a:r>
              <a:rPr lang="en-US" sz="2000" dirty="0" err="1"/>
              <a:t>nhỏ</a:t>
            </a:r>
            <a:r>
              <a:rPr lang="en-US" sz="2000" dirty="0"/>
              <a:t> </a:t>
            </a:r>
            <a:r>
              <a:rPr lang="en-US" sz="2000" dirty="0" err="1"/>
              <a:t>hơn</a:t>
            </a:r>
            <a:r>
              <a:rPr lang="en-US" sz="2000" dirty="0"/>
              <a:t> 5 </a:t>
            </a:r>
            <a:r>
              <a:rPr lang="en-US" sz="2000" dirty="0" err="1"/>
              <a:t>ký</a:t>
            </a:r>
            <a:r>
              <a:rPr lang="en-US" sz="2000" dirty="0"/>
              <a:t> </a:t>
            </a:r>
            <a:r>
              <a:rPr lang="en-US" sz="2000" dirty="0" err="1"/>
              <a:t>tự</a:t>
            </a:r>
            <a:endParaRPr lang="vi-VN" sz="2000" dirty="0"/>
          </a:p>
          <a:p>
            <a:pPr lvl="0"/>
            <a:r>
              <a:rPr lang="en-US" sz="2000" dirty="0" err="1"/>
              <a:t>Tránh</a:t>
            </a:r>
            <a:r>
              <a:rPr lang="en-US" sz="2000" dirty="0"/>
              <a:t> </a:t>
            </a:r>
            <a:r>
              <a:rPr lang="en-US" sz="2000" dirty="0" err="1"/>
              <a:t>đặt</a:t>
            </a:r>
            <a:r>
              <a:rPr lang="en-US" sz="2000" dirty="0"/>
              <a:t> </a:t>
            </a:r>
            <a:r>
              <a:rPr lang="en-US" sz="2000" dirty="0" err="1"/>
              <a:t>tên</a:t>
            </a:r>
            <a:r>
              <a:rPr lang="en-US" sz="2000" dirty="0"/>
              <a:t> </a:t>
            </a:r>
            <a:r>
              <a:rPr lang="en-US" sz="2000" dirty="0" err="1"/>
              <a:t>các</a:t>
            </a:r>
            <a:r>
              <a:rPr lang="en-US" sz="2000" dirty="0"/>
              <a:t> </a:t>
            </a:r>
            <a:r>
              <a:rPr lang="en-US" sz="2000" dirty="0" err="1"/>
              <a:t>biến</a:t>
            </a:r>
            <a:r>
              <a:rPr lang="en-US" sz="2000" dirty="0"/>
              <a:t> </a:t>
            </a:r>
            <a:r>
              <a:rPr lang="en-US" sz="2000" dirty="0" err="1"/>
              <a:t>hoặc</a:t>
            </a:r>
            <a:r>
              <a:rPr lang="en-US" sz="2000" dirty="0"/>
              <a:t> </a:t>
            </a:r>
            <a:r>
              <a:rPr lang="en-US" sz="2000" dirty="0" err="1"/>
              <a:t>hàm</a:t>
            </a:r>
            <a:r>
              <a:rPr lang="en-US" sz="2000" dirty="0"/>
              <a:t> </a:t>
            </a:r>
            <a:r>
              <a:rPr lang="en-US" sz="2000" dirty="0" err="1"/>
              <a:t>trùng</a:t>
            </a:r>
            <a:r>
              <a:rPr lang="en-US" sz="2000" dirty="0"/>
              <a:t> </a:t>
            </a:r>
            <a:r>
              <a:rPr lang="en-US" sz="2000" dirty="0" err="1"/>
              <a:t>với</a:t>
            </a:r>
            <a:r>
              <a:rPr lang="en-US" sz="2000" dirty="0"/>
              <a:t> </a:t>
            </a:r>
            <a:r>
              <a:rPr lang="en-US" sz="2000" dirty="0" err="1"/>
              <a:t>hàm</a:t>
            </a:r>
            <a:r>
              <a:rPr lang="en-US" sz="2000" dirty="0"/>
              <a:t> </a:t>
            </a:r>
            <a:r>
              <a:rPr lang="en-US" sz="2000" dirty="0" err="1"/>
              <a:t>hoặc</a:t>
            </a:r>
            <a:r>
              <a:rPr lang="en-US" sz="2000" dirty="0"/>
              <a:t> </a:t>
            </a:r>
            <a:r>
              <a:rPr lang="en-US" sz="2000" dirty="0" err="1"/>
              <a:t>biến</a:t>
            </a:r>
            <a:r>
              <a:rPr lang="en-US" sz="2000" dirty="0"/>
              <a:t> </a:t>
            </a:r>
            <a:r>
              <a:rPr lang="en-US" sz="2000" dirty="0" err="1"/>
              <a:t>mặc</a:t>
            </a:r>
            <a:r>
              <a:rPr lang="en-US" sz="2000" dirty="0"/>
              <a:t> </a:t>
            </a:r>
            <a:r>
              <a:rPr lang="en-US" sz="2000" dirty="0" err="1"/>
              <a:t>định</a:t>
            </a:r>
            <a:r>
              <a:rPr lang="en-US" sz="2000" dirty="0"/>
              <a:t> </a:t>
            </a:r>
            <a:r>
              <a:rPr lang="en-US" sz="2000" dirty="0" err="1"/>
              <a:t>của</a:t>
            </a:r>
            <a:r>
              <a:rPr lang="en-US" sz="2000" dirty="0"/>
              <a:t> Framework</a:t>
            </a:r>
          </a:p>
          <a:p>
            <a:pPr marL="0" lvl="0" indent="0">
              <a:buNone/>
            </a:pPr>
            <a:r>
              <a:rPr lang="en-US" sz="2000" dirty="0" err="1"/>
              <a:t>Ví</a:t>
            </a:r>
            <a:r>
              <a:rPr lang="en-US" sz="2000" dirty="0"/>
              <a:t> </a:t>
            </a:r>
            <a:r>
              <a:rPr lang="en-US" sz="2000" dirty="0" err="1"/>
              <a:t>dụ</a:t>
            </a:r>
            <a:r>
              <a:rPr lang="en-US" sz="2000" dirty="0"/>
              <a:t>: string int, public system;</a:t>
            </a:r>
            <a:endParaRPr lang="vi-VN" sz="2000" dirty="0"/>
          </a:p>
          <a:p>
            <a:pPr lvl="0"/>
            <a:r>
              <a:rPr lang="en-US" sz="2000" dirty="0" err="1"/>
              <a:t>Không</a:t>
            </a:r>
            <a:r>
              <a:rPr lang="en-US" sz="2000" dirty="0"/>
              <a:t> </a:t>
            </a:r>
            <a:r>
              <a:rPr lang="en-US" sz="2000" dirty="0" err="1"/>
              <a:t>thêm</a:t>
            </a:r>
            <a:r>
              <a:rPr lang="en-US" sz="2000" dirty="0"/>
              <a:t> </a:t>
            </a:r>
            <a:r>
              <a:rPr lang="en-US" sz="2000" dirty="0" err="1"/>
              <a:t>các</a:t>
            </a:r>
            <a:r>
              <a:rPr lang="en-US" sz="2000" dirty="0"/>
              <a:t> </a:t>
            </a:r>
            <a:r>
              <a:rPr lang="en-US" sz="2000" dirty="0" err="1"/>
              <a:t>tiền</a:t>
            </a:r>
            <a:r>
              <a:rPr lang="en-US" sz="2000" dirty="0"/>
              <a:t> </a:t>
            </a:r>
            <a:r>
              <a:rPr lang="en-US" sz="2000" dirty="0" err="1"/>
              <a:t>tố</a:t>
            </a:r>
            <a:r>
              <a:rPr lang="en-US" sz="2000" dirty="0"/>
              <a:t> </a:t>
            </a:r>
            <a:r>
              <a:rPr lang="en-US" sz="2000" dirty="0" err="1"/>
              <a:t>hoặc</a:t>
            </a:r>
            <a:r>
              <a:rPr lang="en-US" sz="2000" dirty="0"/>
              <a:t> </a:t>
            </a:r>
            <a:r>
              <a:rPr lang="en-US" sz="2000" dirty="0" err="1"/>
              <a:t>hậu</a:t>
            </a:r>
            <a:r>
              <a:rPr lang="en-US" sz="2000" dirty="0"/>
              <a:t> </a:t>
            </a:r>
            <a:r>
              <a:rPr lang="en-US" sz="2000" dirty="0" err="1"/>
              <a:t>tố</a:t>
            </a:r>
            <a:r>
              <a:rPr lang="en-US" sz="2000" dirty="0"/>
              <a:t> </a:t>
            </a:r>
            <a:r>
              <a:rPr lang="en-US" sz="2000" dirty="0" err="1"/>
              <a:t>không</a:t>
            </a:r>
            <a:r>
              <a:rPr lang="en-US" sz="2000" dirty="0"/>
              <a:t> </a:t>
            </a:r>
            <a:r>
              <a:rPr lang="en-US" sz="2000" dirty="0" err="1"/>
              <a:t>có</a:t>
            </a:r>
            <a:r>
              <a:rPr lang="en-US" sz="2000" dirty="0"/>
              <a:t> </a:t>
            </a:r>
            <a:r>
              <a:rPr lang="en-US" sz="2000" dirty="0" err="1"/>
              <a:t>nghĩa</a:t>
            </a:r>
            <a:endParaRPr lang="en-US" sz="2000" dirty="0"/>
          </a:p>
          <a:p>
            <a:pPr lvl="0"/>
            <a:endParaRPr lang="vi-VN" sz="2000" dirty="0"/>
          </a:p>
          <a:p>
            <a:pPr lvl="0"/>
            <a:endParaRPr lang="en-US" sz="2000" dirty="0"/>
          </a:p>
          <a:p>
            <a:pPr lvl="0"/>
            <a:endParaRPr lang="en-US" sz="2000" dirty="0"/>
          </a:p>
          <a:p>
            <a:pPr lvl="0"/>
            <a:r>
              <a:rPr lang="en-US" sz="2000" dirty="0" err="1"/>
              <a:t>Sử</a:t>
            </a:r>
            <a:r>
              <a:rPr lang="en-US" sz="2000" dirty="0"/>
              <a:t> </a:t>
            </a:r>
            <a:r>
              <a:rPr lang="en-US" sz="2000" dirty="0" err="1"/>
              <a:t>dụng</a:t>
            </a:r>
            <a:r>
              <a:rPr lang="en-US" sz="2000" dirty="0"/>
              <a:t> </a:t>
            </a:r>
            <a:r>
              <a:rPr lang="en-US" sz="2000" dirty="0" err="1"/>
              <a:t>các</a:t>
            </a:r>
            <a:r>
              <a:rPr lang="en-US" sz="2000" dirty="0"/>
              <a:t> </a:t>
            </a:r>
            <a:r>
              <a:rPr lang="en-US" sz="2000" dirty="0" err="1"/>
              <a:t>tiền</a:t>
            </a:r>
            <a:r>
              <a:rPr lang="en-US" sz="2000" dirty="0"/>
              <a:t> </a:t>
            </a:r>
            <a:r>
              <a:rPr lang="en-US" sz="2000" dirty="0" err="1"/>
              <a:t>tố</a:t>
            </a:r>
            <a:r>
              <a:rPr lang="en-US" sz="2000" dirty="0"/>
              <a:t> </a:t>
            </a:r>
            <a:r>
              <a:rPr lang="en-US" sz="2000" dirty="0" err="1"/>
              <a:t>biến</a:t>
            </a:r>
            <a:r>
              <a:rPr lang="en-US" sz="2000" dirty="0"/>
              <a:t> </a:t>
            </a:r>
            <a:r>
              <a:rPr lang="en-US" sz="2000" dirty="0" err="1"/>
              <a:t>boolean</a:t>
            </a:r>
            <a:r>
              <a:rPr lang="en-US" sz="2000" dirty="0"/>
              <a:t> </a:t>
            </a:r>
            <a:r>
              <a:rPr lang="en-US" sz="2000" dirty="0" err="1"/>
              <a:t>bằng</a:t>
            </a:r>
            <a:r>
              <a:rPr lang="en-US" sz="2000" dirty="0"/>
              <a:t> “Is”, “Can”, “Has”</a:t>
            </a:r>
            <a:endParaRPr lang="vi-VN" sz="2000" dirty="0"/>
          </a:p>
          <a:p>
            <a:endParaRPr lang="vi-VN" sz="2000" dirty="0"/>
          </a:p>
        </p:txBody>
      </p:sp>
      <p:sp>
        <p:nvSpPr>
          <p:cNvPr id="4" name="Date Placeholder 3"/>
          <p:cNvSpPr>
            <a:spLocks noGrp="1"/>
          </p:cNvSpPr>
          <p:nvPr>
            <p:ph type="dt" sz="half" idx="10"/>
          </p:nvPr>
        </p:nvSpPr>
        <p:spPr/>
        <p:txBody>
          <a:bodyPr/>
          <a:lstStyle/>
          <a:p>
            <a:fld id="{DCC88F72-7763-457A-9A71-7A482193D398}"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21</a:t>
            </a:fld>
            <a:r>
              <a:rPr lang="vi-VN"/>
              <a:t>/47</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4633740"/>
            <a:ext cx="3732415"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3306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Toán tử trong C#</a:t>
            </a:r>
            <a:endParaRPr lang="vi-VN"/>
          </a:p>
        </p:txBody>
      </p:sp>
      <p:sp>
        <p:nvSpPr>
          <p:cNvPr id="3" name="Content Placeholder 2"/>
          <p:cNvSpPr>
            <a:spLocks noGrp="1"/>
          </p:cNvSpPr>
          <p:nvPr>
            <p:ph idx="1"/>
          </p:nvPr>
        </p:nvSpPr>
        <p:spPr/>
        <p:txBody>
          <a:bodyPr/>
          <a:lstStyle/>
          <a:p>
            <a:r>
              <a:rPr lang="en-US" dirty="0" err="1"/>
              <a:t>Toán</a:t>
            </a:r>
            <a:r>
              <a:rPr lang="en-US" dirty="0"/>
              <a:t> </a:t>
            </a:r>
            <a:r>
              <a:rPr lang="en-US" dirty="0" err="1"/>
              <a:t>tử</a:t>
            </a:r>
            <a:r>
              <a:rPr lang="en-US" dirty="0"/>
              <a:t> </a:t>
            </a:r>
            <a:r>
              <a:rPr lang="en-US" dirty="0" err="1"/>
              <a:t>số</a:t>
            </a:r>
            <a:r>
              <a:rPr lang="en-US" dirty="0"/>
              <a:t> </a:t>
            </a:r>
            <a:r>
              <a:rPr lang="en-US" dirty="0" err="1"/>
              <a:t>học</a:t>
            </a:r>
            <a:r>
              <a:rPr lang="en-US" dirty="0"/>
              <a:t>: +, -, *, /, %, ^, ++, --</a:t>
            </a:r>
          </a:p>
          <a:p>
            <a:r>
              <a:rPr lang="en-US" dirty="0" err="1"/>
              <a:t>Toán</a:t>
            </a:r>
            <a:r>
              <a:rPr lang="en-US" dirty="0"/>
              <a:t> </a:t>
            </a:r>
            <a:r>
              <a:rPr lang="en-US" dirty="0" err="1"/>
              <a:t>tử</a:t>
            </a:r>
            <a:r>
              <a:rPr lang="en-US" dirty="0"/>
              <a:t> </a:t>
            </a:r>
            <a:r>
              <a:rPr lang="en-US" dirty="0" err="1"/>
              <a:t>quan</a:t>
            </a:r>
            <a:r>
              <a:rPr lang="en-US" dirty="0"/>
              <a:t> </a:t>
            </a:r>
            <a:r>
              <a:rPr lang="en-US" dirty="0" err="1"/>
              <a:t>hệ</a:t>
            </a:r>
            <a:r>
              <a:rPr lang="en-US" dirty="0"/>
              <a:t>: ==, !=, &gt;, &gt;=, &lt;, &lt;=</a:t>
            </a:r>
          </a:p>
          <a:p>
            <a:r>
              <a:rPr lang="en-US" dirty="0" err="1"/>
              <a:t>Toán</a:t>
            </a:r>
            <a:r>
              <a:rPr lang="en-US" dirty="0"/>
              <a:t> </a:t>
            </a:r>
            <a:r>
              <a:rPr lang="en-US" dirty="0" err="1"/>
              <a:t>tử</a:t>
            </a:r>
            <a:r>
              <a:rPr lang="en-US" dirty="0"/>
              <a:t> logic: &amp;&amp;, ||, !</a:t>
            </a:r>
          </a:p>
          <a:p>
            <a:r>
              <a:rPr lang="en-US" dirty="0" err="1"/>
              <a:t>Toán</a:t>
            </a:r>
            <a:r>
              <a:rPr lang="en-US" dirty="0"/>
              <a:t> </a:t>
            </a:r>
            <a:r>
              <a:rPr lang="en-US" dirty="0" err="1"/>
              <a:t>tử</a:t>
            </a:r>
            <a:r>
              <a:rPr lang="en-US" dirty="0"/>
              <a:t> </a:t>
            </a:r>
            <a:r>
              <a:rPr lang="en-US" dirty="0" err="1"/>
              <a:t>gán</a:t>
            </a:r>
            <a:r>
              <a:rPr lang="en-US" dirty="0"/>
              <a:t>: =, +=, -=, /=, *=, %=</a:t>
            </a:r>
          </a:p>
          <a:p>
            <a:r>
              <a:rPr lang="en-US" dirty="0" err="1"/>
              <a:t>Toán</a:t>
            </a:r>
            <a:r>
              <a:rPr lang="en-US" dirty="0"/>
              <a:t> </a:t>
            </a:r>
            <a:r>
              <a:rPr lang="en-US" dirty="0" err="1"/>
              <a:t>tử</a:t>
            </a:r>
            <a:r>
              <a:rPr lang="en-US" dirty="0"/>
              <a:t> 3 </a:t>
            </a:r>
            <a:r>
              <a:rPr lang="en-US" dirty="0" err="1"/>
              <a:t>ngôi</a:t>
            </a:r>
            <a:r>
              <a:rPr lang="en-US" dirty="0"/>
              <a:t>:</a:t>
            </a:r>
          </a:p>
          <a:p>
            <a:pPr marL="0" indent="0">
              <a:buNone/>
            </a:pPr>
            <a:r>
              <a:rPr lang="en-US" dirty="0"/>
              <a:t> </a:t>
            </a:r>
            <a:r>
              <a:rPr lang="en-US" sz="2400" dirty="0"/>
              <a:t>(</a:t>
            </a:r>
            <a:r>
              <a:rPr lang="en-US" sz="2400" dirty="0" err="1"/>
              <a:t>biểu</a:t>
            </a:r>
            <a:r>
              <a:rPr lang="en-US" sz="2400" dirty="0"/>
              <a:t> </a:t>
            </a:r>
            <a:r>
              <a:rPr lang="en-US" sz="2400" dirty="0" err="1"/>
              <a:t>thức</a:t>
            </a:r>
            <a:r>
              <a:rPr lang="en-US" sz="2400" dirty="0"/>
              <a:t> </a:t>
            </a:r>
            <a:r>
              <a:rPr lang="en-US" sz="2400" dirty="0" err="1"/>
              <a:t>điều</a:t>
            </a:r>
            <a:r>
              <a:rPr lang="en-US" sz="2400" dirty="0"/>
              <a:t> </a:t>
            </a:r>
            <a:r>
              <a:rPr lang="en-US" sz="2400" dirty="0" err="1"/>
              <a:t>kiện</a:t>
            </a:r>
            <a:r>
              <a:rPr lang="en-US" sz="2400" dirty="0"/>
              <a:t>) ? (</a:t>
            </a:r>
            <a:r>
              <a:rPr lang="en-US" sz="2400" dirty="0" err="1"/>
              <a:t>biểu</a:t>
            </a:r>
            <a:r>
              <a:rPr lang="en-US" sz="2400" dirty="0"/>
              <a:t> </a:t>
            </a:r>
            <a:r>
              <a:rPr lang="en-US" sz="2400" dirty="0" err="1"/>
              <a:t>thức</a:t>
            </a:r>
            <a:r>
              <a:rPr lang="en-US" sz="2400" dirty="0"/>
              <a:t> 1): (</a:t>
            </a:r>
            <a:r>
              <a:rPr lang="en-US" sz="2400" dirty="0" err="1"/>
              <a:t>biểu</a:t>
            </a:r>
            <a:r>
              <a:rPr lang="en-US" sz="2400" dirty="0"/>
              <a:t> </a:t>
            </a:r>
            <a:r>
              <a:rPr lang="en-US" sz="2400" dirty="0" err="1"/>
              <a:t>thức</a:t>
            </a:r>
            <a:r>
              <a:rPr lang="en-US" sz="2400" dirty="0"/>
              <a:t> 2)</a:t>
            </a:r>
          </a:p>
          <a:p>
            <a:pPr marL="0" indent="0">
              <a:buNone/>
            </a:pPr>
            <a:r>
              <a:rPr lang="en-US" sz="2400" b="1" dirty="0" err="1"/>
              <a:t>Ví</a:t>
            </a:r>
            <a:r>
              <a:rPr lang="en-US" sz="2400" b="1" dirty="0"/>
              <a:t> </a:t>
            </a:r>
            <a:r>
              <a:rPr lang="en-US" sz="2400" b="1" dirty="0" err="1"/>
              <a:t>dụ</a:t>
            </a:r>
            <a:r>
              <a:rPr lang="en-US" sz="2400" b="1" dirty="0"/>
              <a:t>:</a:t>
            </a:r>
            <a:r>
              <a:rPr lang="en-US" sz="2400" dirty="0"/>
              <a:t>  a = a&gt;</a:t>
            </a:r>
            <a:r>
              <a:rPr lang="en-US" sz="2400" dirty="0" err="1"/>
              <a:t>b?a-b:b-a</a:t>
            </a:r>
            <a:r>
              <a:rPr lang="en-US" sz="2400" dirty="0"/>
              <a:t>;</a:t>
            </a:r>
            <a:endParaRPr lang="vi-VN" sz="2400" dirty="0"/>
          </a:p>
        </p:txBody>
      </p:sp>
      <p:sp>
        <p:nvSpPr>
          <p:cNvPr id="4" name="Date Placeholder 3"/>
          <p:cNvSpPr>
            <a:spLocks noGrp="1"/>
          </p:cNvSpPr>
          <p:nvPr>
            <p:ph type="dt" sz="half" idx="10"/>
          </p:nvPr>
        </p:nvSpPr>
        <p:spPr/>
        <p:txBody>
          <a:bodyPr/>
          <a:lstStyle/>
          <a:p>
            <a:fld id="{4C3498F3-D593-47B7-9CF7-AE6327B8B740}"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22</a:t>
            </a:fld>
            <a:r>
              <a:rPr lang="vi-VN"/>
              <a:t>/47</a:t>
            </a:r>
          </a:p>
        </p:txBody>
      </p:sp>
    </p:spTree>
    <p:extLst>
      <p:ext uri="{BB962C8B-B14F-4D97-AF65-F5344CB8AC3E}">
        <p14:creationId xmlns:p14="http://schemas.microsoft.com/office/powerpoint/2010/main" val="236473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Toán tử trong C#</a:t>
            </a:r>
            <a:endParaRPr lang="vi-VN"/>
          </a:p>
        </p:txBody>
      </p:sp>
      <p:sp>
        <p:nvSpPr>
          <p:cNvPr id="3" name="Content Placeholder 2"/>
          <p:cNvSpPr>
            <a:spLocks noGrp="1"/>
          </p:cNvSpPr>
          <p:nvPr>
            <p:ph idx="1"/>
          </p:nvPr>
        </p:nvSpPr>
        <p:spPr>
          <a:xfrm>
            <a:off x="457200" y="1052736"/>
            <a:ext cx="8229600" cy="5233784"/>
          </a:xfrm>
        </p:spPr>
        <p:txBody>
          <a:bodyPr/>
          <a:lstStyle/>
          <a:p>
            <a:r>
              <a:rPr lang="en-US" dirty="0" err="1"/>
              <a:t>Độ</a:t>
            </a:r>
            <a:r>
              <a:rPr lang="en-US" dirty="0"/>
              <a:t> </a:t>
            </a:r>
            <a:r>
              <a:rPr lang="en-US" dirty="0" err="1"/>
              <a:t>ưu</a:t>
            </a:r>
            <a:r>
              <a:rPr lang="en-US" dirty="0"/>
              <a:t> </a:t>
            </a:r>
            <a:r>
              <a:rPr lang="en-US" dirty="0" err="1"/>
              <a:t>tiên</a:t>
            </a:r>
            <a:r>
              <a:rPr lang="en-US" dirty="0"/>
              <a:t> </a:t>
            </a:r>
            <a:r>
              <a:rPr lang="en-US" dirty="0" err="1"/>
              <a:t>của</a:t>
            </a:r>
            <a:r>
              <a:rPr lang="en-US" dirty="0"/>
              <a:t> </a:t>
            </a:r>
            <a:r>
              <a:rPr lang="en-US" dirty="0" err="1"/>
              <a:t>toán</a:t>
            </a:r>
            <a:r>
              <a:rPr lang="en-US" dirty="0"/>
              <a:t> </a:t>
            </a:r>
            <a:r>
              <a:rPr lang="en-US" dirty="0" err="1"/>
              <a:t>tử</a:t>
            </a:r>
            <a:endParaRPr lang="en-US" dirty="0"/>
          </a:p>
          <a:p>
            <a:endParaRPr lang="en-US" dirty="0"/>
          </a:p>
          <a:p>
            <a:endParaRPr lang="en-US" dirty="0"/>
          </a:p>
          <a:p>
            <a:endParaRPr lang="en-US" dirty="0"/>
          </a:p>
          <a:p>
            <a:endParaRPr lang="en-US" dirty="0"/>
          </a:p>
          <a:p>
            <a:r>
              <a:rPr lang="en-US" dirty="0" err="1"/>
              <a:t>Thứ</a:t>
            </a:r>
            <a:r>
              <a:rPr lang="en-US" dirty="0"/>
              <a:t> </a:t>
            </a:r>
            <a:r>
              <a:rPr lang="en-US" dirty="0" err="1"/>
              <a:t>tự</a:t>
            </a:r>
            <a:r>
              <a:rPr lang="en-US" dirty="0"/>
              <a:t> </a:t>
            </a:r>
            <a:r>
              <a:rPr lang="en-US" dirty="0" err="1"/>
              <a:t>ưu</a:t>
            </a:r>
            <a:r>
              <a:rPr lang="en-US" dirty="0"/>
              <a:t> </a:t>
            </a:r>
            <a:r>
              <a:rPr lang="en-US" dirty="0" err="1"/>
              <a:t>tiên</a:t>
            </a:r>
            <a:r>
              <a:rPr lang="en-US" dirty="0"/>
              <a:t> </a:t>
            </a:r>
            <a:r>
              <a:rPr lang="en-US" dirty="0" err="1"/>
              <a:t>giữa</a:t>
            </a:r>
            <a:r>
              <a:rPr lang="en-US" dirty="0"/>
              <a:t> </a:t>
            </a:r>
            <a:r>
              <a:rPr lang="en-US" dirty="0" err="1"/>
              <a:t>các</a:t>
            </a:r>
            <a:r>
              <a:rPr lang="en-US" dirty="0"/>
              <a:t> </a:t>
            </a:r>
            <a:r>
              <a:rPr lang="en-US" dirty="0" err="1"/>
              <a:t>kiểu</a:t>
            </a:r>
            <a:r>
              <a:rPr lang="en-US" dirty="0"/>
              <a:t> </a:t>
            </a:r>
            <a:r>
              <a:rPr lang="en-US" dirty="0" err="1"/>
              <a:t>toán</a:t>
            </a:r>
            <a:r>
              <a:rPr lang="en-US" dirty="0"/>
              <a:t> </a:t>
            </a:r>
            <a:r>
              <a:rPr lang="en-US" dirty="0" err="1"/>
              <a:t>tử</a:t>
            </a:r>
            <a:endParaRPr lang="vi-VN" dirty="0"/>
          </a:p>
        </p:txBody>
      </p:sp>
      <p:sp>
        <p:nvSpPr>
          <p:cNvPr id="4" name="Date Placeholder 3"/>
          <p:cNvSpPr>
            <a:spLocks noGrp="1"/>
          </p:cNvSpPr>
          <p:nvPr>
            <p:ph type="dt" sz="half" idx="10"/>
          </p:nvPr>
        </p:nvSpPr>
        <p:spPr/>
        <p:txBody>
          <a:bodyPr/>
          <a:lstStyle/>
          <a:p>
            <a:fld id="{E790D685-8428-41A2-81B1-1290C03CCF17}"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23</a:t>
            </a:fld>
            <a:r>
              <a:rPr lang="vi-VN"/>
              <a:t>/47</a:t>
            </a:r>
          </a:p>
        </p:txBody>
      </p:sp>
      <p:graphicFrame>
        <p:nvGraphicFramePr>
          <p:cNvPr id="6" name="Group 103"/>
          <p:cNvGraphicFramePr>
            <a:graphicFrameLocks/>
          </p:cNvGraphicFramePr>
          <p:nvPr>
            <p:extLst>
              <p:ext uri="{D42A27DB-BD31-4B8C-83A1-F6EECF244321}">
                <p14:modId xmlns:p14="http://schemas.microsoft.com/office/powerpoint/2010/main" val="3917771841"/>
              </p:ext>
            </p:extLst>
          </p:nvPr>
        </p:nvGraphicFramePr>
        <p:xfrm>
          <a:off x="1115616" y="1709937"/>
          <a:ext cx="6696744" cy="2448274"/>
        </p:xfrm>
        <a:graphic>
          <a:graphicData uri="http://schemas.openxmlformats.org/drawingml/2006/table">
            <a:tbl>
              <a:tblPr>
                <a:tableStyleId>{E8B1032C-EA38-4F05-BA0D-38AFFFC7BED3}</a:tableStyleId>
              </a:tblPr>
              <a:tblGrid>
                <a:gridCol w="1612179">
                  <a:extLst>
                    <a:ext uri="{9D8B030D-6E8A-4147-A177-3AD203B41FA5}">
                      <a16:colId xmlns:a16="http://schemas.microsoft.com/office/drawing/2014/main" val="20000"/>
                    </a:ext>
                  </a:extLst>
                </a:gridCol>
                <a:gridCol w="1310037">
                  <a:extLst>
                    <a:ext uri="{9D8B030D-6E8A-4147-A177-3AD203B41FA5}">
                      <a16:colId xmlns:a16="http://schemas.microsoft.com/office/drawing/2014/main" val="20001"/>
                    </a:ext>
                  </a:extLst>
                </a:gridCol>
                <a:gridCol w="3774528">
                  <a:extLst>
                    <a:ext uri="{9D8B030D-6E8A-4147-A177-3AD203B41FA5}">
                      <a16:colId xmlns:a16="http://schemas.microsoft.com/office/drawing/2014/main" val="20002"/>
                    </a:ext>
                  </a:extLst>
                </a:gridCol>
              </a:tblGrid>
              <a:tr h="429223">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err="1">
                          <a:ln>
                            <a:noFill/>
                          </a:ln>
                          <a:effectLst/>
                        </a:rPr>
                        <a:t>Loại</a:t>
                      </a:r>
                      <a:r>
                        <a:rPr kumimoji="0" lang="en-US" sz="2000" u="none" strike="noStrike" cap="none" normalizeH="0" baseline="0" dirty="0">
                          <a:ln>
                            <a:noFill/>
                          </a:ln>
                          <a:effectLst/>
                        </a:rPr>
                        <a:t> </a:t>
                      </a:r>
                      <a:r>
                        <a:rPr kumimoji="0" lang="en-US" sz="2000" u="none" strike="noStrike" cap="none" normalizeH="0" baseline="0" dirty="0" err="1">
                          <a:ln>
                            <a:noFill/>
                          </a:ln>
                          <a:effectLst/>
                        </a:rPr>
                        <a:t>toán</a:t>
                      </a:r>
                      <a:r>
                        <a:rPr kumimoji="0" lang="en-US" sz="2000" u="none" strike="noStrike" cap="none" normalizeH="0" baseline="0" dirty="0">
                          <a:ln>
                            <a:noFill/>
                          </a:ln>
                          <a:effectLst/>
                        </a:rPr>
                        <a:t> </a:t>
                      </a:r>
                      <a:r>
                        <a:rPr kumimoji="0" lang="en-US" sz="2000" u="none" strike="noStrike" cap="none" normalizeH="0" baseline="0" dirty="0" err="1">
                          <a:ln>
                            <a:noFill/>
                          </a:ln>
                          <a:effectLst/>
                        </a:rPr>
                        <a:t>tử</a:t>
                      </a:r>
                      <a:endParaRPr kumimoji="0" lang="en-US" sz="2000" b="1" i="0" u="none" strike="noStrike" cap="none" normalizeH="0" baseline="0" dirty="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Toán tử</a:t>
                      </a:r>
                      <a:endParaRPr kumimoji="0" lang="en-US" sz="2000" b="1"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Tính kết hợp</a:t>
                      </a:r>
                      <a:endParaRPr kumimoji="0" lang="en-US" sz="2000" b="1" i="0" u="none" strike="noStrike" cap="none" normalizeH="0" baseline="0">
                        <a:ln>
                          <a:noFill/>
                        </a:ln>
                        <a:solidFill>
                          <a:schemeClr val="tx1"/>
                        </a:solidFill>
                        <a:effectLst/>
                        <a:latin typeface="Arial" charset="0"/>
                      </a:endParaRPr>
                    </a:p>
                  </a:txBody>
                  <a:tcPr horzOverflow="overflow"/>
                </a:tc>
                <a:extLst>
                  <a:ext uri="{0D108BD9-81ED-4DB2-BD59-A6C34878D82A}">
                    <a16:rowId xmlns:a16="http://schemas.microsoft.com/office/drawing/2014/main" val="10000"/>
                  </a:ext>
                </a:extLst>
              </a:tr>
              <a:tr h="429223">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Một ngôi</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 , ++ , --</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phải sang trái</a:t>
                      </a:r>
                      <a:endParaRPr kumimoji="0" lang="en-US" sz="2000" b="0" i="0" u="none" strike="noStrike" cap="none" normalizeH="0" baseline="0">
                        <a:ln>
                          <a:noFill/>
                        </a:ln>
                        <a:solidFill>
                          <a:schemeClr val="tx1"/>
                        </a:solidFill>
                        <a:effectLst/>
                        <a:latin typeface="Arial" charset="0"/>
                      </a:endParaRPr>
                    </a:p>
                  </a:txBody>
                  <a:tcPr horzOverflow="overflow"/>
                </a:tc>
                <a:extLst>
                  <a:ext uri="{0D108BD9-81ED-4DB2-BD59-A6C34878D82A}">
                    <a16:rowId xmlns:a16="http://schemas.microsoft.com/office/drawing/2014/main" val="10001"/>
                  </a:ext>
                </a:extLst>
              </a:tr>
              <a:tr h="397457">
                <a:tc rowSpan="4">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Hai ngôi</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a:t>
                      </a:r>
                      <a:endParaRPr kumimoji="0" lang="en-US" sz="2000" b="0" i="0" u="none" strike="noStrike" cap="none" normalizeH="0" baseline="0">
                        <a:ln>
                          <a:noFill/>
                        </a:ln>
                        <a:solidFill>
                          <a:schemeClr val="tx1"/>
                        </a:solidFill>
                        <a:effectLst/>
                        <a:latin typeface="Arial" charset="0"/>
                      </a:endParaRPr>
                    </a:p>
                  </a:txBody>
                  <a:tcPr horzOverflow="overflow"/>
                </a:tc>
                <a:tc rowSpan="3">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err="1">
                          <a:ln>
                            <a:noFill/>
                          </a:ln>
                          <a:effectLst/>
                        </a:rPr>
                        <a:t>trái</a:t>
                      </a:r>
                      <a:r>
                        <a:rPr kumimoji="0" lang="en-US" sz="2000" u="none" strike="noStrike" cap="none" normalizeH="0" baseline="0" dirty="0">
                          <a:ln>
                            <a:noFill/>
                          </a:ln>
                          <a:effectLst/>
                        </a:rPr>
                        <a:t> sang </a:t>
                      </a:r>
                      <a:r>
                        <a:rPr kumimoji="0" lang="en-US" sz="2000" u="none" strike="noStrike" cap="none" normalizeH="0" baseline="0" dirty="0" err="1">
                          <a:ln>
                            <a:noFill/>
                          </a:ln>
                          <a:effectLst/>
                        </a:rPr>
                        <a:t>phải</a:t>
                      </a:r>
                      <a:endParaRPr kumimoji="0" lang="en-US" sz="2000" b="0" i="0" u="none" strike="noStrike" cap="none" normalizeH="0" baseline="0" dirty="0">
                        <a:ln>
                          <a:noFill/>
                        </a:ln>
                        <a:solidFill>
                          <a:schemeClr val="tx1"/>
                        </a:solidFill>
                        <a:effectLst/>
                        <a:latin typeface="Arial" charset="0"/>
                      </a:endParaRPr>
                    </a:p>
                  </a:txBody>
                  <a:tcPr horzOverflow="overflow"/>
                </a:tc>
                <a:extLst>
                  <a:ext uri="{0D108BD9-81ED-4DB2-BD59-A6C34878D82A}">
                    <a16:rowId xmlns:a16="http://schemas.microsoft.com/office/drawing/2014/main" val="10002"/>
                  </a:ext>
                </a:extLst>
              </a:tr>
              <a:tr h="397457">
                <a:tc vMerge="1">
                  <a:txBody>
                    <a:bodyPr/>
                    <a:lstStyle/>
                    <a:p>
                      <a:endParaRPr lang="vi-VN"/>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 /, %</a:t>
                      </a:r>
                      <a:endParaRPr kumimoji="0" lang="en-US" sz="2000" b="0" i="0" u="none" strike="noStrike" cap="none" normalizeH="0" baseline="0">
                        <a:ln>
                          <a:noFill/>
                        </a:ln>
                        <a:solidFill>
                          <a:schemeClr val="tx1"/>
                        </a:solidFill>
                        <a:effectLst/>
                        <a:latin typeface="Arial" charset="0"/>
                      </a:endParaRPr>
                    </a:p>
                  </a:txBody>
                  <a:tcPr horzOverflow="overflow"/>
                </a:tc>
                <a:tc vMerge="1">
                  <a:txBody>
                    <a:bodyPr/>
                    <a:lstStyle/>
                    <a:p>
                      <a:endParaRPr lang="vi-VN"/>
                    </a:p>
                  </a:txBody>
                  <a:tcPr/>
                </a:tc>
                <a:extLst>
                  <a:ext uri="{0D108BD9-81ED-4DB2-BD59-A6C34878D82A}">
                    <a16:rowId xmlns:a16="http://schemas.microsoft.com/office/drawing/2014/main" val="10003"/>
                  </a:ext>
                </a:extLst>
              </a:tr>
              <a:tr h="397457">
                <a:tc vMerge="1">
                  <a:txBody>
                    <a:bodyPr/>
                    <a:lstStyle/>
                    <a:p>
                      <a:endParaRPr lang="vi-VN"/>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 -</a:t>
                      </a:r>
                      <a:endParaRPr kumimoji="0" lang="en-US" sz="2000" b="0" i="0" u="none" strike="noStrike" cap="none" normalizeH="0" baseline="0">
                        <a:ln>
                          <a:noFill/>
                        </a:ln>
                        <a:solidFill>
                          <a:schemeClr val="tx1"/>
                        </a:solidFill>
                        <a:effectLst/>
                        <a:latin typeface="Arial" charset="0"/>
                      </a:endParaRPr>
                    </a:p>
                  </a:txBody>
                  <a:tcPr horzOverflow="overflow"/>
                </a:tc>
                <a:tc vMerge="1">
                  <a:txBody>
                    <a:bodyPr/>
                    <a:lstStyle/>
                    <a:p>
                      <a:endParaRPr lang="vi-VN"/>
                    </a:p>
                  </a:txBody>
                  <a:tcPr/>
                </a:tc>
                <a:extLst>
                  <a:ext uri="{0D108BD9-81ED-4DB2-BD59-A6C34878D82A}">
                    <a16:rowId xmlns:a16="http://schemas.microsoft.com/office/drawing/2014/main" val="10004"/>
                  </a:ext>
                </a:extLst>
              </a:tr>
              <a:tr h="397457">
                <a:tc vMerge="1">
                  <a:txBody>
                    <a:bodyPr/>
                    <a:lstStyle/>
                    <a:p>
                      <a:endParaRPr lang="vi-VN"/>
                    </a:p>
                  </a:txBody>
                  <a:tcPr/>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just"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err="1">
                          <a:ln>
                            <a:noFill/>
                          </a:ln>
                          <a:effectLst/>
                        </a:rPr>
                        <a:t>phải</a:t>
                      </a:r>
                      <a:r>
                        <a:rPr kumimoji="0" lang="en-US" sz="2000" u="none" strike="noStrike" cap="none" normalizeH="0" baseline="0" dirty="0">
                          <a:ln>
                            <a:noFill/>
                          </a:ln>
                          <a:effectLst/>
                        </a:rPr>
                        <a:t> sang </a:t>
                      </a:r>
                      <a:r>
                        <a:rPr kumimoji="0" lang="en-US" sz="2000" u="none" strike="noStrike" cap="none" normalizeH="0" baseline="0" dirty="0" err="1">
                          <a:ln>
                            <a:noFill/>
                          </a:ln>
                          <a:effectLst/>
                        </a:rPr>
                        <a:t>trái</a:t>
                      </a:r>
                      <a:endParaRPr kumimoji="0" lang="en-US" sz="2000" b="0" i="0" u="none" strike="noStrike" cap="none" normalizeH="0" baseline="0" dirty="0">
                        <a:ln>
                          <a:noFill/>
                        </a:ln>
                        <a:solidFill>
                          <a:schemeClr val="tx1"/>
                        </a:solidFill>
                        <a:effectLst/>
                        <a:latin typeface="Arial" charset="0"/>
                      </a:endParaRPr>
                    </a:p>
                  </a:txBody>
                  <a:tcPr horzOverflow="overflow"/>
                </a:tc>
                <a:extLst>
                  <a:ext uri="{0D108BD9-81ED-4DB2-BD59-A6C34878D82A}">
                    <a16:rowId xmlns:a16="http://schemas.microsoft.com/office/drawing/2014/main" val="10005"/>
                  </a:ext>
                </a:extLst>
              </a:tr>
            </a:tbl>
          </a:graphicData>
        </a:graphic>
      </p:graphicFrame>
      <p:graphicFrame>
        <p:nvGraphicFramePr>
          <p:cNvPr id="7" name="Group 85"/>
          <p:cNvGraphicFramePr>
            <a:graphicFrameLocks/>
          </p:cNvGraphicFramePr>
          <p:nvPr>
            <p:extLst>
              <p:ext uri="{D42A27DB-BD31-4B8C-83A1-F6EECF244321}">
                <p14:modId xmlns:p14="http://schemas.microsoft.com/office/powerpoint/2010/main" val="3049613015"/>
              </p:ext>
            </p:extLst>
          </p:nvPr>
        </p:nvGraphicFramePr>
        <p:xfrm>
          <a:off x="1331641" y="4745672"/>
          <a:ext cx="3888432" cy="1584960"/>
        </p:xfrm>
        <a:graphic>
          <a:graphicData uri="http://schemas.openxmlformats.org/drawingml/2006/table">
            <a:tbl>
              <a:tblPr>
                <a:tableStyleId>{E8B1032C-EA38-4F05-BA0D-38AFFFC7BED3}</a:tableStyleId>
              </a:tblPr>
              <a:tblGrid>
                <a:gridCol w="1467333">
                  <a:extLst>
                    <a:ext uri="{9D8B030D-6E8A-4147-A177-3AD203B41FA5}">
                      <a16:colId xmlns:a16="http://schemas.microsoft.com/office/drawing/2014/main" val="20000"/>
                    </a:ext>
                  </a:extLst>
                </a:gridCol>
                <a:gridCol w="2421099">
                  <a:extLst>
                    <a:ext uri="{9D8B030D-6E8A-4147-A177-3AD203B41FA5}">
                      <a16:colId xmlns:a16="http://schemas.microsoft.com/office/drawing/2014/main" val="20001"/>
                    </a:ext>
                  </a:extLst>
                </a:gridCol>
              </a:tblGrid>
              <a:tr h="365368">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Thứ tự</a:t>
                      </a:r>
                      <a:endParaRPr kumimoji="0" lang="en-US" sz="2000" b="1"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Kiểu toán tử</a:t>
                      </a:r>
                      <a:endParaRPr kumimoji="0" lang="en-US" sz="2000" b="1" i="0" u="none" strike="noStrike" cap="none" normalizeH="0" baseline="0">
                        <a:ln>
                          <a:noFill/>
                        </a:ln>
                        <a:solidFill>
                          <a:schemeClr val="tx1"/>
                        </a:solidFill>
                        <a:effectLst/>
                        <a:latin typeface="Arial" charset="0"/>
                      </a:endParaRPr>
                    </a:p>
                  </a:txBody>
                  <a:tcPr horzOverflow="overflow"/>
                </a:tc>
                <a:extLst>
                  <a:ext uri="{0D108BD9-81ED-4DB2-BD59-A6C34878D82A}">
                    <a16:rowId xmlns:a16="http://schemas.microsoft.com/office/drawing/2014/main" val="10000"/>
                  </a:ext>
                </a:extLst>
              </a:tr>
              <a:tr h="365368">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1</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Số học</a:t>
                      </a:r>
                      <a:endParaRPr kumimoji="0" lang="en-US" sz="2000" b="0" i="0" u="none" strike="noStrike" cap="none" normalizeH="0" baseline="0">
                        <a:ln>
                          <a:noFill/>
                        </a:ln>
                        <a:solidFill>
                          <a:schemeClr val="tx1"/>
                        </a:solidFill>
                        <a:effectLst/>
                        <a:latin typeface="Arial" charset="0"/>
                      </a:endParaRPr>
                    </a:p>
                  </a:txBody>
                  <a:tcPr horzOverflow="overflow"/>
                </a:tc>
                <a:extLst>
                  <a:ext uri="{0D108BD9-81ED-4DB2-BD59-A6C34878D82A}">
                    <a16:rowId xmlns:a16="http://schemas.microsoft.com/office/drawing/2014/main" val="10001"/>
                  </a:ext>
                </a:extLst>
              </a:tr>
              <a:tr h="365368">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2</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So sánh (quan hệ)</a:t>
                      </a:r>
                      <a:endParaRPr kumimoji="0" lang="en-US" sz="2000" b="0" i="0" u="none" strike="noStrike" cap="none" normalizeH="0" baseline="0">
                        <a:ln>
                          <a:noFill/>
                        </a:ln>
                        <a:solidFill>
                          <a:schemeClr val="tx1"/>
                        </a:solidFill>
                        <a:effectLst/>
                        <a:latin typeface="Arial" charset="0"/>
                      </a:endParaRPr>
                    </a:p>
                  </a:txBody>
                  <a:tcPr horzOverflow="overflow"/>
                </a:tc>
                <a:extLst>
                  <a:ext uri="{0D108BD9-81ED-4DB2-BD59-A6C34878D82A}">
                    <a16:rowId xmlns:a16="http://schemas.microsoft.com/office/drawing/2014/main" val="10002"/>
                  </a:ext>
                </a:extLst>
              </a:tr>
              <a:tr h="365368">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a:ln>
                            <a:noFill/>
                          </a:ln>
                          <a:effectLst/>
                        </a:rPr>
                        <a:t>3</a:t>
                      </a:r>
                      <a:endParaRPr kumimoji="0" lang="en-US" sz="2000" b="0" i="0" u="none" strike="noStrike" cap="none" normalizeH="0" baseline="0">
                        <a:ln>
                          <a:noFill/>
                        </a:ln>
                        <a:solidFill>
                          <a:schemeClr val="tx1"/>
                        </a:solidFill>
                        <a:effectLst/>
                        <a:latin typeface="Arial" charset="0"/>
                      </a:endParaRPr>
                    </a:p>
                  </a:txBody>
                  <a:tcPr horzOverflow="overflow"/>
                </a:tc>
                <a:tc>
                  <a:txBody>
                    <a:bodyPr/>
                    <a:lstStyle/>
                    <a:p>
                      <a:pPr marL="469900" marR="0" lvl="0" indent="-469900" algn="ctr" defTabSz="914400" rtl="0" eaLnBrk="1" fontAlgn="base" latinLnBrk="0" hangingPunct="1">
                        <a:lnSpc>
                          <a:spcPct val="100000"/>
                        </a:lnSpc>
                        <a:spcBef>
                          <a:spcPct val="0"/>
                        </a:spcBef>
                        <a:spcAft>
                          <a:spcPct val="0"/>
                        </a:spcAft>
                        <a:buClrTx/>
                        <a:buSzTx/>
                        <a:buFontTx/>
                        <a:buNone/>
                        <a:tabLst/>
                      </a:pPr>
                      <a:r>
                        <a:rPr kumimoji="0" lang="en-US" sz="2000" u="none" strike="noStrike" cap="none" normalizeH="0" baseline="0" dirty="0">
                          <a:ln>
                            <a:noFill/>
                          </a:ln>
                          <a:effectLst/>
                        </a:rPr>
                        <a:t>logic</a:t>
                      </a:r>
                      <a:endParaRPr kumimoji="0" lang="en-US" sz="2000" b="0" i="0" u="none" strike="noStrike" cap="none" normalizeH="0" baseline="0" dirty="0">
                        <a:ln>
                          <a:noFill/>
                        </a:ln>
                        <a:solidFill>
                          <a:schemeClr val="tx1"/>
                        </a:solidFill>
                        <a:effectLst/>
                        <a:latin typeface="Arial" charset="0"/>
                      </a:endParaRPr>
                    </a:p>
                  </a:txBody>
                  <a:tcPr horzOverflow="overflow"/>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5276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a:t>
            </a:r>
            <a:r>
              <a:rPr lang="en-US" dirty="0" err="1"/>
              <a:t>Các</a:t>
            </a:r>
            <a:r>
              <a:rPr lang="en-US" dirty="0"/>
              <a:t> </a:t>
            </a:r>
            <a:r>
              <a:rPr lang="en-US" dirty="0" err="1"/>
              <a:t>cấu</a:t>
            </a:r>
            <a:r>
              <a:rPr lang="en-US" dirty="0"/>
              <a:t> </a:t>
            </a:r>
            <a:r>
              <a:rPr lang="en-US" dirty="0" err="1"/>
              <a:t>trúc</a:t>
            </a:r>
            <a:r>
              <a:rPr lang="en-US" dirty="0"/>
              <a:t> </a:t>
            </a:r>
            <a:r>
              <a:rPr lang="en-US" dirty="0" err="1"/>
              <a:t>điều</a:t>
            </a:r>
            <a:r>
              <a:rPr lang="en-US" dirty="0"/>
              <a:t> </a:t>
            </a:r>
            <a:r>
              <a:rPr lang="en-US" dirty="0" err="1"/>
              <a:t>khiển</a:t>
            </a:r>
            <a:endParaRPr lang="vi-VN" dirty="0"/>
          </a:p>
        </p:txBody>
      </p:sp>
      <p:sp>
        <p:nvSpPr>
          <p:cNvPr id="3" name="Content Placeholder 2"/>
          <p:cNvSpPr>
            <a:spLocks noGrp="1"/>
          </p:cNvSpPr>
          <p:nvPr>
            <p:ph idx="1"/>
          </p:nvPr>
        </p:nvSpPr>
        <p:spPr/>
        <p:txBody>
          <a:bodyPr>
            <a:normAutofit fontScale="92500"/>
          </a:bodyPr>
          <a:lstStyle/>
          <a:p>
            <a:r>
              <a:rPr lang="en-US"/>
              <a:t>Câu lệnh:</a:t>
            </a:r>
          </a:p>
          <a:p>
            <a:pPr lvl="1"/>
            <a:r>
              <a:rPr lang="en-US"/>
              <a:t>Chương trình C# là một dãy các câu lệnh (statements)</a:t>
            </a:r>
          </a:p>
          <a:p>
            <a:pPr lvl="1"/>
            <a:r>
              <a:rPr lang="en-US"/>
              <a:t>Mỗi câu lệnh kết thúc bởi dấu “;”</a:t>
            </a:r>
          </a:p>
          <a:p>
            <a:pPr lvl="1"/>
            <a:r>
              <a:rPr lang="en-US"/>
              <a:t>Các câu lệnh được xử lý tuần tự theo chiều từ trên xuống dưới (trừ trường hợp các lệnh nhảy, rẽ nhánh, lặp…)</a:t>
            </a:r>
          </a:p>
          <a:p>
            <a:r>
              <a:rPr lang="en-US"/>
              <a:t>Lệnh nhảy không điều kiện</a:t>
            </a:r>
          </a:p>
          <a:p>
            <a:pPr lvl="1"/>
            <a:r>
              <a:rPr lang="en-US"/>
              <a:t>Có lời gọi một phương thức</a:t>
            </a:r>
          </a:p>
          <a:p>
            <a:pPr lvl="1"/>
            <a:r>
              <a:rPr lang="en-US"/>
              <a:t>Sử dụng các lệnh nhảy không điều kiện: goto, break, continue, return, throw</a:t>
            </a:r>
            <a:endParaRPr lang="vi-VN"/>
          </a:p>
        </p:txBody>
      </p:sp>
      <p:sp>
        <p:nvSpPr>
          <p:cNvPr id="4" name="Date Placeholder 3"/>
          <p:cNvSpPr>
            <a:spLocks noGrp="1"/>
          </p:cNvSpPr>
          <p:nvPr>
            <p:ph type="dt" sz="half" idx="10"/>
          </p:nvPr>
        </p:nvSpPr>
        <p:spPr/>
        <p:txBody>
          <a:bodyPr/>
          <a:lstStyle/>
          <a:p>
            <a:fld id="{D31A48E6-BB05-4E7D-9C91-028A8B98819C}"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24</a:t>
            </a:fld>
            <a:r>
              <a:rPr lang="vi-VN"/>
              <a:t>/47</a:t>
            </a:r>
          </a:p>
        </p:txBody>
      </p:sp>
    </p:spTree>
    <p:extLst>
      <p:ext uri="{BB962C8B-B14F-4D97-AF65-F5344CB8AC3E}">
        <p14:creationId xmlns:p14="http://schemas.microsoft.com/office/powerpoint/2010/main" val="15594384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Lệnh nhảy có điều kiện (rẽ nhánh)</a:t>
            </a:r>
            <a:endParaRPr lang="vi-VN"/>
          </a:p>
        </p:txBody>
      </p:sp>
      <p:sp>
        <p:nvSpPr>
          <p:cNvPr id="3" name="Content Placeholder 2"/>
          <p:cNvSpPr>
            <a:spLocks noGrp="1"/>
          </p:cNvSpPr>
          <p:nvPr>
            <p:ph idx="1"/>
          </p:nvPr>
        </p:nvSpPr>
        <p:spPr/>
        <p:txBody>
          <a:bodyPr/>
          <a:lstStyle/>
          <a:p>
            <a:r>
              <a:rPr lang="en-US"/>
              <a:t>Rẽ nhánh chỉ được thực hiện khi điều kiện rẽ nhánh là đúng (true)</a:t>
            </a:r>
          </a:p>
          <a:p>
            <a:r>
              <a:rPr lang="en-US"/>
              <a:t>Câu lệnh if…else (có thể lồng nhau)</a:t>
            </a:r>
          </a:p>
          <a:p>
            <a:r>
              <a:rPr lang="en-US"/>
              <a:t>Câu lệnh chọn: switch…case</a:t>
            </a:r>
            <a:endParaRPr lang="vi-VN"/>
          </a:p>
        </p:txBody>
      </p:sp>
      <p:sp>
        <p:nvSpPr>
          <p:cNvPr id="4" name="Date Placeholder 3"/>
          <p:cNvSpPr>
            <a:spLocks noGrp="1"/>
          </p:cNvSpPr>
          <p:nvPr>
            <p:ph type="dt" sz="half" idx="10"/>
          </p:nvPr>
        </p:nvSpPr>
        <p:spPr/>
        <p:txBody>
          <a:bodyPr/>
          <a:lstStyle/>
          <a:p>
            <a:fld id="{2EFFAD7C-8647-45E9-9B39-2C726CB128F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25</a:t>
            </a:fld>
            <a:r>
              <a:rPr lang="vi-VN"/>
              <a:t>/47</a:t>
            </a:r>
          </a:p>
        </p:txBody>
      </p:sp>
    </p:spTree>
    <p:extLst>
      <p:ext uri="{BB962C8B-B14F-4D97-AF65-F5344CB8AC3E}">
        <p14:creationId xmlns:p14="http://schemas.microsoft.com/office/powerpoint/2010/main" val="2293295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lệnh if…else</a:t>
            </a:r>
            <a:endParaRPr lang="vi-VN"/>
          </a:p>
        </p:txBody>
      </p:sp>
      <p:sp>
        <p:nvSpPr>
          <p:cNvPr id="3" name="Content Placeholder 2"/>
          <p:cNvSpPr>
            <a:spLocks noGrp="1"/>
          </p:cNvSpPr>
          <p:nvPr>
            <p:ph idx="1"/>
          </p:nvPr>
        </p:nvSpPr>
        <p:spPr/>
        <p:txBody>
          <a:bodyPr>
            <a:normAutofit lnSpcReduction="10000"/>
          </a:bodyPr>
          <a:lstStyle/>
          <a:p>
            <a:r>
              <a:rPr lang="en-US"/>
              <a:t>Cú pháp:</a:t>
            </a:r>
          </a:p>
          <a:p>
            <a:pPr marL="0" indent="0">
              <a:buNone/>
            </a:pPr>
            <a:r>
              <a:rPr lang="en-US" sz="2600" b="1">
                <a:solidFill>
                  <a:srgbClr val="FF0000"/>
                </a:solidFill>
                <a:latin typeface="Courier New" pitchFamily="49" charset="0"/>
                <a:cs typeface="Courier New" pitchFamily="49" charset="0"/>
              </a:rPr>
              <a:t>if</a:t>
            </a:r>
            <a:r>
              <a:rPr lang="en-US" sz="2600">
                <a:solidFill>
                  <a:srgbClr val="FF0000"/>
                </a:solidFill>
                <a:latin typeface="Courier New" pitchFamily="49" charset="0"/>
                <a:cs typeface="Courier New" pitchFamily="49" charset="0"/>
              </a:rPr>
              <a:t> </a:t>
            </a:r>
            <a:r>
              <a:rPr lang="en-US" sz="2600">
                <a:latin typeface="Courier New" pitchFamily="49" charset="0"/>
                <a:cs typeface="Courier New" pitchFamily="49" charset="0"/>
              </a:rPr>
              <a:t>(</a:t>
            </a:r>
            <a:r>
              <a:rPr lang="en-US" sz="2600" b="1">
                <a:solidFill>
                  <a:srgbClr val="0070C0"/>
                </a:solidFill>
                <a:latin typeface="Courier New" pitchFamily="49" charset="0"/>
                <a:cs typeface="Courier New" pitchFamily="49" charset="0"/>
              </a:rPr>
              <a:t>biểu thức điều kiện</a:t>
            </a:r>
            <a:r>
              <a:rPr lang="en-US" sz="2600">
                <a:latin typeface="Courier New" pitchFamily="49" charset="0"/>
                <a:cs typeface="Courier New" pitchFamily="49" charset="0"/>
              </a:rPr>
              <a:t>) &lt;</a:t>
            </a:r>
            <a:r>
              <a:rPr lang="en-US" sz="2600">
                <a:solidFill>
                  <a:srgbClr val="C00000"/>
                </a:solidFill>
                <a:latin typeface="Courier New" pitchFamily="49" charset="0"/>
                <a:cs typeface="Courier New" pitchFamily="49" charset="0"/>
              </a:rPr>
              <a:t>công việc 1</a:t>
            </a:r>
            <a:r>
              <a:rPr lang="en-US" sz="2600">
                <a:latin typeface="Courier New" pitchFamily="49" charset="0"/>
                <a:cs typeface="Courier New" pitchFamily="49" charset="0"/>
              </a:rPr>
              <a:t>&gt;;</a:t>
            </a:r>
          </a:p>
          <a:p>
            <a:pPr marL="0" indent="0">
              <a:buNone/>
            </a:pPr>
            <a:r>
              <a:rPr lang="en-US" sz="2600">
                <a:latin typeface="Courier New" pitchFamily="49" charset="0"/>
                <a:cs typeface="Courier New" pitchFamily="49" charset="0"/>
              </a:rPr>
              <a:t>[</a:t>
            </a:r>
            <a:r>
              <a:rPr lang="en-US" sz="2600" b="1">
                <a:solidFill>
                  <a:srgbClr val="FF0000"/>
                </a:solidFill>
                <a:latin typeface="Courier New" pitchFamily="49" charset="0"/>
                <a:cs typeface="Courier New" pitchFamily="49" charset="0"/>
              </a:rPr>
              <a:t>else</a:t>
            </a:r>
            <a:r>
              <a:rPr lang="en-US" sz="2600">
                <a:solidFill>
                  <a:srgbClr val="FF0000"/>
                </a:solidFill>
                <a:latin typeface="Courier New" pitchFamily="49" charset="0"/>
                <a:cs typeface="Courier New" pitchFamily="49" charset="0"/>
              </a:rPr>
              <a:t> </a:t>
            </a:r>
            <a:r>
              <a:rPr lang="en-US" sz="2600">
                <a:latin typeface="Courier New" pitchFamily="49" charset="0"/>
                <a:cs typeface="Courier New" pitchFamily="49" charset="0"/>
              </a:rPr>
              <a:t>&lt;</a:t>
            </a:r>
            <a:r>
              <a:rPr lang="en-US" sz="2600" b="1">
                <a:solidFill>
                  <a:srgbClr val="7030A0"/>
                </a:solidFill>
                <a:latin typeface="Courier New" pitchFamily="49" charset="0"/>
                <a:cs typeface="Courier New" pitchFamily="49" charset="0"/>
              </a:rPr>
              <a:t>công việc 2</a:t>
            </a:r>
            <a:r>
              <a:rPr lang="en-US" sz="2600">
                <a:latin typeface="Courier New" pitchFamily="49" charset="0"/>
                <a:cs typeface="Courier New" pitchFamily="49" charset="0"/>
              </a:rPr>
              <a:t>&gt;;]</a:t>
            </a:r>
          </a:p>
          <a:p>
            <a:r>
              <a:rPr lang="en-US"/>
              <a:t>Thực hiện</a:t>
            </a:r>
          </a:p>
          <a:p>
            <a:pPr marL="0" indent="0">
              <a:buNone/>
            </a:pPr>
            <a:r>
              <a:rPr lang="en-US" sz="2400"/>
              <a:t> Nếu </a:t>
            </a:r>
            <a:r>
              <a:rPr lang="en-US" sz="2600" b="1">
                <a:solidFill>
                  <a:srgbClr val="0070C0"/>
                </a:solidFill>
                <a:latin typeface="Courier New" pitchFamily="49" charset="0"/>
                <a:cs typeface="Courier New" pitchFamily="49" charset="0"/>
              </a:rPr>
              <a:t>biểu thức điều kiện </a:t>
            </a:r>
            <a:r>
              <a:rPr lang="en-US" sz="2400"/>
              <a:t>là True thì </a:t>
            </a:r>
            <a:r>
              <a:rPr lang="en-US" sz="2600">
                <a:solidFill>
                  <a:srgbClr val="C00000"/>
                </a:solidFill>
                <a:latin typeface="Courier New" pitchFamily="49" charset="0"/>
                <a:cs typeface="Courier New" pitchFamily="49" charset="0"/>
              </a:rPr>
              <a:t>Công việc 1 </a:t>
            </a:r>
            <a:r>
              <a:rPr lang="en-US" sz="2400"/>
              <a:t>được thực hiện, ngược lại </a:t>
            </a:r>
            <a:r>
              <a:rPr lang="en-US" sz="2600" b="1">
                <a:solidFill>
                  <a:srgbClr val="7030A0"/>
                </a:solidFill>
                <a:latin typeface="Courier New" pitchFamily="49" charset="0"/>
                <a:cs typeface="Courier New" pitchFamily="49" charset="0"/>
              </a:rPr>
              <a:t>công việc 2 </a:t>
            </a:r>
            <a:r>
              <a:rPr lang="en-US" sz="2400"/>
              <a:t>được thực hiện.</a:t>
            </a:r>
          </a:p>
          <a:p>
            <a:r>
              <a:rPr lang="en-US"/>
              <a:t>Ví dụ:</a:t>
            </a:r>
          </a:p>
          <a:p>
            <a:pPr marL="0" indent="0">
              <a:buNone/>
            </a:pPr>
            <a:r>
              <a:rPr lang="en-US" sz="2400"/>
              <a:t>      Nhập một số, cho biết tính chẵn lẻ của số vừa nhập</a:t>
            </a:r>
            <a:endParaRPr lang="vi-VN" sz="2400"/>
          </a:p>
        </p:txBody>
      </p:sp>
      <p:sp>
        <p:nvSpPr>
          <p:cNvPr id="4" name="Date Placeholder 3"/>
          <p:cNvSpPr>
            <a:spLocks noGrp="1"/>
          </p:cNvSpPr>
          <p:nvPr>
            <p:ph type="dt" sz="half" idx="10"/>
          </p:nvPr>
        </p:nvSpPr>
        <p:spPr/>
        <p:txBody>
          <a:bodyPr/>
          <a:lstStyle/>
          <a:p>
            <a:fld id="{25318A29-89D3-40E8-874B-279E6D7545F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26</a:t>
            </a:fld>
            <a:r>
              <a:rPr lang="vi-VN"/>
              <a:t>/47</a:t>
            </a:r>
          </a:p>
        </p:txBody>
      </p:sp>
    </p:spTree>
    <p:extLst>
      <p:ext uri="{BB962C8B-B14F-4D97-AF65-F5344CB8AC3E}">
        <p14:creationId xmlns:p14="http://schemas.microsoft.com/office/powerpoint/2010/main" val="2376645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câu lệnh if...else</a:t>
            </a:r>
          </a:p>
        </p:txBody>
      </p:sp>
      <p:sp>
        <p:nvSpPr>
          <p:cNvPr id="3" name="Content Placeholder 2"/>
          <p:cNvSpPr>
            <a:spLocks noGrp="1"/>
          </p:cNvSpPr>
          <p:nvPr>
            <p:ph idx="1"/>
          </p:nvPr>
        </p:nvSpPr>
        <p:spPr/>
        <p:txBody>
          <a:bodyPr>
            <a:normAutofit fontScale="85000" lnSpcReduction="20000"/>
          </a:bodyPr>
          <a:lstStyle/>
          <a:p>
            <a:pPr marL="0" indent="0">
              <a:spcBef>
                <a:spcPts val="0"/>
              </a:spcBef>
              <a:buNone/>
            </a:pPr>
            <a:r>
              <a:rPr lang="vi-VN" sz="1800" b="1">
                <a:latin typeface="Courier New" pitchFamily="49" charset="0"/>
                <a:cs typeface="Courier New" pitchFamily="49" charset="0"/>
              </a:rPr>
              <a:t>using System;</a:t>
            </a:r>
          </a:p>
          <a:p>
            <a:pPr marL="0" indent="0">
              <a:spcBef>
                <a:spcPts val="0"/>
              </a:spcBef>
              <a:buNone/>
            </a:pPr>
            <a:r>
              <a:rPr lang="vi-VN" sz="1800" b="1">
                <a:latin typeface="Courier New" pitchFamily="49" charset="0"/>
                <a:cs typeface="Courier New" pitchFamily="49" charset="0"/>
              </a:rPr>
              <a:t>using System.Collections.Generic;</a:t>
            </a:r>
          </a:p>
          <a:p>
            <a:pPr marL="0" indent="0">
              <a:spcBef>
                <a:spcPts val="0"/>
              </a:spcBef>
              <a:buNone/>
            </a:pPr>
            <a:r>
              <a:rPr lang="vi-VN" sz="1800" b="1">
                <a:latin typeface="Courier New" pitchFamily="49" charset="0"/>
                <a:cs typeface="Courier New" pitchFamily="49" charset="0"/>
              </a:rPr>
              <a:t>using System.Text;</a:t>
            </a:r>
          </a:p>
          <a:p>
            <a:pPr marL="0" indent="0">
              <a:spcBef>
                <a:spcPts val="0"/>
              </a:spcBef>
              <a:buNone/>
            </a:pPr>
            <a:r>
              <a:rPr lang="vi-VN" sz="1800" b="1">
                <a:latin typeface="Courier New" pitchFamily="49" charset="0"/>
                <a:cs typeface="Courier New" pitchFamily="49" charset="0"/>
              </a:rPr>
              <a:t>namespace IfElse</a:t>
            </a:r>
          </a:p>
          <a:p>
            <a:pPr marL="0" indent="0">
              <a:spcBef>
                <a:spcPts val="0"/>
              </a:spcBef>
              <a:buNone/>
            </a:pPr>
            <a:r>
              <a:rPr lang="vi-VN" sz="1800" b="1">
                <a:latin typeface="Courier New" pitchFamily="49" charset="0"/>
                <a:cs typeface="Courier New" pitchFamily="49" charset="0"/>
              </a:rPr>
              <a:t>{</a:t>
            </a:r>
          </a:p>
          <a:p>
            <a:pPr marL="0" indent="0">
              <a:spcBef>
                <a:spcPts val="0"/>
              </a:spcBef>
              <a:buNone/>
            </a:pPr>
            <a:r>
              <a:rPr lang="vi-VN" sz="1800" b="1">
                <a:latin typeface="Courier New" pitchFamily="49" charset="0"/>
                <a:cs typeface="Courier New" pitchFamily="49" charset="0"/>
              </a:rPr>
              <a:t>    class Program</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static void Main(string[] args)</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int n;</a:t>
            </a:r>
          </a:p>
          <a:p>
            <a:pPr marL="0" indent="0">
              <a:spcBef>
                <a:spcPts val="0"/>
              </a:spcBef>
              <a:buNone/>
            </a:pPr>
            <a:r>
              <a:rPr lang="vi-VN" sz="1800" b="1">
                <a:latin typeface="Courier New" pitchFamily="49" charset="0"/>
                <a:cs typeface="Courier New" pitchFamily="49" charset="0"/>
              </a:rPr>
              <a:t>            Console.Write("nhap so n:");</a:t>
            </a:r>
          </a:p>
          <a:p>
            <a:pPr marL="0" indent="0">
              <a:spcBef>
                <a:spcPts val="0"/>
              </a:spcBef>
              <a:buNone/>
            </a:pPr>
            <a:r>
              <a:rPr lang="vi-VN" sz="1800" b="1">
                <a:latin typeface="Courier New" pitchFamily="49" charset="0"/>
                <a:cs typeface="Courier New" pitchFamily="49" charset="0"/>
              </a:rPr>
              <a:t>            n = Convert.ToInt32(Console.ReadLine());</a:t>
            </a:r>
          </a:p>
          <a:p>
            <a:pPr marL="0" indent="0">
              <a:spcBef>
                <a:spcPts val="0"/>
              </a:spcBef>
              <a:buNone/>
            </a:pPr>
            <a:r>
              <a:rPr lang="vi-VN" sz="1800" b="1">
                <a:latin typeface="Courier New" pitchFamily="49" charset="0"/>
                <a:cs typeface="Courier New" pitchFamily="49" charset="0"/>
              </a:rPr>
              <a:t>            if ((n % 2) == 0)</a:t>
            </a:r>
          </a:p>
          <a:p>
            <a:pPr marL="0" indent="0">
              <a:spcBef>
                <a:spcPts val="0"/>
              </a:spcBef>
              <a:buNone/>
            </a:pPr>
            <a:r>
              <a:rPr lang="vi-VN" sz="1800" b="1">
                <a:latin typeface="Courier New" pitchFamily="49" charset="0"/>
                <a:cs typeface="Courier New" pitchFamily="49" charset="0"/>
              </a:rPr>
              <a:t>                Console.WriteLine(n + " la so chan");</a:t>
            </a:r>
          </a:p>
          <a:p>
            <a:pPr marL="0" indent="0">
              <a:spcBef>
                <a:spcPts val="0"/>
              </a:spcBef>
              <a:buNone/>
            </a:pPr>
            <a:r>
              <a:rPr lang="it-IT" sz="1800" b="1">
                <a:latin typeface="Courier New" pitchFamily="49" charset="0"/>
                <a:cs typeface="Courier New" pitchFamily="49" charset="0"/>
              </a:rPr>
              <a:t>            else Console.WriteLine(n + " la so le");</a:t>
            </a:r>
          </a:p>
          <a:p>
            <a:pPr marL="0" indent="0">
              <a:spcBef>
                <a:spcPts val="0"/>
              </a:spcBef>
              <a:buNone/>
            </a:pPr>
            <a:r>
              <a:rPr lang="vi-VN" sz="1800" b="1">
                <a:latin typeface="Courier New" pitchFamily="49" charset="0"/>
                <a:cs typeface="Courier New" pitchFamily="49" charset="0"/>
              </a:rPr>
              <a:t>            Console.ReadLine();</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a:t>
            </a:r>
          </a:p>
          <a:p>
            <a:endParaRPr lang="vi-VN" sz="1800"/>
          </a:p>
        </p:txBody>
      </p:sp>
      <p:sp>
        <p:nvSpPr>
          <p:cNvPr id="4" name="Date Placeholder 3"/>
          <p:cNvSpPr>
            <a:spLocks noGrp="1"/>
          </p:cNvSpPr>
          <p:nvPr>
            <p:ph type="dt" sz="half" idx="10"/>
          </p:nvPr>
        </p:nvSpPr>
        <p:spPr/>
        <p:txBody>
          <a:bodyPr/>
          <a:lstStyle/>
          <a:p>
            <a:fld id="{868D952B-865C-4C47-BCF1-32918DE9A648}"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27</a:t>
            </a:fld>
            <a:r>
              <a:rPr lang="vi-VN"/>
              <a:t>/47</a:t>
            </a:r>
          </a:p>
        </p:txBody>
      </p:sp>
    </p:spTree>
    <p:extLst>
      <p:ext uri="{BB962C8B-B14F-4D97-AF65-F5344CB8AC3E}">
        <p14:creationId xmlns:p14="http://schemas.microsoft.com/office/powerpoint/2010/main" val="2837624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switch case</a:t>
            </a:r>
          </a:p>
        </p:txBody>
      </p:sp>
      <p:sp>
        <p:nvSpPr>
          <p:cNvPr id="3" name="Content Placeholder 2"/>
          <p:cNvSpPr>
            <a:spLocks noGrp="1"/>
          </p:cNvSpPr>
          <p:nvPr>
            <p:ph idx="1"/>
          </p:nvPr>
        </p:nvSpPr>
        <p:spPr/>
        <p:txBody>
          <a:bodyPr>
            <a:normAutofit fontScale="85000" lnSpcReduction="20000"/>
          </a:bodyPr>
          <a:lstStyle/>
          <a:p>
            <a:r>
              <a:rPr lang="vi-VN"/>
              <a:t>Cú pháp</a:t>
            </a:r>
          </a:p>
          <a:p>
            <a:pPr marL="0" indent="0">
              <a:spcBef>
                <a:spcPts val="0"/>
              </a:spcBef>
              <a:buNone/>
            </a:pPr>
            <a:r>
              <a:rPr lang="vi-VN" sz="2600" b="1">
                <a:solidFill>
                  <a:srgbClr val="FF0000"/>
                </a:solidFill>
                <a:latin typeface="Courier New" pitchFamily="49" charset="0"/>
                <a:cs typeface="Courier New" pitchFamily="49" charset="0"/>
              </a:rPr>
              <a:t>switch</a:t>
            </a:r>
            <a:r>
              <a:rPr lang="vi-VN"/>
              <a:t> (</a:t>
            </a:r>
            <a:r>
              <a:rPr lang="vi-VN" sz="2600" b="1">
                <a:solidFill>
                  <a:srgbClr val="0070C0"/>
                </a:solidFill>
                <a:latin typeface="Courier New" pitchFamily="49" charset="0"/>
                <a:cs typeface="Courier New" pitchFamily="49" charset="0"/>
              </a:rPr>
              <a:t>biểu thức</a:t>
            </a:r>
            <a:r>
              <a:rPr lang="vi-VN"/>
              <a:t>)</a:t>
            </a:r>
          </a:p>
          <a:p>
            <a:pPr marL="0" indent="0">
              <a:spcBef>
                <a:spcPts val="0"/>
              </a:spcBef>
              <a:buNone/>
            </a:pPr>
            <a:r>
              <a:rPr lang="vi-VN"/>
              <a:t>{</a:t>
            </a:r>
          </a:p>
          <a:p>
            <a:pPr marL="0" indent="0">
              <a:spcBef>
                <a:spcPts val="0"/>
              </a:spcBef>
              <a:buNone/>
            </a:pPr>
            <a:r>
              <a:rPr lang="vi-VN"/>
              <a:t>	</a:t>
            </a:r>
            <a:r>
              <a:rPr lang="vi-VN" sz="2600" b="1">
                <a:solidFill>
                  <a:srgbClr val="FF0000"/>
                </a:solidFill>
                <a:latin typeface="Courier New" pitchFamily="49" charset="0"/>
                <a:cs typeface="Courier New" pitchFamily="49" charset="0"/>
              </a:rPr>
              <a:t>case</a:t>
            </a:r>
            <a:r>
              <a:rPr lang="vi-VN"/>
              <a:t> giá_trị_1: {Các lệnh 1; </a:t>
            </a:r>
            <a:r>
              <a:rPr lang="vi-VN" sz="2600" b="1">
                <a:solidFill>
                  <a:srgbClr val="0070C0"/>
                </a:solidFill>
                <a:latin typeface="Courier New" pitchFamily="49" charset="0"/>
                <a:cs typeface="Courier New" pitchFamily="49" charset="0"/>
              </a:rPr>
              <a:t>break</a:t>
            </a:r>
            <a:r>
              <a:rPr lang="vi-VN"/>
              <a:t>; }</a:t>
            </a:r>
          </a:p>
          <a:p>
            <a:pPr marL="0" indent="0">
              <a:spcBef>
                <a:spcPts val="0"/>
              </a:spcBef>
              <a:buNone/>
            </a:pPr>
            <a:r>
              <a:rPr lang="vi-VN"/>
              <a:t>	...</a:t>
            </a:r>
          </a:p>
          <a:p>
            <a:pPr marL="0" indent="0">
              <a:spcBef>
                <a:spcPts val="0"/>
              </a:spcBef>
              <a:buNone/>
            </a:pPr>
            <a:r>
              <a:rPr lang="vi-VN"/>
              <a:t>	</a:t>
            </a:r>
            <a:r>
              <a:rPr lang="vi-VN" sz="2600" b="1">
                <a:solidFill>
                  <a:srgbClr val="FF0000"/>
                </a:solidFill>
                <a:latin typeface="Courier New" pitchFamily="49" charset="0"/>
                <a:cs typeface="Courier New" pitchFamily="49" charset="0"/>
              </a:rPr>
              <a:t>case</a:t>
            </a:r>
            <a:r>
              <a:rPr lang="vi-VN"/>
              <a:t> giá_trị_n: {Các lệnh n; </a:t>
            </a:r>
            <a:r>
              <a:rPr lang="vi-VN" sz="2600" b="1">
                <a:solidFill>
                  <a:srgbClr val="0070C0"/>
                </a:solidFill>
                <a:latin typeface="Courier New" pitchFamily="49" charset="0"/>
                <a:cs typeface="Courier New" pitchFamily="49" charset="0"/>
              </a:rPr>
              <a:t>break</a:t>
            </a:r>
            <a:r>
              <a:rPr lang="vi-VN"/>
              <a:t>; }</a:t>
            </a:r>
          </a:p>
          <a:p>
            <a:pPr marL="0" indent="0">
              <a:spcBef>
                <a:spcPts val="0"/>
              </a:spcBef>
              <a:buNone/>
            </a:pPr>
            <a:r>
              <a:rPr lang="vi-VN"/>
              <a:t>	[</a:t>
            </a:r>
            <a:r>
              <a:rPr lang="vi-VN" sz="2600" b="1">
                <a:solidFill>
                  <a:srgbClr val="FF0000"/>
                </a:solidFill>
                <a:latin typeface="Courier New" pitchFamily="49" charset="0"/>
                <a:cs typeface="Courier New" pitchFamily="49" charset="0"/>
              </a:rPr>
              <a:t>default</a:t>
            </a:r>
            <a:r>
              <a:rPr lang="vi-VN"/>
              <a:t>: Các lệnh n+1;]</a:t>
            </a:r>
          </a:p>
          <a:p>
            <a:pPr marL="0" indent="0">
              <a:spcBef>
                <a:spcPts val="0"/>
              </a:spcBef>
              <a:buNone/>
            </a:pPr>
            <a:r>
              <a:rPr lang="vi-VN"/>
              <a:t>}</a:t>
            </a:r>
          </a:p>
          <a:p>
            <a:r>
              <a:rPr lang="vi-VN"/>
              <a:t>Thực hiện</a:t>
            </a:r>
          </a:p>
          <a:p>
            <a:pPr marL="0" indent="0">
              <a:buNone/>
            </a:pPr>
            <a:r>
              <a:rPr lang="vi-VN" sz="2400"/>
              <a:t>   Biểu thức có giá trị 1, lệnh 1 thực hiện...</a:t>
            </a:r>
          </a:p>
          <a:p>
            <a:pPr marL="0" indent="0">
              <a:buNone/>
            </a:pPr>
            <a:r>
              <a:rPr lang="vi-VN" sz="2400"/>
              <a:t>   Mặc định, lệnh n+1 được thực hiện</a:t>
            </a:r>
          </a:p>
          <a:p>
            <a:pPr marL="0" indent="0">
              <a:buNone/>
            </a:pPr>
            <a:endParaRPr lang="vi-VN"/>
          </a:p>
        </p:txBody>
      </p:sp>
      <p:sp>
        <p:nvSpPr>
          <p:cNvPr id="4" name="Date Placeholder 3"/>
          <p:cNvSpPr>
            <a:spLocks noGrp="1"/>
          </p:cNvSpPr>
          <p:nvPr>
            <p:ph type="dt" sz="half" idx="10"/>
          </p:nvPr>
        </p:nvSpPr>
        <p:spPr/>
        <p:txBody>
          <a:bodyPr/>
          <a:lstStyle/>
          <a:p>
            <a:fld id="{48BFE97C-C556-4217-96AA-A3CB5E5BE4D0}"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28</a:t>
            </a:fld>
            <a:r>
              <a:rPr lang="vi-VN"/>
              <a:t>/47</a:t>
            </a:r>
          </a:p>
        </p:txBody>
      </p:sp>
    </p:spTree>
    <p:extLst>
      <p:ext uri="{BB962C8B-B14F-4D97-AF65-F5344CB8AC3E}">
        <p14:creationId xmlns:p14="http://schemas.microsoft.com/office/powerpoint/2010/main" val="22844464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câu lệnh switch case</a:t>
            </a:r>
          </a:p>
        </p:txBody>
      </p:sp>
      <p:sp>
        <p:nvSpPr>
          <p:cNvPr id="3" name="Content Placeholder 2"/>
          <p:cNvSpPr>
            <a:spLocks noGrp="1"/>
          </p:cNvSpPr>
          <p:nvPr>
            <p:ph idx="1"/>
          </p:nvPr>
        </p:nvSpPr>
        <p:spPr>
          <a:xfrm>
            <a:off x="762000" y="1143000"/>
            <a:ext cx="8382000" cy="5181600"/>
          </a:xfrm>
        </p:spPr>
        <p:txBody>
          <a:bodyPr>
            <a:normAutofit/>
          </a:bodyPr>
          <a:lstStyle/>
          <a:p>
            <a:r>
              <a:rPr lang="vi-VN" dirty="0" err="1"/>
              <a:t>Nhập</a:t>
            </a:r>
            <a:r>
              <a:rPr lang="vi-VN" dirty="0"/>
              <a:t> </a:t>
            </a:r>
            <a:r>
              <a:rPr lang="vi-VN" dirty="0" err="1"/>
              <a:t>vào</a:t>
            </a:r>
            <a:r>
              <a:rPr lang="vi-VN" dirty="0"/>
              <a:t> </a:t>
            </a:r>
            <a:r>
              <a:rPr lang="vi-VN" dirty="0" err="1"/>
              <a:t>số</a:t>
            </a:r>
            <a:r>
              <a:rPr lang="vi-VN" dirty="0"/>
              <a:t> nguyên, </a:t>
            </a:r>
            <a:r>
              <a:rPr lang="vi-VN" dirty="0" err="1"/>
              <a:t>viết</a:t>
            </a:r>
            <a:r>
              <a:rPr lang="vi-VN" dirty="0"/>
              <a:t> ra </a:t>
            </a:r>
            <a:r>
              <a:rPr lang="vi-VN" dirty="0" err="1"/>
              <a:t>dạng</a:t>
            </a:r>
            <a:r>
              <a:rPr lang="vi-VN" dirty="0"/>
              <a:t> </a:t>
            </a:r>
            <a:r>
              <a:rPr lang="vi-VN" dirty="0" err="1"/>
              <a:t>chữ</a:t>
            </a:r>
            <a:r>
              <a:rPr lang="vi-VN" dirty="0"/>
              <a:t> </a:t>
            </a:r>
            <a:r>
              <a:rPr lang="vi-VN" dirty="0" err="1"/>
              <a:t>của</a:t>
            </a:r>
            <a:r>
              <a:rPr lang="vi-VN" dirty="0"/>
              <a:t> </a:t>
            </a:r>
            <a:r>
              <a:rPr lang="vi-VN" dirty="0" err="1"/>
              <a:t>số</a:t>
            </a:r>
            <a:r>
              <a:rPr lang="vi-VN" dirty="0"/>
              <a:t> </a:t>
            </a:r>
            <a:r>
              <a:rPr lang="vi-VN" dirty="0" err="1"/>
              <a:t>đó</a:t>
            </a:r>
            <a:endParaRPr lang="vi-VN" dirty="0"/>
          </a:p>
          <a:p>
            <a:pPr marL="0" indent="0">
              <a:spcBef>
                <a:spcPts val="0"/>
              </a:spcBef>
              <a:buNone/>
            </a:pPr>
            <a:r>
              <a:rPr lang="vi-VN" sz="1400" b="1" dirty="0" err="1">
                <a:latin typeface="Courier New" pitchFamily="49" charset="0"/>
                <a:cs typeface="Courier New" pitchFamily="49" charset="0"/>
              </a:rPr>
              <a:t>class</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Program</a:t>
            </a:r>
            <a:endParaRPr lang="vi-VN" sz="1400" b="1" dirty="0">
              <a:latin typeface="Courier New" pitchFamily="49" charset="0"/>
              <a:cs typeface="Courier New" pitchFamily="49" charset="0"/>
            </a:endParaRPr>
          </a:p>
          <a:p>
            <a:pPr marL="0" indent="0">
              <a:spcBef>
                <a:spcPts val="0"/>
              </a:spcBef>
              <a:buNone/>
            </a:pPr>
            <a:r>
              <a:rPr lang="vi-VN" sz="1400" b="1" dirty="0">
                <a:latin typeface="Courier New" pitchFamily="49" charset="0"/>
                <a:cs typeface="Courier New" pitchFamily="49" charset="0"/>
              </a:rPr>
              <a:t>    {</a:t>
            </a:r>
          </a:p>
          <a:p>
            <a:pPr marL="0" indent="0">
              <a:spcBef>
                <a:spcPts val="0"/>
              </a:spcBef>
              <a:buNone/>
            </a:pP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static</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void</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Main</a:t>
            </a:r>
            <a:r>
              <a:rPr lang="vi-VN" sz="1400" b="1" dirty="0">
                <a:latin typeface="Courier New" pitchFamily="49" charset="0"/>
                <a:cs typeface="Courier New" pitchFamily="49" charset="0"/>
              </a:rPr>
              <a:t>(</a:t>
            </a:r>
            <a:r>
              <a:rPr lang="vi-VN" sz="1400" b="1" dirty="0" err="1">
                <a:latin typeface="Courier New" pitchFamily="49" charset="0"/>
                <a:cs typeface="Courier New" pitchFamily="49" charset="0"/>
              </a:rPr>
              <a:t>string</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args</a:t>
            </a:r>
            <a:r>
              <a:rPr lang="vi-VN" sz="1400" b="1" dirty="0">
                <a:latin typeface="Courier New" pitchFamily="49" charset="0"/>
                <a:cs typeface="Courier New" pitchFamily="49" charset="0"/>
              </a:rPr>
              <a:t>)</a:t>
            </a:r>
          </a:p>
          <a:p>
            <a:pPr marL="0" indent="0">
              <a:spcBef>
                <a:spcPts val="0"/>
              </a:spcBef>
              <a:buNone/>
            </a:pPr>
            <a:r>
              <a:rPr lang="vi-VN" sz="1400" b="1" dirty="0">
                <a:latin typeface="Courier New" pitchFamily="49" charset="0"/>
                <a:cs typeface="Courier New" pitchFamily="49" charset="0"/>
              </a:rPr>
              <a:t>        {   </a:t>
            </a:r>
            <a:r>
              <a:rPr lang="vi-VN" sz="1400" b="1" dirty="0" err="1">
                <a:latin typeface="Courier New" pitchFamily="49" charset="0"/>
                <a:cs typeface="Courier New" pitchFamily="49" charset="0"/>
              </a:rPr>
              <a:t>int</a:t>
            </a:r>
            <a:r>
              <a:rPr lang="vi-VN" sz="1400" b="1" dirty="0">
                <a:latin typeface="Courier New" pitchFamily="49" charset="0"/>
                <a:cs typeface="Courier New" pitchFamily="49" charset="0"/>
              </a:rPr>
              <a:t> n;</a:t>
            </a:r>
          </a:p>
          <a:p>
            <a:pPr marL="0" indent="0">
              <a:spcBef>
                <a:spcPts val="0"/>
              </a:spcBef>
              <a:buNone/>
            </a:pPr>
            <a:r>
              <a:rPr lang="pt-BR" sz="1400" b="1" dirty="0">
                <a:latin typeface="Courier New" pitchFamily="49" charset="0"/>
                <a:cs typeface="Courier New" pitchFamily="49" charset="0"/>
              </a:rPr>
              <a:t>            Console.Write("nhap so n (0&lt;n&lt;4):");</a:t>
            </a:r>
          </a:p>
          <a:p>
            <a:pPr marL="0" indent="0">
              <a:spcBef>
                <a:spcPts val="0"/>
              </a:spcBef>
              <a:buNone/>
            </a:pPr>
            <a:r>
              <a:rPr lang="vi-VN" sz="1400" b="1" dirty="0">
                <a:latin typeface="Courier New" pitchFamily="49" charset="0"/>
                <a:cs typeface="Courier New" pitchFamily="49" charset="0"/>
              </a:rPr>
              <a:t>            n = Convert.ToInt32(</a:t>
            </a:r>
            <a:r>
              <a:rPr lang="vi-VN" sz="1400" b="1" dirty="0" err="1">
                <a:latin typeface="Courier New" pitchFamily="49" charset="0"/>
                <a:cs typeface="Courier New" pitchFamily="49" charset="0"/>
              </a:rPr>
              <a:t>Console.ReadLine</a:t>
            </a:r>
            <a:r>
              <a:rPr lang="vi-VN" sz="1400" b="1" dirty="0">
                <a:latin typeface="Courier New" pitchFamily="49" charset="0"/>
                <a:cs typeface="Courier New" pitchFamily="49" charset="0"/>
              </a:rPr>
              <a:t>());</a:t>
            </a:r>
          </a:p>
          <a:p>
            <a:pPr marL="0" indent="0">
              <a:spcBef>
                <a:spcPts val="0"/>
              </a:spcBef>
              <a:buNone/>
            </a:pP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switch</a:t>
            </a:r>
            <a:r>
              <a:rPr lang="vi-VN" sz="1400" b="1" dirty="0">
                <a:latin typeface="Courier New" pitchFamily="49" charset="0"/>
                <a:cs typeface="Courier New" pitchFamily="49" charset="0"/>
              </a:rPr>
              <a:t> (n)</a:t>
            </a:r>
          </a:p>
          <a:p>
            <a:pPr marL="0" indent="0">
              <a:spcBef>
                <a:spcPts val="0"/>
              </a:spcBef>
              <a:buNone/>
            </a:pPr>
            <a:r>
              <a:rPr lang="vi-VN" sz="1400" b="1" dirty="0">
                <a:latin typeface="Courier New" pitchFamily="49" charset="0"/>
                <a:cs typeface="Courier New" pitchFamily="49" charset="0"/>
              </a:rPr>
              <a:t>            {</a:t>
            </a:r>
            <a:r>
              <a:rPr lang="en-US" sz="1400" b="1" dirty="0">
                <a:latin typeface="Courier New" pitchFamily="49" charset="0"/>
                <a:cs typeface="Courier New" pitchFamily="49" charset="0"/>
              </a:rPr>
              <a:t>   case 1: { </a:t>
            </a:r>
            <a:r>
              <a:rPr lang="en-US" sz="1400" b="1" dirty="0" err="1">
                <a:latin typeface="Courier New" pitchFamily="49" charset="0"/>
                <a:cs typeface="Courier New" pitchFamily="49" charset="0"/>
              </a:rPr>
              <a:t>Console.WriteLine</a:t>
            </a:r>
            <a:r>
              <a:rPr lang="en-US" sz="1400" b="1" dirty="0">
                <a:latin typeface="Courier New" pitchFamily="49" charset="0"/>
                <a:cs typeface="Courier New" pitchFamily="49" charset="0"/>
              </a:rPr>
              <a:t>(n + ": mot"); break; }</a:t>
            </a:r>
          </a:p>
          <a:p>
            <a:pPr marL="0" indent="0">
              <a:spcBef>
                <a:spcPts val="0"/>
              </a:spcBef>
              <a:buNone/>
            </a:pPr>
            <a:r>
              <a:rPr lang="en-US" sz="1400" b="1" dirty="0">
                <a:latin typeface="Courier New" pitchFamily="49" charset="0"/>
                <a:cs typeface="Courier New" pitchFamily="49" charset="0"/>
              </a:rPr>
              <a:t>                case 2: { </a:t>
            </a:r>
            <a:r>
              <a:rPr lang="en-US" sz="1400" b="1" dirty="0" err="1">
                <a:latin typeface="Courier New" pitchFamily="49" charset="0"/>
                <a:cs typeface="Courier New" pitchFamily="49" charset="0"/>
              </a:rPr>
              <a:t>Console.WriteLine</a:t>
            </a:r>
            <a:r>
              <a:rPr lang="en-US" sz="1400" b="1" dirty="0">
                <a:latin typeface="Courier New" pitchFamily="49" charset="0"/>
                <a:cs typeface="Courier New" pitchFamily="49" charset="0"/>
              </a:rPr>
              <a:t>(n + ": </a:t>
            </a:r>
            <a:r>
              <a:rPr lang="en-US" sz="1400" b="1" dirty="0" err="1">
                <a:latin typeface="Courier New" pitchFamily="49" charset="0"/>
                <a:cs typeface="Courier New" pitchFamily="49" charset="0"/>
              </a:rPr>
              <a:t>hai</a:t>
            </a:r>
            <a:r>
              <a:rPr lang="en-US" sz="1400" b="1" dirty="0">
                <a:latin typeface="Courier New" pitchFamily="49" charset="0"/>
                <a:cs typeface="Courier New" pitchFamily="49" charset="0"/>
              </a:rPr>
              <a:t>"); break; }</a:t>
            </a:r>
          </a:p>
          <a:p>
            <a:pPr marL="0" indent="0">
              <a:spcBef>
                <a:spcPts val="0"/>
              </a:spcBef>
              <a:buNone/>
            </a:pPr>
            <a:r>
              <a:rPr lang="en-US" sz="1400" b="1" dirty="0">
                <a:latin typeface="Courier New" pitchFamily="49" charset="0"/>
                <a:cs typeface="Courier New" pitchFamily="49" charset="0"/>
              </a:rPr>
              <a:t>                case 3: { </a:t>
            </a:r>
            <a:r>
              <a:rPr lang="en-US" sz="1400" b="1" dirty="0" err="1">
                <a:latin typeface="Courier New" pitchFamily="49" charset="0"/>
                <a:cs typeface="Courier New" pitchFamily="49" charset="0"/>
              </a:rPr>
              <a:t>Console.WriteLine</a:t>
            </a:r>
            <a:r>
              <a:rPr lang="en-US" sz="1400" b="1" dirty="0">
                <a:latin typeface="Courier New" pitchFamily="49" charset="0"/>
                <a:cs typeface="Courier New" pitchFamily="49" charset="0"/>
              </a:rPr>
              <a:t>(n + ": </a:t>
            </a:r>
            <a:r>
              <a:rPr lang="en-US" sz="1400" b="1" dirty="0" err="1">
                <a:latin typeface="Courier New" pitchFamily="49" charset="0"/>
                <a:cs typeface="Courier New" pitchFamily="49" charset="0"/>
              </a:rPr>
              <a:t>ba</a:t>
            </a:r>
            <a:r>
              <a:rPr lang="en-US" sz="1400" b="1" dirty="0">
                <a:latin typeface="Courier New" pitchFamily="49" charset="0"/>
                <a:cs typeface="Courier New" pitchFamily="49" charset="0"/>
              </a:rPr>
              <a:t>"); break; }</a:t>
            </a:r>
          </a:p>
          <a:p>
            <a:pPr marL="0" indent="0">
              <a:spcBef>
                <a:spcPts val="0"/>
              </a:spcBef>
              <a:buNone/>
            </a:pP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default</a:t>
            </a:r>
            <a:r>
              <a:rPr lang="vi-VN" sz="1400" b="1" dirty="0">
                <a:latin typeface="Courier New" pitchFamily="49" charset="0"/>
                <a:cs typeface="Courier New" pitchFamily="49" charset="0"/>
              </a:rPr>
              <a:t>:</a:t>
            </a:r>
          </a:p>
          <a:p>
            <a:pPr marL="0" indent="0">
              <a:spcBef>
                <a:spcPts val="0"/>
              </a:spcBef>
              <a:buNone/>
            </a:pPr>
            <a:r>
              <a:rPr lang="vi-VN" sz="1400" b="1" dirty="0">
                <a:latin typeface="Courier New" pitchFamily="49" charset="0"/>
                <a:cs typeface="Courier New" pitchFamily="49" charset="0"/>
              </a:rPr>
              <a:t>                    { </a:t>
            </a:r>
            <a:r>
              <a:rPr lang="vi-VN" sz="1400" b="1" dirty="0" err="1">
                <a:latin typeface="Courier New" pitchFamily="49" charset="0"/>
                <a:cs typeface="Courier New" pitchFamily="49" charset="0"/>
              </a:rPr>
              <a:t>Console.WriteLine</a:t>
            </a:r>
            <a:r>
              <a:rPr lang="vi-VN" sz="1400" b="1" dirty="0">
                <a:latin typeface="Courier New" pitchFamily="49" charset="0"/>
                <a:cs typeface="Courier New" pitchFamily="49" charset="0"/>
              </a:rPr>
              <a:t>(n + " </a:t>
            </a:r>
            <a:r>
              <a:rPr lang="vi-VN" sz="1400" b="1" dirty="0" err="1">
                <a:latin typeface="Courier New" pitchFamily="49" charset="0"/>
                <a:cs typeface="Courier New" pitchFamily="49" charset="0"/>
              </a:rPr>
              <a:t>Khong</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biet</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doc</a:t>
            </a: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break</a:t>
            </a:r>
            <a:r>
              <a:rPr lang="vi-VN" sz="1400" b="1" dirty="0">
                <a:latin typeface="Courier New" pitchFamily="49" charset="0"/>
                <a:cs typeface="Courier New" pitchFamily="49" charset="0"/>
              </a:rPr>
              <a:t>; }</a:t>
            </a:r>
          </a:p>
          <a:p>
            <a:pPr marL="0" indent="0">
              <a:spcBef>
                <a:spcPts val="0"/>
              </a:spcBef>
              <a:buNone/>
            </a:pPr>
            <a:r>
              <a:rPr lang="vi-VN" sz="1400" b="1" dirty="0">
                <a:latin typeface="Courier New" pitchFamily="49" charset="0"/>
                <a:cs typeface="Courier New" pitchFamily="49" charset="0"/>
              </a:rPr>
              <a:t>            }</a:t>
            </a:r>
          </a:p>
          <a:p>
            <a:pPr marL="0" indent="0">
              <a:spcBef>
                <a:spcPts val="0"/>
              </a:spcBef>
              <a:buNone/>
            </a:pPr>
            <a:r>
              <a:rPr lang="vi-VN" sz="1400" b="1" dirty="0">
                <a:latin typeface="Courier New" pitchFamily="49" charset="0"/>
                <a:cs typeface="Courier New" pitchFamily="49" charset="0"/>
              </a:rPr>
              <a:t>            </a:t>
            </a:r>
            <a:r>
              <a:rPr lang="vi-VN" sz="1400" b="1" dirty="0" err="1">
                <a:latin typeface="Courier New" pitchFamily="49" charset="0"/>
                <a:cs typeface="Courier New" pitchFamily="49" charset="0"/>
              </a:rPr>
              <a:t>Console.ReadLine</a:t>
            </a:r>
            <a:r>
              <a:rPr lang="vi-VN" sz="1400" b="1" dirty="0">
                <a:latin typeface="Courier New" pitchFamily="49" charset="0"/>
                <a:cs typeface="Courier New" pitchFamily="49" charset="0"/>
              </a:rPr>
              <a:t>();</a:t>
            </a:r>
          </a:p>
          <a:p>
            <a:pPr marL="0" indent="0">
              <a:spcBef>
                <a:spcPts val="0"/>
              </a:spcBef>
              <a:buNone/>
            </a:pPr>
            <a:r>
              <a:rPr lang="vi-VN" sz="1400" b="1" dirty="0">
                <a:latin typeface="Courier New" pitchFamily="49" charset="0"/>
                <a:cs typeface="Courier New" pitchFamily="49" charset="0"/>
              </a:rPr>
              <a:t>        }</a:t>
            </a:r>
          </a:p>
          <a:p>
            <a:pPr marL="0" indent="0">
              <a:spcBef>
                <a:spcPts val="0"/>
              </a:spcBef>
              <a:buNone/>
            </a:pPr>
            <a:r>
              <a:rPr lang="vi-VN" sz="1400" b="1" dirty="0">
                <a:latin typeface="Courier New" pitchFamily="49" charset="0"/>
                <a:cs typeface="Courier New" pitchFamily="49" charset="0"/>
              </a:rPr>
              <a:t>    }</a:t>
            </a:r>
          </a:p>
          <a:p>
            <a:pPr marL="0" indent="0">
              <a:spcBef>
                <a:spcPts val="0"/>
              </a:spcBef>
              <a:buNone/>
            </a:pPr>
            <a:endParaRPr lang="vi-VN" sz="1400" b="1" dirty="0">
              <a:latin typeface="Courier New" pitchFamily="49" charset="0"/>
              <a:cs typeface="Courier New" pitchFamily="49" charset="0"/>
            </a:endParaRPr>
          </a:p>
          <a:p>
            <a:endParaRPr lang="vi-VN" dirty="0"/>
          </a:p>
          <a:p>
            <a:pPr marL="0" indent="0">
              <a:buNone/>
            </a:pPr>
            <a:endParaRPr lang="vi-VN" dirty="0"/>
          </a:p>
        </p:txBody>
      </p:sp>
      <p:sp>
        <p:nvSpPr>
          <p:cNvPr id="4" name="Date Placeholder 3"/>
          <p:cNvSpPr>
            <a:spLocks noGrp="1"/>
          </p:cNvSpPr>
          <p:nvPr>
            <p:ph type="dt" sz="half" idx="10"/>
          </p:nvPr>
        </p:nvSpPr>
        <p:spPr/>
        <p:txBody>
          <a:bodyPr/>
          <a:lstStyle/>
          <a:p>
            <a:fld id="{4B0960B3-CF77-40BD-BC40-945C9AAA30D5}"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29</a:t>
            </a:fld>
            <a:r>
              <a:rPr lang="vi-VN"/>
              <a:t>/47</a:t>
            </a:r>
          </a:p>
        </p:txBody>
      </p:sp>
    </p:spTree>
    <p:extLst>
      <p:ext uri="{BB962C8B-B14F-4D97-AF65-F5344CB8AC3E}">
        <p14:creationId xmlns:p14="http://schemas.microsoft.com/office/powerpoint/2010/main" val="19523811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lặp</a:t>
            </a:r>
          </a:p>
        </p:txBody>
      </p:sp>
      <p:sp>
        <p:nvSpPr>
          <p:cNvPr id="3" name="Content Placeholder 2"/>
          <p:cNvSpPr>
            <a:spLocks noGrp="1"/>
          </p:cNvSpPr>
          <p:nvPr>
            <p:ph idx="1"/>
          </p:nvPr>
        </p:nvSpPr>
        <p:spPr/>
        <p:txBody>
          <a:bodyPr/>
          <a:lstStyle/>
          <a:p>
            <a:r>
              <a:rPr lang="vi-VN"/>
              <a:t>Câu lệnh lặp for</a:t>
            </a:r>
          </a:p>
          <a:p>
            <a:r>
              <a:rPr lang="vi-VN"/>
              <a:t>Câu lệnh lặp while</a:t>
            </a:r>
          </a:p>
          <a:p>
            <a:r>
              <a:rPr lang="vi-VN"/>
              <a:t>Câu lệnh lặp do...while</a:t>
            </a:r>
          </a:p>
          <a:p>
            <a:r>
              <a:rPr lang="vi-VN"/>
              <a:t>Câu lệnh lặp foreach...in</a:t>
            </a:r>
          </a:p>
        </p:txBody>
      </p:sp>
      <p:sp>
        <p:nvSpPr>
          <p:cNvPr id="4" name="Date Placeholder 3"/>
          <p:cNvSpPr>
            <a:spLocks noGrp="1"/>
          </p:cNvSpPr>
          <p:nvPr>
            <p:ph type="dt" sz="half" idx="10"/>
          </p:nvPr>
        </p:nvSpPr>
        <p:spPr/>
        <p:txBody>
          <a:bodyPr/>
          <a:lstStyle/>
          <a:p>
            <a:fld id="{F804D6C5-ABB2-44DD-AB00-07563A522B5A}"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30</a:t>
            </a:fld>
            <a:r>
              <a:rPr lang="vi-VN"/>
              <a:t>/47</a:t>
            </a:r>
          </a:p>
        </p:txBody>
      </p:sp>
    </p:spTree>
    <p:extLst>
      <p:ext uri="{BB962C8B-B14F-4D97-AF65-F5344CB8AC3E}">
        <p14:creationId xmlns:p14="http://schemas.microsoft.com/office/powerpoint/2010/main" val="6056848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lặp for</a:t>
            </a:r>
          </a:p>
        </p:txBody>
      </p:sp>
      <p:sp>
        <p:nvSpPr>
          <p:cNvPr id="3" name="Content Placeholder 2"/>
          <p:cNvSpPr>
            <a:spLocks noGrp="1"/>
          </p:cNvSpPr>
          <p:nvPr>
            <p:ph idx="1"/>
          </p:nvPr>
        </p:nvSpPr>
        <p:spPr/>
        <p:txBody>
          <a:bodyPr>
            <a:normAutofit fontScale="92500" lnSpcReduction="10000"/>
          </a:bodyPr>
          <a:lstStyle/>
          <a:p>
            <a:r>
              <a:rPr lang="vi-VN"/>
              <a:t>Cú pháp</a:t>
            </a:r>
          </a:p>
          <a:p>
            <a:pPr marL="0" indent="0">
              <a:buNone/>
            </a:pPr>
            <a:r>
              <a:rPr lang="vi-VN" sz="2600" b="1">
                <a:solidFill>
                  <a:srgbClr val="FF0000"/>
                </a:solidFill>
                <a:latin typeface="Courier New" pitchFamily="49" charset="0"/>
                <a:cs typeface="Courier New" pitchFamily="49" charset="0"/>
              </a:rPr>
              <a:t>for</a:t>
            </a:r>
            <a:r>
              <a:rPr lang="vi-VN">
                <a:latin typeface="Courier New" pitchFamily="49" charset="0"/>
                <a:cs typeface="Courier New" pitchFamily="49" charset="0"/>
              </a:rPr>
              <a:t> </a:t>
            </a:r>
            <a:r>
              <a:rPr lang="vi-VN" sz="2500">
                <a:latin typeface="+mj-lt"/>
                <a:cs typeface="Courier New" pitchFamily="49" charset="0"/>
              </a:rPr>
              <a:t>([</a:t>
            </a:r>
            <a:r>
              <a:rPr lang="vi-VN" sz="2500" b="1">
                <a:solidFill>
                  <a:srgbClr val="7030A0"/>
                </a:solidFill>
                <a:latin typeface="+mj-lt"/>
                <a:cs typeface="Courier New" pitchFamily="49" charset="0"/>
              </a:rPr>
              <a:t>Khởi tạo</a:t>
            </a:r>
            <a:r>
              <a:rPr lang="vi-VN" sz="2500">
                <a:latin typeface="+mj-lt"/>
                <a:cs typeface="Courier New" pitchFamily="49" charset="0"/>
              </a:rPr>
              <a:t>]; [</a:t>
            </a:r>
            <a:r>
              <a:rPr lang="vi-VN" sz="2500" b="1">
                <a:solidFill>
                  <a:srgbClr val="0070C0"/>
                </a:solidFill>
                <a:latin typeface="+mj-lt"/>
                <a:cs typeface="Courier New" pitchFamily="49" charset="0"/>
              </a:rPr>
              <a:t>Biểu thức điều kiện</a:t>
            </a:r>
            <a:r>
              <a:rPr lang="vi-VN" sz="2500">
                <a:latin typeface="+mj-lt"/>
                <a:cs typeface="Courier New" pitchFamily="49" charset="0"/>
              </a:rPr>
              <a:t>]; [</a:t>
            </a:r>
            <a:r>
              <a:rPr lang="vi-VN" sz="2500" b="1">
                <a:solidFill>
                  <a:srgbClr val="FFC000"/>
                </a:solidFill>
                <a:latin typeface="+mj-lt"/>
                <a:cs typeface="Courier New" pitchFamily="49" charset="0"/>
              </a:rPr>
              <a:t>Bước lặp</a:t>
            </a:r>
            <a:r>
              <a:rPr lang="vi-VN" sz="2500">
                <a:latin typeface="+mj-lt"/>
                <a:cs typeface="Courier New" pitchFamily="49" charset="0"/>
              </a:rPr>
              <a:t>])</a:t>
            </a:r>
          </a:p>
          <a:p>
            <a:pPr marL="0" indent="0">
              <a:buNone/>
            </a:pPr>
            <a:r>
              <a:rPr lang="vi-VN">
                <a:latin typeface="Courier New" pitchFamily="49" charset="0"/>
                <a:cs typeface="Courier New" pitchFamily="49" charset="0"/>
              </a:rPr>
              <a:t>	&lt;</a:t>
            </a:r>
            <a:r>
              <a:rPr lang="vi-VN" b="1">
                <a:latin typeface="Courier New" pitchFamily="49" charset="0"/>
                <a:cs typeface="Courier New" pitchFamily="49" charset="0"/>
              </a:rPr>
              <a:t>Câu lệnh</a:t>
            </a:r>
            <a:r>
              <a:rPr lang="vi-VN">
                <a:latin typeface="Courier New" pitchFamily="49" charset="0"/>
                <a:cs typeface="Courier New" pitchFamily="49" charset="0"/>
              </a:rPr>
              <a:t>&gt;;</a:t>
            </a:r>
          </a:p>
          <a:p>
            <a:r>
              <a:rPr lang="vi-VN"/>
              <a:t>Thực hiện</a:t>
            </a:r>
          </a:p>
          <a:p>
            <a:pPr marL="438150" lvl="1" indent="0">
              <a:buNone/>
            </a:pPr>
            <a:r>
              <a:rPr lang="vi-VN"/>
              <a:t>B1. Thực hiện </a:t>
            </a:r>
            <a:r>
              <a:rPr lang="vi-VN" sz="2500" b="1">
                <a:solidFill>
                  <a:srgbClr val="7030A0"/>
                </a:solidFill>
                <a:latin typeface="+mj-lt"/>
                <a:ea typeface="+mn-ea"/>
                <a:cs typeface="Courier New" pitchFamily="49" charset="0"/>
              </a:rPr>
              <a:t>Khởi tạo</a:t>
            </a:r>
          </a:p>
          <a:p>
            <a:pPr marL="438150" lvl="1" indent="0">
              <a:buNone/>
            </a:pPr>
            <a:r>
              <a:rPr lang="vi-VN"/>
              <a:t>B2. </a:t>
            </a:r>
            <a:r>
              <a:rPr lang="vi-VN" sz="2500" b="1">
                <a:solidFill>
                  <a:srgbClr val="0070C0"/>
                </a:solidFill>
                <a:latin typeface="+mj-lt"/>
                <a:ea typeface="+mn-ea"/>
                <a:cs typeface="Courier New" pitchFamily="49" charset="0"/>
              </a:rPr>
              <a:t>Kiểm tra điều kiện</a:t>
            </a:r>
          </a:p>
          <a:p>
            <a:pPr marL="438150" lvl="1" indent="0">
              <a:buNone/>
            </a:pPr>
            <a:r>
              <a:rPr lang="vi-VN"/>
              <a:t>- Nếu </a:t>
            </a:r>
            <a:r>
              <a:rPr lang="vi-VN" b="1">
                <a:solidFill>
                  <a:schemeClr val="accent2">
                    <a:lumMod val="60000"/>
                    <a:lumOff val="40000"/>
                  </a:schemeClr>
                </a:solidFill>
              </a:rPr>
              <a:t>đúng</a:t>
            </a:r>
            <a:r>
              <a:rPr lang="vi-VN"/>
              <a:t> thực hiện </a:t>
            </a:r>
            <a:r>
              <a:rPr lang="vi-VN" sz="2800" b="1">
                <a:solidFill>
                  <a:schemeClr val="tx1"/>
                </a:solidFill>
                <a:latin typeface="Courier New" pitchFamily="49" charset="0"/>
                <a:ea typeface="+mn-ea"/>
                <a:cs typeface="Courier New" pitchFamily="49" charset="0"/>
              </a:rPr>
              <a:t>Câu lệnh </a:t>
            </a:r>
            <a:r>
              <a:rPr lang="vi-VN"/>
              <a:t>rồi </a:t>
            </a:r>
            <a:r>
              <a:rPr lang="vi-VN" sz="2500" b="1">
                <a:solidFill>
                  <a:srgbClr val="FFC000"/>
                </a:solidFill>
                <a:latin typeface="+mj-lt"/>
                <a:ea typeface="+mn-ea"/>
                <a:cs typeface="Courier New" pitchFamily="49" charset="0"/>
              </a:rPr>
              <a:t>Bước lặp </a:t>
            </a:r>
            <a:r>
              <a:rPr lang="vi-VN"/>
              <a:t>và quay lại B2.</a:t>
            </a:r>
          </a:p>
          <a:p>
            <a:pPr marL="781050" lvl="1" indent="-342900">
              <a:buFontTx/>
              <a:buChar char="-"/>
            </a:pPr>
            <a:r>
              <a:rPr lang="vi-VN"/>
              <a:t>Nếu </a:t>
            </a:r>
            <a:r>
              <a:rPr lang="vi-VN" b="1">
                <a:solidFill>
                  <a:schemeClr val="accent2">
                    <a:lumMod val="60000"/>
                    <a:lumOff val="40000"/>
                  </a:schemeClr>
                </a:solidFill>
              </a:rPr>
              <a:t>sai</a:t>
            </a:r>
            <a:r>
              <a:rPr lang="vi-VN"/>
              <a:t> chuyển sang câu lệnh sau </a:t>
            </a:r>
            <a:r>
              <a:rPr lang="vi-VN" sz="2600" b="1">
                <a:solidFill>
                  <a:srgbClr val="FF0000"/>
                </a:solidFill>
                <a:latin typeface="Courier New" pitchFamily="49" charset="0"/>
                <a:ea typeface="+mn-ea"/>
                <a:cs typeface="Courier New" pitchFamily="49" charset="0"/>
              </a:rPr>
              <a:t>for</a:t>
            </a:r>
          </a:p>
        </p:txBody>
      </p:sp>
      <p:sp>
        <p:nvSpPr>
          <p:cNvPr id="4" name="Date Placeholder 3"/>
          <p:cNvSpPr>
            <a:spLocks noGrp="1"/>
          </p:cNvSpPr>
          <p:nvPr>
            <p:ph type="dt" sz="half" idx="10"/>
          </p:nvPr>
        </p:nvSpPr>
        <p:spPr/>
        <p:txBody>
          <a:bodyPr/>
          <a:lstStyle/>
          <a:p>
            <a:fld id="{8C3884A0-F705-42F1-A660-02CD775491CD}"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31</a:t>
            </a:fld>
            <a:r>
              <a:rPr lang="vi-VN"/>
              <a:t>/47</a:t>
            </a:r>
          </a:p>
        </p:txBody>
      </p:sp>
    </p:spTree>
    <p:extLst>
      <p:ext uri="{BB962C8B-B14F-4D97-AF65-F5344CB8AC3E}">
        <p14:creationId xmlns:p14="http://schemas.microsoft.com/office/powerpoint/2010/main" val="33015807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câu lệnh for</a:t>
            </a:r>
          </a:p>
        </p:txBody>
      </p:sp>
      <p:sp>
        <p:nvSpPr>
          <p:cNvPr id="3" name="Content Placeholder 2"/>
          <p:cNvSpPr>
            <a:spLocks noGrp="1"/>
          </p:cNvSpPr>
          <p:nvPr>
            <p:ph idx="1"/>
          </p:nvPr>
        </p:nvSpPr>
        <p:spPr/>
        <p:txBody>
          <a:bodyPr>
            <a:normAutofit fontScale="85000" lnSpcReduction="20000"/>
          </a:bodyPr>
          <a:lstStyle/>
          <a:p>
            <a:pPr>
              <a:spcBef>
                <a:spcPts val="0"/>
              </a:spcBef>
            </a:pPr>
            <a:r>
              <a:rPr lang="vi-VN" sz="2400"/>
              <a:t>Ví dụ: In ra màn hình 10 số nguyên dương đầu tiên</a:t>
            </a:r>
            <a:endParaRPr lang="vi-VN" sz="2400" b="1">
              <a:latin typeface="Courier New" pitchFamily="49" charset="0"/>
              <a:cs typeface="Courier New" pitchFamily="49" charset="0"/>
            </a:endParaRPr>
          </a:p>
          <a:p>
            <a:pPr marL="0" indent="0">
              <a:spcBef>
                <a:spcPts val="0"/>
              </a:spcBef>
              <a:buNone/>
            </a:pPr>
            <a:r>
              <a:rPr lang="vi-VN" sz="1800" b="1">
                <a:latin typeface="Courier New" pitchFamily="49" charset="0"/>
                <a:cs typeface="Courier New" pitchFamily="49" charset="0"/>
              </a:rPr>
              <a:t>using System;</a:t>
            </a:r>
          </a:p>
          <a:p>
            <a:pPr marL="0" indent="0">
              <a:spcBef>
                <a:spcPts val="0"/>
              </a:spcBef>
              <a:buNone/>
            </a:pPr>
            <a:r>
              <a:rPr lang="vi-VN" sz="1800" b="1">
                <a:latin typeface="Courier New" pitchFamily="49" charset="0"/>
                <a:cs typeface="Courier New" pitchFamily="49" charset="0"/>
              </a:rPr>
              <a:t>using System.Collections.Generic;</a:t>
            </a:r>
          </a:p>
          <a:p>
            <a:pPr marL="0" indent="0">
              <a:spcBef>
                <a:spcPts val="0"/>
              </a:spcBef>
              <a:buNone/>
            </a:pPr>
            <a:r>
              <a:rPr lang="vi-VN" sz="1800" b="1">
                <a:latin typeface="Courier New" pitchFamily="49" charset="0"/>
                <a:cs typeface="Courier New" pitchFamily="49" charset="0"/>
              </a:rPr>
              <a:t>using System.Linq;</a:t>
            </a:r>
          </a:p>
          <a:p>
            <a:pPr marL="0" indent="0">
              <a:spcBef>
                <a:spcPts val="0"/>
              </a:spcBef>
              <a:buNone/>
            </a:pPr>
            <a:r>
              <a:rPr lang="vi-VN" sz="1800" b="1">
                <a:latin typeface="Courier New" pitchFamily="49" charset="0"/>
                <a:cs typeface="Courier New" pitchFamily="49" charset="0"/>
              </a:rPr>
              <a:t>using System.Text;</a:t>
            </a:r>
          </a:p>
          <a:p>
            <a:pPr marL="0" indent="0">
              <a:spcBef>
                <a:spcPts val="0"/>
              </a:spcBef>
              <a:buNone/>
            </a:pPr>
            <a:r>
              <a:rPr lang="vi-VN" sz="1800" b="1">
                <a:latin typeface="Courier New" pitchFamily="49" charset="0"/>
                <a:cs typeface="Courier New" pitchFamily="49" charset="0"/>
              </a:rPr>
              <a:t>namespace forStatement</a:t>
            </a:r>
          </a:p>
          <a:p>
            <a:pPr marL="0" indent="0">
              <a:spcBef>
                <a:spcPts val="0"/>
              </a:spcBef>
              <a:buNone/>
            </a:pPr>
            <a:r>
              <a:rPr lang="vi-VN" sz="1800" b="1">
                <a:latin typeface="Courier New" pitchFamily="49" charset="0"/>
                <a:cs typeface="Courier New" pitchFamily="49" charset="0"/>
              </a:rPr>
              <a:t>{</a:t>
            </a:r>
          </a:p>
          <a:p>
            <a:pPr marL="0" indent="0">
              <a:spcBef>
                <a:spcPts val="0"/>
              </a:spcBef>
              <a:buNone/>
            </a:pPr>
            <a:r>
              <a:rPr lang="vi-VN" sz="1800" b="1">
                <a:latin typeface="Courier New" pitchFamily="49" charset="0"/>
                <a:cs typeface="Courier New" pitchFamily="49" charset="0"/>
              </a:rPr>
              <a:t>    class Program</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static void Main(string[] args)</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Console.WriteLine("10 so nguyen duong dau tien");</a:t>
            </a:r>
          </a:p>
          <a:p>
            <a:pPr marL="0" indent="0">
              <a:spcBef>
                <a:spcPts val="0"/>
              </a:spcBef>
              <a:buNone/>
            </a:pPr>
            <a:r>
              <a:rPr lang="nn-NO" sz="1800" b="1">
                <a:latin typeface="Courier New" pitchFamily="49" charset="0"/>
                <a:cs typeface="Courier New" pitchFamily="49" charset="0"/>
              </a:rPr>
              <a:t>            for (int i = 1; i &lt;= 10; i++)</a:t>
            </a:r>
          </a:p>
          <a:p>
            <a:pPr marL="0" indent="0">
              <a:spcBef>
                <a:spcPts val="0"/>
              </a:spcBef>
              <a:buNone/>
            </a:pPr>
            <a:r>
              <a:rPr lang="vi-VN" sz="1800" b="1">
                <a:latin typeface="Courier New" pitchFamily="49" charset="0"/>
                <a:cs typeface="Courier New" pitchFamily="49" charset="0"/>
              </a:rPr>
              <a:t>                Console.Write("{0} ", i);</a:t>
            </a:r>
          </a:p>
          <a:p>
            <a:pPr marL="0" indent="0">
              <a:spcBef>
                <a:spcPts val="0"/>
              </a:spcBef>
              <a:buNone/>
            </a:pPr>
            <a:r>
              <a:rPr lang="vi-VN" sz="1800" b="1">
                <a:latin typeface="Courier New" pitchFamily="49" charset="0"/>
                <a:cs typeface="Courier New" pitchFamily="49" charset="0"/>
              </a:rPr>
              <a:t>            Console.ReadLine();</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a:t>
            </a:r>
          </a:p>
          <a:p>
            <a:pPr marL="0" indent="0">
              <a:spcBef>
                <a:spcPts val="0"/>
              </a:spcBef>
              <a:buNone/>
            </a:pPr>
            <a:endParaRPr lang="vi-VN" sz="1800" b="1">
              <a:latin typeface="Courier New" pitchFamily="49" charset="0"/>
              <a:cs typeface="Courier New" pitchFamily="49" charset="0"/>
            </a:endParaRPr>
          </a:p>
          <a:p>
            <a:pPr marL="0" indent="0">
              <a:buNone/>
            </a:pPr>
            <a:endParaRPr lang="vi-VN"/>
          </a:p>
        </p:txBody>
      </p:sp>
      <p:sp>
        <p:nvSpPr>
          <p:cNvPr id="4" name="Date Placeholder 3"/>
          <p:cNvSpPr>
            <a:spLocks noGrp="1"/>
          </p:cNvSpPr>
          <p:nvPr>
            <p:ph type="dt" sz="half" idx="10"/>
          </p:nvPr>
        </p:nvSpPr>
        <p:spPr/>
        <p:txBody>
          <a:bodyPr/>
          <a:lstStyle/>
          <a:p>
            <a:fld id="{879FEE68-8124-4D71-A67B-A095F5760061}"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32</a:t>
            </a:fld>
            <a:r>
              <a:rPr lang="vi-VN"/>
              <a:t>/47</a:t>
            </a:r>
          </a:p>
        </p:txBody>
      </p:sp>
    </p:spTree>
    <p:extLst>
      <p:ext uri="{BB962C8B-B14F-4D97-AF65-F5344CB8AC3E}">
        <p14:creationId xmlns:p14="http://schemas.microsoft.com/office/powerpoint/2010/main" val="12158789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lặp while</a:t>
            </a:r>
          </a:p>
        </p:txBody>
      </p:sp>
      <p:sp>
        <p:nvSpPr>
          <p:cNvPr id="3" name="Content Placeholder 2"/>
          <p:cNvSpPr>
            <a:spLocks noGrp="1"/>
          </p:cNvSpPr>
          <p:nvPr>
            <p:ph idx="1"/>
          </p:nvPr>
        </p:nvSpPr>
        <p:spPr/>
        <p:txBody>
          <a:bodyPr>
            <a:normAutofit fontScale="85000" lnSpcReduction="20000"/>
          </a:bodyPr>
          <a:lstStyle/>
          <a:p>
            <a:r>
              <a:rPr lang="vi-VN"/>
              <a:t>Cú pháp</a:t>
            </a:r>
          </a:p>
          <a:p>
            <a:pPr marL="0" indent="0">
              <a:buNone/>
            </a:pPr>
            <a:r>
              <a:rPr lang="vi-VN" sz="2600" b="1">
                <a:solidFill>
                  <a:srgbClr val="FF0000"/>
                </a:solidFill>
                <a:latin typeface="Courier New" pitchFamily="49" charset="0"/>
                <a:cs typeface="Courier New" pitchFamily="49" charset="0"/>
              </a:rPr>
              <a:t>while</a:t>
            </a:r>
            <a:r>
              <a:rPr lang="vi-VN"/>
              <a:t> (</a:t>
            </a:r>
            <a:r>
              <a:rPr lang="vi-VN" sz="2500" b="1">
                <a:solidFill>
                  <a:srgbClr val="0070C0"/>
                </a:solidFill>
                <a:latin typeface="+mj-lt"/>
                <a:cs typeface="Courier New" pitchFamily="49" charset="0"/>
              </a:rPr>
              <a:t>biểu thức điều kiện</a:t>
            </a:r>
            <a:r>
              <a:rPr lang="vi-VN"/>
              <a:t>) &lt;</a:t>
            </a:r>
            <a:r>
              <a:rPr lang="vi-VN" b="1">
                <a:latin typeface="Courier New" pitchFamily="49" charset="0"/>
                <a:cs typeface="Courier New" pitchFamily="49" charset="0"/>
              </a:rPr>
              <a:t>Công việc</a:t>
            </a:r>
            <a:r>
              <a:rPr lang="vi-VN"/>
              <a:t>&gt;;</a:t>
            </a:r>
          </a:p>
          <a:p>
            <a:r>
              <a:rPr lang="vi-VN"/>
              <a:t>Ví dụ:</a:t>
            </a:r>
          </a:p>
          <a:p>
            <a:pPr marL="0" indent="0">
              <a:spcBef>
                <a:spcPts val="0"/>
              </a:spcBef>
              <a:buNone/>
            </a:pPr>
            <a:r>
              <a:rPr lang="vi-VN" sz="1800" b="1">
                <a:latin typeface="Courier New" pitchFamily="49" charset="0"/>
                <a:cs typeface="Courier New" pitchFamily="49" charset="0"/>
              </a:rPr>
              <a:t>class Program</a:t>
            </a:r>
          </a:p>
          <a:p>
            <a:pPr marL="0" indent="0">
              <a:spcBef>
                <a:spcPts val="0"/>
              </a:spcBef>
              <a:buNone/>
            </a:pPr>
            <a:r>
              <a:rPr lang="vi-VN" sz="1800" b="1">
                <a:latin typeface="Courier New" pitchFamily="49" charset="0"/>
                <a:cs typeface="Courier New" pitchFamily="49" charset="0"/>
              </a:rPr>
              <a:t>    {   static void Main(string[] args)</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Console.WriteLine("10 so nguyen duong dau tien");</a:t>
            </a:r>
          </a:p>
          <a:p>
            <a:pPr marL="0" indent="0">
              <a:spcBef>
                <a:spcPts val="0"/>
              </a:spcBef>
              <a:buNone/>
            </a:pPr>
            <a:r>
              <a:rPr lang="vi-VN" sz="1800" b="1">
                <a:latin typeface="Courier New" pitchFamily="49" charset="0"/>
                <a:cs typeface="Courier New" pitchFamily="49" charset="0"/>
              </a:rPr>
              <a:t>            int i = 1;</a:t>
            </a:r>
          </a:p>
          <a:p>
            <a:pPr marL="0" indent="0">
              <a:spcBef>
                <a:spcPts val="0"/>
              </a:spcBef>
              <a:buNone/>
            </a:pPr>
            <a:r>
              <a:rPr lang="vi-VN" sz="1800" b="1">
                <a:latin typeface="Courier New" pitchFamily="49" charset="0"/>
                <a:cs typeface="Courier New" pitchFamily="49" charset="0"/>
              </a:rPr>
              <a:t>            while (i &lt;= 10)</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Console.Write("{0} ", i);</a:t>
            </a:r>
          </a:p>
          <a:p>
            <a:pPr marL="0" indent="0">
              <a:spcBef>
                <a:spcPts val="0"/>
              </a:spcBef>
              <a:buNone/>
            </a:pPr>
            <a:r>
              <a:rPr lang="vi-VN" sz="1800" b="1">
                <a:latin typeface="Courier New" pitchFamily="49" charset="0"/>
                <a:cs typeface="Courier New" pitchFamily="49" charset="0"/>
              </a:rPr>
              <a:t>                i++;</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Console.ReadLine();</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a:t>
            </a:r>
          </a:p>
        </p:txBody>
      </p:sp>
      <p:sp>
        <p:nvSpPr>
          <p:cNvPr id="4" name="Date Placeholder 3"/>
          <p:cNvSpPr>
            <a:spLocks noGrp="1"/>
          </p:cNvSpPr>
          <p:nvPr>
            <p:ph type="dt" sz="half" idx="10"/>
          </p:nvPr>
        </p:nvSpPr>
        <p:spPr/>
        <p:txBody>
          <a:bodyPr/>
          <a:lstStyle/>
          <a:p>
            <a:fld id="{2089D5A2-1175-48C5-9492-00FA9A376257}"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33</a:t>
            </a:fld>
            <a:r>
              <a:rPr lang="vi-VN"/>
              <a:t>/47</a:t>
            </a:r>
          </a:p>
        </p:txBody>
      </p:sp>
    </p:spTree>
    <p:extLst>
      <p:ext uri="{BB962C8B-B14F-4D97-AF65-F5344CB8AC3E}">
        <p14:creationId xmlns:p14="http://schemas.microsoft.com/office/powerpoint/2010/main" val="1517712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lặp do...while</a:t>
            </a:r>
          </a:p>
        </p:txBody>
      </p:sp>
      <p:sp>
        <p:nvSpPr>
          <p:cNvPr id="3" name="Content Placeholder 2"/>
          <p:cNvSpPr>
            <a:spLocks noGrp="1"/>
          </p:cNvSpPr>
          <p:nvPr>
            <p:ph idx="1"/>
          </p:nvPr>
        </p:nvSpPr>
        <p:spPr/>
        <p:txBody>
          <a:bodyPr>
            <a:normAutofit fontScale="85000" lnSpcReduction="20000"/>
          </a:bodyPr>
          <a:lstStyle/>
          <a:p>
            <a:r>
              <a:rPr lang="vi-VN"/>
              <a:t>Cú pháp</a:t>
            </a:r>
          </a:p>
          <a:p>
            <a:pPr marL="0" indent="0">
              <a:buNone/>
            </a:pPr>
            <a:r>
              <a:rPr lang="vi-VN" sz="2600" b="1">
                <a:solidFill>
                  <a:srgbClr val="FF0000"/>
                </a:solidFill>
                <a:latin typeface="Courier New" pitchFamily="49" charset="0"/>
                <a:cs typeface="Courier New" pitchFamily="49" charset="0"/>
              </a:rPr>
              <a:t>do</a:t>
            </a:r>
            <a:r>
              <a:rPr lang="vi-VN"/>
              <a:t> &lt;</a:t>
            </a:r>
            <a:r>
              <a:rPr lang="vi-VN" b="1">
                <a:latin typeface="Courier New" pitchFamily="49" charset="0"/>
                <a:cs typeface="Courier New" pitchFamily="49" charset="0"/>
              </a:rPr>
              <a:t>công việc</a:t>
            </a:r>
            <a:r>
              <a:rPr lang="vi-VN"/>
              <a:t>&gt; </a:t>
            </a:r>
            <a:r>
              <a:rPr lang="vi-VN" sz="2600" b="1">
                <a:solidFill>
                  <a:srgbClr val="FF0000"/>
                </a:solidFill>
                <a:latin typeface="Courier New" pitchFamily="49" charset="0"/>
                <a:cs typeface="Courier New" pitchFamily="49" charset="0"/>
              </a:rPr>
              <a:t>while</a:t>
            </a:r>
            <a:r>
              <a:rPr lang="vi-VN"/>
              <a:t> &lt;</a:t>
            </a:r>
            <a:r>
              <a:rPr lang="vi-VN" sz="2500" b="1">
                <a:solidFill>
                  <a:srgbClr val="0070C0"/>
                </a:solidFill>
                <a:latin typeface="+mj-lt"/>
                <a:cs typeface="Courier New" pitchFamily="49" charset="0"/>
              </a:rPr>
              <a:t>biểu thức điều kiện</a:t>
            </a:r>
            <a:r>
              <a:rPr lang="vi-VN"/>
              <a:t>&gt;;</a:t>
            </a:r>
          </a:p>
          <a:p>
            <a:r>
              <a:rPr lang="vi-VN"/>
              <a:t>Ví dụ:</a:t>
            </a:r>
          </a:p>
          <a:p>
            <a:pPr marL="0" indent="0">
              <a:spcBef>
                <a:spcPts val="0"/>
              </a:spcBef>
              <a:buNone/>
            </a:pPr>
            <a:r>
              <a:rPr lang="vi-VN" sz="1800" b="1">
                <a:latin typeface="Courier New" pitchFamily="49" charset="0"/>
                <a:cs typeface="Courier New" pitchFamily="49" charset="0"/>
              </a:rPr>
              <a:t>class Program</a:t>
            </a:r>
          </a:p>
          <a:p>
            <a:pPr marL="0" indent="0">
              <a:spcBef>
                <a:spcPts val="0"/>
              </a:spcBef>
              <a:buNone/>
            </a:pPr>
            <a:r>
              <a:rPr lang="vi-VN" sz="1800" b="1">
                <a:latin typeface="Courier New" pitchFamily="49" charset="0"/>
                <a:cs typeface="Courier New" pitchFamily="49" charset="0"/>
              </a:rPr>
              <a:t>    {  static void Main(string[] args)</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Console.WriteLine("10 so nguyen duong dau tien");</a:t>
            </a:r>
          </a:p>
          <a:p>
            <a:pPr marL="0" indent="0">
              <a:spcBef>
                <a:spcPts val="0"/>
              </a:spcBef>
              <a:buNone/>
            </a:pPr>
            <a:r>
              <a:rPr lang="vi-VN" sz="1800" b="1">
                <a:latin typeface="Courier New" pitchFamily="49" charset="0"/>
                <a:cs typeface="Courier New" pitchFamily="49" charset="0"/>
              </a:rPr>
              <a:t>            int i = 1;</a:t>
            </a:r>
          </a:p>
          <a:p>
            <a:pPr marL="0" indent="0">
              <a:spcBef>
                <a:spcPts val="0"/>
              </a:spcBef>
              <a:buNone/>
            </a:pPr>
            <a:r>
              <a:rPr lang="vi-VN" sz="1800" b="1">
                <a:latin typeface="Courier New" pitchFamily="49" charset="0"/>
                <a:cs typeface="Courier New" pitchFamily="49" charset="0"/>
              </a:rPr>
              <a:t>            do</a:t>
            </a:r>
          </a:p>
          <a:p>
            <a:pPr marL="0" indent="0">
              <a:spcBef>
                <a:spcPts val="0"/>
              </a:spcBef>
              <a:buNone/>
            </a:pPr>
            <a:r>
              <a:rPr lang="vi-VN" sz="1800" b="1">
                <a:latin typeface="Courier New" pitchFamily="49" charset="0"/>
                <a:cs typeface="Courier New" pitchFamily="49" charset="0"/>
              </a:rPr>
              <a:t>            {   Console.Write("{0} ", i);</a:t>
            </a:r>
          </a:p>
          <a:p>
            <a:pPr marL="0" indent="0">
              <a:spcBef>
                <a:spcPts val="0"/>
              </a:spcBef>
              <a:buNone/>
            </a:pPr>
            <a:r>
              <a:rPr lang="vi-VN" sz="1800" b="1">
                <a:latin typeface="Courier New" pitchFamily="49" charset="0"/>
                <a:cs typeface="Courier New" pitchFamily="49" charset="0"/>
              </a:rPr>
              <a:t>                i++;</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while (i &lt;= 10);</a:t>
            </a:r>
          </a:p>
          <a:p>
            <a:pPr marL="0" indent="0">
              <a:spcBef>
                <a:spcPts val="0"/>
              </a:spcBef>
              <a:buNone/>
            </a:pPr>
            <a:r>
              <a:rPr lang="vi-VN" sz="1800" b="1">
                <a:latin typeface="Courier New" pitchFamily="49" charset="0"/>
                <a:cs typeface="Courier New" pitchFamily="49" charset="0"/>
              </a:rPr>
              <a:t>            Console.ReadLine();</a:t>
            </a:r>
          </a:p>
          <a:p>
            <a:pPr marL="0" indent="0">
              <a:spcBef>
                <a:spcPts val="0"/>
              </a:spcBef>
              <a:buNone/>
            </a:pPr>
            <a:r>
              <a:rPr lang="vi-VN" sz="1800" b="1">
                <a:latin typeface="Courier New" pitchFamily="49" charset="0"/>
                <a:cs typeface="Courier New" pitchFamily="49" charset="0"/>
              </a:rPr>
              <a:t>        }</a:t>
            </a:r>
          </a:p>
          <a:p>
            <a:pPr marL="0" indent="0">
              <a:spcBef>
                <a:spcPts val="0"/>
              </a:spcBef>
              <a:buNone/>
            </a:pPr>
            <a:r>
              <a:rPr lang="vi-VN" sz="1800" b="1">
                <a:latin typeface="Courier New" pitchFamily="49" charset="0"/>
                <a:cs typeface="Courier New" pitchFamily="49" charset="0"/>
              </a:rPr>
              <a:t>    }</a:t>
            </a:r>
          </a:p>
          <a:p>
            <a:pPr marL="0" indent="0">
              <a:buNone/>
            </a:pPr>
            <a:endParaRPr lang="vi-VN"/>
          </a:p>
        </p:txBody>
      </p:sp>
      <p:sp>
        <p:nvSpPr>
          <p:cNvPr id="4" name="Date Placeholder 3"/>
          <p:cNvSpPr>
            <a:spLocks noGrp="1"/>
          </p:cNvSpPr>
          <p:nvPr>
            <p:ph type="dt" sz="half" idx="10"/>
          </p:nvPr>
        </p:nvSpPr>
        <p:spPr/>
        <p:txBody>
          <a:bodyPr/>
          <a:lstStyle/>
          <a:p>
            <a:fld id="{6B980224-2CF6-4768-AE2C-73E07ACB84F0}"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34</a:t>
            </a:fld>
            <a:r>
              <a:rPr lang="vi-VN"/>
              <a:t>/47</a:t>
            </a:r>
          </a:p>
        </p:txBody>
      </p:sp>
    </p:spTree>
    <p:extLst>
      <p:ext uri="{BB962C8B-B14F-4D97-AF65-F5344CB8AC3E}">
        <p14:creationId xmlns:p14="http://schemas.microsoft.com/office/powerpoint/2010/main" val="1697059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lệnh lặp foreach...in</a:t>
            </a:r>
          </a:p>
        </p:txBody>
      </p:sp>
      <p:sp>
        <p:nvSpPr>
          <p:cNvPr id="3" name="Content Placeholder 2"/>
          <p:cNvSpPr>
            <a:spLocks noGrp="1"/>
          </p:cNvSpPr>
          <p:nvPr>
            <p:ph idx="1"/>
          </p:nvPr>
        </p:nvSpPr>
        <p:spPr/>
        <p:txBody>
          <a:bodyPr>
            <a:normAutofit fontScale="92500" lnSpcReduction="20000"/>
          </a:bodyPr>
          <a:lstStyle/>
          <a:p>
            <a:r>
              <a:rPr lang="vi-VN"/>
              <a:t>Cho phép tạo vòng lặp thông qua một tập hợp hay một mảng</a:t>
            </a:r>
          </a:p>
          <a:p>
            <a:r>
              <a:rPr lang="vi-VN"/>
              <a:t>Cú pháp</a:t>
            </a:r>
          </a:p>
          <a:p>
            <a:pPr marL="0" indent="0">
              <a:spcBef>
                <a:spcPts val="0"/>
              </a:spcBef>
              <a:buNone/>
            </a:pPr>
            <a:r>
              <a:rPr lang="en-US" b="1"/>
              <a:t>foreach</a:t>
            </a:r>
            <a:r>
              <a:rPr lang="en-US" sz="2400" b="1"/>
              <a:t>(&lt;</a:t>
            </a:r>
            <a:r>
              <a:rPr lang="en-US" sz="2400" b="1">
                <a:solidFill>
                  <a:srgbClr val="000099"/>
                </a:solidFill>
              </a:rPr>
              <a:t>kiểu tập hợp</a:t>
            </a:r>
            <a:r>
              <a:rPr lang="en-US" sz="2400" b="1"/>
              <a:t>&gt; &lt;</a:t>
            </a:r>
            <a:r>
              <a:rPr lang="en-US" sz="2400" b="1">
                <a:solidFill>
                  <a:srgbClr val="990000"/>
                </a:solidFill>
              </a:rPr>
              <a:t>tên truy cập thành phần</a:t>
            </a:r>
            <a:r>
              <a:rPr lang="en-US" sz="2400" b="1"/>
              <a:t>&gt; </a:t>
            </a:r>
            <a:r>
              <a:rPr lang="en-US" b="1"/>
              <a:t>in</a:t>
            </a:r>
            <a:r>
              <a:rPr lang="en-US" sz="2400" b="1"/>
              <a:t> &lt;</a:t>
            </a:r>
            <a:r>
              <a:rPr lang="en-US" sz="2400" b="1">
                <a:solidFill>
                  <a:srgbClr val="003300"/>
                </a:solidFill>
              </a:rPr>
              <a:t>tên tập hợp</a:t>
            </a:r>
            <a:r>
              <a:rPr lang="en-US" sz="2400" b="1"/>
              <a:t>&gt;)</a:t>
            </a:r>
          </a:p>
          <a:p>
            <a:pPr marL="0" indent="0">
              <a:spcBef>
                <a:spcPts val="0"/>
              </a:spcBef>
              <a:buNone/>
            </a:pPr>
            <a:r>
              <a:rPr lang="en-US" b="1"/>
              <a:t>{</a:t>
            </a:r>
          </a:p>
          <a:p>
            <a:pPr marL="0" indent="0">
              <a:spcBef>
                <a:spcPts val="0"/>
              </a:spcBef>
              <a:buNone/>
            </a:pPr>
            <a:r>
              <a:rPr lang="en-US" b="1"/>
              <a:t>	&lt;Khối lệnh&gt;;</a:t>
            </a:r>
          </a:p>
          <a:p>
            <a:pPr marL="0" indent="0">
              <a:spcBef>
                <a:spcPts val="0"/>
              </a:spcBef>
              <a:buNone/>
            </a:pPr>
            <a:r>
              <a:rPr lang="en-US" b="1"/>
              <a:t>}</a:t>
            </a:r>
          </a:p>
          <a:p>
            <a:r>
              <a:rPr lang="en-US"/>
              <a:t>Thực hiện</a:t>
            </a:r>
          </a:p>
          <a:p>
            <a:pPr marL="438150" lvl="1" indent="0">
              <a:buNone/>
            </a:pPr>
            <a:r>
              <a:rPr lang="en-US"/>
              <a:t>Số lần lặp </a:t>
            </a:r>
            <a:r>
              <a:rPr lang="en-US" b="1">
                <a:solidFill>
                  <a:schemeClr val="tx1"/>
                </a:solidFill>
                <a:ea typeface="+mn-ea"/>
              </a:rPr>
              <a:t>Khối lệnh </a:t>
            </a:r>
            <a:r>
              <a:rPr lang="en-US"/>
              <a:t>tương ứng bằng số lượng phần tử trong </a:t>
            </a:r>
            <a:r>
              <a:rPr lang="en-US" b="1">
                <a:solidFill>
                  <a:srgbClr val="003300"/>
                </a:solidFill>
                <a:ea typeface="+mn-ea"/>
              </a:rPr>
              <a:t>tập hợp</a:t>
            </a:r>
          </a:p>
        </p:txBody>
      </p:sp>
      <p:sp>
        <p:nvSpPr>
          <p:cNvPr id="4" name="Date Placeholder 3"/>
          <p:cNvSpPr>
            <a:spLocks noGrp="1"/>
          </p:cNvSpPr>
          <p:nvPr>
            <p:ph type="dt" sz="half" idx="10"/>
          </p:nvPr>
        </p:nvSpPr>
        <p:spPr/>
        <p:txBody>
          <a:bodyPr/>
          <a:lstStyle/>
          <a:p>
            <a:fld id="{D475E4D8-6897-47CF-B3C3-70B480B76ECC}"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35</a:t>
            </a:fld>
            <a:r>
              <a:rPr lang="vi-VN"/>
              <a:t>/47</a:t>
            </a:r>
          </a:p>
        </p:txBody>
      </p:sp>
    </p:spTree>
    <p:extLst>
      <p:ext uri="{BB962C8B-B14F-4D97-AF65-F5344CB8AC3E}">
        <p14:creationId xmlns:p14="http://schemas.microsoft.com/office/powerpoint/2010/main" val="19727653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câu lệnh lặp foreach…in</a:t>
            </a:r>
            <a:endParaRPr lang="vi-VN"/>
          </a:p>
        </p:txBody>
      </p:sp>
      <p:sp>
        <p:nvSpPr>
          <p:cNvPr id="3" name="Content Placeholder 2"/>
          <p:cNvSpPr>
            <a:spLocks noGrp="1"/>
          </p:cNvSpPr>
          <p:nvPr>
            <p:ph idx="1"/>
          </p:nvPr>
        </p:nvSpPr>
        <p:spPr/>
        <p:txBody>
          <a:bodyPr/>
          <a:lstStyle/>
          <a:p>
            <a:r>
              <a:rPr lang="en-US"/>
              <a:t>Tính tổng các phần tử trong mảng</a:t>
            </a:r>
            <a:endParaRPr lang="vi-VN"/>
          </a:p>
        </p:txBody>
      </p:sp>
      <p:sp>
        <p:nvSpPr>
          <p:cNvPr id="4" name="Date Placeholder 3"/>
          <p:cNvSpPr>
            <a:spLocks noGrp="1"/>
          </p:cNvSpPr>
          <p:nvPr>
            <p:ph type="dt" sz="half" idx="10"/>
          </p:nvPr>
        </p:nvSpPr>
        <p:spPr/>
        <p:txBody>
          <a:bodyPr/>
          <a:lstStyle/>
          <a:p>
            <a:fld id="{34DDDC1D-58CD-4C27-B0EE-44F2EFEB5569}"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36</a:t>
            </a:fld>
            <a:r>
              <a:rPr lang="vi-VN"/>
              <a:t>/47</a:t>
            </a:r>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888" y="1920198"/>
            <a:ext cx="8229601" cy="4389121"/>
          </a:xfrm>
          <a:prstGeom prst="rect">
            <a:avLst/>
          </a:prstGeom>
          <a:noFill/>
          <a:ln w="38100">
            <a:solidFill>
              <a:srgbClr val="000099"/>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597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a:t>
            </a:r>
            <a:r>
              <a:rPr lang="en-US" dirty="0" err="1"/>
              <a:t>Mảng</a:t>
            </a:r>
            <a:r>
              <a:rPr lang="en-US" dirty="0"/>
              <a:t> </a:t>
            </a:r>
            <a:r>
              <a:rPr lang="en-US" dirty="0" err="1"/>
              <a:t>trong</a:t>
            </a:r>
            <a:r>
              <a:rPr lang="en-US" dirty="0"/>
              <a:t> C#</a:t>
            </a:r>
            <a:endParaRPr lang="vi-VN" dirty="0"/>
          </a:p>
        </p:txBody>
      </p:sp>
      <p:sp>
        <p:nvSpPr>
          <p:cNvPr id="3" name="Content Placeholder 2"/>
          <p:cNvSpPr>
            <a:spLocks noGrp="1"/>
          </p:cNvSpPr>
          <p:nvPr>
            <p:ph idx="1"/>
          </p:nvPr>
        </p:nvSpPr>
        <p:spPr/>
        <p:txBody>
          <a:bodyPr>
            <a:normAutofit fontScale="85000" lnSpcReduction="10000"/>
          </a:bodyPr>
          <a:lstStyle/>
          <a:p>
            <a:r>
              <a:rPr lang="en-US" dirty="0" err="1"/>
              <a:t>Mảng</a:t>
            </a:r>
            <a:r>
              <a:rPr lang="en-US" dirty="0"/>
              <a:t> </a:t>
            </a:r>
            <a:r>
              <a:rPr lang="en-US" dirty="0" err="1"/>
              <a:t>là</a:t>
            </a:r>
            <a:r>
              <a:rPr lang="en-US" dirty="0"/>
              <a:t> </a:t>
            </a:r>
            <a:r>
              <a:rPr lang="en-US" dirty="0" err="1"/>
              <a:t>tập</a:t>
            </a:r>
            <a:r>
              <a:rPr lang="en-US" dirty="0"/>
              <a:t> </a:t>
            </a:r>
            <a:r>
              <a:rPr lang="en-US" dirty="0" err="1"/>
              <a:t>hữu</a:t>
            </a:r>
            <a:r>
              <a:rPr lang="en-US" dirty="0"/>
              <a:t> </a:t>
            </a:r>
            <a:r>
              <a:rPr lang="en-US" dirty="0" err="1"/>
              <a:t>hạn</a:t>
            </a:r>
            <a:r>
              <a:rPr lang="en-US" dirty="0"/>
              <a:t> </a:t>
            </a:r>
            <a:r>
              <a:rPr lang="en-US" dirty="0" err="1"/>
              <a:t>các</a:t>
            </a:r>
            <a:r>
              <a:rPr lang="en-US" dirty="0"/>
              <a:t> </a:t>
            </a:r>
            <a:r>
              <a:rPr lang="en-US" dirty="0" err="1"/>
              <a:t>phần</a:t>
            </a:r>
            <a:r>
              <a:rPr lang="en-US" dirty="0"/>
              <a:t> </a:t>
            </a:r>
            <a:r>
              <a:rPr lang="en-US" dirty="0" err="1"/>
              <a:t>tử</a:t>
            </a:r>
            <a:r>
              <a:rPr lang="en-US" dirty="0"/>
              <a:t> </a:t>
            </a:r>
            <a:r>
              <a:rPr lang="en-US" dirty="0" err="1"/>
              <a:t>có</a:t>
            </a:r>
            <a:r>
              <a:rPr lang="en-US" dirty="0"/>
              <a:t> </a:t>
            </a:r>
            <a:r>
              <a:rPr lang="en-US" dirty="0" err="1"/>
              <a:t>cùng</a:t>
            </a:r>
            <a:r>
              <a:rPr lang="en-US" dirty="0"/>
              <a:t> </a:t>
            </a:r>
            <a:r>
              <a:rPr lang="en-US" dirty="0" err="1"/>
              <a:t>kiểu</a:t>
            </a:r>
            <a:r>
              <a:rPr lang="en-US" dirty="0"/>
              <a:t> </a:t>
            </a:r>
            <a:r>
              <a:rPr lang="en-US" dirty="0" err="1"/>
              <a:t>dữ</a:t>
            </a:r>
            <a:r>
              <a:rPr lang="en-US" dirty="0"/>
              <a:t> </a:t>
            </a:r>
            <a:r>
              <a:rPr lang="en-US" dirty="0" err="1"/>
              <a:t>liệu</a:t>
            </a:r>
            <a:endParaRPr lang="en-US" dirty="0"/>
          </a:p>
          <a:p>
            <a:pPr>
              <a:spcBef>
                <a:spcPts val="0"/>
              </a:spcBef>
            </a:pPr>
            <a:r>
              <a:rPr lang="en-US" dirty="0" err="1"/>
              <a:t>Khai</a:t>
            </a:r>
            <a:r>
              <a:rPr lang="en-US" dirty="0"/>
              <a:t> </a:t>
            </a:r>
            <a:r>
              <a:rPr lang="en-US" dirty="0" err="1"/>
              <a:t>báo</a:t>
            </a:r>
            <a:endParaRPr lang="en-US" dirty="0"/>
          </a:p>
          <a:p>
            <a:pPr marL="0" indent="0">
              <a:buNone/>
            </a:pPr>
            <a:r>
              <a:rPr lang="en-US" dirty="0"/>
              <a:t>&lt;</a:t>
            </a:r>
            <a:r>
              <a:rPr lang="en-US" b="1" dirty="0" err="1">
                <a:solidFill>
                  <a:srgbClr val="0070C0"/>
                </a:solidFill>
              </a:rPr>
              <a:t>kiểu</a:t>
            </a:r>
            <a:r>
              <a:rPr lang="en-US" b="1" dirty="0">
                <a:solidFill>
                  <a:srgbClr val="0070C0"/>
                </a:solidFill>
              </a:rPr>
              <a:t> </a:t>
            </a:r>
            <a:r>
              <a:rPr lang="en-US" b="1" dirty="0" err="1">
                <a:solidFill>
                  <a:srgbClr val="0070C0"/>
                </a:solidFill>
              </a:rPr>
              <a:t>dữ</a:t>
            </a:r>
            <a:r>
              <a:rPr lang="en-US" b="1" dirty="0">
                <a:solidFill>
                  <a:srgbClr val="0070C0"/>
                </a:solidFill>
              </a:rPr>
              <a:t> </a:t>
            </a:r>
            <a:r>
              <a:rPr lang="en-US" b="1" dirty="0" err="1">
                <a:solidFill>
                  <a:srgbClr val="0070C0"/>
                </a:solidFill>
              </a:rPr>
              <a:t>liệu</a:t>
            </a:r>
            <a:r>
              <a:rPr lang="en-US" dirty="0"/>
              <a:t>&gt;[] &lt;</a:t>
            </a:r>
            <a:r>
              <a:rPr lang="en-US" b="1" dirty="0" err="1">
                <a:solidFill>
                  <a:srgbClr val="C00000"/>
                </a:solidFill>
              </a:rPr>
              <a:t>tên</a:t>
            </a:r>
            <a:r>
              <a:rPr lang="en-US" b="1" dirty="0">
                <a:solidFill>
                  <a:srgbClr val="C00000"/>
                </a:solidFill>
              </a:rPr>
              <a:t> </a:t>
            </a:r>
            <a:r>
              <a:rPr lang="en-US" b="1" dirty="0" err="1">
                <a:solidFill>
                  <a:srgbClr val="C00000"/>
                </a:solidFill>
              </a:rPr>
              <a:t>mảng</a:t>
            </a:r>
            <a:r>
              <a:rPr lang="en-US" dirty="0"/>
              <a:t>&gt;</a:t>
            </a:r>
          </a:p>
          <a:p>
            <a:pPr marL="0" indent="0">
              <a:spcBef>
                <a:spcPts val="0"/>
              </a:spcBef>
              <a:buNone/>
            </a:pPr>
            <a:r>
              <a:rPr lang="en-US" dirty="0">
                <a:solidFill>
                  <a:srgbClr val="000099"/>
                </a:solidFill>
              </a:rPr>
              <a:t>	int[] so;</a:t>
            </a:r>
          </a:p>
          <a:p>
            <a:pPr marL="0" indent="0">
              <a:spcBef>
                <a:spcPts val="0"/>
              </a:spcBef>
              <a:buNone/>
            </a:pPr>
            <a:r>
              <a:rPr lang="en-US" dirty="0">
                <a:solidFill>
                  <a:srgbClr val="000099"/>
                </a:solidFill>
              </a:rPr>
              <a:t>	float[] diem;</a:t>
            </a:r>
          </a:p>
          <a:p>
            <a:pPr marL="0" indent="0">
              <a:spcBef>
                <a:spcPts val="0"/>
              </a:spcBef>
              <a:buNone/>
            </a:pPr>
            <a:r>
              <a:rPr lang="en-US" dirty="0">
                <a:solidFill>
                  <a:srgbClr val="000099"/>
                </a:solidFill>
              </a:rPr>
              <a:t>	string[] </a:t>
            </a:r>
            <a:r>
              <a:rPr lang="en-US" dirty="0" err="1">
                <a:solidFill>
                  <a:srgbClr val="000099"/>
                </a:solidFill>
              </a:rPr>
              <a:t>tenlop</a:t>
            </a:r>
            <a:r>
              <a:rPr lang="en-US" dirty="0">
                <a:solidFill>
                  <a:srgbClr val="000099"/>
                </a:solidFill>
              </a:rPr>
              <a:t>;</a:t>
            </a:r>
          </a:p>
          <a:p>
            <a:r>
              <a:rPr lang="en-US" dirty="0" err="1"/>
              <a:t>Cấp</a:t>
            </a:r>
            <a:r>
              <a:rPr lang="en-US" dirty="0"/>
              <a:t> </a:t>
            </a:r>
            <a:r>
              <a:rPr lang="en-US" dirty="0" err="1"/>
              <a:t>phát</a:t>
            </a:r>
            <a:r>
              <a:rPr lang="en-US" dirty="0"/>
              <a:t> </a:t>
            </a:r>
            <a:r>
              <a:rPr lang="en-US" dirty="0" err="1"/>
              <a:t>bộ</a:t>
            </a:r>
            <a:r>
              <a:rPr lang="en-US" dirty="0"/>
              <a:t> </a:t>
            </a:r>
            <a:r>
              <a:rPr lang="en-US" dirty="0" err="1"/>
              <a:t>nhớ</a:t>
            </a:r>
            <a:r>
              <a:rPr lang="en-US" dirty="0"/>
              <a:t> </a:t>
            </a:r>
            <a:r>
              <a:rPr lang="en-US" dirty="0" err="1"/>
              <a:t>cho</a:t>
            </a:r>
            <a:r>
              <a:rPr lang="en-US" dirty="0"/>
              <a:t> </a:t>
            </a:r>
            <a:r>
              <a:rPr lang="en-US" dirty="0" err="1"/>
              <a:t>mảng</a:t>
            </a:r>
            <a:r>
              <a:rPr lang="en-US" dirty="0"/>
              <a:t> (</a:t>
            </a:r>
            <a:r>
              <a:rPr lang="en-US" dirty="0" err="1"/>
              <a:t>dùng</a:t>
            </a:r>
            <a:r>
              <a:rPr lang="en-US" dirty="0"/>
              <a:t> </a:t>
            </a:r>
            <a:r>
              <a:rPr lang="en-US" b="1" dirty="0">
                <a:solidFill>
                  <a:srgbClr val="FF0000"/>
                </a:solidFill>
              </a:rPr>
              <a:t>new</a:t>
            </a:r>
            <a:r>
              <a:rPr lang="en-US" dirty="0"/>
              <a:t>)</a:t>
            </a:r>
          </a:p>
          <a:p>
            <a:pPr marL="0" indent="0" algn="l">
              <a:buNone/>
            </a:pPr>
            <a:r>
              <a:rPr lang="en-US" sz="2400" b="1" dirty="0"/>
              <a:t>[</a:t>
            </a:r>
            <a:r>
              <a:rPr lang="en-US" sz="2400" b="1" dirty="0" err="1">
                <a:solidFill>
                  <a:srgbClr val="0070C0"/>
                </a:solidFill>
              </a:rPr>
              <a:t>kiểu</a:t>
            </a:r>
            <a:r>
              <a:rPr lang="en-US" sz="2400" b="1" dirty="0">
                <a:solidFill>
                  <a:srgbClr val="0070C0"/>
                </a:solidFill>
              </a:rPr>
              <a:t> </a:t>
            </a:r>
            <a:r>
              <a:rPr lang="en-US" sz="2400" b="1" dirty="0" err="1">
                <a:solidFill>
                  <a:srgbClr val="0070C0"/>
                </a:solidFill>
              </a:rPr>
              <a:t>dữ</a:t>
            </a:r>
            <a:r>
              <a:rPr lang="en-US" sz="2400" b="1" dirty="0">
                <a:solidFill>
                  <a:srgbClr val="0070C0"/>
                </a:solidFill>
              </a:rPr>
              <a:t> </a:t>
            </a:r>
            <a:r>
              <a:rPr lang="en-US" sz="2400" b="1" dirty="0" err="1">
                <a:solidFill>
                  <a:srgbClr val="0070C0"/>
                </a:solidFill>
              </a:rPr>
              <a:t>liệu</a:t>
            </a:r>
            <a:r>
              <a:rPr lang="en-US" sz="2400" b="1" dirty="0"/>
              <a:t>][ ] [</a:t>
            </a:r>
            <a:r>
              <a:rPr lang="en-US" sz="2400" b="1" dirty="0" err="1">
                <a:solidFill>
                  <a:srgbClr val="C00000"/>
                </a:solidFill>
              </a:rPr>
              <a:t>tên</a:t>
            </a:r>
            <a:r>
              <a:rPr lang="en-US" sz="2400" b="1" dirty="0">
                <a:solidFill>
                  <a:srgbClr val="C00000"/>
                </a:solidFill>
              </a:rPr>
              <a:t> </a:t>
            </a:r>
            <a:r>
              <a:rPr lang="en-US" sz="2400" b="1" dirty="0" err="1">
                <a:solidFill>
                  <a:srgbClr val="C00000"/>
                </a:solidFill>
              </a:rPr>
              <a:t>mảng</a:t>
            </a:r>
            <a:r>
              <a:rPr lang="en-US" sz="2400" b="1" dirty="0"/>
              <a:t>] = </a:t>
            </a:r>
            <a:r>
              <a:rPr lang="en-US" sz="2400" b="1" dirty="0">
                <a:solidFill>
                  <a:srgbClr val="FF0000"/>
                </a:solidFill>
              </a:rPr>
              <a:t>new </a:t>
            </a:r>
            <a:r>
              <a:rPr lang="en-US" sz="2400" b="1" dirty="0"/>
              <a:t>[</a:t>
            </a:r>
            <a:r>
              <a:rPr lang="en-US" sz="2400" b="1" dirty="0" err="1">
                <a:solidFill>
                  <a:srgbClr val="0070C0"/>
                </a:solidFill>
              </a:rPr>
              <a:t>kiểu</a:t>
            </a:r>
            <a:r>
              <a:rPr lang="en-US" sz="2400" b="1" dirty="0">
                <a:solidFill>
                  <a:srgbClr val="0070C0"/>
                </a:solidFill>
              </a:rPr>
              <a:t> </a:t>
            </a:r>
            <a:r>
              <a:rPr lang="en-US" sz="2400" b="1" dirty="0" err="1">
                <a:solidFill>
                  <a:srgbClr val="0070C0"/>
                </a:solidFill>
              </a:rPr>
              <a:t>dữ</a:t>
            </a:r>
            <a:r>
              <a:rPr lang="en-US" sz="2400" b="1" dirty="0">
                <a:solidFill>
                  <a:srgbClr val="0070C0"/>
                </a:solidFill>
              </a:rPr>
              <a:t> </a:t>
            </a:r>
            <a:r>
              <a:rPr lang="en-US" sz="2400" b="1" dirty="0" err="1">
                <a:solidFill>
                  <a:srgbClr val="0070C0"/>
                </a:solidFill>
              </a:rPr>
              <a:t>liệu</a:t>
            </a:r>
            <a:r>
              <a:rPr lang="en-US" sz="2400" b="1" dirty="0"/>
              <a:t>][</a:t>
            </a:r>
            <a:r>
              <a:rPr lang="en-US" sz="2400" b="1" dirty="0" err="1">
                <a:solidFill>
                  <a:srgbClr val="C00000"/>
                </a:solidFill>
              </a:rPr>
              <a:t>tổng</a:t>
            </a:r>
            <a:r>
              <a:rPr lang="en-US" sz="2400" b="1" dirty="0">
                <a:solidFill>
                  <a:srgbClr val="C00000"/>
                </a:solidFill>
              </a:rPr>
              <a:t> </a:t>
            </a:r>
            <a:r>
              <a:rPr lang="en-US" sz="2400" b="1" dirty="0" err="1">
                <a:solidFill>
                  <a:srgbClr val="C00000"/>
                </a:solidFill>
              </a:rPr>
              <a:t>số</a:t>
            </a:r>
            <a:r>
              <a:rPr lang="en-US" sz="2400" b="1" dirty="0">
                <a:solidFill>
                  <a:srgbClr val="C00000"/>
                </a:solidFill>
              </a:rPr>
              <a:t> </a:t>
            </a:r>
            <a:r>
              <a:rPr lang="en-US" sz="2400" b="1" dirty="0" err="1">
                <a:solidFill>
                  <a:srgbClr val="C00000"/>
                </a:solidFill>
              </a:rPr>
              <a:t>phần</a:t>
            </a:r>
            <a:r>
              <a:rPr lang="en-US" sz="2400" b="1" dirty="0">
                <a:solidFill>
                  <a:srgbClr val="C00000"/>
                </a:solidFill>
              </a:rPr>
              <a:t> </a:t>
            </a:r>
            <a:r>
              <a:rPr lang="en-US" sz="2400" b="1" dirty="0" err="1">
                <a:solidFill>
                  <a:srgbClr val="C00000"/>
                </a:solidFill>
              </a:rPr>
              <a:t>tử</a:t>
            </a:r>
            <a:r>
              <a:rPr lang="en-US" sz="2400" b="1" dirty="0"/>
              <a:t>]</a:t>
            </a:r>
          </a:p>
          <a:p>
            <a:pPr marL="0" indent="0" algn="l">
              <a:spcBef>
                <a:spcPts val="0"/>
              </a:spcBef>
              <a:buNone/>
            </a:pPr>
            <a:r>
              <a:rPr lang="en-US" sz="2400" b="1" dirty="0"/>
              <a:t>	</a:t>
            </a:r>
            <a:r>
              <a:rPr lang="en-US" dirty="0">
                <a:solidFill>
                  <a:srgbClr val="000099"/>
                </a:solidFill>
              </a:rPr>
              <a:t>int [] so = new int[10];</a:t>
            </a:r>
          </a:p>
          <a:p>
            <a:pPr marL="0" indent="0" algn="l">
              <a:spcBef>
                <a:spcPts val="0"/>
              </a:spcBef>
              <a:buNone/>
            </a:pPr>
            <a:r>
              <a:rPr lang="en-US" dirty="0">
                <a:solidFill>
                  <a:srgbClr val="000099"/>
                </a:solidFill>
              </a:rPr>
              <a:t>	float[] diem = new float[3];</a:t>
            </a:r>
          </a:p>
        </p:txBody>
      </p:sp>
      <p:sp>
        <p:nvSpPr>
          <p:cNvPr id="4" name="Date Placeholder 3"/>
          <p:cNvSpPr>
            <a:spLocks noGrp="1"/>
          </p:cNvSpPr>
          <p:nvPr>
            <p:ph type="dt" sz="half" idx="10"/>
          </p:nvPr>
        </p:nvSpPr>
        <p:spPr/>
        <p:txBody>
          <a:bodyPr/>
          <a:lstStyle/>
          <a:p>
            <a:fld id="{F2EBAA08-7C8F-4CA2-8751-6991ACB89095}"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37</a:t>
            </a:fld>
            <a:r>
              <a:rPr lang="vi-VN"/>
              <a:t>/47</a:t>
            </a:r>
          </a:p>
        </p:txBody>
      </p:sp>
    </p:spTree>
    <p:extLst>
      <p:ext uri="{BB962C8B-B14F-4D97-AF65-F5344CB8AC3E}">
        <p14:creationId xmlns:p14="http://schemas.microsoft.com/office/powerpoint/2010/main" val="42846707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trong C#</a:t>
            </a:r>
            <a:endParaRPr lang="vi-VN"/>
          </a:p>
        </p:txBody>
      </p:sp>
      <p:sp>
        <p:nvSpPr>
          <p:cNvPr id="3" name="Content Placeholder 2"/>
          <p:cNvSpPr>
            <a:spLocks noGrp="1"/>
          </p:cNvSpPr>
          <p:nvPr>
            <p:ph idx="1"/>
          </p:nvPr>
        </p:nvSpPr>
        <p:spPr/>
        <p:txBody>
          <a:bodyPr>
            <a:normAutofit lnSpcReduction="10000"/>
          </a:bodyPr>
          <a:lstStyle/>
          <a:p>
            <a:r>
              <a:rPr lang="en-US"/>
              <a:t>Giá trị mặc định: mỗi thành phần sẽ chứa giá trị mặc định của kiểu dữ liệu</a:t>
            </a:r>
          </a:p>
          <a:p>
            <a:pPr marL="0" indent="0">
              <a:buNone/>
            </a:pPr>
            <a:r>
              <a:rPr lang="en-US" b="1"/>
              <a:t>     </a:t>
            </a:r>
            <a:r>
              <a:rPr lang="en-US" sz="2400" b="1">
                <a:solidFill>
                  <a:srgbClr val="0070C0"/>
                </a:solidFill>
              </a:rPr>
              <a:t>Ví dụ: int [] so = new int[5];</a:t>
            </a:r>
            <a:r>
              <a:rPr lang="en-US" sz="2400">
                <a:solidFill>
                  <a:srgbClr val="0070C0"/>
                </a:solidFill>
              </a:rPr>
              <a:t> tạo một mảng gồm 5 số nguyên, mỗi thành phần giá trị mặc định là 0</a:t>
            </a:r>
          </a:p>
          <a:p>
            <a:r>
              <a:rPr lang="en-US"/>
              <a:t>Khởi tạo thành phần của mảng</a:t>
            </a:r>
          </a:p>
          <a:p>
            <a:pPr lvl="1"/>
            <a:r>
              <a:rPr lang="en-US"/>
              <a:t>Đặt các giá trị khởi tạo trong cặp dấu { }</a:t>
            </a:r>
          </a:p>
          <a:p>
            <a:pPr lvl="1"/>
            <a:r>
              <a:rPr lang="en-US"/>
              <a:t>Ví dụ:</a:t>
            </a:r>
          </a:p>
          <a:p>
            <a:pPr marL="471487" lvl="1" indent="0">
              <a:buNone/>
            </a:pPr>
            <a:r>
              <a:rPr lang="en-US"/>
              <a:t>int[] myIntArray1 = new int[5]{2,4,6,8,10};</a:t>
            </a:r>
          </a:p>
          <a:p>
            <a:pPr marL="471487" lvl="1" indent="0">
              <a:buNone/>
            </a:pPr>
            <a:r>
              <a:rPr lang="en-US"/>
              <a:t>int[] myIntArray2 = {2,4,6,8,10};</a:t>
            </a:r>
          </a:p>
          <a:p>
            <a:pPr marL="471487" lvl="1" indent="0">
              <a:buNone/>
            </a:pPr>
            <a:endParaRPr lang="vi-VN"/>
          </a:p>
        </p:txBody>
      </p:sp>
      <p:sp>
        <p:nvSpPr>
          <p:cNvPr id="4" name="Date Placeholder 3"/>
          <p:cNvSpPr>
            <a:spLocks noGrp="1"/>
          </p:cNvSpPr>
          <p:nvPr>
            <p:ph type="dt" sz="half" idx="10"/>
          </p:nvPr>
        </p:nvSpPr>
        <p:spPr/>
        <p:txBody>
          <a:bodyPr/>
          <a:lstStyle/>
          <a:p>
            <a:fld id="{EE71A463-D6BC-4952-A402-F9D96CF5AA60}"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38</a:t>
            </a:fld>
            <a:r>
              <a:rPr lang="vi-VN"/>
              <a:t>/47</a:t>
            </a:r>
          </a:p>
        </p:txBody>
      </p:sp>
    </p:spTree>
    <p:extLst>
      <p:ext uri="{BB962C8B-B14F-4D97-AF65-F5344CB8AC3E}">
        <p14:creationId xmlns:p14="http://schemas.microsoft.com/office/powerpoint/2010/main" val="1236813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trong C#</a:t>
            </a:r>
            <a:endParaRPr lang="vi-VN"/>
          </a:p>
        </p:txBody>
      </p:sp>
      <p:sp>
        <p:nvSpPr>
          <p:cNvPr id="3" name="Content Placeholder 2"/>
          <p:cNvSpPr>
            <a:spLocks noGrp="1"/>
          </p:cNvSpPr>
          <p:nvPr>
            <p:ph idx="1"/>
          </p:nvPr>
        </p:nvSpPr>
        <p:spPr/>
        <p:txBody>
          <a:bodyPr/>
          <a:lstStyle/>
          <a:p>
            <a:r>
              <a:rPr lang="en-US"/>
              <a:t>Truy cập các thành phần trong mảng</a:t>
            </a:r>
          </a:p>
          <a:p>
            <a:pPr lvl="1"/>
            <a:r>
              <a:rPr lang="en-US"/>
              <a:t>Dùng toán tử chỉ số [ ]: &lt;tên mảng&gt;[chỉ số]</a:t>
            </a:r>
          </a:p>
          <a:p>
            <a:pPr lvl="1"/>
            <a:r>
              <a:rPr lang="en-US"/>
              <a:t>Chỉ số phần tử đầu tiên là 0</a:t>
            </a:r>
          </a:p>
          <a:p>
            <a:pPr lvl="1"/>
            <a:r>
              <a:rPr lang="en-US"/>
              <a:t>Ví dụ:</a:t>
            </a:r>
            <a:endParaRPr lang="vi-VN"/>
          </a:p>
        </p:txBody>
      </p:sp>
      <p:sp>
        <p:nvSpPr>
          <p:cNvPr id="4" name="Date Placeholder 3"/>
          <p:cNvSpPr>
            <a:spLocks noGrp="1"/>
          </p:cNvSpPr>
          <p:nvPr>
            <p:ph type="dt" sz="half" idx="10"/>
          </p:nvPr>
        </p:nvSpPr>
        <p:spPr/>
        <p:txBody>
          <a:bodyPr/>
          <a:lstStyle/>
          <a:p>
            <a:fld id="{0D565AEE-60B3-4D87-873C-43898D5321ED}"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39</a:t>
            </a:fld>
            <a:r>
              <a:rPr lang="vi-VN"/>
              <a:t>/47</a:t>
            </a:r>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190570"/>
            <a:ext cx="7200800" cy="2326662"/>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39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trong C#</a:t>
            </a:r>
            <a:endParaRPr lang="vi-VN"/>
          </a:p>
        </p:txBody>
      </p:sp>
      <p:sp>
        <p:nvSpPr>
          <p:cNvPr id="3" name="Content Placeholder 2"/>
          <p:cNvSpPr>
            <a:spLocks noGrp="1"/>
          </p:cNvSpPr>
          <p:nvPr>
            <p:ph idx="1"/>
          </p:nvPr>
        </p:nvSpPr>
        <p:spPr>
          <a:xfrm>
            <a:off x="457200" y="1124744"/>
            <a:ext cx="8229600" cy="5161776"/>
          </a:xfrm>
        </p:spPr>
        <p:txBody>
          <a:bodyPr>
            <a:normAutofit/>
          </a:bodyPr>
          <a:lstStyle/>
          <a:p>
            <a:r>
              <a:rPr lang="en-US" sz="2400" b="1" dirty="0" err="1"/>
              <a:t>Ví</a:t>
            </a:r>
            <a:r>
              <a:rPr lang="en-US" sz="2400" b="1" dirty="0"/>
              <a:t> </a:t>
            </a:r>
            <a:r>
              <a:rPr lang="en-US" sz="2400" b="1" dirty="0" err="1"/>
              <a:t>dụ</a:t>
            </a:r>
            <a:r>
              <a:rPr lang="en-US" sz="2400" b="1" dirty="0"/>
              <a:t>: </a:t>
            </a:r>
            <a:r>
              <a:rPr lang="en-US" sz="2400" dirty="0" err="1"/>
              <a:t>Nhập</a:t>
            </a:r>
            <a:r>
              <a:rPr lang="en-US" sz="2400" dirty="0"/>
              <a:t> </a:t>
            </a:r>
            <a:r>
              <a:rPr lang="en-US" sz="2400" dirty="0" err="1"/>
              <a:t>mảng</a:t>
            </a:r>
            <a:r>
              <a:rPr lang="en-US" sz="2400" dirty="0"/>
              <a:t> a </a:t>
            </a:r>
            <a:r>
              <a:rPr lang="en-US" sz="2400" dirty="0" err="1"/>
              <a:t>gồm</a:t>
            </a:r>
            <a:r>
              <a:rPr lang="en-US" sz="2400" dirty="0"/>
              <a:t> N </a:t>
            </a:r>
            <a:r>
              <a:rPr lang="en-US" sz="2400" dirty="0" err="1"/>
              <a:t>phần</a:t>
            </a:r>
            <a:r>
              <a:rPr lang="en-US" sz="2400" dirty="0"/>
              <a:t> </a:t>
            </a:r>
            <a:r>
              <a:rPr lang="en-US" sz="2400" dirty="0" err="1"/>
              <a:t>tử</a:t>
            </a:r>
            <a:r>
              <a:rPr lang="en-US" sz="2400" dirty="0"/>
              <a:t>, in </a:t>
            </a:r>
            <a:r>
              <a:rPr lang="en-US" sz="2400" dirty="0" err="1"/>
              <a:t>mảng</a:t>
            </a:r>
            <a:r>
              <a:rPr lang="en-US" sz="2400" dirty="0"/>
              <a:t> </a:t>
            </a:r>
            <a:r>
              <a:rPr lang="en-US" sz="2400" dirty="0" err="1"/>
              <a:t>vừa</a:t>
            </a:r>
            <a:r>
              <a:rPr lang="en-US" sz="2400" dirty="0"/>
              <a:t> </a:t>
            </a:r>
            <a:r>
              <a:rPr lang="en-US" sz="2400" dirty="0" err="1"/>
              <a:t>nhập</a:t>
            </a:r>
            <a:r>
              <a:rPr lang="en-US" sz="2400" dirty="0"/>
              <a:t> ra </a:t>
            </a:r>
            <a:r>
              <a:rPr lang="en-US" sz="2400" dirty="0" err="1"/>
              <a:t>màn</a:t>
            </a:r>
            <a:r>
              <a:rPr lang="en-US" sz="2400" dirty="0"/>
              <a:t> </a:t>
            </a:r>
            <a:r>
              <a:rPr lang="en-US" sz="2400" dirty="0" err="1"/>
              <a:t>hình</a:t>
            </a:r>
            <a:endParaRPr lang="vi-VN" sz="2400" dirty="0"/>
          </a:p>
        </p:txBody>
      </p:sp>
      <p:sp>
        <p:nvSpPr>
          <p:cNvPr id="4" name="Date Placeholder 3"/>
          <p:cNvSpPr>
            <a:spLocks noGrp="1"/>
          </p:cNvSpPr>
          <p:nvPr>
            <p:ph type="dt" sz="half" idx="10"/>
          </p:nvPr>
        </p:nvSpPr>
        <p:spPr/>
        <p:txBody>
          <a:bodyPr/>
          <a:lstStyle/>
          <a:p>
            <a:fld id="{31BFF8A1-91B8-40DD-B3D7-E4C648EC0C6B}"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40</a:t>
            </a:fld>
            <a:r>
              <a:rPr lang="vi-VN"/>
              <a:t>/47</a:t>
            </a:r>
          </a:p>
        </p:txBody>
      </p:sp>
      <p:sp>
        <p:nvSpPr>
          <p:cNvPr id="6" name="Rectangle 5"/>
          <p:cNvSpPr/>
          <p:nvPr/>
        </p:nvSpPr>
        <p:spPr>
          <a:xfrm>
            <a:off x="1259632" y="2001029"/>
            <a:ext cx="7272808" cy="4524315"/>
          </a:xfrm>
          <a:prstGeom prst="rect">
            <a:avLst/>
          </a:prstGeom>
        </p:spPr>
        <p:txBody>
          <a:bodyPr wrap="square">
            <a:spAutoFit/>
          </a:bodyPr>
          <a:lstStyle/>
          <a:p>
            <a:r>
              <a:rPr lang="vi-VN" sz="1600" dirty="0" err="1"/>
              <a:t>class</a:t>
            </a:r>
            <a:r>
              <a:rPr lang="vi-VN" sz="1600" dirty="0"/>
              <a:t> </a:t>
            </a:r>
            <a:r>
              <a:rPr lang="vi-VN" sz="1600" dirty="0" err="1"/>
              <a:t>Program</a:t>
            </a:r>
            <a:endParaRPr lang="vi-VN" sz="1600" dirty="0"/>
          </a:p>
          <a:p>
            <a:r>
              <a:rPr lang="vi-VN" sz="1600" dirty="0"/>
              <a:t>    {  </a:t>
            </a:r>
            <a:r>
              <a:rPr lang="vi-VN" sz="1600" dirty="0" err="1"/>
              <a:t>static</a:t>
            </a:r>
            <a:r>
              <a:rPr lang="vi-VN" sz="1600" dirty="0"/>
              <a:t> </a:t>
            </a:r>
            <a:r>
              <a:rPr lang="vi-VN" sz="1600" dirty="0" err="1"/>
              <a:t>void</a:t>
            </a:r>
            <a:r>
              <a:rPr lang="vi-VN" sz="1600" dirty="0"/>
              <a:t> </a:t>
            </a:r>
            <a:r>
              <a:rPr lang="vi-VN" sz="1600" dirty="0" err="1"/>
              <a:t>Main</a:t>
            </a:r>
            <a:r>
              <a:rPr lang="vi-VN" sz="1600" dirty="0"/>
              <a:t>(</a:t>
            </a:r>
            <a:r>
              <a:rPr lang="vi-VN" sz="1600" dirty="0" err="1"/>
              <a:t>string</a:t>
            </a:r>
            <a:r>
              <a:rPr lang="vi-VN" sz="1600" dirty="0"/>
              <a:t>[] </a:t>
            </a:r>
            <a:r>
              <a:rPr lang="vi-VN" sz="1600" dirty="0" err="1"/>
              <a:t>args</a:t>
            </a:r>
            <a:r>
              <a:rPr lang="vi-VN" sz="1600" dirty="0"/>
              <a:t>)</a:t>
            </a:r>
          </a:p>
          <a:p>
            <a:r>
              <a:rPr lang="vi-VN" sz="1600" dirty="0"/>
              <a:t>        {  </a:t>
            </a:r>
            <a:r>
              <a:rPr lang="vi-VN" sz="1600" dirty="0" err="1"/>
              <a:t>int</a:t>
            </a:r>
            <a:r>
              <a:rPr lang="vi-VN" sz="1600" dirty="0"/>
              <a:t> n, i;</a:t>
            </a:r>
          </a:p>
          <a:p>
            <a:r>
              <a:rPr lang="vi-VN" sz="1600" dirty="0"/>
              <a:t>           </a:t>
            </a:r>
            <a:r>
              <a:rPr lang="vi-VN" sz="1600" dirty="0" err="1"/>
              <a:t>int</a:t>
            </a:r>
            <a:r>
              <a:rPr lang="vi-VN" sz="1600" dirty="0"/>
              <a:t>[] a;</a:t>
            </a:r>
          </a:p>
          <a:p>
            <a:r>
              <a:rPr lang="vi-VN" sz="1600" dirty="0"/>
              <a:t>           </a:t>
            </a:r>
            <a:r>
              <a:rPr lang="vi-VN" sz="1600" dirty="0" err="1"/>
              <a:t>Console.WriteLine</a:t>
            </a:r>
            <a:r>
              <a:rPr lang="vi-VN" sz="1600" dirty="0"/>
              <a:t>("</a:t>
            </a:r>
            <a:r>
              <a:rPr lang="vi-VN" sz="1600" dirty="0" err="1"/>
              <a:t>Nhap</a:t>
            </a:r>
            <a:r>
              <a:rPr lang="vi-VN" sz="1600" dirty="0"/>
              <a:t> so </a:t>
            </a:r>
            <a:r>
              <a:rPr lang="vi-VN" sz="1600" dirty="0" err="1"/>
              <a:t>luong</a:t>
            </a:r>
            <a:r>
              <a:rPr lang="vi-VN" sz="1600" dirty="0"/>
              <a:t> phan tu: ");</a:t>
            </a:r>
          </a:p>
          <a:p>
            <a:r>
              <a:rPr lang="vi-VN" sz="1600" dirty="0"/>
              <a:t>           n = Convert.ToInt32(</a:t>
            </a:r>
            <a:r>
              <a:rPr lang="vi-VN" sz="1600" dirty="0" err="1"/>
              <a:t>Console.ReadLine</a:t>
            </a:r>
            <a:r>
              <a:rPr lang="vi-VN" sz="1600" dirty="0"/>
              <a:t>());</a:t>
            </a:r>
          </a:p>
          <a:p>
            <a:r>
              <a:rPr lang="vi-VN" sz="1600" dirty="0"/>
              <a:t>           a = </a:t>
            </a:r>
            <a:r>
              <a:rPr lang="vi-VN" sz="1600" dirty="0" err="1"/>
              <a:t>new</a:t>
            </a:r>
            <a:r>
              <a:rPr lang="vi-VN" sz="1600" dirty="0"/>
              <a:t> </a:t>
            </a:r>
            <a:r>
              <a:rPr lang="vi-VN" sz="1600" dirty="0" err="1"/>
              <a:t>int</a:t>
            </a:r>
            <a:r>
              <a:rPr lang="vi-VN" sz="1600" dirty="0"/>
              <a:t>[n];</a:t>
            </a:r>
          </a:p>
          <a:p>
            <a:r>
              <a:rPr lang="nn-NO" sz="1600" dirty="0"/>
              <a:t>           for (i = 0; i &lt; n; i++)</a:t>
            </a:r>
          </a:p>
          <a:p>
            <a:r>
              <a:rPr lang="vi-VN" sz="1600" dirty="0"/>
              <a:t>           {   </a:t>
            </a:r>
            <a:r>
              <a:rPr lang="vi-VN" sz="1600" dirty="0" err="1"/>
              <a:t>Console.WriteLine</a:t>
            </a:r>
            <a:r>
              <a:rPr lang="vi-VN" sz="1600" dirty="0"/>
              <a:t>("</a:t>
            </a:r>
            <a:r>
              <a:rPr lang="vi-VN" sz="1600" dirty="0" err="1"/>
              <a:t>Nhap</a:t>
            </a:r>
            <a:r>
              <a:rPr lang="vi-VN" sz="1600" dirty="0"/>
              <a:t> phan tu thu {0}: ", i);</a:t>
            </a:r>
          </a:p>
          <a:p>
            <a:r>
              <a:rPr lang="vi-VN" sz="1600" dirty="0"/>
              <a:t>               a[i] = </a:t>
            </a:r>
            <a:r>
              <a:rPr lang="en-US" sz="1600" dirty="0"/>
              <a:t>convert.Toint32</a:t>
            </a:r>
            <a:r>
              <a:rPr lang="vi-VN" sz="1600" dirty="0"/>
              <a:t>(</a:t>
            </a:r>
            <a:r>
              <a:rPr lang="vi-VN" sz="1600" dirty="0" err="1"/>
              <a:t>Console.ReadLine</a:t>
            </a:r>
            <a:r>
              <a:rPr lang="vi-VN" sz="1600" dirty="0"/>
              <a:t>());</a:t>
            </a:r>
          </a:p>
          <a:p>
            <a:r>
              <a:rPr lang="vi-VN" sz="1600" dirty="0"/>
              <a:t>           }</a:t>
            </a:r>
          </a:p>
          <a:p>
            <a:r>
              <a:rPr lang="fr-FR" sz="1600" dirty="0"/>
              <a:t>           </a:t>
            </a:r>
            <a:r>
              <a:rPr lang="fr-FR" sz="1600" dirty="0" err="1"/>
              <a:t>Console.WriteLine</a:t>
            </a:r>
            <a:r>
              <a:rPr lang="fr-FR" sz="1600" dirty="0"/>
              <a:t>("</a:t>
            </a:r>
            <a:r>
              <a:rPr lang="fr-FR" sz="1600" dirty="0" err="1"/>
              <a:t>Mang</a:t>
            </a:r>
            <a:r>
              <a:rPr lang="fr-FR" sz="1600" dirty="0"/>
              <a:t> </a:t>
            </a:r>
            <a:r>
              <a:rPr lang="fr-FR" sz="1600" dirty="0" err="1"/>
              <a:t>vua</a:t>
            </a:r>
            <a:r>
              <a:rPr lang="fr-FR" sz="1600" dirty="0"/>
              <a:t> </a:t>
            </a:r>
            <a:r>
              <a:rPr lang="fr-FR" sz="1600" dirty="0" err="1"/>
              <a:t>nhap</a:t>
            </a:r>
            <a:r>
              <a:rPr lang="fr-FR" sz="1600" dirty="0"/>
              <a:t> la: ");</a:t>
            </a:r>
          </a:p>
          <a:p>
            <a:r>
              <a:rPr lang="nn-NO" sz="1600" dirty="0"/>
              <a:t>           for (i = 0; i &lt; n; i++)</a:t>
            </a:r>
          </a:p>
          <a:p>
            <a:r>
              <a:rPr lang="vi-VN" sz="1600" dirty="0"/>
              <a:t>           { </a:t>
            </a:r>
            <a:r>
              <a:rPr lang="vi-VN" sz="1600" dirty="0" err="1"/>
              <a:t>Console.Write</a:t>
            </a:r>
            <a:r>
              <a:rPr lang="vi-VN" sz="1600" dirty="0"/>
              <a:t>("{0} ", a[i]);</a:t>
            </a:r>
          </a:p>
          <a:p>
            <a:r>
              <a:rPr lang="vi-VN" sz="1600" dirty="0"/>
              <a:t>           }</a:t>
            </a:r>
          </a:p>
          <a:p>
            <a:r>
              <a:rPr lang="vi-VN" sz="1600" dirty="0"/>
              <a:t>           </a:t>
            </a:r>
            <a:r>
              <a:rPr lang="vi-VN" sz="1600" dirty="0" err="1"/>
              <a:t>Console.ReadLine</a:t>
            </a:r>
            <a:r>
              <a:rPr lang="vi-VN" sz="1600" dirty="0"/>
              <a:t>();</a:t>
            </a:r>
          </a:p>
          <a:p>
            <a:r>
              <a:rPr lang="vi-VN" sz="1600" dirty="0"/>
              <a:t>        }</a:t>
            </a:r>
          </a:p>
          <a:p>
            <a:r>
              <a:rPr lang="vi-VN" sz="1600" dirty="0"/>
              <a:t>    }</a:t>
            </a:r>
          </a:p>
        </p:txBody>
      </p:sp>
    </p:spTree>
    <p:extLst>
      <p:ext uri="{BB962C8B-B14F-4D97-AF65-F5344CB8AC3E}">
        <p14:creationId xmlns:p14="http://schemas.microsoft.com/office/powerpoint/2010/main" val="11462872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trong C#</a:t>
            </a:r>
            <a:endParaRPr lang="vi-VN"/>
          </a:p>
        </p:txBody>
      </p:sp>
      <p:sp>
        <p:nvSpPr>
          <p:cNvPr id="3" name="Content Placeholder 2"/>
          <p:cNvSpPr>
            <a:spLocks noGrp="1"/>
          </p:cNvSpPr>
          <p:nvPr>
            <p:ph idx="1"/>
          </p:nvPr>
        </p:nvSpPr>
        <p:spPr>
          <a:xfrm>
            <a:off x="457200" y="1124744"/>
            <a:ext cx="8229600" cy="5161776"/>
          </a:xfrm>
        </p:spPr>
        <p:txBody>
          <a:bodyPr/>
          <a:lstStyle/>
          <a:p>
            <a:r>
              <a:rPr lang="en-US" dirty="0" err="1"/>
              <a:t>Ngôn</a:t>
            </a:r>
            <a:r>
              <a:rPr lang="en-US" dirty="0"/>
              <a:t> </a:t>
            </a:r>
            <a:r>
              <a:rPr lang="en-US" dirty="0" err="1"/>
              <a:t>ngữ</a:t>
            </a:r>
            <a:r>
              <a:rPr lang="en-US" dirty="0"/>
              <a:t> C# </a:t>
            </a:r>
            <a:r>
              <a:rPr lang="en-US" dirty="0" err="1"/>
              <a:t>cung</a:t>
            </a:r>
            <a:r>
              <a:rPr lang="en-US" dirty="0"/>
              <a:t> </a:t>
            </a:r>
            <a:r>
              <a:rPr lang="en-US" dirty="0" err="1"/>
              <a:t>cấp</a:t>
            </a:r>
            <a:r>
              <a:rPr lang="en-US" dirty="0"/>
              <a:t> </a:t>
            </a:r>
            <a:r>
              <a:rPr lang="en-US" dirty="0" err="1"/>
              <a:t>cú</a:t>
            </a:r>
            <a:r>
              <a:rPr lang="en-US" dirty="0"/>
              <a:t> </a:t>
            </a:r>
            <a:r>
              <a:rPr lang="en-US" dirty="0" err="1"/>
              <a:t>pháp</a:t>
            </a:r>
            <a:r>
              <a:rPr lang="en-US" dirty="0"/>
              <a:t> </a:t>
            </a:r>
            <a:r>
              <a:rPr lang="en-US" dirty="0" err="1"/>
              <a:t>chuẩn</a:t>
            </a:r>
            <a:r>
              <a:rPr lang="en-US" dirty="0"/>
              <a:t> </a:t>
            </a:r>
            <a:r>
              <a:rPr lang="en-US" dirty="0" err="1"/>
              <a:t>cho</a:t>
            </a:r>
            <a:r>
              <a:rPr lang="en-US" dirty="0"/>
              <a:t> </a:t>
            </a:r>
            <a:r>
              <a:rPr lang="en-US" dirty="0" err="1"/>
              <a:t>việc</a:t>
            </a:r>
            <a:r>
              <a:rPr lang="en-US" dirty="0"/>
              <a:t> </a:t>
            </a:r>
            <a:r>
              <a:rPr lang="en-US" dirty="0" err="1"/>
              <a:t>khai</a:t>
            </a:r>
            <a:r>
              <a:rPr lang="en-US" dirty="0"/>
              <a:t> </a:t>
            </a:r>
            <a:r>
              <a:rPr lang="en-US" dirty="0" err="1"/>
              <a:t>báo</a:t>
            </a:r>
            <a:r>
              <a:rPr lang="en-US" dirty="0"/>
              <a:t> </a:t>
            </a:r>
            <a:r>
              <a:rPr lang="en-US" dirty="0" err="1"/>
              <a:t>những</a:t>
            </a:r>
            <a:r>
              <a:rPr lang="en-US" dirty="0"/>
              <a:t> </a:t>
            </a:r>
            <a:r>
              <a:rPr lang="en-US" dirty="0" err="1"/>
              <a:t>đối</a:t>
            </a:r>
            <a:r>
              <a:rPr lang="en-US" dirty="0"/>
              <a:t> </a:t>
            </a:r>
            <a:r>
              <a:rPr lang="en-US" dirty="0" err="1"/>
              <a:t>tượng</a:t>
            </a:r>
            <a:r>
              <a:rPr lang="en-US" dirty="0"/>
              <a:t> Array</a:t>
            </a:r>
            <a:endParaRPr lang="vi-VN" dirty="0"/>
          </a:p>
        </p:txBody>
      </p:sp>
      <p:sp>
        <p:nvSpPr>
          <p:cNvPr id="4" name="Date Placeholder 3"/>
          <p:cNvSpPr>
            <a:spLocks noGrp="1"/>
          </p:cNvSpPr>
          <p:nvPr>
            <p:ph type="dt" sz="half" idx="10"/>
          </p:nvPr>
        </p:nvSpPr>
        <p:spPr/>
        <p:txBody>
          <a:bodyPr/>
          <a:lstStyle/>
          <a:p>
            <a:fld id="{027EC593-B0D4-4A4B-95DC-889290328ECC}" type="datetime1">
              <a:rPr lang="vi-VN" smtClean="0"/>
              <a:t>08/01/2025</a:t>
            </a:fld>
            <a:endParaRPr lang="vi-VN"/>
          </a:p>
        </p:txBody>
      </p:sp>
      <p:sp>
        <p:nvSpPr>
          <p:cNvPr id="5" name="Footer Placeholder 4"/>
          <p:cNvSpPr>
            <a:spLocks noGrp="1"/>
          </p:cNvSpPr>
          <p:nvPr>
            <p:ph type="ftr" sz="quarter" idx="11"/>
          </p:nvPr>
        </p:nvSpPr>
        <p:spPr>
          <a:xfrm>
            <a:off x="2699792" y="6381328"/>
            <a:ext cx="3962400" cy="320675"/>
          </a:xfrm>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41</a:t>
            </a:fld>
            <a:r>
              <a:rPr lang="vi-VN"/>
              <a:t>/47</a:t>
            </a: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4036" y="2286000"/>
            <a:ext cx="6781800" cy="41148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44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Mảng trong C#</a:t>
            </a:r>
            <a:endParaRPr lang="vi-VN"/>
          </a:p>
        </p:txBody>
      </p:sp>
      <p:sp>
        <p:nvSpPr>
          <p:cNvPr id="3" name="Content Placeholder 2"/>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AF1FF81A-FB55-4064-9102-A762040F6015}"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7" name="Slide Number Placeholder 6"/>
          <p:cNvSpPr>
            <a:spLocks noGrp="1"/>
          </p:cNvSpPr>
          <p:nvPr>
            <p:ph type="sldNum" sz="quarter" idx="12"/>
          </p:nvPr>
        </p:nvSpPr>
        <p:spPr/>
        <p:txBody>
          <a:bodyPr/>
          <a:lstStyle/>
          <a:p>
            <a:fld id="{5AB95402-1E0D-474E-8D8C-CBE7F053639E}" type="slidenum">
              <a:rPr lang="vi-VN" smtClean="0"/>
              <a:pPr/>
              <a:t>42</a:t>
            </a:fld>
            <a:r>
              <a:rPr lang="vi-VN"/>
              <a:t>/47</a:t>
            </a: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6914" y="1772816"/>
            <a:ext cx="6243464" cy="4350968"/>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86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endParaRPr lang="vi-VN"/>
          </a:p>
        </p:txBody>
      </p:sp>
      <p:sp>
        <p:nvSpPr>
          <p:cNvPr id="3" name="Content Placeholder 2"/>
          <p:cNvSpPr>
            <a:spLocks noGrp="1"/>
          </p:cNvSpPr>
          <p:nvPr>
            <p:ph idx="1"/>
          </p:nvPr>
        </p:nvSpPr>
        <p:spPr/>
        <p:txBody>
          <a:bodyPr>
            <a:normAutofit/>
          </a:bodyPr>
          <a:lstStyle/>
          <a:p>
            <a:r>
              <a:rPr lang="en-US" b="1" dirty="0" err="1"/>
              <a:t>Bài</a:t>
            </a:r>
            <a:r>
              <a:rPr lang="en-US" b="1" dirty="0"/>
              <a:t> 1</a:t>
            </a:r>
            <a:r>
              <a:rPr lang="en-US" dirty="0"/>
              <a:t>. </a:t>
            </a:r>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2 </a:t>
            </a:r>
            <a:r>
              <a:rPr lang="en-US" dirty="0" err="1"/>
              <a:t>số</a:t>
            </a:r>
            <a:r>
              <a:rPr lang="en-US" dirty="0"/>
              <a:t> </a:t>
            </a:r>
            <a:r>
              <a:rPr lang="en-US" dirty="0" err="1"/>
              <a:t>thực</a:t>
            </a:r>
            <a:r>
              <a:rPr lang="en-US" dirty="0"/>
              <a:t> a </a:t>
            </a:r>
            <a:r>
              <a:rPr lang="en-US" dirty="0" err="1"/>
              <a:t>và</a:t>
            </a:r>
            <a:r>
              <a:rPr lang="en-US" dirty="0"/>
              <a:t> b. </a:t>
            </a:r>
            <a:r>
              <a:rPr lang="en-US" dirty="0" err="1"/>
              <a:t>Tính</a:t>
            </a:r>
            <a:r>
              <a:rPr lang="en-US" dirty="0"/>
              <a:t> </a:t>
            </a:r>
            <a:r>
              <a:rPr lang="en-US" dirty="0" err="1"/>
              <a:t>tổng</a:t>
            </a:r>
            <a:r>
              <a:rPr lang="en-US" dirty="0"/>
              <a:t>, </a:t>
            </a:r>
            <a:r>
              <a:rPr lang="en-US" dirty="0" err="1"/>
              <a:t>hiệu</a:t>
            </a:r>
            <a:r>
              <a:rPr lang="en-US" dirty="0"/>
              <a:t>, </a:t>
            </a:r>
            <a:r>
              <a:rPr lang="en-US" dirty="0" err="1"/>
              <a:t>tích</a:t>
            </a:r>
            <a:r>
              <a:rPr lang="en-US" dirty="0"/>
              <a:t>, </a:t>
            </a:r>
            <a:r>
              <a:rPr lang="en-US" dirty="0" err="1"/>
              <a:t>thương</a:t>
            </a:r>
            <a:r>
              <a:rPr lang="en-US" dirty="0"/>
              <a:t> </a:t>
            </a:r>
            <a:r>
              <a:rPr lang="en-US" dirty="0" err="1"/>
              <a:t>của</a:t>
            </a:r>
            <a:r>
              <a:rPr lang="en-US" dirty="0"/>
              <a:t> 2 </a:t>
            </a:r>
            <a:r>
              <a:rPr lang="en-US" dirty="0" err="1"/>
              <a:t>số</a:t>
            </a:r>
            <a:r>
              <a:rPr lang="en-US" dirty="0"/>
              <a:t> </a:t>
            </a:r>
            <a:r>
              <a:rPr lang="en-US" dirty="0" err="1"/>
              <a:t>đó</a:t>
            </a:r>
            <a:r>
              <a:rPr lang="en-US" dirty="0"/>
              <a:t>.</a:t>
            </a:r>
          </a:p>
          <a:p>
            <a:r>
              <a:rPr lang="en-US" b="1" dirty="0" err="1"/>
              <a:t>Bài</a:t>
            </a:r>
            <a:r>
              <a:rPr lang="en-US" b="1" dirty="0"/>
              <a:t> 2. </a:t>
            </a:r>
            <a:r>
              <a:rPr lang="en-US" dirty="0" err="1"/>
              <a:t>Viết</a:t>
            </a:r>
            <a:r>
              <a:rPr lang="en-US" dirty="0"/>
              <a:t> </a:t>
            </a:r>
            <a:r>
              <a:rPr lang="en-US" dirty="0" err="1"/>
              <a:t>chương</a:t>
            </a:r>
            <a:r>
              <a:rPr lang="en-US" dirty="0"/>
              <a:t> </a:t>
            </a:r>
            <a:r>
              <a:rPr lang="en-US" dirty="0" err="1"/>
              <a:t>trình</a:t>
            </a:r>
            <a:r>
              <a:rPr lang="en-US" dirty="0"/>
              <a:t> </a:t>
            </a:r>
            <a:r>
              <a:rPr lang="en-US" dirty="0" err="1"/>
              <a:t>giải</a:t>
            </a:r>
            <a:r>
              <a:rPr lang="en-US" dirty="0"/>
              <a:t> </a:t>
            </a:r>
            <a:r>
              <a:rPr lang="en-US" dirty="0" err="1"/>
              <a:t>và</a:t>
            </a:r>
            <a:r>
              <a:rPr lang="en-US" dirty="0"/>
              <a:t> </a:t>
            </a:r>
            <a:r>
              <a:rPr lang="en-US" dirty="0" err="1"/>
              <a:t>biện</a:t>
            </a:r>
            <a:r>
              <a:rPr lang="en-US" dirty="0"/>
              <a:t> </a:t>
            </a:r>
            <a:r>
              <a:rPr lang="en-US" dirty="0" err="1"/>
              <a:t>luận</a:t>
            </a:r>
            <a:r>
              <a:rPr lang="en-US" dirty="0"/>
              <a:t> </a:t>
            </a:r>
            <a:r>
              <a:rPr lang="en-US" dirty="0" err="1"/>
              <a:t>phương</a:t>
            </a:r>
            <a:r>
              <a:rPr lang="en-US" dirty="0"/>
              <a:t> </a:t>
            </a:r>
            <a:r>
              <a:rPr lang="en-US" dirty="0" err="1"/>
              <a:t>trình</a:t>
            </a:r>
            <a:r>
              <a:rPr lang="en-US" dirty="0"/>
              <a:t> </a:t>
            </a:r>
            <a:r>
              <a:rPr lang="en-US" dirty="0" err="1"/>
              <a:t>bậc</a:t>
            </a:r>
            <a:r>
              <a:rPr lang="en-US" dirty="0"/>
              <a:t> </a:t>
            </a:r>
            <a:r>
              <a:rPr lang="en-US" dirty="0" err="1"/>
              <a:t>nhất</a:t>
            </a:r>
            <a:r>
              <a:rPr lang="en-US" dirty="0"/>
              <a:t> ax + b = 0</a:t>
            </a:r>
          </a:p>
          <a:p>
            <a:r>
              <a:rPr lang="en-US" b="1" dirty="0" err="1"/>
              <a:t>Bài</a:t>
            </a:r>
            <a:r>
              <a:rPr lang="en-US" b="1" dirty="0"/>
              <a:t> 3. </a:t>
            </a:r>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a:t>
            </a:r>
            <a:r>
              <a:rPr lang="en-US" dirty="0" err="1"/>
              <a:t>vào</a:t>
            </a:r>
            <a:r>
              <a:rPr lang="en-US" dirty="0"/>
              <a:t> 3 </a:t>
            </a:r>
            <a:r>
              <a:rPr lang="en-US" dirty="0" err="1"/>
              <a:t>số</a:t>
            </a:r>
            <a:r>
              <a:rPr lang="en-US" dirty="0"/>
              <a:t> a, b, c. </a:t>
            </a:r>
            <a:r>
              <a:rPr lang="en-US" dirty="0" err="1"/>
              <a:t>Kiểm</a:t>
            </a:r>
            <a:r>
              <a:rPr lang="en-US" dirty="0"/>
              <a:t> </a:t>
            </a:r>
            <a:r>
              <a:rPr lang="en-US" dirty="0" err="1"/>
              <a:t>tra</a:t>
            </a:r>
            <a:r>
              <a:rPr lang="en-US" dirty="0"/>
              <a:t> </a:t>
            </a:r>
            <a:r>
              <a:rPr lang="en-US" dirty="0" err="1"/>
              <a:t>xem</a:t>
            </a:r>
            <a:r>
              <a:rPr lang="en-US" dirty="0"/>
              <a:t> 3 </a:t>
            </a:r>
            <a:r>
              <a:rPr lang="en-US" dirty="0" err="1"/>
              <a:t>số</a:t>
            </a:r>
            <a:r>
              <a:rPr lang="en-US" dirty="0"/>
              <a:t> </a:t>
            </a:r>
            <a:r>
              <a:rPr lang="en-US" dirty="0" err="1"/>
              <a:t>đó</a:t>
            </a:r>
            <a:r>
              <a:rPr lang="en-US" dirty="0"/>
              <a:t> </a:t>
            </a:r>
            <a:r>
              <a:rPr lang="en-US" dirty="0" err="1"/>
              <a:t>có</a:t>
            </a:r>
            <a:r>
              <a:rPr lang="en-US" dirty="0"/>
              <a:t> </a:t>
            </a:r>
            <a:r>
              <a:rPr lang="en-US" dirty="0" err="1"/>
              <a:t>thoả</a:t>
            </a:r>
            <a:r>
              <a:rPr lang="en-US" dirty="0"/>
              <a:t> </a:t>
            </a:r>
            <a:r>
              <a:rPr lang="en-US" dirty="0" err="1"/>
              <a:t>mãn</a:t>
            </a:r>
            <a:r>
              <a:rPr lang="en-US" dirty="0"/>
              <a:t> 3 </a:t>
            </a:r>
            <a:r>
              <a:rPr lang="en-US" dirty="0" err="1"/>
              <a:t>cạnh</a:t>
            </a:r>
            <a:r>
              <a:rPr lang="en-US" dirty="0"/>
              <a:t> </a:t>
            </a:r>
            <a:r>
              <a:rPr lang="en-US" dirty="0" err="1"/>
              <a:t>của</a:t>
            </a:r>
            <a:r>
              <a:rPr lang="en-US" dirty="0"/>
              <a:t> tam </a:t>
            </a:r>
            <a:r>
              <a:rPr lang="en-US" dirty="0" err="1"/>
              <a:t>giác</a:t>
            </a:r>
            <a:r>
              <a:rPr lang="en-US" dirty="0"/>
              <a:t>? </a:t>
            </a:r>
            <a:r>
              <a:rPr lang="en-US" dirty="0" err="1"/>
              <a:t>Nếu</a:t>
            </a:r>
            <a:r>
              <a:rPr lang="en-US" dirty="0"/>
              <a:t> </a:t>
            </a:r>
            <a:r>
              <a:rPr lang="en-US" dirty="0" err="1"/>
              <a:t>thoả</a:t>
            </a:r>
            <a:r>
              <a:rPr lang="en-US" dirty="0"/>
              <a:t> </a:t>
            </a:r>
            <a:r>
              <a:rPr lang="en-US" dirty="0" err="1"/>
              <a:t>mãn</a:t>
            </a:r>
            <a:r>
              <a:rPr lang="en-US" dirty="0"/>
              <a:t> </a:t>
            </a:r>
            <a:r>
              <a:rPr lang="en-US" dirty="0" err="1"/>
              <a:t>tính</a:t>
            </a:r>
            <a:r>
              <a:rPr lang="en-US" dirty="0"/>
              <a:t> chu vi </a:t>
            </a:r>
            <a:r>
              <a:rPr lang="en-US" dirty="0" err="1"/>
              <a:t>và</a:t>
            </a:r>
            <a:r>
              <a:rPr lang="en-US" dirty="0"/>
              <a:t> </a:t>
            </a:r>
            <a:r>
              <a:rPr lang="en-US" dirty="0" err="1"/>
              <a:t>diện</a:t>
            </a:r>
            <a:r>
              <a:rPr lang="en-US" dirty="0"/>
              <a:t> </a:t>
            </a:r>
            <a:r>
              <a:rPr lang="en-US" dirty="0" err="1"/>
              <a:t>tích</a:t>
            </a:r>
            <a:r>
              <a:rPr lang="en-US" dirty="0"/>
              <a:t> </a:t>
            </a:r>
            <a:r>
              <a:rPr lang="en-US" dirty="0" err="1"/>
              <a:t>của</a:t>
            </a:r>
            <a:r>
              <a:rPr lang="en-US" dirty="0"/>
              <a:t> tam </a:t>
            </a:r>
            <a:r>
              <a:rPr lang="en-US" dirty="0" err="1"/>
              <a:t>giác</a:t>
            </a:r>
            <a:r>
              <a:rPr lang="en-US" dirty="0"/>
              <a:t> </a:t>
            </a:r>
            <a:r>
              <a:rPr lang="en-US" dirty="0" err="1"/>
              <a:t>đó</a:t>
            </a:r>
            <a:r>
              <a:rPr lang="en-US" dirty="0"/>
              <a:t>.</a:t>
            </a:r>
          </a:p>
        </p:txBody>
      </p:sp>
      <p:sp>
        <p:nvSpPr>
          <p:cNvPr id="4" name="Date Placeholder 3"/>
          <p:cNvSpPr>
            <a:spLocks noGrp="1"/>
          </p:cNvSpPr>
          <p:nvPr>
            <p:ph type="dt" sz="half" idx="10"/>
          </p:nvPr>
        </p:nvSpPr>
        <p:spPr/>
        <p:txBody>
          <a:bodyPr/>
          <a:lstStyle/>
          <a:p>
            <a:fld id="{892BE2FF-0967-46B0-9138-04208EE14387}"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43</a:t>
            </a:fld>
            <a:r>
              <a:rPr lang="vi-VN"/>
              <a:t>/47</a:t>
            </a:r>
          </a:p>
        </p:txBody>
      </p:sp>
    </p:spTree>
    <p:extLst>
      <p:ext uri="{BB962C8B-B14F-4D97-AF65-F5344CB8AC3E}">
        <p14:creationId xmlns:p14="http://schemas.microsoft.com/office/powerpoint/2010/main" val="1460257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về nhà</a:t>
            </a:r>
            <a:endParaRPr lang="vi-VN"/>
          </a:p>
        </p:txBody>
      </p:sp>
      <p:sp>
        <p:nvSpPr>
          <p:cNvPr id="3" name="Content Placeholder 2"/>
          <p:cNvSpPr>
            <a:spLocks noGrp="1"/>
          </p:cNvSpPr>
          <p:nvPr>
            <p:ph idx="1"/>
          </p:nvPr>
        </p:nvSpPr>
        <p:spPr/>
        <p:txBody>
          <a:bodyPr>
            <a:normAutofit/>
          </a:bodyPr>
          <a:lstStyle/>
          <a:p>
            <a:r>
              <a:rPr lang="en-US" b="1" dirty="0" err="1"/>
              <a:t>Bài</a:t>
            </a:r>
            <a:r>
              <a:rPr lang="en-US" b="1" dirty="0"/>
              <a:t> 4. </a:t>
            </a:r>
            <a:r>
              <a:rPr lang="en-US" dirty="0" err="1"/>
              <a:t>Viết</a:t>
            </a:r>
            <a:r>
              <a:rPr lang="en-US" dirty="0"/>
              <a:t> </a:t>
            </a:r>
            <a:r>
              <a:rPr lang="en-US" dirty="0" err="1"/>
              <a:t>chương</a:t>
            </a:r>
            <a:r>
              <a:rPr lang="en-US" dirty="0"/>
              <a:t> </a:t>
            </a:r>
            <a:r>
              <a:rPr lang="en-US" dirty="0" err="1"/>
              <a:t>trình</a:t>
            </a:r>
            <a:r>
              <a:rPr lang="en-US" dirty="0"/>
              <a:t> </a:t>
            </a:r>
            <a:r>
              <a:rPr lang="en-US" dirty="0" err="1"/>
              <a:t>nhập</a:t>
            </a:r>
            <a:r>
              <a:rPr lang="en-US" dirty="0"/>
              <a:t> </a:t>
            </a:r>
            <a:r>
              <a:rPr lang="en-US" dirty="0" err="1"/>
              <a:t>vào</a:t>
            </a:r>
            <a:r>
              <a:rPr lang="en-US" dirty="0"/>
              <a:t> </a:t>
            </a:r>
            <a:r>
              <a:rPr lang="en-US" dirty="0" err="1"/>
              <a:t>từ</a:t>
            </a:r>
            <a:r>
              <a:rPr lang="en-US" dirty="0"/>
              <a:t> </a:t>
            </a:r>
            <a:r>
              <a:rPr lang="en-US" dirty="0" err="1"/>
              <a:t>bàn</a:t>
            </a:r>
            <a:r>
              <a:rPr lang="en-US" dirty="0"/>
              <a:t> </a:t>
            </a:r>
            <a:r>
              <a:rPr lang="en-US" dirty="0" err="1"/>
              <a:t>phím</a:t>
            </a:r>
            <a:r>
              <a:rPr lang="en-US" dirty="0"/>
              <a:t> </a:t>
            </a:r>
            <a:r>
              <a:rPr lang="en-US" dirty="0" err="1"/>
              <a:t>dãy</a:t>
            </a:r>
            <a:r>
              <a:rPr lang="en-US" dirty="0"/>
              <a:t> </a:t>
            </a:r>
            <a:r>
              <a:rPr lang="en-US" dirty="0" err="1"/>
              <a:t>gồm</a:t>
            </a:r>
            <a:r>
              <a:rPr lang="en-US" dirty="0"/>
              <a:t> N </a:t>
            </a:r>
            <a:r>
              <a:rPr lang="en-US" dirty="0" err="1"/>
              <a:t>số</a:t>
            </a:r>
            <a:r>
              <a:rPr lang="en-US" dirty="0"/>
              <a:t> </a:t>
            </a:r>
            <a:r>
              <a:rPr lang="en-US" dirty="0" err="1"/>
              <a:t>nguyên</a:t>
            </a:r>
            <a:r>
              <a:rPr lang="en-US" dirty="0"/>
              <a:t>. </a:t>
            </a:r>
            <a:r>
              <a:rPr lang="en-US" dirty="0" err="1"/>
              <a:t>Sắp</a:t>
            </a:r>
            <a:r>
              <a:rPr lang="en-US" dirty="0"/>
              <a:t> </a:t>
            </a:r>
            <a:r>
              <a:rPr lang="en-US" dirty="0" err="1"/>
              <a:t>xếp</a:t>
            </a:r>
            <a:r>
              <a:rPr lang="en-US" dirty="0"/>
              <a:t> </a:t>
            </a:r>
            <a:r>
              <a:rPr lang="en-US" dirty="0" err="1"/>
              <a:t>dãy</a:t>
            </a:r>
            <a:r>
              <a:rPr lang="en-US" dirty="0"/>
              <a:t> </a:t>
            </a:r>
            <a:r>
              <a:rPr lang="en-US" dirty="0" err="1"/>
              <a:t>theo</a:t>
            </a:r>
            <a:r>
              <a:rPr lang="en-US" dirty="0"/>
              <a:t> </a:t>
            </a:r>
            <a:r>
              <a:rPr lang="en-US" dirty="0" err="1"/>
              <a:t>chiều</a:t>
            </a:r>
            <a:r>
              <a:rPr lang="en-US" dirty="0"/>
              <a:t> </a:t>
            </a:r>
            <a:r>
              <a:rPr lang="en-US" dirty="0" err="1"/>
              <a:t>tăng</a:t>
            </a:r>
            <a:r>
              <a:rPr lang="en-US" dirty="0"/>
              <a:t> </a:t>
            </a:r>
            <a:r>
              <a:rPr lang="en-US" dirty="0" err="1"/>
              <a:t>dần</a:t>
            </a:r>
            <a:r>
              <a:rPr lang="en-US" dirty="0"/>
              <a:t> </a:t>
            </a:r>
            <a:r>
              <a:rPr lang="en-US" dirty="0" err="1"/>
              <a:t>và</a:t>
            </a:r>
            <a:r>
              <a:rPr lang="en-US" dirty="0"/>
              <a:t> in </a:t>
            </a:r>
            <a:r>
              <a:rPr lang="en-US" dirty="0" err="1"/>
              <a:t>kết</a:t>
            </a:r>
            <a:r>
              <a:rPr lang="en-US" dirty="0"/>
              <a:t> </a:t>
            </a:r>
            <a:r>
              <a:rPr lang="en-US" dirty="0" err="1"/>
              <a:t>quả</a:t>
            </a:r>
            <a:r>
              <a:rPr lang="en-US" dirty="0"/>
              <a:t> ra </a:t>
            </a:r>
            <a:r>
              <a:rPr lang="en-US" dirty="0" err="1"/>
              <a:t>màn</a:t>
            </a:r>
            <a:r>
              <a:rPr lang="en-US" dirty="0"/>
              <a:t> </a:t>
            </a:r>
            <a:r>
              <a:rPr lang="en-US" dirty="0" err="1"/>
              <a:t>hình</a:t>
            </a:r>
            <a:r>
              <a:rPr lang="en-US" dirty="0"/>
              <a:t>.</a:t>
            </a:r>
          </a:p>
          <a:p>
            <a:r>
              <a:rPr lang="en-US" dirty="0" err="1"/>
              <a:t>Bài</a:t>
            </a:r>
            <a:r>
              <a:rPr lang="en-US" dirty="0"/>
              <a:t> 5. </a:t>
            </a:r>
            <a:r>
              <a:rPr lang="en-US" dirty="0" err="1"/>
              <a:t>Viết</a:t>
            </a:r>
            <a:r>
              <a:rPr lang="en-US" dirty="0"/>
              <a:t> </a:t>
            </a:r>
            <a:r>
              <a:rPr lang="en-US" dirty="0" err="1"/>
              <a:t>chương</a:t>
            </a:r>
            <a:r>
              <a:rPr lang="en-US" dirty="0"/>
              <a:t> </a:t>
            </a:r>
            <a:r>
              <a:rPr lang="en-US" dirty="0" err="1"/>
              <a:t>trình</a:t>
            </a:r>
            <a:r>
              <a:rPr lang="en-US" dirty="0"/>
              <a:t> </a:t>
            </a:r>
            <a:r>
              <a:rPr lang="en-US" dirty="0" err="1"/>
              <a:t>sinh</a:t>
            </a:r>
            <a:r>
              <a:rPr lang="en-US" dirty="0"/>
              <a:t> ra </a:t>
            </a:r>
            <a:r>
              <a:rPr lang="en-US" dirty="0" err="1"/>
              <a:t>một</a:t>
            </a:r>
            <a:r>
              <a:rPr lang="en-US" dirty="0"/>
              <a:t> </a:t>
            </a:r>
            <a:r>
              <a:rPr lang="en-US" dirty="0" err="1"/>
              <a:t>số</a:t>
            </a:r>
            <a:r>
              <a:rPr lang="en-US" dirty="0"/>
              <a:t> </a:t>
            </a:r>
            <a:r>
              <a:rPr lang="en-US" dirty="0" err="1"/>
              <a:t>ngẫu</a:t>
            </a:r>
            <a:r>
              <a:rPr lang="en-US" dirty="0"/>
              <a:t> </a:t>
            </a:r>
            <a:r>
              <a:rPr lang="en-US" dirty="0" err="1"/>
              <a:t>nhiên</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nằm</a:t>
            </a:r>
            <a:r>
              <a:rPr lang="en-US" dirty="0"/>
              <a:t> </a:t>
            </a:r>
            <a:r>
              <a:rPr lang="en-US" dirty="0" err="1"/>
              <a:t>trong</a:t>
            </a:r>
            <a:r>
              <a:rPr lang="en-US" dirty="0"/>
              <a:t> </a:t>
            </a:r>
            <a:r>
              <a:rPr lang="en-US" dirty="0" err="1"/>
              <a:t>khoảng</a:t>
            </a:r>
            <a:r>
              <a:rPr lang="en-US" dirty="0"/>
              <a:t> [0,20], </a:t>
            </a:r>
            <a:r>
              <a:rPr lang="en-US" dirty="0" err="1"/>
              <a:t>sau</a:t>
            </a:r>
            <a:r>
              <a:rPr lang="en-US" dirty="0"/>
              <a:t> </a:t>
            </a:r>
            <a:r>
              <a:rPr lang="en-US" dirty="0" err="1"/>
              <a:t>đó</a:t>
            </a:r>
            <a:r>
              <a:rPr lang="en-US" dirty="0"/>
              <a:t> </a:t>
            </a:r>
            <a:r>
              <a:rPr lang="en-US" dirty="0" err="1"/>
              <a:t>cho</a:t>
            </a:r>
            <a:r>
              <a:rPr lang="en-US" dirty="0"/>
              <a:t> </a:t>
            </a:r>
            <a:r>
              <a:rPr lang="en-US" dirty="0" err="1"/>
              <a:t>phép</a:t>
            </a:r>
            <a:r>
              <a:rPr lang="en-US" dirty="0"/>
              <a:t> </a:t>
            </a:r>
            <a:r>
              <a:rPr lang="en-US" dirty="0" err="1"/>
              <a:t>người</a:t>
            </a:r>
            <a:r>
              <a:rPr lang="en-US" dirty="0"/>
              <a:t> </a:t>
            </a:r>
            <a:r>
              <a:rPr lang="en-US" dirty="0" err="1"/>
              <a:t>dùng</a:t>
            </a:r>
            <a:r>
              <a:rPr lang="en-US" dirty="0"/>
              <a:t> </a:t>
            </a:r>
            <a:r>
              <a:rPr lang="en-US" dirty="0" err="1"/>
              <a:t>đoán</a:t>
            </a:r>
            <a:r>
              <a:rPr lang="en-US" dirty="0"/>
              <a:t> </a:t>
            </a:r>
            <a:r>
              <a:rPr lang="en-US" dirty="0" err="1"/>
              <a:t>giá</a:t>
            </a:r>
            <a:r>
              <a:rPr lang="en-US" dirty="0"/>
              <a:t> </a:t>
            </a:r>
            <a:r>
              <a:rPr lang="en-US" dirty="0" err="1"/>
              <a:t>trị</a:t>
            </a:r>
            <a:r>
              <a:rPr lang="en-US" dirty="0"/>
              <a:t> </a:t>
            </a:r>
            <a:r>
              <a:rPr lang="en-US" dirty="0" err="1"/>
              <a:t>ngẫu</a:t>
            </a:r>
            <a:r>
              <a:rPr lang="en-US" dirty="0"/>
              <a:t> </a:t>
            </a:r>
            <a:r>
              <a:rPr lang="en-US" dirty="0" err="1"/>
              <a:t>nhiên</a:t>
            </a:r>
            <a:r>
              <a:rPr lang="en-US" dirty="0"/>
              <a:t> </a:t>
            </a:r>
            <a:r>
              <a:rPr lang="en-US" dirty="0" err="1"/>
              <a:t>đó</a:t>
            </a:r>
            <a:r>
              <a:rPr lang="en-US" dirty="0"/>
              <a:t> 7 </a:t>
            </a:r>
            <a:r>
              <a:rPr lang="en-US" dirty="0" err="1"/>
              <a:t>lần</a:t>
            </a:r>
            <a:r>
              <a:rPr lang="en-US" dirty="0"/>
              <a:t>, </a:t>
            </a:r>
            <a:r>
              <a:rPr lang="en-US" dirty="0" err="1"/>
              <a:t>nếu</a:t>
            </a:r>
            <a:r>
              <a:rPr lang="en-US" dirty="0"/>
              <a:t> </a:t>
            </a:r>
            <a:r>
              <a:rPr lang="en-US" dirty="0" err="1"/>
              <a:t>sau</a:t>
            </a:r>
            <a:r>
              <a:rPr lang="en-US" dirty="0"/>
              <a:t> 7 </a:t>
            </a:r>
            <a:r>
              <a:rPr lang="en-US" dirty="0" err="1"/>
              <a:t>lần</a:t>
            </a:r>
            <a:r>
              <a:rPr lang="en-US" dirty="0"/>
              <a:t> </a:t>
            </a:r>
            <a:r>
              <a:rPr lang="en-US" dirty="0" err="1"/>
              <a:t>vẫn</a:t>
            </a:r>
            <a:r>
              <a:rPr lang="en-US" dirty="0"/>
              <a:t> </a:t>
            </a:r>
            <a:r>
              <a:rPr lang="en-US" dirty="0" err="1"/>
              <a:t>chưa</a:t>
            </a:r>
            <a:r>
              <a:rPr lang="en-US" dirty="0"/>
              <a:t> </a:t>
            </a:r>
            <a:r>
              <a:rPr lang="en-US" dirty="0" err="1"/>
              <a:t>đoán</a:t>
            </a:r>
            <a:r>
              <a:rPr lang="en-US" dirty="0"/>
              <a:t> </a:t>
            </a:r>
            <a:r>
              <a:rPr lang="en-US" dirty="0" err="1"/>
              <a:t>được</a:t>
            </a:r>
            <a:r>
              <a:rPr lang="en-US" dirty="0"/>
              <a:t> </a:t>
            </a:r>
            <a:r>
              <a:rPr lang="en-US" dirty="0" err="1"/>
              <a:t>sẽ</a:t>
            </a:r>
            <a:r>
              <a:rPr lang="en-US" dirty="0"/>
              <a:t> </a:t>
            </a:r>
            <a:r>
              <a:rPr lang="en-US" dirty="0" err="1"/>
              <a:t>thông</a:t>
            </a:r>
            <a:r>
              <a:rPr lang="en-US" dirty="0"/>
              <a:t> </a:t>
            </a:r>
            <a:r>
              <a:rPr lang="en-US" dirty="0" err="1"/>
              <a:t>báo</a:t>
            </a:r>
            <a:r>
              <a:rPr lang="en-US" dirty="0"/>
              <a:t> </a:t>
            </a:r>
            <a:r>
              <a:rPr lang="en-US" dirty="0" err="1"/>
              <a:t>người</a:t>
            </a:r>
            <a:r>
              <a:rPr lang="en-US" dirty="0"/>
              <a:t> </a:t>
            </a:r>
            <a:r>
              <a:rPr lang="en-US" dirty="0" err="1"/>
              <a:t>dùng</a:t>
            </a:r>
            <a:r>
              <a:rPr lang="en-US" dirty="0"/>
              <a:t> </a:t>
            </a:r>
            <a:r>
              <a:rPr lang="en-US" dirty="0" err="1"/>
              <a:t>bị</a:t>
            </a:r>
            <a:r>
              <a:rPr lang="en-US" dirty="0"/>
              <a:t> </a:t>
            </a:r>
            <a:r>
              <a:rPr lang="en-US" dirty="0" err="1"/>
              <a:t>thua</a:t>
            </a:r>
            <a:r>
              <a:rPr lang="en-US" dirty="0"/>
              <a:t> </a:t>
            </a:r>
            <a:r>
              <a:rPr lang="en-US" dirty="0" err="1"/>
              <a:t>cuộc</a:t>
            </a:r>
            <a:endParaRPr lang="vi-VN" dirty="0"/>
          </a:p>
          <a:p>
            <a:pPr marL="0" indent="0">
              <a:buNone/>
            </a:pPr>
            <a:endParaRPr lang="vi-VN" dirty="0"/>
          </a:p>
        </p:txBody>
      </p:sp>
      <p:sp>
        <p:nvSpPr>
          <p:cNvPr id="4" name="Date Placeholder 3"/>
          <p:cNvSpPr>
            <a:spLocks noGrp="1"/>
          </p:cNvSpPr>
          <p:nvPr>
            <p:ph type="dt" sz="half" idx="10"/>
          </p:nvPr>
        </p:nvSpPr>
        <p:spPr/>
        <p:txBody>
          <a:bodyPr/>
          <a:lstStyle/>
          <a:p>
            <a:fld id="{23F24E99-1C12-44ED-B9E3-2CE243485443}" type="datetime1">
              <a:rPr lang="vi-VN" smtClean="0"/>
              <a:t>08/01/2025</a:t>
            </a:fld>
            <a:endParaRPr lang="vi-VN"/>
          </a:p>
        </p:txBody>
      </p:sp>
      <p:sp>
        <p:nvSpPr>
          <p:cNvPr id="5" name="Footer Placeholder 4"/>
          <p:cNvSpPr>
            <a:spLocks noGrp="1"/>
          </p:cNvSpPr>
          <p:nvPr>
            <p:ph type="ftr" sz="quarter" idx="11"/>
          </p:nvPr>
        </p:nvSpPr>
        <p:spPr/>
        <p:txBody>
          <a:bodyPr/>
          <a:lstStyle/>
          <a:p>
            <a:r>
              <a:rPr lang="vi-VN"/>
              <a:t>Chương 2. Các thành phần cơ bản trong C#</a:t>
            </a:r>
          </a:p>
        </p:txBody>
      </p:sp>
      <p:sp>
        <p:nvSpPr>
          <p:cNvPr id="6" name="Slide Number Placeholder 5"/>
          <p:cNvSpPr>
            <a:spLocks noGrp="1"/>
          </p:cNvSpPr>
          <p:nvPr>
            <p:ph type="sldNum" sz="quarter" idx="12"/>
          </p:nvPr>
        </p:nvSpPr>
        <p:spPr/>
        <p:txBody>
          <a:bodyPr/>
          <a:lstStyle/>
          <a:p>
            <a:fld id="{5AB95402-1E0D-474E-8D8C-CBE7F053639E}" type="slidenum">
              <a:rPr lang="vi-VN" smtClean="0"/>
              <a:pPr/>
              <a:t>44</a:t>
            </a:fld>
            <a:r>
              <a:rPr lang="vi-VN"/>
              <a:t>/47</a:t>
            </a:r>
          </a:p>
        </p:txBody>
      </p:sp>
    </p:spTree>
    <p:extLst>
      <p:ext uri="{BB962C8B-B14F-4D97-AF65-F5344CB8AC3E}">
        <p14:creationId xmlns:p14="http://schemas.microsoft.com/office/powerpoint/2010/main" val="1082326508"/>
      </p:ext>
    </p:extLst>
  </p:cSld>
  <p:clrMapOvr>
    <a:masterClrMapping/>
  </p:clrMapOvr>
</p:sld>
</file>

<file path=ppt/theme/theme1.xml><?xml version="1.0" encoding="utf-8"?>
<a:theme xmlns:a="http://schemas.openxmlformats.org/drawingml/2006/main" name="0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00</Template>
  <TotalTime>4438</TotalTime>
  <Words>3577</Words>
  <Application>Microsoft Macintosh PowerPoint</Application>
  <PresentationFormat>On-screen Show (4:3)</PresentationFormat>
  <Paragraphs>532</Paragraphs>
  <Slides>44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Courier New</vt:lpstr>
      <vt:lpstr>Wingdings</vt:lpstr>
      <vt:lpstr>00</vt:lpstr>
      <vt:lpstr>Chương 2 Ngữ pháp C# cơ bản</vt:lpstr>
      <vt:lpstr>Nội dung</vt:lpstr>
      <vt:lpstr>1. Cấu trúc chương trình C# </vt:lpstr>
      <vt:lpstr>2. Không gian tên (namespace)</vt:lpstr>
      <vt:lpstr>Các namespace cơ bản</vt:lpstr>
      <vt:lpstr>Không gian tên</vt:lpstr>
      <vt:lpstr>2. Kiểu dữ liệu</vt:lpstr>
      <vt:lpstr>Kiểu dữ liệu</vt:lpstr>
      <vt:lpstr>Kiểu dữ liệu</vt:lpstr>
      <vt:lpstr>Kiểu dữ liệu</vt:lpstr>
      <vt:lpstr>Chuyển đổi các kiểu dữ liệu</vt:lpstr>
      <vt:lpstr>Chuyển đổi các kiểu dữ liệu</vt:lpstr>
      <vt:lpstr>Chuyển đổi các kiểu dữ liệu</vt:lpstr>
      <vt:lpstr>Biến và hằng (Variable &amp; Constant)</vt:lpstr>
      <vt:lpstr>Biến và hằng (Variable &amp; Constant)</vt:lpstr>
      <vt:lpstr>Khai báo biến kiểu ngầm định</vt:lpstr>
      <vt:lpstr>Kiểu liệt kê</vt:lpstr>
      <vt:lpstr>Kiểu liệt kê</vt:lpstr>
      <vt:lpstr>Kiểu chuỗi kí tự (string)</vt:lpstr>
      <vt:lpstr>Cách đặt tên</vt:lpstr>
      <vt:lpstr>Cách đặt tên</vt:lpstr>
      <vt:lpstr>Toán tử trong C#</vt:lpstr>
      <vt:lpstr>Toán tử trong C#</vt:lpstr>
      <vt:lpstr>3. Các cấu trúc điều khiển</vt:lpstr>
      <vt:lpstr>Lệnh nhảy có điều kiện (rẽ nhánh)</vt:lpstr>
      <vt:lpstr>Câu lệnh if…else</vt:lpstr>
      <vt:lpstr>Ví dụ câu lệnh if...else</vt:lpstr>
      <vt:lpstr>Câu lệnh switch case</vt:lpstr>
      <vt:lpstr>Ví dụ câu lệnh switch case</vt:lpstr>
      <vt:lpstr>Câu lệnh lặp</vt:lpstr>
      <vt:lpstr>Câu lệnh lặp for</vt:lpstr>
      <vt:lpstr>Ví dụ câu lệnh for</vt:lpstr>
      <vt:lpstr>Câu lệnh lặp while</vt:lpstr>
      <vt:lpstr>Câu lệnh lặp do...while</vt:lpstr>
      <vt:lpstr>Câu lệnh lặp foreach...in</vt:lpstr>
      <vt:lpstr>Ví dụ câu lệnh lặp foreach…in</vt:lpstr>
      <vt:lpstr>4. Mảng trong C#</vt:lpstr>
      <vt:lpstr>Mảng trong C#</vt:lpstr>
      <vt:lpstr>Mảng trong C#</vt:lpstr>
      <vt:lpstr>Mảng trong C#</vt:lpstr>
      <vt:lpstr>Mảng trong C#</vt:lpstr>
      <vt:lpstr>Mảng trong C#</vt:lpstr>
      <vt:lpstr>Bài tập về nhà</vt:lpstr>
      <vt:lpstr>Bài tập về nhà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hue tran</cp:lastModifiedBy>
  <cp:revision>112</cp:revision>
  <dcterms:created xsi:type="dcterms:W3CDTF">2011-07-17T01:46:34Z</dcterms:created>
  <dcterms:modified xsi:type="dcterms:W3CDTF">2025-01-08T05:10:01Z</dcterms:modified>
</cp:coreProperties>
</file>