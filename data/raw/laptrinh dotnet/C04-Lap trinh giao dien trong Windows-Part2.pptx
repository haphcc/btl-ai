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1"/>
  </p:sldMasterIdLst>
  <p:notesMasterIdLst>
    <p:notesMasterId r:id="rId19"/>
  </p:notesMasterIdLst>
  <p:sldIdLst>
    <p:sldId id="256" r:id="rId2"/>
    <p:sldId id="259" r:id="rId3"/>
    <p:sldId id="260" r:id="rId4"/>
    <p:sldId id="262" r:id="rId5"/>
    <p:sldId id="284" r:id="rId6"/>
    <p:sldId id="263" r:id="rId7"/>
    <p:sldId id="264" r:id="rId8"/>
    <p:sldId id="265" r:id="rId9"/>
    <p:sldId id="286" r:id="rId10"/>
    <p:sldId id="266" r:id="rId11"/>
    <p:sldId id="267" r:id="rId12"/>
    <p:sldId id="261" r:id="rId13"/>
    <p:sldId id="268" r:id="rId14"/>
    <p:sldId id="269" r:id="rId15"/>
    <p:sldId id="270" r:id="rId16"/>
    <p:sldId id="271" r:id="rId17"/>
    <p:sldId id="287" r:id="rId18"/>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66"/>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3"/>
  </p:normalViewPr>
  <p:slideViewPr>
    <p:cSldViewPr>
      <p:cViewPr varScale="1">
        <p:scale>
          <a:sx n="102" d="100"/>
          <a:sy n="102" d="100"/>
        </p:scale>
        <p:origin x="192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20/02/2025</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68E398-2F6C-4593-8EEE-8DC7A0A69EB4}" type="slidenum">
              <a:rPr lang="en-US"/>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b="1">
                <a:solidFill>
                  <a:srgbClr val="000066"/>
                </a:solidFill>
              </a:defRPr>
            </a:lvl1pPr>
          </a:lstStyle>
          <a:p>
            <a:r>
              <a:rPr lang="en-US"/>
              <a:t>Click to edit Master subtitle style</a:t>
            </a:r>
            <a:endParaRPr lang="en-GB" dirty="0"/>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A8175D97-B931-42F4-87B9-374358FE6914}" type="datetime1">
              <a:rPr lang="vi-VN" smtClean="0"/>
              <a:t>20/02/2025</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4. Lập trình giao diện trong Windows</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sp>
        <p:nvSpPr>
          <p:cNvPr id="10" name="Google Shape;21;p2">
            <a:extLst>
              <a:ext uri="{FF2B5EF4-FFF2-40B4-BE49-F238E27FC236}">
                <a16:creationId xmlns:a16="http://schemas.microsoft.com/office/drawing/2014/main" id="{AA310E7A-E5DA-435F-8002-AD83405DA8AF}"/>
              </a:ext>
            </a:extLst>
          </p:cNvPr>
          <p:cNvSpPr txBox="1"/>
          <p:nvPr/>
        </p:nvSpPr>
        <p:spPr>
          <a:xfrm>
            <a:off x="2339752" y="478413"/>
            <a:ext cx="51543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HỌC VIỆN NGÂN HÀNG</a:t>
            </a:r>
            <a:endParaRPr dirty="0"/>
          </a:p>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KHOA CÔNG NGHỆ THÔNG TIN VÀ KINH TẾ SỐ</a:t>
            </a:r>
            <a:endParaRPr sz="1800" b="1" dirty="0">
              <a:solidFill>
                <a:srgbClr val="0033CC"/>
              </a:solidFill>
              <a:latin typeface="Cambria"/>
              <a:ea typeface="Cambria"/>
              <a:cs typeface="Cambria"/>
              <a:sym typeface="Cambria"/>
            </a:endParaRPr>
          </a:p>
        </p:txBody>
      </p:sp>
      <p:pic>
        <p:nvPicPr>
          <p:cNvPr id="11" name="Google Shape;22;p2">
            <a:extLst>
              <a:ext uri="{FF2B5EF4-FFF2-40B4-BE49-F238E27FC236}">
                <a16:creationId xmlns:a16="http://schemas.microsoft.com/office/drawing/2014/main" id="{3CE147D1-8D09-48D5-98E8-DF121DFB54FB}"/>
              </a:ext>
            </a:extLst>
          </p:cNvPr>
          <p:cNvPicPr preferRelativeResize="0"/>
          <p:nvPr/>
        </p:nvPicPr>
        <p:blipFill rotWithShape="1">
          <a:blip r:embed="rId2">
            <a:alphaModFix/>
          </a:blip>
          <a:srcRect/>
          <a:stretch/>
        </p:blipFill>
        <p:spPr>
          <a:xfrm>
            <a:off x="35496" y="-27384"/>
            <a:ext cx="1152128" cy="1152128"/>
          </a:xfrm>
          <a:prstGeom prst="rect">
            <a:avLst/>
          </a:prstGeom>
          <a:noFill/>
          <a:ln>
            <a:noFill/>
          </a:ln>
        </p:spPr>
      </p:pic>
      <p:sp>
        <p:nvSpPr>
          <p:cNvPr id="12" name="Rectangle 2">
            <a:extLst>
              <a:ext uri="{FF2B5EF4-FFF2-40B4-BE49-F238E27FC236}">
                <a16:creationId xmlns:a16="http://schemas.microsoft.com/office/drawing/2014/main" id="{D7E2560A-59D3-49CD-B712-A71D6BEE60FC}"/>
              </a:ext>
            </a:extLst>
          </p:cNvPr>
          <p:cNvSpPr>
            <a:spLocks noGrp="1" noChangeArrowheads="1"/>
          </p:cNvSpPr>
          <p:nvPr>
            <p:ph type="ctrTitle"/>
          </p:nvPr>
        </p:nvSpPr>
        <p:spPr>
          <a:xfrm>
            <a:off x="1066800" y="2590800"/>
            <a:ext cx="7620000" cy="990600"/>
          </a:xfrm>
          <a:prstGeom prst="rect">
            <a:avLst/>
          </a:prstGeom>
        </p:spPr>
        <p:txBody>
          <a:bodyPr/>
          <a:lstStyle>
            <a:lvl1pPr algn="ctr">
              <a:defRPr sz="3600" b="1">
                <a:solidFill>
                  <a:srgbClr val="0070C0"/>
                </a:solidFill>
                <a:effectLst/>
              </a:defRPr>
            </a:lvl1pPr>
          </a:lstStyle>
          <a:p>
            <a:r>
              <a:rPr lang="en-US"/>
              <a:t>Click to edit Master title style</a:t>
            </a:r>
            <a:endParaRPr lang="en-GB" dirty="0"/>
          </a:p>
        </p:txBody>
      </p:sp>
      <p:pic>
        <p:nvPicPr>
          <p:cNvPr id="2" name="Content Placeholder 3">
            <a:extLst>
              <a:ext uri="{FF2B5EF4-FFF2-40B4-BE49-F238E27FC236}">
                <a16:creationId xmlns:a16="http://schemas.microsoft.com/office/drawing/2014/main" id="{3CFEA807-38EC-7DD1-530C-F502D08C7F3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7736" b="29726"/>
          <a:stretch/>
        </p:blipFill>
        <p:spPr bwMode="auto">
          <a:xfrm>
            <a:off x="0" y="2153"/>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1173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CE831494-2554-492A-9E05-3496EA2D35B7}" type="datetime1">
              <a:rPr lang="vi-VN" smtClean="0"/>
              <a:t>20/02/2025</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4. Lập trình giao diện trong Windows</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/26</a:t>
            </a:r>
          </a:p>
        </p:txBody>
      </p:sp>
      <p:sp>
        <p:nvSpPr>
          <p:cNvPr id="7" name="Title 1">
            <a:extLst>
              <a:ext uri="{FF2B5EF4-FFF2-40B4-BE49-F238E27FC236}">
                <a16:creationId xmlns:a16="http://schemas.microsoft.com/office/drawing/2014/main" id="{2783988D-941B-4D11-B261-C6D0BD51434D}"/>
              </a:ext>
            </a:extLst>
          </p:cNvPr>
          <p:cNvSpPr>
            <a:spLocks noGrp="1"/>
          </p:cNvSpPr>
          <p:nvPr>
            <p:ph type="title"/>
          </p:nvPr>
        </p:nvSpPr>
        <p:spPr>
          <a:xfrm>
            <a:off x="971600" y="381000"/>
            <a:ext cx="7488832" cy="685800"/>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673681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381000"/>
            <a:ext cx="7488832" cy="6858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2D737524-7303-4246-B2F1-EEBF31380F5A}" type="datetime1">
              <a:rPr lang="vi-VN" smtClean="0"/>
              <a:t>20/02/2025</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4. Lập trình giao diện trong Windows</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309397636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332656"/>
            <a:ext cx="8382000" cy="6858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85F3CA27-24DF-4EA2-8E55-3CDA559C6E59}" type="datetime1">
              <a:rPr lang="vi-VN" smtClean="0"/>
              <a:t>20/02/2025</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4. Lập trình giao diện trong Windows</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1619201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2D737524-7303-4246-B2F1-EEBF31380F5A}" type="datetime1">
              <a:rPr lang="vi-VN" smtClean="0"/>
              <a:t>20/02/2025</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4. Lập trình giao diện trong Windows</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pPr/>
              <a:t>‹#›</a:t>
            </a:fld>
            <a:endParaRPr lang="vi-VN"/>
          </a:p>
        </p:txBody>
      </p:sp>
      <p:sp>
        <p:nvSpPr>
          <p:cNvPr id="10" name="Google Shape;10;p1">
            <a:extLst>
              <a:ext uri="{FF2B5EF4-FFF2-40B4-BE49-F238E27FC236}">
                <a16:creationId xmlns:a16="http://schemas.microsoft.com/office/drawing/2014/main" id="{AB76684D-C5AC-4EAC-9A78-150E667B573D}"/>
              </a:ext>
            </a:extLst>
          </p:cNvPr>
          <p:cNvSpPr/>
          <p:nvPr/>
        </p:nvSpPr>
        <p:spPr>
          <a:xfrm>
            <a:off x="783336" y="390700"/>
            <a:ext cx="7884368" cy="620363"/>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1" name="Google Shape;12;p1">
            <a:extLst>
              <a:ext uri="{FF2B5EF4-FFF2-40B4-BE49-F238E27FC236}">
                <a16:creationId xmlns:a16="http://schemas.microsoft.com/office/drawing/2014/main" id="{917AF832-8BF5-4EE9-90AC-04B6A8FFBD63}"/>
              </a:ext>
            </a:extLst>
          </p:cNvPr>
          <p:cNvSpPr txBox="1">
            <a:spLocks noGrp="1"/>
          </p:cNvSpPr>
          <p:nvPr>
            <p:ph type="title"/>
          </p:nvPr>
        </p:nvSpPr>
        <p:spPr>
          <a:xfrm>
            <a:off x="903348" y="457199"/>
            <a:ext cx="7642103" cy="48736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800" b="1" i="0" u="none" strike="noStrike" cap="none">
                <a:solidFill>
                  <a:schemeClr val="lt1"/>
                </a:solidFill>
                <a:latin typeface="Cambria"/>
                <a:ea typeface="Cambria"/>
                <a:cs typeface="Cambria"/>
                <a:sym typeface="Cambria"/>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pic>
        <p:nvPicPr>
          <p:cNvPr id="12" name="Google Shape;22;p2">
            <a:extLst>
              <a:ext uri="{FF2B5EF4-FFF2-40B4-BE49-F238E27FC236}">
                <a16:creationId xmlns:a16="http://schemas.microsoft.com/office/drawing/2014/main" id="{B881DEFE-B494-4541-8506-93EF8ABDD582}"/>
              </a:ext>
            </a:extLst>
          </p:cNvPr>
          <p:cNvPicPr preferRelativeResize="0"/>
          <p:nvPr/>
        </p:nvPicPr>
        <p:blipFill rotWithShape="1">
          <a:blip r:embed="rId6">
            <a:alphaModFix/>
          </a:blip>
          <a:srcRect/>
          <a:stretch/>
        </p:blipFill>
        <p:spPr>
          <a:xfrm>
            <a:off x="-195064" y="0"/>
            <a:ext cx="1152128" cy="1152128"/>
          </a:xfrm>
          <a:prstGeom prst="rect">
            <a:avLst/>
          </a:prstGeom>
          <a:noFill/>
          <a:ln>
            <a:noFill/>
          </a:ln>
        </p:spPr>
      </p:pic>
    </p:spTree>
    <p:extLst>
      <p:ext uri="{BB962C8B-B14F-4D97-AF65-F5344CB8AC3E}">
        <p14:creationId xmlns:p14="http://schemas.microsoft.com/office/powerpoint/2010/main" val="329399592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endParaRPr lang="en-US"/>
          </a:p>
        </p:txBody>
      </p:sp>
      <p:sp>
        <p:nvSpPr>
          <p:cNvPr id="2" name="Title 1"/>
          <p:cNvSpPr>
            <a:spLocks noGrp="1"/>
          </p:cNvSpPr>
          <p:nvPr>
            <p:ph type="ctrTitle"/>
          </p:nvPr>
        </p:nvSpPr>
        <p:spPr>
          <a:xfrm>
            <a:off x="1143000" y="2800350"/>
            <a:ext cx="6858000" cy="742950"/>
          </a:xfrm>
        </p:spPr>
        <p:txBody>
          <a:bodyPr/>
          <a:lstStyle/>
          <a:p>
            <a:r>
              <a:rPr lang="en-US"/>
              <a:t>Chương 4</a:t>
            </a:r>
            <a:br>
              <a:rPr lang="en-US"/>
            </a:br>
            <a:r>
              <a:rPr lang="en-US"/>
              <a:t>LẬP TRÌNH GIAO DIỆN </a:t>
            </a:r>
            <a:br>
              <a:rPr lang="en-US"/>
            </a:br>
            <a:r>
              <a:rPr lang="en-US"/>
              <a:t>TRONG WINDOWS</a:t>
            </a:r>
            <a:endParaRPr lang="vi-VN"/>
          </a:p>
        </p:txBody>
      </p:sp>
    </p:spTree>
    <p:extLst>
      <p:ext uri="{BB962C8B-B14F-4D97-AF65-F5344CB8AC3E}">
        <p14:creationId xmlns:p14="http://schemas.microsoft.com/office/powerpoint/2010/main" val="66565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8AB625-5A10-4141-84FF-18E3F1FE84D5}" type="datetime1">
              <a:rPr lang="vi-VN" smtClean="0"/>
              <a:t>20/02/2025</a:t>
            </a:fld>
            <a:endParaRPr lang="vi-VN"/>
          </a:p>
        </p:txBody>
      </p:sp>
      <p:sp>
        <p:nvSpPr>
          <p:cNvPr id="16387" name="Footer Placeholder 3"/>
          <p:cNvSpPr>
            <a:spLocks noGrp="1"/>
          </p:cNvSpPr>
          <p:nvPr>
            <p:ph type="ftr" sz="quarter" idx="11"/>
          </p:nvPr>
        </p:nvSpPr>
        <p:spPr>
          <a:noFill/>
        </p:spPr>
        <p:txBody>
          <a:bodyPr/>
          <a:lstStyle/>
          <a:p>
            <a:r>
              <a:rPr lang="vi-VN"/>
              <a:t>Chương 4. Lập trình giao diện trong Windows</a:t>
            </a:r>
            <a:endParaRPr lang="en-US"/>
          </a:p>
        </p:txBody>
      </p:sp>
      <p:sp>
        <p:nvSpPr>
          <p:cNvPr id="4" name="Slide Number Placeholder 3"/>
          <p:cNvSpPr>
            <a:spLocks noGrp="1"/>
          </p:cNvSpPr>
          <p:nvPr>
            <p:ph type="sldNum" sz="quarter" idx="12"/>
          </p:nvPr>
        </p:nvSpPr>
        <p:spPr/>
        <p:txBody>
          <a:bodyPr/>
          <a:lstStyle/>
          <a:p>
            <a:fld id="{5AB95402-1E0D-474E-8D8C-CBE7F053639E}" type="slidenum">
              <a:rPr lang="vi-VN" smtClean="0"/>
              <a:pPr/>
              <a:t>2</a:t>
            </a:fld>
            <a:r>
              <a:rPr lang="vi-VN"/>
              <a:t>/26</a:t>
            </a:r>
          </a:p>
        </p:txBody>
      </p:sp>
      <p:sp>
        <p:nvSpPr>
          <p:cNvPr id="16386" name="Title 1"/>
          <p:cNvSpPr>
            <a:spLocks noGrp="1"/>
          </p:cNvSpPr>
          <p:nvPr>
            <p:ph type="title"/>
          </p:nvPr>
        </p:nvSpPr>
        <p:spPr/>
        <p:txBody>
          <a:bodyPr/>
          <a:lstStyle/>
          <a:p>
            <a:r>
              <a:rPr lang="en-US"/>
              <a:t>Nội dung</a:t>
            </a:r>
          </a:p>
        </p:txBody>
      </p:sp>
      <p:grpSp>
        <p:nvGrpSpPr>
          <p:cNvPr id="44" name="Group 46"/>
          <p:cNvGrpSpPr>
            <a:grpSpLocks/>
          </p:cNvGrpSpPr>
          <p:nvPr/>
        </p:nvGrpSpPr>
        <p:grpSpPr bwMode="auto">
          <a:xfrm>
            <a:off x="2357754" y="2286000"/>
            <a:ext cx="4968552" cy="514350"/>
            <a:chOff x="1296" y="1824"/>
            <a:chExt cx="2976" cy="432"/>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47" name="Text Box 49"/>
            <p:cNvSpPr txBox="1">
              <a:spLocks noChangeArrowheads="1"/>
            </p:cNvSpPr>
            <p:nvPr/>
          </p:nvSpPr>
          <p:spPr bwMode="gray">
            <a:xfrm>
              <a:off x="1824" y="1934"/>
              <a:ext cx="2448" cy="252"/>
            </a:xfrm>
            <a:prstGeom prst="rect">
              <a:avLst/>
            </a:prstGeom>
            <a:noFill/>
            <a:ln w="9525" algn="ctr">
              <a:noFill/>
              <a:miter lim="800000"/>
              <a:headEnd/>
              <a:tailEnd/>
            </a:ln>
          </p:spPr>
          <p:txBody>
            <a:bodyPr>
              <a:spAutoFit/>
            </a:bodyPr>
            <a:lstStyle/>
            <a:p>
              <a:pPr eaLnBrk="0" fontAlgn="base" hangingPunct="0">
                <a:spcBef>
                  <a:spcPct val="0"/>
                </a:spcBef>
                <a:spcAft>
                  <a:spcPct val="0"/>
                </a:spcAft>
                <a:defRPr/>
              </a:pPr>
              <a:r>
                <a:rPr lang="en-US" sz="1350" b="1" kern="0">
                  <a:solidFill>
                    <a:srgbClr val="000000"/>
                  </a:solidFill>
                  <a:latin typeface="Arial" charset="0"/>
                  <a:cs typeface="Arial" charset="0"/>
                </a:rPr>
                <a:t>Giới thiệu về lập trình giao diện trong Windows </a:t>
              </a:r>
            </a:p>
          </p:txBody>
        </p:sp>
        <p:sp>
          <p:nvSpPr>
            <p:cNvPr id="48" name="Text Box 50"/>
            <p:cNvSpPr txBox="1">
              <a:spLocks noChangeArrowheads="1"/>
            </p:cNvSpPr>
            <p:nvPr/>
          </p:nvSpPr>
          <p:spPr bwMode="gray">
            <a:xfrm>
              <a:off x="1411" y="1886"/>
              <a:ext cx="187" cy="310"/>
            </a:xfrm>
            <a:prstGeom prst="rect">
              <a:avLst/>
            </a:prstGeom>
            <a:noFill/>
            <a:ln w="9525" algn="ctr">
              <a:noFill/>
              <a:miter lim="800000"/>
              <a:headEnd/>
              <a:tailEnd/>
            </a:ln>
          </p:spPr>
          <p:txBody>
            <a:bodyPr wrap="none">
              <a:spAutoFit/>
            </a:bodyPr>
            <a:lstStyle/>
            <a:p>
              <a:pPr algn="ctr" eaLnBrk="0" fontAlgn="base" hangingPunct="0">
                <a:spcBef>
                  <a:spcPct val="0"/>
                </a:spcBef>
                <a:spcAft>
                  <a:spcPct val="0"/>
                </a:spcAft>
                <a:defRPr/>
              </a:pPr>
              <a:r>
                <a:rPr lang="en-US" kern="0">
                  <a:solidFill>
                    <a:srgbClr val="FFFFFF"/>
                  </a:solidFill>
                  <a:latin typeface="Arial" charset="0"/>
                  <a:cs typeface="Arial" charset="0"/>
                </a:rPr>
                <a:t>1</a:t>
              </a:r>
            </a:p>
          </p:txBody>
        </p:sp>
      </p:grpSp>
      <p:grpSp>
        <p:nvGrpSpPr>
          <p:cNvPr id="49" name="Group 51"/>
          <p:cNvGrpSpPr>
            <a:grpSpLocks/>
          </p:cNvGrpSpPr>
          <p:nvPr/>
        </p:nvGrpSpPr>
        <p:grpSpPr bwMode="auto">
          <a:xfrm>
            <a:off x="2357754" y="2914650"/>
            <a:ext cx="4968552" cy="514350"/>
            <a:chOff x="1296" y="1824"/>
            <a:chExt cx="2976" cy="432"/>
          </a:xfrm>
        </p:grpSpPr>
        <p:sp>
          <p:nvSpPr>
            <p:cNvPr id="5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5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52" name="Text Box 54"/>
            <p:cNvSpPr txBox="1">
              <a:spLocks noChangeArrowheads="1"/>
            </p:cNvSpPr>
            <p:nvPr/>
          </p:nvSpPr>
          <p:spPr bwMode="gray">
            <a:xfrm>
              <a:off x="1824" y="1934"/>
              <a:ext cx="2448" cy="252"/>
            </a:xfrm>
            <a:prstGeom prst="rect">
              <a:avLst/>
            </a:prstGeom>
            <a:noFill/>
            <a:ln w="9525" algn="ctr">
              <a:noFill/>
              <a:miter lim="800000"/>
              <a:headEnd/>
              <a:tailEnd/>
            </a:ln>
          </p:spPr>
          <p:txBody>
            <a:bodyPr>
              <a:spAutoFit/>
            </a:bodyPr>
            <a:lstStyle/>
            <a:p>
              <a:pPr eaLnBrk="0" fontAlgn="base" hangingPunct="0">
                <a:spcBef>
                  <a:spcPct val="0"/>
                </a:spcBef>
                <a:spcAft>
                  <a:spcPct val="0"/>
                </a:spcAft>
                <a:defRPr/>
              </a:pPr>
              <a:r>
                <a:rPr lang="en-US" sz="1350" b="1" kern="0">
                  <a:solidFill>
                    <a:srgbClr val="000000"/>
                  </a:solidFill>
                  <a:latin typeface="Arial" charset="0"/>
                  <a:cs typeface="Arial" charset="0"/>
                </a:rPr>
                <a:t>Làm việc với Windows form và các điều khiển</a:t>
              </a:r>
            </a:p>
          </p:txBody>
        </p:sp>
        <p:sp>
          <p:nvSpPr>
            <p:cNvPr id="53" name="Text Box 55"/>
            <p:cNvSpPr txBox="1">
              <a:spLocks noChangeArrowheads="1"/>
            </p:cNvSpPr>
            <p:nvPr/>
          </p:nvSpPr>
          <p:spPr bwMode="gray">
            <a:xfrm>
              <a:off x="1411" y="1886"/>
              <a:ext cx="187" cy="310"/>
            </a:xfrm>
            <a:prstGeom prst="rect">
              <a:avLst/>
            </a:prstGeom>
            <a:noFill/>
            <a:ln w="9525" algn="ctr">
              <a:noFill/>
              <a:miter lim="800000"/>
              <a:headEnd/>
              <a:tailEnd/>
            </a:ln>
          </p:spPr>
          <p:txBody>
            <a:bodyPr wrap="none">
              <a:spAutoFit/>
            </a:bodyPr>
            <a:lstStyle/>
            <a:p>
              <a:pPr algn="ctr" eaLnBrk="0" fontAlgn="base" hangingPunct="0">
                <a:spcBef>
                  <a:spcPct val="0"/>
                </a:spcBef>
                <a:spcAft>
                  <a:spcPct val="0"/>
                </a:spcAft>
                <a:defRPr/>
              </a:pPr>
              <a:r>
                <a:rPr lang="en-US" kern="0">
                  <a:solidFill>
                    <a:srgbClr val="FFFFFF"/>
                  </a:solidFill>
                  <a:latin typeface="Arial" charset="0"/>
                  <a:cs typeface="Arial" charset="0"/>
                </a:rPr>
                <a:t>2</a:t>
              </a:r>
            </a:p>
          </p:txBody>
        </p:sp>
      </p:grpSp>
      <p:grpSp>
        <p:nvGrpSpPr>
          <p:cNvPr id="54" name="Group 56"/>
          <p:cNvGrpSpPr>
            <a:grpSpLocks/>
          </p:cNvGrpSpPr>
          <p:nvPr/>
        </p:nvGrpSpPr>
        <p:grpSpPr bwMode="auto">
          <a:xfrm>
            <a:off x="2357754" y="3543300"/>
            <a:ext cx="4968552" cy="514350"/>
            <a:chOff x="1296" y="1824"/>
            <a:chExt cx="2976" cy="432"/>
          </a:xfrm>
        </p:grpSpPr>
        <p:sp>
          <p:nvSpPr>
            <p:cNvPr id="55"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56"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57" name="Text Box 59"/>
            <p:cNvSpPr txBox="1">
              <a:spLocks noChangeArrowheads="1"/>
            </p:cNvSpPr>
            <p:nvPr/>
          </p:nvSpPr>
          <p:spPr bwMode="gray">
            <a:xfrm>
              <a:off x="1824" y="1934"/>
              <a:ext cx="2448" cy="252"/>
            </a:xfrm>
            <a:prstGeom prst="rect">
              <a:avLst/>
            </a:prstGeom>
            <a:noFill/>
            <a:ln w="9525" algn="ctr">
              <a:noFill/>
              <a:miter lim="800000"/>
              <a:headEnd/>
              <a:tailEnd/>
            </a:ln>
          </p:spPr>
          <p:txBody>
            <a:bodyPr>
              <a:spAutoFit/>
            </a:bodyPr>
            <a:lstStyle/>
            <a:p>
              <a:pPr eaLnBrk="0" fontAlgn="base" hangingPunct="0">
                <a:spcBef>
                  <a:spcPct val="0"/>
                </a:spcBef>
                <a:spcAft>
                  <a:spcPct val="0"/>
                </a:spcAft>
                <a:defRPr/>
              </a:pPr>
              <a:r>
                <a:rPr lang="en-US" sz="1350" b="1" kern="0">
                  <a:solidFill>
                    <a:srgbClr val="000000"/>
                  </a:solidFill>
                  <a:latin typeface="Arial" charset="0"/>
                  <a:cs typeface="Arial" charset="0"/>
                </a:rPr>
                <a:t>Các hộp thoại thông dụng</a:t>
              </a:r>
            </a:p>
          </p:txBody>
        </p:sp>
        <p:sp>
          <p:nvSpPr>
            <p:cNvPr id="58" name="Text Box 60"/>
            <p:cNvSpPr txBox="1">
              <a:spLocks noChangeArrowheads="1"/>
            </p:cNvSpPr>
            <p:nvPr/>
          </p:nvSpPr>
          <p:spPr bwMode="gray">
            <a:xfrm>
              <a:off x="1411" y="1886"/>
              <a:ext cx="187" cy="310"/>
            </a:xfrm>
            <a:prstGeom prst="rect">
              <a:avLst/>
            </a:prstGeom>
            <a:noFill/>
            <a:ln w="9525" algn="ctr">
              <a:noFill/>
              <a:miter lim="800000"/>
              <a:headEnd/>
              <a:tailEnd/>
            </a:ln>
          </p:spPr>
          <p:txBody>
            <a:bodyPr wrap="none">
              <a:spAutoFit/>
            </a:bodyPr>
            <a:lstStyle/>
            <a:p>
              <a:pPr algn="ctr" eaLnBrk="0" fontAlgn="base" hangingPunct="0">
                <a:spcBef>
                  <a:spcPct val="0"/>
                </a:spcBef>
                <a:spcAft>
                  <a:spcPct val="0"/>
                </a:spcAft>
                <a:defRPr/>
              </a:pPr>
              <a:r>
                <a:rPr lang="en-US" kern="0">
                  <a:solidFill>
                    <a:srgbClr val="FFFFFF"/>
                  </a:solidFill>
                  <a:latin typeface="Arial" charset="0"/>
                  <a:cs typeface="Arial" charset="0"/>
                </a:rPr>
                <a:t>3</a:t>
              </a:r>
            </a:p>
          </p:txBody>
        </p:sp>
      </p:grpSp>
      <p:grpSp>
        <p:nvGrpSpPr>
          <p:cNvPr id="59" name="Group 61"/>
          <p:cNvGrpSpPr>
            <a:grpSpLocks/>
          </p:cNvGrpSpPr>
          <p:nvPr/>
        </p:nvGrpSpPr>
        <p:grpSpPr bwMode="auto">
          <a:xfrm>
            <a:off x="2357754" y="4229100"/>
            <a:ext cx="4968552" cy="514350"/>
            <a:chOff x="1296" y="1824"/>
            <a:chExt cx="2976" cy="432"/>
          </a:xfrm>
        </p:grpSpPr>
        <p:sp>
          <p:nvSpPr>
            <p:cNvPr id="60"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6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fontAlgn="base">
                <a:spcBef>
                  <a:spcPct val="0"/>
                </a:spcBef>
                <a:spcAft>
                  <a:spcPct val="0"/>
                </a:spcAft>
                <a:defRPr/>
              </a:pPr>
              <a:endParaRPr lang="en-US" sz="1350" kern="0">
                <a:solidFill>
                  <a:srgbClr val="003366"/>
                </a:solidFill>
                <a:latin typeface="Arial" charset="0"/>
                <a:cs typeface="Arial" charset="0"/>
              </a:endParaRPr>
            </a:p>
          </p:txBody>
        </p:sp>
        <p:sp>
          <p:nvSpPr>
            <p:cNvPr id="62" name="Text Box 64"/>
            <p:cNvSpPr txBox="1">
              <a:spLocks noChangeArrowheads="1"/>
            </p:cNvSpPr>
            <p:nvPr/>
          </p:nvSpPr>
          <p:spPr bwMode="gray">
            <a:xfrm>
              <a:off x="1824" y="1934"/>
              <a:ext cx="2448" cy="252"/>
            </a:xfrm>
            <a:prstGeom prst="rect">
              <a:avLst/>
            </a:prstGeom>
            <a:noFill/>
            <a:ln w="9525" algn="ctr">
              <a:noFill/>
              <a:miter lim="800000"/>
              <a:headEnd/>
              <a:tailEnd/>
            </a:ln>
          </p:spPr>
          <p:txBody>
            <a:bodyPr>
              <a:spAutoFit/>
            </a:bodyPr>
            <a:lstStyle/>
            <a:p>
              <a:pPr eaLnBrk="0" fontAlgn="base" hangingPunct="0">
                <a:spcBef>
                  <a:spcPct val="0"/>
                </a:spcBef>
                <a:spcAft>
                  <a:spcPct val="0"/>
                </a:spcAft>
                <a:defRPr/>
              </a:pPr>
              <a:r>
                <a:rPr lang="en-US" sz="1350" b="1" kern="0">
                  <a:solidFill>
                    <a:srgbClr val="000000"/>
                  </a:solidFill>
                  <a:latin typeface="Arial" charset="0"/>
                  <a:cs typeface="Arial" charset="0"/>
                </a:rPr>
                <a:t>Thực đơn và ứng dụng nhiều biểu mẫu</a:t>
              </a:r>
            </a:p>
          </p:txBody>
        </p:sp>
        <p:sp>
          <p:nvSpPr>
            <p:cNvPr id="63" name="Text Box 65"/>
            <p:cNvSpPr txBox="1">
              <a:spLocks noChangeArrowheads="1"/>
            </p:cNvSpPr>
            <p:nvPr/>
          </p:nvSpPr>
          <p:spPr bwMode="gray">
            <a:xfrm>
              <a:off x="1411" y="1886"/>
              <a:ext cx="187" cy="310"/>
            </a:xfrm>
            <a:prstGeom prst="rect">
              <a:avLst/>
            </a:prstGeom>
            <a:noFill/>
            <a:ln w="9525" algn="ctr">
              <a:noFill/>
              <a:miter lim="800000"/>
              <a:headEnd/>
              <a:tailEnd/>
            </a:ln>
          </p:spPr>
          <p:txBody>
            <a:bodyPr wrap="none">
              <a:spAutoFit/>
            </a:bodyPr>
            <a:lstStyle/>
            <a:p>
              <a:pPr algn="ctr" eaLnBrk="0" fontAlgn="base" hangingPunct="0">
                <a:spcBef>
                  <a:spcPct val="0"/>
                </a:spcBef>
                <a:spcAft>
                  <a:spcPct val="0"/>
                </a:spcAft>
                <a:defRPr/>
              </a:pPr>
              <a:r>
                <a:rPr lang="en-US" kern="0">
                  <a:solidFill>
                    <a:srgbClr val="FFFFFF"/>
                  </a:solidFill>
                  <a:latin typeface="Arial" charset="0"/>
                  <a:cs typeface="Arial" charset="0"/>
                </a:rPr>
                <a:t>4</a:t>
              </a:r>
            </a:p>
          </p:txBody>
        </p:sp>
      </p:grpSp>
    </p:spTree>
    <p:extLst>
      <p:ext uri="{BB962C8B-B14F-4D97-AF65-F5344CB8AC3E}">
        <p14:creationId xmlns:p14="http://schemas.microsoft.com/office/powerpoint/2010/main" val="185581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1000"/>
                                        <p:tgtEl>
                                          <p:spTgt spid="49"/>
                                        </p:tgtEl>
                                      </p:cBhvr>
                                    </p:animEffect>
                                    <p:anim calcmode="lin" valueType="num">
                                      <p:cBhvr>
                                        <p:cTn id="14" dur="1000" fill="hold"/>
                                        <p:tgtEl>
                                          <p:spTgt spid="49"/>
                                        </p:tgtEl>
                                        <p:attrNameLst>
                                          <p:attrName>ppt_x</p:attrName>
                                        </p:attrNameLst>
                                      </p:cBhvr>
                                      <p:tavLst>
                                        <p:tav tm="0">
                                          <p:val>
                                            <p:strVal val="#ppt_x"/>
                                          </p:val>
                                        </p:tav>
                                        <p:tav tm="100000">
                                          <p:val>
                                            <p:strVal val="#ppt_x"/>
                                          </p:val>
                                        </p:tav>
                                      </p:tavLst>
                                    </p:anim>
                                    <p:anim calcmode="lin" valueType="num">
                                      <p:cBhvr>
                                        <p:cTn id="15" dur="10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1000"/>
                                        <p:tgtEl>
                                          <p:spTgt spid="54"/>
                                        </p:tgtEl>
                                      </p:cBhvr>
                                    </p:animEffect>
                                    <p:anim calcmode="lin" valueType="num">
                                      <p:cBhvr>
                                        <p:cTn id="20" dur="1000" fill="hold"/>
                                        <p:tgtEl>
                                          <p:spTgt spid="54"/>
                                        </p:tgtEl>
                                        <p:attrNameLst>
                                          <p:attrName>ppt_x</p:attrName>
                                        </p:attrNameLst>
                                      </p:cBhvr>
                                      <p:tavLst>
                                        <p:tav tm="0">
                                          <p:val>
                                            <p:strVal val="#ppt_x"/>
                                          </p:val>
                                        </p:tav>
                                        <p:tav tm="100000">
                                          <p:val>
                                            <p:strVal val="#ppt_x"/>
                                          </p:val>
                                        </p:tav>
                                      </p:tavLst>
                                    </p:anim>
                                    <p:anim calcmode="lin" valueType="num">
                                      <p:cBhvr>
                                        <p:cTn id="21" dur="1000" fill="hold"/>
                                        <p:tgtEl>
                                          <p:spTgt spid="54"/>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7" presetClass="entr" presetSubtype="0" fill="hold" nodeType="after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1000"/>
                                        <p:tgtEl>
                                          <p:spTgt spid="59"/>
                                        </p:tgtEl>
                                      </p:cBhvr>
                                    </p:animEffect>
                                    <p:anim calcmode="lin" valueType="num">
                                      <p:cBhvr>
                                        <p:cTn id="26" dur="1000" fill="hold"/>
                                        <p:tgtEl>
                                          <p:spTgt spid="59"/>
                                        </p:tgtEl>
                                        <p:attrNameLst>
                                          <p:attrName>ppt_x</p:attrName>
                                        </p:attrNameLst>
                                      </p:cBhvr>
                                      <p:tavLst>
                                        <p:tav tm="0">
                                          <p:val>
                                            <p:strVal val="#ppt_x"/>
                                          </p:val>
                                        </p:tav>
                                        <p:tav tm="100000">
                                          <p:val>
                                            <p:strVal val="#ppt_x"/>
                                          </p:val>
                                        </p:tav>
                                      </p:tavLst>
                                    </p:anim>
                                    <p:anim calcmode="lin" valueType="num">
                                      <p:cBhvr>
                                        <p:cTn id="27"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Nằm trong System.IO</a:t>
            </a:r>
          </a:p>
          <a:p>
            <a:r>
              <a:rPr lang="en-US"/>
              <a:t>Gồm 5 hộp thoại thông dụng</a:t>
            </a:r>
          </a:p>
          <a:p>
            <a:pPr lvl="1"/>
            <a:r>
              <a:rPr lang="en-US"/>
              <a:t>OpenFile: Mở file</a:t>
            </a:r>
          </a:p>
          <a:p>
            <a:pPr lvl="1"/>
            <a:r>
              <a:rPr lang="en-US"/>
              <a:t>SaveFile: Lưu file</a:t>
            </a:r>
          </a:p>
          <a:p>
            <a:pPr lvl="1"/>
            <a:r>
              <a:rPr lang="en-US"/>
              <a:t>Font: Font chữ</a:t>
            </a:r>
          </a:p>
          <a:p>
            <a:pPr lvl="1"/>
            <a:r>
              <a:rPr lang="en-US"/>
              <a:t>Color: Màu sắc</a:t>
            </a:r>
          </a:p>
          <a:p>
            <a:pPr lvl="1"/>
            <a:r>
              <a:rPr lang="en-US"/>
              <a:t>Print: In ấn</a:t>
            </a:r>
          </a:p>
        </p:txBody>
      </p:sp>
      <p:sp>
        <p:nvSpPr>
          <p:cNvPr id="4" name="Date Placeholder 3"/>
          <p:cNvSpPr>
            <a:spLocks noGrp="1"/>
          </p:cNvSpPr>
          <p:nvPr>
            <p:ph type="dt" sz="half" idx="10"/>
          </p:nvPr>
        </p:nvSpPr>
        <p:spPr/>
        <p:txBody>
          <a:bodyPr/>
          <a:lstStyle/>
          <a:p>
            <a:fld id="{E8D2125C-7D5C-4157-A294-AE42B44068B2}"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a:t>
            </a:fld>
            <a:r>
              <a:rPr lang="vi-VN"/>
              <a:t>/26</a:t>
            </a:r>
          </a:p>
        </p:txBody>
      </p:sp>
      <p:sp>
        <p:nvSpPr>
          <p:cNvPr id="2" name="Title 1"/>
          <p:cNvSpPr>
            <a:spLocks noGrp="1"/>
          </p:cNvSpPr>
          <p:nvPr>
            <p:ph type="title"/>
          </p:nvPr>
        </p:nvSpPr>
        <p:spPr/>
        <p:txBody>
          <a:bodyPr/>
          <a:lstStyle/>
          <a:p>
            <a:r>
              <a:rPr lang="en-US"/>
              <a:t>3. Các hộp thoại thông dụng</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5976" y="2510899"/>
            <a:ext cx="1728192" cy="1200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2180" y="2501467"/>
            <a:ext cx="1741774" cy="120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7704" y="4581128"/>
            <a:ext cx="1799492" cy="1437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3724" y="4581128"/>
            <a:ext cx="1870230" cy="1419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4205" y="4581128"/>
            <a:ext cx="1958539" cy="1425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3384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lựa chọn một/nhiều file để mở</a:t>
            </a:r>
          </a:p>
        </p:txBody>
      </p:sp>
      <p:sp>
        <p:nvSpPr>
          <p:cNvPr id="4" name="Date Placeholder 3"/>
          <p:cNvSpPr>
            <a:spLocks noGrp="1"/>
          </p:cNvSpPr>
          <p:nvPr>
            <p:ph type="dt" sz="half" idx="10"/>
          </p:nvPr>
        </p:nvSpPr>
        <p:spPr/>
        <p:txBody>
          <a:bodyPr/>
          <a:lstStyle/>
          <a:p>
            <a:fld id="{573C0E89-D9D5-4F81-B108-5FA59759CA98}"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9" name="Slide Number Placeholder 8"/>
          <p:cNvSpPr>
            <a:spLocks noGrp="1"/>
          </p:cNvSpPr>
          <p:nvPr>
            <p:ph type="sldNum" sz="quarter" idx="12"/>
          </p:nvPr>
        </p:nvSpPr>
        <p:spPr/>
        <p:txBody>
          <a:bodyPr/>
          <a:lstStyle/>
          <a:p>
            <a:fld id="{5AB95402-1E0D-474E-8D8C-CBE7F053639E}" type="slidenum">
              <a:rPr lang="vi-VN" smtClean="0"/>
              <a:pPr/>
              <a:t>4</a:t>
            </a:fld>
            <a:r>
              <a:rPr lang="vi-VN"/>
              <a:t>/26</a:t>
            </a:r>
          </a:p>
        </p:txBody>
      </p:sp>
      <p:sp>
        <p:nvSpPr>
          <p:cNvPr id="2" name="Title 1"/>
          <p:cNvSpPr>
            <a:spLocks noGrp="1"/>
          </p:cNvSpPr>
          <p:nvPr>
            <p:ph type="title"/>
          </p:nvPr>
        </p:nvSpPr>
        <p:spPr/>
        <p:txBody>
          <a:bodyPr/>
          <a:lstStyle/>
          <a:p>
            <a:r>
              <a:rPr lang="en-US" dirty="0" err="1"/>
              <a:t>Hộp</a:t>
            </a:r>
            <a:r>
              <a:rPr lang="en-US" dirty="0"/>
              <a:t> </a:t>
            </a:r>
            <a:r>
              <a:rPr lang="en-US" dirty="0" err="1"/>
              <a:t>thoại</a:t>
            </a:r>
            <a:r>
              <a:rPr lang="en-US" dirty="0"/>
              <a:t> </a:t>
            </a:r>
            <a:r>
              <a:rPr lang="en-US" dirty="0" err="1"/>
              <a:t>OpenFile</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662039092"/>
              </p:ext>
            </p:extLst>
          </p:nvPr>
        </p:nvGraphicFramePr>
        <p:xfrm>
          <a:off x="1709683" y="2186862"/>
          <a:ext cx="5942615" cy="3239898"/>
        </p:xfrm>
        <a:graphic>
          <a:graphicData uri="http://schemas.openxmlformats.org/drawingml/2006/table">
            <a:tbl>
              <a:tblPr firstRow="1" bandRow="1">
                <a:tableStyleId>{5C22544A-7EE6-4342-B048-85BDC9FD1C3A}</a:tableStyleId>
              </a:tblPr>
              <a:tblGrid>
                <a:gridCol w="1242138">
                  <a:extLst>
                    <a:ext uri="{9D8B030D-6E8A-4147-A177-3AD203B41FA5}">
                      <a16:colId xmlns:a16="http://schemas.microsoft.com/office/drawing/2014/main" val="20000"/>
                    </a:ext>
                  </a:extLst>
                </a:gridCol>
                <a:gridCol w="4700477">
                  <a:extLst>
                    <a:ext uri="{9D8B030D-6E8A-4147-A177-3AD203B41FA5}">
                      <a16:colId xmlns:a16="http://schemas.microsoft.com/office/drawing/2014/main" val="20001"/>
                    </a:ext>
                  </a:extLst>
                </a:gridCol>
              </a:tblGrid>
              <a:tr h="297180">
                <a:tc>
                  <a:txBody>
                    <a:bodyPr/>
                    <a:lstStyle/>
                    <a:p>
                      <a:r>
                        <a:rPr lang="en-US" sz="1500"/>
                        <a:t>Thuộc</a:t>
                      </a:r>
                      <a:r>
                        <a:rPr lang="en-US" sz="1500" baseline="0"/>
                        <a:t> tính</a:t>
                      </a:r>
                      <a:endParaRPr lang="en-US" sz="1500"/>
                    </a:p>
                  </a:txBody>
                  <a:tcPr marL="69233" marR="69233" marT="34290" marB="34290"/>
                </a:tc>
                <a:tc>
                  <a:txBody>
                    <a:bodyPr/>
                    <a:lstStyle/>
                    <a:p>
                      <a:r>
                        <a:rPr lang="en-US" sz="1500"/>
                        <a:t>Mô</a:t>
                      </a:r>
                      <a:r>
                        <a:rPr lang="en-US" sz="1500" baseline="0"/>
                        <a:t> tả</a:t>
                      </a:r>
                      <a:endParaRPr lang="en-US" sz="1500"/>
                    </a:p>
                  </a:txBody>
                  <a:tcPr marL="69233" marR="69233" marT="34290" marB="34290"/>
                </a:tc>
                <a:extLst>
                  <a:ext uri="{0D108BD9-81ED-4DB2-BD59-A6C34878D82A}">
                    <a16:rowId xmlns:a16="http://schemas.microsoft.com/office/drawing/2014/main" val="10000"/>
                  </a:ext>
                </a:extLst>
              </a:tr>
              <a:tr h="278130">
                <a:tc>
                  <a:txBody>
                    <a:bodyPr/>
                    <a:lstStyle/>
                    <a:p>
                      <a:pPr algn="just">
                        <a:lnSpc>
                          <a:spcPct val="115000"/>
                        </a:lnSpc>
                        <a:spcAft>
                          <a:spcPts val="700"/>
                        </a:spcAft>
                      </a:pPr>
                      <a:r>
                        <a:rPr lang="en-US" sz="1400">
                          <a:effectLst/>
                          <a:latin typeface="+mj-lt"/>
                          <a:ea typeface="Calibri"/>
                          <a:cs typeface="Times New Roman"/>
                        </a:rPr>
                        <a:t>FileName</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Tên (đường dẫn) của tập tin đã chọn.</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1"/>
                  </a:ext>
                </a:extLst>
              </a:tr>
              <a:tr h="519779">
                <a:tc>
                  <a:txBody>
                    <a:bodyPr/>
                    <a:lstStyle/>
                    <a:p>
                      <a:pPr algn="just">
                        <a:lnSpc>
                          <a:spcPct val="115000"/>
                        </a:lnSpc>
                        <a:spcAft>
                          <a:spcPts val="700"/>
                        </a:spcAft>
                      </a:pPr>
                      <a:r>
                        <a:rPr lang="en-US" sz="1400">
                          <a:effectLst/>
                          <a:latin typeface="+mj-lt"/>
                          <a:ea typeface="Calibri"/>
                          <a:cs typeface="Times New Roman"/>
                        </a:rPr>
                        <a:t>Filter</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Danh sách các bộ lọc tập tin</a:t>
                      </a:r>
                    </a:p>
                    <a:p>
                      <a:pPr algn="just">
                        <a:lnSpc>
                          <a:spcPct val="115000"/>
                        </a:lnSpc>
                        <a:spcAft>
                          <a:spcPts val="700"/>
                        </a:spcAft>
                      </a:pPr>
                      <a:r>
                        <a:rPr lang="en-US" sz="1400">
                          <a:effectLst/>
                          <a:latin typeface="+mj-lt"/>
                          <a:ea typeface="Calibri"/>
                          <a:cs typeface="Times New Roman"/>
                        </a:rPr>
                        <a:t>Ví dụ: “Text|*.txt|Icons|*.ico|All files|*.*”</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2"/>
                  </a:ext>
                </a:extLst>
              </a:tr>
              <a:tr h="689705">
                <a:tc>
                  <a:txBody>
                    <a:bodyPr/>
                    <a:lstStyle/>
                    <a:p>
                      <a:pPr algn="just">
                        <a:lnSpc>
                          <a:spcPct val="115000"/>
                        </a:lnSpc>
                        <a:spcAft>
                          <a:spcPts val="700"/>
                        </a:spcAft>
                      </a:pPr>
                      <a:r>
                        <a:rPr lang="en-US" sz="1400">
                          <a:effectLst/>
                          <a:latin typeface="+mj-lt"/>
                          <a:ea typeface="Calibri"/>
                          <a:cs typeface="Times New Roman"/>
                        </a:rPr>
                        <a:t>FilterIndex</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Bộ lọc tập tin mặc định, giả sử có 3 bộ lọc (*.com), (*.exe) và (*.ico) nếu FilterIndex = 2 thì hộp thoại sẽ hiển thị sẵn bộ lọc (*.exe)</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3"/>
                  </a:ext>
                </a:extLst>
              </a:tr>
              <a:tr h="278130">
                <a:tc>
                  <a:txBody>
                    <a:bodyPr/>
                    <a:lstStyle/>
                    <a:p>
                      <a:pPr algn="just">
                        <a:lnSpc>
                          <a:spcPct val="115000"/>
                        </a:lnSpc>
                        <a:spcAft>
                          <a:spcPts val="700"/>
                        </a:spcAft>
                      </a:pPr>
                      <a:r>
                        <a:rPr lang="en-US" sz="1400">
                          <a:effectLst/>
                          <a:latin typeface="+mj-lt"/>
                          <a:ea typeface="Calibri"/>
                          <a:cs typeface="Times New Roman"/>
                        </a:rPr>
                        <a:t>InitialDirectory</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Xác định thư mục mặc định cho hộp thoại</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4"/>
                  </a:ext>
                </a:extLst>
              </a:tr>
              <a:tr h="278130">
                <a:tc>
                  <a:txBody>
                    <a:bodyPr/>
                    <a:lstStyle/>
                    <a:p>
                      <a:pPr algn="just">
                        <a:lnSpc>
                          <a:spcPct val="115000"/>
                        </a:lnSpc>
                        <a:spcAft>
                          <a:spcPts val="700"/>
                        </a:spcAft>
                      </a:pPr>
                      <a:r>
                        <a:rPr lang="en-US" sz="1400">
                          <a:effectLst/>
                          <a:latin typeface="+mj-lt"/>
                          <a:ea typeface="Calibri"/>
                          <a:cs typeface="Times New Roman"/>
                        </a:rPr>
                        <a:t>Multiselect</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True/False: cho</a:t>
                      </a:r>
                      <a:r>
                        <a:rPr lang="en-US" sz="1400" baseline="0">
                          <a:effectLst/>
                          <a:latin typeface="+mj-lt"/>
                          <a:ea typeface="Calibri"/>
                          <a:cs typeface="Times New Roman"/>
                        </a:rPr>
                        <a:t> phép/không cho phép chọn nhiều file</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5"/>
                  </a:ext>
                </a:extLst>
              </a:tr>
              <a:tr h="278130">
                <a:tc>
                  <a:txBody>
                    <a:bodyPr/>
                    <a:lstStyle/>
                    <a:p>
                      <a:pPr algn="just">
                        <a:lnSpc>
                          <a:spcPct val="115000"/>
                        </a:lnSpc>
                        <a:spcAft>
                          <a:spcPts val="700"/>
                        </a:spcAft>
                      </a:pPr>
                      <a:r>
                        <a:rPr lang="en-US" sz="1400">
                          <a:effectLst/>
                          <a:latin typeface="+mj-lt"/>
                          <a:ea typeface="Calibri"/>
                          <a:cs typeface="Times New Roman"/>
                        </a:rPr>
                        <a:t>FileNames</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Tên và đường dẫn của các tập tin đã chọn.</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6"/>
                  </a:ext>
                </a:extLst>
              </a:tr>
              <a:tr h="278130">
                <a:tc>
                  <a:txBody>
                    <a:bodyPr/>
                    <a:lstStyle/>
                    <a:p>
                      <a:pPr algn="just">
                        <a:lnSpc>
                          <a:spcPct val="115000"/>
                        </a:lnSpc>
                        <a:spcAft>
                          <a:spcPts val="700"/>
                        </a:spcAft>
                      </a:pPr>
                      <a:r>
                        <a:rPr lang="en-US" sz="1400">
                          <a:effectLst/>
                          <a:latin typeface="+mj-lt"/>
                          <a:ea typeface="Calibri"/>
                          <a:cs typeface="Times New Roman"/>
                        </a:rPr>
                        <a:t>Title</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Xác định tiêu đề của hộp hội thoại.</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7"/>
                  </a:ext>
                </a:extLst>
              </a:tr>
              <a:tr h="278130">
                <a:tc>
                  <a:txBody>
                    <a:bodyPr/>
                    <a:lstStyle/>
                    <a:p>
                      <a:pPr algn="just">
                        <a:lnSpc>
                          <a:spcPct val="115000"/>
                        </a:lnSpc>
                        <a:spcAft>
                          <a:spcPts val="700"/>
                        </a:spcAft>
                      </a:pPr>
                      <a:r>
                        <a:rPr lang="en-US" sz="1400">
                          <a:effectLst/>
                          <a:latin typeface="+mj-lt"/>
                          <a:ea typeface="Calibri"/>
                          <a:cs typeface="Times New Roman"/>
                        </a:rPr>
                        <a:t>OpenFile</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Mở nội dung File đã được chọn (ReadOnly).</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82303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E1F469-4AB1-4D80-A4DD-3B3F81B41516}"/>
              </a:ext>
            </a:extLst>
          </p:cNvPr>
          <p:cNvSpPr>
            <a:spLocks noGrp="1"/>
          </p:cNvSpPr>
          <p:nvPr>
            <p:ph idx="1"/>
          </p:nvPr>
        </p:nvSpPr>
        <p:spPr>
          <a:xfrm>
            <a:off x="5965739" y="6934466"/>
            <a:ext cx="3813995" cy="2206775"/>
          </a:xfrm>
        </p:spPr>
        <p:txBody>
          <a:bodyPr/>
          <a:lstStyle/>
          <a:p>
            <a:endParaRPr lang="en-US" dirty="0"/>
          </a:p>
        </p:txBody>
      </p:sp>
      <p:sp>
        <p:nvSpPr>
          <p:cNvPr id="4" name="Date Placeholder 3">
            <a:extLst>
              <a:ext uri="{FF2B5EF4-FFF2-40B4-BE49-F238E27FC236}">
                <a16:creationId xmlns:a16="http://schemas.microsoft.com/office/drawing/2014/main" id="{428A81F8-4723-4A93-BB08-EAC624E2B5B2}"/>
              </a:ext>
            </a:extLst>
          </p:cNvPr>
          <p:cNvSpPr>
            <a:spLocks noGrp="1"/>
          </p:cNvSpPr>
          <p:nvPr>
            <p:ph type="dt" sz="half" idx="10"/>
          </p:nvPr>
        </p:nvSpPr>
        <p:spPr/>
        <p:txBody>
          <a:bodyPr/>
          <a:lstStyle/>
          <a:p>
            <a:fld id="{CE831494-2554-492A-9E05-3496EA2D35B7}" type="datetime1">
              <a:rPr lang="vi-VN" smtClean="0"/>
              <a:t>20/02/2025</a:t>
            </a:fld>
            <a:endParaRPr lang="vi-VN"/>
          </a:p>
        </p:txBody>
      </p:sp>
      <p:sp>
        <p:nvSpPr>
          <p:cNvPr id="5" name="Footer Placeholder 4">
            <a:extLst>
              <a:ext uri="{FF2B5EF4-FFF2-40B4-BE49-F238E27FC236}">
                <a16:creationId xmlns:a16="http://schemas.microsoft.com/office/drawing/2014/main" id="{453D1AEF-1B42-49FC-9079-E51FBDD9B0CC}"/>
              </a:ext>
            </a:extLst>
          </p:cNvPr>
          <p:cNvSpPr>
            <a:spLocks noGrp="1"/>
          </p:cNvSpPr>
          <p:nvPr>
            <p:ph type="ftr" sz="quarter" idx="11"/>
          </p:nvPr>
        </p:nvSpPr>
        <p:spPr/>
        <p:txBody>
          <a:bodyPr/>
          <a:lstStyle/>
          <a:p>
            <a:r>
              <a:rPr lang="vi-VN"/>
              <a:t>Chương 4. Lập trình giao diện trong Windows</a:t>
            </a:r>
          </a:p>
        </p:txBody>
      </p:sp>
      <p:sp>
        <p:nvSpPr>
          <p:cNvPr id="6" name="Slide Number Placeholder 5">
            <a:extLst>
              <a:ext uri="{FF2B5EF4-FFF2-40B4-BE49-F238E27FC236}">
                <a16:creationId xmlns:a16="http://schemas.microsoft.com/office/drawing/2014/main" id="{FBE50C2D-0239-40BF-9D05-EDE1766F44B1}"/>
              </a:ext>
            </a:extLst>
          </p:cNvPr>
          <p:cNvSpPr>
            <a:spLocks noGrp="1"/>
          </p:cNvSpPr>
          <p:nvPr>
            <p:ph type="sldNum" sz="quarter" idx="12"/>
          </p:nvPr>
        </p:nvSpPr>
        <p:spPr/>
        <p:txBody>
          <a:bodyPr/>
          <a:lstStyle/>
          <a:p>
            <a:fld id="{5AB95402-1E0D-474E-8D8C-CBE7F053639E}" type="slidenum">
              <a:rPr lang="vi-VN" smtClean="0"/>
              <a:pPr/>
              <a:t>5</a:t>
            </a:fld>
            <a:r>
              <a:rPr lang="vi-VN"/>
              <a:t>/26</a:t>
            </a:r>
          </a:p>
        </p:txBody>
      </p:sp>
      <p:sp>
        <p:nvSpPr>
          <p:cNvPr id="2" name="Title 1">
            <a:extLst>
              <a:ext uri="{FF2B5EF4-FFF2-40B4-BE49-F238E27FC236}">
                <a16:creationId xmlns:a16="http://schemas.microsoft.com/office/drawing/2014/main" id="{D1DB58B3-A3F8-4256-A830-DD132DB51364}"/>
              </a:ext>
            </a:extLst>
          </p:cNvPr>
          <p:cNvSpPr>
            <a:spLocks noGrp="1"/>
          </p:cNvSpPr>
          <p:nvPr>
            <p:ph type="title"/>
          </p:nvPr>
        </p:nvSpPr>
        <p:spPr/>
        <p:txBody>
          <a:bodyPr/>
          <a:lstStyle/>
          <a:p>
            <a:endParaRPr lang="en-US"/>
          </a:p>
        </p:txBody>
      </p:sp>
      <p:pic>
        <p:nvPicPr>
          <p:cNvPr id="4098" name="Picture 92">
            <a:extLst>
              <a:ext uri="{FF2B5EF4-FFF2-40B4-BE49-F238E27FC236}">
                <a16:creationId xmlns:a16="http://schemas.microsoft.com/office/drawing/2014/main" id="{9D52DCF6-7437-436E-A809-234836B1B4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93" y="237651"/>
            <a:ext cx="3683497" cy="243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allout: Line 6">
            <a:extLst>
              <a:ext uri="{FF2B5EF4-FFF2-40B4-BE49-F238E27FC236}">
                <a16:creationId xmlns:a16="http://schemas.microsoft.com/office/drawing/2014/main" id="{BB2E9B6B-5390-4984-95C4-FC807721461B}"/>
              </a:ext>
            </a:extLst>
          </p:cNvPr>
          <p:cNvSpPr/>
          <p:nvPr/>
        </p:nvSpPr>
        <p:spPr>
          <a:xfrm>
            <a:off x="4871893" y="296486"/>
            <a:ext cx="3084969" cy="432048"/>
          </a:xfrm>
          <a:prstGeom prst="borderCallout1">
            <a:avLst>
              <a:gd name="adj1" fmla="val 35114"/>
              <a:gd name="adj2" fmla="val -2145"/>
              <a:gd name="adj3" fmla="val 112500"/>
              <a:gd name="adj4" fmla="val -38333"/>
            </a:avLst>
          </a:prstGeom>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500" b="1" dirty="0">
                <a:latin typeface="Times New Roman" panose="02020603050405020304" pitchFamily="18" charset="0"/>
                <a:ea typeface="Calibri" panose="020F0502020204030204" pitchFamily="34" charset="0"/>
              </a:rPr>
              <a:t>Type: </a:t>
            </a:r>
            <a:r>
              <a:rPr lang="en-US" sz="1500" b="1" dirty="0" err="1">
                <a:latin typeface="Times New Roman" panose="02020603050405020304" pitchFamily="18" charset="0"/>
                <a:ea typeface="Calibri" panose="020F0502020204030204" pitchFamily="34" charset="0"/>
              </a:rPr>
              <a:t>PictureBox</a:t>
            </a:r>
            <a:r>
              <a:rPr lang="en-US" sz="1500" b="1" dirty="0">
                <a:latin typeface="Times New Roman" panose="02020603050405020304" pitchFamily="18" charset="0"/>
                <a:ea typeface="Calibri" panose="020F0502020204030204" pitchFamily="34" charset="0"/>
              </a:rPr>
              <a:t>, name: </a:t>
            </a:r>
            <a:r>
              <a:rPr lang="en-US" sz="1500" b="1" dirty="0" err="1">
                <a:latin typeface="Times New Roman" panose="02020603050405020304" pitchFamily="18" charset="0"/>
                <a:ea typeface="Calibri" panose="020F0502020204030204" pitchFamily="34" charset="0"/>
              </a:rPr>
              <a:t>PicAnh</a:t>
            </a:r>
            <a:endParaRPr lang="en-US" sz="1500" b="1" dirty="0"/>
          </a:p>
        </p:txBody>
      </p:sp>
      <p:sp>
        <p:nvSpPr>
          <p:cNvPr id="8" name="Callout: Bent Line 7">
            <a:extLst>
              <a:ext uri="{FF2B5EF4-FFF2-40B4-BE49-F238E27FC236}">
                <a16:creationId xmlns:a16="http://schemas.microsoft.com/office/drawing/2014/main" id="{F1C03587-5E03-4DB0-8B78-26D82897840A}"/>
              </a:ext>
            </a:extLst>
          </p:cNvPr>
          <p:cNvSpPr/>
          <p:nvPr/>
        </p:nvSpPr>
        <p:spPr>
          <a:xfrm>
            <a:off x="4720881" y="1203589"/>
            <a:ext cx="3386992" cy="634097"/>
          </a:xfrm>
          <a:prstGeom prst="borderCallout2">
            <a:avLst>
              <a:gd name="adj1" fmla="val 46469"/>
              <a:gd name="adj2" fmla="val 199"/>
              <a:gd name="adj3" fmla="val 75392"/>
              <a:gd name="adj4" fmla="val -32877"/>
              <a:gd name="adj5" fmla="val 152640"/>
              <a:gd name="adj6" fmla="val -43049"/>
            </a:avLst>
          </a:prstGeom>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500" b="1" dirty="0">
                <a:latin typeface="Times New Roman" panose="02020603050405020304" pitchFamily="18" charset="0"/>
              </a:rPr>
              <a:t>Type: Button, </a:t>
            </a:r>
            <a:r>
              <a:rPr lang="en-US" sz="1500" b="1" dirty="0" err="1">
                <a:latin typeface="Times New Roman" panose="02020603050405020304" pitchFamily="18" charset="0"/>
              </a:rPr>
              <a:t>name:btnOpen</a:t>
            </a:r>
            <a:endParaRPr lang="en-US" sz="1500" b="1" dirty="0">
              <a:latin typeface="Times New Roman" panose="02020603050405020304" pitchFamily="18" charset="0"/>
            </a:endParaRPr>
          </a:p>
        </p:txBody>
      </p:sp>
      <p:pic>
        <p:nvPicPr>
          <p:cNvPr id="4099" name="Picture 93">
            <a:extLst>
              <a:ext uri="{FF2B5EF4-FFF2-40B4-BE49-F238E27FC236}">
                <a16:creationId xmlns:a16="http://schemas.microsoft.com/office/drawing/2014/main" id="{E703A5D3-50A7-4C9F-ABAC-3C4EB035A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5702" y="1964398"/>
            <a:ext cx="2681133" cy="152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rrow: Left 8">
            <a:extLst>
              <a:ext uri="{FF2B5EF4-FFF2-40B4-BE49-F238E27FC236}">
                <a16:creationId xmlns:a16="http://schemas.microsoft.com/office/drawing/2014/main" id="{33766B99-2B88-49EC-A79C-9836A2D223D1}"/>
              </a:ext>
            </a:extLst>
          </p:cNvPr>
          <p:cNvSpPr/>
          <p:nvPr/>
        </p:nvSpPr>
        <p:spPr>
          <a:xfrm rot="11555772">
            <a:off x="3652581" y="2314488"/>
            <a:ext cx="1389348" cy="371365"/>
          </a:xfrm>
          <a:prstGeom prst="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350"/>
          </a:p>
        </p:txBody>
      </p:sp>
      <p:pic>
        <p:nvPicPr>
          <p:cNvPr id="12" name="Content Placeholder 9">
            <a:extLst>
              <a:ext uri="{FF2B5EF4-FFF2-40B4-BE49-F238E27FC236}">
                <a16:creationId xmlns:a16="http://schemas.microsoft.com/office/drawing/2014/main" id="{10F39FD2-048F-41F9-A82E-82FCB1165D53}"/>
              </a:ext>
            </a:extLst>
          </p:cNvPr>
          <p:cNvPicPr>
            <a:picLocks noChangeAspect="1"/>
          </p:cNvPicPr>
          <p:nvPr/>
        </p:nvPicPr>
        <p:blipFill>
          <a:blip r:embed="rId4"/>
          <a:stretch>
            <a:fillRect/>
          </a:stretch>
        </p:blipFill>
        <p:spPr bwMode="auto">
          <a:xfrm>
            <a:off x="213580" y="3561411"/>
            <a:ext cx="6192688" cy="2855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4934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lưu file</a:t>
            </a:r>
          </a:p>
        </p:txBody>
      </p:sp>
      <p:sp>
        <p:nvSpPr>
          <p:cNvPr id="4" name="Date Placeholder 3"/>
          <p:cNvSpPr>
            <a:spLocks noGrp="1"/>
          </p:cNvSpPr>
          <p:nvPr>
            <p:ph type="dt" sz="half" idx="10"/>
          </p:nvPr>
        </p:nvSpPr>
        <p:spPr/>
        <p:txBody>
          <a:bodyPr/>
          <a:lstStyle/>
          <a:p>
            <a:fld id="{4B18E9F4-9609-4489-BE1A-F724B4887FA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6</a:t>
            </a:fld>
            <a:r>
              <a:rPr lang="vi-VN"/>
              <a:t>/26</a:t>
            </a:r>
          </a:p>
        </p:txBody>
      </p:sp>
      <p:sp>
        <p:nvSpPr>
          <p:cNvPr id="2" name="Title 1"/>
          <p:cNvSpPr>
            <a:spLocks noGrp="1"/>
          </p:cNvSpPr>
          <p:nvPr>
            <p:ph type="title"/>
          </p:nvPr>
        </p:nvSpPr>
        <p:spPr/>
        <p:txBody>
          <a:bodyPr/>
          <a:lstStyle/>
          <a:p>
            <a:r>
              <a:rPr lang="en-US"/>
              <a:t>Hộp thoại SaveFile</a:t>
            </a:r>
          </a:p>
        </p:txBody>
      </p:sp>
      <p:graphicFrame>
        <p:nvGraphicFramePr>
          <p:cNvPr id="7" name="Table 6"/>
          <p:cNvGraphicFramePr>
            <a:graphicFrameLocks noGrp="1"/>
          </p:cNvGraphicFramePr>
          <p:nvPr>
            <p:extLst>
              <p:ext uri="{D42A27DB-BD31-4B8C-83A1-F6EECF244321}">
                <p14:modId xmlns:p14="http://schemas.microsoft.com/office/powerpoint/2010/main" val="1237915749"/>
              </p:ext>
            </p:extLst>
          </p:nvPr>
        </p:nvGraphicFramePr>
        <p:xfrm>
          <a:off x="1815740" y="2132856"/>
          <a:ext cx="5942615" cy="3590546"/>
        </p:xfrm>
        <a:graphic>
          <a:graphicData uri="http://schemas.openxmlformats.org/drawingml/2006/table">
            <a:tbl>
              <a:tblPr firstRow="1" bandRow="1">
                <a:tableStyleId>{5C22544A-7EE6-4342-B048-85BDC9FD1C3A}</a:tableStyleId>
              </a:tblPr>
              <a:tblGrid>
                <a:gridCol w="1242138">
                  <a:extLst>
                    <a:ext uri="{9D8B030D-6E8A-4147-A177-3AD203B41FA5}">
                      <a16:colId xmlns:a16="http://schemas.microsoft.com/office/drawing/2014/main" val="20000"/>
                    </a:ext>
                  </a:extLst>
                </a:gridCol>
                <a:gridCol w="4700477">
                  <a:extLst>
                    <a:ext uri="{9D8B030D-6E8A-4147-A177-3AD203B41FA5}">
                      <a16:colId xmlns:a16="http://schemas.microsoft.com/office/drawing/2014/main" val="20001"/>
                    </a:ext>
                  </a:extLst>
                </a:gridCol>
              </a:tblGrid>
              <a:tr h="297180">
                <a:tc>
                  <a:txBody>
                    <a:bodyPr/>
                    <a:lstStyle/>
                    <a:p>
                      <a:r>
                        <a:rPr lang="en-US" sz="1500"/>
                        <a:t>Thuộc</a:t>
                      </a:r>
                      <a:r>
                        <a:rPr lang="en-US" sz="1500" baseline="0"/>
                        <a:t> tính</a:t>
                      </a:r>
                      <a:endParaRPr lang="en-US" sz="1500"/>
                    </a:p>
                  </a:txBody>
                  <a:tcPr marL="69233" marR="69233" marT="34290" marB="34290"/>
                </a:tc>
                <a:tc>
                  <a:txBody>
                    <a:bodyPr/>
                    <a:lstStyle/>
                    <a:p>
                      <a:r>
                        <a:rPr lang="en-US" sz="1500"/>
                        <a:t>Mô</a:t>
                      </a:r>
                      <a:r>
                        <a:rPr lang="en-US" sz="1500" baseline="0"/>
                        <a:t> tả</a:t>
                      </a:r>
                      <a:endParaRPr lang="en-US" sz="1500"/>
                    </a:p>
                  </a:txBody>
                  <a:tcPr marL="69233" marR="69233" marT="34290" marB="34290"/>
                </a:tc>
                <a:extLst>
                  <a:ext uri="{0D108BD9-81ED-4DB2-BD59-A6C34878D82A}">
                    <a16:rowId xmlns:a16="http://schemas.microsoft.com/office/drawing/2014/main" val="10000"/>
                  </a:ext>
                </a:extLst>
              </a:tr>
              <a:tr h="278130">
                <a:tc>
                  <a:txBody>
                    <a:bodyPr/>
                    <a:lstStyle/>
                    <a:p>
                      <a:pPr algn="just">
                        <a:lnSpc>
                          <a:spcPct val="115000"/>
                        </a:lnSpc>
                        <a:spcAft>
                          <a:spcPts val="700"/>
                        </a:spcAft>
                      </a:pPr>
                      <a:r>
                        <a:rPr lang="en-US" sz="1400">
                          <a:effectLst/>
                          <a:latin typeface="+mj-lt"/>
                          <a:ea typeface="Calibri"/>
                          <a:cs typeface="Times New Roman"/>
                        </a:rPr>
                        <a:t>FileName</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Tên (đường dẫn) của tập tin đã chọn.</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1"/>
                  </a:ext>
                </a:extLst>
              </a:tr>
              <a:tr h="519779">
                <a:tc>
                  <a:txBody>
                    <a:bodyPr/>
                    <a:lstStyle/>
                    <a:p>
                      <a:pPr algn="just">
                        <a:lnSpc>
                          <a:spcPct val="115000"/>
                        </a:lnSpc>
                        <a:spcAft>
                          <a:spcPts val="700"/>
                        </a:spcAft>
                      </a:pPr>
                      <a:r>
                        <a:rPr lang="en-US" sz="1400">
                          <a:effectLst/>
                          <a:latin typeface="+mj-lt"/>
                          <a:ea typeface="Calibri"/>
                          <a:cs typeface="Times New Roman"/>
                        </a:rPr>
                        <a:t>Filter</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Danh sách các bộ lọc tập tin</a:t>
                      </a:r>
                    </a:p>
                    <a:p>
                      <a:pPr algn="just">
                        <a:lnSpc>
                          <a:spcPct val="115000"/>
                        </a:lnSpc>
                        <a:spcAft>
                          <a:spcPts val="700"/>
                        </a:spcAft>
                      </a:pPr>
                      <a:r>
                        <a:rPr lang="en-US" sz="1400">
                          <a:effectLst/>
                          <a:latin typeface="+mj-lt"/>
                          <a:ea typeface="Calibri"/>
                          <a:cs typeface="Times New Roman"/>
                        </a:rPr>
                        <a:t>Ví dụ: “Text|*.txt|Icons|*.ico|All files|*.*”</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2"/>
                  </a:ext>
                </a:extLst>
              </a:tr>
              <a:tr h="689705">
                <a:tc>
                  <a:txBody>
                    <a:bodyPr/>
                    <a:lstStyle/>
                    <a:p>
                      <a:pPr algn="just">
                        <a:lnSpc>
                          <a:spcPct val="115000"/>
                        </a:lnSpc>
                        <a:spcAft>
                          <a:spcPts val="700"/>
                        </a:spcAft>
                      </a:pPr>
                      <a:r>
                        <a:rPr lang="en-US" sz="1400">
                          <a:effectLst/>
                          <a:latin typeface="+mj-lt"/>
                          <a:ea typeface="Calibri"/>
                          <a:cs typeface="Times New Roman"/>
                        </a:rPr>
                        <a:t>FilterIndex</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Bộ lọc tập tin mặc định, giả sử có 3 bộ lọc (*.com), (*.exe) và (*.ico) nếu FilterIndex = 2 thì hộp thoại sẽ hiển thị sẵn bộ lọc (*.exe)</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3"/>
                  </a:ext>
                </a:extLst>
              </a:tr>
              <a:tr h="278130">
                <a:tc>
                  <a:txBody>
                    <a:bodyPr/>
                    <a:lstStyle/>
                    <a:p>
                      <a:pPr algn="just">
                        <a:lnSpc>
                          <a:spcPct val="115000"/>
                        </a:lnSpc>
                        <a:spcAft>
                          <a:spcPts val="700"/>
                        </a:spcAft>
                      </a:pPr>
                      <a:r>
                        <a:rPr lang="en-US" sz="1400">
                          <a:effectLst/>
                          <a:latin typeface="+mj-lt"/>
                          <a:ea typeface="Calibri"/>
                          <a:cs typeface="Times New Roman"/>
                        </a:rPr>
                        <a:t>InitialDirectory</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Xác định thư mục mặc định cho hộp thoại</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4"/>
                  </a:ext>
                </a:extLst>
              </a:tr>
              <a:tr h="278130">
                <a:tc>
                  <a:txBody>
                    <a:bodyPr/>
                    <a:lstStyle/>
                    <a:p>
                      <a:pPr algn="just">
                        <a:lnSpc>
                          <a:spcPct val="115000"/>
                        </a:lnSpc>
                        <a:spcAft>
                          <a:spcPts val="700"/>
                        </a:spcAft>
                      </a:pPr>
                      <a:r>
                        <a:rPr lang="en-US" sz="1400">
                          <a:effectLst/>
                          <a:latin typeface="+mj-lt"/>
                          <a:ea typeface="Calibri"/>
                          <a:cs typeface="Times New Roman"/>
                        </a:rPr>
                        <a:t>Title</a:t>
                      </a:r>
                      <a:endParaRPr lang="vi-VN" sz="1400">
                        <a:effectLst/>
                        <a:latin typeface="+mj-lt"/>
                        <a:ea typeface="Calibri"/>
                        <a:cs typeface="Times New Roman"/>
                      </a:endParaRPr>
                    </a:p>
                  </a:txBody>
                  <a:tcPr marL="51435" marR="51435" marT="0" marB="0"/>
                </a:tc>
                <a:tc>
                  <a:txBody>
                    <a:bodyPr/>
                    <a:lstStyle/>
                    <a:p>
                      <a:pPr algn="just">
                        <a:lnSpc>
                          <a:spcPct val="115000"/>
                        </a:lnSpc>
                        <a:spcAft>
                          <a:spcPts val="700"/>
                        </a:spcAft>
                      </a:pPr>
                      <a:r>
                        <a:rPr lang="en-US" sz="1400">
                          <a:effectLst/>
                          <a:latin typeface="+mj-lt"/>
                          <a:ea typeface="Calibri"/>
                          <a:cs typeface="Times New Roman"/>
                        </a:rPr>
                        <a:t>Xác định tiêu đề của hộp hội thoại.</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5"/>
                  </a:ext>
                </a:extLst>
              </a:tr>
              <a:tr h="689705">
                <a:tc>
                  <a:txBody>
                    <a:bodyPr/>
                    <a:lstStyle/>
                    <a:p>
                      <a:pPr algn="just">
                        <a:lnSpc>
                          <a:spcPct val="115000"/>
                        </a:lnSpc>
                        <a:spcAft>
                          <a:spcPts val="600"/>
                        </a:spcAft>
                      </a:pPr>
                      <a:r>
                        <a:rPr lang="en-US" sz="1400">
                          <a:effectLst/>
                          <a:latin typeface="+mj-lt"/>
                          <a:ea typeface="Calibri"/>
                          <a:cs typeface="Times New Roman"/>
                        </a:rPr>
                        <a:t>AddExtension</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True/False:</a:t>
                      </a:r>
                      <a:r>
                        <a:rPr lang="en-US" sz="1400" baseline="0">
                          <a:effectLst/>
                          <a:latin typeface="+mj-lt"/>
                          <a:ea typeface="Calibri"/>
                          <a:cs typeface="Times New Roman"/>
                        </a:rPr>
                        <a:t> </a:t>
                      </a:r>
                      <a:r>
                        <a:rPr lang="en-US" sz="1400">
                          <a:effectLst/>
                          <a:latin typeface="+mj-lt"/>
                          <a:ea typeface="Calibri"/>
                          <a:cs typeface="Times New Roman"/>
                        </a:rPr>
                        <a:t>tự động thêm phần mở rộng hiện hành vào tên tệp mà người dùng chọn nếu người dùng không chỉ rõ phần mở rộng của tên tệp.</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6"/>
                  </a:ext>
                </a:extLst>
              </a:tr>
              <a:tr h="453104">
                <a:tc>
                  <a:txBody>
                    <a:bodyPr/>
                    <a:lstStyle/>
                    <a:p>
                      <a:pPr algn="just">
                        <a:lnSpc>
                          <a:spcPct val="115000"/>
                        </a:lnSpc>
                        <a:spcAft>
                          <a:spcPts val="600"/>
                        </a:spcAft>
                      </a:pPr>
                      <a:r>
                        <a:rPr lang="en-US" sz="1400">
                          <a:effectLst/>
                          <a:latin typeface="+mj-lt"/>
                          <a:ea typeface="Calibri"/>
                          <a:cs typeface="Times New Roman"/>
                        </a:rPr>
                        <a:t>DefaultExt</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Phần mở rộng mặc định cho tên tệp, nếu người dùng không chỉ rõ phần mở rộng của tên tệp</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29310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Luồng</a:t>
            </a:r>
            <a:r>
              <a:rPr lang="en-US" dirty="0"/>
              <a:t> </a:t>
            </a:r>
            <a:r>
              <a:rPr lang="en-US" dirty="0" err="1"/>
              <a:t>ghi</a:t>
            </a:r>
            <a:r>
              <a:rPr lang="en-US" dirty="0"/>
              <a:t> </a:t>
            </a:r>
            <a:r>
              <a:rPr lang="en-US" dirty="0" err="1"/>
              <a:t>dữ</a:t>
            </a:r>
            <a:r>
              <a:rPr lang="en-US" dirty="0"/>
              <a:t> </a:t>
            </a:r>
            <a:r>
              <a:rPr lang="en-US" dirty="0" err="1"/>
              <a:t>liệu</a:t>
            </a:r>
            <a:r>
              <a:rPr lang="en-US" dirty="0"/>
              <a:t> – </a:t>
            </a:r>
            <a:r>
              <a:rPr lang="en-US" dirty="0" err="1"/>
              <a:t>StreamWriter</a:t>
            </a:r>
            <a:endParaRPr lang="en-US" dirty="0"/>
          </a:p>
          <a:p>
            <a:pPr lvl="1"/>
            <a:r>
              <a:rPr lang="en-US" dirty="0" err="1"/>
              <a:t>Mở</a:t>
            </a:r>
            <a:r>
              <a:rPr lang="en-US" dirty="0"/>
              <a:t> </a:t>
            </a:r>
            <a:r>
              <a:rPr lang="en-US" dirty="0" err="1"/>
              <a:t>luồng</a:t>
            </a:r>
            <a:r>
              <a:rPr lang="en-US" dirty="0"/>
              <a:t> </a:t>
            </a:r>
            <a:r>
              <a:rPr lang="en-US" dirty="0" err="1"/>
              <a:t>để</a:t>
            </a:r>
            <a:r>
              <a:rPr lang="en-US" dirty="0"/>
              <a:t> </a:t>
            </a:r>
            <a:r>
              <a:rPr lang="en-US" dirty="0" err="1"/>
              <a:t>ghi</a:t>
            </a:r>
            <a:r>
              <a:rPr lang="en-US" dirty="0"/>
              <a:t> file</a:t>
            </a:r>
          </a:p>
          <a:p>
            <a:pPr marL="353615" lvl="1" indent="0">
              <a:buNone/>
            </a:pPr>
            <a:r>
              <a:rPr lang="en-US" sz="1500" dirty="0" err="1">
                <a:solidFill>
                  <a:srgbClr val="002060"/>
                </a:solidFill>
                <a:latin typeface="Consolas" pitchFamily="49" charset="0"/>
                <a:ea typeface="Calibri"/>
                <a:cs typeface="Consolas" pitchFamily="49" charset="0"/>
              </a:rPr>
              <a:t>StreamWriter</a:t>
            </a:r>
            <a:r>
              <a:rPr lang="en-US" sz="1500" dirty="0">
                <a:solidFill>
                  <a:srgbClr val="002060"/>
                </a:solidFill>
                <a:latin typeface="Consolas" pitchFamily="49" charset="0"/>
                <a:ea typeface="Calibri"/>
                <a:cs typeface="Consolas" pitchFamily="49" charset="0"/>
              </a:rPr>
              <a:t>  </a:t>
            </a:r>
            <a:r>
              <a:rPr lang="en-US" sz="1500" dirty="0" err="1">
                <a:solidFill>
                  <a:srgbClr val="002060"/>
                </a:solidFill>
                <a:latin typeface="Consolas" pitchFamily="49" charset="0"/>
                <a:ea typeface="Calibri"/>
                <a:cs typeface="Consolas" pitchFamily="49" charset="0"/>
              </a:rPr>
              <a:t>Tenluong</a:t>
            </a:r>
            <a:r>
              <a:rPr lang="en-US" sz="1500" dirty="0">
                <a:solidFill>
                  <a:srgbClr val="002060"/>
                </a:solidFill>
                <a:latin typeface="Consolas" pitchFamily="49" charset="0"/>
                <a:ea typeface="Calibri"/>
                <a:cs typeface="Consolas" pitchFamily="49" charset="0"/>
              </a:rPr>
              <a:t> = new </a:t>
            </a:r>
            <a:r>
              <a:rPr lang="en-US" sz="1500" dirty="0" err="1">
                <a:solidFill>
                  <a:srgbClr val="002060"/>
                </a:solidFill>
                <a:latin typeface="Consolas" pitchFamily="49" charset="0"/>
                <a:ea typeface="Calibri"/>
                <a:cs typeface="Consolas" pitchFamily="49" charset="0"/>
              </a:rPr>
              <a:t>StreamWriter</a:t>
            </a:r>
            <a:r>
              <a:rPr lang="en-US" sz="1500" dirty="0">
                <a:solidFill>
                  <a:srgbClr val="002060"/>
                </a:solidFill>
                <a:latin typeface="Consolas" pitchFamily="49" charset="0"/>
                <a:ea typeface="Calibri"/>
                <a:cs typeface="Consolas" pitchFamily="49" charset="0"/>
              </a:rPr>
              <a:t>(</a:t>
            </a:r>
            <a:r>
              <a:rPr lang="en-US" sz="1500" dirty="0" err="1">
                <a:solidFill>
                  <a:srgbClr val="002060"/>
                </a:solidFill>
                <a:latin typeface="Consolas" pitchFamily="49" charset="0"/>
                <a:ea typeface="Calibri"/>
                <a:cs typeface="Consolas" pitchFamily="49" charset="0"/>
              </a:rPr>
              <a:t>Tenfile</a:t>
            </a:r>
            <a:r>
              <a:rPr lang="en-US" sz="1500" dirty="0">
                <a:solidFill>
                  <a:srgbClr val="002060"/>
                </a:solidFill>
                <a:latin typeface="Consolas" pitchFamily="49" charset="0"/>
                <a:ea typeface="Calibri"/>
                <a:cs typeface="Consolas" pitchFamily="49" charset="0"/>
              </a:rPr>
              <a:t>);</a:t>
            </a:r>
            <a:endParaRPr lang="en-US" sz="1500" dirty="0">
              <a:solidFill>
                <a:srgbClr val="002060"/>
              </a:solidFill>
              <a:latin typeface="Consolas" pitchFamily="49" charset="0"/>
              <a:cs typeface="Consolas" pitchFamily="49" charset="0"/>
            </a:endParaRPr>
          </a:p>
          <a:p>
            <a:pPr lvl="1"/>
            <a:r>
              <a:rPr lang="en-US" dirty="0" err="1"/>
              <a:t>Ghi</a:t>
            </a:r>
            <a:r>
              <a:rPr lang="en-US" dirty="0"/>
              <a:t> </a:t>
            </a:r>
            <a:r>
              <a:rPr lang="en-US" dirty="0" err="1"/>
              <a:t>từng</a:t>
            </a:r>
            <a:r>
              <a:rPr lang="en-US" dirty="0"/>
              <a:t> </a:t>
            </a:r>
            <a:r>
              <a:rPr lang="en-US" dirty="0" err="1"/>
              <a:t>dòng</a:t>
            </a:r>
            <a:endParaRPr lang="en-US" dirty="0"/>
          </a:p>
          <a:p>
            <a:pPr marL="353615" lvl="1" indent="0">
              <a:buNone/>
            </a:pPr>
            <a:r>
              <a:rPr lang="en-US" sz="1500" dirty="0" err="1">
                <a:solidFill>
                  <a:srgbClr val="002060"/>
                </a:solidFill>
                <a:latin typeface="Consolas" pitchFamily="49" charset="0"/>
                <a:ea typeface="Calibri"/>
                <a:cs typeface="Consolas" pitchFamily="49" charset="0"/>
              </a:rPr>
              <a:t>StreamWriter</a:t>
            </a:r>
            <a:r>
              <a:rPr lang="en-US" sz="1500" dirty="0">
                <a:solidFill>
                  <a:srgbClr val="002060"/>
                </a:solidFill>
                <a:latin typeface="Consolas" pitchFamily="49" charset="0"/>
                <a:ea typeface="Calibri"/>
                <a:cs typeface="Consolas" pitchFamily="49" charset="0"/>
              </a:rPr>
              <a:t>  </a:t>
            </a:r>
            <a:r>
              <a:rPr lang="en-US" sz="1500" dirty="0" err="1">
                <a:solidFill>
                  <a:srgbClr val="002060"/>
                </a:solidFill>
                <a:latin typeface="Consolas" pitchFamily="49" charset="0"/>
                <a:ea typeface="Calibri"/>
                <a:cs typeface="Consolas" pitchFamily="49" charset="0"/>
              </a:rPr>
              <a:t>Tenluong</a:t>
            </a:r>
            <a:r>
              <a:rPr lang="en-US" sz="1500" dirty="0">
                <a:solidFill>
                  <a:srgbClr val="002060"/>
                </a:solidFill>
                <a:latin typeface="Consolas" pitchFamily="49" charset="0"/>
                <a:ea typeface="Calibri"/>
                <a:cs typeface="Consolas" pitchFamily="49" charset="0"/>
              </a:rPr>
              <a:t> = new </a:t>
            </a:r>
            <a:r>
              <a:rPr lang="en-US" sz="1500" dirty="0" err="1">
                <a:solidFill>
                  <a:srgbClr val="002060"/>
                </a:solidFill>
                <a:latin typeface="Consolas" pitchFamily="49" charset="0"/>
                <a:ea typeface="Calibri"/>
                <a:cs typeface="Consolas" pitchFamily="49" charset="0"/>
              </a:rPr>
              <a:t>StreamWriter</a:t>
            </a:r>
            <a:r>
              <a:rPr lang="en-US" sz="1500" dirty="0">
                <a:solidFill>
                  <a:srgbClr val="002060"/>
                </a:solidFill>
                <a:latin typeface="Consolas" pitchFamily="49" charset="0"/>
                <a:ea typeface="Calibri"/>
                <a:cs typeface="Consolas" pitchFamily="49" charset="0"/>
              </a:rPr>
              <a:t>(</a:t>
            </a:r>
            <a:r>
              <a:rPr lang="en-US" sz="1500" dirty="0" err="1">
                <a:solidFill>
                  <a:srgbClr val="002060"/>
                </a:solidFill>
                <a:latin typeface="Consolas" pitchFamily="49" charset="0"/>
                <a:ea typeface="Calibri"/>
                <a:cs typeface="Consolas" pitchFamily="49" charset="0"/>
              </a:rPr>
              <a:t>Tenfile</a:t>
            </a:r>
            <a:r>
              <a:rPr lang="en-US" sz="1500" dirty="0">
                <a:solidFill>
                  <a:srgbClr val="002060"/>
                </a:solidFill>
                <a:latin typeface="Consolas" pitchFamily="49" charset="0"/>
                <a:ea typeface="Calibri"/>
                <a:cs typeface="Consolas" pitchFamily="49" charset="0"/>
              </a:rPr>
              <a:t>);</a:t>
            </a:r>
          </a:p>
          <a:p>
            <a:pPr lvl="1"/>
            <a:r>
              <a:rPr lang="en-US" dirty="0" err="1"/>
              <a:t>Ghi</a:t>
            </a:r>
            <a:r>
              <a:rPr lang="en-US" dirty="0"/>
              <a:t> </a:t>
            </a:r>
            <a:r>
              <a:rPr lang="en-US" dirty="0" err="1"/>
              <a:t>toàn</a:t>
            </a:r>
            <a:r>
              <a:rPr lang="en-US" dirty="0"/>
              <a:t> </a:t>
            </a:r>
            <a:r>
              <a:rPr lang="en-US" dirty="0" err="1"/>
              <a:t>bộ</a:t>
            </a:r>
            <a:r>
              <a:rPr lang="en-US" dirty="0"/>
              <a:t> </a:t>
            </a:r>
            <a:r>
              <a:rPr lang="en-US" dirty="0" err="1"/>
              <a:t>nội</a:t>
            </a:r>
            <a:r>
              <a:rPr lang="en-US" dirty="0"/>
              <a:t> </a:t>
            </a:r>
            <a:r>
              <a:rPr lang="en-US" dirty="0" err="1"/>
              <a:t>dùng</a:t>
            </a:r>
            <a:r>
              <a:rPr lang="en-US" dirty="0"/>
              <a:t> </a:t>
            </a:r>
            <a:r>
              <a:rPr lang="en-US" dirty="0" err="1"/>
              <a:t>vào</a:t>
            </a:r>
            <a:r>
              <a:rPr lang="en-US" dirty="0"/>
              <a:t> file</a:t>
            </a:r>
          </a:p>
          <a:p>
            <a:pPr marL="353615" lvl="1" indent="0">
              <a:buNone/>
            </a:pPr>
            <a:r>
              <a:rPr lang="en-US" sz="1500" dirty="0" err="1">
                <a:solidFill>
                  <a:srgbClr val="002060"/>
                </a:solidFill>
                <a:latin typeface="Consolas" pitchFamily="49" charset="0"/>
                <a:ea typeface="Calibri"/>
                <a:cs typeface="Consolas" pitchFamily="49" charset="0"/>
              </a:rPr>
              <a:t>Tenluong.Write</a:t>
            </a:r>
            <a:r>
              <a:rPr lang="en-US" sz="1500" dirty="0">
                <a:solidFill>
                  <a:srgbClr val="002060"/>
                </a:solidFill>
                <a:latin typeface="Consolas" pitchFamily="49" charset="0"/>
                <a:ea typeface="Calibri"/>
                <a:cs typeface="Consolas" pitchFamily="49" charset="0"/>
              </a:rPr>
              <a:t>(“</a:t>
            </a:r>
            <a:r>
              <a:rPr lang="en-US" sz="1500" dirty="0" err="1">
                <a:solidFill>
                  <a:srgbClr val="002060"/>
                </a:solidFill>
                <a:latin typeface="Consolas" pitchFamily="49" charset="0"/>
                <a:ea typeface="Calibri"/>
                <a:cs typeface="Consolas" pitchFamily="49" charset="0"/>
              </a:rPr>
              <a:t>Noidung</a:t>
            </a:r>
            <a:r>
              <a:rPr lang="en-US" sz="1500" dirty="0">
                <a:solidFill>
                  <a:srgbClr val="002060"/>
                </a:solidFill>
                <a:latin typeface="Consolas" pitchFamily="49" charset="0"/>
                <a:ea typeface="Calibri"/>
                <a:cs typeface="Consolas" pitchFamily="49" charset="0"/>
              </a:rPr>
              <a:t>”);</a:t>
            </a:r>
          </a:p>
        </p:txBody>
      </p:sp>
      <p:sp>
        <p:nvSpPr>
          <p:cNvPr id="4" name="Date Placeholder 3"/>
          <p:cNvSpPr>
            <a:spLocks noGrp="1"/>
          </p:cNvSpPr>
          <p:nvPr>
            <p:ph type="dt" sz="half" idx="10"/>
          </p:nvPr>
        </p:nvSpPr>
        <p:spPr/>
        <p:txBody>
          <a:bodyPr/>
          <a:lstStyle/>
          <a:p>
            <a:fld id="{262E9B81-6C78-4E97-A300-15F45C6A0783}"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7</a:t>
            </a:fld>
            <a:r>
              <a:rPr lang="vi-VN"/>
              <a:t>/26</a:t>
            </a:r>
          </a:p>
        </p:txBody>
      </p:sp>
      <p:sp>
        <p:nvSpPr>
          <p:cNvPr id="2" name="Title 1"/>
          <p:cNvSpPr>
            <a:spLocks noGrp="1"/>
          </p:cNvSpPr>
          <p:nvPr>
            <p:ph type="title"/>
          </p:nvPr>
        </p:nvSpPr>
        <p:spPr/>
        <p:txBody>
          <a:bodyPr/>
          <a:lstStyle/>
          <a:p>
            <a:r>
              <a:rPr lang="en-US"/>
              <a:t>Luồng File - FileStream</a:t>
            </a:r>
          </a:p>
        </p:txBody>
      </p:sp>
    </p:spTree>
    <p:extLst>
      <p:ext uri="{BB962C8B-B14F-4D97-AF65-F5344CB8AC3E}">
        <p14:creationId xmlns:p14="http://schemas.microsoft.com/office/powerpoint/2010/main" val="233927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Luồng đọc dữ liệu – StreamReader</a:t>
            </a:r>
          </a:p>
          <a:p>
            <a:pPr marL="585788" lvl="1" indent="-257175">
              <a:spcBef>
                <a:spcPts val="0"/>
              </a:spcBef>
              <a:spcAft>
                <a:spcPts val="450"/>
              </a:spcAft>
            </a:pPr>
            <a:r>
              <a:rPr lang="en-US"/>
              <a:t>Mở luồng để đọc file:</a:t>
            </a:r>
            <a:endParaRPr lang="vi-VN"/>
          </a:p>
          <a:p>
            <a:pPr marL="353615" lvl="1" indent="0">
              <a:spcBef>
                <a:spcPts val="0"/>
              </a:spcBef>
              <a:spcAft>
                <a:spcPts val="450"/>
              </a:spcAft>
              <a:buNone/>
            </a:pPr>
            <a:r>
              <a:rPr lang="en-US" sz="1500">
                <a:solidFill>
                  <a:srgbClr val="002060"/>
                </a:solidFill>
                <a:latin typeface="Consolas" pitchFamily="49" charset="0"/>
                <a:ea typeface="Calibri"/>
                <a:cs typeface="Consolas" pitchFamily="49" charset="0"/>
              </a:rPr>
              <a:t>StreamReader Tenluong = new StreamReader(Tenfile);</a:t>
            </a:r>
            <a:endParaRPr lang="vi-VN" sz="1500">
              <a:solidFill>
                <a:srgbClr val="002060"/>
              </a:solidFill>
              <a:latin typeface="Consolas" pitchFamily="49" charset="0"/>
              <a:ea typeface="Calibri"/>
              <a:cs typeface="Consolas" pitchFamily="49" charset="0"/>
            </a:endParaRPr>
          </a:p>
          <a:p>
            <a:pPr marL="585788" lvl="1" indent="-257175">
              <a:spcBef>
                <a:spcPts val="0"/>
              </a:spcBef>
              <a:spcAft>
                <a:spcPts val="450"/>
              </a:spcAft>
            </a:pPr>
            <a:r>
              <a:rPr lang="en-US"/>
              <a:t>Đọc từng dòng dữ liệu của file: ta dùng vòng lặp với số lần lặp không xác định để đọc từng dòng dữ liệu, nếu đọc thành công thì trả về chuỗi chứa dữ liệu đọc được, nếu đến cuối file thì trả về Nothing. </a:t>
            </a:r>
            <a:endParaRPr lang="vi-VN"/>
          </a:p>
          <a:p>
            <a:pPr marL="353615" lvl="1" indent="0">
              <a:spcBef>
                <a:spcPts val="0"/>
              </a:spcBef>
              <a:spcAft>
                <a:spcPts val="450"/>
              </a:spcAft>
              <a:buNone/>
            </a:pPr>
            <a:r>
              <a:rPr lang="en-US" sz="1500">
                <a:solidFill>
                  <a:srgbClr val="002060"/>
                </a:solidFill>
                <a:latin typeface="Consolas" pitchFamily="49" charset="0"/>
                <a:ea typeface="Calibri"/>
                <a:cs typeface="Consolas" pitchFamily="49" charset="0"/>
              </a:rPr>
              <a:t>Noidung = Tenluong.ReadLine();</a:t>
            </a:r>
            <a:endParaRPr lang="vi-VN" sz="1500">
              <a:solidFill>
                <a:srgbClr val="002060"/>
              </a:solidFill>
              <a:latin typeface="Consolas" pitchFamily="49" charset="0"/>
              <a:ea typeface="Calibri"/>
              <a:cs typeface="Consolas" pitchFamily="49" charset="0"/>
            </a:endParaRPr>
          </a:p>
          <a:p>
            <a:pPr marL="585788" lvl="1" indent="-257175">
              <a:spcBef>
                <a:spcPts val="0"/>
              </a:spcBef>
              <a:spcAft>
                <a:spcPts val="450"/>
              </a:spcAft>
            </a:pPr>
            <a:r>
              <a:rPr lang="en-US"/>
              <a:t>Đọc tất cả dữ liệu của file lưu vào một biến:</a:t>
            </a:r>
            <a:endParaRPr lang="vi-VN"/>
          </a:p>
          <a:p>
            <a:pPr marL="353615" lvl="1" indent="0">
              <a:spcBef>
                <a:spcPts val="0"/>
              </a:spcBef>
              <a:spcAft>
                <a:spcPts val="450"/>
              </a:spcAft>
              <a:buNone/>
            </a:pPr>
            <a:r>
              <a:rPr lang="en-US" sz="1500">
                <a:solidFill>
                  <a:srgbClr val="002060"/>
                </a:solidFill>
                <a:latin typeface="Consolas" pitchFamily="49" charset="0"/>
                <a:ea typeface="Calibri"/>
                <a:cs typeface="Consolas" pitchFamily="49" charset="0"/>
              </a:rPr>
              <a:t>Noidung = Tenluong.ReadToEnd();</a:t>
            </a:r>
            <a:endParaRPr lang="vi-VN" sz="1500">
              <a:solidFill>
                <a:srgbClr val="002060"/>
              </a:solidFill>
              <a:latin typeface="Consolas" pitchFamily="49" charset="0"/>
              <a:ea typeface="Calibri"/>
              <a:cs typeface="Consolas" pitchFamily="49" charset="0"/>
            </a:endParaRPr>
          </a:p>
          <a:p>
            <a:pPr marL="585788" lvl="1" indent="-257175">
              <a:spcBef>
                <a:spcPts val="0"/>
              </a:spcBef>
              <a:spcAft>
                <a:spcPts val="450"/>
              </a:spcAft>
            </a:pPr>
            <a:r>
              <a:rPr lang="en-US"/>
              <a:t>Đóng luồng:</a:t>
            </a:r>
            <a:endParaRPr lang="vi-VN"/>
          </a:p>
          <a:p>
            <a:pPr marL="353615" lvl="1" indent="0">
              <a:spcBef>
                <a:spcPts val="0"/>
              </a:spcBef>
              <a:spcAft>
                <a:spcPts val="450"/>
              </a:spcAft>
              <a:buNone/>
            </a:pPr>
            <a:r>
              <a:rPr lang="en-US" sz="1500">
                <a:solidFill>
                  <a:srgbClr val="002060"/>
                </a:solidFill>
                <a:latin typeface="Consolas" pitchFamily="49" charset="0"/>
                <a:ea typeface="Calibri"/>
                <a:cs typeface="Consolas" pitchFamily="49" charset="0"/>
              </a:rPr>
              <a:t>Tenluong.Close();</a:t>
            </a:r>
            <a:endParaRPr lang="vi-VN" sz="1500">
              <a:solidFill>
                <a:srgbClr val="002060"/>
              </a:solidFill>
              <a:latin typeface="Consolas" pitchFamily="49" charset="0"/>
              <a:ea typeface="Calibri"/>
              <a:cs typeface="Consolas" pitchFamily="49" charset="0"/>
            </a:endParaRPr>
          </a:p>
          <a:p>
            <a:pPr lvl="1"/>
            <a:endParaRPr lang="en-US"/>
          </a:p>
        </p:txBody>
      </p:sp>
      <p:sp>
        <p:nvSpPr>
          <p:cNvPr id="4" name="Date Placeholder 3"/>
          <p:cNvSpPr>
            <a:spLocks noGrp="1"/>
          </p:cNvSpPr>
          <p:nvPr>
            <p:ph type="dt" sz="half" idx="10"/>
          </p:nvPr>
        </p:nvSpPr>
        <p:spPr/>
        <p:txBody>
          <a:bodyPr/>
          <a:lstStyle/>
          <a:p>
            <a:fld id="{FD1A65C0-1FA3-44C9-A391-948A63F3B7F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8</a:t>
            </a:fld>
            <a:r>
              <a:rPr lang="vi-VN"/>
              <a:t>/26</a:t>
            </a:r>
          </a:p>
        </p:txBody>
      </p:sp>
      <p:sp>
        <p:nvSpPr>
          <p:cNvPr id="2" name="Title 1"/>
          <p:cNvSpPr>
            <a:spLocks noGrp="1"/>
          </p:cNvSpPr>
          <p:nvPr>
            <p:ph type="title"/>
          </p:nvPr>
        </p:nvSpPr>
        <p:spPr/>
        <p:txBody>
          <a:bodyPr/>
          <a:lstStyle/>
          <a:p>
            <a:r>
              <a:rPr lang="en-US"/>
              <a:t>Luồng file - FileStream</a:t>
            </a:r>
          </a:p>
        </p:txBody>
      </p:sp>
    </p:spTree>
    <p:extLst>
      <p:ext uri="{BB962C8B-B14F-4D97-AF65-F5344CB8AC3E}">
        <p14:creationId xmlns:p14="http://schemas.microsoft.com/office/powerpoint/2010/main" val="4283959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07FE1D-EE67-41D2-9F5B-68494A550806}"/>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AB26512B-E59B-411C-99AE-A47FC64265AA}"/>
              </a:ext>
            </a:extLst>
          </p:cNvPr>
          <p:cNvSpPr>
            <a:spLocks noGrp="1"/>
          </p:cNvSpPr>
          <p:nvPr>
            <p:ph type="dt" sz="half" idx="10"/>
          </p:nvPr>
        </p:nvSpPr>
        <p:spPr/>
        <p:txBody>
          <a:bodyPr/>
          <a:lstStyle/>
          <a:p>
            <a:fld id="{CE831494-2554-492A-9E05-3496EA2D35B7}" type="datetime1">
              <a:rPr lang="vi-VN" smtClean="0"/>
              <a:t>20/02/2025</a:t>
            </a:fld>
            <a:endParaRPr lang="vi-VN"/>
          </a:p>
        </p:txBody>
      </p:sp>
      <p:sp>
        <p:nvSpPr>
          <p:cNvPr id="5" name="Footer Placeholder 4">
            <a:extLst>
              <a:ext uri="{FF2B5EF4-FFF2-40B4-BE49-F238E27FC236}">
                <a16:creationId xmlns:a16="http://schemas.microsoft.com/office/drawing/2014/main" id="{1511A066-D137-49C2-9DE6-72BD35499758}"/>
              </a:ext>
            </a:extLst>
          </p:cNvPr>
          <p:cNvSpPr>
            <a:spLocks noGrp="1"/>
          </p:cNvSpPr>
          <p:nvPr>
            <p:ph type="ftr" sz="quarter" idx="11"/>
          </p:nvPr>
        </p:nvSpPr>
        <p:spPr/>
        <p:txBody>
          <a:bodyPr/>
          <a:lstStyle/>
          <a:p>
            <a:r>
              <a:rPr lang="vi-VN"/>
              <a:t>Chương 4. Lập trình giao diện trong Windows</a:t>
            </a:r>
          </a:p>
        </p:txBody>
      </p:sp>
      <p:sp>
        <p:nvSpPr>
          <p:cNvPr id="6" name="Slide Number Placeholder 5">
            <a:extLst>
              <a:ext uri="{FF2B5EF4-FFF2-40B4-BE49-F238E27FC236}">
                <a16:creationId xmlns:a16="http://schemas.microsoft.com/office/drawing/2014/main" id="{A51AEA8A-3BE6-4B97-968B-8C60A71E64AD}"/>
              </a:ext>
            </a:extLst>
          </p:cNvPr>
          <p:cNvSpPr>
            <a:spLocks noGrp="1"/>
          </p:cNvSpPr>
          <p:nvPr>
            <p:ph type="sldNum" sz="quarter" idx="12"/>
          </p:nvPr>
        </p:nvSpPr>
        <p:spPr/>
        <p:txBody>
          <a:bodyPr/>
          <a:lstStyle/>
          <a:p>
            <a:fld id="{5AB95402-1E0D-474E-8D8C-CBE7F053639E}" type="slidenum">
              <a:rPr lang="vi-VN" smtClean="0"/>
              <a:pPr/>
              <a:t>9</a:t>
            </a:fld>
            <a:r>
              <a:rPr lang="vi-VN"/>
              <a:t>/26</a:t>
            </a:r>
          </a:p>
        </p:txBody>
      </p:sp>
      <p:sp>
        <p:nvSpPr>
          <p:cNvPr id="2" name="Title 1">
            <a:extLst>
              <a:ext uri="{FF2B5EF4-FFF2-40B4-BE49-F238E27FC236}">
                <a16:creationId xmlns:a16="http://schemas.microsoft.com/office/drawing/2014/main" id="{EE06813B-923B-4D7D-AC96-41A294AE21A1}"/>
              </a:ext>
            </a:extLst>
          </p:cNvPr>
          <p:cNvSpPr>
            <a:spLocks noGrp="1"/>
          </p:cNvSpPr>
          <p:nvPr>
            <p:ph type="title"/>
          </p:nvPr>
        </p:nvSpPr>
        <p:spPr/>
        <p:txBody>
          <a:bodyPr/>
          <a:lstStyle/>
          <a:p>
            <a:endParaRPr lang="en-US"/>
          </a:p>
        </p:txBody>
      </p:sp>
      <p:pic>
        <p:nvPicPr>
          <p:cNvPr id="5122" name="Picture 90">
            <a:extLst>
              <a:ext uri="{FF2B5EF4-FFF2-40B4-BE49-F238E27FC236}">
                <a16:creationId xmlns:a16="http://schemas.microsoft.com/office/drawing/2014/main" id="{87982F88-23A0-4316-9EC5-7ADB2964D8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92595"/>
            <a:ext cx="2999910" cy="179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Content Placeholder 9">
            <a:extLst>
              <a:ext uri="{FF2B5EF4-FFF2-40B4-BE49-F238E27FC236}">
                <a16:creationId xmlns:a16="http://schemas.microsoft.com/office/drawing/2014/main" id="{69CE167A-15E9-48A7-A3C8-1BE01CE6AE6D}"/>
              </a:ext>
            </a:extLst>
          </p:cNvPr>
          <p:cNvPicPr>
            <a:picLocks noChangeAspect="1"/>
          </p:cNvPicPr>
          <p:nvPr/>
        </p:nvPicPr>
        <p:blipFill>
          <a:blip r:embed="rId3"/>
          <a:stretch>
            <a:fillRect/>
          </a:stretch>
        </p:blipFill>
        <p:spPr bwMode="auto">
          <a:xfrm>
            <a:off x="1967284" y="1964804"/>
            <a:ext cx="5957516" cy="4647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00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chọn font chữ</a:t>
            </a:r>
          </a:p>
        </p:txBody>
      </p:sp>
      <p:sp>
        <p:nvSpPr>
          <p:cNvPr id="4" name="Date Placeholder 3"/>
          <p:cNvSpPr>
            <a:spLocks noGrp="1"/>
          </p:cNvSpPr>
          <p:nvPr>
            <p:ph type="dt" sz="half" idx="10"/>
          </p:nvPr>
        </p:nvSpPr>
        <p:spPr/>
        <p:txBody>
          <a:bodyPr/>
          <a:lstStyle/>
          <a:p>
            <a:fld id="{63DEC39A-1111-4260-A2A3-0F25CEF029B2}"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10</a:t>
            </a:fld>
            <a:r>
              <a:rPr lang="vi-VN"/>
              <a:t>/26</a:t>
            </a:r>
          </a:p>
        </p:txBody>
      </p:sp>
      <p:sp>
        <p:nvSpPr>
          <p:cNvPr id="2" name="Title 1"/>
          <p:cNvSpPr>
            <a:spLocks noGrp="1"/>
          </p:cNvSpPr>
          <p:nvPr>
            <p:ph type="title"/>
          </p:nvPr>
        </p:nvSpPr>
        <p:spPr/>
        <p:txBody>
          <a:bodyPr/>
          <a:lstStyle/>
          <a:p>
            <a:r>
              <a:rPr lang="en-US"/>
              <a:t>Hộp thoại Font </a:t>
            </a:r>
          </a:p>
        </p:txBody>
      </p:sp>
      <p:graphicFrame>
        <p:nvGraphicFramePr>
          <p:cNvPr id="7" name="Table 6"/>
          <p:cNvGraphicFramePr>
            <a:graphicFrameLocks noGrp="1"/>
          </p:cNvGraphicFramePr>
          <p:nvPr>
            <p:extLst>
              <p:ext uri="{D42A27DB-BD31-4B8C-83A1-F6EECF244321}">
                <p14:modId xmlns:p14="http://schemas.microsoft.com/office/powerpoint/2010/main" val="2230794651"/>
              </p:ext>
            </p:extLst>
          </p:nvPr>
        </p:nvGraphicFramePr>
        <p:xfrm>
          <a:off x="1709683" y="2348881"/>
          <a:ext cx="5942615" cy="1323277"/>
        </p:xfrm>
        <a:graphic>
          <a:graphicData uri="http://schemas.openxmlformats.org/drawingml/2006/table">
            <a:tbl>
              <a:tblPr firstRow="1" bandRow="1">
                <a:tableStyleId>{5C22544A-7EE6-4342-B048-85BDC9FD1C3A}</a:tableStyleId>
              </a:tblPr>
              <a:tblGrid>
                <a:gridCol w="1242138">
                  <a:extLst>
                    <a:ext uri="{9D8B030D-6E8A-4147-A177-3AD203B41FA5}">
                      <a16:colId xmlns:a16="http://schemas.microsoft.com/office/drawing/2014/main" val="20000"/>
                    </a:ext>
                  </a:extLst>
                </a:gridCol>
                <a:gridCol w="4700477">
                  <a:extLst>
                    <a:ext uri="{9D8B030D-6E8A-4147-A177-3AD203B41FA5}">
                      <a16:colId xmlns:a16="http://schemas.microsoft.com/office/drawing/2014/main" val="20001"/>
                    </a:ext>
                  </a:extLst>
                </a:gridCol>
              </a:tblGrid>
              <a:tr h="297180">
                <a:tc>
                  <a:txBody>
                    <a:bodyPr/>
                    <a:lstStyle/>
                    <a:p>
                      <a:r>
                        <a:rPr lang="en-US" sz="1500"/>
                        <a:t>Thuộc</a:t>
                      </a:r>
                      <a:r>
                        <a:rPr lang="en-US" sz="1500" baseline="0"/>
                        <a:t> tính</a:t>
                      </a:r>
                      <a:endParaRPr lang="en-US" sz="1500"/>
                    </a:p>
                  </a:txBody>
                  <a:tcPr marL="69233" marR="69233" marT="34290" marB="34290"/>
                </a:tc>
                <a:tc>
                  <a:txBody>
                    <a:bodyPr/>
                    <a:lstStyle/>
                    <a:p>
                      <a:r>
                        <a:rPr lang="en-US" sz="1500"/>
                        <a:t>Mô</a:t>
                      </a:r>
                      <a:r>
                        <a:rPr lang="en-US" sz="1500" baseline="0"/>
                        <a:t> tả</a:t>
                      </a:r>
                      <a:endParaRPr lang="en-US" sz="1500"/>
                    </a:p>
                  </a:txBody>
                  <a:tcPr marL="69233" marR="69233" marT="34290" marB="34290"/>
                </a:tc>
                <a:extLst>
                  <a:ext uri="{0D108BD9-81ED-4DB2-BD59-A6C34878D82A}">
                    <a16:rowId xmlns:a16="http://schemas.microsoft.com/office/drawing/2014/main" val="10000"/>
                  </a:ext>
                </a:extLst>
              </a:tr>
              <a:tr h="278130">
                <a:tc>
                  <a:txBody>
                    <a:bodyPr/>
                    <a:lstStyle/>
                    <a:p>
                      <a:pPr algn="just">
                        <a:lnSpc>
                          <a:spcPct val="115000"/>
                        </a:lnSpc>
                        <a:spcAft>
                          <a:spcPts val="600"/>
                        </a:spcAft>
                      </a:pPr>
                      <a:r>
                        <a:rPr lang="en-US" sz="1400">
                          <a:effectLst/>
                          <a:latin typeface="+mj-lt"/>
                          <a:ea typeface="Calibri"/>
                          <a:cs typeface="Times New Roman"/>
                        </a:rPr>
                        <a:t>Font</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Font chữ được chọn trong hộp thoại Font.</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1"/>
                  </a:ext>
                </a:extLst>
              </a:tr>
              <a:tr h="453104">
                <a:tc>
                  <a:txBody>
                    <a:bodyPr/>
                    <a:lstStyle/>
                    <a:p>
                      <a:pPr algn="just">
                        <a:lnSpc>
                          <a:spcPct val="115000"/>
                        </a:lnSpc>
                        <a:spcAft>
                          <a:spcPts val="600"/>
                        </a:spcAft>
                      </a:pPr>
                      <a:r>
                        <a:rPr lang="en-US" sz="1400">
                          <a:effectLst/>
                          <a:latin typeface="+mj-lt"/>
                          <a:ea typeface="Calibri"/>
                          <a:cs typeface="Times New Roman"/>
                        </a:rPr>
                        <a:t>ShowColor</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True/False: cho phép/không</a:t>
                      </a:r>
                      <a:r>
                        <a:rPr lang="en-US" sz="1400" baseline="0">
                          <a:effectLst/>
                          <a:latin typeface="+mj-lt"/>
                          <a:ea typeface="Calibri"/>
                          <a:cs typeface="Times New Roman"/>
                        </a:rPr>
                        <a:t> cho phép </a:t>
                      </a:r>
                      <a:r>
                        <a:rPr lang="en-US" sz="1400">
                          <a:effectLst/>
                          <a:latin typeface="+mj-lt"/>
                          <a:ea typeface="Calibri"/>
                          <a:cs typeface="Times New Roman"/>
                        </a:rPr>
                        <a:t> hiển thị hộp thoại Color.</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2"/>
                  </a:ext>
                </a:extLst>
              </a:tr>
              <a:tr h="278130">
                <a:tc>
                  <a:txBody>
                    <a:bodyPr/>
                    <a:lstStyle/>
                    <a:p>
                      <a:pPr algn="just">
                        <a:lnSpc>
                          <a:spcPct val="115000"/>
                        </a:lnSpc>
                        <a:spcAft>
                          <a:spcPts val="600"/>
                        </a:spcAft>
                      </a:pPr>
                      <a:r>
                        <a:rPr lang="en-US" sz="1400">
                          <a:effectLst/>
                          <a:latin typeface="+mj-lt"/>
                          <a:ea typeface="Calibri"/>
                          <a:cs typeface="Times New Roman"/>
                        </a:rPr>
                        <a:t>Color</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Màu được chọn trong hộp thoại Font.</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67640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Hiển thị bảng màu</a:t>
            </a:r>
          </a:p>
        </p:txBody>
      </p:sp>
      <p:sp>
        <p:nvSpPr>
          <p:cNvPr id="4" name="Date Placeholder 3"/>
          <p:cNvSpPr>
            <a:spLocks noGrp="1"/>
          </p:cNvSpPr>
          <p:nvPr>
            <p:ph type="dt" sz="half" idx="10"/>
          </p:nvPr>
        </p:nvSpPr>
        <p:spPr/>
        <p:txBody>
          <a:bodyPr/>
          <a:lstStyle/>
          <a:p>
            <a:fld id="{BC0E7C84-7510-4D26-8173-A8B30B44797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11</a:t>
            </a:fld>
            <a:r>
              <a:rPr lang="vi-VN"/>
              <a:t>/26</a:t>
            </a:r>
          </a:p>
        </p:txBody>
      </p:sp>
      <p:sp>
        <p:nvSpPr>
          <p:cNvPr id="2" name="Title 1"/>
          <p:cNvSpPr>
            <a:spLocks noGrp="1"/>
          </p:cNvSpPr>
          <p:nvPr>
            <p:ph type="title"/>
          </p:nvPr>
        </p:nvSpPr>
        <p:spPr/>
        <p:txBody>
          <a:bodyPr/>
          <a:lstStyle/>
          <a:p>
            <a:r>
              <a:rPr lang="en-US"/>
              <a:t>Hộp thoại Color</a:t>
            </a:r>
          </a:p>
        </p:txBody>
      </p:sp>
      <p:graphicFrame>
        <p:nvGraphicFramePr>
          <p:cNvPr id="7" name="Table 6"/>
          <p:cNvGraphicFramePr>
            <a:graphicFrameLocks noGrp="1"/>
          </p:cNvGraphicFramePr>
          <p:nvPr>
            <p:extLst>
              <p:ext uri="{D42A27DB-BD31-4B8C-83A1-F6EECF244321}">
                <p14:modId xmlns:p14="http://schemas.microsoft.com/office/powerpoint/2010/main" val="4060941631"/>
              </p:ext>
            </p:extLst>
          </p:nvPr>
        </p:nvGraphicFramePr>
        <p:xfrm>
          <a:off x="1763689" y="2348880"/>
          <a:ext cx="5942615" cy="1131570"/>
        </p:xfrm>
        <a:graphic>
          <a:graphicData uri="http://schemas.openxmlformats.org/drawingml/2006/table">
            <a:tbl>
              <a:tblPr firstRow="1" bandRow="1">
                <a:tableStyleId>{5C22544A-7EE6-4342-B048-85BDC9FD1C3A}</a:tableStyleId>
              </a:tblPr>
              <a:tblGrid>
                <a:gridCol w="1620180">
                  <a:extLst>
                    <a:ext uri="{9D8B030D-6E8A-4147-A177-3AD203B41FA5}">
                      <a16:colId xmlns:a16="http://schemas.microsoft.com/office/drawing/2014/main" val="20000"/>
                    </a:ext>
                  </a:extLst>
                </a:gridCol>
                <a:gridCol w="4322435">
                  <a:extLst>
                    <a:ext uri="{9D8B030D-6E8A-4147-A177-3AD203B41FA5}">
                      <a16:colId xmlns:a16="http://schemas.microsoft.com/office/drawing/2014/main" val="20001"/>
                    </a:ext>
                  </a:extLst>
                </a:gridCol>
              </a:tblGrid>
              <a:tr h="297180">
                <a:tc>
                  <a:txBody>
                    <a:bodyPr/>
                    <a:lstStyle/>
                    <a:p>
                      <a:r>
                        <a:rPr lang="en-US" sz="1500"/>
                        <a:t>Thuộc</a:t>
                      </a:r>
                      <a:r>
                        <a:rPr lang="en-US" sz="1500" baseline="0"/>
                        <a:t> tính</a:t>
                      </a:r>
                      <a:endParaRPr lang="en-US" sz="1500"/>
                    </a:p>
                  </a:txBody>
                  <a:tcPr marL="69233" marR="69233" marT="34290" marB="34290"/>
                </a:tc>
                <a:tc>
                  <a:txBody>
                    <a:bodyPr/>
                    <a:lstStyle/>
                    <a:p>
                      <a:r>
                        <a:rPr lang="en-US" sz="1500"/>
                        <a:t>Mô</a:t>
                      </a:r>
                      <a:r>
                        <a:rPr lang="en-US" sz="1500" baseline="0"/>
                        <a:t> tả</a:t>
                      </a:r>
                      <a:endParaRPr lang="en-US" sz="1500"/>
                    </a:p>
                  </a:txBody>
                  <a:tcPr marL="69233" marR="69233" marT="34290" marB="34290"/>
                </a:tc>
                <a:extLst>
                  <a:ext uri="{0D108BD9-81ED-4DB2-BD59-A6C34878D82A}">
                    <a16:rowId xmlns:a16="http://schemas.microsoft.com/office/drawing/2014/main" val="10000"/>
                  </a:ext>
                </a:extLst>
              </a:tr>
              <a:tr h="278130">
                <a:tc>
                  <a:txBody>
                    <a:bodyPr/>
                    <a:lstStyle/>
                    <a:p>
                      <a:pPr algn="just">
                        <a:lnSpc>
                          <a:spcPct val="115000"/>
                        </a:lnSpc>
                        <a:spcAft>
                          <a:spcPts val="600"/>
                        </a:spcAft>
                      </a:pPr>
                      <a:r>
                        <a:rPr lang="en-US" sz="1400">
                          <a:effectLst/>
                          <a:latin typeface="+mj-lt"/>
                          <a:ea typeface="Calibri"/>
                          <a:cs typeface="Times New Roman"/>
                        </a:rPr>
                        <a:t>Color</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Màu được chọn trong hộp thoại Color.</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1"/>
                  </a:ext>
                </a:extLst>
              </a:tr>
              <a:tr h="278130">
                <a:tc>
                  <a:txBody>
                    <a:bodyPr/>
                    <a:lstStyle/>
                    <a:p>
                      <a:pPr algn="just">
                        <a:lnSpc>
                          <a:spcPct val="115000"/>
                        </a:lnSpc>
                        <a:spcAft>
                          <a:spcPts val="600"/>
                        </a:spcAft>
                      </a:pPr>
                      <a:r>
                        <a:rPr lang="en-US" sz="1400">
                          <a:effectLst/>
                          <a:latin typeface="+mj-lt"/>
                          <a:ea typeface="Calibri"/>
                          <a:cs typeface="Times New Roman"/>
                        </a:rPr>
                        <a:t>FullOpen</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Hiển thị toàn bộ hộp thoại Color.</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2"/>
                  </a:ext>
                </a:extLst>
              </a:tr>
              <a:tr h="278130">
                <a:tc>
                  <a:txBody>
                    <a:bodyPr/>
                    <a:lstStyle/>
                    <a:p>
                      <a:pPr algn="just">
                        <a:lnSpc>
                          <a:spcPct val="115000"/>
                        </a:lnSpc>
                        <a:spcAft>
                          <a:spcPts val="600"/>
                        </a:spcAft>
                      </a:pPr>
                      <a:r>
                        <a:rPr lang="en-US" sz="1400">
                          <a:effectLst/>
                          <a:latin typeface="+mj-lt"/>
                          <a:ea typeface="Calibri"/>
                          <a:cs typeface="Times New Roman"/>
                        </a:rPr>
                        <a:t>SolidColorOnly</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Không hiển thị phần Define Custom Colors.</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89847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Thực đơn (menu)</a:t>
            </a:r>
          </a:p>
          <a:p>
            <a:pPr lvl="1"/>
            <a:r>
              <a:rPr lang="en-US"/>
              <a:t>Điều khiển MenuStrip</a:t>
            </a:r>
          </a:p>
          <a:p>
            <a:pPr lvl="1"/>
            <a:r>
              <a:rPr lang="en-US"/>
              <a:t>Cho phép </a:t>
            </a:r>
          </a:p>
          <a:p>
            <a:pPr lvl="2"/>
            <a:r>
              <a:rPr lang="en-US"/>
              <a:t>Thiết kế thanh thực đơn</a:t>
            </a:r>
          </a:p>
          <a:p>
            <a:pPr lvl="2"/>
            <a:r>
              <a:rPr lang="en-US"/>
              <a:t>Lựa chọn kiểu thực đơn</a:t>
            </a:r>
          </a:p>
          <a:p>
            <a:pPr lvl="2"/>
            <a:r>
              <a:rPr lang="en-US"/>
              <a:t>Phím tắt </a:t>
            </a:r>
          </a:p>
        </p:txBody>
      </p:sp>
      <p:sp>
        <p:nvSpPr>
          <p:cNvPr id="4" name="Date Placeholder 3"/>
          <p:cNvSpPr>
            <a:spLocks noGrp="1"/>
          </p:cNvSpPr>
          <p:nvPr>
            <p:ph type="dt" sz="half" idx="10"/>
          </p:nvPr>
        </p:nvSpPr>
        <p:spPr/>
        <p:txBody>
          <a:bodyPr/>
          <a:lstStyle/>
          <a:p>
            <a:fld id="{65FD941A-A818-49A4-BCE4-BC4602786FBB}"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12</a:t>
            </a:fld>
            <a:r>
              <a:rPr lang="vi-VN"/>
              <a:t>/26</a:t>
            </a:r>
          </a:p>
        </p:txBody>
      </p:sp>
      <p:sp>
        <p:nvSpPr>
          <p:cNvPr id="2" name="Title 1"/>
          <p:cNvSpPr>
            <a:spLocks noGrp="1"/>
          </p:cNvSpPr>
          <p:nvPr>
            <p:ph type="title"/>
          </p:nvPr>
        </p:nvSpPr>
        <p:spPr/>
        <p:txBody>
          <a:bodyPr/>
          <a:lstStyle/>
          <a:p>
            <a:r>
              <a:rPr lang="en-US"/>
              <a:t>4. Thực đơn và ứng dụng nhiều biểu mẫu</a:t>
            </a: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591018"/>
            <a:ext cx="4212468" cy="1836204"/>
          </a:xfrm>
          <a:prstGeom prst="rect">
            <a:avLst/>
          </a:prstGeom>
          <a:noFill/>
          <a:ln>
            <a:noFill/>
          </a:ln>
        </p:spPr>
      </p:pic>
      <p:sp>
        <p:nvSpPr>
          <p:cNvPr id="8" name="Rectangle 2"/>
          <p:cNvSpPr>
            <a:spLocks noChangeArrowheads="1"/>
          </p:cNvSpPr>
          <p:nvPr/>
        </p:nvSpPr>
        <p:spPr bwMode="auto">
          <a:xfrm>
            <a:off x="114300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9" name="Object 8"/>
          <p:cNvGraphicFramePr>
            <a:graphicFrameLocks noChangeAspect="1"/>
          </p:cNvGraphicFramePr>
          <p:nvPr>
            <p:extLst>
              <p:ext uri="{D42A27DB-BD31-4B8C-83A1-F6EECF244321}">
                <p14:modId xmlns:p14="http://schemas.microsoft.com/office/powerpoint/2010/main" val="3641783421"/>
              </p:ext>
            </p:extLst>
          </p:nvPr>
        </p:nvGraphicFramePr>
        <p:xfrm>
          <a:off x="6084169" y="4347102"/>
          <a:ext cx="1550194" cy="785813"/>
        </p:xfrm>
        <a:graphic>
          <a:graphicData uri="http://schemas.openxmlformats.org/presentationml/2006/ole">
            <mc:AlternateContent xmlns:mc="http://schemas.openxmlformats.org/markup-compatibility/2006">
              <mc:Choice xmlns:v="urn:schemas-microsoft-com:vml" Requires="v">
                <p:oleObj name="Bitmap Image" r:id="rId3" imgW="2066667" imgH="1047619" progId="Paint.Picture">
                  <p:embed/>
                </p:oleObj>
              </mc:Choice>
              <mc:Fallback>
                <p:oleObj name="Bitmap Image" r:id="rId3" imgW="2066667" imgH="1047619"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4169" y="4347102"/>
                        <a:ext cx="1550194"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8746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50591147"/>
              </p:ext>
            </p:extLst>
          </p:nvPr>
        </p:nvGraphicFramePr>
        <p:xfrm>
          <a:off x="1714501" y="1862827"/>
          <a:ext cx="5942615" cy="3955924"/>
        </p:xfrm>
        <a:graphic>
          <a:graphicData uri="http://schemas.openxmlformats.org/drawingml/2006/table">
            <a:tbl>
              <a:tblPr firstRow="1" bandRow="1">
                <a:tableStyleId>{5C22544A-7EE6-4342-B048-85BDC9FD1C3A}</a:tableStyleId>
              </a:tblPr>
              <a:tblGrid>
                <a:gridCol w="1242138">
                  <a:extLst>
                    <a:ext uri="{9D8B030D-6E8A-4147-A177-3AD203B41FA5}">
                      <a16:colId xmlns:a16="http://schemas.microsoft.com/office/drawing/2014/main" val="20000"/>
                    </a:ext>
                  </a:extLst>
                </a:gridCol>
                <a:gridCol w="4700477">
                  <a:extLst>
                    <a:ext uri="{9D8B030D-6E8A-4147-A177-3AD203B41FA5}">
                      <a16:colId xmlns:a16="http://schemas.microsoft.com/office/drawing/2014/main" val="20001"/>
                    </a:ext>
                  </a:extLst>
                </a:gridCol>
              </a:tblGrid>
              <a:tr h="297180">
                <a:tc>
                  <a:txBody>
                    <a:bodyPr/>
                    <a:lstStyle/>
                    <a:p>
                      <a:r>
                        <a:rPr lang="en-US" sz="1500"/>
                        <a:t>Thuộc</a:t>
                      </a:r>
                      <a:r>
                        <a:rPr lang="en-US" sz="1500" baseline="0"/>
                        <a:t> tính</a:t>
                      </a:r>
                      <a:endParaRPr lang="en-US" sz="1500"/>
                    </a:p>
                  </a:txBody>
                  <a:tcPr marL="69233" marR="69233" marT="34290" marB="34290"/>
                </a:tc>
                <a:tc>
                  <a:txBody>
                    <a:bodyPr/>
                    <a:lstStyle/>
                    <a:p>
                      <a:r>
                        <a:rPr lang="en-US" sz="1500"/>
                        <a:t>Mô</a:t>
                      </a:r>
                      <a:r>
                        <a:rPr lang="en-US" sz="1500" baseline="0"/>
                        <a:t> tả</a:t>
                      </a:r>
                      <a:endParaRPr lang="en-US" sz="1500"/>
                    </a:p>
                  </a:txBody>
                  <a:tcPr marL="69233" marR="69233" marT="34290" marB="34290"/>
                </a:tc>
                <a:extLst>
                  <a:ext uri="{0D108BD9-81ED-4DB2-BD59-A6C34878D82A}">
                    <a16:rowId xmlns:a16="http://schemas.microsoft.com/office/drawing/2014/main" val="10000"/>
                  </a:ext>
                </a:extLst>
              </a:tr>
              <a:tr h="278130">
                <a:tc>
                  <a:txBody>
                    <a:bodyPr/>
                    <a:lstStyle/>
                    <a:p>
                      <a:pPr algn="just">
                        <a:lnSpc>
                          <a:spcPct val="115000"/>
                        </a:lnSpc>
                        <a:spcAft>
                          <a:spcPts val="600"/>
                        </a:spcAft>
                      </a:pPr>
                      <a:r>
                        <a:rPr lang="en-US" sz="1400" b="1">
                          <a:effectLst/>
                          <a:latin typeface="+mj-lt"/>
                          <a:ea typeface="Calibri"/>
                          <a:cs typeface="Times New Roman"/>
                        </a:rPr>
                        <a:t>Name</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Mọi mục menu đều phải có tên, bắt</a:t>
                      </a:r>
                      <a:r>
                        <a:rPr lang="en-US" sz="1400" baseline="0">
                          <a:effectLst/>
                          <a:latin typeface="+mj-lt"/>
                          <a:ea typeface="Calibri"/>
                          <a:cs typeface="Times New Roman"/>
                        </a:rPr>
                        <a:t> đầu bằng </a:t>
                      </a:r>
                      <a:r>
                        <a:rPr lang="en-US" sz="1400" b="1">
                          <a:effectLst/>
                          <a:latin typeface="+mj-lt"/>
                          <a:ea typeface="Calibri"/>
                          <a:cs typeface="Times New Roman"/>
                        </a:rPr>
                        <a:t>mnu</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1"/>
                  </a:ext>
                </a:extLst>
              </a:tr>
              <a:tr h="278130">
                <a:tc>
                  <a:txBody>
                    <a:bodyPr/>
                    <a:lstStyle/>
                    <a:p>
                      <a:pPr algn="just">
                        <a:lnSpc>
                          <a:spcPct val="115000"/>
                        </a:lnSpc>
                        <a:spcAft>
                          <a:spcPts val="600"/>
                        </a:spcAft>
                      </a:pPr>
                      <a:r>
                        <a:rPr lang="en-US" sz="1400" b="1">
                          <a:effectLst/>
                          <a:latin typeface="+mj-lt"/>
                          <a:ea typeface="Calibri"/>
                          <a:cs typeface="Times New Roman"/>
                        </a:rPr>
                        <a:t>Enabled</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True/False:</a:t>
                      </a:r>
                      <a:r>
                        <a:rPr lang="en-US" sz="1400" baseline="0">
                          <a:effectLst/>
                          <a:latin typeface="+mj-lt"/>
                          <a:ea typeface="Calibri"/>
                          <a:cs typeface="Times New Roman"/>
                        </a:rPr>
                        <a:t> bật/tắt</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2"/>
                  </a:ext>
                </a:extLst>
              </a:tr>
              <a:tr h="278130">
                <a:tc>
                  <a:txBody>
                    <a:bodyPr/>
                    <a:lstStyle/>
                    <a:p>
                      <a:pPr algn="just">
                        <a:lnSpc>
                          <a:spcPct val="115000"/>
                        </a:lnSpc>
                        <a:spcAft>
                          <a:spcPts val="600"/>
                        </a:spcAft>
                      </a:pPr>
                      <a:r>
                        <a:rPr lang="en-US" sz="1400" b="1">
                          <a:effectLst/>
                          <a:latin typeface="+mj-lt"/>
                          <a:ea typeface="Calibri"/>
                          <a:cs typeface="Times New Roman"/>
                        </a:rPr>
                        <a:t>Image</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Thiết lập hình ảnh biểu tượng</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3"/>
                  </a:ext>
                </a:extLst>
              </a:tr>
              <a:tr h="278130">
                <a:tc>
                  <a:txBody>
                    <a:bodyPr/>
                    <a:lstStyle/>
                    <a:p>
                      <a:pPr algn="just">
                        <a:lnSpc>
                          <a:spcPct val="115000"/>
                        </a:lnSpc>
                        <a:spcAft>
                          <a:spcPts val="600"/>
                        </a:spcAft>
                      </a:pPr>
                      <a:r>
                        <a:rPr lang="en-US" sz="1400" b="1">
                          <a:effectLst/>
                          <a:latin typeface="+mj-lt"/>
                          <a:ea typeface="Calibri"/>
                          <a:cs typeface="Times New Roman"/>
                        </a:rPr>
                        <a:t>ShortcutKeys</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Phím</a:t>
                      </a:r>
                      <a:r>
                        <a:rPr lang="en-US" sz="1400" baseline="0">
                          <a:effectLst/>
                          <a:latin typeface="+mj-lt"/>
                          <a:ea typeface="Calibri"/>
                          <a:cs typeface="Times New Roman"/>
                        </a:rPr>
                        <a:t> tắt</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4"/>
                  </a:ext>
                </a:extLst>
              </a:tr>
              <a:tr h="1712309">
                <a:tc>
                  <a:txBody>
                    <a:bodyPr/>
                    <a:lstStyle/>
                    <a:p>
                      <a:pPr algn="just">
                        <a:lnSpc>
                          <a:spcPct val="115000"/>
                        </a:lnSpc>
                        <a:spcAft>
                          <a:spcPts val="600"/>
                        </a:spcAft>
                      </a:pPr>
                      <a:r>
                        <a:rPr lang="en-US" sz="1400" b="1">
                          <a:effectLst/>
                          <a:latin typeface="+mj-lt"/>
                          <a:ea typeface="Calibri"/>
                          <a:cs typeface="Times New Roman"/>
                        </a:rPr>
                        <a:t>Text</a:t>
                      </a:r>
                      <a:endParaRPr lang="vi-VN" sz="1400">
                        <a:effectLst/>
                        <a:latin typeface="+mj-lt"/>
                        <a:ea typeface="Calibri"/>
                        <a:cs typeface="Times New Roman"/>
                      </a:endParaRPr>
                    </a:p>
                  </a:txBody>
                  <a:tcPr marL="51435" marR="51435" marT="0" marB="0"/>
                </a:tc>
                <a:tc>
                  <a:txBody>
                    <a:bodyPr/>
                    <a:lstStyle/>
                    <a:p>
                      <a:pPr algn="just">
                        <a:lnSpc>
                          <a:spcPct val="115000"/>
                        </a:lnSpc>
                        <a:spcAft>
                          <a:spcPts val="800"/>
                        </a:spcAft>
                      </a:pPr>
                      <a:r>
                        <a:rPr lang="en-US" sz="1400">
                          <a:effectLst/>
                          <a:latin typeface="+mj-lt"/>
                          <a:ea typeface="Calibri"/>
                          <a:cs typeface="Times New Roman"/>
                        </a:rPr>
                        <a:t>Tạo tiêu đề của các mục menu. Nếu đặt ký tự &amp; trước một chữ cái trong thuộc tính Text thì khi chạy chương trình người dùng có thể bấm tổ hợp phím Alt + Chữ cái đó để kích hoạt menu. Ví dụ : &amp;File sẽ cho phép bấm Alt+F để kích hoạt menu File. </a:t>
                      </a:r>
                      <a:endParaRPr lang="vi-VN" sz="1400">
                        <a:effectLst/>
                        <a:latin typeface="+mj-lt"/>
                        <a:ea typeface="Calibri"/>
                        <a:cs typeface="Times New Roman"/>
                      </a:endParaRPr>
                    </a:p>
                    <a:p>
                      <a:pPr algn="just">
                        <a:lnSpc>
                          <a:spcPct val="115000"/>
                        </a:lnSpc>
                        <a:spcAft>
                          <a:spcPts val="800"/>
                        </a:spcAft>
                      </a:pPr>
                      <a:r>
                        <a:rPr lang="en-US" sz="1400">
                          <a:effectLst/>
                          <a:latin typeface="+mj-lt"/>
                          <a:ea typeface="Calibri"/>
                          <a:cs typeface="Times New Roman"/>
                        </a:rPr>
                        <a:t>Nếu Text được xác lập là một dấu trừ (-) C# sẽ hiển thị một đường thẳng ngăn cách giữa các khoản mục menu.</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5"/>
                  </a:ext>
                </a:extLst>
              </a:tr>
              <a:tr h="278130">
                <a:tc>
                  <a:txBody>
                    <a:bodyPr/>
                    <a:lstStyle/>
                    <a:p>
                      <a:pPr algn="just">
                        <a:lnSpc>
                          <a:spcPct val="115000"/>
                        </a:lnSpc>
                        <a:spcAft>
                          <a:spcPts val="600"/>
                        </a:spcAft>
                      </a:pPr>
                      <a:r>
                        <a:rPr lang="en-US" sz="1400" b="1">
                          <a:effectLst/>
                          <a:latin typeface="+mj-lt"/>
                          <a:ea typeface="Calibri"/>
                          <a:cs typeface="Times New Roman"/>
                        </a:rPr>
                        <a:t>Visible</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True/False: hiển</a:t>
                      </a:r>
                      <a:r>
                        <a:rPr lang="en-US" sz="1400" baseline="0">
                          <a:effectLst/>
                          <a:latin typeface="+mj-lt"/>
                          <a:ea typeface="Calibri"/>
                          <a:cs typeface="Times New Roman"/>
                        </a:rPr>
                        <a:t> thị/không hiển thị</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6"/>
                  </a:ext>
                </a:extLst>
              </a:tr>
              <a:tr h="278130">
                <a:tc>
                  <a:txBody>
                    <a:bodyPr/>
                    <a:lstStyle/>
                    <a:p>
                      <a:pPr algn="just">
                        <a:lnSpc>
                          <a:spcPct val="115000"/>
                        </a:lnSpc>
                        <a:spcAft>
                          <a:spcPts val="600"/>
                        </a:spcAft>
                      </a:pPr>
                      <a:r>
                        <a:rPr lang="en-US" sz="1400" b="1">
                          <a:effectLst/>
                          <a:latin typeface="+mj-lt"/>
                          <a:ea typeface="Calibri"/>
                          <a:cs typeface="Times New Roman"/>
                        </a:rPr>
                        <a:t>ToolTipText</a:t>
                      </a:r>
                      <a:endParaRPr lang="vi-VN" sz="1400">
                        <a:effectLst/>
                        <a:latin typeface="+mj-lt"/>
                        <a:ea typeface="Calibri"/>
                        <a:cs typeface="Times New Roman"/>
                      </a:endParaRPr>
                    </a:p>
                  </a:txBody>
                  <a:tcPr marL="51435" marR="51435" marT="0" marB="0"/>
                </a:tc>
                <a:tc>
                  <a:txBody>
                    <a:bodyPr/>
                    <a:lstStyle/>
                    <a:p>
                      <a:pPr algn="just">
                        <a:lnSpc>
                          <a:spcPct val="115000"/>
                        </a:lnSpc>
                        <a:spcAft>
                          <a:spcPts val="600"/>
                        </a:spcAft>
                      </a:pPr>
                      <a:r>
                        <a:rPr lang="en-US" sz="1400">
                          <a:effectLst/>
                          <a:latin typeface="+mj-lt"/>
                          <a:ea typeface="Calibri"/>
                          <a:cs typeface="Times New Roman"/>
                        </a:rPr>
                        <a:t>Dòng mách nước cho các mục menu</a:t>
                      </a:r>
                      <a:endParaRPr lang="vi-VN" sz="1400">
                        <a:effectLst/>
                        <a:latin typeface="+mj-lt"/>
                        <a:ea typeface="Calibri"/>
                        <a:cs typeface="Times New Roman"/>
                      </a:endParaRPr>
                    </a:p>
                  </a:txBody>
                  <a:tcPr marL="51435" marR="51435" marT="0" marB="0"/>
                </a:tc>
                <a:extLst>
                  <a:ext uri="{0D108BD9-81ED-4DB2-BD59-A6C34878D82A}">
                    <a16:rowId xmlns:a16="http://schemas.microsoft.com/office/drawing/2014/main" val="10007"/>
                  </a:ext>
                </a:extLst>
              </a:tr>
            </a:tbl>
          </a:graphicData>
        </a:graphic>
      </p:graphicFrame>
      <p:sp>
        <p:nvSpPr>
          <p:cNvPr id="4" name="Date Placeholder 3"/>
          <p:cNvSpPr>
            <a:spLocks noGrp="1"/>
          </p:cNvSpPr>
          <p:nvPr>
            <p:ph type="dt" sz="half" idx="10"/>
          </p:nvPr>
        </p:nvSpPr>
        <p:spPr/>
        <p:txBody>
          <a:bodyPr/>
          <a:lstStyle/>
          <a:p>
            <a:fld id="{E17B8017-116D-4F67-AC95-45209D51BB31}"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13</a:t>
            </a:fld>
            <a:r>
              <a:rPr lang="vi-VN"/>
              <a:t>/26</a:t>
            </a:r>
          </a:p>
        </p:txBody>
      </p:sp>
      <p:sp>
        <p:nvSpPr>
          <p:cNvPr id="2" name="Title 1"/>
          <p:cNvSpPr>
            <a:spLocks noGrp="1"/>
          </p:cNvSpPr>
          <p:nvPr>
            <p:ph type="title"/>
          </p:nvPr>
        </p:nvSpPr>
        <p:spPr/>
        <p:txBody>
          <a:bodyPr/>
          <a:lstStyle/>
          <a:p>
            <a:r>
              <a:rPr lang="en-US"/>
              <a:t>Thực đơn - Menu</a:t>
            </a:r>
          </a:p>
        </p:txBody>
      </p:sp>
    </p:spTree>
    <p:extLst>
      <p:ext uri="{BB962C8B-B14F-4D97-AF65-F5344CB8AC3E}">
        <p14:creationId xmlns:p14="http://schemas.microsoft.com/office/powerpoint/2010/main" val="2897055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tạo menu ngữ cảnh</a:t>
            </a:r>
          </a:p>
          <a:p>
            <a:pPr lvl="1"/>
            <a:r>
              <a:rPr lang="en-US"/>
              <a:t>Gán menu ngữ cảnh cho các điều khiển khác qua thuộc tính Context MenuStrip</a:t>
            </a:r>
          </a:p>
          <a:p>
            <a:pPr lvl="1"/>
            <a:r>
              <a:rPr lang="en-US"/>
              <a:t>Tên bắt đầu bằng cmnu</a:t>
            </a:r>
          </a:p>
          <a:p>
            <a:pPr lvl="1"/>
            <a:r>
              <a:rPr lang="en-US"/>
              <a:t>Thuộc tính tương tự như MenuStrip</a:t>
            </a:r>
          </a:p>
        </p:txBody>
      </p:sp>
      <p:sp>
        <p:nvSpPr>
          <p:cNvPr id="4" name="Date Placeholder 3"/>
          <p:cNvSpPr>
            <a:spLocks noGrp="1"/>
          </p:cNvSpPr>
          <p:nvPr>
            <p:ph type="dt" sz="half" idx="10"/>
          </p:nvPr>
        </p:nvSpPr>
        <p:spPr/>
        <p:txBody>
          <a:bodyPr/>
          <a:lstStyle/>
          <a:p>
            <a:fld id="{879DDC04-E566-4C95-AF79-BAFE209F62C5}"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14</a:t>
            </a:fld>
            <a:r>
              <a:rPr lang="vi-VN"/>
              <a:t>/26</a:t>
            </a:r>
          </a:p>
        </p:txBody>
      </p:sp>
      <p:sp>
        <p:nvSpPr>
          <p:cNvPr id="2" name="Title 1"/>
          <p:cNvSpPr>
            <a:spLocks noGrp="1"/>
          </p:cNvSpPr>
          <p:nvPr>
            <p:ph type="title"/>
          </p:nvPr>
        </p:nvSpPr>
        <p:spPr/>
        <p:txBody>
          <a:bodyPr/>
          <a:lstStyle/>
          <a:p>
            <a:r>
              <a:rPr lang="en-US"/>
              <a:t>Menu ngữ cảnh – ContextMenuStrip</a:t>
            </a:r>
          </a:p>
        </p:txBody>
      </p:sp>
    </p:spTree>
    <p:extLst>
      <p:ext uri="{BB962C8B-B14F-4D97-AF65-F5344CB8AC3E}">
        <p14:creationId xmlns:p14="http://schemas.microsoft.com/office/powerpoint/2010/main" val="3053680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Thêm biểu mẫu</a:t>
            </a:r>
          </a:p>
          <a:p>
            <a:pPr lvl="1"/>
            <a:r>
              <a:rPr lang="en-US"/>
              <a:t>Project </a:t>
            </a:r>
            <a:r>
              <a:rPr lang="en-US">
                <a:sym typeface="Wingdings" pitchFamily="2" charset="2"/>
              </a:rPr>
              <a:t> Add Windows Form…</a:t>
            </a:r>
          </a:p>
          <a:p>
            <a:pPr lvl="1"/>
            <a:r>
              <a:rPr lang="en-US">
                <a:sym typeface="Wingdings" pitchFamily="2" charset="2"/>
              </a:rPr>
              <a:t>Nháy phải tên project ở Solution Explorer  Add  Windows Form</a:t>
            </a:r>
          </a:p>
          <a:p>
            <a:pPr lvl="1"/>
            <a:r>
              <a:rPr lang="en-US">
                <a:sym typeface="Wingdings" pitchFamily="2" charset="2"/>
              </a:rPr>
              <a:t>Ctrl + Shift + A</a:t>
            </a:r>
          </a:p>
          <a:p>
            <a:r>
              <a:rPr lang="en-US">
                <a:sym typeface="Wingdings" pitchFamily="2" charset="2"/>
              </a:rPr>
              <a:t>Chọn biểu mẫu khởi động</a:t>
            </a:r>
          </a:p>
          <a:p>
            <a:pPr lvl="1"/>
            <a:r>
              <a:rPr lang="en-US">
                <a:sym typeface="Wingdings" pitchFamily="2" charset="2"/>
              </a:rPr>
              <a:t>Trong file program.cs</a:t>
            </a:r>
          </a:p>
          <a:p>
            <a:pPr lvl="2"/>
            <a:r>
              <a:rPr lang="en-US">
                <a:sym typeface="Wingdings" pitchFamily="2" charset="2"/>
              </a:rPr>
              <a:t>Application.Run(new Tên_form_khởi_động());</a:t>
            </a:r>
          </a:p>
          <a:p>
            <a:pPr lvl="2"/>
            <a:r>
              <a:rPr lang="en-US">
                <a:sym typeface="Wingdings" pitchFamily="2" charset="2"/>
              </a:rPr>
              <a:t>Ví dụ: Application.Run(new frmMain());</a:t>
            </a:r>
            <a:endParaRPr lang="en-US"/>
          </a:p>
        </p:txBody>
      </p:sp>
      <p:sp>
        <p:nvSpPr>
          <p:cNvPr id="4" name="Date Placeholder 3"/>
          <p:cNvSpPr>
            <a:spLocks noGrp="1"/>
          </p:cNvSpPr>
          <p:nvPr>
            <p:ph type="dt" sz="half" idx="10"/>
          </p:nvPr>
        </p:nvSpPr>
        <p:spPr/>
        <p:txBody>
          <a:bodyPr/>
          <a:lstStyle/>
          <a:p>
            <a:fld id="{B9E5472C-4E14-4668-8922-5FE16E164FBB}"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15</a:t>
            </a:fld>
            <a:r>
              <a:rPr lang="vi-VN"/>
              <a:t>/26</a:t>
            </a:r>
          </a:p>
        </p:txBody>
      </p:sp>
      <p:sp>
        <p:nvSpPr>
          <p:cNvPr id="2" name="Title 1"/>
          <p:cNvSpPr>
            <a:spLocks noGrp="1"/>
          </p:cNvSpPr>
          <p:nvPr>
            <p:ph type="title"/>
          </p:nvPr>
        </p:nvSpPr>
        <p:spPr/>
        <p:txBody>
          <a:bodyPr/>
          <a:lstStyle/>
          <a:p>
            <a:r>
              <a:rPr lang="en-US"/>
              <a:t>Ứng dụng nhiều biểu mẫu</a:t>
            </a:r>
          </a:p>
        </p:txBody>
      </p:sp>
    </p:spTree>
    <p:extLst>
      <p:ext uri="{BB962C8B-B14F-4D97-AF65-F5344CB8AC3E}">
        <p14:creationId xmlns:p14="http://schemas.microsoft.com/office/powerpoint/2010/main" val="3145738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Gọi biểu mẫu</a:t>
            </a:r>
          </a:p>
          <a:p>
            <a:pPr lvl="1"/>
            <a:r>
              <a:rPr lang="en-US"/>
              <a:t>Giả sử có 2 form: Form1 và Form2, trong đó Form1 cần gọi From2</a:t>
            </a:r>
          </a:p>
          <a:p>
            <a:pPr lvl="1"/>
            <a:r>
              <a:rPr lang="en-US"/>
              <a:t>Cách 1: Dùng phương thức Show</a:t>
            </a:r>
          </a:p>
          <a:p>
            <a:pPr marL="353615" lvl="1" indent="0">
              <a:buNone/>
            </a:pPr>
            <a:r>
              <a:rPr lang="en-US">
                <a:solidFill>
                  <a:srgbClr val="002060"/>
                </a:solidFill>
                <a:latin typeface="Consolas" pitchFamily="49" charset="0"/>
                <a:cs typeface="Consolas" pitchFamily="49" charset="0"/>
              </a:rPr>
              <a:t>   Form2 frm = new Form2();</a:t>
            </a:r>
            <a:endParaRPr lang="vi-VN" sz="3000">
              <a:solidFill>
                <a:srgbClr val="002060"/>
              </a:solidFill>
              <a:latin typeface="Consolas" pitchFamily="49" charset="0"/>
              <a:cs typeface="Consolas" pitchFamily="49" charset="0"/>
            </a:endParaRPr>
          </a:p>
          <a:p>
            <a:pPr marL="353615" lvl="1" indent="0">
              <a:buNone/>
            </a:pPr>
            <a:r>
              <a:rPr lang="en-US">
                <a:solidFill>
                  <a:srgbClr val="002060"/>
                </a:solidFill>
                <a:latin typeface="Consolas" pitchFamily="49" charset="0"/>
                <a:cs typeface="Consolas" pitchFamily="49" charset="0"/>
              </a:rPr>
              <a:t>   frm.Show();</a:t>
            </a:r>
            <a:endParaRPr lang="en-US"/>
          </a:p>
          <a:p>
            <a:pPr lvl="1"/>
            <a:r>
              <a:rPr lang="en-US"/>
              <a:t>Cách 2: Dùng phương thức ShowDialog</a:t>
            </a:r>
          </a:p>
          <a:p>
            <a:pPr marL="352425" lvl="1" indent="379810">
              <a:buNone/>
            </a:pPr>
            <a:r>
              <a:rPr lang="en-US">
                <a:solidFill>
                  <a:srgbClr val="002060"/>
                </a:solidFill>
                <a:latin typeface="Consolas" pitchFamily="49" charset="0"/>
                <a:cs typeface="Consolas" pitchFamily="49" charset="0"/>
              </a:rPr>
              <a:t>Form2  frm = new Form2();</a:t>
            </a:r>
          </a:p>
          <a:p>
            <a:pPr marL="352425" lvl="1" indent="379810">
              <a:buNone/>
            </a:pPr>
            <a:r>
              <a:rPr lang="en-US">
                <a:solidFill>
                  <a:srgbClr val="002060"/>
                </a:solidFill>
                <a:latin typeface="Consolas" pitchFamily="49" charset="0"/>
                <a:cs typeface="Consolas" pitchFamily="49" charset="0"/>
              </a:rPr>
              <a:t>Frm.ShowDialog();</a:t>
            </a:r>
          </a:p>
          <a:p>
            <a:r>
              <a:rPr lang="en-US"/>
              <a:t>Đóng biểu mẫu</a:t>
            </a:r>
          </a:p>
          <a:p>
            <a:pPr lvl="1"/>
            <a:r>
              <a:rPr lang="en-US"/>
              <a:t>Phương thức: Hide, Close</a:t>
            </a:r>
          </a:p>
        </p:txBody>
      </p:sp>
      <p:sp>
        <p:nvSpPr>
          <p:cNvPr id="4" name="Date Placeholder 3"/>
          <p:cNvSpPr>
            <a:spLocks noGrp="1"/>
          </p:cNvSpPr>
          <p:nvPr>
            <p:ph type="dt" sz="half" idx="10"/>
          </p:nvPr>
        </p:nvSpPr>
        <p:spPr/>
        <p:txBody>
          <a:bodyPr/>
          <a:lstStyle/>
          <a:p>
            <a:fld id="{609C1CE7-43DE-4991-BAA9-E013399B4123}"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16</a:t>
            </a:fld>
            <a:r>
              <a:rPr lang="vi-VN"/>
              <a:t>/26</a:t>
            </a:r>
          </a:p>
        </p:txBody>
      </p:sp>
      <p:sp>
        <p:nvSpPr>
          <p:cNvPr id="2" name="Title 1"/>
          <p:cNvSpPr>
            <a:spLocks noGrp="1"/>
          </p:cNvSpPr>
          <p:nvPr>
            <p:ph type="title"/>
          </p:nvPr>
        </p:nvSpPr>
        <p:spPr/>
        <p:txBody>
          <a:bodyPr/>
          <a:lstStyle/>
          <a:p>
            <a:r>
              <a:rPr lang="en-US"/>
              <a:t>Ứng dụng nhiều biểu mẫu</a:t>
            </a:r>
          </a:p>
        </p:txBody>
      </p:sp>
    </p:spTree>
    <p:extLst>
      <p:ext uri="{BB962C8B-B14F-4D97-AF65-F5344CB8AC3E}">
        <p14:creationId xmlns:p14="http://schemas.microsoft.com/office/powerpoint/2010/main" val="2736163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84562-F3E6-4ECE-AA2B-6E263EE02C5E}"/>
              </a:ext>
            </a:extLst>
          </p:cNvPr>
          <p:cNvSpPr>
            <a:spLocks noGrp="1"/>
          </p:cNvSpPr>
          <p:nvPr>
            <p:ph idx="1"/>
          </p:nvPr>
        </p:nvSpPr>
        <p:spPr/>
        <p:txBody>
          <a:bodyPr/>
          <a:lstStyle/>
          <a:p>
            <a:pPr marL="0" indent="0">
              <a:buNone/>
            </a:pPr>
            <a:r>
              <a:rPr lang="en-US" dirty="0" err="1"/>
              <a:t>Thiết</a:t>
            </a:r>
            <a:r>
              <a:rPr lang="en-US" dirty="0"/>
              <a:t> </a:t>
            </a:r>
            <a:r>
              <a:rPr lang="en-US" dirty="0" err="1"/>
              <a:t>kế</a:t>
            </a:r>
            <a:r>
              <a:rPr lang="en-US" dirty="0"/>
              <a:t> </a:t>
            </a:r>
            <a:r>
              <a:rPr lang="en-US" dirty="0" err="1"/>
              <a:t>giao</a:t>
            </a:r>
            <a:r>
              <a:rPr lang="en-US" dirty="0"/>
              <a:t> </a:t>
            </a:r>
            <a:r>
              <a:rPr lang="en-US" dirty="0" err="1"/>
              <a:t>diện</a:t>
            </a:r>
            <a:r>
              <a:rPr lang="en-US" dirty="0"/>
              <a:t> </a:t>
            </a:r>
            <a:r>
              <a:rPr lang="en-US" dirty="0" err="1"/>
              <a:t>cho</a:t>
            </a:r>
            <a:r>
              <a:rPr lang="en-US" dirty="0"/>
              <a:t> </a:t>
            </a:r>
            <a:r>
              <a:rPr lang="en-US" dirty="0" err="1"/>
              <a:t>hệ</a:t>
            </a:r>
            <a:r>
              <a:rPr lang="en-US" dirty="0"/>
              <a:t> </a:t>
            </a:r>
            <a:r>
              <a:rPr lang="en-US" dirty="0" err="1"/>
              <a:t>thống</a:t>
            </a:r>
            <a:r>
              <a:rPr lang="en-US" dirty="0"/>
              <a:t> </a:t>
            </a:r>
            <a:r>
              <a:rPr lang="en-US" dirty="0" err="1"/>
              <a:t>trong</a:t>
            </a:r>
            <a:r>
              <a:rPr lang="en-US" dirty="0"/>
              <a:t> </a:t>
            </a:r>
            <a:r>
              <a:rPr lang="en-US" dirty="0" err="1"/>
              <a:t>bài</a:t>
            </a:r>
            <a:r>
              <a:rPr lang="en-US" dirty="0"/>
              <a:t> </a:t>
            </a:r>
            <a:r>
              <a:rPr lang="en-US" dirty="0" err="1"/>
              <a:t>tập</a:t>
            </a:r>
            <a:r>
              <a:rPr lang="en-US" dirty="0"/>
              <a:t> </a:t>
            </a:r>
            <a:r>
              <a:rPr lang="en-US" dirty="0" err="1"/>
              <a:t>lớn</a:t>
            </a:r>
            <a:endParaRPr lang="en-US" dirty="0"/>
          </a:p>
        </p:txBody>
      </p:sp>
      <p:sp>
        <p:nvSpPr>
          <p:cNvPr id="4" name="Date Placeholder 3">
            <a:extLst>
              <a:ext uri="{FF2B5EF4-FFF2-40B4-BE49-F238E27FC236}">
                <a16:creationId xmlns:a16="http://schemas.microsoft.com/office/drawing/2014/main" id="{AC536D35-A41C-4D46-A1FB-E7CC104304B7}"/>
              </a:ext>
            </a:extLst>
          </p:cNvPr>
          <p:cNvSpPr>
            <a:spLocks noGrp="1"/>
          </p:cNvSpPr>
          <p:nvPr>
            <p:ph type="dt" sz="half" idx="10"/>
          </p:nvPr>
        </p:nvSpPr>
        <p:spPr/>
        <p:txBody>
          <a:bodyPr/>
          <a:lstStyle/>
          <a:p>
            <a:fld id="{CE831494-2554-492A-9E05-3496EA2D35B7}" type="datetime1">
              <a:rPr lang="vi-VN" smtClean="0"/>
              <a:t>20/02/2025</a:t>
            </a:fld>
            <a:endParaRPr lang="vi-VN"/>
          </a:p>
        </p:txBody>
      </p:sp>
      <p:sp>
        <p:nvSpPr>
          <p:cNvPr id="5" name="Footer Placeholder 4">
            <a:extLst>
              <a:ext uri="{FF2B5EF4-FFF2-40B4-BE49-F238E27FC236}">
                <a16:creationId xmlns:a16="http://schemas.microsoft.com/office/drawing/2014/main" id="{F255BF14-7BEE-4773-9A84-E1F48FE6C296}"/>
              </a:ext>
            </a:extLst>
          </p:cNvPr>
          <p:cNvSpPr>
            <a:spLocks noGrp="1"/>
          </p:cNvSpPr>
          <p:nvPr>
            <p:ph type="ftr" sz="quarter" idx="11"/>
          </p:nvPr>
        </p:nvSpPr>
        <p:spPr/>
        <p:txBody>
          <a:bodyPr/>
          <a:lstStyle/>
          <a:p>
            <a:r>
              <a:rPr lang="vi-VN"/>
              <a:t>Chương 4. Lập trình giao diện trong Windows</a:t>
            </a:r>
          </a:p>
        </p:txBody>
      </p:sp>
      <p:sp>
        <p:nvSpPr>
          <p:cNvPr id="6" name="Slide Number Placeholder 5">
            <a:extLst>
              <a:ext uri="{FF2B5EF4-FFF2-40B4-BE49-F238E27FC236}">
                <a16:creationId xmlns:a16="http://schemas.microsoft.com/office/drawing/2014/main" id="{3DF6CA2E-963E-417E-8EF7-E2C39F88FE3E}"/>
              </a:ext>
            </a:extLst>
          </p:cNvPr>
          <p:cNvSpPr>
            <a:spLocks noGrp="1"/>
          </p:cNvSpPr>
          <p:nvPr>
            <p:ph type="sldNum" sz="quarter" idx="12"/>
          </p:nvPr>
        </p:nvSpPr>
        <p:spPr/>
        <p:txBody>
          <a:bodyPr/>
          <a:lstStyle/>
          <a:p>
            <a:fld id="{5AB95402-1E0D-474E-8D8C-CBE7F053639E}" type="slidenum">
              <a:rPr lang="vi-VN" smtClean="0"/>
              <a:pPr/>
              <a:t>17</a:t>
            </a:fld>
            <a:r>
              <a:rPr lang="vi-VN"/>
              <a:t>/26</a:t>
            </a:r>
          </a:p>
        </p:txBody>
      </p:sp>
      <p:sp>
        <p:nvSpPr>
          <p:cNvPr id="2" name="Title 1">
            <a:extLst>
              <a:ext uri="{FF2B5EF4-FFF2-40B4-BE49-F238E27FC236}">
                <a16:creationId xmlns:a16="http://schemas.microsoft.com/office/drawing/2014/main" id="{4C86C8FF-E431-4254-89C5-9D33090A9015}"/>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về</a:t>
            </a:r>
            <a:r>
              <a:rPr lang="en-US" dirty="0"/>
              <a:t> </a:t>
            </a:r>
            <a:r>
              <a:rPr lang="en-US" dirty="0" err="1"/>
              <a:t>nhà</a:t>
            </a:r>
            <a:endParaRPr lang="en-US" dirty="0"/>
          </a:p>
        </p:txBody>
      </p:sp>
    </p:spTree>
    <p:extLst>
      <p:ext uri="{BB962C8B-B14F-4D97-AF65-F5344CB8AC3E}">
        <p14:creationId xmlns:p14="http://schemas.microsoft.com/office/powerpoint/2010/main" val="1398627926"/>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C03-Lap trinh huong doi tuong trong C# - Part 1</Template>
  <TotalTime>9146</TotalTime>
  <Words>1186</Words>
  <Application>Microsoft Macintosh PowerPoint</Application>
  <PresentationFormat>On-screen Show (4:3)</PresentationFormat>
  <Paragraphs>199</Paragraphs>
  <Slides>17</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7" baseType="lpstr">
      <vt:lpstr>Arial</vt:lpstr>
      <vt:lpstr>Calibri</vt:lpstr>
      <vt:lpstr>Cambria</vt:lpstr>
      <vt:lpstr>Consolas</vt:lpstr>
      <vt:lpstr>Tahoma</vt:lpstr>
      <vt:lpstr>Times New Roman</vt:lpstr>
      <vt:lpstr>Verdana</vt:lpstr>
      <vt:lpstr>Wingdings</vt:lpstr>
      <vt:lpstr>MM_Lec1</vt:lpstr>
      <vt:lpstr>Bitmap Image</vt:lpstr>
      <vt:lpstr>Chương 4 LẬP TRÌNH GIAO DIỆN  TRONG WINDOWS</vt:lpstr>
      <vt:lpstr>Nội dung</vt:lpstr>
      <vt:lpstr>3. Các hộp thoại thông dụng</vt:lpstr>
      <vt:lpstr>Hộp thoại OpenFile</vt:lpstr>
      <vt:lpstr>PowerPoint Presentation</vt:lpstr>
      <vt:lpstr>Hộp thoại SaveFile</vt:lpstr>
      <vt:lpstr>Luồng File - FileStream</vt:lpstr>
      <vt:lpstr>Luồng file - FileStream</vt:lpstr>
      <vt:lpstr>PowerPoint Presentation</vt:lpstr>
      <vt:lpstr>Hộp thoại Font </vt:lpstr>
      <vt:lpstr>Hộp thoại Color</vt:lpstr>
      <vt:lpstr>4. Thực đơn và ứng dụng nhiều biểu mẫu</vt:lpstr>
      <vt:lpstr>Thực đơn - Menu</vt:lpstr>
      <vt:lpstr>Menu ngữ cảnh – ContextMenuStrip</vt:lpstr>
      <vt:lpstr>Ứng dụng nhiều biểu mẫu</vt:lpstr>
      <vt:lpstr>Ứng dụng nhiều biểu mẫu</vt:lpstr>
      <vt:lpstr>Bài tập về nhà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hue tran</cp:lastModifiedBy>
  <cp:revision>109</cp:revision>
  <dcterms:created xsi:type="dcterms:W3CDTF">2011-07-17T01:46:34Z</dcterms:created>
  <dcterms:modified xsi:type="dcterms:W3CDTF">2025-02-20T13:15:47Z</dcterms:modified>
</cp:coreProperties>
</file>