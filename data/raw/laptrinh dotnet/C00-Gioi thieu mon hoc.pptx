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2"/>
  </p:notesMasterIdLst>
  <p:sldIdLst>
    <p:sldId id="256" r:id="rId2"/>
    <p:sldId id="257" r:id="rId3"/>
    <p:sldId id="267" r:id="rId4"/>
    <p:sldId id="268" r:id="rId5"/>
    <p:sldId id="266" r:id="rId6"/>
    <p:sldId id="259" r:id="rId7"/>
    <p:sldId id="260" r:id="rId8"/>
    <p:sldId id="263" r:id="rId9"/>
    <p:sldId id="262" r:id="rId10"/>
    <p:sldId id="261" r:id="rId11"/>
  </p:sldIdLst>
  <p:sldSz cx="9144000" cy="6858000" type="screen4x3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FB85"/>
    <a:srgbClr val="0000F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3" autoAdjust="0"/>
    <p:restoredTop sz="94683"/>
  </p:normalViewPr>
  <p:slideViewPr>
    <p:cSldViewPr>
      <p:cViewPr varScale="1">
        <p:scale>
          <a:sx n="102" d="100"/>
          <a:sy n="102" d="100"/>
        </p:scale>
        <p:origin x="179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59136-7F74-4509-B20E-AE351757F38F}" type="datetimeFigureOut">
              <a:rPr lang="vi-VN" smtClean="0"/>
              <a:t>06/01/2026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7600A-770C-47F1-89C1-5023B6D362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53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4"/>
          <p:cNvSpPr>
            <a:spLocks noChangeArrowheads="1"/>
          </p:cNvSpPr>
          <p:nvPr/>
        </p:nvSpPr>
        <p:spPr bwMode="auto">
          <a:xfrm>
            <a:off x="1066800" y="3581400"/>
            <a:ext cx="75438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2590800"/>
            <a:ext cx="7620000" cy="990600"/>
          </a:xfrm>
        </p:spPr>
        <p:txBody>
          <a:bodyPr/>
          <a:lstStyle>
            <a:lvl1pPr algn="ctr">
              <a:defRPr sz="36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58000" dir="5400000" sy="-100000" algn="bl" rotWithShape="0"/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4495800"/>
            <a:ext cx="7010400" cy="990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200" b="1">
                <a:solidFill>
                  <a:srgbClr val="000066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8ED0E672-A271-4D0D-ABDB-557D167D26BE}" type="datetime1">
              <a:rPr lang="vi-VN" smtClean="0"/>
              <a:t>06/01/2026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43188" y="6248400"/>
            <a:ext cx="4357687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15188" y="6248400"/>
            <a:ext cx="1243012" cy="457200"/>
          </a:xfrm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Content Placeholder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6" b="29726"/>
          <a:stretch/>
        </p:blipFill>
        <p:spPr bwMode="auto">
          <a:xfrm>
            <a:off x="26043" y="0"/>
            <a:ext cx="9144000" cy="15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149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sz="2800"/>
            </a:lvl1pPr>
            <a:lvl2pPr algn="just">
              <a:defRPr sz="2400">
                <a:solidFill>
                  <a:srgbClr val="0000FF"/>
                </a:solidFill>
              </a:defRPr>
            </a:lvl2pPr>
            <a:lvl3pPr algn="just">
              <a:defRPr sz="2000">
                <a:solidFill>
                  <a:srgbClr val="002060"/>
                </a:solidFill>
              </a:defRPr>
            </a:lvl3pPr>
            <a:lvl4pPr algn="just">
              <a:defRPr sz="1800">
                <a:solidFill>
                  <a:srgbClr val="000066"/>
                </a:solidFill>
              </a:defRPr>
            </a:lvl4pPr>
            <a:lvl5pPr algn="just"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0CE9CA-7BD8-4B31-8B22-EFE17FA7E2A4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r>
              <a:rPr lang="vi-VN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68343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2BADF415-1DC0-4198-B6FD-D625D0C82234}" type="datetime1">
              <a:rPr lang="vi-VN" smtClean="0"/>
              <a:t>06/01/2026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079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43000"/>
            <a:ext cx="7924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457200" y="990600"/>
            <a:ext cx="83820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381000" y="6400800"/>
            <a:ext cx="8534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Arial" charset="0"/>
              </a:defRPr>
            </a:lvl1pPr>
          </a:lstStyle>
          <a:p>
            <a:fld id="{90F03838-1973-4BED-90FF-ABE97E02EF11}" type="datetime1">
              <a:rPr lang="vi-VN" smtClean="0"/>
              <a:t>06/01/2026</a:t>
            </a:fld>
            <a:endParaRPr lang="vi-V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400800"/>
            <a:ext cx="39624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>
                <a:cs typeface="Arial" charset="0"/>
              </a:defRPr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Arial" charset="0"/>
              </a:defRPr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lang="en-GB" sz="2800" smtClean="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2400" smtClean="0">
          <a:solidFill>
            <a:srgbClr val="0000FF"/>
          </a:solidFill>
          <a:latin typeface="+mn-lt"/>
          <a:cs typeface="+mn-cs"/>
        </a:defRPr>
      </a:lvl2pPr>
      <a:lvl3pPr marL="1304925" indent="-395288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o"/>
        <a:defRPr lang="en-GB" sz="2000" smtClean="0">
          <a:solidFill>
            <a:srgbClr val="002060"/>
          </a:solidFill>
          <a:latin typeface="+mn-lt"/>
          <a:cs typeface="+mn-cs"/>
        </a:defRPr>
      </a:lvl3pPr>
      <a:lvl4pPr marL="1693863" indent="-387350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1800" smtClean="0">
          <a:solidFill>
            <a:srgbClr val="000066"/>
          </a:solidFill>
          <a:latin typeface="+mn-lt"/>
          <a:cs typeface="+mn-cs"/>
        </a:defRPr>
      </a:lvl4pPr>
      <a:lvl5pPr marL="20939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5pPr>
      <a:lvl6pPr marL="25511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6pPr>
      <a:lvl7pPr marL="30083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7pPr>
      <a:lvl8pPr marL="34655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8pPr>
      <a:lvl9pPr marL="39227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icrosoft.com/download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pPr algn="ctr"/>
            <a:r>
              <a:rPr lang="en-US" sz="4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Lập</a:t>
            </a:r>
            <a:r>
              <a:rPr lang="en-US" sz="4400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 </a:t>
            </a:r>
            <a:r>
              <a:rPr lang="en-US" sz="4400" dirty="0" err="1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trình</a:t>
            </a:r>
            <a:r>
              <a:rPr lang="en-US" sz="4400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 .NET</a:t>
            </a:r>
            <a:endParaRPr lang="vi-VN" sz="4400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495800"/>
            <a:ext cx="7381056" cy="1021432"/>
          </a:xfrm>
        </p:spPr>
        <p:txBody>
          <a:bodyPr/>
          <a:lstStyle/>
          <a:p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91880" y="6237312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Hà </a:t>
            </a:r>
            <a:r>
              <a:rPr lang="en-US" sz="2400" dirty="0" err="1"/>
              <a:t>Nội</a:t>
            </a:r>
            <a:r>
              <a:rPr lang="en-US" sz="2400" dirty="0"/>
              <a:t> </a:t>
            </a:r>
            <a:r>
              <a:rPr lang="en-US" sz="2400"/>
              <a:t>– 2026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166963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môn học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err="1"/>
              <a:t>Số</a:t>
            </a:r>
            <a:r>
              <a:rPr lang="vi-VN" dirty="0"/>
              <a:t> </a:t>
            </a:r>
            <a:r>
              <a:rPr lang="vi-VN" dirty="0" err="1"/>
              <a:t>tín</a:t>
            </a:r>
            <a:r>
              <a:rPr lang="vi-VN" dirty="0"/>
              <a:t> </a:t>
            </a:r>
            <a:r>
              <a:rPr lang="vi-VN" dirty="0" err="1"/>
              <a:t>chỉ</a:t>
            </a:r>
            <a:r>
              <a:rPr lang="vi-VN" dirty="0"/>
              <a:t>: 3</a:t>
            </a:r>
          </a:p>
          <a:p>
            <a:r>
              <a:rPr lang="vi-VN" dirty="0"/>
              <a:t>Điều kiện tiên quyết: Cơ sở lập trình</a:t>
            </a:r>
          </a:p>
          <a:p>
            <a:r>
              <a:rPr lang="vi-VN" dirty="0" err="1"/>
              <a:t>Thời</a:t>
            </a:r>
            <a:r>
              <a:rPr lang="vi-VN" dirty="0"/>
              <a:t> gian:</a:t>
            </a:r>
          </a:p>
          <a:p>
            <a:pPr lvl="1"/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thuyết</a:t>
            </a:r>
            <a:r>
              <a:rPr lang="vi-VN" dirty="0"/>
              <a:t>: 35%</a:t>
            </a:r>
          </a:p>
          <a:p>
            <a:pPr lvl="1"/>
            <a:r>
              <a:rPr lang="vi-VN" dirty="0" err="1"/>
              <a:t>Thực</a:t>
            </a:r>
            <a:r>
              <a:rPr lang="vi-VN" dirty="0"/>
              <a:t> </a:t>
            </a:r>
            <a:r>
              <a:rPr lang="vi-VN" dirty="0" err="1"/>
              <a:t>hành</a:t>
            </a:r>
            <a:r>
              <a:rPr lang="vi-VN" dirty="0"/>
              <a:t>, </a:t>
            </a:r>
            <a:r>
              <a:rPr lang="vi-VN" dirty="0" err="1"/>
              <a:t>thảo</a:t>
            </a:r>
            <a:r>
              <a:rPr lang="vi-VN" dirty="0"/>
              <a:t> </a:t>
            </a:r>
            <a:r>
              <a:rPr lang="vi-VN" dirty="0" err="1"/>
              <a:t>luận</a:t>
            </a:r>
            <a:r>
              <a:rPr lang="vi-VN" dirty="0"/>
              <a:t>: 65%</a:t>
            </a:r>
          </a:p>
          <a:p>
            <a:pPr lvl="1"/>
            <a:r>
              <a:rPr lang="vi-VN" dirty="0" err="1"/>
              <a:t>Tự</a:t>
            </a:r>
            <a:r>
              <a:rPr lang="vi-VN" dirty="0"/>
              <a:t> </a:t>
            </a:r>
            <a:r>
              <a:rPr lang="vi-VN" dirty="0" err="1"/>
              <a:t>học</a:t>
            </a:r>
            <a:r>
              <a:rPr lang="vi-VN" dirty="0"/>
              <a:t>: 200%</a:t>
            </a:r>
          </a:p>
          <a:p>
            <a:r>
              <a:rPr lang="vi-VN" dirty="0" err="1"/>
              <a:t>Đánh</a:t>
            </a:r>
            <a:r>
              <a:rPr lang="vi-VN" dirty="0"/>
              <a:t> </a:t>
            </a:r>
            <a:r>
              <a:rPr lang="vi-VN" dirty="0" err="1"/>
              <a:t>giá</a:t>
            </a:r>
            <a:endParaRPr lang="vi-VN" dirty="0"/>
          </a:p>
          <a:p>
            <a:pPr lvl="1"/>
            <a:r>
              <a:rPr lang="vi-VN" dirty="0"/>
              <a:t>Chuyên </a:t>
            </a:r>
            <a:r>
              <a:rPr lang="vi-VN" dirty="0" err="1"/>
              <a:t>cần</a:t>
            </a:r>
            <a:r>
              <a:rPr lang="vi-VN" dirty="0"/>
              <a:t>: 10%</a:t>
            </a:r>
          </a:p>
          <a:p>
            <a:pPr lvl="1"/>
            <a:r>
              <a:rPr lang="vi-VN" dirty="0" err="1"/>
              <a:t>Kiểm</a:t>
            </a:r>
            <a:r>
              <a:rPr lang="vi-VN" dirty="0"/>
              <a:t> tra </a:t>
            </a:r>
            <a:r>
              <a:rPr lang="vi-VN" dirty="0" err="1"/>
              <a:t>giữa</a:t>
            </a:r>
            <a:r>
              <a:rPr lang="vi-VN" dirty="0"/>
              <a:t> </a:t>
            </a:r>
            <a:r>
              <a:rPr lang="vi-VN" dirty="0" err="1"/>
              <a:t>kì</a:t>
            </a:r>
            <a:r>
              <a:rPr lang="vi-VN" dirty="0"/>
              <a:t>: 30% (</a:t>
            </a:r>
            <a:r>
              <a:rPr lang="vi-VN" dirty="0" err="1"/>
              <a:t>thực</a:t>
            </a:r>
            <a:r>
              <a:rPr lang="vi-VN" dirty="0"/>
              <a:t> </a:t>
            </a:r>
            <a:r>
              <a:rPr lang="vi-VN" dirty="0" err="1"/>
              <a:t>hành</a:t>
            </a:r>
            <a:r>
              <a:rPr lang="vi-VN" dirty="0"/>
              <a:t> trên </a:t>
            </a:r>
            <a:r>
              <a:rPr lang="vi-VN" dirty="0" err="1"/>
              <a:t>máy</a:t>
            </a:r>
            <a:r>
              <a:rPr lang="vi-VN" dirty="0"/>
              <a:t>)</a:t>
            </a:r>
          </a:p>
          <a:p>
            <a:pPr lvl="1"/>
            <a:r>
              <a:rPr lang="vi-VN" dirty="0"/>
              <a:t>Thi </a:t>
            </a:r>
            <a:r>
              <a:rPr lang="vi-VN" dirty="0" err="1"/>
              <a:t>cuối</a:t>
            </a:r>
            <a:r>
              <a:rPr lang="vi-VN" dirty="0"/>
              <a:t> </a:t>
            </a:r>
            <a:r>
              <a:rPr lang="vi-VN" dirty="0" err="1"/>
              <a:t>kì</a:t>
            </a:r>
            <a:r>
              <a:rPr lang="vi-VN" dirty="0"/>
              <a:t>: 60% (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vi-VN" dirty="0"/>
              <a:t>)</a:t>
            </a:r>
            <a:endParaRPr lang="en-US" dirty="0"/>
          </a:p>
          <a:p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3B86-91A2-45D4-BF11-225484E0FA10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</a:t>
            </a:fld>
            <a:r>
              <a:rPr lang="vi-VN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182198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7FBA-BA1C-6CA3-3844-8FDCB0067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88660-0307-B225-A1AC-8FB0807B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CE9CA-7BD8-4B31-8B22-EFE17FA7E2A4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4076D-4190-307B-2EFD-AF5DFC3EF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6AD6E-FA81-DF8E-C192-F175F0EF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</a:t>
            </a:fld>
            <a:r>
              <a:rPr lang="vi-VN"/>
              <a:t>/10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325061C-18DE-17B7-EF07-08DDF95A1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583861"/>
              </p:ext>
            </p:extLst>
          </p:nvPr>
        </p:nvGraphicFramePr>
        <p:xfrm>
          <a:off x="457200" y="1397000"/>
          <a:ext cx="8382000" cy="3256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703">
                  <a:extLst>
                    <a:ext uri="{9D8B030D-6E8A-4147-A177-3AD203B41FA5}">
                      <a16:colId xmlns:a16="http://schemas.microsoft.com/office/drawing/2014/main" val="284437440"/>
                    </a:ext>
                  </a:extLst>
                </a:gridCol>
                <a:gridCol w="6864297">
                  <a:extLst>
                    <a:ext uri="{9D8B030D-6E8A-4147-A177-3AD203B41FA5}">
                      <a16:colId xmlns:a16="http://schemas.microsoft.com/office/drawing/2014/main" val="2191276903"/>
                    </a:ext>
                  </a:extLst>
                </a:gridCol>
              </a:tblGrid>
              <a:tr h="420147">
                <a:tc>
                  <a:txBody>
                    <a:bodyPr/>
                    <a:lstStyle/>
                    <a:p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CLO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>
                          <a:solidFill>
                            <a:schemeClr val="tx1"/>
                          </a:solidFill>
                        </a:rPr>
                        <a:t>Nội dung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207802"/>
                  </a:ext>
                </a:extLst>
              </a:tr>
              <a:tr h="1365476">
                <a:tc>
                  <a:txBody>
                    <a:bodyPr/>
                    <a:lstStyle/>
                    <a:p>
                      <a:r>
                        <a:rPr lang="en-VN" b="0" dirty="0">
                          <a:solidFill>
                            <a:schemeClr val="tx1"/>
                          </a:solidFill>
                        </a:rPr>
                        <a:t>CLO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Trình</a:t>
                      </a:r>
                      <a:r>
                        <a:rPr lang="vi-V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bày được các</a:t>
                      </a:r>
                      <a:r>
                        <a:rPr lang="en-V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kỹ thuật lập trình hướng đối tượng với ngôn ngữ lập trình C#, các thành phần giao diện của một ứng dụng Windows, quy trình sử dụng ngôn ngữ C# kết nối cơ sở dữ liệu, quy trình cơ bản để thực hiện một dự án lập trình thực tế</a:t>
                      </a:r>
                      <a:r>
                        <a:rPr lang="en-VN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V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91295"/>
                  </a:ext>
                </a:extLst>
              </a:tr>
              <a:tr h="735257">
                <a:tc>
                  <a:txBody>
                    <a:bodyPr/>
                    <a:lstStyle/>
                    <a:p>
                      <a:r>
                        <a:rPr lang="en-V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CLO2</a:t>
                      </a:r>
                      <a:r>
                        <a:rPr lang="en-VN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V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Sử dụng ngôn ngữ C# để lập trình được phần mềm quản lý có giao diện đồ họa, có kết nối đến cơ sở dữ liệu theo yêu cầu</a:t>
                      </a:r>
                      <a:r>
                        <a:rPr lang="en-VN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V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887077"/>
                  </a:ext>
                </a:extLst>
              </a:tr>
              <a:tr h="735257">
                <a:tc>
                  <a:txBody>
                    <a:bodyPr/>
                    <a:lstStyle/>
                    <a:p>
                      <a:r>
                        <a:rPr lang="en-V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CLO3</a:t>
                      </a:r>
                      <a:r>
                        <a:rPr lang="en-VN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V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Sử dụng chiến lược giao tiếp, giao tiếp bằng văn bản và thuyết trình để thực hiện được dự án phần mềm quản lý trong thực tế</a:t>
                      </a:r>
                      <a:r>
                        <a:rPr lang="en-VN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V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641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50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DB3B-0338-45EB-5A5E-D3D927AE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Tài liệu tham khảo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1663F-89A6-2C0A-42DD-E6CA37712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Giáo trình</a:t>
            </a:r>
          </a:p>
          <a:p>
            <a:pPr lvl="1"/>
            <a:r>
              <a:rPr lang="en-VN" sz="2400" dirty="0">
                <a:solidFill>
                  <a:srgbClr val="000000"/>
                </a:solidFill>
                <a:effectLst/>
                <a:ea typeface="Noto Sans Symbols"/>
                <a:cs typeface="Noto Sans Symbols"/>
              </a:rPr>
              <a:t>Phạm Quang Hiển, Tự học C# bằng hình ảnh, NXB Thanh Niên, 2023</a:t>
            </a:r>
          </a:p>
          <a:p>
            <a:pPr lvl="1"/>
            <a:r>
              <a:rPr lang="en-VN" sz="2400" dirty="0">
                <a:solidFill>
                  <a:srgbClr val="000000"/>
                </a:solidFill>
                <a:effectLst/>
                <a:ea typeface="Noto Sans Symbols"/>
                <a:cs typeface="Noto Sans Symbols"/>
              </a:rPr>
              <a:t>Phạm Quang Huy, Vũ Trọng Luật, Phạm Quang Hiển, </a:t>
            </a:r>
            <a:r>
              <a:rPr lang="en-VN" sz="2400" i="1" dirty="0">
                <a:solidFill>
                  <a:srgbClr val="000000"/>
                </a:solidFill>
                <a:effectLst/>
                <a:ea typeface="Noto Sans Symbols"/>
                <a:cs typeface="Noto Sans Symbols"/>
              </a:rPr>
              <a:t>Lập trình với C#</a:t>
            </a:r>
            <a:r>
              <a:rPr lang="en-VN" sz="2400" dirty="0">
                <a:solidFill>
                  <a:srgbClr val="000000"/>
                </a:solidFill>
                <a:effectLst/>
                <a:ea typeface="Noto Sans Symbols"/>
                <a:cs typeface="Noto Sans Symbols"/>
              </a:rPr>
              <a:t>, NXB Thanh Niên, 2019.</a:t>
            </a:r>
            <a:endParaRPr lang="en-VN" sz="2400" dirty="0">
              <a:effectLst/>
              <a:ea typeface="Noto Sans Symbols"/>
              <a:cs typeface="Noto Sans Symbols"/>
            </a:endParaRPr>
          </a:p>
          <a:p>
            <a:r>
              <a:rPr lang="en-VN" sz="2800" b="1" dirty="0">
                <a:solidFill>
                  <a:srgbClr val="000000"/>
                </a:solidFill>
                <a:effectLst/>
                <a:ea typeface="Arial" panose="020B0604020202020204" pitchFamily="34" charset="0"/>
              </a:rPr>
              <a:t>Tài liệu tham khảo:</a:t>
            </a:r>
          </a:p>
          <a:p>
            <a:pPr lvl="1"/>
            <a:r>
              <a:rPr lang="en-VN" sz="2400" kern="0" dirty="0">
                <a:solidFill>
                  <a:srgbClr val="000000"/>
                </a:solidFill>
                <a:effectLst/>
                <a:ea typeface="Noto Sans Symbols"/>
                <a:cs typeface="Noto Sans Symbols"/>
              </a:rPr>
              <a:t>Christian Nagel, Professional C# and .NET (2021</a:t>
            </a:r>
          </a:p>
          <a:p>
            <a:pPr lvl="1"/>
            <a:r>
              <a:rPr lang="en-VN" dirty="0">
                <a:solidFill>
                  <a:srgbClr val="000000"/>
                </a:solidFill>
                <a:effectLst/>
                <a:ea typeface="Arial" panose="020B0604020202020204" pitchFamily="34" charset="0"/>
              </a:rPr>
              <a:t>Benjamin Perkins, Jon D. Reid, Begining C# and .Net, Wrox, 2021</a:t>
            </a:r>
            <a:r>
              <a:rPr lang="en-VN" dirty="0">
                <a:effectLst/>
              </a:rPr>
              <a:t> </a:t>
            </a:r>
            <a:endParaRPr lang="vi-VN" dirty="0"/>
          </a:p>
          <a:p>
            <a:pPr marL="471487" lvl="1" indent="0">
              <a:buNone/>
            </a:pPr>
            <a:endParaRPr lang="en-VN" sz="4400" kern="0" dirty="0">
              <a:effectLst/>
              <a:ea typeface="Noto Sans Symbols"/>
              <a:cs typeface="Noto Sans Symbols"/>
            </a:endParaRPr>
          </a:p>
          <a:p>
            <a:pPr lvl="1"/>
            <a:endParaRPr lang="en-VN" b="1" dirty="0">
              <a:effectLst/>
              <a:ea typeface="Arial" panose="020B0604020202020204" pitchFamily="34" charset="0"/>
            </a:endParaRPr>
          </a:p>
          <a:p>
            <a:endParaRPr lang="en-VN" dirty="0">
              <a:effectLst/>
              <a:ea typeface="Noto Sans Symbols"/>
              <a:cs typeface="Noto Sans Symbols"/>
            </a:endParaRPr>
          </a:p>
          <a:p>
            <a:pPr lvl="1"/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FD217-CBF9-1F45-1B12-3778CDC7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CE9CA-7BD8-4B31-8B22-EFE17FA7E2A4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3181E-8DE8-43C8-DE9B-2924C2CDD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78D07-541D-9FA6-E3C1-BF223298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</a:t>
            </a:fld>
            <a:r>
              <a:rPr lang="vi-VN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9458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Công cụ cần thiết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err="1"/>
              <a:t>Cài</a:t>
            </a:r>
            <a:r>
              <a:rPr lang="vi-VN" dirty="0"/>
              <a:t> </a:t>
            </a:r>
            <a:r>
              <a:rPr lang="vi-VN" dirty="0" err="1"/>
              <a:t>đặt</a:t>
            </a:r>
            <a:endParaRPr lang="vi-VN" dirty="0"/>
          </a:p>
          <a:p>
            <a:pPr lvl="1"/>
            <a:r>
              <a:rPr lang="vi-VN" sz="2000" dirty="0"/>
              <a:t>MS Visual Studio (Bản</a:t>
            </a:r>
            <a:r>
              <a:rPr lang="en-US" sz="2000" dirty="0"/>
              <a:t> community)</a:t>
            </a:r>
            <a:endParaRPr lang="vi-VN" sz="2000" dirty="0"/>
          </a:p>
          <a:p>
            <a:pPr lvl="1"/>
            <a:r>
              <a:rPr lang="vi-VN" sz="2000" dirty="0"/>
              <a:t>MS SQL Server 2008</a:t>
            </a:r>
            <a:r>
              <a:rPr lang="en-US" sz="2000" dirty="0"/>
              <a:t>/2012/2019</a:t>
            </a:r>
            <a:r>
              <a:rPr lang="vi-VN" sz="2000" dirty="0"/>
              <a:t> (</a:t>
            </a:r>
            <a:r>
              <a:rPr lang="vi-VN" sz="2000" dirty="0" err="1"/>
              <a:t>bản</a:t>
            </a:r>
            <a:r>
              <a:rPr lang="vi-VN" sz="2000" dirty="0"/>
              <a:t> Express) – </a:t>
            </a:r>
            <a:r>
              <a:rPr lang="vi-VN" sz="2000" dirty="0" err="1"/>
              <a:t>tuỳ</a:t>
            </a:r>
            <a:r>
              <a:rPr lang="vi-VN" sz="2000" dirty="0"/>
              <a:t> </a:t>
            </a:r>
            <a:r>
              <a:rPr lang="vi-VN" sz="2000" dirty="0" err="1"/>
              <a:t>chọn</a:t>
            </a:r>
            <a:endParaRPr lang="vi-VN" sz="2000" dirty="0"/>
          </a:p>
          <a:p>
            <a:r>
              <a:rPr lang="vi-VN" dirty="0" err="1"/>
              <a:t>Địa</a:t>
            </a:r>
            <a:r>
              <a:rPr lang="vi-VN" dirty="0"/>
              <a:t> </a:t>
            </a:r>
            <a:r>
              <a:rPr lang="vi-VN" dirty="0" err="1"/>
              <a:t>chỉ</a:t>
            </a:r>
            <a:r>
              <a:rPr lang="vi-VN" dirty="0"/>
              <a:t> </a:t>
            </a:r>
            <a:r>
              <a:rPr lang="vi-VN" dirty="0" err="1"/>
              <a:t>download</a:t>
            </a:r>
            <a:endParaRPr lang="vi-VN" dirty="0"/>
          </a:p>
          <a:p>
            <a:pPr lvl="1"/>
            <a:r>
              <a:rPr lang="vi-VN" sz="2000" dirty="0">
                <a:hlinkClick r:id="rId2"/>
              </a:rPr>
              <a:t>http://www.microsoft.com/downloads</a:t>
            </a:r>
            <a:r>
              <a:rPr lang="vi-VN" sz="2000" dirty="0"/>
              <a:t> </a:t>
            </a:r>
          </a:p>
          <a:p>
            <a:pPr marL="0" indent="0">
              <a:buNone/>
            </a:pP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66BD7-50B6-4E5B-B5EA-45BB264A3890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</a:t>
            </a:fld>
            <a:r>
              <a:rPr lang="vi-VN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91922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Yêu cầu đối với sinh viên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Tham dự  các buổi  học trên lớp</a:t>
            </a:r>
          </a:p>
          <a:p>
            <a:pPr lvl="0"/>
            <a:r>
              <a:rPr lang="vi-VN"/>
              <a:t>Đọc, nghiên cứu giáo trình, tài liệu tham khảo</a:t>
            </a:r>
          </a:p>
          <a:p>
            <a:pPr lvl="0"/>
            <a:r>
              <a:rPr lang="vi-VN"/>
              <a:t>Tham gia thảo luận trên lớp  </a:t>
            </a:r>
          </a:p>
          <a:p>
            <a:pPr lvl="0"/>
            <a:r>
              <a:rPr lang="vi-VN"/>
              <a:t>Làm các bài tập từng chương </a:t>
            </a:r>
          </a:p>
          <a:p>
            <a:r>
              <a:rPr lang="en-US"/>
              <a:t>Làm bài tập lớn</a:t>
            </a:r>
            <a:endParaRPr lang="vi-VN"/>
          </a:p>
          <a:p>
            <a:r>
              <a:rPr lang="vi-VN"/>
              <a:t>Thực hành tại Phòng máy tính</a:t>
            </a:r>
          </a:p>
          <a:p>
            <a:r>
              <a:rPr lang="en-US"/>
              <a:t>Có ý thức tổ chức, kỷ luật theo quy định của trường, lớp và của giảng viên phụ trách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ED657-18C4-4993-ABBD-7D6325016B34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6</a:t>
            </a:fld>
            <a:r>
              <a:rPr lang="vi-VN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108279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tabLst>
                <a:tab pos="177800" algn="l"/>
              </a:tabLst>
            </a:pPr>
            <a:r>
              <a:rPr lang="vi-VN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Chương 1. Tổng quan về lập trình .NET và ngôn ngữ C#</a:t>
            </a:r>
            <a:endParaRPr lang="en-VN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R="0" lvl="1">
              <a:tabLst>
                <a:tab pos="177800" algn="l"/>
              </a:tabLst>
            </a:pPr>
            <a:r>
              <a:rPr lang="vi-VN" dirty="0"/>
              <a:t>Tổng quan về .NET Framework</a:t>
            </a:r>
            <a:endParaRPr lang="en-VN" dirty="0"/>
          </a:p>
          <a:p>
            <a:pPr lvl="1">
              <a:tabLst>
                <a:tab pos="177800" algn="l"/>
              </a:tabLst>
            </a:pPr>
            <a:r>
              <a:rPr lang="vi-VN" dirty="0"/>
              <a:t>Giới thiệu về </a:t>
            </a:r>
            <a:r>
              <a:rPr lang="en-VN" dirty="0"/>
              <a:t>Microsoft Visual Studio</a:t>
            </a:r>
          </a:p>
          <a:p>
            <a:pPr lvl="1">
              <a:tabLst>
                <a:tab pos="177800" algn="l"/>
              </a:tabLst>
            </a:pPr>
            <a:r>
              <a:rPr lang="vi-VN" dirty="0"/>
              <a:t>Giới thiệu ngôn ngữ C#</a:t>
            </a:r>
          </a:p>
          <a:p>
            <a:pPr lvl="1">
              <a:tabLst>
                <a:tab pos="177800" algn="l"/>
              </a:tabLst>
            </a:pPr>
            <a:r>
              <a:rPr lang="vi-VN" dirty="0"/>
              <a:t>Các bước xây dựng chương trình C#</a:t>
            </a:r>
          </a:p>
          <a:p>
            <a:pPr lvl="1">
              <a:tabLst>
                <a:tab pos="177800" algn="l"/>
              </a:tabLst>
            </a:pPr>
            <a:r>
              <a:rPr lang="en-VN" dirty="0"/>
              <a:t>Hướng dẫn debug trên công cụ Microsoft Visual Studio</a:t>
            </a:r>
          </a:p>
          <a:p>
            <a:pPr marL="0" marR="0">
              <a:lnSpc>
                <a:spcPct val="115000"/>
              </a:lnSpc>
              <a:tabLst>
                <a:tab pos="177800" algn="l"/>
              </a:tabLst>
            </a:pPr>
            <a:r>
              <a:rPr lang="vi-VN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Chương 2. Ngữ pháp C# cơ bản</a:t>
            </a:r>
            <a:endParaRPr lang="en-VN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1"/>
            <a:r>
              <a:rPr lang="vi-VN" dirty="0"/>
              <a:t>Cấu trúc chương trình C#</a:t>
            </a:r>
            <a:endParaRPr lang="vi-VN" sz="1400" dirty="0"/>
          </a:p>
          <a:p>
            <a:pPr lvl="1"/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sz="1400" dirty="0"/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  <a:p>
            <a:pPr marL="471487" lvl="1" indent="0">
              <a:buNone/>
            </a:pPr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F43DB-EAFD-4433-A205-85364C0A4758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7</a:t>
            </a:fld>
            <a:r>
              <a:rPr lang="vi-VN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287909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202488" cy="5181600"/>
          </a:xfrm>
        </p:spPr>
        <p:txBody>
          <a:bodyPr/>
          <a:lstStyle/>
          <a:p>
            <a:r>
              <a:rPr lang="en-US" dirty="0" err="1"/>
              <a:t>Chương</a:t>
            </a:r>
            <a:r>
              <a:rPr lang="en-US" dirty="0"/>
              <a:t> 3.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C#</a:t>
            </a:r>
          </a:p>
          <a:p>
            <a:pPr marR="0" lvl="1">
              <a:lnSpc>
                <a:spcPct val="115000"/>
              </a:lnSpc>
              <a:tabLst>
                <a:tab pos="177800" algn="l"/>
              </a:tabLst>
            </a:pPr>
            <a:r>
              <a:rPr lang="vi-VN" dirty="0"/>
              <a:t>3.3 Mảng </a:t>
            </a:r>
            <a:endParaRPr lang="en-VN" dirty="0"/>
          </a:p>
          <a:p>
            <a:pPr marR="0" lvl="1">
              <a:lnSpc>
                <a:spcPct val="115000"/>
              </a:lnSpc>
              <a:tabLst>
                <a:tab pos="177800" algn="l"/>
              </a:tabLst>
            </a:pPr>
            <a:r>
              <a:rPr lang="vi-VN" dirty="0"/>
              <a:t>3.4 Danh sách</a:t>
            </a:r>
            <a:endParaRPr lang="en-VN" dirty="0"/>
          </a:p>
          <a:p>
            <a:pPr marR="0" lvl="1">
              <a:lnSpc>
                <a:spcPct val="115000"/>
              </a:lnSpc>
              <a:tabLst>
                <a:tab pos="177800" algn="l"/>
              </a:tabLst>
            </a:pPr>
            <a:r>
              <a:rPr lang="vi-VN" dirty="0"/>
              <a:t>3.5 Sử dụng Generic</a:t>
            </a:r>
            <a:endParaRPr lang="en-VN" dirty="0"/>
          </a:p>
          <a:p>
            <a:pPr marR="0" lvl="1">
              <a:lnSpc>
                <a:spcPct val="115000"/>
              </a:lnSpc>
              <a:tabLst>
                <a:tab pos="177800" algn="l"/>
              </a:tabLst>
            </a:pPr>
            <a:r>
              <a:rPr lang="vi-VN" dirty="0"/>
              <a:t>3.6 Xử lý ngoại lệ</a:t>
            </a:r>
            <a:endParaRPr lang="en-VN" dirty="0"/>
          </a:p>
          <a:p>
            <a:r>
              <a:rPr lang="en-US" dirty="0" err="1"/>
              <a:t>Chương</a:t>
            </a:r>
            <a:r>
              <a:rPr lang="en-US" dirty="0"/>
              <a:t> 4.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Windows</a:t>
            </a:r>
          </a:p>
          <a:p>
            <a:pPr lvl="1"/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Windows</a:t>
            </a:r>
          </a:p>
          <a:p>
            <a:pPr lvl="1"/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Windows forms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hộp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lvl="1"/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mẫu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4AF0A-E8C0-4E7B-AC45-4C866626C00B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8</a:t>
            </a:fld>
            <a:r>
              <a:rPr lang="vi-VN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3560192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Chương</a:t>
            </a:r>
            <a:r>
              <a:rPr lang="en-US" dirty="0"/>
              <a:t> 5.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1"/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ADO.NET</a:t>
            </a:r>
          </a:p>
          <a:p>
            <a:pPr lvl="1"/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ADO.NET</a:t>
            </a:r>
          </a:p>
          <a:p>
            <a:r>
              <a:rPr lang="en-US" dirty="0" err="1"/>
              <a:t>Chương</a:t>
            </a:r>
            <a:r>
              <a:rPr lang="en-US" dirty="0"/>
              <a:t> 6.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lang="en-US" dirty="0"/>
          </a:p>
          <a:p>
            <a:pPr marL="471487" lvl="1" indent="0">
              <a:buNone/>
            </a:pPr>
            <a:endParaRPr lang="en-US" dirty="0"/>
          </a:p>
          <a:p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794C-502D-4B9C-8478-724F070B82F5}" type="datetime1">
              <a:rPr lang="vi-VN" smtClean="0"/>
              <a:t>06/01/2026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9</a:t>
            </a:fld>
            <a:r>
              <a:rPr lang="vi-VN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285051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Tiến trình học tập</a:t>
            </a:r>
            <a:endParaRPr lang="vi-VN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438600"/>
              </p:ext>
            </p:extLst>
          </p:nvPr>
        </p:nvGraphicFramePr>
        <p:xfrm>
          <a:off x="457200" y="1143000"/>
          <a:ext cx="8291264" cy="5094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9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03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Buổi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Nội</a:t>
                      </a:r>
                      <a:r>
                        <a:rPr lang="en-US" sz="2000" baseline="0"/>
                        <a:t> dung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baseline="0"/>
                        <a:t>ĐĐ</a:t>
                      </a:r>
                      <a:endParaRPr lang="vi-VN" sz="2000" b="1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Buổi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Nội</a:t>
                      </a:r>
                      <a:r>
                        <a:rPr lang="en-US" sz="2000" baseline="0"/>
                        <a:t> dung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baseline="0"/>
                        <a:t>ĐĐ</a:t>
                      </a:r>
                      <a:endParaRPr lang="vi-VN" sz="2000" b="1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Chương</a:t>
                      </a:r>
                      <a:r>
                        <a:rPr lang="en-US" sz="2000" dirty="0"/>
                        <a:t> 1</a:t>
                      </a:r>
                      <a:endParaRPr lang="vi-VN" sz="20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GĐ</a:t>
                      </a:r>
                      <a:endParaRPr lang="vi-VN" sz="2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9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Chương</a:t>
                      </a:r>
                      <a:r>
                        <a:rPr lang="en-US" sz="2000" baseline="0"/>
                        <a:t> 4 + TH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rgbClr val="000066"/>
                          </a:solidFill>
                        </a:rPr>
                        <a:t>PM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2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Chương 2 + TH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</a:t>
                      </a:r>
                      <a:endParaRPr lang="vi-VN" sz="2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  <a:endParaRPr lang="vi-VN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Chương</a:t>
                      </a:r>
                      <a:r>
                        <a:rPr lang="en-US" baseline="0"/>
                        <a:t> 5</a:t>
                      </a:r>
                      <a:endParaRPr lang="vi-VN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GĐ</a:t>
                      </a:r>
                      <a:endParaRPr lang="vi-VN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3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>
                          <a:solidFill>
                            <a:srgbClr val="000066"/>
                          </a:solidFill>
                        </a:rPr>
                        <a:t>Chương</a:t>
                      </a:r>
                      <a:r>
                        <a:rPr lang="en-US" sz="2000" baseline="0">
                          <a:solidFill>
                            <a:srgbClr val="000066"/>
                          </a:solidFill>
                        </a:rPr>
                        <a:t> 3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GĐ</a:t>
                      </a:r>
                      <a:endParaRPr lang="vi-VN" sz="2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11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Chương 5 +</a:t>
                      </a:r>
                      <a:r>
                        <a:rPr lang="en-US" sz="2000" baseline="0"/>
                        <a:t> TH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rgbClr val="000066"/>
                          </a:solidFill>
                        </a:rPr>
                        <a:t>PM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4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Chương</a:t>
                      </a:r>
                      <a:r>
                        <a:rPr lang="en-US" sz="2000" dirty="0"/>
                        <a:t> 3 + TH </a:t>
                      </a:r>
                      <a:endParaRPr lang="vi-VN" sz="20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</a:t>
                      </a:r>
                      <a:endParaRPr lang="vi-VN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12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Chương</a:t>
                      </a:r>
                      <a:r>
                        <a:rPr lang="en-US" sz="2000" baseline="0">
                          <a:solidFill>
                            <a:schemeClr val="dk1"/>
                          </a:solidFill>
                        </a:rPr>
                        <a:t> 5 + TH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rgbClr val="000066"/>
                          </a:solidFill>
                        </a:rPr>
                        <a:t>PM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5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Chương</a:t>
                      </a:r>
                      <a:r>
                        <a:rPr lang="en-US" baseline="0" dirty="0"/>
                        <a:t> 4  + TH</a:t>
                      </a:r>
                      <a:endParaRPr lang="vi-V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</a:t>
                      </a:r>
                      <a:endParaRPr lang="vi-VN" sz="2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13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Chương</a:t>
                      </a:r>
                      <a:r>
                        <a:rPr lang="en-US" sz="2000" baseline="0" dirty="0"/>
                        <a:t> 5 + TH</a:t>
                      </a:r>
                      <a:endParaRPr lang="vi-VN" sz="20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rgbClr val="000066"/>
                          </a:solidFill>
                        </a:rPr>
                        <a:t>PM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6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Chương</a:t>
                      </a:r>
                      <a:r>
                        <a:rPr lang="en-US" sz="2000" baseline="0" dirty="0"/>
                        <a:t> 4  + TH</a:t>
                      </a:r>
                      <a:endParaRPr lang="vi-VN" sz="2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</a:t>
                      </a:r>
                      <a:endParaRPr lang="vi-VN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14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Chương</a:t>
                      </a:r>
                      <a:r>
                        <a:rPr lang="en-US" sz="2000" dirty="0"/>
                        <a:t> 6 + TH</a:t>
                      </a:r>
                      <a:endParaRPr lang="vi-VN" sz="20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66"/>
                          </a:solidFill>
                        </a:rPr>
                        <a:t>PM</a:t>
                      </a:r>
                      <a:endParaRPr lang="vi-VN" sz="20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7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rgbClr val="000066"/>
                          </a:solidFill>
                        </a:rPr>
                        <a:t>Chương</a:t>
                      </a:r>
                      <a:r>
                        <a:rPr lang="en-US" sz="2000" baseline="0" dirty="0">
                          <a:solidFill>
                            <a:srgbClr val="000066"/>
                          </a:solidFill>
                        </a:rPr>
                        <a:t> 4 + TH</a:t>
                      </a:r>
                      <a:endParaRPr lang="vi-VN" sz="20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</a:t>
                      </a:r>
                      <a:endParaRPr lang="vi-VN" sz="20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15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6DFB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dk1"/>
                          </a:solidFill>
                        </a:rPr>
                        <a:t>Kiểm</a:t>
                      </a:r>
                      <a:r>
                        <a:rPr lang="en-US" sz="20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dk1"/>
                          </a:solidFill>
                        </a:rPr>
                        <a:t>tra</a:t>
                      </a:r>
                      <a:r>
                        <a:rPr lang="en-US" sz="2000" baseline="0" dirty="0">
                          <a:solidFill>
                            <a:schemeClr val="dk1"/>
                          </a:solidFill>
                        </a:rPr>
                        <a:t> 2</a:t>
                      </a:r>
                      <a:endParaRPr lang="vi-VN" sz="20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6DFB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66"/>
                          </a:solidFill>
                        </a:rPr>
                        <a:t>PM</a:t>
                      </a:r>
                      <a:endParaRPr lang="vi-VN" sz="20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6DFB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vi-V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DFB8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Kiểm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endParaRPr lang="vi-V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DFB8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</a:t>
                      </a:r>
                      <a:endParaRPr lang="vi-V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DFB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16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dk1"/>
                          </a:solidFill>
                        </a:rPr>
                        <a:t>Ôn</a:t>
                      </a:r>
                      <a:r>
                        <a:rPr lang="en-US" sz="2000" baseline="0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dk1"/>
                          </a:solidFill>
                        </a:rPr>
                        <a:t>tập</a:t>
                      </a:r>
                      <a:endParaRPr lang="vi-VN" sz="20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66"/>
                          </a:solidFill>
                        </a:rPr>
                        <a:t>GĐ</a:t>
                      </a:r>
                      <a:endParaRPr lang="vi-VN" sz="2000" dirty="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ACB3-CB88-4EE4-B9CE-342F7AEF750A}" type="datetime1">
              <a:rPr lang="vi-VN" smtClean="0"/>
              <a:t>06/01/2026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10</a:t>
            </a:fld>
            <a:r>
              <a:rPr lang="vi-VN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2595032555"/>
      </p:ext>
    </p:extLst>
  </p:cSld>
  <p:clrMapOvr>
    <a:masterClrMapping/>
  </p:clrMapOvr>
</p:sld>
</file>

<file path=ppt/theme/theme1.xml><?xml version="1.0" encoding="utf-8"?>
<a:theme xmlns:a="http://schemas.openxmlformats.org/drawingml/2006/main" name="MM_Lec1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 3-Mang may tinh</Template>
  <TotalTime>1115</TotalTime>
  <Words>715</Words>
  <Application>Microsoft Macintosh PowerPoint</Application>
  <PresentationFormat>On-screen Show (4:3)</PresentationFormat>
  <Paragraphs>153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Noto Sans Symbols</vt:lpstr>
      <vt:lpstr>Tahoma</vt:lpstr>
      <vt:lpstr>Wingdings</vt:lpstr>
      <vt:lpstr>MM_Lec1</vt:lpstr>
      <vt:lpstr>Lập trình .NET</vt:lpstr>
      <vt:lpstr>Giới thiệu môn học</vt:lpstr>
      <vt:lpstr>PowerPoint Presentation</vt:lpstr>
      <vt:lpstr>Tài liệu tham khảo</vt:lpstr>
      <vt:lpstr>Công cụ cần thiết</vt:lpstr>
      <vt:lpstr>Yêu cầu đối với sinh viên</vt:lpstr>
      <vt:lpstr>Nội dung</vt:lpstr>
      <vt:lpstr>Nội dung</vt:lpstr>
      <vt:lpstr>Nội dung</vt:lpstr>
      <vt:lpstr>Tiến trình học tập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SỞ LẬP TRÌNH 1</dc:title>
  <dc:creator>Quy Tai</dc:creator>
  <cp:lastModifiedBy>hue tran</cp:lastModifiedBy>
  <cp:revision>55</cp:revision>
  <dcterms:created xsi:type="dcterms:W3CDTF">2011-07-17T01:46:34Z</dcterms:created>
  <dcterms:modified xsi:type="dcterms:W3CDTF">2026-01-06T00:43:28Z</dcterms:modified>
</cp:coreProperties>
</file>