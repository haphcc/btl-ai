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72" r:id="rId1"/>
  </p:sldMasterIdLst>
  <p:notesMasterIdLst>
    <p:notesMasterId r:id="rId23"/>
  </p:notesMasterIdLst>
  <p:sldIdLst>
    <p:sldId id="256" r:id="rId2"/>
    <p:sldId id="258" r:id="rId3"/>
    <p:sldId id="259" r:id="rId4"/>
    <p:sldId id="260" r:id="rId5"/>
    <p:sldId id="277" r:id="rId6"/>
    <p:sldId id="262" r:id="rId7"/>
    <p:sldId id="263" r:id="rId8"/>
    <p:sldId id="261" r:id="rId9"/>
    <p:sldId id="278" r:id="rId10"/>
    <p:sldId id="279" r:id="rId11"/>
    <p:sldId id="280" r:id="rId12"/>
    <p:sldId id="281" r:id="rId13"/>
    <p:sldId id="282" r:id="rId14"/>
    <p:sldId id="283" r:id="rId15"/>
    <p:sldId id="284" r:id="rId16"/>
    <p:sldId id="285" r:id="rId17"/>
    <p:sldId id="286" r:id="rId18"/>
    <p:sldId id="287" r:id="rId19"/>
    <p:sldId id="288" r:id="rId20"/>
    <p:sldId id="275" r:id="rId21"/>
    <p:sldId id="276" r:id="rId22"/>
  </p:sldIdLst>
  <p:sldSz cx="9144000" cy="6858000" type="screen4x3"/>
  <p:notesSz cx="6858000" cy="9144000"/>
  <p:defaultTextStyle>
    <a:defPPr>
      <a:defRPr lang="vi-V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66"/>
    <a:srgbClr val="0000FF"/>
    <a:srgbClr val="6DFB8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87302" autoAdjust="0"/>
  </p:normalViewPr>
  <p:slideViewPr>
    <p:cSldViewPr>
      <p:cViewPr varScale="1">
        <p:scale>
          <a:sx n="68" d="100"/>
          <a:sy n="68" d="100"/>
        </p:scale>
        <p:origin x="1810" y="67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vi-V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FB59136-7F74-4509-B20E-AE351757F38F}" type="datetimeFigureOut">
              <a:rPr lang="vi-VN" smtClean="0"/>
              <a:pPr/>
              <a:t>14/01/2024</a:t>
            </a:fld>
            <a:endParaRPr lang="vi-V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vi-V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vi-V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vi-V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EA7600A-770C-47F1-89C1-5023B6D362E3}" type="slidenum">
              <a:rPr lang="vi-VN" smtClean="0"/>
              <a:pPr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47537440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0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7891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CA"/>
          </a:p>
        </p:txBody>
      </p:sp>
      <p:sp>
        <p:nvSpPr>
          <p:cNvPr id="37892" name="Slide Number Placeholder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>
              <a:defRPr/>
            </a:pPr>
            <a:fld id="{D29B9B7D-E08A-4B03-BF38-0ACC58C0602B}" type="slidenum">
              <a:rPr lang="en-US" smtClean="0"/>
              <a:pPr>
                <a:defRPr/>
              </a:pPr>
              <a:t>3</a:t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8915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CA"/>
          </a:p>
        </p:txBody>
      </p:sp>
      <p:sp>
        <p:nvSpPr>
          <p:cNvPr id="38916" name="Slide Number Placeholder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>
              <a:defRPr/>
            </a:pPr>
            <a:fld id="{56782AC8-2971-421A-BBE1-C19C6E12F9CF}" type="slidenum">
              <a:rPr lang="en-US" smtClean="0"/>
              <a:pPr>
                <a:defRPr/>
              </a:pPr>
              <a:t>4</a:t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2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40963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CA"/>
          </a:p>
        </p:txBody>
      </p:sp>
      <p:sp>
        <p:nvSpPr>
          <p:cNvPr id="40964" name="Slide Number Placeholder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>
              <a:defRPr/>
            </a:pPr>
            <a:fld id="{9089B692-5004-4BBC-8624-76F2804C1CBF}" type="slidenum">
              <a:rPr lang="en-US" smtClean="0"/>
              <a:pPr>
                <a:defRPr/>
              </a:pPr>
              <a:t>6</a:t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6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41987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CA"/>
          </a:p>
        </p:txBody>
      </p:sp>
      <p:sp>
        <p:nvSpPr>
          <p:cNvPr id="41988" name="Slide Number Placeholder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>
              <a:defRPr/>
            </a:pPr>
            <a:fld id="{FD5CAEC2-57B6-4AD5-9848-152FAEF88685}" type="slidenum">
              <a:rPr lang="en-US" smtClean="0"/>
              <a:pPr>
                <a:defRPr/>
              </a:pPr>
              <a:t>7</a:t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8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9939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CA"/>
          </a:p>
        </p:txBody>
      </p:sp>
      <p:sp>
        <p:nvSpPr>
          <p:cNvPr id="39940" name="Slide Number Placeholder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>
              <a:defRPr/>
            </a:pPr>
            <a:fld id="{B919072A-5EF1-4E99-8378-6F98D51155F2}" type="slidenum">
              <a:rPr lang="en-US" smtClean="0"/>
              <a:pPr>
                <a:defRPr/>
              </a:pPr>
              <a:t>8</a:t>
            </a:fld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vi-VN" dirty="0"/>
              <a:t>//Viet xau theo chieu nguoc</a:t>
            </a:r>
          </a:p>
          <a:p>
            <a:r>
              <a:rPr lang="vi-VN" dirty="0"/>
              <a:t>for (int i=strlen(str)-1;i&gt;=0;i--) putchar(str[i]);</a:t>
            </a:r>
          </a:p>
          <a:p>
            <a:r>
              <a:rPr lang="vi-VN" dirty="0"/>
              <a:t>//Chuyen</a:t>
            </a:r>
            <a:r>
              <a:rPr lang="vi-VN" baseline="0" dirty="0"/>
              <a:t> thanh chu hoa</a:t>
            </a:r>
          </a:p>
          <a:p>
            <a:r>
              <a:rPr lang="vi-VN" dirty="0"/>
              <a:t>for (int j=0;j&lt;strlen(str);j++) </a:t>
            </a:r>
          </a:p>
          <a:p>
            <a:r>
              <a:rPr lang="vi-VN" dirty="0"/>
              <a:t>        if ((str[j]&gt;='a')&amp;&amp;(str[j]&lt;='z')) str[j]=str[j]-32;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EA7600A-770C-47F1-89C1-5023B6D362E3}" type="slidenum">
              <a:rPr lang="vi-VN" smtClean="0"/>
              <a:pPr/>
              <a:t>10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213847452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74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54275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CA"/>
          </a:p>
        </p:txBody>
      </p:sp>
      <p:sp>
        <p:nvSpPr>
          <p:cNvPr id="54276" name="Slide Number Placeholder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>
              <a:defRPr/>
            </a:pPr>
            <a:fld id="{F684AB8E-3030-4361-AA3B-2255DCA137D7}" type="slidenum">
              <a:rPr lang="en-US" smtClean="0"/>
              <a:pPr>
                <a:defRPr/>
              </a:pPr>
              <a:t>20</a:t>
            </a:fld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98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55299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CA"/>
          </a:p>
        </p:txBody>
      </p:sp>
      <p:sp>
        <p:nvSpPr>
          <p:cNvPr id="55300" name="Slide Number Placeholder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>
              <a:defRPr/>
            </a:pPr>
            <a:fld id="{48EB5BA7-9AB9-4DC6-AB98-334BC376192E}" type="slidenum">
              <a:rPr lang="en-US" smtClean="0"/>
              <a:pPr>
                <a:defRPr/>
              </a:pPr>
              <a:t>21</a:t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AutoShape 24"/>
          <p:cNvSpPr>
            <a:spLocks noChangeArrowheads="1"/>
          </p:cNvSpPr>
          <p:nvPr/>
        </p:nvSpPr>
        <p:spPr bwMode="auto">
          <a:xfrm>
            <a:off x="1066800" y="3581400"/>
            <a:ext cx="7543800" cy="76200"/>
          </a:xfrm>
          <a:custGeom>
            <a:avLst/>
            <a:gdLst>
              <a:gd name="T0" fmla="*/ 0 w 1000"/>
              <a:gd name="T1" fmla="*/ 0 h 1000"/>
              <a:gd name="T2" fmla="*/ 585 w 1000"/>
              <a:gd name="T3" fmla="*/ 0 h 1000"/>
              <a:gd name="T4" fmla="*/ 585 w 1000"/>
              <a:gd name="T5" fmla="*/ 1000 h 1000"/>
              <a:gd name="T6" fmla="*/ 0 w 1000"/>
              <a:gd name="T7" fmla="*/ 1000 h 1000"/>
              <a:gd name="T8" fmla="*/ 0 w 1000"/>
              <a:gd name="T9" fmla="*/ 0 h 1000"/>
              <a:gd name="T10" fmla="*/ 1000 w 1000"/>
              <a:gd name="T11" fmla="*/ 0 h 1000"/>
              <a:gd name="T12" fmla="*/ 0 60000 65536"/>
              <a:gd name="T13" fmla="*/ 0 60000 65536"/>
              <a:gd name="T14" fmla="*/ 0 60000 65536"/>
              <a:gd name="T15" fmla="*/ 0 60000 65536"/>
              <a:gd name="T16" fmla="*/ 0 60000 65536"/>
              <a:gd name="T17" fmla="*/ 0 60000 65536"/>
            </a:gdLst>
            <a:ahLst/>
            <a:cxnLst>
              <a:cxn ang="T12">
                <a:pos x="T0" y="T1"/>
              </a:cxn>
              <a:cxn ang="T13">
                <a:pos x="T2" y="T3"/>
              </a:cxn>
              <a:cxn ang="T14">
                <a:pos x="T4" y="T5"/>
              </a:cxn>
              <a:cxn ang="T15">
                <a:pos x="T6" y="T7"/>
              </a:cxn>
              <a:cxn ang="T16">
                <a:pos x="T8" y="T9"/>
              </a:cxn>
              <a:cxn ang="T17">
                <a:pos x="T10" y="T11"/>
              </a:cxn>
            </a:cxnLst>
            <a:rect l="0" t="0" r="r" b="b"/>
            <a:pathLst>
              <a:path w="1000" h="1000" stroke="0">
                <a:moveTo>
                  <a:pt x="0" y="0"/>
                </a:moveTo>
                <a:lnTo>
                  <a:pt x="585" y="0"/>
                </a:lnTo>
                <a:lnTo>
                  <a:pt x="585" y="1000"/>
                </a:lnTo>
                <a:lnTo>
                  <a:pt x="0" y="1000"/>
                </a:lnTo>
                <a:lnTo>
                  <a:pt x="0" y="0"/>
                </a:lnTo>
                <a:close/>
              </a:path>
              <a:path w="1000" h="1000">
                <a:moveTo>
                  <a:pt x="0" y="0"/>
                </a:moveTo>
                <a:lnTo>
                  <a:pt x="1000" y="0"/>
                </a:lnTo>
              </a:path>
            </a:pathLst>
          </a:custGeom>
          <a:solidFill>
            <a:schemeClr val="accent2"/>
          </a:solidFill>
          <a:ln w="28575">
            <a:solidFill>
              <a:schemeClr val="accent2"/>
            </a:solidFill>
            <a:round/>
            <a:headEnd/>
            <a:tailEnd/>
          </a:ln>
        </p:spPr>
        <p:txBody>
          <a:bodyPr/>
          <a:lstStyle/>
          <a:p>
            <a:endParaRPr lang="vi-VN"/>
          </a:p>
        </p:txBody>
      </p:sp>
      <p:sp>
        <p:nvSpPr>
          <p:cNvPr id="5122" name="Rectangle 2"/>
          <p:cNvSpPr>
            <a:spLocks noGrp="1" noChangeArrowheads="1"/>
          </p:cNvSpPr>
          <p:nvPr>
            <p:ph type="ctrTitle"/>
          </p:nvPr>
        </p:nvSpPr>
        <p:spPr>
          <a:xfrm>
            <a:off x="1066800" y="2590800"/>
            <a:ext cx="7620000" cy="990600"/>
          </a:xfrm>
        </p:spPr>
        <p:txBody>
          <a:bodyPr/>
          <a:lstStyle>
            <a:lvl1pPr>
              <a:defRPr sz="3600" b="1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5123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1295400" y="4495800"/>
            <a:ext cx="7010400" cy="990600"/>
          </a:xfrm>
        </p:spPr>
        <p:txBody>
          <a:bodyPr/>
          <a:lstStyle>
            <a:lvl1pPr marL="0" indent="0" algn="ctr">
              <a:buFont typeface="Wingdings" pitchFamily="2" charset="2"/>
              <a:buNone/>
              <a:defRPr sz="2200"/>
            </a:lvl1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dt" sz="half" idx="10"/>
          </p:nvPr>
        </p:nvSpPr>
        <p:spPr>
          <a:xfrm>
            <a:off x="685800" y="6248400"/>
            <a:ext cx="1905000" cy="457200"/>
          </a:xfrm>
        </p:spPr>
        <p:txBody>
          <a:bodyPr/>
          <a:lstStyle>
            <a:lvl1pPr>
              <a:defRPr smtClean="0"/>
            </a:lvl1pPr>
          </a:lstStyle>
          <a:p>
            <a:fld id="{C549F031-390D-4589-91D1-E244B6872EB3}" type="datetime1">
              <a:rPr lang="vi-VN" smtClean="0"/>
              <a:pPr/>
              <a:t>14/01/2024</a:t>
            </a:fld>
            <a:endParaRPr lang="vi-VN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ftr" sz="quarter" idx="11"/>
          </p:nvPr>
        </p:nvSpPr>
        <p:spPr>
          <a:xfrm>
            <a:off x="2643188" y="6248400"/>
            <a:ext cx="4357687" cy="457200"/>
          </a:xfrm>
        </p:spPr>
        <p:txBody>
          <a:bodyPr/>
          <a:lstStyle>
            <a:lvl1pPr>
              <a:defRPr smtClean="0"/>
            </a:lvl1pPr>
          </a:lstStyle>
          <a:p>
            <a:r>
              <a:rPr lang="vi-VN"/>
              <a:t>Chương 7 - Xâu kí tự</a:t>
            </a:r>
          </a:p>
        </p:txBody>
      </p:sp>
      <p:sp>
        <p:nvSpPr>
          <p:cNvPr id="8" name="Rectangle 7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7215188" y="6248400"/>
            <a:ext cx="1243012" cy="457200"/>
          </a:xfrm>
        </p:spPr>
        <p:txBody>
          <a:bodyPr/>
          <a:lstStyle>
            <a:lvl1pPr>
              <a:defRPr/>
            </a:lvl1pPr>
          </a:lstStyle>
          <a:p>
            <a:fld id="{5AB95402-1E0D-474E-8D8C-CBE7F053639E}" type="slidenum">
              <a:rPr lang="vi-VN" smtClean="0"/>
              <a:pPr/>
              <a:t>‹#›</a:t>
            </a:fld>
            <a:endParaRPr lang="vi-VN"/>
          </a:p>
        </p:txBody>
      </p:sp>
      <p:pic>
        <p:nvPicPr>
          <p:cNvPr id="9" name="Content Placeholder 3"/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7736" b="29726"/>
          <a:stretch/>
        </p:blipFill>
        <p:spPr bwMode="auto">
          <a:xfrm>
            <a:off x="-3829" y="0"/>
            <a:ext cx="9144000" cy="156117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46149964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 algn="just">
              <a:defRPr sz="2800"/>
            </a:lvl1pPr>
            <a:lvl2pPr algn="just">
              <a:defRPr sz="2400">
                <a:solidFill>
                  <a:srgbClr val="0000FF"/>
                </a:solidFill>
              </a:defRPr>
            </a:lvl2pPr>
            <a:lvl3pPr algn="just">
              <a:defRPr sz="2000">
                <a:solidFill>
                  <a:srgbClr val="002060"/>
                </a:solidFill>
              </a:defRPr>
            </a:lvl3pPr>
            <a:lvl4pPr algn="just">
              <a:defRPr sz="1800">
                <a:solidFill>
                  <a:srgbClr val="000066"/>
                </a:solidFill>
              </a:defRPr>
            </a:lvl4pPr>
            <a:lvl5pPr algn="just">
              <a:defRPr sz="180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6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CDB41BFF-4493-4F34-8A99-B97CD47D31D3}" type="datetime1">
              <a:rPr lang="vi-VN" smtClean="0"/>
              <a:pPr/>
              <a:t>14/01/2024</a:t>
            </a:fld>
            <a:endParaRPr lang="vi-VN"/>
          </a:p>
        </p:txBody>
      </p:sp>
      <p:sp>
        <p:nvSpPr>
          <p:cNvPr id="5" name="Rectangle 7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r>
              <a:rPr lang="vi-VN"/>
              <a:t>Chương 7 - Xâu kí tự</a:t>
            </a:r>
          </a:p>
        </p:txBody>
      </p:sp>
      <p:sp>
        <p:nvSpPr>
          <p:cNvPr id="6" name="Rectangle 8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5AB95402-1E0D-474E-8D8C-CBE7F053639E}" type="slidenum">
              <a:rPr lang="vi-VN" smtClean="0"/>
              <a:pPr/>
              <a:t>‹#›</a:t>
            </a:fld>
            <a:r>
              <a:rPr lang="vi-VN"/>
              <a:t>/21</a:t>
            </a:r>
          </a:p>
        </p:txBody>
      </p:sp>
    </p:spTree>
    <p:extLst>
      <p:ext uri="{BB962C8B-B14F-4D97-AF65-F5344CB8AC3E}">
        <p14:creationId xmlns:p14="http://schemas.microsoft.com/office/powerpoint/2010/main" val="68343768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Rectangle 6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 smtClean="0"/>
            </a:lvl1pPr>
          </a:lstStyle>
          <a:p>
            <a:fld id="{9DD13D48-6C4D-4FDD-A5E7-75E164D906D6}" type="datetime1">
              <a:rPr lang="vi-VN" smtClean="0"/>
              <a:pPr/>
              <a:t>14/01/2024</a:t>
            </a:fld>
            <a:endParaRPr lang="vi-VN"/>
          </a:p>
        </p:txBody>
      </p:sp>
      <p:sp>
        <p:nvSpPr>
          <p:cNvPr id="5" name="Rectangle 7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 smtClean="0"/>
            </a:lvl1pPr>
          </a:lstStyle>
          <a:p>
            <a:r>
              <a:rPr lang="vi-VN"/>
              <a:t>Chương 7 - Xâu kí tự</a:t>
            </a:r>
          </a:p>
        </p:txBody>
      </p:sp>
      <p:sp>
        <p:nvSpPr>
          <p:cNvPr id="6" name="Rectangle 8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 smtClean="0"/>
            </a:lvl1pPr>
          </a:lstStyle>
          <a:p>
            <a:fld id="{5AB95402-1E0D-474E-8D8C-CBE7F053639E}" type="slidenum">
              <a:rPr lang="vi-VN" smtClean="0"/>
              <a:pPr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140083699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762000" y="1143000"/>
            <a:ext cx="3886200" cy="51816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800600" y="1143000"/>
            <a:ext cx="3886200" cy="51816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Rectangle 6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 smtClean="0"/>
            </a:lvl1pPr>
          </a:lstStyle>
          <a:p>
            <a:fld id="{D1662F4E-D3B2-4630-9E4B-CA94BF8AA2F3}" type="datetime1">
              <a:rPr lang="vi-VN" smtClean="0"/>
              <a:pPr/>
              <a:t>14/01/2024</a:t>
            </a:fld>
            <a:endParaRPr lang="vi-VN"/>
          </a:p>
        </p:txBody>
      </p:sp>
      <p:sp>
        <p:nvSpPr>
          <p:cNvPr id="6" name="Rectangle 7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 smtClean="0"/>
            </a:lvl1pPr>
          </a:lstStyle>
          <a:p>
            <a:r>
              <a:rPr lang="vi-VN"/>
              <a:t>Chương 7 - Xâu kí tự</a:t>
            </a:r>
          </a:p>
        </p:txBody>
      </p:sp>
      <p:sp>
        <p:nvSpPr>
          <p:cNvPr id="7" name="Rectangle 8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 smtClean="0"/>
            </a:lvl1pPr>
          </a:lstStyle>
          <a:p>
            <a:fld id="{5AB95402-1E0D-474E-8D8C-CBE7F053639E}" type="slidenum">
              <a:rPr lang="vi-VN" smtClean="0"/>
              <a:pPr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238079831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Rectangle 6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 smtClean="0"/>
            </a:lvl1pPr>
          </a:lstStyle>
          <a:p>
            <a:fld id="{5F5D7A09-8697-43A5-8544-37B437DF4725}" type="datetime1">
              <a:rPr lang="vi-VN" smtClean="0"/>
              <a:pPr/>
              <a:t>14/01/2024</a:t>
            </a:fld>
            <a:endParaRPr lang="vi-VN"/>
          </a:p>
        </p:txBody>
      </p:sp>
      <p:sp>
        <p:nvSpPr>
          <p:cNvPr id="8" name="Rectangle 7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 smtClean="0"/>
            </a:lvl1pPr>
          </a:lstStyle>
          <a:p>
            <a:r>
              <a:rPr lang="vi-VN"/>
              <a:t>Chương 7 - Xâu kí tự</a:t>
            </a:r>
          </a:p>
        </p:txBody>
      </p:sp>
      <p:sp>
        <p:nvSpPr>
          <p:cNvPr id="9" name="Rectangle 8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AB95402-1E0D-474E-8D8C-CBE7F053639E}" type="slidenum">
              <a:rPr lang="vi-VN" smtClean="0"/>
              <a:pPr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131303339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Rectangle 6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 smtClean="0"/>
            </a:lvl1pPr>
          </a:lstStyle>
          <a:p>
            <a:fld id="{22E0A2D5-6E01-496F-B363-0D4BA44A0365}" type="datetime1">
              <a:rPr lang="vi-VN" smtClean="0"/>
              <a:pPr/>
              <a:t>14/01/2024</a:t>
            </a:fld>
            <a:endParaRPr lang="vi-VN"/>
          </a:p>
        </p:txBody>
      </p:sp>
      <p:sp>
        <p:nvSpPr>
          <p:cNvPr id="4" name="Rectangle 7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 smtClean="0"/>
            </a:lvl1pPr>
          </a:lstStyle>
          <a:p>
            <a:r>
              <a:rPr lang="vi-VN"/>
              <a:t>Chương 7 - Xâu kí tự</a:t>
            </a:r>
          </a:p>
        </p:txBody>
      </p:sp>
      <p:sp>
        <p:nvSpPr>
          <p:cNvPr id="5" name="Rectangle 8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AB95402-1E0D-474E-8D8C-CBE7F053639E}" type="slidenum">
              <a:rPr lang="vi-VN" smtClean="0"/>
              <a:pPr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302728425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6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 smtClean="0"/>
            </a:lvl1pPr>
          </a:lstStyle>
          <a:p>
            <a:fld id="{8E4B3214-C124-489B-BFFB-0F045D72FB91}" type="datetime1">
              <a:rPr lang="vi-VN" smtClean="0"/>
              <a:pPr/>
              <a:t>14/01/2024</a:t>
            </a:fld>
            <a:endParaRPr lang="vi-VN"/>
          </a:p>
        </p:txBody>
      </p:sp>
      <p:sp>
        <p:nvSpPr>
          <p:cNvPr id="3" name="Rectangle 7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 smtClean="0"/>
            </a:lvl1pPr>
          </a:lstStyle>
          <a:p>
            <a:r>
              <a:rPr lang="vi-VN"/>
              <a:t>Chương 7 - Xâu kí tự</a:t>
            </a:r>
          </a:p>
        </p:txBody>
      </p:sp>
      <p:sp>
        <p:nvSpPr>
          <p:cNvPr id="4" name="Rectangle 8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AB95402-1E0D-474E-8D8C-CBE7F053639E}" type="slidenum">
              <a:rPr lang="vi-VN" smtClean="0"/>
              <a:pPr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206297343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6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 smtClean="0"/>
            </a:lvl1pPr>
          </a:lstStyle>
          <a:p>
            <a:fld id="{94749FC8-0B03-4228-9DD0-BD30632A0AA0}" type="datetime1">
              <a:rPr lang="vi-VN" smtClean="0"/>
              <a:pPr/>
              <a:t>14/01/2024</a:t>
            </a:fld>
            <a:endParaRPr lang="vi-VN"/>
          </a:p>
        </p:txBody>
      </p:sp>
      <p:sp>
        <p:nvSpPr>
          <p:cNvPr id="6" name="Rectangle 7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 smtClean="0"/>
            </a:lvl1pPr>
          </a:lstStyle>
          <a:p>
            <a:r>
              <a:rPr lang="vi-VN"/>
              <a:t>Chương 7 - Xâu kí tự</a:t>
            </a:r>
          </a:p>
        </p:txBody>
      </p:sp>
      <p:sp>
        <p:nvSpPr>
          <p:cNvPr id="7" name="Rectangle 8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AB95402-1E0D-474E-8D8C-CBE7F053639E}" type="slidenum">
              <a:rPr lang="vi-VN" smtClean="0"/>
              <a:pPr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56410324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6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 smtClean="0"/>
            </a:lvl1pPr>
          </a:lstStyle>
          <a:p>
            <a:fld id="{18EF28A7-C3D6-4780-953E-83323E99427D}" type="datetime1">
              <a:rPr lang="vi-VN" smtClean="0"/>
              <a:pPr/>
              <a:t>14/01/2024</a:t>
            </a:fld>
            <a:endParaRPr lang="vi-VN"/>
          </a:p>
        </p:txBody>
      </p:sp>
      <p:sp>
        <p:nvSpPr>
          <p:cNvPr id="6" name="Rectangle 7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 smtClean="0"/>
            </a:lvl1pPr>
          </a:lstStyle>
          <a:p>
            <a:r>
              <a:rPr lang="vi-VN"/>
              <a:t>Chương 7 - Xâu kí tự</a:t>
            </a:r>
          </a:p>
        </p:txBody>
      </p:sp>
      <p:sp>
        <p:nvSpPr>
          <p:cNvPr id="7" name="Rectangle 8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AB95402-1E0D-474E-8D8C-CBE7F053639E}" type="slidenum">
              <a:rPr lang="vi-VN" smtClean="0"/>
              <a:pPr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234067623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6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 smtClean="0"/>
            </a:lvl1pPr>
          </a:lstStyle>
          <a:p>
            <a:fld id="{B3458BEE-292B-4509-8699-60BC68F91E33}" type="datetime1">
              <a:rPr lang="vi-VN" smtClean="0"/>
              <a:pPr/>
              <a:t>14/01/2024</a:t>
            </a:fld>
            <a:endParaRPr lang="vi-VN"/>
          </a:p>
        </p:txBody>
      </p:sp>
      <p:sp>
        <p:nvSpPr>
          <p:cNvPr id="5" name="Rectangle 7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 smtClean="0"/>
            </a:lvl1pPr>
          </a:lstStyle>
          <a:p>
            <a:r>
              <a:rPr lang="vi-VN"/>
              <a:t>Chương 7 - Xâu kí tự</a:t>
            </a:r>
          </a:p>
        </p:txBody>
      </p:sp>
      <p:sp>
        <p:nvSpPr>
          <p:cNvPr id="6" name="Rectangle 8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AB95402-1E0D-474E-8D8C-CBE7F053639E}" type="slidenum">
              <a:rPr lang="vi-VN" smtClean="0"/>
              <a:pPr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144755115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743700" y="304800"/>
            <a:ext cx="2095500" cy="60198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304800"/>
            <a:ext cx="6134100" cy="60198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6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 smtClean="0"/>
            </a:lvl1pPr>
          </a:lstStyle>
          <a:p>
            <a:fld id="{BAE32D5C-53DD-4119-9E44-FF582CF84202}" type="datetime1">
              <a:rPr lang="vi-VN" smtClean="0"/>
              <a:pPr/>
              <a:t>14/01/2024</a:t>
            </a:fld>
            <a:endParaRPr lang="vi-VN"/>
          </a:p>
        </p:txBody>
      </p:sp>
      <p:sp>
        <p:nvSpPr>
          <p:cNvPr id="5" name="Rectangle 7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 smtClean="0"/>
            </a:lvl1pPr>
          </a:lstStyle>
          <a:p>
            <a:r>
              <a:rPr lang="vi-VN"/>
              <a:t>Chương 7 - Xâu kí tự</a:t>
            </a:r>
          </a:p>
        </p:txBody>
      </p:sp>
      <p:sp>
        <p:nvSpPr>
          <p:cNvPr id="6" name="Rectangle 8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AB95402-1E0D-474E-8D8C-CBE7F053639E}" type="slidenum">
              <a:rPr lang="vi-VN" smtClean="0"/>
              <a:pPr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95585549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pattFill prst="ltHorz">
          <a:fgClr>
            <a:schemeClr val="bg2"/>
          </a:fgClr>
          <a:bgClr>
            <a:schemeClr val="bg1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304800"/>
            <a:ext cx="8382000" cy="685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762000" y="1143000"/>
            <a:ext cx="7924800" cy="5181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</p:txBody>
      </p:sp>
      <p:sp>
        <p:nvSpPr>
          <p:cNvPr id="1028" name="AutoShape 4"/>
          <p:cNvSpPr>
            <a:spLocks noChangeArrowheads="1"/>
          </p:cNvSpPr>
          <p:nvPr/>
        </p:nvSpPr>
        <p:spPr bwMode="auto">
          <a:xfrm>
            <a:off x="457200" y="990600"/>
            <a:ext cx="8382000" cy="76200"/>
          </a:xfrm>
          <a:custGeom>
            <a:avLst/>
            <a:gdLst>
              <a:gd name="T0" fmla="*/ 0 w 1000"/>
              <a:gd name="T1" fmla="*/ 0 h 1000"/>
              <a:gd name="T2" fmla="*/ 585 w 1000"/>
              <a:gd name="T3" fmla="*/ 0 h 1000"/>
              <a:gd name="T4" fmla="*/ 585 w 1000"/>
              <a:gd name="T5" fmla="*/ 1000 h 1000"/>
              <a:gd name="T6" fmla="*/ 0 w 1000"/>
              <a:gd name="T7" fmla="*/ 1000 h 1000"/>
              <a:gd name="T8" fmla="*/ 0 w 1000"/>
              <a:gd name="T9" fmla="*/ 0 h 1000"/>
              <a:gd name="T10" fmla="*/ 1000 w 1000"/>
              <a:gd name="T11" fmla="*/ 0 h 1000"/>
              <a:gd name="T12" fmla="*/ 0 60000 65536"/>
              <a:gd name="T13" fmla="*/ 0 60000 65536"/>
              <a:gd name="T14" fmla="*/ 0 60000 65536"/>
              <a:gd name="T15" fmla="*/ 0 60000 65536"/>
              <a:gd name="T16" fmla="*/ 0 60000 65536"/>
              <a:gd name="T17" fmla="*/ 0 60000 65536"/>
            </a:gdLst>
            <a:ahLst/>
            <a:cxnLst>
              <a:cxn ang="T12">
                <a:pos x="T0" y="T1"/>
              </a:cxn>
              <a:cxn ang="T13">
                <a:pos x="T2" y="T3"/>
              </a:cxn>
              <a:cxn ang="T14">
                <a:pos x="T4" y="T5"/>
              </a:cxn>
              <a:cxn ang="T15">
                <a:pos x="T6" y="T7"/>
              </a:cxn>
              <a:cxn ang="T16">
                <a:pos x="T8" y="T9"/>
              </a:cxn>
              <a:cxn ang="T17">
                <a:pos x="T10" y="T11"/>
              </a:cxn>
            </a:cxnLst>
            <a:rect l="0" t="0" r="r" b="b"/>
            <a:pathLst>
              <a:path w="1000" h="1000" stroke="0">
                <a:moveTo>
                  <a:pt x="0" y="0"/>
                </a:moveTo>
                <a:lnTo>
                  <a:pt x="585" y="0"/>
                </a:lnTo>
                <a:lnTo>
                  <a:pt x="585" y="1000"/>
                </a:lnTo>
                <a:lnTo>
                  <a:pt x="0" y="1000"/>
                </a:lnTo>
                <a:lnTo>
                  <a:pt x="0" y="0"/>
                </a:lnTo>
                <a:close/>
              </a:path>
              <a:path w="1000" h="1000">
                <a:moveTo>
                  <a:pt x="0" y="0"/>
                </a:moveTo>
                <a:lnTo>
                  <a:pt x="1000" y="0"/>
                </a:lnTo>
              </a:path>
            </a:pathLst>
          </a:custGeom>
          <a:solidFill>
            <a:schemeClr val="accent2"/>
          </a:solidFill>
          <a:ln w="19050">
            <a:solidFill>
              <a:schemeClr val="accent2"/>
            </a:solidFill>
            <a:round/>
            <a:headEnd/>
            <a:tailEnd/>
          </a:ln>
        </p:spPr>
        <p:txBody>
          <a:bodyPr/>
          <a:lstStyle/>
          <a:p>
            <a:endParaRPr lang="vi-VN"/>
          </a:p>
        </p:txBody>
      </p:sp>
      <p:sp>
        <p:nvSpPr>
          <p:cNvPr id="1029" name="Line 5"/>
          <p:cNvSpPr>
            <a:spLocks noChangeShapeType="1"/>
          </p:cNvSpPr>
          <p:nvPr/>
        </p:nvSpPr>
        <p:spPr bwMode="auto">
          <a:xfrm flipV="1">
            <a:off x="381000" y="6400800"/>
            <a:ext cx="8534400" cy="0"/>
          </a:xfrm>
          <a:prstGeom prst="line">
            <a:avLst/>
          </a:prstGeom>
          <a:noFill/>
          <a:ln w="3175">
            <a:solidFill>
              <a:schemeClr val="accent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vi-VN"/>
          </a:p>
        </p:txBody>
      </p:sp>
      <p:sp>
        <p:nvSpPr>
          <p:cNvPr id="4102" name="Rectangle 6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381000" y="6400800"/>
            <a:ext cx="1981200" cy="3206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200" smtClean="0">
                <a:cs typeface="Arial" charset="0"/>
              </a:defRPr>
            </a:lvl1pPr>
          </a:lstStyle>
          <a:p>
            <a:fld id="{BD263A00-828F-4885-A81A-DEFCDC801C28}" type="datetime1">
              <a:rPr lang="vi-VN" smtClean="0"/>
              <a:pPr/>
              <a:t>14/01/2024</a:t>
            </a:fld>
            <a:endParaRPr lang="vi-VN"/>
          </a:p>
        </p:txBody>
      </p:sp>
      <p:sp>
        <p:nvSpPr>
          <p:cNvPr id="4103" name="Rectangle 7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2667000" y="6400800"/>
            <a:ext cx="3962400" cy="3206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200" smtClean="0">
                <a:cs typeface="Arial" charset="0"/>
              </a:defRPr>
            </a:lvl1pPr>
          </a:lstStyle>
          <a:p>
            <a:r>
              <a:rPr lang="vi-VN"/>
              <a:t>Chương 7 - Xâu kí tự</a:t>
            </a:r>
          </a:p>
        </p:txBody>
      </p:sp>
      <p:sp>
        <p:nvSpPr>
          <p:cNvPr id="4104" name="Rectangle 8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934200" y="6400800"/>
            <a:ext cx="1981200" cy="3206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 smtClean="0">
                <a:cs typeface="Arial" charset="0"/>
              </a:defRPr>
            </a:lvl1pPr>
          </a:lstStyle>
          <a:p>
            <a:fld id="{5AB95402-1E0D-474E-8D8C-CBE7F053639E}" type="slidenum">
              <a:rPr lang="vi-VN" smtClean="0"/>
              <a:pPr/>
              <a:t>‹#›</a:t>
            </a:fld>
            <a:endParaRPr lang="vi-V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hf hdr="0"/>
  <p:txStyles>
    <p:titleStyle>
      <a:lvl1pPr algn="l" rtl="0" eaLnBrk="1" fontAlgn="base" hangingPunct="1">
        <a:spcBef>
          <a:spcPct val="0"/>
        </a:spcBef>
        <a:spcAft>
          <a:spcPct val="0"/>
        </a:spcAft>
        <a:defRPr sz="3400">
          <a:solidFill>
            <a:schemeClr val="folHlink"/>
          </a:solidFill>
          <a:latin typeface="+mj-lt"/>
          <a:ea typeface="+mj-ea"/>
          <a:cs typeface="+mj-cs"/>
        </a:defRPr>
      </a:lvl1pPr>
      <a:lvl2pPr algn="l" rtl="0" eaLnBrk="1" fontAlgn="base" hangingPunct="1">
        <a:spcBef>
          <a:spcPct val="0"/>
        </a:spcBef>
        <a:spcAft>
          <a:spcPct val="0"/>
        </a:spcAft>
        <a:defRPr sz="3400">
          <a:solidFill>
            <a:schemeClr val="folHlink"/>
          </a:solidFill>
          <a:latin typeface="Arial" charset="0"/>
          <a:cs typeface="Arial" charset="0"/>
        </a:defRPr>
      </a:lvl2pPr>
      <a:lvl3pPr algn="l" rtl="0" eaLnBrk="1" fontAlgn="base" hangingPunct="1">
        <a:spcBef>
          <a:spcPct val="0"/>
        </a:spcBef>
        <a:spcAft>
          <a:spcPct val="0"/>
        </a:spcAft>
        <a:defRPr sz="3400">
          <a:solidFill>
            <a:schemeClr val="folHlink"/>
          </a:solidFill>
          <a:latin typeface="Arial" charset="0"/>
          <a:cs typeface="Arial" charset="0"/>
        </a:defRPr>
      </a:lvl3pPr>
      <a:lvl4pPr algn="l" rtl="0" eaLnBrk="1" fontAlgn="base" hangingPunct="1">
        <a:spcBef>
          <a:spcPct val="0"/>
        </a:spcBef>
        <a:spcAft>
          <a:spcPct val="0"/>
        </a:spcAft>
        <a:defRPr sz="3400">
          <a:solidFill>
            <a:schemeClr val="folHlink"/>
          </a:solidFill>
          <a:latin typeface="Arial" charset="0"/>
          <a:cs typeface="Arial" charset="0"/>
        </a:defRPr>
      </a:lvl4pPr>
      <a:lvl5pPr algn="l" rtl="0" eaLnBrk="1" fontAlgn="base" hangingPunct="1">
        <a:spcBef>
          <a:spcPct val="0"/>
        </a:spcBef>
        <a:spcAft>
          <a:spcPct val="0"/>
        </a:spcAft>
        <a:defRPr sz="3400">
          <a:solidFill>
            <a:schemeClr val="folHlink"/>
          </a:solidFill>
          <a:latin typeface="Arial" charset="0"/>
          <a:cs typeface="Arial" charset="0"/>
        </a:defRPr>
      </a:lvl5pPr>
      <a:lvl6pPr marL="457200" algn="l" rtl="0" eaLnBrk="1" fontAlgn="base" hangingPunct="1">
        <a:spcBef>
          <a:spcPct val="0"/>
        </a:spcBef>
        <a:spcAft>
          <a:spcPct val="0"/>
        </a:spcAft>
        <a:defRPr sz="3400">
          <a:solidFill>
            <a:schemeClr val="folHlink"/>
          </a:solidFill>
          <a:latin typeface="Arial" charset="0"/>
          <a:cs typeface="Arial" charset="0"/>
        </a:defRPr>
      </a:lvl6pPr>
      <a:lvl7pPr marL="914400" algn="l" rtl="0" eaLnBrk="1" fontAlgn="base" hangingPunct="1">
        <a:spcBef>
          <a:spcPct val="0"/>
        </a:spcBef>
        <a:spcAft>
          <a:spcPct val="0"/>
        </a:spcAft>
        <a:defRPr sz="3400">
          <a:solidFill>
            <a:schemeClr val="folHlink"/>
          </a:solidFill>
          <a:latin typeface="Arial" charset="0"/>
          <a:cs typeface="Arial" charset="0"/>
        </a:defRPr>
      </a:lvl7pPr>
      <a:lvl8pPr marL="1371600" algn="l" rtl="0" eaLnBrk="1" fontAlgn="base" hangingPunct="1">
        <a:spcBef>
          <a:spcPct val="0"/>
        </a:spcBef>
        <a:spcAft>
          <a:spcPct val="0"/>
        </a:spcAft>
        <a:defRPr sz="3400">
          <a:solidFill>
            <a:schemeClr val="folHlink"/>
          </a:solidFill>
          <a:latin typeface="Arial" charset="0"/>
          <a:cs typeface="Arial" charset="0"/>
        </a:defRPr>
      </a:lvl8pPr>
      <a:lvl9pPr marL="1828800" algn="l" rtl="0" eaLnBrk="1" fontAlgn="base" hangingPunct="1">
        <a:spcBef>
          <a:spcPct val="0"/>
        </a:spcBef>
        <a:spcAft>
          <a:spcPct val="0"/>
        </a:spcAft>
        <a:defRPr sz="3400">
          <a:solidFill>
            <a:schemeClr val="folHlink"/>
          </a:solidFill>
          <a:latin typeface="Arial" charset="0"/>
          <a:cs typeface="Arial" charset="0"/>
        </a:defRPr>
      </a:lvl9pPr>
    </p:titleStyle>
    <p:bodyStyle>
      <a:lvl1pPr marL="469900" indent="-469900" algn="l" rtl="0" eaLnBrk="1" fontAlgn="base" hangingPunct="1">
        <a:spcBef>
          <a:spcPct val="20000"/>
        </a:spcBef>
        <a:spcAft>
          <a:spcPct val="0"/>
        </a:spcAft>
        <a:buClr>
          <a:schemeClr val="accent2"/>
        </a:buClr>
        <a:buFont typeface="Wingdings" pitchFamily="2" charset="2"/>
        <a:buChar char="o"/>
        <a:defRPr lang="en-GB" sz="2800" smtClean="0">
          <a:solidFill>
            <a:schemeClr val="tx1"/>
          </a:solidFill>
          <a:latin typeface="+mn-lt"/>
          <a:ea typeface="+mn-ea"/>
          <a:cs typeface="+mn-cs"/>
        </a:defRPr>
      </a:lvl1pPr>
      <a:lvl2pPr marL="908050" indent="-436563" algn="l" rtl="0" eaLnBrk="1" fontAlgn="base" hangingPunct="1">
        <a:spcBef>
          <a:spcPct val="15000"/>
        </a:spcBef>
        <a:spcAft>
          <a:spcPct val="0"/>
        </a:spcAft>
        <a:buClr>
          <a:schemeClr val="accent2"/>
        </a:buClr>
        <a:buSzPct val="80000"/>
        <a:buFont typeface="Wingdings" pitchFamily="2" charset="2"/>
        <a:buChar char="n"/>
        <a:defRPr lang="en-GB" sz="2400" smtClean="0">
          <a:solidFill>
            <a:srgbClr val="0000FF"/>
          </a:solidFill>
          <a:latin typeface="+mn-lt"/>
          <a:cs typeface="+mn-cs"/>
        </a:defRPr>
      </a:lvl2pPr>
      <a:lvl3pPr marL="1304925" indent="-395288" algn="l" rtl="0" eaLnBrk="1" fontAlgn="base" hangingPunct="1">
        <a:spcBef>
          <a:spcPct val="15000"/>
        </a:spcBef>
        <a:spcAft>
          <a:spcPct val="0"/>
        </a:spcAft>
        <a:buClr>
          <a:schemeClr val="accent2"/>
        </a:buClr>
        <a:buSzPct val="80000"/>
        <a:buFont typeface="Wingdings" pitchFamily="2" charset="2"/>
        <a:buChar char="o"/>
        <a:defRPr lang="en-GB" sz="2000" smtClean="0">
          <a:solidFill>
            <a:srgbClr val="002060"/>
          </a:solidFill>
          <a:latin typeface="+mn-lt"/>
          <a:cs typeface="+mn-cs"/>
        </a:defRPr>
      </a:lvl3pPr>
      <a:lvl4pPr marL="1693863" indent="-387350" algn="l" rtl="0" eaLnBrk="1" fontAlgn="base" hangingPunct="1">
        <a:spcBef>
          <a:spcPct val="15000"/>
        </a:spcBef>
        <a:spcAft>
          <a:spcPct val="0"/>
        </a:spcAft>
        <a:buClr>
          <a:schemeClr val="accent2"/>
        </a:buClr>
        <a:buSzPct val="80000"/>
        <a:buFont typeface="Wingdings" pitchFamily="2" charset="2"/>
        <a:buChar char="n"/>
        <a:defRPr lang="en-GB" sz="1800" smtClean="0">
          <a:solidFill>
            <a:srgbClr val="000066"/>
          </a:solidFill>
          <a:latin typeface="+mn-lt"/>
          <a:cs typeface="+mn-cs"/>
        </a:defRPr>
      </a:lvl4pPr>
      <a:lvl5pPr marL="2093913" indent="-398463" algn="l" rtl="0" eaLnBrk="1" fontAlgn="base" hangingPunct="1">
        <a:spcBef>
          <a:spcPct val="15000"/>
        </a:spcBef>
        <a:spcAft>
          <a:spcPct val="0"/>
        </a:spcAft>
        <a:buClr>
          <a:schemeClr val="accent2"/>
        </a:buClr>
        <a:buFont typeface="Wingdings" pitchFamily="2" charset="2"/>
        <a:buChar char="§"/>
        <a:defRPr sz="1400">
          <a:solidFill>
            <a:schemeClr val="accent2"/>
          </a:solidFill>
          <a:latin typeface="Tahoma" pitchFamily="34" charset="0"/>
          <a:cs typeface="+mn-cs"/>
        </a:defRPr>
      </a:lvl5pPr>
      <a:lvl6pPr marL="2551113" indent="-398463" algn="l" rtl="0" eaLnBrk="1" fontAlgn="base" hangingPunct="1">
        <a:spcBef>
          <a:spcPct val="15000"/>
        </a:spcBef>
        <a:spcAft>
          <a:spcPct val="0"/>
        </a:spcAft>
        <a:buClr>
          <a:schemeClr val="accent2"/>
        </a:buClr>
        <a:buFont typeface="Wingdings" pitchFamily="2" charset="2"/>
        <a:buChar char="§"/>
        <a:defRPr sz="1400">
          <a:solidFill>
            <a:schemeClr val="accent2"/>
          </a:solidFill>
          <a:latin typeface="Tahoma" pitchFamily="34" charset="0"/>
          <a:cs typeface="+mn-cs"/>
        </a:defRPr>
      </a:lvl6pPr>
      <a:lvl7pPr marL="3008313" indent="-398463" algn="l" rtl="0" eaLnBrk="1" fontAlgn="base" hangingPunct="1">
        <a:spcBef>
          <a:spcPct val="15000"/>
        </a:spcBef>
        <a:spcAft>
          <a:spcPct val="0"/>
        </a:spcAft>
        <a:buClr>
          <a:schemeClr val="accent2"/>
        </a:buClr>
        <a:buFont typeface="Wingdings" pitchFamily="2" charset="2"/>
        <a:buChar char="§"/>
        <a:defRPr sz="1400">
          <a:solidFill>
            <a:schemeClr val="accent2"/>
          </a:solidFill>
          <a:latin typeface="Tahoma" pitchFamily="34" charset="0"/>
          <a:cs typeface="+mn-cs"/>
        </a:defRPr>
      </a:lvl7pPr>
      <a:lvl8pPr marL="3465513" indent="-398463" algn="l" rtl="0" eaLnBrk="1" fontAlgn="base" hangingPunct="1">
        <a:spcBef>
          <a:spcPct val="15000"/>
        </a:spcBef>
        <a:spcAft>
          <a:spcPct val="0"/>
        </a:spcAft>
        <a:buClr>
          <a:schemeClr val="accent2"/>
        </a:buClr>
        <a:buFont typeface="Wingdings" pitchFamily="2" charset="2"/>
        <a:buChar char="§"/>
        <a:defRPr sz="1400">
          <a:solidFill>
            <a:schemeClr val="accent2"/>
          </a:solidFill>
          <a:latin typeface="Tahoma" pitchFamily="34" charset="0"/>
          <a:cs typeface="+mn-cs"/>
        </a:defRPr>
      </a:lvl8pPr>
      <a:lvl9pPr marL="3922713" indent="-398463" algn="l" rtl="0" eaLnBrk="1" fontAlgn="base" hangingPunct="1">
        <a:spcBef>
          <a:spcPct val="15000"/>
        </a:spcBef>
        <a:spcAft>
          <a:spcPct val="0"/>
        </a:spcAft>
        <a:buClr>
          <a:schemeClr val="accent2"/>
        </a:buClr>
        <a:buFont typeface="Wingdings" pitchFamily="2" charset="2"/>
        <a:buChar char="§"/>
        <a:defRPr sz="1400">
          <a:solidFill>
            <a:schemeClr val="accent2"/>
          </a:solidFill>
          <a:latin typeface="Tahoma" pitchFamily="34" charset="0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55576" y="2590800"/>
            <a:ext cx="7931224" cy="990600"/>
          </a:xfrm>
          <a:effectLst>
            <a:reflection blurRad="6350" stA="52000" endA="300" endPos="35000" dir="5400000" sy="-100000" algn="bl" rotWithShape="0"/>
          </a:effectLst>
        </p:spPr>
        <p:txBody>
          <a:bodyPr/>
          <a:lstStyle/>
          <a:p>
            <a:pPr algn="ctr"/>
            <a:r>
              <a:rPr lang="en-US" sz="4400">
                <a:solidFill>
                  <a:srgbClr val="000066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  <a:reflection blurRad="6350" stA="55000" endA="300" endPos="45500" dir="5400000" sy="-100000" algn="bl" rotWithShape="0"/>
                </a:effectLst>
              </a:rPr>
              <a:t>Chương 7</a:t>
            </a:r>
            <a:br>
              <a:rPr lang="en-US" sz="4400">
                <a:solidFill>
                  <a:srgbClr val="000066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  <a:reflection blurRad="6350" stA="55000" endA="300" endPos="45500" dir="5400000" sy="-100000" algn="bl" rotWithShape="0"/>
                </a:effectLst>
              </a:rPr>
            </a:br>
            <a:r>
              <a:rPr lang="en-US" sz="4400">
                <a:solidFill>
                  <a:srgbClr val="000066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  <a:reflection blurRad="6350" stA="55000" endA="300" endPos="45500" dir="5400000" sy="-100000" algn="bl" rotWithShape="0"/>
                </a:effectLst>
              </a:rPr>
              <a:t>XÂU KÍ TỰ</a:t>
            </a:r>
            <a:endParaRPr lang="vi-VN" sz="4400">
              <a:solidFill>
                <a:srgbClr val="000066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  <a:reflection blurRad="6350" stA="55000" endA="300" endPos="45500" dir="5400000" sy="-100000" algn="bl" rotWithShape="0"/>
              </a:effectLst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3491880" y="6237312"/>
            <a:ext cx="273630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 err="1"/>
              <a:t>Hà</a:t>
            </a:r>
            <a:r>
              <a:rPr lang="en-US" sz="2400" dirty="0"/>
              <a:t> </a:t>
            </a:r>
            <a:r>
              <a:rPr lang="en-US" sz="2400" dirty="0" err="1"/>
              <a:t>Nội</a:t>
            </a:r>
            <a:r>
              <a:rPr lang="en-US" sz="2400" dirty="0"/>
              <a:t> </a:t>
            </a:r>
            <a:r>
              <a:rPr lang="en-US" sz="2400"/>
              <a:t>– 2024</a:t>
            </a:r>
            <a:endParaRPr lang="vi-VN" sz="2400" dirty="0"/>
          </a:p>
        </p:txBody>
      </p:sp>
      <p:sp>
        <p:nvSpPr>
          <p:cNvPr id="5" name="Subtitle 4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6963432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/>
              <a:t>Nội dung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0E099E-592D-4AD2-B491-3B7EBDA227AA}" type="datetime1">
              <a:rPr lang="vi-VN" smtClean="0"/>
              <a:pPr/>
              <a:t>14/01/2024</a:t>
            </a:fld>
            <a:endParaRPr lang="vi-VN"/>
          </a:p>
        </p:txBody>
      </p:sp>
      <p:sp>
        <p:nvSpPr>
          <p:cNvPr id="16387" name="Footer Placeholder 3"/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/>
          <a:p>
            <a:r>
              <a:rPr lang="vi-VN"/>
              <a:t>Chương 7 - Xâu kí tự</a:t>
            </a:r>
            <a:endParaRPr lang="en-US"/>
          </a:p>
        </p:txBody>
      </p:sp>
      <p:grpSp>
        <p:nvGrpSpPr>
          <p:cNvPr id="44" name="Group 46"/>
          <p:cNvGrpSpPr>
            <a:grpSpLocks/>
          </p:cNvGrpSpPr>
          <p:nvPr/>
        </p:nvGrpSpPr>
        <p:grpSpPr bwMode="auto">
          <a:xfrm>
            <a:off x="2223864" y="1736576"/>
            <a:ext cx="4724400" cy="685800"/>
            <a:chOff x="1296" y="1824"/>
            <a:chExt cx="2976" cy="432"/>
          </a:xfrm>
        </p:grpSpPr>
        <p:sp>
          <p:nvSpPr>
            <p:cNvPr id="45" name="AutoShape 47"/>
            <p:cNvSpPr>
              <a:spLocks noChangeArrowheads="1"/>
            </p:cNvSpPr>
            <p:nvPr/>
          </p:nvSpPr>
          <p:spPr bwMode="gray">
            <a:xfrm>
              <a:off x="1536" y="1899"/>
              <a:ext cx="2736" cy="288"/>
            </a:xfrm>
            <a:prstGeom prst="roundRect">
              <a:avLst>
                <a:gd name="adj" fmla="val 16667"/>
              </a:avLst>
            </a:prstGeom>
            <a:gradFill rotWithShape="1">
              <a:gsLst>
                <a:gs pos="0">
                  <a:srgbClr val="85BA54">
                    <a:gamma/>
                    <a:tint val="21176"/>
                    <a:invGamma/>
                  </a:srgbClr>
                </a:gs>
                <a:gs pos="100000">
                  <a:srgbClr val="85BA54"/>
                </a:gs>
              </a:gsLst>
              <a:lin ang="0" scaled="1"/>
            </a:gradFill>
            <a:ln w="12700" algn="ctr">
              <a:solidFill>
                <a:srgbClr val="FFFFFF"/>
              </a:solidFill>
              <a:round/>
              <a:headEnd/>
              <a:tailEnd/>
            </a:ln>
            <a:effectLst>
              <a:outerShdw dist="99190" dir="2388334" algn="ctr" rotWithShape="0">
                <a:srgbClr val="333333">
                  <a:alpha val="50000"/>
                </a:srgbClr>
              </a:outerShdw>
            </a:effectLst>
          </p:spPr>
          <p:txBody>
            <a:bodyPr wrap="none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cs typeface="+mn-cs"/>
              </a:endParaRPr>
            </a:p>
          </p:txBody>
        </p:sp>
        <p:sp>
          <p:nvSpPr>
            <p:cNvPr id="46" name="AutoShape 48"/>
            <p:cNvSpPr>
              <a:spLocks noChangeArrowheads="1"/>
            </p:cNvSpPr>
            <p:nvPr/>
          </p:nvSpPr>
          <p:spPr bwMode="gray">
            <a:xfrm>
              <a:off x="1296" y="1824"/>
              <a:ext cx="432" cy="432"/>
            </a:xfrm>
            <a:prstGeom prst="diamond">
              <a:avLst/>
            </a:prstGeom>
            <a:solidFill>
              <a:srgbClr val="85BA54"/>
            </a:solidFill>
            <a:ln w="25400" algn="ctr">
              <a:solidFill>
                <a:srgbClr val="FFFFFF"/>
              </a:solidFill>
              <a:miter lim="800000"/>
              <a:headEnd/>
              <a:tailEnd/>
            </a:ln>
            <a:effectLst>
              <a:outerShdw dist="63500" dir="2212194" algn="ctr" rotWithShape="0">
                <a:srgbClr val="333333">
                  <a:alpha val="50000"/>
                </a:srgbClr>
              </a:outerShdw>
            </a:effectLst>
          </p:spPr>
          <p:txBody>
            <a:bodyPr wrap="none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cs typeface="+mn-cs"/>
              </a:endParaRPr>
            </a:p>
          </p:txBody>
        </p:sp>
        <p:sp>
          <p:nvSpPr>
            <p:cNvPr id="47" name="Text Box 49"/>
            <p:cNvSpPr txBox="1">
              <a:spLocks noChangeArrowheads="1"/>
            </p:cNvSpPr>
            <p:nvPr/>
          </p:nvSpPr>
          <p:spPr bwMode="gray">
            <a:xfrm>
              <a:off x="1824" y="1934"/>
              <a:ext cx="2448" cy="233"/>
            </a:xfrm>
            <a:prstGeom prst="rect">
              <a:avLst/>
            </a:prstGeom>
            <a:noFill/>
            <a:ln w="9525" algn="ctr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lvl="0" eaLnBrk="0" hangingPunct="0">
                <a:defRPr/>
              </a:pPr>
              <a:r>
                <a:rPr lang="en-US" b="1" kern="0">
                  <a:solidFill>
                    <a:srgbClr val="000000"/>
                  </a:solidFill>
                </a:rPr>
                <a:t>Khai báo</a:t>
              </a:r>
            </a:p>
          </p:txBody>
        </p:sp>
        <p:sp>
          <p:nvSpPr>
            <p:cNvPr id="48" name="Text Box 50"/>
            <p:cNvSpPr txBox="1">
              <a:spLocks noChangeArrowheads="1"/>
            </p:cNvSpPr>
            <p:nvPr/>
          </p:nvSpPr>
          <p:spPr bwMode="gray">
            <a:xfrm>
              <a:off x="1393" y="1886"/>
              <a:ext cx="223" cy="288"/>
            </a:xfrm>
            <a:prstGeom prst="rect">
              <a:avLst/>
            </a:prstGeom>
            <a:noFill/>
            <a:ln w="9525" algn="ctr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 marL="0" marR="0" lvl="0" indent="0" algn="ctr" defTabSz="914400" eaLnBrk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4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</a:rPr>
                <a:t>1</a:t>
              </a:r>
            </a:p>
          </p:txBody>
        </p:sp>
      </p:grpSp>
      <p:grpSp>
        <p:nvGrpSpPr>
          <p:cNvPr id="49" name="Group 51"/>
          <p:cNvGrpSpPr>
            <a:grpSpLocks/>
          </p:cNvGrpSpPr>
          <p:nvPr/>
        </p:nvGrpSpPr>
        <p:grpSpPr bwMode="auto">
          <a:xfrm>
            <a:off x="2223864" y="2574776"/>
            <a:ext cx="4724400" cy="685800"/>
            <a:chOff x="1296" y="1824"/>
            <a:chExt cx="2976" cy="432"/>
          </a:xfrm>
        </p:grpSpPr>
        <p:sp>
          <p:nvSpPr>
            <p:cNvPr id="50" name="AutoShape 52"/>
            <p:cNvSpPr>
              <a:spLocks noChangeArrowheads="1"/>
            </p:cNvSpPr>
            <p:nvPr/>
          </p:nvSpPr>
          <p:spPr bwMode="gray">
            <a:xfrm>
              <a:off x="1536" y="1899"/>
              <a:ext cx="2736" cy="288"/>
            </a:xfrm>
            <a:prstGeom prst="roundRect">
              <a:avLst>
                <a:gd name="adj" fmla="val 16667"/>
              </a:avLst>
            </a:prstGeom>
            <a:gradFill rotWithShape="1">
              <a:gsLst>
                <a:gs pos="0">
                  <a:srgbClr val="DE8848">
                    <a:gamma/>
                    <a:tint val="21176"/>
                    <a:invGamma/>
                  </a:srgbClr>
                </a:gs>
                <a:gs pos="100000">
                  <a:srgbClr val="DE8848"/>
                </a:gs>
              </a:gsLst>
              <a:lin ang="0" scaled="1"/>
            </a:gradFill>
            <a:ln w="12700" algn="ctr">
              <a:solidFill>
                <a:srgbClr val="FFFFFF"/>
              </a:solidFill>
              <a:round/>
              <a:headEnd/>
              <a:tailEnd/>
            </a:ln>
            <a:effectLst>
              <a:outerShdw dist="99190" dir="2388334" algn="ctr" rotWithShape="0">
                <a:srgbClr val="333333">
                  <a:alpha val="50000"/>
                </a:srgbClr>
              </a:outerShdw>
            </a:effectLst>
          </p:spPr>
          <p:txBody>
            <a:bodyPr wrap="none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cs typeface="+mn-cs"/>
              </a:endParaRPr>
            </a:p>
          </p:txBody>
        </p:sp>
        <p:sp>
          <p:nvSpPr>
            <p:cNvPr id="51" name="AutoShape 53"/>
            <p:cNvSpPr>
              <a:spLocks noChangeArrowheads="1"/>
            </p:cNvSpPr>
            <p:nvPr/>
          </p:nvSpPr>
          <p:spPr bwMode="gray">
            <a:xfrm>
              <a:off x="1296" y="1824"/>
              <a:ext cx="432" cy="432"/>
            </a:xfrm>
            <a:prstGeom prst="diamond">
              <a:avLst/>
            </a:prstGeom>
            <a:solidFill>
              <a:srgbClr val="DE8848"/>
            </a:solidFill>
            <a:ln w="25400" algn="ctr">
              <a:solidFill>
                <a:srgbClr val="FFFFFF"/>
              </a:solidFill>
              <a:miter lim="800000"/>
              <a:headEnd/>
              <a:tailEnd/>
            </a:ln>
            <a:effectLst>
              <a:outerShdw dist="63500" dir="2212194" algn="ctr" rotWithShape="0">
                <a:srgbClr val="333333">
                  <a:alpha val="50000"/>
                </a:srgbClr>
              </a:outerShdw>
            </a:effectLst>
          </p:spPr>
          <p:txBody>
            <a:bodyPr wrap="none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cs typeface="+mn-cs"/>
              </a:endParaRPr>
            </a:p>
          </p:txBody>
        </p:sp>
        <p:sp>
          <p:nvSpPr>
            <p:cNvPr id="52" name="Text Box 54"/>
            <p:cNvSpPr txBox="1">
              <a:spLocks noChangeArrowheads="1"/>
            </p:cNvSpPr>
            <p:nvPr/>
          </p:nvSpPr>
          <p:spPr bwMode="gray">
            <a:xfrm>
              <a:off x="1824" y="1934"/>
              <a:ext cx="2448" cy="233"/>
            </a:xfrm>
            <a:prstGeom prst="rect">
              <a:avLst/>
            </a:prstGeom>
            <a:noFill/>
            <a:ln w="9525" algn="ctr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eaLnBrk="0" hangingPunct="0"/>
              <a:r>
                <a:rPr lang="en-US" b="1" kern="0">
                  <a:solidFill>
                    <a:srgbClr val="000000"/>
                  </a:solidFill>
                </a:rPr>
                <a:t>Các thao tác trên xâu kí tự</a:t>
              </a:r>
              <a:endParaRPr kumimoji="0" lang="en-US" sz="18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endParaRPr>
            </a:p>
          </p:txBody>
        </p:sp>
        <p:sp>
          <p:nvSpPr>
            <p:cNvPr id="53" name="Text Box 55"/>
            <p:cNvSpPr txBox="1">
              <a:spLocks noChangeArrowheads="1"/>
            </p:cNvSpPr>
            <p:nvPr/>
          </p:nvSpPr>
          <p:spPr bwMode="gray">
            <a:xfrm>
              <a:off x="1393" y="1886"/>
              <a:ext cx="223" cy="288"/>
            </a:xfrm>
            <a:prstGeom prst="rect">
              <a:avLst/>
            </a:prstGeom>
            <a:noFill/>
            <a:ln w="9525" algn="ctr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 marL="0" marR="0" lvl="0" indent="0" algn="ctr" defTabSz="914400" eaLnBrk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4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</a:rPr>
                <a:t>2</a:t>
              </a:r>
            </a:p>
          </p:txBody>
        </p:sp>
      </p:grpSp>
      <p:grpSp>
        <p:nvGrpSpPr>
          <p:cNvPr id="54" name="Group 56"/>
          <p:cNvGrpSpPr>
            <a:grpSpLocks/>
          </p:cNvGrpSpPr>
          <p:nvPr/>
        </p:nvGrpSpPr>
        <p:grpSpPr bwMode="auto">
          <a:xfrm>
            <a:off x="2223864" y="3412976"/>
            <a:ext cx="4724400" cy="685800"/>
            <a:chOff x="1296" y="1824"/>
            <a:chExt cx="2976" cy="432"/>
          </a:xfrm>
        </p:grpSpPr>
        <p:sp>
          <p:nvSpPr>
            <p:cNvPr id="55" name="AutoShape 57"/>
            <p:cNvSpPr>
              <a:spLocks noChangeArrowheads="1"/>
            </p:cNvSpPr>
            <p:nvPr/>
          </p:nvSpPr>
          <p:spPr bwMode="gray">
            <a:xfrm>
              <a:off x="1536" y="1899"/>
              <a:ext cx="2736" cy="288"/>
            </a:xfrm>
            <a:prstGeom prst="roundRect">
              <a:avLst>
                <a:gd name="adj" fmla="val 16667"/>
              </a:avLst>
            </a:prstGeom>
            <a:gradFill rotWithShape="1">
              <a:gsLst>
                <a:gs pos="0">
                  <a:srgbClr val="5086C2">
                    <a:gamma/>
                    <a:tint val="21176"/>
                    <a:invGamma/>
                  </a:srgbClr>
                </a:gs>
                <a:gs pos="100000">
                  <a:srgbClr val="5086C2"/>
                </a:gs>
              </a:gsLst>
              <a:lin ang="0" scaled="1"/>
            </a:gradFill>
            <a:ln w="12700" algn="ctr">
              <a:solidFill>
                <a:srgbClr val="FFFFFF"/>
              </a:solidFill>
              <a:round/>
              <a:headEnd/>
              <a:tailEnd/>
            </a:ln>
            <a:effectLst>
              <a:outerShdw dist="99190" dir="2388334" algn="ctr" rotWithShape="0">
                <a:srgbClr val="333333">
                  <a:alpha val="50000"/>
                </a:srgbClr>
              </a:outerShdw>
            </a:effectLst>
          </p:spPr>
          <p:txBody>
            <a:bodyPr wrap="none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cs typeface="+mn-cs"/>
              </a:endParaRPr>
            </a:p>
          </p:txBody>
        </p:sp>
        <p:sp>
          <p:nvSpPr>
            <p:cNvPr id="56" name="AutoShape 58"/>
            <p:cNvSpPr>
              <a:spLocks noChangeArrowheads="1"/>
            </p:cNvSpPr>
            <p:nvPr/>
          </p:nvSpPr>
          <p:spPr bwMode="gray">
            <a:xfrm>
              <a:off x="1296" y="1824"/>
              <a:ext cx="432" cy="432"/>
            </a:xfrm>
            <a:prstGeom prst="diamond">
              <a:avLst/>
            </a:prstGeom>
            <a:solidFill>
              <a:srgbClr val="4C59D2"/>
            </a:solidFill>
            <a:ln w="25400" algn="ctr">
              <a:solidFill>
                <a:srgbClr val="FFFFFF"/>
              </a:solidFill>
              <a:miter lim="800000"/>
              <a:headEnd/>
              <a:tailEnd/>
            </a:ln>
            <a:effectLst>
              <a:outerShdw dist="63500" dir="2212194" algn="ctr" rotWithShape="0">
                <a:srgbClr val="333333">
                  <a:alpha val="50000"/>
                </a:srgbClr>
              </a:outerShdw>
            </a:effectLst>
          </p:spPr>
          <p:txBody>
            <a:bodyPr wrap="none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cs typeface="+mn-cs"/>
              </a:endParaRPr>
            </a:p>
          </p:txBody>
        </p:sp>
        <p:sp>
          <p:nvSpPr>
            <p:cNvPr id="57" name="Text Box 59"/>
            <p:cNvSpPr txBox="1">
              <a:spLocks noChangeArrowheads="1"/>
            </p:cNvSpPr>
            <p:nvPr/>
          </p:nvSpPr>
          <p:spPr bwMode="gray">
            <a:xfrm>
              <a:off x="1824" y="1934"/>
              <a:ext cx="2448" cy="231"/>
            </a:xfrm>
            <a:prstGeom prst="rect">
              <a:avLst/>
            </a:prstGeom>
            <a:noFill/>
            <a:ln w="9525" algn="ctr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lvl="0" eaLnBrk="0" hangingPunct="0">
                <a:defRPr/>
              </a:pPr>
              <a:r>
                <a:rPr lang="en-US" b="1" kern="0">
                  <a:solidFill>
                    <a:srgbClr val="000000"/>
                  </a:solidFill>
                </a:rPr>
                <a:t>Mảng xâu kí tự</a:t>
              </a:r>
            </a:p>
          </p:txBody>
        </p:sp>
        <p:sp>
          <p:nvSpPr>
            <p:cNvPr id="58" name="Text Box 60"/>
            <p:cNvSpPr txBox="1">
              <a:spLocks noChangeArrowheads="1"/>
            </p:cNvSpPr>
            <p:nvPr/>
          </p:nvSpPr>
          <p:spPr bwMode="gray">
            <a:xfrm>
              <a:off x="1393" y="1886"/>
              <a:ext cx="223" cy="288"/>
            </a:xfrm>
            <a:prstGeom prst="rect">
              <a:avLst/>
            </a:prstGeom>
            <a:noFill/>
            <a:ln w="9525" algn="ctr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 marL="0" marR="0" lvl="0" indent="0" algn="ctr" defTabSz="914400" eaLnBrk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4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</a:rPr>
                <a:t>3</a:t>
              </a:r>
            </a:p>
          </p:txBody>
        </p:sp>
      </p:grpSp>
      <p:grpSp>
        <p:nvGrpSpPr>
          <p:cNvPr id="59" name="Group 61"/>
          <p:cNvGrpSpPr>
            <a:grpSpLocks/>
          </p:cNvGrpSpPr>
          <p:nvPr/>
        </p:nvGrpSpPr>
        <p:grpSpPr bwMode="auto">
          <a:xfrm>
            <a:off x="2223864" y="4327376"/>
            <a:ext cx="4724400" cy="685800"/>
            <a:chOff x="1296" y="1824"/>
            <a:chExt cx="2976" cy="432"/>
          </a:xfrm>
        </p:grpSpPr>
        <p:sp>
          <p:nvSpPr>
            <p:cNvPr id="60" name="AutoShape 62"/>
            <p:cNvSpPr>
              <a:spLocks noChangeArrowheads="1"/>
            </p:cNvSpPr>
            <p:nvPr/>
          </p:nvSpPr>
          <p:spPr bwMode="gray">
            <a:xfrm>
              <a:off x="1536" y="1899"/>
              <a:ext cx="2736" cy="288"/>
            </a:xfrm>
            <a:prstGeom prst="roundRect">
              <a:avLst>
                <a:gd name="adj" fmla="val 16667"/>
              </a:avLst>
            </a:prstGeom>
            <a:gradFill rotWithShape="1">
              <a:gsLst>
                <a:gs pos="0">
                  <a:srgbClr val="A0B5C4">
                    <a:gamma/>
                    <a:tint val="21176"/>
                    <a:invGamma/>
                  </a:srgbClr>
                </a:gs>
                <a:gs pos="100000">
                  <a:srgbClr val="A0B5C4"/>
                </a:gs>
              </a:gsLst>
              <a:lin ang="0" scaled="1"/>
            </a:gradFill>
            <a:ln w="12700" algn="ctr">
              <a:solidFill>
                <a:srgbClr val="FFFFFF"/>
              </a:solidFill>
              <a:round/>
              <a:headEnd/>
              <a:tailEnd/>
            </a:ln>
            <a:effectLst>
              <a:outerShdw dist="99190" dir="2388334" algn="ctr" rotWithShape="0">
                <a:srgbClr val="333333">
                  <a:alpha val="50000"/>
                </a:srgbClr>
              </a:outerShdw>
            </a:effectLst>
          </p:spPr>
          <p:txBody>
            <a:bodyPr wrap="none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cs typeface="+mn-cs"/>
              </a:endParaRPr>
            </a:p>
          </p:txBody>
        </p:sp>
        <p:sp>
          <p:nvSpPr>
            <p:cNvPr id="61" name="AutoShape 63"/>
            <p:cNvSpPr>
              <a:spLocks noChangeArrowheads="1"/>
            </p:cNvSpPr>
            <p:nvPr/>
          </p:nvSpPr>
          <p:spPr bwMode="gray">
            <a:xfrm>
              <a:off x="1296" y="1824"/>
              <a:ext cx="432" cy="432"/>
            </a:xfrm>
            <a:prstGeom prst="diamond">
              <a:avLst/>
            </a:prstGeom>
            <a:solidFill>
              <a:srgbClr val="A0B5C4"/>
            </a:solidFill>
            <a:ln w="25400" algn="ctr">
              <a:solidFill>
                <a:srgbClr val="FFFFFF"/>
              </a:solidFill>
              <a:miter lim="800000"/>
              <a:headEnd/>
              <a:tailEnd/>
            </a:ln>
            <a:effectLst>
              <a:outerShdw dist="63500" dir="2212194" algn="ctr" rotWithShape="0">
                <a:srgbClr val="333333">
                  <a:alpha val="50000"/>
                </a:srgbClr>
              </a:outerShdw>
            </a:effectLst>
          </p:spPr>
          <p:txBody>
            <a:bodyPr wrap="none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cs typeface="+mn-cs"/>
              </a:endParaRPr>
            </a:p>
          </p:txBody>
        </p:sp>
        <p:sp>
          <p:nvSpPr>
            <p:cNvPr id="62" name="Text Box 64"/>
            <p:cNvSpPr txBox="1">
              <a:spLocks noChangeArrowheads="1"/>
            </p:cNvSpPr>
            <p:nvPr/>
          </p:nvSpPr>
          <p:spPr bwMode="gray">
            <a:xfrm>
              <a:off x="1824" y="1934"/>
              <a:ext cx="2448" cy="233"/>
            </a:xfrm>
            <a:prstGeom prst="rect">
              <a:avLst/>
            </a:prstGeom>
            <a:noFill/>
            <a:ln w="9525" algn="ctr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eaLnBrk="0" hangingPunct="0"/>
              <a:r>
                <a:rPr lang="en-US" b="1">
                  <a:solidFill>
                    <a:srgbClr val="000000"/>
                  </a:solidFill>
                </a:rPr>
                <a:t>Một số hàm xử lý xâu kí tự </a:t>
              </a:r>
              <a:endParaRPr kumimoji="0" lang="en-US" sz="18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endParaRPr>
            </a:p>
          </p:txBody>
        </p:sp>
        <p:sp>
          <p:nvSpPr>
            <p:cNvPr id="63" name="Text Box 65"/>
            <p:cNvSpPr txBox="1">
              <a:spLocks noChangeArrowheads="1"/>
            </p:cNvSpPr>
            <p:nvPr/>
          </p:nvSpPr>
          <p:spPr bwMode="gray">
            <a:xfrm>
              <a:off x="1393" y="1886"/>
              <a:ext cx="223" cy="288"/>
            </a:xfrm>
            <a:prstGeom prst="rect">
              <a:avLst/>
            </a:prstGeom>
            <a:noFill/>
            <a:ln w="9525" algn="ctr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 marL="0" marR="0" lvl="0" indent="0" algn="ctr" defTabSz="914400" eaLnBrk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4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</a:rPr>
                <a:t>4</a:t>
              </a:r>
            </a:p>
          </p:txBody>
        </p:sp>
      </p:grp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B95402-1E0D-474E-8D8C-CBE7F053639E}" type="slidenum">
              <a:rPr lang="vi-VN" smtClean="0"/>
              <a:pPr/>
              <a:t>2</a:t>
            </a:fld>
            <a:r>
              <a:rPr lang="vi-VN"/>
              <a:t>/21</a:t>
            </a:r>
          </a:p>
        </p:txBody>
      </p:sp>
    </p:spTree>
    <p:extLst>
      <p:ext uri="{BB962C8B-B14F-4D97-AF65-F5344CB8AC3E}">
        <p14:creationId xmlns:p14="http://schemas.microsoft.com/office/powerpoint/2010/main" val="426887550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7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500"/>
                            </p:stCondLst>
                            <p:childTnLst>
                              <p:par>
                                <p:cTn id="11" presetID="47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000"/>
                            </p:stCondLst>
                            <p:childTnLst>
                              <p:par>
                                <p:cTn id="17" presetID="47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5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5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1500"/>
                            </p:stCondLst>
                            <p:childTnLst>
                              <p:par>
                                <p:cTn id="23" presetID="47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5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5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/>
              <a:t>1. Khai báo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62000" y="1143000"/>
            <a:ext cx="8130480" cy="5181600"/>
          </a:xfrm>
        </p:spPr>
        <p:txBody>
          <a:bodyPr/>
          <a:lstStyle/>
          <a:p>
            <a:pPr eaLnBrk="1" hangingPunct="1">
              <a:defRPr/>
            </a:pPr>
            <a:r>
              <a:rPr lang="en-US" dirty="0" err="1">
                <a:solidFill>
                  <a:srgbClr val="002060"/>
                </a:solidFill>
              </a:rPr>
              <a:t>Khái</a:t>
            </a:r>
            <a:r>
              <a:rPr lang="en-US" dirty="0">
                <a:solidFill>
                  <a:srgbClr val="002060"/>
                </a:solidFill>
              </a:rPr>
              <a:t> </a:t>
            </a:r>
            <a:r>
              <a:rPr lang="en-US" dirty="0" err="1">
                <a:solidFill>
                  <a:srgbClr val="002060"/>
                </a:solidFill>
              </a:rPr>
              <a:t>niệm</a:t>
            </a:r>
            <a:endParaRPr lang="en-US" dirty="0">
              <a:solidFill>
                <a:srgbClr val="002060"/>
              </a:solidFill>
            </a:endParaRPr>
          </a:p>
          <a:p>
            <a:pPr lvl="1" eaLnBrk="1" hangingPunct="1">
              <a:defRPr/>
            </a:pPr>
            <a:r>
              <a:rPr lang="en-US" dirty="0" err="1"/>
              <a:t>Xâu</a:t>
            </a:r>
            <a:r>
              <a:rPr lang="en-US" dirty="0"/>
              <a:t> </a:t>
            </a:r>
            <a:r>
              <a:rPr lang="en-US" dirty="0" err="1"/>
              <a:t>kí</a:t>
            </a:r>
            <a:r>
              <a:rPr lang="en-US" dirty="0"/>
              <a:t> </a:t>
            </a:r>
            <a:r>
              <a:rPr lang="en-US" dirty="0" err="1"/>
              <a:t>tự</a:t>
            </a:r>
            <a:r>
              <a:rPr lang="en-US" dirty="0"/>
              <a:t> </a:t>
            </a:r>
            <a:r>
              <a:rPr lang="en-US" dirty="0" err="1"/>
              <a:t>trong</a:t>
            </a:r>
            <a:r>
              <a:rPr lang="en-US" dirty="0"/>
              <a:t> C </a:t>
            </a:r>
            <a:r>
              <a:rPr lang="en-US" dirty="0" err="1"/>
              <a:t>được</a:t>
            </a:r>
            <a:r>
              <a:rPr lang="en-US" dirty="0"/>
              <a:t> </a:t>
            </a:r>
            <a:r>
              <a:rPr lang="en-US" dirty="0" err="1"/>
              <a:t>xây</a:t>
            </a:r>
            <a:r>
              <a:rPr lang="en-US" dirty="0"/>
              <a:t> </a:t>
            </a:r>
            <a:r>
              <a:rPr lang="en-US" dirty="0" err="1"/>
              <a:t>dựng</a:t>
            </a:r>
            <a:r>
              <a:rPr lang="en-US" dirty="0"/>
              <a:t> </a:t>
            </a:r>
            <a:r>
              <a:rPr lang="en-US" dirty="0" err="1"/>
              <a:t>như</a:t>
            </a:r>
            <a:r>
              <a:rPr lang="en-US" dirty="0"/>
              <a:t> </a:t>
            </a:r>
            <a:r>
              <a:rPr lang="en-US" dirty="0" err="1"/>
              <a:t>một</a:t>
            </a:r>
            <a:r>
              <a:rPr lang="en-US" dirty="0"/>
              <a:t> </a:t>
            </a:r>
            <a:r>
              <a:rPr lang="en-US" dirty="0" err="1"/>
              <a:t>mảng</a:t>
            </a:r>
            <a:r>
              <a:rPr lang="en-US" dirty="0"/>
              <a:t> </a:t>
            </a:r>
            <a:r>
              <a:rPr lang="en-US" dirty="0" err="1"/>
              <a:t>một</a:t>
            </a:r>
            <a:r>
              <a:rPr lang="en-US" dirty="0"/>
              <a:t> </a:t>
            </a:r>
            <a:r>
              <a:rPr lang="en-US" dirty="0" err="1"/>
              <a:t>chiều</a:t>
            </a:r>
            <a:r>
              <a:rPr lang="en-US" dirty="0"/>
              <a:t> </a:t>
            </a:r>
            <a:r>
              <a:rPr lang="en-US" dirty="0" err="1"/>
              <a:t>các</a:t>
            </a:r>
            <a:r>
              <a:rPr lang="en-US" dirty="0"/>
              <a:t> </a:t>
            </a:r>
            <a:r>
              <a:rPr lang="en-US" dirty="0" err="1"/>
              <a:t>kí</a:t>
            </a:r>
            <a:r>
              <a:rPr lang="en-US" dirty="0"/>
              <a:t> </a:t>
            </a:r>
            <a:r>
              <a:rPr lang="en-US" dirty="0" err="1"/>
              <a:t>tự</a:t>
            </a:r>
            <a:endParaRPr lang="en-US" dirty="0"/>
          </a:p>
          <a:p>
            <a:pPr lvl="1" eaLnBrk="1" hangingPunct="1">
              <a:defRPr/>
            </a:pPr>
            <a:r>
              <a:rPr lang="en-US" dirty="0" err="1"/>
              <a:t>Xâu</a:t>
            </a:r>
            <a:r>
              <a:rPr lang="en-US" dirty="0"/>
              <a:t> </a:t>
            </a:r>
            <a:r>
              <a:rPr lang="en-US" dirty="0" err="1"/>
              <a:t>kí</a:t>
            </a:r>
            <a:r>
              <a:rPr lang="en-US" dirty="0"/>
              <a:t> </a:t>
            </a:r>
            <a:r>
              <a:rPr lang="en-US" dirty="0" err="1"/>
              <a:t>tự</a:t>
            </a:r>
            <a:r>
              <a:rPr lang="en-US" dirty="0"/>
              <a:t> </a:t>
            </a:r>
            <a:r>
              <a:rPr lang="en-US" dirty="0" err="1"/>
              <a:t>kết</a:t>
            </a:r>
            <a:r>
              <a:rPr lang="en-US" dirty="0"/>
              <a:t> </a:t>
            </a:r>
            <a:r>
              <a:rPr lang="en-US" dirty="0" err="1"/>
              <a:t>thúc</a:t>
            </a:r>
            <a:r>
              <a:rPr lang="en-US" dirty="0"/>
              <a:t> </a:t>
            </a:r>
            <a:r>
              <a:rPr lang="en-US" dirty="0" err="1"/>
              <a:t>bằng</a:t>
            </a:r>
            <a:r>
              <a:rPr lang="en-US" dirty="0"/>
              <a:t> </a:t>
            </a:r>
            <a:r>
              <a:rPr lang="en-US" dirty="0" err="1"/>
              <a:t>kí</a:t>
            </a:r>
            <a:r>
              <a:rPr lang="en-US" dirty="0"/>
              <a:t> </a:t>
            </a:r>
            <a:r>
              <a:rPr lang="en-US" dirty="0" err="1"/>
              <a:t>tự</a:t>
            </a:r>
            <a:r>
              <a:rPr lang="en-US" dirty="0"/>
              <a:t> ‘</a:t>
            </a:r>
            <a:r>
              <a:rPr lang="en-US" dirty="0">
                <a:solidFill>
                  <a:srgbClr val="FF0000"/>
                </a:solidFill>
              </a:rPr>
              <a:t>\0</a:t>
            </a:r>
            <a:r>
              <a:rPr lang="en-US" dirty="0"/>
              <a:t>’ (</a:t>
            </a:r>
            <a:r>
              <a:rPr lang="en-US" dirty="0" err="1"/>
              <a:t>kí</a:t>
            </a:r>
            <a:r>
              <a:rPr lang="en-US" dirty="0"/>
              <a:t> </a:t>
            </a:r>
            <a:r>
              <a:rPr lang="en-US" dirty="0" err="1"/>
              <a:t>tự</a:t>
            </a:r>
            <a:r>
              <a:rPr lang="en-US" dirty="0"/>
              <a:t> NULL </a:t>
            </a:r>
            <a:r>
              <a:rPr lang="en-US" dirty="0" err="1"/>
              <a:t>trong</a:t>
            </a:r>
            <a:r>
              <a:rPr lang="en-US" dirty="0"/>
              <a:t> </a:t>
            </a:r>
            <a:r>
              <a:rPr lang="en-US" dirty="0" err="1"/>
              <a:t>bảng</a:t>
            </a:r>
            <a:r>
              <a:rPr lang="en-US" dirty="0"/>
              <a:t> </a:t>
            </a:r>
            <a:r>
              <a:rPr lang="en-US" dirty="0" err="1"/>
              <a:t>mã</a:t>
            </a:r>
            <a:r>
              <a:rPr lang="en-US" dirty="0"/>
              <a:t> ASCII)</a:t>
            </a:r>
          </a:p>
          <a:p>
            <a:pPr lvl="1" eaLnBrk="1" hangingPunct="1">
              <a:buFont typeface="Wingdings" pitchFamily="2" charset="2"/>
              <a:buNone/>
              <a:defRPr/>
            </a:pPr>
            <a:r>
              <a:rPr lang="en-US" dirty="0">
                <a:sym typeface="Wingdings" pitchFamily="2" charset="2"/>
              </a:rPr>
              <a:t>	 </a:t>
            </a:r>
            <a:r>
              <a:rPr lang="en-US" dirty="0" err="1">
                <a:sym typeface="Wingdings" pitchFamily="2" charset="2"/>
              </a:rPr>
              <a:t>Độ</a:t>
            </a:r>
            <a:r>
              <a:rPr lang="en-US" dirty="0">
                <a:sym typeface="Wingdings" pitchFamily="2" charset="2"/>
              </a:rPr>
              <a:t> </a:t>
            </a:r>
            <a:r>
              <a:rPr lang="en-US" dirty="0" err="1">
                <a:sym typeface="Wingdings" pitchFamily="2" charset="2"/>
              </a:rPr>
              <a:t>dài</a:t>
            </a:r>
            <a:r>
              <a:rPr lang="en-US" dirty="0">
                <a:sym typeface="Wingdings" pitchFamily="2" charset="2"/>
              </a:rPr>
              <a:t> </a:t>
            </a:r>
            <a:r>
              <a:rPr lang="en-US" dirty="0" err="1">
                <a:sym typeface="Wingdings" pitchFamily="2" charset="2"/>
              </a:rPr>
              <a:t>tối</a:t>
            </a:r>
            <a:r>
              <a:rPr lang="en-US" dirty="0">
                <a:sym typeface="Wingdings" pitchFamily="2" charset="2"/>
              </a:rPr>
              <a:t> </a:t>
            </a:r>
            <a:r>
              <a:rPr lang="en-US" dirty="0" err="1">
                <a:sym typeface="Wingdings" pitchFamily="2" charset="2"/>
              </a:rPr>
              <a:t>đa</a:t>
            </a:r>
            <a:r>
              <a:rPr lang="en-US" dirty="0">
                <a:sym typeface="Wingdings" pitchFamily="2" charset="2"/>
              </a:rPr>
              <a:t> </a:t>
            </a:r>
            <a:r>
              <a:rPr lang="en-US" dirty="0" err="1">
                <a:sym typeface="Wingdings" pitchFamily="2" charset="2"/>
              </a:rPr>
              <a:t>của</a:t>
            </a:r>
            <a:r>
              <a:rPr lang="en-US" dirty="0">
                <a:sym typeface="Wingdings" pitchFamily="2" charset="2"/>
              </a:rPr>
              <a:t> </a:t>
            </a:r>
            <a:r>
              <a:rPr lang="en-US" dirty="0" err="1">
                <a:sym typeface="Wingdings" pitchFamily="2" charset="2"/>
              </a:rPr>
              <a:t>xâu</a:t>
            </a:r>
            <a:r>
              <a:rPr lang="en-US" dirty="0">
                <a:sym typeface="Wingdings" pitchFamily="2" charset="2"/>
              </a:rPr>
              <a:t>= </a:t>
            </a:r>
            <a:r>
              <a:rPr lang="en-US" dirty="0" err="1">
                <a:sym typeface="Wingdings" pitchFamily="2" charset="2"/>
              </a:rPr>
              <a:t>kích</a:t>
            </a:r>
            <a:r>
              <a:rPr lang="en-US" dirty="0">
                <a:sym typeface="Wingdings" pitchFamily="2" charset="2"/>
              </a:rPr>
              <a:t> </a:t>
            </a:r>
            <a:r>
              <a:rPr lang="en-US" dirty="0" err="1">
                <a:sym typeface="Wingdings" pitchFamily="2" charset="2"/>
              </a:rPr>
              <a:t>th</a:t>
            </a:r>
            <a:r>
              <a:rPr lang="vi-VN" dirty="0">
                <a:sym typeface="Wingdings" pitchFamily="2" charset="2"/>
              </a:rPr>
              <a:t>ướ</a:t>
            </a:r>
            <a:r>
              <a:rPr lang="en-US" dirty="0">
                <a:sym typeface="Wingdings" pitchFamily="2" charset="2"/>
              </a:rPr>
              <a:t>c </a:t>
            </a:r>
            <a:r>
              <a:rPr lang="en-US" dirty="0" err="1">
                <a:sym typeface="Wingdings" pitchFamily="2" charset="2"/>
              </a:rPr>
              <a:t>mảng</a:t>
            </a:r>
            <a:r>
              <a:rPr lang="en-US" dirty="0">
                <a:sym typeface="Wingdings" pitchFamily="2" charset="2"/>
              </a:rPr>
              <a:t> – 1</a:t>
            </a:r>
          </a:p>
          <a:p>
            <a:pPr lvl="1">
              <a:buNone/>
              <a:defRPr/>
            </a:pPr>
            <a:r>
              <a:rPr lang="en-US" dirty="0">
                <a:solidFill>
                  <a:srgbClr val="002060"/>
                </a:solidFill>
                <a:sym typeface="Wingdings" pitchFamily="2" charset="2"/>
              </a:rPr>
              <a:t>	</a:t>
            </a:r>
            <a:r>
              <a:rPr lang="en-US" dirty="0">
                <a:sym typeface="Wingdings" pitchFamily="2" charset="2"/>
              </a:rPr>
              <a:t> </a:t>
            </a:r>
            <a:r>
              <a:rPr lang="en-US" dirty="0" err="1"/>
              <a:t>Khai</a:t>
            </a:r>
            <a:r>
              <a:rPr lang="en-US" dirty="0"/>
              <a:t> </a:t>
            </a:r>
            <a:r>
              <a:rPr lang="en-US" dirty="0" err="1"/>
              <a:t>báo</a:t>
            </a:r>
            <a:r>
              <a:rPr lang="en-US" dirty="0"/>
              <a:t> </a:t>
            </a:r>
            <a:r>
              <a:rPr lang="en-US" dirty="0" err="1"/>
              <a:t>nên</a:t>
            </a:r>
            <a:r>
              <a:rPr lang="en-US" dirty="0"/>
              <a:t> </a:t>
            </a:r>
            <a:r>
              <a:rPr lang="en-US" dirty="0" err="1"/>
              <a:t>dành</a:t>
            </a:r>
            <a:r>
              <a:rPr lang="en-US" dirty="0"/>
              <a:t> ra 1 ô </a:t>
            </a:r>
            <a:r>
              <a:rPr lang="en-US" dirty="0" err="1"/>
              <a:t>nhớ</a:t>
            </a:r>
            <a:r>
              <a:rPr lang="en-US" dirty="0"/>
              <a:t> </a:t>
            </a:r>
            <a:r>
              <a:rPr lang="en-US" dirty="0" err="1"/>
              <a:t>để</a:t>
            </a:r>
            <a:r>
              <a:rPr lang="en-US" dirty="0"/>
              <a:t> </a:t>
            </a:r>
            <a:r>
              <a:rPr lang="en-US" dirty="0" err="1"/>
              <a:t>chứa</a:t>
            </a:r>
            <a:r>
              <a:rPr lang="en-US" dirty="0"/>
              <a:t> </a:t>
            </a:r>
            <a:r>
              <a:rPr lang="en-US" dirty="0" err="1"/>
              <a:t>kí</a:t>
            </a:r>
            <a:r>
              <a:rPr lang="en-US" dirty="0"/>
              <a:t> </a:t>
            </a:r>
            <a:r>
              <a:rPr lang="en-US" dirty="0" err="1"/>
              <a:t>tự</a:t>
            </a:r>
            <a:r>
              <a:rPr lang="en-US" dirty="0"/>
              <a:t> ‘</a:t>
            </a:r>
            <a:r>
              <a:rPr lang="en-US" dirty="0">
                <a:solidFill>
                  <a:srgbClr val="FF0000"/>
                </a:solidFill>
              </a:rPr>
              <a:t>\0</a:t>
            </a:r>
            <a:r>
              <a:rPr lang="en-US" dirty="0"/>
              <a:t>’</a:t>
            </a:r>
          </a:p>
          <a:p>
            <a:pPr eaLnBrk="1" hangingPunct="1">
              <a:defRPr/>
            </a:pPr>
            <a:r>
              <a:rPr lang="en-US" dirty="0" err="1">
                <a:solidFill>
                  <a:srgbClr val="002060"/>
                </a:solidFill>
              </a:rPr>
              <a:t>Ví</a:t>
            </a:r>
            <a:r>
              <a:rPr lang="en-US" dirty="0">
                <a:solidFill>
                  <a:srgbClr val="002060"/>
                </a:solidFill>
              </a:rPr>
              <a:t> </a:t>
            </a:r>
            <a:r>
              <a:rPr lang="en-US">
                <a:solidFill>
                  <a:srgbClr val="002060"/>
                </a:solidFill>
              </a:rPr>
              <a:t>dụ</a:t>
            </a:r>
            <a:endParaRPr lang="en-US" dirty="0">
              <a:solidFill>
                <a:srgbClr val="002060"/>
              </a:solidFill>
            </a:endParaRPr>
          </a:p>
          <a:p>
            <a:pPr eaLnBrk="1" hangingPunct="1">
              <a:defRPr/>
            </a:pPr>
            <a:endParaRPr lang="en-US" dirty="0">
              <a:solidFill>
                <a:srgbClr val="002060"/>
              </a:solidFill>
            </a:endParaRPr>
          </a:p>
        </p:txBody>
      </p:sp>
      <p:sp>
        <p:nvSpPr>
          <p:cNvPr id="17412" name="Footer Placeholder 3"/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/>
          <a:p>
            <a:r>
              <a:rPr lang="vi-VN"/>
              <a:t>Chương 7 - Xâu kí tự</a:t>
            </a:r>
            <a:endParaRPr lang="en-US"/>
          </a:p>
        </p:txBody>
      </p:sp>
      <p:sp>
        <p:nvSpPr>
          <p:cNvPr id="10" name="TextBox 9"/>
          <p:cNvSpPr txBox="1">
            <a:spLocks noChangeArrowheads="1"/>
          </p:cNvSpPr>
          <p:nvPr/>
        </p:nvSpPr>
        <p:spPr bwMode="auto">
          <a:xfrm>
            <a:off x="838200" y="4797152"/>
            <a:ext cx="7010400" cy="7080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 sz="2000" b="1" dirty="0">
                <a:latin typeface="Courier New" pitchFamily="49" charset="0"/>
                <a:cs typeface="Courier New" pitchFamily="49" charset="0"/>
              </a:rPr>
              <a:t>char line[80];	// </a:t>
            </a:r>
            <a:r>
              <a:rPr lang="en-US" sz="2000" b="1" dirty="0" err="1">
                <a:latin typeface="Courier New" pitchFamily="49" charset="0"/>
                <a:cs typeface="Courier New" pitchFamily="49" charset="0"/>
              </a:rPr>
              <a:t>Dài</a:t>
            </a:r>
            <a:r>
              <a:rPr lang="en-US" sz="2000" b="1" dirty="0">
                <a:latin typeface="Courier New" pitchFamily="49" charset="0"/>
                <a:cs typeface="Courier New" pitchFamily="49" charset="0"/>
              </a:rPr>
              <a:t> </a:t>
            </a:r>
            <a:r>
              <a:rPr lang="en-US" sz="2000" b="1" dirty="0" err="1">
                <a:latin typeface="Courier New" pitchFamily="49" charset="0"/>
                <a:cs typeface="Courier New" pitchFamily="49" charset="0"/>
              </a:rPr>
              <a:t>tối</a:t>
            </a:r>
            <a:r>
              <a:rPr lang="en-US" sz="2000" b="1" dirty="0">
                <a:latin typeface="Courier New" pitchFamily="49" charset="0"/>
                <a:cs typeface="Courier New" pitchFamily="49" charset="0"/>
              </a:rPr>
              <a:t> </a:t>
            </a:r>
            <a:r>
              <a:rPr lang="en-US" sz="2000" b="1" dirty="0" err="1">
                <a:latin typeface="Courier New" pitchFamily="49" charset="0"/>
                <a:cs typeface="Courier New" pitchFamily="49" charset="0"/>
              </a:rPr>
              <a:t>đa</a:t>
            </a:r>
            <a:r>
              <a:rPr lang="en-US" sz="2000" b="1" dirty="0">
                <a:latin typeface="Courier New" pitchFamily="49" charset="0"/>
                <a:cs typeface="Courier New" pitchFamily="49" charset="0"/>
              </a:rPr>
              <a:t> 79 </a:t>
            </a:r>
            <a:r>
              <a:rPr lang="en-US" sz="2000" b="1" dirty="0" err="1">
                <a:latin typeface="Courier New" pitchFamily="49" charset="0"/>
                <a:cs typeface="Courier New" pitchFamily="49" charset="0"/>
              </a:rPr>
              <a:t>kí</a:t>
            </a:r>
            <a:r>
              <a:rPr lang="en-US" sz="2000" b="1" dirty="0">
                <a:latin typeface="Courier New" pitchFamily="49" charset="0"/>
                <a:cs typeface="Courier New" pitchFamily="49" charset="0"/>
              </a:rPr>
              <a:t> </a:t>
            </a:r>
            <a:r>
              <a:rPr lang="en-US" sz="2000" b="1" dirty="0" err="1">
                <a:latin typeface="Courier New" pitchFamily="49" charset="0"/>
                <a:cs typeface="Courier New" pitchFamily="49" charset="0"/>
              </a:rPr>
              <a:t>tự</a:t>
            </a:r>
            <a:endParaRPr lang="en-US" sz="2000" b="1" dirty="0">
              <a:latin typeface="Courier New" pitchFamily="49" charset="0"/>
              <a:cs typeface="Courier New" pitchFamily="49" charset="0"/>
            </a:endParaRPr>
          </a:p>
          <a:p>
            <a:r>
              <a:rPr lang="en-US" sz="2000" b="1" dirty="0">
                <a:latin typeface="Courier New" pitchFamily="49" charset="0"/>
                <a:cs typeface="Courier New" pitchFamily="49" charset="0"/>
              </a:rPr>
              <a:t>char </a:t>
            </a:r>
            <a:r>
              <a:rPr lang="en-US" sz="2000" b="1" dirty="0" err="1">
                <a:latin typeface="Courier New" pitchFamily="49" charset="0"/>
                <a:cs typeface="Courier New" pitchFamily="49" charset="0"/>
              </a:rPr>
              <a:t>hoten</a:t>
            </a:r>
            <a:r>
              <a:rPr lang="en-US" sz="2000" b="1" dirty="0">
                <a:latin typeface="Courier New" pitchFamily="49" charset="0"/>
                <a:cs typeface="Courier New" pitchFamily="49" charset="0"/>
              </a:rPr>
              <a:t>[30];	// </a:t>
            </a:r>
            <a:r>
              <a:rPr lang="en-US" sz="2000" b="1" dirty="0" err="1">
                <a:latin typeface="Courier New" pitchFamily="49" charset="0"/>
                <a:cs typeface="Courier New" pitchFamily="49" charset="0"/>
              </a:rPr>
              <a:t>Dài</a:t>
            </a:r>
            <a:r>
              <a:rPr lang="en-US" sz="2000" b="1" dirty="0">
                <a:latin typeface="Courier New" pitchFamily="49" charset="0"/>
                <a:cs typeface="Courier New" pitchFamily="49" charset="0"/>
              </a:rPr>
              <a:t> </a:t>
            </a:r>
            <a:r>
              <a:rPr lang="en-US" sz="2000" b="1" dirty="0" err="1">
                <a:latin typeface="Courier New" pitchFamily="49" charset="0"/>
                <a:cs typeface="Courier New" pitchFamily="49" charset="0"/>
              </a:rPr>
              <a:t>tối</a:t>
            </a:r>
            <a:r>
              <a:rPr lang="en-US" sz="2000" b="1" dirty="0">
                <a:latin typeface="Courier New" pitchFamily="49" charset="0"/>
                <a:cs typeface="Courier New" pitchFamily="49" charset="0"/>
              </a:rPr>
              <a:t> </a:t>
            </a:r>
            <a:r>
              <a:rPr lang="en-US" sz="2000" b="1" dirty="0" err="1">
                <a:latin typeface="Courier New" pitchFamily="49" charset="0"/>
                <a:cs typeface="Courier New" pitchFamily="49" charset="0"/>
              </a:rPr>
              <a:t>đa</a:t>
            </a:r>
            <a:r>
              <a:rPr lang="en-US" sz="2000" b="1" dirty="0">
                <a:latin typeface="Courier New" pitchFamily="49" charset="0"/>
                <a:cs typeface="Courier New" pitchFamily="49" charset="0"/>
              </a:rPr>
              <a:t> 29 </a:t>
            </a:r>
            <a:r>
              <a:rPr lang="en-US" sz="2000" b="1" dirty="0" err="1">
                <a:latin typeface="Courier New" pitchFamily="49" charset="0"/>
                <a:cs typeface="Courier New" pitchFamily="49" charset="0"/>
              </a:rPr>
              <a:t>kí</a:t>
            </a:r>
            <a:r>
              <a:rPr lang="en-US" sz="2000" b="1" dirty="0">
                <a:latin typeface="Courier New" pitchFamily="49" charset="0"/>
                <a:cs typeface="Courier New" pitchFamily="49" charset="0"/>
              </a:rPr>
              <a:t> </a:t>
            </a:r>
            <a:r>
              <a:rPr lang="en-US" sz="2000" b="1" dirty="0" err="1">
                <a:latin typeface="Courier New" pitchFamily="49" charset="0"/>
                <a:cs typeface="Courier New" pitchFamily="49" charset="0"/>
              </a:rPr>
              <a:t>tự</a:t>
            </a:r>
            <a:endParaRPr lang="en-US" sz="2000" b="1" dirty="0">
              <a:latin typeface="Courier New" pitchFamily="49" charset="0"/>
              <a:cs typeface="Courier New" pitchFamily="49" charset="0"/>
            </a:endParaRP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DA0232-2DE4-40F2-80E5-C1CF8755CC17}" type="datetime1">
              <a:rPr lang="vi-VN" smtClean="0"/>
              <a:pPr/>
              <a:t>14/01/2024</a:t>
            </a:fld>
            <a:endParaRPr lang="vi-V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B95402-1E0D-474E-8D8C-CBE7F053639E}" type="slidenum">
              <a:rPr lang="vi-VN" smtClean="0"/>
              <a:pPr/>
              <a:t>3</a:t>
            </a:fld>
            <a:r>
              <a:rPr lang="vi-VN"/>
              <a:t>/21</a:t>
            </a:r>
          </a:p>
        </p:txBody>
      </p:sp>
    </p:spTree>
    <p:extLst>
      <p:ext uri="{BB962C8B-B14F-4D97-AF65-F5344CB8AC3E}">
        <p14:creationId xmlns:p14="http://schemas.microsoft.com/office/powerpoint/2010/main" val="273063061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500"/>
                            </p:stCondLst>
                            <p:childTnLst>
                              <p:par>
                                <p:cTn id="20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/>
              <a:t>Khai báo có khởi tạo giá trị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Độ dài cụ thể</a:t>
            </a:r>
          </a:p>
          <a:p>
            <a:pPr marL="471487" lvl="1" indent="0">
              <a:buNone/>
              <a:defRPr/>
            </a:pPr>
            <a:r>
              <a:rPr lang="sv-SE" sz="2000" b="1" kern="1200">
                <a:solidFill>
                  <a:schemeClr val="tx1"/>
                </a:solidFill>
                <a:latin typeface="Courier New" pitchFamily="49" charset="0"/>
                <a:ea typeface="+mn-ea"/>
                <a:cs typeface="Courier New" pitchFamily="49" charset="0"/>
              </a:rPr>
              <a:t>	</a:t>
            </a:r>
            <a:r>
              <a:rPr lang="sv-SE" b="1" kern="1200">
                <a:solidFill>
                  <a:schemeClr val="tx1"/>
                </a:solidFill>
                <a:latin typeface="Courier New" pitchFamily="49" charset="0"/>
                <a:ea typeface="+mn-ea"/>
                <a:cs typeface="Courier New" pitchFamily="49" charset="0"/>
              </a:rPr>
              <a:t>char string[40]="Ngon ngu C";</a:t>
            </a:r>
            <a:endParaRPr lang="en-US" b="1" kern="1200">
              <a:solidFill>
                <a:schemeClr val="tx1"/>
              </a:solidFill>
              <a:latin typeface="Courier New" pitchFamily="49" charset="0"/>
              <a:ea typeface="+mn-ea"/>
              <a:cs typeface="Courier New" pitchFamily="49" charset="0"/>
            </a:endParaRPr>
          </a:p>
          <a:p>
            <a:pPr lvl="1" eaLnBrk="1" hangingPunct="1">
              <a:defRPr/>
            </a:pPr>
            <a:r>
              <a:rPr lang="en-US"/>
              <a:t>Khởi tạo xâu kí tự có độ dài tối đa 39 kí tự với giá trị ban đầu là xâu “</a:t>
            </a:r>
            <a:r>
              <a:rPr lang="en-US">
                <a:solidFill>
                  <a:srgbClr val="FF0000"/>
                </a:solidFill>
              </a:rPr>
              <a:t>Ngon ngu C</a:t>
            </a:r>
            <a:r>
              <a:rPr lang="en-US"/>
              <a:t>”</a:t>
            </a:r>
          </a:p>
          <a:p>
            <a:pPr>
              <a:defRPr/>
            </a:pPr>
            <a:r>
              <a:rPr lang="en-US"/>
              <a:t>Tự xác </a:t>
            </a:r>
            <a:r>
              <a:rPr lang="vi-VN"/>
              <a:t>đị</a:t>
            </a:r>
            <a:r>
              <a:rPr lang="en-US"/>
              <a:t>nh </a:t>
            </a:r>
            <a:r>
              <a:rPr lang="vi-VN"/>
              <a:t>độ</a:t>
            </a:r>
            <a:r>
              <a:rPr lang="en-US"/>
              <a:t> dài</a:t>
            </a:r>
          </a:p>
          <a:p>
            <a:pPr marL="471487" lvl="1" indent="0">
              <a:buNone/>
              <a:defRPr/>
            </a:pPr>
            <a:r>
              <a:rPr lang="en-US" b="1" kern="1200">
                <a:solidFill>
                  <a:schemeClr val="tx1"/>
                </a:solidFill>
                <a:latin typeface="Courier New" pitchFamily="49" charset="0"/>
                <a:ea typeface="+mn-ea"/>
                <a:cs typeface="Courier New" pitchFamily="49" charset="0"/>
              </a:rPr>
              <a:t>	char str[]=“Ngon ngu C”;</a:t>
            </a:r>
          </a:p>
          <a:p>
            <a:pPr lvl="1">
              <a:defRPr/>
            </a:pPr>
            <a:r>
              <a:rPr lang="en-US"/>
              <a:t>Chương trình dịch tự bố trí một mảng để chứa dãy kí tự và 1 ô chứa kí hiệu ‘</a:t>
            </a:r>
            <a:r>
              <a:rPr lang="en-US">
                <a:solidFill>
                  <a:srgbClr val="FF0000"/>
                </a:solidFill>
              </a:rPr>
              <a:t>\0</a:t>
            </a:r>
            <a:r>
              <a:rPr lang="en-US"/>
              <a:t>’</a:t>
            </a:r>
          </a:p>
          <a:p>
            <a:pPr>
              <a:defRPr/>
            </a:pPr>
            <a:r>
              <a:rPr lang="en-US"/>
              <a:t>Chú ý:</a:t>
            </a:r>
          </a:p>
          <a:p>
            <a:pPr lvl="1">
              <a:defRPr/>
            </a:pPr>
            <a:r>
              <a:rPr lang="en-US"/>
              <a:t>Khai báo xâu kí tự với con trỏ</a:t>
            </a:r>
          </a:p>
          <a:p>
            <a:pPr marL="471487" lvl="1" indent="0">
              <a:buNone/>
              <a:defRPr/>
            </a:pPr>
            <a:r>
              <a:rPr lang="en-US" b="1" kern="1200">
                <a:solidFill>
                  <a:schemeClr val="tx1"/>
                </a:solidFill>
                <a:latin typeface="Courier New" pitchFamily="49" charset="0"/>
                <a:ea typeface="+mn-ea"/>
                <a:cs typeface="Courier New" pitchFamily="49" charset="0"/>
              </a:rPr>
              <a:t>	char *message;</a:t>
            </a:r>
          </a:p>
          <a:p>
            <a:pPr marL="471487" lvl="1" indent="0">
              <a:buNone/>
              <a:defRPr/>
            </a:pPr>
            <a:r>
              <a:rPr lang="en-US" b="1" kern="1200">
                <a:solidFill>
                  <a:schemeClr val="tx1"/>
                </a:solidFill>
                <a:latin typeface="Courier New" pitchFamily="49" charset="0"/>
                <a:ea typeface="+mn-ea"/>
                <a:cs typeface="Courier New" pitchFamily="49" charset="0"/>
              </a:rPr>
              <a:t>	message=“Xin chao!”;</a:t>
            </a:r>
          </a:p>
        </p:txBody>
      </p:sp>
      <p:sp>
        <p:nvSpPr>
          <p:cNvPr id="18436" name="Footer Placeholder 3"/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/>
          <a:p>
            <a:r>
              <a:rPr lang="vi-VN"/>
              <a:t>Chương 7 - Xâu kí tự</a:t>
            </a:r>
            <a:endParaRPr lang="en-US"/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27E241-2E97-4088-9680-107120850755}" type="datetime1">
              <a:rPr lang="vi-VN" smtClean="0"/>
              <a:pPr/>
              <a:t>14/01/2024</a:t>
            </a:fld>
            <a:endParaRPr lang="vi-V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B95402-1E0D-474E-8D8C-CBE7F053639E}" type="slidenum">
              <a:rPr lang="vi-VN" smtClean="0"/>
              <a:pPr/>
              <a:t>4</a:t>
            </a:fld>
            <a:r>
              <a:rPr lang="vi-VN"/>
              <a:t>/21</a:t>
            </a:r>
          </a:p>
        </p:txBody>
      </p:sp>
    </p:spTree>
    <p:extLst>
      <p:ext uri="{BB962C8B-B14F-4D97-AF65-F5344CB8AC3E}">
        <p14:creationId xmlns:p14="http://schemas.microsoft.com/office/powerpoint/2010/main" val="416426452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6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3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0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7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8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4" dur="5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5" dur="5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>
                      <p:stCondLst>
                        <p:cond delay="indefinite"/>
                      </p:stCondLst>
                      <p:childTnLst>
                        <p:par>
                          <p:cTn id="67" fill="hold">
                            <p:stCondLst>
                              <p:cond delay="0"/>
                            </p:stCondLst>
                            <p:childTnLst>
                              <p:par>
                                <p:cTn id="68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5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1" dur="500" fill="hold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2" dur="500" fill="hold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2. Các thao tác trên xâu kí tự</a:t>
            </a:r>
            <a:endParaRPr lang="vi-V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Nhập xâu từ bàn phím</a:t>
            </a:r>
          </a:p>
          <a:p>
            <a:r>
              <a:rPr lang="en-US"/>
              <a:t>Xuất xâu ra màn hình</a:t>
            </a:r>
          </a:p>
          <a:p>
            <a:r>
              <a:rPr lang="en-US"/>
              <a:t>Xác định độ dài xâu</a:t>
            </a:r>
          </a:p>
          <a:p>
            <a:r>
              <a:rPr lang="en-US"/>
              <a:t>Ghép xâu</a:t>
            </a:r>
          </a:p>
          <a:p>
            <a:r>
              <a:rPr lang="en-US"/>
              <a:t>Sao chép xâu</a:t>
            </a:r>
          </a:p>
          <a:p>
            <a:r>
              <a:rPr lang="en-US"/>
              <a:t>So sánh xâu</a:t>
            </a:r>
          </a:p>
          <a:p>
            <a:r>
              <a:rPr lang="en-US"/>
              <a:t>Tìm kiếm kí tự</a:t>
            </a:r>
          </a:p>
          <a:p>
            <a:r>
              <a:rPr lang="en-US"/>
              <a:t>…</a:t>
            </a:r>
            <a:endParaRPr lang="vi-V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DAA691-EA34-4EE9-BB0B-D9C359CE9F98}" type="datetime1">
              <a:rPr lang="vi-VN" smtClean="0"/>
              <a:pPr/>
              <a:t>14/01/2024</a:t>
            </a:fld>
            <a:endParaRPr lang="vi-V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vi-VN"/>
              <a:t>Chương 7 - Xâu kí tự</a:t>
            </a:r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B95402-1E0D-474E-8D8C-CBE7F053639E}" type="slidenum">
              <a:rPr lang="vi-VN" smtClean="0"/>
              <a:pPr/>
              <a:t>5</a:t>
            </a:fld>
            <a:r>
              <a:rPr lang="vi-VN"/>
              <a:t>/21</a:t>
            </a:r>
          </a:p>
        </p:txBody>
      </p:sp>
    </p:spTree>
    <p:extLst>
      <p:ext uri="{BB962C8B-B14F-4D97-AF65-F5344CB8AC3E}">
        <p14:creationId xmlns:p14="http://schemas.microsoft.com/office/powerpoint/2010/main" val="303676697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500"/>
                            </p:stCondLst>
                            <p:childTnLst>
                              <p:par>
                                <p:cTn id="17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2000"/>
                            </p:stCondLst>
                            <p:childTnLst>
                              <p:par>
                                <p:cTn id="21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2500"/>
                            </p:stCondLst>
                            <p:childTnLst>
                              <p:par>
                                <p:cTn id="2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3000"/>
                            </p:stCondLst>
                            <p:childTnLst>
                              <p:par>
                                <p:cTn id="2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3500"/>
                            </p:stCondLst>
                            <p:childTnLst>
                              <p:par>
                                <p:cTn id="33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5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/>
              <a:t>a) Nhập xâu từ bàn phím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/>
              <a:t>Sử dụng hàm </a:t>
            </a:r>
            <a:r>
              <a:rPr lang="en-US" sz="2400" b="1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scanf</a:t>
            </a:r>
            <a:r>
              <a:rPr lang="en-US" sz="2400">
                <a:solidFill>
                  <a:srgbClr val="0000FF"/>
                </a:solidFill>
              </a:rPr>
              <a:t> </a:t>
            </a:r>
            <a:r>
              <a:rPr lang="en-US"/>
              <a:t>với </a:t>
            </a:r>
            <a:r>
              <a:rPr lang="vi-VN"/>
              <a:t>đặ</a:t>
            </a:r>
            <a:r>
              <a:rPr lang="en-US"/>
              <a:t>c tả “</a:t>
            </a:r>
            <a:r>
              <a:rPr lang="en-US">
                <a:solidFill>
                  <a:srgbClr val="FF0000"/>
                </a:solidFill>
              </a:rPr>
              <a:t>%s</a:t>
            </a:r>
            <a:r>
              <a:rPr lang="en-US"/>
              <a:t>”</a:t>
            </a:r>
          </a:p>
          <a:p>
            <a:pPr eaLnBrk="1" hangingPunct="1">
              <a:defRPr/>
            </a:pPr>
            <a:r>
              <a:rPr lang="en-US"/>
              <a:t>Scanf(“%d”,&amp;a[i]);</a:t>
            </a:r>
          </a:p>
          <a:p>
            <a:pPr marL="471487" lvl="1" indent="0">
              <a:buNone/>
              <a:defRPr/>
            </a:pPr>
            <a:r>
              <a:rPr lang="en-US" b="1" kern="1200">
                <a:solidFill>
                  <a:schemeClr val="tx1"/>
                </a:solidFill>
                <a:latin typeface="Courier New" pitchFamily="49" charset="0"/>
                <a:ea typeface="+mn-ea"/>
                <a:cs typeface="Courier New" pitchFamily="49" charset="0"/>
              </a:rPr>
              <a:t>	scanf(“%s”,a);</a:t>
            </a:r>
          </a:p>
          <a:p>
            <a:pPr lvl="1" eaLnBrk="1" hangingPunct="1">
              <a:defRPr/>
            </a:pPr>
            <a:r>
              <a:rPr lang="en-US"/>
              <a:t>Chỉ nhận các kí tự từ bàn phím </a:t>
            </a:r>
            <a:r>
              <a:rPr lang="vi-VN"/>
              <a:t>đế</a:t>
            </a:r>
            <a:r>
              <a:rPr lang="en-US"/>
              <a:t>n khi gặp kí tự dấu cách, tab, kí tự xuống dòng.</a:t>
            </a:r>
          </a:p>
          <a:p>
            <a:pPr lvl="1" eaLnBrk="1" hangingPunct="1">
              <a:defRPr/>
            </a:pPr>
            <a:r>
              <a:rPr lang="en-US"/>
              <a:t>Xâu nhận </a:t>
            </a:r>
            <a:r>
              <a:rPr lang="vi-VN"/>
              <a:t>đượ</a:t>
            </a:r>
            <a:r>
              <a:rPr lang="en-US"/>
              <a:t>c không bao gồm dấu cách</a:t>
            </a:r>
          </a:p>
        </p:txBody>
      </p:sp>
      <p:sp>
        <p:nvSpPr>
          <p:cNvPr id="20484" name="Footer Placeholder 3"/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/>
          <a:p>
            <a:r>
              <a:rPr lang="vi-VN"/>
              <a:t>Chương 7 - Xâu kí tự</a:t>
            </a:r>
            <a:endParaRPr lang="en-US"/>
          </a:p>
        </p:txBody>
      </p:sp>
      <p:sp>
        <p:nvSpPr>
          <p:cNvPr id="6" name="TextBox 5"/>
          <p:cNvSpPr txBox="1">
            <a:spLocks noChangeArrowheads="1"/>
          </p:cNvSpPr>
          <p:nvPr/>
        </p:nvSpPr>
        <p:spPr bwMode="auto">
          <a:xfrm>
            <a:off x="811967" y="3810000"/>
            <a:ext cx="7315200" cy="13239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 sz="2000" b="1" dirty="0">
                <a:latin typeface="Courier New" pitchFamily="49" charset="0"/>
                <a:cs typeface="Courier New" pitchFamily="49" charset="0"/>
              </a:rPr>
              <a:t>char </a:t>
            </a:r>
            <a:r>
              <a:rPr lang="en-US" sz="2000" b="1" dirty="0" err="1">
                <a:latin typeface="Courier New" pitchFamily="49" charset="0"/>
                <a:cs typeface="Courier New" pitchFamily="49" charset="0"/>
              </a:rPr>
              <a:t>monhoc</a:t>
            </a:r>
            <a:r>
              <a:rPr lang="en-US" sz="2000" b="1" dirty="0">
                <a:latin typeface="Courier New" pitchFamily="49" charset="0"/>
                <a:cs typeface="Courier New" pitchFamily="49" charset="0"/>
              </a:rPr>
              <a:t>[50];</a:t>
            </a:r>
          </a:p>
          <a:p>
            <a:r>
              <a:rPr lang="en-US" sz="2000" b="1" dirty="0" err="1">
                <a:latin typeface="Courier New" pitchFamily="49" charset="0"/>
                <a:cs typeface="Courier New" pitchFamily="49" charset="0"/>
              </a:rPr>
              <a:t>printf</a:t>
            </a:r>
            <a:r>
              <a:rPr lang="en-US" sz="2000" b="1" dirty="0">
                <a:latin typeface="Courier New" pitchFamily="49" charset="0"/>
                <a:cs typeface="Courier New" pitchFamily="49" charset="0"/>
              </a:rPr>
              <a:t>(“</a:t>
            </a:r>
            <a:r>
              <a:rPr lang="en-US" sz="2000" b="1" dirty="0" err="1">
                <a:latin typeface="Courier New" pitchFamily="49" charset="0"/>
                <a:cs typeface="Courier New" pitchFamily="49" charset="0"/>
              </a:rPr>
              <a:t>Nhap</a:t>
            </a:r>
            <a:r>
              <a:rPr lang="en-US" sz="2000" b="1" dirty="0">
                <a:latin typeface="Courier New" pitchFamily="49" charset="0"/>
                <a:cs typeface="Courier New" pitchFamily="49" charset="0"/>
              </a:rPr>
              <a:t> mot </a:t>
            </a:r>
            <a:r>
              <a:rPr lang="en-US" sz="2000" b="1" dirty="0" err="1">
                <a:latin typeface="Courier New" pitchFamily="49" charset="0"/>
                <a:cs typeface="Courier New" pitchFamily="49" charset="0"/>
              </a:rPr>
              <a:t>xau</a:t>
            </a:r>
            <a:r>
              <a:rPr lang="en-US" sz="2000" b="1" dirty="0">
                <a:latin typeface="Courier New" pitchFamily="49" charset="0"/>
                <a:cs typeface="Courier New" pitchFamily="49" charset="0"/>
              </a:rPr>
              <a:t> </a:t>
            </a:r>
            <a:r>
              <a:rPr lang="en-US" sz="2000" b="1" dirty="0" err="1">
                <a:latin typeface="Courier New" pitchFamily="49" charset="0"/>
                <a:cs typeface="Courier New" pitchFamily="49" charset="0"/>
              </a:rPr>
              <a:t>ki</a:t>
            </a:r>
            <a:r>
              <a:rPr lang="en-US" sz="2000" b="1" dirty="0">
                <a:latin typeface="Courier New" pitchFamily="49" charset="0"/>
                <a:cs typeface="Courier New" pitchFamily="49" charset="0"/>
              </a:rPr>
              <a:t> </a:t>
            </a:r>
            <a:r>
              <a:rPr lang="en-US" sz="2000" b="1" dirty="0" err="1">
                <a:latin typeface="Courier New" pitchFamily="49" charset="0"/>
                <a:cs typeface="Courier New" pitchFamily="49" charset="0"/>
              </a:rPr>
              <a:t>tu</a:t>
            </a:r>
            <a:r>
              <a:rPr lang="en-US" sz="2000" b="1" dirty="0">
                <a:latin typeface="Courier New" pitchFamily="49" charset="0"/>
                <a:cs typeface="Courier New" pitchFamily="49" charset="0"/>
              </a:rPr>
              <a:t>: “);</a:t>
            </a:r>
          </a:p>
          <a:p>
            <a:r>
              <a:rPr lang="en-US" sz="2000" b="1" dirty="0" err="1">
                <a:latin typeface="Courier New" pitchFamily="49" charset="0"/>
                <a:cs typeface="Courier New" pitchFamily="49" charset="0"/>
              </a:rPr>
              <a:t>scanf</a:t>
            </a:r>
            <a:r>
              <a:rPr lang="en-US" sz="2000" b="1" dirty="0">
                <a:latin typeface="Courier New" pitchFamily="49" charset="0"/>
                <a:cs typeface="Courier New" pitchFamily="49" charset="0"/>
              </a:rPr>
              <a:t>(“%s”, </a:t>
            </a:r>
            <a:r>
              <a:rPr lang="en-US" sz="2000" b="1" dirty="0" err="1">
                <a:latin typeface="Courier New" pitchFamily="49" charset="0"/>
                <a:cs typeface="Courier New" pitchFamily="49" charset="0"/>
              </a:rPr>
              <a:t>monhoc</a:t>
            </a:r>
            <a:r>
              <a:rPr lang="en-US" sz="2000" b="1" dirty="0">
                <a:latin typeface="Courier New" pitchFamily="49" charset="0"/>
                <a:cs typeface="Courier New" pitchFamily="49" charset="0"/>
              </a:rPr>
              <a:t>);</a:t>
            </a:r>
          </a:p>
          <a:p>
            <a:r>
              <a:rPr lang="en-US" sz="2000" b="1" dirty="0" err="1">
                <a:latin typeface="Courier New" pitchFamily="49" charset="0"/>
                <a:cs typeface="Courier New" pitchFamily="49" charset="0"/>
              </a:rPr>
              <a:t>printf</a:t>
            </a:r>
            <a:r>
              <a:rPr lang="en-US" sz="2000" b="1" dirty="0">
                <a:latin typeface="Courier New" pitchFamily="49" charset="0"/>
                <a:cs typeface="Courier New" pitchFamily="49" charset="0"/>
              </a:rPr>
              <a:t>(“</a:t>
            </a:r>
            <a:r>
              <a:rPr lang="en-US" sz="2000" b="1" dirty="0" err="1">
                <a:latin typeface="Courier New" pitchFamily="49" charset="0"/>
                <a:cs typeface="Courier New" pitchFamily="49" charset="0"/>
              </a:rPr>
              <a:t>Xau</a:t>
            </a:r>
            <a:r>
              <a:rPr lang="en-US" sz="2000" b="1" dirty="0">
                <a:latin typeface="Courier New" pitchFamily="49" charset="0"/>
                <a:cs typeface="Courier New" pitchFamily="49" charset="0"/>
              </a:rPr>
              <a:t> </a:t>
            </a:r>
            <a:r>
              <a:rPr lang="en-US" sz="2000" b="1" dirty="0" err="1">
                <a:latin typeface="Courier New" pitchFamily="49" charset="0"/>
                <a:cs typeface="Courier New" pitchFamily="49" charset="0"/>
              </a:rPr>
              <a:t>nhan</a:t>
            </a:r>
            <a:r>
              <a:rPr lang="en-US" sz="2000" b="1" dirty="0">
                <a:latin typeface="Courier New" pitchFamily="49" charset="0"/>
                <a:cs typeface="Courier New" pitchFamily="49" charset="0"/>
              </a:rPr>
              <a:t> </a:t>
            </a:r>
            <a:r>
              <a:rPr lang="en-US" sz="2000" b="1" dirty="0" err="1">
                <a:latin typeface="Courier New" pitchFamily="49" charset="0"/>
                <a:cs typeface="Courier New" pitchFamily="49" charset="0"/>
              </a:rPr>
              <a:t>duoc</a:t>
            </a:r>
            <a:r>
              <a:rPr lang="en-US" sz="2000" b="1" dirty="0">
                <a:latin typeface="Courier New" pitchFamily="49" charset="0"/>
                <a:cs typeface="Courier New" pitchFamily="49" charset="0"/>
              </a:rPr>
              <a:t> la: %s”, </a:t>
            </a:r>
            <a:r>
              <a:rPr lang="en-US" sz="2000" b="1" dirty="0" err="1">
                <a:latin typeface="Courier New" pitchFamily="49" charset="0"/>
                <a:cs typeface="Courier New" pitchFamily="49" charset="0"/>
              </a:rPr>
              <a:t>monhoc</a:t>
            </a:r>
            <a:r>
              <a:rPr lang="en-US" sz="2000" b="1" dirty="0">
                <a:latin typeface="Courier New" pitchFamily="49" charset="0"/>
                <a:cs typeface="Courier New" pitchFamily="49" charset="0"/>
              </a:rPr>
              <a:t>);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5334000"/>
            <a:ext cx="7239000" cy="708025"/>
          </a:xfrm>
          <a:prstGeom prst="rect">
            <a:avLst/>
          </a:prstGeom>
          <a:solidFill>
            <a:schemeClr val="tx1">
              <a:lumMod val="50000"/>
            </a:schemeClr>
          </a:solidFill>
        </p:spPr>
        <p:txBody>
          <a:bodyPr>
            <a:spAutoFit/>
          </a:bodyPr>
          <a:lstStyle/>
          <a:p>
            <a:pPr>
              <a:defRPr/>
            </a:pPr>
            <a:r>
              <a:rPr lang="en-US" sz="2000" b="1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Nhap mot chuoi: Ngon ngu lap trinh C</a:t>
            </a:r>
          </a:p>
          <a:p>
            <a:pPr>
              <a:defRPr/>
            </a:pPr>
            <a:r>
              <a:rPr lang="en-US" sz="2000" b="1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Chuoi nhan duoc la: Ngon</a:t>
            </a:r>
          </a:p>
        </p:txBody>
      </p:sp>
      <p:sp>
        <p:nvSpPr>
          <p:cNvPr id="12" name="TextBox 11"/>
          <p:cNvSpPr txBox="1">
            <a:spLocks noChangeArrowheads="1"/>
          </p:cNvSpPr>
          <p:nvPr/>
        </p:nvSpPr>
        <p:spPr bwMode="auto">
          <a:xfrm>
            <a:off x="4610100" y="5628968"/>
            <a:ext cx="381000" cy="4000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 sz="2000" b="1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_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3F792F-2E50-4687-9585-7E99653A74A2}" type="datetime1">
              <a:rPr lang="vi-VN" smtClean="0"/>
              <a:pPr/>
              <a:t>14/01/2024</a:t>
            </a:fld>
            <a:endParaRPr lang="vi-V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B95402-1E0D-474E-8D8C-CBE7F053639E}" type="slidenum">
              <a:rPr lang="vi-VN" smtClean="0"/>
              <a:pPr/>
              <a:t>6</a:t>
            </a:fld>
            <a:r>
              <a:rPr lang="vi-VN"/>
              <a:t>/21</a:t>
            </a:r>
          </a:p>
        </p:txBody>
      </p:sp>
    </p:spTree>
    <p:extLst>
      <p:ext uri="{BB962C8B-B14F-4D97-AF65-F5344CB8AC3E}">
        <p14:creationId xmlns:p14="http://schemas.microsoft.com/office/powerpoint/2010/main" val="72475355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500"/>
                            </p:stCondLst>
                            <p:childTnLst>
                              <p:par>
                                <p:cTn id="14" presetID="26" presetClass="emph" presetSubtype="0" repeatCount="indefinite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5" dur="500" tmFilter="0, 0; .2, .5; .8, .5; 1, 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6" dur="250" autoRev="1" fill="hold"/>
                                        <p:tgtEl>
                                          <p:spTgt spid="12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10" grpId="0" animBg="1"/>
      <p:bldP spid="12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a) Nhập xâu từ bàn phím (tt)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 dirty="0" err="1"/>
              <a:t>Sử</a:t>
            </a:r>
            <a:r>
              <a:rPr lang="en-US" dirty="0"/>
              <a:t> </a:t>
            </a:r>
            <a:r>
              <a:rPr lang="en-US" dirty="0" err="1"/>
              <a:t>dụng</a:t>
            </a:r>
            <a:r>
              <a:rPr lang="en-US" dirty="0"/>
              <a:t> </a:t>
            </a:r>
            <a:r>
              <a:rPr lang="en-US" dirty="0" err="1"/>
              <a:t>hàm</a:t>
            </a:r>
            <a:r>
              <a:rPr lang="en-US" dirty="0"/>
              <a:t> </a:t>
            </a:r>
            <a:r>
              <a:rPr lang="en-US" sz="2400" b="1" dirty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gets</a:t>
            </a:r>
          </a:p>
          <a:p>
            <a:pPr marL="471487" lvl="1" indent="0">
              <a:buNone/>
              <a:defRPr/>
            </a:pPr>
            <a:r>
              <a:rPr lang="en-US" b="1" kern="1200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	gets(</a:t>
            </a:r>
            <a:r>
              <a:rPr lang="en-US" b="1" kern="1200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tenxaukitu</a:t>
            </a:r>
            <a:r>
              <a:rPr lang="en-US" b="1" kern="1200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);</a:t>
            </a:r>
            <a:endParaRPr lang="en-US" dirty="0"/>
          </a:p>
          <a:p>
            <a:pPr lvl="1" eaLnBrk="1" hangingPunct="1">
              <a:defRPr/>
            </a:pPr>
            <a:r>
              <a:rPr lang="en-US" dirty="0" err="1"/>
              <a:t>Nhận</a:t>
            </a:r>
            <a:r>
              <a:rPr lang="en-US" dirty="0"/>
              <a:t> </a:t>
            </a:r>
            <a:r>
              <a:rPr lang="en-US" dirty="0" err="1"/>
              <a:t>các</a:t>
            </a:r>
            <a:r>
              <a:rPr lang="en-US" dirty="0"/>
              <a:t> </a:t>
            </a:r>
            <a:r>
              <a:rPr lang="en-US" dirty="0" err="1"/>
              <a:t>kí</a:t>
            </a:r>
            <a:r>
              <a:rPr lang="en-US" dirty="0"/>
              <a:t> </a:t>
            </a:r>
            <a:r>
              <a:rPr lang="en-US" dirty="0" err="1"/>
              <a:t>tự</a:t>
            </a:r>
            <a:r>
              <a:rPr lang="en-US" dirty="0"/>
              <a:t> </a:t>
            </a:r>
            <a:r>
              <a:rPr lang="en-US" dirty="0" err="1"/>
              <a:t>từ</a:t>
            </a:r>
            <a:r>
              <a:rPr lang="en-US" dirty="0"/>
              <a:t> </a:t>
            </a:r>
            <a:r>
              <a:rPr lang="en-US" dirty="0" err="1"/>
              <a:t>bàn</a:t>
            </a:r>
            <a:r>
              <a:rPr lang="en-US" dirty="0"/>
              <a:t> </a:t>
            </a:r>
            <a:r>
              <a:rPr lang="en-US" dirty="0" err="1"/>
              <a:t>phím</a:t>
            </a:r>
            <a:r>
              <a:rPr lang="en-US" dirty="0"/>
              <a:t> </a:t>
            </a:r>
            <a:r>
              <a:rPr lang="vi-VN" dirty="0"/>
              <a:t>đế</a:t>
            </a:r>
            <a:r>
              <a:rPr lang="en-US" dirty="0"/>
              <a:t>n </a:t>
            </a:r>
            <a:r>
              <a:rPr lang="en-US" dirty="0" err="1"/>
              <a:t>khi</a:t>
            </a:r>
            <a:r>
              <a:rPr lang="en-US" dirty="0"/>
              <a:t> </a:t>
            </a:r>
            <a:r>
              <a:rPr lang="en-US" dirty="0" err="1"/>
              <a:t>gặp</a:t>
            </a:r>
            <a:r>
              <a:rPr lang="en-US" dirty="0"/>
              <a:t> </a:t>
            </a:r>
            <a:r>
              <a:rPr lang="en-US" dirty="0" err="1"/>
              <a:t>kí</a:t>
            </a:r>
            <a:r>
              <a:rPr lang="en-US" dirty="0"/>
              <a:t> </a:t>
            </a:r>
            <a:r>
              <a:rPr lang="en-US" dirty="0" err="1"/>
              <a:t>tự</a:t>
            </a:r>
            <a:r>
              <a:rPr lang="en-US" dirty="0"/>
              <a:t> </a:t>
            </a:r>
            <a:r>
              <a:rPr lang="en-US" dirty="0" err="1"/>
              <a:t>xuống</a:t>
            </a:r>
            <a:r>
              <a:rPr lang="en-US" dirty="0"/>
              <a:t> </a:t>
            </a:r>
            <a:r>
              <a:rPr lang="en-US" dirty="0" err="1"/>
              <a:t>dòng</a:t>
            </a:r>
            <a:r>
              <a:rPr lang="en-US" dirty="0"/>
              <a:t>.</a:t>
            </a:r>
          </a:p>
          <a:p>
            <a:pPr lvl="1" eaLnBrk="1" hangingPunct="1">
              <a:defRPr/>
            </a:pPr>
            <a:r>
              <a:rPr lang="en-US" dirty="0" err="1"/>
              <a:t>Xâu</a:t>
            </a:r>
            <a:r>
              <a:rPr lang="en-US" dirty="0"/>
              <a:t> </a:t>
            </a:r>
            <a:r>
              <a:rPr lang="en-US" dirty="0" err="1"/>
              <a:t>nhận</a:t>
            </a:r>
            <a:r>
              <a:rPr lang="en-US" dirty="0"/>
              <a:t> </a:t>
            </a:r>
            <a:r>
              <a:rPr lang="vi-VN" dirty="0"/>
              <a:t>đượ</a:t>
            </a:r>
            <a:r>
              <a:rPr lang="en-US" dirty="0"/>
              <a:t>c </a:t>
            </a:r>
            <a:r>
              <a:rPr lang="en-US" dirty="0" err="1"/>
              <a:t>là</a:t>
            </a:r>
            <a:r>
              <a:rPr lang="en-US" dirty="0"/>
              <a:t> </a:t>
            </a:r>
            <a:r>
              <a:rPr lang="en-US" dirty="0" err="1"/>
              <a:t>những</a:t>
            </a:r>
            <a:r>
              <a:rPr lang="en-US" dirty="0"/>
              <a:t> </a:t>
            </a:r>
            <a:r>
              <a:rPr lang="en-US" dirty="0" err="1"/>
              <a:t>gì</a:t>
            </a:r>
            <a:r>
              <a:rPr lang="en-US" dirty="0"/>
              <a:t> ng</a:t>
            </a:r>
            <a:r>
              <a:rPr lang="vi-VN" dirty="0"/>
              <a:t>ườ</a:t>
            </a:r>
            <a:r>
              <a:rPr lang="en-US" dirty="0" err="1"/>
              <a:t>i</a:t>
            </a:r>
            <a:r>
              <a:rPr lang="en-US" dirty="0"/>
              <a:t> </a:t>
            </a:r>
            <a:r>
              <a:rPr lang="en-US" dirty="0" err="1"/>
              <a:t>dùng</a:t>
            </a:r>
            <a:r>
              <a:rPr lang="en-US" dirty="0"/>
              <a:t> </a:t>
            </a:r>
            <a:r>
              <a:rPr lang="en-US" dirty="0" err="1"/>
              <a:t>nhập</a:t>
            </a:r>
            <a:r>
              <a:rPr lang="en-US" dirty="0"/>
              <a:t> (</a:t>
            </a:r>
            <a:r>
              <a:rPr lang="en-US" dirty="0" err="1"/>
              <a:t>trừ</a:t>
            </a:r>
            <a:r>
              <a:rPr lang="en-US" dirty="0"/>
              <a:t> </a:t>
            </a:r>
            <a:r>
              <a:rPr lang="en-US" dirty="0" err="1"/>
              <a:t>kí</a:t>
            </a:r>
            <a:r>
              <a:rPr lang="en-US" dirty="0"/>
              <a:t> </a:t>
            </a:r>
            <a:r>
              <a:rPr lang="en-US" dirty="0" err="1"/>
              <a:t>tự</a:t>
            </a:r>
            <a:r>
              <a:rPr lang="en-US" dirty="0"/>
              <a:t> </a:t>
            </a:r>
            <a:r>
              <a:rPr lang="en-US" dirty="0" err="1"/>
              <a:t>xuống</a:t>
            </a:r>
            <a:r>
              <a:rPr lang="en-US" dirty="0"/>
              <a:t> </a:t>
            </a:r>
            <a:r>
              <a:rPr lang="en-US" dirty="0" err="1"/>
              <a:t>dòng</a:t>
            </a:r>
            <a:r>
              <a:rPr lang="en-US" dirty="0"/>
              <a:t>).</a:t>
            </a:r>
          </a:p>
          <a:p>
            <a:pPr>
              <a:defRPr/>
            </a:pPr>
            <a:r>
              <a:rPr lang="en-US" dirty="0" err="1"/>
              <a:t>Ví</a:t>
            </a:r>
            <a:r>
              <a:rPr lang="en-US" dirty="0"/>
              <a:t> </a:t>
            </a:r>
            <a:r>
              <a:rPr lang="en-US" dirty="0" err="1"/>
              <a:t>dụ</a:t>
            </a:r>
            <a:endParaRPr lang="en-US" dirty="0"/>
          </a:p>
        </p:txBody>
      </p:sp>
      <p:sp>
        <p:nvSpPr>
          <p:cNvPr id="21508" name="Footer Placeholder 3"/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/>
          <a:p>
            <a:r>
              <a:rPr lang="vi-VN"/>
              <a:t>Chương 7 - Xâu kí tự</a:t>
            </a:r>
            <a:endParaRPr lang="en-US"/>
          </a:p>
        </p:txBody>
      </p:sp>
      <p:sp>
        <p:nvSpPr>
          <p:cNvPr id="6" name="TextBox 5"/>
          <p:cNvSpPr txBox="1">
            <a:spLocks noChangeArrowheads="1"/>
          </p:cNvSpPr>
          <p:nvPr/>
        </p:nvSpPr>
        <p:spPr bwMode="auto">
          <a:xfrm>
            <a:off x="857200" y="4077072"/>
            <a:ext cx="7315200" cy="13239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 sz="2000" b="1" dirty="0">
                <a:latin typeface="Courier New" pitchFamily="49" charset="0"/>
                <a:cs typeface="Courier New" pitchFamily="49" charset="0"/>
              </a:rPr>
              <a:t>char </a:t>
            </a:r>
            <a:r>
              <a:rPr lang="en-US" sz="2000" b="1" dirty="0" err="1">
                <a:latin typeface="Courier New" pitchFamily="49" charset="0"/>
                <a:cs typeface="Courier New" pitchFamily="49" charset="0"/>
              </a:rPr>
              <a:t>monhoc</a:t>
            </a:r>
            <a:r>
              <a:rPr lang="en-US" sz="2000" b="1" dirty="0">
                <a:latin typeface="Courier New" pitchFamily="49" charset="0"/>
                <a:cs typeface="Courier New" pitchFamily="49" charset="0"/>
              </a:rPr>
              <a:t>[50];</a:t>
            </a:r>
          </a:p>
          <a:p>
            <a:r>
              <a:rPr lang="en-US" sz="2000" b="1" dirty="0" err="1">
                <a:latin typeface="Courier New" pitchFamily="49" charset="0"/>
                <a:cs typeface="Courier New" pitchFamily="49" charset="0"/>
              </a:rPr>
              <a:t>printf</a:t>
            </a:r>
            <a:r>
              <a:rPr lang="en-US" sz="2000" b="1" dirty="0">
                <a:latin typeface="Courier New" pitchFamily="49" charset="0"/>
                <a:cs typeface="Courier New" pitchFamily="49" charset="0"/>
              </a:rPr>
              <a:t>(“</a:t>
            </a:r>
            <a:r>
              <a:rPr lang="en-US" sz="2000" b="1" dirty="0" err="1">
                <a:latin typeface="Courier New" pitchFamily="49" charset="0"/>
                <a:cs typeface="Courier New" pitchFamily="49" charset="0"/>
              </a:rPr>
              <a:t>Nhap</a:t>
            </a:r>
            <a:r>
              <a:rPr lang="en-US" sz="2000" b="1" dirty="0">
                <a:latin typeface="Courier New" pitchFamily="49" charset="0"/>
                <a:cs typeface="Courier New" pitchFamily="49" charset="0"/>
              </a:rPr>
              <a:t> mot </a:t>
            </a:r>
            <a:r>
              <a:rPr lang="en-US" sz="2000" b="1" dirty="0" err="1">
                <a:latin typeface="Courier New" pitchFamily="49" charset="0"/>
                <a:cs typeface="Courier New" pitchFamily="49" charset="0"/>
              </a:rPr>
              <a:t>chuoi</a:t>
            </a:r>
            <a:r>
              <a:rPr lang="en-US" sz="2000" b="1" dirty="0">
                <a:latin typeface="Courier New" pitchFamily="49" charset="0"/>
                <a:cs typeface="Courier New" pitchFamily="49" charset="0"/>
              </a:rPr>
              <a:t>: “);</a:t>
            </a:r>
          </a:p>
          <a:p>
            <a:r>
              <a:rPr lang="en-US" sz="2000" b="1" dirty="0">
                <a:latin typeface="Courier New" pitchFamily="49" charset="0"/>
                <a:cs typeface="Courier New" pitchFamily="49" charset="0"/>
              </a:rPr>
              <a:t>gets(</a:t>
            </a:r>
            <a:r>
              <a:rPr lang="en-US" sz="2000" b="1" dirty="0" err="1">
                <a:latin typeface="Courier New" pitchFamily="49" charset="0"/>
                <a:cs typeface="Courier New" pitchFamily="49" charset="0"/>
              </a:rPr>
              <a:t>monhoc</a:t>
            </a:r>
            <a:r>
              <a:rPr lang="en-US" sz="2000" b="1" dirty="0">
                <a:latin typeface="Courier New" pitchFamily="49" charset="0"/>
                <a:cs typeface="Courier New" pitchFamily="49" charset="0"/>
              </a:rPr>
              <a:t>);</a:t>
            </a:r>
          </a:p>
          <a:p>
            <a:r>
              <a:rPr lang="en-US" sz="2000" b="1" dirty="0" err="1">
                <a:latin typeface="Courier New" pitchFamily="49" charset="0"/>
                <a:cs typeface="Courier New" pitchFamily="49" charset="0"/>
              </a:rPr>
              <a:t>printf</a:t>
            </a:r>
            <a:r>
              <a:rPr lang="en-US" sz="2000" b="1" dirty="0">
                <a:latin typeface="Courier New" pitchFamily="49" charset="0"/>
                <a:cs typeface="Courier New" pitchFamily="49" charset="0"/>
              </a:rPr>
              <a:t>(“</a:t>
            </a:r>
            <a:r>
              <a:rPr lang="en-US" sz="2000" b="1" dirty="0" err="1">
                <a:latin typeface="Courier New" pitchFamily="49" charset="0"/>
                <a:cs typeface="Courier New" pitchFamily="49" charset="0"/>
              </a:rPr>
              <a:t>Chuoi</a:t>
            </a:r>
            <a:r>
              <a:rPr lang="en-US" sz="2000" b="1" dirty="0">
                <a:latin typeface="Courier New" pitchFamily="49" charset="0"/>
                <a:cs typeface="Courier New" pitchFamily="49" charset="0"/>
              </a:rPr>
              <a:t> </a:t>
            </a:r>
            <a:r>
              <a:rPr lang="en-US" sz="2000" b="1" dirty="0" err="1">
                <a:latin typeface="Courier New" pitchFamily="49" charset="0"/>
                <a:cs typeface="Courier New" pitchFamily="49" charset="0"/>
              </a:rPr>
              <a:t>nhan</a:t>
            </a:r>
            <a:r>
              <a:rPr lang="en-US" sz="2000" b="1" dirty="0">
                <a:latin typeface="Courier New" pitchFamily="49" charset="0"/>
                <a:cs typeface="Courier New" pitchFamily="49" charset="0"/>
              </a:rPr>
              <a:t> </a:t>
            </a:r>
            <a:r>
              <a:rPr lang="en-US" sz="2000" b="1" dirty="0" err="1">
                <a:latin typeface="Courier New" pitchFamily="49" charset="0"/>
                <a:cs typeface="Courier New" pitchFamily="49" charset="0"/>
              </a:rPr>
              <a:t>duoc</a:t>
            </a:r>
            <a:r>
              <a:rPr lang="en-US" sz="2000" b="1" dirty="0">
                <a:latin typeface="Courier New" pitchFamily="49" charset="0"/>
                <a:cs typeface="Courier New" pitchFamily="49" charset="0"/>
              </a:rPr>
              <a:t> la: %s”, </a:t>
            </a:r>
            <a:r>
              <a:rPr lang="en-US" sz="2000" b="1" dirty="0" err="1">
                <a:latin typeface="Courier New" pitchFamily="49" charset="0"/>
                <a:cs typeface="Courier New" pitchFamily="49" charset="0"/>
              </a:rPr>
              <a:t>monhoc</a:t>
            </a:r>
            <a:r>
              <a:rPr lang="en-US" sz="2000" b="1" dirty="0">
                <a:latin typeface="Courier New" pitchFamily="49" charset="0"/>
                <a:cs typeface="Courier New" pitchFamily="49" charset="0"/>
              </a:rPr>
              <a:t>);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5457279"/>
            <a:ext cx="7239000" cy="708025"/>
          </a:xfrm>
          <a:prstGeom prst="rect">
            <a:avLst/>
          </a:prstGeom>
          <a:solidFill>
            <a:schemeClr val="tx1">
              <a:lumMod val="50000"/>
            </a:schemeClr>
          </a:solidFill>
        </p:spPr>
        <p:txBody>
          <a:bodyPr>
            <a:spAutoFit/>
          </a:bodyPr>
          <a:lstStyle/>
          <a:p>
            <a:pPr>
              <a:defRPr/>
            </a:pPr>
            <a:r>
              <a:rPr lang="en-US" sz="2000" b="1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Nhap mot chuoi: Ngon ngu lap trinh C</a:t>
            </a:r>
          </a:p>
          <a:p>
            <a:pPr>
              <a:defRPr/>
            </a:pPr>
            <a:r>
              <a:rPr lang="en-US" sz="2000" b="1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Chuoi nhan duoc la: Ngon ngu lap trinh C</a:t>
            </a:r>
          </a:p>
        </p:txBody>
      </p:sp>
      <p:sp>
        <p:nvSpPr>
          <p:cNvPr id="12" name="TextBox 11"/>
          <p:cNvSpPr txBox="1">
            <a:spLocks noChangeArrowheads="1"/>
          </p:cNvSpPr>
          <p:nvPr/>
        </p:nvSpPr>
        <p:spPr bwMode="auto">
          <a:xfrm>
            <a:off x="7041824" y="5733256"/>
            <a:ext cx="381000" cy="4000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 sz="2000" b="1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_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F117FB-84B8-4FF7-8E9B-B06D22812218}" type="datetime1">
              <a:rPr lang="vi-VN" smtClean="0"/>
              <a:pPr/>
              <a:t>14/01/2024</a:t>
            </a:fld>
            <a:endParaRPr lang="vi-V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B95402-1E0D-474E-8D8C-CBE7F053639E}" type="slidenum">
              <a:rPr lang="vi-VN" smtClean="0"/>
              <a:pPr/>
              <a:t>7</a:t>
            </a:fld>
            <a:r>
              <a:rPr lang="vi-VN"/>
              <a:t>/21</a:t>
            </a:r>
          </a:p>
        </p:txBody>
      </p:sp>
    </p:spTree>
    <p:extLst>
      <p:ext uri="{BB962C8B-B14F-4D97-AF65-F5344CB8AC3E}">
        <p14:creationId xmlns:p14="http://schemas.microsoft.com/office/powerpoint/2010/main" val="66335087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500"/>
                            </p:stCondLst>
                            <p:childTnLst>
                              <p:par>
                                <p:cTn id="14" presetID="26" presetClass="emph" presetSubtype="0" repeatCount="indefinite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5" dur="500" tmFilter="0, 0; .2, .5; .8, .5; 1, 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6" dur="250" autoRev="1" fill="hold"/>
                                        <p:tgtEl>
                                          <p:spTgt spid="12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10" grpId="0" animBg="1"/>
      <p:bldP spid="12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/>
              <a:t>b) Xuất xâu ra màn hình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 dirty="0" err="1"/>
              <a:t>Sử</a:t>
            </a:r>
            <a:r>
              <a:rPr lang="en-US" dirty="0"/>
              <a:t> </a:t>
            </a:r>
            <a:r>
              <a:rPr lang="en-US" dirty="0" err="1"/>
              <a:t>dụng</a:t>
            </a:r>
            <a:r>
              <a:rPr lang="en-US" dirty="0"/>
              <a:t> </a:t>
            </a:r>
            <a:r>
              <a:rPr lang="en-US" dirty="0" err="1"/>
              <a:t>hàm</a:t>
            </a:r>
            <a:r>
              <a:rPr lang="en-US" dirty="0"/>
              <a:t> </a:t>
            </a:r>
            <a:r>
              <a:rPr lang="en-US" sz="2400" b="1" dirty="0" err="1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printf</a:t>
            </a:r>
            <a:r>
              <a:rPr lang="en-US" dirty="0"/>
              <a:t> </a:t>
            </a:r>
            <a:r>
              <a:rPr lang="en-US" dirty="0" err="1"/>
              <a:t>với</a:t>
            </a:r>
            <a:r>
              <a:rPr lang="en-US" dirty="0"/>
              <a:t> </a:t>
            </a:r>
            <a:r>
              <a:rPr lang="vi-VN" dirty="0"/>
              <a:t>đặ</a:t>
            </a:r>
            <a:r>
              <a:rPr lang="en-US" dirty="0"/>
              <a:t>c </a:t>
            </a:r>
            <a:r>
              <a:rPr lang="en-US" dirty="0" err="1"/>
              <a:t>tả</a:t>
            </a:r>
            <a:r>
              <a:rPr lang="en-US" dirty="0"/>
              <a:t> “</a:t>
            </a:r>
            <a:r>
              <a:rPr lang="en-US" dirty="0">
                <a:solidFill>
                  <a:srgbClr val="FF0000"/>
                </a:solidFill>
              </a:rPr>
              <a:t>%s</a:t>
            </a:r>
            <a:r>
              <a:rPr lang="en-US" dirty="0"/>
              <a:t>”</a:t>
            </a:r>
          </a:p>
          <a:p>
            <a:pPr marL="471487" lvl="1" indent="0">
              <a:buNone/>
            </a:pPr>
            <a:r>
              <a:rPr lang="en-US" b="1" kern="1200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char </a:t>
            </a:r>
            <a:r>
              <a:rPr lang="en-US" b="1" kern="1200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monhoc</a:t>
            </a:r>
            <a:r>
              <a:rPr lang="en-US" b="1" kern="1200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[50] = “</a:t>
            </a:r>
            <a:r>
              <a:rPr lang="en-US" b="1" kern="1200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Ngon</a:t>
            </a:r>
            <a:r>
              <a:rPr lang="en-US" b="1" kern="1200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 </a:t>
            </a:r>
            <a:r>
              <a:rPr lang="en-US" b="1" kern="1200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ngu</a:t>
            </a:r>
            <a:r>
              <a:rPr lang="en-US" b="1" kern="1200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 C”;</a:t>
            </a:r>
          </a:p>
          <a:p>
            <a:pPr marL="471487" lvl="1" indent="0">
              <a:buNone/>
            </a:pPr>
            <a:r>
              <a:rPr lang="en-US" b="1" kern="1200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printf</a:t>
            </a:r>
            <a:r>
              <a:rPr lang="en-US" b="1" kern="1200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(“%s”, </a:t>
            </a:r>
            <a:r>
              <a:rPr lang="en-US" b="1" kern="1200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monhoc</a:t>
            </a:r>
            <a:r>
              <a:rPr lang="en-US" b="1" kern="1200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);	</a:t>
            </a:r>
            <a:endParaRPr lang="en-US" dirty="0"/>
          </a:p>
          <a:p>
            <a:pPr lvl="1" eaLnBrk="1" hangingPunct="1">
              <a:defRPr/>
            </a:pPr>
            <a:endParaRPr lang="en-US" dirty="0"/>
          </a:p>
          <a:p>
            <a:pPr lvl="1" eaLnBrk="1" hangingPunct="1">
              <a:defRPr/>
            </a:pPr>
            <a:endParaRPr lang="en-US" dirty="0"/>
          </a:p>
          <a:p>
            <a:pPr eaLnBrk="1" hangingPunct="1">
              <a:defRPr/>
            </a:pPr>
            <a:endParaRPr lang="en-US" sz="1200" dirty="0">
              <a:solidFill>
                <a:schemeClr val="tx1">
                  <a:lumMod val="60000"/>
                  <a:lumOff val="40000"/>
                </a:schemeClr>
              </a:solidFill>
            </a:endParaRPr>
          </a:p>
          <a:p>
            <a:pPr eaLnBrk="1" hangingPunct="1">
              <a:defRPr/>
            </a:pPr>
            <a:r>
              <a:rPr lang="en-US" dirty="0" err="1"/>
              <a:t>Sử</a:t>
            </a:r>
            <a:r>
              <a:rPr lang="en-US" dirty="0"/>
              <a:t> </a:t>
            </a:r>
            <a:r>
              <a:rPr lang="en-US" dirty="0" err="1"/>
              <a:t>dụng</a:t>
            </a:r>
            <a:r>
              <a:rPr lang="en-US" dirty="0"/>
              <a:t> </a:t>
            </a:r>
            <a:r>
              <a:rPr lang="en-US" dirty="0" err="1"/>
              <a:t>hàm</a:t>
            </a:r>
            <a:r>
              <a:rPr lang="en-US" dirty="0"/>
              <a:t> </a:t>
            </a:r>
            <a:r>
              <a:rPr lang="en-US" sz="2400" b="1" dirty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puts</a:t>
            </a:r>
          </a:p>
          <a:p>
            <a:pPr marL="0" indent="0">
              <a:buNone/>
            </a:pPr>
            <a:r>
              <a:rPr lang="en-US" sz="2400" b="1" kern="1200" dirty="0">
                <a:latin typeface="Courier New" pitchFamily="49" charset="0"/>
                <a:cs typeface="Courier New" pitchFamily="49" charset="0"/>
              </a:rPr>
              <a:t>   char </a:t>
            </a:r>
            <a:r>
              <a:rPr lang="en-US" sz="2400" b="1" kern="1200" dirty="0" err="1">
                <a:latin typeface="Courier New" pitchFamily="49" charset="0"/>
                <a:cs typeface="Courier New" pitchFamily="49" charset="0"/>
              </a:rPr>
              <a:t>monhoc</a:t>
            </a:r>
            <a:r>
              <a:rPr lang="en-US" sz="2400" b="1" kern="1200" dirty="0">
                <a:latin typeface="Courier New" pitchFamily="49" charset="0"/>
                <a:cs typeface="Courier New" pitchFamily="49" charset="0"/>
              </a:rPr>
              <a:t>[50] = “</a:t>
            </a:r>
            <a:r>
              <a:rPr lang="en-US" sz="2400" b="1" kern="1200" dirty="0" err="1">
                <a:latin typeface="Courier New" pitchFamily="49" charset="0"/>
                <a:cs typeface="Courier New" pitchFamily="49" charset="0"/>
              </a:rPr>
              <a:t>Ngon</a:t>
            </a:r>
            <a:r>
              <a:rPr lang="en-US" sz="2400" b="1" kern="1200" dirty="0">
                <a:latin typeface="Courier New" pitchFamily="49" charset="0"/>
                <a:cs typeface="Courier New" pitchFamily="49" charset="0"/>
              </a:rPr>
              <a:t> </a:t>
            </a:r>
            <a:r>
              <a:rPr lang="en-US" sz="2400" b="1" kern="1200" dirty="0" err="1">
                <a:latin typeface="Courier New" pitchFamily="49" charset="0"/>
                <a:cs typeface="Courier New" pitchFamily="49" charset="0"/>
              </a:rPr>
              <a:t>ngu</a:t>
            </a:r>
            <a:r>
              <a:rPr lang="en-US" sz="2400" b="1" kern="1200" dirty="0">
                <a:latin typeface="Courier New" pitchFamily="49" charset="0"/>
                <a:cs typeface="Courier New" pitchFamily="49" charset="0"/>
              </a:rPr>
              <a:t> C”;</a:t>
            </a:r>
          </a:p>
          <a:p>
            <a:pPr marL="0" indent="0">
              <a:buNone/>
            </a:pPr>
            <a:r>
              <a:rPr lang="en-US" sz="2400" b="1" kern="1200" dirty="0">
                <a:latin typeface="Courier New" pitchFamily="49" charset="0"/>
                <a:cs typeface="Courier New" pitchFamily="49" charset="0"/>
              </a:rPr>
              <a:t>   puts(</a:t>
            </a:r>
            <a:r>
              <a:rPr lang="en-US" sz="2400" b="1" kern="1200" dirty="0" err="1">
                <a:latin typeface="Courier New" pitchFamily="49" charset="0"/>
                <a:cs typeface="Courier New" pitchFamily="49" charset="0"/>
              </a:rPr>
              <a:t>monhoc</a:t>
            </a:r>
            <a:r>
              <a:rPr lang="en-US" sz="2400" b="1" kern="1200" dirty="0">
                <a:latin typeface="Courier New" pitchFamily="49" charset="0"/>
                <a:cs typeface="Courier New" pitchFamily="49" charset="0"/>
              </a:rPr>
              <a:t>);</a:t>
            </a:r>
          </a:p>
          <a:p>
            <a:pPr marL="0" indent="0">
              <a:buNone/>
            </a:pPr>
            <a:endParaRPr lang="en-US" sz="2400" b="1" kern="1200" dirty="0">
              <a:latin typeface="Courier New" pitchFamily="49" charset="0"/>
              <a:cs typeface="Courier New" pitchFamily="49" charset="0"/>
            </a:endParaRPr>
          </a:p>
          <a:p>
            <a:pPr marL="0" indent="0">
              <a:buNone/>
            </a:pPr>
            <a:endParaRPr lang="en-US" sz="2400" b="1" kern="1200" dirty="0">
              <a:latin typeface="Courier New" pitchFamily="49" charset="0"/>
              <a:cs typeface="Courier New" pitchFamily="49" charset="0"/>
            </a:endParaRPr>
          </a:p>
          <a:p>
            <a:pPr marL="0" indent="0">
              <a:buNone/>
            </a:pPr>
            <a:r>
              <a:rPr lang="en-US" sz="2400" b="1" kern="1200" dirty="0">
                <a:latin typeface="Courier New" pitchFamily="49" charset="0"/>
                <a:cs typeface="Courier New" pitchFamily="49" charset="0"/>
                <a:sym typeface="Wingdings" pitchFamily="2" charset="2"/>
              </a:rPr>
              <a:t> </a:t>
            </a:r>
            <a:r>
              <a:rPr lang="en-US" sz="2400" b="1" kern="1200" dirty="0" err="1">
                <a:latin typeface="Courier New" pitchFamily="49" charset="0"/>
                <a:cs typeface="Courier New" pitchFamily="49" charset="0"/>
                <a:sym typeface="Wingdings" pitchFamily="2" charset="2"/>
              </a:rPr>
              <a:t>printf</a:t>
            </a:r>
            <a:r>
              <a:rPr lang="en-US" sz="2400" b="1" kern="1200" dirty="0">
                <a:latin typeface="Courier New" pitchFamily="49" charset="0"/>
                <a:cs typeface="Courier New" pitchFamily="49" charset="0"/>
                <a:sym typeface="Wingdings" pitchFamily="2" charset="2"/>
              </a:rPr>
              <a:t>(“%s\n”, </a:t>
            </a:r>
            <a:r>
              <a:rPr lang="en-US" sz="2400" b="1" kern="1200" dirty="0" err="1">
                <a:latin typeface="Courier New" pitchFamily="49" charset="0"/>
                <a:cs typeface="Courier New" pitchFamily="49" charset="0"/>
                <a:sym typeface="Wingdings" pitchFamily="2" charset="2"/>
              </a:rPr>
              <a:t>monhoc</a:t>
            </a:r>
            <a:r>
              <a:rPr lang="en-US" sz="2400" b="1" kern="1200" dirty="0">
                <a:latin typeface="Courier New" pitchFamily="49" charset="0"/>
                <a:cs typeface="Courier New" pitchFamily="49" charset="0"/>
                <a:sym typeface="Wingdings" pitchFamily="2" charset="2"/>
              </a:rPr>
              <a:t>);</a:t>
            </a:r>
            <a:endParaRPr lang="en-US" sz="2400" b="1" kern="1200" dirty="0">
              <a:latin typeface="Courier New" pitchFamily="49" charset="0"/>
              <a:cs typeface="Courier New" pitchFamily="49" charset="0"/>
            </a:endParaRPr>
          </a:p>
          <a:p>
            <a:pPr marL="0" indent="0">
              <a:buNone/>
            </a:pPr>
            <a:r>
              <a:rPr lang="en-US" sz="2400" b="1" kern="1200" dirty="0">
                <a:latin typeface="Courier New" pitchFamily="49" charset="0"/>
                <a:cs typeface="Courier New" pitchFamily="49" charset="0"/>
              </a:rPr>
              <a:t>	</a:t>
            </a:r>
          </a:p>
          <a:p>
            <a:pPr marL="0" indent="0">
              <a:buNone/>
            </a:pPr>
            <a:r>
              <a:rPr lang="en-US" sz="2400" b="1" kern="1200" dirty="0">
                <a:latin typeface="Courier New" pitchFamily="49" charset="0"/>
                <a:cs typeface="Courier New" pitchFamily="49" charset="0"/>
                <a:sym typeface="Wingdings" pitchFamily="2" charset="2"/>
              </a:rPr>
              <a:t>   </a:t>
            </a:r>
            <a:endParaRPr lang="en-US" dirty="0">
              <a:solidFill>
                <a:schemeClr val="tx1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19460" name="Footer Placeholder 3"/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/>
          <a:p>
            <a:r>
              <a:rPr lang="vi-VN"/>
              <a:t>Chương 7 - Xâu kí tự</a:t>
            </a:r>
            <a:endParaRPr lang="en-US"/>
          </a:p>
        </p:txBody>
      </p:sp>
      <p:sp>
        <p:nvSpPr>
          <p:cNvPr id="9" name="TextBox 8"/>
          <p:cNvSpPr txBox="1"/>
          <p:nvPr/>
        </p:nvSpPr>
        <p:spPr>
          <a:xfrm>
            <a:off x="1293440" y="2636912"/>
            <a:ext cx="7239000" cy="708025"/>
          </a:xfrm>
          <a:prstGeom prst="rect">
            <a:avLst/>
          </a:prstGeom>
          <a:solidFill>
            <a:schemeClr val="tx1">
              <a:lumMod val="50000"/>
            </a:schemeClr>
          </a:solidFill>
        </p:spPr>
        <p:txBody>
          <a:bodyPr>
            <a:spAutoFit/>
          </a:bodyPr>
          <a:lstStyle/>
          <a:p>
            <a:pPr>
              <a:defRPr/>
            </a:pPr>
            <a:r>
              <a:rPr lang="en-US" sz="2000" b="1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Ngon ngu C</a:t>
            </a:r>
          </a:p>
          <a:p>
            <a:pPr>
              <a:defRPr/>
            </a:pPr>
            <a:endParaRPr lang="en-US" sz="2000" b="1">
              <a:solidFill>
                <a:schemeClr val="bg1"/>
              </a:solidFill>
              <a:latin typeface="Courier New" pitchFamily="49" charset="0"/>
              <a:cs typeface="Courier New" pitchFamily="49" charset="0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1289972" y="5015218"/>
            <a:ext cx="7239000" cy="708025"/>
          </a:xfrm>
          <a:prstGeom prst="rect">
            <a:avLst/>
          </a:prstGeom>
          <a:solidFill>
            <a:schemeClr val="tx1">
              <a:lumMod val="50000"/>
            </a:schemeClr>
          </a:solidFill>
        </p:spPr>
        <p:txBody>
          <a:bodyPr>
            <a:spAutoFit/>
          </a:bodyPr>
          <a:lstStyle/>
          <a:p>
            <a:pPr>
              <a:defRPr/>
            </a:pPr>
            <a:r>
              <a:rPr lang="en-US" sz="2000" b="1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Ngon ngu C</a:t>
            </a:r>
          </a:p>
          <a:p>
            <a:pPr>
              <a:defRPr/>
            </a:pPr>
            <a:endParaRPr lang="en-US" sz="2000" b="1">
              <a:solidFill>
                <a:schemeClr val="bg1"/>
              </a:solidFill>
              <a:latin typeface="Courier New" pitchFamily="49" charset="0"/>
              <a:cs typeface="Courier New" pitchFamily="49" charset="0"/>
            </a:endParaRPr>
          </a:p>
        </p:txBody>
      </p:sp>
      <p:sp>
        <p:nvSpPr>
          <p:cNvPr id="11" name="TextBox 10"/>
          <p:cNvSpPr txBox="1">
            <a:spLocks noChangeArrowheads="1"/>
          </p:cNvSpPr>
          <p:nvPr/>
        </p:nvSpPr>
        <p:spPr bwMode="auto">
          <a:xfrm>
            <a:off x="2843808" y="2596902"/>
            <a:ext cx="381000" cy="4000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 sz="2000" b="1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_</a:t>
            </a:r>
          </a:p>
        </p:txBody>
      </p:sp>
      <p:sp>
        <p:nvSpPr>
          <p:cNvPr id="12" name="TextBox 11"/>
          <p:cNvSpPr txBox="1">
            <a:spLocks noChangeArrowheads="1"/>
          </p:cNvSpPr>
          <p:nvPr/>
        </p:nvSpPr>
        <p:spPr bwMode="auto">
          <a:xfrm>
            <a:off x="914400" y="5445125"/>
            <a:ext cx="381000" cy="4000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 sz="2000" b="1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_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417905-910A-4DD2-9DD7-7877F9465236}" type="datetime1">
              <a:rPr lang="vi-VN" smtClean="0"/>
              <a:pPr/>
              <a:t>14/01/2024</a:t>
            </a:fld>
            <a:endParaRPr lang="vi-VN"/>
          </a:p>
        </p:txBody>
      </p:sp>
      <p:sp>
        <p:nvSpPr>
          <p:cNvPr id="15" name="TextBox 14"/>
          <p:cNvSpPr txBox="1">
            <a:spLocks noChangeArrowheads="1"/>
          </p:cNvSpPr>
          <p:nvPr/>
        </p:nvSpPr>
        <p:spPr bwMode="auto">
          <a:xfrm>
            <a:off x="1295400" y="5339734"/>
            <a:ext cx="381000" cy="4000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 sz="2000" b="1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_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B95402-1E0D-474E-8D8C-CBE7F053639E}" type="slidenum">
              <a:rPr lang="vi-VN" smtClean="0"/>
              <a:pPr/>
              <a:t>8</a:t>
            </a:fld>
            <a:r>
              <a:rPr lang="vi-VN"/>
              <a:t>/21</a:t>
            </a:r>
          </a:p>
        </p:txBody>
      </p:sp>
    </p:spTree>
    <p:extLst>
      <p:ext uri="{BB962C8B-B14F-4D97-AF65-F5344CB8AC3E}">
        <p14:creationId xmlns:p14="http://schemas.microsoft.com/office/powerpoint/2010/main" val="3973866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6" presetClass="emph" presetSubtype="0" repeatCount="indefinite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0" dur="500" tmFilter="0, 0; .2, .5; .8, .5; 1, 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1" dur="250" autoRev="1" fill="hold"/>
                                        <p:tgtEl>
                                          <p:spTgt spid="11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500"/>
                            </p:stCondLst>
                            <p:childTnLst>
                              <p:par>
                                <p:cTn id="20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1000"/>
                            </p:stCondLst>
                            <p:childTnLst>
                              <p:par>
                                <p:cTn id="26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5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5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6" dur="500" fill="hold"/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500" fill="hold"/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3" dur="500" fill="hold"/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500" fill="hold"/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0" fill="hold">
                            <p:stCondLst>
                              <p:cond delay="500"/>
                            </p:stCondLst>
                            <p:childTnLst>
                              <p:par>
                                <p:cTn id="51" presetID="26" presetClass="emph" presetSubtype="0" repeatCount="indefinite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2" dur="500" tmFilter="0, 0; .2, .5; .8, .5; 1, 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53" dur="250" autoRev="1" fill="hold"/>
                                        <p:tgtEl>
                                          <p:spTgt spid="12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4" fill="hold">
                            <p:stCondLst>
                              <p:cond delay="1000"/>
                            </p:stCondLst>
                            <p:childTnLst>
                              <p:par>
                                <p:cTn id="55" presetID="26" presetClass="emph" presetSubtype="0" repeatCount="indefinite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6" dur="500" tmFilter="0, 0; .2, .5; .8, .5; 1, 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57" dur="250" autoRev="1" fill="hold"/>
                                        <p:tgtEl>
                                          <p:spTgt spid="15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500"/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3" dur="500" fill="hold"/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4" dur="500" fill="hold"/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10" grpId="0" animBg="1"/>
      <p:bldP spid="11" grpId="0"/>
      <p:bldP spid="12" grpId="0"/>
      <p:bldP spid="15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c) Xác định độ dài xâu</a:t>
            </a:r>
            <a:endParaRPr lang="vi-V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62000" y="1143000"/>
            <a:ext cx="8202488" cy="5181600"/>
          </a:xfrm>
        </p:spPr>
        <p:txBody>
          <a:bodyPr/>
          <a:lstStyle/>
          <a:p>
            <a:r>
              <a:rPr lang="en-US"/>
              <a:t>Tự xác định</a:t>
            </a:r>
          </a:p>
          <a:p>
            <a:pPr marL="471487" lvl="1" indent="0">
              <a:buNone/>
            </a:pPr>
            <a:r>
              <a:rPr lang="en-US"/>
              <a:t>Đếm cho đến khi gặp kí tự ‘</a:t>
            </a:r>
            <a:r>
              <a:rPr lang="en-US">
                <a:solidFill>
                  <a:srgbClr val="FF0000"/>
                </a:solidFill>
              </a:rPr>
              <a:t>\0</a:t>
            </a:r>
            <a:r>
              <a:rPr lang="en-US"/>
              <a:t>’</a:t>
            </a:r>
          </a:p>
          <a:p>
            <a:pPr marL="471487" lvl="1" indent="0">
              <a:buNone/>
            </a:pPr>
            <a:r>
              <a:rPr lang="de-DE" sz="2200" b="1" kern="120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char str[]=“</a:t>
            </a:r>
            <a:r>
              <a:rPr lang="de-DE" sz="2200" b="1" kern="120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Ngon ngu C</a:t>
            </a:r>
            <a:r>
              <a:rPr lang="de-DE" sz="2200" b="1" kern="120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“;</a:t>
            </a:r>
          </a:p>
          <a:p>
            <a:pPr marL="471487" lvl="1" indent="0">
              <a:buNone/>
            </a:pPr>
            <a:r>
              <a:rPr lang="de-DE" sz="2200" b="1" kern="120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int </a:t>
            </a:r>
            <a:r>
              <a:rPr lang="de-DE" sz="2200" b="1" kern="1200">
                <a:latin typeface="Courier New" pitchFamily="49" charset="0"/>
                <a:cs typeface="Courier New" pitchFamily="49" charset="0"/>
              </a:rPr>
              <a:t>dem=0</a:t>
            </a:r>
            <a:r>
              <a:rPr lang="de-DE" sz="2200" b="1" kern="120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;</a:t>
            </a:r>
          </a:p>
          <a:p>
            <a:pPr marL="471487" lvl="1" indent="0">
              <a:buNone/>
            </a:pPr>
            <a:r>
              <a:rPr lang="de-DE" sz="2200" b="1" kern="120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while (str</a:t>
            </a:r>
            <a:r>
              <a:rPr lang="de-DE" sz="2200" b="1" kern="120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[</a:t>
            </a:r>
            <a:r>
              <a:rPr lang="de-DE" sz="2200" b="1" kern="120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dem</a:t>
            </a:r>
            <a:r>
              <a:rPr lang="de-DE" sz="2200" b="1" kern="120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]</a:t>
            </a:r>
            <a:r>
              <a:rPr lang="de-DE" sz="2200" b="1" kern="120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!='</a:t>
            </a:r>
            <a:r>
              <a:rPr lang="de-DE" sz="2200" b="1" kern="120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\0</a:t>
            </a:r>
            <a:r>
              <a:rPr lang="de-DE" sz="2200" b="1" kern="120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') </a:t>
            </a:r>
            <a:r>
              <a:rPr lang="de-DE" sz="2200" b="1" kern="1200">
                <a:latin typeface="Courier New" pitchFamily="49" charset="0"/>
                <a:cs typeface="Courier New" pitchFamily="49" charset="0"/>
              </a:rPr>
              <a:t>dem++</a:t>
            </a:r>
            <a:r>
              <a:rPr lang="de-DE" sz="2200" b="1" kern="120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;</a:t>
            </a:r>
          </a:p>
          <a:p>
            <a:pPr marL="471487" lvl="1" indent="0">
              <a:buNone/>
            </a:pPr>
            <a:r>
              <a:rPr lang="de-DE" sz="2200" b="1" kern="120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printf("Do dai xau la: </a:t>
            </a:r>
            <a:r>
              <a:rPr lang="de-DE" sz="2200" b="1" kern="120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%d </a:t>
            </a:r>
            <a:r>
              <a:rPr lang="de-DE" sz="2200" b="1" kern="120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ki tu",</a:t>
            </a:r>
            <a:r>
              <a:rPr lang="de-DE" sz="2200" b="1" kern="1200">
                <a:latin typeface="Courier New" pitchFamily="49" charset="0"/>
                <a:cs typeface="Courier New" pitchFamily="49" charset="0"/>
              </a:rPr>
              <a:t>dem</a:t>
            </a:r>
            <a:r>
              <a:rPr lang="de-DE" sz="2200" b="1" kern="120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);</a:t>
            </a:r>
          </a:p>
          <a:p>
            <a:r>
              <a:rPr lang="en-US"/>
              <a:t>Sử dụng con trỏ để xử lí xâu</a:t>
            </a:r>
          </a:p>
          <a:p>
            <a:pPr marL="0" indent="457200">
              <a:buNone/>
            </a:pPr>
            <a:r>
              <a:rPr lang="vi-VN" sz="2200" b="1" kern="1200">
                <a:latin typeface="Courier New" pitchFamily="49" charset="0"/>
                <a:cs typeface="Courier New" pitchFamily="49" charset="0"/>
              </a:rPr>
              <a:t>char *message;</a:t>
            </a:r>
          </a:p>
          <a:p>
            <a:pPr marL="0" indent="457200">
              <a:buNone/>
            </a:pPr>
            <a:r>
              <a:rPr lang="vi-VN" sz="2200" b="1" kern="1200">
                <a:latin typeface="Courier New" pitchFamily="49" charset="0"/>
                <a:cs typeface="Courier New" pitchFamily="49" charset="0"/>
              </a:rPr>
              <a:t>message="</a:t>
            </a:r>
            <a:r>
              <a:rPr lang="de-DE" sz="2200" b="1" kern="120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Ngon ngu C</a:t>
            </a:r>
            <a:r>
              <a:rPr lang="vi-VN" sz="2200" b="1" kern="1200">
                <a:latin typeface="Courier New" pitchFamily="49" charset="0"/>
                <a:cs typeface="Courier New" pitchFamily="49" charset="0"/>
              </a:rPr>
              <a:t>";</a:t>
            </a:r>
          </a:p>
          <a:p>
            <a:pPr marL="0" indent="457200">
              <a:buNone/>
            </a:pPr>
            <a:r>
              <a:rPr lang="vi-VN" sz="2200" b="1" kern="1200">
                <a:latin typeface="Courier New" pitchFamily="49" charset="0"/>
                <a:cs typeface="Courier New" pitchFamily="49" charset="0"/>
              </a:rPr>
              <a:t>int </a:t>
            </a:r>
            <a:r>
              <a:rPr lang="vi-VN" sz="2200" b="1" kern="1200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dem=0</a:t>
            </a:r>
            <a:r>
              <a:rPr lang="vi-VN" sz="2200" b="1" kern="1200">
                <a:latin typeface="Courier New" pitchFamily="49" charset="0"/>
                <a:cs typeface="Courier New" pitchFamily="49" charset="0"/>
              </a:rPr>
              <a:t>;</a:t>
            </a:r>
          </a:p>
          <a:p>
            <a:pPr marL="0" indent="457200">
              <a:buNone/>
            </a:pPr>
            <a:r>
              <a:rPr lang="vi-VN" sz="2200" b="1" kern="1200">
                <a:latin typeface="Courier New" pitchFamily="49" charset="0"/>
                <a:cs typeface="Courier New" pitchFamily="49" charset="0"/>
              </a:rPr>
              <a:t>while (*message!='</a:t>
            </a:r>
            <a:r>
              <a:rPr lang="vi-VN" sz="2200" b="1" kern="120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\0</a:t>
            </a:r>
            <a:r>
              <a:rPr lang="vi-VN" sz="2200" b="1" kern="1200">
                <a:latin typeface="Courier New" pitchFamily="49" charset="0"/>
                <a:cs typeface="Courier New" pitchFamily="49" charset="0"/>
              </a:rPr>
              <a:t>'){</a:t>
            </a:r>
            <a:r>
              <a:rPr lang="vi-VN" sz="2200" b="1" kern="1200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*message++</a:t>
            </a:r>
            <a:r>
              <a:rPr lang="vi-VN" sz="2200" b="1" kern="1200">
                <a:latin typeface="Courier New" pitchFamily="49" charset="0"/>
                <a:cs typeface="Courier New" pitchFamily="49" charset="0"/>
              </a:rPr>
              <a:t>;</a:t>
            </a:r>
            <a:r>
              <a:rPr lang="vi-VN" sz="2200" b="1" kern="1200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dem++</a:t>
            </a:r>
            <a:r>
              <a:rPr lang="vi-VN" sz="2200" b="1" kern="1200">
                <a:latin typeface="Courier New" pitchFamily="49" charset="0"/>
                <a:cs typeface="Courier New" pitchFamily="49" charset="0"/>
              </a:rPr>
              <a:t>;}</a:t>
            </a:r>
          </a:p>
          <a:p>
            <a:pPr marL="0" indent="457200">
              <a:buNone/>
            </a:pPr>
            <a:r>
              <a:rPr lang="vi-VN" sz="2200" b="1" kern="1200">
                <a:latin typeface="Courier New" pitchFamily="49" charset="0"/>
                <a:cs typeface="Courier New" pitchFamily="49" charset="0"/>
              </a:rPr>
              <a:t>printf("Do dai xau la: </a:t>
            </a:r>
            <a:r>
              <a:rPr lang="vi-VN" sz="2200" b="1" kern="120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%d</a:t>
            </a:r>
            <a:r>
              <a:rPr lang="vi-VN" sz="2200" b="1" kern="1200">
                <a:latin typeface="Courier New" pitchFamily="49" charset="0"/>
                <a:cs typeface="Courier New" pitchFamily="49" charset="0"/>
              </a:rPr>
              <a:t> ki tu",</a:t>
            </a:r>
            <a:r>
              <a:rPr lang="vi-VN" sz="2200" b="1" kern="1200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dem</a:t>
            </a:r>
            <a:r>
              <a:rPr lang="vi-VN" sz="2200" b="1" kern="1200">
                <a:latin typeface="Courier New" pitchFamily="49" charset="0"/>
                <a:cs typeface="Courier New" pitchFamily="49" charset="0"/>
              </a:rPr>
              <a:t>);</a:t>
            </a:r>
            <a:endParaRPr lang="de-DE" sz="2200" b="1" kern="1200">
              <a:solidFill>
                <a:schemeClr val="tx1"/>
              </a:solidFill>
              <a:latin typeface="Courier New" pitchFamily="49" charset="0"/>
              <a:cs typeface="Courier New" pitchFamily="49" charset="0"/>
            </a:endParaRPr>
          </a:p>
          <a:p>
            <a:pPr marL="471487" lvl="1" indent="0">
              <a:buNone/>
            </a:pPr>
            <a:endParaRPr lang="vi-V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F8836D-9983-4210-8330-35ACD34862EE}" type="datetime1">
              <a:rPr lang="vi-VN" smtClean="0"/>
              <a:pPr/>
              <a:t>14/01/2024</a:t>
            </a:fld>
            <a:endParaRPr lang="vi-V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vi-VN"/>
              <a:t>Chương 7 - Xâu kí tự</a:t>
            </a:r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B95402-1E0D-474E-8D8C-CBE7F053639E}" type="slidenum">
              <a:rPr lang="vi-VN" smtClean="0"/>
              <a:pPr/>
              <a:t>9</a:t>
            </a:fld>
            <a:r>
              <a:rPr lang="vi-VN"/>
              <a:t>/21</a:t>
            </a:r>
          </a:p>
        </p:txBody>
      </p:sp>
    </p:spTree>
    <p:extLst>
      <p:ext uri="{BB962C8B-B14F-4D97-AF65-F5344CB8AC3E}">
        <p14:creationId xmlns:p14="http://schemas.microsoft.com/office/powerpoint/2010/main" val="378249680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500"/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c) Xác định độ dài xâu (tt)</a:t>
            </a:r>
            <a:endParaRPr lang="vi-V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de-DE" dirty="0"/>
              <a:t>Dùng hàm</a:t>
            </a:r>
          </a:p>
          <a:p>
            <a:pPr marL="471487" lvl="1" indent="0">
              <a:buNone/>
            </a:pPr>
            <a:r>
              <a:rPr lang="en-US" dirty="0" err="1"/>
              <a:t>Hàm</a:t>
            </a:r>
            <a:r>
              <a:rPr lang="en-US" dirty="0"/>
              <a:t> </a:t>
            </a:r>
            <a:r>
              <a:rPr lang="en-US" b="1" kern="1200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strlen</a:t>
            </a:r>
            <a:r>
              <a:rPr lang="en-US" b="1" kern="1200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(</a:t>
            </a:r>
            <a:r>
              <a:rPr lang="en-US" b="1" kern="1200" dirty="0" err="1">
                <a:latin typeface="Courier New" pitchFamily="49" charset="0"/>
                <a:cs typeface="Courier New" pitchFamily="49" charset="0"/>
              </a:rPr>
              <a:t>str</a:t>
            </a:r>
            <a:r>
              <a:rPr lang="en-US" b="1" kern="1200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)</a:t>
            </a:r>
            <a:r>
              <a:rPr lang="en-US" dirty="0"/>
              <a:t> </a:t>
            </a:r>
            <a:r>
              <a:rPr lang="en-US" dirty="0" err="1"/>
              <a:t>trong</a:t>
            </a:r>
            <a:r>
              <a:rPr lang="en-US" dirty="0"/>
              <a:t> </a:t>
            </a:r>
            <a:r>
              <a:rPr lang="en-US" dirty="0" err="1"/>
              <a:t>thư</a:t>
            </a:r>
            <a:r>
              <a:rPr lang="en-US" dirty="0"/>
              <a:t> </a:t>
            </a:r>
            <a:r>
              <a:rPr lang="en-US" dirty="0" err="1"/>
              <a:t>viện</a:t>
            </a:r>
            <a:r>
              <a:rPr lang="en-US" dirty="0"/>
              <a:t> </a:t>
            </a:r>
            <a:r>
              <a:rPr lang="en-US" dirty="0" err="1">
                <a:latin typeface="Courier New" pitchFamily="49" charset="0"/>
                <a:cs typeface="Courier New" pitchFamily="49" charset="0"/>
              </a:rPr>
              <a:t>string.h</a:t>
            </a:r>
            <a:endParaRPr lang="en-US" dirty="0">
              <a:latin typeface="Courier New" pitchFamily="49" charset="0"/>
              <a:cs typeface="Courier New" pitchFamily="49" charset="0"/>
            </a:endParaRPr>
          </a:p>
          <a:p>
            <a:pPr marL="471487" lvl="1" indent="0" algn="l">
              <a:buNone/>
            </a:pPr>
            <a:r>
              <a:rPr lang="de-DE" b="1" kern="1200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printf("Do dai xau la:</a:t>
            </a:r>
            <a:r>
              <a:rPr lang="de-DE" b="1" kern="1200" dirty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%d</a:t>
            </a:r>
            <a:r>
              <a:rPr lang="de-DE" b="1" kern="1200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",</a:t>
            </a:r>
            <a:r>
              <a:rPr lang="de-DE" b="1" kern="1200" dirty="0">
                <a:latin typeface="Courier New" pitchFamily="49" charset="0"/>
                <a:cs typeface="Courier New" pitchFamily="49" charset="0"/>
              </a:rPr>
              <a:t>strlen(str)</a:t>
            </a:r>
            <a:r>
              <a:rPr lang="de-DE" b="1" kern="1200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);</a:t>
            </a:r>
          </a:p>
          <a:p>
            <a:pPr marL="0" indent="0">
              <a:buNone/>
            </a:pPr>
            <a:endParaRPr lang="vi-VN" sz="2400" b="1" kern="1200" dirty="0">
              <a:latin typeface="Courier New" pitchFamily="49" charset="0"/>
              <a:cs typeface="Courier New" pitchFamily="49" charset="0"/>
            </a:endParaRPr>
          </a:p>
          <a:p>
            <a:r>
              <a:rPr lang="vi-VN" dirty="0"/>
              <a:t>Bài tập:</a:t>
            </a:r>
          </a:p>
          <a:p>
            <a:pPr marL="895350" lvl="1" indent="-457200">
              <a:buAutoNum type="arabicPeriod"/>
            </a:pPr>
            <a:r>
              <a:rPr lang="vi-VN" kern="1200" dirty="0">
                <a:latin typeface="+mj-lt"/>
                <a:cs typeface="Courier New" pitchFamily="49" charset="0"/>
              </a:rPr>
              <a:t>Nhập từ bàn phím xâu st1, viết ra màn hình xâu đó theo chiều ngược lại.</a:t>
            </a:r>
          </a:p>
          <a:p>
            <a:pPr marL="895350" lvl="1" indent="-457200">
              <a:buAutoNum type="arabicPeriod"/>
            </a:pPr>
            <a:r>
              <a:rPr lang="vi-VN" kern="1200" dirty="0">
                <a:latin typeface="+mj-lt"/>
                <a:cs typeface="Courier New" pitchFamily="49" charset="0"/>
              </a:rPr>
              <a:t>Nhập từ bàn phím xâu st2, chuyển xâu st2 sang chữ hoa và viết ra màn hình xâu kết quả ra màn hình.</a:t>
            </a:r>
          </a:p>
          <a:p>
            <a:pPr marL="895350" lvl="1" indent="-457200">
              <a:buAutoNum type="arabicPeriod"/>
            </a:pPr>
            <a:endParaRPr lang="vi-VN" kern="1200" dirty="0">
              <a:latin typeface="+mj-lt"/>
              <a:cs typeface="Courier New" pitchFamily="49" charset="0"/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E15599-159F-4848-94A4-20FAA5F88A53}" type="datetime1">
              <a:rPr lang="vi-VN" smtClean="0"/>
              <a:pPr/>
              <a:t>14/01/2024</a:t>
            </a:fld>
            <a:endParaRPr lang="vi-V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vi-VN"/>
              <a:t>Chương 7 - Xâu kí tự</a:t>
            </a:r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B95402-1E0D-474E-8D8C-CBE7F053639E}" type="slidenum">
              <a:rPr lang="vi-VN" smtClean="0"/>
              <a:pPr/>
              <a:t>10</a:t>
            </a:fld>
            <a:r>
              <a:rPr lang="vi-VN"/>
              <a:t>/21</a:t>
            </a:r>
          </a:p>
        </p:txBody>
      </p:sp>
    </p:spTree>
    <p:extLst>
      <p:ext uri="{BB962C8B-B14F-4D97-AF65-F5344CB8AC3E}">
        <p14:creationId xmlns:p14="http://schemas.microsoft.com/office/powerpoint/2010/main" val="315368827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vi-VN"/>
              <a:t>d) </a:t>
            </a:r>
            <a:r>
              <a:rPr lang="en-US"/>
              <a:t>Ghép xâu</a:t>
            </a:r>
            <a:r>
              <a:rPr lang="vi-VN"/>
              <a:t>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vi-VN" dirty="0"/>
              <a:t>Ghép xâu st2 vào sau xâu st1</a:t>
            </a:r>
          </a:p>
          <a:p>
            <a:pPr lvl="1"/>
            <a:r>
              <a:rPr lang="vi-VN" dirty="0"/>
              <a:t>Hàm strcat(st1,st2): nối xâu st2 vào sau xâu st1</a:t>
            </a:r>
          </a:p>
          <a:p>
            <a:pPr marL="471487" lvl="1" indent="0">
              <a:buNone/>
            </a:pPr>
            <a:r>
              <a:rPr lang="vi-VN" sz="2200" b="1" kern="1200" dirty="0">
                <a:solidFill>
                  <a:schemeClr val="tx1"/>
                </a:solidFill>
                <a:latin typeface="Courier New" pitchFamily="49" charset="0"/>
                <a:ea typeface="+mn-ea"/>
                <a:cs typeface="Courier New" pitchFamily="49" charset="0"/>
              </a:rPr>
              <a:t>#include &lt;stdio.h&gt;</a:t>
            </a:r>
          </a:p>
          <a:p>
            <a:pPr marL="471487" lvl="1" indent="0">
              <a:buNone/>
            </a:pPr>
            <a:r>
              <a:rPr lang="vi-VN" sz="2200" b="1" kern="1200" dirty="0">
                <a:solidFill>
                  <a:schemeClr val="tx1"/>
                </a:solidFill>
                <a:latin typeface="Courier New" pitchFamily="49" charset="0"/>
                <a:ea typeface="+mn-ea"/>
                <a:cs typeface="Courier New" pitchFamily="49" charset="0"/>
              </a:rPr>
              <a:t>#include &lt;string.h&gt;</a:t>
            </a:r>
          </a:p>
          <a:p>
            <a:pPr marL="471487" lvl="1" indent="0">
              <a:buNone/>
            </a:pPr>
            <a:r>
              <a:rPr lang="vi-VN" sz="2200" b="1" kern="1200" dirty="0">
                <a:solidFill>
                  <a:schemeClr val="tx1"/>
                </a:solidFill>
                <a:latin typeface="Courier New" pitchFamily="49" charset="0"/>
                <a:ea typeface="+mn-ea"/>
                <a:cs typeface="Courier New" pitchFamily="49" charset="0"/>
              </a:rPr>
              <a:t>#define </a:t>
            </a:r>
            <a:r>
              <a:rPr lang="vi-VN" sz="2200" b="1" kern="1200" dirty="0">
                <a:latin typeface="Courier New" pitchFamily="49" charset="0"/>
                <a:ea typeface="+mn-ea"/>
                <a:cs typeface="Courier New" pitchFamily="49" charset="0"/>
              </a:rPr>
              <a:t>maxst</a:t>
            </a:r>
            <a:r>
              <a:rPr lang="vi-VN" sz="2200" b="1" kern="1200" dirty="0">
                <a:solidFill>
                  <a:schemeClr val="tx1"/>
                </a:solidFill>
                <a:latin typeface="Courier New" pitchFamily="49" charset="0"/>
                <a:ea typeface="+mn-ea"/>
                <a:cs typeface="Courier New" pitchFamily="49" charset="0"/>
              </a:rPr>
              <a:t> </a:t>
            </a:r>
            <a:r>
              <a:rPr lang="vi-VN" sz="2200" b="1" kern="1200" dirty="0">
                <a:latin typeface="Courier New" pitchFamily="49" charset="0"/>
                <a:ea typeface="+mn-ea"/>
                <a:cs typeface="Courier New" pitchFamily="49" charset="0"/>
              </a:rPr>
              <a:t>40</a:t>
            </a:r>
          </a:p>
          <a:p>
            <a:pPr marL="471487" lvl="1" indent="0">
              <a:buNone/>
            </a:pPr>
            <a:r>
              <a:rPr lang="vi-VN" sz="2200" b="1" kern="1200" dirty="0">
                <a:latin typeface="Courier New" pitchFamily="49" charset="0"/>
                <a:ea typeface="+mn-ea"/>
                <a:cs typeface="Courier New" pitchFamily="49" charset="0"/>
              </a:rPr>
              <a:t>main</a:t>
            </a:r>
            <a:r>
              <a:rPr lang="vi-VN" sz="2200" b="1" kern="1200" dirty="0">
                <a:solidFill>
                  <a:schemeClr val="tx1"/>
                </a:solidFill>
                <a:latin typeface="Courier New" pitchFamily="49" charset="0"/>
                <a:ea typeface="+mn-ea"/>
                <a:cs typeface="Courier New" pitchFamily="49" charset="0"/>
              </a:rPr>
              <a:t>()</a:t>
            </a:r>
          </a:p>
          <a:p>
            <a:pPr marL="471487" lvl="1" indent="0">
              <a:buNone/>
            </a:pPr>
            <a:r>
              <a:rPr lang="vi-VN" sz="2200" b="1" kern="1200" dirty="0">
                <a:solidFill>
                  <a:schemeClr val="tx1"/>
                </a:solidFill>
                <a:latin typeface="Courier New" pitchFamily="49" charset="0"/>
                <a:ea typeface="+mn-ea"/>
                <a:cs typeface="Courier New" pitchFamily="49" charset="0"/>
              </a:rPr>
              <a:t>{   char st1[maxst]="</a:t>
            </a:r>
            <a:r>
              <a:rPr lang="vi-VN" sz="2200" b="1" kern="1200" dirty="0">
                <a:solidFill>
                  <a:srgbClr val="FF0000"/>
                </a:solidFill>
                <a:latin typeface="Courier New" pitchFamily="49" charset="0"/>
                <a:ea typeface="+mn-ea"/>
                <a:cs typeface="Courier New" pitchFamily="49" charset="0"/>
              </a:rPr>
              <a:t>Chao mung</a:t>
            </a:r>
            <a:r>
              <a:rPr lang="vi-VN" sz="2200" b="1" kern="1200" dirty="0">
                <a:solidFill>
                  <a:schemeClr val="tx1"/>
                </a:solidFill>
                <a:latin typeface="Courier New" pitchFamily="49" charset="0"/>
                <a:ea typeface="+mn-ea"/>
                <a:cs typeface="Courier New" pitchFamily="49" charset="0"/>
              </a:rPr>
              <a:t>";</a:t>
            </a:r>
          </a:p>
          <a:p>
            <a:pPr marL="469900" lvl="1" indent="681038">
              <a:buNone/>
            </a:pPr>
            <a:r>
              <a:rPr lang="vi-VN" sz="2200" b="1" kern="1200" dirty="0">
                <a:solidFill>
                  <a:schemeClr val="tx1"/>
                </a:solidFill>
                <a:latin typeface="Courier New" pitchFamily="49" charset="0"/>
                <a:ea typeface="+mn-ea"/>
                <a:cs typeface="Courier New" pitchFamily="49" charset="0"/>
              </a:rPr>
              <a:t>char st2[maxst]="</a:t>
            </a:r>
            <a:r>
              <a:rPr lang="vi-VN" sz="2200" b="1" kern="1200" dirty="0">
                <a:solidFill>
                  <a:srgbClr val="FF0000"/>
                </a:solidFill>
                <a:latin typeface="Courier New" pitchFamily="49" charset="0"/>
                <a:ea typeface="+mn-ea"/>
                <a:cs typeface="Courier New" pitchFamily="49" charset="0"/>
              </a:rPr>
              <a:t>Ngon ngu C</a:t>
            </a:r>
            <a:r>
              <a:rPr lang="vi-VN" sz="2200" b="1" kern="1200" dirty="0">
                <a:solidFill>
                  <a:schemeClr val="tx1"/>
                </a:solidFill>
                <a:latin typeface="Courier New" pitchFamily="49" charset="0"/>
                <a:ea typeface="+mn-ea"/>
                <a:cs typeface="Courier New" pitchFamily="49" charset="0"/>
              </a:rPr>
              <a:t>";</a:t>
            </a:r>
          </a:p>
          <a:p>
            <a:pPr marL="469900" lvl="1" indent="681038">
              <a:buNone/>
            </a:pPr>
            <a:r>
              <a:rPr lang="vi-VN" sz="2200" b="1" kern="1200" dirty="0">
                <a:solidFill>
                  <a:schemeClr val="tx1"/>
                </a:solidFill>
                <a:latin typeface="Courier New" pitchFamily="49" charset="0"/>
                <a:ea typeface="+mn-ea"/>
                <a:cs typeface="Courier New" pitchFamily="49" charset="0"/>
              </a:rPr>
              <a:t>if (</a:t>
            </a:r>
            <a:r>
              <a:rPr lang="vi-VN" sz="2200" b="1" kern="1200" dirty="0">
                <a:latin typeface="Courier New" pitchFamily="49" charset="0"/>
                <a:ea typeface="+mn-ea"/>
                <a:cs typeface="Courier New" pitchFamily="49" charset="0"/>
              </a:rPr>
              <a:t>maxst</a:t>
            </a:r>
            <a:r>
              <a:rPr lang="vi-VN" sz="2200" b="1" kern="1200" dirty="0">
                <a:solidFill>
                  <a:schemeClr val="tx1"/>
                </a:solidFill>
                <a:latin typeface="Courier New" pitchFamily="49" charset="0"/>
                <a:ea typeface="+mn-ea"/>
                <a:cs typeface="Courier New" pitchFamily="49" charset="0"/>
              </a:rPr>
              <a:t>&gt;strlen(st1)+strlen(st2))</a:t>
            </a:r>
          </a:p>
          <a:p>
            <a:pPr marL="469900" lvl="1" indent="681038">
              <a:buNone/>
            </a:pPr>
            <a:r>
              <a:rPr lang="vi-VN" sz="2200" b="1" kern="1200" dirty="0">
                <a:solidFill>
                  <a:schemeClr val="tx1"/>
                </a:solidFill>
                <a:latin typeface="Courier New" pitchFamily="49" charset="0"/>
                <a:ea typeface="+mn-ea"/>
                <a:cs typeface="Courier New" pitchFamily="49" charset="0"/>
              </a:rPr>
              <a:t>	puts(</a:t>
            </a:r>
            <a:r>
              <a:rPr lang="vi-VN" sz="2200" b="1" kern="1200" dirty="0">
                <a:latin typeface="Courier New" pitchFamily="49" charset="0"/>
                <a:ea typeface="+mn-ea"/>
                <a:cs typeface="Courier New" pitchFamily="49" charset="0"/>
              </a:rPr>
              <a:t>strcat(st1,st2)</a:t>
            </a:r>
            <a:r>
              <a:rPr lang="vi-VN" sz="2200" b="1" kern="1200" dirty="0">
                <a:solidFill>
                  <a:schemeClr val="tx1"/>
                </a:solidFill>
                <a:latin typeface="Courier New" pitchFamily="49" charset="0"/>
                <a:ea typeface="+mn-ea"/>
                <a:cs typeface="Courier New" pitchFamily="49" charset="0"/>
              </a:rPr>
              <a:t>);</a:t>
            </a:r>
          </a:p>
          <a:p>
            <a:pPr marL="469900" lvl="1" indent="681038">
              <a:buNone/>
            </a:pPr>
            <a:r>
              <a:rPr lang="vi-VN" sz="2200" b="1" kern="1200" dirty="0">
                <a:solidFill>
                  <a:schemeClr val="tx1"/>
                </a:solidFill>
                <a:latin typeface="Courier New" pitchFamily="49" charset="0"/>
                <a:ea typeface="+mn-ea"/>
                <a:cs typeface="Courier New" pitchFamily="49" charset="0"/>
              </a:rPr>
              <a:t>else printf("Khong du bo nho!");</a:t>
            </a:r>
          </a:p>
          <a:p>
            <a:pPr marL="471487" lvl="1" indent="0">
              <a:buNone/>
            </a:pPr>
            <a:r>
              <a:rPr lang="vi-VN" sz="2200" b="1" kern="1200" dirty="0">
                <a:solidFill>
                  <a:schemeClr val="tx1"/>
                </a:solidFill>
                <a:latin typeface="Courier New" pitchFamily="49" charset="0"/>
                <a:ea typeface="+mn-ea"/>
                <a:cs typeface="Courier New" pitchFamily="49" charset="0"/>
              </a:rPr>
              <a:t>}</a:t>
            </a:r>
          </a:p>
          <a:p>
            <a:pPr lvl="1"/>
            <a:r>
              <a:rPr lang="vi-VN" dirty="0"/>
              <a:t>Chú ý: không viết </a:t>
            </a:r>
            <a:r>
              <a:rPr lang="vi-VN" sz="2200" b="1" dirty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st=st1+st2;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25C37B-66AE-435D-85AD-3A10CF12816F}" type="datetime1">
              <a:rPr lang="vi-VN" smtClean="0"/>
              <a:pPr/>
              <a:t>14/01/2024</a:t>
            </a:fld>
            <a:endParaRPr lang="vi-V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vi-VN"/>
              <a:t>Chương 7 - Xâu kí tự</a:t>
            </a:r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B95402-1E0D-474E-8D8C-CBE7F053639E}" type="slidenum">
              <a:rPr lang="vi-VN" smtClean="0"/>
              <a:pPr/>
              <a:t>11</a:t>
            </a:fld>
            <a:r>
              <a:rPr lang="vi-VN"/>
              <a:t>/21</a:t>
            </a:r>
          </a:p>
        </p:txBody>
      </p:sp>
    </p:spTree>
    <p:extLst>
      <p:ext uri="{BB962C8B-B14F-4D97-AF65-F5344CB8AC3E}">
        <p14:creationId xmlns:p14="http://schemas.microsoft.com/office/powerpoint/2010/main" val="152839982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4" dur="500"/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vi-VN"/>
              <a:t>e) Sao chép xâu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vi-VN" dirty="0"/>
              <a:t>C không cho phép gán một xâu cho một biến do xâu kí tự là một mảng.</a:t>
            </a:r>
          </a:p>
          <a:p>
            <a:pPr lvl="1"/>
            <a:r>
              <a:rPr lang="vi-VN" dirty="0"/>
              <a:t>Ví dụ: Không viết được </a:t>
            </a:r>
            <a:r>
              <a:rPr lang="vi-VN" sz="2200" b="1" dirty="0">
                <a:solidFill>
                  <a:schemeClr val="tx1">
                    <a:lumMod val="95000"/>
                    <a:lumOff val="5000"/>
                  </a:schemeClr>
                </a:solidFill>
                <a:latin typeface="Courier New" pitchFamily="49" charset="0"/>
                <a:cs typeface="Courier New" pitchFamily="49" charset="0"/>
              </a:rPr>
              <a:t>line=</a:t>
            </a:r>
            <a:r>
              <a:rPr lang="en-US" sz="2200" b="1" dirty="0">
                <a:solidFill>
                  <a:schemeClr val="tx1">
                    <a:lumMod val="95000"/>
                    <a:lumOff val="5000"/>
                  </a:schemeClr>
                </a:solidFill>
                <a:latin typeface="Courier New" pitchFamily="49" charset="0"/>
                <a:cs typeface="Courier New" pitchFamily="49" charset="0"/>
              </a:rPr>
              <a:t>“Hello”;</a:t>
            </a:r>
            <a:endParaRPr lang="vi-VN" sz="2200" b="1" dirty="0">
              <a:solidFill>
                <a:schemeClr val="tx1">
                  <a:lumMod val="95000"/>
                  <a:lumOff val="5000"/>
                </a:schemeClr>
              </a:solidFill>
              <a:latin typeface="Courier New" pitchFamily="49" charset="0"/>
              <a:cs typeface="Courier New" pitchFamily="49" charset="0"/>
            </a:endParaRPr>
          </a:p>
          <a:p>
            <a:pPr marL="471487" lvl="1" indent="0">
              <a:buNone/>
            </a:pPr>
            <a:r>
              <a:rPr lang="vi-VN" dirty="0">
                <a:sym typeface="Wingdings" pitchFamily="2" charset="2"/>
              </a:rPr>
              <a:t> Dùng hàm sao chép xâu hoặc viết vòng lặp sao chép từng kí tự</a:t>
            </a:r>
            <a:r>
              <a:rPr lang="en-US" dirty="0">
                <a:sym typeface="Wingdings" pitchFamily="2" charset="2"/>
              </a:rPr>
              <a:t> </a:t>
            </a:r>
            <a:r>
              <a:rPr lang="vi-VN" dirty="0"/>
              <a:t>Hàm sao chép xâu</a:t>
            </a:r>
          </a:p>
          <a:p>
            <a:pPr lvl="1"/>
            <a:r>
              <a:rPr lang="vi-VN" sz="2200" b="1" dirty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strcpy</a:t>
            </a:r>
            <a:r>
              <a:rPr lang="vi-VN" sz="2200" b="1" dirty="0">
                <a:latin typeface="Courier New" pitchFamily="49" charset="0"/>
                <a:cs typeface="Courier New" pitchFamily="49" charset="0"/>
              </a:rPr>
              <a:t>(st1,st2)</a:t>
            </a:r>
            <a:r>
              <a:rPr lang="vi-VN" dirty="0"/>
              <a:t> – gán xâu st2 cho xâu st1</a:t>
            </a:r>
          </a:p>
          <a:p>
            <a:pPr lvl="1"/>
            <a:r>
              <a:rPr lang="vi-VN" dirty="0"/>
              <a:t>Ví dụ: </a:t>
            </a:r>
            <a:r>
              <a:rPr lang="vi-VN" sz="2200" b="1" dirty="0">
                <a:solidFill>
                  <a:schemeClr val="tx1">
                    <a:lumMod val="95000"/>
                    <a:lumOff val="5000"/>
                  </a:schemeClr>
                </a:solidFill>
                <a:latin typeface="Courier New" pitchFamily="49" charset="0"/>
                <a:cs typeface="Courier New" pitchFamily="49" charset="0"/>
              </a:rPr>
              <a:t>strcpy(line,</a:t>
            </a:r>
            <a:r>
              <a:rPr lang="en-US" sz="2200" b="1" dirty="0">
                <a:solidFill>
                  <a:schemeClr val="tx1">
                    <a:lumMod val="95000"/>
                    <a:lumOff val="5000"/>
                  </a:schemeClr>
                </a:solidFill>
                <a:latin typeface="Courier New" pitchFamily="49" charset="0"/>
                <a:cs typeface="Courier New" pitchFamily="49" charset="0"/>
              </a:rPr>
              <a:t>”Hello”);</a:t>
            </a:r>
          </a:p>
          <a:p>
            <a:r>
              <a:rPr lang="en-US" dirty="0" err="1"/>
              <a:t>Chú</a:t>
            </a:r>
            <a:r>
              <a:rPr lang="en-US" dirty="0"/>
              <a:t> ý:</a:t>
            </a:r>
          </a:p>
          <a:p>
            <a:pPr lvl="1"/>
            <a:r>
              <a:rPr lang="vi-VN" dirty="0"/>
              <a:t>Hàm không kiểm tra tính đúng đắn về kích thước ô nhớ của st1 có đủ chứa st2 hay không, do đó, cần lưu ý về kích thước xâu kí tự.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104E2F-BFF7-4EFB-A94A-AD742BB3EBCB}" type="datetime1">
              <a:rPr lang="vi-VN" smtClean="0"/>
              <a:pPr/>
              <a:t>14/01/2024</a:t>
            </a:fld>
            <a:endParaRPr lang="vi-V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vi-VN"/>
              <a:t>Chương 7 - Xâu kí tự</a:t>
            </a:r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B95402-1E0D-474E-8D8C-CBE7F053639E}" type="slidenum">
              <a:rPr lang="vi-VN" smtClean="0"/>
              <a:pPr/>
              <a:t>12</a:t>
            </a:fld>
            <a:r>
              <a:rPr lang="vi-VN"/>
              <a:t>/21</a:t>
            </a:r>
          </a:p>
        </p:txBody>
      </p:sp>
    </p:spTree>
    <p:extLst>
      <p:ext uri="{BB962C8B-B14F-4D97-AF65-F5344CB8AC3E}">
        <p14:creationId xmlns:p14="http://schemas.microsoft.com/office/powerpoint/2010/main" val="285332281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5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f) So sánh xâu kí tự</a:t>
            </a:r>
            <a:endParaRPr lang="vi-V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Bef>
                <a:spcPts val="0"/>
              </a:spcBef>
            </a:pPr>
            <a:r>
              <a:rPr lang="en-US" dirty="0" err="1"/>
              <a:t>Quy</a:t>
            </a:r>
            <a:r>
              <a:rPr lang="en-US" dirty="0"/>
              <a:t> </a:t>
            </a:r>
            <a:r>
              <a:rPr lang="en-US" dirty="0" err="1"/>
              <a:t>tắc</a:t>
            </a:r>
            <a:r>
              <a:rPr lang="en-US" dirty="0"/>
              <a:t> so </a:t>
            </a:r>
            <a:r>
              <a:rPr lang="en-US" dirty="0" err="1"/>
              <a:t>sánh</a:t>
            </a:r>
            <a:endParaRPr lang="en-US" dirty="0"/>
          </a:p>
          <a:p>
            <a:pPr lvl="1"/>
            <a:r>
              <a:rPr lang="en-US" dirty="0" err="1"/>
              <a:t>Các</a:t>
            </a:r>
            <a:r>
              <a:rPr lang="en-US" dirty="0"/>
              <a:t> </a:t>
            </a:r>
            <a:r>
              <a:rPr lang="en-US" dirty="0" err="1"/>
              <a:t>kí</a:t>
            </a:r>
            <a:r>
              <a:rPr lang="en-US" dirty="0"/>
              <a:t> </a:t>
            </a:r>
            <a:r>
              <a:rPr lang="en-US" dirty="0" err="1"/>
              <a:t>tự</a:t>
            </a:r>
            <a:r>
              <a:rPr lang="en-US" dirty="0"/>
              <a:t> </a:t>
            </a:r>
            <a:r>
              <a:rPr lang="en-US" dirty="0" err="1"/>
              <a:t>của</a:t>
            </a:r>
            <a:r>
              <a:rPr lang="en-US" dirty="0"/>
              <a:t> 2 </a:t>
            </a:r>
            <a:r>
              <a:rPr lang="en-US" dirty="0" err="1"/>
              <a:t>xâu</a:t>
            </a:r>
            <a:r>
              <a:rPr lang="en-US" dirty="0"/>
              <a:t> </a:t>
            </a:r>
            <a:r>
              <a:rPr lang="en-US" dirty="0" err="1"/>
              <a:t>được</a:t>
            </a:r>
            <a:r>
              <a:rPr lang="en-US" dirty="0"/>
              <a:t> so </a:t>
            </a:r>
            <a:r>
              <a:rPr lang="en-US" dirty="0" err="1"/>
              <a:t>sánh</a:t>
            </a:r>
            <a:r>
              <a:rPr lang="en-US" dirty="0"/>
              <a:t> </a:t>
            </a:r>
            <a:r>
              <a:rPr lang="en-US" dirty="0" err="1"/>
              <a:t>từng</a:t>
            </a:r>
            <a:r>
              <a:rPr lang="en-US" dirty="0"/>
              <a:t> </a:t>
            </a:r>
            <a:r>
              <a:rPr lang="en-US" dirty="0" err="1"/>
              <a:t>cặp</a:t>
            </a:r>
            <a:r>
              <a:rPr lang="en-US" dirty="0"/>
              <a:t> </a:t>
            </a:r>
            <a:r>
              <a:rPr lang="en-US" dirty="0" err="1"/>
              <a:t>từ</a:t>
            </a:r>
            <a:r>
              <a:rPr lang="en-US" dirty="0"/>
              <a:t> </a:t>
            </a:r>
            <a:r>
              <a:rPr lang="en-US" dirty="0" err="1"/>
              <a:t>trái</a:t>
            </a:r>
            <a:r>
              <a:rPr lang="en-US" dirty="0"/>
              <a:t> qua </a:t>
            </a:r>
            <a:r>
              <a:rPr lang="en-US" dirty="0" err="1"/>
              <a:t>phải</a:t>
            </a:r>
            <a:r>
              <a:rPr lang="en-US" dirty="0"/>
              <a:t> </a:t>
            </a:r>
            <a:r>
              <a:rPr lang="en-US" dirty="0" err="1"/>
              <a:t>theo</a:t>
            </a:r>
            <a:r>
              <a:rPr lang="en-US" dirty="0"/>
              <a:t> </a:t>
            </a:r>
            <a:r>
              <a:rPr lang="en-US" dirty="0" err="1"/>
              <a:t>giá</a:t>
            </a:r>
            <a:r>
              <a:rPr lang="en-US" dirty="0"/>
              <a:t> </a:t>
            </a:r>
            <a:r>
              <a:rPr lang="en-US" dirty="0" err="1"/>
              <a:t>trị</a:t>
            </a:r>
            <a:r>
              <a:rPr lang="en-US" dirty="0"/>
              <a:t> </a:t>
            </a:r>
            <a:r>
              <a:rPr lang="en-US" dirty="0" err="1"/>
              <a:t>của</a:t>
            </a:r>
            <a:r>
              <a:rPr lang="en-US" dirty="0"/>
              <a:t> </a:t>
            </a:r>
            <a:r>
              <a:rPr lang="en-US" dirty="0" err="1"/>
              <a:t>mã</a:t>
            </a:r>
            <a:r>
              <a:rPr lang="en-US" dirty="0"/>
              <a:t> ASCII</a:t>
            </a:r>
          </a:p>
          <a:p>
            <a:pPr>
              <a:spcBef>
                <a:spcPts val="0"/>
              </a:spcBef>
            </a:pPr>
            <a:r>
              <a:rPr lang="en-US" dirty="0" err="1"/>
              <a:t>Hàm</a:t>
            </a:r>
            <a:r>
              <a:rPr lang="en-US" dirty="0"/>
              <a:t> </a:t>
            </a:r>
            <a:r>
              <a:rPr lang="en-US" sz="2400" b="1" dirty="0" err="1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strcmp</a:t>
            </a:r>
            <a:r>
              <a:rPr lang="en-US" sz="2400" b="1" dirty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(st1,st2)</a:t>
            </a:r>
            <a:r>
              <a:rPr lang="en-US" dirty="0"/>
              <a:t> </a:t>
            </a:r>
            <a:r>
              <a:rPr lang="en-US" dirty="0" err="1"/>
              <a:t>trong</a:t>
            </a:r>
            <a:r>
              <a:rPr lang="en-US" dirty="0"/>
              <a:t> </a:t>
            </a:r>
            <a:r>
              <a:rPr lang="en-US" dirty="0" err="1"/>
              <a:t>thư</a:t>
            </a:r>
            <a:r>
              <a:rPr lang="en-US" dirty="0"/>
              <a:t> </a:t>
            </a:r>
            <a:r>
              <a:rPr lang="en-US" dirty="0" err="1"/>
              <a:t>viện</a:t>
            </a:r>
            <a:r>
              <a:rPr lang="en-US" dirty="0"/>
              <a:t> </a:t>
            </a:r>
            <a:r>
              <a:rPr lang="en-US" dirty="0" err="1">
                <a:solidFill>
                  <a:srgbClr val="0000FF"/>
                </a:solidFill>
              </a:rPr>
              <a:t>string.h</a:t>
            </a:r>
            <a:endParaRPr lang="en-US" dirty="0">
              <a:solidFill>
                <a:srgbClr val="0000FF"/>
              </a:solidFill>
            </a:endParaRPr>
          </a:p>
          <a:p>
            <a:pPr lvl="1"/>
            <a:r>
              <a:rPr lang="en-US" dirty="0" err="1"/>
              <a:t>Trả</a:t>
            </a:r>
            <a:r>
              <a:rPr lang="en-US" dirty="0"/>
              <a:t> </a:t>
            </a:r>
            <a:r>
              <a:rPr lang="en-US" dirty="0" err="1"/>
              <a:t>về</a:t>
            </a:r>
            <a:r>
              <a:rPr lang="en-US" dirty="0"/>
              <a:t> 0 </a:t>
            </a:r>
            <a:r>
              <a:rPr lang="en-US" dirty="0" err="1"/>
              <a:t>nếu</a:t>
            </a:r>
            <a:r>
              <a:rPr lang="en-US" dirty="0"/>
              <a:t> st1==st2</a:t>
            </a:r>
          </a:p>
          <a:p>
            <a:pPr lvl="1"/>
            <a:r>
              <a:rPr lang="en-US" dirty="0"/>
              <a:t>&lt;0 </a:t>
            </a:r>
            <a:r>
              <a:rPr lang="en-US" dirty="0" err="1"/>
              <a:t>nếu</a:t>
            </a:r>
            <a:r>
              <a:rPr lang="en-US" dirty="0"/>
              <a:t> st1&lt;st2</a:t>
            </a:r>
          </a:p>
          <a:p>
            <a:pPr lvl="1"/>
            <a:r>
              <a:rPr lang="en-US" dirty="0"/>
              <a:t>&gt;0 </a:t>
            </a:r>
            <a:r>
              <a:rPr lang="en-US" dirty="0" err="1"/>
              <a:t>nếu</a:t>
            </a:r>
            <a:r>
              <a:rPr lang="en-US" dirty="0"/>
              <a:t> st1&gt;st2</a:t>
            </a:r>
          </a:p>
          <a:p>
            <a:pPr>
              <a:spcBef>
                <a:spcPts val="0"/>
              </a:spcBef>
            </a:pPr>
            <a:r>
              <a:rPr lang="en-US" dirty="0" err="1"/>
              <a:t>Ví</a:t>
            </a:r>
            <a:r>
              <a:rPr lang="en-US" dirty="0"/>
              <a:t> </a:t>
            </a:r>
            <a:r>
              <a:rPr lang="en-US" dirty="0" err="1"/>
              <a:t>dụ</a:t>
            </a:r>
            <a:r>
              <a:rPr lang="en-US" dirty="0"/>
              <a:t>: </a:t>
            </a:r>
            <a:r>
              <a:rPr lang="en-US" sz="2400" dirty="0" err="1">
                <a:solidFill>
                  <a:srgbClr val="0000FF"/>
                </a:solidFill>
              </a:rPr>
              <a:t>Nhập</a:t>
            </a:r>
            <a:r>
              <a:rPr lang="en-US" sz="2400" dirty="0">
                <a:solidFill>
                  <a:srgbClr val="0000FF"/>
                </a:solidFill>
              </a:rPr>
              <a:t> </a:t>
            </a:r>
            <a:r>
              <a:rPr lang="en-US" sz="2400" dirty="0" err="1">
                <a:solidFill>
                  <a:srgbClr val="0000FF"/>
                </a:solidFill>
              </a:rPr>
              <a:t>các</a:t>
            </a:r>
            <a:r>
              <a:rPr lang="en-US" sz="2400" dirty="0">
                <a:solidFill>
                  <a:srgbClr val="0000FF"/>
                </a:solidFill>
              </a:rPr>
              <a:t> </a:t>
            </a:r>
            <a:r>
              <a:rPr lang="en-US" sz="2400" dirty="0" err="1">
                <a:solidFill>
                  <a:srgbClr val="0000FF"/>
                </a:solidFill>
              </a:rPr>
              <a:t>xâu</a:t>
            </a:r>
            <a:r>
              <a:rPr lang="en-US" sz="2400" dirty="0">
                <a:solidFill>
                  <a:srgbClr val="0000FF"/>
                </a:solidFill>
              </a:rPr>
              <a:t> </a:t>
            </a:r>
            <a:r>
              <a:rPr lang="en-US" sz="2400" dirty="0" err="1">
                <a:solidFill>
                  <a:srgbClr val="0000FF"/>
                </a:solidFill>
              </a:rPr>
              <a:t>cho</a:t>
            </a:r>
            <a:r>
              <a:rPr lang="en-US" sz="2400" dirty="0">
                <a:solidFill>
                  <a:srgbClr val="0000FF"/>
                </a:solidFill>
              </a:rPr>
              <a:t> </a:t>
            </a:r>
            <a:r>
              <a:rPr lang="en-US" sz="2400" dirty="0" err="1">
                <a:solidFill>
                  <a:srgbClr val="0000FF"/>
                </a:solidFill>
              </a:rPr>
              <a:t>đến</a:t>
            </a:r>
            <a:r>
              <a:rPr lang="en-US" sz="2400" dirty="0">
                <a:solidFill>
                  <a:srgbClr val="0000FF"/>
                </a:solidFill>
              </a:rPr>
              <a:t> </a:t>
            </a:r>
            <a:r>
              <a:rPr lang="en-US" sz="2400" dirty="0" err="1">
                <a:solidFill>
                  <a:srgbClr val="0000FF"/>
                </a:solidFill>
              </a:rPr>
              <a:t>khi</a:t>
            </a:r>
            <a:r>
              <a:rPr lang="en-US" sz="2400" dirty="0">
                <a:solidFill>
                  <a:srgbClr val="0000FF"/>
                </a:solidFill>
              </a:rPr>
              <a:t> </a:t>
            </a:r>
            <a:r>
              <a:rPr lang="en-US" sz="2400" dirty="0" err="1">
                <a:solidFill>
                  <a:srgbClr val="0000FF"/>
                </a:solidFill>
              </a:rPr>
              <a:t>nhập</a:t>
            </a:r>
            <a:r>
              <a:rPr lang="en-US" sz="2400" dirty="0">
                <a:solidFill>
                  <a:srgbClr val="0000FF"/>
                </a:solidFill>
              </a:rPr>
              <a:t> </a:t>
            </a:r>
            <a:r>
              <a:rPr lang="en-US" sz="2400" dirty="0" err="1">
                <a:solidFill>
                  <a:srgbClr val="0000FF"/>
                </a:solidFill>
              </a:rPr>
              <a:t>xâu</a:t>
            </a:r>
            <a:r>
              <a:rPr lang="en-US" sz="2400" dirty="0">
                <a:solidFill>
                  <a:srgbClr val="0000FF"/>
                </a:solidFill>
              </a:rPr>
              <a:t> “</a:t>
            </a:r>
            <a:r>
              <a:rPr lang="en-US" sz="2400" dirty="0">
                <a:solidFill>
                  <a:srgbClr val="FF0000"/>
                </a:solidFill>
              </a:rPr>
              <a:t>done</a:t>
            </a:r>
            <a:r>
              <a:rPr lang="en-US" sz="2400" dirty="0">
                <a:solidFill>
                  <a:srgbClr val="0000FF"/>
                </a:solidFill>
              </a:rPr>
              <a:t>”</a:t>
            </a:r>
            <a:endParaRPr lang="en-US" dirty="0"/>
          </a:p>
          <a:p>
            <a:pPr marL="0" indent="457200">
              <a:buNone/>
            </a:pPr>
            <a:r>
              <a:rPr lang="en-US" sz="2000" b="1" dirty="0">
                <a:solidFill>
                  <a:schemeClr val="tx1">
                    <a:lumMod val="95000"/>
                    <a:lumOff val="5000"/>
                  </a:schemeClr>
                </a:solidFill>
                <a:latin typeface="Courier New" pitchFamily="49" charset="0"/>
                <a:cs typeface="Courier New" pitchFamily="49" charset="0"/>
              </a:rPr>
              <a:t>char </a:t>
            </a:r>
            <a:r>
              <a:rPr lang="en-US" sz="2000" b="1" dirty="0" err="1">
                <a:solidFill>
                  <a:schemeClr val="tx1">
                    <a:lumMod val="95000"/>
                    <a:lumOff val="5000"/>
                  </a:schemeClr>
                </a:solidFill>
                <a:latin typeface="Courier New" pitchFamily="49" charset="0"/>
                <a:cs typeface="Courier New" pitchFamily="49" charset="0"/>
              </a:rPr>
              <a:t>st</a:t>
            </a:r>
            <a:r>
              <a:rPr lang="en-US" sz="2000" b="1" dirty="0">
                <a:solidFill>
                  <a:schemeClr val="tx1">
                    <a:lumMod val="95000"/>
                    <a:lumOff val="5000"/>
                  </a:schemeClr>
                </a:solidFill>
                <a:latin typeface="Courier New" pitchFamily="49" charset="0"/>
                <a:cs typeface="Courier New" pitchFamily="49" charset="0"/>
              </a:rPr>
              <a:t>[80];</a:t>
            </a:r>
          </a:p>
          <a:p>
            <a:pPr marL="0" indent="457200">
              <a:buNone/>
            </a:pPr>
            <a:r>
              <a:rPr lang="en-US" sz="2000" b="1" dirty="0">
                <a:solidFill>
                  <a:schemeClr val="tx1">
                    <a:lumMod val="95000"/>
                    <a:lumOff val="5000"/>
                  </a:schemeClr>
                </a:solidFill>
                <a:latin typeface="Courier New" pitchFamily="49" charset="0"/>
                <a:cs typeface="Courier New" pitchFamily="49" charset="0"/>
              </a:rPr>
              <a:t>do</a:t>
            </a:r>
          </a:p>
          <a:p>
            <a:pPr marL="0" indent="457200">
              <a:buNone/>
            </a:pPr>
            <a:r>
              <a:rPr lang="en-US" sz="2000" b="1" dirty="0">
                <a:solidFill>
                  <a:schemeClr val="tx1">
                    <a:lumMod val="95000"/>
                    <a:lumOff val="5000"/>
                  </a:schemeClr>
                </a:solidFill>
                <a:latin typeface="Courier New" pitchFamily="49" charset="0"/>
                <a:cs typeface="Courier New" pitchFamily="49" charset="0"/>
              </a:rPr>
              <a:t>{     </a:t>
            </a:r>
            <a:r>
              <a:rPr lang="en-US" sz="2000" b="1" dirty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gets</a:t>
            </a:r>
            <a:r>
              <a:rPr lang="en-US" sz="2000" b="1" dirty="0">
                <a:solidFill>
                  <a:schemeClr val="tx1">
                    <a:lumMod val="95000"/>
                    <a:lumOff val="5000"/>
                  </a:schemeClr>
                </a:solidFill>
                <a:latin typeface="Courier New" pitchFamily="49" charset="0"/>
                <a:cs typeface="Courier New" pitchFamily="49" charset="0"/>
              </a:rPr>
              <a:t>(</a:t>
            </a:r>
            <a:r>
              <a:rPr lang="en-US" sz="2000" b="1" dirty="0" err="1">
                <a:solidFill>
                  <a:schemeClr val="tx1">
                    <a:lumMod val="95000"/>
                    <a:lumOff val="5000"/>
                  </a:schemeClr>
                </a:solidFill>
                <a:latin typeface="Courier New" pitchFamily="49" charset="0"/>
                <a:cs typeface="Courier New" pitchFamily="49" charset="0"/>
              </a:rPr>
              <a:t>st</a:t>
            </a:r>
            <a:r>
              <a:rPr lang="en-US" sz="2000" b="1" dirty="0">
                <a:solidFill>
                  <a:schemeClr val="tx1">
                    <a:lumMod val="95000"/>
                    <a:lumOff val="5000"/>
                  </a:schemeClr>
                </a:solidFill>
                <a:latin typeface="Courier New" pitchFamily="49" charset="0"/>
                <a:cs typeface="Courier New" pitchFamily="49" charset="0"/>
              </a:rPr>
              <a:t>);</a:t>
            </a:r>
          </a:p>
          <a:p>
            <a:pPr marL="0" indent="457200">
              <a:buNone/>
            </a:pPr>
            <a:r>
              <a:rPr lang="en-US" sz="2000" b="1" dirty="0">
                <a:solidFill>
                  <a:schemeClr val="tx1">
                    <a:lumMod val="95000"/>
                    <a:lumOff val="5000"/>
                  </a:schemeClr>
                </a:solidFill>
                <a:latin typeface="Courier New" pitchFamily="49" charset="0"/>
                <a:cs typeface="Courier New" pitchFamily="49" charset="0"/>
              </a:rPr>
              <a:t>      </a:t>
            </a:r>
            <a:r>
              <a:rPr lang="en-US" sz="2000" b="1" dirty="0" err="1">
                <a:solidFill>
                  <a:schemeClr val="tx1">
                    <a:lumMod val="95000"/>
                    <a:lumOff val="5000"/>
                  </a:schemeClr>
                </a:solidFill>
                <a:latin typeface="Courier New" pitchFamily="49" charset="0"/>
                <a:cs typeface="Courier New" pitchFamily="49" charset="0"/>
              </a:rPr>
              <a:t>printf</a:t>
            </a:r>
            <a:r>
              <a:rPr lang="en-US" sz="2000" b="1" dirty="0">
                <a:solidFill>
                  <a:schemeClr val="tx1">
                    <a:lumMod val="95000"/>
                    <a:lumOff val="5000"/>
                  </a:schemeClr>
                </a:solidFill>
                <a:latin typeface="Courier New" pitchFamily="49" charset="0"/>
                <a:cs typeface="Courier New" pitchFamily="49" charset="0"/>
              </a:rPr>
              <a:t>("</a:t>
            </a:r>
            <a:r>
              <a:rPr lang="en-US" sz="2000" b="1" dirty="0" err="1">
                <a:solidFill>
                  <a:schemeClr val="tx1">
                    <a:lumMod val="95000"/>
                    <a:lumOff val="5000"/>
                  </a:schemeClr>
                </a:solidFill>
                <a:latin typeface="Courier New" pitchFamily="49" charset="0"/>
                <a:cs typeface="Courier New" pitchFamily="49" charset="0"/>
              </a:rPr>
              <a:t>Xau</a:t>
            </a:r>
            <a:r>
              <a:rPr lang="en-US" sz="2000" b="1" dirty="0">
                <a:solidFill>
                  <a:schemeClr val="tx1">
                    <a:lumMod val="95000"/>
                    <a:lumOff val="5000"/>
                  </a:schemeClr>
                </a:solidFill>
                <a:latin typeface="Courier New" pitchFamily="49" charset="0"/>
                <a:cs typeface="Courier New" pitchFamily="49" charset="0"/>
              </a:rPr>
              <a:t> </a:t>
            </a:r>
            <a:r>
              <a:rPr lang="en-US" sz="2000" b="1" dirty="0" err="1">
                <a:solidFill>
                  <a:schemeClr val="tx1">
                    <a:lumMod val="95000"/>
                    <a:lumOff val="5000"/>
                  </a:schemeClr>
                </a:solidFill>
                <a:latin typeface="Courier New" pitchFamily="49" charset="0"/>
                <a:cs typeface="Courier New" pitchFamily="49" charset="0"/>
              </a:rPr>
              <a:t>vua</a:t>
            </a:r>
            <a:r>
              <a:rPr lang="en-US" sz="2000" b="1" dirty="0">
                <a:solidFill>
                  <a:schemeClr val="tx1">
                    <a:lumMod val="95000"/>
                    <a:lumOff val="5000"/>
                  </a:schemeClr>
                </a:solidFill>
                <a:latin typeface="Courier New" pitchFamily="49" charset="0"/>
                <a:cs typeface="Courier New" pitchFamily="49" charset="0"/>
              </a:rPr>
              <a:t> </a:t>
            </a:r>
            <a:r>
              <a:rPr lang="en-US" sz="2000" b="1" dirty="0" err="1">
                <a:solidFill>
                  <a:schemeClr val="tx1">
                    <a:lumMod val="95000"/>
                    <a:lumOff val="5000"/>
                  </a:schemeClr>
                </a:solidFill>
                <a:latin typeface="Courier New" pitchFamily="49" charset="0"/>
                <a:cs typeface="Courier New" pitchFamily="49" charset="0"/>
              </a:rPr>
              <a:t>nhap</a:t>
            </a:r>
            <a:r>
              <a:rPr lang="en-US" sz="2000" b="1" dirty="0">
                <a:solidFill>
                  <a:schemeClr val="tx1">
                    <a:lumMod val="95000"/>
                    <a:lumOff val="5000"/>
                  </a:schemeClr>
                </a:solidFill>
                <a:latin typeface="Courier New" pitchFamily="49" charset="0"/>
                <a:cs typeface="Courier New" pitchFamily="49" charset="0"/>
              </a:rPr>
              <a:t>: %s \n",</a:t>
            </a:r>
            <a:r>
              <a:rPr lang="en-US" sz="2000" b="1" dirty="0" err="1">
                <a:solidFill>
                  <a:schemeClr val="tx1">
                    <a:lumMod val="95000"/>
                    <a:lumOff val="5000"/>
                  </a:schemeClr>
                </a:solidFill>
                <a:latin typeface="Courier New" pitchFamily="49" charset="0"/>
                <a:cs typeface="Courier New" pitchFamily="49" charset="0"/>
              </a:rPr>
              <a:t>st</a:t>
            </a:r>
            <a:r>
              <a:rPr lang="en-US" sz="2000" b="1" dirty="0">
                <a:solidFill>
                  <a:schemeClr val="tx1">
                    <a:lumMod val="95000"/>
                    <a:lumOff val="5000"/>
                  </a:schemeClr>
                </a:solidFill>
                <a:latin typeface="Courier New" pitchFamily="49" charset="0"/>
                <a:cs typeface="Courier New" pitchFamily="49" charset="0"/>
              </a:rPr>
              <a:t>);</a:t>
            </a:r>
          </a:p>
          <a:p>
            <a:pPr marL="0" indent="457200">
              <a:buNone/>
            </a:pPr>
            <a:r>
              <a:rPr lang="en-US" sz="2000" b="1" dirty="0">
                <a:solidFill>
                  <a:schemeClr val="tx1">
                    <a:lumMod val="95000"/>
                    <a:lumOff val="5000"/>
                  </a:schemeClr>
                </a:solidFill>
                <a:latin typeface="Courier New" pitchFamily="49" charset="0"/>
                <a:cs typeface="Courier New" pitchFamily="49" charset="0"/>
              </a:rPr>
              <a:t>}   while (</a:t>
            </a:r>
            <a:r>
              <a:rPr lang="en-US" sz="2000" b="1" dirty="0" err="1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strcmp</a:t>
            </a:r>
            <a:r>
              <a:rPr lang="en-US" sz="2000" b="1" dirty="0">
                <a:solidFill>
                  <a:schemeClr val="tx1">
                    <a:lumMod val="95000"/>
                    <a:lumOff val="5000"/>
                  </a:schemeClr>
                </a:solidFill>
                <a:latin typeface="Courier New" pitchFamily="49" charset="0"/>
                <a:cs typeface="Courier New" pitchFamily="49" charset="0"/>
              </a:rPr>
              <a:t>(</a:t>
            </a:r>
            <a:r>
              <a:rPr lang="en-US" sz="2000" b="1" dirty="0" err="1">
                <a:solidFill>
                  <a:schemeClr val="tx1">
                    <a:lumMod val="95000"/>
                    <a:lumOff val="5000"/>
                  </a:schemeClr>
                </a:solidFill>
                <a:latin typeface="Courier New" pitchFamily="49" charset="0"/>
                <a:cs typeface="Courier New" pitchFamily="49" charset="0"/>
              </a:rPr>
              <a:t>st</a:t>
            </a:r>
            <a:r>
              <a:rPr lang="en-US" sz="2000" b="1" dirty="0">
                <a:solidFill>
                  <a:schemeClr val="tx1">
                    <a:lumMod val="95000"/>
                    <a:lumOff val="5000"/>
                  </a:schemeClr>
                </a:solidFill>
                <a:latin typeface="Courier New" pitchFamily="49" charset="0"/>
                <a:cs typeface="Courier New" pitchFamily="49" charset="0"/>
              </a:rPr>
              <a:t>,"</a:t>
            </a:r>
            <a:r>
              <a:rPr lang="en-US" sz="2000" b="1" dirty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done</a:t>
            </a:r>
            <a:r>
              <a:rPr lang="en-US" sz="2000" b="1" dirty="0">
                <a:solidFill>
                  <a:schemeClr val="tx1">
                    <a:lumMod val="95000"/>
                    <a:lumOff val="5000"/>
                  </a:schemeClr>
                </a:solidFill>
                <a:latin typeface="Courier New" pitchFamily="49" charset="0"/>
                <a:cs typeface="Courier New" pitchFamily="49" charset="0"/>
              </a:rPr>
              <a:t>"));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7C61C7-0D79-4D53-A547-888382D9E058}" type="datetime1">
              <a:rPr lang="vi-VN" smtClean="0"/>
              <a:pPr/>
              <a:t>14/01/2024</a:t>
            </a:fld>
            <a:endParaRPr lang="vi-V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vi-VN"/>
              <a:t>Chương 7 - Xâu kí tự</a:t>
            </a:r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B95402-1E0D-474E-8D8C-CBE7F053639E}" type="slidenum">
              <a:rPr lang="vi-VN" smtClean="0"/>
              <a:pPr/>
              <a:t>13</a:t>
            </a:fld>
            <a:r>
              <a:rPr lang="vi-VN"/>
              <a:t>/21</a:t>
            </a:r>
          </a:p>
        </p:txBody>
      </p:sp>
    </p:spTree>
    <p:extLst>
      <p:ext uri="{BB962C8B-B14F-4D97-AF65-F5344CB8AC3E}">
        <p14:creationId xmlns:p14="http://schemas.microsoft.com/office/powerpoint/2010/main" val="190713111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500"/>
                            </p:stCondLst>
                            <p:childTnLst>
                              <p:par>
                                <p:cTn id="1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10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1500"/>
                            </p:stCondLst>
                            <p:childTnLst>
                              <p:par>
                                <p:cTn id="23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10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f) So sánh xâu kí tự (tt)</a:t>
            </a:r>
            <a:endParaRPr lang="vi-V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Một số hàm so sánh khác</a:t>
            </a:r>
          </a:p>
          <a:p>
            <a:pPr lvl="1"/>
            <a:r>
              <a:rPr lang="en-US" b="1">
                <a:solidFill>
                  <a:srgbClr val="000066"/>
                </a:solidFill>
                <a:latin typeface="Courier New" pitchFamily="49" charset="0"/>
                <a:ea typeface="+mn-ea"/>
                <a:cs typeface="Courier New" pitchFamily="49" charset="0"/>
              </a:rPr>
              <a:t>stricmp(st1,st2); </a:t>
            </a:r>
            <a:r>
              <a:rPr lang="en-US"/>
              <a:t>so sánh xâu st1 với st2 nhưng không phân biệt chữ hoa-thường.</a:t>
            </a:r>
          </a:p>
          <a:p>
            <a:pPr lvl="1"/>
            <a:r>
              <a:rPr lang="en-US" b="1">
                <a:solidFill>
                  <a:srgbClr val="000066"/>
                </a:solidFill>
                <a:latin typeface="Courier New" pitchFamily="49" charset="0"/>
                <a:ea typeface="+mn-ea"/>
                <a:cs typeface="Courier New" pitchFamily="49" charset="0"/>
              </a:rPr>
              <a:t>strncmp(st1,st2,n); </a:t>
            </a:r>
            <a:r>
              <a:rPr lang="en-US"/>
              <a:t>so sánh n kí tự đầu tiên của st1 và st2.</a:t>
            </a:r>
          </a:p>
          <a:p>
            <a:pPr lvl="1"/>
            <a:r>
              <a:rPr lang="en-US" b="1">
                <a:solidFill>
                  <a:srgbClr val="000066"/>
                </a:solidFill>
                <a:latin typeface="Courier New" pitchFamily="49" charset="0"/>
                <a:ea typeface="+mn-ea"/>
                <a:cs typeface="Courier New" pitchFamily="49" charset="0"/>
              </a:rPr>
              <a:t>strnicmp(st1,st2,n); </a:t>
            </a:r>
            <a:r>
              <a:rPr lang="en-US"/>
              <a:t>so sánh n kí tự đầu tiên của st1 và st2 nhưng không phân biệt chữ hoa-thường.</a:t>
            </a:r>
          </a:p>
          <a:p>
            <a:pPr lvl="1"/>
            <a:endParaRPr lang="vi-V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42AA78-90FE-4A69-A6EB-6EF406914676}" type="datetime1">
              <a:rPr lang="vi-VN" smtClean="0"/>
              <a:pPr/>
              <a:t>14/01/2024</a:t>
            </a:fld>
            <a:endParaRPr lang="vi-V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vi-VN"/>
              <a:t>Chương 7 - Xâu kí tự</a:t>
            </a:r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B95402-1E0D-474E-8D8C-CBE7F053639E}" type="slidenum">
              <a:rPr lang="vi-VN" smtClean="0"/>
              <a:pPr/>
              <a:t>14</a:t>
            </a:fld>
            <a:r>
              <a:rPr lang="vi-VN"/>
              <a:t>/21</a:t>
            </a:r>
          </a:p>
        </p:txBody>
      </p:sp>
    </p:spTree>
    <p:extLst>
      <p:ext uri="{BB962C8B-B14F-4D97-AF65-F5344CB8AC3E}">
        <p14:creationId xmlns:p14="http://schemas.microsoft.com/office/powerpoint/2010/main" val="239479605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1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5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500"/>
                            </p:stCondLst>
                            <p:childTnLst>
                              <p:par>
                                <p:cTn id="17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9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g) Tìm kiếm kí tự</a:t>
            </a:r>
            <a:endParaRPr lang="vi-V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Hàm </a:t>
            </a:r>
            <a:r>
              <a:rPr lang="en-US" sz="2400" b="1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strchr(</a:t>
            </a:r>
            <a:r>
              <a:rPr lang="en-US" sz="2400" b="1">
                <a:solidFill>
                  <a:srgbClr val="000066"/>
                </a:solidFill>
                <a:latin typeface="Courier New" pitchFamily="49" charset="0"/>
                <a:cs typeface="Courier New" pitchFamily="49" charset="0"/>
              </a:rPr>
              <a:t>str</a:t>
            </a:r>
            <a:r>
              <a:rPr lang="en-US" sz="2400" b="1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,</a:t>
            </a:r>
            <a:r>
              <a:rPr lang="en-US" sz="2400" b="1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c</a:t>
            </a:r>
            <a:r>
              <a:rPr lang="en-US" sz="2400" b="1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)</a:t>
            </a:r>
            <a:r>
              <a:rPr lang="en-US"/>
              <a:t> tìm kiếm kí tự </a:t>
            </a:r>
            <a:r>
              <a:rPr lang="en-US">
                <a:solidFill>
                  <a:srgbClr val="FF0000"/>
                </a:solidFill>
              </a:rPr>
              <a:t>c</a:t>
            </a:r>
            <a:r>
              <a:rPr lang="en-US"/>
              <a:t> trong xâu </a:t>
            </a:r>
            <a:r>
              <a:rPr lang="en-US" sz="2400" b="1">
                <a:solidFill>
                  <a:srgbClr val="000066"/>
                </a:solidFill>
                <a:latin typeface="Courier New" pitchFamily="49" charset="0"/>
                <a:cs typeface="Courier New" pitchFamily="49" charset="0"/>
              </a:rPr>
              <a:t>str</a:t>
            </a:r>
          </a:p>
          <a:p>
            <a:pPr lvl="1"/>
            <a:r>
              <a:rPr lang="en-US"/>
              <a:t>Kết quả là con trỏ trỏ tới vị trí của kí tự c</a:t>
            </a:r>
          </a:p>
          <a:p>
            <a:pPr lvl="1"/>
            <a:r>
              <a:rPr lang="en-US"/>
              <a:t>Nếu không tìm thấy trả về NULL</a:t>
            </a:r>
          </a:p>
          <a:p>
            <a:pPr marL="471487" lvl="1" indent="0">
              <a:buNone/>
            </a:pPr>
            <a:r>
              <a:rPr lang="en-US" sz="2000" b="1">
                <a:solidFill>
                  <a:schemeClr val="tx1">
                    <a:lumMod val="95000"/>
                    <a:lumOff val="5000"/>
                  </a:schemeClr>
                </a:solidFill>
                <a:latin typeface="Courier New" pitchFamily="49" charset="0"/>
                <a:cs typeface="Courier New" pitchFamily="49" charset="0"/>
              </a:rPr>
              <a:t>char str[80];   char c;</a:t>
            </a:r>
          </a:p>
          <a:p>
            <a:pPr marL="471487" lvl="1" indent="0">
              <a:buNone/>
            </a:pPr>
            <a:r>
              <a:rPr lang="en-US" sz="2000" b="1">
                <a:solidFill>
                  <a:schemeClr val="tx1">
                    <a:lumMod val="95000"/>
                    <a:lumOff val="5000"/>
                  </a:schemeClr>
                </a:solidFill>
                <a:latin typeface="Courier New" pitchFamily="49" charset="0"/>
                <a:cs typeface="Courier New" pitchFamily="49" charset="0"/>
              </a:rPr>
              <a:t>printf("Nhap xau: ");gets(str);</a:t>
            </a:r>
          </a:p>
          <a:p>
            <a:pPr marL="471487" lvl="1" indent="0">
              <a:buNone/>
            </a:pPr>
            <a:r>
              <a:rPr lang="en-US" sz="2000" b="1">
                <a:solidFill>
                  <a:schemeClr val="tx1">
                    <a:lumMod val="95000"/>
                    <a:lumOff val="5000"/>
                  </a:schemeClr>
                </a:solidFill>
                <a:latin typeface="Courier New" pitchFamily="49" charset="0"/>
                <a:cs typeface="Courier New" pitchFamily="49" charset="0"/>
              </a:rPr>
              <a:t>printf("Nhap ki tu can tim: "); c=getchar();</a:t>
            </a:r>
          </a:p>
          <a:p>
            <a:pPr marL="471487" lvl="1" indent="0">
              <a:buNone/>
            </a:pPr>
            <a:r>
              <a:rPr lang="en-US" sz="2000" b="1">
                <a:solidFill>
                  <a:schemeClr val="tx1">
                    <a:lumMod val="95000"/>
                    <a:lumOff val="5000"/>
                  </a:schemeClr>
                </a:solidFill>
                <a:latin typeface="Courier New" pitchFamily="49" charset="0"/>
                <a:cs typeface="Courier New" pitchFamily="49" charset="0"/>
              </a:rPr>
              <a:t>if (</a:t>
            </a:r>
            <a:r>
              <a:rPr lang="en-US" sz="2000" b="1">
                <a:latin typeface="Courier New" pitchFamily="49" charset="0"/>
                <a:cs typeface="Courier New" pitchFamily="49" charset="0"/>
              </a:rPr>
              <a:t>strchr(str,c)</a:t>
            </a:r>
            <a:r>
              <a:rPr lang="en-US" sz="2000" b="1">
                <a:solidFill>
                  <a:schemeClr val="tx1">
                    <a:lumMod val="95000"/>
                    <a:lumOff val="5000"/>
                  </a:schemeClr>
                </a:solidFill>
                <a:latin typeface="Courier New" pitchFamily="49" charset="0"/>
                <a:cs typeface="Courier New" pitchFamily="49" charset="0"/>
              </a:rPr>
              <a:t>) printf("Tim thay %c");</a:t>
            </a:r>
          </a:p>
          <a:p>
            <a:pPr marL="471487" lvl="1" indent="0">
              <a:buNone/>
            </a:pPr>
            <a:r>
              <a:rPr lang="en-US" sz="2000" b="1">
                <a:solidFill>
                  <a:schemeClr val="tx1">
                    <a:lumMod val="95000"/>
                    <a:lumOff val="5000"/>
                  </a:schemeClr>
                </a:solidFill>
                <a:latin typeface="Courier New" pitchFamily="49" charset="0"/>
                <a:cs typeface="Courier New" pitchFamily="49" charset="0"/>
              </a:rPr>
              <a:t>else printf("Khong tim thay!");</a:t>
            </a:r>
          </a:p>
          <a:p>
            <a:r>
              <a:rPr lang="en-US"/>
              <a:t>Hàm </a:t>
            </a:r>
            <a:r>
              <a:rPr lang="en-US" sz="2400" b="1">
                <a:solidFill>
                  <a:srgbClr val="000066"/>
                </a:solidFill>
                <a:latin typeface="Courier New" pitchFamily="49" charset="0"/>
                <a:cs typeface="Courier New" pitchFamily="49" charset="0"/>
              </a:rPr>
              <a:t>strstr(str1,</a:t>
            </a:r>
            <a:r>
              <a:rPr lang="en-US" sz="2400" b="1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str2</a:t>
            </a:r>
            <a:r>
              <a:rPr lang="en-US" sz="2400" b="1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)</a:t>
            </a:r>
            <a:r>
              <a:rPr lang="en-US"/>
              <a:t> tìm kiếm xâu </a:t>
            </a:r>
            <a:r>
              <a:rPr lang="en-US">
                <a:solidFill>
                  <a:srgbClr val="FF0000"/>
                </a:solidFill>
              </a:rPr>
              <a:t>str2</a:t>
            </a:r>
            <a:r>
              <a:rPr lang="en-US"/>
              <a:t> trong xâu </a:t>
            </a:r>
            <a:r>
              <a:rPr lang="en-US" sz="2400" b="1">
                <a:solidFill>
                  <a:srgbClr val="000066"/>
                </a:solidFill>
                <a:latin typeface="Courier New" pitchFamily="49" charset="0"/>
                <a:cs typeface="Courier New" pitchFamily="49" charset="0"/>
              </a:rPr>
              <a:t>str1</a:t>
            </a:r>
          </a:p>
          <a:p>
            <a:pPr lvl="1"/>
            <a:r>
              <a:rPr lang="en-US"/>
              <a:t>Kết quả là con trỏ trỏ tới vị trí của xâu str2</a:t>
            </a:r>
          </a:p>
          <a:p>
            <a:pPr lvl="1"/>
            <a:r>
              <a:rPr lang="en-US"/>
              <a:t>Nếu không tìm thấy trả về NULL</a:t>
            </a:r>
          </a:p>
          <a:p>
            <a:endParaRPr lang="vi-V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99A326-D150-40B3-9615-019FDFF711FA}" type="datetime1">
              <a:rPr lang="vi-VN" smtClean="0"/>
              <a:pPr/>
              <a:t>14/01/2024</a:t>
            </a:fld>
            <a:endParaRPr lang="vi-V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vi-VN"/>
              <a:t>Chương 7 - Xâu kí tự</a:t>
            </a:r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B95402-1E0D-474E-8D8C-CBE7F053639E}" type="slidenum">
              <a:rPr lang="vi-VN" smtClean="0"/>
              <a:pPr/>
              <a:t>15</a:t>
            </a:fld>
            <a:r>
              <a:rPr lang="vi-VN"/>
              <a:t>/21</a:t>
            </a:r>
          </a:p>
        </p:txBody>
      </p:sp>
    </p:spTree>
    <p:extLst>
      <p:ext uri="{BB962C8B-B14F-4D97-AF65-F5344CB8AC3E}">
        <p14:creationId xmlns:p14="http://schemas.microsoft.com/office/powerpoint/2010/main" val="97217964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8" fill="hold">
                            <p:stCondLst>
                              <p:cond delay="500"/>
                            </p:stCondLst>
                            <p:childTnLst>
                              <p:par>
                                <p:cTn id="3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1" dur="5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2" fill="hold">
                            <p:stCondLst>
                              <p:cond delay="1000"/>
                            </p:stCondLst>
                            <p:childTnLst>
                              <p:par>
                                <p:cTn id="43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5" dur="500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3. Mảng xâu kí tự</a:t>
            </a:r>
            <a:endParaRPr lang="vi-V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Bài toán:</a:t>
            </a:r>
          </a:p>
          <a:p>
            <a:pPr lvl="1"/>
            <a:r>
              <a:rPr lang="en-US"/>
              <a:t>Nhập mảng các xâu kí tự, sắp xếp các xâu đó theo thứ tự từ điển</a:t>
            </a:r>
          </a:p>
          <a:p>
            <a:pPr marL="471487" lvl="1" indent="0">
              <a:buNone/>
            </a:pPr>
            <a:r>
              <a:rPr lang="en-US">
                <a:sym typeface="Wingdings" pitchFamily="2" charset="2"/>
              </a:rPr>
              <a:t> Sử dụng mảng 2 chiều để lưu các xâu kí tự</a:t>
            </a:r>
            <a:endParaRPr lang="vi-V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353178-3374-4146-A163-F2E2B915FD47}" type="datetime1">
              <a:rPr lang="vi-VN" smtClean="0"/>
              <a:pPr/>
              <a:t>14/01/2024</a:t>
            </a:fld>
            <a:endParaRPr lang="vi-V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vi-VN"/>
              <a:t>Chương 7 - Xâu kí tự</a:t>
            </a:r>
          </a:p>
        </p:txBody>
      </p:sp>
      <p:sp>
        <p:nvSpPr>
          <p:cNvPr id="7" name="Rectangle 6"/>
          <p:cNvSpPr/>
          <p:nvPr/>
        </p:nvSpPr>
        <p:spPr>
          <a:xfrm>
            <a:off x="755576" y="2975461"/>
            <a:ext cx="7416824" cy="409342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vi-VN" sz="2000" b="1" dirty="0">
                <a:latin typeface="Courier New" pitchFamily="49" charset="0"/>
                <a:cs typeface="Courier New" pitchFamily="49" charset="0"/>
              </a:rPr>
              <a:t>void sapxep(int n,char x[][80])</a:t>
            </a:r>
          </a:p>
          <a:p>
            <a:r>
              <a:rPr lang="vi-VN" sz="2000" b="1" dirty="0">
                <a:latin typeface="Courier New" pitchFamily="49" charset="0"/>
                <a:cs typeface="Courier New" pitchFamily="49" charset="0"/>
              </a:rPr>
              <a:t>{</a:t>
            </a:r>
          </a:p>
          <a:p>
            <a:r>
              <a:rPr lang="vi-VN" sz="2000" b="1" dirty="0">
                <a:latin typeface="Courier New" pitchFamily="49" charset="0"/>
                <a:cs typeface="Courier New" pitchFamily="49" charset="0"/>
              </a:rPr>
              <a:t>     char temp[80];</a:t>
            </a:r>
          </a:p>
          <a:p>
            <a:r>
              <a:rPr lang="vi-VN" sz="2000" b="1" dirty="0">
                <a:latin typeface="Courier New" pitchFamily="49" charset="0"/>
                <a:cs typeface="Courier New" pitchFamily="49" charset="0"/>
              </a:rPr>
              <a:t>     int i,j;</a:t>
            </a:r>
          </a:p>
          <a:p>
            <a:r>
              <a:rPr lang="vi-VN" sz="2000" b="1" dirty="0">
                <a:latin typeface="Courier New" pitchFamily="49" charset="0"/>
                <a:cs typeface="Courier New" pitchFamily="49" charset="0"/>
              </a:rPr>
              <a:t>     for (i=0;i&lt;n-1;i++)</a:t>
            </a:r>
          </a:p>
          <a:p>
            <a:r>
              <a:rPr lang="vi-VN" sz="2000" b="1" dirty="0">
                <a:latin typeface="Courier New" pitchFamily="49" charset="0"/>
                <a:cs typeface="Courier New" pitchFamily="49" charset="0"/>
              </a:rPr>
              <a:t>         for (j=i+1;j&lt;n;j++)</a:t>
            </a:r>
          </a:p>
          <a:p>
            <a:r>
              <a:rPr lang="vi-VN" sz="2000" b="1" dirty="0">
                <a:latin typeface="Courier New" pitchFamily="49" charset="0"/>
                <a:cs typeface="Courier New" pitchFamily="49" charset="0"/>
              </a:rPr>
              <a:t>             if (strcmp(x[i],x[j])&gt;0)</a:t>
            </a:r>
          </a:p>
          <a:p>
            <a:r>
              <a:rPr lang="vi-VN" sz="2000" b="1" dirty="0">
                <a:latin typeface="Courier New" pitchFamily="49" charset="0"/>
                <a:cs typeface="Courier New" pitchFamily="49" charset="0"/>
              </a:rPr>
              <a:t>             {</a:t>
            </a:r>
          </a:p>
          <a:p>
            <a:r>
              <a:rPr lang="vi-VN" sz="2000" b="1" dirty="0">
                <a:latin typeface="Courier New" pitchFamily="49" charset="0"/>
                <a:cs typeface="Courier New" pitchFamily="49" charset="0"/>
              </a:rPr>
              <a:t>              strcpy(temp,x[i]);</a:t>
            </a:r>
          </a:p>
          <a:p>
            <a:r>
              <a:rPr lang="vi-VN" sz="2000" b="1" dirty="0">
                <a:latin typeface="Courier New" pitchFamily="49" charset="0"/>
                <a:cs typeface="Courier New" pitchFamily="49" charset="0"/>
              </a:rPr>
              <a:t>              strcpy(x[i],x[j]);</a:t>
            </a:r>
          </a:p>
          <a:p>
            <a:r>
              <a:rPr lang="vi-VN" sz="2000" b="1" dirty="0">
                <a:latin typeface="Courier New" pitchFamily="49" charset="0"/>
                <a:cs typeface="Courier New" pitchFamily="49" charset="0"/>
              </a:rPr>
              <a:t>              strcpy(x[j],temp);</a:t>
            </a:r>
          </a:p>
          <a:p>
            <a:r>
              <a:rPr lang="vi-VN" sz="2000" b="1" dirty="0">
                <a:latin typeface="Courier New" pitchFamily="49" charset="0"/>
                <a:cs typeface="Courier New" pitchFamily="49" charset="0"/>
              </a:rPr>
              <a:t>             }</a:t>
            </a:r>
          </a:p>
          <a:p>
            <a:r>
              <a:rPr lang="vi-VN" sz="2000" b="1" dirty="0">
                <a:latin typeface="Courier New" pitchFamily="49" charset="0"/>
                <a:cs typeface="Courier New" pitchFamily="49" charset="0"/>
              </a:rPr>
              <a:t>}</a:t>
            </a:r>
          </a:p>
        </p:txBody>
      </p:sp>
      <p:sp>
        <p:nvSpPr>
          <p:cNvPr id="11" name="Slide Number Placeholder 10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B95402-1E0D-474E-8D8C-CBE7F053639E}" type="slidenum">
              <a:rPr lang="vi-VN" smtClean="0"/>
              <a:pPr/>
              <a:t>16</a:t>
            </a:fld>
            <a:r>
              <a:rPr lang="vi-VN"/>
              <a:t>/21</a:t>
            </a:r>
          </a:p>
        </p:txBody>
      </p:sp>
    </p:spTree>
    <p:extLst>
      <p:ext uri="{BB962C8B-B14F-4D97-AF65-F5344CB8AC3E}">
        <p14:creationId xmlns:p14="http://schemas.microsoft.com/office/powerpoint/2010/main" val="2183758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Mảng xâu kí tự (tt)</a:t>
            </a:r>
            <a:endParaRPr lang="vi-V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71A993-32D8-47B4-A21B-5A7006B1706E}" type="datetime1">
              <a:rPr lang="vi-VN" smtClean="0"/>
              <a:pPr/>
              <a:t>14/01/2024</a:t>
            </a:fld>
            <a:endParaRPr lang="vi-V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vi-VN"/>
              <a:t>Chương 7 - Xâu kí tự</a:t>
            </a:r>
          </a:p>
        </p:txBody>
      </p:sp>
      <p:sp>
        <p:nvSpPr>
          <p:cNvPr id="7" name="Rectangle 6"/>
          <p:cNvSpPr/>
          <p:nvPr/>
        </p:nvSpPr>
        <p:spPr>
          <a:xfrm>
            <a:off x="827584" y="1220554"/>
            <a:ext cx="8136904" cy="594008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vi-VN" sz="2000" b="1" dirty="0">
                <a:latin typeface="Courier New" pitchFamily="49" charset="0"/>
                <a:cs typeface="Courier New" pitchFamily="49" charset="0"/>
              </a:rPr>
              <a:t>int main()</a:t>
            </a:r>
          </a:p>
          <a:p>
            <a:r>
              <a:rPr lang="vi-VN" sz="2000" b="1" dirty="0">
                <a:latin typeface="Courier New" pitchFamily="49" charset="0"/>
                <a:cs typeface="Courier New" pitchFamily="49" charset="0"/>
              </a:rPr>
              <a:t>{</a:t>
            </a:r>
          </a:p>
          <a:p>
            <a:r>
              <a:rPr lang="vi-VN" sz="2000" b="1" dirty="0">
                <a:latin typeface="Courier New" pitchFamily="49" charset="0"/>
                <a:cs typeface="Courier New" pitchFamily="49" charset="0"/>
              </a:rPr>
              <a:t>    char st[40][80];</a:t>
            </a:r>
          </a:p>
          <a:p>
            <a:r>
              <a:rPr lang="vi-VN" sz="2000" b="1" dirty="0">
                <a:latin typeface="Courier New" pitchFamily="49" charset="0"/>
                <a:cs typeface="Courier New" pitchFamily="49" charset="0"/>
              </a:rPr>
              <a:t>    int i,n=0;</a:t>
            </a:r>
          </a:p>
          <a:p>
            <a:r>
              <a:rPr lang="vi-VN" sz="2000" b="1" dirty="0">
                <a:latin typeface="Courier New" pitchFamily="49" charset="0"/>
                <a:cs typeface="Courier New" pitchFamily="49" charset="0"/>
              </a:rPr>
              <a:t>    printf("Nhap cac xau ki tu, ket thuc bang chu \"end\"\n");</a:t>
            </a:r>
          </a:p>
          <a:p>
            <a:r>
              <a:rPr lang="vi-VN" sz="2000" b="1" dirty="0">
                <a:latin typeface="Courier New" pitchFamily="49" charset="0"/>
                <a:cs typeface="Courier New" pitchFamily="49" charset="0"/>
              </a:rPr>
              <a:t>    do</a:t>
            </a:r>
          </a:p>
          <a:p>
            <a:r>
              <a:rPr lang="vi-VN" sz="2000" b="1" dirty="0">
                <a:latin typeface="Courier New" pitchFamily="49" charset="0"/>
                <a:cs typeface="Courier New" pitchFamily="49" charset="0"/>
              </a:rPr>
              <a:t>    {</a:t>
            </a:r>
          </a:p>
          <a:p>
            <a:r>
              <a:rPr lang="vi-VN" sz="2000" b="1" dirty="0">
                <a:latin typeface="Courier New" pitchFamily="49" charset="0"/>
                <a:cs typeface="Courier New" pitchFamily="49" charset="0"/>
              </a:rPr>
              <a:t>     printf("Nhap xau thu %d: ",n+1);</a:t>
            </a:r>
          </a:p>
          <a:p>
            <a:r>
              <a:rPr lang="vi-VN" sz="2000" b="1" dirty="0">
                <a:latin typeface="Courier New" pitchFamily="49" charset="0"/>
                <a:cs typeface="Courier New" pitchFamily="49" charset="0"/>
              </a:rPr>
              <a:t>     gets(st[n]);</a:t>
            </a:r>
          </a:p>
          <a:p>
            <a:r>
              <a:rPr lang="vi-VN" sz="2000" b="1" dirty="0">
                <a:latin typeface="Courier New" pitchFamily="49" charset="0"/>
                <a:cs typeface="Courier New" pitchFamily="49" charset="0"/>
              </a:rPr>
              <a:t>    }</a:t>
            </a:r>
          </a:p>
          <a:p>
            <a:r>
              <a:rPr lang="vi-VN" sz="2000" b="1" dirty="0">
                <a:latin typeface="Courier New" pitchFamily="49" charset="0"/>
                <a:cs typeface="Courier New" pitchFamily="49" charset="0"/>
              </a:rPr>
              <a:t>    while (strcmp(st[n++],"end"));</a:t>
            </a:r>
          </a:p>
          <a:p>
            <a:r>
              <a:rPr lang="vi-VN" sz="2000" b="1" dirty="0">
                <a:latin typeface="Courier New" pitchFamily="49" charset="0"/>
                <a:cs typeface="Courier New" pitchFamily="49" charset="0"/>
              </a:rPr>
              <a:t>    n--;</a:t>
            </a:r>
          </a:p>
          <a:p>
            <a:r>
              <a:rPr lang="vi-VN" sz="2000" b="1" dirty="0">
                <a:latin typeface="Courier New" pitchFamily="49" charset="0"/>
                <a:cs typeface="Courier New" pitchFamily="49" charset="0"/>
              </a:rPr>
              <a:t>    sapxep(n,st);</a:t>
            </a:r>
          </a:p>
          <a:p>
            <a:r>
              <a:rPr lang="vi-VN" sz="2000" b="1" dirty="0">
                <a:latin typeface="Courier New" pitchFamily="49" charset="0"/>
                <a:cs typeface="Courier New" pitchFamily="49" charset="0"/>
              </a:rPr>
              <a:t>    printf("\Day cac xau ki tu sau khi sap xep\n");</a:t>
            </a:r>
          </a:p>
          <a:p>
            <a:r>
              <a:rPr lang="vi-VN" sz="2000" b="1" dirty="0">
                <a:latin typeface="Courier New" pitchFamily="49" charset="0"/>
                <a:cs typeface="Courier New" pitchFamily="49" charset="0"/>
              </a:rPr>
              <a:t>    for(i=0;i&lt;n;i++) puts(st[i]);</a:t>
            </a:r>
          </a:p>
          <a:p>
            <a:r>
              <a:rPr lang="vi-VN" sz="2000" b="1" dirty="0">
                <a:latin typeface="Courier New" pitchFamily="49" charset="0"/>
                <a:cs typeface="Courier New" pitchFamily="49" charset="0"/>
              </a:rPr>
              <a:t>    getch();</a:t>
            </a:r>
          </a:p>
          <a:p>
            <a:r>
              <a:rPr lang="vi-VN" sz="2000" b="1">
                <a:latin typeface="Courier New" pitchFamily="49" charset="0"/>
                <a:cs typeface="Courier New" pitchFamily="49" charset="0"/>
              </a:rPr>
              <a:t>}</a:t>
            </a:r>
          </a:p>
          <a:p>
            <a:endParaRPr lang="vi-VN" sz="2000" b="1" dirty="0">
              <a:latin typeface="Courier New" pitchFamily="49" charset="0"/>
              <a:cs typeface="Courier New" pitchFamily="49" charset="0"/>
            </a:endParaRPr>
          </a:p>
        </p:txBody>
      </p:sp>
      <p:sp>
        <p:nvSpPr>
          <p:cNvPr id="13" name="Slide Number Placeholder 1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B95402-1E0D-474E-8D8C-CBE7F053639E}" type="slidenum">
              <a:rPr lang="vi-VN" smtClean="0"/>
              <a:pPr/>
              <a:t>17</a:t>
            </a:fld>
            <a:r>
              <a:rPr lang="vi-VN"/>
              <a:t>/21</a:t>
            </a:r>
          </a:p>
        </p:txBody>
      </p:sp>
    </p:spTree>
    <p:extLst>
      <p:ext uri="{BB962C8B-B14F-4D97-AF65-F5344CB8AC3E}">
        <p14:creationId xmlns:p14="http://schemas.microsoft.com/office/powerpoint/2010/main" val="228460511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vi-VN"/>
              <a:t>4. Một số hàm xử lý xâu kí tự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62000" y="1143000"/>
            <a:ext cx="8202488" cy="5181600"/>
          </a:xfrm>
        </p:spPr>
        <p:txBody>
          <a:bodyPr/>
          <a:lstStyle/>
          <a:p>
            <a:r>
              <a:rPr lang="en-US"/>
              <a:t>Các hàm trong thư viện </a:t>
            </a:r>
            <a:r>
              <a:rPr lang="en-US" sz="2400" b="1">
                <a:latin typeface="Courier New" pitchFamily="49" charset="0"/>
                <a:cs typeface="Courier New" pitchFamily="49" charset="0"/>
              </a:rPr>
              <a:t>string.h</a:t>
            </a:r>
            <a:endParaRPr lang="en-US" b="1">
              <a:latin typeface="Courier New" pitchFamily="49" charset="0"/>
              <a:cs typeface="Courier New" pitchFamily="49" charset="0"/>
            </a:endParaRPr>
          </a:p>
          <a:p>
            <a:pPr lvl="1"/>
            <a:r>
              <a:rPr lang="en-US"/>
              <a:t>Hàm </a:t>
            </a:r>
            <a:r>
              <a:rPr lang="en-US" sz="2200" b="1">
                <a:solidFill>
                  <a:srgbClr val="000066"/>
                </a:solidFill>
                <a:latin typeface="Courier New" pitchFamily="49" charset="0"/>
                <a:cs typeface="Courier New" pitchFamily="49" charset="0"/>
              </a:rPr>
              <a:t>strlwr(st)</a:t>
            </a:r>
            <a:r>
              <a:rPr lang="en-US"/>
              <a:t>:</a:t>
            </a:r>
            <a:r>
              <a:rPr lang="en-US" sz="2200" b="1">
                <a:solidFill>
                  <a:srgbClr val="000066"/>
                </a:solidFill>
                <a:latin typeface="Courier New" pitchFamily="49" charset="0"/>
                <a:cs typeface="Courier New" pitchFamily="49" charset="0"/>
              </a:rPr>
              <a:t> </a:t>
            </a:r>
            <a:r>
              <a:rPr lang="en-US"/>
              <a:t>chuyển xâu st thành chữ thường</a:t>
            </a:r>
          </a:p>
          <a:p>
            <a:pPr lvl="1"/>
            <a:r>
              <a:rPr lang="en-US"/>
              <a:t>Hàm </a:t>
            </a:r>
            <a:r>
              <a:rPr lang="en-US" sz="2200" b="1">
                <a:solidFill>
                  <a:srgbClr val="000066"/>
                </a:solidFill>
                <a:latin typeface="Courier New" pitchFamily="49" charset="0"/>
                <a:cs typeface="Courier New" pitchFamily="49" charset="0"/>
              </a:rPr>
              <a:t>strupr(st)</a:t>
            </a:r>
            <a:r>
              <a:rPr lang="en-US"/>
              <a:t>:</a:t>
            </a:r>
            <a:r>
              <a:rPr lang="en-US" sz="2200" b="1">
                <a:solidFill>
                  <a:srgbClr val="000066"/>
                </a:solidFill>
                <a:latin typeface="Courier New" pitchFamily="49" charset="0"/>
                <a:cs typeface="Courier New" pitchFamily="49" charset="0"/>
              </a:rPr>
              <a:t> </a:t>
            </a:r>
            <a:r>
              <a:rPr lang="en-US"/>
              <a:t>chuyển xâu st thành chữ hoa</a:t>
            </a:r>
          </a:p>
          <a:p>
            <a:pPr lvl="1"/>
            <a:r>
              <a:rPr lang="en-US"/>
              <a:t>Hàm </a:t>
            </a:r>
            <a:r>
              <a:rPr lang="en-US" sz="2200" b="1">
                <a:solidFill>
                  <a:srgbClr val="000066"/>
                </a:solidFill>
                <a:latin typeface="Courier New" pitchFamily="49" charset="0"/>
                <a:cs typeface="Courier New" pitchFamily="49" charset="0"/>
              </a:rPr>
              <a:t>strrev(st)</a:t>
            </a:r>
            <a:r>
              <a:rPr lang="en-US"/>
              <a:t>:</a:t>
            </a:r>
            <a:r>
              <a:rPr lang="en-US" sz="2200" b="1">
                <a:solidFill>
                  <a:srgbClr val="000066"/>
                </a:solidFill>
                <a:latin typeface="Courier New" pitchFamily="49" charset="0"/>
                <a:cs typeface="Courier New" pitchFamily="49" charset="0"/>
              </a:rPr>
              <a:t> </a:t>
            </a:r>
            <a:r>
              <a:rPr lang="en-US"/>
              <a:t>đảo ngược xâu st</a:t>
            </a:r>
          </a:p>
          <a:p>
            <a:r>
              <a:rPr lang="en-US"/>
              <a:t>Các hàm xử lí kí tự trong </a:t>
            </a:r>
            <a:r>
              <a:rPr lang="en-US" sz="2400" b="1">
                <a:latin typeface="Courier New" pitchFamily="49" charset="0"/>
                <a:cs typeface="Courier New" pitchFamily="49" charset="0"/>
              </a:rPr>
              <a:t>ctype.h</a:t>
            </a:r>
          </a:p>
          <a:p>
            <a:pPr lvl="1"/>
            <a:r>
              <a:rPr lang="en-US"/>
              <a:t>Hàm </a:t>
            </a:r>
            <a:r>
              <a:rPr lang="en-US" sz="2200" b="1">
                <a:solidFill>
                  <a:srgbClr val="000066"/>
                </a:solidFill>
                <a:latin typeface="Courier New" pitchFamily="49" charset="0"/>
                <a:cs typeface="Courier New" pitchFamily="49" charset="0"/>
              </a:rPr>
              <a:t>toupper(c)</a:t>
            </a:r>
            <a:r>
              <a:rPr lang="en-US"/>
              <a:t>: chuyển c thành chữ hoa</a:t>
            </a:r>
          </a:p>
          <a:p>
            <a:pPr lvl="1"/>
            <a:r>
              <a:rPr lang="en-US"/>
              <a:t>Hàm </a:t>
            </a:r>
            <a:r>
              <a:rPr lang="en-US" sz="2200" b="1">
                <a:solidFill>
                  <a:srgbClr val="000066"/>
                </a:solidFill>
                <a:latin typeface="Courier New" pitchFamily="49" charset="0"/>
                <a:cs typeface="Courier New" pitchFamily="49" charset="0"/>
              </a:rPr>
              <a:t>tolower(c)</a:t>
            </a:r>
            <a:r>
              <a:rPr lang="en-US"/>
              <a:t>: chuyển c thành chữ thường</a:t>
            </a:r>
          </a:p>
          <a:p>
            <a:pPr lvl="1"/>
            <a:r>
              <a:rPr lang="en-US"/>
              <a:t>Hàm </a:t>
            </a:r>
            <a:r>
              <a:rPr lang="en-US" sz="2200" b="1">
                <a:solidFill>
                  <a:srgbClr val="000066"/>
                </a:solidFill>
                <a:latin typeface="Courier New" pitchFamily="49" charset="0"/>
                <a:cs typeface="Courier New" pitchFamily="49" charset="0"/>
              </a:rPr>
              <a:t>isalpha(c)</a:t>
            </a:r>
            <a:r>
              <a:rPr lang="en-US"/>
              <a:t>: đúng (khác 0) nếu c là chữ cái</a:t>
            </a:r>
          </a:p>
          <a:p>
            <a:pPr lvl="1"/>
            <a:r>
              <a:rPr lang="en-US"/>
              <a:t>Hàm </a:t>
            </a:r>
            <a:r>
              <a:rPr lang="en-US" sz="2200" b="1">
                <a:solidFill>
                  <a:srgbClr val="000066"/>
                </a:solidFill>
                <a:latin typeface="Courier New" pitchFamily="49" charset="0"/>
                <a:cs typeface="Courier New" pitchFamily="49" charset="0"/>
              </a:rPr>
              <a:t>islower(c)</a:t>
            </a:r>
            <a:r>
              <a:rPr lang="en-US"/>
              <a:t>: đúng nếu c là chữ cái thường</a:t>
            </a:r>
          </a:p>
          <a:p>
            <a:pPr lvl="1"/>
            <a:r>
              <a:rPr lang="en-US"/>
              <a:t>Hàm </a:t>
            </a:r>
            <a:r>
              <a:rPr lang="en-US" sz="2200" b="1">
                <a:solidFill>
                  <a:srgbClr val="000066"/>
                </a:solidFill>
                <a:latin typeface="Courier New" pitchFamily="49" charset="0"/>
                <a:cs typeface="Courier New" pitchFamily="49" charset="0"/>
              </a:rPr>
              <a:t>isupper(c)</a:t>
            </a:r>
            <a:r>
              <a:rPr lang="en-US"/>
              <a:t>: đúng nếu c là chữ cái hoa</a:t>
            </a:r>
          </a:p>
          <a:p>
            <a:pPr lvl="1"/>
            <a:r>
              <a:rPr lang="en-US"/>
              <a:t>Hàm </a:t>
            </a:r>
            <a:r>
              <a:rPr lang="en-US" sz="2200" b="1">
                <a:solidFill>
                  <a:srgbClr val="000066"/>
                </a:solidFill>
                <a:latin typeface="Courier New" pitchFamily="49" charset="0"/>
                <a:cs typeface="Courier New" pitchFamily="49" charset="0"/>
              </a:rPr>
              <a:t>isspace(c)</a:t>
            </a:r>
            <a:r>
              <a:rPr lang="en-US"/>
              <a:t>: đúng nếu c là dấu cách, dấu \n, dấu về đầu dòng \r, tab \t</a:t>
            </a:r>
          </a:p>
          <a:p>
            <a:pPr lvl="1"/>
            <a:endParaRPr lang="en-US"/>
          </a:p>
          <a:p>
            <a:pPr lvl="1"/>
            <a:endParaRPr lang="en-US"/>
          </a:p>
          <a:p>
            <a:pPr lvl="1"/>
            <a:endParaRPr lang="en-US"/>
          </a:p>
          <a:p>
            <a:pPr lvl="1"/>
            <a:endParaRPr lang="vi-V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48765A-7A50-42A9-8C77-9610445D5DA1}" type="datetime1">
              <a:rPr lang="vi-VN" smtClean="0"/>
              <a:pPr/>
              <a:t>14/01/2024</a:t>
            </a:fld>
            <a:endParaRPr lang="vi-V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vi-VN"/>
              <a:t>Chương 7 - Xâu kí tự</a:t>
            </a:r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B95402-1E0D-474E-8D8C-CBE7F053639E}" type="slidenum">
              <a:rPr lang="vi-VN" smtClean="0"/>
              <a:pPr/>
              <a:t>18</a:t>
            </a:fld>
            <a:r>
              <a:rPr lang="vi-VN"/>
              <a:t>/21</a:t>
            </a:r>
          </a:p>
        </p:txBody>
      </p:sp>
    </p:spTree>
    <p:extLst>
      <p:ext uri="{BB962C8B-B14F-4D97-AF65-F5344CB8AC3E}">
        <p14:creationId xmlns:p14="http://schemas.microsoft.com/office/powerpoint/2010/main" val="317891455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500"/>
                            </p:stCondLst>
                            <p:childTnLst>
                              <p:par>
                                <p:cTn id="17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500"/>
                            </p:stCondLst>
                            <p:childTnLst>
                              <p:par>
                                <p:cTn id="26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8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>
                            <p:stCondLst>
                              <p:cond delay="1000"/>
                            </p:stCondLst>
                            <p:childTnLst>
                              <p:par>
                                <p:cTn id="30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>
                            <p:stCondLst>
                              <p:cond delay="1500"/>
                            </p:stCondLst>
                            <p:childTnLst>
                              <p:par>
                                <p:cTn id="3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6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7" fill="hold">
                            <p:stCondLst>
                              <p:cond delay="2000"/>
                            </p:stCondLst>
                            <p:childTnLst>
                              <p:par>
                                <p:cTn id="3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0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1" fill="hold">
                            <p:stCondLst>
                              <p:cond delay="2500"/>
                            </p:stCondLst>
                            <p:childTnLst>
                              <p:par>
                                <p:cTn id="42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4" dur="5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5" fill="hold">
                            <p:stCondLst>
                              <p:cond delay="3000"/>
                            </p:stCondLst>
                            <p:childTnLst>
                              <p:par>
                                <p:cTn id="46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8" dur="500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vi-VN"/>
              <a:t>Một số hàm xử lý xâu kí tự (tt)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62000" y="1143000"/>
            <a:ext cx="8130480" cy="5181600"/>
          </a:xfrm>
        </p:spPr>
        <p:txBody>
          <a:bodyPr/>
          <a:lstStyle/>
          <a:p>
            <a:r>
              <a:rPr lang="vi-VN"/>
              <a:t>Các hàm chuyển đổi (trong </a:t>
            </a:r>
            <a:r>
              <a:rPr lang="vi-VN" sz="2400" b="1">
                <a:latin typeface="Courier New" pitchFamily="49" charset="0"/>
                <a:cs typeface="Courier New" pitchFamily="49" charset="0"/>
              </a:rPr>
              <a:t>stdlib.h</a:t>
            </a:r>
            <a:r>
              <a:rPr lang="vi-VN"/>
              <a:t>)</a:t>
            </a:r>
          </a:p>
          <a:p>
            <a:pPr lvl="1"/>
            <a:r>
              <a:rPr lang="vi-VN"/>
              <a:t>Hàm </a:t>
            </a:r>
            <a:r>
              <a:rPr lang="vi-VN" sz="2200" b="1">
                <a:solidFill>
                  <a:srgbClr val="000066"/>
                </a:solidFill>
                <a:latin typeface="Courier New" pitchFamily="49" charset="0"/>
                <a:cs typeface="Courier New" pitchFamily="49" charset="0"/>
              </a:rPr>
              <a:t>atoi(str)</a:t>
            </a:r>
            <a:r>
              <a:rPr lang="vi-VN"/>
              <a:t>: chuyển đổi xâu str thành số nguyên int</a:t>
            </a:r>
          </a:p>
          <a:p>
            <a:pPr lvl="2"/>
            <a:r>
              <a:rPr lang="vi-VN"/>
              <a:t>Ví dụ: Đọc một số nguyên có thể dùng cặp lệnh</a:t>
            </a:r>
          </a:p>
          <a:p>
            <a:pPr marL="908050" lvl="2" indent="242888">
              <a:buNone/>
            </a:pPr>
            <a:r>
              <a:rPr lang="vi-VN" b="1">
                <a:latin typeface="Courier New" pitchFamily="49" charset="0"/>
                <a:cs typeface="Courier New" pitchFamily="49" charset="0"/>
              </a:rPr>
              <a:t>gets(str);</a:t>
            </a:r>
          </a:p>
          <a:p>
            <a:pPr marL="908050" lvl="2" indent="242888">
              <a:buNone/>
            </a:pPr>
            <a:r>
              <a:rPr lang="vi-VN" b="1">
                <a:latin typeface="Courier New" pitchFamily="49" charset="0"/>
                <a:cs typeface="Courier New" pitchFamily="49" charset="0"/>
              </a:rPr>
              <a:t>n=atoi(str); </a:t>
            </a:r>
            <a:r>
              <a:rPr lang="vi-VN"/>
              <a:t>//tránh đọc xong số mà bộ đệm vẫn còn \n</a:t>
            </a:r>
          </a:p>
          <a:p>
            <a:pPr lvl="1"/>
            <a:r>
              <a:rPr lang="vi-VN"/>
              <a:t>Hàm </a:t>
            </a:r>
            <a:r>
              <a:rPr lang="vi-VN" sz="2200" b="1">
                <a:solidFill>
                  <a:srgbClr val="000066"/>
                </a:solidFill>
                <a:latin typeface="Courier New" pitchFamily="49" charset="0"/>
                <a:cs typeface="Courier New" pitchFamily="49" charset="0"/>
              </a:rPr>
              <a:t>atol(str)</a:t>
            </a:r>
            <a:r>
              <a:rPr lang="vi-VN"/>
              <a:t>: chuyển đổi xâu str thành số nguyên long</a:t>
            </a:r>
          </a:p>
          <a:p>
            <a:pPr lvl="1"/>
            <a:r>
              <a:rPr lang="vi-VN"/>
              <a:t>Hàm </a:t>
            </a:r>
            <a:r>
              <a:rPr lang="vi-VN" sz="2200" b="1">
                <a:solidFill>
                  <a:srgbClr val="000066"/>
                </a:solidFill>
                <a:latin typeface="Courier New" pitchFamily="49" charset="0"/>
                <a:cs typeface="Courier New" pitchFamily="49" charset="0"/>
              </a:rPr>
              <a:t>atof(str)</a:t>
            </a:r>
            <a:r>
              <a:rPr lang="vi-VN"/>
              <a:t>: chuyển đổi str thành số thực float</a:t>
            </a:r>
          </a:p>
          <a:p>
            <a:pPr marL="471487" lvl="1" indent="0">
              <a:buNone/>
            </a:pPr>
            <a:r>
              <a:rPr lang="vi-VN"/>
              <a:t>Các hàm này bỏ qua các dấu cách ở đầu, chuyển cho đến khi gặp kí tự không thích hợp, nếu không chuyển được thì kết quả là 0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DB9161-A8AE-4C94-9643-BF44632A1140}" type="datetime1">
              <a:rPr lang="vi-VN" smtClean="0"/>
              <a:pPr/>
              <a:t>14/01/2024</a:t>
            </a:fld>
            <a:endParaRPr lang="vi-V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vi-VN"/>
              <a:t>Chương 7 - Xâu kí tự</a:t>
            </a:r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B95402-1E0D-474E-8D8C-CBE7F053639E}" type="slidenum">
              <a:rPr lang="vi-VN" smtClean="0"/>
              <a:pPr/>
              <a:t>19</a:t>
            </a:fld>
            <a:r>
              <a:rPr lang="vi-VN"/>
              <a:t>/21</a:t>
            </a:r>
          </a:p>
        </p:txBody>
      </p:sp>
    </p:spTree>
    <p:extLst>
      <p:ext uri="{BB962C8B-B14F-4D97-AF65-F5344CB8AC3E}">
        <p14:creationId xmlns:p14="http://schemas.microsoft.com/office/powerpoint/2010/main" val="146405840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500"/>
                            </p:stCondLst>
                            <p:childTnLst>
                              <p:par>
                                <p:cTn id="17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2000"/>
                            </p:stCondLst>
                            <p:childTnLst>
                              <p:par>
                                <p:cTn id="21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2500"/>
                            </p:stCondLst>
                            <p:childTnLst>
                              <p:par>
                                <p:cTn id="2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3000"/>
                            </p:stCondLst>
                            <p:childTnLst>
                              <p:par>
                                <p:cTn id="2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3500"/>
                            </p:stCondLst>
                            <p:childTnLst>
                              <p:par>
                                <p:cTn id="33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5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Title 1"/>
          <p:cNvSpPr>
            <a:spLocks noGrp="1"/>
          </p:cNvSpPr>
          <p:nvPr>
            <p:ph type="title"/>
          </p:nvPr>
        </p:nvSpPr>
        <p:spPr>
          <a:xfrm>
            <a:off x="381000" y="304800"/>
            <a:ext cx="8382000" cy="685800"/>
          </a:xfrm>
        </p:spPr>
        <p:txBody>
          <a:bodyPr/>
          <a:lstStyle/>
          <a:p>
            <a:pPr eaLnBrk="1" hangingPunct="1"/>
            <a:r>
              <a:rPr lang="en-US"/>
              <a:t>Bài tập thực hành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 dirty="0" err="1"/>
              <a:t>Bài</a:t>
            </a:r>
            <a:r>
              <a:rPr lang="en-US" dirty="0"/>
              <a:t> 1. </a:t>
            </a:r>
            <a:r>
              <a:rPr lang="en-US" dirty="0" err="1"/>
              <a:t>Viết</a:t>
            </a:r>
            <a:r>
              <a:rPr lang="en-US" dirty="0"/>
              <a:t> </a:t>
            </a:r>
            <a:r>
              <a:rPr lang="en-US" dirty="0" err="1"/>
              <a:t>hàm</a:t>
            </a:r>
            <a:r>
              <a:rPr lang="en-US" dirty="0"/>
              <a:t> upper(char s[]) </a:t>
            </a:r>
            <a:r>
              <a:rPr lang="vi-VN" dirty="0"/>
              <a:t>đổ</a:t>
            </a:r>
            <a:r>
              <a:rPr lang="en-US" dirty="0" err="1"/>
              <a:t>i</a:t>
            </a:r>
            <a:r>
              <a:rPr lang="en-US" dirty="0"/>
              <a:t> </a:t>
            </a:r>
            <a:r>
              <a:rPr lang="en-US" dirty="0" err="1"/>
              <a:t>toàn</a:t>
            </a:r>
            <a:r>
              <a:rPr lang="en-US" dirty="0"/>
              <a:t> </a:t>
            </a:r>
            <a:r>
              <a:rPr lang="en-US" dirty="0" err="1"/>
              <a:t>bộ</a:t>
            </a:r>
            <a:r>
              <a:rPr lang="en-US" dirty="0"/>
              <a:t> </a:t>
            </a:r>
            <a:r>
              <a:rPr lang="en-US" dirty="0" err="1"/>
              <a:t>các</a:t>
            </a:r>
            <a:r>
              <a:rPr lang="en-US" dirty="0"/>
              <a:t> </a:t>
            </a:r>
            <a:r>
              <a:rPr lang="en-US" dirty="0" err="1"/>
              <a:t>kí</a:t>
            </a:r>
            <a:r>
              <a:rPr lang="en-US" dirty="0"/>
              <a:t> </a:t>
            </a:r>
            <a:r>
              <a:rPr lang="en-US" dirty="0" err="1"/>
              <a:t>tự</a:t>
            </a:r>
            <a:r>
              <a:rPr lang="en-US" dirty="0"/>
              <a:t> sang </a:t>
            </a:r>
            <a:r>
              <a:rPr lang="en-US" dirty="0" err="1"/>
              <a:t>kí</a:t>
            </a:r>
            <a:r>
              <a:rPr lang="en-US" dirty="0"/>
              <a:t> </a:t>
            </a:r>
            <a:r>
              <a:rPr lang="en-US" dirty="0" err="1"/>
              <a:t>tự</a:t>
            </a:r>
            <a:r>
              <a:rPr lang="en-US" dirty="0"/>
              <a:t> </a:t>
            </a:r>
            <a:r>
              <a:rPr lang="en-US" dirty="0" err="1"/>
              <a:t>hoa</a:t>
            </a:r>
            <a:r>
              <a:rPr lang="en-US" dirty="0"/>
              <a:t> (</a:t>
            </a:r>
            <a:r>
              <a:rPr lang="en-US" dirty="0" err="1"/>
              <a:t>giống</a:t>
            </a:r>
            <a:r>
              <a:rPr lang="en-US" dirty="0"/>
              <a:t> </a:t>
            </a:r>
            <a:r>
              <a:rPr lang="en-US" dirty="0" err="1"/>
              <a:t>hàm</a:t>
            </a:r>
            <a:r>
              <a:rPr lang="en-US" dirty="0"/>
              <a:t> </a:t>
            </a:r>
            <a:r>
              <a:rPr lang="en-US" dirty="0" err="1"/>
              <a:t>strupr</a:t>
            </a:r>
            <a:r>
              <a:rPr lang="en-US" dirty="0"/>
              <a:t>)</a:t>
            </a:r>
          </a:p>
          <a:p>
            <a:pPr eaLnBrk="1" hangingPunct="1">
              <a:defRPr/>
            </a:pPr>
            <a:r>
              <a:rPr lang="en-US" dirty="0" err="1"/>
              <a:t>Bài</a:t>
            </a:r>
            <a:r>
              <a:rPr lang="en-US" dirty="0"/>
              <a:t> 2. </a:t>
            </a:r>
            <a:r>
              <a:rPr lang="en-US" dirty="0" err="1"/>
              <a:t>Viết</a:t>
            </a:r>
            <a:r>
              <a:rPr lang="en-US" dirty="0"/>
              <a:t> </a:t>
            </a:r>
            <a:r>
              <a:rPr lang="en-US" dirty="0" err="1"/>
              <a:t>hàm</a:t>
            </a:r>
            <a:r>
              <a:rPr lang="en-US" dirty="0"/>
              <a:t> lower(char s[]) </a:t>
            </a:r>
            <a:r>
              <a:rPr lang="vi-VN" dirty="0"/>
              <a:t>đổ</a:t>
            </a:r>
            <a:r>
              <a:rPr lang="en-US" dirty="0" err="1"/>
              <a:t>i</a:t>
            </a:r>
            <a:r>
              <a:rPr lang="en-US" dirty="0"/>
              <a:t> </a:t>
            </a:r>
            <a:r>
              <a:rPr lang="en-US" dirty="0" err="1"/>
              <a:t>toàn</a:t>
            </a:r>
            <a:r>
              <a:rPr lang="en-US" dirty="0"/>
              <a:t> </a:t>
            </a:r>
            <a:r>
              <a:rPr lang="en-US" dirty="0" err="1"/>
              <a:t>bộ</a:t>
            </a:r>
            <a:r>
              <a:rPr lang="en-US" dirty="0"/>
              <a:t> </a:t>
            </a:r>
            <a:r>
              <a:rPr lang="en-US" dirty="0" err="1"/>
              <a:t>các</a:t>
            </a:r>
            <a:r>
              <a:rPr lang="en-US" dirty="0"/>
              <a:t> </a:t>
            </a:r>
            <a:r>
              <a:rPr lang="en-US" dirty="0" err="1"/>
              <a:t>kí</a:t>
            </a:r>
            <a:r>
              <a:rPr lang="en-US" dirty="0"/>
              <a:t> </a:t>
            </a:r>
            <a:r>
              <a:rPr lang="en-US" dirty="0" err="1"/>
              <a:t>tự</a:t>
            </a:r>
            <a:r>
              <a:rPr lang="en-US" dirty="0"/>
              <a:t> sang </a:t>
            </a:r>
            <a:r>
              <a:rPr lang="en-US" dirty="0" err="1"/>
              <a:t>kí</a:t>
            </a:r>
            <a:r>
              <a:rPr lang="en-US" dirty="0"/>
              <a:t> </a:t>
            </a:r>
            <a:r>
              <a:rPr lang="en-US" dirty="0" err="1"/>
              <a:t>tự</a:t>
            </a:r>
            <a:r>
              <a:rPr lang="en-US" dirty="0"/>
              <a:t> </a:t>
            </a:r>
            <a:r>
              <a:rPr lang="en-US" dirty="0" err="1"/>
              <a:t>th</a:t>
            </a:r>
            <a:r>
              <a:rPr lang="vi-VN" dirty="0"/>
              <a:t>ườ</a:t>
            </a:r>
            <a:r>
              <a:rPr lang="en-US" dirty="0"/>
              <a:t>ng (</a:t>
            </a:r>
            <a:r>
              <a:rPr lang="en-US" dirty="0" err="1"/>
              <a:t>giống</a:t>
            </a:r>
            <a:r>
              <a:rPr lang="en-US" dirty="0"/>
              <a:t> </a:t>
            </a:r>
            <a:r>
              <a:rPr lang="en-US" dirty="0" err="1"/>
              <a:t>hàm</a:t>
            </a:r>
            <a:r>
              <a:rPr lang="en-US" dirty="0"/>
              <a:t> </a:t>
            </a:r>
            <a:r>
              <a:rPr lang="en-US" dirty="0" err="1"/>
              <a:t>strlwr</a:t>
            </a:r>
            <a:r>
              <a:rPr lang="en-US" dirty="0"/>
              <a:t>)</a:t>
            </a:r>
          </a:p>
          <a:p>
            <a:pPr eaLnBrk="1" hangingPunct="1">
              <a:defRPr/>
            </a:pPr>
            <a:r>
              <a:rPr lang="en-US" dirty="0" err="1"/>
              <a:t>Bài</a:t>
            </a:r>
            <a:r>
              <a:rPr lang="en-US" dirty="0"/>
              <a:t> 3. </a:t>
            </a:r>
            <a:r>
              <a:rPr lang="en-US" dirty="0" err="1"/>
              <a:t>Viết</a:t>
            </a:r>
            <a:r>
              <a:rPr lang="en-US" dirty="0"/>
              <a:t> </a:t>
            </a:r>
            <a:r>
              <a:rPr lang="en-US" dirty="0" err="1"/>
              <a:t>hàm</a:t>
            </a:r>
            <a:r>
              <a:rPr lang="en-US" dirty="0"/>
              <a:t> proper(char s[]) </a:t>
            </a:r>
            <a:r>
              <a:rPr lang="vi-VN" dirty="0"/>
              <a:t>đổ</a:t>
            </a:r>
            <a:r>
              <a:rPr lang="en-US" dirty="0" err="1"/>
              <a:t>i</a:t>
            </a:r>
            <a:r>
              <a:rPr lang="en-US" dirty="0"/>
              <a:t> </a:t>
            </a:r>
            <a:r>
              <a:rPr lang="en-US" dirty="0" err="1"/>
              <a:t>các</a:t>
            </a:r>
            <a:r>
              <a:rPr lang="en-US" dirty="0"/>
              <a:t> </a:t>
            </a:r>
            <a:r>
              <a:rPr lang="en-US" dirty="0" err="1"/>
              <a:t>kí</a:t>
            </a:r>
            <a:r>
              <a:rPr lang="en-US" dirty="0"/>
              <a:t> </a:t>
            </a:r>
            <a:r>
              <a:rPr lang="en-US" dirty="0" err="1"/>
              <a:t>tự</a:t>
            </a:r>
            <a:r>
              <a:rPr lang="en-US" dirty="0"/>
              <a:t> </a:t>
            </a:r>
            <a:r>
              <a:rPr lang="vi-VN" dirty="0"/>
              <a:t>đầ</a:t>
            </a:r>
            <a:r>
              <a:rPr lang="en-US" dirty="0"/>
              <a:t>u </a:t>
            </a:r>
            <a:r>
              <a:rPr lang="en-US" dirty="0" err="1"/>
              <a:t>tiên</a:t>
            </a:r>
            <a:r>
              <a:rPr lang="en-US" dirty="0"/>
              <a:t> </a:t>
            </a:r>
            <a:r>
              <a:rPr lang="en-US" dirty="0" err="1"/>
              <a:t>của</a:t>
            </a:r>
            <a:r>
              <a:rPr lang="en-US" dirty="0"/>
              <a:t> </a:t>
            </a:r>
            <a:r>
              <a:rPr lang="en-US" dirty="0" err="1"/>
              <a:t>mỗi</a:t>
            </a:r>
            <a:r>
              <a:rPr lang="en-US" dirty="0"/>
              <a:t> </a:t>
            </a:r>
            <a:r>
              <a:rPr lang="en-US" dirty="0" err="1"/>
              <a:t>từ</a:t>
            </a:r>
            <a:r>
              <a:rPr lang="en-US" dirty="0"/>
              <a:t> sang </a:t>
            </a:r>
            <a:r>
              <a:rPr lang="en-US" dirty="0" err="1"/>
              <a:t>kí</a:t>
            </a:r>
            <a:r>
              <a:rPr lang="en-US" dirty="0"/>
              <a:t> </a:t>
            </a:r>
            <a:r>
              <a:rPr lang="en-US" dirty="0" err="1"/>
              <a:t>tự</a:t>
            </a:r>
            <a:r>
              <a:rPr lang="en-US" dirty="0"/>
              <a:t> </a:t>
            </a:r>
            <a:r>
              <a:rPr lang="en-US" dirty="0" err="1"/>
              <a:t>hoa</a:t>
            </a:r>
            <a:r>
              <a:rPr lang="en-US" dirty="0"/>
              <a:t>.</a:t>
            </a:r>
          </a:p>
          <a:p>
            <a:pPr>
              <a:defRPr/>
            </a:pPr>
            <a:r>
              <a:rPr lang="en-US" dirty="0" err="1"/>
              <a:t>Bài</a:t>
            </a:r>
            <a:r>
              <a:rPr lang="en-US" dirty="0"/>
              <a:t> 4. </a:t>
            </a:r>
            <a:r>
              <a:rPr lang="en-US" dirty="0" err="1"/>
              <a:t>Đếm</a:t>
            </a:r>
            <a:r>
              <a:rPr lang="en-US" dirty="0"/>
              <a:t> </a:t>
            </a:r>
            <a:r>
              <a:rPr lang="en-US" dirty="0" err="1"/>
              <a:t>xem</a:t>
            </a:r>
            <a:r>
              <a:rPr lang="en-US" dirty="0"/>
              <a:t> </a:t>
            </a:r>
            <a:r>
              <a:rPr lang="en-US" dirty="0" err="1"/>
              <a:t>có</a:t>
            </a:r>
            <a:r>
              <a:rPr lang="en-US" dirty="0"/>
              <a:t> </a:t>
            </a:r>
            <a:r>
              <a:rPr lang="en-US" dirty="0" err="1"/>
              <a:t>bao</a:t>
            </a:r>
            <a:r>
              <a:rPr lang="en-US" dirty="0"/>
              <a:t> </a:t>
            </a:r>
            <a:r>
              <a:rPr lang="en-US" dirty="0" err="1"/>
              <a:t>nhiêu</a:t>
            </a:r>
            <a:r>
              <a:rPr lang="en-US" dirty="0"/>
              <a:t> </a:t>
            </a:r>
            <a:r>
              <a:rPr lang="en-US" dirty="0" err="1"/>
              <a:t>từ</a:t>
            </a:r>
            <a:r>
              <a:rPr lang="en-US" dirty="0"/>
              <a:t> </a:t>
            </a:r>
            <a:r>
              <a:rPr lang="en-US" dirty="0" err="1"/>
              <a:t>trong</a:t>
            </a:r>
            <a:r>
              <a:rPr lang="en-US" dirty="0"/>
              <a:t> s ( ‘</a:t>
            </a:r>
            <a:r>
              <a:rPr lang="en-US" dirty="0" err="1"/>
              <a:t>từ</a:t>
            </a:r>
            <a:r>
              <a:rPr lang="en-US" dirty="0"/>
              <a:t>’ </a:t>
            </a:r>
            <a:r>
              <a:rPr lang="en-US" dirty="0" err="1"/>
              <a:t>là</a:t>
            </a:r>
            <a:r>
              <a:rPr lang="en-US" dirty="0"/>
              <a:t> </a:t>
            </a:r>
            <a:r>
              <a:rPr lang="en-US" dirty="0" err="1"/>
              <a:t>tập</a:t>
            </a:r>
            <a:r>
              <a:rPr lang="en-US" dirty="0"/>
              <a:t> </a:t>
            </a:r>
            <a:r>
              <a:rPr lang="en-US" dirty="0" err="1"/>
              <a:t>hợp</a:t>
            </a:r>
            <a:r>
              <a:rPr lang="en-US" dirty="0"/>
              <a:t> </a:t>
            </a:r>
            <a:r>
              <a:rPr lang="en-US" dirty="0" err="1"/>
              <a:t>các</a:t>
            </a:r>
            <a:r>
              <a:rPr lang="en-US" dirty="0"/>
              <a:t> </a:t>
            </a:r>
            <a:r>
              <a:rPr lang="en-US" dirty="0" err="1"/>
              <a:t>kí</a:t>
            </a:r>
            <a:r>
              <a:rPr lang="en-US" dirty="0"/>
              <a:t> </a:t>
            </a:r>
            <a:r>
              <a:rPr lang="en-US" dirty="0" err="1"/>
              <a:t>tự</a:t>
            </a:r>
            <a:r>
              <a:rPr lang="en-US" dirty="0"/>
              <a:t> in </a:t>
            </a:r>
            <a:r>
              <a:rPr lang="en-US" dirty="0" err="1"/>
              <a:t>được</a:t>
            </a:r>
            <a:r>
              <a:rPr lang="en-US" dirty="0"/>
              <a:t> </a:t>
            </a:r>
            <a:r>
              <a:rPr lang="en-US" dirty="0" err="1"/>
              <a:t>không</a:t>
            </a:r>
            <a:r>
              <a:rPr lang="en-US" dirty="0"/>
              <a:t> </a:t>
            </a:r>
            <a:r>
              <a:rPr lang="en-US" dirty="0" err="1"/>
              <a:t>chứa</a:t>
            </a:r>
            <a:r>
              <a:rPr lang="en-US" dirty="0"/>
              <a:t> </a:t>
            </a:r>
            <a:r>
              <a:rPr lang="en-US" dirty="0" err="1"/>
              <a:t>các</a:t>
            </a:r>
            <a:r>
              <a:rPr lang="en-US" dirty="0"/>
              <a:t> </a:t>
            </a:r>
            <a:r>
              <a:rPr lang="en-US" dirty="0" err="1"/>
              <a:t>dấu</a:t>
            </a:r>
            <a:r>
              <a:rPr lang="en-US" dirty="0"/>
              <a:t> </a:t>
            </a:r>
            <a:r>
              <a:rPr lang="en-US" dirty="0" err="1"/>
              <a:t>cách</a:t>
            </a:r>
            <a:r>
              <a:rPr lang="en-US" dirty="0"/>
              <a:t>, </a:t>
            </a:r>
            <a:r>
              <a:rPr lang="en-US" dirty="0" err="1"/>
              <a:t>xuống</a:t>
            </a:r>
            <a:r>
              <a:rPr lang="en-US" dirty="0"/>
              <a:t> </a:t>
            </a:r>
            <a:r>
              <a:rPr lang="en-US" dirty="0" err="1"/>
              <a:t>dòng</a:t>
            </a:r>
            <a:r>
              <a:rPr lang="en-US" dirty="0"/>
              <a:t>, tab). In ra </a:t>
            </a:r>
            <a:r>
              <a:rPr lang="en-US" dirty="0" err="1"/>
              <a:t>màn</a:t>
            </a:r>
            <a:r>
              <a:rPr lang="en-US" dirty="0"/>
              <a:t> </a:t>
            </a:r>
            <a:r>
              <a:rPr lang="en-US" dirty="0" err="1"/>
              <a:t>hình</a:t>
            </a:r>
            <a:r>
              <a:rPr lang="en-US" dirty="0"/>
              <a:t> </a:t>
            </a:r>
            <a:r>
              <a:rPr lang="en-US" dirty="0" err="1"/>
              <a:t>các</a:t>
            </a:r>
            <a:r>
              <a:rPr lang="en-US" dirty="0"/>
              <a:t> </a:t>
            </a:r>
            <a:r>
              <a:rPr lang="en-US" dirty="0" err="1"/>
              <a:t>từ</a:t>
            </a:r>
            <a:r>
              <a:rPr lang="en-US" dirty="0"/>
              <a:t> </a:t>
            </a:r>
            <a:r>
              <a:rPr lang="en-US" dirty="0" err="1"/>
              <a:t>trong</a:t>
            </a:r>
            <a:r>
              <a:rPr lang="en-US" dirty="0"/>
              <a:t> s.  //Hoc </a:t>
            </a:r>
            <a:r>
              <a:rPr lang="en-US" dirty="0" err="1"/>
              <a:t>vien</a:t>
            </a:r>
            <a:r>
              <a:rPr lang="en-US" dirty="0"/>
              <a:t> </a:t>
            </a:r>
            <a:r>
              <a:rPr lang="en-US" dirty="0" err="1"/>
              <a:t>ngan</a:t>
            </a:r>
            <a:r>
              <a:rPr lang="en-US" dirty="0"/>
              <a:t> hang</a:t>
            </a:r>
          </a:p>
          <a:p>
            <a:pPr>
              <a:defRPr/>
            </a:pPr>
            <a:r>
              <a:rPr lang="en-US" dirty="0" err="1"/>
              <a:t>Bài</a:t>
            </a:r>
            <a:r>
              <a:rPr lang="en-US" dirty="0"/>
              <a:t> 5. </a:t>
            </a:r>
            <a:r>
              <a:rPr lang="en-US" dirty="0" err="1"/>
              <a:t>Viết</a:t>
            </a:r>
            <a:r>
              <a:rPr lang="en-US" dirty="0"/>
              <a:t> </a:t>
            </a:r>
            <a:r>
              <a:rPr lang="en-US" dirty="0" err="1"/>
              <a:t>các</a:t>
            </a:r>
            <a:r>
              <a:rPr lang="en-US" dirty="0"/>
              <a:t> </a:t>
            </a:r>
            <a:r>
              <a:rPr lang="en-US" dirty="0" err="1"/>
              <a:t>hàm</a:t>
            </a:r>
            <a:r>
              <a:rPr lang="en-US" dirty="0"/>
              <a:t> left, right, mid …</a:t>
            </a:r>
          </a:p>
          <a:p>
            <a:pPr eaLnBrk="1" hangingPunct="1">
              <a:defRPr/>
            </a:pPr>
            <a:endParaRPr lang="en-US" dirty="0"/>
          </a:p>
        </p:txBody>
      </p:sp>
      <p:sp>
        <p:nvSpPr>
          <p:cNvPr id="33796" name="Footer Placeholder 2"/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/>
          <a:p>
            <a:r>
              <a:rPr lang="vi-VN"/>
              <a:t>Chương 7 - Xâu kí tự</a:t>
            </a:r>
            <a:endParaRPr lang="en-US"/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BEF1D4-CE09-44DF-B9B8-B5197406120A}" type="datetime1">
              <a:rPr lang="vi-VN" smtClean="0"/>
              <a:pPr/>
              <a:t>14/01/2024</a:t>
            </a:fld>
            <a:endParaRPr lang="vi-V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B95402-1E0D-474E-8D8C-CBE7F053639E}" type="slidenum">
              <a:rPr lang="vi-VN" smtClean="0"/>
              <a:pPr/>
              <a:t>20</a:t>
            </a:fld>
            <a:r>
              <a:rPr lang="vi-VN"/>
              <a:t>/21</a:t>
            </a:r>
          </a:p>
        </p:txBody>
      </p:sp>
    </p:spTree>
    <p:extLst>
      <p:ext uri="{BB962C8B-B14F-4D97-AF65-F5344CB8AC3E}">
        <p14:creationId xmlns:p14="http://schemas.microsoft.com/office/powerpoint/2010/main" val="1104364802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/>
              <a:t>Bài tập thực hành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/>
            </a:pPr>
            <a:r>
              <a:rPr lang="en-US" sz="2200" dirty="0"/>
              <a:t>&lt;</a:t>
            </a:r>
            <a:r>
              <a:rPr lang="en-US" sz="2200" dirty="0" err="1"/>
              <a:t>Bài</a:t>
            </a:r>
            <a:r>
              <a:rPr lang="en-US" sz="2200" dirty="0"/>
              <a:t> 6&gt;. </a:t>
            </a:r>
            <a:r>
              <a:rPr lang="en-US" sz="2200" dirty="0" err="1"/>
              <a:t>Tìm</a:t>
            </a:r>
            <a:r>
              <a:rPr lang="en-US" sz="2200" dirty="0"/>
              <a:t> </a:t>
            </a:r>
            <a:r>
              <a:rPr lang="en-US" sz="2200" dirty="0" err="1"/>
              <a:t>từ</a:t>
            </a:r>
            <a:r>
              <a:rPr lang="en-US" sz="2200" dirty="0"/>
              <a:t> </a:t>
            </a:r>
            <a:r>
              <a:rPr lang="en-US" sz="2200" dirty="0" err="1"/>
              <a:t>có</a:t>
            </a:r>
            <a:r>
              <a:rPr lang="en-US" sz="2200" dirty="0"/>
              <a:t> </a:t>
            </a:r>
            <a:r>
              <a:rPr lang="en-US" sz="2200" dirty="0" err="1"/>
              <a:t>độ</a:t>
            </a:r>
            <a:r>
              <a:rPr lang="en-US" sz="2200" dirty="0"/>
              <a:t> </a:t>
            </a:r>
            <a:r>
              <a:rPr lang="en-US" sz="2200" dirty="0" err="1"/>
              <a:t>dài</a:t>
            </a:r>
            <a:r>
              <a:rPr lang="en-US" sz="2200" dirty="0"/>
              <a:t> </a:t>
            </a:r>
            <a:r>
              <a:rPr lang="en-US" sz="2200" dirty="0" err="1"/>
              <a:t>lớn</a:t>
            </a:r>
            <a:r>
              <a:rPr lang="en-US" sz="2200" dirty="0"/>
              <a:t> </a:t>
            </a:r>
            <a:r>
              <a:rPr lang="en-US" sz="2200" dirty="0" err="1"/>
              <a:t>nhất</a:t>
            </a:r>
            <a:r>
              <a:rPr lang="en-US" sz="2200" dirty="0"/>
              <a:t> </a:t>
            </a:r>
            <a:r>
              <a:rPr lang="en-US" sz="2200" dirty="0" err="1"/>
              <a:t>trong</a:t>
            </a:r>
            <a:r>
              <a:rPr lang="en-US" sz="2200" dirty="0"/>
              <a:t> </a:t>
            </a:r>
            <a:r>
              <a:rPr lang="en-US" sz="2200" dirty="0" err="1"/>
              <a:t>xâu</a:t>
            </a:r>
            <a:r>
              <a:rPr lang="en-US" sz="2200" dirty="0"/>
              <a:t> s.</a:t>
            </a:r>
          </a:p>
          <a:p>
            <a:pPr>
              <a:defRPr/>
            </a:pPr>
            <a:r>
              <a:rPr lang="en-US" sz="2200" dirty="0" err="1"/>
              <a:t>Bài</a:t>
            </a:r>
            <a:r>
              <a:rPr lang="en-US" sz="2200" dirty="0"/>
              <a:t> 7. </a:t>
            </a:r>
            <a:r>
              <a:rPr lang="en-US" sz="2200" dirty="0" err="1"/>
              <a:t>Xóa</a:t>
            </a:r>
            <a:r>
              <a:rPr lang="en-US" sz="2200" dirty="0"/>
              <a:t> </a:t>
            </a:r>
            <a:r>
              <a:rPr lang="en-US" sz="2200" dirty="0" err="1"/>
              <a:t>tất</a:t>
            </a:r>
            <a:r>
              <a:rPr lang="en-US" sz="2200" dirty="0"/>
              <a:t> </a:t>
            </a:r>
            <a:r>
              <a:rPr lang="en-US" sz="2200" dirty="0" err="1"/>
              <a:t>cả</a:t>
            </a:r>
            <a:r>
              <a:rPr lang="en-US" sz="2200" dirty="0"/>
              <a:t> </a:t>
            </a:r>
            <a:r>
              <a:rPr lang="en-US" sz="2200" dirty="0" err="1"/>
              <a:t>các</a:t>
            </a:r>
            <a:r>
              <a:rPr lang="en-US" sz="2200" dirty="0"/>
              <a:t> </a:t>
            </a:r>
            <a:r>
              <a:rPr lang="en-US" sz="2200" dirty="0" err="1"/>
              <a:t>khoảng</a:t>
            </a:r>
            <a:r>
              <a:rPr lang="en-US" sz="2200" dirty="0"/>
              <a:t> </a:t>
            </a:r>
            <a:r>
              <a:rPr lang="en-US" sz="2200" dirty="0" err="1"/>
              <a:t>trắng</a:t>
            </a:r>
            <a:r>
              <a:rPr lang="en-US" sz="2200" dirty="0"/>
              <a:t> </a:t>
            </a:r>
            <a:r>
              <a:rPr lang="en-US" sz="2200" dirty="0" err="1"/>
              <a:t>của</a:t>
            </a:r>
            <a:r>
              <a:rPr lang="en-US" sz="2200" dirty="0"/>
              <a:t> s</a:t>
            </a:r>
          </a:p>
          <a:p>
            <a:pPr eaLnBrk="1" hangingPunct="1">
              <a:defRPr/>
            </a:pPr>
            <a:r>
              <a:rPr lang="en-US" sz="2200" dirty="0" err="1"/>
              <a:t>Bài</a:t>
            </a:r>
            <a:r>
              <a:rPr lang="en-US" sz="2200" dirty="0"/>
              <a:t> 8. </a:t>
            </a:r>
            <a:r>
              <a:rPr lang="en-US" sz="2200" dirty="0" err="1"/>
              <a:t>Viết</a:t>
            </a:r>
            <a:r>
              <a:rPr lang="en-US" sz="2200" dirty="0"/>
              <a:t> </a:t>
            </a:r>
            <a:r>
              <a:rPr lang="en-US" sz="2200" dirty="0" err="1"/>
              <a:t>hàm</a:t>
            </a:r>
            <a:r>
              <a:rPr lang="en-US" sz="2200" dirty="0"/>
              <a:t> standard(char s[]) </a:t>
            </a:r>
            <a:r>
              <a:rPr lang="en-US" sz="2200" dirty="0" err="1"/>
              <a:t>loại</a:t>
            </a:r>
            <a:r>
              <a:rPr lang="en-US" sz="2200" dirty="0"/>
              <a:t> </a:t>
            </a:r>
            <a:r>
              <a:rPr lang="en-US" sz="2200" dirty="0" err="1"/>
              <a:t>bỏ</a:t>
            </a:r>
            <a:r>
              <a:rPr lang="en-US" sz="2200" dirty="0"/>
              <a:t> </a:t>
            </a:r>
            <a:r>
              <a:rPr lang="en-US" sz="2200" dirty="0" err="1"/>
              <a:t>toàn</a:t>
            </a:r>
            <a:r>
              <a:rPr lang="en-US" sz="2200" dirty="0"/>
              <a:t> </a:t>
            </a:r>
            <a:r>
              <a:rPr lang="en-US" sz="2200" dirty="0" err="1"/>
              <a:t>bộ</a:t>
            </a:r>
            <a:r>
              <a:rPr lang="en-US" sz="2200" dirty="0"/>
              <a:t> </a:t>
            </a:r>
            <a:r>
              <a:rPr lang="en-US" sz="2200" dirty="0" err="1"/>
              <a:t>khoảng</a:t>
            </a:r>
            <a:r>
              <a:rPr lang="en-US" sz="2200" dirty="0"/>
              <a:t> </a:t>
            </a:r>
            <a:r>
              <a:rPr lang="vi-VN" sz="2200" dirty="0"/>
              <a:t>trắng đầu xâu, cuối xâu và giữa 2 từ trong</a:t>
            </a:r>
            <a:r>
              <a:rPr lang="en-US" sz="2200" dirty="0"/>
              <a:t> s </a:t>
            </a:r>
            <a:r>
              <a:rPr lang="en-US" sz="2200" dirty="0" err="1"/>
              <a:t>chỉ</a:t>
            </a:r>
            <a:r>
              <a:rPr lang="en-US" sz="2200" dirty="0"/>
              <a:t> còn 1 </a:t>
            </a:r>
            <a:r>
              <a:rPr lang="en-US" sz="2200" dirty="0" err="1"/>
              <a:t>khoảng</a:t>
            </a:r>
            <a:r>
              <a:rPr lang="en-US" sz="2200" dirty="0"/>
              <a:t> </a:t>
            </a:r>
            <a:r>
              <a:rPr lang="en-US" sz="2200" dirty="0" err="1"/>
              <a:t>trắng</a:t>
            </a:r>
            <a:r>
              <a:rPr lang="en-US" sz="2200" dirty="0"/>
              <a:t>.</a:t>
            </a:r>
          </a:p>
          <a:p>
            <a:pPr eaLnBrk="1" hangingPunct="1">
              <a:defRPr/>
            </a:pPr>
            <a:r>
              <a:rPr lang="en-US" sz="2200" dirty="0" err="1"/>
              <a:t>Bài</a:t>
            </a:r>
            <a:r>
              <a:rPr lang="en-US" sz="2200" dirty="0"/>
              <a:t> 9. </a:t>
            </a:r>
            <a:r>
              <a:rPr lang="en-US" sz="2200" dirty="0" err="1"/>
              <a:t>Đếm</a:t>
            </a:r>
            <a:r>
              <a:rPr lang="en-US" sz="2200" dirty="0"/>
              <a:t> </a:t>
            </a:r>
            <a:r>
              <a:rPr lang="en-US" sz="2200" dirty="0" err="1"/>
              <a:t>số</a:t>
            </a:r>
            <a:r>
              <a:rPr lang="en-US" sz="2200" dirty="0"/>
              <a:t> </a:t>
            </a:r>
            <a:r>
              <a:rPr lang="en-US" sz="2200" dirty="0" err="1"/>
              <a:t>lượng</a:t>
            </a:r>
            <a:r>
              <a:rPr lang="en-US" sz="2200" dirty="0"/>
              <a:t> </a:t>
            </a:r>
            <a:r>
              <a:rPr lang="en-US" sz="2200" dirty="0" err="1"/>
              <a:t>từ</a:t>
            </a:r>
            <a:r>
              <a:rPr lang="en-US" sz="2200" dirty="0"/>
              <a:t> ‘</a:t>
            </a:r>
            <a:r>
              <a:rPr lang="en-US" sz="2200" dirty="0" err="1"/>
              <a:t>em</a:t>
            </a:r>
            <a:r>
              <a:rPr lang="en-US" sz="2200" dirty="0"/>
              <a:t>’ </a:t>
            </a:r>
            <a:r>
              <a:rPr lang="en-US" sz="2200" dirty="0" err="1"/>
              <a:t>trong</a:t>
            </a:r>
            <a:r>
              <a:rPr lang="en-US" sz="2200" dirty="0"/>
              <a:t> </a:t>
            </a:r>
            <a:r>
              <a:rPr lang="en-US" sz="2200" dirty="0" err="1"/>
              <a:t>xâu</a:t>
            </a:r>
            <a:r>
              <a:rPr lang="en-US" sz="2200" dirty="0"/>
              <a:t> </a:t>
            </a:r>
            <a:r>
              <a:rPr lang="en-US" sz="2200" dirty="0" err="1"/>
              <a:t>kí</a:t>
            </a:r>
            <a:r>
              <a:rPr lang="en-US" sz="2200" dirty="0"/>
              <a:t> </a:t>
            </a:r>
            <a:r>
              <a:rPr lang="en-US" sz="2200" dirty="0" err="1"/>
              <a:t>tự</a:t>
            </a:r>
            <a:r>
              <a:rPr lang="en-US" sz="2200" dirty="0"/>
              <a:t> </a:t>
            </a:r>
            <a:r>
              <a:rPr lang="en-US" sz="2200" dirty="0" err="1"/>
              <a:t>được</a:t>
            </a:r>
            <a:r>
              <a:rPr lang="en-US" sz="2200" dirty="0"/>
              <a:t> </a:t>
            </a:r>
            <a:r>
              <a:rPr lang="en-US" sz="2200" dirty="0" err="1"/>
              <a:t>đọc</a:t>
            </a:r>
            <a:r>
              <a:rPr lang="en-US" sz="2200" dirty="0"/>
              <a:t> </a:t>
            </a:r>
            <a:r>
              <a:rPr lang="en-US" sz="2200" dirty="0" err="1"/>
              <a:t>từ</a:t>
            </a:r>
            <a:r>
              <a:rPr lang="en-US" sz="2200" dirty="0"/>
              <a:t> </a:t>
            </a:r>
            <a:r>
              <a:rPr lang="en-US" sz="2200" dirty="0" err="1"/>
              <a:t>bàn</a:t>
            </a:r>
            <a:r>
              <a:rPr lang="en-US" sz="2200" dirty="0"/>
              <a:t> </a:t>
            </a:r>
            <a:r>
              <a:rPr lang="en-US" sz="2200" dirty="0" err="1"/>
              <a:t>phím</a:t>
            </a:r>
            <a:r>
              <a:rPr lang="en-US" sz="2200" dirty="0"/>
              <a:t>.</a:t>
            </a:r>
          </a:p>
          <a:p>
            <a:pPr eaLnBrk="1" hangingPunct="1">
              <a:defRPr/>
            </a:pPr>
            <a:r>
              <a:rPr lang="en-US" sz="2200" dirty="0" err="1"/>
              <a:t>Bài</a:t>
            </a:r>
            <a:r>
              <a:rPr lang="en-US" sz="2200" dirty="0"/>
              <a:t> 10. </a:t>
            </a:r>
            <a:r>
              <a:rPr lang="en-US" sz="2200" dirty="0" err="1"/>
              <a:t>Kiểm</a:t>
            </a:r>
            <a:r>
              <a:rPr lang="en-US" sz="2200" dirty="0"/>
              <a:t> </a:t>
            </a:r>
            <a:r>
              <a:rPr lang="en-US" sz="2200" dirty="0" err="1"/>
              <a:t>tra</a:t>
            </a:r>
            <a:r>
              <a:rPr lang="en-US" sz="2200" dirty="0"/>
              <a:t> </a:t>
            </a:r>
            <a:r>
              <a:rPr lang="en-US" sz="2200" dirty="0" err="1"/>
              <a:t>xem</a:t>
            </a:r>
            <a:r>
              <a:rPr lang="en-US" sz="2200" dirty="0"/>
              <a:t> </a:t>
            </a:r>
            <a:r>
              <a:rPr lang="en-US" sz="2200" dirty="0" err="1"/>
              <a:t>từ</a:t>
            </a:r>
            <a:r>
              <a:rPr lang="en-US" sz="2200" dirty="0"/>
              <a:t> </a:t>
            </a:r>
            <a:r>
              <a:rPr lang="en-US" sz="2200" dirty="0" err="1"/>
              <a:t>có</a:t>
            </a:r>
            <a:r>
              <a:rPr lang="en-US" sz="2200" dirty="0"/>
              <a:t> </a:t>
            </a:r>
            <a:r>
              <a:rPr lang="en-US" sz="2200" dirty="0" err="1"/>
              <a:t>phải</a:t>
            </a:r>
            <a:r>
              <a:rPr lang="en-US" sz="2200" dirty="0"/>
              <a:t> là palindrome hay </a:t>
            </a:r>
            <a:r>
              <a:rPr lang="en-US" sz="2200" dirty="0" err="1"/>
              <a:t>không</a:t>
            </a:r>
            <a:r>
              <a:rPr lang="en-US" sz="2200" dirty="0"/>
              <a:t>? </a:t>
            </a:r>
            <a:r>
              <a:rPr lang="en-US" sz="2200" dirty="0" err="1"/>
              <a:t>Từ</a:t>
            </a:r>
            <a:r>
              <a:rPr lang="en-US" sz="2200" dirty="0"/>
              <a:t> là palindrome là </a:t>
            </a:r>
            <a:r>
              <a:rPr lang="en-US" sz="2200" dirty="0" err="1"/>
              <a:t>từ</a:t>
            </a:r>
            <a:r>
              <a:rPr lang="en-US" sz="2200" dirty="0"/>
              <a:t> </a:t>
            </a:r>
            <a:r>
              <a:rPr lang="en-US" sz="2200" dirty="0" err="1"/>
              <a:t>đọc</a:t>
            </a:r>
            <a:r>
              <a:rPr lang="en-US" sz="2200" dirty="0"/>
              <a:t> </a:t>
            </a:r>
            <a:r>
              <a:rPr lang="en-US" sz="2200" dirty="0" err="1"/>
              <a:t>từ</a:t>
            </a:r>
            <a:r>
              <a:rPr lang="en-US" sz="2200" dirty="0"/>
              <a:t> </a:t>
            </a:r>
            <a:r>
              <a:rPr lang="en-US" sz="2200" dirty="0" err="1"/>
              <a:t>phải</a:t>
            </a:r>
            <a:r>
              <a:rPr lang="en-US" sz="2200" dirty="0"/>
              <a:t> sang </a:t>
            </a:r>
            <a:r>
              <a:rPr lang="en-US" sz="2200" dirty="0" err="1"/>
              <a:t>trái</a:t>
            </a:r>
            <a:r>
              <a:rPr lang="en-US" sz="2200" dirty="0"/>
              <a:t> cũng </a:t>
            </a:r>
            <a:r>
              <a:rPr lang="en-US" sz="2200" dirty="0" err="1"/>
              <a:t>giống</a:t>
            </a:r>
            <a:r>
              <a:rPr lang="en-US" sz="2200" dirty="0"/>
              <a:t> </a:t>
            </a:r>
            <a:r>
              <a:rPr lang="en-US" sz="2200" dirty="0" err="1"/>
              <a:t>như</a:t>
            </a:r>
            <a:r>
              <a:rPr lang="en-US" sz="2200" dirty="0"/>
              <a:t> </a:t>
            </a:r>
            <a:r>
              <a:rPr lang="en-US" sz="2200" dirty="0" err="1"/>
              <a:t>đọc</a:t>
            </a:r>
            <a:r>
              <a:rPr lang="en-US" sz="2200" dirty="0"/>
              <a:t> </a:t>
            </a:r>
            <a:r>
              <a:rPr lang="en-US" sz="2200" dirty="0" err="1"/>
              <a:t>từ</a:t>
            </a:r>
            <a:r>
              <a:rPr lang="en-US" sz="2200" dirty="0"/>
              <a:t> </a:t>
            </a:r>
            <a:r>
              <a:rPr lang="en-US" sz="2200" dirty="0" err="1"/>
              <a:t>trái</a:t>
            </a:r>
            <a:r>
              <a:rPr lang="en-US" sz="2200" dirty="0"/>
              <a:t> sang </a:t>
            </a:r>
            <a:r>
              <a:rPr lang="en-US" sz="2200" dirty="0" err="1"/>
              <a:t>phải</a:t>
            </a:r>
            <a:r>
              <a:rPr lang="en-US" sz="2200" dirty="0"/>
              <a:t>. </a:t>
            </a:r>
            <a:r>
              <a:rPr lang="en-US" sz="2200" dirty="0" err="1">
                <a:solidFill>
                  <a:srgbClr val="0000FF"/>
                </a:solidFill>
              </a:rPr>
              <a:t>Ví</a:t>
            </a:r>
            <a:r>
              <a:rPr lang="en-US" sz="2200" dirty="0">
                <a:solidFill>
                  <a:srgbClr val="0000FF"/>
                </a:solidFill>
              </a:rPr>
              <a:t> </a:t>
            </a:r>
            <a:r>
              <a:rPr lang="en-US" sz="2200" dirty="0" err="1">
                <a:solidFill>
                  <a:srgbClr val="0000FF"/>
                </a:solidFill>
              </a:rPr>
              <a:t>dụ</a:t>
            </a:r>
            <a:r>
              <a:rPr lang="en-US" sz="2200" dirty="0">
                <a:solidFill>
                  <a:srgbClr val="0000FF"/>
                </a:solidFill>
              </a:rPr>
              <a:t>: civic, madam, level,…</a:t>
            </a:r>
          </a:p>
        </p:txBody>
      </p:sp>
      <p:sp>
        <p:nvSpPr>
          <p:cNvPr id="34820" name="Footer Placeholder 3"/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/>
          <a:p>
            <a:r>
              <a:rPr lang="vi-VN"/>
              <a:t>Chương 7 - Xâu kí tự</a:t>
            </a:r>
            <a:endParaRPr lang="en-US"/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CA781F-4DBE-4E8F-9EC0-853B82F2B3DC}" type="datetime1">
              <a:rPr lang="vi-VN" smtClean="0"/>
              <a:pPr/>
              <a:t>14/01/2024</a:t>
            </a:fld>
            <a:endParaRPr lang="vi-V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B95402-1E0D-474E-8D8C-CBE7F053639E}" type="slidenum">
              <a:rPr lang="vi-VN" smtClean="0"/>
              <a:pPr/>
              <a:t>21</a:t>
            </a:fld>
            <a:r>
              <a:rPr lang="vi-VN"/>
              <a:t>/21</a:t>
            </a:r>
          </a:p>
        </p:txBody>
      </p:sp>
    </p:spTree>
    <p:extLst>
      <p:ext uri="{BB962C8B-B14F-4D97-AF65-F5344CB8AC3E}">
        <p14:creationId xmlns:p14="http://schemas.microsoft.com/office/powerpoint/2010/main" val="1020358294"/>
      </p:ext>
    </p:extLst>
  </p:cSld>
  <p:clrMapOvr>
    <a:masterClrMapping/>
  </p:clrMapOvr>
</p:sld>
</file>

<file path=ppt/theme/theme1.xml><?xml version="1.0" encoding="utf-8"?>
<a:theme xmlns:a="http://schemas.openxmlformats.org/drawingml/2006/main" name="MM_Lec1">
  <a:themeElements>
    <a:clrScheme name="Profile 9">
      <a:dk1>
        <a:srgbClr val="000000"/>
      </a:dk1>
      <a:lt1>
        <a:srgbClr val="FFFFFF"/>
      </a:lt1>
      <a:dk2>
        <a:srgbClr val="000000"/>
      </a:dk2>
      <a:lt2>
        <a:srgbClr val="DDDDDD"/>
      </a:lt2>
      <a:accent1>
        <a:srgbClr val="A3B2C1"/>
      </a:accent1>
      <a:accent2>
        <a:srgbClr val="CC0000"/>
      </a:accent2>
      <a:accent3>
        <a:srgbClr val="FFFFFF"/>
      </a:accent3>
      <a:accent4>
        <a:srgbClr val="000000"/>
      </a:accent4>
      <a:accent5>
        <a:srgbClr val="CED5DD"/>
      </a:accent5>
      <a:accent6>
        <a:srgbClr val="B90000"/>
      </a:accent6>
      <a:hlink>
        <a:srgbClr val="336699"/>
      </a:hlink>
      <a:folHlink>
        <a:srgbClr val="003366"/>
      </a:folHlink>
    </a:clrScheme>
    <a:fontScheme name="Office Classic 2">
      <a:maj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ajorFont>
      <a:min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Profile 1">
        <a:dk1>
          <a:srgbClr val="A50021"/>
        </a:dk1>
        <a:lt1>
          <a:srgbClr val="FFFFFF"/>
        </a:lt1>
        <a:dk2>
          <a:srgbClr val="800000"/>
        </a:dk2>
        <a:lt2>
          <a:srgbClr val="FFFFFF"/>
        </a:lt2>
        <a:accent1>
          <a:srgbClr val="FF9900"/>
        </a:accent1>
        <a:accent2>
          <a:srgbClr val="FF3300"/>
        </a:accent2>
        <a:accent3>
          <a:srgbClr val="C0AAAA"/>
        </a:accent3>
        <a:accent4>
          <a:srgbClr val="DADADA"/>
        </a:accent4>
        <a:accent5>
          <a:srgbClr val="FFCAAA"/>
        </a:accent5>
        <a:accent6>
          <a:srgbClr val="E72D00"/>
        </a:accent6>
        <a:hlink>
          <a:srgbClr val="FFFFCC"/>
        </a:hlink>
        <a:folHlink>
          <a:srgbClr val="FFCC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rofile 2">
        <a:dk1>
          <a:srgbClr val="3C001E"/>
        </a:dk1>
        <a:lt1>
          <a:srgbClr val="FFFFFF"/>
        </a:lt1>
        <a:dk2>
          <a:srgbClr val="51072E"/>
        </a:dk2>
        <a:lt2>
          <a:srgbClr val="FFFFFF"/>
        </a:lt2>
        <a:accent1>
          <a:srgbClr val="89A38F"/>
        </a:accent1>
        <a:accent2>
          <a:srgbClr val="666699"/>
        </a:accent2>
        <a:accent3>
          <a:srgbClr val="B3AAAD"/>
        </a:accent3>
        <a:accent4>
          <a:srgbClr val="DADADA"/>
        </a:accent4>
        <a:accent5>
          <a:srgbClr val="C4CEC6"/>
        </a:accent5>
        <a:accent6>
          <a:srgbClr val="5C5C8A"/>
        </a:accent6>
        <a:hlink>
          <a:srgbClr val="808000"/>
        </a:hlink>
        <a:folHlink>
          <a:srgbClr val="666633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rofile 3">
        <a:dk1>
          <a:srgbClr val="333333"/>
        </a:dk1>
        <a:lt1>
          <a:srgbClr val="FFFFFF"/>
        </a:lt1>
        <a:dk2>
          <a:srgbClr val="000000"/>
        </a:dk2>
        <a:lt2>
          <a:srgbClr val="FFFFFF"/>
        </a:lt2>
        <a:accent1>
          <a:srgbClr val="3399FF"/>
        </a:accent1>
        <a:accent2>
          <a:srgbClr val="CC0000"/>
        </a:accent2>
        <a:accent3>
          <a:srgbClr val="AAAAAA"/>
        </a:accent3>
        <a:accent4>
          <a:srgbClr val="DADADA"/>
        </a:accent4>
        <a:accent5>
          <a:srgbClr val="ADCAFF"/>
        </a:accent5>
        <a:accent6>
          <a:srgbClr val="B90000"/>
        </a:accent6>
        <a:hlink>
          <a:srgbClr val="666699"/>
        </a:hlink>
        <a:folHlink>
          <a:srgbClr val="6600CC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rofile 4">
        <a:dk1>
          <a:srgbClr val="4B3D1B"/>
        </a:dk1>
        <a:lt1>
          <a:srgbClr val="FFFFFF"/>
        </a:lt1>
        <a:dk2>
          <a:srgbClr val="330000"/>
        </a:dk2>
        <a:lt2>
          <a:srgbClr val="FFFFFF"/>
        </a:lt2>
        <a:accent1>
          <a:srgbClr val="CC9900"/>
        </a:accent1>
        <a:accent2>
          <a:srgbClr val="CC6600"/>
        </a:accent2>
        <a:accent3>
          <a:srgbClr val="ADAAAA"/>
        </a:accent3>
        <a:accent4>
          <a:srgbClr val="DADADA"/>
        </a:accent4>
        <a:accent5>
          <a:srgbClr val="E2CAAA"/>
        </a:accent5>
        <a:accent6>
          <a:srgbClr val="B95C00"/>
        </a:accent6>
        <a:hlink>
          <a:srgbClr val="666699"/>
        </a:hlink>
        <a:folHlink>
          <a:srgbClr val="CCCC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rofile 5">
        <a:dk1>
          <a:srgbClr val="006666"/>
        </a:dk1>
        <a:lt1>
          <a:srgbClr val="FFFFFF"/>
        </a:lt1>
        <a:dk2>
          <a:srgbClr val="003366"/>
        </a:dk2>
        <a:lt2>
          <a:srgbClr val="FFFFFF"/>
        </a:lt2>
        <a:accent1>
          <a:srgbClr val="0099CC"/>
        </a:accent1>
        <a:accent2>
          <a:srgbClr val="6666FF"/>
        </a:accent2>
        <a:accent3>
          <a:srgbClr val="AAADB8"/>
        </a:accent3>
        <a:accent4>
          <a:srgbClr val="DADADA"/>
        </a:accent4>
        <a:accent5>
          <a:srgbClr val="AACAE2"/>
        </a:accent5>
        <a:accent6>
          <a:srgbClr val="5C5CE7"/>
        </a:accent6>
        <a:hlink>
          <a:srgbClr val="FFFFCC"/>
        </a:hlink>
        <a:folHlink>
          <a:srgbClr val="FFCC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rofile 6">
        <a:dk1>
          <a:srgbClr val="003366"/>
        </a:dk1>
        <a:lt1>
          <a:srgbClr val="FFFFFF"/>
        </a:lt1>
        <a:dk2>
          <a:srgbClr val="006666"/>
        </a:dk2>
        <a:lt2>
          <a:srgbClr val="FFFFFF"/>
        </a:lt2>
        <a:accent1>
          <a:srgbClr val="6699FF"/>
        </a:accent1>
        <a:accent2>
          <a:srgbClr val="00CCFF"/>
        </a:accent2>
        <a:accent3>
          <a:srgbClr val="AAB8B8"/>
        </a:accent3>
        <a:accent4>
          <a:srgbClr val="DADADA"/>
        </a:accent4>
        <a:accent5>
          <a:srgbClr val="B8CAFF"/>
        </a:accent5>
        <a:accent6>
          <a:srgbClr val="00B9E7"/>
        </a:accent6>
        <a:hlink>
          <a:srgbClr val="FFFFCC"/>
        </a:hlink>
        <a:folHlink>
          <a:srgbClr val="33CCCC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rofile 7">
        <a:dk1>
          <a:srgbClr val="000000"/>
        </a:dk1>
        <a:lt1>
          <a:srgbClr val="619CB1"/>
        </a:lt1>
        <a:dk2>
          <a:srgbClr val="FFFFFF"/>
        </a:dk2>
        <a:lt2>
          <a:srgbClr val="4E899E"/>
        </a:lt2>
        <a:accent1>
          <a:srgbClr val="FFCC00"/>
        </a:accent1>
        <a:accent2>
          <a:srgbClr val="B6523E"/>
        </a:accent2>
        <a:accent3>
          <a:srgbClr val="B7CBD5"/>
        </a:accent3>
        <a:accent4>
          <a:srgbClr val="000000"/>
        </a:accent4>
        <a:accent5>
          <a:srgbClr val="FFE2AA"/>
        </a:accent5>
        <a:accent6>
          <a:srgbClr val="A54937"/>
        </a:accent6>
        <a:hlink>
          <a:srgbClr val="99CC00"/>
        </a:hlink>
        <a:folHlink>
          <a:srgbClr val="66669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rofile 8">
        <a:dk1>
          <a:srgbClr val="598600"/>
        </a:dk1>
        <a:lt1>
          <a:srgbClr val="FFFFFF"/>
        </a:lt1>
        <a:dk2>
          <a:srgbClr val="336600"/>
        </a:dk2>
        <a:lt2>
          <a:srgbClr val="FFFFFF"/>
        </a:lt2>
        <a:accent1>
          <a:srgbClr val="33CC33"/>
        </a:accent1>
        <a:accent2>
          <a:srgbClr val="99CC00"/>
        </a:accent2>
        <a:accent3>
          <a:srgbClr val="ADB8AA"/>
        </a:accent3>
        <a:accent4>
          <a:srgbClr val="DADADA"/>
        </a:accent4>
        <a:accent5>
          <a:srgbClr val="ADE2AD"/>
        </a:accent5>
        <a:accent6>
          <a:srgbClr val="8AB900"/>
        </a:accent6>
        <a:hlink>
          <a:srgbClr val="FFCC00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rofile 9">
        <a:dk1>
          <a:srgbClr val="000000"/>
        </a:dk1>
        <a:lt1>
          <a:srgbClr val="FFFFFF"/>
        </a:lt1>
        <a:dk2>
          <a:srgbClr val="000000"/>
        </a:dk2>
        <a:lt2>
          <a:srgbClr val="DDDDDD"/>
        </a:lt2>
        <a:accent1>
          <a:srgbClr val="A3B2C1"/>
        </a:accent1>
        <a:accent2>
          <a:srgbClr val="CC0000"/>
        </a:accent2>
        <a:accent3>
          <a:srgbClr val="FFFFFF"/>
        </a:accent3>
        <a:accent4>
          <a:srgbClr val="000000"/>
        </a:accent4>
        <a:accent5>
          <a:srgbClr val="CED5DD"/>
        </a:accent5>
        <a:accent6>
          <a:srgbClr val="B90000"/>
        </a:accent6>
        <a:hlink>
          <a:srgbClr val="336699"/>
        </a:hlink>
        <a:folHlink>
          <a:srgbClr val="003366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Chuong 3-Mang may tinh</Template>
  <TotalTime>33652</TotalTime>
  <Words>2347</Words>
  <Application>Microsoft Office PowerPoint</Application>
  <PresentationFormat>On-screen Show (4:3)</PresentationFormat>
  <Paragraphs>302</Paragraphs>
  <Slides>21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7" baseType="lpstr">
      <vt:lpstr>Arial</vt:lpstr>
      <vt:lpstr>Calibri</vt:lpstr>
      <vt:lpstr>Courier New</vt:lpstr>
      <vt:lpstr>Tahoma</vt:lpstr>
      <vt:lpstr>Wingdings</vt:lpstr>
      <vt:lpstr>MM_Lec1</vt:lpstr>
      <vt:lpstr>Chương 7 XÂU KÍ TỰ</vt:lpstr>
      <vt:lpstr>Nội dung</vt:lpstr>
      <vt:lpstr>1. Khai báo</vt:lpstr>
      <vt:lpstr>Khai báo có khởi tạo giá trị</vt:lpstr>
      <vt:lpstr>2. Các thao tác trên xâu kí tự</vt:lpstr>
      <vt:lpstr>a) Nhập xâu từ bàn phím</vt:lpstr>
      <vt:lpstr>a) Nhập xâu từ bàn phím (tt)</vt:lpstr>
      <vt:lpstr>b) Xuất xâu ra màn hình</vt:lpstr>
      <vt:lpstr>c) Xác định độ dài xâu</vt:lpstr>
      <vt:lpstr>c) Xác định độ dài xâu (tt)</vt:lpstr>
      <vt:lpstr>d) Ghép xâu </vt:lpstr>
      <vt:lpstr>e) Sao chép xâu</vt:lpstr>
      <vt:lpstr>f) So sánh xâu kí tự</vt:lpstr>
      <vt:lpstr>f) So sánh xâu kí tự (tt)</vt:lpstr>
      <vt:lpstr>g) Tìm kiếm kí tự</vt:lpstr>
      <vt:lpstr>3. Mảng xâu kí tự</vt:lpstr>
      <vt:lpstr>Mảng xâu kí tự (tt)</vt:lpstr>
      <vt:lpstr>4. Một số hàm xử lý xâu kí tự</vt:lpstr>
      <vt:lpstr>Một số hàm xử lý xâu kí tự (tt)</vt:lpstr>
      <vt:lpstr>Bài tập thực hành</vt:lpstr>
      <vt:lpstr>Bài tập thực hành 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CƠ SỞ LẬP TRÌNH 1</dc:title>
  <dc:creator>Quy Tai</dc:creator>
  <cp:lastModifiedBy>Le Cam Tu</cp:lastModifiedBy>
  <cp:revision>99</cp:revision>
  <dcterms:created xsi:type="dcterms:W3CDTF">2011-07-17T01:46:34Z</dcterms:created>
  <dcterms:modified xsi:type="dcterms:W3CDTF">2024-01-14T12:59:26Z</dcterms:modified>
</cp:coreProperties>
</file>