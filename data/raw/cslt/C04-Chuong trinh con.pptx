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45"/>
  </p:notesMasterIdLst>
  <p:sldIdLst>
    <p:sldId id="256" r:id="rId2"/>
    <p:sldId id="259" r:id="rId3"/>
    <p:sldId id="260" r:id="rId4"/>
    <p:sldId id="261" r:id="rId5"/>
    <p:sldId id="262" r:id="rId6"/>
    <p:sldId id="263" r:id="rId7"/>
    <p:sldId id="285" r:id="rId8"/>
    <p:sldId id="264" r:id="rId9"/>
    <p:sldId id="265" r:id="rId10"/>
    <p:sldId id="266" r:id="rId11"/>
    <p:sldId id="267" r:id="rId12"/>
    <p:sldId id="268" r:id="rId13"/>
    <p:sldId id="286" r:id="rId14"/>
    <p:sldId id="287" r:id="rId15"/>
    <p:sldId id="288" r:id="rId16"/>
    <p:sldId id="289" r:id="rId17"/>
    <p:sldId id="290" r:id="rId18"/>
    <p:sldId id="291" r:id="rId19"/>
    <p:sldId id="269" r:id="rId20"/>
    <p:sldId id="270" r:id="rId21"/>
    <p:sldId id="311" r:id="rId22"/>
    <p:sldId id="292" r:id="rId23"/>
    <p:sldId id="293" r:id="rId24"/>
    <p:sldId id="294" r:id="rId25"/>
    <p:sldId id="310" r:id="rId26"/>
    <p:sldId id="275" r:id="rId27"/>
    <p:sldId id="277" r:id="rId28"/>
    <p:sldId id="280" r:id="rId29"/>
    <p:sldId id="296" r:id="rId30"/>
    <p:sldId id="281" r:id="rId31"/>
    <p:sldId id="297"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66"/>
    <a:srgbClr val="99CCFF"/>
    <a:srgbClr val="6DFB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667" autoAdjust="0"/>
  </p:normalViewPr>
  <p:slideViewPr>
    <p:cSldViewPr>
      <p:cViewPr varScale="1">
        <p:scale>
          <a:sx n="68" d="100"/>
          <a:sy n="68" d="100"/>
        </p:scale>
        <p:origin x="1810" y="58"/>
      </p:cViewPr>
      <p:guideLst>
        <p:guide orient="horz" pos="2160"/>
        <p:guide pos="2880"/>
      </p:guideLst>
    </p:cSldViewPr>
  </p:slideViewPr>
  <p:notesTextViewPr>
    <p:cViewPr>
      <p:scale>
        <a:sx n="1" d="1"/>
        <a:sy n="1" d="1"/>
      </p:scale>
      <p:origin x="0" y="-2707"/>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B59136-7F74-4509-B20E-AE351757F38F}" type="datetimeFigureOut">
              <a:rPr lang="vi-VN" smtClean="0"/>
              <a:t>09/05/2023</a:t>
            </a:fld>
            <a:endParaRPr lang="vi-V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A7600A-770C-47F1-89C1-5023B6D362E3}" type="slidenum">
              <a:rPr lang="vi-VN" smtClean="0"/>
              <a:t>‹#›</a:t>
            </a:fld>
            <a:endParaRPr lang="vi-VN"/>
          </a:p>
        </p:txBody>
      </p:sp>
    </p:spTree>
    <p:extLst>
      <p:ext uri="{BB962C8B-B14F-4D97-AF65-F5344CB8AC3E}">
        <p14:creationId xmlns:p14="http://schemas.microsoft.com/office/powerpoint/2010/main" val="475374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6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D5966EC-647B-44AD-8DB5-28B34AA92231}" type="slidenum">
              <a:rPr lang="en-US"/>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5A01A47-2B89-4FB9-A738-5696310F4E1B}" type="slidenum">
              <a:rPr lang="en-US"/>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8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D4801AC-4296-42B7-A639-E772AA140C10}" type="slidenum">
              <a:rPr lang="en-US"/>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49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9452C1A-B9D1-4C42-9278-3EE49BD0DDCD}" type="slidenum">
              <a:rPr lang="en-US"/>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0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D19F5F4-110D-49C5-99EC-D962F79EBC83}" type="slidenum">
              <a:rPr lang="en-US"/>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55555"/>
                </a:solidFill>
                <a:effectLst/>
                <a:latin typeface="Arial" panose="020B0604020202020204" pitchFamily="34" charset="0"/>
              </a:rPr>
              <a:t>https://atson.wordpress.com/2009/11/18/ham-va-th%E1%BB%A7-t%E1%BB%A5c/</a:t>
            </a:r>
          </a:p>
          <a:p>
            <a:r>
              <a:rPr lang="en-US" b="0" i="0" dirty="0" err="1">
                <a:solidFill>
                  <a:srgbClr val="555555"/>
                </a:solidFill>
                <a:effectLst/>
                <a:latin typeface="Arial" panose="020B0604020202020204" pitchFamily="34" charset="0"/>
              </a:rPr>
              <a:t>Ví</a:t>
            </a:r>
            <a:r>
              <a:rPr lang="en-US" b="0" i="0" dirty="0">
                <a:solidFill>
                  <a:srgbClr val="555555"/>
                </a:solidFill>
                <a:effectLst/>
                <a:latin typeface="Arial" panose="020B0604020202020204" pitchFamily="34" charset="0"/>
              </a:rPr>
              <a:t> </a:t>
            </a:r>
            <a:r>
              <a:rPr lang="en-US" b="0" i="0" dirty="0" err="1">
                <a:solidFill>
                  <a:srgbClr val="555555"/>
                </a:solidFill>
                <a:effectLst/>
                <a:latin typeface="Arial" panose="020B0604020202020204" pitchFamily="34" charset="0"/>
              </a:rPr>
              <a:t>dụ</a:t>
            </a:r>
            <a:r>
              <a:rPr lang="en-US" b="0" i="0" dirty="0">
                <a:solidFill>
                  <a:srgbClr val="555555"/>
                </a:solidFill>
                <a:effectLst/>
                <a:latin typeface="Arial" panose="020B0604020202020204" pitchFamily="34" charset="0"/>
              </a:rPr>
              <a:t> </a:t>
            </a:r>
            <a:r>
              <a:rPr lang="en-US" b="0" i="0" dirty="0" err="1">
                <a:solidFill>
                  <a:srgbClr val="555555"/>
                </a:solidFill>
                <a:effectLst/>
                <a:latin typeface="Arial" panose="020B0604020202020204" pitchFamily="34" charset="0"/>
              </a:rPr>
              <a:t>hàm</a:t>
            </a:r>
            <a:r>
              <a:rPr lang="en-US" b="0" i="0" dirty="0">
                <a:solidFill>
                  <a:srgbClr val="555555"/>
                </a:solidFill>
                <a:effectLst/>
                <a:latin typeface="Arial" panose="020B0604020202020204" pitchFamily="34" charset="0"/>
              </a:rPr>
              <a:t> </a:t>
            </a:r>
            <a:r>
              <a:rPr lang="en-US" b="0" i="0" dirty="0" err="1">
                <a:solidFill>
                  <a:srgbClr val="555555"/>
                </a:solidFill>
                <a:effectLst/>
                <a:latin typeface="Arial" panose="020B0604020202020204" pitchFamily="34" charset="0"/>
              </a:rPr>
              <a:t>và</a:t>
            </a:r>
            <a:r>
              <a:rPr lang="en-US" b="0" i="0" dirty="0">
                <a:solidFill>
                  <a:srgbClr val="555555"/>
                </a:solidFill>
                <a:effectLst/>
                <a:latin typeface="Arial" panose="020B0604020202020204" pitchFamily="34" charset="0"/>
              </a:rPr>
              <a:t> </a:t>
            </a:r>
            <a:r>
              <a:rPr lang="en-US" b="0" i="0" dirty="0" err="1">
                <a:solidFill>
                  <a:srgbClr val="555555"/>
                </a:solidFill>
                <a:effectLst/>
                <a:latin typeface="Arial" panose="020B0604020202020204" pitchFamily="34" charset="0"/>
              </a:rPr>
              <a:t>thủ</a:t>
            </a:r>
            <a:r>
              <a:rPr lang="en-US" b="0" i="0" dirty="0">
                <a:solidFill>
                  <a:srgbClr val="555555"/>
                </a:solidFill>
                <a:effectLst/>
                <a:latin typeface="Arial" panose="020B0604020202020204" pitchFamily="34" charset="0"/>
              </a:rPr>
              <a:t> </a:t>
            </a:r>
            <a:r>
              <a:rPr lang="en-US" b="0" i="0" dirty="0" err="1">
                <a:solidFill>
                  <a:srgbClr val="555555"/>
                </a:solidFill>
                <a:effectLst/>
                <a:latin typeface="Arial" panose="020B0604020202020204" pitchFamily="34" charset="0"/>
              </a:rPr>
              <a:t>tục</a:t>
            </a:r>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7</a:t>
            </a:fld>
            <a:endParaRPr lang="vi-VN"/>
          </a:p>
        </p:txBody>
      </p:sp>
    </p:spTree>
    <p:extLst>
      <p:ext uri="{BB962C8B-B14F-4D97-AF65-F5344CB8AC3E}">
        <p14:creationId xmlns:p14="http://schemas.microsoft.com/office/powerpoint/2010/main" val="16535222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12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7DA3AB4-E308-41FA-8B04-3654F3DC53C9}" type="slidenum">
              <a:rPr lang="en-US"/>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p:spPr>
      </p:sp>
      <p:sp>
        <p:nvSpPr>
          <p:cNvPr id="5222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22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BD445E9-C373-443E-A4B3-DB2D7F62DCE5}" type="slidenum">
              <a:rPr lang="en-US"/>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3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EB8004C-C412-4455-98CD-8CA105480560}" type="slidenum">
              <a:rPr lang="en-US"/>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p:spPr>
      </p:sp>
      <p:sp>
        <p:nvSpPr>
          <p:cNvPr id="5427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42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83C03A4-2370-47AA-9C63-D2F96BC6C646}" type="slidenum">
              <a:rPr lang="en-US"/>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553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16E2E0C-8E04-40EB-B9C1-C9A439CABE01}" type="slidenum">
              <a:rPr lang="en-US"/>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p:spPr>
      </p:sp>
      <p:sp>
        <p:nvSpPr>
          <p:cNvPr id="56323"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vi-VN" b="1" i="0" dirty="0">
                <a:solidFill>
                  <a:srgbClr val="000000"/>
                </a:solidFill>
                <a:effectLst/>
                <a:latin typeface="merriweather" panose="00000500000000000000" pitchFamily="2" charset="0"/>
              </a:rPr>
              <a:t>Phạm vi của biến cục bộ chỉ giới hạn trong hàm mà biến được định nghĩa. Tức là biến cục bộ chỉ tồn tại và chỉ có thể được truy cập bên trong hàm. Biến cục bộ sẽ bị hủy khi hàm kết thúc.</a:t>
            </a:r>
            <a:endParaRPr lang="en-US" b="1" i="0" dirty="0">
              <a:solidFill>
                <a:srgbClr val="000000"/>
              </a:solidFill>
              <a:effectLst/>
              <a:latin typeface="merriweather" panose="00000500000000000000" pitchFamily="2" charset="0"/>
            </a:endParaRPr>
          </a:p>
          <a:p>
            <a:pPr>
              <a:spcBef>
                <a:spcPct val="0"/>
              </a:spcBef>
            </a:pPr>
            <a:r>
              <a:rPr lang="vi-VN" b="1" i="0" dirty="0">
                <a:solidFill>
                  <a:srgbClr val="000000"/>
                </a:solidFill>
                <a:effectLst/>
                <a:latin typeface="merriweather" panose="00000500000000000000" pitchFamily="2" charset="0"/>
              </a:rPr>
              <a:t>Phạm vi của biến toàn cục là trong toàn bộ chương trình. Tức là, biến toàn cục có thể được sử dụng và bị thay đổi giá trị trong bất cứ đâu trong chương trình sau khi được khai báo. Biến toàn cục chỉ bị hủy khi chương trình kết thúc.</a:t>
            </a:r>
            <a:endParaRPr lang="vi-VN" dirty="0"/>
          </a:p>
        </p:txBody>
      </p:sp>
      <p:sp>
        <p:nvSpPr>
          <p:cNvPr id="563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7DE986D-C93A-4D33-BBB9-4145D01040CB}" type="slidenum">
              <a:rPr lang="en-US"/>
              <a:pPr/>
              <a:t>19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vi-VN" dirty="0"/>
          </a:p>
        </p:txBody>
      </p:sp>
      <p:sp>
        <p:nvSpPr>
          <p:cNvPr id="57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2B6019A-4145-4DDC-9A81-F974F7B1FFB2}" type="slidenum">
              <a:rPr lang="en-US"/>
              <a:pPr/>
              <a:t>20</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vi-VN" dirty="0"/>
          </a:p>
        </p:txBody>
      </p:sp>
      <p:sp>
        <p:nvSpPr>
          <p:cNvPr id="57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2B6019A-4145-4DDC-9A81-F974F7B1FFB2}" type="slidenum">
              <a:rPr lang="en-US"/>
              <a:pPr/>
              <a:t>21</a:t>
            </a:fld>
            <a:endParaRPr lang="en-US"/>
          </a:p>
        </p:txBody>
      </p:sp>
    </p:spTree>
    <p:extLst>
      <p:ext uri="{BB962C8B-B14F-4D97-AF65-F5344CB8AC3E}">
        <p14:creationId xmlns:p14="http://schemas.microsoft.com/office/powerpoint/2010/main" val="33071720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0A"/>
                </a:solidFill>
                <a:effectLst/>
                <a:latin typeface="Muli"/>
              </a:rPr>
              <a:t>Khi </a:t>
            </a:r>
            <a:r>
              <a:rPr lang="en-US" b="0" i="0" dirty="0" err="1">
                <a:solidFill>
                  <a:srgbClr val="0A0A0A"/>
                </a:solidFill>
                <a:effectLst/>
                <a:latin typeface="Muli"/>
              </a:rPr>
              <a:t>truyền</a:t>
            </a:r>
            <a:r>
              <a:rPr lang="en-US" b="0" i="0" dirty="0">
                <a:solidFill>
                  <a:srgbClr val="0A0A0A"/>
                </a:solidFill>
                <a:effectLst/>
                <a:latin typeface="Muli"/>
              </a:rPr>
              <a:t> </a:t>
            </a:r>
            <a:r>
              <a:rPr lang="en-US" b="0" i="0" dirty="0" err="1">
                <a:solidFill>
                  <a:srgbClr val="0A0A0A"/>
                </a:solidFill>
                <a:effectLst/>
                <a:latin typeface="Muli"/>
              </a:rPr>
              <a:t>vào</a:t>
            </a:r>
            <a:r>
              <a:rPr lang="en-US" b="0" i="0" dirty="0">
                <a:solidFill>
                  <a:srgbClr val="0A0A0A"/>
                </a:solidFill>
                <a:effectLst/>
                <a:latin typeface="Muli"/>
              </a:rPr>
              <a:t> </a:t>
            </a:r>
            <a:r>
              <a:rPr lang="en-US" b="0" i="0" dirty="0" err="1">
                <a:solidFill>
                  <a:srgbClr val="0A0A0A"/>
                </a:solidFill>
                <a:effectLst/>
                <a:latin typeface="Muli"/>
              </a:rPr>
              <a:t>biến</a:t>
            </a:r>
            <a:r>
              <a:rPr lang="en-US" b="0" i="0" dirty="0">
                <a:solidFill>
                  <a:srgbClr val="0A0A0A"/>
                </a:solidFill>
                <a:effectLst/>
                <a:latin typeface="Muli"/>
              </a:rPr>
              <a:t> a </a:t>
            </a:r>
            <a:r>
              <a:rPr lang="en-US" b="0" i="0" dirty="0" err="1">
                <a:solidFill>
                  <a:srgbClr val="0A0A0A"/>
                </a:solidFill>
                <a:effectLst/>
                <a:latin typeface="Muli"/>
              </a:rPr>
              <a:t>cho</a:t>
            </a:r>
            <a:r>
              <a:rPr lang="en-US" b="0" i="0" dirty="0">
                <a:solidFill>
                  <a:srgbClr val="0A0A0A"/>
                </a:solidFill>
                <a:effectLst/>
                <a:latin typeface="Muli"/>
              </a:rPr>
              <a:t> </a:t>
            </a:r>
            <a:r>
              <a:rPr lang="en-US" b="0" i="0" dirty="0" err="1">
                <a:solidFill>
                  <a:srgbClr val="0A0A0A"/>
                </a:solidFill>
                <a:effectLst/>
                <a:latin typeface="Muli"/>
              </a:rPr>
              <a:t>hàm</a:t>
            </a:r>
            <a:r>
              <a:rPr lang="en-US" b="0" i="0" dirty="0">
                <a:solidFill>
                  <a:srgbClr val="0A0A0A"/>
                </a:solidFill>
                <a:effectLst/>
                <a:latin typeface="Muli"/>
              </a:rPr>
              <a:t> </a:t>
            </a:r>
            <a:r>
              <a:rPr lang="en-US" b="0" i="0" dirty="0" err="1">
                <a:solidFill>
                  <a:srgbClr val="0A0A0A"/>
                </a:solidFill>
                <a:effectLst/>
                <a:latin typeface="Muli"/>
              </a:rPr>
              <a:t>incValue</a:t>
            </a:r>
            <a:r>
              <a:rPr lang="en-US" b="0" i="0" dirty="0">
                <a:solidFill>
                  <a:srgbClr val="0A0A0A"/>
                </a:solidFill>
                <a:effectLst/>
                <a:latin typeface="Muli"/>
              </a:rPr>
              <a:t>, </a:t>
            </a:r>
            <a:r>
              <a:rPr lang="en-US" b="0" i="0" dirty="0" err="1">
                <a:solidFill>
                  <a:srgbClr val="0A0A0A"/>
                </a:solidFill>
                <a:effectLst/>
                <a:latin typeface="Muli"/>
              </a:rPr>
              <a:t>thực</a:t>
            </a:r>
            <a:r>
              <a:rPr lang="en-US" b="0" i="0" dirty="0">
                <a:solidFill>
                  <a:srgbClr val="0A0A0A"/>
                </a:solidFill>
                <a:effectLst/>
                <a:latin typeface="Muli"/>
              </a:rPr>
              <a:t> </a:t>
            </a:r>
            <a:r>
              <a:rPr lang="en-US" b="0" i="0" dirty="0" err="1">
                <a:solidFill>
                  <a:srgbClr val="0A0A0A"/>
                </a:solidFill>
                <a:effectLst/>
                <a:latin typeface="Muli"/>
              </a:rPr>
              <a:t>chất</a:t>
            </a:r>
            <a:r>
              <a:rPr lang="en-US" b="0" i="0" dirty="0">
                <a:solidFill>
                  <a:srgbClr val="0A0A0A"/>
                </a:solidFill>
                <a:effectLst/>
                <a:latin typeface="Muli"/>
              </a:rPr>
              <a:t> </a:t>
            </a:r>
            <a:r>
              <a:rPr lang="en-US" b="0" i="0" dirty="0" err="1">
                <a:solidFill>
                  <a:srgbClr val="0A0A0A"/>
                </a:solidFill>
                <a:effectLst/>
                <a:latin typeface="Muli"/>
              </a:rPr>
              <a:t>trình</a:t>
            </a:r>
            <a:r>
              <a:rPr lang="en-US" b="0" i="0" dirty="0">
                <a:solidFill>
                  <a:srgbClr val="0A0A0A"/>
                </a:solidFill>
                <a:effectLst/>
                <a:latin typeface="Muli"/>
              </a:rPr>
              <a:t> </a:t>
            </a:r>
            <a:r>
              <a:rPr lang="en-US" b="0" i="0" dirty="0" err="1">
                <a:solidFill>
                  <a:srgbClr val="0A0A0A"/>
                </a:solidFill>
                <a:effectLst/>
                <a:latin typeface="Muli"/>
              </a:rPr>
              <a:t>biên</a:t>
            </a:r>
            <a:r>
              <a:rPr lang="en-US" b="0" i="0" dirty="0">
                <a:solidFill>
                  <a:srgbClr val="0A0A0A"/>
                </a:solidFill>
                <a:effectLst/>
                <a:latin typeface="Muli"/>
              </a:rPr>
              <a:t> </a:t>
            </a:r>
            <a:r>
              <a:rPr lang="en-US" b="0" i="0" dirty="0" err="1">
                <a:solidFill>
                  <a:srgbClr val="0A0A0A"/>
                </a:solidFill>
                <a:effectLst/>
                <a:latin typeface="Muli"/>
              </a:rPr>
              <a:t>dịch</a:t>
            </a:r>
            <a:r>
              <a:rPr lang="en-US" b="0" i="0" dirty="0">
                <a:solidFill>
                  <a:srgbClr val="0A0A0A"/>
                </a:solidFill>
                <a:effectLst/>
                <a:latin typeface="Muli"/>
              </a:rPr>
              <a:t> </a:t>
            </a:r>
            <a:r>
              <a:rPr lang="en-US" b="0" i="0" dirty="0" err="1">
                <a:solidFill>
                  <a:srgbClr val="0A0A0A"/>
                </a:solidFill>
                <a:effectLst/>
                <a:latin typeface="Muli"/>
              </a:rPr>
              <a:t>sẽ</a:t>
            </a:r>
            <a:r>
              <a:rPr lang="en-US" b="0" i="0" dirty="0">
                <a:solidFill>
                  <a:srgbClr val="0A0A0A"/>
                </a:solidFill>
                <a:effectLst/>
                <a:latin typeface="Muli"/>
              </a:rPr>
              <a:t> copy </a:t>
            </a:r>
            <a:r>
              <a:rPr lang="en-US" b="0" i="0" dirty="0" err="1">
                <a:solidFill>
                  <a:srgbClr val="0A0A0A"/>
                </a:solidFill>
                <a:effectLst/>
                <a:latin typeface="Muli"/>
              </a:rPr>
              <a:t>giá</a:t>
            </a:r>
            <a:r>
              <a:rPr lang="en-US" b="0" i="0" dirty="0">
                <a:solidFill>
                  <a:srgbClr val="0A0A0A"/>
                </a:solidFill>
                <a:effectLst/>
                <a:latin typeface="Muli"/>
              </a:rPr>
              <a:t> </a:t>
            </a:r>
            <a:r>
              <a:rPr lang="en-US" b="0" i="0" dirty="0" err="1">
                <a:solidFill>
                  <a:srgbClr val="0A0A0A"/>
                </a:solidFill>
                <a:effectLst/>
                <a:latin typeface="Muli"/>
              </a:rPr>
              <a:t>trị</a:t>
            </a:r>
            <a:r>
              <a:rPr lang="en-US" b="0" i="0" dirty="0">
                <a:solidFill>
                  <a:srgbClr val="0A0A0A"/>
                </a:solidFill>
                <a:effectLst/>
                <a:latin typeface="Muli"/>
              </a:rPr>
              <a:t> </a:t>
            </a:r>
            <a:r>
              <a:rPr lang="en-US" b="0" i="0" dirty="0" err="1">
                <a:solidFill>
                  <a:srgbClr val="0A0A0A"/>
                </a:solidFill>
                <a:effectLst/>
                <a:latin typeface="Muli"/>
              </a:rPr>
              <a:t>của</a:t>
            </a:r>
            <a:r>
              <a:rPr lang="en-US" b="0" i="0" dirty="0">
                <a:solidFill>
                  <a:srgbClr val="0A0A0A"/>
                </a:solidFill>
                <a:effectLst/>
                <a:latin typeface="Muli"/>
              </a:rPr>
              <a:t> a </a:t>
            </a:r>
            <a:r>
              <a:rPr lang="en-US" b="0" i="0" dirty="0" err="1">
                <a:solidFill>
                  <a:srgbClr val="0A0A0A"/>
                </a:solidFill>
                <a:effectLst/>
                <a:latin typeface="Muli"/>
              </a:rPr>
              <a:t>cho</a:t>
            </a:r>
            <a:r>
              <a:rPr lang="en-US" b="0" i="0" dirty="0">
                <a:solidFill>
                  <a:srgbClr val="0A0A0A"/>
                </a:solidFill>
                <a:effectLst/>
                <a:latin typeface="Muli"/>
              </a:rPr>
              <a:t> x ( x = a). Sau </a:t>
            </a:r>
            <a:r>
              <a:rPr lang="en-US" b="0" i="0" dirty="0" err="1">
                <a:solidFill>
                  <a:srgbClr val="0A0A0A"/>
                </a:solidFill>
                <a:effectLst/>
                <a:latin typeface="Muli"/>
              </a:rPr>
              <a:t>đó</a:t>
            </a:r>
            <a:r>
              <a:rPr lang="en-US" b="0" i="0" dirty="0">
                <a:solidFill>
                  <a:srgbClr val="0A0A0A"/>
                </a:solidFill>
                <a:effectLst/>
                <a:latin typeface="Muli"/>
              </a:rPr>
              <a:t> </a:t>
            </a:r>
            <a:r>
              <a:rPr lang="en-US" b="0" i="0" dirty="0" err="1">
                <a:solidFill>
                  <a:srgbClr val="0A0A0A"/>
                </a:solidFill>
                <a:effectLst/>
                <a:latin typeface="Muli"/>
              </a:rPr>
              <a:t>lấy</a:t>
            </a:r>
            <a:r>
              <a:rPr lang="en-US" b="0" i="0" dirty="0">
                <a:solidFill>
                  <a:srgbClr val="0A0A0A"/>
                </a:solidFill>
                <a:effectLst/>
                <a:latin typeface="Muli"/>
              </a:rPr>
              <a:t> </a:t>
            </a:r>
            <a:r>
              <a:rPr lang="en-US" b="0" i="0" dirty="0" err="1">
                <a:solidFill>
                  <a:srgbClr val="0A0A0A"/>
                </a:solidFill>
                <a:effectLst/>
                <a:latin typeface="Muli"/>
              </a:rPr>
              <a:t>giá</a:t>
            </a:r>
            <a:r>
              <a:rPr lang="en-US" b="0" i="0" dirty="0">
                <a:solidFill>
                  <a:srgbClr val="0A0A0A"/>
                </a:solidFill>
                <a:effectLst/>
                <a:latin typeface="Muli"/>
              </a:rPr>
              <a:t> </a:t>
            </a:r>
            <a:r>
              <a:rPr lang="en-US" b="0" i="0" dirty="0" err="1">
                <a:solidFill>
                  <a:srgbClr val="0A0A0A"/>
                </a:solidFill>
                <a:effectLst/>
                <a:latin typeface="Muli"/>
              </a:rPr>
              <a:t>trị</a:t>
            </a:r>
            <a:r>
              <a:rPr lang="en-US" b="0" i="0" dirty="0">
                <a:solidFill>
                  <a:srgbClr val="0A0A0A"/>
                </a:solidFill>
                <a:effectLst/>
                <a:latin typeface="Muli"/>
              </a:rPr>
              <a:t> </a:t>
            </a:r>
            <a:r>
              <a:rPr lang="en-US" b="0" i="0" dirty="0" err="1">
                <a:solidFill>
                  <a:srgbClr val="0A0A0A"/>
                </a:solidFill>
                <a:effectLst/>
                <a:latin typeface="Muli"/>
              </a:rPr>
              <a:t>đó</a:t>
            </a:r>
            <a:r>
              <a:rPr lang="en-US" b="0" i="0" dirty="0">
                <a:solidFill>
                  <a:srgbClr val="0A0A0A"/>
                </a:solidFill>
                <a:effectLst/>
                <a:latin typeface="Muli"/>
              </a:rPr>
              <a:t> </a:t>
            </a:r>
            <a:r>
              <a:rPr lang="en-US" b="0" i="0" dirty="0" err="1">
                <a:solidFill>
                  <a:srgbClr val="0A0A0A"/>
                </a:solidFill>
                <a:effectLst/>
                <a:latin typeface="Muli"/>
              </a:rPr>
              <a:t>để</a:t>
            </a:r>
            <a:r>
              <a:rPr lang="en-US" b="0" i="0" dirty="0">
                <a:solidFill>
                  <a:srgbClr val="0A0A0A"/>
                </a:solidFill>
                <a:effectLst/>
                <a:latin typeface="Muli"/>
              </a:rPr>
              <a:t> </a:t>
            </a:r>
            <a:r>
              <a:rPr lang="en-US" b="0" i="0" dirty="0" err="1">
                <a:solidFill>
                  <a:srgbClr val="0A0A0A"/>
                </a:solidFill>
                <a:effectLst/>
                <a:latin typeface="Muli"/>
              </a:rPr>
              <a:t>tính</a:t>
            </a:r>
            <a:r>
              <a:rPr lang="en-US" b="0" i="0" dirty="0">
                <a:solidFill>
                  <a:srgbClr val="0A0A0A"/>
                </a:solidFill>
                <a:effectLst/>
                <a:latin typeface="Muli"/>
              </a:rPr>
              <a:t> </a:t>
            </a:r>
            <a:r>
              <a:rPr lang="en-US" b="0" i="0" dirty="0" err="1">
                <a:solidFill>
                  <a:srgbClr val="0A0A0A"/>
                </a:solidFill>
                <a:effectLst/>
                <a:latin typeface="Muli"/>
              </a:rPr>
              <a:t>toán</a:t>
            </a:r>
            <a:r>
              <a:rPr lang="en-US" b="0" i="0" dirty="0">
                <a:solidFill>
                  <a:srgbClr val="0A0A0A"/>
                </a:solidFill>
                <a:effectLst/>
                <a:latin typeface="Muli"/>
              </a:rPr>
              <a:t>. </a:t>
            </a:r>
            <a:r>
              <a:rPr lang="en-US" b="0" i="0" dirty="0" err="1">
                <a:solidFill>
                  <a:srgbClr val="0A0A0A"/>
                </a:solidFill>
                <a:effectLst/>
                <a:latin typeface="Muli"/>
              </a:rPr>
              <a:t>Thế</a:t>
            </a:r>
            <a:r>
              <a:rPr lang="en-US" b="0" i="0" dirty="0">
                <a:solidFill>
                  <a:srgbClr val="0A0A0A"/>
                </a:solidFill>
                <a:effectLst/>
                <a:latin typeface="Muli"/>
              </a:rPr>
              <a:t> </a:t>
            </a:r>
            <a:r>
              <a:rPr lang="en-US" b="0" i="0" dirty="0" err="1">
                <a:solidFill>
                  <a:srgbClr val="0A0A0A"/>
                </a:solidFill>
                <a:effectLst/>
                <a:latin typeface="Muli"/>
              </a:rPr>
              <a:t>nên</a:t>
            </a:r>
            <a:r>
              <a:rPr lang="en-US" b="0" i="0" dirty="0">
                <a:solidFill>
                  <a:srgbClr val="0A0A0A"/>
                </a:solidFill>
                <a:effectLst/>
                <a:latin typeface="Muli"/>
              </a:rPr>
              <a:t>, </a:t>
            </a:r>
            <a:r>
              <a:rPr lang="en-US" b="0" i="0" dirty="0" err="1">
                <a:solidFill>
                  <a:srgbClr val="0A0A0A"/>
                </a:solidFill>
                <a:effectLst/>
                <a:latin typeface="Muli"/>
              </a:rPr>
              <a:t>khi</a:t>
            </a:r>
            <a:r>
              <a:rPr lang="en-US" b="0" i="0" dirty="0">
                <a:solidFill>
                  <a:srgbClr val="0A0A0A"/>
                </a:solidFill>
                <a:effectLst/>
                <a:latin typeface="Muli"/>
              </a:rPr>
              <a:t> </a:t>
            </a:r>
            <a:r>
              <a:rPr lang="en-US" b="0" i="0" dirty="0" err="1">
                <a:solidFill>
                  <a:srgbClr val="0A0A0A"/>
                </a:solidFill>
                <a:effectLst/>
                <a:latin typeface="Muli"/>
              </a:rPr>
              <a:t>chúng</a:t>
            </a:r>
            <a:r>
              <a:rPr lang="en-US" b="0" i="0" dirty="0">
                <a:solidFill>
                  <a:srgbClr val="0A0A0A"/>
                </a:solidFill>
                <a:effectLst/>
                <a:latin typeface="Muli"/>
              </a:rPr>
              <a:t> ta </a:t>
            </a:r>
            <a:r>
              <a:rPr lang="en-US" b="0" i="0" dirty="0" err="1">
                <a:solidFill>
                  <a:srgbClr val="0A0A0A"/>
                </a:solidFill>
                <a:effectLst/>
                <a:latin typeface="Muli"/>
              </a:rPr>
              <a:t>thay</a:t>
            </a:r>
            <a:r>
              <a:rPr lang="en-US" b="0" i="0" dirty="0">
                <a:solidFill>
                  <a:srgbClr val="0A0A0A"/>
                </a:solidFill>
                <a:effectLst/>
                <a:latin typeface="Muli"/>
              </a:rPr>
              <a:t> </a:t>
            </a:r>
            <a:r>
              <a:rPr lang="en-US" b="0" i="0" dirty="0" err="1">
                <a:solidFill>
                  <a:srgbClr val="0A0A0A"/>
                </a:solidFill>
                <a:effectLst/>
                <a:latin typeface="Muli"/>
              </a:rPr>
              <a:t>đổi</a:t>
            </a:r>
            <a:r>
              <a:rPr lang="en-US" b="0" i="0" dirty="0">
                <a:solidFill>
                  <a:srgbClr val="0A0A0A"/>
                </a:solidFill>
                <a:effectLst/>
                <a:latin typeface="Muli"/>
              </a:rPr>
              <a:t> </a:t>
            </a:r>
            <a:r>
              <a:rPr lang="en-US" b="0" i="0" dirty="0" err="1">
                <a:solidFill>
                  <a:srgbClr val="0A0A0A"/>
                </a:solidFill>
                <a:effectLst/>
                <a:latin typeface="Muli"/>
              </a:rPr>
              <a:t>giá</a:t>
            </a:r>
            <a:r>
              <a:rPr lang="en-US" b="0" i="0" dirty="0">
                <a:solidFill>
                  <a:srgbClr val="0A0A0A"/>
                </a:solidFill>
                <a:effectLst/>
                <a:latin typeface="Muli"/>
              </a:rPr>
              <a:t> </a:t>
            </a:r>
            <a:r>
              <a:rPr lang="en-US" b="0" i="0" dirty="0" err="1">
                <a:solidFill>
                  <a:srgbClr val="0A0A0A"/>
                </a:solidFill>
                <a:effectLst/>
                <a:latin typeface="Muli"/>
              </a:rPr>
              <a:t>trị</a:t>
            </a:r>
            <a:r>
              <a:rPr lang="en-US" b="0" i="0" dirty="0">
                <a:solidFill>
                  <a:srgbClr val="0A0A0A"/>
                </a:solidFill>
                <a:effectLst/>
                <a:latin typeface="Muli"/>
              </a:rPr>
              <a:t> </a:t>
            </a:r>
            <a:r>
              <a:rPr lang="en-US" b="0" i="0" dirty="0" err="1">
                <a:solidFill>
                  <a:srgbClr val="0A0A0A"/>
                </a:solidFill>
                <a:effectLst/>
                <a:latin typeface="Muli"/>
              </a:rPr>
              <a:t>của</a:t>
            </a:r>
            <a:r>
              <a:rPr lang="en-US" b="0" i="0" dirty="0">
                <a:solidFill>
                  <a:srgbClr val="0A0A0A"/>
                </a:solidFill>
                <a:effectLst/>
                <a:latin typeface="Muli"/>
              </a:rPr>
              <a:t> x, </a:t>
            </a:r>
            <a:r>
              <a:rPr lang="en-US" b="0" i="0" dirty="0" err="1">
                <a:solidFill>
                  <a:srgbClr val="0A0A0A"/>
                </a:solidFill>
                <a:effectLst/>
                <a:latin typeface="Muli"/>
              </a:rPr>
              <a:t>giá</a:t>
            </a:r>
            <a:r>
              <a:rPr lang="en-US" b="0" i="0" dirty="0">
                <a:solidFill>
                  <a:srgbClr val="0A0A0A"/>
                </a:solidFill>
                <a:effectLst/>
                <a:latin typeface="Muli"/>
              </a:rPr>
              <a:t> </a:t>
            </a:r>
            <a:r>
              <a:rPr lang="en-US" b="0" i="0" dirty="0" err="1">
                <a:solidFill>
                  <a:srgbClr val="0A0A0A"/>
                </a:solidFill>
                <a:effectLst/>
                <a:latin typeface="Muli"/>
              </a:rPr>
              <a:t>trị</a:t>
            </a:r>
            <a:r>
              <a:rPr lang="en-US" b="0" i="0" dirty="0">
                <a:solidFill>
                  <a:srgbClr val="0A0A0A"/>
                </a:solidFill>
                <a:effectLst/>
                <a:latin typeface="Muli"/>
              </a:rPr>
              <a:t> </a:t>
            </a:r>
            <a:r>
              <a:rPr lang="en-US" b="0" i="0" dirty="0" err="1">
                <a:solidFill>
                  <a:srgbClr val="0A0A0A"/>
                </a:solidFill>
                <a:effectLst/>
                <a:latin typeface="Muli"/>
              </a:rPr>
              <a:t>của</a:t>
            </a:r>
            <a:r>
              <a:rPr lang="en-US" b="0" i="0" dirty="0">
                <a:solidFill>
                  <a:srgbClr val="0A0A0A"/>
                </a:solidFill>
                <a:effectLst/>
                <a:latin typeface="Muli"/>
              </a:rPr>
              <a:t> a </a:t>
            </a:r>
            <a:r>
              <a:rPr lang="en-US" b="0" i="0" dirty="0" err="1">
                <a:solidFill>
                  <a:srgbClr val="0A0A0A"/>
                </a:solidFill>
                <a:effectLst/>
                <a:latin typeface="Muli"/>
              </a:rPr>
              <a:t>không</a:t>
            </a:r>
            <a:r>
              <a:rPr lang="en-US" b="0" i="0" dirty="0">
                <a:solidFill>
                  <a:srgbClr val="0A0A0A"/>
                </a:solidFill>
                <a:effectLst/>
                <a:latin typeface="Muli"/>
              </a:rPr>
              <a:t> </a:t>
            </a:r>
            <a:r>
              <a:rPr lang="en-US" b="0" i="0" dirty="0" err="1">
                <a:solidFill>
                  <a:srgbClr val="0A0A0A"/>
                </a:solidFill>
                <a:effectLst/>
                <a:latin typeface="Muli"/>
              </a:rPr>
              <a:t>thay</a:t>
            </a:r>
            <a:r>
              <a:rPr lang="en-US" b="0" i="0" dirty="0">
                <a:solidFill>
                  <a:srgbClr val="0A0A0A"/>
                </a:solidFill>
                <a:effectLst/>
                <a:latin typeface="Muli"/>
              </a:rPr>
              <a:t> </a:t>
            </a:r>
            <a:r>
              <a:rPr lang="en-US" b="0" i="0" dirty="0" err="1">
                <a:solidFill>
                  <a:srgbClr val="0A0A0A"/>
                </a:solidFill>
                <a:effectLst/>
                <a:latin typeface="Muli"/>
              </a:rPr>
              <a:t>đổi</a:t>
            </a:r>
            <a:endParaRPr lang="en-US" b="0" i="0" dirty="0">
              <a:solidFill>
                <a:srgbClr val="0A0A0A"/>
              </a:solidFill>
              <a:effectLst/>
              <a:latin typeface="Muli"/>
            </a:endParaRPr>
          </a:p>
          <a:p>
            <a:r>
              <a:rPr lang="vi-VN" dirty="0"/>
              <a:t>https://khuenguyencreator.com/truyen-tham-chieu-truyen-tham-tri-truyen-con-tro/</a:t>
            </a:r>
          </a:p>
        </p:txBody>
      </p:sp>
      <p:sp>
        <p:nvSpPr>
          <p:cNvPr id="4" name="Slide Number Placeholder 3"/>
          <p:cNvSpPr>
            <a:spLocks noGrp="1"/>
          </p:cNvSpPr>
          <p:nvPr>
            <p:ph type="sldNum" sz="quarter" idx="10"/>
          </p:nvPr>
        </p:nvSpPr>
        <p:spPr/>
        <p:txBody>
          <a:bodyPr/>
          <a:lstStyle/>
          <a:p>
            <a:fld id="{EEA7600A-770C-47F1-89C1-5023B6D362E3}" type="slidenum">
              <a:rPr lang="vi-VN" smtClean="0"/>
              <a:t>23</a:t>
            </a:fld>
            <a:endParaRPr lang="vi-VN"/>
          </a:p>
        </p:txBody>
      </p:sp>
    </p:spTree>
    <p:extLst>
      <p:ext uri="{BB962C8B-B14F-4D97-AF65-F5344CB8AC3E}">
        <p14:creationId xmlns:p14="http://schemas.microsoft.com/office/powerpoint/2010/main" val="4032587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0A0A0A"/>
                </a:solidFill>
                <a:effectLst/>
                <a:latin typeface="Muli"/>
              </a:rPr>
              <a:t>Khi truyền biến a vào &amp;x tức là a và x sẽ dùng chung địa chỉ. Mỗi khi thay đổi giá trị trên a hoặc x, thì giá trị của biến kia cũng thay đổi theo. Điều này giống việc một địa chỉ có 2 người thuê nhà. Bạn có thể truy vấn bằng tên người này hoặc người kia đều được.</a:t>
            </a:r>
            <a:endParaRPr lang="vi-VN" dirty="0"/>
          </a:p>
        </p:txBody>
      </p:sp>
      <p:sp>
        <p:nvSpPr>
          <p:cNvPr id="4" name="Slide Number Placeholder 3"/>
          <p:cNvSpPr>
            <a:spLocks noGrp="1"/>
          </p:cNvSpPr>
          <p:nvPr>
            <p:ph type="sldNum" sz="quarter" idx="10"/>
          </p:nvPr>
        </p:nvSpPr>
        <p:spPr/>
        <p:txBody>
          <a:bodyPr/>
          <a:lstStyle/>
          <a:p>
            <a:fld id="{EEA7600A-770C-47F1-89C1-5023B6D362E3}" type="slidenum">
              <a:rPr lang="vi-VN" smtClean="0"/>
              <a:t>24</a:t>
            </a:fld>
            <a:endParaRPr lang="vi-VN"/>
          </a:p>
        </p:txBody>
      </p:sp>
    </p:spTree>
    <p:extLst>
      <p:ext uri="{BB962C8B-B14F-4D97-AF65-F5344CB8AC3E}">
        <p14:creationId xmlns:p14="http://schemas.microsoft.com/office/powerpoint/2010/main" val="3822654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A0A0A"/>
                </a:solidFill>
                <a:effectLst/>
                <a:latin typeface="Muli"/>
              </a:rPr>
              <a:t> Khi </a:t>
            </a:r>
            <a:r>
              <a:rPr lang="en-US" b="0" i="0" dirty="0" err="1">
                <a:solidFill>
                  <a:srgbClr val="0A0A0A"/>
                </a:solidFill>
                <a:effectLst/>
                <a:latin typeface="Muli"/>
              </a:rPr>
              <a:t>truyền</a:t>
            </a:r>
            <a:r>
              <a:rPr lang="en-US" b="0" i="0" dirty="0">
                <a:solidFill>
                  <a:srgbClr val="0A0A0A"/>
                </a:solidFill>
                <a:effectLst/>
                <a:latin typeface="Muli"/>
              </a:rPr>
              <a:t> </a:t>
            </a:r>
            <a:r>
              <a:rPr lang="en-US" b="0" i="0" dirty="0" err="1">
                <a:solidFill>
                  <a:srgbClr val="0A0A0A"/>
                </a:solidFill>
                <a:effectLst/>
                <a:latin typeface="Muli"/>
              </a:rPr>
              <a:t>địa</a:t>
            </a:r>
            <a:r>
              <a:rPr lang="en-US" b="0" i="0" dirty="0">
                <a:solidFill>
                  <a:srgbClr val="0A0A0A"/>
                </a:solidFill>
                <a:effectLst/>
                <a:latin typeface="Muli"/>
              </a:rPr>
              <a:t> </a:t>
            </a:r>
            <a:r>
              <a:rPr lang="en-US" b="0" i="0" dirty="0" err="1">
                <a:solidFill>
                  <a:srgbClr val="0A0A0A"/>
                </a:solidFill>
                <a:effectLst/>
                <a:latin typeface="Muli"/>
              </a:rPr>
              <a:t>chỉ</a:t>
            </a:r>
            <a:r>
              <a:rPr lang="en-US" b="0" i="0" dirty="0">
                <a:solidFill>
                  <a:srgbClr val="0A0A0A"/>
                </a:solidFill>
                <a:effectLst/>
                <a:latin typeface="Muli"/>
              </a:rPr>
              <a:t> &amp;a </a:t>
            </a:r>
            <a:r>
              <a:rPr lang="en-US" b="0" i="0" dirty="0" err="1">
                <a:solidFill>
                  <a:srgbClr val="0A0A0A"/>
                </a:solidFill>
                <a:effectLst/>
                <a:latin typeface="Muli"/>
              </a:rPr>
              <a:t>vào</a:t>
            </a:r>
            <a:r>
              <a:rPr lang="en-US" b="0" i="0" dirty="0">
                <a:solidFill>
                  <a:srgbClr val="0A0A0A"/>
                </a:solidFill>
                <a:effectLst/>
                <a:latin typeface="Muli"/>
              </a:rPr>
              <a:t> </a:t>
            </a:r>
            <a:r>
              <a:rPr lang="en-US" b="0" i="0" dirty="0" err="1">
                <a:solidFill>
                  <a:srgbClr val="0A0A0A"/>
                </a:solidFill>
                <a:effectLst/>
                <a:latin typeface="Muli"/>
              </a:rPr>
              <a:t>biến</a:t>
            </a:r>
            <a:r>
              <a:rPr lang="en-US" b="0" i="0" dirty="0">
                <a:solidFill>
                  <a:srgbClr val="0A0A0A"/>
                </a:solidFill>
                <a:effectLst/>
                <a:latin typeface="Muli"/>
              </a:rPr>
              <a:t> con </a:t>
            </a:r>
            <a:r>
              <a:rPr lang="en-US" b="0" i="0" dirty="0" err="1">
                <a:solidFill>
                  <a:srgbClr val="0A0A0A"/>
                </a:solidFill>
                <a:effectLst/>
                <a:latin typeface="Muli"/>
              </a:rPr>
              <a:t>trỏ</a:t>
            </a:r>
            <a:r>
              <a:rPr lang="en-US" b="0" i="0" dirty="0">
                <a:solidFill>
                  <a:srgbClr val="0A0A0A"/>
                </a:solidFill>
                <a:effectLst/>
                <a:latin typeface="Muli"/>
              </a:rPr>
              <a:t> *</a:t>
            </a:r>
            <a:r>
              <a:rPr lang="en-US" b="0" i="0" dirty="0" err="1">
                <a:solidFill>
                  <a:srgbClr val="0A0A0A"/>
                </a:solidFill>
                <a:effectLst/>
                <a:latin typeface="Muli"/>
              </a:rPr>
              <a:t>contro</a:t>
            </a:r>
            <a:r>
              <a:rPr lang="en-US" b="0" i="0" dirty="0">
                <a:solidFill>
                  <a:srgbClr val="0A0A0A"/>
                </a:solidFill>
                <a:effectLst/>
                <a:latin typeface="Muli"/>
              </a:rPr>
              <a:t>. </a:t>
            </a:r>
            <a:r>
              <a:rPr lang="en-US" b="0" i="0" dirty="0" err="1">
                <a:solidFill>
                  <a:srgbClr val="0A0A0A"/>
                </a:solidFill>
                <a:effectLst/>
                <a:latin typeface="Muli"/>
              </a:rPr>
              <a:t>Nghĩa</a:t>
            </a:r>
            <a:r>
              <a:rPr lang="en-US" b="0" i="0" dirty="0">
                <a:solidFill>
                  <a:srgbClr val="0A0A0A"/>
                </a:solidFill>
                <a:effectLst/>
                <a:latin typeface="Muli"/>
              </a:rPr>
              <a:t> là </a:t>
            </a:r>
            <a:r>
              <a:rPr lang="en-US" b="0" i="0" dirty="0" err="1">
                <a:solidFill>
                  <a:srgbClr val="0A0A0A"/>
                </a:solidFill>
                <a:effectLst/>
                <a:latin typeface="Muli"/>
              </a:rPr>
              <a:t>chúng</a:t>
            </a:r>
            <a:r>
              <a:rPr lang="en-US" b="0" i="0" dirty="0">
                <a:solidFill>
                  <a:srgbClr val="0A0A0A"/>
                </a:solidFill>
                <a:effectLst/>
                <a:latin typeface="Muli"/>
              </a:rPr>
              <a:t> ta </a:t>
            </a:r>
            <a:r>
              <a:rPr lang="en-US" b="0" i="0" dirty="0" err="1">
                <a:solidFill>
                  <a:srgbClr val="0A0A0A"/>
                </a:solidFill>
                <a:effectLst/>
                <a:latin typeface="Muli"/>
              </a:rPr>
              <a:t>gán</a:t>
            </a:r>
            <a:r>
              <a:rPr lang="en-US" b="0" i="0" dirty="0">
                <a:solidFill>
                  <a:srgbClr val="0A0A0A"/>
                </a:solidFill>
                <a:effectLst/>
                <a:latin typeface="Muli"/>
              </a:rPr>
              <a:t> </a:t>
            </a:r>
            <a:r>
              <a:rPr lang="en-US" b="0" i="0" dirty="0" err="1">
                <a:solidFill>
                  <a:srgbClr val="0A0A0A"/>
                </a:solidFill>
                <a:effectLst/>
                <a:latin typeface="Muli"/>
              </a:rPr>
              <a:t>địa</a:t>
            </a:r>
            <a:r>
              <a:rPr lang="en-US" b="0" i="0" dirty="0">
                <a:solidFill>
                  <a:srgbClr val="0A0A0A"/>
                </a:solidFill>
                <a:effectLst/>
                <a:latin typeface="Muli"/>
              </a:rPr>
              <a:t> </a:t>
            </a:r>
            <a:r>
              <a:rPr lang="en-US" b="0" i="0" dirty="0" err="1">
                <a:solidFill>
                  <a:srgbClr val="0A0A0A"/>
                </a:solidFill>
                <a:effectLst/>
                <a:latin typeface="Muli"/>
              </a:rPr>
              <a:t>chỉ</a:t>
            </a:r>
            <a:r>
              <a:rPr lang="en-US" b="0" i="0" dirty="0">
                <a:solidFill>
                  <a:srgbClr val="0A0A0A"/>
                </a:solidFill>
                <a:effectLst/>
                <a:latin typeface="Muli"/>
              </a:rPr>
              <a:t> </a:t>
            </a:r>
            <a:r>
              <a:rPr lang="en-US" b="0" i="0" dirty="0" err="1">
                <a:solidFill>
                  <a:srgbClr val="0A0A0A"/>
                </a:solidFill>
                <a:effectLst/>
                <a:latin typeface="Muli"/>
              </a:rPr>
              <a:t>của</a:t>
            </a:r>
            <a:r>
              <a:rPr lang="en-US" b="0" i="0" dirty="0">
                <a:solidFill>
                  <a:srgbClr val="0A0A0A"/>
                </a:solidFill>
                <a:effectLst/>
                <a:latin typeface="Muli"/>
              </a:rPr>
              <a:t> </a:t>
            </a:r>
            <a:r>
              <a:rPr lang="en-US" b="0" i="0" dirty="0" err="1">
                <a:solidFill>
                  <a:srgbClr val="0A0A0A"/>
                </a:solidFill>
                <a:effectLst/>
                <a:latin typeface="Muli"/>
              </a:rPr>
              <a:t>biến</a:t>
            </a:r>
            <a:r>
              <a:rPr lang="en-US" b="0" i="0" dirty="0">
                <a:solidFill>
                  <a:srgbClr val="0A0A0A"/>
                </a:solidFill>
                <a:effectLst/>
                <a:latin typeface="Muli"/>
              </a:rPr>
              <a:t> a </a:t>
            </a:r>
            <a:r>
              <a:rPr lang="en-US" b="0" i="0" dirty="0" err="1">
                <a:solidFill>
                  <a:srgbClr val="0A0A0A"/>
                </a:solidFill>
                <a:effectLst/>
                <a:latin typeface="Muli"/>
              </a:rPr>
              <a:t>cho</a:t>
            </a:r>
            <a:r>
              <a:rPr lang="en-US" b="0" i="0" dirty="0">
                <a:solidFill>
                  <a:srgbClr val="0A0A0A"/>
                </a:solidFill>
                <a:effectLst/>
                <a:latin typeface="Muli"/>
              </a:rPr>
              <a:t> </a:t>
            </a:r>
            <a:r>
              <a:rPr lang="en-US" b="0" i="0" dirty="0" err="1">
                <a:solidFill>
                  <a:srgbClr val="0A0A0A"/>
                </a:solidFill>
                <a:effectLst/>
                <a:latin typeface="Muli"/>
              </a:rPr>
              <a:t>contro</a:t>
            </a:r>
            <a:r>
              <a:rPr lang="en-US" b="0" i="0" dirty="0">
                <a:solidFill>
                  <a:srgbClr val="0A0A0A"/>
                </a:solidFill>
                <a:effectLst/>
                <a:latin typeface="Muli"/>
              </a:rPr>
              <a:t>. </a:t>
            </a:r>
            <a:r>
              <a:rPr lang="en-US" b="0" i="0" dirty="0" err="1">
                <a:solidFill>
                  <a:srgbClr val="0A0A0A"/>
                </a:solidFill>
                <a:effectLst/>
                <a:latin typeface="Muli"/>
              </a:rPr>
              <a:t>Mỗi</a:t>
            </a:r>
            <a:r>
              <a:rPr lang="en-US" b="0" i="0" dirty="0">
                <a:solidFill>
                  <a:srgbClr val="0A0A0A"/>
                </a:solidFill>
                <a:effectLst/>
                <a:latin typeface="Muli"/>
              </a:rPr>
              <a:t> </a:t>
            </a:r>
            <a:r>
              <a:rPr lang="en-US" b="0" i="0" dirty="0" err="1">
                <a:solidFill>
                  <a:srgbClr val="0A0A0A"/>
                </a:solidFill>
                <a:effectLst/>
                <a:latin typeface="Muli"/>
              </a:rPr>
              <a:t>khi</a:t>
            </a:r>
            <a:r>
              <a:rPr lang="en-US" b="0" i="0" dirty="0">
                <a:solidFill>
                  <a:srgbClr val="0A0A0A"/>
                </a:solidFill>
                <a:effectLst/>
                <a:latin typeface="Muli"/>
              </a:rPr>
              <a:t> </a:t>
            </a:r>
            <a:r>
              <a:rPr lang="en-US" b="0" i="0" dirty="0" err="1">
                <a:solidFill>
                  <a:srgbClr val="0A0A0A"/>
                </a:solidFill>
                <a:effectLst/>
                <a:latin typeface="Muli"/>
              </a:rPr>
              <a:t>thay</a:t>
            </a:r>
            <a:r>
              <a:rPr lang="en-US" b="0" i="0" dirty="0">
                <a:solidFill>
                  <a:srgbClr val="0A0A0A"/>
                </a:solidFill>
                <a:effectLst/>
                <a:latin typeface="Muli"/>
              </a:rPr>
              <a:t> </a:t>
            </a:r>
            <a:r>
              <a:rPr lang="en-US" b="0" i="0" dirty="0" err="1">
                <a:solidFill>
                  <a:srgbClr val="0A0A0A"/>
                </a:solidFill>
                <a:effectLst/>
                <a:latin typeface="Muli"/>
              </a:rPr>
              <a:t>đổi</a:t>
            </a:r>
            <a:r>
              <a:rPr lang="en-US" b="0" i="0" dirty="0">
                <a:solidFill>
                  <a:srgbClr val="0A0A0A"/>
                </a:solidFill>
                <a:effectLst/>
                <a:latin typeface="Muli"/>
              </a:rPr>
              <a:t> </a:t>
            </a:r>
            <a:r>
              <a:rPr lang="en-US" b="0" i="0" dirty="0" err="1">
                <a:solidFill>
                  <a:srgbClr val="0A0A0A"/>
                </a:solidFill>
                <a:effectLst/>
                <a:latin typeface="Muli"/>
              </a:rPr>
              <a:t>giá</a:t>
            </a:r>
            <a:r>
              <a:rPr lang="en-US" b="0" i="0" dirty="0">
                <a:solidFill>
                  <a:srgbClr val="0A0A0A"/>
                </a:solidFill>
                <a:effectLst/>
                <a:latin typeface="Muli"/>
              </a:rPr>
              <a:t> </a:t>
            </a:r>
            <a:r>
              <a:rPr lang="en-US" b="0" i="0" dirty="0" err="1">
                <a:solidFill>
                  <a:srgbClr val="0A0A0A"/>
                </a:solidFill>
                <a:effectLst/>
                <a:latin typeface="Muli"/>
              </a:rPr>
              <a:t>trị</a:t>
            </a:r>
            <a:r>
              <a:rPr lang="en-US" b="0" i="0" dirty="0">
                <a:solidFill>
                  <a:srgbClr val="0A0A0A"/>
                </a:solidFill>
                <a:effectLst/>
                <a:latin typeface="Muli"/>
              </a:rPr>
              <a:t> con </a:t>
            </a:r>
            <a:r>
              <a:rPr lang="en-US" b="0" i="0" dirty="0" err="1">
                <a:solidFill>
                  <a:srgbClr val="0A0A0A"/>
                </a:solidFill>
                <a:effectLst/>
                <a:latin typeface="Muli"/>
              </a:rPr>
              <a:t>trỏ</a:t>
            </a:r>
            <a:r>
              <a:rPr lang="en-US" b="0" i="0" dirty="0">
                <a:solidFill>
                  <a:srgbClr val="0A0A0A"/>
                </a:solidFill>
                <a:effectLst/>
                <a:latin typeface="Muli"/>
              </a:rPr>
              <a:t> </a:t>
            </a:r>
            <a:r>
              <a:rPr lang="en-US" b="0" i="0" dirty="0" err="1">
                <a:solidFill>
                  <a:srgbClr val="0A0A0A"/>
                </a:solidFill>
                <a:effectLst/>
                <a:latin typeface="Muli"/>
              </a:rPr>
              <a:t>trỏ</a:t>
            </a:r>
            <a:r>
              <a:rPr lang="en-US" b="0" i="0" dirty="0">
                <a:solidFill>
                  <a:srgbClr val="0A0A0A"/>
                </a:solidFill>
                <a:effectLst/>
                <a:latin typeface="Muli"/>
              </a:rPr>
              <a:t> </a:t>
            </a:r>
            <a:r>
              <a:rPr lang="en-US" b="0" i="0" dirty="0" err="1">
                <a:solidFill>
                  <a:srgbClr val="0A0A0A"/>
                </a:solidFill>
                <a:effectLst/>
                <a:latin typeface="Muli"/>
              </a:rPr>
              <a:t>tới</a:t>
            </a:r>
            <a:r>
              <a:rPr lang="en-US" b="0" i="0" dirty="0">
                <a:solidFill>
                  <a:srgbClr val="0A0A0A"/>
                </a:solidFill>
                <a:effectLst/>
                <a:latin typeface="Muli"/>
              </a:rPr>
              <a:t> </a:t>
            </a:r>
            <a:r>
              <a:rPr lang="en-US" b="0" i="0" dirty="0" err="1">
                <a:solidFill>
                  <a:srgbClr val="0A0A0A"/>
                </a:solidFill>
                <a:effectLst/>
                <a:latin typeface="Muli"/>
              </a:rPr>
              <a:t>bằng</a:t>
            </a:r>
            <a:r>
              <a:rPr lang="en-US" b="0" i="0" dirty="0">
                <a:solidFill>
                  <a:srgbClr val="0A0A0A"/>
                </a:solidFill>
                <a:effectLst/>
                <a:latin typeface="Muli"/>
              </a:rPr>
              <a:t> </a:t>
            </a:r>
            <a:r>
              <a:rPr lang="en-US" b="0" i="0" dirty="0" err="1">
                <a:solidFill>
                  <a:srgbClr val="0A0A0A"/>
                </a:solidFill>
                <a:effectLst/>
                <a:latin typeface="Muli"/>
              </a:rPr>
              <a:t>lệnh</a:t>
            </a:r>
            <a:r>
              <a:rPr lang="en-US" b="0" i="0" dirty="0">
                <a:solidFill>
                  <a:srgbClr val="0A0A0A"/>
                </a:solidFill>
                <a:effectLst/>
                <a:latin typeface="Muli"/>
              </a:rPr>
              <a:t> *</a:t>
            </a:r>
            <a:r>
              <a:rPr lang="en-US" b="0" i="0" dirty="0" err="1">
                <a:solidFill>
                  <a:srgbClr val="0A0A0A"/>
                </a:solidFill>
                <a:effectLst/>
                <a:latin typeface="Muli"/>
              </a:rPr>
              <a:t>contro</a:t>
            </a:r>
            <a:r>
              <a:rPr lang="en-US" b="0" i="0" dirty="0">
                <a:solidFill>
                  <a:srgbClr val="0A0A0A"/>
                </a:solidFill>
                <a:effectLst/>
                <a:latin typeface="Muli"/>
              </a:rPr>
              <a:t> = 20. Thì </a:t>
            </a:r>
            <a:r>
              <a:rPr lang="en-US" b="0" i="0" dirty="0" err="1">
                <a:solidFill>
                  <a:srgbClr val="0A0A0A"/>
                </a:solidFill>
                <a:effectLst/>
                <a:latin typeface="Muli"/>
              </a:rPr>
              <a:t>giá</a:t>
            </a:r>
            <a:r>
              <a:rPr lang="en-US" b="0" i="0" dirty="0">
                <a:solidFill>
                  <a:srgbClr val="0A0A0A"/>
                </a:solidFill>
                <a:effectLst/>
                <a:latin typeface="Muli"/>
              </a:rPr>
              <a:t> </a:t>
            </a:r>
            <a:r>
              <a:rPr lang="en-US" b="0" i="0" dirty="0" err="1">
                <a:solidFill>
                  <a:srgbClr val="0A0A0A"/>
                </a:solidFill>
                <a:effectLst/>
                <a:latin typeface="Muli"/>
              </a:rPr>
              <a:t>trị</a:t>
            </a:r>
            <a:r>
              <a:rPr lang="en-US" b="0" i="0" dirty="0">
                <a:solidFill>
                  <a:srgbClr val="0A0A0A"/>
                </a:solidFill>
                <a:effectLst/>
                <a:latin typeface="Muli"/>
              </a:rPr>
              <a:t> </a:t>
            </a:r>
            <a:r>
              <a:rPr lang="en-US" b="0" i="0" dirty="0" err="1">
                <a:solidFill>
                  <a:srgbClr val="0A0A0A"/>
                </a:solidFill>
                <a:effectLst/>
                <a:latin typeface="Muli"/>
              </a:rPr>
              <a:t>tại</a:t>
            </a:r>
            <a:r>
              <a:rPr lang="en-US" b="0" i="0" dirty="0">
                <a:solidFill>
                  <a:srgbClr val="0A0A0A"/>
                </a:solidFill>
                <a:effectLst/>
                <a:latin typeface="Muli"/>
              </a:rPr>
              <a:t> ô </a:t>
            </a:r>
            <a:r>
              <a:rPr lang="en-US" b="0" i="0" dirty="0" err="1">
                <a:solidFill>
                  <a:srgbClr val="0A0A0A"/>
                </a:solidFill>
                <a:effectLst/>
                <a:latin typeface="Muli"/>
              </a:rPr>
              <a:t>nhớ</a:t>
            </a:r>
            <a:r>
              <a:rPr lang="en-US" b="0" i="0" dirty="0">
                <a:solidFill>
                  <a:srgbClr val="0A0A0A"/>
                </a:solidFill>
                <a:effectLst/>
                <a:latin typeface="Muli"/>
              </a:rPr>
              <a:t> </a:t>
            </a:r>
            <a:r>
              <a:rPr lang="en-US" b="0" i="0" dirty="0" err="1">
                <a:solidFill>
                  <a:srgbClr val="0A0A0A"/>
                </a:solidFill>
                <a:effectLst/>
                <a:latin typeface="Muli"/>
              </a:rPr>
              <a:t>địa</a:t>
            </a:r>
            <a:r>
              <a:rPr lang="en-US" b="0" i="0" dirty="0">
                <a:solidFill>
                  <a:srgbClr val="0A0A0A"/>
                </a:solidFill>
                <a:effectLst/>
                <a:latin typeface="Muli"/>
              </a:rPr>
              <a:t> </a:t>
            </a:r>
            <a:r>
              <a:rPr lang="en-US" b="0" i="0" dirty="0" err="1">
                <a:solidFill>
                  <a:srgbClr val="0A0A0A"/>
                </a:solidFill>
                <a:effectLst/>
                <a:latin typeface="Muli"/>
              </a:rPr>
              <a:t>chỉ</a:t>
            </a:r>
            <a:r>
              <a:rPr lang="en-US" b="0" i="0" dirty="0">
                <a:solidFill>
                  <a:srgbClr val="0A0A0A"/>
                </a:solidFill>
                <a:effectLst/>
                <a:latin typeface="Muli"/>
              </a:rPr>
              <a:t> </a:t>
            </a:r>
            <a:r>
              <a:rPr lang="en-US" b="0" i="0" dirty="0" err="1">
                <a:solidFill>
                  <a:srgbClr val="0A0A0A"/>
                </a:solidFill>
                <a:effectLst/>
                <a:latin typeface="Muli"/>
              </a:rPr>
              <a:t>của</a:t>
            </a:r>
            <a:r>
              <a:rPr lang="en-US" b="0" i="0" dirty="0">
                <a:solidFill>
                  <a:srgbClr val="0A0A0A"/>
                </a:solidFill>
                <a:effectLst/>
                <a:latin typeface="Muli"/>
              </a:rPr>
              <a:t> a </a:t>
            </a:r>
            <a:r>
              <a:rPr lang="en-US" b="0" i="0" dirty="0" err="1">
                <a:solidFill>
                  <a:srgbClr val="0A0A0A"/>
                </a:solidFill>
                <a:effectLst/>
                <a:latin typeface="Muli"/>
              </a:rPr>
              <a:t>sẽ</a:t>
            </a:r>
            <a:r>
              <a:rPr lang="en-US" b="0" i="0" dirty="0">
                <a:solidFill>
                  <a:srgbClr val="0A0A0A"/>
                </a:solidFill>
                <a:effectLst/>
                <a:latin typeface="Muli"/>
              </a:rPr>
              <a:t> </a:t>
            </a:r>
            <a:r>
              <a:rPr lang="en-US" b="0" i="0" dirty="0" err="1">
                <a:solidFill>
                  <a:srgbClr val="0A0A0A"/>
                </a:solidFill>
                <a:effectLst/>
                <a:latin typeface="Muli"/>
              </a:rPr>
              <a:t>thay</a:t>
            </a:r>
            <a:r>
              <a:rPr lang="en-US" b="0" i="0" dirty="0">
                <a:solidFill>
                  <a:srgbClr val="0A0A0A"/>
                </a:solidFill>
                <a:effectLst/>
                <a:latin typeface="Muli"/>
              </a:rPr>
              <a:t> </a:t>
            </a:r>
            <a:r>
              <a:rPr lang="en-US" b="0" i="0" dirty="0" err="1">
                <a:solidFill>
                  <a:srgbClr val="0A0A0A"/>
                </a:solidFill>
                <a:effectLst/>
                <a:latin typeface="Muli"/>
              </a:rPr>
              <a:t>đổi</a:t>
            </a:r>
            <a:r>
              <a:rPr lang="en-US" b="0" i="0" dirty="0">
                <a:solidFill>
                  <a:srgbClr val="0A0A0A"/>
                </a:solidFill>
                <a:effectLst/>
                <a:latin typeface="Muli"/>
              </a:rPr>
              <a:t>, </a:t>
            </a:r>
            <a:r>
              <a:rPr lang="en-US" b="0" i="0" dirty="0" err="1">
                <a:solidFill>
                  <a:srgbClr val="0A0A0A"/>
                </a:solidFill>
                <a:effectLst/>
                <a:latin typeface="Muli"/>
              </a:rPr>
              <a:t>dẫn</a:t>
            </a:r>
            <a:r>
              <a:rPr lang="en-US" b="0" i="0" dirty="0">
                <a:solidFill>
                  <a:srgbClr val="0A0A0A"/>
                </a:solidFill>
                <a:effectLst/>
                <a:latin typeface="Muli"/>
              </a:rPr>
              <a:t> </a:t>
            </a:r>
            <a:r>
              <a:rPr lang="en-US" b="0" i="0" dirty="0" err="1">
                <a:solidFill>
                  <a:srgbClr val="0A0A0A"/>
                </a:solidFill>
                <a:effectLst/>
                <a:latin typeface="Muli"/>
              </a:rPr>
              <a:t>tới</a:t>
            </a:r>
            <a:r>
              <a:rPr lang="en-US" b="0" i="0" dirty="0">
                <a:solidFill>
                  <a:srgbClr val="0A0A0A"/>
                </a:solidFill>
                <a:effectLst/>
                <a:latin typeface="Muli"/>
              </a:rPr>
              <a:t> </a:t>
            </a:r>
            <a:r>
              <a:rPr lang="en-US" b="0" i="0" dirty="0" err="1">
                <a:solidFill>
                  <a:srgbClr val="0A0A0A"/>
                </a:solidFill>
                <a:effectLst/>
                <a:latin typeface="Muli"/>
              </a:rPr>
              <a:t>giá</a:t>
            </a:r>
            <a:r>
              <a:rPr lang="en-US" b="0" i="0" dirty="0">
                <a:solidFill>
                  <a:srgbClr val="0A0A0A"/>
                </a:solidFill>
                <a:effectLst/>
                <a:latin typeface="Muli"/>
              </a:rPr>
              <a:t> </a:t>
            </a:r>
            <a:r>
              <a:rPr lang="en-US" b="0" i="0" dirty="0" err="1">
                <a:solidFill>
                  <a:srgbClr val="0A0A0A"/>
                </a:solidFill>
                <a:effectLst/>
                <a:latin typeface="Muli"/>
              </a:rPr>
              <a:t>trị</a:t>
            </a:r>
            <a:r>
              <a:rPr lang="en-US" b="0" i="0" dirty="0">
                <a:solidFill>
                  <a:srgbClr val="0A0A0A"/>
                </a:solidFill>
                <a:effectLst/>
                <a:latin typeface="Muli"/>
              </a:rPr>
              <a:t> </a:t>
            </a:r>
            <a:r>
              <a:rPr lang="en-US" b="0" i="0" dirty="0" err="1">
                <a:solidFill>
                  <a:srgbClr val="0A0A0A"/>
                </a:solidFill>
                <a:effectLst/>
                <a:latin typeface="Muli"/>
              </a:rPr>
              <a:t>của</a:t>
            </a:r>
            <a:r>
              <a:rPr lang="en-US" b="0" i="0" dirty="0">
                <a:solidFill>
                  <a:srgbClr val="0A0A0A"/>
                </a:solidFill>
                <a:effectLst/>
                <a:latin typeface="Muli"/>
              </a:rPr>
              <a:t> a </a:t>
            </a:r>
            <a:r>
              <a:rPr lang="en-US" b="0" i="0" dirty="0" err="1">
                <a:solidFill>
                  <a:srgbClr val="0A0A0A"/>
                </a:solidFill>
                <a:effectLst/>
                <a:latin typeface="Muli"/>
              </a:rPr>
              <a:t>thay</a:t>
            </a:r>
            <a:r>
              <a:rPr lang="en-US" b="0" i="0" dirty="0">
                <a:solidFill>
                  <a:srgbClr val="0A0A0A"/>
                </a:solidFill>
                <a:effectLst/>
                <a:latin typeface="Muli"/>
              </a:rPr>
              <a:t> </a:t>
            </a:r>
            <a:r>
              <a:rPr lang="en-US" b="0" i="0" dirty="0" err="1">
                <a:solidFill>
                  <a:srgbClr val="0A0A0A"/>
                </a:solidFill>
                <a:effectLst/>
                <a:latin typeface="Muli"/>
              </a:rPr>
              <a:t>đổi</a:t>
            </a:r>
            <a:r>
              <a:rPr lang="en-US" b="0" i="0" dirty="0">
                <a:solidFill>
                  <a:srgbClr val="0A0A0A"/>
                </a:solidFill>
                <a:effectLst/>
                <a:latin typeface="Muli"/>
              </a:rPr>
              <a:t>.</a:t>
            </a:r>
            <a:endParaRPr lang="vi-VN" dirty="0"/>
          </a:p>
        </p:txBody>
      </p:sp>
      <p:sp>
        <p:nvSpPr>
          <p:cNvPr id="4" name="Slide Number Placeholder 3"/>
          <p:cNvSpPr>
            <a:spLocks noGrp="1"/>
          </p:cNvSpPr>
          <p:nvPr>
            <p:ph type="sldNum" sz="quarter" idx="10"/>
          </p:nvPr>
        </p:nvSpPr>
        <p:spPr/>
        <p:txBody>
          <a:bodyPr/>
          <a:lstStyle/>
          <a:p>
            <a:fld id="{EEA7600A-770C-47F1-89C1-5023B6D362E3}" type="slidenum">
              <a:rPr lang="vi-VN" smtClean="0"/>
              <a:t>25</a:t>
            </a:fld>
            <a:endParaRPr lang="vi-VN"/>
          </a:p>
        </p:txBody>
      </p:sp>
    </p:spTree>
    <p:extLst>
      <p:ext uri="{BB962C8B-B14F-4D97-AF65-F5344CB8AC3E}">
        <p14:creationId xmlns:p14="http://schemas.microsoft.com/office/powerpoint/2010/main" val="919444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2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6F37DD6-1071-4293-86C6-0655AD26C121}" type="slidenum">
              <a:rPr lang="en-US"/>
              <a:pPr/>
              <a:t>26</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p:spPr>
      </p:sp>
      <p:sp>
        <p:nvSpPr>
          <p:cNvPr id="64515"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45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B9665FF-CF41-4F0E-8833-151FAF863CCC}" type="slidenum">
              <a:rPr lang="en-US"/>
              <a:pPr/>
              <a:t>27</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p:spPr>
      </p:sp>
      <p:sp>
        <p:nvSpPr>
          <p:cNvPr id="67587"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75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7A3E74D-BC1E-41D6-995B-601281414434}" type="slidenum">
              <a:rPr lang="en-US"/>
              <a:pPr/>
              <a:t>28</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p:spPr>
      </p:sp>
      <p:sp>
        <p:nvSpPr>
          <p:cNvPr id="6861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vi-VN"/>
          </a:p>
        </p:txBody>
      </p:sp>
      <p:sp>
        <p:nvSpPr>
          <p:cNvPr id="686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5644C26-7A14-4E42-AF69-F59C0ECBB2F1}" type="slidenum">
              <a:rPr lang="en-US"/>
              <a:pPr/>
              <a:t>30</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41</a:t>
            </a:fld>
            <a:endParaRPr lang="vi-VN"/>
          </a:p>
        </p:txBody>
      </p:sp>
    </p:spTree>
    <p:extLst>
      <p:ext uri="{BB962C8B-B14F-4D97-AF65-F5344CB8AC3E}">
        <p14:creationId xmlns:p14="http://schemas.microsoft.com/office/powerpoint/2010/main" val="1709387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C(13,3) =&gt; so 13 </a:t>
            </a:r>
            <a:r>
              <a:rPr lang="en-US" dirty="0" err="1"/>
              <a:t>gtri</a:t>
            </a:r>
            <a:r>
              <a:rPr lang="en-US" dirty="0"/>
              <a:t> </a:t>
            </a:r>
            <a:r>
              <a:rPr lang="en-US" dirty="0" err="1"/>
              <a:t>lon</a:t>
            </a:r>
            <a:endParaRPr lang="en-US" dirty="0"/>
          </a:p>
          <a:p>
            <a:r>
              <a:rPr lang="en-US" dirty="0"/>
              <a:t>long </a:t>
            </a:r>
            <a:r>
              <a:rPr lang="en-US" dirty="0" err="1"/>
              <a:t>long</a:t>
            </a:r>
            <a:r>
              <a:rPr lang="en-US" dirty="0"/>
              <a:t> </a:t>
            </a:r>
            <a:r>
              <a:rPr lang="en-US" dirty="0" err="1"/>
              <a:t>gt</a:t>
            </a:r>
            <a:r>
              <a:rPr lang="en-US" dirty="0"/>
              <a:t>(int n)</a:t>
            </a:r>
          </a:p>
          <a:p>
            <a:r>
              <a:rPr lang="en-US" dirty="0"/>
              <a:t>{</a:t>
            </a:r>
          </a:p>
          <a:p>
            <a:r>
              <a:rPr lang="en-US" dirty="0"/>
              <a:t>	long </a:t>
            </a:r>
            <a:r>
              <a:rPr lang="en-US" dirty="0" err="1"/>
              <a:t>long</a:t>
            </a:r>
            <a:r>
              <a:rPr lang="en-US" dirty="0"/>
              <a:t> s;</a:t>
            </a:r>
          </a:p>
          <a:p>
            <a:r>
              <a:rPr lang="en-US" dirty="0"/>
              <a:t>	s=1;</a:t>
            </a:r>
          </a:p>
          <a:p>
            <a:r>
              <a:rPr lang="en-US" dirty="0"/>
              <a:t>	for(int </a:t>
            </a:r>
            <a:r>
              <a:rPr lang="en-US" dirty="0" err="1"/>
              <a:t>i</a:t>
            </a:r>
            <a:r>
              <a:rPr lang="en-US" dirty="0"/>
              <a:t>=1;i&lt;=</a:t>
            </a:r>
            <a:r>
              <a:rPr lang="en-US" dirty="0" err="1"/>
              <a:t>n;i</a:t>
            </a:r>
            <a:r>
              <a:rPr lang="en-US" dirty="0"/>
              <a:t>++)</a:t>
            </a:r>
          </a:p>
          <a:p>
            <a:r>
              <a:rPr lang="en-US" dirty="0"/>
              <a:t>	s=s*</a:t>
            </a:r>
            <a:r>
              <a:rPr lang="en-US" dirty="0" err="1"/>
              <a:t>i</a:t>
            </a:r>
            <a:r>
              <a:rPr lang="en-US" dirty="0"/>
              <a:t>;</a:t>
            </a:r>
          </a:p>
          <a:p>
            <a:r>
              <a:rPr lang="en-US" dirty="0"/>
              <a:t>	return s;</a:t>
            </a:r>
          </a:p>
          <a:p>
            <a:r>
              <a:rPr lang="en-US" dirty="0"/>
              <a:t>}</a:t>
            </a:r>
          </a:p>
          <a:p>
            <a:endParaRPr lang="en-US" dirty="0"/>
          </a:p>
          <a:p>
            <a:r>
              <a:rPr lang="en-US" dirty="0"/>
              <a:t>long </a:t>
            </a:r>
            <a:r>
              <a:rPr lang="en-US" dirty="0" err="1"/>
              <a:t>gt</a:t>
            </a:r>
            <a:r>
              <a:rPr lang="en-US" dirty="0"/>
              <a:t>(int n)</a:t>
            </a:r>
          </a:p>
          <a:p>
            <a:r>
              <a:rPr lang="en-US" dirty="0"/>
              <a:t>{</a:t>
            </a:r>
          </a:p>
          <a:p>
            <a:r>
              <a:rPr lang="en-US" dirty="0"/>
              <a:t>	long s=1;</a:t>
            </a:r>
          </a:p>
          <a:p>
            <a:r>
              <a:rPr lang="en-US" dirty="0"/>
              <a:t>	for(int </a:t>
            </a:r>
            <a:r>
              <a:rPr lang="en-US" dirty="0" err="1"/>
              <a:t>i</a:t>
            </a:r>
            <a:r>
              <a:rPr lang="en-US" dirty="0"/>
              <a:t>=1;i&lt;=</a:t>
            </a:r>
            <a:r>
              <a:rPr lang="en-US" dirty="0" err="1"/>
              <a:t>n;i</a:t>
            </a:r>
            <a:r>
              <a:rPr lang="en-US" dirty="0"/>
              <a:t>++)</a:t>
            </a:r>
          </a:p>
          <a:p>
            <a:r>
              <a:rPr lang="en-US" dirty="0"/>
              <a:t>	s=s*</a:t>
            </a:r>
            <a:r>
              <a:rPr lang="en-US" dirty="0" err="1"/>
              <a:t>i</a:t>
            </a:r>
            <a:r>
              <a:rPr lang="en-US" dirty="0"/>
              <a:t>;</a:t>
            </a:r>
          </a:p>
          <a:p>
            <a:r>
              <a:rPr lang="en-US" dirty="0"/>
              <a:t>	return s;</a:t>
            </a:r>
          </a:p>
          <a:p>
            <a:r>
              <a:rPr lang="en-US" dirty="0"/>
              <a:t>}</a:t>
            </a:r>
          </a:p>
          <a:p>
            <a:r>
              <a:rPr lang="en-US" dirty="0"/>
              <a:t>int main()</a:t>
            </a:r>
          </a:p>
          <a:p>
            <a:r>
              <a:rPr lang="en-US" dirty="0"/>
              <a:t>{</a:t>
            </a:r>
          </a:p>
          <a:p>
            <a:r>
              <a:rPr lang="en-US" dirty="0"/>
              <a:t>	int n;</a:t>
            </a:r>
          </a:p>
          <a:p>
            <a:r>
              <a:rPr lang="en-US" dirty="0"/>
              <a:t>	</a:t>
            </a:r>
            <a:r>
              <a:rPr lang="en-US" dirty="0" err="1"/>
              <a:t>printf</a:t>
            </a:r>
            <a:r>
              <a:rPr lang="en-US" dirty="0"/>
              <a:t>("</a:t>
            </a:r>
            <a:r>
              <a:rPr lang="en-US" dirty="0" err="1"/>
              <a:t>nhap</a:t>
            </a:r>
            <a:r>
              <a:rPr lang="en-US" dirty="0"/>
              <a:t> n=");</a:t>
            </a:r>
          </a:p>
          <a:p>
            <a:r>
              <a:rPr lang="en-US" dirty="0"/>
              <a:t>	</a:t>
            </a:r>
            <a:r>
              <a:rPr lang="en-US" dirty="0" err="1"/>
              <a:t>scanf</a:t>
            </a:r>
            <a:r>
              <a:rPr lang="en-US" dirty="0"/>
              <a:t>("%</a:t>
            </a:r>
            <a:r>
              <a:rPr lang="en-US" dirty="0" err="1"/>
              <a:t>d",&amp;n</a:t>
            </a:r>
            <a:r>
              <a:rPr lang="en-US" dirty="0"/>
              <a:t>);</a:t>
            </a:r>
          </a:p>
          <a:p>
            <a:r>
              <a:rPr lang="en-US" dirty="0"/>
              <a:t>	int k;</a:t>
            </a:r>
          </a:p>
          <a:p>
            <a:r>
              <a:rPr lang="en-US" dirty="0"/>
              <a:t>	</a:t>
            </a:r>
            <a:r>
              <a:rPr lang="en-US" dirty="0" err="1"/>
              <a:t>printf</a:t>
            </a:r>
            <a:r>
              <a:rPr lang="en-US" dirty="0"/>
              <a:t>("</a:t>
            </a:r>
            <a:r>
              <a:rPr lang="en-US" dirty="0" err="1"/>
              <a:t>nhap</a:t>
            </a:r>
            <a:r>
              <a:rPr lang="en-US" dirty="0"/>
              <a:t> k=");</a:t>
            </a:r>
          </a:p>
          <a:p>
            <a:r>
              <a:rPr lang="en-US" dirty="0"/>
              <a:t>	</a:t>
            </a:r>
            <a:r>
              <a:rPr lang="en-US" dirty="0" err="1"/>
              <a:t>scanf</a:t>
            </a:r>
            <a:r>
              <a:rPr lang="en-US" dirty="0"/>
              <a:t>("%</a:t>
            </a:r>
            <a:r>
              <a:rPr lang="en-US" dirty="0" err="1"/>
              <a:t>d",&amp;k</a:t>
            </a:r>
            <a:r>
              <a:rPr lang="en-US" dirty="0"/>
              <a:t>);</a:t>
            </a:r>
          </a:p>
          <a:p>
            <a:r>
              <a:rPr lang="en-US" dirty="0"/>
              <a:t>	float c;</a:t>
            </a:r>
          </a:p>
          <a:p>
            <a:r>
              <a:rPr lang="en-US" dirty="0"/>
              <a:t>	c=float(</a:t>
            </a:r>
            <a:r>
              <a:rPr lang="en-US" dirty="0" err="1"/>
              <a:t>gt</a:t>
            </a:r>
            <a:r>
              <a:rPr lang="en-US" dirty="0"/>
              <a:t>(n))/(</a:t>
            </a:r>
            <a:r>
              <a:rPr lang="en-US" dirty="0" err="1"/>
              <a:t>gt</a:t>
            </a:r>
            <a:r>
              <a:rPr lang="en-US" dirty="0"/>
              <a:t>(k)*</a:t>
            </a:r>
            <a:r>
              <a:rPr lang="en-US" dirty="0" err="1"/>
              <a:t>gt</a:t>
            </a:r>
            <a:r>
              <a:rPr lang="en-US" dirty="0"/>
              <a:t>(n-k));</a:t>
            </a:r>
          </a:p>
          <a:p>
            <a:r>
              <a:rPr lang="en-US" dirty="0"/>
              <a:t>	</a:t>
            </a:r>
            <a:r>
              <a:rPr lang="en-US" dirty="0" err="1"/>
              <a:t>printf</a:t>
            </a:r>
            <a:r>
              <a:rPr lang="en-US" dirty="0"/>
              <a:t>("Gia tri </a:t>
            </a:r>
            <a:r>
              <a:rPr lang="en-US" dirty="0" err="1"/>
              <a:t>Cnk</a:t>
            </a:r>
            <a:r>
              <a:rPr lang="en-US" dirty="0"/>
              <a:t> la %.2f",c);</a:t>
            </a:r>
          </a:p>
          <a:p>
            <a:r>
              <a:rPr lang="en-US"/>
              <a:t>}</a:t>
            </a:r>
          </a:p>
          <a:p>
            <a:endParaRPr lang="en-US" dirty="0"/>
          </a:p>
        </p:txBody>
      </p:sp>
      <p:sp>
        <p:nvSpPr>
          <p:cNvPr id="4" name="Slide Number Placeholder 3"/>
          <p:cNvSpPr>
            <a:spLocks noGrp="1"/>
          </p:cNvSpPr>
          <p:nvPr>
            <p:ph type="sldNum" sz="quarter" idx="5"/>
          </p:nvPr>
        </p:nvSpPr>
        <p:spPr/>
        <p:txBody>
          <a:bodyPr/>
          <a:lstStyle/>
          <a:p>
            <a:fld id="{EEA7600A-770C-47F1-89C1-5023B6D362E3}" type="slidenum">
              <a:rPr lang="vi-VN" smtClean="0"/>
              <a:t>42</a:t>
            </a:fld>
            <a:endParaRPr lang="vi-VN"/>
          </a:p>
        </p:txBody>
      </p:sp>
    </p:spTree>
    <p:extLst>
      <p:ext uri="{BB962C8B-B14F-4D97-AF65-F5344CB8AC3E}">
        <p14:creationId xmlns:p14="http://schemas.microsoft.com/office/powerpoint/2010/main" val="21886309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24"/>
          <p:cNvSpPr>
            <a:spLocks noChangeArrowheads="1"/>
          </p:cNvSpPr>
          <p:nvPr/>
        </p:nvSpPr>
        <p:spPr bwMode="auto">
          <a:xfrm>
            <a:off x="1066800" y="3581400"/>
            <a:ext cx="75438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28575">
            <a:solidFill>
              <a:schemeClr val="accent2"/>
            </a:solidFill>
            <a:round/>
            <a:headEnd/>
            <a:tailEnd/>
          </a:ln>
        </p:spPr>
        <p:txBody>
          <a:bodyPr/>
          <a:lstStyle/>
          <a:p>
            <a:endParaRPr lang="vi-VN"/>
          </a:p>
        </p:txBody>
      </p:sp>
      <p:sp>
        <p:nvSpPr>
          <p:cNvPr id="5122" name="Rectangle 2"/>
          <p:cNvSpPr>
            <a:spLocks noGrp="1" noChangeArrowheads="1"/>
          </p:cNvSpPr>
          <p:nvPr>
            <p:ph type="ctrTitle"/>
          </p:nvPr>
        </p:nvSpPr>
        <p:spPr>
          <a:xfrm>
            <a:off x="1066800" y="2590800"/>
            <a:ext cx="7620000" cy="990600"/>
          </a:xfrm>
        </p:spPr>
        <p:txBody>
          <a:bodyPr/>
          <a:lstStyle>
            <a:lvl1pPr>
              <a:defRPr sz="3600" b="1">
                <a:solidFill>
                  <a:schemeClr val="tx1"/>
                </a:solidFill>
              </a:defRPr>
            </a:lvl1pPr>
          </a:lstStyle>
          <a:p>
            <a:r>
              <a:rPr lang="en-US"/>
              <a:t>Click to edit Master title style</a:t>
            </a:r>
            <a:endParaRPr lang="en-GB"/>
          </a:p>
        </p:txBody>
      </p:sp>
      <p:sp>
        <p:nvSpPr>
          <p:cNvPr id="5123" name="Rectangle 3"/>
          <p:cNvSpPr>
            <a:spLocks noGrp="1" noChangeArrowheads="1"/>
          </p:cNvSpPr>
          <p:nvPr>
            <p:ph type="subTitle" idx="1"/>
          </p:nvPr>
        </p:nvSpPr>
        <p:spPr>
          <a:xfrm>
            <a:off x="1295400" y="4495800"/>
            <a:ext cx="7010400" cy="990600"/>
          </a:xfrm>
        </p:spPr>
        <p:txBody>
          <a:bodyPr/>
          <a:lstStyle>
            <a:lvl1pPr marL="0" indent="0" algn="ctr">
              <a:buFont typeface="Wingdings" pitchFamily="2" charset="2"/>
              <a:buNone/>
              <a:defRPr sz="2200"/>
            </a:lvl1pPr>
          </a:lstStyle>
          <a:p>
            <a:r>
              <a:rPr lang="en-US"/>
              <a:t>Click to edit Master subtitle style</a:t>
            </a:r>
            <a:endParaRPr lang="en-GB"/>
          </a:p>
        </p:txBody>
      </p:sp>
      <p:sp>
        <p:nvSpPr>
          <p:cNvPr id="6" name="Rectangle 5"/>
          <p:cNvSpPr>
            <a:spLocks noGrp="1" noChangeArrowheads="1"/>
          </p:cNvSpPr>
          <p:nvPr>
            <p:ph type="dt" sz="half" idx="10"/>
          </p:nvPr>
        </p:nvSpPr>
        <p:spPr>
          <a:xfrm>
            <a:off x="685800" y="6248400"/>
            <a:ext cx="1905000" cy="457200"/>
          </a:xfrm>
        </p:spPr>
        <p:txBody>
          <a:bodyPr/>
          <a:lstStyle>
            <a:lvl1pPr>
              <a:defRPr smtClean="0"/>
            </a:lvl1pPr>
          </a:lstStyle>
          <a:p>
            <a:fld id="{66EDB290-49A4-4E62-BA14-B38A2C63F2A5}" type="datetime1">
              <a:rPr lang="vi-VN" smtClean="0"/>
              <a:t>09/05/2023</a:t>
            </a:fld>
            <a:endParaRPr lang="vi-VN"/>
          </a:p>
        </p:txBody>
      </p:sp>
      <p:sp>
        <p:nvSpPr>
          <p:cNvPr id="7" name="Rectangle 6"/>
          <p:cNvSpPr>
            <a:spLocks noGrp="1" noChangeArrowheads="1"/>
          </p:cNvSpPr>
          <p:nvPr>
            <p:ph type="ftr" sz="quarter" idx="11"/>
          </p:nvPr>
        </p:nvSpPr>
        <p:spPr>
          <a:xfrm>
            <a:off x="2643188" y="6248400"/>
            <a:ext cx="4357687" cy="457200"/>
          </a:xfrm>
        </p:spPr>
        <p:txBody>
          <a:bodyPr/>
          <a:lstStyle>
            <a:lvl1pPr>
              <a:defRPr smtClean="0"/>
            </a:lvl1pPr>
          </a:lstStyle>
          <a:p>
            <a:r>
              <a:rPr lang="vi-VN"/>
              <a:t>Chương 4 - Chương trình con</a:t>
            </a:r>
          </a:p>
        </p:txBody>
      </p:sp>
      <p:sp>
        <p:nvSpPr>
          <p:cNvPr id="8" name="Rectangle 7"/>
          <p:cNvSpPr>
            <a:spLocks noGrp="1" noChangeArrowheads="1"/>
          </p:cNvSpPr>
          <p:nvPr>
            <p:ph type="sldNum" sz="quarter" idx="12"/>
          </p:nvPr>
        </p:nvSpPr>
        <p:spPr>
          <a:xfrm>
            <a:off x="7215188" y="6248400"/>
            <a:ext cx="1243012" cy="457200"/>
          </a:xfrm>
        </p:spPr>
        <p:txBody>
          <a:bodyPr/>
          <a:lstStyle>
            <a:lvl1pPr>
              <a:defRPr/>
            </a:lvl1pPr>
          </a:lstStyle>
          <a:p>
            <a:fld id="{5AB95402-1E0D-474E-8D8C-CBE7F053639E}" type="slidenum">
              <a:rPr lang="vi-VN" smtClean="0"/>
              <a:t>‹#›</a:t>
            </a:fld>
            <a:endParaRPr lang="vi-VN"/>
          </a:p>
        </p:txBody>
      </p:sp>
      <p:pic>
        <p:nvPicPr>
          <p:cNvPr id="9" name="Content Placeholder 3"/>
          <p:cNvPicPr>
            <a:picLocks noChangeAspect="1"/>
          </p:cNvPicPr>
          <p:nvPr userDrawn="1"/>
        </p:nvPicPr>
        <p:blipFill rotWithShape="1">
          <a:blip r:embed="rId2">
            <a:extLst>
              <a:ext uri="{28A0092B-C50C-407E-A947-70E740481C1C}">
                <a14:useLocalDpi xmlns:a14="http://schemas.microsoft.com/office/drawing/2010/main" val="0"/>
              </a:ext>
            </a:extLst>
          </a:blip>
          <a:srcRect t="7736" b="29726"/>
          <a:stretch/>
        </p:blipFill>
        <p:spPr bwMode="auto">
          <a:xfrm>
            <a:off x="-3829" y="0"/>
            <a:ext cx="9144000" cy="1561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1499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gn="just">
              <a:defRPr sz="2800"/>
            </a:lvl1pPr>
            <a:lvl2pPr algn="just">
              <a:defRPr sz="2400">
                <a:solidFill>
                  <a:srgbClr val="0000FF"/>
                </a:solidFill>
              </a:defRPr>
            </a:lvl2pPr>
            <a:lvl3pPr algn="just">
              <a:defRPr sz="2000">
                <a:solidFill>
                  <a:srgbClr val="002060"/>
                </a:solidFill>
              </a:defRPr>
            </a:lvl3pPr>
            <a:lvl4pPr algn="just">
              <a:defRPr sz="1800">
                <a:solidFill>
                  <a:srgbClr val="000066"/>
                </a:solidFill>
              </a:defRPr>
            </a:lvl4pPr>
            <a:lvl5pPr algn="just">
              <a:defRPr sz="1800">
                <a:solidFill>
                  <a:schemeClr val="tx1">
                    <a:lumMod val="95000"/>
                    <a:lumOff val="5000"/>
                  </a:schemeClr>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6B6B5387-B085-4D3A-8520-131508488FF5}" type="datetime1">
              <a:rPr lang="vi-VN" smtClean="0"/>
              <a:t>09/05/2023</a:t>
            </a:fld>
            <a:endParaRPr lang="vi-VN"/>
          </a:p>
        </p:txBody>
      </p:sp>
      <p:sp>
        <p:nvSpPr>
          <p:cNvPr id="5" name="Rectangle 7"/>
          <p:cNvSpPr>
            <a:spLocks noGrp="1" noChangeArrowheads="1"/>
          </p:cNvSpPr>
          <p:nvPr>
            <p:ph type="ftr" sz="quarter" idx="11"/>
          </p:nvPr>
        </p:nvSpPr>
        <p:spPr>
          <a:ln/>
        </p:spPr>
        <p:txBody>
          <a:bodyPr/>
          <a:lstStyle>
            <a:lvl1pPr>
              <a:defRPr/>
            </a:lvl1pPr>
          </a:lstStyle>
          <a:p>
            <a:r>
              <a:rPr lang="vi-VN"/>
              <a:t>Chương 4 - Chương trình con</a:t>
            </a:r>
          </a:p>
        </p:txBody>
      </p:sp>
      <p:sp>
        <p:nvSpPr>
          <p:cNvPr id="6" name="Rectangle 8"/>
          <p:cNvSpPr>
            <a:spLocks noGrp="1" noChangeArrowheads="1"/>
          </p:cNvSpPr>
          <p:nvPr>
            <p:ph type="sldNum" sz="quarter" idx="12"/>
          </p:nvPr>
        </p:nvSpPr>
        <p:spPr>
          <a:ln/>
        </p:spPr>
        <p:txBody>
          <a:bodyPr/>
          <a:lstStyle>
            <a:lvl1pPr>
              <a:defRPr/>
            </a:lvl1pPr>
          </a:lstStyle>
          <a:p>
            <a:fld id="{5AB95402-1E0D-474E-8D8C-CBE7F053639E}" type="slidenum">
              <a:rPr lang="vi-VN" smtClean="0"/>
              <a:pPr/>
              <a:t>‹#›</a:t>
            </a:fld>
            <a:r>
              <a:rPr lang="vi-VN"/>
              <a:t>/43</a:t>
            </a:r>
          </a:p>
        </p:txBody>
      </p:sp>
    </p:spTree>
    <p:extLst>
      <p:ext uri="{BB962C8B-B14F-4D97-AF65-F5344CB8AC3E}">
        <p14:creationId xmlns:p14="http://schemas.microsoft.com/office/powerpoint/2010/main" val="683437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smtClean="0"/>
            </a:lvl1pPr>
          </a:lstStyle>
          <a:p>
            <a:fld id="{E238F538-4A76-4F96-9882-40EA4CD9F99C}" type="datetime1">
              <a:rPr lang="vi-VN" smtClean="0"/>
              <a:t>09/05/2023</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6"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1400836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00600" y="1143000"/>
            <a:ext cx="38862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smtClean="0"/>
            </a:lvl1pPr>
          </a:lstStyle>
          <a:p>
            <a:fld id="{E3D7C2CE-0286-42F6-81EB-2C78EBB022BC}" type="datetime1">
              <a:rPr lang="vi-VN" smtClean="0"/>
              <a:t>09/05/2023</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7" name="Rectangle 8"/>
          <p:cNvSpPr>
            <a:spLocks noGrp="1" noChangeArrowheads="1"/>
          </p:cNvSpPr>
          <p:nvPr>
            <p:ph type="sldNum" sz="quarter" idx="12"/>
          </p:nvPr>
        </p:nvSpPr>
        <p:spPr/>
        <p:txBody>
          <a:bodyPr/>
          <a:lstStyle>
            <a:lvl1pPr>
              <a:defRPr smtClean="0"/>
            </a:lvl1pPr>
          </a:lstStyle>
          <a:p>
            <a:fld id="{5AB95402-1E0D-474E-8D8C-CBE7F053639E}" type="slidenum">
              <a:rPr lang="vi-VN" smtClean="0"/>
              <a:t>‹#›</a:t>
            </a:fld>
            <a:endParaRPr lang="vi-VN"/>
          </a:p>
        </p:txBody>
      </p:sp>
    </p:spTree>
    <p:extLst>
      <p:ext uri="{BB962C8B-B14F-4D97-AF65-F5344CB8AC3E}">
        <p14:creationId xmlns:p14="http://schemas.microsoft.com/office/powerpoint/2010/main" val="2380798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p:txBody>
          <a:bodyPr/>
          <a:lstStyle>
            <a:lvl1pPr>
              <a:defRPr smtClean="0"/>
            </a:lvl1pPr>
          </a:lstStyle>
          <a:p>
            <a:fld id="{DBD037AD-F315-4725-87AC-86C1D2A4A52F}" type="datetime1">
              <a:rPr lang="vi-VN" smtClean="0"/>
              <a:t>09/05/2023</a:t>
            </a:fld>
            <a:endParaRPr lang="vi-VN"/>
          </a:p>
        </p:txBody>
      </p:sp>
      <p:sp>
        <p:nvSpPr>
          <p:cNvPr id="8"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9"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313033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smtClean="0"/>
            </a:lvl1pPr>
          </a:lstStyle>
          <a:p>
            <a:fld id="{649210A3-AA68-4DEE-AA80-02756448F15C}" type="datetime1">
              <a:rPr lang="vi-VN" smtClean="0"/>
              <a:t>09/05/2023</a:t>
            </a:fld>
            <a:endParaRPr lang="vi-VN"/>
          </a:p>
        </p:txBody>
      </p:sp>
      <p:sp>
        <p:nvSpPr>
          <p:cNvPr id="4"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5"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3027284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smtClean="0"/>
            </a:lvl1pPr>
          </a:lstStyle>
          <a:p>
            <a:fld id="{A1D7A971-00EB-42E0-A404-1A092344ED6F}" type="datetime1">
              <a:rPr lang="vi-VN" smtClean="0"/>
              <a:t>09/05/2023</a:t>
            </a:fld>
            <a:endParaRPr lang="vi-VN"/>
          </a:p>
        </p:txBody>
      </p:sp>
      <p:sp>
        <p:nvSpPr>
          <p:cNvPr id="3"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4"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06297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63875AC5-EFF2-41E5-8FCB-090BE54C2ECB}" type="datetime1">
              <a:rPr lang="vi-VN" smtClean="0"/>
              <a:t>09/05/2023</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564103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smtClean="0"/>
            </a:lvl1pPr>
          </a:lstStyle>
          <a:p>
            <a:fld id="{58479086-1244-452C-A653-D6D0069A5B7F}" type="datetime1">
              <a:rPr lang="vi-VN" smtClean="0"/>
              <a:t>09/05/2023</a:t>
            </a:fld>
            <a:endParaRPr lang="vi-VN"/>
          </a:p>
        </p:txBody>
      </p:sp>
      <p:sp>
        <p:nvSpPr>
          <p:cNvPr id="6"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7"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234067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EFC5EA69-641F-4944-921B-E14A383134AE}" type="datetime1">
              <a:rPr lang="vi-VN" smtClean="0"/>
              <a:t>09/05/2023</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1447551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304800"/>
            <a:ext cx="20955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04800"/>
            <a:ext cx="61341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smtClean="0"/>
            </a:lvl1pPr>
          </a:lstStyle>
          <a:p>
            <a:fld id="{A1264FA5-C83D-4ADF-A1CA-BB20EC6108BB}" type="datetime1">
              <a:rPr lang="vi-VN" smtClean="0"/>
              <a:t>09/05/2023</a:t>
            </a:fld>
            <a:endParaRPr lang="vi-VN"/>
          </a:p>
        </p:txBody>
      </p:sp>
      <p:sp>
        <p:nvSpPr>
          <p:cNvPr id="5" name="Rectangle 7"/>
          <p:cNvSpPr>
            <a:spLocks noGrp="1" noChangeArrowheads="1"/>
          </p:cNvSpPr>
          <p:nvPr>
            <p:ph type="ftr" sz="quarter" idx="11"/>
          </p:nvPr>
        </p:nvSpPr>
        <p:spPr/>
        <p:txBody>
          <a:bodyPr/>
          <a:lstStyle>
            <a:lvl1pPr>
              <a:defRPr smtClean="0"/>
            </a:lvl1pPr>
          </a:lstStyle>
          <a:p>
            <a:r>
              <a:rPr lang="vi-VN"/>
              <a:t>Chương 4 - Chương trình con</a:t>
            </a:r>
          </a:p>
        </p:txBody>
      </p:sp>
      <p:sp>
        <p:nvSpPr>
          <p:cNvPr id="6" name="Rectangle 8"/>
          <p:cNvSpPr>
            <a:spLocks noGrp="1" noChangeArrowheads="1"/>
          </p:cNvSpPr>
          <p:nvPr>
            <p:ph type="sldNum" sz="quarter" idx="12"/>
          </p:nvPr>
        </p:nvSpPr>
        <p:spPr/>
        <p:txBody>
          <a:bodyPr/>
          <a:lstStyle>
            <a:lvl1pPr>
              <a:defRPr/>
            </a:lvl1pPr>
          </a:lstStyle>
          <a:p>
            <a:fld id="{5AB95402-1E0D-474E-8D8C-CBE7F053639E}" type="slidenum">
              <a:rPr lang="vi-VN" smtClean="0"/>
              <a:t>‹#›</a:t>
            </a:fld>
            <a:endParaRPr lang="vi-VN"/>
          </a:p>
        </p:txBody>
      </p:sp>
    </p:spTree>
    <p:extLst>
      <p:ext uri="{BB962C8B-B14F-4D97-AF65-F5344CB8AC3E}">
        <p14:creationId xmlns:p14="http://schemas.microsoft.com/office/powerpoint/2010/main" val="955855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304800"/>
            <a:ext cx="83820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endParaRPr lang="en-GB"/>
          </a:p>
        </p:txBody>
      </p:sp>
      <p:sp>
        <p:nvSpPr>
          <p:cNvPr id="1027" name="Rectangle 3"/>
          <p:cNvSpPr>
            <a:spLocks noGrp="1" noChangeArrowheads="1"/>
          </p:cNvSpPr>
          <p:nvPr>
            <p:ph type="body" idx="1"/>
          </p:nvPr>
        </p:nvSpPr>
        <p:spPr bwMode="auto">
          <a:xfrm>
            <a:off x="762000" y="1143000"/>
            <a:ext cx="7924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p:txBody>
      </p:sp>
      <p:sp>
        <p:nvSpPr>
          <p:cNvPr id="1028" name="AutoShape 4"/>
          <p:cNvSpPr>
            <a:spLocks noChangeArrowheads="1"/>
          </p:cNvSpPr>
          <p:nvPr/>
        </p:nvSpPr>
        <p:spPr bwMode="auto">
          <a:xfrm>
            <a:off x="457200" y="990600"/>
            <a:ext cx="8382000" cy="76200"/>
          </a:xfrm>
          <a:custGeom>
            <a:avLst/>
            <a:gdLst>
              <a:gd name="T0" fmla="*/ 0 w 1000"/>
              <a:gd name="T1" fmla="*/ 0 h 1000"/>
              <a:gd name="T2" fmla="*/ 585 w 1000"/>
              <a:gd name="T3" fmla="*/ 0 h 1000"/>
              <a:gd name="T4" fmla="*/ 585 w 1000"/>
              <a:gd name="T5" fmla="*/ 1000 h 1000"/>
              <a:gd name="T6" fmla="*/ 0 w 1000"/>
              <a:gd name="T7" fmla="*/ 1000 h 1000"/>
              <a:gd name="T8" fmla="*/ 0 w 1000"/>
              <a:gd name="T9" fmla="*/ 0 h 1000"/>
              <a:gd name="T10" fmla="*/ 1000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19050">
            <a:solidFill>
              <a:schemeClr val="accent2"/>
            </a:solidFill>
            <a:round/>
            <a:headEnd/>
            <a:tailEnd/>
          </a:ln>
        </p:spPr>
        <p:txBody>
          <a:bodyPr/>
          <a:lstStyle/>
          <a:p>
            <a:endParaRPr lang="vi-VN"/>
          </a:p>
        </p:txBody>
      </p:sp>
      <p:sp>
        <p:nvSpPr>
          <p:cNvPr id="1029" name="Line 5"/>
          <p:cNvSpPr>
            <a:spLocks noChangeShapeType="1"/>
          </p:cNvSpPr>
          <p:nvPr/>
        </p:nvSpPr>
        <p:spPr bwMode="auto">
          <a:xfrm flipV="1">
            <a:off x="381000" y="6400800"/>
            <a:ext cx="8534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102" name="Rectangle 6"/>
          <p:cNvSpPr>
            <a:spLocks noGrp="1" noChangeArrowheads="1"/>
          </p:cNvSpPr>
          <p:nvPr>
            <p:ph type="dt" sz="half" idx="2"/>
          </p:nvPr>
        </p:nvSpPr>
        <p:spPr bwMode="auto">
          <a:xfrm>
            <a:off x="3810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cs typeface="Arial" charset="0"/>
              </a:defRPr>
            </a:lvl1pPr>
          </a:lstStyle>
          <a:p>
            <a:fld id="{99210E1B-79F7-4CEE-824D-4827E2491AEC}" type="datetime1">
              <a:rPr lang="vi-VN" smtClean="0"/>
              <a:t>09/05/2023</a:t>
            </a:fld>
            <a:endParaRPr lang="vi-VN"/>
          </a:p>
        </p:txBody>
      </p:sp>
      <p:sp>
        <p:nvSpPr>
          <p:cNvPr id="4103" name="Rectangle 7"/>
          <p:cNvSpPr>
            <a:spLocks noGrp="1" noChangeArrowheads="1"/>
          </p:cNvSpPr>
          <p:nvPr>
            <p:ph type="ftr" sz="quarter" idx="3"/>
          </p:nvPr>
        </p:nvSpPr>
        <p:spPr bwMode="auto">
          <a:xfrm>
            <a:off x="2667000" y="6400800"/>
            <a:ext cx="39624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smtClean="0">
                <a:cs typeface="Arial" charset="0"/>
              </a:defRPr>
            </a:lvl1pPr>
          </a:lstStyle>
          <a:p>
            <a:r>
              <a:rPr lang="vi-VN"/>
              <a:t>Chương 4 - Chương trình con</a:t>
            </a:r>
          </a:p>
        </p:txBody>
      </p:sp>
      <p:sp>
        <p:nvSpPr>
          <p:cNvPr id="4104" name="Rectangle 8"/>
          <p:cNvSpPr>
            <a:spLocks noGrp="1" noChangeArrowheads="1"/>
          </p:cNvSpPr>
          <p:nvPr>
            <p:ph type="sldNum" sz="quarter" idx="4"/>
          </p:nvPr>
        </p:nvSpPr>
        <p:spPr bwMode="auto">
          <a:xfrm>
            <a:off x="6934200" y="6400800"/>
            <a:ext cx="19812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cs typeface="Arial" charset="0"/>
              </a:defRPr>
            </a:lvl1pPr>
          </a:lstStyle>
          <a:p>
            <a:fld id="{5AB95402-1E0D-474E-8D8C-CBE7F053639E}" type="slidenum">
              <a:rPr lang="vi-VN" smtClean="0"/>
              <a:t>‹#›</a:t>
            </a:fld>
            <a:endParaRPr lang="vi-V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rtl="0" eaLnBrk="1" fontAlgn="base" hangingPunct="1">
        <a:spcBef>
          <a:spcPct val="0"/>
        </a:spcBef>
        <a:spcAft>
          <a:spcPct val="0"/>
        </a:spcAft>
        <a:defRPr sz="3400">
          <a:solidFill>
            <a:schemeClr val="folHlink"/>
          </a:solidFill>
          <a:latin typeface="+mj-lt"/>
          <a:ea typeface="+mj-ea"/>
          <a:cs typeface="+mj-cs"/>
        </a:defRPr>
      </a:lvl1pPr>
      <a:lvl2pPr algn="l" rtl="0" eaLnBrk="1" fontAlgn="base" hangingPunct="1">
        <a:spcBef>
          <a:spcPct val="0"/>
        </a:spcBef>
        <a:spcAft>
          <a:spcPct val="0"/>
        </a:spcAft>
        <a:defRPr sz="3400">
          <a:solidFill>
            <a:schemeClr val="folHlink"/>
          </a:solidFill>
          <a:latin typeface="Arial" charset="0"/>
          <a:cs typeface="Arial" charset="0"/>
        </a:defRPr>
      </a:lvl2pPr>
      <a:lvl3pPr algn="l" rtl="0" eaLnBrk="1" fontAlgn="base" hangingPunct="1">
        <a:spcBef>
          <a:spcPct val="0"/>
        </a:spcBef>
        <a:spcAft>
          <a:spcPct val="0"/>
        </a:spcAft>
        <a:defRPr sz="3400">
          <a:solidFill>
            <a:schemeClr val="folHlink"/>
          </a:solidFill>
          <a:latin typeface="Arial" charset="0"/>
          <a:cs typeface="Arial" charset="0"/>
        </a:defRPr>
      </a:lvl3pPr>
      <a:lvl4pPr algn="l" rtl="0" eaLnBrk="1" fontAlgn="base" hangingPunct="1">
        <a:spcBef>
          <a:spcPct val="0"/>
        </a:spcBef>
        <a:spcAft>
          <a:spcPct val="0"/>
        </a:spcAft>
        <a:defRPr sz="3400">
          <a:solidFill>
            <a:schemeClr val="folHlink"/>
          </a:solidFill>
          <a:latin typeface="Arial" charset="0"/>
          <a:cs typeface="Arial" charset="0"/>
        </a:defRPr>
      </a:lvl4pPr>
      <a:lvl5pPr algn="l" rtl="0" eaLnBrk="1" fontAlgn="base" hangingPunct="1">
        <a:spcBef>
          <a:spcPct val="0"/>
        </a:spcBef>
        <a:spcAft>
          <a:spcPct val="0"/>
        </a:spcAft>
        <a:defRPr sz="3400">
          <a:solidFill>
            <a:schemeClr val="folHlink"/>
          </a:solidFill>
          <a:latin typeface="Arial" charset="0"/>
          <a:cs typeface="Arial" charset="0"/>
        </a:defRPr>
      </a:lvl5pPr>
      <a:lvl6pPr marL="457200" algn="l" rtl="0" eaLnBrk="1" fontAlgn="base" hangingPunct="1">
        <a:spcBef>
          <a:spcPct val="0"/>
        </a:spcBef>
        <a:spcAft>
          <a:spcPct val="0"/>
        </a:spcAft>
        <a:defRPr sz="3400">
          <a:solidFill>
            <a:schemeClr val="folHlink"/>
          </a:solidFill>
          <a:latin typeface="Arial" charset="0"/>
          <a:cs typeface="Arial" charset="0"/>
        </a:defRPr>
      </a:lvl6pPr>
      <a:lvl7pPr marL="914400" algn="l" rtl="0" eaLnBrk="1" fontAlgn="base" hangingPunct="1">
        <a:spcBef>
          <a:spcPct val="0"/>
        </a:spcBef>
        <a:spcAft>
          <a:spcPct val="0"/>
        </a:spcAft>
        <a:defRPr sz="3400">
          <a:solidFill>
            <a:schemeClr val="folHlink"/>
          </a:solidFill>
          <a:latin typeface="Arial" charset="0"/>
          <a:cs typeface="Arial" charset="0"/>
        </a:defRPr>
      </a:lvl7pPr>
      <a:lvl8pPr marL="1371600" algn="l" rtl="0" eaLnBrk="1" fontAlgn="base" hangingPunct="1">
        <a:spcBef>
          <a:spcPct val="0"/>
        </a:spcBef>
        <a:spcAft>
          <a:spcPct val="0"/>
        </a:spcAft>
        <a:defRPr sz="3400">
          <a:solidFill>
            <a:schemeClr val="folHlink"/>
          </a:solidFill>
          <a:latin typeface="Arial" charset="0"/>
          <a:cs typeface="Arial" charset="0"/>
        </a:defRPr>
      </a:lvl8pPr>
      <a:lvl9pPr marL="1828800" algn="l" rtl="0" eaLnBrk="1" fontAlgn="base" hangingPunct="1">
        <a:spcBef>
          <a:spcPct val="0"/>
        </a:spcBef>
        <a:spcAft>
          <a:spcPct val="0"/>
        </a:spcAft>
        <a:defRPr sz="3400">
          <a:solidFill>
            <a:schemeClr val="folHlink"/>
          </a:solidFill>
          <a:latin typeface="Arial" charset="0"/>
          <a:cs typeface="Arial"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lang="en-GB" sz="2800" smtClean="0">
          <a:solidFill>
            <a:schemeClr val="tx1"/>
          </a:solidFill>
          <a:latin typeface="+mn-lt"/>
          <a:ea typeface="+mn-ea"/>
          <a:cs typeface="+mn-cs"/>
        </a:defRPr>
      </a:lvl1pPr>
      <a:lvl2pPr marL="908050" indent="-436563" algn="l" rtl="0" eaLnBrk="1" fontAlgn="base" hangingPunct="1">
        <a:spcBef>
          <a:spcPct val="15000"/>
        </a:spcBef>
        <a:spcAft>
          <a:spcPct val="0"/>
        </a:spcAft>
        <a:buClr>
          <a:schemeClr val="accent2"/>
        </a:buClr>
        <a:buSzPct val="80000"/>
        <a:buFont typeface="Wingdings" pitchFamily="2" charset="2"/>
        <a:buChar char="n"/>
        <a:defRPr lang="en-GB" sz="2400" smtClean="0">
          <a:solidFill>
            <a:srgbClr val="0000FF"/>
          </a:solidFill>
          <a:latin typeface="+mn-lt"/>
          <a:cs typeface="+mn-cs"/>
        </a:defRPr>
      </a:lvl2pPr>
      <a:lvl3pPr marL="1304925" indent="-395288" algn="l" rtl="0" eaLnBrk="1" fontAlgn="base" hangingPunct="1">
        <a:spcBef>
          <a:spcPct val="15000"/>
        </a:spcBef>
        <a:spcAft>
          <a:spcPct val="0"/>
        </a:spcAft>
        <a:buClr>
          <a:schemeClr val="accent2"/>
        </a:buClr>
        <a:buSzPct val="80000"/>
        <a:buFont typeface="Wingdings" pitchFamily="2" charset="2"/>
        <a:buChar char="o"/>
        <a:defRPr lang="en-GB" sz="2000" smtClean="0">
          <a:solidFill>
            <a:srgbClr val="002060"/>
          </a:solidFill>
          <a:latin typeface="+mn-lt"/>
          <a:cs typeface="+mn-cs"/>
        </a:defRPr>
      </a:lvl3pPr>
      <a:lvl4pPr marL="1693863" indent="-387350" algn="l" rtl="0" eaLnBrk="1" fontAlgn="base" hangingPunct="1">
        <a:spcBef>
          <a:spcPct val="15000"/>
        </a:spcBef>
        <a:spcAft>
          <a:spcPct val="0"/>
        </a:spcAft>
        <a:buClr>
          <a:schemeClr val="accent2"/>
        </a:buClr>
        <a:buSzPct val="80000"/>
        <a:buFont typeface="Wingdings" pitchFamily="2" charset="2"/>
        <a:buChar char="n"/>
        <a:defRPr lang="en-GB" sz="1800" smtClean="0">
          <a:solidFill>
            <a:srgbClr val="000066"/>
          </a:solidFill>
          <a:latin typeface="+mn-lt"/>
          <a:cs typeface="+mn-cs"/>
        </a:defRPr>
      </a:lvl4pPr>
      <a:lvl5pPr marL="20939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5pPr>
      <a:lvl6pPr marL="25511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6pPr>
      <a:lvl7pPr marL="30083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7pPr>
      <a:lvl8pPr marL="34655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8pPr>
      <a:lvl9pPr marL="3922713" indent="-398463" algn="l" rtl="0" eaLnBrk="1" fontAlgn="base" hangingPunct="1">
        <a:spcBef>
          <a:spcPct val="15000"/>
        </a:spcBef>
        <a:spcAft>
          <a:spcPct val="0"/>
        </a:spcAft>
        <a:buClr>
          <a:schemeClr val="accent2"/>
        </a:buClr>
        <a:buFont typeface="Wingdings" pitchFamily="2" charset="2"/>
        <a:buChar char="§"/>
        <a:defRPr sz="1400">
          <a:solidFill>
            <a:schemeClr val="accent2"/>
          </a:solidFill>
          <a:latin typeface="Tahoma" pitchFamily="34"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2590800"/>
            <a:ext cx="7931224" cy="990600"/>
          </a:xfrm>
          <a:effectLst>
            <a:reflection blurRad="6350" stA="52000" endA="300" endPos="35000" dir="5400000" sy="-100000" algn="bl" rotWithShape="0"/>
          </a:effectLst>
        </p:spPr>
        <p:txBody>
          <a:bodyPr/>
          <a:lstStyle/>
          <a:p>
            <a:pPr algn="ct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Chương 4</a:t>
            </a:r>
            <a:b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br>
            <a:r>
              <a:rPr lang="en-US" sz="4400">
                <a:solidFill>
                  <a:srgbClr val="000066"/>
                </a:solidFill>
                <a:effectLst>
                  <a:outerShdw blurRad="38100" dist="38100" dir="2700000" algn="tl">
                    <a:srgbClr val="000000">
                      <a:alpha val="43137"/>
                    </a:srgbClr>
                  </a:outerShdw>
                  <a:reflection blurRad="6350" stA="55000" endA="300" endPos="45500" dir="5400000" sy="-100000" algn="bl" rotWithShape="0"/>
                </a:effectLst>
              </a:rPr>
              <a:t>CHƯƠNG TRÌNH CON</a:t>
            </a:r>
            <a:endParaRPr lang="vi-VN" sz="4400">
              <a:solidFill>
                <a:srgbClr val="000066"/>
              </a:solidFill>
              <a:effectLst>
                <a:outerShdw blurRad="38100" dist="38100" dir="2700000" algn="tl">
                  <a:srgbClr val="000000">
                    <a:alpha val="43137"/>
                  </a:srgbClr>
                </a:outerShdw>
                <a:reflection blurRad="6350" stA="55000" endA="300" endPos="45500" dir="5400000" sy="-100000" algn="bl" rotWithShape="0"/>
              </a:effectLst>
            </a:endParaRP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69634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Đặt vấn đề</a:t>
            </a:r>
          </a:p>
        </p:txBody>
      </p:sp>
      <p:sp>
        <p:nvSpPr>
          <p:cNvPr id="17411" name="Content Placeholder 2"/>
          <p:cNvSpPr>
            <a:spLocks noGrp="1"/>
          </p:cNvSpPr>
          <p:nvPr>
            <p:ph idx="1"/>
          </p:nvPr>
        </p:nvSpPr>
        <p:spPr/>
        <p:txBody>
          <a:bodyPr/>
          <a:lstStyle/>
          <a:p>
            <a:r>
              <a:rPr lang="en-US">
                <a:latin typeface="Arial" charset="0"/>
                <a:cs typeface="Arial" charset="0"/>
              </a:rPr>
              <a:t>Viết chương trình tính </a:t>
            </a:r>
            <a:r>
              <a:rPr lang="en-US">
                <a:solidFill>
                  <a:srgbClr val="FF0000"/>
                </a:solidFill>
                <a:latin typeface="Arial" charset="0"/>
                <a:cs typeface="Arial" charset="0"/>
              </a:rPr>
              <a:t>S = a! + b! + c! </a:t>
            </a:r>
            <a:r>
              <a:rPr lang="en-US">
                <a:latin typeface="Arial" charset="0"/>
                <a:cs typeface="Arial" charset="0"/>
              </a:rPr>
              <a:t>với </a:t>
            </a:r>
            <a:r>
              <a:rPr lang="en-US">
                <a:solidFill>
                  <a:srgbClr val="FF0000"/>
                </a:solidFill>
                <a:latin typeface="Arial" charset="0"/>
                <a:cs typeface="Arial" charset="0"/>
              </a:rPr>
              <a:t>a</a:t>
            </a:r>
            <a:r>
              <a:rPr lang="en-US">
                <a:latin typeface="Arial" charset="0"/>
                <a:cs typeface="Arial" charset="0"/>
              </a:rPr>
              <a:t>, </a:t>
            </a:r>
            <a:r>
              <a:rPr lang="en-US">
                <a:solidFill>
                  <a:srgbClr val="FF0000"/>
                </a:solidFill>
                <a:latin typeface="Arial" charset="0"/>
                <a:cs typeface="Arial" charset="0"/>
              </a:rPr>
              <a:t>b</a:t>
            </a:r>
            <a:r>
              <a:rPr lang="en-US">
                <a:latin typeface="Arial" charset="0"/>
                <a:cs typeface="Arial" charset="0"/>
              </a:rPr>
              <a:t>, </a:t>
            </a:r>
            <a:r>
              <a:rPr lang="en-US">
                <a:solidFill>
                  <a:srgbClr val="FF0000"/>
                </a:solidFill>
                <a:latin typeface="Arial" charset="0"/>
                <a:cs typeface="Arial" charset="0"/>
              </a:rPr>
              <a:t>c</a:t>
            </a:r>
            <a:r>
              <a:rPr lang="en-US">
                <a:latin typeface="Arial" charset="0"/>
                <a:cs typeface="Arial" charset="0"/>
              </a:rPr>
              <a:t> là 3 số nguyên dương nhập từ bàn phím.</a:t>
            </a:r>
          </a:p>
        </p:txBody>
      </p:sp>
      <p:sp>
        <p:nvSpPr>
          <p:cNvPr id="2" name="Date Placeholder 1"/>
          <p:cNvSpPr>
            <a:spLocks noGrp="1"/>
          </p:cNvSpPr>
          <p:nvPr>
            <p:ph type="dt" sz="half" idx="10"/>
          </p:nvPr>
        </p:nvSpPr>
        <p:spPr/>
        <p:txBody>
          <a:bodyPr/>
          <a:lstStyle/>
          <a:p>
            <a:fld id="{0D07398A-CB55-4BC4-A0AF-C2FFE611BF42}" type="datetime1">
              <a:rPr lang="vi-VN" smtClean="0"/>
              <a:t>09/05/2023</a:t>
            </a:fld>
            <a:endParaRPr lang="vi-VN"/>
          </a:p>
        </p:txBody>
      </p:sp>
      <p:sp>
        <p:nvSpPr>
          <p:cNvPr id="17412" name="Footer Placeholder 3"/>
          <p:cNvSpPr>
            <a:spLocks noGrp="1"/>
          </p:cNvSpPr>
          <p:nvPr>
            <p:ph type="ftr" sz="quarter" idx="11"/>
          </p:nvPr>
        </p:nvSpPr>
        <p:spPr>
          <a:noFill/>
        </p:spPr>
        <p:txBody>
          <a:bodyPr/>
          <a:lstStyle/>
          <a:p>
            <a:r>
              <a:rPr lang="vi-VN"/>
              <a:t>Chương 4 - Chương trình con</a:t>
            </a:r>
            <a:endParaRPr lang="en-US"/>
          </a:p>
        </p:txBody>
      </p:sp>
      <p:sp>
        <p:nvSpPr>
          <p:cNvPr id="5" name="AutoShape 6"/>
          <p:cNvSpPr>
            <a:spLocks noChangeArrowheads="1"/>
          </p:cNvSpPr>
          <p:nvPr/>
        </p:nvSpPr>
        <p:spPr bwMode="gray">
          <a:xfrm>
            <a:off x="3880048" y="2492896"/>
            <a:ext cx="1981200" cy="6858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000">
                <a:solidFill>
                  <a:schemeClr val="tx1">
                    <a:lumMod val="95000"/>
                    <a:lumOff val="5000"/>
                  </a:schemeClr>
                </a:solidFill>
                <a:latin typeface="Arial" pitchFamily="34" charset="0"/>
                <a:cs typeface="Arial" pitchFamily="34" charset="0"/>
              </a:rPr>
              <a:t>Chương trình</a:t>
            </a:r>
          </a:p>
          <a:p>
            <a:pPr algn="ctr">
              <a:defRPr/>
            </a:pPr>
            <a:r>
              <a:rPr lang="en-US" sz="2000">
                <a:solidFill>
                  <a:schemeClr val="tx1">
                    <a:lumMod val="95000"/>
                    <a:lumOff val="5000"/>
                  </a:schemeClr>
                </a:solidFill>
                <a:latin typeface="Arial" pitchFamily="34" charset="0"/>
                <a:cs typeface="Arial" pitchFamily="34" charset="0"/>
              </a:rPr>
              <a:t>chính</a:t>
            </a:r>
            <a:endParaRPr lang="en-US" sz="2000">
              <a:solidFill>
                <a:schemeClr val="tx1">
                  <a:lumMod val="95000"/>
                  <a:lumOff val="5000"/>
                </a:schemeClr>
              </a:solidFill>
            </a:endParaRPr>
          </a:p>
        </p:txBody>
      </p:sp>
      <p:sp>
        <p:nvSpPr>
          <p:cNvPr id="6" name="AutoShape 6"/>
          <p:cNvSpPr>
            <a:spLocks noChangeArrowheads="1"/>
          </p:cNvSpPr>
          <p:nvPr/>
        </p:nvSpPr>
        <p:spPr bwMode="gray">
          <a:xfrm>
            <a:off x="1060648" y="3864496"/>
            <a:ext cx="1981200" cy="6858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000">
                <a:solidFill>
                  <a:srgbClr val="0000FF"/>
                </a:solidFill>
                <a:latin typeface="Arial" pitchFamily="34" charset="0"/>
                <a:cs typeface="Arial" pitchFamily="34" charset="0"/>
              </a:rPr>
              <a:t>Nhập</a:t>
            </a:r>
          </a:p>
          <a:p>
            <a:pPr algn="ctr">
              <a:defRPr/>
            </a:pPr>
            <a:r>
              <a:rPr lang="en-US" sz="2000">
                <a:solidFill>
                  <a:srgbClr val="0000FF"/>
                </a:solidFill>
                <a:latin typeface="Arial" pitchFamily="34" charset="0"/>
                <a:cs typeface="Arial" pitchFamily="34" charset="0"/>
              </a:rPr>
              <a:t>a, b, c &gt; 0</a:t>
            </a:r>
            <a:endParaRPr lang="en-US" sz="2000">
              <a:solidFill>
                <a:srgbClr val="0000FF"/>
              </a:solidFill>
            </a:endParaRPr>
          </a:p>
        </p:txBody>
      </p:sp>
      <p:sp>
        <p:nvSpPr>
          <p:cNvPr id="7" name="AutoShape 6"/>
          <p:cNvSpPr>
            <a:spLocks noChangeArrowheads="1"/>
          </p:cNvSpPr>
          <p:nvPr/>
        </p:nvSpPr>
        <p:spPr bwMode="gray">
          <a:xfrm>
            <a:off x="3880048" y="3864496"/>
            <a:ext cx="1981200" cy="6858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000">
                <a:solidFill>
                  <a:srgbClr val="0000FF"/>
                </a:solidFill>
                <a:latin typeface="Arial" pitchFamily="34" charset="0"/>
                <a:cs typeface="Arial" pitchFamily="34" charset="0"/>
              </a:rPr>
              <a:t>Tính</a:t>
            </a:r>
          </a:p>
          <a:p>
            <a:pPr algn="ctr">
              <a:defRPr/>
            </a:pPr>
            <a:r>
              <a:rPr lang="en-US" sz="2000">
                <a:solidFill>
                  <a:srgbClr val="0000FF"/>
                </a:solidFill>
                <a:latin typeface="Arial" pitchFamily="34" charset="0"/>
                <a:cs typeface="Arial" pitchFamily="34" charset="0"/>
              </a:rPr>
              <a:t>S = a! + b! + c!</a:t>
            </a:r>
            <a:endParaRPr lang="en-US" sz="2000">
              <a:solidFill>
                <a:srgbClr val="0000FF"/>
              </a:solidFill>
            </a:endParaRPr>
          </a:p>
        </p:txBody>
      </p:sp>
      <p:sp>
        <p:nvSpPr>
          <p:cNvPr id="8" name="AutoShape 6"/>
          <p:cNvSpPr>
            <a:spLocks noChangeArrowheads="1"/>
          </p:cNvSpPr>
          <p:nvPr/>
        </p:nvSpPr>
        <p:spPr bwMode="gray">
          <a:xfrm>
            <a:off x="6623248" y="3864496"/>
            <a:ext cx="1981200" cy="6858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000">
                <a:solidFill>
                  <a:srgbClr val="0000FF"/>
                </a:solidFill>
                <a:latin typeface="Arial" pitchFamily="34" charset="0"/>
                <a:cs typeface="Arial" pitchFamily="34" charset="0"/>
              </a:rPr>
              <a:t>Xuất</a:t>
            </a:r>
          </a:p>
          <a:p>
            <a:pPr algn="ctr">
              <a:defRPr/>
            </a:pPr>
            <a:r>
              <a:rPr lang="en-US" sz="2000">
                <a:solidFill>
                  <a:srgbClr val="0000FF"/>
                </a:solidFill>
                <a:latin typeface="Arial" pitchFamily="34" charset="0"/>
                <a:cs typeface="Arial" pitchFamily="34" charset="0"/>
              </a:rPr>
              <a:t>kết quả S</a:t>
            </a:r>
            <a:endParaRPr lang="en-US" sz="2000">
              <a:solidFill>
                <a:srgbClr val="0000FF"/>
              </a:solidFill>
            </a:endParaRPr>
          </a:p>
        </p:txBody>
      </p:sp>
      <p:sp>
        <p:nvSpPr>
          <p:cNvPr id="9" name="AutoShape 6"/>
          <p:cNvSpPr>
            <a:spLocks noChangeArrowheads="1"/>
          </p:cNvSpPr>
          <p:nvPr/>
        </p:nvSpPr>
        <p:spPr bwMode="gray">
          <a:xfrm>
            <a:off x="755848" y="5312296"/>
            <a:ext cx="762000" cy="6858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000">
                <a:solidFill>
                  <a:srgbClr val="002060"/>
                </a:solidFill>
                <a:latin typeface="Arial" pitchFamily="34" charset="0"/>
                <a:cs typeface="Arial" pitchFamily="34" charset="0"/>
              </a:rPr>
              <a:t>Nhập</a:t>
            </a:r>
          </a:p>
          <a:p>
            <a:pPr algn="ctr">
              <a:defRPr/>
            </a:pPr>
            <a:r>
              <a:rPr lang="en-US" sz="2000">
                <a:solidFill>
                  <a:srgbClr val="002060"/>
                </a:solidFill>
                <a:latin typeface="Arial" pitchFamily="34" charset="0"/>
                <a:cs typeface="Arial" pitchFamily="34" charset="0"/>
              </a:rPr>
              <a:t>a &gt; 0</a:t>
            </a:r>
            <a:endParaRPr lang="en-US" sz="2000">
              <a:solidFill>
                <a:srgbClr val="002060"/>
              </a:solidFill>
            </a:endParaRPr>
          </a:p>
        </p:txBody>
      </p:sp>
      <p:sp>
        <p:nvSpPr>
          <p:cNvPr id="12" name="AutoShape 6"/>
          <p:cNvSpPr>
            <a:spLocks noChangeArrowheads="1"/>
          </p:cNvSpPr>
          <p:nvPr/>
        </p:nvSpPr>
        <p:spPr bwMode="gray">
          <a:xfrm>
            <a:off x="1670248" y="5312296"/>
            <a:ext cx="762000" cy="6858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000">
                <a:solidFill>
                  <a:srgbClr val="002060"/>
                </a:solidFill>
                <a:latin typeface="Arial" pitchFamily="34" charset="0"/>
                <a:cs typeface="Arial" pitchFamily="34" charset="0"/>
              </a:rPr>
              <a:t>Nhập</a:t>
            </a:r>
          </a:p>
          <a:p>
            <a:pPr algn="ctr">
              <a:defRPr/>
            </a:pPr>
            <a:r>
              <a:rPr lang="en-US" sz="2000">
                <a:solidFill>
                  <a:srgbClr val="002060"/>
                </a:solidFill>
                <a:latin typeface="Arial" pitchFamily="34" charset="0"/>
                <a:cs typeface="Arial" pitchFamily="34" charset="0"/>
              </a:rPr>
              <a:t>b &gt; 0</a:t>
            </a:r>
            <a:endParaRPr lang="en-US" sz="2000">
              <a:solidFill>
                <a:srgbClr val="002060"/>
              </a:solidFill>
            </a:endParaRPr>
          </a:p>
        </p:txBody>
      </p:sp>
      <p:sp>
        <p:nvSpPr>
          <p:cNvPr id="13" name="AutoShape 6"/>
          <p:cNvSpPr>
            <a:spLocks noChangeArrowheads="1"/>
          </p:cNvSpPr>
          <p:nvPr/>
        </p:nvSpPr>
        <p:spPr bwMode="gray">
          <a:xfrm>
            <a:off x="2584648" y="5312296"/>
            <a:ext cx="762000" cy="6858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000">
                <a:solidFill>
                  <a:srgbClr val="002060"/>
                </a:solidFill>
                <a:latin typeface="Arial" pitchFamily="34" charset="0"/>
                <a:cs typeface="Arial" pitchFamily="34" charset="0"/>
              </a:rPr>
              <a:t>Nhập</a:t>
            </a:r>
          </a:p>
          <a:p>
            <a:pPr algn="ctr">
              <a:defRPr/>
            </a:pPr>
            <a:r>
              <a:rPr lang="en-US" sz="2000">
                <a:solidFill>
                  <a:srgbClr val="002060"/>
                </a:solidFill>
                <a:latin typeface="Arial" pitchFamily="34" charset="0"/>
                <a:cs typeface="Arial" pitchFamily="34" charset="0"/>
              </a:rPr>
              <a:t>c &gt; 0</a:t>
            </a:r>
            <a:endParaRPr lang="en-US" sz="2000">
              <a:solidFill>
                <a:srgbClr val="002060"/>
              </a:solidFill>
            </a:endParaRPr>
          </a:p>
        </p:txBody>
      </p:sp>
      <p:sp>
        <p:nvSpPr>
          <p:cNvPr id="14" name="AutoShape 6"/>
          <p:cNvSpPr>
            <a:spLocks noChangeArrowheads="1"/>
          </p:cNvSpPr>
          <p:nvPr/>
        </p:nvSpPr>
        <p:spPr bwMode="gray">
          <a:xfrm>
            <a:off x="3575248" y="5312296"/>
            <a:ext cx="762000" cy="6858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000">
                <a:solidFill>
                  <a:srgbClr val="002060"/>
                </a:solidFill>
                <a:latin typeface="Arial" pitchFamily="34" charset="0"/>
                <a:cs typeface="Arial" pitchFamily="34" charset="0"/>
              </a:rPr>
              <a:t>Tính</a:t>
            </a:r>
          </a:p>
          <a:p>
            <a:pPr algn="ctr">
              <a:defRPr/>
            </a:pPr>
            <a:r>
              <a:rPr lang="en-US" sz="2000">
                <a:solidFill>
                  <a:srgbClr val="002060"/>
                </a:solidFill>
                <a:latin typeface="Arial" pitchFamily="34" charset="0"/>
                <a:cs typeface="Arial" pitchFamily="34" charset="0"/>
              </a:rPr>
              <a:t>s1=a!</a:t>
            </a:r>
            <a:endParaRPr lang="en-US" sz="2000">
              <a:solidFill>
                <a:srgbClr val="002060"/>
              </a:solidFill>
            </a:endParaRPr>
          </a:p>
        </p:txBody>
      </p:sp>
      <p:sp>
        <p:nvSpPr>
          <p:cNvPr id="15" name="AutoShape 6"/>
          <p:cNvSpPr>
            <a:spLocks noChangeArrowheads="1"/>
          </p:cNvSpPr>
          <p:nvPr/>
        </p:nvSpPr>
        <p:spPr bwMode="gray">
          <a:xfrm>
            <a:off x="4489648" y="5312296"/>
            <a:ext cx="762000" cy="6858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000">
                <a:solidFill>
                  <a:srgbClr val="002060"/>
                </a:solidFill>
                <a:latin typeface="Arial" pitchFamily="34" charset="0"/>
                <a:cs typeface="Arial" pitchFamily="34" charset="0"/>
              </a:rPr>
              <a:t>Tính</a:t>
            </a:r>
          </a:p>
          <a:p>
            <a:pPr algn="ctr">
              <a:defRPr/>
            </a:pPr>
            <a:r>
              <a:rPr lang="en-US" sz="2000">
                <a:solidFill>
                  <a:srgbClr val="002060"/>
                </a:solidFill>
                <a:latin typeface="Arial" pitchFamily="34" charset="0"/>
                <a:cs typeface="Arial" pitchFamily="34" charset="0"/>
              </a:rPr>
              <a:t>s2=b!</a:t>
            </a:r>
            <a:endParaRPr lang="en-US" sz="2000">
              <a:solidFill>
                <a:srgbClr val="002060"/>
              </a:solidFill>
            </a:endParaRPr>
          </a:p>
        </p:txBody>
      </p:sp>
      <p:sp>
        <p:nvSpPr>
          <p:cNvPr id="16" name="AutoShape 6"/>
          <p:cNvSpPr>
            <a:spLocks noChangeArrowheads="1"/>
          </p:cNvSpPr>
          <p:nvPr/>
        </p:nvSpPr>
        <p:spPr bwMode="gray">
          <a:xfrm>
            <a:off x="5404048" y="5312296"/>
            <a:ext cx="762000" cy="6858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000">
                <a:solidFill>
                  <a:srgbClr val="002060"/>
                </a:solidFill>
                <a:latin typeface="Arial" pitchFamily="34" charset="0"/>
                <a:cs typeface="Arial" pitchFamily="34" charset="0"/>
              </a:rPr>
              <a:t>Tính</a:t>
            </a:r>
          </a:p>
          <a:p>
            <a:pPr algn="ctr">
              <a:defRPr/>
            </a:pPr>
            <a:r>
              <a:rPr lang="en-US" sz="2000">
                <a:solidFill>
                  <a:srgbClr val="002060"/>
                </a:solidFill>
                <a:latin typeface="Arial" pitchFamily="34" charset="0"/>
                <a:cs typeface="Arial" pitchFamily="34" charset="0"/>
              </a:rPr>
              <a:t>s3=c!</a:t>
            </a:r>
            <a:endParaRPr lang="en-US" sz="2000">
              <a:solidFill>
                <a:srgbClr val="002060"/>
              </a:solidFill>
            </a:endParaRPr>
          </a:p>
        </p:txBody>
      </p:sp>
      <p:cxnSp>
        <p:nvCxnSpPr>
          <p:cNvPr id="25" name="Straight Arrow Connector 24"/>
          <p:cNvCxnSpPr>
            <a:endCxn id="7" idx="0"/>
          </p:cNvCxnSpPr>
          <p:nvPr/>
        </p:nvCxnSpPr>
        <p:spPr>
          <a:xfrm rot="5400000">
            <a:off x="4527749" y="3521596"/>
            <a:ext cx="685800"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0" name="Straight Arrow Connector 29"/>
          <p:cNvCxnSpPr>
            <a:stCxn id="6" idx="2"/>
            <a:endCxn id="9" idx="0"/>
          </p:cNvCxnSpPr>
          <p:nvPr/>
        </p:nvCxnSpPr>
        <p:spPr>
          <a:xfrm rot="5400000">
            <a:off x="1213048" y="4474096"/>
            <a:ext cx="762000" cy="9144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a:stCxn id="6" idx="2"/>
            <a:endCxn id="12" idx="0"/>
          </p:cNvCxnSpPr>
          <p:nvPr/>
        </p:nvCxnSpPr>
        <p:spPr>
          <a:xfrm rot="5400000">
            <a:off x="1670249" y="4931296"/>
            <a:ext cx="762000"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6" name="Straight Arrow Connector 35"/>
          <p:cNvCxnSpPr>
            <a:stCxn id="6" idx="2"/>
            <a:endCxn id="13" idx="0"/>
          </p:cNvCxnSpPr>
          <p:nvPr/>
        </p:nvCxnSpPr>
        <p:spPr>
          <a:xfrm rot="16200000" flipH="1">
            <a:off x="2127448" y="4474096"/>
            <a:ext cx="762000" cy="9144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9" name="Straight Arrow Connector 38"/>
          <p:cNvCxnSpPr>
            <a:stCxn id="7" idx="2"/>
            <a:endCxn id="16" idx="0"/>
          </p:cNvCxnSpPr>
          <p:nvPr/>
        </p:nvCxnSpPr>
        <p:spPr>
          <a:xfrm rot="16200000" flipH="1">
            <a:off x="4946848" y="4474096"/>
            <a:ext cx="762000" cy="9144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7" idx="2"/>
            <a:endCxn id="15" idx="0"/>
          </p:cNvCxnSpPr>
          <p:nvPr/>
        </p:nvCxnSpPr>
        <p:spPr>
          <a:xfrm rot="5400000">
            <a:off x="4489649" y="4931296"/>
            <a:ext cx="762000" cy="317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5" name="Straight Arrow Connector 44"/>
          <p:cNvCxnSpPr>
            <a:stCxn id="7" idx="2"/>
            <a:endCxn id="14" idx="0"/>
          </p:cNvCxnSpPr>
          <p:nvPr/>
        </p:nvCxnSpPr>
        <p:spPr>
          <a:xfrm rot="5400000">
            <a:off x="4032448" y="4474096"/>
            <a:ext cx="762000" cy="9144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8" name="Straight Arrow Connector 47"/>
          <p:cNvCxnSpPr>
            <a:stCxn id="5" idx="2"/>
            <a:endCxn id="8" idx="0"/>
          </p:cNvCxnSpPr>
          <p:nvPr/>
        </p:nvCxnSpPr>
        <p:spPr>
          <a:xfrm rot="16200000" flipH="1">
            <a:off x="5899348" y="2149996"/>
            <a:ext cx="685800" cy="27432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1" name="Straight Arrow Connector 50"/>
          <p:cNvCxnSpPr>
            <a:stCxn id="5" idx="2"/>
            <a:endCxn id="6" idx="0"/>
          </p:cNvCxnSpPr>
          <p:nvPr/>
        </p:nvCxnSpPr>
        <p:spPr>
          <a:xfrm rot="5400000">
            <a:off x="3118048" y="2111896"/>
            <a:ext cx="685800" cy="2819400"/>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10" name="Slide Number Placeholder 9"/>
          <p:cNvSpPr>
            <a:spLocks noGrp="1"/>
          </p:cNvSpPr>
          <p:nvPr>
            <p:ph type="sldNum" sz="quarter" idx="12"/>
          </p:nvPr>
        </p:nvSpPr>
        <p:spPr/>
        <p:txBody>
          <a:bodyPr/>
          <a:lstStyle/>
          <a:p>
            <a:fld id="{5AB95402-1E0D-474E-8D8C-CBE7F053639E}" type="slidenum">
              <a:rPr lang="vi-VN" smtClean="0"/>
              <a:pPr/>
              <a:t>2</a:t>
            </a:fld>
            <a:r>
              <a:rPr lang="vi-VN"/>
              <a:t>/43</a:t>
            </a:r>
          </a:p>
        </p:txBody>
      </p:sp>
    </p:spTree>
    <p:extLst>
      <p:ext uri="{BB962C8B-B14F-4D97-AF65-F5344CB8AC3E}">
        <p14:creationId xmlns:p14="http://schemas.microsoft.com/office/powerpoint/2010/main" val="292379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right)">
                                      <p:cBhvr>
                                        <p:cTn id="12" dur="500"/>
                                        <p:tgtEl>
                                          <p:spTgt spid="51"/>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up)">
                                      <p:cBhvr>
                                        <p:cTn id="21" dur="500"/>
                                        <p:tgtEl>
                                          <p:spTgt spid="30"/>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par>
                          <p:cTn id="26" fill="hold">
                            <p:stCondLst>
                              <p:cond delay="1000"/>
                            </p:stCondLst>
                            <p:childTnLst>
                              <p:par>
                                <p:cTn id="27" presetID="22" presetClass="entr" presetSubtype="1" fill="hold" nodeType="after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wipe(up)">
                                      <p:cBhvr>
                                        <p:cTn id="29" dur="500"/>
                                        <p:tgtEl>
                                          <p:spTgt spid="33"/>
                                        </p:tgtEl>
                                      </p:cBhvr>
                                    </p:animEffect>
                                  </p:childTnLst>
                                </p:cTn>
                              </p:par>
                            </p:childTnLst>
                          </p:cTn>
                        </p:par>
                        <p:par>
                          <p:cTn id="30" fill="hold">
                            <p:stCondLst>
                              <p:cond delay="15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par>
                          <p:cTn id="34" fill="hold">
                            <p:stCondLst>
                              <p:cond delay="2000"/>
                            </p:stCondLst>
                            <p:childTnLst>
                              <p:par>
                                <p:cTn id="35" presetID="22" presetClass="entr" presetSubtype="1"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up)">
                                      <p:cBhvr>
                                        <p:cTn id="37" dur="500"/>
                                        <p:tgtEl>
                                          <p:spTgt spid="36"/>
                                        </p:tgtEl>
                                      </p:cBhvr>
                                    </p:animEffect>
                                  </p:childTnLst>
                                </p:cTn>
                              </p:par>
                            </p:childTnLst>
                          </p:cTn>
                        </p:par>
                        <p:par>
                          <p:cTn id="38" fill="hold">
                            <p:stCondLst>
                              <p:cond delay="2500"/>
                            </p:stCondLst>
                            <p:childTnLst>
                              <p:par>
                                <p:cTn id="39" presetID="10" presetClass="entr" presetSubtype="0"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up)">
                                      <p:cBhvr>
                                        <p:cTn id="46" dur="500"/>
                                        <p:tgtEl>
                                          <p:spTgt spid="25"/>
                                        </p:tgtEl>
                                      </p:cBhvr>
                                    </p:animEffect>
                                  </p:childTnLst>
                                </p:cTn>
                              </p:par>
                            </p:childTnLst>
                          </p:cTn>
                        </p:par>
                        <p:par>
                          <p:cTn id="47" fill="hold">
                            <p:stCondLst>
                              <p:cond delay="500"/>
                            </p:stCondLst>
                            <p:childTnLst>
                              <p:par>
                                <p:cTn id="48" presetID="10" presetClass="entr" presetSubtype="0" fill="hold" grpId="0" nodeType="after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fade">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up)">
                                      <p:cBhvr>
                                        <p:cTn id="55" dur="500"/>
                                        <p:tgtEl>
                                          <p:spTgt spid="45"/>
                                        </p:tgtEl>
                                      </p:cBhvr>
                                    </p:animEffect>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fade">
                                      <p:cBhvr>
                                        <p:cTn id="59" dur="500"/>
                                        <p:tgtEl>
                                          <p:spTgt spid="14"/>
                                        </p:tgtEl>
                                      </p:cBhvr>
                                    </p:animEffect>
                                  </p:childTnLst>
                                </p:cTn>
                              </p:par>
                            </p:childTnLst>
                          </p:cTn>
                        </p:par>
                        <p:par>
                          <p:cTn id="60" fill="hold">
                            <p:stCondLst>
                              <p:cond delay="1000"/>
                            </p:stCondLst>
                            <p:childTnLst>
                              <p:par>
                                <p:cTn id="61" presetID="22" presetClass="entr" presetSubtype="1" fill="hold" nodeType="after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wipe(up)">
                                      <p:cBhvr>
                                        <p:cTn id="63" dur="500"/>
                                        <p:tgtEl>
                                          <p:spTgt spid="42"/>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500"/>
                                        <p:tgtEl>
                                          <p:spTgt spid="15"/>
                                        </p:tgtEl>
                                      </p:cBhvr>
                                    </p:animEffect>
                                  </p:childTnLst>
                                </p:cTn>
                              </p:par>
                            </p:childTnLst>
                          </p:cTn>
                        </p:par>
                        <p:par>
                          <p:cTn id="68" fill="hold">
                            <p:stCondLst>
                              <p:cond delay="2000"/>
                            </p:stCondLst>
                            <p:childTnLst>
                              <p:par>
                                <p:cTn id="69" presetID="22" presetClass="entr" presetSubtype="1" fill="hold" nodeType="after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wipe(up)">
                                      <p:cBhvr>
                                        <p:cTn id="71" dur="500"/>
                                        <p:tgtEl>
                                          <p:spTgt spid="39"/>
                                        </p:tgtEl>
                                      </p:cBhvr>
                                    </p:animEffect>
                                  </p:childTnLst>
                                </p:cTn>
                              </p:par>
                            </p:childTnLst>
                          </p:cTn>
                        </p:par>
                        <p:par>
                          <p:cTn id="72" fill="hold">
                            <p:stCondLst>
                              <p:cond delay="2500"/>
                            </p:stCondLst>
                            <p:childTnLst>
                              <p:par>
                                <p:cTn id="73" presetID="10" presetClass="entr" presetSubtype="0" fill="hold" grpId="0" nodeType="after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500"/>
                                        <p:tgtEl>
                                          <p:spTgt spid="16"/>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48"/>
                                        </p:tgtEl>
                                        <p:attrNameLst>
                                          <p:attrName>style.visibility</p:attrName>
                                        </p:attrNameLst>
                                      </p:cBhvr>
                                      <p:to>
                                        <p:strVal val="visible"/>
                                      </p:to>
                                    </p:set>
                                    <p:animEffect transition="in" filter="wipe(left)">
                                      <p:cBhvr>
                                        <p:cTn id="80" dur="500"/>
                                        <p:tgtEl>
                                          <p:spTgt spid="48"/>
                                        </p:tgtEl>
                                      </p:cBhvr>
                                    </p:animEffect>
                                  </p:childTnLst>
                                </p:cTn>
                              </p:par>
                            </p:childTnLst>
                          </p:cTn>
                        </p:par>
                        <p:par>
                          <p:cTn id="81" fill="hold">
                            <p:stCondLst>
                              <p:cond delay="500"/>
                            </p:stCondLst>
                            <p:childTnLst>
                              <p:par>
                                <p:cTn id="82" presetID="10" presetClass="entr" presetSubtype="0" fill="hold" grpId="0" nodeType="after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fade">
                                      <p:cBhvr>
                                        <p:cTn id="8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2" grpId="0" animBg="1"/>
      <p:bldP spid="13" grpId="0" animBg="1"/>
      <p:bldP spid="14"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Đặt vấn đề</a:t>
            </a:r>
          </a:p>
        </p:txBody>
      </p:sp>
      <p:sp>
        <p:nvSpPr>
          <p:cNvPr id="3" name="Content Placeholder 2"/>
          <p:cNvSpPr>
            <a:spLocks noGrp="1"/>
          </p:cNvSpPr>
          <p:nvPr>
            <p:ph idx="1"/>
          </p:nvPr>
        </p:nvSpPr>
        <p:spPr/>
        <p:txBody>
          <a:bodyPr/>
          <a:lstStyle/>
          <a:p>
            <a:pPr>
              <a:defRPr/>
            </a:pPr>
            <a:r>
              <a:rPr lang="en-US">
                <a:solidFill>
                  <a:srgbClr val="002060"/>
                </a:solidFill>
              </a:rPr>
              <a:t>3 </a:t>
            </a:r>
            <a:r>
              <a:rPr lang="vi-VN">
                <a:solidFill>
                  <a:srgbClr val="002060"/>
                </a:solidFill>
              </a:rPr>
              <a:t>đ</a:t>
            </a:r>
            <a:r>
              <a:rPr lang="en-US">
                <a:solidFill>
                  <a:srgbClr val="002060"/>
                </a:solidFill>
              </a:rPr>
              <a:t>oạn lệnh nhập a, b, c &gt; 0</a:t>
            </a:r>
          </a:p>
        </p:txBody>
      </p:sp>
      <p:sp>
        <p:nvSpPr>
          <p:cNvPr id="2" name="Date Placeholder 1"/>
          <p:cNvSpPr>
            <a:spLocks noGrp="1"/>
          </p:cNvSpPr>
          <p:nvPr>
            <p:ph type="dt" sz="half" idx="10"/>
          </p:nvPr>
        </p:nvSpPr>
        <p:spPr/>
        <p:txBody>
          <a:bodyPr/>
          <a:lstStyle/>
          <a:p>
            <a:fld id="{437B29F1-5F78-41FE-82FB-64E794F31D45}" type="datetime1">
              <a:rPr lang="vi-VN" smtClean="0"/>
              <a:t>09/05/2023</a:t>
            </a:fld>
            <a:endParaRPr lang="vi-VN"/>
          </a:p>
        </p:txBody>
      </p:sp>
      <p:sp>
        <p:nvSpPr>
          <p:cNvPr id="18436" name="Footer Placeholder 3"/>
          <p:cNvSpPr>
            <a:spLocks noGrp="1"/>
          </p:cNvSpPr>
          <p:nvPr>
            <p:ph type="ftr" sz="quarter" idx="11"/>
          </p:nvPr>
        </p:nvSpPr>
        <p:spPr>
          <a:noFill/>
        </p:spPr>
        <p:txBody>
          <a:bodyPr/>
          <a:lstStyle/>
          <a:p>
            <a:r>
              <a:rPr lang="vi-VN"/>
              <a:t>Chương 4 - Chương trình con</a:t>
            </a:r>
            <a:endParaRPr lang="en-US"/>
          </a:p>
        </p:txBody>
      </p:sp>
      <p:sp>
        <p:nvSpPr>
          <p:cNvPr id="5" name="Rounded Rectangle 4"/>
          <p:cNvSpPr/>
          <p:nvPr/>
        </p:nvSpPr>
        <p:spPr>
          <a:xfrm>
            <a:off x="685800" y="1700808"/>
            <a:ext cx="152400" cy="4343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8438" name="TextBox 5"/>
          <p:cNvSpPr txBox="1">
            <a:spLocks noChangeArrowheads="1"/>
          </p:cNvSpPr>
          <p:nvPr/>
        </p:nvSpPr>
        <p:spPr bwMode="auto">
          <a:xfrm>
            <a:off x="838200" y="1700808"/>
            <a:ext cx="70104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do {</a:t>
            </a:r>
          </a:p>
          <a:p>
            <a:r>
              <a:rPr lang="en-US" sz="2000" b="1">
                <a:latin typeface="Courier New" pitchFamily="49" charset="0"/>
                <a:cs typeface="Courier New" pitchFamily="49" charset="0"/>
              </a:rPr>
              <a:t>	printf(“Nhap mot so nguyen duong: ”);</a:t>
            </a:r>
          </a:p>
          <a:p>
            <a:r>
              <a:rPr lang="en-US" sz="2000" b="1">
                <a:latin typeface="Courier New" pitchFamily="49" charset="0"/>
                <a:cs typeface="Courier New" pitchFamily="49" charset="0"/>
              </a:rPr>
              <a:t>	scanf(“%d”, &amp;</a:t>
            </a:r>
            <a:r>
              <a:rPr lang="en-US" sz="2000" b="1">
                <a:solidFill>
                  <a:srgbClr val="FF0000"/>
                </a:solidFill>
                <a:latin typeface="Courier New" pitchFamily="49" charset="0"/>
                <a:cs typeface="Courier New" pitchFamily="49" charset="0"/>
              </a:rPr>
              <a:t>a</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while (</a:t>
            </a:r>
            <a:r>
              <a:rPr lang="en-US" sz="2000" b="1">
                <a:solidFill>
                  <a:srgbClr val="FF0000"/>
                </a:solidFill>
                <a:latin typeface="Courier New" pitchFamily="49" charset="0"/>
                <a:cs typeface="Courier New" pitchFamily="49" charset="0"/>
              </a:rPr>
              <a:t>a</a:t>
            </a:r>
            <a:r>
              <a:rPr lang="en-US" sz="2000" b="1">
                <a:latin typeface="Courier New" pitchFamily="49" charset="0"/>
                <a:cs typeface="Courier New" pitchFamily="49" charset="0"/>
              </a:rPr>
              <a:t> &lt;= 0);</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do {</a:t>
            </a:r>
          </a:p>
          <a:p>
            <a:r>
              <a:rPr lang="en-US" sz="2000" b="1">
                <a:latin typeface="Courier New" pitchFamily="49" charset="0"/>
                <a:cs typeface="Courier New" pitchFamily="49" charset="0"/>
              </a:rPr>
              <a:t>	printf(“Nhap mot so nguyen duong: ”);</a:t>
            </a:r>
          </a:p>
          <a:p>
            <a:r>
              <a:rPr lang="en-US" sz="2000" b="1">
                <a:latin typeface="Courier New" pitchFamily="49" charset="0"/>
                <a:cs typeface="Courier New" pitchFamily="49" charset="0"/>
              </a:rPr>
              <a:t>	scanf(“%d”, &amp;</a:t>
            </a:r>
            <a:r>
              <a:rPr lang="en-US" sz="2000" b="1">
                <a:solidFill>
                  <a:srgbClr val="FF0000"/>
                </a:solidFill>
                <a:latin typeface="Courier New" pitchFamily="49" charset="0"/>
                <a:cs typeface="Courier New" pitchFamily="49" charset="0"/>
              </a:rPr>
              <a:t>b</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while (</a:t>
            </a:r>
            <a:r>
              <a:rPr lang="en-US" sz="2000" b="1">
                <a:solidFill>
                  <a:srgbClr val="FF0000"/>
                </a:solidFill>
                <a:latin typeface="Courier New" pitchFamily="49" charset="0"/>
                <a:cs typeface="Courier New" pitchFamily="49" charset="0"/>
              </a:rPr>
              <a:t>b</a:t>
            </a:r>
            <a:r>
              <a:rPr lang="en-US" sz="2000" b="1">
                <a:latin typeface="Courier New" pitchFamily="49" charset="0"/>
                <a:cs typeface="Courier New" pitchFamily="49" charset="0"/>
              </a:rPr>
              <a:t> &lt;= 0);</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do {</a:t>
            </a:r>
          </a:p>
          <a:p>
            <a:r>
              <a:rPr lang="en-US" sz="2000" b="1">
                <a:latin typeface="Courier New" pitchFamily="49" charset="0"/>
                <a:cs typeface="Courier New" pitchFamily="49" charset="0"/>
              </a:rPr>
              <a:t>	printf(“Nhap mot so nguyen duong: ”);</a:t>
            </a:r>
          </a:p>
          <a:p>
            <a:r>
              <a:rPr lang="en-US" sz="2000" b="1">
                <a:latin typeface="Courier New" pitchFamily="49" charset="0"/>
                <a:cs typeface="Courier New" pitchFamily="49" charset="0"/>
              </a:rPr>
              <a:t>	scanf(“%d”, &amp;</a:t>
            </a:r>
            <a:r>
              <a:rPr lang="en-US" sz="2000" b="1">
                <a:solidFill>
                  <a:srgbClr val="FF0000"/>
                </a:solidFill>
                <a:latin typeface="Courier New" pitchFamily="49" charset="0"/>
                <a:cs typeface="Courier New" pitchFamily="49" charset="0"/>
              </a:rPr>
              <a:t>c</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while (</a:t>
            </a:r>
            <a:r>
              <a:rPr lang="en-US" sz="2000" b="1">
                <a:solidFill>
                  <a:srgbClr val="FF0000"/>
                </a:solidFill>
                <a:latin typeface="Courier New" pitchFamily="49" charset="0"/>
                <a:cs typeface="Courier New" pitchFamily="49" charset="0"/>
              </a:rPr>
              <a:t>c</a:t>
            </a:r>
            <a:r>
              <a:rPr lang="en-US" sz="2000" b="1">
                <a:latin typeface="Courier New" pitchFamily="49" charset="0"/>
                <a:cs typeface="Courier New" pitchFamily="49" charset="0"/>
              </a:rPr>
              <a:t> &lt;= 0);</a:t>
            </a:r>
          </a:p>
        </p:txBody>
      </p:sp>
      <p:sp>
        <p:nvSpPr>
          <p:cNvPr id="7" name="Rectangle 6"/>
          <p:cNvSpPr>
            <a:spLocks/>
          </p:cNvSpPr>
          <p:nvPr/>
        </p:nvSpPr>
        <p:spPr bwMode="auto">
          <a:xfrm>
            <a:off x="0" y="1772816"/>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3212976"/>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0" y="4802088"/>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10" name="Slide Number Placeholder 9"/>
          <p:cNvSpPr>
            <a:spLocks noGrp="1"/>
          </p:cNvSpPr>
          <p:nvPr>
            <p:ph type="sldNum" sz="quarter" idx="12"/>
          </p:nvPr>
        </p:nvSpPr>
        <p:spPr/>
        <p:txBody>
          <a:bodyPr/>
          <a:lstStyle/>
          <a:p>
            <a:fld id="{5AB95402-1E0D-474E-8D8C-CBE7F053639E}" type="slidenum">
              <a:rPr lang="vi-VN" smtClean="0"/>
              <a:pPr/>
              <a:t>3</a:t>
            </a:fld>
            <a:r>
              <a:rPr lang="vi-VN"/>
              <a:t>/43</a:t>
            </a:r>
          </a:p>
        </p:txBody>
      </p:sp>
    </p:spTree>
    <p:extLst>
      <p:ext uri="{BB962C8B-B14F-4D97-AF65-F5344CB8AC3E}">
        <p14:creationId xmlns:p14="http://schemas.microsoft.com/office/powerpoint/2010/main" val="40686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par>
                                <p:cTn id="21" presetID="2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t>Đặt vấn đề</a:t>
            </a:r>
          </a:p>
        </p:txBody>
      </p:sp>
      <p:sp>
        <p:nvSpPr>
          <p:cNvPr id="3" name="Content Placeholder 2"/>
          <p:cNvSpPr>
            <a:spLocks noGrp="1"/>
          </p:cNvSpPr>
          <p:nvPr>
            <p:ph idx="1"/>
          </p:nvPr>
        </p:nvSpPr>
        <p:spPr/>
        <p:txBody>
          <a:bodyPr/>
          <a:lstStyle/>
          <a:p>
            <a:pPr>
              <a:defRPr/>
            </a:pPr>
            <a:r>
              <a:rPr lang="en-US">
                <a:solidFill>
                  <a:srgbClr val="002060"/>
                </a:solidFill>
              </a:rPr>
              <a:t>3 </a:t>
            </a:r>
            <a:r>
              <a:rPr lang="vi-VN">
                <a:solidFill>
                  <a:srgbClr val="002060"/>
                </a:solidFill>
              </a:rPr>
              <a:t>đ</a:t>
            </a:r>
            <a:r>
              <a:rPr lang="en-US">
                <a:solidFill>
                  <a:srgbClr val="002060"/>
                </a:solidFill>
              </a:rPr>
              <a:t>oạn lệnh tính s1 = a!, s2 = b!, s3 = c!</a:t>
            </a:r>
          </a:p>
        </p:txBody>
      </p:sp>
      <p:sp>
        <p:nvSpPr>
          <p:cNvPr id="2" name="Date Placeholder 1"/>
          <p:cNvSpPr>
            <a:spLocks noGrp="1"/>
          </p:cNvSpPr>
          <p:nvPr>
            <p:ph type="dt" sz="half" idx="10"/>
          </p:nvPr>
        </p:nvSpPr>
        <p:spPr/>
        <p:txBody>
          <a:bodyPr/>
          <a:lstStyle/>
          <a:p>
            <a:fld id="{24A786E2-EBB2-472C-9072-C85DDF56A1CA}" type="datetime1">
              <a:rPr lang="vi-VN" smtClean="0"/>
              <a:t>09/05/2023</a:t>
            </a:fld>
            <a:endParaRPr lang="vi-VN"/>
          </a:p>
        </p:txBody>
      </p:sp>
      <p:sp>
        <p:nvSpPr>
          <p:cNvPr id="19460" name="Footer Placeholder 3"/>
          <p:cNvSpPr>
            <a:spLocks noGrp="1"/>
          </p:cNvSpPr>
          <p:nvPr>
            <p:ph type="ftr" sz="quarter" idx="11"/>
          </p:nvPr>
        </p:nvSpPr>
        <p:spPr>
          <a:noFill/>
        </p:spPr>
        <p:txBody>
          <a:bodyPr/>
          <a:lstStyle/>
          <a:p>
            <a:r>
              <a:rPr lang="vi-VN"/>
              <a:t>Chương 4 - Chương trình con</a:t>
            </a:r>
            <a:endParaRPr lang="en-US"/>
          </a:p>
        </p:txBody>
      </p:sp>
      <p:sp>
        <p:nvSpPr>
          <p:cNvPr id="5" name="Rounded Rectangle 4"/>
          <p:cNvSpPr/>
          <p:nvPr/>
        </p:nvSpPr>
        <p:spPr>
          <a:xfrm>
            <a:off x="685800" y="1772816"/>
            <a:ext cx="152400" cy="4343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9462" name="TextBox 5"/>
          <p:cNvSpPr txBox="1">
            <a:spLocks noChangeArrowheads="1"/>
          </p:cNvSpPr>
          <p:nvPr/>
        </p:nvSpPr>
        <p:spPr bwMode="auto">
          <a:xfrm>
            <a:off x="838200" y="1772816"/>
            <a:ext cx="7010400" cy="44005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 Tính s1 = a! = 1 * 2 * … * a }</a:t>
            </a:r>
          </a:p>
          <a:p>
            <a:r>
              <a:rPr lang="en-US" sz="2000" b="1">
                <a:solidFill>
                  <a:srgbClr val="FF0000"/>
                </a:solidFill>
                <a:latin typeface="Courier New" pitchFamily="49" charset="0"/>
                <a:cs typeface="Courier New" pitchFamily="49" charset="0"/>
              </a:rPr>
              <a:t>s1</a:t>
            </a:r>
            <a:r>
              <a:rPr lang="en-US" sz="2000" b="1">
                <a:latin typeface="Courier New" pitchFamily="49" charset="0"/>
                <a:cs typeface="Courier New" pitchFamily="49" charset="0"/>
              </a:rPr>
              <a:t> = 1;</a:t>
            </a:r>
          </a:p>
          <a:p>
            <a:r>
              <a:rPr lang="en-US" sz="2000" b="1">
                <a:latin typeface="Courier New" pitchFamily="49" charset="0"/>
                <a:cs typeface="Courier New" pitchFamily="49" charset="0"/>
              </a:rPr>
              <a:t>for (i = 2; i &lt;= </a:t>
            </a:r>
            <a:r>
              <a:rPr lang="en-US" sz="2000" b="1">
                <a:solidFill>
                  <a:srgbClr val="FF0000"/>
                </a:solidFill>
                <a:latin typeface="Courier New" pitchFamily="49" charset="0"/>
                <a:cs typeface="Courier New" pitchFamily="49" charset="0"/>
              </a:rPr>
              <a:t>a </a:t>
            </a:r>
            <a:r>
              <a:rPr lang="en-US" sz="2000" b="1">
                <a:latin typeface="Courier New" pitchFamily="49" charset="0"/>
                <a:cs typeface="Courier New" pitchFamily="49" charset="0"/>
              </a:rPr>
              <a:t>; i++)</a:t>
            </a:r>
          </a:p>
          <a:p>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s1</a:t>
            </a:r>
            <a:r>
              <a:rPr lang="en-US" sz="2000" b="1">
                <a:latin typeface="Courier New" pitchFamily="49" charset="0"/>
                <a:cs typeface="Courier New" pitchFamily="49" charset="0"/>
              </a:rPr>
              <a:t> = </a:t>
            </a:r>
            <a:r>
              <a:rPr lang="en-US" sz="2000" b="1">
                <a:solidFill>
                  <a:srgbClr val="FF0000"/>
                </a:solidFill>
                <a:latin typeface="Courier New" pitchFamily="49" charset="0"/>
                <a:cs typeface="Courier New" pitchFamily="49" charset="0"/>
              </a:rPr>
              <a:t>s1</a:t>
            </a:r>
            <a:r>
              <a:rPr lang="en-US" sz="2000" b="1">
                <a:latin typeface="Courier New" pitchFamily="49" charset="0"/>
                <a:cs typeface="Courier New" pitchFamily="49" charset="0"/>
              </a:rPr>
              <a:t> * i;</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Tính s2 = b! = 1 * 2 * … * b }</a:t>
            </a:r>
          </a:p>
          <a:p>
            <a:r>
              <a:rPr lang="en-US" sz="2000" b="1">
                <a:solidFill>
                  <a:srgbClr val="FF0000"/>
                </a:solidFill>
                <a:latin typeface="Courier New" pitchFamily="49" charset="0"/>
                <a:cs typeface="Courier New" pitchFamily="49" charset="0"/>
              </a:rPr>
              <a:t>s2</a:t>
            </a:r>
            <a:r>
              <a:rPr lang="en-US" sz="2000" b="1">
                <a:latin typeface="Courier New" pitchFamily="49" charset="0"/>
                <a:cs typeface="Courier New" pitchFamily="49" charset="0"/>
              </a:rPr>
              <a:t> = 1;</a:t>
            </a:r>
          </a:p>
          <a:p>
            <a:r>
              <a:rPr lang="en-US" sz="2000" b="1">
                <a:latin typeface="Courier New" pitchFamily="49" charset="0"/>
                <a:cs typeface="Courier New" pitchFamily="49" charset="0"/>
              </a:rPr>
              <a:t>for (i = 2; i &lt;= </a:t>
            </a:r>
            <a:r>
              <a:rPr lang="en-US" sz="2000" b="1">
                <a:solidFill>
                  <a:srgbClr val="FF0000"/>
                </a:solidFill>
                <a:latin typeface="Courier New" pitchFamily="49" charset="0"/>
                <a:cs typeface="Courier New" pitchFamily="49" charset="0"/>
              </a:rPr>
              <a:t>b </a:t>
            </a:r>
            <a:r>
              <a:rPr lang="en-US" sz="2000" b="1">
                <a:latin typeface="Courier New" pitchFamily="49" charset="0"/>
                <a:cs typeface="Courier New" pitchFamily="49" charset="0"/>
              </a:rPr>
              <a:t>; i++)</a:t>
            </a:r>
          </a:p>
          <a:p>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s2</a:t>
            </a:r>
            <a:r>
              <a:rPr lang="en-US" sz="2000" b="1">
                <a:latin typeface="Courier New" pitchFamily="49" charset="0"/>
                <a:cs typeface="Courier New" pitchFamily="49" charset="0"/>
              </a:rPr>
              <a:t> = </a:t>
            </a:r>
            <a:r>
              <a:rPr lang="en-US" sz="2000" b="1">
                <a:solidFill>
                  <a:srgbClr val="FF0000"/>
                </a:solidFill>
                <a:latin typeface="Courier New" pitchFamily="49" charset="0"/>
                <a:cs typeface="Courier New" pitchFamily="49" charset="0"/>
              </a:rPr>
              <a:t>s2</a:t>
            </a:r>
            <a:r>
              <a:rPr lang="en-US" sz="2000" b="1">
                <a:latin typeface="Courier New" pitchFamily="49" charset="0"/>
                <a:cs typeface="Courier New" pitchFamily="49" charset="0"/>
              </a:rPr>
              <a:t> * i;</a:t>
            </a:r>
          </a:p>
          <a:p>
            <a:endParaRPr lang="en-US" sz="2000" b="1">
              <a:latin typeface="Courier New" pitchFamily="49" charset="0"/>
              <a:cs typeface="Courier New" pitchFamily="49" charset="0"/>
            </a:endParaRPr>
          </a:p>
          <a:p>
            <a:r>
              <a:rPr lang="en-US" sz="2000" b="1">
                <a:latin typeface="Courier New" pitchFamily="49" charset="0"/>
                <a:cs typeface="Courier New" pitchFamily="49" charset="0"/>
              </a:rPr>
              <a:t>{ Tính s3 = c! = 1 * 2 * … * c }</a:t>
            </a:r>
          </a:p>
          <a:p>
            <a:r>
              <a:rPr lang="en-US" sz="2000" b="1">
                <a:solidFill>
                  <a:srgbClr val="FF0000"/>
                </a:solidFill>
                <a:latin typeface="Courier New" pitchFamily="49" charset="0"/>
                <a:cs typeface="Courier New" pitchFamily="49" charset="0"/>
              </a:rPr>
              <a:t>s3</a:t>
            </a:r>
            <a:r>
              <a:rPr lang="en-US" sz="2000" b="1">
                <a:latin typeface="Courier New" pitchFamily="49" charset="0"/>
                <a:cs typeface="Courier New" pitchFamily="49" charset="0"/>
              </a:rPr>
              <a:t> = 1;</a:t>
            </a:r>
          </a:p>
          <a:p>
            <a:r>
              <a:rPr lang="en-US" sz="2000" b="1">
                <a:latin typeface="Courier New" pitchFamily="49" charset="0"/>
                <a:cs typeface="Courier New" pitchFamily="49" charset="0"/>
              </a:rPr>
              <a:t>for (i = 2; i &lt;= </a:t>
            </a:r>
            <a:r>
              <a:rPr lang="en-US" sz="2000" b="1">
                <a:solidFill>
                  <a:srgbClr val="FF0000"/>
                </a:solidFill>
                <a:latin typeface="Courier New" pitchFamily="49" charset="0"/>
                <a:cs typeface="Courier New" pitchFamily="49" charset="0"/>
              </a:rPr>
              <a:t>c </a:t>
            </a:r>
            <a:r>
              <a:rPr lang="en-US" sz="2000" b="1">
                <a:latin typeface="Courier New" pitchFamily="49" charset="0"/>
                <a:cs typeface="Courier New" pitchFamily="49" charset="0"/>
              </a:rPr>
              <a:t>; i++)</a:t>
            </a:r>
          </a:p>
          <a:p>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s3</a:t>
            </a:r>
            <a:r>
              <a:rPr lang="en-US" sz="2000" b="1">
                <a:latin typeface="Courier New" pitchFamily="49" charset="0"/>
                <a:cs typeface="Courier New" pitchFamily="49" charset="0"/>
              </a:rPr>
              <a:t> = </a:t>
            </a:r>
            <a:r>
              <a:rPr lang="en-US" sz="2000" b="1">
                <a:solidFill>
                  <a:srgbClr val="FF0000"/>
                </a:solidFill>
                <a:latin typeface="Courier New" pitchFamily="49" charset="0"/>
                <a:cs typeface="Courier New" pitchFamily="49" charset="0"/>
              </a:rPr>
              <a:t>s3</a:t>
            </a:r>
            <a:r>
              <a:rPr lang="en-US" sz="2000" b="1">
                <a:latin typeface="Courier New" pitchFamily="49" charset="0"/>
                <a:cs typeface="Courier New" pitchFamily="49" charset="0"/>
              </a:rPr>
              <a:t> * i;</a:t>
            </a:r>
          </a:p>
        </p:txBody>
      </p:sp>
      <p:sp>
        <p:nvSpPr>
          <p:cNvPr id="7" name="Rectangle 6"/>
          <p:cNvSpPr>
            <a:spLocks/>
          </p:cNvSpPr>
          <p:nvPr/>
        </p:nvSpPr>
        <p:spPr bwMode="auto">
          <a:xfrm>
            <a:off x="0" y="1849016"/>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8" name="Rectangle 7"/>
          <p:cNvSpPr>
            <a:spLocks/>
          </p:cNvSpPr>
          <p:nvPr/>
        </p:nvSpPr>
        <p:spPr bwMode="auto">
          <a:xfrm>
            <a:off x="0" y="3373016"/>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0" y="4897016"/>
            <a:ext cx="9128125" cy="1219200"/>
          </a:xfrm>
          <a:prstGeom prst="rect">
            <a:avLst/>
          </a:prstGeom>
          <a:solidFill>
            <a:srgbClr val="0099FF">
              <a:alpha val="20000"/>
            </a:srgbClr>
          </a:solidFill>
          <a:ln w="9525" algn="ctr">
            <a:noFill/>
            <a:miter lim="800000"/>
            <a:headEnd/>
            <a:tailEnd/>
          </a:ln>
        </p:spPr>
        <p:txBody>
          <a:bodyPr/>
          <a:lstStyle/>
          <a:p>
            <a:endParaRPr lang="en-US"/>
          </a:p>
        </p:txBody>
      </p:sp>
      <p:sp>
        <p:nvSpPr>
          <p:cNvPr id="10" name="Slide Number Placeholder 9"/>
          <p:cNvSpPr>
            <a:spLocks noGrp="1"/>
          </p:cNvSpPr>
          <p:nvPr>
            <p:ph type="sldNum" sz="quarter" idx="12"/>
          </p:nvPr>
        </p:nvSpPr>
        <p:spPr/>
        <p:txBody>
          <a:bodyPr/>
          <a:lstStyle/>
          <a:p>
            <a:fld id="{5AB95402-1E0D-474E-8D8C-CBE7F053639E}" type="slidenum">
              <a:rPr lang="vi-VN" smtClean="0"/>
              <a:pPr/>
              <a:t>4</a:t>
            </a:fld>
            <a:r>
              <a:rPr lang="vi-VN"/>
              <a:t>/43</a:t>
            </a:r>
          </a:p>
        </p:txBody>
      </p:sp>
    </p:spTree>
    <p:extLst>
      <p:ext uri="{BB962C8B-B14F-4D97-AF65-F5344CB8AC3E}">
        <p14:creationId xmlns:p14="http://schemas.microsoft.com/office/powerpoint/2010/main" val="1531775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2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par>
                                <p:cTn id="21" presetID="2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t>Đặt vấn </a:t>
            </a:r>
            <a:r>
              <a:rPr lang="vi-VN"/>
              <a:t>đề</a:t>
            </a:r>
            <a:endParaRPr lang="en-US"/>
          </a:p>
        </p:txBody>
      </p:sp>
      <p:sp>
        <p:nvSpPr>
          <p:cNvPr id="3" name="Content Placeholder 2"/>
          <p:cNvSpPr>
            <a:spLocks noGrp="1"/>
          </p:cNvSpPr>
          <p:nvPr>
            <p:ph idx="1"/>
          </p:nvPr>
        </p:nvSpPr>
        <p:spPr>
          <a:xfrm>
            <a:off x="457200" y="1524000"/>
            <a:ext cx="8305800" cy="4800600"/>
          </a:xfrm>
        </p:spPr>
        <p:txBody>
          <a:bodyPr/>
          <a:lstStyle/>
          <a:p>
            <a:pPr>
              <a:defRPr/>
            </a:pPr>
            <a:r>
              <a:rPr lang="en-US">
                <a:solidFill>
                  <a:srgbClr val="002060"/>
                </a:solidFill>
              </a:rPr>
              <a:t>Giải pháp =&gt; </a:t>
            </a:r>
            <a:r>
              <a:rPr lang="en-US">
                <a:solidFill>
                  <a:srgbClr val="FF0000"/>
                </a:solidFill>
              </a:rPr>
              <a:t>Viết 1 lần và sử dụng nhiều lần</a:t>
            </a:r>
          </a:p>
          <a:p>
            <a:pPr lvl="1">
              <a:defRPr/>
            </a:pPr>
            <a:r>
              <a:rPr lang="en-US"/>
              <a:t>Đoạn lệnh nhập tổng quát, với n = a, b, c</a:t>
            </a:r>
          </a:p>
          <a:p>
            <a:pPr lvl="1">
              <a:defRPr/>
            </a:pPr>
            <a:endParaRPr lang="en-US"/>
          </a:p>
          <a:p>
            <a:pPr lvl="1">
              <a:defRPr/>
            </a:pPr>
            <a:endParaRPr lang="en-US"/>
          </a:p>
          <a:p>
            <a:pPr lvl="1">
              <a:defRPr/>
            </a:pPr>
            <a:endParaRPr lang="en-US"/>
          </a:p>
          <a:p>
            <a:pPr lvl="1">
              <a:defRPr/>
            </a:pPr>
            <a:endParaRPr lang="en-US"/>
          </a:p>
          <a:p>
            <a:pPr lvl="1">
              <a:defRPr/>
            </a:pPr>
            <a:r>
              <a:rPr lang="en-US"/>
              <a:t>Đoạn lệnh tính giai thừa tổng quát, n = a, b, c</a:t>
            </a:r>
          </a:p>
        </p:txBody>
      </p:sp>
      <p:sp>
        <p:nvSpPr>
          <p:cNvPr id="2" name="Date Placeholder 1"/>
          <p:cNvSpPr>
            <a:spLocks noGrp="1"/>
          </p:cNvSpPr>
          <p:nvPr>
            <p:ph type="dt" sz="half" idx="10"/>
          </p:nvPr>
        </p:nvSpPr>
        <p:spPr/>
        <p:txBody>
          <a:bodyPr/>
          <a:lstStyle/>
          <a:p>
            <a:fld id="{6AB026F7-CF8F-4922-8913-F29ECEB8DB87}" type="datetime1">
              <a:rPr lang="vi-VN" smtClean="0"/>
              <a:t>09/05/2023</a:t>
            </a:fld>
            <a:endParaRPr lang="vi-VN"/>
          </a:p>
        </p:txBody>
      </p:sp>
      <p:sp>
        <p:nvSpPr>
          <p:cNvPr id="20484" name="Footer Placeholder 3"/>
          <p:cNvSpPr>
            <a:spLocks noGrp="1"/>
          </p:cNvSpPr>
          <p:nvPr>
            <p:ph type="ftr" sz="quarter" idx="11"/>
          </p:nvPr>
        </p:nvSpPr>
        <p:spPr>
          <a:noFill/>
        </p:spPr>
        <p:txBody>
          <a:bodyPr/>
          <a:lstStyle/>
          <a:p>
            <a:r>
              <a:rPr lang="vi-VN"/>
              <a:t>Chương 4 - Chương trình con</a:t>
            </a:r>
            <a:endParaRPr lang="en-US"/>
          </a:p>
        </p:txBody>
      </p:sp>
      <p:sp>
        <p:nvSpPr>
          <p:cNvPr id="5" name="Rounded Rectangle 4"/>
          <p:cNvSpPr/>
          <p:nvPr/>
        </p:nvSpPr>
        <p:spPr>
          <a:xfrm>
            <a:off x="685800" y="2667000"/>
            <a:ext cx="152400" cy="1295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2667000"/>
            <a:ext cx="7010400" cy="1323975"/>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do {</a:t>
            </a:r>
          </a:p>
          <a:p>
            <a:r>
              <a:rPr lang="en-US" sz="2000" b="1">
                <a:latin typeface="Courier New" pitchFamily="49" charset="0"/>
                <a:cs typeface="Courier New" pitchFamily="49" charset="0"/>
              </a:rPr>
              <a:t>	printf(“Nhap mot so nguyen duong: ”);</a:t>
            </a:r>
          </a:p>
          <a:p>
            <a:r>
              <a:rPr lang="en-US" sz="2000" b="1">
                <a:latin typeface="Courier New" pitchFamily="49" charset="0"/>
                <a:cs typeface="Courier New" pitchFamily="49" charset="0"/>
              </a:rPr>
              <a:t>	scanf(“%d”, &amp;</a:t>
            </a:r>
            <a:r>
              <a:rPr lang="en-US" sz="2000" b="1">
                <a:solidFill>
                  <a:srgbClr val="FF0000"/>
                </a:solidFill>
                <a:latin typeface="Courier New" pitchFamily="49" charset="0"/>
                <a:cs typeface="Courier New" pitchFamily="49" charset="0"/>
              </a:rPr>
              <a:t>n</a:t>
            </a:r>
            <a:r>
              <a:rPr lang="en-US" sz="2000" b="1">
                <a:latin typeface="Courier New" pitchFamily="49" charset="0"/>
                <a:cs typeface="Courier New" pitchFamily="49" charset="0"/>
              </a:rPr>
              <a:t>);</a:t>
            </a:r>
          </a:p>
          <a:p>
            <a:r>
              <a:rPr lang="en-US" sz="2000" b="1">
                <a:latin typeface="Courier New" pitchFamily="49" charset="0"/>
                <a:cs typeface="Courier New" pitchFamily="49" charset="0"/>
              </a:rPr>
              <a:t>} while (</a:t>
            </a:r>
            <a:r>
              <a:rPr lang="en-US" sz="2000" b="1">
                <a:solidFill>
                  <a:srgbClr val="FF0000"/>
                </a:solidFill>
                <a:latin typeface="Courier New" pitchFamily="49" charset="0"/>
                <a:cs typeface="Courier New" pitchFamily="49" charset="0"/>
              </a:rPr>
              <a:t>n</a:t>
            </a:r>
            <a:r>
              <a:rPr lang="en-US" sz="2000" b="1">
                <a:latin typeface="Courier New" pitchFamily="49" charset="0"/>
                <a:cs typeface="Courier New" pitchFamily="49" charset="0"/>
              </a:rPr>
              <a:t> &lt;= 0);</a:t>
            </a:r>
          </a:p>
        </p:txBody>
      </p:sp>
      <p:sp>
        <p:nvSpPr>
          <p:cNvPr id="7" name="Rounded Rectangle 6"/>
          <p:cNvSpPr/>
          <p:nvPr/>
        </p:nvSpPr>
        <p:spPr>
          <a:xfrm>
            <a:off x="685800" y="4800600"/>
            <a:ext cx="152400" cy="12954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8" name="TextBox 7"/>
          <p:cNvSpPr txBox="1">
            <a:spLocks noChangeArrowheads="1"/>
          </p:cNvSpPr>
          <p:nvPr/>
        </p:nvSpPr>
        <p:spPr bwMode="auto">
          <a:xfrm>
            <a:off x="838200" y="4800600"/>
            <a:ext cx="7010400" cy="1323975"/>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 Tính s = n! = 1 * 2 * … * n </a:t>
            </a:r>
          </a:p>
          <a:p>
            <a:r>
              <a:rPr lang="en-US" sz="2000" b="1">
                <a:solidFill>
                  <a:srgbClr val="FF0000"/>
                </a:solidFill>
                <a:latin typeface="Courier New" pitchFamily="49" charset="0"/>
                <a:cs typeface="Courier New" pitchFamily="49" charset="0"/>
              </a:rPr>
              <a:t>s</a:t>
            </a:r>
            <a:r>
              <a:rPr lang="en-US" sz="2000" b="1">
                <a:latin typeface="Courier New" pitchFamily="49" charset="0"/>
                <a:cs typeface="Courier New" pitchFamily="49" charset="0"/>
              </a:rPr>
              <a:t> = 1;</a:t>
            </a:r>
          </a:p>
          <a:p>
            <a:r>
              <a:rPr lang="en-US" sz="2000" b="1">
                <a:latin typeface="Courier New" pitchFamily="49" charset="0"/>
                <a:cs typeface="Courier New" pitchFamily="49" charset="0"/>
              </a:rPr>
              <a:t>for (i = 2; i &lt;= </a:t>
            </a:r>
            <a:r>
              <a:rPr lang="en-US" sz="2000" b="1">
                <a:solidFill>
                  <a:srgbClr val="FF0000"/>
                </a:solidFill>
                <a:latin typeface="Courier New" pitchFamily="49" charset="0"/>
                <a:cs typeface="Courier New" pitchFamily="49" charset="0"/>
              </a:rPr>
              <a:t>n </a:t>
            </a:r>
            <a:r>
              <a:rPr lang="en-US" sz="2000" b="1">
                <a:latin typeface="Courier New" pitchFamily="49" charset="0"/>
                <a:cs typeface="Courier New" pitchFamily="49" charset="0"/>
              </a:rPr>
              <a:t>; i++)</a:t>
            </a:r>
          </a:p>
          <a:p>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s</a:t>
            </a:r>
            <a:r>
              <a:rPr lang="en-US" sz="2000" b="1">
                <a:latin typeface="Courier New" pitchFamily="49" charset="0"/>
                <a:cs typeface="Courier New" pitchFamily="49" charset="0"/>
              </a:rPr>
              <a:t> = </a:t>
            </a:r>
            <a:r>
              <a:rPr lang="en-US" sz="2000" b="1">
                <a:solidFill>
                  <a:srgbClr val="FF0000"/>
                </a:solidFill>
                <a:latin typeface="Courier New" pitchFamily="49" charset="0"/>
                <a:cs typeface="Courier New" pitchFamily="49" charset="0"/>
              </a:rPr>
              <a:t>s</a:t>
            </a:r>
            <a:r>
              <a:rPr lang="en-US" sz="2000" b="1">
                <a:latin typeface="Courier New" pitchFamily="49" charset="0"/>
                <a:cs typeface="Courier New" pitchFamily="49" charset="0"/>
              </a:rPr>
              <a:t> * i;</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5</a:t>
            </a:fld>
            <a:r>
              <a:rPr lang="vi-VN"/>
              <a:t>/43</a:t>
            </a:r>
          </a:p>
        </p:txBody>
      </p:sp>
    </p:spTree>
    <p:extLst>
      <p:ext uri="{BB962C8B-B14F-4D97-AF65-F5344CB8AC3E}">
        <p14:creationId xmlns:p14="http://schemas.microsoft.com/office/powerpoint/2010/main" val="1184886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anim calcmode="lin" valueType="num">
                                      <p:cBhvr>
                                        <p:cTn id="2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24" fill="hold">
                            <p:stCondLst>
                              <p:cond delay="500"/>
                            </p:stCondLst>
                            <p:childTnLst>
                              <p:par>
                                <p:cTn id="25" presetID="10"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t>4.1 Khái niệm</a:t>
            </a:r>
          </a:p>
        </p:txBody>
      </p:sp>
      <p:sp>
        <p:nvSpPr>
          <p:cNvPr id="3" name="Content Placeholder 2"/>
          <p:cNvSpPr>
            <a:spLocks noGrp="1"/>
          </p:cNvSpPr>
          <p:nvPr>
            <p:ph idx="1"/>
          </p:nvPr>
        </p:nvSpPr>
        <p:spPr/>
        <p:txBody>
          <a:bodyPr/>
          <a:lstStyle/>
          <a:p>
            <a:pPr>
              <a:defRPr/>
            </a:pPr>
            <a:r>
              <a:rPr lang="en-US">
                <a:solidFill>
                  <a:srgbClr val="002060"/>
                </a:solidFill>
              </a:rPr>
              <a:t>Chương trình con là:</a:t>
            </a:r>
          </a:p>
          <a:p>
            <a:pPr lvl="1">
              <a:defRPr/>
            </a:pPr>
            <a:r>
              <a:rPr lang="en-US"/>
              <a:t>Một </a:t>
            </a:r>
            <a:r>
              <a:rPr lang="vi-VN"/>
              <a:t>đ</a:t>
            </a:r>
            <a:r>
              <a:rPr lang="en-US"/>
              <a:t>oạn ch</a:t>
            </a:r>
            <a:r>
              <a:rPr lang="vi-VN"/>
              <a:t>ươ</a:t>
            </a:r>
            <a:r>
              <a:rPr lang="en-US"/>
              <a:t>ng trình có tên, </a:t>
            </a:r>
            <a:r>
              <a:rPr lang="vi-VN"/>
              <a:t>đầ</a:t>
            </a:r>
            <a:r>
              <a:rPr lang="en-US"/>
              <a:t>u vào và </a:t>
            </a:r>
            <a:r>
              <a:rPr lang="vi-VN"/>
              <a:t>đầ</a:t>
            </a:r>
            <a:r>
              <a:rPr lang="en-US"/>
              <a:t>u ra.</a:t>
            </a:r>
          </a:p>
          <a:p>
            <a:pPr lvl="1">
              <a:defRPr/>
            </a:pPr>
            <a:r>
              <a:rPr lang="en-US"/>
              <a:t>Có chức n</a:t>
            </a:r>
            <a:r>
              <a:rPr lang="vi-VN"/>
              <a:t>ă</a:t>
            </a:r>
            <a:r>
              <a:rPr lang="en-US"/>
              <a:t>ng giải quyết một số vấn </a:t>
            </a:r>
            <a:r>
              <a:rPr lang="vi-VN"/>
              <a:t>đề</a:t>
            </a:r>
            <a:r>
              <a:rPr lang="en-US"/>
              <a:t> chuyên biệt cho ch</a:t>
            </a:r>
            <a:r>
              <a:rPr lang="vi-VN"/>
              <a:t>ươ</a:t>
            </a:r>
            <a:r>
              <a:rPr lang="en-US"/>
              <a:t>ng trình chính.</a:t>
            </a:r>
          </a:p>
          <a:p>
            <a:pPr lvl="1">
              <a:defRPr/>
            </a:pPr>
            <a:r>
              <a:rPr lang="en-US"/>
              <a:t>Đ</a:t>
            </a:r>
            <a:r>
              <a:rPr lang="vi-VN"/>
              <a:t>ượ</a:t>
            </a:r>
            <a:r>
              <a:rPr lang="en-US"/>
              <a:t>c gọi nhiều lần với các tham số khác nhau.</a:t>
            </a:r>
          </a:p>
          <a:p>
            <a:pPr lvl="1">
              <a:defRPr/>
            </a:pPr>
            <a:r>
              <a:rPr lang="en-US"/>
              <a:t>Đ</a:t>
            </a:r>
            <a:r>
              <a:rPr lang="vi-VN"/>
              <a:t>ượ</a:t>
            </a:r>
            <a:r>
              <a:rPr lang="en-US"/>
              <a:t>c sử dụng khi có nhu cầu:</a:t>
            </a:r>
          </a:p>
          <a:p>
            <a:pPr lvl="2">
              <a:defRPr/>
            </a:pPr>
            <a:r>
              <a:rPr lang="en-US" sz="2200"/>
              <a:t>Tái sử dụng: có một số chương trình được thực hiện ở nhiều nơi, bản chất không đổi nhưng giá trị các tham số cung cấp khác nhau.</a:t>
            </a:r>
          </a:p>
          <a:p>
            <a:pPr lvl="2">
              <a:defRPr/>
            </a:pPr>
            <a:r>
              <a:rPr lang="en-US" sz="2200"/>
              <a:t>Chia để trị: chia chương trình lớn thành các chương trình nhỏ rồi ghép lại.</a:t>
            </a:r>
          </a:p>
          <a:p>
            <a:pPr marL="909637" lvl="2" indent="0">
              <a:buNone/>
              <a:defRPr/>
            </a:pPr>
            <a:r>
              <a:rPr lang="en-US" sz="2200">
                <a:sym typeface="Wingdings" pitchFamily="2" charset="2"/>
              </a:rPr>
              <a:t> </a:t>
            </a:r>
            <a:r>
              <a:rPr lang="en-US" sz="2400">
                <a:solidFill>
                  <a:srgbClr val="0000FF"/>
                </a:solidFill>
                <a:sym typeface="Wingdings" pitchFamily="2" charset="2"/>
              </a:rPr>
              <a:t>Giúp chương trình trong sáng, dễ hiểu, dễ phát hiện lỗi và cải tiến.</a:t>
            </a:r>
            <a:endParaRPr lang="en-US" sz="2400">
              <a:solidFill>
                <a:srgbClr val="0000FF"/>
              </a:solidFill>
            </a:endParaRPr>
          </a:p>
        </p:txBody>
      </p:sp>
      <p:sp>
        <p:nvSpPr>
          <p:cNvPr id="2" name="Date Placeholder 1"/>
          <p:cNvSpPr>
            <a:spLocks noGrp="1"/>
          </p:cNvSpPr>
          <p:nvPr>
            <p:ph type="dt" sz="half" idx="10"/>
          </p:nvPr>
        </p:nvSpPr>
        <p:spPr/>
        <p:txBody>
          <a:bodyPr/>
          <a:lstStyle/>
          <a:p>
            <a:fld id="{06844F82-8311-4607-827C-D97F53817E38}" type="datetime1">
              <a:rPr lang="vi-VN" smtClean="0"/>
              <a:t>09/05/2023</a:t>
            </a:fld>
            <a:endParaRPr lang="vi-VN"/>
          </a:p>
        </p:txBody>
      </p:sp>
      <p:sp>
        <p:nvSpPr>
          <p:cNvPr id="21508" name="Footer Placeholder 3"/>
          <p:cNvSpPr>
            <a:spLocks noGrp="1"/>
          </p:cNvSpPr>
          <p:nvPr>
            <p:ph type="ftr" sz="quarter" idx="11"/>
          </p:nvPr>
        </p:nvSpPr>
        <p:spPr>
          <a:noFill/>
        </p:spPr>
        <p:txBody>
          <a:bodyPr/>
          <a:lstStyle/>
          <a:p>
            <a:r>
              <a:rPr lang="vi-VN"/>
              <a:t>Chương 4 - Chương trình con</a:t>
            </a:r>
            <a:endParaRPr lang="en-US"/>
          </a:p>
        </p:txBody>
      </p:sp>
      <p:sp>
        <p:nvSpPr>
          <p:cNvPr id="6" name="Slide Number Placeholder 5"/>
          <p:cNvSpPr>
            <a:spLocks noGrp="1"/>
          </p:cNvSpPr>
          <p:nvPr>
            <p:ph type="sldNum" sz="quarter" idx="12"/>
          </p:nvPr>
        </p:nvSpPr>
        <p:spPr/>
        <p:txBody>
          <a:bodyPr/>
          <a:lstStyle/>
          <a:p>
            <a:fld id="{5AB95402-1E0D-474E-8D8C-CBE7F053639E}" type="slidenum">
              <a:rPr lang="vi-VN" smtClean="0"/>
              <a:pPr/>
              <a:t>6</a:t>
            </a:fld>
            <a:r>
              <a:rPr lang="vi-VN"/>
              <a:t>/43</a:t>
            </a:r>
          </a:p>
        </p:txBody>
      </p:sp>
    </p:spTree>
    <p:extLst>
      <p:ext uri="{BB962C8B-B14F-4D97-AF65-F5344CB8AC3E}">
        <p14:creationId xmlns:p14="http://schemas.microsoft.com/office/powerpoint/2010/main" val="124231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wipe(left)">
                                      <p:cBhvr>
                                        <p:cTn id="11" dur="500"/>
                                        <p:tgtEl>
                                          <p:spTgt spid="3">
                                            <p:txEl>
                                              <p:pRg st="2" end="2"/>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wipe(left)">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left)">
                                      <p:cBhvr>
                                        <p:cTn id="24" dur="1000"/>
                                        <p:tgtEl>
                                          <p:spTgt spid="3">
                                            <p:txEl>
                                              <p:pRg st="5" end="5"/>
                                            </p:txEl>
                                          </p:spTgt>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left)">
                                      <p:cBhvr>
                                        <p:cTn id="28" dur="10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left)">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 Khái niệm (tt)</a:t>
            </a:r>
            <a:endParaRPr lang="vi-VN"/>
          </a:p>
        </p:txBody>
      </p:sp>
      <p:sp>
        <p:nvSpPr>
          <p:cNvPr id="3" name="Content Placeholder 2"/>
          <p:cNvSpPr>
            <a:spLocks noGrp="1"/>
          </p:cNvSpPr>
          <p:nvPr>
            <p:ph idx="1"/>
          </p:nvPr>
        </p:nvSpPr>
        <p:spPr>
          <a:xfrm>
            <a:off x="762000" y="1143000"/>
            <a:ext cx="8202488" cy="5181600"/>
          </a:xfrm>
        </p:spPr>
        <p:txBody>
          <a:bodyPr/>
          <a:lstStyle/>
          <a:p>
            <a:r>
              <a:rPr lang="en-US" dirty="0" err="1"/>
              <a:t>Trong</a:t>
            </a:r>
            <a:r>
              <a:rPr lang="en-US" dirty="0"/>
              <a:t> </a:t>
            </a:r>
            <a:r>
              <a:rPr lang="en-US" dirty="0" err="1"/>
              <a:t>các</a:t>
            </a:r>
            <a:r>
              <a:rPr lang="en-US" dirty="0"/>
              <a:t> </a:t>
            </a:r>
            <a:r>
              <a:rPr lang="en-US" dirty="0" err="1"/>
              <a:t>ngôn</a:t>
            </a:r>
            <a:r>
              <a:rPr lang="en-US" dirty="0"/>
              <a:t> </a:t>
            </a:r>
            <a:r>
              <a:rPr lang="en-US" dirty="0" err="1"/>
              <a:t>ngữ</a:t>
            </a:r>
            <a:r>
              <a:rPr lang="en-US" dirty="0"/>
              <a:t> </a:t>
            </a:r>
            <a:r>
              <a:rPr lang="en-US" dirty="0" err="1"/>
              <a:t>khác</a:t>
            </a:r>
            <a:r>
              <a:rPr lang="en-US" dirty="0"/>
              <a:t>, </a:t>
            </a:r>
            <a:r>
              <a:rPr lang="en-US" dirty="0" err="1"/>
              <a:t>có</a:t>
            </a:r>
            <a:r>
              <a:rPr lang="en-US" dirty="0"/>
              <a:t> 2 </a:t>
            </a:r>
            <a:r>
              <a:rPr lang="en-US" dirty="0" err="1"/>
              <a:t>loại</a:t>
            </a:r>
            <a:r>
              <a:rPr lang="en-US" dirty="0"/>
              <a:t> </a:t>
            </a:r>
            <a:r>
              <a:rPr lang="en-US" dirty="0" err="1"/>
              <a:t>chương</a:t>
            </a:r>
            <a:r>
              <a:rPr lang="en-US" dirty="0"/>
              <a:t> </a:t>
            </a:r>
            <a:r>
              <a:rPr lang="en-US" dirty="0" err="1"/>
              <a:t>trình</a:t>
            </a:r>
            <a:r>
              <a:rPr lang="en-US" dirty="0"/>
              <a:t> con:</a:t>
            </a:r>
          </a:p>
          <a:p>
            <a:pPr lvl="1"/>
            <a:r>
              <a:rPr lang="en-US" dirty="0" err="1"/>
              <a:t>Hàm</a:t>
            </a:r>
            <a:r>
              <a:rPr lang="en-US" dirty="0"/>
              <a:t> (</a:t>
            </a:r>
            <a:r>
              <a:rPr lang="en-US" dirty="0">
                <a:solidFill>
                  <a:srgbClr val="FF0000"/>
                </a:solidFill>
              </a:rPr>
              <a:t>function</a:t>
            </a:r>
            <a:r>
              <a:rPr lang="en-US" dirty="0"/>
              <a:t>): </a:t>
            </a:r>
            <a:r>
              <a:rPr lang="en-US" dirty="0" err="1"/>
              <a:t>trả</a:t>
            </a:r>
            <a:r>
              <a:rPr lang="en-US" dirty="0"/>
              <a:t> </a:t>
            </a:r>
            <a:r>
              <a:rPr lang="en-US" dirty="0" err="1"/>
              <a:t>về</a:t>
            </a:r>
            <a:r>
              <a:rPr lang="en-US" dirty="0"/>
              <a:t> </a:t>
            </a:r>
            <a:r>
              <a:rPr lang="en-US" dirty="0" err="1"/>
              <a:t>giá</a:t>
            </a:r>
            <a:r>
              <a:rPr lang="en-US" dirty="0"/>
              <a:t> </a:t>
            </a:r>
            <a:r>
              <a:rPr lang="en-US" dirty="0" err="1"/>
              <a:t>trị</a:t>
            </a:r>
            <a:r>
              <a:rPr lang="en-US" dirty="0"/>
              <a:t> </a:t>
            </a:r>
            <a:r>
              <a:rPr lang="en-US" dirty="0" err="1"/>
              <a:t>thông</a:t>
            </a:r>
            <a:r>
              <a:rPr lang="en-US" dirty="0"/>
              <a:t> qua </a:t>
            </a:r>
            <a:r>
              <a:rPr lang="en-US" dirty="0" err="1"/>
              <a:t>tên</a:t>
            </a:r>
            <a:r>
              <a:rPr lang="en-US" dirty="0"/>
              <a:t> </a:t>
            </a:r>
            <a:r>
              <a:rPr lang="en-US" dirty="0" err="1"/>
              <a:t>hàm</a:t>
            </a:r>
            <a:r>
              <a:rPr lang="en-US" dirty="0"/>
              <a:t>, </a:t>
            </a:r>
            <a:r>
              <a:rPr lang="en-US" dirty="0" err="1"/>
              <a:t>sử</a:t>
            </a:r>
            <a:r>
              <a:rPr lang="en-US" dirty="0"/>
              <a:t> </a:t>
            </a:r>
            <a:r>
              <a:rPr lang="en-US" dirty="0" err="1"/>
              <a:t>dụng</a:t>
            </a:r>
            <a:r>
              <a:rPr lang="en-US" dirty="0"/>
              <a:t> </a:t>
            </a:r>
            <a:r>
              <a:rPr lang="en-US" dirty="0" err="1"/>
              <a:t>trong</a:t>
            </a:r>
            <a:r>
              <a:rPr lang="en-US" dirty="0"/>
              <a:t> </a:t>
            </a:r>
            <a:r>
              <a:rPr lang="en-US" dirty="0" err="1"/>
              <a:t>các</a:t>
            </a:r>
            <a:r>
              <a:rPr lang="en-US" dirty="0"/>
              <a:t> </a:t>
            </a:r>
            <a:r>
              <a:rPr lang="en-US" dirty="0" err="1"/>
              <a:t>biểu</a:t>
            </a:r>
            <a:r>
              <a:rPr lang="en-US" dirty="0"/>
              <a:t> </a:t>
            </a:r>
            <a:r>
              <a:rPr lang="en-US" dirty="0" err="1"/>
              <a:t>thức</a:t>
            </a:r>
            <a:r>
              <a:rPr lang="en-US" dirty="0"/>
              <a:t> </a:t>
            </a:r>
            <a:r>
              <a:rPr lang="en-US" dirty="0" err="1"/>
              <a:t>và</a:t>
            </a:r>
            <a:r>
              <a:rPr lang="en-US" dirty="0"/>
              <a:t> </a:t>
            </a:r>
            <a:r>
              <a:rPr lang="en-US" dirty="0" err="1"/>
              <a:t>không</a:t>
            </a:r>
            <a:r>
              <a:rPr lang="en-US" dirty="0"/>
              <a:t> </a:t>
            </a:r>
            <a:r>
              <a:rPr lang="en-US" dirty="0" err="1"/>
              <a:t>được</a:t>
            </a:r>
            <a:r>
              <a:rPr lang="en-US" dirty="0"/>
              <a:t> </a:t>
            </a:r>
            <a:r>
              <a:rPr lang="en-US" dirty="0" err="1"/>
              <a:t>gọi</a:t>
            </a:r>
            <a:r>
              <a:rPr lang="en-US" dirty="0"/>
              <a:t> </a:t>
            </a:r>
            <a:r>
              <a:rPr lang="en-US" dirty="0" err="1"/>
              <a:t>như</a:t>
            </a:r>
            <a:r>
              <a:rPr lang="en-US" dirty="0"/>
              <a:t> </a:t>
            </a:r>
            <a:r>
              <a:rPr lang="en-US" dirty="0" err="1"/>
              <a:t>một</a:t>
            </a:r>
            <a:r>
              <a:rPr lang="en-US" dirty="0"/>
              <a:t> </a:t>
            </a:r>
            <a:r>
              <a:rPr lang="en-US" dirty="0" err="1"/>
              <a:t>lệnh</a:t>
            </a:r>
            <a:r>
              <a:rPr lang="en-US" dirty="0"/>
              <a:t>.</a:t>
            </a:r>
          </a:p>
          <a:p>
            <a:pPr lvl="1"/>
            <a:r>
              <a:rPr lang="en-US" dirty="0" err="1"/>
              <a:t>Thủ</a:t>
            </a:r>
            <a:r>
              <a:rPr lang="en-US" dirty="0"/>
              <a:t> </a:t>
            </a:r>
            <a:r>
              <a:rPr lang="en-US" dirty="0" err="1"/>
              <a:t>tục</a:t>
            </a:r>
            <a:r>
              <a:rPr lang="en-US" dirty="0"/>
              <a:t>: </a:t>
            </a:r>
            <a:r>
              <a:rPr lang="en-US" dirty="0" err="1"/>
              <a:t>không</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trả</a:t>
            </a:r>
            <a:r>
              <a:rPr lang="en-US" dirty="0"/>
              <a:t> </a:t>
            </a:r>
            <a:r>
              <a:rPr lang="en-US" dirty="0" err="1"/>
              <a:t>về</a:t>
            </a:r>
            <a:r>
              <a:rPr lang="en-US" dirty="0"/>
              <a:t>, </a:t>
            </a:r>
            <a:r>
              <a:rPr lang="en-US" dirty="0" err="1"/>
              <a:t>có</a:t>
            </a:r>
            <a:r>
              <a:rPr lang="en-US" dirty="0"/>
              <a:t> </a:t>
            </a:r>
            <a:r>
              <a:rPr lang="en-US" dirty="0" err="1"/>
              <a:t>thể</a:t>
            </a:r>
            <a:r>
              <a:rPr lang="en-US" dirty="0"/>
              <a:t> </a:t>
            </a:r>
            <a:r>
              <a:rPr lang="en-US" dirty="0" err="1"/>
              <a:t>tồn</a:t>
            </a:r>
            <a:r>
              <a:rPr lang="en-US" dirty="0"/>
              <a:t> </a:t>
            </a:r>
            <a:r>
              <a:rPr lang="en-US" dirty="0" err="1"/>
              <a:t>tại</a:t>
            </a:r>
            <a:r>
              <a:rPr lang="en-US" dirty="0"/>
              <a:t> </a:t>
            </a:r>
            <a:r>
              <a:rPr lang="en-US" dirty="0" err="1"/>
              <a:t>độc</a:t>
            </a:r>
            <a:r>
              <a:rPr lang="en-US" dirty="0"/>
              <a:t> </a:t>
            </a:r>
            <a:r>
              <a:rPr lang="en-US" dirty="0" err="1"/>
              <a:t>lập</a:t>
            </a:r>
            <a:r>
              <a:rPr lang="en-US" dirty="0"/>
              <a:t> </a:t>
            </a:r>
            <a:r>
              <a:rPr lang="en-US" dirty="0" err="1"/>
              <a:t>và</a:t>
            </a:r>
            <a:r>
              <a:rPr lang="en-US" dirty="0"/>
              <a:t> </a:t>
            </a:r>
            <a:r>
              <a:rPr lang="en-US" dirty="0" err="1"/>
              <a:t>được</a:t>
            </a:r>
            <a:r>
              <a:rPr lang="en-US" dirty="0"/>
              <a:t> </a:t>
            </a:r>
            <a:r>
              <a:rPr lang="en-US" dirty="0" err="1"/>
              <a:t>gọi</a:t>
            </a:r>
            <a:r>
              <a:rPr lang="en-US" dirty="0"/>
              <a:t> </a:t>
            </a:r>
            <a:r>
              <a:rPr lang="en-US" dirty="0" err="1"/>
              <a:t>như</a:t>
            </a:r>
            <a:r>
              <a:rPr lang="en-US" dirty="0"/>
              <a:t> là </a:t>
            </a:r>
            <a:r>
              <a:rPr lang="en-US" dirty="0" err="1"/>
              <a:t>một</a:t>
            </a:r>
            <a:r>
              <a:rPr lang="en-US" dirty="0"/>
              <a:t> </a:t>
            </a:r>
            <a:r>
              <a:rPr lang="en-US" dirty="0" err="1"/>
              <a:t>câu</a:t>
            </a:r>
            <a:r>
              <a:rPr lang="en-US" dirty="0"/>
              <a:t> </a:t>
            </a:r>
            <a:r>
              <a:rPr lang="en-US" dirty="0" err="1"/>
              <a:t>lệnh</a:t>
            </a:r>
            <a:r>
              <a:rPr lang="en-US" dirty="0"/>
              <a:t>.</a:t>
            </a:r>
          </a:p>
          <a:p>
            <a:r>
              <a:rPr lang="en-US" dirty="0" err="1"/>
              <a:t>Trong</a:t>
            </a:r>
            <a:r>
              <a:rPr lang="en-US" dirty="0"/>
              <a:t> C: </a:t>
            </a:r>
            <a:r>
              <a:rPr lang="en-US" b="1" dirty="0" err="1"/>
              <a:t>chỉ</a:t>
            </a:r>
            <a:r>
              <a:rPr lang="en-US" b="1" dirty="0"/>
              <a:t> </a:t>
            </a:r>
            <a:r>
              <a:rPr lang="en-US" b="1" dirty="0" err="1"/>
              <a:t>tồn</a:t>
            </a:r>
            <a:r>
              <a:rPr lang="en-US" b="1" dirty="0"/>
              <a:t> </a:t>
            </a:r>
            <a:r>
              <a:rPr lang="en-US" b="1" dirty="0" err="1"/>
              <a:t>tại</a:t>
            </a:r>
            <a:r>
              <a:rPr lang="en-US" b="1" dirty="0"/>
              <a:t> </a:t>
            </a:r>
            <a:r>
              <a:rPr lang="en-US" b="1" dirty="0" err="1"/>
              <a:t>chương</a:t>
            </a:r>
            <a:r>
              <a:rPr lang="en-US" b="1" dirty="0"/>
              <a:t> </a:t>
            </a:r>
            <a:r>
              <a:rPr lang="en-US" b="1" dirty="0" err="1"/>
              <a:t>trình</a:t>
            </a:r>
            <a:r>
              <a:rPr lang="en-US" b="1" dirty="0"/>
              <a:t> con </a:t>
            </a:r>
            <a:r>
              <a:rPr lang="en-US" b="1" dirty="0" err="1"/>
              <a:t>dưới</a:t>
            </a:r>
            <a:r>
              <a:rPr lang="en-US" b="1" dirty="0"/>
              <a:t> </a:t>
            </a:r>
            <a:r>
              <a:rPr lang="en-US" b="1" dirty="0" err="1"/>
              <a:t>dạng</a:t>
            </a:r>
            <a:r>
              <a:rPr lang="en-US" b="1" dirty="0"/>
              <a:t> </a:t>
            </a:r>
            <a:r>
              <a:rPr lang="en-US" b="1" dirty="0" err="1"/>
              <a:t>hàm</a:t>
            </a:r>
            <a:r>
              <a:rPr lang="en-US" dirty="0"/>
              <a:t>, </a:t>
            </a:r>
            <a:r>
              <a:rPr lang="en-US" b="1" dirty="0" err="1"/>
              <a:t>không</a:t>
            </a:r>
            <a:r>
              <a:rPr lang="en-US" b="1" dirty="0"/>
              <a:t> </a:t>
            </a:r>
            <a:r>
              <a:rPr lang="en-US" b="1" dirty="0" err="1"/>
              <a:t>có</a:t>
            </a:r>
            <a:r>
              <a:rPr lang="en-US" b="1" dirty="0"/>
              <a:t> </a:t>
            </a:r>
            <a:r>
              <a:rPr lang="en-US" b="1" dirty="0" err="1"/>
              <a:t>thủ</a:t>
            </a:r>
            <a:r>
              <a:rPr lang="en-US" b="1" dirty="0"/>
              <a:t> </a:t>
            </a:r>
            <a:r>
              <a:rPr lang="en-US" b="1" dirty="0" err="1"/>
              <a:t>tục</a:t>
            </a:r>
            <a:r>
              <a:rPr lang="en-US" b="1" dirty="0"/>
              <a:t>.</a:t>
            </a:r>
          </a:p>
          <a:p>
            <a:pPr lvl="1"/>
            <a:r>
              <a:rPr lang="en-US" dirty="0" err="1"/>
              <a:t>Giá</a:t>
            </a:r>
            <a:r>
              <a:rPr lang="en-US" dirty="0"/>
              <a:t> </a:t>
            </a:r>
            <a:r>
              <a:rPr lang="en-US" dirty="0" err="1"/>
              <a:t>trị</a:t>
            </a:r>
            <a:r>
              <a:rPr lang="en-US" dirty="0"/>
              <a:t> </a:t>
            </a:r>
            <a:r>
              <a:rPr lang="en-US" dirty="0" err="1"/>
              <a:t>hàm</a:t>
            </a:r>
            <a:r>
              <a:rPr lang="en-US" dirty="0"/>
              <a:t> </a:t>
            </a:r>
            <a:r>
              <a:rPr lang="en-US" dirty="0" err="1"/>
              <a:t>có</a:t>
            </a:r>
            <a:r>
              <a:rPr lang="en-US" dirty="0"/>
              <a:t> </a:t>
            </a:r>
            <a:r>
              <a:rPr lang="en-US" dirty="0" err="1"/>
              <a:t>thể</a:t>
            </a:r>
            <a:r>
              <a:rPr lang="en-US" dirty="0"/>
              <a:t> </a:t>
            </a:r>
            <a:r>
              <a:rPr lang="en-US" dirty="0" err="1"/>
              <a:t>không</a:t>
            </a:r>
            <a:r>
              <a:rPr lang="en-US" dirty="0"/>
              <a:t> </a:t>
            </a:r>
            <a:r>
              <a:rPr lang="en-US" dirty="0" err="1"/>
              <a:t>cần</a:t>
            </a:r>
            <a:r>
              <a:rPr lang="en-US" dirty="0"/>
              <a:t> </a:t>
            </a:r>
            <a:r>
              <a:rPr lang="en-US" dirty="0" err="1"/>
              <a:t>dùng</a:t>
            </a:r>
            <a:r>
              <a:rPr lang="en-US" dirty="0"/>
              <a:t> </a:t>
            </a:r>
            <a:r>
              <a:rPr lang="en-US" dirty="0" err="1"/>
              <a:t>đến</a:t>
            </a:r>
            <a:endParaRPr lang="en-US" dirty="0"/>
          </a:p>
          <a:p>
            <a:pPr lvl="1"/>
            <a:r>
              <a:rPr lang="en-US" dirty="0" err="1"/>
              <a:t>Có</a:t>
            </a:r>
            <a:r>
              <a:rPr lang="en-US" dirty="0"/>
              <a:t> </a:t>
            </a:r>
            <a:r>
              <a:rPr lang="en-US" dirty="0" err="1"/>
              <a:t>thể</a:t>
            </a:r>
            <a:r>
              <a:rPr lang="en-US" dirty="0"/>
              <a:t> </a:t>
            </a:r>
            <a:r>
              <a:rPr lang="en-US" dirty="0" err="1"/>
              <a:t>không</a:t>
            </a:r>
            <a:r>
              <a:rPr lang="en-US" dirty="0"/>
              <a:t> </a:t>
            </a:r>
            <a:r>
              <a:rPr lang="en-US" dirty="0" err="1"/>
              <a:t>có</a:t>
            </a:r>
            <a:r>
              <a:rPr lang="en-US" dirty="0"/>
              <a:t> </a:t>
            </a:r>
            <a:r>
              <a:rPr lang="en-US" dirty="0" err="1"/>
              <a:t>giá</a:t>
            </a:r>
            <a:r>
              <a:rPr lang="en-US" dirty="0"/>
              <a:t> </a:t>
            </a:r>
            <a:r>
              <a:rPr lang="en-US" dirty="0" err="1"/>
              <a:t>trị</a:t>
            </a:r>
            <a:r>
              <a:rPr lang="en-US" dirty="0"/>
              <a:t> </a:t>
            </a:r>
            <a:r>
              <a:rPr lang="en-US" dirty="0" err="1"/>
              <a:t>nào</a:t>
            </a:r>
            <a:r>
              <a:rPr lang="en-US" dirty="0"/>
              <a:t> </a:t>
            </a:r>
            <a:r>
              <a:rPr lang="en-US" dirty="0" err="1"/>
              <a:t>gán</a:t>
            </a:r>
            <a:r>
              <a:rPr lang="en-US" dirty="0"/>
              <a:t> </a:t>
            </a:r>
            <a:r>
              <a:rPr lang="en-US" dirty="0" err="1"/>
              <a:t>vào</a:t>
            </a:r>
            <a:r>
              <a:rPr lang="en-US" dirty="0"/>
              <a:t> </a:t>
            </a:r>
            <a:r>
              <a:rPr lang="en-US" dirty="0" err="1"/>
              <a:t>tên</a:t>
            </a:r>
            <a:r>
              <a:rPr lang="en-US" dirty="0"/>
              <a:t> </a:t>
            </a:r>
            <a:r>
              <a:rPr lang="en-US" dirty="0" err="1"/>
              <a:t>hàm</a:t>
            </a:r>
            <a:r>
              <a:rPr lang="en-US" dirty="0"/>
              <a:t> (</a:t>
            </a:r>
            <a:r>
              <a:rPr lang="en-US" dirty="0">
                <a:solidFill>
                  <a:srgbClr val="FF0000"/>
                </a:solidFill>
              </a:rPr>
              <a:t>void</a:t>
            </a:r>
            <a:r>
              <a:rPr lang="en-US" dirty="0"/>
              <a:t>)</a:t>
            </a:r>
          </a:p>
          <a:p>
            <a:pPr lvl="1"/>
            <a:endParaRPr lang="vi-VN" dirty="0"/>
          </a:p>
        </p:txBody>
      </p:sp>
      <p:sp>
        <p:nvSpPr>
          <p:cNvPr id="4" name="Date Placeholder 3"/>
          <p:cNvSpPr>
            <a:spLocks noGrp="1"/>
          </p:cNvSpPr>
          <p:nvPr>
            <p:ph type="dt" sz="half" idx="10"/>
          </p:nvPr>
        </p:nvSpPr>
        <p:spPr/>
        <p:txBody>
          <a:bodyPr/>
          <a:lstStyle/>
          <a:p>
            <a:fld id="{6CEAEE99-CBB4-449B-8C89-A1554CF5066F}"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7</a:t>
            </a:fld>
            <a:r>
              <a:rPr lang="vi-VN"/>
              <a:t>/43</a:t>
            </a:r>
          </a:p>
        </p:txBody>
      </p:sp>
    </p:spTree>
    <p:extLst>
      <p:ext uri="{BB962C8B-B14F-4D97-AF65-F5344CB8AC3E}">
        <p14:creationId xmlns:p14="http://schemas.microsoft.com/office/powerpoint/2010/main" val="258453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t>4.2 Cách xây dựng hàm</a:t>
            </a:r>
          </a:p>
        </p:txBody>
      </p:sp>
      <p:sp>
        <p:nvSpPr>
          <p:cNvPr id="3" name="Content Placeholder 2"/>
          <p:cNvSpPr>
            <a:spLocks noGrp="1"/>
          </p:cNvSpPr>
          <p:nvPr>
            <p:ph idx="1"/>
          </p:nvPr>
        </p:nvSpPr>
        <p:spPr/>
        <p:txBody>
          <a:bodyPr/>
          <a:lstStyle/>
          <a:p>
            <a:pPr>
              <a:defRPr/>
            </a:pPr>
            <a:r>
              <a:rPr lang="en-US" dirty="0" err="1"/>
              <a:t>Cú</a:t>
            </a:r>
            <a:r>
              <a:rPr lang="en-US" dirty="0"/>
              <a:t> </a:t>
            </a:r>
            <a:r>
              <a:rPr lang="en-US" dirty="0" err="1"/>
              <a:t>pháp</a:t>
            </a:r>
            <a:endParaRPr lang="en-US" dirty="0"/>
          </a:p>
          <a:p>
            <a:pPr>
              <a:defRPr/>
            </a:pPr>
            <a:endParaRPr lang="en-US" dirty="0">
              <a:solidFill>
                <a:schemeClr val="tx1">
                  <a:lumMod val="60000"/>
                  <a:lumOff val="40000"/>
                </a:schemeClr>
              </a:solidFill>
            </a:endParaRPr>
          </a:p>
          <a:p>
            <a:pPr>
              <a:defRPr/>
            </a:pPr>
            <a:endParaRPr lang="en-US" dirty="0">
              <a:solidFill>
                <a:schemeClr val="tx1">
                  <a:lumMod val="60000"/>
                  <a:lumOff val="40000"/>
                </a:schemeClr>
              </a:solidFill>
            </a:endParaRPr>
          </a:p>
          <a:p>
            <a:pPr>
              <a:defRPr/>
            </a:pPr>
            <a:endParaRPr lang="en-US" dirty="0">
              <a:solidFill>
                <a:schemeClr val="tx1">
                  <a:lumMod val="60000"/>
                  <a:lumOff val="40000"/>
                </a:schemeClr>
              </a:solidFill>
            </a:endParaRPr>
          </a:p>
          <a:p>
            <a:pPr lvl="1">
              <a:defRPr/>
            </a:pPr>
            <a:r>
              <a:rPr lang="en-US" dirty="0" err="1"/>
              <a:t>Trong</a:t>
            </a:r>
            <a:r>
              <a:rPr lang="en-US" dirty="0"/>
              <a:t> </a:t>
            </a:r>
            <a:r>
              <a:rPr lang="vi-VN" dirty="0"/>
              <a:t>đó</a:t>
            </a:r>
            <a:endParaRPr lang="en-US" dirty="0"/>
          </a:p>
          <a:p>
            <a:pPr lvl="2">
              <a:defRPr/>
            </a:pPr>
            <a:r>
              <a:rPr lang="en-US" dirty="0">
                <a:latin typeface="Courier New" pitchFamily="49" charset="0"/>
                <a:cs typeface="Courier New" pitchFamily="49" charset="0"/>
              </a:rPr>
              <a:t>&lt;</a:t>
            </a:r>
            <a:r>
              <a:rPr lang="en-US" dirty="0" err="1">
                <a:latin typeface="Courier New" pitchFamily="49" charset="0"/>
                <a:cs typeface="Courier New" pitchFamily="49" charset="0"/>
              </a:rPr>
              <a:t>kiểu</a:t>
            </a:r>
            <a:r>
              <a:rPr lang="en-US" dirty="0">
                <a:latin typeface="Courier New" pitchFamily="49" charset="0"/>
                <a:cs typeface="Courier New" pitchFamily="49" charset="0"/>
              </a:rPr>
              <a:t> </a:t>
            </a:r>
            <a:r>
              <a:rPr lang="en-US" dirty="0" err="1">
                <a:latin typeface="Courier New" pitchFamily="49" charset="0"/>
                <a:cs typeface="Courier New" pitchFamily="49" charset="0"/>
              </a:rPr>
              <a:t>trả</a:t>
            </a:r>
            <a:r>
              <a:rPr lang="en-US" dirty="0">
                <a:latin typeface="Courier New" pitchFamily="49" charset="0"/>
                <a:cs typeface="Courier New" pitchFamily="49" charset="0"/>
              </a:rPr>
              <a:t> </a:t>
            </a:r>
            <a:r>
              <a:rPr lang="en-US" dirty="0" err="1">
                <a:latin typeface="Courier New" pitchFamily="49" charset="0"/>
                <a:cs typeface="Courier New" pitchFamily="49" charset="0"/>
              </a:rPr>
              <a:t>về</a:t>
            </a:r>
            <a:r>
              <a:rPr lang="en-US" dirty="0">
                <a:latin typeface="Courier New" pitchFamily="49" charset="0"/>
                <a:cs typeface="Courier New" pitchFamily="49" charset="0"/>
              </a:rPr>
              <a:t>&gt; </a:t>
            </a:r>
            <a:r>
              <a:rPr lang="en-US" dirty="0"/>
              <a:t>: </a:t>
            </a:r>
            <a:r>
              <a:rPr lang="en-US" dirty="0" err="1"/>
              <a:t>kiểu</a:t>
            </a:r>
            <a:r>
              <a:rPr lang="en-US" dirty="0"/>
              <a:t> </a:t>
            </a:r>
            <a:r>
              <a:rPr lang="en-US" dirty="0" err="1"/>
              <a:t>bất</a:t>
            </a:r>
            <a:r>
              <a:rPr lang="en-US" dirty="0"/>
              <a:t> </a:t>
            </a:r>
            <a:r>
              <a:rPr lang="en-US" dirty="0" err="1"/>
              <a:t>kỳ</a:t>
            </a:r>
            <a:r>
              <a:rPr lang="en-US" dirty="0"/>
              <a:t> </a:t>
            </a:r>
            <a:r>
              <a:rPr lang="en-US" dirty="0" err="1"/>
              <a:t>của</a:t>
            </a:r>
            <a:r>
              <a:rPr lang="en-US" dirty="0"/>
              <a:t> C (</a:t>
            </a:r>
            <a:r>
              <a:rPr lang="en-US" dirty="0">
                <a:solidFill>
                  <a:srgbClr val="FF0000"/>
                </a:solidFill>
              </a:rPr>
              <a:t>char</a:t>
            </a:r>
            <a:r>
              <a:rPr lang="en-US" dirty="0"/>
              <a:t>, </a:t>
            </a:r>
            <a:r>
              <a:rPr lang="en-US" dirty="0" err="1">
                <a:solidFill>
                  <a:srgbClr val="FF0000"/>
                </a:solidFill>
              </a:rPr>
              <a:t>int</a:t>
            </a:r>
            <a:r>
              <a:rPr lang="en-US" dirty="0"/>
              <a:t>, </a:t>
            </a:r>
            <a:r>
              <a:rPr lang="en-US" dirty="0">
                <a:solidFill>
                  <a:srgbClr val="FF0000"/>
                </a:solidFill>
              </a:rPr>
              <a:t>long</a:t>
            </a:r>
            <a:r>
              <a:rPr lang="en-US" dirty="0"/>
              <a:t>, </a:t>
            </a:r>
            <a:r>
              <a:rPr lang="en-US" dirty="0">
                <a:solidFill>
                  <a:srgbClr val="FF0000"/>
                </a:solidFill>
              </a:rPr>
              <a:t>float</a:t>
            </a:r>
            <a:r>
              <a:rPr lang="en-US" dirty="0"/>
              <a:t>,…). </a:t>
            </a:r>
            <a:r>
              <a:rPr lang="en-US" dirty="0" err="1"/>
              <a:t>Nếu</a:t>
            </a:r>
            <a:r>
              <a:rPr lang="en-US" dirty="0"/>
              <a:t> </a:t>
            </a:r>
            <a:r>
              <a:rPr lang="en-US" dirty="0" err="1"/>
              <a:t>không</a:t>
            </a:r>
            <a:r>
              <a:rPr lang="en-US" dirty="0"/>
              <a:t> </a:t>
            </a:r>
            <a:r>
              <a:rPr lang="en-US" dirty="0" err="1"/>
              <a:t>cần</a:t>
            </a:r>
            <a:r>
              <a:rPr lang="en-US" dirty="0"/>
              <a:t> </a:t>
            </a:r>
            <a:r>
              <a:rPr lang="en-US" dirty="0" err="1"/>
              <a:t>trả</a:t>
            </a:r>
            <a:r>
              <a:rPr lang="en-US" dirty="0"/>
              <a:t> </a:t>
            </a:r>
            <a:r>
              <a:rPr lang="en-US" dirty="0" err="1"/>
              <a:t>về</a:t>
            </a:r>
            <a:r>
              <a:rPr lang="en-US" dirty="0"/>
              <a:t> </a:t>
            </a:r>
            <a:r>
              <a:rPr lang="en-US" dirty="0" err="1"/>
              <a:t>thì</a:t>
            </a:r>
            <a:r>
              <a:rPr lang="en-US" dirty="0"/>
              <a:t> </a:t>
            </a:r>
            <a:r>
              <a:rPr lang="en-US" dirty="0" err="1"/>
              <a:t>kiểu</a:t>
            </a:r>
            <a:r>
              <a:rPr lang="en-US" dirty="0"/>
              <a:t> </a:t>
            </a:r>
            <a:r>
              <a:rPr lang="en-US" dirty="0" err="1"/>
              <a:t>trả</a:t>
            </a:r>
            <a:r>
              <a:rPr lang="en-US" dirty="0"/>
              <a:t> </a:t>
            </a:r>
            <a:r>
              <a:rPr lang="en-US" dirty="0" err="1"/>
              <a:t>về</a:t>
            </a:r>
            <a:r>
              <a:rPr lang="en-US" dirty="0"/>
              <a:t> </a:t>
            </a:r>
            <a:r>
              <a:rPr lang="en-US" dirty="0" err="1"/>
              <a:t>là</a:t>
            </a:r>
            <a:r>
              <a:rPr lang="en-US" dirty="0"/>
              <a:t> </a:t>
            </a:r>
            <a:r>
              <a:rPr lang="en-US" dirty="0">
                <a:solidFill>
                  <a:srgbClr val="FF0000"/>
                </a:solidFill>
              </a:rPr>
              <a:t>void</a:t>
            </a:r>
            <a:r>
              <a:rPr lang="en-US" dirty="0"/>
              <a:t>.</a:t>
            </a:r>
          </a:p>
          <a:p>
            <a:pPr lvl="2">
              <a:defRPr/>
            </a:pPr>
            <a:r>
              <a:rPr lang="en-US" dirty="0">
                <a:latin typeface="Courier New" pitchFamily="49" charset="0"/>
                <a:cs typeface="Courier New" pitchFamily="49" charset="0"/>
              </a:rPr>
              <a:t>&lt;</a:t>
            </a:r>
            <a:r>
              <a:rPr lang="en-US" dirty="0" err="1">
                <a:latin typeface="Courier New" pitchFamily="49" charset="0"/>
                <a:cs typeface="Courier New" pitchFamily="49" charset="0"/>
              </a:rPr>
              <a:t>tên</a:t>
            </a:r>
            <a:r>
              <a:rPr lang="en-US" dirty="0">
                <a:latin typeface="Courier New" pitchFamily="49" charset="0"/>
                <a:cs typeface="Courier New" pitchFamily="49" charset="0"/>
              </a:rPr>
              <a:t> </a:t>
            </a:r>
            <a:r>
              <a:rPr lang="en-US" dirty="0" err="1">
                <a:latin typeface="Courier New" pitchFamily="49" charset="0"/>
                <a:cs typeface="Courier New" pitchFamily="49" charset="0"/>
              </a:rPr>
              <a:t>hàm</a:t>
            </a:r>
            <a:r>
              <a:rPr lang="en-US" dirty="0">
                <a:latin typeface="Courier New" pitchFamily="49" charset="0"/>
                <a:cs typeface="Courier New" pitchFamily="49" charset="0"/>
              </a:rPr>
              <a:t>&gt;</a:t>
            </a:r>
            <a:r>
              <a:rPr lang="en-US" dirty="0"/>
              <a:t>: </a:t>
            </a:r>
            <a:r>
              <a:rPr lang="en-US" dirty="0" err="1"/>
              <a:t>là</a:t>
            </a:r>
            <a:r>
              <a:rPr lang="en-US" dirty="0"/>
              <a:t> </a:t>
            </a:r>
            <a:r>
              <a:rPr lang="en-US" dirty="0" err="1"/>
              <a:t>tên</a:t>
            </a:r>
            <a:r>
              <a:rPr lang="en-US" dirty="0"/>
              <a:t> </a:t>
            </a:r>
            <a:r>
              <a:rPr lang="en-US" dirty="0" err="1"/>
              <a:t>gọi</a:t>
            </a:r>
            <a:r>
              <a:rPr lang="en-US" dirty="0"/>
              <a:t> </a:t>
            </a:r>
            <a:r>
              <a:rPr lang="en-US" dirty="0" err="1"/>
              <a:t>của</a:t>
            </a:r>
            <a:r>
              <a:rPr lang="en-US" dirty="0"/>
              <a:t> </a:t>
            </a:r>
            <a:r>
              <a:rPr lang="en-US" dirty="0" err="1"/>
              <a:t>hàm</a:t>
            </a:r>
            <a:r>
              <a:rPr lang="en-US" dirty="0"/>
              <a:t>, </a:t>
            </a:r>
            <a:r>
              <a:rPr lang="en-US" dirty="0" err="1"/>
              <a:t>đặt</a:t>
            </a:r>
            <a:r>
              <a:rPr lang="en-US" dirty="0"/>
              <a:t> </a:t>
            </a:r>
            <a:r>
              <a:rPr lang="en-US" dirty="0" err="1"/>
              <a:t>theo</a:t>
            </a:r>
            <a:r>
              <a:rPr lang="en-US" dirty="0"/>
              <a:t> </a:t>
            </a:r>
            <a:r>
              <a:rPr lang="en-US" dirty="0" err="1"/>
              <a:t>quy</a:t>
            </a:r>
            <a:r>
              <a:rPr lang="en-US" dirty="0"/>
              <a:t> </a:t>
            </a:r>
            <a:r>
              <a:rPr lang="en-US" dirty="0" err="1"/>
              <a:t>tắc</a:t>
            </a:r>
            <a:r>
              <a:rPr lang="en-US" dirty="0"/>
              <a:t> </a:t>
            </a:r>
            <a:r>
              <a:rPr lang="en-US" dirty="0" err="1"/>
              <a:t>đặt</a:t>
            </a:r>
            <a:r>
              <a:rPr lang="en-US" dirty="0"/>
              <a:t> </a:t>
            </a:r>
            <a:r>
              <a:rPr lang="en-US" dirty="0" err="1"/>
              <a:t>tên</a:t>
            </a:r>
            <a:endParaRPr lang="en-US" dirty="0"/>
          </a:p>
          <a:p>
            <a:pPr lvl="2">
              <a:defRPr/>
            </a:pPr>
            <a:r>
              <a:rPr lang="en-US" dirty="0">
                <a:latin typeface="Courier New" pitchFamily="49" charset="0"/>
                <a:cs typeface="Courier New" pitchFamily="49" charset="0"/>
              </a:rPr>
              <a:t>&lt;</a:t>
            </a:r>
            <a:r>
              <a:rPr lang="en-US" dirty="0" err="1">
                <a:latin typeface="Courier New" pitchFamily="49" charset="0"/>
                <a:cs typeface="Courier New" pitchFamily="49" charset="0"/>
              </a:rPr>
              <a:t>danh</a:t>
            </a:r>
            <a:r>
              <a:rPr lang="en-US" dirty="0">
                <a:latin typeface="Courier New" pitchFamily="49" charset="0"/>
                <a:cs typeface="Courier New" pitchFamily="49" charset="0"/>
              </a:rPr>
              <a:t> </a:t>
            </a:r>
            <a:r>
              <a:rPr lang="en-US" dirty="0" err="1">
                <a:latin typeface="Courier New" pitchFamily="49" charset="0"/>
                <a:cs typeface="Courier New" pitchFamily="49" charset="0"/>
              </a:rPr>
              <a:t>sách</a:t>
            </a:r>
            <a:r>
              <a:rPr lang="en-US" dirty="0">
                <a:latin typeface="Courier New" pitchFamily="49" charset="0"/>
                <a:cs typeface="Courier New" pitchFamily="49" charset="0"/>
              </a:rPr>
              <a:t> </a:t>
            </a:r>
            <a:r>
              <a:rPr lang="en-US" dirty="0" err="1">
                <a:latin typeface="Courier New" pitchFamily="49" charset="0"/>
                <a:cs typeface="Courier New" pitchFamily="49" charset="0"/>
              </a:rPr>
              <a:t>tham</a:t>
            </a:r>
            <a:r>
              <a:rPr lang="en-US" dirty="0">
                <a:latin typeface="Courier New" pitchFamily="49" charset="0"/>
                <a:cs typeface="Courier New" pitchFamily="49" charset="0"/>
              </a:rPr>
              <a:t> </a:t>
            </a:r>
            <a:r>
              <a:rPr lang="en-US" dirty="0" err="1">
                <a:latin typeface="Courier New" pitchFamily="49" charset="0"/>
                <a:cs typeface="Courier New" pitchFamily="49" charset="0"/>
              </a:rPr>
              <a:t>số</a:t>
            </a:r>
            <a:r>
              <a:rPr lang="en-US" dirty="0">
                <a:latin typeface="Courier New" pitchFamily="49" charset="0"/>
                <a:cs typeface="Courier New" pitchFamily="49" charset="0"/>
              </a:rPr>
              <a:t>&gt;</a:t>
            </a:r>
            <a:r>
              <a:rPr lang="en-US" dirty="0"/>
              <a:t> : </a:t>
            </a:r>
            <a:r>
              <a:rPr lang="en-US" dirty="0" err="1">
                <a:solidFill>
                  <a:srgbClr val="FF0000"/>
                </a:solidFill>
              </a:rPr>
              <a:t>tham</a:t>
            </a:r>
            <a:r>
              <a:rPr lang="en-US" dirty="0">
                <a:solidFill>
                  <a:srgbClr val="FF0000"/>
                </a:solidFill>
              </a:rPr>
              <a:t> </a:t>
            </a:r>
            <a:r>
              <a:rPr lang="en-US" dirty="0" err="1">
                <a:solidFill>
                  <a:srgbClr val="FF0000"/>
                </a:solidFill>
              </a:rPr>
              <a:t>số</a:t>
            </a:r>
            <a:r>
              <a:rPr lang="en-US" dirty="0">
                <a:solidFill>
                  <a:srgbClr val="FF0000"/>
                </a:solidFill>
              </a:rPr>
              <a:t> </a:t>
            </a:r>
            <a:r>
              <a:rPr lang="en-US" dirty="0" err="1">
                <a:solidFill>
                  <a:srgbClr val="FF0000"/>
                </a:solidFill>
              </a:rPr>
              <a:t>hình</a:t>
            </a:r>
            <a:r>
              <a:rPr lang="en-US" dirty="0">
                <a:solidFill>
                  <a:srgbClr val="FF0000"/>
                </a:solidFill>
              </a:rPr>
              <a:t> </a:t>
            </a:r>
            <a:r>
              <a:rPr lang="en-US" dirty="0" err="1">
                <a:solidFill>
                  <a:srgbClr val="FF0000"/>
                </a:solidFill>
              </a:rPr>
              <a:t>thức</a:t>
            </a:r>
            <a:r>
              <a:rPr lang="en-US" dirty="0">
                <a:solidFill>
                  <a:srgbClr val="FF0000"/>
                </a:solidFill>
              </a:rPr>
              <a:t> </a:t>
            </a:r>
            <a:r>
              <a:rPr lang="vi-VN" dirty="0">
                <a:solidFill>
                  <a:srgbClr val="FF0000"/>
                </a:solidFill>
              </a:rPr>
              <a:t>đầ</a:t>
            </a:r>
            <a:r>
              <a:rPr lang="en-US" dirty="0">
                <a:solidFill>
                  <a:srgbClr val="FF0000"/>
                </a:solidFill>
              </a:rPr>
              <a:t>u </a:t>
            </a:r>
            <a:r>
              <a:rPr lang="en-US" dirty="0" err="1">
                <a:solidFill>
                  <a:srgbClr val="FF0000"/>
                </a:solidFill>
              </a:rPr>
              <a:t>vào</a:t>
            </a:r>
            <a:r>
              <a:rPr lang="en-US" dirty="0"/>
              <a:t> </a:t>
            </a:r>
            <a:r>
              <a:rPr lang="en-US" dirty="0" err="1"/>
              <a:t>giống</a:t>
            </a:r>
            <a:r>
              <a:rPr lang="en-US" dirty="0"/>
              <a:t> </a:t>
            </a:r>
            <a:r>
              <a:rPr lang="en-US" dirty="0" err="1"/>
              <a:t>khai</a:t>
            </a:r>
            <a:r>
              <a:rPr lang="en-US" dirty="0"/>
              <a:t> </a:t>
            </a:r>
            <a:r>
              <a:rPr lang="en-US" dirty="0" err="1"/>
              <a:t>báo</a:t>
            </a:r>
            <a:r>
              <a:rPr lang="en-US" dirty="0"/>
              <a:t> </a:t>
            </a:r>
            <a:r>
              <a:rPr lang="en-US" dirty="0" err="1"/>
              <a:t>biến</a:t>
            </a:r>
            <a:r>
              <a:rPr lang="en-US" dirty="0"/>
              <a:t>, </a:t>
            </a:r>
            <a:r>
              <a:rPr lang="en-US" dirty="0" err="1"/>
              <a:t>cách</a:t>
            </a:r>
            <a:r>
              <a:rPr lang="en-US" dirty="0"/>
              <a:t> </a:t>
            </a:r>
            <a:r>
              <a:rPr lang="en-US" dirty="0" err="1"/>
              <a:t>nhau</a:t>
            </a:r>
            <a:r>
              <a:rPr lang="en-US" dirty="0"/>
              <a:t> </a:t>
            </a:r>
            <a:r>
              <a:rPr lang="en-US" dirty="0" err="1"/>
              <a:t>bằng</a:t>
            </a:r>
            <a:r>
              <a:rPr lang="en-US" dirty="0"/>
              <a:t> </a:t>
            </a:r>
            <a:r>
              <a:rPr lang="en-US" dirty="0" err="1"/>
              <a:t>dấu</a:t>
            </a:r>
            <a:r>
              <a:rPr lang="en-US" dirty="0"/>
              <a:t> </a:t>
            </a:r>
            <a:r>
              <a:rPr lang="en-US" dirty="0">
                <a:solidFill>
                  <a:srgbClr val="FF0000"/>
                </a:solidFill>
              </a:rPr>
              <a:t>, </a:t>
            </a:r>
            <a:r>
              <a:rPr lang="en-US" dirty="0" err="1">
                <a:solidFill>
                  <a:schemeClr val="tx1"/>
                </a:solidFill>
              </a:rPr>
              <a:t>hàm</a:t>
            </a:r>
            <a:r>
              <a:rPr lang="en-US" dirty="0">
                <a:solidFill>
                  <a:schemeClr val="tx1"/>
                </a:solidFill>
              </a:rPr>
              <a:t> </a:t>
            </a:r>
            <a:r>
              <a:rPr lang="en-US" dirty="0" err="1">
                <a:solidFill>
                  <a:schemeClr val="tx1"/>
                </a:solidFill>
              </a:rPr>
              <a:t>có</a:t>
            </a:r>
            <a:r>
              <a:rPr lang="en-US" dirty="0">
                <a:solidFill>
                  <a:schemeClr val="tx1"/>
                </a:solidFill>
              </a:rPr>
              <a:t> </a:t>
            </a:r>
            <a:r>
              <a:rPr lang="en-US" dirty="0" err="1">
                <a:solidFill>
                  <a:schemeClr val="tx1"/>
                </a:solidFill>
              </a:rPr>
              <a:t>thể</a:t>
            </a:r>
            <a:r>
              <a:rPr lang="en-US" dirty="0">
                <a:solidFill>
                  <a:schemeClr val="tx1"/>
                </a:solidFill>
              </a:rPr>
              <a:t> </a:t>
            </a:r>
            <a:r>
              <a:rPr lang="en-US" dirty="0" err="1">
                <a:solidFill>
                  <a:schemeClr val="tx1"/>
                </a:solidFill>
              </a:rPr>
              <a:t>không</a:t>
            </a:r>
            <a:r>
              <a:rPr lang="en-US" dirty="0">
                <a:solidFill>
                  <a:schemeClr val="tx1"/>
                </a:solidFill>
              </a:rPr>
              <a:t> </a:t>
            </a:r>
            <a:r>
              <a:rPr lang="en-US" dirty="0" err="1">
                <a:solidFill>
                  <a:schemeClr val="tx1"/>
                </a:solidFill>
              </a:rPr>
              <a:t>có</a:t>
            </a:r>
            <a:r>
              <a:rPr lang="en-US" dirty="0">
                <a:solidFill>
                  <a:schemeClr val="tx1"/>
                </a:solidFill>
              </a:rPr>
              <a:t> </a:t>
            </a:r>
            <a:r>
              <a:rPr lang="en-US" dirty="0" err="1">
                <a:solidFill>
                  <a:schemeClr val="tx1"/>
                </a:solidFill>
              </a:rPr>
              <a:t>đối</a:t>
            </a:r>
            <a:r>
              <a:rPr lang="en-US" dirty="0">
                <a:solidFill>
                  <a:schemeClr val="tx1"/>
                </a:solidFill>
              </a:rPr>
              <a:t> </a:t>
            </a:r>
            <a:r>
              <a:rPr lang="en-US" dirty="0" err="1">
                <a:solidFill>
                  <a:schemeClr val="tx1"/>
                </a:solidFill>
              </a:rPr>
              <a:t>số</a:t>
            </a:r>
            <a:r>
              <a:rPr lang="en-US" dirty="0">
                <a:solidFill>
                  <a:schemeClr val="tx1"/>
                </a:solidFill>
              </a:rPr>
              <a:t> </a:t>
            </a:r>
            <a:r>
              <a:rPr lang="en-US" dirty="0" err="1">
                <a:solidFill>
                  <a:schemeClr val="tx1"/>
                </a:solidFill>
              </a:rPr>
              <a:t>nào</a:t>
            </a:r>
            <a:endParaRPr lang="en-US" dirty="0">
              <a:solidFill>
                <a:srgbClr val="FF0000"/>
              </a:solidFill>
            </a:endParaRPr>
          </a:p>
          <a:p>
            <a:pPr lvl="2">
              <a:defRPr/>
            </a:pPr>
            <a:r>
              <a:rPr lang="en-US" dirty="0">
                <a:latin typeface="Courier New" pitchFamily="49" charset="0"/>
                <a:cs typeface="Courier New" pitchFamily="49" charset="0"/>
              </a:rPr>
              <a:t>&lt;</a:t>
            </a:r>
            <a:r>
              <a:rPr lang="en-US" dirty="0" err="1">
                <a:latin typeface="Courier New" pitchFamily="49" charset="0"/>
                <a:cs typeface="Courier New" pitchFamily="49" charset="0"/>
              </a:rPr>
              <a:t>giá</a:t>
            </a:r>
            <a:r>
              <a:rPr lang="en-US" dirty="0">
                <a:latin typeface="Courier New" pitchFamily="49" charset="0"/>
                <a:cs typeface="Courier New" pitchFamily="49" charset="0"/>
              </a:rPr>
              <a:t> </a:t>
            </a:r>
            <a:r>
              <a:rPr lang="en-US" dirty="0" err="1">
                <a:latin typeface="Courier New" pitchFamily="49" charset="0"/>
                <a:cs typeface="Courier New" pitchFamily="49" charset="0"/>
              </a:rPr>
              <a:t>trị</a:t>
            </a:r>
            <a:r>
              <a:rPr lang="en-US" dirty="0">
                <a:latin typeface="Courier New" pitchFamily="49" charset="0"/>
                <a:cs typeface="Courier New" pitchFamily="49" charset="0"/>
              </a:rPr>
              <a:t>&gt;</a:t>
            </a:r>
            <a:r>
              <a:rPr lang="en-US" dirty="0"/>
              <a:t> : </a:t>
            </a:r>
            <a:r>
              <a:rPr lang="en-US" dirty="0" err="1"/>
              <a:t>trả</a:t>
            </a:r>
            <a:r>
              <a:rPr lang="en-US" dirty="0"/>
              <a:t> </a:t>
            </a:r>
            <a:r>
              <a:rPr lang="en-US" dirty="0" err="1"/>
              <a:t>về</a:t>
            </a:r>
            <a:r>
              <a:rPr lang="en-US" dirty="0"/>
              <a:t> </a:t>
            </a:r>
            <a:r>
              <a:rPr lang="en-US" dirty="0" err="1"/>
              <a:t>cho</a:t>
            </a:r>
            <a:r>
              <a:rPr lang="en-US" dirty="0"/>
              <a:t> </a:t>
            </a:r>
            <a:r>
              <a:rPr lang="en-US" dirty="0" err="1"/>
              <a:t>hàm</a:t>
            </a:r>
            <a:r>
              <a:rPr lang="en-US" dirty="0"/>
              <a:t> qua </a:t>
            </a:r>
            <a:r>
              <a:rPr lang="en-US" dirty="0" err="1"/>
              <a:t>lệnh</a:t>
            </a:r>
            <a:r>
              <a:rPr lang="en-US" dirty="0"/>
              <a:t> </a:t>
            </a:r>
            <a:r>
              <a:rPr lang="en-US" dirty="0">
                <a:solidFill>
                  <a:srgbClr val="FF0000"/>
                </a:solidFill>
              </a:rPr>
              <a:t>return</a:t>
            </a:r>
            <a:r>
              <a:rPr lang="en-US" dirty="0"/>
              <a:t>.</a:t>
            </a:r>
          </a:p>
        </p:txBody>
      </p:sp>
      <p:sp>
        <p:nvSpPr>
          <p:cNvPr id="2" name="Date Placeholder 1"/>
          <p:cNvSpPr>
            <a:spLocks noGrp="1"/>
          </p:cNvSpPr>
          <p:nvPr>
            <p:ph type="dt" sz="half" idx="10"/>
          </p:nvPr>
        </p:nvSpPr>
        <p:spPr/>
        <p:txBody>
          <a:bodyPr/>
          <a:lstStyle/>
          <a:p>
            <a:fld id="{A83FA110-E36F-44B7-8AE5-0B9FD5799699}" type="datetime1">
              <a:rPr lang="vi-VN" smtClean="0"/>
              <a:t>09/05/2023</a:t>
            </a:fld>
            <a:endParaRPr lang="vi-VN"/>
          </a:p>
        </p:txBody>
      </p:sp>
      <p:sp>
        <p:nvSpPr>
          <p:cNvPr id="22532" name="Footer Placeholder 3"/>
          <p:cNvSpPr>
            <a:spLocks noGrp="1"/>
          </p:cNvSpPr>
          <p:nvPr>
            <p:ph type="ftr" sz="quarter" idx="11"/>
          </p:nvPr>
        </p:nvSpPr>
        <p:spPr>
          <a:noFill/>
        </p:spPr>
        <p:txBody>
          <a:bodyPr/>
          <a:lstStyle/>
          <a:p>
            <a:r>
              <a:rPr lang="vi-VN"/>
              <a:t>Chương 4 - Chương trình con</a:t>
            </a:r>
            <a:endParaRPr lang="en-US"/>
          </a:p>
        </p:txBody>
      </p:sp>
      <p:sp>
        <p:nvSpPr>
          <p:cNvPr id="11" name="Rounded Rectangle 10"/>
          <p:cNvSpPr/>
          <p:nvPr/>
        </p:nvSpPr>
        <p:spPr>
          <a:xfrm>
            <a:off x="685800" y="1628800"/>
            <a:ext cx="152400" cy="16002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2" name="TextBox 11"/>
          <p:cNvSpPr txBox="1">
            <a:spLocks noChangeArrowheads="1"/>
          </p:cNvSpPr>
          <p:nvPr/>
        </p:nvSpPr>
        <p:spPr bwMode="auto">
          <a:xfrm>
            <a:off x="838200" y="1628800"/>
            <a:ext cx="7010400" cy="1631950"/>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&lt;kiểu trả về&gt; &lt;tên hàm&gt;</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[danh sách tham số]</a:t>
            </a:r>
            <a:r>
              <a:rPr lang="en-US" sz="2000" b="1">
                <a:solidFill>
                  <a:srgbClr val="FF0000"/>
                </a:solidFill>
                <a:latin typeface="Courier New" pitchFamily="49" charset="0"/>
                <a:cs typeface="Courier New" pitchFamily="49" charset="0"/>
              </a:rPr>
              <a:t>)</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&lt;các câu lệnh&gt;</a:t>
            </a:r>
          </a:p>
          <a:p>
            <a:r>
              <a:rPr lang="en-US" sz="2000" b="1">
                <a:latin typeface="Courier New" pitchFamily="49" charset="0"/>
                <a:cs typeface="Courier New" pitchFamily="49" charset="0"/>
              </a:rPr>
              <a:t>	[</a:t>
            </a:r>
            <a:r>
              <a:rPr lang="en-US" sz="2000" b="1">
                <a:solidFill>
                  <a:srgbClr val="FF0000"/>
                </a:solidFill>
                <a:latin typeface="Courier New" pitchFamily="49" charset="0"/>
                <a:cs typeface="Courier New" pitchFamily="49" charset="0"/>
              </a:rPr>
              <a:t>return</a:t>
            </a:r>
            <a:r>
              <a:rPr lang="en-US" sz="2000" b="1">
                <a:latin typeface="Courier New" pitchFamily="49" charset="0"/>
                <a:cs typeface="Courier New" pitchFamily="49" charset="0"/>
              </a:rPr>
              <a:t> &lt;giá trị&gt;;]</a:t>
            </a:r>
          </a:p>
          <a:p>
            <a:r>
              <a:rPr lang="en-US" sz="2000" b="1">
                <a:latin typeface="Courier New" pitchFamily="49" charset="0"/>
                <a:cs typeface="Courier New" pitchFamily="49" charset="0"/>
              </a:rPr>
              <a:t>}</a:t>
            </a:r>
          </a:p>
        </p:txBody>
      </p:sp>
      <p:sp>
        <p:nvSpPr>
          <p:cNvPr id="6" name="Slide Number Placeholder 5"/>
          <p:cNvSpPr>
            <a:spLocks noGrp="1"/>
          </p:cNvSpPr>
          <p:nvPr>
            <p:ph type="sldNum" sz="quarter" idx="12"/>
          </p:nvPr>
        </p:nvSpPr>
        <p:spPr/>
        <p:txBody>
          <a:bodyPr/>
          <a:lstStyle/>
          <a:p>
            <a:fld id="{5AB95402-1E0D-474E-8D8C-CBE7F053639E}" type="slidenum">
              <a:rPr lang="vi-VN" smtClean="0"/>
              <a:pPr/>
              <a:t>8</a:t>
            </a:fld>
            <a:r>
              <a:rPr lang="vi-VN"/>
              <a:t>/43</a:t>
            </a:r>
          </a:p>
        </p:txBody>
      </p:sp>
    </p:spTree>
    <p:extLst>
      <p:ext uri="{BB962C8B-B14F-4D97-AF65-F5344CB8AC3E}">
        <p14:creationId xmlns:p14="http://schemas.microsoft.com/office/powerpoint/2010/main" val="560665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anim calcmode="lin" valueType="num">
                                      <p:cBhvr>
                                        <p:cTn id="8"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500"/>
                                        <p:tgtEl>
                                          <p:spTgt spid="11"/>
                                        </p:tgtEl>
                                      </p:cBhvr>
                                    </p:animEffect>
                                  </p:childTnLst>
                                </p:cTn>
                              </p:par>
                              <p:par>
                                <p:cTn id="15" presetID="10"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anim calcmode="lin" valueType="num">
                                      <p:cBhvr>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anim calcmode="lin" valueType="num">
                                      <p:cBhvr>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fade">
                                      <p:cBhvr>
                                        <p:cTn id="36" dur="500"/>
                                        <p:tgtEl>
                                          <p:spTgt spid="3">
                                            <p:txEl>
                                              <p:pRg st="6" end="6"/>
                                            </p:txEl>
                                          </p:spTgt>
                                        </p:tgtEl>
                                      </p:cBhvr>
                                    </p:animEffect>
                                    <p:anim calcmode="lin" valueType="num">
                                      <p:cBhvr>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8"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500"/>
                                        <p:tgtEl>
                                          <p:spTgt spid="3">
                                            <p:txEl>
                                              <p:pRg st="7" end="7"/>
                                            </p:txEl>
                                          </p:spTgt>
                                        </p:tgtEl>
                                      </p:cBhvr>
                                    </p:animEffect>
                                    <p:anim calcmode="lin" valueType="num">
                                      <p:cBhvr>
                                        <p:cTn id="4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5"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3">
                                            <p:txEl>
                                              <p:pRg st="8" end="8"/>
                                            </p:txEl>
                                          </p:spTgt>
                                        </p:tgtEl>
                                        <p:attrNameLst>
                                          <p:attrName>style.visibility</p:attrName>
                                        </p:attrNameLst>
                                      </p:cBhvr>
                                      <p:to>
                                        <p:strVal val="visible"/>
                                      </p:to>
                                    </p:set>
                                    <p:animEffect transition="in" filter="fade">
                                      <p:cBhvr>
                                        <p:cTn id="50" dur="500"/>
                                        <p:tgtEl>
                                          <p:spTgt spid="3">
                                            <p:txEl>
                                              <p:pRg st="8" end="8"/>
                                            </p:txEl>
                                          </p:spTgt>
                                        </p:tgtEl>
                                      </p:cBhvr>
                                    </p:animEffect>
                                    <p:anim calcmode="lin" valueType="num">
                                      <p:cBhvr>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2"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a:t>Các b</a:t>
            </a:r>
            <a:r>
              <a:rPr lang="vi-VN"/>
              <a:t>ướ</a:t>
            </a:r>
            <a:r>
              <a:rPr lang="en-US"/>
              <a:t>c viết hàm</a:t>
            </a:r>
          </a:p>
        </p:txBody>
      </p:sp>
      <p:sp>
        <p:nvSpPr>
          <p:cNvPr id="3" name="Content Placeholder 2"/>
          <p:cNvSpPr>
            <a:spLocks noGrp="1"/>
          </p:cNvSpPr>
          <p:nvPr>
            <p:ph idx="1"/>
          </p:nvPr>
        </p:nvSpPr>
        <p:spPr/>
        <p:txBody>
          <a:bodyPr/>
          <a:lstStyle/>
          <a:p>
            <a:pPr>
              <a:defRPr/>
            </a:pPr>
            <a:r>
              <a:rPr lang="en-US"/>
              <a:t>Cần xác </a:t>
            </a:r>
            <a:r>
              <a:rPr lang="vi-VN"/>
              <a:t>đị</a:t>
            </a:r>
            <a:r>
              <a:rPr lang="en-US"/>
              <a:t>nh các thông tin sau </a:t>
            </a:r>
            <a:r>
              <a:rPr lang="vi-VN"/>
              <a:t>đâ</a:t>
            </a:r>
            <a:r>
              <a:rPr lang="en-US"/>
              <a:t>y:</a:t>
            </a:r>
          </a:p>
          <a:p>
            <a:pPr lvl="1">
              <a:defRPr/>
            </a:pPr>
            <a:r>
              <a:rPr lang="en-US"/>
              <a:t>Tên hàm.</a:t>
            </a:r>
          </a:p>
          <a:p>
            <a:pPr lvl="1">
              <a:defRPr/>
            </a:pPr>
            <a:r>
              <a:rPr lang="en-US"/>
              <a:t>Hàm sẽ thực hiện công việc gì.</a:t>
            </a:r>
          </a:p>
          <a:p>
            <a:pPr lvl="1">
              <a:defRPr/>
            </a:pPr>
            <a:r>
              <a:rPr lang="en-US"/>
              <a:t>Các </a:t>
            </a:r>
            <a:r>
              <a:rPr lang="vi-VN"/>
              <a:t>đ</a:t>
            </a:r>
            <a:r>
              <a:rPr lang="en-US"/>
              <a:t>ầu vào (nếu có).</a:t>
            </a:r>
          </a:p>
          <a:p>
            <a:pPr lvl="1">
              <a:defRPr/>
            </a:pPr>
            <a:r>
              <a:rPr lang="en-US"/>
              <a:t>Đầu ra (nếu có).</a:t>
            </a:r>
          </a:p>
        </p:txBody>
      </p:sp>
      <p:sp>
        <p:nvSpPr>
          <p:cNvPr id="2" name="Date Placeholder 1"/>
          <p:cNvSpPr>
            <a:spLocks noGrp="1"/>
          </p:cNvSpPr>
          <p:nvPr>
            <p:ph type="dt" sz="half" idx="10"/>
          </p:nvPr>
        </p:nvSpPr>
        <p:spPr/>
        <p:txBody>
          <a:bodyPr/>
          <a:lstStyle/>
          <a:p>
            <a:fld id="{D6E88625-A876-4DBD-B0A6-585151601313}" type="datetime1">
              <a:rPr lang="vi-VN" smtClean="0"/>
              <a:t>09/05/2023</a:t>
            </a:fld>
            <a:endParaRPr lang="vi-VN"/>
          </a:p>
        </p:txBody>
      </p:sp>
      <p:sp>
        <p:nvSpPr>
          <p:cNvPr id="23556" name="Footer Placeholder 3"/>
          <p:cNvSpPr>
            <a:spLocks noGrp="1"/>
          </p:cNvSpPr>
          <p:nvPr>
            <p:ph type="ftr" sz="quarter" idx="11"/>
          </p:nvPr>
        </p:nvSpPr>
        <p:spPr>
          <a:noFill/>
        </p:spPr>
        <p:txBody>
          <a:bodyPr/>
          <a:lstStyle/>
          <a:p>
            <a:r>
              <a:rPr lang="vi-VN"/>
              <a:t>Chương 4 - Chương trình con</a:t>
            </a:r>
            <a:endParaRPr lang="en-US"/>
          </a:p>
        </p:txBody>
      </p:sp>
      <p:sp>
        <p:nvSpPr>
          <p:cNvPr id="5" name="AutoShape 6"/>
          <p:cNvSpPr>
            <a:spLocks noChangeArrowheads="1"/>
          </p:cNvSpPr>
          <p:nvPr/>
        </p:nvSpPr>
        <p:spPr bwMode="gray">
          <a:xfrm>
            <a:off x="3684984" y="3840832"/>
            <a:ext cx="2543200" cy="1676400"/>
          </a:xfrm>
          <a:prstGeom prst="roundRect">
            <a:avLst>
              <a:gd name="adj" fmla="val 16667"/>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p>
            <a:pPr algn="ctr">
              <a:defRPr/>
            </a:pPr>
            <a:r>
              <a:rPr lang="en-US" sz="2800" b="1">
                <a:solidFill>
                  <a:srgbClr val="FF0000"/>
                </a:solidFill>
                <a:latin typeface="Arial" pitchFamily="34" charset="0"/>
                <a:cs typeface="Arial" pitchFamily="34" charset="0"/>
              </a:rPr>
              <a:t>Tên hàm</a:t>
            </a:r>
          </a:p>
          <a:p>
            <a:pPr algn="ctr">
              <a:defRPr/>
            </a:pPr>
            <a:endParaRPr lang="en-US" sz="2000">
              <a:solidFill>
                <a:srgbClr val="FF0000"/>
              </a:solidFill>
              <a:latin typeface="Arial" pitchFamily="34" charset="0"/>
              <a:cs typeface="Arial" pitchFamily="34" charset="0"/>
            </a:endParaRPr>
          </a:p>
          <a:p>
            <a:pPr algn="ctr">
              <a:defRPr/>
            </a:pPr>
            <a:endParaRPr lang="en-US" sz="2000">
              <a:solidFill>
                <a:srgbClr val="FF0000"/>
              </a:solidFill>
              <a:latin typeface="Arial" pitchFamily="34" charset="0"/>
              <a:cs typeface="Arial" pitchFamily="34" charset="0"/>
            </a:endParaRPr>
          </a:p>
          <a:p>
            <a:pPr algn="ctr">
              <a:defRPr/>
            </a:pPr>
            <a:endParaRPr lang="en-US" sz="2000">
              <a:solidFill>
                <a:schemeClr val="tx1">
                  <a:lumMod val="60000"/>
                  <a:lumOff val="40000"/>
                </a:schemeClr>
              </a:solidFill>
              <a:latin typeface="Arial" pitchFamily="34" charset="0"/>
              <a:cs typeface="Arial" pitchFamily="34" charset="0"/>
            </a:endParaRPr>
          </a:p>
        </p:txBody>
      </p:sp>
      <p:cxnSp>
        <p:nvCxnSpPr>
          <p:cNvPr id="6" name="Straight Arrow Connector 5"/>
          <p:cNvCxnSpPr/>
          <p:nvPr/>
        </p:nvCxnSpPr>
        <p:spPr>
          <a:xfrm>
            <a:off x="1322784" y="4145632"/>
            <a:ext cx="23622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8" name="Straight Arrow Connector 7"/>
          <p:cNvCxnSpPr/>
          <p:nvPr/>
        </p:nvCxnSpPr>
        <p:spPr>
          <a:xfrm>
            <a:off x="1322784" y="4679032"/>
            <a:ext cx="23622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a:off x="1322784" y="5212432"/>
            <a:ext cx="2362200" cy="158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0" name="TextBox 9"/>
          <p:cNvSpPr txBox="1">
            <a:spLocks noChangeArrowheads="1"/>
          </p:cNvSpPr>
          <p:nvPr/>
        </p:nvSpPr>
        <p:spPr bwMode="auto">
          <a:xfrm>
            <a:off x="1779984" y="3764632"/>
            <a:ext cx="1353256" cy="400110"/>
          </a:xfrm>
          <a:prstGeom prst="rect">
            <a:avLst/>
          </a:prstGeom>
          <a:noFill/>
          <a:ln w="9525">
            <a:noFill/>
            <a:miter lim="800000"/>
            <a:headEnd/>
            <a:tailEnd/>
          </a:ln>
        </p:spPr>
        <p:txBody>
          <a:bodyPr wrap="none">
            <a:spAutoFit/>
          </a:bodyPr>
          <a:lstStyle/>
          <a:p>
            <a:r>
              <a:rPr lang="en-US" sz="2000"/>
              <a:t>Đầu vào 1</a:t>
            </a:r>
          </a:p>
        </p:txBody>
      </p:sp>
      <p:sp>
        <p:nvSpPr>
          <p:cNvPr id="11" name="TextBox 10"/>
          <p:cNvSpPr txBox="1">
            <a:spLocks noChangeArrowheads="1"/>
          </p:cNvSpPr>
          <p:nvPr/>
        </p:nvSpPr>
        <p:spPr bwMode="auto">
          <a:xfrm>
            <a:off x="1779984" y="4298032"/>
            <a:ext cx="1353256" cy="400110"/>
          </a:xfrm>
          <a:prstGeom prst="rect">
            <a:avLst/>
          </a:prstGeom>
          <a:noFill/>
          <a:ln w="9525">
            <a:noFill/>
            <a:miter lim="800000"/>
            <a:headEnd/>
            <a:tailEnd/>
          </a:ln>
        </p:spPr>
        <p:txBody>
          <a:bodyPr wrap="none">
            <a:spAutoFit/>
          </a:bodyPr>
          <a:lstStyle/>
          <a:p>
            <a:r>
              <a:rPr lang="en-US" sz="2000"/>
              <a:t>Đầu vào 2</a:t>
            </a:r>
          </a:p>
        </p:txBody>
      </p:sp>
      <p:sp>
        <p:nvSpPr>
          <p:cNvPr id="12" name="TextBox 11"/>
          <p:cNvSpPr txBox="1">
            <a:spLocks noChangeArrowheads="1"/>
          </p:cNvSpPr>
          <p:nvPr/>
        </p:nvSpPr>
        <p:spPr bwMode="auto">
          <a:xfrm>
            <a:off x="1779984" y="4831432"/>
            <a:ext cx="1353256" cy="400110"/>
          </a:xfrm>
          <a:prstGeom prst="rect">
            <a:avLst/>
          </a:prstGeom>
          <a:noFill/>
          <a:ln w="9525">
            <a:noFill/>
            <a:miter lim="800000"/>
            <a:headEnd/>
            <a:tailEnd/>
          </a:ln>
        </p:spPr>
        <p:txBody>
          <a:bodyPr wrap="none">
            <a:spAutoFit/>
          </a:bodyPr>
          <a:lstStyle/>
          <a:p>
            <a:r>
              <a:rPr lang="en-US" sz="2000"/>
              <a:t>Đầu vào n</a:t>
            </a:r>
          </a:p>
        </p:txBody>
      </p:sp>
      <p:cxnSp>
        <p:nvCxnSpPr>
          <p:cNvPr id="13" name="Straight Arrow Connector 12"/>
          <p:cNvCxnSpPr/>
          <p:nvPr/>
        </p:nvCxnSpPr>
        <p:spPr>
          <a:xfrm>
            <a:off x="6228184" y="4679032"/>
            <a:ext cx="2304256"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4" name="TextBox 13"/>
          <p:cNvSpPr txBox="1">
            <a:spLocks noChangeArrowheads="1"/>
          </p:cNvSpPr>
          <p:nvPr/>
        </p:nvSpPr>
        <p:spPr bwMode="auto">
          <a:xfrm>
            <a:off x="6280409" y="4253026"/>
            <a:ext cx="1963999" cy="400110"/>
          </a:xfrm>
          <a:prstGeom prst="rect">
            <a:avLst/>
          </a:prstGeom>
          <a:noFill/>
          <a:ln w="9525">
            <a:noFill/>
            <a:miter lim="800000"/>
            <a:headEnd/>
            <a:tailEnd/>
          </a:ln>
        </p:spPr>
        <p:txBody>
          <a:bodyPr wrap="none">
            <a:spAutoFit/>
          </a:bodyPr>
          <a:lstStyle/>
          <a:p>
            <a:r>
              <a:rPr lang="en-US" sz="2000"/>
              <a:t>Đầu ra (nếu có)</a:t>
            </a:r>
          </a:p>
        </p:txBody>
      </p:sp>
      <p:sp>
        <p:nvSpPr>
          <p:cNvPr id="15" name="TextBox 14"/>
          <p:cNvSpPr txBox="1">
            <a:spLocks noChangeArrowheads="1"/>
          </p:cNvSpPr>
          <p:nvPr/>
        </p:nvSpPr>
        <p:spPr bwMode="auto">
          <a:xfrm>
            <a:off x="3923928" y="4509120"/>
            <a:ext cx="2133600" cy="830997"/>
          </a:xfrm>
          <a:prstGeom prst="rect">
            <a:avLst/>
          </a:prstGeom>
          <a:noFill/>
          <a:ln w="9525">
            <a:noFill/>
            <a:miter lim="800000"/>
            <a:headEnd/>
            <a:tailEnd/>
          </a:ln>
        </p:spPr>
        <p:txBody>
          <a:bodyPr wrap="square">
            <a:spAutoFit/>
          </a:bodyPr>
          <a:lstStyle/>
          <a:p>
            <a:pPr algn="ctr"/>
            <a:r>
              <a:rPr lang="en-US" sz="2400"/>
              <a:t>Các công việc</a:t>
            </a:r>
          </a:p>
          <a:p>
            <a:pPr algn="ctr"/>
            <a:r>
              <a:rPr lang="en-US" sz="2400"/>
              <a:t>sẽ thực hiện</a:t>
            </a:r>
          </a:p>
        </p:txBody>
      </p:sp>
      <p:sp>
        <p:nvSpPr>
          <p:cNvPr id="16" name="Slide Number Placeholder 15"/>
          <p:cNvSpPr>
            <a:spLocks noGrp="1"/>
          </p:cNvSpPr>
          <p:nvPr>
            <p:ph type="sldNum" sz="quarter" idx="12"/>
          </p:nvPr>
        </p:nvSpPr>
        <p:spPr/>
        <p:txBody>
          <a:bodyPr/>
          <a:lstStyle/>
          <a:p>
            <a:fld id="{5AB95402-1E0D-474E-8D8C-CBE7F053639E}" type="slidenum">
              <a:rPr lang="vi-VN" smtClean="0"/>
              <a:pPr/>
              <a:t>9</a:t>
            </a:fld>
            <a:r>
              <a:rPr lang="vi-VN"/>
              <a:t>/43</a:t>
            </a:r>
          </a:p>
        </p:txBody>
      </p:sp>
    </p:spTree>
    <p:extLst>
      <p:ext uri="{BB962C8B-B14F-4D97-AF65-F5344CB8AC3E}">
        <p14:creationId xmlns:p14="http://schemas.microsoft.com/office/powerpoint/2010/main" val="2797774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anim calcmode="lin" valueType="num">
                                      <p:cBhvr>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0"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anim calcmode="lin" valueType="num">
                                      <p:cBhvr>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left)">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wipe(left)">
                                      <p:cBhvr>
                                        <p:cTn id="49" dur="500"/>
                                        <p:tgtEl>
                                          <p:spTgt spid="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fade">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Effect transition="in" filter="fade">
                                      <p:cBhvr>
                                        <p:cTn id="57" dur="500"/>
                                        <p:tgtEl>
                                          <p:spTgt spid="3">
                                            <p:txEl>
                                              <p:pRg st="4" end="4"/>
                                            </p:txEl>
                                          </p:spTgt>
                                        </p:tgtEl>
                                      </p:cBhvr>
                                    </p:animEffect>
                                    <p:anim calcmode="lin" valueType="num">
                                      <p:cBhvr>
                                        <p:cTn id="5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9"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left)">
                                      <p:cBhvr>
                                        <p:cTn id="63" dur="500"/>
                                        <p:tgtEl>
                                          <p:spTgt spid="13"/>
                                        </p:tgtEl>
                                      </p:cBhvr>
                                    </p:animEffect>
                                  </p:childTnLst>
                                </p:cTn>
                              </p:par>
                              <p:par>
                                <p:cTn id="64" presetID="10" presetClass="entr" presetSubtype="0" fill="hold"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t>Ví dụ về hàm</a:t>
            </a:r>
          </a:p>
        </p:txBody>
      </p:sp>
      <p:sp>
        <p:nvSpPr>
          <p:cNvPr id="3" name="Content Placeholder 2"/>
          <p:cNvSpPr>
            <a:spLocks noGrp="1"/>
          </p:cNvSpPr>
          <p:nvPr>
            <p:ph idx="1"/>
          </p:nvPr>
        </p:nvSpPr>
        <p:spPr/>
        <p:txBody>
          <a:bodyPr/>
          <a:lstStyle/>
          <a:p>
            <a:pPr>
              <a:defRPr/>
            </a:pPr>
            <a:r>
              <a:rPr lang="en-US"/>
              <a:t>Ví dụ 1</a:t>
            </a:r>
          </a:p>
          <a:p>
            <a:pPr lvl="1">
              <a:defRPr/>
            </a:pPr>
            <a:r>
              <a:rPr lang="en-US">
                <a:solidFill>
                  <a:srgbClr val="FF0000"/>
                </a:solidFill>
              </a:rPr>
              <a:t>Tên hàm:</a:t>
            </a:r>
            <a:r>
              <a:rPr lang="en-US"/>
              <a:t> XuatTong</a:t>
            </a:r>
          </a:p>
          <a:p>
            <a:pPr lvl="1">
              <a:defRPr/>
            </a:pPr>
            <a:r>
              <a:rPr lang="en-US">
                <a:solidFill>
                  <a:srgbClr val="FF0000"/>
                </a:solidFill>
              </a:rPr>
              <a:t>Công việc: </a:t>
            </a:r>
            <a:r>
              <a:rPr lang="en-US"/>
              <a:t>tính và xuất tổng 2 số nguyên</a:t>
            </a:r>
          </a:p>
          <a:p>
            <a:pPr lvl="1">
              <a:defRPr/>
            </a:pPr>
            <a:r>
              <a:rPr lang="en-US">
                <a:solidFill>
                  <a:srgbClr val="FF0000"/>
                </a:solidFill>
              </a:rPr>
              <a:t>Đầu vào: </a:t>
            </a:r>
            <a:r>
              <a:rPr lang="en-US"/>
              <a:t>hai số nguyên x và y</a:t>
            </a:r>
          </a:p>
          <a:p>
            <a:pPr lvl="1">
              <a:defRPr/>
            </a:pPr>
            <a:r>
              <a:rPr lang="en-US">
                <a:solidFill>
                  <a:srgbClr val="FF0000"/>
                </a:solidFill>
              </a:rPr>
              <a:t>Đầu ra: </a:t>
            </a:r>
            <a:r>
              <a:rPr lang="en-US"/>
              <a:t>không có</a:t>
            </a:r>
            <a:endParaRPr lang="en-US" baseline="30000"/>
          </a:p>
        </p:txBody>
      </p:sp>
      <p:sp>
        <p:nvSpPr>
          <p:cNvPr id="2" name="Date Placeholder 1"/>
          <p:cNvSpPr>
            <a:spLocks noGrp="1"/>
          </p:cNvSpPr>
          <p:nvPr>
            <p:ph type="dt" sz="half" idx="10"/>
          </p:nvPr>
        </p:nvSpPr>
        <p:spPr/>
        <p:txBody>
          <a:bodyPr/>
          <a:lstStyle/>
          <a:p>
            <a:fld id="{04801CE4-1984-4687-9464-47A2D7190354}" type="datetime1">
              <a:rPr lang="vi-VN" smtClean="0"/>
              <a:t>09/05/2023</a:t>
            </a:fld>
            <a:endParaRPr lang="vi-VN"/>
          </a:p>
        </p:txBody>
      </p:sp>
      <p:sp>
        <p:nvSpPr>
          <p:cNvPr id="24580" name="Footer Placeholder 3"/>
          <p:cNvSpPr>
            <a:spLocks noGrp="1"/>
          </p:cNvSpPr>
          <p:nvPr>
            <p:ph type="ftr" sz="quarter" idx="11"/>
          </p:nvPr>
        </p:nvSpPr>
        <p:spPr>
          <a:noFill/>
        </p:spPr>
        <p:txBody>
          <a:bodyPr/>
          <a:lstStyle/>
          <a:p>
            <a:r>
              <a:rPr lang="vi-VN"/>
              <a:t>Chương 4 - Chương trình con</a:t>
            </a:r>
            <a:endParaRPr lang="en-US"/>
          </a:p>
        </p:txBody>
      </p:sp>
      <p:sp>
        <p:nvSpPr>
          <p:cNvPr id="5" name="Rounded Rectangle 4"/>
          <p:cNvSpPr/>
          <p:nvPr/>
        </p:nvSpPr>
        <p:spPr>
          <a:xfrm>
            <a:off x="685800" y="3717032"/>
            <a:ext cx="152400" cy="19050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838200" y="3717032"/>
            <a:ext cx="7010400" cy="1938338"/>
          </a:xfrm>
          <a:prstGeom prst="rect">
            <a:avLst/>
          </a:prstGeom>
          <a:noFill/>
          <a:ln w="9525">
            <a:noFill/>
            <a:miter lim="800000"/>
            <a:headEnd/>
            <a:tailEnd/>
          </a:ln>
        </p:spPr>
        <p:txBody>
          <a:bodyPr>
            <a:spAutoFit/>
          </a:bodyPr>
          <a:lstStyle/>
          <a:p>
            <a:r>
              <a:rPr lang="en-US" sz="2000" b="1" dirty="0">
                <a:latin typeface="Courier New" pitchFamily="49" charset="0"/>
                <a:cs typeface="Courier New" pitchFamily="49" charset="0"/>
              </a:rPr>
              <a:t>void </a:t>
            </a:r>
            <a:r>
              <a:rPr lang="en-US" sz="2000" b="1" dirty="0" err="1">
                <a:latin typeface="Courier New" pitchFamily="49" charset="0"/>
                <a:cs typeface="Courier New" pitchFamily="49" charset="0"/>
              </a:rPr>
              <a:t>XuatTong</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x, </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y)</a:t>
            </a:r>
          </a:p>
          <a:p>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s;</a:t>
            </a:r>
          </a:p>
          <a:p>
            <a:r>
              <a:rPr lang="en-US" sz="2000" b="1" dirty="0">
                <a:latin typeface="Courier New" pitchFamily="49" charset="0"/>
                <a:cs typeface="Courier New" pitchFamily="49" charset="0"/>
              </a:rPr>
              <a:t>	s = x + y;</a:t>
            </a:r>
          </a:p>
          <a:p>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printf</a:t>
            </a:r>
            <a:r>
              <a:rPr lang="en-US" sz="2000" b="1" dirty="0">
                <a:latin typeface="Courier New" pitchFamily="49" charset="0"/>
                <a:cs typeface="Courier New" pitchFamily="49" charset="0"/>
              </a:rPr>
              <a:t>(“%d </a:t>
            </a:r>
            <a:r>
              <a:rPr lang="en-US" sz="2000" b="1" dirty="0" err="1">
                <a:latin typeface="Courier New" pitchFamily="49" charset="0"/>
                <a:cs typeface="Courier New" pitchFamily="49" charset="0"/>
              </a:rPr>
              <a:t>cong</a:t>
            </a:r>
            <a:r>
              <a:rPr lang="en-US" sz="2000" b="1" dirty="0">
                <a:latin typeface="Courier New" pitchFamily="49" charset="0"/>
                <a:cs typeface="Courier New" pitchFamily="49" charset="0"/>
              </a:rPr>
              <a:t> %d bang %d”, x, y, s);</a:t>
            </a:r>
          </a:p>
          <a:p>
            <a:r>
              <a:rPr lang="en-US" sz="2000" b="1" dirty="0">
                <a:latin typeface="Courier New" pitchFamily="49" charset="0"/>
                <a:cs typeface="Courier New" pitchFamily="49" charset="0"/>
              </a:rPr>
              <a:t>}</a:t>
            </a:r>
          </a:p>
        </p:txBody>
      </p:sp>
      <p:sp>
        <p:nvSpPr>
          <p:cNvPr id="16" name="Slide Number Placeholder 15"/>
          <p:cNvSpPr>
            <a:spLocks noGrp="1"/>
          </p:cNvSpPr>
          <p:nvPr>
            <p:ph type="sldNum" sz="quarter" idx="12"/>
          </p:nvPr>
        </p:nvSpPr>
        <p:spPr/>
        <p:txBody>
          <a:bodyPr/>
          <a:lstStyle/>
          <a:p>
            <a:fld id="{5AB95402-1E0D-474E-8D8C-CBE7F053639E}" type="slidenum">
              <a:rPr lang="vi-VN" smtClean="0"/>
              <a:pPr/>
              <a:t>10</a:t>
            </a:fld>
            <a:r>
              <a:rPr lang="vi-VN"/>
              <a:t>/43</a:t>
            </a:r>
          </a:p>
        </p:txBody>
      </p:sp>
    </p:spTree>
    <p:extLst>
      <p:ext uri="{BB962C8B-B14F-4D97-AF65-F5344CB8AC3E}">
        <p14:creationId xmlns:p14="http://schemas.microsoft.com/office/powerpoint/2010/main" val="126785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anim calcmode="lin" valueType="num">
                                      <p:cBhvr>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anim calcmode="lin" valueType="num">
                                      <p:cBhvr>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up)">
                                      <p:cBhvr>
                                        <p:cTn id="35" dur="500"/>
                                        <p:tgtEl>
                                          <p:spTgt spid="5"/>
                                        </p:tgtEl>
                                      </p:cBhvr>
                                    </p:animEffect>
                                  </p:childTnLst>
                                </p:cTn>
                              </p:par>
                              <p:par>
                                <p:cTn id="36" presetID="10" presetClass="entr" presetSubtype="0" fill="hold"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t>Ví dụ về hàm (tt)</a:t>
            </a:r>
          </a:p>
        </p:txBody>
      </p:sp>
      <p:sp>
        <p:nvSpPr>
          <p:cNvPr id="3" name="Content Placeholder 2"/>
          <p:cNvSpPr>
            <a:spLocks noGrp="1"/>
          </p:cNvSpPr>
          <p:nvPr>
            <p:ph idx="1"/>
          </p:nvPr>
        </p:nvSpPr>
        <p:spPr/>
        <p:txBody>
          <a:bodyPr/>
          <a:lstStyle/>
          <a:p>
            <a:pPr>
              <a:defRPr/>
            </a:pPr>
            <a:r>
              <a:rPr lang="en-US"/>
              <a:t>Ví dụ 2</a:t>
            </a:r>
          </a:p>
          <a:p>
            <a:pPr lvl="1">
              <a:defRPr/>
            </a:pPr>
            <a:r>
              <a:rPr lang="en-US">
                <a:solidFill>
                  <a:srgbClr val="FF0000"/>
                </a:solidFill>
              </a:rPr>
              <a:t>Tên hàm: </a:t>
            </a:r>
            <a:r>
              <a:rPr lang="en-US"/>
              <a:t>TinhTong</a:t>
            </a:r>
          </a:p>
          <a:p>
            <a:pPr lvl="1">
              <a:defRPr/>
            </a:pPr>
            <a:r>
              <a:rPr lang="en-US">
                <a:solidFill>
                  <a:srgbClr val="FF0000"/>
                </a:solidFill>
              </a:rPr>
              <a:t>Công việc: </a:t>
            </a:r>
            <a:r>
              <a:rPr lang="en-US"/>
              <a:t>tính và trả về tổng 2 số nguyên</a:t>
            </a:r>
          </a:p>
          <a:p>
            <a:pPr lvl="1">
              <a:defRPr/>
            </a:pPr>
            <a:r>
              <a:rPr lang="en-US">
                <a:solidFill>
                  <a:srgbClr val="FF0000"/>
                </a:solidFill>
              </a:rPr>
              <a:t>Đầu vào: </a:t>
            </a:r>
            <a:r>
              <a:rPr lang="en-US"/>
              <a:t>hai số nguyên x và y</a:t>
            </a:r>
          </a:p>
          <a:p>
            <a:pPr lvl="1">
              <a:defRPr/>
            </a:pPr>
            <a:r>
              <a:rPr lang="en-US">
                <a:solidFill>
                  <a:srgbClr val="FF0000"/>
                </a:solidFill>
              </a:rPr>
              <a:t>Đầu ra: </a:t>
            </a:r>
            <a:r>
              <a:rPr lang="en-US"/>
              <a:t>một số nguyên có giá trị x + y</a:t>
            </a:r>
            <a:endParaRPr lang="en-US" baseline="30000"/>
          </a:p>
        </p:txBody>
      </p:sp>
      <p:sp>
        <p:nvSpPr>
          <p:cNvPr id="2" name="Date Placeholder 1"/>
          <p:cNvSpPr>
            <a:spLocks noGrp="1"/>
          </p:cNvSpPr>
          <p:nvPr>
            <p:ph type="dt" sz="half" idx="10"/>
          </p:nvPr>
        </p:nvSpPr>
        <p:spPr/>
        <p:txBody>
          <a:bodyPr/>
          <a:lstStyle/>
          <a:p>
            <a:fld id="{28A6C0B5-D30F-4353-91A3-939B3A45B048}" type="datetime1">
              <a:rPr lang="vi-VN" smtClean="0"/>
              <a:t>09/05/2023</a:t>
            </a:fld>
            <a:endParaRPr lang="vi-VN"/>
          </a:p>
        </p:txBody>
      </p:sp>
      <p:sp>
        <p:nvSpPr>
          <p:cNvPr id="25604" name="Footer Placeholder 3"/>
          <p:cNvSpPr>
            <a:spLocks noGrp="1"/>
          </p:cNvSpPr>
          <p:nvPr>
            <p:ph type="ftr" sz="quarter" idx="11"/>
          </p:nvPr>
        </p:nvSpPr>
        <p:spPr>
          <a:noFill/>
        </p:spPr>
        <p:txBody>
          <a:bodyPr/>
          <a:lstStyle/>
          <a:p>
            <a:r>
              <a:rPr lang="vi-VN"/>
              <a:t>Chương 4 - Chương trình con</a:t>
            </a:r>
            <a:endParaRPr lang="en-US"/>
          </a:p>
        </p:txBody>
      </p:sp>
      <p:sp>
        <p:nvSpPr>
          <p:cNvPr id="15" name="Rounded Rectangle 14"/>
          <p:cNvSpPr/>
          <p:nvPr/>
        </p:nvSpPr>
        <p:spPr>
          <a:xfrm>
            <a:off x="685800" y="3645024"/>
            <a:ext cx="152400" cy="19050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6" name="TextBox 15"/>
          <p:cNvSpPr txBox="1">
            <a:spLocks noChangeArrowheads="1"/>
          </p:cNvSpPr>
          <p:nvPr/>
        </p:nvSpPr>
        <p:spPr bwMode="auto">
          <a:xfrm>
            <a:off x="838200" y="3645024"/>
            <a:ext cx="7010400" cy="2246769"/>
          </a:xfrm>
          <a:prstGeom prst="rect">
            <a:avLst/>
          </a:prstGeom>
          <a:noFill/>
          <a:ln w="9525">
            <a:noFill/>
            <a:miter lim="800000"/>
            <a:headEnd/>
            <a:tailEnd/>
          </a:ln>
        </p:spPr>
        <p:txBody>
          <a:bodyPr>
            <a:spAutoFit/>
          </a:bodyPr>
          <a:lstStyle/>
          <a:p>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TinhTong</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x, </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y)</a:t>
            </a:r>
          </a:p>
          <a:p>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s;</a:t>
            </a:r>
          </a:p>
          <a:p>
            <a:r>
              <a:rPr lang="en-US" sz="2000" b="1" dirty="0">
                <a:latin typeface="Courier New" pitchFamily="49" charset="0"/>
                <a:cs typeface="Courier New" pitchFamily="49" charset="0"/>
              </a:rPr>
              <a:t>	s = x + y;</a:t>
            </a:r>
          </a:p>
          <a:p>
            <a:r>
              <a:rPr lang="en-US" sz="2000" b="1" dirty="0">
                <a:latin typeface="Courier New" pitchFamily="49" charset="0"/>
                <a:cs typeface="Courier New" pitchFamily="49" charset="0"/>
              </a:rPr>
              <a:t>	return s;</a:t>
            </a:r>
          </a:p>
          <a:p>
            <a:endParaRPr lang="en-US" sz="2000" b="1" dirty="0">
              <a:latin typeface="Courier New" pitchFamily="49" charset="0"/>
              <a:cs typeface="Courier New" pitchFamily="49" charset="0"/>
            </a:endParaRPr>
          </a:p>
          <a:p>
            <a:r>
              <a:rPr lang="en-US" sz="2000" b="1" dirty="0">
                <a:latin typeface="Courier New" pitchFamily="49" charset="0"/>
                <a:cs typeface="Courier New" pitchFamily="49" charset="0"/>
              </a:rPr>
              <a:t>}</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11</a:t>
            </a:fld>
            <a:r>
              <a:rPr lang="vi-VN"/>
              <a:t>/43</a:t>
            </a:r>
          </a:p>
        </p:txBody>
      </p:sp>
    </p:spTree>
    <p:extLst>
      <p:ext uri="{BB962C8B-B14F-4D97-AF65-F5344CB8AC3E}">
        <p14:creationId xmlns:p14="http://schemas.microsoft.com/office/powerpoint/2010/main" val="2100848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anim calcmode="lin" valueType="num">
                                      <p:cBhvr>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anim calcmode="lin" valueType="num">
                                      <p:cBhvr>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up)">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t>Ví dụ về hàm (tt)</a:t>
            </a:r>
          </a:p>
        </p:txBody>
      </p:sp>
      <p:sp>
        <p:nvSpPr>
          <p:cNvPr id="3" name="Content Placeholder 2"/>
          <p:cNvSpPr>
            <a:spLocks noGrp="1"/>
          </p:cNvSpPr>
          <p:nvPr>
            <p:ph idx="1"/>
          </p:nvPr>
        </p:nvSpPr>
        <p:spPr/>
        <p:txBody>
          <a:bodyPr/>
          <a:lstStyle/>
          <a:p>
            <a:pPr>
              <a:defRPr/>
            </a:pPr>
            <a:r>
              <a:rPr lang="en-US" dirty="0" err="1"/>
              <a:t>Ví</a:t>
            </a:r>
            <a:r>
              <a:rPr lang="en-US" dirty="0"/>
              <a:t> </a:t>
            </a:r>
            <a:r>
              <a:rPr lang="en-US" dirty="0" err="1"/>
              <a:t>dụ</a:t>
            </a:r>
            <a:r>
              <a:rPr lang="en-US" dirty="0"/>
              <a:t> 3</a:t>
            </a:r>
          </a:p>
          <a:p>
            <a:pPr lvl="1">
              <a:defRPr/>
            </a:pPr>
            <a:r>
              <a:rPr lang="en-US" dirty="0" err="1">
                <a:solidFill>
                  <a:srgbClr val="FF0000"/>
                </a:solidFill>
              </a:rPr>
              <a:t>Tên</a:t>
            </a:r>
            <a:r>
              <a:rPr lang="en-US" dirty="0">
                <a:solidFill>
                  <a:srgbClr val="FF0000"/>
                </a:solidFill>
              </a:rPr>
              <a:t> </a:t>
            </a:r>
            <a:r>
              <a:rPr lang="en-US" dirty="0" err="1">
                <a:solidFill>
                  <a:srgbClr val="FF0000"/>
                </a:solidFill>
              </a:rPr>
              <a:t>hàm</a:t>
            </a:r>
            <a:r>
              <a:rPr lang="en-US" dirty="0">
                <a:solidFill>
                  <a:srgbClr val="FF0000"/>
                </a:solidFill>
              </a:rPr>
              <a:t>: </a:t>
            </a:r>
            <a:r>
              <a:rPr lang="en-US" dirty="0" err="1"/>
              <a:t>NhapXuatTong</a:t>
            </a:r>
            <a:endParaRPr lang="en-US" dirty="0"/>
          </a:p>
          <a:p>
            <a:pPr lvl="1">
              <a:defRPr/>
            </a:pPr>
            <a:r>
              <a:rPr lang="en-US" dirty="0" err="1">
                <a:solidFill>
                  <a:srgbClr val="FF0000"/>
                </a:solidFill>
              </a:rPr>
              <a:t>Công</a:t>
            </a:r>
            <a:r>
              <a:rPr lang="en-US" dirty="0">
                <a:solidFill>
                  <a:srgbClr val="FF0000"/>
                </a:solidFill>
              </a:rPr>
              <a:t> </a:t>
            </a:r>
            <a:r>
              <a:rPr lang="en-US" dirty="0" err="1">
                <a:solidFill>
                  <a:srgbClr val="FF0000"/>
                </a:solidFill>
              </a:rPr>
              <a:t>việc</a:t>
            </a:r>
            <a:r>
              <a:rPr lang="en-US" dirty="0">
                <a:solidFill>
                  <a:srgbClr val="FF0000"/>
                </a:solidFill>
              </a:rPr>
              <a:t>: </a:t>
            </a:r>
            <a:r>
              <a:rPr lang="en-US" dirty="0" err="1"/>
              <a:t>nhập</a:t>
            </a:r>
            <a:r>
              <a:rPr lang="en-US" dirty="0"/>
              <a:t> </a:t>
            </a:r>
            <a:r>
              <a:rPr lang="en-US" dirty="0" err="1"/>
              <a:t>và</a:t>
            </a:r>
            <a:r>
              <a:rPr lang="en-US" dirty="0"/>
              <a:t> </a:t>
            </a:r>
            <a:r>
              <a:rPr lang="en-US" dirty="0" err="1"/>
              <a:t>xuất</a:t>
            </a:r>
            <a:r>
              <a:rPr lang="en-US" dirty="0"/>
              <a:t> </a:t>
            </a:r>
            <a:r>
              <a:rPr lang="en-US" dirty="0" err="1"/>
              <a:t>tổng</a:t>
            </a:r>
            <a:r>
              <a:rPr lang="en-US" dirty="0"/>
              <a:t> 2 </a:t>
            </a:r>
            <a:r>
              <a:rPr lang="en-US" dirty="0" err="1"/>
              <a:t>số</a:t>
            </a:r>
            <a:r>
              <a:rPr lang="en-US" dirty="0"/>
              <a:t> </a:t>
            </a:r>
            <a:r>
              <a:rPr lang="en-US" dirty="0" err="1"/>
              <a:t>nguyên</a:t>
            </a:r>
            <a:endParaRPr lang="en-US" dirty="0"/>
          </a:p>
          <a:p>
            <a:pPr lvl="1">
              <a:defRPr/>
            </a:pPr>
            <a:r>
              <a:rPr lang="en-US" dirty="0" err="1">
                <a:solidFill>
                  <a:srgbClr val="FF0000"/>
                </a:solidFill>
              </a:rPr>
              <a:t>Đầu</a:t>
            </a:r>
            <a:r>
              <a:rPr lang="en-US" dirty="0">
                <a:solidFill>
                  <a:srgbClr val="FF0000"/>
                </a:solidFill>
              </a:rPr>
              <a:t> </a:t>
            </a:r>
            <a:r>
              <a:rPr lang="en-US" dirty="0" err="1">
                <a:solidFill>
                  <a:srgbClr val="FF0000"/>
                </a:solidFill>
              </a:rPr>
              <a:t>vào</a:t>
            </a:r>
            <a:r>
              <a:rPr lang="en-US" dirty="0">
                <a:solidFill>
                  <a:srgbClr val="FF0000"/>
                </a:solidFill>
              </a:rPr>
              <a:t>: </a:t>
            </a:r>
            <a:r>
              <a:rPr lang="en-US" dirty="0" err="1"/>
              <a:t>không</a:t>
            </a:r>
            <a:r>
              <a:rPr lang="en-US" dirty="0"/>
              <a:t> </a:t>
            </a:r>
            <a:r>
              <a:rPr lang="en-US" dirty="0" err="1"/>
              <a:t>có</a:t>
            </a:r>
            <a:endParaRPr lang="en-US" dirty="0"/>
          </a:p>
          <a:p>
            <a:pPr lvl="1">
              <a:defRPr/>
            </a:pPr>
            <a:r>
              <a:rPr lang="en-US" dirty="0" err="1">
                <a:solidFill>
                  <a:srgbClr val="FF0000"/>
                </a:solidFill>
              </a:rPr>
              <a:t>Đầu</a:t>
            </a:r>
            <a:r>
              <a:rPr lang="en-US" dirty="0">
                <a:solidFill>
                  <a:srgbClr val="FF0000"/>
                </a:solidFill>
              </a:rPr>
              <a:t> </a:t>
            </a:r>
            <a:r>
              <a:rPr lang="en-US" dirty="0" err="1">
                <a:solidFill>
                  <a:srgbClr val="FF0000"/>
                </a:solidFill>
              </a:rPr>
              <a:t>ra</a:t>
            </a:r>
            <a:r>
              <a:rPr lang="en-US" dirty="0">
                <a:solidFill>
                  <a:srgbClr val="FF0000"/>
                </a:solidFill>
              </a:rPr>
              <a:t>: </a:t>
            </a:r>
            <a:r>
              <a:rPr lang="en-US" dirty="0" err="1"/>
              <a:t>không</a:t>
            </a:r>
            <a:r>
              <a:rPr lang="en-US" dirty="0"/>
              <a:t> </a:t>
            </a:r>
            <a:r>
              <a:rPr lang="en-US" dirty="0" err="1"/>
              <a:t>có</a:t>
            </a:r>
            <a:endParaRPr lang="en-US" baseline="30000" dirty="0"/>
          </a:p>
        </p:txBody>
      </p:sp>
      <p:sp>
        <p:nvSpPr>
          <p:cNvPr id="2" name="Date Placeholder 1"/>
          <p:cNvSpPr>
            <a:spLocks noGrp="1"/>
          </p:cNvSpPr>
          <p:nvPr>
            <p:ph type="dt" sz="half" idx="10"/>
          </p:nvPr>
        </p:nvSpPr>
        <p:spPr/>
        <p:txBody>
          <a:bodyPr/>
          <a:lstStyle/>
          <a:p>
            <a:fld id="{02F6BDCB-1448-4C21-8C59-BFE714B8B1EB}" type="datetime1">
              <a:rPr lang="vi-VN" smtClean="0"/>
              <a:t>09/05/2023</a:t>
            </a:fld>
            <a:endParaRPr lang="vi-VN"/>
          </a:p>
        </p:txBody>
      </p:sp>
      <p:sp>
        <p:nvSpPr>
          <p:cNvPr id="26628" name="Footer Placeholder 3"/>
          <p:cNvSpPr>
            <a:spLocks noGrp="1"/>
          </p:cNvSpPr>
          <p:nvPr>
            <p:ph type="ftr" sz="quarter" idx="11"/>
          </p:nvPr>
        </p:nvSpPr>
        <p:spPr>
          <a:noFill/>
        </p:spPr>
        <p:txBody>
          <a:bodyPr/>
          <a:lstStyle/>
          <a:p>
            <a:r>
              <a:rPr lang="vi-VN"/>
              <a:t>Chương 4 - Chương trình con</a:t>
            </a:r>
            <a:endParaRPr lang="en-US"/>
          </a:p>
        </p:txBody>
      </p:sp>
      <p:sp>
        <p:nvSpPr>
          <p:cNvPr id="15" name="Rounded Rectangle 14"/>
          <p:cNvSpPr/>
          <p:nvPr/>
        </p:nvSpPr>
        <p:spPr>
          <a:xfrm>
            <a:off x="685800" y="3645024"/>
            <a:ext cx="152400" cy="22098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6" name="TextBox 15"/>
          <p:cNvSpPr txBox="1">
            <a:spLocks noChangeArrowheads="1"/>
          </p:cNvSpPr>
          <p:nvPr/>
        </p:nvSpPr>
        <p:spPr bwMode="auto">
          <a:xfrm>
            <a:off x="838200" y="3645024"/>
            <a:ext cx="7543800" cy="2554545"/>
          </a:xfrm>
          <a:prstGeom prst="rect">
            <a:avLst/>
          </a:prstGeom>
          <a:noFill/>
          <a:ln w="9525">
            <a:noFill/>
            <a:miter lim="800000"/>
            <a:headEnd/>
            <a:tailEnd/>
          </a:ln>
        </p:spPr>
        <p:txBody>
          <a:bodyPr>
            <a:spAutoFit/>
          </a:bodyPr>
          <a:lstStyle/>
          <a:p>
            <a:r>
              <a:rPr lang="en-US" sz="2000" b="1" dirty="0">
                <a:latin typeface="Courier New" pitchFamily="49" charset="0"/>
                <a:cs typeface="Courier New" pitchFamily="49" charset="0"/>
              </a:rPr>
              <a:t>void </a:t>
            </a:r>
            <a:r>
              <a:rPr lang="en-US" sz="2000" b="1" dirty="0" err="1">
                <a:latin typeface="Courier New" pitchFamily="49" charset="0"/>
                <a:cs typeface="Courier New" pitchFamily="49" charset="0"/>
              </a:rPr>
              <a:t>NhapXuatTong</a:t>
            </a:r>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x, </a:t>
            </a:r>
            <a:r>
              <a:rPr lang="en-US" sz="2000" b="1" dirty="0" err="1">
                <a:latin typeface="Courier New" pitchFamily="49" charset="0"/>
                <a:cs typeface="Courier New" pitchFamily="49" charset="0"/>
              </a:rPr>
              <a:t>y,s</a:t>
            </a:r>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printf</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Nhap</a:t>
            </a:r>
            <a:r>
              <a:rPr lang="en-US" sz="2000" b="1" dirty="0">
                <a:latin typeface="Courier New" pitchFamily="49" charset="0"/>
                <a:cs typeface="Courier New" pitchFamily="49" charset="0"/>
              </a:rPr>
              <a:t> 2 so </a:t>
            </a:r>
            <a:r>
              <a:rPr lang="en-US" sz="2000" b="1" dirty="0" err="1">
                <a:latin typeface="Courier New" pitchFamily="49" charset="0"/>
                <a:cs typeface="Courier New" pitchFamily="49" charset="0"/>
              </a:rPr>
              <a:t>nguyen</a:t>
            </a:r>
            <a:r>
              <a:rPr lang="en-US" sz="2000" b="1" dirty="0">
                <a:latin typeface="Courier New" pitchFamily="49" charset="0"/>
                <a:cs typeface="Courier New" pitchFamily="49" charset="0"/>
              </a:rPr>
              <a:t>: ”);</a:t>
            </a:r>
          </a:p>
          <a:p>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scanf</a:t>
            </a:r>
            <a:r>
              <a:rPr lang="en-US" sz="2000" b="1" dirty="0">
                <a:latin typeface="Courier New" pitchFamily="49" charset="0"/>
                <a:cs typeface="Courier New" pitchFamily="49" charset="0"/>
              </a:rPr>
              <a:t>(“%</a:t>
            </a:r>
            <a:r>
              <a:rPr lang="en-US" sz="2000" b="1" dirty="0" err="1">
                <a:latin typeface="Courier New" pitchFamily="49" charset="0"/>
                <a:cs typeface="Courier New" pitchFamily="49" charset="0"/>
              </a:rPr>
              <a:t>d%d</a:t>
            </a:r>
            <a:r>
              <a:rPr lang="en-US" sz="2000" b="1" dirty="0">
                <a:latin typeface="Courier New" pitchFamily="49" charset="0"/>
                <a:cs typeface="Courier New" pitchFamily="49" charset="0"/>
              </a:rPr>
              <a:t>”, &amp;x, &amp;y);</a:t>
            </a:r>
          </a:p>
          <a:p>
            <a:r>
              <a:rPr lang="en-US" sz="2000" b="1" dirty="0">
                <a:latin typeface="Courier New" pitchFamily="49" charset="0"/>
                <a:cs typeface="Courier New" pitchFamily="49" charset="0"/>
              </a:rPr>
              <a:t>	s=</a:t>
            </a:r>
            <a:r>
              <a:rPr lang="en-US" sz="2000" b="1" dirty="0" err="1">
                <a:latin typeface="Courier New" pitchFamily="49" charset="0"/>
                <a:cs typeface="Courier New" pitchFamily="49" charset="0"/>
              </a:rPr>
              <a:t>x+y</a:t>
            </a:r>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printf</a:t>
            </a:r>
            <a:r>
              <a:rPr lang="en-US" sz="2000" b="1" dirty="0">
                <a:latin typeface="Courier New" pitchFamily="49" charset="0"/>
                <a:cs typeface="Courier New" pitchFamily="49" charset="0"/>
              </a:rPr>
              <a:t>(“tong la:%</a:t>
            </a:r>
            <a:r>
              <a:rPr lang="en-US" sz="2000" b="1" dirty="0" err="1">
                <a:latin typeface="Courier New" pitchFamily="49" charset="0"/>
                <a:cs typeface="Courier New" pitchFamily="49" charset="0"/>
              </a:rPr>
              <a:t>d”,s</a:t>
            </a:r>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a:t>
            </a:r>
          </a:p>
        </p:txBody>
      </p:sp>
      <p:sp>
        <p:nvSpPr>
          <p:cNvPr id="6" name="Slide Number Placeholder 5"/>
          <p:cNvSpPr>
            <a:spLocks noGrp="1"/>
          </p:cNvSpPr>
          <p:nvPr>
            <p:ph type="sldNum" sz="quarter" idx="12"/>
          </p:nvPr>
        </p:nvSpPr>
        <p:spPr/>
        <p:txBody>
          <a:bodyPr/>
          <a:lstStyle/>
          <a:p>
            <a:fld id="{5AB95402-1E0D-474E-8D8C-CBE7F053639E}" type="slidenum">
              <a:rPr lang="vi-VN" smtClean="0"/>
              <a:pPr/>
              <a:t>12</a:t>
            </a:fld>
            <a:r>
              <a:rPr lang="vi-VN"/>
              <a:t>/43</a:t>
            </a:r>
          </a:p>
        </p:txBody>
      </p:sp>
    </p:spTree>
    <p:extLst>
      <p:ext uri="{BB962C8B-B14F-4D97-AF65-F5344CB8AC3E}">
        <p14:creationId xmlns:p14="http://schemas.microsoft.com/office/powerpoint/2010/main" val="264018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anim calcmode="lin" valueType="num">
                                      <p:cBhvr>
                                        <p:cTn id="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5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anim calcmode="lin" valueType="num">
                                      <p:cBhvr>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anim calcmode="lin" valueType="num">
                                      <p:cBhvr>
                                        <p:cTn id="2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500"/>
                                        <p:tgtEl>
                                          <p:spTgt spid="3">
                                            <p:txEl>
                                              <p:pRg st="4" end="4"/>
                                            </p:txEl>
                                          </p:spTgt>
                                        </p:tgtEl>
                                      </p:cBhvr>
                                    </p:animEffect>
                                    <p:anim calcmode="lin" valueType="num">
                                      <p:cBhvr>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5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up)">
                                      <p:cBhvr>
                                        <p:cTn id="35" dur="500"/>
                                        <p:tgtEl>
                                          <p:spTgt spid="15"/>
                                        </p:tgtEl>
                                      </p:cBhvr>
                                    </p:animEffect>
                                  </p:childTnLst>
                                </p:cTn>
                              </p:par>
                              <p:par>
                                <p:cTn id="36" presetID="10"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quy tắc</a:t>
            </a:r>
            <a:endParaRPr lang="vi-VN"/>
          </a:p>
        </p:txBody>
      </p:sp>
      <p:sp>
        <p:nvSpPr>
          <p:cNvPr id="3" name="Content Placeholder 2"/>
          <p:cNvSpPr>
            <a:spLocks noGrp="1"/>
          </p:cNvSpPr>
          <p:nvPr>
            <p:ph idx="1"/>
          </p:nvPr>
        </p:nvSpPr>
        <p:spPr/>
        <p:txBody>
          <a:bodyPr/>
          <a:lstStyle/>
          <a:p>
            <a:r>
              <a:rPr lang="vi-VN"/>
              <a:t>Tham số thực sự và tham số hình thức</a:t>
            </a:r>
            <a:endParaRPr lang="en-US"/>
          </a:p>
          <a:p>
            <a:pPr lvl="1"/>
            <a:r>
              <a:rPr lang="en-US"/>
              <a:t>Tham số hình thức: tham số dùng khi khai báo</a:t>
            </a:r>
          </a:p>
          <a:p>
            <a:pPr lvl="1"/>
            <a:r>
              <a:rPr lang="en-US"/>
              <a:t>Tham số thực sự: tham số được cung cấp cho hàm khi được sử dụng</a:t>
            </a:r>
          </a:p>
          <a:p>
            <a:pPr lvl="1"/>
            <a:r>
              <a:rPr lang="en-US"/>
              <a:t>Tham số thực sự có thể là một biểu thức còn tham số hình thức thì không thể là một biểu thức</a:t>
            </a:r>
          </a:p>
          <a:p>
            <a:pPr>
              <a:spcBef>
                <a:spcPts val="300"/>
              </a:spcBef>
            </a:pPr>
            <a:r>
              <a:rPr lang="en-US"/>
              <a:t>Lệnh return</a:t>
            </a:r>
          </a:p>
          <a:p>
            <a:pPr lvl="1"/>
            <a:r>
              <a:rPr lang="en-US"/>
              <a:t>Tương đương lệnh </a:t>
            </a:r>
            <a:r>
              <a:rPr lang="en-US" sz="2200">
                <a:solidFill>
                  <a:srgbClr val="FF0000"/>
                </a:solidFill>
                <a:latin typeface="Courier New" pitchFamily="49" charset="0"/>
                <a:cs typeface="Courier New" pitchFamily="49" charset="0"/>
              </a:rPr>
              <a:t>&lt;Tên hàm&gt; = &lt;Giá trị&gt;</a:t>
            </a:r>
          </a:p>
          <a:p>
            <a:pPr lvl="1"/>
            <a:r>
              <a:rPr lang="en-US"/>
              <a:t>return có thể trả lại giá trị cả một biểu thức</a:t>
            </a:r>
          </a:p>
          <a:p>
            <a:pPr marL="471487" lvl="1" indent="0">
              <a:buNone/>
            </a:pPr>
            <a:r>
              <a:rPr lang="en-US" sz="2000" b="1">
                <a:latin typeface="Courier New" pitchFamily="49" charset="0"/>
                <a:cs typeface="Courier New" pitchFamily="49" charset="0"/>
              </a:rPr>
              <a:t>	Ví dụ: </a:t>
            </a:r>
            <a:r>
              <a:rPr lang="en-US" sz="2000" b="1">
                <a:solidFill>
                  <a:srgbClr val="000066"/>
                </a:solidFill>
                <a:latin typeface="Courier New" pitchFamily="49" charset="0"/>
                <a:cs typeface="Courier New" pitchFamily="49" charset="0"/>
              </a:rPr>
              <a:t>return</a:t>
            </a:r>
            <a:r>
              <a:rPr lang="en-US" sz="2000">
                <a:solidFill>
                  <a:srgbClr val="000066"/>
                </a:solidFill>
                <a:latin typeface="Courier New" pitchFamily="49" charset="0"/>
                <a:cs typeface="Courier New" pitchFamily="49" charset="0"/>
              </a:rPr>
              <a:t> x*x + b*x + c</a:t>
            </a:r>
          </a:p>
          <a:p>
            <a:pPr lvl="1"/>
            <a:r>
              <a:rPr lang="en-US"/>
              <a:t>return có thể xuất hiện nhiều lần trong hàm</a:t>
            </a:r>
          </a:p>
          <a:p>
            <a:pPr marL="0" indent="0">
              <a:buNone/>
            </a:pPr>
            <a:r>
              <a:rPr lang="en-US" sz="2000" b="1">
                <a:solidFill>
                  <a:srgbClr val="0000FF"/>
                </a:solidFill>
                <a:latin typeface="Courier New" pitchFamily="49" charset="0"/>
                <a:cs typeface="Courier New" pitchFamily="49" charset="0"/>
              </a:rPr>
              <a:t>	Ví dụ: if </a:t>
            </a:r>
            <a:r>
              <a:rPr lang="en-US" sz="2000">
                <a:solidFill>
                  <a:srgbClr val="0000FF"/>
                </a:solidFill>
                <a:latin typeface="Courier New" pitchFamily="49" charset="0"/>
                <a:cs typeface="Courier New" pitchFamily="49" charset="0"/>
              </a:rPr>
              <a:t>(s&gt;0) </a:t>
            </a:r>
            <a:r>
              <a:rPr lang="en-US" sz="2000" b="1">
                <a:solidFill>
                  <a:srgbClr val="0000FF"/>
                </a:solidFill>
                <a:latin typeface="Courier New" pitchFamily="49" charset="0"/>
                <a:cs typeface="Courier New" pitchFamily="49" charset="0"/>
              </a:rPr>
              <a:t>return</a:t>
            </a:r>
            <a:r>
              <a:rPr lang="en-US" sz="2000">
                <a:solidFill>
                  <a:srgbClr val="0000FF"/>
                </a:solidFill>
                <a:latin typeface="Courier New" pitchFamily="49" charset="0"/>
                <a:cs typeface="Courier New" pitchFamily="49" charset="0"/>
              </a:rPr>
              <a:t> (s); </a:t>
            </a:r>
          </a:p>
          <a:p>
            <a:pPr marL="0" indent="0">
              <a:buNone/>
            </a:pPr>
            <a:r>
              <a:rPr lang="en-US" sz="2000" b="1">
                <a:solidFill>
                  <a:srgbClr val="0000FF"/>
                </a:solidFill>
                <a:latin typeface="Courier New" pitchFamily="49" charset="0"/>
                <a:cs typeface="Courier New" pitchFamily="49" charset="0"/>
              </a:rPr>
              <a:t>		else</a:t>
            </a:r>
            <a:r>
              <a:rPr lang="en-US" sz="2000">
                <a:solidFill>
                  <a:srgbClr val="0000FF"/>
                </a:solidFill>
                <a:latin typeface="Courier New" pitchFamily="49" charset="0"/>
                <a:cs typeface="Courier New" pitchFamily="49" charset="0"/>
              </a:rPr>
              <a:t> </a:t>
            </a:r>
            <a:r>
              <a:rPr lang="en-US" sz="2000" b="1">
                <a:solidFill>
                  <a:srgbClr val="0000FF"/>
                </a:solidFill>
                <a:latin typeface="Courier New" pitchFamily="49" charset="0"/>
                <a:cs typeface="Courier New" pitchFamily="49" charset="0"/>
              </a:rPr>
              <a:t>return</a:t>
            </a:r>
            <a:r>
              <a:rPr lang="en-US" sz="2000">
                <a:solidFill>
                  <a:srgbClr val="0000FF"/>
                </a:solidFill>
                <a:latin typeface="Courier New" pitchFamily="49" charset="0"/>
                <a:cs typeface="Courier New" pitchFamily="49" charset="0"/>
              </a:rPr>
              <a:t> (-s);</a:t>
            </a:r>
            <a:endParaRPr lang="vi-VN" sz="2000">
              <a:solidFill>
                <a:srgbClr val="0000FF"/>
              </a:solidFill>
              <a:latin typeface="Courier New" pitchFamily="49" charset="0"/>
              <a:cs typeface="Courier New" pitchFamily="49" charset="0"/>
            </a:endParaRPr>
          </a:p>
          <a:p>
            <a:pPr lvl="1"/>
            <a:endParaRPr lang="en-US"/>
          </a:p>
          <a:p>
            <a:pPr marL="909637" lvl="2" indent="0">
              <a:buNone/>
            </a:pPr>
            <a:r>
              <a:rPr lang="en-US"/>
              <a:t>;</a:t>
            </a:r>
          </a:p>
          <a:p>
            <a:pPr marL="909637" lvl="2" indent="0">
              <a:buNone/>
            </a:pPr>
            <a:r>
              <a:rPr lang="en-US"/>
              <a:t>	</a:t>
            </a:r>
          </a:p>
          <a:p>
            <a:pPr lvl="1"/>
            <a:endParaRPr lang="vi-VN"/>
          </a:p>
        </p:txBody>
      </p:sp>
      <p:sp>
        <p:nvSpPr>
          <p:cNvPr id="4" name="Date Placeholder 3"/>
          <p:cNvSpPr>
            <a:spLocks noGrp="1"/>
          </p:cNvSpPr>
          <p:nvPr>
            <p:ph type="dt" sz="half" idx="10"/>
          </p:nvPr>
        </p:nvSpPr>
        <p:spPr/>
        <p:txBody>
          <a:bodyPr/>
          <a:lstStyle/>
          <a:p>
            <a:fld id="{ACE2E18C-85AB-4466-BB1C-A3852C66C3AF}"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13</a:t>
            </a:fld>
            <a:r>
              <a:rPr lang="vi-VN"/>
              <a:t>/43</a:t>
            </a:r>
          </a:p>
        </p:txBody>
      </p:sp>
    </p:spTree>
    <p:extLst>
      <p:ext uri="{BB962C8B-B14F-4D97-AF65-F5344CB8AC3E}">
        <p14:creationId xmlns:p14="http://schemas.microsoft.com/office/powerpoint/2010/main" val="635094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wipe(left)">
                                      <p:cBhvr>
                                        <p:cTn id="31" dur="750"/>
                                        <p:tgtEl>
                                          <p:spTgt spid="3">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Effect transition="in" filter="wipe(left)">
                                      <p:cBhvr>
                                        <p:cTn id="36" dur="500"/>
                                        <p:tgtEl>
                                          <p:spTgt spid="3">
                                            <p:txEl>
                                              <p:pRg st="6" end="6"/>
                                            </p:txEl>
                                          </p:spTgt>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wipe(left)">
                                      <p:cBhvr>
                                        <p:cTn id="40" dur="75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wipe(left)">
                                      <p:cBhvr>
                                        <p:cTn id="45" dur="500"/>
                                        <p:tgtEl>
                                          <p:spTgt spid="3">
                                            <p:txEl>
                                              <p:pRg st="8" end="8"/>
                                            </p:txEl>
                                          </p:spTgt>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wipe(left)">
                                      <p:cBhvr>
                                        <p:cTn id="49" dur="750"/>
                                        <p:tgtEl>
                                          <p:spTgt spid="3">
                                            <p:txEl>
                                              <p:pRg st="9" end="9"/>
                                            </p:txEl>
                                          </p:spTgt>
                                        </p:tgtEl>
                                      </p:cBhvr>
                                    </p:animEffect>
                                  </p:childTnLst>
                                </p:cTn>
                              </p:par>
                            </p:childTnLst>
                          </p:cTn>
                        </p:par>
                        <p:par>
                          <p:cTn id="50" fill="hold">
                            <p:stCondLst>
                              <p:cond delay="1250"/>
                            </p:stCondLst>
                            <p:childTnLst>
                              <p:par>
                                <p:cTn id="51" presetID="22" presetClass="entr" presetSubtype="8" fill="hold" nodeType="after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wipe(left)">
                                      <p:cBhvr>
                                        <p:cTn id="5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quy tắc (tt)</a:t>
            </a:r>
            <a:endParaRPr lang="vi-VN"/>
          </a:p>
        </p:txBody>
      </p:sp>
      <p:sp>
        <p:nvSpPr>
          <p:cNvPr id="3" name="Content Placeholder 2"/>
          <p:cNvSpPr>
            <a:spLocks noGrp="1"/>
          </p:cNvSpPr>
          <p:nvPr>
            <p:ph idx="1"/>
          </p:nvPr>
        </p:nvSpPr>
        <p:spPr/>
        <p:txBody>
          <a:bodyPr/>
          <a:lstStyle/>
          <a:p>
            <a:r>
              <a:rPr lang="en-US"/>
              <a:t>Hàm không trả lại giá trị</a:t>
            </a:r>
          </a:p>
          <a:p>
            <a:pPr lvl="1"/>
            <a:r>
              <a:rPr lang="en-US"/>
              <a:t>Dùng từ khoá </a:t>
            </a:r>
            <a:r>
              <a:rPr lang="en-US" b="1">
                <a:latin typeface="Courier New" pitchFamily="49" charset="0"/>
                <a:cs typeface="Courier New" pitchFamily="49" charset="0"/>
              </a:rPr>
              <a:t>void</a:t>
            </a:r>
            <a:r>
              <a:rPr lang="en-US"/>
              <a:t> để khai báo (Ví dụ 1)</a:t>
            </a:r>
          </a:p>
          <a:p>
            <a:r>
              <a:rPr lang="en-US"/>
              <a:t>Hàm không có tham số</a:t>
            </a:r>
          </a:p>
          <a:p>
            <a:pPr lvl="1"/>
            <a:r>
              <a:rPr lang="en-US"/>
              <a:t>Khai báo: </a:t>
            </a:r>
            <a:r>
              <a:rPr lang="en-US">
                <a:latin typeface="Courier New" pitchFamily="49" charset="0"/>
                <a:cs typeface="Courier New" pitchFamily="49" charset="0"/>
              </a:rPr>
              <a:t>Tên_hàm</a:t>
            </a:r>
            <a:r>
              <a:rPr lang="en-US">
                <a:solidFill>
                  <a:srgbClr val="FF0000"/>
                </a:solidFill>
                <a:latin typeface="Courier New" pitchFamily="49" charset="0"/>
                <a:cs typeface="Courier New" pitchFamily="49" charset="0"/>
              </a:rPr>
              <a:t>(</a:t>
            </a:r>
            <a:r>
              <a:rPr lang="en-US">
                <a:latin typeface="Courier New" pitchFamily="49" charset="0"/>
                <a:cs typeface="Courier New" pitchFamily="49" charset="0"/>
              </a:rPr>
              <a:t>void</a:t>
            </a:r>
            <a:r>
              <a:rPr lang="en-US">
                <a:solidFill>
                  <a:srgbClr val="FF0000"/>
                </a:solidFill>
                <a:latin typeface="Courier New" pitchFamily="49" charset="0"/>
                <a:cs typeface="Courier New" pitchFamily="49" charset="0"/>
              </a:rPr>
              <a:t>)</a:t>
            </a:r>
          </a:p>
          <a:p>
            <a:pPr lvl="1"/>
            <a:r>
              <a:rPr lang="en-US"/>
              <a:t>Ví dụ: Nhập số nguyên, trả về giá trị số nhập vào</a:t>
            </a:r>
          </a:p>
          <a:p>
            <a:endParaRPr lang="en-US"/>
          </a:p>
          <a:p>
            <a:endParaRPr lang="vi-VN"/>
          </a:p>
        </p:txBody>
      </p:sp>
      <p:sp>
        <p:nvSpPr>
          <p:cNvPr id="4" name="Date Placeholder 3"/>
          <p:cNvSpPr>
            <a:spLocks noGrp="1"/>
          </p:cNvSpPr>
          <p:nvPr>
            <p:ph type="dt" sz="half" idx="10"/>
          </p:nvPr>
        </p:nvSpPr>
        <p:spPr/>
        <p:txBody>
          <a:bodyPr/>
          <a:lstStyle/>
          <a:p>
            <a:fld id="{E462FBA1-C278-46EA-9C64-B7307A9BC0DC}"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7" name="TextBox 6"/>
          <p:cNvSpPr txBox="1">
            <a:spLocks noChangeArrowheads="1"/>
          </p:cNvSpPr>
          <p:nvPr/>
        </p:nvSpPr>
        <p:spPr bwMode="auto">
          <a:xfrm>
            <a:off x="1276672" y="3645024"/>
            <a:ext cx="7543800" cy="2246769"/>
          </a:xfrm>
          <a:prstGeom prst="rect">
            <a:avLst/>
          </a:prstGeom>
          <a:noFill/>
          <a:ln w="9525">
            <a:noFill/>
            <a:miter lim="800000"/>
            <a:headEnd/>
            <a:tailEnd/>
          </a:ln>
        </p:spPr>
        <p:txBody>
          <a:bodyPr>
            <a:spAutoFit/>
          </a:bodyPr>
          <a:lstStyle/>
          <a:p>
            <a:r>
              <a:rPr lang="en-US" sz="2000">
                <a:latin typeface="Courier New" pitchFamily="49" charset="0"/>
                <a:cs typeface="Courier New" pitchFamily="49" charset="0"/>
              </a:rPr>
              <a:t>int</a:t>
            </a:r>
            <a:r>
              <a:rPr lang="en-US" sz="2000" b="1">
                <a:latin typeface="Courier New" pitchFamily="49" charset="0"/>
                <a:cs typeface="Courier New" pitchFamily="49" charset="0"/>
              </a:rPr>
              <a:t> Nhap()</a:t>
            </a:r>
          </a:p>
          <a:p>
            <a:r>
              <a:rPr lang="en-US" sz="2000" b="1">
                <a:latin typeface="Courier New" pitchFamily="49" charset="0"/>
                <a:cs typeface="Courier New" pitchFamily="49" charset="0"/>
              </a:rPr>
              <a:t>{</a:t>
            </a:r>
          </a:p>
          <a:p>
            <a:pPr algn="just">
              <a:spcAft>
                <a:spcPts val="0"/>
              </a:spcAft>
            </a:pPr>
            <a:r>
              <a:rPr lang="en-US" sz="2000" b="1">
                <a:latin typeface="Courier New" pitchFamily="49" charset="0"/>
                <a:cs typeface="Courier New" pitchFamily="49" charset="0"/>
              </a:rPr>
              <a:t>	</a:t>
            </a:r>
            <a:r>
              <a:rPr lang="en-US" sz="2000" b="1">
                <a:latin typeface="Courier New"/>
                <a:ea typeface="Times New Roman"/>
              </a:rPr>
              <a:t>int</a:t>
            </a:r>
            <a:r>
              <a:rPr lang="en-US" sz="2000">
                <a:latin typeface="Courier New"/>
                <a:ea typeface="Times New Roman"/>
              </a:rPr>
              <a:t> n;</a:t>
            </a:r>
            <a:endParaRPr lang="vi-VN" sz="2400">
              <a:latin typeface="Times New Roman"/>
              <a:ea typeface="Times New Roman"/>
            </a:endParaRPr>
          </a:p>
          <a:p>
            <a:pPr marL="457200" algn="just">
              <a:spcAft>
                <a:spcPts val="0"/>
              </a:spcAft>
            </a:pPr>
            <a:r>
              <a:rPr lang="en-US" sz="2000">
                <a:latin typeface="Courier New"/>
                <a:ea typeface="Times New Roman"/>
              </a:rPr>
              <a:t>   printf(“Nhap mot so nguyen: ”);</a:t>
            </a:r>
            <a:endParaRPr lang="vi-VN" sz="2400">
              <a:latin typeface="Times New Roman"/>
              <a:ea typeface="Times New Roman"/>
            </a:endParaRPr>
          </a:p>
          <a:p>
            <a:pPr algn="just">
              <a:spcAft>
                <a:spcPts val="0"/>
              </a:spcAft>
            </a:pPr>
            <a:r>
              <a:rPr lang="en-US" sz="2000">
                <a:latin typeface="Courier New"/>
                <a:ea typeface="Times New Roman"/>
              </a:rPr>
              <a:t>    	scanf(“%d”, &amp;n);</a:t>
            </a:r>
            <a:endParaRPr lang="vi-VN" sz="2400">
              <a:latin typeface="Times New Roman"/>
              <a:ea typeface="Times New Roman"/>
            </a:endParaRPr>
          </a:p>
          <a:p>
            <a:r>
              <a:rPr lang="en-US" sz="2000">
                <a:latin typeface="Courier New"/>
                <a:ea typeface="Times New Roman"/>
              </a:rPr>
              <a:t>    	</a:t>
            </a:r>
            <a:r>
              <a:rPr lang="en-US" sz="2000" b="1">
                <a:latin typeface="Courier New"/>
                <a:ea typeface="Times New Roman"/>
              </a:rPr>
              <a:t>return</a:t>
            </a:r>
            <a:r>
              <a:rPr lang="en-US" sz="2000">
                <a:latin typeface="Courier New"/>
                <a:ea typeface="Times New Roman"/>
              </a:rPr>
              <a:t> n;</a:t>
            </a:r>
          </a:p>
          <a:p>
            <a:r>
              <a:rPr lang="en-US" sz="2000" b="1">
                <a:latin typeface="Courier New" pitchFamily="49" charset="0"/>
                <a:cs typeface="Courier New" pitchFamily="49" charset="0"/>
              </a:rPr>
              <a:t>}</a:t>
            </a:r>
          </a:p>
        </p:txBody>
      </p:sp>
      <p:sp>
        <p:nvSpPr>
          <p:cNvPr id="8" name="Rounded Rectangle 7"/>
          <p:cNvSpPr/>
          <p:nvPr/>
        </p:nvSpPr>
        <p:spPr>
          <a:xfrm>
            <a:off x="1035224" y="3645024"/>
            <a:ext cx="152400" cy="22098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9" name="Rectangle 8"/>
          <p:cNvSpPr>
            <a:spLocks/>
          </p:cNvSpPr>
          <p:nvPr/>
        </p:nvSpPr>
        <p:spPr bwMode="auto">
          <a:xfrm>
            <a:off x="0" y="372122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0" name="Rectangle 9"/>
          <p:cNvSpPr>
            <a:spLocks/>
          </p:cNvSpPr>
          <p:nvPr/>
        </p:nvSpPr>
        <p:spPr bwMode="auto">
          <a:xfrm>
            <a:off x="5052" y="4214338"/>
            <a:ext cx="9128125" cy="1014861"/>
          </a:xfrm>
          <a:prstGeom prst="rect">
            <a:avLst/>
          </a:prstGeom>
          <a:solidFill>
            <a:srgbClr val="0099FF">
              <a:alpha val="20000"/>
            </a:srgbClr>
          </a:solidFill>
          <a:ln w="9525" algn="ctr">
            <a:noFill/>
            <a:miter lim="800000"/>
            <a:headEnd/>
            <a:tailEnd/>
          </a:ln>
        </p:spPr>
        <p:txBody>
          <a:bodyPr/>
          <a:lstStyle/>
          <a:p>
            <a:endParaRPr lang="en-US"/>
          </a:p>
        </p:txBody>
      </p:sp>
      <p:sp>
        <p:nvSpPr>
          <p:cNvPr id="11" name="Rectangle 10"/>
          <p:cNvSpPr>
            <a:spLocks/>
          </p:cNvSpPr>
          <p:nvPr/>
        </p:nvSpPr>
        <p:spPr bwMode="auto">
          <a:xfrm>
            <a:off x="-4907" y="5229200"/>
            <a:ext cx="9128125" cy="296415"/>
          </a:xfrm>
          <a:prstGeom prst="rect">
            <a:avLst/>
          </a:prstGeom>
          <a:solidFill>
            <a:srgbClr val="0099FF">
              <a:alpha val="20000"/>
            </a:srgbClr>
          </a:solidFill>
          <a:ln w="9525" algn="ctr">
            <a:noFill/>
            <a:miter lim="800000"/>
            <a:headEnd/>
            <a:tailEnd/>
          </a:ln>
        </p:spPr>
        <p:txBody>
          <a:bodyPr/>
          <a:lstStyle/>
          <a:p>
            <a:endParaRPr lang="en-US"/>
          </a:p>
        </p:txBody>
      </p:sp>
      <p:sp>
        <p:nvSpPr>
          <p:cNvPr id="16" name="Slide Number Placeholder 15"/>
          <p:cNvSpPr>
            <a:spLocks noGrp="1"/>
          </p:cNvSpPr>
          <p:nvPr>
            <p:ph type="sldNum" sz="quarter" idx="12"/>
          </p:nvPr>
        </p:nvSpPr>
        <p:spPr/>
        <p:txBody>
          <a:bodyPr/>
          <a:lstStyle/>
          <a:p>
            <a:fld id="{5AB95402-1E0D-474E-8D8C-CBE7F053639E}" type="slidenum">
              <a:rPr lang="vi-VN" smtClean="0"/>
              <a:pPr/>
              <a:t>14</a:t>
            </a:fld>
            <a:r>
              <a:rPr lang="vi-VN"/>
              <a:t>/43</a:t>
            </a:r>
          </a:p>
        </p:txBody>
      </p:sp>
    </p:spTree>
    <p:extLst>
      <p:ext uri="{BB962C8B-B14F-4D97-AF65-F5344CB8AC3E}">
        <p14:creationId xmlns:p14="http://schemas.microsoft.com/office/powerpoint/2010/main" val="16879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wipe(left)">
                                      <p:cBhvr>
                                        <p:cTn id="16" dur="500"/>
                                        <p:tgtEl>
                                          <p:spTgt spid="3">
                                            <p:txEl>
                                              <p:pRg st="2" end="2"/>
                                            </p:txEl>
                                          </p:spTgt>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left)">
                                      <p:cBhvr>
                                        <p:cTn id="20" dur="500"/>
                                        <p:tgtEl>
                                          <p:spTgt spid="3">
                                            <p:txEl>
                                              <p:pRg st="3" end="3"/>
                                            </p:txEl>
                                          </p:spTgt>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ipe(left)">
                                      <p:cBhvr>
                                        <p:cTn id="24" dur="10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childTnLst>
                          </p:cTn>
                        </p:par>
                        <p:par>
                          <p:cTn id="30" fill="hold">
                            <p:stCondLst>
                              <p:cond delay="500"/>
                            </p:stCondLst>
                            <p:childTnLst>
                              <p:par>
                                <p:cTn id="31" presetID="22" presetClass="entr" presetSubtype="1"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par>
                                <p:cTn id="44" presetID="10" presetClass="exit" presetSubtype="0" fill="hold" grpId="1" nodeType="withEffect">
                                  <p:stCondLst>
                                    <p:cond delay="0"/>
                                  </p:stCondLst>
                                  <p:childTnLst>
                                    <p:animEffect transition="out" filter="fade">
                                      <p:cBhvr>
                                        <p:cTn id="45" dur="500"/>
                                        <p:tgtEl>
                                          <p:spTgt spid="9"/>
                                        </p:tgtEl>
                                      </p:cBhvr>
                                    </p:animEffect>
                                    <p:set>
                                      <p:cBhvr>
                                        <p:cTn id="46" dur="1" fill="hold">
                                          <p:stCondLst>
                                            <p:cond delay="499"/>
                                          </p:stCondLst>
                                        </p:cTn>
                                        <p:tgtEl>
                                          <p:spTgt spid="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par>
                                <p:cTn id="52" presetID="10" presetClass="exit" presetSubtype="0" fill="hold" grpId="1" nodeType="withEffect">
                                  <p:stCondLst>
                                    <p:cond delay="0"/>
                                  </p:stCondLst>
                                  <p:childTnLst>
                                    <p:animEffect transition="out" filter="fade">
                                      <p:cBhvr>
                                        <p:cTn id="53" dur="500"/>
                                        <p:tgtEl>
                                          <p:spTgt spid="10"/>
                                        </p:tgtEl>
                                      </p:cBhvr>
                                    </p:animEffect>
                                    <p:set>
                                      <p:cBhvr>
                                        <p:cTn id="54" dur="1" fill="hold">
                                          <p:stCondLst>
                                            <p:cond delay="499"/>
                                          </p:stCondLst>
                                        </p:cTn>
                                        <p:tgtEl>
                                          <p:spTgt spid="1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0" presetClass="exit" presetSubtype="0" fill="hold" grpId="1" nodeType="clickEffect">
                                  <p:stCondLst>
                                    <p:cond delay="0"/>
                                  </p:stCondLst>
                                  <p:childTnLst>
                                    <p:animEffect transition="out" filter="fade">
                                      <p:cBhvr>
                                        <p:cTn id="58" dur="500"/>
                                        <p:tgtEl>
                                          <p:spTgt spid="11"/>
                                        </p:tgtEl>
                                      </p:cBhvr>
                                    </p:animEffect>
                                    <p:set>
                                      <p:cBhvr>
                                        <p:cTn id="59"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quy tắc (tt)</a:t>
            </a:r>
            <a:endParaRPr lang="vi-VN"/>
          </a:p>
        </p:txBody>
      </p:sp>
      <p:sp>
        <p:nvSpPr>
          <p:cNvPr id="3" name="Content Placeholder 2"/>
          <p:cNvSpPr>
            <a:spLocks noGrp="1"/>
          </p:cNvSpPr>
          <p:nvPr>
            <p:ph idx="1"/>
          </p:nvPr>
        </p:nvSpPr>
        <p:spPr/>
        <p:txBody>
          <a:bodyPr/>
          <a:lstStyle/>
          <a:p>
            <a:r>
              <a:rPr lang="en-US" dirty="0" err="1"/>
              <a:t>Hàm</a:t>
            </a:r>
            <a:r>
              <a:rPr lang="en-US" dirty="0"/>
              <a:t> </a:t>
            </a:r>
            <a:r>
              <a:rPr lang="vi-VN" dirty="0"/>
              <a:t>phải được khai báo và định nghĩa trước khi sử dụng và thường đặt ở trên hàm chính (hàm main).</a:t>
            </a:r>
            <a:endParaRPr lang="en-US" dirty="0"/>
          </a:p>
          <a:p>
            <a:r>
              <a:rPr lang="en-US" dirty="0" err="1"/>
              <a:t>Ví</a:t>
            </a:r>
            <a:r>
              <a:rPr lang="en-US" dirty="0"/>
              <a:t> </a:t>
            </a:r>
            <a:r>
              <a:rPr lang="en-US" dirty="0" err="1"/>
              <a:t>dụ</a:t>
            </a:r>
            <a:r>
              <a:rPr lang="en-US" dirty="0"/>
              <a:t>:</a:t>
            </a:r>
          </a:p>
          <a:p>
            <a:endParaRPr lang="vi-VN" dirty="0"/>
          </a:p>
        </p:txBody>
      </p:sp>
      <p:sp>
        <p:nvSpPr>
          <p:cNvPr id="4" name="Date Placeholder 3"/>
          <p:cNvSpPr>
            <a:spLocks noGrp="1"/>
          </p:cNvSpPr>
          <p:nvPr>
            <p:ph type="dt" sz="half" idx="10"/>
          </p:nvPr>
        </p:nvSpPr>
        <p:spPr/>
        <p:txBody>
          <a:bodyPr/>
          <a:lstStyle/>
          <a:p>
            <a:fld id="{31D4185B-CEDB-44CF-814B-81ABD8BF27D2}"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7" name="Rectangle 2"/>
          <p:cNvSpPr>
            <a:spLocks noChangeArrowheads="1"/>
          </p:cNvSpPr>
          <p:nvPr/>
        </p:nvSpPr>
        <p:spPr bwMode="auto">
          <a:xfrm>
            <a:off x="1259632" y="3086958"/>
            <a:ext cx="72008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1" fontAlgn="base" latinLnBrk="0" hangingPunct="1">
              <a:lnSpc>
                <a:spcPct val="100000"/>
              </a:lnSpc>
              <a:spcBef>
                <a:spcPct val="0"/>
              </a:spcBef>
              <a:spcAft>
                <a:spcPct val="0"/>
              </a:spcAft>
              <a:buClrTx/>
              <a:buSzTx/>
              <a:buFontTx/>
              <a:buNone/>
              <a:tabLst/>
            </a:pPr>
            <a:r>
              <a:rPr lang="en-US" sz="2000" dirty="0" err="1">
                <a:latin typeface="Courier New" pitchFamily="49" charset="0"/>
                <a:cs typeface="Courier New" pitchFamily="49" charset="0"/>
              </a:rPr>
              <a:t>int</a:t>
            </a:r>
            <a:r>
              <a:rPr lang="en-US" sz="2000" b="1" dirty="0">
                <a:latin typeface="Courier New" pitchFamily="49" charset="0"/>
                <a:cs typeface="Courier New" pitchFamily="49" charset="0"/>
              </a:rPr>
              <a:t> </a:t>
            </a:r>
            <a:r>
              <a:rPr lang="en-US" sz="2000" dirty="0">
                <a:latin typeface="Courier New" pitchFamily="49" charset="0"/>
                <a:cs typeface="Courier New" pitchFamily="49" charset="0"/>
              </a:rPr>
              <a:t>Tong(</a:t>
            </a:r>
            <a:r>
              <a:rPr lang="en-US" sz="2000" dirty="0" err="1">
                <a:latin typeface="Courier New" pitchFamily="49" charset="0"/>
                <a:cs typeface="Courier New" pitchFamily="49" charset="0"/>
              </a:rPr>
              <a:t>int</a:t>
            </a:r>
            <a:r>
              <a:rPr lang="en-US" sz="2000" b="1" dirty="0">
                <a:latin typeface="Courier New" pitchFamily="49" charset="0"/>
                <a:cs typeface="Courier New" pitchFamily="49" charset="0"/>
              </a:rPr>
              <a:t> a, </a:t>
            </a:r>
            <a:r>
              <a:rPr lang="en-US" sz="2000" dirty="0" err="1">
                <a:latin typeface="Courier New" pitchFamily="49" charset="0"/>
                <a:cs typeface="Courier New" pitchFamily="49" charset="0"/>
              </a:rPr>
              <a:t>int</a:t>
            </a:r>
            <a:r>
              <a:rPr lang="en-US" sz="2000" b="1" dirty="0">
                <a:latin typeface="Courier New" pitchFamily="49" charset="0"/>
                <a:cs typeface="Courier New" pitchFamily="49" charset="0"/>
              </a:rPr>
              <a:t> b)</a:t>
            </a:r>
            <a:endParaRPr lang="vi-VN" sz="2000" b="1" dirty="0">
              <a:latin typeface="Courier New" pitchFamily="49" charset="0"/>
              <a:cs typeface="Courier New" pitchFamily="49" charset="0"/>
            </a:endParaRPr>
          </a:p>
          <a:p>
            <a:pPr marR="0" lvl="0" algn="l" defTabSz="914400" rtl="0" eaLnBrk="0" fontAlgn="base" latinLnBrk="0" hangingPunct="0">
              <a:lnSpc>
                <a:spcPct val="100000"/>
              </a:lnSpc>
              <a:spcBef>
                <a:spcPct val="0"/>
              </a:spcBef>
              <a:spcAft>
                <a:spcPct val="0"/>
              </a:spcAft>
              <a:buClrTx/>
              <a:buSzTx/>
              <a:buFontTx/>
              <a:buNone/>
              <a:tabLst/>
            </a:pPr>
            <a:r>
              <a:rPr lang="en-US" sz="2000" b="1" dirty="0">
                <a:latin typeface="Courier New" pitchFamily="49" charset="0"/>
                <a:cs typeface="Courier New" pitchFamily="49" charset="0"/>
              </a:rPr>
              <a:t>{</a:t>
            </a:r>
            <a:endParaRPr lang="vi-VN" sz="2000" b="1" dirty="0">
              <a:latin typeface="Courier New" pitchFamily="49" charset="0"/>
              <a:cs typeface="Courier New" pitchFamily="49" charset="0"/>
            </a:endParaRPr>
          </a:p>
          <a:p>
            <a:pPr marR="0" lvl="0" algn="l" defTabSz="914400" rtl="0" eaLnBrk="0" fontAlgn="base" latinLnBrk="0" hangingPunct="0">
              <a:lnSpc>
                <a:spcPct val="100000"/>
              </a:lnSpc>
              <a:spcBef>
                <a:spcPct val="0"/>
              </a:spcBef>
              <a:spcAft>
                <a:spcPct val="0"/>
              </a:spcAft>
              <a:buClrTx/>
              <a:buSzTx/>
              <a:buFontTx/>
              <a:buNone/>
              <a:tabLst/>
            </a:pPr>
            <a:r>
              <a:rPr lang="en-US" sz="2000" dirty="0">
                <a:latin typeface="Courier New" pitchFamily="49" charset="0"/>
                <a:cs typeface="Courier New" pitchFamily="49" charset="0"/>
              </a:rPr>
              <a:t>return</a:t>
            </a:r>
            <a:r>
              <a:rPr lang="en-US" sz="2000" b="1" dirty="0">
                <a:latin typeface="Courier New" pitchFamily="49" charset="0"/>
                <a:cs typeface="Courier New" pitchFamily="49" charset="0"/>
              </a:rPr>
              <a:t> a + b;</a:t>
            </a:r>
            <a:endParaRPr lang="vi-VN" sz="2000" b="1" dirty="0">
              <a:latin typeface="Courier New" pitchFamily="49" charset="0"/>
              <a:cs typeface="Courier New" pitchFamily="49" charset="0"/>
            </a:endParaRPr>
          </a:p>
          <a:p>
            <a:pPr marR="0" lvl="0" algn="l" defTabSz="914400" rtl="0" eaLnBrk="0" fontAlgn="base" latinLnBrk="0" hangingPunct="0">
              <a:lnSpc>
                <a:spcPct val="100000"/>
              </a:lnSpc>
              <a:spcBef>
                <a:spcPct val="0"/>
              </a:spcBef>
              <a:spcAft>
                <a:spcPct val="0"/>
              </a:spcAft>
              <a:buClrTx/>
              <a:buSzTx/>
              <a:buFontTx/>
              <a:buNone/>
              <a:tabLst/>
            </a:pPr>
            <a:r>
              <a:rPr lang="en-US" sz="2000" b="1" dirty="0">
                <a:latin typeface="Courier New" pitchFamily="49" charset="0"/>
                <a:cs typeface="Courier New" pitchFamily="49" charset="0"/>
              </a:rPr>
              <a:t>}</a:t>
            </a:r>
            <a:endParaRPr lang="vi-VN" sz="2000" b="1" dirty="0">
              <a:latin typeface="Courier New" pitchFamily="49" charset="0"/>
              <a:cs typeface="Courier New" pitchFamily="49" charset="0"/>
            </a:endParaRPr>
          </a:p>
          <a:p>
            <a:pPr marR="0" lvl="0" algn="l" defTabSz="914400" rtl="0" eaLnBrk="0" fontAlgn="base" latinLnBrk="0" hangingPunct="0">
              <a:lnSpc>
                <a:spcPct val="100000"/>
              </a:lnSpc>
              <a:spcBef>
                <a:spcPct val="0"/>
              </a:spcBef>
              <a:spcAft>
                <a:spcPct val="0"/>
              </a:spcAft>
              <a:buClrTx/>
              <a:buSzTx/>
              <a:buFontTx/>
              <a:buNone/>
              <a:tabLst/>
            </a:pPr>
            <a:r>
              <a:rPr lang="en-US" sz="2000" dirty="0">
                <a:latin typeface="Courier New" pitchFamily="49" charset="0"/>
                <a:cs typeface="Courier New" pitchFamily="49" charset="0"/>
              </a:rPr>
              <a:t>void</a:t>
            </a:r>
            <a:r>
              <a:rPr lang="en-US" sz="2000" b="1" dirty="0">
                <a:latin typeface="Courier New" pitchFamily="49" charset="0"/>
                <a:cs typeface="Courier New" pitchFamily="49" charset="0"/>
              </a:rPr>
              <a:t> main()</a:t>
            </a:r>
            <a:endParaRPr lang="vi-VN" sz="2000" b="1" dirty="0">
              <a:latin typeface="Courier New" pitchFamily="49" charset="0"/>
              <a:cs typeface="Courier New" pitchFamily="49" charset="0"/>
            </a:endParaRPr>
          </a:p>
          <a:p>
            <a:pPr marR="0" lvl="0" algn="l" defTabSz="914400" rtl="0" eaLnBrk="0" fontAlgn="base" latinLnBrk="0" hangingPunct="0">
              <a:lnSpc>
                <a:spcPct val="100000"/>
              </a:lnSpc>
              <a:spcBef>
                <a:spcPct val="0"/>
              </a:spcBef>
              <a:spcAft>
                <a:spcPct val="0"/>
              </a:spcAft>
              <a:buClrTx/>
              <a:buSzTx/>
              <a:buFontTx/>
              <a:buNone/>
              <a:tabLst/>
            </a:pPr>
            <a:r>
              <a:rPr lang="en-US" sz="2000" b="1" dirty="0">
                <a:latin typeface="Courier New" pitchFamily="49" charset="0"/>
                <a:cs typeface="Courier New" pitchFamily="49" charset="0"/>
              </a:rPr>
              <a:t>{</a:t>
            </a:r>
            <a:endParaRPr lang="vi-VN" sz="2000" b="1" dirty="0">
              <a:latin typeface="Courier New" pitchFamily="49" charset="0"/>
              <a:cs typeface="Courier New" pitchFamily="49" charset="0"/>
            </a:endParaRPr>
          </a:p>
          <a:p>
            <a:pPr marR="0" lvl="0" algn="l" defTabSz="914400" rtl="0" eaLnBrk="0" fontAlgn="base" latinLnBrk="0" hangingPunct="0">
              <a:lnSpc>
                <a:spcPct val="100000"/>
              </a:lnSpc>
              <a:spcBef>
                <a:spcPct val="0"/>
              </a:spcBef>
              <a:spcAft>
                <a:spcPct val="0"/>
              </a:spcAft>
              <a:buClrTx/>
              <a:buSzTx/>
              <a:buFontTx/>
              <a:buNone/>
              <a:tabLst/>
            </a:pPr>
            <a:r>
              <a:rPr lang="en-US" sz="2000" dirty="0" err="1">
                <a:latin typeface="Courier New" pitchFamily="49" charset="0"/>
                <a:cs typeface="Courier New" pitchFamily="49" charset="0"/>
              </a:rPr>
              <a:t>int</a:t>
            </a:r>
            <a:r>
              <a:rPr lang="en-US" sz="2000" b="1" dirty="0">
                <a:latin typeface="Courier New" pitchFamily="49" charset="0"/>
                <a:cs typeface="Courier New" pitchFamily="49" charset="0"/>
              </a:rPr>
              <a:t> a = 2912, b = 1706;</a:t>
            </a:r>
            <a:endParaRPr lang="vi-VN" sz="2000" b="1" dirty="0">
              <a:latin typeface="Courier New" pitchFamily="49" charset="0"/>
              <a:cs typeface="Courier New" pitchFamily="49" charset="0"/>
            </a:endParaRPr>
          </a:p>
          <a:p>
            <a:pPr marR="0" lvl="0" algn="l" defTabSz="914400" rtl="0" eaLnBrk="0" fontAlgn="base" latinLnBrk="0" hangingPunct="0">
              <a:lnSpc>
                <a:spcPct val="100000"/>
              </a:lnSpc>
              <a:spcBef>
                <a:spcPct val="0"/>
              </a:spcBef>
              <a:spcAft>
                <a:spcPct val="0"/>
              </a:spcAft>
              <a:buClrTx/>
              <a:buSzTx/>
              <a:buFontTx/>
              <a:buNone/>
              <a:tabLst/>
            </a:pPr>
            <a:r>
              <a:rPr lang="en-US" sz="2000" dirty="0" err="1">
                <a:latin typeface="Courier New" pitchFamily="49" charset="0"/>
                <a:cs typeface="Courier New" pitchFamily="49" charset="0"/>
              </a:rPr>
              <a:t>int</a:t>
            </a:r>
            <a:r>
              <a:rPr lang="en-US" sz="2000" b="1" dirty="0">
                <a:latin typeface="Courier New" pitchFamily="49" charset="0"/>
                <a:cs typeface="Courier New" pitchFamily="49" charset="0"/>
              </a:rPr>
              <a:t> sum = Tong(a, b);	/* </a:t>
            </a:r>
            <a:r>
              <a:rPr lang="en-US" sz="2000" b="1" dirty="0" err="1">
                <a:latin typeface="Courier New" pitchFamily="49" charset="0"/>
                <a:cs typeface="Courier New" pitchFamily="49" charset="0"/>
              </a:rPr>
              <a:t>Loi</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goi</a:t>
            </a:r>
            <a:r>
              <a:rPr lang="en-US" sz="2000" b="1" dirty="0">
                <a:latin typeface="Courier New" pitchFamily="49" charset="0"/>
                <a:cs typeface="Courier New" pitchFamily="49" charset="0"/>
              </a:rPr>
              <a:t> ham */</a:t>
            </a:r>
            <a:endParaRPr lang="vi-VN" sz="2000" b="1" dirty="0">
              <a:latin typeface="Courier New" pitchFamily="49" charset="0"/>
              <a:cs typeface="Courier New" pitchFamily="49"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vi-VN" sz="2000" b="1" dirty="0">
              <a:latin typeface="Courier New" pitchFamily="49" charset="0"/>
              <a:cs typeface="Courier New" pitchFamily="49" charset="0"/>
            </a:endParaRPr>
          </a:p>
        </p:txBody>
      </p:sp>
      <p:sp>
        <p:nvSpPr>
          <p:cNvPr id="8" name="Rectangle 1"/>
          <p:cNvSpPr>
            <a:spLocks/>
          </p:cNvSpPr>
          <p:nvPr/>
        </p:nvSpPr>
        <p:spPr bwMode="auto">
          <a:xfrm>
            <a:off x="539750" y="457200"/>
            <a:ext cx="11113" cy="14288"/>
          </a:xfrm>
          <a:prstGeom prst="rect">
            <a:avLst/>
          </a:prstGeom>
          <a:solidFill>
            <a:srgbClr val="7E7E7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vi-VN"/>
          </a:p>
        </p:txBody>
      </p:sp>
      <p:sp>
        <p:nvSpPr>
          <p:cNvPr id="10" name="Rectangle 9"/>
          <p:cNvSpPr>
            <a:spLocks/>
          </p:cNvSpPr>
          <p:nvPr/>
        </p:nvSpPr>
        <p:spPr bwMode="auto">
          <a:xfrm>
            <a:off x="-6215" y="3109018"/>
            <a:ext cx="9128125" cy="1256086"/>
          </a:xfrm>
          <a:prstGeom prst="rect">
            <a:avLst/>
          </a:prstGeom>
          <a:solidFill>
            <a:srgbClr val="0099FF">
              <a:alpha val="20000"/>
            </a:srgbClr>
          </a:solidFill>
          <a:ln w="9525" algn="ctr">
            <a:noFill/>
            <a:miter lim="800000"/>
            <a:headEnd/>
            <a:tailEnd/>
          </a:ln>
        </p:spPr>
        <p:txBody>
          <a:bodyPr/>
          <a:lstStyle/>
          <a:p>
            <a:endParaRPr lang="en-US"/>
          </a:p>
        </p:txBody>
      </p:sp>
      <p:sp>
        <p:nvSpPr>
          <p:cNvPr id="11" name="Rectangle 10"/>
          <p:cNvSpPr>
            <a:spLocks/>
          </p:cNvSpPr>
          <p:nvPr/>
        </p:nvSpPr>
        <p:spPr bwMode="auto">
          <a:xfrm>
            <a:off x="-9959" y="5229200"/>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2" name="Rounded Rectangle 11"/>
          <p:cNvSpPr/>
          <p:nvPr/>
        </p:nvSpPr>
        <p:spPr>
          <a:xfrm>
            <a:off x="1035224" y="3109018"/>
            <a:ext cx="152400" cy="2424982"/>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4" name="Slide Number Placeholder 13"/>
          <p:cNvSpPr>
            <a:spLocks noGrp="1"/>
          </p:cNvSpPr>
          <p:nvPr>
            <p:ph type="sldNum" sz="quarter" idx="12"/>
          </p:nvPr>
        </p:nvSpPr>
        <p:spPr/>
        <p:txBody>
          <a:bodyPr/>
          <a:lstStyle/>
          <a:p>
            <a:fld id="{5AB95402-1E0D-474E-8D8C-CBE7F053639E}" type="slidenum">
              <a:rPr lang="vi-VN" smtClean="0"/>
              <a:pPr/>
              <a:t>15</a:t>
            </a:fld>
            <a:r>
              <a:rPr lang="vi-VN"/>
              <a:t>/43</a:t>
            </a:r>
          </a:p>
        </p:txBody>
      </p:sp>
    </p:spTree>
    <p:extLst>
      <p:ext uri="{BB962C8B-B14F-4D97-AF65-F5344CB8AC3E}">
        <p14:creationId xmlns:p14="http://schemas.microsoft.com/office/powerpoint/2010/main" val="2202828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up)">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500"/>
                                        <p:tgtEl>
                                          <p:spTgt spid="11"/>
                                        </p:tgtEl>
                                      </p:cBhvr>
                                    </p:animEffect>
                                  </p:childTnLst>
                                </p:cTn>
                              </p:par>
                              <p:par>
                                <p:cTn id="32" presetID="10" presetClass="exit" presetSubtype="0" fill="hold" grpId="1" nodeType="withEffect">
                                  <p:stCondLst>
                                    <p:cond delay="0"/>
                                  </p:stCondLst>
                                  <p:childTnLst>
                                    <p:animEffect transition="out" filter="fade">
                                      <p:cBhvr>
                                        <p:cTn id="33" dur="500"/>
                                        <p:tgtEl>
                                          <p:spTgt spid="10"/>
                                        </p:tgtEl>
                                      </p:cBhvr>
                                    </p:animEffect>
                                    <p:set>
                                      <p:cBhvr>
                                        <p:cTn id="34" dur="1" fill="hold">
                                          <p:stCondLst>
                                            <p:cond delay="499"/>
                                          </p:stCondLst>
                                        </p:cTn>
                                        <p:tgtEl>
                                          <p:spTgt spid="10"/>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1" nodeType="clickEffect">
                                  <p:stCondLst>
                                    <p:cond delay="0"/>
                                  </p:stCondLst>
                                  <p:childTnLst>
                                    <p:animEffect transition="out" filter="fade">
                                      <p:cBhvr>
                                        <p:cTn id="38" dur="500"/>
                                        <p:tgtEl>
                                          <p:spTgt spid="11"/>
                                        </p:tgtEl>
                                      </p:cBhvr>
                                    </p:animEffect>
                                    <p:set>
                                      <p:cBhvr>
                                        <p:cTn id="39"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0" grpId="1" animBg="1"/>
      <p:bldP spid="11" grpId="0" animBg="1"/>
      <p:bldP spid="1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quy tắc (tt)</a:t>
            </a:r>
            <a:endParaRPr lang="vi-VN"/>
          </a:p>
        </p:txBody>
      </p:sp>
      <p:sp>
        <p:nvSpPr>
          <p:cNvPr id="3" name="Content Placeholder 2"/>
          <p:cNvSpPr>
            <a:spLocks noGrp="1"/>
          </p:cNvSpPr>
          <p:nvPr>
            <p:ph idx="1"/>
          </p:nvPr>
        </p:nvSpPr>
        <p:spPr/>
        <p:txBody>
          <a:bodyPr/>
          <a:lstStyle/>
          <a:p>
            <a:r>
              <a:rPr lang="en-US"/>
              <a:t>Thông thường, trước hàm main ta chỉ xác định tên hàm, các tham số và giá trị trả về,  phần định nghĩa sẽ được đưa xuống dưới cùng. Phần này được gọi là </a:t>
            </a:r>
            <a:r>
              <a:rPr lang="en-US">
                <a:solidFill>
                  <a:srgbClr val="FF0000"/>
                </a:solidFill>
              </a:rPr>
              <a:t>nguyên mẫu hàm </a:t>
            </a:r>
            <a:r>
              <a:rPr lang="en-US"/>
              <a:t>(</a:t>
            </a:r>
            <a:r>
              <a:rPr lang="en-US">
                <a:solidFill>
                  <a:srgbClr val="FF0000"/>
                </a:solidFill>
              </a:rPr>
              <a:t>function prototype</a:t>
            </a:r>
            <a:r>
              <a:rPr lang="en-US"/>
              <a:t>).</a:t>
            </a:r>
            <a:endParaRPr lang="vi-VN"/>
          </a:p>
        </p:txBody>
      </p:sp>
      <p:sp>
        <p:nvSpPr>
          <p:cNvPr id="4" name="Date Placeholder 3"/>
          <p:cNvSpPr>
            <a:spLocks noGrp="1"/>
          </p:cNvSpPr>
          <p:nvPr>
            <p:ph type="dt" sz="half" idx="10"/>
          </p:nvPr>
        </p:nvSpPr>
        <p:spPr/>
        <p:txBody>
          <a:bodyPr/>
          <a:lstStyle/>
          <a:p>
            <a:fld id="{041D567E-00CF-4E93-B6D5-8BE2DA8E5AE8}"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7" name="Rectangle 2"/>
          <p:cNvSpPr>
            <a:spLocks noChangeArrowheads="1"/>
          </p:cNvSpPr>
          <p:nvPr/>
        </p:nvSpPr>
        <p:spPr bwMode="auto">
          <a:xfrm>
            <a:off x="1090290" y="3519006"/>
            <a:ext cx="787419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1" fontAlgn="base" latinLnBrk="0" hangingPunct="1">
              <a:lnSpc>
                <a:spcPct val="100000"/>
              </a:lnSpc>
              <a:spcBef>
                <a:spcPct val="0"/>
              </a:spcBef>
              <a:spcAft>
                <a:spcPct val="0"/>
              </a:spcAft>
              <a:buClrTx/>
              <a:buSzTx/>
              <a:buFontTx/>
              <a:buNone/>
              <a:tabLst/>
            </a:pPr>
            <a:r>
              <a:rPr lang="en-US" sz="2000" b="1">
                <a:latin typeface="Courier New" pitchFamily="49" charset="0"/>
                <a:cs typeface="Courier New" pitchFamily="49" charset="0"/>
              </a:rPr>
              <a:t>int </a:t>
            </a:r>
            <a:r>
              <a:rPr lang="en-US" sz="2000" b="1">
                <a:solidFill>
                  <a:srgbClr val="FF0000"/>
                </a:solidFill>
                <a:latin typeface="Courier New" pitchFamily="49" charset="0"/>
                <a:cs typeface="Courier New" pitchFamily="49" charset="0"/>
              </a:rPr>
              <a:t>Tong(int a, int b)</a:t>
            </a:r>
            <a:r>
              <a:rPr lang="en-US" sz="2000" b="1">
                <a:latin typeface="Courier New" pitchFamily="49" charset="0"/>
                <a:cs typeface="Courier New" pitchFamily="49" charset="0"/>
              </a:rPr>
              <a:t>;	// prototype ham Tong</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void main()</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int a = 2912, b = 1706;</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int sum = </a:t>
            </a:r>
            <a:r>
              <a:rPr lang="en-US" sz="2000" b="1">
                <a:solidFill>
                  <a:srgbClr val="FF0000"/>
                </a:solidFill>
                <a:latin typeface="Courier New" pitchFamily="49" charset="0"/>
                <a:cs typeface="Courier New" pitchFamily="49" charset="0"/>
              </a:rPr>
              <a:t>Tong(a, b)</a:t>
            </a:r>
            <a:r>
              <a:rPr lang="en-US" sz="2000" b="1">
                <a:latin typeface="Courier New" pitchFamily="49" charset="0"/>
                <a:cs typeface="Courier New" pitchFamily="49" charset="0"/>
              </a:rPr>
              <a:t>;	/* Loi goi ham */</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int </a:t>
            </a:r>
            <a:r>
              <a:rPr lang="en-US" sz="2000" b="1">
                <a:solidFill>
                  <a:srgbClr val="FF0000"/>
                </a:solidFill>
                <a:latin typeface="Courier New" pitchFamily="49" charset="0"/>
                <a:cs typeface="Courier New" pitchFamily="49" charset="0"/>
              </a:rPr>
              <a:t>Tong(int a, int b)</a:t>
            </a:r>
            <a:r>
              <a:rPr lang="en-US" sz="2000" b="1">
                <a:latin typeface="Courier New" pitchFamily="49" charset="0"/>
                <a:cs typeface="Courier New" pitchFamily="49" charset="0"/>
              </a:rPr>
              <a:t>	/* Mo ta ham tong */</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a:t>
            </a:r>
            <a:endParaRPr lang="vi-VN" sz="2000" b="1">
              <a:latin typeface="Courier New" pitchFamily="49" charset="0"/>
              <a:cs typeface="Courier New" pitchFamily="49" charset="0"/>
            </a:endParaRPr>
          </a:p>
          <a:p>
            <a:pPr marR="0" lvl="0" algn="just" defTabSz="914400" rtl="0" eaLnBrk="0" fontAlgn="base" latinLnBrk="0" hangingPunct="0">
              <a:lnSpc>
                <a:spcPct val="100000"/>
              </a:lnSpc>
              <a:spcBef>
                <a:spcPct val="0"/>
              </a:spcBef>
              <a:spcAft>
                <a:spcPct val="0"/>
              </a:spcAft>
              <a:buClrTx/>
              <a:buSzTx/>
              <a:buFontTx/>
              <a:buNone/>
              <a:tabLst/>
            </a:pPr>
            <a:r>
              <a:rPr lang="en-US" sz="2000" b="1">
                <a:latin typeface="Courier New" pitchFamily="49" charset="0"/>
                <a:cs typeface="Courier New" pitchFamily="49" charset="0"/>
              </a:rPr>
              <a:t>return a + b; }</a:t>
            </a:r>
          </a:p>
        </p:txBody>
      </p:sp>
      <p:sp>
        <p:nvSpPr>
          <p:cNvPr id="8" name="Rectangle 1"/>
          <p:cNvSpPr>
            <a:spLocks/>
          </p:cNvSpPr>
          <p:nvPr/>
        </p:nvSpPr>
        <p:spPr bwMode="auto">
          <a:xfrm>
            <a:off x="720725" y="0"/>
            <a:ext cx="9525" cy="14288"/>
          </a:xfrm>
          <a:prstGeom prst="rect">
            <a:avLst/>
          </a:prstGeom>
          <a:solidFill>
            <a:srgbClr val="7E7E7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vi-VN"/>
          </a:p>
        </p:txBody>
      </p:sp>
      <p:sp>
        <p:nvSpPr>
          <p:cNvPr id="10" name="Rectangle 9"/>
          <p:cNvSpPr>
            <a:spLocks/>
          </p:cNvSpPr>
          <p:nvPr/>
        </p:nvSpPr>
        <p:spPr bwMode="auto">
          <a:xfrm>
            <a:off x="1067" y="3539788"/>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1" name="Rectangle 10"/>
          <p:cNvSpPr>
            <a:spLocks/>
          </p:cNvSpPr>
          <p:nvPr/>
        </p:nvSpPr>
        <p:spPr bwMode="auto">
          <a:xfrm>
            <a:off x="8353" y="4797767"/>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2" name="Rectangle 11"/>
          <p:cNvSpPr>
            <a:spLocks/>
          </p:cNvSpPr>
          <p:nvPr/>
        </p:nvSpPr>
        <p:spPr bwMode="auto">
          <a:xfrm>
            <a:off x="7937" y="5445224"/>
            <a:ext cx="9128125" cy="936104"/>
          </a:xfrm>
          <a:prstGeom prst="rect">
            <a:avLst/>
          </a:prstGeom>
          <a:solidFill>
            <a:srgbClr val="0099FF">
              <a:alpha val="20000"/>
            </a:srgbClr>
          </a:solidFill>
          <a:ln w="9525" algn="ctr">
            <a:noFill/>
            <a:miter lim="800000"/>
            <a:headEnd/>
            <a:tailEnd/>
          </a:ln>
        </p:spPr>
        <p:txBody>
          <a:bodyPr/>
          <a:lstStyle/>
          <a:p>
            <a:endParaRPr lang="en-US"/>
          </a:p>
        </p:txBody>
      </p:sp>
      <p:sp>
        <p:nvSpPr>
          <p:cNvPr id="13" name="Rounded Rectangle 12"/>
          <p:cNvSpPr/>
          <p:nvPr/>
        </p:nvSpPr>
        <p:spPr>
          <a:xfrm>
            <a:off x="899592" y="3501008"/>
            <a:ext cx="152400" cy="2804258"/>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5" name="Slide Number Placeholder 14"/>
          <p:cNvSpPr>
            <a:spLocks noGrp="1"/>
          </p:cNvSpPr>
          <p:nvPr>
            <p:ph type="sldNum" sz="quarter" idx="12"/>
          </p:nvPr>
        </p:nvSpPr>
        <p:spPr/>
        <p:txBody>
          <a:bodyPr/>
          <a:lstStyle/>
          <a:p>
            <a:fld id="{5AB95402-1E0D-474E-8D8C-CBE7F053639E}" type="slidenum">
              <a:rPr lang="vi-VN" smtClean="0"/>
              <a:pPr/>
              <a:t>16</a:t>
            </a:fld>
            <a:r>
              <a:rPr lang="vi-VN"/>
              <a:t>/43</a:t>
            </a:r>
          </a:p>
        </p:txBody>
      </p:sp>
    </p:spTree>
    <p:extLst>
      <p:ext uri="{BB962C8B-B14F-4D97-AF65-F5344CB8AC3E}">
        <p14:creationId xmlns:p14="http://schemas.microsoft.com/office/powerpoint/2010/main" val="2765869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wipe(up)">
                                      <p:cBhvr>
                                        <p:cTn id="16" dur="500"/>
                                        <p:tgtEl>
                                          <p:spTgt spid="1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par>
                                <p:cTn id="27" presetID="10" presetClass="exit" presetSubtype="0" fill="hold" grpId="1" nodeType="withEffect">
                                  <p:stCondLst>
                                    <p:cond delay="0"/>
                                  </p:stCondLst>
                                  <p:childTnLst>
                                    <p:animEffect transition="out" filter="fade">
                                      <p:cBhvr>
                                        <p:cTn id="28" dur="500"/>
                                        <p:tgtEl>
                                          <p:spTgt spid="10"/>
                                        </p:tgtEl>
                                      </p:cBhvr>
                                    </p:animEffect>
                                    <p:set>
                                      <p:cBhvr>
                                        <p:cTn id="29" dur="1" fill="hold">
                                          <p:stCondLst>
                                            <p:cond delay="499"/>
                                          </p:stCondLst>
                                        </p:cTn>
                                        <p:tgtEl>
                                          <p:spTgt spid="10"/>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par>
                                <p:cTn id="35" presetID="10" presetClass="exit" presetSubtype="0" fill="hold" grpId="1" nodeType="withEffect">
                                  <p:stCondLst>
                                    <p:cond delay="0"/>
                                  </p:stCondLst>
                                  <p:childTnLst>
                                    <p:animEffect transition="out" filter="fade">
                                      <p:cBhvr>
                                        <p:cTn id="36" dur="500"/>
                                        <p:tgtEl>
                                          <p:spTgt spid="11"/>
                                        </p:tgtEl>
                                      </p:cBhvr>
                                    </p:animEffect>
                                    <p:set>
                                      <p:cBhvr>
                                        <p:cTn id="37" dur="1" fill="hold">
                                          <p:stCondLst>
                                            <p:cond delay="499"/>
                                          </p:stCondLst>
                                        </p:cTn>
                                        <p:tgtEl>
                                          <p:spTgt spid="1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0" grpId="1" animBg="1"/>
      <p:bldP spid="11" grpId="0" animBg="1"/>
      <p:bldP spid="11" grpId="1" animBg="1"/>
      <p:bldP spid="12" grpId="0" animBg="1"/>
      <p:bldP spid="12"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ví dụ</a:t>
            </a:r>
            <a:endParaRPr lang="vi-VN"/>
          </a:p>
        </p:txBody>
      </p:sp>
      <p:sp>
        <p:nvSpPr>
          <p:cNvPr id="3" name="Content Placeholder 2"/>
          <p:cNvSpPr>
            <a:spLocks noGrp="1"/>
          </p:cNvSpPr>
          <p:nvPr>
            <p:ph idx="1"/>
          </p:nvPr>
        </p:nvSpPr>
        <p:spPr/>
        <p:txBody>
          <a:bodyPr/>
          <a:lstStyle/>
          <a:p>
            <a:r>
              <a:rPr lang="en-US"/>
              <a:t>Ví dụ 1: Chuyển chữ thường thành chữ hoa</a:t>
            </a:r>
            <a:endParaRPr lang="vi-VN"/>
          </a:p>
        </p:txBody>
      </p:sp>
      <p:sp>
        <p:nvSpPr>
          <p:cNvPr id="4" name="Date Placeholder 3"/>
          <p:cNvSpPr>
            <a:spLocks noGrp="1"/>
          </p:cNvSpPr>
          <p:nvPr>
            <p:ph type="dt" sz="half" idx="10"/>
          </p:nvPr>
        </p:nvSpPr>
        <p:spPr/>
        <p:txBody>
          <a:bodyPr/>
          <a:lstStyle/>
          <a:p>
            <a:fld id="{FB52033A-3BE6-48CC-BA1F-F5A73C1323CE}"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7" name="Rectangle 6"/>
          <p:cNvSpPr/>
          <p:nvPr/>
        </p:nvSpPr>
        <p:spPr>
          <a:xfrm>
            <a:off x="971600" y="1556792"/>
            <a:ext cx="7560840" cy="5016758"/>
          </a:xfrm>
          <a:prstGeom prst="rect">
            <a:avLst/>
          </a:prstGeom>
        </p:spPr>
        <p:txBody>
          <a:bodyPr wrap="square">
            <a:spAutoFit/>
          </a:bodyPr>
          <a:lstStyle/>
          <a:p>
            <a:r>
              <a:rPr lang="en-US" sz="2000" dirty="0">
                <a:latin typeface="Courier New" pitchFamily="49" charset="0"/>
                <a:cs typeface="Courier New" pitchFamily="49" charset="0"/>
              </a:rPr>
              <a:t>#include &lt;</a:t>
            </a:r>
            <a:r>
              <a:rPr lang="en-US" sz="2000" dirty="0" err="1">
                <a:latin typeface="Courier New" pitchFamily="49" charset="0"/>
                <a:cs typeface="Courier New" pitchFamily="49" charset="0"/>
              </a:rPr>
              <a:t>stdio.h</a:t>
            </a:r>
            <a:r>
              <a:rPr lang="en-US" sz="2000" dirty="0">
                <a:latin typeface="Courier New" pitchFamily="49" charset="0"/>
                <a:cs typeface="Courier New" pitchFamily="49" charset="0"/>
              </a:rPr>
              <a:t>&gt;</a:t>
            </a:r>
          </a:p>
          <a:p>
            <a:r>
              <a:rPr lang="en-US" sz="2000" dirty="0">
                <a:latin typeface="Courier New" pitchFamily="49" charset="0"/>
                <a:cs typeface="Courier New" pitchFamily="49" charset="0"/>
              </a:rPr>
              <a:t>#include &lt;</a:t>
            </a:r>
            <a:r>
              <a:rPr lang="en-US" sz="2000" dirty="0" err="1">
                <a:latin typeface="Courier New" pitchFamily="49" charset="0"/>
                <a:cs typeface="Courier New" pitchFamily="49" charset="0"/>
              </a:rPr>
              <a:t>conio.h</a:t>
            </a:r>
            <a:r>
              <a:rPr lang="en-US" sz="2000" dirty="0">
                <a:latin typeface="Courier New" pitchFamily="49" charset="0"/>
                <a:cs typeface="Courier New" pitchFamily="49" charset="0"/>
              </a:rPr>
              <a:t>&gt;</a:t>
            </a:r>
          </a:p>
          <a:p>
            <a:r>
              <a:rPr lang="en-US" sz="2000" b="1" dirty="0">
                <a:latin typeface="Courier New" pitchFamily="49" charset="0"/>
                <a:cs typeface="Courier New" pitchFamily="49" charset="0"/>
              </a:rPr>
              <a:t>char</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chuyen_thanh_chu_hoa</a:t>
            </a:r>
            <a:r>
              <a:rPr lang="en-US" sz="2000" dirty="0">
                <a:latin typeface="Courier New" pitchFamily="49" charset="0"/>
                <a:cs typeface="Courier New" pitchFamily="49" charset="0"/>
              </a:rPr>
              <a:t>(</a:t>
            </a:r>
            <a:r>
              <a:rPr lang="en-US" sz="2000" b="1" dirty="0">
                <a:latin typeface="Courier New" pitchFamily="49" charset="0"/>
                <a:cs typeface="Courier New" pitchFamily="49" charset="0"/>
              </a:rPr>
              <a:t>char</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ch</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ch</a:t>
            </a:r>
            <a:r>
              <a:rPr lang="en-US" sz="2000" dirty="0">
                <a:latin typeface="Courier New" pitchFamily="49" charset="0"/>
                <a:cs typeface="Courier New" pitchFamily="49" charset="0"/>
              </a:rPr>
              <a:t>&gt;=</a:t>
            </a:r>
            <a:r>
              <a:rPr lang="en-US" sz="2000" dirty="0">
                <a:solidFill>
                  <a:srgbClr val="0000FF"/>
                </a:solidFill>
                <a:latin typeface="Courier New" pitchFamily="49" charset="0"/>
                <a:cs typeface="Courier New" pitchFamily="49" charset="0"/>
              </a:rPr>
              <a:t>’a’</a:t>
            </a:r>
            <a:r>
              <a:rPr lang="en-US" sz="2000" dirty="0">
                <a:latin typeface="Courier New" pitchFamily="49" charset="0"/>
                <a:cs typeface="Courier New" pitchFamily="49" charset="0"/>
              </a:rPr>
              <a:t> &amp;&amp; </a:t>
            </a:r>
            <a:r>
              <a:rPr lang="en-US" sz="2000" dirty="0" err="1">
                <a:solidFill>
                  <a:srgbClr val="FF0000"/>
                </a:solidFill>
                <a:latin typeface="Courier New" pitchFamily="49" charset="0"/>
                <a:cs typeface="Courier New" pitchFamily="49" charset="0"/>
              </a:rPr>
              <a:t>ch</a:t>
            </a:r>
            <a:r>
              <a:rPr lang="en-US" sz="2000" dirty="0">
                <a:latin typeface="Courier New" pitchFamily="49" charset="0"/>
                <a:cs typeface="Courier New" pitchFamily="49" charset="0"/>
              </a:rPr>
              <a:t> &lt;=</a:t>
            </a:r>
            <a:r>
              <a:rPr lang="en-US" sz="2000" dirty="0">
                <a:solidFill>
                  <a:srgbClr val="0000FF"/>
                </a:solidFill>
                <a:latin typeface="Courier New" pitchFamily="49" charset="0"/>
                <a:cs typeface="Courier New" pitchFamily="49" charset="0"/>
              </a:rPr>
              <a:t>’z’</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ch</a:t>
            </a:r>
            <a:r>
              <a:rPr lang="en-US" sz="2000" dirty="0">
                <a:latin typeface="Courier New" pitchFamily="49" charset="0"/>
                <a:cs typeface="Courier New" pitchFamily="49" charset="0"/>
              </a:rPr>
              <a:t> + </a:t>
            </a:r>
            <a:r>
              <a:rPr lang="en-US" sz="2000" dirty="0">
                <a:solidFill>
                  <a:srgbClr val="0000FF"/>
                </a:solidFill>
                <a:latin typeface="Courier New" pitchFamily="49" charset="0"/>
                <a:cs typeface="Courier New" pitchFamily="49" charset="0"/>
              </a:rPr>
              <a:t>‘A’</a:t>
            </a:r>
            <a:r>
              <a:rPr lang="en-US" sz="2000" dirty="0">
                <a:latin typeface="Courier New" pitchFamily="49" charset="0"/>
                <a:cs typeface="Courier New" pitchFamily="49" charset="0"/>
              </a:rPr>
              <a:t>-</a:t>
            </a:r>
            <a:r>
              <a:rPr lang="en-US" sz="2000" dirty="0">
                <a:solidFill>
                  <a:srgbClr val="0000FF"/>
                </a:solidFill>
                <a:latin typeface="Courier New" pitchFamily="49" charset="0"/>
                <a:cs typeface="Courier New" pitchFamily="49" charset="0"/>
              </a:rPr>
              <a:t>‘a’</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else</a:t>
            </a:r>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ch</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b="1" dirty="0" err="1">
                <a:latin typeface="Courier New" pitchFamily="49" charset="0"/>
                <a:cs typeface="Courier New" pitchFamily="49" charset="0"/>
              </a:rPr>
              <a:t>int</a:t>
            </a:r>
            <a:r>
              <a:rPr lang="en-US" sz="2000" dirty="0">
                <a:latin typeface="Courier New" pitchFamily="49" charset="0"/>
                <a:cs typeface="Courier New" pitchFamily="49" charset="0"/>
              </a:rPr>
              <a:t> main()</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char</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thuong</a:t>
            </a:r>
            <a:r>
              <a:rPr lang="en-US" sz="2000" dirty="0" err="1">
                <a:latin typeface="Courier New" pitchFamily="49" charset="0"/>
                <a:cs typeface="Courier New" pitchFamily="49" charset="0"/>
              </a:rPr>
              <a:t>,</a:t>
            </a:r>
            <a:r>
              <a:rPr lang="en-US" sz="2000" dirty="0" err="1">
                <a:solidFill>
                  <a:srgbClr val="FF0000"/>
                </a:solidFill>
                <a:latin typeface="Courier New" pitchFamily="49" charset="0"/>
                <a:cs typeface="Courier New" pitchFamily="49" charset="0"/>
              </a:rPr>
              <a:t>hoa</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fr-FR" sz="2000" dirty="0" err="1">
                <a:latin typeface="Courier New" pitchFamily="49" charset="0"/>
                <a:cs typeface="Courier New" pitchFamily="49" charset="0"/>
              </a:rPr>
              <a:t>printf</a:t>
            </a:r>
            <a:r>
              <a:rPr lang="fr-FR" sz="2000" dirty="0">
                <a:latin typeface="Courier New" pitchFamily="49" charset="0"/>
                <a:cs typeface="Courier New" pitchFamily="49" charset="0"/>
              </a:rPr>
              <a:t>(“</a:t>
            </a:r>
            <a:r>
              <a:rPr lang="fr-FR" sz="2000" dirty="0" err="1">
                <a:latin typeface="Courier New" pitchFamily="49" charset="0"/>
                <a:cs typeface="Courier New" pitchFamily="49" charset="0"/>
              </a:rPr>
              <a:t>Nhap</a:t>
            </a:r>
            <a:r>
              <a:rPr lang="fr-FR" sz="2000" dirty="0">
                <a:latin typeface="Courier New" pitchFamily="49" charset="0"/>
                <a:cs typeface="Courier New" pitchFamily="49" charset="0"/>
              </a:rPr>
              <a:t> </a:t>
            </a:r>
            <a:r>
              <a:rPr lang="fr-FR" sz="2000" dirty="0" err="1">
                <a:latin typeface="Courier New" pitchFamily="49" charset="0"/>
                <a:cs typeface="Courier New" pitchFamily="49" charset="0"/>
              </a:rPr>
              <a:t>vao</a:t>
            </a:r>
            <a:r>
              <a:rPr lang="fr-FR" sz="2000" dirty="0">
                <a:latin typeface="Courier New" pitchFamily="49" charset="0"/>
                <a:cs typeface="Courier New" pitchFamily="49" charset="0"/>
              </a:rPr>
              <a:t> mot </a:t>
            </a:r>
            <a:r>
              <a:rPr lang="fr-FR" sz="2000" dirty="0" err="1">
                <a:latin typeface="Courier New" pitchFamily="49" charset="0"/>
                <a:cs typeface="Courier New" pitchFamily="49" charset="0"/>
              </a:rPr>
              <a:t>ki</a:t>
            </a:r>
            <a:r>
              <a:rPr lang="fr-FR" sz="2000" dirty="0">
                <a:latin typeface="Courier New" pitchFamily="49" charset="0"/>
                <a:cs typeface="Courier New" pitchFamily="49" charset="0"/>
              </a:rPr>
              <a:t> tu: “);</a:t>
            </a:r>
            <a:endParaRPr lang="vi-VN" sz="2000" dirty="0">
              <a:latin typeface="Courier New" pitchFamily="49" charset="0"/>
              <a:cs typeface="Courier New" pitchFamily="49" charset="0"/>
            </a:endParaRPr>
          </a:p>
          <a:p>
            <a:r>
              <a:rPr lang="fr-FR" sz="2000" dirty="0">
                <a:latin typeface="Courier New" pitchFamily="49" charset="0"/>
                <a:cs typeface="Courier New" pitchFamily="49" charset="0"/>
              </a:rPr>
              <a:t>	</a:t>
            </a:r>
            <a:r>
              <a:rPr lang="en-US" sz="2000" dirty="0" err="1">
                <a:latin typeface="Courier New" pitchFamily="49" charset="0"/>
                <a:cs typeface="Courier New" pitchFamily="49" charset="0"/>
              </a:rPr>
              <a:t>scanf</a:t>
            </a:r>
            <a:r>
              <a:rPr lang="en-US" sz="2000" dirty="0">
                <a:latin typeface="Courier New" pitchFamily="49" charset="0"/>
                <a:cs typeface="Courier New" pitchFamily="49" charset="0"/>
              </a:rPr>
              <a:t>(</a:t>
            </a:r>
            <a:r>
              <a:rPr lang="en-US" sz="2000" dirty="0">
                <a:solidFill>
                  <a:srgbClr val="0000FF"/>
                </a:solidFill>
                <a:latin typeface="Courier New" pitchFamily="49" charset="0"/>
                <a:cs typeface="Courier New" pitchFamily="49" charset="0"/>
              </a:rPr>
              <a:t>“%c”</a:t>
            </a:r>
            <a:r>
              <a:rPr lang="en-US" sz="2000" dirty="0">
                <a:latin typeface="Courier New" pitchFamily="49" charset="0"/>
                <a:cs typeface="Courier New" pitchFamily="49" charset="0"/>
              </a:rPr>
              <a:t>, &amp;</a:t>
            </a:r>
            <a:r>
              <a:rPr lang="en-US" sz="2000" dirty="0" err="1">
                <a:solidFill>
                  <a:srgbClr val="FF0000"/>
                </a:solidFill>
                <a:latin typeface="Courier New" pitchFamily="49" charset="0"/>
                <a:cs typeface="Courier New" pitchFamily="49" charset="0"/>
              </a:rPr>
              <a:t>thuong</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hoa</a:t>
            </a:r>
            <a:r>
              <a:rPr lang="en-US" sz="2000" dirty="0">
                <a:latin typeface="Courier New" pitchFamily="49" charset="0"/>
                <a:cs typeface="Courier New" pitchFamily="49" charset="0"/>
              </a:rPr>
              <a:t> = </a:t>
            </a:r>
            <a:r>
              <a:rPr lang="en-US" sz="2000" dirty="0" err="1">
                <a:solidFill>
                  <a:srgbClr val="FF0000"/>
                </a:solidFill>
                <a:latin typeface="Courier New" pitchFamily="49" charset="0"/>
                <a:cs typeface="Courier New" pitchFamily="49" charset="0"/>
              </a:rPr>
              <a:t>chuyen_thanh_chu_hoa</a:t>
            </a:r>
            <a:r>
              <a:rPr lang="en-US" sz="2000" dirty="0">
                <a:latin typeface="Courier New" pitchFamily="49" charset="0"/>
                <a:cs typeface="Courier New" pitchFamily="49" charset="0"/>
              </a:rPr>
              <a:t>(</a:t>
            </a:r>
            <a:r>
              <a:rPr lang="en-US" sz="2000" dirty="0" err="1">
                <a:solidFill>
                  <a:srgbClr val="FF0000"/>
                </a:solidFill>
                <a:latin typeface="Courier New" pitchFamily="49" charset="0"/>
                <a:cs typeface="Courier New" pitchFamily="49" charset="0"/>
              </a:rPr>
              <a:t>thuong</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printf</a:t>
            </a: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nChu</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hoa</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tuong</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ung</a:t>
            </a:r>
            <a:r>
              <a:rPr lang="en-US" sz="2000" dirty="0">
                <a:latin typeface="Courier New" pitchFamily="49" charset="0"/>
                <a:cs typeface="Courier New" pitchFamily="49" charset="0"/>
              </a:rPr>
              <a:t> la:%c\n”,</a:t>
            </a:r>
            <a:r>
              <a:rPr lang="en-US" sz="2000" dirty="0" err="1">
                <a:solidFill>
                  <a:srgbClr val="FF0000"/>
                </a:solidFill>
                <a:latin typeface="Courier New" pitchFamily="49" charset="0"/>
                <a:cs typeface="Courier New" pitchFamily="49" charset="0"/>
              </a:rPr>
              <a:t>hoa</a:t>
            </a:r>
            <a:r>
              <a:rPr lang="en-US" sz="2000" dirty="0">
                <a:latin typeface="Courier New" pitchFamily="49" charset="0"/>
                <a:cs typeface="Courier New" pitchFamily="49" charset="0"/>
              </a:rPr>
              <a:t>);</a:t>
            </a:r>
          </a:p>
          <a:p>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getch</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p:txBody>
      </p:sp>
      <p:sp>
        <p:nvSpPr>
          <p:cNvPr id="11" name="Rounded Rectangle 10"/>
          <p:cNvSpPr/>
          <p:nvPr/>
        </p:nvSpPr>
        <p:spPr>
          <a:xfrm>
            <a:off x="611560" y="1764098"/>
            <a:ext cx="152400" cy="4545222"/>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3" name="Slide Number Placeholder 12"/>
          <p:cNvSpPr>
            <a:spLocks noGrp="1"/>
          </p:cNvSpPr>
          <p:nvPr>
            <p:ph type="sldNum" sz="quarter" idx="12"/>
          </p:nvPr>
        </p:nvSpPr>
        <p:spPr/>
        <p:txBody>
          <a:bodyPr/>
          <a:lstStyle/>
          <a:p>
            <a:fld id="{5AB95402-1E0D-474E-8D8C-CBE7F053639E}" type="slidenum">
              <a:rPr lang="vi-VN" smtClean="0"/>
              <a:pPr/>
              <a:t>17</a:t>
            </a:fld>
            <a:r>
              <a:rPr lang="vi-VN"/>
              <a:t>/43</a:t>
            </a:r>
          </a:p>
        </p:txBody>
      </p:sp>
    </p:spTree>
    <p:extLst>
      <p:ext uri="{BB962C8B-B14F-4D97-AF65-F5344CB8AC3E}">
        <p14:creationId xmlns:p14="http://schemas.microsoft.com/office/powerpoint/2010/main" val="73872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wipe(left)">
                                      <p:cBhvr>
                                        <p:cTn id="21" dur="500"/>
                                        <p:tgtEl>
                                          <p:spTgt spid="7">
                                            <p:txEl>
                                              <p:pRg st="3" end="3"/>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wipe(left)">
                                      <p:cBhvr>
                                        <p:cTn id="25" dur="500"/>
                                        <p:tgtEl>
                                          <p:spTgt spid="7">
                                            <p:txEl>
                                              <p:pRg st="4" end="4"/>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animEffect transition="in" filter="wipe(left)">
                                      <p:cBhvr>
                                        <p:cTn id="29" dur="500"/>
                                        <p:tgtEl>
                                          <p:spTgt spid="7">
                                            <p:txEl>
                                              <p:pRg st="5" end="5"/>
                                            </p:txEl>
                                          </p:spTgt>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animEffect transition="in" filter="wipe(left)">
                                      <p:cBhvr>
                                        <p:cTn id="33" dur="500"/>
                                        <p:tgtEl>
                                          <p:spTgt spid="7">
                                            <p:txEl>
                                              <p:pRg st="6" end="6"/>
                                            </p:txEl>
                                          </p:spTgt>
                                        </p:tgtEl>
                                      </p:cBhvr>
                                    </p:animEffect>
                                  </p:childTnLst>
                                </p:cTn>
                              </p:par>
                            </p:childTnLst>
                          </p:cTn>
                        </p:par>
                        <p:par>
                          <p:cTn id="34" fill="hold">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animEffect transition="in" filter="wipe(left)">
                                      <p:cBhvr>
                                        <p:cTn id="37" dur="500"/>
                                        <p:tgtEl>
                                          <p:spTgt spid="7">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wipe(left)">
                                      <p:cBhvr>
                                        <p:cTn id="42" dur="500"/>
                                        <p:tgtEl>
                                          <p:spTgt spid="7">
                                            <p:txEl>
                                              <p:pRg st="8" end="8"/>
                                            </p:txEl>
                                          </p:spTgt>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7">
                                            <p:txEl>
                                              <p:pRg st="9" end="9"/>
                                            </p:txEl>
                                          </p:spTgt>
                                        </p:tgtEl>
                                        <p:attrNameLst>
                                          <p:attrName>style.visibility</p:attrName>
                                        </p:attrNameLst>
                                      </p:cBhvr>
                                      <p:to>
                                        <p:strVal val="visible"/>
                                      </p:to>
                                    </p:set>
                                    <p:animEffect transition="in" filter="wipe(left)">
                                      <p:cBhvr>
                                        <p:cTn id="46" dur="500"/>
                                        <p:tgtEl>
                                          <p:spTgt spid="7">
                                            <p:txEl>
                                              <p:pRg st="9" end="9"/>
                                            </p:txEl>
                                          </p:spTgt>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7">
                                            <p:txEl>
                                              <p:pRg st="10" end="10"/>
                                            </p:txEl>
                                          </p:spTgt>
                                        </p:tgtEl>
                                        <p:attrNameLst>
                                          <p:attrName>style.visibility</p:attrName>
                                        </p:attrNameLst>
                                      </p:cBhvr>
                                      <p:to>
                                        <p:strVal val="visible"/>
                                      </p:to>
                                    </p:set>
                                    <p:animEffect transition="in" filter="wipe(left)">
                                      <p:cBhvr>
                                        <p:cTn id="50" dur="500"/>
                                        <p:tgtEl>
                                          <p:spTgt spid="7">
                                            <p:txEl>
                                              <p:pRg st="10" end="10"/>
                                            </p:txEl>
                                          </p:spTgt>
                                        </p:tgtEl>
                                      </p:cBhvr>
                                    </p:animEffect>
                                  </p:childTnLst>
                                </p:cTn>
                              </p:par>
                            </p:childTnLst>
                          </p:cTn>
                        </p:par>
                        <p:par>
                          <p:cTn id="51" fill="hold">
                            <p:stCondLst>
                              <p:cond delay="1500"/>
                            </p:stCondLst>
                            <p:childTnLst>
                              <p:par>
                                <p:cTn id="52" presetID="22" presetClass="entr" presetSubtype="8" fill="hold" grpId="0" nodeType="afterEffect">
                                  <p:stCondLst>
                                    <p:cond delay="0"/>
                                  </p:stCondLst>
                                  <p:childTnLst>
                                    <p:set>
                                      <p:cBhvr>
                                        <p:cTn id="53" dur="1" fill="hold">
                                          <p:stCondLst>
                                            <p:cond delay="0"/>
                                          </p:stCondLst>
                                        </p:cTn>
                                        <p:tgtEl>
                                          <p:spTgt spid="7">
                                            <p:txEl>
                                              <p:pRg st="11" end="11"/>
                                            </p:txEl>
                                          </p:spTgt>
                                        </p:tgtEl>
                                        <p:attrNameLst>
                                          <p:attrName>style.visibility</p:attrName>
                                        </p:attrNameLst>
                                      </p:cBhvr>
                                      <p:to>
                                        <p:strVal val="visible"/>
                                      </p:to>
                                    </p:set>
                                    <p:animEffect transition="in" filter="wipe(left)">
                                      <p:cBhvr>
                                        <p:cTn id="54" dur="500"/>
                                        <p:tgtEl>
                                          <p:spTgt spid="7">
                                            <p:txEl>
                                              <p:pRg st="11" end="11"/>
                                            </p:txEl>
                                          </p:spTgt>
                                        </p:tgtEl>
                                      </p:cBhvr>
                                    </p:animEffect>
                                  </p:childTnLst>
                                </p:cTn>
                              </p:par>
                            </p:childTnLst>
                          </p:cTn>
                        </p:par>
                        <p:par>
                          <p:cTn id="55" fill="hold">
                            <p:stCondLst>
                              <p:cond delay="2000"/>
                            </p:stCondLst>
                            <p:childTnLst>
                              <p:par>
                                <p:cTn id="56" presetID="22" presetClass="entr" presetSubtype="8" fill="hold" grpId="0" nodeType="afterEffect">
                                  <p:stCondLst>
                                    <p:cond delay="0"/>
                                  </p:stCondLst>
                                  <p:childTnLst>
                                    <p:set>
                                      <p:cBhvr>
                                        <p:cTn id="57" dur="1" fill="hold">
                                          <p:stCondLst>
                                            <p:cond delay="0"/>
                                          </p:stCondLst>
                                        </p:cTn>
                                        <p:tgtEl>
                                          <p:spTgt spid="7">
                                            <p:txEl>
                                              <p:pRg st="12" end="12"/>
                                            </p:txEl>
                                          </p:spTgt>
                                        </p:tgtEl>
                                        <p:attrNameLst>
                                          <p:attrName>style.visibility</p:attrName>
                                        </p:attrNameLst>
                                      </p:cBhvr>
                                      <p:to>
                                        <p:strVal val="visible"/>
                                      </p:to>
                                    </p:set>
                                    <p:animEffect transition="in" filter="wipe(left)">
                                      <p:cBhvr>
                                        <p:cTn id="58" dur="500"/>
                                        <p:tgtEl>
                                          <p:spTgt spid="7">
                                            <p:txEl>
                                              <p:pRg st="12" end="12"/>
                                            </p:txEl>
                                          </p:spTgt>
                                        </p:tgtEl>
                                      </p:cBhvr>
                                    </p:animEffect>
                                  </p:childTnLst>
                                </p:cTn>
                              </p:par>
                            </p:childTnLst>
                          </p:cTn>
                        </p:par>
                        <p:par>
                          <p:cTn id="59" fill="hold">
                            <p:stCondLst>
                              <p:cond delay="2500"/>
                            </p:stCondLst>
                            <p:childTnLst>
                              <p:par>
                                <p:cTn id="60" presetID="22" presetClass="entr" presetSubtype="8" fill="hold" grpId="0" nodeType="afterEffect">
                                  <p:stCondLst>
                                    <p:cond delay="0"/>
                                  </p:stCondLst>
                                  <p:childTnLst>
                                    <p:set>
                                      <p:cBhvr>
                                        <p:cTn id="61" dur="1" fill="hold">
                                          <p:stCondLst>
                                            <p:cond delay="0"/>
                                          </p:stCondLst>
                                        </p:cTn>
                                        <p:tgtEl>
                                          <p:spTgt spid="7">
                                            <p:txEl>
                                              <p:pRg st="13" end="13"/>
                                            </p:txEl>
                                          </p:spTgt>
                                        </p:tgtEl>
                                        <p:attrNameLst>
                                          <p:attrName>style.visibility</p:attrName>
                                        </p:attrNameLst>
                                      </p:cBhvr>
                                      <p:to>
                                        <p:strVal val="visible"/>
                                      </p:to>
                                    </p:set>
                                    <p:animEffect transition="in" filter="wipe(left)">
                                      <p:cBhvr>
                                        <p:cTn id="62" dur="500"/>
                                        <p:tgtEl>
                                          <p:spTgt spid="7">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
                                            <p:txEl>
                                              <p:pRg st="14" end="14"/>
                                            </p:txEl>
                                          </p:spTgt>
                                        </p:tgtEl>
                                        <p:attrNameLst>
                                          <p:attrName>style.visibility</p:attrName>
                                        </p:attrNameLst>
                                      </p:cBhvr>
                                      <p:to>
                                        <p:strVal val="visible"/>
                                      </p:to>
                                    </p:set>
                                    <p:animEffect transition="in" filter="wipe(left)">
                                      <p:cBhvr>
                                        <p:cTn id="67" dur="500"/>
                                        <p:tgtEl>
                                          <p:spTgt spid="7">
                                            <p:txEl>
                                              <p:pRg st="14" end="14"/>
                                            </p:txEl>
                                          </p:spTgt>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7">
                                            <p:txEl>
                                              <p:pRg st="15" end="15"/>
                                            </p:txEl>
                                          </p:spTgt>
                                        </p:tgtEl>
                                        <p:attrNameLst>
                                          <p:attrName>style.visibility</p:attrName>
                                        </p:attrNameLst>
                                      </p:cBhvr>
                                      <p:to>
                                        <p:strVal val="visible"/>
                                      </p:to>
                                    </p:set>
                                    <p:animEffect transition="in" filter="wipe(left)">
                                      <p:cBhvr>
                                        <p:cTn id="70" dur="500"/>
                                        <p:tgtEl>
                                          <p:spTgt spid="7">
                                            <p:txEl>
                                              <p:pRg st="15" end="15"/>
                                            </p:txEl>
                                          </p:spTgt>
                                        </p:tgtEl>
                                      </p:cBhvr>
                                    </p:animEffect>
                                  </p:childTnLst>
                                </p:cTn>
                              </p:par>
                            </p:childTnLst>
                          </p:cTn>
                        </p:par>
                        <p:par>
                          <p:cTn id="71" fill="hold">
                            <p:stCondLst>
                              <p:cond delay="500"/>
                            </p:stCondLst>
                            <p:childTnLst>
                              <p:par>
                                <p:cTn id="72" presetID="22" presetClass="entr" presetSubtype="1" fill="hold" nodeType="after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wipe(up)">
                                      <p:cBhvr>
                                        <p:cTn id="7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ví dụ (tt)</a:t>
            </a:r>
            <a:endParaRPr lang="vi-VN"/>
          </a:p>
        </p:txBody>
      </p:sp>
      <p:sp>
        <p:nvSpPr>
          <p:cNvPr id="3" name="Content Placeholder 2"/>
          <p:cNvSpPr>
            <a:spLocks noGrp="1"/>
          </p:cNvSpPr>
          <p:nvPr>
            <p:ph idx="1"/>
          </p:nvPr>
        </p:nvSpPr>
        <p:spPr/>
        <p:txBody>
          <a:bodyPr/>
          <a:lstStyle/>
          <a:p>
            <a:r>
              <a:rPr lang="en-US"/>
              <a:t>Ví dụ 2: Tính giai thừa</a:t>
            </a:r>
            <a:endParaRPr lang="vi-VN"/>
          </a:p>
        </p:txBody>
      </p:sp>
      <p:sp>
        <p:nvSpPr>
          <p:cNvPr id="4" name="Date Placeholder 3"/>
          <p:cNvSpPr>
            <a:spLocks noGrp="1"/>
          </p:cNvSpPr>
          <p:nvPr>
            <p:ph type="dt" sz="half" idx="10"/>
          </p:nvPr>
        </p:nvSpPr>
        <p:spPr/>
        <p:txBody>
          <a:bodyPr/>
          <a:lstStyle/>
          <a:p>
            <a:fld id="{F1931D30-6570-4373-B399-8B09DA90A9F0}"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7" name="Rectangle 6"/>
          <p:cNvSpPr/>
          <p:nvPr/>
        </p:nvSpPr>
        <p:spPr>
          <a:xfrm>
            <a:off x="899592" y="1628800"/>
            <a:ext cx="7848872" cy="4401205"/>
          </a:xfrm>
          <a:prstGeom prst="rect">
            <a:avLst/>
          </a:prstGeom>
        </p:spPr>
        <p:txBody>
          <a:bodyPr wrap="square">
            <a:spAutoFit/>
          </a:bodyPr>
          <a:lstStyle/>
          <a:p>
            <a:r>
              <a:rPr lang="en-US" sz="2000" dirty="0">
                <a:latin typeface="Courier New" pitchFamily="49" charset="0"/>
                <a:cs typeface="Courier New" pitchFamily="49" charset="0"/>
              </a:rPr>
              <a:t>#include &lt;</a:t>
            </a:r>
            <a:r>
              <a:rPr lang="en-US" sz="2000" dirty="0" err="1">
                <a:latin typeface="Courier New" pitchFamily="49" charset="0"/>
                <a:cs typeface="Courier New" pitchFamily="49" charset="0"/>
              </a:rPr>
              <a:t>stdio.h</a:t>
            </a:r>
            <a:r>
              <a:rPr lang="en-US" sz="2000" dirty="0">
                <a:latin typeface="Courier New" pitchFamily="49" charset="0"/>
                <a:cs typeface="Courier New" pitchFamily="49" charset="0"/>
              </a:rPr>
              <a:t>&gt;</a:t>
            </a:r>
            <a:endParaRPr lang="vi-VN" sz="2000" dirty="0">
              <a:latin typeface="Courier New" pitchFamily="49" charset="0"/>
              <a:cs typeface="Courier New" pitchFamily="49" charset="0"/>
            </a:endParaRPr>
          </a:p>
          <a:p>
            <a:r>
              <a:rPr lang="en-US" sz="2000" b="1" dirty="0">
                <a:latin typeface="Courier New" pitchFamily="49" charset="0"/>
                <a:cs typeface="Courier New" pitchFamily="49" charset="0"/>
              </a:rPr>
              <a:t>long</a:t>
            </a:r>
            <a:r>
              <a:rPr lang="en-US" sz="2000" dirty="0">
                <a:latin typeface="Courier New" pitchFamily="49" charset="0"/>
                <a:cs typeface="Courier New" pitchFamily="49" charset="0"/>
              </a:rPr>
              <a:t> </a:t>
            </a:r>
            <a:r>
              <a:rPr lang="en-US" sz="2000" b="1" dirty="0" err="1">
                <a:latin typeface="Courier New" pitchFamily="49" charset="0"/>
                <a:cs typeface="Courier New" pitchFamily="49" charset="0"/>
              </a:rPr>
              <a:t>int</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giai_thua</a:t>
            </a: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int</a:t>
            </a:r>
            <a:r>
              <a:rPr lang="en-US" sz="2000" dirty="0">
                <a:latin typeface="Courier New" pitchFamily="49" charset="0"/>
                <a:cs typeface="Courier New" pitchFamily="49" charset="0"/>
              </a:rPr>
              <a:t> </a:t>
            </a:r>
            <a:r>
              <a:rPr lang="en-US" sz="2000" dirty="0">
                <a:solidFill>
                  <a:srgbClr val="FF0000"/>
                </a:solidFill>
                <a:latin typeface="Courier New" pitchFamily="49" charset="0"/>
                <a:cs typeface="Courier New" pitchFamily="49" charset="0"/>
              </a:rPr>
              <a:t>n</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long</a:t>
            </a:r>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int</a:t>
            </a:r>
            <a:r>
              <a:rPr lang="en-US" sz="2000" dirty="0">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gt</a:t>
            </a:r>
            <a:r>
              <a:rPr lang="en-US" sz="2000" dirty="0">
                <a:latin typeface="Courier New" pitchFamily="49" charset="0"/>
                <a:cs typeface="Courier New" pitchFamily="49" charset="0"/>
              </a:rPr>
              <a:t>=1;</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if</a:t>
            </a:r>
            <a:r>
              <a:rPr lang="en-US" sz="2000" dirty="0">
                <a:latin typeface="Courier New" pitchFamily="49" charset="0"/>
                <a:cs typeface="Courier New" pitchFamily="49" charset="0"/>
              </a:rPr>
              <a:t> (</a:t>
            </a:r>
            <a:r>
              <a:rPr lang="en-US" sz="2000" dirty="0">
                <a:solidFill>
                  <a:srgbClr val="000066"/>
                </a:solidFill>
                <a:latin typeface="Courier New" pitchFamily="49" charset="0"/>
                <a:cs typeface="Courier New" pitchFamily="49" charset="0"/>
              </a:rPr>
              <a:t>n</a:t>
            </a:r>
            <a:r>
              <a:rPr lang="en-US" sz="2000" dirty="0">
                <a:latin typeface="Courier New" pitchFamily="49" charset="0"/>
                <a:cs typeface="Courier New" pitchFamily="49" charset="0"/>
              </a:rPr>
              <a:t>&gt;1)</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for</a:t>
            </a:r>
            <a:r>
              <a:rPr lang="en-US" sz="2000" dirty="0">
                <a:latin typeface="Courier New" pitchFamily="49" charset="0"/>
                <a:cs typeface="Courier New" pitchFamily="49" charset="0"/>
              </a:rPr>
              <a:t> (</a:t>
            </a:r>
            <a:r>
              <a:rPr lang="en-US" sz="2000" dirty="0" err="1">
                <a:solidFill>
                  <a:srgbClr val="FF0000"/>
                </a:solidFill>
                <a:latin typeface="Courier New" pitchFamily="49" charset="0"/>
                <a:cs typeface="Courier New" pitchFamily="49" charset="0"/>
              </a:rPr>
              <a:t>i</a:t>
            </a:r>
            <a:r>
              <a:rPr lang="en-US" sz="2000" dirty="0">
                <a:latin typeface="Courier New" pitchFamily="49" charset="0"/>
                <a:cs typeface="Courier New" pitchFamily="49" charset="0"/>
              </a:rPr>
              <a:t>=2;</a:t>
            </a:r>
            <a:r>
              <a:rPr lang="en-US" sz="2000" dirty="0">
                <a:solidFill>
                  <a:srgbClr val="FF0000"/>
                </a:solidFill>
                <a:latin typeface="Courier New" pitchFamily="49" charset="0"/>
                <a:cs typeface="Courier New" pitchFamily="49" charset="0"/>
              </a:rPr>
              <a:t>i</a:t>
            </a:r>
            <a:r>
              <a:rPr lang="en-US" sz="2000" dirty="0">
                <a:latin typeface="Courier New" pitchFamily="49" charset="0"/>
                <a:cs typeface="Courier New" pitchFamily="49" charset="0"/>
              </a:rPr>
              <a:t>&lt;=</a:t>
            </a:r>
            <a:r>
              <a:rPr lang="en-US" sz="2000" dirty="0" err="1">
                <a:solidFill>
                  <a:srgbClr val="000066"/>
                </a:solidFill>
                <a:latin typeface="Courier New" pitchFamily="49" charset="0"/>
                <a:cs typeface="Courier New" pitchFamily="49" charset="0"/>
              </a:rPr>
              <a:t>n</a:t>
            </a:r>
            <a:r>
              <a:rPr lang="en-US" sz="2000" dirty="0" err="1">
                <a:latin typeface="Courier New" pitchFamily="49" charset="0"/>
                <a:cs typeface="Courier New" pitchFamily="49" charset="0"/>
              </a:rPr>
              <a:t>;</a:t>
            </a:r>
            <a:r>
              <a:rPr lang="en-US" sz="2000" dirty="0" err="1">
                <a:solidFill>
                  <a:srgbClr val="FF0000"/>
                </a:solidFill>
                <a:latin typeface="Courier New" pitchFamily="49" charset="0"/>
                <a:cs typeface="Courier New" pitchFamily="49" charset="0"/>
              </a:rPr>
              <a:t>i</a:t>
            </a:r>
            <a:r>
              <a:rPr lang="en-US" sz="2000" dirty="0">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gt</a:t>
            </a:r>
            <a:r>
              <a:rPr lang="en-US" sz="2000" dirty="0">
                <a:latin typeface="Courier New" pitchFamily="49" charset="0"/>
                <a:cs typeface="Courier New" pitchFamily="49" charset="0"/>
              </a:rPr>
              <a:t>*=</a:t>
            </a:r>
            <a:r>
              <a:rPr lang="en-US" sz="2000" dirty="0" err="1">
                <a:solidFill>
                  <a:srgbClr val="FF0000"/>
                </a:solidFill>
                <a:latin typeface="Courier New" pitchFamily="49" charset="0"/>
                <a:cs typeface="Courier New" pitchFamily="49" charset="0"/>
              </a:rPr>
              <a:t>i</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a:latin typeface="Courier New" pitchFamily="49" charset="0"/>
                <a:cs typeface="Courier New" pitchFamily="49" charset="0"/>
              </a:rPr>
              <a:t>return</a:t>
            </a:r>
            <a:r>
              <a:rPr lang="en-US" sz="2000" dirty="0">
                <a:latin typeface="Courier New" pitchFamily="49" charset="0"/>
                <a:cs typeface="Courier New" pitchFamily="49" charset="0"/>
              </a:rPr>
              <a:t> (</a:t>
            </a:r>
            <a:r>
              <a:rPr lang="en-US" sz="2000" dirty="0" err="1">
                <a:solidFill>
                  <a:srgbClr val="0000FF"/>
                </a:solidFill>
                <a:latin typeface="Courier New" pitchFamily="49" charset="0"/>
                <a:cs typeface="Courier New" pitchFamily="49" charset="0"/>
              </a:rPr>
              <a:t>gt</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main()</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b="1" dirty="0" err="1">
                <a:latin typeface="Courier New" pitchFamily="49" charset="0"/>
                <a:cs typeface="Courier New" pitchFamily="49" charset="0"/>
              </a:rPr>
              <a:t>int</a:t>
            </a:r>
            <a:r>
              <a:rPr lang="en-US" sz="2000" dirty="0">
                <a:latin typeface="Courier New" pitchFamily="49" charset="0"/>
                <a:cs typeface="Courier New" pitchFamily="49" charset="0"/>
              </a:rPr>
              <a:t> n;</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printf</a:t>
            </a: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Nhap</a:t>
            </a:r>
            <a:r>
              <a:rPr lang="en-US" sz="2000" dirty="0">
                <a:latin typeface="Courier New" pitchFamily="49" charset="0"/>
                <a:cs typeface="Courier New" pitchFamily="49" charset="0"/>
              </a:rPr>
              <a:t> n = “); </a:t>
            </a:r>
            <a:r>
              <a:rPr lang="en-US" sz="2000" dirty="0" err="1">
                <a:latin typeface="Courier New" pitchFamily="49" charset="0"/>
                <a:cs typeface="Courier New" pitchFamily="49" charset="0"/>
              </a:rPr>
              <a:t>scanf</a:t>
            </a:r>
            <a:r>
              <a:rPr lang="en-US" sz="2000" dirty="0">
                <a:latin typeface="Courier New" pitchFamily="49" charset="0"/>
                <a:cs typeface="Courier New" pitchFamily="49" charset="0"/>
              </a:rPr>
              <a:t>(“%</a:t>
            </a:r>
            <a:r>
              <a:rPr lang="en-US" sz="2000" dirty="0" err="1">
                <a:latin typeface="Courier New" pitchFamily="49" charset="0"/>
                <a:cs typeface="Courier New" pitchFamily="49" charset="0"/>
              </a:rPr>
              <a:t>d”,&amp;</a:t>
            </a:r>
            <a:r>
              <a:rPr lang="en-US" sz="2000" dirty="0" err="1">
                <a:solidFill>
                  <a:srgbClr val="000066"/>
                </a:solidFill>
                <a:latin typeface="Courier New" pitchFamily="49" charset="0"/>
                <a:cs typeface="Courier New" pitchFamily="49" charset="0"/>
              </a:rPr>
              <a:t>n</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	</a:t>
            </a:r>
            <a:r>
              <a:rPr lang="en-US" sz="2000" dirty="0" err="1">
                <a:latin typeface="Courier New" pitchFamily="49" charset="0"/>
                <a:cs typeface="Courier New" pitchFamily="49" charset="0"/>
              </a:rPr>
              <a:t>printf</a:t>
            </a:r>
            <a:r>
              <a:rPr lang="en-US" sz="2000" dirty="0">
                <a:latin typeface="Courier New" pitchFamily="49" charset="0"/>
                <a:cs typeface="Courier New" pitchFamily="49" charset="0"/>
              </a:rPr>
              <a:t>(“\n %d! = %</a:t>
            </a:r>
            <a:r>
              <a:rPr lang="en-US" sz="2000" dirty="0" err="1">
                <a:latin typeface="Courier New" pitchFamily="49" charset="0"/>
                <a:cs typeface="Courier New" pitchFamily="49" charset="0"/>
              </a:rPr>
              <a:t>ld</a:t>
            </a:r>
            <a:r>
              <a:rPr lang="en-US" sz="2000" dirty="0">
                <a:latin typeface="Courier New" pitchFamily="49" charset="0"/>
                <a:cs typeface="Courier New" pitchFamily="49" charset="0"/>
              </a:rPr>
              <a:t>\n”,</a:t>
            </a:r>
            <a:r>
              <a:rPr lang="en-US" sz="2000" dirty="0" err="1">
                <a:latin typeface="Courier New" pitchFamily="49" charset="0"/>
                <a:cs typeface="Courier New" pitchFamily="49" charset="0"/>
              </a:rPr>
              <a:t>n,</a:t>
            </a:r>
            <a:r>
              <a:rPr lang="en-US" sz="2000" dirty="0" err="1">
                <a:solidFill>
                  <a:srgbClr val="FF0000"/>
                </a:solidFill>
                <a:latin typeface="Courier New" pitchFamily="49" charset="0"/>
                <a:cs typeface="Courier New" pitchFamily="49" charset="0"/>
              </a:rPr>
              <a:t>giai_thua</a:t>
            </a:r>
            <a:r>
              <a:rPr lang="en-US" sz="2000" dirty="0">
                <a:latin typeface="Courier New" pitchFamily="49" charset="0"/>
                <a:cs typeface="Courier New" pitchFamily="49" charset="0"/>
              </a:rPr>
              <a:t>(</a:t>
            </a:r>
            <a:r>
              <a:rPr lang="en-US" sz="2000" dirty="0">
                <a:solidFill>
                  <a:srgbClr val="000066"/>
                </a:solidFill>
                <a:latin typeface="Courier New" pitchFamily="49" charset="0"/>
                <a:cs typeface="Courier New" pitchFamily="49" charset="0"/>
              </a:rPr>
              <a:t>n</a:t>
            </a:r>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p:txBody>
      </p:sp>
      <p:sp>
        <p:nvSpPr>
          <p:cNvPr id="10" name="Rounded Rectangle 9"/>
          <p:cNvSpPr/>
          <p:nvPr/>
        </p:nvSpPr>
        <p:spPr>
          <a:xfrm>
            <a:off x="820616" y="1665500"/>
            <a:ext cx="152400" cy="467228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2" name="Slide Number Placeholder 11"/>
          <p:cNvSpPr>
            <a:spLocks noGrp="1"/>
          </p:cNvSpPr>
          <p:nvPr>
            <p:ph type="sldNum" sz="quarter" idx="12"/>
          </p:nvPr>
        </p:nvSpPr>
        <p:spPr/>
        <p:txBody>
          <a:bodyPr/>
          <a:lstStyle/>
          <a:p>
            <a:fld id="{5AB95402-1E0D-474E-8D8C-CBE7F053639E}" type="slidenum">
              <a:rPr lang="vi-VN" smtClean="0"/>
              <a:pPr/>
              <a:t>18</a:t>
            </a:fld>
            <a:r>
              <a:rPr lang="vi-VN"/>
              <a:t>/43</a:t>
            </a:r>
          </a:p>
        </p:txBody>
      </p:sp>
    </p:spTree>
    <p:extLst>
      <p:ext uri="{BB962C8B-B14F-4D97-AF65-F5344CB8AC3E}">
        <p14:creationId xmlns:p14="http://schemas.microsoft.com/office/powerpoint/2010/main" val="2416447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animEffect transition="in" filter="wipe(left)">
                                      <p:cBhvr>
                                        <p:cTn id="11" dur="500"/>
                                        <p:tgtEl>
                                          <p:spTgt spid="7">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wipe(left)">
                                      <p:cBhvr>
                                        <p:cTn id="15" dur="500"/>
                                        <p:tgtEl>
                                          <p:spTgt spid="7">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animEffect transition="in" filter="wipe(left)">
                                      <p:cBhvr>
                                        <p:cTn id="19" dur="500"/>
                                        <p:tgtEl>
                                          <p:spTgt spid="7">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wipe(left)">
                                      <p:cBhvr>
                                        <p:cTn id="23" dur="500"/>
                                        <p:tgtEl>
                                          <p:spTgt spid="7">
                                            <p:txEl>
                                              <p:pRg st="4" end="4"/>
                                            </p:txEl>
                                          </p:spTgt>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animEffect transition="in" filter="wipe(left)">
                                      <p:cBhvr>
                                        <p:cTn id="27" dur="500"/>
                                        <p:tgtEl>
                                          <p:spTgt spid="7">
                                            <p:txEl>
                                              <p:pRg st="5" end="5"/>
                                            </p:txEl>
                                          </p:spTgt>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animEffect transition="in" filter="wipe(left)">
                                      <p:cBhvr>
                                        <p:cTn id="31" dur="500"/>
                                        <p:tgtEl>
                                          <p:spTgt spid="7">
                                            <p:txEl>
                                              <p:pRg st="6" end="6"/>
                                            </p:txEl>
                                          </p:spTgt>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7">
                                            <p:txEl>
                                              <p:pRg st="7" end="7"/>
                                            </p:txEl>
                                          </p:spTgt>
                                        </p:tgtEl>
                                        <p:attrNameLst>
                                          <p:attrName>style.visibility</p:attrName>
                                        </p:attrNameLst>
                                      </p:cBhvr>
                                      <p:to>
                                        <p:strVal val="visible"/>
                                      </p:to>
                                    </p:set>
                                    <p:animEffect transition="in" filter="wipe(left)">
                                      <p:cBhvr>
                                        <p:cTn id="34" dur="500"/>
                                        <p:tgtEl>
                                          <p:spTgt spid="7">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wipe(left)">
                                      <p:cBhvr>
                                        <p:cTn id="39" dur="500"/>
                                        <p:tgtEl>
                                          <p:spTgt spid="7">
                                            <p:txEl>
                                              <p:pRg st="8" end="8"/>
                                            </p:txEl>
                                          </p:spTgt>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7">
                                            <p:txEl>
                                              <p:pRg st="9" end="9"/>
                                            </p:txEl>
                                          </p:spTgt>
                                        </p:tgtEl>
                                        <p:attrNameLst>
                                          <p:attrName>style.visibility</p:attrName>
                                        </p:attrNameLst>
                                      </p:cBhvr>
                                      <p:to>
                                        <p:strVal val="visible"/>
                                      </p:to>
                                    </p:set>
                                    <p:animEffect transition="in" filter="wipe(left)">
                                      <p:cBhvr>
                                        <p:cTn id="43" dur="500"/>
                                        <p:tgtEl>
                                          <p:spTgt spid="7">
                                            <p:txEl>
                                              <p:pRg st="9" end="9"/>
                                            </p:txEl>
                                          </p:spTgt>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7">
                                            <p:txEl>
                                              <p:pRg st="10" end="10"/>
                                            </p:txEl>
                                          </p:spTgt>
                                        </p:tgtEl>
                                        <p:attrNameLst>
                                          <p:attrName>style.visibility</p:attrName>
                                        </p:attrNameLst>
                                      </p:cBhvr>
                                      <p:to>
                                        <p:strVal val="visible"/>
                                      </p:to>
                                    </p:set>
                                    <p:animEffect transition="in" filter="wipe(left)">
                                      <p:cBhvr>
                                        <p:cTn id="47" dur="500"/>
                                        <p:tgtEl>
                                          <p:spTgt spid="7">
                                            <p:txEl>
                                              <p:pRg st="10" end="10"/>
                                            </p:txEl>
                                          </p:spTgt>
                                        </p:tgtEl>
                                      </p:cBhvr>
                                    </p:animEffect>
                                  </p:childTnLst>
                                </p:cTn>
                              </p:par>
                            </p:childTnLst>
                          </p:cTn>
                        </p:par>
                        <p:par>
                          <p:cTn id="48" fill="hold">
                            <p:stCondLst>
                              <p:cond delay="1500"/>
                            </p:stCondLst>
                            <p:childTnLst>
                              <p:par>
                                <p:cTn id="49" presetID="22" presetClass="entr" presetSubtype="8" fill="hold" grpId="0" nodeType="afterEffect">
                                  <p:stCondLst>
                                    <p:cond delay="0"/>
                                  </p:stCondLst>
                                  <p:childTnLst>
                                    <p:set>
                                      <p:cBhvr>
                                        <p:cTn id="50" dur="1" fill="hold">
                                          <p:stCondLst>
                                            <p:cond delay="0"/>
                                          </p:stCondLst>
                                        </p:cTn>
                                        <p:tgtEl>
                                          <p:spTgt spid="7">
                                            <p:txEl>
                                              <p:pRg st="11" end="11"/>
                                            </p:txEl>
                                          </p:spTgt>
                                        </p:tgtEl>
                                        <p:attrNameLst>
                                          <p:attrName>style.visibility</p:attrName>
                                        </p:attrNameLst>
                                      </p:cBhvr>
                                      <p:to>
                                        <p:strVal val="visible"/>
                                      </p:to>
                                    </p:set>
                                    <p:animEffect transition="in" filter="wipe(left)">
                                      <p:cBhvr>
                                        <p:cTn id="51" dur="500"/>
                                        <p:tgtEl>
                                          <p:spTgt spid="7">
                                            <p:txEl>
                                              <p:pRg st="11" end="11"/>
                                            </p:txEl>
                                          </p:spTgt>
                                        </p:tgtEl>
                                      </p:cBhvr>
                                    </p:animEffect>
                                  </p:childTnLst>
                                </p:cTn>
                              </p:par>
                            </p:childTnLst>
                          </p:cTn>
                        </p:par>
                        <p:par>
                          <p:cTn id="52" fill="hold">
                            <p:stCondLst>
                              <p:cond delay="2000"/>
                            </p:stCondLst>
                            <p:childTnLst>
                              <p:par>
                                <p:cTn id="53" presetID="22" presetClass="entr" presetSubtype="8" fill="hold" grpId="0" nodeType="afterEffect">
                                  <p:stCondLst>
                                    <p:cond delay="0"/>
                                  </p:stCondLst>
                                  <p:childTnLst>
                                    <p:set>
                                      <p:cBhvr>
                                        <p:cTn id="54" dur="1" fill="hold">
                                          <p:stCondLst>
                                            <p:cond delay="0"/>
                                          </p:stCondLst>
                                        </p:cTn>
                                        <p:tgtEl>
                                          <p:spTgt spid="7">
                                            <p:txEl>
                                              <p:pRg st="12" end="12"/>
                                            </p:txEl>
                                          </p:spTgt>
                                        </p:tgtEl>
                                        <p:attrNameLst>
                                          <p:attrName>style.visibility</p:attrName>
                                        </p:attrNameLst>
                                      </p:cBhvr>
                                      <p:to>
                                        <p:strVal val="visible"/>
                                      </p:to>
                                    </p:set>
                                    <p:animEffect transition="in" filter="wipe(left)">
                                      <p:cBhvr>
                                        <p:cTn id="55" dur="500"/>
                                        <p:tgtEl>
                                          <p:spTgt spid="7">
                                            <p:txEl>
                                              <p:pRg st="12" end="12"/>
                                            </p:txEl>
                                          </p:spTgt>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7">
                                            <p:txEl>
                                              <p:pRg st="13" end="13"/>
                                            </p:txEl>
                                          </p:spTgt>
                                        </p:tgtEl>
                                        <p:attrNameLst>
                                          <p:attrName>style.visibility</p:attrName>
                                        </p:attrNameLst>
                                      </p:cBhvr>
                                      <p:to>
                                        <p:strVal val="visible"/>
                                      </p:to>
                                    </p:set>
                                    <p:animEffect transition="in" filter="wipe(left)">
                                      <p:cBhvr>
                                        <p:cTn id="58" dur="500"/>
                                        <p:tgtEl>
                                          <p:spTgt spid="7">
                                            <p:txEl>
                                              <p:pRg st="13" end="13"/>
                                            </p:txEl>
                                          </p:spTgt>
                                        </p:tgtEl>
                                      </p:cBhvr>
                                    </p:animEffect>
                                  </p:childTnLst>
                                </p:cTn>
                              </p:par>
                            </p:childTnLst>
                          </p:cTn>
                        </p:par>
                        <p:par>
                          <p:cTn id="59" fill="hold">
                            <p:stCondLst>
                              <p:cond delay="2500"/>
                            </p:stCondLst>
                            <p:childTnLst>
                              <p:par>
                                <p:cTn id="60" presetID="22" presetClass="entr" presetSubtype="1" fill="hold"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up)">
                                      <p:cBhvr>
                                        <p:cTn id="6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t>4.3 Tầm tác dụng của biến</a:t>
            </a:r>
          </a:p>
        </p:txBody>
      </p:sp>
      <p:sp>
        <p:nvSpPr>
          <p:cNvPr id="3" name="Content Placeholder 2"/>
          <p:cNvSpPr>
            <a:spLocks noGrp="1"/>
          </p:cNvSpPr>
          <p:nvPr>
            <p:ph idx="1"/>
          </p:nvPr>
        </p:nvSpPr>
        <p:spPr/>
        <p:txBody>
          <a:bodyPr/>
          <a:lstStyle/>
          <a:p>
            <a:pPr>
              <a:defRPr/>
            </a:pPr>
            <a:r>
              <a:rPr lang="en-US"/>
              <a:t>Các loại biến</a:t>
            </a:r>
          </a:p>
          <a:p>
            <a:pPr lvl="1">
              <a:defRPr/>
            </a:pPr>
            <a:r>
              <a:rPr lang="en-US">
                <a:solidFill>
                  <a:srgbClr val="FF0000"/>
                </a:solidFill>
              </a:rPr>
              <a:t>Toàn cục: </a:t>
            </a:r>
            <a:r>
              <a:rPr lang="en-US"/>
              <a:t>khai báo ngoài tất cả các hàm và có tác dụng lên toàn bộ ch</a:t>
            </a:r>
            <a:r>
              <a:rPr lang="vi-VN"/>
              <a:t>ươ</a:t>
            </a:r>
            <a:r>
              <a:rPr lang="en-US"/>
              <a:t>ng trình.</a:t>
            </a:r>
          </a:p>
          <a:p>
            <a:pPr lvl="1">
              <a:defRPr/>
            </a:pPr>
            <a:r>
              <a:rPr lang="en-US">
                <a:solidFill>
                  <a:srgbClr val="FF0000"/>
                </a:solidFill>
              </a:rPr>
              <a:t>Cục bộ: </a:t>
            </a:r>
            <a:r>
              <a:rPr lang="en-US"/>
              <a:t>khai báo trong hàm hoặc khối </a:t>
            </a:r>
            <a:r>
              <a:rPr lang="en-US">
                <a:solidFill>
                  <a:srgbClr val="FF0000"/>
                </a:solidFill>
              </a:rPr>
              <a:t>{ }</a:t>
            </a:r>
            <a:r>
              <a:rPr lang="en-US"/>
              <a:t> và chỉ có tác dụng trong bản thân hàm hoặc khối </a:t>
            </a:r>
            <a:r>
              <a:rPr lang="vi-VN"/>
              <a:t>đó</a:t>
            </a:r>
            <a:r>
              <a:rPr lang="en-US"/>
              <a:t> (kể cả khối con nó). Biến cục bộ sẽ bị xóa khỏi bộ nhớ khi kết thúc khối khai báo nó.</a:t>
            </a:r>
          </a:p>
        </p:txBody>
      </p:sp>
      <p:sp>
        <p:nvSpPr>
          <p:cNvPr id="2" name="Date Placeholder 1"/>
          <p:cNvSpPr>
            <a:spLocks noGrp="1"/>
          </p:cNvSpPr>
          <p:nvPr>
            <p:ph type="dt" sz="half" idx="10"/>
          </p:nvPr>
        </p:nvSpPr>
        <p:spPr/>
        <p:txBody>
          <a:bodyPr/>
          <a:lstStyle/>
          <a:p>
            <a:fld id="{08F19F6C-8811-4B4D-BE6A-FCFF8AE5C614}" type="datetime1">
              <a:rPr lang="vi-VN" smtClean="0"/>
              <a:t>09/05/2023</a:t>
            </a:fld>
            <a:endParaRPr lang="vi-VN"/>
          </a:p>
        </p:txBody>
      </p:sp>
      <p:sp>
        <p:nvSpPr>
          <p:cNvPr id="27652" name="Footer Placeholder 3"/>
          <p:cNvSpPr>
            <a:spLocks noGrp="1"/>
          </p:cNvSpPr>
          <p:nvPr>
            <p:ph type="ftr" sz="quarter" idx="11"/>
          </p:nvPr>
        </p:nvSpPr>
        <p:spPr>
          <a:noFill/>
        </p:spPr>
        <p:txBody>
          <a:bodyPr/>
          <a:lstStyle/>
          <a:p>
            <a:r>
              <a:rPr lang="vi-VN"/>
              <a:t>Chương 4 - Chương trình con</a:t>
            </a:r>
            <a:endParaRPr lang="en-US"/>
          </a:p>
        </p:txBody>
      </p:sp>
      <p:sp>
        <p:nvSpPr>
          <p:cNvPr id="5" name="Rectangle 4"/>
          <p:cNvSpPr/>
          <p:nvPr/>
        </p:nvSpPr>
        <p:spPr>
          <a:xfrm>
            <a:off x="827584" y="3970799"/>
            <a:ext cx="7704856" cy="2554545"/>
          </a:xfrm>
          <a:prstGeom prst="rect">
            <a:avLst/>
          </a:prstGeom>
        </p:spPr>
        <p:txBody>
          <a:bodyPr wrap="square">
            <a:spAutoFit/>
          </a:bodyPr>
          <a:lstStyle/>
          <a:p>
            <a:r>
              <a:rPr lang="en-US" sz="2000" dirty="0">
                <a:latin typeface="Courier New" pitchFamily="49" charset="0"/>
                <a:cs typeface="Courier New" pitchFamily="49" charset="0"/>
              </a:rPr>
              <a:t>#include &lt;</a:t>
            </a:r>
            <a:r>
              <a:rPr lang="en-US" sz="2000" dirty="0" err="1">
                <a:latin typeface="Courier New" pitchFamily="49" charset="0"/>
                <a:cs typeface="Courier New" pitchFamily="49" charset="0"/>
              </a:rPr>
              <a:t>stdio.h</a:t>
            </a:r>
            <a:r>
              <a:rPr lang="en-US" sz="2000" dirty="0">
                <a:latin typeface="Courier New" pitchFamily="49" charset="0"/>
                <a:cs typeface="Courier New" pitchFamily="49" charset="0"/>
              </a:rPr>
              <a:t>&gt;</a:t>
            </a:r>
            <a:endParaRPr lang="vi-VN" sz="2000" dirty="0">
              <a:latin typeface="Courier New" pitchFamily="49" charset="0"/>
              <a:cs typeface="Courier New" pitchFamily="49" charset="0"/>
            </a:endParaRPr>
          </a:p>
          <a:p>
            <a:r>
              <a:rPr lang="fr-FR" sz="2000" dirty="0" err="1">
                <a:solidFill>
                  <a:srgbClr val="FF0000"/>
                </a:solidFill>
                <a:latin typeface="Courier New" pitchFamily="49" charset="0"/>
                <a:cs typeface="Courier New" pitchFamily="49" charset="0"/>
              </a:rPr>
              <a:t>int</a:t>
            </a:r>
            <a:r>
              <a:rPr lang="fr-FR" sz="2000" dirty="0">
                <a:solidFill>
                  <a:srgbClr val="FF0000"/>
                </a:solidFill>
                <a:latin typeface="Courier New" pitchFamily="49" charset="0"/>
                <a:cs typeface="Courier New" pitchFamily="49" charset="0"/>
              </a:rPr>
              <a:t> i; /*Bien </a:t>
            </a:r>
            <a:r>
              <a:rPr lang="fr-FR" sz="2000" dirty="0" err="1">
                <a:solidFill>
                  <a:srgbClr val="FF0000"/>
                </a:solidFill>
                <a:latin typeface="Courier New" pitchFamily="49" charset="0"/>
                <a:cs typeface="Courier New" pitchFamily="49" charset="0"/>
              </a:rPr>
              <a:t>toan</a:t>
            </a:r>
            <a:r>
              <a:rPr lang="fr-FR" sz="2000" dirty="0">
                <a:solidFill>
                  <a:srgbClr val="FF0000"/>
                </a:solidFill>
                <a:latin typeface="Courier New" pitchFamily="49" charset="0"/>
                <a:cs typeface="Courier New" pitchFamily="49" charset="0"/>
              </a:rPr>
              <a:t> </a:t>
            </a:r>
            <a:r>
              <a:rPr lang="fr-FR" sz="2000" dirty="0" err="1">
                <a:solidFill>
                  <a:srgbClr val="FF0000"/>
                </a:solidFill>
                <a:latin typeface="Courier New" pitchFamily="49" charset="0"/>
                <a:cs typeface="Courier New" pitchFamily="49" charset="0"/>
              </a:rPr>
              <a:t>cuc</a:t>
            </a:r>
            <a:r>
              <a:rPr lang="fr-FR" sz="2000" dirty="0">
                <a:solidFill>
                  <a:srgbClr val="FF0000"/>
                </a:solidFill>
                <a:latin typeface="Courier New" pitchFamily="49" charset="0"/>
                <a:cs typeface="Courier New" pitchFamily="49" charset="0"/>
              </a:rPr>
              <a:t> */</a:t>
            </a:r>
            <a:endParaRPr lang="vi-VN" sz="2000" dirty="0">
              <a:solidFill>
                <a:srgbClr val="FF0000"/>
              </a:solidFill>
              <a:latin typeface="Courier New" pitchFamily="49" charset="0"/>
              <a:cs typeface="Courier New" pitchFamily="49" charset="0"/>
            </a:endParaRPr>
          </a:p>
          <a:p>
            <a:r>
              <a:rPr lang="fr-FR" sz="2000" dirty="0">
                <a:latin typeface="Courier New" pitchFamily="49" charset="0"/>
                <a:cs typeface="Courier New" pitchFamily="49" charset="0"/>
              </a:rPr>
              <a:t>main()</a:t>
            </a:r>
            <a:endParaRPr lang="vi-VN" sz="2000" dirty="0">
              <a:latin typeface="Courier New" pitchFamily="49" charset="0"/>
              <a:cs typeface="Courier New" pitchFamily="49" charset="0"/>
            </a:endParaRPr>
          </a:p>
          <a:p>
            <a:r>
              <a:rPr lang="fr-FR" sz="2000" dirty="0">
                <a:latin typeface="Courier New" pitchFamily="49" charset="0"/>
                <a:cs typeface="Courier New" pitchFamily="49" charset="0"/>
              </a:rPr>
              <a:t>{ … }</a:t>
            </a:r>
            <a:endParaRPr lang="vi-VN" sz="2000" dirty="0">
              <a:latin typeface="Courier New" pitchFamily="49" charset="0"/>
              <a:cs typeface="Courier New" pitchFamily="49" charset="0"/>
            </a:endParaRPr>
          </a:p>
          <a:p>
            <a:r>
              <a:rPr lang="fr-FR" sz="2000" dirty="0" err="1">
                <a:latin typeface="Courier New" pitchFamily="49" charset="0"/>
                <a:cs typeface="Courier New" pitchFamily="49" charset="0"/>
              </a:rPr>
              <a:t>void</a:t>
            </a:r>
            <a:r>
              <a:rPr lang="fr-FR" sz="2000" dirty="0">
                <a:latin typeface="Courier New" pitchFamily="49" charset="0"/>
                <a:cs typeface="Courier New" pitchFamily="49" charset="0"/>
              </a:rPr>
              <a:t> </a:t>
            </a:r>
            <a:r>
              <a:rPr lang="fr-FR" sz="2000" dirty="0" err="1">
                <a:latin typeface="Courier New" pitchFamily="49" charset="0"/>
                <a:cs typeface="Courier New" pitchFamily="49" charset="0"/>
              </a:rPr>
              <a:t>thi_du</a:t>
            </a:r>
            <a:r>
              <a:rPr lang="fr-FR"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fr-FR" sz="2000" dirty="0">
                <a:latin typeface="Courier New" pitchFamily="49" charset="0"/>
                <a:cs typeface="Courier New" pitchFamily="49" charset="0"/>
              </a:rPr>
              <a:t>{</a:t>
            </a:r>
            <a:endParaRPr lang="vi-VN" sz="2000" dirty="0">
              <a:latin typeface="Courier New" pitchFamily="49" charset="0"/>
              <a:cs typeface="Courier New" pitchFamily="49" charset="0"/>
            </a:endParaRPr>
          </a:p>
          <a:p>
            <a:r>
              <a:rPr lang="fr-FR" sz="2000" dirty="0">
                <a:latin typeface="Courier New" pitchFamily="49" charset="0"/>
                <a:cs typeface="Courier New" pitchFamily="49" charset="0"/>
              </a:rPr>
              <a:t>	</a:t>
            </a:r>
            <a:r>
              <a:rPr lang="fr-FR" sz="2000" dirty="0" err="1">
                <a:solidFill>
                  <a:srgbClr val="FF0000"/>
                </a:solidFill>
                <a:latin typeface="Courier New" pitchFamily="49" charset="0"/>
                <a:cs typeface="Courier New" pitchFamily="49" charset="0"/>
              </a:rPr>
              <a:t>int</a:t>
            </a:r>
            <a:r>
              <a:rPr lang="fr-FR" sz="2000" dirty="0">
                <a:solidFill>
                  <a:srgbClr val="FF0000"/>
                </a:solidFill>
                <a:latin typeface="Courier New" pitchFamily="49" charset="0"/>
                <a:cs typeface="Courier New" pitchFamily="49" charset="0"/>
              </a:rPr>
              <a:t> m=3; /*Bien </a:t>
            </a:r>
            <a:r>
              <a:rPr lang="fr-FR" sz="2000" dirty="0" err="1">
                <a:solidFill>
                  <a:srgbClr val="FF0000"/>
                </a:solidFill>
                <a:latin typeface="Courier New" pitchFamily="49" charset="0"/>
                <a:cs typeface="Courier New" pitchFamily="49" charset="0"/>
              </a:rPr>
              <a:t>cuc</a:t>
            </a:r>
            <a:r>
              <a:rPr lang="fr-FR" sz="2000" dirty="0">
                <a:solidFill>
                  <a:srgbClr val="FF0000"/>
                </a:solidFill>
                <a:latin typeface="Courier New" pitchFamily="49" charset="0"/>
                <a:cs typeface="Courier New" pitchFamily="49" charset="0"/>
              </a:rPr>
              <a:t> </a:t>
            </a:r>
            <a:r>
              <a:rPr lang="fr-FR" sz="2000" dirty="0" err="1">
                <a:solidFill>
                  <a:srgbClr val="FF0000"/>
                </a:solidFill>
                <a:latin typeface="Courier New" pitchFamily="49" charset="0"/>
                <a:cs typeface="Courier New" pitchFamily="49" charset="0"/>
              </a:rPr>
              <a:t>bo</a:t>
            </a:r>
            <a:r>
              <a:rPr lang="fr-FR" sz="2000" dirty="0">
                <a:solidFill>
                  <a:srgbClr val="FF0000"/>
                </a:solidFill>
                <a:latin typeface="Courier New" pitchFamily="49" charset="0"/>
                <a:cs typeface="Courier New" pitchFamily="49" charset="0"/>
              </a:rPr>
              <a:t> */</a:t>
            </a:r>
            <a:endParaRPr lang="vi-VN" sz="2000" dirty="0">
              <a:solidFill>
                <a:srgbClr val="FF0000"/>
              </a:solidFill>
              <a:latin typeface="Courier New" pitchFamily="49" charset="0"/>
              <a:cs typeface="Courier New" pitchFamily="49" charset="0"/>
            </a:endParaRPr>
          </a:p>
          <a:p>
            <a:r>
              <a:rPr lang="en-US" sz="2000" dirty="0">
                <a:latin typeface="Courier New" pitchFamily="49" charset="0"/>
                <a:cs typeface="Courier New" pitchFamily="49" charset="0"/>
              </a:rPr>
              <a:t>}</a:t>
            </a:r>
            <a:endParaRPr lang="vi-VN" sz="2000" dirty="0">
              <a:latin typeface="Courier New" pitchFamily="49" charset="0"/>
              <a:cs typeface="Courier New" pitchFamily="49" charset="0"/>
            </a:endParaRPr>
          </a:p>
        </p:txBody>
      </p:sp>
      <p:sp>
        <p:nvSpPr>
          <p:cNvPr id="8" name="Rectangle 7"/>
          <p:cNvSpPr>
            <a:spLocks/>
          </p:cNvSpPr>
          <p:nvPr/>
        </p:nvSpPr>
        <p:spPr bwMode="auto">
          <a:xfrm>
            <a:off x="-8059" y="442034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9959" y="5805264"/>
            <a:ext cx="9128125" cy="304800"/>
          </a:xfrm>
          <a:prstGeom prst="rect">
            <a:avLst/>
          </a:prstGeom>
          <a:solidFill>
            <a:srgbClr val="0099FF">
              <a:alpha val="20000"/>
            </a:srgbClr>
          </a:solidFill>
          <a:ln w="9525" algn="ctr">
            <a:noFill/>
            <a:miter lim="800000"/>
            <a:headEnd/>
            <a:tailEnd/>
          </a:ln>
        </p:spPr>
        <p:txBody>
          <a:bodyPr/>
          <a:lstStyle/>
          <a:p>
            <a:endParaRPr lang="en-US"/>
          </a:p>
        </p:txBody>
      </p:sp>
      <p:sp>
        <p:nvSpPr>
          <p:cNvPr id="10" name="Rounded Rectangle 9"/>
          <p:cNvSpPr/>
          <p:nvPr/>
        </p:nvSpPr>
        <p:spPr>
          <a:xfrm>
            <a:off x="683568" y="4077072"/>
            <a:ext cx="152400" cy="2304256"/>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7" name="Slide Number Placeholder 6"/>
          <p:cNvSpPr>
            <a:spLocks noGrp="1"/>
          </p:cNvSpPr>
          <p:nvPr>
            <p:ph type="sldNum" sz="quarter" idx="12"/>
          </p:nvPr>
        </p:nvSpPr>
        <p:spPr/>
        <p:txBody>
          <a:bodyPr/>
          <a:lstStyle/>
          <a:p>
            <a:fld id="{5AB95402-1E0D-474E-8D8C-CBE7F053639E}" type="slidenum">
              <a:rPr lang="vi-VN" smtClean="0"/>
              <a:pPr/>
              <a:t>19</a:t>
            </a:fld>
            <a:r>
              <a:rPr lang="vi-VN"/>
              <a:t>/43</a:t>
            </a:r>
          </a:p>
        </p:txBody>
      </p:sp>
    </p:spTree>
    <p:extLst>
      <p:ext uri="{BB962C8B-B14F-4D97-AF65-F5344CB8AC3E}">
        <p14:creationId xmlns:p14="http://schemas.microsoft.com/office/powerpoint/2010/main" val="241504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up)">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5">
                                            <p:txEl>
                                              <p:pRg st="2" end="2"/>
                                            </p:txEl>
                                          </p:spTgt>
                                        </p:tgtEl>
                                        <p:attrNameLst>
                                          <p:attrName>style.visibility</p:attrName>
                                        </p:attrNameLst>
                                      </p:cBhvr>
                                      <p:to>
                                        <p:strVal val="visible"/>
                                      </p:to>
                                    </p:set>
                                    <p:animEffect transition="in" filter="wipe(left)">
                                      <p:cBhvr>
                                        <p:cTn id="25" dur="500"/>
                                        <p:tgtEl>
                                          <p:spTgt spid="5">
                                            <p:txEl>
                                              <p:pRg st="2" end="2"/>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5">
                                            <p:txEl>
                                              <p:pRg st="3" end="3"/>
                                            </p:txEl>
                                          </p:spTgt>
                                        </p:tgtEl>
                                        <p:attrNameLst>
                                          <p:attrName>style.visibility</p:attrName>
                                        </p:attrNameLst>
                                      </p:cBhvr>
                                      <p:to>
                                        <p:strVal val="visible"/>
                                      </p:to>
                                    </p:set>
                                    <p:animEffect transition="in" filter="wipe(left)">
                                      <p:cBhvr>
                                        <p:cTn id="29" dur="500"/>
                                        <p:tgtEl>
                                          <p:spTgt spid="5">
                                            <p:txEl>
                                              <p:pRg st="3" end="3"/>
                                            </p:txEl>
                                          </p:spTgt>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animEffect transition="in" filter="wipe(left)">
                                      <p:cBhvr>
                                        <p:cTn id="33" dur="500"/>
                                        <p:tgtEl>
                                          <p:spTgt spid="5">
                                            <p:txEl>
                                              <p:pRg st="4" end="4"/>
                                            </p:txEl>
                                          </p:spTgt>
                                        </p:tgtEl>
                                      </p:cBhvr>
                                    </p:animEffect>
                                  </p:childTnLst>
                                </p:cTn>
                              </p:par>
                            </p:childTnLst>
                          </p:cTn>
                        </p:par>
                        <p:par>
                          <p:cTn id="34" fill="hold">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Effect transition="in" filter="wipe(left)">
                                      <p:cBhvr>
                                        <p:cTn id="37" dur="500"/>
                                        <p:tgtEl>
                                          <p:spTgt spid="5">
                                            <p:txEl>
                                              <p:pRg st="5" end="5"/>
                                            </p:txEl>
                                          </p:spTgt>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animEffect transition="in" filter="wipe(left)">
                                      <p:cBhvr>
                                        <p:cTn id="41" dur="500"/>
                                        <p:tgtEl>
                                          <p:spTgt spid="5">
                                            <p:txEl>
                                              <p:pRg st="6" end="6"/>
                                            </p:txEl>
                                          </p:spTgt>
                                        </p:tgtEl>
                                      </p:cBhvr>
                                    </p:animEffect>
                                  </p:childTnLst>
                                </p:cTn>
                              </p:par>
                            </p:childTnLst>
                          </p:cTn>
                        </p:par>
                        <p:par>
                          <p:cTn id="42" fill="hold">
                            <p:stCondLst>
                              <p:cond delay="3500"/>
                            </p:stCondLst>
                            <p:childTnLst>
                              <p:par>
                                <p:cTn id="43" presetID="22" presetClass="entr" presetSubtype="8" fill="hold" grpId="0" nodeType="afterEffect">
                                  <p:stCondLst>
                                    <p:cond delay="0"/>
                                  </p:stCondLst>
                                  <p:childTnLst>
                                    <p:set>
                                      <p:cBhvr>
                                        <p:cTn id="44" dur="1" fill="hold">
                                          <p:stCondLst>
                                            <p:cond delay="0"/>
                                          </p:stCondLst>
                                        </p:cTn>
                                        <p:tgtEl>
                                          <p:spTgt spid="5">
                                            <p:txEl>
                                              <p:pRg st="7" end="7"/>
                                            </p:txEl>
                                          </p:spTgt>
                                        </p:tgtEl>
                                        <p:attrNameLst>
                                          <p:attrName>style.visibility</p:attrName>
                                        </p:attrNameLst>
                                      </p:cBhvr>
                                      <p:to>
                                        <p:strVal val="visible"/>
                                      </p:to>
                                    </p:set>
                                    <p:animEffect transition="in" filter="wipe(left)">
                                      <p:cBhvr>
                                        <p:cTn id="45" dur="500"/>
                                        <p:tgtEl>
                                          <p:spTgt spid="5">
                                            <p:txEl>
                                              <p:pRg st="7" end="7"/>
                                            </p:txEl>
                                          </p:spTgt>
                                        </p:tgtEl>
                                      </p:cBhvr>
                                    </p:animEffect>
                                  </p:childTnLst>
                                </p:cTn>
                              </p:par>
                            </p:childTnLst>
                          </p:cTn>
                        </p:par>
                        <p:par>
                          <p:cTn id="46" fill="hold">
                            <p:stCondLst>
                              <p:cond delay="4000"/>
                            </p:stCondLst>
                            <p:childTnLst>
                              <p:par>
                                <p:cTn id="47" presetID="22" presetClass="entr" presetSubtype="1" fill="hold" nodeType="after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wipe(up)">
                                      <p:cBhvr>
                                        <p:cTn id="49" dur="5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wipe(left)">
                                      <p:cBhvr>
                                        <p:cTn id="59" dur="500"/>
                                        <p:tgtEl>
                                          <p:spTgt spid="9"/>
                                        </p:tgtEl>
                                      </p:cBhvr>
                                    </p:animEffect>
                                  </p:childTnLst>
                                </p:cTn>
                              </p:par>
                              <p:par>
                                <p:cTn id="60" presetID="10" presetClass="exit" presetSubtype="0" fill="hold" grpId="1" nodeType="withEffect">
                                  <p:stCondLst>
                                    <p:cond delay="0"/>
                                  </p:stCondLst>
                                  <p:childTnLst>
                                    <p:animEffect transition="out" filter="fade">
                                      <p:cBhvr>
                                        <p:cTn id="61" dur="500"/>
                                        <p:tgtEl>
                                          <p:spTgt spid="8"/>
                                        </p:tgtEl>
                                      </p:cBhvr>
                                    </p:animEffect>
                                    <p:set>
                                      <p:cBhvr>
                                        <p:cTn id="62" dur="1" fill="hold">
                                          <p:stCondLst>
                                            <p:cond delay="499"/>
                                          </p:stCondLst>
                                        </p:cTn>
                                        <p:tgtEl>
                                          <p:spTgt spid="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grpId="1" nodeType="clickEffect">
                                  <p:stCondLst>
                                    <p:cond delay="0"/>
                                  </p:stCondLst>
                                  <p:childTnLst>
                                    <p:animEffect transition="out" filter="fade">
                                      <p:cBhvr>
                                        <p:cTn id="66" dur="500"/>
                                        <p:tgtEl>
                                          <p:spTgt spid="9"/>
                                        </p:tgtEl>
                                      </p:cBhvr>
                                    </p:animEffect>
                                    <p:set>
                                      <p:cBhvr>
                                        <p:cTn id="6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8" grpId="0" animBg="1"/>
      <p:bldP spid="8" grpId="1" animBg="1"/>
      <p:bldP spid="9" grpId="0" animBg="1"/>
      <p:bldP spid="9"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4"/>
          <p:cNvSpPr>
            <a:spLocks noGrp="1"/>
          </p:cNvSpPr>
          <p:nvPr>
            <p:ph type="title"/>
          </p:nvPr>
        </p:nvSpPr>
        <p:spPr/>
        <p:txBody>
          <a:bodyPr/>
          <a:lstStyle/>
          <a:p>
            <a:r>
              <a:rPr lang="en-US"/>
              <a:t>Tầm tác dụng của biến</a:t>
            </a:r>
          </a:p>
        </p:txBody>
      </p:sp>
      <p:sp>
        <p:nvSpPr>
          <p:cNvPr id="2" name="Date Placeholder 1"/>
          <p:cNvSpPr>
            <a:spLocks noGrp="1"/>
          </p:cNvSpPr>
          <p:nvPr>
            <p:ph type="dt" sz="half" idx="10"/>
          </p:nvPr>
        </p:nvSpPr>
        <p:spPr/>
        <p:txBody>
          <a:bodyPr/>
          <a:lstStyle/>
          <a:p>
            <a:fld id="{6BFB375E-5FB0-4D0F-834D-CF30DC8F4C84}" type="datetime1">
              <a:rPr lang="vi-VN" smtClean="0"/>
              <a:t>09/05/2023</a:t>
            </a:fld>
            <a:endParaRPr lang="vi-VN"/>
          </a:p>
        </p:txBody>
      </p:sp>
      <p:sp>
        <p:nvSpPr>
          <p:cNvPr id="28675" name="Footer Placeholder 3"/>
          <p:cNvSpPr>
            <a:spLocks noGrp="1"/>
          </p:cNvSpPr>
          <p:nvPr>
            <p:ph type="ftr" sz="quarter" idx="11"/>
          </p:nvPr>
        </p:nvSpPr>
        <p:spPr>
          <a:noFill/>
        </p:spPr>
        <p:txBody>
          <a:bodyPr/>
          <a:lstStyle/>
          <a:p>
            <a:r>
              <a:rPr lang="vi-VN"/>
              <a:t>Chương 4 - Chương trình con</a:t>
            </a:r>
            <a:endParaRPr lang="en-US"/>
          </a:p>
        </p:txBody>
      </p:sp>
      <p:sp>
        <p:nvSpPr>
          <p:cNvPr id="6" name="Rounded Rectangle 5"/>
          <p:cNvSpPr/>
          <p:nvPr/>
        </p:nvSpPr>
        <p:spPr>
          <a:xfrm>
            <a:off x="762000" y="1124744"/>
            <a:ext cx="152400" cy="518457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20" name="Slide Number Placeholder 19"/>
          <p:cNvSpPr>
            <a:spLocks noGrp="1"/>
          </p:cNvSpPr>
          <p:nvPr>
            <p:ph type="sldNum" sz="quarter" idx="12"/>
          </p:nvPr>
        </p:nvSpPr>
        <p:spPr/>
        <p:txBody>
          <a:bodyPr/>
          <a:lstStyle/>
          <a:p>
            <a:fld id="{5AB95402-1E0D-474E-8D8C-CBE7F053639E}" type="slidenum">
              <a:rPr lang="vi-VN" smtClean="0"/>
              <a:pPr/>
              <a:t>20</a:t>
            </a:fld>
            <a:r>
              <a:rPr lang="vi-VN"/>
              <a:t>/43</a:t>
            </a:r>
          </a:p>
        </p:txBody>
      </p:sp>
      <p:pic>
        <p:nvPicPr>
          <p:cNvPr id="8" name="Picture 7">
            <a:extLst>
              <a:ext uri="{FF2B5EF4-FFF2-40B4-BE49-F238E27FC236}">
                <a16:creationId xmlns:a16="http://schemas.microsoft.com/office/drawing/2014/main" id="{2EFCDAF2-5BC7-02F0-B733-F8C1033B448B}"/>
              </a:ext>
            </a:extLst>
          </p:cNvPr>
          <p:cNvPicPr>
            <a:picLocks noChangeAspect="1"/>
          </p:cNvPicPr>
          <p:nvPr/>
        </p:nvPicPr>
        <p:blipFill>
          <a:blip r:embed="rId3"/>
          <a:stretch>
            <a:fillRect/>
          </a:stretch>
        </p:blipFill>
        <p:spPr>
          <a:xfrm>
            <a:off x="1371600" y="1419565"/>
            <a:ext cx="5657850" cy="4018870"/>
          </a:xfrm>
          <a:prstGeom prst="rect">
            <a:avLst/>
          </a:prstGeom>
        </p:spPr>
      </p:pic>
    </p:spTree>
    <p:extLst>
      <p:ext uri="{BB962C8B-B14F-4D97-AF65-F5344CB8AC3E}">
        <p14:creationId xmlns:p14="http://schemas.microsoft.com/office/powerpoint/2010/main" val="870258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4"/>
          <p:cNvSpPr>
            <a:spLocks noGrp="1"/>
          </p:cNvSpPr>
          <p:nvPr>
            <p:ph type="title"/>
          </p:nvPr>
        </p:nvSpPr>
        <p:spPr/>
        <p:txBody>
          <a:bodyPr/>
          <a:lstStyle/>
          <a:p>
            <a:r>
              <a:rPr lang="en-US"/>
              <a:t>Tầm tác dụng của biến</a:t>
            </a:r>
          </a:p>
        </p:txBody>
      </p:sp>
      <p:sp>
        <p:nvSpPr>
          <p:cNvPr id="2" name="Date Placeholder 1"/>
          <p:cNvSpPr>
            <a:spLocks noGrp="1"/>
          </p:cNvSpPr>
          <p:nvPr>
            <p:ph type="dt" sz="half" idx="10"/>
          </p:nvPr>
        </p:nvSpPr>
        <p:spPr/>
        <p:txBody>
          <a:bodyPr/>
          <a:lstStyle/>
          <a:p>
            <a:fld id="{6BFB375E-5FB0-4D0F-834D-CF30DC8F4C84}" type="datetime1">
              <a:rPr lang="vi-VN" smtClean="0"/>
              <a:t>09/05/2023</a:t>
            </a:fld>
            <a:endParaRPr lang="vi-VN"/>
          </a:p>
        </p:txBody>
      </p:sp>
      <p:sp>
        <p:nvSpPr>
          <p:cNvPr id="28675" name="Footer Placeholder 3"/>
          <p:cNvSpPr>
            <a:spLocks noGrp="1"/>
          </p:cNvSpPr>
          <p:nvPr>
            <p:ph type="ftr" sz="quarter" idx="11"/>
          </p:nvPr>
        </p:nvSpPr>
        <p:spPr>
          <a:noFill/>
        </p:spPr>
        <p:txBody>
          <a:bodyPr/>
          <a:lstStyle/>
          <a:p>
            <a:r>
              <a:rPr lang="vi-VN"/>
              <a:t>Chương 4 - Chương trình con</a:t>
            </a:r>
            <a:endParaRPr lang="en-US"/>
          </a:p>
        </p:txBody>
      </p:sp>
      <p:sp>
        <p:nvSpPr>
          <p:cNvPr id="6" name="Rounded Rectangle 5"/>
          <p:cNvSpPr/>
          <p:nvPr/>
        </p:nvSpPr>
        <p:spPr>
          <a:xfrm>
            <a:off x="762000" y="1124744"/>
            <a:ext cx="152400" cy="5184575"/>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20" name="Slide Number Placeholder 19"/>
          <p:cNvSpPr>
            <a:spLocks noGrp="1"/>
          </p:cNvSpPr>
          <p:nvPr>
            <p:ph type="sldNum" sz="quarter" idx="12"/>
          </p:nvPr>
        </p:nvSpPr>
        <p:spPr/>
        <p:txBody>
          <a:bodyPr/>
          <a:lstStyle/>
          <a:p>
            <a:fld id="{5AB95402-1E0D-474E-8D8C-CBE7F053639E}" type="slidenum">
              <a:rPr lang="vi-VN" smtClean="0"/>
              <a:pPr/>
              <a:t>21</a:t>
            </a:fld>
            <a:r>
              <a:rPr lang="vi-VN"/>
              <a:t>/43</a:t>
            </a:r>
          </a:p>
        </p:txBody>
      </p:sp>
      <p:pic>
        <p:nvPicPr>
          <p:cNvPr id="5" name="Picture 4">
            <a:extLst>
              <a:ext uri="{FF2B5EF4-FFF2-40B4-BE49-F238E27FC236}">
                <a16:creationId xmlns:a16="http://schemas.microsoft.com/office/drawing/2014/main" id="{EBD70D23-8E82-E59A-7AA9-44DF36D08C60}"/>
              </a:ext>
            </a:extLst>
          </p:cNvPr>
          <p:cNvPicPr>
            <a:picLocks noChangeAspect="1"/>
          </p:cNvPicPr>
          <p:nvPr/>
        </p:nvPicPr>
        <p:blipFill>
          <a:blip r:embed="rId3"/>
          <a:stretch>
            <a:fillRect/>
          </a:stretch>
        </p:blipFill>
        <p:spPr>
          <a:xfrm>
            <a:off x="1313836" y="1412776"/>
            <a:ext cx="7069038" cy="4376787"/>
          </a:xfrm>
          <a:prstGeom prst="rect">
            <a:avLst/>
          </a:prstGeom>
        </p:spPr>
      </p:pic>
    </p:spTree>
    <p:extLst>
      <p:ext uri="{BB962C8B-B14F-4D97-AF65-F5344CB8AC3E}">
        <p14:creationId xmlns:p14="http://schemas.microsoft.com/office/powerpoint/2010/main" val="164924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Chú ý</a:t>
            </a:r>
            <a:endParaRPr lang="vi-VN"/>
          </a:p>
        </p:txBody>
      </p:sp>
      <p:sp>
        <p:nvSpPr>
          <p:cNvPr id="6" name="Content Placeholder 5"/>
          <p:cNvSpPr>
            <a:spLocks noGrp="1"/>
          </p:cNvSpPr>
          <p:nvPr>
            <p:ph idx="1"/>
          </p:nvPr>
        </p:nvSpPr>
        <p:spPr/>
        <p:txBody>
          <a:bodyPr/>
          <a:lstStyle/>
          <a:p>
            <a:r>
              <a:rPr lang="en-US"/>
              <a:t>Cấp phát bộ nhớ tĩnh cho biến cục bộ:</a:t>
            </a:r>
          </a:p>
          <a:p>
            <a:pPr marL="0" indent="0">
              <a:buNone/>
            </a:pPr>
            <a:r>
              <a:rPr lang="en-US" sz="2600" b="1">
                <a:latin typeface="Courier New" pitchFamily="49" charset="0"/>
                <a:cs typeface="Courier New" pitchFamily="49" charset="0"/>
              </a:rPr>
              <a:t>	static</a:t>
            </a:r>
            <a:r>
              <a:rPr lang="en-US" sz="2600">
                <a:latin typeface="Courier New" pitchFamily="49" charset="0"/>
                <a:cs typeface="Courier New" pitchFamily="49" charset="0"/>
              </a:rPr>
              <a:t> &lt;tên kiểu&gt; &lt;tên biến&gt;; </a:t>
            </a:r>
          </a:p>
          <a:p>
            <a:r>
              <a:rPr lang="en-US"/>
              <a:t>Khai báo kiểu bố trí ô nhớ cho biến int nào đó được sử dụng rất nhiều là kiểu bộ nhớ thanh ghi </a:t>
            </a:r>
            <a:r>
              <a:rPr lang="en-US" b="1"/>
              <a:t>register</a:t>
            </a:r>
            <a:r>
              <a:rPr lang="en-US"/>
              <a:t> để tăng tốc độ xử lý. Biến thanh ghi thường là các biến đếm trong một vòng lặp nào đó.</a:t>
            </a:r>
            <a:endParaRPr lang="vi-VN"/>
          </a:p>
          <a:p>
            <a:pPr lvl="1"/>
            <a:r>
              <a:rPr lang="fr-FR" b="1" i="1"/>
              <a:t>Ví dụ:</a:t>
            </a:r>
            <a:endParaRPr lang="vi-VN"/>
          </a:p>
          <a:p>
            <a:pPr marL="0" indent="976313">
              <a:buNone/>
            </a:pPr>
            <a:r>
              <a:rPr lang="fr-FR" sz="2400">
                <a:latin typeface="Courier New" pitchFamily="49" charset="0"/>
                <a:cs typeface="Courier New" pitchFamily="49" charset="0"/>
              </a:rPr>
              <a:t>register int t;</a:t>
            </a:r>
            <a:endParaRPr lang="vi-VN" sz="2400">
              <a:latin typeface="Courier New" pitchFamily="49" charset="0"/>
              <a:cs typeface="Courier New" pitchFamily="49" charset="0"/>
            </a:endParaRPr>
          </a:p>
          <a:p>
            <a:pPr marL="0" indent="976313">
              <a:buNone/>
            </a:pPr>
            <a:r>
              <a:rPr lang="fr-FR" sz="2400">
                <a:latin typeface="Courier New" pitchFamily="49" charset="0"/>
                <a:cs typeface="Courier New" pitchFamily="49" charset="0"/>
              </a:rPr>
              <a:t>for (t=0; t&lt;1000; t++) </a:t>
            </a:r>
            <a:endParaRPr lang="vi-VN" sz="2400">
              <a:latin typeface="Courier New" pitchFamily="49" charset="0"/>
              <a:cs typeface="Courier New" pitchFamily="49" charset="0"/>
            </a:endParaRPr>
          </a:p>
          <a:p>
            <a:pPr marL="0" indent="976313">
              <a:buNone/>
            </a:pPr>
            <a:r>
              <a:rPr lang="fr-FR" sz="2400">
                <a:latin typeface="Courier New" pitchFamily="49" charset="0"/>
                <a:cs typeface="Courier New" pitchFamily="49" charset="0"/>
              </a:rPr>
              <a:t>printf(“Lan goi thu %d”,t);</a:t>
            </a:r>
            <a:endParaRPr lang="vi-VN" sz="2400">
              <a:latin typeface="Courier New" pitchFamily="49" charset="0"/>
              <a:cs typeface="Courier New" pitchFamily="49" charset="0"/>
            </a:endParaRPr>
          </a:p>
        </p:txBody>
      </p:sp>
      <p:sp>
        <p:nvSpPr>
          <p:cNvPr id="3" name="Date Placeholder 2"/>
          <p:cNvSpPr>
            <a:spLocks noGrp="1"/>
          </p:cNvSpPr>
          <p:nvPr>
            <p:ph type="dt" sz="half" idx="10"/>
          </p:nvPr>
        </p:nvSpPr>
        <p:spPr/>
        <p:txBody>
          <a:bodyPr/>
          <a:lstStyle/>
          <a:p>
            <a:fld id="{F02878B5-0C84-40AF-B755-4FBFAFD5F03C}" type="datetime1">
              <a:rPr lang="vi-VN" smtClean="0"/>
              <a:t>09/05/2023</a:t>
            </a:fld>
            <a:endParaRPr lang="vi-VN"/>
          </a:p>
        </p:txBody>
      </p:sp>
      <p:sp>
        <p:nvSpPr>
          <p:cNvPr id="4" name="Footer Placeholder 3"/>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22</a:t>
            </a:fld>
            <a:r>
              <a:rPr lang="vi-VN"/>
              <a:t>/43</a:t>
            </a:r>
          </a:p>
        </p:txBody>
      </p:sp>
    </p:spTree>
    <p:extLst>
      <p:ext uri="{BB962C8B-B14F-4D97-AF65-F5344CB8AC3E}">
        <p14:creationId xmlns:p14="http://schemas.microsoft.com/office/powerpoint/2010/main" val="112670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up)">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wipe(left)">
                                      <p:cBhvr>
                                        <p:cTn id="26" dur="500"/>
                                        <p:tgtEl>
                                          <p:spTgt spid="6">
                                            <p:txEl>
                                              <p:pRg st="4" end="4"/>
                                            </p:txEl>
                                          </p:spTgt>
                                        </p:tgtEl>
                                      </p:cBhvr>
                                    </p:animEffect>
                                  </p:childTnLst>
                                </p:cTn>
                              </p:par>
                            </p:childTnLst>
                          </p:cTn>
                        </p:par>
                        <p:par>
                          <p:cTn id="27" fill="hold">
                            <p:stCondLst>
                              <p:cond delay="1000"/>
                            </p:stCondLst>
                            <p:childTnLst>
                              <p:par>
                                <p:cTn id="28" presetID="22" presetClass="entr" presetSubtype="8" fill="hold" nodeType="afterEffect">
                                  <p:stCondLst>
                                    <p:cond delay="0"/>
                                  </p:stCondLst>
                                  <p:childTnLst>
                                    <p:set>
                                      <p:cBhvr>
                                        <p:cTn id="29" dur="1" fill="hold">
                                          <p:stCondLst>
                                            <p:cond delay="0"/>
                                          </p:stCondLst>
                                        </p:cTn>
                                        <p:tgtEl>
                                          <p:spTgt spid="6">
                                            <p:txEl>
                                              <p:pRg st="5" end="5"/>
                                            </p:txEl>
                                          </p:spTgt>
                                        </p:tgtEl>
                                        <p:attrNameLst>
                                          <p:attrName>style.visibility</p:attrName>
                                        </p:attrNameLst>
                                      </p:cBhvr>
                                      <p:to>
                                        <p:strVal val="visible"/>
                                      </p:to>
                                    </p:set>
                                    <p:animEffect transition="in" filter="wipe(left)">
                                      <p:cBhvr>
                                        <p:cTn id="30" dur="500"/>
                                        <p:tgtEl>
                                          <p:spTgt spid="6">
                                            <p:txEl>
                                              <p:pRg st="5" end="5"/>
                                            </p:txEl>
                                          </p:spTgt>
                                        </p:tgtEl>
                                      </p:cBhvr>
                                    </p:animEffect>
                                  </p:childTnLst>
                                </p:cTn>
                              </p:par>
                            </p:childTnLst>
                          </p:cTn>
                        </p:par>
                        <p:par>
                          <p:cTn id="31" fill="hold">
                            <p:stCondLst>
                              <p:cond delay="1500"/>
                            </p:stCondLst>
                            <p:childTnLst>
                              <p:par>
                                <p:cTn id="32" presetID="22" presetClass="entr" presetSubtype="8" fill="hold" nodeType="after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animEffect transition="in" filter="wipe(left)">
                                      <p:cBhvr>
                                        <p:cTn id="34"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4.4 Truyền tham số cho hàm</a:t>
            </a:r>
            <a:endParaRPr lang="vi-VN"/>
          </a:p>
        </p:txBody>
      </p:sp>
      <p:sp>
        <p:nvSpPr>
          <p:cNvPr id="3" name="Content Placeholder 2"/>
          <p:cNvSpPr>
            <a:spLocks noGrp="1"/>
          </p:cNvSpPr>
          <p:nvPr>
            <p:ph idx="1"/>
          </p:nvPr>
        </p:nvSpPr>
        <p:spPr>
          <a:xfrm>
            <a:off x="762000" y="1052736"/>
            <a:ext cx="7924800" cy="5181600"/>
          </a:xfrm>
        </p:spPr>
        <p:txBody>
          <a:bodyPr/>
          <a:lstStyle/>
          <a:p>
            <a:r>
              <a:rPr lang="en-US" sz="2000" b="1" dirty="0" err="1"/>
              <a:t>Truyền</a:t>
            </a:r>
            <a:r>
              <a:rPr lang="en-US" sz="2000" b="1" dirty="0"/>
              <a:t> </a:t>
            </a:r>
            <a:r>
              <a:rPr lang="en-US" sz="2000" b="1" dirty="0" err="1"/>
              <a:t>tham</a:t>
            </a:r>
            <a:r>
              <a:rPr lang="en-US" sz="2000" b="1" dirty="0"/>
              <a:t> </a:t>
            </a:r>
            <a:r>
              <a:rPr lang="en-US" sz="2000" b="1" dirty="0" err="1"/>
              <a:t>trị</a:t>
            </a:r>
            <a:r>
              <a:rPr lang="en-US" sz="2000" b="1" dirty="0"/>
              <a:t> (</a:t>
            </a:r>
            <a:r>
              <a:rPr lang="en-US" sz="2000" b="1" dirty="0" err="1"/>
              <a:t>truyền</a:t>
            </a:r>
            <a:r>
              <a:rPr lang="en-US" sz="2000" b="1" dirty="0"/>
              <a:t> </a:t>
            </a:r>
            <a:r>
              <a:rPr lang="en-US" sz="2000" b="1" dirty="0" err="1"/>
              <a:t>giá</a:t>
            </a:r>
            <a:r>
              <a:rPr lang="en-US" sz="2000" b="1" dirty="0"/>
              <a:t> </a:t>
            </a:r>
            <a:r>
              <a:rPr lang="en-US" sz="2000" b="1" dirty="0" err="1"/>
              <a:t>trị</a:t>
            </a:r>
            <a:r>
              <a:rPr lang="en-US" sz="2000" b="1" dirty="0"/>
              <a:t>): </a:t>
            </a:r>
            <a:r>
              <a:rPr lang="vi-VN" sz="2000" dirty="0"/>
              <a:t>Truyền tham trị là truyền cho đối số một bản sao, nghĩa là giá trị của biến đó sẽ được sao chép sang biến tham số truyền vào hàm. Đây cũng là cách chúng ta sử dụng hàm bình thường.</a:t>
            </a:r>
            <a:endParaRPr lang="en-US" sz="2000" b="1" dirty="0"/>
          </a:p>
        </p:txBody>
      </p:sp>
      <p:sp>
        <p:nvSpPr>
          <p:cNvPr id="4" name="Date Placeholder 3"/>
          <p:cNvSpPr>
            <a:spLocks noGrp="1"/>
          </p:cNvSpPr>
          <p:nvPr>
            <p:ph type="dt" sz="half" idx="10"/>
          </p:nvPr>
        </p:nvSpPr>
        <p:spPr/>
        <p:txBody>
          <a:bodyPr/>
          <a:lstStyle/>
          <a:p>
            <a:fld id="{04F5F816-EF76-4380-8E60-1D09B9C675A6}"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15" name="Slide Number Placeholder 14"/>
          <p:cNvSpPr>
            <a:spLocks noGrp="1"/>
          </p:cNvSpPr>
          <p:nvPr>
            <p:ph type="sldNum" sz="quarter" idx="12"/>
          </p:nvPr>
        </p:nvSpPr>
        <p:spPr/>
        <p:txBody>
          <a:bodyPr/>
          <a:lstStyle/>
          <a:p>
            <a:fld id="{5AB95402-1E0D-474E-8D8C-CBE7F053639E}" type="slidenum">
              <a:rPr lang="vi-VN" smtClean="0"/>
              <a:pPr/>
              <a:t>23</a:t>
            </a:fld>
            <a:r>
              <a:rPr lang="vi-VN"/>
              <a:t>/43</a:t>
            </a:r>
          </a:p>
        </p:txBody>
      </p:sp>
      <p:pic>
        <p:nvPicPr>
          <p:cNvPr id="8" name="Picture 7">
            <a:extLst>
              <a:ext uri="{FF2B5EF4-FFF2-40B4-BE49-F238E27FC236}">
                <a16:creationId xmlns:a16="http://schemas.microsoft.com/office/drawing/2014/main" id="{05FF8968-E95D-462A-5D14-AD4EEFB3014D}"/>
              </a:ext>
            </a:extLst>
          </p:cNvPr>
          <p:cNvPicPr>
            <a:picLocks noChangeAspect="1"/>
          </p:cNvPicPr>
          <p:nvPr/>
        </p:nvPicPr>
        <p:blipFill>
          <a:blip r:embed="rId3"/>
          <a:stretch>
            <a:fillRect/>
          </a:stretch>
        </p:blipFill>
        <p:spPr>
          <a:xfrm>
            <a:off x="1645782" y="2370995"/>
            <a:ext cx="6732240" cy="4326464"/>
          </a:xfrm>
          <a:prstGeom prst="rect">
            <a:avLst/>
          </a:prstGeom>
        </p:spPr>
      </p:pic>
    </p:spTree>
    <p:extLst>
      <p:ext uri="{BB962C8B-B14F-4D97-AF65-F5344CB8AC3E}">
        <p14:creationId xmlns:p14="http://schemas.microsoft.com/office/powerpoint/2010/main" val="1123967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Truyền tham số cho hàm</a:t>
            </a:r>
            <a:endParaRPr lang="vi-VN"/>
          </a:p>
        </p:txBody>
      </p:sp>
      <p:sp>
        <p:nvSpPr>
          <p:cNvPr id="3" name="Content Placeholder 2"/>
          <p:cNvSpPr>
            <a:spLocks noGrp="1"/>
          </p:cNvSpPr>
          <p:nvPr>
            <p:ph idx="1"/>
          </p:nvPr>
        </p:nvSpPr>
        <p:spPr/>
        <p:txBody>
          <a:bodyPr/>
          <a:lstStyle/>
          <a:p>
            <a:r>
              <a:rPr lang="en-US" sz="2000" b="1" dirty="0" err="1"/>
              <a:t>Truyền</a:t>
            </a:r>
            <a:r>
              <a:rPr lang="en-US" sz="2000" b="1" dirty="0"/>
              <a:t> </a:t>
            </a:r>
            <a:r>
              <a:rPr lang="en-US" sz="2000" b="1" dirty="0" err="1"/>
              <a:t>tham</a:t>
            </a:r>
            <a:r>
              <a:rPr lang="en-US" sz="2000" b="1" dirty="0"/>
              <a:t> </a:t>
            </a:r>
            <a:r>
              <a:rPr lang="en-US" sz="2000" b="1" dirty="0" err="1"/>
              <a:t>chiếu</a:t>
            </a:r>
            <a:r>
              <a:rPr lang="en-US" sz="2000" b="1" dirty="0"/>
              <a:t> (</a:t>
            </a:r>
            <a:r>
              <a:rPr lang="en-US" sz="2000" b="1" dirty="0" err="1"/>
              <a:t>truyền</a:t>
            </a:r>
            <a:r>
              <a:rPr lang="en-US" sz="2000" b="1" dirty="0"/>
              <a:t> </a:t>
            </a:r>
            <a:r>
              <a:rPr lang="en-US" sz="2000" b="1" dirty="0" err="1"/>
              <a:t>địa</a:t>
            </a:r>
            <a:r>
              <a:rPr lang="en-US" sz="2000" b="1" dirty="0"/>
              <a:t> </a:t>
            </a:r>
            <a:r>
              <a:rPr lang="en-US" sz="2000" b="1" dirty="0" err="1"/>
              <a:t>chỉ</a:t>
            </a:r>
            <a:r>
              <a:rPr lang="en-US" sz="2000" b="1" dirty="0"/>
              <a:t>): </a:t>
            </a:r>
            <a:r>
              <a:rPr lang="en-US" sz="2000" dirty="0"/>
              <a:t>là </a:t>
            </a:r>
            <a:r>
              <a:rPr lang="en-US" sz="2000" dirty="0" err="1"/>
              <a:t>cách</a:t>
            </a:r>
            <a:r>
              <a:rPr lang="en-US" sz="2000" dirty="0"/>
              <a:t> ta </a:t>
            </a:r>
            <a:r>
              <a:rPr lang="en-US" sz="2000" dirty="0" err="1"/>
              <a:t>truyền</a:t>
            </a:r>
            <a:r>
              <a:rPr lang="en-US" sz="2000" dirty="0"/>
              <a:t> 1 </a:t>
            </a:r>
            <a:r>
              <a:rPr lang="en-US" sz="2000" dirty="0" err="1"/>
              <a:t>bản</a:t>
            </a:r>
            <a:r>
              <a:rPr lang="en-US" sz="2000" dirty="0"/>
              <a:t> </a:t>
            </a:r>
            <a:r>
              <a:rPr lang="en-US" sz="2000" dirty="0" err="1"/>
              <a:t>gốc</a:t>
            </a:r>
            <a:r>
              <a:rPr lang="en-US" sz="2000" dirty="0"/>
              <a:t> </a:t>
            </a:r>
            <a:r>
              <a:rPr lang="en-US" sz="2000" dirty="0" err="1"/>
              <a:t>thông</a:t>
            </a:r>
            <a:r>
              <a:rPr lang="en-US" sz="2000" dirty="0"/>
              <a:t> qua </a:t>
            </a:r>
            <a:r>
              <a:rPr lang="en-US" sz="2000" dirty="0" err="1"/>
              <a:t>địa</a:t>
            </a:r>
            <a:r>
              <a:rPr lang="en-US" sz="2000" dirty="0"/>
              <a:t> </a:t>
            </a:r>
            <a:r>
              <a:rPr lang="en-US" sz="2000" dirty="0" err="1"/>
              <a:t>chỉ</a:t>
            </a:r>
            <a:r>
              <a:rPr lang="en-US" sz="2000" dirty="0"/>
              <a:t> &amp;. </a:t>
            </a:r>
            <a:r>
              <a:rPr lang="en-US" sz="2000" dirty="0" err="1"/>
              <a:t>Nghĩa</a:t>
            </a:r>
            <a:r>
              <a:rPr lang="en-US" sz="2000" dirty="0"/>
              <a:t> là </a:t>
            </a:r>
            <a:r>
              <a:rPr lang="en-US" sz="2000" dirty="0" err="1"/>
              <a:t>giá</a:t>
            </a:r>
            <a:r>
              <a:rPr lang="en-US" sz="2000" dirty="0"/>
              <a:t> </a:t>
            </a:r>
            <a:r>
              <a:rPr lang="en-US" sz="2000" dirty="0" err="1"/>
              <a:t>trị</a:t>
            </a:r>
            <a:r>
              <a:rPr lang="en-US" sz="2000" dirty="0"/>
              <a:t> </a:t>
            </a:r>
            <a:r>
              <a:rPr lang="en-US" sz="2000" dirty="0" err="1"/>
              <a:t>của</a:t>
            </a:r>
            <a:r>
              <a:rPr lang="en-US" sz="2000" dirty="0"/>
              <a:t> </a:t>
            </a:r>
            <a:r>
              <a:rPr lang="en-US" sz="2000" dirty="0" err="1"/>
              <a:t>biến</a:t>
            </a:r>
            <a:r>
              <a:rPr lang="en-US" sz="2000" dirty="0"/>
              <a:t> </a:t>
            </a:r>
            <a:r>
              <a:rPr lang="en-US" sz="2000" dirty="0" err="1"/>
              <a:t>tham</a:t>
            </a:r>
            <a:r>
              <a:rPr lang="en-US" sz="2000" dirty="0"/>
              <a:t> </a:t>
            </a:r>
            <a:r>
              <a:rPr lang="en-US" sz="2000" dirty="0" err="1"/>
              <a:t>số</a:t>
            </a:r>
            <a:r>
              <a:rPr lang="en-US" sz="2000" dirty="0"/>
              <a:t> </a:t>
            </a:r>
            <a:r>
              <a:rPr lang="en-US" sz="2000" dirty="0" err="1"/>
              <a:t>truyền</a:t>
            </a:r>
            <a:r>
              <a:rPr lang="en-US" sz="2000" dirty="0"/>
              <a:t> </a:t>
            </a:r>
            <a:r>
              <a:rPr lang="en-US" sz="2000" dirty="0" err="1"/>
              <a:t>vào</a:t>
            </a:r>
            <a:r>
              <a:rPr lang="en-US" sz="2000" dirty="0"/>
              <a:t> </a:t>
            </a:r>
            <a:r>
              <a:rPr lang="en-US" sz="2000" dirty="0" err="1"/>
              <a:t>hàm</a:t>
            </a:r>
            <a:r>
              <a:rPr lang="en-US" sz="2000" dirty="0"/>
              <a:t> </a:t>
            </a:r>
            <a:r>
              <a:rPr lang="en-US" sz="2000" dirty="0" err="1"/>
              <a:t>sẽ</a:t>
            </a:r>
            <a:r>
              <a:rPr lang="en-US" sz="2000" dirty="0"/>
              <a:t> là </a:t>
            </a:r>
            <a:r>
              <a:rPr lang="en-US" sz="2000" dirty="0" err="1"/>
              <a:t>giá</a:t>
            </a:r>
            <a:r>
              <a:rPr lang="en-US" sz="2000" dirty="0"/>
              <a:t> </a:t>
            </a:r>
            <a:r>
              <a:rPr lang="en-US" sz="2000" dirty="0" err="1"/>
              <a:t>trị</a:t>
            </a:r>
            <a:r>
              <a:rPr lang="en-US" sz="2000" dirty="0"/>
              <a:t> </a:t>
            </a:r>
            <a:r>
              <a:rPr lang="en-US" sz="2000" dirty="0" err="1"/>
              <a:t>của</a:t>
            </a:r>
            <a:r>
              <a:rPr lang="en-US" sz="2000" dirty="0"/>
              <a:t> </a:t>
            </a:r>
            <a:r>
              <a:rPr lang="en-US" sz="2000" dirty="0" err="1"/>
              <a:t>biến</a:t>
            </a:r>
            <a:r>
              <a:rPr lang="en-US" sz="2000" dirty="0"/>
              <a:t> </a:t>
            </a:r>
            <a:r>
              <a:rPr lang="en-US" sz="2000" dirty="0" err="1"/>
              <a:t>truyền</a:t>
            </a:r>
            <a:r>
              <a:rPr lang="en-US" sz="2000" dirty="0"/>
              <a:t> </a:t>
            </a:r>
            <a:r>
              <a:rPr lang="en-US" sz="2000" dirty="0" err="1"/>
              <a:t>vào</a:t>
            </a:r>
            <a:r>
              <a:rPr lang="en-US" sz="2000" dirty="0"/>
              <a:t> </a:t>
            </a:r>
            <a:r>
              <a:rPr lang="en-US" sz="2000" dirty="0" err="1"/>
              <a:t>hàm</a:t>
            </a:r>
            <a:r>
              <a:rPr lang="en-US" sz="2000" dirty="0"/>
              <a:t> </a:t>
            </a:r>
            <a:r>
              <a:rPr lang="en-US" sz="2000" dirty="0" err="1"/>
              <a:t>đó</a:t>
            </a:r>
            <a:r>
              <a:rPr lang="en-US" sz="2000" dirty="0"/>
              <a:t>.</a:t>
            </a:r>
          </a:p>
          <a:p>
            <a:endParaRPr lang="en-US" dirty="0"/>
          </a:p>
        </p:txBody>
      </p:sp>
      <p:sp>
        <p:nvSpPr>
          <p:cNvPr id="4" name="Date Placeholder 3"/>
          <p:cNvSpPr>
            <a:spLocks noGrp="1"/>
          </p:cNvSpPr>
          <p:nvPr>
            <p:ph type="dt" sz="half" idx="10"/>
          </p:nvPr>
        </p:nvSpPr>
        <p:spPr/>
        <p:txBody>
          <a:bodyPr/>
          <a:lstStyle/>
          <a:p>
            <a:fld id="{8D5EEB51-8587-40C7-A394-2B3056911356}"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15" name="Slide Number Placeholder 14"/>
          <p:cNvSpPr>
            <a:spLocks noGrp="1"/>
          </p:cNvSpPr>
          <p:nvPr>
            <p:ph type="sldNum" sz="quarter" idx="12"/>
          </p:nvPr>
        </p:nvSpPr>
        <p:spPr/>
        <p:txBody>
          <a:bodyPr/>
          <a:lstStyle/>
          <a:p>
            <a:fld id="{5AB95402-1E0D-474E-8D8C-CBE7F053639E}" type="slidenum">
              <a:rPr lang="vi-VN" smtClean="0"/>
              <a:pPr/>
              <a:t>24</a:t>
            </a:fld>
            <a:r>
              <a:rPr lang="vi-VN"/>
              <a:t>/43</a:t>
            </a:r>
          </a:p>
        </p:txBody>
      </p:sp>
      <p:pic>
        <p:nvPicPr>
          <p:cNvPr id="18" name="Picture 17">
            <a:extLst>
              <a:ext uri="{FF2B5EF4-FFF2-40B4-BE49-F238E27FC236}">
                <a16:creationId xmlns:a16="http://schemas.microsoft.com/office/drawing/2014/main" id="{22ED8CFE-7410-0F55-1001-CD4F18757243}"/>
              </a:ext>
            </a:extLst>
          </p:cNvPr>
          <p:cNvPicPr>
            <a:picLocks noChangeAspect="1"/>
          </p:cNvPicPr>
          <p:nvPr/>
        </p:nvPicPr>
        <p:blipFill>
          <a:blip r:embed="rId3"/>
          <a:stretch>
            <a:fillRect/>
          </a:stretch>
        </p:blipFill>
        <p:spPr>
          <a:xfrm>
            <a:off x="2362200" y="2218369"/>
            <a:ext cx="4658074" cy="4080473"/>
          </a:xfrm>
          <a:prstGeom prst="rect">
            <a:avLst/>
          </a:prstGeom>
        </p:spPr>
      </p:pic>
    </p:spTree>
    <p:extLst>
      <p:ext uri="{BB962C8B-B14F-4D97-AF65-F5344CB8AC3E}">
        <p14:creationId xmlns:p14="http://schemas.microsoft.com/office/powerpoint/2010/main" val="2782408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Truyền tham số cho hàm</a:t>
            </a:r>
            <a:endParaRPr lang="vi-VN"/>
          </a:p>
        </p:txBody>
      </p:sp>
      <p:sp>
        <p:nvSpPr>
          <p:cNvPr id="3" name="Content Placeholder 2"/>
          <p:cNvSpPr>
            <a:spLocks noGrp="1"/>
          </p:cNvSpPr>
          <p:nvPr>
            <p:ph idx="1"/>
          </p:nvPr>
        </p:nvSpPr>
        <p:spPr/>
        <p:txBody>
          <a:bodyPr/>
          <a:lstStyle/>
          <a:p>
            <a:r>
              <a:rPr lang="en-US" sz="2000" b="1" dirty="0" err="1"/>
              <a:t>Truyền</a:t>
            </a:r>
            <a:r>
              <a:rPr lang="en-US" sz="2000" b="1" dirty="0"/>
              <a:t> con </a:t>
            </a:r>
            <a:r>
              <a:rPr lang="en-US" sz="2000" b="1" dirty="0" err="1"/>
              <a:t>trỏ</a:t>
            </a:r>
            <a:r>
              <a:rPr lang="en-US" sz="2000" b="1" dirty="0"/>
              <a:t>: </a:t>
            </a:r>
            <a:r>
              <a:rPr lang="vi-VN" sz="2000" dirty="0"/>
              <a:t>tương tự như truyền tham chiếu, biến truyền vào sẽ thay đổi khi ta thay đổi giá trị con trỏ trỏ về.</a:t>
            </a:r>
            <a:endParaRPr lang="en-US" sz="2000" dirty="0"/>
          </a:p>
        </p:txBody>
      </p:sp>
      <p:sp>
        <p:nvSpPr>
          <p:cNvPr id="4" name="Date Placeholder 3"/>
          <p:cNvSpPr>
            <a:spLocks noGrp="1"/>
          </p:cNvSpPr>
          <p:nvPr>
            <p:ph type="dt" sz="half" idx="10"/>
          </p:nvPr>
        </p:nvSpPr>
        <p:spPr/>
        <p:txBody>
          <a:bodyPr/>
          <a:lstStyle/>
          <a:p>
            <a:fld id="{8D5EEB51-8587-40C7-A394-2B3056911356}"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15" name="Slide Number Placeholder 14"/>
          <p:cNvSpPr>
            <a:spLocks noGrp="1"/>
          </p:cNvSpPr>
          <p:nvPr>
            <p:ph type="sldNum" sz="quarter" idx="12"/>
          </p:nvPr>
        </p:nvSpPr>
        <p:spPr/>
        <p:txBody>
          <a:bodyPr/>
          <a:lstStyle/>
          <a:p>
            <a:fld id="{5AB95402-1E0D-474E-8D8C-CBE7F053639E}" type="slidenum">
              <a:rPr lang="vi-VN" smtClean="0"/>
              <a:pPr/>
              <a:t>25</a:t>
            </a:fld>
            <a:r>
              <a:rPr lang="vi-VN"/>
              <a:t>/43</a:t>
            </a:r>
          </a:p>
        </p:txBody>
      </p:sp>
      <p:pic>
        <p:nvPicPr>
          <p:cNvPr id="7" name="Picture 6">
            <a:extLst>
              <a:ext uri="{FF2B5EF4-FFF2-40B4-BE49-F238E27FC236}">
                <a16:creationId xmlns:a16="http://schemas.microsoft.com/office/drawing/2014/main" id="{DEAC0970-2DA0-1BC3-ABCF-53D704A18CB1}"/>
              </a:ext>
            </a:extLst>
          </p:cNvPr>
          <p:cNvPicPr>
            <a:picLocks noChangeAspect="1"/>
          </p:cNvPicPr>
          <p:nvPr/>
        </p:nvPicPr>
        <p:blipFill>
          <a:blip r:embed="rId3"/>
          <a:stretch>
            <a:fillRect/>
          </a:stretch>
        </p:blipFill>
        <p:spPr>
          <a:xfrm>
            <a:off x="1740049" y="1916832"/>
            <a:ext cx="5194151" cy="4070351"/>
          </a:xfrm>
          <a:prstGeom prst="rect">
            <a:avLst/>
          </a:prstGeom>
        </p:spPr>
      </p:pic>
    </p:spTree>
    <p:extLst>
      <p:ext uri="{BB962C8B-B14F-4D97-AF65-F5344CB8AC3E}">
        <p14:creationId xmlns:p14="http://schemas.microsoft.com/office/powerpoint/2010/main" val="388632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a:t>L</a:t>
            </a:r>
            <a:r>
              <a:rPr lang="vi-VN"/>
              <a:t>ư</a:t>
            </a:r>
            <a:r>
              <a:rPr lang="en-US"/>
              <a:t>u ý khi truyền </a:t>
            </a:r>
            <a:r>
              <a:rPr lang="vi-VN"/>
              <a:t>đố</a:t>
            </a:r>
            <a:r>
              <a:rPr lang="en-US"/>
              <a:t>i số</a:t>
            </a:r>
          </a:p>
        </p:txBody>
      </p:sp>
      <p:sp>
        <p:nvSpPr>
          <p:cNvPr id="3" name="Content Placeholder 2"/>
          <p:cNvSpPr>
            <a:spLocks noGrp="1"/>
          </p:cNvSpPr>
          <p:nvPr>
            <p:ph idx="1"/>
          </p:nvPr>
        </p:nvSpPr>
        <p:spPr/>
        <p:txBody>
          <a:bodyPr/>
          <a:lstStyle/>
          <a:p>
            <a:pPr>
              <a:defRPr/>
            </a:pPr>
            <a:r>
              <a:rPr lang="en-US" dirty="0">
                <a:solidFill>
                  <a:srgbClr val="002060"/>
                </a:solidFill>
              </a:rPr>
              <a:t>L</a:t>
            </a:r>
            <a:r>
              <a:rPr lang="vi-VN" dirty="0">
                <a:solidFill>
                  <a:srgbClr val="002060"/>
                </a:solidFill>
              </a:rPr>
              <a:t>ư</a:t>
            </a:r>
            <a:r>
              <a:rPr lang="en-US" dirty="0">
                <a:solidFill>
                  <a:srgbClr val="002060"/>
                </a:solidFill>
              </a:rPr>
              <a:t>u ý</a:t>
            </a:r>
          </a:p>
          <a:p>
            <a:pPr lvl="1">
              <a:defRPr/>
            </a:pPr>
            <a:r>
              <a:rPr lang="en-US" dirty="0" err="1"/>
              <a:t>Trong</a:t>
            </a:r>
            <a:r>
              <a:rPr lang="en-US" dirty="0"/>
              <a:t> </a:t>
            </a:r>
            <a:r>
              <a:rPr lang="en-US" dirty="0" err="1"/>
              <a:t>một</a:t>
            </a:r>
            <a:r>
              <a:rPr lang="en-US" dirty="0"/>
              <a:t> </a:t>
            </a:r>
            <a:r>
              <a:rPr lang="en-US" dirty="0" err="1"/>
              <a:t>hàm</a:t>
            </a:r>
            <a:r>
              <a:rPr lang="en-US" dirty="0"/>
              <a:t>, </a:t>
            </a:r>
            <a:r>
              <a:rPr lang="en-US" dirty="0" err="1"/>
              <a:t>các</a:t>
            </a:r>
            <a:r>
              <a:rPr lang="en-US" dirty="0"/>
              <a:t> </a:t>
            </a:r>
            <a:r>
              <a:rPr lang="en-US" dirty="0" err="1"/>
              <a:t>tham</a:t>
            </a:r>
            <a:r>
              <a:rPr lang="en-US" dirty="0"/>
              <a:t> </a:t>
            </a:r>
            <a:r>
              <a:rPr lang="en-US" dirty="0" err="1"/>
              <a:t>số</a:t>
            </a:r>
            <a:r>
              <a:rPr lang="en-US" dirty="0"/>
              <a:t> </a:t>
            </a:r>
            <a:r>
              <a:rPr lang="en-US" dirty="0" err="1"/>
              <a:t>có</a:t>
            </a:r>
            <a:r>
              <a:rPr lang="en-US" dirty="0"/>
              <a:t> </a:t>
            </a:r>
            <a:r>
              <a:rPr lang="en-US" dirty="0" err="1"/>
              <a:t>thể</a:t>
            </a:r>
            <a:r>
              <a:rPr lang="en-US" dirty="0"/>
              <a:t> </a:t>
            </a:r>
            <a:r>
              <a:rPr lang="en-US" dirty="0" err="1"/>
              <a:t>truyền</a:t>
            </a:r>
            <a:r>
              <a:rPr lang="en-US" dirty="0"/>
              <a:t> </a:t>
            </a:r>
            <a:r>
              <a:rPr lang="en-US" dirty="0" err="1"/>
              <a:t>theo</a:t>
            </a:r>
            <a:r>
              <a:rPr lang="en-US" dirty="0"/>
              <a:t> </a:t>
            </a:r>
            <a:r>
              <a:rPr lang="en-US" dirty="0" err="1"/>
              <a:t>nhiều</a:t>
            </a:r>
            <a:r>
              <a:rPr lang="en-US" dirty="0"/>
              <a:t> </a:t>
            </a:r>
            <a:r>
              <a:rPr lang="en-US" dirty="0" err="1"/>
              <a:t>cách</a:t>
            </a:r>
            <a:r>
              <a:rPr lang="en-US" dirty="0"/>
              <a:t>.</a:t>
            </a:r>
          </a:p>
          <a:p>
            <a:pPr lvl="1">
              <a:defRPr/>
            </a:pPr>
            <a:endParaRPr lang="en-US" dirty="0"/>
          </a:p>
          <a:p>
            <a:pPr lvl="1">
              <a:defRPr/>
            </a:pPr>
            <a:endParaRPr lang="en-US" dirty="0"/>
          </a:p>
          <a:p>
            <a:pPr lvl="1">
              <a:defRPr/>
            </a:pPr>
            <a:endParaRPr lang="en-US" dirty="0"/>
          </a:p>
          <a:p>
            <a:pPr lvl="1">
              <a:defRPr/>
            </a:pPr>
            <a:r>
              <a:rPr lang="en-US" b="1" dirty="0">
                <a:solidFill>
                  <a:srgbClr val="FF0000"/>
                </a:solidFill>
              </a:rPr>
              <a:t>KHÔNG</a:t>
            </a:r>
            <a:r>
              <a:rPr lang="en-US" dirty="0"/>
              <a:t> </a:t>
            </a:r>
            <a:r>
              <a:rPr lang="en-US" dirty="0" err="1"/>
              <a:t>được</a:t>
            </a:r>
            <a:r>
              <a:rPr lang="en-US" dirty="0"/>
              <a:t> </a:t>
            </a:r>
            <a:r>
              <a:rPr lang="en-US" dirty="0" err="1"/>
              <a:t>truyền</a:t>
            </a:r>
            <a:r>
              <a:rPr lang="en-US" dirty="0"/>
              <a:t> </a:t>
            </a:r>
            <a:r>
              <a:rPr lang="en-US" dirty="0" err="1"/>
              <a:t>giá</a:t>
            </a:r>
            <a:r>
              <a:rPr lang="en-US" dirty="0"/>
              <a:t> </a:t>
            </a:r>
            <a:r>
              <a:rPr lang="en-US" dirty="0" err="1"/>
              <a:t>trị</a:t>
            </a:r>
            <a:r>
              <a:rPr lang="en-US" dirty="0"/>
              <a:t> </a:t>
            </a:r>
            <a:r>
              <a:rPr lang="en-US" dirty="0" err="1"/>
              <a:t>cho</a:t>
            </a:r>
            <a:r>
              <a:rPr lang="en-US" dirty="0"/>
              <a:t> </a:t>
            </a:r>
            <a:r>
              <a:rPr lang="en-US" dirty="0" err="1"/>
              <a:t>tham</a:t>
            </a:r>
            <a:r>
              <a:rPr lang="en-US" dirty="0"/>
              <a:t> </a:t>
            </a:r>
            <a:r>
              <a:rPr lang="en-US" dirty="0" err="1"/>
              <a:t>số</a:t>
            </a:r>
            <a:r>
              <a:rPr lang="en-US" dirty="0"/>
              <a:t> </a:t>
            </a:r>
            <a:r>
              <a:rPr lang="en-US" dirty="0">
                <a:solidFill>
                  <a:srgbClr val="FF0000"/>
                </a:solidFill>
              </a:rPr>
              <a:t>*a</a:t>
            </a:r>
            <a:r>
              <a:rPr lang="en-US" dirty="0"/>
              <a:t> </a:t>
            </a:r>
            <a:r>
              <a:rPr lang="en-US" dirty="0" err="1"/>
              <a:t>và</a:t>
            </a:r>
            <a:r>
              <a:rPr lang="en-US" dirty="0"/>
              <a:t> </a:t>
            </a:r>
            <a:r>
              <a:rPr lang="en-US" dirty="0">
                <a:solidFill>
                  <a:srgbClr val="FF0000"/>
                </a:solidFill>
              </a:rPr>
              <a:t>*b</a:t>
            </a:r>
            <a:r>
              <a:rPr lang="en-US" dirty="0"/>
              <a:t>, </a:t>
            </a:r>
            <a:r>
              <a:rPr lang="en-US" dirty="0" err="1"/>
              <a:t>ví</a:t>
            </a:r>
            <a:r>
              <a:rPr lang="en-US" dirty="0"/>
              <a:t> </a:t>
            </a:r>
            <a:r>
              <a:rPr lang="en-US" dirty="0" err="1"/>
              <a:t>dụ</a:t>
            </a:r>
            <a:r>
              <a:rPr lang="en-US" dirty="0"/>
              <a:t>, </a:t>
            </a:r>
            <a:r>
              <a:rPr lang="en-US" dirty="0" err="1"/>
              <a:t>không</a:t>
            </a:r>
            <a:r>
              <a:rPr lang="en-US" dirty="0"/>
              <a:t> </a:t>
            </a:r>
            <a:r>
              <a:rPr lang="en-US" dirty="0" err="1"/>
              <a:t>viết</a:t>
            </a:r>
            <a:r>
              <a:rPr lang="en-US" dirty="0"/>
              <a:t>: </a:t>
            </a:r>
            <a:r>
              <a:rPr lang="en-US" dirty="0" err="1">
                <a:solidFill>
                  <a:srgbClr val="FF0000"/>
                </a:solidFill>
                <a:latin typeface="Courier New" pitchFamily="49" charset="0"/>
                <a:cs typeface="Courier New" pitchFamily="49" charset="0"/>
              </a:rPr>
              <a:t>changeValue</a:t>
            </a:r>
            <a:r>
              <a:rPr lang="en-US" dirty="0">
                <a:solidFill>
                  <a:srgbClr val="FF0000"/>
                </a:solidFill>
                <a:latin typeface="Courier New" pitchFamily="49" charset="0"/>
                <a:cs typeface="Courier New" pitchFamily="49" charset="0"/>
              </a:rPr>
              <a:t>(10);</a:t>
            </a:r>
          </a:p>
          <a:p>
            <a:pPr lvl="1">
              <a:defRPr/>
            </a:pPr>
            <a:r>
              <a:rPr lang="en-US" dirty="0" err="1"/>
              <a:t>Truyền</a:t>
            </a:r>
            <a:r>
              <a:rPr lang="en-US" dirty="0"/>
              <a:t> </a:t>
            </a:r>
            <a:r>
              <a:rPr lang="en-US" dirty="0" err="1"/>
              <a:t>giá</a:t>
            </a:r>
            <a:r>
              <a:rPr lang="en-US" dirty="0"/>
              <a:t> </a:t>
            </a:r>
            <a:r>
              <a:rPr lang="en-US" dirty="0" err="1"/>
              <a:t>trị</a:t>
            </a:r>
            <a:r>
              <a:rPr lang="en-US" dirty="0"/>
              <a:t> </a:t>
            </a:r>
            <a:r>
              <a:rPr lang="vi-VN" dirty="0"/>
              <a:t>đượ</a:t>
            </a:r>
            <a:r>
              <a:rPr lang="en-US" dirty="0"/>
              <a:t>c </a:t>
            </a:r>
            <a:r>
              <a:rPr lang="en-US" dirty="0" err="1"/>
              <a:t>sử</a:t>
            </a:r>
            <a:r>
              <a:rPr lang="en-US" dirty="0"/>
              <a:t> </a:t>
            </a:r>
            <a:r>
              <a:rPr lang="en-US" dirty="0" err="1"/>
              <a:t>dụng</a:t>
            </a:r>
            <a:r>
              <a:rPr lang="en-US" dirty="0"/>
              <a:t> </a:t>
            </a:r>
            <a:r>
              <a:rPr lang="en-US" dirty="0" err="1"/>
              <a:t>khi</a:t>
            </a:r>
            <a:r>
              <a:rPr lang="en-US" dirty="0"/>
              <a:t> </a:t>
            </a:r>
            <a:r>
              <a:rPr lang="en-US" dirty="0" err="1">
                <a:solidFill>
                  <a:srgbClr val="FF0000"/>
                </a:solidFill>
              </a:rPr>
              <a:t>không</a:t>
            </a:r>
            <a:r>
              <a:rPr lang="en-US" dirty="0">
                <a:solidFill>
                  <a:srgbClr val="FF0000"/>
                </a:solidFill>
              </a:rPr>
              <a:t> </a:t>
            </a:r>
            <a:r>
              <a:rPr lang="en-US" dirty="0" err="1">
                <a:solidFill>
                  <a:srgbClr val="FF0000"/>
                </a:solidFill>
              </a:rPr>
              <a:t>có</a:t>
            </a:r>
            <a:r>
              <a:rPr lang="en-US" dirty="0">
                <a:solidFill>
                  <a:srgbClr val="FF0000"/>
                </a:solidFill>
              </a:rPr>
              <a:t> </a:t>
            </a:r>
            <a:r>
              <a:rPr lang="en-US" dirty="0" err="1">
                <a:solidFill>
                  <a:srgbClr val="FF0000"/>
                </a:solidFill>
              </a:rPr>
              <a:t>nhu</a:t>
            </a:r>
            <a:r>
              <a:rPr lang="en-US" dirty="0">
                <a:solidFill>
                  <a:srgbClr val="FF0000"/>
                </a:solidFill>
              </a:rPr>
              <a:t> </a:t>
            </a:r>
            <a:r>
              <a:rPr lang="en-US" dirty="0" err="1">
                <a:solidFill>
                  <a:srgbClr val="FF0000"/>
                </a:solidFill>
              </a:rPr>
              <a:t>cầu</a:t>
            </a:r>
            <a:r>
              <a:rPr lang="en-US" dirty="0">
                <a:solidFill>
                  <a:srgbClr val="FF0000"/>
                </a:solidFill>
              </a:rPr>
              <a:t> </a:t>
            </a:r>
            <a:r>
              <a:rPr lang="en-US" dirty="0" err="1">
                <a:solidFill>
                  <a:srgbClr val="FF0000"/>
                </a:solidFill>
              </a:rPr>
              <a:t>thay</a:t>
            </a:r>
            <a:r>
              <a:rPr lang="en-US" dirty="0">
                <a:solidFill>
                  <a:srgbClr val="FF0000"/>
                </a:solidFill>
              </a:rPr>
              <a:t> </a:t>
            </a:r>
            <a:r>
              <a:rPr lang="vi-VN" dirty="0">
                <a:solidFill>
                  <a:srgbClr val="FF0000"/>
                </a:solidFill>
              </a:rPr>
              <a:t>đổ</a:t>
            </a:r>
            <a:r>
              <a:rPr lang="en-US" dirty="0" err="1">
                <a:solidFill>
                  <a:srgbClr val="FF0000"/>
                </a:solidFill>
              </a:rPr>
              <a:t>i</a:t>
            </a:r>
            <a:r>
              <a:rPr lang="en-US" dirty="0">
                <a:solidFill>
                  <a:srgbClr val="FF0000"/>
                </a:solidFill>
              </a:rPr>
              <a:t> </a:t>
            </a:r>
            <a:r>
              <a:rPr lang="en-US" dirty="0" err="1">
                <a:solidFill>
                  <a:srgbClr val="FF0000"/>
                </a:solidFill>
              </a:rPr>
              <a:t>giá</a:t>
            </a:r>
            <a:r>
              <a:rPr lang="en-US" dirty="0">
                <a:solidFill>
                  <a:srgbClr val="FF0000"/>
                </a:solidFill>
              </a:rPr>
              <a:t> </a:t>
            </a:r>
            <a:r>
              <a:rPr lang="en-US" dirty="0" err="1">
                <a:solidFill>
                  <a:srgbClr val="FF0000"/>
                </a:solidFill>
              </a:rPr>
              <a:t>trị</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tham</a:t>
            </a:r>
            <a:r>
              <a:rPr lang="en-US" dirty="0">
                <a:solidFill>
                  <a:srgbClr val="FF0000"/>
                </a:solidFill>
              </a:rPr>
              <a:t> </a:t>
            </a:r>
            <a:r>
              <a:rPr lang="en-US" dirty="0" err="1">
                <a:solidFill>
                  <a:srgbClr val="FF0000"/>
                </a:solidFill>
              </a:rPr>
              <a:t>số</a:t>
            </a:r>
            <a:r>
              <a:rPr lang="en-US" dirty="0"/>
              <a:t> </a:t>
            </a:r>
            <a:r>
              <a:rPr lang="en-US" dirty="0" err="1"/>
              <a:t>sau</a:t>
            </a:r>
            <a:r>
              <a:rPr lang="en-US" dirty="0"/>
              <a:t> </a:t>
            </a:r>
            <a:r>
              <a:rPr lang="en-US" dirty="0" err="1"/>
              <a:t>khi</a:t>
            </a:r>
            <a:r>
              <a:rPr lang="en-US" dirty="0"/>
              <a:t> </a:t>
            </a:r>
            <a:r>
              <a:rPr lang="en-US" dirty="0" err="1"/>
              <a:t>thực</a:t>
            </a:r>
            <a:r>
              <a:rPr lang="en-US" dirty="0"/>
              <a:t> </a:t>
            </a:r>
            <a:r>
              <a:rPr lang="en-US" dirty="0" err="1"/>
              <a:t>hiện</a:t>
            </a:r>
            <a:r>
              <a:rPr lang="en-US" dirty="0"/>
              <a:t> </a:t>
            </a:r>
            <a:r>
              <a:rPr lang="en-US" dirty="0" err="1"/>
              <a:t>hàm</a:t>
            </a:r>
            <a:endParaRPr lang="en-US" dirty="0"/>
          </a:p>
          <a:p>
            <a:pPr lvl="1">
              <a:defRPr/>
            </a:pPr>
            <a:r>
              <a:rPr lang="en-US" dirty="0" err="1"/>
              <a:t>Truyền</a:t>
            </a:r>
            <a:r>
              <a:rPr lang="en-US" dirty="0"/>
              <a:t> </a:t>
            </a:r>
            <a:r>
              <a:rPr lang="en-US" dirty="0" err="1"/>
              <a:t>địa</a:t>
            </a:r>
            <a:r>
              <a:rPr lang="en-US" dirty="0"/>
              <a:t> </a:t>
            </a:r>
            <a:r>
              <a:rPr lang="en-US" dirty="0" err="1"/>
              <a:t>chỉ</a:t>
            </a:r>
            <a:r>
              <a:rPr lang="en-US" dirty="0"/>
              <a:t> </a:t>
            </a:r>
            <a:r>
              <a:rPr lang="vi-VN" dirty="0"/>
              <a:t>đượ</a:t>
            </a:r>
            <a:r>
              <a:rPr lang="en-US" dirty="0"/>
              <a:t>c </a:t>
            </a:r>
            <a:r>
              <a:rPr lang="en-US" dirty="0" err="1"/>
              <a:t>sử</a:t>
            </a:r>
            <a:r>
              <a:rPr lang="en-US" dirty="0"/>
              <a:t> </a:t>
            </a:r>
            <a:r>
              <a:rPr lang="en-US" dirty="0" err="1"/>
              <a:t>dụng</a:t>
            </a:r>
            <a:r>
              <a:rPr lang="en-US" dirty="0"/>
              <a:t> </a:t>
            </a:r>
            <a:r>
              <a:rPr lang="en-US" dirty="0" err="1"/>
              <a:t>khi</a:t>
            </a:r>
            <a:r>
              <a:rPr lang="en-US" dirty="0"/>
              <a:t> </a:t>
            </a:r>
            <a:r>
              <a:rPr lang="en-US" dirty="0" err="1"/>
              <a:t>có</a:t>
            </a:r>
            <a:r>
              <a:rPr lang="en-US" dirty="0"/>
              <a:t> </a:t>
            </a:r>
            <a:r>
              <a:rPr lang="en-US" dirty="0" err="1">
                <a:solidFill>
                  <a:srgbClr val="FF0000"/>
                </a:solidFill>
              </a:rPr>
              <a:t>nhu</a:t>
            </a:r>
            <a:r>
              <a:rPr lang="en-US" dirty="0">
                <a:solidFill>
                  <a:srgbClr val="FF0000"/>
                </a:solidFill>
              </a:rPr>
              <a:t> </a:t>
            </a:r>
            <a:r>
              <a:rPr lang="en-US" dirty="0" err="1">
                <a:solidFill>
                  <a:srgbClr val="FF0000"/>
                </a:solidFill>
              </a:rPr>
              <a:t>cầu</a:t>
            </a:r>
            <a:r>
              <a:rPr lang="en-US" dirty="0">
                <a:solidFill>
                  <a:srgbClr val="FF0000"/>
                </a:solidFill>
              </a:rPr>
              <a:t> </a:t>
            </a:r>
            <a:r>
              <a:rPr lang="en-US" dirty="0" err="1">
                <a:solidFill>
                  <a:srgbClr val="FF0000"/>
                </a:solidFill>
              </a:rPr>
              <a:t>thay</a:t>
            </a:r>
            <a:r>
              <a:rPr lang="en-US" dirty="0">
                <a:solidFill>
                  <a:srgbClr val="FF0000"/>
                </a:solidFill>
              </a:rPr>
              <a:t> </a:t>
            </a:r>
            <a:r>
              <a:rPr lang="vi-VN" dirty="0">
                <a:solidFill>
                  <a:srgbClr val="FF0000"/>
                </a:solidFill>
              </a:rPr>
              <a:t>đổ</a:t>
            </a:r>
            <a:r>
              <a:rPr lang="en-US" dirty="0" err="1">
                <a:solidFill>
                  <a:srgbClr val="FF0000"/>
                </a:solidFill>
              </a:rPr>
              <a:t>i</a:t>
            </a:r>
            <a:r>
              <a:rPr lang="en-US" dirty="0">
                <a:solidFill>
                  <a:srgbClr val="FF0000"/>
                </a:solidFill>
              </a:rPr>
              <a:t> </a:t>
            </a:r>
            <a:r>
              <a:rPr lang="en-US" dirty="0" err="1">
                <a:solidFill>
                  <a:srgbClr val="FF0000"/>
                </a:solidFill>
              </a:rPr>
              <a:t>giá</a:t>
            </a:r>
            <a:r>
              <a:rPr lang="en-US" dirty="0">
                <a:solidFill>
                  <a:srgbClr val="FF0000"/>
                </a:solidFill>
              </a:rPr>
              <a:t> </a:t>
            </a:r>
            <a:r>
              <a:rPr lang="en-US" dirty="0" err="1">
                <a:solidFill>
                  <a:srgbClr val="FF0000"/>
                </a:solidFill>
              </a:rPr>
              <a:t>trị</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tham</a:t>
            </a:r>
            <a:r>
              <a:rPr lang="en-US" dirty="0">
                <a:solidFill>
                  <a:srgbClr val="FF0000"/>
                </a:solidFill>
              </a:rPr>
              <a:t> </a:t>
            </a:r>
            <a:r>
              <a:rPr lang="en-US" dirty="0" err="1">
                <a:solidFill>
                  <a:srgbClr val="FF0000"/>
                </a:solidFill>
              </a:rPr>
              <a:t>số</a:t>
            </a:r>
            <a:r>
              <a:rPr lang="en-US" dirty="0"/>
              <a:t> </a:t>
            </a:r>
            <a:r>
              <a:rPr lang="en-US" dirty="0" err="1"/>
              <a:t>sau</a:t>
            </a:r>
            <a:r>
              <a:rPr lang="en-US" dirty="0"/>
              <a:t> </a:t>
            </a:r>
            <a:r>
              <a:rPr lang="en-US" dirty="0" err="1"/>
              <a:t>khi</a:t>
            </a:r>
            <a:r>
              <a:rPr lang="en-US" dirty="0"/>
              <a:t> </a:t>
            </a:r>
            <a:r>
              <a:rPr lang="en-US" dirty="0" err="1"/>
              <a:t>thực</a:t>
            </a:r>
            <a:r>
              <a:rPr lang="en-US" dirty="0"/>
              <a:t> </a:t>
            </a:r>
            <a:r>
              <a:rPr lang="en-US" dirty="0" err="1"/>
              <a:t>hiện</a:t>
            </a:r>
            <a:r>
              <a:rPr lang="en-US" dirty="0"/>
              <a:t> </a:t>
            </a:r>
            <a:r>
              <a:rPr lang="en-US" dirty="0" err="1"/>
              <a:t>hàm</a:t>
            </a:r>
            <a:endParaRPr lang="en-US" dirty="0">
              <a:latin typeface="Courier New" pitchFamily="49" charset="0"/>
              <a:cs typeface="Courier New" pitchFamily="49" charset="0"/>
            </a:endParaRPr>
          </a:p>
        </p:txBody>
      </p:sp>
      <p:sp>
        <p:nvSpPr>
          <p:cNvPr id="2" name="Date Placeholder 1"/>
          <p:cNvSpPr>
            <a:spLocks noGrp="1"/>
          </p:cNvSpPr>
          <p:nvPr>
            <p:ph type="dt" sz="half" idx="10"/>
          </p:nvPr>
        </p:nvSpPr>
        <p:spPr/>
        <p:txBody>
          <a:bodyPr/>
          <a:lstStyle/>
          <a:p>
            <a:fld id="{737721BC-A0D4-45C8-B579-8D54A8FBDC69}" type="datetime1">
              <a:rPr lang="vi-VN" smtClean="0"/>
              <a:t>09/05/2023</a:t>
            </a:fld>
            <a:endParaRPr lang="vi-VN"/>
          </a:p>
        </p:txBody>
      </p:sp>
      <p:sp>
        <p:nvSpPr>
          <p:cNvPr id="33796" name="Footer Placeholder 3"/>
          <p:cNvSpPr>
            <a:spLocks noGrp="1"/>
          </p:cNvSpPr>
          <p:nvPr>
            <p:ph type="ftr" sz="quarter" idx="11"/>
          </p:nvPr>
        </p:nvSpPr>
        <p:spPr>
          <a:noFill/>
        </p:spPr>
        <p:txBody>
          <a:bodyPr/>
          <a:lstStyle/>
          <a:p>
            <a:r>
              <a:rPr lang="vi-VN"/>
              <a:t>Chương 4 - Chương trình con</a:t>
            </a:r>
            <a:endParaRPr lang="en-US"/>
          </a:p>
        </p:txBody>
      </p:sp>
      <p:sp>
        <p:nvSpPr>
          <p:cNvPr id="6" name="TextBox 5"/>
          <p:cNvSpPr txBox="1">
            <a:spLocks noChangeArrowheads="1"/>
          </p:cNvSpPr>
          <p:nvPr/>
        </p:nvSpPr>
        <p:spPr bwMode="auto">
          <a:xfrm>
            <a:off x="1403648" y="2383631"/>
            <a:ext cx="7010400" cy="1323439"/>
          </a:xfrm>
          <a:prstGeom prst="rect">
            <a:avLst/>
          </a:prstGeom>
          <a:noFill/>
          <a:ln w="9525">
            <a:noFill/>
            <a:miter lim="800000"/>
            <a:headEnd/>
            <a:tailEnd/>
          </a:ln>
        </p:spPr>
        <p:txBody>
          <a:bodyPr>
            <a:spAutoFit/>
          </a:bodyPr>
          <a:lstStyle/>
          <a:p>
            <a:r>
              <a:rPr lang="en-US" sz="2000" b="1">
                <a:latin typeface="Courier New" pitchFamily="49" charset="0"/>
                <a:cs typeface="Courier New" pitchFamily="49" charset="0"/>
              </a:rPr>
              <a:t>void HonHop(int x, int </a:t>
            </a:r>
            <a:r>
              <a:rPr lang="en-US" sz="2000" b="1">
                <a:solidFill>
                  <a:srgbClr val="FF0000"/>
                </a:solidFill>
                <a:latin typeface="Courier New" pitchFamily="49" charset="0"/>
                <a:cs typeface="Courier New" pitchFamily="49" charset="0"/>
              </a:rPr>
              <a:t>*</a:t>
            </a:r>
            <a:r>
              <a:rPr lang="en-US" sz="2000" b="1">
                <a:latin typeface="Courier New" pitchFamily="49" charset="0"/>
                <a:cs typeface="Courier New" pitchFamily="49" charset="0"/>
              </a:rPr>
              <a:t>y)</a:t>
            </a:r>
          </a:p>
          <a:p>
            <a:r>
              <a:rPr lang="en-US" sz="2000" b="1">
                <a:latin typeface="Courier New" pitchFamily="49" charset="0"/>
                <a:cs typeface="Courier New" pitchFamily="49" charset="0"/>
              </a:rPr>
              <a:t>{</a:t>
            </a:r>
          </a:p>
          <a:p>
            <a:r>
              <a:rPr lang="en-US" sz="2000" b="1">
                <a:latin typeface="Courier New" pitchFamily="49" charset="0"/>
                <a:cs typeface="Courier New" pitchFamily="49" charset="0"/>
              </a:rPr>
              <a:t>	...</a:t>
            </a:r>
          </a:p>
          <a:p>
            <a:r>
              <a:rPr lang="en-US" sz="2000" b="1">
                <a:latin typeface="Courier New" pitchFamily="49" charset="0"/>
                <a:cs typeface="Courier New" pitchFamily="49" charset="0"/>
              </a:rPr>
              <a:t>}</a:t>
            </a:r>
          </a:p>
        </p:txBody>
      </p:sp>
      <p:sp>
        <p:nvSpPr>
          <p:cNvPr id="10" name="Slide Number Placeholder 9"/>
          <p:cNvSpPr>
            <a:spLocks noGrp="1"/>
          </p:cNvSpPr>
          <p:nvPr>
            <p:ph type="sldNum" sz="quarter" idx="12"/>
          </p:nvPr>
        </p:nvSpPr>
        <p:spPr/>
        <p:txBody>
          <a:bodyPr/>
          <a:lstStyle/>
          <a:p>
            <a:fld id="{5AB95402-1E0D-474E-8D8C-CBE7F053639E}" type="slidenum">
              <a:rPr lang="vi-VN" smtClean="0"/>
              <a:pPr/>
              <a:t>26</a:t>
            </a:fld>
            <a:r>
              <a:rPr lang="vi-VN"/>
              <a:t>/43</a:t>
            </a:r>
          </a:p>
        </p:txBody>
      </p:sp>
    </p:spTree>
    <p:extLst>
      <p:ext uri="{BB962C8B-B14F-4D97-AF65-F5344CB8AC3E}">
        <p14:creationId xmlns:p14="http://schemas.microsoft.com/office/powerpoint/2010/main" val="2934434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down)">
                                      <p:cBhvr>
                                        <p:cTn id="12" dur="500"/>
                                        <p:tgtEl>
                                          <p:spTgt spid="6">
                                            <p:txEl>
                                              <p:pRg st="0" end="0"/>
                                            </p:txEl>
                                          </p:spTgt>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wipe(down)">
                                      <p:cBhvr>
                                        <p:cTn id="16" dur="500"/>
                                        <p:tgtEl>
                                          <p:spTgt spid="6">
                                            <p:txEl>
                                              <p:pRg st="1" end="1"/>
                                            </p:txEl>
                                          </p:spTgt>
                                        </p:tgtEl>
                                      </p:cBhvr>
                                    </p:animEffect>
                                  </p:childTnLst>
                                </p:cTn>
                              </p:par>
                            </p:childTnLst>
                          </p:cTn>
                        </p:par>
                        <p:par>
                          <p:cTn id="17" fill="hold">
                            <p:stCondLst>
                              <p:cond delay="1000"/>
                            </p:stCondLst>
                            <p:childTnLst>
                              <p:par>
                                <p:cTn id="18" presetID="22" presetClass="entr" presetSubtype="4" fill="hold" grpId="0" nodeType="after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wipe(down)">
                                      <p:cBhvr>
                                        <p:cTn id="20" dur="500"/>
                                        <p:tgtEl>
                                          <p:spTgt spid="6">
                                            <p:txEl>
                                              <p:pRg st="2" end="2"/>
                                            </p:txEl>
                                          </p:spTgt>
                                        </p:tgtEl>
                                      </p:cBhvr>
                                    </p:animEffect>
                                  </p:childTnLst>
                                </p:cTn>
                              </p:par>
                            </p:childTnLst>
                          </p:cTn>
                        </p:par>
                        <p:par>
                          <p:cTn id="21" fill="hold">
                            <p:stCondLst>
                              <p:cond delay="1500"/>
                            </p:stCondLst>
                            <p:childTnLst>
                              <p:par>
                                <p:cTn id="22" presetID="22" presetClass="entr" presetSubtype="4" fill="hold" grpId="0" nodeType="after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wipe(down)">
                                      <p:cBhvr>
                                        <p:cTn id="24" dur="500"/>
                                        <p:tgtEl>
                                          <p:spTgt spid="6">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wipe(left)">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left)">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wipe(left)">
                                      <p:cBhvr>
                                        <p:cTn id="39"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t>Lời gọi hàm</a:t>
            </a:r>
          </a:p>
        </p:txBody>
      </p:sp>
      <p:sp>
        <p:nvSpPr>
          <p:cNvPr id="3" name="Content Placeholder 2"/>
          <p:cNvSpPr>
            <a:spLocks noGrp="1"/>
          </p:cNvSpPr>
          <p:nvPr>
            <p:ph idx="1"/>
          </p:nvPr>
        </p:nvSpPr>
        <p:spPr/>
        <p:txBody>
          <a:bodyPr/>
          <a:lstStyle/>
          <a:p>
            <a:pPr>
              <a:defRPr/>
            </a:pPr>
            <a:r>
              <a:rPr lang="en-US">
                <a:solidFill>
                  <a:srgbClr val="002060"/>
                </a:solidFill>
              </a:rPr>
              <a:t>Cách thực hiện</a:t>
            </a:r>
          </a:p>
          <a:p>
            <a:pPr lvl="1">
              <a:defRPr/>
            </a:pPr>
            <a:r>
              <a:rPr lang="en-US"/>
              <a:t>Gọi tên của hàm </a:t>
            </a:r>
            <a:r>
              <a:rPr lang="vi-VN"/>
              <a:t>đồ</a:t>
            </a:r>
            <a:r>
              <a:rPr lang="en-US"/>
              <a:t>ng thời truyền các </a:t>
            </a:r>
            <a:r>
              <a:rPr lang="vi-VN"/>
              <a:t>đố</a:t>
            </a:r>
            <a:r>
              <a:rPr lang="en-US"/>
              <a:t>i số (hằng, biến, biểu thức) cho các tham số theo </a:t>
            </a:r>
            <a:r>
              <a:rPr lang="vi-VN"/>
              <a:t>đú</a:t>
            </a:r>
            <a:r>
              <a:rPr lang="en-US"/>
              <a:t>ng thứ tự </a:t>
            </a:r>
            <a:r>
              <a:rPr lang="vi-VN"/>
              <a:t>đã</a:t>
            </a:r>
            <a:r>
              <a:rPr lang="en-US"/>
              <a:t> </a:t>
            </a:r>
            <a:r>
              <a:rPr lang="vi-VN"/>
              <a:t>đượ</a:t>
            </a:r>
            <a:r>
              <a:rPr lang="en-US"/>
              <a:t>c khai báo trong hàm.</a:t>
            </a:r>
          </a:p>
          <a:p>
            <a:pPr lvl="1">
              <a:defRPr/>
            </a:pPr>
            <a:r>
              <a:rPr lang="en-US"/>
              <a:t>Các biến hoặc trị này cách nhau bằng dấu </a:t>
            </a:r>
            <a:r>
              <a:rPr lang="en-US">
                <a:solidFill>
                  <a:srgbClr val="FF0000"/>
                </a:solidFill>
              </a:rPr>
              <a:t>,</a:t>
            </a:r>
          </a:p>
          <a:p>
            <a:pPr lvl="1">
              <a:defRPr/>
            </a:pPr>
            <a:r>
              <a:rPr lang="en-US"/>
              <a:t>Các </a:t>
            </a:r>
            <a:r>
              <a:rPr lang="vi-VN"/>
              <a:t>đố</a:t>
            </a:r>
            <a:r>
              <a:rPr lang="en-US"/>
              <a:t>i số này </a:t>
            </a:r>
            <a:r>
              <a:rPr lang="vi-VN"/>
              <a:t>đượ</a:t>
            </a:r>
            <a:r>
              <a:rPr lang="en-US"/>
              <a:t>c </a:t>
            </a:r>
            <a:r>
              <a:rPr lang="vi-VN"/>
              <a:t>đượ</a:t>
            </a:r>
            <a:r>
              <a:rPr lang="en-US"/>
              <a:t>c </a:t>
            </a:r>
            <a:r>
              <a:rPr lang="vi-VN"/>
              <a:t>đặ</a:t>
            </a:r>
            <a:r>
              <a:rPr lang="en-US"/>
              <a:t>t trong cặp dấu ngoặc </a:t>
            </a:r>
            <a:r>
              <a:rPr lang="vi-VN"/>
              <a:t>đơ</a:t>
            </a:r>
            <a:r>
              <a:rPr lang="en-US"/>
              <a:t>n </a:t>
            </a:r>
            <a:r>
              <a:rPr lang="en-US">
                <a:solidFill>
                  <a:srgbClr val="FF0000"/>
                </a:solidFill>
              </a:rPr>
              <a:t>(</a:t>
            </a:r>
            <a:r>
              <a:rPr lang="en-US"/>
              <a:t> </a:t>
            </a:r>
            <a:r>
              <a:rPr lang="en-US">
                <a:solidFill>
                  <a:srgbClr val="FF0000"/>
                </a:solidFill>
              </a:rPr>
              <a:t>)</a:t>
            </a:r>
          </a:p>
          <a:p>
            <a:pPr lvl="1">
              <a:buFont typeface="Wingdings" pitchFamily="2" charset="2"/>
              <a:buNone/>
              <a:defRPr/>
            </a:pPr>
            <a:endParaRPr lang="en-US"/>
          </a:p>
          <a:p>
            <a:pPr lvl="1" algn="ctr">
              <a:buFont typeface="Wingdings" pitchFamily="2" charset="2"/>
              <a:buNone/>
              <a:defRPr/>
            </a:pPr>
            <a:r>
              <a:rPr lang="en-US">
                <a:latin typeface="Courier New" pitchFamily="49" charset="0"/>
                <a:cs typeface="Courier New" pitchFamily="49" charset="0"/>
              </a:rPr>
              <a:t>&lt;tên hàm&gt; </a:t>
            </a:r>
            <a:r>
              <a:rPr lang="en-US">
                <a:solidFill>
                  <a:srgbClr val="FF0000"/>
                </a:solidFill>
                <a:latin typeface="Courier New" pitchFamily="49" charset="0"/>
                <a:cs typeface="Courier New" pitchFamily="49" charset="0"/>
              </a:rPr>
              <a:t>(</a:t>
            </a:r>
            <a:r>
              <a:rPr lang="en-US">
                <a:latin typeface="Courier New" pitchFamily="49" charset="0"/>
                <a:cs typeface="Courier New" pitchFamily="49" charset="0"/>
              </a:rPr>
              <a:t>&lt;</a:t>
            </a:r>
            <a:r>
              <a:rPr lang="vi-VN">
                <a:latin typeface="Courier New" pitchFamily="49" charset="0"/>
                <a:cs typeface="Courier New" pitchFamily="49" charset="0"/>
              </a:rPr>
              <a:t>đố</a:t>
            </a:r>
            <a:r>
              <a:rPr lang="en-US">
                <a:latin typeface="Courier New" pitchFamily="49" charset="0"/>
                <a:cs typeface="Courier New" pitchFamily="49" charset="0"/>
              </a:rPr>
              <a:t>i số 1&gt;</a:t>
            </a:r>
            <a:r>
              <a:rPr lang="en-US">
                <a:solidFill>
                  <a:srgbClr val="FF0000"/>
                </a:solidFill>
                <a:latin typeface="Courier New" pitchFamily="49" charset="0"/>
                <a:cs typeface="Courier New" pitchFamily="49" charset="0"/>
              </a:rPr>
              <a:t>,</a:t>
            </a:r>
            <a:r>
              <a:rPr lang="en-US">
                <a:latin typeface="Courier New" pitchFamily="49" charset="0"/>
                <a:cs typeface="Courier New" pitchFamily="49" charset="0"/>
              </a:rPr>
              <a:t>… </a:t>
            </a:r>
            <a:r>
              <a:rPr lang="en-US">
                <a:solidFill>
                  <a:srgbClr val="FF0000"/>
                </a:solidFill>
                <a:latin typeface="Courier New" pitchFamily="49" charset="0"/>
                <a:cs typeface="Courier New" pitchFamily="49" charset="0"/>
              </a:rPr>
              <a:t>,</a:t>
            </a:r>
            <a:r>
              <a:rPr lang="en-US">
                <a:latin typeface="Courier New" pitchFamily="49" charset="0"/>
                <a:cs typeface="Courier New" pitchFamily="49" charset="0"/>
              </a:rPr>
              <a:t> &lt;</a:t>
            </a:r>
            <a:r>
              <a:rPr lang="vi-VN">
                <a:latin typeface="Courier New" pitchFamily="49" charset="0"/>
                <a:cs typeface="Courier New" pitchFamily="49" charset="0"/>
              </a:rPr>
              <a:t>đố</a:t>
            </a:r>
            <a:r>
              <a:rPr lang="en-US">
                <a:latin typeface="Courier New" pitchFamily="49" charset="0"/>
                <a:cs typeface="Courier New" pitchFamily="49" charset="0"/>
              </a:rPr>
              <a:t>i số n&gt;</a:t>
            </a:r>
            <a:r>
              <a:rPr lang="en-US">
                <a:solidFill>
                  <a:srgbClr val="FF0000"/>
                </a:solidFill>
                <a:latin typeface="Courier New" pitchFamily="49" charset="0"/>
                <a:cs typeface="Courier New" pitchFamily="49" charset="0"/>
              </a:rPr>
              <a:t>)</a:t>
            </a:r>
            <a:r>
              <a:rPr lang="en-US">
                <a:latin typeface="Courier New" pitchFamily="49" charset="0"/>
                <a:cs typeface="Courier New" pitchFamily="49" charset="0"/>
              </a:rPr>
              <a:t>;</a:t>
            </a:r>
          </a:p>
        </p:txBody>
      </p:sp>
      <p:sp>
        <p:nvSpPr>
          <p:cNvPr id="2" name="Date Placeholder 1"/>
          <p:cNvSpPr>
            <a:spLocks noGrp="1"/>
          </p:cNvSpPr>
          <p:nvPr>
            <p:ph type="dt" sz="half" idx="10"/>
          </p:nvPr>
        </p:nvSpPr>
        <p:spPr/>
        <p:txBody>
          <a:bodyPr/>
          <a:lstStyle/>
          <a:p>
            <a:fld id="{B74A91FC-0943-42E3-9E0B-6B6F30B71B00}" type="datetime1">
              <a:rPr lang="vi-VN" smtClean="0"/>
              <a:t>09/05/2023</a:t>
            </a:fld>
            <a:endParaRPr lang="vi-VN"/>
          </a:p>
        </p:txBody>
      </p:sp>
      <p:sp>
        <p:nvSpPr>
          <p:cNvPr id="35844" name="Footer Placeholder 3"/>
          <p:cNvSpPr>
            <a:spLocks noGrp="1"/>
          </p:cNvSpPr>
          <p:nvPr>
            <p:ph type="ftr" sz="quarter" idx="11"/>
          </p:nvPr>
        </p:nvSpPr>
        <p:spPr>
          <a:noFill/>
        </p:spPr>
        <p:txBody>
          <a:bodyPr/>
          <a:lstStyle/>
          <a:p>
            <a:r>
              <a:rPr lang="vi-VN"/>
              <a:t>Chương 4 - Chương trình con</a:t>
            </a:r>
            <a:endParaRPr lang="en-US"/>
          </a:p>
        </p:txBody>
      </p:sp>
      <p:sp>
        <p:nvSpPr>
          <p:cNvPr id="6" name="Slide Number Placeholder 5"/>
          <p:cNvSpPr>
            <a:spLocks noGrp="1"/>
          </p:cNvSpPr>
          <p:nvPr>
            <p:ph type="sldNum" sz="quarter" idx="12"/>
          </p:nvPr>
        </p:nvSpPr>
        <p:spPr/>
        <p:txBody>
          <a:bodyPr/>
          <a:lstStyle/>
          <a:p>
            <a:fld id="{5AB95402-1E0D-474E-8D8C-CBE7F053639E}" type="slidenum">
              <a:rPr lang="vi-VN" smtClean="0"/>
              <a:pPr/>
              <a:t>27</a:t>
            </a:fld>
            <a:r>
              <a:rPr lang="vi-VN"/>
              <a:t>/43</a:t>
            </a:r>
          </a:p>
        </p:txBody>
      </p:sp>
    </p:spTree>
    <p:extLst>
      <p:ext uri="{BB962C8B-B14F-4D97-AF65-F5344CB8AC3E}">
        <p14:creationId xmlns:p14="http://schemas.microsoft.com/office/powerpoint/2010/main" val="2825247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up)">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left)">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t>4.5 Hàm đệ quy</a:t>
            </a:r>
          </a:p>
        </p:txBody>
      </p:sp>
      <p:sp>
        <p:nvSpPr>
          <p:cNvPr id="3" name="Content Placeholder 2"/>
          <p:cNvSpPr>
            <a:spLocks noGrp="1"/>
          </p:cNvSpPr>
          <p:nvPr>
            <p:ph idx="1"/>
          </p:nvPr>
        </p:nvSpPr>
        <p:spPr>
          <a:xfrm>
            <a:off x="762000" y="1143000"/>
            <a:ext cx="8130480" cy="5181600"/>
          </a:xfrm>
        </p:spPr>
        <p:txBody>
          <a:bodyPr/>
          <a:lstStyle/>
          <a:p>
            <a:pPr>
              <a:defRPr/>
            </a:pPr>
            <a:r>
              <a:rPr lang="en-US">
                <a:solidFill>
                  <a:srgbClr val="002060"/>
                </a:solidFill>
              </a:rPr>
              <a:t>Khái niệm</a:t>
            </a:r>
          </a:p>
          <a:p>
            <a:pPr lvl="1">
              <a:defRPr/>
            </a:pPr>
            <a:r>
              <a:rPr lang="en-US"/>
              <a:t>Một ch</a:t>
            </a:r>
            <a:r>
              <a:rPr lang="vi-VN"/>
              <a:t>ươ</a:t>
            </a:r>
            <a:r>
              <a:rPr lang="en-US"/>
              <a:t>ng trình con có thể gọi một ch</a:t>
            </a:r>
            <a:r>
              <a:rPr lang="vi-VN"/>
              <a:t>ươ</a:t>
            </a:r>
            <a:r>
              <a:rPr lang="en-US"/>
              <a:t>ng trình con khác.</a:t>
            </a:r>
          </a:p>
          <a:p>
            <a:pPr lvl="1">
              <a:defRPr/>
            </a:pPr>
            <a:r>
              <a:rPr lang="en-US"/>
              <a:t>Nếu </a:t>
            </a:r>
            <a:r>
              <a:rPr lang="en-US">
                <a:solidFill>
                  <a:srgbClr val="FF0000"/>
                </a:solidFill>
              </a:rPr>
              <a:t>gọi chính nó</a:t>
            </a:r>
            <a:r>
              <a:rPr lang="en-US"/>
              <a:t> thì </a:t>
            </a:r>
            <a:r>
              <a:rPr lang="vi-VN"/>
              <a:t>đượ</a:t>
            </a:r>
            <a:r>
              <a:rPr lang="en-US"/>
              <a:t>c gọi là sự </a:t>
            </a:r>
            <a:r>
              <a:rPr lang="vi-VN"/>
              <a:t>đệ</a:t>
            </a:r>
            <a:r>
              <a:rPr lang="en-US"/>
              <a:t> quy.</a:t>
            </a:r>
          </a:p>
          <a:p>
            <a:pPr lvl="1">
              <a:defRPr/>
            </a:pPr>
            <a:r>
              <a:rPr lang="en-US">
                <a:solidFill>
                  <a:srgbClr val="FF0000"/>
                </a:solidFill>
              </a:rPr>
              <a:t>Số lần gọi này phải có giới hạn</a:t>
            </a:r>
            <a:r>
              <a:rPr lang="en-US"/>
              <a:t> (</a:t>
            </a:r>
            <a:r>
              <a:rPr lang="vi-VN"/>
              <a:t>đ</a:t>
            </a:r>
            <a:r>
              <a:rPr lang="en-US"/>
              <a:t>iểm dừng)</a:t>
            </a:r>
          </a:p>
          <a:p>
            <a:pPr>
              <a:defRPr/>
            </a:pPr>
            <a:r>
              <a:rPr lang="en-US">
                <a:solidFill>
                  <a:srgbClr val="002060"/>
                </a:solidFill>
              </a:rPr>
              <a:t>Ví dụ</a:t>
            </a:r>
          </a:p>
          <a:p>
            <a:pPr lvl="1">
              <a:defRPr/>
            </a:pPr>
            <a:r>
              <a:rPr lang="en-US"/>
              <a:t>Tính GT(n) = n! = 1*2*…*(n-1)*n</a:t>
            </a:r>
          </a:p>
          <a:p>
            <a:pPr lvl="1">
              <a:defRPr/>
            </a:pPr>
            <a:r>
              <a:rPr lang="en-US"/>
              <a:t>Ta thấy GT(n) = GT(n-1)*n</a:t>
            </a:r>
          </a:p>
          <a:p>
            <a:pPr lvl="1">
              <a:defRPr/>
            </a:pPr>
            <a:r>
              <a:rPr lang="en-US"/>
              <a:t>Vậy thay vì tính GT(n) ta sẽ </a:t>
            </a:r>
            <a:r>
              <a:rPr lang="vi-VN"/>
              <a:t>đ</a:t>
            </a:r>
            <a:r>
              <a:rPr lang="en-US"/>
              <a:t>i tính GT(n-1)</a:t>
            </a:r>
          </a:p>
          <a:p>
            <a:pPr lvl="1">
              <a:defRPr/>
            </a:pPr>
            <a:r>
              <a:rPr lang="en-US"/>
              <a:t>T</a:t>
            </a:r>
            <a:r>
              <a:rPr lang="vi-VN"/>
              <a:t>ươ</a:t>
            </a:r>
            <a:r>
              <a:rPr lang="en-US"/>
              <a:t>ng tự: tính GT(n-2), …, GT(2), GT(1), GT(0) = 1</a:t>
            </a:r>
          </a:p>
        </p:txBody>
      </p:sp>
      <p:sp>
        <p:nvSpPr>
          <p:cNvPr id="2" name="Date Placeholder 1"/>
          <p:cNvSpPr>
            <a:spLocks noGrp="1"/>
          </p:cNvSpPr>
          <p:nvPr>
            <p:ph type="dt" sz="half" idx="10"/>
          </p:nvPr>
        </p:nvSpPr>
        <p:spPr/>
        <p:txBody>
          <a:bodyPr/>
          <a:lstStyle/>
          <a:p>
            <a:fld id="{E2A7B14E-A36D-44FE-B0FE-C61F3EA623D5}" type="datetime1">
              <a:rPr lang="vi-VN" smtClean="0"/>
              <a:t>09/05/2023</a:t>
            </a:fld>
            <a:endParaRPr lang="vi-VN"/>
          </a:p>
        </p:txBody>
      </p:sp>
      <p:sp>
        <p:nvSpPr>
          <p:cNvPr id="38916" name="Footer Placeholder 3"/>
          <p:cNvSpPr>
            <a:spLocks noGrp="1"/>
          </p:cNvSpPr>
          <p:nvPr>
            <p:ph type="ftr" sz="quarter" idx="11"/>
          </p:nvPr>
        </p:nvSpPr>
        <p:spPr>
          <a:noFill/>
        </p:spPr>
        <p:txBody>
          <a:bodyPr/>
          <a:lstStyle/>
          <a:p>
            <a:r>
              <a:rPr lang="vi-VN"/>
              <a:t>Chương 4 - Chương trình con</a:t>
            </a:r>
            <a:endParaRPr lang="en-US"/>
          </a:p>
        </p:txBody>
      </p:sp>
      <p:sp>
        <p:nvSpPr>
          <p:cNvPr id="6" name="Slide Number Placeholder 5"/>
          <p:cNvSpPr>
            <a:spLocks noGrp="1"/>
          </p:cNvSpPr>
          <p:nvPr>
            <p:ph type="sldNum" sz="quarter" idx="12"/>
          </p:nvPr>
        </p:nvSpPr>
        <p:spPr/>
        <p:txBody>
          <a:bodyPr/>
          <a:lstStyle/>
          <a:p>
            <a:fld id="{5AB95402-1E0D-474E-8D8C-CBE7F053639E}" type="slidenum">
              <a:rPr lang="vi-VN" smtClean="0"/>
              <a:pPr/>
              <a:t>28</a:t>
            </a:fld>
            <a:r>
              <a:rPr lang="vi-VN"/>
              <a:t>/43</a:t>
            </a:r>
          </a:p>
        </p:txBody>
      </p:sp>
    </p:spTree>
    <p:extLst>
      <p:ext uri="{BB962C8B-B14F-4D97-AF65-F5344CB8AC3E}">
        <p14:creationId xmlns:p14="http://schemas.microsoft.com/office/powerpoint/2010/main" val="286406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10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anim calcmode="lin" valueType="num">
                                      <p:cBhvr>
                                        <p:cTn id="2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500" fill="hold"/>
                                        <p:tgtEl>
                                          <p:spTgt spid="3">
                                            <p:txEl>
                                              <p:pRg st="4" end="4"/>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anim calcmode="lin" valueType="num">
                                      <p:cBhvr>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8" dur="5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anim calcmode="lin" valueType="num">
                                      <p:cBhvr>
                                        <p:cTn id="34"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5" dur="5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anim calcmode="lin" valueType="num">
                                      <p:cBhvr>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2" dur="5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anim calcmode="lin" valueType="num">
                                      <p:cBhvr>
                                        <p:cTn id="4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9" dur="5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ight Arrow 39"/>
          <p:cNvSpPr>
            <a:spLocks noChangeArrowheads="1"/>
          </p:cNvSpPr>
          <p:nvPr/>
        </p:nvSpPr>
        <p:spPr bwMode="auto">
          <a:xfrm>
            <a:off x="3581400" y="2590800"/>
            <a:ext cx="838200" cy="914400"/>
          </a:xfrm>
          <a:prstGeom prst="rightArrow">
            <a:avLst>
              <a:gd name="adj1" fmla="val 50000"/>
              <a:gd name="adj2" fmla="val 50000"/>
            </a:avLst>
          </a:prstGeom>
          <a:gradFill rotWithShape="1">
            <a:gsLst>
              <a:gs pos="0">
                <a:srgbClr val="FFFFFF">
                  <a:alpha val="79999"/>
                </a:srgbClr>
              </a:gs>
              <a:gs pos="100000">
                <a:srgbClr val="FFCC66"/>
              </a:gs>
            </a:gsLst>
            <a:lin ang="0" scaled="1"/>
          </a:gradFill>
          <a:ln w="9525" algn="ctr">
            <a:noFill/>
            <a:round/>
            <a:headEnd/>
            <a:tailEnd/>
          </a:ln>
        </p:spPr>
        <p:txBody>
          <a:bodyPr wrap="none" anchor="ctr"/>
          <a:lstStyle/>
          <a:p>
            <a:pPr algn="r"/>
            <a:endParaRPr lang="en-US" sz="3600" b="1">
              <a:solidFill>
                <a:schemeClr val="bg1"/>
              </a:solidFill>
            </a:endParaRPr>
          </a:p>
        </p:txBody>
      </p:sp>
      <p:sp>
        <p:nvSpPr>
          <p:cNvPr id="41" name="Right Arrow 40"/>
          <p:cNvSpPr>
            <a:spLocks noChangeArrowheads="1"/>
          </p:cNvSpPr>
          <p:nvPr/>
        </p:nvSpPr>
        <p:spPr bwMode="auto">
          <a:xfrm>
            <a:off x="3581400" y="3962400"/>
            <a:ext cx="838200" cy="914400"/>
          </a:xfrm>
          <a:prstGeom prst="rightArrow">
            <a:avLst>
              <a:gd name="adj1" fmla="val 50000"/>
              <a:gd name="adj2" fmla="val 50000"/>
            </a:avLst>
          </a:prstGeom>
          <a:gradFill rotWithShape="1">
            <a:gsLst>
              <a:gs pos="0">
                <a:srgbClr val="FFFFFF">
                  <a:alpha val="79999"/>
                </a:srgbClr>
              </a:gs>
              <a:gs pos="100000">
                <a:srgbClr val="FFCC66"/>
              </a:gs>
            </a:gsLst>
            <a:lin ang="0" scaled="1"/>
          </a:gradFill>
          <a:ln w="9525" algn="ctr">
            <a:noFill/>
            <a:round/>
            <a:headEnd/>
            <a:tailEnd/>
          </a:ln>
        </p:spPr>
        <p:txBody>
          <a:bodyPr wrap="none" anchor="ctr"/>
          <a:lstStyle/>
          <a:p>
            <a:pPr algn="r"/>
            <a:endParaRPr lang="en-US" sz="3600" b="1">
              <a:solidFill>
                <a:schemeClr val="bg1"/>
              </a:solidFill>
            </a:endParaRPr>
          </a:p>
        </p:txBody>
      </p:sp>
      <p:sp>
        <p:nvSpPr>
          <p:cNvPr id="21508" name="Title 1"/>
          <p:cNvSpPr>
            <a:spLocks noGrp="1"/>
          </p:cNvSpPr>
          <p:nvPr>
            <p:ph type="title"/>
          </p:nvPr>
        </p:nvSpPr>
        <p:spPr/>
        <p:txBody>
          <a:bodyPr/>
          <a:lstStyle/>
          <a:p>
            <a:r>
              <a:rPr lang="en-US"/>
              <a:t>Cấu trúc hàm </a:t>
            </a:r>
            <a:r>
              <a:rPr lang="vi-VN"/>
              <a:t>đệ</a:t>
            </a:r>
            <a:r>
              <a:rPr lang="en-US"/>
              <a:t> quy</a:t>
            </a:r>
          </a:p>
        </p:txBody>
      </p:sp>
      <p:sp>
        <p:nvSpPr>
          <p:cNvPr id="5" name="Content Placeholder 4"/>
          <p:cNvSpPr>
            <a:spLocks noGrp="1"/>
          </p:cNvSpPr>
          <p:nvPr>
            <p:ph idx="1"/>
          </p:nvPr>
        </p:nvSpPr>
        <p:spPr/>
        <p:txBody>
          <a:bodyPr/>
          <a:lstStyle/>
          <a:p>
            <a:endParaRPr lang="vi-VN"/>
          </a:p>
        </p:txBody>
      </p:sp>
      <p:sp>
        <p:nvSpPr>
          <p:cNvPr id="2" name="Date Placeholder 1"/>
          <p:cNvSpPr>
            <a:spLocks noGrp="1"/>
          </p:cNvSpPr>
          <p:nvPr>
            <p:ph type="dt" sz="half" idx="10"/>
          </p:nvPr>
        </p:nvSpPr>
        <p:spPr/>
        <p:txBody>
          <a:bodyPr/>
          <a:lstStyle/>
          <a:p>
            <a:fld id="{0A22A1A4-2AEC-4AA2-8C0E-A4A3D8A839F3}" type="datetime1">
              <a:rPr lang="vi-VN" smtClean="0"/>
              <a:t>09/05/2023</a:t>
            </a:fld>
            <a:endParaRPr lang="vi-VN"/>
          </a:p>
        </p:txBody>
      </p:sp>
      <p:sp>
        <p:nvSpPr>
          <p:cNvPr id="21509" name="Footer Placeholder 3"/>
          <p:cNvSpPr>
            <a:spLocks noGrp="1"/>
          </p:cNvSpPr>
          <p:nvPr>
            <p:ph type="ftr" sz="quarter" idx="11"/>
          </p:nvPr>
        </p:nvSpPr>
        <p:spPr>
          <a:noFill/>
        </p:spPr>
        <p:txBody>
          <a:bodyPr/>
          <a:lstStyle/>
          <a:p>
            <a:r>
              <a:rPr lang="vi-VN"/>
              <a:t>Chương 4 - Chương trình con</a:t>
            </a:r>
            <a:endParaRPr lang="en-US"/>
          </a:p>
        </p:txBody>
      </p:sp>
      <p:grpSp>
        <p:nvGrpSpPr>
          <p:cNvPr id="3" name="Group 25"/>
          <p:cNvGrpSpPr>
            <a:grpSpLocks/>
          </p:cNvGrpSpPr>
          <p:nvPr/>
        </p:nvGrpSpPr>
        <p:grpSpPr bwMode="auto">
          <a:xfrm>
            <a:off x="2362200" y="1524000"/>
            <a:ext cx="3617913" cy="4011613"/>
            <a:chOff x="914400" y="1676400"/>
            <a:chExt cx="3617912" cy="4011275"/>
          </a:xfrm>
        </p:grpSpPr>
        <p:sp>
          <p:nvSpPr>
            <p:cNvPr id="23" name="AutoShape 6"/>
            <p:cNvSpPr>
              <a:spLocks noChangeArrowheads="1"/>
            </p:cNvSpPr>
            <p:nvPr/>
          </p:nvSpPr>
          <p:spPr bwMode="gray">
            <a:xfrm>
              <a:off x="990600" y="2209800"/>
              <a:ext cx="3505200" cy="3429000"/>
            </a:xfrm>
            <a:prstGeom prst="roundRect">
              <a:avLst>
                <a:gd name="adj" fmla="val 0"/>
              </a:avLst>
            </a:prstGeom>
            <a:noFill/>
            <a:ln>
              <a:solidFill>
                <a:schemeClr val="tx2"/>
              </a:solidFill>
              <a:headEnd/>
              <a:tailEnd/>
            </a:ln>
            <a:effectLst>
              <a:glow rad="63500">
                <a:schemeClr val="tx1">
                  <a:lumMod val="60000"/>
                  <a:lumOff val="40000"/>
                  <a:alpha val="40000"/>
                </a:schemeClr>
              </a:glow>
            </a:effectLst>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000"/>
            </a:p>
          </p:txBody>
        </p:sp>
        <p:sp>
          <p:nvSpPr>
            <p:cNvPr id="7" name="Rectangle 11"/>
            <p:cNvSpPr>
              <a:spLocks noChangeArrowheads="1"/>
            </p:cNvSpPr>
            <p:nvPr/>
          </p:nvSpPr>
          <p:spPr bwMode="black">
            <a:xfrm>
              <a:off x="1066800" y="2209755"/>
              <a:ext cx="3352799" cy="3477920"/>
            </a:xfrm>
            <a:prstGeom prst="rect">
              <a:avLst/>
            </a:prstGeom>
            <a:noFill/>
            <a:ln w="9525" algn="ctr">
              <a:noFill/>
              <a:miter lim="800000"/>
              <a:headEnd/>
              <a:tailEnd/>
            </a:ln>
          </p:spPr>
          <p:txBody>
            <a:bodyPr>
              <a:spAutoFit/>
            </a:bodyPr>
            <a:lstStyle/>
            <a:p>
              <a:pPr marL="231775" indent="-231775" algn="just" fontAlgn="auto">
                <a:spcBef>
                  <a:spcPts val="0"/>
                </a:spcBef>
                <a:spcAft>
                  <a:spcPts val="0"/>
                </a:spcAft>
                <a:defRPr/>
              </a:pPr>
              <a:r>
                <a:rPr lang="vi-VN" sz="2000" kern="0">
                  <a:solidFill>
                    <a:srgbClr val="000066"/>
                  </a:solidFill>
                  <a:latin typeface="Tahoma" pitchFamily="34" charset="0"/>
                  <a:cs typeface="Tahoma" pitchFamily="34" charset="0"/>
                </a:rPr>
                <a:t>{</a:t>
              </a:r>
              <a:endParaRPr lang="en-US" sz="2000" kern="0">
                <a:solidFill>
                  <a:srgbClr val="000066"/>
                </a:solidFill>
                <a:latin typeface="Tahoma" pitchFamily="34" charset="0"/>
                <a:cs typeface="Tahoma" pitchFamily="34" charset="0"/>
              </a:endParaRP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if (&lt;ĐK dừng&gt;)</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return &lt;Giá trị&gt;;</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endParaRPr lang="en-US" sz="2000" kern="0">
                <a:solidFill>
                  <a:srgbClr val="000066"/>
                </a:solidFill>
                <a:latin typeface="Tahoma" pitchFamily="34" charset="0"/>
                <a:cs typeface="Tahoma" pitchFamily="34" charset="0"/>
              </a:endParaRP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 </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 Lời gọi Hàm</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r>
                <a:rPr lang="vi-VN" sz="2000" kern="0">
                  <a:solidFill>
                    <a:srgbClr val="000066"/>
                  </a:solidFill>
                  <a:latin typeface="Tahoma" pitchFamily="34" charset="0"/>
                  <a:cs typeface="Tahoma" pitchFamily="34" charset="0"/>
                </a:rPr>
                <a:t>}</a:t>
              </a:r>
            </a:p>
          </p:txBody>
        </p:sp>
        <p:grpSp>
          <p:nvGrpSpPr>
            <p:cNvPr id="21518" name="Group 19"/>
            <p:cNvGrpSpPr>
              <a:grpSpLocks/>
            </p:cNvGrpSpPr>
            <p:nvPr/>
          </p:nvGrpSpPr>
          <p:grpSpPr bwMode="auto">
            <a:xfrm>
              <a:off x="914400" y="1676400"/>
              <a:ext cx="3617912" cy="530225"/>
              <a:chOff x="560388" y="1143000"/>
              <a:chExt cx="3617912" cy="530225"/>
            </a:xfrm>
          </p:grpSpPr>
          <p:sp>
            <p:nvSpPr>
              <p:cNvPr id="21" name="Freeform 2"/>
              <p:cNvSpPr>
                <a:spLocks/>
              </p:cNvSpPr>
              <p:nvPr/>
            </p:nvSpPr>
            <p:spPr bwMode="gray">
              <a:xfrm>
                <a:off x="560388" y="1143000"/>
                <a:ext cx="3617912" cy="530225"/>
              </a:xfrm>
              <a:custGeom>
                <a:avLst/>
                <a:gdLst/>
                <a:ahLst/>
                <a:cxnLst>
                  <a:cxn ang="0">
                    <a:pos x="26" y="121"/>
                  </a:cxn>
                  <a:cxn ang="0">
                    <a:pos x="26" y="291"/>
                  </a:cxn>
                  <a:cxn ang="0">
                    <a:pos x="2014" y="291"/>
                  </a:cxn>
                  <a:cxn ang="0">
                    <a:pos x="2014" y="114"/>
                  </a:cxn>
                  <a:cxn ang="0">
                    <a:pos x="1868" y="13"/>
                  </a:cxn>
                  <a:cxn ang="0">
                    <a:pos x="170" y="13"/>
                  </a:cxn>
                  <a:cxn ang="0">
                    <a:pos x="26" y="121"/>
                  </a:cxn>
                </a:cxnLst>
                <a:rect l="0" t="0" r="r" b="b"/>
                <a:pathLst>
                  <a:path w="2019" h="291">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rotWithShape="1">
                <a:gsLst>
                  <a:gs pos="0">
                    <a:srgbClr val="738AC8">
                      <a:shade val="51000"/>
                      <a:satMod val="130000"/>
                    </a:srgbClr>
                  </a:gs>
                  <a:gs pos="80000">
                    <a:srgbClr val="738AC8">
                      <a:shade val="93000"/>
                      <a:satMod val="130000"/>
                    </a:srgbClr>
                  </a:gs>
                  <a:gs pos="100000">
                    <a:srgbClr val="738AC8">
                      <a:shade val="94000"/>
                      <a:satMod val="135000"/>
                    </a:srgbClr>
                  </a:gs>
                </a:gsLst>
                <a:lin ang="16200000" scaled="0"/>
              </a:gradFill>
              <a:ln w="9525" cap="flat" cmpd="sng" algn="ctr">
                <a:solidFill>
                  <a:srgbClr val="738AC8">
                    <a:shade val="95000"/>
                    <a:satMod val="105000"/>
                  </a:srgbClr>
                </a:solidFill>
                <a:prstDash val="solid"/>
                <a:headEnd/>
                <a:tailEnd/>
              </a:ln>
              <a:effectLst>
                <a:outerShdw blurRad="40000" dist="23000" dir="5400000" rotWithShape="0">
                  <a:srgbClr val="000000">
                    <a:alpha val="35000"/>
                  </a:srgbClr>
                </a:outerShdw>
              </a:effectLst>
              <a:scene3d>
                <a:camera prst="orthographicFront"/>
                <a:lightRig rig="threePt" dir="t"/>
              </a:scene3d>
              <a:sp3d>
                <a:bevelT/>
              </a:sp3d>
            </p:spPr>
            <p:txBody>
              <a:bodyPr wrap="none" anchor="ctr"/>
              <a:lstStyle/>
              <a:p>
                <a:pPr fontAlgn="auto">
                  <a:spcBef>
                    <a:spcPts val="0"/>
                  </a:spcBef>
                  <a:spcAft>
                    <a:spcPts val="0"/>
                  </a:spcAft>
                  <a:defRPr/>
                </a:pPr>
                <a:endParaRPr lang="en-US" kern="0">
                  <a:solidFill>
                    <a:sysClr val="windowText" lastClr="000000"/>
                  </a:solidFill>
                  <a:latin typeface="Verdana"/>
                  <a:cs typeface="+mn-cs"/>
                </a:endParaRPr>
              </a:p>
            </p:txBody>
          </p:sp>
          <p:sp>
            <p:nvSpPr>
              <p:cNvPr id="22" name="Rectangle 4"/>
              <p:cNvSpPr>
                <a:spLocks noChangeArrowheads="1"/>
              </p:cNvSpPr>
              <p:nvPr/>
            </p:nvSpPr>
            <p:spPr bwMode="gray">
              <a:xfrm>
                <a:off x="708025" y="1192213"/>
                <a:ext cx="3357563" cy="461665"/>
              </a:xfrm>
              <a:prstGeom prst="rect">
                <a:avLst/>
              </a:prstGeom>
              <a:noFill/>
              <a:ln w="9525" algn="ctr">
                <a:noFill/>
                <a:miter lim="800000"/>
                <a:headEnd/>
                <a:tailEnd/>
              </a:ln>
              <a:effectLst>
                <a:outerShdw dist="35921" dir="2700000" algn="ctr" rotWithShape="0">
                  <a:srgbClr val="003300"/>
                </a:outerShdw>
              </a:effectLst>
              <a:scene3d>
                <a:camera prst="orthographicFront"/>
                <a:lightRig rig="threePt" dir="t"/>
              </a:scene3d>
              <a:sp3d>
                <a:bevelT/>
              </a:sp3d>
            </p:spPr>
            <p:txBody>
              <a:bodyPr>
                <a:spAutoFit/>
              </a:bodyPr>
              <a:lstStyle/>
              <a:p>
                <a:pPr algn="ctr" fontAlgn="auto">
                  <a:spcBef>
                    <a:spcPts val="0"/>
                  </a:spcBef>
                  <a:spcAft>
                    <a:spcPts val="0"/>
                  </a:spcAft>
                  <a:defRPr/>
                </a:pPr>
                <a:r>
                  <a:rPr lang="en-US" sz="2400" kern="0">
                    <a:solidFill>
                      <a:srgbClr val="FFFFFF"/>
                    </a:solidFill>
                    <a:cs typeface="+mn-cs"/>
                  </a:rPr>
                  <a:t>&lt;Kiểu&gt; &lt;TênHàm&gt;(TS)</a:t>
                </a:r>
              </a:p>
            </p:txBody>
          </p:sp>
        </p:grpSp>
      </p:grpSp>
      <p:grpSp>
        <p:nvGrpSpPr>
          <p:cNvPr id="6" name="Group 34"/>
          <p:cNvGrpSpPr/>
          <p:nvPr/>
        </p:nvGrpSpPr>
        <p:grpSpPr>
          <a:xfrm>
            <a:off x="609600" y="1600200"/>
            <a:ext cx="3617912" cy="4011275"/>
            <a:chOff x="4572000" y="1676400"/>
            <a:chExt cx="3617912" cy="4011275"/>
          </a:xfrm>
          <a:scene3d>
            <a:camera prst="perspectiveContrastingRightFacing"/>
            <a:lightRig rig="threePt" dir="t"/>
          </a:scene3d>
        </p:grpSpPr>
        <p:grpSp>
          <p:nvGrpSpPr>
            <p:cNvPr id="8" name="Group 26"/>
            <p:cNvGrpSpPr/>
            <p:nvPr/>
          </p:nvGrpSpPr>
          <p:grpSpPr>
            <a:xfrm>
              <a:off x="4572000" y="1676400"/>
              <a:ext cx="3617912" cy="4011275"/>
              <a:chOff x="914400" y="1676400"/>
              <a:chExt cx="3617912" cy="4011275"/>
            </a:xfrm>
          </p:grpSpPr>
          <p:sp>
            <p:nvSpPr>
              <p:cNvPr id="28" name="AutoShape 6"/>
              <p:cNvSpPr>
                <a:spLocks noChangeArrowheads="1"/>
              </p:cNvSpPr>
              <p:nvPr/>
            </p:nvSpPr>
            <p:spPr bwMode="gray">
              <a:xfrm>
                <a:off x="990600" y="2209800"/>
                <a:ext cx="3505200" cy="3429000"/>
              </a:xfrm>
              <a:prstGeom prst="roundRect">
                <a:avLst>
                  <a:gd name="adj" fmla="val 0"/>
                </a:avLst>
              </a:prstGeom>
              <a:noFill/>
              <a:ln>
                <a:solidFill>
                  <a:schemeClr val="tx2"/>
                </a:solidFill>
                <a:headEnd/>
                <a:tailEnd/>
              </a:ln>
              <a:effectLst>
                <a:glow rad="63500">
                  <a:schemeClr val="tx1">
                    <a:lumMod val="60000"/>
                    <a:lumOff val="40000"/>
                    <a:alpha val="40000"/>
                  </a:schemeClr>
                </a:glow>
              </a:effectLst>
            </p:spPr>
            <p:style>
              <a:lnRef idx="2">
                <a:schemeClr val="accent1"/>
              </a:lnRef>
              <a:fillRef idx="1">
                <a:schemeClr val="lt1"/>
              </a:fillRef>
              <a:effectRef idx="0">
                <a:schemeClr val="accent1"/>
              </a:effectRef>
              <a:fontRef idx="minor">
                <a:schemeClr val="dk1"/>
              </a:fontRef>
            </p:style>
            <p:txBody>
              <a:bodyPr wrap="none" anchor="ctr"/>
              <a:lstStyle/>
              <a:p>
                <a:pPr algn="ctr">
                  <a:defRPr/>
                </a:pPr>
                <a:endParaRPr lang="en-US" sz="2000"/>
              </a:p>
            </p:txBody>
          </p:sp>
          <p:sp>
            <p:nvSpPr>
              <p:cNvPr id="29" name="Rectangle 11"/>
              <p:cNvSpPr>
                <a:spLocks noChangeArrowheads="1"/>
              </p:cNvSpPr>
              <p:nvPr/>
            </p:nvSpPr>
            <p:spPr bwMode="black">
              <a:xfrm>
                <a:off x="1066800" y="2209800"/>
                <a:ext cx="3352800" cy="3477875"/>
              </a:xfrm>
              <a:prstGeom prst="rect">
                <a:avLst/>
              </a:prstGeom>
              <a:noFill/>
              <a:ln w="9525" algn="ctr">
                <a:noFill/>
                <a:miter lim="800000"/>
                <a:headEnd/>
                <a:tailEnd/>
              </a:ln>
            </p:spPr>
            <p:txBody>
              <a:bodyPr>
                <a:spAutoFit/>
              </a:bodyPr>
              <a:lstStyle/>
              <a:p>
                <a:pPr marL="231775" indent="-231775" algn="just" fontAlgn="auto">
                  <a:spcBef>
                    <a:spcPts val="0"/>
                  </a:spcBef>
                  <a:spcAft>
                    <a:spcPts val="0"/>
                  </a:spcAft>
                  <a:defRPr/>
                </a:pPr>
                <a:r>
                  <a:rPr lang="vi-VN" sz="2000" kern="0">
                    <a:solidFill>
                      <a:schemeClr val="tx1">
                        <a:lumMod val="60000"/>
                        <a:lumOff val="40000"/>
                      </a:schemeClr>
                    </a:solidFill>
                    <a:latin typeface="Tahoma" pitchFamily="34" charset="0"/>
                    <a:cs typeface="Tahoma" pitchFamily="34" charset="0"/>
                  </a:rPr>
                  <a:t>{</a:t>
                </a:r>
                <a:endParaRPr lang="en-US" sz="2000" kern="0">
                  <a:solidFill>
                    <a:srgbClr val="000066"/>
                  </a:solidFill>
                  <a:latin typeface="Tahoma" pitchFamily="34" charset="0"/>
                  <a:cs typeface="Tahoma" pitchFamily="34" charset="0"/>
                </a:endParaRP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if (&lt;ĐK dừng&gt;)</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return &lt;Giá trị&gt;;</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endParaRPr lang="en-US" sz="2000" kern="0">
                  <a:solidFill>
                    <a:srgbClr val="000066"/>
                  </a:solidFill>
                  <a:latin typeface="Tahoma" pitchFamily="34" charset="0"/>
                  <a:cs typeface="Tahoma" pitchFamily="34" charset="0"/>
                </a:endParaRP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 </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 Lời gọi Hàm</a:t>
                </a:r>
              </a:p>
              <a:p>
                <a:pPr marL="231775" indent="-231775" algn="just" fontAlgn="auto">
                  <a:spcBef>
                    <a:spcPts val="0"/>
                  </a:spcBef>
                  <a:spcAft>
                    <a:spcPts val="0"/>
                  </a:spcAft>
                  <a:defRPr/>
                </a:pPr>
                <a:r>
                  <a:rPr lang="en-US" sz="2000" kern="0">
                    <a:solidFill>
                      <a:srgbClr val="000066"/>
                    </a:solidFill>
                    <a:latin typeface="Tahoma" pitchFamily="34" charset="0"/>
                    <a:cs typeface="Tahoma" pitchFamily="34" charset="0"/>
                  </a:rPr>
                  <a:t>   …</a:t>
                </a:r>
              </a:p>
              <a:p>
                <a:pPr marL="231775" indent="-231775" algn="just" fontAlgn="auto">
                  <a:spcBef>
                    <a:spcPts val="0"/>
                  </a:spcBef>
                  <a:spcAft>
                    <a:spcPts val="0"/>
                  </a:spcAft>
                  <a:defRPr/>
                </a:pPr>
                <a:r>
                  <a:rPr lang="vi-VN" sz="2000" kern="0">
                    <a:solidFill>
                      <a:srgbClr val="000066"/>
                    </a:solidFill>
                    <a:latin typeface="Tahoma" pitchFamily="34" charset="0"/>
                    <a:cs typeface="Tahoma" pitchFamily="34" charset="0"/>
                  </a:rPr>
                  <a:t>}</a:t>
                </a:r>
              </a:p>
            </p:txBody>
          </p:sp>
          <p:grpSp>
            <p:nvGrpSpPr>
              <p:cNvPr id="9" name="Group 19"/>
              <p:cNvGrpSpPr/>
              <p:nvPr/>
            </p:nvGrpSpPr>
            <p:grpSpPr>
              <a:xfrm>
                <a:off x="914400" y="1676400"/>
                <a:ext cx="3617912" cy="530225"/>
                <a:chOff x="560388" y="1143000"/>
                <a:chExt cx="3617912" cy="530225"/>
              </a:xfrm>
            </p:grpSpPr>
            <p:sp>
              <p:nvSpPr>
                <p:cNvPr id="31" name="Freeform 2"/>
                <p:cNvSpPr>
                  <a:spLocks/>
                </p:cNvSpPr>
                <p:nvPr/>
              </p:nvSpPr>
              <p:spPr bwMode="gray">
                <a:xfrm>
                  <a:off x="560388" y="1143000"/>
                  <a:ext cx="3617912" cy="530225"/>
                </a:xfrm>
                <a:custGeom>
                  <a:avLst/>
                  <a:gdLst/>
                  <a:ahLst/>
                  <a:cxnLst>
                    <a:cxn ang="0">
                      <a:pos x="26" y="121"/>
                    </a:cxn>
                    <a:cxn ang="0">
                      <a:pos x="26" y="291"/>
                    </a:cxn>
                    <a:cxn ang="0">
                      <a:pos x="2014" y="291"/>
                    </a:cxn>
                    <a:cxn ang="0">
                      <a:pos x="2014" y="114"/>
                    </a:cxn>
                    <a:cxn ang="0">
                      <a:pos x="1868" y="13"/>
                    </a:cxn>
                    <a:cxn ang="0">
                      <a:pos x="170" y="13"/>
                    </a:cxn>
                    <a:cxn ang="0">
                      <a:pos x="26" y="121"/>
                    </a:cxn>
                  </a:cxnLst>
                  <a:rect l="0" t="0" r="r" b="b"/>
                  <a:pathLst>
                    <a:path w="2019" h="291">
                      <a:moveTo>
                        <a:pt x="26" y="121"/>
                      </a:moveTo>
                      <a:cubicBezTo>
                        <a:pt x="26" y="245"/>
                        <a:pt x="26" y="291"/>
                        <a:pt x="26" y="291"/>
                      </a:cubicBezTo>
                      <a:lnTo>
                        <a:pt x="2014" y="291"/>
                      </a:lnTo>
                      <a:lnTo>
                        <a:pt x="2014" y="114"/>
                      </a:lnTo>
                      <a:cubicBezTo>
                        <a:pt x="2009" y="76"/>
                        <a:pt x="2019" y="0"/>
                        <a:pt x="1868" y="13"/>
                      </a:cubicBezTo>
                      <a:cubicBezTo>
                        <a:pt x="1015" y="13"/>
                        <a:pt x="170" y="13"/>
                        <a:pt x="170" y="13"/>
                      </a:cubicBezTo>
                      <a:cubicBezTo>
                        <a:pt x="0" y="7"/>
                        <a:pt x="24" y="99"/>
                        <a:pt x="26" y="121"/>
                      </a:cubicBezTo>
                      <a:close/>
                    </a:path>
                  </a:pathLst>
                </a:custGeom>
                <a:gradFill rotWithShape="1">
                  <a:gsLst>
                    <a:gs pos="0">
                      <a:srgbClr val="738AC8">
                        <a:shade val="51000"/>
                        <a:satMod val="130000"/>
                      </a:srgbClr>
                    </a:gs>
                    <a:gs pos="80000">
                      <a:srgbClr val="738AC8">
                        <a:shade val="93000"/>
                        <a:satMod val="130000"/>
                      </a:srgbClr>
                    </a:gs>
                    <a:gs pos="100000">
                      <a:srgbClr val="738AC8">
                        <a:shade val="94000"/>
                        <a:satMod val="135000"/>
                      </a:srgbClr>
                    </a:gs>
                  </a:gsLst>
                  <a:lin ang="16200000" scaled="0"/>
                </a:gradFill>
                <a:ln w="9525" cap="flat" cmpd="sng" algn="ctr">
                  <a:solidFill>
                    <a:srgbClr val="738AC8">
                      <a:shade val="95000"/>
                      <a:satMod val="105000"/>
                    </a:srgbClr>
                  </a:solidFill>
                  <a:prstDash val="solid"/>
                  <a:headEnd/>
                  <a:tailEnd/>
                </a:ln>
                <a:effectLst>
                  <a:outerShdw blurRad="40000" dist="23000" dir="5400000" rotWithShape="0">
                    <a:srgbClr val="000000">
                      <a:alpha val="35000"/>
                    </a:srgbClr>
                  </a:outerShdw>
                </a:effectLst>
                <a:sp3d>
                  <a:bevelT/>
                </a:sp3d>
              </p:spPr>
              <p:txBody>
                <a:bodyPr wrap="none" anchor="ctr"/>
                <a:lstStyle/>
                <a:p>
                  <a:pPr fontAlgn="auto">
                    <a:spcBef>
                      <a:spcPts val="0"/>
                    </a:spcBef>
                    <a:spcAft>
                      <a:spcPts val="0"/>
                    </a:spcAft>
                    <a:defRPr/>
                  </a:pPr>
                  <a:endParaRPr lang="en-US" kern="0">
                    <a:solidFill>
                      <a:sysClr val="windowText" lastClr="000000"/>
                    </a:solidFill>
                    <a:latin typeface="Verdana"/>
                    <a:cs typeface="+mn-cs"/>
                  </a:endParaRPr>
                </a:p>
              </p:txBody>
            </p:sp>
            <p:sp>
              <p:nvSpPr>
                <p:cNvPr id="32" name="Rectangle 4"/>
                <p:cNvSpPr>
                  <a:spLocks noChangeArrowheads="1"/>
                </p:cNvSpPr>
                <p:nvPr/>
              </p:nvSpPr>
              <p:spPr bwMode="gray">
                <a:xfrm>
                  <a:off x="708025" y="1192213"/>
                  <a:ext cx="3357563" cy="461665"/>
                </a:xfrm>
                <a:prstGeom prst="rect">
                  <a:avLst/>
                </a:prstGeom>
                <a:noFill/>
                <a:ln w="9525" algn="ctr">
                  <a:noFill/>
                  <a:miter lim="800000"/>
                  <a:headEnd/>
                  <a:tailEnd/>
                </a:ln>
                <a:effectLst>
                  <a:outerShdw dist="35921" dir="2700000" algn="ctr" rotWithShape="0">
                    <a:srgbClr val="003300"/>
                  </a:outerShdw>
                </a:effectLst>
                <a:sp3d>
                  <a:bevelT/>
                </a:sp3d>
              </p:spPr>
              <p:txBody>
                <a:bodyPr>
                  <a:spAutoFit/>
                </a:bodyPr>
                <a:lstStyle/>
                <a:p>
                  <a:pPr algn="ctr" fontAlgn="auto">
                    <a:spcBef>
                      <a:spcPts val="0"/>
                    </a:spcBef>
                    <a:spcAft>
                      <a:spcPts val="0"/>
                    </a:spcAft>
                    <a:defRPr/>
                  </a:pPr>
                  <a:r>
                    <a:rPr lang="en-US" sz="2400" kern="0">
                      <a:solidFill>
                        <a:srgbClr val="FFFFFF"/>
                      </a:solidFill>
                      <a:cs typeface="+mn-cs"/>
                    </a:rPr>
                    <a:t>&lt;Kiểu&gt; &lt;TênHàm&gt;(TS)</a:t>
                  </a:r>
                </a:p>
              </p:txBody>
            </p:sp>
          </p:grpSp>
        </p:grpSp>
        <p:sp>
          <p:nvSpPr>
            <p:cNvPr id="33" name="AutoShape 6"/>
            <p:cNvSpPr>
              <a:spLocks noChangeArrowheads="1"/>
            </p:cNvSpPr>
            <p:nvPr/>
          </p:nvSpPr>
          <p:spPr bwMode="gray">
            <a:xfrm>
              <a:off x="4953000" y="2514600"/>
              <a:ext cx="2895600" cy="1676400"/>
            </a:xfrm>
            <a:prstGeom prst="roundRect">
              <a:avLst>
                <a:gd name="adj" fmla="val 5668"/>
              </a:avLst>
            </a:prstGeom>
            <a:noFill/>
            <a:ln>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defRPr/>
              </a:pPr>
              <a:endParaRPr lang="en-US">
                <a:latin typeface="Tahoma" pitchFamily="34" charset="0"/>
                <a:cs typeface="Tahoma" pitchFamily="34" charset="0"/>
              </a:endParaRPr>
            </a:p>
          </p:txBody>
        </p:sp>
        <p:sp>
          <p:nvSpPr>
            <p:cNvPr id="34" name="AutoShape 6"/>
            <p:cNvSpPr>
              <a:spLocks noChangeArrowheads="1"/>
            </p:cNvSpPr>
            <p:nvPr/>
          </p:nvSpPr>
          <p:spPr bwMode="gray">
            <a:xfrm>
              <a:off x="4953000" y="4495800"/>
              <a:ext cx="2895600" cy="838200"/>
            </a:xfrm>
            <a:prstGeom prst="roundRect">
              <a:avLst>
                <a:gd name="adj" fmla="val 5668"/>
              </a:avLst>
            </a:prstGeom>
            <a:noFill/>
            <a:ln>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defRPr/>
              </a:pPr>
              <a:endParaRPr lang="en-US">
                <a:latin typeface="Tahoma" pitchFamily="34" charset="0"/>
                <a:cs typeface="Tahoma" pitchFamily="34" charset="0"/>
              </a:endParaRPr>
            </a:p>
          </p:txBody>
        </p:sp>
      </p:grpSp>
      <p:sp>
        <p:nvSpPr>
          <p:cNvPr id="38" name="Rectangle 11"/>
          <p:cNvSpPr>
            <a:spLocks noChangeArrowheads="1"/>
          </p:cNvSpPr>
          <p:nvPr/>
        </p:nvSpPr>
        <p:spPr bwMode="black">
          <a:xfrm>
            <a:off x="4343400" y="2133600"/>
            <a:ext cx="3810000" cy="1662113"/>
          </a:xfrm>
          <a:prstGeom prst="rect">
            <a:avLst/>
          </a:prstGeom>
          <a:noFill/>
          <a:ln w="9525" algn="ctr">
            <a:noFill/>
            <a:miter lim="800000"/>
            <a:headEnd/>
            <a:tailEnd/>
          </a:ln>
        </p:spPr>
        <p:txBody>
          <a:bodyPr>
            <a:spAutoFit/>
          </a:bodyPr>
          <a:lstStyle/>
          <a:p>
            <a:pPr marL="231775" indent="-231775" fontAlgn="auto">
              <a:spcBef>
                <a:spcPts val="0"/>
              </a:spcBef>
              <a:spcAft>
                <a:spcPts val="0"/>
              </a:spcAft>
              <a:defRPr/>
            </a:pPr>
            <a:r>
              <a:rPr lang="en-US" b="1" i="1">
                <a:solidFill>
                  <a:srgbClr val="FF0000"/>
                </a:solidFill>
                <a:latin typeface="+mj-lt"/>
                <a:cs typeface="Tahoma" pitchFamily="34" charset="0"/>
              </a:rPr>
              <a:t>Phần dừng</a:t>
            </a:r>
          </a:p>
          <a:p>
            <a:pPr marL="231775" indent="-231775" fontAlgn="auto">
              <a:spcBef>
                <a:spcPts val="0"/>
              </a:spcBef>
              <a:spcAft>
                <a:spcPts val="0"/>
              </a:spcAft>
              <a:defRPr/>
            </a:pPr>
            <a:r>
              <a:rPr lang="en-US" sz="1200" b="1" i="1">
                <a:latin typeface="+mj-lt"/>
                <a:cs typeface="Tahoma" pitchFamily="34" charset="0"/>
                <a:sym typeface="Wingdings" pitchFamily="2" charset="2"/>
              </a:rPr>
              <a:t>(Base step)</a:t>
            </a:r>
          </a:p>
          <a:p>
            <a:pPr marL="231775" indent="-231775" fontAlgn="auto">
              <a:spcBef>
                <a:spcPts val="0"/>
              </a:spcBef>
              <a:spcAft>
                <a:spcPts val="0"/>
              </a:spcAft>
              <a:buFont typeface="Arial" charset="0"/>
              <a:buChar char="•"/>
              <a:defRPr/>
            </a:pPr>
            <a:r>
              <a:rPr lang="en-US">
                <a:latin typeface="+mj-lt"/>
                <a:cs typeface="Tahoma" pitchFamily="34" charset="0"/>
              </a:rPr>
              <a:t>Phần khởi tính toán hoặc điểm kết thúc của thuật toán</a:t>
            </a:r>
          </a:p>
          <a:p>
            <a:pPr marL="231775" indent="-231775" fontAlgn="auto">
              <a:spcBef>
                <a:spcPts val="0"/>
              </a:spcBef>
              <a:spcAft>
                <a:spcPts val="0"/>
              </a:spcAft>
              <a:buFont typeface="Arial" charset="0"/>
              <a:buChar char="•"/>
              <a:defRPr/>
            </a:pPr>
            <a:r>
              <a:rPr lang="en-US">
                <a:latin typeface="+mj-lt"/>
                <a:cs typeface="Tahoma" pitchFamily="34" charset="0"/>
              </a:rPr>
              <a:t>Không chứa phần đang được định nghĩa</a:t>
            </a:r>
            <a:endParaRPr lang="vi-VN" kern="0">
              <a:solidFill>
                <a:schemeClr val="tx1">
                  <a:lumMod val="60000"/>
                  <a:lumOff val="40000"/>
                </a:schemeClr>
              </a:solidFill>
              <a:latin typeface="+mj-lt"/>
              <a:cs typeface="Tahoma" pitchFamily="34" charset="0"/>
            </a:endParaRPr>
          </a:p>
        </p:txBody>
      </p:sp>
      <p:sp>
        <p:nvSpPr>
          <p:cNvPr id="39" name="Rectangle 11"/>
          <p:cNvSpPr>
            <a:spLocks noChangeArrowheads="1"/>
          </p:cNvSpPr>
          <p:nvPr/>
        </p:nvSpPr>
        <p:spPr bwMode="black">
          <a:xfrm>
            <a:off x="4343400" y="3962400"/>
            <a:ext cx="3810000" cy="1108075"/>
          </a:xfrm>
          <a:prstGeom prst="rect">
            <a:avLst/>
          </a:prstGeom>
          <a:noFill/>
          <a:ln w="9525" algn="ctr">
            <a:noFill/>
            <a:miter lim="800000"/>
            <a:headEnd/>
            <a:tailEnd/>
          </a:ln>
        </p:spPr>
        <p:txBody>
          <a:bodyPr>
            <a:spAutoFit/>
          </a:bodyPr>
          <a:lstStyle/>
          <a:p>
            <a:pPr marL="231775" indent="-231775" fontAlgn="auto">
              <a:spcBef>
                <a:spcPts val="0"/>
              </a:spcBef>
              <a:spcAft>
                <a:spcPts val="0"/>
              </a:spcAft>
              <a:defRPr/>
            </a:pPr>
            <a:r>
              <a:rPr lang="en-US" b="1" i="1">
                <a:solidFill>
                  <a:srgbClr val="FF0000"/>
                </a:solidFill>
                <a:latin typeface="+mj-lt"/>
                <a:cs typeface="Tahoma" pitchFamily="34" charset="0"/>
              </a:rPr>
              <a:t>Phần đệ quy</a:t>
            </a:r>
          </a:p>
          <a:p>
            <a:pPr marL="231775" indent="-231775" fontAlgn="auto">
              <a:spcBef>
                <a:spcPts val="0"/>
              </a:spcBef>
              <a:spcAft>
                <a:spcPts val="0"/>
              </a:spcAft>
              <a:defRPr/>
            </a:pPr>
            <a:r>
              <a:rPr lang="en-US" sz="1200" b="1" i="1">
                <a:latin typeface="+mj-lt"/>
                <a:cs typeface="Tahoma" pitchFamily="34" charset="0"/>
              </a:rPr>
              <a:t>(Recursion step)</a:t>
            </a:r>
          </a:p>
          <a:p>
            <a:pPr marL="231775" indent="-231775" fontAlgn="auto">
              <a:spcBef>
                <a:spcPts val="0"/>
              </a:spcBef>
              <a:spcAft>
                <a:spcPts val="0"/>
              </a:spcAft>
              <a:buFont typeface="Arial" charset="0"/>
              <a:buChar char="•"/>
              <a:defRPr/>
            </a:pPr>
            <a:r>
              <a:rPr lang="en-US">
                <a:latin typeface="+mj-lt"/>
                <a:cs typeface="Tahoma" pitchFamily="34" charset="0"/>
              </a:rPr>
              <a:t>Có sử dụng thuật toán đang được định nghĩa.</a:t>
            </a:r>
            <a:endParaRPr lang="vi-VN" kern="0">
              <a:solidFill>
                <a:schemeClr val="tx1">
                  <a:lumMod val="60000"/>
                  <a:lumOff val="40000"/>
                </a:schemeClr>
              </a:solidFill>
              <a:latin typeface="+mj-lt"/>
              <a:cs typeface="Tahoma" pitchFamily="34" charset="0"/>
            </a:endParaRPr>
          </a:p>
        </p:txBody>
      </p:sp>
      <p:sp>
        <p:nvSpPr>
          <p:cNvPr id="10" name="Slide Number Placeholder 9"/>
          <p:cNvSpPr>
            <a:spLocks noGrp="1"/>
          </p:cNvSpPr>
          <p:nvPr>
            <p:ph type="sldNum" sz="quarter" idx="12"/>
          </p:nvPr>
        </p:nvSpPr>
        <p:spPr/>
        <p:txBody>
          <a:bodyPr/>
          <a:lstStyle/>
          <a:p>
            <a:fld id="{5AB95402-1E0D-474E-8D8C-CBE7F053639E}" type="slidenum">
              <a:rPr lang="vi-VN" smtClean="0"/>
              <a:pPr/>
              <a:t>29</a:t>
            </a:fld>
            <a:r>
              <a:rPr lang="vi-VN"/>
              <a:t>/43</a:t>
            </a:r>
          </a:p>
        </p:txBody>
      </p:sp>
    </p:spTree>
    <p:extLst>
      <p:ext uri="{BB962C8B-B14F-4D97-AF65-F5344CB8AC3E}">
        <p14:creationId xmlns:p14="http://schemas.microsoft.com/office/powerpoint/2010/main" val="335476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path" presetSubtype="0" accel="50000" decel="50000" fill="hold" nodeType="clickEffect">
                                  <p:stCondLst>
                                    <p:cond delay="0"/>
                                  </p:stCondLst>
                                  <p:childTnLst>
                                    <p:animMotion origin="layout" path="M 3.61111E-6 2.69195E-6 L -0.19775 -0.00347 " pathEditMode="relative" rAng="0" ptsTypes="AA">
                                      <p:cBhvr>
                                        <p:cTn id="6" dur="500" fill="hold"/>
                                        <p:tgtEl>
                                          <p:spTgt spid="3"/>
                                        </p:tgtEl>
                                        <p:attrNameLst>
                                          <p:attrName>ppt_x</p:attrName>
                                          <p:attrName>ppt_y</p:attrName>
                                        </p:attrNameLst>
                                      </p:cBhvr>
                                      <p:rCtr x="-9900" y="-200"/>
                                    </p:animMotion>
                                  </p:childTnLst>
                                </p:cTn>
                              </p:par>
                              <p:par>
                                <p:cTn id="7" presetID="10" presetClass="exit" presetSubtype="0" fill="hold" nodeType="withEffect">
                                  <p:stCondLst>
                                    <p:cond delay="0"/>
                                  </p:stCondLst>
                                  <p:childTnLst>
                                    <p:animEffect transition="out" filter="fade">
                                      <p:cBhvr>
                                        <p:cTn id="8" dur="500"/>
                                        <p:tgtEl>
                                          <p:spTgt spid="3"/>
                                        </p:tgtEl>
                                      </p:cBhvr>
                                    </p:animEffect>
                                    <p:set>
                                      <p:cBhvr>
                                        <p:cTn id="9" dur="1" fill="hold">
                                          <p:stCondLst>
                                            <p:cond delay="499"/>
                                          </p:stCondLst>
                                        </p:cTn>
                                        <p:tgtEl>
                                          <p:spTgt spid="3"/>
                                        </p:tgtEl>
                                        <p:attrNameLst>
                                          <p:attrName>style.visibility</p:attrName>
                                        </p:attrNameLst>
                                      </p:cBhvr>
                                      <p:to>
                                        <p:strVal val="hidden"/>
                                      </p:to>
                                    </p:set>
                                  </p:childTnLst>
                                </p:cTn>
                              </p:par>
                            </p:childTnLst>
                          </p:cTn>
                        </p:par>
                        <p:par>
                          <p:cTn id="10" fill="hold">
                            <p:stCondLst>
                              <p:cond delay="500"/>
                            </p:stCondLst>
                            <p:childTnLst>
                              <p:par>
                                <p:cTn id="11" presetID="10"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wipe(left)">
                                      <p:cBhvr>
                                        <p:cTn id="18" dur="500"/>
                                        <p:tgtEl>
                                          <p:spTgt spid="40"/>
                                        </p:tgtEl>
                                      </p:cBhvr>
                                    </p:animEffect>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animEffect transition="in" filter="wipe(left)">
                                      <p:cBhvr>
                                        <p:cTn id="27" dur="500"/>
                                        <p:tgtEl>
                                          <p:spTgt spid="41"/>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38" grpId="0"/>
      <p:bldP spid="3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t>Ví dụ hàm đệ quy</a:t>
            </a:r>
          </a:p>
        </p:txBody>
      </p:sp>
      <p:sp>
        <p:nvSpPr>
          <p:cNvPr id="3" name="Content Placeholder 2"/>
          <p:cNvSpPr>
            <a:spLocks noGrp="1"/>
          </p:cNvSpPr>
          <p:nvPr>
            <p:ph idx="1"/>
          </p:nvPr>
        </p:nvSpPr>
        <p:spPr/>
        <p:txBody>
          <a:bodyPr/>
          <a:lstStyle/>
          <a:p>
            <a:pPr>
              <a:defRPr/>
            </a:pPr>
            <a:r>
              <a:rPr lang="en-US">
                <a:solidFill>
                  <a:srgbClr val="002060"/>
                </a:solidFill>
              </a:rPr>
              <a:t>Ví dụ 1: Tính giai thừa</a:t>
            </a:r>
          </a:p>
          <a:p>
            <a:pPr>
              <a:defRPr/>
            </a:pPr>
            <a:endParaRPr lang="en-US">
              <a:solidFill>
                <a:srgbClr val="002060"/>
              </a:solidFill>
            </a:endParaRPr>
          </a:p>
          <a:p>
            <a:pPr>
              <a:defRPr/>
            </a:pPr>
            <a:endParaRPr lang="en-US">
              <a:solidFill>
                <a:srgbClr val="002060"/>
              </a:solidFill>
            </a:endParaRPr>
          </a:p>
          <a:p>
            <a:pPr>
              <a:defRPr/>
            </a:pPr>
            <a:endParaRPr lang="en-US">
              <a:solidFill>
                <a:srgbClr val="002060"/>
              </a:solidFill>
            </a:endParaRPr>
          </a:p>
          <a:p>
            <a:pPr>
              <a:defRPr/>
            </a:pPr>
            <a:endParaRPr lang="en-US">
              <a:solidFill>
                <a:srgbClr val="002060"/>
              </a:solidFill>
            </a:endParaRPr>
          </a:p>
          <a:p>
            <a:pPr>
              <a:defRPr/>
            </a:pPr>
            <a:r>
              <a:rPr lang="en-US">
                <a:solidFill>
                  <a:srgbClr val="002060"/>
                </a:solidFill>
              </a:rPr>
              <a:t>Ví dụ 2: Tính UCLN(x,y)</a:t>
            </a:r>
          </a:p>
          <a:p>
            <a:pPr>
              <a:defRPr/>
            </a:pPr>
            <a:endParaRPr lang="en-US">
              <a:solidFill>
                <a:srgbClr val="002060"/>
              </a:solidFill>
            </a:endParaRPr>
          </a:p>
          <a:p>
            <a:pPr>
              <a:defRPr/>
            </a:pPr>
            <a:endParaRPr lang="en-US">
              <a:solidFill>
                <a:srgbClr val="002060"/>
              </a:solidFill>
            </a:endParaRPr>
          </a:p>
        </p:txBody>
      </p:sp>
      <p:sp>
        <p:nvSpPr>
          <p:cNvPr id="2" name="Date Placeholder 1"/>
          <p:cNvSpPr>
            <a:spLocks noGrp="1"/>
          </p:cNvSpPr>
          <p:nvPr>
            <p:ph type="dt" sz="half" idx="10"/>
          </p:nvPr>
        </p:nvSpPr>
        <p:spPr/>
        <p:txBody>
          <a:bodyPr/>
          <a:lstStyle/>
          <a:p>
            <a:fld id="{61374916-1D91-4C72-B975-FE62C806B827}" type="datetime1">
              <a:rPr lang="vi-VN" smtClean="0"/>
              <a:t>09/05/2023</a:t>
            </a:fld>
            <a:endParaRPr lang="vi-VN"/>
          </a:p>
        </p:txBody>
      </p:sp>
      <p:sp>
        <p:nvSpPr>
          <p:cNvPr id="39940" name="Footer Placeholder 3"/>
          <p:cNvSpPr>
            <a:spLocks noGrp="1"/>
          </p:cNvSpPr>
          <p:nvPr>
            <p:ph type="ftr" sz="quarter" idx="11"/>
          </p:nvPr>
        </p:nvSpPr>
        <p:spPr>
          <a:noFill/>
        </p:spPr>
        <p:txBody>
          <a:bodyPr/>
          <a:lstStyle/>
          <a:p>
            <a:r>
              <a:rPr lang="vi-VN"/>
              <a:t>Chương 4 - Chương trình con</a:t>
            </a:r>
            <a:endParaRPr lang="en-US"/>
          </a:p>
        </p:txBody>
      </p:sp>
      <p:sp>
        <p:nvSpPr>
          <p:cNvPr id="5" name="Rounded Rectangle 4"/>
          <p:cNvSpPr/>
          <p:nvPr/>
        </p:nvSpPr>
        <p:spPr>
          <a:xfrm>
            <a:off x="891208" y="1628800"/>
            <a:ext cx="152400" cy="21717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6" name="TextBox 5"/>
          <p:cNvSpPr txBox="1">
            <a:spLocks noChangeArrowheads="1"/>
          </p:cNvSpPr>
          <p:nvPr/>
        </p:nvSpPr>
        <p:spPr bwMode="auto">
          <a:xfrm>
            <a:off x="1126232" y="1556792"/>
            <a:ext cx="7838256" cy="2246769"/>
          </a:xfrm>
          <a:prstGeom prst="rect">
            <a:avLst/>
          </a:prstGeom>
          <a:noFill/>
          <a:ln w="9525">
            <a:noFill/>
            <a:miter lim="800000"/>
            <a:headEnd/>
            <a:tailEnd/>
          </a:ln>
        </p:spPr>
        <p:txBody>
          <a:bodyPr wrap="square">
            <a:spAutoFit/>
          </a:bodyPr>
          <a:lstStyle/>
          <a:p>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GT(</a:t>
            </a:r>
            <a:r>
              <a:rPr lang="en-US" sz="2000" b="1" dirty="0" err="1">
                <a:latin typeface="Courier New" pitchFamily="49" charset="0"/>
                <a:cs typeface="Courier New" pitchFamily="49" charset="0"/>
              </a:rPr>
              <a:t>int</a:t>
            </a:r>
            <a:r>
              <a:rPr lang="en-US" sz="2000" b="1" dirty="0">
                <a:latin typeface="Courier New" pitchFamily="49" charset="0"/>
                <a:cs typeface="Courier New" pitchFamily="49" charset="0"/>
              </a:rPr>
              <a:t> n)</a:t>
            </a:r>
          </a:p>
          <a:p>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	if (n == 0)</a:t>
            </a:r>
          </a:p>
          <a:p>
            <a:r>
              <a:rPr lang="en-US" sz="2000" b="1" dirty="0">
                <a:latin typeface="Courier New" pitchFamily="49" charset="0"/>
                <a:cs typeface="Courier New" pitchFamily="49" charset="0"/>
              </a:rPr>
              <a:t>		return 1; /*</a:t>
            </a:r>
            <a:r>
              <a:rPr lang="en-US" sz="2000" b="1" dirty="0" err="1">
                <a:latin typeface="Courier New" pitchFamily="49" charset="0"/>
                <a:cs typeface="Courier New" pitchFamily="49" charset="0"/>
              </a:rPr>
              <a:t>Phần</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dừng</a:t>
            </a:r>
            <a:r>
              <a:rPr lang="en-US" sz="2000" b="1" dirty="0">
                <a:latin typeface="Courier New" pitchFamily="49" charset="0"/>
                <a:cs typeface="Courier New" pitchFamily="49" charset="0"/>
              </a:rPr>
              <a:t> */</a:t>
            </a:r>
          </a:p>
          <a:p>
            <a:r>
              <a:rPr lang="en-US" sz="2000" b="1" dirty="0">
                <a:latin typeface="Courier New" pitchFamily="49" charset="0"/>
                <a:cs typeface="Courier New" pitchFamily="49" charset="0"/>
              </a:rPr>
              <a:t>	else</a:t>
            </a:r>
          </a:p>
          <a:p>
            <a:r>
              <a:rPr lang="en-US" sz="2000" b="1" dirty="0">
                <a:latin typeface="Courier New" pitchFamily="49" charset="0"/>
                <a:cs typeface="Courier New" pitchFamily="49" charset="0"/>
              </a:rPr>
              <a:t>		return GT(n- 1) * n; /*</a:t>
            </a:r>
            <a:r>
              <a:rPr lang="en-US" sz="2000" b="1" dirty="0" err="1">
                <a:latin typeface="Courier New" pitchFamily="49" charset="0"/>
                <a:cs typeface="Courier New" pitchFamily="49" charset="0"/>
              </a:rPr>
              <a:t>Phần</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đệ</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quy</a:t>
            </a:r>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a:t>
            </a:r>
          </a:p>
        </p:txBody>
      </p:sp>
      <p:sp>
        <p:nvSpPr>
          <p:cNvPr id="11" name="TextBox 10"/>
          <p:cNvSpPr txBox="1">
            <a:spLocks noChangeArrowheads="1"/>
          </p:cNvSpPr>
          <p:nvPr/>
        </p:nvSpPr>
        <p:spPr bwMode="auto">
          <a:xfrm>
            <a:off x="1043608" y="4149080"/>
            <a:ext cx="7838256" cy="1938992"/>
          </a:xfrm>
          <a:prstGeom prst="rect">
            <a:avLst/>
          </a:prstGeom>
          <a:noFill/>
          <a:ln w="9525">
            <a:noFill/>
            <a:miter lim="800000"/>
            <a:headEnd/>
            <a:tailEnd/>
          </a:ln>
        </p:spPr>
        <p:txBody>
          <a:bodyPr wrap="square">
            <a:spAutoFit/>
          </a:bodyPr>
          <a:lstStyle/>
          <a:p>
            <a:r>
              <a:rPr lang="en-US" sz="2000" b="1" dirty="0">
                <a:latin typeface="Courier New" pitchFamily="49" charset="0"/>
                <a:cs typeface="Courier New" pitchFamily="49" charset="0"/>
              </a:rPr>
              <a:t>int UCLN(int x, int y) {</a:t>
            </a:r>
          </a:p>
          <a:p>
            <a:r>
              <a:rPr lang="en-US" sz="2000" b="1" dirty="0">
                <a:latin typeface="Courier New" pitchFamily="49" charset="0"/>
                <a:cs typeface="Courier New" pitchFamily="49" charset="0"/>
              </a:rPr>
              <a:t>	if (y == 0)</a:t>
            </a:r>
          </a:p>
          <a:p>
            <a:r>
              <a:rPr lang="en-US" sz="2000" b="1" dirty="0">
                <a:latin typeface="Courier New" pitchFamily="49" charset="0"/>
                <a:cs typeface="Courier New" pitchFamily="49" charset="0"/>
              </a:rPr>
              <a:t>		return x; /*</a:t>
            </a:r>
            <a:r>
              <a:rPr lang="en-US" sz="2000" b="1" dirty="0" err="1">
                <a:latin typeface="Courier New" pitchFamily="49" charset="0"/>
                <a:cs typeface="Courier New" pitchFamily="49" charset="0"/>
              </a:rPr>
              <a:t>Phần</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dừng</a:t>
            </a:r>
            <a:r>
              <a:rPr lang="en-US" sz="2000" b="1" dirty="0">
                <a:latin typeface="Courier New" pitchFamily="49" charset="0"/>
                <a:cs typeface="Courier New" pitchFamily="49" charset="0"/>
              </a:rPr>
              <a:t> */</a:t>
            </a:r>
          </a:p>
          <a:p>
            <a:r>
              <a:rPr lang="en-US" sz="2000" b="1" dirty="0">
                <a:latin typeface="Courier New" pitchFamily="49" charset="0"/>
                <a:cs typeface="Courier New" pitchFamily="49" charset="0"/>
              </a:rPr>
              <a:t>	else</a:t>
            </a:r>
          </a:p>
          <a:p>
            <a:r>
              <a:rPr lang="en-US" sz="2000" b="1" dirty="0">
                <a:latin typeface="Courier New" pitchFamily="49" charset="0"/>
                <a:cs typeface="Courier New" pitchFamily="49" charset="0"/>
              </a:rPr>
              <a:t>		return UCLN(</a:t>
            </a:r>
            <a:r>
              <a:rPr lang="en-US" sz="2000" b="1" dirty="0" err="1">
                <a:latin typeface="Courier New" pitchFamily="49" charset="0"/>
                <a:cs typeface="Courier New" pitchFamily="49" charset="0"/>
              </a:rPr>
              <a:t>y,x%y</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Phần</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đệ</a:t>
            </a:r>
            <a:r>
              <a:rPr lang="en-US" sz="2000" b="1" dirty="0">
                <a:latin typeface="Courier New" pitchFamily="49" charset="0"/>
                <a:cs typeface="Courier New" pitchFamily="49" charset="0"/>
              </a:rPr>
              <a:t> </a:t>
            </a:r>
            <a:r>
              <a:rPr lang="en-US" sz="2000" b="1" dirty="0" err="1">
                <a:latin typeface="Courier New" pitchFamily="49" charset="0"/>
                <a:cs typeface="Courier New" pitchFamily="49" charset="0"/>
              </a:rPr>
              <a:t>quy</a:t>
            </a:r>
            <a:r>
              <a:rPr lang="en-US" sz="2000" b="1" dirty="0">
                <a:latin typeface="Courier New" pitchFamily="49" charset="0"/>
                <a:cs typeface="Courier New" pitchFamily="49" charset="0"/>
              </a:rPr>
              <a:t>*/</a:t>
            </a:r>
          </a:p>
          <a:p>
            <a:r>
              <a:rPr lang="en-US" sz="2000" b="1" dirty="0">
                <a:latin typeface="Courier New" pitchFamily="49" charset="0"/>
                <a:cs typeface="Courier New" pitchFamily="49" charset="0"/>
              </a:rPr>
              <a:t>}</a:t>
            </a:r>
          </a:p>
        </p:txBody>
      </p:sp>
      <p:sp>
        <p:nvSpPr>
          <p:cNvPr id="12" name="Rounded Rectangle 11"/>
          <p:cNvSpPr/>
          <p:nvPr/>
        </p:nvSpPr>
        <p:spPr>
          <a:xfrm>
            <a:off x="891208" y="4146283"/>
            <a:ext cx="152400" cy="2171700"/>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0" name="Slide Number Placeholder 9"/>
          <p:cNvSpPr>
            <a:spLocks noGrp="1"/>
          </p:cNvSpPr>
          <p:nvPr>
            <p:ph type="sldNum" sz="quarter" idx="12"/>
          </p:nvPr>
        </p:nvSpPr>
        <p:spPr/>
        <p:txBody>
          <a:bodyPr/>
          <a:lstStyle/>
          <a:p>
            <a:fld id="{5AB95402-1E0D-474E-8D8C-CBE7F053639E}" type="slidenum">
              <a:rPr lang="vi-VN" smtClean="0"/>
              <a:pPr/>
              <a:t>30</a:t>
            </a:fld>
            <a:r>
              <a:rPr lang="vi-VN"/>
              <a:t>/43</a:t>
            </a:r>
          </a:p>
        </p:txBody>
      </p:sp>
    </p:spTree>
    <p:extLst>
      <p:ext uri="{BB962C8B-B14F-4D97-AF65-F5344CB8AC3E}">
        <p14:creationId xmlns:p14="http://schemas.microsoft.com/office/powerpoint/2010/main" val="1757119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wipe(left)">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up)">
                                      <p:cBhvr>
                                        <p:cTn id="2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1" grpId="0"/>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hàm đệ quy (tt)</a:t>
            </a:r>
            <a:endParaRPr lang="vi-VN"/>
          </a:p>
        </p:txBody>
      </p:sp>
      <p:sp>
        <p:nvSpPr>
          <p:cNvPr id="3" name="Content Placeholder 2"/>
          <p:cNvSpPr>
            <a:spLocks noGrp="1"/>
          </p:cNvSpPr>
          <p:nvPr>
            <p:ph idx="1"/>
          </p:nvPr>
        </p:nvSpPr>
        <p:spPr/>
        <p:txBody>
          <a:bodyPr/>
          <a:lstStyle/>
          <a:p>
            <a:r>
              <a:rPr lang="en-US"/>
              <a:t>Ví dụ 3: Bài toán tháp Hà Nội</a:t>
            </a:r>
          </a:p>
          <a:p>
            <a:pPr lvl="1">
              <a:defRPr/>
            </a:pPr>
            <a:r>
              <a:rPr lang="en-US"/>
              <a:t>Có 3 cọc A, B và C và cọc A hiện có N </a:t>
            </a:r>
            <a:r>
              <a:rPr lang="vi-VN"/>
              <a:t>đĩ</a:t>
            </a:r>
            <a:r>
              <a:rPr lang="en-US"/>
              <a:t>a.</a:t>
            </a:r>
          </a:p>
          <a:p>
            <a:pPr lvl="1">
              <a:defRPr/>
            </a:pPr>
            <a:r>
              <a:rPr lang="en-US"/>
              <a:t>Tìm cách chuyển N </a:t>
            </a:r>
            <a:r>
              <a:rPr lang="vi-VN"/>
              <a:t>đĩ</a:t>
            </a:r>
            <a:r>
              <a:rPr lang="en-US"/>
              <a:t>a từ cọc A sang cọc B sao cho:</a:t>
            </a:r>
          </a:p>
          <a:p>
            <a:pPr lvl="2">
              <a:defRPr/>
            </a:pPr>
            <a:r>
              <a:rPr lang="en-US"/>
              <a:t>Một lần chuyển 1 </a:t>
            </a:r>
            <a:r>
              <a:rPr lang="vi-VN"/>
              <a:t>đĩ</a:t>
            </a:r>
            <a:r>
              <a:rPr lang="en-US"/>
              <a:t>a</a:t>
            </a:r>
          </a:p>
          <a:p>
            <a:pPr lvl="2">
              <a:defRPr/>
            </a:pPr>
            <a:r>
              <a:rPr lang="vi-VN"/>
              <a:t>Mỗi đĩa có thể được chuyển từ cọc này sang cọc khác bất kì</a:t>
            </a:r>
          </a:p>
          <a:p>
            <a:pPr lvl="2">
              <a:defRPr/>
            </a:pPr>
            <a:r>
              <a:rPr lang="vi-VN"/>
              <a:t>Đ</a:t>
            </a:r>
            <a:r>
              <a:rPr lang="en-US"/>
              <a:t>ĩa lớn h</a:t>
            </a:r>
            <a:r>
              <a:rPr lang="vi-VN"/>
              <a:t>ơ</a:t>
            </a:r>
            <a:r>
              <a:rPr lang="en-US"/>
              <a:t>n phải nằm d</a:t>
            </a:r>
            <a:r>
              <a:rPr lang="vi-VN"/>
              <a:t>ướ</a:t>
            </a:r>
            <a:r>
              <a:rPr lang="en-US"/>
              <a:t>i.</a:t>
            </a:r>
          </a:p>
          <a:p>
            <a:pPr lvl="1">
              <a:defRPr/>
            </a:pPr>
            <a:r>
              <a:rPr lang="en-US"/>
              <a:t>Với N=2, ta có: chuyển đĩa bé nhất (đĩa 1) sang cọc C, chuyển đĩa 2 sang cọc B, chuyển đĩa 1 sang cọc B</a:t>
            </a:r>
          </a:p>
          <a:p>
            <a:pPr lvl="1"/>
            <a:endParaRPr lang="vi-VN"/>
          </a:p>
        </p:txBody>
      </p:sp>
      <p:sp>
        <p:nvSpPr>
          <p:cNvPr id="4" name="Date Placeholder 3"/>
          <p:cNvSpPr>
            <a:spLocks noGrp="1"/>
          </p:cNvSpPr>
          <p:nvPr>
            <p:ph type="dt" sz="half" idx="10"/>
          </p:nvPr>
        </p:nvSpPr>
        <p:spPr/>
        <p:txBody>
          <a:bodyPr/>
          <a:lstStyle/>
          <a:p>
            <a:fld id="{C4ADFCAA-F44E-42D3-A909-30FC619F9034}"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31</a:t>
            </a:fld>
            <a:r>
              <a:rPr lang="vi-VN"/>
              <a:t>/43</a:t>
            </a:r>
          </a:p>
        </p:txBody>
      </p:sp>
    </p:spTree>
    <p:extLst>
      <p:ext uri="{BB962C8B-B14F-4D97-AF65-F5344CB8AC3E}">
        <p14:creationId xmlns:p14="http://schemas.microsoft.com/office/powerpoint/2010/main" val="345844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lef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left)">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left)">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5058" name="Title 4"/>
          <p:cNvSpPr>
            <a:spLocks noGrp="1"/>
          </p:cNvSpPr>
          <p:nvPr>
            <p:ph type="title"/>
          </p:nvPr>
        </p:nvSpPr>
        <p:spPr/>
        <p:txBody>
          <a:bodyPr/>
          <a:lstStyle/>
          <a:p>
            <a:r>
              <a:rPr lang="en-US"/>
              <a:t>Bài toán tháp Hà Nội</a:t>
            </a:r>
          </a:p>
        </p:txBody>
      </p:sp>
      <p:sp>
        <p:nvSpPr>
          <p:cNvPr id="11" name="Content Placeholder 10"/>
          <p:cNvSpPr>
            <a:spLocks noGrp="1"/>
          </p:cNvSpPr>
          <p:nvPr>
            <p:ph idx="1"/>
          </p:nvPr>
        </p:nvSpPr>
        <p:spPr/>
        <p:txBody>
          <a:bodyPr/>
          <a:lstStyle/>
          <a:p>
            <a:endParaRPr lang="vi-VN"/>
          </a:p>
        </p:txBody>
      </p:sp>
      <p:sp>
        <p:nvSpPr>
          <p:cNvPr id="4" name="Date Placeholder 3"/>
          <p:cNvSpPr>
            <a:spLocks noGrp="1"/>
          </p:cNvSpPr>
          <p:nvPr>
            <p:ph type="dt" sz="half" idx="10"/>
          </p:nvPr>
        </p:nvSpPr>
        <p:spPr/>
        <p:txBody>
          <a:bodyPr/>
          <a:lstStyle/>
          <a:p>
            <a:fld id="{6F39843B-9C46-4954-8B40-E7FE7019C1F4}" type="datetime1">
              <a:rPr lang="vi-VN" smtClean="0"/>
              <a:t>09/05/2023</a:t>
            </a:fld>
            <a:endParaRPr lang="vi-VN"/>
          </a:p>
        </p:txBody>
      </p:sp>
      <p:sp>
        <p:nvSpPr>
          <p:cNvPr id="45059" name="Footer Placeholder 3"/>
          <p:cNvSpPr>
            <a:spLocks noGrp="1"/>
          </p:cNvSpPr>
          <p:nvPr>
            <p:ph type="ftr" sz="quarter" idx="11"/>
          </p:nvPr>
        </p:nvSpPr>
        <p:spPr>
          <a:noFill/>
        </p:spPr>
        <p:txBody>
          <a:bodyPr/>
          <a:lstStyle/>
          <a:p>
            <a:r>
              <a:rPr lang="vi-VN"/>
              <a:t>Chương 4 - Chương trình con</a:t>
            </a:r>
            <a:endParaRPr lang="en-US"/>
          </a:p>
        </p:txBody>
      </p:sp>
      <p:grpSp>
        <p:nvGrpSpPr>
          <p:cNvPr id="2" name="Group 61"/>
          <p:cNvGrpSpPr>
            <a:grpSpLocks/>
          </p:cNvGrpSpPr>
          <p:nvPr/>
        </p:nvGrpSpPr>
        <p:grpSpPr bwMode="auto">
          <a:xfrm>
            <a:off x="685800" y="3657600"/>
            <a:ext cx="2133600" cy="2057400"/>
            <a:chOff x="685800" y="3276600"/>
            <a:chExt cx="2133600" cy="2057400"/>
          </a:xfrm>
        </p:grpSpPr>
        <p:cxnSp>
          <p:nvCxnSpPr>
            <p:cNvPr id="9" name="Straight Arrow Connector 8"/>
            <p:cNvCxnSpPr/>
            <p:nvPr/>
          </p:nvCxnSpPr>
          <p:spPr>
            <a:xfrm rot="5400000" flipH="1" flipV="1">
              <a:off x="837406" y="4191000"/>
              <a:ext cx="1829594" cy="794"/>
            </a:xfrm>
            <a:prstGeom prst="straightConnector1">
              <a:avLst/>
            </a:prstGeom>
            <a:ln>
              <a:solidFill>
                <a:srgbClr val="FFC000"/>
              </a:solidFill>
              <a:headEnd/>
              <a:tailEnd/>
            </a:ln>
            <a:effectLst>
              <a:glow rad="139700">
                <a:schemeClr val="accent4">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cxnSp>
        <p:sp>
          <p:nvSpPr>
            <p:cNvPr id="6" name="AutoShape 6"/>
            <p:cNvSpPr>
              <a:spLocks noChangeArrowheads="1"/>
            </p:cNvSpPr>
            <p:nvPr/>
          </p:nvSpPr>
          <p:spPr bwMode="gray">
            <a:xfrm>
              <a:off x="685800" y="5105400"/>
              <a:ext cx="2133600" cy="228600"/>
            </a:xfrm>
            <a:prstGeom prst="roundRect">
              <a:avLst>
                <a:gd name="adj" fmla="val 16667"/>
              </a:avLst>
            </a:prstGeom>
            <a:ln>
              <a:headEnd/>
              <a:tailEnd/>
            </a:ln>
            <a:effectLst>
              <a:glow rad="101600">
                <a:schemeClr val="accent4">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wrap="none" anchor="ctr"/>
            <a:lstStyle/>
            <a:p>
              <a:pPr algn="ctr">
                <a:defRPr/>
              </a:pPr>
              <a:endParaRPr lang="en-US" sz="2400"/>
            </a:p>
          </p:txBody>
        </p:sp>
      </p:grpSp>
      <p:sp>
        <p:nvSpPr>
          <p:cNvPr id="40" name="AutoShape 6"/>
          <p:cNvSpPr>
            <a:spLocks noChangeArrowheads="1"/>
          </p:cNvSpPr>
          <p:nvPr/>
        </p:nvSpPr>
        <p:spPr bwMode="gray">
          <a:xfrm>
            <a:off x="685800" y="5791200"/>
            <a:ext cx="21336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Cột nguồn A</a:t>
            </a:r>
          </a:p>
        </p:txBody>
      </p:sp>
      <p:sp>
        <p:nvSpPr>
          <p:cNvPr id="41" name="AutoShape 6"/>
          <p:cNvSpPr>
            <a:spLocks noChangeArrowheads="1"/>
          </p:cNvSpPr>
          <p:nvPr/>
        </p:nvSpPr>
        <p:spPr bwMode="gray">
          <a:xfrm>
            <a:off x="3276600" y="5791200"/>
            <a:ext cx="21336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Cột trung gian C</a:t>
            </a:r>
          </a:p>
        </p:txBody>
      </p:sp>
      <p:sp>
        <p:nvSpPr>
          <p:cNvPr id="42" name="AutoShape 6"/>
          <p:cNvSpPr>
            <a:spLocks noChangeArrowheads="1"/>
          </p:cNvSpPr>
          <p:nvPr/>
        </p:nvSpPr>
        <p:spPr bwMode="gray">
          <a:xfrm>
            <a:off x="5791200" y="5791200"/>
            <a:ext cx="2133600" cy="457200"/>
          </a:xfrm>
          <a:prstGeom prst="roundRect">
            <a:avLst>
              <a:gd name="adj" fmla="val 16667"/>
            </a:avLst>
          </a:prstGeom>
          <a:noFill/>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a:solidFill>
                  <a:srgbClr val="FF0000"/>
                </a:solidFill>
              </a:rPr>
              <a:t>Cột </a:t>
            </a:r>
            <a:r>
              <a:rPr lang="vi-VN">
                <a:solidFill>
                  <a:srgbClr val="FF0000"/>
                </a:solidFill>
              </a:rPr>
              <a:t>đí</a:t>
            </a:r>
            <a:r>
              <a:rPr lang="en-US">
                <a:solidFill>
                  <a:srgbClr val="FF0000"/>
                </a:solidFill>
              </a:rPr>
              <a:t>ch B</a:t>
            </a:r>
          </a:p>
        </p:txBody>
      </p:sp>
      <p:grpSp>
        <p:nvGrpSpPr>
          <p:cNvPr id="3" name="Group 62"/>
          <p:cNvGrpSpPr>
            <a:grpSpLocks/>
          </p:cNvGrpSpPr>
          <p:nvPr/>
        </p:nvGrpSpPr>
        <p:grpSpPr bwMode="auto">
          <a:xfrm>
            <a:off x="3276600" y="3657600"/>
            <a:ext cx="2133600" cy="2057400"/>
            <a:chOff x="3276600" y="3276600"/>
            <a:chExt cx="2133600" cy="2057400"/>
          </a:xfrm>
        </p:grpSpPr>
        <p:cxnSp>
          <p:nvCxnSpPr>
            <p:cNvPr id="54" name="Straight Arrow Connector 53"/>
            <p:cNvCxnSpPr/>
            <p:nvPr/>
          </p:nvCxnSpPr>
          <p:spPr>
            <a:xfrm rot="5400000" flipH="1" flipV="1">
              <a:off x="3428206" y="4191000"/>
              <a:ext cx="1829594" cy="794"/>
            </a:xfrm>
            <a:prstGeom prst="straightConnector1">
              <a:avLst/>
            </a:prstGeom>
            <a:ln>
              <a:solidFill>
                <a:srgbClr val="FFC000"/>
              </a:solidFill>
              <a:headEnd/>
              <a:tailEnd/>
            </a:ln>
            <a:effectLst>
              <a:glow rad="139700">
                <a:schemeClr val="accent4">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cxnSp>
        <p:sp>
          <p:nvSpPr>
            <p:cNvPr id="55" name="AutoShape 6"/>
            <p:cNvSpPr>
              <a:spLocks noChangeArrowheads="1"/>
            </p:cNvSpPr>
            <p:nvPr/>
          </p:nvSpPr>
          <p:spPr bwMode="gray">
            <a:xfrm>
              <a:off x="3276600" y="5105400"/>
              <a:ext cx="2133600" cy="228600"/>
            </a:xfrm>
            <a:prstGeom prst="roundRect">
              <a:avLst>
                <a:gd name="adj" fmla="val 16667"/>
              </a:avLst>
            </a:prstGeom>
            <a:ln>
              <a:headEnd/>
              <a:tailEnd/>
            </a:ln>
            <a:effectLst>
              <a:glow rad="101600">
                <a:schemeClr val="accent4">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wrap="none" anchor="ctr"/>
            <a:lstStyle/>
            <a:p>
              <a:pPr algn="ctr">
                <a:defRPr/>
              </a:pPr>
              <a:endParaRPr lang="en-US" sz="2400"/>
            </a:p>
          </p:txBody>
        </p:sp>
      </p:grpSp>
      <p:grpSp>
        <p:nvGrpSpPr>
          <p:cNvPr id="8" name="Group 63"/>
          <p:cNvGrpSpPr>
            <a:grpSpLocks/>
          </p:cNvGrpSpPr>
          <p:nvPr/>
        </p:nvGrpSpPr>
        <p:grpSpPr bwMode="auto">
          <a:xfrm>
            <a:off x="5791200" y="3657600"/>
            <a:ext cx="2133600" cy="2057400"/>
            <a:chOff x="5791200" y="3276600"/>
            <a:chExt cx="2133600" cy="2057400"/>
          </a:xfrm>
        </p:grpSpPr>
        <p:cxnSp>
          <p:nvCxnSpPr>
            <p:cNvPr id="56" name="Straight Arrow Connector 55"/>
            <p:cNvCxnSpPr/>
            <p:nvPr/>
          </p:nvCxnSpPr>
          <p:spPr>
            <a:xfrm rot="5400000" flipH="1" flipV="1">
              <a:off x="5942806" y="4191000"/>
              <a:ext cx="1829594" cy="794"/>
            </a:xfrm>
            <a:prstGeom prst="straightConnector1">
              <a:avLst/>
            </a:prstGeom>
            <a:ln>
              <a:solidFill>
                <a:srgbClr val="FFC000"/>
              </a:solidFill>
              <a:headEnd/>
              <a:tailEnd/>
            </a:ln>
            <a:effectLst>
              <a:glow rad="139700">
                <a:schemeClr val="accent4">
                  <a:satMod val="175000"/>
                  <a:alpha val="40000"/>
                </a:schemeClr>
              </a:glow>
              <a:outerShdw blurRad="40000" dist="20000" dir="5400000" rotWithShape="0">
                <a:srgbClr val="000000">
                  <a:alpha val="38000"/>
                </a:srgbClr>
              </a:outerShdw>
            </a:effectLst>
          </p:spPr>
          <p:style>
            <a:lnRef idx="1">
              <a:schemeClr val="accent1"/>
            </a:lnRef>
            <a:fillRef idx="2">
              <a:schemeClr val="accent1"/>
            </a:fillRef>
            <a:effectRef idx="1">
              <a:schemeClr val="accent1"/>
            </a:effectRef>
            <a:fontRef idx="minor">
              <a:schemeClr val="dk1"/>
            </a:fontRef>
          </p:style>
        </p:cxnSp>
        <p:sp>
          <p:nvSpPr>
            <p:cNvPr id="57" name="AutoShape 6"/>
            <p:cNvSpPr>
              <a:spLocks noChangeArrowheads="1"/>
            </p:cNvSpPr>
            <p:nvPr/>
          </p:nvSpPr>
          <p:spPr bwMode="gray">
            <a:xfrm>
              <a:off x="5791200" y="5105400"/>
              <a:ext cx="2133600" cy="228600"/>
            </a:xfrm>
            <a:prstGeom prst="roundRect">
              <a:avLst>
                <a:gd name="adj" fmla="val 16667"/>
              </a:avLst>
            </a:prstGeom>
            <a:ln>
              <a:headEnd/>
              <a:tailEnd/>
            </a:ln>
            <a:effectLst>
              <a:glow rad="101600">
                <a:schemeClr val="accent4">
                  <a:satMod val="175000"/>
                  <a:alpha val="40000"/>
                </a:schemeClr>
              </a:glow>
              <a:outerShdw blurRad="40000" dist="20000" dir="5400000" rotWithShape="0">
                <a:srgbClr val="000000">
                  <a:alpha val="38000"/>
                </a:srgbClr>
              </a:outerShdw>
            </a:effectLst>
          </p:spPr>
          <p:style>
            <a:lnRef idx="1">
              <a:schemeClr val="dk1"/>
            </a:lnRef>
            <a:fillRef idx="2">
              <a:schemeClr val="dk1"/>
            </a:fillRef>
            <a:effectRef idx="1">
              <a:schemeClr val="dk1"/>
            </a:effectRef>
            <a:fontRef idx="minor">
              <a:schemeClr val="dk1"/>
            </a:fontRef>
          </p:style>
          <p:txBody>
            <a:bodyPr wrap="none" anchor="ctr"/>
            <a:lstStyle/>
            <a:p>
              <a:pPr algn="ctr">
                <a:defRPr/>
              </a:pPr>
              <a:endParaRPr lang="en-US" sz="2400"/>
            </a:p>
          </p:txBody>
        </p:sp>
      </p:grpSp>
      <p:sp>
        <p:nvSpPr>
          <p:cNvPr id="59" name="AutoShape 6"/>
          <p:cNvSpPr>
            <a:spLocks noChangeArrowheads="1"/>
          </p:cNvSpPr>
          <p:nvPr/>
        </p:nvSpPr>
        <p:spPr bwMode="gray">
          <a:xfrm>
            <a:off x="1524000" y="3886200"/>
            <a:ext cx="457200" cy="3810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1</a:t>
            </a:r>
          </a:p>
        </p:txBody>
      </p:sp>
      <p:sp>
        <p:nvSpPr>
          <p:cNvPr id="60" name="AutoShape 6"/>
          <p:cNvSpPr>
            <a:spLocks noChangeArrowheads="1"/>
          </p:cNvSpPr>
          <p:nvPr/>
        </p:nvSpPr>
        <p:spPr bwMode="gray">
          <a:xfrm>
            <a:off x="1295400" y="4267200"/>
            <a:ext cx="914400" cy="3810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a:t>
            </a:r>
          </a:p>
        </p:txBody>
      </p:sp>
      <p:sp>
        <p:nvSpPr>
          <p:cNvPr id="61" name="AutoShape 6"/>
          <p:cNvSpPr>
            <a:spLocks noChangeArrowheads="1"/>
          </p:cNvSpPr>
          <p:nvPr/>
        </p:nvSpPr>
        <p:spPr bwMode="gray">
          <a:xfrm>
            <a:off x="1066800" y="4648200"/>
            <a:ext cx="1371600" cy="3810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N-1</a:t>
            </a:r>
          </a:p>
        </p:txBody>
      </p:sp>
      <p:grpSp>
        <p:nvGrpSpPr>
          <p:cNvPr id="10" name="Group 43"/>
          <p:cNvGrpSpPr>
            <a:grpSpLocks/>
          </p:cNvGrpSpPr>
          <p:nvPr/>
        </p:nvGrpSpPr>
        <p:grpSpPr bwMode="auto">
          <a:xfrm>
            <a:off x="1066800" y="3886200"/>
            <a:ext cx="1371600" cy="1143000"/>
            <a:chOff x="1066800" y="3505200"/>
            <a:chExt cx="1371600" cy="1143000"/>
          </a:xfrm>
        </p:grpSpPr>
        <p:sp>
          <p:nvSpPr>
            <p:cNvPr id="43" name="AutoShape 6"/>
            <p:cNvSpPr>
              <a:spLocks noChangeArrowheads="1"/>
            </p:cNvSpPr>
            <p:nvPr/>
          </p:nvSpPr>
          <p:spPr bwMode="gray">
            <a:xfrm>
              <a:off x="1524000" y="3505200"/>
              <a:ext cx="457200" cy="3810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1</a:t>
              </a:r>
            </a:p>
          </p:txBody>
        </p:sp>
        <p:sp>
          <p:nvSpPr>
            <p:cNvPr id="22" name="AutoShape 6"/>
            <p:cNvSpPr>
              <a:spLocks noChangeArrowheads="1"/>
            </p:cNvSpPr>
            <p:nvPr/>
          </p:nvSpPr>
          <p:spPr bwMode="gray">
            <a:xfrm>
              <a:off x="1295400" y="3886200"/>
              <a:ext cx="914400" cy="3810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a:t>
              </a:r>
            </a:p>
          </p:txBody>
        </p:sp>
        <p:sp>
          <p:nvSpPr>
            <p:cNvPr id="21" name="AutoShape 6"/>
            <p:cNvSpPr>
              <a:spLocks noChangeArrowheads="1"/>
            </p:cNvSpPr>
            <p:nvPr/>
          </p:nvSpPr>
          <p:spPr bwMode="gray">
            <a:xfrm>
              <a:off x="1066800" y="4267200"/>
              <a:ext cx="1371600" cy="381000"/>
            </a:xfrm>
            <a:prstGeom prst="roundRect">
              <a:avLst>
                <a:gd name="adj" fmla="val 16667"/>
              </a:avLst>
            </a:prstGeom>
            <a:ln>
              <a:headEnd/>
              <a:tailEnd/>
            </a:ln>
          </p:spPr>
          <p:style>
            <a:lnRef idx="1">
              <a:schemeClr val="accent1"/>
            </a:lnRef>
            <a:fillRef idx="2">
              <a:schemeClr val="accent1"/>
            </a:fillRef>
            <a:effectRef idx="1">
              <a:schemeClr val="accent1"/>
            </a:effectRef>
            <a:fontRef idx="minor">
              <a:schemeClr val="dk1"/>
            </a:fontRef>
          </p:style>
          <p:txBody>
            <a:bodyPr wrap="none" anchor="ctr"/>
            <a:lstStyle/>
            <a:p>
              <a:pPr algn="ctr">
                <a:defRPr/>
              </a:pPr>
              <a:r>
                <a:rPr lang="en-US" sz="2400"/>
                <a:t>N-1</a:t>
              </a:r>
            </a:p>
          </p:txBody>
        </p:sp>
      </p:grpSp>
      <p:sp>
        <p:nvSpPr>
          <p:cNvPr id="7" name="AutoShape 6"/>
          <p:cNvSpPr>
            <a:spLocks noChangeArrowheads="1"/>
          </p:cNvSpPr>
          <p:nvPr/>
        </p:nvSpPr>
        <p:spPr bwMode="gray">
          <a:xfrm>
            <a:off x="838200" y="5029200"/>
            <a:ext cx="1828800" cy="381000"/>
          </a:xfrm>
          <a:prstGeom prst="roundRect">
            <a:avLst>
              <a:gd name="adj" fmla="val 16667"/>
            </a:avLst>
          </a:prstGeom>
          <a:ln>
            <a:headEnd/>
            <a:tailEnd/>
          </a:ln>
        </p:spPr>
        <p:style>
          <a:lnRef idx="1">
            <a:schemeClr val="accent2"/>
          </a:lnRef>
          <a:fillRef idx="2">
            <a:schemeClr val="accent2"/>
          </a:fillRef>
          <a:effectRef idx="1">
            <a:schemeClr val="accent2"/>
          </a:effectRef>
          <a:fontRef idx="minor">
            <a:schemeClr val="dk1"/>
          </a:fontRef>
        </p:style>
        <p:txBody>
          <a:bodyPr wrap="none" anchor="ctr"/>
          <a:lstStyle/>
          <a:p>
            <a:pPr algn="ctr">
              <a:defRPr/>
            </a:pPr>
            <a:r>
              <a:rPr lang="en-US" sz="2400"/>
              <a:t>N</a:t>
            </a:r>
          </a:p>
        </p:txBody>
      </p:sp>
      <p:sp>
        <p:nvSpPr>
          <p:cNvPr id="67" name="AutoShape 6"/>
          <p:cNvSpPr>
            <a:spLocks noChangeArrowheads="1"/>
          </p:cNvSpPr>
          <p:nvPr/>
        </p:nvSpPr>
        <p:spPr bwMode="gray">
          <a:xfrm>
            <a:off x="2667000" y="1600200"/>
            <a:ext cx="1524000" cy="457200"/>
          </a:xfrm>
          <a:prstGeom prst="roundRect">
            <a:avLst>
              <a:gd name="adj" fmla="val 16667"/>
            </a:avLst>
          </a:prstGeom>
          <a:ln>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1600">
                <a:solidFill>
                  <a:srgbClr val="000066"/>
                </a:solidFill>
              </a:rPr>
              <a:t>N-1 </a:t>
            </a:r>
            <a:r>
              <a:rPr lang="vi-VN" sz="1600">
                <a:solidFill>
                  <a:srgbClr val="000066"/>
                </a:solidFill>
              </a:rPr>
              <a:t>đĩa</a:t>
            </a:r>
            <a:r>
              <a:rPr lang="en-US" sz="1600">
                <a:solidFill>
                  <a:srgbClr val="000066"/>
                </a:solidFill>
              </a:rPr>
              <a:t> A </a:t>
            </a:r>
            <a:r>
              <a:rPr lang="en-US" sz="1600">
                <a:solidFill>
                  <a:srgbClr val="000066"/>
                </a:solidFill>
                <a:sym typeface="Wingdings" pitchFamily="2" charset="2"/>
              </a:rPr>
              <a:t> C</a:t>
            </a:r>
            <a:r>
              <a:rPr lang="en-US" sz="1600">
                <a:solidFill>
                  <a:srgbClr val="000066"/>
                </a:solidFill>
              </a:rPr>
              <a:t> </a:t>
            </a:r>
          </a:p>
        </p:txBody>
      </p:sp>
      <p:sp>
        <p:nvSpPr>
          <p:cNvPr id="68" name="AutoShape 6"/>
          <p:cNvSpPr>
            <a:spLocks noChangeArrowheads="1"/>
          </p:cNvSpPr>
          <p:nvPr/>
        </p:nvSpPr>
        <p:spPr bwMode="gray">
          <a:xfrm>
            <a:off x="685800" y="1600200"/>
            <a:ext cx="1524000" cy="457200"/>
          </a:xfrm>
          <a:prstGeom prst="roundRect">
            <a:avLst>
              <a:gd name="adj" fmla="val 16667"/>
            </a:avLst>
          </a:prstGeom>
          <a:ln>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1600">
                <a:solidFill>
                  <a:srgbClr val="000066"/>
                </a:solidFill>
              </a:rPr>
              <a:t>N </a:t>
            </a:r>
            <a:r>
              <a:rPr lang="vi-VN" sz="1600">
                <a:solidFill>
                  <a:srgbClr val="000066"/>
                </a:solidFill>
              </a:rPr>
              <a:t>đĩa</a:t>
            </a:r>
            <a:r>
              <a:rPr lang="en-US" sz="1600">
                <a:solidFill>
                  <a:srgbClr val="000066"/>
                </a:solidFill>
              </a:rPr>
              <a:t> A </a:t>
            </a:r>
            <a:r>
              <a:rPr lang="en-US" sz="1600">
                <a:solidFill>
                  <a:srgbClr val="000066"/>
                </a:solidFill>
                <a:sym typeface="Wingdings" pitchFamily="2" charset="2"/>
              </a:rPr>
              <a:t> B</a:t>
            </a:r>
            <a:r>
              <a:rPr lang="en-US" sz="1600">
                <a:solidFill>
                  <a:srgbClr val="000066"/>
                </a:solidFill>
              </a:rPr>
              <a:t> </a:t>
            </a:r>
          </a:p>
        </p:txBody>
      </p:sp>
      <p:sp>
        <p:nvSpPr>
          <p:cNvPr id="69" name="AutoShape 6"/>
          <p:cNvSpPr>
            <a:spLocks noChangeArrowheads="1"/>
          </p:cNvSpPr>
          <p:nvPr/>
        </p:nvSpPr>
        <p:spPr bwMode="gray">
          <a:xfrm>
            <a:off x="6629400" y="1600200"/>
            <a:ext cx="1524000" cy="457200"/>
          </a:xfrm>
          <a:prstGeom prst="roundRect">
            <a:avLst>
              <a:gd name="adj" fmla="val 16667"/>
            </a:avLst>
          </a:prstGeom>
          <a:ln>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1600">
                <a:solidFill>
                  <a:srgbClr val="000066"/>
                </a:solidFill>
              </a:rPr>
              <a:t>N-1 </a:t>
            </a:r>
            <a:r>
              <a:rPr lang="vi-VN" sz="1600">
                <a:solidFill>
                  <a:srgbClr val="000066"/>
                </a:solidFill>
              </a:rPr>
              <a:t>đĩa</a:t>
            </a:r>
            <a:r>
              <a:rPr lang="en-US" sz="1600">
                <a:solidFill>
                  <a:srgbClr val="000066"/>
                </a:solidFill>
              </a:rPr>
              <a:t> C </a:t>
            </a:r>
            <a:r>
              <a:rPr lang="en-US" sz="1600">
                <a:solidFill>
                  <a:srgbClr val="000066"/>
                </a:solidFill>
                <a:sym typeface="Wingdings" pitchFamily="2" charset="2"/>
              </a:rPr>
              <a:t> B</a:t>
            </a:r>
            <a:r>
              <a:rPr lang="en-US" sz="1600">
                <a:solidFill>
                  <a:srgbClr val="000066"/>
                </a:solidFill>
              </a:rPr>
              <a:t> </a:t>
            </a:r>
          </a:p>
        </p:txBody>
      </p:sp>
      <p:sp>
        <p:nvSpPr>
          <p:cNvPr id="70" name="AutoShape 6"/>
          <p:cNvSpPr>
            <a:spLocks noChangeArrowheads="1"/>
          </p:cNvSpPr>
          <p:nvPr/>
        </p:nvSpPr>
        <p:spPr bwMode="gray">
          <a:xfrm>
            <a:off x="4648200" y="1600200"/>
            <a:ext cx="1524000" cy="457200"/>
          </a:xfrm>
          <a:prstGeom prst="roundRect">
            <a:avLst>
              <a:gd name="adj" fmla="val 16667"/>
            </a:avLst>
          </a:prstGeom>
          <a:ln>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vi-VN" sz="1600">
                <a:solidFill>
                  <a:srgbClr val="000066"/>
                </a:solidFill>
              </a:rPr>
              <a:t>Đĩa</a:t>
            </a:r>
            <a:r>
              <a:rPr lang="en-US" sz="1600">
                <a:solidFill>
                  <a:srgbClr val="000066"/>
                </a:solidFill>
              </a:rPr>
              <a:t> N A </a:t>
            </a:r>
            <a:r>
              <a:rPr lang="en-US" sz="1600">
                <a:solidFill>
                  <a:srgbClr val="000066"/>
                </a:solidFill>
                <a:sym typeface="Wingdings" pitchFamily="2" charset="2"/>
              </a:rPr>
              <a:t> B</a:t>
            </a:r>
            <a:r>
              <a:rPr lang="en-US" sz="1600">
                <a:solidFill>
                  <a:srgbClr val="000066"/>
                </a:solidFill>
              </a:rPr>
              <a:t> </a:t>
            </a:r>
          </a:p>
        </p:txBody>
      </p:sp>
      <p:sp>
        <p:nvSpPr>
          <p:cNvPr id="71" name="AutoShape 6"/>
          <p:cNvSpPr>
            <a:spLocks noChangeArrowheads="1"/>
          </p:cNvSpPr>
          <p:nvPr/>
        </p:nvSpPr>
        <p:spPr bwMode="gray">
          <a:xfrm>
            <a:off x="2286000" y="1600200"/>
            <a:ext cx="304800" cy="457200"/>
          </a:xfrm>
          <a:prstGeom prst="roundRect">
            <a:avLst>
              <a:gd name="adj" fmla="val 16667"/>
            </a:avLst>
          </a:prstGeom>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2400">
                <a:solidFill>
                  <a:srgbClr val="FF0000"/>
                </a:solidFill>
              </a:rPr>
              <a:t>=</a:t>
            </a:r>
          </a:p>
        </p:txBody>
      </p:sp>
      <p:sp>
        <p:nvSpPr>
          <p:cNvPr id="72" name="AutoShape 6"/>
          <p:cNvSpPr>
            <a:spLocks noChangeArrowheads="1"/>
          </p:cNvSpPr>
          <p:nvPr/>
        </p:nvSpPr>
        <p:spPr bwMode="gray">
          <a:xfrm>
            <a:off x="4267200" y="1600200"/>
            <a:ext cx="304800" cy="457200"/>
          </a:xfrm>
          <a:prstGeom prst="roundRect">
            <a:avLst>
              <a:gd name="adj" fmla="val 16667"/>
            </a:avLst>
          </a:prstGeom>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2400">
                <a:solidFill>
                  <a:srgbClr val="FF0000"/>
                </a:solidFill>
              </a:rPr>
              <a:t>+</a:t>
            </a:r>
          </a:p>
        </p:txBody>
      </p:sp>
      <p:sp>
        <p:nvSpPr>
          <p:cNvPr id="73" name="AutoShape 6"/>
          <p:cNvSpPr>
            <a:spLocks noChangeArrowheads="1"/>
          </p:cNvSpPr>
          <p:nvPr/>
        </p:nvSpPr>
        <p:spPr bwMode="gray">
          <a:xfrm>
            <a:off x="6248400" y="1600200"/>
            <a:ext cx="304800" cy="457200"/>
          </a:xfrm>
          <a:prstGeom prst="roundRect">
            <a:avLst>
              <a:gd name="adj" fmla="val 16667"/>
            </a:avLst>
          </a:prstGeom>
          <a:ln>
            <a:noFill/>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2400">
                <a:solidFill>
                  <a:srgbClr val="FF0000"/>
                </a:solidFill>
              </a:rPr>
              <a:t>+</a:t>
            </a:r>
          </a:p>
        </p:txBody>
      </p:sp>
      <p:sp>
        <p:nvSpPr>
          <p:cNvPr id="74" name="AutoShape 6"/>
          <p:cNvSpPr>
            <a:spLocks noChangeArrowheads="1"/>
          </p:cNvSpPr>
          <p:nvPr/>
        </p:nvSpPr>
        <p:spPr bwMode="gray">
          <a:xfrm>
            <a:off x="2667000" y="1600200"/>
            <a:ext cx="457200" cy="457200"/>
          </a:xfrm>
          <a:prstGeom prst="roundRect">
            <a:avLst>
              <a:gd name="adj" fmla="val 16667"/>
            </a:avLst>
          </a:prstGeom>
          <a:ln>
            <a:prstDash val="sysDash"/>
            <a:headEnd/>
            <a:tailEnd/>
          </a:ln>
        </p:spPr>
        <p:style>
          <a:lnRef idx="2">
            <a:schemeClr val="accent1"/>
          </a:lnRef>
          <a:fillRef idx="1">
            <a:schemeClr val="lt1"/>
          </a:fillRef>
          <a:effectRef idx="0">
            <a:schemeClr val="accent1"/>
          </a:effectRef>
          <a:fontRef idx="minor">
            <a:schemeClr val="dk1"/>
          </a:fontRef>
        </p:style>
        <p:txBody>
          <a:bodyPr wrap="none" anchor="ctr"/>
          <a:lstStyle/>
          <a:p>
            <a:pPr algn="ctr">
              <a:defRPr/>
            </a:pPr>
            <a:r>
              <a:rPr lang="en-US" sz="2400">
                <a:solidFill>
                  <a:srgbClr val="FF0000"/>
                </a:solidFill>
              </a:rPr>
              <a:t>?</a:t>
            </a:r>
          </a:p>
        </p:txBody>
      </p:sp>
      <p:sp>
        <p:nvSpPr>
          <p:cNvPr id="12" name="Slide Number Placeholder 11"/>
          <p:cNvSpPr>
            <a:spLocks noGrp="1"/>
          </p:cNvSpPr>
          <p:nvPr>
            <p:ph type="sldNum" sz="quarter" idx="12"/>
          </p:nvPr>
        </p:nvSpPr>
        <p:spPr/>
        <p:txBody>
          <a:bodyPr/>
          <a:lstStyle/>
          <a:p>
            <a:fld id="{5AB95402-1E0D-474E-8D8C-CBE7F053639E}" type="slidenum">
              <a:rPr lang="vi-VN" smtClean="0"/>
              <a:pPr/>
              <a:t>32</a:t>
            </a:fld>
            <a:r>
              <a:rPr lang="vi-VN"/>
              <a:t>/43</a:t>
            </a:r>
          </a:p>
        </p:txBody>
      </p:sp>
    </p:spTree>
    <p:extLst>
      <p:ext uri="{BB962C8B-B14F-4D97-AF65-F5344CB8AC3E}">
        <p14:creationId xmlns:p14="http://schemas.microsoft.com/office/powerpoint/2010/main" val="4028245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450" decel="100000" fill="hold"/>
                                        <p:tgtEl>
                                          <p:spTgt spid="2"/>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2"/>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anim calcmode="lin" valueType="num">
                                      <p:cBhvr>
                                        <p:cTn id="14" dur="500" fill="hold"/>
                                        <p:tgtEl>
                                          <p:spTgt spid="3"/>
                                        </p:tgtEl>
                                        <p:attrNameLst>
                                          <p:attrName>ppt_x</p:attrName>
                                        </p:attrNameLst>
                                      </p:cBhvr>
                                      <p:tavLst>
                                        <p:tav tm="0">
                                          <p:val>
                                            <p:strVal val="#ppt_x"/>
                                          </p:val>
                                        </p:tav>
                                        <p:tav tm="100000">
                                          <p:val>
                                            <p:strVal val="#ppt_x"/>
                                          </p:val>
                                        </p:tav>
                                      </p:tavLst>
                                    </p:anim>
                                    <p:anim calcmode="lin" valueType="num">
                                      <p:cBhvr>
                                        <p:cTn id="15" dur="450" decel="100000" fill="hold"/>
                                        <p:tgtEl>
                                          <p:spTgt spid="3"/>
                                        </p:tgtEl>
                                        <p:attrNameLst>
                                          <p:attrName>ppt_y</p:attrName>
                                        </p:attrNameLst>
                                      </p:cBhvr>
                                      <p:tavLst>
                                        <p:tav tm="0">
                                          <p:val>
                                            <p:strVal val="#ppt_y+1"/>
                                          </p:val>
                                        </p:tav>
                                        <p:tav tm="100000">
                                          <p:val>
                                            <p:strVal val="#ppt_y-.03"/>
                                          </p:val>
                                        </p:tav>
                                      </p:tavLst>
                                    </p:anim>
                                    <p:anim calcmode="lin" valueType="num">
                                      <p:cBhvr>
                                        <p:cTn id="16" dur="50" accel="100000" fill="hold">
                                          <p:stCondLst>
                                            <p:cond delay="450"/>
                                          </p:stCondLst>
                                        </p:cTn>
                                        <p:tgtEl>
                                          <p:spTgt spid="3"/>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anim calcmode="lin" valueType="num">
                                      <p:cBhvr>
                                        <p:cTn id="20" dur="500" fill="hold"/>
                                        <p:tgtEl>
                                          <p:spTgt spid="8"/>
                                        </p:tgtEl>
                                        <p:attrNameLst>
                                          <p:attrName>ppt_x</p:attrName>
                                        </p:attrNameLst>
                                      </p:cBhvr>
                                      <p:tavLst>
                                        <p:tav tm="0">
                                          <p:val>
                                            <p:strVal val="#ppt_x"/>
                                          </p:val>
                                        </p:tav>
                                        <p:tav tm="100000">
                                          <p:val>
                                            <p:strVal val="#ppt_x"/>
                                          </p:val>
                                        </p:tav>
                                      </p:tavLst>
                                    </p:anim>
                                    <p:anim calcmode="lin" valueType="num">
                                      <p:cBhvr>
                                        <p:cTn id="21" dur="450" decel="100000" fill="hold"/>
                                        <p:tgtEl>
                                          <p:spTgt spid="8"/>
                                        </p:tgtEl>
                                        <p:attrNameLst>
                                          <p:attrName>ppt_y</p:attrName>
                                        </p:attrNameLst>
                                      </p:cBhvr>
                                      <p:tavLst>
                                        <p:tav tm="0">
                                          <p:val>
                                            <p:strVal val="#ppt_y+1"/>
                                          </p:val>
                                        </p:tav>
                                        <p:tav tm="100000">
                                          <p:val>
                                            <p:strVal val="#ppt_y-.03"/>
                                          </p:val>
                                        </p:tav>
                                      </p:tavLst>
                                    </p:anim>
                                    <p:anim calcmode="lin" valueType="num">
                                      <p:cBhvr>
                                        <p:cTn id="22" dur="50" accel="100000" fill="hold">
                                          <p:stCondLst>
                                            <p:cond delay="450"/>
                                          </p:stCondLst>
                                        </p:cTn>
                                        <p:tgtEl>
                                          <p:spTgt spid="8"/>
                                        </p:tgtEl>
                                        <p:attrNameLst>
                                          <p:attrName>ppt_y</p:attrName>
                                        </p:attrNameLst>
                                      </p:cBhvr>
                                      <p:tavLst>
                                        <p:tav tm="0">
                                          <p:val>
                                            <p:strVal val="#ppt_y-.03"/>
                                          </p:val>
                                        </p:tav>
                                        <p:tav tm="100000">
                                          <p:val>
                                            <p:strVal val="#ppt_y"/>
                                          </p:val>
                                        </p:tav>
                                      </p:tavLst>
                                    </p:anim>
                                  </p:childTnLst>
                                </p:cTn>
                              </p:par>
                            </p:childTnLst>
                          </p:cTn>
                        </p:par>
                        <p:par>
                          <p:cTn id="23" fill="hold">
                            <p:stCondLst>
                              <p:cond delay="500"/>
                            </p:stCondLst>
                            <p:childTnLst>
                              <p:par>
                                <p:cTn id="24" presetID="47" presetClass="entr" presetSubtype="0"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anim calcmode="lin" valueType="num">
                                      <p:cBhvr>
                                        <p:cTn id="27" dur="500" fill="hold"/>
                                        <p:tgtEl>
                                          <p:spTgt spid="7"/>
                                        </p:tgtEl>
                                        <p:attrNameLst>
                                          <p:attrName>ppt_x</p:attrName>
                                        </p:attrNameLst>
                                      </p:cBhvr>
                                      <p:tavLst>
                                        <p:tav tm="0">
                                          <p:val>
                                            <p:strVal val="#ppt_x"/>
                                          </p:val>
                                        </p:tav>
                                        <p:tav tm="100000">
                                          <p:val>
                                            <p:strVal val="#ppt_x"/>
                                          </p:val>
                                        </p:tav>
                                      </p:tavLst>
                                    </p:anim>
                                    <p:anim calcmode="lin" valueType="num">
                                      <p:cBhvr>
                                        <p:cTn id="28" dur="500" fill="hold"/>
                                        <p:tgtEl>
                                          <p:spTgt spid="7"/>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47" presetClass="entr" presetSubtype="0" fill="hold" grpId="0" nodeType="after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fade">
                                      <p:cBhvr>
                                        <p:cTn id="32" dur="500"/>
                                        <p:tgtEl>
                                          <p:spTgt spid="61"/>
                                        </p:tgtEl>
                                      </p:cBhvr>
                                    </p:animEffect>
                                    <p:anim calcmode="lin" valueType="num">
                                      <p:cBhvr>
                                        <p:cTn id="33" dur="500" fill="hold"/>
                                        <p:tgtEl>
                                          <p:spTgt spid="61"/>
                                        </p:tgtEl>
                                        <p:attrNameLst>
                                          <p:attrName>ppt_x</p:attrName>
                                        </p:attrNameLst>
                                      </p:cBhvr>
                                      <p:tavLst>
                                        <p:tav tm="0">
                                          <p:val>
                                            <p:strVal val="#ppt_x"/>
                                          </p:val>
                                        </p:tav>
                                        <p:tav tm="100000">
                                          <p:val>
                                            <p:strVal val="#ppt_x"/>
                                          </p:val>
                                        </p:tav>
                                      </p:tavLst>
                                    </p:anim>
                                    <p:anim calcmode="lin" valueType="num">
                                      <p:cBhvr>
                                        <p:cTn id="34" dur="500" fill="hold"/>
                                        <p:tgtEl>
                                          <p:spTgt spid="61"/>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47" presetClass="entr" presetSubtype="0" fill="hold" grpId="0" nodeType="afterEffect">
                                  <p:stCondLst>
                                    <p:cond delay="0"/>
                                  </p:stCondLst>
                                  <p:childTnLst>
                                    <p:set>
                                      <p:cBhvr>
                                        <p:cTn id="37" dur="1" fill="hold">
                                          <p:stCondLst>
                                            <p:cond delay="0"/>
                                          </p:stCondLst>
                                        </p:cTn>
                                        <p:tgtEl>
                                          <p:spTgt spid="60"/>
                                        </p:tgtEl>
                                        <p:attrNameLst>
                                          <p:attrName>style.visibility</p:attrName>
                                        </p:attrNameLst>
                                      </p:cBhvr>
                                      <p:to>
                                        <p:strVal val="visible"/>
                                      </p:to>
                                    </p:set>
                                    <p:animEffect transition="in" filter="fade">
                                      <p:cBhvr>
                                        <p:cTn id="38" dur="500"/>
                                        <p:tgtEl>
                                          <p:spTgt spid="60"/>
                                        </p:tgtEl>
                                      </p:cBhvr>
                                    </p:animEffect>
                                    <p:anim calcmode="lin" valueType="num">
                                      <p:cBhvr>
                                        <p:cTn id="39" dur="500" fill="hold"/>
                                        <p:tgtEl>
                                          <p:spTgt spid="60"/>
                                        </p:tgtEl>
                                        <p:attrNameLst>
                                          <p:attrName>ppt_x</p:attrName>
                                        </p:attrNameLst>
                                      </p:cBhvr>
                                      <p:tavLst>
                                        <p:tav tm="0">
                                          <p:val>
                                            <p:strVal val="#ppt_x"/>
                                          </p:val>
                                        </p:tav>
                                        <p:tav tm="100000">
                                          <p:val>
                                            <p:strVal val="#ppt_x"/>
                                          </p:val>
                                        </p:tav>
                                      </p:tavLst>
                                    </p:anim>
                                    <p:anim calcmode="lin" valueType="num">
                                      <p:cBhvr>
                                        <p:cTn id="40" dur="500" fill="hold"/>
                                        <p:tgtEl>
                                          <p:spTgt spid="60"/>
                                        </p:tgtEl>
                                        <p:attrNameLst>
                                          <p:attrName>ppt_y</p:attrName>
                                        </p:attrNameLst>
                                      </p:cBhvr>
                                      <p:tavLst>
                                        <p:tav tm="0">
                                          <p:val>
                                            <p:strVal val="#ppt_y-.1"/>
                                          </p:val>
                                        </p:tav>
                                        <p:tav tm="100000">
                                          <p:val>
                                            <p:strVal val="#ppt_y"/>
                                          </p:val>
                                        </p:tav>
                                      </p:tavLst>
                                    </p:anim>
                                  </p:childTnLst>
                                </p:cTn>
                              </p:par>
                            </p:childTnLst>
                          </p:cTn>
                        </p:par>
                        <p:par>
                          <p:cTn id="41" fill="hold">
                            <p:stCondLst>
                              <p:cond delay="2000"/>
                            </p:stCondLst>
                            <p:childTnLst>
                              <p:par>
                                <p:cTn id="42" presetID="47" presetClass="entr" presetSubtype="0" fill="hold" grpId="0" nodeType="after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500"/>
                                        <p:tgtEl>
                                          <p:spTgt spid="59"/>
                                        </p:tgtEl>
                                      </p:cBhvr>
                                    </p:animEffect>
                                    <p:anim calcmode="lin" valueType="num">
                                      <p:cBhvr>
                                        <p:cTn id="45" dur="500" fill="hold"/>
                                        <p:tgtEl>
                                          <p:spTgt spid="59"/>
                                        </p:tgtEl>
                                        <p:attrNameLst>
                                          <p:attrName>ppt_x</p:attrName>
                                        </p:attrNameLst>
                                      </p:cBhvr>
                                      <p:tavLst>
                                        <p:tav tm="0">
                                          <p:val>
                                            <p:strVal val="#ppt_x"/>
                                          </p:val>
                                        </p:tav>
                                        <p:tav tm="100000">
                                          <p:val>
                                            <p:strVal val="#ppt_x"/>
                                          </p:val>
                                        </p:tav>
                                      </p:tavLst>
                                    </p:anim>
                                    <p:anim calcmode="lin" valueType="num">
                                      <p:cBhvr>
                                        <p:cTn id="46" dur="5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5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8"/>
                                        </p:tgtEl>
                                        <p:attrNameLst>
                                          <p:attrName>style.visibility</p:attrName>
                                        </p:attrNameLst>
                                      </p:cBhvr>
                                      <p:to>
                                        <p:strVal val="visible"/>
                                      </p:to>
                                    </p:set>
                                    <p:animEffect transition="in" filter="fade">
                                      <p:cBhvr>
                                        <p:cTn id="62" dur="500"/>
                                        <p:tgtEl>
                                          <p:spTgt spid="6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1"/>
                                        </p:tgtEl>
                                        <p:attrNameLst>
                                          <p:attrName>style.visibility</p:attrName>
                                        </p:attrNameLst>
                                      </p:cBhvr>
                                      <p:to>
                                        <p:strVal val="visible"/>
                                      </p:to>
                                    </p:set>
                                    <p:animEffect transition="in" filter="fade">
                                      <p:cBhvr>
                                        <p:cTn id="65" dur="500"/>
                                        <p:tgtEl>
                                          <p:spTgt spid="7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74"/>
                                        </p:tgtEl>
                                        <p:attrNameLst>
                                          <p:attrName>style.visibility</p:attrName>
                                        </p:attrNameLst>
                                      </p:cBhvr>
                                      <p:to>
                                        <p:strVal val="visible"/>
                                      </p:to>
                                    </p:set>
                                    <p:animEffect transition="in" filter="fade">
                                      <p:cBhvr>
                                        <p:cTn id="68" dur="500"/>
                                        <p:tgtEl>
                                          <p:spTgt spid="7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10"/>
                                        </p:tgtEl>
                                        <p:attrNameLst>
                                          <p:attrName>style.visibility</p:attrName>
                                        </p:attrNameLst>
                                      </p:cBhvr>
                                      <p:to>
                                        <p:strVal val="visible"/>
                                      </p:to>
                                    </p:set>
                                    <p:animEffect transition="in" filter="fade">
                                      <p:cBhvr>
                                        <p:cTn id="73" dur="500"/>
                                        <p:tgtEl>
                                          <p:spTgt spid="10"/>
                                        </p:tgtEl>
                                      </p:cBhvr>
                                    </p:animEffect>
                                  </p:childTnLst>
                                </p:cTn>
                              </p:par>
                            </p:childTnLst>
                          </p:cTn>
                        </p:par>
                        <p:par>
                          <p:cTn id="74" fill="hold">
                            <p:stCondLst>
                              <p:cond delay="500"/>
                            </p:stCondLst>
                            <p:childTnLst>
                              <p:par>
                                <p:cTn id="75" presetID="10" presetClass="exit" presetSubtype="0" fill="hold" grpId="1" nodeType="afterEffect">
                                  <p:stCondLst>
                                    <p:cond delay="0"/>
                                  </p:stCondLst>
                                  <p:childTnLst>
                                    <p:animEffect transition="out" filter="fade">
                                      <p:cBhvr>
                                        <p:cTn id="76" dur="500"/>
                                        <p:tgtEl>
                                          <p:spTgt spid="61"/>
                                        </p:tgtEl>
                                      </p:cBhvr>
                                    </p:animEffect>
                                    <p:set>
                                      <p:cBhvr>
                                        <p:cTn id="77" dur="1" fill="hold">
                                          <p:stCondLst>
                                            <p:cond delay="499"/>
                                          </p:stCondLst>
                                        </p:cTn>
                                        <p:tgtEl>
                                          <p:spTgt spid="61"/>
                                        </p:tgtEl>
                                        <p:attrNameLst>
                                          <p:attrName>style.visibility</p:attrName>
                                        </p:attrNameLst>
                                      </p:cBhvr>
                                      <p:to>
                                        <p:strVal val="hidden"/>
                                      </p:to>
                                    </p:set>
                                  </p:childTnLst>
                                </p:cTn>
                              </p:par>
                              <p:par>
                                <p:cTn id="78" presetID="10" presetClass="exit" presetSubtype="0" fill="hold" grpId="1" nodeType="withEffect">
                                  <p:stCondLst>
                                    <p:cond delay="0"/>
                                  </p:stCondLst>
                                  <p:childTnLst>
                                    <p:animEffect transition="out" filter="fade">
                                      <p:cBhvr>
                                        <p:cTn id="79" dur="500"/>
                                        <p:tgtEl>
                                          <p:spTgt spid="60"/>
                                        </p:tgtEl>
                                      </p:cBhvr>
                                    </p:animEffect>
                                    <p:set>
                                      <p:cBhvr>
                                        <p:cTn id="80" dur="1" fill="hold">
                                          <p:stCondLst>
                                            <p:cond delay="499"/>
                                          </p:stCondLst>
                                        </p:cTn>
                                        <p:tgtEl>
                                          <p:spTgt spid="60"/>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500"/>
                                        <p:tgtEl>
                                          <p:spTgt spid="59"/>
                                        </p:tgtEl>
                                      </p:cBhvr>
                                    </p:animEffect>
                                    <p:set>
                                      <p:cBhvr>
                                        <p:cTn id="83" dur="1" fill="hold">
                                          <p:stCondLst>
                                            <p:cond delay="499"/>
                                          </p:stCondLst>
                                        </p:cTn>
                                        <p:tgtEl>
                                          <p:spTgt spid="59"/>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0" presetClass="exit" presetSubtype="0" fill="hold" grpId="1" nodeType="clickEffect">
                                  <p:stCondLst>
                                    <p:cond delay="0"/>
                                  </p:stCondLst>
                                  <p:childTnLst>
                                    <p:animEffect transition="out" filter="fade">
                                      <p:cBhvr>
                                        <p:cTn id="87" dur="500"/>
                                        <p:tgtEl>
                                          <p:spTgt spid="74"/>
                                        </p:tgtEl>
                                      </p:cBhvr>
                                    </p:animEffect>
                                    <p:set>
                                      <p:cBhvr>
                                        <p:cTn id="88" dur="1" fill="hold">
                                          <p:stCondLst>
                                            <p:cond delay="499"/>
                                          </p:stCondLst>
                                        </p:cTn>
                                        <p:tgtEl>
                                          <p:spTgt spid="74"/>
                                        </p:tgtEl>
                                        <p:attrNameLst>
                                          <p:attrName>style.visibility</p:attrName>
                                        </p:attrNameLst>
                                      </p:cBhvr>
                                      <p:to>
                                        <p:strVal val="hidden"/>
                                      </p:to>
                                    </p:set>
                                  </p:childTnLst>
                                </p:cTn>
                              </p:par>
                              <p:par>
                                <p:cTn id="89" presetID="10" presetClass="entr" presetSubtype="0" fill="hold" grpId="0" nodeType="withEffect">
                                  <p:stCondLst>
                                    <p:cond delay="0"/>
                                  </p:stCondLst>
                                  <p:childTnLst>
                                    <p:set>
                                      <p:cBhvr>
                                        <p:cTn id="90" dur="1" fill="hold">
                                          <p:stCondLst>
                                            <p:cond delay="0"/>
                                          </p:stCondLst>
                                        </p:cTn>
                                        <p:tgtEl>
                                          <p:spTgt spid="67"/>
                                        </p:tgtEl>
                                        <p:attrNameLst>
                                          <p:attrName>style.visibility</p:attrName>
                                        </p:attrNameLst>
                                      </p:cBhvr>
                                      <p:to>
                                        <p:strVal val="visible"/>
                                      </p:to>
                                    </p:set>
                                    <p:animEffect transition="in" filter="fade">
                                      <p:cBhvr>
                                        <p:cTn id="91" dur="500"/>
                                        <p:tgtEl>
                                          <p:spTgt spid="67"/>
                                        </p:tgtEl>
                                      </p:cBhvr>
                                    </p:animEffect>
                                  </p:childTnLst>
                                </p:cTn>
                              </p:par>
                              <p:par>
                                <p:cTn id="92" presetID="64" presetClass="path" presetSubtype="0" accel="50000" decel="50000" fill="hold" nodeType="withEffect">
                                  <p:stCondLst>
                                    <p:cond delay="0"/>
                                  </p:stCondLst>
                                  <p:childTnLst>
                                    <p:animMotion origin="layout" path="M 3.33333E-6 -4.54209E-6 L 3.33333E-6 -0.24976 " pathEditMode="relative" rAng="0" ptsTypes="AA">
                                      <p:cBhvr>
                                        <p:cTn id="93" dur="500" fill="hold"/>
                                        <p:tgtEl>
                                          <p:spTgt spid="10"/>
                                        </p:tgtEl>
                                        <p:attrNameLst>
                                          <p:attrName>ppt_x</p:attrName>
                                          <p:attrName>ppt_y</p:attrName>
                                        </p:attrNameLst>
                                      </p:cBhvr>
                                      <p:rCtr x="0" y="-125"/>
                                    </p:animMotion>
                                  </p:childTnLst>
                                </p:cTn>
                              </p:par>
                            </p:childTnLst>
                          </p:cTn>
                        </p:par>
                        <p:par>
                          <p:cTn id="94" fill="hold">
                            <p:stCondLst>
                              <p:cond delay="500"/>
                            </p:stCondLst>
                            <p:childTnLst>
                              <p:par>
                                <p:cTn id="95" presetID="63" presetClass="path" presetSubtype="0" accel="50000" decel="50000" fill="hold" nodeType="afterEffect">
                                  <p:stCondLst>
                                    <p:cond delay="0"/>
                                  </p:stCondLst>
                                  <p:childTnLst>
                                    <p:animMotion origin="layout" path="M 3.33333E-6 -0.24976 L 0.28333 -0.24976 " pathEditMode="relative" rAng="0" ptsTypes="AA">
                                      <p:cBhvr>
                                        <p:cTn id="96" dur="500" fill="hold"/>
                                        <p:tgtEl>
                                          <p:spTgt spid="10"/>
                                        </p:tgtEl>
                                        <p:attrNameLst>
                                          <p:attrName>ppt_x</p:attrName>
                                          <p:attrName>ppt_y</p:attrName>
                                        </p:attrNameLst>
                                      </p:cBhvr>
                                      <p:rCtr x="142" y="0"/>
                                    </p:animMotion>
                                  </p:childTnLst>
                                </p:cTn>
                              </p:par>
                            </p:childTnLst>
                          </p:cTn>
                        </p:par>
                        <p:par>
                          <p:cTn id="97" fill="hold">
                            <p:stCondLst>
                              <p:cond delay="1000"/>
                            </p:stCondLst>
                            <p:childTnLst>
                              <p:par>
                                <p:cTn id="98" presetID="42" presetClass="path" presetSubtype="0" accel="50000" decel="50000" fill="hold" nodeType="afterEffect">
                                  <p:stCondLst>
                                    <p:cond delay="0"/>
                                  </p:stCondLst>
                                  <p:childTnLst>
                                    <p:animMotion origin="layout" path="M 0.28333 -0.24995 L 0.28333 0.05554 " pathEditMode="relative" rAng="0" ptsTypes="AA">
                                      <p:cBhvr>
                                        <p:cTn id="99" dur="500" fill="hold"/>
                                        <p:tgtEl>
                                          <p:spTgt spid="10"/>
                                        </p:tgtEl>
                                        <p:attrNameLst>
                                          <p:attrName>ppt_x</p:attrName>
                                          <p:attrName>ppt_y</p:attrName>
                                        </p:attrNameLst>
                                      </p:cBhvr>
                                      <p:rCtr x="0" y="153"/>
                                    </p:animMotion>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72"/>
                                        </p:tgtEl>
                                        <p:attrNameLst>
                                          <p:attrName>style.visibility</p:attrName>
                                        </p:attrNameLst>
                                      </p:cBhvr>
                                      <p:to>
                                        <p:strVal val="visible"/>
                                      </p:to>
                                    </p:set>
                                    <p:animEffect transition="in" filter="fade">
                                      <p:cBhvr>
                                        <p:cTn id="104" dur="500"/>
                                        <p:tgtEl>
                                          <p:spTgt spid="7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70"/>
                                        </p:tgtEl>
                                        <p:attrNameLst>
                                          <p:attrName>style.visibility</p:attrName>
                                        </p:attrNameLst>
                                      </p:cBhvr>
                                      <p:to>
                                        <p:strVal val="visible"/>
                                      </p:to>
                                    </p:set>
                                    <p:animEffect transition="in" filter="fade">
                                      <p:cBhvr>
                                        <p:cTn id="107" dur="500"/>
                                        <p:tgtEl>
                                          <p:spTgt spid="70"/>
                                        </p:tgtEl>
                                      </p:cBhvr>
                                    </p:animEffect>
                                  </p:childTnLst>
                                </p:cTn>
                              </p:par>
                              <p:par>
                                <p:cTn id="108" presetID="64" presetClass="path" presetSubtype="0" accel="50000" decel="50000" fill="hold" grpId="1" nodeType="withEffect">
                                  <p:stCondLst>
                                    <p:cond delay="0"/>
                                  </p:stCondLst>
                                  <p:childTnLst>
                                    <p:animMotion origin="layout" path="M 3.33333E-6 0.0111 L 3.33333E-6 -0.36069 " pathEditMode="relative" rAng="0" ptsTypes="AA">
                                      <p:cBhvr>
                                        <p:cTn id="109" dur="500" fill="hold"/>
                                        <p:tgtEl>
                                          <p:spTgt spid="7"/>
                                        </p:tgtEl>
                                        <p:attrNameLst>
                                          <p:attrName>ppt_x</p:attrName>
                                          <p:attrName>ppt_y</p:attrName>
                                        </p:attrNameLst>
                                      </p:cBhvr>
                                      <p:rCtr x="0" y="-186"/>
                                    </p:animMotion>
                                  </p:childTnLst>
                                </p:cTn>
                              </p:par>
                            </p:childTnLst>
                          </p:cTn>
                        </p:par>
                        <p:par>
                          <p:cTn id="110" fill="hold">
                            <p:stCondLst>
                              <p:cond delay="500"/>
                            </p:stCondLst>
                            <p:childTnLst>
                              <p:par>
                                <p:cTn id="111" presetID="63" presetClass="path" presetSubtype="0" accel="50000" decel="50000" fill="hold" grpId="2" nodeType="afterEffect">
                                  <p:stCondLst>
                                    <p:cond delay="0"/>
                                  </p:stCondLst>
                                  <p:childTnLst>
                                    <p:animMotion origin="layout" path="M 3.33333E-6 -0.36069 L 0.55833 -0.36069 " pathEditMode="relative" rAng="0" ptsTypes="AA">
                                      <p:cBhvr>
                                        <p:cTn id="112" dur="500" fill="hold"/>
                                        <p:tgtEl>
                                          <p:spTgt spid="7"/>
                                        </p:tgtEl>
                                        <p:attrNameLst>
                                          <p:attrName>ppt_x</p:attrName>
                                          <p:attrName>ppt_y</p:attrName>
                                        </p:attrNameLst>
                                      </p:cBhvr>
                                      <p:rCtr x="279" y="0"/>
                                    </p:animMotion>
                                  </p:childTnLst>
                                </p:cTn>
                              </p:par>
                            </p:childTnLst>
                          </p:cTn>
                        </p:par>
                        <p:par>
                          <p:cTn id="113" fill="hold">
                            <p:stCondLst>
                              <p:cond delay="1000"/>
                            </p:stCondLst>
                            <p:childTnLst>
                              <p:par>
                                <p:cTn id="114" presetID="42" presetClass="path" presetSubtype="0" accel="50000" decel="50000" fill="hold" grpId="3" nodeType="afterEffect">
                                  <p:stCondLst>
                                    <p:cond delay="0"/>
                                  </p:stCondLst>
                                  <p:childTnLst>
                                    <p:animMotion origin="layout" path="M 0.55833 -0.36102 L 0.55833 0.00024 " pathEditMode="relative" rAng="0" ptsTypes="AA">
                                      <p:cBhvr>
                                        <p:cTn id="115" dur="500" fill="hold"/>
                                        <p:tgtEl>
                                          <p:spTgt spid="7"/>
                                        </p:tgtEl>
                                        <p:attrNameLst>
                                          <p:attrName>ppt_x</p:attrName>
                                          <p:attrName>ppt_y</p:attrName>
                                        </p:attrNameLst>
                                      </p:cBhvr>
                                      <p:rCtr x="0" y="181"/>
                                    </p:animMotion>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73"/>
                                        </p:tgtEl>
                                        <p:attrNameLst>
                                          <p:attrName>style.visibility</p:attrName>
                                        </p:attrNameLst>
                                      </p:cBhvr>
                                      <p:to>
                                        <p:strVal val="visible"/>
                                      </p:to>
                                    </p:set>
                                    <p:animEffect transition="in" filter="fade">
                                      <p:cBhvr>
                                        <p:cTn id="120" dur="500"/>
                                        <p:tgtEl>
                                          <p:spTgt spid="7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69"/>
                                        </p:tgtEl>
                                        <p:attrNameLst>
                                          <p:attrName>style.visibility</p:attrName>
                                        </p:attrNameLst>
                                      </p:cBhvr>
                                      <p:to>
                                        <p:strVal val="visible"/>
                                      </p:to>
                                    </p:set>
                                    <p:animEffect transition="in" filter="fade">
                                      <p:cBhvr>
                                        <p:cTn id="123" dur="500"/>
                                        <p:tgtEl>
                                          <p:spTgt spid="69"/>
                                        </p:tgtEl>
                                      </p:cBhvr>
                                    </p:animEffect>
                                  </p:childTnLst>
                                </p:cTn>
                              </p:par>
                              <p:par>
                                <p:cTn id="124" presetID="64" presetClass="path" presetSubtype="0" accel="50000" decel="50000" fill="hold" nodeType="withEffect">
                                  <p:stCondLst>
                                    <p:cond delay="0"/>
                                  </p:stCondLst>
                                  <p:childTnLst>
                                    <p:animMotion origin="layout" path="M 0.28333 0.05549 L 0.28333 -0.24971 " pathEditMode="relative" rAng="0" ptsTypes="AA">
                                      <p:cBhvr>
                                        <p:cTn id="125" dur="500" fill="hold"/>
                                        <p:tgtEl>
                                          <p:spTgt spid="10"/>
                                        </p:tgtEl>
                                        <p:attrNameLst>
                                          <p:attrName>ppt_x</p:attrName>
                                          <p:attrName>ppt_y</p:attrName>
                                        </p:attrNameLst>
                                      </p:cBhvr>
                                      <p:rCtr x="0" y="-153"/>
                                    </p:animMotion>
                                  </p:childTnLst>
                                </p:cTn>
                              </p:par>
                            </p:childTnLst>
                          </p:cTn>
                        </p:par>
                        <p:par>
                          <p:cTn id="126" fill="hold">
                            <p:stCondLst>
                              <p:cond delay="500"/>
                            </p:stCondLst>
                            <p:childTnLst>
                              <p:par>
                                <p:cTn id="127" presetID="63" presetClass="path" presetSubtype="0" accel="50000" decel="50000" fill="hold" nodeType="afterEffect">
                                  <p:stCondLst>
                                    <p:cond delay="0"/>
                                  </p:stCondLst>
                                  <p:childTnLst>
                                    <p:animMotion origin="layout" path="M 0.28333 -0.24971 L 0.55833 -0.24971 " pathEditMode="relative" rAng="0" ptsTypes="AA">
                                      <p:cBhvr>
                                        <p:cTn id="128" dur="500" fill="hold"/>
                                        <p:tgtEl>
                                          <p:spTgt spid="10"/>
                                        </p:tgtEl>
                                        <p:attrNameLst>
                                          <p:attrName>ppt_x</p:attrName>
                                          <p:attrName>ppt_y</p:attrName>
                                        </p:attrNameLst>
                                      </p:cBhvr>
                                      <p:rCtr x="138" y="0"/>
                                    </p:animMotion>
                                  </p:childTnLst>
                                </p:cTn>
                              </p:par>
                            </p:childTnLst>
                          </p:cTn>
                        </p:par>
                        <p:par>
                          <p:cTn id="129" fill="hold">
                            <p:stCondLst>
                              <p:cond delay="1000"/>
                            </p:stCondLst>
                            <p:childTnLst>
                              <p:par>
                                <p:cTn id="130" presetID="42" presetClass="path" presetSubtype="0" accel="50000" decel="50000" fill="hold" nodeType="afterEffect">
                                  <p:stCondLst>
                                    <p:cond delay="0"/>
                                  </p:stCondLst>
                                  <p:childTnLst>
                                    <p:animMotion origin="layout" path="M 0.55833 -0.24988 L 0.55885 0.00069 " pathEditMode="relative" rAng="0" ptsTypes="AA">
                                      <p:cBhvr>
                                        <p:cTn id="131" dur="500" fill="hold"/>
                                        <p:tgtEl>
                                          <p:spTgt spid="10"/>
                                        </p:tgtEl>
                                        <p:attrNameLst>
                                          <p:attrName>ppt_x</p:attrName>
                                          <p:attrName>ppt_y</p:attrName>
                                        </p:attrNameLst>
                                      </p:cBhvr>
                                      <p:rCtr x="0" y="12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59" grpId="0" animBg="1"/>
      <p:bldP spid="59" grpId="1" animBg="1"/>
      <p:bldP spid="60" grpId="0" animBg="1"/>
      <p:bldP spid="60" grpId="1" animBg="1"/>
      <p:bldP spid="61" grpId="0" animBg="1"/>
      <p:bldP spid="61" grpId="1" animBg="1"/>
      <p:bldP spid="7" grpId="0" animBg="1"/>
      <p:bldP spid="7" grpId="1" animBg="1"/>
      <p:bldP spid="7" grpId="2" animBg="1"/>
      <p:bldP spid="7" grpId="3" animBg="1"/>
      <p:bldP spid="67" grpId="0" animBg="1"/>
      <p:bldP spid="68" grpId="0" animBg="1"/>
      <p:bldP spid="69" grpId="0" animBg="1"/>
      <p:bldP spid="70" grpId="0" animBg="1"/>
      <p:bldP spid="71" grpId="0" animBg="1"/>
      <p:bldP spid="72" grpId="0" animBg="1"/>
      <p:bldP spid="73" grpId="0" animBg="1"/>
      <p:bldP spid="74" grpId="0" animBg="1"/>
      <p:bldP spid="74" grpId="1" animBg="1"/>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toán tháp Hà Nội (tt)</a:t>
            </a:r>
            <a:endParaRPr lang="vi-VN"/>
          </a:p>
        </p:txBody>
      </p:sp>
      <p:sp>
        <p:nvSpPr>
          <p:cNvPr id="6" name="Content Placeholder 5"/>
          <p:cNvSpPr>
            <a:spLocks noGrp="1"/>
          </p:cNvSpPr>
          <p:nvPr>
            <p:ph idx="1"/>
          </p:nvPr>
        </p:nvSpPr>
        <p:spPr/>
        <p:txBody>
          <a:bodyPr/>
          <a:lstStyle/>
          <a:p>
            <a:r>
              <a:rPr lang="en-US"/>
              <a:t>Xây dựng hàm </a:t>
            </a:r>
            <a:r>
              <a:rPr lang="en-US" b="1">
                <a:solidFill>
                  <a:srgbClr val="FF0000"/>
                </a:solidFill>
                <a:latin typeface="Courier New" pitchFamily="49" charset="0"/>
                <a:cs typeface="Courier New" pitchFamily="49" charset="0"/>
              </a:rPr>
              <a:t>CHUYEN</a:t>
            </a:r>
            <a:r>
              <a:rPr lang="en-US">
                <a:solidFill>
                  <a:srgbClr val="FF0000"/>
                </a:solidFill>
              </a:rPr>
              <a:t> </a:t>
            </a:r>
            <a:r>
              <a:rPr lang="en-US" b="1">
                <a:solidFill>
                  <a:srgbClr val="0000FF"/>
                </a:solidFill>
                <a:latin typeface="Courier New" pitchFamily="49" charset="0"/>
                <a:cs typeface="Courier New" pitchFamily="49" charset="0"/>
              </a:rPr>
              <a:t>N_Đĩa</a:t>
            </a:r>
            <a:r>
              <a:rPr lang="en-US"/>
              <a:t> </a:t>
            </a:r>
            <a:r>
              <a:rPr lang="fr-FR" b="1">
                <a:solidFill>
                  <a:schemeClr val="accent6">
                    <a:lumMod val="75000"/>
                  </a:schemeClr>
                </a:solidFill>
                <a:latin typeface="Courier New" pitchFamily="49" charset="0"/>
                <a:cs typeface="Courier New" pitchFamily="49" charset="0"/>
              </a:rPr>
              <a:t>TừCọc</a:t>
            </a:r>
            <a:r>
              <a:rPr lang="fr-FR"/>
              <a:t> này </a:t>
            </a:r>
            <a:r>
              <a:rPr lang="fr-FR" b="1">
                <a:solidFill>
                  <a:srgbClr val="7030A0"/>
                </a:solidFill>
                <a:latin typeface="Courier New" pitchFamily="49" charset="0"/>
                <a:cs typeface="Courier New" pitchFamily="49" charset="0"/>
              </a:rPr>
              <a:t>TớiCọc</a:t>
            </a:r>
            <a:r>
              <a:rPr lang="fr-FR"/>
              <a:t> khác thông qua </a:t>
            </a:r>
            <a:r>
              <a:rPr lang="fr-FR" b="1">
                <a:solidFill>
                  <a:srgbClr val="FFC000"/>
                </a:solidFill>
                <a:latin typeface="Courier New" pitchFamily="49" charset="0"/>
                <a:cs typeface="Courier New" pitchFamily="49" charset="0"/>
              </a:rPr>
              <a:t>CọcTrungGian</a:t>
            </a:r>
            <a:r>
              <a:rPr lang="fr-FR"/>
              <a:t>: </a:t>
            </a:r>
          </a:p>
          <a:p>
            <a:endParaRPr lang="fr-FR"/>
          </a:p>
          <a:p>
            <a:pPr marL="0" indent="0" algn="l">
              <a:buNone/>
            </a:pPr>
            <a:r>
              <a:rPr lang="fr-FR" sz="2400" b="1">
                <a:solidFill>
                  <a:srgbClr val="FF0000"/>
                </a:solidFill>
                <a:latin typeface="Courier New" pitchFamily="49" charset="0"/>
                <a:cs typeface="Courier New" pitchFamily="49" charset="0"/>
              </a:rPr>
              <a:t>CHUYEN</a:t>
            </a:r>
            <a:r>
              <a:rPr lang="fr-FR" sz="2400" b="1">
                <a:latin typeface="Courier New" pitchFamily="49" charset="0"/>
                <a:cs typeface="Courier New" pitchFamily="49" charset="0"/>
              </a:rPr>
              <a:t>(</a:t>
            </a:r>
            <a:r>
              <a:rPr lang="fr-FR" sz="2400" b="1">
                <a:solidFill>
                  <a:srgbClr val="0000FF"/>
                </a:solidFill>
                <a:latin typeface="Courier New" pitchFamily="49" charset="0"/>
                <a:cs typeface="Courier New" pitchFamily="49" charset="0"/>
              </a:rPr>
              <a:t>N_Đĩa</a:t>
            </a:r>
            <a:r>
              <a:rPr lang="fr-FR" sz="2400" b="1">
                <a:latin typeface="Courier New" pitchFamily="49" charset="0"/>
                <a:cs typeface="Courier New" pitchFamily="49" charset="0"/>
              </a:rPr>
              <a:t>,</a:t>
            </a:r>
            <a:r>
              <a:rPr lang="fr-FR" sz="2400" b="1">
                <a:solidFill>
                  <a:schemeClr val="accent6">
                    <a:lumMod val="75000"/>
                  </a:schemeClr>
                </a:solidFill>
                <a:latin typeface="Courier New" pitchFamily="49" charset="0"/>
                <a:cs typeface="Courier New" pitchFamily="49" charset="0"/>
              </a:rPr>
              <a:t>TừCọc</a:t>
            </a:r>
            <a:r>
              <a:rPr lang="fr-FR" sz="2400" b="1">
                <a:latin typeface="Courier New" pitchFamily="49" charset="0"/>
                <a:cs typeface="Courier New" pitchFamily="49" charset="0"/>
              </a:rPr>
              <a:t>,</a:t>
            </a:r>
            <a:r>
              <a:rPr lang="fr-FR" sz="2400" b="1">
                <a:solidFill>
                  <a:srgbClr val="7030A0"/>
                </a:solidFill>
                <a:latin typeface="Courier New" pitchFamily="49" charset="0"/>
                <a:cs typeface="Courier New" pitchFamily="49" charset="0"/>
              </a:rPr>
              <a:t>TớiCọc</a:t>
            </a:r>
            <a:r>
              <a:rPr lang="fr-FR" sz="2400" b="1">
                <a:latin typeface="Courier New" pitchFamily="49" charset="0"/>
                <a:cs typeface="Courier New" pitchFamily="49" charset="0"/>
              </a:rPr>
              <a:t>,</a:t>
            </a:r>
            <a:r>
              <a:rPr lang="fr-FR" sz="2400" b="1">
                <a:solidFill>
                  <a:srgbClr val="FFC000"/>
                </a:solidFill>
                <a:latin typeface="Courier New" pitchFamily="49" charset="0"/>
                <a:cs typeface="Courier New" pitchFamily="49" charset="0"/>
              </a:rPr>
              <a:t>CọcTrungGian</a:t>
            </a:r>
            <a:r>
              <a:rPr lang="fr-FR" sz="2400">
                <a:latin typeface="Courier New" pitchFamily="49" charset="0"/>
                <a:cs typeface="Courier New" pitchFamily="49" charset="0"/>
              </a:rPr>
              <a:t>)</a:t>
            </a:r>
          </a:p>
          <a:p>
            <a:pPr marL="0" indent="0" algn="l">
              <a:buNone/>
            </a:pPr>
            <a:endParaRPr lang="fr-FR" sz="2600">
              <a:latin typeface="Courier New" pitchFamily="49" charset="0"/>
              <a:cs typeface="Courier New" pitchFamily="49" charset="0"/>
            </a:endParaRPr>
          </a:p>
          <a:p>
            <a:pPr algn="l"/>
            <a:r>
              <a:rPr lang="fr-FR"/>
              <a:t>Với N, ta có các thao tác sau:</a:t>
            </a:r>
          </a:p>
          <a:p>
            <a:pPr marL="0" indent="715963">
              <a:buNone/>
            </a:pPr>
            <a:r>
              <a:rPr lang="fr-FR" sz="2400">
                <a:latin typeface="Courier New" pitchFamily="49" charset="0"/>
                <a:cs typeface="Courier New" pitchFamily="49" charset="0"/>
              </a:rPr>
              <a:t>CHUYEN(N-1,A,C,B);</a:t>
            </a:r>
            <a:endParaRPr lang="vi-VN" sz="2400">
              <a:latin typeface="Courier New" pitchFamily="49" charset="0"/>
              <a:cs typeface="Courier New" pitchFamily="49" charset="0"/>
            </a:endParaRPr>
          </a:p>
          <a:p>
            <a:pPr marL="0" indent="715963">
              <a:buNone/>
            </a:pPr>
            <a:r>
              <a:rPr lang="fr-FR" sz="2400">
                <a:latin typeface="Courier New" pitchFamily="49" charset="0"/>
                <a:cs typeface="Courier New" pitchFamily="49" charset="0"/>
              </a:rPr>
              <a:t>CHUYEN(1,A,B,C);</a:t>
            </a:r>
            <a:endParaRPr lang="vi-VN" sz="2400">
              <a:latin typeface="Courier New" pitchFamily="49" charset="0"/>
              <a:cs typeface="Courier New" pitchFamily="49" charset="0"/>
            </a:endParaRPr>
          </a:p>
          <a:p>
            <a:pPr marL="0" indent="715963">
              <a:buNone/>
            </a:pPr>
            <a:r>
              <a:rPr lang="fr-FR" sz="2400">
                <a:latin typeface="Courier New" pitchFamily="49" charset="0"/>
                <a:cs typeface="Courier New" pitchFamily="49" charset="0"/>
              </a:rPr>
              <a:t>CHUYEN(N-1,C,B,A);</a:t>
            </a:r>
            <a:endParaRPr lang="vi-VN" sz="2400">
              <a:latin typeface="Courier New" pitchFamily="49" charset="0"/>
              <a:cs typeface="Courier New" pitchFamily="49" charset="0"/>
            </a:endParaRPr>
          </a:p>
          <a:p>
            <a:pPr marL="0" indent="0" algn="l">
              <a:buNone/>
            </a:pPr>
            <a:endParaRPr lang="vi-VN"/>
          </a:p>
        </p:txBody>
      </p:sp>
      <p:sp>
        <p:nvSpPr>
          <p:cNvPr id="3" name="Date Placeholder 2"/>
          <p:cNvSpPr>
            <a:spLocks noGrp="1"/>
          </p:cNvSpPr>
          <p:nvPr>
            <p:ph type="dt" sz="half" idx="10"/>
          </p:nvPr>
        </p:nvSpPr>
        <p:spPr/>
        <p:txBody>
          <a:bodyPr/>
          <a:lstStyle/>
          <a:p>
            <a:fld id="{CFF7F558-3969-4828-BAEF-BDF4D012A401}" type="datetime1">
              <a:rPr lang="vi-VN" smtClean="0"/>
              <a:t>09/05/2023</a:t>
            </a:fld>
            <a:endParaRPr lang="vi-VN"/>
          </a:p>
        </p:txBody>
      </p:sp>
      <p:sp>
        <p:nvSpPr>
          <p:cNvPr id="4" name="Footer Placeholder 3"/>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33</a:t>
            </a:fld>
            <a:r>
              <a:rPr lang="vi-VN"/>
              <a:t>/43</a:t>
            </a:r>
          </a:p>
        </p:txBody>
      </p:sp>
    </p:spTree>
    <p:extLst>
      <p:ext uri="{BB962C8B-B14F-4D97-AF65-F5344CB8AC3E}">
        <p14:creationId xmlns:p14="http://schemas.microsoft.com/office/powerpoint/2010/main" val="708869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toán tháp Hà Nội (tt)</a:t>
            </a:r>
            <a:endParaRPr lang="vi-VN"/>
          </a:p>
        </p:txBody>
      </p:sp>
      <p:sp>
        <p:nvSpPr>
          <p:cNvPr id="4" name="Date Placeholder 3"/>
          <p:cNvSpPr>
            <a:spLocks noGrp="1"/>
          </p:cNvSpPr>
          <p:nvPr>
            <p:ph type="dt" sz="half" idx="10"/>
          </p:nvPr>
        </p:nvSpPr>
        <p:spPr/>
        <p:txBody>
          <a:bodyPr/>
          <a:lstStyle/>
          <a:p>
            <a:fld id="{C91CFE3C-672A-4C38-AE85-01E517743760}"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7" name="Rectangle 6"/>
          <p:cNvSpPr/>
          <p:nvPr/>
        </p:nvSpPr>
        <p:spPr>
          <a:xfrm>
            <a:off x="611560" y="1124744"/>
            <a:ext cx="7992888" cy="5324535"/>
          </a:xfrm>
          <a:prstGeom prst="rect">
            <a:avLst/>
          </a:prstGeom>
        </p:spPr>
        <p:txBody>
          <a:bodyPr wrap="square">
            <a:spAutoFit/>
          </a:bodyPr>
          <a:lstStyle/>
          <a:p>
            <a:r>
              <a:rPr lang="en-US" sz="2000">
                <a:latin typeface="Courier New" pitchFamily="49" charset="0"/>
                <a:cs typeface="Courier New" pitchFamily="49" charset="0"/>
              </a:rPr>
              <a:t>#include &lt;stdio.h&gt;</a:t>
            </a:r>
          </a:p>
          <a:p>
            <a:r>
              <a:rPr lang="en-US" sz="2000">
                <a:solidFill>
                  <a:srgbClr val="FF0000"/>
                </a:solidFill>
                <a:latin typeface="Courier New" pitchFamily="49" charset="0"/>
                <a:cs typeface="Courier New" pitchFamily="49" charset="0"/>
              </a:rPr>
              <a:t>void CHUYEN(int N, char A, char B, char C);</a:t>
            </a:r>
          </a:p>
          <a:p>
            <a:r>
              <a:rPr lang="en-US" sz="2000">
                <a:latin typeface="Courier New" pitchFamily="49" charset="0"/>
                <a:cs typeface="Courier New" pitchFamily="49" charset="0"/>
              </a:rPr>
              <a:t>main()</a:t>
            </a:r>
          </a:p>
          <a:p>
            <a:r>
              <a:rPr lang="en-US" sz="2000">
                <a:latin typeface="Courier New" pitchFamily="49" charset="0"/>
                <a:cs typeface="Courier New" pitchFamily="49" charset="0"/>
              </a:rPr>
              <a:t>{</a:t>
            </a:r>
          </a:p>
          <a:p>
            <a:r>
              <a:rPr lang="en-US" sz="2000">
                <a:latin typeface="Courier New" pitchFamily="49" charset="0"/>
                <a:cs typeface="Courier New" pitchFamily="49" charset="0"/>
              </a:rPr>
              <a:t>	</a:t>
            </a:r>
            <a:r>
              <a:rPr lang="en-US" sz="2000" b="1">
                <a:latin typeface="Courier New" pitchFamily="49" charset="0"/>
                <a:cs typeface="Courier New" pitchFamily="49" charset="0"/>
              </a:rPr>
              <a:t>int</a:t>
            </a:r>
            <a:r>
              <a:rPr lang="en-US" sz="2000">
                <a:latin typeface="Courier New" pitchFamily="49" charset="0"/>
                <a:cs typeface="Courier New" pitchFamily="49" charset="0"/>
              </a:rPr>
              <a:t> N;</a:t>
            </a:r>
          </a:p>
          <a:p>
            <a:r>
              <a:rPr lang="en-US" sz="2000">
                <a:latin typeface="Courier New" pitchFamily="49" charset="0"/>
                <a:cs typeface="Courier New" pitchFamily="49" charset="0"/>
              </a:rPr>
              <a:t>	printf("Nhap so dia: "); scanf("%d",&amp;N);</a:t>
            </a:r>
          </a:p>
          <a:p>
            <a:r>
              <a:rPr lang="en-US" sz="2000">
                <a:latin typeface="Courier New" pitchFamily="49" charset="0"/>
                <a:cs typeface="Courier New" pitchFamily="49" charset="0"/>
              </a:rPr>
              <a:t>	CHUYEN(N,'A','B','C');</a:t>
            </a:r>
          </a:p>
          <a:p>
            <a:r>
              <a:rPr lang="en-US" sz="2000">
                <a:latin typeface="Courier New" pitchFamily="49" charset="0"/>
                <a:cs typeface="Courier New" pitchFamily="49" charset="0"/>
              </a:rPr>
              <a:t>}</a:t>
            </a:r>
          </a:p>
          <a:p>
            <a:r>
              <a:rPr lang="en-US" sz="2000">
                <a:solidFill>
                  <a:srgbClr val="FF0000"/>
                </a:solidFill>
                <a:latin typeface="Courier New" pitchFamily="49" charset="0"/>
                <a:cs typeface="Courier New" pitchFamily="49" charset="0"/>
              </a:rPr>
              <a:t>void CHUYEN(int N, char A, char B, char C)</a:t>
            </a:r>
          </a:p>
          <a:p>
            <a:r>
              <a:rPr lang="en-US" sz="2000">
                <a:latin typeface="Courier New" pitchFamily="49" charset="0"/>
                <a:cs typeface="Courier New" pitchFamily="49" charset="0"/>
              </a:rPr>
              <a:t>{</a:t>
            </a:r>
          </a:p>
          <a:p>
            <a:r>
              <a:rPr lang="en-US" sz="2000">
                <a:latin typeface="Courier New" pitchFamily="49" charset="0"/>
                <a:cs typeface="Courier New" pitchFamily="49" charset="0"/>
              </a:rPr>
              <a:t>	</a:t>
            </a:r>
            <a:r>
              <a:rPr lang="en-US" sz="2000" b="1">
                <a:latin typeface="Courier New" pitchFamily="49" charset="0"/>
                <a:cs typeface="Courier New" pitchFamily="49" charset="0"/>
              </a:rPr>
              <a:t>if</a:t>
            </a:r>
            <a:r>
              <a:rPr lang="en-US" sz="2000">
                <a:latin typeface="Courier New" pitchFamily="49" charset="0"/>
                <a:cs typeface="Courier New" pitchFamily="49" charset="0"/>
              </a:rPr>
              <a:t> (N==1) printf("%c -&gt; %c\n",A,B);</a:t>
            </a:r>
          </a:p>
          <a:p>
            <a:r>
              <a:rPr lang="en-US" sz="2000">
                <a:latin typeface="Courier New" pitchFamily="49" charset="0"/>
                <a:cs typeface="Courier New" pitchFamily="49" charset="0"/>
              </a:rPr>
              <a:t>	</a:t>
            </a:r>
            <a:r>
              <a:rPr lang="en-US" sz="2000" b="1">
                <a:latin typeface="Courier New" pitchFamily="49" charset="0"/>
                <a:cs typeface="Courier New" pitchFamily="49" charset="0"/>
              </a:rPr>
              <a:t>else</a:t>
            </a:r>
            <a:r>
              <a:rPr lang="en-US" sz="2000">
                <a:latin typeface="Courier New" pitchFamily="49" charset="0"/>
                <a:cs typeface="Courier New" pitchFamily="49" charset="0"/>
              </a:rPr>
              <a:t> {</a:t>
            </a:r>
          </a:p>
          <a:p>
            <a:r>
              <a:rPr lang="en-US" sz="2000">
                <a:latin typeface="Courier New" pitchFamily="49" charset="0"/>
                <a:cs typeface="Courier New" pitchFamily="49" charset="0"/>
              </a:rPr>
              <a:t>			</a:t>
            </a:r>
            <a:r>
              <a:rPr lang="en-US" sz="2000">
                <a:solidFill>
                  <a:srgbClr val="0000FF"/>
                </a:solidFill>
                <a:latin typeface="Courier New" pitchFamily="49" charset="0"/>
                <a:cs typeface="Courier New" pitchFamily="49" charset="0"/>
              </a:rPr>
              <a:t>CHUYEN(N-1,A,C,B);</a:t>
            </a:r>
          </a:p>
          <a:p>
            <a:r>
              <a:rPr lang="en-US" sz="2000">
                <a:solidFill>
                  <a:srgbClr val="0000FF"/>
                </a:solidFill>
                <a:latin typeface="Courier New" pitchFamily="49" charset="0"/>
                <a:cs typeface="Courier New" pitchFamily="49" charset="0"/>
              </a:rPr>
              <a:t>			CHUYEN(1,A,B,C);</a:t>
            </a:r>
          </a:p>
          <a:p>
            <a:r>
              <a:rPr lang="en-US" sz="2000">
                <a:solidFill>
                  <a:srgbClr val="0000FF"/>
                </a:solidFill>
                <a:latin typeface="Courier New" pitchFamily="49" charset="0"/>
                <a:cs typeface="Courier New" pitchFamily="49" charset="0"/>
              </a:rPr>
              <a:t>			CHUYEN(N-1,C,B,A);</a:t>
            </a:r>
          </a:p>
          <a:p>
            <a:r>
              <a:rPr lang="en-US" sz="2000">
                <a:latin typeface="Courier New" pitchFamily="49" charset="0"/>
                <a:cs typeface="Courier New" pitchFamily="49" charset="0"/>
              </a:rPr>
              <a:t>	     }</a:t>
            </a:r>
          </a:p>
          <a:p>
            <a:r>
              <a:rPr lang="en-US" sz="2000">
                <a:latin typeface="Courier New" pitchFamily="49" charset="0"/>
                <a:cs typeface="Courier New" pitchFamily="49" charset="0"/>
              </a:rPr>
              <a:t>}</a:t>
            </a:r>
            <a:endParaRPr lang="vi-VN" sz="2000">
              <a:latin typeface="Courier New" pitchFamily="49" charset="0"/>
              <a:cs typeface="Courier New" pitchFamily="49" charset="0"/>
            </a:endParaRPr>
          </a:p>
        </p:txBody>
      </p:sp>
      <p:sp>
        <p:nvSpPr>
          <p:cNvPr id="8" name="Rectangle 7"/>
          <p:cNvSpPr>
            <a:spLocks/>
          </p:cNvSpPr>
          <p:nvPr/>
        </p:nvSpPr>
        <p:spPr bwMode="auto">
          <a:xfrm>
            <a:off x="0" y="1412776"/>
            <a:ext cx="9128125" cy="405408"/>
          </a:xfrm>
          <a:prstGeom prst="rect">
            <a:avLst/>
          </a:prstGeom>
          <a:solidFill>
            <a:srgbClr val="0099FF">
              <a:alpha val="20000"/>
            </a:srgbClr>
          </a:solidFill>
          <a:ln w="9525" algn="ctr">
            <a:noFill/>
            <a:miter lim="800000"/>
            <a:headEnd/>
            <a:tailEnd/>
          </a:ln>
        </p:spPr>
        <p:txBody>
          <a:bodyPr/>
          <a:lstStyle/>
          <a:p>
            <a:endParaRPr lang="en-US"/>
          </a:p>
        </p:txBody>
      </p:sp>
      <p:sp>
        <p:nvSpPr>
          <p:cNvPr id="9" name="Rectangle 8"/>
          <p:cNvSpPr>
            <a:spLocks/>
          </p:cNvSpPr>
          <p:nvPr/>
        </p:nvSpPr>
        <p:spPr bwMode="auto">
          <a:xfrm>
            <a:off x="5052" y="4149080"/>
            <a:ext cx="9128125" cy="432048"/>
          </a:xfrm>
          <a:prstGeom prst="rect">
            <a:avLst/>
          </a:prstGeom>
          <a:solidFill>
            <a:srgbClr val="0099FF">
              <a:alpha val="20000"/>
            </a:srgbClr>
          </a:solidFill>
          <a:ln w="9525" algn="ctr">
            <a:noFill/>
            <a:miter lim="800000"/>
            <a:headEnd/>
            <a:tailEnd/>
          </a:ln>
        </p:spPr>
        <p:txBody>
          <a:bodyPr/>
          <a:lstStyle/>
          <a:p>
            <a:endParaRPr lang="en-US"/>
          </a:p>
        </p:txBody>
      </p:sp>
      <p:sp>
        <p:nvSpPr>
          <p:cNvPr id="10" name="Rectangle 9"/>
          <p:cNvSpPr>
            <a:spLocks/>
          </p:cNvSpPr>
          <p:nvPr/>
        </p:nvSpPr>
        <p:spPr bwMode="auto">
          <a:xfrm>
            <a:off x="0" y="4797152"/>
            <a:ext cx="9128125" cy="1008112"/>
          </a:xfrm>
          <a:prstGeom prst="rect">
            <a:avLst/>
          </a:prstGeom>
          <a:solidFill>
            <a:srgbClr val="0099FF">
              <a:alpha val="20000"/>
            </a:srgbClr>
          </a:solidFill>
          <a:ln w="9525" algn="ctr">
            <a:noFill/>
            <a:miter lim="800000"/>
            <a:headEnd/>
            <a:tailEnd/>
          </a:ln>
        </p:spPr>
        <p:txBody>
          <a:bodyPr/>
          <a:lstStyle/>
          <a:p>
            <a:endParaRPr lang="en-US"/>
          </a:p>
        </p:txBody>
      </p:sp>
      <p:sp>
        <p:nvSpPr>
          <p:cNvPr id="11" name="Rectangle 10"/>
          <p:cNvSpPr>
            <a:spLocks/>
          </p:cNvSpPr>
          <p:nvPr/>
        </p:nvSpPr>
        <p:spPr bwMode="auto">
          <a:xfrm>
            <a:off x="-1" y="2348880"/>
            <a:ext cx="9128125" cy="1008112"/>
          </a:xfrm>
          <a:prstGeom prst="rect">
            <a:avLst/>
          </a:prstGeom>
          <a:solidFill>
            <a:srgbClr val="0099FF">
              <a:alpha val="20000"/>
            </a:srgbClr>
          </a:solidFill>
          <a:ln w="9525" algn="ctr">
            <a:noFill/>
            <a:miter lim="800000"/>
            <a:headEnd/>
            <a:tailEnd/>
          </a:ln>
        </p:spPr>
        <p:txBody>
          <a:bodyPr/>
          <a:lstStyle/>
          <a:p>
            <a:endParaRPr lang="en-US"/>
          </a:p>
        </p:txBody>
      </p:sp>
      <p:sp>
        <p:nvSpPr>
          <p:cNvPr id="12" name="Rounded Rectangle 11"/>
          <p:cNvSpPr/>
          <p:nvPr/>
        </p:nvSpPr>
        <p:spPr>
          <a:xfrm>
            <a:off x="395536" y="1124745"/>
            <a:ext cx="164798" cy="5256584"/>
          </a:xfrm>
          <a:prstGeom prst="roundRect">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US"/>
          </a:p>
        </p:txBody>
      </p:sp>
      <p:sp>
        <p:nvSpPr>
          <p:cNvPr id="14" name="Slide Number Placeholder 13"/>
          <p:cNvSpPr>
            <a:spLocks noGrp="1"/>
          </p:cNvSpPr>
          <p:nvPr>
            <p:ph type="sldNum" sz="quarter" idx="12"/>
          </p:nvPr>
        </p:nvSpPr>
        <p:spPr/>
        <p:txBody>
          <a:bodyPr/>
          <a:lstStyle/>
          <a:p>
            <a:fld id="{5AB95402-1E0D-474E-8D8C-CBE7F053639E}" type="slidenum">
              <a:rPr lang="vi-VN" smtClean="0"/>
              <a:pPr/>
              <a:t>34</a:t>
            </a:fld>
            <a:r>
              <a:rPr lang="vi-VN"/>
              <a:t>/43</a:t>
            </a:r>
          </a:p>
        </p:txBody>
      </p:sp>
    </p:spTree>
    <p:extLst>
      <p:ext uri="{BB962C8B-B14F-4D97-AF65-F5344CB8AC3E}">
        <p14:creationId xmlns:p14="http://schemas.microsoft.com/office/powerpoint/2010/main" val="300059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animEffect transition="in" filter="wipe(left)">
                                      <p:cBhvr>
                                        <p:cTn id="21" dur="500"/>
                                        <p:tgtEl>
                                          <p:spTgt spid="7">
                                            <p:txEl>
                                              <p:pRg st="3" end="3"/>
                                            </p:txEl>
                                          </p:spTgt>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animEffect transition="in" filter="wipe(left)">
                                      <p:cBhvr>
                                        <p:cTn id="25" dur="500"/>
                                        <p:tgtEl>
                                          <p:spTgt spid="7">
                                            <p:txEl>
                                              <p:pRg st="7" end="7"/>
                                            </p:txEl>
                                          </p:spTgt>
                                        </p:tgtEl>
                                      </p:cBhvr>
                                    </p:animEffect>
                                  </p:childTnLst>
                                </p:cTn>
                              </p:par>
                            </p:childTnLst>
                          </p:cTn>
                        </p:par>
                        <p:par>
                          <p:cTn id="26" fill="hold">
                            <p:stCondLst>
                              <p:cond delay="1500"/>
                            </p:stCondLst>
                            <p:childTnLst>
                              <p:par>
                                <p:cTn id="27" presetID="22" presetClass="entr" presetSubtype="8" fill="hold" grpId="0" nodeType="after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wipe(left)">
                                      <p:cBhvr>
                                        <p:cTn id="29" dur="500"/>
                                        <p:tgtEl>
                                          <p:spTgt spid="7">
                                            <p:txEl>
                                              <p:pRg st="4" end="4"/>
                                            </p:txEl>
                                          </p:spTgt>
                                        </p:tgtEl>
                                      </p:cBhvr>
                                    </p:animEffect>
                                  </p:childTnLst>
                                </p:cTn>
                              </p:par>
                            </p:childTnLst>
                          </p:cTn>
                        </p:par>
                        <p:par>
                          <p:cTn id="30" fill="hold">
                            <p:stCondLst>
                              <p:cond delay="2000"/>
                            </p:stCondLst>
                            <p:childTnLst>
                              <p:par>
                                <p:cTn id="31" presetID="22" presetClass="entr" presetSubtype="8" fill="hold" grpId="0" nodeType="afterEffect">
                                  <p:stCondLst>
                                    <p:cond delay="0"/>
                                  </p:stCondLst>
                                  <p:childTnLst>
                                    <p:set>
                                      <p:cBhvr>
                                        <p:cTn id="32" dur="1" fill="hold">
                                          <p:stCondLst>
                                            <p:cond delay="0"/>
                                          </p:stCondLst>
                                        </p:cTn>
                                        <p:tgtEl>
                                          <p:spTgt spid="7">
                                            <p:txEl>
                                              <p:pRg st="5" end="5"/>
                                            </p:txEl>
                                          </p:spTgt>
                                        </p:tgtEl>
                                        <p:attrNameLst>
                                          <p:attrName>style.visibility</p:attrName>
                                        </p:attrNameLst>
                                      </p:cBhvr>
                                      <p:to>
                                        <p:strVal val="visible"/>
                                      </p:to>
                                    </p:set>
                                    <p:animEffect transition="in" filter="wipe(left)">
                                      <p:cBhvr>
                                        <p:cTn id="33" dur="500"/>
                                        <p:tgtEl>
                                          <p:spTgt spid="7">
                                            <p:txEl>
                                              <p:pRg st="5" end="5"/>
                                            </p:txEl>
                                          </p:spTgt>
                                        </p:tgtEl>
                                      </p:cBhvr>
                                    </p:animEffect>
                                  </p:childTnLst>
                                </p:cTn>
                              </p:par>
                            </p:childTnLst>
                          </p:cTn>
                        </p:par>
                        <p:par>
                          <p:cTn id="34" fill="hold">
                            <p:stCondLst>
                              <p:cond delay="2500"/>
                            </p:stCondLst>
                            <p:childTnLst>
                              <p:par>
                                <p:cTn id="35" presetID="22" presetClass="entr" presetSubtype="8" fill="hold" grpId="0" nodeType="after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wipe(left)">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
                                            <p:txEl>
                                              <p:pRg st="8" end="8"/>
                                            </p:txEl>
                                          </p:spTgt>
                                        </p:tgtEl>
                                        <p:attrNameLst>
                                          <p:attrName>style.visibility</p:attrName>
                                        </p:attrNameLst>
                                      </p:cBhvr>
                                      <p:to>
                                        <p:strVal val="visible"/>
                                      </p:to>
                                    </p:set>
                                    <p:animEffect transition="in" filter="wipe(left)">
                                      <p:cBhvr>
                                        <p:cTn id="42" dur="500"/>
                                        <p:tgtEl>
                                          <p:spTgt spid="7">
                                            <p:txEl>
                                              <p:pRg st="8" end="8"/>
                                            </p:txEl>
                                          </p:spTgt>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7">
                                            <p:txEl>
                                              <p:pRg st="9" end="9"/>
                                            </p:txEl>
                                          </p:spTgt>
                                        </p:tgtEl>
                                        <p:attrNameLst>
                                          <p:attrName>style.visibility</p:attrName>
                                        </p:attrNameLst>
                                      </p:cBhvr>
                                      <p:to>
                                        <p:strVal val="visible"/>
                                      </p:to>
                                    </p:set>
                                    <p:animEffect transition="in" filter="wipe(left)">
                                      <p:cBhvr>
                                        <p:cTn id="46" dur="500"/>
                                        <p:tgtEl>
                                          <p:spTgt spid="7">
                                            <p:txEl>
                                              <p:pRg st="9" end="9"/>
                                            </p:txEl>
                                          </p:spTgt>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7">
                                            <p:txEl>
                                              <p:pRg st="10" end="10"/>
                                            </p:txEl>
                                          </p:spTgt>
                                        </p:tgtEl>
                                        <p:attrNameLst>
                                          <p:attrName>style.visibility</p:attrName>
                                        </p:attrNameLst>
                                      </p:cBhvr>
                                      <p:to>
                                        <p:strVal val="visible"/>
                                      </p:to>
                                    </p:set>
                                    <p:animEffect transition="in" filter="wipe(left)">
                                      <p:cBhvr>
                                        <p:cTn id="50" dur="500"/>
                                        <p:tgtEl>
                                          <p:spTgt spid="7">
                                            <p:txEl>
                                              <p:pRg st="10" end="10"/>
                                            </p:txEl>
                                          </p:spTgt>
                                        </p:tgtEl>
                                      </p:cBhvr>
                                    </p:animEffect>
                                  </p:childTnLst>
                                </p:cTn>
                              </p:par>
                            </p:childTnLst>
                          </p:cTn>
                        </p:par>
                        <p:par>
                          <p:cTn id="51" fill="hold">
                            <p:stCondLst>
                              <p:cond delay="1500"/>
                            </p:stCondLst>
                            <p:childTnLst>
                              <p:par>
                                <p:cTn id="52" presetID="22" presetClass="entr" presetSubtype="8" fill="hold" grpId="0" nodeType="afterEffect">
                                  <p:stCondLst>
                                    <p:cond delay="0"/>
                                  </p:stCondLst>
                                  <p:childTnLst>
                                    <p:set>
                                      <p:cBhvr>
                                        <p:cTn id="53" dur="1" fill="hold">
                                          <p:stCondLst>
                                            <p:cond delay="0"/>
                                          </p:stCondLst>
                                        </p:cTn>
                                        <p:tgtEl>
                                          <p:spTgt spid="7">
                                            <p:txEl>
                                              <p:pRg st="11" end="11"/>
                                            </p:txEl>
                                          </p:spTgt>
                                        </p:tgtEl>
                                        <p:attrNameLst>
                                          <p:attrName>style.visibility</p:attrName>
                                        </p:attrNameLst>
                                      </p:cBhvr>
                                      <p:to>
                                        <p:strVal val="visible"/>
                                      </p:to>
                                    </p:set>
                                    <p:animEffect transition="in" filter="wipe(left)">
                                      <p:cBhvr>
                                        <p:cTn id="54" dur="500"/>
                                        <p:tgtEl>
                                          <p:spTgt spid="7">
                                            <p:txEl>
                                              <p:pRg st="11" end="11"/>
                                            </p:txEl>
                                          </p:spTgt>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7">
                                            <p:txEl>
                                              <p:pRg st="15" end="15"/>
                                            </p:txEl>
                                          </p:spTgt>
                                        </p:tgtEl>
                                        <p:attrNameLst>
                                          <p:attrName>style.visibility</p:attrName>
                                        </p:attrNameLst>
                                      </p:cBhvr>
                                      <p:to>
                                        <p:strVal val="visible"/>
                                      </p:to>
                                    </p:set>
                                    <p:animEffect transition="in" filter="wipe(left)">
                                      <p:cBhvr>
                                        <p:cTn id="57" dur="500"/>
                                        <p:tgtEl>
                                          <p:spTgt spid="7">
                                            <p:txEl>
                                              <p:pRg st="15" end="15"/>
                                            </p:txEl>
                                          </p:spTgt>
                                        </p:tgtEl>
                                      </p:cBhvr>
                                    </p:animEffect>
                                  </p:childTnLst>
                                </p:cTn>
                              </p:par>
                            </p:childTnLst>
                          </p:cTn>
                        </p:par>
                        <p:par>
                          <p:cTn id="58" fill="hold">
                            <p:stCondLst>
                              <p:cond delay="2000"/>
                            </p:stCondLst>
                            <p:childTnLst>
                              <p:par>
                                <p:cTn id="59" presetID="22" presetClass="entr" presetSubtype="8" fill="hold" grpId="0" nodeType="afterEffect">
                                  <p:stCondLst>
                                    <p:cond delay="0"/>
                                  </p:stCondLst>
                                  <p:childTnLst>
                                    <p:set>
                                      <p:cBhvr>
                                        <p:cTn id="60" dur="1" fill="hold">
                                          <p:stCondLst>
                                            <p:cond delay="0"/>
                                          </p:stCondLst>
                                        </p:cTn>
                                        <p:tgtEl>
                                          <p:spTgt spid="7">
                                            <p:txEl>
                                              <p:pRg st="12" end="12"/>
                                            </p:txEl>
                                          </p:spTgt>
                                        </p:tgtEl>
                                        <p:attrNameLst>
                                          <p:attrName>style.visibility</p:attrName>
                                        </p:attrNameLst>
                                      </p:cBhvr>
                                      <p:to>
                                        <p:strVal val="visible"/>
                                      </p:to>
                                    </p:set>
                                    <p:animEffect transition="in" filter="wipe(left)">
                                      <p:cBhvr>
                                        <p:cTn id="61" dur="500"/>
                                        <p:tgtEl>
                                          <p:spTgt spid="7">
                                            <p:txEl>
                                              <p:pRg st="12" end="12"/>
                                            </p:txEl>
                                          </p:spTgt>
                                        </p:tgtEl>
                                      </p:cBhvr>
                                    </p:animEffect>
                                  </p:childTnLst>
                                </p:cTn>
                              </p:par>
                            </p:childTnLst>
                          </p:cTn>
                        </p:par>
                        <p:par>
                          <p:cTn id="62" fill="hold">
                            <p:stCondLst>
                              <p:cond delay="2500"/>
                            </p:stCondLst>
                            <p:childTnLst>
                              <p:par>
                                <p:cTn id="63" presetID="22" presetClass="entr" presetSubtype="8" fill="hold" grpId="0" nodeType="afterEffect">
                                  <p:stCondLst>
                                    <p:cond delay="0"/>
                                  </p:stCondLst>
                                  <p:childTnLst>
                                    <p:set>
                                      <p:cBhvr>
                                        <p:cTn id="64" dur="1" fill="hold">
                                          <p:stCondLst>
                                            <p:cond delay="0"/>
                                          </p:stCondLst>
                                        </p:cTn>
                                        <p:tgtEl>
                                          <p:spTgt spid="7">
                                            <p:txEl>
                                              <p:pRg st="13" end="13"/>
                                            </p:txEl>
                                          </p:spTgt>
                                        </p:tgtEl>
                                        <p:attrNameLst>
                                          <p:attrName>style.visibility</p:attrName>
                                        </p:attrNameLst>
                                      </p:cBhvr>
                                      <p:to>
                                        <p:strVal val="visible"/>
                                      </p:to>
                                    </p:set>
                                    <p:animEffect transition="in" filter="wipe(left)">
                                      <p:cBhvr>
                                        <p:cTn id="65" dur="500"/>
                                        <p:tgtEl>
                                          <p:spTgt spid="7">
                                            <p:txEl>
                                              <p:pRg st="13" end="13"/>
                                            </p:txEl>
                                          </p:spTgt>
                                        </p:tgtEl>
                                      </p:cBhvr>
                                    </p:animEffect>
                                  </p:childTnLst>
                                </p:cTn>
                              </p:par>
                            </p:childTnLst>
                          </p:cTn>
                        </p:par>
                        <p:par>
                          <p:cTn id="66" fill="hold">
                            <p:stCondLst>
                              <p:cond delay="3000"/>
                            </p:stCondLst>
                            <p:childTnLst>
                              <p:par>
                                <p:cTn id="67" presetID="22" presetClass="entr" presetSubtype="8" fill="hold" grpId="0" nodeType="afterEffect">
                                  <p:stCondLst>
                                    <p:cond delay="0"/>
                                  </p:stCondLst>
                                  <p:childTnLst>
                                    <p:set>
                                      <p:cBhvr>
                                        <p:cTn id="68" dur="1" fill="hold">
                                          <p:stCondLst>
                                            <p:cond delay="0"/>
                                          </p:stCondLst>
                                        </p:cTn>
                                        <p:tgtEl>
                                          <p:spTgt spid="7">
                                            <p:txEl>
                                              <p:pRg st="14" end="14"/>
                                            </p:txEl>
                                          </p:spTgt>
                                        </p:tgtEl>
                                        <p:attrNameLst>
                                          <p:attrName>style.visibility</p:attrName>
                                        </p:attrNameLst>
                                      </p:cBhvr>
                                      <p:to>
                                        <p:strVal val="visible"/>
                                      </p:to>
                                    </p:set>
                                    <p:animEffect transition="in" filter="wipe(left)">
                                      <p:cBhvr>
                                        <p:cTn id="69" dur="500"/>
                                        <p:tgtEl>
                                          <p:spTgt spid="7">
                                            <p:txEl>
                                              <p:pRg st="14" end="14"/>
                                            </p:txEl>
                                          </p:spTgt>
                                        </p:tgtEl>
                                      </p:cBhvr>
                                    </p:animEffect>
                                  </p:childTnLst>
                                </p:cTn>
                              </p:par>
                            </p:childTnLst>
                          </p:cTn>
                        </p:par>
                        <p:par>
                          <p:cTn id="70" fill="hold">
                            <p:stCondLst>
                              <p:cond delay="3500"/>
                            </p:stCondLst>
                            <p:childTnLst>
                              <p:par>
                                <p:cTn id="71" presetID="22" presetClass="entr" presetSubtype="8" fill="hold" grpId="0" nodeType="afterEffect">
                                  <p:stCondLst>
                                    <p:cond delay="0"/>
                                  </p:stCondLst>
                                  <p:childTnLst>
                                    <p:set>
                                      <p:cBhvr>
                                        <p:cTn id="72" dur="1" fill="hold">
                                          <p:stCondLst>
                                            <p:cond delay="0"/>
                                          </p:stCondLst>
                                        </p:cTn>
                                        <p:tgtEl>
                                          <p:spTgt spid="7">
                                            <p:txEl>
                                              <p:pRg st="16" end="16"/>
                                            </p:txEl>
                                          </p:spTgt>
                                        </p:tgtEl>
                                        <p:attrNameLst>
                                          <p:attrName>style.visibility</p:attrName>
                                        </p:attrNameLst>
                                      </p:cBhvr>
                                      <p:to>
                                        <p:strVal val="visible"/>
                                      </p:to>
                                    </p:set>
                                    <p:animEffect transition="in" filter="wipe(left)">
                                      <p:cBhvr>
                                        <p:cTn id="73" dur="500"/>
                                        <p:tgtEl>
                                          <p:spTgt spid="7">
                                            <p:txEl>
                                              <p:pRg st="16" end="16"/>
                                            </p:txEl>
                                          </p:spTgt>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wipe(up)">
                                      <p:cBhvr>
                                        <p:cTn id="76" dur="500"/>
                                        <p:tgtEl>
                                          <p:spTgt spid="12"/>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wipe(left)">
                                      <p:cBhvr>
                                        <p:cTn id="81" dur="500"/>
                                        <p:tgtEl>
                                          <p:spTgt spid="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1"/>
                                        </p:tgtEl>
                                        <p:attrNameLst>
                                          <p:attrName>style.visibility</p:attrName>
                                        </p:attrNameLst>
                                      </p:cBhvr>
                                      <p:to>
                                        <p:strVal val="visible"/>
                                      </p:to>
                                    </p:set>
                                    <p:animEffect transition="in" filter="wipe(left)">
                                      <p:cBhvr>
                                        <p:cTn id="86" dur="500"/>
                                        <p:tgtEl>
                                          <p:spTgt spid="11"/>
                                        </p:tgtEl>
                                      </p:cBhvr>
                                    </p:animEffect>
                                  </p:childTnLst>
                                </p:cTn>
                              </p:par>
                              <p:par>
                                <p:cTn id="87" presetID="10" presetClass="exit" presetSubtype="0" fill="hold" grpId="1" nodeType="withEffect">
                                  <p:stCondLst>
                                    <p:cond delay="0"/>
                                  </p:stCondLst>
                                  <p:childTnLst>
                                    <p:animEffect transition="out" filter="fade">
                                      <p:cBhvr>
                                        <p:cTn id="88" dur="500"/>
                                        <p:tgtEl>
                                          <p:spTgt spid="8"/>
                                        </p:tgtEl>
                                      </p:cBhvr>
                                    </p:animEffect>
                                    <p:set>
                                      <p:cBhvr>
                                        <p:cTn id="89" dur="1" fill="hold">
                                          <p:stCondLst>
                                            <p:cond delay="499"/>
                                          </p:stCondLst>
                                        </p:cTn>
                                        <p:tgtEl>
                                          <p:spTgt spid="8"/>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9"/>
                                        </p:tgtEl>
                                        <p:attrNameLst>
                                          <p:attrName>style.visibility</p:attrName>
                                        </p:attrNameLst>
                                      </p:cBhvr>
                                      <p:to>
                                        <p:strVal val="visible"/>
                                      </p:to>
                                    </p:set>
                                    <p:animEffect transition="in" filter="wipe(left)">
                                      <p:cBhvr>
                                        <p:cTn id="94" dur="500"/>
                                        <p:tgtEl>
                                          <p:spTgt spid="9"/>
                                        </p:tgtEl>
                                      </p:cBhvr>
                                    </p:animEffect>
                                  </p:childTnLst>
                                </p:cTn>
                              </p:par>
                              <p:par>
                                <p:cTn id="95" presetID="10" presetClass="exit" presetSubtype="0" fill="hold" grpId="1" nodeType="withEffect">
                                  <p:stCondLst>
                                    <p:cond delay="0"/>
                                  </p:stCondLst>
                                  <p:childTnLst>
                                    <p:animEffect transition="out" filter="fade">
                                      <p:cBhvr>
                                        <p:cTn id="96" dur="500"/>
                                        <p:tgtEl>
                                          <p:spTgt spid="11"/>
                                        </p:tgtEl>
                                      </p:cBhvr>
                                    </p:animEffect>
                                    <p:set>
                                      <p:cBhvr>
                                        <p:cTn id="97" dur="1" fill="hold">
                                          <p:stCondLst>
                                            <p:cond delay="499"/>
                                          </p:stCondLst>
                                        </p:cTn>
                                        <p:tgtEl>
                                          <p:spTgt spid="11"/>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0"/>
                                        </p:tgtEl>
                                        <p:attrNameLst>
                                          <p:attrName>style.visibility</p:attrName>
                                        </p:attrNameLst>
                                      </p:cBhvr>
                                      <p:to>
                                        <p:strVal val="visible"/>
                                      </p:to>
                                    </p:set>
                                    <p:animEffect transition="in" filter="wipe(left)">
                                      <p:cBhvr>
                                        <p:cTn id="102" dur="500"/>
                                        <p:tgtEl>
                                          <p:spTgt spid="10"/>
                                        </p:tgtEl>
                                      </p:cBhvr>
                                    </p:animEffect>
                                  </p:childTnLst>
                                </p:cTn>
                              </p:par>
                              <p:par>
                                <p:cTn id="103" presetID="10" presetClass="exit" presetSubtype="0" fill="hold" grpId="1" nodeType="withEffect">
                                  <p:stCondLst>
                                    <p:cond delay="0"/>
                                  </p:stCondLst>
                                  <p:childTnLst>
                                    <p:animEffect transition="out" filter="fade">
                                      <p:cBhvr>
                                        <p:cTn id="104" dur="1000"/>
                                        <p:tgtEl>
                                          <p:spTgt spid="9"/>
                                        </p:tgtEl>
                                      </p:cBhvr>
                                    </p:animEffect>
                                    <p:set>
                                      <p:cBhvr>
                                        <p:cTn id="105" dur="1" fill="hold">
                                          <p:stCondLst>
                                            <p:cond delay="999"/>
                                          </p:stCondLst>
                                        </p:cTn>
                                        <p:tgtEl>
                                          <p:spTgt spid="9"/>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0" presetClass="exit" presetSubtype="0" fill="hold" grpId="1" nodeType="clickEffect">
                                  <p:stCondLst>
                                    <p:cond delay="0"/>
                                  </p:stCondLst>
                                  <p:childTnLst>
                                    <p:animEffect transition="out" filter="fade">
                                      <p:cBhvr>
                                        <p:cTn id="109" dur="500"/>
                                        <p:tgtEl>
                                          <p:spTgt spid="10"/>
                                        </p:tgtEl>
                                      </p:cBhvr>
                                    </p:animEffect>
                                    <p:set>
                                      <p:cBhvr>
                                        <p:cTn id="110"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animBg="1"/>
      <p:bldP spid="8" grpId="1" animBg="1"/>
      <p:bldP spid="9" grpId="0" animBg="1"/>
      <p:bldP spid="9" grpId="1" animBg="1"/>
      <p:bldP spid="10" grpId="0" animBg="1"/>
      <p:bldP spid="10" grpId="1" animBg="1"/>
      <p:bldP spid="11" grpId="0" animBg="1"/>
      <p:bldP spid="11" grpId="1" animBg="1"/>
      <p:bldP spid="1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4.6 Một số hàm thông dụng</a:t>
            </a:r>
            <a:endParaRPr lang="vi-VN"/>
          </a:p>
        </p:txBody>
      </p:sp>
      <p:sp>
        <p:nvSpPr>
          <p:cNvPr id="3" name="Content Placeholder 2"/>
          <p:cNvSpPr>
            <a:spLocks noGrp="1"/>
          </p:cNvSpPr>
          <p:nvPr>
            <p:ph idx="1"/>
          </p:nvPr>
        </p:nvSpPr>
        <p:spPr/>
        <p:txBody>
          <a:bodyPr/>
          <a:lstStyle/>
          <a:p>
            <a:r>
              <a:rPr lang="en-US"/>
              <a:t>Các hàm toán học (trong </a:t>
            </a:r>
            <a:r>
              <a:rPr lang="en-US" sz="2400" b="1">
                <a:latin typeface="Courier New" pitchFamily="49" charset="0"/>
                <a:cs typeface="Courier New" pitchFamily="49" charset="0"/>
              </a:rPr>
              <a:t>stdlib.h</a:t>
            </a:r>
            <a:r>
              <a:rPr lang="en-US"/>
              <a:t>)</a:t>
            </a:r>
          </a:p>
          <a:p>
            <a:pPr lvl="1"/>
            <a:r>
              <a:rPr lang="en-US" sz="2000" b="1">
                <a:solidFill>
                  <a:schemeClr val="tx1">
                    <a:lumMod val="95000"/>
                    <a:lumOff val="5000"/>
                  </a:schemeClr>
                </a:solidFill>
                <a:latin typeface="Courier New" pitchFamily="49" charset="0"/>
                <a:cs typeface="Courier New" pitchFamily="49" charset="0"/>
              </a:rPr>
              <a:t>int abs(int x); </a:t>
            </a:r>
            <a:r>
              <a:rPr lang="en-US"/>
              <a:t>giá trị tuyệt đối của số nguyên x</a:t>
            </a:r>
          </a:p>
          <a:p>
            <a:pPr lvl="1"/>
            <a:r>
              <a:rPr lang="en-US" sz="2000" b="1">
                <a:solidFill>
                  <a:schemeClr val="tx1">
                    <a:lumMod val="95000"/>
                    <a:lumOff val="5000"/>
                  </a:schemeClr>
                </a:solidFill>
                <a:latin typeface="Courier New" pitchFamily="49" charset="0"/>
                <a:cs typeface="Courier New" pitchFamily="49" charset="0"/>
              </a:rPr>
              <a:t>long int labs(long int x); </a:t>
            </a:r>
            <a:r>
              <a:rPr lang="en-US"/>
              <a:t>giá trị tuyệt đối của số nguyên dài x</a:t>
            </a:r>
          </a:p>
          <a:p>
            <a:pPr lvl="1"/>
            <a:r>
              <a:rPr lang="en-US" sz="2000" b="1">
                <a:solidFill>
                  <a:schemeClr val="tx1">
                    <a:lumMod val="95000"/>
                    <a:lumOff val="5000"/>
                  </a:schemeClr>
                </a:solidFill>
                <a:latin typeface="Courier New" pitchFamily="49" charset="0"/>
                <a:cs typeface="Courier New" pitchFamily="49" charset="0"/>
              </a:rPr>
              <a:t>double fabs(double x);</a:t>
            </a:r>
          </a:p>
          <a:p>
            <a:pPr lvl="1"/>
            <a:r>
              <a:rPr lang="en-US" sz="2000" b="1">
                <a:solidFill>
                  <a:schemeClr val="tx1">
                    <a:lumMod val="95000"/>
                    <a:lumOff val="5000"/>
                  </a:schemeClr>
                </a:solidFill>
                <a:latin typeface="Courier New" pitchFamily="49" charset="0"/>
                <a:cs typeface="Courier New" pitchFamily="49" charset="0"/>
              </a:rPr>
              <a:t>int rand(void); </a:t>
            </a:r>
            <a:r>
              <a:rPr lang="en-US"/>
              <a:t>cho giá trị ngẫu nhiên từ 0 đến 32767</a:t>
            </a:r>
          </a:p>
          <a:p>
            <a:pPr lvl="1"/>
            <a:r>
              <a:rPr lang="en-US" sz="2000" b="1">
                <a:solidFill>
                  <a:schemeClr val="tx1">
                    <a:lumMod val="95000"/>
                    <a:lumOff val="5000"/>
                  </a:schemeClr>
                </a:solidFill>
                <a:latin typeface="Courier New" pitchFamily="49" charset="0"/>
                <a:cs typeface="Courier New" pitchFamily="49" charset="0"/>
              </a:rPr>
              <a:t>int random(int n); </a:t>
            </a:r>
            <a:r>
              <a:rPr lang="en-US"/>
              <a:t>cho một giá trị ngẫu nhiên từ 0 đến n-1</a:t>
            </a:r>
          </a:p>
          <a:p>
            <a:pPr lvl="1"/>
            <a:r>
              <a:rPr lang="en-US" sz="2000" b="1">
                <a:solidFill>
                  <a:schemeClr val="tx1">
                    <a:lumMod val="95000"/>
                    <a:lumOff val="5000"/>
                  </a:schemeClr>
                </a:solidFill>
                <a:latin typeface="Courier New" pitchFamily="49" charset="0"/>
                <a:cs typeface="Courier New" pitchFamily="49" charset="0"/>
              </a:rPr>
              <a:t>void srand(unsigned seed); </a:t>
            </a:r>
            <a:r>
              <a:rPr lang="en-US"/>
              <a:t>khởi đầu bộ số ngẫu nhiên bằng giá trị seed</a:t>
            </a:r>
          </a:p>
          <a:p>
            <a:pPr lvl="1"/>
            <a:r>
              <a:rPr lang="en-US" sz="2000" b="1">
                <a:solidFill>
                  <a:schemeClr val="tx1">
                    <a:lumMod val="95000"/>
                    <a:lumOff val="5000"/>
                  </a:schemeClr>
                </a:solidFill>
                <a:latin typeface="Courier New" pitchFamily="49" charset="0"/>
                <a:cs typeface="Courier New" pitchFamily="49" charset="0"/>
              </a:rPr>
              <a:t>void randomize(void); </a:t>
            </a:r>
            <a:r>
              <a:rPr lang="en-US"/>
              <a:t>tạo điểm xuất phát ngẫu nhiên cho các hàm rand() và random() ở trên</a:t>
            </a:r>
            <a:endParaRPr lang="vi-VN"/>
          </a:p>
        </p:txBody>
      </p:sp>
      <p:sp>
        <p:nvSpPr>
          <p:cNvPr id="4" name="Date Placeholder 3"/>
          <p:cNvSpPr>
            <a:spLocks noGrp="1"/>
          </p:cNvSpPr>
          <p:nvPr>
            <p:ph type="dt" sz="half" idx="10"/>
          </p:nvPr>
        </p:nvSpPr>
        <p:spPr/>
        <p:txBody>
          <a:bodyPr/>
          <a:lstStyle/>
          <a:p>
            <a:fld id="{530BCF3A-513C-4578-A2F8-EBD0490FE4FA}"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35</a:t>
            </a:fld>
            <a:r>
              <a:rPr lang="vi-VN"/>
              <a:t>/43</a:t>
            </a:r>
          </a:p>
        </p:txBody>
      </p:sp>
    </p:spTree>
    <p:extLst>
      <p:ext uri="{BB962C8B-B14F-4D97-AF65-F5344CB8AC3E}">
        <p14:creationId xmlns:p14="http://schemas.microsoft.com/office/powerpoint/2010/main" val="158020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hàm thông dụng (tt)</a:t>
            </a:r>
            <a:endParaRPr lang="vi-VN"/>
          </a:p>
        </p:txBody>
      </p:sp>
      <p:sp>
        <p:nvSpPr>
          <p:cNvPr id="3" name="Content Placeholder 2"/>
          <p:cNvSpPr>
            <a:spLocks noGrp="1"/>
          </p:cNvSpPr>
          <p:nvPr>
            <p:ph idx="1"/>
          </p:nvPr>
        </p:nvSpPr>
        <p:spPr/>
        <p:txBody>
          <a:bodyPr/>
          <a:lstStyle/>
          <a:p>
            <a:r>
              <a:rPr lang="en-US"/>
              <a:t>Các hàm toán học</a:t>
            </a:r>
          </a:p>
          <a:p>
            <a:pPr lvl="1"/>
            <a:r>
              <a:rPr lang="en-US" b="1" i="1"/>
              <a:t>Các hàm lượng giác</a:t>
            </a:r>
            <a:r>
              <a:rPr lang="en-US"/>
              <a:t>: </a:t>
            </a:r>
            <a:r>
              <a:rPr lang="en-US" sz="2000" b="1">
                <a:solidFill>
                  <a:schemeClr val="tx1">
                    <a:lumMod val="95000"/>
                    <a:lumOff val="5000"/>
                  </a:schemeClr>
                </a:solidFill>
                <a:latin typeface="Courier New" pitchFamily="49" charset="0"/>
                <a:cs typeface="Courier New" pitchFamily="49" charset="0"/>
              </a:rPr>
              <a:t>sin, asin, sinh, cos, cosh, acos, tan, atan, tanh</a:t>
            </a:r>
            <a:endParaRPr lang="vi-VN" sz="2000" b="1">
              <a:solidFill>
                <a:schemeClr val="tx1">
                  <a:lumMod val="95000"/>
                  <a:lumOff val="5000"/>
                </a:schemeClr>
              </a:solidFill>
              <a:latin typeface="Courier New" pitchFamily="49" charset="0"/>
              <a:cs typeface="Courier New" pitchFamily="49" charset="0"/>
            </a:endParaRPr>
          </a:p>
          <a:p>
            <a:pPr lvl="1"/>
            <a:r>
              <a:rPr lang="en-US" sz="2000" b="1">
                <a:solidFill>
                  <a:schemeClr val="tx1">
                    <a:lumMod val="95000"/>
                    <a:lumOff val="5000"/>
                  </a:schemeClr>
                </a:solidFill>
                <a:latin typeface="Courier New" pitchFamily="49" charset="0"/>
                <a:cs typeface="Courier New" pitchFamily="49" charset="0"/>
              </a:rPr>
              <a:t>double log(double x); </a:t>
            </a:r>
            <a:r>
              <a:rPr lang="en-US"/>
              <a:t>tính logarit tự nhiên của x</a:t>
            </a:r>
            <a:endParaRPr lang="vi-VN"/>
          </a:p>
          <a:p>
            <a:pPr lvl="1"/>
            <a:r>
              <a:rPr lang="en-US" sz="2000" b="1">
                <a:solidFill>
                  <a:schemeClr val="tx1">
                    <a:lumMod val="95000"/>
                    <a:lumOff val="5000"/>
                  </a:schemeClr>
                </a:solidFill>
                <a:latin typeface="Courier New" pitchFamily="49" charset="0"/>
                <a:cs typeface="Courier New" pitchFamily="49" charset="0"/>
              </a:rPr>
              <a:t>double log10(double x); </a:t>
            </a:r>
            <a:r>
              <a:rPr lang="en-US"/>
              <a:t>tính logarit cơ số 10 của x</a:t>
            </a:r>
            <a:endParaRPr lang="vi-VN"/>
          </a:p>
          <a:p>
            <a:pPr lvl="1"/>
            <a:r>
              <a:rPr lang="en-US" sz="2000" b="1">
                <a:solidFill>
                  <a:schemeClr val="tx1">
                    <a:lumMod val="95000"/>
                    <a:lumOff val="5000"/>
                  </a:schemeClr>
                </a:solidFill>
                <a:latin typeface="Courier New" pitchFamily="49" charset="0"/>
                <a:cs typeface="Courier New" pitchFamily="49" charset="0"/>
              </a:rPr>
              <a:t>double pow(double x, double y); </a:t>
            </a:r>
            <a:r>
              <a:rPr lang="en-US"/>
              <a:t>tính x</a:t>
            </a:r>
            <a:r>
              <a:rPr lang="en-US" baseline="30000"/>
              <a:t>y</a:t>
            </a:r>
            <a:endParaRPr lang="vi-VN"/>
          </a:p>
          <a:p>
            <a:pPr lvl="1"/>
            <a:r>
              <a:rPr lang="en-US" sz="2000" b="1">
                <a:solidFill>
                  <a:schemeClr val="tx1">
                    <a:lumMod val="95000"/>
                    <a:lumOff val="5000"/>
                  </a:schemeClr>
                </a:solidFill>
                <a:latin typeface="Courier New" pitchFamily="49" charset="0"/>
                <a:cs typeface="Courier New" pitchFamily="49" charset="0"/>
              </a:rPr>
              <a:t>double ceil(double x); </a:t>
            </a:r>
            <a:r>
              <a:rPr lang="en-US"/>
              <a:t>hàm làm tròn lên, trả về số nguyên nhỏ nhất lớn hơn x</a:t>
            </a:r>
          </a:p>
          <a:p>
            <a:pPr marL="471487" lvl="1" indent="0">
              <a:buNone/>
            </a:pPr>
            <a:r>
              <a:rPr lang="en-US"/>
              <a:t>Ví dụ: </a:t>
            </a:r>
            <a:r>
              <a:rPr lang="en-US" sz="2000" b="1">
                <a:solidFill>
                  <a:schemeClr val="tx1">
                    <a:lumMod val="95000"/>
                    <a:lumOff val="5000"/>
                  </a:schemeClr>
                </a:solidFill>
                <a:latin typeface="Courier New" pitchFamily="49" charset="0"/>
                <a:cs typeface="Courier New" pitchFamily="49" charset="0"/>
              </a:rPr>
              <a:t>ceil(123.54) = 124</a:t>
            </a:r>
            <a:endParaRPr lang="vi-VN" sz="2000" b="1">
              <a:solidFill>
                <a:schemeClr val="tx1">
                  <a:lumMod val="95000"/>
                  <a:lumOff val="5000"/>
                </a:schemeClr>
              </a:solidFill>
              <a:latin typeface="Courier New" pitchFamily="49" charset="0"/>
              <a:cs typeface="Courier New" pitchFamily="49" charset="0"/>
            </a:endParaRPr>
          </a:p>
          <a:p>
            <a:pPr lvl="1"/>
            <a:r>
              <a:rPr lang="en-US" sz="2000" b="1">
                <a:solidFill>
                  <a:schemeClr val="tx1">
                    <a:lumMod val="95000"/>
                    <a:lumOff val="5000"/>
                  </a:schemeClr>
                </a:solidFill>
                <a:latin typeface="Courier New" pitchFamily="49" charset="0"/>
                <a:cs typeface="Courier New" pitchFamily="49" charset="0"/>
              </a:rPr>
              <a:t>double floor(double x); </a:t>
            </a:r>
            <a:r>
              <a:rPr lang="en-US"/>
              <a:t>hàm làm tròn xuống, cắt phần lẻ.</a:t>
            </a:r>
          </a:p>
          <a:p>
            <a:pPr marL="471487" lvl="1" indent="0">
              <a:buNone/>
            </a:pPr>
            <a:r>
              <a:rPr lang="en-US"/>
              <a:t>Ví dụ: </a:t>
            </a:r>
            <a:r>
              <a:rPr lang="en-US" sz="2000" b="1">
                <a:solidFill>
                  <a:schemeClr val="tx1">
                    <a:lumMod val="95000"/>
                    <a:lumOff val="5000"/>
                  </a:schemeClr>
                </a:solidFill>
                <a:latin typeface="Courier New" pitchFamily="49" charset="0"/>
                <a:cs typeface="Courier New" pitchFamily="49" charset="0"/>
              </a:rPr>
              <a:t>floor(123.54) = 123</a:t>
            </a:r>
            <a:endParaRPr lang="vi-VN" sz="2000" b="1">
              <a:solidFill>
                <a:schemeClr val="tx1">
                  <a:lumMod val="95000"/>
                  <a:lumOff val="5000"/>
                </a:schemeClr>
              </a:solidFill>
              <a:latin typeface="Courier New" pitchFamily="49" charset="0"/>
              <a:cs typeface="Courier New" pitchFamily="49" charset="0"/>
            </a:endParaRPr>
          </a:p>
          <a:p>
            <a:pPr lvl="1"/>
            <a:endParaRPr lang="vi-VN"/>
          </a:p>
        </p:txBody>
      </p:sp>
      <p:sp>
        <p:nvSpPr>
          <p:cNvPr id="4" name="Date Placeholder 3"/>
          <p:cNvSpPr>
            <a:spLocks noGrp="1"/>
          </p:cNvSpPr>
          <p:nvPr>
            <p:ph type="dt" sz="half" idx="10"/>
          </p:nvPr>
        </p:nvSpPr>
        <p:spPr/>
        <p:txBody>
          <a:bodyPr/>
          <a:lstStyle/>
          <a:p>
            <a:fld id="{E9220774-95C3-40B0-AA86-9FC5B3F5AF13}"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36</a:t>
            </a:fld>
            <a:r>
              <a:rPr lang="vi-VN"/>
              <a:t>/43</a:t>
            </a:r>
          </a:p>
        </p:txBody>
      </p:sp>
    </p:spTree>
    <p:extLst>
      <p:ext uri="{BB962C8B-B14F-4D97-AF65-F5344CB8AC3E}">
        <p14:creationId xmlns:p14="http://schemas.microsoft.com/office/powerpoint/2010/main" val="18152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left)">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wipe(left)">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hàm thông dụng (tt)</a:t>
            </a:r>
            <a:endParaRPr lang="vi-VN"/>
          </a:p>
        </p:txBody>
      </p:sp>
      <p:sp>
        <p:nvSpPr>
          <p:cNvPr id="3" name="Content Placeholder 2"/>
          <p:cNvSpPr>
            <a:spLocks noGrp="1"/>
          </p:cNvSpPr>
          <p:nvPr>
            <p:ph idx="1"/>
          </p:nvPr>
        </p:nvSpPr>
        <p:spPr/>
        <p:txBody>
          <a:bodyPr/>
          <a:lstStyle/>
          <a:p>
            <a:r>
              <a:rPr lang="en-US"/>
              <a:t>Các hàm thời gian</a:t>
            </a:r>
          </a:p>
          <a:p>
            <a:pPr lvl="1"/>
            <a:r>
              <a:rPr lang="en-US" sz="2000" b="1">
                <a:solidFill>
                  <a:schemeClr val="tx1">
                    <a:lumMod val="95000"/>
                    <a:lumOff val="5000"/>
                  </a:schemeClr>
                </a:solidFill>
                <a:latin typeface="Courier New" pitchFamily="49" charset="0"/>
                <a:cs typeface="Courier New" pitchFamily="49" charset="0"/>
              </a:rPr>
              <a:t>void getime(struct time *t); </a:t>
            </a:r>
            <a:r>
              <a:rPr lang="en-US"/>
              <a:t>Trả về giờ hệ thống và đặt vào các thành phần của một biến cấu trúc kiểu time do con trỏ </a:t>
            </a:r>
            <a:r>
              <a:rPr lang="en-US" sz="2000" b="1">
                <a:solidFill>
                  <a:schemeClr val="tx1">
                    <a:lumMod val="95000"/>
                    <a:lumOff val="5000"/>
                  </a:schemeClr>
                </a:solidFill>
                <a:latin typeface="Courier New" pitchFamily="49" charset="0"/>
                <a:cs typeface="Courier New" pitchFamily="49" charset="0"/>
              </a:rPr>
              <a:t>t</a:t>
            </a:r>
            <a:r>
              <a:rPr lang="en-US"/>
              <a:t> trỏ tới.</a:t>
            </a:r>
            <a:endParaRPr lang="vi-VN"/>
          </a:p>
          <a:p>
            <a:pPr lvl="1"/>
            <a:r>
              <a:rPr lang="en-US"/>
              <a:t>Kiểu cấu trúc </a:t>
            </a:r>
            <a:r>
              <a:rPr lang="en-US" sz="2000" b="1">
                <a:solidFill>
                  <a:schemeClr val="tx1">
                    <a:lumMod val="95000"/>
                    <a:lumOff val="5000"/>
                  </a:schemeClr>
                </a:solidFill>
                <a:latin typeface="Courier New" pitchFamily="49" charset="0"/>
                <a:cs typeface="Courier New" pitchFamily="49" charset="0"/>
              </a:rPr>
              <a:t>time</a:t>
            </a:r>
            <a:r>
              <a:rPr lang="en-US"/>
              <a:t> trong dos.h được định nghĩa:</a:t>
            </a:r>
            <a:endParaRPr lang="vi-VN"/>
          </a:p>
          <a:p>
            <a:pPr marL="471487" lvl="1" indent="0">
              <a:buNone/>
            </a:pPr>
            <a:r>
              <a:rPr lang="en-US" sz="2000">
                <a:solidFill>
                  <a:srgbClr val="000066"/>
                </a:solidFill>
                <a:latin typeface="Courier New" pitchFamily="49" charset="0"/>
                <a:cs typeface="Courier New" pitchFamily="49" charset="0"/>
              </a:rPr>
              <a:t>struct time</a:t>
            </a:r>
            <a:endParaRPr lang="vi-VN" sz="2000">
              <a:solidFill>
                <a:srgbClr val="000066"/>
              </a:solidFill>
              <a:latin typeface="Courier New" pitchFamily="49" charset="0"/>
              <a:cs typeface="Courier New" pitchFamily="49" charset="0"/>
            </a:endParaRPr>
          </a:p>
          <a:p>
            <a:pPr marL="471487" lvl="1" indent="0">
              <a:buNone/>
            </a:pPr>
            <a:r>
              <a:rPr lang="en-US" sz="2000">
                <a:solidFill>
                  <a:srgbClr val="000066"/>
                </a:solidFill>
                <a:latin typeface="Courier New" pitchFamily="49" charset="0"/>
                <a:cs typeface="Courier New" pitchFamily="49" charset="0"/>
              </a:rPr>
              <a:t>{ 	unsigned ti_hour;  /*giờ */</a:t>
            </a:r>
            <a:endParaRPr lang="vi-VN" sz="2000">
              <a:solidFill>
                <a:srgbClr val="000066"/>
              </a:solidFill>
              <a:latin typeface="Courier New" pitchFamily="49" charset="0"/>
              <a:cs typeface="Courier New" pitchFamily="49" charset="0"/>
            </a:endParaRPr>
          </a:p>
          <a:p>
            <a:pPr marL="471487" lvl="1" indent="0">
              <a:buNone/>
            </a:pPr>
            <a:r>
              <a:rPr lang="en-US" sz="2000">
                <a:solidFill>
                  <a:srgbClr val="000066"/>
                </a:solidFill>
                <a:latin typeface="Courier New" pitchFamily="49" charset="0"/>
                <a:cs typeface="Courier New" pitchFamily="49" charset="0"/>
              </a:rPr>
              <a:t>   unsigned ti_min; /*phút*/</a:t>
            </a:r>
            <a:endParaRPr lang="vi-VN" sz="2000">
              <a:solidFill>
                <a:srgbClr val="000066"/>
              </a:solidFill>
              <a:latin typeface="Courier New" pitchFamily="49" charset="0"/>
              <a:cs typeface="Courier New" pitchFamily="49" charset="0"/>
            </a:endParaRPr>
          </a:p>
          <a:p>
            <a:pPr marL="471487" lvl="1" indent="0">
              <a:buNone/>
            </a:pPr>
            <a:r>
              <a:rPr lang="en-US" sz="2000">
                <a:solidFill>
                  <a:srgbClr val="000066"/>
                </a:solidFill>
                <a:latin typeface="Courier New" pitchFamily="49" charset="0"/>
                <a:cs typeface="Courier New" pitchFamily="49" charset="0"/>
              </a:rPr>
              <a:t>   unsigned ti_sec; /*giây */</a:t>
            </a:r>
            <a:endParaRPr lang="vi-VN" sz="2000">
              <a:solidFill>
                <a:srgbClr val="000066"/>
              </a:solidFill>
              <a:latin typeface="Courier New" pitchFamily="49" charset="0"/>
              <a:cs typeface="Courier New" pitchFamily="49" charset="0"/>
            </a:endParaRPr>
          </a:p>
          <a:p>
            <a:pPr marL="471487" lvl="1" indent="0">
              <a:buNone/>
            </a:pPr>
            <a:r>
              <a:rPr lang="en-US" sz="2000">
                <a:solidFill>
                  <a:srgbClr val="000066"/>
                </a:solidFill>
                <a:latin typeface="Courier New" pitchFamily="49" charset="0"/>
                <a:cs typeface="Courier New" pitchFamily="49" charset="0"/>
              </a:rPr>
              <a:t>   unsigned ti_hund; /*phần trăm*/</a:t>
            </a:r>
            <a:endParaRPr lang="vi-VN" sz="2000">
              <a:solidFill>
                <a:srgbClr val="000066"/>
              </a:solidFill>
              <a:latin typeface="Courier New" pitchFamily="49" charset="0"/>
              <a:cs typeface="Courier New" pitchFamily="49" charset="0"/>
            </a:endParaRPr>
          </a:p>
          <a:p>
            <a:pPr marL="471487" lvl="1" indent="0">
              <a:buNone/>
            </a:pPr>
            <a:r>
              <a:rPr lang="en-US" sz="2000">
                <a:solidFill>
                  <a:srgbClr val="000066"/>
                </a:solidFill>
                <a:latin typeface="Courier New" pitchFamily="49" charset="0"/>
                <a:cs typeface="Courier New" pitchFamily="49" charset="0"/>
              </a:rPr>
              <a:t>}</a:t>
            </a:r>
          </a:p>
          <a:p>
            <a:pPr lvl="1"/>
            <a:r>
              <a:rPr lang="en-US" sz="2000" b="1">
                <a:solidFill>
                  <a:schemeClr val="tx1">
                    <a:lumMod val="95000"/>
                    <a:lumOff val="5000"/>
                  </a:schemeClr>
                </a:solidFill>
                <a:latin typeface="Courier New" pitchFamily="49" charset="0"/>
                <a:cs typeface="Courier New" pitchFamily="49" charset="0"/>
              </a:rPr>
              <a:t>void settime(struct time *t); </a:t>
            </a:r>
            <a:r>
              <a:rPr lang="en-US"/>
              <a:t>đặt lại giờ hệ thống theo giá trị các thành phần của một cấu trúc kiểu time do con trỏ </a:t>
            </a:r>
            <a:r>
              <a:rPr lang="en-US" sz="2000" b="1">
                <a:solidFill>
                  <a:schemeClr val="tx1">
                    <a:lumMod val="95000"/>
                    <a:lumOff val="5000"/>
                  </a:schemeClr>
                </a:solidFill>
                <a:latin typeface="Courier New" pitchFamily="49" charset="0"/>
                <a:cs typeface="Courier New" pitchFamily="49" charset="0"/>
              </a:rPr>
              <a:t>t</a:t>
            </a:r>
            <a:r>
              <a:rPr lang="en-US"/>
              <a:t> trỏ tới.</a:t>
            </a:r>
            <a:endParaRPr lang="vi-VN"/>
          </a:p>
        </p:txBody>
      </p:sp>
      <p:sp>
        <p:nvSpPr>
          <p:cNvPr id="4" name="Date Placeholder 3"/>
          <p:cNvSpPr>
            <a:spLocks noGrp="1"/>
          </p:cNvSpPr>
          <p:nvPr>
            <p:ph type="dt" sz="half" idx="10"/>
          </p:nvPr>
        </p:nvSpPr>
        <p:spPr/>
        <p:txBody>
          <a:bodyPr/>
          <a:lstStyle/>
          <a:p>
            <a:fld id="{345889D2-1B6F-465C-A742-E3A796557F5B}"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37</a:t>
            </a:fld>
            <a:r>
              <a:rPr lang="vi-VN"/>
              <a:t>/43</a:t>
            </a:r>
          </a:p>
        </p:txBody>
      </p:sp>
    </p:spTree>
    <p:extLst>
      <p:ext uri="{BB962C8B-B14F-4D97-AF65-F5344CB8AC3E}">
        <p14:creationId xmlns:p14="http://schemas.microsoft.com/office/powerpoint/2010/main" val="917172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down)">
                                      <p:cBhvr>
                                        <p:cTn id="20" dur="500"/>
                                        <p:tgtEl>
                                          <p:spTgt spid="3">
                                            <p:txEl>
                                              <p:pRg st="4" end="4"/>
                                            </p:txEl>
                                          </p:spTgt>
                                        </p:tgtEl>
                                      </p:cBhvr>
                                    </p:animEffect>
                                  </p:childTnLst>
                                </p:cTn>
                              </p:par>
                            </p:childTnLst>
                          </p:cTn>
                        </p:par>
                        <p:par>
                          <p:cTn id="21" fill="hold">
                            <p:stCondLst>
                              <p:cond delay="1500"/>
                            </p:stCondLst>
                            <p:childTnLst>
                              <p:par>
                                <p:cTn id="22" presetID="22" presetClass="entr" presetSubtype="4"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down)">
                                      <p:cBhvr>
                                        <p:cTn id="24" dur="500"/>
                                        <p:tgtEl>
                                          <p:spTgt spid="3">
                                            <p:txEl>
                                              <p:pRg st="5" end="5"/>
                                            </p:txEl>
                                          </p:spTgt>
                                        </p:tgtEl>
                                      </p:cBhvr>
                                    </p:animEffect>
                                  </p:childTnLst>
                                </p:cTn>
                              </p:par>
                            </p:childTnLst>
                          </p:cTn>
                        </p:par>
                        <p:par>
                          <p:cTn id="25" fill="hold">
                            <p:stCondLst>
                              <p:cond delay="2000"/>
                            </p:stCondLst>
                            <p:childTnLst>
                              <p:par>
                                <p:cTn id="26" presetID="22" presetClass="entr" presetSubtype="4"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down)">
                                      <p:cBhvr>
                                        <p:cTn id="28" dur="500"/>
                                        <p:tgtEl>
                                          <p:spTgt spid="3">
                                            <p:txEl>
                                              <p:pRg st="6" end="6"/>
                                            </p:txEl>
                                          </p:spTgt>
                                        </p:tgtEl>
                                      </p:cBhvr>
                                    </p:animEffect>
                                  </p:childTnLst>
                                </p:cTn>
                              </p:par>
                            </p:childTnLst>
                          </p:cTn>
                        </p:par>
                        <p:par>
                          <p:cTn id="29" fill="hold">
                            <p:stCondLst>
                              <p:cond delay="2500"/>
                            </p:stCondLst>
                            <p:childTnLst>
                              <p:par>
                                <p:cTn id="30" presetID="22" presetClass="entr" presetSubtype="4" fill="hold" nodeType="after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par>
                          <p:cTn id="33" fill="hold">
                            <p:stCondLst>
                              <p:cond delay="3000"/>
                            </p:stCondLst>
                            <p:childTnLst>
                              <p:par>
                                <p:cTn id="34" presetID="22" presetClass="entr" presetSubtype="4" fill="hold" nodeType="after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wipe(down)">
                                      <p:cBhvr>
                                        <p:cTn id="36" dur="500"/>
                                        <p:tgtEl>
                                          <p:spTgt spid="3">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Effect transition="in" filter="wipe(down)">
                                      <p:cBhvr>
                                        <p:cTn id="4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hàm thông dụng (tt)</a:t>
            </a:r>
            <a:endParaRPr lang="vi-VN"/>
          </a:p>
        </p:txBody>
      </p:sp>
      <p:sp>
        <p:nvSpPr>
          <p:cNvPr id="3" name="Content Placeholder 2"/>
          <p:cNvSpPr>
            <a:spLocks noGrp="1"/>
          </p:cNvSpPr>
          <p:nvPr>
            <p:ph idx="1"/>
          </p:nvPr>
        </p:nvSpPr>
        <p:spPr/>
        <p:txBody>
          <a:bodyPr/>
          <a:lstStyle/>
          <a:p>
            <a:r>
              <a:rPr lang="en-US"/>
              <a:t>Các hàm ngày tháng</a:t>
            </a:r>
          </a:p>
          <a:p>
            <a:pPr lvl="1"/>
            <a:r>
              <a:rPr lang="en-US" sz="2000" b="1">
                <a:solidFill>
                  <a:schemeClr val="tx1">
                    <a:lumMod val="95000"/>
                    <a:lumOff val="5000"/>
                  </a:schemeClr>
                </a:solidFill>
                <a:latin typeface="Courier New" pitchFamily="49" charset="0"/>
                <a:cs typeface="Courier New" pitchFamily="49" charset="0"/>
              </a:rPr>
              <a:t>getdate(struct date *d); </a:t>
            </a:r>
            <a:r>
              <a:rPr lang="en-US"/>
              <a:t>Hàm này nhận ngày hệ thống và đặt vào các thành phần của một biến cấu trúc kiểu </a:t>
            </a:r>
            <a:r>
              <a:rPr lang="en-US" sz="2000" b="1">
                <a:solidFill>
                  <a:schemeClr val="tx1">
                    <a:lumMod val="95000"/>
                    <a:lumOff val="5000"/>
                  </a:schemeClr>
                </a:solidFill>
                <a:latin typeface="Courier New" pitchFamily="49" charset="0"/>
                <a:cs typeface="Courier New" pitchFamily="49" charset="0"/>
              </a:rPr>
              <a:t>date</a:t>
            </a:r>
            <a:r>
              <a:rPr lang="en-US"/>
              <a:t> do con trỏ </a:t>
            </a:r>
            <a:r>
              <a:rPr lang="en-US" sz="2000" b="1">
                <a:solidFill>
                  <a:schemeClr val="tx1">
                    <a:lumMod val="95000"/>
                    <a:lumOff val="5000"/>
                  </a:schemeClr>
                </a:solidFill>
                <a:latin typeface="Courier New" pitchFamily="49" charset="0"/>
                <a:cs typeface="Courier New" pitchFamily="49" charset="0"/>
              </a:rPr>
              <a:t>d</a:t>
            </a:r>
            <a:r>
              <a:rPr lang="en-US"/>
              <a:t> trỏ tới.</a:t>
            </a:r>
            <a:endParaRPr lang="vi-VN"/>
          </a:p>
          <a:p>
            <a:pPr lvl="1"/>
            <a:r>
              <a:rPr lang="en-US"/>
              <a:t>Kiểu cấu trúc </a:t>
            </a:r>
            <a:r>
              <a:rPr lang="en-US" sz="2000" b="1">
                <a:solidFill>
                  <a:schemeClr val="tx1">
                    <a:lumMod val="95000"/>
                    <a:lumOff val="5000"/>
                  </a:schemeClr>
                </a:solidFill>
                <a:latin typeface="Courier New" pitchFamily="49" charset="0"/>
                <a:cs typeface="Courier New" pitchFamily="49" charset="0"/>
              </a:rPr>
              <a:t>date</a:t>
            </a:r>
            <a:r>
              <a:rPr lang="en-US"/>
              <a:t> được định nghĩa trong dos.h </a:t>
            </a:r>
            <a:r>
              <a:rPr lang="en-US" sz="2000">
                <a:solidFill>
                  <a:srgbClr val="002060"/>
                </a:solidFill>
              </a:rPr>
              <a:t>struct date</a:t>
            </a:r>
            <a:endParaRPr lang="vi-VN" sz="2000">
              <a:solidFill>
                <a:srgbClr val="002060"/>
              </a:solidFill>
            </a:endParaRPr>
          </a:p>
          <a:p>
            <a:pPr marL="909637" lvl="2" indent="0">
              <a:buNone/>
            </a:pPr>
            <a:r>
              <a:rPr lang="en-US"/>
              <a:t>{ 	int da_year;</a:t>
            </a:r>
            <a:endParaRPr lang="vi-VN"/>
          </a:p>
          <a:p>
            <a:pPr marL="909637" lvl="2" indent="0">
              <a:buNone/>
            </a:pPr>
            <a:r>
              <a:rPr lang="en-US"/>
              <a:t>  	</a:t>
            </a:r>
            <a:r>
              <a:rPr lang="fr-FR"/>
              <a:t>char da_mon;</a:t>
            </a:r>
            <a:endParaRPr lang="vi-VN"/>
          </a:p>
          <a:p>
            <a:pPr marL="909637" lvl="2" indent="0">
              <a:buNone/>
            </a:pPr>
            <a:r>
              <a:rPr lang="fr-FR"/>
              <a:t>  	char da_day;</a:t>
            </a:r>
            <a:endParaRPr lang="vi-VN"/>
          </a:p>
          <a:p>
            <a:pPr marL="909637" lvl="2" indent="0">
              <a:buNone/>
            </a:pPr>
            <a:r>
              <a:rPr lang="fr-FR"/>
              <a:t>}</a:t>
            </a:r>
            <a:endParaRPr lang="vi-VN"/>
          </a:p>
          <a:p>
            <a:pPr lvl="1"/>
            <a:r>
              <a:rPr lang="fr-FR" sz="2000" b="1">
                <a:solidFill>
                  <a:schemeClr val="tx1">
                    <a:lumMod val="95000"/>
                    <a:lumOff val="5000"/>
                  </a:schemeClr>
                </a:solidFill>
                <a:latin typeface="Courier New" pitchFamily="49" charset="0"/>
                <a:cs typeface="Courier New" pitchFamily="49" charset="0"/>
              </a:rPr>
              <a:t>void setdate(struct date *d); </a:t>
            </a:r>
            <a:r>
              <a:rPr lang="fr-FR"/>
              <a:t>Đặt lại ngày hệ thống theo giá trị các thành phần của một biến cấu trúc kiểu date do con trỏ d trỏ tới.</a:t>
            </a:r>
            <a:endParaRPr lang="vi-VN"/>
          </a:p>
          <a:p>
            <a:pPr lvl="1"/>
            <a:endParaRPr lang="vi-VN"/>
          </a:p>
        </p:txBody>
      </p:sp>
      <p:sp>
        <p:nvSpPr>
          <p:cNvPr id="4" name="Date Placeholder 3"/>
          <p:cNvSpPr>
            <a:spLocks noGrp="1"/>
          </p:cNvSpPr>
          <p:nvPr>
            <p:ph type="dt" sz="half" idx="10"/>
          </p:nvPr>
        </p:nvSpPr>
        <p:spPr/>
        <p:txBody>
          <a:bodyPr/>
          <a:lstStyle/>
          <a:p>
            <a:fld id="{AACEC863-8EE9-4CA1-A233-B35607845A20}"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38</a:t>
            </a:fld>
            <a:r>
              <a:rPr lang="vi-VN"/>
              <a:t>/43</a:t>
            </a:r>
          </a:p>
        </p:txBody>
      </p:sp>
    </p:spTree>
    <p:extLst>
      <p:ext uri="{BB962C8B-B14F-4D97-AF65-F5344CB8AC3E}">
        <p14:creationId xmlns:p14="http://schemas.microsoft.com/office/powerpoint/2010/main" val="1629941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left)">
                                      <p:cBhvr>
                                        <p:cTn id="16" dur="500"/>
                                        <p:tgtEl>
                                          <p:spTgt spid="3">
                                            <p:txEl>
                                              <p:pRg st="3" end="3"/>
                                            </p:txEl>
                                          </p:spTgt>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wipe(left)">
                                      <p:cBhvr>
                                        <p:cTn id="20" dur="500"/>
                                        <p:tgtEl>
                                          <p:spTgt spid="3">
                                            <p:txEl>
                                              <p:pRg st="4" end="4"/>
                                            </p:txEl>
                                          </p:spTgt>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left)">
                                      <p:cBhvr>
                                        <p:cTn id="24" dur="500"/>
                                        <p:tgtEl>
                                          <p:spTgt spid="3">
                                            <p:txEl>
                                              <p:pRg st="5" end="5"/>
                                            </p:txEl>
                                          </p:spTgt>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wipe(left)">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wipe(left)">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hàm thông dụng (tt)</a:t>
            </a:r>
            <a:endParaRPr lang="vi-VN"/>
          </a:p>
        </p:txBody>
      </p:sp>
      <p:sp>
        <p:nvSpPr>
          <p:cNvPr id="3" name="Content Placeholder 2"/>
          <p:cNvSpPr>
            <a:spLocks noGrp="1"/>
          </p:cNvSpPr>
          <p:nvPr>
            <p:ph idx="1"/>
          </p:nvPr>
        </p:nvSpPr>
        <p:spPr>
          <a:xfrm>
            <a:off x="539552" y="1143000"/>
            <a:ext cx="8424936" cy="5181600"/>
          </a:xfrm>
        </p:spPr>
        <p:txBody>
          <a:bodyPr/>
          <a:lstStyle/>
          <a:p>
            <a:r>
              <a:rPr lang="en-US"/>
              <a:t>Hàm chuyển đổi xâu kí tự</a:t>
            </a:r>
          </a:p>
          <a:p>
            <a:pPr marL="539750" lvl="1" indent="-269875" defTabSz="539750"/>
            <a:r>
              <a:rPr lang="fr-FR" sz="2000" b="1">
                <a:solidFill>
                  <a:schemeClr val="tx1">
                    <a:lumMod val="95000"/>
                    <a:lumOff val="5000"/>
                  </a:schemeClr>
                </a:solidFill>
                <a:latin typeface="Courier New" pitchFamily="49" charset="0"/>
                <a:cs typeface="Courier New" pitchFamily="49" charset="0"/>
              </a:rPr>
              <a:t>char *itoa (int x, char *s, int cs); </a:t>
            </a:r>
            <a:r>
              <a:rPr lang="fr-FR" sz="2200"/>
              <a:t>chuyển đổi số nguyên </a:t>
            </a:r>
            <a:r>
              <a:rPr lang="fr-FR" sz="2000" b="1">
                <a:solidFill>
                  <a:schemeClr val="tx1">
                    <a:lumMod val="95000"/>
                    <a:lumOff val="5000"/>
                  </a:schemeClr>
                </a:solidFill>
                <a:latin typeface="Courier New" pitchFamily="49" charset="0"/>
                <a:cs typeface="Courier New" pitchFamily="49" charset="0"/>
              </a:rPr>
              <a:t>x</a:t>
            </a:r>
            <a:r>
              <a:rPr lang="fr-FR" sz="2200"/>
              <a:t> trong hệ đếm cơ số </a:t>
            </a:r>
            <a:r>
              <a:rPr lang="fr-FR" sz="2000" b="1">
                <a:solidFill>
                  <a:schemeClr val="tx1">
                    <a:lumMod val="95000"/>
                    <a:lumOff val="5000"/>
                  </a:schemeClr>
                </a:solidFill>
                <a:latin typeface="Courier New" pitchFamily="49" charset="0"/>
                <a:cs typeface="Courier New" pitchFamily="49" charset="0"/>
              </a:rPr>
              <a:t>cs</a:t>
            </a:r>
            <a:r>
              <a:rPr lang="fr-FR" sz="2200"/>
              <a:t> sang chuỗi và lưu vào vùng nhớ </a:t>
            </a:r>
            <a:r>
              <a:rPr lang="fr-FR" sz="2000" b="1">
                <a:solidFill>
                  <a:schemeClr val="tx1">
                    <a:lumMod val="95000"/>
                    <a:lumOff val="5000"/>
                  </a:schemeClr>
                </a:solidFill>
                <a:latin typeface="Courier New" pitchFamily="49" charset="0"/>
                <a:cs typeface="Courier New" pitchFamily="49" charset="0"/>
              </a:rPr>
              <a:t>s</a:t>
            </a:r>
            <a:r>
              <a:rPr lang="fr-FR" sz="2200"/>
              <a:t>, trả về địa chỉ vùng </a:t>
            </a:r>
            <a:r>
              <a:rPr lang="fr-FR" sz="2000" b="1">
                <a:solidFill>
                  <a:schemeClr val="tx1">
                    <a:lumMod val="95000"/>
                    <a:lumOff val="5000"/>
                  </a:schemeClr>
                </a:solidFill>
                <a:latin typeface="Courier New" pitchFamily="49" charset="0"/>
                <a:cs typeface="Courier New" pitchFamily="49" charset="0"/>
              </a:rPr>
              <a:t>s</a:t>
            </a:r>
            <a:r>
              <a:rPr lang="fr-FR" sz="2200"/>
              <a:t>.</a:t>
            </a:r>
            <a:endParaRPr lang="vi-VN" sz="2200"/>
          </a:p>
          <a:p>
            <a:pPr marL="539750" lvl="1" indent="-269875" defTabSz="539750"/>
            <a:r>
              <a:rPr lang="fr-FR" sz="2000" b="1">
                <a:solidFill>
                  <a:schemeClr val="tx1">
                    <a:lumMod val="95000"/>
                    <a:lumOff val="5000"/>
                  </a:schemeClr>
                </a:solidFill>
                <a:latin typeface="Courier New" pitchFamily="49" charset="0"/>
                <a:cs typeface="Courier New" pitchFamily="49" charset="0"/>
              </a:rPr>
              <a:t>char *ltoa (long x, char *s, int cs); </a:t>
            </a:r>
            <a:r>
              <a:rPr lang="fr-FR" sz="2200"/>
              <a:t>chuyển đổi số nguyên dài kiểu </a:t>
            </a:r>
            <a:r>
              <a:rPr lang="fr-FR" sz="2000" b="1">
                <a:solidFill>
                  <a:schemeClr val="tx1">
                    <a:lumMod val="95000"/>
                    <a:lumOff val="5000"/>
                  </a:schemeClr>
                </a:solidFill>
                <a:latin typeface="Courier New" pitchFamily="49" charset="0"/>
                <a:cs typeface="Courier New" pitchFamily="49" charset="0"/>
              </a:rPr>
              <a:t>long x</a:t>
            </a:r>
            <a:r>
              <a:rPr lang="fr-FR" sz="2200"/>
              <a:t> trong hệ đếm cơ số </a:t>
            </a:r>
            <a:r>
              <a:rPr lang="fr-FR" sz="2000" b="1">
                <a:solidFill>
                  <a:schemeClr val="tx1">
                    <a:lumMod val="95000"/>
                    <a:lumOff val="5000"/>
                  </a:schemeClr>
                </a:solidFill>
                <a:latin typeface="Courier New" pitchFamily="49" charset="0"/>
                <a:cs typeface="Courier New" pitchFamily="49" charset="0"/>
              </a:rPr>
              <a:t>cs</a:t>
            </a:r>
            <a:r>
              <a:rPr lang="fr-FR" sz="2200"/>
              <a:t> sang chuỗi và lưu vào vùng nhớ </a:t>
            </a:r>
            <a:r>
              <a:rPr lang="fr-FR" sz="2000" b="1">
                <a:solidFill>
                  <a:schemeClr val="tx1">
                    <a:lumMod val="95000"/>
                    <a:lumOff val="5000"/>
                  </a:schemeClr>
                </a:solidFill>
                <a:latin typeface="Courier New" pitchFamily="49" charset="0"/>
                <a:cs typeface="Courier New" pitchFamily="49" charset="0"/>
              </a:rPr>
              <a:t>s</a:t>
            </a:r>
            <a:r>
              <a:rPr lang="fr-FR" sz="2200"/>
              <a:t>, trả về địa chỉ vùng </a:t>
            </a:r>
            <a:r>
              <a:rPr lang="fr-FR" sz="2000" b="1">
                <a:solidFill>
                  <a:schemeClr val="tx1">
                    <a:lumMod val="95000"/>
                    <a:lumOff val="5000"/>
                  </a:schemeClr>
                </a:solidFill>
                <a:latin typeface="Courier New" pitchFamily="49" charset="0"/>
                <a:cs typeface="Courier New" pitchFamily="49" charset="0"/>
              </a:rPr>
              <a:t>s</a:t>
            </a:r>
            <a:r>
              <a:rPr lang="fr-FR" sz="2200"/>
              <a:t>.</a:t>
            </a:r>
            <a:endParaRPr lang="vi-VN" sz="2200"/>
          </a:p>
          <a:p>
            <a:pPr marL="539750" lvl="1" indent="-269875" defTabSz="539750"/>
            <a:r>
              <a:rPr lang="fr-FR" sz="2000" b="1">
                <a:solidFill>
                  <a:schemeClr val="tx1">
                    <a:lumMod val="95000"/>
                    <a:lumOff val="5000"/>
                  </a:schemeClr>
                </a:solidFill>
                <a:latin typeface="Courier New" pitchFamily="49" charset="0"/>
                <a:cs typeface="Courier New" pitchFamily="49" charset="0"/>
              </a:rPr>
              <a:t>char *ultoa (unsigned long x, char *s, int cs);</a:t>
            </a:r>
            <a:r>
              <a:rPr lang="fr-FR" sz="2200"/>
              <a:t> chuyển số kiểu </a:t>
            </a:r>
            <a:r>
              <a:rPr lang="fr-FR" sz="2000" b="1">
                <a:solidFill>
                  <a:schemeClr val="tx1">
                    <a:lumMod val="95000"/>
                    <a:lumOff val="5000"/>
                  </a:schemeClr>
                </a:solidFill>
                <a:latin typeface="Courier New" pitchFamily="49" charset="0"/>
                <a:cs typeface="Courier New" pitchFamily="49" charset="0"/>
              </a:rPr>
              <a:t>unsigned long x </a:t>
            </a:r>
            <a:r>
              <a:rPr lang="fr-FR" sz="2200"/>
              <a:t>trong hệ đếm cơ số </a:t>
            </a:r>
            <a:r>
              <a:rPr lang="fr-FR" sz="2000" b="1">
                <a:solidFill>
                  <a:schemeClr val="tx1">
                    <a:lumMod val="95000"/>
                    <a:lumOff val="5000"/>
                  </a:schemeClr>
                </a:solidFill>
                <a:latin typeface="Courier New" pitchFamily="49" charset="0"/>
                <a:cs typeface="Courier New" pitchFamily="49" charset="0"/>
              </a:rPr>
              <a:t>cs</a:t>
            </a:r>
            <a:r>
              <a:rPr lang="fr-FR" sz="2200"/>
              <a:t> sang chuỗi và lưu vào vùng nhớ </a:t>
            </a:r>
            <a:r>
              <a:rPr lang="fr-FR" sz="2000" b="1">
                <a:solidFill>
                  <a:schemeClr val="tx1">
                    <a:lumMod val="95000"/>
                    <a:lumOff val="5000"/>
                  </a:schemeClr>
                </a:solidFill>
                <a:latin typeface="Courier New" pitchFamily="49" charset="0"/>
                <a:cs typeface="Courier New" pitchFamily="49" charset="0"/>
              </a:rPr>
              <a:t>s</a:t>
            </a:r>
            <a:r>
              <a:rPr lang="fr-FR" sz="2200"/>
              <a:t>, trả về địa chỉ của vùng </a:t>
            </a:r>
            <a:r>
              <a:rPr lang="fr-FR" sz="2000" b="1">
                <a:solidFill>
                  <a:schemeClr val="tx1">
                    <a:lumMod val="95000"/>
                    <a:lumOff val="5000"/>
                  </a:schemeClr>
                </a:solidFill>
                <a:latin typeface="Courier New" pitchFamily="49" charset="0"/>
                <a:cs typeface="Courier New" pitchFamily="49" charset="0"/>
              </a:rPr>
              <a:t>s</a:t>
            </a:r>
            <a:r>
              <a:rPr lang="fr-FR" sz="2200"/>
              <a:t>.</a:t>
            </a:r>
            <a:endParaRPr lang="vi-VN" sz="2200"/>
          </a:p>
          <a:p>
            <a:pPr marL="539750" lvl="1" indent="-269875" defTabSz="539750"/>
            <a:r>
              <a:rPr lang="en-US" sz="2000" b="1">
                <a:solidFill>
                  <a:schemeClr val="tx1">
                    <a:lumMod val="95000"/>
                    <a:lumOff val="5000"/>
                  </a:schemeClr>
                </a:solidFill>
                <a:latin typeface="Courier New" pitchFamily="49" charset="0"/>
                <a:cs typeface="Courier New" pitchFamily="49" charset="0"/>
              </a:rPr>
              <a:t>double atof (const char *s);</a:t>
            </a:r>
            <a:r>
              <a:rPr lang="en-US" sz="2200"/>
              <a:t> chuyển xâu </a:t>
            </a:r>
            <a:r>
              <a:rPr lang="en-US" sz="2000" b="1">
                <a:solidFill>
                  <a:schemeClr val="tx1">
                    <a:lumMod val="95000"/>
                    <a:lumOff val="5000"/>
                  </a:schemeClr>
                </a:solidFill>
                <a:latin typeface="Courier New" pitchFamily="49" charset="0"/>
                <a:cs typeface="Courier New" pitchFamily="49" charset="0"/>
              </a:rPr>
              <a:t>str</a:t>
            </a:r>
            <a:r>
              <a:rPr lang="en-US" sz="2200"/>
              <a:t> thành số </a:t>
            </a:r>
            <a:r>
              <a:rPr lang="en-US" sz="2000" b="1">
                <a:solidFill>
                  <a:schemeClr val="tx1">
                    <a:lumMod val="95000"/>
                    <a:lumOff val="5000"/>
                  </a:schemeClr>
                </a:solidFill>
                <a:latin typeface="Courier New" pitchFamily="49" charset="0"/>
                <a:cs typeface="Courier New" pitchFamily="49" charset="0"/>
              </a:rPr>
              <a:t>float</a:t>
            </a:r>
            <a:endParaRPr lang="vi-VN" sz="2000" b="1">
              <a:solidFill>
                <a:schemeClr val="tx1">
                  <a:lumMod val="95000"/>
                  <a:lumOff val="5000"/>
                </a:schemeClr>
              </a:solidFill>
              <a:latin typeface="Courier New" pitchFamily="49" charset="0"/>
              <a:cs typeface="Courier New" pitchFamily="49" charset="0"/>
            </a:endParaRPr>
          </a:p>
          <a:p>
            <a:pPr marL="539750" lvl="1" indent="-269875" defTabSz="539750"/>
            <a:r>
              <a:rPr lang="en-US" sz="2000" b="1">
                <a:solidFill>
                  <a:schemeClr val="tx1">
                    <a:lumMod val="95000"/>
                    <a:lumOff val="5000"/>
                  </a:schemeClr>
                </a:solidFill>
                <a:latin typeface="Courier New" pitchFamily="49" charset="0"/>
                <a:cs typeface="Courier New" pitchFamily="49" charset="0"/>
              </a:rPr>
              <a:t>int atoi (const char*s); </a:t>
            </a:r>
            <a:r>
              <a:rPr lang="en-US" sz="2200"/>
              <a:t>chuyển xâu </a:t>
            </a:r>
            <a:r>
              <a:rPr lang="en-US" sz="2000" b="1">
                <a:solidFill>
                  <a:schemeClr val="tx1">
                    <a:lumMod val="95000"/>
                    <a:lumOff val="5000"/>
                  </a:schemeClr>
                </a:solidFill>
                <a:latin typeface="Courier New" pitchFamily="49" charset="0"/>
                <a:cs typeface="Courier New" pitchFamily="49" charset="0"/>
              </a:rPr>
              <a:t>str</a:t>
            </a:r>
            <a:r>
              <a:rPr lang="en-US" sz="2200"/>
              <a:t> thành số </a:t>
            </a:r>
            <a:r>
              <a:rPr lang="en-US" sz="2000" b="1">
                <a:solidFill>
                  <a:schemeClr val="tx1">
                    <a:lumMod val="95000"/>
                    <a:lumOff val="5000"/>
                  </a:schemeClr>
                </a:solidFill>
                <a:latin typeface="Courier New" pitchFamily="49" charset="0"/>
                <a:cs typeface="Courier New" pitchFamily="49" charset="0"/>
              </a:rPr>
              <a:t>int</a:t>
            </a:r>
            <a:endParaRPr lang="vi-VN" sz="2000" b="1">
              <a:solidFill>
                <a:schemeClr val="tx1">
                  <a:lumMod val="95000"/>
                  <a:lumOff val="5000"/>
                </a:schemeClr>
              </a:solidFill>
              <a:latin typeface="Courier New" pitchFamily="49" charset="0"/>
              <a:cs typeface="Courier New" pitchFamily="49" charset="0"/>
            </a:endParaRPr>
          </a:p>
          <a:p>
            <a:pPr marL="539750" lvl="1" indent="-269875" defTabSz="539750"/>
            <a:r>
              <a:rPr lang="en-US" sz="2000" b="1">
                <a:solidFill>
                  <a:schemeClr val="tx1">
                    <a:lumMod val="95000"/>
                    <a:lumOff val="5000"/>
                  </a:schemeClr>
                </a:solidFill>
                <a:latin typeface="Courier New" pitchFamily="49" charset="0"/>
                <a:cs typeface="Courier New" pitchFamily="49" charset="0"/>
              </a:rPr>
              <a:t>long atol (cont char *s);</a:t>
            </a:r>
            <a:r>
              <a:rPr lang="en-US" sz="2200"/>
              <a:t> chuyển xâu </a:t>
            </a:r>
            <a:r>
              <a:rPr lang="en-US" sz="2000" b="1">
                <a:solidFill>
                  <a:schemeClr val="tx1">
                    <a:lumMod val="95000"/>
                    <a:lumOff val="5000"/>
                  </a:schemeClr>
                </a:solidFill>
                <a:latin typeface="Courier New" pitchFamily="49" charset="0"/>
                <a:cs typeface="Courier New" pitchFamily="49" charset="0"/>
              </a:rPr>
              <a:t>str</a:t>
            </a:r>
            <a:r>
              <a:rPr lang="en-US" sz="2200"/>
              <a:t> thành số </a:t>
            </a:r>
            <a:r>
              <a:rPr lang="en-US" sz="2000" b="1">
                <a:solidFill>
                  <a:schemeClr val="tx1">
                    <a:lumMod val="95000"/>
                    <a:lumOff val="5000"/>
                  </a:schemeClr>
                </a:solidFill>
                <a:latin typeface="Courier New" pitchFamily="49" charset="0"/>
                <a:cs typeface="Courier New" pitchFamily="49" charset="0"/>
              </a:rPr>
              <a:t>long</a:t>
            </a:r>
            <a:endParaRPr lang="vi-VN" sz="2000" b="1">
              <a:solidFill>
                <a:schemeClr val="tx1">
                  <a:lumMod val="95000"/>
                  <a:lumOff val="5000"/>
                </a:schemeClr>
              </a:solidFill>
              <a:latin typeface="Courier New" pitchFamily="49" charset="0"/>
              <a:cs typeface="Courier New" pitchFamily="49" charset="0"/>
            </a:endParaRPr>
          </a:p>
          <a:p>
            <a:pPr lvl="1"/>
            <a:endParaRPr lang="vi-VN"/>
          </a:p>
        </p:txBody>
      </p:sp>
      <p:sp>
        <p:nvSpPr>
          <p:cNvPr id="4" name="Date Placeholder 3"/>
          <p:cNvSpPr>
            <a:spLocks noGrp="1"/>
          </p:cNvSpPr>
          <p:nvPr>
            <p:ph type="dt" sz="half" idx="10"/>
          </p:nvPr>
        </p:nvSpPr>
        <p:spPr/>
        <p:txBody>
          <a:bodyPr/>
          <a:lstStyle/>
          <a:p>
            <a:fld id="{E140EDBD-3A8D-4409-99BF-B2D8A8F5980B}"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39</a:t>
            </a:fld>
            <a:r>
              <a:rPr lang="vi-VN"/>
              <a:t>/43</a:t>
            </a:r>
          </a:p>
        </p:txBody>
      </p:sp>
    </p:spTree>
    <p:extLst>
      <p:ext uri="{BB962C8B-B14F-4D97-AF65-F5344CB8AC3E}">
        <p14:creationId xmlns:p14="http://schemas.microsoft.com/office/powerpoint/2010/main" val="3388127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Một số hàm thông dụng (tt)</a:t>
            </a:r>
            <a:endParaRPr lang="vi-VN"/>
          </a:p>
        </p:txBody>
      </p:sp>
      <p:sp>
        <p:nvSpPr>
          <p:cNvPr id="3" name="Content Placeholder 2"/>
          <p:cNvSpPr>
            <a:spLocks noGrp="1"/>
          </p:cNvSpPr>
          <p:nvPr>
            <p:ph idx="1"/>
          </p:nvPr>
        </p:nvSpPr>
        <p:spPr>
          <a:xfrm>
            <a:off x="762000" y="1143000"/>
            <a:ext cx="8382000" cy="5181600"/>
          </a:xfrm>
        </p:spPr>
        <p:txBody>
          <a:bodyPr/>
          <a:lstStyle/>
          <a:p>
            <a:r>
              <a:rPr lang="en-US"/>
              <a:t>Các hàm cấp phát động</a:t>
            </a:r>
          </a:p>
          <a:p>
            <a:pPr marL="527050" lvl="1" indent="-344488" defTabSz="808038"/>
            <a:r>
              <a:rPr lang="en-US" sz="2000" b="1">
                <a:solidFill>
                  <a:schemeClr val="tx1">
                    <a:lumMod val="95000"/>
                    <a:lumOff val="5000"/>
                  </a:schemeClr>
                </a:solidFill>
                <a:latin typeface="Courier New" pitchFamily="49" charset="0"/>
                <a:cs typeface="Courier New" pitchFamily="49" charset="0"/>
              </a:rPr>
              <a:t>unsigned coreleft (void); </a:t>
            </a:r>
            <a:r>
              <a:rPr lang="en-US" sz="2200"/>
              <a:t>cho biết số bộ nhớ khả dụng trong vùng cấp phát động đối với mô hình </a:t>
            </a:r>
            <a:r>
              <a:rPr lang="en-US" sz="2000" b="1">
                <a:solidFill>
                  <a:schemeClr val="tx1">
                    <a:lumMod val="95000"/>
                    <a:lumOff val="5000"/>
                  </a:schemeClr>
                </a:solidFill>
                <a:latin typeface="Courier New" pitchFamily="49" charset="0"/>
                <a:cs typeface="Courier New" pitchFamily="49" charset="0"/>
              </a:rPr>
              <a:t>tiny</a:t>
            </a:r>
            <a:r>
              <a:rPr lang="en-US" sz="2200"/>
              <a:t>, </a:t>
            </a:r>
            <a:r>
              <a:rPr lang="en-US" sz="2000" b="1">
                <a:solidFill>
                  <a:schemeClr val="tx1">
                    <a:lumMod val="95000"/>
                    <a:lumOff val="5000"/>
                  </a:schemeClr>
                </a:solidFill>
                <a:latin typeface="Courier New" pitchFamily="49" charset="0"/>
                <a:cs typeface="Courier New" pitchFamily="49" charset="0"/>
              </a:rPr>
              <a:t>small</a:t>
            </a:r>
            <a:r>
              <a:rPr lang="en-US" sz="2200"/>
              <a:t> và </a:t>
            </a:r>
            <a:r>
              <a:rPr lang="en-US" sz="2000" b="1">
                <a:solidFill>
                  <a:schemeClr val="tx1">
                    <a:lumMod val="95000"/>
                    <a:lumOff val="5000"/>
                  </a:schemeClr>
                </a:solidFill>
                <a:latin typeface="Courier New" pitchFamily="49" charset="0"/>
                <a:cs typeface="Courier New" pitchFamily="49" charset="0"/>
              </a:rPr>
              <a:t>medium</a:t>
            </a:r>
            <a:endParaRPr lang="vi-VN" sz="2000" b="1">
              <a:solidFill>
                <a:schemeClr val="tx1">
                  <a:lumMod val="95000"/>
                  <a:lumOff val="5000"/>
                </a:schemeClr>
              </a:solidFill>
              <a:latin typeface="Courier New" pitchFamily="49" charset="0"/>
              <a:cs typeface="Courier New" pitchFamily="49" charset="0"/>
            </a:endParaRPr>
          </a:p>
          <a:p>
            <a:pPr marL="527050" lvl="1" indent="-344488" defTabSz="808038"/>
            <a:r>
              <a:rPr lang="en-US" sz="2000" b="1">
                <a:solidFill>
                  <a:schemeClr val="tx1">
                    <a:lumMod val="95000"/>
                    <a:lumOff val="5000"/>
                  </a:schemeClr>
                </a:solidFill>
                <a:latin typeface="Courier New" pitchFamily="49" charset="0"/>
                <a:cs typeface="Courier New" pitchFamily="49" charset="0"/>
              </a:rPr>
              <a:t>unsigned long coreleft (void); </a:t>
            </a:r>
            <a:r>
              <a:rPr lang="en-US" sz="2200"/>
              <a:t>cho biết số bộ nhớ khả dụng trong vùng cấp phát động đối với mô hình </a:t>
            </a:r>
            <a:r>
              <a:rPr lang="en-US" sz="2000" b="1">
                <a:solidFill>
                  <a:schemeClr val="tx1">
                    <a:lumMod val="95000"/>
                    <a:lumOff val="5000"/>
                  </a:schemeClr>
                </a:solidFill>
                <a:latin typeface="Courier New" pitchFamily="49" charset="0"/>
                <a:cs typeface="Courier New" pitchFamily="49" charset="0"/>
              </a:rPr>
              <a:t>compact</a:t>
            </a:r>
            <a:r>
              <a:rPr lang="en-US" sz="2200"/>
              <a:t> </a:t>
            </a:r>
            <a:r>
              <a:rPr lang="en-US" sz="2000" b="1">
                <a:solidFill>
                  <a:schemeClr val="tx1">
                    <a:lumMod val="95000"/>
                    <a:lumOff val="5000"/>
                  </a:schemeClr>
                </a:solidFill>
                <a:latin typeface="Courier New" pitchFamily="49" charset="0"/>
                <a:cs typeface="Courier New" pitchFamily="49" charset="0"/>
              </a:rPr>
              <a:t>large</a:t>
            </a:r>
            <a:r>
              <a:rPr lang="en-US" sz="2200"/>
              <a:t> và </a:t>
            </a:r>
            <a:r>
              <a:rPr lang="en-US" sz="2000" b="1">
                <a:solidFill>
                  <a:schemeClr val="tx1">
                    <a:lumMod val="95000"/>
                    <a:lumOff val="5000"/>
                  </a:schemeClr>
                </a:solidFill>
                <a:latin typeface="Courier New" pitchFamily="49" charset="0"/>
                <a:cs typeface="Courier New" pitchFamily="49" charset="0"/>
              </a:rPr>
              <a:t>huge</a:t>
            </a:r>
            <a:endParaRPr lang="vi-VN" sz="2000" b="1">
              <a:solidFill>
                <a:schemeClr val="tx1">
                  <a:lumMod val="95000"/>
                  <a:lumOff val="5000"/>
                </a:schemeClr>
              </a:solidFill>
              <a:latin typeface="Courier New" pitchFamily="49" charset="0"/>
              <a:cs typeface="Courier New" pitchFamily="49" charset="0"/>
            </a:endParaRPr>
          </a:p>
          <a:p>
            <a:pPr marL="527050" lvl="1" indent="-344488" defTabSz="808038"/>
            <a:r>
              <a:rPr lang="en-US" sz="2000" b="1">
                <a:solidFill>
                  <a:schemeClr val="tx1">
                    <a:lumMod val="95000"/>
                    <a:lumOff val="5000"/>
                  </a:schemeClr>
                </a:solidFill>
                <a:latin typeface="Courier New" pitchFamily="49" charset="0"/>
                <a:cs typeface="Courier New" pitchFamily="49" charset="0"/>
              </a:rPr>
              <a:t>void *calloc (size_t n, size_t size);</a:t>
            </a:r>
            <a:r>
              <a:rPr lang="en-US" sz="2200"/>
              <a:t> cấp phát vùng nhớ cho n đối tượng cỡ </a:t>
            </a:r>
            <a:r>
              <a:rPr lang="en-US" sz="2000" b="1">
                <a:solidFill>
                  <a:schemeClr val="tx1">
                    <a:lumMod val="95000"/>
                    <a:lumOff val="5000"/>
                  </a:schemeClr>
                </a:solidFill>
                <a:latin typeface="Courier New" pitchFamily="49" charset="0"/>
                <a:cs typeface="Courier New" pitchFamily="49" charset="0"/>
              </a:rPr>
              <a:t>size byte</a:t>
            </a:r>
            <a:endParaRPr lang="vi-VN" sz="2000" b="1">
              <a:solidFill>
                <a:schemeClr val="tx1">
                  <a:lumMod val="95000"/>
                  <a:lumOff val="5000"/>
                </a:schemeClr>
              </a:solidFill>
              <a:latin typeface="Courier New" pitchFamily="49" charset="0"/>
              <a:cs typeface="Courier New" pitchFamily="49" charset="0"/>
            </a:endParaRPr>
          </a:p>
          <a:p>
            <a:pPr marL="527050" lvl="1" indent="-344488" defTabSz="808038"/>
            <a:r>
              <a:rPr lang="en-US" sz="2000" b="1">
                <a:solidFill>
                  <a:schemeClr val="tx1">
                    <a:lumMod val="95000"/>
                    <a:lumOff val="5000"/>
                  </a:schemeClr>
                </a:solidFill>
                <a:latin typeface="Courier New" pitchFamily="49" charset="0"/>
                <a:cs typeface="Courier New" pitchFamily="49" charset="0"/>
              </a:rPr>
              <a:t>void *malloc (size_t size); </a:t>
            </a:r>
            <a:r>
              <a:rPr lang="en-US" sz="2200"/>
              <a:t>cấp phát vùng nhớ cho </a:t>
            </a:r>
            <a:r>
              <a:rPr lang="en-US" sz="2000" b="1">
                <a:solidFill>
                  <a:schemeClr val="tx1">
                    <a:lumMod val="95000"/>
                    <a:lumOff val="5000"/>
                  </a:schemeClr>
                </a:solidFill>
                <a:latin typeface="Courier New" pitchFamily="49" charset="0"/>
                <a:cs typeface="Courier New" pitchFamily="49" charset="0"/>
              </a:rPr>
              <a:t>size byte</a:t>
            </a:r>
            <a:endParaRPr lang="vi-VN" sz="2000" b="1">
              <a:solidFill>
                <a:schemeClr val="tx1">
                  <a:lumMod val="95000"/>
                  <a:lumOff val="5000"/>
                </a:schemeClr>
              </a:solidFill>
              <a:latin typeface="Courier New" pitchFamily="49" charset="0"/>
              <a:cs typeface="Courier New" pitchFamily="49" charset="0"/>
            </a:endParaRPr>
          </a:p>
          <a:p>
            <a:pPr marL="527050" lvl="1" indent="-344488" defTabSz="808038"/>
            <a:r>
              <a:rPr lang="en-US" sz="2000" b="1">
                <a:solidFill>
                  <a:schemeClr val="tx1">
                    <a:lumMod val="95000"/>
                    <a:lumOff val="5000"/>
                  </a:schemeClr>
                </a:solidFill>
                <a:latin typeface="Courier New" pitchFamily="49" charset="0"/>
                <a:cs typeface="Courier New" pitchFamily="49" charset="0"/>
              </a:rPr>
              <a:t>void *realloc (void *block, size_t size); </a:t>
            </a:r>
            <a:r>
              <a:rPr lang="en-US" sz="2200"/>
              <a:t>cấp phát lại bộ nhớ</a:t>
            </a:r>
            <a:endParaRPr lang="vi-VN" sz="2200"/>
          </a:p>
          <a:p>
            <a:pPr marL="527050" lvl="1" indent="-344488" defTabSz="808038"/>
            <a:r>
              <a:rPr lang="en-US" sz="2000" b="1">
                <a:solidFill>
                  <a:schemeClr val="tx1">
                    <a:lumMod val="95000"/>
                    <a:lumOff val="5000"/>
                  </a:schemeClr>
                </a:solidFill>
                <a:latin typeface="Courier New" pitchFamily="49" charset="0"/>
                <a:cs typeface="Courier New" pitchFamily="49" charset="0"/>
              </a:rPr>
              <a:t>void free (void *block); </a:t>
            </a:r>
            <a:r>
              <a:rPr lang="en-US" sz="2200"/>
              <a:t>giải phóng vùng nhớ đã cấp</a:t>
            </a:r>
            <a:endParaRPr lang="vi-VN" sz="2200"/>
          </a:p>
          <a:p>
            <a:endParaRPr lang="vi-VN"/>
          </a:p>
        </p:txBody>
      </p:sp>
      <p:sp>
        <p:nvSpPr>
          <p:cNvPr id="4" name="Date Placeholder 3"/>
          <p:cNvSpPr>
            <a:spLocks noGrp="1"/>
          </p:cNvSpPr>
          <p:nvPr>
            <p:ph type="dt" sz="half" idx="10"/>
          </p:nvPr>
        </p:nvSpPr>
        <p:spPr/>
        <p:txBody>
          <a:bodyPr/>
          <a:lstStyle/>
          <a:p>
            <a:fld id="{2AD5167B-B8A2-4EF3-AC8E-E22880827106}"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40</a:t>
            </a:fld>
            <a:r>
              <a:rPr lang="vi-VN"/>
              <a:t>/43</a:t>
            </a:r>
          </a:p>
        </p:txBody>
      </p:sp>
    </p:spTree>
    <p:extLst>
      <p:ext uri="{BB962C8B-B14F-4D97-AF65-F5344CB8AC3E}">
        <p14:creationId xmlns:p14="http://schemas.microsoft.com/office/powerpoint/2010/main" val="157340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left)">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left)">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thực hành</a:t>
            </a:r>
            <a:endParaRPr lang="vi-VN"/>
          </a:p>
        </p:txBody>
      </p:sp>
      <p:sp>
        <p:nvSpPr>
          <p:cNvPr id="3" name="Content Placeholder 2"/>
          <p:cNvSpPr>
            <a:spLocks noGrp="1"/>
          </p:cNvSpPr>
          <p:nvPr>
            <p:ph idx="1"/>
          </p:nvPr>
        </p:nvSpPr>
        <p:spPr>
          <a:xfrm>
            <a:off x="762000" y="1143000"/>
            <a:ext cx="8130480" cy="5181600"/>
          </a:xfrm>
        </p:spPr>
        <p:txBody>
          <a:bodyPr/>
          <a:lstStyle/>
          <a:p>
            <a:pPr marL="0" indent="0">
              <a:buNone/>
            </a:pPr>
            <a:r>
              <a:rPr lang="en-US" b="1" dirty="0" err="1"/>
              <a:t>Bài</a:t>
            </a:r>
            <a:r>
              <a:rPr lang="en-US" b="1" dirty="0"/>
              <a:t> 1.</a:t>
            </a:r>
            <a:r>
              <a:rPr lang="en-US" dirty="0"/>
              <a:t> </a:t>
            </a:r>
            <a:r>
              <a:rPr lang="en-US" dirty="0" err="1"/>
              <a:t>Viết</a:t>
            </a:r>
            <a:r>
              <a:rPr lang="en-US" dirty="0"/>
              <a:t> </a:t>
            </a:r>
            <a:r>
              <a:rPr lang="en-US" dirty="0" err="1"/>
              <a:t>hàm</a:t>
            </a:r>
            <a:r>
              <a:rPr lang="en-US" dirty="0"/>
              <a:t> </a:t>
            </a:r>
            <a:r>
              <a:rPr lang="en-US" dirty="0" err="1"/>
              <a:t>để</a:t>
            </a:r>
            <a:r>
              <a:rPr lang="en-US" dirty="0"/>
              <a:t> </a:t>
            </a:r>
            <a:r>
              <a:rPr lang="en-US" dirty="0" err="1"/>
              <a:t>tính</a:t>
            </a:r>
            <a:r>
              <a:rPr lang="en-US" dirty="0"/>
              <a:t> </a:t>
            </a:r>
            <a:r>
              <a:rPr lang="en-US" dirty="0" err="1"/>
              <a:t>và</a:t>
            </a:r>
            <a:r>
              <a:rPr lang="en-US" dirty="0"/>
              <a:t> in </a:t>
            </a:r>
            <a:r>
              <a:rPr lang="en-US" dirty="0" err="1"/>
              <a:t>ra</a:t>
            </a:r>
            <a:r>
              <a:rPr lang="en-US" dirty="0"/>
              <a:t> </a:t>
            </a:r>
            <a:r>
              <a:rPr lang="en-US" dirty="0" err="1"/>
              <a:t>số</a:t>
            </a:r>
            <a:r>
              <a:rPr lang="en-US" dirty="0"/>
              <a:t> </a:t>
            </a:r>
            <a:r>
              <a:rPr lang="en-US" dirty="0" err="1"/>
              <a:t>Fibonacy</a:t>
            </a:r>
            <a:r>
              <a:rPr lang="en-US" dirty="0"/>
              <a:t> </a:t>
            </a:r>
            <a:r>
              <a:rPr lang="en-US" dirty="0" err="1"/>
              <a:t>thứ</a:t>
            </a:r>
            <a:r>
              <a:rPr lang="en-US" dirty="0"/>
              <a:t> n, </a:t>
            </a:r>
            <a:r>
              <a:rPr lang="en-US" dirty="0" err="1"/>
              <a:t>biết</a:t>
            </a:r>
            <a:r>
              <a:rPr lang="en-US" dirty="0"/>
              <a:t> </a:t>
            </a:r>
            <a:r>
              <a:rPr lang="en-US" dirty="0" err="1"/>
              <a:t>rằng</a:t>
            </a:r>
            <a:r>
              <a:rPr lang="en-US" dirty="0"/>
              <a:t>:</a:t>
            </a:r>
            <a:endParaRPr lang="vi-VN" dirty="0"/>
          </a:p>
          <a:p>
            <a:pPr marL="471487" lvl="1" indent="0">
              <a:spcBef>
                <a:spcPts val="0"/>
              </a:spcBef>
              <a:buNone/>
            </a:pPr>
            <a:r>
              <a:rPr lang="en-US" dirty="0"/>
              <a:t>F</a:t>
            </a:r>
            <a:r>
              <a:rPr lang="en-US" baseline="-25000" dirty="0"/>
              <a:t>0</a:t>
            </a:r>
            <a:r>
              <a:rPr lang="en-US" dirty="0"/>
              <a:t> = F</a:t>
            </a:r>
            <a:r>
              <a:rPr lang="en-US" baseline="-25000" dirty="0"/>
              <a:t>1</a:t>
            </a:r>
            <a:r>
              <a:rPr lang="en-US" dirty="0"/>
              <a:t> = 1</a:t>
            </a:r>
            <a:endParaRPr lang="vi-VN" dirty="0"/>
          </a:p>
          <a:p>
            <a:pPr marL="471487" lvl="1" indent="0">
              <a:spcBef>
                <a:spcPts val="0"/>
              </a:spcBef>
              <a:buNone/>
            </a:pPr>
            <a:r>
              <a:rPr lang="en-US" dirty="0" err="1"/>
              <a:t>F</a:t>
            </a:r>
            <a:r>
              <a:rPr lang="en-US" baseline="-25000" dirty="0" err="1"/>
              <a:t>n</a:t>
            </a:r>
            <a:r>
              <a:rPr lang="en-US" dirty="0"/>
              <a:t> = </a:t>
            </a:r>
            <a:r>
              <a:rPr lang="en-US" dirty="0" err="1"/>
              <a:t>F</a:t>
            </a:r>
            <a:r>
              <a:rPr lang="en-US" baseline="-25000" dirty="0" err="1"/>
              <a:t>n</a:t>
            </a:r>
            <a:r>
              <a:rPr lang="en-US" baseline="-25000" dirty="0"/>
              <a:t> – 1</a:t>
            </a:r>
            <a:r>
              <a:rPr lang="en-US" dirty="0"/>
              <a:t> + </a:t>
            </a:r>
            <a:r>
              <a:rPr lang="en-US" dirty="0" err="1"/>
              <a:t>F</a:t>
            </a:r>
            <a:r>
              <a:rPr lang="en-US" baseline="-25000" dirty="0" err="1"/>
              <a:t>n</a:t>
            </a:r>
            <a:r>
              <a:rPr lang="en-US" baseline="-25000" dirty="0"/>
              <a:t> – 2</a:t>
            </a:r>
            <a:endParaRPr lang="vi-VN" dirty="0"/>
          </a:p>
          <a:p>
            <a:pPr marL="0" indent="0">
              <a:buNone/>
            </a:pPr>
            <a:r>
              <a:rPr lang="en-US" b="1" dirty="0" err="1"/>
              <a:t>Bài</a:t>
            </a:r>
            <a:r>
              <a:rPr lang="en-US" b="1" dirty="0"/>
              <a:t> 2.</a:t>
            </a:r>
            <a:r>
              <a:rPr lang="en-US" dirty="0"/>
              <a:t> </a:t>
            </a:r>
            <a:r>
              <a:rPr lang="en-US" dirty="0" err="1"/>
              <a:t>Viết</a:t>
            </a:r>
            <a:r>
              <a:rPr lang="en-US" dirty="0"/>
              <a:t> </a:t>
            </a:r>
            <a:r>
              <a:rPr lang="en-US" dirty="0" err="1"/>
              <a:t>hàm</a:t>
            </a:r>
            <a:r>
              <a:rPr lang="en-US" dirty="0"/>
              <a:t> </a:t>
            </a:r>
            <a:r>
              <a:rPr lang="en-US" dirty="0" err="1"/>
              <a:t>kiểm</a:t>
            </a:r>
            <a:r>
              <a:rPr lang="en-US" dirty="0"/>
              <a:t> </a:t>
            </a:r>
            <a:r>
              <a:rPr lang="en-US" dirty="0" err="1"/>
              <a:t>tra</a:t>
            </a:r>
            <a:r>
              <a:rPr lang="en-US" dirty="0"/>
              <a:t> </a:t>
            </a:r>
            <a:r>
              <a:rPr lang="en-US" dirty="0" err="1"/>
              <a:t>một</a:t>
            </a:r>
            <a:r>
              <a:rPr lang="en-US" dirty="0"/>
              <a:t> </a:t>
            </a:r>
            <a:r>
              <a:rPr lang="en-US" dirty="0" err="1"/>
              <a:t>số</a:t>
            </a:r>
            <a:r>
              <a:rPr lang="en-US" dirty="0"/>
              <a:t> </a:t>
            </a:r>
            <a:r>
              <a:rPr lang="en-US" dirty="0" err="1"/>
              <a:t>có</a:t>
            </a:r>
            <a:r>
              <a:rPr lang="en-US" dirty="0"/>
              <a:t> </a:t>
            </a:r>
            <a:r>
              <a:rPr lang="en-US" dirty="0" err="1"/>
              <a:t>phải</a:t>
            </a:r>
            <a:r>
              <a:rPr lang="en-US" dirty="0"/>
              <a:t> </a:t>
            </a:r>
            <a:r>
              <a:rPr lang="en-US" dirty="0" err="1"/>
              <a:t>là</a:t>
            </a:r>
            <a:r>
              <a:rPr lang="en-US" dirty="0"/>
              <a:t> </a:t>
            </a:r>
            <a:r>
              <a:rPr lang="en-US" dirty="0" err="1"/>
              <a:t>số</a:t>
            </a:r>
            <a:r>
              <a:rPr lang="en-US" dirty="0"/>
              <a:t> </a:t>
            </a:r>
            <a:r>
              <a:rPr lang="en-US" dirty="0" err="1"/>
              <a:t>nguyên</a:t>
            </a:r>
            <a:r>
              <a:rPr lang="en-US" dirty="0"/>
              <a:t> </a:t>
            </a:r>
            <a:r>
              <a:rPr lang="en-US" dirty="0" err="1"/>
              <a:t>tố</a:t>
            </a:r>
            <a:r>
              <a:rPr lang="en-US" dirty="0"/>
              <a:t>?</a:t>
            </a:r>
            <a:endParaRPr lang="vi-VN" dirty="0"/>
          </a:p>
          <a:p>
            <a:pPr marL="0" indent="0">
              <a:buNone/>
            </a:pPr>
            <a:r>
              <a:rPr lang="en-US" b="1" dirty="0" err="1"/>
              <a:t>Bài</a:t>
            </a:r>
            <a:r>
              <a:rPr lang="en-US" b="1" dirty="0"/>
              <a:t> 3.</a:t>
            </a:r>
            <a:r>
              <a:rPr lang="en-US" dirty="0"/>
              <a:t> </a:t>
            </a:r>
            <a:r>
              <a:rPr lang="en-US" dirty="0" err="1"/>
              <a:t>Viết</a:t>
            </a:r>
            <a:r>
              <a:rPr lang="en-US" dirty="0"/>
              <a:t> </a:t>
            </a:r>
            <a:r>
              <a:rPr lang="en-US" dirty="0" err="1"/>
              <a:t>hàm</a:t>
            </a:r>
            <a:r>
              <a:rPr lang="en-US" dirty="0"/>
              <a:t> </a:t>
            </a:r>
            <a:r>
              <a:rPr lang="en-US" dirty="0" err="1"/>
              <a:t>kiểm</a:t>
            </a:r>
            <a:r>
              <a:rPr lang="en-US" dirty="0"/>
              <a:t> </a:t>
            </a:r>
            <a:r>
              <a:rPr lang="en-US" dirty="0" err="1"/>
              <a:t>tra</a:t>
            </a:r>
            <a:r>
              <a:rPr lang="en-US" dirty="0"/>
              <a:t> </a:t>
            </a:r>
            <a:r>
              <a:rPr lang="en-US" dirty="0" err="1"/>
              <a:t>một</a:t>
            </a:r>
            <a:r>
              <a:rPr lang="en-US" dirty="0"/>
              <a:t> </a:t>
            </a:r>
            <a:r>
              <a:rPr lang="en-US" dirty="0" err="1"/>
              <a:t>số</a:t>
            </a:r>
            <a:r>
              <a:rPr lang="en-US" dirty="0"/>
              <a:t> </a:t>
            </a:r>
            <a:r>
              <a:rPr lang="en-US" dirty="0" err="1"/>
              <a:t>có</a:t>
            </a:r>
            <a:r>
              <a:rPr lang="en-US" dirty="0"/>
              <a:t> </a:t>
            </a:r>
            <a:r>
              <a:rPr lang="en-US" dirty="0" err="1"/>
              <a:t>phải</a:t>
            </a:r>
            <a:r>
              <a:rPr lang="en-US" dirty="0"/>
              <a:t> </a:t>
            </a:r>
            <a:r>
              <a:rPr lang="en-US" dirty="0" err="1"/>
              <a:t>là</a:t>
            </a:r>
            <a:r>
              <a:rPr lang="en-US" dirty="0"/>
              <a:t> </a:t>
            </a:r>
            <a:r>
              <a:rPr lang="en-US" dirty="0" err="1"/>
              <a:t>số</a:t>
            </a:r>
            <a:r>
              <a:rPr lang="en-US" dirty="0"/>
              <a:t> </a:t>
            </a:r>
            <a:r>
              <a:rPr lang="en-US" dirty="0" err="1"/>
              <a:t>chính</a:t>
            </a:r>
            <a:r>
              <a:rPr lang="en-US" dirty="0"/>
              <a:t> </a:t>
            </a:r>
            <a:r>
              <a:rPr lang="en-US" dirty="0" err="1"/>
              <a:t>phương</a:t>
            </a:r>
            <a:r>
              <a:rPr lang="en-US" dirty="0"/>
              <a:t>?</a:t>
            </a:r>
            <a:endParaRPr lang="vi-VN" dirty="0"/>
          </a:p>
          <a:p>
            <a:pPr marL="0" indent="0">
              <a:buNone/>
            </a:pPr>
            <a:r>
              <a:rPr lang="en-US" b="1" dirty="0" err="1"/>
              <a:t>Bài</a:t>
            </a:r>
            <a:r>
              <a:rPr lang="en-US" b="1" dirty="0"/>
              <a:t> 4.</a:t>
            </a:r>
            <a:r>
              <a:rPr lang="en-US" dirty="0"/>
              <a:t> </a:t>
            </a:r>
            <a:r>
              <a:rPr lang="en-US" dirty="0" err="1"/>
              <a:t>Số</a:t>
            </a:r>
            <a:r>
              <a:rPr lang="en-US" dirty="0"/>
              <a:t> </a:t>
            </a:r>
            <a:r>
              <a:rPr lang="en-US" dirty="0" err="1"/>
              <a:t>hoàn</a:t>
            </a:r>
            <a:r>
              <a:rPr lang="en-US" dirty="0"/>
              <a:t> </a:t>
            </a:r>
            <a:r>
              <a:rPr lang="en-US" dirty="0" err="1"/>
              <a:t>hảo</a:t>
            </a:r>
            <a:r>
              <a:rPr lang="en-US" dirty="0"/>
              <a:t> </a:t>
            </a:r>
            <a:r>
              <a:rPr lang="en-US" dirty="0" err="1"/>
              <a:t>là</a:t>
            </a:r>
            <a:r>
              <a:rPr lang="en-US" dirty="0"/>
              <a:t> </a:t>
            </a:r>
            <a:r>
              <a:rPr lang="en-US" dirty="0" err="1"/>
              <a:t>số</a:t>
            </a:r>
            <a:r>
              <a:rPr lang="en-US" dirty="0"/>
              <a:t> </a:t>
            </a:r>
            <a:r>
              <a:rPr lang="en-US" dirty="0" err="1"/>
              <a:t>mà</a:t>
            </a:r>
            <a:r>
              <a:rPr lang="en-US" dirty="0"/>
              <a:t> </a:t>
            </a:r>
            <a:r>
              <a:rPr lang="en-US" dirty="0" err="1"/>
              <a:t>số</a:t>
            </a:r>
            <a:r>
              <a:rPr lang="en-US" dirty="0"/>
              <a:t> </a:t>
            </a:r>
            <a:r>
              <a:rPr lang="en-US" dirty="0" err="1"/>
              <a:t>đó</a:t>
            </a:r>
            <a:r>
              <a:rPr lang="en-US" dirty="0"/>
              <a:t> </a:t>
            </a:r>
            <a:r>
              <a:rPr lang="en-US" dirty="0" err="1"/>
              <a:t>bằng</a:t>
            </a:r>
            <a:r>
              <a:rPr lang="en-US" dirty="0"/>
              <a:t> </a:t>
            </a:r>
            <a:r>
              <a:rPr lang="en-US" dirty="0" err="1"/>
              <a:t>đúng</a:t>
            </a:r>
            <a:r>
              <a:rPr lang="en-US" dirty="0"/>
              <a:t> </a:t>
            </a:r>
            <a:r>
              <a:rPr lang="en-US" dirty="0" err="1"/>
              <a:t>tổng</a:t>
            </a:r>
            <a:r>
              <a:rPr lang="en-US" dirty="0"/>
              <a:t> </a:t>
            </a:r>
            <a:r>
              <a:rPr lang="en-US" dirty="0" err="1"/>
              <a:t>các</a:t>
            </a:r>
            <a:r>
              <a:rPr lang="en-US" dirty="0"/>
              <a:t> </a:t>
            </a:r>
            <a:r>
              <a:rPr lang="en-US" dirty="0" err="1"/>
              <a:t>ước</a:t>
            </a:r>
            <a:r>
              <a:rPr lang="en-US" dirty="0"/>
              <a:t> </a:t>
            </a:r>
            <a:r>
              <a:rPr lang="en-US" dirty="0" err="1"/>
              <a:t>thực</a:t>
            </a:r>
            <a:r>
              <a:rPr lang="en-US" dirty="0"/>
              <a:t> </a:t>
            </a:r>
            <a:r>
              <a:rPr lang="en-US" dirty="0" err="1"/>
              <a:t>sự</a:t>
            </a:r>
            <a:r>
              <a:rPr lang="en-US" dirty="0"/>
              <a:t> </a:t>
            </a:r>
            <a:r>
              <a:rPr lang="en-US" dirty="0" err="1"/>
              <a:t>của</a:t>
            </a:r>
            <a:r>
              <a:rPr lang="en-US" dirty="0"/>
              <a:t> </a:t>
            </a:r>
            <a:r>
              <a:rPr lang="en-US" dirty="0" err="1"/>
              <a:t>nó</a:t>
            </a:r>
            <a:r>
              <a:rPr lang="en-US" dirty="0"/>
              <a:t>. </a:t>
            </a:r>
            <a:r>
              <a:rPr lang="en-US" dirty="0" err="1"/>
              <a:t>Ví</a:t>
            </a:r>
            <a:r>
              <a:rPr lang="en-US" dirty="0"/>
              <a:t> </a:t>
            </a:r>
            <a:r>
              <a:rPr lang="en-US" dirty="0" err="1"/>
              <a:t>dụ</a:t>
            </a:r>
            <a:r>
              <a:rPr lang="en-US" dirty="0"/>
              <a:t>: 6 </a:t>
            </a:r>
            <a:r>
              <a:rPr lang="en-US" dirty="0" err="1"/>
              <a:t>là</a:t>
            </a:r>
            <a:r>
              <a:rPr lang="en-US" dirty="0"/>
              <a:t> </a:t>
            </a:r>
            <a:r>
              <a:rPr lang="en-US" dirty="0" err="1"/>
              <a:t>số</a:t>
            </a:r>
            <a:r>
              <a:rPr lang="en-US" dirty="0"/>
              <a:t> </a:t>
            </a:r>
            <a:r>
              <a:rPr lang="en-US" dirty="0" err="1"/>
              <a:t>hoàn</a:t>
            </a:r>
            <a:r>
              <a:rPr lang="en-US" dirty="0"/>
              <a:t> </a:t>
            </a:r>
            <a:r>
              <a:rPr lang="en-US" dirty="0" err="1"/>
              <a:t>hảo</a:t>
            </a:r>
            <a:r>
              <a:rPr lang="en-US" dirty="0"/>
              <a:t> </a:t>
            </a:r>
            <a:r>
              <a:rPr lang="en-US" dirty="0" err="1"/>
              <a:t>vì</a:t>
            </a:r>
            <a:r>
              <a:rPr lang="en-US" dirty="0"/>
              <a:t> 6 = 1+2+3. </a:t>
            </a:r>
            <a:r>
              <a:rPr lang="en-US" dirty="0" err="1"/>
              <a:t>Viết</a:t>
            </a:r>
            <a:r>
              <a:rPr lang="en-US" dirty="0"/>
              <a:t> </a:t>
            </a:r>
            <a:r>
              <a:rPr lang="en-US" dirty="0" err="1"/>
              <a:t>hàm</a:t>
            </a:r>
            <a:r>
              <a:rPr lang="en-US" dirty="0"/>
              <a:t> </a:t>
            </a:r>
            <a:r>
              <a:rPr lang="en-US" dirty="0" err="1"/>
              <a:t>kiểm</a:t>
            </a:r>
            <a:r>
              <a:rPr lang="en-US" dirty="0"/>
              <a:t> </a:t>
            </a:r>
            <a:r>
              <a:rPr lang="en-US" dirty="0" err="1"/>
              <a:t>tra</a:t>
            </a:r>
            <a:r>
              <a:rPr lang="en-US" dirty="0"/>
              <a:t> </a:t>
            </a:r>
            <a:r>
              <a:rPr lang="en-US" dirty="0" err="1"/>
              <a:t>một</a:t>
            </a:r>
            <a:r>
              <a:rPr lang="en-US" dirty="0"/>
              <a:t> </a:t>
            </a:r>
            <a:r>
              <a:rPr lang="en-US" dirty="0" err="1"/>
              <a:t>số</a:t>
            </a:r>
            <a:r>
              <a:rPr lang="en-US" dirty="0"/>
              <a:t> </a:t>
            </a:r>
            <a:r>
              <a:rPr lang="en-US" dirty="0" err="1"/>
              <a:t>có</a:t>
            </a:r>
            <a:r>
              <a:rPr lang="en-US" dirty="0"/>
              <a:t> </a:t>
            </a:r>
            <a:r>
              <a:rPr lang="en-US" dirty="0" err="1"/>
              <a:t>phải</a:t>
            </a:r>
            <a:r>
              <a:rPr lang="en-US" dirty="0"/>
              <a:t> </a:t>
            </a:r>
            <a:r>
              <a:rPr lang="en-US" dirty="0" err="1"/>
              <a:t>là</a:t>
            </a:r>
            <a:r>
              <a:rPr lang="en-US" dirty="0"/>
              <a:t> </a:t>
            </a:r>
            <a:r>
              <a:rPr lang="en-US" dirty="0" err="1"/>
              <a:t>số</a:t>
            </a:r>
            <a:r>
              <a:rPr lang="en-US" dirty="0"/>
              <a:t> </a:t>
            </a:r>
            <a:r>
              <a:rPr lang="en-US" dirty="0" err="1"/>
              <a:t>hoàn</a:t>
            </a:r>
            <a:r>
              <a:rPr lang="en-US" dirty="0"/>
              <a:t> </a:t>
            </a:r>
            <a:r>
              <a:rPr lang="en-US" dirty="0" err="1"/>
              <a:t>hảo</a:t>
            </a:r>
            <a:r>
              <a:rPr lang="en-US" dirty="0"/>
              <a:t>?</a:t>
            </a:r>
            <a:endParaRPr lang="vi-VN" dirty="0"/>
          </a:p>
          <a:p>
            <a:pPr marL="0" indent="0">
              <a:buNone/>
            </a:pPr>
            <a:endParaRPr lang="vi-VN" dirty="0"/>
          </a:p>
        </p:txBody>
      </p:sp>
      <p:sp>
        <p:nvSpPr>
          <p:cNvPr id="4" name="Date Placeholder 3"/>
          <p:cNvSpPr>
            <a:spLocks noGrp="1"/>
          </p:cNvSpPr>
          <p:nvPr>
            <p:ph type="dt" sz="half" idx="10"/>
          </p:nvPr>
        </p:nvSpPr>
        <p:spPr/>
        <p:txBody>
          <a:bodyPr/>
          <a:lstStyle/>
          <a:p>
            <a:fld id="{3BF657EE-9C97-4F4D-9917-8DC020834765}"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41</a:t>
            </a:fld>
            <a:r>
              <a:rPr lang="vi-VN"/>
              <a:t>/43</a:t>
            </a:r>
          </a:p>
        </p:txBody>
      </p:sp>
    </p:spTree>
    <p:extLst>
      <p:ext uri="{BB962C8B-B14F-4D97-AF65-F5344CB8AC3E}">
        <p14:creationId xmlns:p14="http://schemas.microsoft.com/office/powerpoint/2010/main" val="1685512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thực hành (tt)</a:t>
            </a:r>
            <a:endParaRPr lang="vi-VN"/>
          </a:p>
        </p:txBody>
      </p:sp>
      <p:sp>
        <p:nvSpPr>
          <p:cNvPr id="3" name="Content Placeholder 2"/>
          <p:cNvSpPr>
            <a:spLocks noGrp="1"/>
          </p:cNvSpPr>
          <p:nvPr>
            <p:ph idx="1"/>
          </p:nvPr>
        </p:nvSpPr>
        <p:spPr/>
        <p:txBody>
          <a:bodyPr/>
          <a:lstStyle/>
          <a:p>
            <a:pPr marL="0" indent="0">
              <a:buNone/>
            </a:pPr>
            <a:r>
              <a:rPr lang="en-US" b="1" dirty="0" err="1"/>
              <a:t>Bài</a:t>
            </a:r>
            <a:r>
              <a:rPr lang="en-US" b="1" dirty="0"/>
              <a:t> 5.</a:t>
            </a:r>
            <a:r>
              <a:rPr lang="en-US" dirty="0"/>
              <a:t> </a:t>
            </a:r>
            <a:r>
              <a:rPr lang="en-US" dirty="0" err="1"/>
              <a:t>Viết</a:t>
            </a:r>
            <a:r>
              <a:rPr lang="en-US" dirty="0"/>
              <a:t> </a:t>
            </a:r>
            <a:r>
              <a:rPr lang="en-US" dirty="0" err="1"/>
              <a:t>hàm</a:t>
            </a:r>
            <a:r>
              <a:rPr lang="en-US" dirty="0"/>
              <a:t> </a:t>
            </a:r>
            <a:r>
              <a:rPr lang="en-US" dirty="0" err="1"/>
              <a:t>kiểm</a:t>
            </a:r>
            <a:r>
              <a:rPr lang="en-US" dirty="0"/>
              <a:t> </a:t>
            </a:r>
            <a:r>
              <a:rPr lang="en-US" dirty="0" err="1"/>
              <a:t>tra</a:t>
            </a:r>
            <a:r>
              <a:rPr lang="en-US" dirty="0"/>
              <a:t> </a:t>
            </a:r>
            <a:r>
              <a:rPr lang="en-US" dirty="0" err="1"/>
              <a:t>xem</a:t>
            </a:r>
            <a:r>
              <a:rPr lang="en-US" dirty="0"/>
              <a:t> </a:t>
            </a:r>
            <a:r>
              <a:rPr lang="en-US" dirty="0" err="1"/>
              <a:t>một</a:t>
            </a:r>
            <a:r>
              <a:rPr lang="en-US" dirty="0"/>
              <a:t> </a:t>
            </a:r>
            <a:r>
              <a:rPr lang="en-US" dirty="0" err="1"/>
              <a:t>số</a:t>
            </a:r>
            <a:r>
              <a:rPr lang="en-US" dirty="0"/>
              <a:t> </a:t>
            </a:r>
            <a:r>
              <a:rPr lang="en-US" dirty="0" err="1"/>
              <a:t>có</a:t>
            </a:r>
            <a:r>
              <a:rPr lang="en-US" dirty="0"/>
              <a:t> </a:t>
            </a:r>
            <a:r>
              <a:rPr lang="en-US" dirty="0" err="1"/>
              <a:t>phải</a:t>
            </a:r>
            <a:r>
              <a:rPr lang="en-US" dirty="0"/>
              <a:t> là </a:t>
            </a:r>
            <a:r>
              <a:rPr lang="en-US" dirty="0" err="1"/>
              <a:t>số</a:t>
            </a:r>
            <a:r>
              <a:rPr lang="en-US" dirty="0"/>
              <a:t> </a:t>
            </a:r>
            <a:r>
              <a:rPr lang="en-US" dirty="0" err="1"/>
              <a:t>đối</a:t>
            </a:r>
            <a:r>
              <a:rPr lang="en-US" dirty="0"/>
              <a:t> </a:t>
            </a:r>
            <a:r>
              <a:rPr lang="en-US" dirty="0" err="1"/>
              <a:t>xứng</a:t>
            </a:r>
            <a:r>
              <a:rPr lang="en-US" dirty="0"/>
              <a:t> hay </a:t>
            </a:r>
            <a:r>
              <a:rPr lang="en-US" dirty="0" err="1"/>
              <a:t>không</a:t>
            </a:r>
            <a:r>
              <a:rPr lang="en-US" dirty="0"/>
              <a:t>? </a:t>
            </a:r>
            <a:r>
              <a:rPr lang="en-US" dirty="0" err="1"/>
              <a:t>Ví</a:t>
            </a:r>
            <a:r>
              <a:rPr lang="en-US" dirty="0"/>
              <a:t> </a:t>
            </a:r>
            <a:r>
              <a:rPr lang="en-US" dirty="0" err="1"/>
              <a:t>dụ</a:t>
            </a:r>
            <a:r>
              <a:rPr lang="en-US" dirty="0"/>
              <a:t>: 1234321 là </a:t>
            </a:r>
            <a:r>
              <a:rPr lang="en-US" dirty="0" err="1"/>
              <a:t>số</a:t>
            </a:r>
            <a:r>
              <a:rPr lang="en-US" dirty="0"/>
              <a:t> </a:t>
            </a:r>
            <a:r>
              <a:rPr lang="en-US" dirty="0" err="1"/>
              <a:t>đối</a:t>
            </a:r>
            <a:r>
              <a:rPr lang="en-US" dirty="0"/>
              <a:t> </a:t>
            </a:r>
            <a:r>
              <a:rPr lang="en-US" dirty="0" err="1"/>
              <a:t>xứng</a:t>
            </a:r>
            <a:r>
              <a:rPr lang="en-US" dirty="0"/>
              <a:t>.</a:t>
            </a:r>
            <a:endParaRPr lang="vi-VN" dirty="0"/>
          </a:p>
          <a:p>
            <a:pPr marL="0" indent="0">
              <a:buNone/>
            </a:pPr>
            <a:r>
              <a:rPr lang="en-US" b="1" dirty="0" err="1"/>
              <a:t>Bài</a:t>
            </a:r>
            <a:r>
              <a:rPr lang="en-US" b="1" dirty="0"/>
              <a:t> 6.</a:t>
            </a:r>
            <a:r>
              <a:rPr lang="en-US" dirty="0"/>
              <a:t> </a:t>
            </a:r>
            <a:r>
              <a:rPr lang="en-US" dirty="0" err="1"/>
              <a:t>Viết</a:t>
            </a:r>
            <a:r>
              <a:rPr lang="en-US" dirty="0"/>
              <a:t> </a:t>
            </a:r>
            <a:r>
              <a:rPr lang="en-US" dirty="0" err="1"/>
              <a:t>hàm</a:t>
            </a:r>
            <a:r>
              <a:rPr lang="en-US" dirty="0"/>
              <a:t> </a:t>
            </a:r>
            <a:r>
              <a:rPr lang="en-US" dirty="0" err="1"/>
              <a:t>để</a:t>
            </a:r>
            <a:r>
              <a:rPr lang="en-US" dirty="0"/>
              <a:t> </a:t>
            </a:r>
            <a:r>
              <a:rPr lang="en-US" dirty="0" err="1"/>
              <a:t>trả</a:t>
            </a:r>
            <a:r>
              <a:rPr lang="en-US" dirty="0"/>
              <a:t> </a:t>
            </a:r>
            <a:r>
              <a:rPr lang="en-US" dirty="0" err="1"/>
              <a:t>về</a:t>
            </a:r>
            <a:r>
              <a:rPr lang="en-US" dirty="0"/>
              <a:t> </a:t>
            </a:r>
            <a:r>
              <a:rPr lang="en-US" dirty="0" err="1"/>
              <a:t>số</a:t>
            </a:r>
            <a:r>
              <a:rPr lang="en-US" dirty="0"/>
              <a:t> </a:t>
            </a:r>
            <a:r>
              <a:rPr lang="en-US" dirty="0" err="1"/>
              <a:t>đảo</a:t>
            </a:r>
            <a:r>
              <a:rPr lang="en-US" dirty="0"/>
              <a:t> </a:t>
            </a:r>
            <a:r>
              <a:rPr lang="en-US" dirty="0" err="1"/>
              <a:t>của</a:t>
            </a:r>
            <a:r>
              <a:rPr lang="en-US" dirty="0"/>
              <a:t> </a:t>
            </a:r>
            <a:r>
              <a:rPr lang="en-US" dirty="0" err="1"/>
              <a:t>một</a:t>
            </a:r>
            <a:r>
              <a:rPr lang="en-US" dirty="0"/>
              <a:t> </a:t>
            </a:r>
            <a:r>
              <a:rPr lang="en-US" dirty="0" err="1"/>
              <a:t>số</a:t>
            </a:r>
            <a:r>
              <a:rPr lang="en-US" dirty="0"/>
              <a:t>. </a:t>
            </a:r>
            <a:r>
              <a:rPr lang="en-US" dirty="0" err="1"/>
              <a:t>Ví</a:t>
            </a:r>
            <a:r>
              <a:rPr lang="en-US" dirty="0"/>
              <a:t> </a:t>
            </a:r>
            <a:r>
              <a:rPr lang="en-US" dirty="0" err="1"/>
              <a:t>dụ</a:t>
            </a:r>
            <a:r>
              <a:rPr lang="en-US" dirty="0"/>
              <a:t>: </a:t>
            </a:r>
            <a:r>
              <a:rPr lang="en-US" dirty="0" err="1"/>
              <a:t>Số</a:t>
            </a:r>
            <a:r>
              <a:rPr lang="en-US" dirty="0"/>
              <a:t> 12562 thì </a:t>
            </a:r>
            <a:r>
              <a:rPr lang="en-US" dirty="0" err="1"/>
              <a:t>số</a:t>
            </a:r>
            <a:r>
              <a:rPr lang="en-US" dirty="0"/>
              <a:t> </a:t>
            </a:r>
            <a:r>
              <a:rPr lang="en-US" dirty="0" err="1"/>
              <a:t>đảo</a:t>
            </a:r>
            <a:r>
              <a:rPr lang="en-US" dirty="0"/>
              <a:t> </a:t>
            </a:r>
            <a:r>
              <a:rPr lang="en-US" dirty="0" err="1"/>
              <a:t>của</a:t>
            </a:r>
            <a:r>
              <a:rPr lang="en-US" dirty="0"/>
              <a:t> </a:t>
            </a:r>
            <a:r>
              <a:rPr lang="en-US" dirty="0" err="1"/>
              <a:t>nó</a:t>
            </a:r>
            <a:r>
              <a:rPr lang="en-US" dirty="0"/>
              <a:t> </a:t>
            </a:r>
            <a:r>
              <a:rPr lang="en-US" dirty="0" err="1"/>
              <a:t>sẽ</a:t>
            </a:r>
            <a:r>
              <a:rPr lang="en-US" dirty="0"/>
              <a:t> là 26521.</a:t>
            </a:r>
            <a:endParaRPr lang="vi-VN" dirty="0"/>
          </a:p>
          <a:p>
            <a:pPr marL="0" indent="0">
              <a:buNone/>
            </a:pPr>
            <a:r>
              <a:rPr lang="en-US" b="1" dirty="0" err="1"/>
              <a:t>Bài</a:t>
            </a:r>
            <a:r>
              <a:rPr lang="en-US" b="1" dirty="0"/>
              <a:t> 7.</a:t>
            </a:r>
            <a:r>
              <a:rPr lang="en-US" dirty="0"/>
              <a:t> </a:t>
            </a:r>
            <a:r>
              <a:rPr lang="en-US" dirty="0" err="1"/>
              <a:t>Viết</a:t>
            </a:r>
            <a:r>
              <a:rPr lang="en-US" dirty="0"/>
              <a:t> </a:t>
            </a:r>
            <a:r>
              <a:rPr lang="en-US" dirty="0" err="1"/>
              <a:t>hàm</a:t>
            </a:r>
            <a:r>
              <a:rPr lang="en-US" dirty="0"/>
              <a:t> </a:t>
            </a:r>
            <a:r>
              <a:rPr lang="en-US" dirty="0" err="1"/>
              <a:t>tính</a:t>
            </a:r>
            <a:r>
              <a:rPr lang="en-US" dirty="0"/>
              <a:t> </a:t>
            </a:r>
            <a:r>
              <a:rPr lang="en-US" dirty="0" err="1"/>
              <a:t>tổ</a:t>
            </a:r>
            <a:r>
              <a:rPr lang="en-US" dirty="0"/>
              <a:t> </a:t>
            </a:r>
            <a:r>
              <a:rPr lang="en-US" dirty="0" err="1"/>
              <a:t>hợp</a:t>
            </a:r>
            <a:r>
              <a:rPr lang="en-US" dirty="0"/>
              <a:t> </a:t>
            </a:r>
            <a:r>
              <a:rPr lang="en-US" dirty="0" err="1"/>
              <a:t>chập</a:t>
            </a:r>
            <a:r>
              <a:rPr lang="en-US" dirty="0"/>
              <a:t> k </a:t>
            </a:r>
            <a:r>
              <a:rPr lang="en-US" dirty="0" err="1"/>
              <a:t>của</a:t>
            </a:r>
            <a:r>
              <a:rPr lang="en-US" dirty="0"/>
              <a:t> n.</a:t>
            </a:r>
            <a:endParaRPr lang="vi-VN" dirty="0"/>
          </a:p>
          <a:p>
            <a:pPr marL="471487" lvl="1" indent="0">
              <a:buNone/>
            </a:pPr>
            <a:r>
              <a:rPr lang="en-US" dirty="0" err="1"/>
              <a:t>Trong</a:t>
            </a:r>
            <a:r>
              <a:rPr lang="en-US" dirty="0"/>
              <a:t> </a:t>
            </a:r>
            <a:r>
              <a:rPr lang="en-US" dirty="0" err="1"/>
              <a:t>đó</a:t>
            </a:r>
            <a:r>
              <a:rPr lang="en-US" dirty="0"/>
              <a:t>: </a:t>
            </a:r>
            <a:r>
              <a:rPr lang="en-US" dirty="0" err="1"/>
              <a:t>C</a:t>
            </a:r>
            <a:r>
              <a:rPr lang="en-US" baseline="30000" dirty="0" err="1"/>
              <a:t>k</a:t>
            </a:r>
            <a:r>
              <a:rPr lang="en-US" baseline="-25000" dirty="0" err="1"/>
              <a:t>n</a:t>
            </a:r>
            <a:r>
              <a:rPr lang="en-US" dirty="0"/>
              <a:t> = n!/(k!*(n-k)!)</a:t>
            </a:r>
            <a:endParaRPr lang="vi-VN" dirty="0"/>
          </a:p>
          <a:p>
            <a:pPr marL="0" indent="0">
              <a:buNone/>
            </a:pPr>
            <a:r>
              <a:rPr lang="en-US" b="1" dirty="0" err="1"/>
              <a:t>Bài</a:t>
            </a:r>
            <a:r>
              <a:rPr lang="en-US" b="1" dirty="0"/>
              <a:t> 8</a:t>
            </a:r>
            <a:r>
              <a:rPr lang="en-US" dirty="0"/>
              <a:t>. </a:t>
            </a:r>
            <a:r>
              <a:rPr lang="en-US" dirty="0" err="1"/>
              <a:t>Làm</a:t>
            </a:r>
            <a:r>
              <a:rPr lang="en-US" dirty="0"/>
              <a:t> </a:t>
            </a:r>
            <a:r>
              <a:rPr lang="en-US" dirty="0" err="1"/>
              <a:t>lại</a:t>
            </a:r>
            <a:r>
              <a:rPr lang="en-US" dirty="0"/>
              <a:t> </a:t>
            </a:r>
            <a:r>
              <a:rPr lang="en-US" dirty="0" err="1"/>
              <a:t>bài</a:t>
            </a:r>
            <a:r>
              <a:rPr lang="en-US" dirty="0"/>
              <a:t> </a:t>
            </a:r>
            <a:r>
              <a:rPr lang="en-US" dirty="0" err="1"/>
              <a:t>tập</a:t>
            </a:r>
            <a:r>
              <a:rPr lang="en-US" dirty="0"/>
              <a:t> 6 </a:t>
            </a:r>
            <a:r>
              <a:rPr lang="en-US" dirty="0" err="1"/>
              <a:t>với</a:t>
            </a:r>
            <a:r>
              <a:rPr lang="en-US" dirty="0"/>
              <a:t> </a:t>
            </a:r>
            <a:r>
              <a:rPr lang="en-US" dirty="0" err="1"/>
              <a:t>yêu</a:t>
            </a:r>
            <a:r>
              <a:rPr lang="en-US" dirty="0"/>
              <a:t> </a:t>
            </a:r>
            <a:r>
              <a:rPr lang="en-US" dirty="0" err="1"/>
              <a:t>cầu</a:t>
            </a:r>
            <a:r>
              <a:rPr lang="en-US" dirty="0"/>
              <a:t> </a:t>
            </a:r>
            <a:r>
              <a:rPr lang="en-US" dirty="0" err="1"/>
              <a:t>viết</a:t>
            </a:r>
            <a:r>
              <a:rPr lang="en-US" dirty="0"/>
              <a:t> </a:t>
            </a:r>
            <a:r>
              <a:rPr lang="en-US" dirty="0" err="1"/>
              <a:t>hàm</a:t>
            </a:r>
            <a:r>
              <a:rPr lang="en-US" dirty="0"/>
              <a:t> </a:t>
            </a:r>
            <a:r>
              <a:rPr lang="en-US" dirty="0" err="1"/>
              <a:t>dạng</a:t>
            </a:r>
            <a:r>
              <a:rPr lang="en-US" dirty="0"/>
              <a:t> </a:t>
            </a:r>
            <a:r>
              <a:rPr lang="en-US" dirty="0" err="1"/>
              <a:t>đệ</a:t>
            </a:r>
            <a:r>
              <a:rPr lang="en-US" dirty="0"/>
              <a:t> </a:t>
            </a:r>
            <a:r>
              <a:rPr lang="en-US" dirty="0" err="1"/>
              <a:t>quy</a:t>
            </a:r>
            <a:r>
              <a:rPr lang="en-US" dirty="0"/>
              <a:t>.</a:t>
            </a:r>
            <a:endParaRPr lang="vi-VN" dirty="0"/>
          </a:p>
          <a:p>
            <a:endParaRPr lang="vi-VN" dirty="0"/>
          </a:p>
        </p:txBody>
      </p:sp>
      <p:sp>
        <p:nvSpPr>
          <p:cNvPr id="4" name="Date Placeholder 3"/>
          <p:cNvSpPr>
            <a:spLocks noGrp="1"/>
          </p:cNvSpPr>
          <p:nvPr>
            <p:ph type="dt" sz="half" idx="10"/>
          </p:nvPr>
        </p:nvSpPr>
        <p:spPr/>
        <p:txBody>
          <a:bodyPr/>
          <a:lstStyle/>
          <a:p>
            <a:fld id="{F0652BA9-FC63-4AAA-9128-2448492AE0F8}"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8" name="Slide Number Placeholder 7"/>
          <p:cNvSpPr>
            <a:spLocks noGrp="1"/>
          </p:cNvSpPr>
          <p:nvPr>
            <p:ph type="sldNum" sz="quarter" idx="12"/>
          </p:nvPr>
        </p:nvSpPr>
        <p:spPr/>
        <p:txBody>
          <a:bodyPr/>
          <a:lstStyle/>
          <a:p>
            <a:fld id="{5AB95402-1E0D-474E-8D8C-CBE7F053639E}" type="slidenum">
              <a:rPr lang="vi-VN" smtClean="0"/>
              <a:pPr/>
              <a:t>42</a:t>
            </a:fld>
            <a:r>
              <a:rPr lang="vi-VN"/>
              <a:t>/43</a:t>
            </a:r>
          </a:p>
        </p:txBody>
      </p:sp>
    </p:spTree>
    <p:extLst>
      <p:ext uri="{BB962C8B-B14F-4D97-AF65-F5344CB8AC3E}">
        <p14:creationId xmlns:p14="http://schemas.microsoft.com/office/powerpoint/2010/main" val="24099679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tập thực hành (tt)</a:t>
            </a:r>
            <a:endParaRPr lang="vi-VN"/>
          </a:p>
        </p:txBody>
      </p:sp>
      <p:sp>
        <p:nvSpPr>
          <p:cNvPr id="3" name="Content Placeholder 2"/>
          <p:cNvSpPr>
            <a:spLocks noGrp="1"/>
          </p:cNvSpPr>
          <p:nvPr>
            <p:ph idx="1"/>
          </p:nvPr>
        </p:nvSpPr>
        <p:spPr/>
        <p:txBody>
          <a:bodyPr/>
          <a:lstStyle/>
          <a:p>
            <a:pPr marL="0" indent="0">
              <a:buNone/>
            </a:pPr>
            <a:r>
              <a:rPr lang="en-US" b="1"/>
              <a:t>Bài 9</a:t>
            </a:r>
            <a:r>
              <a:rPr lang="en-US"/>
              <a:t>. Viết hàm tính a</a:t>
            </a:r>
            <a:r>
              <a:rPr lang="en-US" baseline="30000"/>
              <a:t>n</a:t>
            </a:r>
            <a:r>
              <a:rPr lang="en-US"/>
              <a:t> với a kiểu số thực, n nguyên dương theo 2 cách:</a:t>
            </a:r>
            <a:endParaRPr lang="vi-VN"/>
          </a:p>
          <a:p>
            <a:pPr marL="471487" lvl="1" indent="0">
              <a:buNone/>
            </a:pPr>
            <a:r>
              <a:rPr lang="en-US"/>
              <a:t>a) Tính trực tiếp, không đệ quy.</a:t>
            </a:r>
            <a:endParaRPr lang="vi-VN"/>
          </a:p>
          <a:p>
            <a:pPr marL="471487" lvl="1" indent="0">
              <a:buNone/>
            </a:pPr>
            <a:r>
              <a:rPr lang="en-US"/>
              <a:t>b) Dùng đệ quy.</a:t>
            </a:r>
            <a:endParaRPr lang="vi-VN"/>
          </a:p>
          <a:p>
            <a:pPr marL="0" indent="0">
              <a:buNone/>
            </a:pPr>
            <a:r>
              <a:rPr lang="en-US" b="1"/>
              <a:t>Bài 10*</a:t>
            </a:r>
            <a:r>
              <a:rPr lang="en-US"/>
              <a:t>. Nhập vào từ bàn phím một số nguyên dương n (n&lt;10). Viết chương trình con in ra tất cả các hoán vị của dãy số 1 2 3…n</a:t>
            </a:r>
            <a:endParaRPr lang="vi-VN"/>
          </a:p>
          <a:p>
            <a:pPr marL="471487" lvl="1" indent="0">
              <a:buNone/>
            </a:pPr>
            <a:r>
              <a:rPr lang="en-US" b="1" i="1"/>
              <a:t>Ví dụ:</a:t>
            </a:r>
            <a:r>
              <a:rPr lang="en-US"/>
              <a:t> n = 3 thì in ra</a:t>
            </a:r>
            <a:endParaRPr lang="vi-VN" sz="2000">
              <a:latin typeface="Courier New" pitchFamily="49" charset="0"/>
              <a:cs typeface="Courier New" pitchFamily="49" charset="0"/>
            </a:endParaRPr>
          </a:p>
        </p:txBody>
      </p:sp>
      <p:sp>
        <p:nvSpPr>
          <p:cNvPr id="4" name="Date Placeholder 3"/>
          <p:cNvSpPr>
            <a:spLocks noGrp="1"/>
          </p:cNvSpPr>
          <p:nvPr>
            <p:ph type="dt" sz="half" idx="10"/>
          </p:nvPr>
        </p:nvSpPr>
        <p:spPr/>
        <p:txBody>
          <a:bodyPr/>
          <a:lstStyle/>
          <a:p>
            <a:fld id="{1D3A048E-027C-43CB-BC46-C6FB8208F4E2}" type="datetime1">
              <a:rPr lang="vi-VN" smtClean="0"/>
              <a:t>09/05/2023</a:t>
            </a:fld>
            <a:endParaRPr lang="vi-VN"/>
          </a:p>
        </p:txBody>
      </p:sp>
      <p:sp>
        <p:nvSpPr>
          <p:cNvPr id="5" name="Footer Placeholder 4"/>
          <p:cNvSpPr>
            <a:spLocks noGrp="1"/>
          </p:cNvSpPr>
          <p:nvPr>
            <p:ph type="ftr" sz="quarter" idx="11"/>
          </p:nvPr>
        </p:nvSpPr>
        <p:spPr/>
        <p:txBody>
          <a:bodyPr/>
          <a:lstStyle/>
          <a:p>
            <a:r>
              <a:rPr lang="vi-VN"/>
              <a:t>Chương 4 - Chương trình con</a:t>
            </a:r>
          </a:p>
        </p:txBody>
      </p:sp>
      <p:sp>
        <p:nvSpPr>
          <p:cNvPr id="7" name="Rectangle 6"/>
          <p:cNvSpPr/>
          <p:nvPr/>
        </p:nvSpPr>
        <p:spPr>
          <a:xfrm>
            <a:off x="4283968" y="4349683"/>
            <a:ext cx="1080120" cy="1938992"/>
          </a:xfrm>
          <a:prstGeom prst="rect">
            <a:avLst/>
          </a:prstGeom>
        </p:spPr>
        <p:txBody>
          <a:bodyPr wrap="square">
            <a:spAutoFit/>
          </a:bodyPr>
          <a:lstStyle/>
          <a:p>
            <a:pPr marL="115888" lvl="1" indent="-115888">
              <a:buNone/>
            </a:pPr>
            <a:r>
              <a:rPr lang="en-US" sz="2000">
                <a:latin typeface="Courier New" pitchFamily="49" charset="0"/>
                <a:cs typeface="Courier New" pitchFamily="49" charset="0"/>
              </a:rPr>
              <a:t>1 2 3</a:t>
            </a:r>
            <a:endParaRPr lang="vi-VN" sz="2000">
              <a:latin typeface="Courier New" pitchFamily="49" charset="0"/>
              <a:cs typeface="Courier New" pitchFamily="49" charset="0"/>
            </a:endParaRPr>
          </a:p>
          <a:p>
            <a:pPr marL="115888" lvl="1" indent="-115888">
              <a:buNone/>
            </a:pPr>
            <a:r>
              <a:rPr lang="en-US" sz="2000">
                <a:latin typeface="Courier New" pitchFamily="49" charset="0"/>
                <a:cs typeface="Courier New" pitchFamily="49" charset="0"/>
              </a:rPr>
              <a:t>1 3 2</a:t>
            </a:r>
            <a:endParaRPr lang="vi-VN" sz="2000">
              <a:latin typeface="Courier New" pitchFamily="49" charset="0"/>
              <a:cs typeface="Courier New" pitchFamily="49" charset="0"/>
            </a:endParaRPr>
          </a:p>
          <a:p>
            <a:pPr marL="115888" lvl="1" indent="-115888">
              <a:buNone/>
            </a:pPr>
            <a:r>
              <a:rPr lang="en-US" sz="2000">
                <a:latin typeface="Courier New" pitchFamily="49" charset="0"/>
                <a:cs typeface="Courier New" pitchFamily="49" charset="0"/>
              </a:rPr>
              <a:t>2 1 3</a:t>
            </a:r>
            <a:endParaRPr lang="vi-VN" sz="2000">
              <a:latin typeface="Courier New" pitchFamily="49" charset="0"/>
              <a:cs typeface="Courier New" pitchFamily="49" charset="0"/>
            </a:endParaRPr>
          </a:p>
          <a:p>
            <a:pPr marL="115888" lvl="1" indent="-115888">
              <a:buNone/>
            </a:pPr>
            <a:r>
              <a:rPr lang="en-US" sz="2000">
                <a:latin typeface="Courier New" pitchFamily="49" charset="0"/>
                <a:cs typeface="Courier New" pitchFamily="49" charset="0"/>
              </a:rPr>
              <a:t>2 3 1</a:t>
            </a:r>
            <a:endParaRPr lang="vi-VN" sz="2000">
              <a:latin typeface="Courier New" pitchFamily="49" charset="0"/>
              <a:cs typeface="Courier New" pitchFamily="49" charset="0"/>
            </a:endParaRPr>
          </a:p>
          <a:p>
            <a:pPr marL="115888" lvl="1" indent="-115888">
              <a:buNone/>
            </a:pPr>
            <a:r>
              <a:rPr lang="en-US" sz="2000">
                <a:latin typeface="Courier New" pitchFamily="49" charset="0"/>
                <a:cs typeface="Courier New" pitchFamily="49" charset="0"/>
              </a:rPr>
              <a:t>3 1 2</a:t>
            </a:r>
            <a:endParaRPr lang="vi-VN" sz="2000">
              <a:latin typeface="Courier New" pitchFamily="49" charset="0"/>
              <a:cs typeface="Courier New" pitchFamily="49" charset="0"/>
            </a:endParaRPr>
          </a:p>
          <a:p>
            <a:pPr marL="115888" lvl="1" indent="-115888">
              <a:buNone/>
            </a:pPr>
            <a:r>
              <a:rPr lang="en-US" sz="2000">
                <a:latin typeface="Courier New" pitchFamily="49" charset="0"/>
                <a:cs typeface="Courier New" pitchFamily="49" charset="0"/>
              </a:rPr>
              <a:t>3 2 1</a:t>
            </a:r>
            <a:endParaRPr lang="vi-VN" sz="2000">
              <a:latin typeface="Courier New" pitchFamily="49" charset="0"/>
              <a:cs typeface="Courier New" pitchFamily="49" charset="0"/>
            </a:endParaRPr>
          </a:p>
        </p:txBody>
      </p:sp>
      <p:sp>
        <p:nvSpPr>
          <p:cNvPr id="9" name="Slide Number Placeholder 8"/>
          <p:cNvSpPr>
            <a:spLocks noGrp="1"/>
          </p:cNvSpPr>
          <p:nvPr>
            <p:ph type="sldNum" sz="quarter" idx="12"/>
          </p:nvPr>
        </p:nvSpPr>
        <p:spPr/>
        <p:txBody>
          <a:bodyPr/>
          <a:lstStyle/>
          <a:p>
            <a:fld id="{5AB95402-1E0D-474E-8D8C-CBE7F053639E}" type="slidenum">
              <a:rPr lang="vi-VN" smtClean="0"/>
              <a:pPr/>
              <a:t>43</a:t>
            </a:fld>
            <a:r>
              <a:rPr lang="vi-VN"/>
              <a:t>/43</a:t>
            </a:r>
          </a:p>
        </p:txBody>
      </p:sp>
    </p:spTree>
    <p:extLst>
      <p:ext uri="{BB962C8B-B14F-4D97-AF65-F5344CB8AC3E}">
        <p14:creationId xmlns:p14="http://schemas.microsoft.com/office/powerpoint/2010/main" val="350163873"/>
      </p:ext>
    </p:extLst>
  </p:cSld>
  <p:clrMapOvr>
    <a:masterClrMapping/>
  </p:clrMapOvr>
</p:sld>
</file>

<file path=ppt/theme/theme1.xml><?xml version="1.0" encoding="utf-8"?>
<a:theme xmlns:a="http://schemas.openxmlformats.org/drawingml/2006/main" name="MM_Lec1">
  <a:themeElements>
    <a:clrScheme name="Custom 1">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92D050"/>
      </a:accent6>
      <a:hlink>
        <a:srgbClr val="336699"/>
      </a:hlink>
      <a:folHlink>
        <a:srgbClr val="003366"/>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C03-Cac cau truc dieu khien</Template>
  <TotalTime>67192</TotalTime>
  <Words>5039</Words>
  <Application>Microsoft Office PowerPoint</Application>
  <PresentationFormat>On-screen Show (4:3)</PresentationFormat>
  <Paragraphs>669</Paragraphs>
  <Slides>43</Slides>
  <Notes>23</Notes>
  <HiddenSlides>7</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Arial</vt:lpstr>
      <vt:lpstr>Calibri</vt:lpstr>
      <vt:lpstr>Courier New</vt:lpstr>
      <vt:lpstr>merriweather</vt:lpstr>
      <vt:lpstr>Muli</vt:lpstr>
      <vt:lpstr>Tahoma</vt:lpstr>
      <vt:lpstr>Times New Roman</vt:lpstr>
      <vt:lpstr>Verdana</vt:lpstr>
      <vt:lpstr>Wingdings</vt:lpstr>
      <vt:lpstr>MM_Lec1</vt:lpstr>
      <vt:lpstr>Chương 4 CHƯƠNG TRÌNH CON</vt:lpstr>
      <vt:lpstr>Đặt vấn đề</vt:lpstr>
      <vt:lpstr>Đặt vấn đề</vt:lpstr>
      <vt:lpstr>Đặt vấn đề</vt:lpstr>
      <vt:lpstr>Đặt vấn đề</vt:lpstr>
      <vt:lpstr>4.1 Khái niệm</vt:lpstr>
      <vt:lpstr>4.1 Khái niệm (tt)</vt:lpstr>
      <vt:lpstr>4.2 Cách xây dựng hàm</vt:lpstr>
      <vt:lpstr>Các bước viết hàm</vt:lpstr>
      <vt:lpstr>Ví dụ về hàm</vt:lpstr>
      <vt:lpstr>Ví dụ về hàm (tt)</vt:lpstr>
      <vt:lpstr>Ví dụ về hàm (tt)</vt:lpstr>
      <vt:lpstr>Một số quy tắc</vt:lpstr>
      <vt:lpstr>Một số quy tắc (tt)</vt:lpstr>
      <vt:lpstr>Một số quy tắc (tt)</vt:lpstr>
      <vt:lpstr>Một số quy tắc (tt)</vt:lpstr>
      <vt:lpstr>Một số ví dụ</vt:lpstr>
      <vt:lpstr>Một số ví dụ (tt)</vt:lpstr>
      <vt:lpstr>4.3 Tầm tác dụng của biến</vt:lpstr>
      <vt:lpstr>Tầm tác dụng của biến</vt:lpstr>
      <vt:lpstr>Tầm tác dụng của biến</vt:lpstr>
      <vt:lpstr>Chú ý</vt:lpstr>
      <vt:lpstr>4.4 Truyền tham số cho hàm</vt:lpstr>
      <vt:lpstr>Truyền tham số cho hàm</vt:lpstr>
      <vt:lpstr>Truyền tham số cho hàm</vt:lpstr>
      <vt:lpstr>Lưu ý khi truyền đối số</vt:lpstr>
      <vt:lpstr>Lời gọi hàm</vt:lpstr>
      <vt:lpstr>4.5 Hàm đệ quy</vt:lpstr>
      <vt:lpstr>Cấu trúc hàm đệ quy</vt:lpstr>
      <vt:lpstr>Ví dụ hàm đệ quy</vt:lpstr>
      <vt:lpstr>Ví dụ hàm đệ quy (tt)</vt:lpstr>
      <vt:lpstr>Bài toán tháp Hà Nội</vt:lpstr>
      <vt:lpstr>Bài toán tháp Hà Nội (tt)</vt:lpstr>
      <vt:lpstr>Bài toán tháp Hà Nội (tt)</vt:lpstr>
      <vt:lpstr>4.6 Một số hàm thông dụng</vt:lpstr>
      <vt:lpstr>Một số hàm thông dụng (tt)</vt:lpstr>
      <vt:lpstr>Một số hàm thông dụng (tt)</vt:lpstr>
      <vt:lpstr>Một số hàm thông dụng (tt)</vt:lpstr>
      <vt:lpstr>Một số hàm thông dụng (tt)</vt:lpstr>
      <vt:lpstr>Một số hàm thông dụng (tt)</vt:lpstr>
      <vt:lpstr>Bài tập thực hành</vt:lpstr>
      <vt:lpstr>Bài tập thực hành (tt)</vt:lpstr>
      <vt:lpstr>Bài tập thực hành (tt)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1</dc:title>
  <dc:creator>Quy Tai</dc:creator>
  <cp:lastModifiedBy>Le Cam Tu</cp:lastModifiedBy>
  <cp:revision>152</cp:revision>
  <dcterms:created xsi:type="dcterms:W3CDTF">2011-07-17T01:46:34Z</dcterms:created>
  <dcterms:modified xsi:type="dcterms:W3CDTF">2023-05-09T06:25:17Z</dcterms:modified>
</cp:coreProperties>
</file>