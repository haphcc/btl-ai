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  <p:sldId id="264" r:id="rId9"/>
    <p:sldId id="261" r:id="rId10"/>
  </p:sldIdLst>
  <p:sldSz cx="9144000" cy="6858000" type="screen4x3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DFB85"/>
    <a:srgbClr val="000066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642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59136-7F74-4509-B20E-AE351757F38F}" type="datetimeFigureOut">
              <a:rPr lang="vi-VN" smtClean="0"/>
              <a:t>14/01/2024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A7600A-770C-47F1-89C1-5023B6D362E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75374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4"/>
          <p:cNvSpPr>
            <a:spLocks noChangeArrowheads="1"/>
          </p:cNvSpPr>
          <p:nvPr/>
        </p:nvSpPr>
        <p:spPr bwMode="auto">
          <a:xfrm>
            <a:off x="1066800" y="3581400"/>
            <a:ext cx="7543800" cy="76200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2857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vi-VN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66800" y="2590800"/>
            <a:ext cx="7620000" cy="990600"/>
          </a:xfrm>
        </p:spPr>
        <p:txBody>
          <a:bodyPr/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4495800"/>
            <a:ext cx="7010400" cy="990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200"/>
            </a:lvl1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fld id="{AC463EEC-FA64-49BF-8F92-35D60C89307C}" type="datetime1">
              <a:rPr lang="vi-VN" smtClean="0"/>
              <a:t>14/01/2024</a:t>
            </a:fld>
            <a:endParaRPr lang="vi-V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643188" y="6248400"/>
            <a:ext cx="4357687" cy="457200"/>
          </a:xfrm>
        </p:spPr>
        <p:txBody>
          <a:bodyPr/>
          <a:lstStyle>
            <a:lvl1pPr>
              <a:defRPr smtClean="0"/>
            </a:lvl1pPr>
          </a:lstStyle>
          <a:p>
            <a:r>
              <a:rPr lang="vi-VN"/>
              <a:t>Giới thiệu môn học</a:t>
            </a: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15188" y="6248400"/>
            <a:ext cx="1243012" cy="457200"/>
          </a:xfrm>
        </p:spPr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t>‹#›</a:t>
            </a:fld>
            <a:endParaRPr lang="vi-VN"/>
          </a:p>
        </p:txBody>
      </p:sp>
      <p:pic>
        <p:nvPicPr>
          <p:cNvPr id="9" name="Content Placeholder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36" b="29726"/>
          <a:stretch/>
        </p:blipFill>
        <p:spPr bwMode="auto">
          <a:xfrm>
            <a:off x="0" y="2153"/>
            <a:ext cx="9144000" cy="1561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logo_hvnh"/>
          <p:cNvPicPr>
            <a:picLocks noChangeAspect="1" noChangeArrowheads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2000" contrast="20000"/>
          </a:blip>
          <a:srcRect/>
          <a:stretch>
            <a:fillRect/>
          </a:stretch>
        </p:blipFill>
        <p:spPr bwMode="auto">
          <a:xfrm>
            <a:off x="4153373" y="1772816"/>
            <a:ext cx="908826" cy="908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61499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defRPr sz="2800"/>
            </a:lvl1pPr>
            <a:lvl2pPr algn="just">
              <a:defRPr sz="2400">
                <a:solidFill>
                  <a:srgbClr val="0000FF"/>
                </a:solidFill>
              </a:defRPr>
            </a:lvl2pPr>
            <a:lvl3pPr algn="just">
              <a:defRPr sz="2000">
                <a:solidFill>
                  <a:srgbClr val="002060"/>
                </a:solidFill>
              </a:defRPr>
            </a:lvl3pPr>
            <a:lvl4pPr algn="just">
              <a:defRPr sz="1800">
                <a:solidFill>
                  <a:srgbClr val="000066"/>
                </a:solidFill>
              </a:defRPr>
            </a:lvl4pPr>
            <a:lvl5pPr algn="just">
              <a:defRPr sz="18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EBE5FD-0AE3-464C-9069-274FDB5571FC}" type="datetime1">
              <a:rPr lang="vi-VN" smtClean="0"/>
              <a:t>14/01/2024</a:t>
            </a:fld>
            <a:endParaRPr lang="vi-V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vi-VN"/>
              <a:t>Giới thiệu môn học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pPr/>
              <a:t>‹#›</a:t>
            </a:fld>
            <a:r>
              <a:rPr lang="vi-VN"/>
              <a:t>/9</a:t>
            </a:r>
          </a:p>
        </p:txBody>
      </p:sp>
    </p:spTree>
    <p:extLst>
      <p:ext uri="{BB962C8B-B14F-4D97-AF65-F5344CB8AC3E}">
        <p14:creationId xmlns:p14="http://schemas.microsoft.com/office/powerpoint/2010/main" val="683437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8D57CEAE-36C3-4769-9CCB-8A2EBCC6E4F3}" type="datetime1">
              <a:rPr lang="vi-VN" smtClean="0"/>
              <a:t>14/01/2024</a:t>
            </a:fld>
            <a:endParaRPr lang="vi-V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Giới thiệu môn học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5AB95402-1E0D-474E-8D8C-CBE7F05363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00836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143000"/>
            <a:ext cx="38862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143000"/>
            <a:ext cx="38862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B8FAB9BB-D999-4E7D-AC17-8CE1A01FDFDB}" type="datetime1">
              <a:rPr lang="vi-VN" smtClean="0"/>
              <a:t>14/01/2024</a:t>
            </a:fld>
            <a:endParaRPr lang="vi-V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Giới thiệu môn học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5AB95402-1E0D-474E-8D8C-CBE7F05363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80798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61346AE0-6214-48F3-B970-D8B95E39CA31}" type="datetime1">
              <a:rPr lang="vi-VN" smtClean="0"/>
              <a:t>14/01/2024</a:t>
            </a:fld>
            <a:endParaRPr lang="vi-VN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Giới thiệu môn học</a:t>
            </a:r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13033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3123E3E2-8C7E-451A-91C4-7A364BCAC1A4}" type="datetime1">
              <a:rPr lang="vi-VN" smtClean="0"/>
              <a:t>14/01/2024</a:t>
            </a:fld>
            <a:endParaRPr lang="vi-V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Giới thiệu môn học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27284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654D9B55-76C2-4E76-A6ED-6CF69DDD9593}" type="datetime1">
              <a:rPr lang="vi-VN" smtClean="0"/>
              <a:t>14/01/2024</a:t>
            </a:fld>
            <a:endParaRPr lang="vi-V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Giới thiệu môn học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62973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D46EBB03-49F8-4375-93D7-77CC3A7B6E75}" type="datetime1">
              <a:rPr lang="vi-VN" smtClean="0"/>
              <a:t>14/01/2024</a:t>
            </a:fld>
            <a:endParaRPr lang="vi-V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Giới thiệu môn học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64103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579E68A1-095B-4DF5-90B0-B698F749FA37}" type="datetime1">
              <a:rPr lang="vi-VN" smtClean="0"/>
              <a:t>14/01/2024</a:t>
            </a:fld>
            <a:endParaRPr lang="vi-V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Giới thiệu môn học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40676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38B4D97F-2A86-4925-A290-F4200887C019}" type="datetime1">
              <a:rPr lang="vi-VN" smtClean="0"/>
              <a:t>14/01/2024</a:t>
            </a:fld>
            <a:endParaRPr lang="vi-V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Giới thiệu môn học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47551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304800"/>
            <a:ext cx="2095500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134100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4CE5F55B-8746-429A-BF07-368780078FD8}" type="datetime1">
              <a:rPr lang="vi-VN" smtClean="0"/>
              <a:t>14/01/2024</a:t>
            </a:fld>
            <a:endParaRPr lang="vi-V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r>
              <a:rPr lang="vi-VN"/>
              <a:t>Giới thiệu môn học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B95402-1E0D-474E-8D8C-CBE7F053639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55855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04800"/>
            <a:ext cx="8382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143000"/>
            <a:ext cx="7924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457200" y="990600"/>
            <a:ext cx="8382000" cy="76200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1905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vi-VN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381000" y="6400800"/>
            <a:ext cx="8534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vi-VN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400800"/>
            <a:ext cx="19812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cs typeface="Arial" charset="0"/>
              </a:defRPr>
            </a:lvl1pPr>
          </a:lstStyle>
          <a:p>
            <a:fld id="{5505F2D5-AF6F-40E3-9CE8-836D8ECB1D0D}" type="datetime1">
              <a:rPr lang="vi-VN" smtClean="0"/>
              <a:t>14/01/2024</a:t>
            </a:fld>
            <a:endParaRPr lang="vi-V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67000" y="6400800"/>
            <a:ext cx="39624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 smtClean="0">
                <a:cs typeface="Arial" charset="0"/>
              </a:defRPr>
            </a:lvl1pPr>
          </a:lstStyle>
          <a:p>
            <a:r>
              <a:rPr lang="vi-VN"/>
              <a:t>Giới thiệu môn học</a:t>
            </a:r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400800"/>
            <a:ext cx="19812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cs typeface="Arial" charset="0"/>
              </a:defRPr>
            </a:lvl1pPr>
          </a:lstStyle>
          <a:p>
            <a:fld id="{5AB95402-1E0D-474E-8D8C-CBE7F053639E}" type="slidenum">
              <a:rPr lang="vi-VN" smtClean="0"/>
              <a:pPr/>
              <a:t>‹#›</a:t>
            </a:fld>
            <a:endParaRPr lang="vi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400">
          <a:solidFill>
            <a:schemeClr val="folHlink"/>
          </a:solidFill>
          <a:latin typeface="Arial" charset="0"/>
          <a:cs typeface="Arial" charset="0"/>
        </a:defRPr>
      </a:lvl9pPr>
    </p:titleStyle>
    <p:bodyStyle>
      <a:lvl1pPr marL="469900" indent="-469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lang="en-GB" sz="2800" smtClean="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n"/>
        <a:defRPr lang="en-GB" sz="2400" smtClean="0">
          <a:solidFill>
            <a:srgbClr val="0000FF"/>
          </a:solidFill>
          <a:latin typeface="+mn-lt"/>
          <a:cs typeface="+mn-cs"/>
        </a:defRPr>
      </a:lvl2pPr>
      <a:lvl3pPr marL="1304925" indent="-395288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o"/>
        <a:defRPr lang="en-GB" sz="2000" smtClean="0">
          <a:solidFill>
            <a:srgbClr val="002060"/>
          </a:solidFill>
          <a:latin typeface="+mn-lt"/>
          <a:cs typeface="+mn-cs"/>
        </a:defRPr>
      </a:lvl3pPr>
      <a:lvl4pPr marL="1693863" indent="-387350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n"/>
        <a:defRPr lang="en-GB" sz="1800" smtClean="0">
          <a:solidFill>
            <a:srgbClr val="000066"/>
          </a:solidFill>
          <a:latin typeface="+mn-lt"/>
          <a:cs typeface="+mn-cs"/>
        </a:defRPr>
      </a:lvl4pPr>
      <a:lvl5pPr marL="2093913" indent="-398463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400">
          <a:solidFill>
            <a:schemeClr val="accent2"/>
          </a:solidFill>
          <a:latin typeface="Tahoma" pitchFamily="34" charset="0"/>
          <a:cs typeface="+mn-cs"/>
        </a:defRPr>
      </a:lvl5pPr>
      <a:lvl6pPr marL="2551113" indent="-398463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400">
          <a:solidFill>
            <a:schemeClr val="accent2"/>
          </a:solidFill>
          <a:latin typeface="Tahoma" pitchFamily="34" charset="0"/>
          <a:cs typeface="+mn-cs"/>
        </a:defRPr>
      </a:lvl6pPr>
      <a:lvl7pPr marL="3008313" indent="-398463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400">
          <a:solidFill>
            <a:schemeClr val="accent2"/>
          </a:solidFill>
          <a:latin typeface="Tahoma" pitchFamily="34" charset="0"/>
          <a:cs typeface="+mn-cs"/>
        </a:defRPr>
      </a:lvl7pPr>
      <a:lvl8pPr marL="3465513" indent="-398463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400">
          <a:solidFill>
            <a:schemeClr val="accent2"/>
          </a:solidFill>
          <a:latin typeface="Tahoma" pitchFamily="34" charset="0"/>
          <a:cs typeface="+mn-cs"/>
        </a:defRPr>
      </a:lvl8pPr>
      <a:lvl9pPr marL="3922713" indent="-398463" algn="l" rtl="0" eaLnBrk="1" fontAlgn="base" hangingPunct="1">
        <a:spcBef>
          <a:spcPct val="1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1400">
          <a:solidFill>
            <a:schemeClr val="accent2"/>
          </a:solidFill>
          <a:latin typeface="Tahoma" pitchFamily="34" charset="0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lecamtu1983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effectLst>
            <a:reflection blurRad="6350" stA="52000" endA="300" endPos="35000" dir="5400000" sy="-100000" algn="bl" rotWithShape="0"/>
          </a:effectLst>
        </p:spPr>
        <p:txBody>
          <a:bodyPr/>
          <a:lstStyle/>
          <a:p>
            <a:pPr algn="ctr"/>
            <a:r>
              <a:rPr lang="en-US" sz="440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CƠ SỞ LẬP TRÌNH </a:t>
            </a:r>
            <a:endParaRPr lang="vi-VN" sz="440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495800"/>
            <a:ext cx="7010400" cy="1021432"/>
          </a:xfrm>
        </p:spPr>
        <p:txBody>
          <a:bodyPr/>
          <a:lstStyle/>
          <a:p>
            <a:r>
              <a:rPr lang="en-US"/>
              <a:t>Lê Cẩm Tú</a:t>
            </a:r>
          </a:p>
          <a:p>
            <a:r>
              <a:rPr lang="en-US" sz="2000">
                <a:latin typeface="Courier New" pitchFamily="49" charset="0"/>
                <a:cs typeface="Courier New" pitchFamily="49" charset="0"/>
                <a:hlinkClick r:id="rId2"/>
              </a:rPr>
              <a:t>lecamtu1983@gmail.com</a:t>
            </a:r>
            <a:endParaRPr lang="en-US" sz="2000">
              <a:latin typeface="Courier New" pitchFamily="49" charset="0"/>
              <a:cs typeface="Courier New" pitchFamily="49" charset="0"/>
            </a:endParaRPr>
          </a:p>
          <a:p>
            <a:r>
              <a:rPr lang="en-US" sz="2000">
                <a:latin typeface="Courier New" pitchFamily="49" charset="0"/>
                <a:cs typeface="Courier New" pitchFamily="49" charset="0"/>
              </a:rPr>
              <a:t>098 890 4042</a:t>
            </a:r>
          </a:p>
          <a:p>
            <a:endParaRPr lang="en-US" sz="200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491880" y="6237312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Hà</a:t>
            </a:r>
            <a:r>
              <a:rPr lang="en-US" sz="2400" dirty="0"/>
              <a:t> </a:t>
            </a:r>
            <a:r>
              <a:rPr lang="en-US" sz="2400" dirty="0" err="1"/>
              <a:t>Nội</a:t>
            </a:r>
            <a:r>
              <a:rPr lang="en-US" sz="2400" dirty="0"/>
              <a:t> </a:t>
            </a:r>
            <a:r>
              <a:rPr lang="en-US" sz="2400"/>
              <a:t>– 2024</a:t>
            </a:r>
            <a:endParaRPr lang="vi-VN" sz="2400" dirty="0"/>
          </a:p>
        </p:txBody>
      </p:sp>
    </p:spTree>
    <p:extLst>
      <p:ext uri="{BB962C8B-B14F-4D97-AF65-F5344CB8AC3E}">
        <p14:creationId xmlns:p14="http://schemas.microsoft.com/office/powerpoint/2010/main" val="1669634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Giới thiệu môn học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Số tín chỉ: 3</a:t>
            </a:r>
          </a:p>
          <a:p>
            <a:r>
              <a:rPr lang="vi-VN" dirty="0"/>
              <a:t>Thời gian:</a:t>
            </a:r>
          </a:p>
          <a:p>
            <a:pPr lvl="1"/>
            <a:r>
              <a:rPr lang="vi-VN" dirty="0"/>
              <a:t>Lý thuyết: 60%</a:t>
            </a:r>
          </a:p>
          <a:p>
            <a:pPr lvl="1"/>
            <a:r>
              <a:rPr lang="vi-VN" dirty="0"/>
              <a:t>Thực hành, thảo luận: 40%</a:t>
            </a:r>
          </a:p>
          <a:p>
            <a:pPr lvl="1"/>
            <a:r>
              <a:rPr lang="vi-VN" dirty="0"/>
              <a:t>Tự học: 200%</a:t>
            </a:r>
          </a:p>
          <a:p>
            <a:r>
              <a:rPr lang="vi-VN" dirty="0"/>
              <a:t>Đánh giá</a:t>
            </a:r>
          </a:p>
          <a:p>
            <a:pPr lvl="1"/>
            <a:r>
              <a:rPr lang="vi-VN" dirty="0"/>
              <a:t>Kiểm tra giữa kì: 30% </a:t>
            </a:r>
          </a:p>
          <a:p>
            <a:pPr lvl="2"/>
            <a:r>
              <a:rPr lang="en-US" dirty="0"/>
              <a:t>01 </a:t>
            </a:r>
            <a:r>
              <a:rPr lang="en-US" dirty="0" err="1"/>
              <a:t>bài</a:t>
            </a:r>
            <a:r>
              <a:rPr lang="en-US" dirty="0"/>
              <a:t> t</a:t>
            </a:r>
            <a:r>
              <a:rPr lang="vi-VN" dirty="0"/>
              <a:t>hực hành trên máy</a:t>
            </a:r>
            <a:endParaRPr lang="en-US" dirty="0"/>
          </a:p>
          <a:p>
            <a:pPr lvl="2"/>
            <a:r>
              <a:rPr lang="en-US" dirty="0"/>
              <a:t>01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trắc</a:t>
            </a:r>
            <a:r>
              <a:rPr lang="en-US" dirty="0"/>
              <a:t> </a:t>
            </a:r>
            <a:r>
              <a:rPr lang="en-US" dirty="0" err="1"/>
              <a:t>nghiệm</a:t>
            </a:r>
            <a:endParaRPr lang="vi-VN" dirty="0"/>
          </a:p>
          <a:p>
            <a:pPr lvl="1"/>
            <a:r>
              <a:rPr lang="vi-VN" dirty="0"/>
              <a:t>Chuyên cần: 10%</a:t>
            </a:r>
          </a:p>
          <a:p>
            <a:pPr lvl="1"/>
            <a:r>
              <a:rPr lang="vi-VN" dirty="0"/>
              <a:t>Thi cuối kì: 60%</a:t>
            </a:r>
            <a:endParaRPr lang="en-US" dirty="0"/>
          </a:p>
          <a:p>
            <a:endParaRPr lang="vi-V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E7A9A-F084-4EDB-84F3-152C317E8AEA}" type="datetime1">
              <a:rPr lang="vi-VN" smtClean="0"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môn học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2</a:t>
            </a:fld>
            <a:r>
              <a:rPr lang="vi-VN"/>
              <a:t>/9</a:t>
            </a:r>
          </a:p>
        </p:txBody>
      </p:sp>
    </p:spTree>
    <p:extLst>
      <p:ext uri="{BB962C8B-B14F-4D97-AF65-F5344CB8AC3E}">
        <p14:creationId xmlns:p14="http://schemas.microsoft.com/office/powerpoint/2010/main" val="1821982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Giới thiệu môn học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Mục tiêu của học phần</a:t>
            </a:r>
          </a:p>
          <a:p>
            <a:pPr lvl="1" algn="just"/>
            <a:r>
              <a:rPr lang="en-US"/>
              <a:t>Về lý thuyết: Trang bị những khái niệm cơ bản về lập trình, hình thành và nâng cao tư duy thuật toán cho sinh viên.</a:t>
            </a:r>
          </a:p>
          <a:p>
            <a:pPr lvl="1" algn="just"/>
            <a:r>
              <a:rPr lang="en-US"/>
              <a:t>Về kĩ năng: Trang bị những kĩ năng lập trình cơ bản trên ngôn ngữ lập trình C.</a:t>
            </a:r>
          </a:p>
          <a:p>
            <a:r>
              <a:rPr lang="en-US"/>
              <a:t>Tài liệu tham khảo</a:t>
            </a:r>
          </a:p>
          <a:p>
            <a:pPr lvl="1"/>
            <a:r>
              <a:rPr lang="vi-VN"/>
              <a:t>Phạm Văn Ất (2009), </a:t>
            </a:r>
            <a:r>
              <a:rPr lang="vi-VN" i="1"/>
              <a:t>Giáo trình kỹ thuật lập trình C căn bản và nâng cao</a:t>
            </a:r>
            <a:r>
              <a:rPr lang="vi-VN"/>
              <a:t>, NXB Hồng Đức</a:t>
            </a:r>
          </a:p>
          <a:p>
            <a:pPr lvl="1"/>
            <a:r>
              <a:rPr lang="vi-VN"/>
              <a:t>Quách Tuấn Ngọc (1998), </a:t>
            </a:r>
            <a:r>
              <a:rPr lang="vi-VN" i="1"/>
              <a:t>Ngôn ngữ lập trình C</a:t>
            </a:r>
            <a:r>
              <a:rPr lang="vi-VN"/>
              <a:t>, NXB Giáo dục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FAEC5-C20F-4769-83EE-D75E0295E8C8}" type="datetime1">
              <a:rPr lang="vi-VN" smtClean="0"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môn học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3</a:t>
            </a:fld>
            <a:r>
              <a:rPr lang="vi-VN"/>
              <a:t>/9</a:t>
            </a:r>
          </a:p>
        </p:txBody>
      </p:sp>
    </p:spTree>
    <p:extLst>
      <p:ext uri="{BB962C8B-B14F-4D97-AF65-F5344CB8AC3E}">
        <p14:creationId xmlns:p14="http://schemas.microsoft.com/office/powerpoint/2010/main" val="1343452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Yêu cầu đối với học viên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Tham dự  các buổi  học trên lớp</a:t>
            </a:r>
          </a:p>
          <a:p>
            <a:pPr lvl="0"/>
            <a:r>
              <a:rPr lang="vi-VN"/>
              <a:t>Đọc, nghiên cứu giáo trình, tài liệu tham khảo</a:t>
            </a:r>
          </a:p>
          <a:p>
            <a:pPr lvl="0"/>
            <a:r>
              <a:rPr lang="vi-VN"/>
              <a:t>Tham gia thảo luận trên lớp  </a:t>
            </a:r>
          </a:p>
          <a:p>
            <a:pPr lvl="0"/>
            <a:r>
              <a:rPr lang="vi-VN"/>
              <a:t>Làm bài tập từng chương </a:t>
            </a:r>
          </a:p>
          <a:p>
            <a:r>
              <a:rPr lang="vi-VN"/>
              <a:t>Thực hành tại Phòng máy tính</a:t>
            </a:r>
          </a:p>
          <a:p>
            <a:r>
              <a:rPr lang="en-US"/>
              <a:t>Có ý thức tổ chức, kỷ luật theo quy định của trường, lớp và của giảng viên phụ trách.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BED41-5BAF-4459-85D0-9C764B983BCB}" type="datetime1">
              <a:rPr lang="vi-VN" smtClean="0"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môn học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4</a:t>
            </a:fld>
            <a:r>
              <a:rPr lang="vi-VN"/>
              <a:t>/9</a:t>
            </a:r>
          </a:p>
        </p:txBody>
      </p:sp>
    </p:spTree>
    <p:extLst>
      <p:ext uri="{BB962C8B-B14F-4D97-AF65-F5344CB8AC3E}">
        <p14:creationId xmlns:p14="http://schemas.microsoft.com/office/powerpoint/2010/main" val="1082791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Chương 1: Các khái niệm cơ bản về lập trình</a:t>
            </a:r>
          </a:p>
          <a:p>
            <a:pPr lvl="1"/>
            <a:r>
              <a:rPr lang="en-US"/>
              <a:t>Các khái niệm cơ bản về lập trình</a:t>
            </a:r>
          </a:p>
          <a:p>
            <a:pPr lvl="1"/>
            <a:r>
              <a:rPr lang="en-US"/>
              <a:t>Các bước xây dựng một chương trình</a:t>
            </a:r>
          </a:p>
          <a:p>
            <a:pPr lvl="1"/>
            <a:r>
              <a:rPr lang="en-US"/>
              <a:t>Thuật toán và cách biểu diễn thuật toán</a:t>
            </a:r>
          </a:p>
          <a:p>
            <a:r>
              <a:rPr lang="en-US"/>
              <a:t>Chương 2: Các phần tử cơ bản của NNLT C</a:t>
            </a:r>
          </a:p>
          <a:p>
            <a:pPr lvl="1"/>
            <a:r>
              <a:rPr lang="en-US"/>
              <a:t>Bộ ký tự/Từ khoá/Tên</a:t>
            </a:r>
          </a:p>
          <a:p>
            <a:pPr lvl="1"/>
            <a:r>
              <a:rPr lang="en-US"/>
              <a:t>Cấu trúc chung của chương trình</a:t>
            </a:r>
          </a:p>
          <a:p>
            <a:pPr lvl="1"/>
            <a:r>
              <a:rPr lang="en-US"/>
              <a:t>Các kiểu dữ liệu cơ sở</a:t>
            </a:r>
          </a:p>
          <a:p>
            <a:pPr lvl="1"/>
            <a:r>
              <a:rPr lang="en-US"/>
              <a:t>Biểu thức/ Câu lệnh</a:t>
            </a:r>
          </a:p>
          <a:p>
            <a:pPr lvl="1"/>
            <a:r>
              <a:rPr lang="en-US"/>
              <a:t>Vào – ra dữ liệu trong C</a:t>
            </a:r>
          </a:p>
          <a:p>
            <a:pPr lvl="1"/>
            <a:r>
              <a:rPr lang="en-US"/>
              <a:t>Môi trường làm việc C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21216-3B7A-4D9F-A76B-ACBCD1D9D64D}" type="datetime1">
              <a:rPr lang="vi-VN" smtClean="0"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môn học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5</a:t>
            </a:fld>
            <a:r>
              <a:rPr lang="vi-VN"/>
              <a:t>/9</a:t>
            </a:r>
          </a:p>
        </p:txBody>
      </p:sp>
    </p:spTree>
    <p:extLst>
      <p:ext uri="{BB962C8B-B14F-4D97-AF65-F5344CB8AC3E}">
        <p14:creationId xmlns:p14="http://schemas.microsoft.com/office/powerpoint/2010/main" val="2879098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Chương 3: Các cấu trúc điều khiển</a:t>
            </a:r>
          </a:p>
          <a:p>
            <a:pPr lvl="1"/>
            <a:r>
              <a:rPr lang="en-US"/>
              <a:t>Cấu trúc rẽ nhánh (If, switch)</a:t>
            </a:r>
          </a:p>
          <a:p>
            <a:pPr lvl="1"/>
            <a:r>
              <a:rPr lang="en-US"/>
              <a:t>Cấu trúc lặp (while, do…while, for)</a:t>
            </a:r>
          </a:p>
          <a:p>
            <a:pPr lvl="1"/>
            <a:r>
              <a:rPr lang="en-US"/>
              <a:t>Các lệnh nhảy (goto, break…)</a:t>
            </a:r>
          </a:p>
          <a:p>
            <a:r>
              <a:rPr lang="en-US"/>
              <a:t>Chương 4: Chương trình con</a:t>
            </a:r>
          </a:p>
          <a:p>
            <a:pPr lvl="1"/>
            <a:r>
              <a:rPr lang="en-US"/>
              <a:t>Khái niệm về chương trình con</a:t>
            </a:r>
          </a:p>
          <a:p>
            <a:pPr lvl="1"/>
            <a:r>
              <a:rPr lang="en-US"/>
              <a:t>Cách xây dựng hàm</a:t>
            </a:r>
          </a:p>
          <a:p>
            <a:pPr lvl="1"/>
            <a:r>
              <a:rPr lang="en-US"/>
              <a:t>Tham số và truyền tham số cho hàm</a:t>
            </a:r>
          </a:p>
          <a:p>
            <a:pPr lvl="1"/>
            <a:r>
              <a:rPr lang="en-US"/>
              <a:t>Hàm đệ quy</a:t>
            </a:r>
          </a:p>
          <a:p>
            <a:pPr lvl="1"/>
            <a:r>
              <a:rPr lang="en-US"/>
              <a:t>Một số hàm thông dụng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CA312-A135-4FD8-99B6-95B1B3D4C7DA}" type="datetime1">
              <a:rPr lang="vi-VN" smtClean="0"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môn học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6</a:t>
            </a:fld>
            <a:r>
              <a:rPr lang="vi-VN"/>
              <a:t>/9</a:t>
            </a:r>
          </a:p>
        </p:txBody>
      </p:sp>
    </p:spTree>
    <p:extLst>
      <p:ext uri="{BB962C8B-B14F-4D97-AF65-F5344CB8AC3E}">
        <p14:creationId xmlns:p14="http://schemas.microsoft.com/office/powerpoint/2010/main" val="3560192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Chương 5: Kiểu dữ liệu mảng</a:t>
            </a:r>
          </a:p>
          <a:p>
            <a:pPr lvl="1"/>
            <a:r>
              <a:rPr lang="en-US"/>
              <a:t>Mảng một chiều</a:t>
            </a:r>
          </a:p>
          <a:p>
            <a:pPr lvl="1"/>
            <a:r>
              <a:rPr lang="en-US"/>
              <a:t>Mảng nhiều chiều</a:t>
            </a:r>
          </a:p>
          <a:p>
            <a:r>
              <a:rPr lang="en-US"/>
              <a:t>Chương 6: Kiểu con trỏ</a:t>
            </a:r>
          </a:p>
          <a:p>
            <a:pPr lvl="1"/>
            <a:r>
              <a:rPr lang="en-US"/>
              <a:t>Địa chỉ và con trỏ</a:t>
            </a:r>
          </a:p>
          <a:p>
            <a:pPr lvl="1"/>
            <a:r>
              <a:rPr lang="en-US"/>
              <a:t>Khai báo, các phép toán trên con trỏ</a:t>
            </a:r>
          </a:p>
          <a:p>
            <a:pPr lvl="1"/>
            <a:r>
              <a:rPr lang="en-US"/>
              <a:t>Con trỏ và mảng một chiều, mảng nhiều chiều</a:t>
            </a:r>
          </a:p>
          <a:p>
            <a:pPr lvl="1"/>
            <a:r>
              <a:rPr lang="en-US"/>
              <a:t>Mảng các con trỏ</a:t>
            </a:r>
          </a:p>
          <a:p>
            <a:pPr lvl="1"/>
            <a:r>
              <a:rPr lang="en-US"/>
              <a:t>Con trỏ hàm</a:t>
            </a:r>
          </a:p>
          <a:p>
            <a:pPr lvl="1"/>
            <a:r>
              <a:rPr lang="en-US"/>
              <a:t>Cấp phát bộ nhớ động và danh sách liên kết</a:t>
            </a:r>
          </a:p>
          <a:p>
            <a:pPr lvl="1"/>
            <a:endParaRPr lang="en-US"/>
          </a:p>
          <a:p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8780A-71E4-459E-8529-AA8DC8A42BC9}" type="datetime1">
              <a:rPr lang="vi-VN" smtClean="0"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môn học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7</a:t>
            </a:fld>
            <a:r>
              <a:rPr lang="vi-VN"/>
              <a:t>/9</a:t>
            </a:r>
          </a:p>
        </p:txBody>
      </p:sp>
    </p:spTree>
    <p:extLst>
      <p:ext uri="{BB962C8B-B14F-4D97-AF65-F5344CB8AC3E}">
        <p14:creationId xmlns:p14="http://schemas.microsoft.com/office/powerpoint/2010/main" val="285051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Chương 7: Xâu kí tự</a:t>
            </a:r>
          </a:p>
          <a:p>
            <a:pPr lvl="1"/>
            <a:r>
              <a:rPr lang="en-US"/>
              <a:t>Khai báo và các thao tác với xâu kí tự</a:t>
            </a:r>
          </a:p>
          <a:p>
            <a:pPr lvl="1"/>
            <a:r>
              <a:rPr lang="en-US"/>
              <a:t>Một số hàm xử lí xâu kí tự</a:t>
            </a:r>
          </a:p>
          <a:p>
            <a:pPr lvl="1"/>
            <a:r>
              <a:rPr lang="en-US"/>
              <a:t>Mảng xâu kí tự</a:t>
            </a:r>
          </a:p>
          <a:p>
            <a:r>
              <a:rPr lang="en-US"/>
              <a:t>Chương 8: Kiểu dữ liệu cấu trúc</a:t>
            </a:r>
          </a:p>
          <a:p>
            <a:pPr lvl="1"/>
            <a:r>
              <a:rPr lang="en-US"/>
              <a:t>Khai báo, truy cập đến các thành phần cấu trúc</a:t>
            </a:r>
          </a:p>
          <a:p>
            <a:pPr lvl="1"/>
            <a:r>
              <a:rPr lang="en-US"/>
              <a:t>Mảng cấu trúc</a:t>
            </a:r>
          </a:p>
          <a:p>
            <a:pPr lvl="1"/>
            <a:r>
              <a:rPr lang="en-US"/>
              <a:t>Con trỏ của cấu trúc</a:t>
            </a:r>
          </a:p>
          <a:p>
            <a:r>
              <a:rPr lang="en-US"/>
              <a:t>Chương 9: Kiểu dữ liệu tệp</a:t>
            </a:r>
          </a:p>
          <a:p>
            <a:pPr lvl="1"/>
            <a:r>
              <a:rPr lang="en-US"/>
              <a:t>Khái niệm về tệp, các bước xử lý</a:t>
            </a:r>
          </a:p>
          <a:p>
            <a:pPr lvl="1"/>
            <a:r>
              <a:rPr lang="en-US"/>
              <a:t>Tệp nhị phân</a:t>
            </a:r>
          </a:p>
          <a:p>
            <a:pPr lvl="1"/>
            <a:r>
              <a:rPr lang="en-US"/>
              <a:t>Tệp văn bản</a:t>
            </a:r>
            <a:endParaRPr lang="vi-VN"/>
          </a:p>
          <a:p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3F281-7FBA-45D8-B93E-96F616ED3ECE}" type="datetime1">
              <a:rPr lang="vi-VN" smtClean="0"/>
              <a:t>14/01/2024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môn học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8</a:t>
            </a:fld>
            <a:r>
              <a:rPr lang="vi-VN"/>
              <a:t>/9</a:t>
            </a:r>
          </a:p>
        </p:txBody>
      </p:sp>
    </p:spTree>
    <p:extLst>
      <p:ext uri="{BB962C8B-B14F-4D97-AF65-F5344CB8AC3E}">
        <p14:creationId xmlns:p14="http://schemas.microsoft.com/office/powerpoint/2010/main" val="1249556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Tiến trình học tập</a:t>
            </a:r>
            <a:endParaRPr lang="vi-VN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7821016"/>
              </p:ext>
            </p:extLst>
          </p:nvPr>
        </p:nvGraphicFramePr>
        <p:xfrm>
          <a:off x="457200" y="1143000"/>
          <a:ext cx="8363272" cy="50341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5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3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85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035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Buổi</a:t>
                      </a:r>
                      <a:endParaRPr lang="vi-VN" sz="2000">
                        <a:solidFill>
                          <a:srgbClr val="00006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Nội</a:t>
                      </a:r>
                      <a:r>
                        <a:rPr lang="en-US" sz="2000" baseline="0"/>
                        <a:t> dung</a:t>
                      </a:r>
                      <a:endParaRPr lang="vi-VN" sz="2000">
                        <a:solidFill>
                          <a:srgbClr val="00006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Buổi</a:t>
                      </a:r>
                      <a:endParaRPr lang="vi-VN" sz="2000">
                        <a:solidFill>
                          <a:srgbClr val="00006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Nội</a:t>
                      </a:r>
                      <a:r>
                        <a:rPr lang="en-US" sz="2000" baseline="0"/>
                        <a:t> dung</a:t>
                      </a:r>
                      <a:endParaRPr lang="vi-VN" sz="2000">
                        <a:solidFill>
                          <a:srgbClr val="00006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0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/>
                        <a:t>1</a:t>
                      </a:r>
                      <a:endParaRPr lang="vi-VN" sz="2000" b="1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/>
                        <a:t>Chương 1</a:t>
                      </a:r>
                      <a:endParaRPr lang="vi-VN" sz="200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/>
                        <a:t>9</a:t>
                      </a:r>
                      <a:endParaRPr lang="vi-VN" sz="2000" b="1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Chương</a:t>
                      </a:r>
                      <a:r>
                        <a:rPr lang="en-US" sz="2000" baseline="0">
                          <a:solidFill>
                            <a:schemeClr val="tx1"/>
                          </a:solidFill>
                        </a:rPr>
                        <a:t> 5</a:t>
                      </a:r>
                      <a:endParaRPr lang="vi-VN" sz="20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85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/>
                        <a:t>2</a:t>
                      </a:r>
                      <a:endParaRPr lang="vi-VN" sz="2000" b="1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/>
                        <a:t>Chương 2</a:t>
                      </a:r>
                      <a:endParaRPr lang="vi-VN" sz="200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/>
                        <a:t>10</a:t>
                      </a:r>
                      <a:endParaRPr lang="vi-VN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Thực hành chương 5</a:t>
                      </a:r>
                      <a:endParaRPr lang="vi-VN" sz="2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0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/>
                        <a:t>3</a:t>
                      </a:r>
                      <a:endParaRPr lang="vi-VN" sz="2000" b="1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Thực hành</a:t>
                      </a:r>
                      <a:r>
                        <a:rPr lang="en-US" sz="2000" baseline="0"/>
                        <a:t> chương 1+2</a:t>
                      </a:r>
                      <a:endParaRPr lang="vi-VN" sz="200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/>
                        <a:t>11</a:t>
                      </a:r>
                      <a:endParaRPr lang="vi-VN" sz="2000" b="1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Kiểm tra bài 1 – Thực hành</a:t>
                      </a:r>
                      <a:endParaRPr lang="vi-VN" sz="2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0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/>
                        <a:t>4</a:t>
                      </a:r>
                      <a:endParaRPr lang="vi-VN" sz="2000" b="1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Chương 3</a:t>
                      </a:r>
                      <a:endParaRPr lang="vi-VN" sz="200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/>
                        <a:t>12</a:t>
                      </a:r>
                      <a:endParaRPr lang="vi-VN" sz="2000" b="1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/>
                        <a:t>Chương 6+7</a:t>
                      </a:r>
                      <a:endParaRPr lang="vi-VN" sz="200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0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/>
                        <a:t>5</a:t>
                      </a:r>
                      <a:endParaRPr lang="vi-VN" sz="2000" b="1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kumimoji="0" lang="en-US" sz="200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Thực hành chương 3</a:t>
                      </a:r>
                      <a:endParaRPr lang="vi-VN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/>
                        <a:t>13</a:t>
                      </a:r>
                      <a:endParaRPr lang="vi-VN" sz="2000" b="1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/>
                        <a:t>Thực</a:t>
                      </a:r>
                      <a:r>
                        <a:rPr lang="en-US" sz="2000" baseline="0"/>
                        <a:t> hành chương 7</a:t>
                      </a:r>
                      <a:endParaRPr lang="vi-VN" sz="200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0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/>
                        <a:t>6</a:t>
                      </a:r>
                      <a:endParaRPr lang="vi-VN" sz="2000" b="1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/>
                        <a:t>Chương 4</a:t>
                      </a:r>
                      <a:endParaRPr lang="vi-VN" sz="200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/>
                        <a:t>14</a:t>
                      </a:r>
                      <a:endParaRPr lang="vi-VN" sz="2000" b="1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/>
                        <a:t>Chương 8+9</a:t>
                      </a:r>
                      <a:endParaRPr lang="vi-VN" sz="200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0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/>
                        <a:t>7</a:t>
                      </a:r>
                      <a:endParaRPr lang="vi-VN" sz="2000" b="1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/>
                        <a:t>Thực</a:t>
                      </a:r>
                      <a:r>
                        <a:rPr lang="en-US" sz="2000" baseline="0"/>
                        <a:t> hành chương 4</a:t>
                      </a:r>
                      <a:endParaRPr lang="vi-VN" sz="200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/>
                        <a:t>15</a:t>
                      </a:r>
                      <a:endParaRPr lang="vi-VN" sz="2000" b="1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/>
                        <a:t>Thực</a:t>
                      </a:r>
                      <a:r>
                        <a:rPr lang="en-US" sz="2000" baseline="0"/>
                        <a:t> hành chương 8</a:t>
                      </a:r>
                      <a:endParaRPr lang="vi-VN" sz="200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60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/>
                        <a:t>8</a:t>
                      </a:r>
                      <a:endParaRPr lang="vi-VN" sz="2000" b="1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/>
                        <a:t>Chương 5</a:t>
                      </a:r>
                      <a:endParaRPr lang="vi-VN" sz="2000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/>
                        <a:t>16</a:t>
                      </a:r>
                      <a:endParaRPr lang="vi-VN" sz="2000" b="1">
                        <a:solidFill>
                          <a:srgbClr val="000066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Kiểm tra bài 2 – Thực hành</a:t>
                      </a:r>
                      <a:endParaRPr lang="vi-VN" sz="2000" kern="1200" baseline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39F9C-7E43-49B0-9B36-D13238952443}" type="datetime1">
              <a:rPr lang="vi-VN" smtClean="0"/>
              <a:t>14/01/2024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môn học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5402-1E0D-474E-8D8C-CBE7F053639E}" type="slidenum">
              <a:rPr lang="vi-VN" smtClean="0"/>
              <a:pPr/>
              <a:t>9</a:t>
            </a:fld>
            <a:r>
              <a:rPr lang="vi-VN"/>
              <a:t>/9</a:t>
            </a:r>
          </a:p>
        </p:txBody>
      </p:sp>
    </p:spTree>
    <p:extLst>
      <p:ext uri="{BB962C8B-B14F-4D97-AF65-F5344CB8AC3E}">
        <p14:creationId xmlns:p14="http://schemas.microsoft.com/office/powerpoint/2010/main" val="2595032555"/>
      </p:ext>
    </p:extLst>
  </p:cSld>
  <p:clrMapOvr>
    <a:masterClrMapping/>
  </p:clrMapOvr>
</p:sld>
</file>

<file path=ppt/theme/theme1.xml><?xml version="1.0" encoding="utf-8"?>
<a:theme xmlns:a="http://schemas.openxmlformats.org/drawingml/2006/main" name="MM_Lec1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Chuong 3-Mang may tinh</Template>
  <TotalTime>1681</TotalTime>
  <Words>665</Words>
  <Application>Microsoft Office PowerPoint</Application>
  <PresentationFormat>On-screen Show (4:3)</PresentationFormat>
  <Paragraphs>139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Courier New</vt:lpstr>
      <vt:lpstr>Tahoma</vt:lpstr>
      <vt:lpstr>Wingdings</vt:lpstr>
      <vt:lpstr>MM_Lec1</vt:lpstr>
      <vt:lpstr>CƠ SỞ LẬP TRÌNH </vt:lpstr>
      <vt:lpstr>Giới thiệu môn học</vt:lpstr>
      <vt:lpstr>Giới thiệu môn học</vt:lpstr>
      <vt:lpstr>Yêu cầu đối với học viên</vt:lpstr>
      <vt:lpstr>Nội dung</vt:lpstr>
      <vt:lpstr>Nội dung</vt:lpstr>
      <vt:lpstr>Nội dung</vt:lpstr>
      <vt:lpstr>Nội dung</vt:lpstr>
      <vt:lpstr>Tiến trình học tập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CƠ SỞ LẬP TRÌNH 1</dc:title>
  <dc:creator>Quy Tai</dc:creator>
  <cp:lastModifiedBy>Le Cam Tu</cp:lastModifiedBy>
  <cp:revision>57</cp:revision>
  <dcterms:created xsi:type="dcterms:W3CDTF">2011-07-17T01:46:34Z</dcterms:created>
  <dcterms:modified xsi:type="dcterms:W3CDTF">2024-01-14T12:54:19Z</dcterms:modified>
</cp:coreProperties>
</file>