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58"/>
  </p:notesMasterIdLst>
  <p:sldIdLst>
    <p:sldId id="256" r:id="rId2"/>
    <p:sldId id="33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340" r:id="rId17"/>
    <p:sldId id="341" r:id="rId18"/>
    <p:sldId id="342" r:id="rId19"/>
    <p:sldId id="345" r:id="rId20"/>
    <p:sldId id="346" r:id="rId21"/>
    <p:sldId id="344" r:id="rId22"/>
    <p:sldId id="279" r:id="rId23"/>
    <p:sldId id="28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5" r:id="rId37"/>
    <p:sldId id="306" r:id="rId38"/>
    <p:sldId id="307" r:id="rId39"/>
    <p:sldId id="309" r:id="rId40"/>
    <p:sldId id="310" r:id="rId41"/>
    <p:sldId id="347" r:id="rId42"/>
    <p:sldId id="311" r:id="rId43"/>
    <p:sldId id="312" r:id="rId44"/>
    <p:sldId id="315" r:id="rId45"/>
    <p:sldId id="318" r:id="rId46"/>
    <p:sldId id="348" r:id="rId47"/>
    <p:sldId id="320" r:id="rId48"/>
    <p:sldId id="349" r:id="rId49"/>
    <p:sldId id="313" r:id="rId50"/>
    <p:sldId id="319" r:id="rId51"/>
    <p:sldId id="321" r:id="rId52"/>
    <p:sldId id="314" r:id="rId53"/>
    <p:sldId id="350" r:id="rId54"/>
    <p:sldId id="351" r:id="rId55"/>
    <p:sldId id="352" r:id="rId56"/>
    <p:sldId id="353" r:id="rId57"/>
  </p:sldIdLst>
  <p:sldSz cx="9144000" cy="6858000" type="screen4x3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00FF"/>
    <a:srgbClr val="6DFB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5000" autoAdjust="0"/>
  </p:normalViewPr>
  <p:slideViewPr>
    <p:cSldViewPr>
      <p:cViewPr varScale="1">
        <p:scale>
          <a:sx n="58" d="100"/>
          <a:sy n="58" d="100"/>
        </p:scale>
        <p:origin x="1877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59136-7F74-4509-B20E-AE351757F38F}" type="datetimeFigureOut">
              <a:rPr lang="vi-VN" smtClean="0"/>
              <a:t>14/01/2024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7600A-770C-47F1-89C1-5023B6D362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53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C8268D8-FE03-4152-9584-255E2E156579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E08C774-EC33-4646-910F-627027A24EBE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19B5B16-5C4D-4291-99F7-177107ABFA9A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0442065-C3AE-48E5-8565-37337C0B1D2B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831443E-DC57-4E4D-A52C-8F90B89C51BD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96F3509-4634-440D-8A3F-915F19125B10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43AA9BA-0B8A-4016-994B-A3F530D54817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9924FC4-FAF5-4CBE-B497-AAA19B0DD9E1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B1CB923-4B3A-4672-9EBB-2B08B956633D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CE15CAF-F029-4D66-8C11-5799269AB3BA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A85043E-3302-4F3D-896A-68E503B52305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D7F6DB6-9BF5-4DD2-B7E4-BFD05D206552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936B3AB-8756-4F91-B570-643F78A63D7E}" type="slidenum">
              <a:rPr lang="en-US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5F24CD4-D0D3-4BCC-BE86-6CE3B888AC00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703419F-79BD-40CB-B75E-F8D70CD00CEE}" type="slidenum">
              <a:rPr lang="en-US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AE81A4E-E0A7-4C3B-B3AB-430503118ACC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0D3797F-D9EF-4C2C-8B2F-09444984ED63}" type="slidenum">
              <a:rPr lang="en-US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94D40C2-0685-4B5F-8580-85EB297C1266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A0B3AC7-F11D-4F25-AC22-F6AC6E3218CC}" type="slidenum">
              <a:rPr lang="en-US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3E5BC38-BF33-4C26-BC54-55BF987FA0EC}" type="slidenum">
              <a:rPr lang="en-US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00C26B0-8C85-45DE-8C55-6DCA7D943B39}" type="slidenum">
              <a:rPr lang="en-US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vi-VN" dirty="0"/>
              <a:t>void soduong</a:t>
            </a:r>
            <a:r>
              <a:rPr lang="en-US" dirty="0" err="1"/>
              <a:t>nn</a:t>
            </a:r>
            <a:r>
              <a:rPr lang="vi-VN" dirty="0"/>
              <a:t>(int a[],int n)</a:t>
            </a:r>
          </a:p>
          <a:p>
            <a:pPr>
              <a:spcBef>
                <a:spcPct val="0"/>
              </a:spcBef>
            </a:pPr>
            <a:r>
              <a:rPr lang="vi-VN" dirty="0"/>
              <a:t>{int i;</a:t>
            </a:r>
          </a:p>
          <a:p>
            <a:pPr>
              <a:spcBef>
                <a:spcPct val="0"/>
              </a:spcBef>
            </a:pPr>
            <a:r>
              <a:rPr lang="vi-VN" dirty="0"/>
              <a:t>	int min=a[0];</a:t>
            </a:r>
          </a:p>
          <a:p>
            <a:pPr>
              <a:spcBef>
                <a:spcPct val="0"/>
              </a:spcBef>
            </a:pPr>
            <a:r>
              <a:rPr lang="vi-VN" dirty="0"/>
              <a:t>	for(int i=0;i&lt;n;i++)</a:t>
            </a:r>
          </a:p>
          <a:p>
            <a:pPr>
              <a:spcBef>
                <a:spcPct val="0"/>
              </a:spcBef>
            </a:pPr>
            <a:r>
              <a:rPr lang="vi-VN" dirty="0"/>
              <a:t>	if((a[i]&gt;0)&amp;&amp;(a[i]&lt;min))</a:t>
            </a:r>
          </a:p>
          <a:p>
            <a:pPr>
              <a:spcBef>
                <a:spcPct val="0"/>
              </a:spcBef>
            </a:pPr>
            <a:r>
              <a:rPr lang="vi-VN" dirty="0"/>
              <a:t>	  min=a[i];</a:t>
            </a:r>
          </a:p>
          <a:p>
            <a:pPr>
              <a:spcBef>
                <a:spcPct val="0"/>
              </a:spcBef>
            </a:pPr>
            <a:r>
              <a:rPr lang="vi-VN" dirty="0"/>
              <a:t>	  printf("so duong nho nhat la: %d",min);</a:t>
            </a:r>
          </a:p>
          <a:p>
            <a:pPr>
              <a:spcBef>
                <a:spcPct val="0"/>
              </a:spcBef>
            </a:pPr>
            <a:r>
              <a:rPr lang="vi-VN" dirty="0"/>
              <a:t>}</a:t>
            </a:r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A28F378-3F25-4EC3-87B7-3B724C980708}" type="slidenum">
              <a:rPr lang="en-US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vi-VN" dirty="0"/>
              <a:t>void mangb(int a[],int n)</a:t>
            </a:r>
          </a:p>
          <a:p>
            <a:pPr>
              <a:spcBef>
                <a:spcPct val="0"/>
              </a:spcBef>
            </a:pPr>
            <a:r>
              <a:rPr lang="vi-VN" dirty="0"/>
              <a:t>{</a:t>
            </a:r>
          </a:p>
          <a:p>
            <a:pPr>
              <a:spcBef>
                <a:spcPct val="0"/>
              </a:spcBef>
            </a:pPr>
            <a:r>
              <a:rPr lang="vi-VN" dirty="0"/>
              <a:t>	int b[20];</a:t>
            </a:r>
          </a:p>
          <a:p>
            <a:pPr>
              <a:spcBef>
                <a:spcPct val="0"/>
              </a:spcBef>
            </a:pPr>
            <a:r>
              <a:rPr lang="vi-VN" dirty="0"/>
              <a:t>	int i,j=0;</a:t>
            </a:r>
          </a:p>
          <a:p>
            <a:pPr>
              <a:spcBef>
                <a:spcPct val="0"/>
              </a:spcBef>
            </a:pPr>
            <a:r>
              <a:rPr lang="vi-VN" dirty="0"/>
              <a:t>	for(i=0;i&lt;n;i++)</a:t>
            </a:r>
          </a:p>
          <a:p>
            <a:pPr>
              <a:spcBef>
                <a:spcPct val="0"/>
              </a:spcBef>
            </a:pPr>
            <a:r>
              <a:rPr lang="vi-VN" dirty="0"/>
              <a:t>	if((ktranto(a[i])==1)&amp;&amp;(a[i]&gt;0))</a:t>
            </a:r>
          </a:p>
          <a:p>
            <a:pPr>
              <a:spcBef>
                <a:spcPct val="0"/>
              </a:spcBef>
            </a:pPr>
            <a:r>
              <a:rPr lang="vi-VN" dirty="0"/>
              <a:t>	{</a:t>
            </a:r>
          </a:p>
          <a:p>
            <a:pPr>
              <a:spcBef>
                <a:spcPct val="0"/>
              </a:spcBef>
            </a:pPr>
            <a:r>
              <a:rPr lang="vi-VN" dirty="0"/>
              <a:t>		b[j]=a[i];</a:t>
            </a:r>
          </a:p>
          <a:p>
            <a:pPr>
              <a:spcBef>
                <a:spcPct val="0"/>
              </a:spcBef>
            </a:pPr>
            <a:r>
              <a:rPr lang="vi-VN" dirty="0"/>
              <a:t>		j++;</a:t>
            </a:r>
          </a:p>
          <a:p>
            <a:pPr>
              <a:spcBef>
                <a:spcPct val="0"/>
              </a:spcBef>
            </a:pPr>
            <a:r>
              <a:rPr lang="vi-VN" dirty="0"/>
              <a:t>	}</a:t>
            </a:r>
          </a:p>
          <a:p>
            <a:pPr>
              <a:spcBef>
                <a:spcPct val="0"/>
              </a:spcBef>
            </a:pPr>
            <a:r>
              <a:rPr lang="vi-VN" dirty="0"/>
              <a:t>	printf("\mang b toan so nguyen to la:\n");</a:t>
            </a:r>
          </a:p>
          <a:p>
            <a:pPr>
              <a:spcBef>
                <a:spcPct val="0"/>
              </a:spcBef>
            </a:pPr>
            <a:r>
              <a:rPr lang="vi-VN" dirty="0"/>
              <a:t>	for(int k=0;k&lt;j;k++)</a:t>
            </a:r>
          </a:p>
          <a:p>
            <a:pPr>
              <a:spcBef>
                <a:spcPct val="0"/>
              </a:spcBef>
            </a:pPr>
            <a:r>
              <a:rPr lang="vi-VN" dirty="0"/>
              <a:t>	 printf("%d ",b[k]);</a:t>
            </a:r>
          </a:p>
          <a:p>
            <a:pPr>
              <a:spcBef>
                <a:spcPct val="0"/>
              </a:spcBef>
            </a:pPr>
            <a:r>
              <a:rPr lang="vi-VN" dirty="0"/>
              <a:t>}</a:t>
            </a:r>
            <a:endParaRPr lang="en-US" dirty="0"/>
          </a:p>
          <a:p>
            <a:pPr>
              <a:spcBef>
                <a:spcPct val="0"/>
              </a:spcBef>
            </a:pPr>
            <a:endParaRPr lang="en-US" dirty="0"/>
          </a:p>
          <a:p>
            <a:pPr>
              <a:spcBef>
                <a:spcPct val="0"/>
              </a:spcBef>
            </a:pPr>
            <a:endParaRPr lang="en-US" dirty="0"/>
          </a:p>
          <a:p>
            <a:pPr>
              <a:spcBef>
                <a:spcPct val="0"/>
              </a:spcBef>
            </a:pPr>
            <a:r>
              <a:rPr lang="vi-VN" dirty="0"/>
              <a:t>void mangbc(int a[],int n)</a:t>
            </a:r>
          </a:p>
          <a:p>
            <a:pPr>
              <a:spcBef>
                <a:spcPct val="0"/>
              </a:spcBef>
            </a:pPr>
            <a:r>
              <a:rPr lang="vi-VN" dirty="0"/>
              <a:t>{</a:t>
            </a:r>
          </a:p>
          <a:p>
            <a:pPr>
              <a:spcBef>
                <a:spcPct val="0"/>
              </a:spcBef>
            </a:pPr>
            <a:r>
              <a:rPr lang="vi-VN" dirty="0"/>
              <a:t>	int b[20],c[20];</a:t>
            </a:r>
          </a:p>
          <a:p>
            <a:pPr>
              <a:spcBef>
                <a:spcPct val="0"/>
              </a:spcBef>
            </a:pPr>
            <a:r>
              <a:rPr lang="vi-VN" dirty="0"/>
              <a:t>	int i,j=0,k=0;</a:t>
            </a:r>
          </a:p>
          <a:p>
            <a:pPr>
              <a:spcBef>
                <a:spcPct val="0"/>
              </a:spcBef>
            </a:pPr>
            <a:r>
              <a:rPr lang="vi-VN" dirty="0"/>
              <a:t>	int x,y;</a:t>
            </a:r>
          </a:p>
          <a:p>
            <a:pPr>
              <a:spcBef>
                <a:spcPct val="0"/>
              </a:spcBef>
            </a:pPr>
            <a:r>
              <a:rPr lang="vi-VN" dirty="0"/>
              <a:t>	for(i=0;i&lt;n;i++)</a:t>
            </a:r>
          </a:p>
          <a:p>
            <a:pPr>
              <a:spcBef>
                <a:spcPct val="0"/>
              </a:spcBef>
            </a:pPr>
            <a:r>
              <a:rPr lang="vi-VN" dirty="0"/>
              <a:t>	if(a[i]&gt;0)</a:t>
            </a:r>
          </a:p>
          <a:p>
            <a:pPr>
              <a:spcBef>
                <a:spcPct val="0"/>
              </a:spcBef>
            </a:pPr>
            <a:r>
              <a:rPr lang="vi-VN" dirty="0"/>
              <a:t>	{</a:t>
            </a:r>
          </a:p>
          <a:p>
            <a:pPr>
              <a:spcBef>
                <a:spcPct val="0"/>
              </a:spcBef>
            </a:pPr>
            <a:r>
              <a:rPr lang="vi-VN" dirty="0"/>
              <a:t>		b[j]=a[i];</a:t>
            </a:r>
          </a:p>
          <a:p>
            <a:pPr>
              <a:spcBef>
                <a:spcPct val="0"/>
              </a:spcBef>
            </a:pPr>
            <a:r>
              <a:rPr lang="vi-VN" dirty="0"/>
              <a:t>		j++;</a:t>
            </a:r>
          </a:p>
          <a:p>
            <a:pPr>
              <a:spcBef>
                <a:spcPct val="0"/>
              </a:spcBef>
            </a:pPr>
            <a:r>
              <a:rPr lang="vi-VN" dirty="0"/>
              <a:t>	}</a:t>
            </a:r>
          </a:p>
          <a:p>
            <a:pPr>
              <a:spcBef>
                <a:spcPct val="0"/>
              </a:spcBef>
            </a:pPr>
            <a:r>
              <a:rPr lang="vi-VN" dirty="0"/>
              <a:t>	else</a:t>
            </a:r>
          </a:p>
          <a:p>
            <a:pPr>
              <a:spcBef>
                <a:spcPct val="0"/>
              </a:spcBef>
            </a:pPr>
            <a:r>
              <a:rPr lang="vi-VN" dirty="0"/>
              <a:t>	{</a:t>
            </a:r>
          </a:p>
          <a:p>
            <a:pPr>
              <a:spcBef>
                <a:spcPct val="0"/>
              </a:spcBef>
            </a:pPr>
            <a:r>
              <a:rPr lang="vi-VN" dirty="0"/>
              <a:t>	c[k]=a[i];</a:t>
            </a:r>
          </a:p>
          <a:p>
            <a:pPr>
              <a:spcBef>
                <a:spcPct val="0"/>
              </a:spcBef>
            </a:pPr>
            <a:r>
              <a:rPr lang="vi-VN" dirty="0"/>
              <a:t>	k++;</a:t>
            </a:r>
          </a:p>
          <a:p>
            <a:pPr>
              <a:spcBef>
                <a:spcPct val="0"/>
              </a:spcBef>
            </a:pPr>
            <a:r>
              <a:rPr lang="vi-VN" dirty="0"/>
              <a:t>	}</a:t>
            </a:r>
          </a:p>
          <a:p>
            <a:pPr>
              <a:spcBef>
                <a:spcPct val="0"/>
              </a:spcBef>
            </a:pPr>
            <a:r>
              <a:rPr lang="vi-VN" dirty="0"/>
              <a:t>	printf("\n mang b la:\n");</a:t>
            </a:r>
          </a:p>
          <a:p>
            <a:pPr>
              <a:spcBef>
                <a:spcPct val="0"/>
              </a:spcBef>
            </a:pPr>
            <a:r>
              <a:rPr lang="vi-VN" dirty="0"/>
              <a:t>	for(x=0;x&lt;j;x++)</a:t>
            </a:r>
          </a:p>
          <a:p>
            <a:pPr>
              <a:spcBef>
                <a:spcPct val="0"/>
              </a:spcBef>
            </a:pPr>
            <a:r>
              <a:rPr lang="vi-VN" dirty="0"/>
              <a:t>	printf("%d ",b[x]);</a:t>
            </a:r>
          </a:p>
          <a:p>
            <a:pPr>
              <a:spcBef>
                <a:spcPct val="0"/>
              </a:spcBef>
            </a:pPr>
            <a:r>
              <a:rPr lang="vi-VN" dirty="0"/>
              <a:t>	printf("\n mang c la:\n");</a:t>
            </a:r>
          </a:p>
          <a:p>
            <a:pPr>
              <a:spcBef>
                <a:spcPct val="0"/>
              </a:spcBef>
            </a:pPr>
            <a:r>
              <a:rPr lang="vi-VN" dirty="0"/>
              <a:t>	for(y=0;y&lt;k;y++)</a:t>
            </a:r>
          </a:p>
          <a:p>
            <a:pPr>
              <a:spcBef>
                <a:spcPct val="0"/>
              </a:spcBef>
            </a:pPr>
            <a:r>
              <a:rPr lang="vi-VN" dirty="0"/>
              <a:t>	printf("%d ",c[y]);</a:t>
            </a:r>
          </a:p>
          <a:p>
            <a:pPr>
              <a:spcBef>
                <a:spcPct val="0"/>
              </a:spcBef>
            </a:pPr>
            <a:r>
              <a:rPr lang="vi-VN" dirty="0"/>
              <a:t>}</a:t>
            </a: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DFBC316-0954-463E-9998-EDDFE6AB518D}" type="slidenum">
              <a:rPr lang="en-US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vi-VN" dirty="0"/>
              <a:t>void sua(int a[],int n)</a:t>
            </a:r>
          </a:p>
          <a:p>
            <a:pPr>
              <a:spcBef>
                <a:spcPct val="0"/>
              </a:spcBef>
            </a:pPr>
            <a:r>
              <a:rPr lang="vi-VN" dirty="0"/>
              <a:t>{//3 4 -4 2 1</a:t>
            </a:r>
          </a:p>
          <a:p>
            <a:pPr>
              <a:spcBef>
                <a:spcPct val="0"/>
              </a:spcBef>
            </a:pPr>
            <a:r>
              <a:rPr lang="vi-VN" dirty="0"/>
              <a:t>	for(int i=0;i&lt;n;i++)</a:t>
            </a:r>
          </a:p>
          <a:p>
            <a:pPr>
              <a:spcBef>
                <a:spcPct val="0"/>
              </a:spcBef>
            </a:pPr>
            <a:r>
              <a:rPr lang="vi-VN" dirty="0"/>
              <a:t>	if((a[i]%2==0)&amp;&amp;(a[i]&gt;0))a[i]=0;</a:t>
            </a:r>
          </a:p>
          <a:p>
            <a:pPr>
              <a:spcBef>
                <a:spcPct val="0"/>
              </a:spcBef>
            </a:pPr>
            <a:r>
              <a:rPr lang="vi-VN" dirty="0"/>
              <a:t>	else</a:t>
            </a:r>
          </a:p>
          <a:p>
            <a:pPr>
              <a:spcBef>
                <a:spcPct val="0"/>
              </a:spcBef>
            </a:pPr>
            <a:r>
              <a:rPr lang="vi-VN" dirty="0"/>
              <a:t>	if(a[i]&lt;0) a[i]=-1;</a:t>
            </a:r>
          </a:p>
          <a:p>
            <a:pPr>
              <a:spcBef>
                <a:spcPct val="0"/>
              </a:spcBef>
            </a:pPr>
            <a:r>
              <a:rPr lang="vi-VN" dirty="0"/>
              <a:t>	 printf("\n mang sau khi sua la:");</a:t>
            </a:r>
          </a:p>
          <a:p>
            <a:pPr>
              <a:spcBef>
                <a:spcPct val="0"/>
              </a:spcBef>
            </a:pPr>
            <a:r>
              <a:rPr lang="vi-VN" dirty="0"/>
              <a:t>	 for(int i=0;i&lt;n;i++)</a:t>
            </a:r>
          </a:p>
          <a:p>
            <a:pPr>
              <a:spcBef>
                <a:spcPct val="0"/>
              </a:spcBef>
            </a:pPr>
            <a:r>
              <a:rPr lang="vi-VN" dirty="0"/>
              <a:t>	 printf("%d ",a[i]);</a:t>
            </a:r>
          </a:p>
          <a:p>
            <a:pPr>
              <a:spcBef>
                <a:spcPct val="0"/>
              </a:spcBef>
            </a:pPr>
            <a:r>
              <a:rPr lang="vi-VN" dirty="0"/>
              <a:t>}</a:t>
            </a:r>
            <a:endParaRPr lang="en-US" dirty="0"/>
          </a:p>
          <a:p>
            <a:pPr>
              <a:spcBef>
                <a:spcPct val="0"/>
              </a:spcBef>
            </a:pPr>
            <a:endParaRPr lang="en-US" dirty="0"/>
          </a:p>
          <a:p>
            <a:pPr>
              <a:spcBef>
                <a:spcPct val="0"/>
              </a:spcBef>
            </a:pPr>
            <a:r>
              <a:rPr lang="vi-VN" dirty="0"/>
              <a:t>void Delete(int a[], int vt, int&amp;n){</a:t>
            </a:r>
          </a:p>
          <a:p>
            <a:pPr>
              <a:spcBef>
                <a:spcPct val="0"/>
              </a:spcBef>
            </a:pPr>
            <a:r>
              <a:rPr lang="vi-VN" dirty="0"/>
              <a:t>    for(int i=vt;i&lt;n;i++)</a:t>
            </a:r>
          </a:p>
          <a:p>
            <a:pPr>
              <a:spcBef>
                <a:spcPct val="0"/>
              </a:spcBef>
            </a:pPr>
            <a:r>
              <a:rPr lang="vi-VN" dirty="0"/>
              <a:t>        a[i]=a[i+1];</a:t>
            </a:r>
          </a:p>
          <a:p>
            <a:pPr>
              <a:spcBef>
                <a:spcPct val="0"/>
              </a:spcBef>
            </a:pPr>
            <a:r>
              <a:rPr lang="vi-VN" dirty="0"/>
              <a:t>    n--;</a:t>
            </a:r>
          </a:p>
          <a:p>
            <a:pPr>
              <a:spcBef>
                <a:spcPct val="0"/>
              </a:spcBef>
            </a:pPr>
            <a:r>
              <a:rPr lang="vi-VN" dirty="0"/>
              <a:t>}</a:t>
            </a:r>
          </a:p>
          <a:p>
            <a:pPr>
              <a:spcBef>
                <a:spcPct val="0"/>
              </a:spcBef>
            </a:pPr>
            <a:r>
              <a:rPr lang="vi-VN" dirty="0"/>
              <a:t> </a:t>
            </a:r>
          </a:p>
          <a:p>
            <a:pPr>
              <a:spcBef>
                <a:spcPct val="0"/>
              </a:spcBef>
            </a:pPr>
            <a:r>
              <a:rPr lang="vi-VN" dirty="0"/>
              <a:t>void DeleteSont(int a[], int&amp;n){    </a:t>
            </a:r>
          </a:p>
          <a:p>
            <a:pPr>
              <a:spcBef>
                <a:spcPct val="0"/>
              </a:spcBef>
            </a:pPr>
            <a:r>
              <a:rPr lang="vi-VN" dirty="0"/>
              <a:t>    for(int i=0;i&lt;n;i++)</a:t>
            </a:r>
          </a:p>
          <a:p>
            <a:pPr>
              <a:spcBef>
                <a:spcPct val="0"/>
              </a:spcBef>
            </a:pPr>
            <a:r>
              <a:rPr lang="vi-VN" dirty="0"/>
              <a:t>	{</a:t>
            </a:r>
          </a:p>
          <a:p>
            <a:pPr>
              <a:spcBef>
                <a:spcPct val="0"/>
              </a:spcBef>
            </a:pPr>
            <a:r>
              <a:rPr lang="vi-VN" dirty="0"/>
              <a:t>        if(ktrachan(a[i]))</a:t>
            </a:r>
          </a:p>
          <a:p>
            <a:pPr>
              <a:spcBef>
                <a:spcPct val="0"/>
              </a:spcBef>
            </a:pPr>
            <a:r>
              <a:rPr lang="vi-VN" dirty="0"/>
              <a:t>		{</a:t>
            </a:r>
          </a:p>
          <a:p>
            <a:pPr>
              <a:spcBef>
                <a:spcPct val="0"/>
              </a:spcBef>
            </a:pPr>
            <a:r>
              <a:rPr lang="vi-VN" dirty="0"/>
              <a:t>            Delete(a,i,n);</a:t>
            </a:r>
          </a:p>
          <a:p>
            <a:pPr>
              <a:spcBef>
                <a:spcPct val="0"/>
              </a:spcBef>
            </a:pPr>
            <a:r>
              <a:rPr lang="vi-VN" dirty="0"/>
              <a:t>            i--;</a:t>
            </a:r>
          </a:p>
          <a:p>
            <a:pPr>
              <a:spcBef>
                <a:spcPct val="0"/>
              </a:spcBef>
            </a:pPr>
            <a:r>
              <a:rPr lang="vi-VN" dirty="0"/>
              <a:t>        }</a:t>
            </a:r>
          </a:p>
          <a:p>
            <a:pPr>
              <a:spcBef>
                <a:spcPct val="0"/>
              </a:spcBef>
            </a:pPr>
            <a:r>
              <a:rPr lang="vi-VN" dirty="0"/>
              <a:t>    }</a:t>
            </a:r>
          </a:p>
          <a:p>
            <a:pPr>
              <a:spcBef>
                <a:spcPct val="0"/>
              </a:spcBef>
            </a:pPr>
            <a:r>
              <a:rPr lang="vi-VN" dirty="0"/>
              <a:t>    printf("\n mang vua xoa:");</a:t>
            </a:r>
          </a:p>
          <a:p>
            <a:pPr>
              <a:spcBef>
                <a:spcPct val="0"/>
              </a:spcBef>
            </a:pPr>
            <a:r>
              <a:rPr lang="vi-VN" dirty="0"/>
              <a:t>    for(int i=0;i&lt;n;i++)</a:t>
            </a:r>
          </a:p>
          <a:p>
            <a:pPr>
              <a:spcBef>
                <a:spcPct val="0"/>
              </a:spcBef>
            </a:pPr>
            <a:r>
              <a:rPr lang="vi-VN" dirty="0"/>
              <a:t>    printf("%d ",a[i]);</a:t>
            </a:r>
          </a:p>
          <a:p>
            <a:pPr>
              <a:spcBef>
                <a:spcPct val="0"/>
              </a:spcBef>
            </a:pPr>
            <a:r>
              <a:rPr lang="vi-VN"/>
              <a:t>}</a:t>
            </a:r>
            <a:endParaRPr lang="vi-VN" dirty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D69386F-401D-4ACF-88F7-E84B168FBC5A}" type="slidenum">
              <a:rPr lang="en-US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F7F2724-7A80-4ABC-A85D-6FBB00C9D527}" type="slidenum">
              <a:rPr lang="en-US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EC2401C-1D31-469C-B695-57290BB8A30A}" type="slidenum">
              <a:rPr lang="en-US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A1483BC-702F-4ACD-80E2-B6883477E622}" type="slidenum">
              <a:rPr lang="en-US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AFD9A15-1120-4FC8-91CA-6EB295098374}" type="slidenum">
              <a:rPr lang="en-US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3CB42F6-CDB3-4D33-8354-C65BFEBA3243}" type="slidenum">
              <a:rPr lang="en-US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19705A0-884B-48F7-A8F5-6AE6E5279C3E}" type="slidenum">
              <a:rPr lang="en-US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1EAD1A6-E00F-4947-B0D9-5345B7B3CECF}" type="slidenum">
              <a:rPr lang="en-US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B7487DA-F1BB-48C6-9137-C8EEB79B8110}" type="slidenum">
              <a:rPr lang="en-US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EDF3E80-3469-4941-935A-2D25419EE8D2}" type="slidenum">
              <a:rPr lang="en-US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D0CFE91-6B28-4C0B-90CF-ED12952ACF9A}" type="slidenum">
              <a:rPr lang="en-US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B008C48-3DDD-4272-A59B-B505334653C5}" type="slidenum">
              <a:rPr lang="en-US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1F07154-D445-41E5-AF7D-98A30123FB3D}" type="slidenum">
              <a:rPr lang="en-US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A0451E0-61E8-434C-B9E1-C4766EFD64CD}" type="slidenum">
              <a:rPr lang="en-US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4"/>
          <p:cNvSpPr>
            <a:spLocks noChangeArrowheads="1"/>
          </p:cNvSpPr>
          <p:nvPr/>
        </p:nvSpPr>
        <p:spPr bwMode="auto">
          <a:xfrm>
            <a:off x="1066800" y="3581400"/>
            <a:ext cx="75438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2590800"/>
            <a:ext cx="7620000" cy="990600"/>
          </a:xfr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4495800"/>
            <a:ext cx="7010400" cy="990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200"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9479CB55-A9EE-4487-A014-85FE3AEEE430}" type="datetime1">
              <a:rPr lang="vi-VN" smtClean="0"/>
              <a:t>14/01/2024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43188" y="6248400"/>
            <a:ext cx="4357687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15188" y="6248400"/>
            <a:ext cx="1243012" cy="457200"/>
          </a:xfrm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Content Placeholder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6" b="29726"/>
          <a:stretch/>
        </p:blipFill>
        <p:spPr bwMode="auto">
          <a:xfrm>
            <a:off x="-3829" y="0"/>
            <a:ext cx="9144000" cy="15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149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sz="2800"/>
            </a:lvl1pPr>
            <a:lvl2pPr algn="just">
              <a:defRPr sz="2400">
                <a:solidFill>
                  <a:srgbClr val="0000FF"/>
                </a:solidFill>
              </a:defRPr>
            </a:lvl2pPr>
            <a:lvl3pPr algn="just">
              <a:defRPr sz="2000">
                <a:solidFill>
                  <a:srgbClr val="002060"/>
                </a:solidFill>
              </a:defRPr>
            </a:lvl3pPr>
            <a:lvl4pPr algn="just">
              <a:defRPr sz="1800">
                <a:solidFill>
                  <a:srgbClr val="000066"/>
                </a:solidFill>
              </a:defRPr>
            </a:lvl4pPr>
            <a:lvl5pPr algn="just"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1E4BB4-8841-48C4-B587-64175510C541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68343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192E0B2F-C936-43F5-A77C-C4B4EFAA9EA2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0836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FC00857E-5027-42A2-85ED-FDCC21F9BADA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079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FE0CBB38-C974-4867-AD08-D0BDB3D568C3}" type="datetime1">
              <a:rPr lang="vi-VN" smtClean="0"/>
              <a:t>14/01/2024</a:t>
            </a:fld>
            <a:endParaRPr lang="vi-V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303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EA7D06BC-1353-4FA8-A8EA-AD89CB8408EB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728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B7F261-B7FF-4F46-9253-B47860BE0B2E}" type="datetime1">
              <a:rPr lang="vi-VN" smtClean="0"/>
              <a:t>14/01/2024</a:t>
            </a:fld>
            <a:endParaRPr lang="vi-V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6297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16DC829B-4C5C-495C-8608-9BAA9FA71E00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410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23BCA1D1-4B4C-439E-8FA6-A7E89A0328F9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067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1794F28E-EA34-4F13-8EF2-31BA6284D95E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755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BCD4CB64-A2BE-479F-B43B-9F28B0374403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585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43000"/>
            <a:ext cx="7924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457200" y="990600"/>
            <a:ext cx="83820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381000" y="6400800"/>
            <a:ext cx="8534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Arial" charset="0"/>
              </a:defRPr>
            </a:lvl1pPr>
          </a:lstStyle>
          <a:p>
            <a:fld id="{2046207A-0222-4B0B-A71C-F44E7FAE4184}" type="datetime1">
              <a:rPr lang="vi-VN" smtClean="0"/>
              <a:t>14/01/2024</a:t>
            </a:fld>
            <a:endParaRPr lang="vi-V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400800"/>
            <a:ext cx="39624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>
                <a:cs typeface="Arial" charset="0"/>
              </a:defRPr>
            </a:lvl1pPr>
          </a:lstStyle>
          <a:p>
            <a:r>
              <a:rPr lang="vi-VN"/>
              <a:t>Chương 5- Kiểu dữ liệu mảng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Arial" charset="0"/>
              </a:defRPr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lang="en-GB" sz="2800" smtClean="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2400" smtClean="0">
          <a:solidFill>
            <a:srgbClr val="0000FF"/>
          </a:solidFill>
          <a:latin typeface="+mn-lt"/>
          <a:cs typeface="+mn-cs"/>
        </a:defRPr>
      </a:lvl2pPr>
      <a:lvl3pPr marL="1304925" indent="-395288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o"/>
        <a:defRPr lang="en-GB" sz="2000" smtClean="0">
          <a:solidFill>
            <a:srgbClr val="002060"/>
          </a:solidFill>
          <a:latin typeface="+mn-lt"/>
          <a:cs typeface="+mn-cs"/>
        </a:defRPr>
      </a:lvl3pPr>
      <a:lvl4pPr marL="1693863" indent="-387350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1800" smtClean="0">
          <a:solidFill>
            <a:srgbClr val="000066"/>
          </a:solidFill>
          <a:latin typeface="+mn-lt"/>
          <a:cs typeface="+mn-cs"/>
        </a:defRPr>
      </a:lvl4pPr>
      <a:lvl5pPr marL="20939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5pPr>
      <a:lvl6pPr marL="25511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6pPr>
      <a:lvl7pPr marL="30083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7pPr>
      <a:lvl8pPr marL="34655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8pPr>
      <a:lvl9pPr marL="39227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590800"/>
            <a:ext cx="7931224" cy="990600"/>
          </a:xfrm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pPr algn="ctr"/>
            <a: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Chương 5</a:t>
            </a:r>
            <a:b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KIỂU DỮ LIỆU MẢNG</a:t>
            </a:r>
            <a:endParaRPr lang="vi-VN" sz="440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91880" y="6237312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Hà</a:t>
            </a:r>
            <a:r>
              <a:rPr lang="en-US" sz="2400" dirty="0"/>
              <a:t> </a:t>
            </a:r>
            <a:r>
              <a:rPr lang="en-US" sz="2400" dirty="0" err="1"/>
              <a:t>Nội</a:t>
            </a:r>
            <a:r>
              <a:rPr lang="en-US" sz="2400" dirty="0"/>
              <a:t> </a:t>
            </a:r>
            <a:r>
              <a:rPr lang="en-US" sz="2400"/>
              <a:t>– 2024</a:t>
            </a:r>
            <a:endParaRPr lang="vi-VN" sz="2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3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2133600" y="2625080"/>
            <a:ext cx="4724400" cy="685800"/>
            <a:chOff x="1296" y="1824"/>
            <a:chExt cx="2976" cy="432"/>
          </a:xfrm>
        </p:grpSpPr>
        <p:sp>
          <p:nvSpPr>
            <p:cNvPr id="5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6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7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Mảng</a:t>
              </a:r>
              <a:r>
                <a:rPr kumimoji="0" lang="en-US" sz="1800" b="1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1 chiều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</a:p>
          </p:txBody>
        </p:sp>
      </p:grpSp>
      <p:grpSp>
        <p:nvGrpSpPr>
          <p:cNvPr id="9" name="Group 51"/>
          <p:cNvGrpSpPr>
            <a:grpSpLocks/>
          </p:cNvGrpSpPr>
          <p:nvPr/>
        </p:nvGrpSpPr>
        <p:grpSpPr bwMode="auto">
          <a:xfrm>
            <a:off x="2133600" y="3463280"/>
            <a:ext cx="4724400" cy="685800"/>
            <a:chOff x="1296" y="1824"/>
            <a:chExt cx="2976" cy="432"/>
          </a:xfrm>
        </p:grpSpPr>
        <p:sp>
          <p:nvSpPr>
            <p:cNvPr id="10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11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12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Mảng</a:t>
              </a:r>
              <a:r>
                <a:rPr kumimoji="0" lang="en-US" sz="1800" b="1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nhiều chiều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2</a:t>
              </a:r>
            </a:p>
          </p:txBody>
        </p:sp>
      </p:grp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C656-B56F-4B2F-8F37-ED08093A6E4F}" type="datetime1">
              <a:rPr lang="vi-VN" smtClean="0"/>
              <a:t>14/01/2024</a:t>
            </a:fld>
            <a:endParaRPr lang="vi-V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41844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 Mảng một chiều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52BD-3826-45F9-8085-07BA685D6668}" type="datetime1">
              <a:rPr lang="vi-VN" smtClean="0"/>
              <a:t>14/01/2024</a:t>
            </a:fld>
            <a:endParaRPr lang="vi-VN"/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grpSp>
        <p:nvGrpSpPr>
          <p:cNvPr id="24" name="Group 46"/>
          <p:cNvGrpSpPr>
            <a:grpSpLocks/>
          </p:cNvGrpSpPr>
          <p:nvPr/>
        </p:nvGrpSpPr>
        <p:grpSpPr bwMode="auto">
          <a:xfrm>
            <a:off x="2133600" y="1905000"/>
            <a:ext cx="4724400" cy="685800"/>
            <a:chOff x="1296" y="1824"/>
            <a:chExt cx="2976" cy="432"/>
          </a:xfrm>
        </p:grpSpPr>
        <p:sp>
          <p:nvSpPr>
            <p:cNvPr id="25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6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7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Khái niệm</a:t>
              </a:r>
            </a:p>
          </p:txBody>
        </p:sp>
        <p:sp>
          <p:nvSpPr>
            <p:cNvPr id="28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</a:p>
          </p:txBody>
        </p:sp>
      </p:grpSp>
      <p:grpSp>
        <p:nvGrpSpPr>
          <p:cNvPr id="29" name="Group 51"/>
          <p:cNvGrpSpPr>
            <a:grpSpLocks/>
          </p:cNvGrpSpPr>
          <p:nvPr/>
        </p:nvGrpSpPr>
        <p:grpSpPr bwMode="auto">
          <a:xfrm>
            <a:off x="2133600" y="2743200"/>
            <a:ext cx="4724400" cy="685800"/>
            <a:chOff x="1296" y="1824"/>
            <a:chExt cx="2976" cy="432"/>
          </a:xfrm>
        </p:grpSpPr>
        <p:sp>
          <p:nvSpPr>
            <p:cNvPr id="30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1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2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Khai báo</a:t>
              </a:r>
            </a:p>
          </p:txBody>
        </p:sp>
        <p:sp>
          <p:nvSpPr>
            <p:cNvPr id="33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2</a:t>
              </a:r>
            </a:p>
          </p:txBody>
        </p:sp>
      </p:grpSp>
      <p:grpSp>
        <p:nvGrpSpPr>
          <p:cNvPr id="34" name="Group 56"/>
          <p:cNvGrpSpPr>
            <a:grpSpLocks/>
          </p:cNvGrpSpPr>
          <p:nvPr/>
        </p:nvGrpSpPr>
        <p:grpSpPr bwMode="auto">
          <a:xfrm>
            <a:off x="2133600" y="3581400"/>
            <a:ext cx="4724400" cy="685800"/>
            <a:chOff x="1296" y="1824"/>
            <a:chExt cx="2976" cy="432"/>
          </a:xfrm>
        </p:grpSpPr>
        <p:sp>
          <p:nvSpPr>
            <p:cNvPr id="35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6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7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Truy xuất dữ liệu kiểu mảng</a:t>
              </a:r>
            </a:p>
          </p:txBody>
        </p:sp>
        <p:sp>
          <p:nvSpPr>
            <p:cNvPr id="38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3</a:t>
              </a:r>
            </a:p>
          </p:txBody>
        </p:sp>
      </p:grpSp>
      <p:grpSp>
        <p:nvGrpSpPr>
          <p:cNvPr id="39" name="Group 61"/>
          <p:cNvGrpSpPr>
            <a:grpSpLocks/>
          </p:cNvGrpSpPr>
          <p:nvPr/>
        </p:nvGrpSpPr>
        <p:grpSpPr bwMode="auto">
          <a:xfrm>
            <a:off x="2133600" y="4495800"/>
            <a:ext cx="4724400" cy="685800"/>
            <a:chOff x="1296" y="1824"/>
            <a:chExt cx="2976" cy="432"/>
          </a:xfrm>
        </p:grpSpPr>
        <p:sp>
          <p:nvSpPr>
            <p:cNvPr id="40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0B5C4">
                    <a:gamma/>
                    <a:tint val="21176"/>
                    <a:invGamma/>
                  </a:srgbClr>
                </a:gs>
                <a:gs pos="100000">
                  <a:srgbClr val="A0B5C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1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A0B5C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2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Một số bài toán trên mảng 1 chiều</a:t>
              </a:r>
            </a:p>
          </p:txBody>
        </p:sp>
        <p:sp>
          <p:nvSpPr>
            <p:cNvPr id="43" name="Text Box 6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4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887387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Đặt vấn </a:t>
            </a:r>
            <a:r>
              <a:rPr lang="vi-VN"/>
              <a:t>đề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2060"/>
                </a:solidFill>
              </a:rPr>
              <a:t>Ví dụ</a:t>
            </a:r>
          </a:p>
          <a:p>
            <a:pPr lvl="1">
              <a:defRPr/>
            </a:pPr>
            <a:r>
              <a:rPr lang="en-US"/>
              <a:t>Ch</a:t>
            </a:r>
            <a:r>
              <a:rPr lang="vi-VN"/>
              <a:t>ươ</a:t>
            </a:r>
            <a:r>
              <a:rPr lang="en-US"/>
              <a:t>ng trình cần l</a:t>
            </a:r>
            <a:r>
              <a:rPr lang="vi-VN"/>
              <a:t>ư</a:t>
            </a:r>
            <a:r>
              <a:rPr lang="en-US"/>
              <a:t>u trữ </a:t>
            </a:r>
            <a:r>
              <a:rPr lang="en-US">
                <a:solidFill>
                  <a:srgbClr val="FF0000"/>
                </a:solidFill>
              </a:rPr>
              <a:t>3</a:t>
            </a:r>
            <a:r>
              <a:rPr lang="en-US"/>
              <a:t> số nguyên?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/>
              <a:t>	=&gt; Khai báo </a:t>
            </a:r>
            <a:r>
              <a:rPr lang="en-US">
                <a:solidFill>
                  <a:srgbClr val="FF0000"/>
                </a:solidFill>
              </a:rPr>
              <a:t>3</a:t>
            </a:r>
            <a:r>
              <a:rPr lang="en-US"/>
              <a:t> biến </a:t>
            </a:r>
            <a:r>
              <a:rPr lang="en-US">
                <a:solidFill>
                  <a:srgbClr val="FF0000"/>
                </a:solidFill>
              </a:rPr>
              <a:t>int a1, a2, a3;</a:t>
            </a:r>
          </a:p>
          <a:p>
            <a:pPr lvl="1">
              <a:defRPr/>
            </a:pPr>
            <a:r>
              <a:rPr lang="en-US"/>
              <a:t>Ch</a:t>
            </a:r>
            <a:r>
              <a:rPr lang="vi-VN"/>
              <a:t>ươ</a:t>
            </a:r>
            <a:r>
              <a:rPr lang="en-US"/>
              <a:t>ng trình cần l</a:t>
            </a:r>
            <a:r>
              <a:rPr lang="vi-VN"/>
              <a:t>ư</a:t>
            </a:r>
            <a:r>
              <a:rPr lang="en-US"/>
              <a:t>u trữ </a:t>
            </a:r>
            <a:r>
              <a:rPr lang="en-US">
                <a:solidFill>
                  <a:srgbClr val="FF0000"/>
                </a:solidFill>
              </a:rPr>
              <a:t>100</a:t>
            </a:r>
            <a:r>
              <a:rPr lang="en-US"/>
              <a:t> số nguyên?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/>
              <a:t>	=&gt; Khai báo </a:t>
            </a:r>
            <a:r>
              <a:rPr lang="en-US">
                <a:solidFill>
                  <a:srgbClr val="FF0000"/>
                </a:solidFill>
              </a:rPr>
              <a:t>100</a:t>
            </a:r>
            <a:r>
              <a:rPr lang="en-US"/>
              <a:t> biến kiểu số nguyên!</a:t>
            </a:r>
          </a:p>
          <a:p>
            <a:pPr lvl="1">
              <a:defRPr/>
            </a:pPr>
            <a:r>
              <a:rPr lang="en-US"/>
              <a:t>Ng</a:t>
            </a:r>
            <a:r>
              <a:rPr lang="vi-VN"/>
              <a:t>ườ</a:t>
            </a:r>
            <a:r>
              <a:rPr lang="en-US"/>
              <a:t>i dùng muốn nhập </a:t>
            </a:r>
            <a:r>
              <a:rPr lang="en-US">
                <a:solidFill>
                  <a:srgbClr val="FF0000"/>
                </a:solidFill>
              </a:rPr>
              <a:t>n</a:t>
            </a:r>
            <a:r>
              <a:rPr lang="en-US"/>
              <a:t> số nguyên?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/>
              <a:t>	=&gt; Không thực hiện </a:t>
            </a:r>
            <a:r>
              <a:rPr lang="vi-VN"/>
              <a:t>đượ</a:t>
            </a:r>
            <a:r>
              <a:rPr lang="en-US"/>
              <a:t>c!</a:t>
            </a:r>
          </a:p>
          <a:p>
            <a:pPr>
              <a:defRPr/>
            </a:pPr>
            <a:r>
              <a:rPr lang="en-US">
                <a:solidFill>
                  <a:srgbClr val="002060"/>
                </a:solidFill>
              </a:rPr>
              <a:t>Giải pháp</a:t>
            </a:r>
          </a:p>
          <a:p>
            <a:pPr lvl="1">
              <a:defRPr/>
            </a:pPr>
            <a:r>
              <a:rPr lang="en-US"/>
              <a:t>Kiểu dữ liệu mới cho phép </a:t>
            </a:r>
            <a:r>
              <a:rPr lang="en-US">
                <a:solidFill>
                  <a:srgbClr val="FF0000"/>
                </a:solidFill>
              </a:rPr>
              <a:t>l</a:t>
            </a:r>
            <a:r>
              <a:rPr lang="vi-VN">
                <a:solidFill>
                  <a:srgbClr val="FF0000"/>
                </a:solidFill>
              </a:rPr>
              <a:t>ư</a:t>
            </a:r>
            <a:r>
              <a:rPr lang="en-US">
                <a:solidFill>
                  <a:srgbClr val="FF0000"/>
                </a:solidFill>
              </a:rPr>
              <a:t>u trữ một dãy</a:t>
            </a:r>
            <a:r>
              <a:rPr lang="en-US"/>
              <a:t> các số nguyên và </a:t>
            </a:r>
            <a:r>
              <a:rPr lang="en-US">
                <a:solidFill>
                  <a:srgbClr val="FF0000"/>
                </a:solidFill>
              </a:rPr>
              <a:t>dễ dàng truy xuất</a:t>
            </a:r>
            <a:r>
              <a:rPr lang="en-US"/>
              <a:t>.</a:t>
            </a: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C997-2BD8-4DC0-AE69-2AEB63642F2E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04788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5.1.1 Khái niệm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2060"/>
                </a:solidFill>
              </a:rPr>
              <a:t>Khái niệm</a:t>
            </a:r>
          </a:p>
          <a:p>
            <a:pPr lvl="1">
              <a:defRPr/>
            </a:pPr>
            <a:r>
              <a:rPr lang="en-US"/>
              <a:t>Là một </a:t>
            </a:r>
            <a:r>
              <a:rPr lang="en-US">
                <a:solidFill>
                  <a:srgbClr val="FF0000"/>
                </a:solidFill>
              </a:rPr>
              <a:t>kiểu dữ liệu có cấu trúc</a:t>
            </a:r>
            <a:r>
              <a:rPr lang="en-US"/>
              <a:t> do người lập trình định nghĩa.</a:t>
            </a:r>
          </a:p>
          <a:p>
            <a:pPr lvl="1">
              <a:defRPr/>
            </a:pPr>
            <a:r>
              <a:rPr lang="en-US"/>
              <a:t>Biểu diễn một </a:t>
            </a:r>
            <a:r>
              <a:rPr lang="en-US">
                <a:solidFill>
                  <a:srgbClr val="FF0000"/>
                </a:solidFill>
              </a:rPr>
              <a:t>dãy các biến có cùng kiểu</a:t>
            </a:r>
            <a:r>
              <a:rPr lang="en-US"/>
              <a:t>. Ví dụ: dãy các số nguyên, dãy các ký tự…</a:t>
            </a:r>
          </a:p>
          <a:p>
            <a:pPr lvl="1">
              <a:defRPr/>
            </a:pPr>
            <a:r>
              <a:rPr lang="en-US"/>
              <a:t>Kích thước được </a:t>
            </a:r>
            <a:r>
              <a:rPr lang="en-US">
                <a:solidFill>
                  <a:srgbClr val="FF0000"/>
                </a:solidFill>
              </a:rPr>
              <a:t>xác định ngay khi khai báo</a:t>
            </a:r>
            <a:r>
              <a:rPr lang="en-US"/>
              <a:t> và </a:t>
            </a:r>
            <a:r>
              <a:rPr lang="en-US">
                <a:solidFill>
                  <a:srgbClr val="FF0000"/>
                </a:solidFill>
              </a:rPr>
              <a:t>không bao giờ thay đổi</a:t>
            </a:r>
            <a:r>
              <a:rPr lang="en-US"/>
              <a:t>.</a:t>
            </a:r>
          </a:p>
          <a:p>
            <a:pPr lvl="1">
              <a:defRPr/>
            </a:pPr>
            <a:r>
              <a:rPr lang="en-US"/>
              <a:t>C luôn chỉ định </a:t>
            </a:r>
            <a:r>
              <a:rPr lang="en-US">
                <a:solidFill>
                  <a:srgbClr val="FF0000"/>
                </a:solidFill>
              </a:rPr>
              <a:t>một khối nhớ liên tục</a:t>
            </a:r>
            <a:r>
              <a:rPr lang="en-US"/>
              <a:t> cho một biến kiểu mảng.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7977-3501-4714-8E7B-ED6DC693E589}" type="datetime1">
              <a:rPr lang="vi-VN" smtClean="0"/>
              <a:t>14/01/2024</a:t>
            </a:fld>
            <a:endParaRPr lang="vi-VN"/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474115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5.1.2 Khai báo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2060"/>
                </a:solidFill>
              </a:rPr>
              <a:t>Khai báo t</a:t>
            </a:r>
            <a:r>
              <a:rPr lang="vi-VN">
                <a:solidFill>
                  <a:srgbClr val="002060"/>
                </a:solidFill>
              </a:rPr>
              <a:t>ườ</a:t>
            </a:r>
            <a:r>
              <a:rPr lang="en-US">
                <a:solidFill>
                  <a:srgbClr val="002060"/>
                </a:solidFill>
              </a:rPr>
              <a:t>ng minh</a:t>
            </a:r>
          </a:p>
          <a:p>
            <a:pPr>
              <a:defRPr/>
            </a:pP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sz="2400"/>
              <a:t>&lt;N1&gt;, …, &lt;Nn&gt; : số l</a:t>
            </a:r>
            <a:r>
              <a:rPr lang="vi-VN" sz="2400"/>
              <a:t>ượ</a:t>
            </a:r>
            <a:r>
              <a:rPr lang="en-US" sz="2400"/>
              <a:t>ng phần tử của mỗi chiều.</a:t>
            </a:r>
          </a:p>
          <a:p>
            <a:pPr>
              <a:defRPr/>
            </a:pPr>
            <a:r>
              <a:rPr lang="en-US">
                <a:solidFill>
                  <a:srgbClr val="002060"/>
                </a:solidFill>
              </a:rPr>
              <a:t>L</a:t>
            </a:r>
            <a:r>
              <a:rPr lang="vi-VN">
                <a:solidFill>
                  <a:srgbClr val="002060"/>
                </a:solidFill>
              </a:rPr>
              <a:t>ư</a:t>
            </a:r>
            <a:r>
              <a:rPr lang="en-US">
                <a:solidFill>
                  <a:srgbClr val="002060"/>
                </a:solidFill>
              </a:rPr>
              <a:t>u ý</a:t>
            </a:r>
          </a:p>
          <a:p>
            <a:pPr lvl="1">
              <a:defRPr/>
            </a:pPr>
            <a:r>
              <a:rPr lang="en-US" sz="2300"/>
              <a:t>Phải </a:t>
            </a:r>
            <a:r>
              <a:rPr lang="en-US" sz="2300">
                <a:solidFill>
                  <a:srgbClr val="FF0000"/>
                </a:solidFill>
              </a:rPr>
              <a:t>xác </a:t>
            </a:r>
            <a:r>
              <a:rPr lang="vi-VN" sz="2300">
                <a:solidFill>
                  <a:srgbClr val="FF0000"/>
                </a:solidFill>
              </a:rPr>
              <a:t>đị</a:t>
            </a:r>
            <a:r>
              <a:rPr lang="en-US" sz="2300">
                <a:solidFill>
                  <a:srgbClr val="FF0000"/>
                </a:solidFill>
              </a:rPr>
              <a:t>nh &lt;số phần tử&gt; cụ thể</a:t>
            </a:r>
            <a:r>
              <a:rPr lang="en-US" sz="2300"/>
              <a:t> (</a:t>
            </a:r>
            <a:r>
              <a:rPr lang="en-US" sz="2300">
                <a:solidFill>
                  <a:srgbClr val="FF0000"/>
                </a:solidFill>
              </a:rPr>
              <a:t>hằng</a:t>
            </a:r>
            <a:r>
              <a:rPr lang="en-US" sz="2300"/>
              <a:t>) khi khai báo.</a:t>
            </a:r>
          </a:p>
          <a:p>
            <a:pPr lvl="1">
              <a:defRPr/>
            </a:pPr>
            <a:r>
              <a:rPr lang="en-US" sz="2300"/>
              <a:t>Mảng nhiều chiều: &lt;tổng số phần tử&gt; = N1*N2*…*Nn</a:t>
            </a:r>
          </a:p>
          <a:p>
            <a:pPr lvl="1">
              <a:defRPr/>
            </a:pPr>
            <a:r>
              <a:rPr lang="en-US" sz="2300"/>
              <a:t>Bộ nhớ sử dụng = &lt;tổng số phần tử&gt;*</a:t>
            </a:r>
            <a:r>
              <a:rPr lang="en-US" sz="2300">
                <a:solidFill>
                  <a:srgbClr val="FF0000"/>
                </a:solidFill>
              </a:rPr>
              <a:t>sizeof</a:t>
            </a:r>
            <a:r>
              <a:rPr lang="en-US" sz="2300"/>
              <a:t>(&lt;kiểu c</a:t>
            </a:r>
            <a:r>
              <a:rPr lang="vi-VN" sz="2300"/>
              <a:t>ơ</a:t>
            </a:r>
            <a:r>
              <a:rPr lang="en-US" sz="2300"/>
              <a:t> sở&gt;)</a:t>
            </a:r>
          </a:p>
          <a:p>
            <a:pPr lvl="1">
              <a:defRPr/>
            </a:pPr>
            <a:r>
              <a:rPr lang="en-US" sz="2300"/>
              <a:t>Một dãy liên tục có chỉ số từ </a:t>
            </a:r>
            <a:r>
              <a:rPr lang="en-US" sz="2300">
                <a:solidFill>
                  <a:srgbClr val="FF0000"/>
                </a:solidFill>
              </a:rPr>
              <a:t>0</a:t>
            </a:r>
            <a:r>
              <a:rPr lang="en-US" sz="2300"/>
              <a:t> </a:t>
            </a:r>
            <a:r>
              <a:rPr lang="vi-VN" sz="2300"/>
              <a:t>đế</a:t>
            </a:r>
            <a:r>
              <a:rPr lang="en-US" sz="2300"/>
              <a:t>n </a:t>
            </a:r>
            <a:r>
              <a:rPr lang="en-US" sz="2300">
                <a:solidFill>
                  <a:srgbClr val="FF0000"/>
                </a:solidFill>
              </a:rPr>
              <a:t>&lt;tổng số phần tử&gt;-1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4A461-A89E-48DD-9997-BF44428FD8BD}" type="datetime1">
              <a:rPr lang="vi-VN" smtClean="0"/>
              <a:t>14/01/2024</a:t>
            </a:fld>
            <a:endParaRPr lang="vi-VN"/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1628800"/>
            <a:ext cx="152400" cy="83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1705000"/>
            <a:ext cx="8305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&lt;kiểu 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sở&gt; &lt;tên biến mảng&gt;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&lt;số phần tử&gt;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01731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AutoShape 6"/>
          <p:cNvSpPr>
            <a:spLocks noChangeArrowheads="1"/>
          </p:cNvSpPr>
          <p:nvPr/>
        </p:nvSpPr>
        <p:spPr bwMode="gray">
          <a:xfrm>
            <a:off x="2209800" y="47244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82" name="AutoShape 6"/>
          <p:cNvSpPr>
            <a:spLocks noChangeArrowheads="1"/>
          </p:cNvSpPr>
          <p:nvPr/>
        </p:nvSpPr>
        <p:spPr bwMode="gray">
          <a:xfrm>
            <a:off x="2209800" y="5181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83" name="AutoShape 6"/>
          <p:cNvSpPr>
            <a:spLocks noChangeArrowheads="1"/>
          </p:cNvSpPr>
          <p:nvPr/>
        </p:nvSpPr>
        <p:spPr bwMode="gray">
          <a:xfrm>
            <a:off x="2209800" y="5638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204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Khai báo tường minh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2060"/>
                </a:solidFill>
              </a:rPr>
              <a:t>Ví dụ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233F-7354-4FD1-833A-70B24B9126B7}" type="datetime1">
              <a:rPr lang="vi-VN" smtClean="0"/>
              <a:t>14/01/2024</a:t>
            </a:fld>
            <a:endParaRPr lang="vi-VN"/>
          </a:p>
        </p:txBody>
      </p:sp>
      <p:sp>
        <p:nvSpPr>
          <p:cNvPr id="20487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133600"/>
            <a:ext cx="830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Mang1Chieu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26670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31242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35814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40386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44958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58674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63246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67818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49530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54102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26670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31242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35814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40386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44958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4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58674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7</a:t>
            </a:r>
            <a:endParaRPr lang="en-US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63246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8</a:t>
            </a:r>
            <a:endParaRPr lang="en-US" baseline="300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49530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5</a:t>
            </a:r>
            <a:endParaRPr lang="en-US" baseline="30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54102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6</a:t>
            </a:r>
            <a:endParaRPr lang="en-US" baseline="30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67818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9</a:t>
            </a:r>
            <a:endParaRPr lang="en-US" baseline="30000"/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609600" y="3124200"/>
            <a:ext cx="1828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Mang1Chieu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7338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38200" y="3810000"/>
            <a:ext cx="830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Mang2Chieu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26670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31242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35814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40386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44958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58674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63246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67818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49530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54102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26670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31242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35814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40386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44958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4</a:t>
            </a:r>
            <a:endParaRPr lang="en-US" baseline="30000"/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58674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7</a:t>
            </a:r>
            <a:endParaRPr lang="en-US" baseline="30000"/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63246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8</a:t>
            </a:r>
            <a:endParaRPr lang="en-US" baseline="30000"/>
          </a:p>
        </p:txBody>
      </p: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49530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5</a:t>
            </a:r>
            <a:endParaRPr lang="en-US" baseline="30000"/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54102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6</a:t>
            </a:r>
            <a:endParaRPr lang="en-US" baseline="30000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67818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9</a:t>
            </a:r>
            <a:endParaRPr lang="en-US" baseline="30000"/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609600" y="4800600"/>
            <a:ext cx="1828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Mang2Chieu</a:t>
            </a:r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72390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4" name="AutoShape 6"/>
          <p:cNvSpPr>
            <a:spLocks noChangeArrowheads="1"/>
          </p:cNvSpPr>
          <p:nvPr/>
        </p:nvSpPr>
        <p:spPr bwMode="gray">
          <a:xfrm>
            <a:off x="7696200" y="4724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72390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76962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73" name="AutoShape 6"/>
          <p:cNvSpPr>
            <a:spLocks noChangeArrowheads="1"/>
          </p:cNvSpPr>
          <p:nvPr/>
        </p:nvSpPr>
        <p:spPr bwMode="gray">
          <a:xfrm>
            <a:off x="2667000" y="5181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4038600" y="5181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2667000" y="5638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7" name="AutoShape 6"/>
          <p:cNvSpPr>
            <a:spLocks noChangeArrowheads="1"/>
          </p:cNvSpPr>
          <p:nvPr/>
        </p:nvSpPr>
        <p:spPr bwMode="gray">
          <a:xfrm>
            <a:off x="3124200" y="5181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8" name="AutoShape 6"/>
          <p:cNvSpPr>
            <a:spLocks noChangeArrowheads="1"/>
          </p:cNvSpPr>
          <p:nvPr/>
        </p:nvSpPr>
        <p:spPr bwMode="gray">
          <a:xfrm>
            <a:off x="3581400" y="5181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9" name="AutoShape 6"/>
          <p:cNvSpPr>
            <a:spLocks noChangeArrowheads="1"/>
          </p:cNvSpPr>
          <p:nvPr/>
        </p:nvSpPr>
        <p:spPr bwMode="gray">
          <a:xfrm>
            <a:off x="3581400" y="5638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0" name="AutoShape 6"/>
          <p:cNvSpPr>
            <a:spLocks noChangeArrowheads="1"/>
          </p:cNvSpPr>
          <p:nvPr/>
        </p:nvSpPr>
        <p:spPr bwMode="gray">
          <a:xfrm>
            <a:off x="4038600" y="5638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3124200" y="5638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4" name="AutoShape 6"/>
          <p:cNvSpPr>
            <a:spLocks noChangeArrowheads="1"/>
          </p:cNvSpPr>
          <p:nvPr/>
        </p:nvSpPr>
        <p:spPr bwMode="gray">
          <a:xfrm>
            <a:off x="4495800" y="5181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5" name="AutoShape 6"/>
          <p:cNvSpPr>
            <a:spLocks noChangeArrowheads="1"/>
          </p:cNvSpPr>
          <p:nvPr/>
        </p:nvSpPr>
        <p:spPr bwMode="gray">
          <a:xfrm>
            <a:off x="5410200" y="5181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6" name="AutoShape 6"/>
          <p:cNvSpPr>
            <a:spLocks noChangeArrowheads="1"/>
          </p:cNvSpPr>
          <p:nvPr/>
        </p:nvSpPr>
        <p:spPr bwMode="gray">
          <a:xfrm>
            <a:off x="5867400" y="5181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7" name="AutoShape 6"/>
          <p:cNvSpPr>
            <a:spLocks noChangeArrowheads="1"/>
          </p:cNvSpPr>
          <p:nvPr/>
        </p:nvSpPr>
        <p:spPr bwMode="gray">
          <a:xfrm>
            <a:off x="4953000" y="5181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7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85320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2 0.06667 " pathEditMode="relative" rAng="0" ptsTypes="AA">
                                      <p:cBhvr>
                                        <p:cTn id="19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2 0.06667 " pathEditMode="relative" rAng="0" ptsTypes="AA">
                                      <p:cBhvr>
                                        <p:cTn id="2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2 0.06667 " pathEditMode="relative" rAng="0" ptsTypes="AA">
                                      <p:cBhvr>
                                        <p:cTn id="20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2 0.06667 " pathEditMode="relative" rAng="0" ptsTypes="AA">
                                      <p:cBhvr>
                                        <p:cTn id="2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2 0.06667 " pathEditMode="relative" rAng="0" ptsTypes="AA">
                                      <p:cBhvr>
                                        <p:cTn id="2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2 0.06667 " pathEditMode="relative" rAng="0" ptsTypes="AA">
                                      <p:cBhvr>
                                        <p:cTn id="20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2 0.06667 " pathEditMode="relative" rAng="0" ptsTypes="AA">
                                      <p:cBhvr>
                                        <p:cTn id="21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2 0.06667 " pathEditMode="relative" rAng="0" ptsTypes="AA">
                                      <p:cBhvr>
                                        <p:cTn id="2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2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2 0.06667 " pathEditMode="relative" rAng="0" ptsTypes="AA">
                                      <p:cBhvr>
                                        <p:cTn id="27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2 0.06667 " pathEditMode="relative" rAng="0" ptsTypes="AA">
                                      <p:cBhvr>
                                        <p:cTn id="27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2 0.06667 " pathEditMode="relative" rAng="0" ptsTypes="AA">
                                      <p:cBhvr>
                                        <p:cTn id="27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2 0.06667 " pathEditMode="relative" rAng="0" ptsTypes="AA">
                                      <p:cBhvr>
                                        <p:cTn id="27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500"/>
                            </p:stCondLst>
                            <p:childTnLst>
                              <p:par>
                                <p:cTn id="28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83" grpId="0" animBg="1"/>
      <p:bldP spid="5" grpId="0" animBg="1"/>
      <p:bldP spid="6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3" grpId="0" animBg="1"/>
      <p:bldP spid="44" grpId="0" animBg="1"/>
      <p:bldP spid="45" grpId="0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/>
      <p:bldP spid="53" grpId="0" animBg="1"/>
      <p:bldP spid="53" grpId="1" animBg="1"/>
      <p:bldP spid="53" grpId="2" animBg="1"/>
      <p:bldP spid="54" grpId="0" animBg="1"/>
      <p:bldP spid="54" grpId="1" animBg="1"/>
      <p:bldP spid="54" grpId="2" animBg="1"/>
      <p:bldP spid="55" grpId="0" animBg="1"/>
      <p:bldP spid="55" grpId="1" animBg="1"/>
      <p:bldP spid="56" grpId="0" animBg="1"/>
      <p:bldP spid="56" grpId="1" animBg="1"/>
      <p:bldP spid="73" grpId="0" animBg="1"/>
      <p:bldP spid="74" grpId="0" animBg="1"/>
      <p:bldP spid="75" grpId="0" animBg="1"/>
      <p:bldP spid="77" grpId="0" animBg="1"/>
      <p:bldP spid="78" grpId="0" animBg="1"/>
      <p:bldP spid="79" grpId="0" animBg="1"/>
      <p:bldP spid="80" grpId="0" animBg="1"/>
      <p:bldP spid="76" grpId="0" animBg="1"/>
      <p:bldP spid="84" grpId="0" animBg="1"/>
      <p:bldP spid="84" grpId="1" animBg="1"/>
      <p:bldP spid="84" grpId="2" animBg="1"/>
      <p:bldP spid="85" grpId="0" animBg="1"/>
      <p:bldP spid="85" grpId="1" animBg="1"/>
      <p:bldP spid="85" grpId="2" animBg="1"/>
      <p:bldP spid="86" grpId="0" animBg="1"/>
      <p:bldP spid="86" grpId="1" animBg="1"/>
      <p:bldP spid="86" grpId="2" animBg="1"/>
      <p:bldP spid="87" grpId="0" animBg="1"/>
      <p:bldP spid="87" grpId="1" animBg="1"/>
      <p:bldP spid="87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2060"/>
                </a:solidFill>
              </a:rPr>
              <a:t>Cú pháp</a:t>
            </a:r>
          </a:p>
          <a:p>
            <a:pPr lvl="1">
              <a:defRPr/>
            </a:pPr>
            <a:r>
              <a:rPr lang="en-US"/>
              <a:t>Không t</a:t>
            </a:r>
            <a:r>
              <a:rPr lang="vi-VN"/>
              <a:t>ườ</a:t>
            </a:r>
            <a:r>
              <a:rPr lang="en-US"/>
              <a:t>ng minh (thông qua khai báo kiểu)</a:t>
            </a:r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>
              <a:defRPr/>
            </a:pPr>
            <a:endParaRPr lang="en-US">
              <a:solidFill>
                <a:srgbClr val="000066"/>
              </a:solidFill>
            </a:endParaRPr>
          </a:p>
          <a:p>
            <a:pPr>
              <a:defRPr/>
            </a:pPr>
            <a:r>
              <a:rPr lang="en-US">
                <a:solidFill>
                  <a:srgbClr val="000066"/>
                </a:solidFill>
              </a:rPr>
              <a:t>Ví dụ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2132856"/>
            <a:ext cx="152400" cy="1447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53786" y="2132856"/>
            <a:ext cx="83058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&lt;kiểu 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sở&gt; &lt;tên kiểu mảng&gt;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&lt;số phần tử&gt;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&lt;tên kiểu mảng&gt;   &lt;tên biến mảng&gt;;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&lt;kiểu 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sở&gt; &lt;tên kiểu mảng&gt;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&lt;N1&gt;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&lt;Nn&gt;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&lt;tên kiểu mảng&gt; &lt;tên biến mảng&gt;;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09120"/>
            <a:ext cx="152400" cy="1676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38200" y="4585320"/>
            <a:ext cx="830580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typedef int Mang1Chieu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typedef int Mang2Chieu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Mang1Chieu m1, m2, m3;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Mang2Chieu m4, m5;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53120-7B1F-4965-B460-A1F3C8F22C31}" type="datetime1">
              <a:rPr lang="vi-VN" smtClean="0"/>
              <a:t>14/01/2024</a:t>
            </a:fld>
            <a:endParaRPr lang="vi-V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Khai báo không t</a:t>
            </a:r>
            <a:r>
              <a:rPr lang="vi-VN"/>
              <a:t>ườ</a:t>
            </a:r>
            <a:r>
              <a:rPr lang="en-US"/>
              <a:t>ng minh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8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200840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1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Số phần tử của mảng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Phải xác </a:t>
            </a:r>
            <a:r>
              <a:rPr lang="vi-VN">
                <a:latin typeface="Arial" charset="0"/>
                <a:cs typeface="Arial" charset="0"/>
              </a:rPr>
              <a:t>đị</a:t>
            </a:r>
            <a:r>
              <a:rPr lang="en-US">
                <a:latin typeface="Arial" charset="0"/>
                <a:cs typeface="Arial" charset="0"/>
              </a:rPr>
              <a:t>nh cụ thể số phần tử ngay lúc khai báo, không </a:t>
            </a:r>
            <a:r>
              <a:rPr lang="vi-VN">
                <a:latin typeface="Arial" charset="0"/>
                <a:cs typeface="Arial" charset="0"/>
              </a:rPr>
              <a:t>đượ</a:t>
            </a:r>
            <a:r>
              <a:rPr lang="en-US">
                <a:latin typeface="Arial" charset="0"/>
                <a:cs typeface="Arial" charset="0"/>
              </a:rPr>
              <a:t>c sử dụng biến hoặc hằng th</a:t>
            </a:r>
            <a:r>
              <a:rPr lang="vi-VN">
                <a:latin typeface="Arial" charset="0"/>
                <a:cs typeface="Arial" charset="0"/>
              </a:rPr>
              <a:t>ườ</a:t>
            </a:r>
            <a:r>
              <a:rPr lang="en-US">
                <a:latin typeface="Arial" charset="0"/>
                <a:cs typeface="Arial" charset="0"/>
              </a:rPr>
              <a:t>ng</a:t>
            </a:r>
          </a:p>
          <a:p>
            <a:endParaRPr lang="en-US">
              <a:latin typeface="Arial" charset="0"/>
              <a:cs typeface="Arial" charset="0"/>
            </a:endParaRPr>
          </a:p>
          <a:p>
            <a:endParaRPr lang="en-US">
              <a:latin typeface="Arial" charset="0"/>
              <a:cs typeface="Arial" charset="0"/>
            </a:endParaRPr>
          </a:p>
          <a:p>
            <a:r>
              <a:rPr lang="en-US">
                <a:latin typeface="Arial" charset="0"/>
                <a:cs typeface="Arial" charset="0"/>
              </a:rPr>
              <a:t>Nên sử dụng chỉ thị tiền xử lý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#define</a:t>
            </a:r>
            <a:r>
              <a:rPr lang="en-US">
                <a:latin typeface="Arial" charset="0"/>
                <a:cs typeface="Arial" charset="0"/>
              </a:rPr>
              <a:t> </a:t>
            </a:r>
            <a:r>
              <a:rPr lang="vi-VN">
                <a:latin typeface="Arial" charset="0"/>
                <a:cs typeface="Arial" charset="0"/>
              </a:rPr>
              <a:t>để</a:t>
            </a:r>
            <a:r>
              <a:rPr lang="en-US">
                <a:latin typeface="Arial" charset="0"/>
                <a:cs typeface="Arial" charset="0"/>
              </a:rPr>
              <a:t> </a:t>
            </a:r>
            <a:r>
              <a:rPr lang="vi-VN">
                <a:latin typeface="Arial" charset="0"/>
                <a:cs typeface="Arial" charset="0"/>
              </a:rPr>
              <a:t>đị</a:t>
            </a:r>
            <a:r>
              <a:rPr lang="en-US">
                <a:latin typeface="Arial" charset="0"/>
                <a:cs typeface="Arial" charset="0"/>
              </a:rPr>
              <a:t>nh nghĩa số phần tử mảng</a:t>
            </a:r>
          </a:p>
          <a:p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DC7F1-97FE-4E76-A017-383BF017335E}" type="datetime1">
              <a:rPr lang="vi-VN" smtClean="0"/>
              <a:t>14/01/2024</a:t>
            </a:fld>
            <a:endParaRPr lang="vi-VN"/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2564904"/>
            <a:ext cx="152400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641104"/>
            <a:ext cx="83058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 =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int 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n2 = 20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int b[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81128"/>
            <a:ext cx="152400" cy="1371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628753"/>
            <a:ext cx="83058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#define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 10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#define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n2 20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];		// </a:t>
            </a:r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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int a[10];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b[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];	// </a:t>
            </a:r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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int b[10][20];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9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78016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Khởi tạo giá trị cho mảng lúc khai báo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Gồm các cách sau</a:t>
            </a:r>
          </a:p>
          <a:p>
            <a:pPr lvl="1">
              <a:defRPr/>
            </a:pPr>
            <a:r>
              <a:rPr lang="en-US"/>
              <a:t>Khởi tạo giá trị cho mọi phần tử của mảng</a:t>
            </a:r>
          </a:p>
          <a:p>
            <a:pPr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Khởi tạo giá trị cho một số phần tử </a:t>
            </a:r>
            <a:r>
              <a:rPr lang="vi-VN"/>
              <a:t>đầ</a:t>
            </a:r>
            <a:r>
              <a:rPr lang="en-US"/>
              <a:t>u mảng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E75D8-7ACE-4958-A0E6-718A4F0F35DB}" type="datetime1">
              <a:rPr lang="vi-VN" smtClean="0"/>
              <a:t>14/01/2024</a:t>
            </a:fld>
            <a:endParaRPr lang="vi-VN"/>
          </a:p>
        </p:txBody>
      </p:sp>
      <p:sp>
        <p:nvSpPr>
          <p:cNvPr id="2356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990600" y="2060848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143000" y="2137048"/>
            <a:ext cx="7315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a[4] = {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2912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1706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1506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1904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2667000" y="29718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2912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3581400" y="29718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1706</a:t>
            </a: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4495800" y="29718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1506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5410200" y="29718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1904</a:t>
            </a: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2667000" y="25146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3581400" y="25146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4495800" y="25146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5410200" y="25146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1752600" y="29718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</a:rPr>
              <a:t>a</a:t>
            </a:r>
            <a:endParaRPr lang="en-US" baseline="30000">
              <a:solidFill>
                <a:schemeClr val="accent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90600" y="4437112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1143000" y="4513312"/>
            <a:ext cx="7315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a[4] = {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2912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1706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2819400" y="5564088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2912</a:t>
            </a:r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3733800" y="5564088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1706</a:t>
            </a:r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4648200" y="5564088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/>
              <a:t>0</a:t>
            </a:r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5562600" y="5564088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/>
              <a:t>0</a:t>
            </a:r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2819400" y="5106888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3733800" y="5106888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4648200" y="5106888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5562600" y="5106888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1905000" y="5564088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</a:rPr>
              <a:t>a</a:t>
            </a:r>
            <a:endParaRPr lang="en-US" baseline="3000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10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49852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4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 animBg="1"/>
      <p:bldP spid="31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Gồm các cách sau</a:t>
            </a:r>
          </a:p>
          <a:p>
            <a:pPr lvl="1">
              <a:defRPr/>
            </a:pPr>
            <a:r>
              <a:rPr lang="en-US"/>
              <a:t>Khởi tạo giá trị </a:t>
            </a:r>
            <a:r>
              <a:rPr lang="en-US">
                <a:solidFill>
                  <a:srgbClr val="FF0000"/>
                </a:solidFill>
              </a:rPr>
              <a:t>0</a:t>
            </a:r>
            <a:r>
              <a:rPr lang="en-US"/>
              <a:t> cho mọi phần tử của mảng</a:t>
            </a:r>
          </a:p>
          <a:p>
            <a:pPr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Tự </a:t>
            </a:r>
            <a:r>
              <a:rPr lang="vi-VN"/>
              <a:t>độ</a:t>
            </a:r>
            <a:r>
              <a:rPr lang="en-US"/>
              <a:t>ng xác </a:t>
            </a:r>
            <a:r>
              <a:rPr lang="vi-VN"/>
              <a:t>đị</a:t>
            </a:r>
            <a:r>
              <a:rPr lang="en-US"/>
              <a:t>nh số l</a:t>
            </a:r>
            <a:r>
              <a:rPr lang="vi-VN"/>
              <a:t>ượ</a:t>
            </a:r>
            <a:r>
              <a:rPr lang="en-US"/>
              <a:t>ng phần tử</a:t>
            </a:r>
          </a:p>
        </p:txBody>
      </p:sp>
      <p:sp>
        <p:nvSpPr>
          <p:cNvPr id="2458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990600" y="2132856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143000" y="2209056"/>
            <a:ext cx="7315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a[4] = {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2667000" y="3187824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3581400" y="3187824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/>
              <a:t>0</a:t>
            </a: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4495800" y="3187824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/>
              <a:t>0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5410200" y="3187824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/>
              <a:t>0</a:t>
            </a: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2667000" y="2730624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3581400" y="2730624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4495800" y="2730624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5410200" y="2730624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1752600" y="3187824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</a:rPr>
              <a:t>a</a:t>
            </a:r>
            <a:endParaRPr lang="en-US" baseline="30000">
              <a:solidFill>
                <a:schemeClr val="accent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90600" y="4437112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1143000" y="4513312"/>
            <a:ext cx="7315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a[] = {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2912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1706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1506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1904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2819400" y="5636096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2912</a:t>
            </a:r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3733800" y="5636096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1706</a:t>
            </a:r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4648200" y="5636096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1506</a:t>
            </a:r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5562600" y="5636096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1904</a:t>
            </a:r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2819400" y="5178896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3733800" y="5178896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4648200" y="5178896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5562600" y="5178896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1905000" y="5636096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</a:rPr>
              <a:t>a</a:t>
            </a:r>
            <a:endParaRPr lang="en-US" baseline="30000">
              <a:solidFill>
                <a:schemeClr val="accent2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B2C2-CEF6-40A6-AB9B-001EF74666E8}" type="datetime1">
              <a:rPr lang="vi-VN" smtClean="0"/>
              <a:t>14/01/2024</a:t>
            </a:fld>
            <a:endParaRPr lang="vi-VN"/>
          </a:p>
        </p:txBody>
      </p:sp>
      <p:sp>
        <p:nvSpPr>
          <p:cNvPr id="34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Khởi tạo giá trị cho mảng lúc khai báo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11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426809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4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 animBg="1"/>
      <p:bldP spid="31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5.1.3 Truy xuất </a:t>
            </a:r>
            <a:r>
              <a:rPr lang="vi-VN"/>
              <a:t>đế</a:t>
            </a:r>
            <a:r>
              <a:rPr lang="en-US"/>
              <a:t>n một phần tử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Thông qua chỉ số</a:t>
            </a:r>
          </a:p>
          <a:p>
            <a:pPr lvl="1">
              <a:defRPr/>
            </a:pPr>
            <a:endParaRPr lang="en-US"/>
          </a:p>
          <a:p>
            <a:pPr>
              <a:defRPr/>
            </a:pP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Ví dụ</a:t>
            </a:r>
          </a:p>
          <a:p>
            <a:pPr lvl="1">
              <a:defRPr/>
            </a:pPr>
            <a:r>
              <a:rPr lang="en-US"/>
              <a:t>Cho mảng nh</a:t>
            </a:r>
            <a:r>
              <a:rPr lang="vi-VN"/>
              <a:t>ư</a:t>
            </a:r>
            <a:r>
              <a:rPr lang="en-US"/>
              <a:t> sau</a:t>
            </a:r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Các truy xuất</a:t>
            </a:r>
          </a:p>
          <a:p>
            <a:pPr lvl="2">
              <a:defRPr/>
            </a:pPr>
            <a:r>
              <a:rPr lang="en-US">
                <a:solidFill>
                  <a:srgbClr val="000066"/>
                </a:solidFill>
              </a:rPr>
              <a:t>Hợp lệ</a:t>
            </a:r>
            <a:r>
              <a:rPr lang="en-US"/>
              <a:t>: a[0], a[1], a[2], a[3]</a:t>
            </a:r>
          </a:p>
          <a:p>
            <a:pPr lvl="2">
              <a:defRPr/>
            </a:pPr>
            <a:r>
              <a:rPr lang="en-US">
                <a:solidFill>
                  <a:srgbClr val="FF0000"/>
                </a:solidFill>
              </a:rPr>
              <a:t>Không hợp lệ</a:t>
            </a:r>
            <a:r>
              <a:rPr lang="en-US"/>
              <a:t>: a[-1], a[4], a[5], …</a:t>
            </a:r>
          </a:p>
          <a:p>
            <a:pPr lvl="2">
              <a:buFontTx/>
              <a:buNone/>
              <a:defRPr/>
            </a:pPr>
            <a:r>
              <a:rPr lang="en-US"/>
              <a:t>	=&gt; Cho kết quả th</a:t>
            </a:r>
            <a:r>
              <a:rPr lang="vi-VN"/>
              <a:t>ườ</a:t>
            </a:r>
            <a:r>
              <a:rPr lang="en-US"/>
              <a:t>ng không nh</a:t>
            </a:r>
            <a:r>
              <a:rPr lang="vi-VN"/>
              <a:t>ư</a:t>
            </a:r>
            <a:r>
              <a:rPr lang="en-US"/>
              <a:t> mong muốn!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1844824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1921024"/>
            <a:ext cx="403440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&lt;tên biến mảng&gt;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&lt;chỉ số&gt;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1524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733800"/>
            <a:ext cx="7315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a[4];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4644008" y="3094112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5101208" y="3094112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5558408" y="3094112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15608" y="3094112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4644008" y="2636912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5101208" y="2636912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5558408" y="2636912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6015608" y="2636912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56DB-F0EF-4D1A-BEBB-8D53597405BB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84614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Gán dữ liệu kiểu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Không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vi-VN">
                <a:latin typeface="Arial" charset="0"/>
                <a:cs typeface="Arial" charset="0"/>
              </a:rPr>
              <a:t>đượ</a:t>
            </a:r>
            <a:r>
              <a:rPr lang="en-US">
                <a:latin typeface="Arial" charset="0"/>
                <a:cs typeface="Arial" charset="0"/>
              </a:rPr>
              <a:t>c sử dụng phép gán thông th</a:t>
            </a:r>
            <a:r>
              <a:rPr lang="vi-VN">
                <a:latin typeface="Arial" charset="0"/>
                <a:cs typeface="Arial" charset="0"/>
              </a:rPr>
              <a:t>ườ</a:t>
            </a:r>
            <a:r>
              <a:rPr lang="en-US">
                <a:latin typeface="Arial" charset="0"/>
                <a:cs typeface="Arial" charset="0"/>
              </a:rPr>
              <a:t>ng mà phải gán trực tiếp giữa các phần tử t</a:t>
            </a:r>
            <a:r>
              <a:rPr lang="vi-VN">
                <a:latin typeface="Arial" charset="0"/>
                <a:cs typeface="Arial" charset="0"/>
              </a:rPr>
              <a:t>ươ</a:t>
            </a:r>
            <a:r>
              <a:rPr lang="en-US">
                <a:latin typeface="Arial" charset="0"/>
                <a:cs typeface="Arial" charset="0"/>
              </a:rPr>
              <a:t>ng ứng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Ví dụ</a:t>
            </a: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2564904"/>
            <a:ext cx="1524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2492896"/>
            <a:ext cx="7315200" cy="10156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&lt;biến mảng </a:t>
            </a:r>
            <a:r>
              <a:rPr lang="vi-VN" sz="2000" b="1" strike="sngStrike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ch&gt; = &lt;biến mảng nguồn&gt;;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//sai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&lt;biến mảng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ch&gt;[&lt;chỉ số thứ i&gt;] =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&lt;giá trị&gt;;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4077072"/>
            <a:ext cx="152400" cy="1905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077072"/>
            <a:ext cx="7315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#define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3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typedef int MangSo[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MangSo a = {7, 4, 2}, b;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b = a;	// Sai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for (int i = 0; i &lt; 3; i++) b[i] = a[i];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4153272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5372472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5677272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734C5-7585-490B-B78B-1520F7393113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97019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Một số lỗi th</a:t>
            </a:r>
            <a:r>
              <a:rPr lang="vi-VN"/>
              <a:t>ườ</a:t>
            </a:r>
            <a:r>
              <a:rPr lang="en-US"/>
              <a:t>ng gặp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202488" cy="5181600"/>
          </a:xfrm>
        </p:spPr>
        <p:txBody>
          <a:bodyPr/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Khai báo không chỉ rõ số l</a:t>
            </a:r>
            <a:r>
              <a:rPr lang="vi-VN">
                <a:latin typeface="Arial" charset="0"/>
                <a:cs typeface="Arial" charset="0"/>
              </a:rPr>
              <a:t>ượ</a:t>
            </a:r>
            <a:r>
              <a:rPr lang="en-US">
                <a:latin typeface="Arial" charset="0"/>
                <a:cs typeface="Arial" charset="0"/>
              </a:rPr>
              <a:t>ng phần tử</a:t>
            </a:r>
          </a:p>
          <a:p>
            <a:pPr lvl="1">
              <a:defRPr/>
            </a:pPr>
            <a:r>
              <a:rPr lang="en-US" sz="2400"/>
              <a:t>int a</a:t>
            </a:r>
            <a:r>
              <a:rPr lang="en-US" sz="2400">
                <a:solidFill>
                  <a:srgbClr val="FF0000"/>
                </a:solidFill>
              </a:rPr>
              <a:t>[]</a:t>
            </a:r>
            <a:r>
              <a:rPr lang="en-US" sz="2400"/>
              <a:t>; </a:t>
            </a:r>
            <a:r>
              <a:rPr lang="en-US">
                <a:sym typeface="Wingdings" pitchFamily="2" charset="2"/>
              </a:rPr>
              <a:t></a:t>
            </a:r>
            <a:r>
              <a:rPr lang="en-US" sz="2400"/>
              <a:t> int a[100];</a:t>
            </a:r>
          </a:p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Số l</a:t>
            </a:r>
            <a:r>
              <a:rPr lang="vi-VN">
                <a:latin typeface="Arial" charset="0"/>
                <a:cs typeface="Arial" charset="0"/>
              </a:rPr>
              <a:t>ượ</a:t>
            </a:r>
            <a:r>
              <a:rPr lang="en-US">
                <a:latin typeface="Arial" charset="0"/>
                <a:cs typeface="Arial" charset="0"/>
              </a:rPr>
              <a:t>ng phần tử liên quan </a:t>
            </a:r>
            <a:r>
              <a:rPr lang="vi-VN">
                <a:latin typeface="Arial" charset="0"/>
                <a:cs typeface="Arial" charset="0"/>
              </a:rPr>
              <a:t>đế</a:t>
            </a:r>
            <a:r>
              <a:rPr lang="en-US">
                <a:latin typeface="Arial" charset="0"/>
                <a:cs typeface="Arial" charset="0"/>
              </a:rPr>
              <a:t>n biến hoặc hằng</a:t>
            </a:r>
          </a:p>
          <a:p>
            <a:pPr lvl="1">
              <a:defRPr/>
            </a:pPr>
            <a:r>
              <a:rPr lang="en-US" sz="2400"/>
              <a:t>int n1 = 10; int a[</a:t>
            </a:r>
            <a:r>
              <a:rPr lang="en-US" sz="2400">
                <a:solidFill>
                  <a:srgbClr val="FF0000"/>
                </a:solidFill>
              </a:rPr>
              <a:t>n1</a:t>
            </a:r>
            <a:r>
              <a:rPr lang="en-US" sz="2400"/>
              <a:t>]; </a:t>
            </a:r>
          </a:p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Khởi tạo cách biệt với khai báo</a:t>
            </a:r>
          </a:p>
          <a:p>
            <a:pPr lvl="1">
              <a:defRPr/>
            </a:pPr>
            <a:r>
              <a:rPr lang="en-US" sz="2400"/>
              <a:t>int a[4]; a = {2912, 1706, 1506, 1904};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z="2400"/>
              <a:t>	</a:t>
            </a:r>
            <a:r>
              <a:rPr lang="en-US">
                <a:sym typeface="Wingdings" pitchFamily="2" charset="2"/>
              </a:rPr>
              <a:t></a:t>
            </a:r>
            <a:r>
              <a:rPr lang="en-US" sz="2400"/>
              <a:t> int a[4] = {2912, 1706, 1506, 1904};</a:t>
            </a:r>
          </a:p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Chỉ số mảng không hợp lệ</a:t>
            </a:r>
          </a:p>
          <a:p>
            <a:pPr lvl="1">
              <a:spcBef>
                <a:spcPts val="0"/>
              </a:spcBef>
              <a:defRPr/>
            </a:pPr>
            <a:r>
              <a:rPr lang="en-US" sz="2400"/>
              <a:t>int a[4];</a:t>
            </a:r>
          </a:p>
          <a:p>
            <a:pPr lvl="1">
              <a:spcBef>
                <a:spcPts val="0"/>
              </a:spcBef>
              <a:defRPr/>
            </a:pPr>
            <a:r>
              <a:rPr lang="en-US" sz="2400"/>
              <a:t>a[</a:t>
            </a:r>
            <a:r>
              <a:rPr lang="en-US" sz="2400">
                <a:solidFill>
                  <a:srgbClr val="FF0000"/>
                </a:solidFill>
              </a:rPr>
              <a:t>-1</a:t>
            </a:r>
            <a:r>
              <a:rPr lang="en-US" sz="2400"/>
              <a:t>] = 1; a[</a:t>
            </a:r>
            <a:r>
              <a:rPr lang="en-US" sz="2400">
                <a:solidFill>
                  <a:srgbClr val="FF0000"/>
                </a:solidFill>
              </a:rPr>
              <a:t>10</a:t>
            </a:r>
            <a:r>
              <a:rPr lang="en-US" sz="2400"/>
              <a:t>] = 0;</a:t>
            </a: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9F660-4DBB-4FD6-8681-5DA350C6C61F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11073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5.1.4 Một số bài toán trên mảng 1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mảng</a:t>
            </a:r>
          </a:p>
          <a:p>
            <a:pPr>
              <a:defRPr/>
            </a:pPr>
            <a:r>
              <a:rPr lang="en-US"/>
              <a:t>Xuất mảng</a:t>
            </a:r>
          </a:p>
          <a:p>
            <a:pPr>
              <a:defRPr/>
            </a:pPr>
            <a:r>
              <a:rPr lang="en-US"/>
              <a:t>Tìm kiếm một phần tử trong mảng</a:t>
            </a:r>
          </a:p>
          <a:p>
            <a:pPr>
              <a:defRPr/>
            </a:pPr>
            <a:r>
              <a:rPr lang="en-US"/>
              <a:t>Tìm giá trị nhỏ nhất/lớn nhất của mảng</a:t>
            </a:r>
          </a:p>
          <a:p>
            <a:pPr>
              <a:defRPr/>
            </a:pPr>
            <a:r>
              <a:rPr lang="en-US"/>
              <a:t>Sắp xếp mảng giảm dần/t</a:t>
            </a:r>
            <a:r>
              <a:rPr lang="vi-VN"/>
              <a:t>ă</a:t>
            </a:r>
            <a:r>
              <a:rPr lang="en-US"/>
              <a:t>ng dần</a:t>
            </a:r>
          </a:p>
          <a:p>
            <a:pPr>
              <a:defRPr/>
            </a:pPr>
            <a:r>
              <a:rPr lang="en-US"/>
              <a:t>Thêm/Xóa/Sửa một phần tử vào mảng</a:t>
            </a: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0769-A8D0-4DA5-84A5-44156B1A0F52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1036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Nhập mảng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Đoạn chương trình nhập vào từ bàn phím một mảng 1 chiều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 gồm </a:t>
            </a:r>
            <a:r>
              <a:rPr lang="en-US">
                <a:solidFill>
                  <a:srgbClr val="FF0000"/>
                </a:solidFill>
              </a:rPr>
              <a:t>n</a:t>
            </a:r>
            <a:r>
              <a:rPr lang="en-US"/>
              <a:t> phần tử</a:t>
            </a:r>
          </a:p>
          <a:p>
            <a:pPr marL="0" indent="0">
              <a:buNone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#define MAXN 100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[MAXN];	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printf(“Nhap so luong phan tu n: ”);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scanf(“%d”, &amp;n);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for 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printf(“Nhap phan tu thu %d: ”,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055DF-E852-48DC-9A74-AB027958B5DC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541470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Xuất mảng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Đoạn chương trình in ra màn hình một mảng 1 chiều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 gồm </a:t>
            </a:r>
            <a:r>
              <a:rPr lang="en-US">
                <a:solidFill>
                  <a:srgbClr val="FF0000"/>
                </a:solidFill>
              </a:rPr>
              <a:t>n</a:t>
            </a:r>
            <a:r>
              <a:rPr lang="en-US"/>
              <a:t> phần tử</a:t>
            </a:r>
          </a:p>
          <a:p>
            <a:pPr marL="0" indent="0"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printf(“Noi dung cua mang la: ”);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for 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0; i &lt; n; 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 ”, 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printf(“\n”); /*Đưa con trỏ màn hình xuống dòng 			tiếp theo */</a:t>
            </a:r>
          </a:p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5BF1-C5A1-4569-948D-4BBCDECFFCD1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17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770122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có mảng là tham số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Khai báo</a:t>
            </a:r>
          </a:p>
          <a:p>
            <a:pPr lvl="1">
              <a:defRPr/>
            </a:pPr>
            <a:r>
              <a:rPr lang="en-US"/>
              <a:t>Tham số kiểu mảng trong khai báo hàm </a:t>
            </a:r>
            <a:r>
              <a:rPr lang="en-US">
                <a:solidFill>
                  <a:srgbClr val="FF0000"/>
                </a:solidFill>
              </a:rPr>
              <a:t>giống nh</a:t>
            </a:r>
            <a:r>
              <a:rPr lang="vi-VN">
                <a:solidFill>
                  <a:srgbClr val="FF0000"/>
                </a:solidFill>
              </a:rPr>
              <a:t>ư</a:t>
            </a:r>
            <a:r>
              <a:rPr lang="en-US">
                <a:solidFill>
                  <a:srgbClr val="FF0000"/>
                </a:solidFill>
              </a:rPr>
              <a:t> khai báo biến</a:t>
            </a:r>
            <a:r>
              <a:rPr lang="en-US"/>
              <a:t> mảng</a:t>
            </a:r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Tham số kiểu mảng truyền cho hàm chính là </a:t>
            </a:r>
            <a:r>
              <a:rPr lang="vi-VN">
                <a:solidFill>
                  <a:srgbClr val="FF0000"/>
                </a:solidFill>
              </a:rPr>
              <a:t>đị</a:t>
            </a:r>
            <a:r>
              <a:rPr lang="en-US">
                <a:solidFill>
                  <a:srgbClr val="FF0000"/>
                </a:solidFill>
              </a:rPr>
              <a:t>a chỉ của phần tử </a:t>
            </a:r>
            <a:r>
              <a:rPr lang="vi-VN">
                <a:solidFill>
                  <a:srgbClr val="FF0000"/>
                </a:solidFill>
              </a:rPr>
              <a:t>đầ</a:t>
            </a:r>
            <a:r>
              <a:rPr lang="en-US">
                <a:solidFill>
                  <a:srgbClr val="FF0000"/>
                </a:solidFill>
              </a:rPr>
              <a:t>u tiên của mảng</a:t>
            </a:r>
          </a:p>
          <a:p>
            <a:pPr lvl="2">
              <a:defRPr/>
            </a:pPr>
            <a:r>
              <a:rPr lang="en-US"/>
              <a:t>Có thể </a:t>
            </a:r>
            <a:r>
              <a:rPr lang="en-US">
                <a:solidFill>
                  <a:srgbClr val="FF0000"/>
                </a:solidFill>
              </a:rPr>
              <a:t>bỏ số l</a:t>
            </a:r>
            <a:r>
              <a:rPr lang="vi-VN">
                <a:solidFill>
                  <a:srgbClr val="FF0000"/>
                </a:solidFill>
              </a:rPr>
              <a:t>ượ</a:t>
            </a:r>
            <a:r>
              <a:rPr lang="en-US">
                <a:solidFill>
                  <a:srgbClr val="FF0000"/>
                </a:solidFill>
              </a:rPr>
              <a:t>ng phần tử</a:t>
            </a:r>
            <a:r>
              <a:rPr lang="en-US"/>
              <a:t> hoặc </a:t>
            </a:r>
            <a:r>
              <a:rPr lang="en-US">
                <a:solidFill>
                  <a:srgbClr val="FF0000"/>
                </a:solidFill>
              </a:rPr>
              <a:t>sử dụng con trỏ</a:t>
            </a:r>
            <a:r>
              <a:rPr lang="en-US"/>
              <a:t>.</a:t>
            </a:r>
          </a:p>
          <a:p>
            <a:pPr lvl="2">
              <a:defRPr/>
            </a:pPr>
            <a:r>
              <a:rPr lang="en-US"/>
              <a:t>Mảng </a:t>
            </a:r>
            <a:r>
              <a:rPr lang="en-US">
                <a:solidFill>
                  <a:srgbClr val="FF0000"/>
                </a:solidFill>
              </a:rPr>
              <a:t>có thể thay </a:t>
            </a:r>
            <a:r>
              <a:rPr lang="vi-VN">
                <a:solidFill>
                  <a:srgbClr val="FF0000"/>
                </a:solidFill>
              </a:rPr>
              <a:t>đổ</a:t>
            </a:r>
            <a:r>
              <a:rPr lang="en-US">
                <a:solidFill>
                  <a:srgbClr val="FF0000"/>
                </a:solidFill>
              </a:rPr>
              <a:t>i nội dung</a:t>
            </a:r>
            <a:r>
              <a:rPr lang="en-US"/>
              <a:t> sau khi thực hiện hàm.</a:t>
            </a:r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 sz="1050"/>
          </a:p>
          <a:p>
            <a:pPr lvl="1">
              <a:defRPr/>
            </a:pPr>
            <a:r>
              <a:rPr lang="en-US"/>
              <a:t>Số l</a:t>
            </a:r>
            <a:r>
              <a:rPr lang="vi-VN"/>
              <a:t>ượ</a:t>
            </a:r>
            <a:r>
              <a:rPr lang="en-US"/>
              <a:t>ng phần tử thực sự truyền qua biến khác</a:t>
            </a:r>
          </a:p>
          <a:p>
            <a:pPr lvl="1">
              <a:defRPr/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A372-5E6C-4276-86BC-1BA701CE7471}" type="datetime1">
              <a:rPr lang="vi-VN" smtClean="0"/>
              <a:t>14/01/2024</a:t>
            </a:fld>
            <a:endParaRPr lang="vi-VN"/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234888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425080"/>
            <a:ext cx="830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a[100]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21088"/>
            <a:ext cx="152400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297288"/>
            <a:ext cx="83058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a[]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*a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390728"/>
            <a:ext cx="152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38200" y="5365328"/>
            <a:ext cx="83058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SapXepTang(int a[100],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SapXepTang(int a[],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SapXepTang(int *a,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18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41104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1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nhập mảng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913B8-AAF8-4C18-9A51-17A7CB009356}" type="datetime1">
              <a:rPr lang="vi-VN" smtClean="0"/>
              <a:t>14/01/2024</a:t>
            </a:fld>
            <a:endParaRPr lang="vi-VN"/>
          </a:p>
        </p:txBody>
      </p:sp>
      <p:sp>
        <p:nvSpPr>
          <p:cNvPr id="34819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82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NhapMang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&amp;n)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so luong phan tu n: 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for 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printf(“Nhap phan tu thu %d: ”,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209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19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4788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xuất mảng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CB93-09CD-405A-99B5-5BF9C0719659}" type="datetime1">
              <a:rPr lang="vi-VN" smtClean="0"/>
              <a:t>14/01/2024</a:t>
            </a:fld>
            <a:endParaRPr lang="vi-VN"/>
          </a:p>
        </p:txBody>
      </p:sp>
      <p:sp>
        <p:nvSpPr>
          <p:cNvPr id="36867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2819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9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XuatMang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printf(“Noi dung cua mang la: ”);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for 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 ”, 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printf(“\n”);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15875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15875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20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426587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Truyền tham số mảng cho hàm (sử dụng)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Lời gọi hàm</a:t>
            </a:r>
          </a:p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5F635-15D2-4588-AE98-7905C33015BD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2696" y="2014240"/>
            <a:ext cx="152400" cy="2438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45096" y="1988840"/>
            <a:ext cx="8305800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NhapMang(int a[], int &amp;n);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XuatMang(int a[], int 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a[100], n;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NhapMang(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XuatMang(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6896" y="361444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6896" y="391924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21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33436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Tìm kiếm một phần tử trong mảng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>
                <a:latin typeface="Arial" charset="0"/>
                <a:cs typeface="Arial" charset="0"/>
              </a:rPr>
              <a:t>Yêu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cầu</a:t>
            </a:r>
            <a:endParaRPr lang="en-US" dirty="0">
              <a:latin typeface="Arial" charset="0"/>
              <a:cs typeface="Arial" charset="0"/>
            </a:endParaRPr>
          </a:p>
          <a:p>
            <a:pPr lvl="1">
              <a:defRPr/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xem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nằm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mảng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a</a:t>
            </a:r>
            <a:r>
              <a:rPr lang="en-US" sz="2400" dirty="0"/>
              <a:t> </a:t>
            </a:r>
            <a:r>
              <a:rPr lang="en-US" sz="2400" dirty="0" err="1"/>
              <a:t>kích</a:t>
            </a:r>
            <a:r>
              <a:rPr lang="en-US" sz="2400" dirty="0"/>
              <a:t> </a:t>
            </a:r>
            <a:r>
              <a:rPr lang="en-US" sz="2400" dirty="0" err="1"/>
              <a:t>th</a:t>
            </a:r>
            <a:r>
              <a:rPr lang="vi-VN" sz="2400" dirty="0"/>
              <a:t>ướ</a:t>
            </a:r>
            <a:r>
              <a:rPr lang="en-US" sz="2400" dirty="0"/>
              <a:t>c </a:t>
            </a:r>
            <a:r>
              <a:rPr lang="en-US" sz="2400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 hay </a:t>
            </a:r>
            <a:r>
              <a:rPr lang="en-US" sz="2400" dirty="0" err="1"/>
              <a:t>không</a:t>
            </a:r>
            <a:r>
              <a:rPr lang="en-US" sz="2400" dirty="0"/>
              <a:t>?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thì </a:t>
            </a:r>
            <a:r>
              <a:rPr lang="en-US" sz="2400" dirty="0" err="1"/>
              <a:t>nó</a:t>
            </a:r>
            <a:r>
              <a:rPr lang="en-US" sz="2400" dirty="0"/>
              <a:t> </a:t>
            </a:r>
            <a:r>
              <a:rPr lang="en-US" sz="2400" dirty="0" err="1"/>
              <a:t>nằm</a:t>
            </a:r>
            <a:r>
              <a:rPr lang="en-US" sz="2400" dirty="0"/>
              <a:t> ở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trí</a:t>
            </a:r>
            <a:r>
              <a:rPr lang="en-US" sz="2400" dirty="0"/>
              <a:t> </a:t>
            </a:r>
            <a:r>
              <a:rPr lang="vi-VN" sz="2400" dirty="0"/>
              <a:t>đầ</a:t>
            </a:r>
            <a:r>
              <a:rPr lang="en-US" sz="2400" dirty="0"/>
              <a:t>u </a:t>
            </a:r>
            <a:r>
              <a:rPr lang="en-US" sz="2400" dirty="0" err="1"/>
              <a:t>tiên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.</a:t>
            </a:r>
          </a:p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Ý t</a:t>
            </a:r>
            <a:r>
              <a:rPr lang="vi-VN" dirty="0">
                <a:latin typeface="Arial" charset="0"/>
                <a:cs typeface="Arial" charset="0"/>
              </a:rPr>
              <a:t>ưở</a:t>
            </a:r>
            <a:r>
              <a:rPr lang="en-US" dirty="0">
                <a:latin typeface="Arial" charset="0"/>
                <a:cs typeface="Arial" charset="0"/>
              </a:rPr>
              <a:t>ng (</a:t>
            </a:r>
            <a:r>
              <a:rPr lang="en-US" dirty="0" err="1">
                <a:latin typeface="Arial" charset="0"/>
                <a:cs typeface="Arial" charset="0"/>
              </a:rPr>
              <a:t>tìm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kiếm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tuần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tự</a:t>
            </a:r>
            <a:r>
              <a:rPr lang="en-US" dirty="0">
                <a:latin typeface="Arial" charset="0"/>
                <a:cs typeface="Arial" charset="0"/>
              </a:rPr>
              <a:t>)</a:t>
            </a:r>
          </a:p>
          <a:p>
            <a:pPr lvl="1">
              <a:defRPr/>
            </a:pPr>
            <a:r>
              <a:rPr lang="en-US" sz="2400" dirty="0" err="1"/>
              <a:t>Xét</a:t>
            </a:r>
            <a:r>
              <a:rPr lang="en-US" sz="2400" dirty="0"/>
              <a:t> </a:t>
            </a:r>
            <a:r>
              <a:rPr lang="en-US" sz="2400" dirty="0" err="1"/>
              <a:t>từng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mảng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a</a:t>
            </a:r>
            <a:r>
              <a:rPr lang="en-US" sz="2400" dirty="0"/>
              <a:t>.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vi-VN" sz="2400" dirty="0"/>
              <a:t>đ</a:t>
            </a:r>
            <a:r>
              <a:rPr lang="en-US" sz="2400" dirty="0"/>
              <a:t>ang </a:t>
            </a:r>
            <a:r>
              <a:rPr lang="en-US" sz="2400" dirty="0" err="1"/>
              <a:t>xét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 thì </a:t>
            </a:r>
            <a:r>
              <a:rPr lang="en-US" sz="2400" dirty="0" err="1"/>
              <a:t>trả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trí</a:t>
            </a:r>
            <a:r>
              <a:rPr lang="en-US" sz="2400" dirty="0"/>
              <a:t> </a:t>
            </a:r>
            <a:r>
              <a:rPr lang="vi-VN" sz="2400" dirty="0"/>
              <a:t>đó</a:t>
            </a:r>
            <a:r>
              <a:rPr lang="en-US" sz="2400" dirty="0"/>
              <a:t>.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vi-VN" sz="2400" dirty="0"/>
              <a:t>đượ</a:t>
            </a:r>
            <a:r>
              <a:rPr lang="en-US" sz="2400" dirty="0"/>
              <a:t>c thì </a:t>
            </a:r>
            <a:r>
              <a:rPr lang="en-US" sz="2400" dirty="0" err="1"/>
              <a:t>trả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-1</a:t>
            </a:r>
            <a:r>
              <a:rPr lang="en-US" sz="24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51A9-FDAF-4AEF-8BF2-4B7CDFDC4F4D}" type="datetime1">
              <a:rPr lang="vi-VN" smtClean="0"/>
              <a:t>14/01/2024</a:t>
            </a:fld>
            <a:endParaRPr lang="vi-VN"/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1096963" y="4191000"/>
            <a:ext cx="731837" cy="731838"/>
            <a:chOff x="2209800" y="4038600"/>
            <a:chExt cx="731520" cy="731520"/>
          </a:xfrm>
        </p:grpSpPr>
        <p:grpSp>
          <p:nvGrpSpPr>
            <p:cNvPr id="37930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37932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3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8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9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x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91" name="AutoShape 4"/>
          <p:cNvSpPr>
            <a:spLocks noChangeArrowheads="1"/>
          </p:cNvSpPr>
          <p:nvPr/>
        </p:nvSpPr>
        <p:spPr bwMode="gray">
          <a:xfrm>
            <a:off x="1021080" y="5105400"/>
            <a:ext cx="41605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2" name="Text Box 24"/>
          <p:cNvSpPr txBox="1">
            <a:spLocks noChangeArrowheads="1"/>
          </p:cNvSpPr>
          <p:nvPr/>
        </p:nvSpPr>
        <p:spPr bwMode="gray">
          <a:xfrm>
            <a:off x="1143000" y="513556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0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93" name="Text Box 24"/>
          <p:cNvSpPr txBox="1">
            <a:spLocks noChangeArrowheads="1"/>
          </p:cNvSpPr>
          <p:nvPr/>
        </p:nvSpPr>
        <p:spPr bwMode="gray">
          <a:xfrm>
            <a:off x="1981200" y="513556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94" name="Text Box 24"/>
          <p:cNvSpPr txBox="1">
            <a:spLocks noChangeArrowheads="1"/>
          </p:cNvSpPr>
          <p:nvPr/>
        </p:nvSpPr>
        <p:spPr bwMode="gray">
          <a:xfrm>
            <a:off x="2819400" y="513556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2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6934200" y="5516563"/>
            <a:ext cx="731838" cy="731837"/>
            <a:chOff x="2016" y="1920"/>
            <a:chExt cx="1680" cy="1680"/>
          </a:xfrm>
        </p:grpSpPr>
        <p:sp>
          <p:nvSpPr>
            <p:cNvPr id="37928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9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301 w 1321"/>
                <a:gd name="T1" fmla="*/ 401 h 712"/>
                <a:gd name="T2" fmla="*/ 1317 w 1321"/>
                <a:gd name="T3" fmla="*/ 442 h 712"/>
                <a:gd name="T4" fmla="*/ 1321 w 1321"/>
                <a:gd name="T5" fmla="*/ 481 h 712"/>
                <a:gd name="T6" fmla="*/ 1315 w 1321"/>
                <a:gd name="T7" fmla="*/ 516 h 712"/>
                <a:gd name="T8" fmla="*/ 1298 w 1321"/>
                <a:gd name="T9" fmla="*/ 550 h 712"/>
                <a:gd name="T10" fmla="*/ 1272 w 1321"/>
                <a:gd name="T11" fmla="*/ 579 h 712"/>
                <a:gd name="T12" fmla="*/ 1239 w 1321"/>
                <a:gd name="T13" fmla="*/ 604 h 712"/>
                <a:gd name="T14" fmla="*/ 1196 w 1321"/>
                <a:gd name="T15" fmla="*/ 628 h 712"/>
                <a:gd name="T16" fmla="*/ 1147 w 1321"/>
                <a:gd name="T17" fmla="*/ 649 h 712"/>
                <a:gd name="T18" fmla="*/ 1092 w 1321"/>
                <a:gd name="T19" fmla="*/ 667 h 712"/>
                <a:gd name="T20" fmla="*/ 1031 w 1321"/>
                <a:gd name="T21" fmla="*/ 683 h 712"/>
                <a:gd name="T22" fmla="*/ 967 w 1321"/>
                <a:gd name="T23" fmla="*/ 694 h 712"/>
                <a:gd name="T24" fmla="*/ 896 w 1321"/>
                <a:gd name="T25" fmla="*/ 704 h 712"/>
                <a:gd name="T26" fmla="*/ 824 w 1321"/>
                <a:gd name="T27" fmla="*/ 710 h 712"/>
                <a:gd name="T28" fmla="*/ 795 w 1321"/>
                <a:gd name="T29" fmla="*/ 712 h 712"/>
                <a:gd name="T30" fmla="*/ 476 w 1321"/>
                <a:gd name="T31" fmla="*/ 712 h 712"/>
                <a:gd name="T32" fmla="*/ 472 w 1321"/>
                <a:gd name="T33" fmla="*/ 712 h 712"/>
                <a:gd name="T34" fmla="*/ 409 w 1321"/>
                <a:gd name="T35" fmla="*/ 708 h 712"/>
                <a:gd name="T36" fmla="*/ 348 w 1321"/>
                <a:gd name="T37" fmla="*/ 704 h 712"/>
                <a:gd name="T38" fmla="*/ 290 w 1321"/>
                <a:gd name="T39" fmla="*/ 696 h 712"/>
                <a:gd name="T40" fmla="*/ 235 w 1321"/>
                <a:gd name="T41" fmla="*/ 689 h 712"/>
                <a:gd name="T42" fmla="*/ 186 w 1321"/>
                <a:gd name="T43" fmla="*/ 677 h 712"/>
                <a:gd name="T44" fmla="*/ 141 w 1321"/>
                <a:gd name="T45" fmla="*/ 663 h 712"/>
                <a:gd name="T46" fmla="*/ 102 w 1321"/>
                <a:gd name="T47" fmla="*/ 648 h 712"/>
                <a:gd name="T48" fmla="*/ 67 w 1321"/>
                <a:gd name="T49" fmla="*/ 630 h 712"/>
                <a:gd name="T50" fmla="*/ 39 w 1321"/>
                <a:gd name="T51" fmla="*/ 608 h 712"/>
                <a:gd name="T52" fmla="*/ 18 w 1321"/>
                <a:gd name="T53" fmla="*/ 583 h 712"/>
                <a:gd name="T54" fmla="*/ 6 w 1321"/>
                <a:gd name="T55" fmla="*/ 554 h 712"/>
                <a:gd name="T56" fmla="*/ 0 w 1321"/>
                <a:gd name="T57" fmla="*/ 524 h 712"/>
                <a:gd name="T58" fmla="*/ 0 w 1321"/>
                <a:gd name="T59" fmla="*/ 520 h 712"/>
                <a:gd name="T60" fmla="*/ 4 w 1321"/>
                <a:gd name="T61" fmla="*/ 487 h 712"/>
                <a:gd name="T62" fmla="*/ 16 w 1321"/>
                <a:gd name="T63" fmla="*/ 446 h 712"/>
                <a:gd name="T64" fmla="*/ 51 w 1321"/>
                <a:gd name="T65" fmla="*/ 370 h 712"/>
                <a:gd name="T66" fmla="*/ 94 w 1321"/>
                <a:gd name="T67" fmla="*/ 299 h 712"/>
                <a:gd name="T68" fmla="*/ 147 w 1321"/>
                <a:gd name="T69" fmla="*/ 235 h 712"/>
                <a:gd name="T70" fmla="*/ 204 w 1321"/>
                <a:gd name="T71" fmla="*/ 176 h 712"/>
                <a:gd name="T72" fmla="*/ 270 w 1321"/>
                <a:gd name="T73" fmla="*/ 125 h 712"/>
                <a:gd name="T74" fmla="*/ 341 w 1321"/>
                <a:gd name="T75" fmla="*/ 82 h 712"/>
                <a:gd name="T76" fmla="*/ 415 w 1321"/>
                <a:gd name="T77" fmla="*/ 47 h 712"/>
                <a:gd name="T78" fmla="*/ 497 w 1321"/>
                <a:gd name="T79" fmla="*/ 21 h 712"/>
                <a:gd name="T80" fmla="*/ 581 w 1321"/>
                <a:gd name="T81" fmla="*/ 6 h 712"/>
                <a:gd name="T82" fmla="*/ 667 w 1321"/>
                <a:gd name="T83" fmla="*/ 0 h 712"/>
                <a:gd name="T84" fmla="*/ 667 w 1321"/>
                <a:gd name="T85" fmla="*/ 0 h 712"/>
                <a:gd name="T86" fmla="*/ 759 w 1321"/>
                <a:gd name="T87" fmla="*/ 6 h 712"/>
                <a:gd name="T88" fmla="*/ 847 w 1321"/>
                <a:gd name="T89" fmla="*/ 23 h 712"/>
                <a:gd name="T90" fmla="*/ 932 w 1321"/>
                <a:gd name="T91" fmla="*/ 53 h 712"/>
                <a:gd name="T92" fmla="*/ 1010 w 1321"/>
                <a:gd name="T93" fmla="*/ 90 h 712"/>
                <a:gd name="T94" fmla="*/ 1082 w 1321"/>
                <a:gd name="T95" fmla="*/ 137 h 712"/>
                <a:gd name="T96" fmla="*/ 1149 w 1321"/>
                <a:gd name="T97" fmla="*/ 194 h 712"/>
                <a:gd name="T98" fmla="*/ 1208 w 1321"/>
                <a:gd name="T99" fmla="*/ 256 h 712"/>
                <a:gd name="T100" fmla="*/ 1258 w 1321"/>
                <a:gd name="T101" fmla="*/ 325 h 712"/>
                <a:gd name="T102" fmla="*/ 1301 w 1321"/>
                <a:gd name="T103" fmla="*/ 401 h 712"/>
                <a:gd name="T104" fmla="*/ 1301 w 1321"/>
                <a:gd name="T105" fmla="*/ 401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 w="0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" name="Text Box 24"/>
          <p:cNvSpPr txBox="1">
            <a:spLocks noChangeArrowheads="1"/>
          </p:cNvSpPr>
          <p:nvPr/>
        </p:nvSpPr>
        <p:spPr bwMode="gray">
          <a:xfrm>
            <a:off x="6705600" y="5135563"/>
            <a:ext cx="1219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99" name="Text Box 24"/>
          <p:cNvSpPr txBox="1">
            <a:spLocks noChangeArrowheads="1"/>
          </p:cNvSpPr>
          <p:nvPr/>
        </p:nvSpPr>
        <p:spPr bwMode="gray">
          <a:xfrm>
            <a:off x="4343400" y="5105400"/>
            <a:ext cx="914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00" name="Text Box 24"/>
          <p:cNvSpPr txBox="1">
            <a:spLocks noChangeArrowheads="1"/>
          </p:cNvSpPr>
          <p:nvPr/>
        </p:nvSpPr>
        <p:spPr bwMode="gray">
          <a:xfrm>
            <a:off x="6172200" y="566896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01" name="Text Box 24"/>
          <p:cNvSpPr txBox="1">
            <a:spLocks noChangeArrowheads="1"/>
          </p:cNvSpPr>
          <p:nvPr/>
        </p:nvSpPr>
        <p:spPr bwMode="gray">
          <a:xfrm>
            <a:off x="3657600" y="5680075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02" name="Text Box 24"/>
          <p:cNvSpPr txBox="1">
            <a:spLocks noChangeArrowheads="1"/>
          </p:cNvSpPr>
          <p:nvPr/>
        </p:nvSpPr>
        <p:spPr bwMode="gray">
          <a:xfrm>
            <a:off x="5334000" y="5664200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8" name="Group 102"/>
          <p:cNvGrpSpPr>
            <a:grpSpLocks/>
          </p:cNvGrpSpPr>
          <p:nvPr/>
        </p:nvGrpSpPr>
        <p:grpSpPr bwMode="auto">
          <a:xfrm>
            <a:off x="1066800" y="5516563"/>
            <a:ext cx="731838" cy="731837"/>
            <a:chOff x="1371600" y="5364480"/>
            <a:chExt cx="731520" cy="731520"/>
          </a:xfrm>
        </p:grpSpPr>
        <p:grpSp>
          <p:nvGrpSpPr>
            <p:cNvPr id="37924" name="Group 11"/>
            <p:cNvGrpSpPr>
              <a:grpSpLocks/>
            </p:cNvGrpSpPr>
            <p:nvPr/>
          </p:nvGrpSpPr>
          <p:grpSpPr bwMode="auto">
            <a:xfrm>
              <a:off x="1371600" y="5364480"/>
              <a:ext cx="731520" cy="731520"/>
              <a:chOff x="2016" y="1920"/>
              <a:chExt cx="1680" cy="1680"/>
            </a:xfrm>
          </p:grpSpPr>
          <p:sp>
            <p:nvSpPr>
              <p:cNvPr id="37926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7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5" name="Text Box 24"/>
            <p:cNvSpPr txBox="1">
              <a:spLocks noChangeArrowheads="1"/>
            </p:cNvSpPr>
            <p:nvPr/>
          </p:nvSpPr>
          <p:spPr bwMode="gray">
            <a:xfrm>
              <a:off x="14477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a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0" name="Group 107"/>
          <p:cNvGrpSpPr>
            <a:grpSpLocks/>
          </p:cNvGrpSpPr>
          <p:nvPr/>
        </p:nvGrpSpPr>
        <p:grpSpPr bwMode="auto">
          <a:xfrm>
            <a:off x="1905000" y="5516563"/>
            <a:ext cx="731838" cy="731837"/>
            <a:chOff x="2209800" y="5364480"/>
            <a:chExt cx="731520" cy="731520"/>
          </a:xfrm>
        </p:grpSpPr>
        <p:grpSp>
          <p:nvGrpSpPr>
            <p:cNvPr id="37920" name="Group 11"/>
            <p:cNvGrpSpPr>
              <a:grpSpLocks/>
            </p:cNvGrpSpPr>
            <p:nvPr/>
          </p:nvGrpSpPr>
          <p:grpSpPr bwMode="auto">
            <a:xfrm>
              <a:off x="2209800" y="5364480"/>
              <a:ext cx="731520" cy="731520"/>
              <a:chOff x="2016" y="1920"/>
              <a:chExt cx="1680" cy="1680"/>
            </a:xfrm>
          </p:grpSpPr>
          <p:sp>
            <p:nvSpPr>
              <p:cNvPr id="37922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3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0" name="Text Box 24"/>
            <p:cNvSpPr txBox="1">
              <a:spLocks noChangeArrowheads="1"/>
            </p:cNvSpPr>
            <p:nvPr/>
          </p:nvSpPr>
          <p:spPr bwMode="gray">
            <a:xfrm>
              <a:off x="22859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x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2" name="Group 112"/>
          <p:cNvGrpSpPr>
            <a:grpSpLocks/>
          </p:cNvGrpSpPr>
          <p:nvPr/>
        </p:nvGrpSpPr>
        <p:grpSpPr bwMode="auto">
          <a:xfrm>
            <a:off x="2743200" y="5516563"/>
            <a:ext cx="731838" cy="731837"/>
            <a:chOff x="3048000" y="5364480"/>
            <a:chExt cx="731520" cy="731520"/>
          </a:xfrm>
        </p:grpSpPr>
        <p:grpSp>
          <p:nvGrpSpPr>
            <p:cNvPr id="37916" name="Group 11"/>
            <p:cNvGrpSpPr>
              <a:grpSpLocks/>
            </p:cNvGrpSpPr>
            <p:nvPr/>
          </p:nvGrpSpPr>
          <p:grpSpPr bwMode="auto">
            <a:xfrm>
              <a:off x="3048000" y="5364480"/>
              <a:ext cx="731520" cy="731520"/>
              <a:chOff x="2016" y="1920"/>
              <a:chExt cx="1680" cy="1680"/>
            </a:xfrm>
          </p:grpSpPr>
          <p:sp>
            <p:nvSpPr>
              <p:cNvPr id="37918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9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" name="Text Box 24"/>
            <p:cNvSpPr txBox="1">
              <a:spLocks noChangeArrowheads="1"/>
            </p:cNvSpPr>
            <p:nvPr/>
          </p:nvSpPr>
          <p:spPr bwMode="gray">
            <a:xfrm>
              <a:off x="31241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b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4" name="Group 117"/>
          <p:cNvGrpSpPr>
            <a:grpSpLocks/>
          </p:cNvGrpSpPr>
          <p:nvPr/>
        </p:nvGrpSpPr>
        <p:grpSpPr bwMode="auto">
          <a:xfrm>
            <a:off x="4419600" y="5516563"/>
            <a:ext cx="731838" cy="731837"/>
            <a:chOff x="4724400" y="5364480"/>
            <a:chExt cx="731520" cy="731520"/>
          </a:xfrm>
        </p:grpSpPr>
        <p:grpSp>
          <p:nvGrpSpPr>
            <p:cNvPr id="37912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37914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5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0" name="Text Box 24"/>
            <p:cNvSpPr txBox="1">
              <a:spLocks noChangeArrowheads="1"/>
            </p:cNvSpPr>
            <p:nvPr/>
          </p:nvSpPr>
          <p:spPr bwMode="gray">
            <a:xfrm>
              <a:off x="48005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x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123" name="Freeform 5"/>
          <p:cNvSpPr>
            <a:spLocks/>
          </p:cNvSpPr>
          <p:nvPr/>
        </p:nvSpPr>
        <p:spPr bwMode="gray">
          <a:xfrm rot="19713729" flipH="1" flipV="1">
            <a:off x="1974850" y="4341813"/>
            <a:ext cx="1423988" cy="862012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4" name="Text Box 24"/>
          <p:cNvSpPr txBox="1">
            <a:spLocks noChangeArrowheads="1"/>
          </p:cNvSpPr>
          <p:nvPr/>
        </p:nvSpPr>
        <p:spPr bwMode="gray">
          <a:xfrm>
            <a:off x="3124200" y="4267200"/>
            <a:ext cx="152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vị trí = 1</a:t>
            </a:r>
            <a:endParaRPr lang="en-US" sz="24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40076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94" grpId="0"/>
      <p:bldP spid="98" grpId="0"/>
      <p:bldP spid="99" grpId="0"/>
      <p:bldP spid="100" grpId="0"/>
      <p:bldP spid="101" grpId="0"/>
      <p:bldP spid="102" grpId="0"/>
      <p:bldP spid="123" grpId="0" animBg="1"/>
      <p:bldP spid="1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tìm kiếm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9AC8D-7167-4EBA-94D0-8CC7CAB80BEA}" type="datetime1">
              <a:rPr lang="vi-VN" smtClean="0"/>
              <a:t>14/01/2024</a:t>
            </a:fld>
            <a:endParaRPr lang="vi-VN"/>
          </a:p>
        </p:txBody>
      </p:sp>
      <p:sp>
        <p:nvSpPr>
          <p:cNvPr id="39939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2514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4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TimKiem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a[],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= 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&lt; 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++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 == x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return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return -1;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 4 7 8 3 2 x=9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957910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Tìm giá trị lớn nhất của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130480" cy="5181600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>
                <a:latin typeface="Arial" charset="0"/>
                <a:cs typeface="Arial" charset="0"/>
              </a:rPr>
              <a:t>Yêu cầu 6 7 2 9</a:t>
            </a:r>
          </a:p>
          <a:p>
            <a:pPr lvl="1">
              <a:spcBef>
                <a:spcPts val="0"/>
              </a:spcBef>
              <a:defRPr/>
            </a:pPr>
            <a:r>
              <a:rPr lang="en-US" sz="2400"/>
              <a:t>Cho tr</a:t>
            </a:r>
            <a:r>
              <a:rPr lang="vi-VN" sz="2400"/>
              <a:t>ướ</a:t>
            </a:r>
            <a:r>
              <a:rPr lang="en-US" sz="2400"/>
              <a:t>c mảng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/>
              <a:t> có </a:t>
            </a:r>
            <a:r>
              <a:rPr lang="en-US" sz="2400">
                <a:solidFill>
                  <a:srgbClr val="FF0000"/>
                </a:solidFill>
              </a:rPr>
              <a:t>n</a:t>
            </a:r>
            <a:r>
              <a:rPr lang="en-US" sz="2400"/>
              <a:t> phần tử. Tìm giá trị lớn nhất trong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/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>
                <a:latin typeface="Arial" charset="0"/>
                <a:cs typeface="Arial" charset="0"/>
              </a:rPr>
              <a:t>Ý t</a:t>
            </a:r>
            <a:r>
              <a:rPr lang="vi-VN">
                <a:latin typeface="Arial" charset="0"/>
                <a:cs typeface="Arial" charset="0"/>
              </a:rPr>
              <a:t>ưở</a:t>
            </a:r>
            <a:r>
              <a:rPr lang="en-US">
                <a:latin typeface="Arial" charset="0"/>
                <a:cs typeface="Arial" charset="0"/>
              </a:rPr>
              <a:t>ng</a:t>
            </a:r>
          </a:p>
          <a:p>
            <a:pPr lvl="1">
              <a:spcBef>
                <a:spcPts val="0"/>
              </a:spcBef>
              <a:defRPr/>
            </a:pPr>
            <a:r>
              <a:rPr lang="en-US" sz="2400"/>
              <a:t>Giả sử giá trị </a:t>
            </a:r>
            <a:r>
              <a:rPr lang="en-US" sz="2400">
                <a:solidFill>
                  <a:srgbClr val="FF0000"/>
                </a:solidFill>
              </a:rPr>
              <a:t>max hiện tại</a:t>
            </a:r>
            <a:r>
              <a:rPr lang="en-US" sz="2400"/>
              <a:t> là giá trị phần tử </a:t>
            </a:r>
            <a:r>
              <a:rPr lang="vi-VN" sz="2400"/>
              <a:t>đầ</a:t>
            </a:r>
            <a:r>
              <a:rPr lang="en-US" sz="2400"/>
              <a:t>u tiên </a:t>
            </a:r>
            <a:r>
              <a:rPr lang="en-US" sz="2400">
                <a:solidFill>
                  <a:srgbClr val="FF0000"/>
                </a:solidFill>
              </a:rPr>
              <a:t>a[0]</a:t>
            </a:r>
          </a:p>
          <a:p>
            <a:pPr lvl="1">
              <a:spcBef>
                <a:spcPts val="0"/>
              </a:spcBef>
              <a:defRPr/>
            </a:pPr>
            <a:r>
              <a:rPr lang="en-US" sz="2400"/>
              <a:t>Với mọi </a:t>
            </a:r>
            <a:r>
              <a:rPr lang="en-US" sz="2400">
                <a:solidFill>
                  <a:srgbClr val="FF0000"/>
                </a:solidFill>
              </a:rPr>
              <a:t>i</a:t>
            </a:r>
            <a:r>
              <a:rPr lang="en-US" sz="2400"/>
              <a:t> từ </a:t>
            </a:r>
            <a:r>
              <a:rPr lang="en-US" sz="2400">
                <a:solidFill>
                  <a:srgbClr val="FF0000"/>
                </a:solidFill>
              </a:rPr>
              <a:t>1</a:t>
            </a:r>
            <a:r>
              <a:rPr lang="en-US" sz="2400"/>
              <a:t> đến </a:t>
            </a:r>
            <a:r>
              <a:rPr lang="en-US" sz="2400">
                <a:solidFill>
                  <a:srgbClr val="FF0000"/>
                </a:solidFill>
              </a:rPr>
              <a:t>n-1</a:t>
            </a:r>
            <a:r>
              <a:rPr lang="en-US" sz="2400"/>
              <a:t>, nếu a[i] &gt; max thì </a:t>
            </a:r>
            <a:r>
              <a:rPr lang="en-US" sz="2400">
                <a:solidFill>
                  <a:srgbClr val="FF0000"/>
                </a:solidFill>
              </a:rPr>
              <a:t>max = a[i]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66D4-A1E0-4FFF-96AE-698D2C491CB5}" type="datetime1">
              <a:rPr lang="vi-VN" smtClean="0"/>
              <a:t>14/01/2024</a:t>
            </a:fld>
            <a:endParaRPr lang="vi-VN"/>
          </a:p>
        </p:txBody>
      </p:sp>
      <p:sp>
        <p:nvSpPr>
          <p:cNvPr id="5120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grpSp>
        <p:nvGrpSpPr>
          <p:cNvPr id="5" name="Group 66"/>
          <p:cNvGrpSpPr>
            <a:grpSpLocks/>
          </p:cNvGrpSpPr>
          <p:nvPr/>
        </p:nvGrpSpPr>
        <p:grpSpPr bwMode="auto">
          <a:xfrm>
            <a:off x="1905000" y="4191000"/>
            <a:ext cx="731838" cy="731838"/>
            <a:chOff x="2209800" y="4038600"/>
            <a:chExt cx="731520" cy="731520"/>
          </a:xfrm>
        </p:grpSpPr>
        <p:grpSp>
          <p:nvGrpSpPr>
            <p:cNvPr id="51253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51255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6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?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10" name="Text Box 24"/>
          <p:cNvSpPr txBox="1">
            <a:spLocks noChangeArrowheads="1"/>
          </p:cNvSpPr>
          <p:nvPr/>
        </p:nvSpPr>
        <p:spPr bwMode="gray">
          <a:xfrm>
            <a:off x="1066800" y="4419600"/>
            <a:ext cx="762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11" name="Group 67"/>
          <p:cNvGrpSpPr>
            <a:grpSpLocks/>
          </p:cNvGrpSpPr>
          <p:nvPr/>
        </p:nvGrpSpPr>
        <p:grpSpPr bwMode="auto">
          <a:xfrm>
            <a:off x="1905000" y="4191000"/>
            <a:ext cx="731838" cy="731838"/>
            <a:chOff x="2209800" y="4038600"/>
            <a:chExt cx="731520" cy="731520"/>
          </a:xfrm>
        </p:grpSpPr>
        <p:grpSp>
          <p:nvGrpSpPr>
            <p:cNvPr id="51249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51251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2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7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6" name="Group 72"/>
          <p:cNvGrpSpPr>
            <a:grpSpLocks/>
          </p:cNvGrpSpPr>
          <p:nvPr/>
        </p:nvGrpSpPr>
        <p:grpSpPr bwMode="auto">
          <a:xfrm>
            <a:off x="1905000" y="4191000"/>
            <a:ext cx="731838" cy="731838"/>
            <a:chOff x="2209800" y="4038600"/>
            <a:chExt cx="731520" cy="731520"/>
          </a:xfrm>
        </p:grpSpPr>
        <p:grpSp>
          <p:nvGrpSpPr>
            <p:cNvPr id="51245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51247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8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8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21" name="AutoShape 4"/>
          <p:cNvSpPr>
            <a:spLocks noChangeArrowheads="1"/>
          </p:cNvSpPr>
          <p:nvPr/>
        </p:nvSpPr>
        <p:spPr bwMode="gray">
          <a:xfrm>
            <a:off x="1021080" y="5105400"/>
            <a:ext cx="41605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2" name="Text Box 24"/>
          <p:cNvSpPr txBox="1">
            <a:spLocks noChangeArrowheads="1"/>
          </p:cNvSpPr>
          <p:nvPr/>
        </p:nvSpPr>
        <p:spPr bwMode="gray">
          <a:xfrm>
            <a:off x="1143000" y="513556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0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gray">
          <a:xfrm>
            <a:off x="1981200" y="513556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gray">
          <a:xfrm>
            <a:off x="2819400" y="513556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2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25" name="Group 21"/>
          <p:cNvGrpSpPr>
            <a:grpSpLocks/>
          </p:cNvGrpSpPr>
          <p:nvPr/>
        </p:nvGrpSpPr>
        <p:grpSpPr bwMode="auto">
          <a:xfrm>
            <a:off x="6934200" y="5516563"/>
            <a:ext cx="731838" cy="731837"/>
            <a:chOff x="2016" y="1920"/>
            <a:chExt cx="1680" cy="1680"/>
          </a:xfrm>
        </p:grpSpPr>
        <p:sp>
          <p:nvSpPr>
            <p:cNvPr id="51243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44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301 w 1321"/>
                <a:gd name="T1" fmla="*/ 401 h 712"/>
                <a:gd name="T2" fmla="*/ 1317 w 1321"/>
                <a:gd name="T3" fmla="*/ 442 h 712"/>
                <a:gd name="T4" fmla="*/ 1321 w 1321"/>
                <a:gd name="T5" fmla="*/ 481 h 712"/>
                <a:gd name="T6" fmla="*/ 1315 w 1321"/>
                <a:gd name="T7" fmla="*/ 516 h 712"/>
                <a:gd name="T8" fmla="*/ 1298 w 1321"/>
                <a:gd name="T9" fmla="*/ 550 h 712"/>
                <a:gd name="T10" fmla="*/ 1272 w 1321"/>
                <a:gd name="T11" fmla="*/ 579 h 712"/>
                <a:gd name="T12" fmla="*/ 1239 w 1321"/>
                <a:gd name="T13" fmla="*/ 604 h 712"/>
                <a:gd name="T14" fmla="*/ 1196 w 1321"/>
                <a:gd name="T15" fmla="*/ 628 h 712"/>
                <a:gd name="T16" fmla="*/ 1147 w 1321"/>
                <a:gd name="T17" fmla="*/ 649 h 712"/>
                <a:gd name="T18" fmla="*/ 1092 w 1321"/>
                <a:gd name="T19" fmla="*/ 667 h 712"/>
                <a:gd name="T20" fmla="*/ 1031 w 1321"/>
                <a:gd name="T21" fmla="*/ 683 h 712"/>
                <a:gd name="T22" fmla="*/ 967 w 1321"/>
                <a:gd name="T23" fmla="*/ 694 h 712"/>
                <a:gd name="T24" fmla="*/ 896 w 1321"/>
                <a:gd name="T25" fmla="*/ 704 h 712"/>
                <a:gd name="T26" fmla="*/ 824 w 1321"/>
                <a:gd name="T27" fmla="*/ 710 h 712"/>
                <a:gd name="T28" fmla="*/ 795 w 1321"/>
                <a:gd name="T29" fmla="*/ 712 h 712"/>
                <a:gd name="T30" fmla="*/ 476 w 1321"/>
                <a:gd name="T31" fmla="*/ 712 h 712"/>
                <a:gd name="T32" fmla="*/ 472 w 1321"/>
                <a:gd name="T33" fmla="*/ 712 h 712"/>
                <a:gd name="T34" fmla="*/ 409 w 1321"/>
                <a:gd name="T35" fmla="*/ 708 h 712"/>
                <a:gd name="T36" fmla="*/ 348 w 1321"/>
                <a:gd name="T37" fmla="*/ 704 h 712"/>
                <a:gd name="T38" fmla="*/ 290 w 1321"/>
                <a:gd name="T39" fmla="*/ 696 h 712"/>
                <a:gd name="T40" fmla="*/ 235 w 1321"/>
                <a:gd name="T41" fmla="*/ 689 h 712"/>
                <a:gd name="T42" fmla="*/ 186 w 1321"/>
                <a:gd name="T43" fmla="*/ 677 h 712"/>
                <a:gd name="T44" fmla="*/ 141 w 1321"/>
                <a:gd name="T45" fmla="*/ 663 h 712"/>
                <a:gd name="T46" fmla="*/ 102 w 1321"/>
                <a:gd name="T47" fmla="*/ 648 h 712"/>
                <a:gd name="T48" fmla="*/ 67 w 1321"/>
                <a:gd name="T49" fmla="*/ 630 h 712"/>
                <a:gd name="T50" fmla="*/ 39 w 1321"/>
                <a:gd name="T51" fmla="*/ 608 h 712"/>
                <a:gd name="T52" fmla="*/ 18 w 1321"/>
                <a:gd name="T53" fmla="*/ 583 h 712"/>
                <a:gd name="T54" fmla="*/ 6 w 1321"/>
                <a:gd name="T55" fmla="*/ 554 h 712"/>
                <a:gd name="T56" fmla="*/ 0 w 1321"/>
                <a:gd name="T57" fmla="*/ 524 h 712"/>
                <a:gd name="T58" fmla="*/ 0 w 1321"/>
                <a:gd name="T59" fmla="*/ 520 h 712"/>
                <a:gd name="T60" fmla="*/ 4 w 1321"/>
                <a:gd name="T61" fmla="*/ 487 h 712"/>
                <a:gd name="T62" fmla="*/ 16 w 1321"/>
                <a:gd name="T63" fmla="*/ 446 h 712"/>
                <a:gd name="T64" fmla="*/ 51 w 1321"/>
                <a:gd name="T65" fmla="*/ 370 h 712"/>
                <a:gd name="T66" fmla="*/ 94 w 1321"/>
                <a:gd name="T67" fmla="*/ 299 h 712"/>
                <a:gd name="T68" fmla="*/ 147 w 1321"/>
                <a:gd name="T69" fmla="*/ 235 h 712"/>
                <a:gd name="T70" fmla="*/ 204 w 1321"/>
                <a:gd name="T71" fmla="*/ 176 h 712"/>
                <a:gd name="T72" fmla="*/ 270 w 1321"/>
                <a:gd name="T73" fmla="*/ 125 h 712"/>
                <a:gd name="T74" fmla="*/ 341 w 1321"/>
                <a:gd name="T75" fmla="*/ 82 h 712"/>
                <a:gd name="T76" fmla="*/ 415 w 1321"/>
                <a:gd name="T77" fmla="*/ 47 h 712"/>
                <a:gd name="T78" fmla="*/ 497 w 1321"/>
                <a:gd name="T79" fmla="*/ 21 h 712"/>
                <a:gd name="T80" fmla="*/ 581 w 1321"/>
                <a:gd name="T81" fmla="*/ 6 h 712"/>
                <a:gd name="T82" fmla="*/ 667 w 1321"/>
                <a:gd name="T83" fmla="*/ 0 h 712"/>
                <a:gd name="T84" fmla="*/ 667 w 1321"/>
                <a:gd name="T85" fmla="*/ 0 h 712"/>
                <a:gd name="T86" fmla="*/ 759 w 1321"/>
                <a:gd name="T87" fmla="*/ 6 h 712"/>
                <a:gd name="T88" fmla="*/ 847 w 1321"/>
                <a:gd name="T89" fmla="*/ 23 h 712"/>
                <a:gd name="T90" fmla="*/ 932 w 1321"/>
                <a:gd name="T91" fmla="*/ 53 h 712"/>
                <a:gd name="T92" fmla="*/ 1010 w 1321"/>
                <a:gd name="T93" fmla="*/ 90 h 712"/>
                <a:gd name="T94" fmla="*/ 1082 w 1321"/>
                <a:gd name="T95" fmla="*/ 137 h 712"/>
                <a:gd name="T96" fmla="*/ 1149 w 1321"/>
                <a:gd name="T97" fmla="*/ 194 h 712"/>
                <a:gd name="T98" fmla="*/ 1208 w 1321"/>
                <a:gd name="T99" fmla="*/ 256 h 712"/>
                <a:gd name="T100" fmla="*/ 1258 w 1321"/>
                <a:gd name="T101" fmla="*/ 325 h 712"/>
                <a:gd name="T102" fmla="*/ 1301 w 1321"/>
                <a:gd name="T103" fmla="*/ 401 h 712"/>
                <a:gd name="T104" fmla="*/ 1301 w 1321"/>
                <a:gd name="T105" fmla="*/ 401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 w="0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 Box 24"/>
          <p:cNvSpPr txBox="1">
            <a:spLocks noChangeArrowheads="1"/>
          </p:cNvSpPr>
          <p:nvPr/>
        </p:nvSpPr>
        <p:spPr bwMode="gray">
          <a:xfrm>
            <a:off x="6705600" y="5135563"/>
            <a:ext cx="1219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9" name="Text Box 24"/>
          <p:cNvSpPr txBox="1">
            <a:spLocks noChangeArrowheads="1"/>
          </p:cNvSpPr>
          <p:nvPr/>
        </p:nvSpPr>
        <p:spPr bwMode="gray">
          <a:xfrm>
            <a:off x="4343400" y="5105400"/>
            <a:ext cx="914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 – 1 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0" name="Text Box 24"/>
          <p:cNvSpPr txBox="1">
            <a:spLocks noChangeArrowheads="1"/>
          </p:cNvSpPr>
          <p:nvPr/>
        </p:nvSpPr>
        <p:spPr bwMode="gray">
          <a:xfrm>
            <a:off x="6172200" y="566896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gray">
          <a:xfrm>
            <a:off x="3657600" y="5680075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gray">
          <a:xfrm>
            <a:off x="5334000" y="5664200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33" name="Group 32"/>
          <p:cNvGrpSpPr>
            <a:grpSpLocks/>
          </p:cNvGrpSpPr>
          <p:nvPr/>
        </p:nvGrpSpPr>
        <p:grpSpPr bwMode="auto">
          <a:xfrm>
            <a:off x="1066800" y="5516563"/>
            <a:ext cx="731838" cy="731837"/>
            <a:chOff x="1371600" y="5364480"/>
            <a:chExt cx="731520" cy="731520"/>
          </a:xfrm>
        </p:grpSpPr>
        <p:grpSp>
          <p:nvGrpSpPr>
            <p:cNvPr id="51239" name="Group 11"/>
            <p:cNvGrpSpPr>
              <a:grpSpLocks/>
            </p:cNvGrpSpPr>
            <p:nvPr/>
          </p:nvGrpSpPr>
          <p:grpSpPr bwMode="auto">
            <a:xfrm>
              <a:off x="1371600" y="5364480"/>
              <a:ext cx="731520" cy="731520"/>
              <a:chOff x="2016" y="1920"/>
              <a:chExt cx="1680" cy="1680"/>
            </a:xfrm>
          </p:grpSpPr>
          <p:sp>
            <p:nvSpPr>
              <p:cNvPr id="51241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2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" name="Text Box 24"/>
            <p:cNvSpPr txBox="1">
              <a:spLocks noChangeArrowheads="1"/>
            </p:cNvSpPr>
            <p:nvPr/>
          </p:nvSpPr>
          <p:spPr bwMode="gray">
            <a:xfrm>
              <a:off x="14477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7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38" name="Group 37"/>
          <p:cNvGrpSpPr>
            <a:grpSpLocks/>
          </p:cNvGrpSpPr>
          <p:nvPr/>
        </p:nvGrpSpPr>
        <p:grpSpPr bwMode="auto">
          <a:xfrm>
            <a:off x="1905000" y="5516563"/>
            <a:ext cx="731838" cy="731837"/>
            <a:chOff x="2209800" y="5364480"/>
            <a:chExt cx="731520" cy="731520"/>
          </a:xfrm>
        </p:grpSpPr>
        <p:grpSp>
          <p:nvGrpSpPr>
            <p:cNvPr id="51235" name="Group 11"/>
            <p:cNvGrpSpPr>
              <a:grpSpLocks/>
            </p:cNvGrpSpPr>
            <p:nvPr/>
          </p:nvGrpSpPr>
          <p:grpSpPr bwMode="auto">
            <a:xfrm>
              <a:off x="2209800" y="5364480"/>
              <a:ext cx="731520" cy="731520"/>
              <a:chOff x="2016" y="1920"/>
              <a:chExt cx="1680" cy="1680"/>
            </a:xfrm>
          </p:grpSpPr>
          <p:sp>
            <p:nvSpPr>
              <p:cNvPr id="51237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8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0" name="Text Box 24"/>
            <p:cNvSpPr txBox="1">
              <a:spLocks noChangeArrowheads="1"/>
            </p:cNvSpPr>
            <p:nvPr/>
          </p:nvSpPr>
          <p:spPr bwMode="gray">
            <a:xfrm>
              <a:off x="22859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2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43" name="Group 42"/>
          <p:cNvGrpSpPr>
            <a:grpSpLocks/>
          </p:cNvGrpSpPr>
          <p:nvPr/>
        </p:nvGrpSpPr>
        <p:grpSpPr bwMode="auto">
          <a:xfrm>
            <a:off x="2743200" y="5516563"/>
            <a:ext cx="731838" cy="731837"/>
            <a:chOff x="3048000" y="5364480"/>
            <a:chExt cx="731520" cy="731520"/>
          </a:xfrm>
        </p:grpSpPr>
        <p:grpSp>
          <p:nvGrpSpPr>
            <p:cNvPr id="51231" name="Group 11"/>
            <p:cNvGrpSpPr>
              <a:grpSpLocks/>
            </p:cNvGrpSpPr>
            <p:nvPr/>
          </p:nvGrpSpPr>
          <p:grpSpPr bwMode="auto">
            <a:xfrm>
              <a:off x="3048000" y="5364480"/>
              <a:ext cx="731520" cy="731520"/>
              <a:chOff x="2016" y="1920"/>
              <a:chExt cx="1680" cy="1680"/>
            </a:xfrm>
          </p:grpSpPr>
          <p:sp>
            <p:nvSpPr>
              <p:cNvPr id="51233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4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5" name="Text Box 24"/>
            <p:cNvSpPr txBox="1">
              <a:spLocks noChangeArrowheads="1"/>
            </p:cNvSpPr>
            <p:nvPr/>
          </p:nvSpPr>
          <p:spPr bwMode="gray">
            <a:xfrm>
              <a:off x="31241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8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48" name="Group 47"/>
          <p:cNvGrpSpPr>
            <a:grpSpLocks/>
          </p:cNvGrpSpPr>
          <p:nvPr/>
        </p:nvGrpSpPr>
        <p:grpSpPr bwMode="auto">
          <a:xfrm>
            <a:off x="4419600" y="5516563"/>
            <a:ext cx="731838" cy="731837"/>
            <a:chOff x="4724400" y="5364480"/>
            <a:chExt cx="731520" cy="731520"/>
          </a:xfrm>
        </p:grpSpPr>
        <p:grpSp>
          <p:nvGrpSpPr>
            <p:cNvPr id="51227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51229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0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301 w 1321"/>
                  <a:gd name="T1" fmla="*/ 401 h 712"/>
                  <a:gd name="T2" fmla="*/ 1317 w 1321"/>
                  <a:gd name="T3" fmla="*/ 442 h 712"/>
                  <a:gd name="T4" fmla="*/ 1321 w 1321"/>
                  <a:gd name="T5" fmla="*/ 481 h 712"/>
                  <a:gd name="T6" fmla="*/ 1315 w 1321"/>
                  <a:gd name="T7" fmla="*/ 516 h 712"/>
                  <a:gd name="T8" fmla="*/ 1298 w 1321"/>
                  <a:gd name="T9" fmla="*/ 550 h 712"/>
                  <a:gd name="T10" fmla="*/ 1272 w 1321"/>
                  <a:gd name="T11" fmla="*/ 579 h 712"/>
                  <a:gd name="T12" fmla="*/ 1239 w 1321"/>
                  <a:gd name="T13" fmla="*/ 604 h 712"/>
                  <a:gd name="T14" fmla="*/ 1196 w 1321"/>
                  <a:gd name="T15" fmla="*/ 628 h 712"/>
                  <a:gd name="T16" fmla="*/ 1147 w 1321"/>
                  <a:gd name="T17" fmla="*/ 649 h 712"/>
                  <a:gd name="T18" fmla="*/ 1092 w 1321"/>
                  <a:gd name="T19" fmla="*/ 667 h 712"/>
                  <a:gd name="T20" fmla="*/ 1031 w 1321"/>
                  <a:gd name="T21" fmla="*/ 683 h 712"/>
                  <a:gd name="T22" fmla="*/ 967 w 1321"/>
                  <a:gd name="T23" fmla="*/ 694 h 712"/>
                  <a:gd name="T24" fmla="*/ 896 w 1321"/>
                  <a:gd name="T25" fmla="*/ 704 h 712"/>
                  <a:gd name="T26" fmla="*/ 824 w 1321"/>
                  <a:gd name="T27" fmla="*/ 710 h 712"/>
                  <a:gd name="T28" fmla="*/ 795 w 1321"/>
                  <a:gd name="T29" fmla="*/ 712 h 712"/>
                  <a:gd name="T30" fmla="*/ 476 w 1321"/>
                  <a:gd name="T31" fmla="*/ 712 h 712"/>
                  <a:gd name="T32" fmla="*/ 472 w 1321"/>
                  <a:gd name="T33" fmla="*/ 712 h 712"/>
                  <a:gd name="T34" fmla="*/ 409 w 1321"/>
                  <a:gd name="T35" fmla="*/ 708 h 712"/>
                  <a:gd name="T36" fmla="*/ 348 w 1321"/>
                  <a:gd name="T37" fmla="*/ 704 h 712"/>
                  <a:gd name="T38" fmla="*/ 290 w 1321"/>
                  <a:gd name="T39" fmla="*/ 696 h 712"/>
                  <a:gd name="T40" fmla="*/ 235 w 1321"/>
                  <a:gd name="T41" fmla="*/ 689 h 712"/>
                  <a:gd name="T42" fmla="*/ 186 w 1321"/>
                  <a:gd name="T43" fmla="*/ 677 h 712"/>
                  <a:gd name="T44" fmla="*/ 141 w 1321"/>
                  <a:gd name="T45" fmla="*/ 663 h 712"/>
                  <a:gd name="T46" fmla="*/ 102 w 1321"/>
                  <a:gd name="T47" fmla="*/ 648 h 712"/>
                  <a:gd name="T48" fmla="*/ 67 w 1321"/>
                  <a:gd name="T49" fmla="*/ 630 h 712"/>
                  <a:gd name="T50" fmla="*/ 39 w 1321"/>
                  <a:gd name="T51" fmla="*/ 608 h 712"/>
                  <a:gd name="T52" fmla="*/ 18 w 1321"/>
                  <a:gd name="T53" fmla="*/ 583 h 712"/>
                  <a:gd name="T54" fmla="*/ 6 w 1321"/>
                  <a:gd name="T55" fmla="*/ 554 h 712"/>
                  <a:gd name="T56" fmla="*/ 0 w 1321"/>
                  <a:gd name="T57" fmla="*/ 524 h 712"/>
                  <a:gd name="T58" fmla="*/ 0 w 1321"/>
                  <a:gd name="T59" fmla="*/ 520 h 712"/>
                  <a:gd name="T60" fmla="*/ 4 w 1321"/>
                  <a:gd name="T61" fmla="*/ 487 h 712"/>
                  <a:gd name="T62" fmla="*/ 16 w 1321"/>
                  <a:gd name="T63" fmla="*/ 446 h 712"/>
                  <a:gd name="T64" fmla="*/ 51 w 1321"/>
                  <a:gd name="T65" fmla="*/ 370 h 712"/>
                  <a:gd name="T66" fmla="*/ 94 w 1321"/>
                  <a:gd name="T67" fmla="*/ 299 h 712"/>
                  <a:gd name="T68" fmla="*/ 147 w 1321"/>
                  <a:gd name="T69" fmla="*/ 235 h 712"/>
                  <a:gd name="T70" fmla="*/ 204 w 1321"/>
                  <a:gd name="T71" fmla="*/ 176 h 712"/>
                  <a:gd name="T72" fmla="*/ 270 w 1321"/>
                  <a:gd name="T73" fmla="*/ 125 h 712"/>
                  <a:gd name="T74" fmla="*/ 341 w 1321"/>
                  <a:gd name="T75" fmla="*/ 82 h 712"/>
                  <a:gd name="T76" fmla="*/ 415 w 1321"/>
                  <a:gd name="T77" fmla="*/ 47 h 712"/>
                  <a:gd name="T78" fmla="*/ 497 w 1321"/>
                  <a:gd name="T79" fmla="*/ 21 h 712"/>
                  <a:gd name="T80" fmla="*/ 581 w 1321"/>
                  <a:gd name="T81" fmla="*/ 6 h 712"/>
                  <a:gd name="T82" fmla="*/ 667 w 1321"/>
                  <a:gd name="T83" fmla="*/ 0 h 712"/>
                  <a:gd name="T84" fmla="*/ 667 w 1321"/>
                  <a:gd name="T85" fmla="*/ 0 h 712"/>
                  <a:gd name="T86" fmla="*/ 759 w 1321"/>
                  <a:gd name="T87" fmla="*/ 6 h 712"/>
                  <a:gd name="T88" fmla="*/ 847 w 1321"/>
                  <a:gd name="T89" fmla="*/ 23 h 712"/>
                  <a:gd name="T90" fmla="*/ 932 w 1321"/>
                  <a:gd name="T91" fmla="*/ 53 h 712"/>
                  <a:gd name="T92" fmla="*/ 1010 w 1321"/>
                  <a:gd name="T93" fmla="*/ 90 h 712"/>
                  <a:gd name="T94" fmla="*/ 1082 w 1321"/>
                  <a:gd name="T95" fmla="*/ 137 h 712"/>
                  <a:gd name="T96" fmla="*/ 1149 w 1321"/>
                  <a:gd name="T97" fmla="*/ 194 h 712"/>
                  <a:gd name="T98" fmla="*/ 1208 w 1321"/>
                  <a:gd name="T99" fmla="*/ 256 h 712"/>
                  <a:gd name="T100" fmla="*/ 1258 w 1321"/>
                  <a:gd name="T101" fmla="*/ 325 h 712"/>
                  <a:gd name="T102" fmla="*/ 1301 w 1321"/>
                  <a:gd name="T103" fmla="*/ 401 h 712"/>
                  <a:gd name="T104" fmla="*/ 1301 w 1321"/>
                  <a:gd name="T105" fmla="*/ 401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0" name="Text Box 24"/>
            <p:cNvSpPr txBox="1">
              <a:spLocks noChangeArrowheads="1"/>
            </p:cNvSpPr>
            <p:nvPr/>
          </p:nvSpPr>
          <p:spPr bwMode="gray">
            <a:xfrm>
              <a:off x="48005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8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53" name="Freeform 5"/>
          <p:cNvSpPr>
            <a:spLocks/>
          </p:cNvSpPr>
          <p:nvPr/>
        </p:nvSpPr>
        <p:spPr bwMode="gray">
          <a:xfrm rot="20425042" flipH="1" flipV="1">
            <a:off x="1317625" y="4676775"/>
            <a:ext cx="849313" cy="736600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4" name="Freeform 5"/>
          <p:cNvSpPr>
            <a:spLocks/>
          </p:cNvSpPr>
          <p:nvPr/>
        </p:nvSpPr>
        <p:spPr bwMode="gray">
          <a:xfrm rot="11481075" flipH="1">
            <a:off x="2484438" y="4479925"/>
            <a:ext cx="866775" cy="1031875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99013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8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4" grpId="0"/>
      <p:bldP spid="28" grpId="0"/>
      <p:bldP spid="29" grpId="0"/>
      <p:bldP spid="30" grpId="0"/>
      <p:bldP spid="31" grpId="0"/>
      <p:bldP spid="31" grpId="1"/>
      <p:bldP spid="32" grpId="0"/>
      <p:bldP spid="53" grpId="0" animBg="1"/>
      <p:bldP spid="53" grpId="1" animBg="1"/>
      <p:bldP spid="54" grpId="0" animBg="1"/>
      <p:bldP spid="5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tìm giá trị lớn nhất của mảng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2442-D16C-4B16-9DD0-838AB29C0A0C}" type="datetime1">
              <a:rPr lang="vi-VN" smtClean="0"/>
              <a:t>14/01/2024</a:t>
            </a:fld>
            <a:endParaRPr lang="vi-VN"/>
          </a:p>
        </p:txBody>
      </p:sp>
      <p:sp>
        <p:nvSpPr>
          <p:cNvPr id="52227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124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229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TimMax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max = a[0];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1; i &lt; n; i++)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if (a[i] &gt; max)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	max = a[i];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return max;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15875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88665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Sắp xếp mảng theo thứ tự tăng dần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Yêu cầu</a:t>
            </a:r>
          </a:p>
          <a:p>
            <a:pPr lvl="1">
              <a:defRPr/>
            </a:pPr>
            <a:r>
              <a:rPr lang="en-US" sz="2400"/>
              <a:t>Cho mảng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/>
              <a:t> kích th</a:t>
            </a:r>
            <a:r>
              <a:rPr lang="vi-VN" sz="2400"/>
              <a:t>ướ</a:t>
            </a:r>
            <a:r>
              <a:rPr lang="en-US" sz="2400"/>
              <a:t>c </a:t>
            </a:r>
            <a:r>
              <a:rPr lang="en-US" sz="2400">
                <a:solidFill>
                  <a:srgbClr val="FF0000"/>
                </a:solidFill>
              </a:rPr>
              <a:t>n</a:t>
            </a:r>
            <a:r>
              <a:rPr lang="en-US" sz="2400"/>
              <a:t>. Sắp xếp mảng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/>
              <a:t> </a:t>
            </a:r>
            <a:r>
              <a:rPr lang="vi-VN" sz="2400"/>
              <a:t>theo th</a:t>
            </a:r>
            <a:r>
              <a:rPr lang="en-US" sz="2400"/>
              <a:t>ứ tự </a:t>
            </a:r>
            <a:r>
              <a:rPr lang="en-US" sz="2400">
                <a:solidFill>
                  <a:srgbClr val="FF0000"/>
                </a:solidFill>
              </a:rPr>
              <a:t>t</a:t>
            </a:r>
            <a:r>
              <a:rPr lang="vi-VN" sz="2400">
                <a:solidFill>
                  <a:srgbClr val="FF0000"/>
                </a:solidFill>
              </a:rPr>
              <a:t>ă</a:t>
            </a:r>
            <a:r>
              <a:rPr lang="en-US" sz="2400">
                <a:solidFill>
                  <a:srgbClr val="FF0000"/>
                </a:solidFill>
              </a:rPr>
              <a:t>ng dần</a:t>
            </a:r>
            <a:r>
              <a:rPr lang="en-US" sz="2400"/>
              <a:t>.</a:t>
            </a:r>
            <a:endParaRPr lang="en-US" sz="240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Ý t</a:t>
            </a:r>
            <a:r>
              <a:rPr lang="vi-VN">
                <a:latin typeface="Arial" charset="0"/>
                <a:cs typeface="Arial" charset="0"/>
              </a:rPr>
              <a:t>ưở</a:t>
            </a:r>
            <a:r>
              <a:rPr lang="en-US">
                <a:latin typeface="Arial" charset="0"/>
                <a:cs typeface="Arial" charset="0"/>
              </a:rPr>
              <a:t>ng</a:t>
            </a:r>
          </a:p>
          <a:p>
            <a:pPr lvl="1">
              <a:defRPr/>
            </a:pPr>
            <a:r>
              <a:rPr lang="en-US" sz="2400"/>
              <a:t>Với mỗi phần từ </a:t>
            </a:r>
            <a:r>
              <a:rPr lang="en-US" sz="2400">
                <a:solidFill>
                  <a:srgbClr val="FF0000"/>
                </a:solidFill>
              </a:rPr>
              <a:t>a[i]</a:t>
            </a:r>
            <a:r>
              <a:rPr lang="en-US" sz="2400"/>
              <a:t>, (i=0..n-1), tìm xem có phần tử </a:t>
            </a:r>
            <a:r>
              <a:rPr lang="en-US" sz="2400">
                <a:solidFill>
                  <a:srgbClr val="FF0000"/>
                </a:solidFill>
              </a:rPr>
              <a:t>a[j]</a:t>
            </a:r>
            <a:r>
              <a:rPr lang="en-US" sz="2400"/>
              <a:t>, (j=i+1..n) nào đó mà </a:t>
            </a:r>
            <a:r>
              <a:rPr lang="en-US" sz="2400">
                <a:solidFill>
                  <a:srgbClr val="FF0000"/>
                </a:solidFill>
              </a:rPr>
              <a:t>a[i]&gt;a[j] </a:t>
            </a:r>
            <a:r>
              <a:rPr lang="en-US" sz="2400"/>
              <a:t>hay không? Nếu có thì </a:t>
            </a:r>
            <a:r>
              <a:rPr lang="en-US" sz="2400">
                <a:solidFill>
                  <a:srgbClr val="FF0000"/>
                </a:solidFill>
              </a:rPr>
              <a:t>đổi chỗ </a:t>
            </a:r>
            <a:r>
              <a:rPr lang="en-US" sz="2400"/>
              <a:t>a[i] và a[j].</a:t>
            </a:r>
          </a:p>
        </p:txBody>
      </p:sp>
      <p:sp>
        <p:nvSpPr>
          <p:cNvPr id="5325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8547E-F2B0-482B-9466-71C696606D97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428377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sắp xếp mảng theo thứ tự tăng dần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236C-0F9E-4A0D-8B87-C2F07AA54450}" type="datetime1">
              <a:rPr lang="vi-VN" smtClean="0"/>
              <a:t>14/01/2024</a:t>
            </a:fld>
            <a:endParaRPr lang="vi-VN"/>
          </a:p>
        </p:txBody>
      </p:sp>
      <p:sp>
        <p:nvSpPr>
          <p:cNvPr id="54275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196752"/>
            <a:ext cx="152400" cy="489654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277" name="TextBox 7"/>
          <p:cNvSpPr txBox="1">
            <a:spLocks noChangeArrowheads="1"/>
          </p:cNvSpPr>
          <p:nvPr/>
        </p:nvSpPr>
        <p:spPr bwMode="auto">
          <a:xfrm>
            <a:off x="971600" y="1183565"/>
            <a:ext cx="83058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SapXepTang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(int a[], int n)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=0;i &lt;n–1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for (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j=i+1;j&lt;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;j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if (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 &gt; a[j]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{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=a[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  a[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]=a[j];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  a[j]=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}		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mang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sau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khi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dc sap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xep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la:”);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For(int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=0;i&lt;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(“%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d”,a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27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367408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Thêm một phần tử vào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Yêu cầu</a:t>
            </a:r>
          </a:p>
          <a:p>
            <a:pPr lvl="1">
              <a:defRPr/>
            </a:pPr>
            <a:r>
              <a:rPr lang="en-US" sz="2400"/>
              <a:t>Thêm phần tử </a:t>
            </a:r>
            <a:r>
              <a:rPr lang="en-US" sz="2400">
                <a:solidFill>
                  <a:srgbClr val="FF0000"/>
                </a:solidFill>
              </a:rPr>
              <a:t>x</a:t>
            </a:r>
            <a:r>
              <a:rPr lang="en-US" sz="2400"/>
              <a:t> vào mảng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/>
              <a:t> kích th</a:t>
            </a:r>
            <a:r>
              <a:rPr lang="vi-VN" sz="2400"/>
              <a:t>ướ</a:t>
            </a:r>
            <a:r>
              <a:rPr lang="en-US" sz="2400"/>
              <a:t>c </a:t>
            </a:r>
            <a:r>
              <a:rPr lang="en-US" sz="2400">
                <a:solidFill>
                  <a:srgbClr val="FF0000"/>
                </a:solidFill>
              </a:rPr>
              <a:t>n</a:t>
            </a:r>
            <a:r>
              <a:rPr lang="en-US" sz="2400"/>
              <a:t> tại vị trí </a:t>
            </a:r>
            <a:r>
              <a:rPr lang="en-US" sz="2400">
                <a:solidFill>
                  <a:srgbClr val="FF0000"/>
                </a:solidFill>
              </a:rPr>
              <a:t>vt</a:t>
            </a:r>
            <a:r>
              <a:rPr lang="en-US" sz="2400"/>
              <a:t>.</a:t>
            </a:r>
          </a:p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Ý t</a:t>
            </a:r>
            <a:r>
              <a:rPr lang="vi-VN">
                <a:latin typeface="Arial" charset="0"/>
                <a:cs typeface="Arial" charset="0"/>
              </a:rPr>
              <a:t>ưở</a:t>
            </a:r>
            <a:r>
              <a:rPr lang="en-US">
                <a:latin typeface="Arial" charset="0"/>
                <a:cs typeface="Arial" charset="0"/>
              </a:rPr>
              <a:t>ng 3 4 6 1 5 []</a:t>
            </a:r>
          </a:p>
          <a:p>
            <a:pPr lvl="1">
              <a:defRPr/>
            </a:pPr>
            <a:r>
              <a:rPr lang="en-US" sz="2400"/>
              <a:t>“Đẩy” các phần tử bắt </a:t>
            </a:r>
            <a:r>
              <a:rPr lang="vi-VN" sz="2400"/>
              <a:t>đầ</a:t>
            </a:r>
            <a:r>
              <a:rPr lang="en-US" sz="2400"/>
              <a:t>u tại vị trí </a:t>
            </a:r>
            <a:r>
              <a:rPr lang="en-US" sz="2400">
                <a:solidFill>
                  <a:srgbClr val="FF0000"/>
                </a:solidFill>
              </a:rPr>
              <a:t>vt</a:t>
            </a:r>
            <a:r>
              <a:rPr lang="en-US" sz="2400"/>
              <a:t> sang phải </a:t>
            </a:r>
            <a:r>
              <a:rPr lang="en-US" sz="2400">
                <a:solidFill>
                  <a:srgbClr val="FF0000"/>
                </a:solidFill>
              </a:rPr>
              <a:t>1 vị trí</a:t>
            </a:r>
            <a:r>
              <a:rPr lang="en-US" sz="2400"/>
              <a:t>.</a:t>
            </a:r>
          </a:p>
          <a:p>
            <a:pPr lvl="1">
              <a:defRPr/>
            </a:pPr>
            <a:r>
              <a:rPr lang="en-US" sz="2400"/>
              <a:t>Đ</a:t>
            </a:r>
            <a:r>
              <a:rPr lang="vi-VN" sz="2400"/>
              <a:t>ư</a:t>
            </a:r>
            <a:r>
              <a:rPr lang="en-US" sz="2400"/>
              <a:t>a </a:t>
            </a:r>
            <a:r>
              <a:rPr lang="en-US" sz="2400">
                <a:solidFill>
                  <a:srgbClr val="FF0000"/>
                </a:solidFill>
              </a:rPr>
              <a:t>x</a:t>
            </a:r>
            <a:r>
              <a:rPr lang="en-US" sz="2400"/>
              <a:t> vào vị trí </a:t>
            </a:r>
            <a:r>
              <a:rPr lang="en-US" sz="2400">
                <a:solidFill>
                  <a:srgbClr val="FF0000"/>
                </a:solidFill>
              </a:rPr>
              <a:t>vt</a:t>
            </a:r>
            <a:r>
              <a:rPr lang="en-US" sz="2400"/>
              <a:t> trong mảng.</a:t>
            </a:r>
          </a:p>
          <a:p>
            <a:pPr lvl="1">
              <a:defRPr/>
            </a:pPr>
            <a:r>
              <a:rPr lang="en-US" sz="2400"/>
              <a:t>T</a:t>
            </a:r>
            <a:r>
              <a:rPr lang="vi-VN" sz="2400"/>
              <a:t>ă</a:t>
            </a:r>
            <a:r>
              <a:rPr lang="en-US" sz="2400"/>
              <a:t>ng </a:t>
            </a:r>
            <a:r>
              <a:rPr lang="en-US" sz="2400">
                <a:solidFill>
                  <a:srgbClr val="FF0000"/>
                </a:solidFill>
              </a:rPr>
              <a:t>n</a:t>
            </a:r>
            <a:r>
              <a:rPr lang="en-US" sz="2400"/>
              <a:t> lên </a:t>
            </a:r>
            <a:r>
              <a:rPr lang="en-US" sz="2400">
                <a:solidFill>
                  <a:srgbClr val="FF0000"/>
                </a:solidFill>
              </a:rPr>
              <a:t>1 </a:t>
            </a:r>
            <a:r>
              <a:rPr lang="vi-VN" sz="2400">
                <a:solidFill>
                  <a:srgbClr val="FF0000"/>
                </a:solidFill>
              </a:rPr>
              <a:t>đơ</a:t>
            </a:r>
            <a:r>
              <a:rPr lang="en-US" sz="2400">
                <a:solidFill>
                  <a:srgbClr val="FF0000"/>
                </a:solidFill>
              </a:rPr>
              <a:t>n vị</a:t>
            </a:r>
            <a:r>
              <a:rPr lang="en-US" sz="240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FF2BF-32D7-4200-89D2-A9F1C13CCE5A}" type="datetime1">
              <a:rPr lang="vi-VN" smtClean="0"/>
              <a:t>14/01/2024</a:t>
            </a:fld>
            <a:endParaRPr lang="vi-VN"/>
          </a:p>
        </p:txBody>
      </p:sp>
      <p:sp>
        <p:nvSpPr>
          <p:cNvPr id="5530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28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69691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thêm một phần tử vào mảng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239-6380-46CF-A3B0-07E1FECF09CC}" type="datetime1">
              <a:rPr lang="vi-VN" smtClean="0"/>
              <a:t>14/01/2024</a:t>
            </a:fld>
            <a:endParaRPr lang="vi-VN"/>
          </a:p>
        </p:txBody>
      </p:sp>
      <p:sp>
        <p:nvSpPr>
          <p:cNvPr id="56323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325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Them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&amp;n, int vt, int x)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if (vt &gt;= 0 &amp;&amp; vt &lt;= n)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for(int i=n; i&gt;vt; i--)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a[i]=a[i-1];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a[vt]=x;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n++;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}2 5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4 6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=&gt;3 vt 2=&gt; 2 5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4 6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29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120157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Xóa một phần tử trong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Yêu cầu</a:t>
            </a:r>
          </a:p>
          <a:p>
            <a:pPr lvl="1">
              <a:defRPr/>
            </a:pPr>
            <a:r>
              <a:rPr lang="en-US" sz="2400"/>
              <a:t>Xóa một phần tử trong mảng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/>
              <a:t> kích th</a:t>
            </a:r>
            <a:r>
              <a:rPr lang="vi-VN" sz="2400"/>
              <a:t>ướ</a:t>
            </a:r>
            <a:r>
              <a:rPr lang="en-US" sz="2400"/>
              <a:t>c </a:t>
            </a:r>
            <a:r>
              <a:rPr lang="en-US" sz="2400">
                <a:solidFill>
                  <a:srgbClr val="FF0000"/>
                </a:solidFill>
              </a:rPr>
              <a:t>n</a:t>
            </a:r>
            <a:r>
              <a:rPr lang="en-US" sz="2400"/>
              <a:t> tại vị trí </a:t>
            </a:r>
            <a:r>
              <a:rPr lang="en-US" sz="2400">
                <a:solidFill>
                  <a:srgbClr val="FF0000"/>
                </a:solidFill>
              </a:rPr>
              <a:t>vt</a:t>
            </a:r>
            <a:endParaRPr lang="en-US" sz="2400"/>
          </a:p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Ý t</a:t>
            </a:r>
            <a:r>
              <a:rPr lang="vi-VN">
                <a:latin typeface="Arial" charset="0"/>
                <a:cs typeface="Arial" charset="0"/>
              </a:rPr>
              <a:t>ưở</a:t>
            </a:r>
            <a:r>
              <a:rPr lang="en-US">
                <a:latin typeface="Arial" charset="0"/>
                <a:cs typeface="Arial" charset="0"/>
              </a:rPr>
              <a:t>ng</a:t>
            </a:r>
          </a:p>
          <a:p>
            <a:pPr lvl="1">
              <a:defRPr/>
            </a:pPr>
            <a:r>
              <a:rPr lang="en-US" sz="2400"/>
              <a:t>“Kéo” các phần tử bên phải vị trí </a:t>
            </a:r>
            <a:r>
              <a:rPr lang="en-US" sz="2400">
                <a:solidFill>
                  <a:srgbClr val="FF0000"/>
                </a:solidFill>
              </a:rPr>
              <a:t>vt</a:t>
            </a:r>
            <a:r>
              <a:rPr lang="en-US" sz="2400"/>
              <a:t> sang trái </a:t>
            </a:r>
            <a:r>
              <a:rPr lang="en-US" sz="2400">
                <a:solidFill>
                  <a:srgbClr val="FF0000"/>
                </a:solidFill>
              </a:rPr>
              <a:t>1 vị trí</a:t>
            </a:r>
            <a:r>
              <a:rPr lang="en-US" sz="2400"/>
              <a:t>.</a:t>
            </a:r>
          </a:p>
          <a:p>
            <a:pPr lvl="1">
              <a:defRPr/>
            </a:pPr>
            <a:r>
              <a:rPr lang="en-US" sz="2400"/>
              <a:t>Giảm </a:t>
            </a:r>
            <a:r>
              <a:rPr lang="en-US" sz="2400">
                <a:solidFill>
                  <a:srgbClr val="FF0000"/>
                </a:solidFill>
              </a:rPr>
              <a:t>n</a:t>
            </a:r>
            <a:r>
              <a:rPr lang="en-US" sz="2400"/>
              <a:t> xuống </a:t>
            </a:r>
            <a:r>
              <a:rPr lang="en-US" sz="2400">
                <a:solidFill>
                  <a:srgbClr val="FF0000"/>
                </a:solidFill>
              </a:rPr>
              <a:t>1 </a:t>
            </a:r>
            <a:r>
              <a:rPr lang="vi-VN" sz="2400">
                <a:solidFill>
                  <a:srgbClr val="FF0000"/>
                </a:solidFill>
              </a:rPr>
              <a:t>đơ</a:t>
            </a:r>
            <a:r>
              <a:rPr lang="en-US" sz="2400">
                <a:solidFill>
                  <a:srgbClr val="FF0000"/>
                </a:solidFill>
              </a:rPr>
              <a:t>n vị</a:t>
            </a:r>
            <a:r>
              <a:rPr lang="en-US" sz="240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E888-585B-4783-8478-439FE04D8C91}" type="datetime1">
              <a:rPr lang="vi-VN" smtClean="0"/>
              <a:t>14/01/2024</a:t>
            </a:fld>
            <a:endParaRPr lang="vi-VN"/>
          </a:p>
        </p:txBody>
      </p:sp>
      <p:sp>
        <p:nvSpPr>
          <p:cNvPr id="5734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30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19201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xóa một phần tử trong mảng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F73B-4CE3-4B7F-B9B3-B4237A10DDDE}" type="datetime1">
              <a:rPr lang="vi-VN" smtClean="0"/>
              <a:t>14/01/2024</a:t>
            </a:fld>
            <a:endParaRPr lang="vi-VN"/>
          </a:p>
        </p:txBody>
      </p:sp>
      <p:sp>
        <p:nvSpPr>
          <p:cNvPr id="58371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200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37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Xoa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&amp;n, int vt)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if (vt &gt;= 0 &amp;&amp; vt &lt; n)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for (int i = vt; i &lt; n – 1; i++)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	a[i] = a[i + 1];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n--;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4 8 6 0 7 5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Vt=3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X=7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31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657854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 5 7 3 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 err="1">
                <a:latin typeface="Arial" charset="0"/>
                <a:cs typeface="Arial" charset="0"/>
              </a:rPr>
              <a:t>Các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thao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tác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nhập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xuất</a:t>
            </a:r>
            <a:endParaRPr lang="en-US" dirty="0">
              <a:latin typeface="Arial" charset="0"/>
              <a:cs typeface="Arial" charset="0"/>
            </a:endParaRP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n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endParaRPr lang="en-US" dirty="0"/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 err="1">
                <a:latin typeface="Arial" charset="0"/>
                <a:cs typeface="Arial" charset="0"/>
              </a:rPr>
              <a:t>Các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thao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tác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kiểm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tra</a:t>
            </a:r>
            <a:endParaRPr lang="en-US" dirty="0">
              <a:latin typeface="Arial" charset="0"/>
              <a:cs typeface="Arial" charset="0"/>
            </a:endParaRPr>
          </a:p>
          <a:p>
            <a:pPr marL="0" indent="0">
              <a:buNone/>
              <a:defRPr/>
            </a:pPr>
            <a:r>
              <a:rPr lang="en-US" sz="2400" dirty="0" err="1">
                <a:latin typeface="Arial" charset="0"/>
                <a:cs typeface="Arial" charset="0"/>
              </a:rPr>
              <a:t>Nhập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vào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một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mảng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gồm</a:t>
            </a:r>
            <a:r>
              <a:rPr lang="en-US" sz="2400" dirty="0">
                <a:latin typeface="Arial" charset="0"/>
                <a:cs typeface="Arial" charset="0"/>
              </a:rPr>
              <a:t> n </a:t>
            </a:r>
            <a:r>
              <a:rPr lang="en-US" sz="2400" dirty="0" err="1">
                <a:latin typeface="Arial" charset="0"/>
                <a:cs typeface="Arial" charset="0"/>
              </a:rPr>
              <a:t>số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nguyên</a:t>
            </a:r>
            <a:endParaRPr lang="en-US" sz="2400" dirty="0">
              <a:latin typeface="Arial" charset="0"/>
              <a:cs typeface="Arial" charset="0"/>
            </a:endParaRP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là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chẵn</a:t>
            </a:r>
            <a:r>
              <a:rPr lang="en-US" dirty="0"/>
              <a:t> (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) hay </a:t>
            </a:r>
            <a:r>
              <a:rPr lang="en-US" dirty="0" err="1"/>
              <a:t>không</a:t>
            </a:r>
            <a:r>
              <a:rPr lang="en-US" dirty="0"/>
              <a:t>?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là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?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?</a:t>
            </a:r>
          </a:p>
          <a:p>
            <a:pPr marL="914400" lvl="1" indent="-514350" algn="l">
              <a:buFont typeface="+mj-lt"/>
              <a:buAutoNum type="alphaLcPeriod"/>
              <a:defRPr/>
            </a:pP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là </a:t>
            </a:r>
            <a:r>
              <a:rPr lang="en-US" dirty="0" err="1"/>
              <a:t>mảng</a:t>
            </a:r>
            <a:r>
              <a:rPr lang="en-US" dirty="0"/>
              <a:t> t</a:t>
            </a:r>
            <a:r>
              <a:rPr lang="vi-VN" dirty="0"/>
              <a:t>ă</a:t>
            </a:r>
            <a:r>
              <a:rPr lang="en-US" dirty="0"/>
              <a:t>ng </a:t>
            </a:r>
            <a:r>
              <a:rPr lang="en-US" dirty="0" err="1"/>
              <a:t>dần</a:t>
            </a:r>
            <a:r>
              <a:rPr lang="en-US" dirty="0"/>
              <a:t> hay</a:t>
            </a:r>
            <a:br>
              <a:rPr lang="en-US" dirty="0"/>
            </a:b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hay </a:t>
            </a:r>
            <a:r>
              <a:rPr lang="en-US" dirty="0" err="1"/>
              <a:t>không</a:t>
            </a:r>
            <a:r>
              <a:rPr lang="en-US" dirty="0"/>
              <a:t>?</a:t>
            </a:r>
            <a:endParaRPr lang="en-US" spc="-100" dirty="0"/>
          </a:p>
        </p:txBody>
      </p:sp>
      <p:sp>
        <p:nvSpPr>
          <p:cNvPr id="5939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858C8-19D9-4F1E-8EDF-1662A49D79FC}" type="datetime1">
              <a:rPr lang="vi-VN" smtClean="0"/>
              <a:t>14/01/2024</a:t>
            </a:fld>
            <a:endParaRPr lang="vi-V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675883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  <a:defRPr/>
            </a:pPr>
            <a:r>
              <a:rPr lang="en-US" dirty="0" err="1">
                <a:latin typeface="Arial" charset="0"/>
                <a:cs typeface="Arial" charset="0"/>
              </a:rPr>
              <a:t>Các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thao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tác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tính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toán</a:t>
            </a:r>
            <a:endParaRPr lang="en-US" dirty="0">
              <a:latin typeface="Arial" charset="0"/>
              <a:cs typeface="Arial" charset="0"/>
            </a:endParaRPr>
          </a:p>
          <a:p>
            <a:pPr marL="0" indent="0">
              <a:buNone/>
              <a:defRPr/>
            </a:pPr>
            <a:r>
              <a:rPr lang="en-US" sz="2400" dirty="0" err="1">
                <a:latin typeface="Arial" charset="0"/>
                <a:cs typeface="Arial" charset="0"/>
              </a:rPr>
              <a:t>Nhập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vào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mảng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gồm</a:t>
            </a:r>
            <a:r>
              <a:rPr lang="en-US" sz="2400" dirty="0">
                <a:latin typeface="Arial" charset="0"/>
                <a:cs typeface="Arial" charset="0"/>
              </a:rPr>
              <a:t> n </a:t>
            </a:r>
            <a:r>
              <a:rPr lang="en-US" sz="2400" dirty="0" err="1">
                <a:latin typeface="Arial" charset="0"/>
                <a:cs typeface="Arial" charset="0"/>
              </a:rPr>
              <a:t>số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nguyên</a:t>
            </a:r>
            <a:r>
              <a:rPr lang="en-US" sz="2400" dirty="0">
                <a:latin typeface="Arial" charset="0"/>
                <a:cs typeface="Arial" charset="0"/>
              </a:rPr>
              <a:t>, </a:t>
            </a:r>
            <a:r>
              <a:rPr lang="en-US" sz="2400" dirty="0" err="1">
                <a:latin typeface="Arial" charset="0"/>
                <a:cs typeface="Arial" charset="0"/>
              </a:rPr>
              <a:t>và</a:t>
            </a:r>
            <a:r>
              <a:rPr lang="en-US" sz="2400" dirty="0">
                <a:latin typeface="Arial" charset="0"/>
                <a:cs typeface="Arial" charset="0"/>
              </a:rPr>
              <a:t> 2 </a:t>
            </a:r>
            <a:r>
              <a:rPr lang="en-US" sz="2400" dirty="0" err="1">
                <a:latin typeface="Arial" charset="0"/>
                <a:cs typeface="Arial" charset="0"/>
              </a:rPr>
              <a:t>số</a:t>
            </a:r>
            <a:r>
              <a:rPr lang="en-US" sz="2400" dirty="0">
                <a:latin typeface="Arial" charset="0"/>
                <a:cs typeface="Arial" charset="0"/>
              </a:rPr>
              <a:t> m </a:t>
            </a:r>
            <a:r>
              <a:rPr lang="en-US" sz="2400" dirty="0" err="1">
                <a:latin typeface="Arial" charset="0"/>
                <a:cs typeface="Arial" charset="0"/>
              </a:rPr>
              <a:t>và</a:t>
            </a:r>
            <a:r>
              <a:rPr lang="en-US" sz="2400" dirty="0">
                <a:latin typeface="Arial" charset="0"/>
                <a:cs typeface="Arial" charset="0"/>
              </a:rPr>
              <a:t> k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>
                <a:ea typeface="+mn-ea"/>
              </a:rPr>
              <a:t>Mảng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có</a:t>
            </a:r>
            <a:r>
              <a:rPr lang="en-US" dirty="0">
                <a:ea typeface="+mn-ea"/>
              </a:rPr>
              <a:t> bao </a:t>
            </a:r>
            <a:r>
              <a:rPr lang="en-US" dirty="0" err="1">
                <a:ea typeface="+mn-ea"/>
              </a:rPr>
              <a:t>nhiêu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chia </a:t>
            </a:r>
            <a:r>
              <a:rPr lang="en-US" dirty="0" err="1">
                <a:ea typeface="+mn-ea"/>
              </a:rPr>
              <a:t>hết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cho</a:t>
            </a:r>
            <a:r>
              <a:rPr lang="en-US" dirty="0">
                <a:ea typeface="+mn-ea"/>
              </a:rPr>
              <a:t> m </a:t>
            </a:r>
            <a:r>
              <a:rPr lang="en-US" dirty="0" err="1">
                <a:ea typeface="+mn-ea"/>
              </a:rPr>
              <a:t>nh</a:t>
            </a:r>
            <a:r>
              <a:rPr lang="vi-VN" dirty="0">
                <a:ea typeface="+mn-ea"/>
              </a:rPr>
              <a:t>ư</a:t>
            </a:r>
            <a:r>
              <a:rPr lang="en-US" dirty="0">
                <a:ea typeface="+mn-ea"/>
              </a:rPr>
              <a:t>ng </a:t>
            </a:r>
            <a:r>
              <a:rPr lang="en-US" dirty="0" err="1">
                <a:ea typeface="+mn-ea"/>
              </a:rPr>
              <a:t>không</a:t>
            </a:r>
            <a:r>
              <a:rPr lang="en-US" dirty="0">
                <a:ea typeface="+mn-ea"/>
              </a:rPr>
              <a:t> chia </a:t>
            </a:r>
            <a:r>
              <a:rPr lang="en-US" dirty="0" err="1">
                <a:ea typeface="+mn-ea"/>
              </a:rPr>
              <a:t>hết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cho</a:t>
            </a:r>
            <a:r>
              <a:rPr lang="en-US" dirty="0">
                <a:ea typeface="+mn-ea"/>
              </a:rPr>
              <a:t> k? 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>
                <a:ea typeface="+mn-ea"/>
              </a:rPr>
              <a:t>Tổng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các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nguyên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tố</a:t>
            </a:r>
            <a:r>
              <a:rPr lang="en-US" dirty="0">
                <a:ea typeface="+mn-ea"/>
              </a:rPr>
              <a:t>, </a:t>
            </a:r>
            <a:r>
              <a:rPr lang="en-US" dirty="0" err="1">
                <a:ea typeface="+mn-ea"/>
              </a:rPr>
              <a:t>chính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phương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có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trong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mảng</a:t>
            </a:r>
            <a:r>
              <a:rPr lang="en-US" dirty="0">
                <a:ea typeface="+mn-ea"/>
              </a:rPr>
              <a:t>?</a:t>
            </a:r>
          </a:p>
          <a:p>
            <a:pPr marL="514350" indent="-514350">
              <a:buFont typeface="+mj-lt"/>
              <a:buAutoNum type="arabicPeriod" startAt="4"/>
              <a:defRPr/>
            </a:pPr>
            <a:r>
              <a:rPr lang="en-US" dirty="0" err="1">
                <a:latin typeface="Arial" charset="0"/>
                <a:cs typeface="Arial" charset="0"/>
              </a:rPr>
              <a:t>Các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thao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tác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tìm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kiếm</a:t>
            </a:r>
            <a:r>
              <a:rPr lang="en-US" dirty="0">
                <a:latin typeface="Arial" charset="0"/>
                <a:cs typeface="Arial" charset="0"/>
              </a:rPr>
              <a:t> 4 3 5 3</a:t>
            </a:r>
          </a:p>
          <a:p>
            <a:pPr marL="0" indent="0">
              <a:buNone/>
              <a:defRPr/>
            </a:pPr>
            <a:r>
              <a:rPr lang="en-US" sz="2400" dirty="0" err="1">
                <a:latin typeface="Arial" charset="0"/>
                <a:cs typeface="Arial" charset="0"/>
              </a:rPr>
              <a:t>Nhập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vào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mảng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gồm</a:t>
            </a:r>
            <a:r>
              <a:rPr lang="en-US" sz="2400" dirty="0">
                <a:latin typeface="Arial" charset="0"/>
                <a:cs typeface="Arial" charset="0"/>
              </a:rPr>
              <a:t> n </a:t>
            </a:r>
            <a:r>
              <a:rPr lang="en-US" sz="2400" dirty="0" err="1">
                <a:latin typeface="Arial" charset="0"/>
                <a:cs typeface="Arial" charset="0"/>
              </a:rPr>
              <a:t>số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nguyên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và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số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nguyên</a:t>
            </a:r>
            <a:r>
              <a:rPr lang="en-US" sz="2400" dirty="0">
                <a:latin typeface="Arial" charset="0"/>
                <a:cs typeface="Arial" charset="0"/>
              </a:rPr>
              <a:t> x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>
                <a:ea typeface="+mn-ea"/>
              </a:rPr>
              <a:t>Tìm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vị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trí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cuối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cùng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của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phần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tử</a:t>
            </a:r>
            <a:r>
              <a:rPr lang="en-US" dirty="0">
                <a:ea typeface="+mn-ea"/>
              </a:rPr>
              <a:t> x </a:t>
            </a:r>
            <a:r>
              <a:rPr lang="en-US" dirty="0" err="1">
                <a:ea typeface="+mn-ea"/>
              </a:rPr>
              <a:t>trong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mảng</a:t>
            </a:r>
            <a:endParaRPr lang="en-US" dirty="0">
              <a:ea typeface="+mn-ea"/>
            </a:endParaRP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>
                <a:ea typeface="+mn-ea"/>
              </a:rPr>
              <a:t>Tìm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vị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trí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nguyên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tố</a:t>
            </a:r>
            <a:r>
              <a:rPr lang="en-US" dirty="0">
                <a:ea typeface="+mn-ea"/>
              </a:rPr>
              <a:t> </a:t>
            </a:r>
            <a:r>
              <a:rPr lang="vi-VN" dirty="0">
                <a:ea typeface="+mn-ea"/>
              </a:rPr>
              <a:t>đầ</a:t>
            </a:r>
            <a:r>
              <a:rPr lang="en-US" dirty="0">
                <a:ea typeface="+mn-ea"/>
              </a:rPr>
              <a:t>u </a:t>
            </a:r>
            <a:r>
              <a:rPr lang="en-US" dirty="0" err="1">
                <a:ea typeface="+mn-ea"/>
              </a:rPr>
              <a:t>tiên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trong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mảng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nếu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có</a:t>
            </a:r>
            <a:endParaRPr lang="en-US" dirty="0">
              <a:ea typeface="+mn-ea"/>
            </a:endParaRP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>
                <a:ea typeface="+mn-ea"/>
              </a:rPr>
              <a:t>Tìm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nhỏ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nhất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trong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mảng</a:t>
            </a:r>
            <a:endParaRPr lang="en-US" dirty="0">
              <a:ea typeface="+mn-ea"/>
            </a:endParaRP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>
                <a:ea typeface="+mn-ea"/>
              </a:rPr>
              <a:t>Tìm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d</a:t>
            </a:r>
            <a:r>
              <a:rPr lang="vi-VN" dirty="0">
                <a:ea typeface="+mn-ea"/>
              </a:rPr>
              <a:t>ươ</a:t>
            </a:r>
            <a:r>
              <a:rPr lang="en-US" dirty="0">
                <a:ea typeface="+mn-ea"/>
              </a:rPr>
              <a:t>ng </a:t>
            </a:r>
            <a:r>
              <a:rPr lang="en-US" dirty="0" err="1">
                <a:ea typeface="+mn-ea"/>
              </a:rPr>
              <a:t>nhỏ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nhất</a:t>
            </a:r>
            <a:r>
              <a:rPr lang="en-US" dirty="0">
                <a:ea typeface="+mn-ea"/>
              </a:rPr>
              <a:t>,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âm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lớn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nhất</a:t>
            </a:r>
            <a:endParaRPr lang="en-US" dirty="0">
              <a:ea typeface="+mn-ea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DECB-C1F1-4BB9-8C3F-BDEA8FB6943E}" type="datetime1">
              <a:rPr lang="vi-VN" smtClean="0"/>
              <a:t>14/01/2024</a:t>
            </a:fld>
            <a:endParaRPr lang="vi-VN"/>
          </a:p>
        </p:txBody>
      </p:sp>
      <p:sp>
        <p:nvSpPr>
          <p:cNvPr id="6042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760795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  <a:defRPr/>
            </a:pPr>
            <a:r>
              <a:rPr lang="en-US" dirty="0" err="1">
                <a:latin typeface="Arial" charset="0"/>
                <a:cs typeface="Arial" charset="0"/>
              </a:rPr>
              <a:t>Các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thao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tác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xử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lý</a:t>
            </a:r>
            <a:r>
              <a:rPr lang="en-US" dirty="0">
                <a:latin typeface="Arial" charset="0"/>
                <a:cs typeface="Arial" charset="0"/>
              </a:rPr>
              <a:t> 6 5 0 2 1 b[10];</a:t>
            </a:r>
            <a:r>
              <a:rPr lang="en-US" dirty="0" err="1">
                <a:latin typeface="Arial" charset="0"/>
                <a:cs typeface="Arial" charset="0"/>
              </a:rPr>
              <a:t>nb</a:t>
            </a:r>
            <a:r>
              <a:rPr lang="en-US" dirty="0">
                <a:latin typeface="Arial" charset="0"/>
                <a:cs typeface="Arial" charset="0"/>
              </a:rPr>
              <a:t>=0</a:t>
            </a:r>
          </a:p>
          <a:p>
            <a:pPr marL="0" indent="0">
              <a:buNone/>
              <a:defRPr/>
            </a:pPr>
            <a:r>
              <a:rPr lang="en-US" sz="2400" dirty="0" err="1">
                <a:latin typeface="Arial" charset="0"/>
                <a:cs typeface="Arial" charset="0"/>
              </a:rPr>
              <a:t>Nhập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mảng</a:t>
            </a:r>
            <a:r>
              <a:rPr lang="en-US" sz="2400" dirty="0">
                <a:latin typeface="Arial" charset="0"/>
                <a:cs typeface="Arial" charset="0"/>
              </a:rPr>
              <a:t> a </a:t>
            </a:r>
            <a:r>
              <a:rPr lang="en-US" sz="2400" dirty="0" err="1">
                <a:latin typeface="Arial" charset="0"/>
                <a:cs typeface="Arial" charset="0"/>
              </a:rPr>
              <a:t>gồm</a:t>
            </a:r>
            <a:r>
              <a:rPr lang="en-US" sz="2400" dirty="0">
                <a:latin typeface="Arial" charset="0"/>
                <a:cs typeface="Arial" charset="0"/>
              </a:rPr>
              <a:t> n </a:t>
            </a:r>
            <a:r>
              <a:rPr lang="en-US" sz="2400" dirty="0" err="1">
                <a:latin typeface="Arial" charset="0"/>
                <a:cs typeface="Arial" charset="0"/>
              </a:rPr>
              <a:t>số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err="1">
                <a:latin typeface="Arial" charset="0"/>
                <a:cs typeface="Arial" charset="0"/>
              </a:rPr>
              <a:t>nguyên</a:t>
            </a:r>
            <a:endParaRPr lang="en-US" sz="2400" dirty="0">
              <a:latin typeface="Arial" charset="0"/>
              <a:cs typeface="Arial" charset="0"/>
            </a:endParaRP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>
                <a:ea typeface="+mn-ea"/>
              </a:rPr>
              <a:t>Xây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dựng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mảng</a:t>
            </a:r>
            <a:r>
              <a:rPr lang="en-US" dirty="0">
                <a:ea typeface="+mn-ea"/>
              </a:rPr>
              <a:t> b </a:t>
            </a:r>
            <a:r>
              <a:rPr lang="en-US" dirty="0" err="1">
                <a:ea typeface="+mn-ea"/>
              </a:rPr>
              <a:t>gồm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các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nguyên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tố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có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trong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mảng</a:t>
            </a:r>
            <a:r>
              <a:rPr lang="en-US" dirty="0">
                <a:ea typeface="+mn-ea"/>
              </a:rPr>
              <a:t> a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>
                <a:ea typeface="+mn-ea"/>
              </a:rPr>
              <a:t>Xây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dựng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mảng</a:t>
            </a:r>
            <a:r>
              <a:rPr lang="en-US" dirty="0">
                <a:ea typeface="+mn-ea"/>
              </a:rPr>
              <a:t> b (</a:t>
            </a:r>
            <a:r>
              <a:rPr lang="en-US" dirty="0" err="1">
                <a:ea typeface="+mn-ea"/>
              </a:rPr>
              <a:t>chứa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các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nguyên</a:t>
            </a:r>
            <a:r>
              <a:rPr lang="en-US" dirty="0">
                <a:ea typeface="+mn-ea"/>
              </a:rPr>
              <a:t> d</a:t>
            </a:r>
            <a:r>
              <a:rPr lang="vi-VN" dirty="0">
                <a:ea typeface="+mn-ea"/>
              </a:rPr>
              <a:t>ươ</a:t>
            </a:r>
            <a:r>
              <a:rPr lang="en-US" dirty="0">
                <a:ea typeface="+mn-ea"/>
              </a:rPr>
              <a:t>ng) </a:t>
            </a:r>
            <a:r>
              <a:rPr lang="en-US" dirty="0" err="1">
                <a:ea typeface="+mn-ea"/>
              </a:rPr>
              <a:t>và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mảng</a:t>
            </a:r>
            <a:r>
              <a:rPr lang="en-US" dirty="0">
                <a:ea typeface="+mn-ea"/>
              </a:rPr>
              <a:t> c (</a:t>
            </a:r>
            <a:r>
              <a:rPr lang="en-US" dirty="0" err="1">
                <a:ea typeface="+mn-ea"/>
              </a:rPr>
              <a:t>chứa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các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còn </a:t>
            </a:r>
            <a:r>
              <a:rPr lang="en-US" dirty="0" err="1">
                <a:ea typeface="+mn-ea"/>
              </a:rPr>
              <a:t>lại</a:t>
            </a:r>
            <a:r>
              <a:rPr lang="en-US" dirty="0">
                <a:ea typeface="+mn-ea"/>
              </a:rPr>
              <a:t>)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>
                <a:ea typeface="+mn-ea"/>
              </a:rPr>
              <a:t>Sắp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xếp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mảng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theo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chiều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giảm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dần</a:t>
            </a:r>
            <a:endParaRPr lang="en-US" dirty="0">
              <a:ea typeface="+mn-ea"/>
            </a:endParaRP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 dirty="0" err="1">
                <a:ea typeface="+mn-ea"/>
              </a:rPr>
              <a:t>Sắp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xếp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mảng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sao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cho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các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d</a:t>
            </a:r>
            <a:r>
              <a:rPr lang="vi-VN" dirty="0">
                <a:ea typeface="+mn-ea"/>
              </a:rPr>
              <a:t>ươ</a:t>
            </a:r>
            <a:r>
              <a:rPr lang="en-US" dirty="0">
                <a:ea typeface="+mn-ea"/>
              </a:rPr>
              <a:t>ng </a:t>
            </a:r>
            <a:r>
              <a:rPr lang="vi-VN" dirty="0">
                <a:ea typeface="+mn-ea"/>
              </a:rPr>
              <a:t>đứ</a:t>
            </a:r>
            <a:r>
              <a:rPr lang="en-US" dirty="0">
                <a:ea typeface="+mn-ea"/>
              </a:rPr>
              <a:t>ng </a:t>
            </a:r>
            <a:r>
              <a:rPr lang="vi-VN" dirty="0">
                <a:ea typeface="+mn-ea"/>
              </a:rPr>
              <a:t>đầ</a:t>
            </a:r>
            <a:r>
              <a:rPr lang="en-US" dirty="0">
                <a:ea typeface="+mn-ea"/>
              </a:rPr>
              <a:t>u </a:t>
            </a:r>
            <a:r>
              <a:rPr lang="en-US" dirty="0" err="1">
                <a:ea typeface="+mn-ea"/>
              </a:rPr>
              <a:t>mảng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giảm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dần</a:t>
            </a:r>
            <a:r>
              <a:rPr lang="en-US" dirty="0">
                <a:ea typeface="+mn-ea"/>
              </a:rPr>
              <a:t>, </a:t>
            </a:r>
            <a:r>
              <a:rPr lang="en-US" dirty="0" err="1">
                <a:ea typeface="+mn-ea"/>
              </a:rPr>
              <a:t>kế</a:t>
            </a:r>
            <a:r>
              <a:rPr lang="en-US" dirty="0">
                <a:ea typeface="+mn-ea"/>
              </a:rPr>
              <a:t> </a:t>
            </a:r>
            <a:r>
              <a:rPr lang="vi-VN" dirty="0">
                <a:ea typeface="+mn-ea"/>
              </a:rPr>
              <a:t>đế</a:t>
            </a:r>
            <a:r>
              <a:rPr lang="en-US" dirty="0">
                <a:ea typeface="+mn-ea"/>
              </a:rPr>
              <a:t>n là </a:t>
            </a:r>
            <a:r>
              <a:rPr lang="en-US" dirty="0" err="1">
                <a:ea typeface="+mn-ea"/>
              </a:rPr>
              <a:t>các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âm</a:t>
            </a:r>
            <a:r>
              <a:rPr lang="en-US" dirty="0">
                <a:ea typeface="+mn-ea"/>
              </a:rPr>
              <a:t> t</a:t>
            </a:r>
            <a:r>
              <a:rPr lang="vi-VN" dirty="0">
                <a:ea typeface="+mn-ea"/>
              </a:rPr>
              <a:t>ă</a:t>
            </a:r>
            <a:r>
              <a:rPr lang="en-US" dirty="0">
                <a:ea typeface="+mn-ea"/>
              </a:rPr>
              <a:t>ng </a:t>
            </a:r>
            <a:r>
              <a:rPr lang="en-US" dirty="0" err="1">
                <a:ea typeface="+mn-ea"/>
              </a:rPr>
              <a:t>dần</a:t>
            </a:r>
            <a:r>
              <a:rPr lang="en-US" dirty="0">
                <a:ea typeface="+mn-ea"/>
              </a:rPr>
              <a:t>, </a:t>
            </a:r>
            <a:r>
              <a:rPr lang="en-US" dirty="0" err="1">
                <a:ea typeface="+mn-ea"/>
              </a:rPr>
              <a:t>cuối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cùng</a:t>
            </a:r>
            <a:r>
              <a:rPr lang="en-US" dirty="0">
                <a:ea typeface="+mn-ea"/>
              </a:rPr>
              <a:t> là </a:t>
            </a:r>
            <a:r>
              <a:rPr lang="en-US" dirty="0" err="1">
                <a:ea typeface="+mn-ea"/>
              </a:rPr>
              <a:t>các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số</a:t>
            </a:r>
            <a:r>
              <a:rPr lang="en-US" dirty="0">
                <a:ea typeface="+mn-ea"/>
              </a:rPr>
              <a:t> 0.</a:t>
            </a:r>
          </a:p>
        </p:txBody>
      </p:sp>
      <p:sp>
        <p:nvSpPr>
          <p:cNvPr id="6144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47E1-7B21-4AF1-B77C-25624DC81319}" type="datetime1">
              <a:rPr lang="vi-VN" smtClean="0"/>
              <a:t>14/01/2024</a:t>
            </a:fld>
            <a:endParaRPr lang="vi-V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688129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 4 3 5 =&gt; 4 3 0 5 0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  <a:defRPr/>
            </a:pPr>
            <a:r>
              <a:rPr lang="en-US">
                <a:latin typeface="Arial" charset="0"/>
                <a:cs typeface="Arial" charset="0"/>
              </a:rPr>
              <a:t>Các thao tác thêm/xóa/sửa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>
                <a:ea typeface="+mn-ea"/>
              </a:rPr>
              <a:t>Sửa các số nguyên tố có trong mảng thành số 0, tất cả các số chính phương thành số -1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>
                <a:ea typeface="+mn-ea"/>
              </a:rPr>
              <a:t>Chèn số 0 </a:t>
            </a:r>
            <a:r>
              <a:rPr lang="vi-VN">
                <a:ea typeface="+mn-ea"/>
              </a:rPr>
              <a:t>đằ</a:t>
            </a:r>
            <a:r>
              <a:rPr lang="en-US">
                <a:ea typeface="+mn-ea"/>
              </a:rPr>
              <a:t>ng sau mỗi số nguyên tố trong mảng, chèn số -1 phía trước mỗi số chính phương trong mảng.</a:t>
            </a:r>
          </a:p>
          <a:p>
            <a:pPr marL="914400" lvl="1" indent="-514350">
              <a:buFont typeface="+mj-lt"/>
              <a:buAutoNum type="alphaLcPeriod"/>
              <a:defRPr/>
            </a:pPr>
            <a:r>
              <a:rPr lang="en-US">
                <a:ea typeface="+mn-ea"/>
              </a:rPr>
              <a:t>Xóa tất cả số nguyên tố trong mảng</a:t>
            </a:r>
          </a:p>
        </p:txBody>
      </p:sp>
      <p:sp>
        <p:nvSpPr>
          <p:cNvPr id="6246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A534-A0B1-4E28-9622-96C5306919AD}" type="datetime1">
              <a:rPr lang="vi-VN" smtClean="0"/>
              <a:t>14/01/2024</a:t>
            </a:fld>
            <a:endParaRPr lang="vi-V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647116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5.2 Mảng nhiều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303D-FFD0-4736-B243-DE3A96EA7875}" type="datetime1">
              <a:rPr lang="vi-VN" smtClean="0"/>
              <a:t>14/01/2024</a:t>
            </a:fld>
            <a:endParaRPr lang="vi-VN"/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grpSp>
        <p:nvGrpSpPr>
          <p:cNvPr id="26" name="Group 46"/>
          <p:cNvGrpSpPr>
            <a:grpSpLocks/>
          </p:cNvGrpSpPr>
          <p:nvPr/>
        </p:nvGrpSpPr>
        <p:grpSpPr bwMode="auto">
          <a:xfrm>
            <a:off x="2133600" y="1905000"/>
            <a:ext cx="5462736" cy="685800"/>
            <a:chOff x="1296" y="1824"/>
            <a:chExt cx="2976" cy="432"/>
          </a:xfrm>
        </p:grpSpPr>
        <p:sp>
          <p:nvSpPr>
            <p:cNvPr id="27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8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29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Khái niệm</a:t>
              </a:r>
            </a:p>
          </p:txBody>
        </p:sp>
        <p:sp>
          <p:nvSpPr>
            <p:cNvPr id="30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</a:p>
          </p:txBody>
        </p:sp>
      </p:grpSp>
      <p:grpSp>
        <p:nvGrpSpPr>
          <p:cNvPr id="31" name="Group 51"/>
          <p:cNvGrpSpPr>
            <a:grpSpLocks/>
          </p:cNvGrpSpPr>
          <p:nvPr/>
        </p:nvGrpSpPr>
        <p:grpSpPr bwMode="auto">
          <a:xfrm>
            <a:off x="2133600" y="2743200"/>
            <a:ext cx="5462736" cy="685800"/>
            <a:chOff x="1296" y="1824"/>
            <a:chExt cx="2976" cy="432"/>
          </a:xfrm>
        </p:grpSpPr>
        <p:sp>
          <p:nvSpPr>
            <p:cNvPr id="32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3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4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Khai báo</a:t>
              </a:r>
            </a:p>
          </p:txBody>
        </p:sp>
        <p:sp>
          <p:nvSpPr>
            <p:cNvPr id="35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2</a:t>
              </a:r>
            </a:p>
          </p:txBody>
        </p:sp>
      </p:grpSp>
      <p:grpSp>
        <p:nvGrpSpPr>
          <p:cNvPr id="36" name="Group 56"/>
          <p:cNvGrpSpPr>
            <a:grpSpLocks/>
          </p:cNvGrpSpPr>
          <p:nvPr/>
        </p:nvGrpSpPr>
        <p:grpSpPr bwMode="auto">
          <a:xfrm>
            <a:off x="2133600" y="3581400"/>
            <a:ext cx="5462736" cy="685800"/>
            <a:chOff x="1296" y="1824"/>
            <a:chExt cx="2976" cy="432"/>
          </a:xfrm>
        </p:grpSpPr>
        <p:sp>
          <p:nvSpPr>
            <p:cNvPr id="37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8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39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Truy xuất dữ liệu kiểu mảng</a:t>
              </a:r>
            </a:p>
          </p:txBody>
        </p:sp>
        <p:sp>
          <p:nvSpPr>
            <p:cNvPr id="40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3</a:t>
              </a:r>
            </a:p>
          </p:txBody>
        </p:sp>
      </p:grpSp>
      <p:grpSp>
        <p:nvGrpSpPr>
          <p:cNvPr id="41" name="Group 61"/>
          <p:cNvGrpSpPr>
            <a:grpSpLocks/>
          </p:cNvGrpSpPr>
          <p:nvPr/>
        </p:nvGrpSpPr>
        <p:grpSpPr bwMode="auto">
          <a:xfrm>
            <a:off x="2133600" y="4495802"/>
            <a:ext cx="5462736" cy="820738"/>
            <a:chOff x="1296" y="1824"/>
            <a:chExt cx="2976" cy="517"/>
          </a:xfrm>
        </p:grpSpPr>
        <p:sp>
          <p:nvSpPr>
            <p:cNvPr id="42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0B5C4">
                    <a:gamma/>
                    <a:tint val="21176"/>
                    <a:invGamma/>
                  </a:srgbClr>
                </a:gs>
                <a:gs pos="100000">
                  <a:srgbClr val="A0B5C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3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A0B5C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4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40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Một số bài toán trên mảng </a:t>
              </a:r>
              <a:r>
                <a:rPr lang="en-US" b="1" kern="0">
                  <a:solidFill>
                    <a:srgbClr val="000000"/>
                  </a:solidFill>
                </a:rPr>
                <a:t>nhiều</a:t>
              </a: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chiều</a:t>
              </a:r>
            </a:p>
          </p:txBody>
        </p:sp>
        <p:sp>
          <p:nvSpPr>
            <p:cNvPr id="45" name="Text Box 6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4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428803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5.2.1 Khái niệm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 trận</a:t>
            </a:r>
            <a:endParaRPr lang="vi-V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935E-12C8-4C2F-B45B-1766E4A835EB}" type="datetime1">
              <a:rPr lang="vi-VN" smtClean="0"/>
              <a:t>14/01/2024</a:t>
            </a:fld>
            <a:endParaRPr lang="vi-VN"/>
          </a:p>
        </p:txBody>
      </p:sp>
      <p:sp>
        <p:nvSpPr>
          <p:cNvPr id="17411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1597496" y="26620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 rot="5400000">
            <a:off x="1673696" y="31192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…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1597496" y="35764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m-1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2054696" y="26620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2511896" y="26620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2969096" y="26620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3426296" y="26620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2054696" y="31192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3426296" y="31192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2054696" y="35764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2511896" y="31192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2969096" y="31192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2969096" y="35764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3426296" y="35764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2511896" y="35764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2054696" y="22048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2511896" y="22048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2969096" y="22048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3426296" y="22048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n-1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1064096" y="31192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rgbClr val="FF0000"/>
                </a:solidFill>
              </a:rPr>
              <a:t>A</a:t>
            </a:r>
            <a:r>
              <a:rPr lang="en-US" b="1" baseline="-25000">
                <a:solidFill>
                  <a:srgbClr val="FF0000"/>
                </a:solidFill>
              </a:rPr>
              <a:t>m,n</a:t>
            </a:r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5407496" y="26620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 rot="5400000">
            <a:off x="5483696" y="31192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…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5407496" y="35764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n-1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5864696" y="26620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6321896" y="26620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6779096" y="26620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5864696" y="31192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5864696" y="35764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6321896" y="31192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6779096" y="31192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6779096" y="35764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6321896" y="3576464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4874096" y="31192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rgbClr val="FF0000"/>
                </a:solidFill>
              </a:rPr>
              <a:t>A</a:t>
            </a:r>
            <a:r>
              <a:rPr lang="en-US" b="1" baseline="-25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gray">
          <a:xfrm>
            <a:off x="5864696" y="22048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AutoShape 6"/>
          <p:cNvSpPr>
            <a:spLocks noChangeArrowheads="1"/>
          </p:cNvSpPr>
          <p:nvPr/>
        </p:nvSpPr>
        <p:spPr bwMode="gray">
          <a:xfrm>
            <a:off x="6321896" y="22048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AutoShape 6"/>
          <p:cNvSpPr>
            <a:spLocks noChangeArrowheads="1"/>
          </p:cNvSpPr>
          <p:nvPr/>
        </p:nvSpPr>
        <p:spPr bwMode="gray">
          <a:xfrm>
            <a:off x="6779096" y="2204864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n-1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37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47485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 trận vuông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3CB53-5912-4234-BA61-099A1E5C8D25}" type="datetime1">
              <a:rPr lang="vi-VN" smtClean="0"/>
              <a:t>14/01/2024</a:t>
            </a:fld>
            <a:endParaRPr lang="vi-VN"/>
          </a:p>
        </p:txBody>
      </p:sp>
      <p:sp>
        <p:nvSpPr>
          <p:cNvPr id="18435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61" name="AutoShape 6"/>
          <p:cNvSpPr>
            <a:spLocks noChangeArrowheads="1"/>
          </p:cNvSpPr>
          <p:nvPr/>
        </p:nvSpPr>
        <p:spPr bwMode="gray">
          <a:xfrm>
            <a:off x="1066800" y="17259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62" name="AutoShape 6"/>
          <p:cNvSpPr>
            <a:spLocks noChangeArrowheads="1"/>
          </p:cNvSpPr>
          <p:nvPr/>
        </p:nvSpPr>
        <p:spPr bwMode="gray">
          <a:xfrm rot="5400000">
            <a:off x="1143000" y="21831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…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63" name="AutoShape 6"/>
          <p:cNvSpPr>
            <a:spLocks noChangeArrowheads="1"/>
          </p:cNvSpPr>
          <p:nvPr/>
        </p:nvSpPr>
        <p:spPr bwMode="gray">
          <a:xfrm>
            <a:off x="1066800" y="26403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n-1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64" name="AutoShape 6"/>
          <p:cNvSpPr>
            <a:spLocks noChangeArrowheads="1"/>
          </p:cNvSpPr>
          <p:nvPr/>
        </p:nvSpPr>
        <p:spPr bwMode="gray">
          <a:xfrm>
            <a:off x="1524000" y="1725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5" name="AutoShape 6"/>
          <p:cNvSpPr>
            <a:spLocks noChangeArrowheads="1"/>
          </p:cNvSpPr>
          <p:nvPr/>
        </p:nvSpPr>
        <p:spPr bwMode="gray">
          <a:xfrm>
            <a:off x="1981200" y="1725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6" name="AutoShape 6"/>
          <p:cNvSpPr>
            <a:spLocks noChangeArrowheads="1"/>
          </p:cNvSpPr>
          <p:nvPr/>
        </p:nvSpPr>
        <p:spPr bwMode="gray">
          <a:xfrm>
            <a:off x="2438400" y="1725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7" name="AutoShape 6"/>
          <p:cNvSpPr>
            <a:spLocks noChangeArrowheads="1"/>
          </p:cNvSpPr>
          <p:nvPr/>
        </p:nvSpPr>
        <p:spPr bwMode="gray">
          <a:xfrm>
            <a:off x="1524000" y="2183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8" name="AutoShape 6"/>
          <p:cNvSpPr>
            <a:spLocks noChangeArrowheads="1"/>
          </p:cNvSpPr>
          <p:nvPr/>
        </p:nvSpPr>
        <p:spPr bwMode="gray">
          <a:xfrm>
            <a:off x="1524000" y="26403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9" name="AutoShape 6"/>
          <p:cNvSpPr>
            <a:spLocks noChangeArrowheads="1"/>
          </p:cNvSpPr>
          <p:nvPr/>
        </p:nvSpPr>
        <p:spPr bwMode="gray">
          <a:xfrm>
            <a:off x="1981200" y="2183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0" name="AutoShape 6"/>
          <p:cNvSpPr>
            <a:spLocks noChangeArrowheads="1"/>
          </p:cNvSpPr>
          <p:nvPr/>
        </p:nvSpPr>
        <p:spPr bwMode="gray">
          <a:xfrm>
            <a:off x="2438400" y="2183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1" name="AutoShape 6"/>
          <p:cNvSpPr>
            <a:spLocks noChangeArrowheads="1"/>
          </p:cNvSpPr>
          <p:nvPr/>
        </p:nvSpPr>
        <p:spPr bwMode="gray">
          <a:xfrm>
            <a:off x="2438400" y="26403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2" name="AutoShape 6"/>
          <p:cNvSpPr>
            <a:spLocks noChangeArrowheads="1"/>
          </p:cNvSpPr>
          <p:nvPr/>
        </p:nvSpPr>
        <p:spPr bwMode="gray">
          <a:xfrm>
            <a:off x="1981200" y="26403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3" name="AutoShape 6"/>
          <p:cNvSpPr>
            <a:spLocks noChangeArrowheads="1"/>
          </p:cNvSpPr>
          <p:nvPr/>
        </p:nvSpPr>
        <p:spPr bwMode="gray">
          <a:xfrm>
            <a:off x="533400" y="21831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rgbClr val="FF0000"/>
                </a:solidFill>
              </a:rPr>
              <a:t>A</a:t>
            </a:r>
            <a:r>
              <a:rPr lang="en-US" b="1" baseline="-25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1524000" y="1268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1981200" y="1268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2438400" y="1268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n-1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7" name="AutoShape 6"/>
          <p:cNvSpPr>
            <a:spLocks noChangeArrowheads="1"/>
          </p:cNvSpPr>
          <p:nvPr/>
        </p:nvSpPr>
        <p:spPr bwMode="gray">
          <a:xfrm>
            <a:off x="3505200" y="17259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78" name="AutoShape 6"/>
          <p:cNvSpPr>
            <a:spLocks noChangeArrowheads="1"/>
          </p:cNvSpPr>
          <p:nvPr/>
        </p:nvSpPr>
        <p:spPr bwMode="gray">
          <a:xfrm rot="5400000">
            <a:off x="3581400" y="21831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…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79" name="AutoShape 6"/>
          <p:cNvSpPr>
            <a:spLocks noChangeArrowheads="1"/>
          </p:cNvSpPr>
          <p:nvPr/>
        </p:nvSpPr>
        <p:spPr bwMode="gray">
          <a:xfrm>
            <a:off x="3505200" y="26403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n-1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80" name="AutoShape 6"/>
          <p:cNvSpPr>
            <a:spLocks noChangeArrowheads="1"/>
          </p:cNvSpPr>
          <p:nvPr/>
        </p:nvSpPr>
        <p:spPr bwMode="gray">
          <a:xfrm>
            <a:off x="3962400" y="1725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1" name="AutoShape 6"/>
          <p:cNvSpPr>
            <a:spLocks noChangeArrowheads="1"/>
          </p:cNvSpPr>
          <p:nvPr/>
        </p:nvSpPr>
        <p:spPr bwMode="gray">
          <a:xfrm>
            <a:off x="4419600" y="1725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2" name="AutoShape 6"/>
          <p:cNvSpPr>
            <a:spLocks noChangeArrowheads="1"/>
          </p:cNvSpPr>
          <p:nvPr/>
        </p:nvSpPr>
        <p:spPr bwMode="gray">
          <a:xfrm>
            <a:off x="4876800" y="1725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3" name="AutoShape 6"/>
          <p:cNvSpPr>
            <a:spLocks noChangeArrowheads="1"/>
          </p:cNvSpPr>
          <p:nvPr/>
        </p:nvSpPr>
        <p:spPr bwMode="gray">
          <a:xfrm>
            <a:off x="3962400" y="2183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4" name="AutoShape 6"/>
          <p:cNvSpPr>
            <a:spLocks noChangeArrowheads="1"/>
          </p:cNvSpPr>
          <p:nvPr/>
        </p:nvSpPr>
        <p:spPr bwMode="gray">
          <a:xfrm>
            <a:off x="3962400" y="26403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5" name="AutoShape 6"/>
          <p:cNvSpPr>
            <a:spLocks noChangeArrowheads="1"/>
          </p:cNvSpPr>
          <p:nvPr/>
        </p:nvSpPr>
        <p:spPr bwMode="gray">
          <a:xfrm>
            <a:off x="4419600" y="2183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6" name="AutoShape 6"/>
          <p:cNvSpPr>
            <a:spLocks noChangeArrowheads="1"/>
          </p:cNvSpPr>
          <p:nvPr/>
        </p:nvSpPr>
        <p:spPr bwMode="gray">
          <a:xfrm>
            <a:off x="4876800" y="2183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7" name="AutoShape 6"/>
          <p:cNvSpPr>
            <a:spLocks noChangeArrowheads="1"/>
          </p:cNvSpPr>
          <p:nvPr/>
        </p:nvSpPr>
        <p:spPr bwMode="gray">
          <a:xfrm>
            <a:off x="4876800" y="26403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8" name="AutoShape 6"/>
          <p:cNvSpPr>
            <a:spLocks noChangeArrowheads="1"/>
          </p:cNvSpPr>
          <p:nvPr/>
        </p:nvSpPr>
        <p:spPr bwMode="gray">
          <a:xfrm>
            <a:off x="4419600" y="26403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0" name="AutoShape 6"/>
          <p:cNvSpPr>
            <a:spLocks noChangeArrowheads="1"/>
          </p:cNvSpPr>
          <p:nvPr/>
        </p:nvSpPr>
        <p:spPr bwMode="gray">
          <a:xfrm>
            <a:off x="3962400" y="1268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1" name="AutoShape 6"/>
          <p:cNvSpPr>
            <a:spLocks noChangeArrowheads="1"/>
          </p:cNvSpPr>
          <p:nvPr/>
        </p:nvSpPr>
        <p:spPr bwMode="gray">
          <a:xfrm>
            <a:off x="4419600" y="1268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2" name="AutoShape 6"/>
          <p:cNvSpPr>
            <a:spLocks noChangeArrowheads="1"/>
          </p:cNvSpPr>
          <p:nvPr/>
        </p:nvSpPr>
        <p:spPr bwMode="gray">
          <a:xfrm>
            <a:off x="4876800" y="1268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n-1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3" name="AutoShape 6"/>
          <p:cNvSpPr>
            <a:spLocks noChangeArrowheads="1"/>
          </p:cNvSpPr>
          <p:nvPr/>
        </p:nvSpPr>
        <p:spPr bwMode="gray">
          <a:xfrm>
            <a:off x="5715000" y="17259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94" name="AutoShape 6"/>
          <p:cNvSpPr>
            <a:spLocks noChangeArrowheads="1"/>
          </p:cNvSpPr>
          <p:nvPr/>
        </p:nvSpPr>
        <p:spPr bwMode="gray">
          <a:xfrm rot="5400000">
            <a:off x="5791200" y="21831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…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95" name="AutoShape 6"/>
          <p:cNvSpPr>
            <a:spLocks noChangeArrowheads="1"/>
          </p:cNvSpPr>
          <p:nvPr/>
        </p:nvSpPr>
        <p:spPr bwMode="gray">
          <a:xfrm>
            <a:off x="5715000" y="26403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n-1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96" name="AutoShape 6"/>
          <p:cNvSpPr>
            <a:spLocks noChangeArrowheads="1"/>
          </p:cNvSpPr>
          <p:nvPr/>
        </p:nvSpPr>
        <p:spPr bwMode="gray">
          <a:xfrm>
            <a:off x="6172200" y="1725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7" name="AutoShape 6"/>
          <p:cNvSpPr>
            <a:spLocks noChangeArrowheads="1"/>
          </p:cNvSpPr>
          <p:nvPr/>
        </p:nvSpPr>
        <p:spPr bwMode="gray">
          <a:xfrm>
            <a:off x="6629400" y="1725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8" name="AutoShape 6"/>
          <p:cNvSpPr>
            <a:spLocks noChangeArrowheads="1"/>
          </p:cNvSpPr>
          <p:nvPr/>
        </p:nvSpPr>
        <p:spPr bwMode="gray">
          <a:xfrm>
            <a:off x="7086600" y="1725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9" name="AutoShape 6"/>
          <p:cNvSpPr>
            <a:spLocks noChangeArrowheads="1"/>
          </p:cNvSpPr>
          <p:nvPr/>
        </p:nvSpPr>
        <p:spPr bwMode="gray">
          <a:xfrm>
            <a:off x="6172200" y="2183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0" name="AutoShape 6"/>
          <p:cNvSpPr>
            <a:spLocks noChangeArrowheads="1"/>
          </p:cNvSpPr>
          <p:nvPr/>
        </p:nvSpPr>
        <p:spPr bwMode="gray">
          <a:xfrm>
            <a:off x="6172200" y="26403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1" name="AutoShape 6"/>
          <p:cNvSpPr>
            <a:spLocks noChangeArrowheads="1"/>
          </p:cNvSpPr>
          <p:nvPr/>
        </p:nvSpPr>
        <p:spPr bwMode="gray">
          <a:xfrm>
            <a:off x="6629400" y="2183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2" name="AutoShape 6"/>
          <p:cNvSpPr>
            <a:spLocks noChangeArrowheads="1"/>
          </p:cNvSpPr>
          <p:nvPr/>
        </p:nvSpPr>
        <p:spPr bwMode="gray">
          <a:xfrm>
            <a:off x="7086600" y="2183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3" name="AutoShape 6"/>
          <p:cNvSpPr>
            <a:spLocks noChangeArrowheads="1"/>
          </p:cNvSpPr>
          <p:nvPr/>
        </p:nvSpPr>
        <p:spPr bwMode="gray">
          <a:xfrm>
            <a:off x="7086600" y="26403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4" name="AutoShape 6"/>
          <p:cNvSpPr>
            <a:spLocks noChangeArrowheads="1"/>
          </p:cNvSpPr>
          <p:nvPr/>
        </p:nvSpPr>
        <p:spPr bwMode="gray">
          <a:xfrm>
            <a:off x="6629400" y="26403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5" name="AutoShape 6"/>
          <p:cNvSpPr>
            <a:spLocks noChangeArrowheads="1"/>
          </p:cNvSpPr>
          <p:nvPr/>
        </p:nvSpPr>
        <p:spPr bwMode="gray">
          <a:xfrm>
            <a:off x="6172200" y="1268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6" name="AutoShape 6"/>
          <p:cNvSpPr>
            <a:spLocks noChangeArrowheads="1"/>
          </p:cNvSpPr>
          <p:nvPr/>
        </p:nvSpPr>
        <p:spPr bwMode="gray">
          <a:xfrm>
            <a:off x="6629400" y="1268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" name="AutoShape 6"/>
          <p:cNvSpPr>
            <a:spLocks noChangeArrowheads="1"/>
          </p:cNvSpPr>
          <p:nvPr/>
        </p:nvSpPr>
        <p:spPr bwMode="gray">
          <a:xfrm>
            <a:off x="7086600" y="1268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n-1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9" name="AutoShape 6"/>
          <p:cNvSpPr>
            <a:spLocks noChangeArrowheads="1"/>
          </p:cNvSpPr>
          <p:nvPr/>
        </p:nvSpPr>
        <p:spPr bwMode="gray">
          <a:xfrm>
            <a:off x="1524000" y="3326160"/>
            <a:ext cx="13716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dòng = cột</a:t>
            </a:r>
            <a:endParaRPr lang="en-US" baseline="-25000">
              <a:solidFill>
                <a:srgbClr val="FF0000"/>
              </a:solidFill>
            </a:endParaRPr>
          </a:p>
        </p:txBody>
      </p:sp>
      <p:sp>
        <p:nvSpPr>
          <p:cNvPr id="108" name="AutoShape 6"/>
          <p:cNvSpPr>
            <a:spLocks noChangeArrowheads="1"/>
          </p:cNvSpPr>
          <p:nvPr/>
        </p:nvSpPr>
        <p:spPr bwMode="gray">
          <a:xfrm>
            <a:off x="3962400" y="3249960"/>
            <a:ext cx="13716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dòng &gt; cột</a:t>
            </a:r>
            <a:endParaRPr lang="en-US" baseline="-25000">
              <a:solidFill>
                <a:srgbClr val="FF0000"/>
              </a:solidFill>
            </a:endParaRPr>
          </a:p>
        </p:txBody>
      </p:sp>
      <p:sp>
        <p:nvSpPr>
          <p:cNvPr id="109" name="AutoShape 6"/>
          <p:cNvSpPr>
            <a:spLocks noChangeArrowheads="1"/>
          </p:cNvSpPr>
          <p:nvPr/>
        </p:nvSpPr>
        <p:spPr bwMode="gray">
          <a:xfrm>
            <a:off x="6172200" y="3249960"/>
            <a:ext cx="13716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dòng &lt; cột</a:t>
            </a:r>
            <a:endParaRPr lang="en-US" baseline="-25000">
              <a:solidFill>
                <a:srgbClr val="FF0000"/>
              </a:solidFill>
            </a:endParaRPr>
          </a:p>
        </p:txBody>
      </p:sp>
      <p:sp>
        <p:nvSpPr>
          <p:cNvPr id="110" name="AutoShape 6"/>
          <p:cNvSpPr>
            <a:spLocks noChangeArrowheads="1"/>
          </p:cNvSpPr>
          <p:nvPr/>
        </p:nvSpPr>
        <p:spPr bwMode="gray">
          <a:xfrm>
            <a:off x="1066800" y="4316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11" name="AutoShape 6"/>
          <p:cNvSpPr>
            <a:spLocks noChangeArrowheads="1"/>
          </p:cNvSpPr>
          <p:nvPr/>
        </p:nvSpPr>
        <p:spPr bwMode="gray">
          <a:xfrm rot="5400000">
            <a:off x="1143000" y="47739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…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12" name="AutoShape 6"/>
          <p:cNvSpPr>
            <a:spLocks noChangeArrowheads="1"/>
          </p:cNvSpPr>
          <p:nvPr/>
        </p:nvSpPr>
        <p:spPr bwMode="gray">
          <a:xfrm>
            <a:off x="1066800" y="52311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n-1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13" name="AutoShape 6"/>
          <p:cNvSpPr>
            <a:spLocks noChangeArrowheads="1"/>
          </p:cNvSpPr>
          <p:nvPr/>
        </p:nvSpPr>
        <p:spPr bwMode="gray">
          <a:xfrm>
            <a:off x="1524000" y="43167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4" name="AutoShape 6"/>
          <p:cNvSpPr>
            <a:spLocks noChangeArrowheads="1"/>
          </p:cNvSpPr>
          <p:nvPr/>
        </p:nvSpPr>
        <p:spPr bwMode="gray">
          <a:xfrm>
            <a:off x="1981200" y="43167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5" name="AutoShape 6"/>
          <p:cNvSpPr>
            <a:spLocks noChangeArrowheads="1"/>
          </p:cNvSpPr>
          <p:nvPr/>
        </p:nvSpPr>
        <p:spPr bwMode="gray">
          <a:xfrm>
            <a:off x="2438400" y="43167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6" name="AutoShape 6"/>
          <p:cNvSpPr>
            <a:spLocks noChangeArrowheads="1"/>
          </p:cNvSpPr>
          <p:nvPr/>
        </p:nvSpPr>
        <p:spPr bwMode="gray">
          <a:xfrm>
            <a:off x="1524000" y="4773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7" name="AutoShape 6"/>
          <p:cNvSpPr>
            <a:spLocks noChangeArrowheads="1"/>
          </p:cNvSpPr>
          <p:nvPr/>
        </p:nvSpPr>
        <p:spPr bwMode="gray">
          <a:xfrm>
            <a:off x="1524000" y="5231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8" name="AutoShape 6"/>
          <p:cNvSpPr>
            <a:spLocks noChangeArrowheads="1"/>
          </p:cNvSpPr>
          <p:nvPr/>
        </p:nvSpPr>
        <p:spPr bwMode="gray">
          <a:xfrm>
            <a:off x="1981200" y="4773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9" name="AutoShape 6"/>
          <p:cNvSpPr>
            <a:spLocks noChangeArrowheads="1"/>
          </p:cNvSpPr>
          <p:nvPr/>
        </p:nvSpPr>
        <p:spPr bwMode="gray">
          <a:xfrm>
            <a:off x="2438400" y="4773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0" name="AutoShape 6"/>
          <p:cNvSpPr>
            <a:spLocks noChangeArrowheads="1"/>
          </p:cNvSpPr>
          <p:nvPr/>
        </p:nvSpPr>
        <p:spPr bwMode="gray">
          <a:xfrm>
            <a:off x="2438400" y="5231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1" name="AutoShape 6"/>
          <p:cNvSpPr>
            <a:spLocks noChangeArrowheads="1"/>
          </p:cNvSpPr>
          <p:nvPr/>
        </p:nvSpPr>
        <p:spPr bwMode="gray">
          <a:xfrm>
            <a:off x="1981200" y="5231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2" name="AutoShape 6"/>
          <p:cNvSpPr>
            <a:spLocks noChangeArrowheads="1"/>
          </p:cNvSpPr>
          <p:nvPr/>
        </p:nvSpPr>
        <p:spPr bwMode="gray">
          <a:xfrm>
            <a:off x="533400" y="47739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rgbClr val="FF0000"/>
                </a:solidFill>
              </a:rPr>
              <a:t>A</a:t>
            </a:r>
            <a:r>
              <a:rPr lang="en-US" b="1" baseline="-25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23" name="AutoShape 6"/>
          <p:cNvSpPr>
            <a:spLocks noChangeArrowheads="1"/>
          </p:cNvSpPr>
          <p:nvPr/>
        </p:nvSpPr>
        <p:spPr bwMode="gray">
          <a:xfrm>
            <a:off x="1524000" y="38595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4" name="AutoShape 6"/>
          <p:cNvSpPr>
            <a:spLocks noChangeArrowheads="1"/>
          </p:cNvSpPr>
          <p:nvPr/>
        </p:nvSpPr>
        <p:spPr bwMode="gray">
          <a:xfrm>
            <a:off x="1981200" y="38595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5" name="AutoShape 6"/>
          <p:cNvSpPr>
            <a:spLocks noChangeArrowheads="1"/>
          </p:cNvSpPr>
          <p:nvPr/>
        </p:nvSpPr>
        <p:spPr bwMode="gray">
          <a:xfrm>
            <a:off x="2438400" y="38595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n-1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6" name="AutoShape 6"/>
          <p:cNvSpPr>
            <a:spLocks noChangeArrowheads="1"/>
          </p:cNvSpPr>
          <p:nvPr/>
        </p:nvSpPr>
        <p:spPr bwMode="gray">
          <a:xfrm>
            <a:off x="3505200" y="4316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27" name="AutoShape 6"/>
          <p:cNvSpPr>
            <a:spLocks noChangeArrowheads="1"/>
          </p:cNvSpPr>
          <p:nvPr/>
        </p:nvSpPr>
        <p:spPr bwMode="gray">
          <a:xfrm rot="5400000">
            <a:off x="3581400" y="47739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…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28" name="AutoShape 6"/>
          <p:cNvSpPr>
            <a:spLocks noChangeArrowheads="1"/>
          </p:cNvSpPr>
          <p:nvPr/>
        </p:nvSpPr>
        <p:spPr bwMode="gray">
          <a:xfrm>
            <a:off x="3505200" y="52311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n-1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29" name="AutoShape 6"/>
          <p:cNvSpPr>
            <a:spLocks noChangeArrowheads="1"/>
          </p:cNvSpPr>
          <p:nvPr/>
        </p:nvSpPr>
        <p:spPr bwMode="gray">
          <a:xfrm>
            <a:off x="3962400" y="43167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0" name="AutoShape 6"/>
          <p:cNvSpPr>
            <a:spLocks noChangeArrowheads="1"/>
          </p:cNvSpPr>
          <p:nvPr/>
        </p:nvSpPr>
        <p:spPr bwMode="gray">
          <a:xfrm>
            <a:off x="4419600" y="43167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1" name="AutoShape 6"/>
          <p:cNvSpPr>
            <a:spLocks noChangeArrowheads="1"/>
          </p:cNvSpPr>
          <p:nvPr/>
        </p:nvSpPr>
        <p:spPr bwMode="gray">
          <a:xfrm>
            <a:off x="4876800" y="43167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2" name="AutoShape 6"/>
          <p:cNvSpPr>
            <a:spLocks noChangeArrowheads="1"/>
          </p:cNvSpPr>
          <p:nvPr/>
        </p:nvSpPr>
        <p:spPr bwMode="gray">
          <a:xfrm>
            <a:off x="3962400" y="4773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3" name="AutoShape 6"/>
          <p:cNvSpPr>
            <a:spLocks noChangeArrowheads="1"/>
          </p:cNvSpPr>
          <p:nvPr/>
        </p:nvSpPr>
        <p:spPr bwMode="gray">
          <a:xfrm>
            <a:off x="3962400" y="5231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4" name="AutoShape 6"/>
          <p:cNvSpPr>
            <a:spLocks noChangeArrowheads="1"/>
          </p:cNvSpPr>
          <p:nvPr/>
        </p:nvSpPr>
        <p:spPr bwMode="gray">
          <a:xfrm>
            <a:off x="4419600" y="4773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5" name="AutoShape 6"/>
          <p:cNvSpPr>
            <a:spLocks noChangeArrowheads="1"/>
          </p:cNvSpPr>
          <p:nvPr/>
        </p:nvSpPr>
        <p:spPr bwMode="gray">
          <a:xfrm>
            <a:off x="4876800" y="4773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6" name="AutoShape 6"/>
          <p:cNvSpPr>
            <a:spLocks noChangeArrowheads="1"/>
          </p:cNvSpPr>
          <p:nvPr/>
        </p:nvSpPr>
        <p:spPr bwMode="gray">
          <a:xfrm>
            <a:off x="4876800" y="5231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7" name="AutoShape 6"/>
          <p:cNvSpPr>
            <a:spLocks noChangeArrowheads="1"/>
          </p:cNvSpPr>
          <p:nvPr/>
        </p:nvSpPr>
        <p:spPr bwMode="gray">
          <a:xfrm>
            <a:off x="4419600" y="5231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8" name="AutoShape 6"/>
          <p:cNvSpPr>
            <a:spLocks noChangeArrowheads="1"/>
          </p:cNvSpPr>
          <p:nvPr/>
        </p:nvSpPr>
        <p:spPr bwMode="gray">
          <a:xfrm>
            <a:off x="3962400" y="38595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9" name="AutoShape 6"/>
          <p:cNvSpPr>
            <a:spLocks noChangeArrowheads="1"/>
          </p:cNvSpPr>
          <p:nvPr/>
        </p:nvSpPr>
        <p:spPr bwMode="gray">
          <a:xfrm>
            <a:off x="4419600" y="38595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0" name="AutoShape 6"/>
          <p:cNvSpPr>
            <a:spLocks noChangeArrowheads="1"/>
          </p:cNvSpPr>
          <p:nvPr/>
        </p:nvSpPr>
        <p:spPr bwMode="gray">
          <a:xfrm>
            <a:off x="4876800" y="38595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n-1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1" name="AutoShape 6"/>
          <p:cNvSpPr>
            <a:spLocks noChangeArrowheads="1"/>
          </p:cNvSpPr>
          <p:nvPr/>
        </p:nvSpPr>
        <p:spPr bwMode="gray">
          <a:xfrm>
            <a:off x="5715000" y="43167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42" name="AutoShape 6"/>
          <p:cNvSpPr>
            <a:spLocks noChangeArrowheads="1"/>
          </p:cNvSpPr>
          <p:nvPr/>
        </p:nvSpPr>
        <p:spPr bwMode="gray">
          <a:xfrm rot="5400000">
            <a:off x="5791200" y="47739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…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43" name="AutoShape 6"/>
          <p:cNvSpPr>
            <a:spLocks noChangeArrowheads="1"/>
          </p:cNvSpPr>
          <p:nvPr/>
        </p:nvSpPr>
        <p:spPr bwMode="gray">
          <a:xfrm>
            <a:off x="5715000" y="52311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n-1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44" name="AutoShape 6"/>
          <p:cNvSpPr>
            <a:spLocks noChangeArrowheads="1"/>
          </p:cNvSpPr>
          <p:nvPr/>
        </p:nvSpPr>
        <p:spPr bwMode="gray">
          <a:xfrm>
            <a:off x="6172200" y="43167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5" name="AutoShape 6"/>
          <p:cNvSpPr>
            <a:spLocks noChangeArrowheads="1"/>
          </p:cNvSpPr>
          <p:nvPr/>
        </p:nvSpPr>
        <p:spPr bwMode="gray">
          <a:xfrm>
            <a:off x="6629400" y="43167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6" name="AutoShape 6"/>
          <p:cNvSpPr>
            <a:spLocks noChangeArrowheads="1"/>
          </p:cNvSpPr>
          <p:nvPr/>
        </p:nvSpPr>
        <p:spPr bwMode="gray">
          <a:xfrm>
            <a:off x="7086600" y="43167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7" name="AutoShape 6"/>
          <p:cNvSpPr>
            <a:spLocks noChangeArrowheads="1"/>
          </p:cNvSpPr>
          <p:nvPr/>
        </p:nvSpPr>
        <p:spPr bwMode="gray">
          <a:xfrm>
            <a:off x="6172200" y="4773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8" name="AutoShape 6"/>
          <p:cNvSpPr>
            <a:spLocks noChangeArrowheads="1"/>
          </p:cNvSpPr>
          <p:nvPr/>
        </p:nvSpPr>
        <p:spPr bwMode="gray">
          <a:xfrm>
            <a:off x="6172200" y="5231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9" name="AutoShape 6"/>
          <p:cNvSpPr>
            <a:spLocks noChangeArrowheads="1"/>
          </p:cNvSpPr>
          <p:nvPr/>
        </p:nvSpPr>
        <p:spPr bwMode="gray">
          <a:xfrm>
            <a:off x="6629400" y="4773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0" name="AutoShape 6"/>
          <p:cNvSpPr>
            <a:spLocks noChangeArrowheads="1"/>
          </p:cNvSpPr>
          <p:nvPr/>
        </p:nvSpPr>
        <p:spPr bwMode="gray">
          <a:xfrm>
            <a:off x="7086600" y="47739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1" name="AutoShape 6"/>
          <p:cNvSpPr>
            <a:spLocks noChangeArrowheads="1"/>
          </p:cNvSpPr>
          <p:nvPr/>
        </p:nvSpPr>
        <p:spPr bwMode="gray">
          <a:xfrm>
            <a:off x="7086600" y="5231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2" name="AutoShape 6"/>
          <p:cNvSpPr>
            <a:spLocks noChangeArrowheads="1"/>
          </p:cNvSpPr>
          <p:nvPr/>
        </p:nvSpPr>
        <p:spPr bwMode="gray">
          <a:xfrm>
            <a:off x="6629400" y="523116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3" name="AutoShape 6"/>
          <p:cNvSpPr>
            <a:spLocks noChangeArrowheads="1"/>
          </p:cNvSpPr>
          <p:nvPr/>
        </p:nvSpPr>
        <p:spPr bwMode="gray">
          <a:xfrm>
            <a:off x="6172200" y="38595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4" name="AutoShape 6"/>
          <p:cNvSpPr>
            <a:spLocks noChangeArrowheads="1"/>
          </p:cNvSpPr>
          <p:nvPr/>
        </p:nvSpPr>
        <p:spPr bwMode="gray">
          <a:xfrm>
            <a:off x="6629400" y="38595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5" name="AutoShape 6"/>
          <p:cNvSpPr>
            <a:spLocks noChangeArrowheads="1"/>
          </p:cNvSpPr>
          <p:nvPr/>
        </p:nvSpPr>
        <p:spPr bwMode="gray">
          <a:xfrm>
            <a:off x="7086600" y="385956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n-1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6" name="AutoShape 6"/>
          <p:cNvSpPr>
            <a:spLocks noChangeArrowheads="1"/>
          </p:cNvSpPr>
          <p:nvPr/>
        </p:nvSpPr>
        <p:spPr bwMode="gray">
          <a:xfrm>
            <a:off x="1524000" y="5916960"/>
            <a:ext cx="13716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dòng + cột = n-1</a:t>
            </a:r>
            <a:endParaRPr lang="en-US" baseline="-25000">
              <a:solidFill>
                <a:srgbClr val="FF0000"/>
              </a:solidFill>
            </a:endParaRPr>
          </a:p>
        </p:txBody>
      </p:sp>
      <p:sp>
        <p:nvSpPr>
          <p:cNvPr id="157" name="AutoShape 6"/>
          <p:cNvSpPr>
            <a:spLocks noChangeArrowheads="1"/>
          </p:cNvSpPr>
          <p:nvPr/>
        </p:nvSpPr>
        <p:spPr bwMode="gray">
          <a:xfrm>
            <a:off x="3962400" y="5840760"/>
            <a:ext cx="13716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dòng + cột &gt; n-1</a:t>
            </a:r>
            <a:endParaRPr lang="en-US" baseline="-25000">
              <a:solidFill>
                <a:srgbClr val="FF0000"/>
              </a:solidFill>
            </a:endParaRPr>
          </a:p>
        </p:txBody>
      </p:sp>
      <p:sp>
        <p:nvSpPr>
          <p:cNvPr id="158" name="AutoShape 6"/>
          <p:cNvSpPr>
            <a:spLocks noChangeArrowheads="1"/>
          </p:cNvSpPr>
          <p:nvPr/>
        </p:nvSpPr>
        <p:spPr bwMode="gray">
          <a:xfrm>
            <a:off x="6172200" y="5840760"/>
            <a:ext cx="13716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dòng + cột &lt; n-1</a:t>
            </a:r>
            <a:endParaRPr lang="en-US" baseline="-25000">
              <a:solidFill>
                <a:srgbClr val="FF0000"/>
              </a:solidFill>
            </a:endParaRPr>
          </a:p>
        </p:txBody>
      </p:sp>
      <p:cxnSp>
        <p:nvCxnSpPr>
          <p:cNvPr id="159" name="Straight Arrow Connector 158"/>
          <p:cNvCxnSpPr/>
          <p:nvPr/>
        </p:nvCxnSpPr>
        <p:spPr>
          <a:xfrm rot="16200000" flipV="1">
            <a:off x="1524000" y="1725960"/>
            <a:ext cx="1371600" cy="1371600"/>
          </a:xfrm>
          <a:prstGeom prst="straightConnector1">
            <a:avLst/>
          </a:prstGeom>
          <a:noFill/>
          <a:ln>
            <a:solidFill>
              <a:schemeClr val="tx2"/>
            </a:solidFill>
            <a:headEnd type="arrow" w="med" len="med"/>
            <a:tailEnd type="arrow" w="med" len="med"/>
          </a:ln>
          <a:effectLst>
            <a:glow rad="63500">
              <a:schemeClr val="tx1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62" name="Straight Arrow Connector 161"/>
          <p:cNvCxnSpPr/>
          <p:nvPr/>
        </p:nvCxnSpPr>
        <p:spPr>
          <a:xfrm rot="16200000" flipV="1">
            <a:off x="3962400" y="1725960"/>
            <a:ext cx="1371600" cy="1371600"/>
          </a:xfrm>
          <a:prstGeom prst="straightConnector1">
            <a:avLst/>
          </a:prstGeom>
          <a:noFill/>
          <a:ln>
            <a:solidFill>
              <a:schemeClr val="tx2"/>
            </a:solidFill>
            <a:headEnd type="arrow" w="med" len="med"/>
            <a:tailEnd type="arrow" w="med" len="med"/>
          </a:ln>
          <a:effectLst>
            <a:glow rad="63500">
              <a:schemeClr val="tx1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63" name="Straight Arrow Connector 162"/>
          <p:cNvCxnSpPr/>
          <p:nvPr/>
        </p:nvCxnSpPr>
        <p:spPr>
          <a:xfrm rot="16200000" flipV="1">
            <a:off x="6172200" y="1725960"/>
            <a:ext cx="1371600" cy="1371600"/>
          </a:xfrm>
          <a:prstGeom prst="straightConnector1">
            <a:avLst/>
          </a:prstGeom>
          <a:noFill/>
          <a:ln>
            <a:solidFill>
              <a:schemeClr val="tx2"/>
            </a:solidFill>
            <a:headEnd type="arrow" w="med" len="med"/>
            <a:tailEnd type="arrow" w="med" len="med"/>
          </a:ln>
          <a:effectLst>
            <a:glow rad="63500">
              <a:schemeClr val="tx1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64" name="Straight Arrow Connector 163"/>
          <p:cNvCxnSpPr/>
          <p:nvPr/>
        </p:nvCxnSpPr>
        <p:spPr>
          <a:xfrm rot="5400000" flipH="1" flipV="1">
            <a:off x="1524000" y="4316760"/>
            <a:ext cx="1371600" cy="1371600"/>
          </a:xfrm>
          <a:prstGeom prst="straightConnector1">
            <a:avLst/>
          </a:prstGeom>
          <a:noFill/>
          <a:ln>
            <a:solidFill>
              <a:schemeClr val="tx2"/>
            </a:solidFill>
            <a:headEnd type="arrow" w="med" len="med"/>
            <a:tailEnd type="arrow" w="med" len="med"/>
          </a:ln>
          <a:effectLst>
            <a:glow rad="63500">
              <a:schemeClr val="tx1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67" name="Straight Arrow Connector 166"/>
          <p:cNvCxnSpPr/>
          <p:nvPr/>
        </p:nvCxnSpPr>
        <p:spPr>
          <a:xfrm rot="5400000" flipH="1" flipV="1">
            <a:off x="3962400" y="4316760"/>
            <a:ext cx="1371600" cy="1371600"/>
          </a:xfrm>
          <a:prstGeom prst="straightConnector1">
            <a:avLst/>
          </a:prstGeom>
          <a:noFill/>
          <a:ln>
            <a:solidFill>
              <a:schemeClr val="tx2"/>
            </a:solidFill>
            <a:headEnd type="arrow" w="med" len="med"/>
            <a:tailEnd type="arrow" w="med" len="med"/>
          </a:ln>
          <a:effectLst>
            <a:glow rad="63500">
              <a:schemeClr val="tx1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68" name="Straight Arrow Connector 167"/>
          <p:cNvCxnSpPr/>
          <p:nvPr/>
        </p:nvCxnSpPr>
        <p:spPr>
          <a:xfrm rot="5400000" flipH="1" flipV="1">
            <a:off x="6172200" y="4316760"/>
            <a:ext cx="1371600" cy="1371600"/>
          </a:xfrm>
          <a:prstGeom prst="straightConnector1">
            <a:avLst/>
          </a:prstGeom>
          <a:noFill/>
          <a:ln>
            <a:solidFill>
              <a:schemeClr val="tx2"/>
            </a:solidFill>
            <a:headEnd type="arrow" w="med" len="med"/>
            <a:tailEnd type="arrow" w="med" len="med"/>
          </a:ln>
          <a:effectLst>
            <a:glow rad="63500">
              <a:schemeClr val="tx1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38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431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2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500"/>
                            </p:stCondLst>
                            <p:childTnLst>
                              <p:par>
                                <p:cTn id="2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1000"/>
                            </p:stCondLst>
                            <p:childTnLst>
                              <p:par>
                                <p:cTn id="28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500"/>
                            </p:stCondLst>
                            <p:childTnLst>
                              <p:par>
                                <p:cTn id="3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1000"/>
                            </p:stCondLst>
                            <p:childTnLst>
                              <p:par>
                                <p:cTn id="34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89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5.2.2 Khai báo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>
                <a:solidFill>
                  <a:srgbClr val="002060"/>
                </a:solidFill>
              </a:rPr>
              <a:t>Khai báo mảng 2 chiều</a:t>
            </a:r>
          </a:p>
          <a:p>
            <a:pPr>
              <a:defRPr/>
            </a:pPr>
            <a:r>
              <a:rPr lang="en-US"/>
              <a:t>T</a:t>
            </a:r>
            <a:r>
              <a:rPr lang="vi-VN"/>
              <a:t>ườ</a:t>
            </a:r>
            <a:r>
              <a:rPr lang="en-US"/>
              <a:t>ng minh</a:t>
            </a:r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>
              <a:defRPr/>
            </a:pPr>
            <a:r>
              <a:rPr lang="en-US"/>
              <a:t>Không t</a:t>
            </a:r>
            <a:r>
              <a:rPr lang="vi-VN"/>
              <a:t>ườ</a:t>
            </a:r>
            <a:r>
              <a:rPr lang="en-US"/>
              <a:t>ng minh (thông qua kiểu)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lvl="1">
              <a:defRPr/>
            </a:pPr>
            <a:r>
              <a:rPr lang="en-US"/>
              <a:t>N1, N2: số l</a:t>
            </a:r>
            <a:r>
              <a:rPr lang="vi-VN"/>
              <a:t>ượ</a:t>
            </a:r>
            <a:r>
              <a:rPr lang="en-US"/>
              <a:t>ng phần tử mỗi chiều</a:t>
            </a:r>
          </a:p>
          <a:p>
            <a:pPr lvl="1">
              <a:defRPr/>
            </a:pPr>
            <a:endParaRPr lang="en-US"/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2204864"/>
            <a:ext cx="1524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281064"/>
            <a:ext cx="83058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 b="1">
                <a:latin typeface="Courier New" pitchFamily="49" charset="0"/>
                <a:cs typeface="Courier New" pitchFamily="49" charset="0"/>
              </a:rPr>
              <a:t>&lt;kiểu c</a:t>
            </a:r>
            <a:r>
              <a:rPr lang="vi-VN" sz="2200" b="1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sở&gt; &lt;tên biến&gt;[&lt;N1&gt;][&lt;N2&gt;];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43672"/>
            <a:ext cx="152400" cy="1371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38200" y="3717032"/>
            <a:ext cx="8305800" cy="1446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&lt;kiểu c</a:t>
            </a:r>
            <a:r>
              <a:rPr lang="vi-VN" sz="2200" b="1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 sở&gt; </a:t>
            </a:r>
            <a:r>
              <a:rPr lang="en-US" sz="2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&lt;tên kiểu&gt;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[&lt;N1&gt;][&lt;N2&gt;];</a:t>
            </a:r>
          </a:p>
          <a:p>
            <a:pPr>
              <a:defRPr/>
            </a:pP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&lt;tên kiểu&gt;</a:t>
            </a:r>
            <a:r>
              <a:rPr lang="en-US" sz="22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&lt;tên biến&gt;;</a:t>
            </a:r>
          </a:p>
          <a:p>
            <a:pPr>
              <a:defRPr/>
            </a:pPr>
            <a:r>
              <a:rPr lang="en-US" sz="2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&lt;tên kiểu&gt;</a:t>
            </a:r>
            <a:r>
              <a:rPr lang="en-US" sz="22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&lt;tên biến 1&gt;, &lt;tên biến 2&gt;;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ED21-FBE5-412D-84B2-A40362B6A124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39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95448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defRPr/>
            </a:pPr>
            <a:r>
              <a:rPr lang="en-US">
                <a:solidFill>
                  <a:srgbClr val="002060"/>
                </a:solidFill>
              </a:rPr>
              <a:t>Khai báo mảng 2 chiều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Ví dụ</a:t>
            </a:r>
          </a:p>
          <a:p>
            <a:pPr lvl="1">
              <a:defRPr/>
            </a:pPr>
            <a:r>
              <a:rPr lang="en-US"/>
              <a:t>T</a:t>
            </a:r>
            <a:r>
              <a:rPr lang="vi-VN"/>
              <a:t>ườ</a:t>
            </a:r>
            <a:r>
              <a:rPr lang="en-US"/>
              <a:t>ng minh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Không t</a:t>
            </a:r>
            <a:r>
              <a:rPr lang="vi-VN"/>
              <a:t>ườ</a:t>
            </a:r>
            <a:r>
              <a:rPr lang="en-US"/>
              <a:t>ng minh (thông qua kiểu)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2120776"/>
            <a:ext cx="152400" cy="106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196976"/>
            <a:ext cx="73152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a[10][20], b[10][20];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c[5][10];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d[10][20];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33056"/>
            <a:ext cx="152400" cy="1981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38200" y="4009256"/>
            <a:ext cx="8305800" cy="1938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int 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MaTran10x20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[10][20];</a:t>
            </a:r>
          </a:p>
          <a:p>
            <a:pPr>
              <a:defRPr/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int 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MaTran5x10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[5][10];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MaTran10x20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a, b;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MaTran5x10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c;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MaTran10x20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d;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273176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2577976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2882776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085456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4390256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4999856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-68263" y="5676640"/>
            <a:ext cx="9212263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-68263" y="5352356"/>
            <a:ext cx="9212263" cy="277091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78D4-7B81-4C85-9C36-CACDEE7B8E5E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40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71541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/>
      <p:bldP spid="11" grpId="0" animBg="1"/>
      <p:bldP spid="11" grpId="1" animBg="1"/>
      <p:bldP spid="12" grpId="0" animBg="1"/>
      <p:bldP spid="13" grpId="0" animBg="1"/>
      <p:bldP spid="13" grpId="1" animBg="1"/>
      <p:bldP spid="14" grpId="0" animBg="1"/>
      <p:bldP spid="15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Khởi tạo giá trị cho mảng nhiều chiều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Tương tự như khởi tạo giá trị ban đầu cho mảng 1 chiều</a:t>
            </a:r>
          </a:p>
          <a:p>
            <a:r>
              <a:rPr lang="en-US"/>
              <a:t>Ví dụ:</a:t>
            </a:r>
          </a:p>
          <a:p>
            <a:pPr lvl="1"/>
            <a:r>
              <a:rPr lang="en-US"/>
              <a:t>int x[3][2]={{1,2},{3,4},{5,6}};</a:t>
            </a:r>
          </a:p>
          <a:p>
            <a:pPr lvl="1"/>
            <a:r>
              <a:rPr lang="en-US"/>
              <a:t>int y[3][2]={1,2,3,4,5,6};</a:t>
            </a:r>
          </a:p>
          <a:p>
            <a:pPr lvl="1"/>
            <a:r>
              <a:rPr lang="en-US"/>
              <a:t>int z[5][4]={0}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8C1-DB8A-4F17-BBC5-92474A3DCD03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41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206288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5.2.3 Truy xuất </a:t>
            </a:r>
            <a:r>
              <a:rPr lang="vi-VN"/>
              <a:t>đế</a:t>
            </a:r>
            <a:r>
              <a:rPr lang="en-US"/>
              <a:t>n một phần tử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Thông qua chỉ số</a:t>
            </a:r>
          </a:p>
          <a:p>
            <a:pPr lvl="1"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Ví dụ</a:t>
            </a:r>
          </a:p>
          <a:p>
            <a:pPr lvl="1">
              <a:defRPr/>
            </a:pPr>
            <a:r>
              <a:rPr lang="en-US"/>
              <a:t>Cho mảng 2 chiều nh</a:t>
            </a:r>
            <a:r>
              <a:rPr lang="vi-VN"/>
              <a:t>ư</a:t>
            </a:r>
            <a:r>
              <a:rPr lang="en-US"/>
              <a:t> sau:</a:t>
            </a:r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Các truy xuất</a:t>
            </a:r>
          </a:p>
          <a:p>
            <a:pPr lvl="2">
              <a:defRPr/>
            </a:pPr>
            <a:r>
              <a:rPr lang="en-US">
                <a:solidFill>
                  <a:srgbClr val="000066"/>
                </a:solidFill>
              </a:rPr>
              <a:t>Hợp lệ</a:t>
            </a:r>
            <a:r>
              <a:rPr lang="en-US"/>
              <a:t>: a[0][0],  a[0][1], …, a[2][2], a[2][3]</a:t>
            </a:r>
          </a:p>
          <a:p>
            <a:pPr lvl="2">
              <a:defRPr/>
            </a:pPr>
            <a:r>
              <a:rPr lang="en-US">
                <a:solidFill>
                  <a:srgbClr val="FF0000"/>
                </a:solidFill>
              </a:rPr>
              <a:t>Không hợp lệ</a:t>
            </a:r>
            <a:r>
              <a:rPr lang="en-US"/>
              <a:t>: a[-1][0], a[2][4], a[3][3]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1700808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1777008"/>
            <a:ext cx="83058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 b="1">
                <a:latin typeface="Courier New" pitchFamily="49" charset="0"/>
                <a:cs typeface="Courier New" pitchFamily="49" charset="0"/>
              </a:rPr>
              <a:t>&lt;tên biến mảng&gt;</a:t>
            </a:r>
            <a:r>
              <a:rPr lang="en-US" sz="2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&lt;chỉ số 1&gt;</a:t>
            </a:r>
            <a:r>
              <a:rPr lang="en-US" sz="2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&lt;chỉ số 2&gt;</a:t>
            </a:r>
            <a:r>
              <a:rPr lang="en-US" sz="2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68080"/>
            <a:ext cx="152400" cy="381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733800"/>
            <a:ext cx="73152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 b="1">
                <a:latin typeface="Courier New" pitchFamily="49" charset="0"/>
                <a:cs typeface="Courier New" pitchFamily="49" charset="0"/>
              </a:rPr>
              <a:t>int a[3][4];</a:t>
            </a: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5867400" y="2971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5867400" y="34290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5867400" y="3886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2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6324600" y="2971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6781800" y="2971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7239000" y="2971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7696200" y="2971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6324600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7696200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63246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6781800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7239000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72390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76962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67818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6324600" y="2514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6781800" y="2514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7239000" y="2514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2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7696200" y="2514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3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AE37F-1AE4-4819-B5A6-13895A814C3D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94104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Gán giá trị cho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Không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vi-VN"/>
              <a:t>đượ</a:t>
            </a:r>
            <a:r>
              <a:rPr lang="en-US"/>
              <a:t>c sử dụng phép gán thông th</a:t>
            </a:r>
            <a:r>
              <a:rPr lang="vi-VN"/>
              <a:t>ườ</a:t>
            </a:r>
            <a:r>
              <a:rPr lang="en-US"/>
              <a:t>ng mà phải gán trực tiếp giữa các phần tử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Ví dụ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2060848"/>
            <a:ext cx="1524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2060850"/>
            <a:ext cx="78382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&lt;biến mảng </a:t>
            </a:r>
            <a:r>
              <a:rPr lang="vi-VN" sz="2000" b="1" strike="sngStrike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ch&gt; = &lt;biến mảng nguồn&gt;;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//sai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&lt;biến mảng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ch&gt;[&lt;chỉ số 1&gt;][chỉ số 2]=&lt;giá trị&gt;;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3717032"/>
            <a:ext cx="152400" cy="2286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717032"/>
            <a:ext cx="7315200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a[5][10], b[5][10];</a:t>
            </a:r>
          </a:p>
          <a:p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 = a;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	// Sai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i, j;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i &lt; 5; i++)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for (j = 0; j &lt; 10; j++)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b[i][j] = a[i][j];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93F-7E29-4F90-A789-707FDD9ABAE1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00356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5.2.4 Một số bài toán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Nhập mảng</a:t>
            </a:r>
          </a:p>
          <a:p>
            <a:pPr>
              <a:defRPr/>
            </a:pPr>
            <a:r>
              <a:rPr lang="en-US"/>
              <a:t>Xuất mảng</a:t>
            </a:r>
          </a:p>
          <a:p>
            <a:pPr>
              <a:defRPr/>
            </a:pPr>
            <a:r>
              <a:rPr lang="en-US"/>
              <a:t>Tìm kiếm một phần tử trong mảng</a:t>
            </a:r>
          </a:p>
          <a:p>
            <a:pPr>
              <a:defRPr/>
            </a:pPr>
            <a:r>
              <a:rPr lang="en-US"/>
              <a:t>Kiểm tra tính chất của mảng</a:t>
            </a:r>
          </a:p>
          <a:p>
            <a:pPr>
              <a:defRPr/>
            </a:pPr>
            <a:r>
              <a:rPr lang="en-US"/>
              <a:t>Tìm giá trị nhỏ nhất/lớn nhất của mảng</a:t>
            </a:r>
          </a:p>
          <a:p>
            <a:pPr>
              <a:defRPr/>
            </a:pPr>
            <a:r>
              <a:rPr lang="en-US"/>
              <a:t>…</a:t>
            </a: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D32-A983-4985-B6D8-88F1906B9420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51868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Nhập mảng 2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Yêu cầu</a:t>
            </a:r>
          </a:p>
          <a:p>
            <a:pPr lvl="1">
              <a:defRPr/>
            </a:pPr>
            <a:r>
              <a:rPr lang="en-US" sz="2400"/>
              <a:t>Nhập vào từ bàn phím một mảng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/>
              <a:t> gồm</a:t>
            </a:r>
            <a:r>
              <a:rPr lang="en-US" sz="2400"/>
              <a:t> </a:t>
            </a:r>
            <a:r>
              <a:rPr lang="en-US" sz="2400">
                <a:solidFill>
                  <a:srgbClr val="FF0000"/>
                </a:solidFill>
              </a:rPr>
              <a:t>m </a:t>
            </a:r>
            <a:r>
              <a:rPr lang="en-US" sz="2400"/>
              <a:t>dòng, </a:t>
            </a:r>
            <a:r>
              <a:rPr lang="en-US" sz="2400">
                <a:solidFill>
                  <a:srgbClr val="FF0000"/>
                </a:solidFill>
              </a:rPr>
              <a:t>n </a:t>
            </a:r>
            <a:r>
              <a:rPr lang="en-US" sz="2400"/>
              <a:t>cột</a:t>
            </a:r>
            <a:endParaRPr lang="en-US" sz="240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/>
              <a:t>Ý t</a:t>
            </a:r>
            <a:r>
              <a:rPr lang="vi-VN"/>
              <a:t>ưở</a:t>
            </a:r>
            <a:r>
              <a:rPr lang="en-US"/>
              <a:t>ng</a:t>
            </a:r>
          </a:p>
          <a:p>
            <a:pPr lvl="1">
              <a:defRPr/>
            </a:pPr>
            <a:r>
              <a:rPr lang="en-US" sz="2400"/>
              <a:t>Khai báo một mảng 2 chiều có dòng tối </a:t>
            </a:r>
            <a:r>
              <a:rPr lang="vi-VN" sz="2400"/>
              <a:t>đ</a:t>
            </a:r>
            <a:r>
              <a:rPr lang="en-US" sz="2400"/>
              <a:t>a là MAXD, số cột tối </a:t>
            </a:r>
            <a:r>
              <a:rPr lang="vi-VN" sz="2400"/>
              <a:t>đ</a:t>
            </a:r>
            <a:r>
              <a:rPr lang="en-US" sz="2400"/>
              <a:t>a là MAXC. (dùng #define để định nghĩa)</a:t>
            </a:r>
          </a:p>
          <a:p>
            <a:pPr lvl="1">
              <a:defRPr/>
            </a:pPr>
            <a:r>
              <a:rPr lang="en-US" sz="2400"/>
              <a:t>Nhập </a:t>
            </a:r>
            <a:r>
              <a:rPr lang="en-US" sz="2400">
                <a:solidFill>
                  <a:srgbClr val="FF0000"/>
                </a:solidFill>
              </a:rPr>
              <a:t>số </a:t>
            </a:r>
            <a:r>
              <a:rPr lang="en-US">
                <a:solidFill>
                  <a:srgbClr val="FF0000"/>
                </a:solidFill>
              </a:rPr>
              <a:t>dòng m và số cột n </a:t>
            </a:r>
            <a:r>
              <a:rPr lang="en-US" sz="2400">
                <a:solidFill>
                  <a:srgbClr val="FF0000"/>
                </a:solidFill>
              </a:rPr>
              <a:t>thực sự </a:t>
            </a:r>
            <a:r>
              <a:rPr lang="en-US" sz="2400"/>
              <a:t>của mảng</a:t>
            </a:r>
          </a:p>
          <a:p>
            <a:pPr lvl="1">
              <a:defRPr/>
            </a:pPr>
            <a:r>
              <a:rPr lang="en-US" sz="2400"/>
              <a:t>Nhập từng phần tử từ [</a:t>
            </a:r>
            <a:r>
              <a:rPr lang="en-US" sz="2400">
                <a:solidFill>
                  <a:srgbClr val="FF0000"/>
                </a:solidFill>
              </a:rPr>
              <a:t>0</a:t>
            </a:r>
            <a:r>
              <a:rPr lang="en-US" sz="2400"/>
              <a:t>][</a:t>
            </a:r>
            <a:r>
              <a:rPr lang="en-US" sz="2400">
                <a:solidFill>
                  <a:srgbClr val="FF0000"/>
                </a:solidFill>
              </a:rPr>
              <a:t>0</a:t>
            </a:r>
            <a:r>
              <a:rPr lang="en-US" sz="2400"/>
              <a:t>] </a:t>
            </a:r>
            <a:r>
              <a:rPr lang="vi-VN" sz="2400"/>
              <a:t>đế</a:t>
            </a:r>
            <a:r>
              <a:rPr lang="en-US" sz="2400"/>
              <a:t>n [</a:t>
            </a:r>
            <a:r>
              <a:rPr lang="en-US" sz="2400">
                <a:solidFill>
                  <a:srgbClr val="FF0000"/>
                </a:solidFill>
              </a:rPr>
              <a:t>m-1</a:t>
            </a:r>
            <a:r>
              <a:rPr lang="en-US" sz="2400"/>
              <a:t>][</a:t>
            </a:r>
            <a:r>
              <a:rPr lang="en-US" sz="2400">
                <a:solidFill>
                  <a:srgbClr val="FF0000"/>
                </a:solidFill>
              </a:rPr>
              <a:t>n-1</a:t>
            </a:r>
            <a:r>
              <a:rPr lang="en-US" sz="2400"/>
              <a:t>].</a:t>
            </a:r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88CB-4E9C-4575-BCEC-4CD4C7416F50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58717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Nhập mảng 2 chiều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Đoạn chương trình nhập vào từ bàn phím một mảng 2 chiều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 gồm m dòng, </a:t>
            </a:r>
            <a:r>
              <a:rPr lang="en-US">
                <a:solidFill>
                  <a:srgbClr val="FF0000"/>
                </a:solidFill>
              </a:rPr>
              <a:t>n</a:t>
            </a:r>
            <a:r>
              <a:rPr lang="en-US"/>
              <a:t> cột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#define MAXD 100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#define MAXC 100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[MAXD][MAXC];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{ printf(“Nhap so dong, so cot cua ma tran: ”);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  scanf(“%d%d”, &amp;m, &amp;n);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  int i, j;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  for (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&lt;m; 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		{printf(“Nhap a[%d][%d]: ”, 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		 scanf(“%d”, &amp;a[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]); }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}</a:t>
            </a:r>
            <a:endParaRPr lang="vi-VN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7BC65-1967-4389-A2E0-99B8C4D5058B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5832092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Xuất mảng 2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Yêu cầu</a:t>
            </a:r>
          </a:p>
          <a:p>
            <a:pPr lvl="1">
              <a:defRPr/>
            </a:pPr>
            <a:r>
              <a:rPr lang="en-US"/>
              <a:t>In ra màn hình </a:t>
            </a:r>
            <a:r>
              <a:rPr lang="en-US" sz="2400"/>
              <a:t>mảng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/>
              <a:t> gồm </a:t>
            </a:r>
            <a:r>
              <a:rPr lang="en-US" sz="2400"/>
              <a:t> </a:t>
            </a:r>
            <a:r>
              <a:rPr lang="en-US" sz="2400">
                <a:solidFill>
                  <a:srgbClr val="FF0000"/>
                </a:solidFill>
              </a:rPr>
              <a:t>m </a:t>
            </a:r>
            <a:r>
              <a:rPr lang="en-US" sz="2400"/>
              <a:t>dòng, </a:t>
            </a:r>
            <a:r>
              <a:rPr lang="en-US" sz="2400">
                <a:solidFill>
                  <a:srgbClr val="FF0000"/>
                </a:solidFill>
              </a:rPr>
              <a:t>n </a:t>
            </a:r>
            <a:r>
              <a:rPr lang="en-US" sz="2400"/>
              <a:t>cột</a:t>
            </a:r>
            <a:endParaRPr lang="en-US" sz="240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/>
              <a:t>Ý t</a:t>
            </a:r>
            <a:r>
              <a:rPr lang="vi-VN"/>
              <a:t>ưở</a:t>
            </a:r>
            <a:r>
              <a:rPr lang="en-US"/>
              <a:t>ng</a:t>
            </a:r>
          </a:p>
          <a:p>
            <a:pPr lvl="1">
              <a:defRPr/>
            </a:pPr>
            <a:r>
              <a:rPr lang="en-US" sz="2400"/>
              <a:t>In giá trị từng phần tử của mảng 2 chiều từ dòng có </a:t>
            </a:r>
            <a:r>
              <a:rPr lang="en-US" sz="2400">
                <a:solidFill>
                  <a:srgbClr val="FF0000"/>
                </a:solidFill>
              </a:rPr>
              <a:t>0</a:t>
            </a:r>
            <a:r>
              <a:rPr lang="en-US" sz="2400"/>
              <a:t> </a:t>
            </a:r>
            <a:r>
              <a:rPr lang="vi-VN" sz="2400"/>
              <a:t>đế</a:t>
            </a:r>
            <a:r>
              <a:rPr lang="en-US" sz="2400"/>
              <a:t>n dòng </a:t>
            </a:r>
            <a:r>
              <a:rPr lang="en-US" sz="2400">
                <a:solidFill>
                  <a:srgbClr val="FF0000"/>
                </a:solidFill>
              </a:rPr>
              <a:t>m-1</a:t>
            </a:r>
            <a:r>
              <a:rPr lang="en-US"/>
              <a:t>;</a:t>
            </a:r>
            <a:endParaRPr lang="en-US" sz="2400"/>
          </a:p>
          <a:p>
            <a:pPr lvl="1">
              <a:defRPr/>
            </a:pPr>
            <a:r>
              <a:rPr lang="en-US" sz="2400"/>
              <a:t>Mỗi dòng  giá trị của cột </a:t>
            </a:r>
            <a:r>
              <a:rPr lang="en-US" sz="2400">
                <a:solidFill>
                  <a:srgbClr val="FF0000"/>
                </a:solidFill>
              </a:rPr>
              <a:t>0</a:t>
            </a:r>
            <a:r>
              <a:rPr lang="en-US" sz="2400"/>
              <a:t> </a:t>
            </a:r>
            <a:r>
              <a:rPr lang="vi-VN" sz="2400"/>
              <a:t>đế</a:t>
            </a:r>
            <a:r>
              <a:rPr lang="en-US" sz="2400"/>
              <a:t>n cột </a:t>
            </a:r>
            <a:r>
              <a:rPr lang="en-US" sz="2400">
                <a:solidFill>
                  <a:srgbClr val="FF0000"/>
                </a:solidFill>
              </a:rPr>
              <a:t>n-1</a:t>
            </a:r>
            <a:r>
              <a:rPr lang="en-US" sz="2400"/>
              <a:t> trên dòng </a:t>
            </a:r>
            <a:r>
              <a:rPr lang="vi-VN" sz="2400"/>
              <a:t>đó</a:t>
            </a:r>
            <a:r>
              <a:rPr lang="vi-VN"/>
              <a:t>;</a:t>
            </a:r>
          </a:p>
          <a:p>
            <a:pPr lvl="1">
              <a:defRPr/>
            </a:pPr>
            <a:r>
              <a:rPr lang="vi-VN"/>
              <a:t>Kết thúc mỗi dòng chèn thêm dấu xuống dòng </a:t>
            </a:r>
            <a:r>
              <a:rPr lang="en-US"/>
              <a:t>“</a:t>
            </a:r>
            <a:r>
              <a:rPr lang="en-US">
                <a:solidFill>
                  <a:srgbClr val="FF0000"/>
                </a:solidFill>
              </a:rPr>
              <a:t>\n</a:t>
            </a:r>
            <a:r>
              <a:rPr lang="en-US"/>
              <a:t>”</a:t>
            </a:r>
            <a:endParaRPr lang="en-US" sz="2400"/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71C3B-342F-4078-94A7-A51BE1CC5944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47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86406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Xuất mảng 2 chiều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Đoạn chương trình in ra màn hình một mảng 2 chiều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 gồm m dòng, </a:t>
            </a:r>
            <a:r>
              <a:rPr lang="en-US">
                <a:solidFill>
                  <a:srgbClr val="FF0000"/>
                </a:solidFill>
              </a:rPr>
              <a:t>n</a:t>
            </a:r>
            <a:r>
              <a:rPr lang="en-US"/>
              <a:t> cột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/*Các thao tác nhập, xử lý mảng...*/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/*in mảng ra màn hình */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 i, j;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&lt;m;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printf(“%d  ”, 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printf(“\n”);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259-F7F9-49CA-8BF4-71BF5D338184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48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485624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có mảng là tham số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/>
              <a:t>Tham số kiểu mảng trong khai báo hàm </a:t>
            </a:r>
            <a:r>
              <a:rPr lang="en-US">
                <a:solidFill>
                  <a:srgbClr val="FF0000"/>
                </a:solidFill>
              </a:rPr>
              <a:t>giống nh</a:t>
            </a:r>
            <a:r>
              <a:rPr lang="vi-VN">
                <a:solidFill>
                  <a:srgbClr val="FF0000"/>
                </a:solidFill>
              </a:rPr>
              <a:t>ư</a:t>
            </a:r>
            <a:r>
              <a:rPr lang="en-US">
                <a:solidFill>
                  <a:srgbClr val="FF0000"/>
                </a:solidFill>
              </a:rPr>
              <a:t> khai báo biến</a:t>
            </a:r>
            <a:r>
              <a:rPr lang="en-US"/>
              <a:t> mảng</a:t>
            </a:r>
          </a:p>
          <a:p>
            <a:pPr lvl="1">
              <a:defRPr/>
            </a:pPr>
            <a:endParaRPr lang="en-US"/>
          </a:p>
          <a:p>
            <a:pPr lvl="1">
              <a:defRPr/>
            </a:pPr>
            <a:r>
              <a:rPr lang="en-US"/>
              <a:t>Tham số kiểu mảng truyền cho hàm chính là </a:t>
            </a:r>
            <a:r>
              <a:rPr lang="vi-VN">
                <a:solidFill>
                  <a:srgbClr val="FF0000"/>
                </a:solidFill>
              </a:rPr>
              <a:t>đị</a:t>
            </a:r>
            <a:r>
              <a:rPr lang="en-US">
                <a:solidFill>
                  <a:srgbClr val="FF0000"/>
                </a:solidFill>
              </a:rPr>
              <a:t>a chỉ của phần tử </a:t>
            </a:r>
            <a:r>
              <a:rPr lang="vi-VN">
                <a:solidFill>
                  <a:srgbClr val="FF0000"/>
                </a:solidFill>
              </a:rPr>
              <a:t>đầ</a:t>
            </a:r>
            <a:r>
              <a:rPr lang="en-US">
                <a:solidFill>
                  <a:srgbClr val="FF0000"/>
                </a:solidFill>
              </a:rPr>
              <a:t>u tiên của mảng</a:t>
            </a:r>
          </a:p>
          <a:p>
            <a:pPr lvl="2">
              <a:defRPr/>
            </a:pPr>
            <a:r>
              <a:rPr lang="en-US"/>
              <a:t>Có thể bỏ số l</a:t>
            </a:r>
            <a:r>
              <a:rPr lang="vi-VN"/>
              <a:t>ượ</a:t>
            </a:r>
            <a:r>
              <a:rPr lang="en-US"/>
              <a:t>ng phần tử chiều thứ 2 hoặc con trỏ.</a:t>
            </a:r>
          </a:p>
          <a:p>
            <a:pPr lvl="2">
              <a:defRPr/>
            </a:pPr>
            <a:r>
              <a:rPr lang="en-US"/>
              <a:t>Mảng có thể thay </a:t>
            </a:r>
            <a:r>
              <a:rPr lang="vi-VN"/>
              <a:t>đổ</a:t>
            </a:r>
            <a:r>
              <a:rPr lang="en-US"/>
              <a:t>i nội dung sau khi thực hiện hàm.</a:t>
            </a:r>
          </a:p>
          <a:p>
            <a:pPr lvl="2">
              <a:defRPr/>
            </a:pPr>
            <a:endParaRPr lang="en-US"/>
          </a:p>
          <a:p>
            <a:pPr lvl="2">
              <a:defRPr/>
            </a:pPr>
            <a:endParaRPr lang="en-US"/>
          </a:p>
          <a:p>
            <a:pPr lvl="1">
              <a:defRPr/>
            </a:pPr>
            <a:r>
              <a:rPr lang="en-US"/>
              <a:t>Số l</a:t>
            </a:r>
            <a:r>
              <a:rPr lang="vi-VN"/>
              <a:t>ượ</a:t>
            </a:r>
            <a:r>
              <a:rPr lang="en-US"/>
              <a:t>ng phần tử thực sự truyền qua biến khác</a:t>
            </a:r>
          </a:p>
          <a:p>
            <a:pPr lvl="1">
              <a:defRPr/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BD44-A2BF-4DB9-9A6D-16C3F20C05BA}" type="datetime1">
              <a:rPr lang="vi-VN" smtClean="0"/>
              <a:t>14/01/2024</a:t>
            </a:fld>
            <a:endParaRPr lang="vi-VN"/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1887488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1963688"/>
            <a:ext cx="830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NhapMaTran(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a[50][100]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17032"/>
            <a:ext cx="152400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793232"/>
            <a:ext cx="83058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NhapMaTran(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a[][100]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NhapMaTran(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(*a)[100]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102696"/>
            <a:ext cx="152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38200" y="5077296"/>
            <a:ext cx="83058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XuatMaTran(int a[50][100],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XuatMaTran(int a[][100],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XuatMaTran(int (*a)[100],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49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87440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1" grpId="0" animBg="1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nhập mảng 2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3FA8-9E62-4BFA-A818-927F61A2B773}" type="datetime1">
              <a:rPr lang="vi-VN" smtClean="0"/>
              <a:t>14/01/2024</a:t>
            </a:fld>
            <a:endParaRPr lang="vi-VN"/>
          </a:p>
        </p:txBody>
      </p:sp>
      <p:sp>
        <p:nvSpPr>
          <p:cNvPr id="30723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5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NhapMaTran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a[][100], 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m, 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so dong, so cot cua ma tran: 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scanf(“%d%d”, &amp;m, &amp;n);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i, j;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&lt;m;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printf(“Nhap a[%d][%d]: ”,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	scanf(“%d”, &amp;a[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}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50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1622933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 xuất mảng 2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E105-8421-4844-BEFB-AD84F438BBD2}" type="datetime1">
              <a:rPr lang="vi-VN" smtClean="0"/>
              <a:t>14/01/2024</a:t>
            </a:fld>
            <a:endParaRPr lang="vi-VN"/>
          </a:p>
        </p:txBody>
      </p:sp>
      <p:sp>
        <p:nvSpPr>
          <p:cNvPr id="32771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XuatMaTran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m, int n)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i, j;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&lt;m;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printf(“%d ”, 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printf(“\n”);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51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8748640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Truyền mảng cho hàm (sử dụng hàm)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Lời gọi hàm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0A70-7C4E-44A0-B897-2D52FF710C71}" type="datetime1">
              <a:rPr lang="vi-VN" smtClean="0"/>
              <a:t>14/01/2024</a:t>
            </a:fld>
            <a:endParaRPr lang="vi-VN"/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5- Kiểu dữ liệu mảng</a:t>
            </a:r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5800" y="1870224"/>
            <a:ext cx="152400" cy="2438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38200" y="1844824"/>
            <a:ext cx="8305800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NhapMaTran(int a[][100], int &amp;m, int &amp;n);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void XuatMaTran(int a[][100], int m, int 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a[50][100], m, n;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NhapMaTran(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m, 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XuatMaTran(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m, n);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52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318676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Viết chương trình nhập 2 ma trận a và b gồm m dòng và n cột, tính ma trận </a:t>
            </a:r>
            <a:r>
              <a:rPr lang="en-US">
                <a:solidFill>
                  <a:srgbClr val="FF0000"/>
                </a:solidFill>
              </a:rPr>
              <a:t>c=a+b</a:t>
            </a:r>
            <a:r>
              <a:rPr lang="en-US"/>
              <a:t> theo công thức </a:t>
            </a:r>
            <a:r>
              <a:rPr lang="en-US" sz="24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c[i][j]=a[i][j]+b[i][j]</a:t>
            </a:r>
            <a:r>
              <a:rPr lang="en-US"/>
              <a:t>. </a:t>
            </a:r>
          </a:p>
          <a:p>
            <a:pPr marL="471487" lvl="1" indent="0">
              <a:buNone/>
            </a:pPr>
            <a:r>
              <a:rPr lang="en-US" sz="2800">
                <a:solidFill>
                  <a:schemeClr val="tx1"/>
                </a:solidFill>
                <a:ea typeface="+mn-ea"/>
              </a:rPr>
              <a:t>In c ra màn hình.</a:t>
            </a:r>
          </a:p>
          <a:p>
            <a:r>
              <a:rPr lang="en-US"/>
              <a:t>Ý tưởng</a:t>
            </a:r>
          </a:p>
          <a:p>
            <a:pPr lvl="1"/>
            <a:r>
              <a:rPr lang="en-US"/>
              <a:t>Viết các hàm: nhập, cộng, in ma trận</a:t>
            </a:r>
          </a:p>
          <a:p>
            <a:pPr lvl="1"/>
            <a:r>
              <a:rPr lang="en-US"/>
              <a:t>Nhập số dòng/số cột cho ma trận</a:t>
            </a:r>
          </a:p>
          <a:p>
            <a:pPr lvl="1"/>
            <a:r>
              <a:rPr lang="en-US"/>
              <a:t>Nhập giá trị cho a và b</a:t>
            </a:r>
          </a:p>
          <a:p>
            <a:pPr lvl="1"/>
            <a:r>
              <a:rPr lang="en-US"/>
              <a:t>Thực hiện cộng</a:t>
            </a:r>
          </a:p>
          <a:p>
            <a:pPr lvl="1"/>
            <a:r>
              <a:rPr lang="en-US"/>
              <a:t>In kết quả ra màn hình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FCA0-4B65-4E9E-B5F6-0668C3B26FEE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53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3008815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Hàm cộng ma trận</a:t>
            </a:r>
          </a:p>
          <a:p>
            <a:pPr marL="0" indent="0">
              <a:buNone/>
            </a:pPr>
            <a:r>
              <a:rPr lang="it-IT" sz="1800" b="1">
                <a:latin typeface="Courier New" pitchFamily="49" charset="0"/>
                <a:cs typeface="Courier New" pitchFamily="49" charset="0"/>
              </a:rPr>
              <a:t>/* Cong 2 ma tran A &amp; B ket qua la ma tran C*/ 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CongMaTran</a:t>
            </a:r>
            <a:r>
              <a:rPr lang="vi-VN" sz="1800" b="1">
                <a:latin typeface="Courier New" pitchFamily="49" charset="0"/>
                <a:cs typeface="Courier New" pitchFamily="49" charset="0"/>
              </a:rPr>
              <a:t>(int a[][MAXC],int b[][MAXC],int M,int N,int c[][MAXC])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	int i,j; 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	for(i=0;i&lt;M;i++) 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		for(j=0; j&lt;N; j++) 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			</a:t>
            </a:r>
            <a:r>
              <a:rPr lang="pl-PL" sz="1800" b="1">
                <a:latin typeface="Courier New" pitchFamily="49" charset="0"/>
                <a:cs typeface="Courier New" pitchFamily="49" charset="0"/>
              </a:rPr>
              <a:t>c[i][j]=a[i][j]+b[i][j]; </a:t>
            </a:r>
            <a:endParaRPr lang="vi-VN" sz="18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int main()</a:t>
            </a:r>
            <a:r>
              <a:rPr lang="vi-VN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//Chương trình chính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	/*Nhập m,n */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	NhapMaTran(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, m, n); NhapMaTran(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1800" b="1">
                <a:latin typeface="Courier New" pitchFamily="49" charset="0"/>
                <a:cs typeface="Courier New" pitchFamily="49" charset="0"/>
              </a:rPr>
              <a:t>, m, n);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	CongMaTran(a,b,m,n,c); XuatMaTran(c,m,n);</a:t>
            </a:r>
          </a:p>
          <a:p>
            <a:pPr marL="0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sz="18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vi-VN" sz="18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vi-VN" sz="18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vi-VN" sz="18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2A4F-3CFA-420A-B656-F50C3543FDB6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54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18848462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Bài tập thực hành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vi-VN" dirty="0"/>
                  <a:t>1. Nhập từ bàn phím một mảng 2 chiều a gồm m dòng n cột</a:t>
                </a:r>
              </a:p>
              <a:p>
                <a:pPr marL="952500" lvl="1" indent="-514350">
                  <a:buAutoNum type="alphaLcPeriod"/>
                </a:pPr>
                <a:r>
                  <a:rPr lang="vi-VN" dirty="0"/>
                  <a:t>In ma trận này ra màn hình. </a:t>
                </a:r>
              </a:p>
              <a:p>
                <a:pPr marL="952500" lvl="1" indent="-514350">
                  <a:buAutoNum type="alphaLcPeriod"/>
                </a:pPr>
                <a:r>
                  <a:rPr lang="vi-VN" dirty="0"/>
                  <a:t>Nhập vào một số x, tìm x trong ma trận, xuất hiện bao nhiêu lần? những vị trí nào?</a:t>
                </a:r>
              </a:p>
              <a:p>
                <a:pPr marL="952500" lvl="1" indent="-514350">
                  <a:buAutoNum type="alphaLcPeriod"/>
                </a:pPr>
                <a:r>
                  <a:rPr lang="vi-VN" dirty="0"/>
                  <a:t>Xây dựng b là ma trận chuyển vị của a.</a:t>
                </a:r>
              </a:p>
              <a:p>
                <a:pPr marL="0" indent="0">
                  <a:buNone/>
                </a:pPr>
                <a:r>
                  <a:rPr lang="vi-VN" dirty="0"/>
                  <a:t>2. Nhập vào ma trận a gồm m dòng, k cột, ma trận b gồm k dòng và n cột từ bàn phím. </a:t>
                </a:r>
              </a:p>
              <a:p>
                <a:pPr marL="438150" lvl="1" indent="0">
                  <a:buNone/>
                </a:pPr>
                <a:r>
                  <a:rPr lang="vi-VN" dirty="0"/>
                  <a:t>a. In 2 ma trận ra màn hình</a:t>
                </a:r>
              </a:p>
              <a:p>
                <a:pPr marL="438150" lvl="1" indent="0">
                  <a:buNone/>
                </a:pPr>
                <a:r>
                  <a:rPr lang="vi-VN" dirty="0"/>
                  <a:t>b. Tính c=a*b, với </a:t>
                </a:r>
                <a:r>
                  <a:rPr lang="vi-VN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vi-VN" baseline="-25000" dirty="0">
                    <a:latin typeface="Times New Roman" pitchFamily="18" charset="0"/>
                    <a:cs typeface="Times New Roman" pitchFamily="18" charset="0"/>
                  </a:rPr>
                  <a:t>ij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i="1" smtClean="0">
                            <a:latin typeface="Cambria Math"/>
                          </a:rPr>
                          <m:t>𝑘</m:t>
                        </m:r>
                        <m:r>
                          <a:rPr lang="pt-BR" i="1" smtClean="0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vi-VN" b="0" i="1" smtClean="0">
                            <a:latin typeface="Cambria Math"/>
                          </a:rPr>
                          <m:t>𝑛</m:t>
                        </m:r>
                        <m:r>
                          <a:rPr lang="vi-VN" b="0" i="1" smtClean="0">
                            <a:latin typeface="Cambria Math"/>
                          </a:rPr>
                          <m:t>−1</m:t>
                        </m:r>
                      </m:sup>
                      <m:e>
                        <m:r>
                          <a:rPr lang="vi-VN" b="0" i="1" smtClean="0">
                            <a:latin typeface="Cambria Math"/>
                          </a:rPr>
                          <m:t>𝑎</m:t>
                        </m:r>
                      </m:e>
                    </m:nary>
                    <m:r>
                      <m:rPr>
                        <m:sty m:val="p"/>
                      </m:rPr>
                      <a:rPr lang="vi-VN" b="0" i="0" baseline="-25000" smtClean="0">
                        <a:latin typeface="Cambria Math"/>
                      </a:rPr>
                      <m:t>ik</m:t>
                    </m:r>
                  </m:oMath>
                </a14:m>
                <a:r>
                  <a:rPr lang="vi-VN" baseline="-25000" dirty="0">
                    <a:latin typeface="Times New Roman" pitchFamily="18" charset="0"/>
                    <a:cs typeface="Times New Roman" pitchFamily="18" charset="0"/>
                  </a:rPr>
                  <a:t> * </a:t>
                </a:r>
                <a:r>
                  <a:rPr lang="vi-VN" dirty="0"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vi-VN" baseline="-25000" dirty="0">
                    <a:latin typeface="Times New Roman" pitchFamily="18" charset="0"/>
                    <a:cs typeface="Times New Roman" pitchFamily="18" charset="0"/>
                  </a:rPr>
                  <a:t>kj</a:t>
                </a:r>
              </a:p>
              <a:p>
                <a:pPr marL="438150" lvl="1" indent="0">
                  <a:buNone/>
                </a:pPr>
                <a:r>
                  <a:rPr lang="vi-VN" dirty="0">
                    <a:latin typeface="+mj-lt"/>
                    <a:cs typeface="Times New Roman" pitchFamily="18" charset="0"/>
                  </a:rPr>
                  <a:t>c. In ma trận kết quả ra màn hình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538" t="-1176" r="-153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A0D1-3017-47D9-961F-ABB6D25A9CB2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55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20041459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Bài tập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>
                <a:cs typeface="Times New Roman" pitchFamily="18" charset="0"/>
              </a:rPr>
              <a:t>3. Nhập ma trận vuông a cấp n</a:t>
            </a:r>
          </a:p>
          <a:p>
            <a:pPr marL="471487" lvl="1" indent="0">
              <a:buNone/>
            </a:pPr>
            <a:r>
              <a:rPr lang="vi-VN" dirty="0">
                <a:cs typeface="Times New Roman" pitchFamily="18" charset="0"/>
              </a:rPr>
              <a:t>a. Tính tổng các phần tử dương trên đường chéo chính.</a:t>
            </a:r>
          </a:p>
          <a:p>
            <a:pPr marL="471487" lvl="1" indent="0">
              <a:buNone/>
            </a:pPr>
            <a:r>
              <a:rPr lang="vi-VN" dirty="0">
                <a:cs typeface="Times New Roman" pitchFamily="18" charset="0"/>
              </a:rPr>
              <a:t>b. Tính tổng các phần tử là số nguyên tố trong ma trận tam giác trên.</a:t>
            </a:r>
          </a:p>
          <a:p>
            <a:pPr marL="471487" lvl="1" indent="0">
              <a:buNone/>
            </a:pPr>
            <a:r>
              <a:rPr lang="vi-VN" dirty="0">
                <a:cs typeface="Times New Roman" pitchFamily="18" charset="0"/>
              </a:rPr>
              <a:t>c. Đếm số phần tử là số chính phương trong ma trận tam giác dưới.</a:t>
            </a:r>
          </a:p>
          <a:p>
            <a:pPr marL="0" lvl="1" indent="0">
              <a:buNone/>
            </a:pPr>
            <a:r>
              <a:rPr lang="vi-VN" sz="28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4. Nhập vào ma trận a (m dòng, n cột), đưa ra các phần tử yên ngựa trong a.</a:t>
            </a:r>
          </a:p>
          <a:p>
            <a:pPr marL="396875" lvl="2" indent="0">
              <a:buNone/>
            </a:pPr>
            <a:r>
              <a:rPr lang="vi-VN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Phần tử yên ngựa là phần tử nhỏ nhất trên dòng nhưng lớn nhất trên cột hoặc nhỏ nhất trên cột nhưng lớn nhất trên dòng.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81F9-9B0F-4F49-A71A-B35E6DED1DE9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5- Kiểu dữ liệu mảng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56</a:t>
            </a:fld>
            <a:r>
              <a:rPr lang="vi-VN"/>
              <a:t>/56</a:t>
            </a:r>
          </a:p>
        </p:txBody>
      </p:sp>
    </p:spTree>
    <p:extLst>
      <p:ext uri="{BB962C8B-B14F-4D97-AF65-F5344CB8AC3E}">
        <p14:creationId xmlns:p14="http://schemas.microsoft.com/office/powerpoint/2010/main" val="520735550"/>
      </p:ext>
    </p:extLst>
  </p:cSld>
  <p:clrMapOvr>
    <a:masterClrMapping/>
  </p:clrMapOvr>
</p:sld>
</file>

<file path=ppt/theme/theme1.xml><?xml version="1.0" encoding="utf-8"?>
<a:theme xmlns:a="http://schemas.openxmlformats.org/drawingml/2006/main" name="MM_Lec1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56811</TotalTime>
  <Words>5817</Words>
  <Application>Microsoft Office PowerPoint</Application>
  <PresentationFormat>On-screen Show (4:3)</PresentationFormat>
  <Paragraphs>1002</Paragraphs>
  <Slides>56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</vt:lpstr>
      <vt:lpstr>Calibri</vt:lpstr>
      <vt:lpstr>Cambria Math</vt:lpstr>
      <vt:lpstr>Courier New</vt:lpstr>
      <vt:lpstr>Tahoma</vt:lpstr>
      <vt:lpstr>Times New Roman</vt:lpstr>
      <vt:lpstr>Wingdings</vt:lpstr>
      <vt:lpstr>MM_Lec1</vt:lpstr>
      <vt:lpstr>Chương 5 KIỂU DỮ LIỆU MẢNG</vt:lpstr>
      <vt:lpstr>Nội dung</vt:lpstr>
      <vt:lpstr>5.1 Mảng một chiều</vt:lpstr>
      <vt:lpstr>Đặt vấn đề</vt:lpstr>
      <vt:lpstr>5.1.1 Khái niệm</vt:lpstr>
      <vt:lpstr>5.1.2 Khai báo</vt:lpstr>
      <vt:lpstr>Khai báo tường minh (tt)</vt:lpstr>
      <vt:lpstr>Khai báo không tường minh</vt:lpstr>
      <vt:lpstr>Số phần tử của mảng</vt:lpstr>
      <vt:lpstr>Khởi tạo giá trị cho mảng lúc khai báo</vt:lpstr>
      <vt:lpstr>Khởi tạo giá trị cho mảng lúc khai báo</vt:lpstr>
      <vt:lpstr>5.1.3 Truy xuất đến một phần tử</vt:lpstr>
      <vt:lpstr>Gán dữ liệu kiểu mảng</vt:lpstr>
      <vt:lpstr>Một số lỗi thường gặp</vt:lpstr>
      <vt:lpstr>5.1.4 Một số bài toán trên mảng 1 chiều</vt:lpstr>
      <vt:lpstr>Nhập mảng</vt:lpstr>
      <vt:lpstr>Xuất mảng</vt:lpstr>
      <vt:lpstr>Hàm có mảng là tham số</vt:lpstr>
      <vt:lpstr>Hàm nhập mảng</vt:lpstr>
      <vt:lpstr>Hàm xuất mảng</vt:lpstr>
      <vt:lpstr>Truyền tham số mảng cho hàm (sử dụng)</vt:lpstr>
      <vt:lpstr>Tìm kiếm một phần tử trong mảng</vt:lpstr>
      <vt:lpstr>Hàm tìm kiếm</vt:lpstr>
      <vt:lpstr>Tìm giá trị lớn nhất của mảng</vt:lpstr>
      <vt:lpstr>Hàm tìm giá trị lớn nhất của mảng</vt:lpstr>
      <vt:lpstr>Sắp xếp mảng theo thứ tự tăng dần</vt:lpstr>
      <vt:lpstr>Hàm sắp xếp mảng theo thứ tự tăng dần</vt:lpstr>
      <vt:lpstr>Thêm một phần tử vào mảng</vt:lpstr>
      <vt:lpstr>Hàm thêm một phần tử vào mảng</vt:lpstr>
      <vt:lpstr>Xóa một phần tử trong mảng</vt:lpstr>
      <vt:lpstr>Hàm xóa một phần tử trong mảng</vt:lpstr>
      <vt:lpstr>Bài tập thực hành 5 7 3 9</vt:lpstr>
      <vt:lpstr>Bài tập thực hành</vt:lpstr>
      <vt:lpstr>Bài tập thực hành</vt:lpstr>
      <vt:lpstr>Bài tập thực hành 4 3 5 =&gt; 4 3 0 5 0</vt:lpstr>
      <vt:lpstr>5.2 Mảng nhiều chiều</vt:lpstr>
      <vt:lpstr>5.2.1 Khái niệm</vt:lpstr>
      <vt:lpstr>Ma trận vuông</vt:lpstr>
      <vt:lpstr>5.2.2 Khai báo</vt:lpstr>
      <vt:lpstr>Khai báo mảng 2 chiều (tt)</vt:lpstr>
      <vt:lpstr>Khởi tạo giá trị cho mảng nhiều chiều</vt:lpstr>
      <vt:lpstr>5.2.3 Truy xuất đến một phần tử</vt:lpstr>
      <vt:lpstr>Gán giá trị cho mảng</vt:lpstr>
      <vt:lpstr>5.2.4 Một số bài toán cơ bản</vt:lpstr>
      <vt:lpstr>Nhập mảng 2 chiều</vt:lpstr>
      <vt:lpstr>Nhập mảng 2 chiều</vt:lpstr>
      <vt:lpstr>Xuất mảng 2 chiều</vt:lpstr>
      <vt:lpstr>Xuất mảng 2 chiều (tt)</vt:lpstr>
      <vt:lpstr>Hàm có mảng là tham số</vt:lpstr>
      <vt:lpstr>Hàm nhập mảng 2 chiều</vt:lpstr>
      <vt:lpstr>Hàm xuất mảng 2 chiều</vt:lpstr>
      <vt:lpstr>Truyền mảng cho hàm (sử dụng hàm)</vt:lpstr>
      <vt:lpstr>Ví dụ</vt:lpstr>
      <vt:lpstr>Ví dụ (tt)</vt:lpstr>
      <vt:lpstr>Bài tập thực hành</vt:lpstr>
      <vt:lpstr>Bài tập thực hành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SỞ LẬP TRÌNH 1</dc:title>
  <dc:creator>Quy Tai</dc:creator>
  <cp:lastModifiedBy>Le Cam Tu</cp:lastModifiedBy>
  <cp:revision>111</cp:revision>
  <dcterms:created xsi:type="dcterms:W3CDTF">2011-07-17T01:46:34Z</dcterms:created>
  <dcterms:modified xsi:type="dcterms:W3CDTF">2024-01-14T12:59:09Z</dcterms:modified>
</cp:coreProperties>
</file>