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7"/>
  </p:notesMasterIdLst>
  <p:sldIdLst>
    <p:sldId id="256" r:id="rId2"/>
    <p:sldId id="257" r:id="rId3"/>
    <p:sldId id="258" r:id="rId4"/>
    <p:sldId id="308" r:id="rId5"/>
    <p:sldId id="309" r:id="rId6"/>
    <p:sldId id="310" r:id="rId7"/>
    <p:sldId id="311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30" r:id="rId21"/>
    <p:sldId id="327" r:id="rId22"/>
    <p:sldId id="328" r:id="rId23"/>
    <p:sldId id="329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0" r:id="rId53"/>
    <p:sldId id="361" r:id="rId54"/>
    <p:sldId id="362" r:id="rId55"/>
    <p:sldId id="363" r:id="rId56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66"/>
    <a:srgbClr val="6DF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82772" autoAdjust="0"/>
  </p:normalViewPr>
  <p:slideViewPr>
    <p:cSldViewPr>
      <p:cViewPr varScale="1">
        <p:scale>
          <a:sx n="65" d="100"/>
          <a:sy n="65" d="100"/>
        </p:scale>
        <p:origin x="1910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59136-7F74-4509-B20E-AE351757F38F}" type="datetimeFigureOut">
              <a:rPr lang="vi-VN" smtClean="0"/>
              <a:t>14/01/2024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7600A-770C-47F1-89C1-5023B6D362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53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11E4F0D-F3B4-4BA6-A35C-C9B8BA446336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71EA681-A0E5-44DC-9241-860DF50B7575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F2D8AE8-ED85-4D0E-945E-39BDBE89689B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E6D0216-3B7A-4640-B6C7-BC11F23FA438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47AF4EE-BC6D-4D6C-B598-C5D909AF870B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054A1E5-73FD-4480-A8F2-E02999725A50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7C6803-B3D5-44F2-9770-B21A7CB9A92F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4C0F384-CB51-4A90-A5C4-4D5F5FFA937A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D1822DB-380B-43BD-A7C8-0C34DC416AA7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7019555-9F33-44BB-9AF6-EC37E3D884FD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A2D787F-BE12-4035-B056-8F35E3980134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AA6C867-EAE5-425D-AC90-DB9A86AA62A0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6DF78E7-8A37-47C7-AD25-91AF86C6AC25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A6B9BE6-867B-4F42-94E3-3DD87927FB4D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56FD14F-1948-4F95-B7CA-E70693E6508A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7600A-770C-47F1-89C1-5023B6D362E3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574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7600A-770C-47F1-89C1-5023B6D362E3}" type="slidenum">
              <a:rPr lang="vi-VN" smtClean="0"/>
              <a:t>34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3623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7E64C13-A4D5-4737-8156-29C1BC09059E}" type="slidenum">
              <a:rPr lang="en-US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56D77E3-784F-4A04-AFB2-C3E81AE77192}" type="slidenum">
              <a:rPr lang="en-US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314C2E5-A602-49C3-8CE2-B7B976809434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024B1CC-52B5-45A2-98D5-F20CDE8853D4}" type="slidenum">
              <a:rPr lang="en-US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Là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,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(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1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7600A-770C-47F1-89C1-5023B6D362E3}" type="slidenum">
              <a:rPr lang="vi-VN" smtClean="0"/>
              <a:t>51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07262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Là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,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(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1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  <a:p>
            <a:r>
              <a:rPr lang="en-US" dirty="0"/>
              <a:t>https://www.youtube.com/watch?v=OfK8RXETrS8</a:t>
            </a:r>
          </a:p>
          <a:p>
            <a:endParaRPr lang="en-US" dirty="0"/>
          </a:p>
          <a:p>
            <a:r>
              <a:rPr lang="en-US" dirty="0"/>
              <a:t>Debug:</a:t>
            </a:r>
          </a:p>
          <a:p>
            <a:r>
              <a:rPr lang="en-US"/>
              <a:t>https://www.youtube.com/watch?v=R-_yXftJHc0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7600A-770C-47F1-89C1-5023B6D362E3}" type="slidenum">
              <a:rPr lang="vi-VN" smtClean="0"/>
              <a:t>52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6794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119A575-5675-486C-AE3F-B261B701A9EA}" type="slidenum">
              <a:rPr lang="en-US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F6BE73C-B582-4A9B-92E4-B36356DDDFA9}" type="slidenum">
              <a:rPr lang="en-US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vi-VN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 Theo định nghĩa, BCNN của 2 số a và là số nhỏ nhất chia hết cho cả 2 số a và b. Như vậy, Nếu gọi lcm = BCNN(a, b); Khi đó, ta có thể biết chắc chắn rằng </a:t>
            </a:r>
            <a:r>
              <a:rPr lang="vi-VN" dirty="0"/>
              <a:t>max(a, b) &lt;= lcm &lt;= a*b</a:t>
            </a:r>
            <a:r>
              <a:rPr lang="vi-VN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.</a:t>
            </a:r>
            <a:endParaRPr lang="en-US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algn="ctr" fontAlgn="t"/>
            <a:r>
              <a:rPr lang="en-US" dirty="0">
                <a:solidFill>
                  <a:srgbClr val="5499DE"/>
                </a:solidFill>
                <a:effectLst/>
                <a:latin typeface="inherit"/>
              </a:rPr>
              <a:t>1</a:t>
            </a:r>
          </a:p>
          <a:p>
            <a:pPr algn="ctr" fontAlgn="t"/>
            <a:r>
              <a:rPr lang="en-US" dirty="0">
                <a:solidFill>
                  <a:srgbClr val="317CC5"/>
                </a:solidFill>
                <a:effectLst/>
                <a:latin typeface="inherit"/>
              </a:rPr>
              <a:t>2</a:t>
            </a:r>
          </a:p>
          <a:p>
            <a:pPr algn="ctr" fontAlgn="t"/>
            <a:r>
              <a:rPr lang="en-US" dirty="0">
                <a:solidFill>
                  <a:srgbClr val="5499DE"/>
                </a:solidFill>
                <a:effectLst/>
                <a:latin typeface="inherit"/>
              </a:rPr>
              <a:t>3</a:t>
            </a:r>
          </a:p>
          <a:p>
            <a:pPr algn="ctr" fontAlgn="t"/>
            <a:r>
              <a:rPr lang="en-US" dirty="0">
                <a:solidFill>
                  <a:srgbClr val="317CC5"/>
                </a:solidFill>
                <a:effectLst/>
                <a:latin typeface="inherit"/>
              </a:rPr>
              <a:t>4</a:t>
            </a:r>
          </a:p>
          <a:p>
            <a:pPr algn="ctr" fontAlgn="t"/>
            <a:r>
              <a:rPr lang="en-US" dirty="0">
                <a:solidFill>
                  <a:srgbClr val="5499DE"/>
                </a:solidFill>
                <a:effectLst/>
                <a:latin typeface="inherit"/>
              </a:rPr>
              <a:t>5</a:t>
            </a:r>
          </a:p>
          <a:p>
            <a:pPr algn="ctr" fontAlgn="t"/>
            <a:r>
              <a:rPr lang="en-US" dirty="0">
                <a:solidFill>
                  <a:srgbClr val="317CC5"/>
                </a:solidFill>
                <a:effectLst/>
                <a:latin typeface="inherit"/>
              </a:rPr>
              <a:t>6</a:t>
            </a:r>
          </a:p>
          <a:p>
            <a:pPr algn="ctr" fontAlgn="t"/>
            <a:r>
              <a:rPr lang="en-US" dirty="0">
                <a:solidFill>
                  <a:srgbClr val="5499DE"/>
                </a:solidFill>
                <a:effectLst/>
                <a:latin typeface="inherit"/>
              </a:rPr>
              <a:t>7</a:t>
            </a:r>
          </a:p>
          <a:p>
            <a:pPr algn="ctr" fontAlgn="t"/>
            <a:r>
              <a:rPr lang="en-US" dirty="0">
                <a:solidFill>
                  <a:srgbClr val="317CC5"/>
                </a:solidFill>
                <a:effectLst/>
                <a:latin typeface="inherit"/>
              </a:rPr>
              <a:t>8</a:t>
            </a:r>
          </a:p>
          <a:p>
            <a:pPr algn="ctr" fontAlgn="t"/>
            <a:r>
              <a:rPr lang="en-US" dirty="0">
                <a:solidFill>
                  <a:srgbClr val="5499DE"/>
                </a:solidFill>
                <a:effectLst/>
                <a:latin typeface="inherit"/>
              </a:rPr>
              <a:t>9</a:t>
            </a:r>
          </a:p>
          <a:p>
            <a:pPr algn="ctr" fontAlgn="t"/>
            <a:r>
              <a:rPr lang="en-US" dirty="0">
                <a:solidFill>
                  <a:srgbClr val="317CC5"/>
                </a:solidFill>
                <a:effectLst/>
                <a:latin typeface="inherit"/>
              </a:rPr>
              <a:t>10</a:t>
            </a:r>
          </a:p>
          <a:p>
            <a:pPr algn="ctr" fontAlgn="t"/>
            <a:r>
              <a:rPr lang="en-US" dirty="0">
                <a:solidFill>
                  <a:srgbClr val="5499DE"/>
                </a:solidFill>
                <a:effectLst/>
                <a:latin typeface="inherit"/>
              </a:rPr>
              <a:t>11</a:t>
            </a:r>
          </a:p>
          <a:p>
            <a:pPr algn="ctr" fontAlgn="t"/>
            <a:r>
              <a:rPr lang="en-US" dirty="0">
                <a:solidFill>
                  <a:srgbClr val="317CC5"/>
                </a:solidFill>
                <a:effectLst/>
                <a:latin typeface="inherit"/>
              </a:rPr>
              <a:t>12</a:t>
            </a:r>
          </a:p>
          <a:p>
            <a:pPr algn="ctr" fontAlgn="t"/>
            <a:r>
              <a:rPr lang="en-US" dirty="0">
                <a:solidFill>
                  <a:srgbClr val="5499DE"/>
                </a:solidFill>
                <a:effectLst/>
                <a:latin typeface="inherit"/>
              </a:rPr>
              <a:t>13</a:t>
            </a:r>
          </a:p>
          <a:p>
            <a:pPr algn="l" fontAlgn="t"/>
            <a:r>
              <a:rPr lang="en-US" dirty="0">
                <a:solidFill>
                  <a:srgbClr val="B85C00"/>
                </a:solidFill>
                <a:effectLst/>
                <a:latin typeface="inherit"/>
              </a:rPr>
              <a:t>#include&lt;stdio.h&gt;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B85C00"/>
                </a:solidFill>
                <a:effectLst/>
                <a:latin typeface="inherit"/>
              </a:rPr>
              <a:t>#include &lt;algorithm&gt;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800080"/>
                </a:solidFill>
                <a:effectLst/>
                <a:latin typeface="inherit"/>
              </a:rPr>
              <a:t>int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4ED0"/>
                </a:solidFill>
                <a:effectLst/>
                <a:latin typeface="inherit"/>
              </a:rPr>
              <a:t>main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(){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</a:t>
            </a:r>
            <a:r>
              <a:rPr lang="en-US" dirty="0">
                <a:solidFill>
                  <a:srgbClr val="800080"/>
                </a:solidFill>
                <a:effectLst/>
                <a:latin typeface="inherit"/>
              </a:rPr>
              <a:t>int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a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en-US" dirty="0">
                <a:solidFill>
                  <a:srgbClr val="CE0000"/>
                </a:solidFill>
                <a:effectLst/>
                <a:latin typeface="inherit"/>
              </a:rPr>
              <a:t>5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b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en-US" dirty="0">
                <a:solidFill>
                  <a:srgbClr val="CE0000"/>
                </a:solidFill>
                <a:effectLst/>
                <a:latin typeface="inherit"/>
              </a:rPr>
              <a:t>7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lcm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</a:t>
            </a:r>
            <a:r>
              <a:rPr lang="en-US" dirty="0">
                <a:solidFill>
                  <a:srgbClr val="800080"/>
                </a:solidFill>
                <a:effectLst/>
                <a:latin typeface="inherit"/>
              </a:rPr>
              <a:t>int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maxV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en-US" dirty="0">
                <a:solidFill>
                  <a:srgbClr val="004ED0"/>
                </a:solidFill>
                <a:effectLst/>
                <a:latin typeface="inherit"/>
              </a:rPr>
              <a:t>a*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b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</a:t>
            </a:r>
            <a:r>
              <a:rPr lang="en-US" dirty="0">
                <a:solidFill>
                  <a:srgbClr val="800080"/>
                </a:solidFill>
                <a:effectLst/>
                <a:latin typeface="inherit"/>
              </a:rPr>
              <a:t>for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dirty="0">
                <a:solidFill>
                  <a:srgbClr val="800080"/>
                </a:solidFill>
                <a:effectLst/>
                <a:latin typeface="inherit"/>
              </a:rPr>
              <a:t>int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std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::</a:t>
            </a:r>
            <a:r>
              <a:rPr lang="en-US" dirty="0">
                <a:solidFill>
                  <a:srgbClr val="004ED0"/>
                </a:solidFill>
                <a:effectLst/>
                <a:latin typeface="inherit"/>
              </a:rPr>
              <a:t>max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b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&lt;= 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maxV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;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++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){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    </a:t>
            </a:r>
            <a:r>
              <a:rPr lang="en-US" dirty="0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%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a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== </a:t>
            </a:r>
            <a:r>
              <a:rPr lang="en-US" dirty="0">
                <a:solidFill>
                  <a:srgbClr val="CE0000"/>
                </a:solidFill>
                <a:effectLst/>
                <a:latin typeface="inherit"/>
              </a:rPr>
              <a:t>0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&amp;&amp; 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%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b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== </a:t>
            </a:r>
            <a:r>
              <a:rPr lang="en-US" dirty="0">
                <a:solidFill>
                  <a:srgbClr val="CE0000"/>
                </a:solidFill>
                <a:effectLst/>
                <a:latin typeface="inherit"/>
              </a:rPr>
              <a:t>0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){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        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lcm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en-US" dirty="0" err="1">
                <a:solidFill>
                  <a:srgbClr val="002D7A"/>
                </a:solidFill>
                <a:effectLst/>
                <a:latin typeface="inherit"/>
              </a:rPr>
              <a:t>i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        </a:t>
            </a:r>
            <a:r>
              <a:rPr lang="en-US" dirty="0">
                <a:solidFill>
                  <a:srgbClr val="800080"/>
                </a:solidFill>
                <a:effectLst/>
                <a:latin typeface="inherit"/>
              </a:rPr>
              <a:t>break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    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    </a:t>
            </a:r>
            <a:r>
              <a:rPr lang="en-US" dirty="0" err="1">
                <a:solidFill>
                  <a:srgbClr val="004ED0"/>
                </a:solidFill>
                <a:effectLst/>
                <a:latin typeface="inherit"/>
              </a:rPr>
              <a:t>printf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dirty="0">
                <a:solidFill>
                  <a:srgbClr val="008000"/>
                </a:solidFill>
                <a:effectLst/>
                <a:latin typeface="inherit"/>
              </a:rPr>
              <a:t>"BCNN(%d, %d) = %d"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b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effectLst/>
                <a:latin typeface="inherit"/>
              </a:rPr>
              <a:t>lcm</a:t>
            </a:r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t"/>
            <a:r>
              <a:rPr lang="en-US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en-US" dirty="0">
              <a:solidFill>
                <a:srgbClr val="000000"/>
              </a:solidFill>
              <a:effectLst/>
              <a:latin typeface="inherit"/>
            </a:endParaRPr>
          </a:p>
          <a:p>
            <a:pPr>
              <a:spcBef>
                <a:spcPct val="0"/>
              </a:spcBef>
            </a:pPr>
            <a:endParaRPr lang="vi-VN" dirty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EA66273-33C0-4AAD-87DB-B8BA35DD98D2}" type="slidenum">
              <a:rPr lang="en-US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1066800" y="3581400"/>
            <a:ext cx="75438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2590800"/>
            <a:ext cx="7620000" cy="990600"/>
          </a:xfr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495800"/>
            <a:ext cx="7010400" cy="990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200"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16E63E9B-16C0-424B-8EED-DDB13467EC6C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3188" y="6248400"/>
            <a:ext cx="4357687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15188" y="6248400"/>
            <a:ext cx="1243012" cy="457200"/>
          </a:xfrm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Content Placeholder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29726"/>
          <a:stretch/>
        </p:blipFill>
        <p:spPr bwMode="auto">
          <a:xfrm>
            <a:off x="-3829" y="0"/>
            <a:ext cx="9144000" cy="15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49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2800"/>
            </a:lvl1pPr>
            <a:lvl2pPr algn="just">
              <a:defRPr sz="2400">
                <a:solidFill>
                  <a:srgbClr val="0000FF"/>
                </a:solidFill>
              </a:defRPr>
            </a:lvl2pPr>
            <a:lvl3pPr algn="just">
              <a:defRPr sz="2000">
                <a:solidFill>
                  <a:srgbClr val="002060"/>
                </a:solidFill>
              </a:defRPr>
            </a:lvl3pPr>
            <a:lvl4pPr algn="just">
              <a:defRPr sz="1800">
                <a:solidFill>
                  <a:srgbClr val="000066"/>
                </a:solidFill>
              </a:defRPr>
            </a:lvl4pPr>
            <a:lvl5pPr algn="just"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AF6C7-71F0-48C9-98FA-F60E23B9B44D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68343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8B86569D-A41F-477A-BEC4-AFA317E6A92B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0836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DD03FCC8-8AC2-40CC-8668-A1D65F47565B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07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C868CF28-0DE3-4E5B-AE5C-DD1B5024812D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303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EB629F1-7150-4805-80F6-4800659DF78F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728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F74AB71-B399-491C-8852-7DA7BE74C5D5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297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A37F5161-DB4D-48AE-BECB-F9A24E62EDDF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10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235BE2AC-95D3-4016-ADC6-59C288B05A91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067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29BD6C4-F838-43BC-8683-7AE447578EA2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55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29A54198-AFD5-4A1F-9977-37A62EC1377C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585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457200" y="990600"/>
            <a:ext cx="83820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381000" y="6400800"/>
            <a:ext cx="8534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charset="0"/>
              </a:defRPr>
            </a:lvl1pPr>
          </a:lstStyle>
          <a:p>
            <a:fld id="{0F3F5977-31B5-483D-9AD8-0E32D0FB9E98}" type="datetime1">
              <a:rPr lang="vi-VN" smtClean="0"/>
              <a:t>14/01/2024</a:t>
            </a:fld>
            <a:endParaRPr lang="vi-V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400800"/>
            <a:ext cx="3962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cs typeface="Arial" charset="0"/>
              </a:defRPr>
            </a:lvl1pPr>
          </a:lstStyle>
          <a:p>
            <a:r>
              <a:rPr lang="vi-VN"/>
              <a:t>Chương 3 - Các cấu trúc điều khiển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charset="0"/>
              </a:defRPr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lang="en-GB" sz="2800" smtClean="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2400" smtClean="0">
          <a:solidFill>
            <a:srgbClr val="0000FF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o"/>
        <a:defRPr lang="en-GB" sz="2000" smtClean="0">
          <a:solidFill>
            <a:srgbClr val="002060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1800" smtClean="0">
          <a:solidFill>
            <a:srgbClr val="000066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5pPr>
      <a:lvl6pPr marL="25511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6pPr>
      <a:lvl7pPr marL="30083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7pPr>
      <a:lvl8pPr marL="34655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8pPr>
      <a:lvl9pPr marL="39227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image" Target="../media/image2.gif"/><Relationship Id="rId7" Type="http://schemas.openxmlformats.org/officeDocument/2006/relationships/slide" Target="slide2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5.xml"/><Relationship Id="rId5" Type="http://schemas.openxmlformats.org/officeDocument/2006/relationships/image" Target="../media/image3.png"/><Relationship Id="rId4" Type="http://schemas.openxmlformats.org/officeDocument/2006/relationships/slide" Target="slide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slide" Target="slide4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png"/><Relationship Id="rId4" Type="http://schemas.openxmlformats.org/officeDocument/2006/relationships/slide" Target="slide4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slide" Target="slide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590800"/>
            <a:ext cx="7931224" cy="990600"/>
          </a:xfrm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pPr algn="ctr"/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Chương 3</a:t>
            </a:r>
            <a:b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CÁC CẤU TRÚC ĐIỀU KHIỂN</a:t>
            </a:r>
            <a:endParaRPr lang="vi-VN" sz="440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1880" y="623731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Hà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 dirty="0"/>
              <a:t> </a:t>
            </a:r>
            <a:r>
              <a:rPr lang="en-US" sz="2400"/>
              <a:t>– 2024</a:t>
            </a:r>
            <a:endParaRPr lang="vi-VN" sz="2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3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634-4B9A-4B14-807D-03C68CF3ECB1}" type="datetime1">
              <a:rPr lang="vi-VN" smtClean="0"/>
              <a:t>14/01/2024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grpSp>
        <p:nvGrpSpPr>
          <p:cNvPr id="14" name="Group 46"/>
          <p:cNvGrpSpPr>
            <a:grpSpLocks/>
          </p:cNvGrpSpPr>
          <p:nvPr/>
        </p:nvGrpSpPr>
        <p:grpSpPr bwMode="auto">
          <a:xfrm>
            <a:off x="2367880" y="2636912"/>
            <a:ext cx="4724400" cy="685800"/>
            <a:chOff x="1296" y="1824"/>
            <a:chExt cx="2976" cy="432"/>
          </a:xfrm>
        </p:grpSpPr>
        <p:sp>
          <p:nvSpPr>
            <p:cNvPr id="15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16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17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Cấu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trúc rẽ nhánh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19" name="Group 51"/>
          <p:cNvGrpSpPr>
            <a:grpSpLocks/>
          </p:cNvGrpSpPr>
          <p:nvPr/>
        </p:nvGrpSpPr>
        <p:grpSpPr bwMode="auto">
          <a:xfrm>
            <a:off x="2367880" y="3475112"/>
            <a:ext cx="4724400" cy="685800"/>
            <a:chOff x="1296" y="1824"/>
            <a:chExt cx="2976" cy="432"/>
          </a:xfrm>
        </p:grpSpPr>
        <p:sp>
          <p:nvSpPr>
            <p:cNvPr id="2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Cấu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trúc lặp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79026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Cấu trúc rẽ nhánh</a:t>
            </a:r>
            <a:endParaRPr lang="vi-V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5FFF7-63CB-4D6D-BF0B-C966F3B63295}" type="datetime1">
              <a:rPr lang="vi-VN" smtClean="0"/>
              <a:t>14/01/2024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grpSp>
        <p:nvGrpSpPr>
          <p:cNvPr id="25" name="Group 46"/>
          <p:cNvGrpSpPr>
            <a:grpSpLocks/>
          </p:cNvGrpSpPr>
          <p:nvPr/>
        </p:nvGrpSpPr>
        <p:grpSpPr bwMode="auto"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26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7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8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Câu lệnh </a:t>
              </a:r>
              <a:r>
                <a:rPr kumimoji="0" lang="vi-V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đ</a:t>
              </a: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iều kiện if</a:t>
              </a:r>
            </a:p>
          </p:txBody>
        </p:sp>
        <p:sp>
          <p:nvSpPr>
            <p:cNvPr id="29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30" name="Group 51"/>
          <p:cNvGrpSpPr>
            <a:grpSpLocks/>
          </p:cNvGrpSpPr>
          <p:nvPr/>
        </p:nvGrpSpPr>
        <p:grpSpPr bwMode="auto"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31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2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3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Câu lệnh rẽ nhánh switch</a:t>
              </a:r>
            </a:p>
          </p:txBody>
        </p:sp>
        <p:sp>
          <p:nvSpPr>
            <p:cNvPr id="34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grpSp>
        <p:nvGrpSpPr>
          <p:cNvPr id="35" name="Group 56"/>
          <p:cNvGrpSpPr>
            <a:grpSpLocks/>
          </p:cNvGrpSpPr>
          <p:nvPr/>
        </p:nvGrpSpPr>
        <p:grpSpPr bwMode="auto"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36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7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8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Toán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tử goto và nhãn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grpSp>
        <p:nvGrpSpPr>
          <p:cNvPr id="40" name="Group 61"/>
          <p:cNvGrpSpPr>
            <a:grpSpLocks/>
          </p:cNvGrpSpPr>
          <p:nvPr/>
        </p:nvGrpSpPr>
        <p:grpSpPr bwMode="auto"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41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2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3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Bài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tập thực hành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63410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833438" y="3054499"/>
            <a:ext cx="1371600" cy="4270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&lt;Lệnh&gt;</a:t>
            </a:r>
          </a:p>
        </p:txBody>
      </p:sp>
      <p:sp>
        <p:nvSpPr>
          <p:cNvPr id="17411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 Câu lệnh điều kiện if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Dạng thiếu</a:t>
            </a:r>
            <a:endParaRPr lang="vi-VN"/>
          </a:p>
        </p:txBody>
      </p:sp>
      <p:cxnSp>
        <p:nvCxnSpPr>
          <p:cNvPr id="3" name="Straight Arrow Connector 2"/>
          <p:cNvCxnSpPr/>
          <p:nvPr/>
        </p:nvCxnSpPr>
        <p:spPr>
          <a:xfrm rot="16200000" flipH="1">
            <a:off x="1256506" y="1865362"/>
            <a:ext cx="5349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rot="5400000">
            <a:off x="1284287" y="3705374"/>
            <a:ext cx="44926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0800000" flipV="1">
            <a:off x="1524000" y="3633936"/>
            <a:ext cx="2009775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6200000" flipH="1">
            <a:off x="2943226" y="3033861"/>
            <a:ext cx="1212850" cy="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2730649"/>
            <a:ext cx="376238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2033736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655638" y="2109936"/>
            <a:ext cx="1736725" cy="639763"/>
            <a:chOff x="685800" y="2133600"/>
            <a:chExt cx="1737360" cy="640080"/>
          </a:xfrm>
        </p:grpSpPr>
        <p:sp>
          <p:nvSpPr>
            <p:cNvPr id="12" name="Diamond 11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0142" y="2252722"/>
              <a:ext cx="1524557" cy="38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66FF"/>
                  </a:solidFill>
                </a:rPr>
                <a:t>&lt;BT Logic&gt;</a:t>
              </a:r>
            </a:p>
          </p:txBody>
        </p:sp>
      </p:grpSp>
      <p:sp>
        <p:nvSpPr>
          <p:cNvPr id="17" name="Content Placeholder 41"/>
          <p:cNvSpPr txBox="1">
            <a:spLocks/>
          </p:cNvSpPr>
          <p:nvPr/>
        </p:nvSpPr>
        <p:spPr bwMode="auto">
          <a:xfrm>
            <a:off x="457200" y="4243536"/>
            <a:ext cx="4038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800" b="1" kern="0">
                <a:latin typeface="+mn-lt"/>
                <a:cs typeface="+mn-cs"/>
              </a:rPr>
              <a:t>if </a:t>
            </a:r>
            <a:r>
              <a:rPr lang="en-US" sz="2800" b="1" kern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en-US" sz="2800" kern="0">
                <a:solidFill>
                  <a:srgbClr val="FF66FF"/>
                </a:solidFill>
                <a:cs typeface="+mn-cs"/>
              </a:rPr>
              <a:t>&lt;BT Logic&gt;</a:t>
            </a:r>
            <a:r>
              <a:rPr lang="en-US" sz="2800" b="1" kern="0">
                <a:solidFill>
                  <a:srgbClr val="FF0000"/>
                </a:solidFill>
                <a:cs typeface="+mn-cs"/>
              </a:rPr>
              <a:t>)</a:t>
            </a:r>
            <a:endParaRPr lang="en-US" sz="2800" b="1" kern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		</a:t>
            </a:r>
            <a:r>
              <a:rPr lang="en-US" sz="2800" kern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&lt;Lệnh&gt;</a:t>
            </a:r>
            <a:r>
              <a:rPr lang="en-US" sz="2800" b="1" kern="0">
                <a:cs typeface="+mn-cs"/>
              </a:rPr>
              <a:t>;</a:t>
            </a:r>
            <a:endParaRPr lang="en-US" sz="2800" kern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</p:txBody>
      </p:sp>
      <p:sp>
        <p:nvSpPr>
          <p:cNvPr id="26" name="Freeform 9"/>
          <p:cNvSpPr>
            <a:spLocks/>
          </p:cNvSpPr>
          <p:nvPr/>
        </p:nvSpPr>
        <p:spPr bwMode="gray">
          <a:xfrm rot="10800000">
            <a:off x="2819400" y="3557736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22" name="Straight Arrow Connector 21"/>
          <p:cNvCxnSpPr>
            <a:endCxn id="19" idx="0"/>
          </p:cNvCxnSpPr>
          <p:nvPr/>
        </p:nvCxnSpPr>
        <p:spPr>
          <a:xfrm rot="16200000" flipH="1">
            <a:off x="1366837" y="2902099"/>
            <a:ext cx="3032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9"/>
          <p:cNvSpPr>
            <a:spLocks/>
          </p:cNvSpPr>
          <p:nvPr/>
        </p:nvSpPr>
        <p:spPr bwMode="gray">
          <a:xfrm rot="10800000" flipV="1">
            <a:off x="2800350" y="4929336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405063" y="2429024"/>
            <a:ext cx="1147762" cy="47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 bwMode="auto">
          <a:xfrm>
            <a:off x="4648200" y="4789512"/>
            <a:ext cx="3124200" cy="1447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Câu lệnh </a:t>
            </a:r>
            <a:r>
              <a:rPr lang="vi-VN" sz="2000"/>
              <a:t>đơ</a:t>
            </a:r>
            <a:r>
              <a:rPr lang="en-US" sz="2000"/>
              <a:t>n hoặc</a:t>
            </a:r>
          </a:p>
          <a:p>
            <a:pPr>
              <a:defRPr/>
            </a:pPr>
            <a:r>
              <a:rPr lang="en-US" sz="2000"/>
              <a:t>Câu lệnh phức (kẹp</a:t>
            </a:r>
          </a:p>
          <a:p>
            <a:pPr>
              <a:defRPr/>
            </a:pPr>
            <a:r>
              <a:rPr lang="en-US" sz="2000"/>
              <a:t>giữa </a:t>
            </a:r>
            <a:r>
              <a:rPr lang="en-US" sz="2000">
                <a:solidFill>
                  <a:srgbClr val="FF0000"/>
                </a:solidFill>
              </a:rPr>
              <a:t>{</a:t>
            </a:r>
            <a:r>
              <a:rPr lang="en-US" sz="2000"/>
              <a:t> và </a:t>
            </a:r>
            <a:r>
              <a:rPr lang="en-US" sz="2000">
                <a:solidFill>
                  <a:srgbClr val="FF0000"/>
                </a:solidFill>
              </a:rPr>
              <a:t>}</a:t>
            </a:r>
            <a:r>
              <a:rPr lang="en-US" sz="2000"/>
              <a:t>)</a:t>
            </a:r>
          </a:p>
        </p:txBody>
      </p:sp>
      <p:sp>
        <p:nvSpPr>
          <p:cNvPr id="34" name="Rounded Rectangle 33"/>
          <p:cNvSpPr/>
          <p:nvPr/>
        </p:nvSpPr>
        <p:spPr bwMode="auto">
          <a:xfrm>
            <a:off x="4648200" y="3417912"/>
            <a:ext cx="3124200" cy="1066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Trong </a:t>
            </a:r>
            <a:r>
              <a:rPr lang="en-US" sz="2000">
                <a:solidFill>
                  <a:srgbClr val="FF0000"/>
                </a:solidFill>
              </a:rPr>
              <a:t>(</a:t>
            </a:r>
            <a:r>
              <a:rPr lang="en-US" sz="2000"/>
              <a:t> </a:t>
            </a:r>
            <a:r>
              <a:rPr lang="en-US" sz="2000">
                <a:solidFill>
                  <a:srgbClr val="FF0000"/>
                </a:solidFill>
              </a:rPr>
              <a:t>)</a:t>
            </a:r>
            <a:r>
              <a:rPr lang="en-US" sz="2000"/>
              <a:t>, cho kết quả</a:t>
            </a:r>
          </a:p>
          <a:p>
            <a:pPr>
              <a:defRPr/>
            </a:pPr>
            <a:r>
              <a:rPr lang="en-US" sz="2000"/>
              <a:t>(sai = 0, </a:t>
            </a:r>
            <a:r>
              <a:rPr lang="vi-VN" sz="2000"/>
              <a:t>đú</a:t>
            </a:r>
            <a:r>
              <a:rPr lang="en-US" sz="2000"/>
              <a:t>ng ≠ 0)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5C8-EB83-4283-9C60-D5448BED92D4}" type="datetime1">
              <a:rPr lang="vi-VN" smtClean="0"/>
              <a:t>14/01/2024</a:t>
            </a:fld>
            <a:endParaRPr lang="vi-V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6293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9" grpId="0"/>
      <p:bldP spid="10" grpId="0"/>
      <p:bldP spid="26" grpId="0" animBg="1"/>
      <p:bldP spid="32" grpId="0" animBg="1"/>
      <p:bldP spid="31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if (thiếu)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424E-C28D-45A3-99C8-58A090E98F1B}" type="datetime1">
              <a:rPr lang="vi-VN" smtClean="0"/>
              <a:t>14/01/2024</a:t>
            </a:fld>
            <a:endParaRPr lang="vi-V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7" name="TextBox 4"/>
          <p:cNvSpPr txBox="1">
            <a:spLocks noChangeArrowheads="1"/>
          </p:cNvSpPr>
          <p:nvPr/>
        </p:nvSpPr>
        <p:spPr bwMode="auto">
          <a:xfrm>
            <a:off x="838200" y="1524000"/>
            <a:ext cx="7010400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a == 0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bang 0”);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a == 0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bang 0”);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a = 2912;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44140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833438" y="2925763"/>
            <a:ext cx="1371600" cy="4270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 1&gt;</a:t>
            </a:r>
          </a:p>
        </p:txBody>
      </p:sp>
      <p:sp>
        <p:nvSpPr>
          <p:cNvPr id="19459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if (</a:t>
            </a:r>
            <a:r>
              <a:rPr lang="vi-VN"/>
              <a:t>đ</a:t>
            </a:r>
            <a:r>
              <a:rPr lang="en-US"/>
              <a:t>ủ)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F419-C6F4-40F0-87D8-EF84E2121D37}" type="datetime1">
              <a:rPr lang="vi-VN" smtClean="0"/>
              <a:t>14/01/2024</a:t>
            </a:fld>
            <a:endParaRPr lang="vi-V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rot="16200000" flipH="1">
            <a:off x="1256506" y="1715294"/>
            <a:ext cx="5349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rot="5400000">
            <a:off x="1284287" y="3576638"/>
            <a:ext cx="44926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65438" y="2087563"/>
            <a:ext cx="1371600" cy="4270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&lt;Lệnh 2&gt;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08238" y="2300288"/>
            <a:ext cx="4572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0800000" flipV="1">
            <a:off x="1524000" y="3505200"/>
            <a:ext cx="2009775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3051969" y="3013869"/>
            <a:ext cx="9985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2601913"/>
            <a:ext cx="376238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19050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655638" y="1981200"/>
            <a:ext cx="1736725" cy="639763"/>
            <a:chOff x="685800" y="2133600"/>
            <a:chExt cx="1737360" cy="640080"/>
          </a:xfrm>
        </p:grpSpPr>
        <p:sp>
          <p:nvSpPr>
            <p:cNvPr id="12" name="Diamond 11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0142" y="2252722"/>
              <a:ext cx="1524557" cy="38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66FF"/>
                  </a:solidFill>
                </a:rPr>
                <a:t>&lt;BT Logic&gt;</a:t>
              </a:r>
            </a:p>
          </p:txBody>
        </p:sp>
      </p:grpSp>
      <p:sp>
        <p:nvSpPr>
          <p:cNvPr id="17" name="Content Placeholder 41"/>
          <p:cNvSpPr txBox="1">
            <a:spLocks/>
          </p:cNvSpPr>
          <p:nvPr/>
        </p:nvSpPr>
        <p:spPr bwMode="auto">
          <a:xfrm>
            <a:off x="457200" y="4114800"/>
            <a:ext cx="4038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latin typeface="+mn-lt"/>
                <a:cs typeface="+mn-cs"/>
              </a:rPr>
              <a:t>if </a:t>
            </a:r>
            <a:r>
              <a:rPr lang="en-US" sz="2800" b="1" kern="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en-US" sz="2800" kern="0" dirty="0">
                <a:solidFill>
                  <a:srgbClr val="FF66FF"/>
                </a:solidFill>
                <a:cs typeface="+mn-cs"/>
              </a:rPr>
              <a:t>&lt;BT Logic&gt;</a:t>
            </a:r>
            <a:r>
              <a:rPr lang="en-US" sz="2800" b="1" kern="0" dirty="0">
                <a:solidFill>
                  <a:srgbClr val="FF0000"/>
                </a:solidFill>
                <a:cs typeface="+mn-cs"/>
              </a:rPr>
              <a:t>)</a:t>
            </a:r>
            <a:endParaRPr lang="en-US" sz="2800" b="1" kern="0" dirty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latin typeface="+mn-lt"/>
                <a:cs typeface="+mn-cs"/>
              </a:rPr>
              <a:t>		</a:t>
            </a:r>
            <a:r>
              <a:rPr lang="en-US" sz="2800" kern="0" dirty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&lt;</a:t>
            </a:r>
            <a:r>
              <a:rPr lang="en-US" sz="2800" kern="0" dirty="0" err="1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Lệnh</a:t>
            </a:r>
            <a:r>
              <a:rPr lang="en-US" sz="2800" kern="0" dirty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 1&gt;</a:t>
            </a:r>
            <a:r>
              <a:rPr lang="en-US" sz="2800" b="1" kern="0" dirty="0">
                <a:cs typeface="+mn-cs"/>
              </a:rPr>
              <a:t>;</a:t>
            </a:r>
            <a:endParaRPr lang="en-US" sz="2800" kern="0" dirty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800" b="1" kern="0" dirty="0">
                <a:latin typeface="+mn-lt"/>
                <a:cs typeface="+mn-cs"/>
              </a:rPr>
              <a:t>else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cs typeface="+mn-cs"/>
              </a:rPr>
              <a:t>		</a:t>
            </a:r>
            <a:r>
              <a:rPr lang="en-US" sz="2800" kern="0" dirty="0">
                <a:solidFill>
                  <a:srgbClr val="FF0000"/>
                </a:solidFill>
                <a:cs typeface="+mn-cs"/>
              </a:rPr>
              <a:t>&lt;</a:t>
            </a:r>
            <a:r>
              <a:rPr lang="en-US" sz="2800" kern="0" dirty="0" err="1">
                <a:solidFill>
                  <a:srgbClr val="FF0000"/>
                </a:solidFill>
                <a:cs typeface="+mn-cs"/>
              </a:rPr>
              <a:t>Lệnh</a:t>
            </a:r>
            <a:r>
              <a:rPr lang="en-US" sz="2800" kern="0" dirty="0">
                <a:solidFill>
                  <a:srgbClr val="FF0000"/>
                </a:solidFill>
                <a:cs typeface="+mn-cs"/>
              </a:rPr>
              <a:t> 2&gt;</a:t>
            </a:r>
            <a:r>
              <a:rPr lang="en-US" sz="2800" b="1" kern="0" dirty="0">
                <a:latin typeface="+mn-lt"/>
                <a:cs typeface="+mn-cs"/>
              </a:rPr>
              <a:t>;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4648200" y="4572000"/>
            <a:ext cx="3124200" cy="1447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Câu lệnh </a:t>
            </a:r>
            <a:r>
              <a:rPr lang="vi-VN" sz="2000"/>
              <a:t>đơ</a:t>
            </a:r>
            <a:r>
              <a:rPr lang="en-US" sz="2000"/>
              <a:t>n hoặc</a:t>
            </a:r>
          </a:p>
          <a:p>
            <a:pPr>
              <a:defRPr/>
            </a:pPr>
            <a:r>
              <a:rPr lang="en-US" sz="2000"/>
              <a:t>Câu lệnh phức (kẹp</a:t>
            </a:r>
          </a:p>
          <a:p>
            <a:pPr>
              <a:defRPr/>
            </a:pPr>
            <a:r>
              <a:rPr lang="en-US" sz="2000"/>
              <a:t>giữa </a:t>
            </a:r>
            <a:r>
              <a:rPr lang="en-US" sz="2000">
                <a:solidFill>
                  <a:srgbClr val="FF0000"/>
                </a:solidFill>
              </a:rPr>
              <a:t>{</a:t>
            </a:r>
            <a:r>
              <a:rPr lang="en-US" sz="2000"/>
              <a:t> và </a:t>
            </a:r>
            <a:r>
              <a:rPr lang="en-US" sz="2000">
                <a:solidFill>
                  <a:srgbClr val="FF0000"/>
                </a:solidFill>
              </a:rPr>
              <a:t>}</a:t>
            </a:r>
            <a:r>
              <a:rPr lang="en-US" sz="2000"/>
              <a:t>)</a:t>
            </a:r>
          </a:p>
        </p:txBody>
      </p:sp>
      <p:sp>
        <p:nvSpPr>
          <p:cNvPr id="26" name="Freeform 9"/>
          <p:cNvSpPr>
            <a:spLocks/>
          </p:cNvSpPr>
          <p:nvPr/>
        </p:nvSpPr>
        <p:spPr bwMode="gray">
          <a:xfrm rot="10800000">
            <a:off x="2819400" y="34290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Rounded Rectangle 26"/>
          <p:cNvSpPr/>
          <p:nvPr/>
        </p:nvSpPr>
        <p:spPr bwMode="auto">
          <a:xfrm>
            <a:off x="4648200" y="3200400"/>
            <a:ext cx="3124200" cy="1066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Trong </a:t>
            </a:r>
            <a:r>
              <a:rPr lang="en-US" sz="2000">
                <a:solidFill>
                  <a:srgbClr val="FF0000"/>
                </a:solidFill>
              </a:rPr>
              <a:t>(</a:t>
            </a:r>
            <a:r>
              <a:rPr lang="en-US" sz="2000"/>
              <a:t> </a:t>
            </a:r>
            <a:r>
              <a:rPr lang="en-US" sz="2000">
                <a:solidFill>
                  <a:srgbClr val="FF0000"/>
                </a:solidFill>
              </a:rPr>
              <a:t>)</a:t>
            </a:r>
            <a:r>
              <a:rPr lang="en-US" sz="2000"/>
              <a:t>, cho kết quả</a:t>
            </a:r>
          </a:p>
          <a:p>
            <a:pPr>
              <a:defRPr/>
            </a:pPr>
            <a:r>
              <a:rPr lang="en-US" sz="2000"/>
              <a:t>(sai = 0, </a:t>
            </a:r>
            <a:r>
              <a:rPr lang="vi-VN" sz="2000"/>
              <a:t>đú</a:t>
            </a:r>
            <a:r>
              <a:rPr lang="en-US" sz="2000"/>
              <a:t>ng ≠ 0)</a:t>
            </a:r>
          </a:p>
        </p:txBody>
      </p:sp>
      <p:cxnSp>
        <p:nvCxnSpPr>
          <p:cNvPr id="22" name="Straight Arrow Connector 21"/>
          <p:cNvCxnSpPr>
            <a:endCxn id="19" idx="0"/>
          </p:cNvCxnSpPr>
          <p:nvPr/>
        </p:nvCxnSpPr>
        <p:spPr>
          <a:xfrm rot="16200000" flipH="1">
            <a:off x="1366837" y="2773363"/>
            <a:ext cx="3032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9"/>
          <p:cNvSpPr>
            <a:spLocks/>
          </p:cNvSpPr>
          <p:nvPr/>
        </p:nvSpPr>
        <p:spPr bwMode="gray">
          <a:xfrm rot="10800000" flipV="1">
            <a:off x="2800350" y="48006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" name="Freeform 9"/>
          <p:cNvSpPr>
            <a:spLocks/>
          </p:cNvSpPr>
          <p:nvPr/>
        </p:nvSpPr>
        <p:spPr bwMode="gray">
          <a:xfrm rot="10800000">
            <a:off x="2805113" y="5076825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50704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" grpId="0" animBg="1"/>
      <p:bldP spid="9" grpId="0"/>
      <p:bldP spid="10" grpId="0"/>
      <p:bldP spid="18" grpId="0" animBg="1"/>
      <p:bldP spid="26" grpId="0" animBg="1"/>
      <p:bldP spid="27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if (</a:t>
            </a:r>
            <a:r>
              <a:rPr lang="vi-VN"/>
              <a:t>đ</a:t>
            </a:r>
            <a:r>
              <a:rPr lang="en-US"/>
              <a:t>ủ)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8986-7D15-4854-A169-4685365938D3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5" name="TextBox 4"/>
          <p:cNvSpPr txBox="1">
            <a:spLocks noChangeArrowheads="1"/>
          </p:cNvSpPr>
          <p:nvPr/>
        </p:nvSpPr>
        <p:spPr bwMode="auto">
          <a:xfrm>
            <a:off x="838200" y="1524000"/>
            <a:ext cx="7010400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(a == 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bang 0”);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khac 0”);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(a == 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bang 0”);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a = 2912;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khac 0”);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printf(“a=290”);}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15611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if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Câu lệnh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if có thể lồng vào nhau</a:t>
            </a:r>
            <a:r>
              <a:rPr lang="en-US">
                <a:latin typeface="Arial" charset="0"/>
                <a:cs typeface="Arial" charset="0"/>
              </a:rPr>
              <a:t> và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else sẽ t</a:t>
            </a:r>
            <a:r>
              <a:rPr lang="vi-VN">
                <a:solidFill>
                  <a:srgbClr val="FF0000"/>
                </a:solidFill>
                <a:latin typeface="Arial" charset="0"/>
                <a:cs typeface="Arial" charset="0"/>
              </a:rPr>
              <a:t>ươ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ng ứng với if gần nó nhất</a:t>
            </a:r>
            <a:r>
              <a:rPr lang="en-US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76872"/>
            <a:ext cx="152400" cy="3962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838200" y="2276872"/>
            <a:ext cx="7010400" cy="409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if (a != 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(b &gt; 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!= 0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b &gt; 0”);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!= 0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b &lt;= 0”);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if (a !=0)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(b &gt; 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!= 0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b &gt; 0”);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!= 0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b &lt;= 0”);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657872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486672"/>
            <a:ext cx="9128125" cy="17526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BD763-8B6C-41A1-8F52-EFB7C4FFE2E3}" type="datetime1">
              <a:rPr lang="vi-VN" smtClean="0"/>
              <a:t>14/01/2024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86566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if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Nên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dùng else</a:t>
            </a:r>
            <a:r>
              <a:rPr lang="en-US">
                <a:latin typeface="Arial" charset="0"/>
                <a:cs typeface="Arial" charset="0"/>
              </a:rPr>
              <a:t> </a:t>
            </a:r>
            <a:r>
              <a:rPr lang="vi-VN">
                <a:latin typeface="Arial" charset="0"/>
                <a:cs typeface="Arial" charset="0"/>
              </a:rPr>
              <a:t>để</a:t>
            </a:r>
            <a:r>
              <a:rPr lang="en-US">
                <a:latin typeface="Arial" charset="0"/>
                <a:cs typeface="Arial" charset="0"/>
              </a:rPr>
              <a:t>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loại trừ tr</a:t>
            </a:r>
            <a:r>
              <a:rPr lang="vi-VN">
                <a:solidFill>
                  <a:srgbClr val="FF0000"/>
                </a:solidFill>
                <a:latin typeface="Arial" charset="0"/>
                <a:cs typeface="Arial" charset="0"/>
              </a:rPr>
              <a:t>ườ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ng hợp</a:t>
            </a:r>
            <a:r>
              <a:rPr lang="en-US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152400" cy="43243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838200" y="2152650"/>
            <a:ext cx="70104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if (delta &lt; 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printf(“PT vo nghiem”);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if (delta == 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printf(“PT co nghiem kep”);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if (delta &gt; 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printf(“PT co 2 nghiem”);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if (delta &lt; 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printf(“PT vo nghiem”);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else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delta &gt;= 0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(delta == 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printf(“PT co nghiem kep”);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printf(“PT co 2 nghiem”);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4F63F-C09E-4E8C-9C12-A707401C44F2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333013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if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Không </a:t>
            </a:r>
            <a:r>
              <a:rPr lang="vi-VN">
                <a:latin typeface="Arial" charset="0"/>
                <a:cs typeface="Arial" charset="0"/>
              </a:rPr>
              <a:t>đượ</a:t>
            </a:r>
            <a:r>
              <a:rPr lang="en-US">
                <a:latin typeface="Arial" charset="0"/>
                <a:cs typeface="Arial" charset="0"/>
              </a:rPr>
              <a:t>c thêm ; sau </a:t>
            </a:r>
            <a:r>
              <a:rPr lang="vi-VN">
                <a:latin typeface="Arial" charset="0"/>
                <a:cs typeface="Arial" charset="0"/>
              </a:rPr>
              <a:t>đ</a:t>
            </a:r>
            <a:r>
              <a:rPr lang="en-US">
                <a:latin typeface="Arial" charset="0"/>
                <a:cs typeface="Arial" charset="0"/>
              </a:rPr>
              <a:t>iều kiện của 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44824"/>
            <a:ext cx="152400" cy="43243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2" name="TextBox 5"/>
          <p:cNvSpPr txBox="1">
            <a:spLocks noChangeArrowheads="1"/>
          </p:cNvSpPr>
          <p:nvPr/>
        </p:nvSpPr>
        <p:spPr bwMode="auto">
          <a:xfrm>
            <a:off x="838200" y="1844824"/>
            <a:ext cx="70104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int a = 0;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 (a != 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khac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0.”);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 (a != 0)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khac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0.”);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 (a != 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(“a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khac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0.”);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16C6-4809-4688-B18C-5A36937AC26A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991258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 Câu lệnh switch – Dạng thiếu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788024" y="1143000"/>
            <a:ext cx="3898776" cy="51816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dirty="0"/>
              <a:t>switch </a:t>
            </a:r>
            <a:r>
              <a:rPr lang="en-US" dirty="0">
                <a:solidFill>
                  <a:srgbClr val="FF0000"/>
                </a:solidFill>
              </a:rPr>
              <a:t>(&lt;</a:t>
            </a:r>
            <a:r>
              <a:rPr lang="en-US" dirty="0" err="1">
                <a:solidFill>
                  <a:srgbClr val="FF0000"/>
                </a:solidFill>
              </a:rPr>
              <a:t>Biến</a:t>
            </a:r>
            <a:r>
              <a:rPr lang="en-US" dirty="0">
                <a:solidFill>
                  <a:srgbClr val="FF0000"/>
                </a:solidFill>
              </a:rPr>
              <a:t>/BT&gt;)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case </a:t>
            </a:r>
            <a:r>
              <a:rPr lang="en-US" sz="2000" dirty="0">
                <a:solidFill>
                  <a:srgbClr val="FF66FF"/>
                </a:solidFill>
              </a:rPr>
              <a:t>&lt;GT1&gt;</a:t>
            </a:r>
            <a:r>
              <a:rPr lang="en-US" sz="2000" dirty="0"/>
              <a:t>:</a:t>
            </a:r>
            <a:r>
              <a:rPr lang="en-US" sz="2000" dirty="0">
                <a:solidFill>
                  <a:srgbClr val="FF66FF"/>
                </a:solidFill>
              </a:rPr>
              <a:t>&lt;L1&gt;</a:t>
            </a:r>
            <a:r>
              <a:rPr lang="en-US" sz="2000" dirty="0"/>
              <a:t>;break;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case 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&lt;GT2&gt;</a:t>
            </a:r>
            <a:r>
              <a:rPr lang="en-US" sz="2000" dirty="0"/>
              <a:t>: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&lt;L2&gt;</a:t>
            </a:r>
            <a:r>
              <a:rPr lang="en-US" sz="2000" dirty="0"/>
              <a:t>;break;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…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}</a:t>
            </a:r>
          </a:p>
          <a:p>
            <a:pPr>
              <a:defRPr/>
            </a:pPr>
            <a:r>
              <a:rPr lang="en-US" b="0" dirty="0"/>
              <a:t>&lt;</a:t>
            </a:r>
            <a:r>
              <a:rPr lang="en-US" b="0" dirty="0" err="1"/>
              <a:t>Biến</a:t>
            </a:r>
            <a:r>
              <a:rPr lang="en-US" b="0" dirty="0"/>
              <a:t>/BT&gt; </a:t>
            </a:r>
            <a:r>
              <a:rPr lang="en-US" b="0" dirty="0" err="1"/>
              <a:t>là</a:t>
            </a:r>
            <a:r>
              <a:rPr lang="en-US" b="0" dirty="0"/>
              <a:t> </a:t>
            </a:r>
            <a:r>
              <a:rPr lang="en-US" b="0" dirty="0" err="1"/>
              <a:t>biến</a:t>
            </a:r>
            <a:r>
              <a:rPr lang="en-US" b="0" dirty="0"/>
              <a:t>/</a:t>
            </a:r>
            <a:r>
              <a:rPr lang="en-US" b="0" dirty="0" err="1"/>
              <a:t>biểu</a:t>
            </a:r>
            <a:r>
              <a:rPr lang="en-US" b="0" dirty="0"/>
              <a:t> </a:t>
            </a:r>
            <a:r>
              <a:rPr lang="en-US" b="0" dirty="0" err="1"/>
              <a:t>thức</a:t>
            </a:r>
            <a:r>
              <a:rPr lang="en-US" b="0" dirty="0"/>
              <a:t> </a:t>
            </a:r>
            <a:r>
              <a:rPr lang="en-US" b="0" dirty="0" err="1"/>
              <a:t>cho</a:t>
            </a:r>
            <a:r>
              <a:rPr lang="en-US" b="0" dirty="0"/>
              <a:t> </a:t>
            </a:r>
            <a:r>
              <a:rPr lang="en-US" b="0" dirty="0" err="1">
                <a:solidFill>
                  <a:srgbClr val="FF0000"/>
                </a:solidFill>
              </a:rPr>
              <a:t>giá</a:t>
            </a:r>
            <a:r>
              <a:rPr lang="en-US" b="0" dirty="0">
                <a:solidFill>
                  <a:srgbClr val="FF0000"/>
                </a:solidFill>
              </a:rPr>
              <a:t> </a:t>
            </a:r>
            <a:r>
              <a:rPr lang="en-US" b="0" dirty="0" err="1">
                <a:solidFill>
                  <a:srgbClr val="FF0000"/>
                </a:solidFill>
              </a:rPr>
              <a:t>trị</a:t>
            </a:r>
            <a:r>
              <a:rPr lang="en-US" b="0" dirty="0">
                <a:solidFill>
                  <a:srgbClr val="FF0000"/>
                </a:solidFill>
              </a:rPr>
              <a:t> </a:t>
            </a:r>
            <a:r>
              <a:rPr lang="en-US" b="0" dirty="0" err="1">
                <a:solidFill>
                  <a:srgbClr val="FF0000"/>
                </a:solidFill>
              </a:rPr>
              <a:t>rời</a:t>
            </a:r>
            <a:r>
              <a:rPr lang="en-US" b="0" dirty="0">
                <a:solidFill>
                  <a:srgbClr val="FF0000"/>
                </a:solidFill>
              </a:rPr>
              <a:t> </a:t>
            </a:r>
            <a:r>
              <a:rPr lang="en-US" b="0" dirty="0" err="1">
                <a:solidFill>
                  <a:srgbClr val="FF0000"/>
                </a:solidFill>
              </a:rPr>
              <a:t>rạc</a:t>
            </a:r>
            <a:r>
              <a:rPr lang="en-US" b="0" dirty="0"/>
              <a:t>.</a:t>
            </a:r>
          </a:p>
          <a:p>
            <a:pPr>
              <a:defRPr/>
            </a:pPr>
            <a:r>
              <a:rPr lang="en-US" b="0" dirty="0"/>
              <a:t>&lt;</a:t>
            </a:r>
            <a:r>
              <a:rPr lang="en-US" b="0" dirty="0" err="1"/>
              <a:t>Lệnh</a:t>
            </a:r>
            <a:r>
              <a:rPr lang="en-US" b="0" dirty="0"/>
              <a:t>&gt; : </a:t>
            </a:r>
            <a:r>
              <a:rPr lang="vi-VN" b="0" dirty="0"/>
              <a:t>đơ</a:t>
            </a:r>
            <a:r>
              <a:rPr lang="en-US" b="0" dirty="0"/>
              <a:t>n </a:t>
            </a:r>
            <a:r>
              <a:rPr lang="en-US" b="0" dirty="0" err="1"/>
              <a:t>hoặc</a:t>
            </a:r>
            <a:r>
              <a:rPr lang="en-US" b="0" dirty="0"/>
              <a:t> </a:t>
            </a:r>
            <a:r>
              <a:rPr lang="en-US" b="0" dirty="0" err="1"/>
              <a:t>khối</a:t>
            </a:r>
            <a:r>
              <a:rPr lang="en-US" b="0" dirty="0"/>
              <a:t> </a:t>
            </a:r>
            <a:r>
              <a:rPr lang="en-US" b="0" dirty="0" err="1"/>
              <a:t>lệnh</a:t>
            </a:r>
            <a:r>
              <a:rPr lang="en-US" b="0" dirty="0"/>
              <a:t> </a:t>
            </a:r>
            <a:r>
              <a:rPr lang="en-US" b="0" dirty="0">
                <a:solidFill>
                  <a:srgbClr val="FF0000"/>
                </a:solidFill>
              </a:rPr>
              <a:t>{}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BE26-1EC6-46D7-8ED0-732CF67650F8}" type="datetime1">
              <a:rPr lang="vi-VN" smtClean="0"/>
              <a:t>14/01/2024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rot="16200000" flipH="1">
            <a:off x="1078706" y="1715294"/>
            <a:ext cx="5349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819400" y="2133600"/>
            <a:ext cx="1371600" cy="4270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66FF"/>
                </a:solidFill>
              </a:rPr>
              <a:t>&lt;Lệnh 1&gt;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381250" y="2360613"/>
            <a:ext cx="4572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1371600" y="5105400"/>
            <a:ext cx="32004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3200401" y="3733800"/>
            <a:ext cx="2743200" cy="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62200" y="1981200"/>
            <a:ext cx="3762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27432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304800" y="1981200"/>
            <a:ext cx="2068513" cy="762000"/>
            <a:chOff x="324394" y="1981200"/>
            <a:chExt cx="2068286" cy="762000"/>
          </a:xfrm>
        </p:grpSpPr>
        <p:sp>
          <p:nvSpPr>
            <p:cNvPr id="29" name="Diamond 28"/>
            <p:cNvSpPr/>
            <p:nvPr/>
          </p:nvSpPr>
          <p:spPr>
            <a:xfrm>
              <a:off x="324394" y="1981200"/>
              <a:ext cx="2068286" cy="76200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0113" y="2182813"/>
              <a:ext cx="1523833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>
                  <a:solidFill>
                    <a:srgbClr val="FF0000"/>
                  </a:solidFill>
                </a:rPr>
                <a:t>&lt;Biến/BT&gt;</a:t>
              </a:r>
            </a:p>
            <a:p>
              <a:pPr algn="ctr">
                <a:defRPr/>
              </a:pPr>
              <a:r>
                <a:rPr lang="en-US" sz="1600">
                  <a:solidFill>
                    <a:srgbClr val="FF66FF"/>
                  </a:solidFill>
                </a:rPr>
                <a:t>= &lt;GT1&gt;</a:t>
              </a:r>
            </a:p>
          </p:txBody>
        </p: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304800" y="3124200"/>
            <a:ext cx="2068513" cy="762000"/>
            <a:chOff x="324394" y="1981200"/>
            <a:chExt cx="2068286" cy="762000"/>
          </a:xfrm>
        </p:grpSpPr>
        <p:sp>
          <p:nvSpPr>
            <p:cNvPr id="35" name="Diamond 34"/>
            <p:cNvSpPr/>
            <p:nvPr/>
          </p:nvSpPr>
          <p:spPr>
            <a:xfrm>
              <a:off x="324394" y="1981200"/>
              <a:ext cx="2068286" cy="76200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0113" y="2182813"/>
              <a:ext cx="1523833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>
                  <a:solidFill>
                    <a:srgbClr val="FF0000"/>
                  </a:solidFill>
                </a:rPr>
                <a:t>&lt;Biến/BT&gt;</a:t>
              </a:r>
            </a:p>
            <a:p>
              <a:pPr algn="ctr">
                <a:defRPr/>
              </a:pPr>
              <a:r>
                <a:rPr lang="en-US" sz="160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= &lt;GT2&gt;</a:t>
              </a:r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rot="16200000" flipH="1">
            <a:off x="1162844" y="2940844"/>
            <a:ext cx="366712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>
            <a:off x="393700" y="4838700"/>
            <a:ext cx="1905000" cy="0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191000" y="2362200"/>
            <a:ext cx="381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819400" y="3276600"/>
            <a:ext cx="1371600" cy="4270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 2&gt;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381250" y="3503613"/>
            <a:ext cx="4572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4191000" y="3505200"/>
            <a:ext cx="2286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>
            <a:off x="3886994" y="4037806"/>
            <a:ext cx="10668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>
            <a:off x="1371600" y="4572000"/>
            <a:ext cx="30480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362200" y="3124200"/>
            <a:ext cx="3762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0600" y="38862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82979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/>
      <p:bldP spid="27" grpId="0"/>
      <p:bldP spid="49" grpId="0" animBg="1"/>
      <p:bldP spid="61" grpId="0"/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(thiếu)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8723D-154D-4875-95DE-45F2D523F65C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9" name="TextBox 7"/>
          <p:cNvSpPr txBox="1">
            <a:spLocks noChangeArrowheads="1"/>
          </p:cNvSpPr>
          <p:nvPr/>
        </p:nvSpPr>
        <p:spPr bwMode="auto">
          <a:xfrm>
            <a:off x="838200" y="1600200"/>
            <a:ext cx="7010400" cy="409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a: 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(“%d”, &amp;a);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switch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(“Mot”); break;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(“Hai”); break;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(“Ba”); break;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928932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(</a:t>
            </a:r>
            <a:r>
              <a:rPr lang="vi-VN"/>
              <a:t>đ</a:t>
            </a:r>
            <a:r>
              <a:rPr lang="en-US"/>
              <a:t>ủ)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800600" y="1143000"/>
            <a:ext cx="4163888" cy="51816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dirty="0"/>
              <a:t>switch </a:t>
            </a:r>
            <a:r>
              <a:rPr lang="en-US" dirty="0">
                <a:solidFill>
                  <a:srgbClr val="FF0000"/>
                </a:solidFill>
              </a:rPr>
              <a:t>(&lt;</a:t>
            </a:r>
            <a:r>
              <a:rPr lang="en-US" dirty="0" err="1">
                <a:solidFill>
                  <a:srgbClr val="FF0000"/>
                </a:solidFill>
              </a:rPr>
              <a:t>Biến</a:t>
            </a:r>
            <a:r>
              <a:rPr lang="en-US" dirty="0">
                <a:solidFill>
                  <a:srgbClr val="FF0000"/>
                </a:solidFill>
              </a:rPr>
              <a:t>/BT&gt;)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case </a:t>
            </a:r>
            <a:r>
              <a:rPr lang="en-US" sz="2000" dirty="0">
                <a:solidFill>
                  <a:srgbClr val="FF66FF"/>
                </a:solidFill>
              </a:rPr>
              <a:t>&lt;GT1&gt;</a:t>
            </a:r>
            <a:r>
              <a:rPr lang="en-US" sz="2000" dirty="0"/>
              <a:t>:</a:t>
            </a:r>
            <a:r>
              <a:rPr lang="en-US" sz="2000" dirty="0">
                <a:solidFill>
                  <a:srgbClr val="FF66FF"/>
                </a:solidFill>
              </a:rPr>
              <a:t>&lt;</a:t>
            </a:r>
            <a:r>
              <a:rPr lang="en-US" sz="2000" dirty="0" err="1">
                <a:solidFill>
                  <a:srgbClr val="FF66FF"/>
                </a:solidFill>
              </a:rPr>
              <a:t>Lệnh</a:t>
            </a:r>
            <a:r>
              <a:rPr lang="en-US" sz="2000" dirty="0">
                <a:solidFill>
                  <a:srgbClr val="FF66FF"/>
                </a:solidFill>
              </a:rPr>
              <a:t> 1&gt;</a:t>
            </a:r>
            <a:r>
              <a:rPr lang="en-US" sz="2000" dirty="0"/>
              <a:t>;break;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case 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&lt;GT2&gt;</a:t>
            </a:r>
            <a:r>
              <a:rPr lang="en-US" sz="2000" dirty="0"/>
              <a:t>: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Lệnh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2&gt;</a:t>
            </a:r>
            <a:r>
              <a:rPr lang="en-US" sz="2000" dirty="0"/>
              <a:t>;break;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…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default: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	</a:t>
            </a:r>
            <a:r>
              <a:rPr lang="en-US" sz="2000" dirty="0">
                <a:solidFill>
                  <a:schemeClr val="accent6"/>
                </a:solidFill>
              </a:rPr>
              <a:t>&lt;</a:t>
            </a:r>
            <a:r>
              <a:rPr lang="en-US" sz="2000" dirty="0" err="1">
                <a:solidFill>
                  <a:schemeClr val="accent6"/>
                </a:solidFill>
              </a:rPr>
              <a:t>Lệnh</a:t>
            </a:r>
            <a:r>
              <a:rPr lang="en-US" sz="2000" dirty="0">
                <a:solidFill>
                  <a:schemeClr val="accent6"/>
                </a:solidFill>
              </a:rPr>
              <a:t> n&gt;</a:t>
            </a:r>
            <a:r>
              <a:rPr lang="en-US" sz="2000" dirty="0"/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}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85C89-3B9F-48D8-93A4-921B21B903DD}" type="datetime1">
              <a:rPr lang="vi-VN" smtClean="0"/>
              <a:t>14/01/2024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04800" y="1412776"/>
            <a:ext cx="4268788" cy="4889500"/>
            <a:chOff x="304800" y="1447800"/>
            <a:chExt cx="4268788" cy="4889500"/>
          </a:xfrm>
        </p:grpSpPr>
        <p:cxnSp>
          <p:nvCxnSpPr>
            <p:cNvPr id="20" name="Straight Arrow Connector 19"/>
            <p:cNvCxnSpPr/>
            <p:nvPr/>
          </p:nvCxnSpPr>
          <p:spPr>
            <a:xfrm rot="16200000" flipH="1">
              <a:off x="1078706" y="1715294"/>
              <a:ext cx="53498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2819400" y="2133600"/>
              <a:ext cx="1371600" cy="42703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66FF"/>
                  </a:solidFill>
                </a:rPr>
                <a:t>&lt;Lệnh 1&gt;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381250" y="2360613"/>
              <a:ext cx="457200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10800000">
              <a:off x="1371600" y="5942013"/>
              <a:ext cx="3200400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5400000">
              <a:off x="2782888" y="4152900"/>
              <a:ext cx="3579812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362200" y="1981200"/>
              <a:ext cx="376238" cy="3698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Đ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90600" y="2743200"/>
              <a:ext cx="347663" cy="3698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S</a:t>
              </a:r>
            </a:p>
          </p:txBody>
        </p:sp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304800" y="1981200"/>
              <a:ext cx="2068513" cy="762000"/>
              <a:chOff x="324394" y="1981200"/>
              <a:chExt cx="2068286" cy="762000"/>
            </a:xfrm>
          </p:grpSpPr>
          <p:sp>
            <p:nvSpPr>
              <p:cNvPr id="29" name="Diamond 28"/>
              <p:cNvSpPr/>
              <p:nvPr/>
            </p:nvSpPr>
            <p:spPr>
              <a:xfrm>
                <a:off x="324394" y="1981200"/>
                <a:ext cx="2068286" cy="762000"/>
              </a:xfrm>
              <a:prstGeom prst="diamond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610113" y="2182813"/>
                <a:ext cx="1523833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rgbClr val="FF0000"/>
                    </a:solidFill>
                  </a:rPr>
                  <a:t>&lt;Biến/BT&gt;</a:t>
                </a:r>
              </a:p>
              <a:p>
                <a:pPr algn="ctr">
                  <a:defRPr/>
                </a:pPr>
                <a:r>
                  <a:rPr lang="en-US" sz="1600">
                    <a:solidFill>
                      <a:srgbClr val="FF66FF"/>
                    </a:solidFill>
                  </a:rPr>
                  <a:t>= &lt;GT1&gt;</a:t>
                </a:r>
              </a:p>
            </p:txBody>
          </p:sp>
        </p:grpSp>
        <p:grpSp>
          <p:nvGrpSpPr>
            <p:cNvPr id="5" name="Group 33"/>
            <p:cNvGrpSpPr>
              <a:grpSpLocks/>
            </p:cNvGrpSpPr>
            <p:nvPr/>
          </p:nvGrpSpPr>
          <p:grpSpPr bwMode="auto">
            <a:xfrm>
              <a:off x="304800" y="3124200"/>
              <a:ext cx="2068513" cy="762000"/>
              <a:chOff x="324394" y="1981200"/>
              <a:chExt cx="2068286" cy="762000"/>
            </a:xfrm>
          </p:grpSpPr>
          <p:sp>
            <p:nvSpPr>
              <p:cNvPr id="35" name="Diamond 34"/>
              <p:cNvSpPr/>
              <p:nvPr/>
            </p:nvSpPr>
            <p:spPr>
              <a:xfrm>
                <a:off x="324394" y="1981200"/>
                <a:ext cx="2068286" cy="762000"/>
              </a:xfrm>
              <a:prstGeom prst="diamond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610113" y="2182813"/>
                <a:ext cx="1523833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rgbClr val="FF0000"/>
                    </a:solidFill>
                  </a:rPr>
                  <a:t>&lt;Biến/BT&gt;</a:t>
                </a:r>
              </a:p>
              <a:p>
                <a:pPr algn="ctr">
                  <a:defRPr/>
                </a:pPr>
                <a:r>
                  <a:rPr lang="en-US" sz="160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= &lt;GT2&gt;</a:t>
                </a:r>
              </a:p>
            </p:txBody>
          </p:sp>
        </p:grpSp>
        <p:cxnSp>
          <p:nvCxnSpPr>
            <p:cNvPr id="37" name="Straight Arrow Connector 36"/>
            <p:cNvCxnSpPr/>
            <p:nvPr/>
          </p:nvCxnSpPr>
          <p:spPr>
            <a:xfrm rot="16200000" flipH="1">
              <a:off x="1162844" y="2940844"/>
              <a:ext cx="366712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5400000">
              <a:off x="927894" y="4304506"/>
              <a:ext cx="838200" cy="1588"/>
            </a:xfrm>
            <a:prstGeom prst="straightConnector1">
              <a:avLst/>
            </a:prstGeom>
            <a:ln w="38100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4191000" y="2362200"/>
              <a:ext cx="3810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2819400" y="3276600"/>
              <a:ext cx="1371600" cy="42703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&lt;Lệnh 2&gt;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2381250" y="3503613"/>
              <a:ext cx="457200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4191000" y="3505200"/>
              <a:ext cx="2286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467894" y="4456906"/>
              <a:ext cx="19050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rot="10800000">
              <a:off x="1371600" y="5408613"/>
              <a:ext cx="3048000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2362200" y="3124200"/>
              <a:ext cx="376238" cy="3698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Đ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90600" y="3886200"/>
              <a:ext cx="347663" cy="3698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S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85800" y="4724400"/>
              <a:ext cx="1371600" cy="42703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accent6"/>
                  </a:solidFill>
                </a:rPr>
                <a:t>&lt;Lệnh n&gt;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rot="5400000">
              <a:off x="762794" y="5739606"/>
              <a:ext cx="1181100" cy="14288"/>
            </a:xfrm>
            <a:prstGeom prst="straightConnector1">
              <a:avLst/>
            </a:prstGeom>
            <a:ln w="38100"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>
            <a:spLocks/>
          </p:cNvSpPr>
          <p:nvPr/>
        </p:nvSpPr>
        <p:spPr bwMode="auto">
          <a:xfrm>
            <a:off x="4800600" y="3200400"/>
            <a:ext cx="4343400" cy="7620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69445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5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(</a:t>
            </a:r>
            <a:r>
              <a:rPr lang="vi-VN"/>
              <a:t>đủ</a:t>
            </a:r>
            <a:r>
              <a:rPr lang="en-US"/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E1208-AAC1-4D29-A662-72126FD2CFAE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77" name="TextBox 7"/>
          <p:cNvSpPr txBox="1">
            <a:spLocks noChangeArrowheads="1"/>
          </p:cNvSpPr>
          <p:nvPr/>
        </p:nvSpPr>
        <p:spPr bwMode="auto">
          <a:xfrm>
            <a:off x="838200" y="1600200"/>
            <a:ext cx="70104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a: 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&amp;a);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switch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default : printf(“Ko biet doc”);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476899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2969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Câu lệnh switch là một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câu lệnh </a:t>
            </a:r>
            <a:r>
              <a:rPr lang="vi-VN">
                <a:solidFill>
                  <a:srgbClr val="FF0000"/>
                </a:solidFill>
                <a:latin typeface="Arial" charset="0"/>
                <a:cs typeface="Arial" charset="0"/>
              </a:rPr>
              <a:t>đơ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n </a:t>
            </a:r>
            <a:r>
              <a:rPr lang="en-US">
                <a:latin typeface="Arial" charset="0"/>
                <a:cs typeface="Arial" charset="0"/>
              </a:rPr>
              <a:t>và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có thể lồng nhau</a:t>
            </a:r>
            <a:r>
              <a:rPr lang="en-US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32856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2132856"/>
            <a:ext cx="8305800" cy="40934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strike="sngStrike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switch (a)</a:t>
            </a: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(“Mot”); break;</a:t>
            </a: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switch (b)</a:t>
            </a:r>
          </a:p>
          <a:p>
            <a:pPr>
              <a:defRPr/>
            </a:pP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			   {</a:t>
            </a:r>
          </a:p>
          <a:p>
            <a:pPr>
              <a:defRPr/>
            </a:pP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				case 1 : </a:t>
            </a:r>
            <a:r>
              <a:rPr lang="en-US" sz="2000" b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(“A”); break;</a:t>
            </a:r>
          </a:p>
          <a:p>
            <a:pPr>
              <a:defRPr/>
            </a:pP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				case 2 : </a:t>
            </a:r>
            <a:r>
              <a:rPr lang="en-US" sz="2000" b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(“B”); break;</a:t>
            </a:r>
          </a:p>
          <a:p>
            <a:pPr>
              <a:defRPr/>
            </a:pP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			   }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break;</a:t>
            </a:r>
            <a:endParaRPr lang="en-US" sz="2000" b="1" dirty="0">
              <a:solidFill>
                <a:schemeClr val="tx1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(“Ba”); break;</a:t>
            </a: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default :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biet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doc”);</a:t>
            </a: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defRPr/>
            </a:pPr>
            <a:r>
              <a:rPr lang="en-US" sz="2000" b="1" strike="sngStrike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86665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783F-3E94-468F-97B9-A9E9C0ABA3BD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58846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3072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Các giá trị trong mỗi tr</a:t>
            </a:r>
            <a:r>
              <a:rPr lang="vi-VN">
                <a:latin typeface="Arial" charset="0"/>
                <a:cs typeface="Arial" charset="0"/>
              </a:rPr>
              <a:t>ườ</a:t>
            </a:r>
            <a:r>
              <a:rPr lang="en-US">
                <a:latin typeface="Arial" charset="0"/>
                <a:cs typeface="Arial" charset="0"/>
              </a:rPr>
              <a:t>ng hợp phải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khác nhau</a:t>
            </a:r>
            <a:r>
              <a:rPr lang="en-US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3124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6" name="TextBox 9"/>
          <p:cNvSpPr txBox="1">
            <a:spLocks noChangeArrowheads="1"/>
          </p:cNvSpPr>
          <p:nvPr/>
        </p:nvSpPr>
        <p:spPr bwMode="auto">
          <a:xfrm>
            <a:off x="838200" y="2514600"/>
            <a:ext cx="7010400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printf(“1”);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default : printf(“Khong biet doc”);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A69B7-7EEE-46DA-A0F3-2EE53357EE8F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336891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switch sẽ nhảy </a:t>
            </a:r>
            <a:r>
              <a:rPr lang="vi-VN">
                <a:latin typeface="Arial" charset="0"/>
                <a:cs typeface="Arial" charset="0"/>
              </a:rPr>
              <a:t>đế</a:t>
            </a:r>
            <a:r>
              <a:rPr lang="en-US">
                <a:latin typeface="Arial" charset="0"/>
                <a:cs typeface="Arial" charset="0"/>
              </a:rPr>
              <a:t>n case t</a:t>
            </a:r>
            <a:r>
              <a:rPr lang="vi-VN">
                <a:latin typeface="Arial" charset="0"/>
                <a:cs typeface="Arial" charset="0"/>
              </a:rPr>
              <a:t>ươ</a:t>
            </a:r>
            <a:r>
              <a:rPr lang="en-US">
                <a:latin typeface="Arial" charset="0"/>
                <a:cs typeface="Arial" charset="0"/>
              </a:rPr>
              <a:t>ng ứng và thực hiện </a:t>
            </a:r>
            <a:r>
              <a:rPr lang="vi-VN">
                <a:latin typeface="Arial" charset="0"/>
                <a:cs typeface="Arial" charset="0"/>
              </a:rPr>
              <a:t>đế</a:t>
            </a:r>
            <a:r>
              <a:rPr lang="en-US">
                <a:latin typeface="Arial" charset="0"/>
                <a:cs typeface="Arial" charset="0"/>
              </a:rPr>
              <a:t>n khi nào gặp break hoặc cuối switch sẽ kết thúc.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48000"/>
            <a:ext cx="152400" cy="1905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3048000"/>
            <a:ext cx="7010400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3630-658A-4ADB-9CD6-CDA803F95FC9}" type="datetime1">
              <a:rPr lang="vi-VN" smtClean="0"/>
              <a:t>14/01/2024</a:t>
            </a:fld>
            <a:endParaRPr lang="vi-V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924363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switch nhảy </a:t>
            </a:r>
            <a:r>
              <a:rPr lang="vi-VN">
                <a:latin typeface="Arial" charset="0"/>
                <a:cs typeface="Arial" charset="0"/>
              </a:rPr>
              <a:t>đế</a:t>
            </a:r>
            <a:r>
              <a:rPr lang="en-US">
                <a:latin typeface="Arial" charset="0"/>
                <a:cs typeface="Arial" charset="0"/>
              </a:rPr>
              <a:t>n case t</a:t>
            </a:r>
            <a:r>
              <a:rPr lang="vi-VN">
                <a:latin typeface="Arial" charset="0"/>
                <a:cs typeface="Arial" charset="0"/>
              </a:rPr>
              <a:t>ươ</a:t>
            </a:r>
            <a:r>
              <a:rPr lang="en-US">
                <a:latin typeface="Arial" charset="0"/>
                <a:cs typeface="Arial" charset="0"/>
              </a:rPr>
              <a:t>ng ứng và thực hiện </a:t>
            </a:r>
            <a:r>
              <a:rPr lang="vi-VN">
                <a:latin typeface="Arial" charset="0"/>
                <a:cs typeface="Arial" charset="0"/>
              </a:rPr>
              <a:t>đế</a:t>
            </a:r>
            <a:r>
              <a:rPr lang="en-US">
                <a:latin typeface="Arial" charset="0"/>
                <a:cs typeface="Arial" charset="0"/>
              </a:rPr>
              <a:t>n khi nào gặp break hoặc cuối switch sẽ kết thúc.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675" y="2564904"/>
            <a:ext cx="136525" cy="3657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4075" y="2564904"/>
            <a:ext cx="7010400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DC43-D115-4DE6-88AF-73B7DCEA2123}" type="datetime1">
              <a:rPr lang="vi-VN" smtClean="0"/>
              <a:t>14/01/2024</a:t>
            </a:fld>
            <a:endParaRPr lang="vi-V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877940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switch - Một số l</a:t>
            </a:r>
            <a:r>
              <a:rPr lang="vi-VN"/>
              <a:t>ư</a:t>
            </a:r>
            <a:r>
              <a:rPr lang="en-US"/>
              <a:t>u ý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Tận dụng tính chất khi bỏ break;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6832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916832"/>
            <a:ext cx="7010400" cy="44012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le”);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chan”);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le”);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chan”);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le”);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chan”);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795C-9A66-4BE1-8954-14037EC7CFD2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861240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 Toán tử goto và nhãn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Nhãn được viết như tên biến và có thêm dấu: (hai chấm) đứng sau, nhãn có thể được gán cho bất kì câu lệnh nào trong chương trình</a:t>
            </a:r>
            <a:endParaRPr lang="vi-VN"/>
          </a:p>
          <a:p>
            <a:r>
              <a:rPr lang="en-US"/>
              <a:t>Lệnh nhảy goto có dạng:</a:t>
            </a:r>
            <a:endParaRPr lang="vi-VN"/>
          </a:p>
          <a:p>
            <a:pPr marL="0" indent="0"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goto nhan;</a:t>
            </a:r>
            <a:endParaRPr lang="vi-VN" b="1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/>
              <a:t>Khi gặp lệnh này, máy nhảy đến nhãn viết sau từ khoá goto</a:t>
            </a:r>
          </a:p>
          <a:p>
            <a:r>
              <a:rPr lang="en-US"/>
              <a:t>Ví dụ: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main()</a:t>
            </a:r>
            <a:endParaRPr lang="vi-VN" sz="200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{	int i;</a:t>
            </a:r>
            <a:endParaRPr lang="vi-VN" sz="2000">
              <a:latin typeface="Courier New" pitchFamily="49" charset="0"/>
              <a:cs typeface="Courier New" pitchFamily="49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	vaosl: printf(“Nhap i: “); scanf(“%d”,&amp;i);</a:t>
            </a:r>
            <a:endParaRPr lang="vi-VN" sz="200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	if (n&lt;10)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vaosl;</a:t>
            </a:r>
            <a:endParaRPr lang="vi-VN" sz="200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vi-VN" sz="2000">
              <a:latin typeface="Courier New" pitchFamily="49" charset="0"/>
              <a:cs typeface="Courier New" pitchFamily="49" charset="0"/>
            </a:endParaRPr>
          </a:p>
          <a:p>
            <a:pPr lvl="1"/>
            <a:endParaRPr lang="vi-VN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16DA-F129-4FAC-8297-614C5352D493}" type="datetime1">
              <a:rPr lang="vi-VN" smtClean="0"/>
              <a:t>14/01/2024</a:t>
            </a:fld>
            <a:endParaRPr lang="vi-V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05213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 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.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vi-VN" dirty="0"/>
              <a:t>đọ</a:t>
            </a:r>
            <a:r>
              <a:rPr lang="en-US" dirty="0"/>
              <a:t>c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vi-VN" dirty="0"/>
              <a:t>đó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1 </a:t>
            </a:r>
            <a:r>
              <a:rPr lang="vi-VN" dirty="0"/>
              <a:t>đế</a:t>
            </a:r>
            <a:r>
              <a:rPr lang="en-US" dirty="0"/>
              <a:t>n 9, ng</a:t>
            </a:r>
            <a:r>
              <a:rPr lang="vi-VN" dirty="0"/>
              <a:t>ượ</a:t>
            </a:r>
            <a:r>
              <a:rPr lang="en-US" dirty="0"/>
              <a:t>c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vi-VN" dirty="0"/>
              <a:t>đọ</a:t>
            </a:r>
            <a:r>
              <a:rPr lang="en-US" dirty="0"/>
              <a:t>c </a:t>
            </a:r>
            <a:r>
              <a:rPr lang="vi-VN" dirty="0"/>
              <a:t>đượ</a:t>
            </a:r>
            <a:r>
              <a:rPr lang="en-US" dirty="0"/>
              <a:t>c.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ườ</a:t>
            </a:r>
            <a:r>
              <a:rPr lang="en-US" dirty="0"/>
              <a:t>ng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vi-VN" dirty="0"/>
              <a:t>đổ</a:t>
            </a:r>
            <a:r>
              <a:rPr lang="en-US" dirty="0" err="1"/>
              <a:t>i</a:t>
            </a:r>
            <a:r>
              <a:rPr lang="en-US" dirty="0"/>
              <a:t> sang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, ng</a:t>
            </a:r>
            <a:r>
              <a:rPr lang="vi-VN" dirty="0"/>
              <a:t>ượ</a:t>
            </a:r>
            <a:r>
              <a:rPr lang="en-US" dirty="0"/>
              <a:t>c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vi-VN" dirty="0"/>
              <a:t>đổ</a:t>
            </a:r>
            <a:r>
              <a:rPr lang="en-US" dirty="0" err="1"/>
              <a:t>i</a:t>
            </a:r>
            <a:r>
              <a:rPr lang="en-US" dirty="0"/>
              <a:t> sang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ườ</a:t>
            </a:r>
            <a:r>
              <a:rPr lang="en-US" dirty="0"/>
              <a:t>ng.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</a:t>
            </a:r>
            <a:r>
              <a:rPr lang="vi-VN" dirty="0"/>
              <a:t>ươ</a:t>
            </a:r>
            <a:r>
              <a:rPr lang="en-US" dirty="0"/>
              <a:t>ng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ax + b = 0.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pc="-100" dirty="0" err="1"/>
              <a:t>Giải</a:t>
            </a:r>
            <a:r>
              <a:rPr lang="en-US" spc="-100" dirty="0"/>
              <a:t> </a:t>
            </a:r>
            <a:r>
              <a:rPr lang="en-US" spc="-100" dirty="0" err="1"/>
              <a:t>ph</a:t>
            </a:r>
            <a:r>
              <a:rPr lang="vi-VN" spc="-100" dirty="0"/>
              <a:t>ươ</a:t>
            </a:r>
            <a:r>
              <a:rPr lang="en-US" spc="-100" dirty="0"/>
              <a:t>ng </a:t>
            </a:r>
            <a:r>
              <a:rPr lang="en-US" spc="-100" dirty="0" err="1"/>
              <a:t>trình</a:t>
            </a:r>
            <a:r>
              <a:rPr lang="en-US" spc="-100" dirty="0"/>
              <a:t> </a:t>
            </a:r>
            <a:r>
              <a:rPr lang="en-US" spc="-100" dirty="0" err="1"/>
              <a:t>bậc</a:t>
            </a:r>
            <a:r>
              <a:rPr lang="en-US" spc="-100" dirty="0"/>
              <a:t> </a:t>
            </a:r>
            <a:r>
              <a:rPr lang="en-US" spc="-100" dirty="0" err="1"/>
              <a:t>hai</a:t>
            </a:r>
            <a:r>
              <a:rPr lang="en-US" spc="-100" dirty="0"/>
              <a:t> ax</a:t>
            </a:r>
            <a:r>
              <a:rPr lang="en-US" spc="-100" baseline="30000" dirty="0"/>
              <a:t>2</a:t>
            </a:r>
            <a:r>
              <a:rPr lang="en-US" spc="-100" dirty="0"/>
              <a:t> + bx + c = 0.</a:t>
            </a:r>
          </a:p>
        </p:txBody>
      </p:sp>
      <p:pic>
        <p:nvPicPr>
          <p:cNvPr id="36869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0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1447800"/>
            <a:ext cx="4079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1" name="Picture 11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819400"/>
            <a:ext cx="4079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2" name="Picture 12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3767138"/>
            <a:ext cx="40798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3" name="Picture 13" descr="question_pop_up_from_box_rotate_hg_clr">
            <a:hlinkClick r:id="rId8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4300538"/>
            <a:ext cx="40798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E4DA-2A9F-467A-9ABF-FFFA8BEAE20B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506074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4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a, b, c </a:t>
            </a:r>
            <a:r>
              <a:rPr lang="en-US" spc="-100" dirty="0" err="1"/>
              <a:t>và</a:t>
            </a:r>
            <a:r>
              <a:rPr lang="en-US" spc="-100" dirty="0"/>
              <a:t> d. </a:t>
            </a:r>
            <a:r>
              <a:rPr lang="en-US" spc="-100" dirty="0" err="1"/>
              <a:t>Tìm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có</a:t>
            </a:r>
            <a:r>
              <a:rPr lang="en-US" spc="-100" dirty="0"/>
              <a:t> </a:t>
            </a:r>
            <a:r>
              <a:rPr lang="en-US" spc="-100" dirty="0" err="1"/>
              <a:t>giá</a:t>
            </a:r>
            <a:r>
              <a:rPr lang="en-US" spc="-100" dirty="0"/>
              <a:t> </a:t>
            </a:r>
            <a:r>
              <a:rPr lang="en-US" spc="-100" dirty="0" err="1"/>
              <a:t>trị</a:t>
            </a:r>
            <a:r>
              <a:rPr lang="en-US" spc="-100" dirty="0"/>
              <a:t> </a:t>
            </a:r>
            <a:r>
              <a:rPr lang="en-US" spc="-100" dirty="0" err="1"/>
              <a:t>nhỏ</a:t>
            </a:r>
            <a:r>
              <a:rPr lang="en-US" spc="-100" dirty="0"/>
              <a:t> </a:t>
            </a:r>
            <a:r>
              <a:rPr lang="en-US" spc="-100" dirty="0" err="1"/>
              <a:t>nhất</a:t>
            </a:r>
            <a:r>
              <a:rPr lang="en-US" spc="-100" dirty="0"/>
              <a:t> (min). 9 7 4 8</a:t>
            </a:r>
          </a:p>
          <a:p>
            <a:pPr marL="514350" indent="-514350">
              <a:buFont typeface="+mj-lt"/>
              <a:buAutoNum type="arabicPeriod" startAt="5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4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a, b, c </a:t>
            </a:r>
            <a:r>
              <a:rPr lang="en-US" spc="-100" dirty="0" err="1"/>
              <a:t>và</a:t>
            </a:r>
            <a:r>
              <a:rPr lang="en-US" spc="-100" dirty="0"/>
              <a:t> d. </a:t>
            </a:r>
            <a:r>
              <a:rPr lang="en-US" spc="-100" dirty="0" err="1"/>
              <a:t>Hãy</a:t>
            </a:r>
            <a:r>
              <a:rPr lang="en-US" spc="-100" dirty="0"/>
              <a:t> </a:t>
            </a:r>
            <a:r>
              <a:rPr lang="en-US" spc="-100" dirty="0" err="1"/>
              <a:t>sắp</a:t>
            </a:r>
            <a:r>
              <a:rPr lang="en-US" spc="-100" dirty="0"/>
              <a:t> </a:t>
            </a:r>
            <a:r>
              <a:rPr lang="en-US" spc="-100" dirty="0" err="1"/>
              <a:t>xếp</a:t>
            </a:r>
            <a:r>
              <a:rPr lang="en-US" spc="-100" dirty="0"/>
              <a:t> </a:t>
            </a:r>
            <a:r>
              <a:rPr lang="en-US" spc="-100" dirty="0" err="1"/>
              <a:t>giá</a:t>
            </a:r>
            <a:r>
              <a:rPr lang="en-US" spc="-100" dirty="0"/>
              <a:t> </a:t>
            </a:r>
            <a:r>
              <a:rPr lang="en-US" spc="-100" dirty="0" err="1"/>
              <a:t>trị</a:t>
            </a:r>
            <a:r>
              <a:rPr lang="en-US" spc="-100" dirty="0"/>
              <a:t> </a:t>
            </a:r>
            <a:r>
              <a:rPr lang="en-US" spc="-100" dirty="0" err="1"/>
              <a:t>của</a:t>
            </a:r>
            <a:r>
              <a:rPr lang="en-US" spc="-100" dirty="0"/>
              <a:t> 4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</a:t>
            </a:r>
            <a:r>
              <a:rPr lang="en-US" spc="-100" dirty="0" err="1"/>
              <a:t>này</a:t>
            </a:r>
            <a:r>
              <a:rPr lang="en-US" spc="-100" dirty="0"/>
              <a:t> </a:t>
            </a:r>
            <a:r>
              <a:rPr lang="en-US" spc="-100" dirty="0" err="1"/>
              <a:t>theo</a:t>
            </a:r>
            <a:r>
              <a:rPr lang="en-US" spc="-100" dirty="0"/>
              <a:t> </a:t>
            </a:r>
            <a:r>
              <a:rPr lang="en-US" spc="-100" dirty="0" err="1"/>
              <a:t>thứ</a:t>
            </a:r>
            <a:r>
              <a:rPr lang="en-US" spc="-100" dirty="0"/>
              <a:t> </a:t>
            </a:r>
            <a:r>
              <a:rPr lang="en-US" spc="-100" dirty="0" err="1"/>
              <a:t>tự</a:t>
            </a:r>
            <a:r>
              <a:rPr lang="en-US" spc="-100" dirty="0"/>
              <a:t> t</a:t>
            </a:r>
            <a:r>
              <a:rPr lang="vi-VN" spc="-100" dirty="0"/>
              <a:t>ă</a:t>
            </a:r>
            <a:r>
              <a:rPr lang="en-US" spc="-100" dirty="0"/>
              <a:t>ng </a:t>
            </a:r>
            <a:r>
              <a:rPr lang="en-US" spc="-100" dirty="0" err="1"/>
              <a:t>dần</a:t>
            </a:r>
            <a:r>
              <a:rPr lang="en-US" spc="-100" dirty="0"/>
              <a:t>.</a:t>
            </a:r>
          </a:p>
          <a:p>
            <a:pPr marL="514350" indent="-514350">
              <a:buFont typeface="+mj-lt"/>
              <a:buAutoNum type="arabicPeriod" startAt="5"/>
              <a:defRPr/>
            </a:pPr>
            <a:r>
              <a:rPr lang="en-US" spc="-100" dirty="0" err="1"/>
              <a:t>Tính</a:t>
            </a:r>
            <a:r>
              <a:rPr lang="en-US" spc="-100" dirty="0"/>
              <a:t> </a:t>
            </a:r>
            <a:r>
              <a:rPr lang="en-US" spc="-100" dirty="0" err="1"/>
              <a:t>tiền</a:t>
            </a:r>
            <a:r>
              <a:rPr lang="en-US" spc="-100" dirty="0"/>
              <a:t> </a:t>
            </a:r>
            <a:r>
              <a:rPr lang="vi-VN" spc="-100" dirty="0"/>
              <a:t>đ</a:t>
            </a:r>
            <a:r>
              <a:rPr lang="en-US" spc="-100" dirty="0" err="1"/>
              <a:t>i</a:t>
            </a:r>
            <a:r>
              <a:rPr lang="en-US" spc="-100" dirty="0"/>
              <a:t> taxi </a:t>
            </a:r>
            <a:r>
              <a:rPr lang="en-US" spc="-100" dirty="0" err="1"/>
              <a:t>từ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km </a:t>
            </a:r>
            <a:r>
              <a:rPr lang="en-US" spc="-100" dirty="0" err="1"/>
              <a:t>nhập</a:t>
            </a:r>
            <a:r>
              <a:rPr lang="en-US" spc="-100" dirty="0"/>
              <a:t> </a:t>
            </a:r>
            <a:r>
              <a:rPr lang="en-US" spc="-100" dirty="0" err="1"/>
              <a:t>vào</a:t>
            </a:r>
            <a:r>
              <a:rPr lang="en-US" spc="-100" dirty="0"/>
              <a:t>. </a:t>
            </a:r>
            <a:r>
              <a:rPr lang="en-US" spc="-100" dirty="0" err="1"/>
              <a:t>Biết</a:t>
            </a:r>
            <a:r>
              <a:rPr lang="en-US" spc="-100" dirty="0"/>
              <a:t>: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/>
              <a:t>1 km </a:t>
            </a:r>
            <a:r>
              <a:rPr lang="vi-VN" spc="-100" dirty="0"/>
              <a:t>đầ</a:t>
            </a:r>
            <a:r>
              <a:rPr lang="en-US" spc="-100" dirty="0"/>
              <a:t>u </a:t>
            </a:r>
            <a:r>
              <a:rPr lang="en-US" spc="-100" dirty="0" err="1"/>
              <a:t>giá</a:t>
            </a:r>
            <a:r>
              <a:rPr lang="en-US" spc="-100" dirty="0"/>
              <a:t> 15000</a:t>
            </a:r>
            <a:r>
              <a:rPr lang="vi-VN" spc="-100" dirty="0"/>
              <a:t>đ</a:t>
            </a:r>
            <a:endParaRPr lang="en-US" spc="-100" dirty="0"/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 err="1"/>
              <a:t>Từ</a:t>
            </a:r>
            <a:r>
              <a:rPr lang="en-US" spc="-100" dirty="0"/>
              <a:t> km </a:t>
            </a:r>
            <a:r>
              <a:rPr lang="en-US" spc="-100" dirty="0" err="1"/>
              <a:t>thứ</a:t>
            </a:r>
            <a:r>
              <a:rPr lang="en-US" spc="-100" dirty="0"/>
              <a:t> 2 </a:t>
            </a:r>
            <a:r>
              <a:rPr lang="vi-VN" spc="-100" dirty="0"/>
              <a:t>đế</a:t>
            </a:r>
            <a:r>
              <a:rPr lang="en-US" spc="-100" dirty="0"/>
              <a:t>n km </a:t>
            </a:r>
            <a:r>
              <a:rPr lang="en-US" spc="-100" dirty="0" err="1"/>
              <a:t>thứ</a:t>
            </a:r>
            <a:r>
              <a:rPr lang="en-US" spc="-100" dirty="0"/>
              <a:t> 5 </a:t>
            </a:r>
            <a:r>
              <a:rPr lang="en-US" spc="-100" dirty="0" err="1"/>
              <a:t>giá</a:t>
            </a:r>
            <a:r>
              <a:rPr lang="en-US" spc="-100" dirty="0"/>
              <a:t> 13500</a:t>
            </a:r>
            <a:r>
              <a:rPr lang="vi-VN" spc="-100" dirty="0"/>
              <a:t>đ</a:t>
            </a:r>
            <a:endParaRPr lang="en-US" spc="-100" dirty="0"/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 err="1"/>
              <a:t>Từ</a:t>
            </a:r>
            <a:r>
              <a:rPr lang="en-US" spc="-100" dirty="0"/>
              <a:t> km </a:t>
            </a:r>
            <a:r>
              <a:rPr lang="en-US" spc="-100" dirty="0" err="1"/>
              <a:t>thứ</a:t>
            </a:r>
            <a:r>
              <a:rPr lang="en-US" spc="-100" dirty="0"/>
              <a:t> 6 </a:t>
            </a:r>
            <a:r>
              <a:rPr lang="en-US" spc="-100" dirty="0" err="1"/>
              <a:t>trở</a:t>
            </a:r>
            <a:r>
              <a:rPr lang="en-US" spc="-100" dirty="0"/>
              <a:t> </a:t>
            </a:r>
            <a:r>
              <a:rPr lang="vi-VN" spc="-100" dirty="0"/>
              <a:t>đ</a:t>
            </a:r>
            <a:r>
              <a:rPr lang="en-US" spc="-100" dirty="0" err="1"/>
              <a:t>i</a:t>
            </a:r>
            <a:r>
              <a:rPr lang="en-US" spc="-100" dirty="0"/>
              <a:t> </a:t>
            </a:r>
            <a:r>
              <a:rPr lang="en-US" spc="-100" dirty="0" err="1"/>
              <a:t>giá</a:t>
            </a:r>
            <a:r>
              <a:rPr lang="en-US" spc="-100" dirty="0"/>
              <a:t> 11000</a:t>
            </a:r>
            <a:r>
              <a:rPr lang="vi-VN" spc="-100" dirty="0"/>
              <a:t>đ</a:t>
            </a:r>
            <a:endParaRPr lang="en-US" spc="-100" dirty="0"/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 err="1"/>
              <a:t>Nếu</a:t>
            </a:r>
            <a:r>
              <a:rPr lang="en-US" spc="-100" dirty="0"/>
              <a:t> </a:t>
            </a:r>
            <a:r>
              <a:rPr lang="en-US" spc="-100" dirty="0" err="1"/>
              <a:t>trên</a:t>
            </a:r>
            <a:r>
              <a:rPr lang="en-US" spc="-100" dirty="0"/>
              <a:t> 120km </a:t>
            </a:r>
            <a:r>
              <a:rPr lang="vi-VN" spc="-100" dirty="0"/>
              <a:t>đượ</a:t>
            </a:r>
            <a:r>
              <a:rPr lang="en-US" spc="-100" dirty="0"/>
              <a:t>c </a:t>
            </a:r>
            <a:r>
              <a:rPr lang="en-US" spc="-100" dirty="0" err="1"/>
              <a:t>giảm</a:t>
            </a:r>
            <a:r>
              <a:rPr lang="en-US" spc="-100" dirty="0"/>
              <a:t> 10% </a:t>
            </a:r>
            <a:r>
              <a:rPr lang="en-US" spc="-100" dirty="0" err="1"/>
              <a:t>tổng</a:t>
            </a:r>
            <a:r>
              <a:rPr lang="en-US" spc="-100" dirty="0"/>
              <a:t> </a:t>
            </a:r>
            <a:r>
              <a:rPr lang="en-US" spc="-100" dirty="0" err="1"/>
              <a:t>tiền</a:t>
            </a:r>
            <a:r>
              <a:rPr lang="en-US" spc="-100" dirty="0"/>
              <a:t>.</a:t>
            </a:r>
          </a:p>
        </p:txBody>
      </p:sp>
      <p:pic>
        <p:nvPicPr>
          <p:cNvPr id="37893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4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1447800"/>
            <a:ext cx="4079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5" name="Picture 11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438400"/>
            <a:ext cx="4079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6" name="Picture 12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3386138"/>
            <a:ext cx="40798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0D6B-7CEB-4C42-A619-E1DAE7FD439D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402310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8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</a:t>
            </a:r>
            <a:r>
              <a:rPr lang="en-US" spc="-100" dirty="0" err="1"/>
              <a:t>vào</a:t>
            </a:r>
            <a:r>
              <a:rPr lang="en-US" spc="-100" dirty="0"/>
              <a:t> </a:t>
            </a:r>
            <a:r>
              <a:rPr lang="en-US" spc="-100" dirty="0" err="1"/>
              <a:t>tháng</a:t>
            </a:r>
            <a:r>
              <a:rPr lang="en-US" spc="-100" dirty="0"/>
              <a:t> </a:t>
            </a:r>
            <a:r>
              <a:rPr lang="en-US" spc="-100" dirty="0" err="1"/>
              <a:t>và</a:t>
            </a:r>
            <a:r>
              <a:rPr lang="en-US" spc="-100" dirty="0"/>
              <a:t> n</a:t>
            </a:r>
            <a:r>
              <a:rPr lang="vi-VN" spc="-100" dirty="0"/>
              <a:t>ă</a:t>
            </a:r>
            <a:r>
              <a:rPr lang="en-US" spc="-100" dirty="0"/>
              <a:t>m. Cho </a:t>
            </a:r>
            <a:r>
              <a:rPr lang="en-US" spc="-100" dirty="0" err="1"/>
              <a:t>biết</a:t>
            </a:r>
            <a:r>
              <a:rPr lang="en-US" spc="-100" dirty="0"/>
              <a:t> </a:t>
            </a:r>
            <a:r>
              <a:rPr lang="en-US" spc="-100" dirty="0" err="1"/>
              <a:t>tháng</a:t>
            </a:r>
            <a:r>
              <a:rPr lang="en-US" spc="-100" dirty="0"/>
              <a:t> </a:t>
            </a:r>
            <a:r>
              <a:rPr lang="vi-VN" spc="-100" dirty="0"/>
              <a:t>đó</a:t>
            </a:r>
            <a:r>
              <a:rPr lang="en-US" spc="-100" dirty="0"/>
              <a:t> </a:t>
            </a:r>
            <a:r>
              <a:rPr lang="en-US" spc="-100" dirty="0" err="1"/>
              <a:t>có</a:t>
            </a:r>
            <a:r>
              <a:rPr lang="en-US" spc="-100" dirty="0"/>
              <a:t> bao </a:t>
            </a:r>
            <a:r>
              <a:rPr lang="en-US" spc="-100" dirty="0" err="1"/>
              <a:t>nhiêu</a:t>
            </a:r>
            <a:r>
              <a:rPr lang="en-US" spc="-100" dirty="0"/>
              <a:t> </a:t>
            </a:r>
            <a:r>
              <a:rPr lang="en-US" spc="-100" dirty="0" err="1"/>
              <a:t>ngày</a:t>
            </a:r>
            <a:r>
              <a:rPr lang="en-US" spc="-100" dirty="0"/>
              <a:t>.</a:t>
            </a:r>
          </a:p>
          <a:p>
            <a:pPr marL="514350" indent="-514350">
              <a:buFont typeface="+mj-lt"/>
              <a:buAutoNum type="arabicPeriod" startAt="8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</a:t>
            </a:r>
            <a:r>
              <a:rPr lang="vi-VN" spc="-100" dirty="0"/>
              <a:t>độ</a:t>
            </a:r>
            <a:r>
              <a:rPr lang="en-US" spc="-100" dirty="0"/>
              <a:t> </a:t>
            </a:r>
            <a:r>
              <a:rPr lang="en-US" spc="-100" dirty="0" err="1"/>
              <a:t>dài</a:t>
            </a:r>
            <a:r>
              <a:rPr lang="en-US" spc="-100" dirty="0"/>
              <a:t> 3 </a:t>
            </a:r>
            <a:r>
              <a:rPr lang="en-US" spc="-100" dirty="0" err="1"/>
              <a:t>cạnh</a:t>
            </a:r>
            <a:r>
              <a:rPr lang="en-US" spc="-100" dirty="0"/>
              <a:t> 1 tam </a:t>
            </a:r>
            <a:r>
              <a:rPr lang="en-US" spc="-100" dirty="0" err="1"/>
              <a:t>giác</a:t>
            </a:r>
            <a:r>
              <a:rPr lang="en-US" spc="-100" dirty="0"/>
              <a:t>. </a:t>
            </a:r>
            <a:r>
              <a:rPr lang="en-US" spc="-100" dirty="0" err="1"/>
              <a:t>Kiểm</a:t>
            </a:r>
            <a:r>
              <a:rPr lang="en-US" spc="-100" dirty="0"/>
              <a:t> </a:t>
            </a:r>
            <a:r>
              <a:rPr lang="en-US" spc="-100" dirty="0" err="1"/>
              <a:t>tra</a:t>
            </a:r>
            <a:r>
              <a:rPr lang="en-US" spc="-100" dirty="0"/>
              <a:t> </a:t>
            </a:r>
            <a:r>
              <a:rPr lang="vi-VN" spc="-100" dirty="0"/>
              <a:t>đó</a:t>
            </a:r>
            <a:r>
              <a:rPr lang="en-US" spc="-100" dirty="0"/>
              <a:t> </a:t>
            </a:r>
            <a:r>
              <a:rPr lang="en-US" spc="-100" dirty="0" err="1"/>
              <a:t>có</a:t>
            </a:r>
            <a:r>
              <a:rPr lang="en-US" spc="-100" dirty="0"/>
              <a:t> </a:t>
            </a:r>
            <a:r>
              <a:rPr lang="en-US" spc="-100" dirty="0" err="1"/>
              <a:t>phải</a:t>
            </a:r>
            <a:r>
              <a:rPr lang="en-US" spc="-100" dirty="0"/>
              <a:t> </a:t>
            </a:r>
            <a:r>
              <a:rPr lang="en-US" spc="-100" dirty="0" err="1"/>
              <a:t>là</a:t>
            </a:r>
            <a:r>
              <a:rPr lang="en-US" spc="-100" dirty="0"/>
              <a:t> tam </a:t>
            </a:r>
            <a:r>
              <a:rPr lang="en-US" spc="-100" dirty="0" err="1"/>
              <a:t>giác</a:t>
            </a:r>
            <a:r>
              <a:rPr lang="en-US" spc="-100" dirty="0"/>
              <a:t> </a:t>
            </a:r>
            <a:r>
              <a:rPr lang="en-US" spc="-100" dirty="0" err="1"/>
              <a:t>không</a:t>
            </a:r>
            <a:r>
              <a:rPr lang="en-US" spc="-100" dirty="0"/>
              <a:t> </a:t>
            </a:r>
            <a:r>
              <a:rPr lang="en-US" spc="-100" dirty="0" err="1"/>
              <a:t>và</a:t>
            </a:r>
            <a:r>
              <a:rPr lang="en-US" spc="-100" dirty="0"/>
              <a:t> </a:t>
            </a:r>
            <a:r>
              <a:rPr lang="en-US" spc="-100" dirty="0" err="1"/>
              <a:t>là</a:t>
            </a:r>
            <a:r>
              <a:rPr lang="en-US" spc="-100" dirty="0"/>
              <a:t> tam </a:t>
            </a:r>
            <a:r>
              <a:rPr lang="en-US" spc="-100" dirty="0" err="1"/>
              <a:t>giác</a:t>
            </a:r>
            <a:r>
              <a:rPr lang="en-US" spc="-100" dirty="0"/>
              <a:t> </a:t>
            </a:r>
            <a:r>
              <a:rPr lang="en-US" spc="-100" dirty="0" err="1"/>
              <a:t>gì</a:t>
            </a:r>
            <a:r>
              <a:rPr lang="en-US" spc="-100" dirty="0"/>
              <a:t>?</a:t>
            </a:r>
          </a:p>
        </p:txBody>
      </p:sp>
      <p:pic>
        <p:nvPicPr>
          <p:cNvPr id="38917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8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1447800"/>
            <a:ext cx="4079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9" name="Picture 8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438400"/>
            <a:ext cx="4079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F3EC4-3562-4A28-A0C3-7F3AA73D0E7B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367476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Cấu trúc lặp</a:t>
            </a:r>
            <a:endParaRPr lang="vi-V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C038-352A-4EB5-9B68-9A5802FBCEBA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grpSp>
        <p:nvGrpSpPr>
          <p:cNvPr id="23" name="Group 46"/>
          <p:cNvGrpSpPr>
            <a:grpSpLocks/>
          </p:cNvGrpSpPr>
          <p:nvPr/>
        </p:nvGrpSpPr>
        <p:grpSpPr bwMode="auto">
          <a:xfrm>
            <a:off x="2133600" y="2455168"/>
            <a:ext cx="5174704" cy="685800"/>
            <a:chOff x="1296" y="1824"/>
            <a:chExt cx="2976" cy="432"/>
          </a:xfrm>
        </p:grpSpPr>
        <p:sp>
          <p:nvSpPr>
            <p:cNvPr id="24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5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6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eaLnBrk="0" hangingPunct="0"/>
              <a:r>
                <a:rPr lang="en-US" b="1" kern="0">
                  <a:solidFill>
                    <a:srgbClr val="000000"/>
                  </a:solidFill>
                </a:rPr>
                <a:t>Vòng lặp không xác định while</a:t>
              </a:r>
            </a:p>
          </p:txBody>
        </p:sp>
        <p:sp>
          <p:nvSpPr>
            <p:cNvPr id="27" name="Text Box 50"/>
            <p:cNvSpPr txBox="1">
              <a:spLocks noChangeArrowheads="1"/>
            </p:cNvSpPr>
            <p:nvPr/>
          </p:nvSpPr>
          <p:spPr bwMode="gray">
            <a:xfrm>
              <a:off x="1402" y="1886"/>
              <a:ext cx="205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kern="0">
                  <a:solidFill>
                    <a:srgbClr val="FFFFFF"/>
                  </a:solidFill>
                </a:rPr>
                <a:t>2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8" name="Group 51"/>
          <p:cNvGrpSpPr>
            <a:grpSpLocks/>
          </p:cNvGrpSpPr>
          <p:nvPr/>
        </p:nvGrpSpPr>
        <p:grpSpPr bwMode="auto">
          <a:xfrm>
            <a:off x="2121117" y="1591072"/>
            <a:ext cx="5174704" cy="685800"/>
            <a:chOff x="1296" y="1824"/>
            <a:chExt cx="2976" cy="432"/>
          </a:xfrm>
        </p:grpSpPr>
        <p:sp>
          <p:nvSpPr>
            <p:cNvPr id="29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0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1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b="1" kern="0">
                  <a:solidFill>
                    <a:srgbClr val="000000"/>
                  </a:solidFill>
                </a:rPr>
                <a:t>Vòng lặp xác định for</a:t>
              </a:r>
            </a:p>
          </p:txBody>
        </p:sp>
        <p:sp>
          <p:nvSpPr>
            <p:cNvPr id="32" name="Text Box 55"/>
            <p:cNvSpPr txBox="1">
              <a:spLocks noChangeArrowheads="1"/>
            </p:cNvSpPr>
            <p:nvPr/>
          </p:nvSpPr>
          <p:spPr bwMode="gray">
            <a:xfrm>
              <a:off x="1402" y="1886"/>
              <a:ext cx="205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33" name="Group 56"/>
          <p:cNvGrpSpPr>
            <a:grpSpLocks/>
          </p:cNvGrpSpPr>
          <p:nvPr/>
        </p:nvGrpSpPr>
        <p:grpSpPr bwMode="auto">
          <a:xfrm>
            <a:off x="2133600" y="3267472"/>
            <a:ext cx="5174704" cy="685800"/>
            <a:chOff x="1296" y="1824"/>
            <a:chExt cx="2976" cy="432"/>
          </a:xfrm>
        </p:grpSpPr>
        <p:sp>
          <p:nvSpPr>
            <p:cNvPr id="34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5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6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b="1" kern="0">
                  <a:solidFill>
                    <a:srgbClr val="000000"/>
                  </a:solidFill>
                </a:rPr>
                <a:t>Vòng lặp không xác định do…while</a:t>
              </a:r>
            </a:p>
          </p:txBody>
        </p:sp>
        <p:sp>
          <p:nvSpPr>
            <p:cNvPr id="37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grpSp>
        <p:nvGrpSpPr>
          <p:cNvPr id="38" name="Group 61"/>
          <p:cNvGrpSpPr>
            <a:grpSpLocks/>
          </p:cNvGrpSpPr>
          <p:nvPr/>
        </p:nvGrpSpPr>
        <p:grpSpPr bwMode="auto">
          <a:xfrm>
            <a:off x="2133600" y="4111352"/>
            <a:ext cx="5174704" cy="685800"/>
            <a:chOff x="1296" y="1824"/>
            <a:chExt cx="2976" cy="432"/>
          </a:xfrm>
        </p:grpSpPr>
        <p:sp>
          <p:nvSpPr>
            <p:cNvPr id="39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0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1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Một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số lưu ý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grpSp>
        <p:nvGrpSpPr>
          <p:cNvPr id="48" name="Group 61"/>
          <p:cNvGrpSpPr>
            <a:grpSpLocks/>
          </p:cNvGrpSpPr>
          <p:nvPr/>
        </p:nvGrpSpPr>
        <p:grpSpPr bwMode="auto">
          <a:xfrm>
            <a:off x="2123728" y="5047456"/>
            <a:ext cx="5184576" cy="685800"/>
            <a:chOff x="1296" y="1824"/>
            <a:chExt cx="2976" cy="432"/>
          </a:xfrm>
        </p:grpSpPr>
        <p:sp>
          <p:nvSpPr>
            <p:cNvPr id="49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b="1">
                  <a:solidFill>
                    <a:srgbClr val="000000"/>
                  </a:solidFill>
                </a:rPr>
                <a:t>Bài tập thực hành</a:t>
              </a:r>
            </a:p>
          </p:txBody>
        </p:sp>
        <p:sp>
          <p:nvSpPr>
            <p:cNvPr id="52" name="Text Box 65"/>
            <p:cNvSpPr txBox="1">
              <a:spLocks noChangeArrowheads="1"/>
            </p:cNvSpPr>
            <p:nvPr/>
          </p:nvSpPr>
          <p:spPr bwMode="gray">
            <a:xfrm>
              <a:off x="1402" y="1886"/>
              <a:ext cx="204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0422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Đặt vấn đề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756" y="2393524"/>
            <a:ext cx="7924800" cy="3903712"/>
          </a:xfrm>
        </p:spPr>
        <p:txBody>
          <a:bodyPr/>
          <a:lstStyle/>
          <a:p>
            <a:pPr marL="0" indent="442913">
              <a:buNone/>
            </a:pPr>
            <a:r>
              <a:rPr lang="en-US" b="1">
                <a:solidFill>
                  <a:srgbClr val="0000FF"/>
                </a:solidFill>
              </a:rPr>
              <a:t>Bài toán 1</a:t>
            </a:r>
            <a:r>
              <a:rPr lang="en-US"/>
              <a:t>. </a:t>
            </a:r>
            <a:r>
              <a:rPr lang="en-US" b="1">
                <a:solidFill>
                  <a:srgbClr val="FF0000"/>
                </a:solidFill>
              </a:rPr>
              <a:t>Bài toán gửi tiền tiết kiệm 1</a:t>
            </a:r>
          </a:p>
          <a:p>
            <a:pPr marL="0" indent="442913">
              <a:buNone/>
            </a:pPr>
            <a:r>
              <a:rPr lang="en-US"/>
              <a:t>Một người có một khoản tiền là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, đem gửi vào ngân hàng với lãi suất </a:t>
            </a:r>
            <a:r>
              <a:rPr lang="en-US">
                <a:solidFill>
                  <a:srgbClr val="FF0000"/>
                </a:solidFill>
              </a:rPr>
              <a:t>k </a:t>
            </a:r>
            <a:r>
              <a:rPr lang="en-US"/>
              <a:t>mỗi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tháng, sau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tháng người đó sẽ </a:t>
            </a:r>
            <a:r>
              <a:rPr lang="en-US">
                <a:solidFill>
                  <a:srgbClr val="0000FF"/>
                </a:solidFill>
              </a:rPr>
              <a:t>có được bao nhiêu tiền</a:t>
            </a:r>
            <a:r>
              <a:rPr lang="en-US"/>
              <a:t>?</a:t>
            </a:r>
          </a:p>
          <a:p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8AD6-A659-4155-B0D1-0DEC70017A70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pic>
        <p:nvPicPr>
          <p:cNvPr id="8" name="Picture 4" descr="question_pop_up_from_box_hg_clr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64288" y="116632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964769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Đặt vấn đề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Ví dụ:</a:t>
            </a:r>
          </a:p>
          <a:p>
            <a:pPr marL="438150" lvl="1" indent="0">
              <a:buNone/>
            </a:pPr>
            <a:r>
              <a:rPr lang="en-US"/>
              <a:t>Số tiền gốc: 100</a:t>
            </a:r>
          </a:p>
          <a:p>
            <a:pPr marL="438150" lvl="1" indent="0">
              <a:buNone/>
            </a:pPr>
            <a:r>
              <a:rPr lang="en-US"/>
              <a:t>Lãi suất tháng: 1%</a:t>
            </a:r>
          </a:p>
          <a:p>
            <a:pPr marL="438150" lvl="1" indent="0">
              <a:buNone/>
            </a:pPr>
            <a:r>
              <a:rPr lang="en-US"/>
              <a:t>Số tháng gửi: 3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F574-3C7B-457C-90FB-551E869DD424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576" y="4077072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Tiền gốc</a:t>
            </a:r>
            <a:endParaRPr lang="vi-VN" sz="2400" b="1"/>
          </a:p>
        </p:txBody>
      </p:sp>
      <p:sp>
        <p:nvSpPr>
          <p:cNvPr id="9" name="Rectangle 8"/>
          <p:cNvSpPr/>
          <p:nvPr/>
        </p:nvSpPr>
        <p:spPr>
          <a:xfrm>
            <a:off x="755576" y="4653136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Tiền lãi</a:t>
            </a:r>
            <a:endParaRPr lang="vi-VN" sz="2400" b="1"/>
          </a:p>
        </p:txBody>
      </p:sp>
      <p:sp>
        <p:nvSpPr>
          <p:cNvPr id="10" name="Rectangle 9"/>
          <p:cNvSpPr/>
          <p:nvPr/>
        </p:nvSpPr>
        <p:spPr>
          <a:xfrm>
            <a:off x="2339752" y="4077072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100</a:t>
            </a:r>
            <a:endParaRPr lang="vi-VN" sz="2400" b="1"/>
          </a:p>
        </p:txBody>
      </p:sp>
      <p:sp>
        <p:nvSpPr>
          <p:cNvPr id="11" name="Rectangle 10"/>
          <p:cNvSpPr/>
          <p:nvPr/>
        </p:nvSpPr>
        <p:spPr>
          <a:xfrm>
            <a:off x="3923928" y="3501008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 tháng</a:t>
            </a:r>
            <a:endParaRPr lang="vi-VN" sz="2400" b="1"/>
          </a:p>
        </p:txBody>
      </p:sp>
      <p:sp>
        <p:nvSpPr>
          <p:cNvPr id="12" name="Rectangle 11"/>
          <p:cNvSpPr/>
          <p:nvPr/>
        </p:nvSpPr>
        <p:spPr>
          <a:xfrm>
            <a:off x="5508104" y="3501008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2 tháng</a:t>
            </a:r>
            <a:endParaRPr lang="vi-VN" sz="2400" b="1"/>
          </a:p>
        </p:txBody>
      </p:sp>
      <p:sp>
        <p:nvSpPr>
          <p:cNvPr id="13" name="Rectangle 12"/>
          <p:cNvSpPr/>
          <p:nvPr/>
        </p:nvSpPr>
        <p:spPr>
          <a:xfrm>
            <a:off x="7099255" y="3501008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3 tháng</a:t>
            </a:r>
            <a:endParaRPr lang="vi-VN" sz="2400" b="1"/>
          </a:p>
        </p:txBody>
      </p:sp>
      <p:sp>
        <p:nvSpPr>
          <p:cNvPr id="14" name="Rectangle 13"/>
          <p:cNvSpPr/>
          <p:nvPr/>
        </p:nvSpPr>
        <p:spPr>
          <a:xfrm>
            <a:off x="3918706" y="4653136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</a:t>
            </a:r>
            <a:endParaRPr lang="vi-VN" sz="2400" b="1"/>
          </a:p>
        </p:txBody>
      </p:sp>
      <p:sp>
        <p:nvSpPr>
          <p:cNvPr id="15" name="Rectangle 14"/>
          <p:cNvSpPr/>
          <p:nvPr/>
        </p:nvSpPr>
        <p:spPr>
          <a:xfrm>
            <a:off x="5508104" y="4653136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1,01</a:t>
            </a:r>
            <a:endParaRPr lang="vi-VN" sz="2400" b="1"/>
          </a:p>
        </p:txBody>
      </p:sp>
      <p:sp>
        <p:nvSpPr>
          <p:cNvPr id="16" name="Rectangle 15"/>
          <p:cNvSpPr/>
          <p:nvPr/>
        </p:nvSpPr>
        <p:spPr>
          <a:xfrm>
            <a:off x="7092280" y="4653136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1,0201</a:t>
            </a:r>
            <a:endParaRPr lang="vi-VN" sz="2400" b="1"/>
          </a:p>
        </p:txBody>
      </p:sp>
      <p:sp>
        <p:nvSpPr>
          <p:cNvPr id="17" name="Rectangle 16"/>
          <p:cNvSpPr/>
          <p:nvPr/>
        </p:nvSpPr>
        <p:spPr>
          <a:xfrm>
            <a:off x="3923928" y="4077072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101</a:t>
            </a:r>
            <a:endParaRPr lang="vi-VN" sz="2400" b="1"/>
          </a:p>
        </p:txBody>
      </p:sp>
      <p:sp>
        <p:nvSpPr>
          <p:cNvPr id="18" name="Rectangle 17"/>
          <p:cNvSpPr/>
          <p:nvPr/>
        </p:nvSpPr>
        <p:spPr>
          <a:xfrm>
            <a:off x="5513326" y="4077072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102,01</a:t>
            </a:r>
            <a:endParaRPr lang="vi-VN" sz="2400" b="1"/>
          </a:p>
        </p:txBody>
      </p:sp>
      <p:sp>
        <p:nvSpPr>
          <p:cNvPr id="19" name="Rectangle 18"/>
          <p:cNvSpPr/>
          <p:nvPr/>
        </p:nvSpPr>
        <p:spPr>
          <a:xfrm>
            <a:off x="7097502" y="4077072"/>
            <a:ext cx="1584176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/>
              <a:t>103,0301</a:t>
            </a:r>
            <a:endParaRPr lang="vi-VN" sz="2400" b="1"/>
          </a:p>
        </p:txBody>
      </p:sp>
      <p:cxnSp>
        <p:nvCxnSpPr>
          <p:cNvPr id="21" name="Straight Arrow Connector 20"/>
          <p:cNvCxnSpPr>
            <a:stCxn id="10" idx="1"/>
            <a:endCxn id="19" idx="1"/>
          </p:cNvCxnSpPr>
          <p:nvPr/>
        </p:nvCxnSpPr>
        <p:spPr>
          <a:xfrm>
            <a:off x="2339752" y="4365104"/>
            <a:ext cx="475775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72203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59259E-6 L 0.17327 0.00023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0.0007 -0.083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0.00023 L 0.17326 0.0004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7 L -2.5E-6 -0.0838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L 0.17223 0.00069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7037E-7 L 0.00018 -0.0838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Đặt vấn đề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Phân tích bài toán 1:</a:t>
            </a:r>
          </a:p>
          <a:p>
            <a:pPr lvl="1"/>
            <a:r>
              <a:rPr lang="en-US"/>
              <a:t>Số tiền gốc ban đầu là: </a:t>
            </a:r>
            <a:r>
              <a:rPr lang="en-US">
                <a:solidFill>
                  <a:srgbClr val="FF0000"/>
                </a:solidFill>
              </a:rPr>
              <a:t>a</a:t>
            </a:r>
          </a:p>
          <a:p>
            <a:pPr lvl="1"/>
            <a:r>
              <a:rPr lang="en-US"/>
              <a:t>Tiền lãi sau tháng thứ nhất: </a:t>
            </a:r>
            <a:r>
              <a:rPr lang="en-US">
                <a:solidFill>
                  <a:srgbClr val="FF0000"/>
                </a:solidFill>
              </a:rPr>
              <a:t>a*k</a:t>
            </a:r>
          </a:p>
          <a:p>
            <a:pPr lvl="1">
              <a:buFont typeface="Wingdings"/>
              <a:buChar char="è"/>
            </a:pPr>
            <a:r>
              <a:rPr lang="en-US">
                <a:sym typeface="Wingdings" pitchFamily="2" charset="2"/>
              </a:rPr>
              <a:t>Số tiền có được sau tháng thứ nhất: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a + a*k</a:t>
            </a:r>
          </a:p>
          <a:p>
            <a:pPr lvl="1"/>
            <a:r>
              <a:rPr lang="en-US">
                <a:sym typeface="Wingdings" pitchFamily="2" charset="2"/>
              </a:rPr>
              <a:t>Số tiền này lại là số tiền gốc của tháng tiếp theo và cứ như vậy cho các tháng tiếp theo.</a:t>
            </a:r>
          </a:p>
          <a:p>
            <a:pPr lvl="1">
              <a:buFont typeface="Wingdings"/>
              <a:buChar char="è"/>
            </a:pPr>
            <a:r>
              <a:rPr lang="en-US">
                <a:sym typeface="Wingdings" pitchFamily="2" charset="2"/>
              </a:rPr>
              <a:t>Thao tác này được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lặp lại </a:t>
            </a:r>
            <a:r>
              <a:rPr lang="en-US">
                <a:sym typeface="Wingdings" pitchFamily="2" charset="2"/>
              </a:rPr>
              <a:t>cho đến khi đủ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n</a:t>
            </a:r>
            <a:r>
              <a:rPr lang="en-US">
                <a:sym typeface="Wingdings" pitchFamily="2" charset="2"/>
              </a:rPr>
              <a:t> tháng</a:t>
            </a:r>
          </a:p>
          <a:p>
            <a:pPr lvl="1">
              <a:buFont typeface="Wingdings"/>
              <a:buChar char="è"/>
            </a:pPr>
            <a:r>
              <a:rPr lang="en-US">
                <a:sym typeface="Wingdings" pitchFamily="2" charset="2"/>
              </a:rPr>
              <a:t>Số lần lặp là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biết trước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DD15-D4FF-43EF-972E-DE2B0597FBB7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27858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Đặt vấn đề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420888"/>
            <a:ext cx="7924800" cy="3903712"/>
          </a:xfrm>
        </p:spPr>
        <p:txBody>
          <a:bodyPr/>
          <a:lstStyle/>
          <a:p>
            <a:pPr marL="0" indent="354013">
              <a:buNone/>
            </a:pPr>
            <a:r>
              <a:rPr lang="en-US" b="1">
                <a:solidFill>
                  <a:srgbClr val="0000FF"/>
                </a:solidFill>
              </a:rPr>
              <a:t>Bài toán 2. </a:t>
            </a:r>
            <a:r>
              <a:rPr lang="en-US" b="1">
                <a:solidFill>
                  <a:srgbClr val="FF0000"/>
                </a:solidFill>
              </a:rPr>
              <a:t>Bài toán gửi tiền tiết kiệm 2</a:t>
            </a:r>
          </a:p>
          <a:p>
            <a:pPr marL="0" indent="354013">
              <a:buNone/>
            </a:pPr>
            <a:r>
              <a:rPr lang="en-US"/>
              <a:t>Một người có một khoản tiền là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, đem gửi vào ngân hàng với lãi suất </a:t>
            </a:r>
            <a:r>
              <a:rPr lang="en-US">
                <a:solidFill>
                  <a:srgbClr val="FF0000"/>
                </a:solidFill>
              </a:rPr>
              <a:t>k </a:t>
            </a:r>
            <a:r>
              <a:rPr lang="en-US"/>
              <a:t>mỗi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tháng, </a:t>
            </a:r>
            <a:r>
              <a:rPr lang="en-US">
                <a:solidFill>
                  <a:srgbClr val="0000FF"/>
                </a:solidFill>
              </a:rPr>
              <a:t>sau tối thiểu bao nhiêu tháng</a:t>
            </a:r>
            <a:r>
              <a:rPr lang="en-US"/>
              <a:t> người đó sẽ có được số tiền là </a:t>
            </a:r>
            <a:r>
              <a:rPr lang="en-US">
                <a:solidFill>
                  <a:srgbClr val="FF0000"/>
                </a:solidFill>
              </a:rPr>
              <a:t>b</a:t>
            </a:r>
            <a:r>
              <a:rPr lang="en-US"/>
              <a:t> đồng?</a:t>
            </a:r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8842-EEB4-492F-87CE-661EE7DEFB90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pic>
        <p:nvPicPr>
          <p:cNvPr id="10" name="Picture 4" descr="question_pop_up_from_box_hg_clr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64288" y="116632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034354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Đặt vấn đề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Phân tích bài toán 2:</a:t>
            </a:r>
          </a:p>
          <a:p>
            <a:pPr lvl="1"/>
            <a:r>
              <a:rPr lang="en-US"/>
              <a:t>Việc tính tiền lãi hàng tháng vẫn </a:t>
            </a:r>
            <a:r>
              <a:rPr lang="en-US">
                <a:solidFill>
                  <a:srgbClr val="FF0000"/>
                </a:solidFill>
              </a:rPr>
              <a:t>lặp đi lặp lại giống như trong bài toán 1</a:t>
            </a:r>
          </a:p>
          <a:p>
            <a:pPr lvl="1"/>
            <a:r>
              <a:rPr lang="en-US"/>
              <a:t>Thao tác lặp sẽ </a:t>
            </a:r>
            <a:r>
              <a:rPr lang="en-US">
                <a:solidFill>
                  <a:srgbClr val="FF0000"/>
                </a:solidFill>
              </a:rPr>
              <a:t>dừng</a:t>
            </a:r>
            <a:r>
              <a:rPr lang="en-US"/>
              <a:t> khi đạt được số tiền mong muốn.</a:t>
            </a:r>
          </a:p>
          <a:p>
            <a:pPr lvl="1">
              <a:buFont typeface="Wingdings"/>
              <a:buChar char="è"/>
            </a:pPr>
            <a:r>
              <a:rPr lang="en-US">
                <a:sym typeface="Wingdings" pitchFamily="2" charset="2"/>
              </a:rPr>
              <a:t>Số lần lặp là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không</a:t>
            </a:r>
            <a:r>
              <a:rPr lang="en-US">
                <a:sym typeface="Wingdings" pitchFamily="2" charset="2"/>
              </a:rPr>
              <a:t>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biết trước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B779F-A7C4-498E-B22A-F965C8DA61E3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2300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2.1 Vòng lặp xác định for</a:t>
            </a:r>
            <a:endParaRPr lang="vi-VN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07504" y="1143000"/>
            <a:ext cx="8579296" cy="5181600"/>
          </a:xfrm>
        </p:spPr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 err="1">
                <a:solidFill>
                  <a:srgbClr val="FF0000"/>
                </a:solidFill>
              </a:rPr>
              <a:t>Khởi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t</a:t>
            </a:r>
            <a:r>
              <a:rPr lang="en-US" dirty="0" err="1">
                <a:solidFill>
                  <a:srgbClr val="FF0000"/>
                </a:solidFill>
              </a:rPr>
              <a:t>ạo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, </a:t>
            </a:r>
            <a:r>
              <a:rPr lang="en-US" dirty="0">
                <a:solidFill>
                  <a:srgbClr val="002060"/>
                </a:solidFill>
              </a:rPr>
              <a:t>[</a:t>
            </a:r>
            <a:r>
              <a:rPr lang="en-US" dirty="0" err="1">
                <a:solidFill>
                  <a:srgbClr val="002060"/>
                </a:solidFill>
              </a:rPr>
              <a:t>Điều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kiện</a:t>
            </a:r>
            <a:r>
              <a:rPr lang="en-US" dirty="0">
                <a:solidFill>
                  <a:srgbClr val="002060"/>
                </a:solidFill>
              </a:rPr>
              <a:t>]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dirty="0" err="1">
                <a:solidFill>
                  <a:schemeClr val="accent2"/>
                </a:solidFill>
              </a:rPr>
              <a:t>Thay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đổi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điều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kiện</a:t>
            </a:r>
            <a:r>
              <a:rPr lang="en-US" dirty="0">
                <a:solidFill>
                  <a:schemeClr val="accent2"/>
                </a:solidFill>
              </a:rPr>
              <a:t>]: </a:t>
            </a:r>
            <a:r>
              <a:rPr lang="en-US" dirty="0"/>
              <a:t>là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C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endParaRPr lang="en-US" dirty="0"/>
          </a:p>
          <a:p>
            <a:pPr lvl="1">
              <a:defRPr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ea typeface="+mn-ea"/>
              </a:rPr>
              <a:t>&lt;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ea typeface="+mn-ea"/>
              </a:rPr>
              <a:t>Lệnh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ea typeface="+mn-ea"/>
              </a:rPr>
              <a:t>&gt;: </a:t>
            </a:r>
            <a:r>
              <a:rPr lang="vi-VN" dirty="0"/>
              <a:t>lệnh</a:t>
            </a:r>
            <a:r>
              <a:rPr lang="vi-VN" dirty="0">
                <a:solidFill>
                  <a:schemeClr val="accent6">
                    <a:lumMod val="50000"/>
                  </a:schemeClr>
                </a:solidFill>
                <a:ea typeface="+mn-ea"/>
              </a:rPr>
              <a:t> </a:t>
            </a:r>
            <a:r>
              <a:rPr lang="vi-VN" dirty="0"/>
              <a:t>đơ</a:t>
            </a:r>
            <a:r>
              <a:rPr lang="en-US" dirty="0"/>
              <a:t>n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{ </a:t>
            </a:r>
            <a:r>
              <a:rPr lang="en-US" dirty="0" err="1"/>
              <a:t>và</a:t>
            </a:r>
            <a:r>
              <a:rPr lang="en-US" dirty="0"/>
              <a:t> }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 err="1">
                <a:solidFill>
                  <a:srgbClr val="FF0000"/>
                </a:solidFill>
              </a:rPr>
              <a:t>Khởi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tạo</a:t>
            </a:r>
            <a:r>
              <a:rPr lang="en-US" dirty="0">
                <a:solidFill>
                  <a:srgbClr val="FF0000"/>
                </a:solidFill>
              </a:rPr>
              <a:t>]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  <a:p>
            <a:pPr lvl="1">
              <a:defRPr/>
            </a:pPr>
            <a:r>
              <a:rPr lang="en-US" dirty="0">
                <a:solidFill>
                  <a:srgbClr val="002060"/>
                </a:solidFill>
              </a:rPr>
              <a:t>[</a:t>
            </a:r>
            <a:r>
              <a:rPr lang="en-US" dirty="0" err="1">
                <a:solidFill>
                  <a:srgbClr val="002060"/>
                </a:solidFill>
              </a:rPr>
              <a:t>Điều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kiện</a:t>
            </a:r>
            <a:r>
              <a:rPr lang="en-US" dirty="0">
                <a:solidFill>
                  <a:srgbClr val="002060"/>
                </a:solidFill>
              </a:rPr>
              <a:t>] </a:t>
            </a:r>
            <a:r>
              <a:rPr lang="en-US" dirty="0"/>
              <a:t>là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endParaRPr lang="en-US" dirty="0"/>
          </a:p>
          <a:p>
            <a:pPr lvl="1">
              <a:defRPr/>
            </a:pPr>
            <a:r>
              <a:rPr lang="en-US" dirty="0">
                <a:solidFill>
                  <a:srgbClr val="C00000"/>
                </a:solidFill>
              </a:rPr>
              <a:t>[</a:t>
            </a:r>
            <a:r>
              <a:rPr lang="en-US" dirty="0" err="1">
                <a:solidFill>
                  <a:srgbClr val="C00000"/>
                </a:solidFill>
              </a:rPr>
              <a:t>Thay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đổi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điều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kiện</a:t>
            </a:r>
            <a:r>
              <a:rPr lang="en-US" dirty="0">
                <a:solidFill>
                  <a:srgbClr val="C00000"/>
                </a:solidFill>
              </a:rPr>
              <a:t>]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D9DE7-F49A-4B44-B01F-41B1C71E4C99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4" name="Content Placeholder 41"/>
          <p:cNvSpPr txBox="1">
            <a:spLocks/>
          </p:cNvSpPr>
          <p:nvPr/>
        </p:nvSpPr>
        <p:spPr bwMode="auto">
          <a:xfrm>
            <a:off x="611560" y="366065"/>
            <a:ext cx="9036496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endParaRPr lang="en-US" sz="2800" b="1" kern="0" dirty="0"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/>
              <a:t>		</a:t>
            </a:r>
            <a:endParaRPr lang="en-US" sz="2800" b="1" kern="0" dirty="0"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endParaRPr lang="en-US" sz="2800" b="1" kern="0" dirty="0"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latin typeface="+mn-lt"/>
                <a:cs typeface="+mn-cs"/>
              </a:rPr>
              <a:t>for (</a:t>
            </a:r>
            <a:r>
              <a:rPr lang="en-US" sz="2800" kern="0" dirty="0">
                <a:solidFill>
                  <a:srgbClr val="FF0000"/>
                </a:solidFill>
              </a:rPr>
              <a:t>[</a:t>
            </a:r>
            <a:r>
              <a:rPr lang="en-US" sz="2800" kern="0" dirty="0" err="1">
                <a:solidFill>
                  <a:srgbClr val="FF0000"/>
                </a:solidFill>
                <a:cs typeface="+mn-cs"/>
              </a:rPr>
              <a:t>Khởi</a:t>
            </a:r>
            <a:r>
              <a:rPr lang="en-US" sz="2800" kern="0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sz="2800" kern="0" dirty="0" err="1">
                <a:solidFill>
                  <a:srgbClr val="FF0000"/>
                </a:solidFill>
              </a:rPr>
              <a:t>tạo</a:t>
            </a:r>
            <a:r>
              <a:rPr lang="en-US" sz="2800" kern="0" dirty="0">
                <a:solidFill>
                  <a:srgbClr val="FF0000"/>
                </a:solidFill>
                <a:cs typeface="+mn-cs"/>
              </a:rPr>
              <a:t>]</a:t>
            </a:r>
            <a:r>
              <a:rPr lang="en-US" sz="2800" b="1" kern="0" dirty="0">
                <a:latin typeface="+mn-lt"/>
                <a:cs typeface="+mn-cs"/>
              </a:rPr>
              <a:t>;</a:t>
            </a:r>
            <a:r>
              <a:rPr lang="en-US" sz="2800" kern="0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sz="2800" kern="0" dirty="0">
                <a:solidFill>
                  <a:srgbClr val="002060"/>
                </a:solidFill>
              </a:rPr>
              <a:t>[</a:t>
            </a:r>
            <a:r>
              <a:rPr lang="en-US" sz="2800" kern="0" dirty="0" err="1">
                <a:solidFill>
                  <a:srgbClr val="002060"/>
                </a:solidFill>
                <a:cs typeface="+mn-cs"/>
              </a:rPr>
              <a:t>Điều</a:t>
            </a:r>
            <a:r>
              <a:rPr lang="en-US" sz="2800" kern="0" dirty="0">
                <a:solidFill>
                  <a:srgbClr val="002060"/>
                </a:solidFill>
                <a:cs typeface="+mn-cs"/>
              </a:rPr>
              <a:t> </a:t>
            </a:r>
            <a:r>
              <a:rPr lang="en-US" sz="2800" kern="0" dirty="0" err="1">
                <a:solidFill>
                  <a:srgbClr val="002060"/>
                </a:solidFill>
                <a:cs typeface="+mn-cs"/>
              </a:rPr>
              <a:t>kiện</a:t>
            </a:r>
            <a:r>
              <a:rPr lang="en-US" sz="2800" kern="0" dirty="0">
                <a:solidFill>
                  <a:srgbClr val="002060"/>
                </a:solidFill>
                <a:cs typeface="+mn-cs"/>
              </a:rPr>
              <a:t>]</a:t>
            </a:r>
            <a:r>
              <a:rPr lang="en-US" sz="2800" b="1" kern="0" dirty="0">
                <a:solidFill>
                  <a:srgbClr val="002060"/>
                </a:solidFill>
                <a:latin typeface="+mn-lt"/>
                <a:cs typeface="+mn-cs"/>
              </a:rPr>
              <a:t>;</a:t>
            </a:r>
            <a:r>
              <a:rPr lang="en-US" sz="2800" kern="0" dirty="0">
                <a:solidFill>
                  <a:srgbClr val="002060"/>
                </a:solidFill>
                <a:cs typeface="+mn-cs"/>
              </a:rPr>
              <a:t> </a:t>
            </a:r>
            <a:r>
              <a:rPr lang="en-US" sz="2800" kern="0" dirty="0">
                <a:solidFill>
                  <a:schemeClr val="accent2"/>
                </a:solidFill>
              </a:rPr>
              <a:t>[</a:t>
            </a:r>
            <a:r>
              <a:rPr lang="en-US" sz="2800" kern="0" dirty="0" err="1">
                <a:solidFill>
                  <a:schemeClr val="accent2"/>
                </a:solidFill>
              </a:rPr>
              <a:t>Thay</a:t>
            </a:r>
            <a:r>
              <a:rPr lang="en-US" sz="2800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>
                <a:solidFill>
                  <a:schemeClr val="accent2"/>
                </a:solidFill>
              </a:rPr>
              <a:t>đổi</a:t>
            </a:r>
            <a:r>
              <a:rPr lang="en-US" sz="2800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>
                <a:solidFill>
                  <a:schemeClr val="accent2"/>
                </a:solidFill>
              </a:rPr>
              <a:t>điều</a:t>
            </a:r>
            <a:r>
              <a:rPr lang="en-US" sz="2800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>
                <a:solidFill>
                  <a:schemeClr val="accent2"/>
                </a:solidFill>
              </a:rPr>
              <a:t>kiện</a:t>
            </a:r>
            <a:r>
              <a:rPr lang="en-US" sz="2800" kern="0" dirty="0">
                <a:solidFill>
                  <a:schemeClr val="accent2"/>
                </a:solidFill>
              </a:rPr>
              <a:t>]</a:t>
            </a:r>
            <a:r>
              <a:rPr lang="en-US" sz="2800" b="1" kern="0" dirty="0">
                <a:latin typeface="+mn-lt"/>
                <a:cs typeface="+mn-cs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latin typeface="+mn-lt"/>
                <a:cs typeface="+mn-cs"/>
              </a:rPr>
              <a:t>		</a:t>
            </a:r>
            <a:r>
              <a:rPr lang="en-US" sz="2800" kern="0" dirty="0">
                <a:solidFill>
                  <a:schemeClr val="accent6">
                    <a:lumMod val="50000"/>
                  </a:schemeClr>
                </a:solidFill>
                <a:cs typeface="+mn-cs"/>
              </a:rPr>
              <a:t>&lt;</a:t>
            </a:r>
            <a:r>
              <a:rPr lang="en-US" sz="2800" kern="0" dirty="0" err="1">
                <a:solidFill>
                  <a:schemeClr val="accent6">
                    <a:lumMod val="50000"/>
                  </a:schemeClr>
                </a:solidFill>
                <a:cs typeface="+mn-cs"/>
              </a:rPr>
              <a:t>Lệnh</a:t>
            </a:r>
            <a:r>
              <a:rPr lang="en-US" sz="2800" kern="0" dirty="0">
                <a:solidFill>
                  <a:schemeClr val="accent6">
                    <a:lumMod val="50000"/>
                  </a:schemeClr>
                </a:solidFill>
                <a:cs typeface="+mn-cs"/>
              </a:rPr>
              <a:t>&gt;</a:t>
            </a:r>
            <a:r>
              <a:rPr lang="en-US" sz="2800" b="1" kern="0" dirty="0">
                <a:cs typeface="+mn-cs"/>
              </a:rPr>
              <a:t>;</a:t>
            </a:r>
            <a:endParaRPr lang="en-US" sz="2800" kern="0" dirty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33380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"/>
                            </p:stCondLst>
                            <p:childTnLst>
                              <p:par>
                                <p:cTn id="18" presetID="45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Cách thực hiện vòng lặp for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96108"/>
            <a:ext cx="8130480" cy="4128492"/>
          </a:xfrm>
        </p:spPr>
        <p:txBody>
          <a:bodyPr/>
          <a:lstStyle/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</a:rPr>
              <a:t>Bước 1</a:t>
            </a:r>
            <a:r>
              <a:rPr lang="en-US" sz="2400"/>
              <a:t>. Thực hiện </a:t>
            </a:r>
            <a:r>
              <a:rPr lang="en-US">
                <a:solidFill>
                  <a:srgbClr val="FF0000"/>
                </a:solidFill>
              </a:rPr>
              <a:t>[Khởi tạo]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</a:rPr>
              <a:t>Bước 2</a:t>
            </a:r>
            <a:r>
              <a:rPr lang="en-US" sz="2400"/>
              <a:t>. Xác định </a:t>
            </a:r>
            <a:r>
              <a:rPr lang="en-US">
                <a:solidFill>
                  <a:srgbClr val="002060"/>
                </a:solidFill>
              </a:rPr>
              <a:t>[Điều kiện]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0000FF"/>
                </a:solidFill>
              </a:rPr>
              <a:t>Bước 3</a:t>
            </a:r>
            <a:r>
              <a:rPr lang="en-US" sz="2400"/>
              <a:t>. Tuỳ thuộc vào </a:t>
            </a:r>
            <a:r>
              <a:rPr lang="en-US">
                <a:solidFill>
                  <a:srgbClr val="002060"/>
                </a:solidFill>
              </a:rPr>
              <a:t>[Điều kiện] </a:t>
            </a:r>
            <a:r>
              <a:rPr lang="en-US" sz="2400"/>
              <a:t>máy lựa chọn một trong hai nhánh:</a:t>
            </a:r>
          </a:p>
          <a:p>
            <a:pPr marL="0" indent="265113">
              <a:buNone/>
            </a:pPr>
            <a:r>
              <a:rPr lang="en-US" sz="2400"/>
              <a:t>- Nếu </a:t>
            </a:r>
            <a:r>
              <a:rPr lang="en-US">
                <a:solidFill>
                  <a:srgbClr val="002060"/>
                </a:solidFill>
              </a:rPr>
              <a:t>[Điều kiện] </a:t>
            </a:r>
            <a:r>
              <a:rPr lang="en-US" sz="2400"/>
              <a:t>= 0 (</a:t>
            </a:r>
            <a:r>
              <a:rPr lang="en-US" sz="2400" b="1">
                <a:solidFill>
                  <a:srgbClr val="FF0000"/>
                </a:solidFill>
              </a:rPr>
              <a:t>Sai</a:t>
            </a:r>
            <a:r>
              <a:rPr lang="en-US" sz="2400"/>
              <a:t>), máy </a:t>
            </a:r>
            <a:r>
              <a:rPr lang="en-US" sz="2400">
                <a:solidFill>
                  <a:srgbClr val="FF0000"/>
                </a:solidFill>
              </a:rPr>
              <a:t>ra khỏi for </a:t>
            </a:r>
            <a:r>
              <a:rPr lang="en-US" sz="2400"/>
              <a:t>và chuyển tới câu lệnh sau for.</a:t>
            </a:r>
          </a:p>
          <a:p>
            <a:pPr marL="0" indent="265113">
              <a:buNone/>
            </a:pPr>
            <a:r>
              <a:rPr lang="en-US" sz="2400"/>
              <a:t>- Nếu </a:t>
            </a:r>
            <a:r>
              <a:rPr lang="en-US">
                <a:solidFill>
                  <a:srgbClr val="002060"/>
                </a:solidFill>
              </a:rPr>
              <a:t>[Điều kiện]</a:t>
            </a:r>
            <a:r>
              <a:rPr lang="en-US" sz="2400"/>
              <a:t>!=0 (</a:t>
            </a:r>
            <a:r>
              <a:rPr lang="en-US" sz="2400" b="1">
                <a:solidFill>
                  <a:srgbClr val="FF0000"/>
                </a:solidFill>
              </a:rPr>
              <a:t>Đúng</a:t>
            </a:r>
            <a:r>
              <a:rPr lang="en-US" sz="2400"/>
              <a:t>), máy thực hiện </a:t>
            </a:r>
            <a:r>
              <a:rPr lang="en-US">
                <a:solidFill>
                  <a:schemeClr val="accent6">
                    <a:lumMod val="50000"/>
                  </a:schemeClr>
                </a:solidFill>
              </a:rPr>
              <a:t>&lt;Lệnh&gt;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</a:rPr>
              <a:t>Bước 4</a:t>
            </a:r>
            <a:r>
              <a:rPr lang="en-US" sz="2400"/>
              <a:t>. Thực hiện </a:t>
            </a:r>
            <a:r>
              <a:rPr lang="en-US">
                <a:solidFill>
                  <a:schemeClr val="accent2"/>
                </a:solidFill>
              </a:rPr>
              <a:t>[Thay đổi điều kiện] </a:t>
            </a:r>
            <a:r>
              <a:rPr lang="en-US" sz="2400"/>
              <a:t>và </a:t>
            </a:r>
            <a:r>
              <a:rPr lang="en-US" sz="2400">
                <a:solidFill>
                  <a:srgbClr val="FF0000"/>
                </a:solidFill>
              </a:rPr>
              <a:t>quay lại bước 2</a:t>
            </a:r>
            <a:r>
              <a:rPr lang="en-US" sz="2400"/>
              <a:t> để bắt đầu một vòng lặp mới.</a:t>
            </a:r>
            <a:endParaRPr lang="vi-VN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F0E8F-D8E0-4D76-AA0D-D9F7C7692040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7" name="Content Placeholder 41"/>
          <p:cNvSpPr txBox="1">
            <a:spLocks/>
          </p:cNvSpPr>
          <p:nvPr/>
        </p:nvSpPr>
        <p:spPr bwMode="auto">
          <a:xfrm>
            <a:off x="720001" y="1205508"/>
            <a:ext cx="792088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for (</a:t>
            </a:r>
            <a:r>
              <a:rPr lang="en-US" sz="2800" kern="0">
                <a:solidFill>
                  <a:srgbClr val="FF0000"/>
                </a:solidFill>
              </a:rPr>
              <a:t>[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Khởi </a:t>
            </a:r>
            <a:r>
              <a:rPr lang="en-US" sz="2800" kern="0">
                <a:solidFill>
                  <a:srgbClr val="FF0000"/>
                </a:solidFill>
              </a:rPr>
              <a:t>tạo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]</a:t>
            </a:r>
            <a:r>
              <a:rPr lang="en-US" sz="2800" b="1" kern="0">
                <a:latin typeface="+mn-lt"/>
                <a:cs typeface="+mn-cs"/>
              </a:rPr>
              <a:t>;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800" kern="0">
                <a:solidFill>
                  <a:srgbClr val="002060"/>
                </a:solidFill>
              </a:rPr>
              <a:t>[</a:t>
            </a:r>
            <a:r>
              <a:rPr lang="en-US" sz="2800" kern="0">
                <a:solidFill>
                  <a:srgbClr val="002060"/>
                </a:solidFill>
                <a:cs typeface="+mn-cs"/>
              </a:rPr>
              <a:t>Điều kiện]</a:t>
            </a:r>
            <a:r>
              <a:rPr lang="en-US" sz="2800" b="1" kern="0">
                <a:solidFill>
                  <a:srgbClr val="002060"/>
                </a:solidFill>
                <a:latin typeface="+mn-lt"/>
                <a:cs typeface="+mn-cs"/>
              </a:rPr>
              <a:t>;</a:t>
            </a:r>
            <a:r>
              <a:rPr lang="en-US" sz="2800" kern="0">
                <a:solidFill>
                  <a:srgbClr val="002060"/>
                </a:solidFill>
                <a:cs typeface="+mn-cs"/>
              </a:rPr>
              <a:t> </a:t>
            </a:r>
            <a:r>
              <a:rPr lang="en-US" sz="2800" kern="0">
                <a:solidFill>
                  <a:schemeClr val="accent2"/>
                </a:solidFill>
              </a:rPr>
              <a:t>[Thay đổi điều kiện]</a:t>
            </a:r>
            <a:r>
              <a:rPr lang="en-US" sz="2800" b="1" kern="0">
                <a:latin typeface="+mn-lt"/>
                <a:cs typeface="+mn-cs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		</a:t>
            </a:r>
            <a:r>
              <a:rPr lang="en-US" sz="2800" kern="0">
                <a:solidFill>
                  <a:schemeClr val="accent6">
                    <a:lumMod val="50000"/>
                  </a:schemeClr>
                </a:solidFill>
                <a:cs typeface="+mn-cs"/>
              </a:rPr>
              <a:t>&lt;Lệnh&gt;</a:t>
            </a:r>
            <a:r>
              <a:rPr lang="en-US" sz="2800" b="1" kern="0">
                <a:cs typeface="+mn-cs"/>
              </a:rPr>
              <a:t>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70765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Cách thực hiện vòng lặp for (tt)</a:t>
            </a:r>
            <a:endParaRPr lang="vi-VN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Sơ đồ khối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4E80-E82C-4A44-BB1B-38E9702BF8B5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33188" y="4298031"/>
            <a:ext cx="1800200" cy="49847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&lt;Lệnh&gt;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6200000" flipH="1">
            <a:off x="2168017" y="3628900"/>
            <a:ext cx="687387" cy="0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>
          <a:xfrm rot="5400000">
            <a:off x="2296208" y="5287838"/>
            <a:ext cx="457200" cy="1587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>
          <a:xfrm flipH="1" flipV="1">
            <a:off x="2513298" y="3584656"/>
            <a:ext cx="2551496" cy="22157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919389" y="4145631"/>
            <a:ext cx="177484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/>
                <a:cs typeface="+mn-cs"/>
              </a:rPr>
              <a:t>Đúng</a:t>
            </a:r>
            <a:r>
              <a:rPr lang="en-US" sz="2200" b="1" kern="0">
                <a:solidFill>
                  <a:srgbClr val="003366"/>
                </a:solidFill>
                <a:latin typeface="Verdana"/>
              </a:rPr>
              <a:t>, !=0</a:t>
            </a:r>
            <a:endParaRPr kumimoji="0" lang="en-US" sz="2200" b="1" i="0" u="none" strike="noStrike" kern="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Verdan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00188" y="5059745"/>
            <a:ext cx="18328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/>
                <a:cs typeface="+mn-cs"/>
              </a:rPr>
              <a:t>Sai,</a:t>
            </a:r>
            <a:r>
              <a:rPr kumimoji="0" lang="en-US" sz="2200" b="1" i="0" u="none" strike="noStrike" kern="0" cap="none" spc="0" normalizeH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/>
                <a:cs typeface="+mn-cs"/>
              </a:rPr>
              <a:t> =0</a:t>
            </a:r>
            <a:endParaRPr kumimoji="0" lang="en-US" sz="2200" b="1" i="0" u="none" strike="noStrike" kern="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Verdana"/>
              <a:cs typeface="+mn-cs"/>
            </a:endParaRPr>
          </a:p>
        </p:txBody>
      </p:sp>
      <p:grpSp>
        <p:nvGrpSpPr>
          <p:cNvPr id="12" name="Group 41"/>
          <p:cNvGrpSpPr>
            <a:grpSpLocks/>
          </p:cNvGrpSpPr>
          <p:nvPr/>
        </p:nvGrpSpPr>
        <p:grpSpPr bwMode="auto">
          <a:xfrm>
            <a:off x="1115616" y="3972593"/>
            <a:ext cx="2784723" cy="1096963"/>
            <a:chOff x="332510" y="2909455"/>
            <a:chExt cx="2392680" cy="1097280"/>
          </a:xfrm>
        </p:grpSpPr>
        <p:sp>
          <p:nvSpPr>
            <p:cNvPr id="13" name="Diamond 12"/>
            <p:cNvSpPr/>
            <p:nvPr/>
          </p:nvSpPr>
          <p:spPr>
            <a:xfrm>
              <a:off x="332510" y="2909455"/>
              <a:ext cx="2392680" cy="1097280"/>
            </a:xfrm>
            <a:prstGeom prst="diamond">
              <a:avLst/>
            </a:prstGeom>
            <a:solidFill>
              <a:srgbClr val="FFFFFF"/>
            </a:solidFill>
            <a:ln w="254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2921" y="3123830"/>
              <a:ext cx="1752832" cy="60977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>
                  <a:solidFill>
                    <a:srgbClr val="002060"/>
                  </a:solidFill>
                </a:rPr>
                <a:t>[Điều kiện]</a:t>
              </a:r>
            </a:p>
          </p:txBody>
        </p:sp>
      </p:grpSp>
      <p:grpSp>
        <p:nvGrpSpPr>
          <p:cNvPr id="15" name="Group 46"/>
          <p:cNvGrpSpPr>
            <a:grpSpLocks/>
          </p:cNvGrpSpPr>
          <p:nvPr/>
        </p:nvGrpSpPr>
        <p:grpSpPr bwMode="auto">
          <a:xfrm>
            <a:off x="1115616" y="2636912"/>
            <a:ext cx="2498973" cy="685800"/>
            <a:chOff x="609600" y="1676400"/>
            <a:chExt cx="1828800" cy="685800"/>
          </a:xfrm>
        </p:grpSpPr>
        <p:sp>
          <p:nvSpPr>
            <p:cNvPr id="16" name="Rectangle 15"/>
            <p:cNvSpPr/>
            <p:nvPr/>
          </p:nvSpPr>
          <p:spPr>
            <a:xfrm>
              <a:off x="685800" y="1676400"/>
              <a:ext cx="1752600" cy="6858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3366">
                    <a:lumMod val="60000"/>
                    <a:lumOff val="40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09600" y="1676400"/>
              <a:ext cx="1828800" cy="6858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kern="0">
                  <a:solidFill>
                    <a:srgbClr val="FF0000"/>
                  </a:solidFill>
                </a:rPr>
                <a:t>[Khởi </a:t>
              </a:r>
              <a:r>
                <a:rPr lang="vi-VN" sz="2800" kern="0">
                  <a:solidFill>
                    <a:srgbClr val="FF0000"/>
                  </a:solidFill>
                </a:rPr>
                <a:t>t</a:t>
              </a:r>
              <a:r>
                <a:rPr lang="en-US" sz="2800" kern="0">
                  <a:solidFill>
                    <a:srgbClr val="FF0000"/>
                  </a:solidFill>
                </a:rPr>
                <a:t>ạo]</a:t>
              </a:r>
            </a:p>
          </p:txBody>
        </p:sp>
      </p:grpSp>
      <p:cxnSp>
        <p:nvCxnSpPr>
          <p:cNvPr id="18" name="Straight Arrow Connector 17"/>
          <p:cNvCxnSpPr>
            <a:stCxn id="13" idx="3"/>
            <a:endCxn id="6" idx="1"/>
          </p:cNvCxnSpPr>
          <p:nvPr/>
        </p:nvCxnSpPr>
        <p:spPr>
          <a:xfrm>
            <a:off x="3900339" y="4521075"/>
            <a:ext cx="1832849" cy="26194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grpSp>
        <p:nvGrpSpPr>
          <p:cNvPr id="19" name="Group 45"/>
          <p:cNvGrpSpPr>
            <a:grpSpLocks/>
          </p:cNvGrpSpPr>
          <p:nvPr/>
        </p:nvGrpSpPr>
        <p:grpSpPr bwMode="auto">
          <a:xfrm>
            <a:off x="5065606" y="3271968"/>
            <a:ext cx="3155137" cy="685800"/>
            <a:chOff x="3627482" y="2714625"/>
            <a:chExt cx="1763654" cy="685800"/>
          </a:xfrm>
        </p:grpSpPr>
        <p:sp>
          <p:nvSpPr>
            <p:cNvPr id="20" name="Rectangle 19"/>
            <p:cNvSpPr/>
            <p:nvPr/>
          </p:nvSpPr>
          <p:spPr>
            <a:xfrm>
              <a:off x="3627482" y="2714625"/>
              <a:ext cx="1752600" cy="6858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3366">
                    <a:lumMod val="60000"/>
                    <a:lumOff val="40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638536" y="2714625"/>
              <a:ext cx="1752600" cy="685800"/>
            </a:xfrm>
            <a:prstGeom prst="rect">
              <a:avLst/>
            </a:prstGeom>
            <a:noFill/>
            <a:ln w="254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kern="0">
                  <a:solidFill>
                    <a:schemeClr val="accent2"/>
                  </a:solidFill>
                </a:rPr>
                <a:t>[Thay đổi điều kiện]</a:t>
              </a:r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 rot="16200000" flipV="1">
            <a:off x="6437345" y="4114675"/>
            <a:ext cx="360362" cy="6350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>
          <a:xfrm rot="5400000">
            <a:off x="2245804" y="2354140"/>
            <a:ext cx="533400" cy="1587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58786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Giải bài toán gửi tiền tiết kiệm 1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96752"/>
            <a:ext cx="7924800" cy="5127848"/>
          </a:xfrm>
        </p:spPr>
        <p:txBody>
          <a:bodyPr/>
          <a:lstStyle/>
          <a:p>
            <a:r>
              <a:rPr lang="en-US"/>
              <a:t>Xác định INPUT/OUTPUT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Thuật toán:</a:t>
            </a:r>
            <a:endParaRPr lang="vi-VN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13940" y="4005064"/>
            <a:ext cx="813006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9875" lvl="1"/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.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Nhập số thực </a:t>
            </a:r>
            <a:r>
              <a:rPr lang="vi-VN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2000" b="1" i="1">
                <a:latin typeface="Courier New" pitchFamily="49" charset="0"/>
                <a:cs typeface="Courier New" pitchFamily="49" charset="0"/>
              </a:rPr>
              <a:t>,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; Số nguyên </a:t>
            </a:r>
            <a:r>
              <a:rPr lang="vi-VN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</a:p>
          <a:p>
            <a:pPr marL="269875" lvl="1"/>
            <a:r>
              <a:rPr lang="vi-VN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 2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. Gán </a:t>
            </a:r>
            <a:r>
              <a:rPr lang="vi-VN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 1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69875" lvl="1"/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 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. Nếu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&gt;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là dung,đưa ra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và kết thúc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269875" lvl="1"/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 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. Gán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a*k</a:t>
            </a:r>
          </a:p>
          <a:p>
            <a:pPr marL="269875" lvl="1"/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 5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. Tăng số tháng: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+ 1</a:t>
            </a:r>
          </a:p>
          <a:p>
            <a:pPr marL="269875" lvl="1"/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 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. Quay lại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 3</a:t>
            </a:r>
          </a:p>
          <a:p>
            <a:pPr marL="269875" lvl="1"/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9373" y="4006571"/>
            <a:ext cx="152400" cy="18852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55322-C75D-47D4-996C-E27DD235D5DA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372" y="1909281"/>
            <a:ext cx="7373028" cy="1015663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INPUT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Số tiền ban đầu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lãi suất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k%</a:t>
            </a:r>
            <a:r>
              <a:rPr lang="en-US" sz="2000" b="1" i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, số tháng cần gửi </a:t>
            </a:r>
            <a:r>
              <a:rPr lang="en-US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</a:p>
          <a:p>
            <a:pPr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OUTPUT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Số tiền có được sau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tháng</a:t>
            </a:r>
            <a:endParaRPr lang="en-US" sz="2000" b="1" i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90747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Giải bài toán gửi tiền tiết kiệm 1</a:t>
            </a:r>
            <a:endParaRPr lang="vi-VN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19252-B8A0-4D20-A498-F982B78CC326}" type="datetime1">
              <a:rPr lang="vi-VN" smtClean="0"/>
              <a:t>14/01/2024</a:t>
            </a:fld>
            <a:endParaRPr lang="vi-V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62000" y="1052736"/>
            <a:ext cx="7924800" cy="53285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>
            <a:lvl1pPr marL="469900" indent="-469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lang="en-GB" sz="2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  <a:defRPr lang="en-GB" sz="2400" smtClean="0">
                <a:solidFill>
                  <a:srgbClr val="0000FF"/>
                </a:solidFill>
                <a:latin typeface="+mn-lt"/>
                <a:cs typeface="+mn-cs"/>
              </a:defRPr>
            </a:lvl2pPr>
            <a:lvl3pPr marL="1304925" indent="-395288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o"/>
              <a:defRPr lang="en-GB" sz="2000" smtClean="0">
                <a:solidFill>
                  <a:srgbClr val="002060"/>
                </a:solidFill>
                <a:latin typeface="+mn-lt"/>
                <a:cs typeface="+mn-cs"/>
              </a:defRPr>
            </a:lvl3pPr>
            <a:lvl4pPr marL="1693863" indent="-387350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  <a:defRPr lang="en-GB" sz="1800" smtClean="0">
                <a:solidFill>
                  <a:srgbClr val="000066"/>
                </a:solidFill>
                <a:latin typeface="+mn-lt"/>
                <a:cs typeface="+mn-cs"/>
              </a:defRPr>
            </a:lvl4pPr>
            <a:lvl5pPr marL="20939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5pPr>
            <a:lvl6pPr marL="25511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6pPr>
            <a:lvl7pPr marL="30083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7pPr>
            <a:lvl8pPr marL="34655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8pPr>
            <a:lvl9pPr marL="39227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marL="0" indent="0">
              <a:buNone/>
            </a:pP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,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int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thang,n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printf("Nhap so tien can gui: ");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scanf("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%f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printf("Nhap lai suat: ");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scanf("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%f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printf("Nhap so thang gui: ");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scanf("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 (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thang=1;thang&lt;=n;thang++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a=a+a*k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printf("So tien thu duoc sau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 thang la: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%0.4f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,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-3" y="2420888"/>
            <a:ext cx="9128125" cy="648072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-1" y="3068960"/>
            <a:ext cx="9128125" cy="1944216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-2" y="5013176"/>
            <a:ext cx="9128125" cy="648072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5667756"/>
            <a:ext cx="9128125" cy="324036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7425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toán</a:t>
            </a:r>
            <a:endParaRPr lang="vi-V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b="1">
                <a:solidFill>
                  <a:srgbClr val="0000FF"/>
                </a:solidFill>
              </a:rPr>
              <a:t>Bài toán 3</a:t>
            </a:r>
            <a:r>
              <a:rPr lang="vi-VN"/>
              <a:t>.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In hình chữ nhật gồm có kích thước N x M lên màn hình</a:t>
            </a:r>
            <a:endParaRPr lang="vi-V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F4B5-CC16-4ACF-B8CC-DFC068E22668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5696" y="2954561"/>
            <a:ext cx="4752528" cy="2952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rgbClr val="0000FF"/>
                </a:solidFill>
              </a:rPr>
              <a:t>AAAAAAAAAAAAAAA</a:t>
            </a:r>
          </a:p>
          <a:p>
            <a:pPr algn="ctr"/>
            <a:r>
              <a:rPr lang="en-US" sz="3200">
                <a:solidFill>
                  <a:srgbClr val="0000FF"/>
                </a:solidFill>
              </a:rPr>
              <a:t>AAAAAAAAAAAAAAA</a:t>
            </a:r>
            <a:endParaRPr lang="vi-VN" sz="3200">
              <a:solidFill>
                <a:srgbClr val="0000FF"/>
              </a:solidFill>
            </a:endParaRPr>
          </a:p>
          <a:p>
            <a:pPr algn="ctr"/>
            <a:r>
              <a:rPr lang="en-US" sz="3200">
                <a:solidFill>
                  <a:srgbClr val="0000FF"/>
                </a:solidFill>
              </a:rPr>
              <a:t>AAAAAAAAAAAAAAA</a:t>
            </a:r>
            <a:endParaRPr lang="vi-VN" sz="3200">
              <a:solidFill>
                <a:srgbClr val="0000FF"/>
              </a:solidFill>
            </a:endParaRPr>
          </a:p>
          <a:p>
            <a:pPr algn="ctr"/>
            <a:r>
              <a:rPr lang="en-US" sz="3200">
                <a:solidFill>
                  <a:srgbClr val="0000FF"/>
                </a:solidFill>
              </a:rPr>
              <a:t>AAAAAAAAAAAAAAA</a:t>
            </a:r>
            <a:endParaRPr lang="vi-VN" sz="3200">
              <a:solidFill>
                <a:srgbClr val="0000FF"/>
              </a:solidFill>
            </a:endParaRPr>
          </a:p>
          <a:p>
            <a:pPr algn="ctr"/>
            <a:r>
              <a:rPr lang="en-US" sz="3200">
                <a:solidFill>
                  <a:srgbClr val="0000FF"/>
                </a:solidFill>
              </a:rPr>
              <a:t>AAAAAAAAAAAAAAA</a:t>
            </a:r>
            <a:endParaRPr lang="vi-VN" sz="320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195736" y="2924944"/>
            <a:ext cx="410445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516216" y="3284984"/>
            <a:ext cx="0" cy="237626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75856" y="2391271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M = 15</a:t>
            </a:r>
            <a:endParaRPr lang="vi-VN" sz="2400" b="1"/>
          </a:p>
        </p:txBody>
      </p:sp>
      <p:sp>
        <p:nvSpPr>
          <p:cNvPr id="20" name="TextBox 19"/>
          <p:cNvSpPr txBox="1"/>
          <p:nvPr/>
        </p:nvSpPr>
        <p:spPr>
          <a:xfrm>
            <a:off x="6516216" y="4149080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N=5</a:t>
            </a:r>
            <a:endParaRPr lang="vi-VN" sz="2400" b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05722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toán in hình chữ nhật</a:t>
            </a:r>
          </a:p>
        </p:txBody>
      </p:sp>
      <p:sp>
        <p:nvSpPr>
          <p:cNvPr id="2048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Ý tưởng: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In lần lượt từng dòng, mỗi dòng in M chữ A bằng câu lệnh for</a:t>
            </a:r>
          </a:p>
          <a:p>
            <a:pPr marL="471487" lvl="1" indent="0">
              <a:buNone/>
            </a:pPr>
            <a:r>
              <a:rPr lang="en-US">
                <a:latin typeface="Arial" charset="0"/>
                <a:cs typeface="Arial" charset="0"/>
                <a:sym typeface="Wingdings" pitchFamily="2" charset="2"/>
              </a:rPr>
              <a:t> Sử dụng 2 vòng for lồng nhau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048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3 - Các cấu trúc điều khiển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175D5-F5FC-442D-8722-91D888B2B1ED}" type="datetime1">
              <a:rPr lang="vi-VN" smtClean="0"/>
              <a:t>14/01/2024</a:t>
            </a:fld>
            <a:endParaRPr lang="vi-VN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996952"/>
            <a:ext cx="9128125" cy="1368152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-1" y="4365104"/>
            <a:ext cx="9128125" cy="368424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-19621" y="5085184"/>
            <a:ext cx="9128125" cy="72008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5805264"/>
            <a:ext cx="9128125" cy="36004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402731" y="2965589"/>
            <a:ext cx="741682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32"/>
              </a:spcBef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printf("Nhap so dong: ");</a:t>
            </a:r>
          </a:p>
          <a:p>
            <a:pPr>
              <a:spcBef>
                <a:spcPts val="432"/>
              </a:spcBef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scanf("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432"/>
              </a:spcBef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printf("Nhap so cot: ");</a:t>
            </a:r>
          </a:p>
          <a:p>
            <a:pPr>
              <a:spcBef>
                <a:spcPts val="432"/>
              </a:spcBef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scanf("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432"/>
              </a:spcBef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i = 1; i &lt;= N ; i++)</a:t>
            </a:r>
          </a:p>
          <a:p>
            <a:pPr>
              <a:spcBef>
                <a:spcPts val="432"/>
              </a:spcBef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432"/>
              </a:spcBef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(int j = 1; j &lt;=M; j++)</a:t>
            </a:r>
          </a:p>
          <a:p>
            <a:pPr>
              <a:spcBef>
                <a:spcPts val="432"/>
              </a:spcBef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    	printf("A");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printf("\n");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  <a:endParaRPr lang="vi-VN" sz="2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49138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Chú ý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Trong câu lệnh for, có thể sẽ không có phần [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Khởi tạo]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  <a:cs typeface="Arial" charset="0"/>
              </a:rPr>
              <a:t>Ví dụ: Viết ra màn hình các số từ 1 đến 10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  <a:latin typeface="Arial" charset="0"/>
                <a:cs typeface="Arial" charset="0"/>
              </a:rPr>
              <a:t>Cách viết 1: </a:t>
            </a:r>
          </a:p>
          <a:p>
            <a:pPr marL="0" indent="0">
              <a:buNone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Arial" charset="0"/>
              <a:cs typeface="Arial" charset="0"/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Arial" charset="0"/>
              <a:cs typeface="Arial" charset="0"/>
            </a:endParaRPr>
          </a:p>
          <a:p>
            <a:pPr marL="0" indent="0">
              <a:buNone/>
            </a:pPr>
            <a:endParaRPr lang="en-US" sz="2400">
              <a:solidFill>
                <a:schemeClr val="tx1">
                  <a:lumMod val="95000"/>
                  <a:lumOff val="5000"/>
                </a:schemeClr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Arial" charset="0"/>
                <a:cs typeface="Arial" charset="0"/>
              </a:rPr>
              <a:t>Cách viết 2:</a:t>
            </a:r>
          </a:p>
        </p:txBody>
      </p:sp>
      <p:sp>
        <p:nvSpPr>
          <p:cNvPr id="2150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3 - Các cấu trúc điều khiển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99592" y="3212976"/>
            <a:ext cx="152400" cy="11049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10" name="TextBox 9"/>
          <p:cNvSpPr txBox="1">
            <a:spLocks noChangeArrowheads="1"/>
          </p:cNvSpPr>
          <p:nvPr/>
        </p:nvSpPr>
        <p:spPr bwMode="auto">
          <a:xfrm>
            <a:off x="1226647" y="5005625"/>
            <a:ext cx="7010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for (; i &lt;= 10; 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printf(“%d”, i);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-21764" y="3564194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907704" y="3531296"/>
            <a:ext cx="7620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-19621" y="533968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907704" y="5021137"/>
            <a:ext cx="7620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E1DA-BF33-436A-BEE2-FD915A67389D}" type="datetime1">
              <a:rPr lang="vi-VN" smtClean="0"/>
              <a:t>14/01/2024</a:t>
            </a:fld>
            <a:endParaRPr lang="vi-VN"/>
          </a:p>
        </p:txBody>
      </p:sp>
      <p:sp>
        <p:nvSpPr>
          <p:cNvPr id="32" name="Rounded Rectangle 31"/>
          <p:cNvSpPr/>
          <p:nvPr/>
        </p:nvSpPr>
        <p:spPr>
          <a:xfrm>
            <a:off x="899592" y="4941168"/>
            <a:ext cx="152400" cy="11049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TextBox 9"/>
          <p:cNvSpPr txBox="1">
            <a:spLocks noChangeArrowheads="1"/>
          </p:cNvSpPr>
          <p:nvPr/>
        </p:nvSpPr>
        <p:spPr bwMode="auto">
          <a:xfrm>
            <a:off x="1115616" y="3205425"/>
            <a:ext cx="7010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i;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10; 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 ”, i);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75461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1510" grpId="0" build="p"/>
      <p:bldP spid="18" grpId="0" animBg="1"/>
      <p:bldP spid="18" grpId="1" animBg="1"/>
      <p:bldP spid="8" grpId="0" animBg="1"/>
      <p:bldP spid="11" grpId="0" animBg="1"/>
      <p:bldP spid="11" grpId="1" animBg="1"/>
      <p:bldP spid="12" grpId="0" animBg="1"/>
      <p:bldP spid="32" grpId="0" animBg="1"/>
      <p:bldP spid="3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Chú ý (tt)</a:t>
            </a:r>
          </a:p>
        </p:txBody>
      </p:sp>
      <p:sp>
        <p:nvSpPr>
          <p:cNvPr id="2355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Trong câu lệnh for, có thể sẽ không có phần </a:t>
            </a:r>
            <a:r>
              <a:rPr lang="en-US">
                <a:solidFill>
                  <a:srgbClr val="FF66FF"/>
                </a:solidFill>
                <a:latin typeface="Arial" charset="0"/>
                <a:cs typeface="Arial" charset="0"/>
              </a:rPr>
              <a:t>[Điều kiện]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Khi đó </a:t>
            </a:r>
            <a:r>
              <a:rPr lang="en-US">
                <a:solidFill>
                  <a:srgbClr val="FF66FF"/>
                </a:solidFill>
                <a:latin typeface="Arial" charset="0"/>
                <a:ea typeface="+mn-ea"/>
                <a:cs typeface="Arial" charset="0"/>
              </a:rPr>
              <a:t>[Điều kiện] </a:t>
            </a:r>
            <a:r>
              <a:rPr lang="en-US">
                <a:latin typeface="Arial" charset="0"/>
                <a:cs typeface="Arial" charset="0"/>
              </a:rPr>
              <a:t>là luôn luôn đúng</a:t>
            </a:r>
          </a:p>
          <a:p>
            <a:r>
              <a:rPr lang="en-US" sz="2600">
                <a:latin typeface="Arial" charset="0"/>
                <a:cs typeface="Arial" charset="0"/>
              </a:rPr>
              <a:t>Ví dụ: </a:t>
            </a:r>
            <a:r>
              <a:rPr lang="en-US" sz="260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  <a:cs typeface="Arial" charset="0"/>
              </a:rPr>
              <a:t>Viết ra màn hình các số từ 1 đến 10</a:t>
            </a:r>
            <a:endParaRPr lang="en-US" sz="2200">
              <a:latin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sz="2200" b="1">
                <a:solidFill>
                  <a:srgbClr val="0000FF"/>
                </a:solidFill>
                <a:latin typeface="Arial" charset="0"/>
                <a:cs typeface="Arial" charset="0"/>
              </a:rPr>
              <a:t>Cách viết 1:</a:t>
            </a:r>
          </a:p>
          <a:p>
            <a:pPr marL="0" indent="0">
              <a:buNone/>
            </a:pPr>
            <a:endParaRPr lang="en-US" sz="2200" b="1">
              <a:solidFill>
                <a:srgbClr val="0000FF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200" b="1">
              <a:solidFill>
                <a:srgbClr val="0000FF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b="1">
              <a:solidFill>
                <a:srgbClr val="0000FF"/>
              </a:solidFill>
              <a:latin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  <a:latin typeface="Arial" charset="0"/>
                <a:cs typeface="Arial" charset="0"/>
              </a:rPr>
              <a:t>Cách viết 2:</a:t>
            </a:r>
            <a:endParaRPr lang="en-US" sz="3200" b="1">
              <a:solidFill>
                <a:srgbClr val="0000FF"/>
              </a:solidFill>
              <a:latin typeface="Arial" charset="0"/>
              <a:cs typeface="Arial" charset="0"/>
            </a:endParaRPr>
          </a:p>
          <a:p>
            <a:pPr marL="0" indent="0">
              <a:buNone/>
            </a:pPr>
            <a:endParaRPr lang="en-US" sz="2600" b="1">
              <a:solidFill>
                <a:srgbClr val="0000FF"/>
              </a:solidFill>
              <a:latin typeface="Arial" charset="0"/>
              <a:cs typeface="Arial" charset="0"/>
            </a:endParaRPr>
          </a:p>
        </p:txBody>
      </p:sp>
      <p:sp>
        <p:nvSpPr>
          <p:cNvPr id="2355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3 - Các cấu trúc điều khiển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3227-1200-466C-BDFC-D10C997A918B}" type="datetime1">
              <a:rPr lang="vi-VN" smtClean="0"/>
              <a:t>14/01/2024</a:t>
            </a:fld>
            <a:endParaRPr lang="vi-VN"/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1043608" y="4797152"/>
            <a:ext cx="70104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for (i = 1; ; 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&gt;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printf(“%d”, i);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592" y="3332212"/>
            <a:ext cx="152400" cy="11049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-21764" y="368343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1115616" y="3324661"/>
            <a:ext cx="7010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i;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10; 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 ”, i);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-19621" y="4754372"/>
            <a:ext cx="9128125" cy="393204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-30473" y="5416158"/>
            <a:ext cx="9128125" cy="677138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899592" y="4816198"/>
            <a:ext cx="152400" cy="14931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32979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 animBg="1"/>
      <p:bldP spid="15" grpId="0" animBg="1"/>
      <p:bldP spid="16" grpId="0" build="p"/>
      <p:bldP spid="17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toán gửi tiền tiết kiệm 2</a:t>
            </a:r>
            <a:endParaRPr lang="vi-VN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762000" y="1142999"/>
            <a:ext cx="7924800" cy="2213993"/>
          </a:xfrm>
        </p:spPr>
        <p:txBody>
          <a:bodyPr/>
          <a:lstStyle/>
          <a:p>
            <a:r>
              <a:rPr lang="en-US"/>
              <a:t>Quay lại bài toán gửi tiền tiết kiệm</a:t>
            </a:r>
          </a:p>
          <a:p>
            <a:pPr lvl="1"/>
            <a:r>
              <a:rPr lang="en-US"/>
              <a:t>Giả sử một người gửi số tiền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 với lãi suất </a:t>
            </a:r>
            <a:r>
              <a:rPr lang="en-US">
                <a:solidFill>
                  <a:srgbClr val="FF0000"/>
                </a:solidFill>
              </a:rPr>
              <a:t>k%</a:t>
            </a:r>
            <a:r>
              <a:rPr lang="en-US"/>
              <a:t> thì sau bao nhiêu tháng có được số tiền là </a:t>
            </a:r>
            <a:r>
              <a:rPr lang="en-US">
                <a:solidFill>
                  <a:srgbClr val="FF0000"/>
                </a:solidFill>
              </a:rPr>
              <a:t>b</a:t>
            </a:r>
            <a:r>
              <a:rPr lang="en-US"/>
              <a:t>?</a:t>
            </a:r>
          </a:p>
          <a:p>
            <a:pPr marL="471487" lvl="1" indent="0">
              <a:buNone/>
            </a:pPr>
            <a:r>
              <a:rPr lang="en-US">
                <a:sym typeface="Wingdings" pitchFamily="2" charset="2"/>
              </a:rPr>
              <a:t>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Không biết trước</a:t>
            </a:r>
            <a:r>
              <a:rPr lang="en-US">
                <a:sym typeface="Wingdings" pitchFamily="2" charset="2"/>
              </a:rPr>
              <a:t> số lần lặp</a:t>
            </a:r>
          </a:p>
          <a:p>
            <a:pPr marL="471487" lvl="1" indent="0">
              <a:buNone/>
            </a:pPr>
            <a:r>
              <a:rPr lang="en-US">
                <a:sym typeface="Wingdings" pitchFamily="2" charset="2"/>
              </a:rPr>
              <a:t> Sử dụng câu lệnh </a:t>
            </a:r>
            <a:r>
              <a:rPr lang="en-US">
                <a:solidFill>
                  <a:srgbClr val="FF0000"/>
                </a:solidFill>
                <a:sym typeface="Wingdings" pitchFamily="2" charset="2"/>
              </a:rPr>
              <a:t>lặp không biết trước số lần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88A94-7059-402E-86FA-27D59D4CB8D6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8800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 Vòng lặp không xác định while</a:t>
            </a:r>
            <a:endParaRPr lang="vi-V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Cú pháp câu lệnh: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Trong đó:</a:t>
            </a:r>
          </a:p>
          <a:p>
            <a:pPr lvl="1"/>
            <a:r>
              <a:rPr lang="en-US">
                <a:solidFill>
                  <a:srgbClr val="FF0000"/>
                </a:solidFill>
                <a:latin typeface="+mj-lt"/>
                <a:ea typeface="+mn-ea"/>
                <a:cs typeface="Courier New" pitchFamily="49" charset="0"/>
              </a:rPr>
              <a:t>&lt;Điều kiện&gt; </a:t>
            </a:r>
            <a:r>
              <a:rPr lang="vi-VN"/>
              <a:t>Biểu thức C bất kỳ, thường là biểu thức quan hệ cho kết quả 0 (</a:t>
            </a:r>
            <a:r>
              <a:rPr lang="vi-VN">
                <a:solidFill>
                  <a:srgbClr val="FF0000"/>
                </a:solidFill>
              </a:rPr>
              <a:t>sai</a:t>
            </a:r>
            <a:r>
              <a:rPr lang="vi-VN"/>
              <a:t>) và != 0 (</a:t>
            </a:r>
            <a:r>
              <a:rPr lang="vi-VN">
                <a:solidFill>
                  <a:srgbClr val="FF0000"/>
                </a:solidFill>
              </a:rPr>
              <a:t>đúng</a:t>
            </a:r>
            <a:r>
              <a:rPr lang="vi-VN"/>
              <a:t>). Điều kiện có thể là một dãy biểu thức ngăn cách nhau bởi dấu ph</a:t>
            </a:r>
            <a:r>
              <a:rPr lang="en-US"/>
              <a:t>ẩ</a:t>
            </a:r>
            <a:r>
              <a:rPr lang="vi-VN"/>
              <a:t>y, tính đúng sai của </a:t>
            </a:r>
            <a:r>
              <a:rPr lang="vi-VN">
                <a:solidFill>
                  <a:srgbClr val="FF0000"/>
                </a:solidFill>
                <a:latin typeface="+mj-lt"/>
                <a:ea typeface="+mn-ea"/>
                <a:cs typeface="Courier New" pitchFamily="49" charset="0"/>
              </a:rPr>
              <a:t>&lt;Điều kiện&gt; </a:t>
            </a:r>
            <a:r>
              <a:rPr lang="vi-VN"/>
              <a:t>là tính đúng sai của biểu thức </a:t>
            </a:r>
            <a:r>
              <a:rPr lang="vi-VN">
                <a:solidFill>
                  <a:srgbClr val="FF0000"/>
                </a:solidFill>
              </a:rPr>
              <a:t>cuối cùng </a:t>
            </a:r>
            <a:r>
              <a:rPr lang="vi-VN"/>
              <a:t>trong dãy</a:t>
            </a:r>
          </a:p>
          <a:p>
            <a:pPr lvl="1"/>
            <a:r>
              <a:rPr lang="en-US"/>
              <a:t> </a:t>
            </a:r>
            <a:r>
              <a:rPr lang="en-US">
                <a:solidFill>
                  <a:srgbClr val="003366">
                    <a:lumMod val="60000"/>
                    <a:lumOff val="40000"/>
                  </a:srgbClr>
                </a:solidFill>
                <a:latin typeface="+mj-lt"/>
                <a:ea typeface="+mn-ea"/>
                <a:cs typeface="Courier New" pitchFamily="49" charset="0"/>
              </a:rPr>
              <a:t>&lt;Lệnh&gt;</a:t>
            </a:r>
            <a:r>
              <a:rPr lang="vi-VN">
                <a:solidFill>
                  <a:srgbClr val="003366">
                    <a:lumMod val="60000"/>
                    <a:lumOff val="40000"/>
                  </a:srgbClr>
                </a:solidFill>
                <a:latin typeface="+mj-lt"/>
                <a:ea typeface="+mn-ea"/>
                <a:cs typeface="Courier New" pitchFamily="49" charset="0"/>
              </a:rPr>
              <a:t> </a:t>
            </a:r>
            <a:r>
              <a:rPr lang="vi-VN"/>
              <a:t>lệnh</a:t>
            </a:r>
            <a:r>
              <a:rPr lang="vi-VN" sz="20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vi-VN"/>
              <a:t>đơ</a:t>
            </a:r>
            <a:r>
              <a:rPr lang="en-US"/>
              <a:t>n hoặc khối lệnh nằm giữa { và }</a:t>
            </a:r>
          </a:p>
          <a:p>
            <a:pPr lvl="1"/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335F5-53BA-4F02-9931-2D492B16B739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87" name="Content Placeholder 41"/>
          <p:cNvSpPr txBox="1">
            <a:spLocks/>
          </p:cNvSpPr>
          <p:nvPr/>
        </p:nvSpPr>
        <p:spPr bwMode="auto">
          <a:xfrm>
            <a:off x="924290" y="1700808"/>
            <a:ext cx="739212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59D2"/>
              </a:buClr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while (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&lt;Điều</a:t>
            </a:r>
            <a:r>
              <a:rPr kumimoji="0" lang="en-US" sz="2800" b="0" i="0" u="none" strike="noStrike" kern="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 kiện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&gt;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59D2"/>
              </a:buClr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		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3366">
                    <a:lumMod val="60000"/>
                    <a:lumOff val="40000"/>
                  </a:srgbClr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&lt;Lệnh&gt;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;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3366">
                  <a:lumMod val="60000"/>
                  <a:lumOff val="40000"/>
                </a:srgbClr>
              </a:solidFill>
              <a:effectLst/>
              <a:uLnTx/>
              <a:uFillTx/>
              <a:latin typeface="+mj-lt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17727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Cách hoạt động của vòng lặp while</a:t>
            </a:r>
            <a:endParaRPr lang="vi-VN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Sơ đồ khối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sz="1800"/>
          </a:p>
          <a:p>
            <a:r>
              <a:rPr lang="en-US"/>
              <a:t>Cách hoạt động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</a:rPr>
              <a:t>Bước 1</a:t>
            </a:r>
            <a:r>
              <a:rPr lang="en-US" sz="2400"/>
              <a:t>. Xác định giá trị </a:t>
            </a:r>
            <a:r>
              <a:rPr lang="en-US" sz="2400" b="1">
                <a:solidFill>
                  <a:srgbClr val="FF0000"/>
                </a:solidFill>
                <a:latin typeface="+mj-lt"/>
              </a:rPr>
              <a:t>&lt;Điều kiện&gt;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</a:rPr>
              <a:t>Bước 2</a:t>
            </a:r>
            <a:r>
              <a:rPr lang="en-US" sz="2400"/>
              <a:t>. - Nếu </a:t>
            </a:r>
            <a:r>
              <a:rPr lang="en-US" sz="2400" b="1">
                <a:solidFill>
                  <a:srgbClr val="FF0000"/>
                </a:solidFill>
                <a:latin typeface="+mj-lt"/>
              </a:rPr>
              <a:t>&lt;Điều kiện&gt; </a:t>
            </a:r>
            <a:r>
              <a:rPr lang="en-US" sz="2400"/>
              <a:t>bằng 0 (sai), máy ra ra khỏi vòng lặp.</a:t>
            </a:r>
          </a:p>
          <a:p>
            <a:pPr marL="0" indent="0">
              <a:buNone/>
            </a:pPr>
            <a:r>
              <a:rPr lang="en-US" sz="2400"/>
              <a:t>	    - Nếu  </a:t>
            </a:r>
            <a:r>
              <a:rPr lang="en-US" sz="2400" b="1">
                <a:solidFill>
                  <a:srgbClr val="FF0000"/>
                </a:solidFill>
                <a:latin typeface="+mj-lt"/>
              </a:rPr>
              <a:t>&lt;Điều kiện&gt; </a:t>
            </a:r>
            <a:r>
              <a:rPr lang="en-US" sz="2400"/>
              <a:t>khác 0 (đúng) máy thực hiện </a:t>
            </a:r>
            <a:r>
              <a:rPr lang="en-US" sz="2400" b="1">
                <a:solidFill>
                  <a:srgbClr val="003366">
                    <a:lumMod val="60000"/>
                    <a:lumOff val="40000"/>
                  </a:srgbClr>
                </a:solidFill>
                <a:latin typeface="+mj-lt"/>
              </a:rPr>
              <a:t>&lt;Lệnh&gt; </a:t>
            </a:r>
            <a:r>
              <a:rPr lang="en-US" sz="2400"/>
              <a:t>và trở lại </a:t>
            </a:r>
            <a:r>
              <a:rPr lang="en-US" sz="2400" b="1">
                <a:solidFill>
                  <a:srgbClr val="0000FF"/>
                </a:solidFill>
              </a:rPr>
              <a:t>Bước 1</a:t>
            </a:r>
            <a:r>
              <a:rPr lang="en-US"/>
              <a:t>	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F68E-35FA-433D-AAAC-8F98B4A3D4CD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rot="16200000" flipH="1">
            <a:off x="4028400" y="1675954"/>
            <a:ext cx="820738" cy="6350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6669136" y="2296986"/>
            <a:ext cx="1719288" cy="51068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3366">
                    <a:lumMod val="60000"/>
                    <a:lumOff val="4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&lt;Lệnh&gt;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593953" y="2556100"/>
            <a:ext cx="1075183" cy="25727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>
          <a:xfrm flipH="1">
            <a:off x="4405705" y="1513433"/>
            <a:ext cx="3123075" cy="2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5" name="Straight Connector 24"/>
          <p:cNvCxnSpPr>
            <a:endCxn id="22" idx="0"/>
          </p:cNvCxnSpPr>
          <p:nvPr/>
        </p:nvCxnSpPr>
        <p:spPr>
          <a:xfrm flipH="1">
            <a:off x="7528780" y="1510591"/>
            <a:ext cx="1" cy="792000"/>
          </a:xfrm>
          <a:prstGeom prst="line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436096" y="2158304"/>
            <a:ext cx="123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>
                <a:solidFill>
                  <a:srgbClr val="003366"/>
                </a:solidFill>
                <a:latin typeface="+mj-lt"/>
              </a:rPr>
              <a:t>Đúng, !=0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5587" y="3039402"/>
            <a:ext cx="1354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cs typeface="+mn-cs"/>
              </a:rPr>
              <a:t>Sai, =0</a:t>
            </a:r>
          </a:p>
        </p:txBody>
      </p:sp>
      <p:grpSp>
        <p:nvGrpSpPr>
          <p:cNvPr id="28" name="Group 10"/>
          <p:cNvGrpSpPr>
            <a:grpSpLocks/>
          </p:cNvGrpSpPr>
          <p:nvPr/>
        </p:nvGrpSpPr>
        <p:grpSpPr bwMode="auto">
          <a:xfrm>
            <a:off x="3275856" y="2055370"/>
            <a:ext cx="2338090" cy="997996"/>
            <a:chOff x="685800" y="2133600"/>
            <a:chExt cx="1737360" cy="640080"/>
          </a:xfrm>
        </p:grpSpPr>
        <p:sp>
          <p:nvSpPr>
            <p:cNvPr id="29" name="Diamond 28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  <a:solidFill>
              <a:srgbClr val="FFFFFF"/>
            </a:solidFill>
            <a:ln w="254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00142" y="2252721"/>
              <a:ext cx="1524557" cy="3811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&lt;Điều</a:t>
              </a:r>
              <a:r>
                <a:rPr kumimoji="0" lang="en-US" sz="2200" b="1" i="0" u="none" strike="noStrike" kern="0" cap="none" spc="0" normalizeH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kiện</a:t>
              </a:r>
              <a:r>
                <a:rPr kumimoji="0" lang="en-US" sz="22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&gt;</a:t>
              </a:r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 rot="16200000" flipH="1">
            <a:off x="4245280" y="3243090"/>
            <a:ext cx="414586" cy="7684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23792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/>
      <p:bldP spid="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Giải bài toán gửi tiền tiết kiệm 2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Thuật toán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51D7-9507-4AED-8C5A-8275E250B827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30320" y="1700808"/>
            <a:ext cx="7950548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9875" lvl="1"/>
            <a:endParaRPr lang="en-US" sz="20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marL="269875" lvl="1"/>
            <a:r>
              <a:rPr lang="en-US" sz="2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</a:t>
            </a:r>
            <a:r>
              <a:rPr lang="en-US" sz="2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1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vi-VN" sz="2200" b="1" dirty="0">
                <a:latin typeface="Courier New" pitchFamily="49" charset="0"/>
                <a:cs typeface="Courier New" pitchFamily="49" charset="0"/>
              </a:rPr>
              <a:t>Nhập số thực </a:t>
            </a:r>
            <a:r>
              <a:rPr lang="vi-VN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2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vi-VN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vi-VN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2200" b="1" dirty="0">
                <a:latin typeface="Courier New" pitchFamily="49" charset="0"/>
                <a:cs typeface="Courier New" pitchFamily="49" charset="0"/>
              </a:rPr>
              <a:t>và </a:t>
            </a:r>
            <a:r>
              <a:rPr lang="vi-VN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vi-VN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69875" lvl="1"/>
            <a:r>
              <a:rPr lang="vi-VN" sz="2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 2</a:t>
            </a:r>
            <a:r>
              <a:rPr lang="vi-VN" sz="2200" b="1" dirty="0">
                <a:latin typeface="Courier New" pitchFamily="49" charset="0"/>
                <a:cs typeface="Courier New" pitchFamily="49" charset="0"/>
              </a:rPr>
              <a:t>. Gán </a:t>
            </a:r>
            <a:r>
              <a:rPr lang="vi-VN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vi-VN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2200" b="1" dirty="0">
                <a:latin typeface="Courier New" pitchFamily="49" charset="0"/>
                <a:cs typeface="Courier New" pitchFamily="49" charset="0"/>
              </a:rPr>
              <a:t>= 0;</a:t>
            </a:r>
          </a:p>
          <a:p>
            <a:pPr marL="269875" lvl="1"/>
            <a:r>
              <a:rPr lang="en-US" sz="2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</a:t>
            </a:r>
            <a:r>
              <a:rPr lang="en-US" sz="2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3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Nếu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&gt;=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thì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thông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báo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và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kết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thúc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69875" lvl="1"/>
            <a:r>
              <a:rPr lang="en-US" sz="2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</a:t>
            </a:r>
            <a:r>
              <a:rPr lang="en-US" sz="2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4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Gán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a*k</a:t>
            </a:r>
          </a:p>
          <a:p>
            <a:pPr marL="269875" lvl="1"/>
            <a:r>
              <a:rPr lang="en-US" sz="2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</a:t>
            </a:r>
            <a:r>
              <a:rPr lang="en-US" sz="2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5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Tăng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số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tháng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2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+ 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và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quay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lại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</a:t>
            </a:r>
            <a:r>
              <a:rPr lang="en-US" sz="2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3</a:t>
            </a:r>
          </a:p>
          <a:p>
            <a:pPr marL="269875" lvl="1"/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7584" y="2089597"/>
            <a:ext cx="152400" cy="230425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8621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Giải bài toán gửi tiền tiết kiệm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52736"/>
            <a:ext cx="7924800" cy="532859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float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a,b,k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int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printf("Nhap so tien can gui: "); scanf("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%f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printf("Nhap so tien mong muon: "); scanf("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%f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printf("Nhap lai suat: "); scanf("%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",&amp;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thang=0;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sz="1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 (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a&lt;b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 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a=a+a*k;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 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thang=thang+1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printf("So thang can gui la: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",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thang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  getch();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-14956" y="2262572"/>
            <a:ext cx="9128125" cy="590364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852936"/>
            <a:ext cx="9128125" cy="864096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-14956" y="3717033"/>
            <a:ext cx="9128125" cy="360039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5052" y="4005064"/>
            <a:ext cx="9128125" cy="36004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-33747" y="4725144"/>
            <a:ext cx="9128125" cy="504056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-1" y="5553236"/>
            <a:ext cx="9128125" cy="252028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F1E-322B-4FF7-9F1A-193FF5A1E135}" type="datetime1">
              <a:rPr lang="vi-VN" smtClean="0"/>
              <a:t>14/01/2024</a:t>
            </a:fld>
            <a:endParaRPr lang="vi-V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77870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Chú ý</a:t>
            </a:r>
          </a:p>
        </p:txBody>
      </p:sp>
      <p:sp>
        <p:nvSpPr>
          <p:cNvPr id="3277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Câu lệnh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while</a:t>
            </a:r>
            <a:r>
              <a:rPr lang="en-US">
                <a:latin typeface="Arial" charset="0"/>
                <a:cs typeface="Arial" charset="0"/>
              </a:rPr>
              <a:t> có thể bị lặp vô tận 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loop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  <a:p>
            <a:endParaRPr lang="en-US">
              <a:latin typeface="Arial" charset="0"/>
              <a:cs typeface="Arial" charset="0"/>
            </a:endParaRPr>
          </a:p>
          <a:p>
            <a:endParaRPr lang="en-US" sz="4000">
              <a:latin typeface="Arial" charset="0"/>
              <a:cs typeface="Arial" charset="0"/>
            </a:endParaRPr>
          </a:p>
          <a:p>
            <a:endParaRPr lang="en-US">
              <a:latin typeface="Arial" charset="0"/>
              <a:cs typeface="Arial" charset="0"/>
            </a:endParaRPr>
          </a:p>
          <a:p>
            <a:endParaRPr lang="en-US">
              <a:latin typeface="Arial" charset="0"/>
              <a:cs typeface="Arial" charset="0"/>
            </a:endParaRPr>
          </a:p>
          <a:p>
            <a:endParaRPr lang="en-US">
              <a:latin typeface="Arial" charset="0"/>
              <a:cs typeface="Arial" charset="0"/>
            </a:endParaRPr>
          </a:p>
          <a:p>
            <a:endParaRPr lang="en-US">
              <a:latin typeface="Arial" charset="0"/>
              <a:cs typeface="Arial" charset="0"/>
            </a:endParaRPr>
          </a:p>
          <a:p>
            <a:pPr lvl="1">
              <a:spcBef>
                <a:spcPts val="0"/>
              </a:spcBef>
            </a:pPr>
            <a:endParaRPr lang="en-US">
              <a:latin typeface="Arial" charset="0"/>
              <a:cs typeface="Arial" charset="0"/>
            </a:endParaRPr>
          </a:p>
          <a:p>
            <a:pPr lvl="1">
              <a:spcBef>
                <a:spcPts val="0"/>
              </a:spcBef>
            </a:pPr>
            <a:r>
              <a:rPr lang="en-US">
                <a:latin typeface="Arial" charset="0"/>
                <a:cs typeface="Arial" charset="0"/>
              </a:rPr>
              <a:t>Lặp vô hạn chỉ kết thúc được nhờ câu lệnh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break</a:t>
            </a:r>
          </a:p>
          <a:p>
            <a:pPr marL="471487" lvl="1" indent="0">
              <a:spcBef>
                <a:spcPts val="0"/>
              </a:spcBef>
              <a:buNone/>
            </a:pPr>
            <a:r>
              <a:rPr lang="en-US">
                <a:latin typeface="Arial" charset="0"/>
                <a:cs typeface="Arial" charset="0"/>
                <a:sym typeface="Wingdings" pitchFamily="2" charset="2"/>
              </a:rPr>
              <a:t> Trong thân vòng lặp, cần có lệnh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  <a:sym typeface="Wingdings" pitchFamily="2" charset="2"/>
              </a:rPr>
              <a:t>thay đổi giá trị &lt;Điều kiện&gt;</a:t>
            </a:r>
            <a:endParaRPr lang="en-US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3277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3 - Các cấu trúc điều khiển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53124" y="1614278"/>
            <a:ext cx="143512" cy="188538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4" name="TextBox 9"/>
          <p:cNvSpPr txBox="1">
            <a:spLocks noChangeArrowheads="1"/>
          </p:cNvSpPr>
          <p:nvPr/>
        </p:nvSpPr>
        <p:spPr bwMode="auto">
          <a:xfrm>
            <a:off x="838200" y="1614279"/>
            <a:ext cx="7010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n;	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printf(“%d”,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" name="TextBox 9"/>
          <p:cNvSpPr txBox="1">
            <a:spLocks noChangeArrowheads="1"/>
          </p:cNvSpPr>
          <p:nvPr/>
        </p:nvSpPr>
        <p:spPr bwMode="auto">
          <a:xfrm>
            <a:off x="840191" y="3650248"/>
            <a:ext cx="7010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n = 1;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236" y="3717032"/>
            <a:ext cx="152400" cy="173748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0823" y="434833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-3" y="4653136"/>
            <a:ext cx="9128125" cy="639244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8386-20E7-4E09-BFA2-09E3C2AEF314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32463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2774" grpId="0"/>
      <p:bldP spid="15" grpId="0"/>
      <p:bldP spid="16" grpId="0" animBg="1"/>
      <p:bldP spid="17" grpId="0" animBg="1"/>
      <p:bldP spid="17" grpId="1" animBg="1"/>
      <p:bldP spid="18" grpId="0" animBg="1"/>
      <p:bldP spid="18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Bài toán: Nhập số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Nhập</a:t>
            </a:r>
            <a:r>
              <a:rPr lang="en-US"/>
              <a:t> vào một </a:t>
            </a:r>
            <a:r>
              <a:rPr lang="en-US">
                <a:solidFill>
                  <a:srgbClr val="FF0000"/>
                </a:solidFill>
              </a:rPr>
              <a:t>số nguyên </a:t>
            </a:r>
            <a:r>
              <a:rPr lang="en-US"/>
              <a:t>cho </a:t>
            </a:r>
            <a:r>
              <a:rPr lang="en-US">
                <a:solidFill>
                  <a:srgbClr val="FF0000"/>
                </a:solidFill>
              </a:rPr>
              <a:t>đến khi </a:t>
            </a:r>
            <a:r>
              <a:rPr lang="en-US"/>
              <a:t>số đó là số </a:t>
            </a:r>
            <a:r>
              <a:rPr lang="en-US">
                <a:solidFill>
                  <a:srgbClr val="FF0000"/>
                </a:solidFill>
              </a:rPr>
              <a:t>nguyên dương</a:t>
            </a:r>
          </a:p>
          <a:p>
            <a:r>
              <a:rPr lang="en-US"/>
              <a:t>Nhận xét:</a:t>
            </a:r>
          </a:p>
          <a:p>
            <a:pPr lvl="1"/>
            <a:r>
              <a:rPr lang="en-US"/>
              <a:t>Công việc nhập được thực hiện lặp đi lặp lại chừng nào số nhập được còn chưa là số nguyên dương</a:t>
            </a:r>
          </a:p>
          <a:p>
            <a:pPr lvl="1"/>
            <a:r>
              <a:rPr lang="en-US"/>
              <a:t>Số lần lặp là không biết trước</a:t>
            </a:r>
          </a:p>
          <a:p>
            <a:r>
              <a:rPr lang="en-US"/>
              <a:t>Thuật toán:</a:t>
            </a:r>
          </a:p>
          <a:p>
            <a:pPr marL="471487" lvl="1" indent="0">
              <a:buNone/>
            </a:pPr>
            <a:endParaRPr lang="vi-VN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99592" y="5085184"/>
            <a:ext cx="795054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9875" lvl="1"/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.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Nhập số nguyên </a:t>
            </a:r>
            <a:r>
              <a:rPr lang="vi-VN" sz="2000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</a:p>
          <a:p>
            <a:pPr marL="269875" lvl="1"/>
            <a:r>
              <a:rPr lang="vi-VN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 2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. Nếu 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n&gt;0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 thông báo nhập đúng và kết thúc</a:t>
            </a:r>
          </a:p>
          <a:p>
            <a:pPr marL="269875" lvl="1"/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Bước 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. Nếu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n&lt;=0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quay lại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Bước 1</a:t>
            </a:r>
          </a:p>
          <a:p>
            <a:pPr marL="269875" lvl="1"/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9372" y="5078677"/>
            <a:ext cx="184567" cy="9426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1A33-9B0C-4EC7-8390-D1AC4CE3A5A6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Bài toán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14433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 Vòng lặp không xác định do…while</a:t>
            </a:r>
            <a:endParaRPr lang="vi-VN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&lt;</a:t>
            </a:r>
            <a:r>
              <a:rPr lang="en-US" dirty="0" err="1">
                <a:solidFill>
                  <a:srgbClr val="FF0000"/>
                </a:solidFill>
                <a:cs typeface="Courier New" pitchFamily="49" charset="0"/>
              </a:rPr>
              <a:t>Điều</a:t>
            </a:r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cs typeface="Courier New" pitchFamily="49" charset="0"/>
              </a:rPr>
              <a:t>kiện</a:t>
            </a:r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&gt; </a:t>
            </a:r>
            <a:r>
              <a:rPr lang="vi-VN" dirty="0"/>
              <a:t>Biểu thức C bất kỳ, thường là biểu thức quan hệ cho kết quả 0 (</a:t>
            </a:r>
            <a:r>
              <a:rPr lang="vi-VN" dirty="0">
                <a:solidFill>
                  <a:srgbClr val="FF0000"/>
                </a:solidFill>
              </a:rPr>
              <a:t>sai</a:t>
            </a:r>
            <a:r>
              <a:rPr lang="vi-VN" dirty="0"/>
              <a:t>) và != 0 (</a:t>
            </a:r>
            <a:r>
              <a:rPr lang="vi-VN" dirty="0">
                <a:solidFill>
                  <a:srgbClr val="FF0000"/>
                </a:solidFill>
              </a:rPr>
              <a:t>đúng</a:t>
            </a:r>
            <a:r>
              <a:rPr lang="vi-VN" dirty="0"/>
              <a:t>). Điều kiện có thể là một dãy biểu thức ngăn cách nhau bởi dấu phảy, tính đúng sai của </a:t>
            </a:r>
            <a:r>
              <a:rPr lang="vi-VN" dirty="0">
                <a:solidFill>
                  <a:srgbClr val="FF0000"/>
                </a:solidFill>
                <a:cs typeface="Courier New" pitchFamily="49" charset="0"/>
              </a:rPr>
              <a:t>&lt;Điều kiện&gt; </a:t>
            </a:r>
            <a:r>
              <a:rPr lang="vi-VN" dirty="0"/>
              <a:t>là tính đúng sai của biểu thức </a:t>
            </a:r>
            <a:r>
              <a:rPr lang="vi-VN" dirty="0">
                <a:solidFill>
                  <a:srgbClr val="FF0000"/>
                </a:solidFill>
              </a:rPr>
              <a:t>cuối cùng </a:t>
            </a:r>
            <a:r>
              <a:rPr lang="vi-VN" dirty="0"/>
              <a:t>trong dãy</a:t>
            </a:r>
          </a:p>
          <a:p>
            <a:pPr lvl="1"/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Courier New" pitchFamily="49" charset="0"/>
              </a:rPr>
              <a:t>&lt;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Courier New" pitchFamily="49" charset="0"/>
              </a:rPr>
              <a:t>Lệnh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Courier New" pitchFamily="49" charset="0"/>
              </a:rPr>
              <a:t>&gt;</a:t>
            </a:r>
            <a:r>
              <a:rPr lang="vi-VN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Courier New" pitchFamily="49" charset="0"/>
              </a:rPr>
              <a:t> </a:t>
            </a:r>
            <a:r>
              <a:rPr lang="vi-VN" dirty="0"/>
              <a:t>lệnh</a:t>
            </a:r>
            <a:r>
              <a:rPr lang="vi-VN" sz="1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vi-VN" dirty="0"/>
              <a:t>đơ</a:t>
            </a:r>
            <a:r>
              <a:rPr lang="en-US" dirty="0"/>
              <a:t>n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{ </a:t>
            </a:r>
            <a:r>
              <a:rPr lang="en-US" dirty="0" err="1"/>
              <a:t>và</a:t>
            </a:r>
            <a:r>
              <a:rPr lang="en-US" dirty="0"/>
              <a:t> }</a:t>
            </a:r>
            <a:endParaRPr lang="vi-VN" dirty="0"/>
          </a:p>
          <a:p>
            <a:pPr lvl="1"/>
            <a:endParaRPr lang="vi-VN" dirty="0"/>
          </a:p>
          <a:p>
            <a:pPr lvl="1"/>
            <a:endParaRPr lang="en-US" dirty="0"/>
          </a:p>
          <a:p>
            <a:pPr lvl="1"/>
            <a:endParaRPr lang="vi-V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98D0-1DE1-4F52-81DE-5DFF0CD3CA28}" type="datetime1">
              <a:rPr lang="vi-VN" smtClean="0"/>
              <a:t>14/01/2024</a:t>
            </a:fld>
            <a:endParaRPr lang="vi-V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4" name="Content Placeholder 41"/>
          <p:cNvSpPr txBox="1">
            <a:spLocks/>
          </p:cNvSpPr>
          <p:nvPr/>
        </p:nvSpPr>
        <p:spPr bwMode="auto">
          <a:xfrm>
            <a:off x="1785747" y="1628800"/>
            <a:ext cx="3434325" cy="1787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latin typeface="+mj-lt"/>
                <a:cs typeface="Courier New" pitchFamily="49" charset="0"/>
              </a:rPr>
              <a:t>do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Courier New" pitchFamily="49" charset="0"/>
              </a:rPr>
              <a:t>		</a:t>
            </a:r>
            <a:r>
              <a:rPr lang="en-US" sz="2800" kern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Courier New" pitchFamily="49" charset="0"/>
              </a:rPr>
              <a:t>&lt;</a:t>
            </a:r>
            <a:r>
              <a:rPr lang="en-US" sz="2800" kern="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Courier New" pitchFamily="49" charset="0"/>
              </a:rPr>
              <a:t>Lệnh</a:t>
            </a:r>
            <a:r>
              <a:rPr lang="en-US" sz="2800" kern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cs typeface="Courier New" pitchFamily="49" charset="0"/>
              </a:rPr>
              <a:t>&gt;</a:t>
            </a:r>
            <a:r>
              <a:rPr lang="en-US" sz="2800" b="1" kern="0" dirty="0">
                <a:latin typeface="+mj-lt"/>
                <a:cs typeface="Courier New" pitchFamily="49" charset="0"/>
              </a:rPr>
              <a:t>;</a:t>
            </a:r>
            <a:endParaRPr lang="en-US" sz="2800" kern="0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  <a:cs typeface="Courier New" pitchFamily="49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latin typeface="+mj-lt"/>
                <a:cs typeface="Courier New" pitchFamily="49" charset="0"/>
              </a:rPr>
              <a:t>while (</a:t>
            </a:r>
            <a:r>
              <a:rPr lang="en-US" sz="2400" kern="0" dirty="0">
                <a:solidFill>
                  <a:srgbClr val="FF0000"/>
                </a:solidFill>
                <a:latin typeface="+mj-lt"/>
                <a:cs typeface="Courier New" pitchFamily="49" charset="0"/>
              </a:rPr>
              <a:t>&lt;</a:t>
            </a:r>
            <a:r>
              <a:rPr lang="en-US" sz="2400" kern="0" dirty="0" err="1">
                <a:solidFill>
                  <a:srgbClr val="FF0000"/>
                </a:solidFill>
                <a:latin typeface="+mj-lt"/>
                <a:cs typeface="Courier New" pitchFamily="49" charset="0"/>
              </a:rPr>
              <a:t>Điều</a:t>
            </a:r>
            <a:r>
              <a:rPr lang="en-US" sz="2400" kern="0" dirty="0">
                <a:solidFill>
                  <a:srgbClr val="FF0000"/>
                </a:solidFill>
                <a:latin typeface="+mj-lt"/>
                <a:cs typeface="Courier New" pitchFamily="49" charset="0"/>
              </a:rPr>
              <a:t> </a:t>
            </a:r>
            <a:r>
              <a:rPr lang="en-US" sz="2400" kern="0" dirty="0" err="1">
                <a:solidFill>
                  <a:srgbClr val="FF0000"/>
                </a:solidFill>
                <a:latin typeface="+mj-lt"/>
                <a:cs typeface="Courier New" pitchFamily="49" charset="0"/>
              </a:rPr>
              <a:t>kiện</a:t>
            </a:r>
            <a:r>
              <a:rPr lang="en-US" sz="2400" kern="0" dirty="0">
                <a:solidFill>
                  <a:srgbClr val="FF0000"/>
                </a:solidFill>
                <a:latin typeface="+mj-lt"/>
                <a:cs typeface="Courier New" pitchFamily="49" charset="0"/>
              </a:rPr>
              <a:t>&gt;</a:t>
            </a:r>
            <a:r>
              <a:rPr lang="en-US" sz="2800" b="1" kern="0" dirty="0">
                <a:latin typeface="+mj-lt"/>
                <a:cs typeface="Courier New" pitchFamily="49" charset="0"/>
              </a:rPr>
              <a:t>);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 dirty="0">
                <a:latin typeface="Courier New" pitchFamily="49" charset="0"/>
                <a:cs typeface="Courier New" pitchFamily="49" charset="0"/>
              </a:rPr>
              <a:t>		</a:t>
            </a:r>
            <a:endParaRPr lang="en-US" sz="2800" kern="0" dirty="0">
              <a:solidFill>
                <a:schemeClr val="tx1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18365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Vòng lặp không xác định do…while</a:t>
            </a:r>
            <a:endParaRPr lang="vi-VN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Sơ đồ khối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sz="1800"/>
          </a:p>
          <a:p>
            <a:r>
              <a:rPr lang="en-US"/>
              <a:t>Cách hoạt động</a:t>
            </a:r>
          </a:p>
          <a:p>
            <a:pPr marL="0" indent="0">
              <a:buNone/>
            </a:pPr>
            <a:r>
              <a:rPr lang="en-US" sz="2300" b="1">
                <a:solidFill>
                  <a:srgbClr val="0000FF"/>
                </a:solidFill>
              </a:rPr>
              <a:t>Bước 1</a:t>
            </a:r>
            <a:r>
              <a:rPr lang="en-US" sz="2300"/>
              <a:t>. Thực hiện &lt;Lệnh&gt; trong thân vòng lặp</a:t>
            </a:r>
          </a:p>
          <a:p>
            <a:pPr marL="0" indent="0">
              <a:buNone/>
            </a:pPr>
            <a:r>
              <a:rPr lang="en-US" sz="2300" b="1">
                <a:solidFill>
                  <a:srgbClr val="0000FF"/>
                </a:solidFill>
              </a:rPr>
              <a:t>Bước 2</a:t>
            </a:r>
            <a:r>
              <a:rPr lang="en-US" sz="2300"/>
              <a:t>. Xác định giá trị </a:t>
            </a:r>
            <a:r>
              <a:rPr lang="en-US" sz="2300" b="1">
                <a:solidFill>
                  <a:srgbClr val="FF0000"/>
                </a:solidFill>
                <a:latin typeface="+mj-lt"/>
              </a:rPr>
              <a:t>&lt;Điều kiện&gt;</a:t>
            </a:r>
            <a:r>
              <a:rPr lang="en-US" sz="2300"/>
              <a:t>. </a:t>
            </a:r>
          </a:p>
          <a:p>
            <a:pPr marL="0" indent="0">
              <a:buNone/>
            </a:pPr>
            <a:r>
              <a:rPr lang="en-US" sz="2300"/>
              <a:t>	- Nếu </a:t>
            </a:r>
            <a:r>
              <a:rPr lang="en-US" sz="2300" b="1">
                <a:solidFill>
                  <a:srgbClr val="FF0000"/>
                </a:solidFill>
                <a:latin typeface="+mj-lt"/>
              </a:rPr>
              <a:t>&lt;Điều kiện&gt; </a:t>
            </a:r>
            <a:r>
              <a:rPr lang="en-US" sz="2300"/>
              <a:t>bằng 0 (sai), máy ra ra khỏi vòng lặp.</a:t>
            </a:r>
          </a:p>
          <a:p>
            <a:pPr marL="0" indent="0">
              <a:buNone/>
            </a:pPr>
            <a:r>
              <a:rPr lang="en-US" sz="2300"/>
              <a:t>	- Nếu  </a:t>
            </a:r>
            <a:r>
              <a:rPr lang="en-US" sz="2300" b="1">
                <a:solidFill>
                  <a:srgbClr val="FF0000"/>
                </a:solidFill>
                <a:latin typeface="+mj-lt"/>
              </a:rPr>
              <a:t>&lt;Điều kiện&gt; </a:t>
            </a:r>
            <a:r>
              <a:rPr lang="en-US" sz="2300"/>
              <a:t>khác 0 (đúng) máy thực hiện </a:t>
            </a:r>
            <a:r>
              <a:rPr lang="en-US" sz="2300" b="1">
                <a:solidFill>
                  <a:srgbClr val="003366">
                    <a:lumMod val="60000"/>
                    <a:lumOff val="40000"/>
                  </a:srgbClr>
                </a:solidFill>
                <a:latin typeface="+mj-lt"/>
              </a:rPr>
              <a:t>&lt;Lệnh&gt; </a:t>
            </a:r>
            <a:r>
              <a:rPr lang="en-US" sz="2300"/>
              <a:t>và trở lại </a:t>
            </a:r>
            <a:r>
              <a:rPr lang="en-US" sz="2300" b="1">
                <a:solidFill>
                  <a:srgbClr val="0000FF"/>
                </a:solidFill>
              </a:rPr>
              <a:t>Bước 1</a:t>
            </a:r>
            <a:r>
              <a:rPr lang="en-US" sz="2300"/>
              <a:t>	</a:t>
            </a:r>
            <a:endParaRPr lang="vi-VN" sz="23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8CC5-6A30-4AEE-AF23-30F123B58487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rot="16200000" flipH="1">
            <a:off x="4846439" y="1462395"/>
            <a:ext cx="668338" cy="4762"/>
          </a:xfrm>
          <a:prstGeom prst="straightConnector1">
            <a:avLst/>
          </a:prstGeom>
          <a:ln>
            <a:solidFill>
              <a:srgbClr val="FF9933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38464" y="1816407"/>
            <a:ext cx="1371600" cy="427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&lt;Lệnh&gt;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rot="10800000">
            <a:off x="5148064" y="1435407"/>
            <a:ext cx="2057400" cy="1588"/>
          </a:xfrm>
          <a:prstGeom prst="straightConnector1">
            <a:avLst/>
          </a:prstGeom>
          <a:noFill/>
          <a:ln w="38100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33" name="Straight Connector 32"/>
          <p:cNvCxnSpPr/>
          <p:nvPr/>
        </p:nvCxnSpPr>
        <p:spPr>
          <a:xfrm>
            <a:off x="6062464" y="2959407"/>
            <a:ext cx="1143000" cy="1588"/>
          </a:xfrm>
          <a:prstGeom prst="line">
            <a:avLst/>
          </a:prstGeom>
          <a:ln>
            <a:solidFill>
              <a:srgbClr val="FF99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21205" y="3294370"/>
            <a:ext cx="5309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2464" y="2578407"/>
            <a:ext cx="7745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Đúng</a:t>
            </a:r>
          </a:p>
        </p:txBody>
      </p:sp>
      <p:grpSp>
        <p:nvGrpSpPr>
          <p:cNvPr id="36" name="Group 10"/>
          <p:cNvGrpSpPr>
            <a:grpSpLocks/>
          </p:cNvGrpSpPr>
          <p:nvPr/>
        </p:nvGrpSpPr>
        <p:grpSpPr bwMode="auto">
          <a:xfrm>
            <a:off x="4309864" y="2654607"/>
            <a:ext cx="1736725" cy="639763"/>
            <a:chOff x="685800" y="2133600"/>
            <a:chExt cx="1737360" cy="640080"/>
          </a:xfrm>
        </p:grpSpPr>
        <p:sp>
          <p:nvSpPr>
            <p:cNvPr id="37" name="Diamond 36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00142" y="2252722"/>
              <a:ext cx="1524557" cy="38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0000"/>
                  </a:solidFill>
                </a:rPr>
                <a:t>&lt;Điều kiện&gt;</a:t>
              </a:r>
            </a:p>
          </p:txBody>
        </p:sp>
      </p:grpSp>
      <p:cxnSp>
        <p:nvCxnSpPr>
          <p:cNvPr id="39" name="Straight Arrow Connector 38"/>
          <p:cNvCxnSpPr/>
          <p:nvPr/>
        </p:nvCxnSpPr>
        <p:spPr>
          <a:xfrm rot="16200000" flipH="1">
            <a:off x="4924227" y="3542020"/>
            <a:ext cx="501650" cy="6350"/>
          </a:xfrm>
          <a:prstGeom prst="straightConnector1">
            <a:avLst/>
          </a:prstGeom>
          <a:ln>
            <a:solidFill>
              <a:srgbClr val="FF9933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6200000" flipH="1">
            <a:off x="4960739" y="2446645"/>
            <a:ext cx="439738" cy="4762"/>
          </a:xfrm>
          <a:prstGeom prst="straightConnector1">
            <a:avLst/>
          </a:prstGeom>
          <a:ln>
            <a:solidFill>
              <a:srgbClr val="FF9933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6444258" y="2196613"/>
            <a:ext cx="1524000" cy="1588"/>
          </a:xfrm>
          <a:prstGeom prst="line">
            <a:avLst/>
          </a:prstGeom>
          <a:ln>
            <a:solidFill>
              <a:srgbClr val="FF99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53363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4" grpId="0"/>
      <p:bldP spid="3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Giải bài toán nhập số nguyên dương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B933-302B-46CE-A08E-191BFF684DC6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62000" y="1271736"/>
            <a:ext cx="7924800" cy="5181600"/>
          </a:xfrm>
          <a:prstGeom prst="rect">
            <a:avLst/>
          </a:prstGeom>
        </p:spPr>
        <p:txBody>
          <a:bodyPr/>
          <a:lstStyle>
            <a:lvl1pPr marL="469900" indent="-469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lang="en-GB" sz="2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  <a:defRPr lang="en-GB" sz="2400" smtClean="0">
                <a:solidFill>
                  <a:srgbClr val="0000FF"/>
                </a:solidFill>
                <a:latin typeface="+mn-lt"/>
                <a:cs typeface="+mn-cs"/>
              </a:defRPr>
            </a:lvl2pPr>
            <a:lvl3pPr marL="1304925" indent="-395288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o"/>
              <a:defRPr lang="en-GB" sz="2000" smtClean="0">
                <a:solidFill>
                  <a:srgbClr val="002060"/>
                </a:solidFill>
                <a:latin typeface="+mn-lt"/>
                <a:cs typeface="+mn-cs"/>
              </a:defRPr>
            </a:lvl3pPr>
            <a:lvl4pPr marL="1693863" indent="-387350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  <a:defRPr lang="en-GB" sz="1800" smtClean="0">
                <a:solidFill>
                  <a:srgbClr val="000066"/>
                </a:solidFill>
                <a:latin typeface="+mn-lt"/>
                <a:cs typeface="+mn-cs"/>
              </a:defRPr>
            </a:lvl4pPr>
            <a:lvl5pPr marL="20939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5pPr>
            <a:lvl6pPr marL="25511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6pPr>
            <a:lvl7pPr marL="30083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7pPr>
            <a:lvl8pPr marL="34655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8pPr>
            <a:lvl9pPr marL="3922713" indent="-398463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accent2"/>
                </a:solidFill>
                <a:latin typeface="Tahoma" pitchFamily="34" charset="0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marL="0" indent="0">
              <a:spcBef>
                <a:spcPts val="200"/>
              </a:spcBef>
              <a:buFont typeface="Wingdings" pitchFamily="2" charset="2"/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marL="0" indent="0">
              <a:buNone/>
            </a:pPr>
            <a:r>
              <a:rPr lang="vi-VN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vi-VN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	{ 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	  printf("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Hay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nha</a:t>
            </a:r>
            <a:r>
              <a:rPr lang="vi-VN" sz="1800" b="1" dirty="0">
                <a:latin typeface="Courier New" pitchFamily="49" charset="0"/>
                <a:cs typeface="Courier New" pitchFamily="49" charset="0"/>
              </a:rPr>
              <a:t>p mot so &gt;0: ");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 	  scanf("%d",&amp;n);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 	  printf("Ban da nhap so %d\n «,n);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vi-VN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(n&lt;=0) 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  printf("Dung so duong roi!");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   getch();</a:t>
            </a:r>
          </a:p>
          <a:p>
            <a:pPr marL="0" indent="0">
              <a:buNone/>
            </a:pPr>
            <a:r>
              <a:rPr lang="vi-VN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5536" y="1271736"/>
            <a:ext cx="152400" cy="48935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65956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Câu lệnh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do… while</a:t>
            </a:r>
            <a:r>
              <a:rPr lang="en-US">
                <a:latin typeface="Arial" charset="0"/>
                <a:cs typeface="Arial" charset="0"/>
              </a:rPr>
              <a:t> có thể bị lặp vô tận 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loop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09800"/>
            <a:ext cx="152400" cy="132343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4" name="TextBox 9"/>
          <p:cNvSpPr txBox="1">
            <a:spLocks noChangeArrowheads="1"/>
          </p:cNvSpPr>
          <p:nvPr/>
        </p:nvSpPr>
        <p:spPr bwMode="auto">
          <a:xfrm>
            <a:off x="838200" y="2209800"/>
            <a:ext cx="7010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Chú ý</a:t>
            </a:r>
            <a:endParaRPr lang="vi-VN"/>
          </a:p>
        </p:txBody>
      </p:sp>
      <p:sp>
        <p:nvSpPr>
          <p:cNvPr id="14" name="TextBox 9"/>
          <p:cNvSpPr txBox="1">
            <a:spLocks noChangeArrowheads="1"/>
          </p:cNvSpPr>
          <p:nvPr/>
        </p:nvSpPr>
        <p:spPr bwMode="auto">
          <a:xfrm>
            <a:off x="840191" y="3861048"/>
            <a:ext cx="7010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n = 1;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while (1)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384" y="3948979"/>
            <a:ext cx="151200" cy="20003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82B6-9A74-469A-A6DA-0D00A23D82CF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5862801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2.4 Một số lưu ý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/>
              <a:t>Cho phép ra khỏi </a:t>
            </a:r>
            <a:r>
              <a:rPr lang="en-US" sz="2600">
                <a:solidFill>
                  <a:srgbClr val="FF0000"/>
                </a:solidFill>
              </a:rPr>
              <a:t>for</a:t>
            </a:r>
            <a:r>
              <a:rPr lang="en-US" sz="2600"/>
              <a:t>, </a:t>
            </a:r>
            <a:r>
              <a:rPr lang="en-US" sz="2600">
                <a:solidFill>
                  <a:srgbClr val="FF0000"/>
                </a:solidFill>
              </a:rPr>
              <a:t>while</a:t>
            </a:r>
            <a:r>
              <a:rPr lang="en-US" sz="2600"/>
              <a:t>, </a:t>
            </a:r>
            <a:r>
              <a:rPr lang="en-US" sz="2600">
                <a:solidFill>
                  <a:srgbClr val="FF0000"/>
                </a:solidFill>
              </a:rPr>
              <a:t>do…while</a:t>
            </a:r>
            <a:r>
              <a:rPr lang="en-US" sz="2600"/>
              <a:t> và </a:t>
            </a:r>
            <a:r>
              <a:rPr lang="en-US" sz="2600">
                <a:solidFill>
                  <a:srgbClr val="FF0000"/>
                </a:solidFill>
              </a:rPr>
              <a:t>switch</a:t>
            </a:r>
          </a:p>
          <a:p>
            <a:r>
              <a:rPr lang="en-US" sz="2600"/>
              <a:t>Khi có nhiều chu trình lồng nhau, </a:t>
            </a:r>
            <a:r>
              <a:rPr lang="en-US" sz="2600">
                <a:solidFill>
                  <a:srgbClr val="FF0000"/>
                </a:solidFill>
              </a:rPr>
              <a:t>break</a:t>
            </a:r>
            <a:r>
              <a:rPr lang="en-US" sz="2600"/>
              <a:t> đưa máy ra khỏi chu trình bên trong nhất chứa nó.</a:t>
            </a:r>
          </a:p>
          <a:p>
            <a:r>
              <a:rPr lang="en-US" sz="2600"/>
              <a:t>Ví dụ: </a:t>
            </a:r>
            <a:r>
              <a:rPr lang="en-US" sz="2600">
                <a:solidFill>
                  <a:srgbClr val="0000FF"/>
                </a:solidFill>
              </a:rPr>
              <a:t>Thuật toán kiểm tra tính nguyên tố của 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848" y="3243212"/>
            <a:ext cx="152400" cy="283208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1306016" y="3212976"/>
            <a:ext cx="70104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i,n, ng_to = 1;</a:t>
            </a:r>
          </a:p>
          <a:p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(i=2;i&lt;=sqrt(n);i++)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   if (n%i==0)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{ ng_to=0;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break;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(ng_to)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printf(“\n%d la so nguyen to”,n);</a:t>
            </a:r>
          </a:p>
          <a:p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printf(“\n%d la hop so”,n);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A6CF5-5BA9-4EAE-B3B8-C787CB02404F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4200421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lưu ý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Continue:</a:t>
            </a:r>
            <a:r>
              <a:rPr lang="en-US" dirty="0"/>
              <a:t> Là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,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(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1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for</a:t>
            </a:r>
            <a:r>
              <a:rPr lang="en-US" dirty="0"/>
              <a:t>: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pPr lvl="1"/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while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do…while</a:t>
            </a:r>
            <a:r>
              <a:rPr lang="en-US" dirty="0"/>
              <a:t>: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(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while),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chu </a:t>
            </a:r>
            <a:r>
              <a:rPr lang="en-US" dirty="0" err="1"/>
              <a:t>trình</a:t>
            </a:r>
            <a:endParaRPr lang="en-US" dirty="0"/>
          </a:p>
          <a:p>
            <a:r>
              <a:rPr lang="en-US" dirty="0" err="1">
                <a:solidFill>
                  <a:srgbClr val="0000FF"/>
                </a:solidFill>
              </a:rPr>
              <a:t>Lưu</a:t>
            </a:r>
            <a:r>
              <a:rPr lang="en-US" dirty="0">
                <a:solidFill>
                  <a:srgbClr val="0000FF"/>
                </a:solidFill>
              </a:rPr>
              <a:t> ý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switch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E631-08F9-436A-9489-F60A5CC8CD66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6198559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câu lệnh continue</a:t>
            </a:r>
            <a:endParaRPr lang="vi-VN"/>
          </a:p>
        </p:txBody>
      </p:sp>
      <p:sp>
        <p:nvSpPr>
          <p:cNvPr id="4" name="Rounded Rectangle 3"/>
          <p:cNvSpPr/>
          <p:nvPr/>
        </p:nvSpPr>
        <p:spPr>
          <a:xfrm>
            <a:off x="755576" y="1082972"/>
            <a:ext cx="152400" cy="283208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1066800" y="1082972"/>
            <a:ext cx="70104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#include&lt;stdio.h&gt;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#include&lt;conio.h&gt;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int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n,i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nhan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n=");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("%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d",&amp;n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if(n&lt;=0)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nhan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("so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vua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la: %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d",n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//in so le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("\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nso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le la:");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for(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=1;i&lt;=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if(i%2==0)continue;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("%d ",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getch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42752" y="4023627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Bat dau 1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2752" y="4337228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Bat dau 2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28004" y="4634552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Bat dau 3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28004" y="4922584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Bat dau 4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29961" y="5210616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Chao ban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1170" y="5534228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Bat dau 5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24848" y="5867980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Chao ban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4817E-830D-419F-978B-BC1D1E93D667}" type="datetime1">
              <a:rPr lang="vi-VN" smtClean="0"/>
              <a:t>14/01/2024</a:t>
            </a:fld>
            <a:endParaRPr lang="vi-V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3 - Các cấu trúc điều khiển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52</a:t>
            </a:fld>
            <a:r>
              <a:rPr lang="vi-VN"/>
              <a:t>/56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D4B1BF-19DB-5D2D-0E85-3A36DACC3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019100"/>
            <a:ext cx="33528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3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 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/>
              <a:t>Nhập một số nguyên dương n (n &gt; 0).</a:t>
            </a:r>
          </a:p>
          <a:p>
            <a:pPr marL="514350" indent="-514350">
              <a:buFont typeface="Wingdings" pitchFamily="2" charset="2"/>
              <a:buNone/>
              <a:defRPr/>
            </a:pPr>
            <a:r>
              <a:rPr lang="en-US"/>
              <a:t>	Hãy cho biết: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/>
              <a:t>Có phải là số đối xứng? Ví dụ: 121, 12321, …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/>
              <a:t>Có phải là số chính phương? Ví dụ: 4, 9, 16, …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/>
              <a:t>Có phải là số nguyên tố? Ví dụ: 2, 3, 5, 7, …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/>
              <a:t>Có phải là số lẻ?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/>
              <a:t>Chữ số lớn nhất và nhỏ nhất?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/>
              <a:t>Các chữ số có tăng dần hay giảm dần không?</a:t>
            </a:r>
          </a:p>
        </p:txBody>
      </p:sp>
      <p:sp>
        <p:nvSpPr>
          <p:cNvPr id="4198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3 - Các cấu trúc điều khiển</a:t>
            </a:r>
            <a:endParaRPr lang="en-US"/>
          </a:p>
        </p:txBody>
      </p:sp>
      <p:pic>
        <p:nvPicPr>
          <p:cNvPr id="41989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2968F-F37C-411F-A61F-F67B21640A75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2391119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</a:t>
            </a:r>
            <a:r>
              <a:rPr lang="en-US" spc="-100" dirty="0" err="1"/>
              <a:t>một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</a:t>
            </a:r>
            <a:r>
              <a:rPr lang="en-US" spc="-100" dirty="0" err="1"/>
              <a:t>dương</a:t>
            </a:r>
            <a:r>
              <a:rPr lang="en-US" spc="-100" dirty="0"/>
              <a:t> n. </a:t>
            </a:r>
            <a:r>
              <a:rPr lang="en-US" spc="-100" dirty="0" err="1"/>
              <a:t>Tính</a:t>
            </a:r>
            <a:r>
              <a:rPr lang="en-US" spc="-100" dirty="0"/>
              <a:t>: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/>
              <a:t>S = 1 + 2 + … + n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/>
              <a:t>S = 1</a:t>
            </a:r>
            <a:r>
              <a:rPr lang="en-US" spc="-100" baseline="30000" dirty="0"/>
              <a:t>2</a:t>
            </a:r>
            <a:r>
              <a:rPr lang="en-US" spc="-100" dirty="0"/>
              <a:t> + 2</a:t>
            </a:r>
            <a:r>
              <a:rPr lang="en-US" spc="-100" baseline="30000" dirty="0"/>
              <a:t>2</a:t>
            </a:r>
            <a:r>
              <a:rPr lang="en-US" spc="-100" dirty="0"/>
              <a:t> + … + n</a:t>
            </a:r>
            <a:r>
              <a:rPr lang="en-US" spc="-100" baseline="30000" dirty="0"/>
              <a:t>2 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/>
              <a:t>S = 1 + 1/2 + … + 1/n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/>
              <a:t>S = 1*2*…*n = n!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spc="-100" dirty="0"/>
              <a:t>S = 1! + 2! + … + n!   2 3 9</a:t>
            </a:r>
          </a:p>
          <a:p>
            <a:pPr marL="514350" indent="-514350">
              <a:buFont typeface="+mj-lt"/>
              <a:buAutoNum type="arabicPeriod" startAt="2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3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a, b </a:t>
            </a:r>
            <a:r>
              <a:rPr lang="en-US" spc="-100" dirty="0" err="1"/>
              <a:t>và</a:t>
            </a:r>
            <a:r>
              <a:rPr lang="en-US" spc="-100" dirty="0"/>
              <a:t> n </a:t>
            </a:r>
            <a:r>
              <a:rPr lang="en-US" spc="-100" dirty="0" err="1"/>
              <a:t>với</a:t>
            </a:r>
            <a:r>
              <a:rPr lang="en-US" spc="-100" dirty="0"/>
              <a:t> a, b &lt; n. </a:t>
            </a:r>
            <a:r>
              <a:rPr lang="en-US" spc="-100" dirty="0" err="1"/>
              <a:t>Tính</a:t>
            </a:r>
            <a:r>
              <a:rPr lang="en-US" spc="-100" dirty="0"/>
              <a:t> </a:t>
            </a:r>
            <a:r>
              <a:rPr lang="en-US" spc="-100" dirty="0" err="1"/>
              <a:t>tổng</a:t>
            </a:r>
            <a:r>
              <a:rPr lang="en-US" spc="-100" dirty="0"/>
              <a:t> </a:t>
            </a:r>
            <a:r>
              <a:rPr lang="en-US" spc="-100" dirty="0" err="1"/>
              <a:t>các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</a:t>
            </a:r>
            <a:r>
              <a:rPr lang="en-US" spc="-100" dirty="0" err="1"/>
              <a:t>dương</a:t>
            </a:r>
            <a:r>
              <a:rPr lang="en-US" spc="-100" dirty="0"/>
              <a:t> </a:t>
            </a:r>
            <a:r>
              <a:rPr lang="en-US" spc="-100" dirty="0" err="1"/>
              <a:t>nhỏ</a:t>
            </a:r>
            <a:r>
              <a:rPr lang="en-US" spc="-100" dirty="0"/>
              <a:t> </a:t>
            </a:r>
            <a:r>
              <a:rPr lang="en-US" spc="-100" dirty="0" err="1"/>
              <a:t>hơn</a:t>
            </a:r>
            <a:r>
              <a:rPr lang="en-US" spc="-100" dirty="0"/>
              <a:t> n chia </a:t>
            </a:r>
            <a:r>
              <a:rPr lang="en-US" spc="-100" dirty="0" err="1"/>
              <a:t>hết</a:t>
            </a:r>
            <a:r>
              <a:rPr lang="en-US" spc="-100" dirty="0"/>
              <a:t> </a:t>
            </a:r>
            <a:r>
              <a:rPr lang="en-US" spc="-100" dirty="0" err="1"/>
              <a:t>cho</a:t>
            </a:r>
            <a:r>
              <a:rPr lang="en-US" spc="-100" dirty="0"/>
              <a:t> a </a:t>
            </a:r>
            <a:r>
              <a:rPr lang="en-US" spc="-100" dirty="0" err="1"/>
              <a:t>nhưng</a:t>
            </a:r>
            <a:r>
              <a:rPr lang="en-US" spc="-100" dirty="0"/>
              <a:t> </a:t>
            </a:r>
            <a:r>
              <a:rPr lang="en-US" spc="-100" dirty="0" err="1"/>
              <a:t>không</a:t>
            </a:r>
            <a:r>
              <a:rPr lang="en-US" spc="-100" dirty="0"/>
              <a:t> chia </a:t>
            </a:r>
            <a:r>
              <a:rPr lang="en-US" spc="-100" dirty="0" err="1"/>
              <a:t>hết</a:t>
            </a:r>
            <a:r>
              <a:rPr lang="en-US" spc="-100" dirty="0"/>
              <a:t> </a:t>
            </a:r>
            <a:r>
              <a:rPr lang="en-US" spc="-100" dirty="0" err="1"/>
              <a:t>cho</a:t>
            </a:r>
            <a:r>
              <a:rPr lang="en-US" spc="-100" dirty="0"/>
              <a:t> b.</a:t>
            </a:r>
          </a:p>
          <a:p>
            <a:pPr marL="514350" indent="-514350" algn="l">
              <a:buFont typeface="+mj-lt"/>
              <a:buAutoNum type="arabicPeriod" startAt="2"/>
              <a:defRPr/>
            </a:pPr>
            <a:r>
              <a:rPr lang="en-US" spc="-100" dirty="0" err="1"/>
              <a:t>Tính</a:t>
            </a:r>
            <a:r>
              <a:rPr lang="en-US" spc="-100" dirty="0"/>
              <a:t> </a:t>
            </a:r>
            <a:r>
              <a:rPr lang="en-US" spc="-100" dirty="0" err="1"/>
              <a:t>tổng</a:t>
            </a:r>
            <a:r>
              <a:rPr lang="en-US" spc="-100" dirty="0"/>
              <a:t> </a:t>
            </a:r>
            <a:r>
              <a:rPr lang="en-US" spc="-100" dirty="0" err="1"/>
              <a:t>các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</a:t>
            </a:r>
            <a:r>
              <a:rPr lang="en-US" spc="-100" dirty="0" err="1"/>
              <a:t>tố</a:t>
            </a:r>
            <a:r>
              <a:rPr lang="en-US" spc="-100" dirty="0"/>
              <a:t> </a:t>
            </a:r>
            <a:r>
              <a:rPr lang="en-US" spc="-100" dirty="0" err="1"/>
              <a:t>nhỏ</a:t>
            </a:r>
            <a:r>
              <a:rPr lang="en-US" spc="-100" dirty="0"/>
              <a:t> </a:t>
            </a:r>
            <a:r>
              <a:rPr lang="en-US" spc="-100" dirty="0" err="1"/>
              <a:t>hơn</a:t>
            </a:r>
            <a:r>
              <a:rPr lang="en-US" spc="-100" dirty="0"/>
              <a:t> n </a:t>
            </a:r>
            <a:br>
              <a:rPr lang="en-US" spc="-100" dirty="0"/>
            </a:br>
            <a:r>
              <a:rPr lang="en-US" spc="-100" dirty="0"/>
              <a:t>(0 &lt; n &lt; 50000)</a:t>
            </a:r>
          </a:p>
        </p:txBody>
      </p:sp>
      <p:sp>
        <p:nvSpPr>
          <p:cNvPr id="4301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3 - Các cấu trúc điều khiển</a:t>
            </a:r>
            <a:endParaRPr lang="en-US"/>
          </a:p>
        </p:txBody>
      </p:sp>
      <p:pic>
        <p:nvPicPr>
          <p:cNvPr id="43013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43217" y="4095328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805F1-0993-4775-B754-7B2B7183B142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7613088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</a:t>
            </a:r>
            <a:r>
              <a:rPr lang="en-US" spc="-100" dirty="0" err="1"/>
              <a:t>một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</a:t>
            </a:r>
            <a:r>
              <a:rPr lang="en-US" spc="-100" dirty="0" err="1"/>
              <a:t>dương</a:t>
            </a:r>
            <a:r>
              <a:rPr lang="en-US" spc="-100" dirty="0"/>
              <a:t> n. </a:t>
            </a:r>
            <a:r>
              <a:rPr lang="en-US" spc="-100" dirty="0" err="1"/>
              <a:t>Xuất</a:t>
            </a:r>
            <a:r>
              <a:rPr lang="en-US" spc="-100" dirty="0"/>
              <a:t> </a:t>
            </a:r>
            <a:r>
              <a:rPr lang="en-US" spc="-100" dirty="0" err="1"/>
              <a:t>ra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ngược</a:t>
            </a:r>
            <a:r>
              <a:rPr lang="en-US" spc="-100" dirty="0"/>
              <a:t> </a:t>
            </a:r>
            <a:r>
              <a:rPr lang="en-US" spc="-100" dirty="0" err="1"/>
              <a:t>lại</a:t>
            </a:r>
            <a:r>
              <a:rPr lang="en-US" spc="-100" dirty="0"/>
              <a:t>. </a:t>
            </a:r>
            <a:r>
              <a:rPr lang="en-US" spc="-100" dirty="0" err="1"/>
              <a:t>Ví</a:t>
            </a:r>
            <a:r>
              <a:rPr lang="en-US" spc="-100" dirty="0"/>
              <a:t> </a:t>
            </a:r>
            <a:r>
              <a:rPr lang="en-US" spc="-100" dirty="0" err="1"/>
              <a:t>dụ</a:t>
            </a:r>
            <a:r>
              <a:rPr lang="en-US" spc="-100" dirty="0"/>
              <a:t>: </a:t>
            </a:r>
            <a:r>
              <a:rPr lang="en-US" spc="-100" dirty="0" err="1"/>
              <a:t>Nhập</a:t>
            </a:r>
            <a:r>
              <a:rPr lang="en-US" spc="-100" dirty="0"/>
              <a:t> 1706 </a:t>
            </a:r>
            <a:r>
              <a:rPr lang="en-US" spc="-100" dirty="0">
                <a:sym typeface="Wingdings" pitchFamily="2" charset="2"/>
              </a:rPr>
              <a:t> </a:t>
            </a:r>
            <a:r>
              <a:rPr lang="en-US" spc="-100" dirty="0" err="1">
                <a:sym typeface="Wingdings" pitchFamily="2" charset="2"/>
              </a:rPr>
              <a:t>Xuất</a:t>
            </a:r>
            <a:r>
              <a:rPr lang="en-US" spc="-100" dirty="0">
                <a:sym typeface="Wingdings" pitchFamily="2" charset="2"/>
              </a:rPr>
              <a:t> 6071.</a:t>
            </a:r>
          </a:p>
          <a:p>
            <a:pPr marL="514350" indent="-514350">
              <a:buFont typeface="+mj-lt"/>
              <a:buAutoNum type="arabicPeriod" startAt="5"/>
              <a:defRPr/>
            </a:pPr>
            <a:r>
              <a:rPr lang="en-US" spc="-100" dirty="0" err="1"/>
              <a:t>Tìm</a:t>
            </a:r>
            <a:r>
              <a:rPr lang="en-US" spc="-100" dirty="0"/>
              <a:t> </a:t>
            </a:r>
            <a:r>
              <a:rPr lang="en-US" spc="-100" dirty="0" err="1"/>
              <a:t>và</a:t>
            </a:r>
            <a:r>
              <a:rPr lang="en-US" spc="-100" dirty="0"/>
              <a:t> in </a:t>
            </a:r>
            <a:r>
              <a:rPr lang="en-US" spc="-100" dirty="0" err="1"/>
              <a:t>lên</a:t>
            </a:r>
            <a:r>
              <a:rPr lang="en-US" spc="-100" dirty="0"/>
              <a:t> </a:t>
            </a:r>
            <a:r>
              <a:rPr lang="en-US" spc="-100" dirty="0" err="1"/>
              <a:t>màn</a:t>
            </a:r>
            <a:r>
              <a:rPr lang="en-US" spc="-100" dirty="0"/>
              <a:t> </a:t>
            </a:r>
            <a:r>
              <a:rPr lang="en-US" spc="-100" dirty="0" err="1"/>
              <a:t>hình</a:t>
            </a:r>
            <a:r>
              <a:rPr lang="en-US" spc="-100" dirty="0"/>
              <a:t> </a:t>
            </a:r>
            <a:r>
              <a:rPr lang="en-US" spc="-100" dirty="0" err="1"/>
              <a:t>tất</a:t>
            </a:r>
            <a:r>
              <a:rPr lang="en-US" spc="-100" dirty="0"/>
              <a:t> </a:t>
            </a:r>
            <a:r>
              <a:rPr lang="en-US" spc="-100" dirty="0" err="1"/>
              <a:t>cả</a:t>
            </a:r>
            <a:r>
              <a:rPr lang="en-US" spc="-100" dirty="0"/>
              <a:t> </a:t>
            </a:r>
            <a:r>
              <a:rPr lang="en-US" spc="-100" dirty="0" err="1"/>
              <a:t>các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</a:t>
            </a:r>
            <a:r>
              <a:rPr lang="en-US" spc="-100" dirty="0" err="1"/>
              <a:t>trong</a:t>
            </a:r>
            <a:r>
              <a:rPr lang="en-US" spc="-100" dirty="0"/>
              <a:t> </a:t>
            </a:r>
            <a:r>
              <a:rPr lang="en-US" spc="-100" dirty="0" err="1"/>
              <a:t>phạm</a:t>
            </a:r>
            <a:r>
              <a:rPr lang="en-US" spc="-100" dirty="0"/>
              <a:t> vi </a:t>
            </a:r>
            <a:r>
              <a:rPr lang="en-US" spc="-100" dirty="0" err="1"/>
              <a:t>từ</a:t>
            </a:r>
            <a:r>
              <a:rPr lang="en-US" spc="-100" dirty="0"/>
              <a:t> 10 </a:t>
            </a:r>
            <a:r>
              <a:rPr lang="en-US" spc="-100" dirty="0" err="1"/>
              <a:t>đến</a:t>
            </a:r>
            <a:r>
              <a:rPr lang="en-US" spc="-100" dirty="0"/>
              <a:t> 99 </a:t>
            </a:r>
            <a:r>
              <a:rPr lang="en-US" spc="-100" dirty="0" err="1"/>
              <a:t>sao</a:t>
            </a:r>
            <a:r>
              <a:rPr lang="en-US" spc="-100" dirty="0"/>
              <a:t> </a:t>
            </a:r>
            <a:r>
              <a:rPr lang="en-US" spc="-100" dirty="0" err="1"/>
              <a:t>cho</a:t>
            </a:r>
            <a:r>
              <a:rPr lang="en-US" spc="-100" dirty="0"/>
              <a:t> </a:t>
            </a:r>
            <a:r>
              <a:rPr lang="en-US" spc="-100" dirty="0" err="1"/>
              <a:t>tích</a:t>
            </a:r>
            <a:r>
              <a:rPr lang="en-US" spc="-100" dirty="0"/>
              <a:t> </a:t>
            </a:r>
            <a:r>
              <a:rPr lang="en-US" spc="-100" dirty="0" err="1"/>
              <a:t>của</a:t>
            </a:r>
            <a:r>
              <a:rPr lang="en-US" spc="-100" dirty="0"/>
              <a:t> 2 </a:t>
            </a:r>
            <a:r>
              <a:rPr lang="en-US" spc="-100" dirty="0" err="1"/>
              <a:t>chữ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bằng</a:t>
            </a:r>
            <a:r>
              <a:rPr lang="en-US" spc="-100" dirty="0"/>
              <a:t> 2 </a:t>
            </a:r>
            <a:r>
              <a:rPr lang="en-US" spc="-100" dirty="0" err="1"/>
              <a:t>lần</a:t>
            </a:r>
            <a:r>
              <a:rPr lang="en-US" spc="-100" dirty="0"/>
              <a:t> </a:t>
            </a:r>
            <a:r>
              <a:rPr lang="en-US" spc="-100" dirty="0" err="1"/>
              <a:t>tổng</a:t>
            </a:r>
            <a:r>
              <a:rPr lang="en-US" spc="-100" dirty="0"/>
              <a:t> </a:t>
            </a:r>
            <a:r>
              <a:rPr lang="en-US" spc="-100" dirty="0" err="1"/>
              <a:t>của</a:t>
            </a:r>
            <a:r>
              <a:rPr lang="en-US" spc="-100" dirty="0"/>
              <a:t> 2 </a:t>
            </a:r>
            <a:r>
              <a:rPr lang="en-US" spc="-100" dirty="0" err="1"/>
              <a:t>chữ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đó</a:t>
            </a:r>
            <a:r>
              <a:rPr lang="en-US" spc="-100" dirty="0"/>
              <a:t>.</a:t>
            </a:r>
          </a:p>
          <a:p>
            <a:pPr marL="514350" indent="-514350">
              <a:buFont typeface="+mj-lt"/>
              <a:buAutoNum type="arabicPeriod" startAt="5"/>
              <a:defRPr/>
            </a:pPr>
            <a:r>
              <a:rPr lang="en-US" spc="-100" dirty="0" err="1"/>
              <a:t>Tìm</a:t>
            </a:r>
            <a:r>
              <a:rPr lang="en-US" spc="-100" dirty="0"/>
              <a:t> </a:t>
            </a:r>
            <a:r>
              <a:rPr lang="en-US" spc="-100" dirty="0" err="1"/>
              <a:t>bội</a:t>
            </a:r>
            <a:r>
              <a:rPr lang="en-US" spc="-100" dirty="0"/>
              <a:t>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chung</a:t>
            </a:r>
            <a:r>
              <a:rPr lang="en-US" spc="-100" dirty="0"/>
              <a:t> </a:t>
            </a:r>
            <a:r>
              <a:rPr lang="en-US" spc="-100" dirty="0" err="1"/>
              <a:t>nhỏ</a:t>
            </a:r>
            <a:r>
              <a:rPr lang="en-US" spc="-100" dirty="0"/>
              <a:t> </a:t>
            </a:r>
            <a:r>
              <a:rPr lang="en-US" spc="-100" dirty="0" err="1"/>
              <a:t>nhất</a:t>
            </a:r>
            <a:r>
              <a:rPr lang="en-US" spc="-100" dirty="0"/>
              <a:t> </a:t>
            </a:r>
            <a:r>
              <a:rPr lang="en-US" spc="-100" dirty="0" err="1"/>
              <a:t>của</a:t>
            </a:r>
            <a:r>
              <a:rPr lang="en-US" spc="-100" dirty="0"/>
              <a:t> 2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nguyên</a:t>
            </a:r>
            <a:r>
              <a:rPr lang="en-US" spc="-100" dirty="0"/>
              <a:t> </a:t>
            </a:r>
            <a:r>
              <a:rPr lang="en-US" spc="-100" dirty="0" err="1"/>
              <a:t>dương</a:t>
            </a:r>
            <a:r>
              <a:rPr lang="en-US" spc="-100" dirty="0"/>
              <a:t> a </a:t>
            </a:r>
            <a:r>
              <a:rPr lang="en-US" spc="-100" dirty="0" err="1"/>
              <a:t>và</a:t>
            </a:r>
            <a:r>
              <a:rPr lang="en-US" spc="-100" dirty="0"/>
              <a:t> b </a:t>
            </a:r>
            <a:r>
              <a:rPr lang="en-US" spc="-100" dirty="0" err="1"/>
              <a:t>nhập</a:t>
            </a:r>
            <a:r>
              <a:rPr lang="en-US" spc="-100" dirty="0"/>
              <a:t> </a:t>
            </a:r>
            <a:r>
              <a:rPr lang="en-US" spc="-100" dirty="0" err="1"/>
              <a:t>từ</a:t>
            </a:r>
            <a:r>
              <a:rPr lang="en-US" spc="-100" dirty="0"/>
              <a:t> </a:t>
            </a:r>
            <a:r>
              <a:rPr lang="en-US" spc="-100" dirty="0" err="1"/>
              <a:t>bàn</a:t>
            </a:r>
            <a:r>
              <a:rPr lang="en-US" spc="-100" dirty="0"/>
              <a:t> </a:t>
            </a:r>
            <a:r>
              <a:rPr lang="en-US" spc="-100" dirty="0" err="1"/>
              <a:t>phím</a:t>
            </a:r>
            <a:r>
              <a:rPr lang="en-US" spc="-100" dirty="0"/>
              <a:t>.</a:t>
            </a:r>
          </a:p>
          <a:p>
            <a:pPr marL="514350" indent="-514350">
              <a:buFont typeface="+mj-lt"/>
              <a:buAutoNum type="arabicPeriod" startAt="5"/>
              <a:defRPr/>
            </a:pPr>
            <a:r>
              <a:rPr lang="en-US" spc="-100" dirty="0" err="1"/>
              <a:t>Nhập</a:t>
            </a:r>
            <a:r>
              <a:rPr lang="en-US" spc="-100" dirty="0"/>
              <a:t> n. In n </a:t>
            </a:r>
            <a:r>
              <a:rPr lang="en-US" spc="-100" dirty="0" err="1"/>
              <a:t>số</a:t>
            </a:r>
            <a:r>
              <a:rPr lang="en-US" spc="-100" dirty="0"/>
              <a:t> </a:t>
            </a:r>
            <a:r>
              <a:rPr lang="en-US" spc="-100" dirty="0" err="1"/>
              <a:t>đầu</a:t>
            </a:r>
            <a:r>
              <a:rPr lang="en-US" spc="-100" dirty="0"/>
              <a:t> </a:t>
            </a:r>
            <a:r>
              <a:rPr lang="en-US" spc="-100" dirty="0" err="1"/>
              <a:t>tiên</a:t>
            </a:r>
            <a:r>
              <a:rPr lang="en-US" spc="-100" dirty="0"/>
              <a:t> </a:t>
            </a:r>
            <a:r>
              <a:rPr lang="en-US" spc="-100" dirty="0" err="1"/>
              <a:t>trong</a:t>
            </a:r>
            <a:r>
              <a:rPr lang="en-US" spc="-100" dirty="0"/>
              <a:t> </a:t>
            </a:r>
            <a:r>
              <a:rPr lang="en-US" spc="-100" dirty="0" err="1"/>
              <a:t>dãy</a:t>
            </a:r>
            <a:r>
              <a:rPr lang="en-US" spc="-100" dirty="0"/>
              <a:t> </a:t>
            </a:r>
            <a:r>
              <a:rPr lang="en-US" spc="-100" dirty="0" err="1"/>
              <a:t>Fibonacy</a:t>
            </a:r>
            <a:r>
              <a:rPr lang="en-US" spc="-100" dirty="0"/>
              <a:t> </a:t>
            </a:r>
            <a:r>
              <a:rPr lang="en-US" spc="-100" dirty="0" err="1"/>
              <a:t>biết</a:t>
            </a:r>
            <a:endParaRPr lang="en-US" spc="-100" dirty="0"/>
          </a:p>
          <a:p>
            <a:pPr marL="400050" lvl="1" indent="0">
              <a:buNone/>
              <a:defRPr/>
            </a:pPr>
            <a:r>
              <a:rPr lang="en-US" spc="-100" dirty="0"/>
              <a:t>	F</a:t>
            </a:r>
            <a:r>
              <a:rPr lang="en-US" spc="-100" baseline="-25000" dirty="0"/>
              <a:t>0</a:t>
            </a:r>
            <a:r>
              <a:rPr lang="en-US" spc="-100" dirty="0"/>
              <a:t>=F</a:t>
            </a:r>
            <a:r>
              <a:rPr lang="en-US" spc="-100" baseline="-25000" dirty="0"/>
              <a:t>1</a:t>
            </a:r>
            <a:r>
              <a:rPr lang="en-US" spc="-100" dirty="0"/>
              <a:t>=1</a:t>
            </a:r>
          </a:p>
          <a:p>
            <a:pPr marL="400050" lvl="1" indent="0">
              <a:buNone/>
              <a:defRPr/>
            </a:pPr>
            <a:r>
              <a:rPr lang="en-US" spc="-100" dirty="0"/>
              <a:t>	</a:t>
            </a:r>
            <a:r>
              <a:rPr lang="en-US" spc="-100" dirty="0" err="1"/>
              <a:t>F</a:t>
            </a:r>
            <a:r>
              <a:rPr lang="en-US" spc="-100" baseline="-25000" dirty="0" err="1"/>
              <a:t>n</a:t>
            </a:r>
            <a:r>
              <a:rPr lang="en-US" spc="-100" dirty="0"/>
              <a:t> = </a:t>
            </a:r>
            <a:r>
              <a:rPr lang="en-US" spc="-100" dirty="0" err="1"/>
              <a:t>F</a:t>
            </a:r>
            <a:r>
              <a:rPr lang="en-US" spc="-100" baseline="-25000" dirty="0" err="1"/>
              <a:t>n</a:t>
            </a:r>
            <a:r>
              <a:rPr lang="en-US" spc="-100" baseline="-25000" dirty="0"/>
              <a:t> – 1</a:t>
            </a:r>
            <a:r>
              <a:rPr lang="en-US" spc="-100" dirty="0"/>
              <a:t> + </a:t>
            </a:r>
            <a:r>
              <a:rPr lang="en-US" spc="-100" dirty="0" err="1"/>
              <a:t>F</a:t>
            </a:r>
            <a:r>
              <a:rPr lang="en-US" spc="-100" baseline="-25000" dirty="0" err="1"/>
              <a:t>n</a:t>
            </a:r>
            <a:r>
              <a:rPr lang="en-US" spc="-100" baseline="-25000" dirty="0"/>
              <a:t> – 2</a:t>
            </a:r>
          </a:p>
        </p:txBody>
      </p:sp>
      <p:sp>
        <p:nvSpPr>
          <p:cNvPr id="4403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3 - Các cấu trúc điều khiển</a:t>
            </a:r>
            <a:endParaRPr lang="en-US"/>
          </a:p>
        </p:txBody>
      </p:sp>
      <p:pic>
        <p:nvPicPr>
          <p:cNvPr id="44037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7D-6AC6-4D3F-8118-DFC54CB753C9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989125366"/>
      </p:ext>
    </p:extLst>
  </p:cSld>
  <p:clrMapOvr>
    <a:masterClrMapping/>
  </p:clrMapOvr>
</p:sld>
</file>

<file path=ppt/theme/theme1.xml><?xml version="1.0" encoding="utf-8"?>
<a:theme xmlns:a="http://schemas.openxmlformats.org/drawingml/2006/main" name="MM_Lec1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92D050"/>
      </a:accent6>
      <a:hlink>
        <a:srgbClr val="336699"/>
      </a:hlink>
      <a:folHlink>
        <a:srgbClr val="0033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46311</TotalTime>
  <Words>5446</Words>
  <Application>Microsoft Office PowerPoint</Application>
  <PresentationFormat>On-screen Show (4:3)</PresentationFormat>
  <Paragraphs>881</Paragraphs>
  <Slides>55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Courier New</vt:lpstr>
      <vt:lpstr>inherit</vt:lpstr>
      <vt:lpstr>Tahoma</vt:lpstr>
      <vt:lpstr>Verdana</vt:lpstr>
      <vt:lpstr>Wingdings</vt:lpstr>
      <vt:lpstr>MM_Lec1</vt:lpstr>
      <vt:lpstr>Chương 3 CÁC CẤU TRÚC ĐIỀU KHIỂN</vt:lpstr>
      <vt:lpstr>Nội dung</vt:lpstr>
      <vt:lpstr>1. Cấu trúc rẽ nhánh</vt:lpstr>
      <vt:lpstr>1.1 Câu lệnh điều kiện if</vt:lpstr>
      <vt:lpstr>Câu lệnh if (thiếu)</vt:lpstr>
      <vt:lpstr>Câu lệnh if (đủ)</vt:lpstr>
      <vt:lpstr>Câu lệnh if (đủ)</vt:lpstr>
      <vt:lpstr>Câu lệnh if - Một số lưu ý</vt:lpstr>
      <vt:lpstr>Câu lệnh if - Một số lưu ý</vt:lpstr>
      <vt:lpstr>Câu lệnh if - Một số lưu ý</vt:lpstr>
      <vt:lpstr>1.2 Câu lệnh switch – Dạng thiếu</vt:lpstr>
      <vt:lpstr>Câu lệnh switch (thiếu)</vt:lpstr>
      <vt:lpstr>Câu lệnh switch (đủ)</vt:lpstr>
      <vt:lpstr>Câu lệnh switch (đủ)</vt:lpstr>
      <vt:lpstr>Câu lệnh switch - Một số lưu ý</vt:lpstr>
      <vt:lpstr>Câu lệnh switch - Một số lưu ý</vt:lpstr>
      <vt:lpstr>Câu lệnh switch - Một số lưu ý</vt:lpstr>
      <vt:lpstr>Câu lệnh switch - Một số lưu ý</vt:lpstr>
      <vt:lpstr>Câu lệnh switch - Một số lưu ý</vt:lpstr>
      <vt:lpstr>1.3 Toán tử goto và nhãn</vt:lpstr>
      <vt:lpstr>1.4 Bài tập thực hành</vt:lpstr>
      <vt:lpstr>Bài tập thực hành</vt:lpstr>
      <vt:lpstr>Bài tập thực hành</vt:lpstr>
      <vt:lpstr>2. Cấu trúc lặp</vt:lpstr>
      <vt:lpstr>Đặt vấn đề</vt:lpstr>
      <vt:lpstr>Đặt vấn đề (tt)</vt:lpstr>
      <vt:lpstr>Đặt vấn đề (tt)</vt:lpstr>
      <vt:lpstr>Đặt vấn đề (tt)</vt:lpstr>
      <vt:lpstr>Đặt vấn đề (tt)</vt:lpstr>
      <vt:lpstr>2.1 Vòng lặp xác định for</vt:lpstr>
      <vt:lpstr>Cách thực hiện vòng lặp for</vt:lpstr>
      <vt:lpstr>Cách thực hiện vòng lặp for (tt)</vt:lpstr>
      <vt:lpstr>Giải bài toán gửi tiền tiết kiệm 1</vt:lpstr>
      <vt:lpstr>Giải bài toán gửi tiền tiết kiệm 1</vt:lpstr>
      <vt:lpstr>Bài toán</vt:lpstr>
      <vt:lpstr>Bài toán in hình chữ nhật</vt:lpstr>
      <vt:lpstr>Chú ý</vt:lpstr>
      <vt:lpstr>Chú ý (tt)</vt:lpstr>
      <vt:lpstr>Bài toán gửi tiền tiết kiệm 2</vt:lpstr>
      <vt:lpstr>2.2 Vòng lặp không xác định while</vt:lpstr>
      <vt:lpstr>Cách hoạt động của vòng lặp while</vt:lpstr>
      <vt:lpstr>Giải bài toán gửi tiền tiết kiệm 2</vt:lpstr>
      <vt:lpstr>Giải bài toán gửi tiền tiết kiệm</vt:lpstr>
      <vt:lpstr>Chú ý</vt:lpstr>
      <vt:lpstr>Bài toán</vt:lpstr>
      <vt:lpstr>2.3 Vòng lặp không xác định do…while</vt:lpstr>
      <vt:lpstr>Vòng lặp không xác định do…while</vt:lpstr>
      <vt:lpstr>Giải bài toán nhập số nguyên dương</vt:lpstr>
      <vt:lpstr>Chú ý</vt:lpstr>
      <vt:lpstr>2.4 Một số lưu ý</vt:lpstr>
      <vt:lpstr>Một số lưu ý (tt)</vt:lpstr>
      <vt:lpstr>Ví dụ câu lệnh continue</vt:lpstr>
      <vt:lpstr>2.5 Bài tập thực hành</vt:lpstr>
      <vt:lpstr>Bài tập thực hành </vt:lpstr>
      <vt:lpstr>Bài tập thực hành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SỞ LẬP TRÌNH 1</dc:title>
  <dc:creator>Quy Tai</dc:creator>
  <cp:lastModifiedBy>Le Cam Tu</cp:lastModifiedBy>
  <cp:revision>149</cp:revision>
  <dcterms:created xsi:type="dcterms:W3CDTF">2011-07-17T01:46:34Z</dcterms:created>
  <dcterms:modified xsi:type="dcterms:W3CDTF">2024-01-14T12:58:56Z</dcterms:modified>
</cp:coreProperties>
</file>