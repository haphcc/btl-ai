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4"/>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00FF"/>
    <a:srgbClr val="6DFB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642"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t>14/01/2024</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24"/>
          <p:cNvSpPr>
            <a:spLocks noChangeArrowheads="1"/>
          </p:cNvSpPr>
          <p:nvPr/>
        </p:nvSpPr>
        <p:spPr bwMode="auto">
          <a:xfrm>
            <a:off x="1066800" y="3581400"/>
            <a:ext cx="75438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28575">
            <a:solidFill>
              <a:schemeClr val="accent2"/>
            </a:solidFill>
            <a:round/>
            <a:headEnd/>
            <a:tailEnd/>
          </a:ln>
        </p:spPr>
        <p:txBody>
          <a:bodyPr/>
          <a:lstStyle/>
          <a:p>
            <a:endParaRPr lang="vi-VN"/>
          </a:p>
        </p:txBody>
      </p:sp>
      <p:sp>
        <p:nvSpPr>
          <p:cNvPr id="5122" name="Rectangle 2"/>
          <p:cNvSpPr>
            <a:spLocks noGrp="1" noChangeArrowheads="1"/>
          </p:cNvSpPr>
          <p:nvPr>
            <p:ph type="ctrTitle"/>
          </p:nvPr>
        </p:nvSpPr>
        <p:spPr>
          <a:xfrm>
            <a:off x="1066800" y="2590800"/>
            <a:ext cx="7620000" cy="990600"/>
          </a:xfrm>
        </p:spPr>
        <p:txBody>
          <a:bodyPr/>
          <a:lstStyle>
            <a:lvl1pPr>
              <a:defRPr sz="3600" b="1">
                <a:solidFill>
                  <a:schemeClr val="tx1"/>
                </a:solidFill>
              </a:defRPr>
            </a:lvl1pPr>
          </a:lstStyle>
          <a:p>
            <a:r>
              <a:rPr lang="en-US"/>
              <a:t>Click to edit Master title style</a:t>
            </a:r>
            <a:endParaRPr lang="en-GB"/>
          </a:p>
        </p:txBody>
      </p:sp>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a:lvl1pPr>
          </a:lstStyle>
          <a:p>
            <a:r>
              <a:rPr lang="en-US"/>
              <a:t>Click to edit Master subtitle style</a:t>
            </a:r>
            <a:endParaRPr lang="en-GB"/>
          </a:p>
        </p:txBody>
      </p:sp>
      <p:sp>
        <p:nvSpPr>
          <p:cNvPr id="6" name="Rectangle 5"/>
          <p:cNvSpPr>
            <a:spLocks noGrp="1" noChangeArrowheads="1"/>
          </p:cNvSpPr>
          <p:nvPr>
            <p:ph type="dt" sz="half" idx="10"/>
          </p:nvPr>
        </p:nvSpPr>
        <p:spPr>
          <a:xfrm>
            <a:off x="685800" y="6248400"/>
            <a:ext cx="1905000" cy="457200"/>
          </a:xfrm>
        </p:spPr>
        <p:txBody>
          <a:bodyPr/>
          <a:lstStyle>
            <a:lvl1pPr>
              <a:defRPr smtClean="0"/>
            </a:lvl1pPr>
          </a:lstStyle>
          <a:p>
            <a:fld id="{6C0BDA62-F6E0-403F-A01B-6C16FB797FB9}" type="datetime1">
              <a:rPr lang="vi-VN" smtClean="0"/>
              <a:t>14/01/2024</a:t>
            </a:fld>
            <a:endParaRPr lang="vi-VN"/>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lvl1pPr>
          </a:lstStyle>
          <a:p>
            <a:r>
              <a:rPr lang="vi-VN"/>
              <a:t>Chương 9-Kiểu dữ liệu tệp</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lvl1pPr>
          </a:lstStyle>
          <a:p>
            <a:fld id="{5AB95402-1E0D-474E-8D8C-CBE7F053639E}" type="slidenum">
              <a:rPr lang="vi-VN" smtClean="0"/>
              <a:t>‹#›</a:t>
            </a:fld>
            <a:endParaRPr lang="vi-VN"/>
          </a:p>
        </p:txBody>
      </p:sp>
      <p:pic>
        <p:nvPicPr>
          <p:cNvPr id="9" name="Content Placeholder 3"/>
          <p:cNvPicPr>
            <a:picLocks noChangeAspect="1"/>
          </p:cNvPicPr>
          <p:nvPr userDrawn="1"/>
        </p:nvPicPr>
        <p:blipFill rotWithShape="1">
          <a:blip r:embed="rId2">
            <a:extLst>
              <a:ext uri="{28A0092B-C50C-407E-A947-70E740481C1C}">
                <a14:useLocalDpi xmlns:a14="http://schemas.microsoft.com/office/drawing/2010/main" val="0"/>
              </a:ext>
            </a:extLst>
          </a:blip>
          <a:srcRect t="7736" b="29726"/>
          <a:stretch/>
        </p:blipFill>
        <p:spPr bwMode="auto">
          <a:xfrm>
            <a:off x="-3829" y="0"/>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149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CCBE1F7-9505-480E-BE33-534995735C6E}" type="datetime1">
              <a:rPr lang="vi-VN" smtClean="0"/>
              <a:t>14/01/2024</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9-Kiểu dữ liệu tệp</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en-US"/>
              <a:t>/32</a:t>
            </a:r>
            <a:endParaRPr lang="vi-VN"/>
          </a:p>
        </p:txBody>
      </p:sp>
    </p:spTree>
    <p:extLst>
      <p:ext uri="{BB962C8B-B14F-4D97-AF65-F5344CB8AC3E}">
        <p14:creationId xmlns:p14="http://schemas.microsoft.com/office/powerpoint/2010/main" val="68343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smtClean="0"/>
            </a:lvl1pPr>
          </a:lstStyle>
          <a:p>
            <a:fld id="{60E170E1-1177-4CC8-B87F-492F76AFE623}"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9-Kiểu dữ liệu tệp</a:t>
            </a:r>
          </a:p>
        </p:txBody>
      </p:sp>
      <p:sp>
        <p:nvSpPr>
          <p:cNvPr id="6"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1400836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smtClean="0"/>
            </a:lvl1pPr>
          </a:lstStyle>
          <a:p>
            <a:fld id="{E2DE05F9-68E2-437B-A40A-5D823A0411B1}"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9-Kiểu dữ liệu tệp</a:t>
            </a:r>
          </a:p>
        </p:txBody>
      </p:sp>
      <p:sp>
        <p:nvSpPr>
          <p:cNvPr id="7"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23807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smtClean="0"/>
            </a:lvl1pPr>
          </a:lstStyle>
          <a:p>
            <a:fld id="{358623FA-43B6-40C3-87E7-A66D3D469790}" type="datetime1">
              <a:rPr lang="vi-VN" smtClean="0"/>
              <a:t>14/01/2024</a:t>
            </a:fld>
            <a:endParaRPr lang="vi-VN"/>
          </a:p>
        </p:txBody>
      </p:sp>
      <p:sp>
        <p:nvSpPr>
          <p:cNvPr id="8" name="Rectangle 7"/>
          <p:cNvSpPr>
            <a:spLocks noGrp="1" noChangeArrowheads="1"/>
          </p:cNvSpPr>
          <p:nvPr>
            <p:ph type="ftr" sz="quarter" idx="11"/>
          </p:nvPr>
        </p:nvSpPr>
        <p:spPr/>
        <p:txBody>
          <a:bodyPr/>
          <a:lstStyle>
            <a:lvl1pPr>
              <a:defRPr smtClean="0"/>
            </a:lvl1pPr>
          </a:lstStyle>
          <a:p>
            <a:r>
              <a:rPr lang="vi-VN"/>
              <a:t>Chương 9-Kiểu dữ liệu tệp</a:t>
            </a:r>
          </a:p>
        </p:txBody>
      </p:sp>
      <p:sp>
        <p:nvSpPr>
          <p:cNvPr id="9"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1313033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smtClean="0"/>
            </a:lvl1pPr>
          </a:lstStyle>
          <a:p>
            <a:fld id="{13B26347-46A5-490C-B0C6-A57389F1E2F6}" type="datetime1">
              <a:rPr lang="vi-VN" smtClean="0"/>
              <a:t>14/01/2024</a:t>
            </a:fld>
            <a:endParaRPr lang="vi-VN"/>
          </a:p>
        </p:txBody>
      </p:sp>
      <p:sp>
        <p:nvSpPr>
          <p:cNvPr id="4" name="Rectangle 7"/>
          <p:cNvSpPr>
            <a:spLocks noGrp="1" noChangeArrowheads="1"/>
          </p:cNvSpPr>
          <p:nvPr>
            <p:ph type="ftr" sz="quarter" idx="11"/>
          </p:nvPr>
        </p:nvSpPr>
        <p:spPr/>
        <p:txBody>
          <a:bodyPr/>
          <a:lstStyle>
            <a:lvl1pPr>
              <a:defRPr smtClean="0"/>
            </a:lvl1pPr>
          </a:lstStyle>
          <a:p>
            <a:r>
              <a:rPr lang="vi-VN"/>
              <a:t>Chương 9-Kiểu dữ liệu tệp</a:t>
            </a:r>
          </a:p>
        </p:txBody>
      </p:sp>
      <p:sp>
        <p:nvSpPr>
          <p:cNvPr id="5"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3027284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smtClean="0"/>
            </a:lvl1pPr>
          </a:lstStyle>
          <a:p>
            <a:fld id="{094A9700-8178-47C5-82CB-6986982845FB}" type="datetime1">
              <a:rPr lang="vi-VN" smtClean="0"/>
              <a:t>14/01/2024</a:t>
            </a:fld>
            <a:endParaRPr lang="vi-VN"/>
          </a:p>
        </p:txBody>
      </p:sp>
      <p:sp>
        <p:nvSpPr>
          <p:cNvPr id="3" name="Rectangle 7"/>
          <p:cNvSpPr>
            <a:spLocks noGrp="1" noChangeArrowheads="1"/>
          </p:cNvSpPr>
          <p:nvPr>
            <p:ph type="ftr" sz="quarter" idx="11"/>
          </p:nvPr>
        </p:nvSpPr>
        <p:spPr/>
        <p:txBody>
          <a:bodyPr/>
          <a:lstStyle>
            <a:lvl1pPr>
              <a:defRPr smtClean="0"/>
            </a:lvl1pPr>
          </a:lstStyle>
          <a:p>
            <a:r>
              <a:rPr lang="vi-VN"/>
              <a:t>Chương 9-Kiểu dữ liệu tệp</a:t>
            </a:r>
          </a:p>
        </p:txBody>
      </p:sp>
      <p:sp>
        <p:nvSpPr>
          <p:cNvPr id="4"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2062973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26AFAE34-4FFE-443C-929A-C46A49DD46E6}"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9-Kiểu dữ liệu tệp</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564103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757F784B-EC53-416C-BCEB-0D31FBA37009}"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9-Kiểu dữ liệu tệp</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2340676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26DD0A68-B0B0-4F93-BE83-01D03B0955AD}"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9-Kiểu dữ liệu tệp</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1447551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304800"/>
            <a:ext cx="20955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04800"/>
            <a:ext cx="61341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3D92C934-9C82-4C74-9F16-556B6D506EE7}"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9-Kiểu dữ liệu tệp</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955855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304800"/>
            <a:ext cx="838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762000" y="1143000"/>
            <a:ext cx="792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028" name="AutoShape 4"/>
          <p:cNvSpPr>
            <a:spLocks noChangeArrowheads="1"/>
          </p:cNvSpPr>
          <p:nvPr/>
        </p:nvSpPr>
        <p:spPr bwMode="auto">
          <a:xfrm>
            <a:off x="457200" y="990600"/>
            <a:ext cx="83820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19050">
            <a:solidFill>
              <a:schemeClr val="accent2"/>
            </a:solidFill>
            <a:round/>
            <a:headEnd/>
            <a:tailEnd/>
          </a:ln>
        </p:spPr>
        <p:txBody>
          <a:bodyPr/>
          <a:lstStyle/>
          <a:p>
            <a:endParaRPr lang="vi-VN"/>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cs typeface="Arial" charset="0"/>
              </a:defRPr>
            </a:lvl1pPr>
          </a:lstStyle>
          <a:p>
            <a:fld id="{DDA045F0-6DB6-490D-973B-4FDC2A87883A}" type="datetime1">
              <a:rPr lang="vi-VN" smtClean="0"/>
              <a:t>14/01/2024</a:t>
            </a:fld>
            <a:endParaRPr lang="vi-VN"/>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cs typeface="Arial" charset="0"/>
              </a:defRPr>
            </a:lvl1pPr>
          </a:lstStyle>
          <a:p>
            <a:r>
              <a:rPr lang="vi-VN"/>
              <a:t>Chương 9-Kiểu dữ liệu tệp</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fld id="{5AB95402-1E0D-474E-8D8C-CBE7F053639E}" type="slidenum">
              <a:rPr lang="vi-VN" smtClean="0"/>
              <a:t>‹#›</a:t>
            </a:fld>
            <a:endParaRPr lang="vi-V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2590800"/>
            <a:ext cx="7931224" cy="990600"/>
          </a:xfrm>
          <a:effectLst>
            <a:reflection blurRad="6350" stA="52000" endA="300" endPos="35000" dir="5400000" sy="-100000" algn="bl" rotWithShape="0"/>
          </a:effectLst>
        </p:spPr>
        <p:txBody>
          <a:bodyPr/>
          <a:lstStyle/>
          <a:p>
            <a:pPr algn="ct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Chương 9</a:t>
            </a:r>
            <a:b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b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KIỂU DỮ LIỆU TỆP (File)</a:t>
            </a:r>
            <a:endParaRPr lang="vi-VN" sz="4400">
              <a:solidFill>
                <a:srgbClr val="000066"/>
              </a:solidFill>
              <a:effectLst>
                <a:outerShdw blurRad="38100" dist="38100" dir="2700000" algn="tl">
                  <a:srgbClr val="000000">
                    <a:alpha val="43137"/>
                  </a:srgbClr>
                </a:outerShdw>
                <a:reflection blurRad="6350" stA="55000" endA="300" endPos="45500" dir="5400000" sy="-100000" algn="bl" rotWithShape="0"/>
              </a:effectLst>
            </a:endParaRPr>
          </a:p>
        </p:txBody>
      </p:sp>
      <p:sp>
        <p:nvSpPr>
          <p:cNvPr id="4" name="TextBox 3"/>
          <p:cNvSpPr txBox="1"/>
          <p:nvPr/>
        </p:nvSpPr>
        <p:spPr>
          <a:xfrm>
            <a:off x="3491880" y="6237312"/>
            <a:ext cx="2736304" cy="461665"/>
          </a:xfrm>
          <a:prstGeom prst="rect">
            <a:avLst/>
          </a:prstGeom>
          <a:noFill/>
        </p:spPr>
        <p:txBody>
          <a:bodyPr wrap="square" rtlCol="0">
            <a:spAutoFit/>
          </a:bodyPr>
          <a:lstStyle/>
          <a:p>
            <a:r>
              <a:rPr lang="en-US" sz="2400" dirty="0" err="1"/>
              <a:t>Hà</a:t>
            </a:r>
            <a:r>
              <a:rPr lang="en-US" sz="2400" dirty="0"/>
              <a:t> </a:t>
            </a:r>
            <a:r>
              <a:rPr lang="en-US" sz="2400" dirty="0" err="1"/>
              <a:t>Nội</a:t>
            </a:r>
            <a:r>
              <a:rPr lang="en-US" sz="2400" dirty="0"/>
              <a:t> </a:t>
            </a:r>
            <a:r>
              <a:rPr lang="en-US" sz="2400"/>
              <a:t>– 2024</a:t>
            </a:r>
            <a:endParaRPr lang="vi-VN" sz="2400" dirty="0"/>
          </a:p>
        </p:txBody>
      </p:sp>
      <p:sp>
        <p:nvSpPr>
          <p:cNvPr id="6" name="Subtitle 5">
            <a:extLst>
              <a:ext uri="{FF2B5EF4-FFF2-40B4-BE49-F238E27FC236}">
                <a16:creationId xmlns:a16="http://schemas.microsoft.com/office/drawing/2014/main" id="{188CCAE4-DF1D-418C-8924-64BF67F8BDE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69634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Nội dung</a:t>
            </a:r>
            <a:endParaRPr lang="vi-VN"/>
          </a:p>
        </p:txBody>
      </p:sp>
      <p:sp>
        <p:nvSpPr>
          <p:cNvPr id="3" name="Content Placeholder 2"/>
          <p:cNvSpPr>
            <a:spLocks noGrp="1"/>
          </p:cNvSpPr>
          <p:nvPr>
            <p:ph idx="1"/>
          </p:nvPr>
        </p:nvSpPr>
        <p:spPr/>
        <p:txBody>
          <a:bodyPr/>
          <a:lstStyle/>
          <a:p>
            <a:endParaRPr lang="vi-VN"/>
          </a:p>
        </p:txBody>
      </p:sp>
      <p:grpSp>
        <p:nvGrpSpPr>
          <p:cNvPr id="4" name="Group 46"/>
          <p:cNvGrpSpPr>
            <a:grpSpLocks/>
          </p:cNvGrpSpPr>
          <p:nvPr/>
        </p:nvGrpSpPr>
        <p:grpSpPr bwMode="auto">
          <a:xfrm>
            <a:off x="2079848" y="1196752"/>
            <a:ext cx="4724400" cy="685800"/>
            <a:chOff x="1296" y="1824"/>
            <a:chExt cx="2976" cy="432"/>
          </a:xfrm>
        </p:grpSpPr>
        <p:sp>
          <p:nvSpPr>
            <p:cNvPr id="5"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6"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7" name="Text Box 4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Khái niệm kiểu tệp</a:t>
              </a:r>
            </a:p>
          </p:txBody>
        </p:sp>
        <p:sp>
          <p:nvSpPr>
            <p:cNvPr id="8"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1</a:t>
              </a:r>
            </a:p>
          </p:txBody>
        </p:sp>
      </p:grpSp>
      <p:grpSp>
        <p:nvGrpSpPr>
          <p:cNvPr id="9" name="Group 51"/>
          <p:cNvGrpSpPr>
            <a:grpSpLocks/>
          </p:cNvGrpSpPr>
          <p:nvPr/>
        </p:nvGrpSpPr>
        <p:grpSpPr bwMode="auto">
          <a:xfrm>
            <a:off x="2079848" y="1988840"/>
            <a:ext cx="4724400" cy="685800"/>
            <a:chOff x="1296" y="1824"/>
            <a:chExt cx="2976" cy="432"/>
          </a:xfrm>
        </p:grpSpPr>
        <p:sp>
          <p:nvSpPr>
            <p:cNvPr id="10"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11"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12" name="Text Box 5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Các</a:t>
              </a:r>
              <a:r>
                <a:rPr kumimoji="0" lang="en-US" sz="1800" b="1" i="0" u="none" strike="noStrike" kern="0" cap="none" spc="0" normalizeH="0" noProof="0">
                  <a:ln>
                    <a:noFill/>
                  </a:ln>
                  <a:solidFill>
                    <a:srgbClr val="000000"/>
                  </a:solidFill>
                  <a:effectLst/>
                  <a:uLnTx/>
                  <a:uFillTx/>
                </a:rPr>
                <a:t> thao tác trên tệp</a:t>
              </a:r>
              <a:endParaRPr kumimoji="0" lang="en-US" sz="1800" b="1" i="0" u="none" strike="noStrike" kern="0" cap="none" spc="0" normalizeH="0" baseline="0" noProof="0">
                <a:ln>
                  <a:noFill/>
                </a:ln>
                <a:solidFill>
                  <a:srgbClr val="000000"/>
                </a:solidFill>
                <a:effectLst/>
                <a:uLnTx/>
                <a:uFillTx/>
              </a:endParaRPr>
            </a:p>
          </p:txBody>
        </p:sp>
        <p:sp>
          <p:nvSpPr>
            <p:cNvPr id="13" name="Text Box 5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2</a:t>
              </a:r>
            </a:p>
          </p:txBody>
        </p:sp>
      </p:grpSp>
      <p:grpSp>
        <p:nvGrpSpPr>
          <p:cNvPr id="14" name="Group 56"/>
          <p:cNvGrpSpPr>
            <a:grpSpLocks/>
          </p:cNvGrpSpPr>
          <p:nvPr/>
        </p:nvGrpSpPr>
        <p:grpSpPr bwMode="auto">
          <a:xfrm>
            <a:off x="2120668" y="2895740"/>
            <a:ext cx="4724400" cy="685800"/>
            <a:chOff x="1296" y="1824"/>
            <a:chExt cx="2976" cy="432"/>
          </a:xfrm>
        </p:grpSpPr>
        <p:sp>
          <p:nvSpPr>
            <p:cNvPr id="15"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16"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17" name="Text Box 59"/>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Tệp</a:t>
              </a:r>
              <a:r>
                <a:rPr kumimoji="0" lang="en-US" sz="1800" b="1" i="0" u="none" strike="noStrike" kern="0" cap="none" spc="0" normalizeH="0" noProof="0">
                  <a:ln>
                    <a:noFill/>
                  </a:ln>
                  <a:solidFill>
                    <a:srgbClr val="000000"/>
                  </a:solidFill>
                  <a:effectLst/>
                  <a:uLnTx/>
                  <a:uFillTx/>
                </a:rPr>
                <a:t> văn bản</a:t>
              </a:r>
              <a:endParaRPr kumimoji="0" lang="en-US" sz="1800" b="1" i="0" u="none" strike="noStrike" kern="0" cap="none" spc="0" normalizeH="0" baseline="0" noProof="0">
                <a:ln>
                  <a:noFill/>
                </a:ln>
                <a:solidFill>
                  <a:srgbClr val="000000"/>
                </a:solidFill>
                <a:effectLst/>
                <a:uLnTx/>
                <a:uFillTx/>
              </a:endParaRPr>
            </a:p>
          </p:txBody>
        </p:sp>
        <p:sp>
          <p:nvSpPr>
            <p:cNvPr id="18" name="Text Box 6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3</a:t>
              </a:r>
            </a:p>
          </p:txBody>
        </p:sp>
      </p:grpSp>
      <p:grpSp>
        <p:nvGrpSpPr>
          <p:cNvPr id="19" name="Group 61"/>
          <p:cNvGrpSpPr>
            <a:grpSpLocks/>
          </p:cNvGrpSpPr>
          <p:nvPr/>
        </p:nvGrpSpPr>
        <p:grpSpPr bwMode="auto">
          <a:xfrm>
            <a:off x="2151856" y="3717032"/>
            <a:ext cx="4724400" cy="685800"/>
            <a:chOff x="1296" y="1824"/>
            <a:chExt cx="2976" cy="432"/>
          </a:xfrm>
        </p:grpSpPr>
        <p:sp>
          <p:nvSpPr>
            <p:cNvPr id="20" name="AutoShape 62"/>
            <p:cNvSpPr>
              <a:spLocks noChangeArrowheads="1"/>
            </p:cNvSpPr>
            <p:nvPr/>
          </p:nvSpPr>
          <p:spPr bwMode="gray">
            <a:xfrm>
              <a:off x="1536" y="1899"/>
              <a:ext cx="2736" cy="288"/>
            </a:xfrm>
            <a:prstGeom prst="roundRect">
              <a:avLst>
                <a:gd name="adj" fmla="val 16667"/>
              </a:avLst>
            </a:prstGeom>
            <a:gradFill rotWithShape="1">
              <a:gsLst>
                <a:gs pos="0">
                  <a:srgbClr val="A0B5C4">
                    <a:gamma/>
                    <a:tint val="21176"/>
                    <a:invGamma/>
                  </a:srgbClr>
                </a:gs>
                <a:gs pos="100000">
                  <a:srgbClr val="A0B5C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21"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22" name="Text Box 6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lvl="0" eaLnBrk="0" hangingPunct="0">
                <a:defRPr/>
              </a:pPr>
              <a:r>
                <a:rPr lang="en-US" b="1" kern="0">
                  <a:solidFill>
                    <a:srgbClr val="000000"/>
                  </a:solidFill>
                </a:rPr>
                <a:t>Tệp nhị phân</a:t>
              </a:r>
            </a:p>
          </p:txBody>
        </p:sp>
        <p:sp>
          <p:nvSpPr>
            <p:cNvPr id="23" name="Text Box 6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4</a:t>
              </a:r>
            </a:p>
          </p:txBody>
        </p:sp>
      </p:grpSp>
      <p:grpSp>
        <p:nvGrpSpPr>
          <p:cNvPr id="24" name="Group 61"/>
          <p:cNvGrpSpPr>
            <a:grpSpLocks/>
          </p:cNvGrpSpPr>
          <p:nvPr/>
        </p:nvGrpSpPr>
        <p:grpSpPr bwMode="auto">
          <a:xfrm>
            <a:off x="2133600" y="4581508"/>
            <a:ext cx="4724400" cy="685800"/>
            <a:chOff x="1296" y="1824"/>
            <a:chExt cx="2976" cy="432"/>
          </a:xfrm>
          <a:solidFill>
            <a:schemeClr val="accent2">
              <a:lumMod val="20000"/>
              <a:lumOff val="80000"/>
            </a:schemeClr>
          </a:solidFill>
        </p:grpSpPr>
        <p:sp>
          <p:nvSpPr>
            <p:cNvPr id="25" name="AutoShape 62"/>
            <p:cNvSpPr>
              <a:spLocks noChangeArrowheads="1"/>
            </p:cNvSpPr>
            <p:nvPr/>
          </p:nvSpPr>
          <p:spPr bwMode="gray">
            <a:xfrm>
              <a:off x="1536" y="1899"/>
              <a:ext cx="2736" cy="288"/>
            </a:xfrm>
            <a:prstGeom prst="roundRect">
              <a:avLst>
                <a:gd name="adj" fmla="val 16667"/>
              </a:avLst>
            </a:prstGeom>
            <a:grp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26" name="AutoShape 63"/>
            <p:cNvSpPr>
              <a:spLocks noChangeArrowheads="1"/>
            </p:cNvSpPr>
            <p:nvPr/>
          </p:nvSpPr>
          <p:spPr bwMode="gray">
            <a:xfrm>
              <a:off x="1296" y="1824"/>
              <a:ext cx="432" cy="432"/>
            </a:xfrm>
            <a:prstGeom prst="diamond">
              <a:avLst/>
            </a:prstGeom>
            <a:grp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27" name="Text Box 64"/>
            <p:cNvSpPr txBox="1">
              <a:spLocks noChangeArrowheads="1"/>
            </p:cNvSpPr>
            <p:nvPr/>
          </p:nvSpPr>
          <p:spPr bwMode="gray">
            <a:xfrm>
              <a:off x="1824" y="1934"/>
              <a:ext cx="2448" cy="233"/>
            </a:xfrm>
            <a:prstGeom prst="rect">
              <a:avLst/>
            </a:prstGeom>
            <a:grpFill/>
            <a:ln w="9525" algn="ctr">
              <a:noFill/>
              <a:miter lim="800000"/>
              <a:headEnd/>
              <a:tailEnd/>
            </a:ln>
          </p:spPr>
          <p:txBody>
            <a:bodyPr>
              <a:spAutoFit/>
            </a:bodyPr>
            <a:lstStyle/>
            <a:p>
              <a:pPr lvl="0" eaLnBrk="0" hangingPunct="0">
                <a:defRPr/>
              </a:pPr>
              <a:r>
                <a:rPr lang="en-US" b="1" kern="0">
                  <a:solidFill>
                    <a:srgbClr val="000000"/>
                  </a:solidFill>
                </a:rPr>
                <a:t>Các hàm xử lý tệp</a:t>
              </a:r>
            </a:p>
          </p:txBody>
        </p:sp>
        <p:sp>
          <p:nvSpPr>
            <p:cNvPr id="28" name="Text Box 65"/>
            <p:cNvSpPr txBox="1">
              <a:spLocks noChangeArrowheads="1"/>
            </p:cNvSpPr>
            <p:nvPr/>
          </p:nvSpPr>
          <p:spPr bwMode="gray">
            <a:xfrm>
              <a:off x="1392" y="1886"/>
              <a:ext cx="224" cy="291"/>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lang="en-US" sz="2400" kern="0">
                  <a:solidFill>
                    <a:srgbClr val="FFFFFF"/>
                  </a:solidFill>
                </a:rPr>
                <a:t>5</a:t>
              </a:r>
              <a:endParaRPr kumimoji="0" lang="en-US" sz="2400" b="0" i="0" u="none" strike="noStrike" kern="0" cap="none" spc="0" normalizeH="0" baseline="0" noProof="0">
                <a:ln>
                  <a:noFill/>
                </a:ln>
                <a:solidFill>
                  <a:srgbClr val="FFFFFF"/>
                </a:solidFill>
                <a:effectLst/>
                <a:uLnTx/>
                <a:uFillTx/>
              </a:endParaRPr>
            </a:p>
          </p:txBody>
        </p:sp>
      </p:grpSp>
      <p:grpSp>
        <p:nvGrpSpPr>
          <p:cNvPr id="29" name="Group 61"/>
          <p:cNvGrpSpPr>
            <a:grpSpLocks/>
          </p:cNvGrpSpPr>
          <p:nvPr/>
        </p:nvGrpSpPr>
        <p:grpSpPr bwMode="auto">
          <a:xfrm>
            <a:off x="2182300" y="5407496"/>
            <a:ext cx="4724400" cy="685800"/>
            <a:chOff x="1296" y="1824"/>
            <a:chExt cx="2976" cy="432"/>
          </a:xfrm>
          <a:solidFill>
            <a:srgbClr val="8362FA"/>
          </a:solidFill>
        </p:grpSpPr>
        <p:sp>
          <p:nvSpPr>
            <p:cNvPr id="30" name="AutoShape 62"/>
            <p:cNvSpPr>
              <a:spLocks noChangeArrowheads="1"/>
            </p:cNvSpPr>
            <p:nvPr/>
          </p:nvSpPr>
          <p:spPr bwMode="gray">
            <a:xfrm>
              <a:off x="1536" y="1899"/>
              <a:ext cx="2736" cy="288"/>
            </a:xfrm>
            <a:prstGeom prst="roundRect">
              <a:avLst>
                <a:gd name="adj" fmla="val 16667"/>
              </a:avLst>
            </a:prstGeom>
            <a:grp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31" name="AutoShape 63"/>
            <p:cNvSpPr>
              <a:spLocks noChangeArrowheads="1"/>
            </p:cNvSpPr>
            <p:nvPr/>
          </p:nvSpPr>
          <p:spPr bwMode="gray">
            <a:xfrm>
              <a:off x="1296" y="1824"/>
              <a:ext cx="432" cy="432"/>
            </a:xfrm>
            <a:prstGeom prst="diamond">
              <a:avLst/>
            </a:prstGeom>
            <a:grp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32" name="Text Box 64"/>
            <p:cNvSpPr txBox="1">
              <a:spLocks noChangeArrowheads="1"/>
            </p:cNvSpPr>
            <p:nvPr/>
          </p:nvSpPr>
          <p:spPr bwMode="gray">
            <a:xfrm>
              <a:off x="1824" y="1934"/>
              <a:ext cx="2448" cy="233"/>
            </a:xfrm>
            <a:prstGeom prst="rect">
              <a:avLst/>
            </a:prstGeom>
            <a:grp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Truyền</a:t>
              </a:r>
              <a:r>
                <a:rPr kumimoji="0" lang="en-US" sz="1800" b="1" i="0" u="none" strike="noStrike" kern="0" cap="none" spc="0" normalizeH="0" noProof="0">
                  <a:ln>
                    <a:noFill/>
                  </a:ln>
                  <a:solidFill>
                    <a:srgbClr val="000000"/>
                  </a:solidFill>
                  <a:effectLst/>
                  <a:uLnTx/>
                  <a:uFillTx/>
                </a:rPr>
                <a:t> tham số là tệp cho hàm</a:t>
              </a:r>
              <a:endParaRPr kumimoji="0" lang="en-US" sz="1800" b="1" i="0" u="none" strike="noStrike" kern="0" cap="none" spc="0" normalizeH="0" baseline="0" noProof="0">
                <a:ln>
                  <a:noFill/>
                </a:ln>
                <a:solidFill>
                  <a:srgbClr val="000000"/>
                </a:solidFill>
                <a:effectLst/>
                <a:uLnTx/>
                <a:uFillTx/>
              </a:endParaRPr>
            </a:p>
          </p:txBody>
        </p:sp>
        <p:sp>
          <p:nvSpPr>
            <p:cNvPr id="33" name="Text Box 65"/>
            <p:cNvSpPr txBox="1">
              <a:spLocks noChangeArrowheads="1"/>
            </p:cNvSpPr>
            <p:nvPr/>
          </p:nvSpPr>
          <p:spPr bwMode="gray">
            <a:xfrm>
              <a:off x="1392" y="1886"/>
              <a:ext cx="224" cy="291"/>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lang="en-US" sz="2400" kern="0">
                  <a:solidFill>
                    <a:srgbClr val="FFFFFF"/>
                  </a:solidFill>
                </a:rPr>
                <a:t>6</a:t>
              </a:r>
              <a:endParaRPr kumimoji="0" lang="en-US" sz="2400" b="0" i="0" u="none" strike="noStrike" kern="0" cap="none" spc="0" normalizeH="0" baseline="0" noProof="0">
                <a:ln>
                  <a:noFill/>
                </a:ln>
                <a:solidFill>
                  <a:srgbClr val="FFFFFF"/>
                </a:solidFill>
                <a:effectLst/>
                <a:uLnTx/>
                <a:uFillTx/>
              </a:endParaRPr>
            </a:p>
          </p:txBody>
        </p:sp>
      </p:grpSp>
      <p:sp>
        <p:nvSpPr>
          <p:cNvPr id="34" name="Date Placeholder 33"/>
          <p:cNvSpPr>
            <a:spLocks noGrp="1"/>
          </p:cNvSpPr>
          <p:nvPr>
            <p:ph type="dt" sz="half" idx="10"/>
          </p:nvPr>
        </p:nvSpPr>
        <p:spPr/>
        <p:txBody>
          <a:bodyPr/>
          <a:lstStyle/>
          <a:p>
            <a:fld id="{2232E5FD-3D61-4D9B-83D2-97BA90A6EC25}" type="datetime1">
              <a:rPr lang="vi-VN" smtClean="0"/>
              <a:t>14/01/2024</a:t>
            </a:fld>
            <a:endParaRPr lang="vi-VN"/>
          </a:p>
        </p:txBody>
      </p:sp>
      <p:sp>
        <p:nvSpPr>
          <p:cNvPr id="35" name="Footer Placeholder 34"/>
          <p:cNvSpPr>
            <a:spLocks noGrp="1"/>
          </p:cNvSpPr>
          <p:nvPr>
            <p:ph type="ftr" sz="quarter" idx="11"/>
          </p:nvPr>
        </p:nvSpPr>
        <p:spPr/>
        <p:txBody>
          <a:bodyPr/>
          <a:lstStyle/>
          <a:p>
            <a:r>
              <a:rPr lang="vi-VN"/>
              <a:t>Chương 9-Kiểu dữ liệu tệp</a:t>
            </a:r>
          </a:p>
        </p:txBody>
      </p:sp>
      <p:sp>
        <p:nvSpPr>
          <p:cNvPr id="37" name="Slide Number Placeholder 36"/>
          <p:cNvSpPr>
            <a:spLocks noGrp="1"/>
          </p:cNvSpPr>
          <p:nvPr>
            <p:ph type="sldNum" sz="quarter" idx="12"/>
          </p:nvPr>
        </p:nvSpPr>
        <p:spPr/>
        <p:txBody>
          <a:bodyPr/>
          <a:lstStyle/>
          <a:p>
            <a:fld id="{5AB95402-1E0D-474E-8D8C-CBE7F053639E}" type="slidenum">
              <a:rPr lang="vi-VN" smtClean="0"/>
              <a:pPr/>
              <a:t>2</a:t>
            </a:fld>
            <a:r>
              <a:rPr lang="en-US"/>
              <a:t>/32</a:t>
            </a:r>
            <a:endParaRPr lang="vi-VN"/>
          </a:p>
        </p:txBody>
      </p:sp>
    </p:spTree>
    <p:extLst>
      <p:ext uri="{BB962C8B-B14F-4D97-AF65-F5344CB8AC3E}">
        <p14:creationId xmlns:p14="http://schemas.microsoft.com/office/powerpoint/2010/main" val="14260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fill="hold"/>
                                        <p:tgtEl>
                                          <p:spTgt spid="9"/>
                                        </p:tgtEl>
                                        <p:attrNameLst>
                                          <p:attrName>ppt_x</p:attrName>
                                        </p:attrNameLst>
                                      </p:cBhvr>
                                      <p:tavLst>
                                        <p:tav tm="0">
                                          <p:val>
                                            <p:strVal val="#ppt_x"/>
                                          </p:val>
                                        </p:tav>
                                        <p:tav tm="100000">
                                          <p:val>
                                            <p:strVal val="#ppt_x"/>
                                          </p:val>
                                        </p:tav>
                                      </p:tavLst>
                                    </p:anim>
                                    <p:anim calcmode="lin" valueType="num">
                                      <p:cBhvr>
                                        <p:cTn id="15" dur="5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anim calcmode="lin" valueType="num">
                                      <p:cBhvr>
                                        <p:cTn id="20" dur="500" fill="hold"/>
                                        <p:tgtEl>
                                          <p:spTgt spid="14"/>
                                        </p:tgtEl>
                                        <p:attrNameLst>
                                          <p:attrName>ppt_x</p:attrName>
                                        </p:attrNameLst>
                                      </p:cBhvr>
                                      <p:tavLst>
                                        <p:tav tm="0">
                                          <p:val>
                                            <p:strVal val="#ppt_x"/>
                                          </p:val>
                                        </p:tav>
                                        <p:tav tm="100000">
                                          <p:val>
                                            <p:strVal val="#ppt_x"/>
                                          </p:val>
                                        </p:tav>
                                      </p:tavLst>
                                    </p:anim>
                                    <p:anim calcmode="lin" valueType="num">
                                      <p:cBhvr>
                                        <p:cTn id="21" dur="500" fill="hold"/>
                                        <p:tgtEl>
                                          <p:spTgt spid="1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7" presetClass="entr" presetSubtype="0"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anim calcmode="lin" valueType="num">
                                      <p:cBhvr>
                                        <p:cTn id="32" dur="500" fill="hold"/>
                                        <p:tgtEl>
                                          <p:spTgt spid="24"/>
                                        </p:tgtEl>
                                        <p:attrNameLst>
                                          <p:attrName>ppt_x</p:attrName>
                                        </p:attrNameLst>
                                      </p:cBhvr>
                                      <p:tavLst>
                                        <p:tav tm="0">
                                          <p:val>
                                            <p:strVal val="#ppt_x"/>
                                          </p:val>
                                        </p:tav>
                                        <p:tav tm="100000">
                                          <p:val>
                                            <p:strVal val="#ppt_x"/>
                                          </p:val>
                                        </p:tav>
                                      </p:tavLst>
                                    </p:anim>
                                    <p:anim calcmode="lin" valueType="num">
                                      <p:cBhvr>
                                        <p:cTn id="33" dur="500" fill="hold"/>
                                        <p:tgtEl>
                                          <p:spTgt spid="24"/>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7" presetClass="entr" presetSubtype="0" fill="hold"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anim calcmode="lin" valueType="num">
                                      <p:cBhvr>
                                        <p:cTn id="38" dur="500" fill="hold"/>
                                        <p:tgtEl>
                                          <p:spTgt spid="29"/>
                                        </p:tgtEl>
                                        <p:attrNameLst>
                                          <p:attrName>ppt_x</p:attrName>
                                        </p:attrNameLst>
                                      </p:cBhvr>
                                      <p:tavLst>
                                        <p:tav tm="0">
                                          <p:val>
                                            <p:strVal val="#ppt_x"/>
                                          </p:val>
                                        </p:tav>
                                        <p:tav tm="100000">
                                          <p:val>
                                            <p:strVal val="#ppt_x"/>
                                          </p:val>
                                        </p:tav>
                                      </p:tavLst>
                                    </p:anim>
                                    <p:anim calcmode="lin" valueType="num">
                                      <p:cBhvr>
                                        <p:cTn id="39" dur="5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Khái niệm kiểu tệp</a:t>
            </a:r>
            <a:endParaRPr lang="vi-VN"/>
          </a:p>
        </p:txBody>
      </p:sp>
      <p:sp>
        <p:nvSpPr>
          <p:cNvPr id="3" name="Content Placeholder 2"/>
          <p:cNvSpPr>
            <a:spLocks noGrp="1"/>
          </p:cNvSpPr>
          <p:nvPr>
            <p:ph idx="1"/>
          </p:nvPr>
        </p:nvSpPr>
        <p:spPr/>
        <p:txBody>
          <a:bodyPr/>
          <a:lstStyle/>
          <a:p>
            <a:r>
              <a:rPr lang="en-US"/>
              <a:t>Tệp </a:t>
            </a:r>
          </a:p>
          <a:p>
            <a:pPr lvl="1"/>
            <a:r>
              <a:rPr lang="en-US"/>
              <a:t>Là tập hợp các dữ liệu có liên quan với nhau và có cùng kiểu được nhóm lại với nhau tạo thành một dãy.</a:t>
            </a:r>
          </a:p>
          <a:p>
            <a:pPr lvl="1"/>
            <a:r>
              <a:rPr lang="en-US"/>
              <a:t>Tệp được chứa trong thiết bị nhớ ngoài </a:t>
            </a:r>
          </a:p>
          <a:p>
            <a:pPr lvl="1">
              <a:buFont typeface="Wingdings"/>
              <a:buChar char="à"/>
            </a:pPr>
            <a:r>
              <a:rPr lang="en-US">
                <a:sym typeface="Wingdings" pitchFamily="2" charset="2"/>
              </a:rPr>
              <a:t>Kích thước và số lượng gần như không hạn chế.</a:t>
            </a:r>
          </a:p>
          <a:p>
            <a:r>
              <a:rPr lang="en-US"/>
              <a:t>Phân loại tệp</a:t>
            </a:r>
          </a:p>
          <a:p>
            <a:pPr lvl="1"/>
            <a:r>
              <a:rPr lang="en-US"/>
              <a:t>Theo cách truy cập</a:t>
            </a:r>
          </a:p>
          <a:p>
            <a:pPr lvl="2"/>
            <a:r>
              <a:rPr lang="en-US"/>
              <a:t>Tệp truy cập tuần tự: việc đọc một phần tử bất kỳ của tệp bắt buộc phải tuần tự đi qua các phần tử trước đó</a:t>
            </a:r>
          </a:p>
          <a:p>
            <a:pPr lvl="2"/>
            <a:r>
              <a:rPr lang="en-US"/>
              <a:t>Tệp truy cập ngẫu nhiên: có thể truy xuất phần tử bất kỳ của tệp thông qua chỉ số thứ tự phần tử trong tệp</a:t>
            </a:r>
          </a:p>
          <a:p>
            <a:pPr lvl="1"/>
            <a:endParaRPr lang="vi-VN"/>
          </a:p>
        </p:txBody>
      </p:sp>
      <p:sp>
        <p:nvSpPr>
          <p:cNvPr id="4" name="Date Placeholder 3"/>
          <p:cNvSpPr>
            <a:spLocks noGrp="1"/>
          </p:cNvSpPr>
          <p:nvPr>
            <p:ph type="dt" sz="half" idx="10"/>
          </p:nvPr>
        </p:nvSpPr>
        <p:spPr/>
        <p:txBody>
          <a:bodyPr/>
          <a:lstStyle/>
          <a:p>
            <a:fld id="{7514EAD3-2018-4DCD-9A26-2D453EE3F700}"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a:t>
            </a:fld>
            <a:r>
              <a:rPr lang="en-US"/>
              <a:t>/32</a:t>
            </a:r>
            <a:endParaRPr lang="vi-VN"/>
          </a:p>
        </p:txBody>
      </p:sp>
    </p:spTree>
    <p:extLst>
      <p:ext uri="{BB962C8B-B14F-4D97-AF65-F5344CB8AC3E}">
        <p14:creationId xmlns:p14="http://schemas.microsoft.com/office/powerpoint/2010/main" val="876402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Khái niệm kiểu tệp (tt)</a:t>
            </a:r>
            <a:endParaRPr lang="vi-VN"/>
          </a:p>
        </p:txBody>
      </p:sp>
      <p:sp>
        <p:nvSpPr>
          <p:cNvPr id="3" name="Content Placeholder 2"/>
          <p:cNvSpPr>
            <a:spLocks noGrp="1"/>
          </p:cNvSpPr>
          <p:nvPr>
            <p:ph idx="1"/>
          </p:nvPr>
        </p:nvSpPr>
        <p:spPr/>
        <p:txBody>
          <a:bodyPr/>
          <a:lstStyle/>
          <a:p>
            <a:r>
              <a:rPr lang="en-US"/>
              <a:t>Phân loại tệp</a:t>
            </a:r>
          </a:p>
          <a:p>
            <a:pPr lvl="1"/>
            <a:r>
              <a:rPr lang="en-US"/>
              <a:t>Theo bản chất dữ liệu</a:t>
            </a:r>
          </a:p>
          <a:p>
            <a:pPr lvl="2"/>
            <a:r>
              <a:rPr lang="en-US"/>
              <a:t>Tệp văn bản: chứa các kí tự trong bảng mã ASCII không kể đến các kí tự điều khiển. Dữ liệu được lưu thành các dòng, mỗi dòng được kết thúc bằng ký tự xuống dòng  là CR (Carriage Return – về đầu dòng, mã 10) và LF (Line Feed – xuống dòng, mã 13). Tệp văn bản kết thúc bằng kí tự EOF (End Of File) có mã 26 (Ctrl + Z)</a:t>
            </a:r>
          </a:p>
          <a:p>
            <a:pPr marL="909637" lvl="2" indent="0">
              <a:buNone/>
            </a:pPr>
            <a:r>
              <a:rPr lang="en-US"/>
              <a:t>	      Ví dụ:</a:t>
            </a:r>
          </a:p>
          <a:p>
            <a:pPr marL="909637" lvl="2" indent="0">
              <a:buNone/>
            </a:pPr>
            <a:r>
              <a:rPr lang="en-US"/>
              <a:t>      Các tệp văn bản (text) (*.txt)</a:t>
            </a:r>
          </a:p>
          <a:p>
            <a:pPr lvl="2"/>
            <a:r>
              <a:rPr lang="en-US"/>
              <a:t>Tệp nhị phân: các phần tử là các số nhị phân, và chứa khá nhiều dữ liệu có mã là các kí tự điều khiển.</a:t>
            </a:r>
          </a:p>
          <a:p>
            <a:pPr marL="909637" lvl="2" indent="0">
              <a:buNone/>
            </a:pPr>
            <a:r>
              <a:rPr lang="en-US"/>
              <a:t> Ví dụ:</a:t>
            </a:r>
          </a:p>
          <a:p>
            <a:pPr marL="909637" lvl="2" indent="0">
              <a:buNone/>
            </a:pPr>
            <a:r>
              <a:rPr lang="en-US"/>
              <a:t>      Các tệp chương trình (*.exe, *.com…)</a:t>
            </a:r>
          </a:p>
          <a:p>
            <a:pPr marL="909637" lvl="2" indent="0">
              <a:buNone/>
            </a:pPr>
            <a:endParaRPr lang="en-US"/>
          </a:p>
          <a:p>
            <a:endParaRPr lang="vi-VN"/>
          </a:p>
        </p:txBody>
      </p:sp>
      <p:sp>
        <p:nvSpPr>
          <p:cNvPr id="4" name="Date Placeholder 3"/>
          <p:cNvSpPr>
            <a:spLocks noGrp="1"/>
          </p:cNvSpPr>
          <p:nvPr>
            <p:ph type="dt" sz="half" idx="10"/>
          </p:nvPr>
        </p:nvSpPr>
        <p:spPr/>
        <p:txBody>
          <a:bodyPr/>
          <a:lstStyle/>
          <a:p>
            <a:fld id="{990984AB-B2FD-458D-AE7D-BD13BF917AD2}"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a:t>
            </a:fld>
            <a:r>
              <a:rPr lang="en-US"/>
              <a:t>/32</a:t>
            </a:r>
            <a:endParaRPr lang="vi-VN"/>
          </a:p>
        </p:txBody>
      </p:sp>
    </p:spTree>
    <p:extLst>
      <p:ext uri="{BB962C8B-B14F-4D97-AF65-F5344CB8AC3E}">
        <p14:creationId xmlns:p14="http://schemas.microsoft.com/office/powerpoint/2010/main" val="1503814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khái niệm</a:t>
            </a:r>
            <a:endParaRPr lang="vi-VN"/>
          </a:p>
        </p:txBody>
      </p:sp>
      <p:sp>
        <p:nvSpPr>
          <p:cNvPr id="3" name="Content Placeholder 2"/>
          <p:cNvSpPr>
            <a:spLocks noGrp="1"/>
          </p:cNvSpPr>
          <p:nvPr>
            <p:ph idx="1"/>
          </p:nvPr>
        </p:nvSpPr>
        <p:spPr/>
        <p:txBody>
          <a:bodyPr/>
          <a:lstStyle/>
          <a:p>
            <a:r>
              <a:rPr lang="en-US"/>
              <a:t>Biến tệp</a:t>
            </a:r>
          </a:p>
          <a:p>
            <a:pPr lvl="1"/>
            <a:r>
              <a:rPr lang="en-US"/>
              <a:t>Là biến thuộc kiểu tệp dùng đại diện cho một tệp tin.</a:t>
            </a:r>
          </a:p>
          <a:p>
            <a:pPr lvl="1"/>
            <a:r>
              <a:rPr lang="en-US"/>
              <a:t>Dữ liệu chứa trong tệp được truy xuất thông qua các thao tác với biến tệp.</a:t>
            </a:r>
          </a:p>
          <a:p>
            <a:r>
              <a:rPr lang="en-US"/>
              <a:t>Con trỏ tệp</a:t>
            </a:r>
          </a:p>
          <a:p>
            <a:pPr lvl="1"/>
            <a:r>
              <a:rPr lang="vi-VN"/>
              <a:t>Dùng để xác định vị trí của phần tử hiện tại để đọc hoặc ghi dữ liệu trên tệp. </a:t>
            </a:r>
          </a:p>
          <a:p>
            <a:pPr lvl="1"/>
            <a:r>
              <a:rPr lang="vi-VN"/>
              <a:t>Khi tệp được mở để đọc hoặc ghi thì con trỏ tệp luôn ở vị trí đầu tệp. </a:t>
            </a:r>
          </a:p>
          <a:p>
            <a:pPr lvl="1"/>
            <a:r>
              <a:rPr lang="vi-VN"/>
              <a:t>Mỗi khi đọc hoặc ghi trên tệp thì con trỏ tệp tự động tăng lên một khoảng theo đúng số byte vừa đọc hoặc ghi trên tệp.</a:t>
            </a:r>
          </a:p>
          <a:p>
            <a:pPr lvl="1"/>
            <a:endParaRPr lang="vi-VN"/>
          </a:p>
        </p:txBody>
      </p:sp>
      <p:sp>
        <p:nvSpPr>
          <p:cNvPr id="4" name="Date Placeholder 3"/>
          <p:cNvSpPr>
            <a:spLocks noGrp="1"/>
          </p:cNvSpPr>
          <p:nvPr>
            <p:ph type="dt" sz="half" idx="10"/>
          </p:nvPr>
        </p:nvSpPr>
        <p:spPr/>
        <p:txBody>
          <a:bodyPr/>
          <a:lstStyle/>
          <a:p>
            <a:fld id="{334BBE39-98CA-40AF-B83D-F438CC5D4C20}"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5</a:t>
            </a:fld>
            <a:r>
              <a:rPr lang="en-US"/>
              <a:t>/32</a:t>
            </a:r>
            <a:endParaRPr lang="vi-VN"/>
          </a:p>
        </p:txBody>
      </p:sp>
    </p:spTree>
    <p:extLst>
      <p:ext uri="{BB962C8B-B14F-4D97-AF65-F5344CB8AC3E}">
        <p14:creationId xmlns:p14="http://schemas.microsoft.com/office/powerpoint/2010/main" val="2340008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2. Các thao tác trên tệp</a:t>
            </a:r>
          </a:p>
        </p:txBody>
      </p:sp>
      <p:sp>
        <p:nvSpPr>
          <p:cNvPr id="3" name="Content Placeholder 2"/>
          <p:cNvSpPr>
            <a:spLocks noGrp="1"/>
          </p:cNvSpPr>
          <p:nvPr>
            <p:ph idx="1"/>
          </p:nvPr>
        </p:nvSpPr>
        <p:spPr/>
        <p:txBody>
          <a:bodyPr/>
          <a:lstStyle/>
          <a:p>
            <a:r>
              <a:rPr lang="vi-VN"/>
              <a:t>Các bước cơ bản để xử lý tệp</a:t>
            </a:r>
          </a:p>
          <a:p>
            <a:pPr marL="514350" indent="-57150">
              <a:buFont typeface="+mj-lt"/>
              <a:buAutoNum type="arabicPeriod"/>
            </a:pPr>
            <a:r>
              <a:rPr lang="vi-VN"/>
              <a:t>Khai báo biến tệp</a:t>
            </a:r>
          </a:p>
          <a:p>
            <a:pPr marL="514350" indent="-57150">
              <a:buFont typeface="+mj-lt"/>
              <a:buAutoNum type="arabicPeriod"/>
            </a:pPr>
            <a:r>
              <a:rPr lang="vi-VN"/>
              <a:t>Mở tệp để ghi hoặc đọc</a:t>
            </a:r>
          </a:p>
          <a:p>
            <a:pPr marL="514350" indent="-57150">
              <a:buFont typeface="+mj-lt"/>
              <a:buAutoNum type="arabicPeriod"/>
            </a:pPr>
            <a:r>
              <a:rPr lang="vi-VN"/>
              <a:t>Xử lý dữ liệu trong tệp</a:t>
            </a:r>
          </a:p>
          <a:p>
            <a:pPr marL="514350" indent="-57150">
              <a:buFont typeface="+mj-lt"/>
              <a:buAutoNum type="arabicPeriod"/>
            </a:pPr>
            <a:r>
              <a:rPr lang="vi-VN"/>
              <a:t>Đóng tệp</a:t>
            </a:r>
          </a:p>
          <a:p>
            <a:r>
              <a:rPr lang="vi-VN"/>
              <a:t>Các hàm thao tác với tệp trong thư viện stdio.h</a:t>
            </a:r>
          </a:p>
        </p:txBody>
      </p:sp>
      <p:sp>
        <p:nvSpPr>
          <p:cNvPr id="4" name="Date Placeholder 3"/>
          <p:cNvSpPr>
            <a:spLocks noGrp="1"/>
          </p:cNvSpPr>
          <p:nvPr>
            <p:ph type="dt" sz="half" idx="10"/>
          </p:nvPr>
        </p:nvSpPr>
        <p:spPr/>
        <p:txBody>
          <a:bodyPr/>
          <a:lstStyle/>
          <a:p>
            <a:fld id="{30C73346-0846-4649-BF46-BD2EE19B9333}"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6</a:t>
            </a:fld>
            <a:r>
              <a:rPr lang="en-US"/>
              <a:t>/32</a:t>
            </a:r>
            <a:endParaRPr lang="vi-VN"/>
          </a:p>
        </p:txBody>
      </p:sp>
    </p:spTree>
    <p:extLst>
      <p:ext uri="{BB962C8B-B14F-4D97-AF65-F5344CB8AC3E}">
        <p14:creationId xmlns:p14="http://schemas.microsoft.com/office/powerpoint/2010/main" val="3448920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2.1 Khai báo biến tệp</a:t>
            </a:r>
          </a:p>
        </p:txBody>
      </p:sp>
      <p:sp>
        <p:nvSpPr>
          <p:cNvPr id="3" name="Content Placeholder 2"/>
          <p:cNvSpPr>
            <a:spLocks noGrp="1"/>
          </p:cNvSpPr>
          <p:nvPr>
            <p:ph idx="1"/>
          </p:nvPr>
        </p:nvSpPr>
        <p:spPr/>
        <p:txBody>
          <a:bodyPr/>
          <a:lstStyle/>
          <a:p>
            <a:r>
              <a:rPr lang="vi-VN"/>
              <a:t>Cú pháp</a:t>
            </a:r>
          </a:p>
          <a:p>
            <a:pPr marL="0" indent="747713">
              <a:buNone/>
            </a:pPr>
            <a:r>
              <a:rPr lang="vi-VN" sz="2400" b="1">
                <a:latin typeface="Courier New" pitchFamily="49" charset="0"/>
                <a:cs typeface="Courier New" pitchFamily="49" charset="0"/>
              </a:rPr>
              <a:t>FILE *&lt;tên biến tệp&gt;;</a:t>
            </a:r>
          </a:p>
          <a:p>
            <a:pPr lvl="1"/>
            <a:r>
              <a:rPr lang="vi-VN"/>
              <a:t>Trong đó, FILE là từ khoá luôn phải có và viết dạng chữ hoa</a:t>
            </a:r>
          </a:p>
          <a:p>
            <a:pPr lvl="1"/>
            <a:r>
              <a:rPr lang="vi-VN"/>
              <a:t>Các biến tệp là các biến con trỏ</a:t>
            </a:r>
          </a:p>
          <a:p>
            <a:r>
              <a:rPr lang="vi-VN"/>
              <a:t>Ví dụ:</a:t>
            </a:r>
          </a:p>
          <a:p>
            <a:pPr marL="0" indent="747713">
              <a:buNone/>
            </a:pPr>
            <a:r>
              <a:rPr lang="vi-VN" sz="2400" b="1">
                <a:latin typeface="Courier New" pitchFamily="49" charset="0"/>
                <a:cs typeface="Courier New" pitchFamily="49" charset="0"/>
              </a:rPr>
              <a:t>FILE *f1,*f2;</a:t>
            </a:r>
          </a:p>
          <a:p>
            <a:pPr marL="471487" lvl="1" indent="0">
              <a:buNone/>
            </a:pPr>
            <a:r>
              <a:rPr lang="vi-VN"/>
              <a:t>// Khai báo 2 biến tệp f1 và f2</a:t>
            </a:r>
          </a:p>
          <a:p>
            <a:pPr marL="0" indent="0">
              <a:buNone/>
            </a:pPr>
            <a:endParaRPr lang="vi-VN"/>
          </a:p>
        </p:txBody>
      </p:sp>
      <p:sp>
        <p:nvSpPr>
          <p:cNvPr id="4" name="Date Placeholder 3"/>
          <p:cNvSpPr>
            <a:spLocks noGrp="1"/>
          </p:cNvSpPr>
          <p:nvPr>
            <p:ph type="dt" sz="half" idx="10"/>
          </p:nvPr>
        </p:nvSpPr>
        <p:spPr/>
        <p:txBody>
          <a:bodyPr/>
          <a:lstStyle/>
          <a:p>
            <a:fld id="{2F945564-D30A-4010-B15F-29FB5DCCC3CF}"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7</a:t>
            </a:fld>
            <a:r>
              <a:rPr lang="en-US"/>
              <a:t>/32</a:t>
            </a:r>
            <a:endParaRPr lang="vi-VN"/>
          </a:p>
        </p:txBody>
      </p:sp>
    </p:spTree>
    <p:extLst>
      <p:ext uri="{BB962C8B-B14F-4D97-AF65-F5344CB8AC3E}">
        <p14:creationId xmlns:p14="http://schemas.microsoft.com/office/powerpoint/2010/main" val="1493260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2.2 Mở tệp</a:t>
            </a:r>
          </a:p>
        </p:txBody>
      </p:sp>
      <p:sp>
        <p:nvSpPr>
          <p:cNvPr id="3" name="Content Placeholder 2"/>
          <p:cNvSpPr>
            <a:spLocks noGrp="1"/>
          </p:cNvSpPr>
          <p:nvPr>
            <p:ph idx="1"/>
          </p:nvPr>
        </p:nvSpPr>
        <p:spPr/>
        <p:txBody>
          <a:bodyPr/>
          <a:lstStyle/>
          <a:p>
            <a:r>
              <a:rPr lang="vi-VN"/>
              <a:t>Cú pháp</a:t>
            </a:r>
          </a:p>
          <a:p>
            <a:pPr marL="0" indent="0">
              <a:buNone/>
            </a:pPr>
            <a:r>
              <a:rPr lang="vi-VN" sz="2200" b="1">
                <a:latin typeface="Courier New" pitchFamily="49" charset="0"/>
                <a:cs typeface="Courier New" pitchFamily="49" charset="0"/>
              </a:rPr>
              <a:t>&lt;Biến tệp&gt;=</a:t>
            </a:r>
            <a:r>
              <a:rPr lang="vi-VN" sz="2200" b="1">
                <a:solidFill>
                  <a:srgbClr val="FF0000"/>
                </a:solidFill>
                <a:latin typeface="Courier New" pitchFamily="49" charset="0"/>
                <a:cs typeface="Courier New" pitchFamily="49" charset="0"/>
              </a:rPr>
              <a:t>fopen</a:t>
            </a:r>
            <a:r>
              <a:rPr lang="vi-VN" sz="2200" b="1">
                <a:latin typeface="Courier New" pitchFamily="49" charset="0"/>
                <a:cs typeface="Courier New" pitchFamily="49" charset="0"/>
              </a:rPr>
              <a:t>(&lt;Tên tệp&gt;,&lt;Kiểu xử lý tệp&gt;);</a:t>
            </a:r>
          </a:p>
          <a:p>
            <a:pPr lvl="1"/>
            <a:r>
              <a:rPr lang="vi-VN"/>
              <a:t>Trong đó:</a:t>
            </a:r>
          </a:p>
          <a:p>
            <a:pPr lvl="2"/>
            <a:r>
              <a:rPr lang="vi-VN"/>
              <a:t>Tên tệp: đường dẫn đến tệp trên đĩa (lưu ý, dấu \ được ghi là \\). Tên tệp được đặt theo quy tắc đặt tên.</a:t>
            </a:r>
          </a:p>
          <a:p>
            <a:pPr lvl="2"/>
            <a:r>
              <a:rPr lang="vi-VN"/>
              <a:t>Kiểu xử lý tệp: xác định cách thức mà tệp được mở</a:t>
            </a:r>
          </a:p>
          <a:p>
            <a:pPr lvl="1"/>
            <a:r>
              <a:rPr lang="vi-VN"/>
              <a:t>fopen trả về một con trỏ tệp, nếu có lỗi con trỏ trả về NULL</a:t>
            </a:r>
          </a:p>
          <a:p>
            <a:r>
              <a:rPr lang="vi-VN"/>
              <a:t>Ví dụ:</a:t>
            </a:r>
          </a:p>
          <a:p>
            <a:pPr marL="471487" lvl="1" indent="0">
              <a:buNone/>
            </a:pPr>
            <a:r>
              <a:rPr lang="vi-VN" sz="2200" b="1">
                <a:solidFill>
                  <a:schemeClr val="tx1"/>
                </a:solidFill>
                <a:latin typeface="Courier New" pitchFamily="49" charset="0"/>
                <a:ea typeface="+mn-ea"/>
                <a:cs typeface="Courier New" pitchFamily="49" charset="0"/>
              </a:rPr>
              <a:t>f1=</a:t>
            </a:r>
            <a:r>
              <a:rPr lang="vi-VN" sz="2200" b="1">
                <a:solidFill>
                  <a:srgbClr val="FF0000"/>
                </a:solidFill>
                <a:latin typeface="Courier New" pitchFamily="49" charset="0"/>
                <a:ea typeface="+mn-ea"/>
                <a:cs typeface="Courier New" pitchFamily="49" charset="0"/>
              </a:rPr>
              <a:t>fopen</a:t>
            </a:r>
            <a:r>
              <a:rPr lang="vi-VN" sz="2200" b="1">
                <a:solidFill>
                  <a:schemeClr val="tx1"/>
                </a:solidFill>
                <a:latin typeface="Courier New" pitchFamily="49" charset="0"/>
                <a:ea typeface="+mn-ea"/>
                <a:cs typeface="Courier New" pitchFamily="49" charset="0"/>
              </a:rPr>
              <a:t>(</a:t>
            </a:r>
            <a:r>
              <a:rPr lang="en-US" sz="2200" b="1">
                <a:solidFill>
                  <a:schemeClr val="tx1"/>
                </a:solidFill>
                <a:latin typeface="Courier New" pitchFamily="49" charset="0"/>
                <a:ea typeface="+mn-ea"/>
                <a:cs typeface="Courier New" pitchFamily="49" charset="0"/>
              </a:rPr>
              <a:t>“C:\\TC\\VIDU.TXT”,”</a:t>
            </a:r>
            <a:r>
              <a:rPr lang="en-US" sz="2200" b="1">
                <a:solidFill>
                  <a:srgbClr val="FF0000"/>
                </a:solidFill>
                <a:latin typeface="Courier New" pitchFamily="49" charset="0"/>
                <a:ea typeface="+mn-ea"/>
                <a:cs typeface="Courier New" pitchFamily="49" charset="0"/>
              </a:rPr>
              <a:t>w</a:t>
            </a:r>
            <a:r>
              <a:rPr lang="en-US" sz="2200" b="1">
                <a:solidFill>
                  <a:schemeClr val="tx1"/>
                </a:solidFill>
                <a:latin typeface="Courier New" pitchFamily="49" charset="0"/>
                <a:ea typeface="+mn-ea"/>
                <a:cs typeface="Courier New" pitchFamily="49" charset="0"/>
              </a:rPr>
              <a:t>”);</a:t>
            </a:r>
          </a:p>
          <a:p>
            <a:pPr marL="471487" lvl="1" indent="0">
              <a:buNone/>
            </a:pPr>
            <a:r>
              <a:rPr lang="en-US"/>
              <a:t>Mở tệp VIDU.TXT mới để ghi</a:t>
            </a:r>
          </a:p>
          <a:p>
            <a:pPr marL="471487" lvl="1" indent="0">
              <a:buNone/>
            </a:pPr>
            <a:r>
              <a:rPr lang="en-US" sz="2200" b="1">
                <a:solidFill>
                  <a:schemeClr val="tx1"/>
                </a:solidFill>
                <a:latin typeface="Courier New" pitchFamily="49" charset="0"/>
                <a:ea typeface="+mn-ea"/>
                <a:cs typeface="Courier New" pitchFamily="49" charset="0"/>
              </a:rPr>
              <a:t>f2=</a:t>
            </a:r>
            <a:r>
              <a:rPr lang="en-US" sz="2200" b="1">
                <a:solidFill>
                  <a:srgbClr val="FF0000"/>
                </a:solidFill>
                <a:latin typeface="Courier New" pitchFamily="49" charset="0"/>
                <a:ea typeface="+mn-ea"/>
                <a:cs typeface="Courier New" pitchFamily="49" charset="0"/>
              </a:rPr>
              <a:t>fopen</a:t>
            </a:r>
            <a:r>
              <a:rPr lang="en-US" sz="2200" b="1">
                <a:solidFill>
                  <a:schemeClr val="tx1"/>
                </a:solidFill>
                <a:latin typeface="Courier New" pitchFamily="49" charset="0"/>
                <a:ea typeface="+mn-ea"/>
                <a:cs typeface="Courier New" pitchFamily="49" charset="0"/>
              </a:rPr>
              <a:t>(“C:\\TC\\VIDU.TXT”,”</a:t>
            </a:r>
            <a:r>
              <a:rPr lang="en-US" sz="2200" b="1">
                <a:solidFill>
                  <a:srgbClr val="FF0000"/>
                </a:solidFill>
                <a:latin typeface="Courier New" pitchFamily="49" charset="0"/>
                <a:ea typeface="+mn-ea"/>
                <a:cs typeface="Courier New" pitchFamily="49" charset="0"/>
              </a:rPr>
              <a:t>r</a:t>
            </a:r>
            <a:r>
              <a:rPr lang="en-US" sz="2200" b="1">
                <a:solidFill>
                  <a:schemeClr val="tx1"/>
                </a:solidFill>
                <a:latin typeface="Courier New" pitchFamily="49" charset="0"/>
                <a:ea typeface="+mn-ea"/>
                <a:cs typeface="Courier New" pitchFamily="49" charset="0"/>
              </a:rPr>
              <a:t>”);</a:t>
            </a:r>
          </a:p>
          <a:p>
            <a:pPr marL="471487" lvl="1" indent="0">
              <a:buNone/>
            </a:pPr>
            <a:r>
              <a:rPr lang="en-US"/>
              <a:t>Mở tệp VIDU.TXT mới để đọc</a:t>
            </a:r>
          </a:p>
          <a:p>
            <a:pPr marL="471487" lvl="1" indent="0">
              <a:buNone/>
            </a:pPr>
            <a:endParaRPr lang="vi-VN"/>
          </a:p>
        </p:txBody>
      </p:sp>
      <p:sp>
        <p:nvSpPr>
          <p:cNvPr id="4" name="Date Placeholder 3"/>
          <p:cNvSpPr>
            <a:spLocks noGrp="1"/>
          </p:cNvSpPr>
          <p:nvPr>
            <p:ph type="dt" sz="half" idx="10"/>
          </p:nvPr>
        </p:nvSpPr>
        <p:spPr/>
        <p:txBody>
          <a:bodyPr/>
          <a:lstStyle/>
          <a:p>
            <a:fld id="{2D1E0A63-72B7-4488-81B5-0E6BE8095906}"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8</a:t>
            </a:fld>
            <a:r>
              <a:rPr lang="en-US"/>
              <a:t>/32</a:t>
            </a:r>
            <a:endParaRPr lang="vi-VN"/>
          </a:p>
        </p:txBody>
      </p:sp>
    </p:spTree>
    <p:extLst>
      <p:ext uri="{BB962C8B-B14F-4D97-AF65-F5344CB8AC3E}">
        <p14:creationId xmlns:p14="http://schemas.microsoft.com/office/powerpoint/2010/main" val="158639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chế độ xử lý tệp</a:t>
            </a:r>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74979727"/>
              </p:ext>
            </p:extLst>
          </p:nvPr>
        </p:nvGraphicFramePr>
        <p:xfrm>
          <a:off x="683568" y="1268760"/>
          <a:ext cx="8136904" cy="5040555"/>
        </p:xfrm>
        <a:graphic>
          <a:graphicData uri="http://schemas.openxmlformats.org/drawingml/2006/table">
            <a:tbl>
              <a:tblPr>
                <a:tableStyleId>{5C22544A-7EE6-4342-B048-85BDC9FD1C3A}</a:tableStyleId>
              </a:tblPr>
              <a:tblGrid>
                <a:gridCol w="1440160">
                  <a:extLst>
                    <a:ext uri="{9D8B030D-6E8A-4147-A177-3AD203B41FA5}">
                      <a16:colId xmlns:a16="http://schemas.microsoft.com/office/drawing/2014/main" val="20000"/>
                    </a:ext>
                  </a:extLst>
                </a:gridCol>
                <a:gridCol w="6696744">
                  <a:extLst>
                    <a:ext uri="{9D8B030D-6E8A-4147-A177-3AD203B41FA5}">
                      <a16:colId xmlns:a16="http://schemas.microsoft.com/office/drawing/2014/main" val="20001"/>
                    </a:ext>
                  </a:extLst>
                </a:gridCol>
              </a:tblGrid>
              <a:tr h="387735">
                <a:tc>
                  <a:txBody>
                    <a:bodyPr/>
                    <a:lstStyle/>
                    <a:p>
                      <a:pPr marL="0" marR="0" algn="ctr">
                        <a:lnSpc>
                          <a:spcPct val="115000"/>
                        </a:lnSpc>
                        <a:spcBef>
                          <a:spcPts val="0"/>
                        </a:spcBef>
                        <a:spcAft>
                          <a:spcPts val="0"/>
                        </a:spcAft>
                      </a:pPr>
                      <a:r>
                        <a:rPr lang="vi-VN" sz="2000" b="1">
                          <a:solidFill>
                            <a:srgbClr val="000066"/>
                          </a:solidFill>
                          <a:effectLst/>
                        </a:rPr>
                        <a:t>Chế độ </a:t>
                      </a:r>
                      <a:endParaRPr lang="vi-VN" sz="2000" b="1">
                        <a:solidFill>
                          <a:srgbClr val="000066"/>
                        </a:solidFill>
                        <a:effectLst/>
                        <a:latin typeface="Times New Roman"/>
                        <a:ea typeface="Arial"/>
                      </a:endParaRPr>
                    </a:p>
                  </a:txBody>
                  <a:tcPr marL="68580" marR="68580" marT="0" marB="0"/>
                </a:tc>
                <a:tc>
                  <a:txBody>
                    <a:bodyPr/>
                    <a:lstStyle/>
                    <a:p>
                      <a:pPr marL="0" marR="0" algn="ctr">
                        <a:lnSpc>
                          <a:spcPct val="115000"/>
                        </a:lnSpc>
                        <a:spcBef>
                          <a:spcPts val="0"/>
                        </a:spcBef>
                        <a:spcAft>
                          <a:spcPts val="0"/>
                        </a:spcAft>
                      </a:pPr>
                      <a:r>
                        <a:rPr lang="vi-VN" sz="2000" b="1">
                          <a:solidFill>
                            <a:srgbClr val="000066"/>
                          </a:solidFill>
                          <a:effectLst/>
                        </a:rPr>
                        <a:t>Ý nghĩa </a:t>
                      </a:r>
                      <a:endParaRPr lang="vi-VN" sz="2000" b="1">
                        <a:solidFill>
                          <a:srgbClr val="000066"/>
                        </a:solidFill>
                        <a:effectLst/>
                        <a:latin typeface="Times New Roman"/>
                        <a:ea typeface="Arial"/>
                      </a:endParaRPr>
                    </a:p>
                  </a:txBody>
                  <a:tcPr marL="68580" marR="68580" marT="0" marB="0"/>
                </a:tc>
                <a:extLst>
                  <a:ext uri="{0D108BD9-81ED-4DB2-BD59-A6C34878D82A}">
                    <a16:rowId xmlns:a16="http://schemas.microsoft.com/office/drawing/2014/main" val="10000"/>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r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Arial"/>
                          <a:ea typeface="Times New Roman"/>
                        </a:rPr>
                        <a:t>Mở tệp văn bản để đọc </a:t>
                      </a:r>
                      <a:endParaRPr lang="vi-VN" sz="1300">
                        <a:effectLst/>
                        <a:latin typeface="Times New Roman"/>
                        <a:ea typeface="Arial"/>
                      </a:endParaRPr>
                    </a:p>
                  </a:txBody>
                  <a:tcPr marL="68580" marR="68580" marT="9525" marB="0"/>
                </a:tc>
                <a:extLst>
                  <a:ext uri="{0D108BD9-81ED-4DB2-BD59-A6C34878D82A}">
                    <a16:rowId xmlns:a16="http://schemas.microsoft.com/office/drawing/2014/main" val="10001"/>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w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Arial"/>
                          <a:ea typeface="Times New Roman"/>
                        </a:rPr>
                        <a:t>Mở</a:t>
                      </a:r>
                      <a:r>
                        <a:rPr lang="vi-VN" sz="2000" kern="1200" baseline="0">
                          <a:solidFill>
                            <a:srgbClr val="000000"/>
                          </a:solidFill>
                          <a:effectLst/>
                          <a:latin typeface="Arial"/>
                          <a:ea typeface="Times New Roman"/>
                        </a:rPr>
                        <a:t> tệp văn bản để ghi, ghi đè lên tệp đã có</a:t>
                      </a:r>
                      <a:endParaRPr lang="vi-VN" sz="1300">
                        <a:effectLst/>
                        <a:latin typeface="Times New Roman"/>
                        <a:ea typeface="Arial"/>
                      </a:endParaRPr>
                    </a:p>
                  </a:txBody>
                  <a:tcPr marL="68580" marR="68580" marT="9525" marB="0"/>
                </a:tc>
                <a:extLst>
                  <a:ext uri="{0D108BD9-81ED-4DB2-BD59-A6C34878D82A}">
                    <a16:rowId xmlns:a16="http://schemas.microsoft.com/office/drawing/2014/main" val="10002"/>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a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Arial"/>
                          <a:ea typeface="Times New Roman"/>
                        </a:rPr>
                        <a:t>Mở</a:t>
                      </a:r>
                      <a:r>
                        <a:rPr lang="vi-VN" sz="2000" kern="1200" baseline="0">
                          <a:solidFill>
                            <a:srgbClr val="000000"/>
                          </a:solidFill>
                          <a:effectLst/>
                          <a:latin typeface="Arial"/>
                          <a:ea typeface="Times New Roman"/>
                        </a:rPr>
                        <a:t> tệp văn bản và ghi nối vào cuối tệp, chưa có tạo mới</a:t>
                      </a:r>
                      <a:endParaRPr lang="vi-VN" sz="1300">
                        <a:effectLst/>
                        <a:latin typeface="Times New Roman"/>
                        <a:ea typeface="Arial"/>
                      </a:endParaRPr>
                    </a:p>
                  </a:txBody>
                  <a:tcPr marL="68580" marR="68580" marT="9525" marB="0"/>
                </a:tc>
                <a:extLst>
                  <a:ext uri="{0D108BD9-81ED-4DB2-BD59-A6C34878D82A}">
                    <a16:rowId xmlns:a16="http://schemas.microsoft.com/office/drawing/2014/main" val="10003"/>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r+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Arial"/>
                          <a:ea typeface="Times New Roman"/>
                        </a:rPr>
                        <a:t>Mở tệp văn bản để đọc/ghi </a:t>
                      </a:r>
                      <a:endParaRPr lang="vi-VN" sz="1300">
                        <a:effectLst/>
                        <a:latin typeface="Times New Roman"/>
                        <a:ea typeface="Arial"/>
                      </a:endParaRPr>
                    </a:p>
                  </a:txBody>
                  <a:tcPr marL="68580" marR="68580" marT="9525" marB="0"/>
                </a:tc>
                <a:extLst>
                  <a:ext uri="{0D108BD9-81ED-4DB2-BD59-A6C34878D82A}">
                    <a16:rowId xmlns:a16="http://schemas.microsoft.com/office/drawing/2014/main" val="10004"/>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w+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mn-lt"/>
                          <a:ea typeface="Times New Roman"/>
                        </a:rPr>
                        <a:t>Mở</a:t>
                      </a:r>
                      <a:r>
                        <a:rPr lang="vi-VN" sz="2000" kern="1200" baseline="0">
                          <a:solidFill>
                            <a:srgbClr val="000000"/>
                          </a:solidFill>
                          <a:effectLst/>
                          <a:latin typeface="+mn-lt"/>
                          <a:ea typeface="Times New Roman"/>
                        </a:rPr>
                        <a:t> tệp văn bản để ghi/đọc, ghi đè lên tệp đã có</a:t>
                      </a:r>
                      <a:endParaRPr lang="vi-VN" sz="1300">
                        <a:effectLst/>
                        <a:latin typeface="Times New Roman"/>
                        <a:ea typeface="Arial"/>
                      </a:endParaRPr>
                    </a:p>
                  </a:txBody>
                  <a:tcPr marL="68580" marR="68580" marT="9525" marB="0"/>
                </a:tc>
                <a:extLst>
                  <a:ext uri="{0D108BD9-81ED-4DB2-BD59-A6C34878D82A}">
                    <a16:rowId xmlns:a16="http://schemas.microsoft.com/office/drawing/2014/main" val="10005"/>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a+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mn-lt"/>
                          <a:ea typeface="Times New Roman"/>
                        </a:rPr>
                        <a:t>Mở</a:t>
                      </a:r>
                      <a:r>
                        <a:rPr lang="vi-VN" sz="2000" kern="1200" baseline="0">
                          <a:solidFill>
                            <a:srgbClr val="000000"/>
                          </a:solidFill>
                          <a:effectLst/>
                          <a:latin typeface="+mn-lt"/>
                          <a:ea typeface="Times New Roman"/>
                        </a:rPr>
                        <a:t> tệp văn bản hoặc tạo mớiđể đọc và ghi nối vào cuối</a:t>
                      </a:r>
                      <a:endParaRPr lang="vi-VN" sz="1300">
                        <a:effectLst/>
                        <a:latin typeface="Times New Roman"/>
                        <a:ea typeface="Arial"/>
                      </a:endParaRPr>
                    </a:p>
                  </a:txBody>
                  <a:tcPr marL="68580" marR="68580" marT="9525" marB="0"/>
                </a:tc>
                <a:extLst>
                  <a:ext uri="{0D108BD9-81ED-4DB2-BD59-A6C34878D82A}">
                    <a16:rowId xmlns:a16="http://schemas.microsoft.com/office/drawing/2014/main" val="10006"/>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rb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Arial"/>
                          <a:ea typeface="Times New Roman"/>
                        </a:rPr>
                        <a:t>Mở tệp nhị phân để đọc </a:t>
                      </a:r>
                      <a:endParaRPr lang="vi-VN" sz="1300">
                        <a:effectLst/>
                        <a:latin typeface="Times New Roman"/>
                        <a:ea typeface="Arial"/>
                      </a:endParaRPr>
                    </a:p>
                  </a:txBody>
                  <a:tcPr marL="68580" marR="68580" marT="9525" marB="0"/>
                </a:tc>
                <a:extLst>
                  <a:ext uri="{0D108BD9-81ED-4DB2-BD59-A6C34878D82A}">
                    <a16:rowId xmlns:a16="http://schemas.microsoft.com/office/drawing/2014/main" val="10007"/>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wb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mn-lt"/>
                          <a:ea typeface="Times New Roman"/>
                        </a:rPr>
                        <a:t>Mở</a:t>
                      </a:r>
                      <a:r>
                        <a:rPr lang="vi-VN" sz="2000" kern="1200" baseline="0">
                          <a:solidFill>
                            <a:srgbClr val="000000"/>
                          </a:solidFill>
                          <a:effectLst/>
                          <a:latin typeface="+mn-lt"/>
                          <a:ea typeface="Times New Roman"/>
                        </a:rPr>
                        <a:t> tệp nhị phânđể ghi, ghi đè lên tệp đã có</a:t>
                      </a:r>
                      <a:endParaRPr lang="vi-VN" sz="1300">
                        <a:effectLst/>
                        <a:latin typeface="Times New Roman"/>
                        <a:ea typeface="Arial"/>
                      </a:endParaRPr>
                    </a:p>
                  </a:txBody>
                  <a:tcPr marL="68580" marR="68580" marT="9525" marB="0"/>
                </a:tc>
                <a:extLst>
                  <a:ext uri="{0D108BD9-81ED-4DB2-BD59-A6C34878D82A}">
                    <a16:rowId xmlns:a16="http://schemas.microsoft.com/office/drawing/2014/main" val="10008"/>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ab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Arial"/>
                          <a:ea typeface="Times New Roman"/>
                        </a:rPr>
                        <a:t>Ghi nối vào tệp nhị phân </a:t>
                      </a:r>
                      <a:endParaRPr lang="vi-VN" sz="1300">
                        <a:effectLst/>
                        <a:latin typeface="Times New Roman"/>
                        <a:ea typeface="Arial"/>
                      </a:endParaRPr>
                    </a:p>
                  </a:txBody>
                  <a:tcPr marL="68580" marR="68580" marT="9525" marB="0"/>
                </a:tc>
                <a:extLst>
                  <a:ext uri="{0D108BD9-81ED-4DB2-BD59-A6C34878D82A}">
                    <a16:rowId xmlns:a16="http://schemas.microsoft.com/office/drawing/2014/main" val="10009"/>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r+b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Arial"/>
                          <a:ea typeface="Times New Roman"/>
                        </a:rPr>
                        <a:t>Mở ra tệp nhị phân để đọc/ghi </a:t>
                      </a:r>
                      <a:endParaRPr lang="vi-VN" sz="1300">
                        <a:effectLst/>
                        <a:latin typeface="Times New Roman"/>
                        <a:ea typeface="Arial"/>
                      </a:endParaRPr>
                    </a:p>
                  </a:txBody>
                  <a:tcPr marL="68580" marR="68580" marT="9525" marB="0"/>
                </a:tc>
                <a:extLst>
                  <a:ext uri="{0D108BD9-81ED-4DB2-BD59-A6C34878D82A}">
                    <a16:rowId xmlns:a16="http://schemas.microsoft.com/office/drawing/2014/main" val="10010"/>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w+b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Arial"/>
                          <a:ea typeface="Times New Roman"/>
                        </a:rPr>
                        <a:t>Tạo ra tệp nhị phân để đọc/ghi </a:t>
                      </a:r>
                      <a:endParaRPr lang="vi-VN" sz="1300">
                        <a:effectLst/>
                        <a:latin typeface="Times New Roman"/>
                        <a:ea typeface="Arial"/>
                      </a:endParaRPr>
                    </a:p>
                  </a:txBody>
                  <a:tcPr marL="68580" marR="68580" marT="9525" marB="0"/>
                </a:tc>
                <a:extLst>
                  <a:ext uri="{0D108BD9-81ED-4DB2-BD59-A6C34878D82A}">
                    <a16:rowId xmlns:a16="http://schemas.microsoft.com/office/drawing/2014/main" val="10011"/>
                  </a:ext>
                </a:extLst>
              </a:tr>
              <a:tr h="387735">
                <a:tc>
                  <a:txBody>
                    <a:bodyPr/>
                    <a:lstStyle/>
                    <a:p>
                      <a:pPr marL="0" marR="0" algn="ctr">
                        <a:lnSpc>
                          <a:spcPct val="115000"/>
                        </a:lnSpc>
                        <a:spcBef>
                          <a:spcPts val="0"/>
                        </a:spcBef>
                        <a:spcAft>
                          <a:spcPts val="0"/>
                        </a:spcAft>
                      </a:pPr>
                      <a:r>
                        <a:rPr lang="vi-VN" sz="2000" kern="1200">
                          <a:solidFill>
                            <a:srgbClr val="000000"/>
                          </a:solidFill>
                          <a:effectLst/>
                          <a:latin typeface="Courier New"/>
                          <a:ea typeface="Times New Roman"/>
                        </a:rPr>
                        <a:t>a+b </a:t>
                      </a:r>
                      <a:endParaRPr lang="vi-VN" sz="1300">
                        <a:effectLst/>
                        <a:latin typeface="Times New Roman"/>
                        <a:ea typeface="Arial"/>
                      </a:endParaRPr>
                    </a:p>
                  </a:txBody>
                  <a:tcPr marL="68580" marR="68580" marT="9525" marB="0"/>
                </a:tc>
                <a:tc>
                  <a:txBody>
                    <a:bodyPr/>
                    <a:lstStyle/>
                    <a:p>
                      <a:pPr marL="0" marR="0">
                        <a:lnSpc>
                          <a:spcPct val="115000"/>
                        </a:lnSpc>
                        <a:spcBef>
                          <a:spcPts val="0"/>
                        </a:spcBef>
                        <a:spcAft>
                          <a:spcPts val="0"/>
                        </a:spcAft>
                      </a:pPr>
                      <a:r>
                        <a:rPr lang="vi-VN" sz="2000" kern="1200">
                          <a:solidFill>
                            <a:srgbClr val="000000"/>
                          </a:solidFill>
                          <a:effectLst/>
                          <a:latin typeface="Arial"/>
                          <a:ea typeface="Times New Roman"/>
                        </a:rPr>
                        <a:t>Nối vào hay tạo mới tệp nhị phân </a:t>
                      </a:r>
                      <a:endParaRPr lang="vi-VN" sz="1300">
                        <a:effectLst/>
                        <a:latin typeface="Times New Roman"/>
                        <a:ea typeface="Arial"/>
                      </a:endParaRPr>
                    </a:p>
                  </a:txBody>
                  <a:tcPr marL="68580" marR="68580" marT="9525" marB="0"/>
                </a:tc>
                <a:extLst>
                  <a:ext uri="{0D108BD9-81ED-4DB2-BD59-A6C34878D82A}">
                    <a16:rowId xmlns:a16="http://schemas.microsoft.com/office/drawing/2014/main" val="10012"/>
                  </a:ext>
                </a:extLst>
              </a:tr>
            </a:tbl>
          </a:graphicData>
        </a:graphic>
      </p:graphicFrame>
      <p:sp>
        <p:nvSpPr>
          <p:cNvPr id="3" name="Date Placeholder 2"/>
          <p:cNvSpPr>
            <a:spLocks noGrp="1"/>
          </p:cNvSpPr>
          <p:nvPr>
            <p:ph type="dt" sz="half" idx="10"/>
          </p:nvPr>
        </p:nvSpPr>
        <p:spPr/>
        <p:txBody>
          <a:bodyPr/>
          <a:lstStyle/>
          <a:p>
            <a:fld id="{8C42D585-0862-4AAB-BE17-7D7C24BA3946}"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9</a:t>
            </a:fld>
            <a:r>
              <a:rPr lang="en-US"/>
              <a:t>/32</a:t>
            </a:r>
            <a:endParaRPr lang="vi-VN"/>
          </a:p>
        </p:txBody>
      </p:sp>
    </p:spTree>
    <p:extLst>
      <p:ext uri="{BB962C8B-B14F-4D97-AF65-F5344CB8AC3E}">
        <p14:creationId xmlns:p14="http://schemas.microsoft.com/office/powerpoint/2010/main" val="1403858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mở tệp</a:t>
            </a:r>
          </a:p>
        </p:txBody>
      </p:sp>
      <p:sp>
        <p:nvSpPr>
          <p:cNvPr id="3" name="Content Placeholder 2"/>
          <p:cNvSpPr>
            <a:spLocks noGrp="1"/>
          </p:cNvSpPr>
          <p:nvPr>
            <p:ph idx="1"/>
          </p:nvPr>
        </p:nvSpPr>
        <p:spPr/>
        <p:txBody>
          <a:bodyPr/>
          <a:lstStyle/>
          <a:p>
            <a:r>
              <a:rPr lang="vi-VN"/>
              <a:t>Mở tệp VIDU.TXT để ghi</a:t>
            </a:r>
          </a:p>
          <a:p>
            <a:endParaRPr lang="vi-VN"/>
          </a:p>
          <a:p>
            <a:endParaRPr lang="vi-VN"/>
          </a:p>
          <a:p>
            <a:endParaRPr lang="vi-VN"/>
          </a:p>
          <a:p>
            <a:endParaRPr lang="vi-VN"/>
          </a:p>
          <a:p>
            <a:endParaRPr lang="vi-VN"/>
          </a:p>
          <a:p>
            <a:r>
              <a:rPr lang="vi-VN"/>
              <a:t>Chú ý:</a:t>
            </a:r>
          </a:p>
          <a:p>
            <a:pPr lvl="1"/>
            <a:r>
              <a:rPr lang="vi-VN"/>
              <a:t>Khi mở tệp để ghi mà tệp đã tồn tại rồi thì tệp đó sẽ bị xoá và được thay bằng tệp khác.</a:t>
            </a:r>
          </a:p>
          <a:p>
            <a:pPr lvl="1"/>
            <a:r>
              <a:rPr lang="vi-VN"/>
              <a:t>Khi mở tệp để đọc thì tệp đó phải tồn tại, nếu không sẽ có lỗi.</a:t>
            </a:r>
          </a:p>
        </p:txBody>
      </p:sp>
      <p:sp>
        <p:nvSpPr>
          <p:cNvPr id="4" name="Rectangle 3"/>
          <p:cNvSpPr/>
          <p:nvPr/>
        </p:nvSpPr>
        <p:spPr>
          <a:xfrm>
            <a:off x="1187624" y="1674674"/>
            <a:ext cx="7200800" cy="2554545"/>
          </a:xfrm>
          <a:prstGeom prst="rect">
            <a:avLst/>
          </a:prstGeom>
        </p:spPr>
        <p:txBody>
          <a:bodyPr wrap="square">
            <a:spAutoFit/>
          </a:bodyPr>
          <a:lstStyle/>
          <a:p>
            <a:r>
              <a:rPr lang="vi-VN" sz="2000" b="1">
                <a:solidFill>
                  <a:srgbClr val="FF0000"/>
                </a:solidFill>
                <a:latin typeface="Courier New" pitchFamily="49" charset="0"/>
                <a:cs typeface="Courier New" pitchFamily="49" charset="0"/>
              </a:rPr>
              <a:t>FILE</a:t>
            </a:r>
            <a:r>
              <a:rPr lang="vi-VN" sz="2000" b="1">
                <a:latin typeface="Courier New" pitchFamily="49" charset="0"/>
                <a:cs typeface="Courier New" pitchFamily="49" charset="0"/>
              </a:rPr>
              <a:t> *f;</a:t>
            </a:r>
          </a:p>
          <a:p>
            <a:r>
              <a:rPr lang="vi-VN" sz="2000" b="1">
                <a:latin typeface="Courier New" pitchFamily="49" charset="0"/>
                <a:cs typeface="Courier New" pitchFamily="49" charset="0"/>
              </a:rPr>
              <a:t>f = fopen(“</a:t>
            </a:r>
            <a:r>
              <a:rPr lang="vi-VN" sz="2000" b="1">
                <a:solidFill>
                  <a:srgbClr val="0000FF"/>
                </a:solidFill>
                <a:latin typeface="Courier New" pitchFamily="49" charset="0"/>
                <a:cs typeface="Courier New" pitchFamily="49" charset="0"/>
              </a:rPr>
              <a:t>VIDU.txt</a:t>
            </a:r>
            <a:r>
              <a:rPr lang="vi-VN" sz="2000" b="1">
                <a:latin typeface="Courier New" pitchFamily="49" charset="0"/>
                <a:cs typeface="Courier New" pitchFamily="49" charset="0"/>
              </a:rPr>
              <a:t>”, “w”);</a:t>
            </a:r>
          </a:p>
          <a:p>
            <a:r>
              <a:rPr lang="vi-VN" sz="2000" b="1">
                <a:latin typeface="Courier New" pitchFamily="49" charset="0"/>
                <a:cs typeface="Courier New" pitchFamily="49" charset="0"/>
              </a:rPr>
              <a:t>if (f!=</a:t>
            </a:r>
            <a:r>
              <a:rPr lang="vi-VN" sz="2000" b="1">
                <a:solidFill>
                  <a:srgbClr val="FF0000"/>
                </a:solidFill>
                <a:latin typeface="Courier New" pitchFamily="49" charset="0"/>
                <a:cs typeface="Courier New" pitchFamily="49" charset="0"/>
              </a:rPr>
              <a:t>NULL</a:t>
            </a:r>
            <a:r>
              <a:rPr lang="vi-VN" sz="2000" b="1">
                <a:latin typeface="Courier New" pitchFamily="49" charset="0"/>
                <a:cs typeface="Courier New" pitchFamily="49" charset="0"/>
              </a:rPr>
              <a:t>)</a:t>
            </a:r>
          </a:p>
          <a:p>
            <a:r>
              <a:rPr lang="vi-VN" sz="2000" b="1">
                <a:latin typeface="Courier New" pitchFamily="49" charset="0"/>
                <a:cs typeface="Courier New" pitchFamily="49" charset="0"/>
              </a:rPr>
              <a:t>{</a:t>
            </a:r>
          </a:p>
          <a:p>
            <a:r>
              <a:rPr lang="vi-VN" sz="2000" b="1">
                <a:latin typeface="Courier New" pitchFamily="49" charset="0"/>
                <a:cs typeface="Courier New" pitchFamily="49" charset="0"/>
              </a:rPr>
              <a:t>	/* Các câu lệnh để thao tác với tệp*/</a:t>
            </a:r>
          </a:p>
          <a:p>
            <a:r>
              <a:rPr lang="vi-VN" sz="2000" b="1">
                <a:latin typeface="Courier New" pitchFamily="49" charset="0"/>
                <a:cs typeface="Courier New" pitchFamily="49" charset="0"/>
              </a:rPr>
              <a:t>	/* Đóng tệp */</a:t>
            </a:r>
          </a:p>
          <a:p>
            <a:r>
              <a:rPr lang="vi-VN" sz="2000" b="1">
                <a:latin typeface="Courier New" pitchFamily="49" charset="0"/>
                <a:cs typeface="Courier New" pitchFamily="49" charset="0"/>
              </a:rPr>
              <a:t>}</a:t>
            </a:r>
          </a:p>
          <a:p>
            <a:r>
              <a:rPr lang="vi-VN" sz="2000" b="1">
                <a:latin typeface="Courier New" pitchFamily="49" charset="0"/>
                <a:cs typeface="Courier New" pitchFamily="49" charset="0"/>
              </a:rPr>
              <a:t>else printf(</a:t>
            </a:r>
            <a:r>
              <a:rPr lang="en-US" sz="2000" b="1">
                <a:latin typeface="Courier New" pitchFamily="49" charset="0"/>
                <a:cs typeface="Courier New" pitchFamily="49" charset="0"/>
              </a:rPr>
              <a:t>“Loi – Khong mo duoc tep!”);</a:t>
            </a:r>
            <a:endParaRPr lang="vi-VN" sz="2000" b="1">
              <a:latin typeface="Courier New" pitchFamily="49" charset="0"/>
              <a:cs typeface="Courier New" pitchFamily="49" charset="0"/>
            </a:endParaRPr>
          </a:p>
        </p:txBody>
      </p:sp>
      <p:sp>
        <p:nvSpPr>
          <p:cNvPr id="5" name="Date Placeholder 4"/>
          <p:cNvSpPr>
            <a:spLocks noGrp="1"/>
          </p:cNvSpPr>
          <p:nvPr>
            <p:ph type="dt" sz="half" idx="10"/>
          </p:nvPr>
        </p:nvSpPr>
        <p:spPr/>
        <p:txBody>
          <a:bodyPr/>
          <a:lstStyle/>
          <a:p>
            <a:fld id="{1D6ED3D0-F548-4465-906E-2CF2249A37A0}"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9-Kiểu dữ liệu tệp</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10</a:t>
            </a:fld>
            <a:r>
              <a:rPr lang="en-US"/>
              <a:t>/32</a:t>
            </a:r>
            <a:endParaRPr lang="vi-VN"/>
          </a:p>
        </p:txBody>
      </p:sp>
    </p:spTree>
    <p:extLst>
      <p:ext uri="{BB962C8B-B14F-4D97-AF65-F5344CB8AC3E}">
        <p14:creationId xmlns:p14="http://schemas.microsoft.com/office/powerpoint/2010/main" val="2873578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2.3 Các thao tác khác</a:t>
            </a:r>
          </a:p>
        </p:txBody>
      </p:sp>
      <p:sp>
        <p:nvSpPr>
          <p:cNvPr id="3" name="Content Placeholder 2"/>
          <p:cNvSpPr>
            <a:spLocks noGrp="1"/>
          </p:cNvSpPr>
          <p:nvPr>
            <p:ph idx="1"/>
          </p:nvPr>
        </p:nvSpPr>
        <p:spPr/>
        <p:txBody>
          <a:bodyPr/>
          <a:lstStyle/>
          <a:p>
            <a:r>
              <a:rPr lang="vi-VN"/>
              <a:t>Hàm đóng tệp</a:t>
            </a:r>
          </a:p>
          <a:p>
            <a:pPr marL="471487" lvl="1" indent="0">
              <a:buNone/>
            </a:pPr>
            <a:r>
              <a:rPr lang="vi-VN" b="1">
                <a:solidFill>
                  <a:srgbClr val="FF0000"/>
                </a:solidFill>
                <a:latin typeface="Courier New" pitchFamily="49" charset="0"/>
                <a:ea typeface="+mn-ea"/>
                <a:cs typeface="Courier New" pitchFamily="49" charset="0"/>
              </a:rPr>
              <a:t>fclose</a:t>
            </a:r>
            <a:r>
              <a:rPr lang="vi-VN" b="1">
                <a:solidFill>
                  <a:schemeClr val="tx1"/>
                </a:solidFill>
                <a:latin typeface="Courier New" pitchFamily="49" charset="0"/>
                <a:ea typeface="+mn-ea"/>
                <a:cs typeface="Courier New" pitchFamily="49" charset="0"/>
              </a:rPr>
              <a:t>(&lt;Tên biến tệp&gt;);</a:t>
            </a:r>
          </a:p>
          <a:p>
            <a:pPr lvl="1"/>
            <a:r>
              <a:rPr lang="vi-VN"/>
              <a:t>Hàm trả về 0 nếu đóng tệp thành công, trả về EOF nếu có lỗi</a:t>
            </a:r>
          </a:p>
          <a:p>
            <a:r>
              <a:rPr lang="vi-VN"/>
              <a:t>Hàm kiểm tra kết thúc tệp hay chưa?</a:t>
            </a:r>
          </a:p>
          <a:p>
            <a:pPr marL="471487" lvl="1" indent="0">
              <a:buNone/>
            </a:pPr>
            <a:r>
              <a:rPr lang="vi-VN" b="1">
                <a:solidFill>
                  <a:srgbClr val="FF0000"/>
                </a:solidFill>
                <a:latin typeface="Courier New" pitchFamily="49" charset="0"/>
                <a:ea typeface="+mn-ea"/>
                <a:cs typeface="Courier New" pitchFamily="49" charset="0"/>
              </a:rPr>
              <a:t>feof</a:t>
            </a:r>
            <a:r>
              <a:rPr lang="vi-VN" b="1">
                <a:solidFill>
                  <a:schemeClr val="tx1"/>
                </a:solidFill>
                <a:latin typeface="Courier New" pitchFamily="49" charset="0"/>
                <a:ea typeface="+mn-ea"/>
                <a:cs typeface="Courier New" pitchFamily="49" charset="0"/>
              </a:rPr>
              <a:t>(&lt;Tên biến tệp&gt;);</a:t>
            </a:r>
          </a:p>
          <a:p>
            <a:pPr lvl="1"/>
            <a:r>
              <a:rPr lang="vi-VN"/>
              <a:t>Hàm trả về EOF nếu đã hết tập tin, ngược lại trả về 0</a:t>
            </a:r>
          </a:p>
          <a:p>
            <a:r>
              <a:rPr lang="vi-VN"/>
              <a:t>Hàm di chuyển con trỏ tệp về đầu</a:t>
            </a:r>
          </a:p>
          <a:p>
            <a:pPr marL="0" indent="457200">
              <a:buNone/>
            </a:pPr>
            <a:r>
              <a:rPr lang="vi-VN" sz="2400" b="1">
                <a:solidFill>
                  <a:srgbClr val="FF0000"/>
                </a:solidFill>
                <a:latin typeface="Courier New" pitchFamily="49" charset="0"/>
                <a:cs typeface="Courier New" pitchFamily="49" charset="0"/>
              </a:rPr>
              <a:t>rewind</a:t>
            </a:r>
            <a:r>
              <a:rPr lang="vi-VN" sz="2400" b="1">
                <a:latin typeface="Courier New" pitchFamily="49" charset="0"/>
                <a:cs typeface="Courier New" pitchFamily="49" charset="0"/>
              </a:rPr>
              <a:t>(&lt;Tên biến tệp&gt;);</a:t>
            </a:r>
          </a:p>
        </p:txBody>
      </p:sp>
      <p:sp>
        <p:nvSpPr>
          <p:cNvPr id="4" name="Date Placeholder 3"/>
          <p:cNvSpPr>
            <a:spLocks noGrp="1"/>
          </p:cNvSpPr>
          <p:nvPr>
            <p:ph type="dt" sz="half" idx="10"/>
          </p:nvPr>
        </p:nvSpPr>
        <p:spPr/>
        <p:txBody>
          <a:bodyPr/>
          <a:lstStyle/>
          <a:p>
            <a:fld id="{08CEF3E3-40A3-4A0C-92CC-133D9A84B9A6}"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11</a:t>
            </a:fld>
            <a:r>
              <a:rPr lang="en-US"/>
              <a:t>/32</a:t>
            </a:r>
            <a:endParaRPr lang="vi-VN"/>
          </a:p>
        </p:txBody>
      </p:sp>
    </p:spTree>
    <p:extLst>
      <p:ext uri="{BB962C8B-B14F-4D97-AF65-F5344CB8AC3E}">
        <p14:creationId xmlns:p14="http://schemas.microsoft.com/office/powerpoint/2010/main" val="3973106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3. Tệp văn bản</a:t>
            </a:r>
          </a:p>
        </p:txBody>
      </p:sp>
      <p:sp>
        <p:nvSpPr>
          <p:cNvPr id="3" name="Content Placeholder 2"/>
          <p:cNvSpPr>
            <a:spLocks noGrp="1"/>
          </p:cNvSpPr>
          <p:nvPr>
            <p:ph idx="1"/>
          </p:nvPr>
        </p:nvSpPr>
        <p:spPr/>
        <p:txBody>
          <a:bodyPr/>
          <a:lstStyle/>
          <a:p>
            <a:r>
              <a:rPr lang="vi-VN"/>
              <a:t>Ghi dữ liệu lên tệp văn bản</a:t>
            </a:r>
          </a:p>
          <a:p>
            <a:pPr lvl="1"/>
            <a:r>
              <a:rPr lang="vi-VN" b="1">
                <a:solidFill>
                  <a:srgbClr val="FF0000"/>
                </a:solidFill>
                <a:latin typeface="Courier New" pitchFamily="49" charset="0"/>
                <a:ea typeface="+mn-ea"/>
                <a:cs typeface="Courier New" pitchFamily="49" charset="0"/>
              </a:rPr>
              <a:t>putc</a:t>
            </a:r>
            <a:r>
              <a:rPr lang="vi-VN" b="1">
                <a:solidFill>
                  <a:schemeClr val="tx1"/>
                </a:solidFill>
                <a:latin typeface="Courier New" pitchFamily="49" charset="0"/>
                <a:ea typeface="+mn-ea"/>
                <a:cs typeface="Courier New" pitchFamily="49" charset="0"/>
              </a:rPr>
              <a:t>(ch, f); </a:t>
            </a:r>
            <a:r>
              <a:rPr lang="vi-VN"/>
              <a:t>ghi kí tự ch vào tệp văn bản </a:t>
            </a:r>
            <a:r>
              <a:rPr lang="vi-VN" b="1">
                <a:solidFill>
                  <a:schemeClr val="tx1"/>
                </a:solidFill>
                <a:latin typeface="Courier New" pitchFamily="49" charset="0"/>
                <a:ea typeface="+mn-ea"/>
                <a:cs typeface="Courier New" pitchFamily="49" charset="0"/>
              </a:rPr>
              <a:t>f</a:t>
            </a:r>
            <a:r>
              <a:rPr lang="vi-VN"/>
              <a:t>, trả về </a:t>
            </a:r>
            <a:r>
              <a:rPr lang="vi-VN" b="1">
                <a:solidFill>
                  <a:schemeClr val="tx1"/>
                </a:solidFill>
                <a:latin typeface="Courier New" pitchFamily="49" charset="0"/>
                <a:ea typeface="+mn-ea"/>
                <a:cs typeface="Courier New" pitchFamily="49" charset="0"/>
              </a:rPr>
              <a:t>EOF</a:t>
            </a:r>
            <a:r>
              <a:rPr lang="vi-VN"/>
              <a:t> nếu gặp lỗi.</a:t>
            </a:r>
          </a:p>
          <a:p>
            <a:pPr lvl="1"/>
            <a:r>
              <a:rPr lang="vi-VN" b="1">
                <a:solidFill>
                  <a:srgbClr val="FF0000"/>
                </a:solidFill>
                <a:latin typeface="Courier New" pitchFamily="49" charset="0"/>
                <a:ea typeface="+mn-ea"/>
                <a:cs typeface="Courier New" pitchFamily="49" charset="0"/>
              </a:rPr>
              <a:t>fputs</a:t>
            </a:r>
            <a:r>
              <a:rPr lang="vi-VN" b="1">
                <a:solidFill>
                  <a:schemeClr val="tx1"/>
                </a:solidFill>
                <a:latin typeface="Courier New" pitchFamily="49" charset="0"/>
                <a:ea typeface="+mn-ea"/>
                <a:cs typeface="Courier New" pitchFamily="49" charset="0"/>
              </a:rPr>
              <a:t>(str,f); </a:t>
            </a:r>
            <a:r>
              <a:rPr lang="vi-VN"/>
              <a:t>ghi xâu </a:t>
            </a:r>
            <a:r>
              <a:rPr lang="vi-VN" b="1">
                <a:solidFill>
                  <a:schemeClr val="tx1"/>
                </a:solidFill>
                <a:latin typeface="Courier New" pitchFamily="49" charset="0"/>
                <a:ea typeface="+mn-ea"/>
                <a:cs typeface="Courier New" pitchFamily="49" charset="0"/>
              </a:rPr>
              <a:t>str</a:t>
            </a:r>
            <a:r>
              <a:rPr lang="vi-VN"/>
              <a:t> vào tệp văn bản </a:t>
            </a:r>
            <a:r>
              <a:rPr lang="vi-VN" b="1">
                <a:solidFill>
                  <a:schemeClr val="tx1"/>
                </a:solidFill>
                <a:latin typeface="Courier New" pitchFamily="49" charset="0"/>
                <a:ea typeface="+mn-ea"/>
                <a:cs typeface="Courier New" pitchFamily="49" charset="0"/>
              </a:rPr>
              <a:t>f</a:t>
            </a:r>
            <a:r>
              <a:rPr lang="vi-VN"/>
              <a:t>, trả về 0 nếu str rỗng và trả về </a:t>
            </a:r>
            <a:r>
              <a:rPr lang="vi-VN" b="1">
                <a:solidFill>
                  <a:schemeClr val="tx1"/>
                </a:solidFill>
                <a:latin typeface="Courier New" pitchFamily="49" charset="0"/>
                <a:ea typeface="+mn-ea"/>
                <a:cs typeface="Courier New" pitchFamily="49" charset="0"/>
              </a:rPr>
              <a:t>EOF</a:t>
            </a:r>
            <a:r>
              <a:rPr lang="vi-VN"/>
              <a:t> nếu gặp lỗi</a:t>
            </a:r>
          </a:p>
          <a:p>
            <a:pPr lvl="1"/>
            <a:r>
              <a:rPr lang="vi-VN" b="1">
                <a:solidFill>
                  <a:srgbClr val="FF0000"/>
                </a:solidFill>
                <a:latin typeface="Courier New" pitchFamily="49" charset="0"/>
                <a:ea typeface="+mn-ea"/>
                <a:cs typeface="Courier New" pitchFamily="49" charset="0"/>
              </a:rPr>
              <a:t>fprintf</a:t>
            </a:r>
            <a:r>
              <a:rPr lang="vi-VN" b="1">
                <a:solidFill>
                  <a:schemeClr val="tx1"/>
                </a:solidFill>
                <a:latin typeface="Courier New" pitchFamily="49" charset="0"/>
                <a:ea typeface="+mn-ea"/>
                <a:cs typeface="Courier New" pitchFamily="49" charset="0"/>
              </a:rPr>
              <a:t>(f,chuỗi định dạng, danh sách biểu thức); </a:t>
            </a:r>
            <a:r>
              <a:rPr lang="vi-VN"/>
              <a:t>ghi vào tệp văn bản </a:t>
            </a:r>
            <a:r>
              <a:rPr lang="vi-VN" b="1">
                <a:solidFill>
                  <a:schemeClr val="tx1"/>
                </a:solidFill>
                <a:latin typeface="Courier New" pitchFamily="49" charset="0"/>
                <a:ea typeface="+mn-ea"/>
                <a:cs typeface="Courier New" pitchFamily="49" charset="0"/>
              </a:rPr>
              <a:t>f</a:t>
            </a:r>
            <a:r>
              <a:rPr lang="vi-VN"/>
              <a:t> các biểu thức với các định dạng được chỉ ra, tương tự hàm </a:t>
            </a:r>
            <a:r>
              <a:rPr lang="vi-VN" b="1">
                <a:solidFill>
                  <a:schemeClr val="tx1"/>
                </a:solidFill>
                <a:latin typeface="Courier New" pitchFamily="49" charset="0"/>
                <a:ea typeface="+mn-ea"/>
                <a:cs typeface="Courier New" pitchFamily="49" charset="0"/>
              </a:rPr>
              <a:t>printf()</a:t>
            </a:r>
          </a:p>
        </p:txBody>
      </p:sp>
      <p:sp>
        <p:nvSpPr>
          <p:cNvPr id="4" name="Date Placeholder 3"/>
          <p:cNvSpPr>
            <a:spLocks noGrp="1"/>
          </p:cNvSpPr>
          <p:nvPr>
            <p:ph type="dt" sz="half" idx="10"/>
          </p:nvPr>
        </p:nvSpPr>
        <p:spPr/>
        <p:txBody>
          <a:bodyPr/>
          <a:lstStyle/>
          <a:p>
            <a:fld id="{6F4B4316-9371-4285-84E3-167B47C0C171}"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12</a:t>
            </a:fld>
            <a:r>
              <a:rPr lang="en-US"/>
              <a:t>/32</a:t>
            </a:r>
            <a:endParaRPr lang="vi-VN"/>
          </a:p>
        </p:txBody>
      </p:sp>
    </p:spTree>
    <p:extLst>
      <p:ext uri="{BB962C8B-B14F-4D97-AF65-F5344CB8AC3E}">
        <p14:creationId xmlns:p14="http://schemas.microsoft.com/office/powerpoint/2010/main" val="4094983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Ghi dữ liệu lên tệp văn bản</a:t>
            </a:r>
          </a:p>
        </p:txBody>
      </p:sp>
      <p:sp>
        <p:nvSpPr>
          <p:cNvPr id="3" name="Content Placeholder 2"/>
          <p:cNvSpPr>
            <a:spLocks noGrp="1"/>
          </p:cNvSpPr>
          <p:nvPr>
            <p:ph idx="1"/>
          </p:nvPr>
        </p:nvSpPr>
        <p:spPr/>
        <p:txBody>
          <a:bodyPr/>
          <a:lstStyle/>
          <a:p>
            <a:r>
              <a:rPr lang="vi-VN"/>
              <a:t>Ví dụ 1: Ghi một dòng các chữ hoa vào tệp</a:t>
            </a:r>
          </a:p>
          <a:p>
            <a:endParaRPr lang="vi-VN"/>
          </a:p>
          <a:p>
            <a:endParaRPr lang="vi-VN"/>
          </a:p>
          <a:p>
            <a:endParaRPr lang="vi-VN"/>
          </a:p>
          <a:p>
            <a:endParaRPr lang="vi-VN"/>
          </a:p>
          <a:p>
            <a:endParaRPr lang="vi-VN"/>
          </a:p>
          <a:p>
            <a:r>
              <a:rPr lang="vi-VN"/>
              <a:t>Ví dụ 2: Ghi xâu kí tự vào tệp</a:t>
            </a:r>
          </a:p>
          <a:p>
            <a:pPr marL="0" indent="0">
              <a:buNone/>
            </a:pPr>
            <a:r>
              <a:rPr lang="vi-VN"/>
              <a:t> </a:t>
            </a:r>
          </a:p>
          <a:p>
            <a:endParaRPr lang="vi-VN"/>
          </a:p>
        </p:txBody>
      </p:sp>
      <p:sp>
        <p:nvSpPr>
          <p:cNvPr id="4" name="Rectangle 3"/>
          <p:cNvSpPr/>
          <p:nvPr/>
        </p:nvSpPr>
        <p:spPr>
          <a:xfrm>
            <a:off x="1331640" y="1556792"/>
            <a:ext cx="6048672" cy="2862322"/>
          </a:xfrm>
          <a:prstGeom prst="rect">
            <a:avLst/>
          </a:prstGeom>
        </p:spPr>
        <p:txBody>
          <a:bodyPr wrap="square">
            <a:spAutoFit/>
          </a:bodyPr>
          <a:lstStyle/>
          <a:p>
            <a:r>
              <a:rPr lang="vi-VN" sz="2000" b="1">
                <a:latin typeface="Courier New" pitchFamily="49" charset="0"/>
                <a:cs typeface="Courier New" pitchFamily="49" charset="0"/>
              </a:rPr>
              <a:t>#include &lt;stdio.h&gt;</a:t>
            </a:r>
          </a:p>
          <a:p>
            <a:r>
              <a:rPr lang="vi-VN" sz="2000" b="1">
                <a:latin typeface="Courier New" pitchFamily="49" charset="0"/>
                <a:cs typeface="Courier New" pitchFamily="49" charset="0"/>
              </a:rPr>
              <a:t>#include &lt;ctype.h&gt;</a:t>
            </a:r>
          </a:p>
          <a:p>
            <a:r>
              <a:rPr lang="vi-VN" sz="2000" b="1">
                <a:latin typeface="Courier New" pitchFamily="49" charset="0"/>
                <a:cs typeface="Courier New" pitchFamily="49" charset="0"/>
              </a:rPr>
              <a:t>main()</a:t>
            </a:r>
          </a:p>
          <a:p>
            <a:r>
              <a:rPr lang="vi-VN" sz="2000" b="1">
                <a:latin typeface="Courier New" pitchFamily="49" charset="0"/>
                <a:cs typeface="Courier New" pitchFamily="49" charset="0"/>
              </a:rPr>
              <a:t>{	</a:t>
            </a:r>
            <a:r>
              <a:rPr lang="vi-VN" sz="2000" b="1">
                <a:solidFill>
                  <a:srgbClr val="FF0000"/>
                </a:solidFill>
                <a:latin typeface="Courier New" pitchFamily="49" charset="0"/>
                <a:cs typeface="Courier New" pitchFamily="49" charset="0"/>
              </a:rPr>
              <a:t>FILE</a:t>
            </a:r>
            <a:r>
              <a:rPr lang="vi-VN" sz="2000" b="1">
                <a:latin typeface="Courier New" pitchFamily="49" charset="0"/>
                <a:cs typeface="Courier New" pitchFamily="49" charset="0"/>
              </a:rPr>
              <a:t> *f; 	char c;</a:t>
            </a:r>
          </a:p>
          <a:p>
            <a:r>
              <a:rPr lang="vi-VN" sz="2000" b="1">
                <a:latin typeface="Courier New" pitchFamily="49" charset="0"/>
                <a:cs typeface="Courier New" pitchFamily="49" charset="0"/>
              </a:rPr>
              <a:t>	f=</a:t>
            </a:r>
            <a:r>
              <a:rPr lang="vi-VN" sz="2000" b="1">
                <a:solidFill>
                  <a:srgbClr val="FF0000"/>
                </a:solidFill>
                <a:latin typeface="Courier New" pitchFamily="49" charset="0"/>
                <a:cs typeface="Courier New" pitchFamily="49" charset="0"/>
              </a:rPr>
              <a:t>fopen</a:t>
            </a:r>
            <a:r>
              <a:rPr lang="vi-VN" sz="2000" b="1">
                <a:latin typeface="Courier New" pitchFamily="49" charset="0"/>
                <a:cs typeface="Courier New" pitchFamily="49" charset="0"/>
              </a:rPr>
              <a:t>("C:\\sample.txt","w");</a:t>
            </a:r>
          </a:p>
          <a:p>
            <a:r>
              <a:rPr lang="vi-VN" sz="2000" b="1">
                <a:latin typeface="Courier New" pitchFamily="49" charset="0"/>
                <a:cs typeface="Courier New" pitchFamily="49" charset="0"/>
              </a:rPr>
              <a:t>	do </a:t>
            </a:r>
            <a:r>
              <a:rPr lang="vi-VN" sz="2000" b="1">
                <a:solidFill>
                  <a:srgbClr val="FF0000"/>
                </a:solidFill>
                <a:latin typeface="Courier New" pitchFamily="49" charset="0"/>
                <a:cs typeface="Courier New" pitchFamily="49" charset="0"/>
              </a:rPr>
              <a:t>putc</a:t>
            </a:r>
            <a:r>
              <a:rPr lang="vi-VN" sz="2000" b="1">
                <a:latin typeface="Courier New" pitchFamily="49" charset="0"/>
                <a:cs typeface="Courier New" pitchFamily="49" charset="0"/>
              </a:rPr>
              <a:t>(toupper(c=getchar()),f);</a:t>
            </a:r>
          </a:p>
          <a:p>
            <a:r>
              <a:rPr lang="vi-VN" sz="2000" b="1">
                <a:latin typeface="Courier New" pitchFamily="49" charset="0"/>
                <a:cs typeface="Courier New" pitchFamily="49" charset="0"/>
              </a:rPr>
              <a:t>	while (c!='\n');</a:t>
            </a:r>
          </a:p>
          <a:p>
            <a:r>
              <a:rPr lang="vi-VN" sz="2000" b="1">
                <a:latin typeface="Courier New" pitchFamily="49" charset="0"/>
                <a:cs typeface="Courier New" pitchFamily="49" charset="0"/>
              </a:rPr>
              <a:t>	</a:t>
            </a:r>
            <a:r>
              <a:rPr lang="vi-VN" sz="2000" b="1">
                <a:solidFill>
                  <a:srgbClr val="FF0000"/>
                </a:solidFill>
                <a:latin typeface="Courier New" pitchFamily="49" charset="0"/>
                <a:cs typeface="Courier New" pitchFamily="49" charset="0"/>
              </a:rPr>
              <a:t>fclose</a:t>
            </a:r>
            <a:r>
              <a:rPr lang="vi-VN" sz="2000" b="1">
                <a:latin typeface="Courier New" pitchFamily="49" charset="0"/>
                <a:cs typeface="Courier New" pitchFamily="49" charset="0"/>
              </a:rPr>
              <a:t>(f);</a:t>
            </a:r>
          </a:p>
          <a:p>
            <a:r>
              <a:rPr lang="vi-VN" sz="2000" b="1">
                <a:latin typeface="Courier New" pitchFamily="49" charset="0"/>
                <a:cs typeface="Courier New" pitchFamily="49" charset="0"/>
              </a:rPr>
              <a:t>}</a:t>
            </a:r>
          </a:p>
        </p:txBody>
      </p:sp>
      <p:sp>
        <p:nvSpPr>
          <p:cNvPr id="5" name="Rectangle 4"/>
          <p:cNvSpPr/>
          <p:nvPr/>
        </p:nvSpPr>
        <p:spPr>
          <a:xfrm>
            <a:off x="1331640" y="4565570"/>
            <a:ext cx="6048672" cy="1938992"/>
          </a:xfrm>
          <a:prstGeom prst="rect">
            <a:avLst/>
          </a:prstGeom>
        </p:spPr>
        <p:txBody>
          <a:bodyPr wrap="square">
            <a:spAutoFit/>
          </a:bodyPr>
          <a:lstStyle/>
          <a:p>
            <a:r>
              <a:rPr lang="vi-VN" sz="2000" b="1">
                <a:latin typeface="Courier New" pitchFamily="49" charset="0"/>
                <a:cs typeface="Courier New" pitchFamily="49" charset="0"/>
              </a:rPr>
              <a:t>main()</a:t>
            </a:r>
          </a:p>
          <a:p>
            <a:r>
              <a:rPr lang="vi-VN" sz="2000" b="1">
                <a:latin typeface="Courier New" pitchFamily="49" charset="0"/>
                <a:cs typeface="Courier New" pitchFamily="49" charset="0"/>
              </a:rPr>
              <a:t>{	</a:t>
            </a:r>
            <a:r>
              <a:rPr lang="vi-VN" sz="2000" b="1">
                <a:solidFill>
                  <a:srgbClr val="FF0000"/>
                </a:solidFill>
                <a:latin typeface="Courier New" pitchFamily="49" charset="0"/>
                <a:cs typeface="Courier New" pitchFamily="49" charset="0"/>
              </a:rPr>
              <a:t>FILE</a:t>
            </a:r>
            <a:r>
              <a:rPr lang="vi-VN" sz="2000" b="1">
                <a:latin typeface="Courier New" pitchFamily="49" charset="0"/>
                <a:cs typeface="Courier New" pitchFamily="49" charset="0"/>
              </a:rPr>
              <a:t> *f; 	</a:t>
            </a:r>
          </a:p>
          <a:p>
            <a:r>
              <a:rPr lang="vi-VN" sz="2000" b="1">
                <a:latin typeface="Courier New" pitchFamily="49" charset="0"/>
                <a:cs typeface="Courier New" pitchFamily="49" charset="0"/>
              </a:rPr>
              <a:t>	f=</a:t>
            </a:r>
            <a:r>
              <a:rPr lang="vi-VN" sz="2000" b="1">
                <a:solidFill>
                  <a:srgbClr val="FF0000"/>
                </a:solidFill>
                <a:latin typeface="Courier New" pitchFamily="49" charset="0"/>
                <a:cs typeface="Courier New" pitchFamily="49" charset="0"/>
              </a:rPr>
              <a:t>fopen</a:t>
            </a:r>
            <a:r>
              <a:rPr lang="vi-VN" sz="2000" b="1">
                <a:latin typeface="Courier New" pitchFamily="49" charset="0"/>
                <a:cs typeface="Courier New" pitchFamily="49" charset="0"/>
              </a:rPr>
              <a:t>("C:\\vidu.txt","w");</a:t>
            </a:r>
          </a:p>
          <a:p>
            <a:r>
              <a:rPr lang="vi-VN" sz="2000" b="1">
                <a:latin typeface="Courier New" pitchFamily="49" charset="0"/>
                <a:cs typeface="Courier New" pitchFamily="49" charset="0"/>
              </a:rPr>
              <a:t>	</a:t>
            </a:r>
            <a:r>
              <a:rPr lang="vi-VN" sz="2000" b="1">
                <a:solidFill>
                  <a:srgbClr val="FF0000"/>
                </a:solidFill>
                <a:latin typeface="Courier New" pitchFamily="49" charset="0"/>
                <a:cs typeface="Courier New" pitchFamily="49" charset="0"/>
              </a:rPr>
              <a:t>fputs</a:t>
            </a:r>
            <a:r>
              <a:rPr lang="vi-VN" sz="2000" b="1">
                <a:latin typeface="Courier New" pitchFamily="49" charset="0"/>
                <a:cs typeface="Courier New" pitchFamily="49" charset="0"/>
              </a:rPr>
              <a:t>(</a:t>
            </a:r>
            <a:r>
              <a:rPr lang="en-US" sz="2000" b="1">
                <a:latin typeface="Courier New" pitchFamily="49" charset="0"/>
                <a:cs typeface="Courier New" pitchFamily="49" charset="0"/>
              </a:rPr>
              <a:t>“Ngon ngu lap trinh C”,f);</a:t>
            </a:r>
            <a:endParaRPr lang="vi-VN" sz="2000" b="1">
              <a:latin typeface="Courier New" pitchFamily="49" charset="0"/>
              <a:cs typeface="Courier New" pitchFamily="49" charset="0"/>
            </a:endParaRPr>
          </a:p>
          <a:p>
            <a:r>
              <a:rPr lang="vi-VN" sz="2000" b="1">
                <a:latin typeface="Courier New" pitchFamily="49" charset="0"/>
                <a:cs typeface="Courier New" pitchFamily="49" charset="0"/>
              </a:rPr>
              <a:t>	</a:t>
            </a:r>
            <a:r>
              <a:rPr lang="vi-VN" sz="2000" b="1">
                <a:solidFill>
                  <a:srgbClr val="FF0000"/>
                </a:solidFill>
                <a:latin typeface="Courier New" pitchFamily="49" charset="0"/>
                <a:cs typeface="Courier New" pitchFamily="49" charset="0"/>
              </a:rPr>
              <a:t>fclose</a:t>
            </a:r>
            <a:r>
              <a:rPr lang="vi-VN" sz="2000" b="1">
                <a:latin typeface="Courier New" pitchFamily="49" charset="0"/>
                <a:cs typeface="Courier New" pitchFamily="49" charset="0"/>
              </a:rPr>
              <a:t>(f);</a:t>
            </a:r>
          </a:p>
          <a:p>
            <a:r>
              <a:rPr lang="vi-VN" sz="2000" b="1">
                <a:latin typeface="Courier New" pitchFamily="49" charset="0"/>
                <a:cs typeface="Courier New" pitchFamily="49" charset="0"/>
              </a:rPr>
              <a:t>}</a:t>
            </a:r>
          </a:p>
        </p:txBody>
      </p:sp>
      <p:sp>
        <p:nvSpPr>
          <p:cNvPr id="6" name="Date Placeholder 5"/>
          <p:cNvSpPr>
            <a:spLocks noGrp="1"/>
          </p:cNvSpPr>
          <p:nvPr>
            <p:ph type="dt" sz="half" idx="10"/>
          </p:nvPr>
        </p:nvSpPr>
        <p:spPr/>
        <p:txBody>
          <a:bodyPr/>
          <a:lstStyle/>
          <a:p>
            <a:fld id="{E02D2473-AC8D-499F-B856-2E7BC57649C1}" type="datetime1">
              <a:rPr lang="vi-VN" smtClean="0"/>
              <a:t>14/01/2024</a:t>
            </a:fld>
            <a:endParaRPr lang="vi-VN"/>
          </a:p>
        </p:txBody>
      </p:sp>
      <p:sp>
        <p:nvSpPr>
          <p:cNvPr id="7" name="Footer Placeholder 6"/>
          <p:cNvSpPr>
            <a:spLocks noGrp="1"/>
          </p:cNvSpPr>
          <p:nvPr>
            <p:ph type="ftr" sz="quarter" idx="11"/>
          </p:nvPr>
        </p:nvSpPr>
        <p:spPr/>
        <p:txBody>
          <a:bodyPr/>
          <a:lstStyle/>
          <a:p>
            <a:r>
              <a:rPr lang="vi-VN"/>
              <a:t>Chương 9-Kiểu dữ liệu tệp</a:t>
            </a:r>
          </a:p>
        </p:txBody>
      </p:sp>
      <p:sp>
        <p:nvSpPr>
          <p:cNvPr id="9" name="Slide Number Placeholder 8"/>
          <p:cNvSpPr>
            <a:spLocks noGrp="1"/>
          </p:cNvSpPr>
          <p:nvPr>
            <p:ph type="sldNum" sz="quarter" idx="12"/>
          </p:nvPr>
        </p:nvSpPr>
        <p:spPr/>
        <p:txBody>
          <a:bodyPr/>
          <a:lstStyle/>
          <a:p>
            <a:fld id="{5AB95402-1E0D-474E-8D8C-CBE7F053639E}" type="slidenum">
              <a:rPr lang="vi-VN" smtClean="0"/>
              <a:pPr/>
              <a:t>13</a:t>
            </a:fld>
            <a:r>
              <a:rPr lang="en-US"/>
              <a:t>/32</a:t>
            </a:r>
            <a:endParaRPr lang="vi-VN"/>
          </a:p>
        </p:txBody>
      </p:sp>
    </p:spTree>
    <p:extLst>
      <p:ext uri="{BB962C8B-B14F-4D97-AF65-F5344CB8AC3E}">
        <p14:creationId xmlns:p14="http://schemas.microsoft.com/office/powerpoint/2010/main" val="2007332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Đọc dữ liệu từ tệp văn bản</a:t>
            </a:r>
          </a:p>
        </p:txBody>
      </p:sp>
      <p:sp>
        <p:nvSpPr>
          <p:cNvPr id="3" name="Content Placeholder 2"/>
          <p:cNvSpPr>
            <a:spLocks noGrp="1"/>
          </p:cNvSpPr>
          <p:nvPr>
            <p:ph idx="1"/>
          </p:nvPr>
        </p:nvSpPr>
        <p:spPr/>
        <p:txBody>
          <a:bodyPr/>
          <a:lstStyle/>
          <a:p>
            <a:r>
              <a:rPr lang="vi-VN"/>
              <a:t>Các hàm đọc dữ liệu từ tệp văn bản</a:t>
            </a:r>
          </a:p>
          <a:p>
            <a:pPr lvl="1"/>
            <a:r>
              <a:rPr lang="vi-VN" b="1">
                <a:solidFill>
                  <a:srgbClr val="FF0000"/>
                </a:solidFill>
                <a:latin typeface="Courier New" pitchFamily="49" charset="0"/>
                <a:ea typeface="+mn-ea"/>
                <a:cs typeface="Courier New" pitchFamily="49" charset="0"/>
              </a:rPr>
              <a:t>getc</a:t>
            </a:r>
            <a:r>
              <a:rPr lang="vi-VN" b="1">
                <a:solidFill>
                  <a:schemeClr val="tx1"/>
                </a:solidFill>
                <a:latin typeface="Courier New" pitchFamily="49" charset="0"/>
                <a:ea typeface="+mn-ea"/>
                <a:cs typeface="Courier New" pitchFamily="49" charset="0"/>
              </a:rPr>
              <a:t>(f); </a:t>
            </a:r>
            <a:r>
              <a:rPr lang="vi-VN" b="1">
                <a:solidFill>
                  <a:srgbClr val="FF0000"/>
                </a:solidFill>
                <a:latin typeface="Courier New" pitchFamily="49" charset="0"/>
                <a:ea typeface="+mn-ea"/>
                <a:cs typeface="Courier New" pitchFamily="49" charset="0"/>
              </a:rPr>
              <a:t>fgetc</a:t>
            </a:r>
            <a:r>
              <a:rPr lang="vi-VN" b="1">
                <a:solidFill>
                  <a:schemeClr val="tx1"/>
                </a:solidFill>
                <a:latin typeface="Courier New" pitchFamily="49" charset="0"/>
                <a:ea typeface="+mn-ea"/>
                <a:cs typeface="Courier New" pitchFamily="49" charset="0"/>
              </a:rPr>
              <a:t>(f); </a:t>
            </a:r>
            <a:r>
              <a:rPr lang="vi-VN"/>
              <a:t>đọc một kí tự từ tệp văn bản </a:t>
            </a:r>
            <a:r>
              <a:rPr lang="vi-VN" b="1">
                <a:solidFill>
                  <a:schemeClr val="tx1"/>
                </a:solidFill>
                <a:latin typeface="Courier New" pitchFamily="49" charset="0"/>
                <a:ea typeface="+mn-ea"/>
                <a:cs typeface="Courier New" pitchFamily="49" charset="0"/>
              </a:rPr>
              <a:t>f</a:t>
            </a:r>
            <a:r>
              <a:rPr lang="vi-VN"/>
              <a:t>. Hàm trả về mã ASCII của kí tự nào đó (kể cả </a:t>
            </a:r>
            <a:r>
              <a:rPr lang="vi-VN" b="1">
                <a:solidFill>
                  <a:schemeClr val="tx1"/>
                </a:solidFill>
                <a:latin typeface="Courier New" pitchFamily="49" charset="0"/>
                <a:ea typeface="+mn-ea"/>
                <a:cs typeface="Courier New" pitchFamily="49" charset="0"/>
              </a:rPr>
              <a:t>EOF</a:t>
            </a:r>
            <a:r>
              <a:rPr lang="vi-VN"/>
              <a:t>) trong tệp </a:t>
            </a:r>
            <a:r>
              <a:rPr lang="vi-VN" b="1">
                <a:solidFill>
                  <a:schemeClr val="tx1"/>
                </a:solidFill>
                <a:latin typeface="Courier New" pitchFamily="49" charset="0"/>
                <a:ea typeface="+mn-ea"/>
                <a:cs typeface="Courier New" pitchFamily="49" charset="0"/>
              </a:rPr>
              <a:t>f</a:t>
            </a:r>
          </a:p>
          <a:p>
            <a:pPr lvl="1"/>
            <a:r>
              <a:rPr lang="vi-VN" b="1">
                <a:solidFill>
                  <a:srgbClr val="FF0000"/>
                </a:solidFill>
                <a:latin typeface="Courier New" pitchFamily="49" charset="0"/>
                <a:ea typeface="+mn-ea"/>
                <a:cs typeface="Courier New" pitchFamily="49" charset="0"/>
              </a:rPr>
              <a:t>fgets</a:t>
            </a:r>
            <a:r>
              <a:rPr lang="vi-VN" b="1">
                <a:solidFill>
                  <a:schemeClr val="tx1"/>
                </a:solidFill>
                <a:latin typeface="Courier New" pitchFamily="49" charset="0"/>
                <a:ea typeface="+mn-ea"/>
                <a:cs typeface="Courier New" pitchFamily="49" charset="0"/>
              </a:rPr>
              <a:t>(str,n,f); </a:t>
            </a:r>
            <a:r>
              <a:rPr lang="vi-VN"/>
              <a:t>đọc một xâu str từ tệp văn bản </a:t>
            </a:r>
            <a:r>
              <a:rPr lang="vi-VN" b="1">
                <a:solidFill>
                  <a:schemeClr val="tx1"/>
                </a:solidFill>
                <a:latin typeface="Courier New" pitchFamily="49" charset="0"/>
                <a:ea typeface="+mn-ea"/>
                <a:cs typeface="Courier New" pitchFamily="49" charset="0"/>
              </a:rPr>
              <a:t>f</a:t>
            </a:r>
            <a:r>
              <a:rPr lang="vi-VN"/>
              <a:t> cho đến khi gặp kí tự xuống dòng </a:t>
            </a:r>
            <a:r>
              <a:rPr lang="vi-VN" b="1">
                <a:solidFill>
                  <a:schemeClr val="tx1"/>
                </a:solidFill>
                <a:latin typeface="Courier New" pitchFamily="49" charset="0"/>
                <a:ea typeface="+mn-ea"/>
                <a:cs typeface="Courier New" pitchFamily="49" charset="0"/>
              </a:rPr>
              <a:t>‘\n’</a:t>
            </a:r>
            <a:r>
              <a:rPr lang="vi-VN"/>
              <a:t> hoặc kí tự EOF hay đủ n kí tự.</a:t>
            </a:r>
          </a:p>
          <a:p>
            <a:pPr lvl="1"/>
            <a:r>
              <a:rPr lang="vi-VN" b="1">
                <a:solidFill>
                  <a:srgbClr val="FF0000"/>
                </a:solidFill>
                <a:latin typeface="Courier New" pitchFamily="49" charset="0"/>
                <a:ea typeface="+mn-ea"/>
                <a:cs typeface="Courier New" pitchFamily="49" charset="0"/>
              </a:rPr>
              <a:t>fscanf</a:t>
            </a:r>
            <a:r>
              <a:rPr lang="vi-VN" b="1">
                <a:solidFill>
                  <a:schemeClr val="tx1"/>
                </a:solidFill>
                <a:latin typeface="Courier New" pitchFamily="49" charset="0"/>
                <a:ea typeface="+mn-ea"/>
                <a:cs typeface="Courier New" pitchFamily="49" charset="0"/>
              </a:rPr>
              <a:t>(f,chuỗi định dạng, danh sách các biến); </a:t>
            </a:r>
            <a:r>
              <a:rPr lang="vi-VN"/>
              <a:t>đọc từ tệp văn bản </a:t>
            </a:r>
            <a:r>
              <a:rPr lang="vi-VN" b="1">
                <a:solidFill>
                  <a:schemeClr val="tx1"/>
                </a:solidFill>
                <a:latin typeface="Courier New" pitchFamily="49" charset="0"/>
                <a:ea typeface="+mn-ea"/>
                <a:cs typeface="Courier New" pitchFamily="49" charset="0"/>
              </a:rPr>
              <a:t>f</a:t>
            </a:r>
            <a:r>
              <a:rPr lang="vi-VN"/>
              <a:t> các biến theo định dạng, tương tự hàm </a:t>
            </a:r>
            <a:r>
              <a:rPr lang="vi-VN" b="1">
                <a:solidFill>
                  <a:schemeClr val="tx1"/>
                </a:solidFill>
                <a:latin typeface="Courier New" pitchFamily="49" charset="0"/>
                <a:ea typeface="+mn-ea"/>
                <a:cs typeface="Courier New" pitchFamily="49" charset="0"/>
              </a:rPr>
              <a:t>scanf()</a:t>
            </a:r>
          </a:p>
        </p:txBody>
      </p:sp>
      <p:sp>
        <p:nvSpPr>
          <p:cNvPr id="4" name="Date Placeholder 3"/>
          <p:cNvSpPr>
            <a:spLocks noGrp="1"/>
          </p:cNvSpPr>
          <p:nvPr>
            <p:ph type="dt" sz="half" idx="10"/>
          </p:nvPr>
        </p:nvSpPr>
        <p:spPr/>
        <p:txBody>
          <a:bodyPr/>
          <a:lstStyle/>
          <a:p>
            <a:fld id="{ED80D5FC-A97B-4724-AE73-B7E59638CBFE}"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14</a:t>
            </a:fld>
            <a:r>
              <a:rPr lang="en-US"/>
              <a:t>/32</a:t>
            </a:r>
            <a:endParaRPr lang="vi-VN"/>
          </a:p>
        </p:txBody>
      </p:sp>
    </p:spTree>
    <p:extLst>
      <p:ext uri="{BB962C8B-B14F-4D97-AF65-F5344CB8AC3E}">
        <p14:creationId xmlns:p14="http://schemas.microsoft.com/office/powerpoint/2010/main" val="1895408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Đọc dữ liệu từ tệp văn bản (tt)</a:t>
            </a:r>
          </a:p>
        </p:txBody>
      </p:sp>
      <p:sp>
        <p:nvSpPr>
          <p:cNvPr id="3" name="Content Placeholder 2"/>
          <p:cNvSpPr>
            <a:spLocks noGrp="1"/>
          </p:cNvSpPr>
          <p:nvPr>
            <p:ph idx="1"/>
          </p:nvPr>
        </p:nvSpPr>
        <p:spPr/>
        <p:txBody>
          <a:bodyPr/>
          <a:lstStyle/>
          <a:p>
            <a:r>
              <a:rPr lang="vi-VN"/>
              <a:t>Ví dụ 1: Sao chép tệp</a:t>
            </a:r>
          </a:p>
          <a:p>
            <a:pPr lvl="1"/>
            <a:r>
              <a:rPr lang="vi-VN"/>
              <a:t>Sao chép nội dung tệp sample.txt sang tệp sp.txt</a:t>
            </a:r>
          </a:p>
        </p:txBody>
      </p:sp>
      <p:sp>
        <p:nvSpPr>
          <p:cNvPr id="4" name="Rectangle 3"/>
          <p:cNvSpPr/>
          <p:nvPr/>
        </p:nvSpPr>
        <p:spPr>
          <a:xfrm>
            <a:off x="1331640" y="2052131"/>
            <a:ext cx="7272808" cy="4401205"/>
          </a:xfrm>
          <a:prstGeom prst="rect">
            <a:avLst/>
          </a:prstGeom>
        </p:spPr>
        <p:txBody>
          <a:bodyPr wrap="square">
            <a:spAutoFit/>
          </a:bodyPr>
          <a:lstStyle/>
          <a:p>
            <a:r>
              <a:rPr lang="vi-VN" sz="2000" b="1">
                <a:latin typeface="Courier New" pitchFamily="49" charset="0"/>
                <a:cs typeface="Courier New" pitchFamily="49" charset="0"/>
              </a:rPr>
              <a:t>main()</a:t>
            </a:r>
          </a:p>
          <a:p>
            <a:r>
              <a:rPr lang="vi-VN" sz="2000" b="1">
                <a:latin typeface="Courier New" pitchFamily="49" charset="0"/>
                <a:cs typeface="Courier New" pitchFamily="49" charset="0"/>
              </a:rPr>
              <a:t>{	</a:t>
            </a:r>
            <a:r>
              <a:rPr lang="vi-VN" sz="2000" b="1">
                <a:solidFill>
                  <a:srgbClr val="FF0000"/>
                </a:solidFill>
                <a:latin typeface="Courier New" pitchFamily="49" charset="0"/>
                <a:cs typeface="Courier New" pitchFamily="49" charset="0"/>
              </a:rPr>
              <a:t>FILE</a:t>
            </a:r>
            <a:r>
              <a:rPr lang="vi-VN" sz="2000" b="1">
                <a:latin typeface="Courier New" pitchFamily="49" charset="0"/>
                <a:cs typeface="Courier New" pitchFamily="49" charset="0"/>
              </a:rPr>
              <a:t> *f1,*f2; int ch;</a:t>
            </a:r>
          </a:p>
          <a:p>
            <a:r>
              <a:rPr lang="vi-VN" sz="2000" b="1">
                <a:latin typeface="Courier New" pitchFamily="49" charset="0"/>
                <a:cs typeface="Courier New" pitchFamily="49" charset="0"/>
              </a:rPr>
              <a:t>	f1=</a:t>
            </a:r>
            <a:r>
              <a:rPr lang="vi-VN" sz="2000" b="1">
                <a:solidFill>
                  <a:srgbClr val="FF0000"/>
                </a:solidFill>
                <a:latin typeface="Courier New" pitchFamily="49" charset="0"/>
                <a:cs typeface="Courier New" pitchFamily="49" charset="0"/>
              </a:rPr>
              <a:t>fopen</a:t>
            </a:r>
            <a:r>
              <a:rPr lang="vi-VN" sz="2000" b="1">
                <a:latin typeface="Courier New" pitchFamily="49" charset="0"/>
                <a:cs typeface="Courier New" pitchFamily="49" charset="0"/>
              </a:rPr>
              <a:t>("C:\\sample.txt","r");</a:t>
            </a:r>
          </a:p>
          <a:p>
            <a:r>
              <a:rPr lang="vi-VN" sz="2000" b="1">
                <a:latin typeface="Courier New" pitchFamily="49" charset="0"/>
                <a:cs typeface="Courier New" pitchFamily="49" charset="0"/>
              </a:rPr>
              <a:t>	f2=</a:t>
            </a:r>
            <a:r>
              <a:rPr lang="vi-VN" sz="2000" b="1">
                <a:solidFill>
                  <a:srgbClr val="FF0000"/>
                </a:solidFill>
                <a:latin typeface="Courier New" pitchFamily="49" charset="0"/>
                <a:cs typeface="Courier New" pitchFamily="49" charset="0"/>
              </a:rPr>
              <a:t>fopen</a:t>
            </a:r>
            <a:r>
              <a:rPr lang="vi-VN" sz="2000" b="1">
                <a:latin typeface="Courier New" pitchFamily="49" charset="0"/>
                <a:cs typeface="Courier New" pitchFamily="49" charset="0"/>
              </a:rPr>
              <a:t>("C:\\sp.txt","w");</a:t>
            </a:r>
          </a:p>
          <a:p>
            <a:r>
              <a:rPr lang="vi-VN" sz="2000" b="1">
                <a:latin typeface="Courier New" pitchFamily="49" charset="0"/>
                <a:cs typeface="Courier New" pitchFamily="49" charset="0"/>
              </a:rPr>
              <a:t>	if (f1!=NULL&amp;&amp;f2!=NULL)</a:t>
            </a:r>
          </a:p>
          <a:p>
            <a:r>
              <a:rPr lang="vi-VN" sz="2000" b="1">
                <a:latin typeface="Courier New" pitchFamily="49" charset="0"/>
                <a:cs typeface="Courier New" pitchFamily="49" charset="0"/>
              </a:rPr>
              <a:t>	{	ch=</a:t>
            </a:r>
            <a:r>
              <a:rPr lang="vi-VN" sz="2000" b="1">
                <a:solidFill>
                  <a:srgbClr val="FF0000"/>
                </a:solidFill>
                <a:latin typeface="Courier New" pitchFamily="49" charset="0"/>
                <a:cs typeface="Courier New" pitchFamily="49" charset="0"/>
              </a:rPr>
              <a:t>fgetc</a:t>
            </a:r>
            <a:r>
              <a:rPr lang="vi-VN" sz="2000" b="1">
                <a:latin typeface="Courier New" pitchFamily="49" charset="0"/>
                <a:cs typeface="Courier New" pitchFamily="49" charset="0"/>
              </a:rPr>
              <a:t>(f1);</a:t>
            </a:r>
          </a:p>
          <a:p>
            <a:r>
              <a:rPr lang="vi-VN" sz="2000" b="1">
                <a:latin typeface="Courier New" pitchFamily="49" charset="0"/>
                <a:cs typeface="Courier New" pitchFamily="49" charset="0"/>
              </a:rPr>
              <a:t>		while (!</a:t>
            </a:r>
            <a:r>
              <a:rPr lang="vi-VN" sz="2000" b="1">
                <a:solidFill>
                  <a:srgbClr val="FF0000"/>
                </a:solidFill>
                <a:latin typeface="Courier New" pitchFamily="49" charset="0"/>
                <a:cs typeface="Courier New" pitchFamily="49" charset="0"/>
              </a:rPr>
              <a:t>feof</a:t>
            </a:r>
            <a:r>
              <a:rPr lang="vi-VN" sz="2000" b="1">
                <a:latin typeface="Courier New" pitchFamily="49" charset="0"/>
                <a:cs typeface="Courier New" pitchFamily="49" charset="0"/>
              </a:rPr>
              <a:t>(f1))</a:t>
            </a:r>
          </a:p>
          <a:p>
            <a:r>
              <a:rPr lang="vi-VN" sz="2000" b="1">
                <a:latin typeface="Courier New" pitchFamily="49" charset="0"/>
                <a:cs typeface="Courier New" pitchFamily="49" charset="0"/>
              </a:rPr>
              <a:t>		{	</a:t>
            </a:r>
            <a:r>
              <a:rPr lang="vi-VN" sz="2000" b="1">
                <a:solidFill>
                  <a:srgbClr val="FF0000"/>
                </a:solidFill>
                <a:latin typeface="Courier New" pitchFamily="49" charset="0"/>
                <a:cs typeface="Courier New" pitchFamily="49" charset="0"/>
              </a:rPr>
              <a:t>fputc</a:t>
            </a:r>
            <a:r>
              <a:rPr lang="vi-VN" sz="2000" b="1">
                <a:latin typeface="Courier New" pitchFamily="49" charset="0"/>
                <a:cs typeface="Courier New" pitchFamily="49" charset="0"/>
              </a:rPr>
              <a:t>(ch,f2); //ghi vao f2</a:t>
            </a:r>
          </a:p>
          <a:p>
            <a:r>
              <a:rPr lang="vi-VN" sz="2000" b="1">
                <a:latin typeface="Courier New" pitchFamily="49" charset="0"/>
                <a:cs typeface="Courier New" pitchFamily="49" charset="0"/>
              </a:rPr>
              <a:t>			ch=</a:t>
            </a:r>
            <a:r>
              <a:rPr lang="vi-VN" sz="2000" b="1">
                <a:solidFill>
                  <a:srgbClr val="FF0000"/>
                </a:solidFill>
                <a:latin typeface="Courier New" pitchFamily="49" charset="0"/>
                <a:cs typeface="Courier New" pitchFamily="49" charset="0"/>
              </a:rPr>
              <a:t>fgetc</a:t>
            </a:r>
            <a:r>
              <a:rPr lang="vi-VN" sz="2000" b="1">
                <a:latin typeface="Courier New" pitchFamily="49" charset="0"/>
                <a:cs typeface="Courier New" pitchFamily="49" charset="0"/>
              </a:rPr>
              <a:t>(f1); //doc tu f1</a:t>
            </a:r>
          </a:p>
          <a:p>
            <a:r>
              <a:rPr lang="vi-VN" sz="2000" b="1">
                <a:latin typeface="Courier New" pitchFamily="49" charset="0"/>
                <a:cs typeface="Courier New" pitchFamily="49" charset="0"/>
              </a:rPr>
              <a:t>		}</a:t>
            </a:r>
          </a:p>
          <a:p>
            <a:r>
              <a:rPr lang="vi-VN" sz="2000" b="1">
                <a:latin typeface="Courier New" pitchFamily="49" charset="0"/>
                <a:cs typeface="Courier New" pitchFamily="49" charset="0"/>
              </a:rPr>
              <a:t>		fclose(f1);</a:t>
            </a:r>
          </a:p>
          <a:p>
            <a:r>
              <a:rPr lang="vi-VN" sz="2000" b="1">
                <a:latin typeface="Courier New" pitchFamily="49" charset="0"/>
                <a:cs typeface="Courier New" pitchFamily="49" charset="0"/>
              </a:rPr>
              <a:t>		fclose(f2);</a:t>
            </a:r>
          </a:p>
          <a:p>
            <a:r>
              <a:rPr lang="vi-VN" sz="2000" b="1">
                <a:latin typeface="Courier New" pitchFamily="49" charset="0"/>
                <a:cs typeface="Courier New" pitchFamily="49" charset="0"/>
              </a:rPr>
              <a:t>	}</a:t>
            </a:r>
          </a:p>
          <a:p>
            <a:r>
              <a:rPr lang="vi-VN" sz="2000" b="1">
                <a:latin typeface="Courier New" pitchFamily="49" charset="0"/>
                <a:cs typeface="Courier New" pitchFamily="49" charset="0"/>
              </a:rPr>
              <a:t>}</a:t>
            </a:r>
          </a:p>
        </p:txBody>
      </p:sp>
      <p:sp>
        <p:nvSpPr>
          <p:cNvPr id="5" name="Date Placeholder 4"/>
          <p:cNvSpPr>
            <a:spLocks noGrp="1"/>
          </p:cNvSpPr>
          <p:nvPr>
            <p:ph type="dt" sz="half" idx="10"/>
          </p:nvPr>
        </p:nvSpPr>
        <p:spPr/>
        <p:txBody>
          <a:bodyPr/>
          <a:lstStyle/>
          <a:p>
            <a:fld id="{D6452AF0-B168-401A-A90C-5710D5A5B572}"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9-Kiểu dữ liệu tệp</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15</a:t>
            </a:fld>
            <a:r>
              <a:rPr lang="en-US"/>
              <a:t>/32</a:t>
            </a:r>
            <a:endParaRPr lang="vi-VN"/>
          </a:p>
        </p:txBody>
      </p:sp>
    </p:spTree>
    <p:extLst>
      <p:ext uri="{BB962C8B-B14F-4D97-AF65-F5344CB8AC3E}">
        <p14:creationId xmlns:p14="http://schemas.microsoft.com/office/powerpoint/2010/main" val="1148502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Đọc dữ liệu từ tệp văn bản (tt)</a:t>
            </a:r>
          </a:p>
        </p:txBody>
      </p:sp>
      <p:sp>
        <p:nvSpPr>
          <p:cNvPr id="3" name="Content Placeholder 2"/>
          <p:cNvSpPr>
            <a:spLocks noGrp="1"/>
          </p:cNvSpPr>
          <p:nvPr>
            <p:ph idx="1"/>
          </p:nvPr>
        </p:nvSpPr>
        <p:spPr/>
        <p:txBody>
          <a:bodyPr/>
          <a:lstStyle/>
          <a:p>
            <a:pPr>
              <a:spcBef>
                <a:spcPts val="0"/>
              </a:spcBef>
            </a:pPr>
            <a:r>
              <a:rPr lang="vi-VN"/>
              <a:t>Ví dụ 2:</a:t>
            </a:r>
          </a:p>
          <a:p>
            <a:pPr marL="471487" lvl="1" indent="0">
              <a:spcBef>
                <a:spcPts val="0"/>
              </a:spcBef>
              <a:buNone/>
            </a:pPr>
            <a:r>
              <a:rPr lang="vi-VN"/>
              <a:t>Đọc từ tệp songuyen.txt một dãy các số nguyên dương, ghi vào tệp ketqua.txt các số nguyên tố có trong dãy đó, cuối cùng ghi ra tổng của các số nguyên tố đó.</a:t>
            </a:r>
          </a:p>
        </p:txBody>
      </p:sp>
      <p:sp>
        <p:nvSpPr>
          <p:cNvPr id="4" name="Rectangle 3"/>
          <p:cNvSpPr/>
          <p:nvPr/>
        </p:nvSpPr>
        <p:spPr>
          <a:xfrm>
            <a:off x="899592" y="3017734"/>
            <a:ext cx="8280920" cy="3477875"/>
          </a:xfrm>
          <a:prstGeom prst="rect">
            <a:avLst/>
          </a:prstGeom>
        </p:spPr>
        <p:txBody>
          <a:bodyPr wrap="square">
            <a:spAutoFit/>
          </a:bodyPr>
          <a:lstStyle/>
          <a:p>
            <a:r>
              <a:rPr lang="vi-VN" sz="2000" b="1">
                <a:latin typeface="Courier New" pitchFamily="49" charset="0"/>
                <a:cs typeface="Courier New" pitchFamily="49" charset="0"/>
              </a:rPr>
              <a:t>int main()</a:t>
            </a:r>
          </a:p>
          <a:p>
            <a:r>
              <a:rPr lang="vi-VN" sz="2000" b="1">
                <a:latin typeface="Courier New" pitchFamily="49" charset="0"/>
                <a:cs typeface="Courier New" pitchFamily="49" charset="0"/>
              </a:rPr>
              <a:t>{FILE *f1,*f2; int n;  long tong=0;</a:t>
            </a:r>
          </a:p>
          <a:p>
            <a:r>
              <a:rPr lang="vi-VN" sz="2000" b="1">
                <a:latin typeface="Courier New" pitchFamily="49" charset="0"/>
                <a:cs typeface="Courier New" pitchFamily="49" charset="0"/>
              </a:rPr>
              <a:t> f1=fopen("</a:t>
            </a:r>
            <a:r>
              <a:rPr lang="vi-VN" sz="2000" b="1">
                <a:solidFill>
                  <a:srgbClr val="0000FF"/>
                </a:solidFill>
                <a:latin typeface="Courier New" pitchFamily="49" charset="0"/>
                <a:cs typeface="Courier New" pitchFamily="49" charset="0"/>
              </a:rPr>
              <a:t>C:\\songuyen.txt</a:t>
            </a:r>
            <a:r>
              <a:rPr lang="vi-VN" sz="2000" b="1">
                <a:latin typeface="Courier New" pitchFamily="49" charset="0"/>
                <a:cs typeface="Courier New" pitchFamily="49" charset="0"/>
              </a:rPr>
              <a:t>","r");</a:t>
            </a:r>
          </a:p>
          <a:p>
            <a:r>
              <a:rPr lang="vi-VN" sz="2000" b="1">
                <a:latin typeface="Courier New" pitchFamily="49" charset="0"/>
                <a:cs typeface="Courier New" pitchFamily="49" charset="0"/>
              </a:rPr>
              <a:t> f2=fopen("</a:t>
            </a:r>
            <a:r>
              <a:rPr lang="vi-VN" sz="2000" b="1">
                <a:solidFill>
                  <a:srgbClr val="0000FF"/>
                </a:solidFill>
                <a:latin typeface="Courier New" pitchFamily="49" charset="0"/>
                <a:cs typeface="Courier New" pitchFamily="49" charset="0"/>
              </a:rPr>
              <a:t>C:\\ketqua.txt</a:t>
            </a:r>
            <a:r>
              <a:rPr lang="vi-VN" sz="2000" b="1">
                <a:latin typeface="Courier New" pitchFamily="49" charset="0"/>
                <a:cs typeface="Courier New" pitchFamily="49" charset="0"/>
              </a:rPr>
              <a:t>","w");</a:t>
            </a:r>
          </a:p>
          <a:p>
            <a:r>
              <a:rPr lang="vi-VN" sz="2000" b="1">
                <a:latin typeface="Courier New" pitchFamily="49" charset="0"/>
                <a:cs typeface="Courier New" pitchFamily="49" charset="0"/>
              </a:rPr>
              <a:t> if (f1!=NULL &amp;&amp; f2!=NULL)</a:t>
            </a:r>
          </a:p>
          <a:p>
            <a:r>
              <a:rPr lang="vi-VN" sz="2000" b="1">
                <a:latin typeface="Courier New" pitchFamily="49" charset="0"/>
                <a:cs typeface="Courier New" pitchFamily="49" charset="0"/>
              </a:rPr>
              <a:t> {  while (!feof(f1))</a:t>
            </a:r>
          </a:p>
          <a:p>
            <a:r>
              <a:rPr lang="vi-VN" sz="2000" b="1">
                <a:latin typeface="Courier New" pitchFamily="49" charset="0"/>
                <a:cs typeface="Courier New" pitchFamily="49" charset="0"/>
              </a:rPr>
              <a:t>     { </a:t>
            </a:r>
            <a:r>
              <a:rPr lang="vi-VN" sz="2000" b="1">
                <a:solidFill>
                  <a:srgbClr val="FF0000"/>
                </a:solidFill>
                <a:latin typeface="Courier New" pitchFamily="49" charset="0"/>
                <a:cs typeface="Courier New" pitchFamily="49" charset="0"/>
              </a:rPr>
              <a:t>fscanf</a:t>
            </a:r>
            <a:r>
              <a:rPr lang="vi-VN" sz="2000" b="1">
                <a:latin typeface="Courier New" pitchFamily="49" charset="0"/>
                <a:cs typeface="Courier New" pitchFamily="49" charset="0"/>
              </a:rPr>
              <a:t>(f1,"%d",&amp;n);</a:t>
            </a:r>
          </a:p>
          <a:p>
            <a:r>
              <a:rPr lang="vi-VN" sz="2000" b="1">
                <a:latin typeface="Courier New" pitchFamily="49" charset="0"/>
                <a:cs typeface="Courier New" pitchFamily="49" charset="0"/>
              </a:rPr>
              <a:t>       if (</a:t>
            </a:r>
            <a:r>
              <a:rPr lang="vi-VN" sz="2000" b="1">
                <a:solidFill>
                  <a:srgbClr val="0000FF"/>
                </a:solidFill>
                <a:latin typeface="Courier New" pitchFamily="49" charset="0"/>
                <a:cs typeface="Courier New" pitchFamily="49" charset="0"/>
              </a:rPr>
              <a:t>ngto</a:t>
            </a:r>
            <a:r>
              <a:rPr lang="vi-VN" sz="2000" b="1">
                <a:latin typeface="Courier New" pitchFamily="49" charset="0"/>
                <a:cs typeface="Courier New" pitchFamily="49" charset="0"/>
              </a:rPr>
              <a:t>(n)) { tong+=n; </a:t>
            </a:r>
            <a:r>
              <a:rPr lang="vi-VN" sz="2000" b="1">
                <a:solidFill>
                  <a:srgbClr val="FF0000"/>
                </a:solidFill>
                <a:latin typeface="Courier New" pitchFamily="49" charset="0"/>
                <a:cs typeface="Courier New" pitchFamily="49" charset="0"/>
              </a:rPr>
              <a:t>fprintf</a:t>
            </a:r>
            <a:r>
              <a:rPr lang="vi-VN" sz="2000" b="1">
                <a:latin typeface="Courier New" pitchFamily="49" charset="0"/>
                <a:cs typeface="Courier New" pitchFamily="49" charset="0"/>
              </a:rPr>
              <a:t>(f2,"%d\t",n);}</a:t>
            </a:r>
          </a:p>
          <a:p>
            <a:r>
              <a:rPr lang="vi-VN" sz="2000" b="1">
                <a:latin typeface="Courier New" pitchFamily="49" charset="0"/>
                <a:cs typeface="Courier New" pitchFamily="49" charset="0"/>
              </a:rPr>
              <a:t>     } </a:t>
            </a:r>
            <a:r>
              <a:rPr lang="vi-VN" sz="2000" b="1">
                <a:solidFill>
                  <a:srgbClr val="FF0000"/>
                </a:solidFill>
                <a:latin typeface="Courier New" pitchFamily="49" charset="0"/>
                <a:cs typeface="Courier New" pitchFamily="49" charset="0"/>
              </a:rPr>
              <a:t>fprintf</a:t>
            </a:r>
            <a:r>
              <a:rPr lang="vi-VN" sz="2000" b="1">
                <a:latin typeface="Courier New" pitchFamily="49" charset="0"/>
                <a:cs typeface="Courier New" pitchFamily="49" charset="0"/>
              </a:rPr>
              <a:t>(f2,"\nTong la: %ld",tong);</a:t>
            </a:r>
          </a:p>
          <a:p>
            <a:r>
              <a:rPr lang="vi-VN" sz="2000" b="1">
                <a:latin typeface="Courier New" pitchFamily="49" charset="0"/>
                <a:cs typeface="Courier New" pitchFamily="49" charset="0"/>
              </a:rPr>
              <a:t>    fclose(f1); fclose(f2);</a:t>
            </a:r>
          </a:p>
          <a:p>
            <a:r>
              <a:rPr lang="vi-VN" sz="2000" b="1">
                <a:latin typeface="Courier New" pitchFamily="49" charset="0"/>
                <a:cs typeface="Courier New" pitchFamily="49" charset="0"/>
              </a:rPr>
              <a:t>  } }</a:t>
            </a:r>
          </a:p>
        </p:txBody>
      </p:sp>
      <p:sp>
        <p:nvSpPr>
          <p:cNvPr id="5" name="Date Placeholder 4"/>
          <p:cNvSpPr>
            <a:spLocks noGrp="1"/>
          </p:cNvSpPr>
          <p:nvPr>
            <p:ph type="dt" sz="half" idx="10"/>
          </p:nvPr>
        </p:nvSpPr>
        <p:spPr/>
        <p:txBody>
          <a:bodyPr/>
          <a:lstStyle/>
          <a:p>
            <a:fld id="{A2D26EA6-0033-4E02-9EB2-40F7194560CC}"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9-Kiểu dữ liệu tệp</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16</a:t>
            </a:fld>
            <a:r>
              <a:rPr lang="en-US"/>
              <a:t>/32</a:t>
            </a:r>
            <a:endParaRPr lang="vi-VN"/>
          </a:p>
        </p:txBody>
      </p:sp>
    </p:spTree>
    <p:extLst>
      <p:ext uri="{BB962C8B-B14F-4D97-AF65-F5344CB8AC3E}">
        <p14:creationId xmlns:p14="http://schemas.microsoft.com/office/powerpoint/2010/main" val="3498915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4. Tệp nhị phân</a:t>
            </a:r>
          </a:p>
        </p:txBody>
      </p:sp>
      <p:sp>
        <p:nvSpPr>
          <p:cNvPr id="3" name="Content Placeholder 2"/>
          <p:cNvSpPr>
            <a:spLocks noGrp="1"/>
          </p:cNvSpPr>
          <p:nvPr>
            <p:ph idx="1"/>
          </p:nvPr>
        </p:nvSpPr>
        <p:spPr/>
        <p:txBody>
          <a:bodyPr/>
          <a:lstStyle/>
          <a:p>
            <a:r>
              <a:rPr lang="en-US"/>
              <a:t>Ghi dữ liệu lên tệp nhị phân</a:t>
            </a:r>
          </a:p>
          <a:p>
            <a:pPr lvl="1"/>
            <a:r>
              <a:rPr lang="en-US"/>
              <a:t>Hàm </a:t>
            </a:r>
            <a:r>
              <a:rPr lang="en-US" b="1">
                <a:solidFill>
                  <a:srgbClr val="FF0000"/>
                </a:solidFill>
                <a:latin typeface="Courier New" pitchFamily="49" charset="0"/>
                <a:cs typeface="Courier New" pitchFamily="49" charset="0"/>
              </a:rPr>
              <a:t>fwrite</a:t>
            </a:r>
            <a:r>
              <a:rPr lang="en-US" b="1">
                <a:solidFill>
                  <a:schemeClr val="tx1">
                    <a:lumMod val="95000"/>
                    <a:lumOff val="5000"/>
                  </a:schemeClr>
                </a:solidFill>
                <a:latin typeface="Courier New" pitchFamily="49" charset="0"/>
                <a:cs typeface="Courier New" pitchFamily="49" charset="0"/>
              </a:rPr>
              <a:t>(địa chỉ của khối dữ liệu,kích thước mỗi phần tử, số phần tử,f); </a:t>
            </a:r>
          </a:p>
          <a:p>
            <a:pPr lvl="1"/>
            <a:r>
              <a:rPr lang="en-US"/>
              <a:t>Ghi vào trong tệp </a:t>
            </a:r>
            <a:r>
              <a:rPr lang="en-US" b="1">
                <a:solidFill>
                  <a:schemeClr val="tx1">
                    <a:lumMod val="95000"/>
                    <a:lumOff val="5000"/>
                  </a:schemeClr>
                </a:solidFill>
                <a:latin typeface="Courier New" pitchFamily="49" charset="0"/>
                <a:cs typeface="Courier New" pitchFamily="49" charset="0"/>
              </a:rPr>
              <a:t>f</a:t>
            </a:r>
            <a:r>
              <a:rPr lang="en-US"/>
              <a:t> khối dữ liệu có địa chỉ, số lượng và kích thước của mỗi phần tử.</a:t>
            </a:r>
          </a:p>
          <a:p>
            <a:pPr lvl="1"/>
            <a:r>
              <a:rPr lang="en-US"/>
              <a:t>Giá trị trả về là số phần tử đã được ghi vào tệp </a:t>
            </a:r>
          </a:p>
          <a:p>
            <a:pPr lvl="1"/>
            <a:r>
              <a:rPr lang="en-US"/>
              <a:t>Ví dụ:</a:t>
            </a:r>
          </a:p>
          <a:p>
            <a:pPr marL="471487" lvl="1" indent="0">
              <a:spcBef>
                <a:spcPts val="0"/>
              </a:spcBef>
              <a:buNone/>
            </a:pPr>
            <a:r>
              <a:rPr lang="en-US" sz="2000" b="1">
                <a:solidFill>
                  <a:schemeClr val="tx1">
                    <a:lumMod val="95000"/>
                    <a:lumOff val="5000"/>
                  </a:schemeClr>
                </a:solidFill>
                <a:latin typeface="Courier New" pitchFamily="49" charset="0"/>
                <a:cs typeface="Courier New" pitchFamily="49" charset="0"/>
              </a:rPr>
              <a:t>FILE *f;</a:t>
            </a:r>
          </a:p>
          <a:p>
            <a:pPr marL="471487" lvl="1" indent="0">
              <a:spcBef>
                <a:spcPts val="0"/>
              </a:spcBef>
              <a:buNone/>
            </a:pPr>
            <a:r>
              <a:rPr lang="en-US" sz="2000" b="1">
                <a:solidFill>
                  <a:schemeClr val="tx1">
                    <a:lumMod val="95000"/>
                    <a:lumOff val="5000"/>
                  </a:schemeClr>
                </a:solidFill>
                <a:latin typeface="Courier New" pitchFamily="49" charset="0"/>
                <a:cs typeface="Courier New" pitchFamily="49" charset="0"/>
              </a:rPr>
              <a:t>int i;</a:t>
            </a:r>
          </a:p>
          <a:p>
            <a:pPr marL="471487" lvl="1" indent="0">
              <a:spcBef>
                <a:spcPts val="0"/>
              </a:spcBef>
              <a:buNone/>
            </a:pPr>
            <a:r>
              <a:rPr lang="en-US" sz="2000" b="1">
                <a:solidFill>
                  <a:schemeClr val="tx1">
                    <a:lumMod val="95000"/>
                    <a:lumOff val="5000"/>
                  </a:schemeClr>
                </a:solidFill>
                <a:latin typeface="Courier New" pitchFamily="49" charset="0"/>
                <a:cs typeface="Courier New" pitchFamily="49" charset="0"/>
              </a:rPr>
              <a:t>f=fopen(“C:\\SN100.txt”,”wb”);</a:t>
            </a:r>
          </a:p>
          <a:p>
            <a:pPr marL="471487" lvl="1" indent="0">
              <a:spcBef>
                <a:spcPts val="0"/>
              </a:spcBef>
              <a:buNone/>
            </a:pPr>
            <a:r>
              <a:rPr lang="en-US" sz="2000" b="1">
                <a:solidFill>
                  <a:schemeClr val="tx1">
                    <a:lumMod val="95000"/>
                    <a:lumOff val="5000"/>
                  </a:schemeClr>
                </a:solidFill>
                <a:latin typeface="Courier New" pitchFamily="49" charset="0"/>
                <a:cs typeface="Courier New" pitchFamily="49" charset="0"/>
              </a:rPr>
              <a:t>for (i=1;i&lt;=100;i++)</a:t>
            </a:r>
          </a:p>
          <a:p>
            <a:pPr marL="471487" lvl="1" indent="0">
              <a:spcBef>
                <a:spcPts val="0"/>
              </a:spcBef>
              <a:buNone/>
            </a:pPr>
            <a:r>
              <a:rPr lang="en-US" sz="2000" b="1">
                <a:solidFill>
                  <a:schemeClr val="tx1">
                    <a:lumMod val="95000"/>
                    <a:lumOff val="5000"/>
                  </a:schemeClr>
                </a:solidFill>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fwrite</a:t>
            </a:r>
            <a:r>
              <a:rPr lang="en-US" sz="2000" b="1">
                <a:solidFill>
                  <a:schemeClr val="tx1">
                    <a:lumMod val="95000"/>
                    <a:lumOff val="5000"/>
                  </a:schemeClr>
                </a:solidFill>
                <a:latin typeface="Courier New" pitchFamily="49" charset="0"/>
                <a:cs typeface="Courier New" pitchFamily="49" charset="0"/>
              </a:rPr>
              <a:t>(&amp;i,sizeof(int),1,f);</a:t>
            </a:r>
          </a:p>
          <a:p>
            <a:pPr marL="471487" lvl="1" indent="0">
              <a:spcBef>
                <a:spcPts val="0"/>
              </a:spcBef>
              <a:buNone/>
            </a:pPr>
            <a:r>
              <a:rPr lang="en-US" sz="2000" b="1">
                <a:solidFill>
                  <a:schemeClr val="tx1">
                    <a:lumMod val="95000"/>
                    <a:lumOff val="5000"/>
                  </a:schemeClr>
                </a:solidFill>
                <a:latin typeface="Courier New" pitchFamily="49" charset="0"/>
                <a:cs typeface="Courier New" pitchFamily="49" charset="0"/>
              </a:rPr>
              <a:t>fclose(f);</a:t>
            </a:r>
          </a:p>
          <a:p>
            <a:pPr marL="471487" lvl="1" indent="0">
              <a:buNone/>
            </a:pPr>
            <a:endParaRPr lang="en-US"/>
          </a:p>
        </p:txBody>
      </p:sp>
      <p:sp>
        <p:nvSpPr>
          <p:cNvPr id="4" name="Date Placeholder 3"/>
          <p:cNvSpPr>
            <a:spLocks noGrp="1"/>
          </p:cNvSpPr>
          <p:nvPr>
            <p:ph type="dt" sz="half" idx="10"/>
          </p:nvPr>
        </p:nvSpPr>
        <p:spPr/>
        <p:txBody>
          <a:bodyPr/>
          <a:lstStyle/>
          <a:p>
            <a:fld id="{9623BDF5-1D5C-4CCF-81C2-3474BD09E931}"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17</a:t>
            </a:fld>
            <a:r>
              <a:rPr lang="en-US"/>
              <a:t>/32</a:t>
            </a:r>
            <a:endParaRPr lang="vi-VN"/>
          </a:p>
        </p:txBody>
      </p:sp>
    </p:spTree>
    <p:extLst>
      <p:ext uri="{BB962C8B-B14F-4D97-AF65-F5344CB8AC3E}">
        <p14:creationId xmlns:p14="http://schemas.microsoft.com/office/powerpoint/2010/main" val="536635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Tệp nhị phân (tt)</a:t>
            </a:r>
          </a:p>
        </p:txBody>
      </p:sp>
      <p:sp>
        <p:nvSpPr>
          <p:cNvPr id="3" name="Content Placeholder 2"/>
          <p:cNvSpPr>
            <a:spLocks noGrp="1"/>
          </p:cNvSpPr>
          <p:nvPr>
            <p:ph idx="1"/>
          </p:nvPr>
        </p:nvSpPr>
        <p:spPr/>
        <p:txBody>
          <a:bodyPr/>
          <a:lstStyle/>
          <a:p>
            <a:r>
              <a:rPr lang="vi-VN"/>
              <a:t>Đọc dữ liệu từ tệp nhị phân</a:t>
            </a:r>
          </a:p>
          <a:p>
            <a:pPr lvl="1"/>
            <a:r>
              <a:rPr lang="en-US"/>
              <a:t>Hàm </a:t>
            </a:r>
            <a:r>
              <a:rPr lang="en-US" b="1">
                <a:solidFill>
                  <a:srgbClr val="FF0000"/>
                </a:solidFill>
                <a:latin typeface="Courier New" pitchFamily="49" charset="0"/>
                <a:cs typeface="Courier New" pitchFamily="49" charset="0"/>
              </a:rPr>
              <a:t>fread</a:t>
            </a:r>
            <a:r>
              <a:rPr lang="en-US" b="1">
                <a:solidFill>
                  <a:schemeClr val="tx1">
                    <a:lumMod val="95000"/>
                    <a:lumOff val="5000"/>
                  </a:schemeClr>
                </a:solidFill>
                <a:latin typeface="Courier New" pitchFamily="49" charset="0"/>
                <a:cs typeface="Courier New" pitchFamily="49" charset="0"/>
              </a:rPr>
              <a:t>(địa chỉ của vùng nhớ nhận dữ liệu,kích thước mỗi phần tử, số phần tử,f); </a:t>
            </a:r>
          </a:p>
          <a:p>
            <a:pPr lvl="1"/>
            <a:r>
              <a:rPr lang="en-US"/>
              <a:t>Đọc từ tệp </a:t>
            </a:r>
            <a:r>
              <a:rPr lang="en-US" b="1">
                <a:solidFill>
                  <a:schemeClr val="tx1">
                    <a:lumMod val="95000"/>
                    <a:lumOff val="5000"/>
                  </a:schemeClr>
                </a:solidFill>
                <a:latin typeface="Courier New" pitchFamily="49" charset="0"/>
                <a:cs typeface="Courier New" pitchFamily="49" charset="0"/>
              </a:rPr>
              <a:t>f</a:t>
            </a:r>
            <a:r>
              <a:rPr lang="en-US"/>
              <a:t> số lượng phần tử có kích thước của mỗi phần tử được chỉ ra và lưu vào vùng nhớ nhận dữ liệu</a:t>
            </a:r>
          </a:p>
          <a:p>
            <a:pPr lvl="1"/>
            <a:r>
              <a:rPr lang="en-US"/>
              <a:t>Giá trị trả về là số phần tử đã được đọc từ tệp</a:t>
            </a:r>
          </a:p>
          <a:p>
            <a:pPr lvl="1"/>
            <a:r>
              <a:rPr lang="en-US"/>
              <a:t>Ví dụ:</a:t>
            </a:r>
          </a:p>
          <a:p>
            <a:pPr marL="471487" lvl="1" indent="0">
              <a:buNone/>
            </a:pPr>
            <a:r>
              <a:rPr lang="en-US" b="1">
                <a:solidFill>
                  <a:schemeClr val="tx1">
                    <a:lumMod val="95000"/>
                    <a:lumOff val="5000"/>
                  </a:schemeClr>
                </a:solidFill>
                <a:latin typeface="Courier New" pitchFamily="49" charset="0"/>
                <a:cs typeface="Courier New" pitchFamily="49" charset="0"/>
              </a:rPr>
              <a:t>g=fopen(“C:\\SN100.txt”,”rb”);</a:t>
            </a:r>
          </a:p>
          <a:p>
            <a:pPr marL="471487" lvl="1" indent="0">
              <a:buNone/>
            </a:pPr>
            <a:r>
              <a:rPr lang="en-US" b="1">
                <a:solidFill>
                  <a:schemeClr val="tx1">
                    <a:lumMod val="95000"/>
                    <a:lumOff val="5000"/>
                  </a:schemeClr>
                </a:solidFill>
                <a:latin typeface="Courier New" pitchFamily="49" charset="0"/>
                <a:cs typeface="Courier New" pitchFamily="49" charset="0"/>
              </a:rPr>
              <a:t>do { fread(&amp;i,sizeof(int),1,g);</a:t>
            </a:r>
          </a:p>
          <a:p>
            <a:pPr marL="471487" lvl="1" indent="0">
              <a:buNone/>
            </a:pPr>
            <a:r>
              <a:rPr lang="en-US" b="1">
                <a:solidFill>
                  <a:schemeClr val="tx1">
                    <a:lumMod val="95000"/>
                    <a:lumOff val="5000"/>
                  </a:schemeClr>
                </a:solidFill>
                <a:latin typeface="Courier New" pitchFamily="49" charset="0"/>
                <a:cs typeface="Courier New" pitchFamily="49" charset="0"/>
              </a:rPr>
              <a:t>	   if (!feof(g)) printf(“%d”,i); }</a:t>
            </a:r>
          </a:p>
          <a:p>
            <a:pPr marL="471487" lvl="1" indent="0">
              <a:buNone/>
            </a:pPr>
            <a:r>
              <a:rPr lang="en-US" b="1">
                <a:solidFill>
                  <a:schemeClr val="tx1">
                    <a:lumMod val="95000"/>
                    <a:lumOff val="5000"/>
                  </a:schemeClr>
                </a:solidFill>
                <a:latin typeface="Courier New" pitchFamily="49" charset="0"/>
                <a:cs typeface="Courier New" pitchFamily="49" charset="0"/>
              </a:rPr>
              <a:t>while (!foef(g));	</a:t>
            </a:r>
          </a:p>
          <a:p>
            <a:pPr marL="471487" lvl="1" indent="0">
              <a:buNone/>
            </a:pPr>
            <a:endParaRPr lang="en-US"/>
          </a:p>
          <a:p>
            <a:endParaRPr lang="vi-VN"/>
          </a:p>
        </p:txBody>
      </p:sp>
      <p:sp>
        <p:nvSpPr>
          <p:cNvPr id="4" name="Date Placeholder 3"/>
          <p:cNvSpPr>
            <a:spLocks noGrp="1"/>
          </p:cNvSpPr>
          <p:nvPr>
            <p:ph type="dt" sz="half" idx="10"/>
          </p:nvPr>
        </p:nvSpPr>
        <p:spPr/>
        <p:txBody>
          <a:bodyPr/>
          <a:lstStyle/>
          <a:p>
            <a:fld id="{46B73325-FFA9-4D80-A177-20FBE37FC7F3}"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18</a:t>
            </a:fld>
            <a:r>
              <a:rPr lang="en-US"/>
              <a:t>/32</a:t>
            </a:r>
            <a:endParaRPr lang="vi-VN"/>
          </a:p>
        </p:txBody>
      </p:sp>
    </p:spTree>
    <p:extLst>
      <p:ext uri="{BB962C8B-B14F-4D97-AF65-F5344CB8AC3E}">
        <p14:creationId xmlns:p14="http://schemas.microsoft.com/office/powerpoint/2010/main" val="2823874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 chuyển con trỏ tệp</a:t>
            </a:r>
            <a:endParaRPr lang="vi-VN"/>
          </a:p>
        </p:txBody>
      </p:sp>
      <p:sp>
        <p:nvSpPr>
          <p:cNvPr id="3" name="Content Placeholder 2"/>
          <p:cNvSpPr>
            <a:spLocks noGrp="1"/>
          </p:cNvSpPr>
          <p:nvPr>
            <p:ph idx="1"/>
          </p:nvPr>
        </p:nvSpPr>
        <p:spPr/>
        <p:txBody>
          <a:bodyPr/>
          <a:lstStyle/>
          <a:p>
            <a:r>
              <a:rPr lang="en-US"/>
              <a:t>Hàm fseek</a:t>
            </a:r>
          </a:p>
          <a:p>
            <a:pPr marL="471487" lvl="1" indent="0">
              <a:buNone/>
            </a:pPr>
            <a:r>
              <a:rPr lang="en-US" b="1">
                <a:solidFill>
                  <a:srgbClr val="FF0000"/>
                </a:solidFill>
                <a:latin typeface="Courier New" pitchFamily="49" charset="0"/>
                <a:cs typeface="Courier New" pitchFamily="49" charset="0"/>
              </a:rPr>
              <a:t>fseek</a:t>
            </a:r>
            <a:r>
              <a:rPr lang="en-US" b="1">
                <a:solidFill>
                  <a:schemeClr val="tx1">
                    <a:lumMod val="95000"/>
                    <a:lumOff val="5000"/>
                  </a:schemeClr>
                </a:solidFill>
                <a:latin typeface="Courier New" pitchFamily="49" charset="0"/>
                <a:cs typeface="Courier New" pitchFamily="49" charset="0"/>
              </a:rPr>
              <a:t>(f,No*Kích thước, vị trí)</a:t>
            </a:r>
          </a:p>
          <a:p>
            <a:pPr marL="471487" lvl="1" indent="0">
              <a:buNone/>
            </a:pPr>
            <a:r>
              <a:rPr lang="en-US"/>
              <a:t>Trong đó:</a:t>
            </a:r>
          </a:p>
          <a:p>
            <a:pPr lvl="2"/>
            <a:r>
              <a:rPr lang="en-US"/>
              <a:t>f: con trỏ tệp</a:t>
            </a:r>
          </a:p>
          <a:p>
            <a:pPr lvl="2"/>
            <a:r>
              <a:rPr lang="en-US"/>
              <a:t>No: số thứ tự phần tử trong tệp (phần tử đầu tiên đánh số là 0</a:t>
            </a:r>
          </a:p>
          <a:p>
            <a:pPr lvl="2"/>
            <a:r>
              <a:rPr lang="en-US"/>
              <a:t>Vị trí có thể là:</a:t>
            </a:r>
          </a:p>
          <a:p>
            <a:pPr lvl="3"/>
            <a:r>
              <a:rPr lang="en-US" sz="2000"/>
              <a:t>SEEK_SET hoặc 0: di chuyển từ đầu tệp</a:t>
            </a:r>
          </a:p>
          <a:p>
            <a:pPr lvl="3"/>
            <a:r>
              <a:rPr lang="en-US" sz="2000"/>
              <a:t>SEEK_CUR hoặc 1: di chuyển từ vị trí hiện tại</a:t>
            </a:r>
          </a:p>
          <a:p>
            <a:pPr lvl="3"/>
            <a:r>
              <a:rPr lang="en-US" sz="2000"/>
              <a:t>SEEK_END hoặc 2: di chuyển từ cuối tệp</a:t>
            </a:r>
          </a:p>
          <a:p>
            <a:pPr lvl="1"/>
            <a:r>
              <a:rPr lang="en-US" sz="2600"/>
              <a:t>Hàm trả về 0 nếu di chuyển thành công, trả về khác 0 nếu ngược lại.</a:t>
            </a:r>
            <a:endParaRPr lang="vi-VN" sz="2600"/>
          </a:p>
        </p:txBody>
      </p:sp>
      <p:sp>
        <p:nvSpPr>
          <p:cNvPr id="4" name="Date Placeholder 3"/>
          <p:cNvSpPr>
            <a:spLocks noGrp="1"/>
          </p:cNvSpPr>
          <p:nvPr>
            <p:ph type="dt" sz="half" idx="10"/>
          </p:nvPr>
        </p:nvSpPr>
        <p:spPr/>
        <p:txBody>
          <a:bodyPr/>
          <a:lstStyle/>
          <a:p>
            <a:fld id="{ADEF16E8-584A-4251-9B9F-14D528AE8AEA}"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19</a:t>
            </a:fld>
            <a:r>
              <a:rPr lang="en-US"/>
              <a:t>/32</a:t>
            </a:r>
            <a:endParaRPr lang="vi-VN"/>
          </a:p>
        </p:txBody>
      </p:sp>
    </p:spTree>
    <p:extLst>
      <p:ext uri="{BB962C8B-B14F-4D97-AF65-F5344CB8AC3E}">
        <p14:creationId xmlns:p14="http://schemas.microsoft.com/office/powerpoint/2010/main" val="3574148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 chuyển con trỏ tệp (tt)</a:t>
            </a:r>
            <a:endParaRPr lang="vi-VN"/>
          </a:p>
        </p:txBody>
      </p:sp>
      <p:sp>
        <p:nvSpPr>
          <p:cNvPr id="3" name="Content Placeholder 2"/>
          <p:cNvSpPr>
            <a:spLocks noGrp="1"/>
          </p:cNvSpPr>
          <p:nvPr>
            <p:ph idx="1"/>
          </p:nvPr>
        </p:nvSpPr>
        <p:spPr/>
        <p:txBody>
          <a:bodyPr/>
          <a:lstStyle/>
          <a:p>
            <a:r>
              <a:rPr lang="en-US"/>
              <a:t>Ví dụ: Truy cập trực tiếp để cập nhật dữ liệu</a:t>
            </a:r>
            <a:endParaRPr lang="vi-VN"/>
          </a:p>
        </p:txBody>
      </p:sp>
      <p:sp>
        <p:nvSpPr>
          <p:cNvPr id="4" name="Rectangle 3"/>
          <p:cNvSpPr/>
          <p:nvPr/>
        </p:nvSpPr>
        <p:spPr>
          <a:xfrm>
            <a:off x="1187624" y="1628800"/>
            <a:ext cx="7632848" cy="4708981"/>
          </a:xfrm>
          <a:prstGeom prst="rect">
            <a:avLst/>
          </a:prstGeom>
        </p:spPr>
        <p:txBody>
          <a:bodyPr wrap="square">
            <a:spAutoFit/>
          </a:bodyPr>
          <a:lstStyle/>
          <a:p>
            <a:r>
              <a:rPr lang="vi-VN" sz="2000" b="1">
                <a:latin typeface="Courier New" pitchFamily="49" charset="0"/>
                <a:cs typeface="Courier New" pitchFamily="49" charset="0"/>
              </a:rPr>
              <a:t>main()</a:t>
            </a:r>
          </a:p>
          <a:p>
            <a:r>
              <a:rPr lang="vi-VN" sz="2000" b="1">
                <a:latin typeface="Courier New" pitchFamily="49" charset="0"/>
                <a:cs typeface="Courier New" pitchFamily="49" charset="0"/>
              </a:rPr>
              <a:t>{</a:t>
            </a:r>
          </a:p>
          <a:p>
            <a:r>
              <a:rPr lang="vi-VN" sz="2000" b="1">
                <a:latin typeface="Courier New" pitchFamily="49" charset="0"/>
                <a:cs typeface="Courier New" pitchFamily="49" charset="0"/>
              </a:rPr>
              <a:t>FILE *f;</a:t>
            </a:r>
          </a:p>
          <a:p>
            <a:r>
              <a:rPr lang="vi-VN" sz="2000" b="1">
                <a:latin typeface="Courier New" pitchFamily="49" charset="0"/>
                <a:cs typeface="Courier New" pitchFamily="49" charset="0"/>
              </a:rPr>
              <a:t>int </a:t>
            </a:r>
            <a:r>
              <a:rPr lang="vi-VN" sz="2000" b="1">
                <a:solidFill>
                  <a:srgbClr val="0000FF"/>
                </a:solidFill>
                <a:latin typeface="Courier New" pitchFamily="49" charset="0"/>
                <a:cs typeface="Courier New" pitchFamily="49" charset="0"/>
              </a:rPr>
              <a:t>no</a:t>
            </a:r>
            <a:r>
              <a:rPr lang="vi-VN" sz="2000" b="1">
                <a:latin typeface="Courier New" pitchFamily="49" charset="0"/>
                <a:cs typeface="Courier New" pitchFamily="49" charset="0"/>
              </a:rPr>
              <a:t>,</a:t>
            </a:r>
            <a:r>
              <a:rPr lang="vi-VN" sz="2000" b="1">
                <a:solidFill>
                  <a:srgbClr val="000066"/>
                </a:solidFill>
                <a:latin typeface="Courier New" pitchFamily="49" charset="0"/>
                <a:cs typeface="Courier New" pitchFamily="49" charset="0"/>
              </a:rPr>
              <a:t>number</a:t>
            </a:r>
            <a:r>
              <a:rPr lang="vi-VN" sz="2000" b="1">
                <a:latin typeface="Courier New" pitchFamily="49" charset="0"/>
                <a:cs typeface="Courier New" pitchFamily="49" charset="0"/>
              </a:rPr>
              <a:t>;</a:t>
            </a:r>
          </a:p>
          <a:p>
            <a:r>
              <a:rPr lang="vi-VN" sz="2000" b="1">
                <a:latin typeface="Courier New" pitchFamily="49" charset="0"/>
                <a:cs typeface="Courier New" pitchFamily="49" charset="0"/>
              </a:rPr>
              <a:t>f=fopen("C:\\SN100.txt","r+b");</a:t>
            </a:r>
          </a:p>
          <a:p>
            <a:r>
              <a:rPr lang="vi-VN" sz="2000" b="1">
                <a:latin typeface="Courier New" pitchFamily="49" charset="0"/>
                <a:cs typeface="Courier New" pitchFamily="49" charset="0"/>
              </a:rPr>
              <a:t>do</a:t>
            </a:r>
          </a:p>
          <a:p>
            <a:r>
              <a:rPr lang="vi-VN" sz="2000" b="1">
                <a:latin typeface="Courier New" pitchFamily="49" charset="0"/>
                <a:cs typeface="Courier New" pitchFamily="49" charset="0"/>
              </a:rPr>
              <a:t>{	printf("Vi tri can cap nhat: ");</a:t>
            </a:r>
          </a:p>
          <a:p>
            <a:r>
              <a:rPr lang="vi-VN" sz="2000" b="1">
                <a:latin typeface="Courier New" pitchFamily="49" charset="0"/>
                <a:cs typeface="Courier New" pitchFamily="49" charset="0"/>
              </a:rPr>
              <a:t>	scanf("%d",&amp;</a:t>
            </a:r>
            <a:r>
              <a:rPr lang="vi-VN" sz="2000" b="1">
                <a:solidFill>
                  <a:srgbClr val="0000FF"/>
                </a:solidFill>
                <a:latin typeface="Courier New" pitchFamily="49" charset="0"/>
                <a:cs typeface="Courier New" pitchFamily="49" charset="0"/>
              </a:rPr>
              <a:t>no</a:t>
            </a:r>
            <a:r>
              <a:rPr lang="vi-VN" sz="2000" b="1">
                <a:latin typeface="Courier New" pitchFamily="49" charset="0"/>
                <a:cs typeface="Courier New" pitchFamily="49" charset="0"/>
              </a:rPr>
              <a:t>);</a:t>
            </a:r>
          </a:p>
          <a:p>
            <a:r>
              <a:rPr lang="vi-VN" sz="2000" b="1">
                <a:latin typeface="Courier New" pitchFamily="49" charset="0"/>
                <a:cs typeface="Courier New" pitchFamily="49" charset="0"/>
              </a:rPr>
              <a:t>	printf("Gia tri can cap nhat: ");</a:t>
            </a:r>
          </a:p>
          <a:p>
            <a:r>
              <a:rPr lang="vi-VN" sz="2000" b="1">
                <a:latin typeface="Courier New" pitchFamily="49" charset="0"/>
                <a:cs typeface="Courier New" pitchFamily="49" charset="0"/>
              </a:rPr>
              <a:t>	scanf("%d",&amp;</a:t>
            </a:r>
            <a:r>
              <a:rPr lang="vi-VN" sz="2000" b="1">
                <a:solidFill>
                  <a:srgbClr val="000066"/>
                </a:solidFill>
                <a:latin typeface="Courier New" pitchFamily="49" charset="0"/>
                <a:cs typeface="Courier New" pitchFamily="49" charset="0"/>
              </a:rPr>
              <a:t>number</a:t>
            </a:r>
            <a:r>
              <a:rPr lang="vi-VN" sz="2000" b="1">
                <a:latin typeface="Courier New" pitchFamily="49" charset="0"/>
                <a:cs typeface="Courier New" pitchFamily="49" charset="0"/>
              </a:rPr>
              <a:t>);</a:t>
            </a:r>
          </a:p>
          <a:p>
            <a:r>
              <a:rPr lang="vi-VN" sz="2000" b="1">
                <a:latin typeface="Courier New" pitchFamily="49" charset="0"/>
                <a:cs typeface="Courier New" pitchFamily="49" charset="0"/>
              </a:rPr>
              <a:t>	if (</a:t>
            </a:r>
            <a:r>
              <a:rPr lang="vi-VN" sz="2000" b="1">
                <a:solidFill>
                  <a:srgbClr val="0000FF"/>
                </a:solidFill>
                <a:latin typeface="Courier New" pitchFamily="49" charset="0"/>
                <a:cs typeface="Courier New" pitchFamily="49" charset="0"/>
              </a:rPr>
              <a:t>no</a:t>
            </a:r>
            <a:r>
              <a:rPr lang="vi-VN" sz="2000" b="1">
                <a:latin typeface="Courier New" pitchFamily="49" charset="0"/>
                <a:cs typeface="Courier New" pitchFamily="49" charset="0"/>
              </a:rPr>
              <a:t>&gt;0)</a:t>
            </a:r>
          </a:p>
          <a:p>
            <a:r>
              <a:rPr lang="vi-VN" sz="2000" b="1">
                <a:latin typeface="Courier New" pitchFamily="49" charset="0"/>
                <a:cs typeface="Courier New" pitchFamily="49" charset="0"/>
              </a:rPr>
              <a:t>	{</a:t>
            </a:r>
            <a:r>
              <a:rPr lang="vi-VN" sz="2000" b="1">
                <a:solidFill>
                  <a:srgbClr val="FF0000"/>
                </a:solidFill>
                <a:latin typeface="Courier New" pitchFamily="49" charset="0"/>
                <a:cs typeface="Courier New" pitchFamily="49" charset="0"/>
              </a:rPr>
              <a:t>fseek</a:t>
            </a:r>
            <a:r>
              <a:rPr lang="vi-VN" sz="2000" b="1">
                <a:latin typeface="Courier New" pitchFamily="49" charset="0"/>
                <a:cs typeface="Courier New" pitchFamily="49" charset="0"/>
              </a:rPr>
              <a:t>(f,sizeof(int)*(</a:t>
            </a:r>
            <a:r>
              <a:rPr lang="vi-VN" sz="2000" b="1">
                <a:solidFill>
                  <a:srgbClr val="0000FF"/>
                </a:solidFill>
                <a:latin typeface="Courier New" pitchFamily="49" charset="0"/>
                <a:cs typeface="Courier New" pitchFamily="49" charset="0"/>
              </a:rPr>
              <a:t>no</a:t>
            </a:r>
            <a:r>
              <a:rPr lang="vi-VN" sz="2000" b="1">
                <a:latin typeface="Courier New" pitchFamily="49" charset="0"/>
                <a:cs typeface="Courier New" pitchFamily="49" charset="0"/>
              </a:rPr>
              <a:t>-1),SEEK_SET);</a:t>
            </a:r>
          </a:p>
          <a:p>
            <a:r>
              <a:rPr lang="vi-VN" sz="2000" b="1">
                <a:latin typeface="Courier New" pitchFamily="49" charset="0"/>
                <a:cs typeface="Courier New" pitchFamily="49" charset="0"/>
              </a:rPr>
              <a:t>	</a:t>
            </a:r>
            <a:r>
              <a:rPr lang="vi-VN" sz="2000" b="1">
                <a:solidFill>
                  <a:srgbClr val="FF0000"/>
                </a:solidFill>
                <a:latin typeface="Courier New" pitchFamily="49" charset="0"/>
                <a:cs typeface="Courier New" pitchFamily="49" charset="0"/>
              </a:rPr>
              <a:t>fwrite</a:t>
            </a:r>
            <a:r>
              <a:rPr lang="vi-VN" sz="2000" b="1">
                <a:latin typeface="Courier New" pitchFamily="49" charset="0"/>
                <a:cs typeface="Courier New" pitchFamily="49" charset="0"/>
              </a:rPr>
              <a:t>(&amp;</a:t>
            </a:r>
            <a:r>
              <a:rPr lang="vi-VN" sz="2000" b="1">
                <a:solidFill>
                  <a:srgbClr val="000066"/>
                </a:solidFill>
                <a:latin typeface="Courier New" pitchFamily="49" charset="0"/>
                <a:cs typeface="Courier New" pitchFamily="49" charset="0"/>
              </a:rPr>
              <a:t>number</a:t>
            </a:r>
            <a:r>
              <a:rPr lang="vi-VN" sz="2000" b="1">
                <a:latin typeface="Courier New" pitchFamily="49" charset="0"/>
                <a:cs typeface="Courier New" pitchFamily="49" charset="0"/>
              </a:rPr>
              <a:t>,sizeof(int),1,f);}</a:t>
            </a:r>
          </a:p>
          <a:p>
            <a:r>
              <a:rPr lang="vi-VN" sz="2000" b="1">
                <a:latin typeface="Courier New" pitchFamily="49" charset="0"/>
                <a:cs typeface="Courier New" pitchFamily="49" charset="0"/>
              </a:rPr>
              <a:t>} while (</a:t>
            </a:r>
            <a:r>
              <a:rPr lang="vi-VN" sz="2000" b="1">
                <a:solidFill>
                  <a:srgbClr val="0000FF"/>
                </a:solidFill>
                <a:latin typeface="Courier New" pitchFamily="49" charset="0"/>
                <a:cs typeface="Courier New" pitchFamily="49" charset="0"/>
              </a:rPr>
              <a:t>no</a:t>
            </a:r>
            <a:r>
              <a:rPr lang="vi-VN" sz="2000" b="1">
                <a:latin typeface="Courier New" pitchFamily="49" charset="0"/>
                <a:cs typeface="Courier New" pitchFamily="49" charset="0"/>
              </a:rPr>
              <a:t>!=0);</a:t>
            </a:r>
          </a:p>
          <a:p>
            <a:r>
              <a:rPr lang="vi-VN" sz="2000" b="1">
                <a:latin typeface="Courier New" pitchFamily="49" charset="0"/>
                <a:cs typeface="Courier New" pitchFamily="49" charset="0"/>
              </a:rPr>
              <a:t>fclose(f);</a:t>
            </a:r>
          </a:p>
        </p:txBody>
      </p:sp>
      <p:sp>
        <p:nvSpPr>
          <p:cNvPr id="5" name="Rectangle 4"/>
          <p:cNvSpPr>
            <a:spLocks/>
          </p:cNvSpPr>
          <p:nvPr/>
        </p:nvSpPr>
        <p:spPr bwMode="auto">
          <a:xfrm>
            <a:off x="0" y="5040738"/>
            <a:ext cx="9128125" cy="599728"/>
          </a:xfrm>
          <a:prstGeom prst="rect">
            <a:avLst/>
          </a:prstGeom>
          <a:solidFill>
            <a:srgbClr val="0099FF">
              <a:alpha val="20000"/>
            </a:srgbClr>
          </a:solidFill>
          <a:ln w="9525" algn="ctr">
            <a:noFill/>
            <a:miter lim="800000"/>
            <a:headEnd/>
            <a:tailEnd/>
          </a:ln>
        </p:spPr>
        <p:txBody>
          <a:bodyPr/>
          <a:lstStyle/>
          <a:p>
            <a:endParaRPr lang="en-US"/>
          </a:p>
        </p:txBody>
      </p:sp>
      <p:sp>
        <p:nvSpPr>
          <p:cNvPr id="6" name="Date Placeholder 5"/>
          <p:cNvSpPr>
            <a:spLocks noGrp="1"/>
          </p:cNvSpPr>
          <p:nvPr>
            <p:ph type="dt" sz="half" idx="10"/>
          </p:nvPr>
        </p:nvSpPr>
        <p:spPr/>
        <p:txBody>
          <a:bodyPr/>
          <a:lstStyle/>
          <a:p>
            <a:fld id="{25EB4F06-9F43-475C-BD4E-AED7D8791808}" type="datetime1">
              <a:rPr lang="vi-VN" smtClean="0"/>
              <a:t>14/01/2024</a:t>
            </a:fld>
            <a:endParaRPr lang="vi-VN"/>
          </a:p>
        </p:txBody>
      </p:sp>
      <p:sp>
        <p:nvSpPr>
          <p:cNvPr id="7" name="Footer Placeholder 6"/>
          <p:cNvSpPr>
            <a:spLocks noGrp="1"/>
          </p:cNvSpPr>
          <p:nvPr>
            <p:ph type="ftr" sz="quarter" idx="11"/>
          </p:nvPr>
        </p:nvSpPr>
        <p:spPr/>
        <p:txBody>
          <a:bodyPr/>
          <a:lstStyle/>
          <a:p>
            <a:r>
              <a:rPr lang="vi-VN"/>
              <a:t>Chương 9-Kiểu dữ liệu tệp</a:t>
            </a:r>
          </a:p>
        </p:txBody>
      </p:sp>
      <p:sp>
        <p:nvSpPr>
          <p:cNvPr id="9" name="Slide Number Placeholder 8"/>
          <p:cNvSpPr>
            <a:spLocks noGrp="1"/>
          </p:cNvSpPr>
          <p:nvPr>
            <p:ph type="sldNum" sz="quarter" idx="12"/>
          </p:nvPr>
        </p:nvSpPr>
        <p:spPr/>
        <p:txBody>
          <a:bodyPr/>
          <a:lstStyle/>
          <a:p>
            <a:fld id="{5AB95402-1E0D-474E-8D8C-CBE7F053639E}" type="slidenum">
              <a:rPr lang="vi-VN" smtClean="0"/>
              <a:pPr/>
              <a:t>20</a:t>
            </a:fld>
            <a:r>
              <a:rPr lang="en-US"/>
              <a:t>/32</a:t>
            </a:r>
            <a:endParaRPr lang="vi-VN"/>
          </a:p>
        </p:txBody>
      </p:sp>
    </p:spTree>
    <p:extLst>
      <p:ext uri="{BB962C8B-B14F-4D97-AF65-F5344CB8AC3E}">
        <p14:creationId xmlns:p14="http://schemas.microsoft.com/office/powerpoint/2010/main" val="163586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 Quản lý sinh viên</a:t>
            </a:r>
          </a:p>
        </p:txBody>
      </p:sp>
      <p:sp>
        <p:nvSpPr>
          <p:cNvPr id="3" name="Content Placeholder 2"/>
          <p:cNvSpPr>
            <a:spLocks noGrp="1"/>
          </p:cNvSpPr>
          <p:nvPr>
            <p:ph idx="1"/>
          </p:nvPr>
        </p:nvSpPr>
        <p:spPr/>
        <p:txBody>
          <a:bodyPr/>
          <a:lstStyle/>
          <a:p>
            <a:r>
              <a:rPr lang="vi-VN"/>
              <a:t>Viết chương trình quản lý sinh viên</a:t>
            </a:r>
          </a:p>
          <a:p>
            <a:pPr lvl="1"/>
            <a:r>
              <a:rPr lang="vi-VN"/>
              <a:t>Mỗi sinh viên cần quản lý ít nhất 2 thông tin: mã sinh viên và họ tên. </a:t>
            </a:r>
          </a:p>
          <a:p>
            <a:pPr lvl="1"/>
            <a:r>
              <a:rPr lang="vi-VN"/>
              <a:t>Viết chương trình cho phép lựa chọn các chức năng: </a:t>
            </a:r>
          </a:p>
          <a:p>
            <a:pPr lvl="2"/>
            <a:r>
              <a:rPr lang="vi-VN" sz="2200"/>
              <a:t>Nhập danh sách sinh viên từ bàn phím rồi ghi lên tập tin SinhVien.dat</a:t>
            </a:r>
          </a:p>
          <a:p>
            <a:pPr lvl="2"/>
            <a:r>
              <a:rPr lang="vi-VN" sz="2200"/>
              <a:t>Đọc dữ liệu từ tập tin SinhVien.dat rồi hiển thị danh sách lên màn hình </a:t>
            </a:r>
          </a:p>
          <a:p>
            <a:pPr lvl="2"/>
            <a:r>
              <a:rPr lang="vi-VN" sz="2200"/>
              <a:t>Tìm kiếm họ tên của một sinh viên nào đó dựa vào mã sinh viên nhập từ bàn phím.</a:t>
            </a:r>
          </a:p>
        </p:txBody>
      </p:sp>
      <p:sp>
        <p:nvSpPr>
          <p:cNvPr id="4" name="Date Placeholder 3"/>
          <p:cNvSpPr>
            <a:spLocks noGrp="1"/>
          </p:cNvSpPr>
          <p:nvPr>
            <p:ph type="dt" sz="half" idx="10"/>
          </p:nvPr>
        </p:nvSpPr>
        <p:spPr/>
        <p:txBody>
          <a:bodyPr/>
          <a:lstStyle/>
          <a:p>
            <a:fld id="{3A2ACF7F-54DE-4507-B404-C9ED7052CF82}"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21</a:t>
            </a:fld>
            <a:r>
              <a:rPr lang="en-US"/>
              <a:t>/32</a:t>
            </a:r>
            <a:endParaRPr lang="vi-VN"/>
          </a:p>
        </p:txBody>
      </p:sp>
    </p:spTree>
    <p:extLst>
      <p:ext uri="{BB962C8B-B14F-4D97-AF65-F5344CB8AC3E}">
        <p14:creationId xmlns:p14="http://schemas.microsoft.com/office/powerpoint/2010/main" val="1676100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 Quản lý sinh viên (tt)</a:t>
            </a:r>
          </a:p>
        </p:txBody>
      </p:sp>
      <p:sp>
        <p:nvSpPr>
          <p:cNvPr id="3" name="Content Placeholder 2"/>
          <p:cNvSpPr>
            <a:spLocks noGrp="1"/>
          </p:cNvSpPr>
          <p:nvPr>
            <p:ph idx="1"/>
          </p:nvPr>
        </p:nvSpPr>
        <p:spPr/>
        <p:txBody>
          <a:bodyPr/>
          <a:lstStyle/>
          <a:p>
            <a:endParaRPr lang="vi-VN"/>
          </a:p>
        </p:txBody>
      </p:sp>
      <p:sp>
        <p:nvSpPr>
          <p:cNvPr id="5" name="Rectangle 4"/>
          <p:cNvSpPr/>
          <p:nvPr/>
        </p:nvSpPr>
        <p:spPr>
          <a:xfrm>
            <a:off x="757955" y="1124744"/>
            <a:ext cx="7488832" cy="5632311"/>
          </a:xfrm>
          <a:prstGeom prst="rect">
            <a:avLst/>
          </a:prstGeom>
        </p:spPr>
        <p:txBody>
          <a:bodyPr wrap="square">
            <a:spAutoFit/>
          </a:bodyPr>
          <a:lstStyle/>
          <a:p>
            <a:r>
              <a:rPr lang="vi-VN" sz="2000" b="1">
                <a:latin typeface="Courier New" pitchFamily="49" charset="0"/>
                <a:cs typeface="Courier New" pitchFamily="49" charset="0"/>
              </a:rPr>
              <a:t>#include&lt;stdio.h&gt;                                        </a:t>
            </a:r>
          </a:p>
          <a:p>
            <a:r>
              <a:rPr lang="vi-VN" sz="2000" b="1">
                <a:latin typeface="Courier New" pitchFamily="49" charset="0"/>
                <a:cs typeface="Courier New" pitchFamily="49" charset="0"/>
              </a:rPr>
              <a:t>#include&lt;conio.h&gt;                                        </a:t>
            </a:r>
          </a:p>
          <a:p>
            <a:r>
              <a:rPr lang="vi-VN" sz="2000" b="1">
                <a:latin typeface="Courier New" pitchFamily="49" charset="0"/>
                <a:cs typeface="Courier New" pitchFamily="49" charset="0"/>
              </a:rPr>
              <a:t>#include&lt;string.h&gt;                                       </a:t>
            </a:r>
          </a:p>
          <a:p>
            <a:r>
              <a:rPr lang="vi-VN" sz="2000" b="1">
                <a:latin typeface="Courier New" pitchFamily="49" charset="0"/>
                <a:cs typeface="Courier New" pitchFamily="49" charset="0"/>
              </a:rPr>
              <a:t>typedef struct                                           </a:t>
            </a:r>
          </a:p>
          <a:p>
            <a:r>
              <a:rPr lang="vi-VN" sz="2000" b="1">
                <a:latin typeface="Courier New" pitchFamily="49" charset="0"/>
                <a:cs typeface="Courier New" pitchFamily="49" charset="0"/>
              </a:rPr>
              <a:t>{                                                        </a:t>
            </a:r>
          </a:p>
          <a:p>
            <a:r>
              <a:rPr lang="vi-VN" sz="2000" b="1">
                <a:latin typeface="Courier New" pitchFamily="49" charset="0"/>
                <a:cs typeface="Courier New" pitchFamily="49" charset="0"/>
              </a:rPr>
              <a:t>	char Ma[10];                                            </a:t>
            </a:r>
          </a:p>
          <a:p>
            <a:r>
              <a:rPr lang="vi-VN" sz="2000" b="1">
                <a:latin typeface="Courier New" pitchFamily="49" charset="0"/>
                <a:cs typeface="Courier New" pitchFamily="49" charset="0"/>
              </a:rPr>
              <a:t>	char HoTen[40];                                         </a:t>
            </a:r>
          </a:p>
          <a:p>
            <a:r>
              <a:rPr lang="vi-VN" sz="2000" b="1">
                <a:latin typeface="Courier New" pitchFamily="49" charset="0"/>
                <a:cs typeface="Courier New" pitchFamily="49" charset="0"/>
              </a:rPr>
              <a:t>} SinhVien;                                              </a:t>
            </a:r>
          </a:p>
          <a:p>
            <a:r>
              <a:rPr lang="vi-VN" sz="2000" b="1">
                <a:latin typeface="Courier New" pitchFamily="49" charset="0"/>
                <a:cs typeface="Courier New" pitchFamily="49" charset="0"/>
              </a:rPr>
              <a:t>void WriteFile(char *FileName)                           </a:t>
            </a:r>
          </a:p>
          <a:p>
            <a:r>
              <a:rPr lang="vi-VN" sz="2000" b="1">
                <a:latin typeface="Courier New" pitchFamily="49" charset="0"/>
                <a:cs typeface="Courier New" pitchFamily="49" charset="0"/>
              </a:rPr>
              <a:t>{                                                        </a:t>
            </a:r>
          </a:p>
          <a:p>
            <a:r>
              <a:rPr lang="vi-VN" sz="2000" b="1">
                <a:latin typeface="Courier New" pitchFamily="49" charset="0"/>
                <a:cs typeface="Courier New" pitchFamily="49" charset="0"/>
              </a:rPr>
              <a:t>	FILE *f;                                                </a:t>
            </a:r>
          </a:p>
          <a:p>
            <a:r>
              <a:rPr lang="vi-VN" sz="2000" b="1">
                <a:latin typeface="Courier New" pitchFamily="49" charset="0"/>
                <a:cs typeface="Courier New" pitchFamily="49" charset="0"/>
              </a:rPr>
              <a:t>	int n,i;                                                </a:t>
            </a:r>
          </a:p>
          <a:p>
            <a:r>
              <a:rPr lang="vi-VN" sz="2000" b="1">
                <a:latin typeface="Courier New" pitchFamily="49" charset="0"/>
                <a:cs typeface="Courier New" pitchFamily="49" charset="0"/>
              </a:rPr>
              <a:t>	SinhVien sv;                                            </a:t>
            </a:r>
          </a:p>
          <a:p>
            <a:r>
              <a:rPr lang="vi-VN" sz="2000" b="1">
                <a:latin typeface="Courier New" pitchFamily="49" charset="0"/>
                <a:cs typeface="Courier New" pitchFamily="49" charset="0"/>
              </a:rPr>
              <a:t>	f=fopen(FileName,"wb");                                 </a:t>
            </a:r>
          </a:p>
          <a:p>
            <a:r>
              <a:rPr lang="vi-VN" sz="2000" b="1">
                <a:latin typeface="Courier New" pitchFamily="49" charset="0"/>
                <a:cs typeface="Courier New" pitchFamily="49" charset="0"/>
              </a:rPr>
              <a:t>	printf("Nhap bao nhieu sinh vien?");</a:t>
            </a:r>
          </a:p>
          <a:p>
            <a:r>
              <a:rPr lang="vi-VN" sz="2000" b="1">
                <a:latin typeface="Courier New" pitchFamily="49" charset="0"/>
                <a:cs typeface="Courier New" pitchFamily="49" charset="0"/>
              </a:rPr>
              <a:t>	scanf("%d",&amp;n);    </a:t>
            </a:r>
          </a:p>
          <a:p>
            <a:r>
              <a:rPr lang="vi-VN" sz="2000" b="1">
                <a:latin typeface="Courier New" pitchFamily="49" charset="0"/>
                <a:cs typeface="Courier New" pitchFamily="49" charset="0"/>
              </a:rPr>
              <a:t>	fflush(stdin);                                          </a:t>
            </a:r>
          </a:p>
          <a:p>
            <a:r>
              <a:rPr lang="vi-VN" sz="2000" b="1">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D91FCA5C-CBBC-4167-8606-10060B8DDB1A}"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9-Kiểu dữ liệu tệp</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22</a:t>
            </a:fld>
            <a:r>
              <a:rPr lang="en-US"/>
              <a:t>/32</a:t>
            </a:r>
            <a:endParaRPr lang="vi-VN"/>
          </a:p>
        </p:txBody>
      </p:sp>
    </p:spTree>
    <p:extLst>
      <p:ext uri="{BB962C8B-B14F-4D97-AF65-F5344CB8AC3E}">
        <p14:creationId xmlns:p14="http://schemas.microsoft.com/office/powerpoint/2010/main" val="3637060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 Quản lý sinh viên (tt)</a:t>
            </a:r>
          </a:p>
        </p:txBody>
      </p:sp>
      <p:sp>
        <p:nvSpPr>
          <p:cNvPr id="3" name="Content Placeholder 2"/>
          <p:cNvSpPr>
            <a:spLocks noGrp="1"/>
          </p:cNvSpPr>
          <p:nvPr>
            <p:ph idx="1"/>
          </p:nvPr>
        </p:nvSpPr>
        <p:spPr/>
        <p:txBody>
          <a:bodyPr/>
          <a:lstStyle/>
          <a:p>
            <a:endParaRPr lang="vi-VN"/>
          </a:p>
        </p:txBody>
      </p:sp>
      <p:sp>
        <p:nvSpPr>
          <p:cNvPr id="4" name="Rectangle 3"/>
          <p:cNvSpPr/>
          <p:nvPr/>
        </p:nvSpPr>
        <p:spPr>
          <a:xfrm>
            <a:off x="827584" y="1124744"/>
            <a:ext cx="7848872" cy="5355312"/>
          </a:xfrm>
          <a:prstGeom prst="rect">
            <a:avLst/>
          </a:prstGeom>
        </p:spPr>
        <p:txBody>
          <a:bodyPr wrap="square">
            <a:spAutoFit/>
          </a:bodyPr>
          <a:lstStyle/>
          <a:p>
            <a:r>
              <a:rPr lang="vi-VN" b="1">
                <a:latin typeface="Courier New" pitchFamily="49" charset="0"/>
                <a:cs typeface="Courier New" pitchFamily="49" charset="0"/>
              </a:rPr>
              <a:t>for(i=1;i&lt;=n;i++)                                       </a:t>
            </a:r>
          </a:p>
          <a:p>
            <a:r>
              <a:rPr lang="vi-VN" b="1">
                <a:latin typeface="Courier New" pitchFamily="49" charset="0"/>
                <a:cs typeface="Courier New" pitchFamily="49" charset="0"/>
              </a:rPr>
              <a:t>	{                                                       </a:t>
            </a:r>
          </a:p>
          <a:p>
            <a:r>
              <a:rPr lang="vi-VN" b="1">
                <a:latin typeface="Courier New" pitchFamily="49" charset="0"/>
                <a:cs typeface="Courier New" pitchFamily="49" charset="0"/>
              </a:rPr>
              <a:t>		printf("Sinh vien thu %i\n",i);                        </a:t>
            </a:r>
          </a:p>
          <a:p>
            <a:r>
              <a:rPr lang="vi-VN" b="1">
                <a:latin typeface="Courier New" pitchFamily="49" charset="0"/>
                <a:cs typeface="Courier New" pitchFamily="49" charset="0"/>
              </a:rPr>
              <a:t>		printf(" - MSSV: ");gets(sv.Ma);                       </a:t>
            </a:r>
          </a:p>
          <a:p>
            <a:r>
              <a:rPr lang="vi-VN" b="1">
                <a:latin typeface="Courier New" pitchFamily="49" charset="0"/>
                <a:cs typeface="Courier New" pitchFamily="49" charset="0"/>
              </a:rPr>
              <a:t>		printf(" - Ho ten: ");gets(sv.HoTen);                  </a:t>
            </a:r>
          </a:p>
          <a:p>
            <a:r>
              <a:rPr lang="vi-VN" b="1">
                <a:latin typeface="Courier New" pitchFamily="49" charset="0"/>
                <a:cs typeface="Courier New" pitchFamily="49" charset="0"/>
              </a:rPr>
              <a:t>		fwrite(&amp;sv,sizeof(sv),1,f);                            </a:t>
            </a:r>
          </a:p>
          <a:p>
            <a:r>
              <a:rPr lang="vi-VN" b="1">
                <a:latin typeface="Courier New" pitchFamily="49" charset="0"/>
                <a:cs typeface="Courier New" pitchFamily="49" charset="0"/>
              </a:rPr>
              <a:t>		fflush(stdin);                                         </a:t>
            </a:r>
          </a:p>
          <a:p>
            <a:r>
              <a:rPr lang="vi-VN" b="1">
                <a:latin typeface="Courier New" pitchFamily="49" charset="0"/>
                <a:cs typeface="Courier New" pitchFamily="49" charset="0"/>
              </a:rPr>
              <a:t>	}                                                       </a:t>
            </a:r>
          </a:p>
          <a:p>
            <a:r>
              <a:rPr lang="vi-VN" b="1">
                <a:latin typeface="Courier New" pitchFamily="49" charset="0"/>
                <a:cs typeface="Courier New" pitchFamily="49" charset="0"/>
              </a:rPr>
              <a:t>	fclose(f);                                              </a:t>
            </a:r>
          </a:p>
          <a:p>
            <a:r>
              <a:rPr lang="vi-VN" b="1">
                <a:latin typeface="Courier New" pitchFamily="49" charset="0"/>
                <a:cs typeface="Courier New" pitchFamily="49" charset="0"/>
              </a:rPr>
              <a:t>	printf("Bam phim bat ky de tiep tuc");                  </a:t>
            </a:r>
          </a:p>
          <a:p>
            <a:r>
              <a:rPr lang="vi-VN" b="1">
                <a:latin typeface="Courier New" pitchFamily="49" charset="0"/>
                <a:cs typeface="Courier New" pitchFamily="49" charset="0"/>
              </a:rPr>
              <a:t>	getch();                                                </a:t>
            </a:r>
          </a:p>
          <a:p>
            <a:r>
              <a:rPr lang="vi-VN" b="1">
                <a:latin typeface="Courier New" pitchFamily="49" charset="0"/>
                <a:cs typeface="Courier New" pitchFamily="49" charset="0"/>
              </a:rPr>
              <a:t>}</a:t>
            </a:r>
          </a:p>
          <a:p>
            <a:r>
              <a:rPr lang="vi-VN" b="1">
                <a:latin typeface="Courier New" pitchFamily="49" charset="0"/>
                <a:cs typeface="Courier New" pitchFamily="49" charset="0"/>
              </a:rPr>
              <a:t>void ReadFile(char *FileName)                 </a:t>
            </a:r>
          </a:p>
          <a:p>
            <a:r>
              <a:rPr lang="vi-VN" b="1">
                <a:latin typeface="Courier New" pitchFamily="49" charset="0"/>
                <a:cs typeface="Courier New" pitchFamily="49" charset="0"/>
              </a:rPr>
              <a:t>{                                             </a:t>
            </a:r>
          </a:p>
          <a:p>
            <a:r>
              <a:rPr lang="vi-VN" b="1">
                <a:latin typeface="Courier New" pitchFamily="49" charset="0"/>
                <a:cs typeface="Courier New" pitchFamily="49" charset="0"/>
              </a:rPr>
              <a:t>	FILE *f;                                     </a:t>
            </a:r>
          </a:p>
          <a:p>
            <a:r>
              <a:rPr lang="vi-VN" b="1">
                <a:latin typeface="Courier New" pitchFamily="49" charset="0"/>
                <a:cs typeface="Courier New" pitchFamily="49" charset="0"/>
              </a:rPr>
              <a:t>	SinhVien sv;                                 </a:t>
            </a:r>
          </a:p>
          <a:p>
            <a:r>
              <a:rPr lang="vi-VN" b="1">
                <a:latin typeface="Courier New" pitchFamily="49" charset="0"/>
                <a:cs typeface="Courier New" pitchFamily="49" charset="0"/>
              </a:rPr>
              <a:t>	f=fopen(FileName,"rb");                      </a:t>
            </a:r>
          </a:p>
          <a:p>
            <a:r>
              <a:rPr lang="vi-VN" b="1">
                <a:latin typeface="Courier New" pitchFamily="49" charset="0"/>
                <a:cs typeface="Courier New" pitchFamily="49" charset="0"/>
              </a:rPr>
              <a:t>	printf(" MSSV | Ho va ten\n");               </a:t>
            </a:r>
          </a:p>
          <a:p>
            <a:r>
              <a:rPr lang="vi-VN" b="1">
                <a:latin typeface="Courier New" pitchFamily="49" charset="0"/>
                <a:cs typeface="Courier New" pitchFamily="49" charset="0"/>
              </a:rPr>
              <a:t>	printf("-------------------\n");             	</a:t>
            </a:r>
          </a:p>
        </p:txBody>
      </p:sp>
      <p:sp>
        <p:nvSpPr>
          <p:cNvPr id="5" name="Date Placeholder 4"/>
          <p:cNvSpPr>
            <a:spLocks noGrp="1"/>
          </p:cNvSpPr>
          <p:nvPr>
            <p:ph type="dt" sz="half" idx="10"/>
          </p:nvPr>
        </p:nvSpPr>
        <p:spPr/>
        <p:txBody>
          <a:bodyPr/>
          <a:lstStyle/>
          <a:p>
            <a:fld id="{A464FC14-5D49-4661-9B04-5A8A05056FC9}"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9-Kiểu dữ liệu tệp</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23</a:t>
            </a:fld>
            <a:r>
              <a:rPr lang="en-US"/>
              <a:t>/32</a:t>
            </a:r>
            <a:endParaRPr lang="vi-VN"/>
          </a:p>
        </p:txBody>
      </p:sp>
    </p:spTree>
    <p:extLst>
      <p:ext uri="{BB962C8B-B14F-4D97-AF65-F5344CB8AC3E}">
        <p14:creationId xmlns:p14="http://schemas.microsoft.com/office/powerpoint/2010/main" val="130441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 Quản lý sinh viên (tt)</a:t>
            </a:r>
          </a:p>
        </p:txBody>
      </p:sp>
      <p:sp>
        <p:nvSpPr>
          <p:cNvPr id="3" name="Content Placeholder 2"/>
          <p:cNvSpPr>
            <a:spLocks noGrp="1"/>
          </p:cNvSpPr>
          <p:nvPr>
            <p:ph idx="1"/>
          </p:nvPr>
        </p:nvSpPr>
        <p:spPr/>
        <p:txBody>
          <a:bodyPr/>
          <a:lstStyle/>
          <a:p>
            <a:endParaRPr lang="vi-VN"/>
          </a:p>
        </p:txBody>
      </p:sp>
      <p:sp>
        <p:nvSpPr>
          <p:cNvPr id="4" name="Rectangle 3"/>
          <p:cNvSpPr/>
          <p:nvPr/>
        </p:nvSpPr>
        <p:spPr>
          <a:xfrm>
            <a:off x="738630" y="1124744"/>
            <a:ext cx="8009834" cy="5355312"/>
          </a:xfrm>
          <a:prstGeom prst="rect">
            <a:avLst/>
          </a:prstGeom>
        </p:spPr>
        <p:txBody>
          <a:bodyPr wrap="square">
            <a:spAutoFit/>
          </a:bodyPr>
          <a:lstStyle/>
          <a:p>
            <a:r>
              <a:rPr lang="vi-VN" b="1">
                <a:latin typeface="Courier New" pitchFamily="49" charset="0"/>
                <a:cs typeface="Courier New" pitchFamily="49" charset="0"/>
              </a:rPr>
              <a:t>fread(&amp;sv,sizeof(sv),1,f);                   </a:t>
            </a:r>
          </a:p>
          <a:p>
            <a:r>
              <a:rPr lang="vi-VN" b="1">
                <a:latin typeface="Courier New" pitchFamily="49" charset="0"/>
                <a:cs typeface="Courier New" pitchFamily="49" charset="0"/>
              </a:rPr>
              <a:t>	while (!feof(f))                             </a:t>
            </a:r>
          </a:p>
          <a:p>
            <a:r>
              <a:rPr lang="vi-VN" b="1">
                <a:latin typeface="Courier New" pitchFamily="49" charset="0"/>
                <a:cs typeface="Courier New" pitchFamily="49" charset="0"/>
              </a:rPr>
              <a:t>	{	printf(" %s   | %s\n",sv.Ma,sv.HoTen);      </a:t>
            </a:r>
          </a:p>
          <a:p>
            <a:r>
              <a:rPr lang="vi-VN" b="1">
                <a:latin typeface="Courier New" pitchFamily="49" charset="0"/>
                <a:cs typeface="Courier New" pitchFamily="49" charset="0"/>
              </a:rPr>
              <a:t>		fread(&amp;sv,sizeof(sv),1,f);                  </a:t>
            </a:r>
          </a:p>
          <a:p>
            <a:r>
              <a:rPr lang="vi-VN" b="1">
                <a:latin typeface="Courier New" pitchFamily="49" charset="0"/>
                <a:cs typeface="Courier New" pitchFamily="49" charset="0"/>
              </a:rPr>
              <a:t>	}                                            </a:t>
            </a:r>
          </a:p>
          <a:p>
            <a:r>
              <a:rPr lang="vi-VN" b="1">
                <a:latin typeface="Courier New" pitchFamily="49" charset="0"/>
                <a:cs typeface="Courier New" pitchFamily="49" charset="0"/>
              </a:rPr>
              <a:t>	fclose(f);                                   </a:t>
            </a:r>
          </a:p>
          <a:p>
            <a:r>
              <a:rPr lang="vi-VN" b="1">
                <a:latin typeface="Courier New" pitchFamily="49" charset="0"/>
                <a:cs typeface="Courier New" pitchFamily="49" charset="0"/>
              </a:rPr>
              <a:t>	printf("Bam phim bat ky de tiep tuc!!!");    </a:t>
            </a:r>
          </a:p>
          <a:p>
            <a:r>
              <a:rPr lang="vi-VN" b="1">
                <a:latin typeface="Courier New" pitchFamily="49" charset="0"/>
                <a:cs typeface="Courier New" pitchFamily="49" charset="0"/>
              </a:rPr>
              <a:t>	getch();                                     </a:t>
            </a:r>
          </a:p>
          <a:p>
            <a:r>
              <a:rPr lang="vi-VN" b="1">
                <a:latin typeface="Courier New" pitchFamily="49" charset="0"/>
                <a:cs typeface="Courier New" pitchFamily="49" charset="0"/>
              </a:rPr>
              <a:t>}</a:t>
            </a:r>
          </a:p>
          <a:p>
            <a:r>
              <a:rPr lang="vi-VN" b="1">
                <a:latin typeface="Courier New" pitchFamily="49" charset="0"/>
                <a:cs typeface="Courier New" pitchFamily="49" charset="0"/>
              </a:rPr>
              <a:t>void Search(char *FileName)                                          </a:t>
            </a:r>
          </a:p>
          <a:p>
            <a:r>
              <a:rPr lang="vi-VN" b="1">
                <a:latin typeface="Courier New" pitchFamily="49" charset="0"/>
                <a:cs typeface="Courier New" pitchFamily="49" charset="0"/>
              </a:rPr>
              <a:t>{                                                                    </a:t>
            </a:r>
          </a:p>
          <a:p>
            <a:r>
              <a:rPr lang="vi-VN" b="1">
                <a:latin typeface="Courier New" pitchFamily="49" charset="0"/>
                <a:cs typeface="Courier New" pitchFamily="49" charset="0"/>
              </a:rPr>
              <a:t>	char MSSV[10];                                                      </a:t>
            </a:r>
          </a:p>
          <a:p>
            <a:r>
              <a:rPr lang="vi-VN" b="1">
                <a:latin typeface="Courier New" pitchFamily="49" charset="0"/>
                <a:cs typeface="Courier New" pitchFamily="49" charset="0"/>
              </a:rPr>
              <a:t>	FILE *f;                                                            </a:t>
            </a:r>
          </a:p>
          <a:p>
            <a:r>
              <a:rPr lang="vi-VN" b="1">
                <a:latin typeface="Courier New" pitchFamily="49" charset="0"/>
                <a:cs typeface="Courier New" pitchFamily="49" charset="0"/>
              </a:rPr>
              <a:t>	int Found=0;                                                        </a:t>
            </a:r>
          </a:p>
          <a:p>
            <a:r>
              <a:rPr lang="vi-VN" b="1">
                <a:latin typeface="Courier New" pitchFamily="49" charset="0"/>
                <a:cs typeface="Courier New" pitchFamily="49" charset="0"/>
              </a:rPr>
              <a:t>	SinhVien sv;                                                        </a:t>
            </a:r>
          </a:p>
          <a:p>
            <a:r>
              <a:rPr lang="vi-VN" b="1">
                <a:latin typeface="Courier New" pitchFamily="49" charset="0"/>
                <a:cs typeface="Courier New" pitchFamily="49" charset="0"/>
              </a:rPr>
              <a:t>	fflush(stdin);                                                      </a:t>
            </a:r>
          </a:p>
          <a:p>
            <a:r>
              <a:rPr lang="vi-VN" b="1">
                <a:latin typeface="Courier New" pitchFamily="49" charset="0"/>
                <a:cs typeface="Courier New" pitchFamily="49" charset="0"/>
              </a:rPr>
              <a:t>	printf("Ma so sinh vien can tim: ");gets(MSSV);                     </a:t>
            </a:r>
          </a:p>
          <a:p>
            <a:r>
              <a:rPr lang="vi-VN" b="1">
                <a:latin typeface="Courier New" pitchFamily="49" charset="0"/>
                <a:cs typeface="Courier New" pitchFamily="49" charset="0"/>
              </a:rPr>
              <a:t>	f=fopen(FileName,"rb");                                             </a:t>
            </a:r>
          </a:p>
          <a:p>
            <a:r>
              <a:rPr lang="vi-VN" b="1">
                <a:latin typeface="Courier New" pitchFamily="49" charset="0"/>
                <a:cs typeface="Courier New" pitchFamily="49" charset="0"/>
              </a:rPr>
              <a:t>	</a:t>
            </a:r>
          </a:p>
        </p:txBody>
      </p:sp>
      <p:sp>
        <p:nvSpPr>
          <p:cNvPr id="5" name="Date Placeholder 4"/>
          <p:cNvSpPr>
            <a:spLocks noGrp="1"/>
          </p:cNvSpPr>
          <p:nvPr>
            <p:ph type="dt" sz="half" idx="10"/>
          </p:nvPr>
        </p:nvSpPr>
        <p:spPr/>
        <p:txBody>
          <a:bodyPr/>
          <a:lstStyle/>
          <a:p>
            <a:fld id="{8640827C-19CA-4765-8F00-955EAC5A0F48}"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9-Kiểu dữ liệu tệp</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24</a:t>
            </a:fld>
            <a:r>
              <a:rPr lang="en-US"/>
              <a:t>/32</a:t>
            </a:r>
            <a:endParaRPr lang="vi-VN"/>
          </a:p>
        </p:txBody>
      </p:sp>
    </p:spTree>
    <p:extLst>
      <p:ext uri="{BB962C8B-B14F-4D97-AF65-F5344CB8AC3E}">
        <p14:creationId xmlns:p14="http://schemas.microsoft.com/office/powerpoint/2010/main" val="2951207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 Quản lý sinh viên (tt)</a:t>
            </a:r>
          </a:p>
        </p:txBody>
      </p:sp>
      <p:sp>
        <p:nvSpPr>
          <p:cNvPr id="3" name="Content Placeholder 2"/>
          <p:cNvSpPr>
            <a:spLocks noGrp="1"/>
          </p:cNvSpPr>
          <p:nvPr>
            <p:ph idx="1"/>
          </p:nvPr>
        </p:nvSpPr>
        <p:spPr/>
        <p:txBody>
          <a:bodyPr/>
          <a:lstStyle/>
          <a:p>
            <a:endParaRPr lang="vi-VN"/>
          </a:p>
        </p:txBody>
      </p:sp>
      <p:sp>
        <p:nvSpPr>
          <p:cNvPr id="4" name="Rectangle 3"/>
          <p:cNvSpPr/>
          <p:nvPr/>
        </p:nvSpPr>
        <p:spPr>
          <a:xfrm>
            <a:off x="1151112" y="1268760"/>
            <a:ext cx="7992888" cy="4247317"/>
          </a:xfrm>
          <a:prstGeom prst="rect">
            <a:avLst/>
          </a:prstGeom>
        </p:spPr>
        <p:txBody>
          <a:bodyPr wrap="square">
            <a:spAutoFit/>
          </a:bodyPr>
          <a:lstStyle/>
          <a:p>
            <a:r>
              <a:rPr lang="vi-VN" b="1">
                <a:latin typeface="Courier New" pitchFamily="49" charset="0"/>
                <a:cs typeface="Courier New" pitchFamily="49" charset="0"/>
              </a:rPr>
              <a:t>while (!feof(f) &amp;&amp; Found==0)                                        </a:t>
            </a:r>
          </a:p>
          <a:p>
            <a:r>
              <a:rPr lang="vi-VN" b="1">
                <a:latin typeface="Courier New" pitchFamily="49" charset="0"/>
                <a:cs typeface="Courier New" pitchFamily="49" charset="0"/>
              </a:rPr>
              <a:t>	{                                                                   </a:t>
            </a:r>
          </a:p>
          <a:p>
            <a:r>
              <a:rPr lang="vi-VN" b="1">
                <a:latin typeface="Courier New" pitchFamily="49" charset="0"/>
                <a:cs typeface="Courier New" pitchFamily="49" charset="0"/>
              </a:rPr>
              <a:t>		fread(&amp;sv,sizeof(sv),1,f);                                         </a:t>
            </a:r>
          </a:p>
          <a:p>
            <a:r>
              <a:rPr lang="vi-VN" b="1">
                <a:latin typeface="Courier New" pitchFamily="49" charset="0"/>
                <a:cs typeface="Courier New" pitchFamily="49" charset="0"/>
              </a:rPr>
              <a:t>		if (strcmp(sv.Ma,MSSV)==0) Found=1;                                </a:t>
            </a:r>
          </a:p>
          <a:p>
            <a:r>
              <a:rPr lang="vi-VN" b="1">
                <a:latin typeface="Courier New" pitchFamily="49" charset="0"/>
                <a:cs typeface="Courier New" pitchFamily="49" charset="0"/>
              </a:rPr>
              <a:t>	}                                                                   </a:t>
            </a:r>
          </a:p>
          <a:p>
            <a:r>
              <a:rPr lang="vi-VN" b="1">
                <a:latin typeface="Courier New" pitchFamily="49" charset="0"/>
                <a:cs typeface="Courier New" pitchFamily="49" charset="0"/>
              </a:rPr>
              <a:t>	fclose(f);                                                          </a:t>
            </a:r>
          </a:p>
          <a:p>
            <a:r>
              <a:rPr lang="vi-VN" b="1">
                <a:latin typeface="Courier New" pitchFamily="49" charset="0"/>
                <a:cs typeface="Courier New" pitchFamily="49" charset="0"/>
              </a:rPr>
              <a:t>	if (Found == 1)                                                     </a:t>
            </a:r>
          </a:p>
          <a:p>
            <a:r>
              <a:rPr lang="vi-VN" b="1">
                <a:latin typeface="Courier New" pitchFamily="49" charset="0"/>
                <a:cs typeface="Courier New" pitchFamily="49" charset="0"/>
              </a:rPr>
              <a:t>		printf("Tim thay SV co ma %s. Ho ten la: %s",sv.Ma,sv.HoTen);      </a:t>
            </a:r>
          </a:p>
          <a:p>
            <a:r>
              <a:rPr lang="vi-VN" b="1">
                <a:latin typeface="Courier New" pitchFamily="49" charset="0"/>
                <a:cs typeface="Courier New" pitchFamily="49" charset="0"/>
              </a:rPr>
              <a:t>	else                                                                </a:t>
            </a:r>
          </a:p>
          <a:p>
            <a:r>
              <a:rPr lang="vi-VN" b="1">
                <a:latin typeface="Courier New" pitchFamily="49" charset="0"/>
                <a:cs typeface="Courier New" pitchFamily="49" charset="0"/>
              </a:rPr>
              <a:t>		printf("Tim khong thay sinh vien co ma %s",MSSV);                  </a:t>
            </a:r>
          </a:p>
          <a:p>
            <a:r>
              <a:rPr lang="vi-VN" b="1">
                <a:latin typeface="Courier New" pitchFamily="49" charset="0"/>
                <a:cs typeface="Courier New" pitchFamily="49" charset="0"/>
              </a:rPr>
              <a:t>	printf("\nBam phim bat ky de tiep tuc!!!");                         </a:t>
            </a:r>
          </a:p>
          <a:p>
            <a:r>
              <a:rPr lang="vi-VN" b="1">
                <a:latin typeface="Courier New" pitchFamily="49" charset="0"/>
                <a:cs typeface="Courier New" pitchFamily="49" charset="0"/>
              </a:rPr>
              <a:t>	getch();                                                            </a:t>
            </a:r>
          </a:p>
          <a:p>
            <a:r>
              <a:rPr lang="vi-VN" b="1">
                <a:latin typeface="Courier New" pitchFamily="49" charset="0"/>
                <a:cs typeface="Courier New" pitchFamily="49" charset="0"/>
              </a:rPr>
              <a:t>}                                                                    </a:t>
            </a:r>
          </a:p>
        </p:txBody>
      </p:sp>
      <p:sp>
        <p:nvSpPr>
          <p:cNvPr id="5" name="Date Placeholder 4"/>
          <p:cNvSpPr>
            <a:spLocks noGrp="1"/>
          </p:cNvSpPr>
          <p:nvPr>
            <p:ph type="dt" sz="half" idx="10"/>
          </p:nvPr>
        </p:nvSpPr>
        <p:spPr/>
        <p:txBody>
          <a:bodyPr/>
          <a:lstStyle/>
          <a:p>
            <a:fld id="{5F6C5A30-E519-47AA-B1C8-BC5DC5712A12}"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9-Kiểu dữ liệu tệp</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25</a:t>
            </a:fld>
            <a:r>
              <a:rPr lang="en-US"/>
              <a:t>/32</a:t>
            </a:r>
            <a:endParaRPr lang="vi-VN"/>
          </a:p>
        </p:txBody>
      </p:sp>
    </p:spTree>
    <p:extLst>
      <p:ext uri="{BB962C8B-B14F-4D97-AF65-F5344CB8AC3E}">
        <p14:creationId xmlns:p14="http://schemas.microsoft.com/office/powerpoint/2010/main" val="2855878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 Quản lý sinh viên (tt)</a:t>
            </a:r>
          </a:p>
        </p:txBody>
      </p:sp>
      <p:sp>
        <p:nvSpPr>
          <p:cNvPr id="3" name="Content Placeholder 2"/>
          <p:cNvSpPr>
            <a:spLocks noGrp="1"/>
          </p:cNvSpPr>
          <p:nvPr>
            <p:ph idx="1"/>
          </p:nvPr>
        </p:nvSpPr>
        <p:spPr/>
        <p:txBody>
          <a:bodyPr/>
          <a:lstStyle/>
          <a:p>
            <a:endParaRPr lang="vi-VN"/>
          </a:p>
        </p:txBody>
      </p:sp>
      <p:sp>
        <p:nvSpPr>
          <p:cNvPr id="4" name="Rectangle 3"/>
          <p:cNvSpPr/>
          <p:nvPr/>
        </p:nvSpPr>
        <p:spPr>
          <a:xfrm>
            <a:off x="733872" y="1124744"/>
            <a:ext cx="7992888" cy="5355312"/>
          </a:xfrm>
          <a:prstGeom prst="rect">
            <a:avLst/>
          </a:prstGeom>
        </p:spPr>
        <p:txBody>
          <a:bodyPr wrap="square">
            <a:spAutoFit/>
          </a:bodyPr>
          <a:lstStyle/>
          <a:p>
            <a:r>
              <a:rPr lang="vi-VN" b="1">
                <a:latin typeface="Courier New" pitchFamily="49" charset="0"/>
                <a:cs typeface="Courier New" pitchFamily="49" charset="0"/>
              </a:rPr>
              <a:t>int main()                                                           </a:t>
            </a:r>
          </a:p>
          <a:p>
            <a:r>
              <a:rPr lang="vi-VN" b="1">
                <a:latin typeface="Courier New" pitchFamily="49" charset="0"/>
                <a:cs typeface="Courier New" pitchFamily="49" charset="0"/>
              </a:rPr>
              <a:t>{	int c;                                                              </a:t>
            </a:r>
          </a:p>
          <a:p>
            <a:r>
              <a:rPr lang="vi-VN" b="1">
                <a:latin typeface="Courier New" pitchFamily="49" charset="0"/>
                <a:cs typeface="Courier New" pitchFamily="49" charset="0"/>
              </a:rPr>
              <a:t>	for (;;)                                                            </a:t>
            </a:r>
          </a:p>
          <a:p>
            <a:r>
              <a:rPr lang="vi-VN" b="1">
                <a:latin typeface="Courier New" pitchFamily="49" charset="0"/>
                <a:cs typeface="Courier New" pitchFamily="49" charset="0"/>
              </a:rPr>
              <a:t>	{	printf("\n1. Nhap DSSV\n");                                        </a:t>
            </a:r>
          </a:p>
          <a:p>
            <a:r>
              <a:rPr lang="vi-VN" b="1">
                <a:latin typeface="Courier New" pitchFamily="49" charset="0"/>
                <a:cs typeface="Courier New" pitchFamily="49" charset="0"/>
              </a:rPr>
              <a:t>		printf("2. In DSSV\n");                                            </a:t>
            </a:r>
          </a:p>
          <a:p>
            <a:r>
              <a:rPr lang="vi-VN" b="1">
                <a:latin typeface="Courier New" pitchFamily="49" charset="0"/>
                <a:cs typeface="Courier New" pitchFamily="49" charset="0"/>
              </a:rPr>
              <a:t>		printf("3. Tim kiem\n");                                           </a:t>
            </a:r>
          </a:p>
          <a:p>
            <a:r>
              <a:rPr lang="vi-VN" b="1">
                <a:latin typeface="Courier New" pitchFamily="49" charset="0"/>
                <a:cs typeface="Courier New" pitchFamily="49" charset="0"/>
              </a:rPr>
              <a:t>		printf("4. Thoat\n");                                              </a:t>
            </a:r>
          </a:p>
          <a:p>
            <a:r>
              <a:rPr lang="vi-VN" b="1">
                <a:latin typeface="Courier New" pitchFamily="49" charset="0"/>
                <a:cs typeface="Courier New" pitchFamily="49" charset="0"/>
              </a:rPr>
              <a:t>		printf("Ban chon 1, 2, 3, 4: ");</a:t>
            </a:r>
          </a:p>
          <a:p>
            <a:r>
              <a:rPr lang="vi-VN" b="1">
                <a:latin typeface="Courier New" pitchFamily="49" charset="0"/>
                <a:cs typeface="Courier New" pitchFamily="49" charset="0"/>
              </a:rPr>
              <a:t>		scanf("%d",&amp;c);                   </a:t>
            </a:r>
          </a:p>
          <a:p>
            <a:r>
              <a:rPr lang="vi-VN" b="1">
                <a:latin typeface="Courier New" pitchFamily="49" charset="0"/>
                <a:cs typeface="Courier New" pitchFamily="49" charset="0"/>
              </a:rPr>
              <a:t>		if(c==1)                                                           </a:t>
            </a:r>
          </a:p>
          <a:p>
            <a:r>
              <a:rPr lang="vi-VN" b="1">
                <a:latin typeface="Courier New" pitchFamily="49" charset="0"/>
                <a:cs typeface="Courier New" pitchFamily="49" charset="0"/>
              </a:rPr>
              <a:t>			WriteFile("d:\\SinhVien.Dat");                                    </a:t>
            </a:r>
          </a:p>
          <a:p>
            <a:r>
              <a:rPr lang="vi-VN" b="1">
                <a:latin typeface="Courier New" pitchFamily="49" charset="0"/>
                <a:cs typeface="Courier New" pitchFamily="49" charset="0"/>
              </a:rPr>
              <a:t>		else if (c==2)                                                     </a:t>
            </a:r>
          </a:p>
          <a:p>
            <a:r>
              <a:rPr lang="vi-VN" b="1">
                <a:latin typeface="Courier New" pitchFamily="49" charset="0"/>
                <a:cs typeface="Courier New" pitchFamily="49" charset="0"/>
              </a:rPr>
              <a:t>				ReadFile("d:\\SinhVien.Dat");                                    </a:t>
            </a:r>
          </a:p>
          <a:p>
            <a:r>
              <a:rPr lang="vi-VN" b="1">
                <a:latin typeface="Courier New" pitchFamily="49" charset="0"/>
                <a:cs typeface="Courier New" pitchFamily="49" charset="0"/>
              </a:rPr>
              <a:t>			else if (c==3)                                                    </a:t>
            </a:r>
          </a:p>
          <a:p>
            <a:r>
              <a:rPr lang="vi-VN" b="1">
                <a:latin typeface="Courier New" pitchFamily="49" charset="0"/>
                <a:cs typeface="Courier New" pitchFamily="49" charset="0"/>
              </a:rPr>
              <a:t>				Search("d:\\SinhVien.Dat");                                     </a:t>
            </a:r>
          </a:p>
          <a:p>
            <a:r>
              <a:rPr lang="vi-VN" b="1">
                <a:latin typeface="Courier New" pitchFamily="49" charset="0"/>
                <a:cs typeface="Courier New" pitchFamily="49" charset="0"/>
              </a:rPr>
              <a:t>				else break;                                                      </a:t>
            </a:r>
          </a:p>
          <a:p>
            <a:r>
              <a:rPr lang="vi-VN" b="1">
                <a:latin typeface="Courier New" pitchFamily="49" charset="0"/>
                <a:cs typeface="Courier New" pitchFamily="49" charset="0"/>
              </a:rPr>
              <a:t>	}                                                                   </a:t>
            </a:r>
          </a:p>
          <a:p>
            <a:r>
              <a:rPr lang="vi-VN" b="1">
                <a:latin typeface="Courier New" pitchFamily="49" charset="0"/>
                <a:cs typeface="Courier New" pitchFamily="49" charset="0"/>
              </a:rPr>
              <a:t>	return 0;                                                           </a:t>
            </a:r>
          </a:p>
          <a:p>
            <a:r>
              <a:rPr lang="vi-VN" b="1">
                <a:latin typeface="Courier New" pitchFamily="49" charset="0"/>
                <a:cs typeface="Courier New" pitchFamily="49" charset="0"/>
              </a:rPr>
              <a:t>} </a:t>
            </a:r>
          </a:p>
        </p:txBody>
      </p:sp>
      <p:sp>
        <p:nvSpPr>
          <p:cNvPr id="5" name="Date Placeholder 4"/>
          <p:cNvSpPr>
            <a:spLocks noGrp="1"/>
          </p:cNvSpPr>
          <p:nvPr>
            <p:ph type="dt" sz="half" idx="10"/>
          </p:nvPr>
        </p:nvSpPr>
        <p:spPr/>
        <p:txBody>
          <a:bodyPr/>
          <a:lstStyle/>
          <a:p>
            <a:fld id="{A8607A49-9182-43DA-A7DC-D93DB80772DE}"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9-Kiểu dữ liệu tệp</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26</a:t>
            </a:fld>
            <a:r>
              <a:rPr lang="en-US"/>
              <a:t>/32</a:t>
            </a:r>
            <a:endParaRPr lang="vi-VN"/>
          </a:p>
        </p:txBody>
      </p:sp>
    </p:spTree>
    <p:extLst>
      <p:ext uri="{BB962C8B-B14F-4D97-AF65-F5344CB8AC3E}">
        <p14:creationId xmlns:p14="http://schemas.microsoft.com/office/powerpoint/2010/main" val="2552778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5. Các hàm xử lý tệp</a:t>
            </a:r>
            <a:endParaRPr lang="vi-VN"/>
          </a:p>
        </p:txBody>
      </p:sp>
      <p:sp>
        <p:nvSpPr>
          <p:cNvPr id="3" name="Content Placeholder 2"/>
          <p:cNvSpPr>
            <a:spLocks noGrp="1"/>
          </p:cNvSpPr>
          <p:nvPr>
            <p:ph idx="1"/>
          </p:nvPr>
        </p:nvSpPr>
        <p:spPr>
          <a:xfrm>
            <a:off x="762000" y="1143000"/>
            <a:ext cx="8202488" cy="5181600"/>
          </a:xfrm>
        </p:spPr>
        <p:txBody>
          <a:bodyPr/>
          <a:lstStyle/>
          <a:p>
            <a:r>
              <a:rPr lang="en-US" sz="2600" b="1">
                <a:latin typeface="Courier New" pitchFamily="49" charset="0"/>
                <a:cs typeface="Courier New" pitchFamily="49" charset="0"/>
              </a:rPr>
              <a:t>int ferror(FILE *fp)</a:t>
            </a:r>
          </a:p>
          <a:p>
            <a:pPr lvl="1"/>
            <a:r>
              <a:rPr lang="en-US"/>
              <a:t>Trả về 0 nếu không có lỗi, khác 0 nếu gặp lỗi</a:t>
            </a:r>
          </a:p>
          <a:p>
            <a:r>
              <a:rPr lang="en-US" sz="2600" b="1">
                <a:latin typeface="Courier New" pitchFamily="49" charset="0"/>
                <a:cs typeface="Courier New" pitchFamily="49" charset="0"/>
              </a:rPr>
              <a:t>int remove(char *filename)</a:t>
            </a:r>
          </a:p>
          <a:p>
            <a:pPr lvl="1"/>
            <a:r>
              <a:rPr lang="en-US"/>
              <a:t>Xoá tệp có tên là filename</a:t>
            </a:r>
          </a:p>
          <a:p>
            <a:pPr lvl="1"/>
            <a:r>
              <a:rPr lang="en-US"/>
              <a:t>Trả về 0 nếu thành công</a:t>
            </a:r>
          </a:p>
          <a:p>
            <a:r>
              <a:rPr lang="en-US" sz="2600" b="1">
                <a:latin typeface="Courier New" pitchFamily="49" charset="0"/>
                <a:cs typeface="Courier New" pitchFamily="49" charset="0"/>
              </a:rPr>
              <a:t>int rename(char *old, char *new)</a:t>
            </a:r>
          </a:p>
          <a:p>
            <a:pPr lvl="1"/>
            <a:r>
              <a:rPr lang="en-US"/>
              <a:t>Đổi tên cũ </a:t>
            </a:r>
            <a:r>
              <a:rPr lang="en-US" b="1">
                <a:solidFill>
                  <a:srgbClr val="000066"/>
                </a:solidFill>
                <a:latin typeface="Courier New" pitchFamily="49" charset="0"/>
                <a:cs typeface="Courier New" pitchFamily="49" charset="0"/>
              </a:rPr>
              <a:t>old </a:t>
            </a:r>
            <a:r>
              <a:rPr lang="en-US"/>
              <a:t> thành tên mới </a:t>
            </a:r>
            <a:r>
              <a:rPr lang="en-US" b="1">
                <a:solidFill>
                  <a:srgbClr val="000066"/>
                </a:solidFill>
                <a:latin typeface="Courier New" pitchFamily="49" charset="0"/>
                <a:cs typeface="Courier New" pitchFamily="49" charset="0"/>
              </a:rPr>
              <a:t>new</a:t>
            </a:r>
          </a:p>
          <a:p>
            <a:pPr lvl="1"/>
            <a:r>
              <a:rPr lang="en-US"/>
              <a:t>Trả về 0 nếu đổi thành công</a:t>
            </a:r>
          </a:p>
          <a:p>
            <a:r>
              <a:rPr lang="en-US" sz="2600" b="1">
                <a:latin typeface="Courier New" pitchFamily="49" charset="0"/>
                <a:cs typeface="Courier New" pitchFamily="49" charset="0"/>
              </a:rPr>
              <a:t>int fflush(FILE *fp)</a:t>
            </a:r>
          </a:p>
          <a:p>
            <a:pPr lvl="1"/>
            <a:r>
              <a:rPr lang="en-US"/>
              <a:t>Đổ bộ nhớ đệm</a:t>
            </a:r>
          </a:p>
          <a:p>
            <a:r>
              <a:rPr lang="en-US" sz="2600" b="1">
                <a:latin typeface="Courier New" pitchFamily="49" charset="0"/>
                <a:cs typeface="Courier New" pitchFamily="49" charset="0"/>
              </a:rPr>
              <a:t>long ftell(FILE *fp)</a:t>
            </a:r>
          </a:p>
          <a:p>
            <a:pPr lvl="1"/>
            <a:r>
              <a:rPr lang="en-US"/>
              <a:t>Cho kích thước của tệp fp</a:t>
            </a:r>
            <a:endParaRPr lang="vi-VN"/>
          </a:p>
        </p:txBody>
      </p:sp>
      <p:sp>
        <p:nvSpPr>
          <p:cNvPr id="4" name="Date Placeholder 3"/>
          <p:cNvSpPr>
            <a:spLocks noGrp="1"/>
          </p:cNvSpPr>
          <p:nvPr>
            <p:ph type="dt" sz="half" idx="10"/>
          </p:nvPr>
        </p:nvSpPr>
        <p:spPr/>
        <p:txBody>
          <a:bodyPr/>
          <a:lstStyle/>
          <a:p>
            <a:fld id="{0BE9C626-4B2C-449F-922A-D7DFF090DA12}"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27</a:t>
            </a:fld>
            <a:r>
              <a:rPr lang="en-US"/>
              <a:t>/32</a:t>
            </a:r>
            <a:endParaRPr lang="vi-VN"/>
          </a:p>
        </p:txBody>
      </p:sp>
    </p:spTree>
    <p:extLst>
      <p:ext uri="{BB962C8B-B14F-4D97-AF65-F5344CB8AC3E}">
        <p14:creationId xmlns:p14="http://schemas.microsoft.com/office/powerpoint/2010/main" val="1071765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6. Truyền tham số là tệp cho hàm</a:t>
            </a:r>
            <a:endParaRPr lang="vi-VN"/>
          </a:p>
        </p:txBody>
      </p:sp>
      <p:sp>
        <p:nvSpPr>
          <p:cNvPr id="3" name="Content Placeholder 2"/>
          <p:cNvSpPr>
            <a:spLocks noGrp="1"/>
          </p:cNvSpPr>
          <p:nvPr>
            <p:ph idx="1"/>
          </p:nvPr>
        </p:nvSpPr>
        <p:spPr/>
        <p:txBody>
          <a:bodyPr/>
          <a:lstStyle/>
          <a:p>
            <a:r>
              <a:rPr lang="en-US"/>
              <a:t>Ví dụ 1. Sao chép 2 tệp</a:t>
            </a:r>
            <a:endParaRPr lang="vi-VN"/>
          </a:p>
        </p:txBody>
      </p:sp>
      <p:sp>
        <p:nvSpPr>
          <p:cNvPr id="4" name="Rectangle 3"/>
          <p:cNvSpPr/>
          <p:nvPr/>
        </p:nvSpPr>
        <p:spPr>
          <a:xfrm>
            <a:off x="899592" y="1484784"/>
            <a:ext cx="8064896" cy="5078313"/>
          </a:xfrm>
          <a:prstGeom prst="rect">
            <a:avLst/>
          </a:prstGeom>
        </p:spPr>
        <p:txBody>
          <a:bodyPr wrap="square">
            <a:spAutoFit/>
          </a:bodyPr>
          <a:lstStyle/>
          <a:p>
            <a:r>
              <a:rPr lang="vi-VN" b="1">
                <a:latin typeface="Courier New" pitchFamily="49" charset="0"/>
                <a:cs typeface="Courier New" pitchFamily="49" charset="0"/>
              </a:rPr>
              <a:t>#include &lt;stdio.h&gt;</a:t>
            </a:r>
          </a:p>
          <a:p>
            <a:r>
              <a:rPr lang="vi-VN" b="1">
                <a:latin typeface="Courier New" pitchFamily="49" charset="0"/>
                <a:cs typeface="Courier New" pitchFamily="49" charset="0"/>
              </a:rPr>
              <a:t>#include &lt;stdlib.h&gt;</a:t>
            </a:r>
          </a:p>
          <a:p>
            <a:r>
              <a:rPr lang="vi-VN" b="1">
                <a:latin typeface="Courier New" pitchFamily="49" charset="0"/>
                <a:cs typeface="Courier New" pitchFamily="49" charset="0"/>
              </a:rPr>
              <a:t>main(int argc, char *argv[])</a:t>
            </a:r>
          </a:p>
          <a:p>
            <a:r>
              <a:rPr lang="vi-VN" b="1">
                <a:latin typeface="Courier New" pitchFamily="49" charset="0"/>
                <a:cs typeface="Courier New" pitchFamily="49" charset="0"/>
              </a:rPr>
              <a:t>{</a:t>
            </a:r>
          </a:p>
          <a:p>
            <a:r>
              <a:rPr lang="vi-VN" b="1">
                <a:latin typeface="Courier New" pitchFamily="49" charset="0"/>
                <a:cs typeface="Courier New" pitchFamily="49" charset="0"/>
              </a:rPr>
              <a:t>	FILE *in,*out; char ch;</a:t>
            </a:r>
          </a:p>
          <a:p>
            <a:r>
              <a:rPr lang="vi-VN" b="1">
                <a:latin typeface="Courier New" pitchFamily="49" charset="0"/>
                <a:cs typeface="Courier New" pitchFamily="49" charset="0"/>
              </a:rPr>
              <a:t>	if (argc!=3)</a:t>
            </a:r>
          </a:p>
          <a:p>
            <a:r>
              <a:rPr lang="vi-VN" b="1">
                <a:latin typeface="Courier New" pitchFamily="49" charset="0"/>
                <a:cs typeface="Courier New" pitchFamily="49" charset="0"/>
              </a:rPr>
              <a:t>		{printf("Chua co ten tep.\n"); exit(1);}</a:t>
            </a:r>
          </a:p>
          <a:p>
            <a:r>
              <a:rPr lang="vi-VN" b="1">
                <a:latin typeface="Courier New" pitchFamily="49" charset="0"/>
                <a:cs typeface="Courier New" pitchFamily="49" charset="0"/>
              </a:rPr>
              <a:t>	if ((in=fopen(argv[1],"rb"))==NULL)</a:t>
            </a:r>
          </a:p>
          <a:p>
            <a:r>
              <a:rPr lang="vi-VN" b="1">
                <a:latin typeface="Courier New" pitchFamily="49" charset="0"/>
                <a:cs typeface="Courier New" pitchFamily="49" charset="0"/>
              </a:rPr>
              <a:t>	{printf("Khong the mo tep nguon!\n");exit(1);}</a:t>
            </a:r>
          </a:p>
          <a:p>
            <a:r>
              <a:rPr lang="vi-VN" b="1">
                <a:latin typeface="Courier New" pitchFamily="49" charset="0"/>
                <a:cs typeface="Courier New" pitchFamily="49" charset="0"/>
              </a:rPr>
              <a:t>	if ((out=fopen(argv[2],"wb"))==NULL)</a:t>
            </a:r>
          </a:p>
          <a:p>
            <a:r>
              <a:rPr lang="vi-VN" b="1">
                <a:latin typeface="Courier New" pitchFamily="49" charset="0"/>
                <a:cs typeface="Courier New" pitchFamily="49" charset="0"/>
              </a:rPr>
              <a:t>	{printf("Khong the mo tep dich!\n");exit(1);}</a:t>
            </a:r>
          </a:p>
          <a:p>
            <a:r>
              <a:rPr lang="vi-VN" b="1">
                <a:latin typeface="Courier New" pitchFamily="49" charset="0"/>
                <a:cs typeface="Courier New" pitchFamily="49" charset="0"/>
              </a:rPr>
              <a:t>	while (!feof(in))</a:t>
            </a:r>
          </a:p>
          <a:p>
            <a:r>
              <a:rPr lang="vi-VN" b="1">
                <a:latin typeface="Courier New" pitchFamily="49" charset="0"/>
                <a:cs typeface="Courier New" pitchFamily="49" charset="0"/>
              </a:rPr>
              <a:t>	{ ch=getc(in);</a:t>
            </a:r>
          </a:p>
          <a:p>
            <a:r>
              <a:rPr lang="vi-VN" b="1">
                <a:latin typeface="Courier New" pitchFamily="49" charset="0"/>
                <a:cs typeface="Courier New" pitchFamily="49" charset="0"/>
              </a:rPr>
              <a:t>	  if (!feof(in)) putc(ch,out);</a:t>
            </a:r>
          </a:p>
          <a:p>
            <a:r>
              <a:rPr lang="vi-VN" b="1">
                <a:latin typeface="Courier New" pitchFamily="49" charset="0"/>
                <a:cs typeface="Courier New" pitchFamily="49" charset="0"/>
              </a:rPr>
              <a:t>	}</a:t>
            </a:r>
          </a:p>
          <a:p>
            <a:r>
              <a:rPr lang="vi-VN" b="1">
                <a:latin typeface="Courier New" pitchFamily="49" charset="0"/>
                <a:cs typeface="Courier New" pitchFamily="49" charset="0"/>
              </a:rPr>
              <a:t>	printf("Da sao chep xong!")</a:t>
            </a:r>
          </a:p>
          <a:p>
            <a:r>
              <a:rPr lang="vi-VN" b="1">
                <a:latin typeface="Courier New" pitchFamily="49" charset="0"/>
                <a:cs typeface="Courier New" pitchFamily="49" charset="0"/>
              </a:rPr>
              <a:t>	fclose(in); fclose(out);</a:t>
            </a:r>
          </a:p>
          <a:p>
            <a:r>
              <a:rPr lang="vi-VN" b="1">
                <a:latin typeface="Courier New" pitchFamily="49" charset="0"/>
                <a:cs typeface="Courier New" pitchFamily="49" charset="0"/>
              </a:rPr>
              <a:t>}</a:t>
            </a:r>
          </a:p>
        </p:txBody>
      </p:sp>
      <p:sp>
        <p:nvSpPr>
          <p:cNvPr id="5" name="Rectangle 4"/>
          <p:cNvSpPr>
            <a:spLocks/>
          </p:cNvSpPr>
          <p:nvPr/>
        </p:nvSpPr>
        <p:spPr bwMode="auto">
          <a:xfrm>
            <a:off x="-1" y="2001856"/>
            <a:ext cx="9128125" cy="432048"/>
          </a:xfrm>
          <a:prstGeom prst="rect">
            <a:avLst/>
          </a:prstGeom>
          <a:solidFill>
            <a:srgbClr val="0099FF">
              <a:alpha val="20000"/>
            </a:srgbClr>
          </a:solidFill>
          <a:ln w="9525" algn="ctr">
            <a:noFill/>
            <a:miter lim="800000"/>
            <a:headEnd/>
            <a:tailEnd/>
          </a:ln>
        </p:spPr>
        <p:txBody>
          <a:bodyPr/>
          <a:lstStyle/>
          <a:p>
            <a:endParaRPr lang="en-US"/>
          </a:p>
        </p:txBody>
      </p:sp>
      <p:sp>
        <p:nvSpPr>
          <p:cNvPr id="6" name="Rectangle 5"/>
          <p:cNvSpPr>
            <a:spLocks/>
          </p:cNvSpPr>
          <p:nvPr/>
        </p:nvSpPr>
        <p:spPr bwMode="auto">
          <a:xfrm>
            <a:off x="-21745" y="4581128"/>
            <a:ext cx="9128125" cy="1080120"/>
          </a:xfrm>
          <a:prstGeom prst="rect">
            <a:avLst/>
          </a:prstGeom>
          <a:solidFill>
            <a:srgbClr val="0099FF">
              <a:alpha val="20000"/>
            </a:srgbClr>
          </a:solidFill>
          <a:ln w="9525" algn="ctr">
            <a:noFill/>
            <a:miter lim="800000"/>
            <a:headEnd/>
            <a:tailEnd/>
          </a:ln>
        </p:spPr>
        <p:txBody>
          <a:bodyPr/>
          <a:lstStyle/>
          <a:p>
            <a:endParaRPr lang="en-US"/>
          </a:p>
        </p:txBody>
      </p:sp>
      <p:sp>
        <p:nvSpPr>
          <p:cNvPr id="7" name="Date Placeholder 6"/>
          <p:cNvSpPr>
            <a:spLocks noGrp="1"/>
          </p:cNvSpPr>
          <p:nvPr>
            <p:ph type="dt" sz="half" idx="10"/>
          </p:nvPr>
        </p:nvSpPr>
        <p:spPr/>
        <p:txBody>
          <a:bodyPr/>
          <a:lstStyle/>
          <a:p>
            <a:fld id="{D7FFE900-0AFE-4286-A797-60A2E4713EE4}" type="datetime1">
              <a:rPr lang="vi-VN" smtClean="0"/>
              <a:t>14/01/2024</a:t>
            </a:fld>
            <a:endParaRPr lang="vi-VN"/>
          </a:p>
        </p:txBody>
      </p:sp>
      <p:sp>
        <p:nvSpPr>
          <p:cNvPr id="8" name="Footer Placeholder 7"/>
          <p:cNvSpPr>
            <a:spLocks noGrp="1"/>
          </p:cNvSpPr>
          <p:nvPr>
            <p:ph type="ftr" sz="quarter" idx="11"/>
          </p:nvPr>
        </p:nvSpPr>
        <p:spPr/>
        <p:txBody>
          <a:bodyPr/>
          <a:lstStyle/>
          <a:p>
            <a:r>
              <a:rPr lang="vi-VN"/>
              <a:t>Chương 9-Kiểu dữ liệu tệp</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28</a:t>
            </a:fld>
            <a:r>
              <a:rPr lang="en-US"/>
              <a:t>/32</a:t>
            </a:r>
            <a:endParaRPr lang="vi-VN"/>
          </a:p>
        </p:txBody>
      </p:sp>
    </p:spTree>
    <p:extLst>
      <p:ext uri="{BB962C8B-B14F-4D97-AF65-F5344CB8AC3E}">
        <p14:creationId xmlns:p14="http://schemas.microsoft.com/office/powerpoint/2010/main" val="172487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Truyền tham số là tệp cho hàm (tt)</a:t>
            </a:r>
            <a:endParaRPr lang="vi-VN"/>
          </a:p>
        </p:txBody>
      </p:sp>
      <p:sp>
        <p:nvSpPr>
          <p:cNvPr id="3" name="Content Placeholder 2"/>
          <p:cNvSpPr>
            <a:spLocks noGrp="1"/>
          </p:cNvSpPr>
          <p:nvPr>
            <p:ph idx="1"/>
          </p:nvPr>
        </p:nvSpPr>
        <p:spPr/>
        <p:txBody>
          <a:bodyPr/>
          <a:lstStyle/>
          <a:p>
            <a:r>
              <a:rPr lang="en-US"/>
              <a:t>Ví dụ 2: Xoá tệp</a:t>
            </a:r>
            <a:endParaRPr lang="vi-VN"/>
          </a:p>
        </p:txBody>
      </p:sp>
      <p:sp>
        <p:nvSpPr>
          <p:cNvPr id="4" name="Rectangle 3"/>
          <p:cNvSpPr/>
          <p:nvPr/>
        </p:nvSpPr>
        <p:spPr>
          <a:xfrm>
            <a:off x="899592" y="1700808"/>
            <a:ext cx="8064896" cy="4093428"/>
          </a:xfrm>
          <a:prstGeom prst="rect">
            <a:avLst/>
          </a:prstGeom>
        </p:spPr>
        <p:txBody>
          <a:bodyPr wrap="square">
            <a:spAutoFit/>
          </a:bodyPr>
          <a:lstStyle/>
          <a:p>
            <a:r>
              <a:rPr lang="vi-VN" sz="2000" b="1">
                <a:latin typeface="Courier New" pitchFamily="49" charset="0"/>
                <a:cs typeface="Courier New" pitchFamily="49" charset="0"/>
              </a:rPr>
              <a:t>#include &lt;stdio.h&gt;</a:t>
            </a:r>
          </a:p>
          <a:p>
            <a:r>
              <a:rPr lang="vi-VN" sz="2000" b="1">
                <a:latin typeface="Courier New" pitchFamily="49" charset="0"/>
                <a:cs typeface="Courier New" pitchFamily="49" charset="0"/>
              </a:rPr>
              <a:t>#include &lt;stdlib.h&gt;</a:t>
            </a:r>
          </a:p>
          <a:p>
            <a:r>
              <a:rPr lang="vi-VN" sz="2000" b="1">
                <a:latin typeface="Courier New" pitchFamily="49" charset="0"/>
                <a:cs typeface="Courier New" pitchFamily="49" charset="0"/>
              </a:rPr>
              <a:t>#include &lt;ctype.h&gt;</a:t>
            </a:r>
          </a:p>
          <a:p>
            <a:r>
              <a:rPr lang="vi-VN" sz="2000" b="1">
                <a:latin typeface="Courier New" pitchFamily="49" charset="0"/>
                <a:cs typeface="Courier New" pitchFamily="49" charset="0"/>
              </a:rPr>
              <a:t>main(int argc, char *argv[])</a:t>
            </a:r>
          </a:p>
          <a:p>
            <a:r>
              <a:rPr lang="vi-VN" sz="2000" b="1">
                <a:latin typeface="Courier New" pitchFamily="49" charset="0"/>
                <a:cs typeface="Courier New" pitchFamily="49" charset="0"/>
              </a:rPr>
              <a:t>{ char ch;</a:t>
            </a:r>
          </a:p>
          <a:p>
            <a:r>
              <a:rPr lang="vi-VN" sz="2000" b="1">
                <a:latin typeface="Courier New" pitchFamily="49" charset="0"/>
                <a:cs typeface="Courier New" pitchFamily="49" charset="0"/>
              </a:rPr>
              <a:t>  if (argc!=2)</a:t>
            </a:r>
          </a:p>
          <a:p>
            <a:r>
              <a:rPr lang="vi-VN" sz="2000" b="1">
                <a:latin typeface="Courier New" pitchFamily="49" charset="0"/>
                <a:cs typeface="Courier New" pitchFamily="49" charset="0"/>
              </a:rPr>
              <a:t>  {printf("Chua co ten tep.\n"); exit(1);}</a:t>
            </a:r>
          </a:p>
          <a:p>
            <a:r>
              <a:rPr lang="vi-VN" sz="2000" b="1">
                <a:latin typeface="Courier New" pitchFamily="49" charset="0"/>
                <a:cs typeface="Courier New" pitchFamily="49" charset="0"/>
              </a:rPr>
              <a:t>  printf("Co xoa tep %s khong? (C/K)?",argv[1]);</a:t>
            </a:r>
          </a:p>
          <a:p>
            <a:r>
              <a:rPr lang="vi-VN" sz="2000" b="1">
                <a:latin typeface="Courier New" pitchFamily="49" charset="0"/>
                <a:cs typeface="Courier New" pitchFamily="49" charset="0"/>
              </a:rPr>
              <a:t>  ch=getchar();</a:t>
            </a:r>
          </a:p>
          <a:p>
            <a:r>
              <a:rPr lang="vi-VN" sz="2000" b="1">
                <a:latin typeface="Courier New" pitchFamily="49" charset="0"/>
                <a:cs typeface="Courier New" pitchFamily="49" charset="0"/>
              </a:rPr>
              <a:t>  if (toupper(ch)=='C')</a:t>
            </a:r>
          </a:p>
          <a:p>
            <a:r>
              <a:rPr lang="vi-VN" sz="2000" b="1">
                <a:latin typeface="Courier New" pitchFamily="49" charset="0"/>
                <a:cs typeface="Courier New" pitchFamily="49" charset="0"/>
              </a:rPr>
              <a:t> 	if (remove(argv[1])) </a:t>
            </a:r>
          </a:p>
          <a:p>
            <a:r>
              <a:rPr lang="vi-VN" sz="2000" b="1">
                <a:latin typeface="Courier New" pitchFamily="49" charset="0"/>
                <a:cs typeface="Courier New" pitchFamily="49" charset="0"/>
              </a:rPr>
              <a:t> 	{printf("Khong the xoa!"); exit(1);}</a:t>
            </a:r>
          </a:p>
          <a:p>
            <a:r>
              <a:rPr lang="vi-VN" sz="2000" b="1">
                <a:latin typeface="Courier New" pitchFamily="49" charset="0"/>
                <a:cs typeface="Courier New" pitchFamily="49" charset="0"/>
              </a:rPr>
              <a:t>}</a:t>
            </a:r>
          </a:p>
        </p:txBody>
      </p:sp>
      <p:sp>
        <p:nvSpPr>
          <p:cNvPr id="5" name="Rectangle 4"/>
          <p:cNvSpPr>
            <a:spLocks/>
          </p:cNvSpPr>
          <p:nvPr/>
        </p:nvSpPr>
        <p:spPr bwMode="auto">
          <a:xfrm>
            <a:off x="-1" y="2636912"/>
            <a:ext cx="9128125" cy="432048"/>
          </a:xfrm>
          <a:prstGeom prst="rect">
            <a:avLst/>
          </a:prstGeom>
          <a:solidFill>
            <a:srgbClr val="0099FF">
              <a:alpha val="20000"/>
            </a:srgbClr>
          </a:solidFill>
          <a:ln w="9525" algn="ctr">
            <a:noFill/>
            <a:miter lim="800000"/>
            <a:headEnd/>
            <a:tailEnd/>
          </a:ln>
        </p:spPr>
        <p:txBody>
          <a:bodyPr/>
          <a:lstStyle/>
          <a:p>
            <a:endParaRPr lang="en-US"/>
          </a:p>
        </p:txBody>
      </p:sp>
      <p:sp>
        <p:nvSpPr>
          <p:cNvPr id="6" name="Rectangle 5"/>
          <p:cNvSpPr>
            <a:spLocks/>
          </p:cNvSpPr>
          <p:nvPr/>
        </p:nvSpPr>
        <p:spPr bwMode="auto">
          <a:xfrm>
            <a:off x="-19991" y="4725144"/>
            <a:ext cx="9128125" cy="432048"/>
          </a:xfrm>
          <a:prstGeom prst="rect">
            <a:avLst/>
          </a:prstGeom>
          <a:solidFill>
            <a:srgbClr val="0099FF">
              <a:alpha val="20000"/>
            </a:srgbClr>
          </a:solidFill>
          <a:ln w="9525" algn="ctr">
            <a:noFill/>
            <a:miter lim="800000"/>
            <a:headEnd/>
            <a:tailEnd/>
          </a:ln>
        </p:spPr>
        <p:txBody>
          <a:bodyPr/>
          <a:lstStyle/>
          <a:p>
            <a:endParaRPr lang="en-US"/>
          </a:p>
        </p:txBody>
      </p:sp>
      <p:sp>
        <p:nvSpPr>
          <p:cNvPr id="7" name="Date Placeholder 6"/>
          <p:cNvSpPr>
            <a:spLocks noGrp="1"/>
          </p:cNvSpPr>
          <p:nvPr>
            <p:ph type="dt" sz="half" idx="10"/>
          </p:nvPr>
        </p:nvSpPr>
        <p:spPr/>
        <p:txBody>
          <a:bodyPr/>
          <a:lstStyle/>
          <a:p>
            <a:fld id="{C0F6E01D-31E5-4FC8-A763-9DC8E37A5C2A}" type="datetime1">
              <a:rPr lang="vi-VN" smtClean="0"/>
              <a:t>14/01/2024</a:t>
            </a:fld>
            <a:endParaRPr lang="vi-VN"/>
          </a:p>
        </p:txBody>
      </p:sp>
      <p:sp>
        <p:nvSpPr>
          <p:cNvPr id="8" name="Footer Placeholder 7"/>
          <p:cNvSpPr>
            <a:spLocks noGrp="1"/>
          </p:cNvSpPr>
          <p:nvPr>
            <p:ph type="ftr" sz="quarter" idx="11"/>
          </p:nvPr>
        </p:nvSpPr>
        <p:spPr/>
        <p:txBody>
          <a:bodyPr/>
          <a:lstStyle/>
          <a:p>
            <a:r>
              <a:rPr lang="vi-VN"/>
              <a:t>Chương 9-Kiểu dữ liệu tệp</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29</a:t>
            </a:fld>
            <a:r>
              <a:rPr lang="en-US"/>
              <a:t>/32</a:t>
            </a:r>
            <a:endParaRPr lang="vi-VN"/>
          </a:p>
        </p:txBody>
      </p:sp>
    </p:spTree>
    <p:extLst>
      <p:ext uri="{BB962C8B-B14F-4D97-AF65-F5344CB8AC3E}">
        <p14:creationId xmlns:p14="http://schemas.microsoft.com/office/powerpoint/2010/main" val="4190871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Truyền tham số là tệp cho hàm (tt)</a:t>
            </a:r>
            <a:endParaRPr lang="vi-VN"/>
          </a:p>
        </p:txBody>
      </p:sp>
      <p:sp>
        <p:nvSpPr>
          <p:cNvPr id="3" name="Content Placeholder 2"/>
          <p:cNvSpPr>
            <a:spLocks noGrp="1"/>
          </p:cNvSpPr>
          <p:nvPr>
            <p:ph idx="1"/>
          </p:nvPr>
        </p:nvSpPr>
        <p:spPr/>
        <p:txBody>
          <a:bodyPr/>
          <a:lstStyle/>
          <a:p>
            <a:pPr marL="0" indent="0" algn="ctr">
              <a:buNone/>
            </a:pPr>
            <a:r>
              <a:rPr lang="en-US" sz="2600" b="1"/>
              <a:t>Cách truyền tham số khi thực hiện chương trình</a:t>
            </a:r>
          </a:p>
          <a:p>
            <a:r>
              <a:rPr lang="en-US"/>
              <a:t>Ví dụ 1:</a:t>
            </a:r>
          </a:p>
          <a:p>
            <a:pPr lvl="1"/>
            <a:r>
              <a:rPr lang="en-US"/>
              <a:t>Dịch ra tệp mycopy.exe</a:t>
            </a:r>
          </a:p>
          <a:p>
            <a:pPr lvl="1"/>
            <a:r>
              <a:rPr lang="en-US"/>
              <a:t>mycopy &lt;tên tệp nguồn&gt; &lt;tên tệp đích&gt;</a:t>
            </a:r>
          </a:p>
          <a:p>
            <a:pPr marL="471487" lvl="1" indent="0">
              <a:buNone/>
            </a:pPr>
            <a:r>
              <a:rPr lang="en-US"/>
              <a:t>Chẳng hạn: mycopy sample.txt  vd.txt</a:t>
            </a:r>
          </a:p>
          <a:p>
            <a:r>
              <a:rPr lang="en-US"/>
              <a:t>Ví dụ 2:</a:t>
            </a:r>
          </a:p>
          <a:p>
            <a:pPr lvl="1"/>
            <a:r>
              <a:rPr lang="en-US"/>
              <a:t>Dịch ra tệp mydel.exe</a:t>
            </a:r>
          </a:p>
          <a:p>
            <a:pPr lvl="1"/>
            <a:r>
              <a:rPr lang="en-US"/>
              <a:t>mydel &lt;tên tệp cần xoá&gt;</a:t>
            </a:r>
          </a:p>
          <a:p>
            <a:pPr marL="471487" lvl="1" indent="0">
              <a:buNone/>
            </a:pPr>
            <a:r>
              <a:rPr lang="en-US"/>
              <a:t>Chẳng hạn: mydel sample.txt</a:t>
            </a:r>
          </a:p>
          <a:p>
            <a:pPr lvl="1"/>
            <a:endParaRPr lang="vi-VN"/>
          </a:p>
        </p:txBody>
      </p:sp>
      <p:sp>
        <p:nvSpPr>
          <p:cNvPr id="4" name="Date Placeholder 3"/>
          <p:cNvSpPr>
            <a:spLocks noGrp="1"/>
          </p:cNvSpPr>
          <p:nvPr>
            <p:ph type="dt" sz="half" idx="10"/>
          </p:nvPr>
        </p:nvSpPr>
        <p:spPr/>
        <p:txBody>
          <a:bodyPr/>
          <a:lstStyle/>
          <a:p>
            <a:fld id="{DBC89F7F-0E2D-40D3-9C50-29164281B183}"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30</a:t>
            </a:fld>
            <a:r>
              <a:rPr lang="en-US"/>
              <a:t>/32</a:t>
            </a:r>
            <a:endParaRPr lang="vi-VN"/>
          </a:p>
        </p:txBody>
      </p:sp>
    </p:spTree>
    <p:extLst>
      <p:ext uri="{BB962C8B-B14F-4D97-AF65-F5344CB8AC3E}">
        <p14:creationId xmlns:p14="http://schemas.microsoft.com/office/powerpoint/2010/main" val="1242591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thực hành</a:t>
            </a:r>
            <a:endParaRPr lang="vi-VN"/>
          </a:p>
        </p:txBody>
      </p:sp>
      <p:sp>
        <p:nvSpPr>
          <p:cNvPr id="3" name="Content Placeholder 2"/>
          <p:cNvSpPr>
            <a:spLocks noGrp="1"/>
          </p:cNvSpPr>
          <p:nvPr>
            <p:ph idx="1"/>
          </p:nvPr>
        </p:nvSpPr>
        <p:spPr/>
        <p:txBody>
          <a:bodyPr/>
          <a:lstStyle/>
          <a:p>
            <a:pPr marL="514350" indent="-514350">
              <a:buFont typeface="+mj-lt"/>
              <a:buAutoNum type="arabicPeriod"/>
            </a:pPr>
            <a:r>
              <a:rPr lang="en-US"/>
              <a:t>Viết chương trình đếm số chữ của từng loại chữ trong bảng chữ cái được chứa trong một tệp văn bản (tệp có bao nhiêu chữ ‘A’, chữ ‘B’…).</a:t>
            </a:r>
          </a:p>
          <a:p>
            <a:pPr marL="514350" indent="-514350">
              <a:buFont typeface="+mj-lt"/>
              <a:buAutoNum type="arabicPeriod"/>
            </a:pPr>
            <a:r>
              <a:rPr lang="en-US"/>
              <a:t>Viết chương trình đếm trong tệp văn bản </a:t>
            </a:r>
          </a:p>
          <a:p>
            <a:pPr marL="952500" lvl="1" indent="-514350"/>
            <a:r>
              <a:rPr lang="en-US"/>
              <a:t>Có bao nhiêu dòng? </a:t>
            </a:r>
          </a:p>
          <a:p>
            <a:pPr marL="952500" lvl="1" indent="-514350"/>
            <a:r>
              <a:rPr lang="en-US"/>
              <a:t>Có bao nhiêu kí tự? </a:t>
            </a:r>
          </a:p>
          <a:p>
            <a:pPr marL="952500" lvl="1" indent="-514350"/>
            <a:r>
              <a:rPr lang="en-US"/>
              <a:t>Dòng dài nhất là dòng nào? </a:t>
            </a:r>
          </a:p>
          <a:p>
            <a:pPr marL="952500" lvl="1" indent="-514350"/>
            <a:r>
              <a:rPr lang="en-US"/>
              <a:t>Từ dài nhất trong văn bản là từ nào (từ là một nhóm các kí tự liền nhau).</a:t>
            </a:r>
          </a:p>
        </p:txBody>
      </p:sp>
      <p:sp>
        <p:nvSpPr>
          <p:cNvPr id="4" name="Date Placeholder 3"/>
          <p:cNvSpPr>
            <a:spLocks noGrp="1"/>
          </p:cNvSpPr>
          <p:nvPr>
            <p:ph type="dt" sz="half" idx="10"/>
          </p:nvPr>
        </p:nvSpPr>
        <p:spPr/>
        <p:txBody>
          <a:bodyPr/>
          <a:lstStyle/>
          <a:p>
            <a:fld id="{5223A31C-DE6B-4606-B9E1-914045A2C9E3}"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31</a:t>
            </a:fld>
            <a:r>
              <a:rPr lang="en-US"/>
              <a:t>/32</a:t>
            </a:r>
            <a:endParaRPr lang="vi-VN"/>
          </a:p>
        </p:txBody>
      </p:sp>
    </p:spTree>
    <p:extLst>
      <p:ext uri="{BB962C8B-B14F-4D97-AF65-F5344CB8AC3E}">
        <p14:creationId xmlns:p14="http://schemas.microsoft.com/office/powerpoint/2010/main" val="170928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thực hành</a:t>
            </a:r>
            <a:endParaRPr lang="vi-VN"/>
          </a:p>
        </p:txBody>
      </p:sp>
      <p:sp>
        <p:nvSpPr>
          <p:cNvPr id="3" name="Content Placeholder 2"/>
          <p:cNvSpPr>
            <a:spLocks noGrp="1"/>
          </p:cNvSpPr>
          <p:nvPr>
            <p:ph idx="1"/>
          </p:nvPr>
        </p:nvSpPr>
        <p:spPr/>
        <p:txBody>
          <a:bodyPr/>
          <a:lstStyle/>
          <a:p>
            <a:pPr marL="514350" indent="-514350">
              <a:buFont typeface="+mj-lt"/>
              <a:buAutoNum type="arabicPeriod" startAt="3"/>
            </a:pPr>
            <a:r>
              <a:rPr lang="en-US"/>
              <a:t>Viết chương trình nhập vào từ tệp văn bản songuyen.txt một dãy các số nguyên, hãy tạo ra các tệp:</a:t>
            </a:r>
          </a:p>
          <a:p>
            <a:pPr marL="952500" lvl="1" indent="-514350"/>
            <a:r>
              <a:rPr lang="en-US"/>
              <a:t>prime.txt chứa các số nguyên tố có trong dãy</a:t>
            </a:r>
          </a:p>
          <a:p>
            <a:pPr marL="952500" lvl="1" indent="-514350"/>
            <a:r>
              <a:rPr lang="en-US"/>
              <a:t>cp.txt chứa các số chính phương</a:t>
            </a:r>
          </a:p>
          <a:p>
            <a:pPr marL="952500" lvl="1" indent="-514350"/>
            <a:r>
              <a:rPr lang="en-US"/>
              <a:t>dep.txt chứa các số đẹp (vd: 123, 134…)</a:t>
            </a:r>
          </a:p>
          <a:p>
            <a:pPr marL="952500" lvl="1" indent="-514350"/>
            <a:r>
              <a:rPr lang="en-US"/>
              <a:t>hoanhao.txt chứa các số hoàn hảo</a:t>
            </a:r>
          </a:p>
          <a:p>
            <a:pPr marL="514350" indent="-514350">
              <a:buFont typeface="+mj-lt"/>
              <a:buAutoNum type="arabicPeriod" startAt="3"/>
            </a:pPr>
            <a:r>
              <a:rPr lang="en-US"/>
              <a:t>Cho 2 tệp So1.txt và So2.txt chứa các số nguyên.</a:t>
            </a:r>
          </a:p>
          <a:p>
            <a:pPr marL="952500" lvl="1" indent="-514350"/>
            <a:r>
              <a:rPr lang="en-US"/>
              <a:t>Sắp xếp theo chiều tăng dần các số trong 2 tệp</a:t>
            </a:r>
          </a:p>
          <a:p>
            <a:pPr marL="952500" lvl="1" indent="-514350"/>
            <a:r>
              <a:rPr lang="en-US"/>
              <a:t>Tạo tệp So3.txt gồm các số trong cả 2 tệp trên và cũng được sắp theo thứ tự tăng dần.</a:t>
            </a:r>
          </a:p>
          <a:p>
            <a:endParaRPr lang="vi-VN"/>
          </a:p>
        </p:txBody>
      </p:sp>
      <p:sp>
        <p:nvSpPr>
          <p:cNvPr id="4" name="Date Placeholder 3"/>
          <p:cNvSpPr>
            <a:spLocks noGrp="1"/>
          </p:cNvSpPr>
          <p:nvPr>
            <p:ph type="dt" sz="half" idx="10"/>
          </p:nvPr>
        </p:nvSpPr>
        <p:spPr/>
        <p:txBody>
          <a:bodyPr/>
          <a:lstStyle/>
          <a:p>
            <a:fld id="{FB212B09-D401-4969-9864-DA90CEA33EF6}"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9-Kiểu dữ liệu tệp</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32</a:t>
            </a:fld>
            <a:r>
              <a:rPr lang="en-US"/>
              <a:t>/32</a:t>
            </a:r>
            <a:endParaRPr lang="vi-VN"/>
          </a:p>
        </p:txBody>
      </p:sp>
    </p:spTree>
    <p:extLst>
      <p:ext uri="{BB962C8B-B14F-4D97-AF65-F5344CB8AC3E}">
        <p14:creationId xmlns:p14="http://schemas.microsoft.com/office/powerpoint/2010/main" val="2158263049"/>
      </p:ext>
    </p:extLst>
  </p:cSld>
  <p:clrMapOvr>
    <a:masterClrMapping/>
  </p:clrMapOvr>
</p:sld>
</file>

<file path=ppt/theme/theme1.xml><?xml version="1.0" encoding="utf-8"?>
<a:theme xmlns:a="http://schemas.openxmlformats.org/drawingml/2006/main" name="MM_Lec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Chuong 3-Mang may tinh</Template>
  <TotalTime>446</TotalTime>
  <Words>3857</Words>
  <Application>Microsoft Office PowerPoint</Application>
  <PresentationFormat>On-screen Show (4:3)</PresentationFormat>
  <Paragraphs>504</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Courier New</vt:lpstr>
      <vt:lpstr>Tahoma</vt:lpstr>
      <vt:lpstr>Times New Roman</vt:lpstr>
      <vt:lpstr>Wingdings</vt:lpstr>
      <vt:lpstr>MM_Lec1</vt:lpstr>
      <vt:lpstr>Chương 9 KIỂU DỮ LIỆU TỆP (File)</vt:lpstr>
      <vt:lpstr>Nội dung</vt:lpstr>
      <vt:lpstr>1. Khái niệm kiểu tệp</vt:lpstr>
      <vt:lpstr>Khái niệm kiểu tệp (tt)</vt:lpstr>
      <vt:lpstr>Một số khái niệm</vt:lpstr>
      <vt:lpstr>2. Các thao tác trên tệp</vt:lpstr>
      <vt:lpstr>2.1 Khai báo biến tệp</vt:lpstr>
      <vt:lpstr>2.2 Mở tệp</vt:lpstr>
      <vt:lpstr>Các chế độ xử lý tệp</vt:lpstr>
      <vt:lpstr>Ví dụ mở tệp</vt:lpstr>
      <vt:lpstr>2.3 Các thao tác khác</vt:lpstr>
      <vt:lpstr>3. Tệp văn bản</vt:lpstr>
      <vt:lpstr>Ghi dữ liệu lên tệp văn bản</vt:lpstr>
      <vt:lpstr>Đọc dữ liệu từ tệp văn bản</vt:lpstr>
      <vt:lpstr>Đọc dữ liệu từ tệp văn bản (tt)</vt:lpstr>
      <vt:lpstr>Đọc dữ liệu từ tệp văn bản (tt)</vt:lpstr>
      <vt:lpstr>4. Tệp nhị phân</vt:lpstr>
      <vt:lpstr>Tệp nhị phân (tt)</vt:lpstr>
      <vt:lpstr>Di chuyển con trỏ tệp</vt:lpstr>
      <vt:lpstr>Di chuyển con trỏ tệp (tt)</vt:lpstr>
      <vt:lpstr>Ví dụ - Quản lý sinh viên</vt:lpstr>
      <vt:lpstr>Ví dụ - Quản lý sinh viên (tt)</vt:lpstr>
      <vt:lpstr>Ví dụ - Quản lý sinh viên (tt)</vt:lpstr>
      <vt:lpstr>Ví dụ - Quản lý sinh viên (tt)</vt:lpstr>
      <vt:lpstr>Ví dụ - Quản lý sinh viên (tt)</vt:lpstr>
      <vt:lpstr>Ví dụ - Quản lý sinh viên (tt)</vt:lpstr>
      <vt:lpstr>5. Các hàm xử lý tệp</vt:lpstr>
      <vt:lpstr>6. Truyền tham số là tệp cho hàm</vt:lpstr>
      <vt:lpstr>Truyền tham số là tệp cho hàm (tt)</vt:lpstr>
      <vt:lpstr>Truyền tham số là tệp cho hàm (tt)</vt:lpstr>
      <vt:lpstr>Bài tập thực hành</vt:lpstr>
      <vt:lpstr>Bài tập thực hành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Le Cam Tu</cp:lastModifiedBy>
  <cp:revision>79</cp:revision>
  <dcterms:created xsi:type="dcterms:W3CDTF">2011-07-17T01:46:34Z</dcterms:created>
  <dcterms:modified xsi:type="dcterms:W3CDTF">2024-01-14T12:59:42Z</dcterms:modified>
</cp:coreProperties>
</file>