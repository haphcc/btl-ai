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61"/>
  </p:notesMasterIdLst>
  <p:handoutMasterIdLst>
    <p:handoutMasterId r:id="rId62"/>
  </p:handoutMasterIdLst>
  <p:sldIdLst>
    <p:sldId id="256" r:id="rId2"/>
    <p:sldId id="257" r:id="rId3"/>
    <p:sldId id="258" r:id="rId4"/>
    <p:sldId id="259" r:id="rId5"/>
    <p:sldId id="260" r:id="rId6"/>
    <p:sldId id="261" r:id="rId7"/>
    <p:sldId id="262" r:id="rId8"/>
    <p:sldId id="263" r:id="rId9"/>
    <p:sldId id="269" r:id="rId10"/>
    <p:sldId id="270" r:id="rId11"/>
    <p:sldId id="271" r:id="rId12"/>
    <p:sldId id="272" r:id="rId13"/>
    <p:sldId id="280" r:id="rId14"/>
    <p:sldId id="273" r:id="rId15"/>
    <p:sldId id="274" r:id="rId16"/>
    <p:sldId id="278" r:id="rId17"/>
    <p:sldId id="279" r:id="rId18"/>
    <p:sldId id="317" r:id="rId19"/>
    <p:sldId id="275" r:id="rId20"/>
    <p:sldId id="277" r:id="rId21"/>
    <p:sldId id="318" r:id="rId22"/>
    <p:sldId id="319" r:id="rId23"/>
    <p:sldId id="276" r:id="rId24"/>
    <p:sldId id="313" r:id="rId25"/>
    <p:sldId id="314" r:id="rId26"/>
    <p:sldId id="315" r:id="rId27"/>
    <p:sldId id="286" r:id="rId28"/>
    <p:sldId id="298" r:id="rId29"/>
    <p:sldId id="299" r:id="rId30"/>
    <p:sldId id="320" r:id="rId31"/>
    <p:sldId id="322" r:id="rId32"/>
    <p:sldId id="287" r:id="rId33"/>
    <p:sldId id="288" r:id="rId34"/>
    <p:sldId id="321" r:id="rId35"/>
    <p:sldId id="289" r:id="rId36"/>
    <p:sldId id="290" r:id="rId37"/>
    <p:sldId id="291" r:id="rId38"/>
    <p:sldId id="292" r:id="rId39"/>
    <p:sldId id="293" r:id="rId40"/>
    <p:sldId id="294" r:id="rId41"/>
    <p:sldId id="295" r:id="rId42"/>
    <p:sldId id="296" r:id="rId43"/>
    <p:sldId id="297" r:id="rId44"/>
    <p:sldId id="267" r:id="rId45"/>
    <p:sldId id="323" r:id="rId46"/>
    <p:sldId id="268" r:id="rId47"/>
    <p:sldId id="301" r:id="rId48"/>
    <p:sldId id="302" r:id="rId49"/>
    <p:sldId id="303" r:id="rId50"/>
    <p:sldId id="304" r:id="rId51"/>
    <p:sldId id="305" r:id="rId52"/>
    <p:sldId id="306" r:id="rId53"/>
    <p:sldId id="307" r:id="rId54"/>
    <p:sldId id="308" r:id="rId55"/>
    <p:sldId id="324" r:id="rId56"/>
    <p:sldId id="325" r:id="rId57"/>
    <p:sldId id="310" r:id="rId58"/>
    <p:sldId id="311" r:id="rId59"/>
    <p:sldId id="312" r:id="rId60"/>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DFB85"/>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777" autoAdjust="0"/>
  </p:normalViewPr>
  <p:slideViewPr>
    <p:cSldViewPr>
      <p:cViewPr varScale="1">
        <p:scale>
          <a:sx n="54" d="100"/>
          <a:sy n="54" d="100"/>
        </p:scale>
        <p:origin x="2218" y="53"/>
      </p:cViewPr>
      <p:guideLst>
        <p:guide orient="horz" pos="2160"/>
        <p:guide pos="2880"/>
      </p:guideLst>
    </p:cSldViewPr>
  </p:slideViewPr>
  <p:notesTextViewPr>
    <p:cViewPr>
      <p:scale>
        <a:sx n="1" d="1"/>
        <a:sy n="1" d="1"/>
      </p:scale>
      <p:origin x="0" y="0"/>
    </p:cViewPr>
  </p:notesTextViewPr>
  <p:notesViewPr>
    <p:cSldViewPr>
      <p:cViewPr varScale="1">
        <p:scale>
          <a:sx n="53" d="100"/>
          <a:sy n="53" d="100"/>
        </p:scale>
        <p:origin x="-260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A628E8A-5D6A-4B98-B95A-0CBD4C2695CD}" type="datetimeFigureOut">
              <a:rPr lang="vi-VN" smtClean="0"/>
              <a:t>14/01/2024</a:t>
            </a:fld>
            <a:endParaRPr lang="vi-V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F6CB9B-4BDE-4D4C-9BE0-58C755B0216B}" type="slidenum">
              <a:rPr lang="vi-VN" smtClean="0"/>
              <a:t>‹#›</a:t>
            </a:fld>
            <a:endParaRPr lang="vi-VN"/>
          </a:p>
        </p:txBody>
      </p:sp>
    </p:spTree>
    <p:extLst>
      <p:ext uri="{BB962C8B-B14F-4D97-AF65-F5344CB8AC3E}">
        <p14:creationId xmlns:p14="http://schemas.microsoft.com/office/powerpoint/2010/main" val="12239238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t>14/01/2024</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vi.wikipedia.org/wiki/H%E1%BB%87_th%E1%BA%ADp_ph%C3%A2n"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378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3956487-A446-41A0-A3D8-7A21E912B369}" type="slidenum">
              <a:rPr lang="en-US"/>
              <a:pPr/>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59A321D-E17C-43FD-BF6F-59538E89E72A}" type="slidenum">
              <a:rPr lang="en-US"/>
              <a:pPr/>
              <a:t>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399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70205F4-AD31-42EB-877E-19E5441E6890}" type="slidenum">
              <a:rPr lang="en-US"/>
              <a:pPr/>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p:spPr>
      </p:sp>
      <p:sp>
        <p:nvSpPr>
          <p:cNvPr id="655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655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D980FD5-0DCC-4D9A-9B6A-16C06331EE86}" type="slidenum">
              <a:rPr lang="en-US"/>
              <a:pPr/>
              <a:t>12</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665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23F7645-776F-4B1B-B5AC-77C0F3F3C11F}" type="slidenum">
              <a:rPr lang="en-US"/>
              <a:pPr/>
              <a:t>14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675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BC3485A-BF08-402D-877B-C6E2716401BB}" type="slidenum">
              <a:rPr lang="en-US"/>
              <a:pPr/>
              <a:t>15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02122"/>
                </a:solidFill>
                <a:effectLst/>
                <a:latin typeface="Arial" panose="020B0604020202020204" pitchFamily="34" charset="0"/>
              </a:rPr>
              <a:t>T</a:t>
            </a:r>
            <a:r>
              <a:rPr lang="vi-VN" b="0" i="0" dirty="0">
                <a:solidFill>
                  <a:srgbClr val="202122"/>
                </a:solidFill>
                <a:effectLst/>
                <a:latin typeface="Arial" panose="020B0604020202020204" pitchFamily="34" charset="0"/>
              </a:rPr>
              <a:t>hử lấy một ví dụ ở cơ số 10 (</a:t>
            </a:r>
            <a:r>
              <a:rPr lang="vi-VN" b="0" i="0" u="none" strike="noStrike" dirty="0">
                <a:solidFill>
                  <a:srgbClr val="3366CC"/>
                </a:solidFill>
                <a:effectLst/>
                <a:latin typeface="Arial" panose="020B0604020202020204" pitchFamily="34" charset="0"/>
                <a:hlinkClick r:id="rId3" tooltip="Hệ thập phân"/>
              </a:rPr>
              <a:t>hệ thập phân</a:t>
            </a:r>
            <a:r>
              <a:rPr lang="vi-VN" b="0" i="0" dirty="0">
                <a:solidFill>
                  <a:srgbClr val="202122"/>
                </a:solidFill>
                <a:effectLst/>
                <a:latin typeface="Arial" panose="020B0604020202020204" pitchFamily="34" charset="0"/>
              </a:rPr>
              <a:t> mà ta thường dùng hằng ngày) với số 152853.5047 mà có độ chính xác là mười chữ số thập phân. </a:t>
            </a:r>
            <a:endParaRPr lang="en-US" b="0" i="0" dirty="0">
              <a:solidFill>
                <a:srgbClr val="202122"/>
              </a:solidFill>
              <a:effectLst/>
              <a:latin typeface="Arial" panose="020B0604020202020204" pitchFamily="34" charset="0"/>
            </a:endParaRPr>
          </a:p>
          <a:p>
            <a:pPr algn="l"/>
            <a:r>
              <a:rPr lang="vi-VN" b="0" i="0" dirty="0">
                <a:solidFill>
                  <a:srgbClr val="202122"/>
                </a:solidFill>
                <a:effectLst/>
                <a:latin typeface="Arial" panose="020B0604020202020204" pitchFamily="34" charset="0"/>
              </a:rPr>
              <a:t>Khi biểu diễn dưới dạng dấu phẩy động thì nó sẽ được viết với phần định trị là 1528535047 (với quy ước là vị trí của dấu phẩy cơ số nằm ngay sau chữ số có nghĩa lớn nhất, tức là chữ số 1). </a:t>
            </a:r>
            <a:endParaRPr lang="en-US" b="0" i="0" dirty="0">
              <a:solidFill>
                <a:srgbClr val="202122"/>
              </a:solidFill>
              <a:effectLst/>
              <a:latin typeface="Arial" panose="020B0604020202020204" pitchFamily="34" charset="0"/>
            </a:endParaRPr>
          </a:p>
          <a:p>
            <a:pPr algn="l"/>
            <a:r>
              <a:rPr lang="vi-VN" b="0" i="0" dirty="0">
                <a:solidFill>
                  <a:srgbClr val="202122"/>
                </a:solidFill>
                <a:effectLst/>
                <a:latin typeface="Arial" panose="020B0604020202020204" pitchFamily="34" charset="0"/>
              </a:rPr>
              <a:t>Khi đó, phần định trị được hiểu ngầm là 1.528535047. Để người đọc có thể khôi phục lại giá trị ban đầu thì cần phải thêm số mũ là 5. Khi đó, người đọc sẽ nhân giá trị của phần định trị (sau khi đã thêm dấu phẩy cơ số vào vị trí quy ước) với 10</a:t>
            </a:r>
            <a:r>
              <a:rPr lang="vi-VN" b="0" i="0" baseline="30000" dirty="0">
                <a:solidFill>
                  <a:srgbClr val="202122"/>
                </a:solidFill>
                <a:effectLst/>
                <a:latin typeface="Arial" panose="020B0604020202020204" pitchFamily="34" charset="0"/>
              </a:rPr>
              <a:t>5</a:t>
            </a:r>
            <a:r>
              <a:rPr lang="vi-VN" b="0" i="0" dirty="0">
                <a:solidFill>
                  <a:srgbClr val="202122"/>
                </a:solidFill>
                <a:effectLst/>
                <a:latin typeface="Arial" panose="020B0604020202020204" pitchFamily="34" charset="0"/>
              </a:rPr>
              <a:t> để được 1.528535047 × 10</a:t>
            </a:r>
            <a:r>
              <a:rPr lang="vi-VN" b="0" i="0" baseline="30000" dirty="0">
                <a:solidFill>
                  <a:srgbClr val="202122"/>
                </a:solidFill>
                <a:effectLst/>
                <a:latin typeface="Arial" panose="020B0604020202020204" pitchFamily="34" charset="0"/>
              </a:rPr>
              <a:t>5</a:t>
            </a:r>
            <a:r>
              <a:rPr lang="vi-VN" b="0" i="0" dirty="0">
                <a:solidFill>
                  <a:srgbClr val="202122"/>
                </a:solidFill>
                <a:effectLst/>
                <a:latin typeface="Arial" panose="020B0604020202020204" pitchFamily="34" charset="0"/>
              </a:rPr>
              <a:t>, hay 152853.5047.</a:t>
            </a:r>
          </a:p>
          <a:p>
            <a:pPr algn="l"/>
            <a:r>
              <a:rPr lang="vi-VN" b="0" i="0" dirty="0">
                <a:solidFill>
                  <a:srgbClr val="202122"/>
                </a:solidFill>
                <a:effectLst/>
                <a:latin typeface="Arial" panose="020B0604020202020204" pitchFamily="34" charset="0"/>
              </a:rPr>
              <a:t>Mô tả hình thức thì giá trị cuối cùng của một số dấu phẩy động là</a:t>
            </a:r>
          </a:p>
          <a:p>
            <a:pPr algn="l"/>
            <a:r>
              <a:rPr lang="vi-VN" dirty="0">
                <a:effectLst/>
              </a:rPr>
              <a:t>�×��</a:t>
            </a:r>
            <a:r>
              <a:rPr lang="vi-VN" b="0" i="0" dirty="0">
                <a:solidFill>
                  <a:srgbClr val="202122"/>
                </a:solidFill>
                <a:effectLst/>
                <a:latin typeface="Arial" panose="020B0604020202020204" pitchFamily="34" charset="0"/>
              </a:rPr>
              <a:t>với </a:t>
            </a:r>
            <a:r>
              <a:rPr lang="vi-VN" b="0" i="1" dirty="0">
                <a:solidFill>
                  <a:srgbClr val="202122"/>
                </a:solidFill>
                <a:effectLst/>
                <a:latin typeface="Arial" panose="020B0604020202020204" pitchFamily="34" charset="0"/>
              </a:rPr>
              <a:t>s</a:t>
            </a:r>
            <a:r>
              <a:rPr lang="vi-VN" b="0" i="0" dirty="0">
                <a:solidFill>
                  <a:srgbClr val="202122"/>
                </a:solidFill>
                <a:effectLst/>
                <a:latin typeface="Arial" panose="020B0604020202020204" pitchFamily="34" charset="0"/>
              </a:rPr>
              <a:t> là giá trị của phần định trị (sau khi đã đặt dấu phẩy cơ số vào vị trí quy ước), </a:t>
            </a:r>
            <a:r>
              <a:rPr lang="vi-VN" b="0" i="1" dirty="0">
                <a:solidFill>
                  <a:srgbClr val="202122"/>
                </a:solidFill>
                <a:effectLst/>
                <a:latin typeface="Arial" panose="020B0604020202020204" pitchFamily="34" charset="0"/>
              </a:rPr>
              <a:t>b</a:t>
            </a:r>
            <a:r>
              <a:rPr lang="vi-VN" b="0" i="0" dirty="0">
                <a:solidFill>
                  <a:srgbClr val="202122"/>
                </a:solidFill>
                <a:effectLst/>
                <a:latin typeface="Arial" panose="020B0604020202020204" pitchFamily="34" charset="0"/>
              </a:rPr>
              <a:t> là cơ số, và </a:t>
            </a:r>
            <a:r>
              <a:rPr lang="vi-VN" b="0" i="1" dirty="0">
                <a:solidFill>
                  <a:srgbClr val="202122"/>
                </a:solidFill>
                <a:effectLst/>
                <a:latin typeface="Arial" panose="020B0604020202020204" pitchFamily="34" charset="0"/>
              </a:rPr>
              <a:t>e</a:t>
            </a:r>
            <a:r>
              <a:rPr lang="vi-VN" b="0" i="0" dirty="0">
                <a:solidFill>
                  <a:srgbClr val="202122"/>
                </a:solidFill>
                <a:effectLst/>
                <a:latin typeface="Arial" panose="020B0604020202020204" pitchFamily="34" charset="0"/>
              </a:rPr>
              <a:t> là số mũ.</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18</a:t>
            </a:fld>
            <a:endParaRPr lang="vi-VN"/>
          </a:p>
        </p:txBody>
      </p:sp>
    </p:spTree>
    <p:extLst>
      <p:ext uri="{BB962C8B-B14F-4D97-AF65-F5344CB8AC3E}">
        <p14:creationId xmlns:p14="http://schemas.microsoft.com/office/powerpoint/2010/main" val="2220021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wrap="square" numCol="1" anchor="t" anchorCtr="0" compatLnSpc="1">
            <a:prstTxWarp prst="textNoShape">
              <a:avLst/>
            </a:prstTxWarp>
          </a:bodyPr>
          <a:lstStyle/>
          <a:p>
            <a:pPr>
              <a:defRPr/>
            </a:pPr>
            <a:r>
              <a:rPr lang="en-US" dirty="0" err="1"/>
              <a:t>Hằng</a:t>
            </a:r>
            <a:r>
              <a:rPr lang="en-US" dirty="0"/>
              <a:t> </a:t>
            </a:r>
            <a:r>
              <a:rPr lang="en-US" dirty="0" err="1"/>
              <a:t>số</a:t>
            </a:r>
            <a:r>
              <a:rPr lang="en-US" dirty="0"/>
              <a:t> </a:t>
            </a:r>
            <a:r>
              <a:rPr lang="en-US" dirty="0" err="1"/>
              <a:t>thực</a:t>
            </a:r>
            <a:r>
              <a:rPr lang="en-US" dirty="0"/>
              <a:t> </a:t>
            </a:r>
            <a:r>
              <a:rPr lang="en-US" dirty="0" err="1"/>
              <a:t>định</a:t>
            </a:r>
            <a:r>
              <a:rPr lang="en-US" dirty="0"/>
              <a:t> </a:t>
            </a:r>
            <a:r>
              <a:rPr lang="en-US" dirty="0" err="1"/>
              <a:t>trước</a:t>
            </a:r>
            <a:r>
              <a:rPr lang="en-US" dirty="0"/>
              <a:t> </a:t>
            </a:r>
            <a:r>
              <a:rPr lang="en-US" dirty="0" err="1"/>
              <a:t>kiểu</a:t>
            </a:r>
            <a:endParaRPr lang="en-US" dirty="0"/>
          </a:p>
          <a:p>
            <a:pPr lvl="1">
              <a:defRPr/>
            </a:pPr>
            <a:r>
              <a:rPr lang="en-US" dirty="0" err="1"/>
              <a:t>Thêm</a:t>
            </a:r>
            <a:r>
              <a:rPr lang="en-US" dirty="0"/>
              <a:t> </a:t>
            </a:r>
            <a:r>
              <a:rPr lang="en-US" dirty="0" err="1"/>
              <a:t>kí</a:t>
            </a:r>
            <a:r>
              <a:rPr lang="en-US" dirty="0"/>
              <a:t> </a:t>
            </a:r>
            <a:r>
              <a:rPr lang="en-US" dirty="0" err="1"/>
              <a:t>tự</a:t>
            </a:r>
            <a:r>
              <a:rPr lang="en-US" dirty="0"/>
              <a:t> </a:t>
            </a:r>
            <a:r>
              <a:rPr lang="en-US" dirty="0" err="1"/>
              <a:t>cuối</a:t>
            </a:r>
            <a:r>
              <a:rPr lang="en-US" dirty="0"/>
              <a:t>: </a:t>
            </a:r>
            <a:r>
              <a:rPr lang="en-US" dirty="0">
                <a:solidFill>
                  <a:srgbClr val="FF0000"/>
                </a:solidFill>
              </a:rPr>
              <a:t>F</a:t>
            </a:r>
            <a:r>
              <a:rPr lang="en-US" dirty="0"/>
              <a:t> (float), </a:t>
            </a:r>
            <a:r>
              <a:rPr lang="en-US" dirty="0">
                <a:solidFill>
                  <a:srgbClr val="FF0000"/>
                </a:solidFill>
              </a:rPr>
              <a:t>L</a:t>
            </a:r>
            <a:r>
              <a:rPr lang="en-US" dirty="0"/>
              <a:t> (long double)</a:t>
            </a:r>
          </a:p>
          <a:p>
            <a:pPr lvl="1">
              <a:defRPr/>
            </a:pPr>
            <a:r>
              <a:rPr lang="en-US" dirty="0" err="1"/>
              <a:t>Ví</a:t>
            </a:r>
            <a:r>
              <a:rPr lang="en-US" dirty="0"/>
              <a:t> </a:t>
            </a:r>
            <a:r>
              <a:rPr lang="en-US" dirty="0" err="1"/>
              <a:t>dụ</a:t>
            </a:r>
            <a:r>
              <a:rPr lang="en-US" dirty="0"/>
              <a:t>: </a:t>
            </a:r>
            <a:r>
              <a:rPr lang="en-US" dirty="0">
                <a:latin typeface="Courier New" pitchFamily="49" charset="0"/>
                <a:cs typeface="Courier New" pitchFamily="49" charset="0"/>
              </a:rPr>
              <a:t>0.1234567-20</a:t>
            </a:r>
            <a:r>
              <a:rPr lang="en-US" b="1" dirty="0">
                <a:solidFill>
                  <a:srgbClr val="FF0000"/>
                </a:solidFill>
                <a:latin typeface="Courier New" pitchFamily="49" charset="0"/>
                <a:cs typeface="Courier New" pitchFamily="49" charset="0"/>
              </a:rPr>
              <a:t>L</a:t>
            </a:r>
            <a:r>
              <a:rPr lang="en-US" dirty="0">
                <a:latin typeface="Courier New" pitchFamily="49" charset="0"/>
                <a:cs typeface="Courier New" pitchFamily="49" charset="0"/>
              </a:rPr>
              <a:t>     4E12</a:t>
            </a:r>
            <a:r>
              <a:rPr lang="en-US" b="1" dirty="0">
                <a:solidFill>
                  <a:srgbClr val="FF0000"/>
                </a:solidFill>
                <a:latin typeface="Courier New" pitchFamily="49" charset="0"/>
                <a:cs typeface="Courier New" pitchFamily="49" charset="0"/>
              </a:rPr>
              <a:t>F</a:t>
            </a:r>
          </a:p>
          <a:p>
            <a:pPr lvl="2">
              <a:defRPr/>
            </a:pPr>
            <a:endParaRPr lang="en-US" baseline="30000" dirty="0"/>
          </a:p>
          <a:p>
            <a:pPr lvl="2">
              <a:defRPr/>
            </a:pPr>
            <a:endParaRPr lang="en-US" baseline="30000" dirty="0"/>
          </a:p>
          <a:p>
            <a:pPr>
              <a:spcBef>
                <a:spcPct val="0"/>
              </a:spcBef>
            </a:pPr>
            <a:endParaRPr lang="vi-VN" dirty="0"/>
          </a:p>
        </p:txBody>
      </p:sp>
      <p:sp>
        <p:nvSpPr>
          <p:cNvPr id="686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1E58D6D-FD09-4A15-8A15-AC64C04D6C11}" type="slidenum">
              <a:rPr lang="en-US"/>
              <a:pPr/>
              <a:t>19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706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744EC62-AB37-4806-88E4-95CA6C097D04}" type="slidenum">
              <a:rPr lang="en-US"/>
              <a:pPr/>
              <a:t>20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696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2BEEF6E-8F81-4301-92CE-2965766E22D1}" type="slidenum">
              <a:rPr lang="en-US"/>
              <a:pPr/>
              <a:t>23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Sự</a:t>
            </a:r>
            <a:r>
              <a:rPr lang="en-US" baseline="0"/>
              <a:t> khác nhau const và #define</a:t>
            </a:r>
          </a:p>
          <a:p>
            <a:pPr marL="171450" indent="-171450">
              <a:buFontTx/>
              <a:buChar char="-"/>
            </a:pPr>
            <a:r>
              <a:rPr lang="en-US" baseline="0"/>
              <a:t>const: là hằng số cố định, một hằng số thực sự và chỉ có một hằng số chứa trong ô nhớ.</a:t>
            </a:r>
          </a:p>
          <a:p>
            <a:pPr marL="171450" indent="-171450">
              <a:buFontTx/>
              <a:buChar char="-"/>
            </a:pPr>
            <a:r>
              <a:rPr lang="en-US" baseline="0"/>
              <a:t>Define: mượn name để thay thế tượng trưng cho một đoạn văn bản text, khi dịch chương trình dịch sẽ thay thế name bằng text để dịch.</a:t>
            </a:r>
            <a:endParaRPr lang="vi-VN"/>
          </a:p>
        </p:txBody>
      </p:sp>
      <p:sp>
        <p:nvSpPr>
          <p:cNvPr id="4" name="Slide Number Placeholder 3"/>
          <p:cNvSpPr>
            <a:spLocks noGrp="1"/>
          </p:cNvSpPr>
          <p:nvPr>
            <p:ph type="sldNum" sz="quarter" idx="10"/>
          </p:nvPr>
        </p:nvSpPr>
        <p:spPr/>
        <p:txBody>
          <a:bodyPr/>
          <a:lstStyle/>
          <a:p>
            <a:fld id="{EEA7600A-770C-47F1-89C1-5023B6D362E3}" type="slidenum">
              <a:rPr lang="vi-VN" smtClean="0"/>
              <a:t>26</a:t>
            </a:fld>
            <a:endParaRPr lang="vi-VN"/>
          </a:p>
        </p:txBody>
      </p:sp>
    </p:spTree>
    <p:extLst>
      <p:ext uri="{BB962C8B-B14F-4D97-AF65-F5344CB8AC3E}">
        <p14:creationId xmlns:p14="http://schemas.microsoft.com/office/powerpoint/2010/main" val="3361114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716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3FB8870-48A2-4123-8651-A7CA83317670}" type="slidenum">
              <a:rPr lang="en-US"/>
              <a:pPr/>
              <a:t>27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p:spPr>
      </p:sp>
      <p:sp>
        <p:nvSpPr>
          <p:cNvPr id="8601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860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35385AC-28FE-4DCB-B576-9A5E7DBDEB34}" type="slidenum">
              <a:rPr lang="en-US"/>
              <a:pPr/>
              <a:t>28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870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26BC812-0E0B-4028-9DC2-8AA509360276}" type="slidenum">
              <a:rPr lang="en-US"/>
              <a:pPr/>
              <a:t>29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747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8572E5A-F19F-4CA3-AC88-41D7C1E9910E}" type="slidenum">
              <a:rPr lang="en-US"/>
              <a:pPr/>
              <a:t>32</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p:spPr>
      </p:sp>
      <p:sp>
        <p:nvSpPr>
          <p:cNvPr id="7577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757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C0BD2D1-DDCF-47E3-A117-3D1D4554FFE1}" type="slidenum">
              <a:rPr lang="en-US"/>
              <a:pPr/>
              <a:t>33</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p:spPr>
      </p:sp>
      <p:sp>
        <p:nvSpPr>
          <p:cNvPr id="768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768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B12E13C-C08B-4734-8234-02ABC4674D26}" type="slidenum">
              <a:rPr lang="en-US"/>
              <a:pPr/>
              <a:t>35</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p:spPr>
      </p:sp>
      <p:sp>
        <p:nvSpPr>
          <p:cNvPr id="7782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778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12CE47B-7E73-4987-B3D7-85EB1FB772E3}" type="slidenum">
              <a:rPr lang="en-US"/>
              <a:pPr/>
              <a:t>36</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788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0138DC2-53A6-49B1-92E7-2D38FD05603A}" type="slidenum">
              <a:rPr lang="en-US"/>
              <a:pPr/>
              <a:t>37</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p:spPr>
      </p:sp>
      <p:sp>
        <p:nvSpPr>
          <p:cNvPr id="7987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798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7DC6CED-B9DA-4EE1-9C2F-0B3F863C04C6}" type="slidenum">
              <a:rPr lang="en-US"/>
              <a:pPr/>
              <a:t>38</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809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E985D20-B029-4F5E-A7E7-097C60ED99D1}" type="slidenum">
              <a:rPr lang="en-US"/>
              <a:pPr/>
              <a:t>39</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819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48851B8-0AA3-48A8-843D-72B56EE2E586}" type="slidenum">
              <a:rPr lang="en-US"/>
              <a:pPr/>
              <a:t>40</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829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669414B-A557-40E7-9895-9275D9389591}" type="slidenum">
              <a:rPr lang="en-US"/>
              <a:pPr/>
              <a:t>41</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p:spPr>
      </p:sp>
      <p:sp>
        <p:nvSpPr>
          <p:cNvPr id="839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839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144D2C7-943A-43A4-9AE4-CAD7BBCDDF27}" type="slidenum">
              <a:rPr lang="en-US"/>
              <a:pPr/>
              <a:t>42</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849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688F707-2145-4A2E-922A-D1A1F91D1F77}" type="slidenum">
              <a:rPr lang="en-US"/>
              <a:pPr/>
              <a:t>43</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890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3E25782-ADF5-468C-95E1-A6418E8F5B6B}" type="slidenum">
              <a:rPr lang="en-US"/>
              <a:pPr/>
              <a:t>47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p:spPr>
      </p:sp>
      <p:sp>
        <p:nvSpPr>
          <p:cNvPr id="901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901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587C0F6-52C0-4286-8019-D3B5B629B255}" type="slidenum">
              <a:rPr lang="en-US"/>
              <a:pPr/>
              <a:t>48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p:spPr>
      </p:sp>
      <p:sp>
        <p:nvSpPr>
          <p:cNvPr id="911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911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D18B1D6-ED7F-48FC-86DD-86781F51207B}" type="slidenum">
              <a:rPr lang="en-US"/>
              <a:pPr/>
              <a:t>49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p:spPr>
      </p:sp>
      <p:sp>
        <p:nvSpPr>
          <p:cNvPr id="921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921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3CEEC7E-BE4D-4070-AC4E-A5A086BC886C}" type="slidenum">
              <a:rPr lang="en-US"/>
              <a:pPr/>
              <a:t>50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p:spPr>
      </p:sp>
      <p:sp>
        <p:nvSpPr>
          <p:cNvPr id="931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931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E2C1A75-6FBA-40D1-948E-0024771064CC}" type="slidenum">
              <a:rPr lang="en-US"/>
              <a:pPr/>
              <a:t>51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942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4E70ED6-E079-459C-90E5-8F993A6783B3}" type="slidenum">
              <a:rPr lang="en-US"/>
              <a:pPr/>
              <a:t>52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p:spPr>
      </p:sp>
      <p:sp>
        <p:nvSpPr>
          <p:cNvPr id="952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952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077017A-83F7-41BB-B7FF-8DF548B0D468}" type="slidenum">
              <a:rPr lang="en-US"/>
              <a:pPr/>
              <a:t>53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p:spPr>
      </p:sp>
      <p:sp>
        <p:nvSpPr>
          <p:cNvPr id="962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962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2239120-9962-44FC-9093-8CB0D91C4F4C}" type="slidenum">
              <a:rPr lang="en-US"/>
              <a:pPr/>
              <a:t>54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p:spPr>
      </p:sp>
      <p:sp>
        <p:nvSpPr>
          <p:cNvPr id="9933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993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21BF45A-18B9-475B-8E01-2CD26C83FC89}" type="slidenum">
              <a:rPr lang="en-US"/>
              <a:pPr/>
              <a:t>57</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1003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004A514-61B1-453D-A1E7-FF34FB28124D}" type="slidenum">
              <a:rPr lang="en-US"/>
              <a:pPr/>
              <a:t>58</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p:spPr>
      </p:sp>
      <p:sp>
        <p:nvSpPr>
          <p:cNvPr id="10137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1013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E9E5D4C-B869-4D62-9212-B2550F72E080}" type="slidenum">
              <a:rPr lang="en-US"/>
              <a:pPr/>
              <a:t>59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24"/>
          <p:cNvSpPr>
            <a:spLocks noChangeArrowheads="1"/>
          </p:cNvSpPr>
          <p:nvPr/>
        </p:nvSpPr>
        <p:spPr bwMode="auto">
          <a:xfrm>
            <a:off x="1066800" y="3581400"/>
            <a:ext cx="75438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28575">
            <a:solidFill>
              <a:schemeClr val="accent2"/>
            </a:solidFill>
            <a:round/>
            <a:headEnd/>
            <a:tailEnd/>
          </a:ln>
        </p:spPr>
        <p:txBody>
          <a:bodyPr/>
          <a:lstStyle/>
          <a:p>
            <a:endParaRPr lang="vi-VN"/>
          </a:p>
        </p:txBody>
      </p:sp>
      <p:sp>
        <p:nvSpPr>
          <p:cNvPr id="5122" name="Rectangle 2"/>
          <p:cNvSpPr>
            <a:spLocks noGrp="1" noChangeArrowheads="1"/>
          </p:cNvSpPr>
          <p:nvPr>
            <p:ph type="ctrTitle"/>
          </p:nvPr>
        </p:nvSpPr>
        <p:spPr>
          <a:xfrm>
            <a:off x="1066800" y="2590800"/>
            <a:ext cx="7620000" cy="990600"/>
          </a:xfrm>
        </p:spPr>
        <p:txBody>
          <a:bodyPr/>
          <a:lstStyle>
            <a:lvl1pPr>
              <a:defRPr sz="3600" b="1">
                <a:solidFill>
                  <a:schemeClr val="tx1"/>
                </a:solidFill>
              </a:defRPr>
            </a:lvl1pPr>
          </a:lstStyle>
          <a:p>
            <a:r>
              <a:rPr lang="en-US"/>
              <a:t>Click to edit Master title style</a:t>
            </a:r>
            <a:endParaRPr lang="en-GB"/>
          </a:p>
        </p:txBody>
      </p:sp>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a:lvl1pPr>
          </a:lstStyle>
          <a:p>
            <a:r>
              <a:rPr lang="en-US"/>
              <a:t>Click to edit Master subtitle style</a:t>
            </a:r>
            <a:endParaRPr lang="en-GB"/>
          </a:p>
        </p:txBody>
      </p:sp>
      <p:sp>
        <p:nvSpPr>
          <p:cNvPr id="6" name="Rectangle 5"/>
          <p:cNvSpPr>
            <a:spLocks noGrp="1" noChangeArrowheads="1"/>
          </p:cNvSpPr>
          <p:nvPr>
            <p:ph type="dt" sz="half" idx="10"/>
          </p:nvPr>
        </p:nvSpPr>
        <p:spPr>
          <a:xfrm>
            <a:off x="685800" y="6248400"/>
            <a:ext cx="1905000" cy="457200"/>
          </a:xfrm>
        </p:spPr>
        <p:txBody>
          <a:bodyPr/>
          <a:lstStyle>
            <a:lvl1pPr>
              <a:defRPr smtClean="0"/>
            </a:lvl1pPr>
          </a:lstStyle>
          <a:p>
            <a:fld id="{F72429CC-470E-46C4-AC7C-24D0BC0270B1}" type="datetime1">
              <a:rPr lang="vi-VN" smtClean="0"/>
              <a:t>14/01/2024</a:t>
            </a:fld>
            <a:endParaRPr lang="vi-VN"/>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lvl1pPr>
          </a:lstStyle>
          <a:p>
            <a:r>
              <a:rPr lang="vi-VN"/>
              <a:t>Chương 2 - Các phần tử cơ bản của ngôn ngữ C</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lvl1pPr>
          </a:lstStyle>
          <a:p>
            <a:fld id="{5AB95402-1E0D-474E-8D8C-CBE7F053639E}" type="slidenum">
              <a:rPr lang="vi-VN" smtClean="0"/>
              <a:t>‹#›</a:t>
            </a:fld>
            <a:endParaRPr lang="vi-VN"/>
          </a:p>
        </p:txBody>
      </p:sp>
      <p:pic>
        <p:nvPicPr>
          <p:cNvPr id="9" name="Content Placeholder 3"/>
          <p:cNvPicPr>
            <a:picLocks noChangeAspect="1"/>
          </p:cNvPicPr>
          <p:nvPr userDrawn="1"/>
        </p:nvPicPr>
        <p:blipFill rotWithShape="1">
          <a:blip r:embed="rId2">
            <a:extLst>
              <a:ext uri="{28A0092B-C50C-407E-A947-70E740481C1C}">
                <a14:useLocalDpi xmlns:a14="http://schemas.microsoft.com/office/drawing/2010/main" val="0"/>
              </a:ext>
            </a:extLst>
          </a:blip>
          <a:srcRect t="7736" b="29726"/>
          <a:stretch/>
        </p:blipFill>
        <p:spPr bwMode="auto">
          <a:xfrm>
            <a:off x="0" y="2153"/>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149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C22376C-A307-4173-9604-6199DC667049}" type="datetime1">
              <a:rPr lang="vi-VN" smtClean="0"/>
              <a:t>14/01/2024</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2 - Các phần tử cơ bản của ngôn ngữ C</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vi-VN"/>
              <a:t>/59</a:t>
            </a:r>
          </a:p>
        </p:txBody>
      </p:sp>
    </p:spTree>
    <p:extLst>
      <p:ext uri="{BB962C8B-B14F-4D97-AF65-F5344CB8AC3E}">
        <p14:creationId xmlns:p14="http://schemas.microsoft.com/office/powerpoint/2010/main" val="68343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smtClean="0"/>
            </a:lvl1pPr>
          </a:lstStyle>
          <a:p>
            <a:fld id="{74032B6F-E388-4B06-9508-58914C314F19}"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2 - Các phần tử cơ bản của ngôn ngữ C</a:t>
            </a:r>
          </a:p>
        </p:txBody>
      </p:sp>
      <p:sp>
        <p:nvSpPr>
          <p:cNvPr id="6"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1400836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smtClean="0"/>
            </a:lvl1pPr>
          </a:lstStyle>
          <a:p>
            <a:fld id="{DE793C3E-0363-45AB-864D-BEFBB81FDDC1}"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2 - Các phần tử cơ bản của ngôn ngữ C</a:t>
            </a:r>
          </a:p>
        </p:txBody>
      </p:sp>
      <p:sp>
        <p:nvSpPr>
          <p:cNvPr id="7"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23807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smtClean="0"/>
            </a:lvl1pPr>
          </a:lstStyle>
          <a:p>
            <a:fld id="{3D433411-15EA-489A-B292-56E940B4AAF0}" type="datetime1">
              <a:rPr lang="vi-VN" smtClean="0"/>
              <a:t>14/01/2024</a:t>
            </a:fld>
            <a:endParaRPr lang="vi-VN"/>
          </a:p>
        </p:txBody>
      </p:sp>
      <p:sp>
        <p:nvSpPr>
          <p:cNvPr id="8" name="Rectangle 7"/>
          <p:cNvSpPr>
            <a:spLocks noGrp="1" noChangeArrowheads="1"/>
          </p:cNvSpPr>
          <p:nvPr>
            <p:ph type="ftr" sz="quarter" idx="11"/>
          </p:nvPr>
        </p:nvSpPr>
        <p:spPr/>
        <p:txBody>
          <a:bodyPr/>
          <a:lstStyle>
            <a:lvl1pPr>
              <a:defRPr smtClean="0"/>
            </a:lvl1pPr>
          </a:lstStyle>
          <a:p>
            <a:r>
              <a:rPr lang="vi-VN"/>
              <a:t>Chương 2 - Các phần tử cơ bản của ngôn ngữ C</a:t>
            </a:r>
          </a:p>
        </p:txBody>
      </p:sp>
      <p:sp>
        <p:nvSpPr>
          <p:cNvPr id="9"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1313033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smtClean="0"/>
            </a:lvl1pPr>
          </a:lstStyle>
          <a:p>
            <a:fld id="{3F757D23-B6C3-49AE-90A3-2B47B0C24F64}" type="datetime1">
              <a:rPr lang="vi-VN" smtClean="0"/>
              <a:t>14/01/2024</a:t>
            </a:fld>
            <a:endParaRPr lang="vi-VN"/>
          </a:p>
        </p:txBody>
      </p:sp>
      <p:sp>
        <p:nvSpPr>
          <p:cNvPr id="4" name="Rectangle 7"/>
          <p:cNvSpPr>
            <a:spLocks noGrp="1" noChangeArrowheads="1"/>
          </p:cNvSpPr>
          <p:nvPr>
            <p:ph type="ftr" sz="quarter" idx="11"/>
          </p:nvPr>
        </p:nvSpPr>
        <p:spPr/>
        <p:txBody>
          <a:bodyPr/>
          <a:lstStyle>
            <a:lvl1pPr>
              <a:defRPr smtClean="0"/>
            </a:lvl1pPr>
          </a:lstStyle>
          <a:p>
            <a:r>
              <a:rPr lang="vi-VN"/>
              <a:t>Chương 2 - Các phần tử cơ bản của ngôn ngữ C</a:t>
            </a:r>
          </a:p>
        </p:txBody>
      </p:sp>
      <p:sp>
        <p:nvSpPr>
          <p:cNvPr id="5"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3027284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smtClean="0"/>
            </a:lvl1pPr>
          </a:lstStyle>
          <a:p>
            <a:fld id="{D71C5DB0-8D75-4A69-B5EA-2591C1B87271}" type="datetime1">
              <a:rPr lang="vi-VN" smtClean="0"/>
              <a:t>14/01/2024</a:t>
            </a:fld>
            <a:endParaRPr lang="vi-VN"/>
          </a:p>
        </p:txBody>
      </p:sp>
      <p:sp>
        <p:nvSpPr>
          <p:cNvPr id="3" name="Rectangle 7"/>
          <p:cNvSpPr>
            <a:spLocks noGrp="1" noChangeArrowheads="1"/>
          </p:cNvSpPr>
          <p:nvPr>
            <p:ph type="ftr" sz="quarter" idx="11"/>
          </p:nvPr>
        </p:nvSpPr>
        <p:spPr/>
        <p:txBody>
          <a:bodyPr/>
          <a:lstStyle>
            <a:lvl1pPr>
              <a:defRPr smtClean="0"/>
            </a:lvl1pPr>
          </a:lstStyle>
          <a:p>
            <a:r>
              <a:rPr lang="vi-VN"/>
              <a:t>Chương 2 - Các phần tử cơ bản của ngôn ngữ C</a:t>
            </a:r>
          </a:p>
        </p:txBody>
      </p:sp>
      <p:sp>
        <p:nvSpPr>
          <p:cNvPr id="4"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2062973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F9A012CF-FA54-45BF-8203-AECA5246C487}"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2 - Các phần tử cơ bản của ngôn ngữ C</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564103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F9B31013-37DC-456C-B3A1-1A411FF2402A}" type="datetime1">
              <a:rPr lang="vi-VN" smtClean="0"/>
              <a:t>14/01/2024</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2 - Các phần tử cơ bản của ngôn ngữ C</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2340676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A30B2AD7-D5DB-4193-B7D8-51AD2906A9ED}"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2 - Các phần tử cơ bản của ngôn ngữ C</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1447551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304800"/>
            <a:ext cx="20955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04800"/>
            <a:ext cx="61341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6E2AA3FE-0E4D-4C1F-9A74-59C039917147}" type="datetime1">
              <a:rPr lang="vi-VN" smtClean="0"/>
              <a:t>14/01/2024</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2 - Các phần tử cơ bản của ngôn ngữ C</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955855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304800"/>
            <a:ext cx="838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762000" y="1143000"/>
            <a:ext cx="792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028" name="AutoShape 4"/>
          <p:cNvSpPr>
            <a:spLocks noChangeArrowheads="1"/>
          </p:cNvSpPr>
          <p:nvPr/>
        </p:nvSpPr>
        <p:spPr bwMode="auto">
          <a:xfrm>
            <a:off x="457200" y="990600"/>
            <a:ext cx="83820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19050">
            <a:solidFill>
              <a:schemeClr val="accent2"/>
            </a:solidFill>
            <a:round/>
            <a:headEnd/>
            <a:tailEnd/>
          </a:ln>
        </p:spPr>
        <p:txBody>
          <a:bodyPr/>
          <a:lstStyle/>
          <a:p>
            <a:endParaRPr lang="vi-VN"/>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cs typeface="Arial" charset="0"/>
              </a:defRPr>
            </a:lvl1pPr>
          </a:lstStyle>
          <a:p>
            <a:fld id="{86DC7540-E99A-473C-9A86-7488E2D22D1C}" type="datetime1">
              <a:rPr lang="vi-VN" smtClean="0"/>
              <a:t>14/01/2024</a:t>
            </a:fld>
            <a:endParaRPr lang="vi-VN"/>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cs typeface="Arial" charset="0"/>
              </a:defRPr>
            </a:lvl1pPr>
          </a:lstStyle>
          <a:p>
            <a:r>
              <a:rPr lang="vi-VN"/>
              <a:t>Chương 2 - Các phần tử cơ bản của ngôn ngữ C</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fld id="{5AB95402-1E0D-474E-8D8C-CBE7F053639E}" type="slidenum">
              <a:rPr lang="vi-VN" smtClean="0"/>
              <a:pPr/>
              <a:t>‹#›</a:t>
            </a:fld>
            <a:endParaRPr lang="vi-V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gif"/><Relationship Id="rId7" Type="http://schemas.openxmlformats.org/officeDocument/2006/relationships/slide" Target="slide29.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slide" Target="slide43.xml"/><Relationship Id="rId5" Type="http://schemas.openxmlformats.org/officeDocument/2006/relationships/image" Target="../media/image3.png"/><Relationship Id="rId4" Type="http://schemas.openxmlformats.org/officeDocument/2006/relationships/slide" Target="slide28.xml"/></Relationships>
</file>

<file path=ppt/slides/_rels/slide59.xml.rels><?xml version="1.0" encoding="UTF-8" standalone="yes"?>
<Relationships xmlns="http://schemas.openxmlformats.org/package/2006/relationships"><Relationship Id="rId3" Type="http://schemas.openxmlformats.org/officeDocument/2006/relationships/image" Target="../media/image2.gif"/><Relationship Id="rId7" Type="http://schemas.openxmlformats.org/officeDocument/2006/relationships/slide" Target="slide48.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slide" Target="slide51.xml"/><Relationship Id="rId5" Type="http://schemas.openxmlformats.org/officeDocument/2006/relationships/image" Target="../media/image3.png"/><Relationship Id="rId4" Type="http://schemas.openxmlformats.org/officeDocument/2006/relationships/slide" Target="sl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effectLst>
            <a:reflection blurRad="6350" stA="52000" endA="300" endPos="35000" dir="5400000" sy="-100000" algn="bl" rotWithShape="0"/>
          </a:effectLst>
        </p:spPr>
        <p:txBody>
          <a:bodyPr/>
          <a:lstStyle/>
          <a:p>
            <a:pPr algn="ct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Chương 2</a:t>
            </a:r>
            <a:b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b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CÁC PHẦN TỬ CƠ BẢN CỦA NGÔN NGỮ C</a:t>
            </a:r>
            <a:endParaRPr lang="vi-VN" sz="4400">
              <a:solidFill>
                <a:srgbClr val="000066"/>
              </a:solidFill>
              <a:effectLst>
                <a:outerShdw blurRad="38100" dist="38100" dir="2700000" algn="tl">
                  <a:srgbClr val="000000">
                    <a:alpha val="43137"/>
                  </a:srgbClr>
                </a:outerShdw>
                <a:reflection blurRad="6350" stA="55000" endA="300" endPos="45500" dir="5400000" sy="-100000" algn="bl" rotWithShape="0"/>
              </a:effectLst>
            </a:endParaRPr>
          </a:p>
        </p:txBody>
      </p:sp>
      <p:sp>
        <p:nvSpPr>
          <p:cNvPr id="4" name="TextBox 3"/>
          <p:cNvSpPr txBox="1"/>
          <p:nvPr/>
        </p:nvSpPr>
        <p:spPr>
          <a:xfrm>
            <a:off x="3491880" y="6237312"/>
            <a:ext cx="2736304" cy="461665"/>
          </a:xfrm>
          <a:prstGeom prst="rect">
            <a:avLst/>
          </a:prstGeom>
          <a:noFill/>
        </p:spPr>
        <p:txBody>
          <a:bodyPr wrap="square" rtlCol="0">
            <a:spAutoFit/>
          </a:bodyPr>
          <a:lstStyle/>
          <a:p>
            <a:r>
              <a:rPr lang="en-US" sz="2400" dirty="0" err="1"/>
              <a:t>Hà</a:t>
            </a:r>
            <a:r>
              <a:rPr lang="en-US" sz="2400" dirty="0"/>
              <a:t> </a:t>
            </a:r>
            <a:r>
              <a:rPr lang="en-US" sz="2400" dirty="0" err="1"/>
              <a:t>Nội</a:t>
            </a:r>
            <a:r>
              <a:rPr lang="en-US" sz="2400" dirty="0"/>
              <a:t> </a:t>
            </a:r>
            <a:r>
              <a:rPr lang="en-US" sz="2400"/>
              <a:t>– 2024</a:t>
            </a:r>
            <a:endParaRPr lang="vi-VN" sz="2400"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69634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Nội dung</a:t>
            </a:r>
            <a:endParaRPr lang="vi-VN"/>
          </a:p>
        </p:txBody>
      </p:sp>
      <p:sp>
        <p:nvSpPr>
          <p:cNvPr id="9" name="Content Placeholder 8"/>
          <p:cNvSpPr>
            <a:spLocks noGrp="1"/>
          </p:cNvSpPr>
          <p:nvPr>
            <p:ph idx="1"/>
          </p:nvPr>
        </p:nvSpPr>
        <p:spPr/>
        <p:txBody>
          <a:bodyPr/>
          <a:lstStyle/>
          <a:p>
            <a:endParaRPr lang="vi-VN"/>
          </a:p>
        </p:txBody>
      </p:sp>
      <p:sp>
        <p:nvSpPr>
          <p:cNvPr id="2" name="Date Placeholder 1"/>
          <p:cNvSpPr>
            <a:spLocks noGrp="1"/>
          </p:cNvSpPr>
          <p:nvPr>
            <p:ph type="dt" sz="half" idx="10"/>
          </p:nvPr>
        </p:nvSpPr>
        <p:spPr/>
        <p:txBody>
          <a:bodyPr/>
          <a:lstStyle/>
          <a:p>
            <a:fld id="{B14B85FE-655F-4F3E-BB61-E60E8D05C6A4}" type="datetime1">
              <a:rPr lang="vi-VN" smtClean="0"/>
              <a:t>14/01/2024</a:t>
            </a:fld>
            <a:endParaRPr lang="vi-VN"/>
          </a:p>
        </p:txBody>
      </p:sp>
      <p:sp>
        <p:nvSpPr>
          <p:cNvPr id="3" name="Footer Placeholder 2"/>
          <p:cNvSpPr>
            <a:spLocks noGrp="1"/>
          </p:cNvSpPr>
          <p:nvPr>
            <p:ph type="ftr" sz="quarter" idx="11"/>
          </p:nvPr>
        </p:nvSpPr>
        <p:spPr/>
        <p:txBody>
          <a:bodyPr/>
          <a:lstStyle/>
          <a:p>
            <a:r>
              <a:rPr lang="vi-VN"/>
              <a:t>Chương 2 - Các phần tử cơ bản của ngôn ngữ C</a:t>
            </a:r>
          </a:p>
        </p:txBody>
      </p:sp>
      <p:grpSp>
        <p:nvGrpSpPr>
          <p:cNvPr id="25" name="Group 46"/>
          <p:cNvGrpSpPr>
            <a:grpSpLocks/>
          </p:cNvGrpSpPr>
          <p:nvPr/>
        </p:nvGrpSpPr>
        <p:grpSpPr bwMode="auto">
          <a:xfrm>
            <a:off x="2133600" y="1312263"/>
            <a:ext cx="4724400" cy="685800"/>
            <a:chOff x="1296" y="1824"/>
            <a:chExt cx="2976" cy="432"/>
          </a:xfrm>
        </p:grpSpPr>
        <p:sp>
          <p:nvSpPr>
            <p:cNvPr id="26"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27"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28" name="Text Box 4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Các</a:t>
              </a:r>
              <a:r>
                <a:rPr kumimoji="0" lang="en-US" sz="1800" b="1" i="0" u="none" strike="noStrike" kern="0" cap="none" spc="0" normalizeH="0" noProof="0">
                  <a:ln>
                    <a:noFill/>
                  </a:ln>
                  <a:solidFill>
                    <a:srgbClr val="000000"/>
                  </a:solidFill>
                  <a:effectLst/>
                  <a:uLnTx/>
                  <a:uFillTx/>
                </a:rPr>
                <a:t> thành phần cơ bản</a:t>
              </a:r>
              <a:endParaRPr kumimoji="0" lang="en-US" sz="1800" b="1" i="0" u="none" strike="noStrike" kern="0" cap="none" spc="0" normalizeH="0" baseline="0" noProof="0">
                <a:ln>
                  <a:noFill/>
                </a:ln>
                <a:solidFill>
                  <a:srgbClr val="000000"/>
                </a:solidFill>
                <a:effectLst/>
                <a:uLnTx/>
                <a:uFillTx/>
              </a:endParaRPr>
            </a:p>
          </p:txBody>
        </p:sp>
        <p:sp>
          <p:nvSpPr>
            <p:cNvPr id="29"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1</a:t>
              </a:r>
            </a:p>
          </p:txBody>
        </p:sp>
      </p:grpSp>
      <p:grpSp>
        <p:nvGrpSpPr>
          <p:cNvPr id="30" name="Group 51"/>
          <p:cNvGrpSpPr>
            <a:grpSpLocks/>
          </p:cNvGrpSpPr>
          <p:nvPr/>
        </p:nvGrpSpPr>
        <p:grpSpPr bwMode="auto">
          <a:xfrm>
            <a:off x="2151856" y="2057400"/>
            <a:ext cx="4724400" cy="685800"/>
            <a:chOff x="1296" y="1824"/>
            <a:chExt cx="2976" cy="432"/>
          </a:xfrm>
        </p:grpSpPr>
        <p:sp>
          <p:nvSpPr>
            <p:cNvPr id="31"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32"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33" name="Text Box 5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lvl="0" eaLnBrk="0" hangingPunct="0">
                <a:defRPr/>
              </a:pPr>
              <a:r>
                <a:rPr lang="en-US" b="1" kern="0">
                  <a:solidFill>
                    <a:srgbClr val="000000"/>
                  </a:solidFill>
                </a:rPr>
                <a:t>Cấu trúc ch</a:t>
              </a:r>
              <a:r>
                <a:rPr lang="vi-VN" b="1" kern="0">
                  <a:solidFill>
                    <a:srgbClr val="000000"/>
                  </a:solidFill>
                </a:rPr>
                <a:t>ươ</a:t>
              </a:r>
              <a:r>
                <a:rPr lang="en-US" b="1" kern="0">
                  <a:solidFill>
                    <a:srgbClr val="000000"/>
                  </a:solidFill>
                </a:rPr>
                <a:t>ng trình C</a:t>
              </a:r>
            </a:p>
          </p:txBody>
        </p:sp>
        <p:sp>
          <p:nvSpPr>
            <p:cNvPr id="34" name="Text Box 5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2</a:t>
              </a:r>
            </a:p>
          </p:txBody>
        </p:sp>
      </p:grpSp>
      <p:grpSp>
        <p:nvGrpSpPr>
          <p:cNvPr id="35" name="Group 56"/>
          <p:cNvGrpSpPr>
            <a:grpSpLocks/>
          </p:cNvGrpSpPr>
          <p:nvPr/>
        </p:nvGrpSpPr>
        <p:grpSpPr bwMode="auto">
          <a:xfrm>
            <a:off x="2154172" y="2763982"/>
            <a:ext cx="4724400" cy="685800"/>
            <a:chOff x="1296" y="1824"/>
            <a:chExt cx="2976" cy="432"/>
          </a:xfrm>
        </p:grpSpPr>
        <p:sp>
          <p:nvSpPr>
            <p:cNvPr id="36"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37"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38" name="Text Box 5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Các</a:t>
              </a:r>
              <a:r>
                <a:rPr kumimoji="0" lang="en-US" sz="1800" b="1" i="0" u="none" strike="noStrike" kern="0" cap="none" spc="0" normalizeH="0" noProof="0">
                  <a:ln>
                    <a:noFill/>
                  </a:ln>
                  <a:solidFill>
                    <a:srgbClr val="000000"/>
                  </a:solidFill>
                  <a:effectLst/>
                  <a:uLnTx/>
                  <a:uFillTx/>
                </a:rPr>
                <a:t> kiểu liệu cơ sở</a:t>
              </a:r>
              <a:endParaRPr kumimoji="0" lang="en-US" sz="1800" b="1" i="0" u="none" strike="noStrike" kern="0" cap="none" spc="0" normalizeH="0" baseline="0" noProof="0">
                <a:ln>
                  <a:noFill/>
                </a:ln>
                <a:solidFill>
                  <a:srgbClr val="000000"/>
                </a:solidFill>
                <a:effectLst/>
                <a:uLnTx/>
                <a:uFillTx/>
              </a:endParaRPr>
            </a:p>
          </p:txBody>
        </p:sp>
        <p:sp>
          <p:nvSpPr>
            <p:cNvPr id="39" name="Text Box 6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3</a:t>
              </a:r>
            </a:p>
          </p:txBody>
        </p:sp>
      </p:grpSp>
      <p:grpSp>
        <p:nvGrpSpPr>
          <p:cNvPr id="75" name="Group 56"/>
          <p:cNvGrpSpPr>
            <a:grpSpLocks/>
          </p:cNvGrpSpPr>
          <p:nvPr/>
        </p:nvGrpSpPr>
        <p:grpSpPr bwMode="auto">
          <a:xfrm>
            <a:off x="2195736" y="5623520"/>
            <a:ext cx="4724400" cy="685800"/>
            <a:chOff x="1296" y="1824"/>
            <a:chExt cx="2976" cy="432"/>
          </a:xfrm>
        </p:grpSpPr>
        <p:sp>
          <p:nvSpPr>
            <p:cNvPr id="76"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77"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78" name="Text Box 59"/>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lvl="0" eaLnBrk="0" hangingPunct="0"/>
              <a:r>
                <a:rPr lang="en-US" b="1" kern="0">
                  <a:solidFill>
                    <a:srgbClr val="000000"/>
                  </a:solidFill>
                </a:rPr>
                <a:t>Vào – ra dữ liệu trong C</a:t>
              </a:r>
              <a:endParaRPr kumimoji="0" lang="en-US" sz="1800" b="1" i="0" u="none" strike="noStrike" kern="0" cap="none" spc="0" normalizeH="0" baseline="0" noProof="0">
                <a:ln>
                  <a:noFill/>
                </a:ln>
                <a:solidFill>
                  <a:srgbClr val="000000"/>
                </a:solidFill>
                <a:effectLst/>
                <a:uLnTx/>
                <a:uFillTx/>
              </a:endParaRPr>
            </a:p>
          </p:txBody>
        </p:sp>
        <p:sp>
          <p:nvSpPr>
            <p:cNvPr id="79" name="Text Box 6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7</a:t>
              </a:r>
            </a:p>
          </p:txBody>
        </p:sp>
      </p:grpSp>
      <p:grpSp>
        <p:nvGrpSpPr>
          <p:cNvPr id="80" name="Group 61"/>
          <p:cNvGrpSpPr>
            <a:grpSpLocks/>
          </p:cNvGrpSpPr>
          <p:nvPr/>
        </p:nvGrpSpPr>
        <p:grpSpPr bwMode="auto">
          <a:xfrm>
            <a:off x="2203082" y="3484062"/>
            <a:ext cx="4724400" cy="685800"/>
            <a:chOff x="1296" y="1824"/>
            <a:chExt cx="2976" cy="432"/>
          </a:xfrm>
        </p:grpSpPr>
        <p:sp>
          <p:nvSpPr>
            <p:cNvPr id="81" name="AutoShape 62"/>
            <p:cNvSpPr>
              <a:spLocks noChangeArrowheads="1"/>
            </p:cNvSpPr>
            <p:nvPr/>
          </p:nvSpPr>
          <p:spPr bwMode="gray">
            <a:xfrm>
              <a:off x="1536" y="1899"/>
              <a:ext cx="2736" cy="288"/>
            </a:xfrm>
            <a:prstGeom prst="roundRect">
              <a:avLst>
                <a:gd name="adj" fmla="val 16667"/>
              </a:avLst>
            </a:prstGeom>
            <a:gradFill rotWithShape="1">
              <a:gsLst>
                <a:gs pos="0">
                  <a:srgbClr val="A0B5C4">
                    <a:gamma/>
                    <a:tint val="21176"/>
                    <a:invGamma/>
                  </a:srgbClr>
                </a:gs>
                <a:gs pos="100000">
                  <a:srgbClr val="A0B5C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82"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83" name="Text Box 6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Câu</a:t>
              </a:r>
              <a:r>
                <a:rPr kumimoji="0" lang="en-US" sz="1800" b="1" i="0" u="none" strike="noStrike" kern="0" cap="none" spc="0" normalizeH="0" noProof="0">
                  <a:ln>
                    <a:noFill/>
                  </a:ln>
                  <a:solidFill>
                    <a:srgbClr val="000000"/>
                  </a:solidFill>
                  <a:effectLst/>
                  <a:uLnTx/>
                  <a:uFillTx/>
                </a:rPr>
                <a:t> lệnh-Biểu thức</a:t>
              </a:r>
              <a:endParaRPr kumimoji="0" lang="en-US" sz="1800" b="1" i="0" u="none" strike="noStrike" kern="0" cap="none" spc="0" normalizeH="0" baseline="0" noProof="0">
                <a:ln>
                  <a:noFill/>
                </a:ln>
                <a:solidFill>
                  <a:srgbClr val="000000"/>
                </a:solidFill>
                <a:effectLst/>
                <a:uLnTx/>
                <a:uFillTx/>
              </a:endParaRPr>
            </a:p>
          </p:txBody>
        </p:sp>
        <p:sp>
          <p:nvSpPr>
            <p:cNvPr id="84" name="Text Box 6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4</a:t>
              </a:r>
            </a:p>
          </p:txBody>
        </p:sp>
      </p:grpSp>
      <p:grpSp>
        <p:nvGrpSpPr>
          <p:cNvPr id="85" name="Group 46"/>
          <p:cNvGrpSpPr>
            <a:grpSpLocks/>
          </p:cNvGrpSpPr>
          <p:nvPr/>
        </p:nvGrpSpPr>
        <p:grpSpPr bwMode="auto">
          <a:xfrm>
            <a:off x="2167880" y="4198221"/>
            <a:ext cx="4724400" cy="685800"/>
            <a:chOff x="1296" y="1824"/>
            <a:chExt cx="2976" cy="432"/>
          </a:xfrm>
        </p:grpSpPr>
        <p:sp>
          <p:nvSpPr>
            <p:cNvPr id="86"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87"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88" name="Text Box 4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lvl="0" eaLnBrk="0" hangingPunct="0">
                <a:defRPr/>
              </a:pPr>
              <a:r>
                <a:rPr lang="en-US" b="1" kern="0">
                  <a:solidFill>
                    <a:srgbClr val="000000"/>
                  </a:solidFill>
                </a:rPr>
                <a:t>Thứ tự ưu tiên các phép toán</a:t>
              </a:r>
            </a:p>
          </p:txBody>
        </p:sp>
        <p:sp>
          <p:nvSpPr>
            <p:cNvPr id="89"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5</a:t>
              </a:r>
            </a:p>
          </p:txBody>
        </p:sp>
      </p:grpSp>
      <p:grpSp>
        <p:nvGrpSpPr>
          <p:cNvPr id="90" name="Group 51"/>
          <p:cNvGrpSpPr>
            <a:grpSpLocks/>
          </p:cNvGrpSpPr>
          <p:nvPr/>
        </p:nvGrpSpPr>
        <p:grpSpPr bwMode="auto">
          <a:xfrm>
            <a:off x="2167880" y="4923683"/>
            <a:ext cx="4724400" cy="685800"/>
            <a:chOff x="1296" y="1824"/>
            <a:chExt cx="2976" cy="432"/>
          </a:xfrm>
        </p:grpSpPr>
        <p:sp>
          <p:nvSpPr>
            <p:cNvPr id="91"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92"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cs typeface="+mn-cs"/>
              </a:endParaRPr>
            </a:p>
          </p:txBody>
        </p:sp>
        <p:sp>
          <p:nvSpPr>
            <p:cNvPr id="93" name="Text Box 5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000000"/>
                  </a:solidFill>
                  <a:effectLst/>
                  <a:uLnTx/>
                  <a:uFillTx/>
                </a:rPr>
                <a:t>Sử</a:t>
              </a:r>
              <a:r>
                <a:rPr kumimoji="0" lang="en-US" sz="1800" b="1" i="0" u="none" strike="noStrike" kern="0" cap="none" spc="0" normalizeH="0" noProof="0">
                  <a:ln>
                    <a:noFill/>
                  </a:ln>
                  <a:solidFill>
                    <a:srgbClr val="000000"/>
                  </a:solidFill>
                  <a:effectLst/>
                  <a:uLnTx/>
                  <a:uFillTx/>
                </a:rPr>
                <a:t> dụng môi trường làm việc C</a:t>
              </a:r>
              <a:endParaRPr kumimoji="0" lang="en-US" sz="1800" b="1" i="0" u="none" strike="noStrike" kern="0" cap="none" spc="0" normalizeH="0" baseline="0" noProof="0">
                <a:ln>
                  <a:noFill/>
                </a:ln>
                <a:solidFill>
                  <a:srgbClr val="000000"/>
                </a:solidFill>
                <a:effectLst/>
                <a:uLnTx/>
                <a:uFillTx/>
              </a:endParaRPr>
            </a:p>
          </p:txBody>
        </p:sp>
        <p:sp>
          <p:nvSpPr>
            <p:cNvPr id="94" name="Text Box 5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FFFFFF"/>
                  </a:solidFill>
                  <a:effectLst/>
                  <a:uLnTx/>
                  <a:uFillTx/>
                </a:rPr>
                <a:t>6</a:t>
              </a:r>
            </a:p>
          </p:txBody>
        </p:sp>
      </p:grpSp>
      <p:sp>
        <p:nvSpPr>
          <p:cNvPr id="10" name="Slide Number Placeholder 9"/>
          <p:cNvSpPr>
            <a:spLocks noGrp="1"/>
          </p:cNvSpPr>
          <p:nvPr>
            <p:ph type="sldNum" sz="quarter" idx="12"/>
          </p:nvPr>
        </p:nvSpPr>
        <p:spPr/>
        <p:txBody>
          <a:bodyPr/>
          <a:lstStyle/>
          <a:p>
            <a:fld id="{5AB95402-1E0D-474E-8D8C-CBE7F053639E}" type="slidenum">
              <a:rPr lang="vi-VN" smtClean="0"/>
              <a:pPr/>
              <a:t>2</a:t>
            </a:fld>
            <a:r>
              <a:rPr lang="vi-VN"/>
              <a:t>/59</a:t>
            </a:r>
          </a:p>
        </p:txBody>
      </p:sp>
    </p:spTree>
    <p:extLst>
      <p:ext uri="{BB962C8B-B14F-4D97-AF65-F5344CB8AC3E}">
        <p14:creationId xmlns:p14="http://schemas.microsoft.com/office/powerpoint/2010/main" val="116486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750"/>
                                        <p:tgtEl>
                                          <p:spTgt spid="30"/>
                                        </p:tgtEl>
                                      </p:cBhvr>
                                    </p:animEffect>
                                  </p:childTnLst>
                                </p:cTn>
                              </p:par>
                            </p:childTnLst>
                          </p:cTn>
                        </p:par>
                        <p:par>
                          <p:cTn id="12" fill="hold">
                            <p:stCondLst>
                              <p:cond delay="1250"/>
                            </p:stCondLst>
                            <p:childTnLst>
                              <p:par>
                                <p:cTn id="13" presetID="22" presetClass="entr" presetSubtype="8"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left)">
                                      <p:cBhvr>
                                        <p:cTn id="15" dur="750"/>
                                        <p:tgtEl>
                                          <p:spTgt spid="35"/>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80"/>
                                        </p:tgtEl>
                                        <p:attrNameLst>
                                          <p:attrName>style.visibility</p:attrName>
                                        </p:attrNameLst>
                                      </p:cBhvr>
                                      <p:to>
                                        <p:strVal val="visible"/>
                                      </p:to>
                                    </p:set>
                                    <p:animEffect transition="in" filter="wipe(left)">
                                      <p:cBhvr>
                                        <p:cTn id="19" dur="750"/>
                                        <p:tgtEl>
                                          <p:spTgt spid="80"/>
                                        </p:tgtEl>
                                      </p:cBhvr>
                                    </p:animEffect>
                                  </p:childTnLst>
                                </p:cTn>
                              </p:par>
                            </p:childTnLst>
                          </p:cTn>
                        </p:par>
                        <p:par>
                          <p:cTn id="20" fill="hold">
                            <p:stCondLst>
                              <p:cond delay="2750"/>
                            </p:stCondLst>
                            <p:childTnLst>
                              <p:par>
                                <p:cTn id="21" presetID="22" presetClass="entr" presetSubtype="8" fill="hold" nodeType="afterEffect">
                                  <p:stCondLst>
                                    <p:cond delay="0"/>
                                  </p:stCondLst>
                                  <p:childTnLst>
                                    <p:set>
                                      <p:cBhvr>
                                        <p:cTn id="22" dur="1" fill="hold">
                                          <p:stCondLst>
                                            <p:cond delay="0"/>
                                          </p:stCondLst>
                                        </p:cTn>
                                        <p:tgtEl>
                                          <p:spTgt spid="85"/>
                                        </p:tgtEl>
                                        <p:attrNameLst>
                                          <p:attrName>style.visibility</p:attrName>
                                        </p:attrNameLst>
                                      </p:cBhvr>
                                      <p:to>
                                        <p:strVal val="visible"/>
                                      </p:to>
                                    </p:set>
                                    <p:animEffect transition="in" filter="wipe(left)">
                                      <p:cBhvr>
                                        <p:cTn id="23" dur="750"/>
                                        <p:tgtEl>
                                          <p:spTgt spid="85"/>
                                        </p:tgtEl>
                                      </p:cBhvr>
                                    </p:animEffect>
                                  </p:childTnLst>
                                </p:cTn>
                              </p:par>
                            </p:childTnLst>
                          </p:cTn>
                        </p:par>
                        <p:par>
                          <p:cTn id="24" fill="hold">
                            <p:stCondLst>
                              <p:cond delay="3500"/>
                            </p:stCondLst>
                            <p:childTnLst>
                              <p:par>
                                <p:cTn id="25" presetID="22" presetClass="entr" presetSubtype="8" fill="hold" nodeType="after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left)">
                                      <p:cBhvr>
                                        <p:cTn id="27" dur="750"/>
                                        <p:tgtEl>
                                          <p:spTgt spid="90"/>
                                        </p:tgtEl>
                                      </p:cBhvr>
                                    </p:animEffect>
                                  </p:childTnLst>
                                </p:cTn>
                              </p:par>
                            </p:childTnLst>
                          </p:cTn>
                        </p:par>
                        <p:par>
                          <p:cTn id="28" fill="hold">
                            <p:stCondLst>
                              <p:cond delay="4250"/>
                            </p:stCondLst>
                            <p:childTnLst>
                              <p:par>
                                <p:cTn id="29" presetID="22" presetClass="entr" presetSubtype="8" fill="hold" nodeType="afterEffect">
                                  <p:stCondLst>
                                    <p:cond delay="0"/>
                                  </p:stCondLst>
                                  <p:childTnLst>
                                    <p:set>
                                      <p:cBhvr>
                                        <p:cTn id="30" dur="1" fill="hold">
                                          <p:stCondLst>
                                            <p:cond delay="0"/>
                                          </p:stCondLst>
                                        </p:cTn>
                                        <p:tgtEl>
                                          <p:spTgt spid="75"/>
                                        </p:tgtEl>
                                        <p:attrNameLst>
                                          <p:attrName>style.visibility</p:attrName>
                                        </p:attrNameLst>
                                      </p:cBhvr>
                                      <p:to>
                                        <p:strVal val="visible"/>
                                      </p:to>
                                    </p:set>
                                    <p:animEffect transition="in" filter="wipe(left)">
                                      <p:cBhvr>
                                        <p:cTn id="31" dur="75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Các thành phần cơ bản</a:t>
            </a:r>
            <a:endParaRPr lang="vi-VN"/>
          </a:p>
        </p:txBody>
      </p:sp>
      <p:sp>
        <p:nvSpPr>
          <p:cNvPr id="3" name="Content Placeholder 2"/>
          <p:cNvSpPr>
            <a:spLocks noGrp="1"/>
          </p:cNvSpPr>
          <p:nvPr>
            <p:ph idx="1"/>
          </p:nvPr>
        </p:nvSpPr>
        <p:spPr/>
        <p:txBody>
          <a:bodyPr/>
          <a:lstStyle/>
          <a:p>
            <a:r>
              <a:rPr lang="en-US"/>
              <a:t>Bộ từ vựng của C</a:t>
            </a:r>
          </a:p>
          <a:p>
            <a:pPr lvl="1">
              <a:defRPr/>
            </a:pPr>
            <a:r>
              <a:rPr lang="fr-FR"/>
              <a:t>Các chữ cái hoa: </a:t>
            </a:r>
            <a:r>
              <a:rPr lang="fr-FR">
                <a:solidFill>
                  <a:srgbClr val="FF0000"/>
                </a:solidFill>
              </a:rPr>
              <a:t>A</a:t>
            </a:r>
            <a:r>
              <a:rPr lang="fr-FR"/>
              <a:t>, </a:t>
            </a:r>
            <a:r>
              <a:rPr lang="fr-FR">
                <a:solidFill>
                  <a:srgbClr val="FF0000"/>
                </a:solidFill>
              </a:rPr>
              <a:t>B</a:t>
            </a:r>
            <a:r>
              <a:rPr lang="fr-FR"/>
              <a:t>, </a:t>
            </a:r>
            <a:r>
              <a:rPr lang="fr-FR">
                <a:solidFill>
                  <a:srgbClr val="FF0000"/>
                </a:solidFill>
              </a:rPr>
              <a:t>C</a:t>
            </a:r>
            <a:r>
              <a:rPr lang="fr-FR"/>
              <a:t>, …, </a:t>
            </a:r>
            <a:r>
              <a:rPr lang="fr-FR">
                <a:solidFill>
                  <a:srgbClr val="FF0000"/>
                </a:solidFill>
              </a:rPr>
              <a:t>Z</a:t>
            </a:r>
          </a:p>
          <a:p>
            <a:pPr lvl="1">
              <a:defRPr/>
            </a:pPr>
            <a:r>
              <a:rPr lang="fr-FR"/>
              <a:t>Các chữ cái thường:</a:t>
            </a:r>
            <a:r>
              <a:rPr lang="fr-FR">
                <a:solidFill>
                  <a:srgbClr val="FF0000"/>
                </a:solidFill>
              </a:rPr>
              <a:t> a</a:t>
            </a:r>
            <a:r>
              <a:rPr lang="fr-FR"/>
              <a:t>, </a:t>
            </a:r>
            <a:r>
              <a:rPr lang="fr-FR">
                <a:solidFill>
                  <a:srgbClr val="FF0000"/>
                </a:solidFill>
              </a:rPr>
              <a:t>b</a:t>
            </a:r>
            <a:r>
              <a:rPr lang="fr-FR"/>
              <a:t>, </a:t>
            </a:r>
            <a:r>
              <a:rPr lang="fr-FR">
                <a:solidFill>
                  <a:srgbClr val="FF0000"/>
                </a:solidFill>
              </a:rPr>
              <a:t>c</a:t>
            </a:r>
            <a:r>
              <a:rPr lang="fr-FR"/>
              <a:t>, …, </a:t>
            </a:r>
            <a:r>
              <a:rPr lang="fr-FR">
                <a:solidFill>
                  <a:srgbClr val="FF0000"/>
                </a:solidFill>
              </a:rPr>
              <a:t>z</a:t>
            </a:r>
            <a:endParaRPr lang="en-US">
              <a:solidFill>
                <a:srgbClr val="FF0000"/>
              </a:solidFill>
            </a:endParaRPr>
          </a:p>
          <a:p>
            <a:pPr lvl="1">
              <a:defRPr/>
            </a:pPr>
            <a:r>
              <a:rPr lang="fr-FR"/>
              <a:t>Các chữ số : </a:t>
            </a:r>
            <a:r>
              <a:rPr lang="fr-FR">
                <a:solidFill>
                  <a:srgbClr val="FF0000"/>
                </a:solidFill>
              </a:rPr>
              <a:t>0</a:t>
            </a:r>
            <a:r>
              <a:rPr lang="fr-FR"/>
              <a:t>, </a:t>
            </a:r>
            <a:r>
              <a:rPr lang="fr-FR">
                <a:solidFill>
                  <a:srgbClr val="FF0000"/>
                </a:solidFill>
              </a:rPr>
              <a:t>1</a:t>
            </a:r>
            <a:r>
              <a:rPr lang="fr-FR"/>
              <a:t>, </a:t>
            </a:r>
            <a:r>
              <a:rPr lang="fr-FR">
                <a:solidFill>
                  <a:srgbClr val="FF0000"/>
                </a:solidFill>
              </a:rPr>
              <a:t>2</a:t>
            </a:r>
            <a:r>
              <a:rPr lang="fr-FR"/>
              <a:t>, </a:t>
            </a:r>
            <a:r>
              <a:rPr lang="fr-FR">
                <a:solidFill>
                  <a:srgbClr val="FF0000"/>
                </a:solidFill>
              </a:rPr>
              <a:t>4</a:t>
            </a:r>
            <a:r>
              <a:rPr lang="fr-FR"/>
              <a:t>, </a:t>
            </a:r>
            <a:r>
              <a:rPr lang="fr-FR">
                <a:solidFill>
                  <a:srgbClr val="FF0000"/>
                </a:solidFill>
              </a:rPr>
              <a:t>5</a:t>
            </a:r>
            <a:r>
              <a:rPr lang="fr-FR"/>
              <a:t>, </a:t>
            </a:r>
            <a:r>
              <a:rPr lang="fr-FR">
                <a:solidFill>
                  <a:srgbClr val="FF0000"/>
                </a:solidFill>
              </a:rPr>
              <a:t>6</a:t>
            </a:r>
            <a:r>
              <a:rPr lang="fr-FR"/>
              <a:t>, </a:t>
            </a:r>
            <a:r>
              <a:rPr lang="fr-FR">
                <a:solidFill>
                  <a:srgbClr val="FF0000"/>
                </a:solidFill>
              </a:rPr>
              <a:t>7</a:t>
            </a:r>
            <a:r>
              <a:rPr lang="fr-FR"/>
              <a:t>, </a:t>
            </a:r>
            <a:r>
              <a:rPr lang="fr-FR">
                <a:solidFill>
                  <a:srgbClr val="FF0000"/>
                </a:solidFill>
              </a:rPr>
              <a:t>8</a:t>
            </a:r>
            <a:r>
              <a:rPr lang="fr-FR"/>
              <a:t>, </a:t>
            </a:r>
            <a:r>
              <a:rPr lang="fr-FR">
                <a:solidFill>
                  <a:srgbClr val="FF0000"/>
                </a:solidFill>
              </a:rPr>
              <a:t>9</a:t>
            </a:r>
            <a:endParaRPr lang="en-US">
              <a:solidFill>
                <a:srgbClr val="FF0000"/>
              </a:solidFill>
            </a:endParaRPr>
          </a:p>
          <a:p>
            <a:pPr lvl="1">
              <a:defRPr/>
            </a:pPr>
            <a:r>
              <a:rPr lang="fr-FR"/>
              <a:t>Các ký hiệu toán học :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&lt;</a:t>
            </a:r>
            <a:r>
              <a:rPr lang="fr-FR"/>
              <a:t> </a:t>
            </a:r>
            <a:r>
              <a:rPr lang="fr-FR">
                <a:solidFill>
                  <a:srgbClr val="FF0000"/>
                </a:solidFill>
              </a:rPr>
              <a:t>&gt;</a:t>
            </a:r>
            <a:r>
              <a:rPr lang="fr-FR"/>
              <a:t> </a:t>
            </a:r>
            <a:r>
              <a:rPr lang="fr-FR">
                <a:solidFill>
                  <a:srgbClr val="FF0000"/>
                </a:solidFill>
              </a:rPr>
              <a:t>(</a:t>
            </a:r>
            <a:r>
              <a:rPr lang="fr-FR"/>
              <a:t> </a:t>
            </a:r>
            <a:r>
              <a:rPr lang="fr-FR">
                <a:solidFill>
                  <a:srgbClr val="FF0000"/>
                </a:solidFill>
              </a:rPr>
              <a:t>)</a:t>
            </a:r>
            <a:endParaRPr lang="en-US">
              <a:solidFill>
                <a:srgbClr val="FF0000"/>
              </a:solidFill>
            </a:endParaRPr>
          </a:p>
          <a:p>
            <a:pPr lvl="1">
              <a:defRPr/>
            </a:pPr>
            <a:r>
              <a:rPr lang="fr-FR"/>
              <a:t>Các ký tự đặc biệt :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a:t>
            </a:r>
            <a:r>
              <a:rPr lang="fr-FR"/>
              <a:t> </a:t>
            </a:r>
            <a:r>
              <a:rPr lang="fr-FR">
                <a:solidFill>
                  <a:srgbClr val="FF0000"/>
                </a:solidFill>
              </a:rPr>
              <a:t>‘ ^ &amp; @ </a:t>
            </a:r>
            <a:endParaRPr lang="en-US">
              <a:solidFill>
                <a:srgbClr val="FF0000"/>
              </a:solidFill>
            </a:endParaRPr>
          </a:p>
          <a:p>
            <a:pPr lvl="1">
              <a:defRPr/>
            </a:pPr>
            <a:r>
              <a:rPr lang="fr-FR"/>
              <a:t>Ký tự gạch nối </a:t>
            </a:r>
            <a:r>
              <a:rPr lang="fr-FR">
                <a:solidFill>
                  <a:srgbClr val="FF0000"/>
                </a:solidFill>
              </a:rPr>
              <a:t>_</a:t>
            </a:r>
            <a:r>
              <a:rPr lang="fr-FR"/>
              <a:t> và khoảng trắng </a:t>
            </a:r>
            <a:r>
              <a:rPr lang="fr-FR">
                <a:solidFill>
                  <a:srgbClr val="FF0000"/>
                </a:solidFill>
              </a:rPr>
              <a:t>‘</a:t>
            </a:r>
            <a:r>
              <a:rPr lang="fr-FR"/>
              <a:t> </a:t>
            </a:r>
            <a:r>
              <a:rPr lang="fr-FR">
                <a:solidFill>
                  <a:srgbClr val="FF0000"/>
                </a:solidFill>
              </a:rPr>
              <a:t>’, </a:t>
            </a:r>
            <a:r>
              <a:rPr lang="fr-FR"/>
              <a:t>dấu tab, xuống dòng</a:t>
            </a:r>
            <a:endParaRPr lang="en-US"/>
          </a:p>
          <a:p>
            <a:pPr lvl="1"/>
            <a:endParaRPr lang="vi-VN"/>
          </a:p>
        </p:txBody>
      </p:sp>
      <p:sp>
        <p:nvSpPr>
          <p:cNvPr id="4" name="Date Placeholder 3"/>
          <p:cNvSpPr>
            <a:spLocks noGrp="1"/>
          </p:cNvSpPr>
          <p:nvPr>
            <p:ph type="dt" sz="half" idx="10"/>
          </p:nvPr>
        </p:nvSpPr>
        <p:spPr/>
        <p:txBody>
          <a:bodyPr/>
          <a:lstStyle/>
          <a:p>
            <a:fld id="{853305D7-B952-4B45-A076-F8DBCC8C2C4B}"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3</a:t>
            </a:fld>
            <a:r>
              <a:rPr lang="vi-VN"/>
              <a:t>/59</a:t>
            </a:r>
          </a:p>
        </p:txBody>
      </p:sp>
    </p:spTree>
    <p:extLst>
      <p:ext uri="{BB962C8B-B14F-4D97-AF65-F5344CB8AC3E}">
        <p14:creationId xmlns:p14="http://schemas.microsoft.com/office/powerpoint/2010/main" val="2975028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Các thành phần cơ bản (tt)</a:t>
            </a:r>
            <a:endParaRPr lang="vi-VN"/>
          </a:p>
        </p:txBody>
      </p:sp>
      <p:sp>
        <p:nvSpPr>
          <p:cNvPr id="3" name="Content Placeholder 2"/>
          <p:cNvSpPr>
            <a:spLocks noGrp="1"/>
          </p:cNvSpPr>
          <p:nvPr>
            <p:ph idx="1"/>
          </p:nvPr>
        </p:nvSpPr>
        <p:spPr/>
        <p:txBody>
          <a:bodyPr/>
          <a:lstStyle/>
          <a:p>
            <a:pPr>
              <a:defRPr/>
            </a:pPr>
            <a:r>
              <a:rPr lang="en-US" dirty="0" err="1"/>
              <a:t>Từ</a:t>
            </a:r>
            <a:r>
              <a:rPr lang="en-US" dirty="0"/>
              <a:t> </a:t>
            </a:r>
            <a:r>
              <a:rPr lang="en-US" dirty="0" err="1"/>
              <a:t>khóa</a:t>
            </a:r>
            <a:r>
              <a:rPr lang="en-US" dirty="0"/>
              <a:t> (</a:t>
            </a:r>
            <a:r>
              <a:rPr lang="en-US" dirty="0">
                <a:solidFill>
                  <a:srgbClr val="FF0000"/>
                </a:solidFill>
              </a:rPr>
              <a:t>keyword</a:t>
            </a:r>
            <a:r>
              <a:rPr lang="en-US" dirty="0"/>
              <a:t>)</a:t>
            </a:r>
          </a:p>
          <a:p>
            <a:pPr lvl="1">
              <a:defRPr/>
            </a:pPr>
            <a:r>
              <a:rPr lang="en-US" dirty="0" err="1"/>
              <a:t>Các</a:t>
            </a:r>
            <a:r>
              <a:rPr lang="en-US" dirty="0"/>
              <a:t> </a:t>
            </a:r>
            <a:r>
              <a:rPr lang="en-US" dirty="0" err="1"/>
              <a:t>từ</a:t>
            </a:r>
            <a:r>
              <a:rPr lang="en-US" dirty="0"/>
              <a:t> </a:t>
            </a:r>
            <a:r>
              <a:rPr lang="en-US" dirty="0" err="1">
                <a:solidFill>
                  <a:srgbClr val="FF0000"/>
                </a:solidFill>
              </a:rPr>
              <a:t>dành</a:t>
            </a:r>
            <a:r>
              <a:rPr lang="en-US" dirty="0">
                <a:solidFill>
                  <a:srgbClr val="FF0000"/>
                </a:solidFill>
              </a:rPr>
              <a:t> </a:t>
            </a:r>
            <a:r>
              <a:rPr lang="en-US" dirty="0" err="1">
                <a:solidFill>
                  <a:srgbClr val="FF0000"/>
                </a:solidFill>
              </a:rPr>
              <a:t>riêng</a:t>
            </a:r>
            <a:r>
              <a:rPr lang="en-US" dirty="0"/>
              <a:t> </a:t>
            </a:r>
            <a:r>
              <a:rPr lang="en-US" dirty="0" err="1"/>
              <a:t>trong</a:t>
            </a:r>
            <a:r>
              <a:rPr lang="en-US" dirty="0"/>
              <a:t> </a:t>
            </a:r>
            <a:r>
              <a:rPr lang="en-US" dirty="0" err="1"/>
              <a:t>ngôn</a:t>
            </a:r>
            <a:r>
              <a:rPr lang="en-US" dirty="0"/>
              <a:t> </a:t>
            </a:r>
            <a:r>
              <a:rPr lang="en-US" dirty="0" err="1"/>
              <a:t>ngữ</a:t>
            </a:r>
            <a:r>
              <a:rPr lang="en-US" dirty="0"/>
              <a:t>, </a:t>
            </a:r>
            <a:r>
              <a:rPr lang="en-US" dirty="0" err="1"/>
              <a:t>mỗi</a:t>
            </a:r>
            <a:r>
              <a:rPr lang="en-US" dirty="0"/>
              <a:t> </a:t>
            </a:r>
            <a:r>
              <a:rPr lang="en-US" dirty="0" err="1"/>
              <a:t>từ</a:t>
            </a:r>
            <a:r>
              <a:rPr lang="en-US" dirty="0"/>
              <a:t> </a:t>
            </a:r>
            <a:r>
              <a:rPr lang="en-US" dirty="0" err="1"/>
              <a:t>có</a:t>
            </a:r>
            <a:r>
              <a:rPr lang="en-US" dirty="0"/>
              <a:t> </a:t>
            </a:r>
            <a:r>
              <a:rPr lang="en-US" dirty="0" err="1"/>
              <a:t>tác</a:t>
            </a:r>
            <a:r>
              <a:rPr lang="en-US" dirty="0"/>
              <a:t> </a:t>
            </a:r>
            <a:r>
              <a:rPr lang="en-US" dirty="0" err="1"/>
              <a:t>dụng</a:t>
            </a:r>
            <a:r>
              <a:rPr lang="en-US" dirty="0"/>
              <a:t> </a:t>
            </a:r>
            <a:r>
              <a:rPr lang="en-US" dirty="0" err="1"/>
              <a:t>và</a:t>
            </a:r>
            <a:r>
              <a:rPr lang="en-US" dirty="0"/>
              <a:t> ý </a:t>
            </a:r>
            <a:r>
              <a:rPr lang="en-US" dirty="0" err="1"/>
              <a:t>nghĩa</a:t>
            </a:r>
            <a:r>
              <a:rPr lang="en-US" dirty="0"/>
              <a:t> </a:t>
            </a:r>
            <a:r>
              <a:rPr lang="en-US" dirty="0" err="1"/>
              <a:t>cụ</a:t>
            </a:r>
            <a:r>
              <a:rPr lang="en-US" dirty="0"/>
              <a:t> </a:t>
            </a:r>
            <a:r>
              <a:rPr lang="en-US" dirty="0" err="1"/>
              <a:t>thể</a:t>
            </a:r>
            <a:endParaRPr lang="en-US" dirty="0"/>
          </a:p>
          <a:p>
            <a:pPr lvl="1">
              <a:defRPr/>
            </a:pPr>
            <a:r>
              <a:rPr lang="en-US" dirty="0" err="1">
                <a:solidFill>
                  <a:srgbClr val="FF0000"/>
                </a:solidFill>
              </a:rPr>
              <a:t>Không</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từ</a:t>
            </a:r>
            <a:r>
              <a:rPr lang="en-US" dirty="0"/>
              <a:t> </a:t>
            </a:r>
            <a:r>
              <a:rPr lang="en-US" dirty="0" err="1"/>
              <a:t>khóa</a:t>
            </a:r>
            <a:r>
              <a:rPr lang="en-US" dirty="0"/>
              <a:t> </a:t>
            </a:r>
            <a:r>
              <a:rPr lang="vi-VN" dirty="0"/>
              <a:t>để</a:t>
            </a:r>
            <a:r>
              <a:rPr lang="en-US" dirty="0"/>
              <a:t> </a:t>
            </a:r>
            <a:r>
              <a:rPr lang="vi-VN" dirty="0"/>
              <a:t>đặ</a:t>
            </a:r>
            <a:r>
              <a:rPr lang="en-US" dirty="0"/>
              <a:t>t </a:t>
            </a:r>
            <a:r>
              <a:rPr lang="en-US" dirty="0" err="1"/>
              <a:t>tên</a:t>
            </a:r>
            <a:r>
              <a:rPr lang="en-US" dirty="0"/>
              <a:t> </a:t>
            </a:r>
            <a:r>
              <a:rPr lang="en-US" dirty="0" err="1"/>
              <a:t>cho</a:t>
            </a:r>
            <a:r>
              <a:rPr lang="en-US" dirty="0"/>
              <a:t> </a:t>
            </a:r>
            <a:r>
              <a:rPr lang="en-US" dirty="0" err="1"/>
              <a:t>biến</a:t>
            </a:r>
            <a:r>
              <a:rPr lang="en-US" dirty="0"/>
              <a:t>, </a:t>
            </a:r>
            <a:r>
              <a:rPr lang="en-US" dirty="0" err="1"/>
              <a:t>hàm</a:t>
            </a:r>
            <a:r>
              <a:rPr lang="en-US" dirty="0"/>
              <a:t>, </a:t>
            </a:r>
            <a:r>
              <a:rPr lang="en-US" dirty="0" err="1"/>
              <a:t>tên</a:t>
            </a:r>
            <a:r>
              <a:rPr lang="en-US" dirty="0"/>
              <a:t> </a:t>
            </a:r>
            <a:r>
              <a:rPr lang="en-US" dirty="0" err="1"/>
              <a:t>ch</a:t>
            </a:r>
            <a:r>
              <a:rPr lang="vi-VN" dirty="0"/>
              <a:t>ươ</a:t>
            </a:r>
            <a:r>
              <a:rPr lang="en-US" dirty="0"/>
              <a:t>ng </a:t>
            </a:r>
            <a:r>
              <a:rPr lang="en-US" dirty="0" err="1"/>
              <a:t>trình</a:t>
            </a:r>
            <a:r>
              <a:rPr lang="en-US" dirty="0"/>
              <a:t> con.</a:t>
            </a:r>
          </a:p>
          <a:p>
            <a:pPr lvl="1">
              <a:defRPr/>
            </a:pPr>
            <a:r>
              <a:rPr lang="en-US" dirty="0" err="1"/>
              <a:t>Một</a:t>
            </a:r>
            <a:r>
              <a:rPr lang="en-US" dirty="0"/>
              <a:t> </a:t>
            </a:r>
            <a:r>
              <a:rPr lang="en-US" dirty="0" err="1"/>
              <a:t>số</a:t>
            </a:r>
            <a:r>
              <a:rPr lang="en-US" dirty="0"/>
              <a:t> </a:t>
            </a:r>
            <a:r>
              <a:rPr lang="en-US" dirty="0" err="1"/>
              <a:t>từ</a:t>
            </a:r>
            <a:r>
              <a:rPr lang="en-US" dirty="0"/>
              <a:t> </a:t>
            </a:r>
            <a:r>
              <a:rPr lang="en-US" dirty="0" err="1"/>
              <a:t>khóa</a:t>
            </a:r>
            <a:r>
              <a:rPr lang="en-US" dirty="0"/>
              <a:t> </a:t>
            </a:r>
            <a:r>
              <a:rPr lang="en-US" dirty="0" err="1"/>
              <a:t>thông</a:t>
            </a:r>
            <a:r>
              <a:rPr lang="en-US" dirty="0"/>
              <a:t> </a:t>
            </a:r>
            <a:r>
              <a:rPr lang="en-US" dirty="0" err="1"/>
              <a:t>dụng</a:t>
            </a:r>
            <a:r>
              <a:rPr lang="en-US" dirty="0"/>
              <a:t>:</a:t>
            </a:r>
          </a:p>
          <a:p>
            <a:pPr lvl="2">
              <a:defRPr/>
            </a:pPr>
            <a:r>
              <a:rPr lang="en-US" dirty="0"/>
              <a:t>const, </a:t>
            </a:r>
            <a:r>
              <a:rPr lang="en-US" dirty="0" err="1"/>
              <a:t>enum</a:t>
            </a:r>
            <a:r>
              <a:rPr lang="en-US" dirty="0"/>
              <a:t>, signed, struct, typedef, unsigned…</a:t>
            </a:r>
          </a:p>
          <a:p>
            <a:pPr lvl="2">
              <a:defRPr/>
            </a:pPr>
            <a:r>
              <a:rPr lang="en-US" dirty="0"/>
              <a:t>char, double, float, int, long, short, void</a:t>
            </a:r>
          </a:p>
          <a:p>
            <a:pPr lvl="2">
              <a:defRPr/>
            </a:pPr>
            <a:r>
              <a:rPr lang="en-US" dirty="0"/>
              <a:t>case, default, else, if, switch</a:t>
            </a:r>
          </a:p>
          <a:p>
            <a:pPr lvl="2">
              <a:defRPr/>
            </a:pPr>
            <a:r>
              <a:rPr lang="en-US" dirty="0"/>
              <a:t>do, for, while</a:t>
            </a:r>
          </a:p>
          <a:p>
            <a:pPr lvl="2">
              <a:defRPr/>
            </a:pPr>
            <a:r>
              <a:rPr lang="en-US" dirty="0"/>
              <a:t>break, continue, </a:t>
            </a:r>
            <a:r>
              <a:rPr lang="en-US" dirty="0" err="1"/>
              <a:t>goto</a:t>
            </a:r>
            <a:r>
              <a:rPr lang="en-US" dirty="0"/>
              <a:t>, return</a:t>
            </a:r>
          </a:p>
          <a:p>
            <a:endParaRPr lang="vi-VN" dirty="0"/>
          </a:p>
        </p:txBody>
      </p:sp>
      <p:sp>
        <p:nvSpPr>
          <p:cNvPr id="4" name="Date Placeholder 3"/>
          <p:cNvSpPr>
            <a:spLocks noGrp="1"/>
          </p:cNvSpPr>
          <p:nvPr>
            <p:ph type="dt" sz="half" idx="10"/>
          </p:nvPr>
        </p:nvSpPr>
        <p:spPr/>
        <p:txBody>
          <a:bodyPr/>
          <a:lstStyle/>
          <a:p>
            <a:fld id="{9364A157-CEBD-4D97-B78D-DDD8BA82A9FB}"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4</a:t>
            </a:fld>
            <a:r>
              <a:rPr lang="vi-VN"/>
              <a:t>/59</a:t>
            </a:r>
          </a:p>
        </p:txBody>
      </p:sp>
    </p:spTree>
    <p:extLst>
      <p:ext uri="{BB962C8B-B14F-4D97-AF65-F5344CB8AC3E}">
        <p14:creationId xmlns:p14="http://schemas.microsoft.com/office/powerpoint/2010/main" val="36539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ipe(left)">
                                      <p:cBhvr>
                                        <p:cTn id="23" dur="500"/>
                                        <p:tgtEl>
                                          <p:spTgt spid="3">
                                            <p:txEl>
                                              <p:pRg st="5" end="5"/>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wipe(left)">
                                      <p:cBhvr>
                                        <p:cTn id="26" dur="500"/>
                                        <p:tgtEl>
                                          <p:spTgt spid="3">
                                            <p:txEl>
                                              <p:pRg st="6" end="6"/>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wipe(left)">
                                      <p:cBhvr>
                                        <p:cTn id="29" dur="500"/>
                                        <p:tgtEl>
                                          <p:spTgt spid="3">
                                            <p:txEl>
                                              <p:pRg st="7" end="7"/>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wipe(left)">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67544" y="260648"/>
            <a:ext cx="8382000" cy="685800"/>
          </a:xfrm>
        </p:spPr>
        <p:txBody>
          <a:bodyPr/>
          <a:lstStyle/>
          <a:p>
            <a:r>
              <a:rPr lang="en-US"/>
              <a:t>1. Các thành phần cơ bản (tt)</a:t>
            </a:r>
          </a:p>
        </p:txBody>
      </p:sp>
      <p:sp>
        <p:nvSpPr>
          <p:cNvPr id="3" name="Content Placeholder 2"/>
          <p:cNvSpPr>
            <a:spLocks noGrp="1"/>
          </p:cNvSpPr>
          <p:nvPr>
            <p:ph idx="1"/>
          </p:nvPr>
        </p:nvSpPr>
        <p:spPr>
          <a:xfrm>
            <a:off x="755576" y="980728"/>
            <a:ext cx="8130480" cy="5181600"/>
          </a:xfrm>
        </p:spPr>
        <p:txBody>
          <a:bodyPr/>
          <a:lstStyle/>
          <a:p>
            <a:pPr>
              <a:defRPr/>
            </a:pPr>
            <a:r>
              <a:rPr lang="en-US" dirty="0" err="1"/>
              <a:t>Tên</a:t>
            </a:r>
            <a:r>
              <a:rPr lang="en-US" dirty="0"/>
              <a:t>/</a:t>
            </a:r>
            <a:r>
              <a:rPr lang="en-US" dirty="0" err="1"/>
              <a:t>Định</a:t>
            </a:r>
            <a:r>
              <a:rPr lang="en-US" dirty="0"/>
              <a:t> </a:t>
            </a:r>
            <a:r>
              <a:rPr lang="en-US" dirty="0" err="1"/>
              <a:t>danh</a:t>
            </a:r>
            <a:r>
              <a:rPr lang="en-US" dirty="0"/>
              <a:t> (</a:t>
            </a:r>
            <a:r>
              <a:rPr lang="en-US" dirty="0" err="1"/>
              <a:t>Identificater</a:t>
            </a:r>
            <a:r>
              <a:rPr lang="en-US" dirty="0"/>
              <a:t>)</a:t>
            </a:r>
          </a:p>
          <a:p>
            <a:pPr lvl="1">
              <a:defRPr/>
            </a:pPr>
            <a:r>
              <a:rPr lang="fr-FR" dirty="0" err="1">
                <a:solidFill>
                  <a:srgbClr val="FF0000"/>
                </a:solidFill>
              </a:rPr>
              <a:t>Tên</a:t>
            </a:r>
            <a:r>
              <a:rPr lang="fr-FR" dirty="0">
                <a:solidFill>
                  <a:srgbClr val="FF0000"/>
                </a:solidFill>
              </a:rPr>
              <a:t> </a:t>
            </a:r>
            <a:r>
              <a:rPr lang="fr-FR" dirty="0"/>
              <a:t>là </a:t>
            </a:r>
            <a:r>
              <a:rPr lang="fr-FR" dirty="0" err="1"/>
              <a:t>dãy</a:t>
            </a:r>
            <a:r>
              <a:rPr lang="fr-FR" dirty="0"/>
              <a:t> </a:t>
            </a:r>
            <a:r>
              <a:rPr lang="fr-FR" dirty="0" err="1"/>
              <a:t>kí</a:t>
            </a:r>
            <a:r>
              <a:rPr lang="fr-FR" dirty="0"/>
              <a:t> </a:t>
            </a:r>
            <a:r>
              <a:rPr lang="fr-FR" dirty="0" err="1"/>
              <a:t>tự</a:t>
            </a:r>
            <a:r>
              <a:rPr lang="fr-FR" dirty="0"/>
              <a:t> </a:t>
            </a:r>
            <a:r>
              <a:rPr lang="fr-FR" dirty="0" err="1"/>
              <a:t>liền</a:t>
            </a:r>
            <a:r>
              <a:rPr lang="fr-FR" dirty="0"/>
              <a:t> </a:t>
            </a:r>
            <a:r>
              <a:rPr lang="fr-FR" dirty="0" err="1"/>
              <a:t>nhau</a:t>
            </a:r>
            <a:r>
              <a:rPr lang="fr-FR" dirty="0"/>
              <a:t> </a:t>
            </a:r>
            <a:r>
              <a:rPr lang="fr-FR" dirty="0" err="1"/>
              <a:t>gồm</a:t>
            </a:r>
            <a:r>
              <a:rPr lang="fr-FR" dirty="0"/>
              <a:t> </a:t>
            </a:r>
            <a:r>
              <a:rPr lang="fr-FR" dirty="0" err="1"/>
              <a:t>các</a:t>
            </a:r>
            <a:r>
              <a:rPr lang="fr-FR" dirty="0"/>
              <a:t> </a:t>
            </a:r>
            <a:r>
              <a:rPr lang="fr-FR" dirty="0" err="1"/>
              <a:t>chữ</a:t>
            </a:r>
            <a:r>
              <a:rPr lang="fr-FR" dirty="0"/>
              <a:t> </a:t>
            </a:r>
            <a:r>
              <a:rPr lang="fr-FR" dirty="0" err="1"/>
              <a:t>cái</a:t>
            </a:r>
            <a:r>
              <a:rPr lang="fr-FR" dirty="0"/>
              <a:t> </a:t>
            </a:r>
            <a:r>
              <a:rPr lang="fr-FR" dirty="0" err="1"/>
              <a:t>a..z</a:t>
            </a:r>
            <a:r>
              <a:rPr lang="fr-FR" dirty="0"/>
              <a:t>, A..Z, </a:t>
            </a:r>
            <a:r>
              <a:rPr lang="fr-FR" dirty="0" err="1"/>
              <a:t>các</a:t>
            </a:r>
            <a:r>
              <a:rPr lang="fr-FR" dirty="0"/>
              <a:t> </a:t>
            </a:r>
            <a:r>
              <a:rPr lang="fr-FR" dirty="0" err="1"/>
              <a:t>chữ</a:t>
            </a:r>
            <a:r>
              <a:rPr lang="fr-FR" dirty="0"/>
              <a:t> </a:t>
            </a:r>
            <a:r>
              <a:rPr lang="fr-FR" dirty="0" err="1"/>
              <a:t>số</a:t>
            </a:r>
            <a:r>
              <a:rPr lang="fr-FR" dirty="0"/>
              <a:t> 0..9, </a:t>
            </a:r>
            <a:r>
              <a:rPr lang="fr-FR" dirty="0" err="1"/>
              <a:t>và</a:t>
            </a:r>
            <a:r>
              <a:rPr lang="fr-FR" dirty="0"/>
              <a:t> </a:t>
            </a:r>
            <a:r>
              <a:rPr lang="fr-FR" dirty="0" err="1"/>
              <a:t>dấu</a:t>
            </a:r>
            <a:r>
              <a:rPr lang="fr-FR" dirty="0"/>
              <a:t> </a:t>
            </a:r>
            <a:r>
              <a:rPr lang="fr-FR" dirty="0" err="1"/>
              <a:t>gạch</a:t>
            </a:r>
            <a:r>
              <a:rPr lang="fr-FR" dirty="0"/>
              <a:t> </a:t>
            </a:r>
            <a:r>
              <a:rPr lang="fr-FR" dirty="0" err="1"/>
              <a:t>nối</a:t>
            </a:r>
            <a:r>
              <a:rPr lang="fr-FR" dirty="0"/>
              <a:t>.</a:t>
            </a:r>
          </a:p>
          <a:p>
            <a:pPr lvl="1">
              <a:defRPr/>
            </a:pPr>
            <a:r>
              <a:rPr lang="fr-FR" dirty="0" err="1"/>
              <a:t>Mọi</a:t>
            </a:r>
            <a:r>
              <a:rPr lang="fr-FR" dirty="0"/>
              <a:t> </a:t>
            </a:r>
            <a:r>
              <a:rPr lang="fr-FR" dirty="0" err="1"/>
              <a:t>tên</a:t>
            </a:r>
            <a:r>
              <a:rPr lang="fr-FR" dirty="0"/>
              <a:t> </a:t>
            </a:r>
            <a:r>
              <a:rPr lang="fr-FR" dirty="0" err="1"/>
              <a:t>đều</a:t>
            </a:r>
            <a:r>
              <a:rPr lang="fr-FR" dirty="0"/>
              <a:t> </a:t>
            </a:r>
            <a:r>
              <a:rPr lang="fr-FR" dirty="0" err="1"/>
              <a:t>phải</a:t>
            </a:r>
            <a:r>
              <a:rPr lang="fr-FR" dirty="0"/>
              <a:t> </a:t>
            </a:r>
            <a:r>
              <a:rPr lang="fr-FR" dirty="0" err="1"/>
              <a:t>khai</a:t>
            </a:r>
            <a:r>
              <a:rPr lang="fr-FR" dirty="0"/>
              <a:t> </a:t>
            </a:r>
            <a:r>
              <a:rPr lang="fr-FR" dirty="0" err="1"/>
              <a:t>báo</a:t>
            </a:r>
            <a:r>
              <a:rPr lang="fr-FR" dirty="0"/>
              <a:t> </a:t>
            </a:r>
            <a:r>
              <a:rPr lang="fr-FR" dirty="0" err="1"/>
              <a:t>trước</a:t>
            </a:r>
            <a:r>
              <a:rPr lang="fr-FR" dirty="0"/>
              <a:t> khi </a:t>
            </a:r>
            <a:r>
              <a:rPr lang="fr-FR" dirty="0" err="1"/>
              <a:t>sử</a:t>
            </a:r>
            <a:r>
              <a:rPr lang="fr-FR" dirty="0"/>
              <a:t> </a:t>
            </a:r>
            <a:r>
              <a:rPr lang="fr-FR" dirty="0" err="1"/>
              <a:t>dụng</a:t>
            </a:r>
            <a:endParaRPr lang="fr-FR" dirty="0"/>
          </a:p>
          <a:p>
            <a:pPr lvl="1">
              <a:defRPr/>
            </a:pPr>
            <a:r>
              <a:rPr lang="fr-FR" dirty="0" err="1"/>
              <a:t>Tên</a:t>
            </a:r>
            <a:r>
              <a:rPr lang="fr-FR" dirty="0"/>
              <a:t> </a:t>
            </a:r>
            <a:r>
              <a:rPr lang="fr-FR" dirty="0" err="1"/>
              <a:t>trong</a:t>
            </a:r>
            <a:r>
              <a:rPr lang="fr-FR" dirty="0"/>
              <a:t> C </a:t>
            </a:r>
            <a:r>
              <a:rPr lang="fr-FR" dirty="0" err="1">
                <a:solidFill>
                  <a:srgbClr val="FF0000"/>
                </a:solidFill>
              </a:rPr>
              <a:t>phân</a:t>
            </a:r>
            <a:r>
              <a:rPr lang="fr-FR" dirty="0">
                <a:solidFill>
                  <a:srgbClr val="FF0000"/>
                </a:solidFill>
              </a:rPr>
              <a:t> </a:t>
            </a:r>
            <a:r>
              <a:rPr lang="fr-FR" dirty="0" err="1">
                <a:solidFill>
                  <a:srgbClr val="FF0000"/>
                </a:solidFill>
              </a:rPr>
              <a:t>biệt</a:t>
            </a:r>
            <a:r>
              <a:rPr lang="fr-FR" dirty="0">
                <a:solidFill>
                  <a:srgbClr val="FF0000"/>
                </a:solidFill>
              </a:rPr>
              <a:t> </a:t>
            </a:r>
            <a:r>
              <a:rPr lang="fr-FR" dirty="0" err="1">
                <a:solidFill>
                  <a:srgbClr val="FF0000"/>
                </a:solidFill>
              </a:rPr>
              <a:t>chữ</a:t>
            </a:r>
            <a:r>
              <a:rPr lang="fr-FR" dirty="0">
                <a:solidFill>
                  <a:srgbClr val="FF0000"/>
                </a:solidFill>
              </a:rPr>
              <a:t> HOA, </a:t>
            </a:r>
            <a:r>
              <a:rPr lang="fr-FR" dirty="0" err="1">
                <a:solidFill>
                  <a:srgbClr val="FF0000"/>
                </a:solidFill>
              </a:rPr>
              <a:t>thường</a:t>
            </a:r>
            <a:endParaRPr lang="fr-FR" dirty="0">
              <a:solidFill>
                <a:srgbClr val="FF0000"/>
              </a:solidFill>
            </a:endParaRPr>
          </a:p>
          <a:p>
            <a:pPr lvl="1">
              <a:defRPr/>
            </a:pPr>
            <a:r>
              <a:rPr lang="fr-FR" dirty="0" err="1"/>
              <a:t>Độ</a:t>
            </a:r>
            <a:r>
              <a:rPr lang="fr-FR" dirty="0"/>
              <a:t> </a:t>
            </a:r>
            <a:r>
              <a:rPr lang="fr-FR" dirty="0" err="1"/>
              <a:t>dài</a:t>
            </a:r>
            <a:r>
              <a:rPr lang="fr-FR" dirty="0"/>
              <a:t> </a:t>
            </a:r>
            <a:r>
              <a:rPr lang="fr-FR" dirty="0" err="1"/>
              <a:t>tối</a:t>
            </a:r>
            <a:r>
              <a:rPr lang="fr-FR" dirty="0"/>
              <a:t> </a:t>
            </a:r>
            <a:r>
              <a:rPr lang="fr-FR" dirty="0" err="1"/>
              <a:t>đa</a:t>
            </a:r>
            <a:r>
              <a:rPr lang="fr-FR" dirty="0"/>
              <a:t> </a:t>
            </a:r>
            <a:r>
              <a:rPr lang="fr-FR" dirty="0" err="1"/>
              <a:t>mặc</a:t>
            </a:r>
            <a:r>
              <a:rPr lang="fr-FR" dirty="0"/>
              <a:t> </a:t>
            </a:r>
            <a:r>
              <a:rPr lang="fr-FR" dirty="0" err="1"/>
              <a:t>định</a:t>
            </a:r>
            <a:r>
              <a:rPr lang="fr-FR" dirty="0"/>
              <a:t> là </a:t>
            </a:r>
            <a:r>
              <a:rPr lang="fr-FR" dirty="0">
                <a:solidFill>
                  <a:srgbClr val="FF0000"/>
                </a:solidFill>
              </a:rPr>
              <a:t>32</a:t>
            </a:r>
            <a:r>
              <a:rPr lang="fr-FR" dirty="0"/>
              <a:t> </a:t>
            </a:r>
            <a:r>
              <a:rPr lang="fr-FR" dirty="0" err="1"/>
              <a:t>kí</a:t>
            </a:r>
            <a:r>
              <a:rPr lang="fr-FR" dirty="0"/>
              <a:t> </a:t>
            </a:r>
            <a:r>
              <a:rPr lang="fr-FR" dirty="0" err="1"/>
              <a:t>tự</a:t>
            </a:r>
            <a:endParaRPr lang="fr-FR" dirty="0"/>
          </a:p>
          <a:p>
            <a:pPr>
              <a:defRPr/>
            </a:pPr>
            <a:r>
              <a:rPr lang="fr-FR" dirty="0" err="1"/>
              <a:t>Quy</a:t>
            </a:r>
            <a:r>
              <a:rPr lang="fr-FR" dirty="0"/>
              <a:t> </a:t>
            </a:r>
            <a:r>
              <a:rPr lang="fr-FR" dirty="0" err="1"/>
              <a:t>tắc</a:t>
            </a:r>
            <a:r>
              <a:rPr lang="fr-FR" dirty="0"/>
              <a:t> </a:t>
            </a:r>
            <a:r>
              <a:rPr lang="fr-FR" dirty="0" err="1"/>
              <a:t>đặt</a:t>
            </a:r>
            <a:r>
              <a:rPr lang="fr-FR" dirty="0"/>
              <a:t> </a:t>
            </a:r>
            <a:r>
              <a:rPr lang="fr-FR" dirty="0" err="1"/>
              <a:t>tên</a:t>
            </a:r>
            <a:endParaRPr lang="fr-FR" dirty="0"/>
          </a:p>
          <a:p>
            <a:pPr lvl="1">
              <a:defRPr/>
            </a:pPr>
            <a:r>
              <a:rPr lang="fr-FR" dirty="0" err="1"/>
              <a:t>Tên</a:t>
            </a:r>
            <a:r>
              <a:rPr lang="fr-FR" dirty="0"/>
              <a:t> </a:t>
            </a:r>
            <a:r>
              <a:rPr lang="fr-FR" dirty="0" err="1"/>
              <a:t>không</a:t>
            </a:r>
            <a:r>
              <a:rPr lang="fr-FR" dirty="0"/>
              <a:t> </a:t>
            </a:r>
            <a:r>
              <a:rPr lang="fr-FR" dirty="0" err="1"/>
              <a:t>được</a:t>
            </a:r>
            <a:r>
              <a:rPr lang="fr-FR" dirty="0"/>
              <a:t> </a:t>
            </a:r>
            <a:r>
              <a:rPr lang="fr-FR" dirty="0" err="1"/>
              <a:t>trùng</a:t>
            </a:r>
            <a:r>
              <a:rPr lang="fr-FR" dirty="0"/>
              <a:t> </a:t>
            </a:r>
            <a:r>
              <a:rPr lang="fr-FR" dirty="0" err="1"/>
              <a:t>với</a:t>
            </a:r>
            <a:r>
              <a:rPr lang="fr-FR" dirty="0"/>
              <a:t> </a:t>
            </a:r>
            <a:r>
              <a:rPr lang="fr-FR" dirty="0" err="1"/>
              <a:t>các</a:t>
            </a:r>
            <a:r>
              <a:rPr lang="fr-FR" dirty="0"/>
              <a:t> </a:t>
            </a:r>
            <a:r>
              <a:rPr lang="fr-FR" dirty="0" err="1">
                <a:solidFill>
                  <a:srgbClr val="FF0000"/>
                </a:solidFill>
              </a:rPr>
              <a:t>từ</a:t>
            </a:r>
            <a:r>
              <a:rPr lang="fr-FR" dirty="0">
                <a:solidFill>
                  <a:srgbClr val="FF0000"/>
                </a:solidFill>
              </a:rPr>
              <a:t> </a:t>
            </a:r>
            <a:r>
              <a:rPr lang="fr-FR" dirty="0" err="1">
                <a:solidFill>
                  <a:srgbClr val="FF0000"/>
                </a:solidFill>
              </a:rPr>
              <a:t>khoá</a:t>
            </a:r>
            <a:endParaRPr lang="fr-FR" dirty="0">
              <a:solidFill>
                <a:srgbClr val="FF0000"/>
              </a:solidFill>
            </a:endParaRPr>
          </a:p>
          <a:p>
            <a:pPr lvl="1">
              <a:defRPr/>
            </a:pPr>
            <a:r>
              <a:rPr lang="fr-FR" dirty="0" err="1"/>
              <a:t>Không</a:t>
            </a:r>
            <a:r>
              <a:rPr lang="fr-FR" dirty="0"/>
              <a:t> </a:t>
            </a:r>
            <a:r>
              <a:rPr lang="fr-FR" dirty="0" err="1"/>
              <a:t>được</a:t>
            </a:r>
            <a:r>
              <a:rPr lang="fr-FR" dirty="0"/>
              <a:t> </a:t>
            </a:r>
            <a:r>
              <a:rPr lang="fr-FR" dirty="0" err="1"/>
              <a:t>bắt</a:t>
            </a:r>
            <a:r>
              <a:rPr lang="fr-FR" dirty="0"/>
              <a:t> </a:t>
            </a:r>
            <a:r>
              <a:rPr lang="fr-FR" dirty="0" err="1"/>
              <a:t>đầu</a:t>
            </a:r>
            <a:r>
              <a:rPr lang="fr-FR" dirty="0"/>
              <a:t> </a:t>
            </a:r>
            <a:r>
              <a:rPr lang="fr-FR" dirty="0" err="1"/>
              <a:t>bằng</a:t>
            </a:r>
            <a:r>
              <a:rPr lang="fr-FR" dirty="0"/>
              <a:t> </a:t>
            </a:r>
            <a:r>
              <a:rPr lang="fr-FR" dirty="0" err="1">
                <a:solidFill>
                  <a:srgbClr val="FF0000"/>
                </a:solidFill>
              </a:rPr>
              <a:t>chữ</a:t>
            </a:r>
            <a:r>
              <a:rPr lang="fr-FR" dirty="0">
                <a:solidFill>
                  <a:srgbClr val="FF0000"/>
                </a:solidFill>
              </a:rPr>
              <a:t> </a:t>
            </a:r>
            <a:r>
              <a:rPr lang="fr-FR" dirty="0" err="1">
                <a:solidFill>
                  <a:srgbClr val="FF0000"/>
                </a:solidFill>
              </a:rPr>
              <a:t>số</a:t>
            </a:r>
            <a:endParaRPr lang="fr-FR" dirty="0">
              <a:solidFill>
                <a:srgbClr val="FF0000"/>
              </a:solidFill>
            </a:endParaRPr>
          </a:p>
          <a:p>
            <a:pPr lvl="1">
              <a:defRPr/>
            </a:pPr>
            <a:r>
              <a:rPr lang="fr-FR" dirty="0" err="1"/>
              <a:t>Không</a:t>
            </a:r>
            <a:r>
              <a:rPr lang="fr-FR" dirty="0"/>
              <a:t> </a:t>
            </a:r>
            <a:r>
              <a:rPr lang="fr-FR" dirty="0" err="1"/>
              <a:t>chứa</a:t>
            </a:r>
            <a:r>
              <a:rPr lang="fr-FR" dirty="0"/>
              <a:t> </a:t>
            </a:r>
            <a:r>
              <a:rPr lang="fr-FR" dirty="0" err="1"/>
              <a:t>kí</a:t>
            </a:r>
            <a:r>
              <a:rPr lang="fr-FR" dirty="0"/>
              <a:t> </a:t>
            </a:r>
            <a:r>
              <a:rPr lang="fr-FR" dirty="0" err="1"/>
              <a:t>tự</a:t>
            </a:r>
            <a:r>
              <a:rPr lang="fr-FR" dirty="0"/>
              <a:t> </a:t>
            </a:r>
            <a:r>
              <a:rPr lang="fr-FR" dirty="0" err="1"/>
              <a:t>đặc</a:t>
            </a:r>
            <a:r>
              <a:rPr lang="fr-FR" dirty="0"/>
              <a:t> </a:t>
            </a:r>
            <a:r>
              <a:rPr lang="fr-FR" dirty="0" err="1"/>
              <a:t>biệt</a:t>
            </a:r>
            <a:r>
              <a:rPr lang="fr-FR" dirty="0"/>
              <a:t> </a:t>
            </a:r>
            <a:r>
              <a:rPr lang="fr-FR" dirty="0" err="1"/>
              <a:t>như</a:t>
            </a:r>
            <a:r>
              <a:rPr lang="fr-FR" dirty="0"/>
              <a:t> </a:t>
            </a:r>
            <a:r>
              <a:rPr lang="fr-FR" dirty="0" err="1">
                <a:solidFill>
                  <a:srgbClr val="FF0000"/>
                </a:solidFill>
              </a:rPr>
              <a:t>dấu</a:t>
            </a:r>
            <a:r>
              <a:rPr lang="fr-FR" dirty="0">
                <a:solidFill>
                  <a:srgbClr val="FF0000"/>
                </a:solidFill>
              </a:rPr>
              <a:t> </a:t>
            </a:r>
            <a:r>
              <a:rPr lang="fr-FR" dirty="0" err="1">
                <a:solidFill>
                  <a:srgbClr val="FF0000"/>
                </a:solidFill>
              </a:rPr>
              <a:t>cách</a:t>
            </a:r>
            <a:r>
              <a:rPr lang="fr-FR" dirty="0"/>
              <a:t>, </a:t>
            </a:r>
            <a:r>
              <a:rPr lang="fr-FR" dirty="0" err="1">
                <a:solidFill>
                  <a:srgbClr val="FF0000"/>
                </a:solidFill>
              </a:rPr>
              <a:t>dấu</a:t>
            </a:r>
            <a:r>
              <a:rPr lang="fr-FR" dirty="0">
                <a:solidFill>
                  <a:srgbClr val="FF0000"/>
                </a:solidFill>
              </a:rPr>
              <a:t> </a:t>
            </a:r>
            <a:r>
              <a:rPr lang="fr-FR" dirty="0" err="1">
                <a:solidFill>
                  <a:srgbClr val="FF0000"/>
                </a:solidFill>
              </a:rPr>
              <a:t>chấm</a:t>
            </a:r>
            <a:r>
              <a:rPr lang="fr-FR" dirty="0">
                <a:solidFill>
                  <a:srgbClr val="FF0000"/>
                </a:solidFill>
              </a:rPr>
              <a:t>… </a:t>
            </a:r>
          </a:p>
          <a:p>
            <a:pPr lvl="1">
              <a:defRPr/>
            </a:pPr>
            <a:r>
              <a:rPr lang="fr-FR" dirty="0" err="1"/>
              <a:t>Tên</a:t>
            </a:r>
            <a:r>
              <a:rPr lang="fr-FR" dirty="0"/>
              <a:t> </a:t>
            </a:r>
            <a:r>
              <a:rPr lang="fr-FR" dirty="0" err="1"/>
              <a:t>phải</a:t>
            </a:r>
            <a:r>
              <a:rPr lang="fr-FR" dirty="0"/>
              <a:t> </a:t>
            </a:r>
            <a:r>
              <a:rPr lang="fr-FR" dirty="0" err="1">
                <a:solidFill>
                  <a:srgbClr val="FF0000"/>
                </a:solidFill>
              </a:rPr>
              <a:t>gợi</a:t>
            </a:r>
            <a:r>
              <a:rPr lang="fr-FR" dirty="0">
                <a:solidFill>
                  <a:srgbClr val="FF0000"/>
                </a:solidFill>
              </a:rPr>
              <a:t> </a:t>
            </a:r>
            <a:r>
              <a:rPr lang="fr-FR" dirty="0" err="1">
                <a:solidFill>
                  <a:srgbClr val="FF0000"/>
                </a:solidFill>
              </a:rPr>
              <a:t>nhớ</a:t>
            </a:r>
            <a:r>
              <a:rPr lang="fr-FR" dirty="0">
                <a:solidFill>
                  <a:srgbClr val="FF0000"/>
                </a:solidFill>
              </a:rPr>
              <a:t> </a:t>
            </a:r>
            <a:r>
              <a:rPr lang="fr-FR" dirty="0" err="1"/>
              <a:t>về</a:t>
            </a:r>
            <a:r>
              <a:rPr lang="fr-FR" dirty="0"/>
              <a:t> </a:t>
            </a:r>
            <a:r>
              <a:rPr lang="fr-FR" dirty="0" err="1"/>
              <a:t>đối</a:t>
            </a:r>
            <a:r>
              <a:rPr lang="fr-FR" dirty="0"/>
              <a:t> </a:t>
            </a:r>
            <a:r>
              <a:rPr lang="fr-FR" dirty="0" err="1"/>
              <a:t>tượng</a:t>
            </a:r>
            <a:r>
              <a:rPr lang="fr-FR" dirty="0"/>
              <a:t> </a:t>
            </a:r>
            <a:r>
              <a:rPr lang="fr-FR" dirty="0" err="1"/>
              <a:t>được</a:t>
            </a:r>
            <a:r>
              <a:rPr lang="fr-FR" dirty="0"/>
              <a:t> </a:t>
            </a:r>
            <a:r>
              <a:rPr lang="fr-FR" dirty="0" err="1"/>
              <a:t>đặt</a:t>
            </a:r>
            <a:r>
              <a:rPr lang="fr-FR" dirty="0"/>
              <a:t> </a:t>
            </a:r>
            <a:r>
              <a:rPr lang="fr-FR" dirty="0" err="1"/>
              <a:t>tên</a:t>
            </a:r>
            <a:endParaRPr lang="fr-FR" dirty="0"/>
          </a:p>
          <a:p>
            <a:pPr lvl="1">
              <a:defRPr/>
            </a:pPr>
            <a:r>
              <a:rPr lang="fr-FR" dirty="0" err="1"/>
              <a:t>Cùng</a:t>
            </a:r>
            <a:r>
              <a:rPr lang="fr-FR" dirty="0"/>
              <a:t> </a:t>
            </a:r>
            <a:r>
              <a:rPr lang="fr-FR" dirty="0" err="1"/>
              <a:t>phạm</a:t>
            </a:r>
            <a:r>
              <a:rPr lang="fr-FR" dirty="0"/>
              <a:t> vi </a:t>
            </a:r>
            <a:r>
              <a:rPr lang="fr-FR" dirty="0" err="1"/>
              <a:t>không</a:t>
            </a:r>
            <a:r>
              <a:rPr lang="fr-FR" dirty="0"/>
              <a:t> </a:t>
            </a:r>
            <a:r>
              <a:rPr lang="fr-FR" dirty="0" err="1"/>
              <a:t>được</a:t>
            </a:r>
            <a:r>
              <a:rPr lang="fr-FR" dirty="0"/>
              <a:t> </a:t>
            </a:r>
            <a:r>
              <a:rPr lang="fr-FR" dirty="0" err="1"/>
              <a:t>đặt</a:t>
            </a:r>
            <a:r>
              <a:rPr lang="fr-FR" dirty="0"/>
              <a:t> </a:t>
            </a:r>
            <a:r>
              <a:rPr lang="fr-FR" dirty="0">
                <a:solidFill>
                  <a:srgbClr val="FF0000"/>
                </a:solidFill>
              </a:rPr>
              <a:t>2 </a:t>
            </a:r>
            <a:r>
              <a:rPr lang="fr-FR" dirty="0" err="1">
                <a:solidFill>
                  <a:srgbClr val="FF0000"/>
                </a:solidFill>
              </a:rPr>
              <a:t>tên</a:t>
            </a:r>
            <a:r>
              <a:rPr lang="fr-FR" dirty="0">
                <a:solidFill>
                  <a:srgbClr val="FF0000"/>
                </a:solidFill>
              </a:rPr>
              <a:t> </a:t>
            </a:r>
            <a:r>
              <a:rPr lang="fr-FR" dirty="0" err="1">
                <a:solidFill>
                  <a:srgbClr val="FF0000"/>
                </a:solidFill>
              </a:rPr>
              <a:t>trùng</a:t>
            </a:r>
            <a:r>
              <a:rPr lang="fr-FR" dirty="0">
                <a:solidFill>
                  <a:srgbClr val="FF0000"/>
                </a:solidFill>
              </a:rPr>
              <a:t> </a:t>
            </a:r>
            <a:r>
              <a:rPr lang="fr-FR" dirty="0" err="1">
                <a:solidFill>
                  <a:srgbClr val="FF0000"/>
                </a:solidFill>
              </a:rPr>
              <a:t>nhau</a:t>
            </a:r>
            <a:endParaRPr lang="fr-FR" dirty="0">
              <a:solidFill>
                <a:srgbClr val="FF0000"/>
              </a:solidFill>
            </a:endParaRPr>
          </a:p>
          <a:p>
            <a:pPr lvl="1">
              <a:defRPr/>
            </a:pPr>
            <a:endParaRPr lang="fr-FR" dirty="0"/>
          </a:p>
          <a:p>
            <a:pPr lvl="1">
              <a:defRPr/>
            </a:pPr>
            <a:endParaRPr lang="fr-FR" dirty="0"/>
          </a:p>
        </p:txBody>
      </p:sp>
      <p:sp>
        <p:nvSpPr>
          <p:cNvPr id="23556"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12F96F9B-0234-4221-80EF-5D2306BE2FBB}"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5</a:t>
            </a:fld>
            <a:r>
              <a:rPr lang="vi-VN"/>
              <a:t>/59</a:t>
            </a:r>
          </a:p>
        </p:txBody>
      </p:sp>
    </p:spTree>
    <p:extLst>
      <p:ext uri="{BB962C8B-B14F-4D97-AF65-F5344CB8AC3E}">
        <p14:creationId xmlns:p14="http://schemas.microsoft.com/office/powerpoint/2010/main" val="149858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750"/>
                                        <p:tgtEl>
                                          <p:spTgt spid="3">
                                            <p:txEl>
                                              <p:pRg st="2" end="2"/>
                                            </p:txEl>
                                          </p:spTgt>
                                        </p:tgtEl>
                                      </p:cBhvr>
                                    </p:animEffect>
                                  </p:childTnLst>
                                </p:cTn>
                              </p:par>
                            </p:childTnLst>
                          </p:cTn>
                        </p:par>
                        <p:par>
                          <p:cTn id="12" fill="hold">
                            <p:stCondLst>
                              <p:cond delay="1250"/>
                            </p:stCondLst>
                            <p:childTnLst>
                              <p:par>
                                <p:cTn id="13" presetID="22" presetClass="entr" presetSubtype="8"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750"/>
                                        <p:tgtEl>
                                          <p:spTgt spid="3">
                                            <p:txEl>
                                              <p:pRg st="3" end="3"/>
                                            </p:txEl>
                                          </p:spTgt>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75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left)">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left)">
                                      <p:cBhvr>
                                        <p:cTn id="29" dur="500"/>
                                        <p:tgtEl>
                                          <p:spTgt spid="3">
                                            <p:txEl>
                                              <p:pRg st="6" end="6"/>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wipe(left)">
                                      <p:cBhvr>
                                        <p:cTn id="33" dur="750"/>
                                        <p:tgtEl>
                                          <p:spTgt spid="3">
                                            <p:txEl>
                                              <p:pRg st="7" end="7"/>
                                            </p:txEl>
                                          </p:spTgt>
                                        </p:tgtEl>
                                      </p:cBhvr>
                                    </p:animEffect>
                                  </p:childTnLst>
                                </p:cTn>
                              </p:par>
                            </p:childTnLst>
                          </p:cTn>
                        </p:par>
                        <p:par>
                          <p:cTn id="34" fill="hold">
                            <p:stCondLst>
                              <p:cond delay="1250"/>
                            </p:stCondLst>
                            <p:childTnLst>
                              <p:par>
                                <p:cTn id="35" presetID="22" presetClass="entr" presetSubtype="8" fill="hold" nodeType="after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left)">
                                      <p:cBhvr>
                                        <p:cTn id="37" dur="750"/>
                                        <p:tgtEl>
                                          <p:spTgt spid="3">
                                            <p:txEl>
                                              <p:pRg st="8" end="8"/>
                                            </p:txEl>
                                          </p:spTgt>
                                        </p:tgtEl>
                                      </p:cBhvr>
                                    </p:animEffect>
                                  </p:childTnLst>
                                </p:cTn>
                              </p:par>
                            </p:childTnLst>
                          </p:cTn>
                        </p:par>
                        <p:par>
                          <p:cTn id="38" fill="hold">
                            <p:stCondLst>
                              <p:cond delay="2000"/>
                            </p:stCondLst>
                            <p:childTnLst>
                              <p:par>
                                <p:cTn id="39" presetID="22" presetClass="entr" presetSubtype="8" fill="hold" nodeType="after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wipe(left)">
                                      <p:cBhvr>
                                        <p:cTn id="41" dur="750"/>
                                        <p:tgtEl>
                                          <p:spTgt spid="3">
                                            <p:txEl>
                                              <p:pRg st="9" end="9"/>
                                            </p:txEl>
                                          </p:spTgt>
                                        </p:tgtEl>
                                      </p:cBhvr>
                                    </p:animEffect>
                                  </p:childTnLst>
                                </p:cTn>
                              </p:par>
                            </p:childTnLst>
                          </p:cTn>
                        </p:par>
                        <p:par>
                          <p:cTn id="42" fill="hold">
                            <p:stCondLst>
                              <p:cond delay="2750"/>
                            </p:stCondLst>
                            <p:childTnLst>
                              <p:par>
                                <p:cTn id="43" presetID="22" presetClass="entr" presetSubtype="8" fill="hold" nodeType="after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wipe(left)">
                                      <p:cBhvr>
                                        <p:cTn id="45" dur="75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t>1. Các thành phần cơ bản (tt)</a:t>
            </a:r>
          </a:p>
        </p:txBody>
      </p:sp>
      <p:sp>
        <p:nvSpPr>
          <p:cNvPr id="3" name="Content Placeholder 2"/>
          <p:cNvSpPr>
            <a:spLocks noGrp="1"/>
          </p:cNvSpPr>
          <p:nvPr>
            <p:ph idx="1"/>
          </p:nvPr>
        </p:nvSpPr>
        <p:spPr/>
        <p:txBody>
          <a:bodyPr/>
          <a:lstStyle/>
          <a:p>
            <a:pPr>
              <a:defRPr/>
            </a:pPr>
            <a:r>
              <a:rPr lang="en-US" dirty="0" err="1"/>
              <a:t>Ví</a:t>
            </a:r>
            <a:r>
              <a:rPr lang="en-US" dirty="0"/>
              <a:t> </a:t>
            </a:r>
            <a:r>
              <a:rPr lang="en-US" dirty="0" err="1"/>
              <a:t>dụ</a:t>
            </a:r>
            <a:r>
              <a:rPr lang="en-US" dirty="0"/>
              <a:t> </a:t>
            </a:r>
            <a:r>
              <a:rPr lang="en-US" dirty="0" err="1"/>
              <a:t>Tên</a:t>
            </a:r>
            <a:r>
              <a:rPr lang="en-US" dirty="0"/>
              <a:t>/</a:t>
            </a:r>
            <a:r>
              <a:rPr lang="en-US" dirty="0" err="1"/>
              <a:t>Định</a:t>
            </a:r>
            <a:r>
              <a:rPr lang="en-US" dirty="0"/>
              <a:t> </a:t>
            </a:r>
            <a:r>
              <a:rPr lang="en-US" dirty="0" err="1"/>
              <a:t>danh</a:t>
            </a:r>
            <a:r>
              <a:rPr lang="en-US" dirty="0"/>
              <a:t> (Identifier)</a:t>
            </a:r>
          </a:p>
          <a:p>
            <a:pPr lvl="1">
              <a:defRPr/>
            </a:pPr>
            <a:r>
              <a:rPr lang="fr-FR" dirty="0" err="1"/>
              <a:t>Các</a:t>
            </a:r>
            <a:r>
              <a:rPr lang="fr-FR" dirty="0"/>
              <a:t> </a:t>
            </a:r>
            <a:r>
              <a:rPr lang="fr-FR" dirty="0" err="1"/>
              <a:t>tên</a:t>
            </a:r>
            <a:r>
              <a:rPr lang="fr-FR" dirty="0"/>
              <a:t> </a:t>
            </a:r>
            <a:r>
              <a:rPr lang="fr-FR" dirty="0" err="1"/>
              <a:t>hợp</a:t>
            </a:r>
            <a:r>
              <a:rPr lang="fr-FR" dirty="0"/>
              <a:t> </a:t>
            </a:r>
            <a:r>
              <a:rPr lang="fr-FR" dirty="0" err="1"/>
              <a:t>lệ</a:t>
            </a:r>
            <a:r>
              <a:rPr lang="fr-FR" dirty="0"/>
              <a:t>: </a:t>
            </a:r>
            <a:r>
              <a:rPr lang="fr-FR" dirty="0" err="1"/>
              <a:t>GiaiPhuongTrinh</a:t>
            </a:r>
            <a:r>
              <a:rPr lang="fr-FR" dirty="0"/>
              <a:t>, Bai_Tap1, PI</a:t>
            </a:r>
          </a:p>
          <a:p>
            <a:pPr lvl="1">
              <a:defRPr/>
            </a:pPr>
            <a:r>
              <a:rPr lang="fr-FR" dirty="0" err="1"/>
              <a:t>Các</a:t>
            </a:r>
            <a:r>
              <a:rPr lang="fr-FR" dirty="0"/>
              <a:t> </a:t>
            </a:r>
            <a:r>
              <a:rPr lang="fr-FR" dirty="0" err="1"/>
              <a:t>tên</a:t>
            </a:r>
            <a:r>
              <a:rPr lang="fr-FR" dirty="0"/>
              <a:t> </a:t>
            </a:r>
            <a:r>
              <a:rPr lang="fr-FR" dirty="0" err="1"/>
              <a:t>không</a:t>
            </a:r>
            <a:r>
              <a:rPr lang="fr-FR" dirty="0"/>
              <a:t> </a:t>
            </a:r>
            <a:r>
              <a:rPr lang="fr-FR" dirty="0" err="1"/>
              <a:t>hợp</a:t>
            </a:r>
            <a:r>
              <a:rPr lang="fr-FR" dirty="0"/>
              <a:t> </a:t>
            </a:r>
            <a:r>
              <a:rPr lang="fr-FR" dirty="0" err="1"/>
              <a:t>lệ</a:t>
            </a:r>
            <a:r>
              <a:rPr lang="fr-FR" dirty="0"/>
              <a:t>: </a:t>
            </a:r>
          </a:p>
          <a:p>
            <a:pPr lvl="2">
              <a:defRPr/>
            </a:pPr>
            <a:r>
              <a:rPr lang="fr-FR" dirty="0"/>
              <a:t>1A                           </a:t>
            </a:r>
            <a:r>
              <a:rPr lang="fr-FR" dirty="0" err="1"/>
              <a:t>bắt</a:t>
            </a:r>
            <a:r>
              <a:rPr lang="fr-FR" dirty="0"/>
              <a:t> </a:t>
            </a:r>
            <a:r>
              <a:rPr lang="fr-FR" dirty="0" err="1"/>
              <a:t>đầu</a:t>
            </a:r>
            <a:r>
              <a:rPr lang="fr-FR" dirty="0"/>
              <a:t> </a:t>
            </a:r>
            <a:r>
              <a:rPr lang="fr-FR" dirty="0" err="1"/>
              <a:t>bằng</a:t>
            </a:r>
            <a:r>
              <a:rPr lang="fr-FR" dirty="0"/>
              <a:t> </a:t>
            </a:r>
            <a:r>
              <a:rPr lang="fr-FR" dirty="0" err="1"/>
              <a:t>chữ</a:t>
            </a:r>
            <a:r>
              <a:rPr lang="fr-FR" dirty="0"/>
              <a:t> </a:t>
            </a:r>
            <a:r>
              <a:rPr lang="fr-FR" dirty="0" err="1"/>
              <a:t>số</a:t>
            </a:r>
            <a:endParaRPr lang="fr-FR" dirty="0"/>
          </a:p>
          <a:p>
            <a:pPr lvl="2">
              <a:defRPr/>
            </a:pPr>
            <a:r>
              <a:rPr lang="fr-FR" dirty="0"/>
              <a:t>PI$                          </a:t>
            </a:r>
            <a:r>
              <a:rPr lang="fr-FR" dirty="0" err="1"/>
              <a:t>chứa</a:t>
            </a:r>
            <a:r>
              <a:rPr lang="fr-FR" dirty="0"/>
              <a:t> </a:t>
            </a:r>
            <a:r>
              <a:rPr lang="fr-FR" dirty="0" err="1"/>
              <a:t>kí</a:t>
            </a:r>
            <a:r>
              <a:rPr lang="fr-FR" dirty="0"/>
              <a:t> </a:t>
            </a:r>
            <a:r>
              <a:rPr lang="fr-FR" dirty="0" err="1"/>
              <a:t>hiệu</a:t>
            </a:r>
            <a:r>
              <a:rPr lang="fr-FR" dirty="0"/>
              <a:t> $</a:t>
            </a:r>
          </a:p>
          <a:p>
            <a:pPr lvl="2">
              <a:defRPr/>
            </a:pPr>
            <a:r>
              <a:rPr lang="fr-FR" dirty="0" err="1"/>
              <a:t>Giai</a:t>
            </a:r>
            <a:r>
              <a:rPr lang="fr-FR" dirty="0"/>
              <a:t> </a:t>
            </a:r>
            <a:r>
              <a:rPr lang="fr-FR" dirty="0" err="1"/>
              <a:t>phuong</a:t>
            </a:r>
            <a:r>
              <a:rPr lang="fr-FR" dirty="0"/>
              <a:t> </a:t>
            </a:r>
            <a:r>
              <a:rPr lang="fr-FR" dirty="0" err="1"/>
              <a:t>trinh</a:t>
            </a:r>
            <a:r>
              <a:rPr lang="fr-FR" dirty="0"/>
              <a:t>    </a:t>
            </a:r>
            <a:r>
              <a:rPr lang="fr-FR" dirty="0" err="1"/>
              <a:t>chứa</a:t>
            </a:r>
            <a:r>
              <a:rPr lang="fr-FR" dirty="0"/>
              <a:t> </a:t>
            </a:r>
            <a:r>
              <a:rPr lang="fr-FR" dirty="0" err="1"/>
              <a:t>dấu</a:t>
            </a:r>
            <a:r>
              <a:rPr lang="fr-FR" dirty="0"/>
              <a:t> </a:t>
            </a:r>
            <a:r>
              <a:rPr lang="fr-FR" dirty="0" err="1"/>
              <a:t>cách</a:t>
            </a:r>
            <a:endParaRPr lang="fr-FR" dirty="0"/>
          </a:p>
          <a:p>
            <a:pPr lvl="2">
              <a:defRPr/>
            </a:pPr>
            <a:r>
              <a:rPr lang="fr-FR" dirty="0"/>
              <a:t>char                        </a:t>
            </a:r>
            <a:r>
              <a:rPr lang="fr-FR" dirty="0" err="1"/>
              <a:t>trùng</a:t>
            </a:r>
            <a:r>
              <a:rPr lang="fr-FR" dirty="0"/>
              <a:t> </a:t>
            </a:r>
            <a:r>
              <a:rPr lang="fr-FR" dirty="0" err="1"/>
              <a:t>từ</a:t>
            </a:r>
            <a:r>
              <a:rPr lang="fr-FR" dirty="0"/>
              <a:t> </a:t>
            </a:r>
            <a:r>
              <a:rPr lang="fr-FR" dirty="0" err="1"/>
              <a:t>khoá</a:t>
            </a:r>
            <a:r>
              <a:rPr lang="fr-FR" dirty="0"/>
              <a:t> char</a:t>
            </a:r>
          </a:p>
          <a:p>
            <a:pPr lvl="1">
              <a:defRPr/>
            </a:pPr>
            <a:r>
              <a:rPr lang="fr-FR" dirty="0" err="1">
                <a:solidFill>
                  <a:srgbClr val="FF0000"/>
                </a:solidFill>
              </a:rPr>
              <a:t>Phân</a:t>
            </a:r>
            <a:r>
              <a:rPr lang="fr-FR" dirty="0">
                <a:solidFill>
                  <a:srgbClr val="FF0000"/>
                </a:solidFill>
              </a:rPr>
              <a:t> </a:t>
            </a:r>
            <a:r>
              <a:rPr lang="fr-FR" dirty="0" err="1">
                <a:solidFill>
                  <a:srgbClr val="FF0000"/>
                </a:solidFill>
              </a:rPr>
              <a:t>biệt</a:t>
            </a:r>
            <a:r>
              <a:rPr lang="fr-FR" dirty="0">
                <a:solidFill>
                  <a:srgbClr val="FF0000"/>
                </a:solidFill>
              </a:rPr>
              <a:t> </a:t>
            </a:r>
            <a:r>
              <a:rPr lang="fr-FR" dirty="0" err="1">
                <a:solidFill>
                  <a:srgbClr val="FF0000"/>
                </a:solidFill>
              </a:rPr>
              <a:t>chữ</a:t>
            </a:r>
            <a:r>
              <a:rPr lang="fr-FR" dirty="0">
                <a:solidFill>
                  <a:srgbClr val="FF0000"/>
                </a:solidFill>
              </a:rPr>
              <a:t> </a:t>
            </a:r>
            <a:r>
              <a:rPr lang="fr-FR" dirty="0" err="1">
                <a:solidFill>
                  <a:srgbClr val="FF0000"/>
                </a:solidFill>
              </a:rPr>
              <a:t>hoa</a:t>
            </a:r>
            <a:r>
              <a:rPr lang="fr-FR" dirty="0">
                <a:solidFill>
                  <a:srgbClr val="FF0000"/>
                </a:solidFill>
              </a:rPr>
              <a:t> </a:t>
            </a:r>
            <a:r>
              <a:rPr lang="fr-FR" dirty="0" err="1">
                <a:solidFill>
                  <a:srgbClr val="FF0000"/>
                </a:solidFill>
              </a:rPr>
              <a:t>chữ</a:t>
            </a:r>
            <a:r>
              <a:rPr lang="fr-FR" dirty="0">
                <a:solidFill>
                  <a:srgbClr val="FF0000"/>
                </a:solidFill>
              </a:rPr>
              <a:t> </a:t>
            </a:r>
            <a:r>
              <a:rPr lang="fr-FR" dirty="0" err="1">
                <a:solidFill>
                  <a:srgbClr val="FF0000"/>
                </a:solidFill>
              </a:rPr>
              <a:t>thường</a:t>
            </a:r>
            <a:r>
              <a:rPr lang="fr-FR" dirty="0"/>
              <a:t>, do </a:t>
            </a:r>
            <a:r>
              <a:rPr lang="fr-FR" dirty="0" err="1"/>
              <a:t>đó</a:t>
            </a:r>
            <a:r>
              <a:rPr lang="fr-FR" dirty="0"/>
              <a:t> </a:t>
            </a:r>
            <a:r>
              <a:rPr lang="fr-FR" dirty="0" err="1"/>
              <a:t>các</a:t>
            </a:r>
            <a:r>
              <a:rPr lang="fr-FR" dirty="0"/>
              <a:t> </a:t>
            </a:r>
            <a:r>
              <a:rPr lang="fr-FR" dirty="0" err="1"/>
              <a:t>tên</a:t>
            </a:r>
            <a:r>
              <a:rPr lang="fr-FR" dirty="0"/>
              <a:t> </a:t>
            </a:r>
            <a:r>
              <a:rPr lang="fr-FR" dirty="0" err="1"/>
              <a:t>sau</a:t>
            </a:r>
            <a:r>
              <a:rPr lang="fr-FR" dirty="0"/>
              <a:t> </a:t>
            </a:r>
            <a:r>
              <a:rPr lang="fr-FR" dirty="0" err="1"/>
              <a:t>đây</a:t>
            </a:r>
            <a:r>
              <a:rPr lang="fr-FR" dirty="0"/>
              <a:t> </a:t>
            </a:r>
            <a:r>
              <a:rPr lang="fr-FR" dirty="0" err="1"/>
              <a:t>khác</a:t>
            </a:r>
            <a:r>
              <a:rPr lang="fr-FR" dirty="0"/>
              <a:t> </a:t>
            </a:r>
            <a:r>
              <a:rPr lang="fr-FR" dirty="0" err="1"/>
              <a:t>nhau</a:t>
            </a:r>
            <a:r>
              <a:rPr lang="fr-FR" dirty="0"/>
              <a:t>:</a:t>
            </a:r>
          </a:p>
          <a:p>
            <a:pPr lvl="2">
              <a:defRPr/>
            </a:pPr>
            <a:r>
              <a:rPr lang="fr-FR" dirty="0"/>
              <a:t>A, a</a:t>
            </a:r>
          </a:p>
          <a:p>
            <a:pPr lvl="2">
              <a:defRPr/>
            </a:pPr>
            <a:r>
              <a:rPr lang="fr-FR" dirty="0" err="1"/>
              <a:t>BaiTap</a:t>
            </a:r>
            <a:r>
              <a:rPr lang="fr-FR" dirty="0"/>
              <a:t>, </a:t>
            </a:r>
            <a:r>
              <a:rPr lang="fr-FR" dirty="0" err="1"/>
              <a:t>baitap</a:t>
            </a:r>
            <a:r>
              <a:rPr lang="fr-FR" dirty="0"/>
              <a:t>, BAITAP, </a:t>
            </a:r>
            <a:r>
              <a:rPr lang="fr-FR" dirty="0" err="1"/>
              <a:t>bAItaP</a:t>
            </a:r>
            <a:r>
              <a:rPr lang="fr-FR" dirty="0"/>
              <a:t>, …</a:t>
            </a:r>
          </a:p>
          <a:p>
            <a:pPr>
              <a:defRPr/>
            </a:pPr>
            <a:r>
              <a:rPr lang="fr-FR" dirty="0" err="1"/>
              <a:t>Thường</a:t>
            </a:r>
            <a:r>
              <a:rPr lang="fr-FR" dirty="0"/>
              <a:t> </a:t>
            </a:r>
            <a:r>
              <a:rPr lang="fr-FR" dirty="0" err="1"/>
              <a:t>dùng</a:t>
            </a:r>
            <a:r>
              <a:rPr lang="fr-FR" dirty="0"/>
              <a:t> </a:t>
            </a:r>
            <a:r>
              <a:rPr lang="fr-FR" dirty="0" err="1"/>
              <a:t>chữ</a:t>
            </a:r>
            <a:r>
              <a:rPr lang="fr-FR" dirty="0"/>
              <a:t> HOA </a:t>
            </a:r>
            <a:r>
              <a:rPr lang="fr-FR" dirty="0" err="1"/>
              <a:t>đặt</a:t>
            </a:r>
            <a:r>
              <a:rPr lang="fr-FR" dirty="0"/>
              <a:t> </a:t>
            </a:r>
            <a:r>
              <a:rPr lang="fr-FR" dirty="0" err="1"/>
              <a:t>tên</a:t>
            </a:r>
            <a:r>
              <a:rPr lang="fr-FR" dirty="0"/>
              <a:t> </a:t>
            </a:r>
            <a:r>
              <a:rPr lang="fr-FR" dirty="0" err="1"/>
              <a:t>cho</a:t>
            </a:r>
            <a:r>
              <a:rPr lang="fr-FR" dirty="0"/>
              <a:t> </a:t>
            </a:r>
            <a:r>
              <a:rPr lang="fr-FR" dirty="0" err="1"/>
              <a:t>hằng</a:t>
            </a:r>
            <a:r>
              <a:rPr lang="fr-FR" dirty="0"/>
              <a:t>, </a:t>
            </a:r>
            <a:r>
              <a:rPr lang="fr-FR" dirty="0" err="1"/>
              <a:t>chữ</a:t>
            </a:r>
            <a:r>
              <a:rPr lang="fr-FR" dirty="0"/>
              <a:t> </a:t>
            </a:r>
            <a:r>
              <a:rPr lang="fr-FR" dirty="0" err="1"/>
              <a:t>thường</a:t>
            </a:r>
            <a:r>
              <a:rPr lang="fr-FR" dirty="0"/>
              <a:t> </a:t>
            </a:r>
            <a:r>
              <a:rPr lang="fr-FR" dirty="0" err="1"/>
              <a:t>cho</a:t>
            </a:r>
            <a:r>
              <a:rPr lang="fr-FR" dirty="0"/>
              <a:t> </a:t>
            </a:r>
            <a:r>
              <a:rPr lang="fr-FR" dirty="0" err="1"/>
              <a:t>các</a:t>
            </a:r>
            <a:r>
              <a:rPr lang="fr-FR" dirty="0"/>
              <a:t> </a:t>
            </a:r>
            <a:r>
              <a:rPr lang="fr-FR" dirty="0" err="1"/>
              <a:t>đối</a:t>
            </a:r>
            <a:r>
              <a:rPr lang="fr-FR" dirty="0"/>
              <a:t> </a:t>
            </a:r>
            <a:r>
              <a:rPr lang="fr-FR" dirty="0" err="1"/>
              <a:t>tượng</a:t>
            </a:r>
            <a:r>
              <a:rPr lang="fr-FR" dirty="0"/>
              <a:t> </a:t>
            </a:r>
            <a:r>
              <a:rPr lang="fr-FR" dirty="0" err="1"/>
              <a:t>khác</a:t>
            </a:r>
            <a:r>
              <a:rPr lang="fr-FR" dirty="0"/>
              <a:t>.</a:t>
            </a:r>
          </a:p>
        </p:txBody>
      </p:sp>
      <p:sp>
        <p:nvSpPr>
          <p:cNvPr id="24580"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3DAC2669-1DAB-465C-AE0B-05313B417203}"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6</a:t>
            </a:fld>
            <a:r>
              <a:rPr lang="vi-VN"/>
              <a:t>/59</a:t>
            </a:r>
          </a:p>
        </p:txBody>
      </p:sp>
    </p:spTree>
    <p:extLst>
      <p:ext uri="{BB962C8B-B14F-4D97-AF65-F5344CB8AC3E}">
        <p14:creationId xmlns:p14="http://schemas.microsoft.com/office/powerpoint/2010/main" val="3967755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Effect transition="in" filter="wipe(left)">
                                      <p:cBhvr>
                                        <p:cTn id="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1. Các thành phần cơ bản (tt)</a:t>
            </a:r>
          </a:p>
        </p:txBody>
      </p:sp>
      <p:sp>
        <p:nvSpPr>
          <p:cNvPr id="3" name="Content Placeholder 2"/>
          <p:cNvSpPr>
            <a:spLocks noGrp="1"/>
          </p:cNvSpPr>
          <p:nvPr>
            <p:ph idx="1"/>
          </p:nvPr>
        </p:nvSpPr>
        <p:spPr/>
        <p:txBody>
          <a:bodyPr/>
          <a:lstStyle/>
          <a:p>
            <a:pPr>
              <a:defRPr/>
            </a:pPr>
            <a:r>
              <a:rPr lang="en-US"/>
              <a:t>Dấu chấm phẩy ;</a:t>
            </a:r>
          </a:p>
          <a:p>
            <a:pPr lvl="1">
              <a:defRPr/>
            </a:pPr>
            <a:r>
              <a:rPr lang="en-US"/>
              <a:t>Dùng </a:t>
            </a:r>
            <a:r>
              <a:rPr lang="vi-VN"/>
              <a:t>để</a:t>
            </a:r>
            <a:r>
              <a:rPr lang="en-US"/>
              <a:t> phân cách các câu lệnh. </a:t>
            </a:r>
          </a:p>
          <a:p>
            <a:pPr lvl="1">
              <a:defRPr/>
            </a:pPr>
            <a:r>
              <a:rPr lang="en-US"/>
              <a:t>Ví dụ: printf(“Hello World!”)</a:t>
            </a:r>
            <a:r>
              <a:rPr lang="en-US">
                <a:solidFill>
                  <a:srgbClr val="FF0000"/>
                </a:solidFill>
              </a:rPr>
              <a:t>;</a:t>
            </a:r>
            <a:r>
              <a:rPr lang="en-US"/>
              <a:t> printf(“\n”)</a:t>
            </a:r>
            <a:r>
              <a:rPr lang="en-US">
                <a:solidFill>
                  <a:srgbClr val="FF0000"/>
                </a:solidFill>
              </a:rPr>
              <a:t>;</a:t>
            </a:r>
          </a:p>
          <a:p>
            <a:pPr>
              <a:defRPr/>
            </a:pPr>
            <a:r>
              <a:rPr lang="en-US"/>
              <a:t>Câu chú thích PI la hang so</a:t>
            </a:r>
          </a:p>
          <a:p>
            <a:pPr lvl="1">
              <a:defRPr/>
            </a:pPr>
            <a:r>
              <a:rPr lang="en-US"/>
              <a:t>Đặt giữa cặp dấu </a:t>
            </a:r>
            <a:r>
              <a:rPr lang="en-US">
                <a:solidFill>
                  <a:srgbClr val="FF0000"/>
                </a:solidFill>
              </a:rPr>
              <a:t>/*</a:t>
            </a:r>
            <a:r>
              <a:rPr lang="en-US"/>
              <a:t> </a:t>
            </a:r>
            <a:r>
              <a:rPr lang="en-US">
                <a:solidFill>
                  <a:srgbClr val="FF0000"/>
                </a:solidFill>
              </a:rPr>
              <a:t>*/</a:t>
            </a:r>
            <a:r>
              <a:rPr lang="en-US"/>
              <a:t> hoặc </a:t>
            </a:r>
            <a:r>
              <a:rPr lang="en-US">
                <a:solidFill>
                  <a:srgbClr val="FF0000"/>
                </a:solidFill>
              </a:rPr>
              <a:t>// </a:t>
            </a:r>
            <a:r>
              <a:rPr lang="en-US"/>
              <a:t>(C++) </a:t>
            </a:r>
          </a:p>
          <a:p>
            <a:pPr lvl="1">
              <a:defRPr/>
            </a:pPr>
            <a:r>
              <a:rPr lang="en-US"/>
              <a:t>Ví dụ: </a:t>
            </a:r>
            <a:r>
              <a:rPr lang="en-US">
                <a:solidFill>
                  <a:srgbClr val="FF0000"/>
                </a:solidFill>
              </a:rPr>
              <a:t>/*</a:t>
            </a:r>
            <a:r>
              <a:rPr lang="en-US"/>
              <a:t>Ho &amp; Ten: NVA</a:t>
            </a:r>
            <a:r>
              <a:rPr lang="en-US">
                <a:solidFill>
                  <a:srgbClr val="FF0000"/>
                </a:solidFill>
              </a:rPr>
              <a:t>*/</a:t>
            </a:r>
            <a:r>
              <a:rPr lang="en-US"/>
              <a:t>, </a:t>
            </a:r>
            <a:r>
              <a:rPr lang="en-US">
                <a:solidFill>
                  <a:srgbClr val="FF0000"/>
                </a:solidFill>
              </a:rPr>
              <a:t>//</a:t>
            </a:r>
            <a:r>
              <a:rPr lang="en-US"/>
              <a:t> MSSV: 0712078</a:t>
            </a:r>
            <a:endParaRPr lang="en-US">
              <a:solidFill>
                <a:srgbClr val="FF0000"/>
              </a:solidFill>
            </a:endParaRPr>
          </a:p>
          <a:p>
            <a:pPr>
              <a:defRPr/>
            </a:pPr>
            <a:r>
              <a:rPr lang="en-US"/>
              <a:t>Hằng ký tự và hằng chuỗi</a:t>
            </a:r>
          </a:p>
          <a:p>
            <a:pPr lvl="1">
              <a:defRPr/>
            </a:pPr>
            <a:r>
              <a:rPr lang="en-US"/>
              <a:t>Hằng ký tự: </a:t>
            </a:r>
            <a:r>
              <a:rPr lang="en-US">
                <a:solidFill>
                  <a:srgbClr val="FF0000"/>
                </a:solidFill>
              </a:rPr>
              <a:t>‘</a:t>
            </a:r>
            <a:r>
              <a:rPr lang="en-US"/>
              <a:t>A</a:t>
            </a:r>
            <a:r>
              <a:rPr lang="en-US">
                <a:solidFill>
                  <a:srgbClr val="FF0000"/>
                </a:solidFill>
              </a:rPr>
              <a:t>’</a:t>
            </a:r>
            <a:r>
              <a:rPr lang="en-US"/>
              <a:t>, </a:t>
            </a:r>
            <a:r>
              <a:rPr lang="en-US">
                <a:solidFill>
                  <a:srgbClr val="FF0000"/>
                </a:solidFill>
              </a:rPr>
              <a:t>‘</a:t>
            </a:r>
            <a:r>
              <a:rPr lang="en-US"/>
              <a:t>a</a:t>
            </a:r>
            <a:r>
              <a:rPr lang="en-US">
                <a:solidFill>
                  <a:srgbClr val="FF0000"/>
                </a:solidFill>
              </a:rPr>
              <a:t>’</a:t>
            </a:r>
            <a:r>
              <a:rPr lang="en-US"/>
              <a:t>, …</a:t>
            </a:r>
            <a:endParaRPr lang="en-US">
              <a:solidFill>
                <a:srgbClr val="FF0000"/>
              </a:solidFill>
            </a:endParaRPr>
          </a:p>
          <a:p>
            <a:pPr lvl="1">
              <a:defRPr/>
            </a:pPr>
            <a:r>
              <a:rPr lang="en-US"/>
              <a:t>Hằng chuỗi: </a:t>
            </a:r>
            <a:r>
              <a:rPr lang="en-US">
                <a:solidFill>
                  <a:srgbClr val="FF0000"/>
                </a:solidFill>
              </a:rPr>
              <a:t>“</a:t>
            </a:r>
            <a:r>
              <a:rPr lang="en-US"/>
              <a:t>Hello World!</a:t>
            </a:r>
            <a:r>
              <a:rPr lang="en-US">
                <a:solidFill>
                  <a:srgbClr val="FF0000"/>
                </a:solidFill>
              </a:rPr>
              <a:t>”</a:t>
            </a:r>
            <a:r>
              <a:rPr lang="en-US"/>
              <a:t>, </a:t>
            </a:r>
            <a:r>
              <a:rPr lang="en-US">
                <a:solidFill>
                  <a:srgbClr val="FF0000"/>
                </a:solidFill>
              </a:rPr>
              <a:t>“</a:t>
            </a:r>
            <a:r>
              <a:rPr lang="en-US"/>
              <a:t>Nguyen Van A</a:t>
            </a:r>
            <a:r>
              <a:rPr lang="en-US">
                <a:solidFill>
                  <a:srgbClr val="FF0000"/>
                </a:solidFill>
              </a:rPr>
              <a:t>”</a:t>
            </a:r>
          </a:p>
          <a:p>
            <a:pPr lvl="1">
              <a:defRPr/>
            </a:pPr>
            <a:r>
              <a:rPr lang="en-US">
                <a:solidFill>
                  <a:srgbClr val="FF0000"/>
                </a:solidFill>
              </a:rPr>
              <a:t>Chú ý:</a:t>
            </a:r>
            <a:r>
              <a:rPr lang="en-US"/>
              <a:t> </a:t>
            </a:r>
            <a:r>
              <a:rPr lang="en-US">
                <a:solidFill>
                  <a:srgbClr val="FF0000"/>
                </a:solidFill>
              </a:rPr>
              <a:t>‘</a:t>
            </a:r>
            <a:r>
              <a:rPr lang="en-US"/>
              <a:t>A</a:t>
            </a:r>
            <a:r>
              <a:rPr lang="en-US">
                <a:solidFill>
                  <a:srgbClr val="FF0000"/>
                </a:solidFill>
              </a:rPr>
              <a:t>’ </a:t>
            </a:r>
            <a:r>
              <a:rPr lang="en-US"/>
              <a:t>khác </a:t>
            </a:r>
            <a:r>
              <a:rPr lang="en-US">
                <a:solidFill>
                  <a:srgbClr val="FF0000"/>
                </a:solidFill>
              </a:rPr>
              <a:t>“</a:t>
            </a:r>
            <a:r>
              <a:rPr lang="en-US"/>
              <a:t>A</a:t>
            </a:r>
            <a:r>
              <a:rPr lang="en-US">
                <a:solidFill>
                  <a:srgbClr val="FF0000"/>
                </a:solidFill>
              </a:rPr>
              <a:t>”</a:t>
            </a:r>
          </a:p>
        </p:txBody>
      </p:sp>
      <p:sp>
        <p:nvSpPr>
          <p:cNvPr id="25604"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C57F8D9D-2E14-48AF-B6AC-D67C36FCA8AF}"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7</a:t>
            </a:fld>
            <a:r>
              <a:rPr lang="vi-VN"/>
              <a:t>/59</a:t>
            </a:r>
          </a:p>
        </p:txBody>
      </p:sp>
    </p:spTree>
    <p:extLst>
      <p:ext uri="{BB962C8B-B14F-4D97-AF65-F5344CB8AC3E}">
        <p14:creationId xmlns:p14="http://schemas.microsoft.com/office/powerpoint/2010/main" val="4164639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 Cấu trúc chung chương trình C </a:t>
            </a:r>
            <a:endParaRPr lang="vi-VN"/>
          </a:p>
        </p:txBody>
      </p:sp>
      <p:sp>
        <p:nvSpPr>
          <p:cNvPr id="8" name="Rounded Rectangle 7"/>
          <p:cNvSpPr/>
          <p:nvPr/>
        </p:nvSpPr>
        <p:spPr>
          <a:xfrm>
            <a:off x="685800" y="1196752"/>
            <a:ext cx="152400" cy="5184576"/>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9" name="TextBox 8"/>
          <p:cNvSpPr txBox="1">
            <a:spLocks noChangeArrowheads="1"/>
          </p:cNvSpPr>
          <p:nvPr/>
        </p:nvSpPr>
        <p:spPr bwMode="auto">
          <a:xfrm>
            <a:off x="824691" y="1051937"/>
            <a:ext cx="8126288" cy="5509200"/>
          </a:xfrm>
          <a:prstGeom prst="rect">
            <a:avLst/>
          </a:prstGeom>
          <a:noFill/>
          <a:ln w="9525">
            <a:noFill/>
            <a:miter lim="800000"/>
            <a:headEnd/>
            <a:tailEnd/>
          </a:ln>
        </p:spPr>
        <p:txBody>
          <a:bodyPr wrap="square">
            <a:spAutoFit/>
          </a:bodyPr>
          <a:lstStyle/>
          <a:p>
            <a:r>
              <a:rPr lang="en-US" sz="2200" b="1" dirty="0">
                <a:solidFill>
                  <a:srgbClr val="0000FF"/>
                </a:solidFill>
                <a:latin typeface="Courier New" pitchFamily="49" charset="0"/>
                <a:cs typeface="Courier New" pitchFamily="49" charset="0"/>
              </a:rPr>
              <a:t>#include &lt;…&gt;</a:t>
            </a:r>
            <a:r>
              <a:rPr lang="en-US" sz="2200" b="1" dirty="0">
                <a:latin typeface="Courier New" pitchFamily="49" charset="0"/>
                <a:cs typeface="Courier New" pitchFamily="49" charset="0"/>
              </a:rPr>
              <a:t>	</a:t>
            </a:r>
            <a:r>
              <a:rPr lang="en-US" sz="2200" b="1" dirty="0">
                <a:solidFill>
                  <a:schemeClr val="accent6">
                    <a:lumMod val="50000"/>
                  </a:schemeClr>
                </a:solidFill>
                <a:latin typeface="Courier New" pitchFamily="49" charset="0"/>
                <a:cs typeface="Courier New" pitchFamily="49" charset="0"/>
              </a:rPr>
              <a:t>/*</a:t>
            </a:r>
            <a:r>
              <a:rPr lang="en-US" sz="2200" b="1" dirty="0" err="1">
                <a:solidFill>
                  <a:schemeClr val="accent6">
                    <a:lumMod val="50000"/>
                  </a:schemeClr>
                </a:solidFill>
                <a:latin typeface="Courier New" pitchFamily="49" charset="0"/>
                <a:cs typeface="Courier New" pitchFamily="49" charset="0"/>
              </a:rPr>
              <a:t>Gọi</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các</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tệp</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tiền</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xử</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lý</a:t>
            </a:r>
            <a:r>
              <a:rPr lang="en-US" sz="2200" b="1" dirty="0">
                <a:solidFill>
                  <a:schemeClr val="accent6">
                    <a:lumMod val="50000"/>
                  </a:schemeClr>
                </a:solidFill>
                <a:latin typeface="Courier New" pitchFamily="49" charset="0"/>
                <a:cs typeface="Courier New" pitchFamily="49" charset="0"/>
              </a:rPr>
              <a:t> */</a:t>
            </a:r>
          </a:p>
          <a:p>
            <a:r>
              <a:rPr lang="en-US" sz="2200" b="1" dirty="0">
                <a:solidFill>
                  <a:srgbClr val="0000FF"/>
                </a:solidFill>
                <a:latin typeface="Courier New" pitchFamily="49" charset="0"/>
                <a:cs typeface="Courier New" pitchFamily="49" charset="0"/>
              </a:rPr>
              <a:t>#define </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Định</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nghĩa</a:t>
            </a:r>
            <a:r>
              <a:rPr lang="en-US" sz="2200" b="1" dirty="0">
                <a:solidFill>
                  <a:schemeClr val="accent6">
                    <a:lumMod val="50000"/>
                  </a:schemeClr>
                </a:solidFill>
                <a:latin typeface="Courier New" pitchFamily="49" charset="0"/>
                <a:cs typeface="Courier New" pitchFamily="49" charset="0"/>
              </a:rPr>
              <a:t> */</a:t>
            </a:r>
          </a:p>
          <a:p>
            <a:r>
              <a:rPr lang="en-US" sz="2200" b="1" dirty="0">
                <a:latin typeface="Courier New" pitchFamily="49" charset="0"/>
                <a:cs typeface="Courier New" pitchFamily="49" charset="0"/>
              </a:rPr>
              <a:t>typedef </a:t>
            </a:r>
            <a:r>
              <a:rPr lang="en-US" sz="2200" b="1" dirty="0">
                <a:solidFill>
                  <a:schemeClr val="accent6">
                    <a:lumMod val="50000"/>
                  </a:schemeClr>
                </a:solidFill>
                <a:latin typeface="Courier New" pitchFamily="49" charset="0"/>
                <a:cs typeface="Courier New" pitchFamily="49" charset="0"/>
              </a:rPr>
              <a:t>/*</a:t>
            </a:r>
            <a:r>
              <a:rPr lang="en-US" sz="2200" b="1" dirty="0" err="1">
                <a:solidFill>
                  <a:schemeClr val="accent6">
                    <a:lumMod val="50000"/>
                  </a:schemeClr>
                </a:solidFill>
                <a:latin typeface="Courier New" pitchFamily="49" charset="0"/>
                <a:cs typeface="Courier New" pitchFamily="49" charset="0"/>
              </a:rPr>
              <a:t>Định</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nghĩa</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kiểu</a:t>
            </a:r>
            <a:r>
              <a:rPr lang="en-US" sz="2200" b="1" dirty="0">
                <a:solidFill>
                  <a:schemeClr val="accent6">
                    <a:lumMod val="50000"/>
                  </a:schemeClr>
                </a:solidFill>
                <a:latin typeface="Courier New" pitchFamily="49" charset="0"/>
                <a:cs typeface="Courier New" pitchFamily="49" charset="0"/>
              </a:rPr>
              <a:t> */</a:t>
            </a:r>
          </a:p>
          <a:p>
            <a:r>
              <a:rPr lang="en-US" sz="2200" b="1" dirty="0">
                <a:latin typeface="Courier New" pitchFamily="49" charset="0"/>
                <a:cs typeface="Courier New" pitchFamily="49" charset="0"/>
              </a:rPr>
              <a:t>int x;		</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Khai</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báo</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biến</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ngoài</a:t>
            </a:r>
            <a:r>
              <a:rPr lang="en-US" sz="2200" b="1" dirty="0">
                <a:solidFill>
                  <a:schemeClr val="accent6">
                    <a:lumMod val="50000"/>
                  </a:schemeClr>
                </a:solidFill>
                <a:latin typeface="Courier New" pitchFamily="49" charset="0"/>
                <a:cs typeface="Courier New" pitchFamily="49" charset="0"/>
              </a:rPr>
              <a:t> */</a:t>
            </a:r>
          </a:p>
          <a:p>
            <a:r>
              <a:rPr lang="en-US" sz="2200" b="1" dirty="0">
                <a:latin typeface="Courier New" pitchFamily="49" charset="0"/>
                <a:cs typeface="Courier New" pitchFamily="49" charset="0"/>
              </a:rPr>
              <a:t>const …</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Khai</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báo</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hằng</a:t>
            </a:r>
            <a:r>
              <a:rPr lang="en-US" sz="2200" b="1" dirty="0">
                <a:solidFill>
                  <a:schemeClr val="accent6">
                    <a:lumMod val="50000"/>
                  </a:schemeClr>
                </a:solidFill>
                <a:latin typeface="Courier New" pitchFamily="49" charset="0"/>
                <a:cs typeface="Courier New" pitchFamily="49" charset="0"/>
              </a:rPr>
              <a:t> */</a:t>
            </a:r>
          </a:p>
          <a:p>
            <a:r>
              <a:rPr lang="en-US" sz="2200" b="1" dirty="0">
                <a:solidFill>
                  <a:schemeClr val="accent6">
                    <a:lumMod val="50000"/>
                  </a:schemeClr>
                </a:solidFill>
                <a:latin typeface="Courier New" pitchFamily="49" charset="0"/>
                <a:cs typeface="Courier New" pitchFamily="49" charset="0"/>
              </a:rPr>
              <a:t>/*</a:t>
            </a:r>
            <a:r>
              <a:rPr lang="en-US" sz="2200" b="1" dirty="0" err="1">
                <a:solidFill>
                  <a:schemeClr val="accent6">
                    <a:lumMod val="50000"/>
                  </a:schemeClr>
                </a:solidFill>
                <a:latin typeface="Courier New" pitchFamily="49" charset="0"/>
                <a:cs typeface="Courier New" pitchFamily="49" charset="0"/>
              </a:rPr>
              <a:t>Khai</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báo</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các</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hàm</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có</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thể</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có</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hoặc</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không</a:t>
            </a:r>
            <a:r>
              <a:rPr lang="en-US" sz="2200" b="1" dirty="0">
                <a:solidFill>
                  <a:schemeClr val="accent6">
                    <a:lumMod val="50000"/>
                  </a:schemeClr>
                </a:solidFill>
                <a:latin typeface="Courier New" pitchFamily="49" charset="0"/>
                <a:cs typeface="Courier New" pitchFamily="49" charset="0"/>
              </a:rPr>
              <a:t> */</a:t>
            </a:r>
          </a:p>
          <a:p>
            <a:r>
              <a:rPr lang="en-US" sz="2200" b="1" dirty="0" err="1">
                <a:latin typeface="Courier New" pitchFamily="49" charset="0"/>
                <a:cs typeface="Courier New" pitchFamily="49" charset="0"/>
              </a:rPr>
              <a:t>Kiểu_dữ_liệu</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tên_hàm</a:t>
            </a:r>
            <a:r>
              <a:rPr lang="en-US" sz="2200" b="1" dirty="0">
                <a:latin typeface="Courier New" pitchFamily="49" charset="0"/>
                <a:cs typeface="Courier New" pitchFamily="49" charset="0"/>
              </a:rPr>
              <a:t>(</a:t>
            </a:r>
            <a:r>
              <a:rPr lang="en-US" sz="2200" b="1" dirty="0" err="1">
                <a:latin typeface="Courier New" pitchFamily="49" charset="0"/>
                <a:cs typeface="Courier New" pitchFamily="49" charset="0"/>
              </a:rPr>
              <a:t>các</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tham</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số</a:t>
            </a:r>
            <a:r>
              <a:rPr lang="en-US" sz="2200" b="1" dirty="0">
                <a:latin typeface="Courier New" pitchFamily="49" charset="0"/>
                <a:cs typeface="Courier New" pitchFamily="49" charset="0"/>
              </a:rPr>
              <a:t>);</a:t>
            </a:r>
          </a:p>
          <a:p>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Khai</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báo</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các</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biến</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hằng</a:t>
            </a:r>
            <a:endParaRPr lang="en-US" sz="2200" b="1" dirty="0">
              <a:latin typeface="Courier New" pitchFamily="49" charset="0"/>
              <a:cs typeface="Courier New" pitchFamily="49" charset="0"/>
            </a:endParaRPr>
          </a:p>
          <a:p>
            <a:r>
              <a:rPr lang="en-US" sz="2200" b="1" dirty="0">
                <a:solidFill>
                  <a:schemeClr val="accent6">
                    <a:lumMod val="50000"/>
                  </a:schemeClr>
                </a:solidFill>
                <a:latin typeface="Courier New" pitchFamily="49" charset="0"/>
                <a:cs typeface="Courier New" pitchFamily="49" charset="0"/>
              </a:rPr>
              <a:t>	</a:t>
            </a:r>
            <a:r>
              <a:rPr lang="en-US" sz="2200" b="1" dirty="0" err="1">
                <a:latin typeface="Courier New" pitchFamily="49" charset="0"/>
                <a:cs typeface="Courier New" pitchFamily="49" charset="0"/>
              </a:rPr>
              <a:t>Các</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lệnh</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của</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hàm</a:t>
            </a:r>
            <a:endParaRPr lang="en-US" sz="2200" b="1" dirty="0">
              <a:latin typeface="Courier New" pitchFamily="49" charset="0"/>
              <a:cs typeface="Courier New" pitchFamily="49" charset="0"/>
            </a:endParaRPr>
          </a:p>
          <a:p>
            <a:r>
              <a:rPr lang="en-US" sz="2200" b="1" dirty="0">
                <a:latin typeface="Courier New" pitchFamily="49" charset="0"/>
                <a:cs typeface="Courier New" pitchFamily="49" charset="0"/>
              </a:rPr>
              <a:t>	</a:t>
            </a:r>
            <a:r>
              <a:rPr lang="en-US" sz="2200" b="1" dirty="0">
                <a:solidFill>
                  <a:srgbClr val="7030A0"/>
                </a:solidFill>
                <a:latin typeface="Courier New" pitchFamily="49" charset="0"/>
                <a:cs typeface="Courier New" pitchFamily="49" charset="0"/>
              </a:rPr>
              <a:t>return</a:t>
            </a:r>
            <a:r>
              <a:rPr lang="en-US" sz="2200" b="1" dirty="0">
                <a:latin typeface="Courier New" pitchFamily="49" charset="0"/>
                <a:cs typeface="Courier New" pitchFamily="49" charset="0"/>
              </a:rPr>
              <a:t>(); </a:t>
            </a:r>
            <a:r>
              <a:rPr lang="en-US" sz="2200" b="1" dirty="0">
                <a:solidFill>
                  <a:schemeClr val="accent6">
                    <a:lumMod val="50000"/>
                  </a:schemeClr>
                </a:solidFill>
                <a:latin typeface="Courier New" pitchFamily="49" charset="0"/>
                <a:cs typeface="Courier New" pitchFamily="49" charset="0"/>
              </a:rPr>
              <a:t>/*</a:t>
            </a:r>
            <a:r>
              <a:rPr lang="en-US" sz="2200" b="1" dirty="0" err="1">
                <a:solidFill>
                  <a:schemeClr val="accent6">
                    <a:lumMod val="50000"/>
                  </a:schemeClr>
                </a:solidFill>
                <a:latin typeface="Courier New" pitchFamily="49" charset="0"/>
                <a:cs typeface="Courier New" pitchFamily="49" charset="0"/>
              </a:rPr>
              <a:t>Trả</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lại</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giá</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trị</a:t>
            </a:r>
            <a:r>
              <a:rPr lang="en-US" sz="2200" b="1" dirty="0">
                <a:solidFill>
                  <a:schemeClr val="accent6">
                    <a:lumMod val="50000"/>
                  </a:schemeClr>
                </a:solidFill>
                <a:latin typeface="Courier New" pitchFamily="49" charset="0"/>
                <a:cs typeface="Courier New" pitchFamily="49" charset="0"/>
              </a:rPr>
              <a:t> */</a:t>
            </a:r>
          </a:p>
          <a:p>
            <a:r>
              <a:rPr lang="en-US" sz="2200" b="1" dirty="0">
                <a:latin typeface="Courier New" pitchFamily="49" charset="0"/>
                <a:cs typeface="Courier New" pitchFamily="49" charset="0"/>
              </a:rPr>
              <a:t>} ...</a:t>
            </a:r>
          </a:p>
          <a:p>
            <a:r>
              <a:rPr lang="en-US" sz="2200" b="1" dirty="0">
                <a:solidFill>
                  <a:srgbClr val="FF0000"/>
                </a:solidFill>
                <a:latin typeface="Courier New" pitchFamily="49" charset="0"/>
                <a:cs typeface="Courier New" pitchFamily="49" charset="0"/>
              </a:rPr>
              <a:t>main</a:t>
            </a:r>
            <a:r>
              <a:rPr lang="en-US" sz="2200" b="1" dirty="0">
                <a:latin typeface="Courier New" pitchFamily="49" charset="0"/>
                <a:cs typeface="Courier New" pitchFamily="49" charset="0"/>
              </a:rPr>
              <a:t>()	</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Bắt</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buộc</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phải</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có</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hàm</a:t>
            </a:r>
            <a:r>
              <a:rPr lang="en-US" sz="2200" b="1" dirty="0">
                <a:solidFill>
                  <a:schemeClr val="accent6">
                    <a:lumMod val="50000"/>
                  </a:schemeClr>
                </a:solidFill>
                <a:latin typeface="Courier New" pitchFamily="49" charset="0"/>
                <a:cs typeface="Courier New" pitchFamily="49" charset="0"/>
              </a:rPr>
              <a:t> main */</a:t>
            </a:r>
          </a:p>
          <a:p>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Khai</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báo</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các</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biến</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hằng</a:t>
            </a:r>
            <a:endParaRPr lang="en-US" sz="2200" b="1" dirty="0">
              <a:latin typeface="Courier New" pitchFamily="49" charset="0"/>
              <a:cs typeface="Courier New" pitchFamily="49" charset="0"/>
            </a:endParaRPr>
          </a:p>
          <a:p>
            <a:r>
              <a:rPr lang="en-US" sz="2200" b="1" dirty="0">
                <a:solidFill>
                  <a:schemeClr val="accent6">
                    <a:lumMod val="50000"/>
                  </a:schemeClr>
                </a:solidFill>
                <a:latin typeface="Courier New" pitchFamily="49" charset="0"/>
                <a:cs typeface="Courier New" pitchFamily="49" charset="0"/>
              </a:rPr>
              <a:t>	</a:t>
            </a:r>
            <a:r>
              <a:rPr lang="en-US" sz="2200" b="1" dirty="0" err="1">
                <a:latin typeface="Courier New" pitchFamily="49" charset="0"/>
                <a:cs typeface="Courier New" pitchFamily="49" charset="0"/>
              </a:rPr>
              <a:t>Các</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lệnh</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của</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hàm</a:t>
            </a:r>
            <a:endParaRPr lang="en-US" sz="2200" b="1" dirty="0">
              <a:latin typeface="Courier New" pitchFamily="49" charset="0"/>
              <a:cs typeface="Courier New" pitchFamily="49" charset="0"/>
            </a:endParaRPr>
          </a:p>
          <a:p>
            <a:r>
              <a:rPr lang="en-US" sz="2200" b="1" dirty="0">
                <a:latin typeface="Courier New" pitchFamily="49" charset="0"/>
                <a:cs typeface="Courier New" pitchFamily="49" charset="0"/>
              </a:rPr>
              <a:t>	</a:t>
            </a:r>
            <a:r>
              <a:rPr lang="en-US" sz="2200" b="1" dirty="0">
                <a:solidFill>
                  <a:srgbClr val="7030A0"/>
                </a:solidFill>
                <a:latin typeface="Courier New" pitchFamily="49" charset="0"/>
                <a:cs typeface="Courier New" pitchFamily="49" charset="0"/>
              </a:rPr>
              <a:t>return</a:t>
            </a:r>
            <a:r>
              <a:rPr lang="en-US" sz="2200" b="1" dirty="0">
                <a:latin typeface="Courier New" pitchFamily="49" charset="0"/>
                <a:cs typeface="Courier New" pitchFamily="49" charset="0"/>
              </a:rPr>
              <a:t> (); </a:t>
            </a:r>
            <a:r>
              <a:rPr lang="en-US" sz="2200" b="1" dirty="0">
                <a:solidFill>
                  <a:schemeClr val="accent6">
                    <a:lumMod val="50000"/>
                  </a:schemeClr>
                </a:solidFill>
                <a:latin typeface="Courier New" pitchFamily="49" charset="0"/>
                <a:cs typeface="Courier New" pitchFamily="49" charset="0"/>
              </a:rPr>
              <a:t>/*</a:t>
            </a:r>
            <a:r>
              <a:rPr lang="en-US" sz="2200" b="1" dirty="0" err="1">
                <a:solidFill>
                  <a:schemeClr val="accent6">
                    <a:lumMod val="50000"/>
                  </a:schemeClr>
                </a:solidFill>
                <a:latin typeface="Courier New" pitchFamily="49" charset="0"/>
                <a:cs typeface="Courier New" pitchFamily="49" charset="0"/>
              </a:rPr>
              <a:t>Có</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thể</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có</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hoặc</a:t>
            </a:r>
            <a:r>
              <a:rPr lang="en-US" sz="2200" b="1" dirty="0">
                <a:solidFill>
                  <a:schemeClr val="accent6">
                    <a:lumMod val="50000"/>
                  </a:schemeClr>
                </a:solidFill>
                <a:latin typeface="Courier New" pitchFamily="49" charset="0"/>
                <a:cs typeface="Courier New" pitchFamily="49" charset="0"/>
              </a:rPr>
              <a:t> </a:t>
            </a:r>
            <a:r>
              <a:rPr lang="en-US" sz="2200" b="1" dirty="0" err="1">
                <a:solidFill>
                  <a:schemeClr val="accent6">
                    <a:lumMod val="50000"/>
                  </a:schemeClr>
                </a:solidFill>
                <a:latin typeface="Courier New" pitchFamily="49" charset="0"/>
                <a:cs typeface="Courier New" pitchFamily="49" charset="0"/>
              </a:rPr>
              <a:t>không</a:t>
            </a:r>
            <a:r>
              <a:rPr lang="en-US" sz="2200" b="1" dirty="0">
                <a:solidFill>
                  <a:schemeClr val="accent6">
                    <a:lumMod val="50000"/>
                  </a:schemeClr>
                </a:solidFill>
                <a:latin typeface="Courier New" pitchFamily="49" charset="0"/>
                <a:cs typeface="Courier New" pitchFamily="49" charset="0"/>
              </a:rPr>
              <a:t> */</a:t>
            </a:r>
          </a:p>
          <a:p>
            <a:r>
              <a:rPr lang="en-US" sz="2200" b="1" dirty="0">
                <a:latin typeface="Courier New" pitchFamily="49" charset="0"/>
                <a:cs typeface="Courier New" pitchFamily="49" charset="0"/>
              </a:rPr>
              <a:t>}</a:t>
            </a:r>
          </a:p>
        </p:txBody>
      </p:sp>
      <p:sp>
        <p:nvSpPr>
          <p:cNvPr id="4" name="Date Placeholder 3"/>
          <p:cNvSpPr>
            <a:spLocks noGrp="1"/>
          </p:cNvSpPr>
          <p:nvPr>
            <p:ph type="dt" sz="half" idx="10"/>
          </p:nvPr>
        </p:nvSpPr>
        <p:spPr/>
        <p:txBody>
          <a:bodyPr/>
          <a:lstStyle/>
          <a:p>
            <a:fld id="{5CB201CF-A546-494D-92B7-360B8BA4C2B8}"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2" name="Slide Number Placeholder 11"/>
          <p:cNvSpPr>
            <a:spLocks noGrp="1"/>
          </p:cNvSpPr>
          <p:nvPr>
            <p:ph type="sldNum" sz="quarter" idx="12"/>
          </p:nvPr>
        </p:nvSpPr>
        <p:spPr/>
        <p:txBody>
          <a:bodyPr/>
          <a:lstStyle/>
          <a:p>
            <a:fld id="{5AB95402-1E0D-474E-8D8C-CBE7F053639E}" type="slidenum">
              <a:rPr lang="vi-VN" smtClean="0"/>
              <a:pPr/>
              <a:t>8</a:t>
            </a:fld>
            <a:r>
              <a:rPr lang="vi-VN"/>
              <a:t>/59</a:t>
            </a:r>
          </a:p>
        </p:txBody>
      </p:sp>
    </p:spTree>
    <p:extLst>
      <p:ext uri="{BB962C8B-B14F-4D97-AF65-F5344CB8AC3E}">
        <p14:creationId xmlns:p14="http://schemas.microsoft.com/office/powerpoint/2010/main" val="358565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anim calcmode="lin" valueType="num">
                                      <p:cBhvr>
                                        <p:cTn id="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500"/>
                                        <p:tgtEl>
                                          <p:spTgt spid="9">
                                            <p:txEl>
                                              <p:pRg st="1" end="1"/>
                                            </p:txEl>
                                          </p:spTgt>
                                        </p:tgtEl>
                                      </p:cBhvr>
                                    </p:animEffect>
                                    <p:anim calcmode="lin" valueType="num">
                                      <p:cBhvr>
                                        <p:cTn id="14"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5" dur="5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500"/>
                                        <p:tgtEl>
                                          <p:spTgt spid="9">
                                            <p:txEl>
                                              <p:pRg st="2" end="2"/>
                                            </p:txEl>
                                          </p:spTgt>
                                        </p:tgtEl>
                                      </p:cBhvr>
                                    </p:animEffect>
                                    <p:anim calcmode="lin" valueType="num">
                                      <p:cBhvr>
                                        <p:cTn id="20"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5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xEl>
                                              <p:pRg st="3" end="3"/>
                                            </p:txEl>
                                          </p:spTgt>
                                        </p:tgtEl>
                                        <p:attrNameLst>
                                          <p:attrName>style.visibility</p:attrName>
                                        </p:attrNameLst>
                                      </p:cBhvr>
                                      <p:to>
                                        <p:strVal val="visible"/>
                                      </p:to>
                                    </p:set>
                                    <p:animEffect transition="in" filter="fade">
                                      <p:cBhvr>
                                        <p:cTn id="26" dur="500"/>
                                        <p:tgtEl>
                                          <p:spTgt spid="9">
                                            <p:txEl>
                                              <p:pRg st="3" end="3"/>
                                            </p:txEl>
                                          </p:spTgt>
                                        </p:tgtEl>
                                      </p:cBhvr>
                                    </p:animEffect>
                                    <p:anim calcmode="lin" valueType="num">
                                      <p:cBhvr>
                                        <p:cTn id="27"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8" dur="5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animEffect transition="in" filter="fade">
                                      <p:cBhvr>
                                        <p:cTn id="33" dur="500"/>
                                        <p:tgtEl>
                                          <p:spTgt spid="9">
                                            <p:txEl>
                                              <p:pRg st="4" end="4"/>
                                            </p:txEl>
                                          </p:spTgt>
                                        </p:tgtEl>
                                      </p:cBhvr>
                                    </p:animEffect>
                                    <p:anim calcmode="lin" valueType="num">
                                      <p:cBhvr>
                                        <p:cTn id="34"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5" dur="5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9">
                                            <p:txEl>
                                              <p:pRg st="5" end="5"/>
                                            </p:txEl>
                                          </p:spTgt>
                                        </p:tgtEl>
                                        <p:attrNameLst>
                                          <p:attrName>style.visibility</p:attrName>
                                        </p:attrNameLst>
                                      </p:cBhvr>
                                      <p:to>
                                        <p:strVal val="visible"/>
                                      </p:to>
                                    </p:set>
                                    <p:animEffect transition="in" filter="fade">
                                      <p:cBhvr>
                                        <p:cTn id="40" dur="500"/>
                                        <p:tgtEl>
                                          <p:spTgt spid="9">
                                            <p:txEl>
                                              <p:pRg st="5" end="5"/>
                                            </p:txEl>
                                          </p:spTgt>
                                        </p:tgtEl>
                                      </p:cBhvr>
                                    </p:animEffect>
                                    <p:anim calcmode="lin" valueType="num">
                                      <p:cBhvr>
                                        <p:cTn id="4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42" dur="500" fill="hold"/>
                                        <p:tgtEl>
                                          <p:spTgt spid="9">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9">
                                            <p:txEl>
                                              <p:pRg st="6" end="6"/>
                                            </p:txEl>
                                          </p:spTgt>
                                        </p:tgtEl>
                                        <p:attrNameLst>
                                          <p:attrName>style.visibility</p:attrName>
                                        </p:attrNameLst>
                                      </p:cBhvr>
                                      <p:to>
                                        <p:strVal val="visible"/>
                                      </p:to>
                                    </p:set>
                                    <p:animEffect transition="in" filter="fade">
                                      <p:cBhvr>
                                        <p:cTn id="45" dur="500"/>
                                        <p:tgtEl>
                                          <p:spTgt spid="9">
                                            <p:txEl>
                                              <p:pRg st="6" end="6"/>
                                            </p:txEl>
                                          </p:spTgt>
                                        </p:tgtEl>
                                      </p:cBhvr>
                                    </p:animEffect>
                                    <p:anim calcmode="lin" valueType="num">
                                      <p:cBhvr>
                                        <p:cTn id="46"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47" dur="500" fill="hold"/>
                                        <p:tgtEl>
                                          <p:spTgt spid="9">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9">
                                            <p:txEl>
                                              <p:pRg st="7" end="7"/>
                                            </p:txEl>
                                          </p:spTgt>
                                        </p:tgtEl>
                                        <p:attrNameLst>
                                          <p:attrName>style.visibility</p:attrName>
                                        </p:attrNameLst>
                                      </p:cBhvr>
                                      <p:to>
                                        <p:strVal val="visible"/>
                                      </p:to>
                                    </p:set>
                                    <p:animEffect transition="in" filter="fade">
                                      <p:cBhvr>
                                        <p:cTn id="50" dur="500"/>
                                        <p:tgtEl>
                                          <p:spTgt spid="9">
                                            <p:txEl>
                                              <p:pRg st="7" end="7"/>
                                            </p:txEl>
                                          </p:spTgt>
                                        </p:tgtEl>
                                      </p:cBhvr>
                                    </p:animEffect>
                                    <p:anim calcmode="lin" valueType="num">
                                      <p:cBhvr>
                                        <p:cTn id="51"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52" dur="500" fill="hold"/>
                                        <p:tgtEl>
                                          <p:spTgt spid="9">
                                            <p:txEl>
                                              <p:pRg st="7" end="7"/>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9">
                                            <p:txEl>
                                              <p:pRg st="8" end="8"/>
                                            </p:txEl>
                                          </p:spTgt>
                                        </p:tgtEl>
                                        <p:attrNameLst>
                                          <p:attrName>style.visibility</p:attrName>
                                        </p:attrNameLst>
                                      </p:cBhvr>
                                      <p:to>
                                        <p:strVal val="visible"/>
                                      </p:to>
                                    </p:set>
                                    <p:animEffect transition="in" filter="fade">
                                      <p:cBhvr>
                                        <p:cTn id="55" dur="500"/>
                                        <p:tgtEl>
                                          <p:spTgt spid="9">
                                            <p:txEl>
                                              <p:pRg st="8" end="8"/>
                                            </p:txEl>
                                          </p:spTgt>
                                        </p:tgtEl>
                                      </p:cBhvr>
                                    </p:animEffect>
                                    <p:anim calcmode="lin" valueType="num">
                                      <p:cBhvr>
                                        <p:cTn id="56"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57" dur="500" fill="hold"/>
                                        <p:tgtEl>
                                          <p:spTgt spid="9">
                                            <p:txEl>
                                              <p:pRg st="8" end="8"/>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9">
                                            <p:txEl>
                                              <p:pRg st="9" end="9"/>
                                            </p:txEl>
                                          </p:spTgt>
                                        </p:tgtEl>
                                        <p:attrNameLst>
                                          <p:attrName>style.visibility</p:attrName>
                                        </p:attrNameLst>
                                      </p:cBhvr>
                                      <p:to>
                                        <p:strVal val="visible"/>
                                      </p:to>
                                    </p:set>
                                    <p:animEffect transition="in" filter="fade">
                                      <p:cBhvr>
                                        <p:cTn id="60" dur="500"/>
                                        <p:tgtEl>
                                          <p:spTgt spid="9">
                                            <p:txEl>
                                              <p:pRg st="9" end="9"/>
                                            </p:txEl>
                                          </p:spTgt>
                                        </p:tgtEl>
                                      </p:cBhvr>
                                    </p:animEffect>
                                    <p:anim calcmode="lin" valueType="num">
                                      <p:cBhvr>
                                        <p:cTn id="61"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62" dur="500" fill="hold"/>
                                        <p:tgtEl>
                                          <p:spTgt spid="9">
                                            <p:txEl>
                                              <p:pRg st="9" end="9"/>
                                            </p:txEl>
                                          </p:spTgt>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9">
                                            <p:txEl>
                                              <p:pRg st="10" end="10"/>
                                            </p:txEl>
                                          </p:spTgt>
                                        </p:tgtEl>
                                        <p:attrNameLst>
                                          <p:attrName>style.visibility</p:attrName>
                                        </p:attrNameLst>
                                      </p:cBhvr>
                                      <p:to>
                                        <p:strVal val="visible"/>
                                      </p:to>
                                    </p:set>
                                    <p:animEffect transition="in" filter="fade">
                                      <p:cBhvr>
                                        <p:cTn id="65" dur="500"/>
                                        <p:tgtEl>
                                          <p:spTgt spid="9">
                                            <p:txEl>
                                              <p:pRg st="10" end="10"/>
                                            </p:txEl>
                                          </p:spTgt>
                                        </p:tgtEl>
                                      </p:cBhvr>
                                    </p:animEffect>
                                    <p:anim calcmode="lin" valueType="num">
                                      <p:cBhvr>
                                        <p:cTn id="66"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67" dur="500" fill="hold"/>
                                        <p:tgtEl>
                                          <p:spTgt spid="9">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9">
                                            <p:txEl>
                                              <p:pRg st="11" end="11"/>
                                            </p:txEl>
                                          </p:spTgt>
                                        </p:tgtEl>
                                        <p:attrNameLst>
                                          <p:attrName>style.visibility</p:attrName>
                                        </p:attrNameLst>
                                      </p:cBhvr>
                                      <p:to>
                                        <p:strVal val="visible"/>
                                      </p:to>
                                    </p:set>
                                    <p:animEffect transition="in" filter="fade">
                                      <p:cBhvr>
                                        <p:cTn id="72" dur="500"/>
                                        <p:tgtEl>
                                          <p:spTgt spid="9">
                                            <p:txEl>
                                              <p:pRg st="11" end="11"/>
                                            </p:txEl>
                                          </p:spTgt>
                                        </p:tgtEl>
                                      </p:cBhvr>
                                    </p:animEffect>
                                    <p:anim calcmode="lin" valueType="num">
                                      <p:cBhvr>
                                        <p:cTn id="73"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p:cTn id="74" dur="500" fill="hold"/>
                                        <p:tgtEl>
                                          <p:spTgt spid="9">
                                            <p:txEl>
                                              <p:pRg st="11" end="11"/>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9">
                                            <p:txEl>
                                              <p:pRg st="12" end="12"/>
                                            </p:txEl>
                                          </p:spTgt>
                                        </p:tgtEl>
                                        <p:attrNameLst>
                                          <p:attrName>style.visibility</p:attrName>
                                        </p:attrNameLst>
                                      </p:cBhvr>
                                      <p:to>
                                        <p:strVal val="visible"/>
                                      </p:to>
                                    </p:set>
                                    <p:animEffect transition="in" filter="fade">
                                      <p:cBhvr>
                                        <p:cTn id="77" dur="500"/>
                                        <p:tgtEl>
                                          <p:spTgt spid="9">
                                            <p:txEl>
                                              <p:pRg st="12" end="12"/>
                                            </p:txEl>
                                          </p:spTgt>
                                        </p:tgtEl>
                                      </p:cBhvr>
                                    </p:animEffect>
                                    <p:anim calcmode="lin" valueType="num">
                                      <p:cBhvr>
                                        <p:cTn id="78"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p:cTn id="79" dur="500" fill="hold"/>
                                        <p:tgtEl>
                                          <p:spTgt spid="9">
                                            <p:txEl>
                                              <p:pRg st="12" end="12"/>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9">
                                            <p:txEl>
                                              <p:pRg st="13" end="13"/>
                                            </p:txEl>
                                          </p:spTgt>
                                        </p:tgtEl>
                                        <p:attrNameLst>
                                          <p:attrName>style.visibility</p:attrName>
                                        </p:attrNameLst>
                                      </p:cBhvr>
                                      <p:to>
                                        <p:strVal val="visible"/>
                                      </p:to>
                                    </p:set>
                                    <p:animEffect transition="in" filter="fade">
                                      <p:cBhvr>
                                        <p:cTn id="82" dur="500"/>
                                        <p:tgtEl>
                                          <p:spTgt spid="9">
                                            <p:txEl>
                                              <p:pRg st="13" end="13"/>
                                            </p:txEl>
                                          </p:spTgt>
                                        </p:tgtEl>
                                      </p:cBhvr>
                                    </p:animEffect>
                                    <p:anim calcmode="lin" valueType="num">
                                      <p:cBhvr>
                                        <p:cTn id="83" dur="500" fill="hold"/>
                                        <p:tgtEl>
                                          <p:spTgt spid="9">
                                            <p:txEl>
                                              <p:pRg st="13" end="13"/>
                                            </p:txEl>
                                          </p:spTgt>
                                        </p:tgtEl>
                                        <p:attrNameLst>
                                          <p:attrName>ppt_x</p:attrName>
                                        </p:attrNameLst>
                                      </p:cBhvr>
                                      <p:tavLst>
                                        <p:tav tm="0">
                                          <p:val>
                                            <p:strVal val="#ppt_x"/>
                                          </p:val>
                                        </p:tav>
                                        <p:tav tm="100000">
                                          <p:val>
                                            <p:strVal val="#ppt_x"/>
                                          </p:val>
                                        </p:tav>
                                      </p:tavLst>
                                    </p:anim>
                                    <p:anim calcmode="lin" valueType="num">
                                      <p:cBhvr>
                                        <p:cTn id="84" dur="500" fill="hold"/>
                                        <p:tgtEl>
                                          <p:spTgt spid="9">
                                            <p:txEl>
                                              <p:pRg st="13" end="13"/>
                                            </p:txEl>
                                          </p:spTgt>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9">
                                            <p:txEl>
                                              <p:pRg st="14" end="14"/>
                                            </p:txEl>
                                          </p:spTgt>
                                        </p:tgtEl>
                                        <p:attrNameLst>
                                          <p:attrName>style.visibility</p:attrName>
                                        </p:attrNameLst>
                                      </p:cBhvr>
                                      <p:to>
                                        <p:strVal val="visible"/>
                                      </p:to>
                                    </p:set>
                                    <p:animEffect transition="in" filter="fade">
                                      <p:cBhvr>
                                        <p:cTn id="87" dur="500"/>
                                        <p:tgtEl>
                                          <p:spTgt spid="9">
                                            <p:txEl>
                                              <p:pRg st="14" end="14"/>
                                            </p:txEl>
                                          </p:spTgt>
                                        </p:tgtEl>
                                      </p:cBhvr>
                                    </p:animEffect>
                                    <p:anim calcmode="lin" valueType="num">
                                      <p:cBhvr>
                                        <p:cTn id="88" dur="500" fill="hold"/>
                                        <p:tgtEl>
                                          <p:spTgt spid="9">
                                            <p:txEl>
                                              <p:pRg st="14" end="14"/>
                                            </p:txEl>
                                          </p:spTgt>
                                        </p:tgtEl>
                                        <p:attrNameLst>
                                          <p:attrName>ppt_x</p:attrName>
                                        </p:attrNameLst>
                                      </p:cBhvr>
                                      <p:tavLst>
                                        <p:tav tm="0">
                                          <p:val>
                                            <p:strVal val="#ppt_x"/>
                                          </p:val>
                                        </p:tav>
                                        <p:tav tm="100000">
                                          <p:val>
                                            <p:strVal val="#ppt_x"/>
                                          </p:val>
                                        </p:tav>
                                      </p:tavLst>
                                    </p:anim>
                                    <p:anim calcmode="lin" valueType="num">
                                      <p:cBhvr>
                                        <p:cTn id="89" dur="500" fill="hold"/>
                                        <p:tgtEl>
                                          <p:spTgt spid="9">
                                            <p:txEl>
                                              <p:pRg st="14" end="14"/>
                                            </p:txEl>
                                          </p:spTgt>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9">
                                            <p:txEl>
                                              <p:pRg st="15" end="15"/>
                                            </p:txEl>
                                          </p:spTgt>
                                        </p:tgtEl>
                                        <p:attrNameLst>
                                          <p:attrName>style.visibility</p:attrName>
                                        </p:attrNameLst>
                                      </p:cBhvr>
                                      <p:to>
                                        <p:strVal val="visible"/>
                                      </p:to>
                                    </p:set>
                                    <p:animEffect transition="in" filter="fade">
                                      <p:cBhvr>
                                        <p:cTn id="92" dur="500"/>
                                        <p:tgtEl>
                                          <p:spTgt spid="9">
                                            <p:txEl>
                                              <p:pRg st="15" end="15"/>
                                            </p:txEl>
                                          </p:spTgt>
                                        </p:tgtEl>
                                      </p:cBhvr>
                                    </p:animEffect>
                                    <p:anim calcmode="lin" valueType="num">
                                      <p:cBhvr>
                                        <p:cTn id="93" dur="500" fill="hold"/>
                                        <p:tgtEl>
                                          <p:spTgt spid="9">
                                            <p:txEl>
                                              <p:pRg st="15" end="15"/>
                                            </p:txEl>
                                          </p:spTgt>
                                        </p:tgtEl>
                                        <p:attrNameLst>
                                          <p:attrName>ppt_x</p:attrName>
                                        </p:attrNameLst>
                                      </p:cBhvr>
                                      <p:tavLst>
                                        <p:tav tm="0">
                                          <p:val>
                                            <p:strVal val="#ppt_x"/>
                                          </p:val>
                                        </p:tav>
                                        <p:tav tm="100000">
                                          <p:val>
                                            <p:strVal val="#ppt_x"/>
                                          </p:val>
                                        </p:tav>
                                      </p:tavLst>
                                    </p:anim>
                                    <p:anim calcmode="lin" valueType="num">
                                      <p:cBhvr>
                                        <p:cTn id="94" dur="500" fill="hold"/>
                                        <p:tgtEl>
                                          <p:spTgt spid="9">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8"/>
                                        </p:tgtEl>
                                        <p:attrNameLst>
                                          <p:attrName>style.visibility</p:attrName>
                                        </p:attrNameLst>
                                      </p:cBhvr>
                                      <p:to>
                                        <p:strVal val="visible"/>
                                      </p:to>
                                    </p:set>
                                    <p:animEffect transition="in" filter="wipe(up)">
                                      <p:cBhvr>
                                        <p:cTn id="9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chương trình C</a:t>
            </a:r>
            <a:endParaRPr lang="vi-VN"/>
          </a:p>
        </p:txBody>
      </p:sp>
      <p:sp>
        <p:nvSpPr>
          <p:cNvPr id="3" name="Content Placeholder 2"/>
          <p:cNvSpPr>
            <a:spLocks noGrp="1"/>
          </p:cNvSpPr>
          <p:nvPr>
            <p:ph idx="1"/>
          </p:nvPr>
        </p:nvSpPr>
        <p:spPr/>
        <p:txBody>
          <a:bodyPr/>
          <a:lstStyle/>
          <a:p>
            <a:r>
              <a:rPr lang="en-US"/>
              <a:t>Ví dụ 1: Viết ra màn hình dòng chữ</a:t>
            </a:r>
          </a:p>
          <a:p>
            <a:pPr marL="0" indent="0" algn="ctr">
              <a:buNone/>
            </a:pPr>
            <a:r>
              <a:rPr lang="en-US">
                <a:solidFill>
                  <a:srgbClr val="0000FF"/>
                </a:solidFill>
              </a:rPr>
              <a:t>CHAO MUNG DEN VOI NGON NGU C</a:t>
            </a:r>
          </a:p>
          <a:p>
            <a:pPr marL="0" indent="0">
              <a:buNone/>
            </a:pPr>
            <a:endParaRPr lang="en-US"/>
          </a:p>
          <a:p>
            <a:pPr marL="0" indent="0">
              <a:buNone/>
            </a:pPr>
            <a:endParaRPr lang="vi-VN"/>
          </a:p>
        </p:txBody>
      </p:sp>
      <p:sp>
        <p:nvSpPr>
          <p:cNvPr id="4" name="Rectangle 3"/>
          <p:cNvSpPr/>
          <p:nvPr/>
        </p:nvSpPr>
        <p:spPr>
          <a:xfrm>
            <a:off x="971600" y="2694979"/>
            <a:ext cx="7920880" cy="2462213"/>
          </a:xfrm>
          <a:prstGeom prst="rect">
            <a:avLst/>
          </a:prstGeom>
        </p:spPr>
        <p:txBody>
          <a:bodyPr wrap="square">
            <a:spAutoFit/>
          </a:bodyPr>
          <a:lstStyle/>
          <a:p>
            <a:r>
              <a:rPr lang="en-US" sz="2200">
                <a:solidFill>
                  <a:srgbClr val="0000FF"/>
                </a:solidFill>
                <a:latin typeface="Courier New" pitchFamily="49" charset="0"/>
                <a:cs typeface="Courier New" pitchFamily="49" charset="0"/>
              </a:rPr>
              <a:t>#include &lt;stdio.h&gt; </a:t>
            </a:r>
            <a:r>
              <a:rPr lang="en-US" sz="2200">
                <a:solidFill>
                  <a:schemeClr val="accent6">
                    <a:lumMod val="50000"/>
                  </a:schemeClr>
                </a:solidFill>
                <a:latin typeface="Courier New" pitchFamily="49" charset="0"/>
                <a:cs typeface="Courier New" pitchFamily="49" charset="0"/>
              </a:rPr>
              <a:t>/*Thư viện vào ra chuẩn */</a:t>
            </a:r>
          </a:p>
          <a:p>
            <a:r>
              <a:rPr lang="en-US" sz="2200">
                <a:solidFill>
                  <a:srgbClr val="0000FF"/>
                </a:solidFill>
                <a:latin typeface="Courier New" pitchFamily="49" charset="0"/>
                <a:cs typeface="Courier New" pitchFamily="49" charset="0"/>
              </a:rPr>
              <a:t>#include &lt;conio.h&gt;</a:t>
            </a:r>
          </a:p>
          <a:p>
            <a:r>
              <a:rPr lang="en-US" sz="2200" b="1">
                <a:latin typeface="Courier New" pitchFamily="49" charset="0"/>
                <a:cs typeface="Courier New" pitchFamily="49" charset="0"/>
              </a:rPr>
              <a:t>int</a:t>
            </a:r>
            <a:r>
              <a:rPr lang="en-US" sz="2200">
                <a:latin typeface="Courier New" pitchFamily="49" charset="0"/>
                <a:cs typeface="Courier New" pitchFamily="49" charset="0"/>
              </a:rPr>
              <a:t> </a:t>
            </a:r>
            <a:r>
              <a:rPr lang="en-US" sz="2200" b="1">
                <a:solidFill>
                  <a:srgbClr val="FF0000"/>
                </a:solidFill>
                <a:latin typeface="Courier New" pitchFamily="49" charset="0"/>
                <a:cs typeface="Courier New" pitchFamily="49" charset="0"/>
              </a:rPr>
              <a:t>main</a:t>
            </a:r>
            <a:r>
              <a:rPr lang="en-US" sz="2200">
                <a:latin typeface="Courier New" pitchFamily="49" charset="0"/>
                <a:cs typeface="Courier New" pitchFamily="49" charset="0"/>
              </a:rPr>
              <a:t>()</a:t>
            </a:r>
          </a:p>
          <a:p>
            <a:r>
              <a:rPr lang="en-US" sz="2200">
                <a:latin typeface="Courier New" pitchFamily="49" charset="0"/>
                <a:cs typeface="Courier New" pitchFamily="49" charset="0"/>
              </a:rPr>
              <a:t>{	</a:t>
            </a:r>
          </a:p>
          <a:p>
            <a:r>
              <a:rPr lang="en-US" sz="2200">
                <a:latin typeface="Courier New" pitchFamily="49" charset="0"/>
                <a:cs typeface="Courier New" pitchFamily="49" charset="0"/>
              </a:rPr>
              <a:t>	printf(“CHAO MUNG DEN VOI NGON NGU C”);</a:t>
            </a:r>
          </a:p>
          <a:p>
            <a:r>
              <a:rPr lang="en-US" sz="2200">
                <a:latin typeface="Courier New" pitchFamily="49" charset="0"/>
                <a:cs typeface="Courier New" pitchFamily="49" charset="0"/>
              </a:rPr>
              <a:t>	getch(); </a:t>
            </a:r>
            <a:r>
              <a:rPr lang="en-US" sz="2200">
                <a:solidFill>
                  <a:schemeClr val="accent6">
                    <a:lumMod val="50000"/>
                  </a:schemeClr>
                </a:solidFill>
                <a:latin typeface="Courier New" pitchFamily="49" charset="0"/>
                <a:cs typeface="Courier New" pitchFamily="49" charset="0"/>
              </a:rPr>
              <a:t>/*Dừng màn hình */</a:t>
            </a:r>
          </a:p>
          <a:p>
            <a:r>
              <a:rPr lang="en-US" sz="2200">
                <a:latin typeface="Courier New" pitchFamily="49" charset="0"/>
                <a:cs typeface="Courier New" pitchFamily="49" charset="0"/>
              </a:rPr>
              <a:t>	}</a:t>
            </a:r>
          </a:p>
        </p:txBody>
      </p:sp>
      <p:sp>
        <p:nvSpPr>
          <p:cNvPr id="5" name="Rounded Rectangle 4"/>
          <p:cNvSpPr/>
          <p:nvPr/>
        </p:nvSpPr>
        <p:spPr>
          <a:xfrm>
            <a:off x="685800" y="2636912"/>
            <a:ext cx="152400" cy="2858834"/>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Date Placeholder 5"/>
          <p:cNvSpPr>
            <a:spLocks noGrp="1"/>
          </p:cNvSpPr>
          <p:nvPr>
            <p:ph type="dt" sz="half" idx="10"/>
          </p:nvPr>
        </p:nvSpPr>
        <p:spPr/>
        <p:txBody>
          <a:bodyPr/>
          <a:lstStyle/>
          <a:p>
            <a:fld id="{F82581F4-6FD4-4037-9DBD-7920E646C58E}" type="datetime1">
              <a:rPr lang="vi-VN" smtClean="0"/>
              <a:t>14/01/2024</a:t>
            </a:fld>
            <a:endParaRPr lang="vi-VN"/>
          </a:p>
        </p:txBody>
      </p:sp>
      <p:sp>
        <p:nvSpPr>
          <p:cNvPr id="7" name="Footer Placeholder 6"/>
          <p:cNvSpPr>
            <a:spLocks noGrp="1"/>
          </p:cNvSpPr>
          <p:nvPr>
            <p:ph type="ftr" sz="quarter" idx="11"/>
          </p:nvPr>
        </p:nvSpPr>
        <p:spPr/>
        <p:txBody>
          <a:bodyPr/>
          <a:lstStyle/>
          <a:p>
            <a:r>
              <a:rPr lang="vi-VN"/>
              <a:t>Chương 2 - Các phần tử cơ bản của ngôn ngữ C</a:t>
            </a:r>
          </a:p>
        </p:txBody>
      </p:sp>
      <p:sp>
        <p:nvSpPr>
          <p:cNvPr id="12" name="Slide Number Placeholder 11"/>
          <p:cNvSpPr>
            <a:spLocks noGrp="1"/>
          </p:cNvSpPr>
          <p:nvPr>
            <p:ph type="sldNum" sz="quarter" idx="12"/>
          </p:nvPr>
        </p:nvSpPr>
        <p:spPr/>
        <p:txBody>
          <a:bodyPr/>
          <a:lstStyle/>
          <a:p>
            <a:fld id="{5AB95402-1E0D-474E-8D8C-CBE7F053639E}" type="slidenum">
              <a:rPr lang="vi-VN" smtClean="0"/>
              <a:pPr/>
              <a:t>9</a:t>
            </a:fld>
            <a:r>
              <a:rPr lang="vi-VN"/>
              <a:t>/59</a:t>
            </a:r>
          </a:p>
        </p:txBody>
      </p:sp>
    </p:spTree>
    <p:extLst>
      <p:ext uri="{BB962C8B-B14F-4D97-AF65-F5344CB8AC3E}">
        <p14:creationId xmlns:p14="http://schemas.microsoft.com/office/powerpoint/2010/main" val="124005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chương trình C</a:t>
            </a:r>
            <a:endParaRPr lang="vi-VN"/>
          </a:p>
        </p:txBody>
      </p:sp>
      <p:sp>
        <p:nvSpPr>
          <p:cNvPr id="3" name="Content Placeholder 2"/>
          <p:cNvSpPr>
            <a:spLocks noGrp="1"/>
          </p:cNvSpPr>
          <p:nvPr>
            <p:ph idx="1"/>
          </p:nvPr>
        </p:nvSpPr>
        <p:spPr/>
        <p:txBody>
          <a:bodyPr/>
          <a:lstStyle/>
          <a:p>
            <a:r>
              <a:rPr lang="en-US"/>
              <a:t>Ví dụ 2: Tính chu vi và diện tích hình tròn với bán kính r nhập từ bàn phím.</a:t>
            </a:r>
            <a:endParaRPr lang="vi-VN"/>
          </a:p>
        </p:txBody>
      </p:sp>
      <p:sp>
        <p:nvSpPr>
          <p:cNvPr id="4" name="Rectangle 3"/>
          <p:cNvSpPr/>
          <p:nvPr/>
        </p:nvSpPr>
        <p:spPr>
          <a:xfrm>
            <a:off x="971600" y="1916832"/>
            <a:ext cx="7920880" cy="4293483"/>
          </a:xfrm>
          <a:prstGeom prst="rect">
            <a:avLst/>
          </a:prstGeom>
        </p:spPr>
        <p:txBody>
          <a:bodyPr wrap="square">
            <a:spAutoFit/>
          </a:bodyPr>
          <a:lstStyle/>
          <a:p>
            <a:r>
              <a:rPr lang="en-US" sz="2100">
                <a:solidFill>
                  <a:srgbClr val="0000FF"/>
                </a:solidFill>
                <a:latin typeface="Courier New" pitchFamily="49" charset="0"/>
                <a:cs typeface="Courier New" pitchFamily="49" charset="0"/>
              </a:rPr>
              <a:t>#include &lt;stdio.h&gt; </a:t>
            </a:r>
            <a:r>
              <a:rPr lang="en-US" sz="2100">
                <a:solidFill>
                  <a:schemeClr val="accent6">
                    <a:lumMod val="50000"/>
                  </a:schemeClr>
                </a:solidFill>
                <a:latin typeface="Courier New" pitchFamily="49" charset="0"/>
                <a:cs typeface="Courier New" pitchFamily="49" charset="0"/>
              </a:rPr>
              <a:t>/*Thư viện vào ra chuẩn */</a:t>
            </a:r>
          </a:p>
          <a:p>
            <a:r>
              <a:rPr lang="en-US" sz="2100">
                <a:solidFill>
                  <a:srgbClr val="0000FF"/>
                </a:solidFill>
                <a:latin typeface="Courier New" pitchFamily="49" charset="0"/>
                <a:cs typeface="Courier New" pitchFamily="49" charset="0"/>
              </a:rPr>
              <a:t>#include &lt;conio.h&gt;</a:t>
            </a:r>
          </a:p>
          <a:p>
            <a:r>
              <a:rPr lang="en-US" sz="2100">
                <a:solidFill>
                  <a:srgbClr val="0000FF"/>
                </a:solidFill>
                <a:latin typeface="Courier New" pitchFamily="49" charset="0"/>
                <a:cs typeface="Courier New" pitchFamily="49" charset="0"/>
              </a:rPr>
              <a:t>#include &lt;math.h&gt; </a:t>
            </a:r>
            <a:r>
              <a:rPr lang="en-US" sz="2100">
                <a:solidFill>
                  <a:schemeClr val="accent6">
                    <a:lumMod val="50000"/>
                  </a:schemeClr>
                </a:solidFill>
                <a:latin typeface="Courier New" pitchFamily="49" charset="0"/>
                <a:cs typeface="Courier New" pitchFamily="49" charset="0"/>
              </a:rPr>
              <a:t>/*Thư viện hàm toán học*/</a:t>
            </a:r>
          </a:p>
          <a:p>
            <a:r>
              <a:rPr lang="en-US" sz="2100" b="1">
                <a:latin typeface="Courier New" pitchFamily="49" charset="0"/>
                <a:cs typeface="Courier New" pitchFamily="49" charset="0"/>
              </a:rPr>
              <a:t>int</a:t>
            </a:r>
            <a:r>
              <a:rPr lang="en-US" sz="2100">
                <a:latin typeface="Courier New" pitchFamily="49" charset="0"/>
                <a:cs typeface="Courier New" pitchFamily="49" charset="0"/>
              </a:rPr>
              <a:t> </a:t>
            </a:r>
            <a:r>
              <a:rPr lang="en-US" sz="2100" b="1">
                <a:solidFill>
                  <a:srgbClr val="FF0000"/>
                </a:solidFill>
                <a:latin typeface="Courier New" pitchFamily="49" charset="0"/>
                <a:cs typeface="Courier New" pitchFamily="49" charset="0"/>
              </a:rPr>
              <a:t>main</a:t>
            </a:r>
            <a:r>
              <a:rPr lang="en-US" sz="2100">
                <a:latin typeface="Courier New" pitchFamily="49" charset="0"/>
                <a:cs typeface="Courier New" pitchFamily="49" charset="0"/>
              </a:rPr>
              <a:t>() hay nhap ho va ten_an</a:t>
            </a:r>
          </a:p>
          <a:p>
            <a:r>
              <a:rPr lang="en-US" sz="2100" b="1">
                <a:latin typeface="Courier New" pitchFamily="49" charset="0"/>
                <a:cs typeface="Courier New" pitchFamily="49" charset="0"/>
              </a:rPr>
              <a:t>{</a:t>
            </a:r>
            <a:r>
              <a:rPr lang="en-US" sz="2100">
                <a:latin typeface="Courier New" pitchFamily="49" charset="0"/>
                <a:cs typeface="Courier New" pitchFamily="49" charset="0"/>
              </a:rPr>
              <a:t>	float r,cv,dt; /*Khai báo biến*/</a:t>
            </a:r>
          </a:p>
          <a:p>
            <a:r>
              <a:rPr lang="en-US" sz="2100">
                <a:latin typeface="Courier New" pitchFamily="49" charset="0"/>
                <a:cs typeface="Courier New" pitchFamily="49" charset="0"/>
              </a:rPr>
              <a:t>	printf(“Nhap ban kinh: ”);</a:t>
            </a:r>
          </a:p>
          <a:p>
            <a:r>
              <a:rPr lang="en-US" sz="2100">
                <a:latin typeface="Courier New" pitchFamily="49" charset="0"/>
                <a:cs typeface="Courier New" pitchFamily="49" charset="0"/>
              </a:rPr>
              <a:t>	scanf(“%f”,&amp;r);</a:t>
            </a:r>
          </a:p>
          <a:p>
            <a:r>
              <a:rPr lang="en-US" sz="2100">
                <a:latin typeface="Courier New" pitchFamily="49" charset="0"/>
                <a:cs typeface="Courier New" pitchFamily="49" charset="0"/>
              </a:rPr>
              <a:t>	cv=2*M_PI*r; dt=M_PI*r*r;</a:t>
            </a:r>
          </a:p>
          <a:p>
            <a:r>
              <a:rPr lang="en-US" sz="2100">
                <a:latin typeface="Courier New" pitchFamily="49" charset="0"/>
                <a:cs typeface="Courier New" pitchFamily="49" charset="0"/>
              </a:rPr>
              <a:t>	printf(“Chu vi: %0.2f”,cv);</a:t>
            </a:r>
          </a:p>
          <a:p>
            <a:r>
              <a:rPr lang="en-US" sz="2100">
                <a:latin typeface="Courier New" pitchFamily="49" charset="0"/>
                <a:cs typeface="Courier New" pitchFamily="49" charset="0"/>
              </a:rPr>
              <a:t>	printf(“Dien tich: %0.2f”,dt);</a:t>
            </a:r>
          </a:p>
          <a:p>
            <a:r>
              <a:rPr lang="en-US" sz="2100">
                <a:latin typeface="Courier New" pitchFamily="49" charset="0"/>
                <a:cs typeface="Courier New" pitchFamily="49" charset="0"/>
              </a:rPr>
              <a:t>	getch(); </a:t>
            </a:r>
            <a:r>
              <a:rPr lang="en-US" sz="2100">
                <a:solidFill>
                  <a:schemeClr val="accent6">
                    <a:lumMod val="50000"/>
                  </a:schemeClr>
                </a:solidFill>
                <a:latin typeface="Courier New" pitchFamily="49" charset="0"/>
                <a:cs typeface="Courier New" pitchFamily="49" charset="0"/>
              </a:rPr>
              <a:t>/*Dừng màn hình */</a:t>
            </a:r>
          </a:p>
          <a:p>
            <a:r>
              <a:rPr lang="en-US" sz="2100">
                <a:latin typeface="Courier New" pitchFamily="49" charset="0"/>
                <a:cs typeface="Courier New" pitchFamily="49" charset="0"/>
              </a:rPr>
              <a:t>	</a:t>
            </a:r>
          </a:p>
          <a:p>
            <a:r>
              <a:rPr lang="en-US" sz="2100" b="1">
                <a:latin typeface="Courier New" pitchFamily="49" charset="0"/>
                <a:cs typeface="Courier New" pitchFamily="49" charset="0"/>
              </a:rPr>
              <a:t>}</a:t>
            </a:r>
          </a:p>
        </p:txBody>
      </p:sp>
      <p:sp>
        <p:nvSpPr>
          <p:cNvPr id="5" name="Rounded Rectangle 4"/>
          <p:cNvSpPr/>
          <p:nvPr/>
        </p:nvSpPr>
        <p:spPr>
          <a:xfrm>
            <a:off x="680884" y="1943278"/>
            <a:ext cx="152400" cy="4438049"/>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Date Placeholder 5"/>
          <p:cNvSpPr>
            <a:spLocks noGrp="1"/>
          </p:cNvSpPr>
          <p:nvPr>
            <p:ph type="dt" sz="half" idx="10"/>
          </p:nvPr>
        </p:nvSpPr>
        <p:spPr/>
        <p:txBody>
          <a:bodyPr/>
          <a:lstStyle/>
          <a:p>
            <a:fld id="{82BF2435-C332-4D11-85A3-042D5314F251}" type="datetime1">
              <a:rPr lang="vi-VN" smtClean="0"/>
              <a:t>14/01/2024</a:t>
            </a:fld>
            <a:endParaRPr lang="vi-VN"/>
          </a:p>
        </p:txBody>
      </p:sp>
      <p:sp>
        <p:nvSpPr>
          <p:cNvPr id="7" name="Footer Placeholder 6"/>
          <p:cNvSpPr>
            <a:spLocks noGrp="1"/>
          </p:cNvSpPr>
          <p:nvPr>
            <p:ph type="ftr" sz="quarter" idx="11"/>
          </p:nvPr>
        </p:nvSpPr>
        <p:spPr/>
        <p:txBody>
          <a:bodyPr/>
          <a:lstStyle/>
          <a:p>
            <a:r>
              <a:rPr lang="vi-VN"/>
              <a:t>Chương 2 - Các phần tử cơ bản của ngôn ngữ C</a:t>
            </a:r>
          </a:p>
        </p:txBody>
      </p:sp>
      <p:sp>
        <p:nvSpPr>
          <p:cNvPr id="12" name="Slide Number Placeholder 11"/>
          <p:cNvSpPr>
            <a:spLocks noGrp="1"/>
          </p:cNvSpPr>
          <p:nvPr>
            <p:ph type="sldNum" sz="quarter" idx="12"/>
          </p:nvPr>
        </p:nvSpPr>
        <p:spPr/>
        <p:txBody>
          <a:bodyPr/>
          <a:lstStyle/>
          <a:p>
            <a:fld id="{5AB95402-1E0D-474E-8D8C-CBE7F053639E}" type="slidenum">
              <a:rPr lang="vi-VN" smtClean="0"/>
              <a:pPr/>
              <a:t>10</a:t>
            </a:fld>
            <a:r>
              <a:rPr lang="vi-VN"/>
              <a:t>/59</a:t>
            </a:r>
          </a:p>
        </p:txBody>
      </p:sp>
    </p:spTree>
    <p:extLst>
      <p:ext uri="{BB962C8B-B14F-4D97-AF65-F5344CB8AC3E}">
        <p14:creationId xmlns:p14="http://schemas.microsoft.com/office/powerpoint/2010/main" val="49362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quy tắc khi viết chương trình</a:t>
            </a:r>
            <a:endParaRPr lang="vi-VN"/>
          </a:p>
        </p:txBody>
      </p:sp>
      <p:sp>
        <p:nvSpPr>
          <p:cNvPr id="3" name="Content Placeholder 2"/>
          <p:cNvSpPr>
            <a:spLocks noGrp="1"/>
          </p:cNvSpPr>
          <p:nvPr>
            <p:ph idx="1"/>
          </p:nvPr>
        </p:nvSpPr>
        <p:spPr/>
        <p:txBody>
          <a:bodyPr/>
          <a:lstStyle/>
          <a:p>
            <a:r>
              <a:rPr lang="en-US" dirty="0" err="1"/>
              <a:t>Mỗi</a:t>
            </a:r>
            <a:r>
              <a:rPr lang="en-US" dirty="0"/>
              <a:t> </a:t>
            </a:r>
            <a:r>
              <a:rPr lang="en-US" dirty="0" err="1"/>
              <a:t>câu</a:t>
            </a:r>
            <a:r>
              <a:rPr lang="en-US" dirty="0"/>
              <a:t> </a:t>
            </a:r>
            <a:r>
              <a:rPr lang="en-US" dirty="0" err="1"/>
              <a:t>lệnh</a:t>
            </a:r>
            <a:r>
              <a:rPr lang="en-US" dirty="0"/>
              <a:t> </a:t>
            </a:r>
            <a:r>
              <a:rPr lang="en-US" dirty="0" err="1"/>
              <a:t>có</a:t>
            </a:r>
            <a:r>
              <a:rPr lang="en-US" dirty="0"/>
              <a:t> </a:t>
            </a:r>
            <a:r>
              <a:rPr lang="en-US" dirty="0" err="1"/>
              <a:t>thể</a:t>
            </a:r>
            <a:r>
              <a:rPr lang="en-US" dirty="0"/>
              <a:t> </a:t>
            </a:r>
            <a:r>
              <a:rPr lang="en-US" dirty="0" err="1"/>
              <a:t>viết</a:t>
            </a:r>
            <a:r>
              <a:rPr lang="en-US" dirty="0"/>
              <a:t> </a:t>
            </a:r>
            <a:r>
              <a:rPr lang="en-US" dirty="0" err="1"/>
              <a:t>trên</a:t>
            </a:r>
            <a:r>
              <a:rPr lang="en-US" dirty="0"/>
              <a:t> </a:t>
            </a:r>
            <a:r>
              <a:rPr lang="en-US" dirty="0" err="1"/>
              <a:t>một</a:t>
            </a:r>
            <a:r>
              <a:rPr lang="en-US" dirty="0"/>
              <a:t> hay </a:t>
            </a:r>
            <a:r>
              <a:rPr lang="en-US" dirty="0" err="1"/>
              <a:t>nhiều</a:t>
            </a:r>
            <a:r>
              <a:rPr lang="en-US" dirty="0"/>
              <a:t> </a:t>
            </a:r>
            <a:r>
              <a:rPr lang="en-US" dirty="0" err="1"/>
              <a:t>dòng</a:t>
            </a:r>
            <a:r>
              <a:rPr lang="en-US" dirty="0"/>
              <a:t>, </a:t>
            </a:r>
            <a:r>
              <a:rPr lang="en-US" dirty="0" err="1"/>
              <a:t>nhưng</a:t>
            </a:r>
            <a:r>
              <a:rPr lang="en-US" dirty="0"/>
              <a:t> </a:t>
            </a:r>
            <a:r>
              <a:rPr lang="en-US" dirty="0" err="1"/>
              <a:t>phải</a:t>
            </a:r>
            <a:r>
              <a:rPr lang="en-US" dirty="0"/>
              <a:t> </a:t>
            </a:r>
            <a:r>
              <a:rPr lang="en-US" dirty="0" err="1"/>
              <a:t>kết</a:t>
            </a:r>
            <a:r>
              <a:rPr lang="en-US" dirty="0"/>
              <a:t> </a:t>
            </a:r>
            <a:r>
              <a:rPr lang="en-US" dirty="0" err="1"/>
              <a:t>thúc</a:t>
            </a:r>
            <a:r>
              <a:rPr lang="en-US" dirty="0"/>
              <a:t> </a:t>
            </a:r>
            <a:r>
              <a:rPr lang="en-US" dirty="0" err="1"/>
              <a:t>bằng</a:t>
            </a:r>
            <a:r>
              <a:rPr lang="en-US" dirty="0"/>
              <a:t> </a:t>
            </a:r>
            <a:r>
              <a:rPr lang="en-US" dirty="0" err="1"/>
              <a:t>dấu</a:t>
            </a:r>
            <a:r>
              <a:rPr lang="en-US" dirty="0"/>
              <a:t> </a:t>
            </a:r>
            <a:r>
              <a:rPr lang="en-US" dirty="0">
                <a:solidFill>
                  <a:srgbClr val="FF0000"/>
                </a:solidFill>
              </a:rPr>
              <a:t>;</a:t>
            </a:r>
          </a:p>
          <a:p>
            <a:r>
              <a:rPr lang="en-US" dirty="0" err="1"/>
              <a:t>Để</a:t>
            </a:r>
            <a:r>
              <a:rPr lang="en-US" dirty="0"/>
              <a:t> </a:t>
            </a:r>
            <a:r>
              <a:rPr lang="en-US" dirty="0" err="1"/>
              <a:t>báo</a:t>
            </a:r>
            <a:r>
              <a:rPr lang="en-US" dirty="0"/>
              <a:t> </a:t>
            </a:r>
            <a:r>
              <a:rPr lang="en-US" dirty="0" err="1"/>
              <a:t>cho</a:t>
            </a:r>
            <a:r>
              <a:rPr lang="en-US" dirty="0"/>
              <a:t> C </a:t>
            </a:r>
            <a:r>
              <a:rPr lang="en-US" dirty="0" err="1"/>
              <a:t>biết</a:t>
            </a:r>
            <a:r>
              <a:rPr lang="en-US" dirty="0"/>
              <a:t> </a:t>
            </a:r>
            <a:r>
              <a:rPr lang="en-US" dirty="0" err="1"/>
              <a:t>một</a:t>
            </a:r>
            <a:r>
              <a:rPr lang="en-US" dirty="0"/>
              <a:t> </a:t>
            </a:r>
            <a:r>
              <a:rPr lang="en-US" dirty="0" err="1"/>
              <a:t>chuỗi</a:t>
            </a:r>
            <a:r>
              <a:rPr lang="en-US" dirty="0"/>
              <a:t> </a:t>
            </a:r>
            <a:r>
              <a:rPr lang="en-US" dirty="0" err="1"/>
              <a:t>kí</a:t>
            </a:r>
            <a:r>
              <a:rPr lang="en-US" dirty="0"/>
              <a:t> </a:t>
            </a:r>
            <a:r>
              <a:rPr lang="en-US" dirty="0" err="1"/>
              <a:t>tự</a:t>
            </a:r>
            <a:r>
              <a:rPr lang="en-US" dirty="0"/>
              <a:t> </a:t>
            </a:r>
            <a:r>
              <a:rPr lang="en-US" dirty="0" err="1"/>
              <a:t>vẫn</a:t>
            </a:r>
            <a:r>
              <a:rPr lang="en-US" dirty="0"/>
              <a:t> </a:t>
            </a:r>
            <a:r>
              <a:rPr lang="en-US" dirty="0" err="1"/>
              <a:t>còn</a:t>
            </a:r>
            <a:r>
              <a:rPr lang="en-US" dirty="0"/>
              <a:t> ở </a:t>
            </a:r>
            <a:r>
              <a:rPr lang="en-US" dirty="0" err="1"/>
              <a:t>dòng</a:t>
            </a:r>
            <a:r>
              <a:rPr lang="en-US" dirty="0"/>
              <a:t> </a:t>
            </a:r>
            <a:r>
              <a:rPr lang="en-US" dirty="0" err="1"/>
              <a:t>dưới</a:t>
            </a:r>
            <a:r>
              <a:rPr lang="en-US" dirty="0"/>
              <a:t>, </a:t>
            </a:r>
            <a:r>
              <a:rPr lang="en-US" dirty="0" err="1"/>
              <a:t>thêm</a:t>
            </a:r>
            <a:r>
              <a:rPr lang="en-US" dirty="0"/>
              <a:t> </a:t>
            </a:r>
            <a:r>
              <a:rPr lang="en-US" dirty="0" err="1"/>
              <a:t>dấu</a:t>
            </a:r>
            <a:r>
              <a:rPr lang="en-US" dirty="0"/>
              <a:t> \ </a:t>
            </a:r>
            <a:r>
              <a:rPr lang="en-US" dirty="0" err="1"/>
              <a:t>trước</a:t>
            </a:r>
            <a:r>
              <a:rPr lang="en-US" dirty="0"/>
              <a:t> </a:t>
            </a:r>
            <a:r>
              <a:rPr lang="en-US" dirty="0" err="1"/>
              <a:t>khi</a:t>
            </a:r>
            <a:r>
              <a:rPr lang="en-US" dirty="0"/>
              <a:t> </a:t>
            </a:r>
            <a:r>
              <a:rPr lang="en-US" dirty="0" err="1"/>
              <a:t>xuống</a:t>
            </a:r>
            <a:r>
              <a:rPr lang="en-US" dirty="0"/>
              <a:t> </a:t>
            </a:r>
            <a:r>
              <a:rPr lang="en-US" dirty="0" err="1"/>
              <a:t>dòng</a:t>
            </a:r>
            <a:endParaRPr lang="en-US" dirty="0"/>
          </a:p>
          <a:p>
            <a:pPr lvl="1"/>
            <a:r>
              <a:rPr lang="en-US" dirty="0" err="1"/>
              <a:t>Ví</a:t>
            </a:r>
            <a:r>
              <a:rPr lang="en-US" dirty="0"/>
              <a:t> </a:t>
            </a:r>
            <a:r>
              <a:rPr lang="en-US" dirty="0" err="1"/>
              <a:t>dụ</a:t>
            </a:r>
            <a:r>
              <a:rPr lang="en-US" dirty="0"/>
              <a:t>: </a:t>
            </a:r>
            <a:r>
              <a:rPr lang="en-US" dirty="0" err="1">
                <a:latin typeface="Courier New" pitchFamily="49" charset="0"/>
                <a:cs typeface="Courier New" pitchFamily="49" charset="0"/>
              </a:rPr>
              <a:t>printf</a:t>
            </a:r>
            <a:r>
              <a:rPr lang="en-US" dirty="0">
                <a:latin typeface="Courier New" pitchFamily="49" charset="0"/>
                <a:cs typeface="Courier New" pitchFamily="49" charset="0"/>
              </a:rPr>
              <a:t>(“CHAO MUNG \</a:t>
            </a:r>
          </a:p>
          <a:p>
            <a:pPr marL="471487" lvl="1" indent="0">
              <a:buNone/>
            </a:pPr>
            <a:r>
              <a:rPr lang="en-US" dirty="0">
                <a:latin typeface="Courier New" pitchFamily="49" charset="0"/>
                <a:cs typeface="Courier New" pitchFamily="49" charset="0"/>
              </a:rPr>
              <a:t>		DEN VOI NGON NGU C”);</a:t>
            </a:r>
          </a:p>
          <a:p>
            <a:pPr>
              <a:buFont typeface="Wingdings" pitchFamily="2" charset="2"/>
              <a:buChar char="q"/>
            </a:pPr>
            <a:r>
              <a:rPr lang="en-US" dirty="0" err="1"/>
              <a:t>Lời</a:t>
            </a:r>
            <a:r>
              <a:rPr lang="en-US" dirty="0"/>
              <a:t> </a:t>
            </a:r>
            <a:r>
              <a:rPr lang="en-US" dirty="0" err="1"/>
              <a:t>chú</a:t>
            </a:r>
            <a:r>
              <a:rPr lang="en-US" dirty="0"/>
              <a:t> </a:t>
            </a:r>
            <a:r>
              <a:rPr lang="en-US" dirty="0" err="1"/>
              <a:t>thích</a:t>
            </a:r>
            <a:r>
              <a:rPr lang="en-US" dirty="0"/>
              <a:t> </a:t>
            </a:r>
            <a:r>
              <a:rPr lang="en-US" dirty="0" err="1"/>
              <a:t>có</a:t>
            </a:r>
            <a:r>
              <a:rPr lang="en-US" dirty="0"/>
              <a:t> </a:t>
            </a:r>
            <a:r>
              <a:rPr lang="en-US" dirty="0" err="1"/>
              <a:t>thể</a:t>
            </a:r>
            <a:r>
              <a:rPr lang="en-US" dirty="0"/>
              <a:t> </a:t>
            </a:r>
            <a:r>
              <a:rPr lang="en-US" dirty="0" err="1"/>
              <a:t>viết</a:t>
            </a:r>
            <a:r>
              <a:rPr lang="en-US" dirty="0"/>
              <a:t> </a:t>
            </a:r>
            <a:r>
              <a:rPr lang="en-US" dirty="0" err="1"/>
              <a:t>trên</a:t>
            </a:r>
            <a:r>
              <a:rPr lang="en-US" dirty="0"/>
              <a:t> 1 </a:t>
            </a:r>
            <a:r>
              <a:rPr lang="en-US" dirty="0" err="1"/>
              <a:t>hoặc</a:t>
            </a:r>
            <a:r>
              <a:rPr lang="en-US" dirty="0"/>
              <a:t> </a:t>
            </a:r>
            <a:r>
              <a:rPr lang="en-US" dirty="0" err="1"/>
              <a:t>nhiều</a:t>
            </a:r>
            <a:r>
              <a:rPr lang="en-US" dirty="0"/>
              <a:t> </a:t>
            </a:r>
            <a:r>
              <a:rPr lang="en-US" dirty="0" err="1"/>
              <a:t>dòng</a:t>
            </a:r>
            <a:r>
              <a:rPr lang="en-US" dirty="0"/>
              <a:t>, </a:t>
            </a:r>
            <a:r>
              <a:rPr lang="en-US" dirty="0" err="1"/>
              <a:t>đặt</a:t>
            </a:r>
            <a:r>
              <a:rPr lang="en-US" dirty="0"/>
              <a:t> </a:t>
            </a:r>
            <a:r>
              <a:rPr lang="en-US" dirty="0" err="1"/>
              <a:t>giữa</a:t>
            </a:r>
            <a:r>
              <a:rPr lang="en-US" dirty="0"/>
              <a:t> </a:t>
            </a:r>
            <a:r>
              <a:rPr lang="en-US" dirty="0" err="1"/>
              <a:t>cặp</a:t>
            </a:r>
            <a:r>
              <a:rPr lang="en-US" dirty="0"/>
              <a:t> </a:t>
            </a:r>
            <a:r>
              <a:rPr lang="en-US" dirty="0" err="1"/>
              <a:t>dấu</a:t>
            </a:r>
            <a:r>
              <a:rPr lang="en-US" dirty="0"/>
              <a:t> </a:t>
            </a:r>
            <a:r>
              <a:rPr lang="en-US" sz="2400" dirty="0">
                <a:solidFill>
                  <a:srgbClr val="FF0000"/>
                </a:solidFill>
                <a:latin typeface="Courier New" pitchFamily="49" charset="0"/>
                <a:cs typeface="Courier New" pitchFamily="49" charset="0"/>
              </a:rPr>
              <a:t>/*…*/</a:t>
            </a:r>
          </a:p>
          <a:p>
            <a:pPr>
              <a:buFont typeface="Wingdings" pitchFamily="2" charset="2"/>
              <a:buChar char="q"/>
            </a:pPr>
            <a:r>
              <a:rPr lang="en-US" dirty="0" err="1"/>
              <a:t>Các</a:t>
            </a:r>
            <a:r>
              <a:rPr lang="en-US" dirty="0"/>
              <a:t> </a:t>
            </a:r>
            <a:r>
              <a:rPr lang="en-US" dirty="0" err="1"/>
              <a:t>lệnh</a:t>
            </a:r>
            <a:r>
              <a:rPr lang="en-US" dirty="0"/>
              <a:t> </a:t>
            </a:r>
            <a:r>
              <a:rPr lang="en-US" dirty="0" err="1"/>
              <a:t>theo</a:t>
            </a:r>
            <a:r>
              <a:rPr lang="en-US" dirty="0"/>
              <a:t> </a:t>
            </a:r>
            <a:r>
              <a:rPr lang="en-US" dirty="0" err="1"/>
              <a:t>cùng</a:t>
            </a:r>
            <a:r>
              <a:rPr lang="en-US" dirty="0"/>
              <a:t> </a:t>
            </a:r>
            <a:r>
              <a:rPr lang="en-US" dirty="0" err="1"/>
              <a:t>nhóm</a:t>
            </a:r>
            <a:r>
              <a:rPr lang="en-US" dirty="0"/>
              <a:t> </a:t>
            </a:r>
            <a:r>
              <a:rPr lang="en-US" dirty="0" err="1"/>
              <a:t>phải</a:t>
            </a:r>
            <a:r>
              <a:rPr lang="en-US" dirty="0"/>
              <a:t> </a:t>
            </a:r>
            <a:r>
              <a:rPr lang="en-US" dirty="0" err="1"/>
              <a:t>thẳng</a:t>
            </a:r>
            <a:r>
              <a:rPr lang="en-US" dirty="0"/>
              <a:t> </a:t>
            </a:r>
            <a:r>
              <a:rPr lang="en-US" dirty="0" err="1"/>
              <a:t>hàng</a:t>
            </a:r>
            <a:r>
              <a:rPr lang="en-US" dirty="0"/>
              <a:t> </a:t>
            </a:r>
            <a:r>
              <a:rPr lang="en-US" dirty="0" err="1"/>
              <a:t>theo</a:t>
            </a:r>
            <a:r>
              <a:rPr lang="en-US" dirty="0"/>
              <a:t> </a:t>
            </a:r>
            <a:r>
              <a:rPr lang="en-US" dirty="0" err="1"/>
              <a:t>chiều</a:t>
            </a:r>
            <a:r>
              <a:rPr lang="en-US" dirty="0"/>
              <a:t> </a:t>
            </a:r>
            <a:r>
              <a:rPr lang="en-US" dirty="0" err="1"/>
              <a:t>dọc</a:t>
            </a:r>
            <a:endParaRPr lang="en-US" dirty="0"/>
          </a:p>
          <a:p>
            <a:pPr marL="471487" lvl="1" indent="0">
              <a:buNone/>
            </a:pPr>
            <a:endParaRPr lang="en-US" dirty="0">
              <a:latin typeface="Courier New" pitchFamily="49" charset="0"/>
              <a:cs typeface="Courier New" pitchFamily="49" charset="0"/>
            </a:endParaRPr>
          </a:p>
          <a:p>
            <a:pPr marL="471487" lvl="1" indent="0">
              <a:buNone/>
            </a:pPr>
            <a:endParaRPr lang="en-US" dirty="0">
              <a:latin typeface="Courier New" pitchFamily="49" charset="0"/>
              <a:cs typeface="Courier New" pitchFamily="49" charset="0"/>
            </a:endParaRPr>
          </a:p>
        </p:txBody>
      </p:sp>
      <p:sp>
        <p:nvSpPr>
          <p:cNvPr id="4" name="Date Placeholder 3"/>
          <p:cNvSpPr>
            <a:spLocks noGrp="1"/>
          </p:cNvSpPr>
          <p:nvPr>
            <p:ph type="dt" sz="half" idx="10"/>
          </p:nvPr>
        </p:nvSpPr>
        <p:spPr/>
        <p:txBody>
          <a:bodyPr/>
          <a:lstStyle/>
          <a:p>
            <a:fld id="{E138FE4B-BD60-4C76-B4B0-DE423B1C8D76}"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11</a:t>
            </a:fld>
            <a:r>
              <a:rPr lang="vi-VN"/>
              <a:t>/59</a:t>
            </a:r>
          </a:p>
        </p:txBody>
      </p:sp>
    </p:spTree>
    <p:extLst>
      <p:ext uri="{BB962C8B-B14F-4D97-AF65-F5344CB8AC3E}">
        <p14:creationId xmlns:p14="http://schemas.microsoft.com/office/powerpoint/2010/main" val="2381375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3. Các kiểu dữ liệu cơ sở</a:t>
            </a:r>
          </a:p>
        </p:txBody>
      </p:sp>
      <p:sp>
        <p:nvSpPr>
          <p:cNvPr id="3" name="Content Placeholder 2"/>
          <p:cNvSpPr>
            <a:spLocks noGrp="1"/>
          </p:cNvSpPr>
          <p:nvPr>
            <p:ph idx="1"/>
          </p:nvPr>
        </p:nvSpPr>
        <p:spPr/>
        <p:txBody>
          <a:bodyPr/>
          <a:lstStyle/>
          <a:p>
            <a:pPr>
              <a:defRPr/>
            </a:pPr>
            <a:r>
              <a:rPr lang="en-US"/>
              <a:t>Kiểu dữ liệu (data type) là: </a:t>
            </a:r>
          </a:p>
          <a:p>
            <a:pPr lvl="1">
              <a:defRPr/>
            </a:pPr>
            <a:r>
              <a:rPr lang="en-US"/>
              <a:t>Một tập hợp các giá trị mà một biến thuộc kiểu đó có thể nhận được,</a:t>
            </a:r>
          </a:p>
          <a:p>
            <a:pPr lvl="1">
              <a:defRPr/>
            </a:pPr>
            <a:r>
              <a:rPr lang="en-US"/>
              <a:t>Trên đó xác định một số phép toán</a:t>
            </a:r>
          </a:p>
        </p:txBody>
      </p:sp>
      <p:sp>
        <p:nvSpPr>
          <p:cNvPr id="17412" name="Footer Placeholder 3"/>
          <p:cNvSpPr>
            <a:spLocks noGrp="1"/>
          </p:cNvSpPr>
          <p:nvPr>
            <p:ph type="ftr" sz="quarter" idx="11"/>
          </p:nvPr>
        </p:nvSpPr>
        <p:spPr>
          <a:noFill/>
        </p:spPr>
        <p:txBody>
          <a:bodyPr/>
          <a:lstStyle/>
          <a:p>
            <a:r>
              <a:rPr lang="vi-VN"/>
              <a:t>Chương 2 - Các phần tử cơ bản của ngôn ngữ C</a:t>
            </a:r>
            <a:endParaRPr lang="en-US"/>
          </a:p>
        </p:txBody>
      </p:sp>
      <p:cxnSp>
        <p:nvCxnSpPr>
          <p:cNvPr id="4" name="Straight Arrow Connector 3"/>
          <p:cNvCxnSpPr/>
          <p:nvPr/>
        </p:nvCxnSpPr>
        <p:spPr>
          <a:xfrm flipV="1">
            <a:off x="1169807" y="3563724"/>
            <a:ext cx="432048" cy="108012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a:off x="1169807" y="4643844"/>
            <a:ext cx="46386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Straight Arrow Connector 9"/>
          <p:cNvCxnSpPr/>
          <p:nvPr/>
        </p:nvCxnSpPr>
        <p:spPr>
          <a:xfrm>
            <a:off x="1185713" y="4643844"/>
            <a:ext cx="447954" cy="11521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1601855" y="3275692"/>
            <a:ext cx="1296144" cy="923330"/>
          </a:xfrm>
          <a:prstGeom prst="rect">
            <a:avLst/>
          </a:prstGeom>
          <a:noFill/>
        </p:spPr>
        <p:txBody>
          <a:bodyPr wrap="square" rtlCol="0">
            <a:spAutoFit/>
          </a:bodyPr>
          <a:lstStyle/>
          <a:p>
            <a:r>
              <a:rPr lang="en-US"/>
              <a:t>Kiểu vô hướng đơn giản</a:t>
            </a:r>
            <a:endParaRPr lang="vi-VN"/>
          </a:p>
        </p:txBody>
      </p:sp>
      <p:sp>
        <p:nvSpPr>
          <p:cNvPr id="13" name="TextBox 12"/>
          <p:cNvSpPr txBox="1"/>
          <p:nvPr/>
        </p:nvSpPr>
        <p:spPr>
          <a:xfrm>
            <a:off x="1650110" y="4296578"/>
            <a:ext cx="1607929" cy="646331"/>
          </a:xfrm>
          <a:prstGeom prst="rect">
            <a:avLst/>
          </a:prstGeom>
          <a:noFill/>
        </p:spPr>
        <p:txBody>
          <a:bodyPr wrap="square" rtlCol="0">
            <a:spAutoFit/>
          </a:bodyPr>
          <a:lstStyle/>
          <a:p>
            <a:r>
              <a:rPr lang="en-US"/>
              <a:t>Kiểu dữ liệu có cấu trúc</a:t>
            </a:r>
            <a:endParaRPr lang="vi-VN"/>
          </a:p>
        </p:txBody>
      </p:sp>
      <p:sp>
        <p:nvSpPr>
          <p:cNvPr id="14" name="TextBox 13"/>
          <p:cNvSpPr txBox="1"/>
          <p:nvPr/>
        </p:nvSpPr>
        <p:spPr>
          <a:xfrm>
            <a:off x="1650110" y="5435932"/>
            <a:ext cx="1463913" cy="369332"/>
          </a:xfrm>
          <a:prstGeom prst="rect">
            <a:avLst/>
          </a:prstGeom>
          <a:noFill/>
        </p:spPr>
        <p:txBody>
          <a:bodyPr wrap="square" rtlCol="0">
            <a:spAutoFit/>
          </a:bodyPr>
          <a:lstStyle/>
          <a:p>
            <a:r>
              <a:rPr lang="en-US"/>
              <a:t>Kiểu con trỏ</a:t>
            </a:r>
            <a:endParaRPr lang="vi-VN"/>
          </a:p>
        </p:txBody>
      </p:sp>
      <p:cxnSp>
        <p:nvCxnSpPr>
          <p:cNvPr id="15" name="Straight Arrow Connector 14"/>
          <p:cNvCxnSpPr/>
          <p:nvPr/>
        </p:nvCxnSpPr>
        <p:spPr>
          <a:xfrm flipV="1">
            <a:off x="2537959" y="3419708"/>
            <a:ext cx="720080" cy="31764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p:nvPr/>
        </p:nvCxnSpPr>
        <p:spPr>
          <a:xfrm>
            <a:off x="2537959" y="3737358"/>
            <a:ext cx="887554" cy="3664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9" name="TextBox 18"/>
          <p:cNvSpPr txBox="1"/>
          <p:nvPr/>
        </p:nvSpPr>
        <p:spPr>
          <a:xfrm>
            <a:off x="3287535" y="3194392"/>
            <a:ext cx="1296144" cy="369332"/>
          </a:xfrm>
          <a:prstGeom prst="rect">
            <a:avLst/>
          </a:prstGeom>
          <a:noFill/>
        </p:spPr>
        <p:txBody>
          <a:bodyPr wrap="square" rtlCol="0">
            <a:spAutoFit/>
          </a:bodyPr>
          <a:lstStyle/>
          <a:p>
            <a:r>
              <a:rPr lang="en-US"/>
              <a:t>Kiểu cơ sở</a:t>
            </a:r>
            <a:endParaRPr lang="vi-VN"/>
          </a:p>
        </p:txBody>
      </p:sp>
      <p:sp>
        <p:nvSpPr>
          <p:cNvPr id="20" name="TextBox 19"/>
          <p:cNvSpPr txBox="1"/>
          <p:nvPr/>
        </p:nvSpPr>
        <p:spPr>
          <a:xfrm>
            <a:off x="3448054" y="3920571"/>
            <a:ext cx="1741186" cy="646331"/>
          </a:xfrm>
          <a:prstGeom prst="rect">
            <a:avLst/>
          </a:prstGeom>
          <a:noFill/>
        </p:spPr>
        <p:txBody>
          <a:bodyPr wrap="square" rtlCol="0">
            <a:spAutoFit/>
          </a:bodyPr>
          <a:lstStyle/>
          <a:p>
            <a:r>
              <a:rPr lang="en-US"/>
              <a:t>Do người dùng định nghĩa</a:t>
            </a:r>
            <a:endParaRPr lang="vi-VN"/>
          </a:p>
        </p:txBody>
      </p:sp>
      <p:cxnSp>
        <p:nvCxnSpPr>
          <p:cNvPr id="21" name="Straight Arrow Connector 20"/>
          <p:cNvCxnSpPr>
            <a:endCxn id="23" idx="1"/>
          </p:cNvCxnSpPr>
          <p:nvPr/>
        </p:nvCxnSpPr>
        <p:spPr>
          <a:xfrm flipV="1">
            <a:off x="5106595" y="4356745"/>
            <a:ext cx="1279915"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6386510" y="4172079"/>
            <a:ext cx="1741186" cy="369332"/>
          </a:xfrm>
          <a:prstGeom prst="rect">
            <a:avLst/>
          </a:prstGeom>
          <a:noFill/>
        </p:spPr>
        <p:txBody>
          <a:bodyPr wrap="square" rtlCol="0">
            <a:spAutoFit/>
          </a:bodyPr>
          <a:lstStyle/>
          <a:p>
            <a:r>
              <a:rPr lang="en-US"/>
              <a:t>Kiểu  liệt kê</a:t>
            </a:r>
            <a:endParaRPr lang="vi-VN"/>
          </a:p>
        </p:txBody>
      </p:sp>
      <p:cxnSp>
        <p:nvCxnSpPr>
          <p:cNvPr id="26" name="Straight Arrow Connector 25"/>
          <p:cNvCxnSpPr>
            <a:endCxn id="35" idx="1"/>
          </p:cNvCxnSpPr>
          <p:nvPr/>
        </p:nvCxnSpPr>
        <p:spPr>
          <a:xfrm flipV="1">
            <a:off x="4568483" y="3194392"/>
            <a:ext cx="1785900" cy="1856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8" name="Straight Arrow Connector 27"/>
          <p:cNvCxnSpPr/>
          <p:nvPr/>
        </p:nvCxnSpPr>
        <p:spPr>
          <a:xfrm>
            <a:off x="4587577" y="3395026"/>
            <a:ext cx="1766806" cy="2468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a:off x="4583679" y="3406762"/>
            <a:ext cx="1770704" cy="33059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3" name="Straight Arrow Connector 32"/>
          <p:cNvCxnSpPr/>
          <p:nvPr/>
        </p:nvCxnSpPr>
        <p:spPr>
          <a:xfrm>
            <a:off x="4587577" y="3419708"/>
            <a:ext cx="1739023" cy="65110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5" name="TextBox 34"/>
          <p:cNvSpPr txBox="1"/>
          <p:nvPr/>
        </p:nvSpPr>
        <p:spPr>
          <a:xfrm>
            <a:off x="6354383" y="3009726"/>
            <a:ext cx="1296144" cy="369332"/>
          </a:xfrm>
          <a:prstGeom prst="rect">
            <a:avLst/>
          </a:prstGeom>
          <a:noFill/>
        </p:spPr>
        <p:txBody>
          <a:bodyPr wrap="square" rtlCol="0">
            <a:spAutoFit/>
          </a:bodyPr>
          <a:lstStyle/>
          <a:p>
            <a:r>
              <a:rPr lang="en-US"/>
              <a:t>Số nguyên</a:t>
            </a:r>
            <a:endParaRPr lang="vi-VN"/>
          </a:p>
        </p:txBody>
      </p:sp>
      <p:sp>
        <p:nvSpPr>
          <p:cNvPr id="41" name="TextBox 40"/>
          <p:cNvSpPr txBox="1"/>
          <p:nvPr/>
        </p:nvSpPr>
        <p:spPr>
          <a:xfrm>
            <a:off x="6354383" y="3275692"/>
            <a:ext cx="1296144" cy="369332"/>
          </a:xfrm>
          <a:prstGeom prst="rect">
            <a:avLst/>
          </a:prstGeom>
          <a:noFill/>
        </p:spPr>
        <p:txBody>
          <a:bodyPr wrap="square" rtlCol="0">
            <a:spAutoFit/>
          </a:bodyPr>
          <a:lstStyle/>
          <a:p>
            <a:r>
              <a:rPr lang="en-US"/>
              <a:t>Số thực</a:t>
            </a:r>
            <a:endParaRPr lang="vi-VN"/>
          </a:p>
        </p:txBody>
      </p:sp>
      <p:sp>
        <p:nvSpPr>
          <p:cNvPr id="42" name="TextBox 41"/>
          <p:cNvSpPr txBox="1"/>
          <p:nvPr/>
        </p:nvSpPr>
        <p:spPr>
          <a:xfrm>
            <a:off x="6387864" y="3551239"/>
            <a:ext cx="1296144" cy="369332"/>
          </a:xfrm>
          <a:prstGeom prst="rect">
            <a:avLst/>
          </a:prstGeom>
          <a:noFill/>
        </p:spPr>
        <p:txBody>
          <a:bodyPr wrap="square" rtlCol="0">
            <a:spAutoFit/>
          </a:bodyPr>
          <a:lstStyle/>
          <a:p>
            <a:r>
              <a:rPr lang="en-US"/>
              <a:t>Kiểu kí tự</a:t>
            </a:r>
            <a:endParaRPr lang="vi-VN"/>
          </a:p>
        </p:txBody>
      </p:sp>
      <p:sp>
        <p:nvSpPr>
          <p:cNvPr id="43" name="TextBox 42"/>
          <p:cNvSpPr txBox="1"/>
          <p:nvPr/>
        </p:nvSpPr>
        <p:spPr>
          <a:xfrm>
            <a:off x="6386509" y="3842464"/>
            <a:ext cx="2272129" cy="369332"/>
          </a:xfrm>
          <a:prstGeom prst="rect">
            <a:avLst/>
          </a:prstGeom>
          <a:noFill/>
        </p:spPr>
        <p:txBody>
          <a:bodyPr wrap="square" rtlCol="0">
            <a:spAutoFit/>
          </a:bodyPr>
          <a:lstStyle/>
          <a:p>
            <a:r>
              <a:rPr lang="en-US"/>
              <a:t>Kiểu logic (Boolean)</a:t>
            </a:r>
            <a:endParaRPr lang="vi-VN"/>
          </a:p>
        </p:txBody>
      </p:sp>
      <p:cxnSp>
        <p:nvCxnSpPr>
          <p:cNvPr id="44" name="Straight Arrow Connector 43"/>
          <p:cNvCxnSpPr>
            <a:stCxn id="13" idx="3"/>
          </p:cNvCxnSpPr>
          <p:nvPr/>
        </p:nvCxnSpPr>
        <p:spPr>
          <a:xfrm>
            <a:off x="3258039" y="4619744"/>
            <a:ext cx="3068561" cy="2073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7" name="Straight Arrow Connector 46"/>
          <p:cNvCxnSpPr>
            <a:stCxn id="13" idx="3"/>
          </p:cNvCxnSpPr>
          <p:nvPr/>
        </p:nvCxnSpPr>
        <p:spPr>
          <a:xfrm>
            <a:off x="3258039" y="4619744"/>
            <a:ext cx="3039065" cy="52769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0" name="Straight Arrow Connector 49"/>
          <p:cNvCxnSpPr>
            <a:stCxn id="13" idx="3"/>
          </p:cNvCxnSpPr>
          <p:nvPr/>
        </p:nvCxnSpPr>
        <p:spPr>
          <a:xfrm>
            <a:off x="3258039" y="4619744"/>
            <a:ext cx="3039065" cy="85086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2" name="TextBox 51"/>
          <p:cNvSpPr txBox="1"/>
          <p:nvPr/>
        </p:nvSpPr>
        <p:spPr>
          <a:xfrm>
            <a:off x="6354383" y="4643844"/>
            <a:ext cx="2448272" cy="369332"/>
          </a:xfrm>
          <a:prstGeom prst="rect">
            <a:avLst/>
          </a:prstGeom>
          <a:noFill/>
        </p:spPr>
        <p:txBody>
          <a:bodyPr wrap="square" rtlCol="0">
            <a:spAutoFit/>
          </a:bodyPr>
          <a:lstStyle/>
          <a:p>
            <a:r>
              <a:rPr lang="en-US"/>
              <a:t>Kiểu mảng (array)</a:t>
            </a:r>
            <a:endParaRPr lang="vi-VN"/>
          </a:p>
        </p:txBody>
      </p:sp>
      <p:sp>
        <p:nvSpPr>
          <p:cNvPr id="53" name="TextBox 52"/>
          <p:cNvSpPr txBox="1"/>
          <p:nvPr/>
        </p:nvSpPr>
        <p:spPr>
          <a:xfrm>
            <a:off x="6372200" y="4996275"/>
            <a:ext cx="2448272" cy="369332"/>
          </a:xfrm>
          <a:prstGeom prst="rect">
            <a:avLst/>
          </a:prstGeom>
          <a:noFill/>
        </p:spPr>
        <p:txBody>
          <a:bodyPr wrap="square" rtlCol="0">
            <a:spAutoFit/>
          </a:bodyPr>
          <a:lstStyle/>
          <a:p>
            <a:r>
              <a:rPr lang="en-US"/>
              <a:t>Kiểu cấu trúc (struct)</a:t>
            </a:r>
            <a:endParaRPr lang="vi-VN"/>
          </a:p>
        </p:txBody>
      </p:sp>
      <p:sp>
        <p:nvSpPr>
          <p:cNvPr id="54" name="TextBox 53"/>
          <p:cNvSpPr txBox="1"/>
          <p:nvPr/>
        </p:nvSpPr>
        <p:spPr>
          <a:xfrm>
            <a:off x="6354383" y="5365607"/>
            <a:ext cx="2448272" cy="369332"/>
          </a:xfrm>
          <a:prstGeom prst="rect">
            <a:avLst/>
          </a:prstGeom>
          <a:noFill/>
        </p:spPr>
        <p:txBody>
          <a:bodyPr wrap="square" rtlCol="0">
            <a:spAutoFit/>
          </a:bodyPr>
          <a:lstStyle/>
          <a:p>
            <a:r>
              <a:rPr lang="en-US"/>
              <a:t>Kiểu tệp (file)</a:t>
            </a:r>
            <a:endParaRPr lang="vi-VN"/>
          </a:p>
        </p:txBody>
      </p:sp>
      <p:sp>
        <p:nvSpPr>
          <p:cNvPr id="55" name="TextBox 54"/>
          <p:cNvSpPr txBox="1"/>
          <p:nvPr/>
        </p:nvSpPr>
        <p:spPr>
          <a:xfrm>
            <a:off x="539552" y="4149080"/>
            <a:ext cx="648072" cy="923330"/>
          </a:xfrm>
          <a:prstGeom prst="rect">
            <a:avLst/>
          </a:prstGeom>
          <a:noFill/>
        </p:spPr>
        <p:txBody>
          <a:bodyPr wrap="square" rtlCol="0">
            <a:spAutoFit/>
          </a:bodyPr>
          <a:lstStyle/>
          <a:p>
            <a:r>
              <a:rPr lang="en-US"/>
              <a:t>Kiểu dữ liệu</a:t>
            </a:r>
            <a:endParaRPr lang="vi-VN"/>
          </a:p>
        </p:txBody>
      </p:sp>
      <p:sp>
        <p:nvSpPr>
          <p:cNvPr id="2" name="Date Placeholder 1"/>
          <p:cNvSpPr>
            <a:spLocks noGrp="1"/>
          </p:cNvSpPr>
          <p:nvPr>
            <p:ph type="dt" sz="half" idx="10"/>
          </p:nvPr>
        </p:nvSpPr>
        <p:spPr/>
        <p:txBody>
          <a:bodyPr/>
          <a:lstStyle/>
          <a:p>
            <a:fld id="{86FA0F1C-6B8C-4CBD-8BF3-E9DCD3B7D2C3}" type="datetime1">
              <a:rPr lang="vi-VN" smtClean="0"/>
              <a:t>14/01/2024</a:t>
            </a:fld>
            <a:endParaRPr lang="vi-VN"/>
          </a:p>
        </p:txBody>
      </p:sp>
      <p:sp>
        <p:nvSpPr>
          <p:cNvPr id="12" name="Slide Number Placeholder 11"/>
          <p:cNvSpPr>
            <a:spLocks noGrp="1"/>
          </p:cNvSpPr>
          <p:nvPr>
            <p:ph type="sldNum" sz="quarter" idx="12"/>
          </p:nvPr>
        </p:nvSpPr>
        <p:spPr/>
        <p:txBody>
          <a:bodyPr/>
          <a:lstStyle/>
          <a:p>
            <a:fld id="{5AB95402-1E0D-474E-8D8C-CBE7F053639E}" type="slidenum">
              <a:rPr lang="vi-VN" smtClean="0"/>
              <a:pPr/>
              <a:t>12</a:t>
            </a:fld>
            <a:r>
              <a:rPr lang="vi-VN"/>
              <a:t>/59</a:t>
            </a:r>
          </a:p>
        </p:txBody>
      </p:sp>
    </p:spTree>
    <p:extLst>
      <p:ext uri="{BB962C8B-B14F-4D97-AF65-F5344CB8AC3E}">
        <p14:creationId xmlns:p14="http://schemas.microsoft.com/office/powerpoint/2010/main" val="280488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kiểu dữ liệu cơ sở</a:t>
            </a:r>
            <a:endParaRPr lang="vi-VN"/>
          </a:p>
        </p:txBody>
      </p:sp>
      <p:sp>
        <p:nvSpPr>
          <p:cNvPr id="3" name="Content Placeholder 2"/>
          <p:cNvSpPr>
            <a:spLocks noGrp="1"/>
          </p:cNvSpPr>
          <p:nvPr>
            <p:ph idx="1"/>
          </p:nvPr>
        </p:nvSpPr>
        <p:spPr/>
        <p:txBody>
          <a:bodyPr/>
          <a:lstStyle/>
          <a:p>
            <a:pPr>
              <a:defRPr/>
            </a:pPr>
            <a:r>
              <a:rPr lang="fr-FR"/>
              <a:t>C có 4 kiểu cơ sở</a:t>
            </a:r>
          </a:p>
          <a:p>
            <a:pPr lvl="1">
              <a:defRPr/>
            </a:pPr>
            <a:r>
              <a:rPr lang="fr-FR">
                <a:solidFill>
                  <a:srgbClr val="FF0000"/>
                </a:solidFill>
              </a:rPr>
              <a:t>Kiểu số nguyên</a:t>
            </a:r>
            <a:r>
              <a:rPr lang="fr-FR"/>
              <a:t>: </a:t>
            </a:r>
            <a:r>
              <a:rPr lang="en-US"/>
              <a:t>giá trị của nó là các số nguyên nh</a:t>
            </a:r>
            <a:r>
              <a:rPr lang="vi-VN"/>
              <a:t>ư</a:t>
            </a:r>
            <a:r>
              <a:rPr lang="en-US"/>
              <a:t> 2912, -1706, …</a:t>
            </a:r>
          </a:p>
          <a:p>
            <a:pPr lvl="1">
              <a:defRPr/>
            </a:pPr>
            <a:r>
              <a:rPr lang="fr-FR">
                <a:solidFill>
                  <a:srgbClr val="FF0000"/>
                </a:solidFill>
              </a:rPr>
              <a:t>Kiểu số thực</a:t>
            </a:r>
            <a:r>
              <a:rPr lang="fr-FR"/>
              <a:t>: giá trị của nó là các số thực nh</a:t>
            </a:r>
            <a:r>
              <a:rPr lang="vi-VN"/>
              <a:t>ư</a:t>
            </a:r>
            <a:r>
              <a:rPr lang="en-US"/>
              <a:t> 3.1415, 29.12, -17.06, …</a:t>
            </a:r>
          </a:p>
          <a:p>
            <a:pPr lvl="1">
              <a:defRPr/>
            </a:pPr>
            <a:r>
              <a:rPr lang="fr-FR">
                <a:solidFill>
                  <a:srgbClr val="FF0000"/>
                </a:solidFill>
              </a:rPr>
              <a:t>Kiểu ký tự</a:t>
            </a:r>
            <a:r>
              <a:rPr lang="fr-FR"/>
              <a:t>: 256 ký tự trong bảng mã ASCII.</a:t>
            </a:r>
            <a:endParaRPr lang="en-US"/>
          </a:p>
          <a:p>
            <a:pPr lvl="1">
              <a:defRPr/>
            </a:pPr>
            <a:r>
              <a:rPr lang="fr-FR">
                <a:solidFill>
                  <a:srgbClr val="FF0000"/>
                </a:solidFill>
              </a:rPr>
              <a:t>Kiểu boolean</a:t>
            </a:r>
            <a:r>
              <a:rPr lang="fr-FR"/>
              <a:t>: giá trị </a:t>
            </a:r>
            <a:r>
              <a:rPr lang="vi-VN"/>
              <a:t>đú</a:t>
            </a:r>
            <a:r>
              <a:rPr lang="en-US"/>
              <a:t>ng hoặc sai.</a:t>
            </a:r>
          </a:p>
          <a:p>
            <a:endParaRPr lang="vi-VN"/>
          </a:p>
        </p:txBody>
      </p:sp>
      <p:sp>
        <p:nvSpPr>
          <p:cNvPr id="4" name="Date Placeholder 3"/>
          <p:cNvSpPr>
            <a:spLocks noGrp="1"/>
          </p:cNvSpPr>
          <p:nvPr>
            <p:ph type="dt" sz="half" idx="10"/>
          </p:nvPr>
        </p:nvSpPr>
        <p:spPr/>
        <p:txBody>
          <a:bodyPr/>
          <a:lstStyle/>
          <a:p>
            <a:fld id="{834C2CE3-8B1D-4C48-A0C1-A80D1BE43158}"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13</a:t>
            </a:fld>
            <a:r>
              <a:rPr lang="vi-VN"/>
              <a:t>/59</a:t>
            </a:r>
          </a:p>
        </p:txBody>
      </p:sp>
    </p:spTree>
    <p:extLst>
      <p:ext uri="{BB962C8B-B14F-4D97-AF65-F5344CB8AC3E}">
        <p14:creationId xmlns:p14="http://schemas.microsoft.com/office/powerpoint/2010/main" val="4154582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Kiểu số nguyên</a:t>
            </a:r>
          </a:p>
        </p:txBody>
      </p:sp>
      <p:sp>
        <p:nvSpPr>
          <p:cNvPr id="3" name="Content Placeholder 2"/>
          <p:cNvSpPr>
            <a:spLocks noGrp="1"/>
          </p:cNvSpPr>
          <p:nvPr>
            <p:ph idx="1"/>
          </p:nvPr>
        </p:nvSpPr>
        <p:spPr/>
        <p:txBody>
          <a:bodyPr/>
          <a:lstStyle/>
          <a:p>
            <a:pPr>
              <a:defRPr/>
            </a:pPr>
            <a:r>
              <a:rPr lang="en-US"/>
              <a:t>Các kiểu số nguyên (có dấu)</a:t>
            </a:r>
          </a:p>
          <a:p>
            <a:pPr lvl="1">
              <a:defRPr/>
            </a:pPr>
            <a:r>
              <a:rPr lang="en-US"/>
              <a:t>n bit có dấu: –2</a:t>
            </a:r>
            <a:r>
              <a:rPr lang="en-US" baseline="30000"/>
              <a:t>n – 1</a:t>
            </a:r>
            <a:r>
              <a:rPr lang="en-US"/>
              <a:t> … +2</a:t>
            </a:r>
            <a:r>
              <a:rPr lang="en-US" baseline="30000"/>
              <a:t>n – 1</a:t>
            </a:r>
            <a:r>
              <a:rPr lang="en-US"/>
              <a:t> – 1</a:t>
            </a:r>
          </a:p>
        </p:txBody>
      </p:sp>
      <p:sp>
        <p:nvSpPr>
          <p:cNvPr id="18436" name="Footer Placeholder 3"/>
          <p:cNvSpPr>
            <a:spLocks noGrp="1"/>
          </p:cNvSpPr>
          <p:nvPr>
            <p:ph type="ftr" sz="quarter" idx="11"/>
          </p:nvPr>
        </p:nvSpPr>
        <p:spPr>
          <a:noFill/>
        </p:spPr>
        <p:txBody>
          <a:bodyPr/>
          <a:lstStyle/>
          <a:p>
            <a:r>
              <a:rPr lang="vi-VN"/>
              <a:t>Chương 2 - Các phần tử cơ bản của ngôn ngữ C</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442327445"/>
              </p:ext>
            </p:extLst>
          </p:nvPr>
        </p:nvGraphicFramePr>
        <p:xfrm>
          <a:off x="971600" y="2564904"/>
          <a:ext cx="7344817" cy="3024338"/>
        </p:xfrm>
        <a:graphic>
          <a:graphicData uri="http://schemas.openxmlformats.org/drawingml/2006/table">
            <a:tbl>
              <a:tblPr firstRow="1" bandRow="1">
                <a:tableStyleId>{0E3FDE45-AF77-4B5C-9715-49D594BDF05E}</a:tableStyleId>
              </a:tblPr>
              <a:tblGrid>
                <a:gridCol w="1322407">
                  <a:extLst>
                    <a:ext uri="{9D8B030D-6E8A-4147-A177-3AD203B41FA5}">
                      <a16:colId xmlns:a16="http://schemas.microsoft.com/office/drawing/2014/main" val="20000"/>
                    </a:ext>
                  </a:extLst>
                </a:gridCol>
                <a:gridCol w="1702916">
                  <a:extLst>
                    <a:ext uri="{9D8B030D-6E8A-4147-A177-3AD203B41FA5}">
                      <a16:colId xmlns:a16="http://schemas.microsoft.com/office/drawing/2014/main" val="20001"/>
                    </a:ext>
                  </a:extLst>
                </a:gridCol>
                <a:gridCol w="4319494">
                  <a:extLst>
                    <a:ext uri="{9D8B030D-6E8A-4147-A177-3AD203B41FA5}">
                      <a16:colId xmlns:a16="http://schemas.microsoft.com/office/drawing/2014/main" val="20002"/>
                    </a:ext>
                  </a:extLst>
                </a:gridCol>
              </a:tblGrid>
              <a:tr h="911642">
                <a:tc>
                  <a:txBody>
                    <a:bodyPr/>
                    <a:lstStyle/>
                    <a:p>
                      <a:pPr algn="ctr"/>
                      <a:r>
                        <a:rPr lang="en-US" sz="2000"/>
                        <a:t>Kiểu</a:t>
                      </a:r>
                    </a:p>
                    <a:p>
                      <a:pPr algn="ctr"/>
                      <a:r>
                        <a:rPr lang="en-US" sz="2000"/>
                        <a:t>(Type)</a:t>
                      </a:r>
                    </a:p>
                  </a:txBody>
                  <a:tcPr/>
                </a:tc>
                <a:tc>
                  <a:txBody>
                    <a:bodyPr/>
                    <a:lstStyle/>
                    <a:p>
                      <a:pPr algn="ctr"/>
                      <a:r>
                        <a:rPr lang="en-US" sz="2000"/>
                        <a:t>Độ lớn</a:t>
                      </a:r>
                    </a:p>
                    <a:p>
                      <a:pPr algn="ctr"/>
                      <a:r>
                        <a:rPr lang="en-US" sz="2000"/>
                        <a:t>(Byte)</a:t>
                      </a:r>
                    </a:p>
                  </a:txBody>
                  <a:tcPr/>
                </a:tc>
                <a:tc>
                  <a:txBody>
                    <a:bodyPr/>
                    <a:lstStyle/>
                    <a:p>
                      <a:pPr algn="ctr"/>
                      <a:r>
                        <a:rPr lang="en-US" sz="2000"/>
                        <a:t>Miền giá trị</a:t>
                      </a:r>
                    </a:p>
                    <a:p>
                      <a:pPr algn="ctr"/>
                      <a:r>
                        <a:rPr lang="en-US" sz="2000"/>
                        <a:t>(Range)</a:t>
                      </a:r>
                    </a:p>
                  </a:txBody>
                  <a:tcPr/>
                </a:tc>
                <a:extLst>
                  <a:ext uri="{0D108BD9-81ED-4DB2-BD59-A6C34878D82A}">
                    <a16:rowId xmlns:a16="http://schemas.microsoft.com/office/drawing/2014/main" val="10000"/>
                  </a:ext>
                </a:extLst>
              </a:tr>
              <a:tr h="528174">
                <a:tc>
                  <a:txBody>
                    <a:bodyPr/>
                    <a:lstStyle/>
                    <a:p>
                      <a:r>
                        <a:rPr lang="en-US" sz="2000">
                          <a:solidFill>
                            <a:srgbClr val="FF0000"/>
                          </a:solidFill>
                        </a:rPr>
                        <a:t>char</a:t>
                      </a:r>
                    </a:p>
                  </a:txBody>
                  <a:tcPr/>
                </a:tc>
                <a:tc>
                  <a:txBody>
                    <a:bodyPr/>
                    <a:lstStyle/>
                    <a:p>
                      <a:pPr algn="ctr"/>
                      <a:r>
                        <a:rPr lang="en-US" sz="2000"/>
                        <a:t>1</a:t>
                      </a:r>
                    </a:p>
                  </a:txBody>
                  <a:tcPr/>
                </a:tc>
                <a:tc>
                  <a:txBody>
                    <a:bodyPr/>
                    <a:lstStyle/>
                    <a:p>
                      <a:pPr algn="ctr"/>
                      <a:r>
                        <a:rPr lang="en-US" sz="2000"/>
                        <a:t>–128 … +127</a:t>
                      </a:r>
                    </a:p>
                  </a:txBody>
                  <a:tcPr/>
                </a:tc>
                <a:extLst>
                  <a:ext uri="{0D108BD9-81ED-4DB2-BD59-A6C34878D82A}">
                    <a16:rowId xmlns:a16="http://schemas.microsoft.com/office/drawing/2014/main" val="10001"/>
                  </a:ext>
                </a:extLst>
              </a:tr>
              <a:tr h="528174">
                <a:tc>
                  <a:txBody>
                    <a:bodyPr/>
                    <a:lstStyle/>
                    <a:p>
                      <a:r>
                        <a:rPr lang="en-US" sz="2000">
                          <a:solidFill>
                            <a:srgbClr val="FF0000"/>
                          </a:solidFill>
                        </a:rPr>
                        <a:t>int</a:t>
                      </a:r>
                    </a:p>
                  </a:txBody>
                  <a:tcPr/>
                </a:tc>
                <a:tc>
                  <a:txBody>
                    <a:bodyPr/>
                    <a:lstStyle/>
                    <a:p>
                      <a:pPr algn="ctr"/>
                      <a:r>
                        <a:rPr lang="en-US" sz="2000"/>
                        <a:t>2</a:t>
                      </a:r>
                    </a:p>
                  </a:txBody>
                  <a:tcPr/>
                </a:tc>
                <a:tc>
                  <a:txBody>
                    <a:bodyPr/>
                    <a:lstStyle/>
                    <a:p>
                      <a:pPr algn="ctr"/>
                      <a:r>
                        <a:rPr lang="en-US" sz="2000"/>
                        <a:t>–32.768 … +32.767</a:t>
                      </a:r>
                    </a:p>
                  </a:txBody>
                  <a:tcPr/>
                </a:tc>
                <a:extLst>
                  <a:ext uri="{0D108BD9-81ED-4DB2-BD59-A6C34878D82A}">
                    <a16:rowId xmlns:a16="http://schemas.microsoft.com/office/drawing/2014/main" val="10002"/>
                  </a:ext>
                </a:extLst>
              </a:tr>
              <a:tr h="528174">
                <a:tc>
                  <a:txBody>
                    <a:bodyPr/>
                    <a:lstStyle/>
                    <a:p>
                      <a:r>
                        <a:rPr lang="en-US" sz="2000">
                          <a:solidFill>
                            <a:srgbClr val="FF0000"/>
                          </a:solidFill>
                        </a:rPr>
                        <a:t>short</a:t>
                      </a:r>
                    </a:p>
                  </a:txBody>
                  <a:tcPr/>
                </a:tc>
                <a:tc>
                  <a:txBody>
                    <a:bodyPr/>
                    <a:lstStyle/>
                    <a:p>
                      <a:pPr algn="ctr"/>
                      <a:r>
                        <a:rPr lang="en-US" sz="200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a:t>–32.768 … +32.767</a:t>
                      </a:r>
                    </a:p>
                  </a:txBody>
                  <a:tcPr/>
                </a:tc>
                <a:extLst>
                  <a:ext uri="{0D108BD9-81ED-4DB2-BD59-A6C34878D82A}">
                    <a16:rowId xmlns:a16="http://schemas.microsoft.com/office/drawing/2014/main" val="10003"/>
                  </a:ext>
                </a:extLst>
              </a:tr>
              <a:tr h="528174">
                <a:tc>
                  <a:txBody>
                    <a:bodyPr/>
                    <a:lstStyle/>
                    <a:p>
                      <a:r>
                        <a:rPr lang="en-US" sz="2000">
                          <a:solidFill>
                            <a:srgbClr val="FF0000"/>
                          </a:solidFill>
                        </a:rPr>
                        <a:t>long</a:t>
                      </a:r>
                    </a:p>
                  </a:txBody>
                  <a:tcPr/>
                </a:tc>
                <a:tc>
                  <a:txBody>
                    <a:bodyPr/>
                    <a:lstStyle/>
                    <a:p>
                      <a:pPr algn="ctr"/>
                      <a:r>
                        <a:rPr lang="en-US" sz="2000"/>
                        <a:t>4</a:t>
                      </a:r>
                    </a:p>
                  </a:txBody>
                  <a:tcPr/>
                </a:tc>
                <a:tc>
                  <a:txBody>
                    <a:bodyPr/>
                    <a:lstStyle/>
                    <a:p>
                      <a:pPr algn="ctr"/>
                      <a:r>
                        <a:rPr lang="en-US" sz="2000"/>
                        <a:t>–2.147.483.648 … +2.147.483.647</a:t>
                      </a:r>
                    </a:p>
                  </a:txBody>
                  <a:tcPr/>
                </a:tc>
                <a:extLst>
                  <a:ext uri="{0D108BD9-81ED-4DB2-BD59-A6C34878D82A}">
                    <a16:rowId xmlns:a16="http://schemas.microsoft.com/office/drawing/2014/main" val="10004"/>
                  </a:ext>
                </a:extLst>
              </a:tr>
            </a:tbl>
          </a:graphicData>
        </a:graphic>
      </p:graphicFrame>
      <p:sp>
        <p:nvSpPr>
          <p:cNvPr id="2" name="Date Placeholder 1"/>
          <p:cNvSpPr>
            <a:spLocks noGrp="1"/>
          </p:cNvSpPr>
          <p:nvPr>
            <p:ph type="dt" sz="half" idx="10"/>
          </p:nvPr>
        </p:nvSpPr>
        <p:spPr/>
        <p:txBody>
          <a:bodyPr/>
          <a:lstStyle/>
          <a:p>
            <a:fld id="{C40E90D3-1230-44C3-A8CA-018B216AB69E}" type="datetime1">
              <a:rPr lang="vi-VN" smtClean="0"/>
              <a:t>14/01/2024</a:t>
            </a:fld>
            <a:endParaRPr lang="vi-VN"/>
          </a:p>
        </p:txBody>
      </p:sp>
      <p:sp>
        <p:nvSpPr>
          <p:cNvPr id="9" name="Slide Number Placeholder 8"/>
          <p:cNvSpPr>
            <a:spLocks noGrp="1"/>
          </p:cNvSpPr>
          <p:nvPr>
            <p:ph type="sldNum" sz="quarter" idx="12"/>
          </p:nvPr>
        </p:nvSpPr>
        <p:spPr/>
        <p:txBody>
          <a:bodyPr/>
          <a:lstStyle/>
          <a:p>
            <a:fld id="{5AB95402-1E0D-474E-8D8C-CBE7F053639E}" type="slidenum">
              <a:rPr lang="vi-VN" smtClean="0"/>
              <a:pPr/>
              <a:t>14</a:t>
            </a:fld>
            <a:r>
              <a:rPr lang="vi-VN"/>
              <a:t>/59</a:t>
            </a:r>
          </a:p>
        </p:txBody>
      </p:sp>
    </p:spTree>
    <p:extLst>
      <p:ext uri="{BB962C8B-B14F-4D97-AF65-F5344CB8AC3E}">
        <p14:creationId xmlns:p14="http://schemas.microsoft.com/office/powerpoint/2010/main" val="2064089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Kiểu số nguyên (tt)</a:t>
            </a:r>
          </a:p>
        </p:txBody>
      </p:sp>
      <p:sp>
        <p:nvSpPr>
          <p:cNvPr id="3" name="Content Placeholder 2"/>
          <p:cNvSpPr>
            <a:spLocks noGrp="1"/>
          </p:cNvSpPr>
          <p:nvPr>
            <p:ph idx="1"/>
          </p:nvPr>
        </p:nvSpPr>
        <p:spPr/>
        <p:txBody>
          <a:bodyPr/>
          <a:lstStyle/>
          <a:p>
            <a:pPr>
              <a:defRPr/>
            </a:pPr>
            <a:r>
              <a:rPr lang="en-US" dirty="0" err="1"/>
              <a:t>Các</a:t>
            </a:r>
            <a:r>
              <a:rPr lang="en-US" dirty="0"/>
              <a:t> </a:t>
            </a:r>
            <a:r>
              <a:rPr lang="en-US" dirty="0" err="1"/>
              <a:t>kiểu</a:t>
            </a:r>
            <a:r>
              <a:rPr lang="en-US" dirty="0"/>
              <a:t> </a:t>
            </a:r>
            <a:r>
              <a:rPr lang="en-US" dirty="0" err="1"/>
              <a:t>số</a:t>
            </a:r>
            <a:r>
              <a:rPr lang="en-US" dirty="0"/>
              <a:t> </a:t>
            </a:r>
            <a:r>
              <a:rPr lang="en-US" dirty="0" err="1"/>
              <a:t>nguyên</a:t>
            </a:r>
            <a:r>
              <a:rPr lang="en-US" dirty="0"/>
              <a:t> (</a:t>
            </a:r>
            <a:r>
              <a:rPr lang="en-US" dirty="0" err="1"/>
              <a:t>không</a:t>
            </a:r>
            <a:r>
              <a:rPr lang="en-US" dirty="0"/>
              <a:t> </a:t>
            </a:r>
            <a:r>
              <a:rPr lang="en-US" dirty="0" err="1"/>
              <a:t>dấu</a:t>
            </a:r>
            <a:r>
              <a:rPr lang="en-US" dirty="0"/>
              <a:t>)</a:t>
            </a:r>
          </a:p>
          <a:p>
            <a:pPr lvl="1">
              <a:defRPr/>
            </a:pPr>
            <a:r>
              <a:rPr lang="en-US" dirty="0"/>
              <a:t>n bit </a:t>
            </a:r>
            <a:r>
              <a:rPr lang="en-US" dirty="0" err="1"/>
              <a:t>không</a:t>
            </a:r>
            <a:r>
              <a:rPr lang="en-US" dirty="0"/>
              <a:t> </a:t>
            </a:r>
            <a:r>
              <a:rPr lang="en-US" dirty="0" err="1"/>
              <a:t>dấu</a:t>
            </a:r>
            <a:r>
              <a:rPr lang="en-US" dirty="0"/>
              <a:t>: 0 … 2</a:t>
            </a:r>
            <a:r>
              <a:rPr lang="en-US" baseline="30000" dirty="0"/>
              <a:t>n</a:t>
            </a:r>
            <a:r>
              <a:rPr lang="en-US" dirty="0"/>
              <a:t> – 1</a:t>
            </a:r>
          </a:p>
        </p:txBody>
      </p:sp>
      <p:sp>
        <p:nvSpPr>
          <p:cNvPr id="19460" name="Footer Placeholder 3"/>
          <p:cNvSpPr>
            <a:spLocks noGrp="1"/>
          </p:cNvSpPr>
          <p:nvPr>
            <p:ph type="ftr" sz="quarter" idx="11"/>
          </p:nvPr>
        </p:nvSpPr>
        <p:spPr>
          <a:noFill/>
        </p:spPr>
        <p:txBody>
          <a:bodyPr/>
          <a:lstStyle/>
          <a:p>
            <a:r>
              <a:rPr lang="vi-VN"/>
              <a:t>Chương 2 - Các phần tử cơ bản của ngôn ngữ C</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490707075"/>
              </p:ext>
            </p:extLst>
          </p:nvPr>
        </p:nvGraphicFramePr>
        <p:xfrm>
          <a:off x="1547664" y="2564904"/>
          <a:ext cx="6768752" cy="2952328"/>
        </p:xfrm>
        <a:graphic>
          <a:graphicData uri="http://schemas.openxmlformats.org/drawingml/2006/table">
            <a:tbl>
              <a:tblPr firstRow="1" bandRow="1">
                <a:tableStyleId>{0E3FDE45-AF77-4B5C-9715-49D594BDF05E}</a:tableStyleId>
              </a:tblPr>
              <a:tblGrid>
                <a:gridCol w="2414330">
                  <a:extLst>
                    <a:ext uri="{9D8B030D-6E8A-4147-A177-3AD203B41FA5}">
                      <a16:colId xmlns:a16="http://schemas.microsoft.com/office/drawing/2014/main" val="20000"/>
                    </a:ext>
                  </a:extLst>
                </a:gridCol>
                <a:gridCol w="1333692">
                  <a:extLst>
                    <a:ext uri="{9D8B030D-6E8A-4147-A177-3AD203B41FA5}">
                      <a16:colId xmlns:a16="http://schemas.microsoft.com/office/drawing/2014/main" val="20001"/>
                    </a:ext>
                  </a:extLst>
                </a:gridCol>
                <a:gridCol w="3020730">
                  <a:extLst>
                    <a:ext uri="{9D8B030D-6E8A-4147-A177-3AD203B41FA5}">
                      <a16:colId xmlns:a16="http://schemas.microsoft.com/office/drawing/2014/main" val="20002"/>
                    </a:ext>
                  </a:extLst>
                </a:gridCol>
              </a:tblGrid>
              <a:tr h="889936">
                <a:tc>
                  <a:txBody>
                    <a:bodyPr/>
                    <a:lstStyle/>
                    <a:p>
                      <a:pPr algn="ctr"/>
                      <a:r>
                        <a:rPr lang="en-US" sz="2000"/>
                        <a:t>Kiểu</a:t>
                      </a:r>
                    </a:p>
                    <a:p>
                      <a:pPr algn="ctr"/>
                      <a:r>
                        <a:rPr lang="en-US" sz="2000"/>
                        <a:t>(Type)</a:t>
                      </a:r>
                    </a:p>
                  </a:txBody>
                  <a:tcPr/>
                </a:tc>
                <a:tc>
                  <a:txBody>
                    <a:bodyPr/>
                    <a:lstStyle/>
                    <a:p>
                      <a:pPr algn="ctr"/>
                      <a:r>
                        <a:rPr lang="en-US" sz="2000"/>
                        <a:t>Độ lớn</a:t>
                      </a:r>
                    </a:p>
                    <a:p>
                      <a:pPr algn="ctr"/>
                      <a:r>
                        <a:rPr lang="en-US" sz="2000"/>
                        <a:t>(Byte)</a:t>
                      </a:r>
                    </a:p>
                  </a:txBody>
                  <a:tcPr/>
                </a:tc>
                <a:tc>
                  <a:txBody>
                    <a:bodyPr/>
                    <a:lstStyle/>
                    <a:p>
                      <a:pPr algn="ctr"/>
                      <a:r>
                        <a:rPr lang="en-US" sz="2000"/>
                        <a:t>Miền giá trị</a:t>
                      </a:r>
                    </a:p>
                    <a:p>
                      <a:pPr algn="ctr"/>
                      <a:r>
                        <a:rPr lang="en-US" sz="2000"/>
                        <a:t>(Range)</a:t>
                      </a:r>
                    </a:p>
                  </a:txBody>
                  <a:tcPr/>
                </a:tc>
                <a:extLst>
                  <a:ext uri="{0D108BD9-81ED-4DB2-BD59-A6C34878D82A}">
                    <a16:rowId xmlns:a16="http://schemas.microsoft.com/office/drawing/2014/main" val="10000"/>
                  </a:ext>
                </a:extLst>
              </a:tr>
              <a:tr h="515598">
                <a:tc>
                  <a:txBody>
                    <a:bodyPr/>
                    <a:lstStyle/>
                    <a:p>
                      <a:r>
                        <a:rPr lang="en-US" sz="2000" dirty="0">
                          <a:solidFill>
                            <a:srgbClr val="FF0000"/>
                          </a:solidFill>
                        </a:rPr>
                        <a:t>unsigned char</a:t>
                      </a:r>
                    </a:p>
                  </a:txBody>
                  <a:tcPr/>
                </a:tc>
                <a:tc>
                  <a:txBody>
                    <a:bodyPr/>
                    <a:lstStyle/>
                    <a:p>
                      <a:pPr algn="ctr"/>
                      <a:r>
                        <a:rPr lang="en-US" sz="2000"/>
                        <a:t>1</a:t>
                      </a:r>
                    </a:p>
                  </a:txBody>
                  <a:tcPr/>
                </a:tc>
                <a:tc>
                  <a:txBody>
                    <a:bodyPr/>
                    <a:lstStyle/>
                    <a:p>
                      <a:pPr marL="0" indent="263525" algn="l"/>
                      <a:r>
                        <a:rPr lang="en-US" sz="2000"/>
                        <a:t>0 … 255</a:t>
                      </a:r>
                    </a:p>
                  </a:txBody>
                  <a:tcPr/>
                </a:tc>
                <a:extLst>
                  <a:ext uri="{0D108BD9-81ED-4DB2-BD59-A6C34878D82A}">
                    <a16:rowId xmlns:a16="http://schemas.microsoft.com/office/drawing/2014/main" val="10001"/>
                  </a:ext>
                </a:extLst>
              </a:tr>
              <a:tr h="515598">
                <a:tc>
                  <a:txBody>
                    <a:bodyPr/>
                    <a:lstStyle/>
                    <a:p>
                      <a:r>
                        <a:rPr lang="en-US" sz="2000">
                          <a:solidFill>
                            <a:srgbClr val="FF0000"/>
                          </a:solidFill>
                        </a:rPr>
                        <a:t>unsigned int</a:t>
                      </a:r>
                    </a:p>
                  </a:txBody>
                  <a:tcPr/>
                </a:tc>
                <a:tc>
                  <a:txBody>
                    <a:bodyPr/>
                    <a:lstStyle/>
                    <a:p>
                      <a:pPr algn="ctr"/>
                      <a:r>
                        <a:rPr lang="en-US" sz="2000"/>
                        <a:t>2</a:t>
                      </a:r>
                    </a:p>
                  </a:txBody>
                  <a:tcPr/>
                </a:tc>
                <a:tc>
                  <a:txBody>
                    <a:bodyPr/>
                    <a:lstStyle/>
                    <a:p>
                      <a:pPr marL="0" indent="263525" algn="l"/>
                      <a:r>
                        <a:rPr lang="en-US" sz="2000"/>
                        <a:t>0 … 65.535</a:t>
                      </a:r>
                    </a:p>
                  </a:txBody>
                  <a:tcPr/>
                </a:tc>
                <a:extLst>
                  <a:ext uri="{0D108BD9-81ED-4DB2-BD59-A6C34878D82A}">
                    <a16:rowId xmlns:a16="http://schemas.microsoft.com/office/drawing/2014/main" val="10002"/>
                  </a:ext>
                </a:extLst>
              </a:tr>
              <a:tr h="515598">
                <a:tc>
                  <a:txBody>
                    <a:bodyPr/>
                    <a:lstStyle/>
                    <a:p>
                      <a:r>
                        <a:rPr lang="en-US" sz="2000">
                          <a:solidFill>
                            <a:srgbClr val="FF0000"/>
                          </a:solidFill>
                        </a:rPr>
                        <a:t>unsigned short</a:t>
                      </a:r>
                    </a:p>
                  </a:txBody>
                  <a:tcPr/>
                </a:tc>
                <a:tc>
                  <a:txBody>
                    <a:bodyPr/>
                    <a:lstStyle/>
                    <a:p>
                      <a:pPr algn="ctr"/>
                      <a:r>
                        <a:rPr lang="en-US" sz="2000"/>
                        <a:t>2</a:t>
                      </a:r>
                    </a:p>
                  </a:txBody>
                  <a:tcPr/>
                </a:tc>
                <a:tc>
                  <a:txBody>
                    <a:bodyPr/>
                    <a:lstStyle/>
                    <a:p>
                      <a:pPr marL="0" marR="0" indent="263525" algn="l" defTabSz="914400" rtl="0" eaLnBrk="1" fontAlgn="auto" latinLnBrk="0" hangingPunct="1">
                        <a:lnSpc>
                          <a:spcPct val="100000"/>
                        </a:lnSpc>
                        <a:spcBef>
                          <a:spcPts val="0"/>
                        </a:spcBef>
                        <a:spcAft>
                          <a:spcPts val="0"/>
                        </a:spcAft>
                        <a:buClrTx/>
                        <a:buSzTx/>
                        <a:buFontTx/>
                        <a:buNone/>
                        <a:tabLst/>
                        <a:defRPr/>
                      </a:pPr>
                      <a:r>
                        <a:rPr lang="en-US" sz="2000"/>
                        <a:t>0 … 65.535</a:t>
                      </a:r>
                    </a:p>
                  </a:txBody>
                  <a:tcPr/>
                </a:tc>
                <a:extLst>
                  <a:ext uri="{0D108BD9-81ED-4DB2-BD59-A6C34878D82A}">
                    <a16:rowId xmlns:a16="http://schemas.microsoft.com/office/drawing/2014/main" val="10003"/>
                  </a:ext>
                </a:extLst>
              </a:tr>
              <a:tr h="515598">
                <a:tc>
                  <a:txBody>
                    <a:bodyPr/>
                    <a:lstStyle/>
                    <a:p>
                      <a:r>
                        <a:rPr lang="en-US" sz="2000">
                          <a:solidFill>
                            <a:srgbClr val="FF0000"/>
                          </a:solidFill>
                        </a:rPr>
                        <a:t>unsigned long</a:t>
                      </a:r>
                    </a:p>
                  </a:txBody>
                  <a:tcPr/>
                </a:tc>
                <a:tc>
                  <a:txBody>
                    <a:bodyPr/>
                    <a:lstStyle/>
                    <a:p>
                      <a:pPr algn="ctr"/>
                      <a:r>
                        <a:rPr lang="en-US" sz="2000"/>
                        <a:t>4</a:t>
                      </a:r>
                    </a:p>
                  </a:txBody>
                  <a:tcPr/>
                </a:tc>
                <a:tc>
                  <a:txBody>
                    <a:bodyPr/>
                    <a:lstStyle/>
                    <a:p>
                      <a:pPr marL="0" indent="263525" algn="l"/>
                      <a:r>
                        <a:rPr lang="en-US" sz="2000" dirty="0"/>
                        <a:t>0 … 4.294.967.295</a:t>
                      </a:r>
                    </a:p>
                  </a:txBody>
                  <a:tcPr/>
                </a:tc>
                <a:extLst>
                  <a:ext uri="{0D108BD9-81ED-4DB2-BD59-A6C34878D82A}">
                    <a16:rowId xmlns:a16="http://schemas.microsoft.com/office/drawing/2014/main" val="10004"/>
                  </a:ext>
                </a:extLst>
              </a:tr>
            </a:tbl>
          </a:graphicData>
        </a:graphic>
      </p:graphicFrame>
      <p:sp>
        <p:nvSpPr>
          <p:cNvPr id="2" name="Date Placeholder 1"/>
          <p:cNvSpPr>
            <a:spLocks noGrp="1"/>
          </p:cNvSpPr>
          <p:nvPr>
            <p:ph type="dt" sz="half" idx="10"/>
          </p:nvPr>
        </p:nvSpPr>
        <p:spPr/>
        <p:txBody>
          <a:bodyPr/>
          <a:lstStyle/>
          <a:p>
            <a:fld id="{C5B6301F-5552-4870-B151-8A88160C6AC7}" type="datetime1">
              <a:rPr lang="vi-VN" smtClean="0"/>
              <a:t>14/01/2024</a:t>
            </a:fld>
            <a:endParaRPr lang="vi-VN"/>
          </a:p>
        </p:txBody>
      </p:sp>
      <p:sp>
        <p:nvSpPr>
          <p:cNvPr id="9" name="Slide Number Placeholder 8"/>
          <p:cNvSpPr>
            <a:spLocks noGrp="1"/>
          </p:cNvSpPr>
          <p:nvPr>
            <p:ph type="sldNum" sz="quarter" idx="12"/>
          </p:nvPr>
        </p:nvSpPr>
        <p:spPr/>
        <p:txBody>
          <a:bodyPr/>
          <a:lstStyle/>
          <a:p>
            <a:fld id="{5AB95402-1E0D-474E-8D8C-CBE7F053639E}" type="slidenum">
              <a:rPr lang="vi-VN" smtClean="0"/>
              <a:pPr/>
              <a:t>15</a:t>
            </a:fld>
            <a:r>
              <a:rPr lang="vi-VN"/>
              <a:t>/59</a:t>
            </a:r>
          </a:p>
        </p:txBody>
      </p:sp>
    </p:spTree>
    <p:extLst>
      <p:ext uri="{BB962C8B-B14F-4D97-AF65-F5344CB8AC3E}">
        <p14:creationId xmlns:p14="http://schemas.microsoft.com/office/powerpoint/2010/main" val="3287498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số nguyên (tt)</a:t>
            </a:r>
            <a:endParaRPr lang="vi-VN"/>
          </a:p>
        </p:txBody>
      </p:sp>
      <p:sp>
        <p:nvSpPr>
          <p:cNvPr id="3" name="Content Placeholder 2"/>
          <p:cNvSpPr>
            <a:spLocks noGrp="1"/>
          </p:cNvSpPr>
          <p:nvPr>
            <p:ph idx="1"/>
          </p:nvPr>
        </p:nvSpPr>
        <p:spPr/>
        <p:txBody>
          <a:bodyPr/>
          <a:lstStyle/>
          <a:p>
            <a:r>
              <a:rPr lang="en-US" dirty="0" err="1"/>
              <a:t>Các</a:t>
            </a:r>
            <a:r>
              <a:rPr lang="en-US" dirty="0"/>
              <a:t> </a:t>
            </a:r>
            <a:r>
              <a:rPr lang="en-US" dirty="0" err="1"/>
              <a:t>phép</a:t>
            </a:r>
            <a:r>
              <a:rPr lang="en-US" dirty="0"/>
              <a:t> </a:t>
            </a:r>
            <a:r>
              <a:rPr lang="en-US" dirty="0" err="1"/>
              <a:t>tính</a:t>
            </a:r>
            <a:r>
              <a:rPr lang="en-US" dirty="0"/>
              <a:t> </a:t>
            </a:r>
            <a:r>
              <a:rPr lang="en-US" dirty="0" err="1"/>
              <a:t>số</a:t>
            </a:r>
            <a:r>
              <a:rPr lang="en-US" dirty="0"/>
              <a:t> </a:t>
            </a:r>
            <a:r>
              <a:rPr lang="en-US" dirty="0" err="1"/>
              <a:t>học</a:t>
            </a:r>
            <a:r>
              <a:rPr lang="en-US" dirty="0"/>
              <a:t> </a:t>
            </a:r>
            <a:r>
              <a:rPr lang="en-US" dirty="0" err="1"/>
              <a:t>với</a:t>
            </a:r>
            <a:r>
              <a:rPr lang="en-US" dirty="0"/>
              <a:t> </a:t>
            </a:r>
            <a:r>
              <a:rPr lang="en-US" dirty="0" err="1"/>
              <a:t>số</a:t>
            </a:r>
            <a:r>
              <a:rPr lang="en-US" dirty="0"/>
              <a:t> </a:t>
            </a:r>
            <a:r>
              <a:rPr lang="en-US" dirty="0" err="1"/>
              <a:t>nguyên</a:t>
            </a:r>
            <a:endParaRPr lang="en-US" dirty="0"/>
          </a:p>
          <a:p>
            <a:endParaRPr lang="en-US" dirty="0"/>
          </a:p>
          <a:p>
            <a:endParaRPr lang="en-US" dirty="0"/>
          </a:p>
          <a:p>
            <a:endParaRPr lang="en-US" dirty="0"/>
          </a:p>
          <a:p>
            <a:endParaRPr lang="en-US" dirty="0"/>
          </a:p>
          <a:p>
            <a:endParaRPr lang="en-US" dirty="0"/>
          </a:p>
          <a:p>
            <a:endParaRPr lang="en-US" dirty="0"/>
          </a:p>
          <a:p>
            <a:r>
              <a:rPr lang="en-US" dirty="0" err="1"/>
              <a:t>Chú</a:t>
            </a:r>
            <a:r>
              <a:rPr lang="en-US" dirty="0"/>
              <a:t> ý:</a:t>
            </a:r>
          </a:p>
          <a:p>
            <a:pPr lvl="1"/>
            <a:r>
              <a:rPr lang="en-US" dirty="0"/>
              <a:t>Chia 2 </a:t>
            </a:r>
            <a:r>
              <a:rPr lang="en-US" dirty="0" err="1"/>
              <a:t>số</a:t>
            </a:r>
            <a:r>
              <a:rPr lang="en-US" dirty="0"/>
              <a:t> </a:t>
            </a:r>
            <a:r>
              <a:rPr lang="en-US" dirty="0" err="1"/>
              <a:t>nguyên</a:t>
            </a:r>
            <a:r>
              <a:rPr lang="en-US" dirty="0"/>
              <a:t> </a:t>
            </a:r>
            <a:r>
              <a:rPr lang="en-US" dirty="0" err="1"/>
              <a:t>là</a:t>
            </a:r>
            <a:r>
              <a:rPr lang="en-US" dirty="0"/>
              <a:t> </a:t>
            </a:r>
            <a:r>
              <a:rPr lang="en-US" dirty="0" err="1"/>
              <a:t>số</a:t>
            </a:r>
            <a:r>
              <a:rPr lang="en-US" dirty="0"/>
              <a:t> </a:t>
            </a:r>
            <a:r>
              <a:rPr lang="en-US" dirty="0" err="1"/>
              <a:t>nguyên</a:t>
            </a:r>
            <a:r>
              <a:rPr lang="en-US" dirty="0"/>
              <a:t>, </a:t>
            </a:r>
            <a:r>
              <a:rPr lang="en-US" dirty="0" err="1"/>
              <a:t>muốn</a:t>
            </a:r>
            <a:r>
              <a:rPr lang="en-US" dirty="0"/>
              <a:t> </a:t>
            </a:r>
            <a:r>
              <a:rPr lang="en-US" dirty="0" err="1"/>
              <a:t>là</a:t>
            </a:r>
            <a:r>
              <a:rPr lang="en-US" dirty="0"/>
              <a:t> </a:t>
            </a:r>
            <a:r>
              <a:rPr lang="en-US" dirty="0" err="1"/>
              <a:t>số</a:t>
            </a:r>
            <a:r>
              <a:rPr lang="en-US" dirty="0"/>
              <a:t> </a:t>
            </a:r>
            <a:r>
              <a:rPr lang="en-US" dirty="0" err="1"/>
              <a:t>thực</a:t>
            </a:r>
            <a:r>
              <a:rPr lang="en-US" dirty="0"/>
              <a:t> </a:t>
            </a:r>
            <a:r>
              <a:rPr lang="en-US" dirty="0" err="1"/>
              <a:t>phải</a:t>
            </a:r>
            <a:r>
              <a:rPr lang="en-US" dirty="0"/>
              <a:t> </a:t>
            </a:r>
            <a:r>
              <a:rPr lang="en-US" dirty="0" err="1"/>
              <a:t>viết</a:t>
            </a:r>
            <a:r>
              <a:rPr lang="en-US" dirty="0"/>
              <a:t> </a:t>
            </a:r>
            <a:r>
              <a:rPr lang="en-US" sz="2300" dirty="0">
                <a:solidFill>
                  <a:srgbClr val="FF0000"/>
                </a:solidFill>
                <a:latin typeface="Courier New" pitchFamily="49" charset="0"/>
                <a:cs typeface="Courier New" pitchFamily="49" charset="0"/>
              </a:rPr>
              <a:t>(float)x/y</a:t>
            </a:r>
          </a:p>
          <a:p>
            <a:pPr lvl="1"/>
            <a:r>
              <a:rPr lang="en-US" dirty="0" err="1"/>
              <a:t>Thận</a:t>
            </a:r>
            <a:r>
              <a:rPr lang="en-US" dirty="0"/>
              <a:t> </a:t>
            </a:r>
            <a:r>
              <a:rPr lang="en-US" dirty="0" err="1"/>
              <a:t>trọng</a:t>
            </a:r>
            <a:r>
              <a:rPr lang="en-US" dirty="0"/>
              <a:t> </a:t>
            </a:r>
            <a:r>
              <a:rPr lang="en-US" dirty="0" err="1"/>
              <a:t>tránh</a:t>
            </a:r>
            <a:r>
              <a:rPr lang="en-US" dirty="0"/>
              <a:t> </a:t>
            </a:r>
            <a:r>
              <a:rPr lang="en-US" dirty="0" err="1"/>
              <a:t>hiện</a:t>
            </a:r>
            <a:r>
              <a:rPr lang="en-US" dirty="0"/>
              <a:t> </a:t>
            </a:r>
            <a:r>
              <a:rPr lang="en-US" dirty="0" err="1"/>
              <a:t>tượng</a:t>
            </a:r>
            <a:r>
              <a:rPr lang="en-US" dirty="0"/>
              <a:t> </a:t>
            </a:r>
            <a:r>
              <a:rPr lang="en-US" dirty="0" err="1">
                <a:solidFill>
                  <a:srgbClr val="FF0000"/>
                </a:solidFill>
              </a:rPr>
              <a:t>tràn</a:t>
            </a:r>
            <a:r>
              <a:rPr lang="en-US" dirty="0">
                <a:solidFill>
                  <a:srgbClr val="FF0000"/>
                </a:solidFill>
              </a:rPr>
              <a:t> </a:t>
            </a:r>
            <a:r>
              <a:rPr lang="en-US" dirty="0" err="1">
                <a:solidFill>
                  <a:srgbClr val="FF0000"/>
                </a:solidFill>
              </a:rPr>
              <a:t>số</a:t>
            </a:r>
            <a:endParaRPr lang="vi-VN"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297060098"/>
              </p:ext>
            </p:extLst>
          </p:nvPr>
        </p:nvGraphicFramePr>
        <p:xfrm>
          <a:off x="827584" y="1772816"/>
          <a:ext cx="7776864" cy="2682240"/>
        </p:xfrm>
        <a:graphic>
          <a:graphicData uri="http://schemas.openxmlformats.org/drawingml/2006/table">
            <a:tbl>
              <a:tblPr firstRow="1" bandRow="1">
                <a:tableStyleId>{0E3FDE45-AF77-4B5C-9715-49D594BDF05E}</a:tableStyleId>
              </a:tblPr>
              <a:tblGrid>
                <a:gridCol w="2160240">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3384376">
                  <a:extLst>
                    <a:ext uri="{9D8B030D-6E8A-4147-A177-3AD203B41FA5}">
                      <a16:colId xmlns:a16="http://schemas.microsoft.com/office/drawing/2014/main" val="20003"/>
                    </a:ext>
                  </a:extLst>
                </a:gridCol>
              </a:tblGrid>
              <a:tr h="370840">
                <a:tc>
                  <a:txBody>
                    <a:bodyPr/>
                    <a:lstStyle/>
                    <a:p>
                      <a:pPr algn="ctr"/>
                      <a:r>
                        <a:rPr lang="en-US" sz="2000"/>
                        <a:t>Phép</a:t>
                      </a:r>
                      <a:r>
                        <a:rPr lang="en-US" sz="2000" baseline="0"/>
                        <a:t> toán</a:t>
                      </a:r>
                      <a:endParaRPr lang="en-US" sz="2000"/>
                    </a:p>
                  </a:txBody>
                  <a:tcPr/>
                </a:tc>
                <a:tc>
                  <a:txBody>
                    <a:bodyPr/>
                    <a:lstStyle/>
                    <a:p>
                      <a:pPr algn="ctr"/>
                      <a:r>
                        <a:rPr lang="en-US" sz="2000"/>
                        <a:t>Kí</a:t>
                      </a:r>
                      <a:r>
                        <a:rPr lang="en-US" sz="2000" baseline="0"/>
                        <a:t> hiệu</a:t>
                      </a:r>
                      <a:endParaRPr lang="en-US" sz="2000"/>
                    </a:p>
                  </a:txBody>
                  <a:tcPr/>
                </a:tc>
                <a:tc>
                  <a:txBody>
                    <a:bodyPr/>
                    <a:lstStyle/>
                    <a:p>
                      <a:pPr algn="ctr"/>
                      <a:r>
                        <a:rPr lang="en-US" sz="2000"/>
                        <a:t>Ví</a:t>
                      </a:r>
                      <a:r>
                        <a:rPr lang="en-US" sz="2000" baseline="0"/>
                        <a:t> dụ</a:t>
                      </a:r>
                      <a:endParaRPr lang="en-US" sz="2000"/>
                    </a:p>
                  </a:txBody>
                  <a:tcPr/>
                </a:tc>
                <a:tc>
                  <a:txBody>
                    <a:bodyPr/>
                    <a:lstStyle/>
                    <a:p>
                      <a:pPr algn="ctr"/>
                      <a:r>
                        <a:rPr lang="en-US" sz="2000"/>
                        <a:t>Ví</a:t>
                      </a:r>
                      <a:r>
                        <a:rPr lang="en-US" sz="2000" baseline="0"/>
                        <a:t> dụ bằng số</a:t>
                      </a:r>
                      <a:endParaRPr lang="en-US" sz="2000"/>
                    </a:p>
                  </a:txBody>
                  <a:tcPr/>
                </a:tc>
                <a:extLst>
                  <a:ext uri="{0D108BD9-81ED-4DB2-BD59-A6C34878D82A}">
                    <a16:rowId xmlns:a16="http://schemas.microsoft.com/office/drawing/2014/main" val="10000"/>
                  </a:ext>
                </a:extLst>
              </a:tr>
              <a:tr h="370840">
                <a:tc>
                  <a:txBody>
                    <a:bodyPr/>
                    <a:lstStyle/>
                    <a:p>
                      <a:r>
                        <a:rPr lang="en-US" sz="2000">
                          <a:solidFill>
                            <a:srgbClr val="FF0000"/>
                          </a:solidFill>
                        </a:rPr>
                        <a:t>Cộng</a:t>
                      </a:r>
                    </a:p>
                  </a:txBody>
                  <a:tcPr/>
                </a:tc>
                <a:tc>
                  <a:txBody>
                    <a:bodyPr/>
                    <a:lstStyle/>
                    <a:p>
                      <a:pPr algn="ctr"/>
                      <a:r>
                        <a:rPr lang="en-US" sz="2000"/>
                        <a:t>+</a:t>
                      </a:r>
                    </a:p>
                  </a:txBody>
                  <a:tcPr/>
                </a:tc>
                <a:tc>
                  <a:txBody>
                    <a:bodyPr/>
                    <a:lstStyle/>
                    <a:p>
                      <a:pPr algn="ctr"/>
                      <a:r>
                        <a:rPr lang="en-US" sz="2000"/>
                        <a:t>x+y</a:t>
                      </a:r>
                    </a:p>
                  </a:txBody>
                  <a:tcPr/>
                </a:tc>
                <a:tc>
                  <a:txBody>
                    <a:bodyPr/>
                    <a:lstStyle/>
                    <a:p>
                      <a:pPr algn="r"/>
                      <a:endParaRPr lang="en-US" sz="2000"/>
                    </a:p>
                  </a:txBody>
                  <a:tcPr/>
                </a:tc>
                <a:extLst>
                  <a:ext uri="{0D108BD9-81ED-4DB2-BD59-A6C34878D82A}">
                    <a16:rowId xmlns:a16="http://schemas.microsoft.com/office/drawing/2014/main" val="10001"/>
                  </a:ext>
                </a:extLst>
              </a:tr>
              <a:tr h="370840">
                <a:tc>
                  <a:txBody>
                    <a:bodyPr/>
                    <a:lstStyle/>
                    <a:p>
                      <a:r>
                        <a:rPr lang="en-US" sz="2000">
                          <a:solidFill>
                            <a:srgbClr val="FF0000"/>
                          </a:solidFill>
                        </a:rPr>
                        <a:t>Trừ</a:t>
                      </a:r>
                    </a:p>
                  </a:txBody>
                  <a:tcPr/>
                </a:tc>
                <a:tc>
                  <a:txBody>
                    <a:bodyPr/>
                    <a:lstStyle/>
                    <a:p>
                      <a:pPr algn="ctr"/>
                      <a:r>
                        <a:rPr lang="en-US" sz="2000"/>
                        <a:t>-</a:t>
                      </a:r>
                    </a:p>
                  </a:txBody>
                  <a:tcPr/>
                </a:tc>
                <a:tc>
                  <a:txBody>
                    <a:bodyPr/>
                    <a:lstStyle/>
                    <a:p>
                      <a:pPr algn="ctr"/>
                      <a:r>
                        <a:rPr lang="en-US" sz="2000"/>
                        <a:t>x-y</a:t>
                      </a:r>
                    </a:p>
                  </a:txBody>
                  <a:tcPr/>
                </a:tc>
                <a:tc>
                  <a:txBody>
                    <a:bodyPr/>
                    <a:lstStyle/>
                    <a:p>
                      <a:pPr algn="r"/>
                      <a:endParaRPr lang="en-US" sz="2000"/>
                    </a:p>
                  </a:txBody>
                  <a:tcPr/>
                </a:tc>
                <a:extLst>
                  <a:ext uri="{0D108BD9-81ED-4DB2-BD59-A6C34878D82A}">
                    <a16:rowId xmlns:a16="http://schemas.microsoft.com/office/drawing/2014/main" val="10002"/>
                  </a:ext>
                </a:extLst>
              </a:tr>
              <a:tr h="370840">
                <a:tc>
                  <a:txBody>
                    <a:bodyPr/>
                    <a:lstStyle/>
                    <a:p>
                      <a:r>
                        <a:rPr lang="en-US" sz="2000">
                          <a:solidFill>
                            <a:srgbClr val="FF0000"/>
                          </a:solidFill>
                        </a:rPr>
                        <a:t>Nhân</a:t>
                      </a:r>
                    </a:p>
                  </a:txBody>
                  <a:tcPr/>
                </a:tc>
                <a:tc>
                  <a:txBody>
                    <a:bodyPr/>
                    <a:lstStyle/>
                    <a:p>
                      <a:pPr algn="ctr"/>
                      <a:r>
                        <a:rPr lang="en-US" sz="200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a:t>x*y</a:t>
                      </a:r>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2000"/>
                    </a:p>
                  </a:txBody>
                  <a:tcPr/>
                </a:tc>
                <a:extLst>
                  <a:ext uri="{0D108BD9-81ED-4DB2-BD59-A6C34878D82A}">
                    <a16:rowId xmlns:a16="http://schemas.microsoft.com/office/drawing/2014/main" val="10003"/>
                  </a:ext>
                </a:extLst>
              </a:tr>
              <a:tr h="370840">
                <a:tc>
                  <a:txBody>
                    <a:bodyPr/>
                    <a:lstStyle/>
                    <a:p>
                      <a:r>
                        <a:rPr lang="en-US" sz="2000">
                          <a:solidFill>
                            <a:srgbClr val="FF0000"/>
                          </a:solidFill>
                        </a:rPr>
                        <a:t>Chia lấy</a:t>
                      </a:r>
                      <a:r>
                        <a:rPr lang="en-US" sz="2000" baseline="0">
                          <a:solidFill>
                            <a:srgbClr val="FF0000"/>
                          </a:solidFill>
                        </a:rPr>
                        <a:t> phần nguyên</a:t>
                      </a:r>
                      <a:endParaRPr lang="en-US" sz="2000">
                        <a:solidFill>
                          <a:srgbClr val="FF0000"/>
                        </a:solidFill>
                      </a:endParaRPr>
                    </a:p>
                  </a:txBody>
                  <a:tcPr/>
                </a:tc>
                <a:tc>
                  <a:txBody>
                    <a:bodyPr/>
                    <a:lstStyle/>
                    <a:p>
                      <a:pPr algn="ctr"/>
                      <a:r>
                        <a:rPr lang="en-US" sz="2000"/>
                        <a:t>/</a:t>
                      </a:r>
                    </a:p>
                  </a:txBody>
                  <a:tcPr/>
                </a:tc>
                <a:tc>
                  <a:txBody>
                    <a:bodyPr/>
                    <a:lstStyle/>
                    <a:p>
                      <a:pPr algn="ctr"/>
                      <a:r>
                        <a:rPr lang="en-US" sz="2000"/>
                        <a:t>x/y</a:t>
                      </a:r>
                    </a:p>
                  </a:txBody>
                  <a:tcPr/>
                </a:tc>
                <a:tc>
                  <a:txBody>
                    <a:bodyPr/>
                    <a:lstStyle/>
                    <a:p>
                      <a:pPr algn="l"/>
                      <a:r>
                        <a:rPr lang="en-US" sz="2000"/>
                        <a:t>3/2=1 chứ</a:t>
                      </a:r>
                      <a:r>
                        <a:rPr lang="en-US" sz="2000" baseline="0"/>
                        <a:t> không phải là 1.5</a:t>
                      </a:r>
                      <a:endParaRPr lang="en-US" sz="2000"/>
                    </a:p>
                  </a:txBody>
                  <a:tcPr/>
                </a:tc>
                <a:extLst>
                  <a:ext uri="{0D108BD9-81ED-4DB2-BD59-A6C34878D82A}">
                    <a16:rowId xmlns:a16="http://schemas.microsoft.com/office/drawing/2014/main" val="10004"/>
                  </a:ext>
                </a:extLst>
              </a:tr>
              <a:tr h="370840">
                <a:tc>
                  <a:txBody>
                    <a:bodyPr/>
                    <a:lstStyle/>
                    <a:p>
                      <a:r>
                        <a:rPr lang="en-US" sz="2000">
                          <a:solidFill>
                            <a:srgbClr val="FF0000"/>
                          </a:solidFill>
                        </a:rPr>
                        <a:t>Chia</a:t>
                      </a:r>
                      <a:r>
                        <a:rPr lang="en-US" sz="2000" baseline="0">
                          <a:solidFill>
                            <a:srgbClr val="FF0000"/>
                          </a:solidFill>
                        </a:rPr>
                        <a:t> lấy số dư</a:t>
                      </a:r>
                      <a:endParaRPr lang="en-US" sz="2000">
                        <a:solidFill>
                          <a:srgbClr val="FF0000"/>
                        </a:solidFill>
                      </a:endParaRPr>
                    </a:p>
                  </a:txBody>
                  <a:tcPr/>
                </a:tc>
                <a:tc>
                  <a:txBody>
                    <a:bodyPr/>
                    <a:lstStyle/>
                    <a:p>
                      <a:pPr algn="ctr"/>
                      <a:r>
                        <a:rPr lang="en-US" sz="2000"/>
                        <a:t>%</a:t>
                      </a:r>
                    </a:p>
                  </a:txBody>
                  <a:tcPr/>
                </a:tc>
                <a:tc>
                  <a:txBody>
                    <a:bodyPr/>
                    <a:lstStyle/>
                    <a:p>
                      <a:pPr algn="ctr"/>
                      <a:r>
                        <a:rPr lang="en-US" sz="2000"/>
                        <a:t>x%y</a:t>
                      </a:r>
                    </a:p>
                  </a:txBody>
                  <a:tcPr/>
                </a:tc>
                <a:tc>
                  <a:txBody>
                    <a:bodyPr/>
                    <a:lstStyle/>
                    <a:p>
                      <a:pPr algn="l"/>
                      <a:r>
                        <a:rPr lang="en-US" sz="2000"/>
                        <a:t>5%3 = 2</a:t>
                      </a:r>
                    </a:p>
                  </a:txBody>
                  <a:tcPr/>
                </a:tc>
                <a:extLst>
                  <a:ext uri="{0D108BD9-81ED-4DB2-BD59-A6C34878D82A}">
                    <a16:rowId xmlns:a16="http://schemas.microsoft.com/office/drawing/2014/main" val="10005"/>
                  </a:ext>
                </a:extLst>
              </a:tr>
            </a:tbl>
          </a:graphicData>
        </a:graphic>
      </p:graphicFrame>
      <p:sp>
        <p:nvSpPr>
          <p:cNvPr id="5" name="Date Placeholder 4"/>
          <p:cNvSpPr>
            <a:spLocks noGrp="1"/>
          </p:cNvSpPr>
          <p:nvPr>
            <p:ph type="dt" sz="half" idx="10"/>
          </p:nvPr>
        </p:nvSpPr>
        <p:spPr/>
        <p:txBody>
          <a:bodyPr/>
          <a:lstStyle/>
          <a:p>
            <a:fld id="{998536A7-78C8-4194-A690-7917FC72E089}" type="datetime1">
              <a:rPr lang="vi-VN" smtClean="0"/>
              <a:t>14/01/2024</a:t>
            </a:fld>
            <a:endParaRPr lang="vi-VN"/>
          </a:p>
        </p:txBody>
      </p:sp>
      <p:sp>
        <p:nvSpPr>
          <p:cNvPr id="6" name="Footer Placeholder 5"/>
          <p:cNvSpPr>
            <a:spLocks noGrp="1"/>
          </p:cNvSpPr>
          <p:nvPr>
            <p:ph type="ftr" sz="quarter" idx="11"/>
          </p:nvPr>
        </p:nvSpPr>
        <p:spPr/>
        <p:txBody>
          <a:bodyPr/>
          <a:lstStyle/>
          <a:p>
            <a:r>
              <a:rPr lang="vi-VN"/>
              <a:t>Chương 2 - Các phần tử cơ bản của ngôn ngữ C</a:t>
            </a:r>
          </a:p>
        </p:txBody>
      </p:sp>
      <p:sp>
        <p:nvSpPr>
          <p:cNvPr id="11" name="Slide Number Placeholder 10"/>
          <p:cNvSpPr>
            <a:spLocks noGrp="1"/>
          </p:cNvSpPr>
          <p:nvPr>
            <p:ph type="sldNum" sz="quarter" idx="12"/>
          </p:nvPr>
        </p:nvSpPr>
        <p:spPr/>
        <p:txBody>
          <a:bodyPr/>
          <a:lstStyle/>
          <a:p>
            <a:fld id="{5AB95402-1E0D-474E-8D8C-CBE7F053639E}" type="slidenum">
              <a:rPr lang="vi-VN" smtClean="0"/>
              <a:pPr/>
              <a:t>16</a:t>
            </a:fld>
            <a:r>
              <a:rPr lang="vi-VN"/>
              <a:t>/59</a:t>
            </a:r>
          </a:p>
        </p:txBody>
      </p:sp>
    </p:spTree>
    <p:extLst>
      <p:ext uri="{BB962C8B-B14F-4D97-AF65-F5344CB8AC3E}">
        <p14:creationId xmlns:p14="http://schemas.microsoft.com/office/powerpoint/2010/main" val="300398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left)">
                                      <p:cBhvr>
                                        <p:cTn id="7" dur="500"/>
                                        <p:tgtEl>
                                          <p:spTgt spid="3">
                                            <p:txEl>
                                              <p:pRg st="7" end="7"/>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Effect transition="in" filter="wipe(left)">
                                      <p:cBhvr>
                                        <p:cTn id="11" dur="500"/>
                                        <p:tgtEl>
                                          <p:spTgt spid="3">
                                            <p:txEl>
                                              <p:pRg st="8" end="8"/>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Effect transition="in" filter="wipe(left)">
                                      <p:cBhvr>
                                        <p:cTn id="1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số nguyên (tt)</a:t>
            </a:r>
            <a:endParaRPr lang="vi-VN"/>
          </a:p>
        </p:txBody>
      </p:sp>
      <p:sp>
        <p:nvSpPr>
          <p:cNvPr id="3" name="Content Placeholder 2"/>
          <p:cNvSpPr>
            <a:spLocks noGrp="1"/>
          </p:cNvSpPr>
          <p:nvPr>
            <p:ph idx="1"/>
          </p:nvPr>
        </p:nvSpPr>
        <p:spPr/>
        <p:txBody>
          <a:bodyPr/>
          <a:lstStyle/>
          <a:p>
            <a:r>
              <a:rPr lang="en-US"/>
              <a:t>Biểu diễn số nguyên dạng hệ đếm 16 (Hexa)</a:t>
            </a:r>
          </a:p>
          <a:p>
            <a:pPr lvl="1"/>
            <a:r>
              <a:rPr lang="en-US"/>
              <a:t>Bắt đầu bằng kí tự </a:t>
            </a:r>
            <a:r>
              <a:rPr lang="en-US">
                <a:solidFill>
                  <a:srgbClr val="FF0000"/>
                </a:solidFill>
                <a:latin typeface="Courier New" pitchFamily="49" charset="0"/>
                <a:cs typeface="Courier New" pitchFamily="49" charset="0"/>
              </a:rPr>
              <a:t>0x</a:t>
            </a:r>
            <a:r>
              <a:rPr lang="en-US"/>
              <a:t> hoặc </a:t>
            </a:r>
            <a:r>
              <a:rPr lang="en-US">
                <a:solidFill>
                  <a:srgbClr val="FF0000"/>
                </a:solidFill>
                <a:latin typeface="Courier New" pitchFamily="49" charset="0"/>
                <a:cs typeface="Courier New" pitchFamily="49" charset="0"/>
              </a:rPr>
              <a:t>0X</a:t>
            </a:r>
          </a:p>
          <a:p>
            <a:pPr lvl="1"/>
            <a:r>
              <a:rPr lang="en-US"/>
              <a:t>Ví dụ:  </a:t>
            </a:r>
            <a:r>
              <a:rPr lang="en-US">
                <a:latin typeface="Courier New" pitchFamily="49" charset="0"/>
                <a:cs typeface="Courier New" pitchFamily="49" charset="0"/>
              </a:rPr>
              <a:t>65</a:t>
            </a:r>
            <a:r>
              <a:rPr lang="en-US"/>
              <a:t> được viết là </a:t>
            </a:r>
            <a:r>
              <a:rPr lang="en-US">
                <a:solidFill>
                  <a:srgbClr val="FF0000"/>
                </a:solidFill>
                <a:latin typeface="Courier New" pitchFamily="49" charset="0"/>
                <a:cs typeface="Courier New" pitchFamily="49" charset="0"/>
              </a:rPr>
              <a:t>0x</a:t>
            </a:r>
            <a:r>
              <a:rPr lang="en-US">
                <a:latin typeface="Courier New" pitchFamily="49" charset="0"/>
                <a:cs typeface="Courier New" pitchFamily="49" charset="0"/>
              </a:rPr>
              <a:t>41</a:t>
            </a:r>
            <a:r>
              <a:rPr lang="en-US"/>
              <a:t> hoặc </a:t>
            </a:r>
            <a:r>
              <a:rPr lang="en-US">
                <a:solidFill>
                  <a:srgbClr val="FF0000"/>
                </a:solidFill>
                <a:latin typeface="Courier New" pitchFamily="49" charset="0"/>
                <a:cs typeface="Courier New" pitchFamily="49" charset="0"/>
              </a:rPr>
              <a:t>0X</a:t>
            </a:r>
            <a:r>
              <a:rPr lang="en-US">
                <a:latin typeface="Courier New" pitchFamily="49" charset="0"/>
                <a:cs typeface="Courier New" pitchFamily="49" charset="0"/>
              </a:rPr>
              <a:t>41</a:t>
            </a:r>
          </a:p>
          <a:p>
            <a:pPr marL="471487" lvl="1" indent="0">
              <a:buNone/>
            </a:pPr>
            <a:r>
              <a:rPr lang="en-US"/>
              <a:t>		</a:t>
            </a:r>
            <a:r>
              <a:rPr lang="en-US">
                <a:latin typeface="Courier New" pitchFamily="49" charset="0"/>
                <a:cs typeface="Courier New" pitchFamily="49" charset="0"/>
              </a:rPr>
              <a:t>15</a:t>
            </a:r>
            <a:r>
              <a:rPr lang="en-US"/>
              <a:t> được viết là </a:t>
            </a:r>
            <a:r>
              <a:rPr lang="en-US">
                <a:solidFill>
                  <a:srgbClr val="FF0000"/>
                </a:solidFill>
                <a:latin typeface="Courier New" pitchFamily="49" charset="0"/>
                <a:cs typeface="Courier New" pitchFamily="49" charset="0"/>
              </a:rPr>
              <a:t>0x</a:t>
            </a:r>
            <a:r>
              <a:rPr lang="en-US">
                <a:latin typeface="Courier New" pitchFamily="49" charset="0"/>
                <a:cs typeface="Courier New" pitchFamily="49" charset="0"/>
              </a:rPr>
              <a:t>F</a:t>
            </a:r>
            <a:r>
              <a:rPr lang="en-US"/>
              <a:t> hoặc </a:t>
            </a:r>
            <a:r>
              <a:rPr lang="en-US">
                <a:solidFill>
                  <a:srgbClr val="FF0000"/>
                </a:solidFill>
                <a:latin typeface="Courier New" pitchFamily="49" charset="0"/>
                <a:cs typeface="Courier New" pitchFamily="49" charset="0"/>
              </a:rPr>
              <a:t>0X</a:t>
            </a:r>
            <a:r>
              <a:rPr lang="en-US">
                <a:latin typeface="Courier New" pitchFamily="49" charset="0"/>
                <a:cs typeface="Courier New" pitchFamily="49" charset="0"/>
              </a:rPr>
              <a:t>F</a:t>
            </a:r>
          </a:p>
          <a:p>
            <a:r>
              <a:rPr lang="en-US"/>
              <a:t>Biểu diễn số nguyên dạng hệ đếm 8 (Octa)</a:t>
            </a:r>
          </a:p>
          <a:p>
            <a:pPr lvl="1"/>
            <a:r>
              <a:rPr lang="en-US"/>
              <a:t>Bắt đầu bằng kí tự </a:t>
            </a:r>
            <a:r>
              <a:rPr lang="en-US">
                <a:solidFill>
                  <a:srgbClr val="FF0000"/>
                </a:solidFill>
                <a:latin typeface="Courier New" pitchFamily="49" charset="0"/>
                <a:cs typeface="Courier New" pitchFamily="49" charset="0"/>
              </a:rPr>
              <a:t>0</a:t>
            </a:r>
          </a:p>
          <a:p>
            <a:pPr lvl="1"/>
            <a:r>
              <a:rPr lang="en-US"/>
              <a:t>Ví dụ:  </a:t>
            </a:r>
            <a:r>
              <a:rPr lang="en-US">
                <a:latin typeface="Courier New" pitchFamily="49" charset="0"/>
                <a:cs typeface="Courier New" pitchFamily="49" charset="0"/>
              </a:rPr>
              <a:t>65</a:t>
            </a:r>
            <a:r>
              <a:rPr lang="en-US"/>
              <a:t> được viết là </a:t>
            </a:r>
            <a:r>
              <a:rPr lang="en-US">
                <a:solidFill>
                  <a:srgbClr val="FF0000"/>
                </a:solidFill>
                <a:latin typeface="Courier New" pitchFamily="49" charset="0"/>
                <a:cs typeface="Courier New" pitchFamily="49" charset="0"/>
              </a:rPr>
              <a:t>0</a:t>
            </a:r>
            <a:r>
              <a:rPr lang="en-US">
                <a:latin typeface="Courier New" pitchFamily="49" charset="0"/>
                <a:cs typeface="Courier New" pitchFamily="49" charset="0"/>
              </a:rPr>
              <a:t>101</a:t>
            </a:r>
          </a:p>
          <a:p>
            <a:pPr marL="471487" lvl="1" indent="0">
              <a:buNone/>
            </a:pPr>
            <a:r>
              <a:rPr lang="en-US"/>
              <a:t>		</a:t>
            </a:r>
            <a:r>
              <a:rPr lang="en-US">
                <a:latin typeface="Courier New" pitchFamily="49" charset="0"/>
                <a:cs typeface="Courier New" pitchFamily="49" charset="0"/>
              </a:rPr>
              <a:t>15</a:t>
            </a:r>
            <a:r>
              <a:rPr lang="en-US"/>
              <a:t> được viết là </a:t>
            </a:r>
            <a:r>
              <a:rPr lang="en-US">
                <a:solidFill>
                  <a:srgbClr val="FF0000"/>
                </a:solidFill>
                <a:latin typeface="Courier New" pitchFamily="49" charset="0"/>
                <a:cs typeface="Courier New" pitchFamily="49" charset="0"/>
              </a:rPr>
              <a:t>0</a:t>
            </a:r>
            <a:r>
              <a:rPr lang="en-US">
                <a:latin typeface="Courier New" pitchFamily="49" charset="0"/>
                <a:cs typeface="Courier New" pitchFamily="49" charset="0"/>
              </a:rPr>
              <a:t>17</a:t>
            </a:r>
            <a:endParaRPr lang="en-US">
              <a:latin typeface="+mj-lt"/>
              <a:cs typeface="Courier New" pitchFamily="49" charset="0"/>
            </a:endParaRPr>
          </a:p>
          <a:p>
            <a:r>
              <a:rPr lang="en-US"/>
              <a:t>Hằng số nguyên định trước kiểu</a:t>
            </a:r>
          </a:p>
          <a:p>
            <a:pPr lvl="1"/>
            <a:r>
              <a:rPr lang="en-US"/>
              <a:t>Thêm một kí tự cuối vào số: </a:t>
            </a:r>
            <a:r>
              <a:rPr lang="en-US" b="1">
                <a:solidFill>
                  <a:srgbClr val="FF0000"/>
                </a:solidFill>
              </a:rPr>
              <a:t>L</a:t>
            </a:r>
            <a:r>
              <a:rPr lang="en-US"/>
              <a:t> (long), </a:t>
            </a:r>
            <a:r>
              <a:rPr lang="en-US" b="1">
                <a:solidFill>
                  <a:srgbClr val="FF0000"/>
                </a:solidFill>
              </a:rPr>
              <a:t>U</a:t>
            </a:r>
            <a:r>
              <a:rPr lang="en-US"/>
              <a:t> (unsigned integer, </a:t>
            </a:r>
            <a:r>
              <a:rPr lang="en-US" b="1">
                <a:solidFill>
                  <a:srgbClr val="FF0000"/>
                </a:solidFill>
              </a:rPr>
              <a:t>UL</a:t>
            </a:r>
            <a:r>
              <a:rPr lang="en-US"/>
              <a:t> (unsigned long)</a:t>
            </a:r>
          </a:p>
          <a:p>
            <a:pPr lvl="1"/>
            <a:r>
              <a:rPr lang="en-US"/>
              <a:t>Ví dụ: </a:t>
            </a:r>
            <a:r>
              <a:rPr lang="en-US">
                <a:latin typeface="Courier New" pitchFamily="49" charset="0"/>
                <a:cs typeface="Courier New" pitchFamily="49" charset="0"/>
              </a:rPr>
              <a:t>50000</a:t>
            </a:r>
            <a:r>
              <a:rPr lang="en-US">
                <a:solidFill>
                  <a:srgbClr val="FF0000"/>
                </a:solidFill>
                <a:latin typeface="Courier New" pitchFamily="49" charset="0"/>
                <a:cs typeface="Courier New" pitchFamily="49" charset="0"/>
              </a:rPr>
              <a:t>U</a:t>
            </a:r>
            <a:r>
              <a:rPr lang="en-US">
                <a:latin typeface="Courier New" pitchFamily="49" charset="0"/>
                <a:cs typeface="Courier New" pitchFamily="49" charset="0"/>
              </a:rPr>
              <a:t>, </a:t>
            </a:r>
            <a:r>
              <a:rPr lang="en-US">
                <a:solidFill>
                  <a:srgbClr val="FF0000"/>
                </a:solidFill>
                <a:latin typeface="Courier New" pitchFamily="49" charset="0"/>
                <a:cs typeface="Courier New" pitchFamily="49" charset="0"/>
              </a:rPr>
              <a:t>0</a:t>
            </a:r>
            <a:r>
              <a:rPr lang="en-US">
                <a:latin typeface="Courier New" pitchFamily="49" charset="0"/>
                <a:cs typeface="Courier New" pitchFamily="49" charset="0"/>
              </a:rPr>
              <a:t>12345</a:t>
            </a:r>
            <a:r>
              <a:rPr lang="en-US">
                <a:solidFill>
                  <a:srgbClr val="FF0000"/>
                </a:solidFill>
                <a:latin typeface="Courier New" pitchFamily="49" charset="0"/>
                <a:cs typeface="Courier New" pitchFamily="49" charset="0"/>
              </a:rPr>
              <a:t>L</a:t>
            </a:r>
            <a:r>
              <a:rPr lang="en-US">
                <a:latin typeface="Courier New" pitchFamily="49" charset="0"/>
                <a:cs typeface="Courier New" pitchFamily="49" charset="0"/>
              </a:rPr>
              <a:t>, </a:t>
            </a:r>
            <a:r>
              <a:rPr lang="en-US">
                <a:solidFill>
                  <a:srgbClr val="FF0000"/>
                </a:solidFill>
                <a:latin typeface="Courier New" pitchFamily="49" charset="0"/>
                <a:cs typeface="Courier New" pitchFamily="49" charset="0"/>
              </a:rPr>
              <a:t>0x</a:t>
            </a:r>
            <a:r>
              <a:rPr lang="en-US">
                <a:latin typeface="Courier New" pitchFamily="49" charset="0"/>
                <a:cs typeface="Courier New" pitchFamily="49" charset="0"/>
              </a:rPr>
              <a:t>50000</a:t>
            </a:r>
            <a:r>
              <a:rPr lang="en-US">
                <a:solidFill>
                  <a:srgbClr val="FF0000"/>
                </a:solidFill>
                <a:latin typeface="Courier New" pitchFamily="49" charset="0"/>
                <a:cs typeface="Courier New" pitchFamily="49" charset="0"/>
              </a:rPr>
              <a:t>U</a:t>
            </a:r>
          </a:p>
          <a:p>
            <a:pPr marL="909637" lvl="2" indent="0">
              <a:buNone/>
            </a:pPr>
            <a:endParaRPr lang="en-US"/>
          </a:p>
          <a:p>
            <a:pPr lvl="1"/>
            <a:endParaRPr lang="en-US"/>
          </a:p>
          <a:p>
            <a:endParaRPr lang="en-US"/>
          </a:p>
        </p:txBody>
      </p:sp>
      <p:sp>
        <p:nvSpPr>
          <p:cNvPr id="4" name="Date Placeholder 3"/>
          <p:cNvSpPr>
            <a:spLocks noGrp="1"/>
          </p:cNvSpPr>
          <p:nvPr>
            <p:ph type="dt" sz="half" idx="10"/>
          </p:nvPr>
        </p:nvSpPr>
        <p:spPr/>
        <p:txBody>
          <a:bodyPr/>
          <a:lstStyle/>
          <a:p>
            <a:fld id="{AD437B32-2C3A-4A6A-80AE-B5681B15B343}"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17</a:t>
            </a:fld>
            <a:r>
              <a:rPr lang="vi-VN"/>
              <a:t>/59</a:t>
            </a:r>
          </a:p>
        </p:txBody>
      </p:sp>
    </p:spTree>
    <p:extLst>
      <p:ext uri="{BB962C8B-B14F-4D97-AF65-F5344CB8AC3E}">
        <p14:creationId xmlns:p14="http://schemas.microsoft.com/office/powerpoint/2010/main" val="55001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par>
                                <p:cTn id="25" presetID="22" presetClass="entr" presetSubtype="1"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up)">
                                      <p:cBhvr>
                                        <p:cTn id="27" dur="500"/>
                                        <p:tgtEl>
                                          <p:spTgt spid="3">
                                            <p:txEl>
                                              <p:pRg st="6" end="6"/>
                                            </p:txEl>
                                          </p:spTgt>
                                        </p:tgtEl>
                                      </p:cBhvr>
                                    </p:animEffect>
                                  </p:childTnLst>
                                </p:cTn>
                              </p:par>
                              <p:par>
                                <p:cTn id="28" presetID="22" presetClass="entr" presetSubtype="1"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wipe(up)">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wipe(up)">
                                      <p:cBhvr>
                                        <p:cTn id="35" dur="500"/>
                                        <p:tgtEl>
                                          <p:spTgt spid="3">
                                            <p:txEl>
                                              <p:pRg st="8" end="8"/>
                                            </p:txEl>
                                          </p:spTgt>
                                        </p:tgtEl>
                                      </p:cBhvr>
                                    </p:animEffect>
                                  </p:childTnLst>
                                </p:cTn>
                              </p:par>
                              <p:par>
                                <p:cTn id="36" presetID="22" presetClass="entr" presetSubtype="1" fill="hold"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wipe(up)">
                                      <p:cBhvr>
                                        <p:cTn id="38" dur="500"/>
                                        <p:tgtEl>
                                          <p:spTgt spid="3">
                                            <p:txEl>
                                              <p:pRg st="9" end="9"/>
                                            </p:txEl>
                                          </p:spTgt>
                                        </p:tgtEl>
                                      </p:cBhvr>
                                    </p:animEffect>
                                  </p:childTnLst>
                                </p:cTn>
                              </p:par>
                              <p:par>
                                <p:cTn id="39" presetID="22" presetClass="entr" presetSubtype="1"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wipe(up)">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số thực</a:t>
            </a:r>
            <a:endParaRPr lang="vi-VN"/>
          </a:p>
        </p:txBody>
      </p:sp>
      <p:sp>
        <p:nvSpPr>
          <p:cNvPr id="3" name="Content Placeholder 2"/>
          <p:cNvSpPr>
            <a:spLocks noGrp="1"/>
          </p:cNvSpPr>
          <p:nvPr>
            <p:ph idx="1"/>
          </p:nvPr>
        </p:nvSpPr>
        <p:spPr/>
        <p:txBody>
          <a:bodyPr/>
          <a:lstStyle/>
          <a:p>
            <a:r>
              <a:rPr lang="en-US" dirty="0" err="1"/>
              <a:t>Dạng</a:t>
            </a:r>
            <a:r>
              <a:rPr lang="en-US" dirty="0"/>
              <a:t> </a:t>
            </a:r>
            <a:r>
              <a:rPr lang="en-US" dirty="0" err="1"/>
              <a:t>viết</a:t>
            </a:r>
            <a:r>
              <a:rPr lang="en-US" dirty="0"/>
              <a:t> </a:t>
            </a:r>
            <a:r>
              <a:rPr lang="en-US" dirty="0" err="1"/>
              <a:t>bình</a:t>
            </a:r>
            <a:r>
              <a:rPr lang="en-US" dirty="0"/>
              <a:t> </a:t>
            </a:r>
            <a:r>
              <a:rPr lang="en-US" dirty="0" err="1"/>
              <a:t>thường</a:t>
            </a:r>
            <a:endParaRPr lang="en-US" dirty="0"/>
          </a:p>
          <a:p>
            <a:pPr lvl="1"/>
            <a:r>
              <a:rPr lang="en-US" dirty="0" err="1"/>
              <a:t>Ví</a:t>
            </a:r>
            <a:r>
              <a:rPr lang="en-US" dirty="0"/>
              <a:t> </a:t>
            </a:r>
            <a:r>
              <a:rPr lang="en-US" dirty="0" err="1"/>
              <a:t>dụ</a:t>
            </a:r>
            <a:r>
              <a:rPr lang="en-US" dirty="0"/>
              <a:t>: </a:t>
            </a:r>
            <a:r>
              <a:rPr lang="en-US" dirty="0">
                <a:latin typeface="Courier New" pitchFamily="49" charset="0"/>
                <a:cs typeface="Courier New" pitchFamily="49" charset="0"/>
              </a:rPr>
              <a:t>3.14   3.0    -24.12345  -0.453</a:t>
            </a:r>
          </a:p>
          <a:p>
            <a:r>
              <a:rPr lang="en-US" dirty="0" err="1"/>
              <a:t>Dạng</a:t>
            </a:r>
            <a:r>
              <a:rPr lang="en-US" dirty="0"/>
              <a:t> </a:t>
            </a:r>
            <a:r>
              <a:rPr lang="en-US" dirty="0" err="1"/>
              <a:t>viết</a:t>
            </a:r>
            <a:r>
              <a:rPr lang="en-US" dirty="0"/>
              <a:t> khoa </a:t>
            </a:r>
            <a:r>
              <a:rPr lang="en-US" dirty="0" err="1"/>
              <a:t>học</a:t>
            </a:r>
            <a:r>
              <a:rPr lang="en-US" dirty="0"/>
              <a:t> 621.144=&gt;6.21144x10</a:t>
            </a:r>
          </a:p>
          <a:p>
            <a:pPr lvl="1"/>
            <a:r>
              <a:rPr lang="en-US" dirty="0" err="1"/>
              <a:t>Gồm</a:t>
            </a:r>
            <a:r>
              <a:rPr lang="en-US" dirty="0"/>
              <a:t>: </a:t>
            </a:r>
            <a:r>
              <a:rPr lang="en-US" dirty="0" err="1"/>
              <a:t>phần</a:t>
            </a:r>
            <a:r>
              <a:rPr lang="en-US" dirty="0"/>
              <a:t> </a:t>
            </a:r>
            <a:r>
              <a:rPr lang="en-US" dirty="0" err="1"/>
              <a:t>định</a:t>
            </a:r>
            <a:r>
              <a:rPr lang="en-US" dirty="0"/>
              <a:t> </a:t>
            </a:r>
            <a:r>
              <a:rPr lang="en-US" dirty="0" err="1"/>
              <a:t>trị</a:t>
            </a:r>
            <a:r>
              <a:rPr lang="en-US" dirty="0"/>
              <a:t> </a:t>
            </a:r>
            <a:r>
              <a:rPr lang="en-US" dirty="0" err="1"/>
              <a:t>và</a:t>
            </a:r>
            <a:r>
              <a:rPr lang="en-US" dirty="0"/>
              <a:t> </a:t>
            </a:r>
            <a:r>
              <a:rPr lang="en-US" dirty="0" err="1"/>
              <a:t>phần</a:t>
            </a:r>
            <a:r>
              <a:rPr lang="en-US" dirty="0"/>
              <a:t> </a:t>
            </a:r>
            <a:r>
              <a:rPr lang="en-US" dirty="0" err="1"/>
              <a:t>mũ</a:t>
            </a:r>
            <a:r>
              <a:rPr lang="en-US" dirty="0"/>
              <a:t> </a:t>
            </a:r>
            <a:r>
              <a:rPr lang="en-US" dirty="0" err="1"/>
              <a:t>viết</a:t>
            </a:r>
            <a:r>
              <a:rPr lang="en-US" dirty="0"/>
              <a:t> </a:t>
            </a:r>
            <a:r>
              <a:rPr lang="en-US" dirty="0" err="1"/>
              <a:t>sau</a:t>
            </a:r>
            <a:r>
              <a:rPr lang="en-US" dirty="0"/>
              <a:t> </a:t>
            </a:r>
            <a:r>
              <a:rPr lang="en-US" dirty="0" err="1"/>
              <a:t>chữ</a:t>
            </a:r>
            <a:r>
              <a:rPr lang="en-US" dirty="0"/>
              <a:t> </a:t>
            </a:r>
            <a:r>
              <a:rPr lang="en-US" b="1" dirty="0">
                <a:solidFill>
                  <a:srgbClr val="FF0000"/>
                </a:solidFill>
                <a:latin typeface="Courier New" pitchFamily="49" charset="0"/>
                <a:cs typeface="Courier New" pitchFamily="49" charset="0"/>
              </a:rPr>
              <a:t>E </a:t>
            </a:r>
            <a:r>
              <a:rPr lang="en-US" dirty="0"/>
              <a:t>(</a:t>
            </a:r>
            <a:r>
              <a:rPr lang="en-US" dirty="0" err="1"/>
              <a:t>hoặc</a:t>
            </a:r>
            <a:r>
              <a:rPr lang="en-US" dirty="0"/>
              <a:t> </a:t>
            </a:r>
            <a:r>
              <a:rPr lang="en-US" b="1" dirty="0">
                <a:solidFill>
                  <a:srgbClr val="FF0000"/>
                </a:solidFill>
                <a:latin typeface="Courier New" pitchFamily="49" charset="0"/>
                <a:cs typeface="Courier New" pitchFamily="49" charset="0"/>
              </a:rPr>
              <a:t>e</a:t>
            </a:r>
            <a:r>
              <a:rPr lang="en-US" dirty="0"/>
              <a:t>), </a:t>
            </a:r>
            <a:r>
              <a:rPr lang="en-US" dirty="0" err="1"/>
              <a:t>giữa</a:t>
            </a:r>
            <a:r>
              <a:rPr lang="en-US" dirty="0"/>
              <a:t> </a:t>
            </a:r>
            <a:r>
              <a:rPr lang="en-US" dirty="0" err="1"/>
              <a:t>chúng</a:t>
            </a:r>
            <a:r>
              <a:rPr lang="en-US" dirty="0"/>
              <a:t> </a:t>
            </a:r>
            <a:r>
              <a:rPr lang="en-US" dirty="0" err="1"/>
              <a:t>không</a:t>
            </a:r>
            <a:r>
              <a:rPr lang="en-US" dirty="0"/>
              <a:t> </a:t>
            </a:r>
            <a:r>
              <a:rPr lang="en-US" dirty="0" err="1"/>
              <a:t>có</a:t>
            </a:r>
            <a:r>
              <a:rPr lang="en-US" dirty="0"/>
              <a:t> </a:t>
            </a:r>
            <a:r>
              <a:rPr lang="en-US" dirty="0" err="1"/>
              <a:t>khoảng</a:t>
            </a:r>
            <a:r>
              <a:rPr lang="en-US" dirty="0"/>
              <a:t> </a:t>
            </a:r>
            <a:r>
              <a:rPr lang="en-US" dirty="0" err="1"/>
              <a:t>cách</a:t>
            </a:r>
            <a:endParaRPr lang="en-US" dirty="0"/>
          </a:p>
          <a:p>
            <a:pPr lvl="1"/>
            <a:r>
              <a:rPr lang="en-US" dirty="0" err="1"/>
              <a:t>Ví</a:t>
            </a:r>
            <a:r>
              <a:rPr lang="en-US" dirty="0"/>
              <a:t> </a:t>
            </a:r>
            <a:r>
              <a:rPr lang="en-US" dirty="0" err="1"/>
              <a:t>dụ</a:t>
            </a:r>
            <a:r>
              <a:rPr lang="en-US" dirty="0"/>
              <a:t>: </a:t>
            </a:r>
            <a:r>
              <a:rPr lang="en-US" u="sng" dirty="0">
                <a:latin typeface="Courier New" pitchFamily="49" charset="0"/>
                <a:cs typeface="Courier New" pitchFamily="49" charset="0"/>
              </a:rPr>
              <a:t>6.2144</a:t>
            </a:r>
            <a:r>
              <a:rPr lang="en-US" dirty="0">
                <a:solidFill>
                  <a:srgbClr val="FF0000"/>
                </a:solidFill>
                <a:latin typeface="Courier New" pitchFamily="49" charset="0"/>
                <a:cs typeface="Courier New" pitchFamily="49" charset="0"/>
              </a:rPr>
              <a:t>E</a:t>
            </a:r>
            <a:r>
              <a:rPr lang="en-US" dirty="0">
                <a:latin typeface="Courier New" pitchFamily="49" charset="0"/>
                <a:cs typeface="Courier New" pitchFamily="49" charset="0"/>
              </a:rPr>
              <a:t>+02</a:t>
            </a:r>
          </a:p>
          <a:p>
            <a:pPr lvl="3"/>
            <a:endParaRPr lang="en-US" dirty="0"/>
          </a:p>
          <a:p>
            <a:pPr marL="1306513" lvl="3" indent="0">
              <a:buNone/>
            </a:pPr>
            <a:r>
              <a:rPr lang="en-US" dirty="0"/>
              <a:t>   </a:t>
            </a:r>
            <a:r>
              <a:rPr lang="en-US" dirty="0" err="1"/>
              <a:t>Phần</a:t>
            </a:r>
            <a:r>
              <a:rPr lang="en-US" dirty="0"/>
              <a:t> </a:t>
            </a:r>
            <a:r>
              <a:rPr lang="en-US" dirty="0" err="1"/>
              <a:t>định</a:t>
            </a:r>
            <a:r>
              <a:rPr lang="en-US" dirty="0"/>
              <a:t> </a:t>
            </a:r>
            <a:r>
              <a:rPr lang="en-US" dirty="0" err="1"/>
              <a:t>trị</a:t>
            </a:r>
            <a:r>
              <a:rPr lang="en-US" dirty="0"/>
              <a:t>   </a:t>
            </a:r>
            <a:r>
              <a:rPr lang="en-US" dirty="0" err="1"/>
              <a:t>Phần</a:t>
            </a:r>
            <a:r>
              <a:rPr lang="en-US" dirty="0"/>
              <a:t> </a:t>
            </a:r>
            <a:r>
              <a:rPr lang="en-US" dirty="0" err="1"/>
              <a:t>mũ</a:t>
            </a:r>
            <a:endParaRPr lang="en-US" dirty="0"/>
          </a:p>
          <a:p>
            <a:pPr lvl="1"/>
            <a:r>
              <a:rPr lang="en-US" dirty="0" err="1"/>
              <a:t>Chú</a:t>
            </a:r>
            <a:r>
              <a:rPr lang="en-US" dirty="0"/>
              <a:t> ý: </a:t>
            </a:r>
          </a:p>
          <a:p>
            <a:pPr lvl="2"/>
            <a:r>
              <a:rPr lang="en-US" dirty="0" err="1"/>
              <a:t>Nếu</a:t>
            </a:r>
            <a:r>
              <a:rPr lang="en-US" dirty="0"/>
              <a:t> </a:t>
            </a:r>
            <a:r>
              <a:rPr lang="en-US" dirty="0" err="1"/>
              <a:t>không</a:t>
            </a:r>
            <a:r>
              <a:rPr lang="en-US" dirty="0"/>
              <a:t> </a:t>
            </a:r>
            <a:r>
              <a:rPr lang="en-US" dirty="0" err="1"/>
              <a:t>có</a:t>
            </a:r>
            <a:r>
              <a:rPr lang="en-US" dirty="0"/>
              <a:t> </a:t>
            </a:r>
            <a:r>
              <a:rPr lang="en-US" dirty="0" err="1"/>
              <a:t>phần</a:t>
            </a:r>
            <a:r>
              <a:rPr lang="en-US" dirty="0"/>
              <a:t> </a:t>
            </a:r>
            <a:r>
              <a:rPr lang="en-US" dirty="0" err="1"/>
              <a:t>mũ</a:t>
            </a:r>
            <a:r>
              <a:rPr lang="en-US" dirty="0"/>
              <a:t> thì </a:t>
            </a:r>
            <a:r>
              <a:rPr lang="en-US" dirty="0" err="1"/>
              <a:t>phần</a:t>
            </a:r>
            <a:r>
              <a:rPr lang="en-US" dirty="0"/>
              <a:t> </a:t>
            </a:r>
            <a:r>
              <a:rPr lang="en-US" dirty="0" err="1"/>
              <a:t>định</a:t>
            </a:r>
            <a:r>
              <a:rPr lang="en-US" dirty="0"/>
              <a:t> </a:t>
            </a:r>
            <a:r>
              <a:rPr lang="en-US" dirty="0" err="1"/>
              <a:t>trị</a:t>
            </a:r>
            <a:r>
              <a:rPr lang="en-US" dirty="0"/>
              <a:t> </a:t>
            </a:r>
            <a:r>
              <a:rPr lang="en-US" dirty="0" err="1"/>
              <a:t>bắt</a:t>
            </a:r>
            <a:r>
              <a:rPr lang="en-US" dirty="0"/>
              <a:t> </a:t>
            </a:r>
            <a:r>
              <a:rPr lang="en-US" dirty="0" err="1"/>
              <a:t>buộc</a:t>
            </a:r>
            <a:r>
              <a:rPr lang="en-US" dirty="0"/>
              <a:t> </a:t>
            </a:r>
            <a:r>
              <a:rPr lang="en-US" dirty="0" err="1"/>
              <a:t>phải</a:t>
            </a:r>
            <a:r>
              <a:rPr lang="en-US" dirty="0"/>
              <a:t> </a:t>
            </a:r>
            <a:r>
              <a:rPr lang="en-US" dirty="0" err="1"/>
              <a:t>có</a:t>
            </a:r>
            <a:r>
              <a:rPr lang="en-US" dirty="0"/>
              <a:t> </a:t>
            </a:r>
            <a:r>
              <a:rPr lang="en-US" dirty="0" err="1"/>
              <a:t>dấu</a:t>
            </a:r>
            <a:r>
              <a:rPr lang="en-US" dirty="0"/>
              <a:t> </a:t>
            </a:r>
            <a:r>
              <a:rPr lang="en-US" b="1" dirty="0">
                <a:solidFill>
                  <a:srgbClr val="FF0000"/>
                </a:solidFill>
              </a:rPr>
              <a:t>. </a:t>
            </a:r>
            <a:endParaRPr lang="en-US" dirty="0"/>
          </a:p>
          <a:p>
            <a:pPr lvl="2"/>
            <a:r>
              <a:rPr lang="en-US" dirty="0" err="1"/>
              <a:t>Có</a:t>
            </a:r>
            <a:r>
              <a:rPr lang="en-US" dirty="0"/>
              <a:t> </a:t>
            </a:r>
            <a:r>
              <a:rPr lang="en-US" dirty="0" err="1"/>
              <a:t>thể</a:t>
            </a:r>
            <a:r>
              <a:rPr lang="en-US" dirty="0"/>
              <a:t> </a:t>
            </a:r>
            <a:r>
              <a:rPr lang="en-US" dirty="0" err="1"/>
              <a:t>không</a:t>
            </a:r>
            <a:r>
              <a:rPr lang="en-US" dirty="0"/>
              <a:t> </a:t>
            </a:r>
            <a:r>
              <a:rPr lang="en-US" dirty="0" err="1"/>
              <a:t>cần</a:t>
            </a:r>
            <a:r>
              <a:rPr lang="en-US" dirty="0"/>
              <a:t> </a:t>
            </a:r>
            <a:r>
              <a:rPr lang="en-US" dirty="0" err="1"/>
              <a:t>số</a:t>
            </a:r>
            <a:r>
              <a:rPr lang="en-US" dirty="0"/>
              <a:t> 0 ở </a:t>
            </a:r>
            <a:r>
              <a:rPr lang="en-US" dirty="0" err="1"/>
              <a:t>đầu</a:t>
            </a:r>
            <a:r>
              <a:rPr lang="en-US" dirty="0"/>
              <a:t> (</a:t>
            </a:r>
            <a:r>
              <a:rPr lang="en-US" dirty="0" err="1"/>
              <a:t>vd</a:t>
            </a:r>
            <a:r>
              <a:rPr lang="en-US" dirty="0"/>
              <a:t>: </a:t>
            </a:r>
            <a:r>
              <a:rPr lang="en-US" b="1" dirty="0">
                <a:solidFill>
                  <a:srgbClr val="FF0000"/>
                </a:solidFill>
              </a:rPr>
              <a:t>.</a:t>
            </a:r>
            <a:r>
              <a:rPr lang="en-US" b="1" dirty="0"/>
              <a:t>1212</a:t>
            </a:r>
            <a:r>
              <a:rPr lang="en-US" dirty="0"/>
              <a:t>)</a:t>
            </a:r>
            <a:endParaRPr lang="en-US" b="1" dirty="0"/>
          </a:p>
          <a:p>
            <a:pPr lvl="2"/>
            <a:r>
              <a:rPr lang="en-US" b="1" dirty="0">
                <a:solidFill>
                  <a:srgbClr val="FF0000"/>
                </a:solidFill>
              </a:rPr>
              <a:t>KHÔNG</a:t>
            </a:r>
            <a:r>
              <a:rPr lang="en-US" dirty="0">
                <a:solidFill>
                  <a:srgbClr val="FF0000"/>
                </a:solidFill>
              </a:rPr>
              <a:t> </a:t>
            </a:r>
            <a:r>
              <a:rPr lang="en-US" dirty="0" err="1"/>
              <a:t>tồn</a:t>
            </a:r>
            <a:r>
              <a:rPr lang="en-US" dirty="0"/>
              <a:t> </a:t>
            </a:r>
            <a:r>
              <a:rPr lang="en-US" dirty="0" err="1"/>
              <a:t>tại</a:t>
            </a:r>
            <a:r>
              <a:rPr lang="en-US" dirty="0"/>
              <a:t> </a:t>
            </a:r>
            <a:r>
              <a:rPr lang="en-US" dirty="0" err="1"/>
              <a:t>phép</a:t>
            </a:r>
            <a:r>
              <a:rPr lang="en-US" dirty="0"/>
              <a:t> </a:t>
            </a:r>
            <a:r>
              <a:rPr lang="en-US" dirty="0">
                <a:solidFill>
                  <a:srgbClr val="FF0000"/>
                </a:solidFill>
              </a:rPr>
              <a:t>%</a:t>
            </a:r>
            <a:r>
              <a:rPr lang="en-US" dirty="0"/>
              <a:t> </a:t>
            </a:r>
            <a:r>
              <a:rPr lang="en-US" dirty="0" err="1"/>
              <a:t>cho</a:t>
            </a:r>
            <a:r>
              <a:rPr lang="en-US" dirty="0"/>
              <a:t> </a:t>
            </a:r>
            <a:r>
              <a:rPr lang="en-US" dirty="0" err="1"/>
              <a:t>số</a:t>
            </a:r>
            <a:r>
              <a:rPr lang="en-US" dirty="0"/>
              <a:t> </a:t>
            </a:r>
            <a:r>
              <a:rPr lang="en-US" dirty="0" err="1"/>
              <a:t>thực</a:t>
            </a:r>
            <a:endParaRPr lang="vi-VN" dirty="0"/>
          </a:p>
        </p:txBody>
      </p:sp>
      <p:sp>
        <p:nvSpPr>
          <p:cNvPr id="4" name="Date Placeholder 3"/>
          <p:cNvSpPr>
            <a:spLocks noGrp="1"/>
          </p:cNvSpPr>
          <p:nvPr>
            <p:ph type="dt" sz="half" idx="10"/>
          </p:nvPr>
        </p:nvSpPr>
        <p:spPr/>
        <p:txBody>
          <a:bodyPr/>
          <a:lstStyle/>
          <a:p>
            <a:fld id="{8DEE7008-5BCB-4988-BCAD-EFCF75AB583D}"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cxnSp>
        <p:nvCxnSpPr>
          <p:cNvPr id="8" name="Straight Arrow Connector 7"/>
          <p:cNvCxnSpPr/>
          <p:nvPr/>
        </p:nvCxnSpPr>
        <p:spPr>
          <a:xfrm flipV="1">
            <a:off x="3131840" y="3717032"/>
            <a:ext cx="0" cy="43204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flipV="1">
            <a:off x="4283968" y="3701596"/>
            <a:ext cx="0" cy="44748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Slide Number Placeholder 11"/>
          <p:cNvSpPr>
            <a:spLocks noGrp="1"/>
          </p:cNvSpPr>
          <p:nvPr>
            <p:ph type="sldNum" sz="quarter" idx="12"/>
          </p:nvPr>
        </p:nvSpPr>
        <p:spPr/>
        <p:txBody>
          <a:bodyPr/>
          <a:lstStyle/>
          <a:p>
            <a:fld id="{5AB95402-1E0D-474E-8D8C-CBE7F053639E}" type="slidenum">
              <a:rPr lang="vi-VN" smtClean="0"/>
              <a:pPr/>
              <a:t>18</a:t>
            </a:fld>
            <a:r>
              <a:rPr lang="vi-VN"/>
              <a:t>/59</a:t>
            </a:r>
          </a:p>
        </p:txBody>
      </p:sp>
    </p:spTree>
    <p:extLst>
      <p:ext uri="{BB962C8B-B14F-4D97-AF65-F5344CB8AC3E}">
        <p14:creationId xmlns:p14="http://schemas.microsoft.com/office/powerpoint/2010/main" val="272814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par>
                                <p:cTn id="31" presetID="22" presetClass="entr" presetSubtype="4"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par>
                                <p:cTn id="34" presetID="22" presetClass="entr" presetSubtype="8"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wipe(left)">
                                      <p:cBhvr>
                                        <p:cTn id="41" dur="500"/>
                                        <p:tgtEl>
                                          <p:spTgt spid="3">
                                            <p:txEl>
                                              <p:pRg st="7" end="7"/>
                                            </p:txEl>
                                          </p:spTgt>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wipe(left)">
                                      <p:cBhvr>
                                        <p:cTn id="45" dur="500"/>
                                        <p:tgtEl>
                                          <p:spTgt spid="3">
                                            <p:txEl>
                                              <p:pRg st="8" end="8"/>
                                            </p:txEl>
                                          </p:spTgt>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wipe(left)">
                                      <p:cBhvr>
                                        <p:cTn id="49" dur="500"/>
                                        <p:tgtEl>
                                          <p:spTgt spid="3">
                                            <p:txEl>
                                              <p:pRg st="9" end="9"/>
                                            </p:txEl>
                                          </p:spTgt>
                                        </p:tgtEl>
                                      </p:cBhvr>
                                    </p:animEffect>
                                  </p:childTnLst>
                                </p:cTn>
                              </p:par>
                            </p:childTnLst>
                          </p:cTn>
                        </p:par>
                        <p:par>
                          <p:cTn id="50" fill="hold">
                            <p:stCondLst>
                              <p:cond delay="1500"/>
                            </p:stCondLst>
                            <p:childTnLst>
                              <p:par>
                                <p:cTn id="51" presetID="22" presetClass="entr" presetSubtype="8" fill="hold" nodeType="after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wipe(left)">
                                      <p:cBhvr>
                                        <p:cTn id="5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Kiểu số thực</a:t>
            </a:r>
          </a:p>
        </p:txBody>
      </p:sp>
      <p:sp>
        <p:nvSpPr>
          <p:cNvPr id="3" name="Content Placeholder 2"/>
          <p:cNvSpPr>
            <a:spLocks noGrp="1"/>
          </p:cNvSpPr>
          <p:nvPr>
            <p:ph idx="1"/>
          </p:nvPr>
        </p:nvSpPr>
        <p:spPr>
          <a:xfrm>
            <a:off x="762000" y="1143000"/>
            <a:ext cx="8202488" cy="5181600"/>
          </a:xfrm>
        </p:spPr>
        <p:txBody>
          <a:bodyPr/>
          <a:lstStyle/>
          <a:p>
            <a:pPr>
              <a:defRPr/>
            </a:pPr>
            <a:r>
              <a:rPr lang="en-US" dirty="0" err="1"/>
              <a:t>Các</a:t>
            </a:r>
            <a:r>
              <a:rPr lang="en-US" dirty="0"/>
              <a:t> </a:t>
            </a:r>
            <a:r>
              <a:rPr lang="en-US" dirty="0" err="1"/>
              <a:t>kiểu</a:t>
            </a:r>
            <a:r>
              <a:rPr lang="en-US" dirty="0"/>
              <a:t> </a:t>
            </a:r>
            <a:r>
              <a:rPr lang="en-US" dirty="0" err="1"/>
              <a:t>số</a:t>
            </a:r>
            <a:r>
              <a:rPr lang="en-US" dirty="0"/>
              <a:t> </a:t>
            </a:r>
            <a:r>
              <a:rPr lang="en-US" dirty="0" err="1"/>
              <a:t>thực</a:t>
            </a:r>
            <a:endParaRPr lang="en-US" dirty="0"/>
          </a:p>
          <a:p>
            <a:pPr>
              <a:defRPr/>
            </a:pPr>
            <a:endParaRPr lang="en-US" baseline="30000" dirty="0"/>
          </a:p>
          <a:p>
            <a:pPr lvl="2">
              <a:defRPr/>
            </a:pPr>
            <a:endParaRPr lang="en-US" baseline="30000" dirty="0"/>
          </a:p>
          <a:p>
            <a:pPr lvl="2">
              <a:defRPr/>
            </a:pPr>
            <a:endParaRPr lang="en-US" baseline="30000" dirty="0"/>
          </a:p>
          <a:p>
            <a:pPr lvl="2">
              <a:defRPr/>
            </a:pPr>
            <a:endParaRPr lang="en-US" baseline="30000" dirty="0"/>
          </a:p>
          <a:p>
            <a:pPr lvl="2">
              <a:defRPr/>
            </a:pPr>
            <a:endParaRPr lang="en-US" baseline="30000" dirty="0"/>
          </a:p>
          <a:p>
            <a:pPr lvl="2">
              <a:defRPr/>
            </a:pPr>
            <a:endParaRPr lang="en-US" baseline="30000" dirty="0"/>
          </a:p>
          <a:p>
            <a:pPr lvl="2">
              <a:defRPr/>
            </a:pPr>
            <a:endParaRPr lang="en-US" baseline="30000" dirty="0"/>
          </a:p>
          <a:p>
            <a:pPr lvl="2">
              <a:defRPr/>
            </a:pPr>
            <a:endParaRPr lang="en-US" baseline="30000" dirty="0"/>
          </a:p>
          <a:p>
            <a:pPr lvl="2">
              <a:defRPr/>
            </a:pPr>
            <a:endParaRPr lang="en-US" baseline="30000" dirty="0"/>
          </a:p>
          <a:p>
            <a:pPr lvl="2">
              <a:defRPr/>
            </a:pPr>
            <a:endParaRPr lang="en-US" baseline="30000" dirty="0"/>
          </a:p>
          <a:p>
            <a:pPr lvl="2">
              <a:defRPr/>
            </a:pPr>
            <a:endParaRPr lang="en-US" baseline="30000" dirty="0"/>
          </a:p>
          <a:p>
            <a:pPr lvl="2">
              <a:defRPr/>
            </a:pPr>
            <a:endParaRPr lang="en-US" baseline="30000" dirty="0"/>
          </a:p>
          <a:p>
            <a:pPr marL="471487" lvl="1" indent="0">
              <a:buNone/>
              <a:defRPr/>
            </a:pPr>
            <a:endParaRPr lang="en-US" dirty="0"/>
          </a:p>
          <a:p>
            <a:pPr lvl="2">
              <a:defRPr/>
            </a:pPr>
            <a:endParaRPr lang="en-US" baseline="30000" dirty="0"/>
          </a:p>
          <a:p>
            <a:pPr lvl="2">
              <a:defRPr/>
            </a:pPr>
            <a:endParaRPr lang="en-US" baseline="30000" dirty="0"/>
          </a:p>
          <a:p>
            <a:pPr lvl="2">
              <a:defRPr/>
            </a:pPr>
            <a:endParaRPr lang="en-US" baseline="30000" dirty="0"/>
          </a:p>
        </p:txBody>
      </p:sp>
      <p:sp>
        <p:nvSpPr>
          <p:cNvPr id="20484" name="Footer Placeholder 3"/>
          <p:cNvSpPr>
            <a:spLocks noGrp="1"/>
          </p:cNvSpPr>
          <p:nvPr>
            <p:ph type="ftr" sz="quarter" idx="11"/>
          </p:nvPr>
        </p:nvSpPr>
        <p:spPr>
          <a:noFill/>
        </p:spPr>
        <p:txBody>
          <a:bodyPr/>
          <a:lstStyle/>
          <a:p>
            <a:r>
              <a:rPr lang="vi-VN"/>
              <a:t>Chương 2 - Các phần tử cơ bản của ngôn ngữ C</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172274065"/>
              </p:ext>
            </p:extLst>
          </p:nvPr>
        </p:nvGraphicFramePr>
        <p:xfrm>
          <a:off x="899592" y="1772816"/>
          <a:ext cx="7416824" cy="3049166"/>
        </p:xfrm>
        <a:graphic>
          <a:graphicData uri="http://schemas.openxmlformats.org/drawingml/2006/table">
            <a:tbl>
              <a:tblPr firstRow="1" bandRow="1">
                <a:tableStyleId>{0E3FDE45-AF77-4B5C-9715-49D594BDF05E}</a:tableStyleId>
              </a:tblPr>
              <a:tblGrid>
                <a:gridCol w="1584176">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4176464">
                  <a:extLst>
                    <a:ext uri="{9D8B030D-6E8A-4147-A177-3AD203B41FA5}">
                      <a16:colId xmlns:a16="http://schemas.microsoft.com/office/drawing/2014/main" val="20002"/>
                    </a:ext>
                  </a:extLst>
                </a:gridCol>
              </a:tblGrid>
              <a:tr h="823543">
                <a:tc>
                  <a:txBody>
                    <a:bodyPr/>
                    <a:lstStyle/>
                    <a:p>
                      <a:pPr algn="ctr"/>
                      <a:r>
                        <a:rPr lang="en-US" sz="2000"/>
                        <a:t>Kiểu</a:t>
                      </a:r>
                    </a:p>
                    <a:p>
                      <a:pPr algn="ctr"/>
                      <a:r>
                        <a:rPr lang="en-US" sz="2000"/>
                        <a:t>(Type)</a:t>
                      </a:r>
                    </a:p>
                  </a:txBody>
                  <a:tcPr/>
                </a:tc>
                <a:tc>
                  <a:txBody>
                    <a:bodyPr/>
                    <a:lstStyle/>
                    <a:p>
                      <a:pPr algn="ctr"/>
                      <a:r>
                        <a:rPr lang="en-US" sz="2000"/>
                        <a:t>Độ lớn</a:t>
                      </a:r>
                    </a:p>
                    <a:p>
                      <a:pPr algn="ctr"/>
                      <a:r>
                        <a:rPr lang="en-US" sz="2000"/>
                        <a:t>(Byte)</a:t>
                      </a:r>
                    </a:p>
                  </a:txBody>
                  <a:tcPr/>
                </a:tc>
                <a:tc>
                  <a:txBody>
                    <a:bodyPr/>
                    <a:lstStyle/>
                    <a:p>
                      <a:pPr algn="ctr"/>
                      <a:r>
                        <a:rPr lang="en-US" sz="2000"/>
                        <a:t>Miền giá trị</a:t>
                      </a:r>
                    </a:p>
                    <a:p>
                      <a:pPr algn="ctr"/>
                      <a:r>
                        <a:rPr lang="en-US" sz="2000"/>
                        <a:t>(Range)</a:t>
                      </a:r>
                    </a:p>
                  </a:txBody>
                  <a:tcPr/>
                </a:tc>
                <a:extLst>
                  <a:ext uri="{0D108BD9-81ED-4DB2-BD59-A6C34878D82A}">
                    <a16:rowId xmlns:a16="http://schemas.microsoft.com/office/drawing/2014/main" val="10000"/>
                  </a:ext>
                </a:extLst>
              </a:tr>
              <a:tr h="652621">
                <a:tc>
                  <a:txBody>
                    <a:bodyPr/>
                    <a:lstStyle/>
                    <a:p>
                      <a:r>
                        <a:rPr lang="en-US" sz="2000">
                          <a:solidFill>
                            <a:srgbClr val="FF0000"/>
                          </a:solidFill>
                        </a:rPr>
                        <a:t>float</a:t>
                      </a:r>
                    </a:p>
                  </a:txBody>
                  <a:tcPr/>
                </a:tc>
                <a:tc>
                  <a:txBody>
                    <a:bodyPr/>
                    <a:lstStyle/>
                    <a:p>
                      <a:pPr algn="ctr"/>
                      <a:r>
                        <a:rPr lang="en-US" sz="2000"/>
                        <a:t>4</a:t>
                      </a:r>
                    </a:p>
                  </a:txBody>
                  <a:tcPr/>
                </a:tc>
                <a:tc>
                  <a:txBody>
                    <a:bodyPr/>
                    <a:lstStyle/>
                    <a:p>
                      <a:pPr algn="ctr"/>
                      <a:r>
                        <a:rPr lang="en-US" sz="2000"/>
                        <a:t>1.24E-38 … 3.4E38</a:t>
                      </a:r>
                    </a:p>
                    <a:p>
                      <a:pPr algn="ctr"/>
                      <a:r>
                        <a:rPr lang="en-US" sz="2000" baseline="0"/>
                        <a:t>Độ chính xác khoảng 7 chữ số</a:t>
                      </a:r>
                      <a:endParaRPr lang="en-US" sz="2000" baseline="30000"/>
                    </a:p>
                  </a:txBody>
                  <a:tcPr/>
                </a:tc>
                <a:extLst>
                  <a:ext uri="{0D108BD9-81ED-4DB2-BD59-A6C34878D82A}">
                    <a16:rowId xmlns:a16="http://schemas.microsoft.com/office/drawing/2014/main" val="10001"/>
                  </a:ext>
                </a:extLst>
              </a:tr>
              <a:tr h="652621">
                <a:tc>
                  <a:txBody>
                    <a:bodyPr/>
                    <a:lstStyle/>
                    <a:p>
                      <a:r>
                        <a:rPr lang="en-US" sz="2000">
                          <a:solidFill>
                            <a:srgbClr val="FF0000"/>
                          </a:solidFill>
                        </a:rPr>
                        <a:t>double</a:t>
                      </a:r>
                    </a:p>
                  </a:txBody>
                  <a:tcPr/>
                </a:tc>
                <a:tc>
                  <a:txBody>
                    <a:bodyPr/>
                    <a:lstStyle/>
                    <a:p>
                      <a:pPr algn="ctr"/>
                      <a:r>
                        <a:rPr lang="en-US" sz="2000"/>
                        <a:t>8</a:t>
                      </a:r>
                    </a:p>
                  </a:txBody>
                  <a:tcPr/>
                </a:tc>
                <a:tc>
                  <a:txBody>
                    <a:bodyPr/>
                    <a:lstStyle/>
                    <a:p>
                      <a:pPr algn="ctr"/>
                      <a:r>
                        <a:rPr lang="en-US" sz="2000"/>
                        <a:t>2.2E-308 … 1.8E308</a:t>
                      </a:r>
                    </a:p>
                    <a:p>
                      <a:pPr marL="0" marR="0" indent="0" algn="ctr" defTabSz="914400" rtl="0" eaLnBrk="1" fontAlgn="auto" latinLnBrk="0" hangingPunct="1">
                        <a:lnSpc>
                          <a:spcPct val="100000"/>
                        </a:lnSpc>
                        <a:spcBef>
                          <a:spcPts val="0"/>
                        </a:spcBef>
                        <a:spcAft>
                          <a:spcPts val="0"/>
                        </a:spcAft>
                        <a:buClrTx/>
                        <a:buSzTx/>
                        <a:buFontTx/>
                        <a:buNone/>
                        <a:tabLst/>
                        <a:defRPr/>
                      </a:pPr>
                      <a:r>
                        <a:rPr lang="en-US" sz="2000" baseline="0"/>
                        <a:t>Độ chính xác khoảng 15 chữ số</a:t>
                      </a:r>
                    </a:p>
                  </a:txBody>
                  <a:tcPr/>
                </a:tc>
                <a:extLst>
                  <a:ext uri="{0D108BD9-81ED-4DB2-BD59-A6C34878D82A}">
                    <a16:rowId xmlns:a16="http://schemas.microsoft.com/office/drawing/2014/main" val="10002"/>
                  </a:ext>
                </a:extLst>
              </a:tr>
              <a:tr h="823543">
                <a:tc>
                  <a:txBody>
                    <a:bodyPr/>
                    <a:lstStyle/>
                    <a:p>
                      <a:r>
                        <a:rPr lang="en-US" sz="2000">
                          <a:solidFill>
                            <a:srgbClr val="FF0000"/>
                          </a:solidFill>
                        </a:rPr>
                        <a:t>long double</a:t>
                      </a:r>
                    </a:p>
                  </a:txBody>
                  <a:tcPr/>
                </a:tc>
                <a:tc>
                  <a:txBody>
                    <a:bodyPr/>
                    <a:lstStyle/>
                    <a:p>
                      <a:pPr algn="ctr"/>
                      <a:r>
                        <a:rPr lang="en-US" sz="2000"/>
                        <a:t>10</a:t>
                      </a:r>
                    </a:p>
                  </a:txBody>
                  <a:tcPr/>
                </a:tc>
                <a:tc>
                  <a:txBody>
                    <a:bodyPr/>
                    <a:lstStyle/>
                    <a:p>
                      <a:pPr algn="ctr"/>
                      <a:r>
                        <a:rPr lang="en-US" sz="2000" baseline="0"/>
                        <a:t>3.4E-4932…3.4E4932</a:t>
                      </a:r>
                    </a:p>
                    <a:p>
                      <a:pPr algn="ctr"/>
                      <a:r>
                        <a:rPr lang="en-US" sz="2000" baseline="0"/>
                        <a:t>Độ chính xác khoảng 19 chữ số</a:t>
                      </a:r>
                    </a:p>
                  </a:txBody>
                  <a:tcPr/>
                </a:tc>
                <a:extLst>
                  <a:ext uri="{0D108BD9-81ED-4DB2-BD59-A6C34878D82A}">
                    <a16:rowId xmlns:a16="http://schemas.microsoft.com/office/drawing/2014/main" val="10003"/>
                  </a:ext>
                </a:extLst>
              </a:tr>
            </a:tbl>
          </a:graphicData>
        </a:graphic>
      </p:graphicFrame>
      <p:sp>
        <p:nvSpPr>
          <p:cNvPr id="2" name="Date Placeholder 1"/>
          <p:cNvSpPr>
            <a:spLocks noGrp="1"/>
          </p:cNvSpPr>
          <p:nvPr>
            <p:ph type="dt" sz="half" idx="10"/>
          </p:nvPr>
        </p:nvSpPr>
        <p:spPr/>
        <p:txBody>
          <a:bodyPr/>
          <a:lstStyle/>
          <a:p>
            <a:fld id="{09428564-2A23-4B37-A4A7-918E2B247AF7}" type="datetime1">
              <a:rPr lang="vi-VN" smtClean="0"/>
              <a:t>14/01/2024</a:t>
            </a:fld>
            <a:endParaRPr lang="vi-VN"/>
          </a:p>
        </p:txBody>
      </p:sp>
      <p:sp>
        <p:nvSpPr>
          <p:cNvPr id="9" name="Slide Number Placeholder 8"/>
          <p:cNvSpPr>
            <a:spLocks noGrp="1"/>
          </p:cNvSpPr>
          <p:nvPr>
            <p:ph type="sldNum" sz="quarter" idx="12"/>
          </p:nvPr>
        </p:nvSpPr>
        <p:spPr/>
        <p:txBody>
          <a:bodyPr/>
          <a:lstStyle/>
          <a:p>
            <a:fld id="{5AB95402-1E0D-474E-8D8C-CBE7F053639E}" type="slidenum">
              <a:rPr lang="vi-VN" smtClean="0"/>
              <a:pPr/>
              <a:t>19</a:t>
            </a:fld>
            <a:r>
              <a:rPr lang="vi-VN"/>
              <a:t>/59</a:t>
            </a:r>
          </a:p>
        </p:txBody>
      </p:sp>
    </p:spTree>
    <p:extLst>
      <p:ext uri="{BB962C8B-B14F-4D97-AF65-F5344CB8AC3E}">
        <p14:creationId xmlns:p14="http://schemas.microsoft.com/office/powerpoint/2010/main" val="3775319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t>Kiểu ký tự</a:t>
            </a:r>
          </a:p>
        </p:txBody>
      </p:sp>
      <p:sp>
        <p:nvSpPr>
          <p:cNvPr id="3" name="Content Placeholder 2"/>
          <p:cNvSpPr>
            <a:spLocks noGrp="1"/>
          </p:cNvSpPr>
          <p:nvPr>
            <p:ph idx="1"/>
          </p:nvPr>
        </p:nvSpPr>
        <p:spPr>
          <a:xfrm>
            <a:off x="762000" y="1143000"/>
            <a:ext cx="8202488" cy="5181600"/>
          </a:xfrm>
        </p:spPr>
        <p:txBody>
          <a:bodyPr/>
          <a:lstStyle/>
          <a:p>
            <a:pPr>
              <a:defRPr/>
            </a:pPr>
            <a:r>
              <a:rPr lang="en-US" dirty="0" err="1"/>
              <a:t>Đặc</a:t>
            </a:r>
            <a:r>
              <a:rPr lang="en-US" dirty="0"/>
              <a:t> </a:t>
            </a:r>
            <a:r>
              <a:rPr lang="vi-VN" dirty="0"/>
              <a:t>đ</a:t>
            </a:r>
            <a:r>
              <a:rPr lang="en-US" dirty="0" err="1"/>
              <a:t>iểm</a:t>
            </a:r>
            <a:endParaRPr lang="en-US" dirty="0"/>
          </a:p>
          <a:p>
            <a:pPr lvl="1">
              <a:defRPr/>
            </a:pPr>
            <a:r>
              <a:rPr lang="en-US" dirty="0" err="1"/>
              <a:t>Tên</a:t>
            </a:r>
            <a:r>
              <a:rPr lang="en-US" dirty="0"/>
              <a:t> </a:t>
            </a:r>
            <a:r>
              <a:rPr lang="en-US" dirty="0" err="1"/>
              <a:t>kiểu</a:t>
            </a:r>
            <a:r>
              <a:rPr lang="en-US" dirty="0"/>
              <a:t>: </a:t>
            </a:r>
            <a:r>
              <a:rPr lang="en-US" dirty="0">
                <a:solidFill>
                  <a:srgbClr val="FF0000"/>
                </a:solidFill>
              </a:rPr>
              <a:t>char</a:t>
            </a:r>
          </a:p>
          <a:p>
            <a:pPr lvl="1">
              <a:defRPr/>
            </a:pPr>
            <a:r>
              <a:rPr lang="en-US" dirty="0" err="1"/>
              <a:t>Miền</a:t>
            </a:r>
            <a:r>
              <a:rPr lang="en-US" dirty="0"/>
              <a:t> </a:t>
            </a:r>
            <a:r>
              <a:rPr lang="en-US" dirty="0" err="1"/>
              <a:t>giá</a:t>
            </a:r>
            <a:r>
              <a:rPr lang="en-US" dirty="0"/>
              <a:t> </a:t>
            </a:r>
            <a:r>
              <a:rPr lang="en-US" dirty="0" err="1"/>
              <a:t>trị</a:t>
            </a:r>
            <a:r>
              <a:rPr lang="en-US" dirty="0"/>
              <a:t>: 256 </a:t>
            </a:r>
            <a:r>
              <a:rPr lang="en-US" dirty="0" err="1"/>
              <a:t>ký</a:t>
            </a:r>
            <a:r>
              <a:rPr lang="en-US" dirty="0"/>
              <a:t> </a:t>
            </a:r>
            <a:r>
              <a:rPr lang="en-US" dirty="0" err="1"/>
              <a:t>tự</a:t>
            </a:r>
            <a:r>
              <a:rPr lang="en-US" dirty="0"/>
              <a:t> </a:t>
            </a:r>
            <a:r>
              <a:rPr lang="en-US" dirty="0" err="1"/>
              <a:t>trong</a:t>
            </a:r>
            <a:r>
              <a:rPr lang="en-US" dirty="0"/>
              <a:t> </a:t>
            </a:r>
            <a:r>
              <a:rPr lang="en-US" dirty="0" err="1"/>
              <a:t>bảng</a:t>
            </a:r>
            <a:r>
              <a:rPr lang="en-US" dirty="0"/>
              <a:t> </a:t>
            </a:r>
            <a:r>
              <a:rPr lang="en-US" dirty="0" err="1"/>
              <a:t>mã</a:t>
            </a:r>
            <a:r>
              <a:rPr lang="en-US" dirty="0"/>
              <a:t> ASCII.</a:t>
            </a:r>
          </a:p>
          <a:p>
            <a:pPr lvl="1">
              <a:defRPr/>
            </a:pPr>
            <a:r>
              <a:rPr lang="en-US" dirty="0" err="1"/>
              <a:t>Chính</a:t>
            </a:r>
            <a:r>
              <a:rPr lang="en-US" dirty="0"/>
              <a:t> </a:t>
            </a:r>
            <a:r>
              <a:rPr lang="en-US" dirty="0" err="1"/>
              <a:t>là</a:t>
            </a:r>
            <a:r>
              <a:rPr lang="en-US" dirty="0"/>
              <a:t> </a:t>
            </a:r>
            <a:r>
              <a:rPr lang="en-US" dirty="0" err="1"/>
              <a:t>kiểu</a:t>
            </a:r>
            <a:r>
              <a:rPr lang="en-US" dirty="0"/>
              <a:t> </a:t>
            </a:r>
            <a:r>
              <a:rPr lang="en-US" dirty="0" err="1"/>
              <a:t>số</a:t>
            </a:r>
            <a:r>
              <a:rPr lang="en-US" dirty="0"/>
              <a:t> </a:t>
            </a:r>
            <a:r>
              <a:rPr lang="en-US" dirty="0" err="1"/>
              <a:t>nguyên</a:t>
            </a:r>
            <a:r>
              <a:rPr lang="en-US" dirty="0"/>
              <a:t> do:</a:t>
            </a:r>
          </a:p>
          <a:p>
            <a:pPr lvl="2">
              <a:defRPr/>
            </a:pPr>
            <a:r>
              <a:rPr lang="en-US" dirty="0" err="1"/>
              <a:t>Không</a:t>
            </a:r>
            <a:r>
              <a:rPr lang="en-US" dirty="0"/>
              <a:t> l</a:t>
            </a:r>
            <a:r>
              <a:rPr lang="vi-VN" dirty="0"/>
              <a:t>ư</a:t>
            </a:r>
            <a:r>
              <a:rPr lang="en-US" dirty="0"/>
              <a:t>u </a:t>
            </a:r>
            <a:r>
              <a:rPr lang="en-US" dirty="0" err="1"/>
              <a:t>trực</a:t>
            </a:r>
            <a:r>
              <a:rPr lang="en-US" dirty="0"/>
              <a:t> </a:t>
            </a:r>
            <a:r>
              <a:rPr lang="en-US" dirty="0" err="1"/>
              <a:t>tiếp</a:t>
            </a:r>
            <a:r>
              <a:rPr lang="en-US" dirty="0"/>
              <a:t> </a:t>
            </a:r>
            <a:r>
              <a:rPr lang="en-US" dirty="0" err="1"/>
              <a:t>ký</a:t>
            </a:r>
            <a:r>
              <a:rPr lang="en-US" dirty="0"/>
              <a:t> </a:t>
            </a:r>
            <a:r>
              <a:rPr lang="en-US" dirty="0" err="1"/>
              <a:t>tự</a:t>
            </a:r>
            <a:r>
              <a:rPr lang="en-US" dirty="0"/>
              <a:t> </a:t>
            </a:r>
            <a:r>
              <a:rPr lang="en-US" dirty="0" err="1"/>
              <a:t>mà</a:t>
            </a:r>
            <a:r>
              <a:rPr lang="en-US" dirty="0"/>
              <a:t> </a:t>
            </a:r>
            <a:r>
              <a:rPr lang="en-US" dirty="0" err="1"/>
              <a:t>chỉ</a:t>
            </a:r>
            <a:r>
              <a:rPr lang="en-US" dirty="0"/>
              <a:t> l</a:t>
            </a:r>
            <a:r>
              <a:rPr lang="vi-VN" dirty="0"/>
              <a:t>ư</a:t>
            </a:r>
            <a:r>
              <a:rPr lang="en-US" dirty="0"/>
              <a:t>u </a:t>
            </a:r>
            <a:r>
              <a:rPr lang="en-US" dirty="0" err="1"/>
              <a:t>mã</a:t>
            </a:r>
            <a:r>
              <a:rPr lang="en-US" dirty="0"/>
              <a:t> ASCII </a:t>
            </a:r>
            <a:r>
              <a:rPr lang="en-US" dirty="0" err="1"/>
              <a:t>của</a:t>
            </a:r>
            <a:r>
              <a:rPr lang="en-US" dirty="0"/>
              <a:t> </a:t>
            </a:r>
            <a:r>
              <a:rPr lang="en-US" dirty="0" err="1"/>
              <a:t>ký</a:t>
            </a:r>
            <a:r>
              <a:rPr lang="en-US" dirty="0"/>
              <a:t> </a:t>
            </a:r>
            <a:r>
              <a:rPr lang="en-US" dirty="0" err="1"/>
              <a:t>tự</a:t>
            </a:r>
            <a:r>
              <a:rPr lang="en-US" dirty="0"/>
              <a:t> </a:t>
            </a:r>
            <a:r>
              <a:rPr lang="vi-VN" dirty="0"/>
              <a:t>đó</a:t>
            </a:r>
            <a:r>
              <a:rPr lang="en-US" dirty="0"/>
              <a:t>.</a:t>
            </a:r>
          </a:p>
          <a:p>
            <a:pPr>
              <a:defRPr/>
            </a:pPr>
            <a:r>
              <a:rPr lang="en-US" dirty="0" err="1"/>
              <a:t>Ví</a:t>
            </a:r>
            <a:r>
              <a:rPr lang="en-US" dirty="0"/>
              <a:t> </a:t>
            </a:r>
            <a:r>
              <a:rPr lang="en-US" dirty="0" err="1"/>
              <a:t>dụ</a:t>
            </a:r>
            <a:endParaRPr lang="en-US" dirty="0"/>
          </a:p>
          <a:p>
            <a:pPr lvl="1">
              <a:defRPr/>
            </a:pPr>
            <a:r>
              <a:rPr lang="en-US" dirty="0"/>
              <a:t>L</a:t>
            </a:r>
            <a:r>
              <a:rPr lang="vi-VN" dirty="0"/>
              <a:t>ư</a:t>
            </a:r>
            <a:r>
              <a:rPr lang="en-US" dirty="0"/>
              <a:t>u </a:t>
            </a:r>
            <a:r>
              <a:rPr lang="en-US" dirty="0" err="1"/>
              <a:t>số</a:t>
            </a:r>
            <a:r>
              <a:rPr lang="en-US" dirty="0"/>
              <a:t> 65 t</a:t>
            </a:r>
            <a:r>
              <a:rPr lang="vi-VN" dirty="0"/>
              <a:t>ươ</a:t>
            </a:r>
            <a:r>
              <a:rPr lang="en-US" dirty="0"/>
              <a:t>ng </a:t>
            </a:r>
            <a:r>
              <a:rPr lang="vi-VN" dirty="0"/>
              <a:t>đươ</a:t>
            </a:r>
            <a:r>
              <a:rPr lang="en-US" dirty="0"/>
              <a:t>ng </a:t>
            </a:r>
            <a:r>
              <a:rPr lang="en-US" dirty="0" err="1"/>
              <a:t>với</a:t>
            </a:r>
            <a:r>
              <a:rPr lang="en-US" dirty="0"/>
              <a:t> </a:t>
            </a:r>
            <a:r>
              <a:rPr lang="en-US" dirty="0" err="1"/>
              <a:t>ký</a:t>
            </a:r>
            <a:r>
              <a:rPr lang="en-US" dirty="0"/>
              <a:t> </a:t>
            </a:r>
            <a:r>
              <a:rPr lang="en-US" dirty="0" err="1"/>
              <a:t>tự</a:t>
            </a:r>
            <a:r>
              <a:rPr lang="en-US" dirty="0"/>
              <a:t> ‘A’</a:t>
            </a:r>
          </a:p>
          <a:p>
            <a:pPr lvl="1">
              <a:defRPr/>
            </a:pPr>
            <a:r>
              <a:rPr lang="en-US" dirty="0"/>
              <a:t>L</a:t>
            </a:r>
            <a:r>
              <a:rPr lang="vi-VN" dirty="0"/>
              <a:t>ư</a:t>
            </a:r>
            <a:r>
              <a:rPr lang="en-US" dirty="0"/>
              <a:t>u </a:t>
            </a:r>
            <a:r>
              <a:rPr lang="en-US" dirty="0" err="1"/>
              <a:t>số</a:t>
            </a:r>
            <a:r>
              <a:rPr lang="en-US" dirty="0"/>
              <a:t> 97 t</a:t>
            </a:r>
            <a:r>
              <a:rPr lang="vi-VN" dirty="0"/>
              <a:t>ươ</a:t>
            </a:r>
            <a:r>
              <a:rPr lang="en-US" dirty="0"/>
              <a:t>ng </a:t>
            </a:r>
            <a:r>
              <a:rPr lang="vi-VN" dirty="0"/>
              <a:t>đươ</a:t>
            </a:r>
            <a:r>
              <a:rPr lang="en-US" dirty="0"/>
              <a:t>ng </a:t>
            </a:r>
            <a:r>
              <a:rPr lang="en-US" dirty="0" err="1"/>
              <a:t>với</a:t>
            </a:r>
            <a:r>
              <a:rPr lang="en-US" dirty="0"/>
              <a:t> </a:t>
            </a:r>
            <a:r>
              <a:rPr lang="en-US" dirty="0" err="1"/>
              <a:t>ký</a:t>
            </a:r>
            <a:r>
              <a:rPr lang="en-US" dirty="0"/>
              <a:t> </a:t>
            </a:r>
            <a:r>
              <a:rPr lang="en-US" dirty="0" err="1"/>
              <a:t>tự</a:t>
            </a:r>
            <a:r>
              <a:rPr lang="en-US" dirty="0"/>
              <a:t> ‘a’</a:t>
            </a:r>
          </a:p>
          <a:p>
            <a:pPr>
              <a:defRPr/>
            </a:pPr>
            <a:r>
              <a:rPr lang="en-US" dirty="0" err="1"/>
              <a:t>Hằng</a:t>
            </a:r>
            <a:r>
              <a:rPr lang="en-US" dirty="0"/>
              <a:t> </a:t>
            </a:r>
            <a:r>
              <a:rPr lang="en-US" dirty="0" err="1"/>
              <a:t>kí</a:t>
            </a:r>
            <a:r>
              <a:rPr lang="en-US" dirty="0"/>
              <a:t> </a:t>
            </a:r>
            <a:r>
              <a:rPr lang="en-US" dirty="0" err="1"/>
              <a:t>tự</a:t>
            </a:r>
            <a:endParaRPr lang="en-US" dirty="0"/>
          </a:p>
          <a:p>
            <a:pPr lvl="1">
              <a:defRPr/>
            </a:pPr>
            <a:r>
              <a:rPr lang="en-US" dirty="0" err="1"/>
              <a:t>Đặt</a:t>
            </a:r>
            <a:r>
              <a:rPr lang="en-US" dirty="0"/>
              <a:t> </a:t>
            </a:r>
            <a:r>
              <a:rPr lang="en-US" dirty="0" err="1"/>
              <a:t>giữa</a:t>
            </a:r>
            <a:r>
              <a:rPr lang="en-US" dirty="0"/>
              <a:t> </a:t>
            </a:r>
            <a:r>
              <a:rPr lang="en-US" dirty="0" err="1"/>
              <a:t>hai</a:t>
            </a:r>
            <a:r>
              <a:rPr lang="en-US" dirty="0"/>
              <a:t> </a:t>
            </a:r>
            <a:r>
              <a:rPr lang="en-US" dirty="0" err="1"/>
              <a:t>dấu</a:t>
            </a:r>
            <a:r>
              <a:rPr lang="en-US" dirty="0"/>
              <a:t> </a:t>
            </a:r>
            <a:r>
              <a:rPr lang="en-US" dirty="0" err="1"/>
              <a:t>phẩy</a:t>
            </a:r>
            <a:r>
              <a:rPr lang="en-US" dirty="0"/>
              <a:t> </a:t>
            </a:r>
            <a:r>
              <a:rPr lang="en-US" dirty="0" err="1"/>
              <a:t>trên</a:t>
            </a:r>
            <a:endParaRPr lang="en-US" dirty="0"/>
          </a:p>
          <a:p>
            <a:pPr lvl="1">
              <a:defRPr/>
            </a:pPr>
            <a:r>
              <a:rPr lang="en-US" dirty="0" err="1"/>
              <a:t>Ví</a:t>
            </a:r>
            <a:r>
              <a:rPr lang="en-US" dirty="0"/>
              <a:t> </a:t>
            </a:r>
            <a:r>
              <a:rPr lang="en-US" dirty="0" err="1"/>
              <a:t>dụ</a:t>
            </a:r>
            <a:r>
              <a:rPr lang="en-US" dirty="0"/>
              <a:t>: </a:t>
            </a:r>
            <a:r>
              <a:rPr lang="en-US" dirty="0">
                <a:latin typeface="Courier New" pitchFamily="49" charset="0"/>
                <a:cs typeface="Courier New" pitchFamily="49" charset="0"/>
              </a:rPr>
              <a:t>‘</a:t>
            </a:r>
            <a:r>
              <a:rPr lang="en-US" dirty="0">
                <a:solidFill>
                  <a:srgbClr val="FF0000"/>
                </a:solidFill>
                <a:latin typeface="Courier New" pitchFamily="49" charset="0"/>
                <a:cs typeface="Courier New" pitchFamily="49" charset="0"/>
              </a:rPr>
              <a:t>a</a:t>
            </a:r>
            <a:r>
              <a:rPr lang="en-US" dirty="0">
                <a:latin typeface="Courier New" pitchFamily="49" charset="0"/>
                <a:cs typeface="Courier New" pitchFamily="49" charset="0"/>
              </a:rPr>
              <a:t>’ ‘</a:t>
            </a:r>
            <a:r>
              <a:rPr lang="en-US" dirty="0">
                <a:solidFill>
                  <a:srgbClr val="FF0000"/>
                </a:solidFill>
                <a:latin typeface="Courier New" pitchFamily="49" charset="0"/>
                <a:cs typeface="Courier New" pitchFamily="49" charset="0"/>
              </a:rPr>
              <a:t>A</a:t>
            </a:r>
            <a:r>
              <a:rPr lang="en-US" dirty="0">
                <a:latin typeface="Courier New" pitchFamily="49" charset="0"/>
                <a:cs typeface="Courier New" pitchFamily="49" charset="0"/>
              </a:rPr>
              <a:t>’ ‘</a:t>
            </a:r>
            <a:r>
              <a:rPr lang="en-US" dirty="0">
                <a:solidFill>
                  <a:srgbClr val="FF0000"/>
                </a:solidFill>
                <a:latin typeface="Courier New" pitchFamily="49" charset="0"/>
                <a:cs typeface="Courier New" pitchFamily="49" charset="0"/>
              </a:rPr>
              <a:t>z</a:t>
            </a:r>
            <a:r>
              <a:rPr lang="en-US" dirty="0">
                <a:latin typeface="Courier New" pitchFamily="49" charset="0"/>
                <a:cs typeface="Courier New" pitchFamily="49" charset="0"/>
              </a:rPr>
              <a:t>’</a:t>
            </a:r>
          </a:p>
        </p:txBody>
      </p:sp>
      <p:sp>
        <p:nvSpPr>
          <p:cNvPr id="22532"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F259F929-3AAB-4952-B8F6-C7A77D780F4C}"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20</a:t>
            </a:fld>
            <a:r>
              <a:rPr lang="vi-VN"/>
              <a:t>/59</a:t>
            </a:r>
          </a:p>
        </p:txBody>
      </p:sp>
    </p:spTree>
    <p:extLst>
      <p:ext uri="{BB962C8B-B14F-4D97-AF65-F5344CB8AC3E}">
        <p14:creationId xmlns:p14="http://schemas.microsoft.com/office/powerpoint/2010/main" val="1183147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anim calcmode="lin" valueType="num">
                                      <p:cBhvr>
                                        <p:cTn id="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anim calcmode="lin" valueType="num">
                                      <p:cBhvr>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anim calcmode="lin" valueType="num">
                                      <p:cBhvr>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anim calcmode="lin" valueType="num">
                                      <p:cBhvr>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anim calcmode="lin" valueType="num">
                                      <p:cBhvr>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anim calcmode="lin" valueType="num">
                                      <p:cBhvr>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5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anim calcmode="lin" valueType="num">
                                      <p:cBhvr>
                                        <p:cTn id="4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500" fill="hold"/>
                                        <p:tgtEl>
                                          <p:spTgt spid="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anim calcmode="lin" valueType="num">
                                      <p:cBhvr>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8" dur="500" fill="hold"/>
                                        <p:tgtEl>
                                          <p:spTgt spid="3">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fade">
                                      <p:cBhvr>
                                        <p:cTn id="51" dur="500"/>
                                        <p:tgtEl>
                                          <p:spTgt spid="3">
                                            <p:txEl>
                                              <p:pRg st="8" end="8"/>
                                            </p:txEl>
                                          </p:spTgt>
                                        </p:tgtEl>
                                      </p:cBhvr>
                                    </p:animEffect>
                                    <p:anim calcmode="lin" valueType="num">
                                      <p:cBhvr>
                                        <p:cTn id="52"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3" dur="500" fill="hold"/>
                                        <p:tgtEl>
                                          <p:spTgt spid="3">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fade">
                                      <p:cBhvr>
                                        <p:cTn id="56" dur="500"/>
                                        <p:tgtEl>
                                          <p:spTgt spid="3">
                                            <p:txEl>
                                              <p:pRg st="9" end="9"/>
                                            </p:txEl>
                                          </p:spTgt>
                                        </p:tgtEl>
                                      </p:cBhvr>
                                    </p:animEffect>
                                    <p:anim calcmode="lin" valueType="num">
                                      <p:cBhvr>
                                        <p:cTn id="5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8" dur="500" fill="hold"/>
                                        <p:tgtEl>
                                          <p:spTgt spid="3">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Effect transition="in" filter="fade">
                                      <p:cBhvr>
                                        <p:cTn id="61" dur="500"/>
                                        <p:tgtEl>
                                          <p:spTgt spid="3">
                                            <p:txEl>
                                              <p:pRg st="10" end="10"/>
                                            </p:txEl>
                                          </p:spTgt>
                                        </p:tgtEl>
                                      </p:cBhvr>
                                    </p:animEffect>
                                    <p:anim calcmode="lin" valueType="num">
                                      <p:cBhvr>
                                        <p:cTn id="62"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3" dur="5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ký tự (tt)</a:t>
            </a:r>
            <a:endParaRPr lang="vi-VN"/>
          </a:p>
        </p:txBody>
      </p:sp>
      <p:sp>
        <p:nvSpPr>
          <p:cNvPr id="3" name="Content Placeholder 2"/>
          <p:cNvSpPr>
            <a:spLocks noGrp="1"/>
          </p:cNvSpPr>
          <p:nvPr>
            <p:ph idx="1"/>
          </p:nvPr>
        </p:nvSpPr>
        <p:spPr/>
        <p:txBody>
          <a:bodyPr/>
          <a:lstStyle/>
          <a:p>
            <a:r>
              <a:rPr lang="en-US"/>
              <a:t>Biểu diễn một kí tự trong bảng mã ASCII</a:t>
            </a:r>
          </a:p>
          <a:p>
            <a:pPr lvl="1"/>
            <a:r>
              <a:rPr lang="en-US"/>
              <a:t>\x</a:t>
            </a:r>
            <a:r>
              <a:rPr lang="en-US">
                <a:solidFill>
                  <a:srgbClr val="FF0000"/>
                </a:solidFill>
              </a:rPr>
              <a:t>HHH</a:t>
            </a:r>
            <a:r>
              <a:rPr lang="en-US"/>
              <a:t> (HHH là giá trị số Hexa của kí tự)</a:t>
            </a:r>
          </a:p>
          <a:p>
            <a:pPr lvl="1"/>
            <a:r>
              <a:rPr lang="en-US"/>
              <a:t>\</a:t>
            </a:r>
            <a:r>
              <a:rPr lang="en-US">
                <a:solidFill>
                  <a:srgbClr val="FF0000"/>
                </a:solidFill>
              </a:rPr>
              <a:t>DDD</a:t>
            </a:r>
            <a:r>
              <a:rPr lang="en-US"/>
              <a:t> (DDD là giá trị số Octa của kí tự)</a:t>
            </a:r>
          </a:p>
          <a:p>
            <a:pPr lvl="1"/>
            <a:r>
              <a:rPr lang="en-US"/>
              <a:t>Ví dụ: ‘</a:t>
            </a:r>
            <a:r>
              <a:rPr lang="en-US">
                <a:solidFill>
                  <a:srgbClr val="FF0000"/>
                </a:solidFill>
              </a:rPr>
              <a:t>A</a:t>
            </a:r>
            <a:r>
              <a:rPr lang="en-US"/>
              <a:t>’ được viết dưới dạng </a:t>
            </a:r>
            <a:r>
              <a:rPr lang="en-US">
                <a:solidFill>
                  <a:srgbClr val="FF0000"/>
                </a:solidFill>
                <a:latin typeface="Courier New" pitchFamily="49" charset="0"/>
                <a:cs typeface="Courier New" pitchFamily="49" charset="0"/>
              </a:rPr>
              <a:t>\x41 </a:t>
            </a:r>
            <a:r>
              <a:rPr lang="en-US"/>
              <a:t>hoặc </a:t>
            </a:r>
            <a:r>
              <a:rPr lang="en-US">
                <a:solidFill>
                  <a:srgbClr val="FF0000"/>
                </a:solidFill>
                <a:latin typeface="Courier New" pitchFamily="49" charset="0"/>
                <a:cs typeface="Courier New" pitchFamily="49" charset="0"/>
              </a:rPr>
              <a:t>\101</a:t>
            </a:r>
          </a:p>
          <a:p>
            <a:endParaRPr lang="en-US"/>
          </a:p>
          <a:p>
            <a:endParaRPr lang="en-US"/>
          </a:p>
          <a:p>
            <a:endParaRPr lang="en-US"/>
          </a:p>
          <a:p>
            <a:endParaRPr lang="en-US"/>
          </a:p>
          <a:p>
            <a:endParaRPr lang="en-US"/>
          </a:p>
          <a:p>
            <a:endParaRPr lang="vi-VN"/>
          </a:p>
        </p:txBody>
      </p:sp>
      <p:sp>
        <p:nvSpPr>
          <p:cNvPr id="4" name="Date Placeholder 3"/>
          <p:cNvSpPr>
            <a:spLocks noGrp="1"/>
          </p:cNvSpPr>
          <p:nvPr>
            <p:ph type="dt" sz="half" idx="10"/>
          </p:nvPr>
        </p:nvSpPr>
        <p:spPr/>
        <p:txBody>
          <a:bodyPr/>
          <a:lstStyle/>
          <a:p>
            <a:fld id="{44CB3124-5C41-408E-8227-1380066E69D2}"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graphicFrame>
        <p:nvGraphicFramePr>
          <p:cNvPr id="7" name="Table 6"/>
          <p:cNvGraphicFramePr>
            <a:graphicFrameLocks noGrp="1"/>
          </p:cNvGraphicFramePr>
          <p:nvPr>
            <p:extLst>
              <p:ext uri="{D42A27DB-BD31-4B8C-83A1-F6EECF244321}">
                <p14:modId xmlns:p14="http://schemas.microsoft.com/office/powerpoint/2010/main" val="2580193961"/>
              </p:ext>
            </p:extLst>
          </p:nvPr>
        </p:nvGraphicFramePr>
        <p:xfrm>
          <a:off x="1043608" y="2996952"/>
          <a:ext cx="7488831" cy="3234576"/>
        </p:xfrm>
        <a:graphic>
          <a:graphicData uri="http://schemas.openxmlformats.org/drawingml/2006/table">
            <a:tbl>
              <a:tblPr firstRow="1" bandRow="1">
                <a:tableStyleId>{0E3FDE45-AF77-4B5C-9715-49D594BDF05E}</a:tableStyleId>
              </a:tblPr>
              <a:tblGrid>
                <a:gridCol w="2232248">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3600399">
                  <a:extLst>
                    <a:ext uri="{9D8B030D-6E8A-4147-A177-3AD203B41FA5}">
                      <a16:colId xmlns:a16="http://schemas.microsoft.com/office/drawing/2014/main" val="20002"/>
                    </a:ext>
                  </a:extLst>
                </a:gridCol>
              </a:tblGrid>
              <a:tr h="0">
                <a:tc>
                  <a:txBody>
                    <a:bodyPr/>
                    <a:lstStyle/>
                    <a:p>
                      <a:pPr algn="ctr"/>
                      <a:r>
                        <a:rPr lang="en-US" sz="2000"/>
                        <a:t>Kí</a:t>
                      </a:r>
                      <a:r>
                        <a:rPr lang="en-US" sz="2000" baseline="0"/>
                        <a:t> tự</a:t>
                      </a:r>
                      <a:endParaRPr lang="vi-VN" sz="2000"/>
                    </a:p>
                  </a:txBody>
                  <a:tcPr/>
                </a:tc>
                <a:tc>
                  <a:txBody>
                    <a:bodyPr/>
                    <a:lstStyle/>
                    <a:p>
                      <a:pPr algn="ctr"/>
                      <a:r>
                        <a:rPr lang="en-US" sz="2000"/>
                        <a:t>Dãy</a:t>
                      </a:r>
                      <a:r>
                        <a:rPr lang="en-US" sz="2000" baseline="0"/>
                        <a:t> mã</a:t>
                      </a:r>
                      <a:endParaRPr lang="vi-VN" sz="2000"/>
                    </a:p>
                  </a:txBody>
                  <a:tcPr/>
                </a:tc>
                <a:tc>
                  <a:txBody>
                    <a:bodyPr/>
                    <a:lstStyle/>
                    <a:p>
                      <a:pPr algn="ctr"/>
                      <a:r>
                        <a:rPr lang="en-US" sz="2000"/>
                        <a:t>Giá</a:t>
                      </a:r>
                      <a:r>
                        <a:rPr lang="en-US" sz="2000" baseline="0"/>
                        <a:t> trị trong bảng ASCII</a:t>
                      </a:r>
                      <a:endParaRPr lang="vi-VN" sz="2000"/>
                    </a:p>
                  </a:txBody>
                  <a:tcPr/>
                </a:tc>
                <a:extLst>
                  <a:ext uri="{0D108BD9-81ED-4DB2-BD59-A6C34878D82A}">
                    <a16:rowId xmlns:a16="http://schemas.microsoft.com/office/drawing/2014/main" val="10000"/>
                  </a:ext>
                </a:extLst>
              </a:tr>
              <a:tr h="370840">
                <a:tc>
                  <a:txBody>
                    <a:bodyPr/>
                    <a:lstStyle/>
                    <a:p>
                      <a:r>
                        <a:rPr lang="en-US" sz="2000"/>
                        <a:t>Xoá</a:t>
                      </a:r>
                      <a:r>
                        <a:rPr lang="en-US" sz="2000" baseline="0"/>
                        <a:t> trái</a:t>
                      </a:r>
                      <a:endParaRPr lang="vi-VN" sz="2000"/>
                    </a:p>
                  </a:txBody>
                  <a:tcPr/>
                </a:tc>
                <a:tc>
                  <a:txBody>
                    <a:bodyPr/>
                    <a:lstStyle/>
                    <a:p>
                      <a:pPr algn="ctr"/>
                      <a:r>
                        <a:rPr lang="en-US" sz="2000"/>
                        <a:t>\b</a:t>
                      </a:r>
                      <a:endParaRPr lang="vi-VN" sz="2000"/>
                    </a:p>
                  </a:txBody>
                  <a:tcPr/>
                </a:tc>
                <a:tc>
                  <a:txBody>
                    <a:bodyPr/>
                    <a:lstStyle/>
                    <a:p>
                      <a:pPr algn="ctr"/>
                      <a:r>
                        <a:rPr lang="en-US" sz="2000"/>
                        <a:t>x08</a:t>
                      </a:r>
                      <a:endParaRPr lang="vi-VN" sz="2000"/>
                    </a:p>
                  </a:txBody>
                  <a:tcPr/>
                </a:tc>
                <a:extLst>
                  <a:ext uri="{0D108BD9-81ED-4DB2-BD59-A6C34878D82A}">
                    <a16:rowId xmlns:a16="http://schemas.microsoft.com/office/drawing/2014/main" val="10001"/>
                  </a:ext>
                </a:extLst>
              </a:tr>
              <a:tr h="460896">
                <a:tc>
                  <a:txBody>
                    <a:bodyPr/>
                    <a:lstStyle/>
                    <a:p>
                      <a:r>
                        <a:rPr lang="en-US" sz="2000"/>
                        <a:t>Nhảy</a:t>
                      </a:r>
                      <a:r>
                        <a:rPr lang="en-US" sz="2000" baseline="0"/>
                        <a:t> cách ngang</a:t>
                      </a:r>
                      <a:endParaRPr lang="vi-VN" sz="2000"/>
                    </a:p>
                  </a:txBody>
                  <a:tcPr/>
                </a:tc>
                <a:tc>
                  <a:txBody>
                    <a:bodyPr/>
                    <a:lstStyle/>
                    <a:p>
                      <a:pPr algn="ctr"/>
                      <a:r>
                        <a:rPr lang="en-US" sz="2000"/>
                        <a:t>\t</a:t>
                      </a:r>
                      <a:endParaRPr lang="vi-VN" sz="2000"/>
                    </a:p>
                  </a:txBody>
                  <a:tcPr/>
                </a:tc>
                <a:tc>
                  <a:txBody>
                    <a:bodyPr/>
                    <a:lstStyle/>
                    <a:p>
                      <a:pPr algn="ctr"/>
                      <a:r>
                        <a:rPr lang="en-US" sz="2000"/>
                        <a:t>x09</a:t>
                      </a:r>
                      <a:endParaRPr lang="vi-VN" sz="2000"/>
                    </a:p>
                  </a:txBody>
                  <a:tcPr/>
                </a:tc>
                <a:extLst>
                  <a:ext uri="{0D108BD9-81ED-4DB2-BD59-A6C34878D82A}">
                    <a16:rowId xmlns:a16="http://schemas.microsoft.com/office/drawing/2014/main" val="10002"/>
                  </a:ext>
                </a:extLst>
              </a:tr>
              <a:tr h="370840">
                <a:tc>
                  <a:txBody>
                    <a:bodyPr/>
                    <a:lstStyle/>
                    <a:p>
                      <a:r>
                        <a:rPr lang="en-US" sz="2000"/>
                        <a:t>Xuống</a:t>
                      </a:r>
                      <a:r>
                        <a:rPr lang="en-US" sz="2000" baseline="0"/>
                        <a:t> dòng </a:t>
                      </a:r>
                      <a:endParaRPr lang="vi-VN" sz="2000"/>
                    </a:p>
                  </a:txBody>
                  <a:tcPr/>
                </a:tc>
                <a:tc>
                  <a:txBody>
                    <a:bodyPr/>
                    <a:lstStyle/>
                    <a:p>
                      <a:pPr algn="ctr"/>
                      <a:r>
                        <a:rPr lang="en-US" sz="2000"/>
                        <a:t>\n</a:t>
                      </a:r>
                      <a:endParaRPr lang="vi-VN" sz="2000"/>
                    </a:p>
                  </a:txBody>
                  <a:tcPr/>
                </a:tc>
                <a:tc>
                  <a:txBody>
                    <a:bodyPr/>
                    <a:lstStyle/>
                    <a:p>
                      <a:pPr algn="ctr"/>
                      <a:r>
                        <a:rPr lang="en-US" sz="2000"/>
                        <a:t>x0A</a:t>
                      </a:r>
                      <a:endParaRPr lang="vi-VN" sz="2000"/>
                    </a:p>
                  </a:txBody>
                  <a:tcPr/>
                </a:tc>
                <a:extLst>
                  <a:ext uri="{0D108BD9-81ED-4DB2-BD59-A6C34878D82A}">
                    <a16:rowId xmlns:a16="http://schemas.microsoft.com/office/drawing/2014/main" val="10003"/>
                  </a:ext>
                </a:extLst>
              </a:tr>
              <a:tr h="370840">
                <a:tc>
                  <a:txBody>
                    <a:bodyPr/>
                    <a:lstStyle/>
                    <a:p>
                      <a:r>
                        <a:rPr lang="en-US" sz="2000"/>
                        <a:t>Dấu</a:t>
                      </a:r>
                      <a:r>
                        <a:rPr lang="en-US" sz="2000" baseline="0"/>
                        <a:t> “</a:t>
                      </a:r>
                      <a:endParaRPr lang="vi-VN" sz="2000"/>
                    </a:p>
                  </a:txBody>
                  <a:tcPr/>
                </a:tc>
                <a:tc>
                  <a:txBody>
                    <a:bodyPr/>
                    <a:lstStyle/>
                    <a:p>
                      <a:pPr algn="ctr"/>
                      <a:r>
                        <a:rPr lang="en-US" sz="2000"/>
                        <a:t>\”</a:t>
                      </a:r>
                      <a:endParaRPr lang="vi-VN" sz="2000"/>
                    </a:p>
                  </a:txBody>
                  <a:tcPr/>
                </a:tc>
                <a:tc>
                  <a:txBody>
                    <a:bodyPr/>
                    <a:lstStyle/>
                    <a:p>
                      <a:pPr algn="ctr"/>
                      <a:r>
                        <a:rPr lang="en-US" sz="2000"/>
                        <a:t>x22</a:t>
                      </a:r>
                      <a:endParaRPr lang="vi-VN" sz="2000"/>
                    </a:p>
                  </a:txBody>
                  <a:tcPr/>
                </a:tc>
                <a:extLst>
                  <a:ext uri="{0D108BD9-81ED-4DB2-BD59-A6C34878D82A}">
                    <a16:rowId xmlns:a16="http://schemas.microsoft.com/office/drawing/2014/main" val="10004"/>
                  </a:ext>
                </a:extLst>
              </a:tr>
              <a:tr h="370840">
                <a:tc>
                  <a:txBody>
                    <a:bodyPr/>
                    <a:lstStyle/>
                    <a:p>
                      <a:r>
                        <a:rPr lang="en-US" sz="2000"/>
                        <a:t>Dấu</a:t>
                      </a:r>
                      <a:r>
                        <a:rPr lang="en-US" sz="2000" baseline="0"/>
                        <a:t> ‘</a:t>
                      </a:r>
                      <a:endParaRPr lang="vi-VN" sz="2000"/>
                    </a:p>
                  </a:txBody>
                  <a:tcPr/>
                </a:tc>
                <a:tc>
                  <a:txBody>
                    <a:bodyPr/>
                    <a:lstStyle/>
                    <a:p>
                      <a:pPr algn="ctr"/>
                      <a:r>
                        <a:rPr lang="en-US" sz="2000"/>
                        <a:t>\’</a:t>
                      </a:r>
                      <a:endParaRPr lang="vi-VN" sz="2000"/>
                    </a:p>
                  </a:txBody>
                  <a:tcPr/>
                </a:tc>
                <a:tc>
                  <a:txBody>
                    <a:bodyPr/>
                    <a:lstStyle/>
                    <a:p>
                      <a:pPr algn="ctr"/>
                      <a:r>
                        <a:rPr lang="en-US" sz="2000"/>
                        <a:t>x27</a:t>
                      </a:r>
                      <a:endParaRPr lang="vi-VN" sz="2000"/>
                    </a:p>
                  </a:txBody>
                  <a:tcPr/>
                </a:tc>
                <a:extLst>
                  <a:ext uri="{0D108BD9-81ED-4DB2-BD59-A6C34878D82A}">
                    <a16:rowId xmlns:a16="http://schemas.microsoft.com/office/drawing/2014/main" val="10005"/>
                  </a:ext>
                </a:extLst>
              </a:tr>
              <a:tr h="370840">
                <a:tc>
                  <a:txBody>
                    <a:bodyPr/>
                    <a:lstStyle/>
                    <a:p>
                      <a:r>
                        <a:rPr lang="en-US" sz="2000"/>
                        <a:t>Dấu</a:t>
                      </a:r>
                      <a:r>
                        <a:rPr lang="en-US" sz="2000" baseline="0"/>
                        <a:t> \</a:t>
                      </a:r>
                      <a:endParaRPr lang="vi-VN" sz="2000"/>
                    </a:p>
                  </a:txBody>
                  <a:tcPr/>
                </a:tc>
                <a:tc>
                  <a:txBody>
                    <a:bodyPr/>
                    <a:lstStyle/>
                    <a:p>
                      <a:pPr algn="ctr"/>
                      <a:r>
                        <a:rPr lang="en-US" sz="2000"/>
                        <a:t>\\</a:t>
                      </a:r>
                      <a:endParaRPr lang="vi-VN" sz="2000"/>
                    </a:p>
                  </a:txBody>
                  <a:tcPr/>
                </a:tc>
                <a:tc>
                  <a:txBody>
                    <a:bodyPr/>
                    <a:lstStyle/>
                    <a:p>
                      <a:pPr algn="ctr"/>
                      <a:r>
                        <a:rPr lang="en-US" sz="2000"/>
                        <a:t>x5C</a:t>
                      </a:r>
                      <a:endParaRPr lang="vi-VN" sz="2000"/>
                    </a:p>
                  </a:txBody>
                  <a:tcPr/>
                </a:tc>
                <a:extLst>
                  <a:ext uri="{0D108BD9-81ED-4DB2-BD59-A6C34878D82A}">
                    <a16:rowId xmlns:a16="http://schemas.microsoft.com/office/drawing/2014/main" val="10006"/>
                  </a:ext>
                </a:extLst>
              </a:tr>
              <a:tr h="370840">
                <a:tc>
                  <a:txBody>
                    <a:bodyPr/>
                    <a:lstStyle/>
                    <a:p>
                      <a:r>
                        <a:rPr lang="en-US" sz="2000"/>
                        <a:t>Mã</a:t>
                      </a:r>
                      <a:r>
                        <a:rPr lang="en-US" sz="2000" baseline="0"/>
                        <a:t> null</a:t>
                      </a:r>
                      <a:endParaRPr lang="vi-VN" sz="2000"/>
                    </a:p>
                  </a:txBody>
                  <a:tcPr/>
                </a:tc>
                <a:tc>
                  <a:txBody>
                    <a:bodyPr/>
                    <a:lstStyle/>
                    <a:p>
                      <a:pPr algn="ctr"/>
                      <a:r>
                        <a:rPr lang="en-US" sz="2000"/>
                        <a:t>\0</a:t>
                      </a:r>
                      <a:endParaRPr lang="vi-VN" sz="2000"/>
                    </a:p>
                  </a:txBody>
                  <a:tcPr/>
                </a:tc>
                <a:tc>
                  <a:txBody>
                    <a:bodyPr/>
                    <a:lstStyle/>
                    <a:p>
                      <a:pPr algn="ctr"/>
                      <a:r>
                        <a:rPr lang="en-US" sz="2000"/>
                        <a:t>x00</a:t>
                      </a:r>
                      <a:endParaRPr lang="vi-VN" sz="2000"/>
                    </a:p>
                  </a:txBody>
                  <a:tcPr/>
                </a:tc>
                <a:extLst>
                  <a:ext uri="{0D108BD9-81ED-4DB2-BD59-A6C34878D82A}">
                    <a16:rowId xmlns:a16="http://schemas.microsoft.com/office/drawing/2014/main" val="10007"/>
                  </a:ext>
                </a:extLst>
              </a:tr>
            </a:tbl>
          </a:graphicData>
        </a:graphic>
      </p:graphicFrame>
      <p:sp>
        <p:nvSpPr>
          <p:cNvPr id="11" name="Slide Number Placeholder 10"/>
          <p:cNvSpPr>
            <a:spLocks noGrp="1"/>
          </p:cNvSpPr>
          <p:nvPr>
            <p:ph type="sldNum" sz="quarter" idx="12"/>
          </p:nvPr>
        </p:nvSpPr>
        <p:spPr/>
        <p:txBody>
          <a:bodyPr/>
          <a:lstStyle/>
          <a:p>
            <a:fld id="{5AB95402-1E0D-474E-8D8C-CBE7F053639E}" type="slidenum">
              <a:rPr lang="vi-VN" smtClean="0"/>
              <a:pPr/>
              <a:t>21</a:t>
            </a:fld>
            <a:r>
              <a:rPr lang="vi-VN"/>
              <a:t>/59</a:t>
            </a:r>
          </a:p>
        </p:txBody>
      </p:sp>
    </p:spTree>
    <p:extLst>
      <p:ext uri="{BB962C8B-B14F-4D97-AF65-F5344CB8AC3E}">
        <p14:creationId xmlns:p14="http://schemas.microsoft.com/office/powerpoint/2010/main" val="4050047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ký tự (tt)</a:t>
            </a:r>
            <a:endParaRPr lang="vi-VN"/>
          </a:p>
        </p:txBody>
      </p:sp>
      <p:sp>
        <p:nvSpPr>
          <p:cNvPr id="3" name="Content Placeholder 2"/>
          <p:cNvSpPr>
            <a:spLocks noGrp="1"/>
          </p:cNvSpPr>
          <p:nvPr>
            <p:ph idx="1"/>
          </p:nvPr>
        </p:nvSpPr>
        <p:spPr>
          <a:xfrm>
            <a:off x="762000" y="1143000"/>
            <a:ext cx="8058472" cy="5181600"/>
          </a:xfrm>
        </p:spPr>
        <p:txBody>
          <a:bodyPr/>
          <a:lstStyle/>
          <a:p>
            <a:r>
              <a:rPr lang="en-US"/>
              <a:t>Các hàm xử lí kí tự</a:t>
            </a:r>
          </a:p>
          <a:p>
            <a:pPr lvl="1"/>
            <a:r>
              <a:rPr lang="en-US">
                <a:latin typeface="Courier New" pitchFamily="49" charset="0"/>
                <a:cs typeface="Courier New" pitchFamily="49" charset="0"/>
              </a:rPr>
              <a:t>toASCII(</a:t>
            </a:r>
            <a:r>
              <a:rPr lang="en-US">
                <a:solidFill>
                  <a:srgbClr val="FF0000"/>
                </a:solidFill>
                <a:latin typeface="Courier New" pitchFamily="49" charset="0"/>
                <a:cs typeface="Courier New" pitchFamily="49" charset="0"/>
              </a:rPr>
              <a:t>kitu</a:t>
            </a:r>
            <a:r>
              <a:rPr lang="en-US">
                <a:latin typeface="Courier New" pitchFamily="49" charset="0"/>
                <a:cs typeface="Courier New" pitchFamily="49" charset="0"/>
              </a:rPr>
              <a:t>)</a:t>
            </a:r>
            <a:r>
              <a:rPr lang="en-US"/>
              <a:t>: chuyển kitu thành giá trị mã ASCII</a:t>
            </a:r>
          </a:p>
          <a:p>
            <a:pPr lvl="1"/>
            <a:r>
              <a:rPr lang="en-US">
                <a:latin typeface="Courier New" pitchFamily="49" charset="0"/>
                <a:cs typeface="Courier New" pitchFamily="49" charset="0"/>
              </a:rPr>
              <a:t>tolower(</a:t>
            </a:r>
            <a:r>
              <a:rPr lang="en-US">
                <a:solidFill>
                  <a:srgbClr val="FF0000"/>
                </a:solidFill>
                <a:latin typeface="Courier New" pitchFamily="49" charset="0"/>
                <a:cs typeface="Courier New" pitchFamily="49" charset="0"/>
              </a:rPr>
              <a:t>kitu</a:t>
            </a:r>
            <a:r>
              <a:rPr lang="en-US">
                <a:latin typeface="Courier New" pitchFamily="49" charset="0"/>
                <a:cs typeface="Courier New" pitchFamily="49" charset="0"/>
              </a:rPr>
              <a:t>)</a:t>
            </a:r>
            <a:r>
              <a:rPr lang="en-US"/>
              <a:t>: chuyển thành chữ thường</a:t>
            </a:r>
          </a:p>
          <a:p>
            <a:pPr lvl="1"/>
            <a:r>
              <a:rPr lang="en-US">
                <a:latin typeface="Courier New" pitchFamily="49" charset="0"/>
                <a:cs typeface="Courier New" pitchFamily="49" charset="0"/>
              </a:rPr>
              <a:t>toupper(</a:t>
            </a:r>
            <a:r>
              <a:rPr lang="en-US">
                <a:solidFill>
                  <a:srgbClr val="FF0000"/>
                </a:solidFill>
                <a:latin typeface="Courier New" pitchFamily="49" charset="0"/>
                <a:cs typeface="Courier New" pitchFamily="49" charset="0"/>
              </a:rPr>
              <a:t>kitu</a:t>
            </a:r>
            <a:r>
              <a:rPr lang="en-US">
                <a:latin typeface="Courier New" pitchFamily="49" charset="0"/>
                <a:cs typeface="Courier New" pitchFamily="49" charset="0"/>
              </a:rPr>
              <a:t>)</a:t>
            </a:r>
            <a:r>
              <a:rPr lang="en-US"/>
              <a:t>: chuyển thành chữ hoa</a:t>
            </a:r>
          </a:p>
          <a:p>
            <a:r>
              <a:rPr lang="en-US"/>
              <a:t>Hằng xâu kí tự</a:t>
            </a:r>
          </a:p>
          <a:p>
            <a:pPr lvl="1"/>
            <a:r>
              <a:rPr lang="en-US"/>
              <a:t>Hằng xâu kí tự được viết trong cặp nháy kép </a:t>
            </a:r>
            <a:r>
              <a:rPr lang="en-US">
                <a:solidFill>
                  <a:srgbClr val="FF0000"/>
                </a:solidFill>
              </a:rPr>
              <a:t>“”</a:t>
            </a:r>
          </a:p>
          <a:p>
            <a:pPr lvl="1"/>
            <a:r>
              <a:rPr lang="en-US"/>
              <a:t>Xâu kí tự được lưu trữ trong một mảng ô nhớ liền nhau và có ô cuối cùng chứa mã số 0 (null)</a:t>
            </a:r>
          </a:p>
          <a:p>
            <a:pPr lvl="2"/>
            <a:r>
              <a:rPr lang="en-US"/>
              <a:t>Ví dụ: Xâu </a:t>
            </a:r>
            <a:r>
              <a:rPr lang="en-US">
                <a:latin typeface="Courier New" pitchFamily="49" charset="0"/>
                <a:cs typeface="Courier New" pitchFamily="49" charset="0"/>
              </a:rPr>
              <a:t>“</a:t>
            </a:r>
            <a:r>
              <a:rPr lang="en-US">
                <a:solidFill>
                  <a:srgbClr val="FF0000"/>
                </a:solidFill>
                <a:latin typeface="Courier New" pitchFamily="49" charset="0"/>
                <a:cs typeface="Courier New" pitchFamily="49" charset="0"/>
              </a:rPr>
              <a:t>Viet nam</a:t>
            </a:r>
            <a:r>
              <a:rPr lang="en-US">
                <a:latin typeface="Courier New" pitchFamily="49" charset="0"/>
                <a:cs typeface="Courier New" pitchFamily="49" charset="0"/>
              </a:rPr>
              <a:t>”</a:t>
            </a:r>
            <a:r>
              <a:rPr lang="en-US"/>
              <a:t> được lưu là:</a:t>
            </a:r>
          </a:p>
          <a:p>
            <a:pPr marL="909637" lvl="2" indent="0">
              <a:buNone/>
            </a:pPr>
            <a:endParaRPr lang="en-US"/>
          </a:p>
          <a:p>
            <a:pPr lvl="1">
              <a:spcBef>
                <a:spcPts val="1200"/>
              </a:spcBef>
            </a:pPr>
            <a:r>
              <a:rPr lang="en-US"/>
              <a:t>Hằng xâu kí tự không được viết trong biểu thức số học</a:t>
            </a:r>
            <a:endParaRPr lang="vi-VN"/>
          </a:p>
        </p:txBody>
      </p:sp>
      <p:sp>
        <p:nvSpPr>
          <p:cNvPr id="4" name="Date Placeholder 3"/>
          <p:cNvSpPr>
            <a:spLocks noGrp="1"/>
          </p:cNvSpPr>
          <p:nvPr>
            <p:ph type="dt" sz="half" idx="10"/>
          </p:nvPr>
        </p:nvSpPr>
        <p:spPr/>
        <p:txBody>
          <a:bodyPr/>
          <a:lstStyle/>
          <a:p>
            <a:fld id="{FF28E7DF-2F09-4C32-8F5A-FB64830AAA5F}"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graphicFrame>
        <p:nvGraphicFramePr>
          <p:cNvPr id="7" name="Table 6"/>
          <p:cNvGraphicFramePr>
            <a:graphicFrameLocks noGrp="1"/>
          </p:cNvGraphicFramePr>
          <p:nvPr>
            <p:extLst>
              <p:ext uri="{D42A27DB-BD31-4B8C-83A1-F6EECF244321}">
                <p14:modId xmlns:p14="http://schemas.microsoft.com/office/powerpoint/2010/main" val="3216985318"/>
              </p:ext>
            </p:extLst>
          </p:nvPr>
        </p:nvGraphicFramePr>
        <p:xfrm>
          <a:off x="1828803" y="5302736"/>
          <a:ext cx="6095997" cy="3962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20000"/>
                    </a:ext>
                  </a:extLst>
                </a:gridCol>
                <a:gridCol w="677333">
                  <a:extLst>
                    <a:ext uri="{9D8B030D-6E8A-4147-A177-3AD203B41FA5}">
                      <a16:colId xmlns:a16="http://schemas.microsoft.com/office/drawing/2014/main" val="20001"/>
                    </a:ext>
                  </a:extLst>
                </a:gridCol>
                <a:gridCol w="677333">
                  <a:extLst>
                    <a:ext uri="{9D8B030D-6E8A-4147-A177-3AD203B41FA5}">
                      <a16:colId xmlns:a16="http://schemas.microsoft.com/office/drawing/2014/main" val="20002"/>
                    </a:ext>
                  </a:extLst>
                </a:gridCol>
                <a:gridCol w="677333">
                  <a:extLst>
                    <a:ext uri="{9D8B030D-6E8A-4147-A177-3AD203B41FA5}">
                      <a16:colId xmlns:a16="http://schemas.microsoft.com/office/drawing/2014/main" val="20003"/>
                    </a:ext>
                  </a:extLst>
                </a:gridCol>
                <a:gridCol w="677333">
                  <a:extLst>
                    <a:ext uri="{9D8B030D-6E8A-4147-A177-3AD203B41FA5}">
                      <a16:colId xmlns:a16="http://schemas.microsoft.com/office/drawing/2014/main" val="20004"/>
                    </a:ext>
                  </a:extLst>
                </a:gridCol>
                <a:gridCol w="677333">
                  <a:extLst>
                    <a:ext uri="{9D8B030D-6E8A-4147-A177-3AD203B41FA5}">
                      <a16:colId xmlns:a16="http://schemas.microsoft.com/office/drawing/2014/main" val="20005"/>
                    </a:ext>
                  </a:extLst>
                </a:gridCol>
                <a:gridCol w="677333">
                  <a:extLst>
                    <a:ext uri="{9D8B030D-6E8A-4147-A177-3AD203B41FA5}">
                      <a16:colId xmlns:a16="http://schemas.microsoft.com/office/drawing/2014/main" val="20006"/>
                    </a:ext>
                  </a:extLst>
                </a:gridCol>
                <a:gridCol w="677333">
                  <a:extLst>
                    <a:ext uri="{9D8B030D-6E8A-4147-A177-3AD203B41FA5}">
                      <a16:colId xmlns:a16="http://schemas.microsoft.com/office/drawing/2014/main" val="20007"/>
                    </a:ext>
                  </a:extLst>
                </a:gridCol>
                <a:gridCol w="677333">
                  <a:extLst>
                    <a:ext uri="{9D8B030D-6E8A-4147-A177-3AD203B41FA5}">
                      <a16:colId xmlns:a16="http://schemas.microsoft.com/office/drawing/2014/main" val="20008"/>
                    </a:ext>
                  </a:extLst>
                </a:gridCol>
              </a:tblGrid>
              <a:tr h="370840">
                <a:tc>
                  <a:txBody>
                    <a:bodyPr/>
                    <a:lstStyle/>
                    <a:p>
                      <a:pPr algn="ctr"/>
                      <a:r>
                        <a:rPr lang="en-US" sz="2000">
                          <a:solidFill>
                            <a:srgbClr val="0000FF"/>
                          </a:solidFill>
                          <a:latin typeface="Courier New" pitchFamily="49" charset="0"/>
                          <a:cs typeface="Courier New" pitchFamily="49" charset="0"/>
                        </a:rPr>
                        <a:t>V</a:t>
                      </a:r>
                      <a:endParaRPr lang="vi-VN" sz="2000">
                        <a:solidFill>
                          <a:srgbClr val="0000FF"/>
                        </a:solidFill>
                        <a:latin typeface="Courier New" pitchFamily="49" charset="0"/>
                        <a:cs typeface="Courier New" pitchFamily="49" charset="0"/>
                      </a:endParaRPr>
                    </a:p>
                  </a:txBody>
                  <a:tcPr/>
                </a:tc>
                <a:tc>
                  <a:txBody>
                    <a:bodyPr/>
                    <a:lstStyle/>
                    <a:p>
                      <a:pPr algn="ctr"/>
                      <a:r>
                        <a:rPr lang="en-US" sz="2000">
                          <a:solidFill>
                            <a:srgbClr val="0000FF"/>
                          </a:solidFill>
                          <a:latin typeface="Courier New" pitchFamily="49" charset="0"/>
                          <a:cs typeface="Courier New" pitchFamily="49" charset="0"/>
                        </a:rPr>
                        <a:t>i</a:t>
                      </a:r>
                      <a:endParaRPr lang="vi-VN" sz="2000">
                        <a:solidFill>
                          <a:srgbClr val="0000FF"/>
                        </a:solidFill>
                        <a:latin typeface="Courier New" pitchFamily="49" charset="0"/>
                        <a:cs typeface="Courier New" pitchFamily="49" charset="0"/>
                      </a:endParaRPr>
                    </a:p>
                  </a:txBody>
                  <a:tcPr/>
                </a:tc>
                <a:tc>
                  <a:txBody>
                    <a:bodyPr/>
                    <a:lstStyle/>
                    <a:p>
                      <a:pPr algn="ctr"/>
                      <a:r>
                        <a:rPr lang="en-US" sz="2000">
                          <a:solidFill>
                            <a:srgbClr val="0000FF"/>
                          </a:solidFill>
                          <a:latin typeface="Courier New" pitchFamily="49" charset="0"/>
                          <a:cs typeface="Courier New" pitchFamily="49" charset="0"/>
                        </a:rPr>
                        <a:t>e</a:t>
                      </a:r>
                      <a:endParaRPr lang="vi-VN" sz="2000">
                        <a:solidFill>
                          <a:srgbClr val="0000FF"/>
                        </a:solidFill>
                        <a:latin typeface="Courier New" pitchFamily="49" charset="0"/>
                        <a:cs typeface="Courier New" pitchFamily="49" charset="0"/>
                      </a:endParaRPr>
                    </a:p>
                  </a:txBody>
                  <a:tcPr/>
                </a:tc>
                <a:tc>
                  <a:txBody>
                    <a:bodyPr/>
                    <a:lstStyle/>
                    <a:p>
                      <a:pPr algn="ctr"/>
                      <a:r>
                        <a:rPr lang="en-US" sz="2000">
                          <a:solidFill>
                            <a:srgbClr val="0000FF"/>
                          </a:solidFill>
                          <a:latin typeface="Courier New" pitchFamily="49" charset="0"/>
                          <a:cs typeface="Courier New" pitchFamily="49" charset="0"/>
                        </a:rPr>
                        <a:t>t</a:t>
                      </a:r>
                      <a:endParaRPr lang="vi-VN" sz="2000">
                        <a:solidFill>
                          <a:srgbClr val="0000FF"/>
                        </a:solidFill>
                        <a:latin typeface="Courier New" pitchFamily="49" charset="0"/>
                        <a:cs typeface="Courier New" pitchFamily="49" charset="0"/>
                      </a:endParaRPr>
                    </a:p>
                  </a:txBody>
                  <a:tcPr/>
                </a:tc>
                <a:tc>
                  <a:txBody>
                    <a:bodyPr/>
                    <a:lstStyle/>
                    <a:p>
                      <a:pPr algn="ctr"/>
                      <a:endParaRPr lang="vi-VN" sz="2000">
                        <a:solidFill>
                          <a:srgbClr val="0000FF"/>
                        </a:solidFill>
                        <a:latin typeface="Courier New" pitchFamily="49" charset="0"/>
                        <a:cs typeface="Courier New" pitchFamily="49" charset="0"/>
                      </a:endParaRPr>
                    </a:p>
                  </a:txBody>
                  <a:tcPr/>
                </a:tc>
                <a:tc>
                  <a:txBody>
                    <a:bodyPr/>
                    <a:lstStyle/>
                    <a:p>
                      <a:pPr algn="ctr"/>
                      <a:r>
                        <a:rPr lang="en-US" sz="2000">
                          <a:solidFill>
                            <a:srgbClr val="0000FF"/>
                          </a:solidFill>
                          <a:latin typeface="Courier New" pitchFamily="49" charset="0"/>
                          <a:cs typeface="Courier New" pitchFamily="49" charset="0"/>
                        </a:rPr>
                        <a:t>n</a:t>
                      </a:r>
                      <a:endParaRPr lang="vi-VN" sz="2000">
                        <a:solidFill>
                          <a:srgbClr val="0000FF"/>
                        </a:solidFill>
                        <a:latin typeface="Courier New" pitchFamily="49" charset="0"/>
                        <a:cs typeface="Courier New" pitchFamily="49" charset="0"/>
                      </a:endParaRPr>
                    </a:p>
                  </a:txBody>
                  <a:tcPr/>
                </a:tc>
                <a:tc>
                  <a:txBody>
                    <a:bodyPr/>
                    <a:lstStyle/>
                    <a:p>
                      <a:pPr algn="ctr"/>
                      <a:r>
                        <a:rPr lang="en-US" sz="2000">
                          <a:solidFill>
                            <a:srgbClr val="0000FF"/>
                          </a:solidFill>
                          <a:latin typeface="Courier New" pitchFamily="49" charset="0"/>
                          <a:cs typeface="Courier New" pitchFamily="49" charset="0"/>
                        </a:rPr>
                        <a:t>a</a:t>
                      </a:r>
                      <a:endParaRPr lang="vi-VN" sz="2000">
                        <a:solidFill>
                          <a:srgbClr val="0000FF"/>
                        </a:solidFill>
                        <a:latin typeface="Courier New" pitchFamily="49" charset="0"/>
                        <a:cs typeface="Courier New" pitchFamily="49" charset="0"/>
                      </a:endParaRPr>
                    </a:p>
                  </a:txBody>
                  <a:tcPr/>
                </a:tc>
                <a:tc>
                  <a:txBody>
                    <a:bodyPr/>
                    <a:lstStyle/>
                    <a:p>
                      <a:pPr algn="ctr"/>
                      <a:r>
                        <a:rPr lang="en-US" sz="2000">
                          <a:solidFill>
                            <a:srgbClr val="0000FF"/>
                          </a:solidFill>
                          <a:latin typeface="Courier New" pitchFamily="49" charset="0"/>
                          <a:cs typeface="Courier New" pitchFamily="49" charset="0"/>
                        </a:rPr>
                        <a:t>m</a:t>
                      </a:r>
                      <a:endParaRPr lang="vi-VN" sz="2000">
                        <a:solidFill>
                          <a:srgbClr val="0000FF"/>
                        </a:solidFill>
                        <a:latin typeface="Courier New" pitchFamily="49" charset="0"/>
                        <a:cs typeface="Courier New" pitchFamily="49" charset="0"/>
                      </a:endParaRPr>
                    </a:p>
                  </a:txBody>
                  <a:tcPr/>
                </a:tc>
                <a:tc>
                  <a:txBody>
                    <a:bodyPr/>
                    <a:lstStyle/>
                    <a:p>
                      <a:pPr algn="ctr"/>
                      <a:r>
                        <a:rPr lang="en-US" sz="2000" b="1" dirty="0">
                          <a:solidFill>
                            <a:srgbClr val="FF0000"/>
                          </a:solidFill>
                          <a:latin typeface="Courier New" pitchFamily="49" charset="0"/>
                          <a:cs typeface="Courier New" pitchFamily="49" charset="0"/>
                        </a:rPr>
                        <a:t>\0</a:t>
                      </a:r>
                      <a:endParaRPr lang="vi-VN" sz="2000" b="1" dirty="0">
                        <a:solidFill>
                          <a:srgbClr val="FF0000"/>
                        </a:solidFill>
                        <a:latin typeface="Courier New" pitchFamily="49" charset="0"/>
                        <a:cs typeface="Courier New" pitchFamily="49" charset="0"/>
                      </a:endParaRPr>
                    </a:p>
                  </a:txBody>
                  <a:tcPr/>
                </a:tc>
                <a:extLst>
                  <a:ext uri="{0D108BD9-81ED-4DB2-BD59-A6C34878D82A}">
                    <a16:rowId xmlns:a16="http://schemas.microsoft.com/office/drawing/2014/main" val="10000"/>
                  </a:ext>
                </a:extLst>
              </a:tr>
            </a:tbl>
          </a:graphicData>
        </a:graphic>
      </p:graphicFrame>
      <p:sp>
        <p:nvSpPr>
          <p:cNvPr id="11" name="Slide Number Placeholder 10"/>
          <p:cNvSpPr>
            <a:spLocks noGrp="1"/>
          </p:cNvSpPr>
          <p:nvPr>
            <p:ph type="sldNum" sz="quarter" idx="12"/>
          </p:nvPr>
        </p:nvSpPr>
        <p:spPr/>
        <p:txBody>
          <a:bodyPr/>
          <a:lstStyle/>
          <a:p>
            <a:fld id="{5AB95402-1E0D-474E-8D8C-CBE7F053639E}" type="slidenum">
              <a:rPr lang="vi-VN" smtClean="0"/>
              <a:pPr/>
              <a:t>22</a:t>
            </a:fld>
            <a:r>
              <a:rPr lang="vi-VN"/>
              <a:t>/59</a:t>
            </a:r>
          </a:p>
        </p:txBody>
      </p:sp>
    </p:spTree>
    <p:extLst>
      <p:ext uri="{BB962C8B-B14F-4D97-AF65-F5344CB8AC3E}">
        <p14:creationId xmlns:p14="http://schemas.microsoft.com/office/powerpoint/2010/main" val="330684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left)">
                                      <p:cBhvr>
                                        <p:cTn id="24" dur="500"/>
                                        <p:tgtEl>
                                          <p:spTgt spid="3">
                                            <p:txEl>
                                              <p:pRg st="4" end="4"/>
                                            </p:txEl>
                                          </p:spTgt>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left)">
                                      <p:cBhvr>
                                        <p:cTn id="28" dur="500"/>
                                        <p:tgtEl>
                                          <p:spTgt spid="3">
                                            <p:txEl>
                                              <p:pRg st="5" end="5"/>
                                            </p:txEl>
                                          </p:spTgt>
                                        </p:tgtEl>
                                      </p:cBhvr>
                                    </p:animEffect>
                                  </p:childTnLst>
                                </p:cTn>
                              </p:par>
                            </p:childTnLst>
                          </p:cTn>
                        </p:par>
                        <p:par>
                          <p:cTn id="29" fill="hold">
                            <p:stCondLst>
                              <p:cond delay="1000"/>
                            </p:stCondLst>
                            <p:childTnLst>
                              <p:par>
                                <p:cTn id="30" presetID="22" presetClass="entr" presetSubtype="8" fill="hold" nodeType="after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par>
                          <p:cTn id="33" fill="hold">
                            <p:stCondLst>
                              <p:cond delay="1500"/>
                            </p:stCondLst>
                            <p:childTnLst>
                              <p:par>
                                <p:cTn id="34" presetID="22" presetClass="entr" presetSubtype="8" fill="hold" nodeType="after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left)">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arn(inVertical)">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wipe(left)">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Kiểu Boolean</a:t>
            </a:r>
          </a:p>
        </p:txBody>
      </p:sp>
      <p:sp>
        <p:nvSpPr>
          <p:cNvPr id="3" name="Content Placeholder 2"/>
          <p:cNvSpPr>
            <a:spLocks noGrp="1"/>
          </p:cNvSpPr>
          <p:nvPr>
            <p:ph idx="1"/>
          </p:nvPr>
        </p:nvSpPr>
        <p:spPr/>
        <p:txBody>
          <a:bodyPr/>
          <a:lstStyle/>
          <a:p>
            <a:pPr>
              <a:defRPr/>
            </a:pPr>
            <a:r>
              <a:rPr lang="en-US" dirty="0" err="1"/>
              <a:t>Đặc</a:t>
            </a:r>
            <a:r>
              <a:rPr lang="en-US" dirty="0"/>
              <a:t> </a:t>
            </a:r>
            <a:r>
              <a:rPr lang="vi-VN" dirty="0"/>
              <a:t>đ</a:t>
            </a:r>
            <a:r>
              <a:rPr lang="en-US" dirty="0" err="1"/>
              <a:t>iểm</a:t>
            </a:r>
            <a:endParaRPr lang="en-US" dirty="0"/>
          </a:p>
          <a:p>
            <a:pPr lvl="1">
              <a:defRPr/>
            </a:pPr>
            <a:r>
              <a:rPr lang="en-US" dirty="0"/>
              <a:t>C </a:t>
            </a:r>
            <a:r>
              <a:rPr lang="en-US" dirty="0" err="1"/>
              <a:t>ngầm</a:t>
            </a:r>
            <a:r>
              <a:rPr lang="en-US" dirty="0"/>
              <a:t> </a:t>
            </a:r>
            <a:r>
              <a:rPr lang="vi-VN" dirty="0"/>
              <a:t>đị</a:t>
            </a:r>
            <a:r>
              <a:rPr lang="en-US" dirty="0" err="1"/>
              <a:t>nh</a:t>
            </a:r>
            <a:r>
              <a:rPr lang="en-US" dirty="0"/>
              <a:t> </a:t>
            </a:r>
            <a:r>
              <a:rPr lang="en-US" dirty="0" err="1"/>
              <a:t>một</a:t>
            </a:r>
            <a:r>
              <a:rPr lang="en-US" dirty="0"/>
              <a:t> </a:t>
            </a:r>
            <a:r>
              <a:rPr lang="en-US" dirty="0" err="1"/>
              <a:t>cách</a:t>
            </a:r>
            <a:r>
              <a:rPr lang="en-US" dirty="0"/>
              <a:t> </a:t>
            </a:r>
            <a:r>
              <a:rPr lang="en-US" dirty="0" err="1"/>
              <a:t>không</a:t>
            </a:r>
            <a:r>
              <a:rPr lang="en-US" dirty="0"/>
              <a:t> t</a:t>
            </a:r>
            <a:r>
              <a:rPr lang="vi-VN" dirty="0"/>
              <a:t>ườ</a:t>
            </a:r>
            <a:r>
              <a:rPr lang="en-US" dirty="0"/>
              <a:t>ng </a:t>
            </a:r>
            <a:r>
              <a:rPr lang="en-US" dirty="0" err="1"/>
              <a:t>minh</a:t>
            </a:r>
            <a:r>
              <a:rPr lang="en-US" dirty="0"/>
              <a:t>:</a:t>
            </a:r>
          </a:p>
          <a:p>
            <a:pPr lvl="2">
              <a:defRPr/>
            </a:pPr>
            <a:r>
              <a:rPr lang="en-US" dirty="0">
                <a:solidFill>
                  <a:srgbClr val="FF0000"/>
                </a:solidFill>
              </a:rPr>
              <a:t>false</a:t>
            </a:r>
            <a:r>
              <a:rPr lang="en-US" dirty="0"/>
              <a:t> (</a:t>
            </a:r>
            <a:r>
              <a:rPr lang="en-US" dirty="0" err="1"/>
              <a:t>sai</a:t>
            </a:r>
            <a:r>
              <a:rPr lang="en-US" dirty="0"/>
              <a:t>): </a:t>
            </a:r>
            <a:r>
              <a:rPr lang="en-US" dirty="0" err="1"/>
              <a:t>giá</a:t>
            </a:r>
            <a:r>
              <a:rPr lang="en-US" dirty="0"/>
              <a:t> </a:t>
            </a:r>
            <a:r>
              <a:rPr lang="en-US" dirty="0" err="1"/>
              <a:t>trị</a:t>
            </a:r>
            <a:r>
              <a:rPr lang="en-US" dirty="0"/>
              <a:t> 0.</a:t>
            </a:r>
          </a:p>
          <a:p>
            <a:pPr lvl="2">
              <a:defRPr/>
            </a:pPr>
            <a:r>
              <a:rPr lang="en-US" dirty="0">
                <a:solidFill>
                  <a:srgbClr val="FF0000"/>
                </a:solidFill>
              </a:rPr>
              <a:t>true</a:t>
            </a:r>
            <a:r>
              <a:rPr lang="en-US" dirty="0"/>
              <a:t> (</a:t>
            </a:r>
            <a:r>
              <a:rPr lang="vi-VN" dirty="0"/>
              <a:t>đú</a:t>
            </a:r>
            <a:r>
              <a:rPr lang="en-US" dirty="0"/>
              <a:t>ng): </a:t>
            </a:r>
            <a:r>
              <a:rPr lang="en-US" dirty="0" err="1"/>
              <a:t>giá</a:t>
            </a:r>
            <a:r>
              <a:rPr lang="en-US" dirty="0"/>
              <a:t> </a:t>
            </a:r>
            <a:r>
              <a:rPr lang="en-US" dirty="0" err="1"/>
              <a:t>trị</a:t>
            </a:r>
            <a:r>
              <a:rPr lang="en-US" dirty="0"/>
              <a:t> </a:t>
            </a:r>
            <a:r>
              <a:rPr lang="en-US" dirty="0" err="1"/>
              <a:t>khác</a:t>
            </a:r>
            <a:r>
              <a:rPr lang="en-US" dirty="0"/>
              <a:t> 0, </a:t>
            </a:r>
            <a:r>
              <a:rPr lang="en-US" dirty="0" err="1"/>
              <a:t>th</a:t>
            </a:r>
            <a:r>
              <a:rPr lang="vi-VN" dirty="0"/>
              <a:t>ườ</a:t>
            </a:r>
            <a:r>
              <a:rPr lang="en-US" dirty="0"/>
              <a:t>ng là 1.</a:t>
            </a:r>
          </a:p>
          <a:p>
            <a:pPr>
              <a:defRPr/>
            </a:pPr>
            <a:r>
              <a:rPr lang="en-US"/>
              <a:t>Ví</a:t>
            </a:r>
            <a:r>
              <a:rPr lang="en-US" dirty="0"/>
              <a:t> </a:t>
            </a:r>
            <a:r>
              <a:rPr lang="en-US" dirty="0" err="1"/>
              <a:t>dụ</a:t>
            </a:r>
            <a:endParaRPr lang="en-US" dirty="0"/>
          </a:p>
          <a:p>
            <a:pPr lvl="1">
              <a:defRPr/>
            </a:pPr>
            <a:r>
              <a:rPr lang="en-US" dirty="0"/>
              <a:t>0 (false), 1 (true)</a:t>
            </a:r>
          </a:p>
          <a:p>
            <a:pPr lvl="1">
              <a:defRPr/>
            </a:pPr>
            <a:r>
              <a:rPr lang="en-US" dirty="0"/>
              <a:t>1 &gt; 2 (0, false), 1 &lt; 2 (1, true)</a:t>
            </a:r>
          </a:p>
        </p:txBody>
      </p:sp>
      <p:sp>
        <p:nvSpPr>
          <p:cNvPr id="21508"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F568DB2B-848C-4B7B-A3AF-C88AC019694E}"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23</a:t>
            </a:fld>
            <a:r>
              <a:rPr lang="vi-VN"/>
              <a:t>/59</a:t>
            </a:r>
          </a:p>
        </p:txBody>
      </p:sp>
    </p:spTree>
    <p:extLst>
      <p:ext uri="{BB962C8B-B14F-4D97-AF65-F5344CB8AC3E}">
        <p14:creationId xmlns:p14="http://schemas.microsoft.com/office/powerpoint/2010/main" val="845137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anim calcmode="lin" valueType="num">
                                      <p:cBhvr>
                                        <p:cTn id="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anim calcmode="lin" valueType="num">
                                      <p:cBhvr>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anim calcmode="lin" valueType="num">
                                      <p:cBhvr>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anim calcmode="lin" valueType="num">
                                      <p:cBhvr>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anim calcmode="lin" valueType="num">
                                      <p:cBhvr>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anim calcmode="lin" valueType="num">
                                      <p:cBhvr>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t>Biến</a:t>
            </a:r>
          </a:p>
        </p:txBody>
      </p:sp>
      <p:sp>
        <p:nvSpPr>
          <p:cNvPr id="2" name="Content Placeholder 1"/>
          <p:cNvSpPr>
            <a:spLocks noGrp="1"/>
          </p:cNvSpPr>
          <p:nvPr>
            <p:ph idx="1"/>
          </p:nvPr>
        </p:nvSpPr>
        <p:spPr>
          <a:xfrm>
            <a:off x="762000" y="1143000"/>
            <a:ext cx="8058472" cy="5181600"/>
          </a:xfrm>
        </p:spPr>
        <p:txBody>
          <a:bodyPr/>
          <a:lstStyle/>
          <a:p>
            <a:r>
              <a:rPr lang="en-US" dirty="0" err="1"/>
              <a:t>Là</a:t>
            </a:r>
            <a:r>
              <a:rPr lang="en-US" dirty="0"/>
              <a:t> </a:t>
            </a:r>
            <a:r>
              <a:rPr lang="en-US" dirty="0" err="1"/>
              <a:t>đại</a:t>
            </a:r>
            <a:r>
              <a:rPr lang="en-US" dirty="0"/>
              <a:t> </a:t>
            </a:r>
            <a:r>
              <a:rPr lang="en-US" dirty="0" err="1"/>
              <a:t>lượng</a:t>
            </a:r>
            <a:r>
              <a:rPr lang="en-US" dirty="0"/>
              <a:t> </a:t>
            </a:r>
            <a:r>
              <a:rPr lang="en-US" dirty="0" err="1"/>
              <a:t>có</a:t>
            </a:r>
            <a:r>
              <a:rPr lang="en-US" dirty="0"/>
              <a:t> </a:t>
            </a:r>
            <a:r>
              <a:rPr lang="en-US" dirty="0" err="1"/>
              <a:t>thể</a:t>
            </a:r>
            <a:r>
              <a:rPr lang="en-US" dirty="0"/>
              <a:t> </a:t>
            </a:r>
            <a:r>
              <a:rPr lang="en-US" dirty="0" err="1"/>
              <a:t>thay</a:t>
            </a:r>
            <a:r>
              <a:rPr lang="en-US" dirty="0"/>
              <a:t> </a:t>
            </a:r>
            <a:r>
              <a:rPr lang="en-US" dirty="0" err="1"/>
              <a:t>đổi</a:t>
            </a:r>
            <a:r>
              <a:rPr lang="en-US" dirty="0"/>
              <a:t> </a:t>
            </a:r>
            <a:r>
              <a:rPr lang="en-US" dirty="0" err="1"/>
              <a:t>được</a:t>
            </a:r>
            <a:r>
              <a:rPr lang="en-US" dirty="0"/>
              <a:t> </a:t>
            </a:r>
            <a:r>
              <a:rPr lang="en-US" dirty="0" err="1"/>
              <a:t>giá</a:t>
            </a:r>
            <a:r>
              <a:rPr lang="en-US" dirty="0"/>
              <a:t> </a:t>
            </a:r>
            <a:r>
              <a:rPr lang="en-US" dirty="0" err="1"/>
              <a:t>trị</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469900" lvl="1" indent="-469900">
              <a:spcBef>
                <a:spcPct val="20000"/>
              </a:spcBef>
              <a:buSzTx/>
              <a:buFont typeface="Wingdings" pitchFamily="2" charset="2"/>
              <a:buChar char="o"/>
            </a:pPr>
            <a:r>
              <a:rPr lang="en-US" dirty="0" err="1"/>
              <a:t>Trong</a:t>
            </a:r>
            <a:r>
              <a:rPr lang="en-US" dirty="0"/>
              <a:t> C, </a:t>
            </a:r>
            <a:r>
              <a:rPr lang="en-US" dirty="0" err="1"/>
              <a:t>giá</a:t>
            </a:r>
            <a:r>
              <a:rPr lang="en-US" dirty="0"/>
              <a:t> </a:t>
            </a:r>
            <a:r>
              <a:rPr lang="en-US" dirty="0" err="1"/>
              <a:t>trị</a:t>
            </a:r>
            <a:r>
              <a:rPr lang="en-US" dirty="0"/>
              <a:t> </a:t>
            </a:r>
            <a:r>
              <a:rPr lang="en-US" dirty="0" err="1">
                <a:solidFill>
                  <a:srgbClr val="FF0000"/>
                </a:solidFill>
                <a:latin typeface="Courier New" pitchFamily="49" charset="0"/>
                <a:cs typeface="Courier New" pitchFamily="49" charset="0"/>
              </a:rPr>
              <a:t>i</a:t>
            </a:r>
            <a:r>
              <a:rPr lang="en-US" dirty="0"/>
              <a:t> </a:t>
            </a:r>
            <a:r>
              <a:rPr lang="en-US" dirty="0" err="1"/>
              <a:t>được</a:t>
            </a:r>
            <a:r>
              <a:rPr lang="en-US" dirty="0"/>
              <a:t> </a:t>
            </a:r>
            <a:r>
              <a:rPr lang="en-US" dirty="0" err="1"/>
              <a:t>chứa</a:t>
            </a:r>
            <a:r>
              <a:rPr lang="en-US" dirty="0"/>
              <a:t> </a:t>
            </a:r>
            <a:r>
              <a:rPr lang="en-US" dirty="0" err="1"/>
              <a:t>trong</a:t>
            </a:r>
            <a:r>
              <a:rPr lang="en-US" dirty="0"/>
              <a:t> ô </a:t>
            </a:r>
            <a:r>
              <a:rPr lang="en-US" dirty="0" err="1"/>
              <a:t>nhớ</a:t>
            </a:r>
            <a:r>
              <a:rPr lang="en-US" dirty="0"/>
              <a:t> </a:t>
            </a:r>
            <a:r>
              <a:rPr lang="en-US" dirty="0" err="1"/>
              <a:t>có</a:t>
            </a:r>
            <a:r>
              <a:rPr lang="en-US" dirty="0"/>
              <a:t> </a:t>
            </a:r>
            <a:r>
              <a:rPr lang="en-US" dirty="0" err="1"/>
              <a:t>địa</a:t>
            </a:r>
            <a:r>
              <a:rPr lang="en-US" dirty="0"/>
              <a:t> </a:t>
            </a:r>
            <a:r>
              <a:rPr lang="en-US" dirty="0" err="1"/>
              <a:t>chỉ</a:t>
            </a:r>
            <a:r>
              <a:rPr lang="en-US" dirty="0"/>
              <a:t> </a:t>
            </a:r>
            <a:r>
              <a:rPr lang="en-US" dirty="0">
                <a:solidFill>
                  <a:srgbClr val="FF0000"/>
                </a:solidFill>
                <a:latin typeface="Courier New" pitchFamily="49" charset="0"/>
                <a:cs typeface="Courier New" pitchFamily="49" charset="0"/>
              </a:rPr>
              <a:t>&amp;</a:t>
            </a:r>
            <a:r>
              <a:rPr lang="en-US" dirty="0" err="1">
                <a:solidFill>
                  <a:srgbClr val="FF0000"/>
                </a:solidFill>
                <a:latin typeface="Courier New" pitchFamily="49" charset="0"/>
                <a:cs typeface="Courier New" pitchFamily="49" charset="0"/>
              </a:rPr>
              <a:t>i</a:t>
            </a:r>
            <a:endParaRPr lang="en-GB" dirty="0"/>
          </a:p>
          <a:p>
            <a:endParaRPr lang="vi-VN" dirty="0"/>
          </a:p>
        </p:txBody>
      </p:sp>
      <p:sp>
        <p:nvSpPr>
          <p:cNvPr id="23555" name="Footer Placeholder 2"/>
          <p:cNvSpPr>
            <a:spLocks noGrp="1"/>
          </p:cNvSpPr>
          <p:nvPr>
            <p:ph type="ftr" sz="quarter" idx="11"/>
          </p:nvPr>
        </p:nvSpPr>
        <p:spPr>
          <a:noFill/>
        </p:spPr>
        <p:txBody>
          <a:bodyPr/>
          <a:lstStyle/>
          <a:p>
            <a:r>
              <a:rPr lang="vi-VN"/>
              <a:t>Chương 2 - Các phần tử cơ bản của ngôn ngữ C</a:t>
            </a:r>
            <a:endParaRPr lang="en-US"/>
          </a:p>
        </p:txBody>
      </p:sp>
      <p:sp>
        <p:nvSpPr>
          <p:cNvPr id="4" name="Hexagon 3"/>
          <p:cNvSpPr/>
          <p:nvPr/>
        </p:nvSpPr>
        <p:spPr>
          <a:xfrm>
            <a:off x="762000" y="1636406"/>
            <a:ext cx="2362198" cy="2049482"/>
          </a:xfrm>
          <a:prstGeom prst="hexagon">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3000" b="1">
                <a:ln w="1905"/>
                <a:solidFill>
                  <a:srgbClr val="0000FF"/>
                </a:solidFill>
                <a:effectLst>
                  <a:innerShdw blurRad="69850" dist="43180" dir="5400000">
                    <a:srgbClr val="000000">
                      <a:alpha val="65000"/>
                    </a:srgbClr>
                  </a:innerShdw>
                </a:effectLst>
                <a:latin typeface="Arial" pitchFamily="34" charset="0"/>
                <a:cs typeface="Arial" pitchFamily="34" charset="0"/>
              </a:rPr>
              <a:t>Biến</a:t>
            </a:r>
          </a:p>
        </p:txBody>
      </p:sp>
      <p:grpSp>
        <p:nvGrpSpPr>
          <p:cNvPr id="11" name="Group 14"/>
          <p:cNvGrpSpPr>
            <a:grpSpLocks/>
          </p:cNvGrpSpPr>
          <p:nvPr/>
        </p:nvGrpSpPr>
        <p:grpSpPr bwMode="auto">
          <a:xfrm>
            <a:off x="609600" y="4384898"/>
            <a:ext cx="6173118" cy="1132334"/>
            <a:chOff x="609600" y="4191000"/>
            <a:chExt cx="6324600" cy="1371600"/>
          </a:xfrm>
        </p:grpSpPr>
        <p:sp>
          <p:nvSpPr>
            <p:cNvPr id="5" name="AutoShape 6"/>
            <p:cNvSpPr>
              <a:spLocks noChangeArrowheads="1"/>
            </p:cNvSpPr>
            <p:nvPr/>
          </p:nvSpPr>
          <p:spPr bwMode="gray">
            <a:xfrm>
              <a:off x="609600" y="4191000"/>
              <a:ext cx="6324600" cy="13716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p>
          </p:txBody>
        </p:sp>
        <p:sp>
          <p:nvSpPr>
            <p:cNvPr id="6" name="Text Box 7"/>
            <p:cNvSpPr txBox="1">
              <a:spLocks noChangeArrowheads="1"/>
            </p:cNvSpPr>
            <p:nvPr/>
          </p:nvSpPr>
          <p:spPr bwMode="gray">
            <a:xfrm>
              <a:off x="838200" y="4267199"/>
              <a:ext cx="6019800" cy="1006589"/>
            </a:xfrm>
            <a:prstGeom prst="rect">
              <a:avLst/>
            </a:prstGeom>
            <a:noFill/>
            <a:ln w="9525">
              <a:noFill/>
              <a:miter lim="800000"/>
              <a:headEnd/>
              <a:tailEnd/>
            </a:ln>
            <a:effectLst/>
          </p:spPr>
          <p:txBody>
            <a:bodyPr>
              <a:spAutoFit/>
            </a:bodyPr>
            <a:lstStyle/>
            <a:p>
              <a:pPr>
                <a:defRPr/>
              </a:pPr>
              <a:r>
                <a:rPr lang="en-US" sz="2400" dirty="0" err="1">
                  <a:solidFill>
                    <a:srgbClr val="0000FF"/>
                  </a:solidFill>
                  <a:latin typeface="Arial" pitchFamily="34" charset="0"/>
                  <a:cs typeface="Arial" pitchFamily="34" charset="0"/>
                </a:rPr>
                <a:t>Cú</a:t>
              </a:r>
              <a:r>
                <a:rPr lang="en-US" sz="2400" dirty="0">
                  <a:solidFill>
                    <a:srgbClr val="0000FF"/>
                  </a:solidFill>
                  <a:latin typeface="Arial" pitchFamily="34" charset="0"/>
                  <a:cs typeface="Arial" pitchFamily="34" charset="0"/>
                </a:rPr>
                <a:t> </a:t>
              </a:r>
              <a:r>
                <a:rPr lang="en-US" sz="2400" dirty="0" err="1">
                  <a:solidFill>
                    <a:srgbClr val="0000FF"/>
                  </a:solidFill>
                  <a:latin typeface="Arial" pitchFamily="34" charset="0"/>
                  <a:cs typeface="Arial" pitchFamily="34" charset="0"/>
                </a:rPr>
                <a:t>pháp</a:t>
              </a:r>
              <a:endParaRPr lang="en-US" sz="2400" dirty="0">
                <a:solidFill>
                  <a:srgbClr val="0000FF"/>
                </a:solidFill>
                <a:latin typeface="Arial" pitchFamily="34" charset="0"/>
                <a:cs typeface="Arial" pitchFamily="34" charset="0"/>
              </a:endParaRPr>
            </a:p>
            <a:p>
              <a:pPr>
                <a:defRPr/>
              </a:pPr>
              <a:r>
                <a:rPr lang="en-US" sz="2400" dirty="0">
                  <a:latin typeface="Arial" pitchFamily="34" charset="0"/>
                  <a:cs typeface="Arial" pitchFamily="34" charset="0"/>
                </a:rPr>
                <a:t>&lt;</a:t>
              </a:r>
              <a:r>
                <a:rPr lang="en-US" sz="2400" dirty="0" err="1">
                  <a:latin typeface="Arial" pitchFamily="34" charset="0"/>
                  <a:cs typeface="Arial" pitchFamily="34" charset="0"/>
                </a:rPr>
                <a:t>kiểu</a:t>
              </a:r>
              <a:r>
                <a:rPr lang="en-US" sz="2400" dirty="0">
                  <a:latin typeface="Arial" pitchFamily="34" charset="0"/>
                  <a:cs typeface="Arial" pitchFamily="34" charset="0"/>
                </a:rPr>
                <a:t> </a:t>
              </a:r>
              <a:r>
                <a:rPr lang="en-US" sz="2400" dirty="0" err="1">
                  <a:latin typeface="Arial" pitchFamily="34" charset="0"/>
                  <a:cs typeface="Arial" pitchFamily="34" charset="0"/>
                </a:rPr>
                <a:t>dữ</a:t>
              </a:r>
              <a:r>
                <a:rPr lang="en-US" sz="2400" dirty="0">
                  <a:latin typeface="Arial" pitchFamily="34" charset="0"/>
                  <a:cs typeface="Arial" pitchFamily="34" charset="0"/>
                </a:rPr>
                <a:t> </a:t>
              </a:r>
              <a:r>
                <a:rPr lang="en-US" sz="2400" dirty="0" err="1">
                  <a:latin typeface="Arial" pitchFamily="34" charset="0"/>
                  <a:cs typeface="Arial" pitchFamily="34" charset="0"/>
                </a:rPr>
                <a:t>liệu</a:t>
              </a:r>
              <a:r>
                <a:rPr lang="en-US" sz="2400" dirty="0">
                  <a:latin typeface="Arial" pitchFamily="34" charset="0"/>
                  <a:cs typeface="Arial" pitchFamily="34" charset="0"/>
                </a:rPr>
                <a:t>&gt;    &lt;</a:t>
              </a:r>
              <a:r>
                <a:rPr lang="en-US" sz="2400" dirty="0" err="1">
                  <a:latin typeface="Arial" pitchFamily="34" charset="0"/>
                  <a:cs typeface="Arial" pitchFamily="34" charset="0"/>
                </a:rPr>
                <a:t>danh</a:t>
              </a:r>
              <a:r>
                <a:rPr lang="en-US" sz="2400" dirty="0">
                  <a:latin typeface="Arial" pitchFamily="34" charset="0"/>
                  <a:cs typeface="Arial" pitchFamily="34" charset="0"/>
                </a:rPr>
                <a:t> </a:t>
              </a:r>
              <a:r>
                <a:rPr lang="en-US" sz="2400" dirty="0" err="1">
                  <a:latin typeface="Arial" pitchFamily="34" charset="0"/>
                  <a:cs typeface="Arial" pitchFamily="34" charset="0"/>
                </a:rPr>
                <a:t>sách</a:t>
              </a:r>
              <a:r>
                <a:rPr lang="en-US" sz="2400" dirty="0">
                  <a:latin typeface="Arial" pitchFamily="34" charset="0"/>
                  <a:cs typeface="Arial" pitchFamily="34" charset="0"/>
                </a:rPr>
                <a:t> </a:t>
              </a:r>
              <a:r>
                <a:rPr lang="en-US" sz="2400" dirty="0" err="1">
                  <a:latin typeface="Arial" pitchFamily="34" charset="0"/>
                  <a:cs typeface="Arial" pitchFamily="34" charset="0"/>
                </a:rPr>
                <a:t>các</a:t>
              </a:r>
              <a:r>
                <a:rPr lang="en-US" sz="2400" dirty="0">
                  <a:latin typeface="Arial" pitchFamily="34" charset="0"/>
                  <a:cs typeface="Arial" pitchFamily="34" charset="0"/>
                </a:rPr>
                <a:t> </a:t>
              </a:r>
              <a:r>
                <a:rPr lang="en-US" sz="2400" dirty="0" err="1">
                  <a:latin typeface="Arial" pitchFamily="34" charset="0"/>
                  <a:cs typeface="Arial" pitchFamily="34" charset="0"/>
                </a:rPr>
                <a:t>biến</a:t>
              </a:r>
              <a:r>
                <a:rPr lang="en-US" sz="2400" dirty="0">
                  <a:latin typeface="Arial" pitchFamily="34" charset="0"/>
                  <a:cs typeface="Arial" pitchFamily="34" charset="0"/>
                </a:rPr>
                <a:t>&gt;;</a:t>
              </a:r>
            </a:p>
          </p:txBody>
        </p:sp>
      </p:grpSp>
      <p:sp>
        <p:nvSpPr>
          <p:cNvPr id="7" name="Freeform 9"/>
          <p:cNvSpPr>
            <a:spLocks/>
          </p:cNvSpPr>
          <p:nvPr/>
        </p:nvSpPr>
        <p:spPr bwMode="gray">
          <a:xfrm rot="5400000" flipH="1">
            <a:off x="988313" y="3396586"/>
            <a:ext cx="911468" cy="1211691"/>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tx1">
                  <a:lumMod val="60000"/>
                  <a:lumOff val="40000"/>
                </a:schemeClr>
              </a:gs>
              <a:gs pos="100000">
                <a:schemeClr val="tx1">
                  <a:lumMod val="20000"/>
                  <a:lumOff val="80000"/>
                </a:schemeClr>
              </a:gs>
            </a:gsLst>
            <a:lin ang="0" scaled="1"/>
          </a:gradFill>
          <a:ln w="0">
            <a:noFill/>
            <a:prstDash val="solid"/>
            <a:round/>
            <a:headEnd/>
            <a:tailEnd/>
          </a:ln>
        </p:spPr>
        <p:txBody>
          <a:bodyPr/>
          <a:lstStyle/>
          <a:p>
            <a:pPr>
              <a:defRPr/>
            </a:pPr>
            <a:endParaRPr lang="en-US">
              <a:cs typeface="+mn-cs"/>
            </a:endParaRPr>
          </a:p>
        </p:txBody>
      </p:sp>
      <p:grpSp>
        <p:nvGrpSpPr>
          <p:cNvPr id="12" name="Group 13"/>
          <p:cNvGrpSpPr>
            <a:grpSpLocks/>
          </p:cNvGrpSpPr>
          <p:nvPr/>
        </p:nvGrpSpPr>
        <p:grpSpPr bwMode="auto">
          <a:xfrm>
            <a:off x="3810000" y="1565498"/>
            <a:ext cx="4650432" cy="2009900"/>
            <a:chOff x="3810000" y="1371600"/>
            <a:chExt cx="4191000" cy="2159893"/>
          </a:xfrm>
        </p:grpSpPr>
        <p:sp>
          <p:nvSpPr>
            <p:cNvPr id="8" name="AutoShape 6"/>
            <p:cNvSpPr>
              <a:spLocks noChangeArrowheads="1"/>
            </p:cNvSpPr>
            <p:nvPr/>
          </p:nvSpPr>
          <p:spPr bwMode="gray">
            <a:xfrm>
              <a:off x="3810000" y="1371600"/>
              <a:ext cx="4191000" cy="21336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9" name="Text Box 7"/>
            <p:cNvSpPr txBox="1">
              <a:spLocks noChangeArrowheads="1"/>
            </p:cNvSpPr>
            <p:nvPr/>
          </p:nvSpPr>
          <p:spPr bwMode="gray">
            <a:xfrm>
              <a:off x="4038600" y="1447800"/>
              <a:ext cx="3886200" cy="2083693"/>
            </a:xfrm>
            <a:prstGeom prst="rect">
              <a:avLst/>
            </a:prstGeom>
            <a:noFill/>
            <a:ln w="9525">
              <a:noFill/>
              <a:miter lim="800000"/>
              <a:headEnd/>
              <a:tailEnd/>
            </a:ln>
            <a:effectLst/>
          </p:spPr>
          <p:txBody>
            <a:bodyPr>
              <a:spAutoFit/>
            </a:bodyPr>
            <a:lstStyle/>
            <a:p>
              <a:pPr>
                <a:defRPr/>
              </a:pPr>
              <a:r>
                <a:rPr lang="en-US" sz="2400" dirty="0" err="1">
                  <a:solidFill>
                    <a:srgbClr val="0000FF"/>
                  </a:solidFill>
                  <a:latin typeface="Arial" pitchFamily="34" charset="0"/>
                  <a:cs typeface="Arial" pitchFamily="34" charset="0"/>
                </a:rPr>
                <a:t>Ví</a:t>
              </a:r>
              <a:r>
                <a:rPr lang="en-US" sz="2400" dirty="0">
                  <a:solidFill>
                    <a:srgbClr val="0000FF"/>
                  </a:solidFill>
                  <a:latin typeface="Arial" pitchFamily="34" charset="0"/>
                  <a:cs typeface="Arial" pitchFamily="34" charset="0"/>
                </a:rPr>
                <a:t> </a:t>
              </a:r>
              <a:r>
                <a:rPr lang="en-US" sz="2400" dirty="0" err="1">
                  <a:solidFill>
                    <a:srgbClr val="0000FF"/>
                  </a:solidFill>
                  <a:latin typeface="Arial" pitchFamily="34" charset="0"/>
                  <a:cs typeface="Arial" pitchFamily="34" charset="0"/>
                </a:rPr>
                <a:t>dụ</a:t>
              </a:r>
              <a:r>
                <a:rPr lang="en-US" sz="2400" dirty="0">
                  <a:solidFill>
                    <a:srgbClr val="0000FF"/>
                  </a:solidFill>
                  <a:latin typeface="Arial" pitchFamily="34" charset="0"/>
                  <a:cs typeface="Arial" pitchFamily="34" charset="0"/>
                </a:rPr>
                <a:t>:</a:t>
              </a:r>
            </a:p>
            <a:p>
              <a:pPr>
                <a:defRPr/>
              </a:pPr>
              <a:r>
                <a:rPr lang="en-US" sz="2400" b="1" dirty="0">
                  <a:latin typeface="Courier New" pitchFamily="49" charset="0"/>
                  <a:cs typeface="Courier New" pitchFamily="49" charset="0"/>
                </a:rPr>
                <a:t>int</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i</a:t>
              </a:r>
              <a:r>
                <a:rPr lang="en-US" sz="2400" dirty="0">
                  <a:latin typeface="Courier New" pitchFamily="49" charset="0"/>
                  <a:cs typeface="Courier New" pitchFamily="49" charset="0"/>
                </a:rPr>
                <a:t>;</a:t>
              </a:r>
            </a:p>
            <a:p>
              <a:pPr>
                <a:defRPr/>
              </a:pPr>
              <a:r>
                <a:rPr lang="en-US" sz="2400" b="1" dirty="0">
                  <a:latin typeface="Courier New" pitchFamily="49" charset="0"/>
                  <a:cs typeface="Courier New" pitchFamily="49" charset="0"/>
                </a:rPr>
                <a:t>int</a:t>
              </a:r>
              <a:r>
                <a:rPr lang="en-US" sz="2400" dirty="0">
                  <a:latin typeface="Courier New" pitchFamily="49" charset="0"/>
                  <a:cs typeface="Courier New" pitchFamily="49" charset="0"/>
                </a:rPr>
                <a:t> j, k;</a:t>
              </a:r>
            </a:p>
            <a:p>
              <a:pPr>
                <a:defRPr/>
              </a:pPr>
              <a:r>
                <a:rPr lang="en-US" sz="2400" b="1" dirty="0">
                  <a:latin typeface="Courier New" pitchFamily="49" charset="0"/>
                  <a:cs typeface="Courier New" pitchFamily="49" charset="0"/>
                </a:rPr>
                <a:t>unsigned</a:t>
              </a:r>
              <a:r>
                <a:rPr lang="en-US" sz="2400" dirty="0">
                  <a:latin typeface="Courier New" pitchFamily="49" charset="0"/>
                  <a:cs typeface="Courier New" pitchFamily="49" charset="0"/>
                </a:rPr>
                <a:t> </a:t>
              </a:r>
              <a:r>
                <a:rPr lang="en-US" sz="2400" b="1" dirty="0">
                  <a:latin typeface="Courier New" pitchFamily="49" charset="0"/>
                  <a:cs typeface="Courier New" pitchFamily="49" charset="0"/>
                </a:rPr>
                <a:t>char</a:t>
              </a:r>
              <a:r>
                <a:rPr lang="en-US" sz="2400" dirty="0">
                  <a:latin typeface="Courier New" pitchFamily="49" charset="0"/>
                  <a:cs typeface="Courier New" pitchFamily="49" charset="0"/>
                </a:rPr>
                <a:t> dem;</a:t>
              </a:r>
            </a:p>
            <a:p>
              <a:pPr>
                <a:defRPr/>
              </a:pPr>
              <a:r>
                <a:rPr lang="en-US" sz="2400" b="1" dirty="0">
                  <a:latin typeface="Courier New" pitchFamily="49" charset="0"/>
                  <a:cs typeface="Courier New" pitchFamily="49" charset="0"/>
                </a:rPr>
                <a:t>float</a:t>
              </a:r>
              <a:r>
                <a:rPr lang="en-US" sz="2400" dirty="0">
                  <a:latin typeface="Courier New" pitchFamily="49" charset="0"/>
                  <a:cs typeface="Courier New" pitchFamily="49" charset="0"/>
                </a:rPr>
                <a:t> </a:t>
              </a:r>
              <a:r>
                <a:rPr lang="en-US" sz="2400" dirty="0" err="1">
                  <a:latin typeface="Courier New" pitchFamily="49" charset="0"/>
                  <a:cs typeface="Courier New" pitchFamily="49" charset="0"/>
                </a:rPr>
                <a:t>ketqua</a:t>
              </a:r>
              <a:r>
                <a:rPr lang="en-US" sz="2400" dirty="0">
                  <a:latin typeface="Courier New" pitchFamily="49" charset="0"/>
                  <a:cs typeface="Courier New" pitchFamily="49" charset="0"/>
                </a:rPr>
                <a:t>, delta;</a:t>
              </a:r>
            </a:p>
          </p:txBody>
        </p:sp>
      </p:grpSp>
      <p:sp>
        <p:nvSpPr>
          <p:cNvPr id="10" name="Freeform 11"/>
          <p:cNvSpPr>
            <a:spLocks/>
          </p:cNvSpPr>
          <p:nvPr/>
        </p:nvSpPr>
        <p:spPr bwMode="gray">
          <a:xfrm flipH="1" flipV="1">
            <a:off x="3124198" y="1489298"/>
            <a:ext cx="881653" cy="1063625"/>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66FF"/>
              </a:gs>
              <a:gs pos="100000">
                <a:srgbClr val="FFCCFF"/>
              </a:gs>
            </a:gsLst>
            <a:lin ang="0" scaled="1"/>
          </a:gradFill>
          <a:ln w="0">
            <a:noFill/>
            <a:round/>
            <a:headEnd/>
            <a:tailEnd/>
          </a:ln>
        </p:spPr>
        <p:txBody>
          <a:bodyPr/>
          <a:lstStyle/>
          <a:p>
            <a:endParaRPr lang="en-US"/>
          </a:p>
        </p:txBody>
      </p:sp>
      <p:sp>
        <p:nvSpPr>
          <p:cNvPr id="3" name="Date Placeholder 2"/>
          <p:cNvSpPr>
            <a:spLocks noGrp="1"/>
          </p:cNvSpPr>
          <p:nvPr>
            <p:ph type="dt" sz="half" idx="10"/>
          </p:nvPr>
        </p:nvSpPr>
        <p:spPr/>
        <p:txBody>
          <a:bodyPr/>
          <a:lstStyle/>
          <a:p>
            <a:fld id="{6A5B9DD2-7C52-47FD-BAB6-008DE8162625}" type="datetime1">
              <a:rPr lang="vi-VN" smtClean="0"/>
              <a:t>14/01/2024</a:t>
            </a:fld>
            <a:endParaRPr lang="vi-VN"/>
          </a:p>
        </p:txBody>
      </p:sp>
      <p:sp>
        <p:nvSpPr>
          <p:cNvPr id="17" name="Slide Number Placeholder 16"/>
          <p:cNvSpPr>
            <a:spLocks noGrp="1"/>
          </p:cNvSpPr>
          <p:nvPr>
            <p:ph type="sldNum" sz="quarter" idx="12"/>
          </p:nvPr>
        </p:nvSpPr>
        <p:spPr/>
        <p:txBody>
          <a:bodyPr/>
          <a:lstStyle/>
          <a:p>
            <a:fld id="{5AB95402-1E0D-474E-8D8C-CBE7F053639E}" type="slidenum">
              <a:rPr lang="vi-VN" smtClean="0"/>
              <a:pPr/>
              <a:t>24</a:t>
            </a:fld>
            <a:r>
              <a:rPr lang="vi-VN"/>
              <a:t>/59</a:t>
            </a:r>
          </a:p>
        </p:txBody>
      </p:sp>
    </p:spTree>
    <p:extLst>
      <p:ext uri="{BB962C8B-B14F-4D97-AF65-F5344CB8AC3E}">
        <p14:creationId xmlns:p14="http://schemas.microsoft.com/office/powerpoint/2010/main" val="293874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Effect transition="in" filter="wipe(left)">
                                      <p:cBhvr>
                                        <p:cTn id="33"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t>Hằng</a:t>
            </a:r>
          </a:p>
        </p:txBody>
      </p:sp>
      <p:sp>
        <p:nvSpPr>
          <p:cNvPr id="13" name="Content Placeholder 12"/>
          <p:cNvSpPr>
            <a:spLocks noGrp="1"/>
          </p:cNvSpPr>
          <p:nvPr>
            <p:ph idx="1"/>
          </p:nvPr>
        </p:nvSpPr>
        <p:spPr/>
        <p:txBody>
          <a:bodyPr/>
          <a:lstStyle/>
          <a:p>
            <a:r>
              <a:rPr lang="en-US"/>
              <a:t>Là đại lượng có giá trị không đổi</a:t>
            </a:r>
            <a:endParaRPr lang="vi-VN"/>
          </a:p>
        </p:txBody>
      </p:sp>
      <p:sp>
        <p:nvSpPr>
          <p:cNvPr id="2" name="Date Placeholder 1"/>
          <p:cNvSpPr>
            <a:spLocks noGrp="1"/>
          </p:cNvSpPr>
          <p:nvPr>
            <p:ph type="dt" sz="half" idx="10"/>
          </p:nvPr>
        </p:nvSpPr>
        <p:spPr/>
        <p:txBody>
          <a:bodyPr/>
          <a:lstStyle/>
          <a:p>
            <a:fld id="{F95868E3-991F-4895-8B20-58F22C5E03FC}" type="datetime1">
              <a:rPr lang="vi-VN" smtClean="0"/>
              <a:t>14/01/2024</a:t>
            </a:fld>
            <a:endParaRPr lang="vi-VN"/>
          </a:p>
        </p:txBody>
      </p:sp>
      <p:sp>
        <p:nvSpPr>
          <p:cNvPr id="24579" name="Footer Placeholder 2"/>
          <p:cNvSpPr>
            <a:spLocks noGrp="1"/>
          </p:cNvSpPr>
          <p:nvPr>
            <p:ph type="ftr" sz="quarter" idx="11"/>
          </p:nvPr>
        </p:nvSpPr>
        <p:spPr>
          <a:noFill/>
        </p:spPr>
        <p:txBody>
          <a:bodyPr/>
          <a:lstStyle/>
          <a:p>
            <a:r>
              <a:rPr lang="vi-VN"/>
              <a:t>Chương 2 - Các phần tử cơ bản của ngôn ngữ C</a:t>
            </a:r>
            <a:endParaRPr lang="en-US"/>
          </a:p>
        </p:txBody>
      </p:sp>
      <p:sp>
        <p:nvSpPr>
          <p:cNvPr id="4" name="Hexagon 3"/>
          <p:cNvSpPr/>
          <p:nvPr/>
        </p:nvSpPr>
        <p:spPr>
          <a:xfrm>
            <a:off x="848817" y="1701674"/>
            <a:ext cx="2355031" cy="1908734"/>
          </a:xfrm>
          <a:prstGeom prst="hexagon">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3000" b="1">
                <a:ln w="1905"/>
                <a:solidFill>
                  <a:srgbClr val="0000FF"/>
                </a:solidFill>
                <a:effectLst>
                  <a:innerShdw blurRad="69850" dist="43180" dir="5400000">
                    <a:srgbClr val="000000">
                      <a:alpha val="65000"/>
                    </a:srgbClr>
                  </a:innerShdw>
                </a:effectLst>
                <a:latin typeface="Arial" pitchFamily="34" charset="0"/>
                <a:cs typeface="Arial" pitchFamily="34" charset="0"/>
              </a:rPr>
              <a:t>Hằng th</a:t>
            </a:r>
            <a:r>
              <a:rPr lang="vi-VN" sz="3000" b="1">
                <a:ln w="1905"/>
                <a:solidFill>
                  <a:srgbClr val="0000FF"/>
                </a:solidFill>
                <a:effectLst>
                  <a:innerShdw blurRad="69850" dist="43180" dir="5400000">
                    <a:srgbClr val="000000">
                      <a:alpha val="65000"/>
                    </a:srgbClr>
                  </a:innerShdw>
                </a:effectLst>
                <a:latin typeface="Arial" pitchFamily="34" charset="0"/>
                <a:cs typeface="Arial" pitchFamily="34" charset="0"/>
              </a:rPr>
              <a:t>ường</a:t>
            </a:r>
            <a:endParaRPr lang="en-US" sz="3000" b="1">
              <a:ln w="1905"/>
              <a:solidFill>
                <a:srgbClr val="0000FF"/>
              </a:solidFill>
              <a:effectLst>
                <a:innerShdw blurRad="69850" dist="43180" dir="5400000">
                  <a:srgbClr val="000000">
                    <a:alpha val="65000"/>
                  </a:srgbClr>
                </a:innerShdw>
              </a:effectLst>
              <a:latin typeface="Arial" pitchFamily="34" charset="0"/>
              <a:cs typeface="Arial" pitchFamily="34" charset="0"/>
            </a:endParaRPr>
          </a:p>
        </p:txBody>
      </p:sp>
      <p:grpSp>
        <p:nvGrpSpPr>
          <p:cNvPr id="11" name="Group 15"/>
          <p:cNvGrpSpPr>
            <a:grpSpLocks/>
          </p:cNvGrpSpPr>
          <p:nvPr/>
        </p:nvGrpSpPr>
        <p:grpSpPr bwMode="auto">
          <a:xfrm>
            <a:off x="3963121" y="1591825"/>
            <a:ext cx="4785344" cy="2645936"/>
            <a:chOff x="838199" y="4191000"/>
            <a:chExt cx="6019801" cy="2206137"/>
          </a:xfrm>
        </p:grpSpPr>
        <p:sp>
          <p:nvSpPr>
            <p:cNvPr id="5" name="AutoShape 6"/>
            <p:cNvSpPr>
              <a:spLocks noChangeArrowheads="1"/>
            </p:cNvSpPr>
            <p:nvPr/>
          </p:nvSpPr>
          <p:spPr bwMode="gray">
            <a:xfrm>
              <a:off x="845706" y="4191000"/>
              <a:ext cx="6012294" cy="20574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p>
          </p:txBody>
        </p:sp>
        <p:sp>
          <p:nvSpPr>
            <p:cNvPr id="6" name="Text Box 7"/>
            <p:cNvSpPr txBox="1">
              <a:spLocks noChangeArrowheads="1"/>
            </p:cNvSpPr>
            <p:nvPr/>
          </p:nvSpPr>
          <p:spPr bwMode="gray">
            <a:xfrm>
              <a:off x="838199" y="4267200"/>
              <a:ext cx="6019800" cy="2129937"/>
            </a:xfrm>
            <a:prstGeom prst="rect">
              <a:avLst/>
            </a:prstGeom>
            <a:noFill/>
            <a:ln w="9525">
              <a:noFill/>
              <a:miter lim="800000"/>
              <a:headEnd/>
              <a:tailEnd/>
            </a:ln>
            <a:effectLst/>
          </p:spPr>
          <p:txBody>
            <a:bodyPr wrap="square">
              <a:spAutoFit/>
            </a:bodyPr>
            <a:lstStyle/>
            <a:p>
              <a:pPr>
                <a:defRPr/>
              </a:pPr>
              <a:r>
                <a:rPr lang="en-US" sz="2400">
                  <a:solidFill>
                    <a:srgbClr val="0000FF"/>
                  </a:solidFill>
                  <a:latin typeface="Arial" pitchFamily="34" charset="0"/>
                  <a:cs typeface="Arial" pitchFamily="34" charset="0"/>
                </a:rPr>
                <a:t>Ví dụ</a:t>
              </a:r>
            </a:p>
            <a:p>
              <a:pPr>
                <a:defRPr/>
              </a:pPr>
              <a:r>
                <a:rPr lang="en-US" sz="2400" b="1">
                  <a:latin typeface="Courier New" pitchFamily="49" charset="0"/>
                  <a:cs typeface="Courier New" pitchFamily="49" charset="0"/>
                </a:rPr>
                <a:t>const</a:t>
              </a:r>
              <a:r>
                <a:rPr lang="en-US" sz="2400">
                  <a:latin typeface="Courier New" pitchFamily="49" charset="0"/>
                  <a:cs typeface="Courier New" pitchFamily="49" charset="0"/>
                </a:rPr>
                <a:t> </a:t>
              </a:r>
              <a:r>
                <a:rPr lang="en-US" sz="2400" b="1">
                  <a:latin typeface="Courier New" pitchFamily="49" charset="0"/>
                  <a:cs typeface="Courier New" pitchFamily="49" charset="0"/>
                </a:rPr>
                <a:t>int</a:t>
              </a:r>
              <a:r>
                <a:rPr lang="en-US" sz="2400">
                  <a:latin typeface="Courier New" pitchFamily="49" charset="0"/>
                  <a:cs typeface="Courier New" pitchFamily="49" charset="0"/>
                </a:rPr>
                <a:t> A = </a:t>
              </a:r>
              <a:r>
                <a:rPr lang="en-US" sz="2400">
                  <a:solidFill>
                    <a:srgbClr val="FF0000"/>
                  </a:solidFill>
                  <a:latin typeface="Courier New" pitchFamily="49" charset="0"/>
                  <a:cs typeface="Courier New" pitchFamily="49" charset="0"/>
                </a:rPr>
                <a:t>1</a:t>
              </a:r>
              <a:r>
                <a:rPr lang="en-US" sz="2400">
                  <a:latin typeface="Courier New" pitchFamily="49" charset="0"/>
                  <a:cs typeface="Courier New" pitchFamily="49" charset="0"/>
                </a:rPr>
                <a:t>506;		</a:t>
              </a:r>
            </a:p>
            <a:p>
              <a:pPr>
                <a:defRPr/>
              </a:pPr>
              <a:r>
                <a:rPr lang="en-US" sz="2400" b="1">
                  <a:latin typeface="Courier New" pitchFamily="49" charset="0"/>
                  <a:cs typeface="Courier New" pitchFamily="49" charset="0"/>
                </a:rPr>
                <a:t>const</a:t>
              </a:r>
              <a:r>
                <a:rPr lang="en-US" sz="2400">
                  <a:latin typeface="Courier New" pitchFamily="49" charset="0"/>
                  <a:cs typeface="Courier New" pitchFamily="49" charset="0"/>
                </a:rPr>
                <a:t> </a:t>
              </a:r>
              <a:r>
                <a:rPr lang="en-US" sz="2400" b="1">
                  <a:latin typeface="Courier New" pitchFamily="49" charset="0"/>
                  <a:cs typeface="Courier New" pitchFamily="49" charset="0"/>
                </a:rPr>
                <a:t>int</a:t>
              </a:r>
              <a:r>
                <a:rPr lang="en-US" sz="2400">
                  <a:latin typeface="Courier New" pitchFamily="49" charset="0"/>
                  <a:cs typeface="Courier New" pitchFamily="49" charset="0"/>
                </a:rPr>
                <a:t> B = </a:t>
              </a:r>
              <a:r>
                <a:rPr lang="en-US" sz="2400">
                  <a:solidFill>
                    <a:srgbClr val="FF0000"/>
                  </a:solidFill>
                  <a:latin typeface="Courier New" pitchFamily="49" charset="0"/>
                  <a:cs typeface="Courier New" pitchFamily="49" charset="0"/>
                </a:rPr>
                <a:t>0</a:t>
              </a:r>
              <a:r>
                <a:rPr lang="en-US" sz="2400">
                  <a:latin typeface="Courier New" pitchFamily="49" charset="0"/>
                  <a:cs typeface="Courier New" pitchFamily="49" charset="0"/>
                </a:rPr>
                <a:t>1506;	</a:t>
              </a:r>
            </a:p>
            <a:p>
              <a:pPr>
                <a:defRPr/>
              </a:pPr>
              <a:r>
                <a:rPr lang="en-US" sz="2400" b="1">
                  <a:latin typeface="Courier New" pitchFamily="49" charset="0"/>
                  <a:cs typeface="Courier New" pitchFamily="49" charset="0"/>
                </a:rPr>
                <a:t>const</a:t>
              </a:r>
              <a:r>
                <a:rPr lang="en-US" sz="2400">
                  <a:latin typeface="Courier New" pitchFamily="49" charset="0"/>
                  <a:cs typeface="Courier New" pitchFamily="49" charset="0"/>
                </a:rPr>
                <a:t> </a:t>
              </a:r>
              <a:r>
                <a:rPr lang="en-US" sz="2400" b="1">
                  <a:latin typeface="Courier New" pitchFamily="49" charset="0"/>
                  <a:cs typeface="Courier New" pitchFamily="49" charset="0"/>
                </a:rPr>
                <a:t>int</a:t>
              </a:r>
              <a:r>
                <a:rPr lang="en-US" sz="2400">
                  <a:latin typeface="Courier New" pitchFamily="49" charset="0"/>
                  <a:cs typeface="Courier New" pitchFamily="49" charset="0"/>
                </a:rPr>
                <a:t> C = </a:t>
              </a:r>
              <a:r>
                <a:rPr lang="en-US" sz="2400">
                  <a:solidFill>
                    <a:srgbClr val="FF0000"/>
                  </a:solidFill>
                  <a:latin typeface="Courier New" pitchFamily="49" charset="0"/>
                  <a:cs typeface="Courier New" pitchFamily="49" charset="0"/>
                </a:rPr>
                <a:t>0x</a:t>
              </a:r>
              <a:r>
                <a:rPr lang="en-US" sz="2400">
                  <a:latin typeface="Courier New" pitchFamily="49" charset="0"/>
                  <a:cs typeface="Courier New" pitchFamily="49" charset="0"/>
                </a:rPr>
                <a:t>1506;	</a:t>
              </a:r>
              <a:endParaRPr lang="en-US" sz="2400" baseline="-25000">
                <a:latin typeface="Courier New" pitchFamily="49" charset="0"/>
                <a:cs typeface="Courier New" pitchFamily="49" charset="0"/>
              </a:endParaRPr>
            </a:p>
            <a:p>
              <a:pPr>
                <a:defRPr/>
              </a:pPr>
              <a:r>
                <a:rPr lang="en-US" sz="2400" b="1">
                  <a:latin typeface="Courier New" pitchFamily="49" charset="0"/>
                  <a:cs typeface="Courier New" pitchFamily="49" charset="0"/>
                </a:rPr>
                <a:t>const</a:t>
              </a:r>
              <a:r>
                <a:rPr lang="en-US" sz="2400">
                  <a:latin typeface="Courier New" pitchFamily="49" charset="0"/>
                  <a:cs typeface="Courier New" pitchFamily="49" charset="0"/>
                </a:rPr>
                <a:t> </a:t>
              </a:r>
              <a:r>
                <a:rPr lang="en-US" sz="2400" b="1">
                  <a:latin typeface="Courier New" pitchFamily="49" charset="0"/>
                  <a:cs typeface="Courier New" pitchFamily="49" charset="0"/>
                </a:rPr>
                <a:t>float</a:t>
              </a:r>
              <a:r>
                <a:rPr lang="en-US" sz="2400">
                  <a:latin typeface="Courier New" pitchFamily="49" charset="0"/>
                  <a:cs typeface="Courier New" pitchFamily="49" charset="0"/>
                </a:rPr>
                <a:t> D = 15.06</a:t>
              </a:r>
              <a:r>
                <a:rPr lang="en-US" sz="2400">
                  <a:solidFill>
                    <a:srgbClr val="FF0000"/>
                  </a:solidFill>
                  <a:latin typeface="Courier New" pitchFamily="49" charset="0"/>
                  <a:cs typeface="Courier New" pitchFamily="49" charset="0"/>
                </a:rPr>
                <a:t>e</a:t>
              </a:r>
              <a:r>
                <a:rPr lang="en-US" sz="2400">
                  <a:latin typeface="Courier New" pitchFamily="49" charset="0"/>
                  <a:cs typeface="Courier New" pitchFamily="49" charset="0"/>
                </a:rPr>
                <a:t>-3;	</a:t>
              </a:r>
            </a:p>
            <a:p>
              <a:pPr>
                <a:defRPr/>
              </a:pPr>
              <a:r>
                <a:rPr lang="en-US" sz="2400" b="1">
                  <a:latin typeface="Courier New" pitchFamily="49" charset="0"/>
                  <a:cs typeface="Courier New" pitchFamily="49" charset="0"/>
                </a:rPr>
                <a:t>const</a:t>
              </a:r>
              <a:r>
                <a:rPr lang="en-US" sz="2400">
                  <a:latin typeface="Courier New" pitchFamily="49" charset="0"/>
                  <a:cs typeface="Courier New" pitchFamily="49" charset="0"/>
                </a:rPr>
                <a:t> </a:t>
              </a:r>
              <a:r>
                <a:rPr lang="en-US" sz="2400" b="1">
                  <a:latin typeface="Courier New" pitchFamily="49" charset="0"/>
                  <a:cs typeface="Courier New" pitchFamily="49" charset="0"/>
                </a:rPr>
                <a:t>char</a:t>
              </a:r>
              <a:r>
                <a:rPr lang="en-US" sz="2400">
                  <a:latin typeface="Courier New" pitchFamily="49" charset="0"/>
                  <a:cs typeface="Courier New" pitchFamily="49" charset="0"/>
                </a:rPr>
                <a:t> RC=‘\r’</a:t>
              </a:r>
            </a:p>
            <a:p>
              <a:pPr>
                <a:defRPr/>
              </a:pPr>
              <a:endParaRPr lang="en-US" sz="2400" baseline="30000">
                <a:latin typeface="Courier New" pitchFamily="49" charset="0"/>
                <a:cs typeface="Courier New" pitchFamily="49" charset="0"/>
              </a:endParaRPr>
            </a:p>
          </p:txBody>
        </p:sp>
      </p:grpSp>
      <p:sp>
        <p:nvSpPr>
          <p:cNvPr id="7" name="Freeform 9"/>
          <p:cNvSpPr>
            <a:spLocks/>
          </p:cNvSpPr>
          <p:nvPr/>
        </p:nvSpPr>
        <p:spPr bwMode="gray">
          <a:xfrm rot="5400000" flipH="1">
            <a:off x="1127188" y="3438661"/>
            <a:ext cx="837083"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tx1">
                  <a:lumMod val="60000"/>
                  <a:lumOff val="40000"/>
                </a:schemeClr>
              </a:gs>
              <a:gs pos="100000">
                <a:schemeClr val="tx1">
                  <a:lumMod val="20000"/>
                  <a:lumOff val="80000"/>
                </a:schemeClr>
              </a:gs>
            </a:gsLst>
            <a:lin ang="0" scaled="1"/>
          </a:gradFill>
          <a:ln w="0">
            <a:noFill/>
            <a:prstDash val="solid"/>
            <a:round/>
            <a:headEnd/>
            <a:tailEnd/>
          </a:ln>
        </p:spPr>
        <p:txBody>
          <a:bodyPr/>
          <a:lstStyle/>
          <a:p>
            <a:pPr>
              <a:defRPr/>
            </a:pPr>
            <a:endParaRPr lang="en-US">
              <a:cs typeface="+mn-cs"/>
            </a:endParaRPr>
          </a:p>
        </p:txBody>
      </p:sp>
      <p:grpSp>
        <p:nvGrpSpPr>
          <p:cNvPr id="12" name="Group 14"/>
          <p:cNvGrpSpPr>
            <a:grpSpLocks/>
          </p:cNvGrpSpPr>
          <p:nvPr/>
        </p:nvGrpSpPr>
        <p:grpSpPr bwMode="auto">
          <a:xfrm>
            <a:off x="467544" y="4587413"/>
            <a:ext cx="7704856" cy="911701"/>
            <a:chOff x="3810000" y="1371600"/>
            <a:chExt cx="4638163" cy="1066800"/>
          </a:xfrm>
        </p:grpSpPr>
        <p:sp>
          <p:nvSpPr>
            <p:cNvPr id="8" name="AutoShape 6"/>
            <p:cNvSpPr>
              <a:spLocks noChangeArrowheads="1"/>
            </p:cNvSpPr>
            <p:nvPr/>
          </p:nvSpPr>
          <p:spPr bwMode="gray">
            <a:xfrm>
              <a:off x="3810000" y="1371600"/>
              <a:ext cx="4419600" cy="10668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9" name="Text Box 7"/>
            <p:cNvSpPr txBox="1">
              <a:spLocks noChangeArrowheads="1"/>
            </p:cNvSpPr>
            <p:nvPr/>
          </p:nvSpPr>
          <p:spPr bwMode="gray">
            <a:xfrm>
              <a:off x="4038600" y="1447801"/>
              <a:ext cx="4409563" cy="972366"/>
            </a:xfrm>
            <a:prstGeom prst="rect">
              <a:avLst/>
            </a:prstGeom>
            <a:noFill/>
            <a:ln w="9525">
              <a:noFill/>
              <a:miter lim="800000"/>
              <a:headEnd/>
              <a:tailEnd/>
            </a:ln>
            <a:effectLst/>
          </p:spPr>
          <p:txBody>
            <a:bodyPr wrap="square">
              <a:spAutoFit/>
            </a:bodyPr>
            <a:lstStyle/>
            <a:p>
              <a:pPr>
                <a:defRPr/>
              </a:pPr>
              <a:r>
                <a:rPr lang="en-US" sz="2400" dirty="0" err="1">
                  <a:solidFill>
                    <a:srgbClr val="0000FF"/>
                  </a:solidFill>
                  <a:latin typeface="Arial" pitchFamily="34" charset="0"/>
                  <a:cs typeface="Arial" pitchFamily="34" charset="0"/>
                </a:rPr>
                <a:t>Cú</a:t>
              </a:r>
              <a:r>
                <a:rPr lang="en-US" sz="2400" dirty="0">
                  <a:solidFill>
                    <a:srgbClr val="0000FF"/>
                  </a:solidFill>
                  <a:latin typeface="Arial" pitchFamily="34" charset="0"/>
                  <a:cs typeface="Arial" pitchFamily="34" charset="0"/>
                </a:rPr>
                <a:t> </a:t>
              </a:r>
              <a:r>
                <a:rPr lang="en-US" sz="2400" dirty="0" err="1">
                  <a:solidFill>
                    <a:srgbClr val="0000FF"/>
                  </a:solidFill>
                  <a:latin typeface="Arial" pitchFamily="34" charset="0"/>
                  <a:cs typeface="Arial" pitchFamily="34" charset="0"/>
                </a:rPr>
                <a:t>pháp</a:t>
              </a:r>
              <a:r>
                <a:rPr lang="en-US" sz="2400" dirty="0">
                  <a:solidFill>
                    <a:srgbClr val="0000FF"/>
                  </a:solidFill>
                  <a:latin typeface="Arial" pitchFamily="34" charset="0"/>
                  <a:cs typeface="Arial" pitchFamily="34" charset="0"/>
                </a:rPr>
                <a:t>    const float pi=3.14;</a:t>
              </a:r>
            </a:p>
            <a:p>
              <a:pPr>
                <a:defRPr/>
              </a:pPr>
              <a:r>
                <a:rPr lang="en-US" sz="2400" b="1" dirty="0">
                  <a:latin typeface="Arial" pitchFamily="34" charset="0"/>
                  <a:cs typeface="Arial" pitchFamily="34" charset="0"/>
                </a:rPr>
                <a:t>const</a:t>
              </a:r>
              <a:r>
                <a:rPr lang="en-US" sz="2400" dirty="0">
                  <a:latin typeface="Arial" pitchFamily="34" charset="0"/>
                  <a:cs typeface="Arial" pitchFamily="34" charset="0"/>
                </a:rPr>
                <a:t> &lt;</a:t>
              </a:r>
              <a:r>
                <a:rPr lang="en-US" sz="2400" dirty="0" err="1">
                  <a:latin typeface="Arial" pitchFamily="34" charset="0"/>
                  <a:cs typeface="Arial" pitchFamily="34" charset="0"/>
                </a:rPr>
                <a:t>kiểu</a:t>
              </a:r>
              <a:r>
                <a:rPr lang="en-US" sz="2400" dirty="0">
                  <a:latin typeface="Arial" pitchFamily="34" charset="0"/>
                  <a:cs typeface="Arial" pitchFamily="34" charset="0"/>
                </a:rPr>
                <a:t> </a:t>
              </a:r>
              <a:r>
                <a:rPr lang="en-US" sz="2400" dirty="0" err="1">
                  <a:latin typeface="Arial" pitchFamily="34" charset="0"/>
                  <a:cs typeface="Arial" pitchFamily="34" charset="0"/>
                </a:rPr>
                <a:t>dữ</a:t>
              </a:r>
              <a:r>
                <a:rPr lang="en-US" sz="2400" dirty="0">
                  <a:latin typeface="Arial" pitchFamily="34" charset="0"/>
                  <a:cs typeface="Arial" pitchFamily="34" charset="0"/>
                </a:rPr>
                <a:t> </a:t>
              </a:r>
              <a:r>
                <a:rPr lang="en-US" sz="2400" dirty="0" err="1">
                  <a:latin typeface="Arial" pitchFamily="34" charset="0"/>
                  <a:cs typeface="Arial" pitchFamily="34" charset="0"/>
                </a:rPr>
                <a:t>liệu</a:t>
              </a:r>
              <a:r>
                <a:rPr lang="en-US" sz="2400" dirty="0">
                  <a:latin typeface="Arial" pitchFamily="34" charset="0"/>
                  <a:cs typeface="Arial" pitchFamily="34" charset="0"/>
                </a:rPr>
                <a:t>&gt; &lt;</a:t>
              </a:r>
              <a:r>
                <a:rPr lang="en-US" sz="2400" dirty="0" err="1">
                  <a:latin typeface="Arial" pitchFamily="34" charset="0"/>
                  <a:cs typeface="Arial" pitchFamily="34" charset="0"/>
                </a:rPr>
                <a:t>tên</a:t>
              </a:r>
              <a:r>
                <a:rPr lang="en-US" sz="2400" dirty="0">
                  <a:latin typeface="Arial" pitchFamily="34" charset="0"/>
                  <a:cs typeface="Arial" pitchFamily="34" charset="0"/>
                </a:rPr>
                <a:t> </a:t>
              </a:r>
              <a:r>
                <a:rPr lang="en-US" sz="2400" dirty="0" err="1">
                  <a:latin typeface="Arial" pitchFamily="34" charset="0"/>
                  <a:cs typeface="Arial" pitchFamily="34" charset="0"/>
                </a:rPr>
                <a:t>hằng</a:t>
              </a:r>
              <a:r>
                <a:rPr lang="en-US" sz="2400" dirty="0">
                  <a:latin typeface="Arial" pitchFamily="34" charset="0"/>
                  <a:cs typeface="Arial" pitchFamily="34" charset="0"/>
                </a:rPr>
                <a:t>&gt; = &lt;</a:t>
              </a:r>
              <a:r>
                <a:rPr lang="en-US" sz="2400" dirty="0" err="1">
                  <a:latin typeface="Arial" pitchFamily="34" charset="0"/>
                  <a:cs typeface="Arial" pitchFamily="34" charset="0"/>
                </a:rPr>
                <a:t>giá</a:t>
              </a:r>
              <a:r>
                <a:rPr lang="en-US" sz="2400" dirty="0">
                  <a:latin typeface="Arial" pitchFamily="34" charset="0"/>
                  <a:cs typeface="Arial" pitchFamily="34" charset="0"/>
                </a:rPr>
                <a:t> </a:t>
              </a:r>
              <a:r>
                <a:rPr lang="en-US" sz="2400" dirty="0" err="1">
                  <a:latin typeface="Arial" pitchFamily="34" charset="0"/>
                  <a:cs typeface="Arial" pitchFamily="34" charset="0"/>
                </a:rPr>
                <a:t>trị</a:t>
              </a:r>
              <a:r>
                <a:rPr lang="en-US" sz="2400" dirty="0">
                  <a:latin typeface="Arial" pitchFamily="34" charset="0"/>
                  <a:cs typeface="Arial" pitchFamily="34" charset="0"/>
                </a:rPr>
                <a:t> </a:t>
              </a:r>
              <a:r>
                <a:rPr lang="en-US" sz="2400" dirty="0" err="1">
                  <a:latin typeface="Arial" pitchFamily="34" charset="0"/>
                  <a:cs typeface="Arial" pitchFamily="34" charset="0"/>
                </a:rPr>
                <a:t>hằng</a:t>
              </a:r>
              <a:r>
                <a:rPr lang="en-US" sz="2400" dirty="0">
                  <a:latin typeface="Arial" pitchFamily="34" charset="0"/>
                  <a:cs typeface="Arial" pitchFamily="34" charset="0"/>
                </a:rPr>
                <a:t>&gt;;</a:t>
              </a:r>
            </a:p>
          </p:txBody>
        </p:sp>
      </p:grpSp>
      <p:sp>
        <p:nvSpPr>
          <p:cNvPr id="10" name="Freeform 11"/>
          <p:cNvSpPr>
            <a:spLocks/>
          </p:cNvSpPr>
          <p:nvPr/>
        </p:nvSpPr>
        <p:spPr bwMode="gray">
          <a:xfrm flipH="1" flipV="1">
            <a:off x="3059832" y="1660090"/>
            <a:ext cx="903288" cy="976822"/>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66FF"/>
              </a:gs>
              <a:gs pos="100000">
                <a:srgbClr val="FFCCFF"/>
              </a:gs>
            </a:gsLst>
            <a:lin ang="0" scaled="1"/>
          </a:gradFill>
          <a:ln w="0">
            <a:noFill/>
            <a:round/>
            <a:headEnd/>
            <a:tailEnd/>
          </a:ln>
        </p:spPr>
        <p:txBody>
          <a:bodyPr/>
          <a:lstStyle/>
          <a:p>
            <a:endParaRPr lang="en-US"/>
          </a:p>
        </p:txBody>
      </p:sp>
      <p:sp>
        <p:nvSpPr>
          <p:cNvPr id="17" name="Slide Number Placeholder 16"/>
          <p:cNvSpPr>
            <a:spLocks noGrp="1"/>
          </p:cNvSpPr>
          <p:nvPr>
            <p:ph type="sldNum" sz="quarter" idx="12"/>
          </p:nvPr>
        </p:nvSpPr>
        <p:spPr/>
        <p:txBody>
          <a:bodyPr/>
          <a:lstStyle/>
          <a:p>
            <a:fld id="{5AB95402-1E0D-474E-8D8C-CBE7F053639E}" type="slidenum">
              <a:rPr lang="vi-VN" smtClean="0"/>
              <a:pPr/>
              <a:t>25</a:t>
            </a:fld>
            <a:r>
              <a:rPr lang="vi-VN"/>
              <a:t>/59</a:t>
            </a:r>
          </a:p>
        </p:txBody>
      </p:sp>
    </p:spTree>
    <p:extLst>
      <p:ext uri="{BB962C8B-B14F-4D97-AF65-F5344CB8AC3E}">
        <p14:creationId xmlns:p14="http://schemas.microsoft.com/office/powerpoint/2010/main" val="591741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Hằng (tt)</a:t>
            </a:r>
          </a:p>
        </p:txBody>
      </p:sp>
      <p:sp>
        <p:nvSpPr>
          <p:cNvPr id="2" name="Date Placeholder 1"/>
          <p:cNvSpPr>
            <a:spLocks noGrp="1"/>
          </p:cNvSpPr>
          <p:nvPr>
            <p:ph type="dt" sz="half" idx="10"/>
          </p:nvPr>
        </p:nvSpPr>
        <p:spPr/>
        <p:txBody>
          <a:bodyPr/>
          <a:lstStyle/>
          <a:p>
            <a:fld id="{8374C46A-3D54-46AE-AC00-4D4C5A6FE269}" type="datetime1">
              <a:rPr lang="vi-VN" smtClean="0"/>
              <a:t>14/01/2024</a:t>
            </a:fld>
            <a:endParaRPr lang="vi-VN"/>
          </a:p>
        </p:txBody>
      </p:sp>
      <p:sp>
        <p:nvSpPr>
          <p:cNvPr id="25603" name="Footer Placeholder 2"/>
          <p:cNvSpPr>
            <a:spLocks noGrp="1"/>
          </p:cNvSpPr>
          <p:nvPr>
            <p:ph type="ftr" sz="quarter" idx="11"/>
          </p:nvPr>
        </p:nvSpPr>
        <p:spPr>
          <a:noFill/>
        </p:spPr>
        <p:txBody>
          <a:bodyPr/>
          <a:lstStyle/>
          <a:p>
            <a:r>
              <a:rPr lang="vi-VN"/>
              <a:t>Chương 2 - Các phần tử cơ bản của ngôn ngữ C</a:t>
            </a:r>
            <a:endParaRPr lang="en-US"/>
          </a:p>
        </p:txBody>
      </p:sp>
      <p:sp>
        <p:nvSpPr>
          <p:cNvPr id="4" name="Hexagon 3"/>
          <p:cNvSpPr/>
          <p:nvPr/>
        </p:nvSpPr>
        <p:spPr>
          <a:xfrm>
            <a:off x="762000" y="1413641"/>
            <a:ext cx="2590800" cy="2233449"/>
          </a:xfrm>
          <a:prstGeom prst="hexagon">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3000" b="1">
                <a:ln w="1905"/>
                <a:solidFill>
                  <a:srgbClr val="0000FF"/>
                </a:solidFill>
                <a:effectLst>
                  <a:innerShdw blurRad="69850" dist="43180" dir="5400000">
                    <a:srgbClr val="000000">
                      <a:alpha val="65000"/>
                    </a:srgbClr>
                  </a:innerShdw>
                </a:effectLst>
                <a:latin typeface="Arial" pitchFamily="34" charset="0"/>
                <a:cs typeface="Arial" pitchFamily="34" charset="0"/>
              </a:rPr>
              <a:t>Hằng</a:t>
            </a:r>
          </a:p>
          <a:p>
            <a:pPr algn="ctr">
              <a:defRPr/>
            </a:pPr>
            <a:r>
              <a:rPr lang="en-US" sz="3000" b="1">
                <a:ln w="1905"/>
                <a:solidFill>
                  <a:srgbClr val="0000FF"/>
                </a:solidFill>
                <a:effectLst>
                  <a:innerShdw blurRad="69850" dist="43180" dir="5400000">
                    <a:srgbClr val="000000">
                      <a:alpha val="65000"/>
                    </a:srgbClr>
                  </a:innerShdw>
                </a:effectLst>
                <a:latin typeface="Arial" pitchFamily="34" charset="0"/>
                <a:cs typeface="Arial" pitchFamily="34" charset="0"/>
              </a:rPr>
              <a:t>tượng trưng</a:t>
            </a:r>
          </a:p>
        </p:txBody>
      </p:sp>
      <p:grpSp>
        <p:nvGrpSpPr>
          <p:cNvPr id="11" name="Group 15"/>
          <p:cNvGrpSpPr>
            <a:grpSpLocks/>
          </p:cNvGrpSpPr>
          <p:nvPr/>
        </p:nvGrpSpPr>
        <p:grpSpPr bwMode="auto">
          <a:xfrm>
            <a:off x="3925191" y="1196752"/>
            <a:ext cx="4967289" cy="2753856"/>
            <a:chOff x="609600" y="4191000"/>
            <a:chExt cx="6324600" cy="2753856"/>
          </a:xfrm>
        </p:grpSpPr>
        <p:sp>
          <p:nvSpPr>
            <p:cNvPr id="5" name="AutoShape 6"/>
            <p:cNvSpPr>
              <a:spLocks noChangeArrowheads="1"/>
            </p:cNvSpPr>
            <p:nvPr/>
          </p:nvSpPr>
          <p:spPr bwMode="gray">
            <a:xfrm>
              <a:off x="609600" y="4191000"/>
              <a:ext cx="6324600" cy="20574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p>
          </p:txBody>
        </p:sp>
        <p:sp>
          <p:nvSpPr>
            <p:cNvPr id="6" name="Text Box 7"/>
            <p:cNvSpPr txBox="1">
              <a:spLocks noChangeArrowheads="1"/>
            </p:cNvSpPr>
            <p:nvPr/>
          </p:nvSpPr>
          <p:spPr bwMode="gray">
            <a:xfrm>
              <a:off x="838201" y="4267200"/>
              <a:ext cx="6019801" cy="2677656"/>
            </a:xfrm>
            <a:prstGeom prst="rect">
              <a:avLst/>
            </a:prstGeom>
            <a:noFill/>
            <a:ln w="9525">
              <a:noFill/>
              <a:miter lim="800000"/>
              <a:headEnd/>
              <a:tailEnd/>
            </a:ln>
            <a:effectLst/>
          </p:spPr>
          <p:txBody>
            <a:bodyPr>
              <a:spAutoFit/>
            </a:bodyPr>
            <a:lstStyle/>
            <a:p>
              <a:pPr>
                <a:defRPr/>
              </a:pPr>
              <a:r>
                <a:rPr lang="en-US" sz="2400">
                  <a:solidFill>
                    <a:srgbClr val="0000FF"/>
                  </a:solidFill>
                  <a:latin typeface="Arial" pitchFamily="34" charset="0"/>
                  <a:cs typeface="Arial" pitchFamily="34" charset="0"/>
                </a:rPr>
                <a:t>Ví dụ</a:t>
              </a:r>
            </a:p>
            <a:p>
              <a:pPr>
                <a:defRPr/>
              </a:pPr>
              <a:r>
                <a:rPr lang="en-US" sz="2400">
                  <a:latin typeface="Arial" pitchFamily="34" charset="0"/>
                  <a:cs typeface="Arial" pitchFamily="34" charset="0"/>
                </a:rPr>
                <a:t>#define MAX 100		</a:t>
              </a:r>
            </a:p>
            <a:p>
              <a:pPr>
                <a:defRPr/>
              </a:pPr>
              <a:r>
                <a:rPr lang="en-US" sz="2400">
                  <a:latin typeface="Arial" pitchFamily="34" charset="0"/>
                  <a:cs typeface="Arial" pitchFamily="34" charset="0"/>
                </a:rPr>
                <a:t>#define PI 3.14</a:t>
              </a:r>
            </a:p>
            <a:p>
              <a:pPr>
                <a:defRPr/>
              </a:pPr>
              <a:r>
                <a:rPr lang="en-US" sz="2400">
                  <a:latin typeface="Arial" pitchFamily="34" charset="0"/>
                  <a:cs typeface="Arial" pitchFamily="34" charset="0"/>
                </a:rPr>
                <a:t>#define TRUE 1</a:t>
              </a:r>
            </a:p>
            <a:p>
              <a:pPr>
                <a:defRPr/>
              </a:pPr>
              <a:r>
                <a:rPr lang="en-US" sz="2400">
                  <a:latin typeface="Arial" pitchFamily="34" charset="0"/>
                  <a:cs typeface="Arial" pitchFamily="34" charset="0"/>
                </a:rPr>
                <a:t>#define FALSE 0</a:t>
              </a:r>
            </a:p>
            <a:p>
              <a:pPr>
                <a:defRPr/>
              </a:pPr>
              <a:endParaRPr lang="en-US" sz="2400">
                <a:latin typeface="Arial" pitchFamily="34" charset="0"/>
                <a:cs typeface="Arial" pitchFamily="34" charset="0"/>
              </a:endParaRPr>
            </a:p>
            <a:p>
              <a:pPr>
                <a:defRPr/>
              </a:pPr>
              <a:endParaRPr lang="en-US" sz="2400">
                <a:latin typeface="Arial" pitchFamily="34" charset="0"/>
                <a:cs typeface="Arial" pitchFamily="34" charset="0"/>
              </a:endParaRPr>
            </a:p>
          </p:txBody>
        </p:sp>
      </p:grpSp>
      <p:sp>
        <p:nvSpPr>
          <p:cNvPr id="7" name="Freeform 9"/>
          <p:cNvSpPr>
            <a:spLocks/>
          </p:cNvSpPr>
          <p:nvPr/>
        </p:nvSpPr>
        <p:spPr bwMode="gray">
          <a:xfrm rot="5400000" flipH="1">
            <a:off x="969169" y="3221831"/>
            <a:ext cx="9794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tx1">
                  <a:lumMod val="60000"/>
                  <a:lumOff val="40000"/>
                </a:schemeClr>
              </a:gs>
              <a:gs pos="100000">
                <a:schemeClr val="tx1">
                  <a:lumMod val="20000"/>
                  <a:lumOff val="80000"/>
                </a:schemeClr>
              </a:gs>
            </a:gsLst>
            <a:lin ang="0" scaled="1"/>
          </a:gradFill>
          <a:ln w="0">
            <a:noFill/>
            <a:prstDash val="solid"/>
            <a:round/>
            <a:headEnd/>
            <a:tailEnd/>
          </a:ln>
        </p:spPr>
        <p:txBody>
          <a:bodyPr/>
          <a:lstStyle/>
          <a:p>
            <a:pPr>
              <a:defRPr/>
            </a:pPr>
            <a:endParaRPr lang="en-US">
              <a:cs typeface="+mn-cs"/>
            </a:endParaRPr>
          </a:p>
        </p:txBody>
      </p:sp>
      <p:grpSp>
        <p:nvGrpSpPr>
          <p:cNvPr id="12" name="Group 12"/>
          <p:cNvGrpSpPr>
            <a:grpSpLocks/>
          </p:cNvGrpSpPr>
          <p:nvPr/>
        </p:nvGrpSpPr>
        <p:grpSpPr bwMode="auto">
          <a:xfrm>
            <a:off x="395536" y="4421862"/>
            <a:ext cx="4419600" cy="1158765"/>
            <a:chOff x="3810000" y="1371600"/>
            <a:chExt cx="4419600" cy="1371600"/>
          </a:xfrm>
        </p:grpSpPr>
        <p:sp>
          <p:nvSpPr>
            <p:cNvPr id="8" name="AutoShape 6"/>
            <p:cNvSpPr>
              <a:spLocks noChangeArrowheads="1"/>
            </p:cNvSpPr>
            <p:nvPr/>
          </p:nvSpPr>
          <p:spPr bwMode="gray">
            <a:xfrm>
              <a:off x="3810000" y="1371600"/>
              <a:ext cx="4419600" cy="13716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9" name="Text Box 7"/>
            <p:cNvSpPr txBox="1">
              <a:spLocks noChangeArrowheads="1"/>
            </p:cNvSpPr>
            <p:nvPr/>
          </p:nvSpPr>
          <p:spPr bwMode="gray">
            <a:xfrm>
              <a:off x="4038600" y="1447800"/>
              <a:ext cx="4191000" cy="983630"/>
            </a:xfrm>
            <a:prstGeom prst="rect">
              <a:avLst/>
            </a:prstGeom>
            <a:noFill/>
            <a:ln w="9525">
              <a:noFill/>
              <a:miter lim="800000"/>
              <a:headEnd/>
              <a:tailEnd/>
            </a:ln>
            <a:effectLst/>
          </p:spPr>
          <p:txBody>
            <a:bodyPr>
              <a:spAutoFit/>
            </a:bodyPr>
            <a:lstStyle/>
            <a:p>
              <a:pPr>
                <a:defRPr/>
              </a:pPr>
              <a:r>
                <a:rPr lang="en-US" sz="2400">
                  <a:solidFill>
                    <a:srgbClr val="0000FF"/>
                  </a:solidFill>
                  <a:latin typeface="Arial" pitchFamily="34" charset="0"/>
                  <a:cs typeface="Arial" pitchFamily="34" charset="0"/>
                </a:rPr>
                <a:t>Cú pháp</a:t>
              </a:r>
            </a:p>
            <a:p>
              <a:pPr>
                <a:defRPr/>
              </a:pPr>
              <a:r>
                <a:rPr lang="en-US" sz="2400">
                  <a:latin typeface="Arial" pitchFamily="34" charset="0"/>
                  <a:cs typeface="Arial" pitchFamily="34" charset="0"/>
                </a:rPr>
                <a:t>#define &lt;name&gt; &lt;text&gt;</a:t>
              </a:r>
            </a:p>
          </p:txBody>
        </p:sp>
      </p:grpSp>
      <p:sp>
        <p:nvSpPr>
          <p:cNvPr id="10" name="Freeform 11"/>
          <p:cNvSpPr>
            <a:spLocks/>
          </p:cNvSpPr>
          <p:nvPr/>
        </p:nvSpPr>
        <p:spPr bwMode="gray">
          <a:xfrm flipH="1" flipV="1">
            <a:off x="3124200" y="1295400"/>
            <a:ext cx="903288" cy="1143000"/>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66FF"/>
              </a:gs>
              <a:gs pos="100000">
                <a:srgbClr val="FFCCFF"/>
              </a:gs>
            </a:gsLst>
            <a:lin ang="0" scaled="1"/>
          </a:gradFill>
          <a:ln w="0">
            <a:noFill/>
            <a:round/>
            <a:headEnd/>
            <a:tailEnd/>
          </a:ln>
        </p:spPr>
        <p:txBody>
          <a:bodyPr/>
          <a:lstStyle/>
          <a:p>
            <a:endParaRPr lang="en-US"/>
          </a:p>
        </p:txBody>
      </p:sp>
      <p:sp>
        <p:nvSpPr>
          <p:cNvPr id="17" name="Slide Number Placeholder 16"/>
          <p:cNvSpPr>
            <a:spLocks noGrp="1"/>
          </p:cNvSpPr>
          <p:nvPr>
            <p:ph type="sldNum" sz="quarter" idx="12"/>
          </p:nvPr>
        </p:nvSpPr>
        <p:spPr/>
        <p:txBody>
          <a:bodyPr/>
          <a:lstStyle/>
          <a:p>
            <a:fld id="{5AB95402-1E0D-474E-8D8C-CBE7F053639E}" type="slidenum">
              <a:rPr lang="vi-VN" smtClean="0"/>
              <a:pPr/>
              <a:t>26</a:t>
            </a:fld>
            <a:r>
              <a:rPr lang="vi-VN"/>
              <a:t>/59</a:t>
            </a:r>
          </a:p>
        </p:txBody>
      </p:sp>
    </p:spTree>
    <p:extLst>
      <p:ext uri="{BB962C8B-B14F-4D97-AF65-F5344CB8AC3E}">
        <p14:creationId xmlns:p14="http://schemas.microsoft.com/office/powerpoint/2010/main" val="271025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t>4. Câu lệnh – Biểu thức</a:t>
            </a:r>
          </a:p>
        </p:txBody>
      </p:sp>
      <p:sp>
        <p:nvSpPr>
          <p:cNvPr id="3" name="Content Placeholder 2"/>
          <p:cNvSpPr>
            <a:spLocks noGrp="1"/>
          </p:cNvSpPr>
          <p:nvPr>
            <p:ph idx="1"/>
          </p:nvPr>
        </p:nvSpPr>
        <p:spPr/>
        <p:txBody>
          <a:bodyPr/>
          <a:lstStyle/>
          <a:p>
            <a:pPr>
              <a:defRPr/>
            </a:pPr>
            <a:r>
              <a:rPr lang="en-US"/>
              <a:t>Biểu thức</a:t>
            </a:r>
          </a:p>
          <a:p>
            <a:pPr lvl="1">
              <a:defRPr/>
            </a:pPr>
            <a:r>
              <a:rPr lang="en-US"/>
              <a:t>Tạo thành từ các </a:t>
            </a:r>
            <a:r>
              <a:rPr lang="en-US">
                <a:solidFill>
                  <a:srgbClr val="FF0000"/>
                </a:solidFill>
              </a:rPr>
              <a:t>toán tử</a:t>
            </a:r>
            <a:r>
              <a:rPr lang="en-US"/>
              <a:t> (Operator) và các </a:t>
            </a:r>
            <a:r>
              <a:rPr lang="en-US">
                <a:solidFill>
                  <a:srgbClr val="FF0000"/>
                </a:solidFill>
              </a:rPr>
              <a:t>toán hạng</a:t>
            </a:r>
            <a:r>
              <a:rPr lang="en-US"/>
              <a:t> (Operand).</a:t>
            </a:r>
          </a:p>
          <a:p>
            <a:pPr lvl="1">
              <a:defRPr/>
            </a:pPr>
            <a:r>
              <a:rPr lang="en-US"/>
              <a:t>Toán tử tác </a:t>
            </a:r>
            <a:r>
              <a:rPr lang="vi-VN"/>
              <a:t>độ</a:t>
            </a:r>
            <a:r>
              <a:rPr lang="en-US"/>
              <a:t>ng lên các giá trị của toán hạng và cho giá trị có kiểu nhất </a:t>
            </a:r>
            <a:r>
              <a:rPr lang="vi-VN"/>
              <a:t>đị</a:t>
            </a:r>
            <a:r>
              <a:rPr lang="en-US"/>
              <a:t>nh.</a:t>
            </a:r>
          </a:p>
          <a:p>
            <a:pPr lvl="1">
              <a:defRPr/>
            </a:pPr>
            <a:r>
              <a:rPr lang="en-US"/>
              <a:t>Toán tử: </a:t>
            </a:r>
            <a:r>
              <a:rPr lang="en-US">
                <a:solidFill>
                  <a:srgbClr val="FF0000"/>
                </a:solidFill>
              </a:rPr>
              <a:t>+</a:t>
            </a:r>
            <a:r>
              <a:rPr lang="en-US"/>
              <a:t>, </a:t>
            </a:r>
            <a:r>
              <a:rPr lang="en-US">
                <a:solidFill>
                  <a:srgbClr val="FF0000"/>
                </a:solidFill>
              </a:rPr>
              <a:t>–</a:t>
            </a:r>
            <a:r>
              <a:rPr lang="en-US"/>
              <a:t>, </a:t>
            </a:r>
            <a:r>
              <a:rPr lang="en-US">
                <a:solidFill>
                  <a:srgbClr val="FF0000"/>
                </a:solidFill>
              </a:rPr>
              <a:t>*</a:t>
            </a:r>
            <a:r>
              <a:rPr lang="en-US"/>
              <a:t>, </a:t>
            </a:r>
            <a:r>
              <a:rPr lang="en-US">
                <a:solidFill>
                  <a:srgbClr val="FF0000"/>
                </a:solidFill>
              </a:rPr>
              <a:t>/</a:t>
            </a:r>
            <a:r>
              <a:rPr lang="en-US"/>
              <a:t>, </a:t>
            </a:r>
            <a:r>
              <a:rPr lang="en-US">
                <a:solidFill>
                  <a:srgbClr val="FF0000"/>
                </a:solidFill>
              </a:rPr>
              <a:t>%</a:t>
            </a:r>
            <a:r>
              <a:rPr lang="en-US"/>
              <a:t>….</a:t>
            </a:r>
          </a:p>
          <a:p>
            <a:pPr lvl="1">
              <a:defRPr/>
            </a:pPr>
            <a:r>
              <a:rPr lang="en-US"/>
              <a:t>Toán hạng: </a:t>
            </a:r>
            <a:r>
              <a:rPr lang="en-US">
                <a:solidFill>
                  <a:srgbClr val="FF0000"/>
                </a:solidFill>
              </a:rPr>
              <a:t>hằng</a:t>
            </a:r>
            <a:r>
              <a:rPr lang="en-US"/>
              <a:t>, </a:t>
            </a:r>
            <a:r>
              <a:rPr lang="en-US">
                <a:solidFill>
                  <a:srgbClr val="FF0000"/>
                </a:solidFill>
              </a:rPr>
              <a:t>biến</a:t>
            </a:r>
            <a:r>
              <a:rPr lang="en-US"/>
              <a:t>, </a:t>
            </a:r>
            <a:r>
              <a:rPr lang="en-US">
                <a:solidFill>
                  <a:srgbClr val="FF0000"/>
                </a:solidFill>
              </a:rPr>
              <a:t>lời gọi hàm</a:t>
            </a:r>
            <a:r>
              <a:rPr lang="en-US"/>
              <a:t>...</a:t>
            </a:r>
          </a:p>
          <a:p>
            <a:pPr>
              <a:defRPr/>
            </a:pPr>
            <a:r>
              <a:rPr lang="en-US"/>
              <a:t>Ví dụ</a:t>
            </a:r>
          </a:p>
          <a:p>
            <a:pPr lvl="1">
              <a:defRPr/>
            </a:pPr>
            <a:r>
              <a:rPr lang="en-US"/>
              <a:t>2 </a:t>
            </a:r>
            <a:r>
              <a:rPr lang="en-US">
                <a:solidFill>
                  <a:srgbClr val="FF0000"/>
                </a:solidFill>
              </a:rPr>
              <a:t>+</a:t>
            </a:r>
            <a:r>
              <a:rPr lang="en-US"/>
              <a:t> 3, a </a:t>
            </a:r>
            <a:r>
              <a:rPr lang="en-US">
                <a:solidFill>
                  <a:srgbClr val="FF0000"/>
                </a:solidFill>
              </a:rPr>
              <a:t>/</a:t>
            </a:r>
            <a:r>
              <a:rPr lang="en-US"/>
              <a:t> 5, (a </a:t>
            </a:r>
            <a:r>
              <a:rPr lang="en-US">
                <a:solidFill>
                  <a:srgbClr val="FF0000"/>
                </a:solidFill>
              </a:rPr>
              <a:t>+</a:t>
            </a:r>
            <a:r>
              <a:rPr lang="en-US"/>
              <a:t> b) </a:t>
            </a:r>
            <a:r>
              <a:rPr lang="en-US">
                <a:solidFill>
                  <a:srgbClr val="FF0000"/>
                </a:solidFill>
              </a:rPr>
              <a:t>*</a:t>
            </a:r>
            <a:r>
              <a:rPr lang="en-US"/>
              <a:t> 5, …</a:t>
            </a:r>
          </a:p>
        </p:txBody>
      </p:sp>
      <p:sp>
        <p:nvSpPr>
          <p:cNvPr id="26628"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A434C0AA-4D97-402A-AF9F-1A169A4578D8}"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27</a:t>
            </a:fld>
            <a:r>
              <a:rPr lang="vi-VN"/>
              <a:t>/59</a:t>
            </a:r>
          </a:p>
        </p:txBody>
      </p:sp>
    </p:spTree>
    <p:extLst>
      <p:ext uri="{BB962C8B-B14F-4D97-AF65-F5344CB8AC3E}">
        <p14:creationId xmlns:p14="http://schemas.microsoft.com/office/powerpoint/2010/main" val="861196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anim calcmode="lin" valueType="num">
                                      <p:cBhvr>
                                        <p:cTn id="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anim calcmode="lin" valueType="num">
                                      <p:cBhvr>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t>Câu lệnh</a:t>
            </a:r>
          </a:p>
        </p:txBody>
      </p:sp>
      <p:sp>
        <p:nvSpPr>
          <p:cNvPr id="4" name="Content Placeholder 3"/>
          <p:cNvSpPr>
            <a:spLocks noGrp="1"/>
          </p:cNvSpPr>
          <p:nvPr>
            <p:ph idx="1"/>
          </p:nvPr>
        </p:nvSpPr>
        <p:spPr/>
        <p:txBody>
          <a:bodyPr/>
          <a:lstStyle/>
          <a:p>
            <a:pPr>
              <a:defRPr/>
            </a:pPr>
            <a:r>
              <a:rPr lang="en-US" dirty="0" err="1"/>
              <a:t>Khái</a:t>
            </a:r>
            <a:r>
              <a:rPr lang="en-US" dirty="0"/>
              <a:t> </a:t>
            </a:r>
            <a:r>
              <a:rPr lang="en-US" dirty="0" err="1"/>
              <a:t>niệm</a:t>
            </a:r>
            <a:endParaRPr lang="en-US" dirty="0"/>
          </a:p>
          <a:p>
            <a:pPr lvl="1">
              <a:defRPr/>
            </a:pPr>
            <a:r>
              <a:rPr lang="en-US" dirty="0" err="1"/>
              <a:t>Là</a:t>
            </a:r>
            <a:r>
              <a:rPr lang="en-US" dirty="0"/>
              <a:t> </a:t>
            </a:r>
            <a:r>
              <a:rPr lang="en-US" dirty="0" err="1"/>
              <a:t>một</a:t>
            </a:r>
            <a:r>
              <a:rPr lang="en-US" dirty="0"/>
              <a:t> </a:t>
            </a:r>
            <a:r>
              <a:rPr lang="en-US" dirty="0" err="1"/>
              <a:t>chỉ</a:t>
            </a:r>
            <a:r>
              <a:rPr lang="en-US" dirty="0"/>
              <a:t> </a:t>
            </a:r>
            <a:r>
              <a:rPr lang="en-US" dirty="0" err="1"/>
              <a:t>thị</a:t>
            </a:r>
            <a:r>
              <a:rPr lang="en-US" dirty="0"/>
              <a:t> </a:t>
            </a:r>
            <a:r>
              <a:rPr lang="en-US" dirty="0" err="1"/>
              <a:t>trực</a:t>
            </a:r>
            <a:r>
              <a:rPr lang="en-US" dirty="0"/>
              <a:t> </a:t>
            </a:r>
            <a:r>
              <a:rPr lang="en-US" dirty="0" err="1"/>
              <a:t>tiếp</a:t>
            </a:r>
            <a:r>
              <a:rPr lang="en-US" dirty="0"/>
              <a:t>, </a:t>
            </a:r>
            <a:r>
              <a:rPr lang="en-US" dirty="0" err="1"/>
              <a:t>hoàn</a:t>
            </a:r>
            <a:r>
              <a:rPr lang="en-US" dirty="0"/>
              <a:t> </a:t>
            </a:r>
            <a:r>
              <a:rPr lang="en-US" dirty="0" err="1"/>
              <a:t>chỉnh</a:t>
            </a:r>
            <a:r>
              <a:rPr lang="en-US" dirty="0"/>
              <a:t> </a:t>
            </a:r>
            <a:r>
              <a:rPr lang="en-US" dirty="0" err="1"/>
              <a:t>nhằm</a:t>
            </a:r>
            <a:r>
              <a:rPr lang="en-US" dirty="0"/>
              <a:t> </a:t>
            </a:r>
            <a:r>
              <a:rPr lang="en-US" dirty="0" err="1"/>
              <a:t>ra</a:t>
            </a:r>
            <a:r>
              <a:rPr lang="en-US" dirty="0"/>
              <a:t> </a:t>
            </a:r>
            <a:r>
              <a:rPr lang="en-US" dirty="0" err="1"/>
              <a:t>lệnh</a:t>
            </a:r>
            <a:r>
              <a:rPr lang="en-US" dirty="0"/>
              <a:t> </a:t>
            </a:r>
            <a:r>
              <a:rPr lang="en-US" dirty="0" err="1"/>
              <a:t>cho</a:t>
            </a:r>
            <a:r>
              <a:rPr lang="en-US" dirty="0"/>
              <a:t> </a:t>
            </a:r>
            <a:r>
              <a:rPr lang="en-US" dirty="0" err="1"/>
              <a:t>máy</a:t>
            </a:r>
            <a:r>
              <a:rPr lang="en-US" dirty="0"/>
              <a:t> </a:t>
            </a:r>
            <a:r>
              <a:rPr lang="en-US" dirty="0" err="1"/>
              <a:t>tính</a:t>
            </a:r>
            <a:r>
              <a:rPr lang="en-US" dirty="0"/>
              <a:t> </a:t>
            </a:r>
            <a:r>
              <a:rPr lang="en-US" dirty="0" err="1"/>
              <a:t>thực</a:t>
            </a:r>
            <a:r>
              <a:rPr lang="en-US" dirty="0"/>
              <a:t> </a:t>
            </a:r>
            <a:r>
              <a:rPr lang="en-US" dirty="0" err="1"/>
              <a:t>hiện</a:t>
            </a:r>
            <a:r>
              <a:rPr lang="en-US" dirty="0"/>
              <a:t> </a:t>
            </a:r>
            <a:r>
              <a:rPr lang="en-US" dirty="0" err="1"/>
              <a:t>một</a:t>
            </a:r>
            <a:r>
              <a:rPr lang="en-US" dirty="0"/>
              <a:t> </a:t>
            </a:r>
            <a:r>
              <a:rPr lang="en-US" dirty="0" err="1"/>
              <a:t>số</a:t>
            </a:r>
            <a:r>
              <a:rPr lang="en-US" dirty="0"/>
              <a:t> </a:t>
            </a:r>
            <a:r>
              <a:rPr lang="en-US" dirty="0" err="1"/>
              <a:t>tác</a:t>
            </a:r>
            <a:r>
              <a:rPr lang="en-US" dirty="0"/>
              <a:t> </a:t>
            </a:r>
            <a:r>
              <a:rPr lang="en-US" dirty="0" err="1"/>
              <a:t>vụ</a:t>
            </a:r>
            <a:r>
              <a:rPr lang="en-US" dirty="0"/>
              <a:t> </a:t>
            </a:r>
            <a:r>
              <a:rPr lang="en-US" dirty="0" err="1"/>
              <a:t>nhất</a:t>
            </a:r>
            <a:r>
              <a:rPr lang="en-US" dirty="0"/>
              <a:t> </a:t>
            </a:r>
            <a:r>
              <a:rPr lang="vi-VN" dirty="0"/>
              <a:t>đị</a:t>
            </a:r>
            <a:r>
              <a:rPr lang="en-US" dirty="0" err="1"/>
              <a:t>nh</a:t>
            </a:r>
            <a:r>
              <a:rPr lang="en-US" dirty="0"/>
              <a:t> </a:t>
            </a:r>
            <a:r>
              <a:rPr lang="en-US" dirty="0" err="1"/>
              <a:t>nào</a:t>
            </a:r>
            <a:r>
              <a:rPr lang="en-US" dirty="0"/>
              <a:t> </a:t>
            </a:r>
            <a:r>
              <a:rPr lang="vi-VN"/>
              <a:t>đó</a:t>
            </a:r>
            <a:r>
              <a:rPr lang="en-US"/>
              <a:t>.</a:t>
            </a:r>
          </a:p>
          <a:p>
            <a:pPr lvl="1">
              <a:defRPr/>
            </a:pPr>
            <a:r>
              <a:rPr lang="en-US"/>
              <a:t>Các câu lệnh cách nhau bằng dấu chấm phẩy </a:t>
            </a:r>
            <a:r>
              <a:rPr lang="en-US">
                <a:solidFill>
                  <a:srgbClr val="FF0000"/>
                </a:solidFill>
              </a:rPr>
              <a:t>;</a:t>
            </a:r>
            <a:endParaRPr lang="en-US" dirty="0">
              <a:solidFill>
                <a:srgbClr val="FF0000"/>
              </a:solidFill>
            </a:endParaRPr>
          </a:p>
          <a:p>
            <a:pPr lvl="1">
              <a:defRPr/>
            </a:pPr>
            <a:r>
              <a:rPr lang="en-US" dirty="0" err="1"/>
              <a:t>Trình</a:t>
            </a:r>
            <a:r>
              <a:rPr lang="en-US" dirty="0"/>
              <a:t> </a:t>
            </a:r>
            <a:r>
              <a:rPr lang="en-US" dirty="0" err="1"/>
              <a:t>biên</a:t>
            </a:r>
            <a:r>
              <a:rPr lang="en-US" dirty="0"/>
              <a:t> </a:t>
            </a:r>
            <a:r>
              <a:rPr lang="en-US" dirty="0" err="1"/>
              <a:t>dịch</a:t>
            </a:r>
            <a:r>
              <a:rPr lang="en-US" dirty="0"/>
              <a:t> </a:t>
            </a:r>
            <a:r>
              <a:rPr lang="en-US" dirty="0" err="1"/>
              <a:t>bỏ</a:t>
            </a:r>
            <a:r>
              <a:rPr lang="en-US" dirty="0"/>
              <a:t> qua </a:t>
            </a:r>
            <a:r>
              <a:rPr lang="en-US" dirty="0" err="1"/>
              <a:t>các</a:t>
            </a:r>
            <a:r>
              <a:rPr lang="en-US" dirty="0"/>
              <a:t> </a:t>
            </a:r>
            <a:r>
              <a:rPr lang="en-US" dirty="0" err="1"/>
              <a:t>khoảng</a:t>
            </a:r>
            <a:r>
              <a:rPr lang="en-US" dirty="0"/>
              <a:t> </a:t>
            </a:r>
            <a:r>
              <a:rPr lang="en-US" dirty="0" err="1"/>
              <a:t>trắng</a:t>
            </a:r>
            <a:r>
              <a:rPr lang="en-US" dirty="0"/>
              <a:t> (hay tab </a:t>
            </a:r>
            <a:r>
              <a:rPr lang="en-US" dirty="0" err="1"/>
              <a:t>hoặc</a:t>
            </a:r>
            <a:r>
              <a:rPr lang="en-US" dirty="0"/>
              <a:t> </a:t>
            </a:r>
            <a:r>
              <a:rPr lang="en-US" dirty="0" err="1"/>
              <a:t>xuống</a:t>
            </a:r>
            <a:r>
              <a:rPr lang="en-US" dirty="0"/>
              <a:t> </a:t>
            </a:r>
            <a:r>
              <a:rPr lang="en-US" dirty="0" err="1"/>
              <a:t>dòng</a:t>
            </a:r>
            <a:r>
              <a:rPr lang="en-US" dirty="0"/>
              <a:t>) </a:t>
            </a:r>
            <a:r>
              <a:rPr lang="en-US" dirty="0" err="1"/>
              <a:t>chen</a:t>
            </a:r>
            <a:r>
              <a:rPr lang="en-US" dirty="0"/>
              <a:t> </a:t>
            </a:r>
            <a:r>
              <a:rPr lang="en-US" dirty="0" err="1"/>
              <a:t>giữa</a:t>
            </a:r>
            <a:r>
              <a:rPr lang="en-US" dirty="0"/>
              <a:t> </a:t>
            </a:r>
            <a:r>
              <a:rPr lang="en-US" dirty="0" err="1"/>
              <a:t>lệnh</a:t>
            </a:r>
            <a:r>
              <a:rPr lang="en-US" dirty="0"/>
              <a:t>.</a:t>
            </a:r>
          </a:p>
          <a:p>
            <a:pPr>
              <a:defRPr/>
            </a:pPr>
            <a:r>
              <a:rPr lang="en-US" dirty="0" err="1"/>
              <a:t>Ví</a:t>
            </a:r>
            <a:r>
              <a:rPr lang="en-US" dirty="0"/>
              <a:t> </a:t>
            </a:r>
            <a:r>
              <a:rPr lang="en-US" dirty="0" err="1"/>
              <a:t>dụ</a:t>
            </a:r>
            <a:endParaRPr lang="en-US" dirty="0"/>
          </a:p>
        </p:txBody>
      </p:sp>
      <p:sp>
        <p:nvSpPr>
          <p:cNvPr id="40964" name="Footer Placeholder 2"/>
          <p:cNvSpPr>
            <a:spLocks noGrp="1"/>
          </p:cNvSpPr>
          <p:nvPr>
            <p:ph type="ftr" sz="quarter" idx="11"/>
          </p:nvPr>
        </p:nvSpPr>
        <p:spPr>
          <a:noFill/>
        </p:spPr>
        <p:txBody>
          <a:bodyPr/>
          <a:lstStyle/>
          <a:p>
            <a:r>
              <a:rPr lang="vi-VN"/>
              <a:t>Chương 2 - Các phần tử cơ bản của ngôn ngữ C</a:t>
            </a:r>
            <a:endParaRPr lang="en-US"/>
          </a:p>
        </p:txBody>
      </p:sp>
      <p:sp>
        <p:nvSpPr>
          <p:cNvPr id="5" name="Rounded Rectangle 4"/>
          <p:cNvSpPr/>
          <p:nvPr/>
        </p:nvSpPr>
        <p:spPr>
          <a:xfrm>
            <a:off x="685800" y="4421088"/>
            <a:ext cx="152400" cy="15240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1089992" y="4389338"/>
            <a:ext cx="7010400" cy="16319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a=2912;</a:t>
            </a:r>
          </a:p>
          <a:p>
            <a:r>
              <a:rPr lang="en-US" sz="2000" b="1">
                <a:latin typeface="Courier New" pitchFamily="49" charset="0"/>
                <a:cs typeface="Courier New" pitchFamily="49" charset="0"/>
              </a:rPr>
              <a:t>a = 2912;</a:t>
            </a:r>
          </a:p>
          <a:p>
            <a:r>
              <a:rPr lang="en-US" sz="2000" b="1">
                <a:latin typeface="Courier New" pitchFamily="49" charset="0"/>
                <a:cs typeface="Courier New" pitchFamily="49" charset="0"/>
              </a:rPr>
              <a:t>a</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2912;</a:t>
            </a:r>
          </a:p>
        </p:txBody>
      </p:sp>
      <p:sp>
        <p:nvSpPr>
          <p:cNvPr id="7" name="Rectangle 6"/>
          <p:cNvSpPr>
            <a:spLocks/>
          </p:cNvSpPr>
          <p:nvPr/>
        </p:nvSpPr>
        <p:spPr bwMode="auto">
          <a:xfrm>
            <a:off x="0" y="4497288"/>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4802088"/>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9" name="Rectangle 8"/>
          <p:cNvSpPr>
            <a:spLocks/>
          </p:cNvSpPr>
          <p:nvPr/>
        </p:nvSpPr>
        <p:spPr bwMode="auto">
          <a:xfrm>
            <a:off x="0" y="5106888"/>
            <a:ext cx="9128125" cy="914400"/>
          </a:xfrm>
          <a:prstGeom prst="rect">
            <a:avLst/>
          </a:prstGeom>
          <a:solidFill>
            <a:srgbClr val="0099FF">
              <a:alpha val="20000"/>
            </a:srgbClr>
          </a:solidFill>
          <a:ln w="9525" algn="ctr">
            <a:noFill/>
            <a:miter lim="800000"/>
            <a:headEnd/>
            <a:tailEnd/>
          </a:ln>
        </p:spPr>
        <p:txBody>
          <a:bodyPr/>
          <a:lstStyle/>
          <a:p>
            <a:endParaRPr lang="en-US"/>
          </a:p>
        </p:txBody>
      </p:sp>
      <p:sp>
        <p:nvSpPr>
          <p:cNvPr id="2" name="Date Placeholder 1"/>
          <p:cNvSpPr>
            <a:spLocks noGrp="1"/>
          </p:cNvSpPr>
          <p:nvPr>
            <p:ph type="dt" sz="half" idx="10"/>
          </p:nvPr>
        </p:nvSpPr>
        <p:spPr/>
        <p:txBody>
          <a:bodyPr/>
          <a:lstStyle/>
          <a:p>
            <a:fld id="{7330F206-4984-49DE-9C01-5A4919C8DD89}" type="datetime1">
              <a:rPr lang="vi-VN" smtClean="0"/>
              <a:t>14/01/2024</a:t>
            </a:fld>
            <a:endParaRPr lang="vi-VN"/>
          </a:p>
        </p:txBody>
      </p:sp>
      <p:sp>
        <p:nvSpPr>
          <p:cNvPr id="13" name="Slide Number Placeholder 12"/>
          <p:cNvSpPr>
            <a:spLocks noGrp="1"/>
          </p:cNvSpPr>
          <p:nvPr>
            <p:ph type="sldNum" sz="quarter" idx="12"/>
          </p:nvPr>
        </p:nvSpPr>
        <p:spPr/>
        <p:txBody>
          <a:bodyPr/>
          <a:lstStyle/>
          <a:p>
            <a:fld id="{5AB95402-1E0D-474E-8D8C-CBE7F053639E}" type="slidenum">
              <a:rPr lang="vi-VN" smtClean="0"/>
              <a:pPr/>
              <a:t>28</a:t>
            </a:fld>
            <a:r>
              <a:rPr lang="vi-VN"/>
              <a:t>/59</a:t>
            </a:r>
          </a:p>
        </p:txBody>
      </p:sp>
    </p:spTree>
    <p:extLst>
      <p:ext uri="{BB962C8B-B14F-4D97-AF65-F5344CB8AC3E}">
        <p14:creationId xmlns:p14="http://schemas.microsoft.com/office/powerpoint/2010/main" val="303723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anim calcmode="lin" valueType="num">
                                      <p:cBhvr>
                                        <p:cTn id="8"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5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7"/>
                                        </p:tgtEl>
                                      </p:cBhvr>
                                    </p:animEffect>
                                    <p:set>
                                      <p:cBhvr>
                                        <p:cTn id="26" dur="1" fill="hold">
                                          <p:stCondLst>
                                            <p:cond delay="499"/>
                                          </p:stCondLst>
                                        </p:cTn>
                                        <p:tgtEl>
                                          <p:spTgt spid="7"/>
                                        </p:tgtEl>
                                        <p:attrNameLst>
                                          <p:attrName>style.visibility</p:attrName>
                                        </p:attrNameLst>
                                      </p:cBhvr>
                                      <p:to>
                                        <p:strVal val="hidden"/>
                                      </p:to>
                                    </p:set>
                                  </p:childTnLst>
                                </p:cTn>
                              </p:par>
                              <p:par>
                                <p:cTn id="27" presetID="22" presetClass="entr" presetSubtype="8"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8"/>
                                        </p:tgtEl>
                                      </p:cBhvr>
                                    </p:animEffect>
                                    <p:set>
                                      <p:cBhvr>
                                        <p:cTn id="34" dur="1" fill="hold">
                                          <p:stCondLst>
                                            <p:cond delay="499"/>
                                          </p:stCondLst>
                                        </p:cTn>
                                        <p:tgtEl>
                                          <p:spTgt spid="8"/>
                                        </p:tgtEl>
                                        <p:attrNameLst>
                                          <p:attrName>style.visibility</p:attrName>
                                        </p:attrNameLst>
                                      </p:cBhvr>
                                      <p:to>
                                        <p:strVal val="hidden"/>
                                      </p:to>
                                    </p:set>
                                  </p:childTnLst>
                                </p:cTn>
                              </p:par>
                              <p:par>
                                <p:cTn id="35" presetID="22" presetClass="entr" presetSubtype="8"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9"/>
                                        </p:tgtEl>
                                      </p:cBhvr>
                                    </p:animEffect>
                                    <p:set>
                                      <p:cBhvr>
                                        <p:cTn id="4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7" grpId="1" animBg="1"/>
      <p:bldP spid="8" grpId="0" animBg="1"/>
      <p:bldP spid="8" grpId="1" animBg="1"/>
      <p:bldP spid="9" grpId="0" animBg="1"/>
      <p:bldP spid="9"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t>Câu lệnh (tt)</a:t>
            </a:r>
          </a:p>
        </p:txBody>
      </p:sp>
      <p:sp>
        <p:nvSpPr>
          <p:cNvPr id="3" name="Content Placeholder 2"/>
          <p:cNvSpPr>
            <a:spLocks noGrp="1"/>
          </p:cNvSpPr>
          <p:nvPr>
            <p:ph idx="1"/>
          </p:nvPr>
        </p:nvSpPr>
        <p:spPr/>
        <p:txBody>
          <a:bodyPr/>
          <a:lstStyle/>
          <a:p>
            <a:pPr>
              <a:defRPr/>
            </a:pPr>
            <a:r>
              <a:rPr lang="en-US" dirty="0" err="1"/>
              <a:t>Phân</a:t>
            </a:r>
            <a:r>
              <a:rPr lang="en-US" dirty="0"/>
              <a:t> </a:t>
            </a:r>
            <a:r>
              <a:rPr lang="en-US" dirty="0" err="1"/>
              <a:t>loại</a:t>
            </a:r>
            <a:endParaRPr lang="en-US" dirty="0"/>
          </a:p>
          <a:p>
            <a:pPr lvl="1">
              <a:defRPr/>
            </a:pPr>
            <a:r>
              <a:rPr lang="en-US" dirty="0" err="1"/>
              <a:t>Câu</a:t>
            </a:r>
            <a:r>
              <a:rPr lang="en-US" dirty="0"/>
              <a:t> </a:t>
            </a:r>
            <a:r>
              <a:rPr lang="en-US" dirty="0" err="1"/>
              <a:t>lệnh</a:t>
            </a:r>
            <a:r>
              <a:rPr lang="en-US" dirty="0"/>
              <a:t> </a:t>
            </a:r>
            <a:r>
              <a:rPr lang="vi-VN" dirty="0"/>
              <a:t>đơ</a:t>
            </a:r>
            <a:r>
              <a:rPr lang="en-US" dirty="0"/>
              <a:t>n: </a:t>
            </a:r>
            <a:r>
              <a:rPr lang="en-US" dirty="0" err="1"/>
              <a:t>chỉ</a:t>
            </a:r>
            <a:r>
              <a:rPr lang="en-US" dirty="0"/>
              <a:t> </a:t>
            </a:r>
            <a:r>
              <a:rPr lang="en-US" dirty="0" err="1"/>
              <a:t>gồm</a:t>
            </a:r>
            <a:r>
              <a:rPr lang="en-US" dirty="0"/>
              <a:t> </a:t>
            </a:r>
            <a:r>
              <a:rPr lang="en-US" dirty="0" err="1"/>
              <a:t>một</a:t>
            </a:r>
            <a:r>
              <a:rPr lang="en-US" dirty="0"/>
              <a:t> </a:t>
            </a:r>
            <a:r>
              <a:rPr lang="en-US" dirty="0" err="1"/>
              <a:t>câu</a:t>
            </a:r>
            <a:r>
              <a:rPr lang="en-US" dirty="0"/>
              <a:t> </a:t>
            </a:r>
            <a:r>
              <a:rPr lang="en-US" dirty="0" err="1"/>
              <a:t>lệnh</a:t>
            </a:r>
            <a:r>
              <a:rPr lang="en-US" dirty="0"/>
              <a:t>.</a:t>
            </a:r>
          </a:p>
          <a:p>
            <a:pPr lvl="1">
              <a:defRPr/>
            </a:pPr>
            <a:r>
              <a:rPr lang="en-US" dirty="0" err="1"/>
              <a:t>Câu</a:t>
            </a:r>
            <a:r>
              <a:rPr lang="en-US" dirty="0"/>
              <a:t> </a:t>
            </a:r>
            <a:r>
              <a:rPr lang="en-US" dirty="0" err="1"/>
              <a:t>lệnh</a:t>
            </a:r>
            <a:r>
              <a:rPr lang="en-US" dirty="0"/>
              <a:t> </a:t>
            </a:r>
            <a:r>
              <a:rPr lang="en-US" dirty="0" err="1"/>
              <a:t>phức</a:t>
            </a:r>
            <a:r>
              <a:rPr lang="en-US" dirty="0"/>
              <a:t> (</a:t>
            </a:r>
            <a:r>
              <a:rPr lang="en-US" dirty="0" err="1"/>
              <a:t>khối</a:t>
            </a:r>
            <a:r>
              <a:rPr lang="en-US" dirty="0"/>
              <a:t> </a:t>
            </a:r>
            <a:r>
              <a:rPr lang="en-US" dirty="0" err="1"/>
              <a:t>lệnh</a:t>
            </a:r>
            <a:r>
              <a:rPr lang="en-US" dirty="0"/>
              <a:t>): </a:t>
            </a:r>
            <a:r>
              <a:rPr lang="en-US" dirty="0" err="1"/>
              <a:t>gồm</a:t>
            </a:r>
            <a:r>
              <a:rPr lang="en-US" dirty="0"/>
              <a:t> </a:t>
            </a:r>
            <a:r>
              <a:rPr lang="en-US" dirty="0" err="1"/>
              <a:t>nhiều</a:t>
            </a:r>
            <a:r>
              <a:rPr lang="en-US" dirty="0"/>
              <a:t> </a:t>
            </a:r>
            <a:r>
              <a:rPr lang="en-US" dirty="0" err="1"/>
              <a:t>câu</a:t>
            </a:r>
            <a:r>
              <a:rPr lang="en-US" dirty="0"/>
              <a:t> </a:t>
            </a:r>
            <a:r>
              <a:rPr lang="en-US" dirty="0" err="1"/>
              <a:t>lệnh</a:t>
            </a:r>
            <a:r>
              <a:rPr lang="en-US" dirty="0"/>
              <a:t> </a:t>
            </a:r>
            <a:r>
              <a:rPr lang="vi-VN" dirty="0"/>
              <a:t>đơ</a:t>
            </a:r>
            <a:r>
              <a:rPr lang="en-US" dirty="0"/>
              <a:t>n </a:t>
            </a:r>
            <a:r>
              <a:rPr lang="vi-VN" dirty="0"/>
              <a:t>đượ</a:t>
            </a:r>
            <a:r>
              <a:rPr lang="en-US" dirty="0"/>
              <a:t>c </a:t>
            </a:r>
            <a:r>
              <a:rPr lang="en-US" dirty="0" err="1"/>
              <a:t>bao</a:t>
            </a:r>
            <a:r>
              <a:rPr lang="en-US" dirty="0"/>
              <a:t> </a:t>
            </a:r>
            <a:r>
              <a:rPr lang="en-US" err="1"/>
              <a:t>bởi</a:t>
            </a:r>
            <a:r>
              <a:rPr lang="en-US"/>
              <a:t> </a:t>
            </a:r>
            <a:r>
              <a:rPr lang="en-US" b="1">
                <a:solidFill>
                  <a:srgbClr val="FF0000"/>
                </a:solidFill>
                <a:latin typeface="Courier New" pitchFamily="49" charset="0"/>
                <a:cs typeface="Courier New" pitchFamily="49" charset="0"/>
              </a:rPr>
              <a:t>{</a:t>
            </a:r>
            <a:r>
              <a:rPr lang="en-US"/>
              <a:t> </a:t>
            </a:r>
            <a:r>
              <a:rPr lang="en-US" err="1"/>
              <a:t>và</a:t>
            </a:r>
            <a:r>
              <a:rPr lang="en-US"/>
              <a:t> </a:t>
            </a:r>
            <a:r>
              <a:rPr lang="en-US" b="1">
                <a:solidFill>
                  <a:srgbClr val="FF0000"/>
                </a:solidFill>
                <a:latin typeface="Courier New" pitchFamily="49" charset="0"/>
                <a:cs typeface="Courier New" pitchFamily="49" charset="0"/>
              </a:rPr>
              <a:t>}</a:t>
            </a:r>
            <a:endParaRPr lang="en-US" b="1" dirty="0">
              <a:solidFill>
                <a:srgbClr val="FF0000"/>
              </a:solidFill>
              <a:latin typeface="Courier New" pitchFamily="49" charset="0"/>
              <a:cs typeface="Courier New" pitchFamily="49" charset="0"/>
            </a:endParaRPr>
          </a:p>
          <a:p>
            <a:pPr>
              <a:defRPr/>
            </a:pPr>
            <a:r>
              <a:rPr lang="en-US" dirty="0" err="1"/>
              <a:t>Ví</a:t>
            </a:r>
            <a:r>
              <a:rPr lang="en-US" dirty="0"/>
              <a:t> </a:t>
            </a:r>
            <a:r>
              <a:rPr lang="en-US" dirty="0" err="1"/>
              <a:t>dụ</a:t>
            </a:r>
            <a:endParaRPr lang="en-US" dirty="0"/>
          </a:p>
        </p:txBody>
      </p:sp>
      <p:sp>
        <p:nvSpPr>
          <p:cNvPr id="41988"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5" name="Rounded Rectangle 4"/>
          <p:cNvSpPr/>
          <p:nvPr/>
        </p:nvSpPr>
        <p:spPr>
          <a:xfrm>
            <a:off x="685800" y="4083050"/>
            <a:ext cx="152400" cy="186055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4083050"/>
            <a:ext cx="7010400" cy="1939925"/>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a = 2912;		// Câu lệnh </a:t>
            </a:r>
            <a:r>
              <a:rPr lang="vi-VN" sz="2000" b="1">
                <a:latin typeface="Courier New" pitchFamily="49" charset="0"/>
                <a:cs typeface="Courier New" pitchFamily="49" charset="0"/>
              </a:rPr>
              <a:t>đơ</a:t>
            </a:r>
            <a:r>
              <a:rPr lang="en-US" sz="2000" b="1">
                <a:latin typeface="Courier New" pitchFamily="49" charset="0"/>
                <a:cs typeface="Courier New" pitchFamily="49" charset="0"/>
              </a:rPr>
              <a:t>n</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			// Câu lệnh phức/khối lệnh</a:t>
            </a:r>
          </a:p>
          <a:p>
            <a:r>
              <a:rPr lang="en-US" sz="2000" b="1">
                <a:latin typeface="Courier New" pitchFamily="49" charset="0"/>
                <a:cs typeface="Courier New" pitchFamily="49" charset="0"/>
              </a:rPr>
              <a:t>	a = 2912;	</a:t>
            </a:r>
          </a:p>
          <a:p>
            <a:r>
              <a:rPr lang="en-US" sz="2000" b="1">
                <a:latin typeface="Courier New" pitchFamily="49" charset="0"/>
                <a:cs typeface="Courier New" pitchFamily="49" charset="0"/>
              </a:rPr>
              <a:t>	b = 1706;	</a:t>
            </a:r>
          </a:p>
          <a:p>
            <a:r>
              <a:rPr lang="en-US" sz="2000" b="1">
                <a:latin typeface="Courier New" pitchFamily="49" charset="0"/>
                <a:cs typeface="Courier New" pitchFamily="49" charset="0"/>
              </a:rPr>
              <a:t>}			</a:t>
            </a:r>
          </a:p>
        </p:txBody>
      </p:sp>
      <p:sp>
        <p:nvSpPr>
          <p:cNvPr id="7" name="Rectangle 6"/>
          <p:cNvSpPr>
            <a:spLocks/>
          </p:cNvSpPr>
          <p:nvPr/>
        </p:nvSpPr>
        <p:spPr bwMode="auto">
          <a:xfrm>
            <a:off x="15875" y="411480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4724400"/>
            <a:ext cx="9128125" cy="1219200"/>
          </a:xfrm>
          <a:prstGeom prst="rect">
            <a:avLst/>
          </a:prstGeom>
          <a:solidFill>
            <a:srgbClr val="0099FF">
              <a:alpha val="20000"/>
            </a:srgbClr>
          </a:solidFill>
          <a:ln w="9525" algn="ctr">
            <a:noFill/>
            <a:miter lim="800000"/>
            <a:headEnd/>
            <a:tailEnd/>
          </a:ln>
        </p:spPr>
        <p:txBody>
          <a:bodyPr/>
          <a:lstStyle/>
          <a:p>
            <a:endParaRPr lang="en-US"/>
          </a:p>
        </p:txBody>
      </p:sp>
      <p:sp>
        <p:nvSpPr>
          <p:cNvPr id="2" name="Date Placeholder 1"/>
          <p:cNvSpPr>
            <a:spLocks noGrp="1"/>
          </p:cNvSpPr>
          <p:nvPr>
            <p:ph type="dt" sz="half" idx="10"/>
          </p:nvPr>
        </p:nvSpPr>
        <p:spPr/>
        <p:txBody>
          <a:bodyPr/>
          <a:lstStyle/>
          <a:p>
            <a:fld id="{0C852B41-9DF2-42F9-8B65-634D8D7A8C1D}" type="datetime1">
              <a:rPr lang="vi-VN" smtClean="0"/>
              <a:t>14/01/2024</a:t>
            </a:fld>
            <a:endParaRPr lang="vi-VN"/>
          </a:p>
        </p:txBody>
      </p:sp>
      <p:sp>
        <p:nvSpPr>
          <p:cNvPr id="12" name="Slide Number Placeholder 11"/>
          <p:cNvSpPr>
            <a:spLocks noGrp="1"/>
          </p:cNvSpPr>
          <p:nvPr>
            <p:ph type="sldNum" sz="quarter" idx="12"/>
          </p:nvPr>
        </p:nvSpPr>
        <p:spPr/>
        <p:txBody>
          <a:bodyPr/>
          <a:lstStyle/>
          <a:p>
            <a:fld id="{5AB95402-1E0D-474E-8D8C-CBE7F053639E}" type="slidenum">
              <a:rPr lang="vi-VN" smtClean="0"/>
              <a:pPr/>
              <a:t>29</a:t>
            </a:fld>
            <a:r>
              <a:rPr lang="vi-VN"/>
              <a:t>/59</a:t>
            </a:r>
          </a:p>
        </p:txBody>
      </p:sp>
    </p:spTree>
    <p:extLst>
      <p:ext uri="{BB962C8B-B14F-4D97-AF65-F5344CB8AC3E}">
        <p14:creationId xmlns:p14="http://schemas.microsoft.com/office/powerpoint/2010/main" val="1826877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anim calcmode="lin" valueType="num">
                                      <p:cBhvr>
                                        <p:cTn id="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anim calcmode="lin" valueType="num">
                                      <p:cBhvr>
                                        <p:cTn id="1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9" dur="5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fade">
                                      <p:cBhvr>
                                        <p:cTn id="24" dur="500"/>
                                        <p:tgtEl>
                                          <p:spTgt spid="6">
                                            <p:txEl>
                                              <p:pRg st="2" end="2"/>
                                            </p:txEl>
                                          </p:spTgt>
                                        </p:tgtEl>
                                      </p:cBhvr>
                                    </p:animEffect>
                                    <p:anim calcmode="lin" valueType="num">
                                      <p:cBhvr>
                                        <p:cTn id="2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6">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xEl>
                                              <p:pRg st="3" end="3"/>
                                            </p:txEl>
                                          </p:spTgt>
                                        </p:tgtEl>
                                        <p:attrNameLst>
                                          <p:attrName>style.visibility</p:attrName>
                                        </p:attrNameLst>
                                      </p:cBhvr>
                                      <p:to>
                                        <p:strVal val="visible"/>
                                      </p:to>
                                    </p:set>
                                    <p:animEffect transition="in" filter="fade">
                                      <p:cBhvr>
                                        <p:cTn id="29" dur="500"/>
                                        <p:tgtEl>
                                          <p:spTgt spid="6">
                                            <p:txEl>
                                              <p:pRg st="3" end="3"/>
                                            </p:txEl>
                                          </p:spTgt>
                                        </p:tgtEl>
                                      </p:cBhvr>
                                    </p:animEffect>
                                    <p:anim calcmode="lin" valueType="num">
                                      <p:cBhvr>
                                        <p:cTn id="30"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6">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4" end="4"/>
                                            </p:txEl>
                                          </p:spTgt>
                                        </p:tgtEl>
                                        <p:attrNameLst>
                                          <p:attrName>style.visibility</p:attrName>
                                        </p:attrNameLst>
                                      </p:cBhvr>
                                      <p:to>
                                        <p:strVal val="visible"/>
                                      </p:to>
                                    </p:set>
                                    <p:animEffect transition="in" filter="fade">
                                      <p:cBhvr>
                                        <p:cTn id="34" dur="500"/>
                                        <p:tgtEl>
                                          <p:spTgt spid="6">
                                            <p:txEl>
                                              <p:pRg st="4" end="4"/>
                                            </p:txEl>
                                          </p:spTgt>
                                        </p:tgtEl>
                                      </p:cBhvr>
                                    </p:animEffect>
                                    <p:anim calcmode="lin" valueType="num">
                                      <p:cBhvr>
                                        <p:cTn id="3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6" dur="500" fill="hold"/>
                                        <p:tgtEl>
                                          <p:spTgt spid="6">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animEffect transition="in" filter="fade">
                                      <p:cBhvr>
                                        <p:cTn id="39" dur="500"/>
                                        <p:tgtEl>
                                          <p:spTgt spid="6">
                                            <p:txEl>
                                              <p:pRg st="5" end="5"/>
                                            </p:txEl>
                                          </p:spTgt>
                                        </p:tgtEl>
                                      </p:cBhvr>
                                    </p:animEffect>
                                    <p:anim calcmode="lin" valueType="num">
                                      <p:cBhvr>
                                        <p:cTn id="40"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1" dur="5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grpId="1" nodeType="clickEffect">
                                  <p:stCondLst>
                                    <p:cond delay="0"/>
                                  </p:stCondLst>
                                  <p:childTnLst>
                                    <p:animEffect transition="out" filter="fade">
                                      <p:cBhvr>
                                        <p:cTn id="50" dur="500"/>
                                        <p:tgtEl>
                                          <p:spTgt spid="7"/>
                                        </p:tgtEl>
                                      </p:cBhvr>
                                    </p:animEffect>
                                    <p:set>
                                      <p:cBhvr>
                                        <p:cTn id="51" dur="1" fill="hold">
                                          <p:stCondLst>
                                            <p:cond delay="499"/>
                                          </p:stCondLst>
                                        </p:cTn>
                                        <p:tgtEl>
                                          <p:spTgt spid="7"/>
                                        </p:tgtEl>
                                        <p:attrNameLst>
                                          <p:attrName>style.visibility</p:attrName>
                                        </p:attrNameLst>
                                      </p:cBhvr>
                                      <p:to>
                                        <p:strVal val="hidden"/>
                                      </p:to>
                                    </p:set>
                                  </p:childTnLst>
                                </p:cTn>
                              </p:par>
                              <p:par>
                                <p:cTn id="52" presetID="22" presetClass="entr" presetSubtype="8"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left)">
                                      <p:cBhvr>
                                        <p:cTn id="5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7" grpId="1"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Phép gán</a:t>
            </a:r>
            <a:endParaRPr lang="vi-VN"/>
          </a:p>
        </p:txBody>
      </p:sp>
      <p:sp>
        <p:nvSpPr>
          <p:cNvPr id="3" name="Content Placeholder 2"/>
          <p:cNvSpPr>
            <a:spLocks noGrp="1"/>
          </p:cNvSpPr>
          <p:nvPr>
            <p:ph idx="1"/>
          </p:nvPr>
        </p:nvSpPr>
        <p:spPr/>
        <p:txBody>
          <a:bodyPr/>
          <a:lstStyle/>
          <a:p>
            <a:r>
              <a:rPr lang="en-US"/>
              <a:t>Phép gán giá trị đơn giản</a:t>
            </a:r>
          </a:p>
          <a:p>
            <a:pPr marL="0" indent="0">
              <a:buNone/>
            </a:pPr>
            <a:r>
              <a:rPr lang="en-US" b="1">
                <a:solidFill>
                  <a:srgbClr val="0000FF"/>
                </a:solidFill>
                <a:latin typeface="Courier New" pitchFamily="49" charset="0"/>
                <a:cs typeface="Courier New" pitchFamily="49" charset="0"/>
              </a:rPr>
              <a:t>  &lt;Tên biến&gt; = &lt;Biểu thức&gt;</a:t>
            </a:r>
          </a:p>
          <a:p>
            <a:pPr marL="0" indent="900113">
              <a:buNone/>
            </a:pPr>
            <a:r>
              <a:rPr lang="en-US" sz="2300">
                <a:latin typeface="+mj-lt"/>
                <a:cs typeface="Courier New" pitchFamily="49" charset="0"/>
              </a:rPr>
              <a:t>Ví dụ:    </a:t>
            </a:r>
            <a:r>
              <a:rPr lang="en-US" sz="2300" b="1">
                <a:solidFill>
                  <a:schemeClr val="accent6">
                    <a:lumMod val="50000"/>
                  </a:schemeClr>
                </a:solidFill>
                <a:latin typeface="Courier New" pitchFamily="49" charset="0"/>
                <a:cs typeface="Courier New" pitchFamily="49" charset="0"/>
              </a:rPr>
              <a:t>i=3;</a:t>
            </a:r>
          </a:p>
          <a:p>
            <a:pPr marL="0" indent="900113">
              <a:buNone/>
            </a:pPr>
            <a:r>
              <a:rPr lang="en-US" sz="2300">
                <a:latin typeface="Courier New" pitchFamily="49" charset="0"/>
                <a:cs typeface="Courier New" pitchFamily="49" charset="0"/>
              </a:rPr>
              <a:t>		 </a:t>
            </a:r>
            <a:r>
              <a:rPr lang="en-US" sz="2300" b="1">
                <a:solidFill>
                  <a:schemeClr val="accent6">
                    <a:lumMod val="50000"/>
                  </a:schemeClr>
                </a:solidFill>
                <a:latin typeface="Courier New" pitchFamily="49" charset="0"/>
                <a:cs typeface="Courier New" pitchFamily="49" charset="0"/>
              </a:rPr>
              <a:t>i=i+4;</a:t>
            </a:r>
          </a:p>
          <a:p>
            <a:pPr lvl="1"/>
            <a:r>
              <a:rPr lang="en-US"/>
              <a:t>Giá trị của biểu thức bên phải dấu gán = được đặt vào ô nhớ của biến nằm bên trái dấu gán.</a:t>
            </a:r>
          </a:p>
          <a:p>
            <a:pPr lvl="1"/>
            <a:r>
              <a:rPr lang="en-US"/>
              <a:t>Vế trái chỉ có thể là tên của một biến hoặc là giá trị dạng một địa chỉ ô nhớ.</a:t>
            </a:r>
          </a:p>
          <a:p>
            <a:r>
              <a:rPr lang="en-US"/>
              <a:t>Phép gán kép </a:t>
            </a:r>
          </a:p>
          <a:p>
            <a:pPr marL="438150" lvl="1" indent="0">
              <a:buNone/>
            </a:pPr>
            <a:r>
              <a:rPr lang="en-US" sz="2200" b="1">
                <a:solidFill>
                  <a:schemeClr val="accent6">
                    <a:lumMod val="50000"/>
                  </a:schemeClr>
                </a:solidFill>
                <a:latin typeface="Courier New" pitchFamily="49" charset="0"/>
                <a:cs typeface="Courier New" pitchFamily="49" charset="0"/>
              </a:rPr>
              <a:t>a=b=c=3;</a:t>
            </a:r>
            <a:r>
              <a:rPr lang="en-US" sz="2200" b="1">
                <a:solidFill>
                  <a:schemeClr val="accent6">
                    <a:lumMod val="50000"/>
                  </a:schemeClr>
                </a:solidFill>
              </a:rPr>
              <a:t>      </a:t>
            </a:r>
            <a:r>
              <a:rPr lang="en-US" sz="2200"/>
              <a:t>Gán giá trị 3 cho cả 3 biến </a:t>
            </a:r>
            <a:r>
              <a:rPr lang="en-US" sz="2200">
                <a:solidFill>
                  <a:srgbClr val="FF0000"/>
                </a:solidFill>
              </a:rPr>
              <a:t>a</a:t>
            </a:r>
            <a:r>
              <a:rPr lang="en-US" sz="2200"/>
              <a:t>,</a:t>
            </a:r>
            <a:r>
              <a:rPr lang="en-US" sz="2200">
                <a:solidFill>
                  <a:srgbClr val="FF0000"/>
                </a:solidFill>
              </a:rPr>
              <a:t>b</a:t>
            </a:r>
            <a:r>
              <a:rPr lang="en-US" sz="2200"/>
              <a:t>,</a:t>
            </a:r>
            <a:r>
              <a:rPr lang="en-US" sz="2200">
                <a:solidFill>
                  <a:srgbClr val="FF0000"/>
                </a:solidFill>
              </a:rPr>
              <a:t>c</a:t>
            </a:r>
          </a:p>
          <a:p>
            <a:pPr marL="438150" lvl="1" indent="0">
              <a:buNone/>
            </a:pPr>
            <a:r>
              <a:rPr lang="en-US" sz="2200" b="1">
                <a:solidFill>
                  <a:schemeClr val="accent6">
                    <a:lumMod val="50000"/>
                  </a:schemeClr>
                </a:solidFill>
                <a:latin typeface="Courier New" pitchFamily="49" charset="0"/>
                <a:cs typeface="Courier New" pitchFamily="49" charset="0"/>
              </a:rPr>
              <a:t>a=b+(c=3); </a:t>
            </a:r>
            <a:r>
              <a:rPr lang="en-US" sz="2200"/>
              <a:t>Gán 3 cho </a:t>
            </a:r>
            <a:r>
              <a:rPr lang="en-US" sz="2200">
                <a:solidFill>
                  <a:srgbClr val="FF0000"/>
                </a:solidFill>
              </a:rPr>
              <a:t>c</a:t>
            </a:r>
            <a:r>
              <a:rPr lang="en-US" sz="2200"/>
              <a:t>, sau đó cộng với </a:t>
            </a:r>
            <a:r>
              <a:rPr lang="en-US" sz="2200">
                <a:solidFill>
                  <a:srgbClr val="FF0000"/>
                </a:solidFill>
              </a:rPr>
              <a:t>b</a:t>
            </a:r>
            <a:r>
              <a:rPr lang="en-US" sz="2200"/>
              <a:t> và gán kết quả nhận được cho </a:t>
            </a:r>
            <a:r>
              <a:rPr lang="en-US" sz="2200">
                <a:solidFill>
                  <a:srgbClr val="FF0000"/>
                </a:solidFill>
              </a:rPr>
              <a:t>a</a:t>
            </a:r>
          </a:p>
          <a:p>
            <a:pPr marL="0" indent="0">
              <a:buNone/>
            </a:pPr>
            <a:endParaRPr lang="vi-VN"/>
          </a:p>
        </p:txBody>
      </p:sp>
      <p:sp>
        <p:nvSpPr>
          <p:cNvPr id="4" name="Date Placeholder 3"/>
          <p:cNvSpPr>
            <a:spLocks noGrp="1"/>
          </p:cNvSpPr>
          <p:nvPr>
            <p:ph type="dt" sz="half" idx="10"/>
          </p:nvPr>
        </p:nvSpPr>
        <p:spPr/>
        <p:txBody>
          <a:bodyPr/>
          <a:lstStyle/>
          <a:p>
            <a:fld id="{D20F5282-90D1-4B21-AB48-9A14962EE042}"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30</a:t>
            </a:fld>
            <a:r>
              <a:rPr lang="vi-VN"/>
              <a:t>/59</a:t>
            </a:r>
          </a:p>
        </p:txBody>
      </p:sp>
    </p:spTree>
    <p:extLst>
      <p:ext uri="{BB962C8B-B14F-4D97-AF65-F5344CB8AC3E}">
        <p14:creationId xmlns:p14="http://schemas.microsoft.com/office/powerpoint/2010/main" val="2456769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wipe(up)">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wipe(left)">
                                      <p:cBhvr>
                                        <p:cTn id="30" dur="500"/>
                                        <p:tgtEl>
                                          <p:spTgt spid="3">
                                            <p:txEl>
                                              <p:pRg st="6" end="6"/>
                                            </p:txEl>
                                          </p:spTgt>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wipe(left)">
                                      <p:cBhvr>
                                        <p:cTn id="34" dur="500"/>
                                        <p:tgtEl>
                                          <p:spTgt spid="3">
                                            <p:txEl>
                                              <p:pRg st="7" end="7"/>
                                            </p:txEl>
                                          </p:spTgt>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wipe(left)">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Sự hiệu chỉnh dữ liệu khi tính toán</a:t>
            </a:r>
            <a:endParaRPr lang="vi-VN"/>
          </a:p>
        </p:txBody>
      </p:sp>
      <p:sp>
        <p:nvSpPr>
          <p:cNvPr id="3" name="Content Placeholder 2"/>
          <p:cNvSpPr>
            <a:spLocks noGrp="1"/>
          </p:cNvSpPr>
          <p:nvPr>
            <p:ph idx="1"/>
          </p:nvPr>
        </p:nvSpPr>
        <p:spPr/>
        <p:txBody>
          <a:bodyPr/>
          <a:lstStyle/>
          <a:p>
            <a:r>
              <a:rPr lang="en-US"/>
              <a:t>Máy tự đông chuyển kiểu đơn giản lên kiểu cao hơn để quy đổi kiểu kết quả, theo thứ tự:</a:t>
            </a:r>
          </a:p>
          <a:p>
            <a:pPr marL="438150" lvl="1" indent="0" algn="ctr">
              <a:buNone/>
            </a:pPr>
            <a:r>
              <a:rPr lang="en-US"/>
              <a:t>int </a:t>
            </a:r>
            <a:r>
              <a:rPr lang="en-US">
                <a:sym typeface="Wingdings" pitchFamily="2" charset="2"/>
              </a:rPr>
              <a:t> long  float  double  long double</a:t>
            </a:r>
          </a:p>
          <a:p>
            <a:r>
              <a:rPr lang="en-US">
                <a:sym typeface="Wingdings" pitchFamily="2" charset="2"/>
              </a:rPr>
              <a:t>Chuyển đổi cho kiểu kí tự char</a:t>
            </a:r>
          </a:p>
          <a:p>
            <a:pPr lvl="1"/>
            <a:r>
              <a:rPr lang="en-US">
                <a:sym typeface="Wingdings" pitchFamily="2" charset="2"/>
              </a:rPr>
              <a:t>Chuyển đổi qua lại giữa char và int</a:t>
            </a:r>
          </a:p>
          <a:p>
            <a:pPr lvl="1"/>
            <a:r>
              <a:rPr lang="en-US">
                <a:sym typeface="Wingdings" pitchFamily="2" charset="2"/>
              </a:rPr>
              <a:t>Ví dụ: ‘A’ + 1 = 66</a:t>
            </a:r>
          </a:p>
          <a:p>
            <a:r>
              <a:rPr lang="en-US">
                <a:sym typeface="Wingdings" pitchFamily="2" charset="2"/>
              </a:rPr>
              <a:t>Cố ý chuyển đổi kiểu giá trị (typecast)</a:t>
            </a:r>
          </a:p>
          <a:p>
            <a:pPr lvl="1"/>
            <a:r>
              <a:rPr lang="en-US">
                <a:sym typeface="Wingdings" pitchFamily="2" charset="2"/>
              </a:rPr>
              <a:t>Cú pháp: </a:t>
            </a:r>
            <a:r>
              <a:rPr lang="en-US">
                <a:latin typeface="Courier New" pitchFamily="49" charset="0"/>
                <a:cs typeface="Courier New" pitchFamily="49" charset="0"/>
                <a:sym typeface="Wingdings" pitchFamily="2" charset="2"/>
              </a:rPr>
              <a:t>kiểu</a:t>
            </a:r>
            <a:r>
              <a:rPr lang="en-US">
                <a:solidFill>
                  <a:srgbClr val="FF0000"/>
                </a:solidFill>
                <a:latin typeface="Courier New" pitchFamily="49" charset="0"/>
                <a:cs typeface="Courier New" pitchFamily="49" charset="0"/>
                <a:sym typeface="Wingdings" pitchFamily="2" charset="2"/>
              </a:rPr>
              <a:t>(</a:t>
            </a:r>
            <a:r>
              <a:rPr lang="en-US">
                <a:latin typeface="Courier New" pitchFamily="49" charset="0"/>
                <a:cs typeface="Courier New" pitchFamily="49" charset="0"/>
                <a:sym typeface="Wingdings" pitchFamily="2" charset="2"/>
              </a:rPr>
              <a:t>biến</a:t>
            </a:r>
            <a:r>
              <a:rPr lang="en-US">
                <a:solidFill>
                  <a:srgbClr val="FF0000"/>
                </a:solidFill>
                <a:latin typeface="Courier New" pitchFamily="49" charset="0"/>
                <a:cs typeface="Courier New" pitchFamily="49" charset="0"/>
                <a:sym typeface="Wingdings" pitchFamily="2" charset="2"/>
              </a:rPr>
              <a:t>)</a:t>
            </a:r>
            <a:r>
              <a:rPr lang="en-US">
                <a:sym typeface="Wingdings" pitchFamily="2" charset="2"/>
              </a:rPr>
              <a:t> hoặc </a:t>
            </a:r>
            <a:r>
              <a:rPr lang="en-US">
                <a:solidFill>
                  <a:srgbClr val="FF0000"/>
                </a:solidFill>
                <a:latin typeface="Courier New" pitchFamily="49" charset="0"/>
                <a:cs typeface="Courier New" pitchFamily="49" charset="0"/>
                <a:sym typeface="Wingdings" pitchFamily="2" charset="2"/>
              </a:rPr>
              <a:t>(</a:t>
            </a:r>
            <a:r>
              <a:rPr lang="en-US">
                <a:latin typeface="Courier New" pitchFamily="49" charset="0"/>
                <a:cs typeface="Courier New" pitchFamily="49" charset="0"/>
                <a:sym typeface="Wingdings" pitchFamily="2" charset="2"/>
              </a:rPr>
              <a:t>kiểu</a:t>
            </a:r>
            <a:r>
              <a:rPr lang="en-US">
                <a:solidFill>
                  <a:srgbClr val="FF0000"/>
                </a:solidFill>
                <a:latin typeface="Courier New" pitchFamily="49" charset="0"/>
                <a:cs typeface="Courier New" pitchFamily="49" charset="0"/>
                <a:sym typeface="Wingdings" pitchFamily="2" charset="2"/>
              </a:rPr>
              <a:t>)</a:t>
            </a:r>
            <a:r>
              <a:rPr lang="en-US">
                <a:latin typeface="Courier New" pitchFamily="49" charset="0"/>
                <a:cs typeface="Courier New" pitchFamily="49" charset="0"/>
                <a:sym typeface="Wingdings" pitchFamily="2" charset="2"/>
              </a:rPr>
              <a:t>biến</a:t>
            </a:r>
          </a:p>
          <a:p>
            <a:pPr lvl="1"/>
            <a:r>
              <a:rPr lang="en-US">
                <a:latin typeface="+mj-lt"/>
                <a:cs typeface="Courier New" pitchFamily="49" charset="0"/>
                <a:sym typeface="Wingdings" pitchFamily="2" charset="2"/>
              </a:rPr>
              <a:t>Ví dụ: </a:t>
            </a:r>
            <a:r>
              <a:rPr lang="en-US"/>
              <a:t>f = </a:t>
            </a:r>
            <a:r>
              <a:rPr lang="en-US">
                <a:solidFill>
                  <a:srgbClr val="FF0000"/>
                </a:solidFill>
              </a:rPr>
              <a:t>float</a:t>
            </a:r>
            <a:r>
              <a:rPr lang="en-US"/>
              <a:t>(1) </a:t>
            </a:r>
            <a:r>
              <a:rPr lang="en-US">
                <a:solidFill>
                  <a:srgbClr val="FF0000"/>
                </a:solidFill>
              </a:rPr>
              <a:t>/ </a:t>
            </a:r>
            <a:r>
              <a:rPr lang="en-US"/>
              <a:t>2; </a:t>
            </a:r>
          </a:p>
        </p:txBody>
      </p:sp>
      <p:sp>
        <p:nvSpPr>
          <p:cNvPr id="4" name="Date Placeholder 3"/>
          <p:cNvSpPr>
            <a:spLocks noGrp="1"/>
          </p:cNvSpPr>
          <p:nvPr>
            <p:ph type="dt" sz="half" idx="10"/>
          </p:nvPr>
        </p:nvSpPr>
        <p:spPr/>
        <p:txBody>
          <a:bodyPr/>
          <a:lstStyle/>
          <a:p>
            <a:fld id="{CD4A1A43-0B68-497A-BC23-2AB5863F5469}"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31</a:t>
            </a:fld>
            <a:r>
              <a:rPr lang="vi-VN"/>
              <a:t>/59</a:t>
            </a:r>
          </a:p>
        </p:txBody>
      </p:sp>
    </p:spTree>
    <p:extLst>
      <p:ext uri="{BB962C8B-B14F-4D97-AF65-F5344CB8AC3E}">
        <p14:creationId xmlns:p14="http://schemas.microsoft.com/office/powerpoint/2010/main" val="2515935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left)">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wipe(left)">
                                      <p:cBhvr>
                                        <p:cTn id="29" dur="500"/>
                                        <p:tgtEl>
                                          <p:spTgt spid="3">
                                            <p:txEl>
                                              <p:pRg st="5" end="5"/>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left)">
                                      <p:cBhvr>
                                        <p:cTn id="33" dur="500"/>
                                        <p:tgtEl>
                                          <p:spTgt spid="3">
                                            <p:txEl>
                                              <p:pRg st="6" end="6"/>
                                            </p:txEl>
                                          </p:spTgt>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left)">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t>5. Thứ tự ưu tiên các phép toán</a:t>
            </a:r>
          </a:p>
        </p:txBody>
      </p:sp>
      <p:sp>
        <p:nvSpPr>
          <p:cNvPr id="3" name="Content Placeholder 2"/>
          <p:cNvSpPr>
            <a:spLocks noGrp="1"/>
          </p:cNvSpPr>
          <p:nvPr>
            <p:ph idx="1"/>
          </p:nvPr>
        </p:nvSpPr>
        <p:spPr/>
        <p:txBody>
          <a:bodyPr/>
          <a:lstStyle/>
          <a:p>
            <a:pPr marL="0" indent="0">
              <a:buNone/>
              <a:defRPr/>
            </a:pPr>
            <a:r>
              <a:rPr lang="en-US" sz="3400" dirty="0" err="1">
                <a:solidFill>
                  <a:schemeClr val="folHlink"/>
                </a:solidFill>
                <a:latin typeface="+mj-lt"/>
                <a:ea typeface="+mj-ea"/>
                <a:cs typeface="+mj-cs"/>
              </a:rPr>
              <a:t>Toán</a:t>
            </a:r>
            <a:r>
              <a:rPr lang="en-US" sz="3400" dirty="0">
                <a:solidFill>
                  <a:schemeClr val="folHlink"/>
                </a:solidFill>
                <a:latin typeface="+mj-lt"/>
                <a:ea typeface="+mj-ea"/>
                <a:cs typeface="+mj-cs"/>
              </a:rPr>
              <a:t> </a:t>
            </a:r>
            <a:r>
              <a:rPr lang="en-US" sz="3400" dirty="0" err="1">
                <a:solidFill>
                  <a:schemeClr val="folHlink"/>
                </a:solidFill>
                <a:latin typeface="+mj-lt"/>
                <a:ea typeface="+mj-ea"/>
                <a:cs typeface="+mj-cs"/>
              </a:rPr>
              <a:t>tử</a:t>
            </a:r>
            <a:r>
              <a:rPr lang="en-US" sz="3400" dirty="0">
                <a:solidFill>
                  <a:schemeClr val="folHlink"/>
                </a:solidFill>
                <a:latin typeface="+mj-lt"/>
                <a:ea typeface="+mj-ea"/>
                <a:cs typeface="+mj-cs"/>
              </a:rPr>
              <a:t> </a:t>
            </a:r>
            <a:r>
              <a:rPr lang="en-US" sz="3400" dirty="0" err="1">
                <a:solidFill>
                  <a:schemeClr val="folHlink"/>
                </a:solidFill>
                <a:latin typeface="+mj-lt"/>
                <a:ea typeface="+mj-ea"/>
                <a:cs typeface="+mj-cs"/>
              </a:rPr>
              <a:t>toán</a:t>
            </a:r>
            <a:r>
              <a:rPr lang="en-US" sz="3400" dirty="0">
                <a:solidFill>
                  <a:schemeClr val="folHlink"/>
                </a:solidFill>
                <a:latin typeface="+mj-lt"/>
                <a:ea typeface="+mj-ea"/>
                <a:cs typeface="+mj-cs"/>
              </a:rPr>
              <a:t> </a:t>
            </a:r>
            <a:r>
              <a:rPr lang="en-US" sz="3400" dirty="0" err="1">
                <a:solidFill>
                  <a:schemeClr val="folHlink"/>
                </a:solidFill>
                <a:latin typeface="+mj-lt"/>
                <a:ea typeface="+mj-ea"/>
                <a:cs typeface="+mj-cs"/>
              </a:rPr>
              <a:t>học</a:t>
            </a:r>
            <a:endParaRPr lang="en-US" sz="3400" dirty="0">
              <a:solidFill>
                <a:schemeClr val="folHlink"/>
              </a:solidFill>
              <a:latin typeface="+mj-lt"/>
              <a:ea typeface="+mj-ea"/>
              <a:cs typeface="+mj-cs"/>
            </a:endParaRPr>
          </a:p>
          <a:p>
            <a:pPr>
              <a:defRPr/>
            </a:pPr>
            <a:r>
              <a:rPr lang="en-US" dirty="0" err="1"/>
              <a:t>Toán</a:t>
            </a:r>
            <a:r>
              <a:rPr lang="en-US" dirty="0"/>
              <a:t> </a:t>
            </a:r>
            <a:r>
              <a:rPr lang="en-US" dirty="0" err="1"/>
              <a:t>tử</a:t>
            </a:r>
            <a:r>
              <a:rPr lang="en-US" dirty="0"/>
              <a:t> 1 </a:t>
            </a:r>
            <a:r>
              <a:rPr lang="en-US" dirty="0" err="1"/>
              <a:t>ngôi</a:t>
            </a:r>
            <a:endParaRPr lang="en-US" dirty="0"/>
          </a:p>
          <a:p>
            <a:pPr lvl="1">
              <a:defRPr/>
            </a:pPr>
            <a:r>
              <a:rPr lang="en-US" dirty="0" err="1"/>
              <a:t>Chỉ</a:t>
            </a:r>
            <a:r>
              <a:rPr lang="en-US" dirty="0"/>
              <a:t> </a:t>
            </a:r>
            <a:r>
              <a:rPr lang="en-US" dirty="0" err="1"/>
              <a:t>có</a:t>
            </a:r>
            <a:r>
              <a:rPr lang="en-US" dirty="0"/>
              <a:t> </a:t>
            </a:r>
            <a:r>
              <a:rPr lang="en-US" dirty="0" err="1"/>
              <a:t>một</a:t>
            </a:r>
            <a:r>
              <a:rPr lang="en-US" dirty="0"/>
              <a:t> </a:t>
            </a:r>
            <a:r>
              <a:rPr lang="en-US" dirty="0" err="1"/>
              <a:t>toán</a:t>
            </a:r>
            <a:r>
              <a:rPr lang="en-US" dirty="0"/>
              <a:t> </a:t>
            </a:r>
            <a:r>
              <a:rPr lang="en-US" dirty="0" err="1"/>
              <a:t>hạng</a:t>
            </a:r>
            <a:r>
              <a:rPr lang="en-US" dirty="0"/>
              <a:t> </a:t>
            </a:r>
            <a:r>
              <a:rPr lang="en-US" dirty="0" err="1"/>
              <a:t>trong</a:t>
            </a:r>
            <a:r>
              <a:rPr lang="en-US" dirty="0"/>
              <a:t> </a:t>
            </a:r>
            <a:r>
              <a:rPr lang="en-US" dirty="0" err="1"/>
              <a:t>biểu</a:t>
            </a:r>
            <a:r>
              <a:rPr lang="en-US" dirty="0"/>
              <a:t> </a:t>
            </a:r>
            <a:r>
              <a:rPr lang="en-US" dirty="0" err="1"/>
              <a:t>thức</a:t>
            </a:r>
            <a:r>
              <a:rPr lang="en-US" dirty="0"/>
              <a:t>.</a:t>
            </a:r>
          </a:p>
          <a:p>
            <a:pPr lvl="1">
              <a:defRPr/>
            </a:pPr>
            <a:r>
              <a:rPr lang="en-US" dirty="0">
                <a:solidFill>
                  <a:srgbClr val="FF0000"/>
                </a:solidFill>
              </a:rPr>
              <a:t>++</a:t>
            </a:r>
            <a:r>
              <a:rPr lang="en-US" dirty="0"/>
              <a:t> (t</a:t>
            </a:r>
            <a:r>
              <a:rPr lang="vi-VN" dirty="0"/>
              <a:t>ă</a:t>
            </a:r>
            <a:r>
              <a:rPr lang="en-US" dirty="0"/>
              <a:t>ng 1 </a:t>
            </a:r>
            <a:r>
              <a:rPr lang="vi-VN" dirty="0"/>
              <a:t>đơ</a:t>
            </a:r>
            <a:r>
              <a:rPr lang="en-US" dirty="0"/>
              <a:t>n </a:t>
            </a:r>
            <a:r>
              <a:rPr lang="en-US" dirty="0" err="1"/>
              <a:t>vị</a:t>
            </a:r>
            <a:r>
              <a:rPr lang="en-US" dirty="0"/>
              <a:t>), </a:t>
            </a:r>
            <a:r>
              <a:rPr lang="en-US" dirty="0">
                <a:solidFill>
                  <a:srgbClr val="FF0000"/>
                </a:solidFill>
              </a:rPr>
              <a:t>--</a:t>
            </a:r>
            <a:r>
              <a:rPr lang="en-US" dirty="0"/>
              <a:t> (</a:t>
            </a:r>
            <a:r>
              <a:rPr lang="en-US" dirty="0" err="1"/>
              <a:t>giảm</a:t>
            </a:r>
            <a:r>
              <a:rPr lang="en-US" dirty="0"/>
              <a:t> 1 </a:t>
            </a:r>
            <a:r>
              <a:rPr lang="vi-VN" dirty="0"/>
              <a:t>đơ</a:t>
            </a:r>
            <a:r>
              <a:rPr lang="en-US" dirty="0"/>
              <a:t>n </a:t>
            </a:r>
            <a:r>
              <a:rPr lang="en-US" dirty="0" err="1"/>
              <a:t>vị</a:t>
            </a:r>
            <a:r>
              <a:rPr lang="en-US" dirty="0"/>
              <a:t>)</a:t>
            </a:r>
          </a:p>
          <a:p>
            <a:pPr lvl="1">
              <a:defRPr/>
            </a:pPr>
            <a:r>
              <a:rPr lang="en-US" dirty="0" err="1"/>
              <a:t>Đặt</a:t>
            </a:r>
            <a:r>
              <a:rPr lang="en-US" dirty="0"/>
              <a:t> </a:t>
            </a:r>
            <a:r>
              <a:rPr lang="en-US" dirty="0" err="1"/>
              <a:t>tr</a:t>
            </a:r>
            <a:r>
              <a:rPr lang="vi-VN" dirty="0"/>
              <a:t>ướ</a:t>
            </a:r>
            <a:r>
              <a:rPr lang="en-US" dirty="0"/>
              <a:t>c </a:t>
            </a:r>
            <a:r>
              <a:rPr lang="en-US" dirty="0" err="1"/>
              <a:t>toán</a:t>
            </a:r>
            <a:r>
              <a:rPr lang="en-US" dirty="0"/>
              <a:t> </a:t>
            </a:r>
            <a:r>
              <a:rPr lang="en-US" dirty="0" err="1"/>
              <a:t>hạng</a:t>
            </a:r>
            <a:endParaRPr lang="en-US" dirty="0"/>
          </a:p>
          <a:p>
            <a:pPr lvl="2">
              <a:defRPr/>
            </a:pPr>
            <a:r>
              <a:rPr lang="en-US" dirty="0" err="1"/>
              <a:t>Ví</a:t>
            </a:r>
            <a:r>
              <a:rPr lang="en-US" dirty="0"/>
              <a:t> </a:t>
            </a:r>
            <a:r>
              <a:rPr lang="en-US" dirty="0" err="1"/>
              <a:t>dụ</a:t>
            </a:r>
            <a:r>
              <a:rPr lang="en-US" dirty="0"/>
              <a:t> </a:t>
            </a:r>
            <a:r>
              <a:rPr lang="en-US" dirty="0">
                <a:solidFill>
                  <a:srgbClr val="FF0000"/>
                </a:solidFill>
              </a:rPr>
              <a:t>++</a:t>
            </a:r>
            <a:r>
              <a:rPr lang="en-US" dirty="0"/>
              <a:t>x hay </a:t>
            </a:r>
            <a:r>
              <a:rPr lang="en-US" dirty="0">
                <a:solidFill>
                  <a:srgbClr val="FF0000"/>
                </a:solidFill>
              </a:rPr>
              <a:t>--</a:t>
            </a:r>
            <a:r>
              <a:rPr lang="en-US" dirty="0"/>
              <a:t>x: </a:t>
            </a:r>
            <a:r>
              <a:rPr lang="en-US" dirty="0" err="1"/>
              <a:t>thực</a:t>
            </a:r>
            <a:r>
              <a:rPr lang="en-US" dirty="0"/>
              <a:t> </a:t>
            </a:r>
            <a:r>
              <a:rPr lang="en-US" dirty="0" err="1"/>
              <a:t>hiện</a:t>
            </a:r>
            <a:r>
              <a:rPr lang="en-US" dirty="0"/>
              <a:t> t</a:t>
            </a:r>
            <a:r>
              <a:rPr lang="vi-VN" dirty="0"/>
              <a:t>ă</a:t>
            </a:r>
            <a:r>
              <a:rPr lang="en-US" dirty="0"/>
              <a:t>ng/</a:t>
            </a:r>
            <a:r>
              <a:rPr lang="en-US" dirty="0" err="1"/>
              <a:t>giảm</a:t>
            </a:r>
            <a:r>
              <a:rPr lang="en-US" dirty="0"/>
              <a:t> </a:t>
            </a:r>
            <a:r>
              <a:rPr lang="en-US" dirty="0" err="1">
                <a:solidFill>
                  <a:srgbClr val="FF0000"/>
                </a:solidFill>
              </a:rPr>
              <a:t>tr</a:t>
            </a:r>
            <a:r>
              <a:rPr lang="vi-VN" dirty="0">
                <a:solidFill>
                  <a:srgbClr val="FF0000"/>
                </a:solidFill>
              </a:rPr>
              <a:t>ướ</a:t>
            </a:r>
            <a:r>
              <a:rPr lang="en-US" dirty="0">
                <a:solidFill>
                  <a:srgbClr val="FF0000"/>
                </a:solidFill>
              </a:rPr>
              <a:t>c.</a:t>
            </a:r>
          </a:p>
          <a:p>
            <a:pPr lvl="1">
              <a:defRPr/>
            </a:pPr>
            <a:r>
              <a:rPr lang="en-US" dirty="0" err="1"/>
              <a:t>Đặt</a:t>
            </a:r>
            <a:r>
              <a:rPr lang="en-US" dirty="0"/>
              <a:t> </a:t>
            </a:r>
            <a:r>
              <a:rPr lang="en-US" dirty="0" err="1"/>
              <a:t>sau</a:t>
            </a:r>
            <a:r>
              <a:rPr lang="en-US" dirty="0"/>
              <a:t> </a:t>
            </a:r>
            <a:r>
              <a:rPr lang="en-US" dirty="0" err="1"/>
              <a:t>toán</a:t>
            </a:r>
            <a:r>
              <a:rPr lang="en-US" dirty="0"/>
              <a:t> </a:t>
            </a:r>
            <a:r>
              <a:rPr lang="en-US" dirty="0" err="1"/>
              <a:t>hạng</a:t>
            </a:r>
            <a:endParaRPr lang="en-US" dirty="0"/>
          </a:p>
          <a:p>
            <a:pPr lvl="2">
              <a:defRPr/>
            </a:pPr>
            <a:r>
              <a:rPr lang="en-US" dirty="0" err="1"/>
              <a:t>Ví</a:t>
            </a:r>
            <a:r>
              <a:rPr lang="en-US" dirty="0"/>
              <a:t> </a:t>
            </a:r>
            <a:r>
              <a:rPr lang="en-US" dirty="0" err="1"/>
              <a:t>dụ</a:t>
            </a:r>
            <a:r>
              <a:rPr lang="en-US" dirty="0"/>
              <a:t> x</a:t>
            </a:r>
            <a:r>
              <a:rPr lang="en-US" dirty="0">
                <a:solidFill>
                  <a:srgbClr val="FF0000"/>
                </a:solidFill>
              </a:rPr>
              <a:t>++</a:t>
            </a:r>
            <a:r>
              <a:rPr lang="en-US" dirty="0"/>
              <a:t> hay x</a:t>
            </a:r>
            <a:r>
              <a:rPr lang="en-US" dirty="0">
                <a:solidFill>
                  <a:srgbClr val="FF0000"/>
                </a:solidFill>
              </a:rPr>
              <a:t>--</a:t>
            </a:r>
            <a:r>
              <a:rPr lang="en-US" dirty="0"/>
              <a:t>: </a:t>
            </a:r>
            <a:r>
              <a:rPr lang="en-US" dirty="0" err="1"/>
              <a:t>thực</a:t>
            </a:r>
            <a:r>
              <a:rPr lang="en-US" dirty="0"/>
              <a:t> </a:t>
            </a:r>
            <a:r>
              <a:rPr lang="en-US" dirty="0" err="1"/>
              <a:t>hiện</a:t>
            </a:r>
            <a:r>
              <a:rPr lang="en-US" dirty="0"/>
              <a:t> t</a:t>
            </a:r>
            <a:r>
              <a:rPr lang="vi-VN" dirty="0"/>
              <a:t>ă</a:t>
            </a:r>
            <a:r>
              <a:rPr lang="en-US" dirty="0"/>
              <a:t>ng/</a:t>
            </a:r>
            <a:r>
              <a:rPr lang="en-US" dirty="0" err="1"/>
              <a:t>giảm</a:t>
            </a:r>
            <a:r>
              <a:rPr lang="en-US" dirty="0"/>
              <a:t> </a:t>
            </a:r>
            <a:r>
              <a:rPr lang="en-US" dirty="0" err="1">
                <a:solidFill>
                  <a:srgbClr val="FF0000"/>
                </a:solidFill>
              </a:rPr>
              <a:t>sau</a:t>
            </a:r>
            <a:r>
              <a:rPr lang="en-US" dirty="0">
                <a:solidFill>
                  <a:srgbClr val="FF0000"/>
                </a:solidFill>
              </a:rPr>
              <a:t>.</a:t>
            </a:r>
          </a:p>
          <a:p>
            <a:pPr>
              <a:defRPr/>
            </a:pPr>
            <a:r>
              <a:rPr lang="en-US" dirty="0" err="1"/>
              <a:t>Ví</a:t>
            </a:r>
            <a:r>
              <a:rPr lang="en-US" dirty="0"/>
              <a:t> </a:t>
            </a:r>
            <a:r>
              <a:rPr lang="en-US" dirty="0" err="1"/>
              <a:t>dụ</a:t>
            </a:r>
            <a:r>
              <a:rPr lang="en-US" dirty="0"/>
              <a:t> x++; x=x+1;</a:t>
            </a:r>
          </a:p>
          <a:p>
            <a:pPr lvl="1">
              <a:defRPr/>
            </a:pPr>
            <a:r>
              <a:rPr lang="en-US" dirty="0"/>
              <a:t>x = 10; y = x++;	// y = 10 </a:t>
            </a:r>
            <a:r>
              <a:rPr lang="en-US" dirty="0" err="1"/>
              <a:t>và</a:t>
            </a:r>
            <a:r>
              <a:rPr lang="en-US" dirty="0"/>
              <a:t> x = 11</a:t>
            </a:r>
          </a:p>
          <a:p>
            <a:pPr lvl="1">
              <a:defRPr/>
            </a:pPr>
            <a:r>
              <a:rPr lang="en-US" dirty="0"/>
              <a:t>x </a:t>
            </a:r>
            <a:r>
              <a:rPr lang="en-US"/>
              <a:t>= 10; </a:t>
            </a:r>
            <a:r>
              <a:rPr lang="en-US" dirty="0"/>
              <a:t>y = ++x;	// x = 11 </a:t>
            </a:r>
            <a:r>
              <a:rPr lang="en-US" dirty="0" err="1"/>
              <a:t>và</a:t>
            </a:r>
            <a:r>
              <a:rPr lang="en-US" dirty="0"/>
              <a:t> y = 11</a:t>
            </a:r>
          </a:p>
        </p:txBody>
      </p:sp>
      <p:sp>
        <p:nvSpPr>
          <p:cNvPr id="29700"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9C0F8658-8886-4F32-8778-01DE12C76145}"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32</a:t>
            </a:fld>
            <a:r>
              <a:rPr lang="vi-VN"/>
              <a:t>/59</a:t>
            </a:r>
          </a:p>
        </p:txBody>
      </p:sp>
    </p:spTree>
    <p:extLst>
      <p:ext uri="{BB962C8B-B14F-4D97-AF65-F5344CB8AC3E}">
        <p14:creationId xmlns:p14="http://schemas.microsoft.com/office/powerpoint/2010/main" val="181484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anim calcmode="lin" valueType="num">
                                      <p:cBhvr>
                                        <p:cTn id="8"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8" end="8"/>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fade">
                                      <p:cBhvr>
                                        <p:cTn id="12" dur="500"/>
                                        <p:tgtEl>
                                          <p:spTgt spid="3">
                                            <p:txEl>
                                              <p:pRg st="9" end="9"/>
                                            </p:txEl>
                                          </p:spTgt>
                                        </p:tgtEl>
                                      </p:cBhvr>
                                    </p:animEffect>
                                    <p:anim calcmode="lin" valueType="num">
                                      <p:cBhvr>
                                        <p:cTn id="1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Effect transition="in" filter="fade">
                                      <p:cBhvr>
                                        <p:cTn id="19" dur="500"/>
                                        <p:tgtEl>
                                          <p:spTgt spid="3">
                                            <p:txEl>
                                              <p:pRg st="10" end="10"/>
                                            </p:txEl>
                                          </p:spTgt>
                                        </p:tgtEl>
                                      </p:cBhvr>
                                    </p:animEffect>
                                    <p:anim calcmode="lin" valueType="num">
                                      <p:cBhvr>
                                        <p:cTn id="20"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t>Các toán tử toán học</a:t>
            </a:r>
          </a:p>
        </p:txBody>
      </p:sp>
      <p:sp>
        <p:nvSpPr>
          <p:cNvPr id="3" name="Content Placeholder 2"/>
          <p:cNvSpPr>
            <a:spLocks noGrp="1"/>
          </p:cNvSpPr>
          <p:nvPr>
            <p:ph idx="1"/>
          </p:nvPr>
        </p:nvSpPr>
        <p:spPr/>
        <p:txBody>
          <a:bodyPr/>
          <a:lstStyle/>
          <a:p>
            <a:pPr>
              <a:defRPr/>
            </a:pPr>
            <a:r>
              <a:rPr lang="en-US"/>
              <a:t>Toán tử 2 ngôi</a:t>
            </a:r>
          </a:p>
          <a:p>
            <a:pPr lvl="1">
              <a:defRPr/>
            </a:pPr>
            <a:r>
              <a:rPr lang="en-US"/>
              <a:t>Có hai toán hạng trong biểu thức.</a:t>
            </a:r>
          </a:p>
          <a:p>
            <a:pPr lvl="1">
              <a:defRPr/>
            </a:pPr>
            <a:r>
              <a:rPr lang="en-US">
                <a:solidFill>
                  <a:srgbClr val="FF0000"/>
                </a:solidFill>
              </a:rPr>
              <a:t>+</a:t>
            </a:r>
            <a:r>
              <a:rPr lang="en-US"/>
              <a:t>, </a:t>
            </a:r>
            <a:r>
              <a:rPr lang="en-US">
                <a:solidFill>
                  <a:srgbClr val="FF0000"/>
                </a:solidFill>
              </a:rPr>
              <a:t>–</a:t>
            </a:r>
            <a:r>
              <a:rPr lang="en-US"/>
              <a:t>, </a:t>
            </a:r>
            <a:r>
              <a:rPr lang="en-US">
                <a:solidFill>
                  <a:srgbClr val="FF0000"/>
                </a:solidFill>
              </a:rPr>
              <a:t>*</a:t>
            </a:r>
            <a:r>
              <a:rPr lang="en-US"/>
              <a:t>, </a:t>
            </a:r>
            <a:r>
              <a:rPr lang="en-US">
                <a:solidFill>
                  <a:srgbClr val="FF0000"/>
                </a:solidFill>
              </a:rPr>
              <a:t>/</a:t>
            </a:r>
            <a:r>
              <a:rPr lang="en-US"/>
              <a:t>, </a:t>
            </a:r>
            <a:r>
              <a:rPr lang="en-US">
                <a:solidFill>
                  <a:srgbClr val="FF0000"/>
                </a:solidFill>
              </a:rPr>
              <a:t>% </a:t>
            </a:r>
            <a:r>
              <a:rPr lang="en-US"/>
              <a:t>(chia lấy phần d</a:t>
            </a:r>
            <a:r>
              <a:rPr lang="vi-VN"/>
              <a:t>ư</a:t>
            </a:r>
            <a:r>
              <a:rPr lang="en-US"/>
              <a:t>)</a:t>
            </a:r>
          </a:p>
          <a:p>
            <a:pPr>
              <a:defRPr/>
            </a:pPr>
            <a:r>
              <a:rPr lang="en-US"/>
              <a:t>Ví dụ</a:t>
            </a:r>
          </a:p>
          <a:p>
            <a:pPr lvl="1">
              <a:defRPr/>
            </a:pPr>
            <a:r>
              <a:rPr lang="en-US"/>
              <a:t>a = 1 </a:t>
            </a:r>
            <a:r>
              <a:rPr lang="en-US">
                <a:solidFill>
                  <a:srgbClr val="FF0000"/>
                </a:solidFill>
              </a:rPr>
              <a:t>+</a:t>
            </a:r>
            <a:r>
              <a:rPr lang="en-US"/>
              <a:t> 2; b = 1 </a:t>
            </a:r>
            <a:r>
              <a:rPr lang="en-US">
                <a:solidFill>
                  <a:srgbClr val="FF0000"/>
                </a:solidFill>
              </a:rPr>
              <a:t>–</a:t>
            </a:r>
            <a:r>
              <a:rPr lang="en-US"/>
              <a:t> 2; c = 1 </a:t>
            </a:r>
            <a:r>
              <a:rPr lang="en-US">
                <a:solidFill>
                  <a:srgbClr val="FF0000"/>
                </a:solidFill>
              </a:rPr>
              <a:t>*</a:t>
            </a:r>
            <a:r>
              <a:rPr lang="en-US"/>
              <a:t> 2; d = 1 </a:t>
            </a:r>
            <a:r>
              <a:rPr lang="en-US">
                <a:solidFill>
                  <a:srgbClr val="FF0000"/>
                </a:solidFill>
              </a:rPr>
              <a:t>/ </a:t>
            </a:r>
            <a:r>
              <a:rPr lang="en-US"/>
              <a:t>2;</a:t>
            </a:r>
          </a:p>
          <a:p>
            <a:pPr lvl="1">
              <a:defRPr/>
            </a:pPr>
            <a:r>
              <a:rPr lang="en-US"/>
              <a:t>e = 1*1.0 </a:t>
            </a:r>
            <a:r>
              <a:rPr lang="en-US">
                <a:solidFill>
                  <a:srgbClr val="FF0000"/>
                </a:solidFill>
              </a:rPr>
              <a:t>/</a:t>
            </a:r>
            <a:r>
              <a:rPr lang="en-US"/>
              <a:t> 2; </a:t>
            </a:r>
          </a:p>
          <a:p>
            <a:pPr lvl="1">
              <a:defRPr/>
            </a:pPr>
            <a:r>
              <a:rPr lang="en-US"/>
              <a:t>h = 1 </a:t>
            </a:r>
            <a:r>
              <a:rPr lang="en-US">
                <a:solidFill>
                  <a:srgbClr val="FF0000"/>
                </a:solidFill>
              </a:rPr>
              <a:t>%</a:t>
            </a:r>
            <a:r>
              <a:rPr lang="en-US"/>
              <a:t> 2;</a:t>
            </a:r>
          </a:p>
          <a:p>
            <a:pPr lvl="1">
              <a:defRPr/>
            </a:pPr>
            <a:r>
              <a:rPr lang="en-US">
                <a:solidFill>
                  <a:srgbClr val="FF0000"/>
                </a:solidFill>
              </a:rPr>
              <a:t>x</a:t>
            </a:r>
            <a:r>
              <a:rPr lang="en-US"/>
              <a:t> = </a:t>
            </a:r>
            <a:r>
              <a:rPr lang="en-US">
                <a:solidFill>
                  <a:srgbClr val="FF0000"/>
                </a:solidFill>
              </a:rPr>
              <a:t>x</a:t>
            </a:r>
            <a:r>
              <a:rPr lang="en-US"/>
              <a:t> </a:t>
            </a:r>
            <a:r>
              <a:rPr lang="en-US">
                <a:solidFill>
                  <a:srgbClr val="FF0000"/>
                </a:solidFill>
              </a:rPr>
              <a:t>*</a:t>
            </a:r>
            <a:r>
              <a:rPr lang="en-US"/>
              <a:t> (2 + 3*5); </a:t>
            </a:r>
            <a:r>
              <a:rPr lang="en-US">
                <a:sym typeface="Wingdings" pitchFamily="2" charset="2"/>
              </a:rPr>
              <a:t> x </a:t>
            </a:r>
            <a:r>
              <a:rPr lang="en-US">
                <a:solidFill>
                  <a:srgbClr val="FF0000"/>
                </a:solidFill>
                <a:sym typeface="Wingdings" pitchFamily="2" charset="2"/>
              </a:rPr>
              <a:t>*=</a:t>
            </a:r>
            <a:r>
              <a:rPr lang="en-US">
                <a:sym typeface="Wingdings" pitchFamily="2" charset="2"/>
              </a:rPr>
              <a:t> 2 + 3*5;</a:t>
            </a:r>
            <a:endParaRPr lang="en-US"/>
          </a:p>
          <a:p>
            <a:pPr lvl="1">
              <a:defRPr/>
            </a:pPr>
            <a:endParaRPr lang="en-US"/>
          </a:p>
        </p:txBody>
      </p:sp>
      <p:sp>
        <p:nvSpPr>
          <p:cNvPr id="30724"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F225BFA0-9239-4A1E-A804-E646AAB727BD}"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33</a:t>
            </a:fld>
            <a:r>
              <a:rPr lang="vi-VN"/>
              <a:t>/59</a:t>
            </a:r>
          </a:p>
        </p:txBody>
      </p:sp>
    </p:spTree>
    <p:extLst>
      <p:ext uri="{BB962C8B-B14F-4D97-AF65-F5344CB8AC3E}">
        <p14:creationId xmlns:p14="http://schemas.microsoft.com/office/powerpoint/2010/main" val="763332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Phép gán mở rộng</a:t>
            </a:r>
            <a:endParaRPr lang="vi-VN"/>
          </a:p>
        </p:txBody>
      </p:sp>
      <p:sp>
        <p:nvSpPr>
          <p:cNvPr id="3" name="Content Placeholder 2"/>
          <p:cNvSpPr>
            <a:spLocks noGrp="1"/>
          </p:cNvSpPr>
          <p:nvPr>
            <p:ph idx="1"/>
          </p:nvPr>
        </p:nvSpPr>
        <p:spPr/>
        <p:txBody>
          <a:bodyPr/>
          <a:lstStyle/>
          <a:p>
            <a:r>
              <a:rPr lang="en-US"/>
              <a:t>C cho phép viết lệnh gán mở rộng theo quy định:</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x+y</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x-y</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x*y</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x/y</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x%y</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&gt;&gt;=</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x&gt;&gt;y</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&lt;&lt;=</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x&lt;&lt;y</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&amp;=</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x&amp;y</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x|y</a:t>
            </a:r>
          </a:p>
          <a:p>
            <a:pPr marL="0" indent="0" algn="ctr">
              <a:buNone/>
            </a:pPr>
            <a:r>
              <a:rPr lang="en-US" sz="2300">
                <a:latin typeface="Courier New" pitchFamily="49" charset="0"/>
                <a:cs typeface="Courier New" pitchFamily="49" charset="0"/>
              </a:rPr>
              <a:t>x</a:t>
            </a:r>
            <a:r>
              <a:rPr lang="en-US" sz="2300">
                <a:solidFill>
                  <a:srgbClr val="FF0000"/>
                </a:solidFill>
                <a:latin typeface="Courier New" pitchFamily="49" charset="0"/>
                <a:cs typeface="Courier New" pitchFamily="49" charset="0"/>
              </a:rPr>
              <a:t>^=</a:t>
            </a:r>
            <a:r>
              <a:rPr lang="en-US" sz="2300">
                <a:latin typeface="Courier New" pitchFamily="49" charset="0"/>
                <a:cs typeface="Courier New" pitchFamily="49" charset="0"/>
              </a:rPr>
              <a:t>y </a:t>
            </a:r>
            <a:r>
              <a:rPr lang="en-US" sz="2300">
                <a:latin typeface="Courier New" pitchFamily="49" charset="0"/>
                <a:cs typeface="Courier New" pitchFamily="49" charset="0"/>
                <a:sym typeface="Wingdings" pitchFamily="2" charset="2"/>
              </a:rPr>
              <a:t> x= x^y</a:t>
            </a:r>
          </a:p>
          <a:p>
            <a:pPr marL="0" indent="0">
              <a:buNone/>
            </a:pPr>
            <a:endParaRPr lang="en-US">
              <a:sym typeface="Wingdings" pitchFamily="2" charset="2"/>
            </a:endParaRPr>
          </a:p>
          <a:p>
            <a:pPr marL="0" indent="0">
              <a:buNone/>
            </a:pPr>
            <a:endParaRPr lang="en-US">
              <a:sym typeface="Wingdings" pitchFamily="2" charset="2"/>
            </a:endParaRPr>
          </a:p>
          <a:p>
            <a:pPr marL="0" indent="0">
              <a:buNone/>
            </a:pPr>
            <a:endParaRPr lang="en-US">
              <a:sym typeface="Wingdings" pitchFamily="2" charset="2"/>
            </a:endParaRPr>
          </a:p>
          <a:p>
            <a:pPr marL="0" indent="0">
              <a:buNone/>
            </a:pPr>
            <a:endParaRPr lang="en-US">
              <a:sym typeface="Wingdings" pitchFamily="2" charset="2"/>
            </a:endParaRPr>
          </a:p>
          <a:p>
            <a:pPr marL="0" indent="0">
              <a:buNone/>
            </a:pPr>
            <a:endParaRPr lang="en-US">
              <a:sym typeface="Wingdings" pitchFamily="2" charset="2"/>
            </a:endParaRPr>
          </a:p>
          <a:p>
            <a:pPr marL="0" indent="0">
              <a:buNone/>
            </a:pPr>
            <a:endParaRPr lang="en-US">
              <a:sym typeface="Wingdings" pitchFamily="2" charset="2"/>
            </a:endParaRPr>
          </a:p>
          <a:p>
            <a:pPr marL="0" indent="0">
              <a:buNone/>
            </a:pPr>
            <a:endParaRPr lang="vi-VN"/>
          </a:p>
        </p:txBody>
      </p:sp>
      <p:sp>
        <p:nvSpPr>
          <p:cNvPr id="4" name="Date Placeholder 3"/>
          <p:cNvSpPr>
            <a:spLocks noGrp="1"/>
          </p:cNvSpPr>
          <p:nvPr>
            <p:ph type="dt" sz="half" idx="10"/>
          </p:nvPr>
        </p:nvSpPr>
        <p:spPr/>
        <p:txBody>
          <a:bodyPr/>
          <a:lstStyle/>
          <a:p>
            <a:fld id="{278FF3BF-84F6-44F0-B9AC-D3132E7FA317}"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34</a:t>
            </a:fld>
            <a:r>
              <a:rPr lang="vi-VN"/>
              <a:t>/59</a:t>
            </a:r>
          </a:p>
        </p:txBody>
      </p:sp>
    </p:spTree>
    <p:extLst>
      <p:ext uri="{BB962C8B-B14F-4D97-AF65-F5344CB8AC3E}">
        <p14:creationId xmlns:p14="http://schemas.microsoft.com/office/powerpoint/2010/main" val="174635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t>Các toán tử trên bit</a:t>
            </a:r>
          </a:p>
        </p:txBody>
      </p:sp>
      <p:sp>
        <p:nvSpPr>
          <p:cNvPr id="3" name="Content Placeholder 2"/>
          <p:cNvSpPr>
            <a:spLocks noGrp="1"/>
          </p:cNvSpPr>
          <p:nvPr>
            <p:ph idx="1"/>
          </p:nvPr>
        </p:nvSpPr>
        <p:spPr/>
        <p:txBody>
          <a:bodyPr/>
          <a:lstStyle/>
          <a:p>
            <a:pPr>
              <a:defRPr/>
            </a:pPr>
            <a:r>
              <a:rPr lang="en-US"/>
              <a:t>Các toán tử trên bit</a:t>
            </a:r>
          </a:p>
          <a:p>
            <a:pPr lvl="1">
              <a:defRPr/>
            </a:pPr>
            <a:r>
              <a:rPr lang="en-US"/>
              <a:t>Tác </a:t>
            </a:r>
            <a:r>
              <a:rPr lang="vi-VN"/>
              <a:t>độ</a:t>
            </a:r>
            <a:r>
              <a:rPr lang="en-US"/>
              <a:t>ng lên các bit của toán hạng (nguyên).</a:t>
            </a:r>
          </a:p>
          <a:p>
            <a:pPr lvl="1">
              <a:defRPr/>
            </a:pPr>
            <a:r>
              <a:rPr lang="en-US">
                <a:solidFill>
                  <a:srgbClr val="FF0000"/>
                </a:solidFill>
              </a:rPr>
              <a:t>&amp;</a:t>
            </a:r>
            <a:r>
              <a:rPr lang="en-US"/>
              <a:t> (and), </a:t>
            </a:r>
            <a:r>
              <a:rPr lang="en-US">
                <a:solidFill>
                  <a:srgbClr val="FF0000"/>
                </a:solidFill>
              </a:rPr>
              <a:t>|</a:t>
            </a:r>
            <a:r>
              <a:rPr lang="en-US"/>
              <a:t> (or), </a:t>
            </a:r>
            <a:r>
              <a:rPr lang="en-US">
                <a:solidFill>
                  <a:srgbClr val="FF0000"/>
                </a:solidFill>
              </a:rPr>
              <a:t>^</a:t>
            </a:r>
            <a:r>
              <a:rPr lang="en-US"/>
              <a:t> (xor), </a:t>
            </a:r>
            <a:r>
              <a:rPr lang="en-US">
                <a:solidFill>
                  <a:srgbClr val="FF0000"/>
                </a:solidFill>
              </a:rPr>
              <a:t>~</a:t>
            </a:r>
            <a:r>
              <a:rPr lang="en-US"/>
              <a:t> (not hay lấy số bù 1)</a:t>
            </a:r>
          </a:p>
          <a:p>
            <a:pPr lvl="1">
              <a:defRPr/>
            </a:pPr>
            <a:r>
              <a:rPr lang="en-US">
                <a:solidFill>
                  <a:srgbClr val="FF0000"/>
                </a:solidFill>
              </a:rPr>
              <a:t>&gt;&gt;</a:t>
            </a:r>
            <a:r>
              <a:rPr lang="en-US"/>
              <a:t> (shift right), </a:t>
            </a:r>
            <a:r>
              <a:rPr lang="en-US">
                <a:solidFill>
                  <a:srgbClr val="FF0000"/>
                </a:solidFill>
              </a:rPr>
              <a:t>&lt;&lt;</a:t>
            </a:r>
            <a:r>
              <a:rPr lang="en-US"/>
              <a:t> (shift left)</a:t>
            </a:r>
          </a:p>
          <a:p>
            <a:pPr lvl="1">
              <a:defRPr/>
            </a:pPr>
            <a:r>
              <a:rPr lang="en-US"/>
              <a:t>Toán tử gộp: </a:t>
            </a:r>
            <a:r>
              <a:rPr lang="en-US">
                <a:solidFill>
                  <a:srgbClr val="FF0000"/>
                </a:solidFill>
              </a:rPr>
              <a:t>&amp;=</a:t>
            </a:r>
            <a:r>
              <a:rPr lang="en-US"/>
              <a:t>, </a:t>
            </a:r>
            <a:r>
              <a:rPr lang="en-US">
                <a:solidFill>
                  <a:srgbClr val="FF0000"/>
                </a:solidFill>
              </a:rPr>
              <a:t>|=</a:t>
            </a:r>
            <a:r>
              <a:rPr lang="en-US"/>
              <a:t>, </a:t>
            </a:r>
            <a:r>
              <a:rPr lang="en-US">
                <a:solidFill>
                  <a:srgbClr val="FF0000"/>
                </a:solidFill>
              </a:rPr>
              <a:t>^=</a:t>
            </a:r>
            <a:r>
              <a:rPr lang="en-US"/>
              <a:t>, </a:t>
            </a:r>
            <a:r>
              <a:rPr lang="en-US">
                <a:solidFill>
                  <a:srgbClr val="FF0000"/>
                </a:solidFill>
              </a:rPr>
              <a:t>~=</a:t>
            </a:r>
            <a:r>
              <a:rPr lang="en-US"/>
              <a:t>, </a:t>
            </a:r>
            <a:r>
              <a:rPr lang="en-US">
                <a:solidFill>
                  <a:srgbClr val="FF0000"/>
                </a:solidFill>
              </a:rPr>
              <a:t>&gt;&gt;=</a:t>
            </a:r>
            <a:r>
              <a:rPr lang="en-US"/>
              <a:t>, </a:t>
            </a:r>
            <a:r>
              <a:rPr lang="en-US">
                <a:solidFill>
                  <a:srgbClr val="FF0000"/>
                </a:solidFill>
              </a:rPr>
              <a:t>&lt;&lt;=</a:t>
            </a:r>
          </a:p>
        </p:txBody>
      </p:sp>
      <p:sp>
        <p:nvSpPr>
          <p:cNvPr id="31748" name="Footer Placeholder 3"/>
          <p:cNvSpPr>
            <a:spLocks noGrp="1"/>
          </p:cNvSpPr>
          <p:nvPr>
            <p:ph type="ftr" sz="quarter" idx="11"/>
          </p:nvPr>
        </p:nvSpPr>
        <p:spPr>
          <a:noFill/>
        </p:spPr>
        <p:txBody>
          <a:bodyPr/>
          <a:lstStyle/>
          <a:p>
            <a:r>
              <a:rPr lang="vi-VN"/>
              <a:t>Chương 2 - Các phần tử cơ bản của ngôn ngữ C</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365303534"/>
              </p:ext>
            </p:extLst>
          </p:nvPr>
        </p:nvGraphicFramePr>
        <p:xfrm>
          <a:off x="914400" y="3356992"/>
          <a:ext cx="3039429" cy="1112520"/>
        </p:xfrm>
        <a:graphic>
          <a:graphicData uri="http://schemas.openxmlformats.org/drawingml/2006/table">
            <a:tbl>
              <a:tblPr firstRow="1" bandRow="1">
                <a:tableStyleId>{E8B1032C-EA38-4F05-BA0D-38AFFFC7BED3}</a:tableStyleId>
              </a:tblPr>
              <a:tblGrid>
                <a:gridCol w="1051243">
                  <a:extLst>
                    <a:ext uri="{9D8B030D-6E8A-4147-A177-3AD203B41FA5}">
                      <a16:colId xmlns:a16="http://schemas.microsoft.com/office/drawing/2014/main" val="20000"/>
                    </a:ext>
                  </a:extLst>
                </a:gridCol>
                <a:gridCol w="1051243">
                  <a:extLst>
                    <a:ext uri="{9D8B030D-6E8A-4147-A177-3AD203B41FA5}">
                      <a16:colId xmlns:a16="http://schemas.microsoft.com/office/drawing/2014/main" val="20001"/>
                    </a:ext>
                  </a:extLst>
                </a:gridCol>
                <a:gridCol w="936943">
                  <a:extLst>
                    <a:ext uri="{9D8B030D-6E8A-4147-A177-3AD203B41FA5}">
                      <a16:colId xmlns:a16="http://schemas.microsoft.com/office/drawing/2014/main" val="20002"/>
                    </a:ext>
                  </a:extLst>
                </a:gridCol>
              </a:tblGrid>
              <a:tr h="370840">
                <a:tc>
                  <a:txBody>
                    <a:bodyPr/>
                    <a:lstStyle/>
                    <a:p>
                      <a:pPr algn="ctr"/>
                      <a:r>
                        <a:rPr lang="en-US"/>
                        <a:t>&amp;</a:t>
                      </a:r>
                    </a:p>
                  </a:txBody>
                  <a:tcPr>
                    <a:solidFill>
                      <a:schemeClr val="accent2"/>
                    </a:solidFill>
                  </a:tcPr>
                </a:tc>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b="0">
                          <a:solidFill>
                            <a:schemeClr val="tx1">
                              <a:lumMod val="60000"/>
                              <a:lumOff val="40000"/>
                            </a:schemeClr>
                          </a:solidFill>
                        </a:rPr>
                        <a:t>1</a:t>
                      </a:r>
                    </a:p>
                  </a:txBody>
                  <a:tcPr>
                    <a:solidFill>
                      <a:schemeClr val="bg1"/>
                    </a:solidFill>
                  </a:tcPr>
                </a:tc>
                <a:extLst>
                  <a:ext uri="{0D108BD9-81ED-4DB2-BD59-A6C34878D82A}">
                    <a16:rowId xmlns:a16="http://schemas.microsoft.com/office/drawing/2014/main" val="10000"/>
                  </a:ext>
                </a:extLst>
              </a:tr>
              <a:tr h="370840">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a:solidFill>
                            <a:srgbClr val="FF0000"/>
                          </a:solidFill>
                        </a:rPr>
                        <a:t>0</a:t>
                      </a:r>
                    </a:p>
                  </a:txBody>
                  <a:tcPr>
                    <a:solidFill>
                      <a:schemeClr val="bg1"/>
                    </a:solidFill>
                  </a:tcPr>
                </a:tc>
                <a:tc>
                  <a:txBody>
                    <a:bodyPr/>
                    <a:lstStyle/>
                    <a:p>
                      <a:pPr algn="ctr"/>
                      <a:r>
                        <a:rPr lang="en-US">
                          <a:solidFill>
                            <a:srgbClr val="FF0000"/>
                          </a:solidFill>
                        </a:rPr>
                        <a:t>0</a:t>
                      </a:r>
                    </a:p>
                  </a:txBody>
                  <a:tcPr>
                    <a:solidFill>
                      <a:schemeClr val="bg1"/>
                    </a:solidFill>
                  </a:tcPr>
                </a:tc>
                <a:extLst>
                  <a:ext uri="{0D108BD9-81ED-4DB2-BD59-A6C34878D82A}">
                    <a16:rowId xmlns:a16="http://schemas.microsoft.com/office/drawing/2014/main" val="10001"/>
                  </a:ext>
                </a:extLst>
              </a:tr>
              <a:tr h="370840">
                <a:tc>
                  <a:txBody>
                    <a:bodyPr/>
                    <a:lstStyle/>
                    <a:p>
                      <a:pPr algn="ctr"/>
                      <a:r>
                        <a:rPr lang="en-US" b="0">
                          <a:solidFill>
                            <a:schemeClr val="tx1">
                              <a:lumMod val="60000"/>
                              <a:lumOff val="40000"/>
                            </a:schemeClr>
                          </a:solidFill>
                        </a:rPr>
                        <a:t>1</a:t>
                      </a:r>
                    </a:p>
                  </a:txBody>
                  <a:tcPr>
                    <a:solidFill>
                      <a:schemeClr val="bg1"/>
                    </a:solidFill>
                  </a:tcPr>
                </a:tc>
                <a:tc>
                  <a:txBody>
                    <a:bodyPr/>
                    <a:lstStyle/>
                    <a:p>
                      <a:pPr algn="ctr"/>
                      <a:r>
                        <a:rPr lang="en-US">
                          <a:solidFill>
                            <a:srgbClr val="FF0000"/>
                          </a:solidFill>
                        </a:rPr>
                        <a:t>0</a:t>
                      </a:r>
                    </a:p>
                  </a:txBody>
                  <a:tcPr>
                    <a:solidFill>
                      <a:schemeClr val="bg1"/>
                    </a:solidFill>
                  </a:tcPr>
                </a:tc>
                <a:tc>
                  <a:txBody>
                    <a:bodyPr/>
                    <a:lstStyle/>
                    <a:p>
                      <a:pPr algn="ctr"/>
                      <a:r>
                        <a:rPr lang="en-US" b="1" u="none"/>
                        <a:t>1</a:t>
                      </a:r>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28790175"/>
              </p:ext>
            </p:extLst>
          </p:nvPr>
        </p:nvGraphicFramePr>
        <p:xfrm>
          <a:off x="4800600" y="3356992"/>
          <a:ext cx="3039429" cy="1112520"/>
        </p:xfrm>
        <a:graphic>
          <a:graphicData uri="http://schemas.openxmlformats.org/drawingml/2006/table">
            <a:tbl>
              <a:tblPr firstRow="1" bandRow="1">
                <a:tableStyleId>{E8B1032C-EA38-4F05-BA0D-38AFFFC7BED3}</a:tableStyleId>
              </a:tblPr>
              <a:tblGrid>
                <a:gridCol w="1051243">
                  <a:extLst>
                    <a:ext uri="{9D8B030D-6E8A-4147-A177-3AD203B41FA5}">
                      <a16:colId xmlns:a16="http://schemas.microsoft.com/office/drawing/2014/main" val="20000"/>
                    </a:ext>
                  </a:extLst>
                </a:gridCol>
                <a:gridCol w="1051243">
                  <a:extLst>
                    <a:ext uri="{9D8B030D-6E8A-4147-A177-3AD203B41FA5}">
                      <a16:colId xmlns:a16="http://schemas.microsoft.com/office/drawing/2014/main" val="20001"/>
                    </a:ext>
                  </a:extLst>
                </a:gridCol>
                <a:gridCol w="936943">
                  <a:extLst>
                    <a:ext uri="{9D8B030D-6E8A-4147-A177-3AD203B41FA5}">
                      <a16:colId xmlns:a16="http://schemas.microsoft.com/office/drawing/2014/main" val="20002"/>
                    </a:ext>
                  </a:extLst>
                </a:gridCol>
              </a:tblGrid>
              <a:tr h="370840">
                <a:tc>
                  <a:txBody>
                    <a:bodyPr/>
                    <a:lstStyle/>
                    <a:p>
                      <a:pPr algn="ctr"/>
                      <a:r>
                        <a:rPr lang="en-US"/>
                        <a:t>|</a:t>
                      </a:r>
                    </a:p>
                  </a:txBody>
                  <a:tcPr>
                    <a:solidFill>
                      <a:schemeClr val="accent2"/>
                    </a:solidFill>
                  </a:tcPr>
                </a:tc>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b="0">
                          <a:solidFill>
                            <a:schemeClr val="tx1">
                              <a:lumMod val="60000"/>
                              <a:lumOff val="40000"/>
                            </a:schemeClr>
                          </a:solidFill>
                        </a:rPr>
                        <a:t>1</a:t>
                      </a:r>
                    </a:p>
                  </a:txBody>
                  <a:tcPr>
                    <a:solidFill>
                      <a:schemeClr val="bg1"/>
                    </a:solidFill>
                  </a:tcPr>
                </a:tc>
                <a:extLst>
                  <a:ext uri="{0D108BD9-81ED-4DB2-BD59-A6C34878D82A}">
                    <a16:rowId xmlns:a16="http://schemas.microsoft.com/office/drawing/2014/main" val="10000"/>
                  </a:ext>
                </a:extLst>
              </a:tr>
              <a:tr h="370840">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a:solidFill>
                            <a:srgbClr val="FF0000"/>
                          </a:solidFill>
                        </a:rPr>
                        <a:t>0</a:t>
                      </a:r>
                    </a:p>
                  </a:txBody>
                  <a:tcPr>
                    <a:solidFill>
                      <a:schemeClr val="bg1"/>
                    </a:solidFill>
                  </a:tcPr>
                </a:tc>
                <a:tc>
                  <a:txBody>
                    <a:bodyPr/>
                    <a:lstStyle/>
                    <a:p>
                      <a:pPr algn="ctr"/>
                      <a:r>
                        <a:rPr lang="en-US" b="1" u="none"/>
                        <a:t>1</a:t>
                      </a:r>
                    </a:p>
                  </a:txBody>
                  <a:tcPr>
                    <a:solidFill>
                      <a:schemeClr val="bg1"/>
                    </a:solidFill>
                  </a:tcPr>
                </a:tc>
                <a:extLst>
                  <a:ext uri="{0D108BD9-81ED-4DB2-BD59-A6C34878D82A}">
                    <a16:rowId xmlns:a16="http://schemas.microsoft.com/office/drawing/2014/main" val="10001"/>
                  </a:ext>
                </a:extLst>
              </a:tr>
              <a:tr h="370840">
                <a:tc>
                  <a:txBody>
                    <a:bodyPr/>
                    <a:lstStyle/>
                    <a:p>
                      <a:pPr algn="ctr"/>
                      <a:r>
                        <a:rPr lang="en-US" b="0">
                          <a:solidFill>
                            <a:schemeClr val="tx1">
                              <a:lumMod val="60000"/>
                              <a:lumOff val="40000"/>
                            </a:schemeClr>
                          </a:solidFill>
                        </a:rPr>
                        <a:t>1</a:t>
                      </a:r>
                    </a:p>
                  </a:txBody>
                  <a:tcP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u="none"/>
                        <a:t>1</a:t>
                      </a:r>
                    </a:p>
                  </a:txBody>
                  <a:tcPr>
                    <a:solidFill>
                      <a:schemeClr val="bg1"/>
                    </a:solidFill>
                  </a:tcPr>
                </a:tc>
                <a:tc>
                  <a:txBody>
                    <a:bodyPr/>
                    <a:lstStyle/>
                    <a:p>
                      <a:pPr algn="ctr"/>
                      <a:r>
                        <a:rPr lang="en-US" b="1" u="none"/>
                        <a:t>1</a:t>
                      </a:r>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844723633"/>
              </p:ext>
            </p:extLst>
          </p:nvPr>
        </p:nvGraphicFramePr>
        <p:xfrm>
          <a:off x="914400" y="4653136"/>
          <a:ext cx="3039429" cy="1112520"/>
        </p:xfrm>
        <a:graphic>
          <a:graphicData uri="http://schemas.openxmlformats.org/drawingml/2006/table">
            <a:tbl>
              <a:tblPr firstRow="1" bandRow="1">
                <a:tableStyleId>{E8B1032C-EA38-4F05-BA0D-38AFFFC7BED3}</a:tableStyleId>
              </a:tblPr>
              <a:tblGrid>
                <a:gridCol w="1051243">
                  <a:extLst>
                    <a:ext uri="{9D8B030D-6E8A-4147-A177-3AD203B41FA5}">
                      <a16:colId xmlns:a16="http://schemas.microsoft.com/office/drawing/2014/main" val="20000"/>
                    </a:ext>
                  </a:extLst>
                </a:gridCol>
                <a:gridCol w="1051243">
                  <a:extLst>
                    <a:ext uri="{9D8B030D-6E8A-4147-A177-3AD203B41FA5}">
                      <a16:colId xmlns:a16="http://schemas.microsoft.com/office/drawing/2014/main" val="20001"/>
                    </a:ext>
                  </a:extLst>
                </a:gridCol>
                <a:gridCol w="936943">
                  <a:extLst>
                    <a:ext uri="{9D8B030D-6E8A-4147-A177-3AD203B41FA5}">
                      <a16:colId xmlns:a16="http://schemas.microsoft.com/office/drawing/2014/main" val="20002"/>
                    </a:ext>
                  </a:extLst>
                </a:gridCol>
              </a:tblGrid>
              <a:tr h="370840">
                <a:tc>
                  <a:txBody>
                    <a:bodyPr/>
                    <a:lstStyle/>
                    <a:p>
                      <a:pPr algn="ctr"/>
                      <a:r>
                        <a:rPr lang="en-US"/>
                        <a:t>^</a:t>
                      </a:r>
                    </a:p>
                  </a:txBody>
                  <a:tcPr>
                    <a:solidFill>
                      <a:schemeClr val="accent2"/>
                    </a:solidFill>
                  </a:tcPr>
                </a:tc>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b="0">
                          <a:solidFill>
                            <a:schemeClr val="tx1">
                              <a:lumMod val="60000"/>
                              <a:lumOff val="40000"/>
                            </a:schemeClr>
                          </a:solidFill>
                        </a:rPr>
                        <a:t>1</a:t>
                      </a:r>
                    </a:p>
                  </a:txBody>
                  <a:tcPr>
                    <a:solidFill>
                      <a:schemeClr val="bg1"/>
                    </a:solidFill>
                  </a:tcPr>
                </a:tc>
                <a:extLst>
                  <a:ext uri="{0D108BD9-81ED-4DB2-BD59-A6C34878D82A}">
                    <a16:rowId xmlns:a16="http://schemas.microsoft.com/office/drawing/2014/main" val="10000"/>
                  </a:ext>
                </a:extLst>
              </a:tr>
              <a:tr h="370840">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a:solidFill>
                            <a:srgbClr val="FF0000"/>
                          </a:solidFill>
                        </a:rPr>
                        <a:t>0</a:t>
                      </a:r>
                    </a:p>
                  </a:txBody>
                  <a:tcPr>
                    <a:solidFill>
                      <a:schemeClr val="bg1"/>
                    </a:solidFill>
                  </a:tcPr>
                </a:tc>
                <a:tc>
                  <a:txBody>
                    <a:bodyPr/>
                    <a:lstStyle/>
                    <a:p>
                      <a:pPr algn="ctr"/>
                      <a:r>
                        <a:rPr lang="en-US" b="1" u="none"/>
                        <a:t>1</a:t>
                      </a:r>
                    </a:p>
                  </a:txBody>
                  <a:tcPr>
                    <a:solidFill>
                      <a:schemeClr val="bg1"/>
                    </a:solidFill>
                  </a:tcPr>
                </a:tc>
                <a:extLst>
                  <a:ext uri="{0D108BD9-81ED-4DB2-BD59-A6C34878D82A}">
                    <a16:rowId xmlns:a16="http://schemas.microsoft.com/office/drawing/2014/main" val="10001"/>
                  </a:ext>
                </a:extLst>
              </a:tr>
              <a:tr h="370840">
                <a:tc>
                  <a:txBody>
                    <a:bodyPr/>
                    <a:lstStyle/>
                    <a:p>
                      <a:pPr algn="ctr"/>
                      <a:r>
                        <a:rPr lang="en-US" b="0">
                          <a:solidFill>
                            <a:schemeClr val="tx1">
                              <a:lumMod val="60000"/>
                              <a:lumOff val="40000"/>
                            </a:schemeClr>
                          </a:solidFill>
                        </a:rPr>
                        <a:t>1</a:t>
                      </a:r>
                    </a:p>
                  </a:txBody>
                  <a:tcP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u="none"/>
                        <a:t>1</a:t>
                      </a:r>
                    </a:p>
                  </a:txBody>
                  <a:tcPr>
                    <a:solidFill>
                      <a:schemeClr val="bg1"/>
                    </a:solidFill>
                  </a:tcPr>
                </a:tc>
                <a:tc>
                  <a:txBody>
                    <a:bodyPr/>
                    <a:lstStyle/>
                    <a:p>
                      <a:pPr algn="ctr"/>
                      <a:r>
                        <a:rPr lang="en-US">
                          <a:solidFill>
                            <a:srgbClr val="FF0000"/>
                          </a:solidFill>
                        </a:rPr>
                        <a:t>0</a:t>
                      </a:r>
                      <a:endParaRPr lang="en-US" u="sng">
                        <a:solidFill>
                          <a:srgbClr val="FF0000"/>
                        </a:solidFill>
                      </a:endParaRPr>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942634634"/>
              </p:ext>
            </p:extLst>
          </p:nvPr>
        </p:nvGraphicFramePr>
        <p:xfrm>
          <a:off x="4800600" y="4652392"/>
          <a:ext cx="3039429" cy="741680"/>
        </p:xfrm>
        <a:graphic>
          <a:graphicData uri="http://schemas.openxmlformats.org/drawingml/2006/table">
            <a:tbl>
              <a:tblPr firstRow="1" bandRow="1">
                <a:tableStyleId>{E8B1032C-EA38-4F05-BA0D-38AFFFC7BED3}</a:tableStyleId>
              </a:tblPr>
              <a:tblGrid>
                <a:gridCol w="1051243">
                  <a:extLst>
                    <a:ext uri="{9D8B030D-6E8A-4147-A177-3AD203B41FA5}">
                      <a16:colId xmlns:a16="http://schemas.microsoft.com/office/drawing/2014/main" val="20000"/>
                    </a:ext>
                  </a:extLst>
                </a:gridCol>
                <a:gridCol w="1051243">
                  <a:extLst>
                    <a:ext uri="{9D8B030D-6E8A-4147-A177-3AD203B41FA5}">
                      <a16:colId xmlns:a16="http://schemas.microsoft.com/office/drawing/2014/main" val="20001"/>
                    </a:ext>
                  </a:extLst>
                </a:gridCol>
                <a:gridCol w="936943">
                  <a:extLst>
                    <a:ext uri="{9D8B030D-6E8A-4147-A177-3AD203B41FA5}">
                      <a16:colId xmlns:a16="http://schemas.microsoft.com/office/drawing/2014/main" val="20002"/>
                    </a:ext>
                  </a:extLst>
                </a:gridCol>
              </a:tblGrid>
              <a:tr h="370840">
                <a:tc>
                  <a:txBody>
                    <a:bodyPr/>
                    <a:lstStyle/>
                    <a:p>
                      <a:pPr algn="ctr"/>
                      <a:r>
                        <a:rPr lang="en-US"/>
                        <a:t>~</a:t>
                      </a:r>
                    </a:p>
                  </a:txBody>
                  <a:tcPr>
                    <a:solidFill>
                      <a:schemeClr val="accent2"/>
                    </a:solidFill>
                  </a:tcPr>
                </a:tc>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b="0">
                          <a:solidFill>
                            <a:schemeClr val="tx1">
                              <a:lumMod val="60000"/>
                              <a:lumOff val="40000"/>
                            </a:schemeClr>
                          </a:solidFill>
                        </a:rPr>
                        <a:t>1</a:t>
                      </a:r>
                    </a:p>
                  </a:txBody>
                  <a:tcPr>
                    <a:solidFill>
                      <a:schemeClr val="bg1"/>
                    </a:solidFill>
                  </a:tcPr>
                </a:tc>
                <a:extLst>
                  <a:ext uri="{0D108BD9-81ED-4DB2-BD59-A6C34878D82A}">
                    <a16:rowId xmlns:a16="http://schemas.microsoft.com/office/drawing/2014/main" val="10000"/>
                  </a:ext>
                </a:extLst>
              </a:tr>
              <a:tr h="370840">
                <a:tc>
                  <a:txBody>
                    <a:bodyPr/>
                    <a:lstStyle/>
                    <a:p>
                      <a:pPr algn="ctr"/>
                      <a:endParaRPr lang="en-US" b="0">
                        <a:solidFill>
                          <a:schemeClr val="tx1">
                            <a:lumMod val="60000"/>
                            <a:lumOff val="40000"/>
                          </a:schemeClr>
                        </a:solidFill>
                      </a:endParaRP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algn="ctr"/>
                      <a:r>
                        <a:rPr lang="en-US" b="1" u="none"/>
                        <a:t>1</a:t>
                      </a:r>
                      <a:endParaRPr lang="en-US" b="1">
                        <a:solidFill>
                          <a:srgbClr val="FF0000"/>
                        </a:solidFill>
                      </a:endParaRPr>
                    </a:p>
                  </a:txBody>
                  <a:tcPr>
                    <a:solidFill>
                      <a:schemeClr val="bg1"/>
                    </a:solidFill>
                  </a:tcPr>
                </a:tc>
                <a:tc>
                  <a:txBody>
                    <a:bodyPr/>
                    <a:lstStyle/>
                    <a:p>
                      <a:pPr algn="ctr"/>
                      <a:r>
                        <a:rPr lang="en-US">
                          <a:solidFill>
                            <a:srgbClr val="FF0000"/>
                          </a:solidFill>
                        </a:rPr>
                        <a:t>0</a:t>
                      </a:r>
                      <a:endParaRPr lang="en-US" u="none"/>
                    </a:p>
                  </a:txBody>
                  <a:tcPr>
                    <a:solidFill>
                      <a:schemeClr val="bg1"/>
                    </a:solidFill>
                  </a:tcPr>
                </a:tc>
                <a:extLst>
                  <a:ext uri="{0D108BD9-81ED-4DB2-BD59-A6C34878D82A}">
                    <a16:rowId xmlns:a16="http://schemas.microsoft.com/office/drawing/2014/main" val="10001"/>
                  </a:ext>
                </a:extLst>
              </a:tr>
            </a:tbl>
          </a:graphicData>
        </a:graphic>
      </p:graphicFrame>
      <p:sp>
        <p:nvSpPr>
          <p:cNvPr id="2" name="Date Placeholder 1"/>
          <p:cNvSpPr>
            <a:spLocks noGrp="1"/>
          </p:cNvSpPr>
          <p:nvPr>
            <p:ph type="dt" sz="half" idx="10"/>
          </p:nvPr>
        </p:nvSpPr>
        <p:spPr/>
        <p:txBody>
          <a:bodyPr/>
          <a:lstStyle/>
          <a:p>
            <a:fld id="{55B020F6-F0B3-449C-8CFB-F876A057ECA1}" type="datetime1">
              <a:rPr lang="vi-VN" smtClean="0"/>
              <a:t>14/01/2024</a:t>
            </a:fld>
            <a:endParaRPr lang="vi-VN"/>
          </a:p>
        </p:txBody>
      </p:sp>
      <p:graphicFrame>
        <p:nvGraphicFramePr>
          <p:cNvPr id="11" name="Table 10"/>
          <p:cNvGraphicFramePr>
            <a:graphicFrameLocks noGrp="1"/>
          </p:cNvGraphicFramePr>
          <p:nvPr>
            <p:extLst>
              <p:ext uri="{D42A27DB-BD31-4B8C-83A1-F6EECF244321}">
                <p14:modId xmlns:p14="http://schemas.microsoft.com/office/powerpoint/2010/main" val="3714624404"/>
              </p:ext>
            </p:extLst>
          </p:nvPr>
        </p:nvGraphicFramePr>
        <p:xfrm>
          <a:off x="4844937" y="5567640"/>
          <a:ext cx="2967423" cy="792480"/>
        </p:xfrm>
        <a:graphic>
          <a:graphicData uri="http://schemas.openxmlformats.org/drawingml/2006/table">
            <a:tbl>
              <a:tblPr firstRow="1" bandRow="1">
                <a:tableStyleId>{E8B1032C-EA38-4F05-BA0D-38AFFFC7BED3}</a:tableStyleId>
              </a:tblPr>
              <a:tblGrid>
                <a:gridCol w="951199">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tblGrid>
              <a:tr h="370840">
                <a:tc>
                  <a:txBody>
                    <a:bodyPr/>
                    <a:lstStyle/>
                    <a:p>
                      <a:pPr algn="ctr"/>
                      <a:r>
                        <a:rPr lang="en-US" sz="2000" b="1"/>
                        <a:t>&gt;&gt;</a:t>
                      </a:r>
                    </a:p>
                  </a:txBody>
                  <a:tcPr/>
                </a:tc>
                <a:tc>
                  <a:txBody>
                    <a:bodyPr/>
                    <a:lstStyle/>
                    <a:p>
                      <a:pPr algn="ctr"/>
                      <a:r>
                        <a:rPr lang="en-US" sz="2000" b="1"/>
                        <a:t>a</a:t>
                      </a:r>
                      <a:r>
                        <a:rPr lang="en-US" sz="2000" b="1">
                          <a:solidFill>
                            <a:srgbClr val="FF0000"/>
                          </a:solidFill>
                        </a:rPr>
                        <a:t>&gt;&gt;</a:t>
                      </a:r>
                      <a:r>
                        <a:rPr lang="en-US" sz="2000" b="1"/>
                        <a:t>n = a/2</a:t>
                      </a:r>
                      <a:r>
                        <a:rPr lang="en-US" sz="2000" b="1" baseline="30000"/>
                        <a:t>n</a:t>
                      </a:r>
                      <a:endParaRPr lang="en-US" sz="2000" b="1">
                        <a:solidFill>
                          <a:schemeClr val="tx1">
                            <a:lumMod val="95000"/>
                            <a:lumOff val="5000"/>
                          </a:schemeClr>
                        </a:solidFill>
                      </a:endParaRPr>
                    </a:p>
                  </a:txBody>
                  <a:tcPr/>
                </a:tc>
                <a:extLst>
                  <a:ext uri="{0D108BD9-81ED-4DB2-BD59-A6C34878D82A}">
                    <a16:rowId xmlns:a16="http://schemas.microsoft.com/office/drawing/2014/main" val="10000"/>
                  </a:ext>
                </a:extLst>
              </a:tr>
              <a:tr h="370840">
                <a:tc>
                  <a:txBody>
                    <a:bodyPr/>
                    <a:lstStyle/>
                    <a:p>
                      <a:pPr algn="ctr"/>
                      <a:r>
                        <a:rPr lang="en-US" sz="2000" b="1" kern="1200"/>
                        <a:t>&lt;&lt;</a:t>
                      </a:r>
                      <a:endParaRPr lang="en-US" sz="2000" b="1" kern="1200">
                        <a:solidFill>
                          <a:schemeClr val="tx1"/>
                        </a:solidFill>
                        <a:latin typeface="+mn-lt"/>
                        <a:ea typeface="+mn-ea"/>
                        <a:cs typeface="+mn-cs"/>
                      </a:endParaRPr>
                    </a:p>
                  </a:txBody>
                  <a:tcPr/>
                </a:tc>
                <a:tc>
                  <a:txBody>
                    <a:bodyPr/>
                    <a:lstStyle/>
                    <a:p>
                      <a:pPr algn="ctr"/>
                      <a:r>
                        <a:rPr lang="en-US" sz="2000" b="1" kern="1200"/>
                        <a:t>a</a:t>
                      </a:r>
                      <a:r>
                        <a:rPr lang="en-US" sz="2000" b="1" kern="1200">
                          <a:solidFill>
                            <a:srgbClr val="FF0000"/>
                          </a:solidFill>
                        </a:rPr>
                        <a:t>&lt;&lt;</a:t>
                      </a:r>
                      <a:r>
                        <a:rPr lang="en-US" sz="2000" b="1" kern="1200"/>
                        <a:t>n = a*2</a:t>
                      </a:r>
                      <a:r>
                        <a:rPr lang="en-US" sz="2000" b="1" kern="1200" baseline="30000"/>
                        <a:t>n</a:t>
                      </a:r>
                      <a:endParaRPr lang="en-US" sz="2000" b="1" kern="1200">
                        <a:solidFill>
                          <a:schemeClr val="tx1"/>
                        </a:solidFill>
                        <a:latin typeface="+mn-lt"/>
                        <a:ea typeface="+mn-ea"/>
                        <a:cs typeface="+mn-cs"/>
                      </a:endParaRPr>
                    </a:p>
                  </a:txBody>
                  <a:tcPr/>
                </a:tc>
                <a:extLst>
                  <a:ext uri="{0D108BD9-81ED-4DB2-BD59-A6C34878D82A}">
                    <a16:rowId xmlns:a16="http://schemas.microsoft.com/office/drawing/2014/main" val="10001"/>
                  </a:ext>
                </a:extLst>
              </a:tr>
            </a:tbl>
          </a:graphicData>
        </a:graphic>
      </p:graphicFrame>
      <p:sp>
        <p:nvSpPr>
          <p:cNvPr id="13" name="Slide Number Placeholder 12"/>
          <p:cNvSpPr>
            <a:spLocks noGrp="1"/>
          </p:cNvSpPr>
          <p:nvPr>
            <p:ph type="sldNum" sz="quarter" idx="12"/>
          </p:nvPr>
        </p:nvSpPr>
        <p:spPr/>
        <p:txBody>
          <a:bodyPr/>
          <a:lstStyle/>
          <a:p>
            <a:fld id="{5AB95402-1E0D-474E-8D8C-CBE7F053639E}" type="slidenum">
              <a:rPr lang="vi-VN" smtClean="0"/>
              <a:pPr/>
              <a:t>35</a:t>
            </a:fld>
            <a:r>
              <a:rPr lang="vi-VN"/>
              <a:t>/59</a:t>
            </a:r>
          </a:p>
        </p:txBody>
      </p:sp>
    </p:spTree>
    <p:extLst>
      <p:ext uri="{BB962C8B-B14F-4D97-AF65-F5344CB8AC3E}">
        <p14:creationId xmlns:p14="http://schemas.microsoft.com/office/powerpoint/2010/main" val="83720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anim calcmode="lin" valueType="num">
                                      <p:cBhvr>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anim calcmode="lin" valueType="num">
                                      <p:cBhvr>
                                        <p:cTn id="2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t>Các toán tử trên bit</a:t>
            </a:r>
          </a:p>
        </p:txBody>
      </p:sp>
      <p:sp>
        <p:nvSpPr>
          <p:cNvPr id="3" name="Content Placeholder 2"/>
          <p:cNvSpPr>
            <a:spLocks noGrp="1"/>
          </p:cNvSpPr>
          <p:nvPr>
            <p:ph idx="1"/>
          </p:nvPr>
        </p:nvSpPr>
        <p:spPr/>
        <p:txBody>
          <a:bodyPr/>
          <a:lstStyle/>
          <a:p>
            <a:pPr>
              <a:defRPr/>
            </a:pPr>
            <a:r>
              <a:rPr lang="en-US"/>
              <a:t>Ví dụ</a:t>
            </a:r>
          </a:p>
        </p:txBody>
      </p:sp>
      <p:sp>
        <p:nvSpPr>
          <p:cNvPr id="32772"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5" name="Rounded Rectangle 4"/>
          <p:cNvSpPr/>
          <p:nvPr/>
        </p:nvSpPr>
        <p:spPr>
          <a:xfrm>
            <a:off x="685800" y="1700808"/>
            <a:ext cx="152400" cy="40386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1162000" y="1700808"/>
            <a:ext cx="7010400" cy="4094163"/>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void main()</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int a = 5;	// 0000 0000 0000 0101</a:t>
            </a:r>
          </a:p>
          <a:p>
            <a:r>
              <a:rPr lang="en-US" sz="2000" b="1">
                <a:latin typeface="Courier New" pitchFamily="49" charset="0"/>
                <a:cs typeface="Courier New" pitchFamily="49" charset="0"/>
              </a:rPr>
              <a:t>	int b = 6;	// 0000 0000 0000 0110</a:t>
            </a:r>
          </a:p>
          <a:p>
            <a:r>
              <a:rPr lang="en-US" sz="2000" b="1">
                <a:latin typeface="Courier New" pitchFamily="49" charset="0"/>
                <a:cs typeface="Courier New" pitchFamily="49" charset="0"/>
              </a:rPr>
              <a:t>	</a:t>
            </a:r>
          </a:p>
          <a:p>
            <a:r>
              <a:rPr lang="en-US" sz="2000" b="1">
                <a:latin typeface="Courier New" pitchFamily="49" charset="0"/>
                <a:cs typeface="Courier New" pitchFamily="49" charset="0"/>
              </a:rPr>
              <a:t>	int z1, z2, z3, z4, z5, z6;</a:t>
            </a:r>
          </a:p>
          <a:p>
            <a:r>
              <a:rPr lang="en-US" sz="2000" b="1">
                <a:latin typeface="Courier New" pitchFamily="49" charset="0"/>
                <a:cs typeface="Courier New" pitchFamily="49" charset="0"/>
              </a:rPr>
              <a:t>	z1 = a </a:t>
            </a:r>
            <a:r>
              <a:rPr lang="en-US" sz="2000" b="1">
                <a:solidFill>
                  <a:srgbClr val="FF0000"/>
                </a:solidFill>
                <a:latin typeface="Courier New" pitchFamily="49" charset="0"/>
                <a:cs typeface="Courier New" pitchFamily="49" charset="0"/>
              </a:rPr>
              <a:t>&amp;</a:t>
            </a:r>
            <a:r>
              <a:rPr lang="en-US" sz="2000" b="1">
                <a:latin typeface="Courier New" pitchFamily="49" charset="0"/>
                <a:cs typeface="Courier New" pitchFamily="49" charset="0"/>
              </a:rPr>
              <a:t> b;	// 0000 0000 0000 0100</a:t>
            </a:r>
          </a:p>
          <a:p>
            <a:r>
              <a:rPr lang="en-US" sz="2000" b="1">
                <a:latin typeface="Courier New" pitchFamily="49" charset="0"/>
                <a:cs typeface="Courier New" pitchFamily="49" charset="0"/>
              </a:rPr>
              <a:t>	z2 = a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 b;	// 0000 0000 0000 0111</a:t>
            </a:r>
          </a:p>
          <a:p>
            <a:r>
              <a:rPr lang="en-US" sz="2000" b="1">
                <a:latin typeface="Courier New" pitchFamily="49" charset="0"/>
                <a:cs typeface="Courier New" pitchFamily="49" charset="0"/>
              </a:rPr>
              <a:t>	z3 = a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 b;	// 0000 0000 0000 0011</a:t>
            </a:r>
          </a:p>
          <a:p>
            <a:r>
              <a:rPr lang="en-US" sz="2000" b="1">
                <a:latin typeface="Courier New" pitchFamily="49" charset="0"/>
                <a:cs typeface="Courier New" pitchFamily="49" charset="0"/>
              </a:rPr>
              <a:t>	z4 =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a;	// 1111 1111 1111 1010</a:t>
            </a:r>
          </a:p>
          <a:p>
            <a:r>
              <a:rPr lang="en-US" sz="2000" b="1">
                <a:latin typeface="Courier New" pitchFamily="49" charset="0"/>
                <a:cs typeface="Courier New" pitchFamily="49" charset="0"/>
              </a:rPr>
              <a:t>	z5 = a </a:t>
            </a:r>
            <a:r>
              <a:rPr lang="en-US" sz="2000" b="1">
                <a:solidFill>
                  <a:srgbClr val="FF0000"/>
                </a:solidFill>
                <a:latin typeface="Courier New" pitchFamily="49" charset="0"/>
                <a:cs typeface="Courier New" pitchFamily="49" charset="0"/>
              </a:rPr>
              <a:t>&gt;&gt;</a:t>
            </a:r>
            <a:r>
              <a:rPr lang="en-US" sz="2000" b="1">
                <a:latin typeface="Courier New" pitchFamily="49" charset="0"/>
                <a:cs typeface="Courier New" pitchFamily="49" charset="0"/>
              </a:rPr>
              <a:t> 2;// 0000 0000 0000 0001</a:t>
            </a:r>
          </a:p>
          <a:p>
            <a:r>
              <a:rPr lang="en-US" sz="2000" b="1">
                <a:latin typeface="Courier New" pitchFamily="49" charset="0"/>
                <a:cs typeface="Courier New" pitchFamily="49" charset="0"/>
              </a:rPr>
              <a:t>	z6 = a </a:t>
            </a:r>
            <a:r>
              <a:rPr lang="en-US" sz="2000" b="1">
                <a:solidFill>
                  <a:srgbClr val="FF0000"/>
                </a:solidFill>
                <a:latin typeface="Courier New" pitchFamily="49" charset="0"/>
                <a:cs typeface="Courier New" pitchFamily="49" charset="0"/>
              </a:rPr>
              <a:t>&lt;&lt;</a:t>
            </a:r>
            <a:r>
              <a:rPr lang="en-US" sz="2000" b="1">
                <a:latin typeface="Courier New" pitchFamily="49" charset="0"/>
                <a:cs typeface="Courier New" pitchFamily="49" charset="0"/>
              </a:rPr>
              <a:t> 2;// 0000 0000 0001 0100</a:t>
            </a:r>
          </a:p>
          <a:p>
            <a:r>
              <a:rPr lang="en-US" sz="2000" b="1">
                <a:latin typeface="Courier New" pitchFamily="49" charset="0"/>
                <a:cs typeface="Courier New" pitchFamily="49" charset="0"/>
              </a:rPr>
              <a:t>}</a:t>
            </a:r>
          </a:p>
        </p:txBody>
      </p:sp>
      <p:sp>
        <p:nvSpPr>
          <p:cNvPr id="2" name="Date Placeholder 1"/>
          <p:cNvSpPr>
            <a:spLocks noGrp="1"/>
          </p:cNvSpPr>
          <p:nvPr>
            <p:ph type="dt" sz="half" idx="10"/>
          </p:nvPr>
        </p:nvSpPr>
        <p:spPr/>
        <p:txBody>
          <a:bodyPr/>
          <a:lstStyle/>
          <a:p>
            <a:fld id="{A97F501A-6983-406E-B415-8BAA47C990BF}" type="datetime1">
              <a:rPr lang="vi-VN" smtClean="0"/>
              <a:t>14/01/2024</a:t>
            </a:fld>
            <a:endParaRPr lang="vi-VN"/>
          </a:p>
        </p:txBody>
      </p:sp>
      <p:sp>
        <p:nvSpPr>
          <p:cNvPr id="10" name="Slide Number Placeholder 9"/>
          <p:cNvSpPr>
            <a:spLocks noGrp="1"/>
          </p:cNvSpPr>
          <p:nvPr>
            <p:ph type="sldNum" sz="quarter" idx="12"/>
          </p:nvPr>
        </p:nvSpPr>
        <p:spPr/>
        <p:txBody>
          <a:bodyPr/>
          <a:lstStyle/>
          <a:p>
            <a:fld id="{5AB95402-1E0D-474E-8D8C-CBE7F053639E}" type="slidenum">
              <a:rPr lang="vi-VN" smtClean="0"/>
              <a:pPr/>
              <a:t>36</a:t>
            </a:fld>
            <a:r>
              <a:rPr lang="vi-VN"/>
              <a:t>/59</a:t>
            </a:r>
          </a:p>
        </p:txBody>
      </p:sp>
    </p:spTree>
    <p:extLst>
      <p:ext uri="{BB962C8B-B14F-4D97-AF65-F5344CB8AC3E}">
        <p14:creationId xmlns:p14="http://schemas.microsoft.com/office/powerpoint/2010/main" val="75986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t>Các toán tử quan hệ</a:t>
            </a:r>
          </a:p>
        </p:txBody>
      </p:sp>
      <p:sp>
        <p:nvSpPr>
          <p:cNvPr id="3" name="Content Placeholder 2"/>
          <p:cNvSpPr>
            <a:spLocks noGrp="1"/>
          </p:cNvSpPr>
          <p:nvPr>
            <p:ph idx="1"/>
          </p:nvPr>
        </p:nvSpPr>
        <p:spPr/>
        <p:txBody>
          <a:bodyPr/>
          <a:lstStyle/>
          <a:p>
            <a:pPr>
              <a:defRPr/>
            </a:pPr>
            <a:r>
              <a:rPr lang="en-US" dirty="0" err="1"/>
              <a:t>Các</a:t>
            </a:r>
            <a:r>
              <a:rPr lang="en-US" dirty="0"/>
              <a:t> </a:t>
            </a:r>
            <a:r>
              <a:rPr lang="en-US" dirty="0" err="1"/>
              <a:t>toán</a:t>
            </a:r>
            <a:r>
              <a:rPr lang="en-US" dirty="0"/>
              <a:t> </a:t>
            </a:r>
            <a:r>
              <a:rPr lang="en-US" dirty="0" err="1"/>
              <a:t>tử</a:t>
            </a:r>
            <a:r>
              <a:rPr lang="en-US" dirty="0"/>
              <a:t> </a:t>
            </a:r>
            <a:r>
              <a:rPr lang="en-US" dirty="0" err="1"/>
              <a:t>quan</a:t>
            </a:r>
            <a:r>
              <a:rPr lang="en-US" dirty="0"/>
              <a:t> </a:t>
            </a:r>
            <a:r>
              <a:rPr lang="en-US" dirty="0" err="1"/>
              <a:t>hệ</a:t>
            </a:r>
            <a:endParaRPr lang="en-US" dirty="0"/>
          </a:p>
          <a:p>
            <a:pPr lvl="1">
              <a:defRPr/>
            </a:pPr>
            <a:r>
              <a:rPr lang="en-US" dirty="0"/>
              <a:t>So </a:t>
            </a:r>
            <a:r>
              <a:rPr lang="en-US" dirty="0" err="1"/>
              <a:t>sánh</a:t>
            </a:r>
            <a:r>
              <a:rPr lang="en-US" dirty="0"/>
              <a:t> 2 </a:t>
            </a:r>
            <a:r>
              <a:rPr lang="en-US" dirty="0" err="1"/>
              <a:t>biểu</a:t>
            </a:r>
            <a:r>
              <a:rPr lang="en-US" dirty="0"/>
              <a:t> </a:t>
            </a:r>
            <a:r>
              <a:rPr lang="en-US" dirty="0" err="1"/>
              <a:t>thức</a:t>
            </a:r>
            <a:r>
              <a:rPr lang="en-US" dirty="0"/>
              <a:t> </a:t>
            </a:r>
            <a:r>
              <a:rPr lang="en-US" dirty="0" err="1"/>
              <a:t>với</a:t>
            </a:r>
            <a:r>
              <a:rPr lang="en-US" dirty="0"/>
              <a:t> </a:t>
            </a:r>
            <a:r>
              <a:rPr lang="en-US" dirty="0" err="1"/>
              <a:t>nhau</a:t>
            </a:r>
            <a:endParaRPr lang="en-US" dirty="0"/>
          </a:p>
          <a:p>
            <a:pPr lvl="1">
              <a:defRPr/>
            </a:pPr>
            <a:r>
              <a:rPr lang="en-US" dirty="0"/>
              <a:t>Cho </a:t>
            </a:r>
            <a:r>
              <a:rPr lang="en-US" dirty="0" err="1"/>
              <a:t>ra</a:t>
            </a:r>
            <a:r>
              <a:rPr lang="en-US" dirty="0"/>
              <a:t> </a:t>
            </a:r>
            <a:r>
              <a:rPr lang="en-US" dirty="0" err="1"/>
              <a:t>kết</a:t>
            </a:r>
            <a:r>
              <a:rPr lang="en-US" dirty="0"/>
              <a:t> </a:t>
            </a:r>
            <a:r>
              <a:rPr lang="en-US" dirty="0" err="1"/>
              <a:t>quả</a:t>
            </a:r>
            <a:r>
              <a:rPr lang="en-US" dirty="0"/>
              <a:t> 0 (hay false </a:t>
            </a:r>
            <a:r>
              <a:rPr lang="en-US" dirty="0" err="1"/>
              <a:t>nếu</a:t>
            </a:r>
            <a:r>
              <a:rPr lang="en-US" dirty="0"/>
              <a:t> </a:t>
            </a:r>
            <a:r>
              <a:rPr lang="en-US" dirty="0" err="1"/>
              <a:t>sai</a:t>
            </a:r>
            <a:r>
              <a:rPr lang="en-US" dirty="0"/>
              <a:t>) </a:t>
            </a:r>
            <a:r>
              <a:rPr lang="en-US" dirty="0" err="1"/>
              <a:t>hoặc</a:t>
            </a:r>
            <a:r>
              <a:rPr lang="en-US" dirty="0"/>
              <a:t> 1 (hay true </a:t>
            </a:r>
            <a:r>
              <a:rPr lang="en-US" dirty="0" err="1"/>
              <a:t>nếu</a:t>
            </a:r>
            <a:r>
              <a:rPr lang="en-US" dirty="0"/>
              <a:t> </a:t>
            </a:r>
            <a:r>
              <a:rPr lang="vi-VN" dirty="0"/>
              <a:t>đú</a:t>
            </a:r>
            <a:r>
              <a:rPr lang="en-US" dirty="0"/>
              <a:t>ng)  </a:t>
            </a:r>
          </a:p>
          <a:p>
            <a:pPr lvl="1">
              <a:defRPr/>
            </a:pPr>
            <a:r>
              <a:rPr lang="en-US" dirty="0">
                <a:solidFill>
                  <a:srgbClr val="FF0000"/>
                </a:solidFill>
              </a:rPr>
              <a:t>==</a:t>
            </a:r>
            <a:r>
              <a:rPr lang="en-US" dirty="0"/>
              <a:t>, </a:t>
            </a:r>
            <a:r>
              <a:rPr lang="en-US" dirty="0">
                <a:solidFill>
                  <a:srgbClr val="FF0000"/>
                </a:solidFill>
              </a:rPr>
              <a:t>&gt;</a:t>
            </a:r>
            <a:r>
              <a:rPr lang="en-US" dirty="0"/>
              <a:t>, </a:t>
            </a:r>
            <a:r>
              <a:rPr lang="en-US" dirty="0">
                <a:solidFill>
                  <a:srgbClr val="FF0000"/>
                </a:solidFill>
              </a:rPr>
              <a:t>&lt;</a:t>
            </a:r>
            <a:r>
              <a:rPr lang="en-US" dirty="0"/>
              <a:t>, </a:t>
            </a:r>
            <a:r>
              <a:rPr lang="en-US" dirty="0">
                <a:solidFill>
                  <a:srgbClr val="FF0000"/>
                </a:solidFill>
              </a:rPr>
              <a:t>&gt;=</a:t>
            </a:r>
            <a:r>
              <a:rPr lang="en-US" dirty="0"/>
              <a:t>, </a:t>
            </a:r>
            <a:r>
              <a:rPr lang="en-US" dirty="0">
                <a:solidFill>
                  <a:srgbClr val="FF0000"/>
                </a:solidFill>
              </a:rPr>
              <a:t>&lt;</a:t>
            </a:r>
            <a:r>
              <a:rPr lang="en-US" dirty="0"/>
              <a:t>, </a:t>
            </a:r>
            <a:r>
              <a:rPr lang="en-US" dirty="0">
                <a:solidFill>
                  <a:srgbClr val="FF0000"/>
                </a:solidFill>
              </a:rPr>
              <a:t>&lt;=</a:t>
            </a:r>
            <a:r>
              <a:rPr lang="en-US" dirty="0"/>
              <a:t>, </a:t>
            </a:r>
            <a:r>
              <a:rPr lang="en-US" dirty="0">
                <a:solidFill>
                  <a:srgbClr val="FF0000"/>
                </a:solidFill>
              </a:rPr>
              <a:t>!=</a:t>
            </a:r>
          </a:p>
          <a:p>
            <a:pPr>
              <a:defRPr/>
            </a:pPr>
            <a:r>
              <a:rPr lang="en-US" dirty="0" err="1"/>
              <a:t>Ví</a:t>
            </a:r>
            <a:r>
              <a:rPr lang="en-US" dirty="0"/>
              <a:t> </a:t>
            </a:r>
            <a:r>
              <a:rPr lang="en-US" dirty="0" err="1"/>
              <a:t>dụ</a:t>
            </a:r>
            <a:r>
              <a:rPr lang="en-US" dirty="0"/>
              <a:t> s =1     if(n==1)</a:t>
            </a:r>
          </a:p>
          <a:p>
            <a:pPr lvl="1">
              <a:defRPr/>
            </a:pPr>
            <a:r>
              <a:rPr lang="en-US" dirty="0"/>
              <a:t>s1 =(1 </a:t>
            </a:r>
            <a:r>
              <a:rPr lang="en-US" dirty="0">
                <a:solidFill>
                  <a:srgbClr val="FF0000"/>
                </a:solidFill>
              </a:rPr>
              <a:t>==</a:t>
            </a:r>
            <a:r>
              <a:rPr lang="en-US" dirty="0"/>
              <a:t> 2);	</a:t>
            </a:r>
          </a:p>
          <a:p>
            <a:pPr lvl="1">
              <a:defRPr/>
            </a:pPr>
            <a:r>
              <a:rPr lang="en-US" dirty="0"/>
              <a:t>s2 = (1 </a:t>
            </a:r>
            <a:r>
              <a:rPr lang="en-US" dirty="0">
                <a:solidFill>
                  <a:srgbClr val="FF0000"/>
                </a:solidFill>
              </a:rPr>
              <a:t>!=</a:t>
            </a:r>
            <a:r>
              <a:rPr lang="en-US" dirty="0"/>
              <a:t> 2);</a:t>
            </a:r>
          </a:p>
          <a:p>
            <a:pPr lvl="1">
              <a:defRPr/>
            </a:pPr>
            <a:r>
              <a:rPr lang="en-US" dirty="0"/>
              <a:t>s3 = (1 </a:t>
            </a:r>
            <a:r>
              <a:rPr lang="en-US" dirty="0">
                <a:solidFill>
                  <a:srgbClr val="FF0000"/>
                </a:solidFill>
              </a:rPr>
              <a:t>&gt;</a:t>
            </a:r>
            <a:r>
              <a:rPr lang="en-US" dirty="0"/>
              <a:t> 2);		s4 = (1 </a:t>
            </a:r>
            <a:r>
              <a:rPr lang="en-US" dirty="0">
                <a:solidFill>
                  <a:srgbClr val="FF0000"/>
                </a:solidFill>
              </a:rPr>
              <a:t>&gt;=</a:t>
            </a:r>
            <a:r>
              <a:rPr lang="en-US" dirty="0"/>
              <a:t> 2);</a:t>
            </a:r>
          </a:p>
          <a:p>
            <a:pPr lvl="1">
              <a:defRPr/>
            </a:pPr>
            <a:r>
              <a:rPr lang="en-US" dirty="0"/>
              <a:t>s5 = (1 </a:t>
            </a:r>
            <a:r>
              <a:rPr lang="en-US" dirty="0">
                <a:solidFill>
                  <a:srgbClr val="FF0000"/>
                </a:solidFill>
              </a:rPr>
              <a:t>&lt;</a:t>
            </a:r>
            <a:r>
              <a:rPr lang="en-US" dirty="0"/>
              <a:t> 2);		s6 = (1 </a:t>
            </a:r>
            <a:r>
              <a:rPr lang="en-US" dirty="0">
                <a:solidFill>
                  <a:srgbClr val="FF0000"/>
                </a:solidFill>
              </a:rPr>
              <a:t>&lt;=</a:t>
            </a:r>
            <a:r>
              <a:rPr lang="en-US" dirty="0"/>
              <a:t> 2);</a:t>
            </a:r>
          </a:p>
          <a:p>
            <a:pPr lvl="1">
              <a:defRPr/>
            </a:pPr>
            <a:endParaRPr lang="en-US" dirty="0"/>
          </a:p>
        </p:txBody>
      </p:sp>
      <p:sp>
        <p:nvSpPr>
          <p:cNvPr id="33796"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B044312C-7E15-4F27-A0DA-24356D37B336}"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37</a:t>
            </a:fld>
            <a:r>
              <a:rPr lang="vi-VN"/>
              <a:t>/59</a:t>
            </a:r>
          </a:p>
        </p:txBody>
      </p:sp>
    </p:spTree>
    <p:extLst>
      <p:ext uri="{BB962C8B-B14F-4D97-AF65-F5344CB8AC3E}">
        <p14:creationId xmlns:p14="http://schemas.microsoft.com/office/powerpoint/2010/main" val="2807243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anim calcmode="lin" valueType="num">
                                      <p:cBhvr>
                                        <p:cTn id="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anim calcmode="lin" valueType="num">
                                      <p:cBhvr>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anim calcmode="lin" valueType="num">
                                      <p:cBhvr>
                                        <p:cTn id="1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anim calcmode="lin" valueType="num">
                                      <p:cBhvr>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anim calcmode="lin" valueType="num">
                                      <p:cBhvr>
                                        <p:cTn id="32"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3"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t>Các toán tử logic</a:t>
            </a:r>
          </a:p>
        </p:txBody>
      </p:sp>
      <p:sp>
        <p:nvSpPr>
          <p:cNvPr id="3" name="Content Placeholder 2"/>
          <p:cNvSpPr>
            <a:spLocks noGrp="1"/>
          </p:cNvSpPr>
          <p:nvPr>
            <p:ph idx="1"/>
          </p:nvPr>
        </p:nvSpPr>
        <p:spPr/>
        <p:txBody>
          <a:bodyPr/>
          <a:lstStyle/>
          <a:p>
            <a:pPr>
              <a:defRPr/>
            </a:pPr>
            <a:r>
              <a:rPr lang="en-US" dirty="0" err="1"/>
              <a:t>Các</a:t>
            </a:r>
            <a:r>
              <a:rPr lang="en-US" dirty="0"/>
              <a:t> </a:t>
            </a:r>
            <a:r>
              <a:rPr lang="en-US" dirty="0" err="1"/>
              <a:t>toán</a:t>
            </a:r>
            <a:r>
              <a:rPr lang="en-US" dirty="0"/>
              <a:t> </a:t>
            </a:r>
            <a:r>
              <a:rPr lang="en-US" dirty="0" err="1"/>
              <a:t>tử</a:t>
            </a:r>
            <a:r>
              <a:rPr lang="en-US" dirty="0"/>
              <a:t> logic</a:t>
            </a:r>
          </a:p>
          <a:p>
            <a:pPr lvl="1">
              <a:defRPr/>
            </a:pPr>
            <a:r>
              <a:rPr lang="en-US" dirty="0" err="1"/>
              <a:t>Tổ</a:t>
            </a:r>
            <a:r>
              <a:rPr lang="en-US" dirty="0"/>
              <a:t> </a:t>
            </a:r>
            <a:r>
              <a:rPr lang="en-US" dirty="0" err="1"/>
              <a:t>hợp</a:t>
            </a:r>
            <a:r>
              <a:rPr lang="en-US" dirty="0"/>
              <a:t> </a:t>
            </a:r>
            <a:r>
              <a:rPr lang="en-US" dirty="0" err="1"/>
              <a:t>nhiều</a:t>
            </a:r>
            <a:r>
              <a:rPr lang="en-US" dirty="0"/>
              <a:t> </a:t>
            </a:r>
            <a:r>
              <a:rPr lang="en-US" dirty="0" err="1"/>
              <a:t>biểu</a:t>
            </a:r>
            <a:r>
              <a:rPr lang="en-US" dirty="0"/>
              <a:t> </a:t>
            </a:r>
            <a:r>
              <a:rPr lang="en-US" dirty="0" err="1"/>
              <a:t>thức</a:t>
            </a:r>
            <a:r>
              <a:rPr lang="en-US" dirty="0"/>
              <a:t> </a:t>
            </a:r>
            <a:r>
              <a:rPr lang="en-US" dirty="0" err="1"/>
              <a:t>quan</a:t>
            </a:r>
            <a:r>
              <a:rPr lang="en-US" dirty="0"/>
              <a:t> </a:t>
            </a:r>
            <a:r>
              <a:rPr lang="en-US" dirty="0" err="1"/>
              <a:t>hệ</a:t>
            </a:r>
            <a:r>
              <a:rPr lang="en-US" dirty="0"/>
              <a:t> </a:t>
            </a:r>
            <a:r>
              <a:rPr lang="en-US" dirty="0" err="1"/>
              <a:t>với</a:t>
            </a:r>
            <a:r>
              <a:rPr lang="en-US" dirty="0"/>
              <a:t> </a:t>
            </a:r>
            <a:r>
              <a:rPr lang="en-US" dirty="0" err="1"/>
              <a:t>nhau</a:t>
            </a:r>
            <a:r>
              <a:rPr lang="en-US" dirty="0"/>
              <a:t>.</a:t>
            </a:r>
          </a:p>
          <a:p>
            <a:pPr lvl="1">
              <a:defRPr/>
            </a:pPr>
            <a:r>
              <a:rPr lang="en-US" dirty="0">
                <a:solidFill>
                  <a:srgbClr val="FF0000"/>
                </a:solidFill>
              </a:rPr>
              <a:t>&amp;&amp;</a:t>
            </a:r>
            <a:r>
              <a:rPr lang="en-US" dirty="0"/>
              <a:t> (and), </a:t>
            </a:r>
            <a:r>
              <a:rPr lang="en-US" dirty="0">
                <a:solidFill>
                  <a:srgbClr val="FF0000"/>
                </a:solidFill>
              </a:rPr>
              <a:t>||</a:t>
            </a:r>
            <a:r>
              <a:rPr lang="en-US" dirty="0"/>
              <a:t> (or), </a:t>
            </a:r>
            <a:r>
              <a:rPr lang="en-US" dirty="0">
                <a:solidFill>
                  <a:srgbClr val="FF0000"/>
                </a:solidFill>
              </a:rPr>
              <a:t>!</a:t>
            </a:r>
            <a:r>
              <a:rPr lang="en-US" dirty="0"/>
              <a:t> (not)</a:t>
            </a:r>
          </a:p>
          <a:p>
            <a:pPr lvl="1">
              <a:defRPr/>
            </a:pPr>
            <a:endParaRPr lang="en-US" dirty="0"/>
          </a:p>
          <a:p>
            <a:pPr lvl="1">
              <a:defRPr/>
            </a:pPr>
            <a:endParaRPr lang="en-US" dirty="0"/>
          </a:p>
          <a:p>
            <a:pPr lvl="1">
              <a:defRPr/>
            </a:pPr>
            <a:endParaRPr lang="en-US" dirty="0"/>
          </a:p>
          <a:p>
            <a:pPr lvl="1">
              <a:defRPr/>
            </a:pPr>
            <a:r>
              <a:rPr lang="en-US" dirty="0" err="1"/>
              <a:t>Ví</a:t>
            </a:r>
            <a:r>
              <a:rPr lang="en-US" dirty="0"/>
              <a:t> </a:t>
            </a:r>
            <a:r>
              <a:rPr lang="en-US" dirty="0" err="1"/>
              <a:t>dụ</a:t>
            </a:r>
            <a:endParaRPr lang="en-US" dirty="0"/>
          </a:p>
          <a:p>
            <a:pPr lvl="2">
              <a:defRPr/>
            </a:pPr>
            <a:r>
              <a:rPr lang="en-US" dirty="0"/>
              <a:t>s1 = (1 == 2) </a:t>
            </a:r>
            <a:r>
              <a:rPr lang="en-US" dirty="0">
                <a:solidFill>
                  <a:srgbClr val="FF0000"/>
                </a:solidFill>
              </a:rPr>
              <a:t>&amp;&amp;</a:t>
            </a:r>
            <a:r>
              <a:rPr lang="en-US" dirty="0"/>
              <a:t> (3 &gt; 4);</a:t>
            </a:r>
          </a:p>
          <a:p>
            <a:pPr lvl="2">
              <a:defRPr/>
            </a:pPr>
            <a:r>
              <a:rPr lang="en-US" dirty="0"/>
              <a:t>s2 = (1 &gt; 2) </a:t>
            </a:r>
            <a:r>
              <a:rPr lang="en-US" dirty="0">
                <a:solidFill>
                  <a:srgbClr val="FF0000"/>
                </a:solidFill>
              </a:rPr>
              <a:t>||</a:t>
            </a:r>
            <a:r>
              <a:rPr lang="en-US" dirty="0"/>
              <a:t> (3 &gt; 4);</a:t>
            </a:r>
          </a:p>
          <a:p>
            <a:pPr lvl="2">
              <a:defRPr/>
            </a:pPr>
            <a:r>
              <a:rPr lang="en-US" dirty="0"/>
              <a:t>s3 = </a:t>
            </a:r>
            <a:r>
              <a:rPr lang="en-US" dirty="0">
                <a:solidFill>
                  <a:srgbClr val="FF0000"/>
                </a:solidFill>
              </a:rPr>
              <a:t>!</a:t>
            </a:r>
            <a:r>
              <a:rPr lang="en-US" dirty="0"/>
              <a:t>(1 &gt; 2);</a:t>
            </a:r>
          </a:p>
        </p:txBody>
      </p:sp>
      <p:sp>
        <p:nvSpPr>
          <p:cNvPr id="34820" name="Footer Placeholder 3"/>
          <p:cNvSpPr>
            <a:spLocks noGrp="1"/>
          </p:cNvSpPr>
          <p:nvPr>
            <p:ph type="ftr" sz="quarter" idx="11"/>
          </p:nvPr>
        </p:nvSpPr>
        <p:spPr>
          <a:noFill/>
        </p:spPr>
        <p:txBody>
          <a:bodyPr/>
          <a:lstStyle/>
          <a:p>
            <a:r>
              <a:rPr lang="vi-VN"/>
              <a:t>Chương 2 - Các phần tử cơ bản của ngôn ngữ C</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800209798"/>
              </p:ext>
            </p:extLst>
          </p:nvPr>
        </p:nvGraphicFramePr>
        <p:xfrm>
          <a:off x="1115616" y="2636912"/>
          <a:ext cx="3039429" cy="1112520"/>
        </p:xfrm>
        <a:graphic>
          <a:graphicData uri="http://schemas.openxmlformats.org/drawingml/2006/table">
            <a:tbl>
              <a:tblPr firstRow="1" bandRow="1">
                <a:tableStyleId>{E8B1032C-EA38-4F05-BA0D-38AFFFC7BED3}</a:tableStyleId>
              </a:tblPr>
              <a:tblGrid>
                <a:gridCol w="1051243">
                  <a:extLst>
                    <a:ext uri="{9D8B030D-6E8A-4147-A177-3AD203B41FA5}">
                      <a16:colId xmlns:a16="http://schemas.microsoft.com/office/drawing/2014/main" val="20000"/>
                    </a:ext>
                  </a:extLst>
                </a:gridCol>
                <a:gridCol w="1051243">
                  <a:extLst>
                    <a:ext uri="{9D8B030D-6E8A-4147-A177-3AD203B41FA5}">
                      <a16:colId xmlns:a16="http://schemas.microsoft.com/office/drawing/2014/main" val="20001"/>
                    </a:ext>
                  </a:extLst>
                </a:gridCol>
                <a:gridCol w="936943">
                  <a:extLst>
                    <a:ext uri="{9D8B030D-6E8A-4147-A177-3AD203B41FA5}">
                      <a16:colId xmlns:a16="http://schemas.microsoft.com/office/drawing/2014/main" val="20002"/>
                    </a:ext>
                  </a:extLst>
                </a:gridCol>
              </a:tblGrid>
              <a:tr h="370840">
                <a:tc>
                  <a:txBody>
                    <a:bodyPr/>
                    <a:lstStyle/>
                    <a:p>
                      <a:pPr algn="ctr"/>
                      <a:r>
                        <a:rPr lang="en-US"/>
                        <a:t>&amp;&amp;</a:t>
                      </a:r>
                    </a:p>
                  </a:txBody>
                  <a:tcPr>
                    <a:solidFill>
                      <a:schemeClr val="accent2"/>
                    </a:solidFill>
                  </a:tcPr>
                </a:tc>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b="0">
                          <a:solidFill>
                            <a:schemeClr val="tx1">
                              <a:lumMod val="60000"/>
                              <a:lumOff val="40000"/>
                            </a:schemeClr>
                          </a:solidFill>
                        </a:rPr>
                        <a:t>1</a:t>
                      </a:r>
                    </a:p>
                  </a:txBody>
                  <a:tcPr>
                    <a:solidFill>
                      <a:schemeClr val="bg1"/>
                    </a:solidFill>
                  </a:tcPr>
                </a:tc>
                <a:extLst>
                  <a:ext uri="{0D108BD9-81ED-4DB2-BD59-A6C34878D82A}">
                    <a16:rowId xmlns:a16="http://schemas.microsoft.com/office/drawing/2014/main" val="10000"/>
                  </a:ext>
                </a:extLst>
              </a:tr>
              <a:tr h="370840">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a:solidFill>
                            <a:srgbClr val="FF0000"/>
                          </a:solidFill>
                        </a:rPr>
                        <a:t>0</a:t>
                      </a:r>
                    </a:p>
                  </a:txBody>
                  <a:tcPr>
                    <a:solidFill>
                      <a:schemeClr val="bg1"/>
                    </a:solidFill>
                  </a:tcPr>
                </a:tc>
                <a:tc>
                  <a:txBody>
                    <a:bodyPr/>
                    <a:lstStyle/>
                    <a:p>
                      <a:pPr algn="ctr"/>
                      <a:r>
                        <a:rPr lang="en-US">
                          <a:solidFill>
                            <a:srgbClr val="FF0000"/>
                          </a:solidFill>
                        </a:rPr>
                        <a:t>0</a:t>
                      </a:r>
                    </a:p>
                  </a:txBody>
                  <a:tcPr>
                    <a:solidFill>
                      <a:schemeClr val="bg1"/>
                    </a:solidFill>
                  </a:tcPr>
                </a:tc>
                <a:extLst>
                  <a:ext uri="{0D108BD9-81ED-4DB2-BD59-A6C34878D82A}">
                    <a16:rowId xmlns:a16="http://schemas.microsoft.com/office/drawing/2014/main" val="10001"/>
                  </a:ext>
                </a:extLst>
              </a:tr>
              <a:tr h="370840">
                <a:tc>
                  <a:txBody>
                    <a:bodyPr/>
                    <a:lstStyle/>
                    <a:p>
                      <a:pPr algn="ctr"/>
                      <a:r>
                        <a:rPr lang="en-US" b="0">
                          <a:solidFill>
                            <a:schemeClr val="tx1">
                              <a:lumMod val="60000"/>
                              <a:lumOff val="40000"/>
                            </a:schemeClr>
                          </a:solidFill>
                        </a:rPr>
                        <a:t>1</a:t>
                      </a:r>
                    </a:p>
                  </a:txBody>
                  <a:tcPr>
                    <a:solidFill>
                      <a:schemeClr val="bg1"/>
                    </a:solidFill>
                  </a:tcPr>
                </a:tc>
                <a:tc>
                  <a:txBody>
                    <a:bodyPr/>
                    <a:lstStyle/>
                    <a:p>
                      <a:pPr algn="ctr"/>
                      <a:r>
                        <a:rPr lang="en-US">
                          <a:solidFill>
                            <a:srgbClr val="FF0000"/>
                          </a:solidFill>
                        </a:rPr>
                        <a:t>0</a:t>
                      </a:r>
                    </a:p>
                  </a:txBody>
                  <a:tcPr>
                    <a:solidFill>
                      <a:schemeClr val="bg1"/>
                    </a:solidFill>
                  </a:tcPr>
                </a:tc>
                <a:tc>
                  <a:txBody>
                    <a:bodyPr/>
                    <a:lstStyle/>
                    <a:p>
                      <a:pPr algn="ctr"/>
                      <a:r>
                        <a:rPr lang="en-US" b="1" u="none"/>
                        <a:t>1</a:t>
                      </a:r>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09994895"/>
              </p:ext>
            </p:extLst>
          </p:nvPr>
        </p:nvGraphicFramePr>
        <p:xfrm>
          <a:off x="4644008" y="2636912"/>
          <a:ext cx="3039429" cy="1112520"/>
        </p:xfrm>
        <a:graphic>
          <a:graphicData uri="http://schemas.openxmlformats.org/drawingml/2006/table">
            <a:tbl>
              <a:tblPr firstRow="1" bandRow="1">
                <a:tableStyleId>{E8B1032C-EA38-4F05-BA0D-38AFFFC7BED3}</a:tableStyleId>
              </a:tblPr>
              <a:tblGrid>
                <a:gridCol w="1051243">
                  <a:extLst>
                    <a:ext uri="{9D8B030D-6E8A-4147-A177-3AD203B41FA5}">
                      <a16:colId xmlns:a16="http://schemas.microsoft.com/office/drawing/2014/main" val="20000"/>
                    </a:ext>
                  </a:extLst>
                </a:gridCol>
                <a:gridCol w="1051243">
                  <a:extLst>
                    <a:ext uri="{9D8B030D-6E8A-4147-A177-3AD203B41FA5}">
                      <a16:colId xmlns:a16="http://schemas.microsoft.com/office/drawing/2014/main" val="20001"/>
                    </a:ext>
                  </a:extLst>
                </a:gridCol>
                <a:gridCol w="936943">
                  <a:extLst>
                    <a:ext uri="{9D8B030D-6E8A-4147-A177-3AD203B41FA5}">
                      <a16:colId xmlns:a16="http://schemas.microsoft.com/office/drawing/2014/main" val="20002"/>
                    </a:ext>
                  </a:extLst>
                </a:gridCol>
              </a:tblGrid>
              <a:tr h="370840">
                <a:tc>
                  <a:txBody>
                    <a:bodyPr/>
                    <a:lstStyle/>
                    <a:p>
                      <a:pPr algn="ctr"/>
                      <a:r>
                        <a:rPr lang="en-US"/>
                        <a:t>||</a:t>
                      </a:r>
                    </a:p>
                  </a:txBody>
                  <a:tcPr>
                    <a:solidFill>
                      <a:schemeClr val="accent2"/>
                    </a:solidFill>
                  </a:tcPr>
                </a:tc>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b="0">
                          <a:solidFill>
                            <a:schemeClr val="tx1">
                              <a:lumMod val="60000"/>
                              <a:lumOff val="40000"/>
                            </a:schemeClr>
                          </a:solidFill>
                        </a:rPr>
                        <a:t>1</a:t>
                      </a:r>
                    </a:p>
                  </a:txBody>
                  <a:tcPr>
                    <a:solidFill>
                      <a:schemeClr val="bg1"/>
                    </a:solidFill>
                  </a:tcPr>
                </a:tc>
                <a:extLst>
                  <a:ext uri="{0D108BD9-81ED-4DB2-BD59-A6C34878D82A}">
                    <a16:rowId xmlns:a16="http://schemas.microsoft.com/office/drawing/2014/main" val="10000"/>
                  </a:ext>
                </a:extLst>
              </a:tr>
              <a:tr h="370840">
                <a:tc>
                  <a:txBody>
                    <a:bodyPr/>
                    <a:lstStyle/>
                    <a:p>
                      <a:pPr algn="ctr"/>
                      <a:r>
                        <a:rPr lang="en-US" b="0">
                          <a:solidFill>
                            <a:schemeClr val="tx1">
                              <a:lumMod val="60000"/>
                              <a:lumOff val="40000"/>
                            </a:schemeClr>
                          </a:solidFill>
                        </a:rPr>
                        <a:t>0</a:t>
                      </a:r>
                    </a:p>
                  </a:txBody>
                  <a:tcPr>
                    <a:solidFill>
                      <a:schemeClr val="bg1"/>
                    </a:solidFill>
                  </a:tcPr>
                </a:tc>
                <a:tc>
                  <a:txBody>
                    <a:bodyPr/>
                    <a:lstStyle/>
                    <a:p>
                      <a:pPr algn="ctr"/>
                      <a:r>
                        <a:rPr lang="en-US">
                          <a:solidFill>
                            <a:srgbClr val="FF0000"/>
                          </a:solidFill>
                        </a:rPr>
                        <a:t>0</a:t>
                      </a:r>
                    </a:p>
                  </a:txBody>
                  <a:tcPr>
                    <a:solidFill>
                      <a:schemeClr val="bg1"/>
                    </a:solidFill>
                  </a:tcPr>
                </a:tc>
                <a:tc>
                  <a:txBody>
                    <a:bodyPr/>
                    <a:lstStyle/>
                    <a:p>
                      <a:pPr algn="ctr"/>
                      <a:r>
                        <a:rPr lang="en-US" b="1" u="none"/>
                        <a:t>1</a:t>
                      </a:r>
                    </a:p>
                  </a:txBody>
                  <a:tcPr>
                    <a:solidFill>
                      <a:schemeClr val="bg1"/>
                    </a:solidFill>
                  </a:tcPr>
                </a:tc>
                <a:extLst>
                  <a:ext uri="{0D108BD9-81ED-4DB2-BD59-A6C34878D82A}">
                    <a16:rowId xmlns:a16="http://schemas.microsoft.com/office/drawing/2014/main" val="10001"/>
                  </a:ext>
                </a:extLst>
              </a:tr>
              <a:tr h="370840">
                <a:tc>
                  <a:txBody>
                    <a:bodyPr/>
                    <a:lstStyle/>
                    <a:p>
                      <a:pPr algn="ctr"/>
                      <a:r>
                        <a:rPr lang="en-US" b="0">
                          <a:solidFill>
                            <a:schemeClr val="tx1">
                              <a:lumMod val="60000"/>
                              <a:lumOff val="40000"/>
                            </a:schemeClr>
                          </a:solidFill>
                        </a:rPr>
                        <a:t>1</a:t>
                      </a:r>
                    </a:p>
                  </a:txBody>
                  <a:tcP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u="none"/>
                        <a:t>1</a:t>
                      </a:r>
                    </a:p>
                  </a:txBody>
                  <a:tcPr>
                    <a:solidFill>
                      <a:schemeClr val="bg1"/>
                    </a:solidFill>
                  </a:tcPr>
                </a:tc>
                <a:tc>
                  <a:txBody>
                    <a:bodyPr/>
                    <a:lstStyle/>
                    <a:p>
                      <a:pPr algn="ctr"/>
                      <a:r>
                        <a:rPr lang="en-US" b="1" u="none"/>
                        <a:t>1</a:t>
                      </a:r>
                    </a:p>
                  </a:txBody>
                  <a:tcPr>
                    <a:solidFill>
                      <a:schemeClr val="bg1"/>
                    </a:solidFill>
                  </a:tcPr>
                </a:tc>
                <a:extLst>
                  <a:ext uri="{0D108BD9-81ED-4DB2-BD59-A6C34878D82A}">
                    <a16:rowId xmlns:a16="http://schemas.microsoft.com/office/drawing/2014/main" val="10002"/>
                  </a:ext>
                </a:extLst>
              </a:tr>
            </a:tbl>
          </a:graphicData>
        </a:graphic>
      </p:graphicFrame>
      <p:sp>
        <p:nvSpPr>
          <p:cNvPr id="2" name="Date Placeholder 1"/>
          <p:cNvSpPr>
            <a:spLocks noGrp="1"/>
          </p:cNvSpPr>
          <p:nvPr>
            <p:ph type="dt" sz="half" idx="10"/>
          </p:nvPr>
        </p:nvSpPr>
        <p:spPr/>
        <p:txBody>
          <a:bodyPr/>
          <a:lstStyle/>
          <a:p>
            <a:fld id="{0805E263-BF48-4D20-B831-BAECAFCA8F3A}" type="datetime1">
              <a:rPr lang="vi-VN" smtClean="0"/>
              <a:t>14/01/2024</a:t>
            </a:fld>
            <a:endParaRPr lang="vi-VN"/>
          </a:p>
        </p:txBody>
      </p:sp>
      <p:sp>
        <p:nvSpPr>
          <p:cNvPr id="10" name="Slide Number Placeholder 9"/>
          <p:cNvSpPr>
            <a:spLocks noGrp="1"/>
          </p:cNvSpPr>
          <p:nvPr>
            <p:ph type="sldNum" sz="quarter" idx="12"/>
          </p:nvPr>
        </p:nvSpPr>
        <p:spPr/>
        <p:txBody>
          <a:bodyPr/>
          <a:lstStyle/>
          <a:p>
            <a:fld id="{5AB95402-1E0D-474E-8D8C-CBE7F053639E}" type="slidenum">
              <a:rPr lang="vi-VN" smtClean="0"/>
              <a:pPr/>
              <a:t>38</a:t>
            </a:fld>
            <a:r>
              <a:rPr lang="vi-VN"/>
              <a:t>/59</a:t>
            </a:r>
          </a:p>
        </p:txBody>
      </p:sp>
    </p:spTree>
    <p:extLst>
      <p:ext uri="{BB962C8B-B14F-4D97-AF65-F5344CB8AC3E}">
        <p14:creationId xmlns:p14="http://schemas.microsoft.com/office/powerpoint/2010/main" val="362768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anim calcmode="lin" valueType="num">
                                      <p:cBhvr>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anim calcmode="lin" valueType="num">
                                      <p:cBhvr>
                                        <p:cTn id="3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anim calcmode="lin" valueType="num">
                                      <p:cBhvr>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8"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anim calcmode="lin" valueType="num">
                                      <p:cBhvr>
                                        <p:cTn id="44"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5" dur="5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t>Toán tử </a:t>
            </a:r>
            <a:r>
              <a:rPr lang="vi-VN"/>
              <a:t>đ</a:t>
            </a:r>
            <a:r>
              <a:rPr lang="en-US"/>
              <a:t>iều kiện</a:t>
            </a:r>
          </a:p>
        </p:txBody>
      </p:sp>
      <p:sp>
        <p:nvSpPr>
          <p:cNvPr id="3" name="Content Placeholder 2"/>
          <p:cNvSpPr>
            <a:spLocks noGrp="1"/>
          </p:cNvSpPr>
          <p:nvPr>
            <p:ph idx="1"/>
          </p:nvPr>
        </p:nvSpPr>
        <p:spPr/>
        <p:txBody>
          <a:bodyPr/>
          <a:lstStyle/>
          <a:p>
            <a:pPr>
              <a:defRPr/>
            </a:pPr>
            <a:r>
              <a:rPr lang="en-US" dirty="0" err="1"/>
              <a:t>Toán</a:t>
            </a:r>
            <a:r>
              <a:rPr lang="en-US" dirty="0"/>
              <a:t> </a:t>
            </a:r>
            <a:r>
              <a:rPr lang="en-US" dirty="0" err="1"/>
              <a:t>tử</a:t>
            </a:r>
            <a:r>
              <a:rPr lang="en-US" dirty="0"/>
              <a:t> </a:t>
            </a:r>
            <a:r>
              <a:rPr lang="vi-VN" dirty="0"/>
              <a:t>đ</a:t>
            </a:r>
            <a:r>
              <a:rPr lang="en-US" dirty="0" err="1"/>
              <a:t>iều</a:t>
            </a:r>
            <a:r>
              <a:rPr lang="en-US" dirty="0"/>
              <a:t> </a:t>
            </a:r>
            <a:r>
              <a:rPr lang="en-US" dirty="0" err="1"/>
              <a:t>kiện</a:t>
            </a:r>
            <a:endParaRPr lang="en-US" dirty="0"/>
          </a:p>
          <a:p>
            <a:pPr lvl="1">
              <a:defRPr/>
            </a:pPr>
            <a:r>
              <a:rPr lang="en-US" dirty="0" err="1"/>
              <a:t>Đây</a:t>
            </a:r>
            <a:r>
              <a:rPr lang="en-US" dirty="0"/>
              <a:t> </a:t>
            </a:r>
            <a:r>
              <a:rPr lang="en-US" dirty="0" err="1"/>
              <a:t>là</a:t>
            </a:r>
            <a:r>
              <a:rPr lang="en-US" dirty="0"/>
              <a:t> </a:t>
            </a:r>
            <a:r>
              <a:rPr lang="en-US" dirty="0" err="1"/>
              <a:t>toán</a:t>
            </a:r>
            <a:r>
              <a:rPr lang="en-US" dirty="0"/>
              <a:t> </a:t>
            </a:r>
            <a:r>
              <a:rPr lang="en-US" dirty="0" err="1"/>
              <a:t>tử</a:t>
            </a:r>
            <a:r>
              <a:rPr lang="en-US" dirty="0"/>
              <a:t> 3 </a:t>
            </a:r>
            <a:r>
              <a:rPr lang="en-US" dirty="0" err="1"/>
              <a:t>ngôi</a:t>
            </a:r>
            <a:r>
              <a:rPr lang="en-US" dirty="0"/>
              <a:t> (</a:t>
            </a:r>
            <a:r>
              <a:rPr lang="en-US" dirty="0" err="1"/>
              <a:t>gồm</a:t>
            </a:r>
            <a:r>
              <a:rPr lang="en-US" dirty="0"/>
              <a:t> </a:t>
            </a:r>
            <a:r>
              <a:rPr lang="en-US" dirty="0" err="1"/>
              <a:t>có</a:t>
            </a:r>
            <a:r>
              <a:rPr lang="en-US" dirty="0"/>
              <a:t> 3 </a:t>
            </a:r>
            <a:r>
              <a:rPr lang="en-US" dirty="0" err="1"/>
              <a:t>toán</a:t>
            </a:r>
            <a:r>
              <a:rPr lang="en-US" dirty="0"/>
              <a:t> </a:t>
            </a:r>
            <a:r>
              <a:rPr lang="en-US" dirty="0" err="1"/>
              <a:t>hạng</a:t>
            </a:r>
            <a:r>
              <a:rPr lang="en-US" dirty="0"/>
              <a:t>)</a:t>
            </a:r>
          </a:p>
          <a:p>
            <a:pPr lvl="1">
              <a:defRPr/>
            </a:pPr>
            <a:r>
              <a:rPr lang="en-US" dirty="0"/>
              <a:t>&lt;</a:t>
            </a:r>
            <a:r>
              <a:rPr lang="en-US" dirty="0" err="1"/>
              <a:t>biểu</a:t>
            </a:r>
            <a:r>
              <a:rPr lang="en-US" dirty="0"/>
              <a:t> </a:t>
            </a:r>
            <a:r>
              <a:rPr lang="en-US" dirty="0" err="1"/>
              <a:t>thức</a:t>
            </a:r>
            <a:r>
              <a:rPr lang="en-US" dirty="0"/>
              <a:t> 1&gt; </a:t>
            </a:r>
            <a:r>
              <a:rPr lang="en-US" dirty="0">
                <a:solidFill>
                  <a:srgbClr val="FF0000"/>
                </a:solidFill>
              </a:rPr>
              <a:t>?</a:t>
            </a:r>
            <a:r>
              <a:rPr lang="en-US" dirty="0"/>
              <a:t> &lt;</a:t>
            </a:r>
            <a:r>
              <a:rPr lang="en-US" dirty="0" err="1"/>
              <a:t>biểu</a:t>
            </a:r>
            <a:r>
              <a:rPr lang="en-US" dirty="0"/>
              <a:t> </a:t>
            </a:r>
            <a:r>
              <a:rPr lang="en-US" dirty="0" err="1"/>
              <a:t>thức</a:t>
            </a:r>
            <a:r>
              <a:rPr lang="en-US" dirty="0"/>
              <a:t> 2&gt; </a:t>
            </a:r>
            <a:r>
              <a:rPr lang="en-US" dirty="0">
                <a:solidFill>
                  <a:srgbClr val="FF0000"/>
                </a:solidFill>
              </a:rPr>
              <a:t>:</a:t>
            </a:r>
            <a:r>
              <a:rPr lang="en-US" dirty="0"/>
              <a:t> &lt;</a:t>
            </a:r>
            <a:r>
              <a:rPr lang="en-US" dirty="0" err="1"/>
              <a:t>biểu</a:t>
            </a:r>
            <a:r>
              <a:rPr lang="en-US" dirty="0"/>
              <a:t> </a:t>
            </a:r>
            <a:r>
              <a:rPr lang="en-US" dirty="0" err="1"/>
              <a:t>thức</a:t>
            </a:r>
            <a:r>
              <a:rPr lang="en-US" dirty="0"/>
              <a:t> 3&gt;</a:t>
            </a:r>
          </a:p>
          <a:p>
            <a:pPr lvl="2">
              <a:defRPr/>
            </a:pPr>
            <a:r>
              <a:rPr lang="en-US" dirty="0"/>
              <a:t>&lt;</a:t>
            </a:r>
            <a:r>
              <a:rPr lang="en-US" dirty="0" err="1"/>
              <a:t>biểu</a:t>
            </a:r>
            <a:r>
              <a:rPr lang="en-US" dirty="0"/>
              <a:t> </a:t>
            </a:r>
            <a:r>
              <a:rPr lang="en-US" dirty="0" err="1"/>
              <a:t>thức</a:t>
            </a:r>
            <a:r>
              <a:rPr lang="en-US" dirty="0"/>
              <a:t> 1&gt; </a:t>
            </a:r>
            <a:r>
              <a:rPr lang="vi-VN" dirty="0"/>
              <a:t>đú</a:t>
            </a:r>
            <a:r>
              <a:rPr lang="en-US" dirty="0"/>
              <a:t>ng </a:t>
            </a:r>
            <a:r>
              <a:rPr lang="en-US" dirty="0" err="1"/>
              <a:t>thì</a:t>
            </a:r>
            <a:r>
              <a:rPr lang="en-US" dirty="0"/>
              <a:t> </a:t>
            </a:r>
            <a:r>
              <a:rPr lang="en-US" dirty="0" err="1"/>
              <a:t>giá</a:t>
            </a:r>
            <a:r>
              <a:rPr lang="en-US" dirty="0"/>
              <a:t> </a:t>
            </a:r>
            <a:r>
              <a:rPr lang="en-US" dirty="0" err="1"/>
              <a:t>trị</a:t>
            </a:r>
            <a:r>
              <a:rPr lang="en-US" dirty="0"/>
              <a:t> </a:t>
            </a:r>
            <a:r>
              <a:rPr lang="en-US" dirty="0" err="1"/>
              <a:t>là</a:t>
            </a:r>
            <a:r>
              <a:rPr lang="en-US" dirty="0"/>
              <a:t> &lt;</a:t>
            </a:r>
            <a:r>
              <a:rPr lang="en-US" dirty="0" err="1"/>
              <a:t>biểu</a:t>
            </a:r>
            <a:r>
              <a:rPr lang="en-US" dirty="0"/>
              <a:t> </a:t>
            </a:r>
            <a:r>
              <a:rPr lang="en-US" dirty="0" err="1"/>
              <a:t>thức</a:t>
            </a:r>
            <a:r>
              <a:rPr lang="en-US" dirty="0"/>
              <a:t> 2&gt;.</a:t>
            </a:r>
          </a:p>
          <a:p>
            <a:pPr lvl="2">
              <a:defRPr/>
            </a:pPr>
            <a:r>
              <a:rPr lang="en-US" dirty="0"/>
              <a:t>&lt;</a:t>
            </a:r>
            <a:r>
              <a:rPr lang="en-US" dirty="0" err="1"/>
              <a:t>biểu</a:t>
            </a:r>
            <a:r>
              <a:rPr lang="en-US" dirty="0"/>
              <a:t> </a:t>
            </a:r>
            <a:r>
              <a:rPr lang="en-US" dirty="0" err="1"/>
              <a:t>thức</a:t>
            </a:r>
            <a:r>
              <a:rPr lang="en-US" dirty="0"/>
              <a:t> 1&gt; </a:t>
            </a:r>
            <a:r>
              <a:rPr lang="en-US" dirty="0" err="1"/>
              <a:t>sai</a:t>
            </a:r>
            <a:r>
              <a:rPr lang="en-US" dirty="0"/>
              <a:t> </a:t>
            </a:r>
            <a:r>
              <a:rPr lang="en-US" dirty="0" err="1"/>
              <a:t>thì</a:t>
            </a:r>
            <a:r>
              <a:rPr lang="en-US" dirty="0"/>
              <a:t> </a:t>
            </a:r>
            <a:r>
              <a:rPr lang="en-US" dirty="0" err="1"/>
              <a:t>giá</a:t>
            </a:r>
            <a:r>
              <a:rPr lang="en-US" dirty="0"/>
              <a:t> </a:t>
            </a:r>
            <a:r>
              <a:rPr lang="en-US" dirty="0" err="1"/>
              <a:t>trị</a:t>
            </a:r>
            <a:r>
              <a:rPr lang="en-US" dirty="0"/>
              <a:t> </a:t>
            </a:r>
            <a:r>
              <a:rPr lang="en-US" dirty="0" err="1"/>
              <a:t>là</a:t>
            </a:r>
            <a:r>
              <a:rPr lang="en-US" dirty="0"/>
              <a:t> &lt;</a:t>
            </a:r>
            <a:r>
              <a:rPr lang="en-US" dirty="0" err="1"/>
              <a:t>biểu</a:t>
            </a:r>
            <a:r>
              <a:rPr lang="en-US" dirty="0"/>
              <a:t> </a:t>
            </a:r>
            <a:r>
              <a:rPr lang="en-US" dirty="0" err="1"/>
              <a:t>thức</a:t>
            </a:r>
            <a:r>
              <a:rPr lang="en-US" dirty="0"/>
              <a:t> 3&gt;.</a:t>
            </a:r>
          </a:p>
          <a:p>
            <a:pPr>
              <a:defRPr/>
            </a:pPr>
            <a:r>
              <a:rPr lang="en-US" dirty="0" err="1"/>
              <a:t>Ví</a:t>
            </a:r>
            <a:r>
              <a:rPr lang="en-US" dirty="0"/>
              <a:t> </a:t>
            </a:r>
            <a:r>
              <a:rPr lang="en-US" dirty="0" err="1"/>
              <a:t>dụ</a:t>
            </a:r>
            <a:endParaRPr lang="en-US" dirty="0"/>
          </a:p>
          <a:p>
            <a:pPr lvl="1">
              <a:defRPr/>
            </a:pPr>
            <a:r>
              <a:rPr lang="en-US" dirty="0"/>
              <a:t>s1 = (1 &gt; 2) </a:t>
            </a:r>
            <a:r>
              <a:rPr lang="en-US" dirty="0">
                <a:solidFill>
                  <a:srgbClr val="FF0000"/>
                </a:solidFill>
              </a:rPr>
              <a:t>?</a:t>
            </a:r>
            <a:r>
              <a:rPr lang="en-US" dirty="0"/>
              <a:t> 2912 </a:t>
            </a:r>
            <a:r>
              <a:rPr lang="en-US" dirty="0">
                <a:solidFill>
                  <a:srgbClr val="FF0000"/>
                </a:solidFill>
              </a:rPr>
              <a:t>:</a:t>
            </a:r>
            <a:r>
              <a:rPr lang="en-US" dirty="0"/>
              <a:t> 1706;</a:t>
            </a:r>
          </a:p>
          <a:p>
            <a:pPr lvl="1">
              <a:defRPr/>
            </a:pPr>
            <a:r>
              <a:rPr lang="en-US" dirty="0" err="1"/>
              <a:t>int</a:t>
            </a:r>
            <a:r>
              <a:rPr lang="en-US" dirty="0"/>
              <a:t> s2 = 0;</a:t>
            </a:r>
          </a:p>
          <a:p>
            <a:pPr lvl="1">
              <a:defRPr/>
            </a:pPr>
            <a:r>
              <a:rPr lang="en-US" dirty="0"/>
              <a:t>1 &lt; 2 </a:t>
            </a:r>
            <a:r>
              <a:rPr lang="en-US" dirty="0">
                <a:solidFill>
                  <a:srgbClr val="FF0000"/>
                </a:solidFill>
              </a:rPr>
              <a:t>?</a:t>
            </a:r>
            <a:r>
              <a:rPr lang="en-US" dirty="0"/>
              <a:t> s2 = 2912 </a:t>
            </a:r>
            <a:r>
              <a:rPr lang="en-US" dirty="0">
                <a:solidFill>
                  <a:srgbClr val="FF0000"/>
                </a:solidFill>
              </a:rPr>
              <a:t>:</a:t>
            </a:r>
            <a:r>
              <a:rPr lang="en-US" dirty="0"/>
              <a:t> s2 = 1706;</a:t>
            </a:r>
          </a:p>
        </p:txBody>
      </p:sp>
      <p:sp>
        <p:nvSpPr>
          <p:cNvPr id="35844"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C22B297B-3106-4383-B8C6-966D35052D9F}"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39</a:t>
            </a:fld>
            <a:r>
              <a:rPr lang="vi-VN"/>
              <a:t>/59</a:t>
            </a:r>
          </a:p>
        </p:txBody>
      </p:sp>
    </p:spTree>
    <p:extLst>
      <p:ext uri="{BB962C8B-B14F-4D97-AF65-F5344CB8AC3E}">
        <p14:creationId xmlns:p14="http://schemas.microsoft.com/office/powerpoint/2010/main" val="6665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anim calcmode="lin" valueType="num">
                                      <p:cBhvr>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anim calcmode="lin" valueType="num">
                                      <p:cBhvr>
                                        <p:cTn id="2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anim calcmode="lin" valueType="num">
                                      <p:cBhvr>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5" end="5"/>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anim calcmode="lin" valueType="num">
                                      <p:cBhvr>
                                        <p:cTn id="3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anim calcmode="lin" valueType="num">
                                      <p:cBhvr>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500" fill="hold"/>
                                        <p:tgtEl>
                                          <p:spTgt spid="3">
                                            <p:txEl>
                                              <p:pRg st="7" end="7"/>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anim calcmode="lin" valueType="num">
                                      <p:cBhvr>
                                        <p:cTn id="46"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7"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t>Toán tử phẩy</a:t>
            </a:r>
          </a:p>
        </p:txBody>
      </p:sp>
      <p:sp>
        <p:nvSpPr>
          <p:cNvPr id="3" name="Content Placeholder 2"/>
          <p:cNvSpPr>
            <a:spLocks noGrp="1"/>
          </p:cNvSpPr>
          <p:nvPr>
            <p:ph idx="1"/>
          </p:nvPr>
        </p:nvSpPr>
        <p:spPr/>
        <p:txBody>
          <a:bodyPr/>
          <a:lstStyle/>
          <a:p>
            <a:pPr>
              <a:defRPr/>
            </a:pPr>
            <a:r>
              <a:rPr lang="en-US"/>
              <a:t>Toán tử phẩy</a:t>
            </a:r>
          </a:p>
          <a:p>
            <a:pPr lvl="1">
              <a:defRPr/>
            </a:pPr>
            <a:r>
              <a:rPr lang="en-US"/>
              <a:t>Các biểu thức </a:t>
            </a:r>
            <a:r>
              <a:rPr lang="vi-VN"/>
              <a:t>đặ</a:t>
            </a:r>
            <a:r>
              <a:rPr lang="en-US"/>
              <a:t>t cách nhau bằng dấu </a:t>
            </a:r>
            <a:r>
              <a:rPr lang="en-US">
                <a:solidFill>
                  <a:srgbClr val="FF0000"/>
                </a:solidFill>
              </a:rPr>
              <a:t>,</a:t>
            </a:r>
          </a:p>
          <a:p>
            <a:pPr lvl="1">
              <a:defRPr/>
            </a:pPr>
            <a:r>
              <a:rPr lang="en-US"/>
              <a:t>Các biểu thức con </a:t>
            </a:r>
            <a:r>
              <a:rPr lang="en-US">
                <a:solidFill>
                  <a:srgbClr val="FF0000"/>
                </a:solidFill>
              </a:rPr>
              <a:t>lần l</a:t>
            </a:r>
            <a:r>
              <a:rPr lang="vi-VN">
                <a:solidFill>
                  <a:srgbClr val="FF0000"/>
                </a:solidFill>
              </a:rPr>
              <a:t>ượ</a:t>
            </a:r>
            <a:r>
              <a:rPr lang="en-US">
                <a:solidFill>
                  <a:srgbClr val="FF0000"/>
                </a:solidFill>
              </a:rPr>
              <a:t>t </a:t>
            </a:r>
            <a:r>
              <a:rPr lang="vi-VN">
                <a:solidFill>
                  <a:srgbClr val="FF0000"/>
                </a:solidFill>
              </a:rPr>
              <a:t>đượ</a:t>
            </a:r>
            <a:r>
              <a:rPr lang="en-US">
                <a:solidFill>
                  <a:srgbClr val="FF0000"/>
                </a:solidFill>
              </a:rPr>
              <a:t>c tính từ trái sang phải</a:t>
            </a:r>
            <a:r>
              <a:rPr lang="en-US"/>
              <a:t>.</a:t>
            </a:r>
          </a:p>
          <a:p>
            <a:pPr lvl="1">
              <a:defRPr/>
            </a:pPr>
            <a:r>
              <a:rPr lang="en-US"/>
              <a:t>Biểu thức mới nhận </a:t>
            </a:r>
            <a:r>
              <a:rPr lang="vi-VN"/>
              <a:t>đượ</a:t>
            </a:r>
            <a:r>
              <a:rPr lang="en-US"/>
              <a:t>c là </a:t>
            </a:r>
            <a:r>
              <a:rPr lang="en-US">
                <a:solidFill>
                  <a:srgbClr val="FF0000"/>
                </a:solidFill>
              </a:rPr>
              <a:t>giá trị của biểu thức bên phải cùng</a:t>
            </a:r>
            <a:r>
              <a:rPr lang="en-US"/>
              <a:t>.</a:t>
            </a:r>
          </a:p>
          <a:p>
            <a:pPr>
              <a:defRPr/>
            </a:pPr>
            <a:r>
              <a:rPr lang="en-US"/>
              <a:t>Ví dụ</a:t>
            </a:r>
          </a:p>
          <a:p>
            <a:pPr lvl="1">
              <a:defRPr/>
            </a:pPr>
            <a:r>
              <a:rPr lang="en-US"/>
              <a:t>x = (a++</a:t>
            </a:r>
            <a:r>
              <a:rPr lang="en-US">
                <a:solidFill>
                  <a:srgbClr val="FF0000"/>
                </a:solidFill>
              </a:rPr>
              <a:t>,</a:t>
            </a:r>
            <a:r>
              <a:rPr lang="en-US"/>
              <a:t> b = b + 2);</a:t>
            </a:r>
          </a:p>
          <a:p>
            <a:pPr lvl="1">
              <a:defRPr/>
            </a:pPr>
            <a:r>
              <a:rPr lang="en-US">
                <a:sym typeface="Wingdings" pitchFamily="2" charset="2"/>
              </a:rPr>
              <a:t> a++; b = b + 2; x = b;</a:t>
            </a:r>
            <a:endParaRPr lang="en-US"/>
          </a:p>
        </p:txBody>
      </p:sp>
      <p:sp>
        <p:nvSpPr>
          <p:cNvPr id="36868"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02D49767-66E9-46EB-BA2F-AF74F3BC73A5}"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40</a:t>
            </a:fld>
            <a:r>
              <a:rPr lang="vi-VN"/>
              <a:t>/59</a:t>
            </a:r>
          </a:p>
        </p:txBody>
      </p:sp>
    </p:spTree>
    <p:extLst>
      <p:ext uri="{BB962C8B-B14F-4D97-AF65-F5344CB8AC3E}">
        <p14:creationId xmlns:p14="http://schemas.microsoft.com/office/powerpoint/2010/main" val="389044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anim calcmode="lin" valueType="num">
                                      <p:cBhvr>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anim calcmode="lin" valueType="num">
                                      <p:cBhvr>
                                        <p:cTn id="2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anim calcmode="lin" valueType="num">
                                      <p:cBhvr>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8"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anim calcmode="lin" valueType="num">
                                      <p:cBhvr>
                                        <p:cTn id="3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t>Độ </a:t>
            </a:r>
            <a:r>
              <a:rPr lang="vi-VN"/>
              <a:t>ư</a:t>
            </a:r>
            <a:r>
              <a:rPr lang="en-US"/>
              <a:t>u tiên của các toán tử</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56847891"/>
              </p:ext>
            </p:extLst>
          </p:nvPr>
        </p:nvGraphicFramePr>
        <p:xfrm>
          <a:off x="1115616" y="1196752"/>
          <a:ext cx="6264696" cy="4926942"/>
        </p:xfrm>
        <a:graphic>
          <a:graphicData uri="http://schemas.openxmlformats.org/drawingml/2006/table">
            <a:tbl>
              <a:tblPr firstRow="1" bandRow="1">
                <a:tableStyleId>{72833802-FEF1-4C79-8D5D-14CF1EAF98D9}</a:tableStyleId>
              </a:tblPr>
              <a:tblGrid>
                <a:gridCol w="4585884">
                  <a:extLst>
                    <a:ext uri="{9D8B030D-6E8A-4147-A177-3AD203B41FA5}">
                      <a16:colId xmlns:a16="http://schemas.microsoft.com/office/drawing/2014/main" val="20000"/>
                    </a:ext>
                  </a:extLst>
                </a:gridCol>
                <a:gridCol w="1678812">
                  <a:extLst>
                    <a:ext uri="{9D8B030D-6E8A-4147-A177-3AD203B41FA5}">
                      <a16:colId xmlns:a16="http://schemas.microsoft.com/office/drawing/2014/main" val="20001"/>
                    </a:ext>
                  </a:extLst>
                </a:gridCol>
              </a:tblGrid>
              <a:tr h="384962">
                <a:tc>
                  <a:txBody>
                    <a:bodyPr/>
                    <a:lstStyle/>
                    <a:p>
                      <a:r>
                        <a:rPr lang="en-US" sz="2000"/>
                        <a:t>Toán tử</a:t>
                      </a:r>
                    </a:p>
                  </a:txBody>
                  <a:tcPr/>
                </a:tc>
                <a:tc>
                  <a:txBody>
                    <a:bodyPr/>
                    <a:lstStyle/>
                    <a:p>
                      <a:r>
                        <a:rPr lang="en-US" sz="2000"/>
                        <a:t>Độ </a:t>
                      </a:r>
                      <a:r>
                        <a:rPr lang="vi-VN" sz="2000"/>
                        <a:t>ư</a:t>
                      </a:r>
                      <a:r>
                        <a:rPr lang="en-US" sz="2000"/>
                        <a:t>u tiên</a:t>
                      </a:r>
                    </a:p>
                  </a:txBody>
                  <a:tcPr/>
                </a:tc>
                <a:extLst>
                  <a:ext uri="{0D108BD9-81ED-4DB2-BD59-A6C34878D82A}">
                    <a16:rowId xmlns:a16="http://schemas.microsoft.com/office/drawing/2014/main" val="10000"/>
                  </a:ext>
                </a:extLst>
              </a:tr>
              <a:tr h="4530702">
                <a:tc>
                  <a:txBody>
                    <a:bodyPr/>
                    <a:lstStyle/>
                    <a:p>
                      <a:r>
                        <a:rPr lang="en-US" sz="2000" dirty="0"/>
                        <a:t>()</a:t>
                      </a:r>
                      <a:r>
                        <a:rPr lang="en-US" sz="2000" baseline="0" dirty="0"/>
                        <a:t>  </a:t>
                      </a:r>
                      <a:r>
                        <a:rPr lang="en-US" sz="2000" dirty="0"/>
                        <a:t>[]  -&gt;  </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  ++  --  -  ~</a:t>
                      </a:r>
                      <a:r>
                        <a:rPr lang="en-US" sz="2000" baseline="0" dirty="0"/>
                        <a:t> </a:t>
                      </a:r>
                      <a:r>
                        <a:rPr lang="en-US" sz="2000" dirty="0" err="1"/>
                        <a:t>sizeof</a:t>
                      </a:r>
                      <a:r>
                        <a:rPr lang="en-US" sz="2000" dirty="0"/>
                        <a:t>() (</a:t>
                      </a:r>
                      <a:r>
                        <a:rPr lang="en-US" sz="2000" dirty="0" err="1"/>
                        <a:t>toán</a:t>
                      </a:r>
                      <a:r>
                        <a:rPr lang="en-US" sz="2000" baseline="0" dirty="0"/>
                        <a:t> </a:t>
                      </a:r>
                      <a:r>
                        <a:rPr lang="en-US" sz="2000" baseline="0" dirty="0" err="1"/>
                        <a:t>tử</a:t>
                      </a:r>
                      <a:r>
                        <a:rPr lang="en-US" sz="2000" baseline="0" dirty="0"/>
                        <a:t> 1 </a:t>
                      </a:r>
                      <a:r>
                        <a:rPr lang="en-US" sz="2000" baseline="0" dirty="0" err="1"/>
                        <a:t>ngôi</a:t>
                      </a:r>
                      <a:r>
                        <a:rPr lang="en-US" sz="2000" baseline="0" dirty="0"/>
                        <a:t>)</a:t>
                      </a:r>
                      <a:endParaRPr lang="en-US" sz="20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  /  %</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&lt;&lt;  &gt;&gt;</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&lt;  &lt;=  &gt;  &gt;=</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  !=</a:t>
                      </a:r>
                    </a:p>
                    <a:p>
                      <a:r>
                        <a:rPr lang="en-US" sz="2000" dirty="0"/>
                        <a:t>&amp;</a:t>
                      </a:r>
                    </a:p>
                    <a:p>
                      <a:r>
                        <a:rPr lang="en-US" sz="2000" dirty="0"/>
                        <a:t>|</a:t>
                      </a:r>
                    </a:p>
                    <a:p>
                      <a:r>
                        <a:rPr lang="en-US" sz="2000" dirty="0"/>
                        <a:t>^</a:t>
                      </a:r>
                    </a:p>
                    <a:p>
                      <a:r>
                        <a:rPr lang="en-US" sz="2000" dirty="0"/>
                        <a:t>&amp;&amp;</a:t>
                      </a:r>
                    </a:p>
                    <a:p>
                      <a:r>
                        <a:rPr lang="en-US" sz="2000" dirty="0"/>
                        <a:t>||</a:t>
                      </a:r>
                    </a:p>
                    <a:p>
                      <a:r>
                        <a:rPr lang="en-US" sz="200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r>
                        <a:rPr lang="en-US" sz="2000" baseline="0" dirty="0"/>
                        <a:t>  +=  -=  *=  /=  %=  &amp;= ^= |= &lt;&lt;= &gt;&gt;=</a:t>
                      </a:r>
                      <a:endParaRPr lang="en-US" sz="2000" dirty="0"/>
                    </a:p>
                  </a:txBody>
                  <a:tcPr/>
                </a:tc>
                <a:tc>
                  <a:txBody>
                    <a:bodyPr/>
                    <a:lstStyle/>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algn="ctr"/>
                      <a:r>
                        <a:rPr lang="en-US" sz="2000" dirty="0">
                          <a:sym typeface="Wingdings" pitchFamily="2" charset="2"/>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ym typeface="Wingdings" pitchFamily="2" charset="2"/>
                        </a:rPr>
                        <a:t></a:t>
                      </a:r>
                      <a:endParaRPr lang="en-US" sz="2000" dirty="0"/>
                    </a:p>
                  </a:txBody>
                  <a:tcPr/>
                </a:tc>
                <a:extLst>
                  <a:ext uri="{0D108BD9-81ED-4DB2-BD59-A6C34878D82A}">
                    <a16:rowId xmlns:a16="http://schemas.microsoft.com/office/drawing/2014/main" val="10001"/>
                  </a:ext>
                </a:extLst>
              </a:tr>
            </a:tbl>
          </a:graphicData>
        </a:graphic>
      </p:graphicFrame>
      <p:sp>
        <p:nvSpPr>
          <p:cNvPr id="37901"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E140AEB0-6911-4451-8A8B-6586FE270310}"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41</a:t>
            </a:fld>
            <a:r>
              <a:rPr lang="vi-VN"/>
              <a:t>/59</a:t>
            </a:r>
          </a:p>
        </p:txBody>
      </p:sp>
    </p:spTree>
    <p:extLst>
      <p:ext uri="{BB962C8B-B14F-4D97-AF65-F5344CB8AC3E}">
        <p14:creationId xmlns:p14="http://schemas.microsoft.com/office/powerpoint/2010/main" val="25284949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t>Độ </a:t>
            </a:r>
            <a:r>
              <a:rPr lang="vi-VN"/>
              <a:t>ư</a:t>
            </a:r>
            <a:r>
              <a:rPr lang="en-US"/>
              <a:t>u tiên của các toán tử</a:t>
            </a:r>
          </a:p>
        </p:txBody>
      </p:sp>
      <p:sp>
        <p:nvSpPr>
          <p:cNvPr id="3" name="Content Placeholder 2"/>
          <p:cNvSpPr>
            <a:spLocks noGrp="1"/>
          </p:cNvSpPr>
          <p:nvPr>
            <p:ph idx="1"/>
          </p:nvPr>
        </p:nvSpPr>
        <p:spPr/>
        <p:txBody>
          <a:bodyPr/>
          <a:lstStyle/>
          <a:p>
            <a:pPr>
              <a:defRPr/>
            </a:pPr>
            <a:r>
              <a:rPr lang="en-US"/>
              <a:t>Quy tắc thực hiện</a:t>
            </a:r>
          </a:p>
          <a:p>
            <a:pPr lvl="1">
              <a:defRPr/>
            </a:pPr>
            <a:r>
              <a:rPr lang="en-US"/>
              <a:t>Thực hiện biểu thức trong ( ) sâu nhất tr</a:t>
            </a:r>
            <a:r>
              <a:rPr lang="vi-VN"/>
              <a:t>ướ</a:t>
            </a:r>
            <a:r>
              <a:rPr lang="en-US"/>
              <a:t>c.</a:t>
            </a:r>
          </a:p>
          <a:p>
            <a:pPr lvl="1">
              <a:defRPr/>
            </a:pPr>
            <a:r>
              <a:rPr lang="en-US"/>
              <a:t>Thực hiện theo thứ tự </a:t>
            </a:r>
            <a:r>
              <a:rPr lang="vi-VN"/>
              <a:t>ư</a:t>
            </a:r>
            <a:r>
              <a:rPr lang="en-US"/>
              <a:t>u tiên các toán tử.</a:t>
            </a:r>
          </a:p>
          <a:p>
            <a:pPr>
              <a:buFont typeface="Wingdings" pitchFamily="2" charset="2"/>
              <a:buNone/>
              <a:defRPr/>
            </a:pPr>
            <a:r>
              <a:rPr lang="en-US"/>
              <a:t>	</a:t>
            </a:r>
            <a:r>
              <a:rPr lang="en-US">
                <a:solidFill>
                  <a:srgbClr val="FF0000"/>
                </a:solidFill>
              </a:rPr>
              <a:t>=&gt; Tự chủ </a:t>
            </a:r>
            <a:r>
              <a:rPr lang="vi-VN">
                <a:solidFill>
                  <a:srgbClr val="FF0000"/>
                </a:solidFill>
              </a:rPr>
              <a:t>độ</a:t>
            </a:r>
            <a:r>
              <a:rPr lang="en-US">
                <a:solidFill>
                  <a:srgbClr val="FF0000"/>
                </a:solidFill>
              </a:rPr>
              <a:t>ng thêm ( )</a:t>
            </a:r>
          </a:p>
          <a:p>
            <a:pPr>
              <a:defRPr/>
            </a:pPr>
            <a:r>
              <a:rPr lang="en-US"/>
              <a:t>Ví dụ</a:t>
            </a:r>
          </a:p>
          <a:p>
            <a:pPr lvl="1">
              <a:defRPr/>
            </a:pPr>
            <a:r>
              <a:rPr lang="en-US"/>
              <a:t>n = 2 + 3 * 5;</a:t>
            </a:r>
          </a:p>
          <a:p>
            <a:pPr lvl="1">
              <a:buFont typeface="Wingdings" pitchFamily="2" charset="2"/>
              <a:buNone/>
              <a:defRPr/>
            </a:pPr>
            <a:r>
              <a:rPr lang="en-US"/>
              <a:t>	=&gt; n = 2 + (3 * 5);</a:t>
            </a:r>
          </a:p>
          <a:p>
            <a:pPr lvl="1">
              <a:defRPr/>
            </a:pPr>
            <a:r>
              <a:rPr lang="en-US"/>
              <a:t>a &gt; 1 &amp;&amp; b &lt; 2</a:t>
            </a:r>
          </a:p>
          <a:p>
            <a:pPr lvl="1">
              <a:buFont typeface="Wingdings" pitchFamily="2" charset="2"/>
              <a:buNone/>
              <a:defRPr/>
            </a:pPr>
            <a:r>
              <a:rPr lang="en-US"/>
              <a:t>	=&gt; (a &gt; 1) &amp;&amp; (b &lt; 2)</a:t>
            </a:r>
          </a:p>
        </p:txBody>
      </p:sp>
      <p:sp>
        <p:nvSpPr>
          <p:cNvPr id="38916"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6F1CFD81-E2C6-4F3C-B78A-886434EC0775}"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42</a:t>
            </a:fld>
            <a:r>
              <a:rPr lang="vi-VN"/>
              <a:t>/59</a:t>
            </a:r>
          </a:p>
        </p:txBody>
      </p:sp>
    </p:spTree>
    <p:extLst>
      <p:ext uri="{BB962C8B-B14F-4D97-AF65-F5344CB8AC3E}">
        <p14:creationId xmlns:p14="http://schemas.microsoft.com/office/powerpoint/2010/main" val="307958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anim calcmode="lin" valueType="num">
                                      <p:cBhvr>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anim calcmode="lin" valueType="num">
                                      <p:cBhvr>
                                        <p:cTn id="2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anim calcmode="lin" valueType="num">
                                      <p:cBhvr>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8"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anim calcmode="lin" valueType="num">
                                      <p:cBhvr>
                                        <p:cTn id="3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anim calcmode="lin" valueType="num">
                                      <p:cBhvr>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anim calcmode="lin" valueType="num">
                                      <p:cBhvr>
                                        <p:cTn id="48"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t>Viết biểu thức cho các mệnh </a:t>
            </a:r>
            <a:r>
              <a:rPr lang="vi-VN"/>
              <a:t>đề</a:t>
            </a:r>
            <a:endParaRPr lang="en-US"/>
          </a:p>
        </p:txBody>
      </p:sp>
      <p:sp>
        <p:nvSpPr>
          <p:cNvPr id="3" name="Content Placeholder 2"/>
          <p:cNvSpPr>
            <a:spLocks noGrp="1"/>
          </p:cNvSpPr>
          <p:nvPr>
            <p:ph idx="1"/>
          </p:nvPr>
        </p:nvSpPr>
        <p:spPr/>
        <p:txBody>
          <a:bodyPr/>
          <a:lstStyle/>
          <a:p>
            <a:pPr>
              <a:defRPr/>
            </a:pPr>
            <a:r>
              <a:rPr lang="en-US" dirty="0"/>
              <a:t>x </a:t>
            </a:r>
            <a:r>
              <a:rPr lang="en-US" dirty="0" err="1"/>
              <a:t>lớn</a:t>
            </a:r>
            <a:r>
              <a:rPr lang="en-US" dirty="0"/>
              <a:t> h</a:t>
            </a:r>
            <a:r>
              <a:rPr lang="vi-VN" dirty="0"/>
              <a:t>ơ</a:t>
            </a:r>
            <a:r>
              <a:rPr lang="en-US" dirty="0"/>
              <a:t>n hay </a:t>
            </a:r>
            <a:r>
              <a:rPr lang="en-US" dirty="0" err="1"/>
              <a:t>bằng</a:t>
            </a:r>
            <a:r>
              <a:rPr lang="en-US" dirty="0"/>
              <a:t> 3</a:t>
            </a:r>
          </a:p>
          <a:p>
            <a:pPr lvl="1">
              <a:buFont typeface="Wingdings" pitchFamily="2" charset="2"/>
              <a:buNone/>
              <a:defRPr/>
            </a:pPr>
            <a:r>
              <a:rPr lang="en-US" dirty="0">
                <a:solidFill>
                  <a:schemeClr val="tx1">
                    <a:lumMod val="60000"/>
                    <a:lumOff val="40000"/>
                  </a:schemeClr>
                </a:solidFill>
              </a:rPr>
              <a:t>	</a:t>
            </a:r>
            <a:r>
              <a:rPr lang="en-US" dirty="0"/>
              <a:t>x &gt;= 3</a:t>
            </a:r>
          </a:p>
          <a:p>
            <a:pPr>
              <a:defRPr/>
            </a:pPr>
            <a:r>
              <a:rPr lang="en-US" dirty="0"/>
              <a:t>a </a:t>
            </a:r>
            <a:r>
              <a:rPr lang="en-US" dirty="0" err="1"/>
              <a:t>và</a:t>
            </a:r>
            <a:r>
              <a:rPr lang="en-US" dirty="0"/>
              <a:t> b </a:t>
            </a:r>
            <a:r>
              <a:rPr lang="en-US" dirty="0" err="1"/>
              <a:t>cùng</a:t>
            </a:r>
            <a:r>
              <a:rPr lang="en-US" dirty="0"/>
              <a:t> </a:t>
            </a:r>
            <a:r>
              <a:rPr lang="en-US" dirty="0" err="1"/>
              <a:t>dấu</a:t>
            </a:r>
            <a:endParaRPr lang="en-US" dirty="0"/>
          </a:p>
          <a:p>
            <a:pPr lvl="1">
              <a:buFont typeface="Wingdings" pitchFamily="2" charset="2"/>
              <a:buNone/>
              <a:defRPr/>
            </a:pPr>
            <a:r>
              <a:rPr lang="en-US" dirty="0">
                <a:solidFill>
                  <a:schemeClr val="tx1">
                    <a:lumMod val="60000"/>
                    <a:lumOff val="40000"/>
                  </a:schemeClr>
                </a:solidFill>
              </a:rPr>
              <a:t>	</a:t>
            </a:r>
            <a:r>
              <a:rPr lang="en-US" dirty="0">
                <a:solidFill>
                  <a:srgbClr val="FF0000"/>
                </a:solidFill>
              </a:rPr>
              <a:t>(</a:t>
            </a:r>
            <a:r>
              <a:rPr lang="en-US" dirty="0"/>
              <a:t>(a&gt;0) &amp;&amp; (b&gt;0)</a:t>
            </a:r>
            <a:r>
              <a:rPr lang="en-US" dirty="0">
                <a:solidFill>
                  <a:srgbClr val="FF0000"/>
                </a:solidFill>
              </a:rPr>
              <a:t>)</a:t>
            </a:r>
            <a:r>
              <a:rPr lang="en-US" dirty="0">
                <a:solidFill>
                  <a:schemeClr val="tx1">
                    <a:lumMod val="60000"/>
                    <a:lumOff val="40000"/>
                  </a:schemeClr>
                </a:solidFill>
              </a:rPr>
              <a:t> </a:t>
            </a:r>
            <a:r>
              <a:rPr lang="en-US" dirty="0"/>
              <a:t>||</a:t>
            </a:r>
            <a:r>
              <a:rPr lang="en-US" dirty="0">
                <a:solidFill>
                  <a:schemeClr val="tx1">
                    <a:lumMod val="60000"/>
                    <a:lumOff val="40000"/>
                  </a:schemeClr>
                </a:solidFill>
              </a:rPr>
              <a:t> </a:t>
            </a:r>
            <a:r>
              <a:rPr lang="en-US" dirty="0">
                <a:solidFill>
                  <a:srgbClr val="FF0000"/>
                </a:solidFill>
              </a:rPr>
              <a:t>(</a:t>
            </a:r>
            <a:r>
              <a:rPr lang="en-US" dirty="0"/>
              <a:t>(a&lt;0) &amp;&amp; (b&lt;0)</a:t>
            </a:r>
            <a:r>
              <a:rPr lang="en-US" dirty="0">
                <a:solidFill>
                  <a:srgbClr val="FF0000"/>
                </a:solidFill>
              </a:rPr>
              <a:t>)</a:t>
            </a:r>
          </a:p>
          <a:p>
            <a:pPr lvl="1">
              <a:buFont typeface="Wingdings" pitchFamily="2" charset="2"/>
              <a:buNone/>
              <a:defRPr/>
            </a:pPr>
            <a:r>
              <a:rPr lang="en-US" dirty="0">
                <a:solidFill>
                  <a:schemeClr val="tx1">
                    <a:lumMod val="60000"/>
                    <a:lumOff val="40000"/>
                  </a:schemeClr>
                </a:solidFill>
              </a:rPr>
              <a:t>	</a:t>
            </a:r>
            <a:r>
              <a:rPr lang="en-US" dirty="0">
                <a:solidFill>
                  <a:srgbClr val="FF0000"/>
                </a:solidFill>
              </a:rPr>
              <a:t>(</a:t>
            </a:r>
            <a:r>
              <a:rPr lang="en-US" dirty="0"/>
              <a:t>a&gt;0 &amp;&amp; b&gt;0</a:t>
            </a:r>
            <a:r>
              <a:rPr lang="en-US" dirty="0">
                <a:solidFill>
                  <a:srgbClr val="FF0000"/>
                </a:solidFill>
              </a:rPr>
              <a:t>)</a:t>
            </a:r>
            <a:r>
              <a:rPr lang="en-US" dirty="0">
                <a:solidFill>
                  <a:schemeClr val="tx1">
                    <a:lumMod val="60000"/>
                    <a:lumOff val="40000"/>
                  </a:schemeClr>
                </a:solidFill>
              </a:rPr>
              <a:t> </a:t>
            </a:r>
            <a:r>
              <a:rPr lang="en-US" dirty="0"/>
              <a:t>||</a:t>
            </a:r>
            <a:r>
              <a:rPr lang="en-US" dirty="0">
                <a:solidFill>
                  <a:schemeClr val="tx1">
                    <a:lumMod val="60000"/>
                    <a:lumOff val="40000"/>
                  </a:schemeClr>
                </a:solidFill>
              </a:rPr>
              <a:t> </a:t>
            </a:r>
            <a:r>
              <a:rPr lang="en-US" dirty="0">
                <a:solidFill>
                  <a:srgbClr val="FF0000"/>
                </a:solidFill>
              </a:rPr>
              <a:t>(</a:t>
            </a:r>
            <a:r>
              <a:rPr lang="en-US" dirty="0"/>
              <a:t>a&lt;0 &amp;&amp; b&lt;0</a:t>
            </a:r>
            <a:r>
              <a:rPr lang="en-US" dirty="0">
                <a:solidFill>
                  <a:srgbClr val="FF0000"/>
                </a:solidFill>
              </a:rPr>
              <a:t>)</a:t>
            </a:r>
          </a:p>
          <a:p>
            <a:pPr>
              <a:defRPr/>
            </a:pPr>
            <a:r>
              <a:rPr lang="en-US" dirty="0"/>
              <a:t>p </a:t>
            </a:r>
            <a:r>
              <a:rPr lang="en-US" dirty="0" err="1"/>
              <a:t>bằng</a:t>
            </a:r>
            <a:r>
              <a:rPr lang="en-US" dirty="0"/>
              <a:t> q </a:t>
            </a:r>
            <a:r>
              <a:rPr lang="en-US" dirty="0" err="1"/>
              <a:t>bằng</a:t>
            </a:r>
            <a:r>
              <a:rPr lang="en-US" dirty="0"/>
              <a:t> r</a:t>
            </a:r>
          </a:p>
          <a:p>
            <a:pPr lvl="1">
              <a:buFont typeface="Wingdings" pitchFamily="2" charset="2"/>
              <a:buNone/>
              <a:defRPr/>
            </a:pPr>
            <a:r>
              <a:rPr lang="en-US" dirty="0">
                <a:solidFill>
                  <a:schemeClr val="tx1">
                    <a:lumMod val="60000"/>
                    <a:lumOff val="40000"/>
                  </a:schemeClr>
                </a:solidFill>
              </a:rPr>
              <a:t>	</a:t>
            </a:r>
            <a:r>
              <a:rPr lang="en-US" dirty="0">
                <a:solidFill>
                  <a:srgbClr val="FF0000"/>
                </a:solidFill>
              </a:rPr>
              <a:t>(</a:t>
            </a:r>
            <a:r>
              <a:rPr lang="en-US" dirty="0"/>
              <a:t>p == q</a:t>
            </a:r>
            <a:r>
              <a:rPr lang="en-US" dirty="0">
                <a:solidFill>
                  <a:srgbClr val="FF0000"/>
                </a:solidFill>
              </a:rPr>
              <a:t>)</a:t>
            </a:r>
            <a:r>
              <a:rPr lang="en-US" dirty="0">
                <a:solidFill>
                  <a:schemeClr val="tx1">
                    <a:lumMod val="60000"/>
                    <a:lumOff val="40000"/>
                  </a:schemeClr>
                </a:solidFill>
              </a:rPr>
              <a:t> </a:t>
            </a:r>
            <a:r>
              <a:rPr lang="en-US" dirty="0"/>
              <a:t>&amp;&amp;</a:t>
            </a:r>
            <a:r>
              <a:rPr lang="en-US" dirty="0">
                <a:solidFill>
                  <a:schemeClr val="tx1">
                    <a:lumMod val="60000"/>
                    <a:lumOff val="40000"/>
                  </a:schemeClr>
                </a:solidFill>
              </a:rPr>
              <a:t> </a:t>
            </a:r>
            <a:r>
              <a:rPr lang="en-US" dirty="0">
                <a:solidFill>
                  <a:srgbClr val="FF0000"/>
                </a:solidFill>
              </a:rPr>
              <a:t>(</a:t>
            </a:r>
            <a:r>
              <a:rPr lang="en-US" dirty="0"/>
              <a:t>q == r</a:t>
            </a:r>
            <a:r>
              <a:rPr lang="en-US" dirty="0">
                <a:solidFill>
                  <a:srgbClr val="FF0000"/>
                </a:solidFill>
              </a:rPr>
              <a:t>) </a:t>
            </a:r>
            <a:r>
              <a:rPr lang="en-US" dirty="0" err="1"/>
              <a:t>hoặc</a:t>
            </a:r>
            <a:r>
              <a:rPr lang="en-US" dirty="0">
                <a:solidFill>
                  <a:schemeClr val="tx1">
                    <a:lumMod val="60000"/>
                    <a:lumOff val="40000"/>
                  </a:schemeClr>
                </a:solidFill>
              </a:rPr>
              <a:t> </a:t>
            </a:r>
            <a:r>
              <a:rPr lang="en-US" dirty="0">
                <a:solidFill>
                  <a:srgbClr val="FF0000"/>
                </a:solidFill>
              </a:rPr>
              <a:t>(</a:t>
            </a:r>
            <a:r>
              <a:rPr lang="en-US" dirty="0"/>
              <a:t>p == q &amp;&amp; q == r</a:t>
            </a:r>
            <a:r>
              <a:rPr lang="en-US" dirty="0">
                <a:solidFill>
                  <a:srgbClr val="FF0000"/>
                </a:solidFill>
              </a:rPr>
              <a:t>)</a:t>
            </a:r>
          </a:p>
          <a:p>
            <a:pPr>
              <a:defRPr/>
            </a:pPr>
            <a:r>
              <a:rPr lang="en-US" dirty="0"/>
              <a:t>–5 &lt; x &lt; 5</a:t>
            </a:r>
          </a:p>
          <a:p>
            <a:pPr lvl="1">
              <a:buFont typeface="Wingdings" pitchFamily="2" charset="2"/>
              <a:buNone/>
              <a:defRPr/>
            </a:pPr>
            <a:r>
              <a:rPr lang="en-US" dirty="0">
                <a:solidFill>
                  <a:schemeClr val="tx1">
                    <a:lumMod val="60000"/>
                    <a:lumOff val="40000"/>
                  </a:schemeClr>
                </a:solidFill>
              </a:rPr>
              <a:t>	</a:t>
            </a:r>
            <a:r>
              <a:rPr lang="en-US" dirty="0">
                <a:solidFill>
                  <a:srgbClr val="FF0000"/>
                </a:solidFill>
              </a:rPr>
              <a:t>(</a:t>
            </a:r>
            <a:r>
              <a:rPr lang="en-US" dirty="0"/>
              <a:t>x &gt; –5</a:t>
            </a:r>
            <a:r>
              <a:rPr lang="en-US" dirty="0">
                <a:solidFill>
                  <a:srgbClr val="FF0000"/>
                </a:solidFill>
              </a:rPr>
              <a:t>)</a:t>
            </a:r>
            <a:r>
              <a:rPr lang="en-US" dirty="0">
                <a:solidFill>
                  <a:schemeClr val="tx1">
                    <a:lumMod val="60000"/>
                    <a:lumOff val="40000"/>
                  </a:schemeClr>
                </a:solidFill>
              </a:rPr>
              <a:t> </a:t>
            </a:r>
            <a:r>
              <a:rPr lang="en-US" dirty="0"/>
              <a:t>&amp;&amp;</a:t>
            </a:r>
            <a:r>
              <a:rPr lang="en-US" dirty="0">
                <a:solidFill>
                  <a:schemeClr val="tx1">
                    <a:lumMod val="60000"/>
                    <a:lumOff val="40000"/>
                  </a:schemeClr>
                </a:solidFill>
              </a:rPr>
              <a:t> </a:t>
            </a:r>
            <a:r>
              <a:rPr lang="en-US" dirty="0">
                <a:solidFill>
                  <a:srgbClr val="FF0000"/>
                </a:solidFill>
              </a:rPr>
              <a:t>(</a:t>
            </a:r>
            <a:r>
              <a:rPr lang="en-US" dirty="0"/>
              <a:t>x &lt; 5</a:t>
            </a:r>
            <a:r>
              <a:rPr lang="en-US" dirty="0">
                <a:solidFill>
                  <a:srgbClr val="FF0000"/>
                </a:solidFill>
              </a:rPr>
              <a:t>)</a:t>
            </a:r>
            <a:r>
              <a:rPr lang="en-US" dirty="0">
                <a:solidFill>
                  <a:schemeClr val="tx1">
                    <a:lumMod val="60000"/>
                    <a:lumOff val="40000"/>
                  </a:schemeClr>
                </a:solidFill>
              </a:rPr>
              <a:t> </a:t>
            </a:r>
            <a:r>
              <a:rPr lang="en-US" dirty="0" err="1"/>
              <a:t>hoặc</a:t>
            </a:r>
            <a:r>
              <a:rPr lang="en-US" dirty="0">
                <a:solidFill>
                  <a:schemeClr val="tx1">
                    <a:lumMod val="60000"/>
                    <a:lumOff val="40000"/>
                  </a:schemeClr>
                </a:solidFill>
              </a:rPr>
              <a:t> </a:t>
            </a:r>
            <a:r>
              <a:rPr lang="en-US" dirty="0">
                <a:solidFill>
                  <a:srgbClr val="FF0000"/>
                </a:solidFill>
              </a:rPr>
              <a:t>(</a:t>
            </a:r>
            <a:r>
              <a:rPr lang="en-US" dirty="0"/>
              <a:t>x &gt; –5 &amp;&amp; x &lt; 5</a:t>
            </a:r>
            <a:r>
              <a:rPr lang="en-US" dirty="0">
                <a:solidFill>
                  <a:srgbClr val="FF0000"/>
                </a:solidFill>
              </a:rPr>
              <a:t>)</a:t>
            </a:r>
          </a:p>
        </p:txBody>
      </p:sp>
      <p:sp>
        <p:nvSpPr>
          <p:cNvPr id="39940"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B76F5CBD-2A10-4E87-8A43-784B0774E5C5}"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43</a:t>
            </a:fld>
            <a:r>
              <a:rPr lang="vi-VN"/>
              <a:t>/59</a:t>
            </a:r>
          </a:p>
        </p:txBody>
      </p:sp>
    </p:spTree>
    <p:extLst>
      <p:ext uri="{BB962C8B-B14F-4D97-AF65-F5344CB8AC3E}">
        <p14:creationId xmlns:p14="http://schemas.microsoft.com/office/powerpoint/2010/main" val="366407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anim calcmode="lin" valueType="num">
                                      <p:cBhvr>
                                        <p:cTn id="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anim calcmode="lin" valueType="num">
                                      <p:cBhvr>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anim calcmode="lin" valueType="num">
                                      <p:cBhvr>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anim calcmode="lin" valueType="num">
                                      <p:cBhvr>
                                        <p:cTn id="36"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anim calcmode="lin" valueType="num">
                                      <p:cBhvr>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anim calcmode="lin" valueType="num">
                                      <p:cBhvr>
                                        <p:cTn id="5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500"/>
                                        <p:tgtEl>
                                          <p:spTgt spid="3">
                                            <p:txEl>
                                              <p:pRg st="8" end="8"/>
                                            </p:txEl>
                                          </p:spTgt>
                                        </p:tgtEl>
                                      </p:cBhvr>
                                    </p:animEffect>
                                    <p:anim calcmode="lin" valueType="num">
                                      <p:cBhvr>
                                        <p:cTn id="5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6. Sử dụng môi trường làm việc C</a:t>
            </a:r>
            <a:endParaRPr lang="vi-VN"/>
          </a:p>
        </p:txBody>
      </p:sp>
      <p:sp>
        <p:nvSpPr>
          <p:cNvPr id="3" name="Content Placeholder 2"/>
          <p:cNvSpPr>
            <a:spLocks noGrp="1"/>
          </p:cNvSpPr>
          <p:nvPr>
            <p:ph idx="1"/>
          </p:nvPr>
        </p:nvSpPr>
        <p:spPr/>
        <p:txBody>
          <a:bodyPr/>
          <a:lstStyle/>
          <a:p>
            <a:r>
              <a:rPr lang="en-US"/>
              <a:t>Môi trường Turbo C++</a:t>
            </a:r>
          </a:p>
          <a:p>
            <a:pPr lvl="1"/>
            <a:r>
              <a:rPr lang="en-US"/>
              <a:t>Các file cơ bản:</a:t>
            </a:r>
          </a:p>
          <a:p>
            <a:pPr lvl="2"/>
            <a:r>
              <a:rPr lang="en-US"/>
              <a:t>TC.EXE – thường nằm trong TC\BIN</a:t>
            </a:r>
          </a:p>
          <a:p>
            <a:pPr lvl="2"/>
            <a:r>
              <a:rPr lang="en-US"/>
              <a:t>Các tệp *.H (stdio.h, conio.h, math.h…) – thường nằm trong thư mục TC\include</a:t>
            </a:r>
          </a:p>
          <a:p>
            <a:pPr lvl="1"/>
            <a:r>
              <a:rPr lang="en-US"/>
              <a:t>Khởi động: TC\BIN\TC.EXE</a:t>
            </a:r>
          </a:p>
          <a:p>
            <a:pPr lvl="1"/>
            <a:r>
              <a:rPr lang="en-US"/>
              <a:t>Tạo tệp mới: File </a:t>
            </a:r>
            <a:r>
              <a:rPr lang="en-US">
                <a:sym typeface="Wingdings" pitchFamily="2" charset="2"/>
              </a:rPr>
              <a:t> New</a:t>
            </a:r>
          </a:p>
          <a:p>
            <a:pPr lvl="1"/>
            <a:r>
              <a:rPr lang="en-US">
                <a:sym typeface="Wingdings" pitchFamily="2" charset="2"/>
              </a:rPr>
              <a:t>Mở tệp: F3</a:t>
            </a:r>
          </a:p>
          <a:p>
            <a:pPr lvl="1"/>
            <a:r>
              <a:rPr lang="en-US">
                <a:sym typeface="Wingdings" pitchFamily="2" charset="2"/>
              </a:rPr>
              <a:t>Lưu tệp: F2</a:t>
            </a:r>
          </a:p>
          <a:p>
            <a:pPr lvl="1"/>
            <a:r>
              <a:rPr lang="en-US">
                <a:sym typeface="Wingdings" pitchFamily="2" charset="2"/>
              </a:rPr>
              <a:t>Thoát: Alt + X</a:t>
            </a:r>
          </a:p>
          <a:p>
            <a:pPr lvl="1"/>
            <a:r>
              <a:rPr lang="en-US">
                <a:sym typeface="Wingdings" pitchFamily="2" charset="2"/>
              </a:rPr>
              <a:t>Dịch: Alt + F9</a:t>
            </a:r>
          </a:p>
          <a:p>
            <a:pPr lvl="1"/>
            <a:r>
              <a:rPr lang="en-US">
                <a:sym typeface="Wingdings" pitchFamily="2" charset="2"/>
              </a:rPr>
              <a:t>Chạy chương trình: Ctrl + F9</a:t>
            </a:r>
            <a:endParaRPr lang="vi-VN"/>
          </a:p>
        </p:txBody>
      </p:sp>
      <p:sp>
        <p:nvSpPr>
          <p:cNvPr id="4" name="Date Placeholder 3"/>
          <p:cNvSpPr>
            <a:spLocks noGrp="1"/>
          </p:cNvSpPr>
          <p:nvPr>
            <p:ph type="dt" sz="half" idx="10"/>
          </p:nvPr>
        </p:nvSpPr>
        <p:spPr/>
        <p:txBody>
          <a:bodyPr/>
          <a:lstStyle/>
          <a:p>
            <a:fld id="{B5765AFA-A4E8-44B8-B835-BAEE304D9E0E}"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44</a:t>
            </a:fld>
            <a:r>
              <a:rPr lang="vi-VN"/>
              <a:t>/59</a:t>
            </a:r>
          </a:p>
        </p:txBody>
      </p:sp>
    </p:spTree>
    <p:extLst>
      <p:ext uri="{BB962C8B-B14F-4D97-AF65-F5344CB8AC3E}">
        <p14:creationId xmlns:p14="http://schemas.microsoft.com/office/powerpoint/2010/main" val="6263000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Sử dụng môi trường làm việc C (tt)</a:t>
            </a:r>
            <a:endParaRPr lang="vi-VN"/>
          </a:p>
        </p:txBody>
      </p:sp>
      <p:sp>
        <p:nvSpPr>
          <p:cNvPr id="3" name="Content Placeholder 2"/>
          <p:cNvSpPr>
            <a:spLocks noGrp="1"/>
          </p:cNvSpPr>
          <p:nvPr>
            <p:ph idx="1"/>
          </p:nvPr>
        </p:nvSpPr>
        <p:spPr/>
        <p:txBody>
          <a:bodyPr/>
          <a:lstStyle/>
          <a:p>
            <a:r>
              <a:rPr lang="en-US"/>
              <a:t>Môi trường Dev-C++</a:t>
            </a:r>
          </a:p>
          <a:p>
            <a:pPr lvl="1"/>
            <a:r>
              <a:rPr lang="en-US"/>
              <a:t>Tạo mới: </a:t>
            </a:r>
          </a:p>
          <a:p>
            <a:pPr lvl="2"/>
            <a:r>
              <a:rPr lang="en-US"/>
              <a:t>File </a:t>
            </a:r>
            <a:r>
              <a:rPr lang="en-US">
                <a:sym typeface="Wingdings" pitchFamily="2" charset="2"/>
              </a:rPr>
              <a:t> New  Project  Console Application</a:t>
            </a:r>
          </a:p>
          <a:p>
            <a:pPr lvl="2"/>
            <a:r>
              <a:rPr lang="en-US">
                <a:sym typeface="Wingdings" pitchFamily="2" charset="2"/>
              </a:rPr>
              <a:t>File  New  Source File</a:t>
            </a:r>
          </a:p>
          <a:p>
            <a:pPr lvl="1"/>
            <a:r>
              <a:rPr lang="en-US">
                <a:sym typeface="Wingdings" pitchFamily="2" charset="2"/>
              </a:rPr>
              <a:t>Mở file/project: File -&gt; Open Project or file</a:t>
            </a:r>
          </a:p>
          <a:p>
            <a:pPr lvl="1"/>
            <a:r>
              <a:rPr lang="en-US">
                <a:sym typeface="Wingdings" pitchFamily="2" charset="2"/>
              </a:rPr>
              <a:t>Dịch: Ctrl + F9</a:t>
            </a:r>
          </a:p>
          <a:p>
            <a:pPr lvl="1"/>
            <a:r>
              <a:rPr lang="en-US">
                <a:sym typeface="Wingdings" pitchFamily="2" charset="2"/>
              </a:rPr>
              <a:t>Chạy chương trình: Ctrl + F10</a:t>
            </a:r>
          </a:p>
          <a:p>
            <a:pPr lvl="1"/>
            <a:r>
              <a:rPr lang="en-US">
                <a:sym typeface="Wingdings" pitchFamily="2" charset="2"/>
              </a:rPr>
              <a:t>Dịch và chạy: F9</a:t>
            </a:r>
          </a:p>
          <a:p>
            <a:pPr lvl="1"/>
            <a:r>
              <a:rPr lang="en-US">
                <a:sym typeface="Wingdings" pitchFamily="2" charset="2"/>
              </a:rPr>
              <a:t>Gỡ rối:</a:t>
            </a:r>
          </a:p>
          <a:p>
            <a:pPr lvl="2"/>
            <a:r>
              <a:rPr lang="en-US">
                <a:sym typeface="Wingdings" pitchFamily="2" charset="2"/>
              </a:rPr>
              <a:t>Gỡ rối: F8</a:t>
            </a:r>
          </a:p>
          <a:p>
            <a:pPr lvl="2"/>
            <a:r>
              <a:rPr lang="en-US">
                <a:sym typeface="Wingdings" pitchFamily="2" charset="2"/>
              </a:rPr>
              <a:t>Chạy từ con trỏ: Shift + F4</a:t>
            </a:r>
          </a:p>
          <a:p>
            <a:pPr lvl="2"/>
            <a:endParaRPr lang="en-US"/>
          </a:p>
          <a:p>
            <a:endParaRPr lang="vi-VN"/>
          </a:p>
        </p:txBody>
      </p:sp>
      <p:sp>
        <p:nvSpPr>
          <p:cNvPr id="4" name="Date Placeholder 3"/>
          <p:cNvSpPr>
            <a:spLocks noGrp="1"/>
          </p:cNvSpPr>
          <p:nvPr>
            <p:ph type="dt" sz="half" idx="10"/>
          </p:nvPr>
        </p:nvSpPr>
        <p:spPr/>
        <p:txBody>
          <a:bodyPr/>
          <a:lstStyle/>
          <a:p>
            <a:fld id="{DEA913A5-B74C-420A-BCF5-93E19A0523CB}"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45</a:t>
            </a:fld>
            <a:r>
              <a:rPr lang="vi-VN"/>
              <a:t>/59</a:t>
            </a:r>
          </a:p>
        </p:txBody>
      </p:sp>
    </p:spTree>
    <p:extLst>
      <p:ext uri="{BB962C8B-B14F-4D97-AF65-F5344CB8AC3E}">
        <p14:creationId xmlns:p14="http://schemas.microsoft.com/office/powerpoint/2010/main" val="22356619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7. Vào – Ra dữ liệu trong C</a:t>
            </a:r>
            <a:endParaRPr lang="vi-VN"/>
          </a:p>
        </p:txBody>
      </p:sp>
      <p:sp>
        <p:nvSpPr>
          <p:cNvPr id="3" name="Content Placeholder 2"/>
          <p:cNvSpPr>
            <a:spLocks noGrp="1"/>
          </p:cNvSpPr>
          <p:nvPr>
            <p:ph idx="1"/>
          </p:nvPr>
        </p:nvSpPr>
        <p:spPr/>
        <p:txBody>
          <a:bodyPr/>
          <a:lstStyle/>
          <a:p>
            <a:pPr marL="0" indent="0">
              <a:buNone/>
            </a:pPr>
            <a:r>
              <a:rPr lang="en-US" sz="3400" dirty="0" err="1">
                <a:solidFill>
                  <a:schemeClr val="folHlink"/>
                </a:solidFill>
                <a:latin typeface="+mj-lt"/>
                <a:ea typeface="+mj-ea"/>
                <a:cs typeface="+mj-cs"/>
              </a:rPr>
              <a:t>Xuất</a:t>
            </a:r>
            <a:r>
              <a:rPr lang="en-US" sz="3400" dirty="0">
                <a:solidFill>
                  <a:schemeClr val="folHlink"/>
                </a:solidFill>
                <a:latin typeface="+mj-lt"/>
                <a:ea typeface="+mj-ea"/>
                <a:cs typeface="+mj-cs"/>
              </a:rPr>
              <a:t> </a:t>
            </a:r>
            <a:r>
              <a:rPr lang="en-US" sz="3400" dirty="0" err="1">
                <a:solidFill>
                  <a:schemeClr val="folHlink"/>
                </a:solidFill>
                <a:latin typeface="+mj-lt"/>
                <a:ea typeface="+mj-ea"/>
                <a:cs typeface="+mj-cs"/>
              </a:rPr>
              <a:t>dữ</a:t>
            </a:r>
            <a:r>
              <a:rPr lang="en-US" sz="3400" dirty="0">
                <a:solidFill>
                  <a:schemeClr val="folHlink"/>
                </a:solidFill>
                <a:latin typeface="+mj-lt"/>
                <a:ea typeface="+mj-ea"/>
                <a:cs typeface="+mj-cs"/>
              </a:rPr>
              <a:t> </a:t>
            </a:r>
            <a:r>
              <a:rPr lang="en-US" sz="3400" dirty="0" err="1">
                <a:solidFill>
                  <a:schemeClr val="folHlink"/>
                </a:solidFill>
                <a:latin typeface="+mj-lt"/>
                <a:ea typeface="+mj-ea"/>
                <a:cs typeface="+mj-cs"/>
              </a:rPr>
              <a:t>liệu</a:t>
            </a:r>
            <a:endParaRPr lang="en-US" sz="3400" dirty="0">
              <a:solidFill>
                <a:schemeClr val="folHlink"/>
              </a:solidFill>
              <a:latin typeface="+mj-lt"/>
              <a:ea typeface="+mj-ea"/>
              <a:cs typeface="+mj-cs"/>
            </a:endParaRPr>
          </a:p>
          <a:p>
            <a:pPr>
              <a:defRPr/>
            </a:pPr>
            <a:r>
              <a:rPr lang="en-US" dirty="0"/>
              <a:t>Th</a:t>
            </a:r>
            <a:r>
              <a:rPr lang="vi-VN" dirty="0"/>
              <a:t>ư</a:t>
            </a:r>
            <a:r>
              <a:rPr lang="en-US" dirty="0"/>
              <a:t> </a:t>
            </a:r>
            <a:r>
              <a:rPr lang="en-US" dirty="0" err="1"/>
              <a:t>viện</a:t>
            </a:r>
            <a:endParaRPr lang="en-US" dirty="0"/>
          </a:p>
          <a:p>
            <a:pPr lvl="1">
              <a:defRPr/>
            </a:pPr>
            <a:r>
              <a:rPr lang="en-US" dirty="0"/>
              <a:t>#include &lt;</a:t>
            </a:r>
            <a:r>
              <a:rPr lang="en-US" dirty="0" err="1"/>
              <a:t>stdio.h</a:t>
            </a:r>
            <a:r>
              <a:rPr lang="en-US" dirty="0"/>
              <a:t>&gt; (</a:t>
            </a:r>
            <a:r>
              <a:rPr lang="en-US" dirty="0">
                <a:solidFill>
                  <a:srgbClr val="FF0000"/>
                </a:solidFill>
              </a:rPr>
              <a:t>st</a:t>
            </a:r>
            <a:r>
              <a:rPr lang="en-US" dirty="0"/>
              <a:t>andar</a:t>
            </a:r>
            <a:r>
              <a:rPr lang="en-US" dirty="0">
                <a:solidFill>
                  <a:srgbClr val="FF0000"/>
                </a:solidFill>
              </a:rPr>
              <a:t>d</a:t>
            </a:r>
            <a:r>
              <a:rPr lang="en-US" dirty="0"/>
              <a:t> </a:t>
            </a:r>
            <a:r>
              <a:rPr lang="en-US" dirty="0">
                <a:solidFill>
                  <a:srgbClr val="FF0000"/>
                </a:solidFill>
              </a:rPr>
              <a:t>i</a:t>
            </a:r>
            <a:r>
              <a:rPr lang="en-US" dirty="0"/>
              <a:t>nput/</a:t>
            </a:r>
            <a:r>
              <a:rPr lang="en-US" dirty="0">
                <a:solidFill>
                  <a:srgbClr val="FF0000"/>
                </a:solidFill>
              </a:rPr>
              <a:t>o</a:t>
            </a:r>
            <a:r>
              <a:rPr lang="en-US" dirty="0"/>
              <a:t>utput)</a:t>
            </a:r>
          </a:p>
          <a:p>
            <a:pPr>
              <a:defRPr/>
            </a:pPr>
            <a:r>
              <a:rPr lang="en-US" dirty="0" err="1"/>
              <a:t>Cú</a:t>
            </a:r>
            <a:r>
              <a:rPr lang="en-US" dirty="0"/>
              <a:t> </a:t>
            </a:r>
            <a:r>
              <a:rPr lang="en-US" dirty="0" err="1"/>
              <a:t>pháp</a:t>
            </a:r>
            <a:endParaRPr lang="en-US" dirty="0"/>
          </a:p>
          <a:p>
            <a:pPr lvl="1">
              <a:defRPr/>
            </a:pPr>
            <a:r>
              <a:rPr lang="en-US" dirty="0" err="1">
                <a:solidFill>
                  <a:srgbClr val="FF0000"/>
                </a:solidFill>
              </a:rPr>
              <a:t>printf</a:t>
            </a:r>
            <a:r>
              <a:rPr lang="en-US" dirty="0">
                <a:solidFill>
                  <a:srgbClr val="FF0000"/>
                </a:solidFill>
              </a:rPr>
              <a:t>(“</a:t>
            </a:r>
            <a:r>
              <a:rPr lang="en-US" dirty="0" err="1">
                <a:solidFill>
                  <a:srgbClr val="FF0000"/>
                </a:solidFill>
              </a:rPr>
              <a:t>dãy</a:t>
            </a:r>
            <a:r>
              <a:rPr lang="en-US" dirty="0">
                <a:solidFill>
                  <a:srgbClr val="FF0000"/>
                </a:solidFill>
              </a:rPr>
              <a:t> </a:t>
            </a:r>
            <a:r>
              <a:rPr lang="en-US" dirty="0" err="1">
                <a:solidFill>
                  <a:srgbClr val="FF0000"/>
                </a:solidFill>
              </a:rPr>
              <a:t>mã</a:t>
            </a:r>
            <a:r>
              <a:rPr lang="en-US" dirty="0">
                <a:solidFill>
                  <a:srgbClr val="FF0000"/>
                </a:solidFill>
              </a:rPr>
              <a:t> </a:t>
            </a:r>
            <a:r>
              <a:rPr lang="en-US" dirty="0" err="1">
                <a:solidFill>
                  <a:srgbClr val="FF0000"/>
                </a:solidFill>
              </a:rPr>
              <a:t>quy</a:t>
            </a:r>
            <a:r>
              <a:rPr lang="en-US" dirty="0">
                <a:solidFill>
                  <a:srgbClr val="FF0000"/>
                </a:solidFill>
              </a:rPr>
              <a:t> </a:t>
            </a:r>
            <a:r>
              <a:rPr lang="en-US" dirty="0" err="1">
                <a:solidFill>
                  <a:srgbClr val="FF0000"/>
                </a:solidFill>
              </a:rPr>
              <a:t>cách</a:t>
            </a:r>
            <a:r>
              <a:rPr lang="en-US" dirty="0">
                <a:solidFill>
                  <a:srgbClr val="FF0000"/>
                </a:solidFill>
              </a:rPr>
              <a:t>”, </a:t>
            </a:r>
            <a:r>
              <a:rPr lang="en-US" dirty="0" err="1">
                <a:solidFill>
                  <a:srgbClr val="FF0000"/>
                </a:solidFill>
              </a:rPr>
              <a:t>dãy</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biểu</a:t>
            </a:r>
            <a:r>
              <a:rPr lang="en-US" dirty="0">
                <a:solidFill>
                  <a:srgbClr val="FF0000"/>
                </a:solidFill>
              </a:rPr>
              <a:t> </a:t>
            </a:r>
            <a:r>
              <a:rPr lang="en-US" dirty="0" err="1">
                <a:solidFill>
                  <a:srgbClr val="FF0000"/>
                </a:solidFill>
              </a:rPr>
              <a:t>thức</a:t>
            </a:r>
            <a:r>
              <a:rPr lang="en-US" dirty="0">
                <a:solidFill>
                  <a:srgbClr val="FF0000"/>
                </a:solidFill>
              </a:rPr>
              <a:t>)</a:t>
            </a:r>
          </a:p>
          <a:p>
            <a:pPr lvl="1">
              <a:defRPr/>
            </a:pPr>
            <a:r>
              <a:rPr lang="en-US" dirty="0" err="1"/>
              <a:t>dãy</a:t>
            </a:r>
            <a:r>
              <a:rPr lang="en-US" dirty="0"/>
              <a:t> </a:t>
            </a:r>
            <a:r>
              <a:rPr lang="en-US" dirty="0" err="1"/>
              <a:t>mã</a:t>
            </a:r>
            <a:r>
              <a:rPr lang="en-US" dirty="0"/>
              <a:t> </a:t>
            </a:r>
            <a:r>
              <a:rPr lang="en-US" dirty="0" err="1"/>
              <a:t>quy</a:t>
            </a:r>
            <a:r>
              <a:rPr lang="en-US" dirty="0"/>
              <a:t> </a:t>
            </a:r>
            <a:r>
              <a:rPr lang="en-US" dirty="0" err="1"/>
              <a:t>cách</a:t>
            </a:r>
            <a:r>
              <a:rPr lang="en-US" dirty="0"/>
              <a:t> </a:t>
            </a:r>
            <a:r>
              <a:rPr lang="en-US" dirty="0" err="1"/>
              <a:t>là</a:t>
            </a:r>
            <a:r>
              <a:rPr lang="en-US" dirty="0"/>
              <a:t> </a:t>
            </a:r>
            <a:r>
              <a:rPr lang="en-US" dirty="0" err="1"/>
              <a:t>dãy</a:t>
            </a:r>
            <a:r>
              <a:rPr lang="en-US" dirty="0"/>
              <a:t> </a:t>
            </a:r>
            <a:r>
              <a:rPr lang="en-US" dirty="0" err="1"/>
              <a:t>các</a:t>
            </a:r>
            <a:r>
              <a:rPr lang="en-US" dirty="0"/>
              <a:t> </a:t>
            </a:r>
            <a:r>
              <a:rPr lang="en-US" dirty="0" err="1"/>
              <a:t>định</a:t>
            </a:r>
            <a:r>
              <a:rPr lang="en-US" dirty="0"/>
              <a:t> </a:t>
            </a:r>
            <a:r>
              <a:rPr lang="en-US" dirty="0" err="1"/>
              <a:t>dạng</a:t>
            </a:r>
            <a:r>
              <a:rPr lang="en-US" dirty="0"/>
              <a:t> </a:t>
            </a:r>
            <a:r>
              <a:rPr lang="vi-VN" dirty="0"/>
              <a:t>đượ</a:t>
            </a:r>
            <a:r>
              <a:rPr lang="en-US" dirty="0"/>
              <a:t>c </a:t>
            </a:r>
            <a:r>
              <a:rPr lang="vi-VN" dirty="0"/>
              <a:t>đặ</a:t>
            </a:r>
            <a:r>
              <a:rPr lang="en-US" dirty="0"/>
              <a:t>t </a:t>
            </a:r>
            <a:r>
              <a:rPr lang="en-US" dirty="0" err="1"/>
              <a:t>trong</a:t>
            </a:r>
            <a:r>
              <a:rPr lang="en-US" dirty="0"/>
              <a:t> </a:t>
            </a:r>
            <a:r>
              <a:rPr lang="en-US" dirty="0" err="1"/>
              <a:t>cặp</a:t>
            </a:r>
            <a:r>
              <a:rPr lang="en-US" dirty="0"/>
              <a:t> </a:t>
            </a:r>
            <a:r>
              <a:rPr lang="en-US" dirty="0" err="1"/>
              <a:t>nháy</a:t>
            </a:r>
            <a:r>
              <a:rPr lang="en-US" dirty="0"/>
              <a:t> </a:t>
            </a:r>
            <a:r>
              <a:rPr lang="en-US" dirty="0" err="1"/>
              <a:t>kép</a:t>
            </a:r>
            <a:r>
              <a:rPr lang="en-US" dirty="0"/>
              <a:t> </a:t>
            </a:r>
            <a:r>
              <a:rPr lang="en-US" dirty="0">
                <a:solidFill>
                  <a:srgbClr val="FF0000"/>
                </a:solidFill>
              </a:rPr>
              <a:t>“</a:t>
            </a:r>
            <a:r>
              <a:rPr lang="en-US" dirty="0"/>
              <a:t> </a:t>
            </a:r>
            <a:r>
              <a:rPr lang="en-US" dirty="0">
                <a:solidFill>
                  <a:srgbClr val="FF0000"/>
                </a:solidFill>
              </a:rPr>
              <a:t>”</a:t>
            </a:r>
            <a:r>
              <a:rPr lang="en-US" dirty="0"/>
              <a:t>.</a:t>
            </a:r>
          </a:p>
          <a:p>
            <a:pPr lvl="2">
              <a:defRPr/>
            </a:pPr>
            <a:r>
              <a:rPr lang="en-US" dirty="0"/>
              <a:t>V</a:t>
            </a:r>
            <a:r>
              <a:rPr lang="vi-VN" dirty="0"/>
              <a:t>ă</a:t>
            </a:r>
            <a:r>
              <a:rPr lang="en-US" dirty="0"/>
              <a:t>n </a:t>
            </a:r>
            <a:r>
              <a:rPr lang="en-US" dirty="0" err="1"/>
              <a:t>bản</a:t>
            </a:r>
            <a:r>
              <a:rPr lang="en-US" dirty="0"/>
              <a:t> </a:t>
            </a:r>
            <a:r>
              <a:rPr lang="en-US" dirty="0" err="1"/>
              <a:t>th</a:t>
            </a:r>
            <a:r>
              <a:rPr lang="vi-VN" dirty="0"/>
              <a:t>ườ</a:t>
            </a:r>
            <a:r>
              <a:rPr lang="en-US" dirty="0"/>
              <a:t>ng (literal text)</a:t>
            </a:r>
          </a:p>
          <a:p>
            <a:pPr lvl="2">
              <a:defRPr/>
            </a:pPr>
            <a:r>
              <a:rPr lang="en-US" dirty="0" err="1"/>
              <a:t>Ký</a:t>
            </a:r>
            <a:r>
              <a:rPr lang="en-US" dirty="0"/>
              <a:t> </a:t>
            </a:r>
            <a:r>
              <a:rPr lang="en-US" dirty="0" err="1"/>
              <a:t>tự</a:t>
            </a:r>
            <a:r>
              <a:rPr lang="en-US" dirty="0"/>
              <a:t> </a:t>
            </a:r>
            <a:r>
              <a:rPr lang="vi-VN" dirty="0"/>
              <a:t>đ</a:t>
            </a:r>
            <a:r>
              <a:rPr lang="en-US" dirty="0" err="1"/>
              <a:t>iều</a:t>
            </a:r>
            <a:r>
              <a:rPr lang="en-US" dirty="0"/>
              <a:t> </a:t>
            </a:r>
            <a:r>
              <a:rPr lang="en-US" dirty="0" err="1"/>
              <a:t>khiển</a:t>
            </a:r>
            <a:r>
              <a:rPr lang="en-US" dirty="0"/>
              <a:t> (escape sequence)</a:t>
            </a:r>
          </a:p>
          <a:p>
            <a:pPr lvl="2">
              <a:defRPr/>
            </a:pPr>
            <a:r>
              <a:rPr lang="en-US" dirty="0" err="1"/>
              <a:t>Đặc</a:t>
            </a:r>
            <a:r>
              <a:rPr lang="en-US" dirty="0"/>
              <a:t> </a:t>
            </a:r>
            <a:r>
              <a:rPr lang="en-US" dirty="0" err="1"/>
              <a:t>tả</a:t>
            </a:r>
            <a:r>
              <a:rPr lang="en-US" dirty="0"/>
              <a:t> (conversion specifier)</a:t>
            </a:r>
          </a:p>
          <a:p>
            <a:pPr marL="0" indent="0">
              <a:buNone/>
            </a:pPr>
            <a:endParaRPr lang="vi-VN" sz="3400" dirty="0">
              <a:solidFill>
                <a:schemeClr val="folHlink"/>
              </a:solidFill>
              <a:latin typeface="+mj-lt"/>
              <a:ea typeface="+mj-ea"/>
              <a:cs typeface="+mj-cs"/>
            </a:endParaRPr>
          </a:p>
        </p:txBody>
      </p:sp>
      <p:sp>
        <p:nvSpPr>
          <p:cNvPr id="4" name="Date Placeholder 3"/>
          <p:cNvSpPr>
            <a:spLocks noGrp="1"/>
          </p:cNvSpPr>
          <p:nvPr>
            <p:ph type="dt" sz="half" idx="10"/>
          </p:nvPr>
        </p:nvSpPr>
        <p:spPr/>
        <p:txBody>
          <a:bodyPr/>
          <a:lstStyle/>
          <a:p>
            <a:fld id="{486A9D2E-3B70-4164-9087-6BCF2F5F43A6}"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46</a:t>
            </a:fld>
            <a:r>
              <a:rPr lang="vi-VN"/>
              <a:t>/59</a:t>
            </a:r>
          </a:p>
        </p:txBody>
      </p:sp>
    </p:spTree>
    <p:extLst>
      <p:ext uri="{BB962C8B-B14F-4D97-AF65-F5344CB8AC3E}">
        <p14:creationId xmlns:p14="http://schemas.microsoft.com/office/powerpoint/2010/main" val="114957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up)">
                                      <p:cBhvr>
                                        <p:cTn id="7" dur="500"/>
                                        <p:tgtEl>
                                          <p:spTgt spid="3">
                                            <p:txEl>
                                              <p:pRg st="3" end="3"/>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up)">
                                      <p:cBhvr>
                                        <p:cTn id="10" dur="500"/>
                                        <p:tgtEl>
                                          <p:spTgt spid="3">
                                            <p:txEl>
                                              <p:pRg st="4" end="4"/>
                                            </p:txEl>
                                          </p:spTgt>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wipe(up)">
                                      <p:cBhvr>
                                        <p:cTn id="14" dur="500"/>
                                        <p:tgtEl>
                                          <p:spTgt spid="3">
                                            <p:txEl>
                                              <p:pRg st="5" end="5"/>
                                            </p:txEl>
                                          </p:spTgt>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wipe(up)">
                                      <p:cBhvr>
                                        <p:cTn id="18" dur="500"/>
                                        <p:tgtEl>
                                          <p:spTgt spid="3">
                                            <p:txEl>
                                              <p:pRg st="6" end="6"/>
                                            </p:txEl>
                                          </p:spTgt>
                                        </p:tgtEl>
                                      </p:cBhvr>
                                    </p:animEffect>
                                  </p:childTnLst>
                                </p:cTn>
                              </p:par>
                            </p:childTnLst>
                          </p:cTn>
                        </p:par>
                        <p:par>
                          <p:cTn id="19" fill="hold">
                            <p:stCondLst>
                              <p:cond delay="1500"/>
                            </p:stCondLst>
                            <p:childTnLst>
                              <p:par>
                                <p:cTn id="20" presetID="22" presetClass="entr" presetSubtype="1" fill="hold" nodeType="after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wipe(up)">
                                      <p:cBhvr>
                                        <p:cTn id="22" dur="500"/>
                                        <p:tgtEl>
                                          <p:spTgt spid="3">
                                            <p:txEl>
                                              <p:pRg st="7" end="7"/>
                                            </p:txEl>
                                          </p:spTgt>
                                        </p:tgtEl>
                                      </p:cBhvr>
                                    </p:animEffect>
                                  </p:childTnLst>
                                </p:cTn>
                              </p:par>
                            </p:childTnLst>
                          </p:cTn>
                        </p:par>
                        <p:par>
                          <p:cTn id="23" fill="hold">
                            <p:stCondLst>
                              <p:cond delay="2000"/>
                            </p:stCondLst>
                            <p:childTnLst>
                              <p:par>
                                <p:cTn id="24" presetID="22" presetClass="entr" presetSubtype="1" fill="hold" nodeType="after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wipe(up)">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t>Mã quy cách</a:t>
            </a:r>
          </a:p>
        </p:txBody>
      </p:sp>
      <p:sp>
        <p:nvSpPr>
          <p:cNvPr id="3" name="Content Placeholder 2"/>
          <p:cNvSpPr>
            <a:spLocks noGrp="1"/>
          </p:cNvSpPr>
          <p:nvPr>
            <p:ph idx="1"/>
          </p:nvPr>
        </p:nvSpPr>
        <p:spPr/>
        <p:txBody>
          <a:bodyPr/>
          <a:lstStyle/>
          <a:p>
            <a:pPr>
              <a:defRPr/>
            </a:pPr>
            <a:r>
              <a:rPr lang="en-US" dirty="0"/>
              <a:t>V</a:t>
            </a:r>
            <a:r>
              <a:rPr lang="vi-VN" dirty="0"/>
              <a:t>ă</a:t>
            </a:r>
            <a:r>
              <a:rPr lang="en-US" dirty="0"/>
              <a:t>n </a:t>
            </a:r>
            <a:r>
              <a:rPr lang="en-US" dirty="0" err="1"/>
              <a:t>bản</a:t>
            </a:r>
            <a:r>
              <a:rPr lang="en-US" dirty="0"/>
              <a:t> </a:t>
            </a:r>
            <a:r>
              <a:rPr lang="en-US" dirty="0" err="1"/>
              <a:t>th</a:t>
            </a:r>
            <a:r>
              <a:rPr lang="vi-VN" dirty="0"/>
              <a:t>ườ</a:t>
            </a:r>
            <a:r>
              <a:rPr lang="en-US" dirty="0"/>
              <a:t>ng (literal text)</a:t>
            </a:r>
          </a:p>
          <a:p>
            <a:pPr lvl="1">
              <a:defRPr/>
            </a:pPr>
            <a:r>
              <a:rPr lang="en-US" dirty="0"/>
              <a:t>Đ</a:t>
            </a:r>
            <a:r>
              <a:rPr lang="vi-VN" dirty="0"/>
              <a:t>ượ</a:t>
            </a:r>
            <a:r>
              <a:rPr lang="en-US" dirty="0"/>
              <a:t>c </a:t>
            </a:r>
            <a:r>
              <a:rPr lang="en-US" dirty="0" err="1"/>
              <a:t>xuất</a:t>
            </a:r>
            <a:r>
              <a:rPr lang="en-US" dirty="0"/>
              <a:t> y </a:t>
            </a:r>
            <a:r>
              <a:rPr lang="en-US" dirty="0" err="1"/>
              <a:t>hệt</a:t>
            </a:r>
            <a:r>
              <a:rPr lang="en-US" dirty="0"/>
              <a:t> </a:t>
            </a:r>
            <a:r>
              <a:rPr lang="en-US" dirty="0" err="1"/>
              <a:t>nh</a:t>
            </a:r>
            <a:r>
              <a:rPr lang="vi-VN" dirty="0"/>
              <a:t>ư</a:t>
            </a:r>
            <a:r>
              <a:rPr lang="en-US" dirty="0"/>
              <a:t> </a:t>
            </a:r>
            <a:r>
              <a:rPr lang="en-US" dirty="0" err="1"/>
              <a:t>lúc</a:t>
            </a:r>
            <a:r>
              <a:rPr lang="en-US" dirty="0"/>
              <a:t> </a:t>
            </a:r>
            <a:r>
              <a:rPr lang="en-US" dirty="0" err="1"/>
              <a:t>gõ</a:t>
            </a:r>
            <a:r>
              <a:rPr lang="en-US" dirty="0"/>
              <a:t> </a:t>
            </a:r>
            <a:r>
              <a:rPr lang="en-US" dirty="0" err="1"/>
              <a:t>trong</a:t>
            </a:r>
            <a:r>
              <a:rPr lang="en-US" dirty="0"/>
              <a:t> </a:t>
            </a:r>
            <a:r>
              <a:rPr lang="en-US" dirty="0" err="1"/>
              <a:t>chuỗi</a:t>
            </a:r>
            <a:r>
              <a:rPr lang="en-US" dirty="0"/>
              <a:t> </a:t>
            </a:r>
            <a:r>
              <a:rPr lang="vi-VN" dirty="0"/>
              <a:t>đị</a:t>
            </a:r>
            <a:r>
              <a:rPr lang="en-US" dirty="0" err="1"/>
              <a:t>nh</a:t>
            </a:r>
            <a:r>
              <a:rPr lang="en-US" dirty="0"/>
              <a:t> </a:t>
            </a:r>
            <a:r>
              <a:rPr lang="en-US" dirty="0" err="1"/>
              <a:t>dạng</a:t>
            </a:r>
            <a:r>
              <a:rPr lang="en-US" dirty="0"/>
              <a:t>.</a:t>
            </a:r>
          </a:p>
          <a:p>
            <a:pPr>
              <a:defRPr/>
            </a:pPr>
            <a:r>
              <a:rPr lang="en-US" dirty="0" err="1"/>
              <a:t>Ví</a:t>
            </a:r>
            <a:r>
              <a:rPr lang="en-US" dirty="0"/>
              <a:t> </a:t>
            </a:r>
            <a:r>
              <a:rPr lang="en-US" dirty="0" err="1"/>
              <a:t>dụ</a:t>
            </a:r>
            <a:endParaRPr lang="en-US" dirty="0"/>
          </a:p>
          <a:p>
            <a:pPr lvl="1">
              <a:defRPr/>
            </a:pPr>
            <a:r>
              <a:rPr lang="en-US" dirty="0" err="1"/>
              <a:t>Xuất</a:t>
            </a:r>
            <a:r>
              <a:rPr lang="en-US" dirty="0"/>
              <a:t> </a:t>
            </a:r>
            <a:r>
              <a:rPr lang="en-US" dirty="0" err="1"/>
              <a:t>chuỗi</a:t>
            </a:r>
            <a:r>
              <a:rPr lang="en-US" dirty="0"/>
              <a:t> </a:t>
            </a:r>
            <a:r>
              <a:rPr lang="en-US" dirty="0">
                <a:solidFill>
                  <a:srgbClr val="FF0000"/>
                </a:solidFill>
              </a:rPr>
              <a:t>Hello World</a:t>
            </a:r>
          </a:p>
          <a:p>
            <a:pPr lvl="1">
              <a:buFont typeface="Wingdings" pitchFamily="2" charset="2"/>
              <a:buNone/>
              <a:defRPr/>
            </a:pPr>
            <a:r>
              <a:rPr lang="en-US" dirty="0">
                <a:sym typeface="Wingdings" pitchFamily="2" charset="2"/>
              </a:rPr>
              <a:t>	 </a:t>
            </a:r>
            <a:r>
              <a:rPr lang="en-US" dirty="0" err="1"/>
              <a:t>printf</a:t>
            </a:r>
            <a:r>
              <a:rPr lang="en-US" dirty="0"/>
              <a:t>(“</a:t>
            </a:r>
            <a:r>
              <a:rPr lang="en-US" dirty="0">
                <a:solidFill>
                  <a:srgbClr val="FF0000"/>
                </a:solidFill>
              </a:rPr>
              <a:t>Hello </a:t>
            </a:r>
            <a:r>
              <a:rPr lang="en-US" dirty="0"/>
              <a:t>”); </a:t>
            </a:r>
            <a:r>
              <a:rPr lang="en-US" dirty="0" err="1"/>
              <a:t>printf</a:t>
            </a:r>
            <a:r>
              <a:rPr lang="en-US" dirty="0"/>
              <a:t>(“</a:t>
            </a:r>
            <a:r>
              <a:rPr lang="en-US" dirty="0">
                <a:solidFill>
                  <a:srgbClr val="FF0000"/>
                </a:solidFill>
              </a:rPr>
              <a:t>World</a:t>
            </a:r>
            <a:r>
              <a:rPr lang="en-US" dirty="0"/>
              <a:t>”);</a:t>
            </a:r>
          </a:p>
          <a:p>
            <a:pPr lvl="1">
              <a:buFont typeface="Wingdings" pitchFamily="2" charset="2"/>
              <a:buNone/>
              <a:defRPr/>
            </a:pPr>
            <a:r>
              <a:rPr lang="en-US" dirty="0">
                <a:sym typeface="Wingdings" pitchFamily="2" charset="2"/>
              </a:rPr>
              <a:t>	 </a:t>
            </a:r>
            <a:r>
              <a:rPr lang="en-US" dirty="0" err="1"/>
              <a:t>printf</a:t>
            </a:r>
            <a:r>
              <a:rPr lang="en-US" dirty="0"/>
              <a:t>(“</a:t>
            </a:r>
            <a:r>
              <a:rPr lang="en-US" dirty="0">
                <a:solidFill>
                  <a:srgbClr val="FF0000"/>
                </a:solidFill>
              </a:rPr>
              <a:t>Hello World</a:t>
            </a:r>
            <a:r>
              <a:rPr lang="en-US" dirty="0"/>
              <a:t>”);</a:t>
            </a:r>
          </a:p>
          <a:p>
            <a:pPr lvl="1">
              <a:defRPr/>
            </a:pPr>
            <a:r>
              <a:rPr lang="en-US" dirty="0" err="1"/>
              <a:t>Xuất</a:t>
            </a:r>
            <a:r>
              <a:rPr lang="en-US" dirty="0"/>
              <a:t> </a:t>
            </a:r>
            <a:r>
              <a:rPr lang="en-US" dirty="0" err="1"/>
              <a:t>chuỗi</a:t>
            </a:r>
            <a:r>
              <a:rPr lang="en-US" dirty="0"/>
              <a:t> </a:t>
            </a:r>
            <a:r>
              <a:rPr lang="en-US" dirty="0">
                <a:solidFill>
                  <a:srgbClr val="FF0000"/>
                </a:solidFill>
              </a:rPr>
              <a:t>a + b</a:t>
            </a:r>
          </a:p>
          <a:p>
            <a:pPr lvl="1">
              <a:buFont typeface="Wingdings" pitchFamily="2" charset="2"/>
              <a:buNone/>
              <a:defRPr/>
            </a:pPr>
            <a:r>
              <a:rPr lang="en-US" dirty="0">
                <a:sym typeface="Wingdings" pitchFamily="2" charset="2"/>
              </a:rPr>
              <a:t>	 </a:t>
            </a:r>
            <a:r>
              <a:rPr lang="en-US" dirty="0" err="1">
                <a:sym typeface="Wingdings" pitchFamily="2" charset="2"/>
              </a:rPr>
              <a:t>printf</a:t>
            </a:r>
            <a:r>
              <a:rPr lang="en-US" dirty="0">
                <a:sym typeface="Wingdings" pitchFamily="2" charset="2"/>
              </a:rPr>
              <a:t>(“</a:t>
            </a:r>
            <a:r>
              <a:rPr lang="en-US" dirty="0">
                <a:solidFill>
                  <a:srgbClr val="FF0000"/>
                </a:solidFill>
                <a:sym typeface="Wingdings" pitchFamily="2" charset="2"/>
              </a:rPr>
              <a:t>a + b</a:t>
            </a:r>
            <a:r>
              <a:rPr lang="en-US" dirty="0">
                <a:sym typeface="Wingdings" pitchFamily="2" charset="2"/>
              </a:rPr>
              <a:t>”);</a:t>
            </a:r>
            <a:endParaRPr lang="en-US" dirty="0"/>
          </a:p>
        </p:txBody>
      </p:sp>
      <p:sp>
        <p:nvSpPr>
          <p:cNvPr id="44036"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4BDBA431-11B9-44E8-9E29-714C993FC82A}"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47</a:t>
            </a:fld>
            <a:r>
              <a:rPr lang="vi-VN"/>
              <a:t>/59</a:t>
            </a:r>
          </a:p>
        </p:txBody>
      </p:sp>
    </p:spTree>
    <p:extLst>
      <p:ext uri="{BB962C8B-B14F-4D97-AF65-F5344CB8AC3E}">
        <p14:creationId xmlns:p14="http://schemas.microsoft.com/office/powerpoint/2010/main" val="1365506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anim calcmode="lin" valueType="num">
                                      <p:cBhvr>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anim calcmode="lin" valueType="num">
                                      <p:cBhvr>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anim calcmode="lin" valueType="num">
                                      <p:cBhvr>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8"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anim calcmode="lin" valueType="num">
                                      <p:cBhvr>
                                        <p:cTn id="3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anim calcmode="lin" valueType="num">
                                      <p:cBhvr>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t>Mã quy cách (tt)</a:t>
            </a:r>
          </a:p>
        </p:txBody>
      </p:sp>
      <p:sp>
        <p:nvSpPr>
          <p:cNvPr id="3" name="Content Placeholder 2"/>
          <p:cNvSpPr>
            <a:spLocks noGrp="1"/>
          </p:cNvSpPr>
          <p:nvPr>
            <p:ph idx="1"/>
          </p:nvPr>
        </p:nvSpPr>
        <p:spPr/>
        <p:txBody>
          <a:bodyPr/>
          <a:lstStyle/>
          <a:p>
            <a:pPr>
              <a:defRPr/>
            </a:pPr>
            <a:r>
              <a:rPr lang="en-US"/>
              <a:t>Ký tự </a:t>
            </a:r>
            <a:r>
              <a:rPr lang="vi-VN"/>
              <a:t>đ</a:t>
            </a:r>
            <a:r>
              <a:rPr lang="en-US"/>
              <a:t>iều khiển (escape sequence)</a:t>
            </a:r>
          </a:p>
          <a:p>
            <a:pPr lvl="1">
              <a:defRPr/>
            </a:pPr>
            <a:r>
              <a:rPr lang="en-US"/>
              <a:t>Gồm dấu \ và một ký tự nh</a:t>
            </a:r>
            <a:r>
              <a:rPr lang="vi-VN"/>
              <a:t>ư</a:t>
            </a:r>
            <a:r>
              <a:rPr lang="en-US"/>
              <a:t> trong bảng sau:</a:t>
            </a:r>
          </a:p>
          <a:p>
            <a:pPr lvl="1">
              <a:defRPr/>
            </a:pPr>
            <a:endParaRPr lang="en-US"/>
          </a:p>
          <a:p>
            <a:pPr lvl="1">
              <a:defRPr/>
            </a:pPr>
            <a:endParaRPr lang="en-US"/>
          </a:p>
          <a:p>
            <a:pPr lvl="1">
              <a:defRPr/>
            </a:pPr>
            <a:endParaRPr lang="en-US"/>
          </a:p>
          <a:p>
            <a:pPr lvl="1">
              <a:defRPr/>
            </a:pPr>
            <a:endParaRPr lang="en-US"/>
          </a:p>
          <a:p>
            <a:pPr lvl="1">
              <a:defRPr/>
            </a:pPr>
            <a:endParaRPr lang="en-US"/>
          </a:p>
          <a:p>
            <a:pPr>
              <a:defRPr/>
            </a:pPr>
            <a:endParaRPr lang="en-US"/>
          </a:p>
          <a:p>
            <a:pPr>
              <a:defRPr/>
            </a:pPr>
            <a:r>
              <a:rPr lang="en-US"/>
              <a:t>Ví dụ printf(“Hoc vien ngan hang\n”);</a:t>
            </a:r>
          </a:p>
          <a:p>
            <a:pPr lvl="1">
              <a:defRPr/>
            </a:pPr>
            <a:r>
              <a:rPr lang="en-US"/>
              <a:t>printf(“</a:t>
            </a:r>
            <a:r>
              <a:rPr lang="en-US">
                <a:solidFill>
                  <a:srgbClr val="FF0000"/>
                </a:solidFill>
              </a:rPr>
              <a:t>\t</a:t>
            </a:r>
            <a:r>
              <a:rPr lang="en-US"/>
              <a:t>”); printf(“</a:t>
            </a:r>
            <a:r>
              <a:rPr lang="en-US">
                <a:solidFill>
                  <a:srgbClr val="FF0000"/>
                </a:solidFill>
              </a:rPr>
              <a:t>\n</a:t>
            </a:r>
            <a:r>
              <a:rPr lang="en-US"/>
              <a:t>”);</a:t>
            </a:r>
          </a:p>
          <a:p>
            <a:pPr lvl="1">
              <a:defRPr/>
            </a:pPr>
            <a:r>
              <a:rPr lang="en-US"/>
              <a:t>printf(“</a:t>
            </a:r>
            <a:r>
              <a:rPr lang="en-US">
                <a:solidFill>
                  <a:srgbClr val="FF0000"/>
                </a:solidFill>
              </a:rPr>
              <a:t>\t\n</a:t>
            </a:r>
            <a:r>
              <a:rPr lang="en-US"/>
              <a:t>”);</a:t>
            </a:r>
          </a:p>
          <a:p>
            <a:pPr lvl="1">
              <a:defRPr/>
            </a:pPr>
            <a:endParaRPr lang="en-US"/>
          </a:p>
        </p:txBody>
      </p:sp>
      <p:sp>
        <p:nvSpPr>
          <p:cNvPr id="45060" name="Footer Placeholder 3"/>
          <p:cNvSpPr>
            <a:spLocks noGrp="1"/>
          </p:cNvSpPr>
          <p:nvPr>
            <p:ph type="ftr" sz="quarter" idx="11"/>
          </p:nvPr>
        </p:nvSpPr>
        <p:spPr>
          <a:noFill/>
        </p:spPr>
        <p:txBody>
          <a:bodyPr/>
          <a:lstStyle/>
          <a:p>
            <a:r>
              <a:rPr lang="vi-VN"/>
              <a:t>Chương 2 - Các phần tử cơ bản của ngôn ngữ C</a:t>
            </a:r>
            <a:endParaRPr lang="en-US"/>
          </a:p>
        </p:txBody>
      </p:sp>
      <p:graphicFrame>
        <p:nvGraphicFramePr>
          <p:cNvPr id="5" name="Content Placeholder 4"/>
          <p:cNvGraphicFramePr>
            <a:graphicFrameLocks/>
          </p:cNvGraphicFramePr>
          <p:nvPr>
            <p:extLst>
              <p:ext uri="{D42A27DB-BD31-4B8C-83A1-F6EECF244321}">
                <p14:modId xmlns:p14="http://schemas.microsoft.com/office/powerpoint/2010/main" val="69769892"/>
              </p:ext>
            </p:extLst>
          </p:nvPr>
        </p:nvGraphicFramePr>
        <p:xfrm>
          <a:off x="1905000" y="2132856"/>
          <a:ext cx="4466273" cy="2448272"/>
        </p:xfrm>
        <a:graphic>
          <a:graphicData uri="http://schemas.openxmlformats.org/drawingml/2006/table">
            <a:tbl>
              <a:tblPr firstRow="1" bandRow="1">
                <a:tableStyleId>{72833802-FEF1-4C79-8D5D-14CF1EAF98D9}</a:tableStyleId>
              </a:tblPr>
              <a:tblGrid>
                <a:gridCol w="2359343">
                  <a:extLst>
                    <a:ext uri="{9D8B030D-6E8A-4147-A177-3AD203B41FA5}">
                      <a16:colId xmlns:a16="http://schemas.microsoft.com/office/drawing/2014/main" val="20000"/>
                    </a:ext>
                  </a:extLst>
                </a:gridCol>
                <a:gridCol w="2106930">
                  <a:extLst>
                    <a:ext uri="{9D8B030D-6E8A-4147-A177-3AD203B41FA5}">
                      <a16:colId xmlns:a16="http://schemas.microsoft.com/office/drawing/2014/main" val="20001"/>
                    </a:ext>
                  </a:extLst>
                </a:gridCol>
              </a:tblGrid>
              <a:tr h="381074">
                <a:tc>
                  <a:txBody>
                    <a:bodyPr/>
                    <a:lstStyle/>
                    <a:p>
                      <a:r>
                        <a:rPr lang="en-US"/>
                        <a:t>Ký tự </a:t>
                      </a:r>
                      <a:r>
                        <a:rPr lang="vi-VN"/>
                        <a:t>đ</a:t>
                      </a:r>
                      <a:r>
                        <a:rPr lang="en-US"/>
                        <a:t>iều khiển</a:t>
                      </a:r>
                    </a:p>
                  </a:txBody>
                  <a:tcPr/>
                </a:tc>
                <a:tc>
                  <a:txBody>
                    <a:bodyPr/>
                    <a:lstStyle/>
                    <a:p>
                      <a:r>
                        <a:rPr lang="en-US"/>
                        <a:t>Ý nghĩa</a:t>
                      </a:r>
                    </a:p>
                  </a:txBody>
                  <a:tcPr/>
                </a:tc>
                <a:extLst>
                  <a:ext uri="{0D108BD9-81ED-4DB2-BD59-A6C34878D82A}">
                    <a16:rowId xmlns:a16="http://schemas.microsoft.com/office/drawing/2014/main" val="10000"/>
                  </a:ext>
                </a:extLst>
              </a:tr>
              <a:tr h="2067198">
                <a:tc>
                  <a:txBody>
                    <a:bodyPr/>
                    <a:lstStyle/>
                    <a:p>
                      <a:r>
                        <a:rPr lang="en-US" dirty="0"/>
                        <a:t>\</a:t>
                      </a:r>
                      <a:r>
                        <a:rPr lang="en-US" dirty="0">
                          <a:solidFill>
                            <a:srgbClr val="FF0000"/>
                          </a:solidFill>
                        </a:rPr>
                        <a:t>a</a:t>
                      </a:r>
                    </a:p>
                    <a:p>
                      <a:r>
                        <a:rPr lang="en-US" dirty="0"/>
                        <a:t>\</a:t>
                      </a:r>
                      <a:r>
                        <a:rPr lang="en-US" dirty="0">
                          <a:solidFill>
                            <a:srgbClr val="FF0000"/>
                          </a:solidFill>
                        </a:rPr>
                        <a:t>b</a:t>
                      </a:r>
                    </a:p>
                    <a:p>
                      <a:r>
                        <a:rPr lang="en-US" dirty="0"/>
                        <a:t>\</a:t>
                      </a:r>
                      <a:r>
                        <a:rPr lang="en-US" dirty="0">
                          <a:solidFill>
                            <a:srgbClr val="FF0000"/>
                          </a:solidFill>
                        </a:rPr>
                        <a:t>n</a:t>
                      </a:r>
                    </a:p>
                    <a:p>
                      <a:r>
                        <a:rPr lang="en-US" dirty="0"/>
                        <a:t>\</a:t>
                      </a:r>
                      <a:r>
                        <a:rPr lang="en-US" dirty="0">
                          <a:solidFill>
                            <a:srgbClr val="FF0000"/>
                          </a:solidFill>
                        </a:rPr>
                        <a:t>t</a:t>
                      </a:r>
                    </a:p>
                    <a:p>
                      <a:r>
                        <a:rPr lang="en-US" dirty="0"/>
                        <a:t>\</a:t>
                      </a:r>
                      <a:r>
                        <a:rPr lang="en-US" dirty="0">
                          <a:solidFill>
                            <a:srgbClr val="FF0000"/>
                          </a:solidFill>
                        </a:rPr>
                        <a:t>\</a:t>
                      </a:r>
                    </a:p>
                    <a:p>
                      <a:r>
                        <a:rPr lang="en-US" dirty="0"/>
                        <a:t>\</a:t>
                      </a:r>
                      <a:r>
                        <a:rPr lang="en-US" dirty="0">
                          <a:solidFill>
                            <a:srgbClr val="FF0000"/>
                          </a:solidFill>
                        </a:rPr>
                        <a:t>?</a:t>
                      </a:r>
                    </a:p>
                    <a:p>
                      <a:r>
                        <a:rPr lang="en-US" dirty="0"/>
                        <a:t>\</a:t>
                      </a:r>
                      <a:r>
                        <a:rPr lang="en-US" dirty="0">
                          <a:solidFill>
                            <a:srgbClr val="FF0000"/>
                          </a:solidFill>
                        </a:rPr>
                        <a:t>”</a:t>
                      </a:r>
                    </a:p>
                  </a:txBody>
                  <a:tcPr/>
                </a:tc>
                <a:tc>
                  <a:txBody>
                    <a:bodyPr/>
                    <a:lstStyle/>
                    <a:p>
                      <a:pPr algn="l"/>
                      <a:r>
                        <a:rPr lang="en-US" dirty="0" err="1"/>
                        <a:t>Tiếng</a:t>
                      </a:r>
                      <a:r>
                        <a:rPr lang="en-US" dirty="0"/>
                        <a:t> </a:t>
                      </a:r>
                      <a:r>
                        <a:rPr lang="en-US" dirty="0" err="1"/>
                        <a:t>chuông</a:t>
                      </a:r>
                      <a:endParaRPr lang="en-US" dirty="0"/>
                    </a:p>
                    <a:p>
                      <a:pPr algn="l"/>
                      <a:r>
                        <a:rPr lang="en-US" dirty="0" err="1"/>
                        <a:t>Lùi</a:t>
                      </a:r>
                      <a:r>
                        <a:rPr lang="en-US" dirty="0"/>
                        <a:t> </a:t>
                      </a:r>
                      <a:r>
                        <a:rPr lang="en-US" dirty="0" err="1"/>
                        <a:t>lại</a:t>
                      </a:r>
                      <a:r>
                        <a:rPr lang="en-US" dirty="0"/>
                        <a:t> </a:t>
                      </a:r>
                      <a:r>
                        <a:rPr lang="en-US" dirty="0" err="1"/>
                        <a:t>một</a:t>
                      </a:r>
                      <a:r>
                        <a:rPr lang="en-US" dirty="0"/>
                        <a:t> b</a:t>
                      </a:r>
                      <a:r>
                        <a:rPr lang="vi-VN" dirty="0"/>
                        <a:t>ướ</a:t>
                      </a:r>
                      <a:r>
                        <a:rPr lang="en-US" dirty="0"/>
                        <a:t>c</a:t>
                      </a:r>
                    </a:p>
                    <a:p>
                      <a:pPr algn="l"/>
                      <a:r>
                        <a:rPr lang="en-US" dirty="0" err="1"/>
                        <a:t>Xuống</a:t>
                      </a:r>
                      <a:r>
                        <a:rPr lang="en-US" baseline="0" dirty="0"/>
                        <a:t> </a:t>
                      </a:r>
                      <a:r>
                        <a:rPr lang="en-US" baseline="0" dirty="0" err="1"/>
                        <a:t>dòng</a:t>
                      </a:r>
                      <a:endParaRPr lang="en-US" baseline="0" dirty="0"/>
                    </a:p>
                    <a:p>
                      <a:pPr algn="l"/>
                      <a:r>
                        <a:rPr lang="en-US" baseline="0" dirty="0" err="1"/>
                        <a:t>Dấu</a:t>
                      </a:r>
                      <a:r>
                        <a:rPr lang="en-US" baseline="0" dirty="0"/>
                        <a:t> tab</a:t>
                      </a:r>
                    </a:p>
                    <a:p>
                      <a:pPr algn="l"/>
                      <a:r>
                        <a:rPr lang="en-US" baseline="0" dirty="0"/>
                        <a:t>In </a:t>
                      </a:r>
                      <a:r>
                        <a:rPr lang="en-US" baseline="0" dirty="0" err="1"/>
                        <a:t>dấu</a:t>
                      </a:r>
                      <a:r>
                        <a:rPr lang="en-US" baseline="0" dirty="0"/>
                        <a:t> \</a:t>
                      </a:r>
                    </a:p>
                    <a:p>
                      <a:pPr algn="l"/>
                      <a:r>
                        <a:rPr lang="en-US" baseline="0" dirty="0"/>
                        <a:t>In </a:t>
                      </a:r>
                      <a:r>
                        <a:rPr lang="en-US" baseline="0" dirty="0" err="1"/>
                        <a:t>dấu</a:t>
                      </a:r>
                      <a:r>
                        <a:rPr lang="en-US" baseline="0" dirty="0"/>
                        <a:t> ?</a:t>
                      </a:r>
                    </a:p>
                    <a:p>
                      <a:pPr algn="l"/>
                      <a:r>
                        <a:rPr lang="en-US" baseline="0" dirty="0"/>
                        <a:t>In </a:t>
                      </a:r>
                      <a:r>
                        <a:rPr lang="en-US" baseline="0" dirty="0" err="1"/>
                        <a:t>dấu</a:t>
                      </a:r>
                      <a:r>
                        <a:rPr lang="en-US" baseline="0" dirty="0"/>
                        <a:t> “</a:t>
                      </a:r>
                      <a:endParaRPr lang="en-US" dirty="0"/>
                    </a:p>
                  </a:txBody>
                  <a:tcPr/>
                </a:tc>
                <a:extLst>
                  <a:ext uri="{0D108BD9-81ED-4DB2-BD59-A6C34878D82A}">
                    <a16:rowId xmlns:a16="http://schemas.microsoft.com/office/drawing/2014/main" val="10001"/>
                  </a:ext>
                </a:extLst>
              </a:tr>
            </a:tbl>
          </a:graphicData>
        </a:graphic>
      </p:graphicFrame>
      <p:sp>
        <p:nvSpPr>
          <p:cNvPr id="2" name="Date Placeholder 1"/>
          <p:cNvSpPr>
            <a:spLocks noGrp="1"/>
          </p:cNvSpPr>
          <p:nvPr>
            <p:ph type="dt" sz="half" idx="10"/>
          </p:nvPr>
        </p:nvSpPr>
        <p:spPr/>
        <p:txBody>
          <a:bodyPr/>
          <a:lstStyle/>
          <a:p>
            <a:fld id="{32A65144-AEC9-4364-AA80-AB0245F51BA4}" type="datetime1">
              <a:rPr lang="vi-VN" smtClean="0"/>
              <a:t>14/01/2024</a:t>
            </a:fld>
            <a:endParaRPr lang="vi-VN"/>
          </a:p>
        </p:txBody>
      </p:sp>
      <p:sp>
        <p:nvSpPr>
          <p:cNvPr id="9" name="Slide Number Placeholder 8"/>
          <p:cNvSpPr>
            <a:spLocks noGrp="1"/>
          </p:cNvSpPr>
          <p:nvPr>
            <p:ph type="sldNum" sz="quarter" idx="12"/>
          </p:nvPr>
        </p:nvSpPr>
        <p:spPr/>
        <p:txBody>
          <a:bodyPr/>
          <a:lstStyle/>
          <a:p>
            <a:fld id="{5AB95402-1E0D-474E-8D8C-CBE7F053639E}" type="slidenum">
              <a:rPr lang="vi-VN" smtClean="0"/>
              <a:pPr/>
              <a:t>48</a:t>
            </a:fld>
            <a:r>
              <a:rPr lang="vi-VN"/>
              <a:t>/59</a:t>
            </a:r>
          </a:p>
        </p:txBody>
      </p:sp>
    </p:spTree>
    <p:extLst>
      <p:ext uri="{BB962C8B-B14F-4D97-AF65-F5344CB8AC3E}">
        <p14:creationId xmlns:p14="http://schemas.microsoft.com/office/powerpoint/2010/main" val="294849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anim calcmode="lin" valueType="num">
                                      <p:cBhvr>
                                        <p:cTn id="8"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8" end="8"/>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fade">
                                      <p:cBhvr>
                                        <p:cTn id="12" dur="500"/>
                                        <p:tgtEl>
                                          <p:spTgt spid="3">
                                            <p:txEl>
                                              <p:pRg st="9" end="9"/>
                                            </p:txEl>
                                          </p:spTgt>
                                        </p:tgtEl>
                                      </p:cBhvr>
                                    </p:animEffect>
                                    <p:anim calcmode="lin" valueType="num">
                                      <p:cBhvr>
                                        <p:cTn id="1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Effect transition="in" filter="fade">
                                      <p:cBhvr>
                                        <p:cTn id="19" dur="500"/>
                                        <p:tgtEl>
                                          <p:spTgt spid="3">
                                            <p:txEl>
                                              <p:pRg st="10" end="10"/>
                                            </p:txEl>
                                          </p:spTgt>
                                        </p:tgtEl>
                                      </p:cBhvr>
                                    </p:animEffect>
                                    <p:anim calcmode="lin" valueType="num">
                                      <p:cBhvr>
                                        <p:cTn id="20"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dirty="0" err="1"/>
              <a:t>Mã</a:t>
            </a:r>
            <a:r>
              <a:rPr lang="en-US" dirty="0"/>
              <a:t> </a:t>
            </a:r>
            <a:r>
              <a:rPr lang="en-US" dirty="0" err="1"/>
              <a:t>quy</a:t>
            </a:r>
            <a:r>
              <a:rPr lang="en-US" dirty="0"/>
              <a:t> </a:t>
            </a:r>
            <a:r>
              <a:rPr lang="en-US" dirty="0" err="1"/>
              <a:t>cách</a:t>
            </a:r>
            <a:r>
              <a:rPr lang="en-US" dirty="0"/>
              <a:t> (</a:t>
            </a:r>
            <a:r>
              <a:rPr lang="en-US" dirty="0" err="1"/>
              <a:t>tt</a:t>
            </a:r>
            <a:r>
              <a:rPr lang="en-US" dirty="0"/>
              <a:t>) hoc </a:t>
            </a:r>
            <a:r>
              <a:rPr lang="en-US" dirty="0" err="1"/>
              <a:t>vien</a:t>
            </a:r>
            <a:endParaRPr lang="en-US" dirty="0"/>
          </a:p>
        </p:txBody>
      </p:sp>
      <p:sp>
        <p:nvSpPr>
          <p:cNvPr id="3" name="Content Placeholder 2"/>
          <p:cNvSpPr>
            <a:spLocks noGrp="1"/>
          </p:cNvSpPr>
          <p:nvPr>
            <p:ph idx="1"/>
          </p:nvPr>
        </p:nvSpPr>
        <p:spPr/>
        <p:txBody>
          <a:bodyPr/>
          <a:lstStyle/>
          <a:p>
            <a:pPr>
              <a:defRPr/>
            </a:pPr>
            <a:r>
              <a:rPr lang="en-US" dirty="0" err="1"/>
              <a:t>Đặc</a:t>
            </a:r>
            <a:r>
              <a:rPr lang="en-US" dirty="0"/>
              <a:t> </a:t>
            </a:r>
            <a:r>
              <a:rPr lang="en-US" dirty="0" err="1"/>
              <a:t>tả</a:t>
            </a:r>
            <a:r>
              <a:rPr lang="en-US" dirty="0"/>
              <a:t> (conversion specifier) </a:t>
            </a:r>
          </a:p>
          <a:p>
            <a:pPr>
              <a:defRPr/>
            </a:pPr>
            <a:r>
              <a:rPr lang="en-US" dirty="0" err="1"/>
              <a:t>Gồm</a:t>
            </a:r>
            <a:r>
              <a:rPr lang="en-US" dirty="0"/>
              <a:t> </a:t>
            </a:r>
            <a:r>
              <a:rPr lang="en-US" dirty="0" err="1"/>
              <a:t>dấu</a:t>
            </a:r>
            <a:r>
              <a:rPr lang="en-US" dirty="0"/>
              <a:t> % </a:t>
            </a:r>
            <a:r>
              <a:rPr lang="en-US" dirty="0" err="1"/>
              <a:t>và</a:t>
            </a:r>
            <a:r>
              <a:rPr lang="en-US" dirty="0"/>
              <a:t> </a:t>
            </a:r>
            <a:r>
              <a:rPr lang="en-US" dirty="0" err="1"/>
              <a:t>một</a:t>
            </a:r>
            <a:r>
              <a:rPr lang="en-US" dirty="0"/>
              <a:t> </a:t>
            </a:r>
            <a:r>
              <a:rPr lang="en-US" dirty="0" err="1"/>
              <a:t>ký</a:t>
            </a:r>
            <a:r>
              <a:rPr lang="en-US" dirty="0"/>
              <a:t> </a:t>
            </a:r>
            <a:r>
              <a:rPr lang="en-US" dirty="0" err="1"/>
              <a:t>tự</a:t>
            </a:r>
            <a:r>
              <a:rPr lang="en-US" dirty="0"/>
              <a:t>.</a:t>
            </a:r>
          </a:p>
          <a:p>
            <a:pPr lvl="1">
              <a:defRPr/>
            </a:pPr>
            <a:r>
              <a:rPr lang="en-US" dirty="0" err="1"/>
              <a:t>Xác</a:t>
            </a:r>
            <a:r>
              <a:rPr lang="en-US" dirty="0"/>
              <a:t> </a:t>
            </a:r>
            <a:r>
              <a:rPr lang="vi-VN" dirty="0"/>
              <a:t>đị</a:t>
            </a:r>
            <a:r>
              <a:rPr lang="en-US" dirty="0" err="1"/>
              <a:t>nh</a:t>
            </a:r>
            <a:r>
              <a:rPr lang="en-US" dirty="0"/>
              <a:t> </a:t>
            </a:r>
            <a:r>
              <a:rPr lang="en-US" dirty="0" err="1"/>
              <a:t>kiểu</a:t>
            </a:r>
            <a:r>
              <a:rPr lang="en-US" dirty="0"/>
              <a:t> </a:t>
            </a:r>
            <a:r>
              <a:rPr lang="en-US" dirty="0" err="1"/>
              <a:t>của</a:t>
            </a:r>
            <a:r>
              <a:rPr lang="en-US" dirty="0"/>
              <a:t> </a:t>
            </a:r>
            <a:r>
              <a:rPr lang="en-US" dirty="0" err="1"/>
              <a:t>biến</a:t>
            </a:r>
            <a:r>
              <a:rPr lang="en-US" dirty="0"/>
              <a:t>/</a:t>
            </a:r>
            <a:r>
              <a:rPr lang="en-US" dirty="0" err="1"/>
              <a:t>giá</a:t>
            </a:r>
            <a:r>
              <a:rPr lang="en-US" dirty="0"/>
              <a:t> </a:t>
            </a:r>
            <a:r>
              <a:rPr lang="en-US" dirty="0" err="1"/>
              <a:t>trị</a:t>
            </a:r>
            <a:r>
              <a:rPr lang="en-US" dirty="0"/>
              <a:t> </a:t>
            </a:r>
            <a:r>
              <a:rPr lang="en-US" dirty="0" err="1"/>
              <a:t>muốn</a:t>
            </a:r>
            <a:r>
              <a:rPr lang="en-US" dirty="0"/>
              <a:t> </a:t>
            </a:r>
            <a:r>
              <a:rPr lang="en-US" dirty="0" err="1"/>
              <a:t>xuất</a:t>
            </a:r>
            <a:r>
              <a:rPr lang="en-US" dirty="0"/>
              <a:t>.</a:t>
            </a:r>
          </a:p>
          <a:p>
            <a:pPr lvl="1">
              <a:defRPr/>
            </a:pPr>
            <a:r>
              <a:rPr lang="en-US" dirty="0" err="1"/>
              <a:t>Các</a:t>
            </a:r>
            <a:r>
              <a:rPr lang="en-US" dirty="0"/>
              <a:t> </a:t>
            </a:r>
            <a:r>
              <a:rPr lang="vi-VN" dirty="0"/>
              <a:t>đố</a:t>
            </a:r>
            <a:r>
              <a:rPr lang="en-US" dirty="0" err="1"/>
              <a:t>i</a:t>
            </a:r>
            <a:r>
              <a:rPr lang="en-US" dirty="0"/>
              <a:t> </a:t>
            </a:r>
            <a:r>
              <a:rPr lang="en-US" dirty="0" err="1"/>
              <a:t>số</a:t>
            </a:r>
            <a:r>
              <a:rPr lang="en-US" dirty="0"/>
              <a:t> </a:t>
            </a:r>
            <a:r>
              <a:rPr lang="en-US" dirty="0" err="1"/>
              <a:t>chính</a:t>
            </a:r>
            <a:r>
              <a:rPr lang="en-US" dirty="0"/>
              <a:t> </a:t>
            </a:r>
            <a:r>
              <a:rPr lang="en-US" dirty="0" err="1"/>
              <a:t>là</a:t>
            </a:r>
            <a:r>
              <a:rPr lang="en-US" dirty="0"/>
              <a:t> </a:t>
            </a:r>
            <a:r>
              <a:rPr lang="en-US" dirty="0" err="1"/>
              <a:t>các</a:t>
            </a:r>
            <a:r>
              <a:rPr lang="en-US" dirty="0"/>
              <a:t> </a:t>
            </a:r>
            <a:r>
              <a:rPr lang="en-US" dirty="0" err="1"/>
              <a:t>biến</a:t>
            </a:r>
            <a:r>
              <a:rPr lang="en-US" dirty="0"/>
              <a:t>/</a:t>
            </a:r>
            <a:r>
              <a:rPr lang="en-US" dirty="0" err="1"/>
              <a:t>giá</a:t>
            </a:r>
            <a:r>
              <a:rPr lang="en-US" dirty="0"/>
              <a:t> </a:t>
            </a:r>
            <a:r>
              <a:rPr lang="en-US" dirty="0" err="1"/>
              <a:t>trị</a:t>
            </a:r>
            <a:r>
              <a:rPr lang="en-US" dirty="0"/>
              <a:t> </a:t>
            </a:r>
            <a:r>
              <a:rPr lang="en-US" dirty="0" err="1"/>
              <a:t>muốn</a:t>
            </a:r>
            <a:r>
              <a:rPr lang="en-US" dirty="0"/>
              <a:t> </a:t>
            </a:r>
            <a:r>
              <a:rPr lang="en-US" dirty="0" err="1"/>
              <a:t>xuất</a:t>
            </a:r>
            <a:r>
              <a:rPr lang="en-US" dirty="0"/>
              <a:t>, </a:t>
            </a:r>
            <a:r>
              <a:rPr lang="vi-VN" dirty="0"/>
              <a:t>đượ</a:t>
            </a:r>
            <a:r>
              <a:rPr lang="en-US" dirty="0"/>
              <a:t>c </a:t>
            </a:r>
            <a:r>
              <a:rPr lang="en-US" dirty="0" err="1"/>
              <a:t>liệt</a:t>
            </a:r>
            <a:r>
              <a:rPr lang="en-US" dirty="0"/>
              <a:t> </a:t>
            </a:r>
            <a:r>
              <a:rPr lang="en-US" dirty="0" err="1"/>
              <a:t>kê</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cách</a:t>
            </a:r>
            <a:r>
              <a:rPr lang="en-US" dirty="0"/>
              <a:t> </a:t>
            </a:r>
            <a:r>
              <a:rPr lang="en-US" dirty="0" err="1"/>
              <a:t>nhau</a:t>
            </a:r>
            <a:r>
              <a:rPr lang="en-US" dirty="0"/>
              <a:t> </a:t>
            </a:r>
            <a:r>
              <a:rPr lang="en-US" dirty="0" err="1"/>
              <a:t>dấu</a:t>
            </a:r>
            <a:r>
              <a:rPr lang="en-US" dirty="0"/>
              <a:t> </a:t>
            </a:r>
            <a:r>
              <a:rPr lang="en-US" dirty="0" err="1"/>
              <a:t>phẩy</a:t>
            </a:r>
            <a:r>
              <a:rPr lang="en-US" dirty="0"/>
              <a:t>.</a:t>
            </a:r>
          </a:p>
        </p:txBody>
      </p:sp>
      <p:sp>
        <p:nvSpPr>
          <p:cNvPr id="46084" name="Footer Placeholder 3"/>
          <p:cNvSpPr>
            <a:spLocks noGrp="1"/>
          </p:cNvSpPr>
          <p:nvPr>
            <p:ph type="ftr" sz="quarter" idx="11"/>
          </p:nvPr>
        </p:nvSpPr>
        <p:spPr>
          <a:noFill/>
        </p:spPr>
        <p:txBody>
          <a:bodyPr/>
          <a:lstStyle/>
          <a:p>
            <a:r>
              <a:rPr lang="vi-VN"/>
              <a:t>Chương 2 - Các phần tử cơ bản của ngôn ngữ C</a:t>
            </a:r>
            <a:endParaRPr lang="en-US"/>
          </a:p>
        </p:txBody>
      </p:sp>
      <p:graphicFrame>
        <p:nvGraphicFramePr>
          <p:cNvPr id="5" name="Content Placeholder 4"/>
          <p:cNvGraphicFramePr>
            <a:graphicFrameLocks/>
          </p:cNvGraphicFramePr>
          <p:nvPr>
            <p:extLst>
              <p:ext uri="{D42A27DB-BD31-4B8C-83A1-F6EECF244321}">
                <p14:modId xmlns:p14="http://schemas.microsoft.com/office/powerpoint/2010/main" val="1823617476"/>
              </p:ext>
            </p:extLst>
          </p:nvPr>
        </p:nvGraphicFramePr>
        <p:xfrm>
          <a:off x="1210830" y="3455434"/>
          <a:ext cx="7033578" cy="2853886"/>
        </p:xfrm>
        <a:graphic>
          <a:graphicData uri="http://schemas.openxmlformats.org/drawingml/2006/table">
            <a:tbl>
              <a:tblPr firstRow="1" bandRow="1">
                <a:tableStyleId>{72833802-FEF1-4C79-8D5D-14CF1EAF98D9}</a:tableStyleId>
              </a:tblPr>
              <a:tblGrid>
                <a:gridCol w="1268730">
                  <a:extLst>
                    <a:ext uri="{9D8B030D-6E8A-4147-A177-3AD203B41FA5}">
                      <a16:colId xmlns:a16="http://schemas.microsoft.com/office/drawing/2014/main" val="20000"/>
                    </a:ext>
                  </a:extLst>
                </a:gridCol>
                <a:gridCol w="2776855">
                  <a:extLst>
                    <a:ext uri="{9D8B030D-6E8A-4147-A177-3AD203B41FA5}">
                      <a16:colId xmlns:a16="http://schemas.microsoft.com/office/drawing/2014/main" val="20001"/>
                    </a:ext>
                  </a:extLst>
                </a:gridCol>
                <a:gridCol w="2987993">
                  <a:extLst>
                    <a:ext uri="{9D8B030D-6E8A-4147-A177-3AD203B41FA5}">
                      <a16:colId xmlns:a16="http://schemas.microsoft.com/office/drawing/2014/main" val="20002"/>
                    </a:ext>
                  </a:extLst>
                </a:gridCol>
              </a:tblGrid>
              <a:tr h="567886">
                <a:tc>
                  <a:txBody>
                    <a:bodyPr/>
                    <a:lstStyle/>
                    <a:p>
                      <a:r>
                        <a:rPr lang="en-US"/>
                        <a:t>Đặc tả</a:t>
                      </a:r>
                    </a:p>
                  </a:txBody>
                  <a:tcPr/>
                </a:tc>
                <a:tc>
                  <a:txBody>
                    <a:bodyPr/>
                    <a:lstStyle/>
                    <a:p>
                      <a:r>
                        <a:rPr lang="en-US"/>
                        <a:t>Ý nghĩa</a:t>
                      </a:r>
                    </a:p>
                  </a:txBody>
                  <a:tcPr/>
                </a:tc>
                <a:tc>
                  <a:txBody>
                    <a:bodyPr/>
                    <a:lstStyle/>
                    <a:p>
                      <a:endParaRPr lang="en-US"/>
                    </a:p>
                  </a:txBody>
                  <a:tcPr/>
                </a:tc>
                <a:extLst>
                  <a:ext uri="{0D108BD9-81ED-4DB2-BD59-A6C34878D82A}">
                    <a16:rowId xmlns:a16="http://schemas.microsoft.com/office/drawing/2014/main" val="10000"/>
                  </a:ext>
                </a:extLst>
              </a:tr>
              <a:tr h="2240427">
                <a:tc>
                  <a:txBody>
                    <a:bodyPr/>
                    <a:lstStyle/>
                    <a:p>
                      <a:r>
                        <a:rPr lang="en-US" dirty="0"/>
                        <a:t>%</a:t>
                      </a:r>
                      <a:r>
                        <a:rPr lang="en-US" dirty="0">
                          <a:solidFill>
                            <a:srgbClr val="FF0000"/>
                          </a:solidFill>
                        </a:rPr>
                        <a:t>c</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a:solidFill>
                            <a:srgbClr val="FF0000"/>
                          </a:solidFill>
                        </a:rPr>
                        <a:t>d</a:t>
                      </a:r>
                      <a:r>
                        <a:rPr lang="en-US" dirty="0"/>
                        <a:t>, %</a:t>
                      </a:r>
                      <a:r>
                        <a:rPr lang="en-US" dirty="0" err="1">
                          <a:solidFill>
                            <a:srgbClr val="FF0000"/>
                          </a:solidFill>
                        </a:rPr>
                        <a:t>ld</a:t>
                      </a:r>
                      <a:endParaRPr 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a:solidFill>
                            <a:srgbClr val="FF0000"/>
                          </a:solidFill>
                        </a:rPr>
                        <a:t>f</a:t>
                      </a:r>
                      <a:r>
                        <a:rPr lang="en-US" dirty="0"/>
                        <a:t>, %</a:t>
                      </a:r>
                      <a:r>
                        <a:rPr lang="en-US" dirty="0" err="1">
                          <a:solidFill>
                            <a:srgbClr val="FF0000"/>
                          </a:solidFill>
                        </a:rPr>
                        <a:t>lf</a:t>
                      </a:r>
                      <a:endParaRPr 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a:solidFill>
                            <a:srgbClr val="FF0000"/>
                          </a:solidFill>
                        </a:rPr>
                        <a:t>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a:solidFill>
                            <a:srgbClr val="FF0000"/>
                          </a:solidFill>
                        </a:rPr>
                        <a:t>u </a:t>
                      </a:r>
                      <a:r>
                        <a:rPr lang="en-US" dirty="0">
                          <a:solidFill>
                            <a:schemeClr val="tx1">
                              <a:lumMod val="95000"/>
                              <a:lumOff val="5000"/>
                            </a:schemeClr>
                          </a:solidFill>
                        </a:rPr>
                        <a:t>%</a:t>
                      </a:r>
                      <a:r>
                        <a:rPr lang="en-US" dirty="0" err="1">
                          <a:solidFill>
                            <a:srgbClr val="FF0000"/>
                          </a:solidFill>
                        </a:rPr>
                        <a:t>lu</a:t>
                      </a:r>
                      <a:endParaRPr 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5000"/>
                              <a:lumOff val="5000"/>
                            </a:schemeClr>
                          </a:solidFill>
                        </a:rPr>
                        <a:t>%</a:t>
                      </a:r>
                      <a:r>
                        <a:rPr lang="en-US" dirty="0">
                          <a:solidFill>
                            <a:srgbClr val="FF0000"/>
                          </a:solidFill>
                        </a:rPr>
                        <a:t>x, </a:t>
                      </a:r>
                      <a:r>
                        <a:rPr lang="en-US" dirty="0">
                          <a:solidFill>
                            <a:schemeClr val="tx1">
                              <a:lumMod val="95000"/>
                              <a:lumOff val="5000"/>
                            </a:schemeClr>
                          </a:solidFill>
                        </a:rPr>
                        <a:t>%</a:t>
                      </a:r>
                      <a:r>
                        <a:rPr lang="en-US" dirty="0">
                          <a:solidFill>
                            <a:srgbClr val="FF0000"/>
                          </a:solidFill>
                        </a:rPr>
                        <a:t>X</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5000"/>
                              <a:lumOff val="5000"/>
                            </a:schemeClr>
                          </a:solidFill>
                        </a:rPr>
                        <a:t>%</a:t>
                      </a:r>
                      <a:r>
                        <a:rPr lang="en-US" dirty="0">
                          <a:solidFill>
                            <a:srgbClr val="FF0000"/>
                          </a:solidFill>
                        </a:rPr>
                        <a:t>o</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5000"/>
                              <a:lumOff val="5000"/>
                            </a:schemeClr>
                          </a:solidFill>
                        </a:rPr>
                        <a:t>%</a:t>
                      </a:r>
                      <a:r>
                        <a:rPr lang="en-US" dirty="0">
                          <a:solidFill>
                            <a:srgbClr val="FF0000"/>
                          </a:solidFill>
                        </a:rPr>
                        <a:t>e, </a:t>
                      </a:r>
                      <a:r>
                        <a:rPr lang="en-US" dirty="0">
                          <a:solidFill>
                            <a:schemeClr val="tx1">
                              <a:lumMod val="95000"/>
                              <a:lumOff val="5000"/>
                            </a:schemeClr>
                          </a:solidFill>
                        </a:rPr>
                        <a:t>%</a:t>
                      </a:r>
                      <a:r>
                        <a:rPr lang="en-US" dirty="0">
                          <a:solidFill>
                            <a:srgbClr val="FF0000"/>
                          </a:solidFill>
                        </a:rPr>
                        <a:t>E</a:t>
                      </a:r>
                    </a:p>
                  </a:txBody>
                  <a:tcPr/>
                </a:tc>
                <a:tc>
                  <a:txBody>
                    <a:bodyPr/>
                    <a:lstStyle/>
                    <a:p>
                      <a:pPr algn="l"/>
                      <a:r>
                        <a:rPr lang="en-US" dirty="0" err="1"/>
                        <a:t>Ký</a:t>
                      </a:r>
                      <a:r>
                        <a:rPr lang="en-US" dirty="0"/>
                        <a:t> </a:t>
                      </a:r>
                      <a:r>
                        <a:rPr lang="en-US" dirty="0" err="1"/>
                        <a:t>tự</a:t>
                      </a:r>
                      <a:endParaRPr lang="en-US" dirty="0"/>
                    </a:p>
                    <a:p>
                      <a:pPr algn="l"/>
                      <a:r>
                        <a:rPr lang="en-US" dirty="0" err="1"/>
                        <a:t>Số</a:t>
                      </a:r>
                      <a:r>
                        <a:rPr lang="en-US" dirty="0"/>
                        <a:t> </a:t>
                      </a:r>
                      <a:r>
                        <a:rPr lang="en-US" dirty="0" err="1"/>
                        <a:t>nguyên</a:t>
                      </a:r>
                      <a:r>
                        <a:rPr lang="en-US" dirty="0"/>
                        <a:t> </a:t>
                      </a:r>
                      <a:r>
                        <a:rPr lang="en-US" dirty="0" err="1"/>
                        <a:t>có</a:t>
                      </a:r>
                      <a:r>
                        <a:rPr lang="en-US" dirty="0"/>
                        <a:t> </a:t>
                      </a:r>
                      <a:r>
                        <a:rPr lang="en-US" dirty="0" err="1"/>
                        <a:t>dấu</a:t>
                      </a:r>
                      <a:endParaRPr lang="en-US" dirty="0"/>
                    </a:p>
                    <a:p>
                      <a:pPr algn="l"/>
                      <a:r>
                        <a:rPr lang="en-US" dirty="0" err="1"/>
                        <a:t>Số</a:t>
                      </a:r>
                      <a:r>
                        <a:rPr lang="en-US" dirty="0"/>
                        <a:t> </a:t>
                      </a:r>
                      <a:r>
                        <a:rPr lang="en-US" dirty="0" err="1"/>
                        <a:t>thực</a:t>
                      </a:r>
                      <a:endParaRPr lang="en-US" dirty="0"/>
                    </a:p>
                    <a:p>
                      <a:pPr algn="l"/>
                      <a:r>
                        <a:rPr lang="en-US" dirty="0" err="1"/>
                        <a:t>Chuỗi</a:t>
                      </a:r>
                      <a:r>
                        <a:rPr lang="en-US" dirty="0"/>
                        <a:t> </a:t>
                      </a:r>
                      <a:r>
                        <a:rPr lang="en-US" dirty="0" err="1"/>
                        <a:t>ký</a:t>
                      </a:r>
                      <a:r>
                        <a:rPr lang="en-US" dirty="0"/>
                        <a:t> </a:t>
                      </a:r>
                      <a:r>
                        <a:rPr lang="en-US" dirty="0" err="1"/>
                        <a:t>tự</a:t>
                      </a:r>
                      <a:endParaRPr lang="en-US" dirty="0"/>
                    </a:p>
                    <a:p>
                      <a:pPr algn="l"/>
                      <a:r>
                        <a:rPr lang="en-US" dirty="0" err="1"/>
                        <a:t>Số</a:t>
                      </a:r>
                      <a:r>
                        <a:rPr lang="en-US" dirty="0"/>
                        <a:t> </a:t>
                      </a:r>
                      <a:r>
                        <a:rPr lang="en-US" dirty="0" err="1"/>
                        <a:t>nguyên</a:t>
                      </a:r>
                      <a:r>
                        <a:rPr lang="en-US" dirty="0"/>
                        <a:t> </a:t>
                      </a:r>
                      <a:r>
                        <a:rPr lang="en-US" dirty="0" err="1"/>
                        <a:t>không</a:t>
                      </a:r>
                      <a:r>
                        <a:rPr lang="en-US" dirty="0"/>
                        <a:t> </a:t>
                      </a:r>
                      <a:r>
                        <a:rPr lang="en-US" dirty="0" err="1"/>
                        <a:t>dấu</a:t>
                      </a:r>
                      <a:endParaRPr lang="en-US" dirty="0"/>
                    </a:p>
                    <a:p>
                      <a:pPr algn="l"/>
                      <a:r>
                        <a:rPr lang="en-US" dirty="0" err="1"/>
                        <a:t>Số</a:t>
                      </a:r>
                      <a:r>
                        <a:rPr lang="en-US" baseline="0" dirty="0"/>
                        <a:t> </a:t>
                      </a:r>
                      <a:r>
                        <a:rPr lang="en-US" baseline="0" dirty="0" err="1"/>
                        <a:t>nguyên</a:t>
                      </a:r>
                      <a:r>
                        <a:rPr lang="en-US" baseline="0" dirty="0"/>
                        <a:t> </a:t>
                      </a:r>
                      <a:r>
                        <a:rPr lang="en-US" baseline="0" dirty="0" err="1"/>
                        <a:t>dạng</a:t>
                      </a:r>
                      <a:r>
                        <a:rPr lang="en-US" baseline="0" dirty="0"/>
                        <a:t> </a:t>
                      </a:r>
                      <a:r>
                        <a:rPr lang="en-US" baseline="0" dirty="0" err="1"/>
                        <a:t>Hexa</a:t>
                      </a: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Số</a:t>
                      </a:r>
                      <a:r>
                        <a:rPr lang="en-US" baseline="0" dirty="0"/>
                        <a:t> </a:t>
                      </a:r>
                      <a:r>
                        <a:rPr lang="en-US" baseline="0" dirty="0" err="1"/>
                        <a:t>nguyên</a:t>
                      </a:r>
                      <a:r>
                        <a:rPr lang="en-US" baseline="0" dirty="0"/>
                        <a:t> </a:t>
                      </a:r>
                      <a:r>
                        <a:rPr lang="en-US" baseline="0" dirty="0" err="1"/>
                        <a:t>dạng</a:t>
                      </a:r>
                      <a:r>
                        <a:rPr lang="en-US" baseline="0" dirty="0"/>
                        <a:t> Octa</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err="1"/>
                        <a:t>Số</a:t>
                      </a:r>
                      <a:r>
                        <a:rPr lang="en-US" baseline="0" dirty="0"/>
                        <a:t> </a:t>
                      </a:r>
                      <a:r>
                        <a:rPr lang="en-US" baseline="0" dirty="0" err="1"/>
                        <a:t>thực</a:t>
                      </a:r>
                      <a:r>
                        <a:rPr lang="en-US" baseline="0" dirty="0"/>
                        <a:t> </a:t>
                      </a:r>
                      <a:r>
                        <a:rPr lang="en-US" baseline="0" dirty="0" err="1"/>
                        <a:t>dạng</a:t>
                      </a:r>
                      <a:r>
                        <a:rPr lang="en-US" baseline="0" dirty="0"/>
                        <a:t> </a:t>
                      </a:r>
                      <a:r>
                        <a:rPr lang="en-US" baseline="0" dirty="0" err="1"/>
                        <a:t>mũ</a:t>
                      </a:r>
                      <a:endParaRPr lang="en-US" dirty="0"/>
                    </a:p>
                  </a:txBody>
                  <a:tcPr/>
                </a:tc>
                <a:tc>
                  <a:txBody>
                    <a:bodyPr/>
                    <a:lstStyle/>
                    <a:p>
                      <a:pPr algn="l"/>
                      <a:r>
                        <a:rPr lang="en-US" dirty="0"/>
                        <a:t>char</a:t>
                      </a:r>
                    </a:p>
                    <a:p>
                      <a:pPr algn="l"/>
                      <a:r>
                        <a:rPr lang="en-US" dirty="0"/>
                        <a:t>char, int, short, long</a:t>
                      </a:r>
                    </a:p>
                    <a:p>
                      <a:pPr algn="l"/>
                      <a:r>
                        <a:rPr lang="en-US" dirty="0"/>
                        <a:t>float, double</a:t>
                      </a:r>
                    </a:p>
                    <a:p>
                      <a:pPr algn="l"/>
                      <a:r>
                        <a:rPr lang="en-US" dirty="0"/>
                        <a:t>char[], char*</a:t>
                      </a:r>
                    </a:p>
                    <a:p>
                      <a:pPr algn="l"/>
                      <a:r>
                        <a:rPr lang="en-US" dirty="0"/>
                        <a:t>unsigned int/short/long</a:t>
                      </a:r>
                    </a:p>
                  </a:txBody>
                  <a:tcPr/>
                </a:tc>
                <a:extLst>
                  <a:ext uri="{0D108BD9-81ED-4DB2-BD59-A6C34878D82A}">
                    <a16:rowId xmlns:a16="http://schemas.microsoft.com/office/drawing/2014/main" val="10001"/>
                  </a:ext>
                </a:extLst>
              </a:tr>
            </a:tbl>
          </a:graphicData>
        </a:graphic>
      </p:graphicFrame>
      <p:sp>
        <p:nvSpPr>
          <p:cNvPr id="2" name="Date Placeholder 1"/>
          <p:cNvSpPr>
            <a:spLocks noGrp="1"/>
          </p:cNvSpPr>
          <p:nvPr>
            <p:ph type="dt" sz="half" idx="10"/>
          </p:nvPr>
        </p:nvSpPr>
        <p:spPr/>
        <p:txBody>
          <a:bodyPr/>
          <a:lstStyle/>
          <a:p>
            <a:fld id="{61B6C90B-375B-473A-BA52-0566E0336160}" type="datetime1">
              <a:rPr lang="vi-VN" smtClean="0"/>
              <a:t>14/01/2024</a:t>
            </a:fld>
            <a:endParaRPr lang="vi-VN"/>
          </a:p>
        </p:txBody>
      </p:sp>
      <p:sp>
        <p:nvSpPr>
          <p:cNvPr id="9" name="Slide Number Placeholder 8"/>
          <p:cNvSpPr>
            <a:spLocks noGrp="1"/>
          </p:cNvSpPr>
          <p:nvPr>
            <p:ph type="sldNum" sz="quarter" idx="12"/>
          </p:nvPr>
        </p:nvSpPr>
        <p:spPr/>
        <p:txBody>
          <a:bodyPr/>
          <a:lstStyle/>
          <a:p>
            <a:fld id="{5AB95402-1E0D-474E-8D8C-CBE7F053639E}" type="slidenum">
              <a:rPr lang="vi-VN" smtClean="0"/>
              <a:pPr/>
              <a:t>49</a:t>
            </a:fld>
            <a:r>
              <a:rPr lang="vi-VN"/>
              <a:t>/59</a:t>
            </a:r>
          </a:p>
        </p:txBody>
      </p:sp>
    </p:spTree>
    <p:extLst>
      <p:ext uri="{BB962C8B-B14F-4D97-AF65-F5344CB8AC3E}">
        <p14:creationId xmlns:p14="http://schemas.microsoft.com/office/powerpoint/2010/main" val="385284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anim calcmode="lin" valueType="num">
                                      <p:cBhvr>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t>Mã quy cách (tt)</a:t>
            </a:r>
          </a:p>
        </p:txBody>
      </p:sp>
      <p:sp>
        <p:nvSpPr>
          <p:cNvPr id="3" name="Content Placeholder 2"/>
          <p:cNvSpPr>
            <a:spLocks noGrp="1"/>
          </p:cNvSpPr>
          <p:nvPr>
            <p:ph idx="1"/>
          </p:nvPr>
        </p:nvSpPr>
        <p:spPr/>
        <p:txBody>
          <a:bodyPr/>
          <a:lstStyle/>
          <a:p>
            <a:pPr>
              <a:defRPr/>
            </a:pPr>
            <a:r>
              <a:rPr lang="en-US"/>
              <a:t>Ví dụ float c=3.5;</a:t>
            </a:r>
          </a:p>
          <a:p>
            <a:pPr lvl="1">
              <a:defRPr/>
            </a:pPr>
            <a:r>
              <a:rPr lang="en-US"/>
              <a:t>int a = 10, b = 20; printf(“a=”); printf(“%d”,a);</a:t>
            </a:r>
          </a:p>
          <a:p>
            <a:pPr lvl="1">
              <a:defRPr/>
            </a:pPr>
            <a:r>
              <a:rPr lang="en-US"/>
              <a:t>printf(“%d”, a);		</a:t>
            </a:r>
            <a:r>
              <a:rPr lang="en-US">
                <a:sym typeface="Wingdings" pitchFamily="2" charset="2"/>
              </a:rPr>
              <a:t> Xuất ra 10</a:t>
            </a:r>
            <a:endParaRPr lang="en-US"/>
          </a:p>
          <a:p>
            <a:pPr lvl="1">
              <a:defRPr/>
            </a:pPr>
            <a:r>
              <a:rPr lang="en-US"/>
              <a:t>printf(“%d”, b);		</a:t>
            </a:r>
            <a:r>
              <a:rPr lang="en-US">
                <a:sym typeface="Wingdings" pitchFamily="2" charset="2"/>
              </a:rPr>
              <a:t> Xuất ra 20</a:t>
            </a:r>
            <a:endParaRPr lang="en-US"/>
          </a:p>
          <a:p>
            <a:pPr lvl="1">
              <a:defRPr/>
            </a:pPr>
            <a:r>
              <a:rPr lang="en-US"/>
              <a:t>printf(“%d %d”, a, b);	</a:t>
            </a:r>
            <a:r>
              <a:rPr lang="en-US">
                <a:sym typeface="Wingdings" pitchFamily="2" charset="2"/>
              </a:rPr>
              <a:t> Xuất ra 10 20</a:t>
            </a:r>
            <a:endParaRPr lang="en-US"/>
          </a:p>
          <a:p>
            <a:pPr lvl="1">
              <a:defRPr/>
            </a:pPr>
            <a:r>
              <a:rPr lang="en-US"/>
              <a:t>printf(“Ket qua a=%d”,a); ket qua a=10</a:t>
            </a:r>
          </a:p>
          <a:p>
            <a:pPr lvl="1">
              <a:defRPr/>
            </a:pPr>
            <a:r>
              <a:rPr lang="en-US"/>
              <a:t>float x = 15.06;</a:t>
            </a:r>
          </a:p>
          <a:p>
            <a:pPr lvl="1">
              <a:defRPr/>
            </a:pPr>
            <a:r>
              <a:rPr lang="en-US"/>
              <a:t>printf(“%f”, x);	</a:t>
            </a:r>
            <a:r>
              <a:rPr lang="en-US">
                <a:sym typeface="Wingdings" pitchFamily="2" charset="2"/>
              </a:rPr>
              <a:t> Xuất ra 15.060000</a:t>
            </a:r>
          </a:p>
          <a:p>
            <a:pPr lvl="1">
              <a:defRPr/>
            </a:pPr>
            <a:r>
              <a:rPr lang="en-US"/>
              <a:t>printf(“%f”, 1.0/3);	</a:t>
            </a:r>
            <a:r>
              <a:rPr lang="en-US">
                <a:sym typeface="Wingdings" pitchFamily="2" charset="2"/>
              </a:rPr>
              <a:t> Xuất ra 0.333333</a:t>
            </a:r>
            <a:endParaRPr lang="en-US"/>
          </a:p>
        </p:txBody>
      </p:sp>
      <p:sp>
        <p:nvSpPr>
          <p:cNvPr id="47108"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5C4BE70B-5715-4956-805C-7A4DC77E22F1}"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50</a:t>
            </a:fld>
            <a:r>
              <a:rPr lang="vi-VN"/>
              <a:t>/59</a:t>
            </a:r>
          </a:p>
        </p:txBody>
      </p:sp>
    </p:spTree>
    <p:extLst>
      <p:ext uri="{BB962C8B-B14F-4D97-AF65-F5344CB8AC3E}">
        <p14:creationId xmlns:p14="http://schemas.microsoft.com/office/powerpoint/2010/main" val="6059785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t>Định dạng xuất</a:t>
            </a:r>
          </a:p>
        </p:txBody>
      </p:sp>
      <p:sp>
        <p:nvSpPr>
          <p:cNvPr id="94" name="Content Placeholder 93"/>
          <p:cNvSpPr>
            <a:spLocks noGrp="1"/>
          </p:cNvSpPr>
          <p:nvPr>
            <p:ph idx="1"/>
          </p:nvPr>
        </p:nvSpPr>
        <p:spPr/>
        <p:txBody>
          <a:bodyPr/>
          <a:lstStyle/>
          <a:p>
            <a:pPr>
              <a:defRPr/>
            </a:pPr>
            <a:r>
              <a:rPr lang="en-US"/>
              <a:t>Cú pháp</a:t>
            </a:r>
          </a:p>
          <a:p>
            <a:pPr lvl="1">
              <a:defRPr/>
            </a:pPr>
            <a:r>
              <a:rPr lang="en-US"/>
              <a:t>Định dạng xuất số nguyên: %</a:t>
            </a:r>
            <a:r>
              <a:rPr lang="en-US">
                <a:solidFill>
                  <a:srgbClr val="FF0000"/>
                </a:solidFill>
              </a:rPr>
              <a:t>n</a:t>
            </a:r>
            <a:r>
              <a:rPr lang="en-US"/>
              <a:t>d</a:t>
            </a:r>
          </a:p>
          <a:p>
            <a:pPr lvl="1">
              <a:defRPr/>
            </a:pPr>
            <a:r>
              <a:rPr lang="en-US"/>
              <a:t>Định dạng xuất số thực: %</a:t>
            </a:r>
            <a:r>
              <a:rPr lang="en-US">
                <a:solidFill>
                  <a:srgbClr val="FF0000"/>
                </a:solidFill>
              </a:rPr>
              <a:t>n.k</a:t>
            </a:r>
            <a:r>
              <a:rPr lang="en-US"/>
              <a:t>f</a:t>
            </a:r>
          </a:p>
        </p:txBody>
      </p:sp>
      <p:sp>
        <p:nvSpPr>
          <p:cNvPr id="48132" name="Footer Placeholder 2"/>
          <p:cNvSpPr>
            <a:spLocks noGrp="1"/>
          </p:cNvSpPr>
          <p:nvPr>
            <p:ph type="ftr" sz="quarter" idx="11"/>
          </p:nvPr>
        </p:nvSpPr>
        <p:spPr>
          <a:noFill/>
        </p:spPr>
        <p:txBody>
          <a:bodyPr/>
          <a:lstStyle/>
          <a:p>
            <a:r>
              <a:rPr lang="vi-VN"/>
              <a:t>Chương 2 - Các phần tử cơ bản của ngôn ngữ C</a:t>
            </a:r>
            <a:endParaRPr lang="en-US"/>
          </a:p>
        </p:txBody>
      </p:sp>
      <p:sp>
        <p:nvSpPr>
          <p:cNvPr id="5" name="Rounded Rectangle 4"/>
          <p:cNvSpPr/>
          <p:nvPr/>
        </p:nvSpPr>
        <p:spPr>
          <a:xfrm>
            <a:off x="685800" y="3092450"/>
            <a:ext cx="152400" cy="16002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3092450"/>
            <a:ext cx="7010400" cy="16319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int a = 1706;</a:t>
            </a:r>
          </a:p>
          <a:p>
            <a:r>
              <a:rPr lang="en-US" sz="2000" b="1">
                <a:latin typeface="Courier New" pitchFamily="49" charset="0"/>
                <a:cs typeface="Courier New" pitchFamily="49" charset="0"/>
              </a:rPr>
              <a:t>float x = 176.85;</a:t>
            </a:r>
          </a:p>
          <a:p>
            <a:r>
              <a:rPr lang="en-US" sz="2000" b="1">
                <a:latin typeface="Courier New" pitchFamily="49" charset="0"/>
                <a:cs typeface="Courier New" pitchFamily="49" charset="0"/>
              </a:rPr>
              <a:t>printf(“%10d”, a);printf(“\n”);</a:t>
            </a:r>
          </a:p>
          <a:p>
            <a:r>
              <a:rPr lang="en-US" sz="2000" b="1">
                <a:latin typeface="Courier New" pitchFamily="49" charset="0"/>
                <a:cs typeface="Courier New" pitchFamily="49" charset="0"/>
              </a:rPr>
              <a:t>printf(“%10.2f”, x);printf(“\n”);</a:t>
            </a:r>
          </a:p>
          <a:p>
            <a:r>
              <a:rPr lang="en-US" sz="2000" b="1">
                <a:latin typeface="Courier New" pitchFamily="49" charset="0"/>
                <a:cs typeface="Courier New" pitchFamily="49" charset="0"/>
              </a:rPr>
              <a:t>printf(“%.2f”, x);printf(“\n”);</a:t>
            </a:r>
          </a:p>
        </p:txBody>
      </p:sp>
      <p:sp>
        <p:nvSpPr>
          <p:cNvPr id="15" name="AutoShape 6"/>
          <p:cNvSpPr>
            <a:spLocks noChangeArrowheads="1"/>
          </p:cNvSpPr>
          <p:nvPr/>
        </p:nvSpPr>
        <p:spPr bwMode="gray">
          <a:xfrm>
            <a:off x="6858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17" name="AutoShape 6"/>
          <p:cNvSpPr>
            <a:spLocks noChangeArrowheads="1"/>
          </p:cNvSpPr>
          <p:nvPr/>
        </p:nvSpPr>
        <p:spPr bwMode="gray">
          <a:xfrm>
            <a:off x="11430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18" name="AutoShape 6"/>
          <p:cNvSpPr>
            <a:spLocks noChangeArrowheads="1"/>
          </p:cNvSpPr>
          <p:nvPr/>
        </p:nvSpPr>
        <p:spPr bwMode="gray">
          <a:xfrm>
            <a:off x="16002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19" name="AutoShape 6"/>
          <p:cNvSpPr>
            <a:spLocks noChangeArrowheads="1"/>
          </p:cNvSpPr>
          <p:nvPr/>
        </p:nvSpPr>
        <p:spPr bwMode="gray">
          <a:xfrm>
            <a:off x="20574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0" name="AutoShape 6"/>
          <p:cNvSpPr>
            <a:spLocks noChangeArrowheads="1"/>
          </p:cNvSpPr>
          <p:nvPr/>
        </p:nvSpPr>
        <p:spPr bwMode="gray">
          <a:xfrm>
            <a:off x="25146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1" name="AutoShape 6"/>
          <p:cNvSpPr>
            <a:spLocks noChangeArrowheads="1"/>
          </p:cNvSpPr>
          <p:nvPr/>
        </p:nvSpPr>
        <p:spPr bwMode="gray">
          <a:xfrm>
            <a:off x="29718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2" name="AutoShape 6"/>
          <p:cNvSpPr>
            <a:spLocks noChangeArrowheads="1"/>
          </p:cNvSpPr>
          <p:nvPr/>
        </p:nvSpPr>
        <p:spPr bwMode="gray">
          <a:xfrm>
            <a:off x="34290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3" name="AutoShape 6"/>
          <p:cNvSpPr>
            <a:spLocks noChangeArrowheads="1"/>
          </p:cNvSpPr>
          <p:nvPr/>
        </p:nvSpPr>
        <p:spPr bwMode="gray">
          <a:xfrm>
            <a:off x="38862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4" name="AutoShape 6"/>
          <p:cNvSpPr>
            <a:spLocks noChangeArrowheads="1"/>
          </p:cNvSpPr>
          <p:nvPr/>
        </p:nvSpPr>
        <p:spPr bwMode="gray">
          <a:xfrm>
            <a:off x="43434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5" name="AutoShape 6"/>
          <p:cNvSpPr>
            <a:spLocks noChangeArrowheads="1"/>
          </p:cNvSpPr>
          <p:nvPr/>
        </p:nvSpPr>
        <p:spPr bwMode="gray">
          <a:xfrm>
            <a:off x="48006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6" name="AutoShape 6"/>
          <p:cNvSpPr>
            <a:spLocks noChangeArrowheads="1"/>
          </p:cNvSpPr>
          <p:nvPr/>
        </p:nvSpPr>
        <p:spPr bwMode="gray">
          <a:xfrm>
            <a:off x="52578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7" name="AutoShape 6"/>
          <p:cNvSpPr>
            <a:spLocks noChangeArrowheads="1"/>
          </p:cNvSpPr>
          <p:nvPr/>
        </p:nvSpPr>
        <p:spPr bwMode="gray">
          <a:xfrm>
            <a:off x="57150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8" name="AutoShape 6"/>
          <p:cNvSpPr>
            <a:spLocks noChangeArrowheads="1"/>
          </p:cNvSpPr>
          <p:nvPr/>
        </p:nvSpPr>
        <p:spPr bwMode="gray">
          <a:xfrm>
            <a:off x="61722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29" name="AutoShape 6"/>
          <p:cNvSpPr>
            <a:spLocks noChangeArrowheads="1"/>
          </p:cNvSpPr>
          <p:nvPr/>
        </p:nvSpPr>
        <p:spPr bwMode="gray">
          <a:xfrm>
            <a:off x="66294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0" name="AutoShape 6"/>
          <p:cNvSpPr>
            <a:spLocks noChangeArrowheads="1"/>
          </p:cNvSpPr>
          <p:nvPr/>
        </p:nvSpPr>
        <p:spPr bwMode="gray">
          <a:xfrm>
            <a:off x="70866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1" name="AutoShape 6"/>
          <p:cNvSpPr>
            <a:spLocks noChangeArrowheads="1"/>
          </p:cNvSpPr>
          <p:nvPr/>
        </p:nvSpPr>
        <p:spPr bwMode="gray">
          <a:xfrm>
            <a:off x="7543800" y="49530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2" name="AutoShape 6"/>
          <p:cNvSpPr>
            <a:spLocks noChangeArrowheads="1"/>
          </p:cNvSpPr>
          <p:nvPr/>
        </p:nvSpPr>
        <p:spPr bwMode="gray">
          <a:xfrm>
            <a:off x="6858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3" name="AutoShape 6"/>
          <p:cNvSpPr>
            <a:spLocks noChangeArrowheads="1"/>
          </p:cNvSpPr>
          <p:nvPr/>
        </p:nvSpPr>
        <p:spPr bwMode="gray">
          <a:xfrm>
            <a:off x="11430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4" name="AutoShape 6"/>
          <p:cNvSpPr>
            <a:spLocks noChangeArrowheads="1"/>
          </p:cNvSpPr>
          <p:nvPr/>
        </p:nvSpPr>
        <p:spPr bwMode="gray">
          <a:xfrm>
            <a:off x="16002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5" name="AutoShape 6"/>
          <p:cNvSpPr>
            <a:spLocks noChangeArrowheads="1"/>
          </p:cNvSpPr>
          <p:nvPr/>
        </p:nvSpPr>
        <p:spPr bwMode="gray">
          <a:xfrm>
            <a:off x="20574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6" name="AutoShape 6"/>
          <p:cNvSpPr>
            <a:spLocks noChangeArrowheads="1"/>
          </p:cNvSpPr>
          <p:nvPr/>
        </p:nvSpPr>
        <p:spPr bwMode="gray">
          <a:xfrm>
            <a:off x="25146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7" name="AutoShape 6"/>
          <p:cNvSpPr>
            <a:spLocks noChangeArrowheads="1"/>
          </p:cNvSpPr>
          <p:nvPr/>
        </p:nvSpPr>
        <p:spPr bwMode="gray">
          <a:xfrm>
            <a:off x="29718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8" name="AutoShape 6"/>
          <p:cNvSpPr>
            <a:spLocks noChangeArrowheads="1"/>
          </p:cNvSpPr>
          <p:nvPr/>
        </p:nvSpPr>
        <p:spPr bwMode="gray">
          <a:xfrm>
            <a:off x="34290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39" name="AutoShape 6"/>
          <p:cNvSpPr>
            <a:spLocks noChangeArrowheads="1"/>
          </p:cNvSpPr>
          <p:nvPr/>
        </p:nvSpPr>
        <p:spPr bwMode="gray">
          <a:xfrm>
            <a:off x="38862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0" name="AutoShape 6"/>
          <p:cNvSpPr>
            <a:spLocks noChangeArrowheads="1"/>
          </p:cNvSpPr>
          <p:nvPr/>
        </p:nvSpPr>
        <p:spPr bwMode="gray">
          <a:xfrm>
            <a:off x="43434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1" name="AutoShape 6"/>
          <p:cNvSpPr>
            <a:spLocks noChangeArrowheads="1"/>
          </p:cNvSpPr>
          <p:nvPr/>
        </p:nvSpPr>
        <p:spPr bwMode="gray">
          <a:xfrm>
            <a:off x="48006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2" name="AutoShape 6"/>
          <p:cNvSpPr>
            <a:spLocks noChangeArrowheads="1"/>
          </p:cNvSpPr>
          <p:nvPr/>
        </p:nvSpPr>
        <p:spPr bwMode="gray">
          <a:xfrm>
            <a:off x="52578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3" name="AutoShape 6"/>
          <p:cNvSpPr>
            <a:spLocks noChangeArrowheads="1"/>
          </p:cNvSpPr>
          <p:nvPr/>
        </p:nvSpPr>
        <p:spPr bwMode="gray">
          <a:xfrm>
            <a:off x="57150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4" name="AutoShape 6"/>
          <p:cNvSpPr>
            <a:spLocks noChangeArrowheads="1"/>
          </p:cNvSpPr>
          <p:nvPr/>
        </p:nvSpPr>
        <p:spPr bwMode="gray">
          <a:xfrm>
            <a:off x="61722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5" name="AutoShape 6"/>
          <p:cNvSpPr>
            <a:spLocks noChangeArrowheads="1"/>
          </p:cNvSpPr>
          <p:nvPr/>
        </p:nvSpPr>
        <p:spPr bwMode="gray">
          <a:xfrm>
            <a:off x="66294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6" name="AutoShape 6"/>
          <p:cNvSpPr>
            <a:spLocks noChangeArrowheads="1"/>
          </p:cNvSpPr>
          <p:nvPr/>
        </p:nvSpPr>
        <p:spPr bwMode="gray">
          <a:xfrm>
            <a:off x="70866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7" name="AutoShape 6"/>
          <p:cNvSpPr>
            <a:spLocks noChangeArrowheads="1"/>
          </p:cNvSpPr>
          <p:nvPr/>
        </p:nvSpPr>
        <p:spPr bwMode="gray">
          <a:xfrm>
            <a:off x="7543800" y="54102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8" name="AutoShape 6"/>
          <p:cNvSpPr>
            <a:spLocks noChangeArrowheads="1"/>
          </p:cNvSpPr>
          <p:nvPr/>
        </p:nvSpPr>
        <p:spPr bwMode="gray">
          <a:xfrm>
            <a:off x="6858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49" name="AutoShape 6"/>
          <p:cNvSpPr>
            <a:spLocks noChangeArrowheads="1"/>
          </p:cNvSpPr>
          <p:nvPr/>
        </p:nvSpPr>
        <p:spPr bwMode="gray">
          <a:xfrm>
            <a:off x="11430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0" name="AutoShape 6"/>
          <p:cNvSpPr>
            <a:spLocks noChangeArrowheads="1"/>
          </p:cNvSpPr>
          <p:nvPr/>
        </p:nvSpPr>
        <p:spPr bwMode="gray">
          <a:xfrm>
            <a:off x="16002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1" name="AutoShape 6"/>
          <p:cNvSpPr>
            <a:spLocks noChangeArrowheads="1"/>
          </p:cNvSpPr>
          <p:nvPr/>
        </p:nvSpPr>
        <p:spPr bwMode="gray">
          <a:xfrm>
            <a:off x="20574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2" name="AutoShape 6"/>
          <p:cNvSpPr>
            <a:spLocks noChangeArrowheads="1"/>
          </p:cNvSpPr>
          <p:nvPr/>
        </p:nvSpPr>
        <p:spPr bwMode="gray">
          <a:xfrm>
            <a:off x="25146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3" name="AutoShape 6"/>
          <p:cNvSpPr>
            <a:spLocks noChangeArrowheads="1"/>
          </p:cNvSpPr>
          <p:nvPr/>
        </p:nvSpPr>
        <p:spPr bwMode="gray">
          <a:xfrm>
            <a:off x="29718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4" name="AutoShape 6"/>
          <p:cNvSpPr>
            <a:spLocks noChangeArrowheads="1"/>
          </p:cNvSpPr>
          <p:nvPr/>
        </p:nvSpPr>
        <p:spPr bwMode="gray">
          <a:xfrm>
            <a:off x="34290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5" name="AutoShape 6"/>
          <p:cNvSpPr>
            <a:spLocks noChangeArrowheads="1"/>
          </p:cNvSpPr>
          <p:nvPr/>
        </p:nvSpPr>
        <p:spPr bwMode="gray">
          <a:xfrm>
            <a:off x="38862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6" name="AutoShape 6"/>
          <p:cNvSpPr>
            <a:spLocks noChangeArrowheads="1"/>
          </p:cNvSpPr>
          <p:nvPr/>
        </p:nvSpPr>
        <p:spPr bwMode="gray">
          <a:xfrm>
            <a:off x="43434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7" name="AutoShape 6"/>
          <p:cNvSpPr>
            <a:spLocks noChangeArrowheads="1"/>
          </p:cNvSpPr>
          <p:nvPr/>
        </p:nvSpPr>
        <p:spPr bwMode="gray">
          <a:xfrm>
            <a:off x="48006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8" name="AutoShape 6"/>
          <p:cNvSpPr>
            <a:spLocks noChangeArrowheads="1"/>
          </p:cNvSpPr>
          <p:nvPr/>
        </p:nvSpPr>
        <p:spPr bwMode="gray">
          <a:xfrm>
            <a:off x="52578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59" name="AutoShape 6"/>
          <p:cNvSpPr>
            <a:spLocks noChangeArrowheads="1"/>
          </p:cNvSpPr>
          <p:nvPr/>
        </p:nvSpPr>
        <p:spPr bwMode="gray">
          <a:xfrm>
            <a:off x="57150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60" name="AutoShape 6"/>
          <p:cNvSpPr>
            <a:spLocks noChangeArrowheads="1"/>
          </p:cNvSpPr>
          <p:nvPr/>
        </p:nvSpPr>
        <p:spPr bwMode="gray">
          <a:xfrm>
            <a:off x="61722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61" name="AutoShape 6"/>
          <p:cNvSpPr>
            <a:spLocks noChangeArrowheads="1"/>
          </p:cNvSpPr>
          <p:nvPr/>
        </p:nvSpPr>
        <p:spPr bwMode="gray">
          <a:xfrm>
            <a:off x="66294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62" name="AutoShape 6"/>
          <p:cNvSpPr>
            <a:spLocks noChangeArrowheads="1"/>
          </p:cNvSpPr>
          <p:nvPr/>
        </p:nvSpPr>
        <p:spPr bwMode="gray">
          <a:xfrm>
            <a:off x="70866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63" name="AutoShape 6"/>
          <p:cNvSpPr>
            <a:spLocks noChangeArrowheads="1"/>
          </p:cNvSpPr>
          <p:nvPr/>
        </p:nvSpPr>
        <p:spPr bwMode="gray">
          <a:xfrm>
            <a:off x="7543800" y="5867400"/>
            <a:ext cx="381000" cy="381000"/>
          </a:xfrm>
          <a:prstGeom prst="roundRect">
            <a:avLst>
              <a:gd name="adj" fmla="val 16667"/>
            </a:avLst>
          </a:prstGeom>
          <a:ln>
            <a:prstDash val="sysDash"/>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a:p>
        </p:txBody>
      </p:sp>
      <p:sp>
        <p:nvSpPr>
          <p:cNvPr id="64" name="AutoShape 6"/>
          <p:cNvSpPr>
            <a:spLocks noChangeArrowheads="1"/>
          </p:cNvSpPr>
          <p:nvPr/>
        </p:nvSpPr>
        <p:spPr bwMode="gray">
          <a:xfrm>
            <a:off x="6858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65" name="AutoShape 6"/>
          <p:cNvSpPr>
            <a:spLocks noChangeArrowheads="1"/>
          </p:cNvSpPr>
          <p:nvPr/>
        </p:nvSpPr>
        <p:spPr bwMode="gray">
          <a:xfrm>
            <a:off x="11430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66" name="AutoShape 6"/>
          <p:cNvSpPr>
            <a:spLocks noChangeArrowheads="1"/>
          </p:cNvSpPr>
          <p:nvPr/>
        </p:nvSpPr>
        <p:spPr bwMode="gray">
          <a:xfrm>
            <a:off x="16002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67" name="AutoShape 6"/>
          <p:cNvSpPr>
            <a:spLocks noChangeArrowheads="1"/>
          </p:cNvSpPr>
          <p:nvPr/>
        </p:nvSpPr>
        <p:spPr bwMode="gray">
          <a:xfrm>
            <a:off x="20574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68" name="AutoShape 6"/>
          <p:cNvSpPr>
            <a:spLocks noChangeArrowheads="1"/>
          </p:cNvSpPr>
          <p:nvPr/>
        </p:nvSpPr>
        <p:spPr bwMode="gray">
          <a:xfrm>
            <a:off x="25146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69" name="AutoShape 6"/>
          <p:cNvSpPr>
            <a:spLocks noChangeArrowheads="1"/>
          </p:cNvSpPr>
          <p:nvPr/>
        </p:nvSpPr>
        <p:spPr bwMode="gray">
          <a:xfrm>
            <a:off x="29718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70" name="AutoShape 6"/>
          <p:cNvSpPr>
            <a:spLocks noChangeArrowheads="1"/>
          </p:cNvSpPr>
          <p:nvPr/>
        </p:nvSpPr>
        <p:spPr bwMode="gray">
          <a:xfrm>
            <a:off x="34290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1</a:t>
            </a:r>
          </a:p>
        </p:txBody>
      </p:sp>
      <p:sp>
        <p:nvSpPr>
          <p:cNvPr id="71" name="AutoShape 6"/>
          <p:cNvSpPr>
            <a:spLocks noChangeArrowheads="1"/>
          </p:cNvSpPr>
          <p:nvPr/>
        </p:nvSpPr>
        <p:spPr bwMode="gray">
          <a:xfrm>
            <a:off x="38862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7</a:t>
            </a:r>
          </a:p>
        </p:txBody>
      </p:sp>
      <p:sp>
        <p:nvSpPr>
          <p:cNvPr id="72" name="AutoShape 6"/>
          <p:cNvSpPr>
            <a:spLocks noChangeArrowheads="1"/>
          </p:cNvSpPr>
          <p:nvPr/>
        </p:nvSpPr>
        <p:spPr bwMode="gray">
          <a:xfrm>
            <a:off x="43434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0</a:t>
            </a:r>
          </a:p>
        </p:txBody>
      </p:sp>
      <p:sp>
        <p:nvSpPr>
          <p:cNvPr id="73" name="AutoShape 6"/>
          <p:cNvSpPr>
            <a:spLocks noChangeArrowheads="1"/>
          </p:cNvSpPr>
          <p:nvPr/>
        </p:nvSpPr>
        <p:spPr bwMode="gray">
          <a:xfrm>
            <a:off x="4800600" y="49530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6</a:t>
            </a:r>
          </a:p>
        </p:txBody>
      </p:sp>
      <p:sp>
        <p:nvSpPr>
          <p:cNvPr id="74" name="AutoShape 6"/>
          <p:cNvSpPr>
            <a:spLocks noChangeArrowheads="1"/>
          </p:cNvSpPr>
          <p:nvPr/>
        </p:nvSpPr>
        <p:spPr bwMode="gray">
          <a:xfrm>
            <a:off x="29718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7</a:t>
            </a:r>
          </a:p>
        </p:txBody>
      </p:sp>
      <p:sp>
        <p:nvSpPr>
          <p:cNvPr id="75" name="AutoShape 6"/>
          <p:cNvSpPr>
            <a:spLocks noChangeArrowheads="1"/>
          </p:cNvSpPr>
          <p:nvPr/>
        </p:nvSpPr>
        <p:spPr bwMode="gray">
          <a:xfrm>
            <a:off x="34290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6</a:t>
            </a:r>
          </a:p>
        </p:txBody>
      </p:sp>
      <p:sp>
        <p:nvSpPr>
          <p:cNvPr id="76" name="AutoShape 6"/>
          <p:cNvSpPr>
            <a:spLocks noChangeArrowheads="1"/>
          </p:cNvSpPr>
          <p:nvPr/>
        </p:nvSpPr>
        <p:spPr bwMode="gray">
          <a:xfrm>
            <a:off x="38862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a:t>
            </a:r>
          </a:p>
        </p:txBody>
      </p:sp>
      <p:sp>
        <p:nvSpPr>
          <p:cNvPr id="77" name="AutoShape 6"/>
          <p:cNvSpPr>
            <a:spLocks noChangeArrowheads="1"/>
          </p:cNvSpPr>
          <p:nvPr/>
        </p:nvSpPr>
        <p:spPr bwMode="gray">
          <a:xfrm>
            <a:off x="43434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8</a:t>
            </a:r>
          </a:p>
        </p:txBody>
      </p:sp>
      <p:sp>
        <p:nvSpPr>
          <p:cNvPr id="78" name="AutoShape 6"/>
          <p:cNvSpPr>
            <a:spLocks noChangeArrowheads="1"/>
          </p:cNvSpPr>
          <p:nvPr/>
        </p:nvSpPr>
        <p:spPr bwMode="gray">
          <a:xfrm>
            <a:off x="48006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5</a:t>
            </a:r>
          </a:p>
        </p:txBody>
      </p:sp>
      <p:sp>
        <p:nvSpPr>
          <p:cNvPr id="79" name="AutoShape 6"/>
          <p:cNvSpPr>
            <a:spLocks noChangeArrowheads="1"/>
          </p:cNvSpPr>
          <p:nvPr/>
        </p:nvSpPr>
        <p:spPr bwMode="gray">
          <a:xfrm>
            <a:off x="685800" y="58674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1</a:t>
            </a:r>
          </a:p>
        </p:txBody>
      </p:sp>
      <p:sp>
        <p:nvSpPr>
          <p:cNvPr id="80" name="AutoShape 6"/>
          <p:cNvSpPr>
            <a:spLocks noChangeArrowheads="1"/>
          </p:cNvSpPr>
          <p:nvPr/>
        </p:nvSpPr>
        <p:spPr bwMode="gray">
          <a:xfrm>
            <a:off x="1143000" y="58674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7</a:t>
            </a:r>
          </a:p>
        </p:txBody>
      </p:sp>
      <p:sp>
        <p:nvSpPr>
          <p:cNvPr id="81" name="AutoShape 6"/>
          <p:cNvSpPr>
            <a:spLocks noChangeArrowheads="1"/>
          </p:cNvSpPr>
          <p:nvPr/>
        </p:nvSpPr>
        <p:spPr bwMode="gray">
          <a:xfrm>
            <a:off x="1600200" y="58674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6</a:t>
            </a:r>
          </a:p>
        </p:txBody>
      </p:sp>
      <p:sp>
        <p:nvSpPr>
          <p:cNvPr id="82" name="AutoShape 6"/>
          <p:cNvSpPr>
            <a:spLocks noChangeArrowheads="1"/>
          </p:cNvSpPr>
          <p:nvPr/>
        </p:nvSpPr>
        <p:spPr bwMode="gray">
          <a:xfrm>
            <a:off x="2057400" y="58674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a:t>
            </a:r>
          </a:p>
        </p:txBody>
      </p:sp>
      <p:sp>
        <p:nvSpPr>
          <p:cNvPr id="83" name="AutoShape 6"/>
          <p:cNvSpPr>
            <a:spLocks noChangeArrowheads="1"/>
          </p:cNvSpPr>
          <p:nvPr/>
        </p:nvSpPr>
        <p:spPr bwMode="gray">
          <a:xfrm>
            <a:off x="2514600" y="58674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8</a:t>
            </a:r>
          </a:p>
        </p:txBody>
      </p:sp>
      <p:sp>
        <p:nvSpPr>
          <p:cNvPr id="84" name="AutoShape 6"/>
          <p:cNvSpPr>
            <a:spLocks noChangeArrowheads="1"/>
          </p:cNvSpPr>
          <p:nvPr/>
        </p:nvSpPr>
        <p:spPr bwMode="gray">
          <a:xfrm>
            <a:off x="2971800" y="58674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5</a:t>
            </a:r>
          </a:p>
        </p:txBody>
      </p:sp>
      <p:sp>
        <p:nvSpPr>
          <p:cNvPr id="89" name="AutoShape 6"/>
          <p:cNvSpPr>
            <a:spLocks noChangeArrowheads="1"/>
          </p:cNvSpPr>
          <p:nvPr/>
        </p:nvSpPr>
        <p:spPr bwMode="gray">
          <a:xfrm>
            <a:off x="6858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90" name="AutoShape 6"/>
          <p:cNvSpPr>
            <a:spLocks noChangeArrowheads="1"/>
          </p:cNvSpPr>
          <p:nvPr/>
        </p:nvSpPr>
        <p:spPr bwMode="gray">
          <a:xfrm>
            <a:off x="11430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91" name="AutoShape 6"/>
          <p:cNvSpPr>
            <a:spLocks noChangeArrowheads="1"/>
          </p:cNvSpPr>
          <p:nvPr/>
        </p:nvSpPr>
        <p:spPr bwMode="gray">
          <a:xfrm>
            <a:off x="16002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92" name="AutoShape 6"/>
          <p:cNvSpPr>
            <a:spLocks noChangeArrowheads="1"/>
          </p:cNvSpPr>
          <p:nvPr/>
        </p:nvSpPr>
        <p:spPr bwMode="gray">
          <a:xfrm>
            <a:off x="20574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a:p>
        </p:txBody>
      </p:sp>
      <p:sp>
        <p:nvSpPr>
          <p:cNvPr id="93" name="AutoShape 6"/>
          <p:cNvSpPr>
            <a:spLocks noChangeArrowheads="1"/>
          </p:cNvSpPr>
          <p:nvPr/>
        </p:nvSpPr>
        <p:spPr bwMode="gray">
          <a:xfrm>
            <a:off x="2514600" y="5410200"/>
            <a:ext cx="381000" cy="381000"/>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a:t>1</a:t>
            </a:r>
          </a:p>
        </p:txBody>
      </p:sp>
      <p:sp>
        <p:nvSpPr>
          <p:cNvPr id="2" name="Date Placeholder 1"/>
          <p:cNvSpPr>
            <a:spLocks noGrp="1"/>
          </p:cNvSpPr>
          <p:nvPr>
            <p:ph type="dt" sz="half" idx="10"/>
          </p:nvPr>
        </p:nvSpPr>
        <p:spPr/>
        <p:txBody>
          <a:bodyPr/>
          <a:lstStyle/>
          <a:p>
            <a:fld id="{EDCE0E12-F459-48BE-B807-B52C92859C96}" type="datetime1">
              <a:rPr lang="vi-VN" smtClean="0"/>
              <a:t>14/01/2024</a:t>
            </a:fld>
            <a:endParaRPr lang="vi-VN"/>
          </a:p>
        </p:txBody>
      </p:sp>
      <p:sp>
        <p:nvSpPr>
          <p:cNvPr id="9" name="Slide Number Placeholder 8"/>
          <p:cNvSpPr>
            <a:spLocks noGrp="1"/>
          </p:cNvSpPr>
          <p:nvPr>
            <p:ph type="sldNum" sz="quarter" idx="12"/>
          </p:nvPr>
        </p:nvSpPr>
        <p:spPr/>
        <p:txBody>
          <a:bodyPr/>
          <a:lstStyle/>
          <a:p>
            <a:fld id="{5AB95402-1E0D-474E-8D8C-CBE7F053639E}" type="slidenum">
              <a:rPr lang="vi-VN" smtClean="0"/>
              <a:pPr/>
              <a:t>51</a:t>
            </a:fld>
            <a:r>
              <a:rPr lang="vi-VN"/>
              <a:t>/59</a:t>
            </a:r>
          </a:p>
        </p:txBody>
      </p:sp>
    </p:spTree>
    <p:extLst>
      <p:ext uri="{BB962C8B-B14F-4D97-AF65-F5344CB8AC3E}">
        <p14:creationId xmlns:p14="http://schemas.microsoft.com/office/powerpoint/2010/main" val="3423883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5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500"/>
                                        <p:tgtEl>
                                          <p:spTgt spid="3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500"/>
                                        <p:tgtEl>
                                          <p:spTgt spid="3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500"/>
                                        <p:tgtEl>
                                          <p:spTgt spid="3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500"/>
                                        <p:tgtEl>
                                          <p:spTgt spid="4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fade">
                                      <p:cBhvr>
                                        <p:cTn id="90" dur="500"/>
                                        <p:tgtEl>
                                          <p:spTgt spid="4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fade">
                                      <p:cBhvr>
                                        <p:cTn id="93" dur="500"/>
                                        <p:tgtEl>
                                          <p:spTgt spid="4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fade">
                                      <p:cBhvr>
                                        <p:cTn id="96" dur="500"/>
                                        <p:tgtEl>
                                          <p:spTgt spid="4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fade">
                                      <p:cBhvr>
                                        <p:cTn id="99" dur="500"/>
                                        <p:tgtEl>
                                          <p:spTgt spid="4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500"/>
                                        <p:tgtEl>
                                          <p:spTgt spid="4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500"/>
                                        <p:tgtEl>
                                          <p:spTgt spid="4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7"/>
                                        </p:tgtEl>
                                        <p:attrNameLst>
                                          <p:attrName>style.visibility</p:attrName>
                                        </p:attrNameLst>
                                      </p:cBhvr>
                                      <p:to>
                                        <p:strVal val="visible"/>
                                      </p:to>
                                    </p:set>
                                    <p:animEffect transition="in" filter="fade">
                                      <p:cBhvr>
                                        <p:cTn id="108" dur="500"/>
                                        <p:tgtEl>
                                          <p:spTgt spid="4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8"/>
                                        </p:tgtEl>
                                        <p:attrNameLst>
                                          <p:attrName>style.visibility</p:attrName>
                                        </p:attrNameLst>
                                      </p:cBhvr>
                                      <p:to>
                                        <p:strVal val="visible"/>
                                      </p:to>
                                    </p:set>
                                    <p:animEffect transition="in" filter="fade">
                                      <p:cBhvr>
                                        <p:cTn id="111" dur="500"/>
                                        <p:tgtEl>
                                          <p:spTgt spid="4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9"/>
                                        </p:tgtEl>
                                        <p:attrNameLst>
                                          <p:attrName>style.visibility</p:attrName>
                                        </p:attrNameLst>
                                      </p:cBhvr>
                                      <p:to>
                                        <p:strVal val="visible"/>
                                      </p:to>
                                    </p:set>
                                    <p:animEffect transition="in" filter="fade">
                                      <p:cBhvr>
                                        <p:cTn id="114" dur="500"/>
                                        <p:tgtEl>
                                          <p:spTgt spid="4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0"/>
                                        </p:tgtEl>
                                        <p:attrNameLst>
                                          <p:attrName>style.visibility</p:attrName>
                                        </p:attrNameLst>
                                      </p:cBhvr>
                                      <p:to>
                                        <p:strVal val="visible"/>
                                      </p:to>
                                    </p:set>
                                    <p:animEffect transition="in" filter="fade">
                                      <p:cBhvr>
                                        <p:cTn id="117" dur="500"/>
                                        <p:tgtEl>
                                          <p:spTgt spid="5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fade">
                                      <p:cBhvr>
                                        <p:cTn id="120" dur="500"/>
                                        <p:tgtEl>
                                          <p:spTgt spid="5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animEffect transition="in" filter="fade">
                                      <p:cBhvr>
                                        <p:cTn id="123" dur="500"/>
                                        <p:tgtEl>
                                          <p:spTgt spid="5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fade">
                                      <p:cBhvr>
                                        <p:cTn id="126" dur="500"/>
                                        <p:tgtEl>
                                          <p:spTgt spid="53"/>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fade">
                                      <p:cBhvr>
                                        <p:cTn id="129" dur="500"/>
                                        <p:tgtEl>
                                          <p:spTgt spid="54"/>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5"/>
                                        </p:tgtEl>
                                        <p:attrNameLst>
                                          <p:attrName>style.visibility</p:attrName>
                                        </p:attrNameLst>
                                      </p:cBhvr>
                                      <p:to>
                                        <p:strVal val="visible"/>
                                      </p:to>
                                    </p:set>
                                    <p:animEffect transition="in" filter="fade">
                                      <p:cBhvr>
                                        <p:cTn id="132" dur="500"/>
                                        <p:tgtEl>
                                          <p:spTgt spid="55"/>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6"/>
                                        </p:tgtEl>
                                        <p:attrNameLst>
                                          <p:attrName>style.visibility</p:attrName>
                                        </p:attrNameLst>
                                      </p:cBhvr>
                                      <p:to>
                                        <p:strVal val="visible"/>
                                      </p:to>
                                    </p:set>
                                    <p:animEffect transition="in" filter="fade">
                                      <p:cBhvr>
                                        <p:cTn id="135" dur="500"/>
                                        <p:tgtEl>
                                          <p:spTgt spid="56"/>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7"/>
                                        </p:tgtEl>
                                        <p:attrNameLst>
                                          <p:attrName>style.visibility</p:attrName>
                                        </p:attrNameLst>
                                      </p:cBhvr>
                                      <p:to>
                                        <p:strVal val="visible"/>
                                      </p:to>
                                    </p:set>
                                    <p:animEffect transition="in" filter="fade">
                                      <p:cBhvr>
                                        <p:cTn id="138" dur="500"/>
                                        <p:tgtEl>
                                          <p:spTgt spid="57"/>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8"/>
                                        </p:tgtEl>
                                        <p:attrNameLst>
                                          <p:attrName>style.visibility</p:attrName>
                                        </p:attrNameLst>
                                      </p:cBhvr>
                                      <p:to>
                                        <p:strVal val="visible"/>
                                      </p:to>
                                    </p:set>
                                    <p:animEffect transition="in" filter="fade">
                                      <p:cBhvr>
                                        <p:cTn id="141" dur="500"/>
                                        <p:tgtEl>
                                          <p:spTgt spid="58"/>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9"/>
                                        </p:tgtEl>
                                        <p:attrNameLst>
                                          <p:attrName>style.visibility</p:attrName>
                                        </p:attrNameLst>
                                      </p:cBhvr>
                                      <p:to>
                                        <p:strVal val="visible"/>
                                      </p:to>
                                    </p:set>
                                    <p:animEffect transition="in" filter="fade">
                                      <p:cBhvr>
                                        <p:cTn id="144" dur="500"/>
                                        <p:tgtEl>
                                          <p:spTgt spid="59"/>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60"/>
                                        </p:tgtEl>
                                        <p:attrNameLst>
                                          <p:attrName>style.visibility</p:attrName>
                                        </p:attrNameLst>
                                      </p:cBhvr>
                                      <p:to>
                                        <p:strVal val="visible"/>
                                      </p:to>
                                    </p:set>
                                    <p:animEffect transition="in" filter="fade">
                                      <p:cBhvr>
                                        <p:cTn id="147" dur="500"/>
                                        <p:tgtEl>
                                          <p:spTgt spid="60"/>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61"/>
                                        </p:tgtEl>
                                        <p:attrNameLst>
                                          <p:attrName>style.visibility</p:attrName>
                                        </p:attrNameLst>
                                      </p:cBhvr>
                                      <p:to>
                                        <p:strVal val="visible"/>
                                      </p:to>
                                    </p:set>
                                    <p:animEffect transition="in" filter="fade">
                                      <p:cBhvr>
                                        <p:cTn id="150" dur="500"/>
                                        <p:tgtEl>
                                          <p:spTgt spid="61"/>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2"/>
                                        </p:tgtEl>
                                        <p:attrNameLst>
                                          <p:attrName>style.visibility</p:attrName>
                                        </p:attrNameLst>
                                      </p:cBhvr>
                                      <p:to>
                                        <p:strVal val="visible"/>
                                      </p:to>
                                    </p:set>
                                    <p:animEffect transition="in" filter="fade">
                                      <p:cBhvr>
                                        <p:cTn id="153" dur="500"/>
                                        <p:tgtEl>
                                          <p:spTgt spid="62"/>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63"/>
                                        </p:tgtEl>
                                        <p:attrNameLst>
                                          <p:attrName>style.visibility</p:attrName>
                                        </p:attrNameLst>
                                      </p:cBhvr>
                                      <p:to>
                                        <p:strVal val="visible"/>
                                      </p:to>
                                    </p:set>
                                    <p:animEffect transition="in" filter="fade">
                                      <p:cBhvr>
                                        <p:cTn id="156" dur="500"/>
                                        <p:tgtEl>
                                          <p:spTgt spid="63"/>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64"/>
                                        </p:tgtEl>
                                        <p:attrNameLst>
                                          <p:attrName>style.visibility</p:attrName>
                                        </p:attrNameLst>
                                      </p:cBhvr>
                                      <p:to>
                                        <p:strVal val="visible"/>
                                      </p:to>
                                    </p:set>
                                    <p:animEffect transition="in" filter="fade">
                                      <p:cBhvr>
                                        <p:cTn id="161" dur="500"/>
                                        <p:tgtEl>
                                          <p:spTgt spid="64"/>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65"/>
                                        </p:tgtEl>
                                        <p:attrNameLst>
                                          <p:attrName>style.visibility</p:attrName>
                                        </p:attrNameLst>
                                      </p:cBhvr>
                                      <p:to>
                                        <p:strVal val="visible"/>
                                      </p:to>
                                    </p:set>
                                    <p:animEffect transition="in" filter="fade">
                                      <p:cBhvr>
                                        <p:cTn id="164" dur="500"/>
                                        <p:tgtEl>
                                          <p:spTgt spid="65"/>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6"/>
                                        </p:tgtEl>
                                        <p:attrNameLst>
                                          <p:attrName>style.visibility</p:attrName>
                                        </p:attrNameLst>
                                      </p:cBhvr>
                                      <p:to>
                                        <p:strVal val="visible"/>
                                      </p:to>
                                    </p:set>
                                    <p:animEffect transition="in" filter="fade">
                                      <p:cBhvr>
                                        <p:cTn id="167" dur="500"/>
                                        <p:tgtEl>
                                          <p:spTgt spid="66"/>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67"/>
                                        </p:tgtEl>
                                        <p:attrNameLst>
                                          <p:attrName>style.visibility</p:attrName>
                                        </p:attrNameLst>
                                      </p:cBhvr>
                                      <p:to>
                                        <p:strVal val="visible"/>
                                      </p:to>
                                    </p:set>
                                    <p:animEffect transition="in" filter="fade">
                                      <p:cBhvr>
                                        <p:cTn id="170" dur="500"/>
                                        <p:tgtEl>
                                          <p:spTgt spid="67"/>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8"/>
                                        </p:tgtEl>
                                        <p:attrNameLst>
                                          <p:attrName>style.visibility</p:attrName>
                                        </p:attrNameLst>
                                      </p:cBhvr>
                                      <p:to>
                                        <p:strVal val="visible"/>
                                      </p:to>
                                    </p:set>
                                    <p:animEffect transition="in" filter="fade">
                                      <p:cBhvr>
                                        <p:cTn id="173" dur="500"/>
                                        <p:tgtEl>
                                          <p:spTgt spid="68"/>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69"/>
                                        </p:tgtEl>
                                        <p:attrNameLst>
                                          <p:attrName>style.visibility</p:attrName>
                                        </p:attrNameLst>
                                      </p:cBhvr>
                                      <p:to>
                                        <p:strVal val="visible"/>
                                      </p:to>
                                    </p:set>
                                    <p:animEffect transition="in" filter="fade">
                                      <p:cBhvr>
                                        <p:cTn id="176" dur="500"/>
                                        <p:tgtEl>
                                          <p:spTgt spid="69"/>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70"/>
                                        </p:tgtEl>
                                        <p:attrNameLst>
                                          <p:attrName>style.visibility</p:attrName>
                                        </p:attrNameLst>
                                      </p:cBhvr>
                                      <p:to>
                                        <p:strVal val="visible"/>
                                      </p:to>
                                    </p:set>
                                    <p:animEffect transition="in" filter="fade">
                                      <p:cBhvr>
                                        <p:cTn id="179" dur="500"/>
                                        <p:tgtEl>
                                          <p:spTgt spid="70"/>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71"/>
                                        </p:tgtEl>
                                        <p:attrNameLst>
                                          <p:attrName>style.visibility</p:attrName>
                                        </p:attrNameLst>
                                      </p:cBhvr>
                                      <p:to>
                                        <p:strVal val="visible"/>
                                      </p:to>
                                    </p:set>
                                    <p:animEffect transition="in" filter="fade">
                                      <p:cBhvr>
                                        <p:cTn id="182" dur="500"/>
                                        <p:tgtEl>
                                          <p:spTgt spid="71"/>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72"/>
                                        </p:tgtEl>
                                        <p:attrNameLst>
                                          <p:attrName>style.visibility</p:attrName>
                                        </p:attrNameLst>
                                      </p:cBhvr>
                                      <p:to>
                                        <p:strVal val="visible"/>
                                      </p:to>
                                    </p:set>
                                    <p:animEffect transition="in" filter="fade">
                                      <p:cBhvr>
                                        <p:cTn id="185" dur="500"/>
                                        <p:tgtEl>
                                          <p:spTgt spid="72"/>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73"/>
                                        </p:tgtEl>
                                        <p:attrNameLst>
                                          <p:attrName>style.visibility</p:attrName>
                                        </p:attrNameLst>
                                      </p:cBhvr>
                                      <p:to>
                                        <p:strVal val="visible"/>
                                      </p:to>
                                    </p:set>
                                    <p:animEffect transition="in" filter="fade">
                                      <p:cBhvr>
                                        <p:cTn id="188" dur="500"/>
                                        <p:tgtEl>
                                          <p:spTgt spid="73"/>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89"/>
                                        </p:tgtEl>
                                        <p:attrNameLst>
                                          <p:attrName>style.visibility</p:attrName>
                                        </p:attrNameLst>
                                      </p:cBhvr>
                                      <p:to>
                                        <p:strVal val="visible"/>
                                      </p:to>
                                    </p:set>
                                    <p:animEffect transition="in" filter="fade">
                                      <p:cBhvr>
                                        <p:cTn id="193" dur="500"/>
                                        <p:tgtEl>
                                          <p:spTgt spid="89"/>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90"/>
                                        </p:tgtEl>
                                        <p:attrNameLst>
                                          <p:attrName>style.visibility</p:attrName>
                                        </p:attrNameLst>
                                      </p:cBhvr>
                                      <p:to>
                                        <p:strVal val="visible"/>
                                      </p:to>
                                    </p:set>
                                    <p:animEffect transition="in" filter="fade">
                                      <p:cBhvr>
                                        <p:cTn id="196" dur="500"/>
                                        <p:tgtEl>
                                          <p:spTgt spid="90"/>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91"/>
                                        </p:tgtEl>
                                        <p:attrNameLst>
                                          <p:attrName>style.visibility</p:attrName>
                                        </p:attrNameLst>
                                      </p:cBhvr>
                                      <p:to>
                                        <p:strVal val="visible"/>
                                      </p:to>
                                    </p:set>
                                    <p:animEffect transition="in" filter="fade">
                                      <p:cBhvr>
                                        <p:cTn id="199" dur="500"/>
                                        <p:tgtEl>
                                          <p:spTgt spid="91"/>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92"/>
                                        </p:tgtEl>
                                        <p:attrNameLst>
                                          <p:attrName>style.visibility</p:attrName>
                                        </p:attrNameLst>
                                      </p:cBhvr>
                                      <p:to>
                                        <p:strVal val="visible"/>
                                      </p:to>
                                    </p:set>
                                    <p:animEffect transition="in" filter="fade">
                                      <p:cBhvr>
                                        <p:cTn id="202" dur="500"/>
                                        <p:tgtEl>
                                          <p:spTgt spid="92"/>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93"/>
                                        </p:tgtEl>
                                        <p:attrNameLst>
                                          <p:attrName>style.visibility</p:attrName>
                                        </p:attrNameLst>
                                      </p:cBhvr>
                                      <p:to>
                                        <p:strVal val="visible"/>
                                      </p:to>
                                    </p:set>
                                    <p:animEffect transition="in" filter="fade">
                                      <p:cBhvr>
                                        <p:cTn id="205" dur="500"/>
                                        <p:tgtEl>
                                          <p:spTgt spid="93"/>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4"/>
                                        </p:tgtEl>
                                        <p:attrNameLst>
                                          <p:attrName>style.visibility</p:attrName>
                                        </p:attrNameLst>
                                      </p:cBhvr>
                                      <p:to>
                                        <p:strVal val="visible"/>
                                      </p:to>
                                    </p:set>
                                    <p:animEffect transition="in" filter="fade">
                                      <p:cBhvr>
                                        <p:cTn id="208" dur="500"/>
                                        <p:tgtEl>
                                          <p:spTgt spid="74"/>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75"/>
                                        </p:tgtEl>
                                        <p:attrNameLst>
                                          <p:attrName>style.visibility</p:attrName>
                                        </p:attrNameLst>
                                      </p:cBhvr>
                                      <p:to>
                                        <p:strVal val="visible"/>
                                      </p:to>
                                    </p:set>
                                    <p:animEffect transition="in" filter="fade">
                                      <p:cBhvr>
                                        <p:cTn id="211" dur="500"/>
                                        <p:tgtEl>
                                          <p:spTgt spid="75"/>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76"/>
                                        </p:tgtEl>
                                        <p:attrNameLst>
                                          <p:attrName>style.visibility</p:attrName>
                                        </p:attrNameLst>
                                      </p:cBhvr>
                                      <p:to>
                                        <p:strVal val="visible"/>
                                      </p:to>
                                    </p:set>
                                    <p:animEffect transition="in" filter="fade">
                                      <p:cBhvr>
                                        <p:cTn id="214" dur="500"/>
                                        <p:tgtEl>
                                          <p:spTgt spid="76"/>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77"/>
                                        </p:tgtEl>
                                        <p:attrNameLst>
                                          <p:attrName>style.visibility</p:attrName>
                                        </p:attrNameLst>
                                      </p:cBhvr>
                                      <p:to>
                                        <p:strVal val="visible"/>
                                      </p:to>
                                    </p:set>
                                    <p:animEffect transition="in" filter="fade">
                                      <p:cBhvr>
                                        <p:cTn id="217" dur="500"/>
                                        <p:tgtEl>
                                          <p:spTgt spid="77"/>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78"/>
                                        </p:tgtEl>
                                        <p:attrNameLst>
                                          <p:attrName>style.visibility</p:attrName>
                                        </p:attrNameLst>
                                      </p:cBhvr>
                                      <p:to>
                                        <p:strVal val="visible"/>
                                      </p:to>
                                    </p:set>
                                    <p:animEffect transition="in" filter="fade">
                                      <p:cBhvr>
                                        <p:cTn id="220" dur="500"/>
                                        <p:tgtEl>
                                          <p:spTgt spid="78"/>
                                        </p:tgtEl>
                                      </p:cBhvr>
                                    </p:animEffect>
                                  </p:childTnLst>
                                </p:cTn>
                              </p:par>
                            </p:childTnLst>
                          </p:cTn>
                        </p:par>
                      </p:childTnLst>
                    </p:cTn>
                  </p:par>
                  <p:par>
                    <p:cTn id="221" fill="hold">
                      <p:stCondLst>
                        <p:cond delay="indefinite"/>
                      </p:stCondLst>
                      <p:childTnLst>
                        <p:par>
                          <p:cTn id="222" fill="hold">
                            <p:stCondLst>
                              <p:cond delay="0"/>
                            </p:stCondLst>
                            <p:childTnLst>
                              <p:par>
                                <p:cTn id="223" presetID="10" presetClass="entr" presetSubtype="0" fill="hold" grpId="0" nodeType="clickEffect">
                                  <p:stCondLst>
                                    <p:cond delay="0"/>
                                  </p:stCondLst>
                                  <p:childTnLst>
                                    <p:set>
                                      <p:cBhvr>
                                        <p:cTn id="224" dur="1" fill="hold">
                                          <p:stCondLst>
                                            <p:cond delay="0"/>
                                          </p:stCondLst>
                                        </p:cTn>
                                        <p:tgtEl>
                                          <p:spTgt spid="79"/>
                                        </p:tgtEl>
                                        <p:attrNameLst>
                                          <p:attrName>style.visibility</p:attrName>
                                        </p:attrNameLst>
                                      </p:cBhvr>
                                      <p:to>
                                        <p:strVal val="visible"/>
                                      </p:to>
                                    </p:set>
                                    <p:animEffect transition="in" filter="fade">
                                      <p:cBhvr>
                                        <p:cTn id="225" dur="500"/>
                                        <p:tgtEl>
                                          <p:spTgt spid="79"/>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0"/>
                                        </p:tgtEl>
                                        <p:attrNameLst>
                                          <p:attrName>style.visibility</p:attrName>
                                        </p:attrNameLst>
                                      </p:cBhvr>
                                      <p:to>
                                        <p:strVal val="visible"/>
                                      </p:to>
                                    </p:set>
                                    <p:animEffect transition="in" filter="fade">
                                      <p:cBhvr>
                                        <p:cTn id="228" dur="500"/>
                                        <p:tgtEl>
                                          <p:spTgt spid="80"/>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1"/>
                                        </p:tgtEl>
                                        <p:attrNameLst>
                                          <p:attrName>style.visibility</p:attrName>
                                        </p:attrNameLst>
                                      </p:cBhvr>
                                      <p:to>
                                        <p:strVal val="visible"/>
                                      </p:to>
                                    </p:set>
                                    <p:animEffect transition="in" filter="fade">
                                      <p:cBhvr>
                                        <p:cTn id="231" dur="500"/>
                                        <p:tgtEl>
                                          <p:spTgt spid="81"/>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82"/>
                                        </p:tgtEl>
                                        <p:attrNameLst>
                                          <p:attrName>style.visibility</p:attrName>
                                        </p:attrNameLst>
                                      </p:cBhvr>
                                      <p:to>
                                        <p:strVal val="visible"/>
                                      </p:to>
                                    </p:set>
                                    <p:animEffect transition="in" filter="fade">
                                      <p:cBhvr>
                                        <p:cTn id="234" dur="500"/>
                                        <p:tgtEl>
                                          <p:spTgt spid="82"/>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3"/>
                                        </p:tgtEl>
                                        <p:attrNameLst>
                                          <p:attrName>style.visibility</p:attrName>
                                        </p:attrNameLst>
                                      </p:cBhvr>
                                      <p:to>
                                        <p:strVal val="visible"/>
                                      </p:to>
                                    </p:set>
                                    <p:animEffect transition="in" filter="fade">
                                      <p:cBhvr>
                                        <p:cTn id="237" dur="500"/>
                                        <p:tgtEl>
                                          <p:spTgt spid="83"/>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4"/>
                                        </p:tgtEl>
                                        <p:attrNameLst>
                                          <p:attrName>style.visibility</p:attrName>
                                        </p:attrNameLst>
                                      </p:cBhvr>
                                      <p:to>
                                        <p:strVal val="visible"/>
                                      </p:to>
                                    </p:set>
                                    <p:animEffect transition="in" filter="fade">
                                      <p:cBhvr>
                                        <p:cTn id="240"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9" grpId="0" animBg="1"/>
      <p:bldP spid="90" grpId="0" animBg="1"/>
      <p:bldP spid="91" grpId="0" animBg="1"/>
      <p:bldP spid="92" grpId="0" animBg="1"/>
      <p:bldP spid="9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t>Mã quy cách (tt)</a:t>
            </a:r>
          </a:p>
        </p:txBody>
      </p:sp>
      <p:sp>
        <p:nvSpPr>
          <p:cNvPr id="3" name="Content Placeholder 2"/>
          <p:cNvSpPr>
            <a:spLocks noGrp="1"/>
          </p:cNvSpPr>
          <p:nvPr>
            <p:ph idx="1"/>
          </p:nvPr>
        </p:nvSpPr>
        <p:spPr/>
        <p:txBody>
          <a:bodyPr/>
          <a:lstStyle/>
          <a:p>
            <a:pPr>
              <a:defRPr/>
            </a:pPr>
            <a:r>
              <a:rPr lang="en-US" dirty="0" err="1"/>
              <a:t>Phối</a:t>
            </a:r>
            <a:r>
              <a:rPr lang="en-US" dirty="0"/>
              <a:t> </a:t>
            </a:r>
            <a:r>
              <a:rPr lang="en-US" dirty="0" err="1"/>
              <a:t>hợp</a:t>
            </a:r>
            <a:r>
              <a:rPr lang="en-US" dirty="0"/>
              <a:t> </a:t>
            </a:r>
            <a:r>
              <a:rPr lang="en-US" dirty="0" err="1"/>
              <a:t>các</a:t>
            </a:r>
            <a:r>
              <a:rPr lang="en-US" dirty="0"/>
              <a:t> </a:t>
            </a:r>
            <a:r>
              <a:rPr lang="en-US" dirty="0" err="1"/>
              <a:t>thành</a:t>
            </a:r>
            <a:r>
              <a:rPr lang="en-US" dirty="0"/>
              <a:t> </a:t>
            </a:r>
            <a:r>
              <a:rPr lang="en-US" dirty="0" err="1"/>
              <a:t>phần</a:t>
            </a:r>
            <a:endParaRPr lang="en-US" dirty="0"/>
          </a:p>
          <a:p>
            <a:pPr lvl="1">
              <a:defRPr/>
            </a:pPr>
            <a:r>
              <a:rPr lang="en-US" dirty="0" err="1"/>
              <a:t>int</a:t>
            </a:r>
            <a:r>
              <a:rPr lang="en-US" dirty="0"/>
              <a:t> a = 1, b = 2;</a:t>
            </a:r>
          </a:p>
          <a:p>
            <a:pPr lvl="1">
              <a:defRPr/>
            </a:pPr>
            <a:r>
              <a:rPr lang="en-US" dirty="0" err="1"/>
              <a:t>Xuất</a:t>
            </a:r>
            <a:r>
              <a:rPr lang="en-US" dirty="0"/>
              <a:t>:</a:t>
            </a:r>
          </a:p>
          <a:p>
            <a:pPr marL="471487" lvl="1" indent="0">
              <a:buNone/>
              <a:defRPr/>
            </a:pPr>
            <a:r>
              <a:rPr lang="en-US"/>
              <a:t>		 </a:t>
            </a:r>
            <a:r>
              <a:rPr lang="en-US" dirty="0">
                <a:solidFill>
                  <a:srgbClr val="FF0000"/>
                </a:solidFill>
              </a:rPr>
              <a:t>1</a:t>
            </a:r>
            <a:r>
              <a:rPr lang="en-US" dirty="0">
                <a:solidFill>
                  <a:schemeClr val="tx1">
                    <a:lumMod val="60000"/>
                    <a:lumOff val="40000"/>
                  </a:schemeClr>
                </a:solidFill>
              </a:rPr>
              <a:t> </a:t>
            </a:r>
            <a:r>
              <a:rPr lang="en-US" dirty="0" err="1">
                <a:solidFill>
                  <a:schemeClr val="tx1">
                    <a:lumMod val="60000"/>
                    <a:lumOff val="40000"/>
                  </a:schemeClr>
                </a:solidFill>
              </a:rPr>
              <a:t>cong</a:t>
            </a:r>
            <a:r>
              <a:rPr lang="en-US" dirty="0">
                <a:solidFill>
                  <a:schemeClr val="tx1">
                    <a:lumMod val="60000"/>
                    <a:lumOff val="40000"/>
                  </a:schemeClr>
                </a:solidFill>
              </a:rPr>
              <a:t> </a:t>
            </a:r>
            <a:r>
              <a:rPr lang="en-US" dirty="0">
                <a:solidFill>
                  <a:srgbClr val="FF0000"/>
                </a:solidFill>
              </a:rPr>
              <a:t>2</a:t>
            </a:r>
            <a:r>
              <a:rPr lang="en-US" dirty="0">
                <a:solidFill>
                  <a:schemeClr val="tx1">
                    <a:lumMod val="60000"/>
                    <a:lumOff val="40000"/>
                  </a:schemeClr>
                </a:solidFill>
              </a:rPr>
              <a:t> bang </a:t>
            </a:r>
            <a:r>
              <a:rPr lang="en-US" dirty="0">
                <a:solidFill>
                  <a:srgbClr val="FF0000"/>
                </a:solidFill>
              </a:rPr>
              <a:t>3</a:t>
            </a:r>
            <a:r>
              <a:rPr lang="en-US" dirty="0"/>
              <a:t> </a:t>
            </a:r>
            <a:r>
              <a:rPr lang="en-US" dirty="0" err="1"/>
              <a:t>và</a:t>
            </a:r>
            <a:r>
              <a:rPr lang="en-US" dirty="0"/>
              <a:t> </a:t>
            </a:r>
            <a:r>
              <a:rPr lang="en-US" dirty="0" err="1">
                <a:solidFill>
                  <a:schemeClr val="accent2"/>
                </a:solidFill>
              </a:rPr>
              <a:t>xuống</a:t>
            </a:r>
            <a:r>
              <a:rPr lang="en-US" dirty="0">
                <a:solidFill>
                  <a:schemeClr val="accent2"/>
                </a:solidFill>
              </a:rPr>
              <a:t> </a:t>
            </a:r>
            <a:r>
              <a:rPr lang="en-US" dirty="0" err="1">
                <a:solidFill>
                  <a:schemeClr val="accent2"/>
                </a:solidFill>
              </a:rPr>
              <a:t>dòng</a:t>
            </a:r>
            <a:r>
              <a:rPr lang="en-US" dirty="0"/>
              <a:t>.</a:t>
            </a:r>
          </a:p>
          <a:p>
            <a:pPr lvl="2">
              <a:defRPr/>
            </a:pPr>
            <a:endParaRPr lang="en-US" dirty="0"/>
          </a:p>
          <a:p>
            <a:pPr lvl="2">
              <a:defRPr/>
            </a:pPr>
            <a:endParaRPr lang="en-US" dirty="0"/>
          </a:p>
          <a:p>
            <a:pPr lvl="2">
              <a:defRPr/>
            </a:pPr>
            <a:r>
              <a:rPr lang="en-US" dirty="0" err="1"/>
              <a:t>printf</a:t>
            </a:r>
            <a:r>
              <a:rPr lang="en-US" dirty="0"/>
              <a:t>(“</a:t>
            </a:r>
            <a:r>
              <a:rPr lang="en-US" dirty="0">
                <a:solidFill>
                  <a:srgbClr val="FF0000"/>
                </a:solidFill>
              </a:rPr>
              <a:t>%d</a:t>
            </a:r>
            <a:r>
              <a:rPr lang="en-US" dirty="0"/>
              <a:t>”, a);	// </a:t>
            </a:r>
            <a:r>
              <a:rPr lang="en-US" dirty="0" err="1"/>
              <a:t>Xuất</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biến</a:t>
            </a:r>
            <a:r>
              <a:rPr lang="en-US" dirty="0"/>
              <a:t> a</a:t>
            </a:r>
          </a:p>
          <a:p>
            <a:pPr lvl="2">
              <a:defRPr/>
            </a:pPr>
            <a:r>
              <a:rPr lang="en-US" dirty="0" err="1"/>
              <a:t>printf</a:t>
            </a:r>
            <a:r>
              <a:rPr lang="en-US" dirty="0"/>
              <a:t>(“</a:t>
            </a:r>
            <a:r>
              <a:rPr lang="en-US" dirty="0">
                <a:solidFill>
                  <a:schemeClr val="tx1">
                    <a:lumMod val="60000"/>
                    <a:lumOff val="40000"/>
                  </a:schemeClr>
                </a:solidFill>
              </a:rPr>
              <a:t> </a:t>
            </a:r>
            <a:r>
              <a:rPr lang="en-US" dirty="0" err="1">
                <a:solidFill>
                  <a:schemeClr val="tx1">
                    <a:lumMod val="60000"/>
                    <a:lumOff val="40000"/>
                  </a:schemeClr>
                </a:solidFill>
              </a:rPr>
              <a:t>cong</a:t>
            </a:r>
            <a:r>
              <a:rPr lang="en-US" dirty="0">
                <a:solidFill>
                  <a:schemeClr val="tx1">
                    <a:lumMod val="60000"/>
                    <a:lumOff val="40000"/>
                  </a:schemeClr>
                </a:solidFill>
              </a:rPr>
              <a:t> </a:t>
            </a:r>
            <a:r>
              <a:rPr lang="en-US" dirty="0"/>
              <a:t>”);	// </a:t>
            </a:r>
            <a:r>
              <a:rPr lang="en-US" dirty="0" err="1"/>
              <a:t>Xuất</a:t>
            </a:r>
            <a:r>
              <a:rPr lang="en-US" dirty="0"/>
              <a:t> </a:t>
            </a:r>
            <a:r>
              <a:rPr lang="en-US" dirty="0" err="1"/>
              <a:t>chuỗi</a:t>
            </a:r>
            <a:r>
              <a:rPr lang="en-US" dirty="0"/>
              <a:t> “ </a:t>
            </a:r>
            <a:r>
              <a:rPr lang="en-US" dirty="0" err="1"/>
              <a:t>cong</a:t>
            </a:r>
            <a:r>
              <a:rPr lang="en-US" dirty="0"/>
              <a:t> ”</a:t>
            </a:r>
          </a:p>
          <a:p>
            <a:pPr lvl="2">
              <a:defRPr/>
            </a:pPr>
            <a:r>
              <a:rPr lang="en-US" dirty="0" err="1"/>
              <a:t>printf</a:t>
            </a:r>
            <a:r>
              <a:rPr lang="en-US" dirty="0"/>
              <a:t>(“</a:t>
            </a:r>
            <a:r>
              <a:rPr lang="en-US" dirty="0">
                <a:solidFill>
                  <a:srgbClr val="FF0000"/>
                </a:solidFill>
              </a:rPr>
              <a:t>%d</a:t>
            </a:r>
            <a:r>
              <a:rPr lang="en-US" dirty="0"/>
              <a:t>”, b);	// </a:t>
            </a:r>
            <a:r>
              <a:rPr lang="en-US" dirty="0" err="1"/>
              <a:t>Xuất</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biến</a:t>
            </a:r>
            <a:r>
              <a:rPr lang="en-US" dirty="0"/>
              <a:t> b</a:t>
            </a:r>
          </a:p>
          <a:p>
            <a:pPr lvl="2">
              <a:defRPr/>
            </a:pPr>
            <a:r>
              <a:rPr lang="en-US" dirty="0" err="1"/>
              <a:t>printf</a:t>
            </a:r>
            <a:r>
              <a:rPr lang="en-US" dirty="0"/>
              <a:t>(“</a:t>
            </a:r>
            <a:r>
              <a:rPr lang="en-US" dirty="0">
                <a:solidFill>
                  <a:schemeClr val="tx1">
                    <a:lumMod val="60000"/>
                    <a:lumOff val="40000"/>
                  </a:schemeClr>
                </a:solidFill>
              </a:rPr>
              <a:t> bang </a:t>
            </a:r>
            <a:r>
              <a:rPr lang="en-US" dirty="0"/>
              <a:t>”);	// </a:t>
            </a:r>
            <a:r>
              <a:rPr lang="en-US" dirty="0" err="1"/>
              <a:t>Xuất</a:t>
            </a:r>
            <a:r>
              <a:rPr lang="en-US" dirty="0"/>
              <a:t> </a:t>
            </a:r>
            <a:r>
              <a:rPr lang="en-US" dirty="0" err="1"/>
              <a:t>chuỗi</a:t>
            </a:r>
            <a:r>
              <a:rPr lang="en-US" dirty="0"/>
              <a:t> “ bang ”</a:t>
            </a:r>
          </a:p>
          <a:p>
            <a:pPr lvl="2">
              <a:defRPr/>
            </a:pPr>
            <a:r>
              <a:rPr lang="en-US" dirty="0" err="1"/>
              <a:t>printf</a:t>
            </a:r>
            <a:r>
              <a:rPr lang="en-US" dirty="0"/>
              <a:t>(“</a:t>
            </a:r>
            <a:r>
              <a:rPr lang="en-US" dirty="0">
                <a:solidFill>
                  <a:srgbClr val="FF0000"/>
                </a:solidFill>
              </a:rPr>
              <a:t>%d</a:t>
            </a:r>
            <a:r>
              <a:rPr lang="en-US" dirty="0"/>
              <a:t>”, a + b);	// </a:t>
            </a:r>
            <a:r>
              <a:rPr lang="en-US" dirty="0" err="1"/>
              <a:t>Xuất</a:t>
            </a:r>
            <a:r>
              <a:rPr lang="en-US" dirty="0"/>
              <a:t> </a:t>
            </a:r>
            <a:r>
              <a:rPr lang="en-US" dirty="0" err="1"/>
              <a:t>giá</a:t>
            </a:r>
            <a:r>
              <a:rPr lang="en-US" dirty="0"/>
              <a:t> </a:t>
            </a:r>
            <a:r>
              <a:rPr lang="en-US" dirty="0" err="1"/>
              <a:t>trị</a:t>
            </a:r>
            <a:r>
              <a:rPr lang="en-US" dirty="0"/>
              <a:t> </a:t>
            </a:r>
            <a:r>
              <a:rPr lang="en-US" dirty="0" err="1"/>
              <a:t>của</a:t>
            </a:r>
            <a:r>
              <a:rPr lang="en-US" dirty="0"/>
              <a:t> a + b</a:t>
            </a:r>
          </a:p>
          <a:p>
            <a:pPr lvl="2">
              <a:defRPr/>
            </a:pPr>
            <a:r>
              <a:rPr lang="en-US" dirty="0" err="1"/>
              <a:t>printf</a:t>
            </a:r>
            <a:r>
              <a:rPr lang="en-US" dirty="0"/>
              <a:t>(“</a:t>
            </a:r>
            <a:r>
              <a:rPr lang="en-US" dirty="0">
                <a:solidFill>
                  <a:schemeClr val="accent2"/>
                </a:solidFill>
              </a:rPr>
              <a:t>\n</a:t>
            </a:r>
            <a:r>
              <a:rPr lang="en-US" dirty="0"/>
              <a:t>”);		// </a:t>
            </a:r>
            <a:r>
              <a:rPr lang="en-US" dirty="0" err="1"/>
              <a:t>Xuất</a:t>
            </a:r>
            <a:r>
              <a:rPr lang="en-US" dirty="0"/>
              <a:t> </a:t>
            </a:r>
            <a:r>
              <a:rPr lang="vi-VN" dirty="0"/>
              <a:t>đ</a:t>
            </a:r>
            <a:r>
              <a:rPr lang="en-US" dirty="0" err="1"/>
              <a:t>iều</a:t>
            </a:r>
            <a:r>
              <a:rPr lang="en-US" dirty="0"/>
              <a:t> </a:t>
            </a:r>
            <a:r>
              <a:rPr lang="en-US" dirty="0" err="1"/>
              <a:t>khiển</a:t>
            </a:r>
            <a:r>
              <a:rPr lang="en-US" dirty="0"/>
              <a:t> </a:t>
            </a:r>
            <a:r>
              <a:rPr lang="en-US" dirty="0" err="1"/>
              <a:t>xuống</a:t>
            </a:r>
            <a:r>
              <a:rPr lang="en-US" dirty="0"/>
              <a:t> </a:t>
            </a:r>
            <a:r>
              <a:rPr lang="en-US" dirty="0" err="1"/>
              <a:t>dòng</a:t>
            </a:r>
            <a:r>
              <a:rPr lang="en-US" dirty="0"/>
              <a:t> \n</a:t>
            </a:r>
          </a:p>
          <a:p>
            <a:pPr lvl="1">
              <a:buFont typeface="Wingdings" pitchFamily="2" charset="2"/>
              <a:buNone/>
              <a:defRPr/>
            </a:pPr>
            <a:r>
              <a:rPr lang="en-US" dirty="0">
                <a:sym typeface="Wingdings" pitchFamily="2" charset="2"/>
              </a:rPr>
              <a:t>	</a:t>
            </a:r>
            <a:endParaRPr lang="en-US" dirty="0"/>
          </a:p>
        </p:txBody>
      </p:sp>
      <p:sp>
        <p:nvSpPr>
          <p:cNvPr id="49156"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B9099825-B563-4577-8967-878471D477FD}"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52</a:t>
            </a:fld>
            <a:r>
              <a:rPr lang="vi-VN"/>
              <a:t>/59</a:t>
            </a:r>
          </a:p>
        </p:txBody>
      </p:sp>
    </p:spTree>
    <p:extLst>
      <p:ext uri="{BB962C8B-B14F-4D97-AF65-F5344CB8AC3E}">
        <p14:creationId xmlns:p14="http://schemas.microsoft.com/office/powerpoint/2010/main" val="148611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anim calcmode="lin" valueType="num">
                                      <p:cBhvr>
                                        <p:cTn id="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animEffect transition="in" filter="fade">
                                      <p:cBhvr>
                                        <p:cTn id="14" dur="500"/>
                                        <p:tgtEl>
                                          <p:spTgt spid="3">
                                            <p:txEl>
                                              <p:pRg st="7" end="7"/>
                                            </p:txEl>
                                          </p:spTgt>
                                        </p:tgtEl>
                                      </p:cBhvr>
                                    </p:animEffect>
                                    <p:anim calcmode="lin" valueType="num">
                                      <p:cBhvr>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anim calcmode="lin" valueType="num">
                                      <p:cBhvr>
                                        <p:cTn id="22"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fade">
                                      <p:cBhvr>
                                        <p:cTn id="28" dur="500"/>
                                        <p:tgtEl>
                                          <p:spTgt spid="3">
                                            <p:txEl>
                                              <p:pRg st="9" end="9"/>
                                            </p:txEl>
                                          </p:spTgt>
                                        </p:tgtEl>
                                      </p:cBhvr>
                                    </p:animEffect>
                                    <p:anim calcmode="lin" valueType="num">
                                      <p:cBhvr>
                                        <p:cTn id="2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anim calcmode="lin" valueType="num">
                                      <p:cBhvr>
                                        <p:cTn id="36"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7" dur="5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anim calcmode="lin" valueType="num">
                                      <p:cBhvr>
                                        <p:cTn id="4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4" dur="5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500"/>
                                        <p:tgtEl>
                                          <p:spTgt spid="3">
                                            <p:txEl>
                                              <p:pRg st="12" end="12"/>
                                            </p:txEl>
                                          </p:spTgt>
                                        </p:tgtEl>
                                      </p:cBhvr>
                                    </p:animEffect>
                                    <p:anim calcmode="lin" valueType="num">
                                      <p:cBhvr>
                                        <p:cTn id="50"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1" dur="5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t>Nhập dữ liệu</a:t>
            </a:r>
          </a:p>
        </p:txBody>
      </p:sp>
      <p:sp>
        <p:nvSpPr>
          <p:cNvPr id="3" name="Content Placeholder 2"/>
          <p:cNvSpPr>
            <a:spLocks noGrp="1"/>
          </p:cNvSpPr>
          <p:nvPr>
            <p:ph idx="1"/>
          </p:nvPr>
        </p:nvSpPr>
        <p:spPr>
          <a:xfrm>
            <a:off x="762000" y="1143000"/>
            <a:ext cx="8130480" cy="5181600"/>
          </a:xfrm>
        </p:spPr>
        <p:txBody>
          <a:bodyPr/>
          <a:lstStyle/>
          <a:p>
            <a:pPr>
              <a:defRPr/>
            </a:pPr>
            <a:r>
              <a:rPr lang="en-US" dirty="0"/>
              <a:t>Th</a:t>
            </a:r>
            <a:r>
              <a:rPr lang="vi-VN" dirty="0"/>
              <a:t>ư</a:t>
            </a:r>
            <a:r>
              <a:rPr lang="en-US" dirty="0"/>
              <a:t> </a:t>
            </a:r>
            <a:r>
              <a:rPr lang="en-US" dirty="0" err="1"/>
              <a:t>viện</a:t>
            </a:r>
            <a:r>
              <a:rPr lang="en-US" dirty="0"/>
              <a:t> ho </a:t>
            </a:r>
            <a:r>
              <a:rPr lang="en-US" dirty="0" err="1"/>
              <a:t>va</a:t>
            </a:r>
            <a:r>
              <a:rPr lang="en-US" dirty="0"/>
              <a:t> ten: NVA</a:t>
            </a:r>
          </a:p>
          <a:p>
            <a:pPr lvl="1">
              <a:defRPr/>
            </a:pPr>
            <a:r>
              <a:rPr lang="en-US" dirty="0"/>
              <a:t>#include &lt;</a:t>
            </a:r>
            <a:r>
              <a:rPr lang="en-US" dirty="0" err="1"/>
              <a:t>stdio.h</a:t>
            </a:r>
            <a:r>
              <a:rPr lang="en-US" dirty="0"/>
              <a:t>&gt; (</a:t>
            </a:r>
            <a:r>
              <a:rPr lang="en-US" dirty="0">
                <a:solidFill>
                  <a:srgbClr val="FF0000"/>
                </a:solidFill>
              </a:rPr>
              <a:t>st</a:t>
            </a:r>
            <a:r>
              <a:rPr lang="en-US" dirty="0"/>
              <a:t>andar</a:t>
            </a:r>
            <a:r>
              <a:rPr lang="en-US" dirty="0">
                <a:solidFill>
                  <a:srgbClr val="FF0000"/>
                </a:solidFill>
              </a:rPr>
              <a:t>d</a:t>
            </a:r>
            <a:r>
              <a:rPr lang="en-US" dirty="0"/>
              <a:t> </a:t>
            </a:r>
            <a:r>
              <a:rPr lang="en-US" dirty="0">
                <a:solidFill>
                  <a:srgbClr val="FF0000"/>
                </a:solidFill>
              </a:rPr>
              <a:t>i</a:t>
            </a:r>
            <a:r>
              <a:rPr lang="en-US" dirty="0"/>
              <a:t>nput/</a:t>
            </a:r>
            <a:r>
              <a:rPr lang="en-US" dirty="0">
                <a:solidFill>
                  <a:srgbClr val="FF0000"/>
                </a:solidFill>
              </a:rPr>
              <a:t>o</a:t>
            </a:r>
            <a:r>
              <a:rPr lang="en-US" dirty="0"/>
              <a:t>utput)</a:t>
            </a:r>
          </a:p>
          <a:p>
            <a:pPr>
              <a:defRPr/>
            </a:pPr>
            <a:r>
              <a:rPr lang="en-US" dirty="0" err="1"/>
              <a:t>Hàm</a:t>
            </a:r>
            <a:r>
              <a:rPr lang="en-US" dirty="0"/>
              <a:t> </a:t>
            </a:r>
            <a:r>
              <a:rPr lang="en-US" dirty="0" err="1"/>
              <a:t>scanf</a:t>
            </a:r>
            <a:r>
              <a:rPr lang="en-US" dirty="0"/>
              <a:t>() float r;</a:t>
            </a:r>
          </a:p>
          <a:p>
            <a:pPr>
              <a:defRPr/>
            </a:pPr>
            <a:r>
              <a:rPr lang="en-US" dirty="0" err="1"/>
              <a:t>Printf</a:t>
            </a:r>
            <a:r>
              <a:rPr lang="en-US" dirty="0"/>
              <a:t>(“</a:t>
            </a:r>
            <a:r>
              <a:rPr lang="en-US" dirty="0" err="1"/>
              <a:t>Hayy</a:t>
            </a:r>
            <a:r>
              <a:rPr lang="en-US" dirty="0"/>
              <a:t> </a:t>
            </a:r>
            <a:r>
              <a:rPr lang="en-US" dirty="0" err="1"/>
              <a:t>nhap</a:t>
            </a:r>
            <a:r>
              <a:rPr lang="en-US" dirty="0"/>
              <a:t> ban </a:t>
            </a:r>
            <a:r>
              <a:rPr lang="en-US" dirty="0" err="1"/>
              <a:t>kinh</a:t>
            </a:r>
            <a:r>
              <a:rPr lang="en-US" dirty="0"/>
              <a:t> r=”);</a:t>
            </a:r>
          </a:p>
          <a:p>
            <a:pPr>
              <a:defRPr/>
            </a:pPr>
            <a:r>
              <a:rPr lang="en-US" dirty="0" err="1"/>
              <a:t>Scanf</a:t>
            </a:r>
            <a:r>
              <a:rPr lang="en-US" dirty="0"/>
              <a:t>(“%</a:t>
            </a:r>
            <a:r>
              <a:rPr lang="en-US" dirty="0" err="1"/>
              <a:t>f”,&amp;r</a:t>
            </a:r>
            <a:r>
              <a:rPr lang="en-US" dirty="0"/>
              <a:t>);</a:t>
            </a:r>
          </a:p>
          <a:p>
            <a:pPr lvl="1">
              <a:defRPr/>
            </a:pPr>
            <a:r>
              <a:rPr lang="en-US" dirty="0" err="1">
                <a:solidFill>
                  <a:srgbClr val="FF0000"/>
                </a:solidFill>
              </a:rPr>
              <a:t>scanf</a:t>
            </a:r>
            <a:r>
              <a:rPr lang="en-US" dirty="0">
                <a:solidFill>
                  <a:srgbClr val="FF0000"/>
                </a:solidFill>
              </a:rPr>
              <a:t>(“</a:t>
            </a:r>
            <a:r>
              <a:rPr lang="en-US" dirty="0" err="1">
                <a:solidFill>
                  <a:srgbClr val="FF0000"/>
                </a:solidFill>
              </a:rPr>
              <a:t>dãy</a:t>
            </a:r>
            <a:r>
              <a:rPr lang="en-US" dirty="0">
                <a:solidFill>
                  <a:srgbClr val="FF0000"/>
                </a:solidFill>
              </a:rPr>
              <a:t> </a:t>
            </a:r>
            <a:r>
              <a:rPr lang="en-US" dirty="0" err="1">
                <a:solidFill>
                  <a:srgbClr val="FF0000"/>
                </a:solidFill>
              </a:rPr>
              <a:t>mã</a:t>
            </a:r>
            <a:r>
              <a:rPr lang="en-US" dirty="0">
                <a:solidFill>
                  <a:srgbClr val="FF0000"/>
                </a:solidFill>
              </a:rPr>
              <a:t> </a:t>
            </a:r>
            <a:r>
              <a:rPr lang="en-US" dirty="0" err="1">
                <a:solidFill>
                  <a:srgbClr val="FF0000"/>
                </a:solidFill>
              </a:rPr>
              <a:t>quy</a:t>
            </a:r>
            <a:r>
              <a:rPr lang="en-US" dirty="0">
                <a:solidFill>
                  <a:srgbClr val="FF0000"/>
                </a:solidFill>
              </a:rPr>
              <a:t> </a:t>
            </a:r>
            <a:r>
              <a:rPr lang="en-US" dirty="0" err="1">
                <a:solidFill>
                  <a:srgbClr val="FF0000"/>
                </a:solidFill>
              </a:rPr>
              <a:t>cách</a:t>
            </a:r>
            <a:r>
              <a:rPr lang="en-US" dirty="0">
                <a:solidFill>
                  <a:srgbClr val="FF0000"/>
                </a:solidFill>
              </a:rPr>
              <a:t>”, </a:t>
            </a:r>
            <a:r>
              <a:rPr lang="en-US" dirty="0" err="1">
                <a:solidFill>
                  <a:srgbClr val="FF0000"/>
                </a:solidFill>
              </a:rPr>
              <a:t>dãy</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địa</a:t>
            </a:r>
            <a:r>
              <a:rPr lang="en-US" dirty="0">
                <a:solidFill>
                  <a:srgbClr val="FF0000"/>
                </a:solidFill>
              </a:rPr>
              <a:t> </a:t>
            </a:r>
            <a:r>
              <a:rPr lang="en-US" dirty="0" err="1">
                <a:solidFill>
                  <a:srgbClr val="FF0000"/>
                </a:solidFill>
              </a:rPr>
              <a:t>chỉ</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biến</a:t>
            </a:r>
            <a:r>
              <a:rPr lang="en-US" dirty="0">
                <a:solidFill>
                  <a:srgbClr val="FF0000"/>
                </a:solidFill>
              </a:rPr>
              <a:t>);</a:t>
            </a:r>
          </a:p>
          <a:p>
            <a:pPr lvl="1">
              <a:defRPr/>
            </a:pPr>
            <a:r>
              <a:rPr lang="en-US" sz="2200" dirty="0" err="1"/>
              <a:t>Danh</a:t>
            </a:r>
            <a:r>
              <a:rPr lang="en-US" sz="2200" dirty="0"/>
              <a:t> </a:t>
            </a:r>
            <a:r>
              <a:rPr lang="en-US" sz="2200" dirty="0" err="1"/>
              <a:t>sách</a:t>
            </a:r>
            <a:r>
              <a:rPr lang="en-US" sz="2200" dirty="0"/>
              <a:t> </a:t>
            </a:r>
            <a:r>
              <a:rPr lang="en-US" sz="2200" dirty="0" err="1"/>
              <a:t>các</a:t>
            </a:r>
            <a:r>
              <a:rPr lang="en-US" sz="2200" dirty="0"/>
              <a:t> </a:t>
            </a:r>
            <a:r>
              <a:rPr lang="en-US" sz="2200" dirty="0" err="1"/>
              <a:t>biến</a:t>
            </a:r>
            <a:r>
              <a:rPr lang="en-US" sz="2200" dirty="0"/>
              <a:t>: </a:t>
            </a:r>
            <a:r>
              <a:rPr lang="en-US" sz="2200" dirty="0" err="1"/>
              <a:t>là</a:t>
            </a:r>
            <a:r>
              <a:rPr lang="en-US" sz="2200" dirty="0"/>
              <a:t> </a:t>
            </a:r>
            <a:r>
              <a:rPr lang="en-US" sz="2200" dirty="0" err="1"/>
              <a:t>tên</a:t>
            </a:r>
            <a:r>
              <a:rPr lang="en-US" sz="2200" dirty="0"/>
              <a:t> </a:t>
            </a:r>
            <a:r>
              <a:rPr lang="en-US" sz="2200" dirty="0" err="1"/>
              <a:t>các</a:t>
            </a:r>
            <a:r>
              <a:rPr lang="en-US" sz="2200" dirty="0"/>
              <a:t> </a:t>
            </a:r>
            <a:r>
              <a:rPr lang="en-US" sz="2200" dirty="0" err="1"/>
              <a:t>biến</a:t>
            </a:r>
            <a:r>
              <a:rPr lang="en-US" sz="2200" dirty="0"/>
              <a:t> </a:t>
            </a:r>
            <a:r>
              <a:rPr lang="en-US" sz="2200" dirty="0" err="1"/>
              <a:t>sẽ</a:t>
            </a:r>
            <a:r>
              <a:rPr lang="en-US" sz="2200" dirty="0"/>
              <a:t> </a:t>
            </a:r>
            <a:r>
              <a:rPr lang="en-US" sz="2200" dirty="0" err="1"/>
              <a:t>chứa</a:t>
            </a:r>
            <a:r>
              <a:rPr lang="en-US" sz="2200" dirty="0"/>
              <a:t> </a:t>
            </a:r>
            <a:r>
              <a:rPr lang="en-US" sz="2200" dirty="0" err="1"/>
              <a:t>giá</a:t>
            </a:r>
            <a:r>
              <a:rPr lang="en-US" sz="2200" dirty="0"/>
              <a:t> </a:t>
            </a:r>
            <a:r>
              <a:rPr lang="en-US" sz="2200" dirty="0" err="1"/>
              <a:t>trị</a:t>
            </a:r>
            <a:r>
              <a:rPr lang="en-US" sz="2200" dirty="0"/>
              <a:t> </a:t>
            </a:r>
            <a:r>
              <a:rPr lang="en-US" sz="2200" dirty="0" err="1"/>
              <a:t>nhập</a:t>
            </a:r>
            <a:r>
              <a:rPr lang="en-US" sz="2200" dirty="0"/>
              <a:t> </a:t>
            </a:r>
            <a:r>
              <a:rPr lang="en-US" sz="2200" dirty="0" err="1"/>
              <a:t>và</a:t>
            </a:r>
            <a:r>
              <a:rPr lang="en-US" sz="2200" dirty="0"/>
              <a:t> </a:t>
            </a:r>
            <a:r>
              <a:rPr lang="vi-VN" sz="2200" dirty="0"/>
              <a:t>có dấu </a:t>
            </a:r>
            <a:r>
              <a:rPr lang="en-US" sz="2200" dirty="0">
                <a:solidFill>
                  <a:srgbClr val="FF0000"/>
                </a:solidFill>
              </a:rPr>
              <a:t>&amp; </a:t>
            </a:r>
            <a:r>
              <a:rPr lang="en-US" sz="2200" dirty="0" err="1"/>
              <a:t>đặt</a:t>
            </a:r>
            <a:r>
              <a:rPr lang="en-US" sz="2200" dirty="0"/>
              <a:t> </a:t>
            </a:r>
            <a:r>
              <a:rPr lang="en-US" sz="2200" dirty="0" err="1"/>
              <a:t>trước</a:t>
            </a:r>
            <a:endParaRPr lang="en-US" sz="2200" dirty="0"/>
          </a:p>
        </p:txBody>
      </p:sp>
      <p:sp>
        <p:nvSpPr>
          <p:cNvPr id="50180"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024E4880-6FED-4F78-BE27-9405D9F33DA9}" type="datetime1">
              <a:rPr lang="vi-VN" smtClean="0"/>
              <a:t>14/01/2024</a:t>
            </a:fld>
            <a:endParaRPr lang="vi-VN"/>
          </a:p>
        </p:txBody>
      </p:sp>
      <p:graphicFrame>
        <p:nvGraphicFramePr>
          <p:cNvPr id="7" name="Content Placeholder 4"/>
          <p:cNvGraphicFramePr>
            <a:graphicFrameLocks/>
          </p:cNvGraphicFramePr>
          <p:nvPr>
            <p:extLst>
              <p:ext uri="{D42A27DB-BD31-4B8C-83A1-F6EECF244321}">
                <p14:modId xmlns:p14="http://schemas.microsoft.com/office/powerpoint/2010/main" val="2013962591"/>
              </p:ext>
            </p:extLst>
          </p:nvPr>
        </p:nvGraphicFramePr>
        <p:xfrm>
          <a:off x="1187624" y="3717032"/>
          <a:ext cx="7416824" cy="2651760"/>
        </p:xfrm>
        <a:graphic>
          <a:graphicData uri="http://schemas.openxmlformats.org/drawingml/2006/table">
            <a:tbl>
              <a:tblPr firstRow="1" bandRow="1">
                <a:tableStyleId>{72833802-FEF1-4C79-8D5D-14CF1EAF98D9}</a:tableStyleId>
              </a:tblPr>
              <a:tblGrid>
                <a:gridCol w="2325979">
                  <a:extLst>
                    <a:ext uri="{9D8B030D-6E8A-4147-A177-3AD203B41FA5}">
                      <a16:colId xmlns:a16="http://schemas.microsoft.com/office/drawing/2014/main" val="20000"/>
                    </a:ext>
                  </a:extLst>
                </a:gridCol>
                <a:gridCol w="5090845">
                  <a:extLst>
                    <a:ext uri="{9D8B030D-6E8A-4147-A177-3AD203B41FA5}">
                      <a16:colId xmlns:a16="http://schemas.microsoft.com/office/drawing/2014/main" val="20001"/>
                    </a:ext>
                  </a:extLst>
                </a:gridCol>
              </a:tblGrid>
              <a:tr h="135838">
                <a:tc>
                  <a:txBody>
                    <a:bodyPr/>
                    <a:lstStyle/>
                    <a:p>
                      <a:r>
                        <a:rPr lang="en-US"/>
                        <a:t>Mã</a:t>
                      </a:r>
                      <a:r>
                        <a:rPr lang="en-US" baseline="0"/>
                        <a:t> quy cách</a:t>
                      </a:r>
                      <a:endParaRPr lang="en-US"/>
                    </a:p>
                  </a:txBody>
                  <a:tcPr/>
                </a:tc>
                <a:tc>
                  <a:txBody>
                    <a:bodyPr/>
                    <a:lstStyle/>
                    <a:p>
                      <a:r>
                        <a:rPr lang="en-US"/>
                        <a:t>Ý nghĩa</a:t>
                      </a:r>
                    </a:p>
                  </a:txBody>
                  <a:tcPr/>
                </a:tc>
                <a:extLst>
                  <a:ext uri="{0D108BD9-81ED-4DB2-BD59-A6C34878D82A}">
                    <a16:rowId xmlns:a16="http://schemas.microsoft.com/office/drawing/2014/main" val="10000"/>
                  </a:ext>
                </a:extLst>
              </a:tr>
              <a:tr h="1780731">
                <a:tc>
                  <a:txBody>
                    <a:bodyPr/>
                    <a:lstStyle/>
                    <a:p>
                      <a:r>
                        <a:rPr lang="en-US"/>
                        <a:t>%</a:t>
                      </a:r>
                      <a:r>
                        <a:rPr lang="en-US">
                          <a:solidFill>
                            <a:srgbClr val="FF0000"/>
                          </a:solidFill>
                        </a:rPr>
                        <a:t>c</a:t>
                      </a:r>
                    </a:p>
                    <a:p>
                      <a:pPr marL="0" marR="0" indent="0" algn="l" defTabSz="914400" rtl="0" eaLnBrk="1" fontAlgn="auto" latinLnBrk="0" hangingPunct="1">
                        <a:lnSpc>
                          <a:spcPct val="100000"/>
                        </a:lnSpc>
                        <a:spcBef>
                          <a:spcPts val="0"/>
                        </a:spcBef>
                        <a:spcAft>
                          <a:spcPts val="0"/>
                        </a:spcAft>
                        <a:buClrTx/>
                        <a:buSzTx/>
                        <a:buFontTx/>
                        <a:buNone/>
                        <a:tabLst/>
                        <a:defRPr/>
                      </a:pPr>
                      <a:r>
                        <a:rPr lang="en-US"/>
                        <a:t>%</a:t>
                      </a:r>
                      <a:r>
                        <a:rPr lang="en-US">
                          <a:solidFill>
                            <a:srgbClr val="FF0000"/>
                          </a:solidFill>
                        </a:rPr>
                        <a:t>d</a:t>
                      </a:r>
                    </a:p>
                    <a:p>
                      <a:pPr marL="0" marR="0" indent="0" algn="l" defTabSz="914400" rtl="0" eaLnBrk="1" fontAlgn="auto" latinLnBrk="0" hangingPunct="1">
                        <a:lnSpc>
                          <a:spcPct val="100000"/>
                        </a:lnSpc>
                        <a:spcBef>
                          <a:spcPts val="0"/>
                        </a:spcBef>
                        <a:spcAft>
                          <a:spcPts val="0"/>
                        </a:spcAft>
                        <a:buClrTx/>
                        <a:buSzTx/>
                        <a:buFontTx/>
                        <a:buNone/>
                        <a:tabLst/>
                        <a:defRPr/>
                      </a:pPr>
                      <a:r>
                        <a:rPr lang="en-US"/>
                        <a:t>%</a:t>
                      </a:r>
                      <a:r>
                        <a:rPr lang="en-US">
                          <a:solidFill>
                            <a:srgbClr val="FF0000"/>
                          </a:solidFill>
                        </a:rPr>
                        <a:t>u</a:t>
                      </a:r>
                    </a:p>
                    <a:p>
                      <a:pPr marL="0" marR="0" indent="0" algn="l" defTabSz="914400" rtl="0" eaLnBrk="1" fontAlgn="auto" latinLnBrk="0" hangingPunct="1">
                        <a:lnSpc>
                          <a:spcPct val="100000"/>
                        </a:lnSpc>
                        <a:spcBef>
                          <a:spcPts val="0"/>
                        </a:spcBef>
                        <a:spcAft>
                          <a:spcPts val="0"/>
                        </a:spcAft>
                        <a:buClrTx/>
                        <a:buSzTx/>
                        <a:buFontTx/>
                        <a:buNone/>
                        <a:tabLst/>
                        <a:defRPr/>
                      </a:pPr>
                      <a:r>
                        <a:rPr lang="en-US"/>
                        <a:t>%</a:t>
                      </a:r>
                      <a:r>
                        <a:rPr lang="en-US">
                          <a:solidFill>
                            <a:srgbClr val="FF0000"/>
                          </a:solidFill>
                        </a:rPr>
                        <a:t>hd</a:t>
                      </a:r>
                      <a:r>
                        <a:rPr lang="en-US" baseline="0">
                          <a:solidFill>
                            <a:srgbClr val="FF0000"/>
                          </a:solidFill>
                        </a:rPr>
                        <a:t>, </a:t>
                      </a:r>
                      <a:r>
                        <a:rPr lang="en-US" baseline="0">
                          <a:solidFill>
                            <a:schemeClr val="tx1">
                              <a:lumMod val="95000"/>
                              <a:lumOff val="5000"/>
                            </a:schemeClr>
                          </a:solidFill>
                        </a:rPr>
                        <a:t>%</a:t>
                      </a:r>
                      <a:r>
                        <a:rPr lang="en-US" baseline="0">
                          <a:solidFill>
                            <a:srgbClr val="FF0000"/>
                          </a:solidFill>
                        </a:rPr>
                        <a:t>hu</a:t>
                      </a:r>
                      <a:endParaRPr lang="en-US">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t>%ld</a:t>
                      </a:r>
                      <a:r>
                        <a:rPr lang="en-US">
                          <a:solidFill>
                            <a:srgbClr val="FF0000"/>
                          </a:solidFill>
                        </a:rPr>
                        <a:t> </a:t>
                      </a:r>
                      <a:r>
                        <a:rPr lang="en-US">
                          <a:solidFill>
                            <a:schemeClr val="tx1">
                              <a:lumMod val="95000"/>
                              <a:lumOff val="5000"/>
                            </a:schemeClr>
                          </a:solidFill>
                        </a:rPr>
                        <a:t>%</a:t>
                      </a:r>
                      <a:r>
                        <a:rPr lang="en-US">
                          <a:solidFill>
                            <a:srgbClr val="FF0000"/>
                          </a:solidFill>
                        </a:rPr>
                        <a:t>lu</a:t>
                      </a:r>
                    </a:p>
                    <a:p>
                      <a:pPr marL="0" marR="0" indent="0" algn="l" defTabSz="914400" rtl="0" eaLnBrk="1" fontAlgn="auto" latinLnBrk="0" hangingPunct="1">
                        <a:lnSpc>
                          <a:spcPct val="100000"/>
                        </a:lnSpc>
                        <a:spcBef>
                          <a:spcPts val="0"/>
                        </a:spcBef>
                        <a:spcAft>
                          <a:spcPts val="0"/>
                        </a:spcAft>
                        <a:buClrTx/>
                        <a:buSzTx/>
                        <a:buFontTx/>
                        <a:buNone/>
                        <a:tabLst/>
                        <a:defRPr/>
                      </a:pPr>
                      <a:r>
                        <a:rPr lang="en-US">
                          <a:solidFill>
                            <a:schemeClr val="tx1">
                              <a:lumMod val="95000"/>
                              <a:lumOff val="5000"/>
                            </a:schemeClr>
                          </a:solidFill>
                        </a:rPr>
                        <a:t>%</a:t>
                      </a:r>
                      <a:r>
                        <a:rPr lang="en-US">
                          <a:solidFill>
                            <a:srgbClr val="FF0000"/>
                          </a:solidFill>
                        </a:rPr>
                        <a:t>f, </a:t>
                      </a:r>
                      <a:r>
                        <a:rPr lang="en-US">
                          <a:solidFill>
                            <a:schemeClr val="tx1">
                              <a:lumMod val="95000"/>
                              <a:lumOff val="5000"/>
                            </a:schemeClr>
                          </a:solidFill>
                        </a:rPr>
                        <a:t>%</a:t>
                      </a:r>
                      <a:r>
                        <a:rPr lang="en-US">
                          <a:solidFill>
                            <a:srgbClr val="FF0000"/>
                          </a:solidFill>
                        </a:rPr>
                        <a:t>e</a:t>
                      </a:r>
                    </a:p>
                    <a:p>
                      <a:pPr marL="0" marR="0" indent="0" algn="l" defTabSz="914400" rtl="0" eaLnBrk="1" fontAlgn="auto" latinLnBrk="0" hangingPunct="1">
                        <a:lnSpc>
                          <a:spcPct val="100000"/>
                        </a:lnSpc>
                        <a:spcBef>
                          <a:spcPts val="0"/>
                        </a:spcBef>
                        <a:spcAft>
                          <a:spcPts val="0"/>
                        </a:spcAft>
                        <a:buClrTx/>
                        <a:buSzTx/>
                        <a:buFontTx/>
                        <a:buNone/>
                        <a:tabLst/>
                        <a:defRPr/>
                      </a:pPr>
                      <a:r>
                        <a:rPr lang="en-US">
                          <a:solidFill>
                            <a:schemeClr val="tx1">
                              <a:lumMod val="95000"/>
                              <a:lumOff val="5000"/>
                            </a:schemeClr>
                          </a:solidFill>
                        </a:rPr>
                        <a:t>%</a:t>
                      </a:r>
                      <a:r>
                        <a:rPr lang="en-US">
                          <a:solidFill>
                            <a:srgbClr val="FF0000"/>
                          </a:solidFill>
                        </a:rPr>
                        <a:t>lf</a:t>
                      </a:r>
                      <a:r>
                        <a:rPr lang="en-US" baseline="0">
                          <a:solidFill>
                            <a:srgbClr val="FF0000"/>
                          </a:solidFill>
                        </a:rPr>
                        <a:t> </a:t>
                      </a:r>
                      <a:r>
                        <a:rPr lang="en-US" baseline="0">
                          <a:solidFill>
                            <a:schemeClr val="tx1">
                              <a:lumMod val="95000"/>
                              <a:lumOff val="5000"/>
                            </a:schemeClr>
                          </a:solidFill>
                        </a:rPr>
                        <a:t>hoặc %</a:t>
                      </a:r>
                      <a:r>
                        <a:rPr lang="en-US" baseline="0">
                          <a:solidFill>
                            <a:srgbClr val="FF0000"/>
                          </a:solidFill>
                        </a:rPr>
                        <a:t>lu</a:t>
                      </a:r>
                      <a:endParaRPr lang="en-US">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solidFill>
                            <a:schemeClr val="tx1">
                              <a:lumMod val="95000"/>
                              <a:lumOff val="5000"/>
                            </a:schemeClr>
                          </a:solidFill>
                        </a:rPr>
                        <a:t>%</a:t>
                      </a:r>
                      <a:r>
                        <a:rPr lang="en-US">
                          <a:solidFill>
                            <a:srgbClr val="FF0000"/>
                          </a:solidFill>
                        </a:rPr>
                        <a:t>s</a:t>
                      </a:r>
                    </a:p>
                  </a:txBody>
                  <a:tcPr/>
                </a:tc>
                <a:tc>
                  <a:txBody>
                    <a:bodyPr/>
                    <a:lstStyle/>
                    <a:p>
                      <a:pPr algn="l"/>
                      <a:r>
                        <a:rPr lang="en-US"/>
                        <a:t>Ký tự char</a:t>
                      </a:r>
                    </a:p>
                    <a:p>
                      <a:pPr algn="l"/>
                      <a:r>
                        <a:rPr lang="en-US"/>
                        <a:t>Số nguyên</a:t>
                      </a:r>
                      <a:r>
                        <a:rPr lang="en-US" baseline="0"/>
                        <a:t> int</a:t>
                      </a:r>
                      <a:endParaRPr lang="en-US"/>
                    </a:p>
                    <a:p>
                      <a:pPr algn="l"/>
                      <a:r>
                        <a:rPr lang="en-US"/>
                        <a:t>Số nguyên</a:t>
                      </a:r>
                      <a:r>
                        <a:rPr lang="en-US" baseline="0"/>
                        <a:t> unsigned int</a:t>
                      </a:r>
                      <a:endParaRPr lang="en-US"/>
                    </a:p>
                    <a:p>
                      <a:pPr algn="l"/>
                      <a:r>
                        <a:rPr lang="en-US"/>
                        <a:t>Số</a:t>
                      </a:r>
                      <a:r>
                        <a:rPr lang="en-US" baseline="0"/>
                        <a:t> nguyên short int/ unsigned int</a:t>
                      </a:r>
                      <a:endParaRPr lang="en-US"/>
                    </a:p>
                    <a:p>
                      <a:pPr algn="l"/>
                      <a:r>
                        <a:rPr lang="en-US"/>
                        <a:t>Số nguyên long</a:t>
                      </a:r>
                      <a:r>
                        <a:rPr lang="en-US" baseline="0"/>
                        <a:t> int, unsiged long</a:t>
                      </a:r>
                      <a:endParaRPr lang="en-US"/>
                    </a:p>
                    <a:p>
                      <a:pPr algn="l"/>
                      <a:r>
                        <a:rPr lang="en-US"/>
                        <a:t>Số</a:t>
                      </a:r>
                      <a:r>
                        <a:rPr lang="en-US" baseline="0"/>
                        <a:t> thực</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Số thực double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Xâu không chứa dấu cách, dùng với địa chỉ xâu</a:t>
                      </a:r>
                      <a:endParaRPr lang="en-US"/>
                    </a:p>
                  </a:txBody>
                  <a:tcPr/>
                </a:tc>
                <a:extLst>
                  <a:ext uri="{0D108BD9-81ED-4DB2-BD59-A6C34878D82A}">
                    <a16:rowId xmlns:a16="http://schemas.microsoft.com/office/drawing/2014/main" val="10001"/>
                  </a:ext>
                </a:extLst>
              </a:tr>
            </a:tbl>
          </a:graphicData>
        </a:graphic>
      </p:graphicFrame>
      <p:sp>
        <p:nvSpPr>
          <p:cNvPr id="9" name="Slide Number Placeholder 8"/>
          <p:cNvSpPr>
            <a:spLocks noGrp="1"/>
          </p:cNvSpPr>
          <p:nvPr>
            <p:ph type="sldNum" sz="quarter" idx="12"/>
          </p:nvPr>
        </p:nvSpPr>
        <p:spPr/>
        <p:txBody>
          <a:bodyPr/>
          <a:lstStyle/>
          <a:p>
            <a:fld id="{5AB95402-1E0D-474E-8D8C-CBE7F053639E}" type="slidenum">
              <a:rPr lang="vi-VN" smtClean="0"/>
              <a:pPr/>
              <a:t>53</a:t>
            </a:fld>
            <a:r>
              <a:rPr lang="vi-VN"/>
              <a:t>/59</a:t>
            </a:r>
          </a:p>
        </p:txBody>
      </p:sp>
    </p:spTree>
    <p:extLst>
      <p:ext uri="{BB962C8B-B14F-4D97-AF65-F5344CB8AC3E}">
        <p14:creationId xmlns:p14="http://schemas.microsoft.com/office/powerpoint/2010/main" val="100474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anim calcmode="lin" valueType="num">
                                      <p:cBhvr>
                                        <p:cTn id="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500"/>
                                        <p:tgtEl>
                                          <p:spTgt spid="3">
                                            <p:txEl>
                                              <p:pRg st="6" end="6"/>
                                            </p:txEl>
                                          </p:spTgt>
                                        </p:tgtEl>
                                      </p:cBhvr>
                                    </p:animEffect>
                                    <p:anim calcmode="lin" valueType="num">
                                      <p:cBhvr>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t>Nhập dữ liệu (tt)</a:t>
            </a:r>
          </a:p>
        </p:txBody>
      </p:sp>
      <p:sp>
        <p:nvSpPr>
          <p:cNvPr id="3" name="Content Placeholder 2"/>
          <p:cNvSpPr>
            <a:spLocks noGrp="1"/>
          </p:cNvSpPr>
          <p:nvPr>
            <p:ph idx="1"/>
          </p:nvPr>
        </p:nvSpPr>
        <p:spPr/>
        <p:txBody>
          <a:bodyPr/>
          <a:lstStyle/>
          <a:p>
            <a:pPr>
              <a:defRPr/>
            </a:pPr>
            <a:r>
              <a:rPr lang="en-US"/>
              <a:t>Nguyên tắc đọc</a:t>
            </a:r>
          </a:p>
          <a:p>
            <a:pPr lvl="1">
              <a:defRPr/>
            </a:pPr>
            <a:r>
              <a:rPr lang="en-US"/>
              <a:t>Số: máy </a:t>
            </a:r>
            <a:r>
              <a:rPr lang="en-US">
                <a:solidFill>
                  <a:srgbClr val="FF0000"/>
                </a:solidFill>
              </a:rPr>
              <a:t>nhảy qua</a:t>
            </a:r>
            <a:r>
              <a:rPr lang="en-US"/>
              <a:t> các </a:t>
            </a:r>
            <a:r>
              <a:rPr lang="en-US">
                <a:solidFill>
                  <a:srgbClr val="FF0000"/>
                </a:solidFill>
              </a:rPr>
              <a:t>kí tự</a:t>
            </a:r>
            <a:r>
              <a:rPr lang="en-US"/>
              <a:t> là các dấu chấm câu cho </a:t>
            </a:r>
            <a:r>
              <a:rPr lang="en-US">
                <a:solidFill>
                  <a:srgbClr val="FF0000"/>
                </a:solidFill>
              </a:rPr>
              <a:t>đến khi</a:t>
            </a:r>
            <a:r>
              <a:rPr lang="en-US"/>
              <a:t> gặp kí tự là </a:t>
            </a:r>
            <a:r>
              <a:rPr lang="en-US">
                <a:solidFill>
                  <a:srgbClr val="FF0000"/>
                </a:solidFill>
              </a:rPr>
              <a:t>chữ số</a:t>
            </a:r>
            <a:r>
              <a:rPr lang="en-US"/>
              <a:t>, </a:t>
            </a:r>
            <a:r>
              <a:rPr lang="en-US">
                <a:solidFill>
                  <a:srgbClr val="FF0000"/>
                </a:solidFill>
              </a:rPr>
              <a:t>đọc đến khi </a:t>
            </a:r>
            <a:r>
              <a:rPr lang="en-US"/>
              <a:t>gặp kí tự </a:t>
            </a:r>
            <a:r>
              <a:rPr lang="en-US">
                <a:solidFill>
                  <a:srgbClr val="FF0000"/>
                </a:solidFill>
              </a:rPr>
              <a:t>không là chữ số</a:t>
            </a:r>
            <a:r>
              <a:rPr lang="en-US"/>
              <a:t>.</a:t>
            </a:r>
          </a:p>
          <a:p>
            <a:pPr lvl="1">
              <a:defRPr/>
            </a:pPr>
            <a:r>
              <a:rPr lang="en-US"/>
              <a:t>Xâu kí tự: đọc đúng số kí tự mà ta yêu cầu</a:t>
            </a:r>
          </a:p>
          <a:p>
            <a:pPr>
              <a:defRPr/>
            </a:pPr>
            <a:r>
              <a:rPr lang="en-US"/>
              <a:t>Vai trò của dấu cách trong mã định dạng</a:t>
            </a:r>
          </a:p>
          <a:p>
            <a:pPr lvl="1">
              <a:defRPr/>
            </a:pPr>
            <a:r>
              <a:rPr lang="en-US"/>
              <a:t>Gặp dấu cách trong mã định dạng, máy nhảy qua các dấu cách để đọc số/kí tự</a:t>
            </a:r>
          </a:p>
          <a:p>
            <a:pPr>
              <a:defRPr/>
            </a:pPr>
            <a:r>
              <a:rPr lang="en-US"/>
              <a:t>Khuôn đọc</a:t>
            </a:r>
          </a:p>
          <a:p>
            <a:pPr lvl="1">
              <a:defRPr/>
            </a:pPr>
            <a:r>
              <a:rPr lang="en-US"/>
              <a:t>Đọc một số trong phạm vi m chữ số gõ vào</a:t>
            </a:r>
          </a:p>
          <a:p>
            <a:pPr lvl="1">
              <a:defRPr/>
            </a:pPr>
            <a:r>
              <a:rPr lang="en-US"/>
              <a:t>Ví dụ: </a:t>
            </a:r>
            <a:r>
              <a:rPr lang="en-US">
                <a:latin typeface="Courier New" pitchFamily="49" charset="0"/>
                <a:cs typeface="Courier New" pitchFamily="49" charset="0"/>
              </a:rPr>
              <a:t>scanf(</a:t>
            </a:r>
            <a:r>
              <a:rPr lang="en-US">
                <a:solidFill>
                  <a:srgbClr val="FF0000"/>
                </a:solidFill>
                <a:latin typeface="Courier New" pitchFamily="49" charset="0"/>
                <a:cs typeface="Courier New" pitchFamily="49" charset="0"/>
              </a:rPr>
              <a:t>“%3d%3d”</a:t>
            </a:r>
            <a:r>
              <a:rPr lang="en-US">
                <a:latin typeface="Courier New" pitchFamily="49" charset="0"/>
                <a:cs typeface="Courier New" pitchFamily="49" charset="0"/>
              </a:rPr>
              <a:t>,&amp;n,&amp;p)</a:t>
            </a:r>
          </a:p>
          <a:p>
            <a:pPr>
              <a:defRPr/>
            </a:pPr>
            <a:r>
              <a:rPr lang="en-US"/>
              <a:t>Xoá bộ nhớ đệm: </a:t>
            </a:r>
            <a:r>
              <a:rPr lang="en-US" sz="2400">
                <a:latin typeface="Courier New" pitchFamily="49" charset="0"/>
                <a:cs typeface="Courier New" pitchFamily="49" charset="0"/>
              </a:rPr>
              <a:t>fflush(stdin);</a:t>
            </a:r>
          </a:p>
        </p:txBody>
      </p:sp>
      <p:sp>
        <p:nvSpPr>
          <p:cNvPr id="51204" name="Footer Placeholder 3"/>
          <p:cNvSpPr>
            <a:spLocks noGrp="1"/>
          </p:cNvSpPr>
          <p:nvPr>
            <p:ph type="ftr" sz="quarter" idx="11"/>
          </p:nvPr>
        </p:nvSpPr>
        <p:spPr>
          <a:noFill/>
        </p:spPr>
        <p:txBody>
          <a:bodyPr/>
          <a:lstStyle/>
          <a:p>
            <a:r>
              <a:rPr lang="vi-VN"/>
              <a:t>Chương 2 - Các phần tử cơ bản của ngôn ngữ C</a:t>
            </a:r>
            <a:endParaRPr lang="en-US"/>
          </a:p>
        </p:txBody>
      </p:sp>
      <p:sp>
        <p:nvSpPr>
          <p:cNvPr id="2" name="Date Placeholder 1"/>
          <p:cNvSpPr>
            <a:spLocks noGrp="1"/>
          </p:cNvSpPr>
          <p:nvPr>
            <p:ph type="dt" sz="half" idx="10"/>
          </p:nvPr>
        </p:nvSpPr>
        <p:spPr/>
        <p:txBody>
          <a:bodyPr/>
          <a:lstStyle/>
          <a:p>
            <a:fld id="{9CDC0903-8761-4DFA-B64F-8626E0791239}" type="datetime1">
              <a:rPr lang="vi-VN" smtClean="0"/>
              <a:t>14/01/2024</a:t>
            </a:fld>
            <a:endParaRPr lang="vi-VN"/>
          </a:p>
        </p:txBody>
      </p:sp>
      <p:sp>
        <p:nvSpPr>
          <p:cNvPr id="8" name="Slide Number Placeholder 7"/>
          <p:cNvSpPr>
            <a:spLocks noGrp="1"/>
          </p:cNvSpPr>
          <p:nvPr>
            <p:ph type="sldNum" sz="quarter" idx="12"/>
          </p:nvPr>
        </p:nvSpPr>
        <p:spPr/>
        <p:txBody>
          <a:bodyPr/>
          <a:lstStyle/>
          <a:p>
            <a:fld id="{5AB95402-1E0D-474E-8D8C-CBE7F053639E}" type="slidenum">
              <a:rPr lang="vi-VN" smtClean="0"/>
              <a:pPr/>
              <a:t>54</a:t>
            </a:fld>
            <a:r>
              <a:rPr lang="vi-VN"/>
              <a:t>/59</a:t>
            </a:r>
          </a:p>
        </p:txBody>
      </p:sp>
    </p:spTree>
    <p:extLst>
      <p:ext uri="{BB962C8B-B14F-4D97-AF65-F5344CB8AC3E}">
        <p14:creationId xmlns:p14="http://schemas.microsoft.com/office/powerpoint/2010/main" val="1034259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left)">
                                      <p:cBhvr>
                                        <p:cTn id="7" dur="500"/>
                                        <p:tgtEl>
                                          <p:spTgt spid="3">
                                            <p:txEl>
                                              <p:pRg st="3" end="3"/>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Effect transition="in" filter="wipe(left)">
                                      <p:cBhvr>
                                        <p:cTn id="11" dur="500"/>
                                        <p:tgtEl>
                                          <p:spTgt spid="3">
                                            <p:txEl>
                                              <p:pRg st="4"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wipe(left)">
                                      <p:cBhvr>
                                        <p:cTn id="16" dur="500"/>
                                        <p:tgtEl>
                                          <p:spTgt spid="3">
                                            <p:txEl>
                                              <p:pRg st="5" end="5"/>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wipe(left)">
                                      <p:cBhvr>
                                        <p:cTn id="20" dur="500"/>
                                        <p:tgtEl>
                                          <p:spTgt spid="3">
                                            <p:txEl>
                                              <p:pRg st="6" end="6"/>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wipe(left)">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wipe(left)">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Nhập dữ liệu (tt)</a:t>
            </a:r>
            <a:endParaRPr lang="vi-VN"/>
          </a:p>
        </p:txBody>
      </p:sp>
      <p:sp>
        <p:nvSpPr>
          <p:cNvPr id="3" name="Content Placeholder 2"/>
          <p:cNvSpPr>
            <a:spLocks noGrp="1"/>
          </p:cNvSpPr>
          <p:nvPr>
            <p:ph idx="1"/>
          </p:nvPr>
        </p:nvSpPr>
        <p:spPr/>
        <p:txBody>
          <a:bodyPr/>
          <a:lstStyle/>
          <a:p>
            <a:r>
              <a:rPr lang="en-US"/>
              <a:t>Hàm getchar()</a:t>
            </a:r>
          </a:p>
          <a:p>
            <a:pPr lvl="1"/>
            <a:r>
              <a:rPr lang="en-US"/>
              <a:t>Đọc một kí tự từ bàn phím</a:t>
            </a:r>
          </a:p>
          <a:p>
            <a:r>
              <a:rPr lang="en-US"/>
              <a:t>Hàm getch()</a:t>
            </a:r>
          </a:p>
          <a:p>
            <a:pPr lvl="1"/>
            <a:r>
              <a:rPr lang="en-US"/>
              <a:t>Đọc kí tự từ bàn phím </a:t>
            </a:r>
            <a:r>
              <a:rPr lang="en-US">
                <a:solidFill>
                  <a:schemeClr val="accent2">
                    <a:lumMod val="60000"/>
                    <a:lumOff val="40000"/>
                  </a:schemeClr>
                </a:solidFill>
              </a:rPr>
              <a:t>ngay khi gõ </a:t>
            </a:r>
            <a:r>
              <a:rPr lang="en-US"/>
              <a:t>vào không đợi ấn phím </a:t>
            </a:r>
            <a:r>
              <a:rPr lang="en-US">
                <a:solidFill>
                  <a:schemeClr val="tx1">
                    <a:lumMod val="95000"/>
                    <a:lumOff val="5000"/>
                  </a:schemeClr>
                </a:solidFill>
              </a:rPr>
              <a:t>Enter</a:t>
            </a:r>
            <a:r>
              <a:rPr lang="en-US"/>
              <a:t> và </a:t>
            </a:r>
            <a:r>
              <a:rPr lang="en-US">
                <a:solidFill>
                  <a:schemeClr val="accent2">
                    <a:lumMod val="60000"/>
                    <a:lumOff val="40000"/>
                  </a:schemeClr>
                </a:solidFill>
              </a:rPr>
              <a:t>không hiển thị ra màn hình</a:t>
            </a:r>
            <a:r>
              <a:rPr lang="en-US"/>
              <a:t>. </a:t>
            </a:r>
          </a:p>
          <a:p>
            <a:pPr lvl="1"/>
            <a:r>
              <a:rPr lang="en-US">
                <a:solidFill>
                  <a:schemeClr val="accent2">
                    <a:lumMod val="60000"/>
                    <a:lumOff val="40000"/>
                  </a:schemeClr>
                </a:solidFill>
              </a:rPr>
              <a:t>Đọc thẳng từ bàn phím</a:t>
            </a:r>
            <a:r>
              <a:rPr lang="en-US"/>
              <a:t>, không qua bộ nhớ đệm</a:t>
            </a:r>
          </a:p>
          <a:p>
            <a:pPr lvl="1"/>
            <a:r>
              <a:rPr lang="en-US">
                <a:sym typeface="Wingdings" pitchFamily="2" charset="2"/>
              </a:rPr>
              <a:t>Dùng để </a:t>
            </a:r>
            <a:r>
              <a:rPr lang="en-US">
                <a:solidFill>
                  <a:schemeClr val="accent2">
                    <a:lumMod val="60000"/>
                    <a:lumOff val="40000"/>
                  </a:schemeClr>
                </a:solidFill>
                <a:sym typeface="Wingdings" pitchFamily="2" charset="2"/>
              </a:rPr>
              <a:t>dừng chương trình </a:t>
            </a:r>
            <a:r>
              <a:rPr lang="en-US">
                <a:sym typeface="Wingdings" pitchFamily="2" charset="2"/>
              </a:rPr>
              <a:t>xem kết quả</a:t>
            </a:r>
          </a:p>
          <a:p>
            <a:r>
              <a:rPr lang="en-US">
                <a:sym typeface="Wingdings" pitchFamily="2" charset="2"/>
              </a:rPr>
              <a:t>Hàm getche()</a:t>
            </a:r>
          </a:p>
          <a:p>
            <a:pPr lvl="1"/>
            <a:r>
              <a:rPr lang="en-US">
                <a:sym typeface="Wingdings" pitchFamily="2" charset="2"/>
              </a:rPr>
              <a:t>Giống getch(), nhưng </a:t>
            </a:r>
            <a:r>
              <a:rPr lang="en-US">
                <a:solidFill>
                  <a:schemeClr val="accent2">
                    <a:lumMod val="60000"/>
                    <a:lumOff val="40000"/>
                  </a:schemeClr>
                </a:solidFill>
                <a:sym typeface="Wingdings" pitchFamily="2" charset="2"/>
              </a:rPr>
              <a:t>hiển thị </a:t>
            </a:r>
            <a:r>
              <a:rPr lang="en-US">
                <a:sym typeface="Wingdings" pitchFamily="2" charset="2"/>
              </a:rPr>
              <a:t>kí tự lên màn hình</a:t>
            </a:r>
          </a:p>
          <a:p>
            <a:r>
              <a:rPr lang="en-US">
                <a:sym typeface="Wingdings" pitchFamily="2" charset="2"/>
              </a:rPr>
              <a:t>Hàm gets()</a:t>
            </a:r>
          </a:p>
          <a:p>
            <a:pPr lvl="1"/>
            <a:r>
              <a:rPr lang="en-US">
                <a:sym typeface="Wingdings" pitchFamily="2" charset="2"/>
              </a:rPr>
              <a:t>Đọc một xâu kí tự cho đến khi gõ </a:t>
            </a:r>
            <a:r>
              <a:rPr lang="en-US">
                <a:solidFill>
                  <a:schemeClr val="tx1">
                    <a:lumMod val="95000"/>
                    <a:lumOff val="5000"/>
                  </a:schemeClr>
                </a:solidFill>
                <a:sym typeface="Wingdings" pitchFamily="2" charset="2"/>
              </a:rPr>
              <a:t>Enter</a:t>
            </a:r>
            <a:endParaRPr lang="vi-VN">
              <a:solidFill>
                <a:schemeClr val="tx1">
                  <a:lumMod val="95000"/>
                  <a:lumOff val="5000"/>
                </a:schemeClr>
              </a:solidFill>
            </a:endParaRPr>
          </a:p>
        </p:txBody>
      </p:sp>
      <p:sp>
        <p:nvSpPr>
          <p:cNvPr id="4" name="Date Placeholder 3"/>
          <p:cNvSpPr>
            <a:spLocks noGrp="1"/>
          </p:cNvSpPr>
          <p:nvPr>
            <p:ph type="dt" sz="half" idx="10"/>
          </p:nvPr>
        </p:nvSpPr>
        <p:spPr/>
        <p:txBody>
          <a:bodyPr/>
          <a:lstStyle/>
          <a:p>
            <a:fld id="{E9532361-DC24-467E-8114-363F56EAB754}"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55</a:t>
            </a:fld>
            <a:r>
              <a:rPr lang="vi-VN"/>
              <a:t>/59</a:t>
            </a:r>
          </a:p>
        </p:txBody>
      </p:sp>
    </p:spTree>
    <p:extLst>
      <p:ext uri="{BB962C8B-B14F-4D97-AF65-F5344CB8AC3E}">
        <p14:creationId xmlns:p14="http://schemas.microsoft.com/office/powerpoint/2010/main" val="29408289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Trình bày màn hình</a:t>
            </a:r>
            <a:endParaRPr lang="vi-VN"/>
          </a:p>
        </p:txBody>
      </p:sp>
      <p:sp>
        <p:nvSpPr>
          <p:cNvPr id="3" name="Content Placeholder 2"/>
          <p:cNvSpPr>
            <a:spLocks noGrp="1"/>
          </p:cNvSpPr>
          <p:nvPr>
            <p:ph idx="1"/>
          </p:nvPr>
        </p:nvSpPr>
        <p:spPr/>
        <p:txBody>
          <a:bodyPr/>
          <a:lstStyle/>
          <a:p>
            <a:r>
              <a:rPr lang="en-US" sz="2400"/>
              <a:t>Thư viện: &lt;conio.h&gt;</a:t>
            </a:r>
          </a:p>
          <a:p>
            <a:r>
              <a:rPr lang="en-US" sz="2400"/>
              <a:t>Hàm gotoxy(int x, int y)</a:t>
            </a:r>
          </a:p>
          <a:p>
            <a:pPr lvl="1"/>
            <a:r>
              <a:rPr lang="en-US" sz="2000"/>
              <a:t>Đưa con trỏ vào toạ độ X, Y (X: 1</a:t>
            </a:r>
            <a:r>
              <a:rPr lang="en-US" sz="2000">
                <a:sym typeface="Wingdings" pitchFamily="2" charset="2"/>
              </a:rPr>
              <a:t>80, Y: 125)</a:t>
            </a:r>
          </a:p>
          <a:p>
            <a:r>
              <a:rPr lang="en-US" sz="2400">
                <a:sym typeface="Wingdings" pitchFamily="2" charset="2"/>
              </a:rPr>
              <a:t>Hàm clrscr()</a:t>
            </a:r>
          </a:p>
          <a:p>
            <a:pPr lvl="1"/>
            <a:r>
              <a:rPr lang="en-US" sz="2000">
                <a:sym typeface="Wingdings" pitchFamily="2" charset="2"/>
              </a:rPr>
              <a:t>Xoá màn hình, đưa con trỏ về góc trên trái</a:t>
            </a:r>
          </a:p>
          <a:p>
            <a:r>
              <a:rPr lang="en-US" sz="2400">
                <a:sym typeface="Wingdings" pitchFamily="2" charset="2"/>
              </a:rPr>
              <a:t>Hàm clreol()</a:t>
            </a:r>
          </a:p>
          <a:p>
            <a:pPr lvl="1"/>
            <a:r>
              <a:rPr lang="en-US" sz="2000">
                <a:sym typeface="Wingdings" pitchFamily="2" charset="2"/>
              </a:rPr>
              <a:t>Xoá các kí tự nằm bên phải con trỏ màn hình</a:t>
            </a:r>
          </a:p>
          <a:p>
            <a:r>
              <a:rPr lang="en-US" sz="2400"/>
              <a:t>Hàm đặt màu chữ/màu nền</a:t>
            </a:r>
          </a:p>
          <a:p>
            <a:pPr lvl="1"/>
            <a:r>
              <a:rPr lang="en-US" sz="2000"/>
              <a:t>textcolor(int color): đặt màu cho chữ</a:t>
            </a:r>
          </a:p>
          <a:p>
            <a:pPr lvl="1"/>
            <a:r>
              <a:rPr lang="en-US" sz="2000"/>
              <a:t>textbackground(int color): đặt màu nền</a:t>
            </a:r>
          </a:p>
          <a:p>
            <a:r>
              <a:rPr lang="en-US" sz="2400"/>
              <a:t>Hàm window(x1,y1,x2,y2): </a:t>
            </a:r>
          </a:p>
          <a:p>
            <a:pPr lvl="1"/>
            <a:r>
              <a:rPr lang="en-US" sz="2000"/>
              <a:t>Tạo ra một cửa sổ góc trái trên là (x1,y1) và góc phải dưới là (x2,y2)</a:t>
            </a:r>
            <a:endParaRPr lang="vi-VN" sz="2000"/>
          </a:p>
        </p:txBody>
      </p:sp>
      <p:sp>
        <p:nvSpPr>
          <p:cNvPr id="4" name="Date Placeholder 3"/>
          <p:cNvSpPr>
            <a:spLocks noGrp="1"/>
          </p:cNvSpPr>
          <p:nvPr>
            <p:ph type="dt" sz="half" idx="10"/>
          </p:nvPr>
        </p:nvSpPr>
        <p:spPr/>
        <p:txBody>
          <a:bodyPr/>
          <a:lstStyle/>
          <a:p>
            <a:fld id="{0AAE7820-2FA2-45DE-B2DB-FE76C4288CF5}" type="datetime1">
              <a:rPr lang="vi-VN" smtClean="0"/>
              <a:t>14/01/2024</a:t>
            </a:fld>
            <a:endParaRPr lang="vi-VN"/>
          </a:p>
        </p:txBody>
      </p:sp>
      <p:sp>
        <p:nvSpPr>
          <p:cNvPr id="5" name="Footer Placeholder 4"/>
          <p:cNvSpPr>
            <a:spLocks noGrp="1"/>
          </p:cNvSpPr>
          <p:nvPr>
            <p:ph type="ftr" sz="quarter" idx="11"/>
          </p:nvPr>
        </p:nvSpPr>
        <p:spPr/>
        <p:txBody>
          <a:bodyPr/>
          <a:lstStyle/>
          <a:p>
            <a:r>
              <a:rPr lang="vi-VN"/>
              <a:t>Chương 2 - Các phần tử cơ bản của ngôn ngữ C</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56</a:t>
            </a:fld>
            <a:r>
              <a:rPr lang="vi-VN"/>
              <a:t>/59</a:t>
            </a:r>
          </a:p>
        </p:txBody>
      </p:sp>
    </p:spTree>
    <p:extLst>
      <p:ext uri="{BB962C8B-B14F-4D97-AF65-F5344CB8AC3E}">
        <p14:creationId xmlns:p14="http://schemas.microsoft.com/office/powerpoint/2010/main" val="38447780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t>Bài tập lý thuyết</a:t>
            </a:r>
          </a:p>
        </p:txBody>
      </p:sp>
      <p:sp>
        <p:nvSpPr>
          <p:cNvPr id="54275" name="Content Placeholder 4"/>
          <p:cNvSpPr>
            <a:spLocks noGrp="1"/>
          </p:cNvSpPr>
          <p:nvPr>
            <p:ph idx="1"/>
          </p:nvPr>
        </p:nvSpPr>
        <p:spPr/>
        <p:txBody>
          <a:bodyPr/>
          <a:lstStyle/>
          <a:p>
            <a:pPr marL="514350" indent="-514350">
              <a:buFont typeface="Verdana" pitchFamily="34" charset="0"/>
              <a:buAutoNum type="arabicPeriod"/>
            </a:pPr>
            <a:r>
              <a:rPr lang="en-US">
                <a:latin typeface="Arial" charset="0"/>
                <a:cs typeface="Arial" charset="0"/>
              </a:rPr>
              <a:t>Trình bày các kiểu dữ liệu c</a:t>
            </a:r>
            <a:r>
              <a:rPr lang="vi-VN">
                <a:latin typeface="Arial" charset="0"/>
                <a:cs typeface="Arial" charset="0"/>
              </a:rPr>
              <a:t>ơ</a:t>
            </a:r>
            <a:r>
              <a:rPr lang="en-US">
                <a:latin typeface="Arial" charset="0"/>
                <a:cs typeface="Arial" charset="0"/>
              </a:rPr>
              <a:t> sở trong C và cho ví dụ.</a:t>
            </a:r>
          </a:p>
          <a:p>
            <a:pPr marL="514350" indent="-514350">
              <a:buFont typeface="Verdana" pitchFamily="34" charset="0"/>
              <a:buAutoNum type="arabicPeriod"/>
            </a:pPr>
            <a:r>
              <a:rPr lang="en-AU">
                <a:latin typeface="Arial" charset="0"/>
                <a:cs typeface="Arial" charset="0"/>
              </a:rPr>
              <a:t>Trình bày khái niệm về biến và cách sử dụng lệnh gán.</a:t>
            </a:r>
            <a:endParaRPr lang="en-US">
              <a:latin typeface="Arial" charset="0"/>
              <a:cs typeface="Arial" charset="0"/>
            </a:endParaRPr>
          </a:p>
          <a:p>
            <a:pPr marL="514350" indent="-514350">
              <a:buFont typeface="Verdana" pitchFamily="34" charset="0"/>
              <a:buAutoNum type="arabicPeriod"/>
            </a:pPr>
            <a:r>
              <a:rPr lang="en-AU">
                <a:latin typeface="Arial" charset="0"/>
                <a:cs typeface="Arial" charset="0"/>
              </a:rPr>
              <a:t>Phân biệt hằng </a:t>
            </a:r>
            <a:r>
              <a:rPr lang="vi-VN">
                <a:latin typeface="Arial" charset="0"/>
                <a:cs typeface="Arial" charset="0"/>
              </a:rPr>
              <a:t>thường </a:t>
            </a:r>
            <a:r>
              <a:rPr lang="en-AU">
                <a:latin typeface="Arial" charset="0"/>
                <a:cs typeface="Arial" charset="0"/>
              </a:rPr>
              <a:t>và hằng </a:t>
            </a:r>
            <a:r>
              <a:rPr lang="vi-VN">
                <a:latin typeface="Arial" charset="0"/>
                <a:cs typeface="Arial" charset="0"/>
              </a:rPr>
              <a:t>ký hiệu</a:t>
            </a:r>
            <a:r>
              <a:rPr lang="en-AU">
                <a:latin typeface="Arial" charset="0"/>
                <a:cs typeface="Arial" charset="0"/>
              </a:rPr>
              <a:t>.</a:t>
            </a:r>
            <a:br>
              <a:rPr lang="vi-VN">
                <a:latin typeface="Arial" charset="0"/>
                <a:cs typeface="Arial" charset="0"/>
              </a:rPr>
            </a:br>
            <a:r>
              <a:rPr lang="en-AU">
                <a:latin typeface="Arial" charset="0"/>
                <a:cs typeface="Arial" charset="0"/>
              </a:rPr>
              <a:t>Cho ví dụ minh họa.</a:t>
            </a:r>
          </a:p>
          <a:p>
            <a:pPr marL="514350" indent="-514350">
              <a:buFont typeface="Verdana" pitchFamily="34" charset="0"/>
              <a:buAutoNum type="arabicPeriod"/>
            </a:pPr>
            <a:r>
              <a:rPr lang="en-AU">
                <a:latin typeface="Arial" charset="0"/>
                <a:cs typeface="Arial" charset="0"/>
              </a:rPr>
              <a:t>Trình bày khái niệm về biểu thức.</a:t>
            </a:r>
          </a:p>
          <a:p>
            <a:pPr marL="514350" indent="-514350">
              <a:buFont typeface="Wingdings" pitchFamily="2" charset="2"/>
              <a:buNone/>
            </a:pPr>
            <a:r>
              <a:rPr lang="en-AU">
                <a:latin typeface="Arial" charset="0"/>
                <a:cs typeface="Arial" charset="0"/>
              </a:rPr>
              <a:t>	Tại sao nên sử dụng cặp ngoặc </a:t>
            </a:r>
            <a:r>
              <a:rPr lang="vi-VN">
                <a:latin typeface="Arial" charset="0"/>
                <a:cs typeface="Arial" charset="0"/>
              </a:rPr>
              <a:t>đơ</a:t>
            </a:r>
            <a:r>
              <a:rPr lang="en-US">
                <a:latin typeface="Arial" charset="0"/>
                <a:cs typeface="Arial" charset="0"/>
              </a:rPr>
              <a:t>n.</a:t>
            </a:r>
          </a:p>
          <a:p>
            <a:pPr marL="514350" indent="-514350">
              <a:buFont typeface="Verdana" pitchFamily="34" charset="0"/>
              <a:buAutoNum type="arabicPeriod" startAt="5"/>
            </a:pPr>
            <a:r>
              <a:rPr lang="en-US">
                <a:latin typeface="Arial" charset="0"/>
                <a:cs typeface="Arial" charset="0"/>
              </a:rPr>
              <a:t>Trình bày cách </a:t>
            </a:r>
            <a:r>
              <a:rPr lang="vi-VN">
                <a:latin typeface="Arial" charset="0"/>
                <a:cs typeface="Arial" charset="0"/>
              </a:rPr>
              <a:t>đị</a:t>
            </a:r>
            <a:r>
              <a:rPr lang="en-US">
                <a:latin typeface="Arial" charset="0"/>
                <a:cs typeface="Arial" charset="0"/>
              </a:rPr>
              <a:t>nh dạng xuất.</a:t>
            </a:r>
          </a:p>
        </p:txBody>
      </p:sp>
      <p:sp>
        <p:nvSpPr>
          <p:cNvPr id="54276" name="Footer Placeholder 2"/>
          <p:cNvSpPr>
            <a:spLocks noGrp="1"/>
          </p:cNvSpPr>
          <p:nvPr>
            <p:ph type="ftr" sz="quarter" idx="11"/>
          </p:nvPr>
        </p:nvSpPr>
        <p:spPr>
          <a:noFill/>
        </p:spPr>
        <p:txBody>
          <a:bodyPr/>
          <a:lstStyle/>
          <a:p>
            <a:r>
              <a:rPr lang="vi-VN"/>
              <a:t>Chương 2 - Các phần tử cơ bản của ngôn ngữ C</a:t>
            </a:r>
            <a:endParaRPr lang="en-US"/>
          </a:p>
        </p:txBody>
      </p:sp>
      <p:pic>
        <p:nvPicPr>
          <p:cNvPr id="54277" name="Picture 4" descr="question_pop_up_from_box_hg_clr"/>
          <p:cNvPicPr>
            <a:picLocks noChangeAspect="1" noChangeArrowheads="1" noCrop="1"/>
          </p:cNvPicPr>
          <p:nvPr/>
        </p:nvPicPr>
        <p:blipFill>
          <a:blip r:embed="rId3"/>
          <a:srcRect/>
          <a:stretch>
            <a:fillRect/>
          </a:stretch>
        </p:blipFill>
        <p:spPr bwMode="auto">
          <a:xfrm>
            <a:off x="7478713" y="3962400"/>
            <a:ext cx="1665287" cy="2286000"/>
          </a:xfrm>
          <a:prstGeom prst="rect">
            <a:avLst/>
          </a:prstGeom>
          <a:noFill/>
          <a:ln w="9525">
            <a:noFill/>
            <a:miter lim="800000"/>
            <a:headEnd/>
            <a:tailEnd/>
          </a:ln>
        </p:spPr>
      </p:pic>
      <p:sp>
        <p:nvSpPr>
          <p:cNvPr id="2" name="Date Placeholder 1"/>
          <p:cNvSpPr>
            <a:spLocks noGrp="1"/>
          </p:cNvSpPr>
          <p:nvPr>
            <p:ph type="dt" sz="half" idx="10"/>
          </p:nvPr>
        </p:nvSpPr>
        <p:spPr/>
        <p:txBody>
          <a:bodyPr/>
          <a:lstStyle/>
          <a:p>
            <a:fld id="{1772DFF1-F84B-48EE-8327-5552B7D7EDF4}" type="datetime1">
              <a:rPr lang="vi-VN" smtClean="0"/>
              <a:t>14/01/2024</a:t>
            </a:fld>
            <a:endParaRPr lang="vi-VN"/>
          </a:p>
        </p:txBody>
      </p:sp>
      <p:sp>
        <p:nvSpPr>
          <p:cNvPr id="7" name="Slide Number Placeholder 6"/>
          <p:cNvSpPr>
            <a:spLocks noGrp="1"/>
          </p:cNvSpPr>
          <p:nvPr>
            <p:ph type="sldNum" sz="quarter" idx="12"/>
          </p:nvPr>
        </p:nvSpPr>
        <p:spPr/>
        <p:txBody>
          <a:bodyPr/>
          <a:lstStyle/>
          <a:p>
            <a:fld id="{5AB95402-1E0D-474E-8D8C-CBE7F053639E}" type="slidenum">
              <a:rPr lang="vi-VN" smtClean="0"/>
              <a:pPr/>
              <a:t>57</a:t>
            </a:fld>
            <a:r>
              <a:rPr lang="vi-VN"/>
              <a:t>/59</a:t>
            </a:r>
          </a:p>
        </p:txBody>
      </p:sp>
    </p:spTree>
    <p:extLst>
      <p:ext uri="{BB962C8B-B14F-4D97-AF65-F5344CB8AC3E}">
        <p14:creationId xmlns:p14="http://schemas.microsoft.com/office/powerpoint/2010/main" val="17127171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t>Bài tập thực hành</a:t>
            </a:r>
          </a:p>
        </p:txBody>
      </p:sp>
      <p:sp>
        <p:nvSpPr>
          <p:cNvPr id="55299" name="Content Placeholder 4"/>
          <p:cNvSpPr>
            <a:spLocks noGrp="1"/>
          </p:cNvSpPr>
          <p:nvPr>
            <p:ph idx="1"/>
          </p:nvPr>
        </p:nvSpPr>
        <p:spPr/>
        <p:txBody>
          <a:bodyPr/>
          <a:lstStyle/>
          <a:p>
            <a:pPr marL="514350" indent="-514350">
              <a:buFont typeface="Verdana" pitchFamily="34" charset="0"/>
              <a:buAutoNum type="arabicPeriod" startAt="6"/>
            </a:pPr>
            <a:r>
              <a:rPr lang="en-US" dirty="0" err="1">
                <a:latin typeface="Arial" charset="0"/>
                <a:cs typeface="Arial" charset="0"/>
              </a:rPr>
              <a:t>Nhập</a:t>
            </a:r>
            <a:r>
              <a:rPr lang="en-US" dirty="0">
                <a:latin typeface="Arial" charset="0"/>
                <a:cs typeface="Arial" charset="0"/>
              </a:rPr>
              <a:t> n</a:t>
            </a:r>
            <a:r>
              <a:rPr lang="vi-VN" dirty="0">
                <a:latin typeface="Arial" charset="0"/>
                <a:cs typeface="Arial" charset="0"/>
              </a:rPr>
              <a:t>ă</a:t>
            </a:r>
            <a:r>
              <a:rPr lang="en-US" dirty="0">
                <a:latin typeface="Arial" charset="0"/>
                <a:cs typeface="Arial" charset="0"/>
              </a:rPr>
              <a:t>m </a:t>
            </a:r>
            <a:r>
              <a:rPr lang="en-US" dirty="0" err="1">
                <a:latin typeface="Arial" charset="0"/>
                <a:cs typeface="Arial" charset="0"/>
              </a:rPr>
              <a:t>sinh</a:t>
            </a:r>
            <a:r>
              <a:rPr lang="en-US" dirty="0">
                <a:latin typeface="Arial" charset="0"/>
                <a:cs typeface="Arial" charset="0"/>
              </a:rPr>
              <a:t> </a:t>
            </a:r>
            <a:r>
              <a:rPr lang="en-US" dirty="0" err="1">
                <a:latin typeface="Arial" charset="0"/>
                <a:cs typeface="Arial" charset="0"/>
              </a:rPr>
              <a:t>của</a:t>
            </a:r>
            <a:r>
              <a:rPr lang="en-US" dirty="0">
                <a:latin typeface="Arial" charset="0"/>
                <a:cs typeface="Arial" charset="0"/>
              </a:rPr>
              <a:t> </a:t>
            </a:r>
            <a:r>
              <a:rPr lang="en-US" dirty="0" err="1">
                <a:latin typeface="Arial" charset="0"/>
                <a:cs typeface="Arial" charset="0"/>
              </a:rPr>
              <a:t>một</a:t>
            </a:r>
            <a:r>
              <a:rPr lang="en-US" dirty="0">
                <a:latin typeface="Arial" charset="0"/>
                <a:cs typeface="Arial" charset="0"/>
              </a:rPr>
              <a:t> ng</a:t>
            </a:r>
            <a:r>
              <a:rPr lang="vi-VN" dirty="0">
                <a:latin typeface="Arial" charset="0"/>
                <a:cs typeface="Arial" charset="0"/>
              </a:rPr>
              <a:t>ườ</a:t>
            </a:r>
            <a:r>
              <a:rPr lang="en-US" dirty="0" err="1">
                <a:latin typeface="Arial" charset="0"/>
                <a:cs typeface="Arial" charset="0"/>
              </a:rPr>
              <a:t>i</a:t>
            </a:r>
            <a:r>
              <a:rPr lang="en-US" dirty="0">
                <a:latin typeface="Arial" charset="0"/>
                <a:cs typeface="Arial" charset="0"/>
              </a:rPr>
              <a:t> </a:t>
            </a:r>
            <a:r>
              <a:rPr lang="en-US" dirty="0" err="1">
                <a:latin typeface="Arial" charset="0"/>
                <a:cs typeface="Arial" charset="0"/>
              </a:rPr>
              <a:t>và</a:t>
            </a:r>
            <a:r>
              <a:rPr lang="en-US" dirty="0">
                <a:latin typeface="Arial" charset="0"/>
                <a:cs typeface="Arial" charset="0"/>
              </a:rPr>
              <a:t> </a:t>
            </a:r>
            <a:r>
              <a:rPr lang="en-US" dirty="0" err="1">
                <a:latin typeface="Arial" charset="0"/>
                <a:cs typeface="Arial" charset="0"/>
              </a:rPr>
              <a:t>tính</a:t>
            </a:r>
            <a:r>
              <a:rPr lang="en-US" dirty="0">
                <a:latin typeface="Arial" charset="0"/>
                <a:cs typeface="Arial" charset="0"/>
              </a:rPr>
              <a:t> </a:t>
            </a:r>
            <a:r>
              <a:rPr lang="en-US" dirty="0" err="1">
                <a:latin typeface="Arial" charset="0"/>
                <a:cs typeface="Arial" charset="0"/>
              </a:rPr>
              <a:t>tuổi</a:t>
            </a:r>
            <a:r>
              <a:rPr lang="en-US" dirty="0">
                <a:latin typeface="Arial" charset="0"/>
                <a:cs typeface="Arial" charset="0"/>
              </a:rPr>
              <a:t> </a:t>
            </a:r>
            <a:r>
              <a:rPr lang="en-US" dirty="0" err="1">
                <a:latin typeface="Arial" charset="0"/>
                <a:cs typeface="Arial" charset="0"/>
              </a:rPr>
              <a:t>của</a:t>
            </a:r>
            <a:r>
              <a:rPr lang="en-US" dirty="0">
                <a:latin typeface="Arial" charset="0"/>
                <a:cs typeface="Arial" charset="0"/>
              </a:rPr>
              <a:t>  ng</a:t>
            </a:r>
            <a:r>
              <a:rPr lang="vi-VN" dirty="0">
                <a:latin typeface="Arial" charset="0"/>
                <a:cs typeface="Arial" charset="0"/>
              </a:rPr>
              <a:t>ườ</a:t>
            </a:r>
            <a:r>
              <a:rPr lang="en-US" dirty="0" err="1">
                <a:latin typeface="Arial" charset="0"/>
                <a:cs typeface="Arial" charset="0"/>
              </a:rPr>
              <a:t>i</a:t>
            </a:r>
            <a:r>
              <a:rPr lang="en-US" dirty="0">
                <a:latin typeface="Arial" charset="0"/>
                <a:cs typeface="Arial" charset="0"/>
              </a:rPr>
              <a:t> </a:t>
            </a:r>
            <a:r>
              <a:rPr lang="vi-VN" dirty="0">
                <a:latin typeface="Arial" charset="0"/>
                <a:cs typeface="Arial" charset="0"/>
              </a:rPr>
              <a:t>đó</a:t>
            </a:r>
            <a:r>
              <a:rPr lang="en-US" dirty="0">
                <a:latin typeface="Arial" charset="0"/>
                <a:cs typeface="Arial" charset="0"/>
              </a:rPr>
              <a:t>.</a:t>
            </a:r>
          </a:p>
          <a:p>
            <a:pPr marL="514350" indent="-514350">
              <a:buFont typeface="Verdana" pitchFamily="34" charset="0"/>
              <a:buAutoNum type="arabicPeriod" startAt="6"/>
            </a:pPr>
            <a:r>
              <a:rPr lang="en-US" dirty="0" err="1">
                <a:latin typeface="Arial" charset="0"/>
                <a:cs typeface="Arial" charset="0"/>
              </a:rPr>
              <a:t>Nhập</a:t>
            </a:r>
            <a:r>
              <a:rPr lang="en-US" dirty="0">
                <a:latin typeface="Arial" charset="0"/>
                <a:cs typeface="Arial" charset="0"/>
              </a:rPr>
              <a:t> 2 </a:t>
            </a:r>
            <a:r>
              <a:rPr lang="en-US" dirty="0" err="1">
                <a:latin typeface="Arial" charset="0"/>
                <a:cs typeface="Arial" charset="0"/>
              </a:rPr>
              <a:t>số</a:t>
            </a:r>
            <a:r>
              <a:rPr lang="en-US" dirty="0">
                <a:latin typeface="Arial" charset="0"/>
                <a:cs typeface="Arial" charset="0"/>
              </a:rPr>
              <a:t> a </a:t>
            </a:r>
            <a:r>
              <a:rPr lang="en-US" dirty="0" err="1">
                <a:latin typeface="Arial" charset="0"/>
                <a:cs typeface="Arial" charset="0"/>
              </a:rPr>
              <a:t>và</a:t>
            </a:r>
            <a:r>
              <a:rPr lang="en-US" dirty="0">
                <a:latin typeface="Arial" charset="0"/>
                <a:cs typeface="Arial" charset="0"/>
              </a:rPr>
              <a:t> b. </a:t>
            </a:r>
            <a:r>
              <a:rPr lang="en-US" dirty="0" err="1">
                <a:latin typeface="Arial" charset="0"/>
                <a:cs typeface="Arial" charset="0"/>
              </a:rPr>
              <a:t>Tính</a:t>
            </a:r>
            <a:r>
              <a:rPr lang="en-US" dirty="0">
                <a:latin typeface="Arial" charset="0"/>
                <a:cs typeface="Arial" charset="0"/>
              </a:rPr>
              <a:t> </a:t>
            </a:r>
            <a:r>
              <a:rPr lang="en-US" dirty="0" err="1">
                <a:latin typeface="Arial" charset="0"/>
                <a:cs typeface="Arial" charset="0"/>
              </a:rPr>
              <a:t>tổng</a:t>
            </a:r>
            <a:r>
              <a:rPr lang="en-US" dirty="0">
                <a:latin typeface="Arial" charset="0"/>
                <a:cs typeface="Arial" charset="0"/>
              </a:rPr>
              <a:t>, </a:t>
            </a:r>
            <a:r>
              <a:rPr lang="en-US" dirty="0" err="1">
                <a:latin typeface="Arial" charset="0"/>
                <a:cs typeface="Arial" charset="0"/>
              </a:rPr>
              <a:t>hiệu</a:t>
            </a:r>
            <a:r>
              <a:rPr lang="en-US" dirty="0">
                <a:latin typeface="Arial" charset="0"/>
                <a:cs typeface="Arial" charset="0"/>
              </a:rPr>
              <a:t>, </a:t>
            </a:r>
            <a:r>
              <a:rPr lang="en-US">
                <a:latin typeface="Arial" charset="0"/>
                <a:cs typeface="Arial" charset="0"/>
              </a:rPr>
              <a:t>tích</a:t>
            </a:r>
            <a:r>
              <a:rPr lang="en-US" dirty="0">
                <a:latin typeface="Arial" charset="0"/>
                <a:cs typeface="Arial" charset="0"/>
              </a:rPr>
              <a:t> </a:t>
            </a:r>
            <a:r>
              <a:rPr lang="en-US" dirty="0" err="1">
                <a:latin typeface="Arial" charset="0"/>
                <a:cs typeface="Arial" charset="0"/>
              </a:rPr>
              <a:t>và</a:t>
            </a:r>
            <a:r>
              <a:rPr lang="en-US" dirty="0">
                <a:latin typeface="Arial" charset="0"/>
                <a:cs typeface="Arial" charset="0"/>
              </a:rPr>
              <a:t> </a:t>
            </a:r>
            <a:r>
              <a:rPr lang="en-US" dirty="0" err="1">
                <a:latin typeface="Arial" charset="0"/>
                <a:cs typeface="Arial" charset="0"/>
              </a:rPr>
              <a:t>th</a:t>
            </a:r>
            <a:r>
              <a:rPr lang="vi-VN" dirty="0">
                <a:latin typeface="Arial" charset="0"/>
                <a:cs typeface="Arial" charset="0"/>
              </a:rPr>
              <a:t>ươ</a:t>
            </a:r>
            <a:r>
              <a:rPr lang="en-US" dirty="0">
                <a:latin typeface="Arial" charset="0"/>
                <a:cs typeface="Arial" charset="0"/>
              </a:rPr>
              <a:t>ng </a:t>
            </a:r>
            <a:r>
              <a:rPr lang="en-US" dirty="0" err="1">
                <a:latin typeface="Arial" charset="0"/>
                <a:cs typeface="Arial" charset="0"/>
              </a:rPr>
              <a:t>của</a:t>
            </a:r>
            <a:r>
              <a:rPr lang="en-US" dirty="0">
                <a:latin typeface="Arial" charset="0"/>
                <a:cs typeface="Arial" charset="0"/>
              </a:rPr>
              <a:t> </a:t>
            </a:r>
            <a:r>
              <a:rPr lang="en-US" dirty="0" err="1">
                <a:latin typeface="Arial" charset="0"/>
                <a:cs typeface="Arial" charset="0"/>
              </a:rPr>
              <a:t>hai</a:t>
            </a:r>
            <a:r>
              <a:rPr lang="en-US" dirty="0">
                <a:latin typeface="Arial" charset="0"/>
                <a:cs typeface="Arial" charset="0"/>
              </a:rPr>
              <a:t> </a:t>
            </a:r>
            <a:r>
              <a:rPr lang="en-US" dirty="0" err="1">
                <a:latin typeface="Arial" charset="0"/>
                <a:cs typeface="Arial" charset="0"/>
              </a:rPr>
              <a:t>số</a:t>
            </a:r>
            <a:r>
              <a:rPr lang="en-US" dirty="0">
                <a:latin typeface="Arial" charset="0"/>
                <a:cs typeface="Arial" charset="0"/>
              </a:rPr>
              <a:t> </a:t>
            </a:r>
            <a:r>
              <a:rPr lang="vi-VN" dirty="0">
                <a:latin typeface="Arial" charset="0"/>
                <a:cs typeface="Arial" charset="0"/>
              </a:rPr>
              <a:t>đó</a:t>
            </a:r>
            <a:r>
              <a:rPr lang="en-US" dirty="0">
                <a:latin typeface="Arial" charset="0"/>
                <a:cs typeface="Arial" charset="0"/>
              </a:rPr>
              <a:t>.</a:t>
            </a:r>
          </a:p>
          <a:p>
            <a:pPr marL="514350" indent="-514350">
              <a:buFont typeface="Verdana" pitchFamily="34" charset="0"/>
              <a:buAutoNum type="arabicPeriod" startAt="6"/>
            </a:pPr>
            <a:r>
              <a:rPr lang="en-US" dirty="0" err="1">
                <a:latin typeface="Arial" charset="0"/>
                <a:cs typeface="Arial" charset="0"/>
              </a:rPr>
              <a:t>Nhập</a:t>
            </a:r>
            <a:r>
              <a:rPr lang="en-US" dirty="0">
                <a:latin typeface="Arial" charset="0"/>
                <a:cs typeface="Arial" charset="0"/>
              </a:rPr>
              <a:t> </a:t>
            </a:r>
            <a:r>
              <a:rPr lang="en-US" dirty="0" err="1">
                <a:latin typeface="Arial" charset="0"/>
                <a:cs typeface="Arial" charset="0"/>
              </a:rPr>
              <a:t>số</a:t>
            </a:r>
            <a:r>
              <a:rPr lang="en-US" dirty="0">
                <a:latin typeface="Arial" charset="0"/>
                <a:cs typeface="Arial" charset="0"/>
              </a:rPr>
              <a:t> l</a:t>
            </a:r>
            <a:r>
              <a:rPr lang="vi-VN" dirty="0">
                <a:latin typeface="Arial" charset="0"/>
                <a:cs typeface="Arial" charset="0"/>
              </a:rPr>
              <a:t>ượ</a:t>
            </a:r>
            <a:r>
              <a:rPr lang="en-US" dirty="0">
                <a:latin typeface="Arial" charset="0"/>
                <a:cs typeface="Arial" charset="0"/>
              </a:rPr>
              <a:t>ng </a:t>
            </a:r>
            <a:r>
              <a:rPr lang="en-US" dirty="0" err="1">
                <a:latin typeface="Arial" charset="0"/>
                <a:cs typeface="Arial" charset="0"/>
              </a:rPr>
              <a:t>và</a:t>
            </a:r>
            <a:r>
              <a:rPr lang="en-US" dirty="0">
                <a:latin typeface="Arial" charset="0"/>
                <a:cs typeface="Arial" charset="0"/>
              </a:rPr>
              <a:t> </a:t>
            </a:r>
            <a:r>
              <a:rPr lang="vi-VN" dirty="0">
                <a:latin typeface="Arial" charset="0"/>
                <a:cs typeface="Arial" charset="0"/>
              </a:rPr>
              <a:t>đơ</a:t>
            </a:r>
            <a:r>
              <a:rPr lang="en-US" dirty="0">
                <a:latin typeface="Arial" charset="0"/>
                <a:cs typeface="Arial" charset="0"/>
              </a:rPr>
              <a:t>n </a:t>
            </a:r>
            <a:r>
              <a:rPr lang="en-US" dirty="0" err="1">
                <a:latin typeface="Arial" charset="0"/>
                <a:cs typeface="Arial" charset="0"/>
              </a:rPr>
              <a:t>giá</a:t>
            </a:r>
            <a:r>
              <a:rPr lang="en-US" dirty="0">
                <a:latin typeface="Arial" charset="0"/>
                <a:cs typeface="Arial" charset="0"/>
              </a:rPr>
              <a:t>. </a:t>
            </a:r>
            <a:r>
              <a:rPr lang="en-US" dirty="0" err="1">
                <a:latin typeface="Arial" charset="0"/>
                <a:cs typeface="Arial" charset="0"/>
              </a:rPr>
              <a:t>Tính</a:t>
            </a:r>
            <a:r>
              <a:rPr lang="en-US" dirty="0">
                <a:latin typeface="Arial" charset="0"/>
                <a:cs typeface="Arial" charset="0"/>
              </a:rPr>
              <a:t> </a:t>
            </a:r>
            <a:r>
              <a:rPr lang="en-US" dirty="0" err="1">
                <a:latin typeface="Arial" charset="0"/>
                <a:cs typeface="Arial" charset="0"/>
              </a:rPr>
              <a:t>tiền</a:t>
            </a:r>
            <a:r>
              <a:rPr lang="en-US" dirty="0">
                <a:latin typeface="Arial" charset="0"/>
                <a:cs typeface="Arial" charset="0"/>
              </a:rPr>
              <a:t> </a:t>
            </a:r>
            <a:r>
              <a:rPr lang="en-US" dirty="0" err="1">
                <a:latin typeface="Arial" charset="0"/>
                <a:cs typeface="Arial" charset="0"/>
              </a:rPr>
              <a:t>và</a:t>
            </a:r>
            <a:r>
              <a:rPr lang="en-US" dirty="0">
                <a:latin typeface="Arial" charset="0"/>
                <a:cs typeface="Arial" charset="0"/>
              </a:rPr>
              <a:t> </a:t>
            </a:r>
            <a:r>
              <a:rPr lang="en-US" dirty="0" err="1">
                <a:latin typeface="Arial" charset="0"/>
                <a:cs typeface="Arial" charset="0"/>
              </a:rPr>
              <a:t>thuế</a:t>
            </a:r>
            <a:r>
              <a:rPr lang="en-US" dirty="0">
                <a:latin typeface="Arial" charset="0"/>
                <a:cs typeface="Arial" charset="0"/>
              </a:rPr>
              <a:t> </a:t>
            </a:r>
            <a:r>
              <a:rPr lang="en-US" dirty="0" err="1">
                <a:latin typeface="Arial" charset="0"/>
                <a:cs typeface="Arial" charset="0"/>
              </a:rPr>
              <a:t>giá</a:t>
            </a:r>
            <a:r>
              <a:rPr lang="en-US" dirty="0">
                <a:latin typeface="Arial" charset="0"/>
                <a:cs typeface="Arial" charset="0"/>
              </a:rPr>
              <a:t> </a:t>
            </a:r>
            <a:r>
              <a:rPr lang="en-US" dirty="0" err="1">
                <a:latin typeface="Arial" charset="0"/>
                <a:cs typeface="Arial" charset="0"/>
              </a:rPr>
              <a:t>trị</a:t>
            </a:r>
            <a:r>
              <a:rPr lang="en-US" dirty="0">
                <a:latin typeface="Arial" charset="0"/>
                <a:cs typeface="Arial" charset="0"/>
              </a:rPr>
              <a:t> </a:t>
            </a:r>
            <a:r>
              <a:rPr lang="en-US" dirty="0" err="1">
                <a:latin typeface="Arial" charset="0"/>
                <a:cs typeface="Arial" charset="0"/>
              </a:rPr>
              <a:t>gia</a:t>
            </a:r>
            <a:r>
              <a:rPr lang="en-US" dirty="0">
                <a:latin typeface="Arial" charset="0"/>
                <a:cs typeface="Arial" charset="0"/>
              </a:rPr>
              <a:t> t</a:t>
            </a:r>
            <a:r>
              <a:rPr lang="vi-VN" dirty="0">
                <a:latin typeface="Arial" charset="0"/>
                <a:cs typeface="Arial" charset="0"/>
              </a:rPr>
              <a:t>ă</a:t>
            </a:r>
            <a:r>
              <a:rPr lang="en-US" dirty="0">
                <a:latin typeface="Arial" charset="0"/>
                <a:cs typeface="Arial" charset="0"/>
              </a:rPr>
              <a:t>ng </a:t>
            </a:r>
            <a:r>
              <a:rPr lang="en-US" dirty="0" err="1">
                <a:latin typeface="Arial" charset="0"/>
                <a:cs typeface="Arial" charset="0"/>
              </a:rPr>
              <a:t>phải</a:t>
            </a:r>
            <a:r>
              <a:rPr lang="en-US" dirty="0">
                <a:latin typeface="Arial" charset="0"/>
                <a:cs typeface="Arial" charset="0"/>
              </a:rPr>
              <a:t> </a:t>
            </a:r>
            <a:r>
              <a:rPr lang="en-US" dirty="0" err="1">
                <a:latin typeface="Arial" charset="0"/>
                <a:cs typeface="Arial" charset="0"/>
              </a:rPr>
              <a:t>trả</a:t>
            </a:r>
            <a:r>
              <a:rPr lang="en-US" dirty="0">
                <a:latin typeface="Arial" charset="0"/>
                <a:cs typeface="Arial" charset="0"/>
              </a:rPr>
              <a:t>, </a:t>
            </a:r>
            <a:r>
              <a:rPr lang="en-US" dirty="0" err="1">
                <a:latin typeface="Arial" charset="0"/>
                <a:cs typeface="Arial" charset="0"/>
              </a:rPr>
              <a:t>biết</a:t>
            </a:r>
            <a:r>
              <a:rPr lang="en-US" dirty="0">
                <a:latin typeface="Arial" charset="0"/>
                <a:cs typeface="Arial" charset="0"/>
              </a:rPr>
              <a:t>:</a:t>
            </a:r>
          </a:p>
          <a:p>
            <a:pPr marL="914400" lvl="1" indent="-514350">
              <a:buFont typeface="Verdana" pitchFamily="34" charset="0"/>
              <a:buAutoNum type="alphaLcPeriod"/>
            </a:pPr>
            <a:r>
              <a:rPr lang="en-US" dirty="0" err="1">
                <a:latin typeface="Arial" charset="0"/>
                <a:cs typeface="Arial" charset="0"/>
              </a:rPr>
              <a:t>tiền</a:t>
            </a:r>
            <a:r>
              <a:rPr lang="en-US" dirty="0">
                <a:latin typeface="Arial" charset="0"/>
                <a:cs typeface="Arial" charset="0"/>
              </a:rPr>
              <a:t> = </a:t>
            </a:r>
            <a:r>
              <a:rPr lang="en-US" dirty="0" err="1">
                <a:latin typeface="Arial" charset="0"/>
                <a:cs typeface="Arial" charset="0"/>
              </a:rPr>
              <a:t>số</a:t>
            </a:r>
            <a:r>
              <a:rPr lang="en-US" dirty="0">
                <a:latin typeface="Arial" charset="0"/>
                <a:cs typeface="Arial" charset="0"/>
              </a:rPr>
              <a:t> l</a:t>
            </a:r>
            <a:r>
              <a:rPr lang="vi-VN" dirty="0">
                <a:latin typeface="Arial" charset="0"/>
                <a:cs typeface="Arial" charset="0"/>
              </a:rPr>
              <a:t>ượ</a:t>
            </a:r>
            <a:r>
              <a:rPr lang="en-US" dirty="0">
                <a:latin typeface="Arial" charset="0"/>
                <a:cs typeface="Arial" charset="0"/>
              </a:rPr>
              <a:t>ng * </a:t>
            </a:r>
            <a:r>
              <a:rPr lang="vi-VN" dirty="0">
                <a:latin typeface="Arial" charset="0"/>
                <a:cs typeface="Arial" charset="0"/>
              </a:rPr>
              <a:t>đơ</a:t>
            </a:r>
            <a:r>
              <a:rPr lang="en-US" dirty="0">
                <a:latin typeface="Arial" charset="0"/>
                <a:cs typeface="Arial" charset="0"/>
              </a:rPr>
              <a:t>n </a:t>
            </a:r>
            <a:r>
              <a:rPr lang="en-US" dirty="0" err="1">
                <a:latin typeface="Arial" charset="0"/>
                <a:cs typeface="Arial" charset="0"/>
              </a:rPr>
              <a:t>giá</a:t>
            </a:r>
            <a:endParaRPr lang="en-US" dirty="0">
              <a:latin typeface="Arial" charset="0"/>
              <a:cs typeface="Arial" charset="0"/>
            </a:endParaRPr>
          </a:p>
          <a:p>
            <a:pPr marL="914400" lvl="1" indent="-514350">
              <a:buFont typeface="Verdana" pitchFamily="34" charset="0"/>
              <a:buAutoNum type="alphaLcPeriod"/>
            </a:pPr>
            <a:r>
              <a:rPr lang="en-US" dirty="0" err="1">
                <a:latin typeface="Arial" charset="0"/>
                <a:cs typeface="Arial" charset="0"/>
              </a:rPr>
              <a:t>thuế</a:t>
            </a:r>
            <a:r>
              <a:rPr lang="en-US" dirty="0">
                <a:latin typeface="Arial" charset="0"/>
                <a:cs typeface="Arial" charset="0"/>
              </a:rPr>
              <a:t> </a:t>
            </a:r>
            <a:r>
              <a:rPr lang="en-US" dirty="0" err="1">
                <a:latin typeface="Arial" charset="0"/>
                <a:cs typeface="Arial" charset="0"/>
              </a:rPr>
              <a:t>giá</a:t>
            </a:r>
            <a:r>
              <a:rPr lang="en-US" dirty="0">
                <a:latin typeface="Arial" charset="0"/>
                <a:cs typeface="Arial" charset="0"/>
              </a:rPr>
              <a:t> </a:t>
            </a:r>
            <a:r>
              <a:rPr lang="en-US" dirty="0" err="1">
                <a:latin typeface="Arial" charset="0"/>
                <a:cs typeface="Arial" charset="0"/>
              </a:rPr>
              <a:t>trị</a:t>
            </a:r>
            <a:r>
              <a:rPr lang="en-US" dirty="0">
                <a:latin typeface="Arial" charset="0"/>
                <a:cs typeface="Arial" charset="0"/>
              </a:rPr>
              <a:t> </a:t>
            </a:r>
            <a:r>
              <a:rPr lang="en-US" dirty="0" err="1">
                <a:latin typeface="Arial" charset="0"/>
                <a:cs typeface="Arial" charset="0"/>
              </a:rPr>
              <a:t>gia</a:t>
            </a:r>
            <a:r>
              <a:rPr lang="en-US" dirty="0">
                <a:latin typeface="Arial" charset="0"/>
                <a:cs typeface="Arial" charset="0"/>
              </a:rPr>
              <a:t> t</a:t>
            </a:r>
            <a:r>
              <a:rPr lang="vi-VN" dirty="0">
                <a:latin typeface="Arial" charset="0"/>
                <a:cs typeface="Arial" charset="0"/>
              </a:rPr>
              <a:t>ă</a:t>
            </a:r>
            <a:r>
              <a:rPr lang="en-US" dirty="0">
                <a:latin typeface="Arial" charset="0"/>
                <a:cs typeface="Arial" charset="0"/>
              </a:rPr>
              <a:t>ng = 10% </a:t>
            </a:r>
            <a:r>
              <a:rPr lang="en-US" dirty="0" err="1">
                <a:latin typeface="Arial" charset="0"/>
                <a:cs typeface="Arial" charset="0"/>
              </a:rPr>
              <a:t>tiền</a:t>
            </a:r>
            <a:endParaRPr lang="en-US" dirty="0">
              <a:latin typeface="Arial" charset="0"/>
              <a:cs typeface="Arial" charset="0"/>
            </a:endParaRPr>
          </a:p>
        </p:txBody>
      </p:sp>
      <p:sp>
        <p:nvSpPr>
          <p:cNvPr id="55300" name="Footer Placeholder 2"/>
          <p:cNvSpPr>
            <a:spLocks noGrp="1"/>
          </p:cNvSpPr>
          <p:nvPr>
            <p:ph type="ftr" sz="quarter" idx="11"/>
          </p:nvPr>
        </p:nvSpPr>
        <p:spPr>
          <a:noFill/>
        </p:spPr>
        <p:txBody>
          <a:bodyPr/>
          <a:lstStyle/>
          <a:p>
            <a:r>
              <a:rPr lang="vi-VN"/>
              <a:t>Chương 2 - Các phần tử cơ bản của ngôn ngữ C</a:t>
            </a:r>
            <a:endParaRPr lang="en-US"/>
          </a:p>
        </p:txBody>
      </p:sp>
      <p:pic>
        <p:nvPicPr>
          <p:cNvPr id="55301" name="Picture 4" descr="question_pop_up_from_box_hg_clr"/>
          <p:cNvPicPr>
            <a:picLocks noChangeAspect="1" noChangeArrowheads="1" noCrop="1"/>
          </p:cNvPicPr>
          <p:nvPr/>
        </p:nvPicPr>
        <p:blipFill>
          <a:blip r:embed="rId3"/>
          <a:srcRect/>
          <a:stretch>
            <a:fillRect/>
          </a:stretch>
        </p:blipFill>
        <p:spPr bwMode="auto">
          <a:xfrm>
            <a:off x="7478713" y="3962400"/>
            <a:ext cx="1665287" cy="2286000"/>
          </a:xfrm>
          <a:prstGeom prst="rect">
            <a:avLst/>
          </a:prstGeom>
          <a:noFill/>
          <a:ln w="9525">
            <a:noFill/>
            <a:miter lim="800000"/>
            <a:headEnd/>
            <a:tailEnd/>
          </a:ln>
        </p:spPr>
      </p:pic>
      <p:pic>
        <p:nvPicPr>
          <p:cNvPr id="55302" name="Picture 6" descr="question_pop_up_from_box_rotate_hg_clr">
            <a:hlinkClick r:id="rId4" action="ppaction://hlinksldjump"/>
          </p:cNvPr>
          <p:cNvPicPr>
            <a:picLocks noChangeAspect="1" noChangeArrowheads="1" noCrop="1"/>
          </p:cNvPicPr>
          <p:nvPr/>
        </p:nvPicPr>
        <p:blipFill>
          <a:blip r:embed="rId5"/>
          <a:srcRect/>
          <a:stretch>
            <a:fillRect/>
          </a:stretch>
        </p:blipFill>
        <p:spPr bwMode="auto">
          <a:xfrm>
            <a:off x="152400" y="2438400"/>
            <a:ext cx="407988" cy="500063"/>
          </a:xfrm>
          <a:prstGeom prst="rect">
            <a:avLst/>
          </a:prstGeom>
          <a:noFill/>
          <a:ln w="9525">
            <a:noFill/>
            <a:miter lim="800000"/>
            <a:headEnd/>
            <a:tailEnd/>
          </a:ln>
        </p:spPr>
      </p:pic>
      <p:pic>
        <p:nvPicPr>
          <p:cNvPr id="55303" name="Picture 7" descr="question_pop_up_from_box_rotate_hg_clr">
            <a:hlinkClick r:id="rId6" action="ppaction://hlinksldjump"/>
          </p:cNvPr>
          <p:cNvPicPr>
            <a:picLocks noChangeAspect="1" noChangeArrowheads="1" noCrop="1"/>
          </p:cNvPicPr>
          <p:nvPr/>
        </p:nvPicPr>
        <p:blipFill>
          <a:blip r:embed="rId5"/>
          <a:srcRect/>
          <a:stretch>
            <a:fillRect/>
          </a:stretch>
        </p:blipFill>
        <p:spPr bwMode="auto">
          <a:xfrm>
            <a:off x="152400" y="1524000"/>
            <a:ext cx="407988" cy="500063"/>
          </a:xfrm>
          <a:prstGeom prst="rect">
            <a:avLst/>
          </a:prstGeom>
          <a:noFill/>
          <a:ln w="9525">
            <a:noFill/>
            <a:miter lim="800000"/>
            <a:headEnd/>
            <a:tailEnd/>
          </a:ln>
        </p:spPr>
      </p:pic>
      <p:pic>
        <p:nvPicPr>
          <p:cNvPr id="55304" name="Picture 8" descr="question_pop_up_from_box_rotate_hg_clr">
            <a:hlinkClick r:id="rId7" action="ppaction://hlinksldjump"/>
          </p:cNvPr>
          <p:cNvPicPr>
            <a:picLocks noChangeAspect="1" noChangeArrowheads="1" noCrop="1"/>
          </p:cNvPicPr>
          <p:nvPr/>
        </p:nvPicPr>
        <p:blipFill>
          <a:blip r:embed="rId5"/>
          <a:srcRect/>
          <a:stretch>
            <a:fillRect/>
          </a:stretch>
        </p:blipFill>
        <p:spPr bwMode="auto">
          <a:xfrm>
            <a:off x="152400" y="3352800"/>
            <a:ext cx="407988" cy="500063"/>
          </a:xfrm>
          <a:prstGeom prst="rect">
            <a:avLst/>
          </a:prstGeom>
          <a:noFill/>
          <a:ln w="9525">
            <a:noFill/>
            <a:miter lim="800000"/>
            <a:headEnd/>
            <a:tailEnd/>
          </a:ln>
        </p:spPr>
      </p:pic>
      <p:sp>
        <p:nvSpPr>
          <p:cNvPr id="2" name="Date Placeholder 1"/>
          <p:cNvSpPr>
            <a:spLocks noGrp="1"/>
          </p:cNvSpPr>
          <p:nvPr>
            <p:ph type="dt" sz="half" idx="10"/>
          </p:nvPr>
        </p:nvSpPr>
        <p:spPr/>
        <p:txBody>
          <a:bodyPr/>
          <a:lstStyle/>
          <a:p>
            <a:fld id="{DDBC1A0D-62E8-41D6-A62E-905ED550CBB1}" type="datetime1">
              <a:rPr lang="vi-VN" smtClean="0"/>
              <a:t>14/01/2024</a:t>
            </a:fld>
            <a:endParaRPr lang="vi-VN"/>
          </a:p>
        </p:txBody>
      </p:sp>
      <p:sp>
        <p:nvSpPr>
          <p:cNvPr id="7" name="Slide Number Placeholder 6"/>
          <p:cNvSpPr>
            <a:spLocks noGrp="1"/>
          </p:cNvSpPr>
          <p:nvPr>
            <p:ph type="sldNum" sz="quarter" idx="12"/>
          </p:nvPr>
        </p:nvSpPr>
        <p:spPr/>
        <p:txBody>
          <a:bodyPr/>
          <a:lstStyle/>
          <a:p>
            <a:fld id="{5AB95402-1E0D-474E-8D8C-CBE7F053639E}" type="slidenum">
              <a:rPr lang="vi-VN" smtClean="0"/>
              <a:pPr/>
              <a:t>58</a:t>
            </a:fld>
            <a:r>
              <a:rPr lang="vi-VN"/>
              <a:t>/59</a:t>
            </a:r>
          </a:p>
        </p:txBody>
      </p:sp>
    </p:spTree>
    <p:extLst>
      <p:ext uri="{BB962C8B-B14F-4D97-AF65-F5344CB8AC3E}">
        <p14:creationId xmlns:p14="http://schemas.microsoft.com/office/powerpoint/2010/main" val="26331609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t>Bài tập thực hành</a:t>
            </a:r>
          </a:p>
        </p:txBody>
      </p:sp>
      <p:sp>
        <p:nvSpPr>
          <p:cNvPr id="56323" name="Content Placeholder 4"/>
          <p:cNvSpPr>
            <a:spLocks noGrp="1"/>
          </p:cNvSpPr>
          <p:nvPr>
            <p:ph idx="1"/>
          </p:nvPr>
        </p:nvSpPr>
        <p:spPr/>
        <p:txBody>
          <a:bodyPr/>
          <a:lstStyle/>
          <a:p>
            <a:pPr marL="514350" indent="-514350">
              <a:buFont typeface="Verdana" pitchFamily="34" charset="0"/>
              <a:buAutoNum type="arabicPeriod" startAt="9"/>
            </a:pPr>
            <a:r>
              <a:rPr lang="en-US">
                <a:latin typeface="Arial" charset="0"/>
                <a:cs typeface="Arial" charset="0"/>
              </a:rPr>
              <a:t>Nhập </a:t>
            </a:r>
            <a:r>
              <a:rPr lang="vi-VN">
                <a:latin typeface="Arial" charset="0"/>
                <a:cs typeface="Arial" charset="0"/>
              </a:rPr>
              <a:t>đ</a:t>
            </a:r>
            <a:r>
              <a:rPr lang="en-US">
                <a:latin typeface="Arial" charset="0"/>
                <a:cs typeface="Arial" charset="0"/>
              </a:rPr>
              <a:t>iểm thi và hệ số  3 môn Toán, Lý, Hóa của một sinh viên. Tính </a:t>
            </a:r>
            <a:r>
              <a:rPr lang="vi-VN">
                <a:latin typeface="Arial" charset="0"/>
                <a:cs typeface="Arial" charset="0"/>
              </a:rPr>
              <a:t>đ</a:t>
            </a:r>
            <a:r>
              <a:rPr lang="en-US">
                <a:latin typeface="Arial" charset="0"/>
                <a:cs typeface="Arial" charset="0"/>
              </a:rPr>
              <a:t>iểm trung bình của sinh viên </a:t>
            </a:r>
            <a:r>
              <a:rPr lang="vi-VN">
                <a:latin typeface="Arial" charset="0"/>
                <a:cs typeface="Arial" charset="0"/>
              </a:rPr>
              <a:t>đó</a:t>
            </a:r>
            <a:r>
              <a:rPr lang="en-US">
                <a:latin typeface="Arial" charset="0"/>
                <a:cs typeface="Arial" charset="0"/>
              </a:rPr>
              <a:t>.</a:t>
            </a:r>
          </a:p>
          <a:p>
            <a:pPr marL="514350" indent="-514350">
              <a:buFont typeface="Verdana" pitchFamily="34" charset="0"/>
              <a:buAutoNum type="arabicPeriod" startAt="9"/>
            </a:pPr>
            <a:r>
              <a:rPr lang="en-US">
                <a:latin typeface="Arial" charset="0"/>
                <a:cs typeface="Arial" charset="0"/>
              </a:rPr>
              <a:t>Nhập bán kính của </a:t>
            </a:r>
            <a:r>
              <a:rPr lang="vi-VN">
                <a:latin typeface="Arial" charset="0"/>
                <a:cs typeface="Arial" charset="0"/>
              </a:rPr>
              <a:t>đườ</a:t>
            </a:r>
            <a:r>
              <a:rPr lang="en-US">
                <a:latin typeface="Arial" charset="0"/>
                <a:cs typeface="Arial" charset="0"/>
              </a:rPr>
              <a:t>ng tròn. Tính chu vi và diện tích của hình tròn </a:t>
            </a:r>
            <a:r>
              <a:rPr lang="vi-VN">
                <a:latin typeface="Arial" charset="0"/>
                <a:cs typeface="Arial" charset="0"/>
              </a:rPr>
              <a:t>đó</a:t>
            </a:r>
            <a:r>
              <a:rPr lang="en-US">
                <a:latin typeface="Arial" charset="0"/>
                <a:cs typeface="Arial" charset="0"/>
              </a:rPr>
              <a:t>.</a:t>
            </a:r>
          </a:p>
          <a:p>
            <a:pPr marL="514350" indent="-514350">
              <a:buFont typeface="Verdana" pitchFamily="34" charset="0"/>
              <a:buAutoNum type="arabicPeriod" startAt="9"/>
            </a:pPr>
            <a:r>
              <a:rPr lang="en-US">
                <a:latin typeface="Arial" charset="0"/>
                <a:cs typeface="Arial" charset="0"/>
              </a:rPr>
              <a:t>Nhập vào số xe (gồm 4 chữ số) của bạn. Cho biết số xe của bạn </a:t>
            </a:r>
            <a:r>
              <a:rPr lang="vi-VN">
                <a:latin typeface="Arial" charset="0"/>
                <a:cs typeface="Arial" charset="0"/>
              </a:rPr>
              <a:t>đượ</a:t>
            </a:r>
            <a:r>
              <a:rPr lang="en-US">
                <a:latin typeface="Arial" charset="0"/>
                <a:cs typeface="Arial" charset="0"/>
              </a:rPr>
              <a:t>c mấy nước?</a:t>
            </a:r>
          </a:p>
        </p:txBody>
      </p:sp>
      <p:sp>
        <p:nvSpPr>
          <p:cNvPr id="56324" name="Footer Placeholder 2"/>
          <p:cNvSpPr>
            <a:spLocks noGrp="1"/>
          </p:cNvSpPr>
          <p:nvPr>
            <p:ph type="ftr" sz="quarter" idx="11"/>
          </p:nvPr>
        </p:nvSpPr>
        <p:spPr>
          <a:noFill/>
        </p:spPr>
        <p:txBody>
          <a:bodyPr/>
          <a:lstStyle/>
          <a:p>
            <a:r>
              <a:rPr lang="vi-VN"/>
              <a:t>Chương 2 - Các phần tử cơ bản của ngôn ngữ C</a:t>
            </a:r>
            <a:endParaRPr lang="en-US"/>
          </a:p>
        </p:txBody>
      </p:sp>
      <p:pic>
        <p:nvPicPr>
          <p:cNvPr id="56325" name="Picture 4" descr="question_pop_up_from_box_hg_clr"/>
          <p:cNvPicPr>
            <a:picLocks noChangeAspect="1" noChangeArrowheads="1" noCrop="1"/>
          </p:cNvPicPr>
          <p:nvPr/>
        </p:nvPicPr>
        <p:blipFill>
          <a:blip r:embed="rId3"/>
          <a:srcRect/>
          <a:stretch>
            <a:fillRect/>
          </a:stretch>
        </p:blipFill>
        <p:spPr bwMode="auto">
          <a:xfrm>
            <a:off x="7478713" y="3962400"/>
            <a:ext cx="1665287" cy="2286000"/>
          </a:xfrm>
          <a:prstGeom prst="rect">
            <a:avLst/>
          </a:prstGeom>
          <a:noFill/>
          <a:ln w="9525">
            <a:noFill/>
            <a:miter lim="800000"/>
            <a:headEnd/>
            <a:tailEnd/>
          </a:ln>
        </p:spPr>
      </p:pic>
      <p:pic>
        <p:nvPicPr>
          <p:cNvPr id="56326" name="Picture 6" descr="question_pop_up_from_box_rotate_hg_clr">
            <a:hlinkClick r:id="rId4" action="ppaction://hlinksldjump"/>
          </p:cNvPr>
          <p:cNvPicPr>
            <a:picLocks noChangeAspect="1" noChangeArrowheads="1" noCrop="1"/>
          </p:cNvPicPr>
          <p:nvPr/>
        </p:nvPicPr>
        <p:blipFill>
          <a:blip r:embed="rId5"/>
          <a:srcRect/>
          <a:stretch>
            <a:fillRect/>
          </a:stretch>
        </p:blipFill>
        <p:spPr bwMode="auto">
          <a:xfrm>
            <a:off x="152400" y="2819400"/>
            <a:ext cx="407988" cy="500063"/>
          </a:xfrm>
          <a:prstGeom prst="rect">
            <a:avLst/>
          </a:prstGeom>
          <a:noFill/>
          <a:ln w="9525">
            <a:noFill/>
            <a:miter lim="800000"/>
            <a:headEnd/>
            <a:tailEnd/>
          </a:ln>
        </p:spPr>
      </p:pic>
      <p:pic>
        <p:nvPicPr>
          <p:cNvPr id="56327" name="Picture 7" descr="question_pop_up_from_box_rotate_hg_clr">
            <a:hlinkClick r:id="rId6" action="ppaction://hlinksldjump"/>
          </p:cNvPr>
          <p:cNvPicPr>
            <a:picLocks noChangeAspect="1" noChangeArrowheads="1" noCrop="1"/>
          </p:cNvPicPr>
          <p:nvPr/>
        </p:nvPicPr>
        <p:blipFill>
          <a:blip r:embed="rId5"/>
          <a:srcRect/>
          <a:stretch>
            <a:fillRect/>
          </a:stretch>
        </p:blipFill>
        <p:spPr bwMode="auto">
          <a:xfrm>
            <a:off x="152400" y="1524000"/>
            <a:ext cx="407988" cy="500063"/>
          </a:xfrm>
          <a:prstGeom prst="rect">
            <a:avLst/>
          </a:prstGeom>
          <a:noFill/>
          <a:ln w="9525">
            <a:noFill/>
            <a:miter lim="800000"/>
            <a:headEnd/>
            <a:tailEnd/>
          </a:ln>
        </p:spPr>
      </p:pic>
      <p:pic>
        <p:nvPicPr>
          <p:cNvPr id="56328" name="Picture 8" descr="question_pop_up_from_box_rotate_hg_clr">
            <a:hlinkClick r:id="rId7" action="ppaction://hlinksldjump"/>
          </p:cNvPr>
          <p:cNvPicPr>
            <a:picLocks noChangeAspect="1" noChangeArrowheads="1" noCrop="1"/>
          </p:cNvPicPr>
          <p:nvPr/>
        </p:nvPicPr>
        <p:blipFill>
          <a:blip r:embed="rId5"/>
          <a:srcRect/>
          <a:stretch>
            <a:fillRect/>
          </a:stretch>
        </p:blipFill>
        <p:spPr bwMode="auto">
          <a:xfrm>
            <a:off x="152400" y="3810000"/>
            <a:ext cx="407988" cy="500063"/>
          </a:xfrm>
          <a:prstGeom prst="rect">
            <a:avLst/>
          </a:prstGeom>
          <a:noFill/>
          <a:ln w="9525">
            <a:noFill/>
            <a:miter lim="800000"/>
            <a:headEnd/>
            <a:tailEnd/>
          </a:ln>
        </p:spPr>
      </p:pic>
      <p:sp>
        <p:nvSpPr>
          <p:cNvPr id="2" name="Date Placeholder 1"/>
          <p:cNvSpPr>
            <a:spLocks noGrp="1"/>
          </p:cNvSpPr>
          <p:nvPr>
            <p:ph type="dt" sz="half" idx="10"/>
          </p:nvPr>
        </p:nvSpPr>
        <p:spPr/>
        <p:txBody>
          <a:bodyPr/>
          <a:lstStyle/>
          <a:p>
            <a:fld id="{FB1568A7-8D2F-405C-A838-DCC37FB56A27}" type="datetime1">
              <a:rPr lang="vi-VN" smtClean="0"/>
              <a:t>14/01/2024</a:t>
            </a:fld>
            <a:endParaRPr lang="vi-VN"/>
          </a:p>
        </p:txBody>
      </p:sp>
      <p:sp>
        <p:nvSpPr>
          <p:cNvPr id="7" name="Slide Number Placeholder 6"/>
          <p:cNvSpPr>
            <a:spLocks noGrp="1"/>
          </p:cNvSpPr>
          <p:nvPr>
            <p:ph type="sldNum" sz="quarter" idx="12"/>
          </p:nvPr>
        </p:nvSpPr>
        <p:spPr/>
        <p:txBody>
          <a:bodyPr/>
          <a:lstStyle/>
          <a:p>
            <a:fld id="{5AB95402-1E0D-474E-8D8C-CBE7F053639E}" type="slidenum">
              <a:rPr lang="vi-VN" smtClean="0"/>
              <a:pPr/>
              <a:t>59</a:t>
            </a:fld>
            <a:r>
              <a:rPr lang="vi-VN"/>
              <a:t>/59</a:t>
            </a:r>
          </a:p>
        </p:txBody>
      </p:sp>
    </p:spTree>
    <p:extLst>
      <p:ext uri="{BB962C8B-B14F-4D97-AF65-F5344CB8AC3E}">
        <p14:creationId xmlns:p14="http://schemas.microsoft.com/office/powerpoint/2010/main" val="3166783407"/>
      </p:ext>
    </p:extLst>
  </p:cSld>
  <p:clrMapOvr>
    <a:masterClrMapping/>
  </p:clrMapOvr>
</p:sld>
</file>

<file path=ppt/theme/theme1.xml><?xml version="1.0" encoding="utf-8"?>
<a:theme xmlns:a="http://schemas.openxmlformats.org/drawingml/2006/main" name="MM_Lec1">
  <a:themeElements>
    <a:clrScheme name="Custom 1">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92D05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Chuong 3-Mang may tinh</Template>
  <TotalTime>17995</TotalTime>
  <Words>6698</Words>
  <Application>Microsoft Office PowerPoint</Application>
  <PresentationFormat>On-screen Show (4:3)</PresentationFormat>
  <Paragraphs>1087</Paragraphs>
  <Slides>59</Slides>
  <Notes>36</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Arial</vt:lpstr>
      <vt:lpstr>Calibri</vt:lpstr>
      <vt:lpstr>Courier New</vt:lpstr>
      <vt:lpstr>Tahoma</vt:lpstr>
      <vt:lpstr>Verdana</vt:lpstr>
      <vt:lpstr>Wingdings</vt:lpstr>
      <vt:lpstr>MM_Lec1</vt:lpstr>
      <vt:lpstr>Chương 2 CÁC PHẦN TỬ CƠ BẢN CỦA NGÔN NGỮ C</vt:lpstr>
      <vt:lpstr>Nội dung</vt:lpstr>
      <vt:lpstr>1. Các thành phần cơ bản</vt:lpstr>
      <vt:lpstr>1. Các thành phần cơ bản (tt)</vt:lpstr>
      <vt:lpstr>1. Các thành phần cơ bản (tt)</vt:lpstr>
      <vt:lpstr>1. Các thành phần cơ bản (tt)</vt:lpstr>
      <vt:lpstr>1. Các thành phần cơ bản (tt)</vt:lpstr>
      <vt:lpstr>2. Cấu trúc chung chương trình C </vt:lpstr>
      <vt:lpstr>Ví dụ chương trình C</vt:lpstr>
      <vt:lpstr>Ví dụ chương trình C</vt:lpstr>
      <vt:lpstr>Một số quy tắc khi viết chương trình</vt:lpstr>
      <vt:lpstr>3. Các kiểu dữ liệu cơ sở</vt:lpstr>
      <vt:lpstr>Các kiểu dữ liệu cơ sở</vt:lpstr>
      <vt:lpstr>Kiểu số nguyên</vt:lpstr>
      <vt:lpstr>Kiểu số nguyên (tt)</vt:lpstr>
      <vt:lpstr>Kiểu số nguyên (tt)</vt:lpstr>
      <vt:lpstr>Kiểu số nguyên (tt)</vt:lpstr>
      <vt:lpstr>Kiểu số thực</vt:lpstr>
      <vt:lpstr>Kiểu số thực</vt:lpstr>
      <vt:lpstr>Kiểu ký tự</vt:lpstr>
      <vt:lpstr>Kiểu ký tự (tt)</vt:lpstr>
      <vt:lpstr>Kiểu ký tự (tt)</vt:lpstr>
      <vt:lpstr>Kiểu Boolean</vt:lpstr>
      <vt:lpstr>Biến</vt:lpstr>
      <vt:lpstr>Hằng</vt:lpstr>
      <vt:lpstr>Hằng (tt)</vt:lpstr>
      <vt:lpstr>4. Câu lệnh – Biểu thức</vt:lpstr>
      <vt:lpstr>Câu lệnh</vt:lpstr>
      <vt:lpstr>Câu lệnh (tt)</vt:lpstr>
      <vt:lpstr>Phép gán</vt:lpstr>
      <vt:lpstr>Sự hiệu chỉnh dữ liệu khi tính toán</vt:lpstr>
      <vt:lpstr>5. Thứ tự ưu tiên các phép toán</vt:lpstr>
      <vt:lpstr>Các toán tử toán học</vt:lpstr>
      <vt:lpstr>Phép gán mở rộng</vt:lpstr>
      <vt:lpstr>Các toán tử trên bit</vt:lpstr>
      <vt:lpstr>Các toán tử trên bit</vt:lpstr>
      <vt:lpstr>Các toán tử quan hệ</vt:lpstr>
      <vt:lpstr>Các toán tử logic</vt:lpstr>
      <vt:lpstr>Toán tử điều kiện</vt:lpstr>
      <vt:lpstr>Toán tử phẩy</vt:lpstr>
      <vt:lpstr>Độ ưu tiên của các toán tử</vt:lpstr>
      <vt:lpstr>Độ ưu tiên của các toán tử</vt:lpstr>
      <vt:lpstr>Viết biểu thức cho các mệnh đề</vt:lpstr>
      <vt:lpstr>6. Sử dụng môi trường làm việc C</vt:lpstr>
      <vt:lpstr>Sử dụng môi trường làm việc C (tt)</vt:lpstr>
      <vt:lpstr>7. Vào – Ra dữ liệu trong C</vt:lpstr>
      <vt:lpstr>Mã quy cách</vt:lpstr>
      <vt:lpstr>Mã quy cách (tt)</vt:lpstr>
      <vt:lpstr>Mã quy cách (tt) hoc vien</vt:lpstr>
      <vt:lpstr>Mã quy cách (tt)</vt:lpstr>
      <vt:lpstr>Định dạng xuất</vt:lpstr>
      <vt:lpstr>Mã quy cách (tt)</vt:lpstr>
      <vt:lpstr>Nhập dữ liệu</vt:lpstr>
      <vt:lpstr>Nhập dữ liệu (tt)</vt:lpstr>
      <vt:lpstr>Nhập dữ liệu (tt)</vt:lpstr>
      <vt:lpstr>Trình bày màn hình</vt:lpstr>
      <vt:lpstr>Bài tập lý thuyết</vt:lpstr>
      <vt:lpstr>Bài tập thực hành</vt:lpstr>
      <vt:lpstr>Bài tập thực hành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Le Cam Tu</cp:lastModifiedBy>
  <cp:revision>146</cp:revision>
  <dcterms:created xsi:type="dcterms:W3CDTF">2011-07-17T01:46:34Z</dcterms:created>
  <dcterms:modified xsi:type="dcterms:W3CDTF">2024-01-14T12:58:48Z</dcterms:modified>
</cp:coreProperties>
</file>