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9"/>
  </p:notesMasterIdLst>
  <p:sldIdLst>
    <p:sldId id="256" r:id="rId2"/>
    <p:sldId id="258" r:id="rId3"/>
    <p:sldId id="259" r:id="rId4"/>
    <p:sldId id="263" r:id="rId5"/>
    <p:sldId id="290" r:id="rId6"/>
    <p:sldId id="291" r:id="rId7"/>
    <p:sldId id="292" r:id="rId8"/>
    <p:sldId id="293" r:id="rId9"/>
    <p:sldId id="294" r:id="rId10"/>
    <p:sldId id="268" r:id="rId11"/>
    <p:sldId id="271" r:id="rId12"/>
    <p:sldId id="295" r:id="rId13"/>
    <p:sldId id="296" r:id="rId14"/>
    <p:sldId id="297" r:id="rId15"/>
    <p:sldId id="298" r:id="rId16"/>
    <p:sldId id="300" r:id="rId17"/>
    <p:sldId id="301" r:id="rId18"/>
    <p:sldId id="299" r:id="rId19"/>
    <p:sldId id="302" r:id="rId20"/>
    <p:sldId id="303" r:id="rId21"/>
    <p:sldId id="279" r:id="rId22"/>
    <p:sldId id="280" r:id="rId23"/>
    <p:sldId id="283" r:id="rId24"/>
    <p:sldId id="288" r:id="rId25"/>
    <p:sldId id="286" r:id="rId26"/>
    <p:sldId id="289" r:id="rId27"/>
    <p:sldId id="304" r:id="rId28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66"/>
    <a:srgbClr val="8362FA"/>
    <a:srgbClr val="6DF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13" autoAdjust="0"/>
  </p:normalViewPr>
  <p:slideViewPr>
    <p:cSldViewPr>
      <p:cViewPr varScale="1">
        <p:scale>
          <a:sx n="67" d="100"/>
          <a:sy n="67" d="100"/>
        </p:scale>
        <p:origin x="183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59136-7F74-4509-B20E-AE351757F38F}" type="datetimeFigureOut">
              <a:rPr lang="vi-VN" smtClean="0"/>
              <a:pPr/>
              <a:t>14/01/2024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7600A-770C-47F1-89C1-5023B6D362E3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53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F78FFFB-02FC-4EC7-919F-6C0D791889F8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68265F0-5599-4EB7-8D6A-37D94FBC2AFB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CDCD51C-C6D1-414F-B5B0-A4A9703C5676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AD4DA0E-9008-4CD9-B336-FF61E3035A21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Kiểu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(Type)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0" u="none" strike="noStrike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lớn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(Byte)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Miền</a:t>
            </a: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0" u="none" strike="noStrike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0" u="none" strike="noStrike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trị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(Range)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char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–128 … +127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–32.768 … +32.767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short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–32.768 … +32.767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long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–2.147.483.648 … +2.147.483.647</a:t>
            </a: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7600A-770C-47F1-89C1-5023B6D362E3}" type="slidenum">
              <a:rPr lang="vi-VN" smtClean="0"/>
              <a:pPr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3950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60A814B-E256-471A-8A31-ACABE1646D12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C9B0C6A-6340-423D-83E6-590DA3C02567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2D30019-D896-4F3F-BF9C-46EE16384631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F5BFD9B-0159-4132-A06B-B978146745D1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F2F9526-23F1-4AD8-8872-AEEA98960AB3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5816651-3B50-4A88-88B4-3DA417D96F17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1066800" y="3581400"/>
            <a:ext cx="75438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2590800"/>
            <a:ext cx="7620000" cy="990600"/>
          </a:xfr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495800"/>
            <a:ext cx="7010400" cy="990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200"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699EFACA-8DCA-4021-9CF5-2F3BBA0C068D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3188" y="6248400"/>
            <a:ext cx="4357687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15188" y="6248400"/>
            <a:ext cx="1243012" cy="457200"/>
          </a:xfrm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9" name="Content Placeholder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6" b="29726"/>
          <a:stretch/>
        </p:blipFill>
        <p:spPr bwMode="auto">
          <a:xfrm>
            <a:off x="-3829" y="0"/>
            <a:ext cx="9144000" cy="15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49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sz="2800"/>
            </a:lvl1pPr>
            <a:lvl2pPr algn="just">
              <a:defRPr sz="2400">
                <a:solidFill>
                  <a:srgbClr val="0000FF"/>
                </a:solidFill>
              </a:defRPr>
            </a:lvl2pPr>
            <a:lvl3pPr algn="just">
              <a:defRPr sz="2000">
                <a:solidFill>
                  <a:srgbClr val="002060"/>
                </a:solidFill>
              </a:defRPr>
            </a:lvl3pPr>
            <a:lvl4pPr algn="just">
              <a:defRPr sz="1800">
                <a:solidFill>
                  <a:srgbClr val="000066"/>
                </a:solidFill>
              </a:defRPr>
            </a:lvl4pPr>
            <a:lvl5pPr algn="just"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4C0F48-4DEB-4765-8365-EC8DA67D1975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68343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6F2C5302-7520-46E3-934E-DD8519A537D0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0836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E5D82D66-66ED-403E-9D34-64B286CAFF92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079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45649B8F-BB33-447C-A41B-81A6565B6AB1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303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D331A650-2CCF-4F68-A8DF-F6BF584051CC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728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89A68CD5-9F0A-4C18-8BB0-BC5489A42270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297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1241181F-811A-4845-8A9C-9C76A74B6D1A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410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5909F0D5-132D-4ADC-8B3B-6F32B684A06E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067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105421B-E358-4495-8C87-828EAFBC8D84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55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77859515-ECEF-42E1-87BA-2D6BA0B28ACF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585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457200" y="990600"/>
            <a:ext cx="83820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381000" y="6400800"/>
            <a:ext cx="8534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charset="0"/>
              </a:defRPr>
            </a:lvl1pPr>
          </a:lstStyle>
          <a:p>
            <a:fld id="{B5684F7A-8A31-41FD-929D-ACE665B797FE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400800"/>
            <a:ext cx="3962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cs typeface="Arial" charset="0"/>
              </a:defRPr>
            </a:lvl1pPr>
          </a:lstStyle>
          <a:p>
            <a:r>
              <a:rPr lang="vi-VN"/>
              <a:t>Chương 8-Kiểu dữ liệu cấu trúc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charset="0"/>
              </a:defRPr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lang="en-GB" sz="2800" smtClean="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2400" smtClean="0">
          <a:solidFill>
            <a:srgbClr val="0000FF"/>
          </a:solidFill>
          <a:latin typeface="+mn-lt"/>
          <a:cs typeface="+mn-cs"/>
        </a:defRPr>
      </a:lvl2pPr>
      <a:lvl3pPr marL="1304925" indent="-395288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o"/>
        <a:defRPr lang="en-GB" sz="2000" smtClean="0">
          <a:solidFill>
            <a:srgbClr val="002060"/>
          </a:solidFill>
          <a:latin typeface="+mn-lt"/>
          <a:cs typeface="+mn-cs"/>
        </a:defRPr>
      </a:lvl3pPr>
      <a:lvl4pPr marL="1693863" indent="-387350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1800" smtClean="0">
          <a:solidFill>
            <a:srgbClr val="000066"/>
          </a:solidFill>
          <a:latin typeface="+mn-lt"/>
          <a:cs typeface="+mn-cs"/>
        </a:defRPr>
      </a:lvl4pPr>
      <a:lvl5pPr marL="20939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5pPr>
      <a:lvl6pPr marL="25511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6pPr>
      <a:lvl7pPr marL="30083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7pPr>
      <a:lvl8pPr marL="34655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8pPr>
      <a:lvl9pPr marL="39227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590800"/>
            <a:ext cx="7931224" cy="990600"/>
          </a:xfrm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pPr algn="ctr"/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Chương 8</a:t>
            </a:r>
            <a:b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KIỂU DỮ LIỆU CẤU TRÚC (structure)</a:t>
            </a:r>
            <a:endParaRPr lang="vi-VN" sz="440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1880" y="6237312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Hà</a:t>
            </a:r>
            <a:r>
              <a:rPr lang="en-US" sz="2400" dirty="0"/>
              <a:t> </a:t>
            </a:r>
            <a:r>
              <a:rPr lang="en-US" sz="2400" dirty="0" err="1"/>
              <a:t>Nội</a:t>
            </a:r>
            <a:r>
              <a:rPr lang="en-US" sz="2400"/>
              <a:t> – 2024</a:t>
            </a:r>
            <a:endParaRPr lang="vi-VN" sz="2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3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grpSp>
        <p:nvGrpSpPr>
          <p:cNvPr id="44" name="Group 46"/>
          <p:cNvGrpSpPr>
            <a:grpSpLocks/>
          </p:cNvGrpSpPr>
          <p:nvPr/>
        </p:nvGrpSpPr>
        <p:grpSpPr bwMode="auto">
          <a:xfrm>
            <a:off x="2133600" y="1196752"/>
            <a:ext cx="4724400" cy="685800"/>
            <a:chOff x="1296" y="1824"/>
            <a:chExt cx="2976" cy="432"/>
          </a:xfrm>
        </p:grpSpPr>
        <p:sp>
          <p:nvSpPr>
            <p:cNvPr id="45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6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Khái niệm kiểu cấu trúc (struct)</a:t>
              </a:r>
            </a:p>
          </p:txBody>
        </p:sp>
        <p:sp>
          <p:nvSpPr>
            <p:cNvPr id="48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grpSp>
        <p:nvGrpSpPr>
          <p:cNvPr id="49" name="Group 51"/>
          <p:cNvGrpSpPr>
            <a:grpSpLocks/>
          </p:cNvGrpSpPr>
          <p:nvPr/>
        </p:nvGrpSpPr>
        <p:grpSpPr bwMode="auto">
          <a:xfrm>
            <a:off x="2133600" y="2034952"/>
            <a:ext cx="4724400" cy="685800"/>
            <a:chOff x="1296" y="1824"/>
            <a:chExt cx="2976" cy="432"/>
          </a:xfrm>
        </p:grpSpPr>
        <p:sp>
          <p:nvSpPr>
            <p:cNvPr id="5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Các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thao tác với cấu trúc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grpSp>
        <p:nvGrpSpPr>
          <p:cNvPr id="54" name="Group 56"/>
          <p:cNvGrpSpPr>
            <a:grpSpLocks/>
          </p:cNvGrpSpPr>
          <p:nvPr/>
        </p:nvGrpSpPr>
        <p:grpSpPr bwMode="auto">
          <a:xfrm>
            <a:off x="2133600" y="2873152"/>
            <a:ext cx="4724400" cy="685800"/>
            <a:chOff x="1296" y="1824"/>
            <a:chExt cx="2976" cy="432"/>
          </a:xfrm>
        </p:grpSpPr>
        <p:sp>
          <p:nvSpPr>
            <p:cNvPr id="55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6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7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Mảng</a:t>
              </a:r>
              <a:r>
                <a:rPr kumimoji="0" lang="en-US" sz="1800" b="1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cấu trúc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grpSp>
        <p:nvGrpSpPr>
          <p:cNvPr id="64" name="Group 61"/>
          <p:cNvGrpSpPr>
            <a:grpSpLocks/>
          </p:cNvGrpSpPr>
          <p:nvPr/>
        </p:nvGrpSpPr>
        <p:grpSpPr bwMode="auto">
          <a:xfrm>
            <a:off x="2105143" y="3657600"/>
            <a:ext cx="4724400" cy="685800"/>
            <a:chOff x="1296" y="1824"/>
            <a:chExt cx="2976" cy="432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5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pFill/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66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grpFill/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67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0" eaLnBrk="0" hangingPunct="0">
                <a:defRPr/>
              </a:pPr>
              <a:r>
                <a:rPr lang="en-US" b="1" kern="0">
                  <a:solidFill>
                    <a:srgbClr val="000000"/>
                  </a:solidFill>
                </a:rPr>
                <a:t>Chuyển tham số struct cho hàm</a:t>
              </a:r>
            </a:p>
          </p:txBody>
        </p:sp>
        <p:sp>
          <p:nvSpPr>
            <p:cNvPr id="68" name="Text Box 65"/>
            <p:cNvSpPr txBox="1">
              <a:spLocks noChangeArrowheads="1"/>
            </p:cNvSpPr>
            <p:nvPr/>
          </p:nvSpPr>
          <p:spPr bwMode="gray">
            <a:xfrm>
              <a:off x="1392" y="1886"/>
              <a:ext cx="224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kern="0" noProof="0">
                  <a:solidFill>
                    <a:srgbClr val="FFFFFF"/>
                  </a:solidFill>
                </a:rPr>
                <a:t>4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9" name="Group 61"/>
          <p:cNvGrpSpPr>
            <a:grpSpLocks/>
          </p:cNvGrpSpPr>
          <p:nvPr/>
        </p:nvGrpSpPr>
        <p:grpSpPr bwMode="auto">
          <a:xfrm>
            <a:off x="2123728" y="4420613"/>
            <a:ext cx="4724400" cy="685800"/>
            <a:chOff x="1296" y="1824"/>
            <a:chExt cx="2976" cy="432"/>
          </a:xfrm>
          <a:solidFill>
            <a:srgbClr val="8362FA"/>
          </a:solidFill>
        </p:grpSpPr>
        <p:sp>
          <p:nvSpPr>
            <p:cNvPr id="70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pFill/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71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grpFill/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72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Union</a:t>
              </a:r>
            </a:p>
          </p:txBody>
        </p:sp>
        <p:sp>
          <p:nvSpPr>
            <p:cNvPr id="73" name="Text Box 65"/>
            <p:cNvSpPr txBox="1">
              <a:spLocks noChangeArrowheads="1"/>
            </p:cNvSpPr>
            <p:nvPr/>
          </p:nvSpPr>
          <p:spPr bwMode="gray">
            <a:xfrm>
              <a:off x="1392" y="1886"/>
              <a:ext cx="224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kern="0">
                  <a:solidFill>
                    <a:srgbClr val="FFFFFF"/>
                  </a:solidFill>
                </a:rPr>
                <a:t>5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DF974-61AF-4F96-8342-16B2EC54F5C3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794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1. Khái niệm kiểu cấu trúc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(struct) </a:t>
            </a:r>
          </a:p>
          <a:p>
            <a:pPr lvl="1">
              <a:defRPr/>
            </a:pPr>
            <a:r>
              <a:rPr lang="en-US" dirty="0"/>
              <a:t>Là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là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(field)</a:t>
            </a:r>
          </a:p>
          <a:p>
            <a:pPr lvl="1">
              <a:defRPr/>
            </a:pP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:</a:t>
            </a:r>
          </a:p>
          <a:p>
            <a:pPr lvl="2"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là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kiểu</a:t>
            </a:r>
            <a:endParaRPr lang="en-US" dirty="0"/>
          </a:p>
          <a:p>
            <a:pPr lvl="2">
              <a:defRPr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lvl="1">
              <a:defRPr/>
            </a:pPr>
            <a:r>
              <a:rPr lang="en-US" dirty="0"/>
              <a:t>Struct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A8B8-9ED2-4243-9B52-2D9ECE7C3592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375221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Khai báo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 lvl="1">
              <a:defRPr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NgayThang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3 </a:t>
            </a:r>
            <a:r>
              <a:rPr lang="en-US" dirty="0" err="1"/>
              <a:t>trường</a:t>
            </a:r>
            <a:r>
              <a:rPr lang="en-US" dirty="0"/>
              <a:t>: </a:t>
            </a:r>
            <a:r>
              <a:rPr lang="en-US" dirty="0" err="1"/>
              <a:t>ngày</a:t>
            </a:r>
            <a:r>
              <a:rPr lang="en-US" dirty="0"/>
              <a:t>, </a:t>
            </a:r>
            <a:r>
              <a:rPr lang="en-US" dirty="0" err="1"/>
              <a:t>tháng</a:t>
            </a:r>
            <a:r>
              <a:rPr lang="en-US" dirty="0"/>
              <a:t>, </a:t>
            </a:r>
            <a:r>
              <a:rPr lang="en-US" dirty="0" err="1"/>
              <a:t>năm</a:t>
            </a:r>
            <a:endParaRPr lang="en-US" dirty="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21510" name="TextBox 5"/>
          <p:cNvSpPr txBox="1">
            <a:spLocks noChangeArrowheads="1"/>
          </p:cNvSpPr>
          <p:nvPr/>
        </p:nvSpPr>
        <p:spPr bwMode="auto">
          <a:xfrm>
            <a:off x="873968" y="1653768"/>
            <a:ext cx="70104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struct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tên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cấu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trúc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	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1&gt;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trường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1&gt;;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…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kiểu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n&gt; 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trường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n&gt;;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385608"/>
            <a:ext cx="7010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NgayThang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 int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Ngay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 int Thang;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 int Nam;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8CFE9-09F3-4362-8C84-EDFFCBD9C6DA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97607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Khai báo cấu trúc (tt)</a:t>
            </a:r>
            <a:endParaRPr lang="vi-VN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Khai báo gián tiếp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Ví dụ</a:t>
            </a:r>
          </a:p>
          <a:p>
            <a:pPr lvl="1">
              <a:defRPr/>
            </a:pPr>
            <a:r>
              <a:rPr lang="en-US"/>
              <a:t>Khai báo kiểu cấu trúc NgayThang gồm 3 trường: ngày, tháng, năm</a:t>
            </a:r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2C8A4-D423-41A2-AB37-E4D2E842CC47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873968" y="1653768"/>
            <a:ext cx="70104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typedef struct 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	&lt;kiểu 1&gt; &lt;trường 1&gt;;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n&gt; &lt;trường n&gt;;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 &lt;tên kiểu cấu trúc&gt;;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44196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typedef struct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unsigned char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Ngay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unsigned char Thang;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unsigned int Nam;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Ngaythang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60784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Khai báo cấu trúc lồng nhau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Ví dụ:</a:t>
            </a:r>
          </a:p>
          <a:p>
            <a:pPr lvl="1"/>
            <a:r>
              <a:rPr lang="en-US"/>
              <a:t>Khai báo cấu trúc SinhVien gồm: mã sinh viên, họ tên, ngày sinh (thuộc kiểu ngaythang ở trên), giới tính, địa chỉ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5E283-2CC6-4BCA-9BC0-FD1F58391FDE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10677"/>
            <a:ext cx="3733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SinhVien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Masv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[10];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Hoten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[40];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NT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NgaySinh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Gioitinh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Diachi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[50];	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3000" y="3510677"/>
            <a:ext cx="3886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typedef struct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Masv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[10];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Hoten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[40];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NgayThang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NgaySinh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Gioitinh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char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Diachi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[50];	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SinhVien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70" y="2845713"/>
            <a:ext cx="260359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</a:rPr>
              <a:t>Khai báo trực tiếp</a:t>
            </a:r>
            <a:endParaRPr lang="vi-VN" sz="2200" b="1">
              <a:solidFill>
                <a:srgbClr val="000066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79770" y="2921913"/>
            <a:ext cx="262123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>
                <a:solidFill>
                  <a:srgbClr val="000066"/>
                </a:solidFill>
              </a:rPr>
              <a:t>Khai báo gián tiếp</a:t>
            </a:r>
            <a:endParaRPr lang="vi-VN" sz="2200" b="1">
              <a:solidFill>
                <a:srgbClr val="00006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6</a:t>
            </a:fld>
            <a:r>
              <a:rPr lang="vi-VN"/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Khai báo biến kiểu cấu trúc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Khai báo biến kiểu cấu trúc</a:t>
            </a:r>
          </a:p>
          <a:p>
            <a:pPr lvl="1"/>
            <a:r>
              <a:rPr lang="en-US"/>
              <a:t>Khai báo tương tự như khai báo biến thuộc kiểu dữ liệu chuẩn</a:t>
            </a:r>
          </a:p>
          <a:p>
            <a:pPr lvl="1"/>
            <a:r>
              <a:rPr lang="en-US"/>
              <a:t>Với cách khai báo cấu trúc trực tiếp, có thể khai báo biến ngay khi khai báo cấu trúc</a:t>
            </a:r>
          </a:p>
          <a:p>
            <a:pPr lvl="1"/>
            <a:r>
              <a:rPr lang="en-US"/>
              <a:t>Ví dụ 1: Khai báo biến A và B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Ví dụ 2: Khai báo biến SV1,SV2 có kiểu SinhVien</a:t>
            </a:r>
          </a:p>
          <a:p>
            <a:pPr lvl="1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67CE-46B1-45DD-AF5E-8C58CC7508CD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5400" y="3628072"/>
            <a:ext cx="5181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struct Diem</a:t>
            </a:r>
          </a:p>
          <a:p>
            <a:pPr lvl="1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float x;</a:t>
            </a:r>
          </a:p>
          <a:p>
            <a:pPr lvl="1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float y;</a:t>
            </a:r>
          </a:p>
          <a:p>
            <a:pPr lvl="1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}A,B;</a:t>
            </a:r>
          </a:p>
          <a:p>
            <a:pPr lvl="1"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Hoặc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Diem A,B;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5791200"/>
            <a:ext cx="403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SinhVien SV1,SV2;</a:t>
            </a:r>
            <a:endParaRPr lang="vi-VN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7</a:t>
            </a:fld>
            <a:r>
              <a:rPr lang="vi-VN"/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Các thao tác với cấu trúc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  <a:p>
            <a:pPr lvl="1"/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</a:p>
          <a:p>
            <a:pPr lvl="1"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/>
              <a:t>,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phẩy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</a:p>
          <a:p>
            <a:pPr marL="471487" lvl="1" indent="0">
              <a:buNone/>
            </a:pPr>
            <a:r>
              <a:rPr lang="en-US" dirty="0"/>
              <a:t>	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ngaysinh</a:t>
            </a:r>
            <a:endParaRPr lang="en-US" dirty="0"/>
          </a:p>
          <a:p>
            <a:pPr marL="471487" lvl="1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NgayThang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ngaysinh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={01,08,1991}</a:t>
            </a:r>
          </a:p>
          <a:p>
            <a:pPr lvl="1">
              <a:buNone/>
            </a:pP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33D89-6244-45EE-A2B7-4A0BB74CF90A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8</a:t>
            </a:fld>
            <a:r>
              <a:rPr lang="vi-VN"/>
              <a:t>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Truy cập vào phần tử struct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Đặc </a:t>
            </a:r>
            <a:r>
              <a:rPr lang="vi-VN"/>
              <a:t>đ</a:t>
            </a:r>
            <a:r>
              <a:rPr lang="en-US"/>
              <a:t>iểm</a:t>
            </a:r>
          </a:p>
          <a:p>
            <a:pPr lvl="1">
              <a:defRPr/>
            </a:pPr>
            <a:r>
              <a:rPr lang="en-US"/>
              <a:t>Không thể truy xuất trực tiếp</a:t>
            </a:r>
          </a:p>
          <a:p>
            <a:pPr lvl="1">
              <a:defRPr/>
            </a:pPr>
            <a:r>
              <a:rPr lang="en-US"/>
              <a:t>Thông qua toán tử thành phần cấu trúc </a:t>
            </a:r>
            <a:r>
              <a:rPr lang="en-US">
                <a:solidFill>
                  <a:srgbClr val="FF0000"/>
                </a:solidFill>
              </a:rPr>
              <a:t>.</a:t>
            </a:r>
            <a:r>
              <a:rPr lang="en-US"/>
              <a:t> hay còn gọi là </a:t>
            </a:r>
            <a:r>
              <a:rPr lang="en-US">
                <a:solidFill>
                  <a:srgbClr val="FF0000"/>
                </a:solidFill>
              </a:rPr>
              <a:t>toán tử chấm</a:t>
            </a:r>
            <a:r>
              <a:rPr lang="en-US"/>
              <a:t> (dot operation)</a:t>
            </a:r>
          </a:p>
          <a:p>
            <a:pPr>
              <a:spcBef>
                <a:spcPts val="0"/>
              </a:spcBef>
              <a:defRPr/>
            </a:pPr>
            <a:r>
              <a:rPr lang="en-US"/>
              <a:t>Cú pháp</a:t>
            </a:r>
          </a:p>
          <a:p>
            <a:pPr marL="471487" lvl="1" indent="0">
              <a:spcBef>
                <a:spcPts val="0"/>
              </a:spcBef>
              <a:buNone/>
              <a:defRPr/>
            </a:pPr>
            <a:r>
              <a:rPr lang="en-US" sz="22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&lt;tên biến cấu trúc&gt;</a:t>
            </a:r>
            <a:r>
              <a:rPr lang="en-US" sz="2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2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&lt;tên trường&gt;</a:t>
            </a:r>
            <a:endParaRPr lang="en-US" sz="2200">
              <a:solidFill>
                <a:schemeClr val="tx1">
                  <a:lumMod val="95000"/>
                  <a:lumOff val="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defRPr/>
            </a:pPr>
            <a:r>
              <a:rPr lang="en-US"/>
              <a:t>Ví dụ:</a:t>
            </a:r>
          </a:p>
          <a:p>
            <a:pPr lvl="1">
              <a:defRPr/>
            </a:pPr>
            <a:r>
              <a:rPr lang="en-US"/>
              <a:t>Viết ra toạ độ điểm A trong khai báo trên</a:t>
            </a:r>
          </a:p>
          <a:p>
            <a:pPr marL="471487" lvl="1" indent="0">
              <a:buNone/>
              <a:defRPr/>
            </a:pPr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printf(“x = %f, y = %f”, A.x, A.y);</a:t>
            </a:r>
          </a:p>
          <a:p>
            <a:pPr>
              <a:spcBef>
                <a:spcPts val="0"/>
              </a:spcBef>
              <a:defRPr/>
            </a:pPr>
            <a:r>
              <a:rPr lang="en-US"/>
              <a:t>Chú ý:</a:t>
            </a:r>
          </a:p>
          <a:p>
            <a:pPr lvl="1">
              <a:defRPr/>
            </a:pPr>
            <a:r>
              <a:rPr lang="en-US"/>
              <a:t>Các biến cấu trúc có thể gán cho nhau, vd: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B=A;</a:t>
            </a:r>
          </a:p>
          <a:p>
            <a:pPr lvl="1">
              <a:defRPr/>
            </a:pPr>
            <a:r>
              <a:rPr lang="en-US"/>
              <a:t>KHÔNG thực hiện được các hàm nhập xuất, các phép quan hệ, số học, logic trên biến cấu trúc</a:t>
            </a:r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marL="471487" lvl="1" indent="0">
              <a:buNone/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B95-9B6A-4302-8B46-12B24B3C0B21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9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92269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Gán dữ liệu kiểu cấu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Có 2 cách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Ví dụ</a:t>
            </a: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2000" y="1676400"/>
            <a:ext cx="8305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&lt;biến cấu trúc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ch&gt; = &lt;biến cấu trúc nguồn&gt;;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&lt;biến cấu trúc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ch&gt;.&lt;tên thành phần&gt; = &lt;giá trị&gt;;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13112"/>
            <a:ext cx="152400" cy="2590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389312"/>
            <a:ext cx="7315200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struct Diem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x, y;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 diem1 = {2912, 1706}, diem2;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diem2 = diem1;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diem2.x = diem1.x;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diem2.y = diem1.y * 2; 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4989512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5294312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3296-136F-48EB-B578-3F021E562439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10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07356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trúc phức tạp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Cấu trúc </a:t>
            </a:r>
            <a:r>
              <a:rPr lang="vi-VN"/>
              <a:t>đệ</a:t>
            </a:r>
            <a:r>
              <a:rPr lang="en-US"/>
              <a:t> quy (tự trỏ)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lvl="1">
              <a:defRPr/>
            </a:pPr>
            <a:r>
              <a:rPr lang="en-US"/>
              <a:t>Sử dụng để tạo danh sách liên kết (đơn – LIFO, FIFO, kép, vòng)</a:t>
            </a:r>
          </a:p>
          <a:p>
            <a:pPr>
              <a:defRPr/>
            </a:pPr>
            <a:endParaRPr lang="en-US"/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52400" cy="34655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>
            <a:off x="838200" y="1600200"/>
            <a:ext cx="70104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PERSON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char hoten[30];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father,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mother;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value;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struct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*pNext;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1636712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541712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C0AC1-FD47-434C-83A4-37558A0BE7F9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11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82893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- Nhập/in thông tin sinh viên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Viết chương trình nhập từ bàn phím thông tin về  sinh viên, in các thông tin đó ra màn hình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520EA-96E6-4F69-B85B-099858FAA66C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81200"/>
            <a:ext cx="6324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typedef struct  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{               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unsigned char Ngay;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unsigned char Thang;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unsigned int Nam;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} 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NgayThang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;    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typedef struct  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{               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char MSSV[10];  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char HoTen[40]; 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NgayThang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 NgaySinh;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int Gioitinh;   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char DiaChi[40];       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} 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SinhVien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;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12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388739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- Nhập/in thông tin sinh viên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A521-BC3D-4B24-AE10-CF78792960DB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636" y="1045488"/>
            <a:ext cx="819496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vi-VN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InSV</a:t>
            </a:r>
            <a:r>
              <a:rPr lang="vi-VN" b="1">
                <a:latin typeface="Courier New" pitchFamily="49" charset="0"/>
                <a:cs typeface="Courier New" pitchFamily="49" charset="0"/>
              </a:rPr>
              <a:t>(</a:t>
            </a:r>
            <a:r>
              <a:rPr lang="vi-VN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SinhVien</a:t>
            </a:r>
            <a:r>
              <a:rPr lang="vi-VN" b="1">
                <a:latin typeface="Courier New" pitchFamily="49" charset="0"/>
                <a:cs typeface="Courier New" pitchFamily="49" charset="0"/>
              </a:rPr>
              <a:t> s)                                             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{ printf("MSSV: | Ho va ten | Ngay Sinh | Dia chi\n");              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printf("%s | %s | %d-%d-%d |%s\n", s.MSSV, s.HoTen, s.NgaySinh.Ngay,s.NgaySinh.Thang,s.NgaySinh.Nam,s.DiaChi);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}                                                                 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vi-VN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main</a:t>
            </a:r>
            <a:r>
              <a:rPr lang="vi-VN" b="1">
                <a:latin typeface="Courier New" pitchFamily="49" charset="0"/>
                <a:cs typeface="Courier New" pitchFamily="49" charset="0"/>
              </a:rPr>
              <a:t>()                                            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{ </a:t>
            </a:r>
            <a:r>
              <a:rPr lang="vi-VN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SinhVien</a:t>
            </a:r>
            <a:r>
              <a:rPr lang="vi-VN" b="1">
                <a:latin typeface="Courier New" pitchFamily="49" charset="0"/>
                <a:cs typeface="Courier New" pitchFamily="49" charset="0"/>
              </a:rPr>
              <a:t> SV1, SV2;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printf("Nhap MSSV: ");gets(SV1.MSSV);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printf("Nhap Ho va ten: ");gets(SV1.HoTen);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printf("Sinh ngay: ");scanf("%d",&amp;SV1.NgaySinh.Ngay);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printf("Thang: ");scanf("%d",&amp;SV1.NgaySinh.Thang);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printf("Nam: ");scanf("%d",&amp;SV1.NgaySinh.Nam);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p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r</a:t>
            </a:r>
            <a:r>
              <a:rPr lang="vi-VN" b="1">
                <a:latin typeface="Courier New" pitchFamily="49" charset="0"/>
                <a:cs typeface="Courier New" pitchFamily="49" charset="0"/>
              </a:rPr>
              <a:t>intf("Gioi tinh (0: Nu), (1: Nam):");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scanf("%d",&amp;SV1.Gioitinh);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</a:t>
            </a:r>
            <a:r>
              <a:rPr lang="vi-VN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fflush(stdin)</a:t>
            </a:r>
            <a:r>
              <a:rPr lang="vi-VN" b="1">
                <a:latin typeface="Courier New" pitchFamily="49" charset="0"/>
                <a:cs typeface="Courier New" pitchFamily="49" charset="0"/>
              </a:rPr>
              <a:t>;// Xoa bo nho dem                                   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printf("Dia chi: ");gets(SV1.DiaChi);                             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InSV(SV1);                                                        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</a:t>
            </a:r>
            <a:r>
              <a:rPr lang="vi-VN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SV2=SV1; </a:t>
            </a:r>
            <a:r>
              <a:rPr lang="vi-VN" b="1">
                <a:latin typeface="Courier New" pitchFamily="49" charset="0"/>
                <a:cs typeface="Courier New" pitchFamily="49" charset="0"/>
              </a:rPr>
              <a:t>/* Gan thong tin cua SV1 cho SV2*/                                                                  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  InSV(SV2);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13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450150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- Tính tổng 2 số phức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Nhập vào 2 số phức, tính tổng và in kết quả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F41-02BA-4484-9D62-F583A862DB87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91819"/>
            <a:ext cx="79248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typedef struct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float Thuc;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float Ao;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} 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SoPhuc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vi-VN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InSoPhuc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(SoPhuc p)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 	printf("%.2f + i%.2f\n",p.Thuc,p.Ao);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SoPhuc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 p1,p2,p;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printf("Nhap so phuc thu nhat:\n");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printf("Phan thuc: ");scanf("%f",&amp;p1.Thuc);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printf("Phan ao: ");scanf("%f",&amp;p1.Ao);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14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25974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- Tính tổng 2 số phức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D6BDC-FCB0-4712-92C3-1CD43D7F9A26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40681"/>
            <a:ext cx="70104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>
                <a:latin typeface="Courier New" pitchFamily="49" charset="0"/>
                <a:cs typeface="Courier New" pitchFamily="49" charset="0"/>
              </a:rPr>
              <a:t>printf("Nhap so phuc thu hai:\n");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printf("Phan thuc: ");scanf("%f",&amp;p2.Thuc);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printf("Phan ao: ");scanf("%f",&amp;p2.Ao);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printf("So phuc thu nhat: ");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InSoPhuc(p1);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printf("So phuc thu hai: ");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InSoPhuc(p2);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p.Thuc = p1.Thuc+p2.Thuc;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p.Ao = p1.Ao + p2.Ao;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printf("Tong 2 so phuc: ");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InSoPhuc(p);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getch();</a:t>
            </a:r>
          </a:p>
          <a:p>
            <a:r>
              <a:rPr lang="vi-VN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15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358070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Con trỏ cấu trúc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 cho phép sử dụng con trỏ trỏ tới cấu trúc cũng như các con trỏ trỏ tới các kiểu dữ liệu khác</a:t>
            </a:r>
          </a:p>
          <a:p>
            <a:r>
              <a:rPr lang="en-US"/>
              <a:t>Khai báo</a:t>
            </a:r>
          </a:p>
          <a:p>
            <a:pPr marL="471487" lvl="1" indent="0">
              <a:buNone/>
            </a:pPr>
            <a:r>
              <a:rPr lang="en-US" sz="22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struct &lt;Tên cấu trúc&gt; </a:t>
            </a:r>
            <a:r>
              <a:rPr lang="en-US" sz="2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2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 &lt;Tên biến con trỏ&gt;;</a:t>
            </a:r>
          </a:p>
          <a:p>
            <a:pPr marL="471487" lvl="1" indent="0">
              <a:buNone/>
            </a:pPr>
            <a:r>
              <a:rPr lang="en-US"/>
              <a:t>Khi khai báo, con trỏ chưa trỏ tới địa chỉ cụ thể nào.</a:t>
            </a:r>
          </a:p>
          <a:p>
            <a:r>
              <a:rPr lang="en-US"/>
              <a:t>Ví dụ:</a:t>
            </a:r>
          </a:p>
          <a:p>
            <a:pPr marL="471487" lvl="1" indent="0">
              <a:buNone/>
            </a:pPr>
            <a:r>
              <a:rPr lang="en-US"/>
              <a:t>Khai báo một con trỏ cấu trúc kiểu NgayThang ở trên</a:t>
            </a:r>
          </a:p>
          <a:p>
            <a:pPr marL="471487" lvl="1" indent="0">
              <a:buNone/>
            </a:pPr>
            <a:r>
              <a:rPr lang="en-US" sz="22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struct NgayThang *p;</a:t>
            </a:r>
          </a:p>
          <a:p>
            <a:pPr marL="471487" lvl="1" indent="0">
              <a:buNone/>
            </a:pPr>
            <a:r>
              <a:rPr lang="en-US" sz="22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struct NgayThang date;</a:t>
            </a:r>
          </a:p>
          <a:p>
            <a:pPr marL="471487" lvl="1" indent="0">
              <a:buNone/>
            </a:pPr>
            <a:r>
              <a:rPr lang="en-US" sz="22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p=&amp;date;</a:t>
            </a:r>
          </a:p>
          <a:p>
            <a:pPr marL="471487" lvl="1" indent="0">
              <a:buNone/>
            </a:pPr>
            <a:r>
              <a:rPr lang="en-US"/>
              <a:t>Khi đó,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/>
              <a:t> sẽ chứa địa chỉ của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date</a:t>
            </a:r>
            <a:endParaRPr lang="vi-VN" b="1">
              <a:solidFill>
                <a:schemeClr val="tx1">
                  <a:lumMod val="95000"/>
                  <a:lumOff val="5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CE2-3E18-4828-A22B-C93EA08FBC3B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16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195609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 trỏ cấu trúc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153400" cy="5181600"/>
          </a:xfrm>
        </p:spPr>
        <p:txBody>
          <a:bodyPr/>
          <a:lstStyle/>
          <a:p>
            <a:r>
              <a:rPr lang="en-US"/>
              <a:t>Truy cập đến các trường của cấu trúc đang được quản lý bởi con trỏ</a:t>
            </a:r>
          </a:p>
          <a:p>
            <a:pPr lvl="1"/>
            <a:r>
              <a:rPr lang="en-US"/>
              <a:t>Sử dụng toán tử mũi tên (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/>
              <a:t>)</a:t>
            </a:r>
          </a:p>
          <a:p>
            <a:pPr lvl="1"/>
            <a:r>
              <a:rPr lang="en-US"/>
              <a:t>Sử dụng toán tử lấy giá trị (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/>
              <a:t>)</a:t>
            </a:r>
          </a:p>
          <a:p>
            <a:pPr marL="471487" lvl="1" indent="0">
              <a:buNone/>
            </a:pP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p-&gt;Ngay </a:t>
            </a:r>
            <a:r>
              <a:rPr lang="en-US"/>
              <a:t>là tương đương 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(*p).Ngay</a:t>
            </a:r>
          </a:p>
          <a:p>
            <a:r>
              <a:rPr lang="en-US"/>
              <a:t>Ví dụ: Viết ra ngày-tháng-năm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1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struct NgayThang *p;</a:t>
            </a:r>
          </a:p>
          <a:p>
            <a:pPr marL="471487" lvl="1" indent="0">
              <a:spcBef>
                <a:spcPts val="600"/>
              </a:spcBef>
              <a:buNone/>
            </a:pPr>
            <a:r>
              <a:rPr lang="en-US"/>
              <a:t>//Sử dụng toán tử mũi tên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en-US" sz="21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printf("%d-%d-%d",</a:t>
            </a:r>
            <a:r>
              <a:rPr lang="en-US" sz="2100" b="1">
                <a:latin typeface="Courier New" pitchFamily="49" charset="0"/>
                <a:cs typeface="Courier New" pitchFamily="49" charset="0"/>
              </a:rPr>
              <a:t>p-&gt;Ngay,p-&gt;Thang,p-&gt;Nam</a:t>
            </a:r>
            <a:r>
              <a:rPr lang="en-US" sz="21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471487" lvl="1" indent="0">
              <a:spcBef>
                <a:spcPts val="600"/>
              </a:spcBef>
              <a:buNone/>
            </a:pPr>
            <a:r>
              <a:rPr lang="en-US"/>
              <a:t>//Sử dụng toán tử *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en-US" sz="21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printf("%d-%d-%d",</a:t>
            </a:r>
            <a:r>
              <a:rPr lang="en-US" sz="2100" b="1">
                <a:latin typeface="Courier New" pitchFamily="49" charset="0"/>
                <a:cs typeface="Courier New" pitchFamily="49" charset="0"/>
              </a:rPr>
              <a:t>(*p).Ngay,(*p).Thang,(*p).Nam)</a:t>
            </a:r>
            <a:r>
              <a:rPr lang="en-US" sz="21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vi-VN" sz="2100" b="1">
              <a:solidFill>
                <a:schemeClr val="tx1">
                  <a:lumMod val="95000"/>
                  <a:lumOff val="5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0D08-9657-4479-A1A3-928D96E5339A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17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55426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Chuyển tham số struct cho hàm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Tham số của hàm có thể là</a:t>
            </a:r>
          </a:p>
          <a:p>
            <a:pPr lvl="1"/>
            <a:r>
              <a:rPr lang="en-US"/>
              <a:t>Từng trường của cấu trúc</a:t>
            </a:r>
          </a:p>
          <a:p>
            <a:pPr lvl="1"/>
            <a:r>
              <a:rPr lang="en-US"/>
              <a:t>Biến cấu trúc (tham số thực sự là giá trị cấu trúc)</a:t>
            </a:r>
          </a:p>
          <a:p>
            <a:pPr lvl="1"/>
            <a:r>
              <a:rPr lang="en-US"/>
              <a:t>Con trỏ cấu trúc (tham số thực sự là địa chỉ của biến cấu trúc)</a:t>
            </a:r>
          </a:p>
          <a:p>
            <a:pPr lvl="1"/>
            <a:r>
              <a:rPr lang="en-US"/>
              <a:t>Con trỏ cấu trúc hoặc mảng cấu trúc (tham số thực sự là tên mảng cấu trúc)</a:t>
            </a:r>
          </a:p>
          <a:p>
            <a:r>
              <a:rPr lang="en-US"/>
              <a:t>Hàm có thể trả về</a:t>
            </a:r>
          </a:p>
          <a:p>
            <a:pPr lvl="1"/>
            <a:r>
              <a:rPr lang="en-US"/>
              <a:t>Giá trị cấu trúc</a:t>
            </a:r>
          </a:p>
          <a:p>
            <a:pPr lvl="1"/>
            <a:r>
              <a:rPr lang="en-US"/>
              <a:t>Con trỏ cấu trúc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2D458-9473-4AD0-B199-11F32540C9DF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18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276038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- Số phức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Khai báo kiểu số phức, viết các hàm</a:t>
            </a:r>
          </a:p>
          <a:p>
            <a:pPr lvl="1"/>
            <a:r>
              <a:rPr lang="en-US"/>
              <a:t>SoPhuc cong(SoPhuc u, SoPhuc v); trả về tổng của các giá trị phức u,v.</a:t>
            </a:r>
          </a:p>
          <a:p>
            <a:pPr lvl="1"/>
            <a:r>
              <a:rPr lang="en-US"/>
              <a:t>void InSP(SoPhuc u); dùng để in số phức u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117F-C689-4144-9DEE-9DFD669AA48F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2743200"/>
            <a:ext cx="7086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typedef struct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float Thuc;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float Ao;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} 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SoPhuc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//Ham tinh tong 2 so phuc u,v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SoPhuc cong(SoPhuc u, SoPhuc v)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{	SoPhuc tong;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tong.Thuc=u.Thuc+v.Thuc;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tong.Ao=u.Ao+v.Ao;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	return tong;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19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24187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- Số phức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7924800" cy="5181600"/>
          </a:xfrm>
        </p:spPr>
        <p:txBody>
          <a:bodyPr/>
          <a:lstStyle/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vi-VN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InSoPhuc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SoPhuc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 u)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{	printf("%.2f + i%.2f\n",u.Thuc,u.Ao);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{	</a:t>
            </a:r>
            <a:r>
              <a:rPr lang="vi-VN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SoPhuc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 p1,p2,p;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printf("Nhap so phuc thu nhat:\n");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printf("Phan thuc: ");scanf("%f",&amp;p1.Thuc);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printf("Phan ao: ");scanf("%f",&amp;p1.Ao);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printf("Nhap so phuc thu hai:\n");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printf("Phan thuc: ");scanf("%f",&amp;p2.Thuc);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printf("Phan ao: ");scanf("%f",&amp;p2.Ao);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printf("Tong 2 so phuc: ");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vi-VN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InSoPhuc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vi-VN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cong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(p1,p2));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	getch();</a:t>
            </a:r>
          </a:p>
          <a:p>
            <a:pPr marL="0" indent="0" algn="l">
              <a:buNone/>
            </a:pPr>
            <a:r>
              <a:rPr lang="vi-VN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833C-EF71-434B-8830-4957571C7670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20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512818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Khái niệm</a:t>
            </a:r>
          </a:p>
          <a:p>
            <a:pPr lvl="1">
              <a:defRPr/>
            </a:pPr>
            <a:r>
              <a:rPr lang="en-US"/>
              <a:t>Đ</a:t>
            </a:r>
            <a:r>
              <a:rPr lang="vi-VN"/>
              <a:t>ượ</a:t>
            </a:r>
            <a:r>
              <a:rPr lang="en-US"/>
              <a:t>c khai báo và sử dụng nh</a:t>
            </a:r>
            <a:r>
              <a:rPr lang="vi-VN"/>
              <a:t>ư</a:t>
            </a:r>
            <a:r>
              <a:rPr lang="en-US"/>
              <a:t> cấu trúc</a:t>
            </a:r>
          </a:p>
          <a:p>
            <a:pPr lvl="1">
              <a:defRPr/>
            </a:pPr>
            <a:r>
              <a:rPr lang="en-US">
                <a:solidFill>
                  <a:srgbClr val="FF0000"/>
                </a:solidFill>
              </a:rPr>
              <a:t>Các thành phần của union có chung </a:t>
            </a:r>
            <a:r>
              <a:rPr lang="vi-VN">
                <a:solidFill>
                  <a:srgbClr val="FF0000"/>
                </a:solidFill>
              </a:rPr>
              <a:t>đị</a:t>
            </a:r>
            <a:r>
              <a:rPr lang="en-US">
                <a:solidFill>
                  <a:srgbClr val="FF0000"/>
                </a:solidFill>
              </a:rPr>
              <a:t>a chỉ </a:t>
            </a:r>
            <a:r>
              <a:rPr lang="vi-VN">
                <a:solidFill>
                  <a:srgbClr val="FF0000"/>
                </a:solidFill>
              </a:rPr>
              <a:t>đầ</a:t>
            </a:r>
            <a:r>
              <a:rPr lang="en-US">
                <a:solidFill>
                  <a:srgbClr val="FF0000"/>
                </a:solidFill>
              </a:rPr>
              <a:t>u (nằm chồng lên nhau trong bộ nhớ)</a:t>
            </a:r>
          </a:p>
          <a:p>
            <a:pPr>
              <a:defRPr/>
            </a:pPr>
            <a:r>
              <a:rPr lang="en-US"/>
              <a:t>Khai báo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90600" y="3733800"/>
            <a:ext cx="7315200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union &lt;tên kiểu union&gt;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1&gt;;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&lt;kiểu dữ liệu&gt; &lt;tên thành phần 2&gt;;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75068-8001-4B2F-AA7A-BBBE83928536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21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81052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685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1143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1600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20574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2514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2971800" y="48768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3429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685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</a:t>
            </a:r>
            <a:endParaRPr lang="en-US" sz="2400" baseline="300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1143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</a:t>
            </a:r>
            <a:endParaRPr lang="en-US" sz="2400" baseline="300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16002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2</a:t>
            </a:r>
            <a:endParaRPr lang="en-US" sz="2400" baseline="300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20574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3</a:t>
            </a:r>
            <a:endParaRPr lang="en-US" sz="2400" baseline="30000"/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2514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4</a:t>
            </a:r>
            <a:endParaRPr lang="en-US" sz="2400" baseline="30000"/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3429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2971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389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sánh struct và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</p:txBody>
      </p:sp>
      <p:sp>
        <p:nvSpPr>
          <p:cNvPr id="3893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52400" cy="2133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3581400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struct MYSTRUCT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char c;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n;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 s;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s.c = 1; s.n = 2;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2057400"/>
            <a:ext cx="152400" cy="2133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2057400"/>
            <a:ext cx="3581400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union MYUNION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char c;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	int n;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} u;</a:t>
            </a:r>
          </a:p>
          <a:p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u.c = 1; u.n = 2; 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>
            <a:off x="685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01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gray">
          <a:xfrm>
            <a:off x="1143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02</a:t>
            </a: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gray">
          <a:xfrm>
            <a:off x="1600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20574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gray">
          <a:xfrm>
            <a:off x="2514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gray">
          <a:xfrm>
            <a:off x="685800" y="5410200"/>
            <a:ext cx="457200" cy="4572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  <a:endParaRPr lang="en-US" sz="2400" baseline="30000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1143000" y="5410200"/>
            <a:ext cx="1828800" cy="4572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n</a:t>
            </a:r>
            <a:endParaRPr lang="en-US" sz="2400" baseline="30000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4419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4876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5334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5791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6248400" y="48768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4419600" y="5410200"/>
            <a:ext cx="457200" cy="4572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c</a:t>
            </a:r>
            <a:endParaRPr lang="en-US" sz="2400" baseline="300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4419600" y="5943600"/>
            <a:ext cx="1828800" cy="4572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n</a:t>
            </a:r>
            <a:endParaRPr lang="en-US" sz="2400" baseline="300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6705600" y="48768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7162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4419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</a:t>
            </a:r>
            <a:endParaRPr lang="en-US" sz="2400" baseline="300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4876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1</a:t>
            </a:r>
            <a:endParaRPr lang="en-US" sz="2400" baseline="30000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53340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2</a:t>
            </a:r>
            <a:endParaRPr lang="en-US" sz="2400" baseline="30000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57912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3</a:t>
            </a:r>
            <a:endParaRPr lang="en-US" sz="2400" baseline="30000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62484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71628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6705600" y="4419600"/>
            <a:ext cx="457200" cy="457200"/>
          </a:xfrm>
          <a:prstGeom prst="roundRect">
            <a:avLst>
              <a:gd name="adj" fmla="val 16667"/>
            </a:avLst>
          </a:prstGeom>
          <a:noFill/>
          <a:ln>
            <a:noFill/>
            <a:prstDash val="sysDash"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…</a:t>
            </a:r>
            <a:endParaRPr lang="en-US" sz="2400" baseline="30000"/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gray">
          <a:xfrm>
            <a:off x="4419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01</a:t>
            </a:r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44196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02</a:t>
            </a:r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48768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gray">
          <a:xfrm>
            <a:off x="53340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59" name="AutoShape 6"/>
          <p:cNvSpPr>
            <a:spLocks noChangeArrowheads="1"/>
          </p:cNvSpPr>
          <p:nvPr/>
        </p:nvSpPr>
        <p:spPr bwMode="gray">
          <a:xfrm>
            <a:off x="5791200" y="4876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400"/>
              <a:t>00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AE55-B21F-46BC-B218-4C742F43E101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22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326339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" grpId="0" animBg="1"/>
      <p:bldP spid="6" grpId="0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60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Phân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số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defRPr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(PHANSO)</a:t>
            </a:r>
          </a:p>
          <a:p>
            <a:pPr lvl="1">
              <a:defRPr/>
            </a:pP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1">
              <a:defRPr/>
            </a:pPr>
            <a:r>
              <a:rPr lang="en-US" dirty="0" err="1"/>
              <a:t>Rút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1">
              <a:defRPr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, </a:t>
            </a:r>
            <a:r>
              <a:rPr lang="en-US" dirty="0" err="1"/>
              <a:t>hiệu</a:t>
            </a:r>
            <a:r>
              <a:rPr lang="en-US" dirty="0"/>
              <a:t>, </a:t>
            </a:r>
            <a:r>
              <a:rPr lang="en-US" dirty="0" err="1"/>
              <a:t>tích</a:t>
            </a:r>
            <a:r>
              <a:rPr lang="en-US" dirty="0"/>
              <a:t>, </a:t>
            </a:r>
            <a:r>
              <a:rPr lang="en-US" dirty="0" err="1"/>
              <a:t>th</a:t>
            </a:r>
            <a:r>
              <a:rPr lang="vi-VN" dirty="0"/>
              <a:t>ươ</a:t>
            </a:r>
            <a:r>
              <a:rPr lang="en-US" dirty="0"/>
              <a:t>ng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1">
              <a:defRPr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giản</a:t>
            </a:r>
            <a:endParaRPr lang="en-US" dirty="0"/>
          </a:p>
          <a:p>
            <a:pPr lvl="1">
              <a:defRPr/>
            </a:pPr>
            <a:r>
              <a:rPr lang="en-US" dirty="0" err="1"/>
              <a:t>Quy</a:t>
            </a:r>
            <a:r>
              <a:rPr lang="en-US" dirty="0"/>
              <a:t> </a:t>
            </a:r>
            <a:r>
              <a:rPr lang="vi-VN" dirty="0"/>
              <a:t>đồ</a:t>
            </a:r>
            <a:r>
              <a:rPr lang="en-US" dirty="0"/>
              <a:t>ng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1">
              <a:defRPr/>
            </a:pPr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(4/6) 4:2/6:2</a:t>
            </a:r>
          </a:p>
        </p:txBody>
      </p:sp>
      <p:sp>
        <p:nvSpPr>
          <p:cNvPr id="4198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4CCF-1E41-4102-B5CC-45711E3FD6AA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23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194393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  <a:defRPr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Mảng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phân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số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defRPr/>
            </a:pP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Xuất</a:t>
            </a:r>
            <a:r>
              <a:rPr lang="en-US" dirty="0"/>
              <a:t> n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1">
              <a:defRPr/>
            </a:pPr>
            <a:r>
              <a:rPr lang="en-US" dirty="0" err="1"/>
              <a:t>Rút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1">
              <a:defRPr/>
            </a:pP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ượ</a:t>
            </a:r>
            <a:r>
              <a:rPr lang="en-US" dirty="0"/>
              <a:t>ng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/d</a:t>
            </a:r>
            <a:r>
              <a:rPr lang="vi-VN" dirty="0"/>
              <a:t>ươ</a:t>
            </a:r>
            <a:r>
              <a:rPr lang="en-US" dirty="0"/>
              <a:t>ng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d</a:t>
            </a:r>
            <a:r>
              <a:rPr lang="vi-VN" dirty="0"/>
              <a:t>ươ</a:t>
            </a:r>
            <a:r>
              <a:rPr lang="en-US" dirty="0"/>
              <a:t>ng </a:t>
            </a:r>
            <a:r>
              <a:rPr lang="vi-VN" dirty="0"/>
              <a:t>đầ</a:t>
            </a:r>
            <a:r>
              <a:rPr lang="en-US" dirty="0"/>
              <a:t>u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/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lvl="1">
              <a:defRPr/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t</a:t>
            </a:r>
            <a:r>
              <a:rPr lang="vi-VN" dirty="0"/>
              <a:t>ă</a:t>
            </a:r>
            <a:r>
              <a:rPr lang="en-US" dirty="0"/>
              <a:t>ng </a:t>
            </a:r>
            <a:r>
              <a:rPr lang="en-US" dirty="0" err="1"/>
              <a:t>dần</a:t>
            </a:r>
            <a:r>
              <a:rPr lang="en-US" dirty="0"/>
              <a:t>/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endParaRPr lang="en-US" dirty="0"/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E9D2-67E2-4E30-A60B-10C699C79906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24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2038015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  <a:defRPr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Điểm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trong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mặt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phẳng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Oxy</a:t>
            </a:r>
          </a:p>
          <a:p>
            <a:pPr lvl="1">
              <a:defRPr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vi-VN" dirty="0"/>
              <a:t>đ</a:t>
            </a:r>
            <a:r>
              <a:rPr lang="en-US" dirty="0" err="1"/>
              <a:t>iểm</a:t>
            </a:r>
            <a:r>
              <a:rPr lang="en-US" dirty="0"/>
              <a:t> (DIEM)</a:t>
            </a:r>
          </a:p>
          <a:p>
            <a:pPr lvl="1">
              <a:defRPr/>
            </a:pP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/>
              <a:t> </a:t>
            </a:r>
            <a:r>
              <a:rPr lang="vi-VN" dirty="0"/>
              <a:t>2 đ</a:t>
            </a:r>
            <a:r>
              <a:rPr lang="en-US" dirty="0" err="1"/>
              <a:t>iểm</a:t>
            </a:r>
            <a:r>
              <a:rPr lang="en-US" dirty="0"/>
              <a:t> A </a:t>
            </a:r>
            <a:r>
              <a:rPr lang="en-US" dirty="0" err="1"/>
              <a:t>và</a:t>
            </a:r>
            <a:r>
              <a:rPr lang="en-US" dirty="0"/>
              <a:t> B</a:t>
            </a:r>
          </a:p>
          <a:p>
            <a:pPr lvl="1">
              <a:defRPr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vi-VN" dirty="0"/>
              <a:t>đ</a:t>
            </a:r>
            <a:r>
              <a:rPr lang="en-US" dirty="0" err="1"/>
              <a:t>iểm</a:t>
            </a:r>
            <a:r>
              <a:rPr lang="en-US" dirty="0"/>
              <a:t> A </a:t>
            </a:r>
            <a:r>
              <a:rPr lang="en-US" dirty="0" err="1"/>
              <a:t>và</a:t>
            </a:r>
            <a:r>
              <a:rPr lang="en-US" dirty="0"/>
              <a:t> B</a:t>
            </a:r>
          </a:p>
          <a:p>
            <a:pPr lvl="1"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vi-VN" dirty="0"/>
              <a:t>đ</a:t>
            </a:r>
            <a:r>
              <a:rPr lang="en-US" dirty="0" err="1"/>
              <a:t>iểm</a:t>
            </a:r>
            <a:r>
              <a:rPr lang="en-US" dirty="0"/>
              <a:t> </a:t>
            </a:r>
            <a:r>
              <a:rPr lang="vi-VN" dirty="0"/>
              <a:t>đố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xứng</a:t>
            </a:r>
            <a:r>
              <a:rPr lang="en-US" dirty="0"/>
              <a:t> qua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toạ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/>
              <a:t>/</a:t>
            </a:r>
            <a:r>
              <a:rPr lang="en-US" dirty="0" err="1"/>
              <a:t>trục</a:t>
            </a:r>
            <a:r>
              <a:rPr lang="en-US" dirty="0"/>
              <a:t> Ox/Oy</a:t>
            </a:r>
          </a:p>
          <a:p>
            <a:pPr marL="514350" indent="-514350">
              <a:buFont typeface="+mj-lt"/>
              <a:buAutoNum type="arabicPeriod" startAt="3"/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Tam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giác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defRPr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tam </a:t>
            </a:r>
            <a:r>
              <a:rPr lang="en-US" dirty="0" err="1"/>
              <a:t>giác</a:t>
            </a:r>
            <a:r>
              <a:rPr lang="en-US" dirty="0"/>
              <a:t> (TAMGIAC)</a:t>
            </a:r>
          </a:p>
          <a:p>
            <a:pPr lvl="1">
              <a:defRPr/>
            </a:pP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Xuất</a:t>
            </a:r>
            <a:r>
              <a:rPr lang="en-US" dirty="0"/>
              <a:t> tam </a:t>
            </a:r>
            <a:r>
              <a:rPr lang="en-US" dirty="0" err="1"/>
              <a:t>giác</a:t>
            </a:r>
            <a:endParaRPr lang="en-US" dirty="0"/>
          </a:p>
          <a:p>
            <a:pPr lvl="1">
              <a:defRPr/>
            </a:pPr>
            <a:r>
              <a:rPr lang="en-US" dirty="0" err="1"/>
              <a:t>Tính</a:t>
            </a:r>
            <a:r>
              <a:rPr lang="en-US" dirty="0"/>
              <a:t> chu vi,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tam </a:t>
            </a:r>
            <a:r>
              <a:rPr lang="en-US" dirty="0" err="1"/>
              <a:t>giác</a:t>
            </a:r>
            <a:endParaRPr lang="en-US" dirty="0"/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78C73-A258-4976-A9A5-4E692F14CA03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25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3686920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  <a:defRPr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Mảng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vi-VN" dirty="0">
                <a:solidFill>
                  <a:schemeClr val="tx1">
                    <a:lumMod val="95000"/>
                    <a:lumOff val="5000"/>
                  </a:schemeClr>
                </a:solidFill>
              </a:rPr>
              <a:t>đ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iểm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defRPr/>
            </a:pPr>
            <a:r>
              <a:rPr lang="en-US" dirty="0" err="1"/>
              <a:t>Nhập</a:t>
            </a:r>
            <a:r>
              <a:rPr lang="en-US" dirty="0"/>
              <a:t>/</a:t>
            </a:r>
            <a:r>
              <a:rPr lang="en-US" dirty="0" err="1"/>
              <a:t>Xuất</a:t>
            </a:r>
            <a:r>
              <a:rPr lang="en-US" dirty="0"/>
              <a:t> n </a:t>
            </a:r>
            <a:r>
              <a:rPr lang="vi-VN" dirty="0"/>
              <a:t>đ</a:t>
            </a:r>
            <a:r>
              <a:rPr lang="en-US" dirty="0" err="1"/>
              <a:t>iểm</a:t>
            </a:r>
            <a:endParaRPr lang="en-US" dirty="0"/>
          </a:p>
          <a:p>
            <a:pPr lvl="1">
              <a:defRPr/>
            </a:pP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l</a:t>
            </a:r>
            <a:r>
              <a:rPr lang="vi-VN" dirty="0"/>
              <a:t>ượ</a:t>
            </a:r>
            <a:r>
              <a:rPr lang="en-US" dirty="0"/>
              <a:t>ng </a:t>
            </a:r>
            <a:r>
              <a:rPr lang="vi-VN" dirty="0"/>
              <a:t>đ</a:t>
            </a:r>
            <a:r>
              <a:rPr lang="en-US" dirty="0" err="1"/>
              <a:t>iểm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hoành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/>
              <a:t> d</a:t>
            </a:r>
            <a:r>
              <a:rPr lang="vi-VN" dirty="0"/>
              <a:t>ươ</a:t>
            </a:r>
            <a:r>
              <a:rPr lang="en-US" dirty="0"/>
              <a:t>ng</a:t>
            </a:r>
          </a:p>
          <a:p>
            <a:pPr lvl="1"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vi-VN" dirty="0"/>
              <a:t>đ</a:t>
            </a:r>
            <a:r>
              <a:rPr lang="en-US" dirty="0" err="1"/>
              <a:t>iểm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hoành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/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pPr lvl="1">
              <a:defRPr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vi-VN" dirty="0"/>
              <a:t>đ</a:t>
            </a:r>
            <a:r>
              <a:rPr lang="en-US" dirty="0" err="1"/>
              <a:t>iểm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vi-VN" dirty="0"/>
              <a:t>độ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pPr marL="514350" indent="-514350">
              <a:buFont typeface="+mj-lt"/>
              <a:buAutoNum type="arabicPeriod" startAt="6"/>
              <a:defRPr/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sinh</a:t>
            </a:r>
            <a:endParaRPr lang="en-US" dirty="0"/>
          </a:p>
          <a:p>
            <a:pPr marL="952500" lvl="1" indent="-514350">
              <a:defRPr/>
            </a:pP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(HOCSINH)</a:t>
            </a:r>
          </a:p>
          <a:p>
            <a:pPr marL="952500" lvl="1" indent="-514350">
              <a:defRPr/>
            </a:pPr>
            <a:r>
              <a:rPr lang="en-US" dirty="0" err="1"/>
              <a:t>Nhập</a:t>
            </a:r>
            <a:r>
              <a:rPr lang="en-US" dirty="0"/>
              <a:t> n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: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,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,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hoá</a:t>
            </a:r>
            <a:r>
              <a:rPr lang="en-US" dirty="0"/>
              <a:t>,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. (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= </a:t>
            </a:r>
            <a:r>
              <a:rPr lang="en-US" dirty="0" err="1"/>
              <a:t>toán</a:t>
            </a:r>
            <a:r>
              <a:rPr lang="en-US" dirty="0"/>
              <a:t> + </a:t>
            </a:r>
            <a:r>
              <a:rPr lang="en-US" dirty="0" err="1"/>
              <a:t>lý</a:t>
            </a:r>
            <a:r>
              <a:rPr lang="en-US" dirty="0"/>
              <a:t> + </a:t>
            </a:r>
            <a:r>
              <a:rPr lang="en-US" dirty="0" err="1"/>
              <a:t>hoá</a:t>
            </a:r>
            <a:r>
              <a:rPr lang="en-US" dirty="0"/>
              <a:t>,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hoá</a:t>
            </a:r>
            <a:r>
              <a:rPr lang="en-US" dirty="0"/>
              <a:t>)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8-Kiểu dữ liệu cấu trúc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009D8-A909-4792-9A04-8E1BFCD25112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26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1197058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US"/>
              <a:t>Quản lý học sinh</a:t>
            </a:r>
          </a:p>
          <a:p>
            <a:pPr marL="952500" lvl="1" indent="-514350"/>
            <a:r>
              <a:rPr lang="en-US"/>
              <a:t>Sắp xếp danh sách theo thứ tự giảm của tổng điểm, in kết quả ra màn hình</a:t>
            </a:r>
          </a:p>
          <a:p>
            <a:pPr marL="952500" lvl="1" indent="-514350"/>
            <a:r>
              <a:rPr lang="en-US"/>
              <a:t>Tìm kiếm theo họ và tên của học sinh, đưa kết quả ra màn hình.</a:t>
            </a:r>
          </a:p>
          <a:p>
            <a:pPr marL="952500" lvl="1" indent="-514350"/>
            <a:r>
              <a:rPr lang="en-US"/>
              <a:t>In ra màn hình các thí sinh có tổng điểm lớn hơn 15</a:t>
            </a:r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3754-FA8D-432B-BC84-91E95DB4C609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8-Kiểu dữ liệu cấu trúc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27</a:t>
            </a:fld>
            <a:r>
              <a:rPr lang="vi-VN"/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3648948783"/>
      </p:ext>
    </p:extLst>
  </p:cSld>
  <p:clrMapOvr>
    <a:masterClrMapping/>
  </p:clrMapOvr>
</p:sld>
</file>

<file path=ppt/theme/theme1.xml><?xml version="1.0" encoding="utf-8"?>
<a:theme xmlns:a="http://schemas.openxmlformats.org/drawingml/2006/main" name="MM_Lec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3-Mang may tinh</Template>
  <TotalTime>34019</TotalTime>
  <Words>2699</Words>
  <Application>Microsoft Office PowerPoint</Application>
  <PresentationFormat>On-screen Show (4:3)</PresentationFormat>
  <Paragraphs>490</Paragraphs>
  <Slides>27</Slides>
  <Notes>11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Tahoma</vt:lpstr>
      <vt:lpstr>Wingdings</vt:lpstr>
      <vt:lpstr>MM_Lec1</vt:lpstr>
      <vt:lpstr>Chương 8 KIỂU DỮ LIỆU CẤU TRÚC (structure)</vt:lpstr>
      <vt:lpstr>Nội dung</vt:lpstr>
      <vt:lpstr>1. Khái niệm kiểu cấu trúc</vt:lpstr>
      <vt:lpstr>Khai báo cấu trúc</vt:lpstr>
      <vt:lpstr>Khai báo cấu trúc (tt)</vt:lpstr>
      <vt:lpstr>Khai báo cấu trúc lồng nhau</vt:lpstr>
      <vt:lpstr>Khai báo biến kiểu cấu trúc</vt:lpstr>
      <vt:lpstr>2. Các thao tác với cấu trúc</vt:lpstr>
      <vt:lpstr>Truy cập vào phần tử struct</vt:lpstr>
      <vt:lpstr>Gán dữ liệu kiểu cấu trúc</vt:lpstr>
      <vt:lpstr>Cấu trúc phức tạp</vt:lpstr>
      <vt:lpstr>Ví dụ - Nhập/in thông tin sinh viên</vt:lpstr>
      <vt:lpstr>Ví dụ - Nhập/in thông tin sinh viên</vt:lpstr>
      <vt:lpstr>Ví dụ - Tính tổng 2 số phức</vt:lpstr>
      <vt:lpstr>Ví dụ - Tính tổng 2 số phức</vt:lpstr>
      <vt:lpstr>4. Con trỏ cấu trúc</vt:lpstr>
      <vt:lpstr>Con trỏ cấu trúc (tt)</vt:lpstr>
      <vt:lpstr>5. Chuyển tham số struct cho hàm</vt:lpstr>
      <vt:lpstr>Ví dụ - Số phức</vt:lpstr>
      <vt:lpstr>Ví dụ - Số phức (tt)</vt:lpstr>
      <vt:lpstr>6. Union</vt:lpstr>
      <vt:lpstr>So sánh struct và union</vt:lpstr>
      <vt:lpstr>Bài tập thực hành</vt:lpstr>
      <vt:lpstr>Bài tập thực hành</vt:lpstr>
      <vt:lpstr>Bài tập thực hành</vt:lpstr>
      <vt:lpstr>Bài tập thực hành</vt:lpstr>
      <vt:lpstr>Bài tập thực hành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SỞ LẬP TRÌNH 1</dc:title>
  <dc:creator>Quy Tai</dc:creator>
  <cp:lastModifiedBy>Le Cam Tu</cp:lastModifiedBy>
  <cp:revision>90</cp:revision>
  <dcterms:created xsi:type="dcterms:W3CDTF">2011-07-17T01:46:34Z</dcterms:created>
  <dcterms:modified xsi:type="dcterms:W3CDTF">2024-01-14T12:59:33Z</dcterms:modified>
</cp:coreProperties>
</file>