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52"/>
  </p:notesMasterIdLst>
  <p:sldIdLst>
    <p:sldId id="256" r:id="rId2"/>
    <p:sldId id="258" r:id="rId3"/>
    <p:sldId id="259" r:id="rId4"/>
    <p:sldId id="340" r:id="rId5"/>
    <p:sldId id="262" r:id="rId6"/>
    <p:sldId id="263" r:id="rId7"/>
    <p:sldId id="264" r:id="rId8"/>
    <p:sldId id="342" r:id="rId9"/>
    <p:sldId id="343" r:id="rId10"/>
    <p:sldId id="344" r:id="rId11"/>
    <p:sldId id="268" r:id="rId12"/>
    <p:sldId id="270" r:id="rId13"/>
    <p:sldId id="272" r:id="rId14"/>
    <p:sldId id="274" r:id="rId15"/>
    <p:sldId id="275" r:id="rId16"/>
    <p:sldId id="276" r:id="rId17"/>
    <p:sldId id="277" r:id="rId18"/>
    <p:sldId id="278" r:id="rId19"/>
    <p:sldId id="279" r:id="rId20"/>
    <p:sldId id="280" r:id="rId21"/>
    <p:sldId id="281" r:id="rId22"/>
    <p:sldId id="282" r:id="rId23"/>
    <p:sldId id="353" r:id="rId24"/>
    <p:sldId id="286" r:id="rId25"/>
    <p:sldId id="305" r:id="rId26"/>
    <p:sldId id="306" r:id="rId27"/>
    <p:sldId id="307" r:id="rId28"/>
    <p:sldId id="308" r:id="rId29"/>
    <p:sldId id="317" r:id="rId30"/>
    <p:sldId id="318" r:id="rId31"/>
    <p:sldId id="354" r:id="rId32"/>
    <p:sldId id="355" r:id="rId33"/>
    <p:sldId id="321" r:id="rId34"/>
    <p:sldId id="322" r:id="rId35"/>
    <p:sldId id="323" r:id="rId36"/>
    <p:sldId id="324" r:id="rId37"/>
    <p:sldId id="325" r:id="rId38"/>
    <p:sldId id="326" r:id="rId39"/>
    <p:sldId id="327" r:id="rId40"/>
    <p:sldId id="328" r:id="rId41"/>
    <p:sldId id="329" r:id="rId42"/>
    <p:sldId id="330" r:id="rId43"/>
    <p:sldId id="352" r:id="rId44"/>
    <p:sldId id="356" r:id="rId45"/>
    <p:sldId id="357" r:id="rId46"/>
    <p:sldId id="358" r:id="rId47"/>
    <p:sldId id="359" r:id="rId48"/>
    <p:sldId id="360" r:id="rId49"/>
    <p:sldId id="337" r:id="rId50"/>
    <p:sldId id="351" r:id="rId51"/>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p:cViewPr varScale="1">
        <p:scale>
          <a:sx n="74" d="100"/>
          <a:sy n="74" d="100"/>
        </p:scale>
        <p:origin x="1598"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pPr/>
              <a:t>14/01/2024</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pPr/>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5734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E447F2BB-55CF-4216-BF0F-5BEAAAB42DD8}" type="slidenum">
              <a:rPr lang="en-US" smtClean="0"/>
              <a:pPr>
                <a:defRPr/>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042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CD1968BD-25BD-4DCE-885C-7C9414B1FF63}" type="slidenum">
              <a:rPr lang="en-US" smtClean="0"/>
              <a:pPr>
                <a:defRPr/>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14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CFFF0856-5656-4B79-B26C-0D8CB1C7F9AE}" type="slidenum">
              <a:rPr lang="en-US" smtClean="0"/>
              <a:pPr>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246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AC2B2186-2E30-41F0-8286-F4919C5793F0}" type="slidenum">
              <a:rPr lang="en-US" smtClean="0"/>
              <a:pPr>
                <a:defRPr/>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349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B1C31B4F-CB1A-424D-B2BB-769D74A00CE5}" type="slidenum">
              <a:rPr lang="en-US" smtClean="0"/>
              <a:pPr>
                <a:defRPr/>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451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ADC96CD2-B463-46EE-86BE-4EC8B03383D1}" type="slidenum">
              <a:rPr lang="en-US" smtClean="0"/>
              <a:pPr>
                <a:defRPr/>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65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870195F7-A596-4B33-A9C7-0E2B6923E57C}" type="slidenum">
              <a:rPr lang="en-US" smtClean="0"/>
              <a:pPr>
                <a:defRPr/>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686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1710F666-CA02-47C9-9023-E3B7E4B080C1}" type="slidenum">
              <a:rPr lang="en-US" smtClean="0"/>
              <a:pPr>
                <a:defRPr/>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066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103CF205-DC55-4285-ABBB-DA2A42938E9C}" type="slidenum">
              <a:rPr lang="en-US" smtClean="0"/>
              <a:pPr>
                <a:defRPr/>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270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489C1EE5-33B0-4781-9EBD-F0E7EF751434}" type="slidenum">
              <a:rPr lang="en-US" smtClean="0"/>
              <a:pPr>
                <a:defRPr/>
              </a:pPr>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373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5929FE1A-C790-4D5B-AA1A-B42227154878}" type="slidenum">
              <a:rPr lang="en-US" smtClean="0"/>
              <a:pPr>
                <a:defRPr/>
              </a:pPr>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475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0B74B2A3-348A-4A90-B89C-25692FC65BEB}" type="slidenum">
              <a:rPr lang="en-US" smtClean="0"/>
              <a:pPr>
                <a:defRPr/>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57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AA2EEECE-B0AE-4A8D-8A7A-3D4433CE2BC9}" type="slidenum">
              <a:rPr lang="en-US" smtClean="0"/>
              <a:pPr>
                <a:defRPr/>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680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0EFF6F80-B1FD-414C-8FC2-9ECB9B724560}" type="slidenum">
              <a:rPr lang="en-US" smtClean="0"/>
              <a:pPr>
                <a:defRPr/>
              </a:pPr>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782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C250BADF-1429-4D52-B034-7F0FAD1599F5}" type="slidenum">
              <a:rPr lang="en-US" smtClean="0"/>
              <a:pPr>
                <a:defRPr/>
              </a:pPr>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885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7013A25B-2356-47C5-8F7B-8646AF572F45}" type="slidenum">
              <a:rPr lang="en-US" smtClean="0"/>
              <a:pPr>
                <a:defRPr/>
              </a:pPr>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p:spPr>
      </p:sp>
      <p:sp>
        <p:nvSpPr>
          <p:cNvPr id="798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7987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380F6F47-9122-4005-916B-E5B90486E33B}" type="slidenum">
              <a:rPr lang="en-US" smtClean="0"/>
              <a:pPr>
                <a:defRPr/>
              </a:pPr>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8090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56D210EE-BBA9-4843-BE14-4615F1345454}" type="slidenum">
              <a:rPr lang="en-US" smtClean="0"/>
              <a:pPr>
                <a:defRPr/>
              </a:pPr>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8499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8471B2E1-357B-4791-9142-626D5361CCB9}" type="slidenum">
              <a:rPr lang="en-US" smtClean="0"/>
              <a:pPr>
                <a:defRPr/>
              </a:pPr>
              <a:t>24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86070FE-2CBD-40E2-9608-A0A1FB5BACEB}" type="slidenum">
              <a:rPr lang="en-US"/>
              <a:pPr/>
              <a:t>25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6A9B9D-1553-4602-A305-A70AFEE1CA35}" type="slidenum">
              <a:rPr lang="en-US"/>
              <a:pPr/>
              <a:t>26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716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9C50CB4-EFE3-4AFC-96DE-039D910BF071}" type="slidenum">
              <a:rPr lang="en-US"/>
              <a:pPr/>
              <a:t>27</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727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C9E550F-429F-48D7-B827-ADFBBF420D76}" type="slidenum">
              <a:rPr lang="en-US"/>
              <a:pPr/>
              <a:t>28</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1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B49CA07-63E1-40F6-94E7-0070BC8D313B}" type="slidenum">
              <a:rPr lang="en-US"/>
              <a:pPr/>
              <a:t>29</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2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B8F7AD-7068-4910-8EA6-621E2E259EA2}" type="slidenum">
              <a:rPr lang="en-US"/>
              <a:pPr/>
              <a:t>30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511773F-B0E6-4A32-A658-D368C4B131DC}" type="slidenum">
              <a:rPr lang="en-US"/>
              <a:pPr/>
              <a:t>33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C69DB78-3462-4B5E-91D9-E19BEAF5C2CB}" type="slidenum">
              <a:rPr lang="en-US"/>
              <a:pPr/>
              <a:t>34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80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588EADD-06A7-49CE-AA97-50D103F09331}" type="slidenum">
              <a:rPr lang="en-US"/>
              <a:pPr/>
              <a:t>35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890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E10B505-5041-41FE-ABF7-E1409A84CB96}" type="slidenum">
              <a:rPr lang="en-US"/>
              <a:pPr/>
              <a:t>36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01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F94CE66-0A74-43BC-A549-05E64772563B}" type="slidenum">
              <a:rPr lang="en-US"/>
              <a:pPr/>
              <a:t>37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1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46D909C-5B15-4ECC-8CBE-B7D8FE3E0125}" type="slidenum">
              <a:rPr lang="en-US"/>
              <a:pPr/>
              <a:t>38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2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53664B-BCDD-4B83-9BCC-04019A6BDD6C}" type="slidenum">
              <a:rPr lang="en-US"/>
              <a:pPr/>
              <a:t>39</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31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C0AA869-156B-4A15-A0F8-6BAFC2980CF2}" type="slidenum">
              <a:rPr lang="en-US"/>
              <a:pPr/>
              <a:t>40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42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A311D47-E9DD-4EEE-B3D8-6E9BA832140B}" type="slidenum">
              <a:rPr lang="en-US"/>
              <a:pPr/>
              <a:t>41</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952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057DC0-A574-4569-8342-8336521F01B9}" type="slidenum">
              <a:rPr lang="en-US"/>
              <a:pPr/>
              <a:t>42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CA"/>
          </a:p>
        </p:txBody>
      </p:sp>
      <p:sp>
        <p:nvSpPr>
          <p:cNvPr id="1024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8145A8-399E-4EFF-B98E-629EF4E83EB4}" type="slidenum">
              <a:rPr lang="en-US"/>
              <a:pPr/>
              <a:t>49</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vi-VN"/>
          </a:p>
        </p:txBody>
      </p:sp>
      <p:sp>
        <p:nvSpPr>
          <p:cNvPr id="942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73AEBDD8-D9B0-4724-861C-4A7DF1850CEA}" type="slidenum">
              <a:rPr lang="en-US" smtClean="0"/>
              <a:pPr>
                <a:defRPr/>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defRPr sz="3600" b="1">
                <a:solidFill>
                  <a:schemeClr val="tx1"/>
                </a:solidFill>
              </a:defRPr>
            </a:lvl1pPr>
          </a:lstStyle>
          <a:p>
            <a:r>
              <a:rPr lang="en-US"/>
              <a:t>Click to edit Master title style</a:t>
            </a:r>
            <a:endParaRPr lang="en-GB"/>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a:lvl1pPr>
          </a:lstStyle>
          <a:p>
            <a:r>
              <a:rPr lang="en-US"/>
              <a:t>Click to edit Master subtitle style</a:t>
            </a:r>
            <a:endParaRPr lang="en-GB"/>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7F28418E-93CF-47CB-ACC7-83A7F612466D}" type="datetime1">
              <a:rPr lang="vi-VN" smtClean="0"/>
              <a:t>14/01/2024</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6-Kiểu con trỏ</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pPr/>
              <a:t>‹#›</a:t>
            </a:fld>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3829" y="0"/>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03B5415-E8BF-412F-934F-756BAE0D9C3F}" type="datetime1">
              <a:rPr lang="vi-VN" smtClean="0"/>
              <a:t>14/01/2024</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6-Kiểu con trỏ</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/50</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smtClean="0"/>
            </a:lvl1pPr>
          </a:lstStyle>
          <a:p>
            <a:fld id="{A9CAA7E4-E1EA-4489-BFBB-EC19ED5DA94A}"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6"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140083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9DE4A123-A738-4641-AB03-C20EC9302E9A}"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smtClean="0"/>
            </a:lvl1pPr>
          </a:lstStyle>
          <a:p>
            <a:fld id="{BA10A050-1A1E-4696-97A2-FA5DF5D7EF00}" type="datetime1">
              <a:rPr lang="vi-VN" smtClean="0"/>
              <a:t>14/01/2024</a:t>
            </a:fld>
            <a:endParaRPr lang="vi-VN"/>
          </a:p>
        </p:txBody>
      </p:sp>
      <p:sp>
        <p:nvSpPr>
          <p:cNvPr id="8"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9"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131303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smtClean="0"/>
            </a:lvl1pPr>
          </a:lstStyle>
          <a:p>
            <a:fld id="{B3ECE2E9-0E00-46AD-8D15-C41C8065A923}" type="datetime1">
              <a:rPr lang="vi-VN" smtClean="0"/>
              <a:t>14/01/2024</a:t>
            </a:fld>
            <a:endParaRPr lang="vi-VN"/>
          </a:p>
        </p:txBody>
      </p:sp>
      <p:sp>
        <p:nvSpPr>
          <p:cNvPr id="4"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5"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302728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smtClean="0"/>
            </a:lvl1pPr>
          </a:lstStyle>
          <a:p>
            <a:fld id="{05232161-04E8-4887-B9E4-418ADD9C19D3}" type="datetime1">
              <a:rPr lang="vi-VN" smtClean="0"/>
              <a:t>14/01/2024</a:t>
            </a:fld>
            <a:endParaRPr lang="vi-VN"/>
          </a:p>
        </p:txBody>
      </p:sp>
      <p:sp>
        <p:nvSpPr>
          <p:cNvPr id="3"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4"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206297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57090DB5-1735-40FA-80D4-C76B0E9ABEE0}"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56410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6F83573E-33EF-4E48-8F16-7CEA1A83B76B}"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234067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EF12BC13-F05C-4D48-B4B7-A4FB82063A40}"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144755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0955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1341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92BB9445-C9ED-47C6-97CB-1D6F5E3B1E94}"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6-Kiểu con trỏ</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9558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F8343E83-EB7C-4D4B-82F5-AD4C0DDA8A05}" type="datetime1">
              <a:rPr lang="vi-VN" smtClean="0"/>
              <a:t>14/01/2024</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6-Kiểu con trỏ</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590800"/>
            <a:ext cx="7931224" cy="990600"/>
          </a:xfrm>
          <a:effectLst>
            <a:reflection blurRad="6350" stA="52000" endA="300" endPos="35000" dir="5400000" sy="-100000" algn="bl" rotWithShape="0"/>
          </a:effectLst>
        </p:spPr>
        <p:txBody>
          <a:bodyPr/>
          <a:lstStyle/>
          <a:p>
            <a:pPr algn="ct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6</a:t>
            </a:r>
            <a:b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b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KIỂU CON TRỎ</a:t>
            </a:r>
            <a:endParaRPr lang="vi-VN" sz="4400">
              <a:solidFill>
                <a:srgbClr val="000066"/>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4" name="TextBox 3"/>
          <p:cNvSpPr txBox="1"/>
          <p:nvPr/>
        </p:nvSpPr>
        <p:spPr>
          <a:xfrm>
            <a:off x="3491880" y="6237312"/>
            <a:ext cx="2736304" cy="461665"/>
          </a:xfrm>
          <a:prstGeom prst="rect">
            <a:avLst/>
          </a:prstGeom>
          <a:noFill/>
        </p:spPr>
        <p:txBody>
          <a:bodyPr wrap="square" rtlCol="0">
            <a:spAutoFit/>
          </a:bodyPr>
          <a:lstStyle/>
          <a:p>
            <a:r>
              <a:rPr lang="en-US" sz="2400" dirty="0" err="1"/>
              <a:t>Hà</a:t>
            </a:r>
            <a:r>
              <a:rPr lang="en-US" sz="2400" dirty="0"/>
              <a:t> </a:t>
            </a:r>
            <a:r>
              <a:rPr lang="en-US" sz="2400" dirty="0" err="1"/>
              <a:t>Nội</a:t>
            </a:r>
            <a:r>
              <a:rPr lang="en-US" sz="2400" dirty="0"/>
              <a:t> </a:t>
            </a:r>
            <a:r>
              <a:rPr lang="en-US" sz="2400"/>
              <a:t>– 2024</a:t>
            </a:r>
            <a:endParaRPr lang="vi-VN" sz="2400" dirty="0"/>
          </a:p>
        </p:txBody>
      </p:sp>
      <p:sp>
        <p:nvSpPr>
          <p:cNvPr id="6" name="Subtitle 5">
            <a:extLst>
              <a:ext uri="{FF2B5EF4-FFF2-40B4-BE49-F238E27FC236}">
                <a16:creationId xmlns:a16="http://schemas.microsoft.com/office/drawing/2014/main" id="{418733E7-D35A-4908-9E73-0CB58210477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63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t>Nội dung</a:t>
            </a:r>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DB9ECC8A-39B3-4AE8-90D7-75C7F18E92AD}"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a:t>
            </a:fld>
            <a:endParaRPr lang="vi-VN"/>
          </a:p>
        </p:txBody>
      </p:sp>
      <p:grpSp>
        <p:nvGrpSpPr>
          <p:cNvPr id="44" name="Group 46"/>
          <p:cNvGrpSpPr>
            <a:grpSpLocks/>
          </p:cNvGrpSpPr>
          <p:nvPr/>
        </p:nvGrpSpPr>
        <p:grpSpPr bwMode="auto">
          <a:xfrm>
            <a:off x="2133600" y="1120646"/>
            <a:ext cx="4724400" cy="68580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4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Con trỏ</a:t>
              </a:r>
              <a:r>
                <a:rPr kumimoji="0" lang="en-US" sz="1800" b="1" i="0" u="none" strike="noStrike" kern="0" cap="none" spc="0" normalizeH="0" noProof="0">
                  <a:ln>
                    <a:noFill/>
                  </a:ln>
                  <a:solidFill>
                    <a:srgbClr val="000000"/>
                  </a:solidFill>
                  <a:effectLst/>
                  <a:uLnTx/>
                  <a:uFillTx/>
                </a:rPr>
                <a:t> và địa chỉ</a:t>
              </a:r>
              <a:endParaRPr kumimoji="0" lang="en-US" sz="1800" b="1" i="0" u="none" strike="noStrike" kern="0" cap="none" spc="0" normalizeH="0" baseline="0" noProof="0">
                <a:ln>
                  <a:noFill/>
                </a:ln>
                <a:solidFill>
                  <a:srgbClr val="000000"/>
                </a:solidFill>
                <a:effectLst/>
                <a:uLnTx/>
                <a:uFillTx/>
              </a:endParaRP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1</a:t>
              </a:r>
            </a:p>
          </p:txBody>
        </p:sp>
      </p:grpSp>
      <p:grpSp>
        <p:nvGrpSpPr>
          <p:cNvPr id="49" name="Group 51"/>
          <p:cNvGrpSpPr>
            <a:grpSpLocks/>
          </p:cNvGrpSpPr>
          <p:nvPr/>
        </p:nvGrpSpPr>
        <p:grpSpPr bwMode="auto">
          <a:xfrm>
            <a:off x="2133600" y="1844824"/>
            <a:ext cx="4724400" cy="685800"/>
            <a:chOff x="1296" y="1824"/>
            <a:chExt cx="2976" cy="432"/>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5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Khai</a:t>
              </a:r>
              <a:r>
                <a:rPr kumimoji="0" lang="en-US" sz="1800" b="1" i="0" u="none" strike="noStrike" kern="0" cap="none" spc="0" normalizeH="0" noProof="0">
                  <a:ln>
                    <a:noFill/>
                  </a:ln>
                  <a:solidFill>
                    <a:srgbClr val="000000"/>
                  </a:solidFill>
                  <a:effectLst/>
                  <a:uLnTx/>
                  <a:uFillTx/>
                </a:rPr>
                <a:t> báo con trỏ</a:t>
              </a:r>
              <a:endParaRPr kumimoji="0" lang="en-US" sz="1800" b="1" i="0" u="none" strike="noStrike" kern="0" cap="none" spc="0" normalizeH="0" baseline="0" noProof="0">
                <a:ln>
                  <a:noFill/>
                </a:ln>
                <a:solidFill>
                  <a:srgbClr val="000000"/>
                </a:solidFill>
                <a:effectLst/>
                <a:uLnTx/>
                <a:uFillTx/>
              </a:endParaRPr>
            </a:p>
          </p:txBody>
        </p:sp>
        <p:sp>
          <p:nvSpPr>
            <p:cNvPr id="5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2</a:t>
              </a:r>
            </a:p>
          </p:txBody>
        </p:sp>
      </p:grpSp>
      <p:grpSp>
        <p:nvGrpSpPr>
          <p:cNvPr id="54" name="Group 56"/>
          <p:cNvGrpSpPr>
            <a:grpSpLocks/>
          </p:cNvGrpSpPr>
          <p:nvPr/>
        </p:nvGrpSpPr>
        <p:grpSpPr bwMode="auto">
          <a:xfrm>
            <a:off x="2133600" y="2564904"/>
            <a:ext cx="4724400" cy="685800"/>
            <a:chOff x="1296" y="1824"/>
            <a:chExt cx="2976" cy="432"/>
          </a:xfrm>
        </p:grpSpPr>
        <p:sp>
          <p:nvSpPr>
            <p:cNvPr id="5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5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57"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Con trỏ và mảng một chiều</a:t>
              </a:r>
            </a:p>
          </p:txBody>
        </p:sp>
        <p:sp>
          <p:nvSpPr>
            <p:cNvPr id="58"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3</a:t>
              </a:r>
            </a:p>
          </p:txBody>
        </p:sp>
      </p:grpSp>
      <p:grpSp>
        <p:nvGrpSpPr>
          <p:cNvPr id="59" name="Group 61"/>
          <p:cNvGrpSpPr>
            <a:grpSpLocks/>
          </p:cNvGrpSpPr>
          <p:nvPr/>
        </p:nvGrpSpPr>
        <p:grpSpPr bwMode="auto">
          <a:xfrm>
            <a:off x="2133600" y="3356992"/>
            <a:ext cx="4724400" cy="68580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62"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Con trỏ và</a:t>
              </a:r>
              <a:r>
                <a:rPr kumimoji="0" lang="en-US" sz="1800" b="1" i="0" u="none" strike="noStrike" kern="0" cap="none" spc="0" normalizeH="0" noProof="0">
                  <a:ln>
                    <a:noFill/>
                  </a:ln>
                  <a:solidFill>
                    <a:srgbClr val="000000"/>
                  </a:solidFill>
                  <a:effectLst/>
                  <a:uLnTx/>
                  <a:uFillTx/>
                </a:rPr>
                <a:t> mảng nhiều chiều</a:t>
              </a:r>
              <a:endParaRPr kumimoji="0" lang="en-US" sz="1800" b="1" i="0" u="none" strike="noStrike" kern="0" cap="none" spc="0" normalizeH="0" baseline="0" noProof="0">
                <a:ln>
                  <a:noFill/>
                </a:ln>
                <a:solidFill>
                  <a:srgbClr val="000000"/>
                </a:solidFill>
                <a:effectLst/>
                <a:uLnTx/>
                <a:uFillTx/>
              </a:endParaRPr>
            </a:p>
          </p:txBody>
        </p:sp>
        <p:sp>
          <p:nvSpPr>
            <p:cNvPr id="63"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4</a:t>
              </a:r>
            </a:p>
          </p:txBody>
        </p:sp>
      </p:grpSp>
      <p:grpSp>
        <p:nvGrpSpPr>
          <p:cNvPr id="64" name="Group 46"/>
          <p:cNvGrpSpPr>
            <a:grpSpLocks/>
          </p:cNvGrpSpPr>
          <p:nvPr/>
        </p:nvGrpSpPr>
        <p:grpSpPr bwMode="auto">
          <a:xfrm>
            <a:off x="2167880" y="4149080"/>
            <a:ext cx="4724400" cy="685800"/>
            <a:chOff x="1296" y="1824"/>
            <a:chExt cx="2976" cy="432"/>
          </a:xfrm>
        </p:grpSpPr>
        <p:sp>
          <p:nvSpPr>
            <p:cNvPr id="6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6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6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lvl="0" eaLnBrk="0" hangingPunct="0">
                <a:defRPr/>
              </a:pPr>
              <a:r>
                <a:rPr lang="en-US" b="1" kern="0">
                  <a:solidFill>
                    <a:srgbClr val="000000"/>
                  </a:solidFill>
                </a:rPr>
                <a:t>Mảng các con trỏ</a:t>
              </a:r>
            </a:p>
          </p:txBody>
        </p:sp>
        <p:sp>
          <p:nvSpPr>
            <p:cNvPr id="6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5</a:t>
              </a:r>
            </a:p>
          </p:txBody>
        </p:sp>
      </p:grpSp>
      <p:grpSp>
        <p:nvGrpSpPr>
          <p:cNvPr id="69" name="Group 51"/>
          <p:cNvGrpSpPr>
            <a:grpSpLocks/>
          </p:cNvGrpSpPr>
          <p:nvPr/>
        </p:nvGrpSpPr>
        <p:grpSpPr bwMode="auto">
          <a:xfrm>
            <a:off x="2178550" y="5623520"/>
            <a:ext cx="4724400" cy="685800"/>
            <a:chOff x="1296" y="1824"/>
            <a:chExt cx="2976" cy="432"/>
          </a:xfrm>
        </p:grpSpPr>
        <p:sp>
          <p:nvSpPr>
            <p:cNvPr id="7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7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7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Cấp</a:t>
              </a:r>
              <a:r>
                <a:rPr kumimoji="0" lang="en-US" sz="1800" b="1" i="0" u="none" strike="noStrike" kern="0" cap="none" spc="0" normalizeH="0" noProof="0">
                  <a:ln>
                    <a:noFill/>
                  </a:ln>
                  <a:solidFill>
                    <a:srgbClr val="000000"/>
                  </a:solidFill>
                  <a:effectLst/>
                  <a:uLnTx/>
                  <a:uFillTx/>
                </a:rPr>
                <a:t> phát bộ nhớ động</a:t>
              </a:r>
              <a:endParaRPr kumimoji="0" lang="en-US" sz="1800" b="1" i="0" u="none" strike="noStrike" kern="0" cap="none" spc="0" normalizeH="0" baseline="0" noProof="0">
                <a:ln>
                  <a:noFill/>
                </a:ln>
                <a:solidFill>
                  <a:srgbClr val="000000"/>
                </a:solidFill>
                <a:effectLst/>
                <a:uLnTx/>
                <a:uFillTx/>
              </a:endParaRPr>
            </a:p>
          </p:txBody>
        </p:sp>
        <p:sp>
          <p:nvSpPr>
            <p:cNvPr id="73" name="Text Box 5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7</a:t>
              </a:r>
            </a:p>
          </p:txBody>
        </p:sp>
      </p:grpSp>
      <p:grpSp>
        <p:nvGrpSpPr>
          <p:cNvPr id="36" name="Group 61"/>
          <p:cNvGrpSpPr>
            <a:grpSpLocks/>
          </p:cNvGrpSpPr>
          <p:nvPr/>
        </p:nvGrpSpPr>
        <p:grpSpPr bwMode="auto">
          <a:xfrm>
            <a:off x="2151856" y="4903440"/>
            <a:ext cx="4724400" cy="685800"/>
            <a:chOff x="1296" y="1824"/>
            <a:chExt cx="2976" cy="432"/>
          </a:xfrm>
        </p:grpSpPr>
        <p:sp>
          <p:nvSpPr>
            <p:cNvPr id="37"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8"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9"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Con trỏ</a:t>
              </a:r>
              <a:r>
                <a:rPr kumimoji="0" lang="en-US" sz="1800" b="1" i="0" u="none" strike="noStrike" kern="0" cap="none" spc="0" normalizeH="0" noProof="0">
                  <a:ln>
                    <a:noFill/>
                  </a:ln>
                  <a:solidFill>
                    <a:srgbClr val="000000"/>
                  </a:solidFill>
                  <a:effectLst/>
                  <a:uLnTx/>
                  <a:uFillTx/>
                </a:rPr>
                <a:t> hàm</a:t>
              </a:r>
              <a:endParaRPr kumimoji="0" lang="en-US" sz="1800" b="1" i="0" u="none" strike="noStrike" kern="0" cap="none" spc="0" normalizeH="0" baseline="0" noProof="0">
                <a:ln>
                  <a:noFill/>
                </a:ln>
                <a:solidFill>
                  <a:srgbClr val="000000"/>
                </a:solidFill>
                <a:effectLst/>
                <a:uLnTx/>
                <a:uFillTx/>
              </a:endParaRPr>
            </a:p>
          </p:txBody>
        </p:sp>
        <p:sp>
          <p:nvSpPr>
            <p:cNvPr id="40" name="Text Box 6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lang="en-US" sz="2400" kern="0">
                  <a:solidFill>
                    <a:srgbClr val="FFFFFF"/>
                  </a:solidFill>
                </a:rPr>
                <a:t>6</a:t>
              </a:r>
              <a:endParaRPr kumimoji="0" lang="en-US" sz="2400" b="0"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3913566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t>1. Con trỏ và địa chỉ</a:t>
            </a:r>
          </a:p>
        </p:txBody>
      </p:sp>
      <p:sp>
        <p:nvSpPr>
          <p:cNvPr id="3" name="Content Placeholder 2"/>
          <p:cNvSpPr>
            <a:spLocks noGrp="1"/>
          </p:cNvSpPr>
          <p:nvPr>
            <p:ph idx="1"/>
          </p:nvPr>
        </p:nvSpPr>
        <p:spPr>
          <a:xfrm>
            <a:off x="762000" y="1143000"/>
            <a:ext cx="8202488" cy="5181600"/>
          </a:xfrm>
        </p:spPr>
        <p:txBody>
          <a:bodyPr/>
          <a:lstStyle/>
          <a:p>
            <a:pPr algn="just" eaLnBrk="1" hangingPunct="1">
              <a:defRPr/>
            </a:pPr>
            <a:r>
              <a:rPr lang="en-US">
                <a:solidFill>
                  <a:srgbClr val="002060"/>
                </a:solidFill>
              </a:rPr>
              <a:t>Ví dụ:</a:t>
            </a:r>
          </a:p>
          <a:p>
            <a:pPr marL="0" indent="0" algn="just" eaLnBrk="1" hangingPunct="1">
              <a:buNone/>
              <a:defRPr/>
            </a:pPr>
            <a:r>
              <a:rPr lang="en-US">
                <a:solidFill>
                  <a:srgbClr val="002060"/>
                </a:solidFill>
              </a:rPr>
              <a:t>	</a:t>
            </a:r>
            <a:r>
              <a:rPr lang="en-US" b="1">
                <a:solidFill>
                  <a:srgbClr val="0000FF"/>
                </a:solidFill>
                <a:latin typeface="Courier New" pitchFamily="49" charset="0"/>
                <a:cs typeface="Courier New" pitchFamily="49" charset="0"/>
              </a:rPr>
              <a:t>float</a:t>
            </a:r>
            <a:r>
              <a:rPr lang="en-US">
                <a:solidFill>
                  <a:srgbClr val="0000FF"/>
                </a:solidFill>
                <a:latin typeface="Courier New" pitchFamily="49" charset="0"/>
                <a:cs typeface="Courier New" pitchFamily="49" charset="0"/>
              </a:rPr>
              <a:t> a=10.12;</a:t>
            </a:r>
          </a:p>
          <a:p>
            <a:pPr marL="796925" lvl="1">
              <a:defRPr/>
            </a:pPr>
            <a:r>
              <a:rPr lang="en-US">
                <a:solidFill>
                  <a:srgbClr val="0000FF"/>
                </a:solidFill>
              </a:rPr>
              <a:t>Xác định một </a:t>
            </a:r>
            <a:r>
              <a:rPr lang="en-US">
                <a:solidFill>
                  <a:srgbClr val="FF0000"/>
                </a:solidFill>
              </a:rPr>
              <a:t>biến</a:t>
            </a:r>
            <a:r>
              <a:rPr lang="en-US">
                <a:solidFill>
                  <a:srgbClr val="0000FF"/>
                </a:solidFill>
              </a:rPr>
              <a:t> có </a:t>
            </a:r>
            <a:r>
              <a:rPr lang="en-US">
                <a:solidFill>
                  <a:srgbClr val="FF0000"/>
                </a:solidFill>
              </a:rPr>
              <a:t>tên</a:t>
            </a:r>
            <a:r>
              <a:rPr lang="en-US">
                <a:solidFill>
                  <a:srgbClr val="0000FF"/>
                </a:solidFill>
              </a:rPr>
              <a:t> a có </a:t>
            </a:r>
            <a:r>
              <a:rPr lang="en-US">
                <a:solidFill>
                  <a:srgbClr val="FF0000"/>
                </a:solidFill>
              </a:rPr>
              <a:t>kiểu </a:t>
            </a:r>
            <a:r>
              <a:rPr lang="en-US">
                <a:solidFill>
                  <a:srgbClr val="0000FF"/>
                </a:solidFill>
              </a:rPr>
              <a:t>float và có </a:t>
            </a:r>
            <a:r>
              <a:rPr lang="en-US">
                <a:solidFill>
                  <a:srgbClr val="FF0000"/>
                </a:solidFill>
              </a:rPr>
              <a:t>giá trị </a:t>
            </a:r>
            <a:r>
              <a:rPr lang="en-US">
                <a:solidFill>
                  <a:srgbClr val="0000FF"/>
                </a:solidFill>
              </a:rPr>
              <a:t>10.12. </a:t>
            </a:r>
          </a:p>
          <a:p>
            <a:pPr marL="796925" lvl="1">
              <a:defRPr/>
            </a:pPr>
            <a:r>
              <a:rPr lang="en-US">
                <a:solidFill>
                  <a:srgbClr val="0000FF"/>
                </a:solidFill>
              </a:rPr>
              <a:t>Máy cấp phát cho x một vùng nhớ gồm 4 byte liên tiếp.</a:t>
            </a:r>
          </a:p>
          <a:p>
            <a:pPr marL="796925" lvl="1">
              <a:defRPr/>
            </a:pPr>
            <a:r>
              <a:rPr lang="en-US">
                <a:solidFill>
                  <a:srgbClr val="0000FF"/>
                </a:solidFill>
              </a:rPr>
              <a:t>Địa chỉ của biến là số thứ tự của byte đầu tiên</a:t>
            </a:r>
          </a:p>
          <a:p>
            <a:pPr>
              <a:defRPr/>
            </a:pPr>
            <a:r>
              <a:rPr lang="en-US">
                <a:solidFill>
                  <a:srgbClr val="002060"/>
                </a:solidFill>
              </a:rPr>
              <a:t>Có nhiều kiểu địa chỉ khác nhau tương ứng với các kiểu biến khác nhau.</a:t>
            </a:r>
          </a:p>
          <a:p>
            <a:pPr>
              <a:defRPr/>
            </a:pPr>
            <a:endParaRPr lang="en-US">
              <a:solidFill>
                <a:srgbClr val="002060"/>
              </a:solidFill>
            </a:endParaRPr>
          </a:p>
        </p:txBody>
      </p:sp>
      <p:sp>
        <p:nvSpPr>
          <p:cNvPr id="5" name="Date Placeholder 4"/>
          <p:cNvSpPr>
            <a:spLocks noGrp="1"/>
          </p:cNvSpPr>
          <p:nvPr>
            <p:ph type="dt" sz="half" idx="10"/>
          </p:nvPr>
        </p:nvSpPr>
        <p:spPr/>
        <p:txBody>
          <a:bodyPr/>
          <a:lstStyle/>
          <a:p>
            <a:fld id="{059392AD-4DDF-48E3-8133-7B8D17EDF398}"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a:t>
            </a:fld>
            <a:r>
              <a:rPr lang="vi-VN"/>
              <a:t>/50</a:t>
            </a:r>
          </a:p>
        </p:txBody>
      </p:sp>
    </p:spTree>
    <p:extLst>
      <p:ext uri="{BB962C8B-B14F-4D97-AF65-F5344CB8AC3E}">
        <p14:creationId xmlns:p14="http://schemas.microsoft.com/office/powerpoint/2010/main" val="735246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 trỏ và địa chỉ</a:t>
            </a:r>
            <a:endParaRPr lang="vi-VN"/>
          </a:p>
        </p:txBody>
      </p:sp>
      <p:sp>
        <p:nvSpPr>
          <p:cNvPr id="3" name="Content Placeholder 2"/>
          <p:cNvSpPr>
            <a:spLocks noGrp="1"/>
          </p:cNvSpPr>
          <p:nvPr>
            <p:ph idx="1"/>
          </p:nvPr>
        </p:nvSpPr>
        <p:spPr/>
        <p:txBody>
          <a:bodyPr/>
          <a:lstStyle/>
          <a:p>
            <a:r>
              <a:rPr lang="en-GB">
                <a:solidFill>
                  <a:srgbClr val="002060"/>
                </a:solidFill>
              </a:rPr>
              <a:t>Con trỏ là một biến dùng để chứa địa chỉ. Có nhiều kiểu con trỏ tương ứng với nhiều loại địa chỉ.</a:t>
            </a:r>
          </a:p>
          <a:p>
            <a:pPr lvl="1"/>
            <a:r>
              <a:rPr lang="en-GB">
                <a:solidFill>
                  <a:srgbClr val="002060"/>
                </a:solidFill>
              </a:rPr>
              <a:t>Ví dụ: </a:t>
            </a:r>
          </a:p>
          <a:p>
            <a:pPr lvl="2"/>
            <a:r>
              <a:rPr lang="en-GB">
                <a:solidFill>
                  <a:srgbClr val="002060"/>
                </a:solidFill>
              </a:rPr>
              <a:t>Con trỏ kiểu int chứa địa chỉ các biến kiểu int…</a:t>
            </a:r>
          </a:p>
          <a:p>
            <a:r>
              <a:rPr lang="en-US" b="1">
                <a:solidFill>
                  <a:srgbClr val="FF0000"/>
                </a:solidFill>
              </a:rPr>
              <a:t>*a </a:t>
            </a:r>
            <a:r>
              <a:rPr lang="en-US"/>
              <a:t>là </a:t>
            </a:r>
            <a:r>
              <a:rPr lang="en-US">
                <a:solidFill>
                  <a:srgbClr val="FF0000"/>
                </a:solidFill>
              </a:rPr>
              <a:t>giá trị </a:t>
            </a:r>
            <a:r>
              <a:rPr lang="en-US"/>
              <a:t>được lưu trong bộ nhớ có địa chỉ </a:t>
            </a:r>
            <a:r>
              <a:rPr lang="en-US" b="1">
                <a:solidFill>
                  <a:srgbClr val="FF0000"/>
                </a:solidFill>
              </a:rPr>
              <a:t>a</a:t>
            </a:r>
            <a:endParaRPr lang="vi-VN"/>
          </a:p>
          <a:p>
            <a:r>
              <a:rPr lang="en-US">
                <a:solidFill>
                  <a:srgbClr val="FF0000"/>
                </a:solidFill>
              </a:rPr>
              <a:t>&amp;a </a:t>
            </a:r>
            <a:r>
              <a:rPr lang="en-US"/>
              <a:t>là </a:t>
            </a:r>
            <a:r>
              <a:rPr lang="en-US">
                <a:solidFill>
                  <a:srgbClr val="FF0000"/>
                </a:solidFill>
              </a:rPr>
              <a:t>địa chỉ </a:t>
            </a:r>
            <a:r>
              <a:rPr lang="en-US"/>
              <a:t>bộ nhớ chứa giá trị </a:t>
            </a:r>
            <a:r>
              <a:rPr lang="en-US" b="1">
                <a:solidFill>
                  <a:srgbClr val="FF0000"/>
                </a:solidFill>
              </a:rPr>
              <a:t>a</a:t>
            </a:r>
            <a:endParaRPr lang="en-GB">
              <a:solidFill>
                <a:srgbClr val="002060"/>
              </a:solidFill>
            </a:endParaRPr>
          </a:p>
          <a:p>
            <a:endParaRPr lang="en-GB">
              <a:solidFill>
                <a:srgbClr val="002060"/>
              </a:solidFill>
            </a:endParaRPr>
          </a:p>
        </p:txBody>
      </p:sp>
      <p:sp>
        <p:nvSpPr>
          <p:cNvPr id="7" name="Date Placeholder 6"/>
          <p:cNvSpPr>
            <a:spLocks noGrp="1"/>
          </p:cNvSpPr>
          <p:nvPr>
            <p:ph type="dt" sz="half" idx="10"/>
          </p:nvPr>
        </p:nvSpPr>
        <p:spPr/>
        <p:txBody>
          <a:bodyPr/>
          <a:lstStyle/>
          <a:p>
            <a:fld id="{62F46ECB-FE06-4146-A531-E6E0CE05EC14}"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6-Kiểu con trỏ</a:t>
            </a:r>
          </a:p>
        </p:txBody>
      </p:sp>
      <p:sp>
        <p:nvSpPr>
          <p:cNvPr id="4" name="Slide Number Placeholder 3"/>
          <p:cNvSpPr>
            <a:spLocks noGrp="1"/>
          </p:cNvSpPr>
          <p:nvPr>
            <p:ph type="sldNum" sz="quarter" idx="12"/>
          </p:nvPr>
        </p:nvSpPr>
        <p:spPr/>
        <p:txBody>
          <a:bodyPr/>
          <a:lstStyle/>
          <a:p>
            <a:fld id="{5AB95402-1E0D-474E-8D8C-CBE7F053639E}" type="slidenum">
              <a:rPr lang="vi-VN" smtClean="0"/>
              <a:pPr/>
              <a:t>4</a:t>
            </a:fld>
            <a:r>
              <a:rPr lang="vi-VN"/>
              <a:t>/50</a:t>
            </a:r>
          </a:p>
        </p:txBody>
      </p:sp>
    </p:spTree>
    <p:extLst>
      <p:ext uri="{BB962C8B-B14F-4D97-AF65-F5344CB8AC3E}">
        <p14:creationId xmlns:p14="http://schemas.microsoft.com/office/powerpoint/2010/main" val="216575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t>2. Khai báo con trỏ</a:t>
            </a:r>
          </a:p>
        </p:txBody>
      </p:sp>
      <p:sp>
        <p:nvSpPr>
          <p:cNvPr id="3" name="Content Placeholder 2"/>
          <p:cNvSpPr>
            <a:spLocks noGrp="1"/>
          </p:cNvSpPr>
          <p:nvPr>
            <p:ph idx="1"/>
          </p:nvPr>
        </p:nvSpPr>
        <p:spPr/>
        <p:txBody>
          <a:bodyPr/>
          <a:lstStyle/>
          <a:p>
            <a:r>
              <a:rPr lang="en-GB">
                <a:solidFill>
                  <a:srgbClr val="002060"/>
                </a:solidFill>
              </a:rPr>
              <a:t>Khai báo trực tiếp</a:t>
            </a:r>
          </a:p>
          <a:p>
            <a:pPr marL="0" indent="0">
              <a:buNone/>
            </a:pPr>
            <a:r>
              <a:rPr lang="en-US" sz="2000" b="1">
                <a:latin typeface="Courier New" pitchFamily="49" charset="0"/>
                <a:cs typeface="Courier New" pitchFamily="49" charset="0"/>
              </a:rPr>
              <a:t>	&lt;kiểu dữ liệu&gt;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&lt;tên biến con trỏ&gt;;</a:t>
            </a:r>
          </a:p>
          <a:p>
            <a:pPr marL="438150" lvl="1" indent="0">
              <a:buNone/>
            </a:pPr>
            <a:r>
              <a:rPr lang="en-GB"/>
              <a:t>Trong đó: </a:t>
            </a:r>
            <a:r>
              <a:rPr lang="en-GB">
                <a:solidFill>
                  <a:srgbClr val="FF0000"/>
                </a:solidFill>
              </a:rPr>
              <a:t>*</a:t>
            </a:r>
            <a:r>
              <a:rPr lang="en-GB"/>
              <a:t> là toán tử con trỏ</a:t>
            </a:r>
          </a:p>
          <a:p>
            <a:pPr lvl="1"/>
            <a:r>
              <a:rPr lang="en-GB">
                <a:solidFill>
                  <a:srgbClr val="002060"/>
                </a:solidFill>
              </a:rPr>
              <a:t>Ví dụ:</a:t>
            </a:r>
          </a:p>
          <a:p>
            <a:pPr marL="909637" lvl="2" indent="0">
              <a:buNone/>
            </a:pPr>
            <a:r>
              <a:rPr lang="en-GB" b="1">
                <a:solidFill>
                  <a:srgbClr val="002060"/>
                </a:solidFill>
                <a:latin typeface="Courier New" pitchFamily="49" charset="0"/>
                <a:cs typeface="Courier New" pitchFamily="49" charset="0"/>
              </a:rPr>
              <a:t>int</a:t>
            </a:r>
            <a:r>
              <a:rPr lang="en-GB">
                <a:solidFill>
                  <a:srgbClr val="002060"/>
                </a:solidFill>
                <a:latin typeface="Courier New" pitchFamily="49" charset="0"/>
                <a:cs typeface="Courier New" pitchFamily="49" charset="0"/>
              </a:rPr>
              <a:t> *p1,m,n;</a:t>
            </a:r>
          </a:p>
          <a:p>
            <a:pPr marL="909637" lvl="2" indent="0">
              <a:buNone/>
            </a:pPr>
            <a:r>
              <a:rPr lang="en-GB">
                <a:latin typeface="Courier New" pitchFamily="49" charset="0"/>
                <a:cs typeface="Courier New" pitchFamily="49" charset="0"/>
              </a:rPr>
              <a:t>p1=&amp;n;</a:t>
            </a:r>
          </a:p>
          <a:p>
            <a:pPr marL="909637" lvl="2" indent="0">
              <a:buNone/>
            </a:pPr>
            <a:r>
              <a:rPr lang="en-GB">
                <a:latin typeface="Courier New" pitchFamily="49" charset="0"/>
                <a:cs typeface="Courier New" pitchFamily="49" charset="0"/>
              </a:rPr>
              <a:t>*p1=10; /* ô nhớ do con trỏ p1 trỏ đến được 		   gán giá trị 10 */</a:t>
            </a:r>
          </a:p>
          <a:p>
            <a:pPr marL="600075" lvl="2" indent="-342900"/>
            <a:r>
              <a:rPr lang="en-GB" sz="2400" b="1">
                <a:solidFill>
                  <a:srgbClr val="FF0000"/>
                </a:solidFill>
              </a:rPr>
              <a:t>Chú ý</a:t>
            </a:r>
            <a:r>
              <a:rPr lang="en-GB" sz="2400">
                <a:solidFill>
                  <a:srgbClr val="0000FF"/>
                </a:solidFill>
              </a:rPr>
              <a:t>: </a:t>
            </a:r>
            <a:r>
              <a:rPr lang="en-US" sz="2400">
                <a:solidFill>
                  <a:srgbClr val="0000FF"/>
                </a:solidFill>
              </a:rPr>
              <a:t>Khi gán địa chỉ của 1 biến cho 1 biến con trỏ, mọi sự thay đổi trên nội dung ô nhớ con trỏ chỉ tới sẽ làm giá trị của biến thay đổi theo.</a:t>
            </a:r>
          </a:p>
          <a:p>
            <a:pPr marL="989013" lvl="3" indent="-342900"/>
            <a:r>
              <a:rPr lang="en-US" sz="2200">
                <a:solidFill>
                  <a:srgbClr val="0000FF"/>
                </a:solidFill>
              </a:rPr>
              <a:t>Ví dụ: </a:t>
            </a:r>
            <a:r>
              <a:rPr lang="en-GB" sz="2000" b="1">
                <a:solidFill>
                  <a:srgbClr val="002060"/>
                </a:solidFill>
                <a:latin typeface="Courier New" pitchFamily="49" charset="0"/>
                <a:cs typeface="Courier New" pitchFamily="49" charset="0"/>
              </a:rPr>
              <a:t>int</a:t>
            </a:r>
            <a:r>
              <a:rPr lang="en-GB" sz="2000">
                <a:solidFill>
                  <a:srgbClr val="002060"/>
                </a:solidFill>
                <a:latin typeface="Courier New" pitchFamily="49" charset="0"/>
                <a:cs typeface="Courier New" pitchFamily="49" charset="0"/>
              </a:rPr>
              <a:t> *p2,a=10; p2=&amp;a; *p2=*p2+3;</a:t>
            </a:r>
          </a:p>
          <a:p>
            <a:pPr marL="646113" lvl="3" indent="0">
              <a:buNone/>
            </a:pPr>
            <a:r>
              <a:rPr lang="en-GB" sz="2200">
                <a:solidFill>
                  <a:srgbClr val="0000FF"/>
                </a:solidFill>
              </a:rPr>
              <a:t>     Khi đó a sẽ có giá trị 13.</a:t>
            </a:r>
          </a:p>
          <a:p>
            <a:pPr marL="0" indent="0">
              <a:buNone/>
            </a:pPr>
            <a:endParaRPr lang="en-GB">
              <a:solidFill>
                <a:srgbClr val="002060"/>
              </a:solidFill>
            </a:endParaRPr>
          </a:p>
        </p:txBody>
      </p:sp>
      <p:sp>
        <p:nvSpPr>
          <p:cNvPr id="9" name="Date Placeholder 8"/>
          <p:cNvSpPr>
            <a:spLocks noGrp="1"/>
          </p:cNvSpPr>
          <p:nvPr>
            <p:ph type="dt" sz="half" idx="10"/>
          </p:nvPr>
        </p:nvSpPr>
        <p:spPr/>
        <p:txBody>
          <a:bodyPr/>
          <a:lstStyle/>
          <a:p>
            <a:fld id="{1B3FB8CB-9880-4A8B-AFEF-2ABE86BA2C88}"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5</a:t>
            </a:fld>
            <a:r>
              <a:rPr lang="vi-VN"/>
              <a:t>/50</a:t>
            </a:r>
          </a:p>
        </p:txBody>
      </p:sp>
    </p:spTree>
    <p:extLst>
      <p:ext uri="{BB962C8B-B14F-4D97-AF65-F5344CB8AC3E}">
        <p14:creationId xmlns:p14="http://schemas.microsoft.com/office/powerpoint/2010/main" val="922751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t>Khai báo con trỏ (tt)</a:t>
            </a:r>
          </a:p>
        </p:txBody>
      </p:sp>
      <p:sp>
        <p:nvSpPr>
          <p:cNvPr id="3" name="Content Placeholder 2"/>
          <p:cNvSpPr>
            <a:spLocks noGrp="1"/>
          </p:cNvSpPr>
          <p:nvPr>
            <p:ph idx="1"/>
          </p:nvPr>
        </p:nvSpPr>
        <p:spPr/>
        <p:txBody>
          <a:bodyPr/>
          <a:lstStyle/>
          <a:p>
            <a:pPr eaLnBrk="1" hangingPunct="1">
              <a:defRPr/>
            </a:pPr>
            <a:r>
              <a:rPr lang="en-US">
                <a:solidFill>
                  <a:srgbClr val="002060"/>
                </a:solidFill>
              </a:rPr>
              <a:t>Khai báo gián tiếp</a:t>
            </a:r>
          </a:p>
          <a:p>
            <a:pPr eaLnBrk="1" hangingPunct="1">
              <a:defRPr/>
            </a:pPr>
            <a:endParaRPr lang="en-US"/>
          </a:p>
          <a:p>
            <a:pPr eaLnBrk="1" hangingPunct="1">
              <a:defRPr/>
            </a:pPr>
            <a:endParaRPr lang="en-US"/>
          </a:p>
          <a:p>
            <a:pPr lvl="1">
              <a:defRPr/>
            </a:pPr>
            <a:r>
              <a:rPr lang="en-US">
                <a:solidFill>
                  <a:srgbClr val="002060"/>
                </a:solidFill>
              </a:rPr>
              <a:t>Ví dụ</a:t>
            </a:r>
          </a:p>
          <a:p>
            <a:pPr lvl="1">
              <a:defRPr/>
            </a:pPr>
            <a:endParaRPr lang="en-US">
              <a:solidFill>
                <a:srgbClr val="002060"/>
              </a:solidFill>
            </a:endParaRPr>
          </a:p>
          <a:p>
            <a:pPr eaLnBrk="1" hangingPunct="1">
              <a:defRPr/>
            </a:pPr>
            <a:endParaRPr lang="en-US">
              <a:solidFill>
                <a:srgbClr val="FF0000"/>
              </a:solidFill>
            </a:endParaRPr>
          </a:p>
          <a:p>
            <a:pPr>
              <a:defRPr/>
            </a:pPr>
            <a:r>
              <a:rPr lang="en-US" sz="2400">
                <a:solidFill>
                  <a:srgbClr val="002060"/>
                </a:solidFill>
              </a:rPr>
              <a:t>Kích th</a:t>
            </a:r>
            <a:r>
              <a:rPr lang="vi-VN" sz="2400">
                <a:solidFill>
                  <a:srgbClr val="002060"/>
                </a:solidFill>
              </a:rPr>
              <a:t>ướ</a:t>
            </a:r>
            <a:r>
              <a:rPr lang="en-US" sz="2400">
                <a:solidFill>
                  <a:srgbClr val="002060"/>
                </a:solidFill>
              </a:rPr>
              <a:t>c của con trỏ</a:t>
            </a:r>
          </a:p>
          <a:p>
            <a:pPr lvl="1">
              <a:defRPr/>
            </a:pPr>
            <a:r>
              <a:rPr lang="en-US"/>
              <a:t>Con trỏ </a:t>
            </a:r>
            <a:r>
              <a:rPr lang="en-US">
                <a:solidFill>
                  <a:srgbClr val="FF0000"/>
                </a:solidFill>
              </a:rPr>
              <a:t>chỉ l</a:t>
            </a:r>
            <a:r>
              <a:rPr lang="vi-VN">
                <a:solidFill>
                  <a:srgbClr val="FF0000"/>
                </a:solidFill>
              </a:rPr>
              <a:t>ư</a:t>
            </a:r>
            <a:r>
              <a:rPr lang="en-US">
                <a:solidFill>
                  <a:srgbClr val="FF0000"/>
                </a:solidFill>
              </a:rPr>
              <a:t>u </a:t>
            </a:r>
            <a:r>
              <a:rPr lang="vi-VN">
                <a:solidFill>
                  <a:srgbClr val="FF0000"/>
                </a:solidFill>
              </a:rPr>
              <a:t>đị</a:t>
            </a:r>
            <a:r>
              <a:rPr lang="en-US">
                <a:solidFill>
                  <a:srgbClr val="FF0000"/>
                </a:solidFill>
              </a:rPr>
              <a:t>a chỉ</a:t>
            </a:r>
            <a:r>
              <a:rPr lang="en-US"/>
              <a:t> nên kích th</a:t>
            </a:r>
            <a:r>
              <a:rPr lang="vi-VN"/>
              <a:t>ước</a:t>
            </a:r>
            <a:r>
              <a:rPr lang="en-US"/>
              <a:t> của mọi con trỏ là nh</a:t>
            </a:r>
            <a:r>
              <a:rPr lang="vi-VN"/>
              <a:t>ư</a:t>
            </a:r>
            <a:r>
              <a:rPr lang="en-US"/>
              <a:t> nhau:</a:t>
            </a:r>
          </a:p>
          <a:p>
            <a:pPr lvl="2">
              <a:defRPr/>
            </a:pPr>
            <a:r>
              <a:rPr lang="en-US"/>
              <a:t>Môi tr</a:t>
            </a:r>
            <a:r>
              <a:rPr lang="vi-VN"/>
              <a:t>ườ</a:t>
            </a:r>
            <a:r>
              <a:rPr lang="en-US"/>
              <a:t>ng MD-DOS (</a:t>
            </a:r>
            <a:r>
              <a:rPr lang="en-US">
                <a:solidFill>
                  <a:srgbClr val="FF0000"/>
                </a:solidFill>
              </a:rPr>
              <a:t>16 bit</a:t>
            </a:r>
            <a:r>
              <a:rPr lang="en-US"/>
              <a:t>): </a:t>
            </a:r>
            <a:r>
              <a:rPr lang="en-US">
                <a:solidFill>
                  <a:srgbClr val="FF0000"/>
                </a:solidFill>
              </a:rPr>
              <a:t>2</a:t>
            </a:r>
            <a:r>
              <a:rPr lang="en-US"/>
              <a:t> bytes</a:t>
            </a:r>
          </a:p>
          <a:p>
            <a:pPr lvl="2">
              <a:defRPr/>
            </a:pPr>
            <a:r>
              <a:rPr lang="en-US"/>
              <a:t>Môi tr</a:t>
            </a:r>
            <a:r>
              <a:rPr lang="vi-VN"/>
              <a:t>ườ</a:t>
            </a:r>
            <a:r>
              <a:rPr lang="en-US"/>
              <a:t>ng Windows (</a:t>
            </a:r>
            <a:r>
              <a:rPr lang="en-US">
                <a:solidFill>
                  <a:srgbClr val="FF0000"/>
                </a:solidFill>
              </a:rPr>
              <a:t>32 bit</a:t>
            </a:r>
            <a:r>
              <a:rPr lang="en-US"/>
              <a:t>): </a:t>
            </a:r>
            <a:r>
              <a:rPr lang="en-US">
                <a:solidFill>
                  <a:srgbClr val="FF0000"/>
                </a:solidFill>
              </a:rPr>
              <a:t>4</a:t>
            </a:r>
            <a:r>
              <a:rPr lang="en-US"/>
              <a:t> bytes</a:t>
            </a:r>
          </a:p>
        </p:txBody>
      </p:sp>
      <p:sp>
        <p:nvSpPr>
          <p:cNvPr id="6" name="TextBox 5"/>
          <p:cNvSpPr txBox="1">
            <a:spLocks noChangeArrowheads="1"/>
          </p:cNvSpPr>
          <p:nvPr/>
        </p:nvSpPr>
        <p:spPr bwMode="auto">
          <a:xfrm>
            <a:off x="1089992" y="1692920"/>
            <a:ext cx="7010400" cy="1015663"/>
          </a:xfrm>
          <a:prstGeom prst="rect">
            <a:avLst/>
          </a:prstGeom>
          <a:noFill/>
          <a:ln w="9525">
            <a:noFill/>
            <a:miter lim="800000"/>
            <a:headEnd/>
            <a:tailEnd/>
          </a:ln>
        </p:spPr>
        <p:txBody>
          <a:bodyPr>
            <a:spAutoFit/>
          </a:bodyPr>
          <a:lstStyle/>
          <a:p>
            <a:r>
              <a:rPr lang="en-US" sz="2000" b="1">
                <a:solidFill>
                  <a:srgbClr val="FF0000"/>
                </a:solidFill>
                <a:latin typeface="Courier New" pitchFamily="49" charset="0"/>
                <a:cs typeface="Courier New" pitchFamily="49" charset="0"/>
              </a:rPr>
              <a:t>typedef</a:t>
            </a:r>
            <a:r>
              <a:rPr lang="en-US" sz="2000" b="1">
                <a:latin typeface="Courier New" pitchFamily="49" charset="0"/>
                <a:cs typeface="Courier New" pitchFamily="49" charset="0"/>
              </a:rPr>
              <a:t> &lt;kiểu dữ liệu&gt;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&lt;tên kiểu con trỏ&gt;;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&lt;tên kiểu con trỏ&gt; &lt;tên biến con trỏ&gt;;</a:t>
            </a:r>
          </a:p>
        </p:txBody>
      </p:sp>
      <p:sp>
        <p:nvSpPr>
          <p:cNvPr id="8" name="TextBox 7"/>
          <p:cNvSpPr txBox="1">
            <a:spLocks noChangeArrowheads="1"/>
          </p:cNvSpPr>
          <p:nvPr/>
        </p:nvSpPr>
        <p:spPr bwMode="auto">
          <a:xfrm>
            <a:off x="1187624" y="3063586"/>
            <a:ext cx="7010400" cy="1016000"/>
          </a:xfrm>
          <a:prstGeom prst="rect">
            <a:avLst/>
          </a:prstGeom>
          <a:noFill/>
          <a:ln w="9525">
            <a:noFill/>
            <a:miter lim="800000"/>
            <a:headEnd/>
            <a:tailEnd/>
          </a:ln>
        </p:spPr>
        <p:txBody>
          <a:bodyPr>
            <a:spAutoFit/>
          </a:bodyPr>
          <a:lstStyle/>
          <a:p>
            <a:r>
              <a:rPr lang="en-US" sz="2000" b="1">
                <a:solidFill>
                  <a:srgbClr val="FF0000"/>
                </a:solidFill>
                <a:latin typeface="Courier New" pitchFamily="49" charset="0"/>
                <a:cs typeface="Courier New" pitchFamily="49" charset="0"/>
              </a:rPr>
              <a:t>typedef</a:t>
            </a:r>
            <a:r>
              <a:rPr lang="en-US" sz="2000" b="1">
                <a:latin typeface="Courier New" pitchFamily="49" charset="0"/>
                <a:cs typeface="Courier New" pitchFamily="49" charset="0"/>
              </a:rPr>
              <a:t> int *pint;</a:t>
            </a:r>
          </a:p>
          <a:p>
            <a:r>
              <a:rPr lang="en-US" sz="2000" b="1">
                <a:latin typeface="Courier New" pitchFamily="49" charset="0"/>
                <a:cs typeface="Courier New" pitchFamily="49" charset="0"/>
              </a:rPr>
              <a:t>int *p1;</a:t>
            </a:r>
          </a:p>
          <a:p>
            <a:r>
              <a:rPr lang="en-US" sz="2000" b="1">
                <a:latin typeface="Courier New" pitchFamily="49" charset="0"/>
                <a:cs typeface="Courier New" pitchFamily="49" charset="0"/>
              </a:rPr>
              <a:t>pint p2, p3;</a:t>
            </a:r>
          </a:p>
        </p:txBody>
      </p:sp>
      <p:sp>
        <p:nvSpPr>
          <p:cNvPr id="11" name="Date Placeholder 10"/>
          <p:cNvSpPr>
            <a:spLocks noGrp="1"/>
          </p:cNvSpPr>
          <p:nvPr>
            <p:ph type="dt" sz="half" idx="10"/>
          </p:nvPr>
        </p:nvSpPr>
        <p:spPr/>
        <p:txBody>
          <a:bodyPr/>
          <a:lstStyle/>
          <a:p>
            <a:fld id="{D4BF196C-7E60-44FD-B547-549A48950932}" type="datetime1">
              <a:rPr lang="vi-VN" smtClean="0"/>
              <a:t>14/01/2024</a:t>
            </a:fld>
            <a:endParaRPr lang="vi-VN"/>
          </a:p>
        </p:txBody>
      </p:sp>
      <p:sp>
        <p:nvSpPr>
          <p:cNvPr id="12" name="Footer Placeholder 11"/>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6</a:t>
            </a:fld>
            <a:r>
              <a:rPr lang="vi-VN"/>
              <a:t>/50</a:t>
            </a:r>
          </a:p>
        </p:txBody>
      </p:sp>
    </p:spTree>
    <p:extLst>
      <p:ext uri="{BB962C8B-B14F-4D97-AF65-F5344CB8AC3E}">
        <p14:creationId xmlns:p14="http://schemas.microsoft.com/office/powerpoint/2010/main" val="2288558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t>Con trỏ NULL</a:t>
            </a:r>
          </a:p>
        </p:txBody>
      </p:sp>
      <p:sp>
        <p:nvSpPr>
          <p:cNvPr id="3" name="Content Placeholder 2"/>
          <p:cNvSpPr>
            <a:spLocks noGrp="1"/>
          </p:cNvSpPr>
          <p:nvPr>
            <p:ph idx="1"/>
          </p:nvPr>
        </p:nvSpPr>
        <p:spPr/>
        <p:txBody>
          <a:bodyPr/>
          <a:lstStyle/>
          <a:p>
            <a:pPr eaLnBrk="1" hangingPunct="1">
              <a:defRPr/>
            </a:pPr>
            <a:r>
              <a:rPr lang="en-US">
                <a:solidFill>
                  <a:srgbClr val="002060"/>
                </a:solidFill>
              </a:rPr>
              <a:t>Khái niệm</a:t>
            </a:r>
          </a:p>
          <a:p>
            <a:pPr lvl="1" eaLnBrk="1" hangingPunct="1">
              <a:defRPr/>
            </a:pPr>
            <a:r>
              <a:rPr lang="en-US"/>
              <a:t>Con trỏ </a:t>
            </a:r>
            <a:r>
              <a:rPr lang="en-US">
                <a:solidFill>
                  <a:srgbClr val="FF0000"/>
                </a:solidFill>
              </a:rPr>
              <a:t>NULL</a:t>
            </a:r>
            <a:r>
              <a:rPr lang="en-US"/>
              <a:t> là con trỏ không trỏ và </a:t>
            </a:r>
            <a:r>
              <a:rPr lang="vi-VN"/>
              <a:t>đâ</a:t>
            </a:r>
            <a:r>
              <a:rPr lang="en-US"/>
              <a:t>u cả.</a:t>
            </a:r>
          </a:p>
          <a:p>
            <a:pPr lvl="1" eaLnBrk="1" hangingPunct="1">
              <a:defRPr/>
            </a:pPr>
            <a:r>
              <a:rPr lang="en-US"/>
              <a:t>Khác với con trỏ ch</a:t>
            </a:r>
            <a:r>
              <a:rPr lang="vi-VN"/>
              <a:t>ư</a:t>
            </a:r>
            <a:r>
              <a:rPr lang="en-US"/>
              <a:t>a </a:t>
            </a:r>
            <a:r>
              <a:rPr lang="vi-VN"/>
              <a:t>đượ</a:t>
            </a:r>
            <a:r>
              <a:rPr lang="en-US"/>
              <a:t>c khởi tạo.</a:t>
            </a:r>
          </a:p>
        </p:txBody>
      </p:sp>
      <p:sp>
        <p:nvSpPr>
          <p:cNvPr id="5" name="AutoShape 6"/>
          <p:cNvSpPr>
            <a:spLocks noChangeArrowheads="1"/>
          </p:cNvSpPr>
          <p:nvPr/>
        </p:nvSpPr>
        <p:spPr bwMode="gray">
          <a:xfrm>
            <a:off x="2286000" y="4953000"/>
            <a:ext cx="9144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6" name="Straight Arrow Connector 5"/>
          <p:cNvCxnSpPr/>
          <p:nvPr/>
        </p:nvCxnSpPr>
        <p:spPr>
          <a:xfrm>
            <a:off x="2743200" y="5181600"/>
            <a:ext cx="10668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AutoShape 6"/>
          <p:cNvSpPr>
            <a:spLocks noChangeArrowheads="1"/>
          </p:cNvSpPr>
          <p:nvPr/>
        </p:nvSpPr>
        <p:spPr bwMode="gray">
          <a:xfrm>
            <a:off x="4876800" y="4953000"/>
            <a:ext cx="9144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10" name="Straight Arrow Connector 9"/>
          <p:cNvCxnSpPr/>
          <p:nvPr/>
        </p:nvCxnSpPr>
        <p:spPr>
          <a:xfrm>
            <a:off x="4884738" y="4989513"/>
            <a:ext cx="895350" cy="411162"/>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900613" y="4976813"/>
            <a:ext cx="869950" cy="409575"/>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AutoShape 6"/>
          <p:cNvSpPr>
            <a:spLocks noChangeArrowheads="1"/>
          </p:cNvSpPr>
          <p:nvPr/>
        </p:nvSpPr>
        <p:spPr bwMode="gray">
          <a:xfrm>
            <a:off x="4876800" y="5486400"/>
            <a:ext cx="9906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NULL</a:t>
            </a:r>
          </a:p>
        </p:txBody>
      </p:sp>
      <p:sp>
        <p:nvSpPr>
          <p:cNvPr id="25" name="Rounded Rectangle 24"/>
          <p:cNvSpPr/>
          <p:nvPr/>
        </p:nvSpPr>
        <p:spPr>
          <a:xfrm>
            <a:off x="685800" y="2780928"/>
            <a:ext cx="152400" cy="1295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22540" name="TextBox 25"/>
          <p:cNvSpPr txBox="1">
            <a:spLocks noChangeArrowheads="1"/>
          </p:cNvSpPr>
          <p:nvPr/>
        </p:nvSpPr>
        <p:spPr bwMode="auto">
          <a:xfrm>
            <a:off x="838200" y="2780928"/>
            <a:ext cx="7010400" cy="1323975"/>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n;</a:t>
            </a:r>
          </a:p>
          <a:p>
            <a:r>
              <a:rPr lang="en-US" sz="2000" b="1">
                <a:latin typeface="Courier New" pitchFamily="49" charset="0"/>
                <a:cs typeface="Courier New" pitchFamily="49" charset="0"/>
              </a:rPr>
              <a:t>int *p1 = &amp;n;</a:t>
            </a:r>
          </a:p>
          <a:p>
            <a:r>
              <a:rPr lang="en-US" sz="2000" b="1">
                <a:latin typeface="Courier New" pitchFamily="49" charset="0"/>
                <a:cs typeface="Courier New" pitchFamily="49" charset="0"/>
              </a:rPr>
              <a:t>int *p2;	// </a:t>
            </a:r>
            <a:r>
              <a:rPr lang="en-US" sz="2000" b="1">
                <a:solidFill>
                  <a:srgbClr val="FF0000"/>
                </a:solidFill>
                <a:latin typeface="Courier New" pitchFamily="49" charset="0"/>
                <a:cs typeface="Courier New" pitchFamily="49" charset="0"/>
              </a:rPr>
              <a:t>unreferenced local varialbe</a:t>
            </a:r>
          </a:p>
          <a:p>
            <a:r>
              <a:rPr lang="en-US" sz="2000" b="1">
                <a:latin typeface="Courier New" pitchFamily="49" charset="0"/>
                <a:cs typeface="Courier New" pitchFamily="49" charset="0"/>
              </a:rPr>
              <a:t>int *p3 = NULL;</a:t>
            </a:r>
          </a:p>
        </p:txBody>
      </p:sp>
      <p:sp>
        <p:nvSpPr>
          <p:cNvPr id="7" name="Date Placeholder 6"/>
          <p:cNvSpPr>
            <a:spLocks noGrp="1"/>
          </p:cNvSpPr>
          <p:nvPr>
            <p:ph type="dt" sz="half" idx="10"/>
          </p:nvPr>
        </p:nvSpPr>
        <p:spPr/>
        <p:txBody>
          <a:bodyPr/>
          <a:lstStyle/>
          <a:p>
            <a:fld id="{088EDF4F-A7EF-4C1A-B4E8-938807A8BDF3}"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7</a:t>
            </a:fld>
            <a:r>
              <a:rPr lang="vi-VN"/>
              <a:t>/50</a:t>
            </a:r>
          </a:p>
        </p:txBody>
      </p:sp>
    </p:spTree>
    <p:extLst>
      <p:ext uri="{BB962C8B-B14F-4D97-AF65-F5344CB8AC3E}">
        <p14:creationId xmlns:p14="http://schemas.microsoft.com/office/powerpoint/2010/main" val="131623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8" presetClass="entr" presetSubtype="32"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amond(out)">
                                      <p:cBhvr>
                                        <p:cTn id="20" dur="500"/>
                                        <p:tgtEl>
                                          <p:spTgt spid="10"/>
                                        </p:tgtEl>
                                      </p:cBhvr>
                                    </p:animEffect>
                                  </p:childTnLst>
                                </p:cTn>
                              </p:par>
                              <p:par>
                                <p:cTn id="21" presetID="8" presetClass="entr" presetSubtype="32"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diamond(out)">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t>Khởi tạo kiểu con trỏ</a:t>
            </a:r>
          </a:p>
        </p:txBody>
      </p:sp>
      <p:sp>
        <p:nvSpPr>
          <p:cNvPr id="3" name="Content Placeholder 2"/>
          <p:cNvSpPr>
            <a:spLocks noGrp="1"/>
          </p:cNvSpPr>
          <p:nvPr>
            <p:ph idx="1"/>
          </p:nvPr>
        </p:nvSpPr>
        <p:spPr/>
        <p:txBody>
          <a:bodyPr/>
          <a:lstStyle/>
          <a:p>
            <a:pPr algn="just" eaLnBrk="1" hangingPunct="1">
              <a:defRPr/>
            </a:pPr>
            <a:r>
              <a:rPr lang="en-US">
                <a:solidFill>
                  <a:srgbClr val="002060"/>
                </a:solidFill>
              </a:rPr>
              <a:t>Khởi tạo</a:t>
            </a:r>
          </a:p>
          <a:p>
            <a:pPr lvl="1" algn="just" eaLnBrk="1" hangingPunct="1">
              <a:defRPr/>
            </a:pPr>
            <a:endParaRPr lang="en-US"/>
          </a:p>
          <a:p>
            <a:pPr lvl="1" algn="just" eaLnBrk="1" hangingPunct="1">
              <a:defRPr/>
            </a:pPr>
            <a:r>
              <a:rPr lang="en-US"/>
              <a:t>Khi mới khai báo, biến con trỏ </a:t>
            </a:r>
            <a:r>
              <a:rPr lang="vi-VN"/>
              <a:t>đượ</a:t>
            </a:r>
            <a:r>
              <a:rPr lang="en-US"/>
              <a:t>c </a:t>
            </a:r>
            <a:r>
              <a:rPr lang="vi-VN">
                <a:solidFill>
                  <a:srgbClr val="FF0000"/>
                </a:solidFill>
              </a:rPr>
              <a:t>đặ</a:t>
            </a:r>
            <a:r>
              <a:rPr lang="en-US">
                <a:solidFill>
                  <a:srgbClr val="FF0000"/>
                </a:solidFill>
              </a:rPr>
              <a:t>t ở </a:t>
            </a:r>
            <a:r>
              <a:rPr lang="vi-VN">
                <a:solidFill>
                  <a:srgbClr val="FF0000"/>
                </a:solidFill>
              </a:rPr>
              <a:t>đị</a:t>
            </a:r>
            <a:r>
              <a:rPr lang="en-US">
                <a:solidFill>
                  <a:srgbClr val="FF0000"/>
                </a:solidFill>
              </a:rPr>
              <a:t>a chỉ nào </a:t>
            </a:r>
            <a:r>
              <a:rPr lang="vi-VN">
                <a:solidFill>
                  <a:srgbClr val="FF0000"/>
                </a:solidFill>
              </a:rPr>
              <a:t>đó</a:t>
            </a:r>
            <a:r>
              <a:rPr lang="en-US"/>
              <a:t> (không biết tr</a:t>
            </a:r>
            <a:r>
              <a:rPr lang="vi-VN"/>
              <a:t>ướ</a:t>
            </a:r>
            <a:r>
              <a:rPr lang="en-US"/>
              <a:t>c). </a:t>
            </a:r>
          </a:p>
          <a:p>
            <a:pPr lvl="1" algn="just" eaLnBrk="1" hangingPunct="1">
              <a:buFont typeface="Wingdings" pitchFamily="2" charset="2"/>
              <a:buNone/>
              <a:defRPr/>
            </a:pPr>
            <a:r>
              <a:rPr lang="en-US">
                <a:sym typeface="Wingdings" pitchFamily="2" charset="2"/>
              </a:rPr>
              <a:t>	 c</a:t>
            </a:r>
            <a:r>
              <a:rPr lang="en-US"/>
              <a:t>hứa </a:t>
            </a:r>
            <a:r>
              <a:rPr lang="en-US">
                <a:solidFill>
                  <a:srgbClr val="FF0000"/>
                </a:solidFill>
              </a:rPr>
              <a:t>giá trị không xác </a:t>
            </a:r>
            <a:r>
              <a:rPr lang="vi-VN">
                <a:solidFill>
                  <a:srgbClr val="FF0000"/>
                </a:solidFill>
              </a:rPr>
              <a:t>đị</a:t>
            </a:r>
            <a:r>
              <a:rPr lang="en-US">
                <a:solidFill>
                  <a:srgbClr val="FF0000"/>
                </a:solidFill>
              </a:rPr>
              <a:t>nh</a:t>
            </a:r>
          </a:p>
          <a:p>
            <a:pPr lvl="1" algn="just" eaLnBrk="1" hangingPunct="1">
              <a:buFont typeface="Wingdings" pitchFamily="2" charset="2"/>
              <a:buNone/>
              <a:defRPr/>
            </a:pPr>
            <a:r>
              <a:rPr lang="en-US">
                <a:sym typeface="Wingdings" pitchFamily="2" charset="2"/>
              </a:rPr>
              <a:t>	 </a:t>
            </a:r>
            <a:r>
              <a:rPr lang="en-US">
                <a:solidFill>
                  <a:srgbClr val="FF0000"/>
                </a:solidFill>
              </a:rPr>
              <a:t>trỏ </a:t>
            </a:r>
            <a:r>
              <a:rPr lang="vi-VN">
                <a:solidFill>
                  <a:srgbClr val="FF0000"/>
                </a:solidFill>
              </a:rPr>
              <a:t>đế</a:t>
            </a:r>
            <a:r>
              <a:rPr lang="en-US">
                <a:solidFill>
                  <a:srgbClr val="FF0000"/>
                </a:solidFill>
              </a:rPr>
              <a:t>n vùng nhớ không biết tr</a:t>
            </a:r>
            <a:r>
              <a:rPr lang="vi-VN">
                <a:solidFill>
                  <a:srgbClr val="FF0000"/>
                </a:solidFill>
              </a:rPr>
              <a:t>ướ</a:t>
            </a:r>
            <a:r>
              <a:rPr lang="en-US">
                <a:solidFill>
                  <a:srgbClr val="FF0000"/>
                </a:solidFill>
              </a:rPr>
              <a:t>c</a:t>
            </a:r>
            <a:r>
              <a:rPr lang="en-US"/>
              <a:t>.</a:t>
            </a:r>
          </a:p>
          <a:p>
            <a:pPr lvl="1" algn="just" eaLnBrk="1" hangingPunct="1">
              <a:defRPr/>
            </a:pPr>
            <a:r>
              <a:rPr lang="en-US"/>
              <a:t>Đặt </a:t>
            </a:r>
            <a:r>
              <a:rPr lang="vi-VN"/>
              <a:t>đị</a:t>
            </a:r>
            <a:r>
              <a:rPr lang="en-US"/>
              <a:t>a chỉ của biến vào con trỏ (toán tử </a:t>
            </a:r>
            <a:r>
              <a:rPr lang="en-US">
                <a:solidFill>
                  <a:srgbClr val="FF0000"/>
                </a:solidFill>
              </a:rPr>
              <a:t>&amp;</a:t>
            </a:r>
            <a:r>
              <a:rPr lang="en-US"/>
              <a:t>)</a:t>
            </a:r>
          </a:p>
          <a:p>
            <a:pPr>
              <a:defRPr/>
            </a:pPr>
            <a:r>
              <a:rPr lang="en-US">
                <a:solidFill>
                  <a:srgbClr val="002060"/>
                </a:solidFill>
              </a:rPr>
              <a:t>Ví dụ</a:t>
            </a:r>
          </a:p>
        </p:txBody>
      </p:sp>
      <p:sp>
        <p:nvSpPr>
          <p:cNvPr id="6" name="TextBox 5"/>
          <p:cNvSpPr txBox="1">
            <a:spLocks noChangeArrowheads="1"/>
          </p:cNvSpPr>
          <p:nvPr/>
        </p:nvSpPr>
        <p:spPr bwMode="auto">
          <a:xfrm>
            <a:off x="1331640" y="1628800"/>
            <a:ext cx="7010400" cy="4000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&lt;tên biến con trỏ&gt; =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&lt;tên biến&gt;;</a:t>
            </a:r>
          </a:p>
        </p:txBody>
      </p:sp>
      <p:sp>
        <p:nvSpPr>
          <p:cNvPr id="10" name="TextBox 9"/>
          <p:cNvSpPr txBox="1">
            <a:spLocks noChangeArrowheads="1"/>
          </p:cNvSpPr>
          <p:nvPr/>
        </p:nvSpPr>
        <p:spPr bwMode="auto">
          <a:xfrm>
            <a:off x="838200" y="4869160"/>
            <a:ext cx="7010400" cy="101600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a, b;</a:t>
            </a:r>
          </a:p>
          <a:p>
            <a:r>
              <a:rPr lang="en-US" sz="2000" b="1">
                <a:latin typeface="Courier New" pitchFamily="49" charset="0"/>
                <a:cs typeface="Courier New" pitchFamily="49" charset="0"/>
              </a:rPr>
              <a:t>int *pa =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a, *pb;</a:t>
            </a:r>
          </a:p>
          <a:p>
            <a:r>
              <a:rPr lang="en-US" sz="2000" b="1">
                <a:latin typeface="Courier New" pitchFamily="49" charset="0"/>
                <a:cs typeface="Courier New" pitchFamily="49" charset="0"/>
              </a:rPr>
              <a:t>pb =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b;</a:t>
            </a:r>
          </a:p>
        </p:txBody>
      </p:sp>
      <p:sp>
        <p:nvSpPr>
          <p:cNvPr id="2" name="Date Placeholder 1"/>
          <p:cNvSpPr>
            <a:spLocks noGrp="1"/>
          </p:cNvSpPr>
          <p:nvPr>
            <p:ph type="dt" sz="half" idx="10"/>
          </p:nvPr>
        </p:nvSpPr>
        <p:spPr/>
        <p:txBody>
          <a:bodyPr/>
          <a:lstStyle/>
          <a:p>
            <a:fld id="{199CB9C4-5EFF-4B29-8E2D-EB9F3508F5B6}" type="datetime1">
              <a:rPr lang="vi-VN" smtClean="0"/>
              <a:t>14/01/2024</a:t>
            </a:fld>
            <a:endParaRPr lang="vi-VN"/>
          </a:p>
        </p:txBody>
      </p:sp>
      <p:sp>
        <p:nvSpPr>
          <p:cNvPr id="4" name="Footer Placeholder 3"/>
          <p:cNvSpPr>
            <a:spLocks noGrp="1"/>
          </p:cNvSpPr>
          <p:nvPr>
            <p:ph type="ftr" sz="quarter" idx="11"/>
          </p:nvPr>
        </p:nvSpPr>
        <p:spPr/>
        <p:txBody>
          <a:bodyPr/>
          <a:lstStyle/>
          <a:p>
            <a:r>
              <a:rPr lang="vi-VN"/>
              <a:t>Chương 6-Kiểu con trỏ</a:t>
            </a:r>
          </a:p>
        </p:txBody>
      </p:sp>
      <p:sp>
        <p:nvSpPr>
          <p:cNvPr id="5" name="Slide Number Placeholder 4"/>
          <p:cNvSpPr>
            <a:spLocks noGrp="1"/>
          </p:cNvSpPr>
          <p:nvPr>
            <p:ph type="sldNum" sz="quarter" idx="12"/>
          </p:nvPr>
        </p:nvSpPr>
        <p:spPr/>
        <p:txBody>
          <a:bodyPr/>
          <a:lstStyle/>
          <a:p>
            <a:fld id="{5AB95402-1E0D-474E-8D8C-CBE7F053639E}" type="slidenum">
              <a:rPr lang="vi-VN" smtClean="0"/>
              <a:pPr/>
              <a:t>8</a:t>
            </a:fld>
            <a:r>
              <a:rPr lang="vi-VN"/>
              <a:t>/50</a:t>
            </a:r>
          </a:p>
        </p:txBody>
      </p:sp>
    </p:spTree>
    <p:extLst>
      <p:ext uri="{BB962C8B-B14F-4D97-AF65-F5344CB8AC3E}">
        <p14:creationId xmlns:p14="http://schemas.microsoft.com/office/powerpoint/2010/main" val="1044954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t>Sử dụng con trỏ</a:t>
            </a:r>
          </a:p>
        </p:txBody>
      </p:sp>
      <p:sp>
        <p:nvSpPr>
          <p:cNvPr id="3" name="Content Placeholder 2"/>
          <p:cNvSpPr>
            <a:spLocks noGrp="1"/>
          </p:cNvSpPr>
          <p:nvPr>
            <p:ph idx="1"/>
          </p:nvPr>
        </p:nvSpPr>
        <p:spPr/>
        <p:txBody>
          <a:bodyPr/>
          <a:lstStyle/>
          <a:p>
            <a:pPr eaLnBrk="1" hangingPunct="1">
              <a:defRPr/>
            </a:pPr>
            <a:r>
              <a:rPr lang="en-US">
                <a:solidFill>
                  <a:srgbClr val="002060"/>
                </a:solidFill>
              </a:rPr>
              <a:t>Truy xuất </a:t>
            </a:r>
            <a:r>
              <a:rPr lang="vi-VN">
                <a:solidFill>
                  <a:srgbClr val="002060"/>
                </a:solidFill>
              </a:rPr>
              <a:t>đế</a:t>
            </a:r>
            <a:r>
              <a:rPr lang="en-US">
                <a:solidFill>
                  <a:srgbClr val="002060"/>
                </a:solidFill>
              </a:rPr>
              <a:t>n ô nhớ mà con trỏ trỏ </a:t>
            </a:r>
            <a:r>
              <a:rPr lang="vi-VN">
                <a:solidFill>
                  <a:srgbClr val="002060"/>
                </a:solidFill>
              </a:rPr>
              <a:t>đế</a:t>
            </a:r>
            <a:r>
              <a:rPr lang="en-US">
                <a:solidFill>
                  <a:srgbClr val="002060"/>
                </a:solidFill>
              </a:rPr>
              <a:t>n</a:t>
            </a:r>
          </a:p>
          <a:p>
            <a:pPr lvl="1" eaLnBrk="1" hangingPunct="1">
              <a:defRPr/>
            </a:pPr>
            <a:r>
              <a:rPr lang="en-US"/>
              <a:t>Con trỏ chứa </a:t>
            </a:r>
            <a:r>
              <a:rPr lang="en-US">
                <a:solidFill>
                  <a:srgbClr val="FF0000"/>
                </a:solidFill>
              </a:rPr>
              <a:t>một số nguyên chỉ </a:t>
            </a:r>
            <a:r>
              <a:rPr lang="vi-VN">
                <a:solidFill>
                  <a:srgbClr val="FF0000"/>
                </a:solidFill>
              </a:rPr>
              <a:t>đị</a:t>
            </a:r>
            <a:r>
              <a:rPr lang="en-US">
                <a:solidFill>
                  <a:srgbClr val="FF0000"/>
                </a:solidFill>
              </a:rPr>
              <a:t>a chỉ</a:t>
            </a:r>
            <a:r>
              <a:rPr lang="en-US"/>
              <a:t>.</a:t>
            </a:r>
          </a:p>
          <a:p>
            <a:pPr lvl="1" eaLnBrk="1" hangingPunct="1">
              <a:defRPr/>
            </a:pPr>
            <a:r>
              <a:rPr lang="en-US"/>
              <a:t>Sử dụng toán tử </a:t>
            </a:r>
            <a:r>
              <a:rPr lang="en-US">
                <a:solidFill>
                  <a:srgbClr val="FF0000"/>
                </a:solidFill>
              </a:rPr>
              <a:t>*</a:t>
            </a:r>
            <a:r>
              <a:rPr lang="en-US"/>
              <a:t>.</a:t>
            </a:r>
          </a:p>
          <a:p>
            <a:pPr eaLnBrk="1" hangingPunct="1">
              <a:defRPr/>
            </a:pPr>
            <a:r>
              <a:rPr lang="en-US">
                <a:solidFill>
                  <a:srgbClr val="002060"/>
                </a:solidFill>
              </a:rPr>
              <a:t>Ví dụ</a:t>
            </a:r>
          </a:p>
        </p:txBody>
      </p:sp>
      <p:sp>
        <p:nvSpPr>
          <p:cNvPr id="10" name="TextBox 9"/>
          <p:cNvSpPr txBox="1">
            <a:spLocks noChangeArrowheads="1"/>
          </p:cNvSpPr>
          <p:nvPr/>
        </p:nvSpPr>
        <p:spPr bwMode="auto">
          <a:xfrm>
            <a:off x="838200" y="3140968"/>
            <a:ext cx="8054280" cy="2554545"/>
          </a:xfrm>
          <a:prstGeom prst="rect">
            <a:avLst/>
          </a:prstGeom>
          <a:noFill/>
          <a:ln w="9525">
            <a:noFill/>
            <a:miter lim="800000"/>
            <a:headEnd/>
            <a:tailEnd/>
          </a:ln>
        </p:spPr>
        <p:txBody>
          <a:bodyPr wrap="square">
            <a:spAutoFit/>
          </a:bodyPr>
          <a:lstStyle/>
          <a:p>
            <a:r>
              <a:rPr lang="en-US" sz="2000" b="1">
                <a:latin typeface="Courier New" pitchFamily="49" charset="0"/>
                <a:cs typeface="Courier New" pitchFamily="49" charset="0"/>
              </a:rPr>
              <a:t>    int n=10;</a:t>
            </a:r>
          </a:p>
          <a:p>
            <a:r>
              <a:rPr lang="en-US" sz="2000" b="1">
                <a:latin typeface="Courier New" pitchFamily="49" charset="0"/>
                <a:cs typeface="Courier New" pitchFamily="49" charset="0"/>
              </a:rPr>
              <a:t>    int *p;</a:t>
            </a:r>
          </a:p>
          <a:p>
            <a:r>
              <a:rPr lang="en-US" sz="2000" b="1">
                <a:latin typeface="Courier New" pitchFamily="49" charset="0"/>
                <a:cs typeface="Courier New" pitchFamily="49" charset="0"/>
              </a:rPr>
              <a:t>    printf("\nDia chi cua n: </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a:t>
            </a:r>
            <a:r>
              <a:rPr lang="en-US" sz="2000" b="1">
                <a:solidFill>
                  <a:srgbClr val="FF0000"/>
                </a:solidFill>
                <a:latin typeface="Courier New" pitchFamily="49" charset="0"/>
                <a:cs typeface="Courier New" pitchFamily="49" charset="0"/>
              </a:rPr>
              <a:t>&amp;n</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printf("\nGia tri cua n: </a:t>
            </a:r>
            <a:r>
              <a:rPr lang="en-US" sz="2000" b="1">
                <a:solidFill>
                  <a:srgbClr val="FF0000"/>
                </a:solidFill>
                <a:latin typeface="Courier New" pitchFamily="49" charset="0"/>
                <a:cs typeface="Courier New" pitchFamily="49" charset="0"/>
              </a:rPr>
              <a:t>%d</a:t>
            </a:r>
            <a:r>
              <a:rPr lang="en-US" sz="2000" b="1">
                <a:latin typeface="Courier New" pitchFamily="49" charset="0"/>
                <a:cs typeface="Courier New" pitchFamily="49" charset="0"/>
              </a:rPr>
              <a:t>",</a:t>
            </a:r>
            <a:r>
              <a:rPr lang="en-US" sz="2000" b="1">
                <a:solidFill>
                  <a:srgbClr val="FF0000"/>
                </a:solidFill>
                <a:latin typeface="Courier New" pitchFamily="49" charset="0"/>
                <a:cs typeface="Courier New" pitchFamily="49" charset="0"/>
              </a:rPr>
              <a:t>n</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p=&amp;n; //Con tro p tro toi n</a:t>
            </a:r>
          </a:p>
          <a:p>
            <a:r>
              <a:rPr lang="en-US" sz="2000" b="1">
                <a:latin typeface="Courier New" pitchFamily="49" charset="0"/>
                <a:cs typeface="Courier New" pitchFamily="49" charset="0"/>
              </a:rPr>
              <a:t>    printf("\nDia chi cua con tro: </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a:t>
            </a:r>
            <a:r>
              <a:rPr lang="en-US" sz="2000" b="1">
                <a:solidFill>
                  <a:srgbClr val="FF0000"/>
                </a:solidFill>
                <a:latin typeface="Courier New" pitchFamily="49" charset="0"/>
                <a:cs typeface="Courier New" pitchFamily="49" charset="0"/>
              </a:rPr>
              <a:t>&amp;p</a:t>
            </a:r>
            <a:r>
              <a:rPr lang="en-US" sz="2000" b="1">
                <a:latin typeface="Courier New" pitchFamily="49" charset="0"/>
                <a:cs typeface="Courier New" pitchFamily="49" charset="0"/>
              </a:rPr>
              <a:t>);    </a:t>
            </a:r>
          </a:p>
          <a:p>
            <a:r>
              <a:rPr lang="en-US" sz="2000" b="1">
                <a:latin typeface="Courier New" pitchFamily="49" charset="0"/>
                <a:cs typeface="Courier New" pitchFamily="49" charset="0"/>
              </a:rPr>
              <a:t>    printf("\nGia tri cua con tro: </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printf("\nGia tri duoc tro toi la: </a:t>
            </a:r>
            <a:r>
              <a:rPr lang="en-US" sz="2000" b="1">
                <a:solidFill>
                  <a:srgbClr val="FF0000"/>
                </a:solidFill>
                <a:latin typeface="Courier New" pitchFamily="49" charset="0"/>
                <a:cs typeface="Courier New" pitchFamily="49" charset="0"/>
              </a:rPr>
              <a:t>%d</a:t>
            </a:r>
            <a:r>
              <a:rPr lang="en-US" sz="2000" b="1">
                <a:latin typeface="Courier New" pitchFamily="49" charset="0"/>
                <a:cs typeface="Courier New" pitchFamily="49" charset="0"/>
              </a:rPr>
              <a:t>",</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AF822878-A832-4B63-915B-ED6860AE4447}"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9</a:t>
            </a:fld>
            <a:r>
              <a:rPr lang="vi-VN"/>
              <a:t>/50</a:t>
            </a:r>
          </a:p>
        </p:txBody>
      </p:sp>
    </p:spTree>
    <p:extLst>
      <p:ext uri="{BB962C8B-B14F-4D97-AF65-F5344CB8AC3E}">
        <p14:creationId xmlns:p14="http://schemas.microsoft.com/office/powerpoint/2010/main" val="2689748416"/>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Sử dụng con trỏ (tt)</a:t>
            </a:r>
            <a:endParaRPr lang="vi-VN"/>
          </a:p>
        </p:txBody>
      </p:sp>
      <p:sp>
        <p:nvSpPr>
          <p:cNvPr id="3" name="Content Placeholder 2"/>
          <p:cNvSpPr>
            <a:spLocks noGrp="1"/>
          </p:cNvSpPr>
          <p:nvPr>
            <p:ph idx="1"/>
          </p:nvPr>
        </p:nvSpPr>
        <p:spPr/>
        <p:txBody>
          <a:bodyPr/>
          <a:lstStyle/>
          <a:p>
            <a:r>
              <a:rPr lang="en-US"/>
              <a:t>Sử dụng tên con trỏ</a:t>
            </a:r>
          </a:p>
          <a:p>
            <a:pPr lvl="1"/>
            <a:r>
              <a:rPr lang="en-US"/>
              <a:t>Giá trị của con trỏ (địa chỉ của biến) được sử dụng trong biểu thức</a:t>
            </a:r>
          </a:p>
          <a:p>
            <a:pPr lvl="1"/>
            <a:r>
              <a:rPr lang="en-US"/>
              <a:t>Nếu tên con trỏ ở bên trái toán tử gán thì giá trị của biểu thức bên phải phải là địa chỉ.</a:t>
            </a:r>
          </a:p>
          <a:p>
            <a:pPr lvl="1"/>
            <a:r>
              <a:rPr lang="en-US"/>
              <a:t>Ví dụ: </a:t>
            </a:r>
            <a:r>
              <a:rPr lang="en-US" sz="2000" b="1">
                <a:solidFill>
                  <a:schemeClr val="tx1">
                    <a:lumMod val="95000"/>
                    <a:lumOff val="5000"/>
                  </a:schemeClr>
                </a:solidFill>
                <a:latin typeface="Courier New" pitchFamily="49" charset="0"/>
                <a:cs typeface="Courier New" pitchFamily="49" charset="0"/>
              </a:rPr>
              <a:t>float</a:t>
            </a:r>
            <a:r>
              <a:rPr lang="en-US" sz="2000">
                <a:solidFill>
                  <a:schemeClr val="tx1">
                    <a:lumMod val="95000"/>
                    <a:lumOff val="5000"/>
                  </a:schemeClr>
                </a:solidFill>
                <a:latin typeface="Courier New" pitchFamily="49" charset="0"/>
                <a:cs typeface="Courier New" pitchFamily="49" charset="0"/>
              </a:rPr>
              <a:t> a,*p,*q;  p=&amp;a;   q=p;</a:t>
            </a:r>
          </a:p>
          <a:p>
            <a:pPr lvl="2">
              <a:buFont typeface="Wingdings" pitchFamily="2" charset="2"/>
              <a:buChar char="è"/>
            </a:pPr>
            <a:r>
              <a:rPr lang="en-GB">
                <a:solidFill>
                  <a:srgbClr val="0000FF"/>
                </a:solidFill>
              </a:rPr>
              <a:t>Kết quả con trỏ q chứa địa chỉ của biến a</a:t>
            </a:r>
            <a:endParaRPr lang="en-US" sz="2400">
              <a:solidFill>
                <a:srgbClr val="0000FF"/>
              </a:solidFill>
            </a:endParaRPr>
          </a:p>
          <a:p>
            <a:r>
              <a:rPr lang="en-US"/>
              <a:t>Sử dụng dạng khai báo</a:t>
            </a:r>
          </a:p>
          <a:p>
            <a:pPr lvl="1"/>
            <a:r>
              <a:rPr lang="en-US"/>
              <a:t>Ví dụ:</a:t>
            </a:r>
          </a:p>
          <a:p>
            <a:pPr marL="469900" lvl="1" indent="514350">
              <a:buNone/>
            </a:pPr>
            <a:r>
              <a:rPr lang="en-US" sz="2000" b="1">
                <a:solidFill>
                  <a:schemeClr val="tx1">
                    <a:lumMod val="95000"/>
                    <a:lumOff val="5000"/>
                  </a:schemeClr>
                </a:solidFill>
                <a:latin typeface="Courier New" pitchFamily="49" charset="0"/>
                <a:cs typeface="Courier New" pitchFamily="49" charset="0"/>
              </a:rPr>
              <a:t>float</a:t>
            </a:r>
            <a:r>
              <a:rPr lang="en-US" sz="2000">
                <a:solidFill>
                  <a:schemeClr val="tx1">
                    <a:lumMod val="95000"/>
                    <a:lumOff val="5000"/>
                  </a:schemeClr>
                </a:solidFill>
                <a:latin typeface="Courier New" pitchFamily="49" charset="0"/>
                <a:cs typeface="Courier New" pitchFamily="49" charset="0"/>
              </a:rPr>
              <a:t> x,*px;</a:t>
            </a:r>
          </a:p>
          <a:p>
            <a:pPr marL="469900" lvl="1" indent="514350">
              <a:buNone/>
            </a:pPr>
            <a:r>
              <a:rPr lang="en-US" sz="2000">
                <a:solidFill>
                  <a:schemeClr val="tx1">
                    <a:lumMod val="95000"/>
                    <a:lumOff val="5000"/>
                  </a:schemeClr>
                </a:solidFill>
                <a:latin typeface="Courier New" pitchFamily="49" charset="0"/>
                <a:cs typeface="Courier New" pitchFamily="49" charset="0"/>
              </a:rPr>
              <a:t>px=&amp;x; //px trỏ tới x</a:t>
            </a:r>
          </a:p>
          <a:p>
            <a:pPr lvl="1"/>
            <a:r>
              <a:rPr lang="en-US"/>
              <a:t>Nếu con trỏ </a:t>
            </a:r>
            <a:r>
              <a:rPr lang="en-US">
                <a:solidFill>
                  <a:srgbClr val="FF0000"/>
                </a:solidFill>
              </a:rPr>
              <a:t>px</a:t>
            </a:r>
            <a:r>
              <a:rPr lang="en-US"/>
              <a:t> trỏ tới biến </a:t>
            </a:r>
            <a:r>
              <a:rPr lang="en-US">
                <a:solidFill>
                  <a:srgbClr val="FF0000"/>
                </a:solidFill>
              </a:rPr>
              <a:t>x</a:t>
            </a:r>
            <a:r>
              <a:rPr lang="en-US"/>
              <a:t> thì cách viết </a:t>
            </a:r>
            <a:r>
              <a:rPr lang="en-US">
                <a:solidFill>
                  <a:srgbClr val="FF0000"/>
                </a:solidFill>
              </a:rPr>
              <a:t>x</a:t>
            </a:r>
            <a:r>
              <a:rPr lang="en-US"/>
              <a:t> và </a:t>
            </a:r>
            <a:r>
              <a:rPr lang="en-US">
                <a:solidFill>
                  <a:srgbClr val="FF0000"/>
                </a:solidFill>
              </a:rPr>
              <a:t>*px </a:t>
            </a:r>
            <a:r>
              <a:rPr lang="en-US"/>
              <a:t>là tương đương trong mọi ngữ cảnh.</a:t>
            </a:r>
          </a:p>
          <a:p>
            <a:pPr lvl="2">
              <a:buFont typeface="Wingdings" pitchFamily="2" charset="2"/>
              <a:buChar char="è"/>
            </a:pPr>
            <a:endParaRPr lang="en-GB">
              <a:solidFill>
                <a:srgbClr val="0000FF"/>
              </a:solidFill>
            </a:endParaRPr>
          </a:p>
        </p:txBody>
      </p:sp>
      <p:sp>
        <p:nvSpPr>
          <p:cNvPr id="7" name="Date Placeholder 6"/>
          <p:cNvSpPr>
            <a:spLocks noGrp="1"/>
          </p:cNvSpPr>
          <p:nvPr>
            <p:ph type="dt" sz="half" idx="10"/>
          </p:nvPr>
        </p:nvSpPr>
        <p:spPr/>
        <p:txBody>
          <a:bodyPr/>
          <a:lstStyle/>
          <a:p>
            <a:fld id="{A1ECA9CC-D337-4594-AC85-0FA6FD47E492}"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6-Kiểu con trỏ</a:t>
            </a:r>
          </a:p>
        </p:txBody>
      </p:sp>
      <p:sp>
        <p:nvSpPr>
          <p:cNvPr id="4" name="Slide Number Placeholder 3"/>
          <p:cNvSpPr>
            <a:spLocks noGrp="1"/>
          </p:cNvSpPr>
          <p:nvPr>
            <p:ph type="sldNum" sz="quarter" idx="12"/>
          </p:nvPr>
        </p:nvSpPr>
        <p:spPr/>
        <p:txBody>
          <a:bodyPr/>
          <a:lstStyle/>
          <a:p>
            <a:fld id="{5AB95402-1E0D-474E-8D8C-CBE7F053639E}" type="slidenum">
              <a:rPr lang="vi-VN" smtClean="0"/>
              <a:pPr/>
              <a:t>10</a:t>
            </a:fld>
            <a:r>
              <a:rPr lang="vi-VN"/>
              <a:t>/50</a:t>
            </a:r>
          </a:p>
        </p:txBody>
      </p:sp>
    </p:spTree>
    <p:extLst>
      <p:ext uri="{BB962C8B-B14F-4D97-AF65-F5344CB8AC3E}">
        <p14:creationId xmlns:p14="http://schemas.microsoft.com/office/powerpoint/2010/main" val="1636833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t>Các cách truyền </a:t>
            </a:r>
            <a:r>
              <a:rPr lang="vi-VN"/>
              <a:t>đố</a:t>
            </a:r>
            <a:r>
              <a:rPr lang="en-US"/>
              <a:t>i số</a:t>
            </a:r>
          </a:p>
        </p:txBody>
      </p:sp>
      <p:sp>
        <p:nvSpPr>
          <p:cNvPr id="3" name="Content Placeholder 2"/>
          <p:cNvSpPr>
            <a:spLocks noGrp="1"/>
          </p:cNvSpPr>
          <p:nvPr>
            <p:ph idx="1"/>
          </p:nvPr>
        </p:nvSpPr>
        <p:spPr/>
        <p:txBody>
          <a:bodyPr/>
          <a:lstStyle/>
          <a:p>
            <a:pPr eaLnBrk="1" hangingPunct="1">
              <a:defRPr/>
            </a:pPr>
            <a:r>
              <a:rPr lang="en-US"/>
              <a:t>Truyền giá trị (tham trị)</a:t>
            </a:r>
          </a:p>
        </p:txBody>
      </p:sp>
      <p:sp>
        <p:nvSpPr>
          <p:cNvPr id="5" name="Rounded Rectangle 4"/>
          <p:cNvSpPr/>
          <p:nvPr/>
        </p:nvSpPr>
        <p:spPr>
          <a:xfrm>
            <a:off x="685800" y="1772816"/>
            <a:ext cx="152400" cy="4419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70104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#include &lt;stdio.h&gt;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void hoanvi(int x, int 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 = 5; b = 6;</a:t>
            </a:r>
          </a:p>
          <a:p>
            <a:r>
              <a:rPr lang="en-US" sz="2000" b="1">
                <a:latin typeface="Courier New" pitchFamily="49" charset="0"/>
                <a:cs typeface="Courier New" pitchFamily="49" charset="0"/>
              </a:rPr>
              <a:t>	hoanvi(a, b);</a:t>
            </a:r>
          </a:p>
          <a:p>
            <a:r>
              <a:rPr lang="en-US" sz="2000" b="1">
                <a:latin typeface="Courier New" pitchFamily="49" charset="0"/>
                <a:cs typeface="Courier New" pitchFamily="49" charset="0"/>
              </a:rPr>
              <a:t>	printf(“a = %d, b = %d”, a, b);</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void hoanvi(</a:t>
            </a:r>
            <a:r>
              <a:rPr lang="en-US" sz="2000" b="1">
                <a:solidFill>
                  <a:srgbClr val="FF0000"/>
                </a:solidFill>
                <a:latin typeface="Courier New" pitchFamily="49" charset="0"/>
                <a:cs typeface="Courier New" pitchFamily="49" charset="0"/>
              </a:rPr>
              <a:t>int x</a:t>
            </a:r>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int y</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t>
            </a:r>
            <a:r>
              <a:rPr lang="en-US" sz="2000" b="1">
                <a:solidFill>
                  <a:srgbClr val="FF0000"/>
                </a:solidFill>
                <a:latin typeface="Courier New" pitchFamily="49" charset="0"/>
                <a:cs typeface="Courier New" pitchFamily="49" charset="0"/>
              </a:rPr>
              <a:t>t = x; x = y; y = t;</a:t>
            </a:r>
          </a:p>
          <a:p>
            <a:r>
              <a:rPr lang="en-US" sz="2000" b="1">
                <a:latin typeface="Courier New" pitchFamily="49" charset="0"/>
                <a:cs typeface="Courier New" pitchFamily="49" charset="0"/>
              </a:rPr>
              <a:t>}</a:t>
            </a:r>
          </a:p>
        </p:txBody>
      </p:sp>
      <p:sp>
        <p:nvSpPr>
          <p:cNvPr id="7" name="Rectangle 6"/>
          <p:cNvSpPr>
            <a:spLocks/>
          </p:cNvSpPr>
          <p:nvPr/>
        </p:nvSpPr>
        <p:spPr bwMode="auto">
          <a:xfrm>
            <a:off x="2743200" y="4797152"/>
            <a:ext cx="1828800" cy="3810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2438400" y="5406752"/>
            <a:ext cx="3048000" cy="381000"/>
          </a:xfrm>
          <a:prstGeom prst="rect">
            <a:avLst/>
          </a:prstGeom>
          <a:solidFill>
            <a:srgbClr val="0099FF">
              <a:alpha val="20000"/>
            </a:srgbClr>
          </a:solidFill>
          <a:ln w="9525" algn="ctr">
            <a:noFill/>
            <a:miter lim="800000"/>
            <a:headEnd/>
            <a:tailEnd/>
          </a:ln>
        </p:spPr>
        <p:txBody>
          <a:bodyPr/>
          <a:lstStyle/>
          <a:p>
            <a:endParaRPr lang="en-US"/>
          </a:p>
        </p:txBody>
      </p:sp>
      <p:sp>
        <p:nvSpPr>
          <p:cNvPr id="9" name="Date Placeholder 8"/>
          <p:cNvSpPr>
            <a:spLocks noGrp="1"/>
          </p:cNvSpPr>
          <p:nvPr>
            <p:ph type="dt" sz="half" idx="10"/>
          </p:nvPr>
        </p:nvSpPr>
        <p:spPr/>
        <p:txBody>
          <a:bodyPr/>
          <a:lstStyle/>
          <a:p>
            <a:fld id="{CB2D7043-86F8-429A-AE46-AF98447D76FA}"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11</a:t>
            </a:fld>
            <a:r>
              <a:rPr lang="vi-VN"/>
              <a:t>/50</a:t>
            </a:r>
          </a:p>
        </p:txBody>
      </p:sp>
    </p:spTree>
    <p:extLst>
      <p:ext uri="{BB962C8B-B14F-4D97-AF65-F5344CB8AC3E}">
        <p14:creationId xmlns:p14="http://schemas.microsoft.com/office/powerpoint/2010/main" val="150489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t>Các cách truyền </a:t>
            </a:r>
            <a:r>
              <a:rPr lang="vi-VN"/>
              <a:t>đố</a:t>
            </a:r>
            <a:r>
              <a:rPr lang="en-US"/>
              <a:t>i số</a:t>
            </a:r>
          </a:p>
        </p:txBody>
      </p:sp>
      <p:sp>
        <p:nvSpPr>
          <p:cNvPr id="3" name="Content Placeholder 2"/>
          <p:cNvSpPr>
            <a:spLocks noGrp="1"/>
          </p:cNvSpPr>
          <p:nvPr>
            <p:ph idx="1"/>
          </p:nvPr>
        </p:nvSpPr>
        <p:spPr/>
        <p:txBody>
          <a:bodyPr/>
          <a:lstStyle/>
          <a:p>
            <a:pPr eaLnBrk="1" hangingPunct="1">
              <a:defRPr/>
            </a:pPr>
            <a:r>
              <a:rPr lang="en-US"/>
              <a:t>Truyền </a:t>
            </a:r>
            <a:r>
              <a:rPr lang="vi-VN"/>
              <a:t>đị</a:t>
            </a:r>
            <a:r>
              <a:rPr lang="en-US"/>
              <a:t>a chỉ (con trỏ)</a:t>
            </a:r>
          </a:p>
        </p:txBody>
      </p:sp>
      <p:sp>
        <p:nvSpPr>
          <p:cNvPr id="5" name="Rounded Rectangle 4"/>
          <p:cNvSpPr/>
          <p:nvPr/>
        </p:nvSpPr>
        <p:spPr>
          <a:xfrm>
            <a:off x="685800" y="1700808"/>
            <a:ext cx="152400" cy="4419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00808"/>
            <a:ext cx="70104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#include &lt;stdio.h&gt;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void hoanvi(int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x, int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 = 2912; b = 1706;</a:t>
            </a:r>
          </a:p>
          <a:p>
            <a:r>
              <a:rPr lang="en-US" sz="2000" b="1">
                <a:latin typeface="Courier New" pitchFamily="49" charset="0"/>
                <a:cs typeface="Courier New" pitchFamily="49" charset="0"/>
              </a:rPr>
              <a:t>	hoanvi(</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a,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b);</a:t>
            </a:r>
          </a:p>
          <a:p>
            <a:r>
              <a:rPr lang="en-US" sz="2000" b="1">
                <a:latin typeface="Courier New" pitchFamily="49" charset="0"/>
                <a:cs typeface="Courier New" pitchFamily="49" charset="0"/>
              </a:rPr>
              <a:t>	printf(“a = %d, b = %d”, a, b);</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void hoanvi(int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x, int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y)</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t =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x;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x =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y;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y = t;</a:t>
            </a:r>
          </a:p>
          <a:p>
            <a:r>
              <a:rPr lang="en-US" sz="2000" b="1">
                <a:latin typeface="Courier New" pitchFamily="49" charset="0"/>
                <a:cs typeface="Courier New" pitchFamily="49" charset="0"/>
              </a:rPr>
              <a:t>}</a:t>
            </a:r>
          </a:p>
        </p:txBody>
      </p:sp>
      <p:sp>
        <p:nvSpPr>
          <p:cNvPr id="7" name="Rectangle 6"/>
          <p:cNvSpPr>
            <a:spLocks/>
          </p:cNvSpPr>
          <p:nvPr/>
        </p:nvSpPr>
        <p:spPr bwMode="auto">
          <a:xfrm>
            <a:off x="2743200" y="4748808"/>
            <a:ext cx="2133600" cy="3810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2438400" y="5358408"/>
            <a:ext cx="3657600" cy="381000"/>
          </a:xfrm>
          <a:prstGeom prst="rect">
            <a:avLst/>
          </a:prstGeom>
          <a:solidFill>
            <a:srgbClr val="0099FF">
              <a:alpha val="20000"/>
            </a:srgbClr>
          </a:solidFill>
          <a:ln w="9525" algn="ctr">
            <a:noFill/>
            <a:miter lim="800000"/>
            <a:headEnd/>
            <a:tailEnd/>
          </a:ln>
        </p:spPr>
        <p:txBody>
          <a:bodyPr/>
          <a:lstStyle/>
          <a:p>
            <a:endParaRPr lang="en-US"/>
          </a:p>
        </p:txBody>
      </p:sp>
      <p:sp>
        <p:nvSpPr>
          <p:cNvPr id="9" name="Date Placeholder 8"/>
          <p:cNvSpPr>
            <a:spLocks noGrp="1"/>
          </p:cNvSpPr>
          <p:nvPr>
            <p:ph type="dt" sz="half" idx="10"/>
          </p:nvPr>
        </p:nvSpPr>
        <p:spPr/>
        <p:txBody>
          <a:bodyPr/>
          <a:lstStyle/>
          <a:p>
            <a:fld id="{0AB9404C-38E0-4FA7-82B0-0B975FBB6EE2}"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12</a:t>
            </a:fld>
            <a:r>
              <a:rPr lang="vi-VN"/>
              <a:t>/50</a:t>
            </a:r>
          </a:p>
        </p:txBody>
      </p:sp>
    </p:spTree>
    <p:extLst>
      <p:ext uri="{BB962C8B-B14F-4D97-AF65-F5344CB8AC3E}">
        <p14:creationId xmlns:p14="http://schemas.microsoft.com/office/powerpoint/2010/main" val="38066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t>Các cách truyền </a:t>
            </a:r>
            <a:r>
              <a:rPr lang="vi-VN"/>
              <a:t>đố</a:t>
            </a:r>
            <a:r>
              <a:rPr lang="en-US"/>
              <a:t>i số</a:t>
            </a:r>
          </a:p>
        </p:txBody>
      </p:sp>
      <p:sp>
        <p:nvSpPr>
          <p:cNvPr id="3" name="Content Placeholder 2"/>
          <p:cNvSpPr>
            <a:spLocks noGrp="1"/>
          </p:cNvSpPr>
          <p:nvPr>
            <p:ph idx="1"/>
          </p:nvPr>
        </p:nvSpPr>
        <p:spPr/>
        <p:txBody>
          <a:bodyPr/>
          <a:lstStyle/>
          <a:p>
            <a:pPr eaLnBrk="1" hangingPunct="1">
              <a:defRPr/>
            </a:pPr>
            <a:r>
              <a:rPr lang="en-US"/>
              <a:t>Truyền tham chiếu (C++)</a:t>
            </a:r>
          </a:p>
        </p:txBody>
      </p:sp>
      <p:sp>
        <p:nvSpPr>
          <p:cNvPr id="5" name="Rounded Rectangle 4"/>
          <p:cNvSpPr/>
          <p:nvPr/>
        </p:nvSpPr>
        <p:spPr>
          <a:xfrm>
            <a:off x="685800" y="1700808"/>
            <a:ext cx="152400" cy="4419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00808"/>
            <a:ext cx="70104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#include &lt;stdio.h&gt;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void hoanvi(int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x, int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 = 2912; b = 1706;</a:t>
            </a:r>
          </a:p>
          <a:p>
            <a:r>
              <a:rPr lang="en-US" sz="2000" b="1">
                <a:latin typeface="Courier New" pitchFamily="49" charset="0"/>
                <a:cs typeface="Courier New" pitchFamily="49" charset="0"/>
              </a:rPr>
              <a:t>	hoanvi(a, b);</a:t>
            </a:r>
          </a:p>
          <a:p>
            <a:r>
              <a:rPr lang="en-US" sz="2000" b="1">
                <a:latin typeface="Courier New" pitchFamily="49" charset="0"/>
                <a:cs typeface="Courier New" pitchFamily="49" charset="0"/>
              </a:rPr>
              <a:t>	printf(“a = %d, b = %d”, a, b);</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void hoanvi(int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x, int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y)</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t = x; x = y; y = t;</a:t>
            </a:r>
          </a:p>
          <a:p>
            <a:r>
              <a:rPr lang="en-US" sz="2000" b="1">
                <a:latin typeface="Courier New" pitchFamily="49" charset="0"/>
                <a:cs typeface="Courier New" pitchFamily="49" charset="0"/>
              </a:rPr>
              <a:t>}</a:t>
            </a:r>
          </a:p>
        </p:txBody>
      </p:sp>
      <p:sp>
        <p:nvSpPr>
          <p:cNvPr id="7" name="Rectangle 6"/>
          <p:cNvSpPr>
            <a:spLocks/>
          </p:cNvSpPr>
          <p:nvPr/>
        </p:nvSpPr>
        <p:spPr bwMode="auto">
          <a:xfrm>
            <a:off x="2743200" y="4748808"/>
            <a:ext cx="2133600" cy="3810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2438400" y="5358408"/>
            <a:ext cx="3048000" cy="381000"/>
          </a:xfrm>
          <a:prstGeom prst="rect">
            <a:avLst/>
          </a:prstGeom>
          <a:solidFill>
            <a:srgbClr val="0099FF">
              <a:alpha val="20000"/>
            </a:srgbClr>
          </a:solidFill>
          <a:ln w="9525" algn="ctr">
            <a:noFill/>
            <a:miter lim="800000"/>
            <a:headEnd/>
            <a:tailEnd/>
          </a:ln>
        </p:spPr>
        <p:txBody>
          <a:bodyPr/>
          <a:lstStyle/>
          <a:p>
            <a:endParaRPr lang="en-US"/>
          </a:p>
        </p:txBody>
      </p:sp>
      <p:sp>
        <p:nvSpPr>
          <p:cNvPr id="9" name="Date Placeholder 8"/>
          <p:cNvSpPr>
            <a:spLocks noGrp="1"/>
          </p:cNvSpPr>
          <p:nvPr>
            <p:ph type="dt" sz="half" idx="10"/>
          </p:nvPr>
        </p:nvSpPr>
        <p:spPr/>
        <p:txBody>
          <a:bodyPr/>
          <a:lstStyle/>
          <a:p>
            <a:fld id="{BA684976-94D5-4D25-8602-74DABDB8268C}"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13</a:t>
            </a:fld>
            <a:r>
              <a:rPr lang="vi-VN"/>
              <a:t>/50</a:t>
            </a:r>
          </a:p>
        </p:txBody>
      </p:sp>
    </p:spTree>
    <p:extLst>
      <p:ext uri="{BB962C8B-B14F-4D97-AF65-F5344CB8AC3E}">
        <p14:creationId xmlns:p14="http://schemas.microsoft.com/office/powerpoint/2010/main" val="190231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t>Một số l</a:t>
            </a:r>
            <a:r>
              <a:rPr lang="vi-VN"/>
              <a:t>ư</a:t>
            </a:r>
            <a:r>
              <a:rPr lang="en-US"/>
              <a:t>u ý</a:t>
            </a:r>
          </a:p>
        </p:txBody>
      </p:sp>
      <p:sp>
        <p:nvSpPr>
          <p:cNvPr id="3" name="Content Placeholder 2"/>
          <p:cNvSpPr>
            <a:spLocks noGrp="1"/>
          </p:cNvSpPr>
          <p:nvPr>
            <p:ph idx="1"/>
          </p:nvPr>
        </p:nvSpPr>
        <p:spPr/>
        <p:txBody>
          <a:bodyPr/>
          <a:lstStyle/>
          <a:p>
            <a:pPr eaLnBrk="1" hangingPunct="1">
              <a:defRPr/>
            </a:pPr>
            <a:r>
              <a:rPr lang="en-US"/>
              <a:t>Một số l</a:t>
            </a:r>
            <a:r>
              <a:rPr lang="vi-VN"/>
              <a:t>ư</a:t>
            </a:r>
            <a:r>
              <a:rPr lang="en-US"/>
              <a:t>u ý</a:t>
            </a:r>
          </a:p>
          <a:p>
            <a:pPr lvl="1" eaLnBrk="1" hangingPunct="1">
              <a:defRPr/>
            </a:pPr>
            <a:r>
              <a:rPr lang="en-US"/>
              <a:t>Con trỏ là khái niệm quan trọng và khó nhất trong C. </a:t>
            </a:r>
          </a:p>
          <a:p>
            <a:pPr lvl="1" eaLnBrk="1" hangingPunct="1">
              <a:defRPr/>
            </a:pPr>
            <a:r>
              <a:rPr lang="en-US"/>
              <a:t>Nắm rõ quy tắc sau, ví dụ </a:t>
            </a:r>
            <a:r>
              <a:rPr lang="en-US">
                <a:solidFill>
                  <a:srgbClr val="FF0000"/>
                </a:solidFill>
              </a:rPr>
              <a:t>int a, *pa = &amp;a;</a:t>
            </a:r>
          </a:p>
          <a:p>
            <a:pPr lvl="2" eaLnBrk="1" hangingPunct="1">
              <a:defRPr/>
            </a:pPr>
            <a:r>
              <a:rPr lang="en-US">
                <a:solidFill>
                  <a:srgbClr val="FF0000"/>
                </a:solidFill>
              </a:rPr>
              <a:t>*pa</a:t>
            </a:r>
            <a:r>
              <a:rPr lang="en-US"/>
              <a:t> và </a:t>
            </a:r>
            <a:r>
              <a:rPr lang="en-US">
                <a:solidFill>
                  <a:srgbClr val="FF0000"/>
                </a:solidFill>
              </a:rPr>
              <a:t>a</a:t>
            </a:r>
            <a:r>
              <a:rPr lang="en-US"/>
              <a:t> </a:t>
            </a:r>
            <a:r>
              <a:rPr lang="vi-VN"/>
              <a:t>đề</a:t>
            </a:r>
            <a:r>
              <a:rPr lang="en-US"/>
              <a:t>u chỉ </a:t>
            </a:r>
            <a:r>
              <a:rPr lang="en-US">
                <a:solidFill>
                  <a:srgbClr val="FF0000"/>
                </a:solidFill>
              </a:rPr>
              <a:t>nội dung</a:t>
            </a:r>
            <a:r>
              <a:rPr lang="en-US"/>
              <a:t> của biến a.</a:t>
            </a:r>
          </a:p>
          <a:p>
            <a:pPr lvl="2" eaLnBrk="1" hangingPunct="1">
              <a:defRPr/>
            </a:pPr>
            <a:r>
              <a:rPr lang="en-US">
                <a:solidFill>
                  <a:srgbClr val="FF0000"/>
                </a:solidFill>
              </a:rPr>
              <a:t>pa</a:t>
            </a:r>
            <a:r>
              <a:rPr lang="en-US"/>
              <a:t> và </a:t>
            </a:r>
            <a:r>
              <a:rPr lang="en-US">
                <a:solidFill>
                  <a:srgbClr val="FF0000"/>
                </a:solidFill>
              </a:rPr>
              <a:t>&amp;a</a:t>
            </a:r>
            <a:r>
              <a:rPr lang="en-US"/>
              <a:t> </a:t>
            </a:r>
            <a:r>
              <a:rPr lang="vi-VN"/>
              <a:t>đề</a:t>
            </a:r>
            <a:r>
              <a:rPr lang="en-US"/>
              <a:t>u chỉ </a:t>
            </a:r>
            <a:r>
              <a:rPr lang="vi-VN">
                <a:solidFill>
                  <a:srgbClr val="FF0000"/>
                </a:solidFill>
              </a:rPr>
              <a:t>đị</a:t>
            </a:r>
            <a:r>
              <a:rPr lang="en-US">
                <a:solidFill>
                  <a:srgbClr val="FF0000"/>
                </a:solidFill>
              </a:rPr>
              <a:t>a chỉ</a:t>
            </a:r>
            <a:r>
              <a:rPr lang="en-US"/>
              <a:t> của biến a.</a:t>
            </a:r>
          </a:p>
          <a:p>
            <a:pPr lvl="1" eaLnBrk="1" hangingPunct="1">
              <a:defRPr/>
            </a:pPr>
            <a:r>
              <a:rPr lang="en-US">
                <a:solidFill>
                  <a:srgbClr val="FF0000"/>
                </a:solidFill>
              </a:rPr>
              <a:t>Không nên</a:t>
            </a:r>
            <a:r>
              <a:rPr lang="en-US"/>
              <a:t> sử dụng con trỏ khi ch</a:t>
            </a:r>
            <a:r>
              <a:rPr lang="vi-VN"/>
              <a:t>ư</a:t>
            </a:r>
            <a:r>
              <a:rPr lang="en-US"/>
              <a:t>a </a:t>
            </a:r>
            <a:r>
              <a:rPr lang="vi-VN"/>
              <a:t>đượ</a:t>
            </a:r>
            <a:r>
              <a:rPr lang="en-US"/>
              <a:t>c khởi tạo. Kết quả sẽ không l</a:t>
            </a:r>
            <a:r>
              <a:rPr lang="vi-VN"/>
              <a:t>ườ</a:t>
            </a:r>
            <a:r>
              <a:rPr lang="en-US"/>
              <a:t>ng tr</a:t>
            </a:r>
            <a:r>
              <a:rPr lang="vi-VN"/>
              <a:t>ướ</a:t>
            </a:r>
            <a:r>
              <a:rPr lang="en-US"/>
              <a:t>c </a:t>
            </a:r>
            <a:r>
              <a:rPr lang="vi-VN"/>
              <a:t>đượ</a:t>
            </a:r>
            <a:r>
              <a:rPr lang="en-US"/>
              <a:t>c.</a:t>
            </a:r>
          </a:p>
          <a:p>
            <a:pPr lvl="1" eaLnBrk="1" hangingPunct="1">
              <a:defRPr/>
            </a:pPr>
            <a:r>
              <a:rPr lang="en-US"/>
              <a:t>Ví dụ:</a:t>
            </a:r>
          </a:p>
          <a:p>
            <a:pPr marL="471487" lvl="1" indent="0">
              <a:buNone/>
              <a:defRPr/>
            </a:pPr>
            <a:r>
              <a:rPr lang="en-US" b="1">
                <a:latin typeface="Courier New" pitchFamily="49" charset="0"/>
                <a:cs typeface="Courier New" pitchFamily="49" charset="0"/>
              </a:rPr>
              <a:t>	int *pa; </a:t>
            </a:r>
            <a:r>
              <a:rPr lang="en-US" b="1">
                <a:solidFill>
                  <a:srgbClr val="FF0000"/>
                </a:solidFill>
                <a:latin typeface="Courier New" pitchFamily="49" charset="0"/>
                <a:cs typeface="Courier New" pitchFamily="49" charset="0"/>
              </a:rPr>
              <a:t>*pa = 1904;</a:t>
            </a:r>
          </a:p>
          <a:p>
            <a:pPr lvl="1" eaLnBrk="1" hangingPunct="1">
              <a:defRPr/>
            </a:pPr>
            <a:endParaRPr lang="en-US"/>
          </a:p>
        </p:txBody>
      </p:sp>
      <p:sp>
        <p:nvSpPr>
          <p:cNvPr id="7" name="Date Placeholder 6"/>
          <p:cNvSpPr>
            <a:spLocks noGrp="1"/>
          </p:cNvSpPr>
          <p:nvPr>
            <p:ph type="dt" sz="half" idx="10"/>
          </p:nvPr>
        </p:nvSpPr>
        <p:spPr/>
        <p:txBody>
          <a:bodyPr/>
          <a:lstStyle/>
          <a:p>
            <a:fld id="{7BD4DED8-83D0-4693-A895-A4AC76EB8718}"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14</a:t>
            </a:fld>
            <a:r>
              <a:rPr lang="vi-VN"/>
              <a:t>/50</a:t>
            </a:r>
          </a:p>
        </p:txBody>
      </p:sp>
    </p:spTree>
    <p:extLst>
      <p:ext uri="{BB962C8B-B14F-4D97-AF65-F5344CB8AC3E}">
        <p14:creationId xmlns:p14="http://schemas.microsoft.com/office/powerpoint/2010/main" val="48227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anim calcmode="lin" valueType="num">
                                      <p:cBhvr>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anim calcmode="lin" valueType="num">
                                      <p:cBhvr>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anim calcmode="lin" valueType="num">
                                      <p:cBhvr>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anim calcmode="lin" valueType="num">
                                      <p:cBhvr>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500"/>
                                        <p:tgtEl>
                                          <p:spTgt spid="3">
                                            <p:txEl>
                                              <p:pRg st="7" end="7"/>
                                            </p:txEl>
                                          </p:spTgt>
                                        </p:tgtEl>
                                      </p:cBhvr>
                                    </p:animEffect>
                                    <p:anim calcmode="lin" valueType="num">
                                      <p:cBhvr>
                                        <p:cTn id="4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7"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t>3. Con trỏ và mảng một chiều</a:t>
            </a:r>
          </a:p>
        </p:txBody>
      </p:sp>
      <p:sp>
        <p:nvSpPr>
          <p:cNvPr id="3" name="Content Placeholder 2"/>
          <p:cNvSpPr>
            <a:spLocks noGrp="1"/>
          </p:cNvSpPr>
          <p:nvPr>
            <p:ph idx="1"/>
          </p:nvPr>
        </p:nvSpPr>
        <p:spPr/>
        <p:txBody>
          <a:bodyPr/>
          <a:lstStyle/>
          <a:p>
            <a:pPr eaLnBrk="1" hangingPunct="1">
              <a:defRPr/>
            </a:pPr>
            <a:r>
              <a:rPr lang="en-US"/>
              <a:t>Mảng một chiều</a:t>
            </a:r>
          </a:p>
          <a:p>
            <a:pPr eaLnBrk="1" hangingPunct="1">
              <a:defRPr/>
            </a:pPr>
            <a:endParaRPr lang="en-US"/>
          </a:p>
          <a:p>
            <a:pPr lvl="1" eaLnBrk="1" hangingPunct="1">
              <a:defRPr/>
            </a:pPr>
            <a:r>
              <a:rPr lang="en-US"/>
              <a:t>Tên mảng array là một </a:t>
            </a:r>
            <a:r>
              <a:rPr lang="en-US">
                <a:solidFill>
                  <a:srgbClr val="FF0000"/>
                </a:solidFill>
              </a:rPr>
              <a:t>hằng con trỏ</a:t>
            </a:r>
          </a:p>
          <a:p>
            <a:pPr lvl="1" eaLnBrk="1" hangingPunct="1">
              <a:buFont typeface="Wingdings" pitchFamily="2" charset="2"/>
              <a:buNone/>
              <a:defRPr/>
            </a:pPr>
            <a:r>
              <a:rPr lang="en-US">
                <a:sym typeface="Wingdings" pitchFamily="2" charset="2"/>
              </a:rPr>
              <a:t>	 </a:t>
            </a:r>
            <a:r>
              <a:rPr lang="en-US">
                <a:solidFill>
                  <a:srgbClr val="FF0000"/>
                </a:solidFill>
                <a:sym typeface="Wingdings" pitchFamily="2" charset="2"/>
              </a:rPr>
              <a:t>không thể</a:t>
            </a:r>
            <a:r>
              <a:rPr lang="en-US">
                <a:solidFill>
                  <a:srgbClr val="FF0000"/>
                </a:solidFill>
              </a:rPr>
              <a:t> thay </a:t>
            </a:r>
            <a:r>
              <a:rPr lang="vi-VN">
                <a:solidFill>
                  <a:srgbClr val="FF0000"/>
                </a:solidFill>
              </a:rPr>
              <a:t>đổ</a:t>
            </a:r>
            <a:r>
              <a:rPr lang="en-US">
                <a:solidFill>
                  <a:srgbClr val="FF0000"/>
                </a:solidFill>
              </a:rPr>
              <a:t>i</a:t>
            </a:r>
            <a:r>
              <a:rPr lang="en-US"/>
              <a:t> giá trị của hằng này.</a:t>
            </a:r>
          </a:p>
          <a:p>
            <a:pPr lvl="1" eaLnBrk="1" hangingPunct="1">
              <a:defRPr/>
            </a:pPr>
            <a:r>
              <a:rPr lang="en-US"/>
              <a:t>array là </a:t>
            </a:r>
            <a:r>
              <a:rPr lang="vi-VN"/>
              <a:t>địa</a:t>
            </a:r>
            <a:r>
              <a:rPr lang="en-US"/>
              <a:t> chỉ </a:t>
            </a:r>
            <a:r>
              <a:rPr lang="vi-VN"/>
              <a:t>đầ</a:t>
            </a:r>
            <a:r>
              <a:rPr lang="en-US"/>
              <a:t>u tiên của mảng</a:t>
            </a:r>
          </a:p>
          <a:p>
            <a:pPr lvl="1" eaLnBrk="1" hangingPunct="1">
              <a:buFont typeface="Wingdings" pitchFamily="2" charset="2"/>
              <a:buNone/>
              <a:defRPr/>
            </a:pPr>
            <a:r>
              <a:rPr lang="en-US">
                <a:sym typeface="Wingdings" pitchFamily="2" charset="2"/>
              </a:rPr>
              <a:t>	</a:t>
            </a:r>
            <a:r>
              <a:rPr lang="en-US">
                <a:solidFill>
                  <a:srgbClr val="FF0000"/>
                </a:solidFill>
              </a:rPr>
              <a:t>array</a:t>
            </a:r>
            <a:r>
              <a:rPr lang="en-US"/>
              <a:t> == </a:t>
            </a:r>
            <a:r>
              <a:rPr lang="en-US">
                <a:solidFill>
                  <a:srgbClr val="FF0000"/>
                </a:solidFill>
              </a:rPr>
              <a:t>&amp;array[0]</a:t>
            </a:r>
            <a:endParaRPr lang="en-US"/>
          </a:p>
        </p:txBody>
      </p:sp>
      <p:sp>
        <p:nvSpPr>
          <p:cNvPr id="6" name="TextBox 5"/>
          <p:cNvSpPr txBox="1">
            <a:spLocks noChangeArrowheads="1"/>
          </p:cNvSpPr>
          <p:nvPr/>
        </p:nvSpPr>
        <p:spPr bwMode="auto">
          <a:xfrm>
            <a:off x="838200" y="1700808"/>
            <a:ext cx="8305800" cy="4000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array[3];</a:t>
            </a:r>
          </a:p>
        </p:txBody>
      </p:sp>
      <p:sp>
        <p:nvSpPr>
          <p:cNvPr id="7" name="AutoShape 6"/>
          <p:cNvSpPr>
            <a:spLocks noChangeArrowheads="1"/>
          </p:cNvSpPr>
          <p:nvPr/>
        </p:nvSpPr>
        <p:spPr bwMode="gray">
          <a:xfrm>
            <a:off x="7543800" y="4822304"/>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8" name="AutoShape 6"/>
          <p:cNvSpPr>
            <a:spLocks noChangeArrowheads="1"/>
          </p:cNvSpPr>
          <p:nvPr/>
        </p:nvSpPr>
        <p:spPr bwMode="gray">
          <a:xfrm>
            <a:off x="685800" y="4822304"/>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9" name="AutoShape 6"/>
          <p:cNvSpPr>
            <a:spLocks noChangeArrowheads="1"/>
          </p:cNvSpPr>
          <p:nvPr/>
        </p:nvSpPr>
        <p:spPr bwMode="gray">
          <a:xfrm>
            <a:off x="11430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0" name="AutoShape 6"/>
          <p:cNvSpPr>
            <a:spLocks noChangeArrowheads="1"/>
          </p:cNvSpPr>
          <p:nvPr/>
        </p:nvSpPr>
        <p:spPr bwMode="gray">
          <a:xfrm>
            <a:off x="16002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1" name="AutoShape 6"/>
          <p:cNvSpPr>
            <a:spLocks noChangeArrowheads="1"/>
          </p:cNvSpPr>
          <p:nvPr/>
        </p:nvSpPr>
        <p:spPr bwMode="gray">
          <a:xfrm>
            <a:off x="20574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2" name="AutoShape 6"/>
          <p:cNvSpPr>
            <a:spLocks noChangeArrowheads="1"/>
          </p:cNvSpPr>
          <p:nvPr/>
        </p:nvSpPr>
        <p:spPr bwMode="gray">
          <a:xfrm>
            <a:off x="25146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3" name="AutoShape 6"/>
          <p:cNvSpPr>
            <a:spLocks noChangeArrowheads="1"/>
          </p:cNvSpPr>
          <p:nvPr/>
        </p:nvSpPr>
        <p:spPr bwMode="gray">
          <a:xfrm>
            <a:off x="29718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4" name="AutoShape 6"/>
          <p:cNvSpPr>
            <a:spLocks noChangeArrowheads="1"/>
          </p:cNvSpPr>
          <p:nvPr/>
        </p:nvSpPr>
        <p:spPr bwMode="gray">
          <a:xfrm>
            <a:off x="34290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5" name="AutoShape 6"/>
          <p:cNvSpPr>
            <a:spLocks noChangeArrowheads="1"/>
          </p:cNvSpPr>
          <p:nvPr/>
        </p:nvSpPr>
        <p:spPr bwMode="gray">
          <a:xfrm>
            <a:off x="38862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6" name="AutoShape 6"/>
          <p:cNvSpPr>
            <a:spLocks noChangeArrowheads="1"/>
          </p:cNvSpPr>
          <p:nvPr/>
        </p:nvSpPr>
        <p:spPr bwMode="gray">
          <a:xfrm>
            <a:off x="43434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7" name="AutoShape 6"/>
          <p:cNvSpPr>
            <a:spLocks noChangeArrowheads="1"/>
          </p:cNvSpPr>
          <p:nvPr/>
        </p:nvSpPr>
        <p:spPr bwMode="gray">
          <a:xfrm>
            <a:off x="48006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8" name="AutoShape 6"/>
          <p:cNvSpPr>
            <a:spLocks noChangeArrowheads="1"/>
          </p:cNvSpPr>
          <p:nvPr/>
        </p:nvSpPr>
        <p:spPr bwMode="gray">
          <a:xfrm>
            <a:off x="52578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9" name="AutoShape 6"/>
          <p:cNvSpPr>
            <a:spLocks noChangeArrowheads="1"/>
          </p:cNvSpPr>
          <p:nvPr/>
        </p:nvSpPr>
        <p:spPr bwMode="gray">
          <a:xfrm>
            <a:off x="57150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0" name="AutoShape 6"/>
          <p:cNvSpPr>
            <a:spLocks noChangeArrowheads="1"/>
          </p:cNvSpPr>
          <p:nvPr/>
        </p:nvSpPr>
        <p:spPr bwMode="gray">
          <a:xfrm>
            <a:off x="61722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1" name="AutoShape 6"/>
          <p:cNvSpPr>
            <a:spLocks noChangeArrowheads="1"/>
          </p:cNvSpPr>
          <p:nvPr/>
        </p:nvSpPr>
        <p:spPr bwMode="gray">
          <a:xfrm>
            <a:off x="66294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2" name="AutoShape 6"/>
          <p:cNvSpPr>
            <a:spLocks noChangeArrowheads="1"/>
          </p:cNvSpPr>
          <p:nvPr/>
        </p:nvSpPr>
        <p:spPr bwMode="gray">
          <a:xfrm>
            <a:off x="7086600" y="482230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4" name="AutoShape 6"/>
          <p:cNvSpPr>
            <a:spLocks noChangeArrowheads="1"/>
          </p:cNvSpPr>
          <p:nvPr/>
        </p:nvSpPr>
        <p:spPr bwMode="gray">
          <a:xfrm>
            <a:off x="1600200" y="5805264"/>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array</a:t>
            </a:r>
          </a:p>
        </p:txBody>
      </p:sp>
      <p:sp>
        <p:nvSpPr>
          <p:cNvPr id="25" name="AutoShape 6"/>
          <p:cNvSpPr>
            <a:spLocks noChangeArrowheads="1"/>
          </p:cNvSpPr>
          <p:nvPr/>
        </p:nvSpPr>
        <p:spPr bwMode="gray">
          <a:xfrm>
            <a:off x="11430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26" name="AutoShape 6"/>
          <p:cNvSpPr>
            <a:spLocks noChangeArrowheads="1"/>
          </p:cNvSpPr>
          <p:nvPr/>
        </p:nvSpPr>
        <p:spPr bwMode="gray">
          <a:xfrm>
            <a:off x="16002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27" name="AutoShape 6"/>
          <p:cNvSpPr>
            <a:spLocks noChangeArrowheads="1"/>
          </p:cNvSpPr>
          <p:nvPr/>
        </p:nvSpPr>
        <p:spPr bwMode="gray">
          <a:xfrm>
            <a:off x="20574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28" name="AutoShape 6"/>
          <p:cNvSpPr>
            <a:spLocks noChangeArrowheads="1"/>
          </p:cNvSpPr>
          <p:nvPr/>
        </p:nvSpPr>
        <p:spPr bwMode="gray">
          <a:xfrm>
            <a:off x="25146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29" name="AutoShape 6"/>
          <p:cNvSpPr>
            <a:spLocks noChangeArrowheads="1"/>
          </p:cNvSpPr>
          <p:nvPr/>
        </p:nvSpPr>
        <p:spPr bwMode="gray">
          <a:xfrm>
            <a:off x="29718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30" name="AutoShape 6"/>
          <p:cNvSpPr>
            <a:spLocks noChangeArrowheads="1"/>
          </p:cNvSpPr>
          <p:nvPr/>
        </p:nvSpPr>
        <p:spPr bwMode="gray">
          <a:xfrm>
            <a:off x="34290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31" name="AutoShape 6"/>
          <p:cNvSpPr>
            <a:spLocks noChangeArrowheads="1"/>
          </p:cNvSpPr>
          <p:nvPr/>
        </p:nvSpPr>
        <p:spPr bwMode="gray">
          <a:xfrm>
            <a:off x="38862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32" name="AutoShape 6"/>
          <p:cNvSpPr>
            <a:spLocks noChangeArrowheads="1"/>
          </p:cNvSpPr>
          <p:nvPr/>
        </p:nvSpPr>
        <p:spPr bwMode="gray">
          <a:xfrm>
            <a:off x="43434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33" name="AutoShape 6"/>
          <p:cNvSpPr>
            <a:spLocks noChangeArrowheads="1"/>
          </p:cNvSpPr>
          <p:nvPr/>
        </p:nvSpPr>
        <p:spPr bwMode="gray">
          <a:xfrm>
            <a:off x="48006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34" name="AutoShape 6"/>
          <p:cNvSpPr>
            <a:spLocks noChangeArrowheads="1"/>
          </p:cNvSpPr>
          <p:nvPr/>
        </p:nvSpPr>
        <p:spPr bwMode="gray">
          <a:xfrm>
            <a:off x="52578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35" name="AutoShape 6"/>
          <p:cNvSpPr>
            <a:spLocks noChangeArrowheads="1"/>
          </p:cNvSpPr>
          <p:nvPr/>
        </p:nvSpPr>
        <p:spPr bwMode="gray">
          <a:xfrm>
            <a:off x="57150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36" name="AutoShape 6"/>
          <p:cNvSpPr>
            <a:spLocks noChangeArrowheads="1"/>
          </p:cNvSpPr>
          <p:nvPr/>
        </p:nvSpPr>
        <p:spPr bwMode="gray">
          <a:xfrm>
            <a:off x="61722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37" name="AutoShape 6"/>
          <p:cNvSpPr>
            <a:spLocks noChangeArrowheads="1"/>
          </p:cNvSpPr>
          <p:nvPr/>
        </p:nvSpPr>
        <p:spPr bwMode="gray">
          <a:xfrm>
            <a:off x="66294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38" name="AutoShape 6"/>
          <p:cNvSpPr>
            <a:spLocks noChangeArrowheads="1"/>
          </p:cNvSpPr>
          <p:nvPr/>
        </p:nvSpPr>
        <p:spPr bwMode="gray">
          <a:xfrm>
            <a:off x="7086600" y="4365104"/>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sp>
        <p:nvSpPr>
          <p:cNvPr id="42" name="AutoShape 6"/>
          <p:cNvSpPr>
            <a:spLocks noChangeArrowheads="1"/>
          </p:cNvSpPr>
          <p:nvPr/>
        </p:nvSpPr>
        <p:spPr bwMode="gray">
          <a:xfrm>
            <a:off x="16002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3" name="AutoShape 6"/>
          <p:cNvSpPr>
            <a:spLocks noChangeArrowheads="1"/>
          </p:cNvSpPr>
          <p:nvPr/>
        </p:nvSpPr>
        <p:spPr bwMode="gray">
          <a:xfrm>
            <a:off x="20574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4" name="AutoShape 6"/>
          <p:cNvSpPr>
            <a:spLocks noChangeArrowheads="1"/>
          </p:cNvSpPr>
          <p:nvPr/>
        </p:nvSpPr>
        <p:spPr bwMode="gray">
          <a:xfrm>
            <a:off x="25146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5" name="AutoShape 6"/>
          <p:cNvSpPr>
            <a:spLocks noChangeArrowheads="1"/>
          </p:cNvSpPr>
          <p:nvPr/>
        </p:nvSpPr>
        <p:spPr bwMode="gray">
          <a:xfrm>
            <a:off x="29718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6" name="AutoShape 6"/>
          <p:cNvSpPr>
            <a:spLocks noChangeArrowheads="1"/>
          </p:cNvSpPr>
          <p:nvPr/>
        </p:nvSpPr>
        <p:spPr bwMode="gray">
          <a:xfrm>
            <a:off x="34290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7" name="AutoShape 6"/>
          <p:cNvSpPr>
            <a:spLocks noChangeArrowheads="1"/>
          </p:cNvSpPr>
          <p:nvPr/>
        </p:nvSpPr>
        <p:spPr bwMode="gray">
          <a:xfrm>
            <a:off x="38862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8" name="AutoShape 6"/>
          <p:cNvSpPr>
            <a:spLocks noChangeArrowheads="1"/>
          </p:cNvSpPr>
          <p:nvPr/>
        </p:nvSpPr>
        <p:spPr bwMode="gray">
          <a:xfrm>
            <a:off x="43434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49" name="AutoShape 6"/>
          <p:cNvSpPr>
            <a:spLocks noChangeArrowheads="1"/>
          </p:cNvSpPr>
          <p:nvPr/>
        </p:nvSpPr>
        <p:spPr bwMode="gray">
          <a:xfrm>
            <a:off x="48006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0" name="AutoShape 6"/>
          <p:cNvSpPr>
            <a:spLocks noChangeArrowheads="1"/>
          </p:cNvSpPr>
          <p:nvPr/>
        </p:nvSpPr>
        <p:spPr bwMode="gray">
          <a:xfrm>
            <a:off x="52578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1" name="AutoShape 6"/>
          <p:cNvSpPr>
            <a:spLocks noChangeArrowheads="1"/>
          </p:cNvSpPr>
          <p:nvPr/>
        </p:nvSpPr>
        <p:spPr bwMode="gray">
          <a:xfrm>
            <a:off x="57150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2" name="AutoShape 6"/>
          <p:cNvSpPr>
            <a:spLocks noChangeArrowheads="1"/>
          </p:cNvSpPr>
          <p:nvPr/>
        </p:nvSpPr>
        <p:spPr bwMode="gray">
          <a:xfrm>
            <a:off x="61722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3" name="AutoShape 6"/>
          <p:cNvSpPr>
            <a:spLocks noChangeArrowheads="1"/>
          </p:cNvSpPr>
          <p:nvPr/>
        </p:nvSpPr>
        <p:spPr bwMode="gray">
          <a:xfrm>
            <a:off x="6629400" y="4822304"/>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1600200" y="4746104"/>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40" name="AutoShape 6"/>
          <p:cNvSpPr>
            <a:spLocks noChangeArrowheads="1"/>
          </p:cNvSpPr>
          <p:nvPr/>
        </p:nvSpPr>
        <p:spPr bwMode="gray">
          <a:xfrm>
            <a:off x="3429000" y="4746104"/>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41" name="AutoShape 6"/>
          <p:cNvSpPr>
            <a:spLocks noChangeArrowheads="1"/>
          </p:cNvSpPr>
          <p:nvPr/>
        </p:nvSpPr>
        <p:spPr bwMode="gray">
          <a:xfrm>
            <a:off x="5257800" y="4746104"/>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cxnSp>
        <p:nvCxnSpPr>
          <p:cNvPr id="54" name="Straight Arrow Connector 53"/>
          <p:cNvCxnSpPr/>
          <p:nvPr/>
        </p:nvCxnSpPr>
        <p:spPr>
          <a:xfrm rot="5400000" flipH="1" flipV="1">
            <a:off x="1639887" y="5544617"/>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Date Placeholder 22"/>
          <p:cNvSpPr>
            <a:spLocks noGrp="1"/>
          </p:cNvSpPr>
          <p:nvPr>
            <p:ph type="dt" sz="half" idx="10"/>
          </p:nvPr>
        </p:nvSpPr>
        <p:spPr/>
        <p:txBody>
          <a:bodyPr/>
          <a:lstStyle/>
          <a:p>
            <a:fld id="{181610CA-62E4-4377-8CC8-33924358F4A0}" type="datetime1">
              <a:rPr lang="vi-VN" smtClean="0"/>
              <a:t>14/01/2024</a:t>
            </a:fld>
            <a:endParaRPr lang="vi-VN"/>
          </a:p>
        </p:txBody>
      </p:sp>
      <p:sp>
        <p:nvSpPr>
          <p:cNvPr id="55" name="Footer Placeholder 5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15</a:t>
            </a:fld>
            <a:r>
              <a:rPr lang="vi-VN"/>
              <a:t>/50</a:t>
            </a:r>
          </a:p>
        </p:txBody>
      </p:sp>
    </p:spTree>
    <p:extLst>
      <p:ext uri="{BB962C8B-B14F-4D97-AF65-F5344CB8AC3E}">
        <p14:creationId xmlns:p14="http://schemas.microsoft.com/office/powerpoint/2010/main" val="52529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anim calcmode="lin" valueType="num">
                                      <p:cBhvr>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anim calcmode="lin" valueType="num">
                                      <p:cBhvr>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anim calcmode="lin" valueType="num">
                                      <p:cBhvr>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anim calcmode="lin" valueType="num">
                                      <p:cBhvr>
                                        <p:cTn id="3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
                                        </p:tgtEl>
                                        <p:attrNameLst>
                                          <p:attrName>style.visibility</p:attrName>
                                        </p:attrNameLst>
                                      </p:cBhvr>
                                      <p:to>
                                        <p:strVal val="visible"/>
                                      </p:to>
                                    </p:set>
                                    <p:animEffect transition="in" filter="fade">
                                      <p:cBhvr>
                                        <p:cTn id="85" dur="500"/>
                                        <p:tgtEl>
                                          <p:spTgt spid="7"/>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00"/>
                                        <p:tgtEl>
                                          <p:spTgt spid="2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500"/>
                                        <p:tgtEl>
                                          <p:spTgt spid="2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500"/>
                                        <p:tgtEl>
                                          <p:spTgt spid="2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500"/>
                                        <p:tgtEl>
                                          <p:spTgt spid="2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500"/>
                                        <p:tgtEl>
                                          <p:spTgt spid="3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500"/>
                                        <p:tgtEl>
                                          <p:spTgt spid="3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fade">
                                      <p:cBhvr>
                                        <p:cTn id="113" dur="500"/>
                                        <p:tgtEl>
                                          <p:spTgt spid="3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4"/>
                                        </p:tgtEl>
                                        <p:attrNameLst>
                                          <p:attrName>style.visibility</p:attrName>
                                        </p:attrNameLst>
                                      </p:cBhvr>
                                      <p:to>
                                        <p:strVal val="visible"/>
                                      </p:to>
                                    </p:set>
                                    <p:animEffect transition="in" filter="fade">
                                      <p:cBhvr>
                                        <p:cTn id="116" dur="500"/>
                                        <p:tgtEl>
                                          <p:spTgt spid="3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500"/>
                                        <p:tgtEl>
                                          <p:spTgt spid="3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fade">
                                      <p:cBhvr>
                                        <p:cTn id="122" dur="500"/>
                                        <p:tgtEl>
                                          <p:spTgt spid="3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500"/>
                                        <p:tgtEl>
                                          <p:spTgt spid="3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500"/>
                                        <p:tgtEl>
                                          <p:spTgt spid="38"/>
                                        </p:tgtEl>
                                      </p:cBhvr>
                                    </p:animEffect>
                                  </p:childTnLst>
                                </p:cTn>
                              </p:par>
                            </p:childTnLst>
                          </p:cTn>
                        </p:par>
                      </p:childTnLst>
                    </p:cTn>
                  </p:par>
                  <p:par>
                    <p:cTn id="129" fill="hold">
                      <p:stCondLst>
                        <p:cond delay="indefinite"/>
                      </p:stCondLst>
                      <p:childTnLst>
                        <p:par>
                          <p:cTn id="130" fill="hold">
                            <p:stCondLst>
                              <p:cond delay="0"/>
                            </p:stCondLst>
                            <p:childTnLst>
                              <p:par>
                                <p:cTn id="131" presetID="8" presetClass="entr" presetSubtype="16" fill="hold" grpId="0" nodeType="clickEffect">
                                  <p:stCondLst>
                                    <p:cond delay="0"/>
                                  </p:stCondLst>
                                  <p:childTnLst>
                                    <p:set>
                                      <p:cBhvr>
                                        <p:cTn id="132" dur="1" fill="hold">
                                          <p:stCondLst>
                                            <p:cond delay="0"/>
                                          </p:stCondLst>
                                        </p:cTn>
                                        <p:tgtEl>
                                          <p:spTgt spid="39"/>
                                        </p:tgtEl>
                                        <p:attrNameLst>
                                          <p:attrName>style.visibility</p:attrName>
                                        </p:attrNameLst>
                                      </p:cBhvr>
                                      <p:to>
                                        <p:strVal val="visible"/>
                                      </p:to>
                                    </p:set>
                                    <p:animEffect transition="in" filter="diamond(in)">
                                      <p:cBhvr>
                                        <p:cTn id="133" dur="500"/>
                                        <p:tgtEl>
                                          <p:spTgt spid="39"/>
                                        </p:tgtEl>
                                      </p:cBhvr>
                                    </p:animEffect>
                                  </p:childTnLst>
                                </p:cTn>
                              </p:par>
                              <p:par>
                                <p:cTn id="134" presetID="8" presetClass="entr" presetSubtype="16" fill="hold" grpId="0" nodeType="with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diamond(in)">
                                      <p:cBhvr>
                                        <p:cTn id="136" dur="500"/>
                                        <p:tgtEl>
                                          <p:spTgt spid="40"/>
                                        </p:tgtEl>
                                      </p:cBhvr>
                                    </p:animEffect>
                                  </p:childTnLst>
                                </p:cTn>
                              </p:par>
                              <p:par>
                                <p:cTn id="137" presetID="8" presetClass="entr" presetSubtype="16" fill="hold" grpId="0" nodeType="withEffect">
                                  <p:stCondLst>
                                    <p:cond delay="0"/>
                                  </p:stCondLst>
                                  <p:childTnLst>
                                    <p:set>
                                      <p:cBhvr>
                                        <p:cTn id="138" dur="1" fill="hold">
                                          <p:stCondLst>
                                            <p:cond delay="0"/>
                                          </p:stCondLst>
                                        </p:cTn>
                                        <p:tgtEl>
                                          <p:spTgt spid="41"/>
                                        </p:tgtEl>
                                        <p:attrNameLst>
                                          <p:attrName>style.visibility</p:attrName>
                                        </p:attrNameLst>
                                      </p:cBhvr>
                                      <p:to>
                                        <p:strVal val="visible"/>
                                      </p:to>
                                    </p:set>
                                    <p:animEffect transition="in" filter="diamond(in)">
                                      <p:cBhvr>
                                        <p:cTn id="139" dur="500"/>
                                        <p:tgtEl>
                                          <p:spTgt spid="4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2"/>
                                        </p:tgtEl>
                                        <p:attrNameLst>
                                          <p:attrName>style.visibility</p:attrName>
                                        </p:attrNameLst>
                                      </p:cBhvr>
                                      <p:to>
                                        <p:strVal val="visible"/>
                                      </p:to>
                                    </p:set>
                                    <p:animEffect transition="in" filter="fade">
                                      <p:cBhvr>
                                        <p:cTn id="142" dur="500"/>
                                        <p:tgtEl>
                                          <p:spTgt spid="42"/>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fade">
                                      <p:cBhvr>
                                        <p:cTn id="145" dur="500"/>
                                        <p:tgtEl>
                                          <p:spTgt spid="4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4"/>
                                        </p:tgtEl>
                                        <p:attrNameLst>
                                          <p:attrName>style.visibility</p:attrName>
                                        </p:attrNameLst>
                                      </p:cBhvr>
                                      <p:to>
                                        <p:strVal val="visible"/>
                                      </p:to>
                                    </p:set>
                                    <p:animEffect transition="in" filter="fade">
                                      <p:cBhvr>
                                        <p:cTn id="148" dur="500"/>
                                        <p:tgtEl>
                                          <p:spTgt spid="44"/>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51" dur="500"/>
                                        <p:tgtEl>
                                          <p:spTgt spid="45"/>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46"/>
                                        </p:tgtEl>
                                        <p:attrNameLst>
                                          <p:attrName>style.visibility</p:attrName>
                                        </p:attrNameLst>
                                      </p:cBhvr>
                                      <p:to>
                                        <p:strVal val="visible"/>
                                      </p:to>
                                    </p:set>
                                    <p:animEffect transition="in" filter="fade">
                                      <p:cBhvr>
                                        <p:cTn id="154" dur="500"/>
                                        <p:tgtEl>
                                          <p:spTgt spid="46"/>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7" dur="500"/>
                                        <p:tgtEl>
                                          <p:spTgt spid="47"/>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48"/>
                                        </p:tgtEl>
                                        <p:attrNameLst>
                                          <p:attrName>style.visibility</p:attrName>
                                        </p:attrNameLst>
                                      </p:cBhvr>
                                      <p:to>
                                        <p:strVal val="visible"/>
                                      </p:to>
                                    </p:set>
                                    <p:animEffect transition="in" filter="fade">
                                      <p:cBhvr>
                                        <p:cTn id="160" dur="500"/>
                                        <p:tgtEl>
                                          <p:spTgt spid="48"/>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49"/>
                                        </p:tgtEl>
                                        <p:attrNameLst>
                                          <p:attrName>style.visibility</p:attrName>
                                        </p:attrNameLst>
                                      </p:cBhvr>
                                      <p:to>
                                        <p:strVal val="visible"/>
                                      </p:to>
                                    </p:set>
                                    <p:animEffect transition="in" filter="fade">
                                      <p:cBhvr>
                                        <p:cTn id="163" dur="500"/>
                                        <p:tgtEl>
                                          <p:spTgt spid="49"/>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0"/>
                                        </p:tgtEl>
                                        <p:attrNameLst>
                                          <p:attrName>style.visibility</p:attrName>
                                        </p:attrNameLst>
                                      </p:cBhvr>
                                      <p:to>
                                        <p:strVal val="visible"/>
                                      </p:to>
                                    </p:set>
                                    <p:animEffect transition="in" filter="fade">
                                      <p:cBhvr>
                                        <p:cTn id="166" dur="500"/>
                                        <p:tgtEl>
                                          <p:spTgt spid="50"/>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51"/>
                                        </p:tgtEl>
                                        <p:attrNameLst>
                                          <p:attrName>style.visibility</p:attrName>
                                        </p:attrNameLst>
                                      </p:cBhvr>
                                      <p:to>
                                        <p:strVal val="visible"/>
                                      </p:to>
                                    </p:set>
                                    <p:animEffect transition="in" filter="fade">
                                      <p:cBhvr>
                                        <p:cTn id="169" dur="500"/>
                                        <p:tgtEl>
                                          <p:spTgt spid="51"/>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52"/>
                                        </p:tgtEl>
                                        <p:attrNameLst>
                                          <p:attrName>style.visibility</p:attrName>
                                        </p:attrNameLst>
                                      </p:cBhvr>
                                      <p:to>
                                        <p:strVal val="visible"/>
                                      </p:to>
                                    </p:set>
                                    <p:animEffect transition="in" filter="fade">
                                      <p:cBhvr>
                                        <p:cTn id="172" dur="500"/>
                                        <p:tgtEl>
                                          <p:spTgt spid="52"/>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53"/>
                                        </p:tgtEl>
                                        <p:attrNameLst>
                                          <p:attrName>style.visibility</p:attrName>
                                        </p:attrNameLst>
                                      </p:cBhvr>
                                      <p:to>
                                        <p:strVal val="visible"/>
                                      </p:to>
                                    </p:set>
                                    <p:animEffect transition="in" filter="fade">
                                      <p:cBhvr>
                                        <p:cTn id="175" dur="500"/>
                                        <p:tgtEl>
                                          <p:spTgt spid="53"/>
                                        </p:tgtEl>
                                      </p:cBhvr>
                                    </p:animEffect>
                                  </p:childTnLst>
                                </p:cTn>
                              </p:par>
                            </p:childTnLst>
                          </p:cTn>
                        </p:par>
                        <p:par>
                          <p:cTn id="176" fill="hold">
                            <p:stCondLst>
                              <p:cond delay="500"/>
                            </p:stCondLst>
                            <p:childTnLst>
                              <p:par>
                                <p:cTn id="177" presetID="10" presetClass="entr" presetSubtype="0" fill="hold" grpId="0" nodeType="afterEffect">
                                  <p:stCondLst>
                                    <p:cond delay="0"/>
                                  </p:stCondLst>
                                  <p:childTnLst>
                                    <p:set>
                                      <p:cBhvr>
                                        <p:cTn id="178" dur="1" fill="hold">
                                          <p:stCondLst>
                                            <p:cond delay="0"/>
                                          </p:stCondLst>
                                        </p:cTn>
                                        <p:tgtEl>
                                          <p:spTgt spid="24"/>
                                        </p:tgtEl>
                                        <p:attrNameLst>
                                          <p:attrName>style.visibility</p:attrName>
                                        </p:attrNameLst>
                                      </p:cBhvr>
                                      <p:to>
                                        <p:strVal val="visible"/>
                                      </p:to>
                                    </p:set>
                                    <p:animEffect transition="in" filter="fade">
                                      <p:cBhvr>
                                        <p:cTn id="179" dur="500"/>
                                        <p:tgtEl>
                                          <p:spTgt spid="24"/>
                                        </p:tgtEl>
                                      </p:cBhvr>
                                    </p:animEffect>
                                  </p:childTnLst>
                                </p:cTn>
                              </p:par>
                              <p:par>
                                <p:cTn id="180" presetID="22" presetClass="entr" presetSubtype="4" fill="hold" nodeType="withEffect">
                                  <p:stCondLst>
                                    <p:cond delay="0"/>
                                  </p:stCondLst>
                                  <p:childTnLst>
                                    <p:set>
                                      <p:cBhvr>
                                        <p:cTn id="181" dur="1" fill="hold">
                                          <p:stCondLst>
                                            <p:cond delay="0"/>
                                          </p:stCondLst>
                                        </p:cTn>
                                        <p:tgtEl>
                                          <p:spTgt spid="54"/>
                                        </p:tgtEl>
                                        <p:attrNameLst>
                                          <p:attrName>style.visibility</p:attrName>
                                        </p:attrNameLst>
                                      </p:cBhvr>
                                      <p:to>
                                        <p:strVal val="visible"/>
                                      </p:to>
                                    </p:set>
                                    <p:animEffect transition="in" filter="wipe(down)">
                                      <p:cBhvr>
                                        <p:cTn id="18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39" grpId="0" animBg="1"/>
      <p:bldP spid="40" grpId="0" animBg="1"/>
      <p:bldP spid="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Con trỏ </a:t>
            </a:r>
            <a:r>
              <a:rPr lang="vi-VN"/>
              <a:t>đế</a:t>
            </a:r>
            <a:r>
              <a:rPr lang="en-US"/>
              <a:t>n mảng một chiều</a:t>
            </a:r>
          </a:p>
          <a:p>
            <a:pPr eaLnBrk="1" hangingPunct="1">
              <a:defRPr/>
            </a:pPr>
            <a:endParaRPr lang="en-US"/>
          </a:p>
          <a:p>
            <a:pPr lvl="1" eaLnBrk="1" hangingPunct="1">
              <a:defRPr/>
            </a:pPr>
            <a:endParaRPr lang="en-US"/>
          </a:p>
        </p:txBody>
      </p:sp>
      <p:sp>
        <p:nvSpPr>
          <p:cNvPr id="57" name="AutoShape 6"/>
          <p:cNvSpPr>
            <a:spLocks noChangeArrowheads="1"/>
          </p:cNvSpPr>
          <p:nvPr/>
        </p:nvSpPr>
        <p:spPr bwMode="gray">
          <a:xfrm>
            <a:off x="7543800" y="3526160"/>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34820" name="Title 1"/>
          <p:cNvSpPr>
            <a:spLocks noGrp="1"/>
          </p:cNvSpPr>
          <p:nvPr>
            <p:ph type="title"/>
          </p:nvPr>
        </p:nvSpPr>
        <p:spPr/>
        <p:txBody>
          <a:bodyPr/>
          <a:lstStyle/>
          <a:p>
            <a:pPr eaLnBrk="1" hangingPunct="1"/>
            <a:r>
              <a:rPr lang="en-US"/>
              <a:t>Con trỏ và mảng một chiều</a:t>
            </a:r>
          </a:p>
        </p:txBody>
      </p:sp>
      <p:sp>
        <p:nvSpPr>
          <p:cNvPr id="5" name="Rounded Rectangle 4"/>
          <p:cNvSpPr/>
          <p:nvPr/>
        </p:nvSpPr>
        <p:spPr>
          <a:xfrm>
            <a:off x="685800" y="1772816"/>
            <a:ext cx="152400" cy="1295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8305800" cy="1323975"/>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array[3],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parray;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parray = array;		// Cách 1</a:t>
            </a:r>
          </a:p>
          <a:p>
            <a:r>
              <a:rPr lang="en-US" sz="2000" b="1">
                <a:latin typeface="Courier New" pitchFamily="49" charset="0"/>
                <a:cs typeface="Courier New" pitchFamily="49" charset="0"/>
              </a:rPr>
              <a:t>parray = </a:t>
            </a:r>
            <a:r>
              <a:rPr lang="en-US" sz="2000" b="1">
                <a:solidFill>
                  <a:srgbClr val="FF0000"/>
                </a:solidFill>
                <a:latin typeface="Courier New" pitchFamily="49" charset="0"/>
                <a:cs typeface="Courier New" pitchFamily="49" charset="0"/>
              </a:rPr>
              <a:t>&amp;array[0]</a:t>
            </a:r>
            <a:r>
              <a:rPr lang="en-US" sz="2000" b="1">
                <a:latin typeface="Courier New" pitchFamily="49" charset="0"/>
                <a:cs typeface="Courier New" pitchFamily="49" charset="0"/>
              </a:rPr>
              <a:t>;	// Cách 2</a:t>
            </a:r>
          </a:p>
        </p:txBody>
      </p:sp>
      <p:sp>
        <p:nvSpPr>
          <p:cNvPr id="7" name="AutoShape 6"/>
          <p:cNvSpPr>
            <a:spLocks noChangeArrowheads="1"/>
          </p:cNvSpPr>
          <p:nvPr/>
        </p:nvSpPr>
        <p:spPr bwMode="gray">
          <a:xfrm>
            <a:off x="7543800" y="5050160"/>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8" name="AutoShape 6"/>
          <p:cNvSpPr>
            <a:spLocks noChangeArrowheads="1"/>
          </p:cNvSpPr>
          <p:nvPr/>
        </p:nvSpPr>
        <p:spPr bwMode="gray">
          <a:xfrm>
            <a:off x="685800" y="5050160"/>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9" name="AutoShape 6"/>
          <p:cNvSpPr>
            <a:spLocks noChangeArrowheads="1"/>
          </p:cNvSpPr>
          <p:nvPr/>
        </p:nvSpPr>
        <p:spPr bwMode="gray">
          <a:xfrm>
            <a:off x="1143000" y="5050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0" name="AutoShape 6"/>
          <p:cNvSpPr>
            <a:spLocks noChangeArrowheads="1"/>
          </p:cNvSpPr>
          <p:nvPr/>
        </p:nvSpPr>
        <p:spPr bwMode="gray">
          <a:xfrm>
            <a:off x="16002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1" name="AutoShape 6"/>
          <p:cNvSpPr>
            <a:spLocks noChangeArrowheads="1"/>
          </p:cNvSpPr>
          <p:nvPr/>
        </p:nvSpPr>
        <p:spPr bwMode="gray">
          <a:xfrm>
            <a:off x="20574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2" name="AutoShape 6"/>
          <p:cNvSpPr>
            <a:spLocks noChangeArrowheads="1"/>
          </p:cNvSpPr>
          <p:nvPr/>
        </p:nvSpPr>
        <p:spPr bwMode="gray">
          <a:xfrm>
            <a:off x="25146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3" name="AutoShape 6"/>
          <p:cNvSpPr>
            <a:spLocks noChangeArrowheads="1"/>
          </p:cNvSpPr>
          <p:nvPr/>
        </p:nvSpPr>
        <p:spPr bwMode="gray">
          <a:xfrm>
            <a:off x="29718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4" name="AutoShape 6"/>
          <p:cNvSpPr>
            <a:spLocks noChangeArrowheads="1"/>
          </p:cNvSpPr>
          <p:nvPr/>
        </p:nvSpPr>
        <p:spPr bwMode="gray">
          <a:xfrm>
            <a:off x="34290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5" name="AutoShape 6"/>
          <p:cNvSpPr>
            <a:spLocks noChangeArrowheads="1"/>
          </p:cNvSpPr>
          <p:nvPr/>
        </p:nvSpPr>
        <p:spPr bwMode="gray">
          <a:xfrm>
            <a:off x="38862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6" name="AutoShape 6"/>
          <p:cNvSpPr>
            <a:spLocks noChangeArrowheads="1"/>
          </p:cNvSpPr>
          <p:nvPr/>
        </p:nvSpPr>
        <p:spPr bwMode="gray">
          <a:xfrm>
            <a:off x="43434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7" name="AutoShape 6"/>
          <p:cNvSpPr>
            <a:spLocks noChangeArrowheads="1"/>
          </p:cNvSpPr>
          <p:nvPr/>
        </p:nvSpPr>
        <p:spPr bwMode="gray">
          <a:xfrm>
            <a:off x="48006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8" name="AutoShape 6"/>
          <p:cNvSpPr>
            <a:spLocks noChangeArrowheads="1"/>
          </p:cNvSpPr>
          <p:nvPr/>
        </p:nvSpPr>
        <p:spPr bwMode="gray">
          <a:xfrm>
            <a:off x="52578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9" name="AutoShape 6"/>
          <p:cNvSpPr>
            <a:spLocks noChangeArrowheads="1"/>
          </p:cNvSpPr>
          <p:nvPr/>
        </p:nvSpPr>
        <p:spPr bwMode="gray">
          <a:xfrm>
            <a:off x="57150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0" name="AutoShape 6"/>
          <p:cNvSpPr>
            <a:spLocks noChangeArrowheads="1"/>
          </p:cNvSpPr>
          <p:nvPr/>
        </p:nvSpPr>
        <p:spPr bwMode="gray">
          <a:xfrm>
            <a:off x="61722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1" name="AutoShape 6"/>
          <p:cNvSpPr>
            <a:spLocks noChangeArrowheads="1"/>
          </p:cNvSpPr>
          <p:nvPr/>
        </p:nvSpPr>
        <p:spPr bwMode="gray">
          <a:xfrm>
            <a:off x="6629400" y="5050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2" name="AutoShape 6"/>
          <p:cNvSpPr>
            <a:spLocks noChangeArrowheads="1"/>
          </p:cNvSpPr>
          <p:nvPr/>
        </p:nvSpPr>
        <p:spPr bwMode="gray">
          <a:xfrm>
            <a:off x="7086600" y="5050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4" name="AutoShape 6"/>
          <p:cNvSpPr>
            <a:spLocks noChangeArrowheads="1"/>
          </p:cNvSpPr>
          <p:nvPr/>
        </p:nvSpPr>
        <p:spPr bwMode="gray">
          <a:xfrm>
            <a:off x="1403648" y="5924128"/>
            <a:ext cx="81156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array</a:t>
            </a:r>
          </a:p>
        </p:txBody>
      </p:sp>
      <p:sp>
        <p:nvSpPr>
          <p:cNvPr id="25" name="AutoShape 6"/>
          <p:cNvSpPr>
            <a:spLocks noChangeArrowheads="1"/>
          </p:cNvSpPr>
          <p:nvPr/>
        </p:nvSpPr>
        <p:spPr bwMode="gray">
          <a:xfrm>
            <a:off x="11430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26" name="AutoShape 6"/>
          <p:cNvSpPr>
            <a:spLocks noChangeArrowheads="1"/>
          </p:cNvSpPr>
          <p:nvPr/>
        </p:nvSpPr>
        <p:spPr bwMode="gray">
          <a:xfrm>
            <a:off x="16002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27" name="AutoShape 6"/>
          <p:cNvSpPr>
            <a:spLocks noChangeArrowheads="1"/>
          </p:cNvSpPr>
          <p:nvPr/>
        </p:nvSpPr>
        <p:spPr bwMode="gray">
          <a:xfrm>
            <a:off x="20574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28" name="AutoShape 6"/>
          <p:cNvSpPr>
            <a:spLocks noChangeArrowheads="1"/>
          </p:cNvSpPr>
          <p:nvPr/>
        </p:nvSpPr>
        <p:spPr bwMode="gray">
          <a:xfrm>
            <a:off x="25146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29" name="AutoShape 6"/>
          <p:cNvSpPr>
            <a:spLocks noChangeArrowheads="1"/>
          </p:cNvSpPr>
          <p:nvPr/>
        </p:nvSpPr>
        <p:spPr bwMode="gray">
          <a:xfrm>
            <a:off x="29718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30" name="AutoShape 6"/>
          <p:cNvSpPr>
            <a:spLocks noChangeArrowheads="1"/>
          </p:cNvSpPr>
          <p:nvPr/>
        </p:nvSpPr>
        <p:spPr bwMode="gray">
          <a:xfrm>
            <a:off x="34290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31" name="AutoShape 6"/>
          <p:cNvSpPr>
            <a:spLocks noChangeArrowheads="1"/>
          </p:cNvSpPr>
          <p:nvPr/>
        </p:nvSpPr>
        <p:spPr bwMode="gray">
          <a:xfrm>
            <a:off x="38862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32" name="AutoShape 6"/>
          <p:cNvSpPr>
            <a:spLocks noChangeArrowheads="1"/>
          </p:cNvSpPr>
          <p:nvPr/>
        </p:nvSpPr>
        <p:spPr bwMode="gray">
          <a:xfrm>
            <a:off x="43434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33" name="AutoShape 6"/>
          <p:cNvSpPr>
            <a:spLocks noChangeArrowheads="1"/>
          </p:cNvSpPr>
          <p:nvPr/>
        </p:nvSpPr>
        <p:spPr bwMode="gray">
          <a:xfrm>
            <a:off x="48006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34" name="AutoShape 6"/>
          <p:cNvSpPr>
            <a:spLocks noChangeArrowheads="1"/>
          </p:cNvSpPr>
          <p:nvPr/>
        </p:nvSpPr>
        <p:spPr bwMode="gray">
          <a:xfrm>
            <a:off x="52578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35" name="AutoShape 6"/>
          <p:cNvSpPr>
            <a:spLocks noChangeArrowheads="1"/>
          </p:cNvSpPr>
          <p:nvPr/>
        </p:nvSpPr>
        <p:spPr bwMode="gray">
          <a:xfrm>
            <a:off x="57150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36" name="AutoShape 6"/>
          <p:cNvSpPr>
            <a:spLocks noChangeArrowheads="1"/>
          </p:cNvSpPr>
          <p:nvPr/>
        </p:nvSpPr>
        <p:spPr bwMode="gray">
          <a:xfrm>
            <a:off x="61722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37" name="AutoShape 6"/>
          <p:cNvSpPr>
            <a:spLocks noChangeArrowheads="1"/>
          </p:cNvSpPr>
          <p:nvPr/>
        </p:nvSpPr>
        <p:spPr bwMode="gray">
          <a:xfrm>
            <a:off x="66294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38" name="AutoShape 6"/>
          <p:cNvSpPr>
            <a:spLocks noChangeArrowheads="1"/>
          </p:cNvSpPr>
          <p:nvPr/>
        </p:nvSpPr>
        <p:spPr bwMode="gray">
          <a:xfrm>
            <a:off x="7086600" y="4592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sp>
        <p:nvSpPr>
          <p:cNvPr id="39" name="AutoShape 6"/>
          <p:cNvSpPr>
            <a:spLocks noChangeArrowheads="1"/>
          </p:cNvSpPr>
          <p:nvPr/>
        </p:nvSpPr>
        <p:spPr bwMode="gray">
          <a:xfrm>
            <a:off x="3429000" y="3526160"/>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40" name="AutoShape 6"/>
          <p:cNvSpPr>
            <a:spLocks noChangeArrowheads="1"/>
          </p:cNvSpPr>
          <p:nvPr/>
        </p:nvSpPr>
        <p:spPr bwMode="gray">
          <a:xfrm>
            <a:off x="38862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1" name="AutoShape 6"/>
          <p:cNvSpPr>
            <a:spLocks noChangeArrowheads="1"/>
          </p:cNvSpPr>
          <p:nvPr/>
        </p:nvSpPr>
        <p:spPr bwMode="gray">
          <a:xfrm>
            <a:off x="43434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2" name="AutoShape 6"/>
          <p:cNvSpPr>
            <a:spLocks noChangeArrowheads="1"/>
          </p:cNvSpPr>
          <p:nvPr/>
        </p:nvSpPr>
        <p:spPr bwMode="gray">
          <a:xfrm>
            <a:off x="48006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3" name="AutoShape 6"/>
          <p:cNvSpPr>
            <a:spLocks noChangeArrowheads="1"/>
          </p:cNvSpPr>
          <p:nvPr/>
        </p:nvSpPr>
        <p:spPr bwMode="gray">
          <a:xfrm>
            <a:off x="52578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4" name="AutoShape 6"/>
          <p:cNvSpPr>
            <a:spLocks noChangeArrowheads="1"/>
          </p:cNvSpPr>
          <p:nvPr/>
        </p:nvSpPr>
        <p:spPr bwMode="gray">
          <a:xfrm>
            <a:off x="57150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5" name="AutoShape 6"/>
          <p:cNvSpPr>
            <a:spLocks noChangeArrowheads="1"/>
          </p:cNvSpPr>
          <p:nvPr/>
        </p:nvSpPr>
        <p:spPr bwMode="gray">
          <a:xfrm>
            <a:off x="61722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6" name="AutoShape 6"/>
          <p:cNvSpPr>
            <a:spLocks noChangeArrowheads="1"/>
          </p:cNvSpPr>
          <p:nvPr/>
        </p:nvSpPr>
        <p:spPr bwMode="gray">
          <a:xfrm>
            <a:off x="66294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7" name="AutoShape 6"/>
          <p:cNvSpPr>
            <a:spLocks noChangeArrowheads="1"/>
          </p:cNvSpPr>
          <p:nvPr/>
        </p:nvSpPr>
        <p:spPr bwMode="gray">
          <a:xfrm>
            <a:off x="7086600" y="352616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8" name="AutoShape 6"/>
          <p:cNvSpPr>
            <a:spLocks noChangeArrowheads="1"/>
          </p:cNvSpPr>
          <p:nvPr/>
        </p:nvSpPr>
        <p:spPr bwMode="gray">
          <a:xfrm>
            <a:off x="38862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18</a:t>
            </a:r>
            <a:endParaRPr lang="en-US" baseline="30000"/>
          </a:p>
        </p:txBody>
      </p:sp>
      <p:sp>
        <p:nvSpPr>
          <p:cNvPr id="49" name="AutoShape 6"/>
          <p:cNvSpPr>
            <a:spLocks noChangeArrowheads="1"/>
          </p:cNvSpPr>
          <p:nvPr/>
        </p:nvSpPr>
        <p:spPr bwMode="gray">
          <a:xfrm>
            <a:off x="43434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19</a:t>
            </a:r>
            <a:endParaRPr lang="en-US" baseline="30000"/>
          </a:p>
        </p:txBody>
      </p:sp>
      <p:sp>
        <p:nvSpPr>
          <p:cNvPr id="50" name="AutoShape 6"/>
          <p:cNvSpPr>
            <a:spLocks noChangeArrowheads="1"/>
          </p:cNvSpPr>
          <p:nvPr/>
        </p:nvSpPr>
        <p:spPr bwMode="gray">
          <a:xfrm>
            <a:off x="48006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a:t>
            </a:r>
            <a:endParaRPr lang="en-US" baseline="30000"/>
          </a:p>
        </p:txBody>
      </p:sp>
      <p:sp>
        <p:nvSpPr>
          <p:cNvPr id="51" name="AutoShape 6"/>
          <p:cNvSpPr>
            <a:spLocks noChangeArrowheads="1"/>
          </p:cNvSpPr>
          <p:nvPr/>
        </p:nvSpPr>
        <p:spPr bwMode="gray">
          <a:xfrm>
            <a:off x="52578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1B</a:t>
            </a:r>
            <a:endParaRPr lang="en-US" baseline="30000"/>
          </a:p>
        </p:txBody>
      </p:sp>
      <p:sp>
        <p:nvSpPr>
          <p:cNvPr id="52" name="AutoShape 6"/>
          <p:cNvSpPr>
            <a:spLocks noChangeArrowheads="1"/>
          </p:cNvSpPr>
          <p:nvPr/>
        </p:nvSpPr>
        <p:spPr bwMode="gray">
          <a:xfrm>
            <a:off x="57150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1C</a:t>
            </a:r>
            <a:endParaRPr lang="en-US" baseline="30000"/>
          </a:p>
        </p:txBody>
      </p:sp>
      <p:sp>
        <p:nvSpPr>
          <p:cNvPr id="53" name="AutoShape 6"/>
          <p:cNvSpPr>
            <a:spLocks noChangeArrowheads="1"/>
          </p:cNvSpPr>
          <p:nvPr/>
        </p:nvSpPr>
        <p:spPr bwMode="gray">
          <a:xfrm>
            <a:off x="61722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1D</a:t>
            </a:r>
            <a:endParaRPr lang="en-US" baseline="30000"/>
          </a:p>
        </p:txBody>
      </p:sp>
      <p:sp>
        <p:nvSpPr>
          <p:cNvPr id="54" name="AutoShape 6"/>
          <p:cNvSpPr>
            <a:spLocks noChangeArrowheads="1"/>
          </p:cNvSpPr>
          <p:nvPr/>
        </p:nvSpPr>
        <p:spPr bwMode="gray">
          <a:xfrm>
            <a:off x="66294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1E</a:t>
            </a:r>
            <a:endParaRPr lang="en-US" baseline="30000"/>
          </a:p>
        </p:txBody>
      </p:sp>
      <p:sp>
        <p:nvSpPr>
          <p:cNvPr id="55" name="AutoShape 6"/>
          <p:cNvSpPr>
            <a:spLocks noChangeArrowheads="1"/>
          </p:cNvSpPr>
          <p:nvPr/>
        </p:nvSpPr>
        <p:spPr bwMode="gray">
          <a:xfrm>
            <a:off x="7086600" y="3068960"/>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1F</a:t>
            </a:r>
            <a:endParaRPr lang="en-US" baseline="30000"/>
          </a:p>
        </p:txBody>
      </p:sp>
      <p:cxnSp>
        <p:nvCxnSpPr>
          <p:cNvPr id="61" name="Straight Arrow Connector 60"/>
          <p:cNvCxnSpPr/>
          <p:nvPr/>
        </p:nvCxnSpPr>
        <p:spPr>
          <a:xfrm rot="5400000" flipH="1" flipV="1">
            <a:off x="4383087" y="4172273"/>
            <a:ext cx="379413" cy="158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5400000">
            <a:off x="1638300" y="4554860"/>
            <a:ext cx="382588"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rot="10800000">
            <a:off x="1828800" y="4364360"/>
            <a:ext cx="2743200" cy="158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AutoShape 6"/>
          <p:cNvSpPr>
            <a:spLocks noChangeArrowheads="1"/>
          </p:cNvSpPr>
          <p:nvPr/>
        </p:nvSpPr>
        <p:spPr bwMode="gray">
          <a:xfrm>
            <a:off x="5029200" y="4059560"/>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parray</a:t>
            </a:r>
          </a:p>
        </p:txBody>
      </p:sp>
      <p:cxnSp>
        <p:nvCxnSpPr>
          <p:cNvPr id="72" name="Straight Arrow Connector 71"/>
          <p:cNvCxnSpPr/>
          <p:nvPr/>
        </p:nvCxnSpPr>
        <p:spPr>
          <a:xfrm rot="5400000" flipH="1" flipV="1">
            <a:off x="1639887" y="5772473"/>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8" name="AutoShape 6"/>
          <p:cNvSpPr>
            <a:spLocks noChangeArrowheads="1"/>
          </p:cNvSpPr>
          <p:nvPr/>
        </p:nvSpPr>
        <p:spPr bwMode="gray">
          <a:xfrm>
            <a:off x="1600200" y="4973960"/>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69" name="AutoShape 6"/>
          <p:cNvSpPr>
            <a:spLocks noChangeArrowheads="1"/>
          </p:cNvSpPr>
          <p:nvPr/>
        </p:nvSpPr>
        <p:spPr bwMode="gray">
          <a:xfrm>
            <a:off x="3429000" y="4973960"/>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70" name="AutoShape 6"/>
          <p:cNvSpPr>
            <a:spLocks noChangeArrowheads="1"/>
          </p:cNvSpPr>
          <p:nvPr/>
        </p:nvSpPr>
        <p:spPr bwMode="gray">
          <a:xfrm>
            <a:off x="5257800" y="4973960"/>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64" name="AutoShape 6"/>
          <p:cNvSpPr>
            <a:spLocks noChangeArrowheads="1"/>
          </p:cNvSpPr>
          <p:nvPr/>
        </p:nvSpPr>
        <p:spPr bwMode="gray">
          <a:xfrm>
            <a:off x="4343400" y="3526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0B</a:t>
            </a:r>
          </a:p>
        </p:txBody>
      </p:sp>
      <p:sp>
        <p:nvSpPr>
          <p:cNvPr id="65" name="AutoShape 6"/>
          <p:cNvSpPr>
            <a:spLocks noChangeArrowheads="1"/>
          </p:cNvSpPr>
          <p:nvPr/>
        </p:nvSpPr>
        <p:spPr bwMode="gray">
          <a:xfrm>
            <a:off x="4800600" y="3526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66" name="AutoShape 6"/>
          <p:cNvSpPr>
            <a:spLocks noChangeArrowheads="1"/>
          </p:cNvSpPr>
          <p:nvPr/>
        </p:nvSpPr>
        <p:spPr bwMode="gray">
          <a:xfrm>
            <a:off x="5257800" y="3526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71" name="AutoShape 6"/>
          <p:cNvSpPr>
            <a:spLocks noChangeArrowheads="1"/>
          </p:cNvSpPr>
          <p:nvPr/>
        </p:nvSpPr>
        <p:spPr bwMode="gray">
          <a:xfrm>
            <a:off x="5715000" y="3526160"/>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73" name="AutoShape 6"/>
          <p:cNvSpPr>
            <a:spLocks noChangeArrowheads="1"/>
          </p:cNvSpPr>
          <p:nvPr/>
        </p:nvSpPr>
        <p:spPr bwMode="gray">
          <a:xfrm>
            <a:off x="4343400" y="3449960"/>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23" name="Date Placeholder 22"/>
          <p:cNvSpPr>
            <a:spLocks noGrp="1"/>
          </p:cNvSpPr>
          <p:nvPr>
            <p:ph type="dt" sz="half" idx="10"/>
          </p:nvPr>
        </p:nvSpPr>
        <p:spPr/>
        <p:txBody>
          <a:bodyPr/>
          <a:lstStyle/>
          <a:p>
            <a:fld id="{00739811-0B0A-4BD1-B839-5866BDCB0A5C}" type="datetime1">
              <a:rPr lang="vi-VN" smtClean="0"/>
              <a:t>14/01/2024</a:t>
            </a:fld>
            <a:endParaRPr lang="vi-VN"/>
          </a:p>
        </p:txBody>
      </p:sp>
      <p:sp>
        <p:nvSpPr>
          <p:cNvPr id="56" name="Footer Placeholder 5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16</a:t>
            </a:fld>
            <a:r>
              <a:rPr lang="vi-VN"/>
              <a:t>/50</a:t>
            </a:r>
          </a:p>
        </p:txBody>
      </p:sp>
    </p:spTree>
    <p:extLst>
      <p:ext uri="{BB962C8B-B14F-4D97-AF65-F5344CB8AC3E}">
        <p14:creationId xmlns:p14="http://schemas.microsoft.com/office/powerpoint/2010/main" val="145333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5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5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8"/>
                                        </p:tgtEl>
                                        <p:attrNameLst>
                                          <p:attrName>style.visibility</p:attrName>
                                        </p:attrNameLst>
                                      </p:cBhvr>
                                      <p:to>
                                        <p:strVal val="visible"/>
                                      </p:to>
                                    </p:set>
                                    <p:animEffect transition="in" filter="fade">
                                      <p:cBhvr>
                                        <p:cTn id="105" dur="500"/>
                                        <p:tgtEl>
                                          <p:spTgt spid="6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9"/>
                                        </p:tgtEl>
                                        <p:attrNameLst>
                                          <p:attrName>style.visibility</p:attrName>
                                        </p:attrNameLst>
                                      </p:cBhvr>
                                      <p:to>
                                        <p:strVal val="visible"/>
                                      </p:to>
                                    </p:set>
                                    <p:animEffect transition="in" filter="fade">
                                      <p:cBhvr>
                                        <p:cTn id="108" dur="500"/>
                                        <p:tgtEl>
                                          <p:spTgt spid="6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70"/>
                                        </p:tgtEl>
                                        <p:attrNameLst>
                                          <p:attrName>style.visibility</p:attrName>
                                        </p:attrNameLst>
                                      </p:cBhvr>
                                      <p:to>
                                        <p:strVal val="visible"/>
                                      </p:to>
                                    </p:set>
                                    <p:animEffect transition="in" filter="fade">
                                      <p:cBhvr>
                                        <p:cTn id="111" dur="500"/>
                                        <p:tgtEl>
                                          <p:spTgt spid="70"/>
                                        </p:tgtEl>
                                      </p:cBhvr>
                                    </p:animEffect>
                                  </p:childTnLst>
                                </p:cTn>
                              </p:par>
                              <p:par>
                                <p:cTn id="112" presetID="10" presetClass="entr" presetSubtype="0" fill="hold" nodeType="withEffect">
                                  <p:stCondLst>
                                    <p:cond delay="0"/>
                                  </p:stCondLst>
                                  <p:childTnLst>
                                    <p:set>
                                      <p:cBhvr>
                                        <p:cTn id="113" dur="1" fill="hold">
                                          <p:stCondLst>
                                            <p:cond delay="0"/>
                                          </p:stCondLst>
                                        </p:cTn>
                                        <p:tgtEl>
                                          <p:spTgt spid="72"/>
                                        </p:tgtEl>
                                        <p:attrNameLst>
                                          <p:attrName>style.visibility</p:attrName>
                                        </p:attrNameLst>
                                      </p:cBhvr>
                                      <p:to>
                                        <p:strVal val="visible"/>
                                      </p:to>
                                    </p:set>
                                    <p:animEffect transition="in" filter="fade">
                                      <p:cBhvr>
                                        <p:cTn id="114" dur="500"/>
                                        <p:tgtEl>
                                          <p:spTgt spid="7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500"/>
                                        <p:tgtEl>
                                          <p:spTgt spid="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7"/>
                                        </p:tgtEl>
                                        <p:attrNameLst>
                                          <p:attrName>style.visibility</p:attrName>
                                        </p:attrNameLst>
                                      </p:cBhvr>
                                      <p:to>
                                        <p:strVal val="visible"/>
                                      </p:to>
                                    </p:set>
                                    <p:animEffect transition="in" filter="fade">
                                      <p:cBhvr>
                                        <p:cTn id="120" dur="500"/>
                                        <p:tgtEl>
                                          <p:spTgt spid="5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500"/>
                                        <p:tgtEl>
                                          <p:spTgt spid="3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500"/>
                                        <p:tgtEl>
                                          <p:spTgt spid="4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500"/>
                                        <p:tgtEl>
                                          <p:spTgt spid="4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500"/>
                                        <p:tgtEl>
                                          <p:spTgt spid="4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4"/>
                                        </p:tgtEl>
                                        <p:attrNameLst>
                                          <p:attrName>style.visibility</p:attrName>
                                        </p:attrNameLst>
                                      </p:cBhvr>
                                      <p:to>
                                        <p:strVal val="visible"/>
                                      </p:to>
                                    </p:set>
                                    <p:animEffect transition="in" filter="fade">
                                      <p:cBhvr>
                                        <p:cTn id="138" dur="500"/>
                                        <p:tgtEl>
                                          <p:spTgt spid="44"/>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5"/>
                                        </p:tgtEl>
                                        <p:attrNameLst>
                                          <p:attrName>style.visibility</p:attrName>
                                        </p:attrNameLst>
                                      </p:cBhvr>
                                      <p:to>
                                        <p:strVal val="visible"/>
                                      </p:to>
                                    </p:set>
                                    <p:animEffect transition="in" filter="fade">
                                      <p:cBhvr>
                                        <p:cTn id="141" dur="500"/>
                                        <p:tgtEl>
                                          <p:spTgt spid="4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500"/>
                                        <p:tgtEl>
                                          <p:spTgt spid="4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fade">
                                      <p:cBhvr>
                                        <p:cTn id="147" dur="500"/>
                                        <p:tgtEl>
                                          <p:spTgt spid="47"/>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48"/>
                                        </p:tgtEl>
                                        <p:attrNameLst>
                                          <p:attrName>style.visibility</p:attrName>
                                        </p:attrNameLst>
                                      </p:cBhvr>
                                      <p:to>
                                        <p:strVal val="visible"/>
                                      </p:to>
                                    </p:set>
                                    <p:animEffect transition="in" filter="fade">
                                      <p:cBhvr>
                                        <p:cTn id="150" dur="500"/>
                                        <p:tgtEl>
                                          <p:spTgt spid="48"/>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49"/>
                                        </p:tgtEl>
                                        <p:attrNameLst>
                                          <p:attrName>style.visibility</p:attrName>
                                        </p:attrNameLst>
                                      </p:cBhvr>
                                      <p:to>
                                        <p:strVal val="visible"/>
                                      </p:to>
                                    </p:set>
                                    <p:animEffect transition="in" filter="fade">
                                      <p:cBhvr>
                                        <p:cTn id="153" dur="500"/>
                                        <p:tgtEl>
                                          <p:spTgt spid="49"/>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fade">
                                      <p:cBhvr>
                                        <p:cTn id="156" dur="500"/>
                                        <p:tgtEl>
                                          <p:spTgt spid="50"/>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1"/>
                                        </p:tgtEl>
                                        <p:attrNameLst>
                                          <p:attrName>style.visibility</p:attrName>
                                        </p:attrNameLst>
                                      </p:cBhvr>
                                      <p:to>
                                        <p:strVal val="visible"/>
                                      </p:to>
                                    </p:set>
                                    <p:animEffect transition="in" filter="fade">
                                      <p:cBhvr>
                                        <p:cTn id="159" dur="500"/>
                                        <p:tgtEl>
                                          <p:spTgt spid="51"/>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2"/>
                                        </p:tgtEl>
                                        <p:attrNameLst>
                                          <p:attrName>style.visibility</p:attrName>
                                        </p:attrNameLst>
                                      </p:cBhvr>
                                      <p:to>
                                        <p:strVal val="visible"/>
                                      </p:to>
                                    </p:set>
                                    <p:animEffect transition="in" filter="fade">
                                      <p:cBhvr>
                                        <p:cTn id="162" dur="500"/>
                                        <p:tgtEl>
                                          <p:spTgt spid="52"/>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3"/>
                                        </p:tgtEl>
                                        <p:attrNameLst>
                                          <p:attrName>style.visibility</p:attrName>
                                        </p:attrNameLst>
                                      </p:cBhvr>
                                      <p:to>
                                        <p:strVal val="visible"/>
                                      </p:to>
                                    </p:set>
                                    <p:animEffect transition="in" filter="fade">
                                      <p:cBhvr>
                                        <p:cTn id="165" dur="500"/>
                                        <p:tgtEl>
                                          <p:spTgt spid="53"/>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4"/>
                                        </p:tgtEl>
                                        <p:attrNameLst>
                                          <p:attrName>style.visibility</p:attrName>
                                        </p:attrNameLst>
                                      </p:cBhvr>
                                      <p:to>
                                        <p:strVal val="visible"/>
                                      </p:to>
                                    </p:set>
                                    <p:animEffect transition="in" filter="fade">
                                      <p:cBhvr>
                                        <p:cTn id="168" dur="500"/>
                                        <p:tgtEl>
                                          <p:spTgt spid="54"/>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1" dur="500"/>
                                        <p:tgtEl>
                                          <p:spTgt spid="55"/>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grpId="0" nodeType="clickEffect">
                                  <p:stCondLst>
                                    <p:cond delay="0"/>
                                  </p:stCondLst>
                                  <p:childTnLst>
                                    <p:set>
                                      <p:cBhvr>
                                        <p:cTn id="175" dur="1" fill="hold">
                                          <p:stCondLst>
                                            <p:cond delay="0"/>
                                          </p:stCondLst>
                                        </p:cTn>
                                        <p:tgtEl>
                                          <p:spTgt spid="73"/>
                                        </p:tgtEl>
                                        <p:attrNameLst>
                                          <p:attrName>style.visibility</p:attrName>
                                        </p:attrNameLst>
                                      </p:cBhvr>
                                      <p:to>
                                        <p:strVal val="visible"/>
                                      </p:to>
                                    </p:set>
                                    <p:animEffect transition="in" filter="fade">
                                      <p:cBhvr>
                                        <p:cTn id="176" dur="500"/>
                                        <p:tgtEl>
                                          <p:spTgt spid="73"/>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7"/>
                                        </p:tgtEl>
                                        <p:attrNameLst>
                                          <p:attrName>style.visibility</p:attrName>
                                        </p:attrNameLst>
                                      </p:cBhvr>
                                      <p:to>
                                        <p:strVal val="visible"/>
                                      </p:to>
                                    </p:set>
                                    <p:animEffect transition="in" filter="fade">
                                      <p:cBhvr>
                                        <p:cTn id="179" dur="500"/>
                                        <p:tgtEl>
                                          <p:spTgt spid="67"/>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grpId="0" nodeType="clickEffect">
                                  <p:stCondLst>
                                    <p:cond delay="0"/>
                                  </p:stCondLst>
                                  <p:childTnLst>
                                    <p:set>
                                      <p:cBhvr>
                                        <p:cTn id="183" dur="1" fill="hold">
                                          <p:stCondLst>
                                            <p:cond delay="0"/>
                                          </p:stCondLst>
                                        </p:cTn>
                                        <p:tgtEl>
                                          <p:spTgt spid="64"/>
                                        </p:tgtEl>
                                        <p:attrNameLst>
                                          <p:attrName>style.visibility</p:attrName>
                                        </p:attrNameLst>
                                      </p:cBhvr>
                                      <p:to>
                                        <p:strVal val="visible"/>
                                      </p:to>
                                    </p:set>
                                    <p:animEffect transition="in" filter="fade">
                                      <p:cBhvr>
                                        <p:cTn id="184" dur="500"/>
                                        <p:tgtEl>
                                          <p:spTgt spid="64"/>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5"/>
                                        </p:tgtEl>
                                        <p:attrNameLst>
                                          <p:attrName>style.visibility</p:attrName>
                                        </p:attrNameLst>
                                      </p:cBhvr>
                                      <p:to>
                                        <p:strVal val="visible"/>
                                      </p:to>
                                    </p:set>
                                    <p:animEffect transition="in" filter="fade">
                                      <p:cBhvr>
                                        <p:cTn id="187" dur="500"/>
                                        <p:tgtEl>
                                          <p:spTgt spid="65"/>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6"/>
                                        </p:tgtEl>
                                        <p:attrNameLst>
                                          <p:attrName>style.visibility</p:attrName>
                                        </p:attrNameLst>
                                      </p:cBhvr>
                                      <p:to>
                                        <p:strVal val="visible"/>
                                      </p:to>
                                    </p:set>
                                    <p:animEffect transition="in" filter="fade">
                                      <p:cBhvr>
                                        <p:cTn id="190" dur="500"/>
                                        <p:tgtEl>
                                          <p:spTgt spid="66"/>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1"/>
                                        </p:tgtEl>
                                        <p:attrNameLst>
                                          <p:attrName>style.visibility</p:attrName>
                                        </p:attrNameLst>
                                      </p:cBhvr>
                                      <p:to>
                                        <p:strVal val="visible"/>
                                      </p:to>
                                    </p:set>
                                    <p:animEffect transition="in" filter="fade">
                                      <p:cBhvr>
                                        <p:cTn id="193" dur="500"/>
                                        <p:tgtEl>
                                          <p:spTgt spid="71"/>
                                        </p:tgtEl>
                                      </p:cBhvr>
                                    </p:animEffect>
                                  </p:childTnLst>
                                </p:cTn>
                              </p:par>
                            </p:childTnLst>
                          </p:cTn>
                        </p:par>
                        <p:par>
                          <p:cTn id="194" fill="hold">
                            <p:stCondLst>
                              <p:cond delay="500"/>
                            </p:stCondLst>
                            <p:childTnLst>
                              <p:par>
                                <p:cTn id="195" presetID="22" presetClass="entr" presetSubtype="1" fill="hold" nodeType="afterEffect">
                                  <p:stCondLst>
                                    <p:cond delay="0"/>
                                  </p:stCondLst>
                                  <p:childTnLst>
                                    <p:set>
                                      <p:cBhvr>
                                        <p:cTn id="196" dur="1" fill="hold">
                                          <p:stCondLst>
                                            <p:cond delay="0"/>
                                          </p:stCondLst>
                                        </p:cTn>
                                        <p:tgtEl>
                                          <p:spTgt spid="61"/>
                                        </p:tgtEl>
                                        <p:attrNameLst>
                                          <p:attrName>style.visibility</p:attrName>
                                        </p:attrNameLst>
                                      </p:cBhvr>
                                      <p:to>
                                        <p:strVal val="visible"/>
                                      </p:to>
                                    </p:set>
                                    <p:animEffect transition="in" filter="wipe(up)">
                                      <p:cBhvr>
                                        <p:cTn id="197" dur="500"/>
                                        <p:tgtEl>
                                          <p:spTgt spid="61"/>
                                        </p:tgtEl>
                                      </p:cBhvr>
                                    </p:animEffect>
                                  </p:childTnLst>
                                </p:cTn>
                              </p:par>
                            </p:childTnLst>
                          </p:cTn>
                        </p:par>
                        <p:par>
                          <p:cTn id="198" fill="hold">
                            <p:stCondLst>
                              <p:cond delay="1000"/>
                            </p:stCondLst>
                            <p:childTnLst>
                              <p:par>
                                <p:cTn id="199" presetID="22" presetClass="entr" presetSubtype="2" fill="hold" nodeType="afterEffect">
                                  <p:stCondLst>
                                    <p:cond delay="0"/>
                                  </p:stCondLst>
                                  <p:childTnLst>
                                    <p:set>
                                      <p:cBhvr>
                                        <p:cTn id="200" dur="1" fill="hold">
                                          <p:stCondLst>
                                            <p:cond delay="0"/>
                                          </p:stCondLst>
                                        </p:cTn>
                                        <p:tgtEl>
                                          <p:spTgt spid="63"/>
                                        </p:tgtEl>
                                        <p:attrNameLst>
                                          <p:attrName>style.visibility</p:attrName>
                                        </p:attrNameLst>
                                      </p:cBhvr>
                                      <p:to>
                                        <p:strVal val="visible"/>
                                      </p:to>
                                    </p:set>
                                    <p:animEffect transition="in" filter="wipe(right)">
                                      <p:cBhvr>
                                        <p:cTn id="201" dur="500"/>
                                        <p:tgtEl>
                                          <p:spTgt spid="63"/>
                                        </p:tgtEl>
                                      </p:cBhvr>
                                    </p:animEffect>
                                  </p:childTnLst>
                                </p:cTn>
                              </p:par>
                            </p:childTnLst>
                          </p:cTn>
                        </p:par>
                        <p:par>
                          <p:cTn id="202" fill="hold">
                            <p:stCondLst>
                              <p:cond delay="1500"/>
                            </p:stCondLst>
                            <p:childTnLst>
                              <p:par>
                                <p:cTn id="203" presetID="22" presetClass="entr" presetSubtype="1" fill="hold" nodeType="afterEffect">
                                  <p:stCondLst>
                                    <p:cond delay="0"/>
                                  </p:stCondLst>
                                  <p:childTnLst>
                                    <p:set>
                                      <p:cBhvr>
                                        <p:cTn id="204" dur="1" fill="hold">
                                          <p:stCondLst>
                                            <p:cond delay="0"/>
                                          </p:stCondLst>
                                        </p:cTn>
                                        <p:tgtEl>
                                          <p:spTgt spid="62"/>
                                        </p:tgtEl>
                                        <p:attrNameLst>
                                          <p:attrName>style.visibility</p:attrName>
                                        </p:attrNameLst>
                                      </p:cBhvr>
                                      <p:to>
                                        <p:strVal val="visible"/>
                                      </p:to>
                                    </p:set>
                                    <p:animEffect transition="in" filter="wipe(up)">
                                      <p:cBhvr>
                                        <p:cTn id="20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animBg="1"/>
      <p:bldP spid="40" grpId="0" animBg="1"/>
      <p:bldP spid="41" grpId="0" animBg="1"/>
      <p:bldP spid="42" grpId="0" animBg="1"/>
      <p:bldP spid="43" grpId="0" animBg="1"/>
      <p:bldP spid="44" grpId="0" animBg="1"/>
      <p:bldP spid="45" grpId="0" animBg="1"/>
      <p:bldP spid="46" grpId="0" animBg="1"/>
      <p:bldP spid="47" grpId="0" animBg="1"/>
      <p:bldP spid="48" grpId="0"/>
      <p:bldP spid="49" grpId="0"/>
      <p:bldP spid="50" grpId="0"/>
      <p:bldP spid="51" grpId="0"/>
      <p:bldP spid="52" grpId="0"/>
      <p:bldP spid="53" grpId="0"/>
      <p:bldP spid="54" grpId="0"/>
      <p:bldP spid="55" grpId="0"/>
      <p:bldP spid="67" grpId="0" animBg="1"/>
      <p:bldP spid="68" grpId="0" animBg="1"/>
      <p:bldP spid="69" grpId="0" animBg="1"/>
      <p:bldP spid="70" grpId="0" animBg="1"/>
      <p:bldP spid="64" grpId="0" animBg="1"/>
      <p:bldP spid="65" grpId="0" animBg="1"/>
      <p:bldP spid="66" grpId="0" animBg="1"/>
      <p:bldP spid="71" grpId="0" animBg="1"/>
      <p:bldP spid="7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Phép cộng (t</a:t>
            </a:r>
            <a:r>
              <a:rPr lang="vi-VN"/>
              <a:t>ă</a:t>
            </a:r>
            <a:r>
              <a:rPr lang="en-US"/>
              <a:t>ng)</a:t>
            </a:r>
          </a:p>
          <a:p>
            <a:pPr lvl="1" eaLnBrk="1" hangingPunct="1">
              <a:defRPr/>
            </a:pPr>
            <a:r>
              <a:rPr lang="en-US"/>
              <a:t>+ n </a:t>
            </a:r>
            <a:r>
              <a:rPr lang="en-US">
                <a:sym typeface="Wingdings" pitchFamily="2" charset="2"/>
              </a:rPr>
              <a:t> + n * sizeof(&lt;kiểu dữ liệu&gt;)</a:t>
            </a:r>
          </a:p>
          <a:p>
            <a:pPr lvl="1" eaLnBrk="1" hangingPunct="1">
              <a:defRPr/>
            </a:pPr>
            <a:r>
              <a:rPr lang="en-US">
                <a:sym typeface="Wingdings" pitchFamily="2" charset="2"/>
              </a:rPr>
              <a:t>Có thể sử dụng toán tử gộp </a:t>
            </a:r>
            <a:r>
              <a:rPr lang="en-US">
                <a:solidFill>
                  <a:srgbClr val="FF0000"/>
                </a:solidFill>
                <a:sym typeface="Wingdings" pitchFamily="2" charset="2"/>
              </a:rPr>
              <a:t>+=</a:t>
            </a:r>
            <a:r>
              <a:rPr lang="en-US">
                <a:sym typeface="Wingdings" pitchFamily="2" charset="2"/>
              </a:rPr>
              <a:t> hoặc </a:t>
            </a:r>
            <a:r>
              <a:rPr lang="en-US">
                <a:solidFill>
                  <a:srgbClr val="FF0000"/>
                </a:solidFill>
                <a:sym typeface="Wingdings" pitchFamily="2" charset="2"/>
              </a:rPr>
              <a:t>++</a:t>
            </a:r>
            <a:r>
              <a:rPr lang="en-US">
                <a:sym typeface="Wingdings" pitchFamily="2" charset="2"/>
              </a:rPr>
              <a:t> </a:t>
            </a:r>
            <a:endParaRPr lang="en-US"/>
          </a:p>
        </p:txBody>
      </p:sp>
      <p:sp>
        <p:nvSpPr>
          <p:cNvPr id="56" name="AutoShape 6"/>
          <p:cNvSpPr>
            <a:spLocks noChangeArrowheads="1"/>
          </p:cNvSpPr>
          <p:nvPr/>
        </p:nvSpPr>
        <p:spPr bwMode="gray">
          <a:xfrm>
            <a:off x="3429000" y="30857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+2</a:t>
            </a:r>
          </a:p>
        </p:txBody>
      </p:sp>
      <p:sp>
        <p:nvSpPr>
          <p:cNvPr id="35844" name="Title 1"/>
          <p:cNvSpPr>
            <a:spLocks noGrp="1"/>
          </p:cNvSpPr>
          <p:nvPr>
            <p:ph type="title"/>
          </p:nvPr>
        </p:nvSpPr>
        <p:spPr/>
        <p:txBody>
          <a:bodyPr/>
          <a:lstStyle/>
          <a:p>
            <a:pPr eaLnBrk="1" hangingPunct="1"/>
            <a:r>
              <a:rPr lang="en-US"/>
              <a:t>Phép toán số học trên con trỏ</a:t>
            </a:r>
          </a:p>
        </p:txBody>
      </p:sp>
      <p:sp>
        <p:nvSpPr>
          <p:cNvPr id="5" name="AutoShape 6"/>
          <p:cNvSpPr>
            <a:spLocks noChangeArrowheads="1"/>
          </p:cNvSpPr>
          <p:nvPr/>
        </p:nvSpPr>
        <p:spPr bwMode="gray">
          <a:xfrm>
            <a:off x="7543800" y="49145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6" name="AutoShape 6"/>
          <p:cNvSpPr>
            <a:spLocks noChangeArrowheads="1"/>
          </p:cNvSpPr>
          <p:nvPr/>
        </p:nvSpPr>
        <p:spPr bwMode="gray">
          <a:xfrm>
            <a:off x="685800" y="49145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7" name="AutoShape 6"/>
          <p:cNvSpPr>
            <a:spLocks noChangeArrowheads="1"/>
          </p:cNvSpPr>
          <p:nvPr/>
        </p:nvSpPr>
        <p:spPr bwMode="gray">
          <a:xfrm>
            <a:off x="1143000" y="4914528"/>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 name="AutoShape 6"/>
          <p:cNvSpPr>
            <a:spLocks noChangeArrowheads="1"/>
          </p:cNvSpPr>
          <p:nvPr/>
        </p:nvSpPr>
        <p:spPr bwMode="gray">
          <a:xfrm>
            <a:off x="1600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9" name="AutoShape 6"/>
          <p:cNvSpPr>
            <a:spLocks noChangeArrowheads="1"/>
          </p:cNvSpPr>
          <p:nvPr/>
        </p:nvSpPr>
        <p:spPr bwMode="gray">
          <a:xfrm>
            <a:off x="2057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0" name="AutoShape 6"/>
          <p:cNvSpPr>
            <a:spLocks noChangeArrowheads="1"/>
          </p:cNvSpPr>
          <p:nvPr/>
        </p:nvSpPr>
        <p:spPr bwMode="gray">
          <a:xfrm>
            <a:off x="25146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1" name="AutoShape 6"/>
          <p:cNvSpPr>
            <a:spLocks noChangeArrowheads="1"/>
          </p:cNvSpPr>
          <p:nvPr/>
        </p:nvSpPr>
        <p:spPr bwMode="gray">
          <a:xfrm>
            <a:off x="29718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2" name="AutoShape 6"/>
          <p:cNvSpPr>
            <a:spLocks noChangeArrowheads="1"/>
          </p:cNvSpPr>
          <p:nvPr/>
        </p:nvSpPr>
        <p:spPr bwMode="gray">
          <a:xfrm>
            <a:off x="34290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3" name="AutoShape 6"/>
          <p:cNvSpPr>
            <a:spLocks noChangeArrowheads="1"/>
          </p:cNvSpPr>
          <p:nvPr/>
        </p:nvSpPr>
        <p:spPr bwMode="gray">
          <a:xfrm>
            <a:off x="3886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4" name="AutoShape 6"/>
          <p:cNvSpPr>
            <a:spLocks noChangeArrowheads="1"/>
          </p:cNvSpPr>
          <p:nvPr/>
        </p:nvSpPr>
        <p:spPr bwMode="gray">
          <a:xfrm>
            <a:off x="4343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5" name="AutoShape 6"/>
          <p:cNvSpPr>
            <a:spLocks noChangeArrowheads="1"/>
          </p:cNvSpPr>
          <p:nvPr/>
        </p:nvSpPr>
        <p:spPr bwMode="gray">
          <a:xfrm>
            <a:off x="48006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6" name="AutoShape 6"/>
          <p:cNvSpPr>
            <a:spLocks noChangeArrowheads="1"/>
          </p:cNvSpPr>
          <p:nvPr/>
        </p:nvSpPr>
        <p:spPr bwMode="gray">
          <a:xfrm>
            <a:off x="52578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7" name="AutoShape 6"/>
          <p:cNvSpPr>
            <a:spLocks noChangeArrowheads="1"/>
          </p:cNvSpPr>
          <p:nvPr/>
        </p:nvSpPr>
        <p:spPr bwMode="gray">
          <a:xfrm>
            <a:off x="57150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8" name="AutoShape 6"/>
          <p:cNvSpPr>
            <a:spLocks noChangeArrowheads="1"/>
          </p:cNvSpPr>
          <p:nvPr/>
        </p:nvSpPr>
        <p:spPr bwMode="gray">
          <a:xfrm>
            <a:off x="6172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9" name="AutoShape 6"/>
          <p:cNvSpPr>
            <a:spLocks noChangeArrowheads="1"/>
          </p:cNvSpPr>
          <p:nvPr/>
        </p:nvSpPr>
        <p:spPr bwMode="gray">
          <a:xfrm>
            <a:off x="6629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0" name="AutoShape 6"/>
          <p:cNvSpPr>
            <a:spLocks noChangeArrowheads="1"/>
          </p:cNvSpPr>
          <p:nvPr/>
        </p:nvSpPr>
        <p:spPr bwMode="gray">
          <a:xfrm>
            <a:off x="7086600" y="4914528"/>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21" name="Straight Arrow Connector 20"/>
          <p:cNvCxnSpPr>
            <a:stCxn id="22" idx="2"/>
            <a:endCxn id="24" idx="0"/>
          </p:cNvCxnSpPr>
          <p:nvPr/>
        </p:nvCxnSpPr>
        <p:spPr>
          <a:xfrm rot="5400000">
            <a:off x="1219201" y="3847728"/>
            <a:ext cx="12192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AutoShape 6"/>
          <p:cNvSpPr>
            <a:spLocks noChangeArrowheads="1"/>
          </p:cNvSpPr>
          <p:nvPr/>
        </p:nvSpPr>
        <p:spPr bwMode="gray">
          <a:xfrm>
            <a:off x="16002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p = array</a:t>
            </a:r>
          </a:p>
        </p:txBody>
      </p:sp>
      <p:sp>
        <p:nvSpPr>
          <p:cNvPr id="23" name="AutoShape 6"/>
          <p:cNvSpPr>
            <a:spLocks noChangeArrowheads="1"/>
          </p:cNvSpPr>
          <p:nvPr/>
        </p:nvSpPr>
        <p:spPr bwMode="gray">
          <a:xfrm>
            <a:off x="1143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24" name="AutoShape 6"/>
          <p:cNvSpPr>
            <a:spLocks noChangeArrowheads="1"/>
          </p:cNvSpPr>
          <p:nvPr/>
        </p:nvSpPr>
        <p:spPr bwMode="gray">
          <a:xfrm>
            <a:off x="1600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25" name="AutoShape 6"/>
          <p:cNvSpPr>
            <a:spLocks noChangeArrowheads="1"/>
          </p:cNvSpPr>
          <p:nvPr/>
        </p:nvSpPr>
        <p:spPr bwMode="gray">
          <a:xfrm>
            <a:off x="2057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26" name="AutoShape 6"/>
          <p:cNvSpPr>
            <a:spLocks noChangeArrowheads="1"/>
          </p:cNvSpPr>
          <p:nvPr/>
        </p:nvSpPr>
        <p:spPr bwMode="gray">
          <a:xfrm>
            <a:off x="2514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27" name="AutoShape 6"/>
          <p:cNvSpPr>
            <a:spLocks noChangeArrowheads="1"/>
          </p:cNvSpPr>
          <p:nvPr/>
        </p:nvSpPr>
        <p:spPr bwMode="gray">
          <a:xfrm>
            <a:off x="29718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28" name="AutoShape 6"/>
          <p:cNvSpPr>
            <a:spLocks noChangeArrowheads="1"/>
          </p:cNvSpPr>
          <p:nvPr/>
        </p:nvSpPr>
        <p:spPr bwMode="gray">
          <a:xfrm>
            <a:off x="3429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29" name="AutoShape 6"/>
          <p:cNvSpPr>
            <a:spLocks noChangeArrowheads="1"/>
          </p:cNvSpPr>
          <p:nvPr/>
        </p:nvSpPr>
        <p:spPr bwMode="gray">
          <a:xfrm>
            <a:off x="3886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30" name="AutoShape 6"/>
          <p:cNvSpPr>
            <a:spLocks noChangeArrowheads="1"/>
          </p:cNvSpPr>
          <p:nvPr/>
        </p:nvSpPr>
        <p:spPr bwMode="gray">
          <a:xfrm>
            <a:off x="4343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31" name="AutoShape 6"/>
          <p:cNvSpPr>
            <a:spLocks noChangeArrowheads="1"/>
          </p:cNvSpPr>
          <p:nvPr/>
        </p:nvSpPr>
        <p:spPr bwMode="gray">
          <a:xfrm>
            <a:off x="4800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32" name="AutoShape 6"/>
          <p:cNvSpPr>
            <a:spLocks noChangeArrowheads="1"/>
          </p:cNvSpPr>
          <p:nvPr/>
        </p:nvSpPr>
        <p:spPr bwMode="gray">
          <a:xfrm>
            <a:off x="52578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33" name="AutoShape 6"/>
          <p:cNvSpPr>
            <a:spLocks noChangeArrowheads="1"/>
          </p:cNvSpPr>
          <p:nvPr/>
        </p:nvSpPr>
        <p:spPr bwMode="gray">
          <a:xfrm>
            <a:off x="5715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34" name="AutoShape 6"/>
          <p:cNvSpPr>
            <a:spLocks noChangeArrowheads="1"/>
          </p:cNvSpPr>
          <p:nvPr/>
        </p:nvSpPr>
        <p:spPr bwMode="gray">
          <a:xfrm>
            <a:off x="6172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35" name="AutoShape 6"/>
          <p:cNvSpPr>
            <a:spLocks noChangeArrowheads="1"/>
          </p:cNvSpPr>
          <p:nvPr/>
        </p:nvSpPr>
        <p:spPr bwMode="gray">
          <a:xfrm>
            <a:off x="6629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36" name="AutoShape 6"/>
          <p:cNvSpPr>
            <a:spLocks noChangeArrowheads="1"/>
          </p:cNvSpPr>
          <p:nvPr/>
        </p:nvSpPr>
        <p:spPr bwMode="gray">
          <a:xfrm>
            <a:off x="7086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cxnSp>
        <p:nvCxnSpPr>
          <p:cNvPr id="43" name="Straight Arrow Connector 42"/>
          <p:cNvCxnSpPr>
            <a:endCxn id="32" idx="0"/>
          </p:cNvCxnSpPr>
          <p:nvPr/>
        </p:nvCxnSpPr>
        <p:spPr>
          <a:xfrm rot="5400000">
            <a:off x="5219701" y="4190628"/>
            <a:ext cx="5334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22" idx="2"/>
          </p:cNvCxnSpPr>
          <p:nvPr/>
        </p:nvCxnSpPr>
        <p:spPr>
          <a:xfrm rot="16200000" flipH="1">
            <a:off x="3314700" y="1752228"/>
            <a:ext cx="685800" cy="365760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28" idx="0"/>
          </p:cNvCxnSpPr>
          <p:nvPr/>
        </p:nvCxnSpPr>
        <p:spPr>
          <a:xfrm rot="5400000">
            <a:off x="3467894" y="4266034"/>
            <a:ext cx="3810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5" name="AutoShape 6"/>
          <p:cNvSpPr>
            <a:spLocks noChangeArrowheads="1"/>
          </p:cNvSpPr>
          <p:nvPr/>
        </p:nvSpPr>
        <p:spPr bwMode="gray">
          <a:xfrm>
            <a:off x="2514600" y="37715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+1</a:t>
            </a:r>
          </a:p>
        </p:txBody>
      </p:sp>
      <p:cxnSp>
        <p:nvCxnSpPr>
          <p:cNvPr id="58" name="Straight Arrow Connector 57"/>
          <p:cNvCxnSpPr>
            <a:stCxn id="22" idx="2"/>
          </p:cNvCxnSpPr>
          <p:nvPr/>
        </p:nvCxnSpPr>
        <p:spPr>
          <a:xfrm rot="16200000" flipH="1">
            <a:off x="2324100" y="2742828"/>
            <a:ext cx="838200" cy="182880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6" name="AutoShape 6"/>
          <p:cNvSpPr>
            <a:spLocks noChangeArrowheads="1"/>
          </p:cNvSpPr>
          <p:nvPr/>
        </p:nvSpPr>
        <p:spPr bwMode="gray">
          <a:xfrm>
            <a:off x="1600200" y="57527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int </a:t>
            </a:r>
            <a:r>
              <a:rPr lang="en-US" sz="2400">
                <a:solidFill>
                  <a:srgbClr val="FF0000"/>
                </a:solidFill>
              </a:rPr>
              <a:t>array</a:t>
            </a:r>
            <a:r>
              <a:rPr lang="en-US" sz="2400"/>
              <a:t>[3];</a:t>
            </a:r>
          </a:p>
        </p:txBody>
      </p:sp>
      <p:cxnSp>
        <p:nvCxnSpPr>
          <p:cNvPr id="67" name="Straight Arrow Connector 66"/>
          <p:cNvCxnSpPr/>
          <p:nvPr/>
        </p:nvCxnSpPr>
        <p:spPr>
          <a:xfrm rot="5400000" flipH="1" flipV="1">
            <a:off x="1639887" y="5636841"/>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AutoShape 6"/>
          <p:cNvSpPr>
            <a:spLocks noChangeArrowheads="1"/>
          </p:cNvSpPr>
          <p:nvPr/>
        </p:nvSpPr>
        <p:spPr bwMode="gray">
          <a:xfrm>
            <a:off x="16002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8" name="AutoShape 6"/>
          <p:cNvSpPr>
            <a:spLocks noChangeArrowheads="1"/>
          </p:cNvSpPr>
          <p:nvPr/>
        </p:nvSpPr>
        <p:spPr bwMode="gray">
          <a:xfrm>
            <a:off x="34290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52578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5840" name="Date Placeholder 35839"/>
          <p:cNvSpPr>
            <a:spLocks noGrp="1"/>
          </p:cNvSpPr>
          <p:nvPr>
            <p:ph type="dt" sz="half" idx="10"/>
          </p:nvPr>
        </p:nvSpPr>
        <p:spPr/>
        <p:txBody>
          <a:bodyPr/>
          <a:lstStyle/>
          <a:p>
            <a:fld id="{6403ACF5-1ABC-42BF-8451-5F8C4497A457}" type="datetime1">
              <a:rPr lang="vi-VN" smtClean="0"/>
              <a:t>14/01/2024</a:t>
            </a:fld>
            <a:endParaRPr lang="vi-VN"/>
          </a:p>
        </p:txBody>
      </p:sp>
      <p:sp>
        <p:nvSpPr>
          <p:cNvPr id="35841" name="Footer Placeholder 35840"/>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17</a:t>
            </a:fld>
            <a:r>
              <a:rPr lang="vi-VN"/>
              <a:t>/50</a:t>
            </a:r>
          </a:p>
        </p:txBody>
      </p:sp>
    </p:spTree>
    <p:extLst>
      <p:ext uri="{BB962C8B-B14F-4D97-AF65-F5344CB8AC3E}">
        <p14:creationId xmlns:p14="http://schemas.microsoft.com/office/powerpoint/2010/main" val="307201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500"/>
                                        <p:tgtEl>
                                          <p:spTgt spid="66"/>
                                        </p:tgtEl>
                                      </p:cBhvr>
                                    </p:animEffect>
                                  </p:childTnLst>
                                </p:cTn>
                              </p:par>
                              <p:par>
                                <p:cTn id="104" presetID="10" presetClass="entr" presetSubtype="0" fill="hold"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fade">
                                      <p:cBhvr>
                                        <p:cTn id="106" dur="500"/>
                                        <p:tgtEl>
                                          <p:spTgt spid="6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
                                        </p:tgtEl>
                                        <p:attrNameLst>
                                          <p:attrName>style.visibility</p:attrName>
                                        </p:attrNameLst>
                                      </p:cBhvr>
                                      <p:to>
                                        <p:strVal val="visible"/>
                                      </p:to>
                                    </p:set>
                                    <p:animEffect transition="in" filter="fade">
                                      <p:cBhvr>
                                        <p:cTn id="109" dur="500"/>
                                        <p:tgtEl>
                                          <p:spTgt spid="5"/>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childTnLst>
                                </p:cTn>
                              </p:par>
                            </p:childTnLst>
                          </p:cTn>
                        </p:par>
                        <p:par>
                          <p:cTn id="115" fill="hold">
                            <p:stCondLst>
                              <p:cond delay="500"/>
                            </p:stCondLst>
                            <p:childTnLst>
                              <p:par>
                                <p:cTn id="116" presetID="22" presetClass="entr" presetSubtype="1" fill="hold" nodeType="afterEffect">
                                  <p:stCondLst>
                                    <p:cond delay="0"/>
                                  </p:stCondLst>
                                  <p:childTnLst>
                                    <p:set>
                                      <p:cBhvr>
                                        <p:cTn id="117" dur="1" fill="hold">
                                          <p:stCondLst>
                                            <p:cond delay="0"/>
                                          </p:stCondLst>
                                        </p:cTn>
                                        <p:tgtEl>
                                          <p:spTgt spid="21"/>
                                        </p:tgtEl>
                                        <p:attrNameLst>
                                          <p:attrName>style.visibility</p:attrName>
                                        </p:attrNameLst>
                                      </p:cBhvr>
                                      <p:to>
                                        <p:strVal val="visible"/>
                                      </p:to>
                                    </p:set>
                                    <p:animEffect transition="in" filter="wipe(up)">
                                      <p:cBhvr>
                                        <p:cTn id="118" dur="500"/>
                                        <p:tgtEl>
                                          <p:spTgt spid="2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65"/>
                                        </p:tgtEl>
                                        <p:attrNameLst>
                                          <p:attrName>style.visibility</p:attrName>
                                        </p:attrNameLst>
                                      </p:cBhvr>
                                      <p:to>
                                        <p:strVal val="visible"/>
                                      </p:to>
                                    </p:set>
                                    <p:animEffect transition="in" filter="fade">
                                      <p:cBhvr>
                                        <p:cTn id="123" dur="500"/>
                                        <p:tgtEl>
                                          <p:spTgt spid="65"/>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58"/>
                                        </p:tgtEl>
                                        <p:attrNameLst>
                                          <p:attrName>style.visibility</p:attrName>
                                        </p:attrNameLst>
                                      </p:cBhvr>
                                      <p:to>
                                        <p:strVal val="visible"/>
                                      </p:to>
                                    </p:set>
                                    <p:animEffect transition="in" filter="wipe(left)">
                                      <p:cBhvr>
                                        <p:cTn id="128" dur="500"/>
                                        <p:tgtEl>
                                          <p:spTgt spid="58"/>
                                        </p:tgtEl>
                                      </p:cBhvr>
                                    </p:animEffect>
                                  </p:childTnLst>
                                </p:cTn>
                              </p:par>
                            </p:childTnLst>
                          </p:cTn>
                        </p:par>
                        <p:par>
                          <p:cTn id="129" fill="hold">
                            <p:stCondLst>
                              <p:cond delay="500"/>
                            </p:stCondLst>
                            <p:childTnLst>
                              <p:par>
                                <p:cTn id="130" presetID="22" presetClass="entr" presetSubtype="1" fill="hold" nodeType="afterEffect">
                                  <p:stCondLst>
                                    <p:cond delay="0"/>
                                  </p:stCondLst>
                                  <p:childTnLst>
                                    <p:set>
                                      <p:cBhvr>
                                        <p:cTn id="131" dur="1" fill="hold">
                                          <p:stCondLst>
                                            <p:cond delay="0"/>
                                          </p:stCondLst>
                                        </p:cTn>
                                        <p:tgtEl>
                                          <p:spTgt spid="57"/>
                                        </p:tgtEl>
                                        <p:attrNameLst>
                                          <p:attrName>style.visibility</p:attrName>
                                        </p:attrNameLst>
                                      </p:cBhvr>
                                      <p:to>
                                        <p:strVal val="visible"/>
                                      </p:to>
                                    </p:set>
                                    <p:animEffect transition="in" filter="wipe(up)">
                                      <p:cBhvr>
                                        <p:cTn id="132" dur="500"/>
                                        <p:tgtEl>
                                          <p:spTgt spid="5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fade">
                                      <p:cBhvr>
                                        <p:cTn id="137" dur="500"/>
                                        <p:tgtEl>
                                          <p:spTgt spid="56"/>
                                        </p:tgtEl>
                                      </p:cBhvr>
                                    </p:animEffect>
                                  </p:childTnLst>
                                </p:cTn>
                              </p:par>
                            </p:childTnLst>
                          </p:cTn>
                        </p:par>
                        <p:par>
                          <p:cTn id="138" fill="hold">
                            <p:stCondLst>
                              <p:cond delay="500"/>
                            </p:stCondLst>
                            <p:childTnLst>
                              <p:par>
                                <p:cTn id="139" presetID="22" presetClass="entr" presetSubtype="8" fill="hold" nodeType="afterEffect">
                                  <p:stCondLst>
                                    <p:cond delay="0"/>
                                  </p:stCondLst>
                                  <p:childTnLst>
                                    <p:set>
                                      <p:cBhvr>
                                        <p:cTn id="140" dur="1" fill="hold">
                                          <p:stCondLst>
                                            <p:cond delay="0"/>
                                          </p:stCondLst>
                                        </p:cTn>
                                        <p:tgtEl>
                                          <p:spTgt spid="53"/>
                                        </p:tgtEl>
                                        <p:attrNameLst>
                                          <p:attrName>style.visibility</p:attrName>
                                        </p:attrNameLst>
                                      </p:cBhvr>
                                      <p:to>
                                        <p:strVal val="visible"/>
                                      </p:to>
                                    </p:set>
                                    <p:animEffect transition="in" filter="wipe(left)">
                                      <p:cBhvr>
                                        <p:cTn id="141" dur="500"/>
                                        <p:tgtEl>
                                          <p:spTgt spid="53"/>
                                        </p:tgtEl>
                                      </p:cBhvr>
                                    </p:animEffect>
                                  </p:childTnLst>
                                </p:cTn>
                              </p:par>
                            </p:childTnLst>
                          </p:cTn>
                        </p:par>
                        <p:par>
                          <p:cTn id="142" fill="hold">
                            <p:stCondLst>
                              <p:cond delay="1000"/>
                            </p:stCondLst>
                            <p:childTnLst>
                              <p:par>
                                <p:cTn id="143" presetID="22" presetClass="entr" presetSubtype="1" fill="hold" nodeType="after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wipe(up)">
                                      <p:cBhvr>
                                        <p:cTn id="14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65" grpId="0" animBg="1"/>
      <p:bldP spid="66" grpId="0" animBg="1"/>
      <p:bldP spid="37" grpId="0" animBg="1"/>
      <p:bldP spid="38" grpId="0" animBg="1"/>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Phép trừ (giảm)</a:t>
            </a:r>
          </a:p>
          <a:p>
            <a:pPr lvl="1" eaLnBrk="1" hangingPunct="1">
              <a:defRPr/>
            </a:pPr>
            <a:r>
              <a:rPr lang="en-US">
                <a:sym typeface="Wingdings" pitchFamily="2" charset="2"/>
              </a:rPr>
              <a:t>–</a:t>
            </a:r>
            <a:r>
              <a:rPr lang="en-US"/>
              <a:t> n  </a:t>
            </a:r>
            <a:r>
              <a:rPr lang="en-US">
                <a:sym typeface="Wingdings" pitchFamily="2" charset="2"/>
              </a:rPr>
              <a:t> – n * sizeof(&lt;kiểu dữ liệu&gt;)</a:t>
            </a:r>
          </a:p>
          <a:p>
            <a:pPr lvl="1" eaLnBrk="1" hangingPunct="1">
              <a:defRPr/>
            </a:pPr>
            <a:r>
              <a:rPr lang="en-US">
                <a:sym typeface="Wingdings" pitchFamily="2" charset="2"/>
              </a:rPr>
              <a:t>Có thể sử dụng toán tử gộp </a:t>
            </a:r>
            <a:r>
              <a:rPr lang="en-US">
                <a:solidFill>
                  <a:srgbClr val="FF0000"/>
                </a:solidFill>
                <a:sym typeface="Wingdings" pitchFamily="2" charset="2"/>
              </a:rPr>
              <a:t>–=</a:t>
            </a:r>
            <a:r>
              <a:rPr lang="en-US">
                <a:sym typeface="Wingdings" pitchFamily="2" charset="2"/>
              </a:rPr>
              <a:t> hoặc </a:t>
            </a:r>
            <a:r>
              <a:rPr lang="en-US">
                <a:solidFill>
                  <a:srgbClr val="FF0000"/>
                </a:solidFill>
                <a:sym typeface="Wingdings" pitchFamily="2" charset="2"/>
              </a:rPr>
              <a:t>– –</a:t>
            </a:r>
            <a:r>
              <a:rPr lang="en-US">
                <a:sym typeface="Wingdings" pitchFamily="2" charset="2"/>
              </a:rPr>
              <a:t> </a:t>
            </a:r>
            <a:endParaRPr lang="en-US"/>
          </a:p>
        </p:txBody>
      </p:sp>
      <p:sp>
        <p:nvSpPr>
          <p:cNvPr id="36867" name="Title 1"/>
          <p:cNvSpPr>
            <a:spLocks noGrp="1"/>
          </p:cNvSpPr>
          <p:nvPr>
            <p:ph type="title"/>
          </p:nvPr>
        </p:nvSpPr>
        <p:spPr/>
        <p:txBody>
          <a:bodyPr/>
          <a:lstStyle/>
          <a:p>
            <a:pPr eaLnBrk="1" hangingPunct="1"/>
            <a:r>
              <a:rPr lang="en-US"/>
              <a:t>Phép toán số học trên con trỏ</a:t>
            </a:r>
          </a:p>
        </p:txBody>
      </p:sp>
      <p:cxnSp>
        <p:nvCxnSpPr>
          <p:cNvPr id="21" name="Straight Arrow Connector 20"/>
          <p:cNvCxnSpPr>
            <a:stCxn id="22" idx="2"/>
          </p:cNvCxnSpPr>
          <p:nvPr/>
        </p:nvCxnSpPr>
        <p:spPr>
          <a:xfrm rot="5400000">
            <a:off x="4876007" y="3992537"/>
            <a:ext cx="1220788"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AutoShape 6"/>
          <p:cNvSpPr>
            <a:spLocks noChangeArrowheads="1"/>
          </p:cNvSpPr>
          <p:nvPr/>
        </p:nvSpPr>
        <p:spPr bwMode="gray">
          <a:xfrm>
            <a:off x="5257800" y="2924944"/>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p = &amp;array[2]</a:t>
            </a:r>
          </a:p>
        </p:txBody>
      </p:sp>
      <p:cxnSp>
        <p:nvCxnSpPr>
          <p:cNvPr id="43" name="Straight Arrow Connector 42"/>
          <p:cNvCxnSpPr/>
          <p:nvPr/>
        </p:nvCxnSpPr>
        <p:spPr>
          <a:xfrm rot="5400000">
            <a:off x="1562894" y="4335437"/>
            <a:ext cx="5334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5" name="AutoShape 6"/>
          <p:cNvSpPr>
            <a:spLocks noChangeArrowheads="1"/>
          </p:cNvSpPr>
          <p:nvPr/>
        </p:nvSpPr>
        <p:spPr bwMode="gray">
          <a:xfrm>
            <a:off x="4419600" y="39171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sym typeface="Wingdings" pitchFamily="2" charset="2"/>
              </a:rPr>
              <a:t>–</a:t>
            </a:r>
            <a:r>
              <a:rPr lang="en-US" sz="2400"/>
              <a:t>1</a:t>
            </a:r>
          </a:p>
        </p:txBody>
      </p:sp>
      <p:cxnSp>
        <p:nvCxnSpPr>
          <p:cNvPr id="58" name="Straight Arrow Connector 57"/>
          <p:cNvCxnSpPr>
            <a:stCxn id="22" idx="2"/>
          </p:cNvCxnSpPr>
          <p:nvPr/>
        </p:nvCxnSpPr>
        <p:spPr>
          <a:xfrm rot="5400000">
            <a:off x="4152106" y="2887638"/>
            <a:ext cx="839787" cy="182880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AutoShape 6"/>
          <p:cNvSpPr>
            <a:spLocks noChangeArrowheads="1"/>
          </p:cNvSpPr>
          <p:nvPr/>
        </p:nvSpPr>
        <p:spPr bwMode="gray">
          <a:xfrm>
            <a:off x="3429000" y="32313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sym typeface="Wingdings" pitchFamily="2" charset="2"/>
              </a:rPr>
              <a:t>–</a:t>
            </a:r>
            <a:r>
              <a:rPr lang="en-US" sz="2400"/>
              <a:t>2</a:t>
            </a:r>
          </a:p>
        </p:txBody>
      </p:sp>
      <p:cxnSp>
        <p:nvCxnSpPr>
          <p:cNvPr id="53" name="Straight Arrow Connector 52"/>
          <p:cNvCxnSpPr>
            <a:stCxn id="22" idx="2"/>
          </p:cNvCxnSpPr>
          <p:nvPr/>
        </p:nvCxnSpPr>
        <p:spPr>
          <a:xfrm rot="5400000">
            <a:off x="3313906" y="1897038"/>
            <a:ext cx="687387" cy="365760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AutoShape 6"/>
          <p:cNvSpPr>
            <a:spLocks noChangeArrowheads="1"/>
          </p:cNvSpPr>
          <p:nvPr/>
        </p:nvSpPr>
        <p:spPr bwMode="gray">
          <a:xfrm>
            <a:off x="7543800" y="50601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49" name="AutoShape 6"/>
          <p:cNvSpPr>
            <a:spLocks noChangeArrowheads="1"/>
          </p:cNvSpPr>
          <p:nvPr/>
        </p:nvSpPr>
        <p:spPr bwMode="gray">
          <a:xfrm>
            <a:off x="685800" y="50601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50" name="AutoShape 6"/>
          <p:cNvSpPr>
            <a:spLocks noChangeArrowheads="1"/>
          </p:cNvSpPr>
          <p:nvPr/>
        </p:nvSpPr>
        <p:spPr bwMode="gray">
          <a:xfrm>
            <a:off x="1143000" y="5060131"/>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1" name="AutoShape 6"/>
          <p:cNvSpPr>
            <a:spLocks noChangeArrowheads="1"/>
          </p:cNvSpPr>
          <p:nvPr/>
        </p:nvSpPr>
        <p:spPr bwMode="gray">
          <a:xfrm>
            <a:off x="1600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2" name="AutoShape 6"/>
          <p:cNvSpPr>
            <a:spLocks noChangeArrowheads="1"/>
          </p:cNvSpPr>
          <p:nvPr/>
        </p:nvSpPr>
        <p:spPr bwMode="gray">
          <a:xfrm>
            <a:off x="2057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5" name="AutoShape 6"/>
          <p:cNvSpPr>
            <a:spLocks noChangeArrowheads="1"/>
          </p:cNvSpPr>
          <p:nvPr/>
        </p:nvSpPr>
        <p:spPr bwMode="gray">
          <a:xfrm>
            <a:off x="25146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6" name="AutoShape 6"/>
          <p:cNvSpPr>
            <a:spLocks noChangeArrowheads="1"/>
          </p:cNvSpPr>
          <p:nvPr/>
        </p:nvSpPr>
        <p:spPr bwMode="gray">
          <a:xfrm>
            <a:off x="29718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59" name="AutoShape 6"/>
          <p:cNvSpPr>
            <a:spLocks noChangeArrowheads="1"/>
          </p:cNvSpPr>
          <p:nvPr/>
        </p:nvSpPr>
        <p:spPr bwMode="gray">
          <a:xfrm>
            <a:off x="34290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0" name="AutoShape 6"/>
          <p:cNvSpPr>
            <a:spLocks noChangeArrowheads="1"/>
          </p:cNvSpPr>
          <p:nvPr/>
        </p:nvSpPr>
        <p:spPr bwMode="gray">
          <a:xfrm>
            <a:off x="3886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1" name="AutoShape 6"/>
          <p:cNvSpPr>
            <a:spLocks noChangeArrowheads="1"/>
          </p:cNvSpPr>
          <p:nvPr/>
        </p:nvSpPr>
        <p:spPr bwMode="gray">
          <a:xfrm>
            <a:off x="4343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2" name="AutoShape 6"/>
          <p:cNvSpPr>
            <a:spLocks noChangeArrowheads="1"/>
          </p:cNvSpPr>
          <p:nvPr/>
        </p:nvSpPr>
        <p:spPr bwMode="gray">
          <a:xfrm>
            <a:off x="48006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3" name="AutoShape 6"/>
          <p:cNvSpPr>
            <a:spLocks noChangeArrowheads="1"/>
          </p:cNvSpPr>
          <p:nvPr/>
        </p:nvSpPr>
        <p:spPr bwMode="gray">
          <a:xfrm>
            <a:off x="52578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4" name="AutoShape 6"/>
          <p:cNvSpPr>
            <a:spLocks noChangeArrowheads="1"/>
          </p:cNvSpPr>
          <p:nvPr/>
        </p:nvSpPr>
        <p:spPr bwMode="gray">
          <a:xfrm>
            <a:off x="57150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8" name="AutoShape 6"/>
          <p:cNvSpPr>
            <a:spLocks noChangeArrowheads="1"/>
          </p:cNvSpPr>
          <p:nvPr/>
        </p:nvSpPr>
        <p:spPr bwMode="gray">
          <a:xfrm>
            <a:off x="6172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69" name="AutoShape 6"/>
          <p:cNvSpPr>
            <a:spLocks noChangeArrowheads="1"/>
          </p:cNvSpPr>
          <p:nvPr/>
        </p:nvSpPr>
        <p:spPr bwMode="gray">
          <a:xfrm>
            <a:off x="6629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70" name="AutoShape 6"/>
          <p:cNvSpPr>
            <a:spLocks noChangeArrowheads="1"/>
          </p:cNvSpPr>
          <p:nvPr/>
        </p:nvSpPr>
        <p:spPr bwMode="gray">
          <a:xfrm>
            <a:off x="7086600" y="5060131"/>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71" name="AutoShape 6"/>
          <p:cNvSpPr>
            <a:spLocks noChangeArrowheads="1"/>
          </p:cNvSpPr>
          <p:nvPr/>
        </p:nvSpPr>
        <p:spPr bwMode="gray">
          <a:xfrm>
            <a:off x="1143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72" name="AutoShape 6"/>
          <p:cNvSpPr>
            <a:spLocks noChangeArrowheads="1"/>
          </p:cNvSpPr>
          <p:nvPr/>
        </p:nvSpPr>
        <p:spPr bwMode="gray">
          <a:xfrm>
            <a:off x="1600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73" name="AutoShape 6"/>
          <p:cNvSpPr>
            <a:spLocks noChangeArrowheads="1"/>
          </p:cNvSpPr>
          <p:nvPr/>
        </p:nvSpPr>
        <p:spPr bwMode="gray">
          <a:xfrm>
            <a:off x="2057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74" name="AutoShape 6"/>
          <p:cNvSpPr>
            <a:spLocks noChangeArrowheads="1"/>
          </p:cNvSpPr>
          <p:nvPr/>
        </p:nvSpPr>
        <p:spPr bwMode="gray">
          <a:xfrm>
            <a:off x="2514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75" name="AutoShape 6"/>
          <p:cNvSpPr>
            <a:spLocks noChangeArrowheads="1"/>
          </p:cNvSpPr>
          <p:nvPr/>
        </p:nvSpPr>
        <p:spPr bwMode="gray">
          <a:xfrm>
            <a:off x="29718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76" name="AutoShape 6"/>
          <p:cNvSpPr>
            <a:spLocks noChangeArrowheads="1"/>
          </p:cNvSpPr>
          <p:nvPr/>
        </p:nvSpPr>
        <p:spPr bwMode="gray">
          <a:xfrm>
            <a:off x="3429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77" name="AutoShape 6"/>
          <p:cNvSpPr>
            <a:spLocks noChangeArrowheads="1"/>
          </p:cNvSpPr>
          <p:nvPr/>
        </p:nvSpPr>
        <p:spPr bwMode="gray">
          <a:xfrm>
            <a:off x="3886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78" name="AutoShape 6"/>
          <p:cNvSpPr>
            <a:spLocks noChangeArrowheads="1"/>
          </p:cNvSpPr>
          <p:nvPr/>
        </p:nvSpPr>
        <p:spPr bwMode="gray">
          <a:xfrm>
            <a:off x="4343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79" name="AutoShape 6"/>
          <p:cNvSpPr>
            <a:spLocks noChangeArrowheads="1"/>
          </p:cNvSpPr>
          <p:nvPr/>
        </p:nvSpPr>
        <p:spPr bwMode="gray">
          <a:xfrm>
            <a:off x="4800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80" name="AutoShape 6"/>
          <p:cNvSpPr>
            <a:spLocks noChangeArrowheads="1"/>
          </p:cNvSpPr>
          <p:nvPr/>
        </p:nvSpPr>
        <p:spPr bwMode="gray">
          <a:xfrm>
            <a:off x="52578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81" name="AutoShape 6"/>
          <p:cNvSpPr>
            <a:spLocks noChangeArrowheads="1"/>
          </p:cNvSpPr>
          <p:nvPr/>
        </p:nvSpPr>
        <p:spPr bwMode="gray">
          <a:xfrm>
            <a:off x="5715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82" name="AutoShape 6"/>
          <p:cNvSpPr>
            <a:spLocks noChangeArrowheads="1"/>
          </p:cNvSpPr>
          <p:nvPr/>
        </p:nvSpPr>
        <p:spPr bwMode="gray">
          <a:xfrm>
            <a:off x="6172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83" name="AutoShape 6"/>
          <p:cNvSpPr>
            <a:spLocks noChangeArrowheads="1"/>
          </p:cNvSpPr>
          <p:nvPr/>
        </p:nvSpPr>
        <p:spPr bwMode="gray">
          <a:xfrm>
            <a:off x="6629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84" name="AutoShape 6"/>
          <p:cNvSpPr>
            <a:spLocks noChangeArrowheads="1"/>
          </p:cNvSpPr>
          <p:nvPr/>
        </p:nvSpPr>
        <p:spPr bwMode="gray">
          <a:xfrm>
            <a:off x="7086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cxnSp>
        <p:nvCxnSpPr>
          <p:cNvPr id="85" name="Straight Arrow Connector 84"/>
          <p:cNvCxnSpPr/>
          <p:nvPr/>
        </p:nvCxnSpPr>
        <p:spPr>
          <a:xfrm rot="5400000">
            <a:off x="3466307" y="4411637"/>
            <a:ext cx="381000" cy="158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6" name="AutoShape 6"/>
          <p:cNvSpPr>
            <a:spLocks noChangeArrowheads="1"/>
          </p:cNvSpPr>
          <p:nvPr/>
        </p:nvSpPr>
        <p:spPr bwMode="gray">
          <a:xfrm>
            <a:off x="1600200" y="58983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int </a:t>
            </a:r>
            <a:r>
              <a:rPr lang="en-US" sz="2400">
                <a:solidFill>
                  <a:srgbClr val="FF0000"/>
                </a:solidFill>
              </a:rPr>
              <a:t>array</a:t>
            </a:r>
            <a:r>
              <a:rPr lang="en-US" sz="2400"/>
              <a:t>[3];</a:t>
            </a:r>
          </a:p>
        </p:txBody>
      </p:sp>
      <p:cxnSp>
        <p:nvCxnSpPr>
          <p:cNvPr id="87" name="Straight Arrow Connector 86"/>
          <p:cNvCxnSpPr/>
          <p:nvPr/>
        </p:nvCxnSpPr>
        <p:spPr>
          <a:xfrm rot="5400000" flipH="1" flipV="1">
            <a:off x="1639887" y="5782444"/>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8" name="AutoShape 6"/>
          <p:cNvSpPr>
            <a:spLocks noChangeArrowheads="1"/>
          </p:cNvSpPr>
          <p:nvPr/>
        </p:nvSpPr>
        <p:spPr bwMode="gray">
          <a:xfrm>
            <a:off x="16002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89" name="AutoShape 6"/>
          <p:cNvSpPr>
            <a:spLocks noChangeArrowheads="1"/>
          </p:cNvSpPr>
          <p:nvPr/>
        </p:nvSpPr>
        <p:spPr bwMode="gray">
          <a:xfrm>
            <a:off x="34290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90" name="AutoShape 6"/>
          <p:cNvSpPr>
            <a:spLocks noChangeArrowheads="1"/>
          </p:cNvSpPr>
          <p:nvPr/>
        </p:nvSpPr>
        <p:spPr bwMode="gray">
          <a:xfrm>
            <a:off x="52578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5" name="Date Placeholder 4"/>
          <p:cNvSpPr>
            <a:spLocks noGrp="1"/>
          </p:cNvSpPr>
          <p:nvPr>
            <p:ph type="dt" sz="half" idx="10"/>
          </p:nvPr>
        </p:nvSpPr>
        <p:spPr/>
        <p:txBody>
          <a:bodyPr/>
          <a:lstStyle/>
          <a:p>
            <a:fld id="{0DCA984F-C63B-422F-9F9A-152AE8265021}"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18</a:t>
            </a:fld>
            <a:r>
              <a:rPr lang="vi-VN"/>
              <a:t>/50</a:t>
            </a:r>
          </a:p>
        </p:txBody>
      </p:sp>
    </p:spTree>
    <p:extLst>
      <p:ext uri="{BB962C8B-B14F-4D97-AF65-F5344CB8AC3E}">
        <p14:creationId xmlns:p14="http://schemas.microsoft.com/office/powerpoint/2010/main" val="280893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500"/>
                                        <p:tgtEl>
                                          <p:spTgt spid="5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500"/>
                                        <p:tgtEl>
                                          <p:spTgt spid="6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500"/>
                                        <p:tgtEl>
                                          <p:spTgt spid="6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500"/>
                                        <p:tgtEl>
                                          <p:spTgt spid="7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500"/>
                                        <p:tgtEl>
                                          <p:spTgt spid="7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500"/>
                                        <p:tgtEl>
                                          <p:spTgt spid="7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4"/>
                                        </p:tgtEl>
                                        <p:attrNameLst>
                                          <p:attrName>style.visibility</p:attrName>
                                        </p:attrNameLst>
                                      </p:cBhvr>
                                      <p:to>
                                        <p:strVal val="visible"/>
                                      </p:to>
                                    </p:set>
                                    <p:animEffect transition="in" filter="fade">
                                      <p:cBhvr>
                                        <p:cTn id="61" dur="500"/>
                                        <p:tgtEl>
                                          <p:spTgt spid="7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fade">
                                      <p:cBhvr>
                                        <p:cTn id="64" dur="500"/>
                                        <p:tgtEl>
                                          <p:spTgt spid="7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fade">
                                      <p:cBhvr>
                                        <p:cTn id="67" dur="500"/>
                                        <p:tgtEl>
                                          <p:spTgt spid="7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7"/>
                                        </p:tgtEl>
                                        <p:attrNameLst>
                                          <p:attrName>style.visibility</p:attrName>
                                        </p:attrNameLst>
                                      </p:cBhvr>
                                      <p:to>
                                        <p:strVal val="visible"/>
                                      </p:to>
                                    </p:set>
                                    <p:animEffect transition="in" filter="fade">
                                      <p:cBhvr>
                                        <p:cTn id="70" dur="500"/>
                                        <p:tgtEl>
                                          <p:spTgt spid="7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8"/>
                                        </p:tgtEl>
                                        <p:attrNameLst>
                                          <p:attrName>style.visibility</p:attrName>
                                        </p:attrNameLst>
                                      </p:cBhvr>
                                      <p:to>
                                        <p:strVal val="visible"/>
                                      </p:to>
                                    </p:set>
                                    <p:animEffect transition="in" filter="fade">
                                      <p:cBhvr>
                                        <p:cTn id="73" dur="500"/>
                                        <p:tgtEl>
                                          <p:spTgt spid="7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9"/>
                                        </p:tgtEl>
                                        <p:attrNameLst>
                                          <p:attrName>style.visibility</p:attrName>
                                        </p:attrNameLst>
                                      </p:cBhvr>
                                      <p:to>
                                        <p:strVal val="visible"/>
                                      </p:to>
                                    </p:set>
                                    <p:animEffect transition="in" filter="fade">
                                      <p:cBhvr>
                                        <p:cTn id="76" dur="500"/>
                                        <p:tgtEl>
                                          <p:spTgt spid="7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0"/>
                                        </p:tgtEl>
                                        <p:attrNameLst>
                                          <p:attrName>style.visibility</p:attrName>
                                        </p:attrNameLst>
                                      </p:cBhvr>
                                      <p:to>
                                        <p:strVal val="visible"/>
                                      </p:to>
                                    </p:set>
                                    <p:animEffect transition="in" filter="fade">
                                      <p:cBhvr>
                                        <p:cTn id="79" dur="500"/>
                                        <p:tgtEl>
                                          <p:spTgt spid="8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fade">
                                      <p:cBhvr>
                                        <p:cTn id="82" dur="500"/>
                                        <p:tgtEl>
                                          <p:spTgt spid="8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fade">
                                      <p:cBhvr>
                                        <p:cTn id="85" dur="500"/>
                                        <p:tgtEl>
                                          <p:spTgt spid="8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fade">
                                      <p:cBhvr>
                                        <p:cTn id="88" dur="500"/>
                                        <p:tgtEl>
                                          <p:spTgt spid="8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fade">
                                      <p:cBhvr>
                                        <p:cTn id="91" dur="500"/>
                                        <p:tgtEl>
                                          <p:spTgt spid="8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8"/>
                                        </p:tgtEl>
                                        <p:attrNameLst>
                                          <p:attrName>style.visibility</p:attrName>
                                        </p:attrNameLst>
                                      </p:cBhvr>
                                      <p:to>
                                        <p:strVal val="visible"/>
                                      </p:to>
                                    </p:set>
                                    <p:animEffect transition="in" filter="fade">
                                      <p:cBhvr>
                                        <p:cTn id="94" dur="500"/>
                                        <p:tgtEl>
                                          <p:spTgt spid="8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89"/>
                                        </p:tgtEl>
                                        <p:attrNameLst>
                                          <p:attrName>style.visibility</p:attrName>
                                        </p:attrNameLst>
                                      </p:cBhvr>
                                      <p:to>
                                        <p:strVal val="visible"/>
                                      </p:to>
                                    </p:set>
                                    <p:animEffect transition="in" filter="fade">
                                      <p:cBhvr>
                                        <p:cTn id="97" dur="500"/>
                                        <p:tgtEl>
                                          <p:spTgt spid="8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90"/>
                                        </p:tgtEl>
                                        <p:attrNameLst>
                                          <p:attrName>style.visibility</p:attrName>
                                        </p:attrNameLst>
                                      </p:cBhvr>
                                      <p:to>
                                        <p:strVal val="visible"/>
                                      </p:to>
                                    </p:set>
                                    <p:animEffect transition="in" filter="fade">
                                      <p:cBhvr>
                                        <p:cTn id="100" dur="500"/>
                                        <p:tgtEl>
                                          <p:spTgt spid="9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86"/>
                                        </p:tgtEl>
                                        <p:attrNameLst>
                                          <p:attrName>style.visibility</p:attrName>
                                        </p:attrNameLst>
                                      </p:cBhvr>
                                      <p:to>
                                        <p:strVal val="visible"/>
                                      </p:to>
                                    </p:set>
                                    <p:animEffect transition="in" filter="fade">
                                      <p:cBhvr>
                                        <p:cTn id="103" dur="500"/>
                                        <p:tgtEl>
                                          <p:spTgt spid="86"/>
                                        </p:tgtEl>
                                      </p:cBhvr>
                                    </p:animEffect>
                                  </p:childTnLst>
                                </p:cTn>
                              </p:par>
                              <p:par>
                                <p:cTn id="104" presetID="10" presetClass="entr" presetSubtype="0" fill="hold" nodeType="withEffect">
                                  <p:stCondLst>
                                    <p:cond delay="0"/>
                                  </p:stCondLst>
                                  <p:childTnLst>
                                    <p:set>
                                      <p:cBhvr>
                                        <p:cTn id="105" dur="1" fill="hold">
                                          <p:stCondLst>
                                            <p:cond delay="0"/>
                                          </p:stCondLst>
                                        </p:cTn>
                                        <p:tgtEl>
                                          <p:spTgt spid="87"/>
                                        </p:tgtEl>
                                        <p:attrNameLst>
                                          <p:attrName>style.visibility</p:attrName>
                                        </p:attrNameLst>
                                      </p:cBhvr>
                                      <p:to>
                                        <p:strVal val="visible"/>
                                      </p:to>
                                    </p:set>
                                    <p:animEffect transition="in" filter="fade">
                                      <p:cBhvr>
                                        <p:cTn id="106" dur="500"/>
                                        <p:tgtEl>
                                          <p:spTgt spid="8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5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childTnLst>
                                </p:cTn>
                              </p:par>
                            </p:childTnLst>
                          </p:cTn>
                        </p:par>
                        <p:par>
                          <p:cTn id="115" fill="hold">
                            <p:stCondLst>
                              <p:cond delay="500"/>
                            </p:stCondLst>
                            <p:childTnLst>
                              <p:par>
                                <p:cTn id="116" presetID="22" presetClass="entr" presetSubtype="1" fill="hold" nodeType="afterEffect">
                                  <p:stCondLst>
                                    <p:cond delay="0"/>
                                  </p:stCondLst>
                                  <p:childTnLst>
                                    <p:set>
                                      <p:cBhvr>
                                        <p:cTn id="117" dur="1" fill="hold">
                                          <p:stCondLst>
                                            <p:cond delay="0"/>
                                          </p:stCondLst>
                                        </p:cTn>
                                        <p:tgtEl>
                                          <p:spTgt spid="21"/>
                                        </p:tgtEl>
                                        <p:attrNameLst>
                                          <p:attrName>style.visibility</p:attrName>
                                        </p:attrNameLst>
                                      </p:cBhvr>
                                      <p:to>
                                        <p:strVal val="visible"/>
                                      </p:to>
                                    </p:set>
                                    <p:animEffect transition="in" filter="wipe(up)">
                                      <p:cBhvr>
                                        <p:cTn id="118" dur="500"/>
                                        <p:tgtEl>
                                          <p:spTgt spid="2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65"/>
                                        </p:tgtEl>
                                        <p:attrNameLst>
                                          <p:attrName>style.visibility</p:attrName>
                                        </p:attrNameLst>
                                      </p:cBhvr>
                                      <p:to>
                                        <p:strVal val="visible"/>
                                      </p:to>
                                    </p:set>
                                    <p:animEffect transition="in" filter="fade">
                                      <p:cBhvr>
                                        <p:cTn id="123" dur="500"/>
                                        <p:tgtEl>
                                          <p:spTgt spid="65"/>
                                        </p:tgtEl>
                                      </p:cBhvr>
                                    </p:animEffect>
                                  </p:childTnLst>
                                </p:cTn>
                              </p:par>
                            </p:childTnLst>
                          </p:cTn>
                        </p:par>
                        <p:par>
                          <p:cTn id="124" fill="hold">
                            <p:stCondLst>
                              <p:cond delay="500"/>
                            </p:stCondLst>
                            <p:childTnLst>
                              <p:par>
                                <p:cTn id="125" presetID="22" presetClass="entr" presetSubtype="2" fill="hold" nodeType="afterEffect">
                                  <p:stCondLst>
                                    <p:cond delay="0"/>
                                  </p:stCondLst>
                                  <p:childTnLst>
                                    <p:set>
                                      <p:cBhvr>
                                        <p:cTn id="126" dur="1" fill="hold">
                                          <p:stCondLst>
                                            <p:cond delay="0"/>
                                          </p:stCondLst>
                                        </p:cTn>
                                        <p:tgtEl>
                                          <p:spTgt spid="58"/>
                                        </p:tgtEl>
                                        <p:attrNameLst>
                                          <p:attrName>style.visibility</p:attrName>
                                        </p:attrNameLst>
                                      </p:cBhvr>
                                      <p:to>
                                        <p:strVal val="visible"/>
                                      </p:to>
                                    </p:set>
                                    <p:animEffect transition="in" filter="wipe(right)">
                                      <p:cBhvr>
                                        <p:cTn id="127" dur="500"/>
                                        <p:tgtEl>
                                          <p:spTgt spid="58"/>
                                        </p:tgtEl>
                                      </p:cBhvr>
                                    </p:animEffect>
                                  </p:childTnLst>
                                </p:cTn>
                              </p:par>
                            </p:childTnLst>
                          </p:cTn>
                        </p:par>
                        <p:par>
                          <p:cTn id="128" fill="hold">
                            <p:stCondLst>
                              <p:cond delay="1000"/>
                            </p:stCondLst>
                            <p:childTnLst>
                              <p:par>
                                <p:cTn id="129" presetID="22" presetClass="entr" presetSubtype="1" fill="hold" nodeType="afterEffect">
                                  <p:stCondLst>
                                    <p:cond delay="0"/>
                                  </p:stCondLst>
                                  <p:childTnLst>
                                    <p:set>
                                      <p:cBhvr>
                                        <p:cTn id="130" dur="1" fill="hold">
                                          <p:stCondLst>
                                            <p:cond delay="0"/>
                                          </p:stCondLst>
                                        </p:cTn>
                                        <p:tgtEl>
                                          <p:spTgt spid="85"/>
                                        </p:tgtEl>
                                        <p:attrNameLst>
                                          <p:attrName>style.visibility</p:attrName>
                                        </p:attrNameLst>
                                      </p:cBhvr>
                                      <p:to>
                                        <p:strVal val="visible"/>
                                      </p:to>
                                    </p:set>
                                    <p:animEffect transition="in" filter="wipe(up)">
                                      <p:cBhvr>
                                        <p:cTn id="131" dur="500"/>
                                        <p:tgtEl>
                                          <p:spTgt spid="85"/>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54"/>
                                        </p:tgtEl>
                                        <p:attrNameLst>
                                          <p:attrName>style.visibility</p:attrName>
                                        </p:attrNameLst>
                                      </p:cBhvr>
                                      <p:to>
                                        <p:strVal val="visible"/>
                                      </p:to>
                                    </p:set>
                                    <p:animEffect transition="in" filter="fade">
                                      <p:cBhvr>
                                        <p:cTn id="136" dur="500"/>
                                        <p:tgtEl>
                                          <p:spTgt spid="54"/>
                                        </p:tgtEl>
                                      </p:cBhvr>
                                    </p:animEffect>
                                  </p:childTnLst>
                                </p:cTn>
                              </p:par>
                            </p:childTnLst>
                          </p:cTn>
                        </p:par>
                        <p:par>
                          <p:cTn id="137" fill="hold">
                            <p:stCondLst>
                              <p:cond delay="500"/>
                            </p:stCondLst>
                            <p:childTnLst>
                              <p:par>
                                <p:cTn id="138" presetID="22" presetClass="entr" presetSubtype="2" fill="hold" nodeType="after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wipe(right)">
                                      <p:cBhvr>
                                        <p:cTn id="140" dur="500"/>
                                        <p:tgtEl>
                                          <p:spTgt spid="53"/>
                                        </p:tgtEl>
                                      </p:cBhvr>
                                    </p:animEffect>
                                  </p:childTnLst>
                                </p:cTn>
                              </p:par>
                            </p:childTnLst>
                          </p:cTn>
                        </p:par>
                        <p:par>
                          <p:cTn id="141" fill="hold">
                            <p:stCondLst>
                              <p:cond delay="1000"/>
                            </p:stCondLst>
                            <p:childTnLst>
                              <p:par>
                                <p:cTn id="142" presetID="22" presetClass="entr" presetSubtype="1" fill="hold" nodeType="afterEffect">
                                  <p:stCondLst>
                                    <p:cond delay="0"/>
                                  </p:stCondLst>
                                  <p:childTnLst>
                                    <p:set>
                                      <p:cBhvr>
                                        <p:cTn id="143" dur="1" fill="hold">
                                          <p:stCondLst>
                                            <p:cond delay="0"/>
                                          </p:stCondLst>
                                        </p:cTn>
                                        <p:tgtEl>
                                          <p:spTgt spid="43"/>
                                        </p:tgtEl>
                                        <p:attrNameLst>
                                          <p:attrName>style.visibility</p:attrName>
                                        </p:attrNameLst>
                                      </p:cBhvr>
                                      <p:to>
                                        <p:strVal val="visible"/>
                                      </p:to>
                                    </p:set>
                                    <p:animEffect transition="in" filter="wipe(up)">
                                      <p:cBhvr>
                                        <p:cTn id="14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5" grpId="0" animBg="1"/>
      <p:bldP spid="54" grpId="0" animBg="1"/>
      <p:bldP spid="48" grpId="0" animBg="1"/>
      <p:bldP spid="49" grpId="0" animBg="1"/>
      <p:bldP spid="50" grpId="0" animBg="1"/>
      <p:bldP spid="51" grpId="0" animBg="1"/>
      <p:bldP spid="52" grpId="0" animBg="1"/>
      <p:bldP spid="55" grpId="0" animBg="1"/>
      <p:bldP spid="56" grpId="0" animBg="1"/>
      <p:bldP spid="59" grpId="0" animBg="1"/>
      <p:bldP spid="60" grpId="0" animBg="1"/>
      <p:bldP spid="61" grpId="0" animBg="1"/>
      <p:bldP spid="62" grpId="0" animBg="1"/>
      <p:bldP spid="63" grpId="0" animBg="1"/>
      <p:bldP spid="64" grpId="0" animBg="1"/>
      <p:bldP spid="68" grpId="0" animBg="1"/>
      <p:bldP spid="69" grpId="0" animBg="1"/>
      <p:bldP spid="70" grpId="0" animBg="1"/>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6" grpId="0" animBg="1"/>
      <p:bldP spid="88" grpId="0" animBg="1"/>
      <p:bldP spid="89" grpId="0" animBg="1"/>
      <p:bldP spid="9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6"/>
          <p:cNvSpPr>
            <a:spLocks noChangeArrowheads="1"/>
          </p:cNvSpPr>
          <p:nvPr/>
        </p:nvSpPr>
        <p:spPr bwMode="gray">
          <a:xfrm>
            <a:off x="5257800" y="2924944"/>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p2 = &amp;array[2]</a:t>
            </a:r>
          </a:p>
        </p:txBody>
      </p:sp>
      <p:sp>
        <p:nvSpPr>
          <p:cNvPr id="49" name="AutoShape 6"/>
          <p:cNvSpPr>
            <a:spLocks noChangeArrowheads="1"/>
          </p:cNvSpPr>
          <p:nvPr/>
        </p:nvSpPr>
        <p:spPr bwMode="gray">
          <a:xfrm>
            <a:off x="1600200" y="29265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p1 = array</a:t>
            </a:r>
          </a:p>
        </p:txBody>
      </p:sp>
      <p:sp>
        <p:nvSpPr>
          <p:cNvPr id="3" name="Content Placeholder 2"/>
          <p:cNvSpPr>
            <a:spLocks noGrp="1"/>
          </p:cNvSpPr>
          <p:nvPr>
            <p:ph idx="1"/>
          </p:nvPr>
        </p:nvSpPr>
        <p:spPr/>
        <p:txBody>
          <a:bodyPr/>
          <a:lstStyle/>
          <a:p>
            <a:pPr algn="just" eaLnBrk="1" hangingPunct="1">
              <a:defRPr/>
            </a:pPr>
            <a:r>
              <a:rPr lang="en-US"/>
              <a:t>Phép toán tính khoảng cách giữa 2 con trỏ</a:t>
            </a:r>
          </a:p>
          <a:p>
            <a:pPr lvl="1" algn="just" eaLnBrk="1" hangingPunct="1">
              <a:defRPr/>
            </a:pPr>
            <a:r>
              <a:rPr lang="en-US">
                <a:solidFill>
                  <a:srgbClr val="FF0000"/>
                </a:solidFill>
                <a:sym typeface="Wingdings" pitchFamily="2" charset="2"/>
              </a:rPr>
              <a:t>&lt;kiểu dữ liệu&gt;</a:t>
            </a:r>
            <a:r>
              <a:rPr lang="en-US">
                <a:sym typeface="Wingdings" pitchFamily="2" charset="2"/>
              </a:rPr>
              <a:t> *p1, *p2;</a:t>
            </a:r>
          </a:p>
          <a:p>
            <a:pPr lvl="1" algn="just" eaLnBrk="1" hangingPunct="1">
              <a:defRPr/>
            </a:pPr>
            <a:r>
              <a:rPr lang="en-US">
                <a:sym typeface="Wingdings" pitchFamily="2" charset="2"/>
              </a:rPr>
              <a:t>p1 – p2 cho ta khoảng cách (theo số phần tử) giữa hai con trỏ (cùng kiểu)</a:t>
            </a:r>
            <a:endParaRPr lang="en-US"/>
          </a:p>
        </p:txBody>
      </p:sp>
      <p:sp>
        <p:nvSpPr>
          <p:cNvPr id="37893" name="Title 1"/>
          <p:cNvSpPr>
            <a:spLocks noGrp="1"/>
          </p:cNvSpPr>
          <p:nvPr>
            <p:ph type="title"/>
          </p:nvPr>
        </p:nvSpPr>
        <p:spPr/>
        <p:txBody>
          <a:bodyPr/>
          <a:lstStyle/>
          <a:p>
            <a:pPr eaLnBrk="1" hangingPunct="1"/>
            <a:r>
              <a:rPr lang="en-US"/>
              <a:t>Phép toán số học trên con trỏ</a:t>
            </a:r>
          </a:p>
        </p:txBody>
      </p:sp>
      <p:sp>
        <p:nvSpPr>
          <p:cNvPr id="5" name="AutoShape 6"/>
          <p:cNvSpPr>
            <a:spLocks noChangeArrowheads="1"/>
          </p:cNvSpPr>
          <p:nvPr/>
        </p:nvSpPr>
        <p:spPr bwMode="gray">
          <a:xfrm>
            <a:off x="7543800" y="50601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6" name="AutoShape 6"/>
          <p:cNvSpPr>
            <a:spLocks noChangeArrowheads="1"/>
          </p:cNvSpPr>
          <p:nvPr/>
        </p:nvSpPr>
        <p:spPr bwMode="gray">
          <a:xfrm>
            <a:off x="685800" y="50601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7" name="AutoShape 6"/>
          <p:cNvSpPr>
            <a:spLocks noChangeArrowheads="1"/>
          </p:cNvSpPr>
          <p:nvPr/>
        </p:nvSpPr>
        <p:spPr bwMode="gray">
          <a:xfrm>
            <a:off x="1143000" y="5060131"/>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 name="AutoShape 6"/>
          <p:cNvSpPr>
            <a:spLocks noChangeArrowheads="1"/>
          </p:cNvSpPr>
          <p:nvPr/>
        </p:nvSpPr>
        <p:spPr bwMode="gray">
          <a:xfrm>
            <a:off x="1600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9" name="AutoShape 6"/>
          <p:cNvSpPr>
            <a:spLocks noChangeArrowheads="1"/>
          </p:cNvSpPr>
          <p:nvPr/>
        </p:nvSpPr>
        <p:spPr bwMode="gray">
          <a:xfrm>
            <a:off x="2057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0" name="AutoShape 6"/>
          <p:cNvSpPr>
            <a:spLocks noChangeArrowheads="1"/>
          </p:cNvSpPr>
          <p:nvPr/>
        </p:nvSpPr>
        <p:spPr bwMode="gray">
          <a:xfrm>
            <a:off x="25146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1" name="AutoShape 6"/>
          <p:cNvSpPr>
            <a:spLocks noChangeArrowheads="1"/>
          </p:cNvSpPr>
          <p:nvPr/>
        </p:nvSpPr>
        <p:spPr bwMode="gray">
          <a:xfrm>
            <a:off x="29718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2" name="AutoShape 6"/>
          <p:cNvSpPr>
            <a:spLocks noChangeArrowheads="1"/>
          </p:cNvSpPr>
          <p:nvPr/>
        </p:nvSpPr>
        <p:spPr bwMode="gray">
          <a:xfrm>
            <a:off x="34290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3" name="AutoShape 6"/>
          <p:cNvSpPr>
            <a:spLocks noChangeArrowheads="1"/>
          </p:cNvSpPr>
          <p:nvPr/>
        </p:nvSpPr>
        <p:spPr bwMode="gray">
          <a:xfrm>
            <a:off x="3886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4" name="AutoShape 6"/>
          <p:cNvSpPr>
            <a:spLocks noChangeArrowheads="1"/>
          </p:cNvSpPr>
          <p:nvPr/>
        </p:nvSpPr>
        <p:spPr bwMode="gray">
          <a:xfrm>
            <a:off x="4343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5" name="AutoShape 6"/>
          <p:cNvSpPr>
            <a:spLocks noChangeArrowheads="1"/>
          </p:cNvSpPr>
          <p:nvPr/>
        </p:nvSpPr>
        <p:spPr bwMode="gray">
          <a:xfrm>
            <a:off x="48006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6" name="AutoShape 6"/>
          <p:cNvSpPr>
            <a:spLocks noChangeArrowheads="1"/>
          </p:cNvSpPr>
          <p:nvPr/>
        </p:nvSpPr>
        <p:spPr bwMode="gray">
          <a:xfrm>
            <a:off x="52578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7" name="AutoShape 6"/>
          <p:cNvSpPr>
            <a:spLocks noChangeArrowheads="1"/>
          </p:cNvSpPr>
          <p:nvPr/>
        </p:nvSpPr>
        <p:spPr bwMode="gray">
          <a:xfrm>
            <a:off x="57150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8" name="AutoShape 6"/>
          <p:cNvSpPr>
            <a:spLocks noChangeArrowheads="1"/>
          </p:cNvSpPr>
          <p:nvPr/>
        </p:nvSpPr>
        <p:spPr bwMode="gray">
          <a:xfrm>
            <a:off x="61722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9" name="AutoShape 6"/>
          <p:cNvSpPr>
            <a:spLocks noChangeArrowheads="1"/>
          </p:cNvSpPr>
          <p:nvPr/>
        </p:nvSpPr>
        <p:spPr bwMode="gray">
          <a:xfrm>
            <a:off x="6629400" y="5060131"/>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0" name="AutoShape 6"/>
          <p:cNvSpPr>
            <a:spLocks noChangeArrowheads="1"/>
          </p:cNvSpPr>
          <p:nvPr/>
        </p:nvSpPr>
        <p:spPr bwMode="gray">
          <a:xfrm>
            <a:off x="7086600" y="5060131"/>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21" name="Straight Arrow Connector 20"/>
          <p:cNvCxnSpPr>
            <a:stCxn id="22" idx="2"/>
            <a:endCxn id="32" idx="0"/>
          </p:cNvCxnSpPr>
          <p:nvPr/>
        </p:nvCxnSpPr>
        <p:spPr>
          <a:xfrm rot="5400000">
            <a:off x="4876007" y="3992537"/>
            <a:ext cx="1220788"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AutoShape 6"/>
          <p:cNvSpPr>
            <a:spLocks noChangeArrowheads="1"/>
          </p:cNvSpPr>
          <p:nvPr/>
        </p:nvSpPr>
        <p:spPr bwMode="gray">
          <a:xfrm>
            <a:off x="1143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24" name="AutoShape 6"/>
          <p:cNvSpPr>
            <a:spLocks noChangeArrowheads="1"/>
          </p:cNvSpPr>
          <p:nvPr/>
        </p:nvSpPr>
        <p:spPr bwMode="gray">
          <a:xfrm>
            <a:off x="1600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25" name="AutoShape 6"/>
          <p:cNvSpPr>
            <a:spLocks noChangeArrowheads="1"/>
          </p:cNvSpPr>
          <p:nvPr/>
        </p:nvSpPr>
        <p:spPr bwMode="gray">
          <a:xfrm>
            <a:off x="2057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26" name="AutoShape 6"/>
          <p:cNvSpPr>
            <a:spLocks noChangeArrowheads="1"/>
          </p:cNvSpPr>
          <p:nvPr/>
        </p:nvSpPr>
        <p:spPr bwMode="gray">
          <a:xfrm>
            <a:off x="2514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27" name="AutoShape 6"/>
          <p:cNvSpPr>
            <a:spLocks noChangeArrowheads="1"/>
          </p:cNvSpPr>
          <p:nvPr/>
        </p:nvSpPr>
        <p:spPr bwMode="gray">
          <a:xfrm>
            <a:off x="29718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28" name="AutoShape 6"/>
          <p:cNvSpPr>
            <a:spLocks noChangeArrowheads="1"/>
          </p:cNvSpPr>
          <p:nvPr/>
        </p:nvSpPr>
        <p:spPr bwMode="gray">
          <a:xfrm>
            <a:off x="3429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29" name="AutoShape 6"/>
          <p:cNvSpPr>
            <a:spLocks noChangeArrowheads="1"/>
          </p:cNvSpPr>
          <p:nvPr/>
        </p:nvSpPr>
        <p:spPr bwMode="gray">
          <a:xfrm>
            <a:off x="3886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30" name="AutoShape 6"/>
          <p:cNvSpPr>
            <a:spLocks noChangeArrowheads="1"/>
          </p:cNvSpPr>
          <p:nvPr/>
        </p:nvSpPr>
        <p:spPr bwMode="gray">
          <a:xfrm>
            <a:off x="4343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31" name="AutoShape 6"/>
          <p:cNvSpPr>
            <a:spLocks noChangeArrowheads="1"/>
          </p:cNvSpPr>
          <p:nvPr/>
        </p:nvSpPr>
        <p:spPr bwMode="gray">
          <a:xfrm>
            <a:off x="4800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32" name="AutoShape 6"/>
          <p:cNvSpPr>
            <a:spLocks noChangeArrowheads="1"/>
          </p:cNvSpPr>
          <p:nvPr/>
        </p:nvSpPr>
        <p:spPr bwMode="gray">
          <a:xfrm>
            <a:off x="52578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33" name="AutoShape 6"/>
          <p:cNvSpPr>
            <a:spLocks noChangeArrowheads="1"/>
          </p:cNvSpPr>
          <p:nvPr/>
        </p:nvSpPr>
        <p:spPr bwMode="gray">
          <a:xfrm>
            <a:off x="57150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34" name="AutoShape 6"/>
          <p:cNvSpPr>
            <a:spLocks noChangeArrowheads="1"/>
          </p:cNvSpPr>
          <p:nvPr/>
        </p:nvSpPr>
        <p:spPr bwMode="gray">
          <a:xfrm>
            <a:off x="61722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35" name="AutoShape 6"/>
          <p:cNvSpPr>
            <a:spLocks noChangeArrowheads="1"/>
          </p:cNvSpPr>
          <p:nvPr/>
        </p:nvSpPr>
        <p:spPr bwMode="gray">
          <a:xfrm>
            <a:off x="66294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36" name="AutoShape 6"/>
          <p:cNvSpPr>
            <a:spLocks noChangeArrowheads="1"/>
          </p:cNvSpPr>
          <p:nvPr/>
        </p:nvSpPr>
        <p:spPr bwMode="gray">
          <a:xfrm>
            <a:off x="7086600" y="4602931"/>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sp>
        <p:nvSpPr>
          <p:cNvPr id="66" name="AutoShape 6"/>
          <p:cNvSpPr>
            <a:spLocks noChangeArrowheads="1"/>
          </p:cNvSpPr>
          <p:nvPr/>
        </p:nvSpPr>
        <p:spPr bwMode="gray">
          <a:xfrm>
            <a:off x="1600200" y="58983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int </a:t>
            </a:r>
            <a:r>
              <a:rPr lang="en-US" sz="2400">
                <a:solidFill>
                  <a:srgbClr val="FF0000"/>
                </a:solidFill>
              </a:rPr>
              <a:t>array</a:t>
            </a:r>
            <a:r>
              <a:rPr lang="en-US" sz="2400"/>
              <a:t>[3];</a:t>
            </a:r>
          </a:p>
        </p:txBody>
      </p:sp>
      <p:cxnSp>
        <p:nvCxnSpPr>
          <p:cNvPr id="67" name="Straight Arrow Connector 66"/>
          <p:cNvCxnSpPr/>
          <p:nvPr/>
        </p:nvCxnSpPr>
        <p:spPr>
          <a:xfrm rot="5400000" flipH="1" flipV="1">
            <a:off x="1639887" y="5782444"/>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9" idx="2"/>
          </p:cNvCxnSpPr>
          <p:nvPr/>
        </p:nvCxnSpPr>
        <p:spPr>
          <a:xfrm rot="5400000">
            <a:off x="1219201" y="3993331"/>
            <a:ext cx="12192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10800000">
            <a:off x="1828800" y="3993331"/>
            <a:ext cx="3657600" cy="1588"/>
          </a:xfrm>
          <a:prstGeom prst="straightConnector1">
            <a:avLst/>
          </a:prstGeom>
          <a:ln>
            <a:prstDash val="sysDash"/>
            <a:headEnd type="arrow" w="med" len="med"/>
            <a:tailEnd type="arrow" w="med" len="med"/>
          </a:ln>
        </p:spPr>
        <p:style>
          <a:lnRef idx="2">
            <a:schemeClr val="accent2"/>
          </a:lnRef>
          <a:fillRef idx="0">
            <a:schemeClr val="accent2"/>
          </a:fillRef>
          <a:effectRef idx="1">
            <a:schemeClr val="accent2"/>
          </a:effectRef>
          <a:fontRef idx="minor">
            <a:schemeClr val="tx1"/>
          </a:fontRef>
        </p:style>
      </p:cxnSp>
      <p:sp>
        <p:nvSpPr>
          <p:cNvPr id="56" name="AutoShape 6"/>
          <p:cNvSpPr>
            <a:spLocks noChangeArrowheads="1"/>
          </p:cNvSpPr>
          <p:nvPr/>
        </p:nvSpPr>
        <p:spPr bwMode="gray">
          <a:xfrm>
            <a:off x="3429000" y="34599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1300" b="1">
                <a:solidFill>
                  <a:srgbClr val="FF0000"/>
                </a:solidFill>
              </a:rPr>
              <a:t>p1 – p2= (0B – 13)/sizeof(int) = –2</a:t>
            </a:r>
          </a:p>
        </p:txBody>
      </p:sp>
      <p:sp>
        <p:nvSpPr>
          <p:cNvPr id="60" name="AutoShape 6"/>
          <p:cNvSpPr>
            <a:spLocks noChangeArrowheads="1"/>
          </p:cNvSpPr>
          <p:nvPr/>
        </p:nvSpPr>
        <p:spPr bwMode="gray">
          <a:xfrm>
            <a:off x="3429000" y="4069531"/>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1300" b="1">
                <a:solidFill>
                  <a:srgbClr val="FF0000"/>
                </a:solidFill>
              </a:rPr>
              <a:t>p2 – p1= (13 – 0B)/sizeof(int) = +2</a:t>
            </a:r>
          </a:p>
        </p:txBody>
      </p:sp>
      <p:sp>
        <p:nvSpPr>
          <p:cNvPr id="37" name="AutoShape 6"/>
          <p:cNvSpPr>
            <a:spLocks noChangeArrowheads="1"/>
          </p:cNvSpPr>
          <p:nvPr/>
        </p:nvSpPr>
        <p:spPr bwMode="gray">
          <a:xfrm>
            <a:off x="16002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8" name="AutoShape 6"/>
          <p:cNvSpPr>
            <a:spLocks noChangeArrowheads="1"/>
          </p:cNvSpPr>
          <p:nvPr/>
        </p:nvSpPr>
        <p:spPr bwMode="gray">
          <a:xfrm>
            <a:off x="34290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5257800" y="4983931"/>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40" name="Date Placeholder 39"/>
          <p:cNvSpPr>
            <a:spLocks noGrp="1"/>
          </p:cNvSpPr>
          <p:nvPr>
            <p:ph type="dt" sz="half" idx="10"/>
          </p:nvPr>
        </p:nvSpPr>
        <p:spPr/>
        <p:txBody>
          <a:bodyPr/>
          <a:lstStyle/>
          <a:p>
            <a:fld id="{022CBC10-DBA6-458A-B607-9101D183D307}" type="datetime1">
              <a:rPr lang="vi-VN" smtClean="0"/>
              <a:t>14/01/2024</a:t>
            </a:fld>
            <a:endParaRPr lang="vi-VN"/>
          </a:p>
        </p:txBody>
      </p:sp>
      <p:sp>
        <p:nvSpPr>
          <p:cNvPr id="41" name="Footer Placeholder 40"/>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19</a:t>
            </a:fld>
            <a:r>
              <a:rPr lang="vi-VN"/>
              <a:t>/50</a:t>
            </a:r>
          </a:p>
        </p:txBody>
      </p:sp>
    </p:spTree>
    <p:extLst>
      <p:ext uri="{BB962C8B-B14F-4D97-AF65-F5344CB8AC3E}">
        <p14:creationId xmlns:p14="http://schemas.microsoft.com/office/powerpoint/2010/main" val="364184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500"/>
                                        <p:tgtEl>
                                          <p:spTgt spid="66"/>
                                        </p:tgtEl>
                                      </p:cBhvr>
                                    </p:animEffect>
                                  </p:childTnLst>
                                </p:cTn>
                              </p:par>
                              <p:par>
                                <p:cTn id="104" presetID="10" presetClass="entr" presetSubtype="0" fill="hold"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fade">
                                      <p:cBhvr>
                                        <p:cTn id="106" dur="500"/>
                                        <p:tgtEl>
                                          <p:spTgt spid="6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
                                        </p:tgtEl>
                                        <p:attrNameLst>
                                          <p:attrName>style.visibility</p:attrName>
                                        </p:attrNameLst>
                                      </p:cBhvr>
                                      <p:to>
                                        <p:strVal val="visible"/>
                                      </p:to>
                                    </p:set>
                                    <p:animEffect transition="in" filter="fade">
                                      <p:cBhvr>
                                        <p:cTn id="109" dur="500"/>
                                        <p:tgtEl>
                                          <p:spTgt spid="5"/>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fade">
                                      <p:cBhvr>
                                        <p:cTn id="114" dur="500"/>
                                        <p:tgtEl>
                                          <p:spTgt spid="49"/>
                                        </p:tgtEl>
                                      </p:cBhvr>
                                    </p:animEffect>
                                  </p:childTnLst>
                                </p:cTn>
                              </p:par>
                            </p:childTnLst>
                          </p:cTn>
                        </p:par>
                        <p:par>
                          <p:cTn id="115" fill="hold">
                            <p:stCondLst>
                              <p:cond delay="500"/>
                            </p:stCondLst>
                            <p:childTnLst>
                              <p:par>
                                <p:cTn id="116" presetID="22" presetClass="entr" presetSubtype="1" fill="hold" nodeType="after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wipe(up)">
                                      <p:cBhvr>
                                        <p:cTn id="118" dur="500"/>
                                        <p:tgtEl>
                                          <p:spTgt spid="48"/>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500"/>
                                        <p:tgtEl>
                                          <p:spTgt spid="22"/>
                                        </p:tgtEl>
                                      </p:cBhvr>
                                    </p:animEffect>
                                  </p:childTnLst>
                                </p:cTn>
                              </p:par>
                            </p:childTnLst>
                          </p:cTn>
                        </p:par>
                        <p:par>
                          <p:cTn id="124" fill="hold">
                            <p:stCondLst>
                              <p:cond delay="500"/>
                            </p:stCondLst>
                            <p:childTnLst>
                              <p:par>
                                <p:cTn id="125" presetID="22" presetClass="entr" presetSubtype="1" fill="hold" nodeType="afterEffect">
                                  <p:stCondLst>
                                    <p:cond delay="0"/>
                                  </p:stCondLst>
                                  <p:childTnLst>
                                    <p:set>
                                      <p:cBhvr>
                                        <p:cTn id="126" dur="1" fill="hold">
                                          <p:stCondLst>
                                            <p:cond delay="0"/>
                                          </p:stCondLst>
                                        </p:cTn>
                                        <p:tgtEl>
                                          <p:spTgt spid="21"/>
                                        </p:tgtEl>
                                        <p:attrNameLst>
                                          <p:attrName>style.visibility</p:attrName>
                                        </p:attrNameLst>
                                      </p:cBhvr>
                                      <p:to>
                                        <p:strVal val="visible"/>
                                      </p:to>
                                    </p:set>
                                    <p:animEffect transition="in" filter="wipe(up)">
                                      <p:cBhvr>
                                        <p:cTn id="127" dur="500"/>
                                        <p:tgtEl>
                                          <p:spTgt spid="21"/>
                                        </p:tgtEl>
                                      </p:cBhvr>
                                    </p:animEffect>
                                  </p:childTnLst>
                                </p:cTn>
                              </p:par>
                            </p:childTnLst>
                          </p:cTn>
                        </p:par>
                      </p:childTnLst>
                    </p:cTn>
                  </p:par>
                  <p:par>
                    <p:cTn id="128" fill="hold">
                      <p:stCondLst>
                        <p:cond delay="indefinite"/>
                      </p:stCondLst>
                      <p:childTnLst>
                        <p:par>
                          <p:cTn id="129" fill="hold">
                            <p:stCondLst>
                              <p:cond delay="0"/>
                            </p:stCondLst>
                            <p:childTnLst>
                              <p:par>
                                <p:cTn id="130" presetID="55" presetClass="entr" presetSubtype="0" fill="hold" nodeType="clickEffect">
                                  <p:stCondLst>
                                    <p:cond delay="0"/>
                                  </p:stCondLst>
                                  <p:childTnLst>
                                    <p:set>
                                      <p:cBhvr>
                                        <p:cTn id="131" dur="1" fill="hold">
                                          <p:stCondLst>
                                            <p:cond delay="0"/>
                                          </p:stCondLst>
                                        </p:cTn>
                                        <p:tgtEl>
                                          <p:spTgt spid="50"/>
                                        </p:tgtEl>
                                        <p:attrNameLst>
                                          <p:attrName>style.visibility</p:attrName>
                                        </p:attrNameLst>
                                      </p:cBhvr>
                                      <p:to>
                                        <p:strVal val="visible"/>
                                      </p:to>
                                    </p:set>
                                    <p:anim calcmode="lin" valueType="num">
                                      <p:cBhvr>
                                        <p:cTn id="132" dur="500" fill="hold"/>
                                        <p:tgtEl>
                                          <p:spTgt spid="50"/>
                                        </p:tgtEl>
                                        <p:attrNameLst>
                                          <p:attrName>ppt_w</p:attrName>
                                        </p:attrNameLst>
                                      </p:cBhvr>
                                      <p:tavLst>
                                        <p:tav tm="0">
                                          <p:val>
                                            <p:strVal val="#ppt_w*0.70"/>
                                          </p:val>
                                        </p:tav>
                                        <p:tav tm="100000">
                                          <p:val>
                                            <p:strVal val="#ppt_w"/>
                                          </p:val>
                                        </p:tav>
                                      </p:tavLst>
                                    </p:anim>
                                    <p:anim calcmode="lin" valueType="num">
                                      <p:cBhvr>
                                        <p:cTn id="133" dur="500" fill="hold"/>
                                        <p:tgtEl>
                                          <p:spTgt spid="50"/>
                                        </p:tgtEl>
                                        <p:attrNameLst>
                                          <p:attrName>ppt_h</p:attrName>
                                        </p:attrNameLst>
                                      </p:cBhvr>
                                      <p:tavLst>
                                        <p:tav tm="0">
                                          <p:val>
                                            <p:strVal val="#ppt_h"/>
                                          </p:val>
                                        </p:tav>
                                        <p:tav tm="100000">
                                          <p:val>
                                            <p:strVal val="#ppt_h"/>
                                          </p:val>
                                        </p:tav>
                                      </p:tavLst>
                                    </p:anim>
                                    <p:animEffect transition="in" filter="fade">
                                      <p:cBhvr>
                                        <p:cTn id="134" dur="500"/>
                                        <p:tgtEl>
                                          <p:spTgt spid="50"/>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56"/>
                                        </p:tgtEl>
                                        <p:attrNameLst>
                                          <p:attrName>style.visibility</p:attrName>
                                        </p:attrNameLst>
                                      </p:cBhvr>
                                      <p:to>
                                        <p:strVal val="visible"/>
                                      </p:to>
                                    </p:set>
                                    <p:animEffect transition="in" filter="fade">
                                      <p:cBhvr>
                                        <p:cTn id="139" dur="500"/>
                                        <p:tgtEl>
                                          <p:spTgt spid="56"/>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60"/>
                                        </p:tgtEl>
                                        <p:attrNameLst>
                                          <p:attrName>style.visibility</p:attrName>
                                        </p:attrNameLst>
                                      </p:cBhvr>
                                      <p:to>
                                        <p:strVal val="visible"/>
                                      </p:to>
                                    </p:set>
                                    <p:animEffect transition="in" filter="fade">
                                      <p:cBhvr>
                                        <p:cTn id="14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9"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66" grpId="0" animBg="1"/>
      <p:bldP spid="56" grpId="0" animBg="1"/>
      <p:bldP spid="60" grpId="0" animBg="1"/>
      <p:bldP spid="37" grpId="0" animBg="1"/>
      <p:bldP spid="38" grpId="0" animBg="1"/>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Các phép toán khác</a:t>
            </a:r>
          </a:p>
          <a:p>
            <a:pPr lvl="1" eaLnBrk="1" hangingPunct="1">
              <a:defRPr/>
            </a:pPr>
            <a:r>
              <a:rPr lang="en-US">
                <a:sym typeface="Wingdings" pitchFamily="2" charset="2"/>
              </a:rPr>
              <a:t>Phép so sánh: So sánh </a:t>
            </a:r>
            <a:r>
              <a:rPr lang="vi-VN">
                <a:sym typeface="Wingdings" pitchFamily="2" charset="2"/>
              </a:rPr>
              <a:t>đị</a:t>
            </a:r>
            <a:r>
              <a:rPr lang="en-US">
                <a:sym typeface="Wingdings" pitchFamily="2" charset="2"/>
              </a:rPr>
              <a:t>a chỉ giữa hai con trỏ (thứ tự ô nhớ)</a:t>
            </a:r>
          </a:p>
          <a:p>
            <a:pPr lvl="2" eaLnBrk="1" hangingPunct="1">
              <a:defRPr/>
            </a:pPr>
            <a:r>
              <a:rPr lang="en-US">
                <a:sym typeface="Wingdings" pitchFamily="2" charset="2"/>
              </a:rPr>
              <a:t>==	!=</a:t>
            </a:r>
          </a:p>
          <a:p>
            <a:pPr lvl="2" eaLnBrk="1" hangingPunct="1">
              <a:defRPr/>
            </a:pPr>
            <a:r>
              <a:rPr lang="en-US">
                <a:sym typeface="Wingdings" pitchFamily="2" charset="2"/>
              </a:rPr>
              <a:t>&gt;	&gt;=</a:t>
            </a:r>
          </a:p>
          <a:p>
            <a:pPr lvl="2" eaLnBrk="1" hangingPunct="1">
              <a:defRPr/>
            </a:pPr>
            <a:r>
              <a:rPr lang="en-US">
                <a:sym typeface="Wingdings" pitchFamily="2" charset="2"/>
              </a:rPr>
              <a:t>&lt;	&lt;=</a:t>
            </a:r>
          </a:p>
          <a:p>
            <a:pPr lvl="1" eaLnBrk="1" hangingPunct="1">
              <a:defRPr/>
            </a:pPr>
            <a:r>
              <a:rPr lang="en-US">
                <a:sym typeface="Wingdings" pitchFamily="2" charset="2"/>
              </a:rPr>
              <a:t>Không thể thực hiện các phép toán: </a:t>
            </a:r>
            <a:r>
              <a:rPr lang="en-US">
                <a:solidFill>
                  <a:srgbClr val="FF0000"/>
                </a:solidFill>
                <a:sym typeface="Wingdings" pitchFamily="2" charset="2"/>
              </a:rPr>
              <a:t>* / %</a:t>
            </a:r>
            <a:endParaRPr lang="en-US">
              <a:solidFill>
                <a:srgbClr val="FF0000"/>
              </a:solidFill>
            </a:endParaRPr>
          </a:p>
        </p:txBody>
      </p:sp>
      <p:sp>
        <p:nvSpPr>
          <p:cNvPr id="38915" name="Title 1"/>
          <p:cNvSpPr>
            <a:spLocks noGrp="1"/>
          </p:cNvSpPr>
          <p:nvPr>
            <p:ph type="title"/>
          </p:nvPr>
        </p:nvSpPr>
        <p:spPr/>
        <p:txBody>
          <a:bodyPr/>
          <a:lstStyle/>
          <a:p>
            <a:pPr eaLnBrk="1" hangingPunct="1"/>
            <a:r>
              <a:rPr lang="en-US"/>
              <a:t>Phép toán số học trên con trỏ</a:t>
            </a:r>
          </a:p>
        </p:txBody>
      </p:sp>
      <p:sp>
        <p:nvSpPr>
          <p:cNvPr id="5" name="Date Placeholder 4"/>
          <p:cNvSpPr>
            <a:spLocks noGrp="1"/>
          </p:cNvSpPr>
          <p:nvPr>
            <p:ph type="dt" sz="half" idx="10"/>
          </p:nvPr>
        </p:nvSpPr>
        <p:spPr/>
        <p:txBody>
          <a:bodyPr/>
          <a:lstStyle/>
          <a:p>
            <a:fld id="{CFDB4FB2-B92D-4BC8-A52F-C46CEE3EDC28}"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20</a:t>
            </a:fld>
            <a:r>
              <a:rPr lang="vi-VN"/>
              <a:t>/50</a:t>
            </a:r>
          </a:p>
        </p:txBody>
      </p:sp>
    </p:spTree>
    <p:extLst>
      <p:ext uri="{BB962C8B-B14F-4D97-AF65-F5344CB8AC3E}">
        <p14:creationId xmlns:p14="http://schemas.microsoft.com/office/powerpoint/2010/main" val="2324176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Truy xuất </a:t>
            </a:r>
            <a:r>
              <a:rPr lang="vi-VN"/>
              <a:t>đế</a:t>
            </a:r>
            <a:r>
              <a:rPr lang="en-US"/>
              <a:t>n phần tử thứ n của mảng (không sử dụng biến mảng)</a:t>
            </a:r>
          </a:p>
          <a:p>
            <a:pPr lvl="1" eaLnBrk="1" hangingPunct="1">
              <a:defRPr/>
            </a:pPr>
            <a:r>
              <a:rPr lang="en-US"/>
              <a:t>array[n] == p[n] == *(p + n)</a:t>
            </a:r>
          </a:p>
        </p:txBody>
      </p:sp>
      <p:sp>
        <p:nvSpPr>
          <p:cNvPr id="39939" name="Title 1"/>
          <p:cNvSpPr>
            <a:spLocks noGrp="1"/>
          </p:cNvSpPr>
          <p:nvPr>
            <p:ph type="title"/>
          </p:nvPr>
        </p:nvSpPr>
        <p:spPr/>
        <p:txBody>
          <a:bodyPr/>
          <a:lstStyle/>
          <a:p>
            <a:pPr eaLnBrk="1" hangingPunct="1"/>
            <a:r>
              <a:rPr lang="en-US"/>
              <a:t>Con trỏ và mảng một chiều</a:t>
            </a:r>
          </a:p>
        </p:txBody>
      </p:sp>
      <p:sp>
        <p:nvSpPr>
          <p:cNvPr id="6" name="AutoShape 6"/>
          <p:cNvSpPr>
            <a:spLocks noChangeArrowheads="1"/>
          </p:cNvSpPr>
          <p:nvPr/>
        </p:nvSpPr>
        <p:spPr bwMode="gray">
          <a:xfrm>
            <a:off x="7543800" y="49145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7" name="AutoShape 6"/>
          <p:cNvSpPr>
            <a:spLocks noChangeArrowheads="1"/>
          </p:cNvSpPr>
          <p:nvPr/>
        </p:nvSpPr>
        <p:spPr bwMode="gray">
          <a:xfrm>
            <a:off x="685800" y="49145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8" name="AutoShape 6"/>
          <p:cNvSpPr>
            <a:spLocks noChangeArrowheads="1"/>
          </p:cNvSpPr>
          <p:nvPr/>
        </p:nvSpPr>
        <p:spPr bwMode="gray">
          <a:xfrm>
            <a:off x="1143000" y="4914528"/>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9" name="AutoShape 6"/>
          <p:cNvSpPr>
            <a:spLocks noChangeArrowheads="1"/>
          </p:cNvSpPr>
          <p:nvPr/>
        </p:nvSpPr>
        <p:spPr bwMode="gray">
          <a:xfrm>
            <a:off x="1600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0" name="AutoShape 6"/>
          <p:cNvSpPr>
            <a:spLocks noChangeArrowheads="1"/>
          </p:cNvSpPr>
          <p:nvPr/>
        </p:nvSpPr>
        <p:spPr bwMode="gray">
          <a:xfrm>
            <a:off x="2057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1" name="AutoShape 6"/>
          <p:cNvSpPr>
            <a:spLocks noChangeArrowheads="1"/>
          </p:cNvSpPr>
          <p:nvPr/>
        </p:nvSpPr>
        <p:spPr bwMode="gray">
          <a:xfrm>
            <a:off x="25146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2" name="AutoShape 6"/>
          <p:cNvSpPr>
            <a:spLocks noChangeArrowheads="1"/>
          </p:cNvSpPr>
          <p:nvPr/>
        </p:nvSpPr>
        <p:spPr bwMode="gray">
          <a:xfrm>
            <a:off x="29718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3" name="AutoShape 6"/>
          <p:cNvSpPr>
            <a:spLocks noChangeArrowheads="1"/>
          </p:cNvSpPr>
          <p:nvPr/>
        </p:nvSpPr>
        <p:spPr bwMode="gray">
          <a:xfrm>
            <a:off x="34290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4" name="AutoShape 6"/>
          <p:cNvSpPr>
            <a:spLocks noChangeArrowheads="1"/>
          </p:cNvSpPr>
          <p:nvPr/>
        </p:nvSpPr>
        <p:spPr bwMode="gray">
          <a:xfrm>
            <a:off x="3886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5" name="AutoShape 6"/>
          <p:cNvSpPr>
            <a:spLocks noChangeArrowheads="1"/>
          </p:cNvSpPr>
          <p:nvPr/>
        </p:nvSpPr>
        <p:spPr bwMode="gray">
          <a:xfrm>
            <a:off x="4343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6" name="AutoShape 6"/>
          <p:cNvSpPr>
            <a:spLocks noChangeArrowheads="1"/>
          </p:cNvSpPr>
          <p:nvPr/>
        </p:nvSpPr>
        <p:spPr bwMode="gray">
          <a:xfrm>
            <a:off x="48006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7" name="AutoShape 6"/>
          <p:cNvSpPr>
            <a:spLocks noChangeArrowheads="1"/>
          </p:cNvSpPr>
          <p:nvPr/>
        </p:nvSpPr>
        <p:spPr bwMode="gray">
          <a:xfrm>
            <a:off x="52578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8" name="AutoShape 6"/>
          <p:cNvSpPr>
            <a:spLocks noChangeArrowheads="1"/>
          </p:cNvSpPr>
          <p:nvPr/>
        </p:nvSpPr>
        <p:spPr bwMode="gray">
          <a:xfrm>
            <a:off x="57150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19" name="AutoShape 6"/>
          <p:cNvSpPr>
            <a:spLocks noChangeArrowheads="1"/>
          </p:cNvSpPr>
          <p:nvPr/>
        </p:nvSpPr>
        <p:spPr bwMode="gray">
          <a:xfrm>
            <a:off x="61722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0" name="AutoShape 6"/>
          <p:cNvSpPr>
            <a:spLocks noChangeArrowheads="1"/>
          </p:cNvSpPr>
          <p:nvPr/>
        </p:nvSpPr>
        <p:spPr bwMode="gray">
          <a:xfrm>
            <a:off x="6629400" y="4914528"/>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en-US" sz="2400"/>
          </a:p>
        </p:txBody>
      </p:sp>
      <p:sp>
        <p:nvSpPr>
          <p:cNvPr id="21" name="AutoShape 6"/>
          <p:cNvSpPr>
            <a:spLocks noChangeArrowheads="1"/>
          </p:cNvSpPr>
          <p:nvPr/>
        </p:nvSpPr>
        <p:spPr bwMode="gray">
          <a:xfrm>
            <a:off x="7086600" y="4914528"/>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22" name="Straight Arrow Connector 21"/>
          <p:cNvCxnSpPr>
            <a:stCxn id="23" idx="2"/>
            <a:endCxn id="25" idx="0"/>
          </p:cNvCxnSpPr>
          <p:nvPr/>
        </p:nvCxnSpPr>
        <p:spPr>
          <a:xfrm rot="5400000">
            <a:off x="1219201" y="3847728"/>
            <a:ext cx="12192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AutoShape 6"/>
          <p:cNvSpPr>
            <a:spLocks noChangeArrowheads="1"/>
          </p:cNvSpPr>
          <p:nvPr/>
        </p:nvSpPr>
        <p:spPr bwMode="gray">
          <a:xfrm>
            <a:off x="16002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p</a:t>
            </a:r>
          </a:p>
        </p:txBody>
      </p:sp>
      <p:sp>
        <p:nvSpPr>
          <p:cNvPr id="24" name="AutoShape 6"/>
          <p:cNvSpPr>
            <a:spLocks noChangeArrowheads="1"/>
          </p:cNvSpPr>
          <p:nvPr/>
        </p:nvSpPr>
        <p:spPr bwMode="gray">
          <a:xfrm>
            <a:off x="1143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25" name="AutoShape 6"/>
          <p:cNvSpPr>
            <a:spLocks noChangeArrowheads="1"/>
          </p:cNvSpPr>
          <p:nvPr/>
        </p:nvSpPr>
        <p:spPr bwMode="gray">
          <a:xfrm>
            <a:off x="1600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26" name="AutoShape 6"/>
          <p:cNvSpPr>
            <a:spLocks noChangeArrowheads="1"/>
          </p:cNvSpPr>
          <p:nvPr/>
        </p:nvSpPr>
        <p:spPr bwMode="gray">
          <a:xfrm>
            <a:off x="2057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27" name="AutoShape 6"/>
          <p:cNvSpPr>
            <a:spLocks noChangeArrowheads="1"/>
          </p:cNvSpPr>
          <p:nvPr/>
        </p:nvSpPr>
        <p:spPr bwMode="gray">
          <a:xfrm>
            <a:off x="2514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28" name="AutoShape 6"/>
          <p:cNvSpPr>
            <a:spLocks noChangeArrowheads="1"/>
          </p:cNvSpPr>
          <p:nvPr/>
        </p:nvSpPr>
        <p:spPr bwMode="gray">
          <a:xfrm>
            <a:off x="29718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29" name="AutoShape 6"/>
          <p:cNvSpPr>
            <a:spLocks noChangeArrowheads="1"/>
          </p:cNvSpPr>
          <p:nvPr/>
        </p:nvSpPr>
        <p:spPr bwMode="gray">
          <a:xfrm>
            <a:off x="3429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30" name="AutoShape 6"/>
          <p:cNvSpPr>
            <a:spLocks noChangeArrowheads="1"/>
          </p:cNvSpPr>
          <p:nvPr/>
        </p:nvSpPr>
        <p:spPr bwMode="gray">
          <a:xfrm>
            <a:off x="3886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31" name="AutoShape 6"/>
          <p:cNvSpPr>
            <a:spLocks noChangeArrowheads="1"/>
          </p:cNvSpPr>
          <p:nvPr/>
        </p:nvSpPr>
        <p:spPr bwMode="gray">
          <a:xfrm>
            <a:off x="4343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32" name="AutoShape 6"/>
          <p:cNvSpPr>
            <a:spLocks noChangeArrowheads="1"/>
          </p:cNvSpPr>
          <p:nvPr/>
        </p:nvSpPr>
        <p:spPr bwMode="gray">
          <a:xfrm>
            <a:off x="4800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33" name="AutoShape 6"/>
          <p:cNvSpPr>
            <a:spLocks noChangeArrowheads="1"/>
          </p:cNvSpPr>
          <p:nvPr/>
        </p:nvSpPr>
        <p:spPr bwMode="gray">
          <a:xfrm>
            <a:off x="52578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34" name="AutoShape 6"/>
          <p:cNvSpPr>
            <a:spLocks noChangeArrowheads="1"/>
          </p:cNvSpPr>
          <p:nvPr/>
        </p:nvSpPr>
        <p:spPr bwMode="gray">
          <a:xfrm>
            <a:off x="57150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35" name="AutoShape 6"/>
          <p:cNvSpPr>
            <a:spLocks noChangeArrowheads="1"/>
          </p:cNvSpPr>
          <p:nvPr/>
        </p:nvSpPr>
        <p:spPr bwMode="gray">
          <a:xfrm>
            <a:off x="61722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36" name="AutoShape 6"/>
          <p:cNvSpPr>
            <a:spLocks noChangeArrowheads="1"/>
          </p:cNvSpPr>
          <p:nvPr/>
        </p:nvSpPr>
        <p:spPr bwMode="gray">
          <a:xfrm>
            <a:off x="66294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37" name="AutoShape 6"/>
          <p:cNvSpPr>
            <a:spLocks noChangeArrowheads="1"/>
          </p:cNvSpPr>
          <p:nvPr/>
        </p:nvSpPr>
        <p:spPr bwMode="gray">
          <a:xfrm>
            <a:off x="7086600" y="4457328"/>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cxnSp>
        <p:nvCxnSpPr>
          <p:cNvPr id="41" name="Straight Arrow Connector 40"/>
          <p:cNvCxnSpPr>
            <a:endCxn id="33" idx="0"/>
          </p:cNvCxnSpPr>
          <p:nvPr/>
        </p:nvCxnSpPr>
        <p:spPr>
          <a:xfrm rot="5400000">
            <a:off x="5219701" y="4190628"/>
            <a:ext cx="5334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3" idx="2"/>
          </p:cNvCxnSpPr>
          <p:nvPr/>
        </p:nvCxnSpPr>
        <p:spPr>
          <a:xfrm rot="16200000" flipH="1">
            <a:off x="3314700" y="1752228"/>
            <a:ext cx="685800" cy="365760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AutoShape 6"/>
          <p:cNvSpPr>
            <a:spLocks noChangeArrowheads="1"/>
          </p:cNvSpPr>
          <p:nvPr/>
        </p:nvSpPr>
        <p:spPr bwMode="gray">
          <a:xfrm>
            <a:off x="1600200" y="57527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int </a:t>
            </a:r>
            <a:r>
              <a:rPr lang="en-US" sz="2400">
                <a:solidFill>
                  <a:srgbClr val="FF0000"/>
                </a:solidFill>
              </a:rPr>
              <a:t>array</a:t>
            </a:r>
            <a:r>
              <a:rPr lang="en-US" sz="2400"/>
              <a:t>[3];</a:t>
            </a:r>
          </a:p>
        </p:txBody>
      </p:sp>
      <p:cxnSp>
        <p:nvCxnSpPr>
          <p:cNvPr id="47" name="Straight Arrow Connector 46"/>
          <p:cNvCxnSpPr/>
          <p:nvPr/>
        </p:nvCxnSpPr>
        <p:spPr>
          <a:xfrm rot="5400000" flipH="1" flipV="1">
            <a:off x="1639887" y="5636841"/>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9" name="AutoShape 6"/>
          <p:cNvSpPr>
            <a:spLocks noChangeArrowheads="1"/>
          </p:cNvSpPr>
          <p:nvPr/>
        </p:nvSpPr>
        <p:spPr bwMode="gray">
          <a:xfrm>
            <a:off x="20574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a:t>
            </a:r>
          </a:p>
        </p:txBody>
      </p:sp>
      <p:sp>
        <p:nvSpPr>
          <p:cNvPr id="50" name="AutoShape 6"/>
          <p:cNvSpPr>
            <a:spLocks noChangeArrowheads="1"/>
          </p:cNvSpPr>
          <p:nvPr/>
        </p:nvSpPr>
        <p:spPr bwMode="gray">
          <a:xfrm>
            <a:off x="25146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2</a:t>
            </a:r>
          </a:p>
        </p:txBody>
      </p:sp>
      <p:sp>
        <p:nvSpPr>
          <p:cNvPr id="51" name="AutoShape 6"/>
          <p:cNvSpPr>
            <a:spLocks noChangeArrowheads="1"/>
          </p:cNvSpPr>
          <p:nvPr/>
        </p:nvSpPr>
        <p:spPr bwMode="gray">
          <a:xfrm>
            <a:off x="29718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b="1">
                <a:solidFill>
                  <a:srgbClr val="FF0000"/>
                </a:solidFill>
              </a:rPr>
              <a:t>)</a:t>
            </a:r>
          </a:p>
        </p:txBody>
      </p:sp>
      <p:sp>
        <p:nvSpPr>
          <p:cNvPr id="52" name="AutoShape 6"/>
          <p:cNvSpPr>
            <a:spLocks noChangeArrowheads="1"/>
          </p:cNvSpPr>
          <p:nvPr/>
        </p:nvSpPr>
        <p:spPr bwMode="gray">
          <a:xfrm>
            <a:off x="11430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b="1">
                <a:solidFill>
                  <a:srgbClr val="FF0000"/>
                </a:solidFill>
              </a:rPr>
              <a:t>(</a:t>
            </a:r>
          </a:p>
        </p:txBody>
      </p:sp>
      <p:sp>
        <p:nvSpPr>
          <p:cNvPr id="53" name="AutoShape 6"/>
          <p:cNvSpPr>
            <a:spLocks noChangeArrowheads="1"/>
          </p:cNvSpPr>
          <p:nvPr/>
        </p:nvSpPr>
        <p:spPr bwMode="gray">
          <a:xfrm>
            <a:off x="685800" y="278092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b="1">
                <a:solidFill>
                  <a:srgbClr val="FF0000"/>
                </a:solidFill>
              </a:rPr>
              <a:t>*</a:t>
            </a:r>
          </a:p>
        </p:txBody>
      </p:sp>
      <p:sp>
        <p:nvSpPr>
          <p:cNvPr id="38" name="AutoShape 6"/>
          <p:cNvSpPr>
            <a:spLocks noChangeArrowheads="1"/>
          </p:cNvSpPr>
          <p:nvPr/>
        </p:nvSpPr>
        <p:spPr bwMode="gray">
          <a:xfrm>
            <a:off x="16002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34290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40" name="AutoShape 6"/>
          <p:cNvSpPr>
            <a:spLocks noChangeArrowheads="1"/>
          </p:cNvSpPr>
          <p:nvPr/>
        </p:nvSpPr>
        <p:spPr bwMode="gray">
          <a:xfrm>
            <a:off x="5257800" y="4838328"/>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54" name="AutoShape 6"/>
          <p:cNvSpPr>
            <a:spLocks noChangeArrowheads="1"/>
          </p:cNvSpPr>
          <p:nvPr/>
        </p:nvSpPr>
        <p:spPr bwMode="gray">
          <a:xfrm>
            <a:off x="5257800" y="4914528"/>
            <a:ext cx="457200" cy="457200"/>
          </a:xfrm>
          <a:prstGeom prst="roundRect">
            <a:avLst>
              <a:gd name="adj" fmla="val 1666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defRPr/>
            </a:pPr>
            <a:endParaRPr lang="en-US" sz="2400"/>
          </a:p>
        </p:txBody>
      </p:sp>
      <p:sp>
        <p:nvSpPr>
          <p:cNvPr id="55" name="AutoShape 6"/>
          <p:cNvSpPr>
            <a:spLocks noChangeArrowheads="1"/>
          </p:cNvSpPr>
          <p:nvPr/>
        </p:nvSpPr>
        <p:spPr bwMode="gray">
          <a:xfrm>
            <a:off x="5715000" y="4914528"/>
            <a:ext cx="457200" cy="457200"/>
          </a:xfrm>
          <a:prstGeom prst="roundRect">
            <a:avLst>
              <a:gd name="adj" fmla="val 1666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defRPr/>
            </a:pPr>
            <a:endParaRPr lang="en-US" sz="2400"/>
          </a:p>
        </p:txBody>
      </p:sp>
      <p:sp>
        <p:nvSpPr>
          <p:cNvPr id="56" name="AutoShape 6"/>
          <p:cNvSpPr>
            <a:spLocks noChangeArrowheads="1"/>
          </p:cNvSpPr>
          <p:nvPr/>
        </p:nvSpPr>
        <p:spPr bwMode="gray">
          <a:xfrm>
            <a:off x="6172200" y="4914528"/>
            <a:ext cx="457200" cy="457200"/>
          </a:xfrm>
          <a:prstGeom prst="roundRect">
            <a:avLst>
              <a:gd name="adj" fmla="val 1666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defRPr/>
            </a:pPr>
            <a:endParaRPr lang="en-US" sz="2400"/>
          </a:p>
        </p:txBody>
      </p:sp>
      <p:sp>
        <p:nvSpPr>
          <p:cNvPr id="57" name="AutoShape 6"/>
          <p:cNvSpPr>
            <a:spLocks noChangeArrowheads="1"/>
          </p:cNvSpPr>
          <p:nvPr/>
        </p:nvSpPr>
        <p:spPr bwMode="gray">
          <a:xfrm>
            <a:off x="6629400" y="4914528"/>
            <a:ext cx="457200" cy="457200"/>
          </a:xfrm>
          <a:prstGeom prst="roundRect">
            <a:avLst>
              <a:gd name="adj" fmla="val 1666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defRPr/>
            </a:pPr>
            <a:endParaRPr lang="en-US" sz="2400"/>
          </a:p>
        </p:txBody>
      </p:sp>
      <p:sp>
        <p:nvSpPr>
          <p:cNvPr id="5" name="Date Placeholder 4"/>
          <p:cNvSpPr>
            <a:spLocks noGrp="1"/>
          </p:cNvSpPr>
          <p:nvPr>
            <p:ph type="dt" sz="half" idx="10"/>
          </p:nvPr>
        </p:nvSpPr>
        <p:spPr/>
        <p:txBody>
          <a:bodyPr/>
          <a:lstStyle/>
          <a:p>
            <a:fld id="{0C417BF1-9A4B-4964-8151-C266E64F15CF}" type="datetime1">
              <a:rPr lang="vi-VN" smtClean="0"/>
              <a:t>14/01/2024</a:t>
            </a:fld>
            <a:endParaRPr lang="vi-VN"/>
          </a:p>
        </p:txBody>
      </p:sp>
      <p:sp>
        <p:nvSpPr>
          <p:cNvPr id="43" name="Footer Placeholder 42"/>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21</a:t>
            </a:fld>
            <a:r>
              <a:rPr lang="vi-VN"/>
              <a:t>/50</a:t>
            </a:r>
          </a:p>
        </p:txBody>
      </p:sp>
    </p:spTree>
    <p:extLst>
      <p:ext uri="{BB962C8B-B14F-4D97-AF65-F5344CB8AC3E}">
        <p14:creationId xmlns:p14="http://schemas.microsoft.com/office/powerpoint/2010/main" val="218760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500"/>
                                        <p:tgtEl>
                                          <p:spTgt spid="3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500"/>
                                        <p:tgtEl>
                                          <p:spTgt spid="3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500"/>
                                        <p:tgtEl>
                                          <p:spTgt spid="3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500"/>
                                        <p:tgtEl>
                                          <p:spTgt spid="46"/>
                                        </p:tgtEl>
                                      </p:cBhvr>
                                    </p:animEffect>
                                  </p:childTnLst>
                                </p:cTn>
                              </p:par>
                              <p:par>
                                <p:cTn id="95" presetID="10" presetClass="entr" presetSubtype="0" fill="hold"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5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500"/>
                                        <p:tgtEl>
                                          <p:spTgt spid="3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500"/>
                                        <p:tgtEl>
                                          <p:spTgt spid="3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500"/>
                                        <p:tgtEl>
                                          <p:spTgt spid="4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500"/>
                                        <p:tgtEl>
                                          <p:spTgt spid="6"/>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500"/>
                                        <p:tgtEl>
                                          <p:spTgt spid="23"/>
                                        </p:tgtEl>
                                      </p:cBhvr>
                                    </p:animEffect>
                                  </p:childTnLst>
                                </p:cTn>
                              </p:par>
                            </p:childTnLst>
                          </p:cTn>
                        </p:par>
                        <p:par>
                          <p:cTn id="115" fill="hold">
                            <p:stCondLst>
                              <p:cond delay="500"/>
                            </p:stCondLst>
                            <p:childTnLst>
                              <p:par>
                                <p:cTn id="116" presetID="22" presetClass="entr" presetSubtype="1" fill="hold" nodeType="afterEffect">
                                  <p:stCondLst>
                                    <p:cond delay="0"/>
                                  </p:stCondLst>
                                  <p:childTnLst>
                                    <p:set>
                                      <p:cBhvr>
                                        <p:cTn id="117" dur="1" fill="hold">
                                          <p:stCondLst>
                                            <p:cond delay="0"/>
                                          </p:stCondLst>
                                        </p:cTn>
                                        <p:tgtEl>
                                          <p:spTgt spid="22"/>
                                        </p:tgtEl>
                                        <p:attrNameLst>
                                          <p:attrName>style.visibility</p:attrName>
                                        </p:attrNameLst>
                                      </p:cBhvr>
                                      <p:to>
                                        <p:strVal val="visible"/>
                                      </p:to>
                                    </p:set>
                                    <p:animEffect transition="in" filter="wipe(up)">
                                      <p:cBhvr>
                                        <p:cTn id="118" dur="500"/>
                                        <p:tgtEl>
                                          <p:spTgt spid="22"/>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49"/>
                                        </p:tgtEl>
                                        <p:attrNameLst>
                                          <p:attrName>style.visibility</p:attrName>
                                        </p:attrNameLst>
                                      </p:cBhvr>
                                      <p:to>
                                        <p:strVal val="visible"/>
                                      </p:to>
                                    </p:set>
                                    <p:animEffect transition="in" filter="fade">
                                      <p:cBhvr>
                                        <p:cTn id="123" dur="500"/>
                                        <p:tgtEl>
                                          <p:spTgt spid="4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0"/>
                                        </p:tgtEl>
                                        <p:attrNameLst>
                                          <p:attrName>style.visibility</p:attrName>
                                        </p:attrNameLst>
                                      </p:cBhvr>
                                      <p:to>
                                        <p:strVal val="visible"/>
                                      </p:to>
                                    </p:set>
                                    <p:animEffect transition="in" filter="fade">
                                      <p:cBhvr>
                                        <p:cTn id="126" dur="500"/>
                                        <p:tgtEl>
                                          <p:spTgt spid="50"/>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wipe(left)">
                                      <p:cBhvr>
                                        <p:cTn id="130" dur="500"/>
                                        <p:tgtEl>
                                          <p:spTgt spid="42"/>
                                        </p:tgtEl>
                                      </p:cBhvr>
                                    </p:animEffect>
                                  </p:childTnLst>
                                </p:cTn>
                              </p:par>
                            </p:childTnLst>
                          </p:cTn>
                        </p:par>
                        <p:par>
                          <p:cTn id="131" fill="hold">
                            <p:stCondLst>
                              <p:cond delay="1000"/>
                            </p:stCondLst>
                            <p:childTnLst>
                              <p:par>
                                <p:cTn id="132" presetID="22" presetClass="entr" presetSubtype="1" fill="hold" nodeType="afterEffect">
                                  <p:stCondLst>
                                    <p:cond delay="0"/>
                                  </p:stCondLst>
                                  <p:childTnLst>
                                    <p:set>
                                      <p:cBhvr>
                                        <p:cTn id="133" dur="1" fill="hold">
                                          <p:stCondLst>
                                            <p:cond delay="0"/>
                                          </p:stCondLst>
                                        </p:cTn>
                                        <p:tgtEl>
                                          <p:spTgt spid="41"/>
                                        </p:tgtEl>
                                        <p:attrNameLst>
                                          <p:attrName>style.visibility</p:attrName>
                                        </p:attrNameLst>
                                      </p:cBhvr>
                                      <p:to>
                                        <p:strVal val="visible"/>
                                      </p:to>
                                    </p:set>
                                    <p:animEffect transition="in" filter="wipe(up)">
                                      <p:cBhvr>
                                        <p:cTn id="134" dur="5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500"/>
                                        <p:tgtEl>
                                          <p:spTgt spid="52"/>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500"/>
                                        <p:tgtEl>
                                          <p:spTgt spid="51"/>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3"/>
                                        </p:tgtEl>
                                        <p:attrNameLst>
                                          <p:attrName>style.visibility</p:attrName>
                                        </p:attrNameLst>
                                      </p:cBhvr>
                                      <p:to>
                                        <p:strVal val="visible"/>
                                      </p:to>
                                    </p:set>
                                    <p:animEffect transition="in" filter="fade">
                                      <p:cBhvr>
                                        <p:cTn id="147" dur="500"/>
                                        <p:tgtEl>
                                          <p:spTgt spid="53"/>
                                        </p:tgtEl>
                                      </p:cBhvr>
                                    </p:animEffect>
                                  </p:childTnLst>
                                </p:cTn>
                              </p:par>
                            </p:childTnLst>
                          </p:cTn>
                        </p:par>
                        <p:par>
                          <p:cTn id="148" fill="hold">
                            <p:stCondLst>
                              <p:cond delay="500"/>
                            </p:stCondLst>
                            <p:childTnLst>
                              <p:par>
                                <p:cTn id="149" presetID="10" presetClass="entr" presetSubtype="0" fill="hold" nodeType="after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5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5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5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46" grpId="0" animBg="1"/>
      <p:bldP spid="49" grpId="0" animBg="1"/>
      <p:bldP spid="50" grpId="0" animBg="1"/>
      <p:bldP spid="51" grpId="0" animBg="1"/>
      <p:bldP spid="52" grpId="0" animBg="1"/>
      <p:bldP spid="53" grpId="0" animBg="1"/>
      <p:bldP spid="38" grpId="0" animBg="1"/>
      <p:bldP spid="39" grpId="0"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t>Con trỏ và mảng một chiều (tt)</a:t>
            </a:r>
          </a:p>
        </p:txBody>
      </p:sp>
      <p:sp>
        <p:nvSpPr>
          <p:cNvPr id="3" name="Content Placeholder 2"/>
          <p:cNvSpPr>
            <a:spLocks noGrp="1"/>
          </p:cNvSpPr>
          <p:nvPr>
            <p:ph idx="1"/>
          </p:nvPr>
        </p:nvSpPr>
        <p:spPr/>
        <p:txBody>
          <a:bodyPr/>
          <a:lstStyle/>
          <a:p>
            <a:pPr eaLnBrk="1" hangingPunct="1">
              <a:defRPr/>
            </a:pPr>
            <a:r>
              <a:rPr lang="en-US"/>
              <a:t>Ví dụ: Nh</a:t>
            </a:r>
            <a:r>
              <a:rPr lang="vi-VN"/>
              <a:t>ậ</a:t>
            </a:r>
            <a:r>
              <a:rPr lang="en-US"/>
              <a:t>p vào một dãy các số nguyên, tính tổng các số dương trong dãy.</a:t>
            </a:r>
          </a:p>
        </p:txBody>
      </p:sp>
      <p:sp>
        <p:nvSpPr>
          <p:cNvPr id="6" name="TextBox 5"/>
          <p:cNvSpPr txBox="1">
            <a:spLocks noChangeArrowheads="1"/>
          </p:cNvSpPr>
          <p:nvPr/>
        </p:nvSpPr>
        <p:spPr bwMode="auto">
          <a:xfrm>
            <a:off x="838200" y="1988840"/>
            <a:ext cx="7010400" cy="4401205"/>
          </a:xfrm>
          <a:prstGeom prst="rect">
            <a:avLst/>
          </a:prstGeom>
          <a:noFill/>
          <a:ln w="9525">
            <a:noFill/>
            <a:miter lim="800000"/>
            <a:headEnd/>
            <a:tailEnd/>
          </a:ln>
        </p:spPr>
        <p:txBody>
          <a:bodyPr>
            <a:spAutoFit/>
          </a:bodyPr>
          <a:lstStyle/>
          <a:p>
            <a:r>
              <a:rPr lang="en-US" sz="2000" b="1">
                <a:solidFill>
                  <a:schemeClr val="tx1">
                    <a:lumMod val="95000"/>
                    <a:lumOff val="5000"/>
                  </a:schemeClr>
                </a:solidFill>
                <a:latin typeface="Courier New" pitchFamily="49" charset="0"/>
                <a:cs typeface="Courier New" pitchFamily="49" charset="0"/>
              </a:rPr>
              <a:t>void </a:t>
            </a:r>
            <a:r>
              <a:rPr lang="en-US" sz="2000" b="1">
                <a:solidFill>
                  <a:srgbClr val="0000FF"/>
                </a:solidFill>
                <a:latin typeface="Courier New" pitchFamily="49" charset="0"/>
                <a:cs typeface="Courier New" pitchFamily="49" charset="0"/>
              </a:rPr>
              <a:t>nhapmang</a:t>
            </a:r>
            <a:r>
              <a:rPr lang="en-US" sz="2000" b="1">
                <a:solidFill>
                  <a:schemeClr val="tx1">
                    <a:lumMod val="95000"/>
                    <a:lumOff val="5000"/>
                  </a:schemeClr>
                </a:solidFill>
                <a:latin typeface="Courier New" pitchFamily="49" charset="0"/>
                <a:cs typeface="Courier New" pitchFamily="49" charset="0"/>
              </a:rPr>
              <a:t>(int </a:t>
            </a:r>
            <a:r>
              <a:rPr lang="en-US" sz="2000" b="1">
                <a:solidFill>
                  <a:schemeClr val="accent2">
                    <a:lumMod val="60000"/>
                    <a:lumOff val="40000"/>
                  </a:schemeClr>
                </a:solidFill>
                <a:latin typeface="Courier New" pitchFamily="49" charset="0"/>
                <a:cs typeface="Courier New" pitchFamily="49" charset="0"/>
              </a:rPr>
              <a:t>*a</a:t>
            </a:r>
            <a:r>
              <a:rPr lang="en-US" sz="2000" b="1">
                <a:solidFill>
                  <a:schemeClr val="tx1">
                    <a:lumMod val="95000"/>
                    <a:lumOff val="5000"/>
                  </a:schemeClr>
                </a:solidFill>
                <a:latin typeface="Courier New" pitchFamily="49" charset="0"/>
                <a:cs typeface="Courier New" pitchFamily="49" charset="0"/>
              </a:rPr>
              <a:t>,int </a:t>
            </a:r>
            <a:r>
              <a:rPr lang="en-US" sz="2000" b="1">
                <a:solidFill>
                  <a:schemeClr val="accent2">
                    <a:lumMod val="60000"/>
                    <a:lumOff val="40000"/>
                  </a:schemeClr>
                </a:solidFill>
                <a:latin typeface="Courier New" pitchFamily="49" charset="0"/>
                <a:cs typeface="Courier New" pitchFamily="49" charset="0"/>
              </a:rPr>
              <a:t>&amp;n</a:t>
            </a:r>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 int i;</a:t>
            </a:r>
          </a:p>
          <a:p>
            <a:r>
              <a:rPr lang="en-US" sz="2000" b="1">
                <a:solidFill>
                  <a:schemeClr val="tx1">
                    <a:lumMod val="95000"/>
                    <a:lumOff val="5000"/>
                  </a:schemeClr>
                </a:solidFill>
                <a:latin typeface="Courier New" pitchFamily="49" charset="0"/>
                <a:cs typeface="Courier New" pitchFamily="49" charset="0"/>
              </a:rPr>
              <a:t>  printf("Nhap so phan tu cua mang: ");</a:t>
            </a:r>
          </a:p>
          <a:p>
            <a:r>
              <a:rPr lang="en-US" sz="2000" b="1">
                <a:solidFill>
                  <a:schemeClr val="tx1">
                    <a:lumMod val="95000"/>
                    <a:lumOff val="5000"/>
                  </a:schemeClr>
                </a:solidFill>
                <a:latin typeface="Courier New" pitchFamily="49" charset="0"/>
                <a:cs typeface="Courier New" pitchFamily="49" charset="0"/>
              </a:rPr>
              <a:t>  scanf("%d",&amp;n);</a:t>
            </a:r>
          </a:p>
          <a:p>
            <a:r>
              <a:rPr lang="en-US" sz="2000" b="1">
                <a:solidFill>
                  <a:schemeClr val="tx1">
                    <a:lumMod val="95000"/>
                    <a:lumOff val="5000"/>
                  </a:schemeClr>
                </a:solidFill>
                <a:latin typeface="Courier New" pitchFamily="49" charset="0"/>
                <a:cs typeface="Courier New" pitchFamily="49" charset="0"/>
              </a:rPr>
              <a:t>  for(i=0;i&lt;n;i++)</a:t>
            </a:r>
          </a:p>
          <a:p>
            <a:r>
              <a:rPr lang="en-US" sz="2000" b="1">
                <a:solidFill>
                  <a:schemeClr val="tx1">
                    <a:lumMod val="95000"/>
                    <a:lumOff val="5000"/>
                  </a:schemeClr>
                </a:solidFill>
                <a:latin typeface="Courier New" pitchFamily="49" charset="0"/>
                <a:cs typeface="Courier New" pitchFamily="49" charset="0"/>
              </a:rPr>
              <a:t>    {    printf("a[%d]= ",i);</a:t>
            </a:r>
          </a:p>
          <a:p>
            <a:r>
              <a:rPr lang="en-US" sz="2000" b="1">
                <a:solidFill>
                  <a:schemeClr val="tx1">
                    <a:lumMod val="95000"/>
                    <a:lumOff val="5000"/>
                  </a:schemeClr>
                </a:solidFill>
                <a:latin typeface="Courier New" pitchFamily="49" charset="0"/>
                <a:cs typeface="Courier New" pitchFamily="49" charset="0"/>
              </a:rPr>
              <a:t>         scanf("%d",</a:t>
            </a:r>
            <a:r>
              <a:rPr lang="en-US" sz="2000" b="1">
                <a:solidFill>
                  <a:schemeClr val="accent2">
                    <a:lumMod val="60000"/>
                    <a:lumOff val="40000"/>
                  </a:schemeClr>
                </a:solidFill>
                <a:latin typeface="Courier New" pitchFamily="49" charset="0"/>
                <a:cs typeface="Courier New" pitchFamily="49" charset="0"/>
              </a:rPr>
              <a:t>a+i</a:t>
            </a:r>
            <a:r>
              <a:rPr lang="en-US" sz="2000" b="1">
                <a:solidFill>
                  <a:schemeClr val="tx1">
                    <a:lumMod val="95000"/>
                    <a:lumOff val="5000"/>
                  </a:schemeClr>
                </a:solidFill>
                <a:latin typeface="Courier New" pitchFamily="49" charset="0"/>
                <a:cs typeface="Courier New" pitchFamily="49" charset="0"/>
              </a:rPr>
              <a:t>);    }</a:t>
            </a:r>
          </a:p>
          <a:p>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void </a:t>
            </a:r>
            <a:r>
              <a:rPr lang="en-US" sz="2000" b="1">
                <a:solidFill>
                  <a:srgbClr val="0000FF"/>
                </a:solidFill>
                <a:latin typeface="Courier New" pitchFamily="49" charset="0"/>
                <a:cs typeface="Courier New" pitchFamily="49" charset="0"/>
              </a:rPr>
              <a:t>xuatmang</a:t>
            </a:r>
            <a:r>
              <a:rPr lang="en-US" sz="2000" b="1">
                <a:solidFill>
                  <a:schemeClr val="tx1">
                    <a:lumMod val="95000"/>
                    <a:lumOff val="5000"/>
                  </a:schemeClr>
                </a:solidFill>
                <a:latin typeface="Courier New" pitchFamily="49" charset="0"/>
                <a:cs typeface="Courier New" pitchFamily="49" charset="0"/>
              </a:rPr>
              <a:t>(int </a:t>
            </a:r>
            <a:r>
              <a:rPr lang="en-US" sz="2000" b="1">
                <a:solidFill>
                  <a:schemeClr val="accent2">
                    <a:lumMod val="60000"/>
                    <a:lumOff val="40000"/>
                  </a:schemeClr>
                </a:solidFill>
                <a:latin typeface="Courier New" pitchFamily="49" charset="0"/>
                <a:cs typeface="Courier New" pitchFamily="49" charset="0"/>
              </a:rPr>
              <a:t>*a</a:t>
            </a:r>
            <a:r>
              <a:rPr lang="en-US" sz="2000" b="1">
                <a:solidFill>
                  <a:schemeClr val="tx1">
                    <a:lumMod val="95000"/>
                    <a:lumOff val="5000"/>
                  </a:schemeClr>
                </a:solidFill>
                <a:latin typeface="Courier New" pitchFamily="49" charset="0"/>
                <a:cs typeface="Courier New" pitchFamily="49" charset="0"/>
              </a:rPr>
              <a:t>,int n)</a:t>
            </a:r>
          </a:p>
          <a:p>
            <a:r>
              <a:rPr lang="en-US" sz="2000" b="1">
                <a:solidFill>
                  <a:schemeClr val="tx1">
                    <a:lumMod val="95000"/>
                    <a:lumOff val="5000"/>
                  </a:schemeClr>
                </a:solidFill>
                <a:latin typeface="Courier New" pitchFamily="49" charset="0"/>
                <a:cs typeface="Courier New" pitchFamily="49" charset="0"/>
              </a:rPr>
              <a:t>{    int i;</a:t>
            </a:r>
          </a:p>
          <a:p>
            <a:r>
              <a:rPr lang="en-US" sz="2000" b="1">
                <a:solidFill>
                  <a:schemeClr val="tx1">
                    <a:lumMod val="95000"/>
                    <a:lumOff val="5000"/>
                  </a:schemeClr>
                </a:solidFill>
                <a:latin typeface="Courier New" pitchFamily="49" charset="0"/>
                <a:cs typeface="Courier New" pitchFamily="49" charset="0"/>
              </a:rPr>
              <a:t>     printf("\nMang vua nhap la: ");</a:t>
            </a:r>
          </a:p>
          <a:p>
            <a:r>
              <a:rPr lang="en-US" sz="2000" b="1">
                <a:solidFill>
                  <a:schemeClr val="tx1">
                    <a:lumMod val="95000"/>
                    <a:lumOff val="5000"/>
                  </a:schemeClr>
                </a:solidFill>
                <a:latin typeface="Courier New" pitchFamily="49" charset="0"/>
                <a:cs typeface="Courier New" pitchFamily="49" charset="0"/>
              </a:rPr>
              <a:t>     for(i=0;i&lt;n;i++)</a:t>
            </a:r>
          </a:p>
          <a:p>
            <a:r>
              <a:rPr lang="en-US" sz="2000" b="1">
                <a:solidFill>
                  <a:schemeClr val="tx1">
                    <a:lumMod val="95000"/>
                    <a:lumOff val="5000"/>
                  </a:schemeClr>
                </a:solidFill>
                <a:latin typeface="Courier New" pitchFamily="49" charset="0"/>
                <a:cs typeface="Courier New" pitchFamily="49" charset="0"/>
              </a:rPr>
              <a:t>     printf("%d ",</a:t>
            </a:r>
            <a:r>
              <a:rPr lang="en-US" sz="2000" b="1">
                <a:solidFill>
                  <a:schemeClr val="accent2">
                    <a:lumMod val="60000"/>
                    <a:lumOff val="40000"/>
                  </a:schemeClr>
                </a:solidFill>
                <a:latin typeface="Courier New" pitchFamily="49" charset="0"/>
                <a:cs typeface="Courier New" pitchFamily="49" charset="0"/>
              </a:rPr>
              <a:t>*(a+i)</a:t>
            </a:r>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a:t>
            </a:r>
          </a:p>
        </p:txBody>
      </p:sp>
      <p:sp>
        <p:nvSpPr>
          <p:cNvPr id="14" name="Date Placeholder 13"/>
          <p:cNvSpPr>
            <a:spLocks noGrp="1"/>
          </p:cNvSpPr>
          <p:nvPr>
            <p:ph type="dt" sz="half" idx="10"/>
          </p:nvPr>
        </p:nvSpPr>
        <p:spPr/>
        <p:txBody>
          <a:bodyPr/>
          <a:lstStyle/>
          <a:p>
            <a:fld id="{35E366C9-4C50-4BEE-8C7F-D1C7906EB3EF}" type="datetime1">
              <a:rPr lang="vi-VN" smtClean="0"/>
              <a:t>14/01/2024</a:t>
            </a:fld>
            <a:endParaRPr lang="vi-VN"/>
          </a:p>
        </p:txBody>
      </p:sp>
      <p:sp>
        <p:nvSpPr>
          <p:cNvPr id="15" name="Footer Placeholder 1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22</a:t>
            </a:fld>
            <a:r>
              <a:rPr lang="vi-VN"/>
              <a:t>/50</a:t>
            </a:r>
          </a:p>
        </p:txBody>
      </p:sp>
    </p:spTree>
    <p:extLst>
      <p:ext uri="{BB962C8B-B14F-4D97-AF65-F5344CB8AC3E}">
        <p14:creationId xmlns:p14="http://schemas.microsoft.com/office/powerpoint/2010/main" val="96869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 trỏ và mảng một chiều (tt)</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AF650FAA-A294-4FCD-A58B-6A648E40AE3F}"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TextBox 6"/>
          <p:cNvSpPr txBox="1">
            <a:spLocks noChangeArrowheads="1"/>
          </p:cNvSpPr>
          <p:nvPr/>
        </p:nvSpPr>
        <p:spPr bwMode="auto">
          <a:xfrm>
            <a:off x="755576" y="1196752"/>
            <a:ext cx="8928992" cy="5016758"/>
          </a:xfrm>
          <a:prstGeom prst="rect">
            <a:avLst/>
          </a:prstGeom>
          <a:noFill/>
          <a:ln w="9525">
            <a:noFill/>
            <a:miter lim="800000"/>
            <a:headEnd/>
            <a:tailEnd/>
          </a:ln>
        </p:spPr>
        <p:txBody>
          <a:bodyPr wrap="square">
            <a:spAutoFit/>
          </a:bodyPr>
          <a:lstStyle/>
          <a:p>
            <a:r>
              <a:rPr lang="en-US" sz="2000" b="1">
                <a:solidFill>
                  <a:schemeClr val="tx1">
                    <a:lumMod val="95000"/>
                    <a:lumOff val="5000"/>
                  </a:schemeClr>
                </a:solidFill>
                <a:latin typeface="Courier New" pitchFamily="49" charset="0"/>
                <a:cs typeface="Courier New" pitchFamily="49" charset="0"/>
              </a:rPr>
              <a:t>long </a:t>
            </a:r>
            <a:r>
              <a:rPr lang="en-US" sz="2000" b="1">
                <a:solidFill>
                  <a:srgbClr val="0000FF"/>
                </a:solidFill>
                <a:latin typeface="Courier New" pitchFamily="49" charset="0"/>
                <a:cs typeface="Courier New" pitchFamily="49" charset="0"/>
              </a:rPr>
              <a:t>tong</a:t>
            </a:r>
            <a:r>
              <a:rPr lang="en-US" sz="2000" b="1">
                <a:solidFill>
                  <a:schemeClr val="tx1">
                    <a:lumMod val="95000"/>
                    <a:lumOff val="5000"/>
                  </a:schemeClr>
                </a:solidFill>
                <a:latin typeface="Courier New" pitchFamily="49" charset="0"/>
                <a:cs typeface="Courier New" pitchFamily="49" charset="0"/>
              </a:rPr>
              <a:t>(int </a:t>
            </a:r>
            <a:r>
              <a:rPr lang="en-US" sz="2000" b="1">
                <a:solidFill>
                  <a:srgbClr val="FF0000"/>
                </a:solidFill>
                <a:latin typeface="Courier New" pitchFamily="49" charset="0"/>
                <a:cs typeface="Courier New" pitchFamily="49" charset="0"/>
              </a:rPr>
              <a:t>*a</a:t>
            </a:r>
            <a:r>
              <a:rPr lang="en-US" sz="2000" b="1">
                <a:solidFill>
                  <a:schemeClr val="tx1">
                    <a:lumMod val="95000"/>
                    <a:lumOff val="5000"/>
                  </a:schemeClr>
                </a:solidFill>
                <a:latin typeface="Courier New" pitchFamily="49" charset="0"/>
                <a:cs typeface="Courier New" pitchFamily="49" charset="0"/>
              </a:rPr>
              <a:t>,int n)</a:t>
            </a:r>
          </a:p>
          <a:p>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    int i;</a:t>
            </a:r>
          </a:p>
          <a:p>
            <a:r>
              <a:rPr lang="en-US" sz="2000" b="1">
                <a:solidFill>
                  <a:schemeClr val="tx1">
                    <a:lumMod val="95000"/>
                    <a:lumOff val="5000"/>
                  </a:schemeClr>
                </a:solidFill>
                <a:latin typeface="Courier New" pitchFamily="49" charset="0"/>
                <a:cs typeface="Courier New" pitchFamily="49" charset="0"/>
              </a:rPr>
              <a:t>    long t; t=0;</a:t>
            </a:r>
          </a:p>
          <a:p>
            <a:r>
              <a:rPr lang="en-US" sz="2000" b="1">
                <a:solidFill>
                  <a:schemeClr val="tx1">
                    <a:lumMod val="95000"/>
                    <a:lumOff val="5000"/>
                  </a:schemeClr>
                </a:solidFill>
                <a:latin typeface="Courier New" pitchFamily="49" charset="0"/>
                <a:cs typeface="Courier New" pitchFamily="49" charset="0"/>
              </a:rPr>
              <a:t>    for(i=0;i&lt;n;i++)</a:t>
            </a:r>
          </a:p>
          <a:p>
            <a:r>
              <a:rPr lang="en-US" sz="2000" b="1">
                <a:solidFill>
                  <a:schemeClr val="tx1">
                    <a:lumMod val="95000"/>
                    <a:lumOff val="5000"/>
                  </a:schemeClr>
                </a:solidFill>
                <a:latin typeface="Courier New" pitchFamily="49" charset="0"/>
                <a:cs typeface="Courier New" pitchFamily="49" charset="0"/>
              </a:rPr>
              <a:t>      if (</a:t>
            </a:r>
            <a:r>
              <a:rPr lang="en-US" sz="2000" b="1">
                <a:solidFill>
                  <a:srgbClr val="FF0000"/>
                </a:solidFill>
                <a:latin typeface="Courier New" pitchFamily="49" charset="0"/>
                <a:cs typeface="Courier New" pitchFamily="49" charset="0"/>
              </a:rPr>
              <a:t>*(a+i)</a:t>
            </a:r>
            <a:r>
              <a:rPr lang="en-US" sz="2000" b="1">
                <a:solidFill>
                  <a:schemeClr val="tx1">
                    <a:lumMod val="95000"/>
                    <a:lumOff val="5000"/>
                  </a:schemeClr>
                </a:solidFill>
                <a:latin typeface="Courier New" pitchFamily="49" charset="0"/>
                <a:cs typeface="Courier New" pitchFamily="49" charset="0"/>
              </a:rPr>
              <a:t>&gt;0) t=t+</a:t>
            </a:r>
            <a:r>
              <a:rPr lang="en-US" sz="2000" b="1">
                <a:solidFill>
                  <a:srgbClr val="FF0000"/>
                </a:solidFill>
                <a:latin typeface="Courier New" pitchFamily="49" charset="0"/>
                <a:cs typeface="Courier New" pitchFamily="49" charset="0"/>
              </a:rPr>
              <a:t>*(a+i</a:t>
            </a:r>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    return t;</a:t>
            </a:r>
          </a:p>
          <a:p>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int main()</a:t>
            </a:r>
          </a:p>
          <a:p>
            <a:r>
              <a:rPr lang="en-US" sz="2000" b="1">
                <a:solidFill>
                  <a:schemeClr val="tx1">
                    <a:lumMod val="95000"/>
                    <a:lumOff val="5000"/>
                  </a:schemeClr>
                </a:solidFill>
                <a:latin typeface="Courier New" pitchFamily="49" charset="0"/>
                <a:cs typeface="Courier New" pitchFamily="49" charset="0"/>
              </a:rPr>
              <a:t>{</a:t>
            </a:r>
          </a:p>
          <a:p>
            <a:r>
              <a:rPr lang="en-US" sz="2000" b="1">
                <a:solidFill>
                  <a:schemeClr val="tx1">
                    <a:lumMod val="95000"/>
                    <a:lumOff val="5000"/>
                  </a:schemeClr>
                </a:solidFill>
                <a:latin typeface="Courier New" pitchFamily="49" charset="0"/>
                <a:cs typeface="Courier New" pitchFamily="49" charset="0"/>
              </a:rPr>
              <a:t>int a[20],n,i;</a:t>
            </a:r>
          </a:p>
          <a:p>
            <a:r>
              <a:rPr lang="en-US" sz="2000" b="1">
                <a:solidFill>
                  <a:srgbClr val="0000FF"/>
                </a:solidFill>
                <a:latin typeface="Courier New" pitchFamily="49" charset="0"/>
                <a:cs typeface="Courier New" pitchFamily="49" charset="0"/>
              </a:rPr>
              <a:t>nhapmang</a:t>
            </a:r>
            <a:r>
              <a:rPr lang="en-US" sz="2000" b="1">
                <a:solidFill>
                  <a:schemeClr val="tx1">
                    <a:lumMod val="95000"/>
                    <a:lumOff val="5000"/>
                  </a:schemeClr>
                </a:solidFill>
                <a:latin typeface="Courier New" pitchFamily="49" charset="0"/>
                <a:cs typeface="Courier New" pitchFamily="49" charset="0"/>
              </a:rPr>
              <a:t>(a,n);</a:t>
            </a:r>
          </a:p>
          <a:p>
            <a:r>
              <a:rPr lang="en-US" sz="2000" b="1">
                <a:solidFill>
                  <a:srgbClr val="0000FF"/>
                </a:solidFill>
                <a:latin typeface="Courier New" pitchFamily="49" charset="0"/>
                <a:cs typeface="Courier New" pitchFamily="49" charset="0"/>
              </a:rPr>
              <a:t>xuatmang</a:t>
            </a:r>
            <a:r>
              <a:rPr lang="en-US" sz="2000" b="1">
                <a:solidFill>
                  <a:schemeClr val="tx1">
                    <a:lumMod val="95000"/>
                    <a:lumOff val="5000"/>
                  </a:schemeClr>
                </a:solidFill>
                <a:latin typeface="Courier New" pitchFamily="49" charset="0"/>
                <a:cs typeface="Courier New" pitchFamily="49" charset="0"/>
              </a:rPr>
              <a:t>(a,n);</a:t>
            </a:r>
          </a:p>
          <a:p>
            <a:r>
              <a:rPr lang="en-US" sz="2000" b="1">
                <a:solidFill>
                  <a:schemeClr val="tx1">
                    <a:lumMod val="95000"/>
                    <a:lumOff val="5000"/>
                  </a:schemeClr>
                </a:solidFill>
                <a:latin typeface="Courier New" pitchFamily="49" charset="0"/>
                <a:cs typeface="Courier New" pitchFamily="49" charset="0"/>
              </a:rPr>
              <a:t>printf("\nTong cac phan tu duong la: %ld", </a:t>
            </a:r>
            <a:r>
              <a:rPr lang="en-US" sz="2000" b="1">
                <a:solidFill>
                  <a:srgbClr val="0000FF"/>
                </a:solidFill>
                <a:latin typeface="Courier New" pitchFamily="49" charset="0"/>
                <a:cs typeface="Courier New" pitchFamily="49" charset="0"/>
              </a:rPr>
              <a:t>tong</a:t>
            </a:r>
            <a:r>
              <a:rPr lang="en-US" sz="2000" b="1">
                <a:solidFill>
                  <a:schemeClr val="tx1">
                    <a:lumMod val="95000"/>
                    <a:lumOff val="5000"/>
                  </a:schemeClr>
                </a:solidFill>
                <a:latin typeface="Courier New" pitchFamily="49" charset="0"/>
                <a:cs typeface="Courier New" pitchFamily="49" charset="0"/>
              </a:rPr>
              <a:t>(a,n));</a:t>
            </a:r>
          </a:p>
          <a:p>
            <a:r>
              <a:rPr lang="en-US" sz="2000" b="1">
                <a:solidFill>
                  <a:schemeClr val="tx1">
                    <a:lumMod val="95000"/>
                    <a:lumOff val="5000"/>
                  </a:schemeClr>
                </a:solidFill>
                <a:latin typeface="Courier New" pitchFamily="49" charset="0"/>
                <a:cs typeface="Courier New" pitchFamily="49" charset="0"/>
              </a:rPr>
              <a:t>getch();</a:t>
            </a:r>
          </a:p>
          <a:p>
            <a:r>
              <a:rPr lang="en-US" sz="2000" b="1">
                <a:solidFill>
                  <a:schemeClr val="tx1">
                    <a:lumMod val="95000"/>
                    <a:lumOff val="5000"/>
                  </a:schemeClr>
                </a:solidFill>
                <a:latin typeface="Courier New" pitchFamily="49" charset="0"/>
                <a:cs typeface="Courier New" pitchFamily="49" charset="0"/>
              </a:rPr>
              <a:t>}</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23</a:t>
            </a:fld>
            <a:r>
              <a:rPr lang="vi-VN"/>
              <a:t>/50</a:t>
            </a:r>
          </a:p>
        </p:txBody>
      </p:sp>
    </p:spTree>
    <p:extLst>
      <p:ext uri="{BB962C8B-B14F-4D97-AF65-F5344CB8AC3E}">
        <p14:creationId xmlns:p14="http://schemas.microsoft.com/office/powerpoint/2010/main" val="75659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defRPr/>
            </a:pPr>
            <a:r>
              <a:rPr lang="en-US"/>
              <a:t>L</a:t>
            </a:r>
            <a:r>
              <a:rPr lang="vi-VN"/>
              <a:t>ư</a:t>
            </a:r>
            <a:r>
              <a:rPr lang="en-US"/>
              <a:t>u ý</a:t>
            </a:r>
          </a:p>
          <a:p>
            <a:pPr lvl="1" eaLnBrk="1" hangingPunct="1">
              <a:defRPr/>
            </a:pPr>
            <a:r>
              <a:rPr lang="en-US">
                <a:solidFill>
                  <a:srgbClr val="FF0000"/>
                </a:solidFill>
                <a:sym typeface="Wingdings" pitchFamily="2" charset="2"/>
              </a:rPr>
              <a:t>Không</a:t>
            </a:r>
            <a:r>
              <a:rPr lang="en-US">
                <a:sym typeface="Wingdings" pitchFamily="2" charset="2"/>
              </a:rPr>
              <a:t> thực hiện các phép toán </a:t>
            </a:r>
            <a:r>
              <a:rPr lang="en-US">
                <a:solidFill>
                  <a:srgbClr val="FF0000"/>
                </a:solidFill>
                <a:sym typeface="Wingdings" pitchFamily="2" charset="2"/>
              </a:rPr>
              <a:t>nhân, chia, lấy phần d</a:t>
            </a:r>
            <a:r>
              <a:rPr lang="vi-VN">
                <a:solidFill>
                  <a:srgbClr val="FF0000"/>
                </a:solidFill>
                <a:sym typeface="Wingdings" pitchFamily="2" charset="2"/>
              </a:rPr>
              <a:t>ư</a:t>
            </a:r>
            <a:r>
              <a:rPr lang="en-US">
                <a:sym typeface="Wingdings" pitchFamily="2" charset="2"/>
              </a:rPr>
              <a:t>.</a:t>
            </a:r>
          </a:p>
          <a:p>
            <a:pPr lvl="1" eaLnBrk="1" hangingPunct="1">
              <a:defRPr/>
            </a:pPr>
            <a:r>
              <a:rPr lang="en-US">
                <a:sym typeface="Wingdings" pitchFamily="2" charset="2"/>
              </a:rPr>
              <a:t>T</a:t>
            </a:r>
            <a:r>
              <a:rPr lang="vi-VN">
                <a:sym typeface="Wingdings" pitchFamily="2" charset="2"/>
              </a:rPr>
              <a:t>ă</a:t>
            </a:r>
            <a:r>
              <a:rPr lang="en-US">
                <a:sym typeface="Wingdings" pitchFamily="2" charset="2"/>
              </a:rPr>
              <a:t>ng/giảm con trỏ n </a:t>
            </a:r>
            <a:r>
              <a:rPr lang="vi-VN">
                <a:sym typeface="Wingdings" pitchFamily="2" charset="2"/>
              </a:rPr>
              <a:t>đơ</a:t>
            </a:r>
            <a:r>
              <a:rPr lang="en-US">
                <a:sym typeface="Wingdings" pitchFamily="2" charset="2"/>
              </a:rPr>
              <a:t>n vị có nghĩa là t</a:t>
            </a:r>
            <a:r>
              <a:rPr lang="vi-VN">
                <a:sym typeface="Wingdings" pitchFamily="2" charset="2"/>
              </a:rPr>
              <a:t>ă</a:t>
            </a:r>
            <a:r>
              <a:rPr lang="en-US">
                <a:sym typeface="Wingdings" pitchFamily="2" charset="2"/>
              </a:rPr>
              <a:t>ng/giảm giá trị của nó </a:t>
            </a:r>
            <a:r>
              <a:rPr lang="en-US">
                <a:solidFill>
                  <a:srgbClr val="FF0000"/>
                </a:solidFill>
                <a:sym typeface="Wingdings" pitchFamily="2" charset="2"/>
              </a:rPr>
              <a:t>n*sizeof(&lt;kiểu dữ liệu mà nó trỏ </a:t>
            </a:r>
            <a:r>
              <a:rPr lang="vi-VN">
                <a:solidFill>
                  <a:srgbClr val="FF0000"/>
                </a:solidFill>
                <a:sym typeface="Wingdings" pitchFamily="2" charset="2"/>
              </a:rPr>
              <a:t>đế</a:t>
            </a:r>
            <a:r>
              <a:rPr lang="en-US">
                <a:solidFill>
                  <a:srgbClr val="FF0000"/>
                </a:solidFill>
                <a:sym typeface="Wingdings" pitchFamily="2" charset="2"/>
              </a:rPr>
              <a:t>n&gt;)</a:t>
            </a:r>
          </a:p>
          <a:p>
            <a:pPr lvl="1" eaLnBrk="1" hangingPunct="1">
              <a:defRPr/>
            </a:pPr>
            <a:r>
              <a:rPr lang="en-US">
                <a:solidFill>
                  <a:srgbClr val="FF0000"/>
                </a:solidFill>
                <a:sym typeface="Wingdings" pitchFamily="2" charset="2"/>
              </a:rPr>
              <a:t>Không thể</a:t>
            </a:r>
            <a:r>
              <a:rPr lang="en-US">
                <a:sym typeface="Wingdings" pitchFamily="2" charset="2"/>
              </a:rPr>
              <a:t> t</a:t>
            </a:r>
            <a:r>
              <a:rPr lang="vi-VN">
                <a:sym typeface="Wingdings" pitchFamily="2" charset="2"/>
              </a:rPr>
              <a:t>ă</a:t>
            </a:r>
            <a:r>
              <a:rPr lang="en-US">
                <a:sym typeface="Wingdings" pitchFamily="2" charset="2"/>
              </a:rPr>
              <a:t>ng/giảm biến mảng. Hãy gán một con trỏ </a:t>
            </a:r>
            <a:r>
              <a:rPr lang="vi-VN">
                <a:sym typeface="Wingdings" pitchFamily="2" charset="2"/>
              </a:rPr>
              <a:t>đế</a:t>
            </a:r>
            <a:r>
              <a:rPr lang="en-US">
                <a:sym typeface="Wingdings" pitchFamily="2" charset="2"/>
              </a:rPr>
              <a:t>n </a:t>
            </a:r>
            <a:r>
              <a:rPr lang="vi-VN">
                <a:sym typeface="Wingdings" pitchFamily="2" charset="2"/>
              </a:rPr>
              <a:t>đị</a:t>
            </a:r>
            <a:r>
              <a:rPr lang="en-US">
                <a:sym typeface="Wingdings" pitchFamily="2" charset="2"/>
              </a:rPr>
              <a:t>a chỉ </a:t>
            </a:r>
            <a:r>
              <a:rPr lang="vi-VN">
                <a:sym typeface="Wingdings" pitchFamily="2" charset="2"/>
              </a:rPr>
              <a:t>đầ</a:t>
            </a:r>
            <a:r>
              <a:rPr lang="en-US">
                <a:sym typeface="Wingdings" pitchFamily="2" charset="2"/>
              </a:rPr>
              <a:t>u của mảng và t</a:t>
            </a:r>
            <a:r>
              <a:rPr lang="vi-VN">
                <a:sym typeface="Wingdings" pitchFamily="2" charset="2"/>
              </a:rPr>
              <a:t>ă</a:t>
            </a:r>
            <a:r>
              <a:rPr lang="en-US">
                <a:sym typeface="Wingdings" pitchFamily="2" charset="2"/>
              </a:rPr>
              <a:t>ng/giảm nó.</a:t>
            </a:r>
          </a:p>
          <a:p>
            <a:pPr lvl="1" eaLnBrk="1" hangingPunct="1">
              <a:defRPr/>
            </a:pPr>
            <a:r>
              <a:rPr lang="en-US">
                <a:sym typeface="Wingdings" pitchFamily="2" charset="2"/>
              </a:rPr>
              <a:t>Đối số mảng một chiều truyền cho hàm là </a:t>
            </a:r>
            <a:r>
              <a:rPr lang="vi-VN">
                <a:sym typeface="Wingdings" pitchFamily="2" charset="2"/>
              </a:rPr>
              <a:t>đị</a:t>
            </a:r>
            <a:r>
              <a:rPr lang="en-US">
                <a:sym typeface="Wingdings" pitchFamily="2" charset="2"/>
              </a:rPr>
              <a:t>a chỉ phần tử </a:t>
            </a:r>
            <a:r>
              <a:rPr lang="vi-VN">
                <a:sym typeface="Wingdings" pitchFamily="2" charset="2"/>
              </a:rPr>
              <a:t>đầ</a:t>
            </a:r>
            <a:r>
              <a:rPr lang="en-US">
                <a:sym typeface="Wingdings" pitchFamily="2" charset="2"/>
              </a:rPr>
              <a:t>u tiên của mảng.</a:t>
            </a:r>
          </a:p>
          <a:p>
            <a:pPr lvl="1" eaLnBrk="1" hangingPunct="1">
              <a:defRPr/>
            </a:pPr>
            <a:endParaRPr lang="en-US"/>
          </a:p>
        </p:txBody>
      </p:sp>
      <p:sp>
        <p:nvSpPr>
          <p:cNvPr id="45059" name="Title 1"/>
          <p:cNvSpPr>
            <a:spLocks noGrp="1"/>
          </p:cNvSpPr>
          <p:nvPr>
            <p:ph type="title"/>
          </p:nvPr>
        </p:nvSpPr>
        <p:spPr/>
        <p:txBody>
          <a:bodyPr/>
          <a:lstStyle/>
          <a:p>
            <a:pPr eaLnBrk="1" hangingPunct="1"/>
            <a:r>
              <a:rPr lang="en-US"/>
              <a:t>Con trỏ và mảng một chiều (tt)</a:t>
            </a:r>
          </a:p>
        </p:txBody>
      </p:sp>
      <p:sp>
        <p:nvSpPr>
          <p:cNvPr id="5" name="Date Placeholder 4"/>
          <p:cNvSpPr>
            <a:spLocks noGrp="1"/>
          </p:cNvSpPr>
          <p:nvPr>
            <p:ph type="dt" sz="half" idx="10"/>
          </p:nvPr>
        </p:nvSpPr>
        <p:spPr/>
        <p:txBody>
          <a:bodyPr/>
          <a:lstStyle/>
          <a:p>
            <a:fld id="{E4BDF039-782A-404F-93A7-59AE963DCE08}"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24</a:t>
            </a:fld>
            <a:r>
              <a:rPr lang="vi-VN"/>
              <a:t>/50</a:t>
            </a:r>
          </a:p>
        </p:txBody>
      </p:sp>
    </p:spTree>
    <p:extLst>
      <p:ext uri="{BB962C8B-B14F-4D97-AF65-F5344CB8AC3E}">
        <p14:creationId xmlns:p14="http://schemas.microsoft.com/office/powerpoint/2010/main" val="153051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4. Con trỏ và mảng 2 chiều</a:t>
            </a:r>
          </a:p>
        </p:txBody>
      </p:sp>
      <p:sp>
        <p:nvSpPr>
          <p:cNvPr id="3" name="Content Placeholder 2"/>
          <p:cNvSpPr>
            <a:spLocks noGrp="1"/>
          </p:cNvSpPr>
          <p:nvPr>
            <p:ph idx="1"/>
          </p:nvPr>
        </p:nvSpPr>
        <p:spPr/>
        <p:txBody>
          <a:bodyPr/>
          <a:lstStyle/>
          <a:p>
            <a:pPr>
              <a:defRPr/>
            </a:pPr>
            <a:r>
              <a:rPr lang="en-US"/>
              <a:t>H</a:t>
            </a:r>
            <a:r>
              <a:rPr lang="vi-VN"/>
              <a:t>ướ</a:t>
            </a:r>
            <a:r>
              <a:rPr lang="en-US"/>
              <a:t>ng tiếp cận</a:t>
            </a:r>
          </a:p>
          <a:p>
            <a:pPr lvl="1">
              <a:defRPr/>
            </a:pPr>
            <a:r>
              <a:rPr lang="en-US"/>
              <a:t>Các phần tử tạo thành mảng 1 chiều</a:t>
            </a:r>
          </a:p>
          <a:p>
            <a:pPr lvl="1">
              <a:defRPr/>
            </a:pPr>
            <a:r>
              <a:rPr lang="en-US"/>
              <a:t>Sử dụng con trỏ </a:t>
            </a:r>
            <a:r>
              <a:rPr lang="en-US">
                <a:solidFill>
                  <a:srgbClr val="FF0000"/>
                </a:solidFill>
              </a:rPr>
              <a:t>int *</a:t>
            </a:r>
            <a:r>
              <a:rPr lang="en-US"/>
              <a:t> </a:t>
            </a:r>
            <a:r>
              <a:rPr lang="vi-VN"/>
              <a:t>để</a:t>
            </a:r>
            <a:r>
              <a:rPr lang="en-US"/>
              <a:t> duyệt mảng 1 chiều</a:t>
            </a:r>
          </a:p>
        </p:txBody>
      </p:sp>
      <p:sp>
        <p:nvSpPr>
          <p:cNvPr id="8" name="AutoShape 6"/>
          <p:cNvSpPr>
            <a:spLocks noChangeArrowheads="1"/>
          </p:cNvSpPr>
          <p:nvPr/>
        </p:nvSpPr>
        <p:spPr bwMode="gray">
          <a:xfrm>
            <a:off x="21336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t>
            </a:r>
            <a:endParaRPr lang="en-US" baseline="30000"/>
          </a:p>
        </p:txBody>
      </p:sp>
      <p:sp>
        <p:nvSpPr>
          <p:cNvPr id="9" name="AutoShape 6"/>
          <p:cNvSpPr>
            <a:spLocks noChangeArrowheads="1"/>
          </p:cNvSpPr>
          <p:nvPr/>
        </p:nvSpPr>
        <p:spPr bwMode="gray">
          <a:xfrm>
            <a:off x="25908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t>
            </a:r>
            <a:endParaRPr lang="en-US" baseline="30000"/>
          </a:p>
        </p:txBody>
      </p:sp>
      <p:sp>
        <p:nvSpPr>
          <p:cNvPr id="10" name="AutoShape 6"/>
          <p:cNvSpPr>
            <a:spLocks noChangeArrowheads="1"/>
          </p:cNvSpPr>
          <p:nvPr/>
        </p:nvSpPr>
        <p:spPr bwMode="gray">
          <a:xfrm>
            <a:off x="30480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t>
            </a:r>
            <a:endParaRPr lang="en-US" baseline="30000"/>
          </a:p>
        </p:txBody>
      </p:sp>
      <p:sp>
        <p:nvSpPr>
          <p:cNvPr id="11" name="AutoShape 6"/>
          <p:cNvSpPr>
            <a:spLocks noChangeArrowheads="1"/>
          </p:cNvSpPr>
          <p:nvPr/>
        </p:nvSpPr>
        <p:spPr bwMode="gray">
          <a:xfrm>
            <a:off x="35052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a:t>
            </a:r>
            <a:endParaRPr lang="en-US" baseline="30000"/>
          </a:p>
        </p:txBody>
      </p:sp>
      <p:sp>
        <p:nvSpPr>
          <p:cNvPr id="12" name="AutoShape 6"/>
          <p:cNvSpPr>
            <a:spLocks noChangeArrowheads="1"/>
          </p:cNvSpPr>
          <p:nvPr/>
        </p:nvSpPr>
        <p:spPr bwMode="gray">
          <a:xfrm>
            <a:off x="39624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4</a:t>
            </a:r>
            <a:endParaRPr lang="en-US" baseline="30000"/>
          </a:p>
        </p:txBody>
      </p:sp>
      <p:sp>
        <p:nvSpPr>
          <p:cNvPr id="13" name="AutoShape 6"/>
          <p:cNvSpPr>
            <a:spLocks noChangeArrowheads="1"/>
          </p:cNvSpPr>
          <p:nvPr/>
        </p:nvSpPr>
        <p:spPr bwMode="gray">
          <a:xfrm>
            <a:off x="53340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7</a:t>
            </a:r>
            <a:endParaRPr lang="en-US" baseline="30000"/>
          </a:p>
        </p:txBody>
      </p:sp>
      <p:sp>
        <p:nvSpPr>
          <p:cNvPr id="14" name="AutoShape 6"/>
          <p:cNvSpPr>
            <a:spLocks noChangeArrowheads="1"/>
          </p:cNvSpPr>
          <p:nvPr/>
        </p:nvSpPr>
        <p:spPr bwMode="gray">
          <a:xfrm>
            <a:off x="57912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8</a:t>
            </a:r>
            <a:endParaRPr lang="en-US" baseline="30000"/>
          </a:p>
        </p:txBody>
      </p:sp>
      <p:sp>
        <p:nvSpPr>
          <p:cNvPr id="15" name="AutoShape 6"/>
          <p:cNvSpPr>
            <a:spLocks noChangeArrowheads="1"/>
          </p:cNvSpPr>
          <p:nvPr/>
        </p:nvSpPr>
        <p:spPr bwMode="gray">
          <a:xfrm>
            <a:off x="44196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5</a:t>
            </a:r>
            <a:endParaRPr lang="en-US" baseline="30000"/>
          </a:p>
        </p:txBody>
      </p:sp>
      <p:sp>
        <p:nvSpPr>
          <p:cNvPr id="16" name="AutoShape 6"/>
          <p:cNvSpPr>
            <a:spLocks noChangeArrowheads="1"/>
          </p:cNvSpPr>
          <p:nvPr/>
        </p:nvSpPr>
        <p:spPr bwMode="gray">
          <a:xfrm>
            <a:off x="48768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6</a:t>
            </a:r>
            <a:endParaRPr lang="en-US" baseline="30000"/>
          </a:p>
        </p:txBody>
      </p:sp>
      <p:sp>
        <p:nvSpPr>
          <p:cNvPr id="17" name="AutoShape 6"/>
          <p:cNvSpPr>
            <a:spLocks noChangeArrowheads="1"/>
          </p:cNvSpPr>
          <p:nvPr/>
        </p:nvSpPr>
        <p:spPr bwMode="gray">
          <a:xfrm>
            <a:off x="62484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9</a:t>
            </a:r>
            <a:endParaRPr lang="en-US" baseline="30000"/>
          </a:p>
        </p:txBody>
      </p:sp>
      <p:sp>
        <p:nvSpPr>
          <p:cNvPr id="18" name="TextBox 17"/>
          <p:cNvSpPr txBox="1">
            <a:spLocks noChangeArrowheads="1"/>
          </p:cNvSpPr>
          <p:nvPr/>
        </p:nvSpPr>
        <p:spPr bwMode="auto">
          <a:xfrm>
            <a:off x="304800" y="5229200"/>
            <a:ext cx="2133600" cy="400050"/>
          </a:xfrm>
          <a:prstGeom prst="rect">
            <a:avLst/>
          </a:prstGeom>
          <a:noFill/>
          <a:ln w="9525">
            <a:noFill/>
            <a:miter lim="800000"/>
            <a:headEnd/>
            <a:tailEnd/>
          </a:ln>
        </p:spPr>
        <p:txBody>
          <a:bodyPr>
            <a:spAutoFit/>
          </a:bodyPr>
          <a:lstStyle/>
          <a:p>
            <a:r>
              <a:rPr lang="en-US" sz="2000" b="1">
                <a:solidFill>
                  <a:schemeClr val="accent2"/>
                </a:solidFill>
                <a:latin typeface="Courier New" pitchFamily="49" charset="0"/>
                <a:cs typeface="Courier New" pitchFamily="49" charset="0"/>
              </a:rPr>
              <a:t>int a[3][4]</a:t>
            </a:r>
          </a:p>
        </p:txBody>
      </p:sp>
      <p:sp>
        <p:nvSpPr>
          <p:cNvPr id="19" name="AutoShape 6"/>
          <p:cNvSpPr>
            <a:spLocks noChangeArrowheads="1"/>
          </p:cNvSpPr>
          <p:nvPr/>
        </p:nvSpPr>
        <p:spPr bwMode="gray">
          <a:xfrm>
            <a:off x="67056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20" name="AutoShape 6"/>
          <p:cNvSpPr>
            <a:spLocks noChangeArrowheads="1"/>
          </p:cNvSpPr>
          <p:nvPr/>
        </p:nvSpPr>
        <p:spPr bwMode="gray">
          <a:xfrm>
            <a:off x="7162800" y="4723705"/>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21" name="AutoShape 6"/>
          <p:cNvSpPr>
            <a:spLocks noChangeArrowheads="1"/>
          </p:cNvSpPr>
          <p:nvPr/>
        </p:nvSpPr>
        <p:spPr bwMode="gray">
          <a:xfrm>
            <a:off x="21336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2" name="AutoShape 6"/>
          <p:cNvSpPr>
            <a:spLocks noChangeArrowheads="1"/>
          </p:cNvSpPr>
          <p:nvPr/>
        </p:nvSpPr>
        <p:spPr bwMode="gray">
          <a:xfrm>
            <a:off x="25908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3" name="AutoShape 6"/>
          <p:cNvSpPr>
            <a:spLocks noChangeArrowheads="1"/>
          </p:cNvSpPr>
          <p:nvPr/>
        </p:nvSpPr>
        <p:spPr bwMode="gray">
          <a:xfrm>
            <a:off x="30480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4" name="AutoShape 6"/>
          <p:cNvSpPr>
            <a:spLocks noChangeArrowheads="1"/>
          </p:cNvSpPr>
          <p:nvPr/>
        </p:nvSpPr>
        <p:spPr bwMode="gray">
          <a:xfrm>
            <a:off x="35052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35" name="AutoShape 6"/>
          <p:cNvSpPr>
            <a:spLocks noChangeArrowheads="1"/>
          </p:cNvSpPr>
          <p:nvPr/>
        </p:nvSpPr>
        <p:spPr bwMode="gray">
          <a:xfrm>
            <a:off x="39624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36" name="AutoShape 6"/>
          <p:cNvSpPr>
            <a:spLocks noChangeArrowheads="1"/>
          </p:cNvSpPr>
          <p:nvPr/>
        </p:nvSpPr>
        <p:spPr bwMode="gray">
          <a:xfrm>
            <a:off x="44196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37" name="AutoShape 6"/>
          <p:cNvSpPr>
            <a:spLocks noChangeArrowheads="1"/>
          </p:cNvSpPr>
          <p:nvPr/>
        </p:nvSpPr>
        <p:spPr bwMode="gray">
          <a:xfrm>
            <a:off x="48768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38" name="AutoShape 6"/>
          <p:cNvSpPr>
            <a:spLocks noChangeArrowheads="1"/>
          </p:cNvSpPr>
          <p:nvPr/>
        </p:nvSpPr>
        <p:spPr bwMode="gray">
          <a:xfrm>
            <a:off x="53340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57912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0" name="AutoShape 6"/>
          <p:cNvSpPr>
            <a:spLocks noChangeArrowheads="1"/>
          </p:cNvSpPr>
          <p:nvPr/>
        </p:nvSpPr>
        <p:spPr bwMode="gray">
          <a:xfrm>
            <a:off x="62484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1" name="AutoShape 6"/>
          <p:cNvSpPr>
            <a:spLocks noChangeArrowheads="1"/>
          </p:cNvSpPr>
          <p:nvPr/>
        </p:nvSpPr>
        <p:spPr bwMode="gray">
          <a:xfrm>
            <a:off x="67056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2" name="AutoShape 6"/>
          <p:cNvSpPr>
            <a:spLocks noChangeArrowheads="1"/>
          </p:cNvSpPr>
          <p:nvPr/>
        </p:nvSpPr>
        <p:spPr bwMode="gray">
          <a:xfrm>
            <a:off x="7162800" y="5180905"/>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43" name="Straight Arrow Connector 42"/>
          <p:cNvCxnSpPr>
            <a:stCxn id="44" idx="2"/>
          </p:cNvCxnSpPr>
          <p:nvPr/>
        </p:nvCxnSpPr>
        <p:spPr>
          <a:xfrm rot="5400000">
            <a:off x="1751807" y="4208561"/>
            <a:ext cx="1219200" cy="158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4" name="AutoShape 6"/>
          <p:cNvSpPr>
            <a:spLocks noChangeArrowheads="1"/>
          </p:cNvSpPr>
          <p:nvPr/>
        </p:nvSpPr>
        <p:spPr bwMode="gray">
          <a:xfrm>
            <a:off x="2132013" y="314096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r>
              <a:rPr lang="en-US" sz="2400">
                <a:solidFill>
                  <a:srgbClr val="FF0000"/>
                </a:solidFill>
              </a:rPr>
              <a:t>int *p = (int *)a</a:t>
            </a:r>
          </a:p>
        </p:txBody>
      </p:sp>
      <p:cxnSp>
        <p:nvCxnSpPr>
          <p:cNvPr id="45" name="Straight Arrow Connector 44"/>
          <p:cNvCxnSpPr/>
          <p:nvPr/>
        </p:nvCxnSpPr>
        <p:spPr>
          <a:xfrm rot="5400000">
            <a:off x="2629694" y="4626074"/>
            <a:ext cx="3810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6" name="AutoShape 6"/>
          <p:cNvSpPr>
            <a:spLocks noChangeArrowheads="1"/>
          </p:cNvSpPr>
          <p:nvPr/>
        </p:nvSpPr>
        <p:spPr bwMode="gray">
          <a:xfrm>
            <a:off x="2667000" y="3750568"/>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+1</a:t>
            </a:r>
          </a:p>
        </p:txBody>
      </p:sp>
      <p:cxnSp>
        <p:nvCxnSpPr>
          <p:cNvPr id="47" name="Straight Arrow Connector 46"/>
          <p:cNvCxnSpPr>
            <a:stCxn id="44" idx="2"/>
          </p:cNvCxnSpPr>
          <p:nvPr/>
        </p:nvCxnSpPr>
        <p:spPr>
          <a:xfrm rot="16200000" flipH="1">
            <a:off x="2170907" y="3787874"/>
            <a:ext cx="838200" cy="458787"/>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fld id="{B6A03641-2688-4B91-B218-0A8C916C7E6E}"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25</a:t>
            </a:fld>
            <a:r>
              <a:rPr lang="vi-VN"/>
              <a:t>/50</a:t>
            </a:r>
          </a:p>
        </p:txBody>
      </p:sp>
    </p:spTree>
    <p:extLst>
      <p:ext uri="{BB962C8B-B14F-4D97-AF65-F5344CB8AC3E}">
        <p14:creationId xmlns:p14="http://schemas.microsoft.com/office/powerpoint/2010/main" val="253553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500"/>
                                        <p:tgtEl>
                                          <p:spTgt spid="1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500"/>
                                        <p:tgtEl>
                                          <p:spTgt spid="44"/>
                                        </p:tgtEl>
                                      </p:cBhvr>
                                    </p:animEffect>
                                  </p:childTnLst>
                                </p:cTn>
                              </p:par>
                            </p:childTnLst>
                          </p:cTn>
                        </p:par>
                        <p:par>
                          <p:cTn id="88" fill="hold">
                            <p:stCondLst>
                              <p:cond delay="500"/>
                            </p:stCondLst>
                            <p:childTnLst>
                              <p:par>
                                <p:cTn id="89" presetID="22" presetClass="entr" presetSubtype="1" fill="hold" nodeType="afterEffect">
                                  <p:stCondLst>
                                    <p:cond delay="0"/>
                                  </p:stCondLst>
                                  <p:childTnLst>
                                    <p:set>
                                      <p:cBhvr>
                                        <p:cTn id="90" dur="1" fill="hold">
                                          <p:stCondLst>
                                            <p:cond delay="0"/>
                                          </p:stCondLst>
                                        </p:cTn>
                                        <p:tgtEl>
                                          <p:spTgt spid="43"/>
                                        </p:tgtEl>
                                        <p:attrNameLst>
                                          <p:attrName>style.visibility</p:attrName>
                                        </p:attrNameLst>
                                      </p:cBhvr>
                                      <p:to>
                                        <p:strVal val="visible"/>
                                      </p:to>
                                    </p:set>
                                    <p:animEffect transition="in" filter="wipe(up)">
                                      <p:cBhvr>
                                        <p:cTn id="91" dur="500"/>
                                        <p:tgtEl>
                                          <p:spTgt spid="4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500"/>
                                        <p:tgtEl>
                                          <p:spTgt spid="4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wipe(left)">
                                      <p:cBhvr>
                                        <p:cTn id="101" dur="500"/>
                                        <p:tgtEl>
                                          <p:spTgt spid="47"/>
                                        </p:tgtEl>
                                      </p:cBhvr>
                                    </p:animEffect>
                                  </p:childTnLst>
                                </p:cTn>
                              </p:par>
                            </p:childTnLst>
                          </p:cTn>
                        </p:par>
                        <p:par>
                          <p:cTn id="102" fill="hold">
                            <p:stCondLst>
                              <p:cond delay="500"/>
                            </p:stCondLst>
                            <p:childTnLst>
                              <p:par>
                                <p:cTn id="103" presetID="22" presetClass="entr" presetSubtype="1" fill="hold" nodeType="after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wipe(up)">
                                      <p:cBhvr>
                                        <p:cTn id="10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animBg="1"/>
      <p:bldP spid="20" grpId="0" animBg="1"/>
      <p:bldP spid="21" grpId="0" animBg="1"/>
      <p:bldP spid="22" grpId="0" animBg="1"/>
      <p:bldP spid="23" grpId="0" animBg="1"/>
      <p:bldP spid="24" grpId="0" animBg="1"/>
      <p:bldP spid="35" grpId="0" animBg="1"/>
      <p:bldP spid="36" grpId="0" animBg="1"/>
      <p:bldP spid="37" grpId="0" animBg="1"/>
      <p:bldP spid="38" grpId="0" animBg="1"/>
      <p:bldP spid="39" grpId="0" animBg="1"/>
      <p:bldP spid="40" grpId="0" animBg="1"/>
      <p:bldP spid="41" grpId="0" animBg="1"/>
      <p:bldP spid="42" grpId="0" animBg="1"/>
      <p:bldP spid="44" grpId="0" animBg="1"/>
      <p:bldP spid="4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Con trỏ và mảng 2 chiều (tt)</a:t>
            </a:r>
          </a:p>
        </p:txBody>
      </p:sp>
      <p:sp>
        <p:nvSpPr>
          <p:cNvPr id="3" name="Content Placeholder 2"/>
          <p:cNvSpPr>
            <a:spLocks noGrp="1"/>
          </p:cNvSpPr>
          <p:nvPr>
            <p:ph idx="1"/>
          </p:nvPr>
        </p:nvSpPr>
        <p:spPr/>
        <p:txBody>
          <a:bodyPr/>
          <a:lstStyle/>
          <a:p>
            <a:pPr>
              <a:defRPr/>
            </a:pPr>
            <a:r>
              <a:rPr lang="en-US"/>
              <a:t>Nhập / Xuất theo chỉ số mảng 1 chiều</a:t>
            </a:r>
          </a:p>
        </p:txBody>
      </p:sp>
      <p:sp>
        <p:nvSpPr>
          <p:cNvPr id="5" name="Rounded Rectangle 4"/>
          <p:cNvSpPr/>
          <p:nvPr/>
        </p:nvSpPr>
        <p:spPr>
          <a:xfrm>
            <a:off x="685800" y="1600794"/>
            <a:ext cx="152400" cy="4780533"/>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556792"/>
            <a:ext cx="8305800" cy="5016758"/>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a[D][C], i,m,n;</a:t>
            </a:r>
          </a:p>
          <a:p>
            <a:r>
              <a:rPr lang="en-US" sz="2000" b="1">
                <a:latin typeface="Courier New" pitchFamily="49" charset="0"/>
                <a:cs typeface="Courier New" pitchFamily="49" charset="0"/>
              </a:rPr>
              <a:t>	int </a:t>
            </a:r>
            <a:r>
              <a:rPr lang="en-US" sz="2000" b="1">
                <a:solidFill>
                  <a:srgbClr val="FF0000"/>
                </a:solidFill>
                <a:latin typeface="Courier New" pitchFamily="49" charset="0"/>
                <a:cs typeface="Courier New" pitchFamily="49" charset="0"/>
              </a:rPr>
              <a:t>*p</a:t>
            </a:r>
            <a:r>
              <a:rPr lang="en-US" sz="2000" b="1">
                <a:latin typeface="Courier New" pitchFamily="49" charset="0"/>
                <a:cs typeface="Courier New" pitchFamily="49" charset="0"/>
              </a:rPr>
              <a:t> = </a:t>
            </a:r>
            <a:r>
              <a:rPr lang="en-US" sz="2000" b="1">
                <a:solidFill>
                  <a:srgbClr val="FF0000"/>
                </a:solidFill>
                <a:latin typeface="Courier New" pitchFamily="49" charset="0"/>
                <a:cs typeface="Courier New" pitchFamily="49" charset="0"/>
              </a:rPr>
              <a:t>(int *)a</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printf("Nhap so dong, so cot: ");</a:t>
            </a:r>
          </a:p>
          <a:p>
            <a:r>
              <a:rPr lang="en-US" sz="2000" b="1">
                <a:latin typeface="Courier New" pitchFamily="49" charset="0"/>
                <a:cs typeface="Courier New" pitchFamily="49" charset="0"/>
              </a:rPr>
              <a:t>	scanf("%d%d",&amp;m,&amp;n);</a:t>
            </a:r>
          </a:p>
          <a:p>
            <a:r>
              <a:rPr lang="en-US" sz="2000" b="1">
                <a:latin typeface="Courier New" pitchFamily="49" charset="0"/>
                <a:cs typeface="Courier New" pitchFamily="49" charset="0"/>
              </a:rPr>
              <a:t>	for (i = 0; i &lt; </a:t>
            </a:r>
            <a:r>
              <a:rPr lang="en-US" sz="2000" b="1">
                <a:solidFill>
                  <a:srgbClr val="FF0000"/>
                </a:solidFill>
                <a:latin typeface="Courier New" pitchFamily="49" charset="0"/>
                <a:cs typeface="Courier New" pitchFamily="49" charset="0"/>
              </a:rPr>
              <a:t>m*n</a:t>
            </a:r>
            <a:r>
              <a:rPr lang="en-US" sz="2000" b="1">
                <a:latin typeface="Courier New" pitchFamily="49" charset="0"/>
                <a:cs typeface="Courier New" pitchFamily="49" charset="0"/>
              </a:rPr>
              <a:t>; i++)</a:t>
            </a:r>
          </a:p>
          <a:p>
            <a:r>
              <a:rPr lang="en-US" sz="2000" b="1">
                <a:latin typeface="Courier New" pitchFamily="49" charset="0"/>
                <a:cs typeface="Courier New" pitchFamily="49" charset="0"/>
              </a:rPr>
              <a:t>	{	printf("Nhap phan tu thu %d: ", i);</a:t>
            </a:r>
          </a:p>
          <a:p>
            <a:r>
              <a:rPr lang="en-US" sz="2000" b="1">
                <a:latin typeface="Courier New" pitchFamily="49" charset="0"/>
                <a:cs typeface="Courier New" pitchFamily="49" charset="0"/>
              </a:rPr>
              <a:t>		scanf("%d", </a:t>
            </a:r>
            <a:r>
              <a:rPr lang="en-US" sz="2000" b="1">
                <a:solidFill>
                  <a:srgbClr val="FF0000"/>
                </a:solidFill>
                <a:latin typeface="Courier New" pitchFamily="49" charset="0"/>
                <a:cs typeface="Courier New" pitchFamily="49" charset="0"/>
              </a:rPr>
              <a:t>p + i</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	for (i = 0; i &lt; m*n; i++)</a:t>
            </a:r>
          </a:p>
          <a:p>
            <a:r>
              <a:rPr lang="en-US" sz="2000" b="1">
                <a:latin typeface="Courier New" pitchFamily="49" charset="0"/>
                <a:cs typeface="Courier New" pitchFamily="49" charset="0"/>
              </a:rPr>
              <a:t>		{  printf("%5d ", </a:t>
            </a:r>
            <a:r>
              <a:rPr lang="en-US" sz="2000" b="1">
                <a:solidFill>
                  <a:srgbClr val="FF0000"/>
                </a:solidFill>
                <a:latin typeface="Courier New" pitchFamily="49" charset="0"/>
                <a:cs typeface="Courier New" pitchFamily="49" charset="0"/>
              </a:rPr>
              <a:t>*(p + i)</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if ((i+1)%n==0) printf("\n");</a:t>
            </a:r>
          </a:p>
          <a:p>
            <a:r>
              <a:rPr lang="en-US" sz="2000" b="1">
                <a:latin typeface="Courier New" pitchFamily="49" charset="0"/>
                <a:cs typeface="Courier New" pitchFamily="49" charset="0"/>
              </a:rPr>
              <a:t>         	}    </a:t>
            </a:r>
          </a:p>
          <a:p>
            <a:r>
              <a:rPr lang="en-US" sz="2000" b="1">
                <a:latin typeface="Courier New" pitchFamily="49" charset="0"/>
                <a:cs typeface="Courier New" pitchFamily="49" charset="0"/>
              </a:rPr>
              <a:t>	getch();</a:t>
            </a:r>
          </a:p>
          <a:p>
            <a:r>
              <a:rPr lang="en-US" sz="2000" b="1">
                <a:latin typeface="Courier New" pitchFamily="49" charset="0"/>
                <a:cs typeface="Courier New" pitchFamily="49" charset="0"/>
              </a:rPr>
              <a:t>}</a:t>
            </a:r>
          </a:p>
        </p:txBody>
      </p:sp>
      <p:sp>
        <p:nvSpPr>
          <p:cNvPr id="10" name="Date Placeholder 9"/>
          <p:cNvSpPr>
            <a:spLocks noGrp="1"/>
          </p:cNvSpPr>
          <p:nvPr>
            <p:ph type="dt" sz="half" idx="10"/>
          </p:nvPr>
        </p:nvSpPr>
        <p:spPr/>
        <p:txBody>
          <a:bodyPr/>
          <a:lstStyle/>
          <a:p>
            <a:fld id="{A70EA00F-6DA6-415F-AB71-20D44AA40F57}" type="datetime1">
              <a:rPr lang="vi-VN" smtClean="0"/>
              <a:t>14/01/2024</a:t>
            </a:fld>
            <a:endParaRPr lang="vi-VN"/>
          </a:p>
        </p:txBody>
      </p:sp>
      <p:sp>
        <p:nvSpPr>
          <p:cNvPr id="11" name="Footer Placeholder 10"/>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26</a:t>
            </a:fld>
            <a:r>
              <a:rPr lang="vi-VN"/>
              <a:t>/50</a:t>
            </a:r>
          </a:p>
        </p:txBody>
      </p:sp>
    </p:spTree>
    <p:extLst>
      <p:ext uri="{BB962C8B-B14F-4D97-AF65-F5344CB8AC3E}">
        <p14:creationId xmlns:p14="http://schemas.microsoft.com/office/powerpoint/2010/main" val="305925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AutoShape 6"/>
          <p:cNvSpPr>
            <a:spLocks noChangeArrowheads="1"/>
          </p:cNvSpPr>
          <p:nvPr/>
        </p:nvSpPr>
        <p:spPr bwMode="gray">
          <a:xfrm>
            <a:off x="2667000" y="44958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4" name="AutoShape 6"/>
          <p:cNvSpPr>
            <a:spLocks noChangeArrowheads="1"/>
          </p:cNvSpPr>
          <p:nvPr/>
        </p:nvSpPr>
        <p:spPr bwMode="gray">
          <a:xfrm>
            <a:off x="3124200" y="44958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5" name="AutoShape 6"/>
          <p:cNvSpPr>
            <a:spLocks noChangeArrowheads="1"/>
          </p:cNvSpPr>
          <p:nvPr/>
        </p:nvSpPr>
        <p:spPr bwMode="gray">
          <a:xfrm>
            <a:off x="3581400" y="44958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6" name="AutoShape 6"/>
          <p:cNvSpPr>
            <a:spLocks noChangeArrowheads="1"/>
          </p:cNvSpPr>
          <p:nvPr/>
        </p:nvSpPr>
        <p:spPr bwMode="gray">
          <a:xfrm>
            <a:off x="4038600" y="44958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7" name="AutoShape 6"/>
          <p:cNvSpPr>
            <a:spLocks noChangeArrowheads="1"/>
          </p:cNvSpPr>
          <p:nvPr/>
        </p:nvSpPr>
        <p:spPr bwMode="gray">
          <a:xfrm>
            <a:off x="2667000" y="49530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8" name="AutoShape 6"/>
          <p:cNvSpPr>
            <a:spLocks noChangeArrowheads="1"/>
          </p:cNvSpPr>
          <p:nvPr/>
        </p:nvSpPr>
        <p:spPr bwMode="gray">
          <a:xfrm>
            <a:off x="3124200" y="49530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79" name="AutoShape 6"/>
          <p:cNvSpPr>
            <a:spLocks noChangeArrowheads="1"/>
          </p:cNvSpPr>
          <p:nvPr/>
        </p:nvSpPr>
        <p:spPr bwMode="gray">
          <a:xfrm>
            <a:off x="3581400" y="49530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80" name="AutoShape 6"/>
          <p:cNvSpPr>
            <a:spLocks noChangeArrowheads="1"/>
          </p:cNvSpPr>
          <p:nvPr/>
        </p:nvSpPr>
        <p:spPr bwMode="gray">
          <a:xfrm>
            <a:off x="4038600" y="4953000"/>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26634" name="Title 1"/>
          <p:cNvSpPr>
            <a:spLocks noGrp="1"/>
          </p:cNvSpPr>
          <p:nvPr>
            <p:ph type="title"/>
          </p:nvPr>
        </p:nvSpPr>
        <p:spPr/>
        <p:txBody>
          <a:bodyPr/>
          <a:lstStyle/>
          <a:p>
            <a:r>
              <a:rPr lang="en-US"/>
              <a:t>Con trỏ và mảng 2 chiều (tt)</a:t>
            </a:r>
          </a:p>
        </p:txBody>
      </p:sp>
      <p:sp>
        <p:nvSpPr>
          <p:cNvPr id="3" name="Content Placeholder 2"/>
          <p:cNvSpPr>
            <a:spLocks noGrp="1"/>
          </p:cNvSpPr>
          <p:nvPr>
            <p:ph idx="1"/>
          </p:nvPr>
        </p:nvSpPr>
        <p:spPr/>
        <p:txBody>
          <a:bodyPr/>
          <a:lstStyle/>
          <a:p>
            <a:pPr>
              <a:defRPr/>
            </a:pPr>
            <a:r>
              <a:rPr lang="en-US"/>
              <a:t>Liên hệ giữa chỉ số mảng 1 chiều và chỉ số mảng 2 chiều?</a:t>
            </a:r>
          </a:p>
        </p:txBody>
      </p:sp>
      <p:sp>
        <p:nvSpPr>
          <p:cNvPr id="43" name="AutoShape 6"/>
          <p:cNvSpPr>
            <a:spLocks noChangeArrowheads="1"/>
          </p:cNvSpPr>
          <p:nvPr/>
        </p:nvSpPr>
        <p:spPr bwMode="gray">
          <a:xfrm>
            <a:off x="2209800" y="40386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t>
            </a:r>
            <a:endParaRPr lang="en-US" baseline="30000"/>
          </a:p>
        </p:txBody>
      </p:sp>
      <p:sp>
        <p:nvSpPr>
          <p:cNvPr id="44" name="AutoShape 6"/>
          <p:cNvSpPr>
            <a:spLocks noChangeArrowheads="1"/>
          </p:cNvSpPr>
          <p:nvPr/>
        </p:nvSpPr>
        <p:spPr bwMode="gray">
          <a:xfrm>
            <a:off x="2209800" y="44958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t>
            </a:r>
            <a:endParaRPr lang="en-US" baseline="30000"/>
          </a:p>
        </p:txBody>
      </p:sp>
      <p:sp>
        <p:nvSpPr>
          <p:cNvPr id="45" name="AutoShape 6"/>
          <p:cNvSpPr>
            <a:spLocks noChangeArrowheads="1"/>
          </p:cNvSpPr>
          <p:nvPr/>
        </p:nvSpPr>
        <p:spPr bwMode="gray">
          <a:xfrm>
            <a:off x="2209800" y="49530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t>
            </a:r>
            <a:endParaRPr lang="en-US" baseline="30000"/>
          </a:p>
        </p:txBody>
      </p:sp>
      <p:sp>
        <p:nvSpPr>
          <p:cNvPr id="46" name="AutoShape 6"/>
          <p:cNvSpPr>
            <a:spLocks noChangeArrowheads="1"/>
          </p:cNvSpPr>
          <p:nvPr/>
        </p:nvSpPr>
        <p:spPr bwMode="gray">
          <a:xfrm>
            <a:off x="26670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t>
            </a:r>
            <a:endParaRPr lang="en-US" baseline="30000"/>
          </a:p>
        </p:txBody>
      </p:sp>
      <p:sp>
        <p:nvSpPr>
          <p:cNvPr id="47" name="AutoShape 6"/>
          <p:cNvSpPr>
            <a:spLocks noChangeArrowheads="1"/>
          </p:cNvSpPr>
          <p:nvPr/>
        </p:nvSpPr>
        <p:spPr bwMode="gray">
          <a:xfrm>
            <a:off x="31242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t>
            </a:r>
            <a:endParaRPr lang="en-US" baseline="30000"/>
          </a:p>
        </p:txBody>
      </p:sp>
      <p:sp>
        <p:nvSpPr>
          <p:cNvPr id="48" name="AutoShape 6"/>
          <p:cNvSpPr>
            <a:spLocks noChangeArrowheads="1"/>
          </p:cNvSpPr>
          <p:nvPr/>
        </p:nvSpPr>
        <p:spPr bwMode="gray">
          <a:xfrm>
            <a:off x="35814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t>
            </a:r>
            <a:endParaRPr lang="en-US" baseline="30000"/>
          </a:p>
        </p:txBody>
      </p:sp>
      <p:sp>
        <p:nvSpPr>
          <p:cNvPr id="49" name="AutoShape 6"/>
          <p:cNvSpPr>
            <a:spLocks noChangeArrowheads="1"/>
          </p:cNvSpPr>
          <p:nvPr/>
        </p:nvSpPr>
        <p:spPr bwMode="gray">
          <a:xfrm>
            <a:off x="40386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a:t>
            </a:r>
            <a:endParaRPr lang="en-US" baseline="30000"/>
          </a:p>
        </p:txBody>
      </p:sp>
      <p:sp>
        <p:nvSpPr>
          <p:cNvPr id="50" name="AutoShape 6"/>
          <p:cNvSpPr>
            <a:spLocks noChangeArrowheads="1"/>
          </p:cNvSpPr>
          <p:nvPr/>
        </p:nvSpPr>
        <p:spPr bwMode="gray">
          <a:xfrm>
            <a:off x="44958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4</a:t>
            </a:r>
            <a:endParaRPr lang="en-US" baseline="30000"/>
          </a:p>
        </p:txBody>
      </p:sp>
      <p:sp>
        <p:nvSpPr>
          <p:cNvPr id="51" name="AutoShape 6"/>
          <p:cNvSpPr>
            <a:spLocks noChangeArrowheads="1"/>
          </p:cNvSpPr>
          <p:nvPr/>
        </p:nvSpPr>
        <p:spPr bwMode="gray">
          <a:xfrm>
            <a:off x="58674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7</a:t>
            </a:r>
            <a:endParaRPr lang="en-US" baseline="30000"/>
          </a:p>
        </p:txBody>
      </p:sp>
      <p:sp>
        <p:nvSpPr>
          <p:cNvPr id="52" name="AutoShape 6"/>
          <p:cNvSpPr>
            <a:spLocks noChangeArrowheads="1"/>
          </p:cNvSpPr>
          <p:nvPr/>
        </p:nvSpPr>
        <p:spPr bwMode="gray">
          <a:xfrm>
            <a:off x="63246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8</a:t>
            </a:r>
            <a:endParaRPr lang="en-US" baseline="30000"/>
          </a:p>
        </p:txBody>
      </p:sp>
      <p:sp>
        <p:nvSpPr>
          <p:cNvPr id="53" name="AutoShape 6"/>
          <p:cNvSpPr>
            <a:spLocks noChangeArrowheads="1"/>
          </p:cNvSpPr>
          <p:nvPr/>
        </p:nvSpPr>
        <p:spPr bwMode="gray">
          <a:xfrm>
            <a:off x="49530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5</a:t>
            </a:r>
            <a:endParaRPr lang="en-US" baseline="30000"/>
          </a:p>
        </p:txBody>
      </p:sp>
      <p:sp>
        <p:nvSpPr>
          <p:cNvPr id="54" name="AutoShape 6"/>
          <p:cNvSpPr>
            <a:spLocks noChangeArrowheads="1"/>
          </p:cNvSpPr>
          <p:nvPr/>
        </p:nvSpPr>
        <p:spPr bwMode="gray">
          <a:xfrm>
            <a:off x="54102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6</a:t>
            </a:r>
            <a:endParaRPr lang="en-US" baseline="30000"/>
          </a:p>
        </p:txBody>
      </p:sp>
      <p:sp>
        <p:nvSpPr>
          <p:cNvPr id="55" name="AutoShape 6"/>
          <p:cNvSpPr>
            <a:spLocks noChangeArrowheads="1"/>
          </p:cNvSpPr>
          <p:nvPr/>
        </p:nvSpPr>
        <p:spPr bwMode="gray">
          <a:xfrm>
            <a:off x="67818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9</a:t>
            </a:r>
            <a:endParaRPr lang="en-US" baseline="30000"/>
          </a:p>
        </p:txBody>
      </p:sp>
      <p:sp>
        <p:nvSpPr>
          <p:cNvPr id="56" name="TextBox 55"/>
          <p:cNvSpPr txBox="1">
            <a:spLocks noChangeArrowheads="1"/>
          </p:cNvSpPr>
          <p:nvPr/>
        </p:nvSpPr>
        <p:spPr bwMode="auto">
          <a:xfrm>
            <a:off x="609600" y="4114800"/>
            <a:ext cx="1828800" cy="400050"/>
          </a:xfrm>
          <a:prstGeom prst="rect">
            <a:avLst/>
          </a:prstGeom>
          <a:noFill/>
          <a:ln w="9525">
            <a:noFill/>
            <a:miter lim="800000"/>
            <a:headEnd/>
            <a:tailEnd/>
          </a:ln>
        </p:spPr>
        <p:txBody>
          <a:bodyPr>
            <a:spAutoFit/>
          </a:bodyPr>
          <a:lstStyle/>
          <a:p>
            <a:r>
              <a:rPr lang="en-US" sz="2000" b="1">
                <a:solidFill>
                  <a:schemeClr val="accent2"/>
                </a:solidFill>
                <a:latin typeface="Courier New" pitchFamily="49" charset="0"/>
                <a:cs typeface="Courier New" pitchFamily="49" charset="0"/>
              </a:rPr>
              <a:t>a</a:t>
            </a:r>
            <a:r>
              <a:rPr lang="en-US" sz="2000" b="1" baseline="-25000">
                <a:solidFill>
                  <a:schemeClr val="accent2"/>
                </a:solidFill>
                <a:latin typeface="Courier New" pitchFamily="49" charset="0"/>
                <a:cs typeface="Courier New" pitchFamily="49" charset="0"/>
              </a:rPr>
              <a:t>DxC</a:t>
            </a:r>
          </a:p>
        </p:txBody>
      </p:sp>
      <p:sp>
        <p:nvSpPr>
          <p:cNvPr id="57" name="AutoShape 6"/>
          <p:cNvSpPr>
            <a:spLocks noChangeArrowheads="1"/>
          </p:cNvSpPr>
          <p:nvPr/>
        </p:nvSpPr>
        <p:spPr bwMode="gray">
          <a:xfrm>
            <a:off x="72390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58" name="AutoShape 6"/>
          <p:cNvSpPr>
            <a:spLocks noChangeArrowheads="1"/>
          </p:cNvSpPr>
          <p:nvPr/>
        </p:nvSpPr>
        <p:spPr bwMode="gray">
          <a:xfrm>
            <a:off x="7696200" y="3581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59" name="AutoShape 6"/>
          <p:cNvSpPr>
            <a:spLocks noChangeArrowheads="1"/>
          </p:cNvSpPr>
          <p:nvPr/>
        </p:nvSpPr>
        <p:spPr bwMode="gray">
          <a:xfrm>
            <a:off x="2667000" y="40386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0" name="AutoShape 6"/>
          <p:cNvSpPr>
            <a:spLocks noChangeArrowheads="1"/>
          </p:cNvSpPr>
          <p:nvPr/>
        </p:nvSpPr>
        <p:spPr bwMode="gray">
          <a:xfrm>
            <a:off x="3124200" y="40386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1" name="AutoShape 6"/>
          <p:cNvSpPr>
            <a:spLocks noChangeArrowheads="1"/>
          </p:cNvSpPr>
          <p:nvPr/>
        </p:nvSpPr>
        <p:spPr bwMode="gray">
          <a:xfrm>
            <a:off x="3581400" y="40386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2" name="AutoShape 6"/>
          <p:cNvSpPr>
            <a:spLocks noChangeArrowheads="1"/>
          </p:cNvSpPr>
          <p:nvPr/>
        </p:nvSpPr>
        <p:spPr bwMode="gray">
          <a:xfrm>
            <a:off x="4038600" y="40386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3" name="AutoShape 6"/>
          <p:cNvSpPr>
            <a:spLocks noChangeArrowheads="1"/>
          </p:cNvSpPr>
          <p:nvPr/>
        </p:nvSpPr>
        <p:spPr bwMode="gray">
          <a:xfrm>
            <a:off x="2667000" y="44958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4" name="AutoShape 6"/>
          <p:cNvSpPr>
            <a:spLocks noChangeArrowheads="1"/>
          </p:cNvSpPr>
          <p:nvPr/>
        </p:nvSpPr>
        <p:spPr bwMode="gray">
          <a:xfrm>
            <a:off x="4038600" y="44958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5" name="AutoShape 6"/>
          <p:cNvSpPr>
            <a:spLocks noChangeArrowheads="1"/>
          </p:cNvSpPr>
          <p:nvPr/>
        </p:nvSpPr>
        <p:spPr bwMode="gray">
          <a:xfrm>
            <a:off x="2667000" y="49530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6" name="AutoShape 6"/>
          <p:cNvSpPr>
            <a:spLocks noChangeArrowheads="1"/>
          </p:cNvSpPr>
          <p:nvPr/>
        </p:nvSpPr>
        <p:spPr bwMode="gray">
          <a:xfrm>
            <a:off x="3124200" y="44958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7" name="AutoShape 6"/>
          <p:cNvSpPr>
            <a:spLocks noChangeArrowheads="1"/>
          </p:cNvSpPr>
          <p:nvPr/>
        </p:nvSpPr>
        <p:spPr bwMode="gray">
          <a:xfrm>
            <a:off x="3581400" y="44958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8" name="AutoShape 6"/>
          <p:cNvSpPr>
            <a:spLocks noChangeArrowheads="1"/>
          </p:cNvSpPr>
          <p:nvPr/>
        </p:nvSpPr>
        <p:spPr bwMode="gray">
          <a:xfrm>
            <a:off x="3581400" y="49530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9" name="AutoShape 6"/>
          <p:cNvSpPr>
            <a:spLocks noChangeArrowheads="1"/>
          </p:cNvSpPr>
          <p:nvPr/>
        </p:nvSpPr>
        <p:spPr bwMode="gray">
          <a:xfrm>
            <a:off x="4038600" y="49530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70" name="AutoShape 6"/>
          <p:cNvSpPr>
            <a:spLocks noChangeArrowheads="1"/>
          </p:cNvSpPr>
          <p:nvPr/>
        </p:nvSpPr>
        <p:spPr bwMode="gray">
          <a:xfrm>
            <a:off x="3124200" y="4953000"/>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cxnSp>
        <p:nvCxnSpPr>
          <p:cNvPr id="81" name="Straight Arrow Connector 80"/>
          <p:cNvCxnSpPr/>
          <p:nvPr/>
        </p:nvCxnSpPr>
        <p:spPr>
          <a:xfrm rot="5400000">
            <a:off x="4533901" y="3695700"/>
            <a:ext cx="1295400" cy="31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rot="10800000">
            <a:off x="2133600" y="4724400"/>
            <a:ext cx="1219200" cy="158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rot="5400000" flipH="1" flipV="1">
            <a:off x="1295401" y="3886200"/>
            <a:ext cx="1676400" cy="3175"/>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rot="5400000" flipH="1" flipV="1">
            <a:off x="6553201" y="4724400"/>
            <a:ext cx="914400" cy="3175"/>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6" name="AutoShape 6"/>
          <p:cNvSpPr>
            <a:spLocks noChangeArrowheads="1"/>
          </p:cNvSpPr>
          <p:nvPr/>
        </p:nvSpPr>
        <p:spPr bwMode="gray">
          <a:xfrm>
            <a:off x="3276600" y="25908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(d, c) </a:t>
            </a:r>
            <a:r>
              <a:rPr lang="en-US">
                <a:sym typeface="Wingdings" pitchFamily="2" charset="2"/>
              </a:rPr>
              <a:t> i ?</a:t>
            </a:r>
            <a:endParaRPr lang="en-US" baseline="30000"/>
          </a:p>
        </p:txBody>
      </p:sp>
      <p:sp>
        <p:nvSpPr>
          <p:cNvPr id="107" name="AutoShape 6"/>
          <p:cNvSpPr>
            <a:spLocks noChangeArrowheads="1"/>
          </p:cNvSpPr>
          <p:nvPr/>
        </p:nvSpPr>
        <p:spPr bwMode="gray">
          <a:xfrm>
            <a:off x="5486400" y="47244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i </a:t>
            </a:r>
            <a:r>
              <a:rPr lang="en-US">
                <a:sym typeface="Wingdings" pitchFamily="2" charset="2"/>
              </a:rPr>
              <a:t> (d, c) ?</a:t>
            </a:r>
            <a:endParaRPr lang="en-US" baseline="30000"/>
          </a:p>
        </p:txBody>
      </p:sp>
      <p:sp>
        <p:nvSpPr>
          <p:cNvPr id="111" name="AutoShape 6"/>
          <p:cNvSpPr>
            <a:spLocks noChangeArrowheads="1"/>
          </p:cNvSpPr>
          <p:nvPr/>
        </p:nvSpPr>
        <p:spPr bwMode="gray">
          <a:xfrm>
            <a:off x="3276600" y="30480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i = d*C + c</a:t>
            </a:r>
            <a:endParaRPr lang="en-US" baseline="30000">
              <a:solidFill>
                <a:srgbClr val="FF0000"/>
              </a:solidFill>
            </a:endParaRPr>
          </a:p>
        </p:txBody>
      </p:sp>
      <p:cxnSp>
        <p:nvCxnSpPr>
          <p:cNvPr id="88" name="Straight Arrow Connector 87"/>
          <p:cNvCxnSpPr/>
          <p:nvPr/>
        </p:nvCxnSpPr>
        <p:spPr>
          <a:xfrm>
            <a:off x="2133600" y="3048000"/>
            <a:ext cx="3048000" cy="158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2" name="AutoShape 6"/>
          <p:cNvSpPr>
            <a:spLocks noChangeArrowheads="1"/>
          </p:cNvSpPr>
          <p:nvPr/>
        </p:nvSpPr>
        <p:spPr bwMode="gray">
          <a:xfrm>
            <a:off x="5486400" y="5257800"/>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d = i / C</a:t>
            </a:r>
          </a:p>
          <a:p>
            <a:pPr algn="ctr">
              <a:defRPr/>
            </a:pPr>
            <a:r>
              <a:rPr lang="en-US">
                <a:solidFill>
                  <a:srgbClr val="FF0000"/>
                </a:solidFill>
              </a:rPr>
              <a:t>c = i % C</a:t>
            </a:r>
            <a:endParaRPr lang="en-US" baseline="30000">
              <a:solidFill>
                <a:srgbClr val="FF0000"/>
              </a:solidFill>
            </a:endParaRPr>
          </a:p>
        </p:txBody>
      </p:sp>
      <p:cxnSp>
        <p:nvCxnSpPr>
          <p:cNvPr id="97" name="Straight Arrow Connector 96"/>
          <p:cNvCxnSpPr/>
          <p:nvPr/>
        </p:nvCxnSpPr>
        <p:spPr>
          <a:xfrm rot="10800000">
            <a:off x="3352800" y="5181600"/>
            <a:ext cx="3657600" cy="1588"/>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fld id="{51021DFA-495A-4182-899F-A2B704069A18}"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27</a:t>
            </a:fld>
            <a:r>
              <a:rPr lang="vi-VN"/>
              <a:t>/50</a:t>
            </a:r>
          </a:p>
        </p:txBody>
      </p:sp>
    </p:spTree>
    <p:extLst>
      <p:ext uri="{BB962C8B-B14F-4D97-AF65-F5344CB8AC3E}">
        <p14:creationId xmlns:p14="http://schemas.microsoft.com/office/powerpoint/2010/main" val="177351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anim calcmode="lin" valueType="num">
                                      <p:cBhvr>
                                        <p:cTn id="8" dur="500" fill="hold"/>
                                        <p:tgtEl>
                                          <p:spTgt spid="56"/>
                                        </p:tgtEl>
                                        <p:attrNameLst>
                                          <p:attrName>ppt_x</p:attrName>
                                        </p:attrNameLst>
                                      </p:cBhvr>
                                      <p:tavLst>
                                        <p:tav tm="0">
                                          <p:val>
                                            <p:strVal val="#ppt_x"/>
                                          </p:val>
                                        </p:tav>
                                        <p:tav tm="100000">
                                          <p:val>
                                            <p:strVal val="#ppt_x"/>
                                          </p:val>
                                        </p:tav>
                                      </p:tavLst>
                                    </p:anim>
                                    <p:anim calcmode="lin" valueType="num">
                                      <p:cBhvr>
                                        <p:cTn id="9" dur="500" fill="hold"/>
                                        <p:tgtEl>
                                          <p:spTgt spid="5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500"/>
                                        <p:tgtEl>
                                          <p:spTgt spid="6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500"/>
                                        <p:tgtEl>
                                          <p:spTgt spid="6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fade">
                                      <p:cBhvr>
                                        <p:cTn id="28" dur="500"/>
                                        <p:tgtEl>
                                          <p:spTgt spid="6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500"/>
                                        <p:tgtEl>
                                          <p:spTgt spid="6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fade">
                                      <p:cBhvr>
                                        <p:cTn id="34" dur="500"/>
                                        <p:tgtEl>
                                          <p:spTgt spid="6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fade">
                                      <p:cBhvr>
                                        <p:cTn id="40" dur="500"/>
                                        <p:tgtEl>
                                          <p:spTgt spid="6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fade">
                                      <p:cBhvr>
                                        <p:cTn id="46" dur="500"/>
                                        <p:tgtEl>
                                          <p:spTgt spid="70"/>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500"/>
                                        <p:tgtEl>
                                          <p:spTgt spid="4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500"/>
                                        <p:tgtEl>
                                          <p:spTgt spid="4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00"/>
                                        <p:tgtEl>
                                          <p:spTgt spid="4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fade">
                                      <p:cBhvr>
                                        <p:cTn id="73" dur="500"/>
                                        <p:tgtEl>
                                          <p:spTgt spid="7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4"/>
                                        </p:tgtEl>
                                        <p:attrNameLst>
                                          <p:attrName>style.visibility</p:attrName>
                                        </p:attrNameLst>
                                      </p:cBhvr>
                                      <p:to>
                                        <p:strVal val="visible"/>
                                      </p:to>
                                    </p:set>
                                    <p:animEffect transition="in" filter="fade">
                                      <p:cBhvr>
                                        <p:cTn id="76" dur="500"/>
                                        <p:tgtEl>
                                          <p:spTgt spid="7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animEffect transition="in" filter="fade">
                                      <p:cBhvr>
                                        <p:cTn id="79" dur="500"/>
                                        <p:tgtEl>
                                          <p:spTgt spid="7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fade">
                                      <p:cBhvr>
                                        <p:cTn id="82" dur="500"/>
                                        <p:tgtEl>
                                          <p:spTgt spid="76"/>
                                        </p:tgtEl>
                                      </p:cBhvr>
                                    </p:animEffect>
                                  </p:childTnLst>
                                </p:cTn>
                              </p:par>
                              <p:par>
                                <p:cTn id="83" presetID="56" presetClass="path" presetSubtype="0" accel="50000" decel="50000" fill="hold" grpId="1" nodeType="withEffect">
                                  <p:stCondLst>
                                    <p:cond delay="0"/>
                                  </p:stCondLst>
                                  <p:childTnLst>
                                    <p:animMotion origin="layout" path="M 3.33333E-6 0.00116 L 0.2 -0.06546 " pathEditMode="relative" rAng="0" ptsTypes="AA">
                                      <p:cBhvr>
                                        <p:cTn id="84" dur="500" fill="hold"/>
                                        <p:tgtEl>
                                          <p:spTgt spid="63"/>
                                        </p:tgtEl>
                                        <p:attrNameLst>
                                          <p:attrName>ppt_x</p:attrName>
                                          <p:attrName>ppt_y</p:attrName>
                                        </p:attrNameLst>
                                      </p:cBhvr>
                                      <p:rCtr x="10000" y="-3300"/>
                                    </p:animMotion>
                                  </p:childTnLst>
                                </p:cTn>
                              </p:par>
                              <p:par>
                                <p:cTn id="85" presetID="56" presetClass="path" presetSubtype="0" accel="50000" decel="50000" fill="hold" grpId="1" nodeType="withEffect">
                                  <p:stCondLst>
                                    <p:cond delay="0"/>
                                  </p:stCondLst>
                                  <p:childTnLst>
                                    <p:animMotion origin="layout" path="M 3.33333E-6 0.00116 L 0.2 -0.06546 " pathEditMode="relative" rAng="0" ptsTypes="AA">
                                      <p:cBhvr>
                                        <p:cTn id="86" dur="500" fill="hold"/>
                                        <p:tgtEl>
                                          <p:spTgt spid="66"/>
                                        </p:tgtEl>
                                        <p:attrNameLst>
                                          <p:attrName>ppt_x</p:attrName>
                                          <p:attrName>ppt_y</p:attrName>
                                        </p:attrNameLst>
                                      </p:cBhvr>
                                      <p:rCtr x="10000" y="-3300"/>
                                    </p:animMotion>
                                  </p:childTnLst>
                                </p:cTn>
                              </p:par>
                              <p:par>
                                <p:cTn id="87" presetID="56" presetClass="path" presetSubtype="0" accel="50000" decel="50000" fill="hold" grpId="1" nodeType="withEffect">
                                  <p:stCondLst>
                                    <p:cond delay="0"/>
                                  </p:stCondLst>
                                  <p:childTnLst>
                                    <p:animMotion origin="layout" path="M 3.33333E-6 0.00116 L 0.2 -0.06546 " pathEditMode="relative" rAng="0" ptsTypes="AA">
                                      <p:cBhvr>
                                        <p:cTn id="88" dur="500" fill="hold"/>
                                        <p:tgtEl>
                                          <p:spTgt spid="67"/>
                                        </p:tgtEl>
                                        <p:attrNameLst>
                                          <p:attrName>ppt_x</p:attrName>
                                          <p:attrName>ppt_y</p:attrName>
                                        </p:attrNameLst>
                                      </p:cBhvr>
                                      <p:rCtr x="10000" y="-3300"/>
                                    </p:animMotion>
                                  </p:childTnLst>
                                </p:cTn>
                              </p:par>
                              <p:par>
                                <p:cTn id="89" presetID="56" presetClass="path" presetSubtype="0" accel="50000" decel="50000" fill="hold" grpId="1" nodeType="withEffect">
                                  <p:stCondLst>
                                    <p:cond delay="0"/>
                                  </p:stCondLst>
                                  <p:childTnLst>
                                    <p:animMotion origin="layout" path="M 3.33333E-6 0.00116 L 0.2 -0.06546 " pathEditMode="relative" rAng="0" ptsTypes="AA">
                                      <p:cBhvr>
                                        <p:cTn id="90" dur="500" fill="hold"/>
                                        <p:tgtEl>
                                          <p:spTgt spid="64"/>
                                        </p:tgtEl>
                                        <p:attrNameLst>
                                          <p:attrName>ppt_x</p:attrName>
                                          <p:attrName>ppt_y</p:attrName>
                                        </p:attrNameLst>
                                      </p:cBhvr>
                                      <p:rCtr x="10000" y="-3300"/>
                                    </p:animMotion>
                                  </p:childTnLst>
                                </p:cTn>
                              </p:par>
                            </p:childTnLst>
                          </p:cTn>
                        </p:par>
                        <p:par>
                          <p:cTn id="91" fill="hold">
                            <p:stCondLst>
                              <p:cond delay="500"/>
                            </p:stCondLst>
                            <p:childTnLst>
                              <p:par>
                                <p:cTn id="92" presetID="10" presetClass="entr" presetSubtype="0" fill="hold" grpId="0" nodeType="afterEffect">
                                  <p:stCondLst>
                                    <p:cond delay="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500"/>
                                        <p:tgtEl>
                                          <p:spTgt spid="5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500"/>
                                        <p:tgtEl>
                                          <p:spTgt spid="5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5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500"/>
                                        <p:tgtEl>
                                          <p:spTgt spid="5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7"/>
                                        </p:tgtEl>
                                        <p:attrNameLst>
                                          <p:attrName>style.visibility</p:attrName>
                                        </p:attrNameLst>
                                      </p:cBhvr>
                                      <p:to>
                                        <p:strVal val="visible"/>
                                      </p:to>
                                    </p:set>
                                    <p:animEffect transition="in" filter="fade">
                                      <p:cBhvr>
                                        <p:cTn id="106" dur="500"/>
                                        <p:tgtEl>
                                          <p:spTgt spid="7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78"/>
                                        </p:tgtEl>
                                        <p:attrNameLst>
                                          <p:attrName>style.visibility</p:attrName>
                                        </p:attrNameLst>
                                      </p:cBhvr>
                                      <p:to>
                                        <p:strVal val="visible"/>
                                      </p:to>
                                    </p:set>
                                    <p:animEffect transition="in" filter="fade">
                                      <p:cBhvr>
                                        <p:cTn id="109" dur="500"/>
                                        <p:tgtEl>
                                          <p:spTgt spid="7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fade">
                                      <p:cBhvr>
                                        <p:cTn id="112" dur="500"/>
                                        <p:tgtEl>
                                          <p:spTgt spid="7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animEffect transition="in" filter="fade">
                                      <p:cBhvr>
                                        <p:cTn id="115" dur="500"/>
                                        <p:tgtEl>
                                          <p:spTgt spid="80"/>
                                        </p:tgtEl>
                                      </p:cBhvr>
                                    </p:animEffect>
                                  </p:childTnLst>
                                </p:cTn>
                              </p:par>
                            </p:childTnLst>
                          </p:cTn>
                        </p:par>
                        <p:par>
                          <p:cTn id="116" fill="hold">
                            <p:stCondLst>
                              <p:cond delay="1000"/>
                            </p:stCondLst>
                            <p:childTnLst>
                              <p:par>
                                <p:cTn id="117" presetID="56" presetClass="path" presetSubtype="0" accel="50000" decel="50000" fill="hold" grpId="1" nodeType="afterEffect">
                                  <p:stCondLst>
                                    <p:cond delay="0"/>
                                  </p:stCondLst>
                                  <p:childTnLst>
                                    <p:animMotion origin="layout" path="M 3.33333E-6 1.8043E-7 L 0.4 -0.13324 " pathEditMode="relative" rAng="0" ptsTypes="AA">
                                      <p:cBhvr>
                                        <p:cTn id="118" dur="500" fill="hold"/>
                                        <p:tgtEl>
                                          <p:spTgt spid="65"/>
                                        </p:tgtEl>
                                        <p:attrNameLst>
                                          <p:attrName>ppt_x</p:attrName>
                                          <p:attrName>ppt_y</p:attrName>
                                        </p:attrNameLst>
                                      </p:cBhvr>
                                      <p:rCtr x="20000" y="-6700"/>
                                    </p:animMotion>
                                  </p:childTnLst>
                                </p:cTn>
                              </p:par>
                              <p:par>
                                <p:cTn id="119" presetID="56" presetClass="path" presetSubtype="0" accel="50000" decel="50000" fill="hold" grpId="1" nodeType="withEffect">
                                  <p:stCondLst>
                                    <p:cond delay="0"/>
                                  </p:stCondLst>
                                  <p:childTnLst>
                                    <p:animMotion origin="layout" path="M 3.33333E-6 1.8043E-7 L 0.4 -0.13324 " pathEditMode="relative" rAng="0" ptsTypes="AA">
                                      <p:cBhvr>
                                        <p:cTn id="120" dur="500" fill="hold"/>
                                        <p:tgtEl>
                                          <p:spTgt spid="70"/>
                                        </p:tgtEl>
                                        <p:attrNameLst>
                                          <p:attrName>ppt_x</p:attrName>
                                          <p:attrName>ppt_y</p:attrName>
                                        </p:attrNameLst>
                                      </p:cBhvr>
                                      <p:rCtr x="20000" y="-6700"/>
                                    </p:animMotion>
                                  </p:childTnLst>
                                </p:cTn>
                              </p:par>
                              <p:par>
                                <p:cTn id="121" presetID="56" presetClass="path" presetSubtype="0" accel="50000" decel="50000" fill="hold" grpId="1" nodeType="withEffect">
                                  <p:stCondLst>
                                    <p:cond delay="0"/>
                                  </p:stCondLst>
                                  <p:childTnLst>
                                    <p:animMotion origin="layout" path="M 3.33333E-6 1.8043E-7 L 0.4 -0.13324 " pathEditMode="relative" rAng="0" ptsTypes="AA">
                                      <p:cBhvr>
                                        <p:cTn id="122" dur="500" fill="hold"/>
                                        <p:tgtEl>
                                          <p:spTgt spid="68"/>
                                        </p:tgtEl>
                                        <p:attrNameLst>
                                          <p:attrName>ppt_x</p:attrName>
                                          <p:attrName>ppt_y</p:attrName>
                                        </p:attrNameLst>
                                      </p:cBhvr>
                                      <p:rCtr x="20000" y="-6700"/>
                                    </p:animMotion>
                                  </p:childTnLst>
                                </p:cTn>
                              </p:par>
                              <p:par>
                                <p:cTn id="123" presetID="56" presetClass="path" presetSubtype="0" accel="50000" decel="50000" fill="hold" grpId="1" nodeType="withEffect">
                                  <p:stCondLst>
                                    <p:cond delay="0"/>
                                  </p:stCondLst>
                                  <p:childTnLst>
                                    <p:animMotion origin="layout" path="M 3.33333E-6 1.8043E-7 L 0.4 -0.13324 " pathEditMode="relative" rAng="0" ptsTypes="AA">
                                      <p:cBhvr>
                                        <p:cTn id="124" dur="500" fill="hold"/>
                                        <p:tgtEl>
                                          <p:spTgt spid="69"/>
                                        </p:tgtEl>
                                        <p:attrNameLst>
                                          <p:attrName>ppt_x</p:attrName>
                                          <p:attrName>ppt_y</p:attrName>
                                        </p:attrNameLst>
                                      </p:cBhvr>
                                      <p:rCtr x="20000" y="-6700"/>
                                    </p:animMotion>
                                  </p:childTnLst>
                                </p:cTn>
                              </p:par>
                            </p:childTnLst>
                          </p:cTn>
                        </p:par>
                        <p:par>
                          <p:cTn id="125" fill="hold">
                            <p:stCondLst>
                              <p:cond delay="1500"/>
                            </p:stCondLst>
                            <p:childTnLst>
                              <p:par>
                                <p:cTn id="126" presetID="10" presetClass="entr" presetSubtype="0" fill="hold" grpId="0" nodeType="afterEffect">
                                  <p:stCondLst>
                                    <p:cond delay="0"/>
                                  </p:stCondLst>
                                  <p:childTnLst>
                                    <p:set>
                                      <p:cBhvr>
                                        <p:cTn id="127" dur="1" fill="hold">
                                          <p:stCondLst>
                                            <p:cond delay="0"/>
                                          </p:stCondLst>
                                        </p:cTn>
                                        <p:tgtEl>
                                          <p:spTgt spid="52"/>
                                        </p:tgtEl>
                                        <p:attrNameLst>
                                          <p:attrName>style.visibility</p:attrName>
                                        </p:attrNameLst>
                                      </p:cBhvr>
                                      <p:to>
                                        <p:strVal val="visible"/>
                                      </p:to>
                                    </p:set>
                                    <p:animEffect transition="in" filter="fade">
                                      <p:cBhvr>
                                        <p:cTn id="128" dur="500"/>
                                        <p:tgtEl>
                                          <p:spTgt spid="5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500"/>
                                        <p:tgtEl>
                                          <p:spTgt spid="5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7"/>
                                        </p:tgtEl>
                                        <p:attrNameLst>
                                          <p:attrName>style.visibility</p:attrName>
                                        </p:attrNameLst>
                                      </p:cBhvr>
                                      <p:to>
                                        <p:strVal val="visible"/>
                                      </p:to>
                                    </p:set>
                                    <p:animEffect transition="in" filter="fade">
                                      <p:cBhvr>
                                        <p:cTn id="134" dur="500"/>
                                        <p:tgtEl>
                                          <p:spTgt spid="57"/>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8"/>
                                        </p:tgtEl>
                                        <p:attrNameLst>
                                          <p:attrName>style.visibility</p:attrName>
                                        </p:attrNameLst>
                                      </p:cBhvr>
                                      <p:to>
                                        <p:strVal val="visible"/>
                                      </p:to>
                                    </p:set>
                                    <p:animEffect transition="in" filter="fade">
                                      <p:cBhvr>
                                        <p:cTn id="137" dur="500"/>
                                        <p:tgtEl>
                                          <p:spTgt spid="58"/>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nodeType="clickEffect">
                                  <p:stCondLst>
                                    <p:cond delay="0"/>
                                  </p:stCondLst>
                                  <p:childTnLst>
                                    <p:set>
                                      <p:cBhvr>
                                        <p:cTn id="141" dur="1" fill="hold">
                                          <p:stCondLst>
                                            <p:cond delay="0"/>
                                          </p:stCondLst>
                                        </p:cTn>
                                        <p:tgtEl>
                                          <p:spTgt spid="82"/>
                                        </p:tgtEl>
                                        <p:attrNameLst>
                                          <p:attrName>style.visibility</p:attrName>
                                        </p:attrNameLst>
                                      </p:cBhvr>
                                      <p:to>
                                        <p:strVal val="visible"/>
                                      </p:to>
                                    </p:set>
                                    <p:animEffect transition="in" filter="wipe(right)">
                                      <p:cBhvr>
                                        <p:cTn id="142" dur="500"/>
                                        <p:tgtEl>
                                          <p:spTgt spid="82"/>
                                        </p:tgtEl>
                                      </p:cBhvr>
                                    </p:animEffect>
                                  </p:childTnLst>
                                </p:cTn>
                              </p:par>
                            </p:childTnLst>
                          </p:cTn>
                        </p:par>
                        <p:par>
                          <p:cTn id="143" fill="hold">
                            <p:stCondLst>
                              <p:cond delay="500"/>
                            </p:stCondLst>
                            <p:childTnLst>
                              <p:par>
                                <p:cTn id="144" presetID="22" presetClass="entr" presetSubtype="4" fill="hold" nodeType="afterEffect">
                                  <p:stCondLst>
                                    <p:cond delay="0"/>
                                  </p:stCondLst>
                                  <p:childTnLst>
                                    <p:set>
                                      <p:cBhvr>
                                        <p:cTn id="145" dur="1" fill="hold">
                                          <p:stCondLst>
                                            <p:cond delay="0"/>
                                          </p:stCondLst>
                                        </p:cTn>
                                        <p:tgtEl>
                                          <p:spTgt spid="85"/>
                                        </p:tgtEl>
                                        <p:attrNameLst>
                                          <p:attrName>style.visibility</p:attrName>
                                        </p:attrNameLst>
                                      </p:cBhvr>
                                      <p:to>
                                        <p:strVal val="visible"/>
                                      </p:to>
                                    </p:set>
                                    <p:animEffect transition="in" filter="wipe(down)">
                                      <p:cBhvr>
                                        <p:cTn id="146" dur="500"/>
                                        <p:tgtEl>
                                          <p:spTgt spid="85"/>
                                        </p:tgtEl>
                                      </p:cBhvr>
                                    </p:animEffect>
                                  </p:childTnLst>
                                </p:cTn>
                              </p:par>
                            </p:childTnLst>
                          </p:cTn>
                        </p:par>
                        <p:par>
                          <p:cTn id="147" fill="hold">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88"/>
                                        </p:tgtEl>
                                        <p:attrNameLst>
                                          <p:attrName>style.visibility</p:attrName>
                                        </p:attrNameLst>
                                      </p:cBhvr>
                                      <p:to>
                                        <p:strVal val="visible"/>
                                      </p:to>
                                    </p:set>
                                    <p:animEffect transition="in" filter="wipe(left)">
                                      <p:cBhvr>
                                        <p:cTn id="150" dur="500"/>
                                        <p:tgtEl>
                                          <p:spTgt spid="88"/>
                                        </p:tgtEl>
                                      </p:cBhvr>
                                    </p:animEffect>
                                  </p:childTnLst>
                                </p:cTn>
                              </p:par>
                            </p:childTnLst>
                          </p:cTn>
                        </p:par>
                        <p:par>
                          <p:cTn id="151" fill="hold">
                            <p:stCondLst>
                              <p:cond delay="1500"/>
                            </p:stCondLst>
                            <p:childTnLst>
                              <p:par>
                                <p:cTn id="152" presetID="22" presetClass="entr" presetSubtype="1" fill="hold" nodeType="afterEffect">
                                  <p:stCondLst>
                                    <p:cond delay="0"/>
                                  </p:stCondLst>
                                  <p:childTnLst>
                                    <p:set>
                                      <p:cBhvr>
                                        <p:cTn id="153" dur="1" fill="hold">
                                          <p:stCondLst>
                                            <p:cond delay="0"/>
                                          </p:stCondLst>
                                        </p:cTn>
                                        <p:tgtEl>
                                          <p:spTgt spid="81"/>
                                        </p:tgtEl>
                                        <p:attrNameLst>
                                          <p:attrName>style.visibility</p:attrName>
                                        </p:attrNameLst>
                                      </p:cBhvr>
                                      <p:to>
                                        <p:strVal val="visible"/>
                                      </p:to>
                                    </p:set>
                                    <p:animEffect transition="in" filter="wipe(up)">
                                      <p:cBhvr>
                                        <p:cTn id="154" dur="500"/>
                                        <p:tgtEl>
                                          <p:spTgt spid="81"/>
                                        </p:tgtEl>
                                      </p:cBhvr>
                                    </p:animEffect>
                                  </p:childTnLst>
                                </p:cTn>
                              </p:par>
                            </p:childTnLst>
                          </p:cTn>
                        </p:par>
                        <p:par>
                          <p:cTn id="155" fill="hold">
                            <p:stCondLst>
                              <p:cond delay="2000"/>
                            </p:stCondLst>
                            <p:childTnLst>
                              <p:par>
                                <p:cTn id="156" presetID="10" presetClass="entr" presetSubtype="0" fill="hold" grpId="0" nodeType="afterEffect">
                                  <p:stCondLst>
                                    <p:cond delay="0"/>
                                  </p:stCondLst>
                                  <p:childTnLst>
                                    <p:set>
                                      <p:cBhvr>
                                        <p:cTn id="157" dur="1" fill="hold">
                                          <p:stCondLst>
                                            <p:cond delay="0"/>
                                          </p:stCondLst>
                                        </p:cTn>
                                        <p:tgtEl>
                                          <p:spTgt spid="106"/>
                                        </p:tgtEl>
                                        <p:attrNameLst>
                                          <p:attrName>style.visibility</p:attrName>
                                        </p:attrNameLst>
                                      </p:cBhvr>
                                      <p:to>
                                        <p:strVal val="visible"/>
                                      </p:to>
                                    </p:set>
                                    <p:animEffect transition="in" filter="fade">
                                      <p:cBhvr>
                                        <p:cTn id="158" dur="500"/>
                                        <p:tgtEl>
                                          <p:spTgt spid="106"/>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111"/>
                                        </p:tgtEl>
                                        <p:attrNameLst>
                                          <p:attrName>style.visibility</p:attrName>
                                        </p:attrNameLst>
                                      </p:cBhvr>
                                      <p:to>
                                        <p:strVal val="visible"/>
                                      </p:to>
                                    </p:set>
                                    <p:animEffect transition="in" filter="fade">
                                      <p:cBhvr>
                                        <p:cTn id="163" dur="500"/>
                                        <p:tgtEl>
                                          <p:spTgt spid="111"/>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1" fill="hold" nodeType="clickEffect">
                                  <p:stCondLst>
                                    <p:cond delay="0"/>
                                  </p:stCondLst>
                                  <p:childTnLst>
                                    <p:set>
                                      <p:cBhvr>
                                        <p:cTn id="167" dur="1" fill="hold">
                                          <p:stCondLst>
                                            <p:cond delay="0"/>
                                          </p:stCondLst>
                                        </p:cTn>
                                        <p:tgtEl>
                                          <p:spTgt spid="99"/>
                                        </p:tgtEl>
                                        <p:attrNameLst>
                                          <p:attrName>style.visibility</p:attrName>
                                        </p:attrNameLst>
                                      </p:cBhvr>
                                      <p:to>
                                        <p:strVal val="visible"/>
                                      </p:to>
                                    </p:set>
                                    <p:animEffect transition="in" filter="wipe(up)">
                                      <p:cBhvr>
                                        <p:cTn id="168" dur="500"/>
                                        <p:tgtEl>
                                          <p:spTgt spid="99"/>
                                        </p:tgtEl>
                                      </p:cBhvr>
                                    </p:animEffect>
                                  </p:childTnLst>
                                </p:cTn>
                              </p:par>
                            </p:childTnLst>
                          </p:cTn>
                        </p:par>
                        <p:par>
                          <p:cTn id="169" fill="hold">
                            <p:stCondLst>
                              <p:cond delay="500"/>
                            </p:stCondLst>
                            <p:childTnLst>
                              <p:par>
                                <p:cTn id="170" presetID="22" presetClass="entr" presetSubtype="2" fill="hold" nodeType="afterEffect">
                                  <p:stCondLst>
                                    <p:cond delay="0"/>
                                  </p:stCondLst>
                                  <p:childTnLst>
                                    <p:set>
                                      <p:cBhvr>
                                        <p:cTn id="171" dur="1" fill="hold">
                                          <p:stCondLst>
                                            <p:cond delay="0"/>
                                          </p:stCondLst>
                                        </p:cTn>
                                        <p:tgtEl>
                                          <p:spTgt spid="97"/>
                                        </p:tgtEl>
                                        <p:attrNameLst>
                                          <p:attrName>style.visibility</p:attrName>
                                        </p:attrNameLst>
                                      </p:cBhvr>
                                      <p:to>
                                        <p:strVal val="visible"/>
                                      </p:to>
                                    </p:set>
                                    <p:animEffect transition="in" filter="wipe(right)">
                                      <p:cBhvr>
                                        <p:cTn id="172" dur="500"/>
                                        <p:tgtEl>
                                          <p:spTgt spid="97"/>
                                        </p:tgtEl>
                                      </p:cBhvr>
                                    </p:animEffect>
                                  </p:childTnLst>
                                </p:cTn>
                              </p:par>
                            </p:childTnLst>
                          </p:cTn>
                        </p:par>
                        <p:par>
                          <p:cTn id="173" fill="hold">
                            <p:stCondLst>
                              <p:cond delay="1000"/>
                            </p:stCondLst>
                            <p:childTnLst>
                              <p:par>
                                <p:cTn id="174" presetID="10" presetClass="entr" presetSubtype="0" fill="hold" grpId="0" nodeType="afterEffect">
                                  <p:stCondLst>
                                    <p:cond delay="0"/>
                                  </p:stCondLst>
                                  <p:childTnLst>
                                    <p:set>
                                      <p:cBhvr>
                                        <p:cTn id="175" dur="1" fill="hold">
                                          <p:stCondLst>
                                            <p:cond delay="0"/>
                                          </p:stCondLst>
                                        </p:cTn>
                                        <p:tgtEl>
                                          <p:spTgt spid="107"/>
                                        </p:tgtEl>
                                        <p:attrNameLst>
                                          <p:attrName>style.visibility</p:attrName>
                                        </p:attrNameLst>
                                      </p:cBhvr>
                                      <p:to>
                                        <p:strVal val="visible"/>
                                      </p:to>
                                    </p:set>
                                    <p:animEffect transition="in" filter="fade">
                                      <p:cBhvr>
                                        <p:cTn id="176" dur="500"/>
                                        <p:tgtEl>
                                          <p:spTgt spid="107"/>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112"/>
                                        </p:tgtEl>
                                        <p:attrNameLst>
                                          <p:attrName>style.visibility</p:attrName>
                                        </p:attrNameLst>
                                      </p:cBhvr>
                                      <p:to>
                                        <p:strVal val="visible"/>
                                      </p:to>
                                    </p:set>
                                    <p:animEffect transition="in" filter="fade">
                                      <p:cBhvr>
                                        <p:cTn id="18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80"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p:bldP spid="57" grpId="0" animBg="1"/>
      <p:bldP spid="58" grpId="0" animBg="1"/>
      <p:bldP spid="59" grpId="0" animBg="1"/>
      <p:bldP spid="60" grpId="0" animBg="1"/>
      <p:bldP spid="61" grpId="0" animBg="1"/>
      <p:bldP spid="62" grpId="0"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P spid="70" grpId="0" animBg="1"/>
      <p:bldP spid="70" grpId="1" animBg="1"/>
      <p:bldP spid="106" grpId="0" animBg="1"/>
      <p:bldP spid="107" grpId="0" animBg="1"/>
      <p:bldP spid="111" grpId="0" animBg="1"/>
      <p:bldP spid="1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Con trỏ và mảng 2 chiều (tt)</a:t>
            </a:r>
          </a:p>
        </p:txBody>
      </p:sp>
      <p:sp>
        <p:nvSpPr>
          <p:cNvPr id="3" name="Content Placeholder 2"/>
          <p:cNvSpPr>
            <a:spLocks noGrp="1"/>
          </p:cNvSpPr>
          <p:nvPr>
            <p:ph idx="1"/>
          </p:nvPr>
        </p:nvSpPr>
        <p:spPr/>
        <p:txBody>
          <a:bodyPr/>
          <a:lstStyle/>
          <a:p>
            <a:pPr>
              <a:defRPr/>
            </a:pPr>
            <a:r>
              <a:rPr lang="en-US"/>
              <a:t>Nhập / Xuất theo chỉ số mảng 2 chiều</a:t>
            </a:r>
          </a:p>
        </p:txBody>
      </p:sp>
      <p:sp>
        <p:nvSpPr>
          <p:cNvPr id="5" name="Rounded Rectangle 4"/>
          <p:cNvSpPr/>
          <p:nvPr/>
        </p:nvSpPr>
        <p:spPr>
          <a:xfrm>
            <a:off x="395536" y="1737320"/>
            <a:ext cx="152400" cy="4572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611560" y="1556792"/>
            <a:ext cx="8928992" cy="5016758"/>
          </a:xfrm>
          <a:prstGeom prst="rect">
            <a:avLst/>
          </a:prstGeom>
          <a:noFill/>
          <a:ln w="9525">
            <a:noFill/>
            <a:miter lim="800000"/>
            <a:headEnd/>
            <a:tailEnd/>
          </a:ln>
        </p:spPr>
        <p:txBody>
          <a:bodyPr wrap="square">
            <a:spAutoFit/>
          </a:bodyPr>
          <a:lstStyle/>
          <a:p>
            <a:r>
              <a:rPr lang="en-US" sz="2000" b="1">
                <a:latin typeface="Courier New" pitchFamily="49" charset="0"/>
                <a:cs typeface="Courier New" pitchFamily="49" charset="0"/>
              </a:rPr>
              <a:t>#define D 100</a:t>
            </a:r>
          </a:p>
          <a:p>
            <a:r>
              <a:rPr lang="en-US" sz="2000" b="1">
                <a:latin typeface="Courier New" pitchFamily="49" charset="0"/>
                <a:cs typeface="Courier New" pitchFamily="49" charset="0"/>
              </a:rPr>
              <a:t>#define C 100</a:t>
            </a:r>
          </a:p>
          <a:p>
            <a:r>
              <a:rPr lang="en-US" sz="2000" b="1">
                <a:latin typeface="Courier New" pitchFamily="49" charset="0"/>
                <a:cs typeface="Courier New" pitchFamily="49" charset="0"/>
              </a:rPr>
              <a:t>int a[D][C], i, d, c,m,n; </a:t>
            </a:r>
          </a:p>
          <a:p>
            <a:r>
              <a:rPr lang="en-US" sz="2000" b="1">
                <a:latin typeface="Courier New" pitchFamily="49" charset="0"/>
                <a:cs typeface="Courier New" pitchFamily="49" charset="0"/>
              </a:rPr>
              <a:t>int </a:t>
            </a:r>
            <a:r>
              <a:rPr lang="en-US" sz="2000" b="1">
                <a:solidFill>
                  <a:srgbClr val="FF0000"/>
                </a:solidFill>
                <a:latin typeface="Courier New" pitchFamily="49" charset="0"/>
                <a:cs typeface="Courier New" pitchFamily="49" charset="0"/>
              </a:rPr>
              <a:t>*p </a:t>
            </a:r>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(int *)a</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printf("Nhap so dong, so cot: "); scanf("%d%d",&amp;m,&amp;n);</a:t>
            </a:r>
          </a:p>
          <a:p>
            <a:r>
              <a:rPr lang="en-US" sz="2000" b="1">
                <a:latin typeface="Courier New" pitchFamily="49" charset="0"/>
                <a:cs typeface="Courier New" pitchFamily="49" charset="0"/>
              </a:rPr>
              <a:t> for (i = 0; i &lt; m*n; i++)</a:t>
            </a:r>
          </a:p>
          <a:p>
            <a:r>
              <a:rPr lang="en-US" sz="2000" b="1">
                <a:latin typeface="Courier New" pitchFamily="49" charset="0"/>
                <a:cs typeface="Courier New" pitchFamily="49" charset="0"/>
              </a:rPr>
              <a:t> {	printf("Nhap a[%d][%d]: ", </a:t>
            </a:r>
            <a:r>
              <a:rPr lang="en-US" sz="2000" b="1">
                <a:solidFill>
                  <a:srgbClr val="FF0000"/>
                </a:solidFill>
                <a:latin typeface="Courier New" pitchFamily="49" charset="0"/>
                <a:cs typeface="Courier New" pitchFamily="49" charset="0"/>
              </a:rPr>
              <a:t>i / n</a:t>
            </a:r>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i % n</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scanf("%d", p + i);  }</a:t>
            </a:r>
          </a:p>
          <a:p>
            <a:r>
              <a:rPr lang="en-US" sz="2000" b="1">
                <a:latin typeface="Courier New" pitchFamily="49" charset="0"/>
                <a:cs typeface="Courier New" pitchFamily="49" charset="0"/>
              </a:rPr>
              <a:t> for (d = 0; d &lt; m; d++)</a:t>
            </a:r>
          </a:p>
          <a:p>
            <a:r>
              <a:rPr lang="en-US" sz="2000" b="1">
                <a:latin typeface="Courier New" pitchFamily="49" charset="0"/>
                <a:cs typeface="Courier New" pitchFamily="49" charset="0"/>
              </a:rPr>
              <a:t> {	for (c = 0; c &lt; n; c++)</a:t>
            </a:r>
          </a:p>
          <a:p>
            <a:r>
              <a:rPr lang="en-US" sz="2000" b="1">
                <a:latin typeface="Courier New" pitchFamily="49" charset="0"/>
                <a:cs typeface="Courier New" pitchFamily="49" charset="0"/>
              </a:rPr>
              <a:t>      printf("%5d", </a:t>
            </a:r>
            <a:r>
              <a:rPr lang="en-US" sz="2000" b="1">
                <a:solidFill>
                  <a:srgbClr val="FF0000"/>
                </a:solidFill>
                <a:latin typeface="Courier New" pitchFamily="49" charset="0"/>
                <a:cs typeface="Courier New" pitchFamily="49" charset="0"/>
              </a:rPr>
              <a:t>*(p + d * n + c)</a:t>
            </a:r>
            <a:r>
              <a:rPr lang="en-US" sz="2000" b="1">
                <a:latin typeface="Courier New" pitchFamily="49" charset="0"/>
                <a:cs typeface="Courier New" pitchFamily="49" charset="0"/>
              </a:rPr>
              <a:t>);// hoac </a:t>
            </a:r>
            <a:r>
              <a:rPr lang="en-US" sz="2000" b="1">
                <a:solidFill>
                  <a:srgbClr val="FF0000"/>
                </a:solidFill>
                <a:latin typeface="Courier New" pitchFamily="49" charset="0"/>
                <a:cs typeface="Courier New" pitchFamily="49" charset="0"/>
              </a:rPr>
              <a:t>*p++</a:t>
            </a:r>
          </a:p>
          <a:p>
            <a:r>
              <a:rPr lang="en-US" sz="2000" b="1">
                <a:latin typeface="Courier New" pitchFamily="49" charset="0"/>
                <a:cs typeface="Courier New" pitchFamily="49" charset="0"/>
              </a:rPr>
              <a:t>	printf("\n");</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a:t>
            </a:r>
          </a:p>
        </p:txBody>
      </p:sp>
      <p:sp>
        <p:nvSpPr>
          <p:cNvPr id="7" name="Date Placeholder 6"/>
          <p:cNvSpPr>
            <a:spLocks noGrp="1"/>
          </p:cNvSpPr>
          <p:nvPr>
            <p:ph type="dt" sz="half" idx="10"/>
          </p:nvPr>
        </p:nvSpPr>
        <p:spPr/>
        <p:txBody>
          <a:bodyPr/>
          <a:lstStyle/>
          <a:p>
            <a:fld id="{54DE0678-C507-4DFE-99C8-5A0BE2EA82D4}"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28</a:t>
            </a:fld>
            <a:r>
              <a:rPr lang="vi-VN"/>
              <a:t>/50</a:t>
            </a:r>
          </a:p>
        </p:txBody>
      </p:sp>
    </p:spTree>
    <p:extLst>
      <p:ext uri="{BB962C8B-B14F-4D97-AF65-F5344CB8AC3E}">
        <p14:creationId xmlns:p14="http://schemas.microsoft.com/office/powerpoint/2010/main" val="3176513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t>5. Mảng con trỏ</a:t>
            </a:r>
          </a:p>
        </p:txBody>
      </p:sp>
      <p:sp>
        <p:nvSpPr>
          <p:cNvPr id="3" name="Content Placeholder 2"/>
          <p:cNvSpPr>
            <a:spLocks noGrp="1"/>
          </p:cNvSpPr>
          <p:nvPr>
            <p:ph idx="1"/>
          </p:nvPr>
        </p:nvSpPr>
        <p:spPr/>
        <p:txBody>
          <a:bodyPr/>
          <a:lstStyle/>
          <a:p>
            <a:pPr>
              <a:defRPr/>
            </a:pPr>
            <a:r>
              <a:rPr lang="en-US"/>
              <a:t>Bài toán</a:t>
            </a:r>
          </a:p>
          <a:p>
            <a:pPr lvl="1">
              <a:defRPr/>
            </a:pPr>
            <a:r>
              <a:rPr lang="en-US"/>
              <a:t>Sử dụng cấu trúc dữ liệu nào </a:t>
            </a:r>
            <a:r>
              <a:rPr lang="vi-VN"/>
              <a:t>để</a:t>
            </a:r>
            <a:r>
              <a:rPr lang="en-US"/>
              <a:t> l</a:t>
            </a:r>
            <a:r>
              <a:rPr lang="vi-VN"/>
              <a:t>ư</a:t>
            </a:r>
            <a:r>
              <a:rPr lang="en-US"/>
              <a:t>u trữ thông tin sau?</a:t>
            </a:r>
          </a:p>
          <a:p>
            <a:pPr lvl="1">
              <a:defRPr/>
            </a:pPr>
            <a:endParaRPr lang="en-US"/>
          </a:p>
          <a:p>
            <a:pPr lvl="1">
              <a:defRPr/>
            </a:pPr>
            <a:endParaRPr lang="en-US"/>
          </a:p>
          <a:p>
            <a:pPr lvl="1">
              <a:defRPr/>
            </a:pPr>
            <a:endParaRPr lang="en-US"/>
          </a:p>
          <a:p>
            <a:pPr lvl="1">
              <a:defRPr/>
            </a:pPr>
            <a:endParaRPr lang="en-US"/>
          </a:p>
          <a:p>
            <a:pPr>
              <a:defRPr/>
            </a:pPr>
            <a:r>
              <a:rPr lang="en-US">
                <a:sym typeface="Wingdings" pitchFamily="2" charset="2"/>
              </a:rPr>
              <a:t>Giải pháp?</a:t>
            </a:r>
          </a:p>
          <a:p>
            <a:pPr lvl="1">
              <a:defRPr/>
            </a:pPr>
            <a:r>
              <a:rPr lang="en-US"/>
              <a:t>Cách 1: Mảng 2 chiều 3x8 (tốn bộ nhớ)</a:t>
            </a:r>
          </a:p>
        </p:txBody>
      </p:sp>
      <p:sp>
        <p:nvSpPr>
          <p:cNvPr id="25" name="AutoShape 6"/>
          <p:cNvSpPr>
            <a:spLocks noChangeArrowheads="1"/>
          </p:cNvSpPr>
          <p:nvPr/>
        </p:nvSpPr>
        <p:spPr bwMode="gray">
          <a:xfrm>
            <a:off x="4038600" y="26620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26" name="AutoShape 6"/>
          <p:cNvSpPr>
            <a:spLocks noChangeArrowheads="1"/>
          </p:cNvSpPr>
          <p:nvPr/>
        </p:nvSpPr>
        <p:spPr bwMode="gray">
          <a:xfrm>
            <a:off x="35814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27" name="AutoShape 6"/>
          <p:cNvSpPr>
            <a:spLocks noChangeArrowheads="1"/>
          </p:cNvSpPr>
          <p:nvPr/>
        </p:nvSpPr>
        <p:spPr bwMode="gray">
          <a:xfrm>
            <a:off x="40386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2" name="AutoShape 6"/>
          <p:cNvSpPr>
            <a:spLocks noChangeArrowheads="1"/>
          </p:cNvSpPr>
          <p:nvPr/>
        </p:nvSpPr>
        <p:spPr bwMode="gray">
          <a:xfrm>
            <a:off x="4495800" y="26620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3" name="AutoShape 6"/>
          <p:cNvSpPr>
            <a:spLocks noChangeArrowheads="1"/>
          </p:cNvSpPr>
          <p:nvPr/>
        </p:nvSpPr>
        <p:spPr bwMode="gray">
          <a:xfrm>
            <a:off x="4953000" y="26620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4" name="AutoShape 6"/>
          <p:cNvSpPr>
            <a:spLocks noChangeArrowheads="1"/>
          </p:cNvSpPr>
          <p:nvPr/>
        </p:nvSpPr>
        <p:spPr bwMode="gray">
          <a:xfrm>
            <a:off x="5410200" y="26620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5" name="AutoShape 6"/>
          <p:cNvSpPr>
            <a:spLocks noChangeArrowheads="1"/>
          </p:cNvSpPr>
          <p:nvPr/>
        </p:nvSpPr>
        <p:spPr bwMode="gray">
          <a:xfrm>
            <a:off x="5867400" y="26620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6" name="AutoShape 6"/>
          <p:cNvSpPr>
            <a:spLocks noChangeArrowheads="1"/>
          </p:cNvSpPr>
          <p:nvPr/>
        </p:nvSpPr>
        <p:spPr bwMode="gray">
          <a:xfrm>
            <a:off x="44958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7" name="AutoShape 6"/>
          <p:cNvSpPr>
            <a:spLocks noChangeArrowheads="1"/>
          </p:cNvSpPr>
          <p:nvPr/>
        </p:nvSpPr>
        <p:spPr bwMode="gray">
          <a:xfrm>
            <a:off x="49530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8" name="AutoShape 6"/>
          <p:cNvSpPr>
            <a:spLocks noChangeArrowheads="1"/>
          </p:cNvSpPr>
          <p:nvPr/>
        </p:nvSpPr>
        <p:spPr bwMode="gray">
          <a:xfrm>
            <a:off x="54102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39" name="AutoShape 6"/>
          <p:cNvSpPr>
            <a:spLocks noChangeArrowheads="1"/>
          </p:cNvSpPr>
          <p:nvPr/>
        </p:nvSpPr>
        <p:spPr bwMode="gray">
          <a:xfrm>
            <a:off x="5867400" y="3576464"/>
            <a:ext cx="457200" cy="457200"/>
          </a:xfrm>
          <a:prstGeom prst="roundRect">
            <a:avLst>
              <a:gd name="adj" fmla="val 16667"/>
            </a:avLst>
          </a:prstGeom>
          <a:ln>
            <a:prstDash val="sysDot"/>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400"/>
          </a:p>
        </p:txBody>
      </p:sp>
      <p:sp>
        <p:nvSpPr>
          <p:cNvPr id="5" name="AutoShape 6"/>
          <p:cNvSpPr>
            <a:spLocks noChangeArrowheads="1"/>
          </p:cNvSpPr>
          <p:nvPr/>
        </p:nvSpPr>
        <p:spPr bwMode="gray">
          <a:xfrm>
            <a:off x="2209800" y="26620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t>
            </a:r>
            <a:endParaRPr lang="en-US" baseline="30000"/>
          </a:p>
        </p:txBody>
      </p:sp>
      <p:sp>
        <p:nvSpPr>
          <p:cNvPr id="6" name="AutoShape 6"/>
          <p:cNvSpPr>
            <a:spLocks noChangeArrowheads="1"/>
          </p:cNvSpPr>
          <p:nvPr/>
        </p:nvSpPr>
        <p:spPr bwMode="gray">
          <a:xfrm>
            <a:off x="2209800" y="3119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t>
            </a:r>
            <a:endParaRPr lang="en-US" baseline="30000"/>
          </a:p>
        </p:txBody>
      </p:sp>
      <p:sp>
        <p:nvSpPr>
          <p:cNvPr id="7" name="AutoShape 6"/>
          <p:cNvSpPr>
            <a:spLocks noChangeArrowheads="1"/>
          </p:cNvSpPr>
          <p:nvPr/>
        </p:nvSpPr>
        <p:spPr bwMode="gray">
          <a:xfrm>
            <a:off x="2209800" y="35764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t>
            </a:r>
            <a:endParaRPr lang="en-US" baseline="30000"/>
          </a:p>
        </p:txBody>
      </p:sp>
      <p:sp>
        <p:nvSpPr>
          <p:cNvPr id="8" name="AutoShape 6"/>
          <p:cNvSpPr>
            <a:spLocks noChangeArrowheads="1"/>
          </p:cNvSpPr>
          <p:nvPr/>
        </p:nvSpPr>
        <p:spPr bwMode="gray">
          <a:xfrm>
            <a:off x="2667000" y="26620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1</a:t>
            </a:r>
          </a:p>
        </p:txBody>
      </p:sp>
      <p:sp>
        <p:nvSpPr>
          <p:cNvPr id="9" name="AutoShape 6"/>
          <p:cNvSpPr>
            <a:spLocks noChangeArrowheads="1"/>
          </p:cNvSpPr>
          <p:nvPr/>
        </p:nvSpPr>
        <p:spPr bwMode="gray">
          <a:xfrm>
            <a:off x="3124200" y="26620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5</a:t>
            </a:r>
          </a:p>
        </p:txBody>
      </p:sp>
      <p:sp>
        <p:nvSpPr>
          <p:cNvPr id="10" name="AutoShape 6"/>
          <p:cNvSpPr>
            <a:spLocks noChangeArrowheads="1"/>
          </p:cNvSpPr>
          <p:nvPr/>
        </p:nvSpPr>
        <p:spPr bwMode="gray">
          <a:xfrm>
            <a:off x="3581400" y="26620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6</a:t>
            </a:r>
          </a:p>
        </p:txBody>
      </p:sp>
      <p:sp>
        <p:nvSpPr>
          <p:cNvPr id="20" name="AutoShape 6"/>
          <p:cNvSpPr>
            <a:spLocks noChangeArrowheads="1"/>
          </p:cNvSpPr>
          <p:nvPr/>
        </p:nvSpPr>
        <p:spPr bwMode="gray">
          <a:xfrm>
            <a:off x="26670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t>
            </a:r>
            <a:endParaRPr lang="en-US" baseline="30000"/>
          </a:p>
        </p:txBody>
      </p:sp>
      <p:sp>
        <p:nvSpPr>
          <p:cNvPr id="21" name="AutoShape 6"/>
          <p:cNvSpPr>
            <a:spLocks noChangeArrowheads="1"/>
          </p:cNvSpPr>
          <p:nvPr/>
        </p:nvSpPr>
        <p:spPr bwMode="gray">
          <a:xfrm>
            <a:off x="31242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t>
            </a:r>
            <a:endParaRPr lang="en-US" baseline="30000"/>
          </a:p>
        </p:txBody>
      </p:sp>
      <p:sp>
        <p:nvSpPr>
          <p:cNvPr id="22" name="AutoShape 6"/>
          <p:cNvSpPr>
            <a:spLocks noChangeArrowheads="1"/>
          </p:cNvSpPr>
          <p:nvPr/>
        </p:nvSpPr>
        <p:spPr bwMode="gray">
          <a:xfrm>
            <a:off x="35814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t>
            </a:r>
            <a:endParaRPr lang="en-US" baseline="30000"/>
          </a:p>
        </p:txBody>
      </p:sp>
      <p:sp>
        <p:nvSpPr>
          <p:cNvPr id="23" name="AutoShape 6"/>
          <p:cNvSpPr>
            <a:spLocks noChangeArrowheads="1"/>
          </p:cNvSpPr>
          <p:nvPr/>
        </p:nvSpPr>
        <p:spPr bwMode="gray">
          <a:xfrm>
            <a:off x="40386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a:t>
            </a:r>
            <a:endParaRPr lang="en-US" baseline="30000"/>
          </a:p>
        </p:txBody>
      </p:sp>
      <p:sp>
        <p:nvSpPr>
          <p:cNvPr id="12" name="AutoShape 6"/>
          <p:cNvSpPr>
            <a:spLocks noChangeArrowheads="1"/>
          </p:cNvSpPr>
          <p:nvPr/>
        </p:nvSpPr>
        <p:spPr bwMode="gray">
          <a:xfrm>
            <a:off x="26670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2</a:t>
            </a:r>
          </a:p>
        </p:txBody>
      </p:sp>
      <p:sp>
        <p:nvSpPr>
          <p:cNvPr id="13" name="AutoShape 6"/>
          <p:cNvSpPr>
            <a:spLocks noChangeArrowheads="1"/>
          </p:cNvSpPr>
          <p:nvPr/>
        </p:nvSpPr>
        <p:spPr bwMode="gray">
          <a:xfrm>
            <a:off x="40386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2</a:t>
            </a:r>
          </a:p>
        </p:txBody>
      </p:sp>
      <p:sp>
        <p:nvSpPr>
          <p:cNvPr id="15" name="AutoShape 6"/>
          <p:cNvSpPr>
            <a:spLocks noChangeArrowheads="1"/>
          </p:cNvSpPr>
          <p:nvPr/>
        </p:nvSpPr>
        <p:spPr bwMode="gray">
          <a:xfrm>
            <a:off x="31242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9</a:t>
            </a:r>
          </a:p>
        </p:txBody>
      </p:sp>
      <p:sp>
        <p:nvSpPr>
          <p:cNvPr id="16" name="AutoShape 6"/>
          <p:cNvSpPr>
            <a:spLocks noChangeArrowheads="1"/>
          </p:cNvSpPr>
          <p:nvPr/>
        </p:nvSpPr>
        <p:spPr bwMode="gray">
          <a:xfrm>
            <a:off x="35814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1</a:t>
            </a:r>
          </a:p>
        </p:txBody>
      </p:sp>
      <p:sp>
        <p:nvSpPr>
          <p:cNvPr id="14" name="AutoShape 6"/>
          <p:cNvSpPr>
            <a:spLocks noChangeArrowheads="1"/>
          </p:cNvSpPr>
          <p:nvPr/>
        </p:nvSpPr>
        <p:spPr bwMode="gray">
          <a:xfrm>
            <a:off x="2667000" y="3576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0</a:t>
            </a:r>
          </a:p>
        </p:txBody>
      </p:sp>
      <p:sp>
        <p:nvSpPr>
          <p:cNvPr id="19" name="AutoShape 6"/>
          <p:cNvSpPr>
            <a:spLocks noChangeArrowheads="1"/>
          </p:cNvSpPr>
          <p:nvPr/>
        </p:nvSpPr>
        <p:spPr bwMode="gray">
          <a:xfrm>
            <a:off x="3124200" y="3576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2</a:t>
            </a:r>
          </a:p>
        </p:txBody>
      </p:sp>
      <p:sp>
        <p:nvSpPr>
          <p:cNvPr id="28" name="AutoShape 6"/>
          <p:cNvSpPr>
            <a:spLocks noChangeArrowheads="1"/>
          </p:cNvSpPr>
          <p:nvPr/>
        </p:nvSpPr>
        <p:spPr bwMode="gray">
          <a:xfrm>
            <a:off x="44958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1</a:t>
            </a:r>
          </a:p>
        </p:txBody>
      </p:sp>
      <p:sp>
        <p:nvSpPr>
          <p:cNvPr id="29" name="AutoShape 6"/>
          <p:cNvSpPr>
            <a:spLocks noChangeArrowheads="1"/>
          </p:cNvSpPr>
          <p:nvPr/>
        </p:nvSpPr>
        <p:spPr bwMode="gray">
          <a:xfrm>
            <a:off x="58674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6</a:t>
            </a:r>
          </a:p>
        </p:txBody>
      </p:sp>
      <p:sp>
        <p:nvSpPr>
          <p:cNvPr id="30" name="AutoShape 6"/>
          <p:cNvSpPr>
            <a:spLocks noChangeArrowheads="1"/>
          </p:cNvSpPr>
          <p:nvPr/>
        </p:nvSpPr>
        <p:spPr bwMode="gray">
          <a:xfrm>
            <a:off x="49530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7</a:t>
            </a:r>
          </a:p>
        </p:txBody>
      </p:sp>
      <p:sp>
        <p:nvSpPr>
          <p:cNvPr id="31" name="AutoShape 6"/>
          <p:cNvSpPr>
            <a:spLocks noChangeArrowheads="1"/>
          </p:cNvSpPr>
          <p:nvPr/>
        </p:nvSpPr>
        <p:spPr bwMode="gray">
          <a:xfrm>
            <a:off x="5410200" y="31192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0</a:t>
            </a:r>
          </a:p>
        </p:txBody>
      </p:sp>
      <p:sp>
        <p:nvSpPr>
          <p:cNvPr id="40" name="AutoShape 6"/>
          <p:cNvSpPr>
            <a:spLocks noChangeArrowheads="1"/>
          </p:cNvSpPr>
          <p:nvPr/>
        </p:nvSpPr>
        <p:spPr bwMode="gray">
          <a:xfrm>
            <a:off x="44958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4</a:t>
            </a:r>
            <a:endParaRPr lang="en-US" baseline="30000"/>
          </a:p>
        </p:txBody>
      </p:sp>
      <p:sp>
        <p:nvSpPr>
          <p:cNvPr id="41" name="AutoShape 6"/>
          <p:cNvSpPr>
            <a:spLocks noChangeArrowheads="1"/>
          </p:cNvSpPr>
          <p:nvPr/>
        </p:nvSpPr>
        <p:spPr bwMode="gray">
          <a:xfrm>
            <a:off x="49530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5</a:t>
            </a:r>
            <a:endParaRPr lang="en-US" baseline="30000"/>
          </a:p>
        </p:txBody>
      </p:sp>
      <p:sp>
        <p:nvSpPr>
          <p:cNvPr id="42" name="AutoShape 6"/>
          <p:cNvSpPr>
            <a:spLocks noChangeArrowheads="1"/>
          </p:cNvSpPr>
          <p:nvPr/>
        </p:nvSpPr>
        <p:spPr bwMode="gray">
          <a:xfrm>
            <a:off x="54102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6</a:t>
            </a:r>
            <a:endParaRPr lang="en-US" baseline="30000"/>
          </a:p>
        </p:txBody>
      </p:sp>
      <p:sp>
        <p:nvSpPr>
          <p:cNvPr id="43" name="AutoShape 6"/>
          <p:cNvSpPr>
            <a:spLocks noChangeArrowheads="1"/>
          </p:cNvSpPr>
          <p:nvPr/>
        </p:nvSpPr>
        <p:spPr bwMode="gray">
          <a:xfrm>
            <a:off x="5867400" y="2204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7</a:t>
            </a:r>
            <a:endParaRPr lang="en-US" baseline="30000"/>
          </a:p>
        </p:txBody>
      </p:sp>
      <p:sp>
        <p:nvSpPr>
          <p:cNvPr id="11" name="Date Placeholder 10"/>
          <p:cNvSpPr>
            <a:spLocks noGrp="1"/>
          </p:cNvSpPr>
          <p:nvPr>
            <p:ph type="dt" sz="half" idx="10"/>
          </p:nvPr>
        </p:nvSpPr>
        <p:spPr/>
        <p:txBody>
          <a:bodyPr/>
          <a:lstStyle/>
          <a:p>
            <a:fld id="{2F1119D9-92CF-4100-80B2-6CEBCA7D2453}" type="datetime1">
              <a:rPr lang="vi-VN" smtClean="0"/>
              <a:t>14/01/2024</a:t>
            </a:fld>
            <a:endParaRPr lang="vi-VN"/>
          </a:p>
        </p:txBody>
      </p:sp>
      <p:sp>
        <p:nvSpPr>
          <p:cNvPr id="17" name="Footer Placeholder 16"/>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29</a:t>
            </a:fld>
            <a:r>
              <a:rPr lang="vi-VN"/>
              <a:t>/50</a:t>
            </a:r>
          </a:p>
        </p:txBody>
      </p:sp>
    </p:spTree>
    <p:extLst>
      <p:ext uri="{BB962C8B-B14F-4D97-AF65-F5344CB8AC3E}">
        <p14:creationId xmlns:p14="http://schemas.microsoft.com/office/powerpoint/2010/main" val="379478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500"/>
                                        <p:tgtEl>
                                          <p:spTgt spid="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500"/>
                                        <p:tgtEl>
                                          <p:spTgt spid="4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500"/>
                                        <p:tgtEl>
                                          <p:spTgt spid="4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fade">
                                      <p:cBhvr>
                                        <p:cTn id="76" dur="500"/>
                                        <p:tgtEl>
                                          <p:spTgt spid="43"/>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3">
                                            <p:txEl>
                                              <p:pRg st="6" end="6"/>
                                            </p:txEl>
                                          </p:spTgt>
                                        </p:tgtEl>
                                        <p:attrNameLst>
                                          <p:attrName>style.visibility</p:attrName>
                                        </p:attrNameLst>
                                      </p:cBhvr>
                                      <p:to>
                                        <p:strVal val="visible"/>
                                      </p:to>
                                    </p:set>
                                    <p:animEffect transition="in" filter="fade">
                                      <p:cBhvr>
                                        <p:cTn id="81" dur="500"/>
                                        <p:tgtEl>
                                          <p:spTgt spid="3">
                                            <p:txEl>
                                              <p:pRg st="6" end="6"/>
                                            </p:txEl>
                                          </p:spTgt>
                                        </p:tgtEl>
                                      </p:cBhvr>
                                    </p:animEffect>
                                    <p:anim calcmode="lin" valueType="num">
                                      <p:cBhvr>
                                        <p:cTn id="8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83" dur="500" fill="hold"/>
                                        <p:tgtEl>
                                          <p:spTgt spid="3">
                                            <p:txEl>
                                              <p:pRg st="6" end="6"/>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3">
                                            <p:txEl>
                                              <p:pRg st="7" end="7"/>
                                            </p:txEl>
                                          </p:spTgt>
                                        </p:tgtEl>
                                        <p:attrNameLst>
                                          <p:attrName>style.visibility</p:attrName>
                                        </p:attrNameLst>
                                      </p:cBhvr>
                                      <p:to>
                                        <p:strVal val="visible"/>
                                      </p:to>
                                    </p:set>
                                    <p:animEffect transition="in" filter="fade">
                                      <p:cBhvr>
                                        <p:cTn id="86" dur="500"/>
                                        <p:tgtEl>
                                          <p:spTgt spid="3">
                                            <p:txEl>
                                              <p:pRg st="7" end="7"/>
                                            </p:txEl>
                                          </p:spTgt>
                                        </p:tgtEl>
                                      </p:cBhvr>
                                    </p:animEffect>
                                    <p:anim calcmode="lin" valueType="num">
                                      <p:cBhvr>
                                        <p:cTn id="8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88"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00"/>
                                        <p:tgtEl>
                                          <p:spTgt spid="2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500"/>
                                        <p:tgtEl>
                                          <p:spTgt spid="3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2" grpId="0" animBg="1"/>
      <p:bldP spid="33" grpId="0" animBg="1"/>
      <p:bldP spid="34" grpId="0" animBg="1"/>
      <p:bldP spid="35" grpId="0" animBg="1"/>
      <p:bldP spid="36" grpId="0" animBg="1"/>
      <p:bldP spid="37" grpId="0" animBg="1"/>
      <p:bldP spid="38" grpId="0" animBg="1"/>
      <p:bldP spid="39" grpId="0" animBg="1"/>
      <p:bldP spid="5" grpId="0" animBg="1"/>
      <p:bldP spid="6" grpId="0" animBg="1"/>
      <p:bldP spid="7" grpId="0" animBg="1"/>
      <p:bldP spid="8" grpId="0" animBg="1"/>
      <p:bldP spid="9" grpId="0" animBg="1"/>
      <p:bldP spid="10" grpId="0" animBg="1"/>
      <p:bldP spid="20" grpId="0" animBg="1"/>
      <p:bldP spid="21" grpId="0" animBg="1"/>
      <p:bldP spid="22" grpId="0" animBg="1"/>
      <p:bldP spid="23" grpId="0" animBg="1"/>
      <p:bldP spid="12" grpId="0" animBg="1"/>
      <p:bldP spid="13" grpId="0" animBg="1"/>
      <p:bldP spid="15" grpId="0" animBg="1"/>
      <p:bldP spid="16" grpId="0" animBg="1"/>
      <p:bldP spid="14" grpId="0" animBg="1"/>
      <p:bldP spid="19" grpId="0" animBg="1"/>
      <p:bldP spid="28" grpId="0" animBg="1"/>
      <p:bldP spid="29" grpId="0" animBg="1"/>
      <p:bldP spid="30" grpId="0" animBg="1"/>
      <p:bldP spid="31" grpId="0" animBg="1"/>
      <p:bldP spid="40" grpId="0" animBg="1"/>
      <p:bldP spid="41" grpId="0" animBg="1"/>
      <p:bldP spid="42" grpId="0" animBg="1"/>
      <p:bldP spid="4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Mảng con trỏ (tt)</a:t>
            </a:r>
          </a:p>
        </p:txBody>
      </p:sp>
      <p:sp>
        <p:nvSpPr>
          <p:cNvPr id="37891" name="Content Placeholder 2"/>
          <p:cNvSpPr>
            <a:spLocks noGrp="1"/>
          </p:cNvSpPr>
          <p:nvPr>
            <p:ph idx="1"/>
          </p:nvPr>
        </p:nvSpPr>
        <p:spPr/>
        <p:txBody>
          <a:bodyPr/>
          <a:lstStyle/>
          <a:p>
            <a:pPr lvl="1"/>
            <a:r>
              <a:rPr lang="en-US">
                <a:latin typeface="Arial" charset="0"/>
                <a:cs typeface="Arial" charset="0"/>
              </a:rPr>
              <a:t>Cách 2: Mảng 1 chiều các con trỏ</a:t>
            </a:r>
          </a:p>
          <a:p>
            <a:pPr lvl="1"/>
            <a:endParaRPr lang="en-US">
              <a:latin typeface="Arial" charset="0"/>
              <a:cs typeface="Arial" charset="0"/>
            </a:endParaRPr>
          </a:p>
        </p:txBody>
      </p:sp>
      <p:sp>
        <p:nvSpPr>
          <p:cNvPr id="44" name="AutoShape 6"/>
          <p:cNvSpPr>
            <a:spLocks noChangeArrowheads="1"/>
          </p:cNvSpPr>
          <p:nvPr/>
        </p:nvSpPr>
        <p:spPr bwMode="gray">
          <a:xfrm>
            <a:off x="7543800" y="31444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45" name="AutoShape 6"/>
          <p:cNvSpPr>
            <a:spLocks noChangeArrowheads="1"/>
          </p:cNvSpPr>
          <p:nvPr/>
        </p:nvSpPr>
        <p:spPr bwMode="gray">
          <a:xfrm>
            <a:off x="7543800" y="50494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46" name="AutoShape 6"/>
          <p:cNvSpPr>
            <a:spLocks noChangeArrowheads="1"/>
          </p:cNvSpPr>
          <p:nvPr/>
        </p:nvSpPr>
        <p:spPr bwMode="gray">
          <a:xfrm>
            <a:off x="685800" y="50494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47" name="AutoShape 6"/>
          <p:cNvSpPr>
            <a:spLocks noChangeArrowheads="1"/>
          </p:cNvSpPr>
          <p:nvPr/>
        </p:nvSpPr>
        <p:spPr bwMode="gray">
          <a:xfrm>
            <a:off x="11430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8" name="AutoShape 6"/>
          <p:cNvSpPr>
            <a:spLocks noChangeArrowheads="1"/>
          </p:cNvSpPr>
          <p:nvPr/>
        </p:nvSpPr>
        <p:spPr bwMode="gray">
          <a:xfrm>
            <a:off x="16002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49" name="AutoShape 6"/>
          <p:cNvSpPr>
            <a:spLocks noChangeArrowheads="1"/>
          </p:cNvSpPr>
          <p:nvPr/>
        </p:nvSpPr>
        <p:spPr bwMode="gray">
          <a:xfrm>
            <a:off x="20574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0" name="AutoShape 6"/>
          <p:cNvSpPr>
            <a:spLocks noChangeArrowheads="1"/>
          </p:cNvSpPr>
          <p:nvPr/>
        </p:nvSpPr>
        <p:spPr bwMode="gray">
          <a:xfrm>
            <a:off x="25146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1" name="AutoShape 6"/>
          <p:cNvSpPr>
            <a:spLocks noChangeArrowheads="1"/>
          </p:cNvSpPr>
          <p:nvPr/>
        </p:nvSpPr>
        <p:spPr bwMode="gray">
          <a:xfrm>
            <a:off x="29718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2" name="AutoShape 6"/>
          <p:cNvSpPr>
            <a:spLocks noChangeArrowheads="1"/>
          </p:cNvSpPr>
          <p:nvPr/>
        </p:nvSpPr>
        <p:spPr bwMode="gray">
          <a:xfrm>
            <a:off x="34290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3" name="AutoShape 6"/>
          <p:cNvSpPr>
            <a:spLocks noChangeArrowheads="1"/>
          </p:cNvSpPr>
          <p:nvPr/>
        </p:nvSpPr>
        <p:spPr bwMode="gray">
          <a:xfrm>
            <a:off x="38862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4" name="AutoShape 6"/>
          <p:cNvSpPr>
            <a:spLocks noChangeArrowheads="1"/>
          </p:cNvSpPr>
          <p:nvPr/>
        </p:nvSpPr>
        <p:spPr bwMode="gray">
          <a:xfrm>
            <a:off x="43434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5" name="AutoShape 6"/>
          <p:cNvSpPr>
            <a:spLocks noChangeArrowheads="1"/>
          </p:cNvSpPr>
          <p:nvPr/>
        </p:nvSpPr>
        <p:spPr bwMode="gray">
          <a:xfrm>
            <a:off x="48006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6" name="AutoShape 6"/>
          <p:cNvSpPr>
            <a:spLocks noChangeArrowheads="1"/>
          </p:cNvSpPr>
          <p:nvPr/>
        </p:nvSpPr>
        <p:spPr bwMode="gray">
          <a:xfrm>
            <a:off x="52578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7" name="AutoShape 6"/>
          <p:cNvSpPr>
            <a:spLocks noChangeArrowheads="1"/>
          </p:cNvSpPr>
          <p:nvPr/>
        </p:nvSpPr>
        <p:spPr bwMode="gray">
          <a:xfrm>
            <a:off x="57150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8" name="AutoShape 6"/>
          <p:cNvSpPr>
            <a:spLocks noChangeArrowheads="1"/>
          </p:cNvSpPr>
          <p:nvPr/>
        </p:nvSpPr>
        <p:spPr bwMode="gray">
          <a:xfrm>
            <a:off x="61722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59" name="AutoShape 6"/>
          <p:cNvSpPr>
            <a:spLocks noChangeArrowheads="1"/>
          </p:cNvSpPr>
          <p:nvPr/>
        </p:nvSpPr>
        <p:spPr bwMode="gray">
          <a:xfrm>
            <a:off x="66294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0" name="AutoShape 6"/>
          <p:cNvSpPr>
            <a:spLocks noChangeArrowheads="1"/>
          </p:cNvSpPr>
          <p:nvPr/>
        </p:nvSpPr>
        <p:spPr bwMode="gray">
          <a:xfrm>
            <a:off x="7086600" y="5049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61" name="AutoShape 6"/>
          <p:cNvSpPr>
            <a:spLocks noChangeArrowheads="1"/>
          </p:cNvSpPr>
          <p:nvPr/>
        </p:nvSpPr>
        <p:spPr bwMode="gray">
          <a:xfrm>
            <a:off x="1600200" y="58876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array</a:t>
            </a:r>
          </a:p>
        </p:txBody>
      </p:sp>
      <p:sp>
        <p:nvSpPr>
          <p:cNvPr id="62" name="AutoShape 6"/>
          <p:cNvSpPr>
            <a:spLocks noChangeArrowheads="1"/>
          </p:cNvSpPr>
          <p:nvPr/>
        </p:nvSpPr>
        <p:spPr bwMode="gray">
          <a:xfrm>
            <a:off x="11430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0A</a:t>
            </a:r>
            <a:endParaRPr lang="en-US" baseline="30000"/>
          </a:p>
        </p:txBody>
      </p:sp>
      <p:sp>
        <p:nvSpPr>
          <p:cNvPr id="63" name="AutoShape 6"/>
          <p:cNvSpPr>
            <a:spLocks noChangeArrowheads="1"/>
          </p:cNvSpPr>
          <p:nvPr/>
        </p:nvSpPr>
        <p:spPr bwMode="gray">
          <a:xfrm>
            <a:off x="16002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0B</a:t>
            </a:r>
            <a:endParaRPr lang="en-US" baseline="30000"/>
          </a:p>
        </p:txBody>
      </p:sp>
      <p:sp>
        <p:nvSpPr>
          <p:cNvPr id="64" name="AutoShape 6"/>
          <p:cNvSpPr>
            <a:spLocks noChangeArrowheads="1"/>
          </p:cNvSpPr>
          <p:nvPr/>
        </p:nvSpPr>
        <p:spPr bwMode="gray">
          <a:xfrm>
            <a:off x="20574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0C</a:t>
            </a:r>
            <a:endParaRPr lang="en-US" baseline="30000"/>
          </a:p>
        </p:txBody>
      </p:sp>
      <p:sp>
        <p:nvSpPr>
          <p:cNvPr id="65" name="AutoShape 6"/>
          <p:cNvSpPr>
            <a:spLocks noChangeArrowheads="1"/>
          </p:cNvSpPr>
          <p:nvPr/>
        </p:nvSpPr>
        <p:spPr bwMode="gray">
          <a:xfrm>
            <a:off x="25146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0D</a:t>
            </a:r>
            <a:endParaRPr lang="en-US" baseline="30000"/>
          </a:p>
        </p:txBody>
      </p:sp>
      <p:sp>
        <p:nvSpPr>
          <p:cNvPr id="66" name="AutoShape 6"/>
          <p:cNvSpPr>
            <a:spLocks noChangeArrowheads="1"/>
          </p:cNvSpPr>
          <p:nvPr/>
        </p:nvSpPr>
        <p:spPr bwMode="gray">
          <a:xfrm>
            <a:off x="29718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0E</a:t>
            </a:r>
            <a:endParaRPr lang="en-US" baseline="30000"/>
          </a:p>
        </p:txBody>
      </p:sp>
      <p:sp>
        <p:nvSpPr>
          <p:cNvPr id="67" name="AutoShape 6"/>
          <p:cNvSpPr>
            <a:spLocks noChangeArrowheads="1"/>
          </p:cNvSpPr>
          <p:nvPr/>
        </p:nvSpPr>
        <p:spPr bwMode="gray">
          <a:xfrm>
            <a:off x="34290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0F</a:t>
            </a:r>
            <a:endParaRPr lang="en-US" baseline="30000"/>
          </a:p>
        </p:txBody>
      </p:sp>
      <p:sp>
        <p:nvSpPr>
          <p:cNvPr id="68" name="AutoShape 6"/>
          <p:cNvSpPr>
            <a:spLocks noChangeArrowheads="1"/>
          </p:cNvSpPr>
          <p:nvPr/>
        </p:nvSpPr>
        <p:spPr bwMode="gray">
          <a:xfrm>
            <a:off x="38862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10</a:t>
            </a:r>
            <a:endParaRPr lang="en-US" baseline="30000"/>
          </a:p>
        </p:txBody>
      </p:sp>
      <p:sp>
        <p:nvSpPr>
          <p:cNvPr id="69" name="AutoShape 6"/>
          <p:cNvSpPr>
            <a:spLocks noChangeArrowheads="1"/>
          </p:cNvSpPr>
          <p:nvPr/>
        </p:nvSpPr>
        <p:spPr bwMode="gray">
          <a:xfrm>
            <a:off x="43434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11</a:t>
            </a:r>
            <a:endParaRPr lang="en-US" baseline="30000"/>
          </a:p>
        </p:txBody>
      </p:sp>
      <p:sp>
        <p:nvSpPr>
          <p:cNvPr id="70" name="AutoShape 6"/>
          <p:cNvSpPr>
            <a:spLocks noChangeArrowheads="1"/>
          </p:cNvSpPr>
          <p:nvPr/>
        </p:nvSpPr>
        <p:spPr bwMode="gray">
          <a:xfrm>
            <a:off x="48006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12</a:t>
            </a:r>
            <a:endParaRPr lang="en-US" baseline="30000"/>
          </a:p>
        </p:txBody>
      </p:sp>
      <p:sp>
        <p:nvSpPr>
          <p:cNvPr id="71" name="AutoShape 6"/>
          <p:cNvSpPr>
            <a:spLocks noChangeArrowheads="1"/>
          </p:cNvSpPr>
          <p:nvPr/>
        </p:nvSpPr>
        <p:spPr bwMode="gray">
          <a:xfrm>
            <a:off x="52578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13</a:t>
            </a:r>
            <a:endParaRPr lang="en-US" baseline="30000"/>
          </a:p>
        </p:txBody>
      </p:sp>
      <p:sp>
        <p:nvSpPr>
          <p:cNvPr id="72" name="AutoShape 6"/>
          <p:cNvSpPr>
            <a:spLocks noChangeArrowheads="1"/>
          </p:cNvSpPr>
          <p:nvPr/>
        </p:nvSpPr>
        <p:spPr bwMode="gray">
          <a:xfrm>
            <a:off x="57150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14</a:t>
            </a:r>
            <a:endParaRPr lang="en-US" baseline="30000"/>
          </a:p>
        </p:txBody>
      </p:sp>
      <p:sp>
        <p:nvSpPr>
          <p:cNvPr id="73" name="AutoShape 6"/>
          <p:cNvSpPr>
            <a:spLocks noChangeArrowheads="1"/>
          </p:cNvSpPr>
          <p:nvPr/>
        </p:nvSpPr>
        <p:spPr bwMode="gray">
          <a:xfrm>
            <a:off x="61722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15</a:t>
            </a:r>
            <a:endParaRPr lang="en-US" baseline="30000"/>
          </a:p>
        </p:txBody>
      </p:sp>
      <p:sp>
        <p:nvSpPr>
          <p:cNvPr id="74" name="AutoShape 6"/>
          <p:cNvSpPr>
            <a:spLocks noChangeArrowheads="1"/>
          </p:cNvSpPr>
          <p:nvPr/>
        </p:nvSpPr>
        <p:spPr bwMode="gray">
          <a:xfrm>
            <a:off x="66294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16</a:t>
            </a:r>
            <a:endParaRPr lang="en-US" baseline="30000"/>
          </a:p>
        </p:txBody>
      </p:sp>
      <p:sp>
        <p:nvSpPr>
          <p:cNvPr id="75" name="AutoShape 6"/>
          <p:cNvSpPr>
            <a:spLocks noChangeArrowheads="1"/>
          </p:cNvSpPr>
          <p:nvPr/>
        </p:nvSpPr>
        <p:spPr bwMode="gray">
          <a:xfrm>
            <a:off x="7086600" y="45160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17</a:t>
            </a:r>
            <a:endParaRPr lang="en-US" baseline="30000"/>
          </a:p>
        </p:txBody>
      </p:sp>
      <p:sp>
        <p:nvSpPr>
          <p:cNvPr id="77" name="AutoShape 6"/>
          <p:cNvSpPr>
            <a:spLocks noChangeArrowheads="1"/>
          </p:cNvSpPr>
          <p:nvPr/>
        </p:nvSpPr>
        <p:spPr bwMode="gray">
          <a:xfrm>
            <a:off x="34290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78" name="AutoShape 6"/>
          <p:cNvSpPr>
            <a:spLocks noChangeArrowheads="1"/>
          </p:cNvSpPr>
          <p:nvPr/>
        </p:nvSpPr>
        <p:spPr bwMode="gray">
          <a:xfrm>
            <a:off x="38862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79" name="AutoShape 6"/>
          <p:cNvSpPr>
            <a:spLocks noChangeArrowheads="1"/>
          </p:cNvSpPr>
          <p:nvPr/>
        </p:nvSpPr>
        <p:spPr bwMode="gray">
          <a:xfrm>
            <a:off x="43434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0" name="AutoShape 6"/>
          <p:cNvSpPr>
            <a:spLocks noChangeArrowheads="1"/>
          </p:cNvSpPr>
          <p:nvPr/>
        </p:nvSpPr>
        <p:spPr bwMode="gray">
          <a:xfrm>
            <a:off x="48006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1" name="AutoShape 6"/>
          <p:cNvSpPr>
            <a:spLocks noChangeArrowheads="1"/>
          </p:cNvSpPr>
          <p:nvPr/>
        </p:nvSpPr>
        <p:spPr bwMode="gray">
          <a:xfrm>
            <a:off x="52578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2" name="AutoShape 6"/>
          <p:cNvSpPr>
            <a:spLocks noChangeArrowheads="1"/>
          </p:cNvSpPr>
          <p:nvPr/>
        </p:nvSpPr>
        <p:spPr bwMode="gray">
          <a:xfrm>
            <a:off x="57150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3" name="AutoShape 6"/>
          <p:cNvSpPr>
            <a:spLocks noChangeArrowheads="1"/>
          </p:cNvSpPr>
          <p:nvPr/>
        </p:nvSpPr>
        <p:spPr bwMode="gray">
          <a:xfrm>
            <a:off x="61722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4" name="AutoShape 6"/>
          <p:cNvSpPr>
            <a:spLocks noChangeArrowheads="1"/>
          </p:cNvSpPr>
          <p:nvPr/>
        </p:nvSpPr>
        <p:spPr bwMode="gray">
          <a:xfrm>
            <a:off x="66294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85" name="AutoShape 6"/>
          <p:cNvSpPr>
            <a:spLocks noChangeArrowheads="1"/>
          </p:cNvSpPr>
          <p:nvPr/>
        </p:nvSpPr>
        <p:spPr bwMode="gray">
          <a:xfrm>
            <a:off x="34290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28</a:t>
            </a:r>
            <a:endParaRPr lang="en-US" baseline="30000"/>
          </a:p>
        </p:txBody>
      </p:sp>
      <p:sp>
        <p:nvSpPr>
          <p:cNvPr id="86" name="AutoShape 6"/>
          <p:cNvSpPr>
            <a:spLocks noChangeArrowheads="1"/>
          </p:cNvSpPr>
          <p:nvPr/>
        </p:nvSpPr>
        <p:spPr bwMode="gray">
          <a:xfrm>
            <a:off x="38862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29</a:t>
            </a:r>
            <a:endParaRPr lang="en-US" baseline="30000"/>
          </a:p>
        </p:txBody>
      </p:sp>
      <p:sp>
        <p:nvSpPr>
          <p:cNvPr id="87" name="AutoShape 6"/>
          <p:cNvSpPr>
            <a:spLocks noChangeArrowheads="1"/>
          </p:cNvSpPr>
          <p:nvPr/>
        </p:nvSpPr>
        <p:spPr bwMode="gray">
          <a:xfrm>
            <a:off x="43434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2A</a:t>
            </a:r>
            <a:endParaRPr lang="en-US" baseline="30000"/>
          </a:p>
        </p:txBody>
      </p:sp>
      <p:sp>
        <p:nvSpPr>
          <p:cNvPr id="88" name="AutoShape 6"/>
          <p:cNvSpPr>
            <a:spLocks noChangeArrowheads="1"/>
          </p:cNvSpPr>
          <p:nvPr/>
        </p:nvSpPr>
        <p:spPr bwMode="gray">
          <a:xfrm>
            <a:off x="48006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2B</a:t>
            </a:r>
            <a:endParaRPr lang="en-US" baseline="30000"/>
          </a:p>
        </p:txBody>
      </p:sp>
      <p:sp>
        <p:nvSpPr>
          <p:cNvPr id="89" name="AutoShape 6"/>
          <p:cNvSpPr>
            <a:spLocks noChangeArrowheads="1"/>
          </p:cNvSpPr>
          <p:nvPr/>
        </p:nvSpPr>
        <p:spPr bwMode="gray">
          <a:xfrm>
            <a:off x="52578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2C</a:t>
            </a:r>
            <a:endParaRPr lang="en-US" baseline="30000"/>
          </a:p>
        </p:txBody>
      </p:sp>
      <p:sp>
        <p:nvSpPr>
          <p:cNvPr id="90" name="AutoShape 6"/>
          <p:cNvSpPr>
            <a:spLocks noChangeArrowheads="1"/>
          </p:cNvSpPr>
          <p:nvPr/>
        </p:nvSpPr>
        <p:spPr bwMode="gray">
          <a:xfrm>
            <a:off x="57150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2D</a:t>
            </a:r>
            <a:endParaRPr lang="en-US" baseline="30000"/>
          </a:p>
        </p:txBody>
      </p:sp>
      <p:sp>
        <p:nvSpPr>
          <p:cNvPr id="91" name="AutoShape 6"/>
          <p:cNvSpPr>
            <a:spLocks noChangeArrowheads="1"/>
          </p:cNvSpPr>
          <p:nvPr/>
        </p:nvSpPr>
        <p:spPr bwMode="gray">
          <a:xfrm>
            <a:off x="61722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2E</a:t>
            </a:r>
            <a:endParaRPr lang="en-US" baseline="30000"/>
          </a:p>
        </p:txBody>
      </p:sp>
      <p:sp>
        <p:nvSpPr>
          <p:cNvPr id="92" name="AutoShape 6"/>
          <p:cNvSpPr>
            <a:spLocks noChangeArrowheads="1"/>
          </p:cNvSpPr>
          <p:nvPr/>
        </p:nvSpPr>
        <p:spPr bwMode="gray">
          <a:xfrm>
            <a:off x="6629400" y="26872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2F</a:t>
            </a:r>
            <a:endParaRPr lang="en-US" baseline="30000"/>
          </a:p>
        </p:txBody>
      </p:sp>
      <p:cxnSp>
        <p:nvCxnSpPr>
          <p:cNvPr id="93" name="Straight Arrow Connector 92"/>
          <p:cNvCxnSpPr/>
          <p:nvPr/>
        </p:nvCxnSpPr>
        <p:spPr>
          <a:xfrm rot="5400000" flipH="1" flipV="1">
            <a:off x="5372895" y="4400922"/>
            <a:ext cx="227012" cy="3175"/>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63" idx="0"/>
          </p:cNvCxnSpPr>
          <p:nvPr/>
        </p:nvCxnSpPr>
        <p:spPr>
          <a:xfrm rot="5400000" flipH="1" flipV="1">
            <a:off x="953294" y="3638922"/>
            <a:ext cx="17526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rot="5400000" flipH="1" flipV="1">
            <a:off x="1639887" y="5771729"/>
            <a:ext cx="37941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1" name="AutoShape 6"/>
          <p:cNvSpPr>
            <a:spLocks noChangeArrowheads="1"/>
          </p:cNvSpPr>
          <p:nvPr/>
        </p:nvSpPr>
        <p:spPr bwMode="gray">
          <a:xfrm>
            <a:off x="34290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2</a:t>
            </a:r>
          </a:p>
        </p:txBody>
      </p:sp>
      <p:sp>
        <p:nvSpPr>
          <p:cNvPr id="102" name="AutoShape 6"/>
          <p:cNvSpPr>
            <a:spLocks noChangeArrowheads="1"/>
          </p:cNvSpPr>
          <p:nvPr/>
        </p:nvSpPr>
        <p:spPr bwMode="gray">
          <a:xfrm>
            <a:off x="38862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9</a:t>
            </a:r>
          </a:p>
        </p:txBody>
      </p:sp>
      <p:sp>
        <p:nvSpPr>
          <p:cNvPr id="103" name="AutoShape 6"/>
          <p:cNvSpPr>
            <a:spLocks noChangeArrowheads="1"/>
          </p:cNvSpPr>
          <p:nvPr/>
        </p:nvSpPr>
        <p:spPr bwMode="gray">
          <a:xfrm>
            <a:off x="43434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1</a:t>
            </a:r>
          </a:p>
        </p:txBody>
      </p:sp>
      <p:sp>
        <p:nvSpPr>
          <p:cNvPr id="104" name="AutoShape 6"/>
          <p:cNvSpPr>
            <a:spLocks noChangeArrowheads="1"/>
          </p:cNvSpPr>
          <p:nvPr/>
        </p:nvSpPr>
        <p:spPr bwMode="gray">
          <a:xfrm>
            <a:off x="48006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2</a:t>
            </a:r>
          </a:p>
        </p:txBody>
      </p:sp>
      <p:sp>
        <p:nvSpPr>
          <p:cNvPr id="168" name="AutoShape 6"/>
          <p:cNvSpPr>
            <a:spLocks noChangeArrowheads="1"/>
          </p:cNvSpPr>
          <p:nvPr/>
        </p:nvSpPr>
        <p:spPr bwMode="gray">
          <a:xfrm>
            <a:off x="52578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1</a:t>
            </a:r>
          </a:p>
        </p:txBody>
      </p:sp>
      <p:sp>
        <p:nvSpPr>
          <p:cNvPr id="169" name="AutoShape 6"/>
          <p:cNvSpPr>
            <a:spLocks noChangeArrowheads="1"/>
          </p:cNvSpPr>
          <p:nvPr/>
        </p:nvSpPr>
        <p:spPr bwMode="gray">
          <a:xfrm>
            <a:off x="57150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7</a:t>
            </a:r>
          </a:p>
        </p:txBody>
      </p:sp>
      <p:sp>
        <p:nvSpPr>
          <p:cNvPr id="170" name="AutoShape 6"/>
          <p:cNvSpPr>
            <a:spLocks noChangeArrowheads="1"/>
          </p:cNvSpPr>
          <p:nvPr/>
        </p:nvSpPr>
        <p:spPr bwMode="gray">
          <a:xfrm>
            <a:off x="61722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a:t>
            </a:r>
          </a:p>
        </p:txBody>
      </p:sp>
      <p:sp>
        <p:nvSpPr>
          <p:cNvPr id="171" name="AutoShape 6"/>
          <p:cNvSpPr>
            <a:spLocks noChangeArrowheads="1"/>
          </p:cNvSpPr>
          <p:nvPr/>
        </p:nvSpPr>
        <p:spPr bwMode="gray">
          <a:xfrm>
            <a:off x="6629400" y="3144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6</a:t>
            </a:r>
          </a:p>
        </p:txBody>
      </p:sp>
      <p:sp>
        <p:nvSpPr>
          <p:cNvPr id="172" name="AutoShape 6"/>
          <p:cNvSpPr>
            <a:spLocks noChangeArrowheads="1"/>
          </p:cNvSpPr>
          <p:nvPr/>
        </p:nvSpPr>
        <p:spPr bwMode="gray">
          <a:xfrm>
            <a:off x="4800600" y="22300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175" name="AutoShape 6"/>
          <p:cNvSpPr>
            <a:spLocks noChangeArrowheads="1"/>
          </p:cNvSpPr>
          <p:nvPr/>
        </p:nvSpPr>
        <p:spPr bwMode="gray">
          <a:xfrm>
            <a:off x="16002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76" name="AutoShape 6"/>
          <p:cNvSpPr>
            <a:spLocks noChangeArrowheads="1"/>
          </p:cNvSpPr>
          <p:nvPr/>
        </p:nvSpPr>
        <p:spPr bwMode="gray">
          <a:xfrm>
            <a:off x="20574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77" name="AutoShape 6"/>
          <p:cNvSpPr>
            <a:spLocks noChangeArrowheads="1"/>
          </p:cNvSpPr>
          <p:nvPr/>
        </p:nvSpPr>
        <p:spPr bwMode="gray">
          <a:xfrm>
            <a:off x="25146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78" name="AutoShape 6"/>
          <p:cNvSpPr>
            <a:spLocks noChangeArrowheads="1"/>
          </p:cNvSpPr>
          <p:nvPr/>
        </p:nvSpPr>
        <p:spPr bwMode="gray">
          <a:xfrm>
            <a:off x="29718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79" name="AutoShape 6"/>
          <p:cNvSpPr>
            <a:spLocks noChangeArrowheads="1"/>
          </p:cNvSpPr>
          <p:nvPr/>
        </p:nvSpPr>
        <p:spPr bwMode="gray">
          <a:xfrm>
            <a:off x="34290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80" name="AutoShape 6"/>
          <p:cNvSpPr>
            <a:spLocks noChangeArrowheads="1"/>
          </p:cNvSpPr>
          <p:nvPr/>
        </p:nvSpPr>
        <p:spPr bwMode="gray">
          <a:xfrm>
            <a:off x="38862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81" name="AutoShape 6"/>
          <p:cNvSpPr>
            <a:spLocks noChangeArrowheads="1"/>
          </p:cNvSpPr>
          <p:nvPr/>
        </p:nvSpPr>
        <p:spPr bwMode="gray">
          <a:xfrm>
            <a:off x="4343400" y="22300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182" name="AutoShape 6"/>
          <p:cNvSpPr>
            <a:spLocks noChangeArrowheads="1"/>
          </p:cNvSpPr>
          <p:nvPr/>
        </p:nvSpPr>
        <p:spPr bwMode="gray">
          <a:xfrm>
            <a:off x="11430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18</a:t>
            </a:r>
            <a:endParaRPr lang="en-US" baseline="30000"/>
          </a:p>
        </p:txBody>
      </p:sp>
      <p:sp>
        <p:nvSpPr>
          <p:cNvPr id="183" name="AutoShape 6"/>
          <p:cNvSpPr>
            <a:spLocks noChangeArrowheads="1"/>
          </p:cNvSpPr>
          <p:nvPr/>
        </p:nvSpPr>
        <p:spPr bwMode="gray">
          <a:xfrm>
            <a:off x="16002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19</a:t>
            </a:r>
            <a:endParaRPr lang="en-US" baseline="30000"/>
          </a:p>
        </p:txBody>
      </p:sp>
      <p:sp>
        <p:nvSpPr>
          <p:cNvPr id="184" name="AutoShape 6"/>
          <p:cNvSpPr>
            <a:spLocks noChangeArrowheads="1"/>
          </p:cNvSpPr>
          <p:nvPr/>
        </p:nvSpPr>
        <p:spPr bwMode="gray">
          <a:xfrm>
            <a:off x="20574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1A</a:t>
            </a:r>
            <a:endParaRPr lang="en-US" baseline="30000"/>
          </a:p>
        </p:txBody>
      </p:sp>
      <p:sp>
        <p:nvSpPr>
          <p:cNvPr id="185" name="AutoShape 6"/>
          <p:cNvSpPr>
            <a:spLocks noChangeArrowheads="1"/>
          </p:cNvSpPr>
          <p:nvPr/>
        </p:nvSpPr>
        <p:spPr bwMode="gray">
          <a:xfrm>
            <a:off x="25146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1B</a:t>
            </a:r>
            <a:endParaRPr lang="en-US" baseline="30000"/>
          </a:p>
        </p:txBody>
      </p:sp>
      <p:sp>
        <p:nvSpPr>
          <p:cNvPr id="186" name="AutoShape 6"/>
          <p:cNvSpPr>
            <a:spLocks noChangeArrowheads="1"/>
          </p:cNvSpPr>
          <p:nvPr/>
        </p:nvSpPr>
        <p:spPr bwMode="gray">
          <a:xfrm>
            <a:off x="29718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1C</a:t>
            </a:r>
            <a:endParaRPr lang="en-US" baseline="30000"/>
          </a:p>
        </p:txBody>
      </p:sp>
      <p:sp>
        <p:nvSpPr>
          <p:cNvPr id="187" name="AutoShape 6"/>
          <p:cNvSpPr>
            <a:spLocks noChangeArrowheads="1"/>
          </p:cNvSpPr>
          <p:nvPr/>
        </p:nvSpPr>
        <p:spPr bwMode="gray">
          <a:xfrm>
            <a:off x="34290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1D</a:t>
            </a:r>
            <a:endParaRPr lang="en-US" baseline="30000"/>
          </a:p>
        </p:txBody>
      </p:sp>
      <p:sp>
        <p:nvSpPr>
          <p:cNvPr id="188" name="AutoShape 6"/>
          <p:cNvSpPr>
            <a:spLocks noChangeArrowheads="1"/>
          </p:cNvSpPr>
          <p:nvPr/>
        </p:nvSpPr>
        <p:spPr bwMode="gray">
          <a:xfrm>
            <a:off x="38862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1E</a:t>
            </a:r>
            <a:endParaRPr lang="en-US" baseline="30000"/>
          </a:p>
        </p:txBody>
      </p:sp>
      <p:sp>
        <p:nvSpPr>
          <p:cNvPr id="189" name="AutoShape 6"/>
          <p:cNvSpPr>
            <a:spLocks noChangeArrowheads="1"/>
          </p:cNvSpPr>
          <p:nvPr/>
        </p:nvSpPr>
        <p:spPr bwMode="gray">
          <a:xfrm>
            <a:off x="4343400" y="17728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1F</a:t>
            </a:r>
            <a:endParaRPr lang="en-US" baseline="30000"/>
          </a:p>
        </p:txBody>
      </p:sp>
      <p:sp>
        <p:nvSpPr>
          <p:cNvPr id="190" name="AutoShape 6"/>
          <p:cNvSpPr>
            <a:spLocks noChangeArrowheads="1"/>
          </p:cNvSpPr>
          <p:nvPr/>
        </p:nvSpPr>
        <p:spPr bwMode="gray">
          <a:xfrm>
            <a:off x="1600200" y="22300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1</a:t>
            </a:r>
          </a:p>
        </p:txBody>
      </p:sp>
      <p:sp>
        <p:nvSpPr>
          <p:cNvPr id="191" name="AutoShape 6"/>
          <p:cNvSpPr>
            <a:spLocks noChangeArrowheads="1"/>
          </p:cNvSpPr>
          <p:nvPr/>
        </p:nvSpPr>
        <p:spPr bwMode="gray">
          <a:xfrm>
            <a:off x="2057400" y="22300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5</a:t>
            </a:r>
          </a:p>
        </p:txBody>
      </p:sp>
      <p:sp>
        <p:nvSpPr>
          <p:cNvPr id="192" name="AutoShape 6"/>
          <p:cNvSpPr>
            <a:spLocks noChangeArrowheads="1"/>
          </p:cNvSpPr>
          <p:nvPr/>
        </p:nvSpPr>
        <p:spPr bwMode="gray">
          <a:xfrm>
            <a:off x="2514600" y="22300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6</a:t>
            </a:r>
          </a:p>
        </p:txBody>
      </p:sp>
      <p:sp>
        <p:nvSpPr>
          <p:cNvPr id="199" name="AutoShape 6"/>
          <p:cNvSpPr>
            <a:spLocks noChangeArrowheads="1"/>
          </p:cNvSpPr>
          <p:nvPr/>
        </p:nvSpPr>
        <p:spPr bwMode="gray">
          <a:xfrm>
            <a:off x="7543800" y="40588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207" name="AutoShape 6"/>
          <p:cNvSpPr>
            <a:spLocks noChangeArrowheads="1"/>
          </p:cNvSpPr>
          <p:nvPr/>
        </p:nvSpPr>
        <p:spPr bwMode="gray">
          <a:xfrm>
            <a:off x="6629400" y="40588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08" name="AutoShape 6"/>
          <p:cNvSpPr>
            <a:spLocks noChangeArrowheads="1"/>
          </p:cNvSpPr>
          <p:nvPr/>
        </p:nvSpPr>
        <p:spPr bwMode="gray">
          <a:xfrm>
            <a:off x="7086600" y="40588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15" name="AutoShape 6"/>
          <p:cNvSpPr>
            <a:spLocks noChangeArrowheads="1"/>
          </p:cNvSpPr>
          <p:nvPr/>
        </p:nvSpPr>
        <p:spPr bwMode="gray">
          <a:xfrm>
            <a:off x="6629400" y="36016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3B</a:t>
            </a:r>
            <a:endParaRPr lang="en-US" baseline="30000"/>
          </a:p>
        </p:txBody>
      </p:sp>
      <p:sp>
        <p:nvSpPr>
          <p:cNvPr id="216" name="AutoShape 6"/>
          <p:cNvSpPr>
            <a:spLocks noChangeArrowheads="1"/>
          </p:cNvSpPr>
          <p:nvPr/>
        </p:nvSpPr>
        <p:spPr bwMode="gray">
          <a:xfrm>
            <a:off x="7086600" y="36016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3C</a:t>
            </a:r>
            <a:endParaRPr lang="en-US" baseline="30000"/>
          </a:p>
        </p:txBody>
      </p:sp>
      <p:sp>
        <p:nvSpPr>
          <p:cNvPr id="221" name="AutoShape 6"/>
          <p:cNvSpPr>
            <a:spLocks noChangeArrowheads="1"/>
          </p:cNvSpPr>
          <p:nvPr/>
        </p:nvSpPr>
        <p:spPr bwMode="gray">
          <a:xfrm>
            <a:off x="6172200" y="3982616"/>
            <a:ext cx="9144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226" name="AutoShape 6"/>
          <p:cNvSpPr>
            <a:spLocks noChangeArrowheads="1"/>
          </p:cNvSpPr>
          <p:nvPr/>
        </p:nvSpPr>
        <p:spPr bwMode="gray">
          <a:xfrm>
            <a:off x="6172200" y="40588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27" name="AutoShape 6"/>
          <p:cNvSpPr>
            <a:spLocks noChangeArrowheads="1"/>
          </p:cNvSpPr>
          <p:nvPr/>
        </p:nvSpPr>
        <p:spPr bwMode="gray">
          <a:xfrm>
            <a:off x="6172200" y="3601616"/>
            <a:ext cx="4572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t>3A</a:t>
            </a:r>
            <a:endParaRPr lang="en-US" baseline="30000"/>
          </a:p>
        </p:txBody>
      </p:sp>
      <p:sp>
        <p:nvSpPr>
          <p:cNvPr id="228" name="AutoShape 6"/>
          <p:cNvSpPr>
            <a:spLocks noChangeArrowheads="1"/>
          </p:cNvSpPr>
          <p:nvPr/>
        </p:nvSpPr>
        <p:spPr bwMode="gray">
          <a:xfrm>
            <a:off x="1143000" y="22300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194" name="AutoShape 6"/>
          <p:cNvSpPr>
            <a:spLocks noChangeArrowheads="1"/>
          </p:cNvSpPr>
          <p:nvPr/>
        </p:nvSpPr>
        <p:spPr bwMode="gray">
          <a:xfrm>
            <a:off x="1600200" y="2153816"/>
            <a:ext cx="13716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217" name="AutoShape 6"/>
          <p:cNvSpPr>
            <a:spLocks noChangeArrowheads="1"/>
          </p:cNvSpPr>
          <p:nvPr/>
        </p:nvSpPr>
        <p:spPr bwMode="gray">
          <a:xfrm>
            <a:off x="6172200" y="40588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a:t>
            </a:r>
          </a:p>
        </p:txBody>
      </p:sp>
      <p:sp>
        <p:nvSpPr>
          <p:cNvPr id="218" name="AutoShape 6"/>
          <p:cNvSpPr>
            <a:spLocks noChangeArrowheads="1"/>
          </p:cNvSpPr>
          <p:nvPr/>
        </p:nvSpPr>
        <p:spPr bwMode="gray">
          <a:xfrm>
            <a:off x="6629400" y="40588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2</a:t>
            </a:r>
          </a:p>
        </p:txBody>
      </p:sp>
      <p:sp>
        <p:nvSpPr>
          <p:cNvPr id="229" name="AutoShape 6"/>
          <p:cNvSpPr>
            <a:spLocks noChangeArrowheads="1"/>
          </p:cNvSpPr>
          <p:nvPr/>
        </p:nvSpPr>
        <p:spPr bwMode="gray">
          <a:xfrm>
            <a:off x="7086600" y="3144416"/>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sz="2400"/>
          </a:p>
        </p:txBody>
      </p:sp>
      <p:sp>
        <p:nvSpPr>
          <p:cNvPr id="230" name="AutoShape 6"/>
          <p:cNvSpPr>
            <a:spLocks noChangeArrowheads="1"/>
          </p:cNvSpPr>
          <p:nvPr/>
        </p:nvSpPr>
        <p:spPr bwMode="gray">
          <a:xfrm>
            <a:off x="2971800" y="3144416"/>
            <a:ext cx="457200" cy="457200"/>
          </a:xfrm>
          <a:prstGeom prst="roundRect">
            <a:avLst>
              <a:gd name="adj" fmla="val 16667"/>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a:defRPr/>
            </a:pPr>
            <a:r>
              <a:rPr lang="en-US" sz="2400"/>
              <a:t>…</a:t>
            </a:r>
          </a:p>
        </p:txBody>
      </p:sp>
      <p:sp>
        <p:nvSpPr>
          <p:cNvPr id="105" name="AutoShape 6"/>
          <p:cNvSpPr>
            <a:spLocks noChangeArrowheads="1"/>
          </p:cNvSpPr>
          <p:nvPr/>
        </p:nvSpPr>
        <p:spPr bwMode="gray">
          <a:xfrm>
            <a:off x="3429000" y="3068216"/>
            <a:ext cx="36576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231" name="AutoShape 6"/>
          <p:cNvSpPr>
            <a:spLocks noChangeArrowheads="1"/>
          </p:cNvSpPr>
          <p:nvPr/>
        </p:nvSpPr>
        <p:spPr bwMode="gray">
          <a:xfrm>
            <a:off x="16002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19</a:t>
            </a:r>
          </a:p>
        </p:txBody>
      </p:sp>
      <p:sp>
        <p:nvSpPr>
          <p:cNvPr id="232" name="AutoShape 6"/>
          <p:cNvSpPr>
            <a:spLocks noChangeArrowheads="1"/>
          </p:cNvSpPr>
          <p:nvPr/>
        </p:nvSpPr>
        <p:spPr bwMode="gray">
          <a:xfrm>
            <a:off x="20574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3" name="AutoShape 6"/>
          <p:cNvSpPr>
            <a:spLocks noChangeArrowheads="1"/>
          </p:cNvSpPr>
          <p:nvPr/>
        </p:nvSpPr>
        <p:spPr bwMode="gray">
          <a:xfrm>
            <a:off x="25146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4" name="AutoShape 6"/>
          <p:cNvSpPr>
            <a:spLocks noChangeArrowheads="1"/>
          </p:cNvSpPr>
          <p:nvPr/>
        </p:nvSpPr>
        <p:spPr bwMode="gray">
          <a:xfrm>
            <a:off x="29718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5" name="AutoShape 6"/>
          <p:cNvSpPr>
            <a:spLocks noChangeArrowheads="1"/>
          </p:cNvSpPr>
          <p:nvPr/>
        </p:nvSpPr>
        <p:spPr bwMode="gray">
          <a:xfrm>
            <a:off x="34290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28</a:t>
            </a:r>
          </a:p>
        </p:txBody>
      </p:sp>
      <p:sp>
        <p:nvSpPr>
          <p:cNvPr id="236" name="AutoShape 6"/>
          <p:cNvSpPr>
            <a:spLocks noChangeArrowheads="1"/>
          </p:cNvSpPr>
          <p:nvPr/>
        </p:nvSpPr>
        <p:spPr bwMode="gray">
          <a:xfrm>
            <a:off x="38862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7" name="AutoShape 6"/>
          <p:cNvSpPr>
            <a:spLocks noChangeArrowheads="1"/>
          </p:cNvSpPr>
          <p:nvPr/>
        </p:nvSpPr>
        <p:spPr bwMode="gray">
          <a:xfrm>
            <a:off x="43434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8" name="AutoShape 6"/>
          <p:cNvSpPr>
            <a:spLocks noChangeArrowheads="1"/>
          </p:cNvSpPr>
          <p:nvPr/>
        </p:nvSpPr>
        <p:spPr bwMode="gray">
          <a:xfrm>
            <a:off x="48006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39" name="AutoShape 6"/>
          <p:cNvSpPr>
            <a:spLocks noChangeArrowheads="1"/>
          </p:cNvSpPr>
          <p:nvPr/>
        </p:nvSpPr>
        <p:spPr bwMode="gray">
          <a:xfrm>
            <a:off x="52578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3A</a:t>
            </a:r>
          </a:p>
        </p:txBody>
      </p:sp>
      <p:sp>
        <p:nvSpPr>
          <p:cNvPr id="240" name="AutoShape 6"/>
          <p:cNvSpPr>
            <a:spLocks noChangeArrowheads="1"/>
          </p:cNvSpPr>
          <p:nvPr/>
        </p:nvSpPr>
        <p:spPr bwMode="gray">
          <a:xfrm>
            <a:off x="57150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41" name="AutoShape 6"/>
          <p:cNvSpPr>
            <a:spLocks noChangeArrowheads="1"/>
          </p:cNvSpPr>
          <p:nvPr/>
        </p:nvSpPr>
        <p:spPr bwMode="gray">
          <a:xfrm>
            <a:off x="61722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sp>
        <p:nvSpPr>
          <p:cNvPr id="242" name="AutoShape 6"/>
          <p:cNvSpPr>
            <a:spLocks noChangeArrowheads="1"/>
          </p:cNvSpPr>
          <p:nvPr/>
        </p:nvSpPr>
        <p:spPr bwMode="gray">
          <a:xfrm>
            <a:off x="6629400" y="5049416"/>
            <a:ext cx="457200" cy="4572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00</a:t>
            </a:r>
          </a:p>
        </p:txBody>
      </p:sp>
      <p:cxnSp>
        <p:nvCxnSpPr>
          <p:cNvPr id="245" name="Straight Arrow Connector 244"/>
          <p:cNvCxnSpPr>
            <a:stCxn id="67" idx="0"/>
          </p:cNvCxnSpPr>
          <p:nvPr/>
        </p:nvCxnSpPr>
        <p:spPr>
          <a:xfrm rot="5400000" flipH="1" flipV="1">
            <a:off x="3239294" y="4096122"/>
            <a:ext cx="838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5486400" y="4287416"/>
            <a:ext cx="6858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8" name="AutoShape 6"/>
          <p:cNvSpPr>
            <a:spLocks noChangeArrowheads="1"/>
          </p:cNvSpPr>
          <p:nvPr/>
        </p:nvSpPr>
        <p:spPr bwMode="gray">
          <a:xfrm>
            <a:off x="1600200" y="4973216"/>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99" name="AutoShape 6"/>
          <p:cNvSpPr>
            <a:spLocks noChangeArrowheads="1"/>
          </p:cNvSpPr>
          <p:nvPr/>
        </p:nvSpPr>
        <p:spPr bwMode="gray">
          <a:xfrm>
            <a:off x="3429000" y="4973216"/>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100" name="AutoShape 6"/>
          <p:cNvSpPr>
            <a:spLocks noChangeArrowheads="1"/>
          </p:cNvSpPr>
          <p:nvPr/>
        </p:nvSpPr>
        <p:spPr bwMode="gray">
          <a:xfrm>
            <a:off x="5257800" y="4973216"/>
            <a:ext cx="1828800" cy="609600"/>
          </a:xfrm>
          <a:prstGeom prst="roundRect">
            <a:avLst>
              <a:gd name="adj" fmla="val 16667"/>
            </a:avLst>
          </a:prstGeom>
          <a:noFill/>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400"/>
          </a:p>
        </p:txBody>
      </p:sp>
      <p:sp>
        <p:nvSpPr>
          <p:cNvPr id="4" name="Date Placeholder 3"/>
          <p:cNvSpPr>
            <a:spLocks noGrp="1"/>
          </p:cNvSpPr>
          <p:nvPr>
            <p:ph type="dt" sz="half" idx="10"/>
          </p:nvPr>
        </p:nvSpPr>
        <p:spPr/>
        <p:txBody>
          <a:bodyPr/>
          <a:lstStyle/>
          <a:p>
            <a:fld id="{22431776-3DC8-4FAB-BE98-6A2443F29A6C}"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30</a:t>
            </a:fld>
            <a:r>
              <a:rPr lang="vi-VN"/>
              <a:t>/50</a:t>
            </a:r>
          </a:p>
        </p:txBody>
      </p:sp>
    </p:spTree>
    <p:extLst>
      <p:ext uri="{BB962C8B-B14F-4D97-AF65-F5344CB8AC3E}">
        <p14:creationId xmlns:p14="http://schemas.microsoft.com/office/powerpoint/2010/main" val="245554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500"/>
                                        <p:tgtEl>
                                          <p:spTgt spid="5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500"/>
                                        <p:tgtEl>
                                          <p:spTgt spid="5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500"/>
                                        <p:tgtEl>
                                          <p:spTgt spid="5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fade">
                                      <p:cBhvr>
                                        <p:cTn id="55" dur="500"/>
                                        <p:tgtEl>
                                          <p:spTgt spid="6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3"/>
                                        </p:tgtEl>
                                        <p:attrNameLst>
                                          <p:attrName>style.visibility</p:attrName>
                                        </p:attrNameLst>
                                      </p:cBhvr>
                                      <p:to>
                                        <p:strVal val="visible"/>
                                      </p:to>
                                    </p:set>
                                    <p:animEffect transition="in" filter="fade">
                                      <p:cBhvr>
                                        <p:cTn id="58" dur="500"/>
                                        <p:tgtEl>
                                          <p:spTgt spid="6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fade">
                                      <p:cBhvr>
                                        <p:cTn id="61" dur="500"/>
                                        <p:tgtEl>
                                          <p:spTgt spid="6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fade">
                                      <p:cBhvr>
                                        <p:cTn id="64" dur="500"/>
                                        <p:tgtEl>
                                          <p:spTgt spid="6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500"/>
                                        <p:tgtEl>
                                          <p:spTgt spid="6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animEffect transition="in" filter="fade">
                                      <p:cBhvr>
                                        <p:cTn id="76" dur="500"/>
                                        <p:tgtEl>
                                          <p:spTgt spid="6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animEffect transition="in" filter="fade">
                                      <p:cBhvr>
                                        <p:cTn id="79" dur="500"/>
                                        <p:tgtEl>
                                          <p:spTgt spid="7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fade">
                                      <p:cBhvr>
                                        <p:cTn id="82" dur="500"/>
                                        <p:tgtEl>
                                          <p:spTgt spid="7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animEffect transition="in" filter="fade">
                                      <p:cBhvr>
                                        <p:cTn id="85" dur="500"/>
                                        <p:tgtEl>
                                          <p:spTgt spid="7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3"/>
                                        </p:tgtEl>
                                        <p:attrNameLst>
                                          <p:attrName>style.visibility</p:attrName>
                                        </p:attrNameLst>
                                      </p:cBhvr>
                                      <p:to>
                                        <p:strVal val="visible"/>
                                      </p:to>
                                    </p:set>
                                    <p:animEffect transition="in" filter="fade">
                                      <p:cBhvr>
                                        <p:cTn id="88" dur="500"/>
                                        <p:tgtEl>
                                          <p:spTgt spid="7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fade">
                                      <p:cBhvr>
                                        <p:cTn id="91" dur="500"/>
                                        <p:tgtEl>
                                          <p:spTgt spid="7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fade">
                                      <p:cBhvr>
                                        <p:cTn id="94" dur="500"/>
                                        <p:tgtEl>
                                          <p:spTgt spid="7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98"/>
                                        </p:tgtEl>
                                        <p:attrNameLst>
                                          <p:attrName>style.visibility</p:attrName>
                                        </p:attrNameLst>
                                      </p:cBhvr>
                                      <p:to>
                                        <p:strVal val="visible"/>
                                      </p:to>
                                    </p:set>
                                    <p:animEffect transition="in" filter="fade">
                                      <p:cBhvr>
                                        <p:cTn id="99" dur="500"/>
                                        <p:tgtEl>
                                          <p:spTgt spid="9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9"/>
                                        </p:tgtEl>
                                        <p:attrNameLst>
                                          <p:attrName>style.visibility</p:attrName>
                                        </p:attrNameLst>
                                      </p:cBhvr>
                                      <p:to>
                                        <p:strVal val="visible"/>
                                      </p:to>
                                    </p:set>
                                    <p:animEffect transition="in" filter="fade">
                                      <p:cBhvr>
                                        <p:cTn id="102" dur="500"/>
                                        <p:tgtEl>
                                          <p:spTgt spid="9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00"/>
                                        </p:tgtEl>
                                        <p:attrNameLst>
                                          <p:attrName>style.visibility</p:attrName>
                                        </p:attrNameLst>
                                      </p:cBhvr>
                                      <p:to>
                                        <p:strVal val="visible"/>
                                      </p:to>
                                    </p:set>
                                    <p:animEffect transition="in" filter="fade">
                                      <p:cBhvr>
                                        <p:cTn id="105" dur="500"/>
                                        <p:tgtEl>
                                          <p:spTgt spid="100"/>
                                        </p:tgtEl>
                                      </p:cBhvr>
                                    </p:animEffect>
                                  </p:childTnLst>
                                </p:cTn>
                              </p:par>
                            </p:childTnLst>
                          </p:cTn>
                        </p:par>
                        <p:par>
                          <p:cTn id="106" fill="hold">
                            <p:stCondLst>
                              <p:cond delay="500"/>
                            </p:stCondLst>
                            <p:childTnLst>
                              <p:par>
                                <p:cTn id="107" presetID="10" presetClass="entr" presetSubtype="0" fill="hold" grpId="0" nodeType="after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fade">
                                      <p:cBhvr>
                                        <p:cTn id="109" dur="500"/>
                                        <p:tgtEl>
                                          <p:spTgt spid="61"/>
                                        </p:tgtEl>
                                      </p:cBhvr>
                                    </p:animEffect>
                                  </p:childTnLst>
                                </p:cTn>
                              </p:par>
                            </p:childTnLst>
                          </p:cTn>
                        </p:par>
                        <p:par>
                          <p:cTn id="110" fill="hold">
                            <p:stCondLst>
                              <p:cond delay="1000"/>
                            </p:stCondLst>
                            <p:childTnLst>
                              <p:par>
                                <p:cTn id="111" presetID="22" presetClass="entr" presetSubtype="4" fill="hold" nodeType="afterEffect">
                                  <p:stCondLst>
                                    <p:cond delay="0"/>
                                  </p:stCondLst>
                                  <p:childTnLst>
                                    <p:set>
                                      <p:cBhvr>
                                        <p:cTn id="112" dur="1" fill="hold">
                                          <p:stCondLst>
                                            <p:cond delay="0"/>
                                          </p:stCondLst>
                                        </p:cTn>
                                        <p:tgtEl>
                                          <p:spTgt spid="97"/>
                                        </p:tgtEl>
                                        <p:attrNameLst>
                                          <p:attrName>style.visibility</p:attrName>
                                        </p:attrNameLst>
                                      </p:cBhvr>
                                      <p:to>
                                        <p:strVal val="visible"/>
                                      </p:to>
                                    </p:set>
                                    <p:animEffect transition="in" filter="wipe(down)">
                                      <p:cBhvr>
                                        <p:cTn id="113" dur="500"/>
                                        <p:tgtEl>
                                          <p:spTgt spid="97"/>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172"/>
                                        </p:tgtEl>
                                        <p:attrNameLst>
                                          <p:attrName>style.visibility</p:attrName>
                                        </p:attrNameLst>
                                      </p:cBhvr>
                                      <p:to>
                                        <p:strVal val="visible"/>
                                      </p:to>
                                    </p:set>
                                    <p:animEffect transition="in" filter="fade">
                                      <p:cBhvr>
                                        <p:cTn id="118" dur="500"/>
                                        <p:tgtEl>
                                          <p:spTgt spid="17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75"/>
                                        </p:tgtEl>
                                        <p:attrNameLst>
                                          <p:attrName>style.visibility</p:attrName>
                                        </p:attrNameLst>
                                      </p:cBhvr>
                                      <p:to>
                                        <p:strVal val="visible"/>
                                      </p:to>
                                    </p:set>
                                    <p:animEffect transition="in" filter="fade">
                                      <p:cBhvr>
                                        <p:cTn id="121" dur="500"/>
                                        <p:tgtEl>
                                          <p:spTgt spid="17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76"/>
                                        </p:tgtEl>
                                        <p:attrNameLst>
                                          <p:attrName>style.visibility</p:attrName>
                                        </p:attrNameLst>
                                      </p:cBhvr>
                                      <p:to>
                                        <p:strVal val="visible"/>
                                      </p:to>
                                    </p:set>
                                    <p:animEffect transition="in" filter="fade">
                                      <p:cBhvr>
                                        <p:cTn id="124" dur="500"/>
                                        <p:tgtEl>
                                          <p:spTgt spid="176"/>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77"/>
                                        </p:tgtEl>
                                        <p:attrNameLst>
                                          <p:attrName>style.visibility</p:attrName>
                                        </p:attrNameLst>
                                      </p:cBhvr>
                                      <p:to>
                                        <p:strVal val="visible"/>
                                      </p:to>
                                    </p:set>
                                    <p:animEffect transition="in" filter="fade">
                                      <p:cBhvr>
                                        <p:cTn id="127" dur="500"/>
                                        <p:tgtEl>
                                          <p:spTgt spid="17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78"/>
                                        </p:tgtEl>
                                        <p:attrNameLst>
                                          <p:attrName>style.visibility</p:attrName>
                                        </p:attrNameLst>
                                      </p:cBhvr>
                                      <p:to>
                                        <p:strVal val="visible"/>
                                      </p:to>
                                    </p:set>
                                    <p:animEffect transition="in" filter="fade">
                                      <p:cBhvr>
                                        <p:cTn id="130" dur="500"/>
                                        <p:tgtEl>
                                          <p:spTgt spid="17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79"/>
                                        </p:tgtEl>
                                        <p:attrNameLst>
                                          <p:attrName>style.visibility</p:attrName>
                                        </p:attrNameLst>
                                      </p:cBhvr>
                                      <p:to>
                                        <p:strVal val="visible"/>
                                      </p:to>
                                    </p:set>
                                    <p:animEffect transition="in" filter="fade">
                                      <p:cBhvr>
                                        <p:cTn id="133" dur="500"/>
                                        <p:tgtEl>
                                          <p:spTgt spid="17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80"/>
                                        </p:tgtEl>
                                        <p:attrNameLst>
                                          <p:attrName>style.visibility</p:attrName>
                                        </p:attrNameLst>
                                      </p:cBhvr>
                                      <p:to>
                                        <p:strVal val="visible"/>
                                      </p:to>
                                    </p:set>
                                    <p:animEffect transition="in" filter="fade">
                                      <p:cBhvr>
                                        <p:cTn id="136" dur="500"/>
                                        <p:tgtEl>
                                          <p:spTgt spid="18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81"/>
                                        </p:tgtEl>
                                        <p:attrNameLst>
                                          <p:attrName>style.visibility</p:attrName>
                                        </p:attrNameLst>
                                      </p:cBhvr>
                                      <p:to>
                                        <p:strVal val="visible"/>
                                      </p:to>
                                    </p:set>
                                    <p:animEffect transition="in" filter="fade">
                                      <p:cBhvr>
                                        <p:cTn id="139" dur="500"/>
                                        <p:tgtEl>
                                          <p:spTgt spid="18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82"/>
                                        </p:tgtEl>
                                        <p:attrNameLst>
                                          <p:attrName>style.visibility</p:attrName>
                                        </p:attrNameLst>
                                      </p:cBhvr>
                                      <p:to>
                                        <p:strVal val="visible"/>
                                      </p:to>
                                    </p:set>
                                    <p:animEffect transition="in" filter="fade">
                                      <p:cBhvr>
                                        <p:cTn id="142" dur="500"/>
                                        <p:tgtEl>
                                          <p:spTgt spid="182"/>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183"/>
                                        </p:tgtEl>
                                        <p:attrNameLst>
                                          <p:attrName>style.visibility</p:attrName>
                                        </p:attrNameLst>
                                      </p:cBhvr>
                                      <p:to>
                                        <p:strVal val="visible"/>
                                      </p:to>
                                    </p:set>
                                    <p:animEffect transition="in" filter="fade">
                                      <p:cBhvr>
                                        <p:cTn id="145" dur="500"/>
                                        <p:tgtEl>
                                          <p:spTgt spid="18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84"/>
                                        </p:tgtEl>
                                        <p:attrNameLst>
                                          <p:attrName>style.visibility</p:attrName>
                                        </p:attrNameLst>
                                      </p:cBhvr>
                                      <p:to>
                                        <p:strVal val="visible"/>
                                      </p:to>
                                    </p:set>
                                    <p:animEffect transition="in" filter="fade">
                                      <p:cBhvr>
                                        <p:cTn id="148" dur="500"/>
                                        <p:tgtEl>
                                          <p:spTgt spid="184"/>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85"/>
                                        </p:tgtEl>
                                        <p:attrNameLst>
                                          <p:attrName>style.visibility</p:attrName>
                                        </p:attrNameLst>
                                      </p:cBhvr>
                                      <p:to>
                                        <p:strVal val="visible"/>
                                      </p:to>
                                    </p:set>
                                    <p:animEffect transition="in" filter="fade">
                                      <p:cBhvr>
                                        <p:cTn id="151" dur="500"/>
                                        <p:tgtEl>
                                          <p:spTgt spid="185"/>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86"/>
                                        </p:tgtEl>
                                        <p:attrNameLst>
                                          <p:attrName>style.visibility</p:attrName>
                                        </p:attrNameLst>
                                      </p:cBhvr>
                                      <p:to>
                                        <p:strVal val="visible"/>
                                      </p:to>
                                    </p:set>
                                    <p:animEffect transition="in" filter="fade">
                                      <p:cBhvr>
                                        <p:cTn id="154" dur="500"/>
                                        <p:tgtEl>
                                          <p:spTgt spid="186"/>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87"/>
                                        </p:tgtEl>
                                        <p:attrNameLst>
                                          <p:attrName>style.visibility</p:attrName>
                                        </p:attrNameLst>
                                      </p:cBhvr>
                                      <p:to>
                                        <p:strVal val="visible"/>
                                      </p:to>
                                    </p:set>
                                    <p:animEffect transition="in" filter="fade">
                                      <p:cBhvr>
                                        <p:cTn id="157" dur="500"/>
                                        <p:tgtEl>
                                          <p:spTgt spid="187"/>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88"/>
                                        </p:tgtEl>
                                        <p:attrNameLst>
                                          <p:attrName>style.visibility</p:attrName>
                                        </p:attrNameLst>
                                      </p:cBhvr>
                                      <p:to>
                                        <p:strVal val="visible"/>
                                      </p:to>
                                    </p:set>
                                    <p:animEffect transition="in" filter="fade">
                                      <p:cBhvr>
                                        <p:cTn id="160" dur="500"/>
                                        <p:tgtEl>
                                          <p:spTgt spid="188"/>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189"/>
                                        </p:tgtEl>
                                        <p:attrNameLst>
                                          <p:attrName>style.visibility</p:attrName>
                                        </p:attrNameLst>
                                      </p:cBhvr>
                                      <p:to>
                                        <p:strVal val="visible"/>
                                      </p:to>
                                    </p:set>
                                    <p:animEffect transition="in" filter="fade">
                                      <p:cBhvr>
                                        <p:cTn id="163" dur="500"/>
                                        <p:tgtEl>
                                          <p:spTgt spid="189"/>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190"/>
                                        </p:tgtEl>
                                        <p:attrNameLst>
                                          <p:attrName>style.visibility</p:attrName>
                                        </p:attrNameLst>
                                      </p:cBhvr>
                                      <p:to>
                                        <p:strVal val="visible"/>
                                      </p:to>
                                    </p:set>
                                    <p:animEffect transition="in" filter="fade">
                                      <p:cBhvr>
                                        <p:cTn id="166" dur="500"/>
                                        <p:tgtEl>
                                          <p:spTgt spid="190"/>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91"/>
                                        </p:tgtEl>
                                        <p:attrNameLst>
                                          <p:attrName>style.visibility</p:attrName>
                                        </p:attrNameLst>
                                      </p:cBhvr>
                                      <p:to>
                                        <p:strVal val="visible"/>
                                      </p:to>
                                    </p:set>
                                    <p:animEffect transition="in" filter="fade">
                                      <p:cBhvr>
                                        <p:cTn id="169" dur="500"/>
                                        <p:tgtEl>
                                          <p:spTgt spid="191"/>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92"/>
                                        </p:tgtEl>
                                        <p:attrNameLst>
                                          <p:attrName>style.visibility</p:attrName>
                                        </p:attrNameLst>
                                      </p:cBhvr>
                                      <p:to>
                                        <p:strVal val="visible"/>
                                      </p:to>
                                    </p:set>
                                    <p:animEffect transition="in" filter="fade">
                                      <p:cBhvr>
                                        <p:cTn id="172" dur="500"/>
                                        <p:tgtEl>
                                          <p:spTgt spid="192"/>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228"/>
                                        </p:tgtEl>
                                        <p:attrNameLst>
                                          <p:attrName>style.visibility</p:attrName>
                                        </p:attrNameLst>
                                      </p:cBhvr>
                                      <p:to>
                                        <p:strVal val="visible"/>
                                      </p:to>
                                    </p:set>
                                    <p:animEffect transition="in" filter="fade">
                                      <p:cBhvr>
                                        <p:cTn id="175" dur="500"/>
                                        <p:tgtEl>
                                          <p:spTgt spid="228"/>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94"/>
                                        </p:tgtEl>
                                        <p:attrNameLst>
                                          <p:attrName>style.visibility</p:attrName>
                                        </p:attrNameLst>
                                      </p:cBhvr>
                                      <p:to>
                                        <p:strVal val="visible"/>
                                      </p:to>
                                    </p:set>
                                    <p:animEffect transition="in" filter="fade">
                                      <p:cBhvr>
                                        <p:cTn id="178" dur="500"/>
                                        <p:tgtEl>
                                          <p:spTgt spid="194"/>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44"/>
                                        </p:tgtEl>
                                        <p:attrNameLst>
                                          <p:attrName>style.visibility</p:attrName>
                                        </p:attrNameLst>
                                      </p:cBhvr>
                                      <p:to>
                                        <p:strVal val="visible"/>
                                      </p:to>
                                    </p:set>
                                    <p:animEffect transition="in" filter="fade">
                                      <p:cBhvr>
                                        <p:cTn id="181" dur="500"/>
                                        <p:tgtEl>
                                          <p:spTgt spid="44"/>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77"/>
                                        </p:tgtEl>
                                        <p:attrNameLst>
                                          <p:attrName>style.visibility</p:attrName>
                                        </p:attrNameLst>
                                      </p:cBhvr>
                                      <p:to>
                                        <p:strVal val="visible"/>
                                      </p:to>
                                    </p:set>
                                    <p:animEffect transition="in" filter="fade">
                                      <p:cBhvr>
                                        <p:cTn id="184" dur="500"/>
                                        <p:tgtEl>
                                          <p:spTgt spid="77"/>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78"/>
                                        </p:tgtEl>
                                        <p:attrNameLst>
                                          <p:attrName>style.visibility</p:attrName>
                                        </p:attrNameLst>
                                      </p:cBhvr>
                                      <p:to>
                                        <p:strVal val="visible"/>
                                      </p:to>
                                    </p:set>
                                    <p:animEffect transition="in" filter="fade">
                                      <p:cBhvr>
                                        <p:cTn id="187" dur="500"/>
                                        <p:tgtEl>
                                          <p:spTgt spid="7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9"/>
                                        </p:tgtEl>
                                        <p:attrNameLst>
                                          <p:attrName>style.visibility</p:attrName>
                                        </p:attrNameLst>
                                      </p:cBhvr>
                                      <p:to>
                                        <p:strVal val="visible"/>
                                      </p:to>
                                    </p:set>
                                    <p:animEffect transition="in" filter="fade">
                                      <p:cBhvr>
                                        <p:cTn id="190" dur="500"/>
                                        <p:tgtEl>
                                          <p:spTgt spid="7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80"/>
                                        </p:tgtEl>
                                        <p:attrNameLst>
                                          <p:attrName>style.visibility</p:attrName>
                                        </p:attrNameLst>
                                      </p:cBhvr>
                                      <p:to>
                                        <p:strVal val="visible"/>
                                      </p:to>
                                    </p:set>
                                    <p:animEffect transition="in" filter="fade">
                                      <p:cBhvr>
                                        <p:cTn id="193" dur="500"/>
                                        <p:tgtEl>
                                          <p:spTgt spid="80"/>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81"/>
                                        </p:tgtEl>
                                        <p:attrNameLst>
                                          <p:attrName>style.visibility</p:attrName>
                                        </p:attrNameLst>
                                      </p:cBhvr>
                                      <p:to>
                                        <p:strVal val="visible"/>
                                      </p:to>
                                    </p:set>
                                    <p:animEffect transition="in" filter="fade">
                                      <p:cBhvr>
                                        <p:cTn id="196" dur="500"/>
                                        <p:tgtEl>
                                          <p:spTgt spid="81"/>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82"/>
                                        </p:tgtEl>
                                        <p:attrNameLst>
                                          <p:attrName>style.visibility</p:attrName>
                                        </p:attrNameLst>
                                      </p:cBhvr>
                                      <p:to>
                                        <p:strVal val="visible"/>
                                      </p:to>
                                    </p:set>
                                    <p:animEffect transition="in" filter="fade">
                                      <p:cBhvr>
                                        <p:cTn id="199" dur="500"/>
                                        <p:tgtEl>
                                          <p:spTgt spid="82"/>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83"/>
                                        </p:tgtEl>
                                        <p:attrNameLst>
                                          <p:attrName>style.visibility</p:attrName>
                                        </p:attrNameLst>
                                      </p:cBhvr>
                                      <p:to>
                                        <p:strVal val="visible"/>
                                      </p:to>
                                    </p:set>
                                    <p:animEffect transition="in" filter="fade">
                                      <p:cBhvr>
                                        <p:cTn id="202" dur="500"/>
                                        <p:tgtEl>
                                          <p:spTgt spid="83"/>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84"/>
                                        </p:tgtEl>
                                        <p:attrNameLst>
                                          <p:attrName>style.visibility</p:attrName>
                                        </p:attrNameLst>
                                      </p:cBhvr>
                                      <p:to>
                                        <p:strVal val="visible"/>
                                      </p:to>
                                    </p:set>
                                    <p:animEffect transition="in" filter="fade">
                                      <p:cBhvr>
                                        <p:cTn id="205" dur="500"/>
                                        <p:tgtEl>
                                          <p:spTgt spid="84"/>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85"/>
                                        </p:tgtEl>
                                        <p:attrNameLst>
                                          <p:attrName>style.visibility</p:attrName>
                                        </p:attrNameLst>
                                      </p:cBhvr>
                                      <p:to>
                                        <p:strVal val="visible"/>
                                      </p:to>
                                    </p:set>
                                    <p:animEffect transition="in" filter="fade">
                                      <p:cBhvr>
                                        <p:cTn id="208" dur="500"/>
                                        <p:tgtEl>
                                          <p:spTgt spid="85"/>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86"/>
                                        </p:tgtEl>
                                        <p:attrNameLst>
                                          <p:attrName>style.visibility</p:attrName>
                                        </p:attrNameLst>
                                      </p:cBhvr>
                                      <p:to>
                                        <p:strVal val="visible"/>
                                      </p:to>
                                    </p:set>
                                    <p:animEffect transition="in" filter="fade">
                                      <p:cBhvr>
                                        <p:cTn id="211" dur="500"/>
                                        <p:tgtEl>
                                          <p:spTgt spid="86"/>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87"/>
                                        </p:tgtEl>
                                        <p:attrNameLst>
                                          <p:attrName>style.visibility</p:attrName>
                                        </p:attrNameLst>
                                      </p:cBhvr>
                                      <p:to>
                                        <p:strVal val="visible"/>
                                      </p:to>
                                    </p:set>
                                    <p:animEffect transition="in" filter="fade">
                                      <p:cBhvr>
                                        <p:cTn id="214" dur="500"/>
                                        <p:tgtEl>
                                          <p:spTgt spid="87"/>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88"/>
                                        </p:tgtEl>
                                        <p:attrNameLst>
                                          <p:attrName>style.visibility</p:attrName>
                                        </p:attrNameLst>
                                      </p:cBhvr>
                                      <p:to>
                                        <p:strVal val="visible"/>
                                      </p:to>
                                    </p:set>
                                    <p:animEffect transition="in" filter="fade">
                                      <p:cBhvr>
                                        <p:cTn id="217" dur="500"/>
                                        <p:tgtEl>
                                          <p:spTgt spid="88"/>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89"/>
                                        </p:tgtEl>
                                        <p:attrNameLst>
                                          <p:attrName>style.visibility</p:attrName>
                                        </p:attrNameLst>
                                      </p:cBhvr>
                                      <p:to>
                                        <p:strVal val="visible"/>
                                      </p:to>
                                    </p:set>
                                    <p:animEffect transition="in" filter="fade">
                                      <p:cBhvr>
                                        <p:cTn id="220" dur="500"/>
                                        <p:tgtEl>
                                          <p:spTgt spid="89"/>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90"/>
                                        </p:tgtEl>
                                        <p:attrNameLst>
                                          <p:attrName>style.visibility</p:attrName>
                                        </p:attrNameLst>
                                      </p:cBhvr>
                                      <p:to>
                                        <p:strVal val="visible"/>
                                      </p:to>
                                    </p:set>
                                    <p:animEffect transition="in" filter="fade">
                                      <p:cBhvr>
                                        <p:cTn id="223" dur="500"/>
                                        <p:tgtEl>
                                          <p:spTgt spid="90"/>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91"/>
                                        </p:tgtEl>
                                        <p:attrNameLst>
                                          <p:attrName>style.visibility</p:attrName>
                                        </p:attrNameLst>
                                      </p:cBhvr>
                                      <p:to>
                                        <p:strVal val="visible"/>
                                      </p:to>
                                    </p:set>
                                    <p:animEffect transition="in" filter="fade">
                                      <p:cBhvr>
                                        <p:cTn id="226" dur="500"/>
                                        <p:tgtEl>
                                          <p:spTgt spid="91"/>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92"/>
                                        </p:tgtEl>
                                        <p:attrNameLst>
                                          <p:attrName>style.visibility</p:attrName>
                                        </p:attrNameLst>
                                      </p:cBhvr>
                                      <p:to>
                                        <p:strVal val="visible"/>
                                      </p:to>
                                    </p:set>
                                    <p:animEffect transition="in" filter="fade">
                                      <p:cBhvr>
                                        <p:cTn id="229" dur="500"/>
                                        <p:tgtEl>
                                          <p:spTgt spid="92"/>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101"/>
                                        </p:tgtEl>
                                        <p:attrNameLst>
                                          <p:attrName>style.visibility</p:attrName>
                                        </p:attrNameLst>
                                      </p:cBhvr>
                                      <p:to>
                                        <p:strVal val="visible"/>
                                      </p:to>
                                    </p:set>
                                    <p:animEffect transition="in" filter="fade">
                                      <p:cBhvr>
                                        <p:cTn id="232" dur="500"/>
                                        <p:tgtEl>
                                          <p:spTgt spid="101"/>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102"/>
                                        </p:tgtEl>
                                        <p:attrNameLst>
                                          <p:attrName>style.visibility</p:attrName>
                                        </p:attrNameLst>
                                      </p:cBhvr>
                                      <p:to>
                                        <p:strVal val="visible"/>
                                      </p:to>
                                    </p:set>
                                    <p:animEffect transition="in" filter="fade">
                                      <p:cBhvr>
                                        <p:cTn id="235" dur="500"/>
                                        <p:tgtEl>
                                          <p:spTgt spid="102"/>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103"/>
                                        </p:tgtEl>
                                        <p:attrNameLst>
                                          <p:attrName>style.visibility</p:attrName>
                                        </p:attrNameLst>
                                      </p:cBhvr>
                                      <p:to>
                                        <p:strVal val="visible"/>
                                      </p:to>
                                    </p:set>
                                    <p:animEffect transition="in" filter="fade">
                                      <p:cBhvr>
                                        <p:cTn id="238" dur="500"/>
                                        <p:tgtEl>
                                          <p:spTgt spid="103"/>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104"/>
                                        </p:tgtEl>
                                        <p:attrNameLst>
                                          <p:attrName>style.visibility</p:attrName>
                                        </p:attrNameLst>
                                      </p:cBhvr>
                                      <p:to>
                                        <p:strVal val="visible"/>
                                      </p:to>
                                    </p:set>
                                    <p:animEffect transition="in" filter="fade">
                                      <p:cBhvr>
                                        <p:cTn id="241" dur="500"/>
                                        <p:tgtEl>
                                          <p:spTgt spid="104"/>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168"/>
                                        </p:tgtEl>
                                        <p:attrNameLst>
                                          <p:attrName>style.visibility</p:attrName>
                                        </p:attrNameLst>
                                      </p:cBhvr>
                                      <p:to>
                                        <p:strVal val="visible"/>
                                      </p:to>
                                    </p:set>
                                    <p:animEffect transition="in" filter="fade">
                                      <p:cBhvr>
                                        <p:cTn id="244" dur="500"/>
                                        <p:tgtEl>
                                          <p:spTgt spid="168"/>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169"/>
                                        </p:tgtEl>
                                        <p:attrNameLst>
                                          <p:attrName>style.visibility</p:attrName>
                                        </p:attrNameLst>
                                      </p:cBhvr>
                                      <p:to>
                                        <p:strVal val="visible"/>
                                      </p:to>
                                    </p:set>
                                    <p:animEffect transition="in" filter="fade">
                                      <p:cBhvr>
                                        <p:cTn id="247" dur="500"/>
                                        <p:tgtEl>
                                          <p:spTgt spid="169"/>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170"/>
                                        </p:tgtEl>
                                        <p:attrNameLst>
                                          <p:attrName>style.visibility</p:attrName>
                                        </p:attrNameLst>
                                      </p:cBhvr>
                                      <p:to>
                                        <p:strVal val="visible"/>
                                      </p:to>
                                    </p:set>
                                    <p:animEffect transition="in" filter="fade">
                                      <p:cBhvr>
                                        <p:cTn id="250" dur="500"/>
                                        <p:tgtEl>
                                          <p:spTgt spid="170"/>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171"/>
                                        </p:tgtEl>
                                        <p:attrNameLst>
                                          <p:attrName>style.visibility</p:attrName>
                                        </p:attrNameLst>
                                      </p:cBhvr>
                                      <p:to>
                                        <p:strVal val="visible"/>
                                      </p:to>
                                    </p:set>
                                    <p:animEffect transition="in" filter="fade">
                                      <p:cBhvr>
                                        <p:cTn id="253" dur="500"/>
                                        <p:tgtEl>
                                          <p:spTgt spid="171"/>
                                        </p:tgtEl>
                                      </p:cBhvr>
                                    </p:animEffect>
                                  </p:childTnLst>
                                </p:cTn>
                              </p:par>
                              <p:par>
                                <p:cTn id="254" presetID="10" presetClass="entr" presetSubtype="0" fill="hold" grpId="0" nodeType="withEffect">
                                  <p:stCondLst>
                                    <p:cond delay="0"/>
                                  </p:stCondLst>
                                  <p:childTnLst>
                                    <p:set>
                                      <p:cBhvr>
                                        <p:cTn id="255" dur="1" fill="hold">
                                          <p:stCondLst>
                                            <p:cond delay="0"/>
                                          </p:stCondLst>
                                        </p:cTn>
                                        <p:tgtEl>
                                          <p:spTgt spid="229"/>
                                        </p:tgtEl>
                                        <p:attrNameLst>
                                          <p:attrName>style.visibility</p:attrName>
                                        </p:attrNameLst>
                                      </p:cBhvr>
                                      <p:to>
                                        <p:strVal val="visible"/>
                                      </p:to>
                                    </p:set>
                                    <p:animEffect transition="in" filter="fade">
                                      <p:cBhvr>
                                        <p:cTn id="256" dur="500"/>
                                        <p:tgtEl>
                                          <p:spTgt spid="229"/>
                                        </p:tgtEl>
                                      </p:cBhvr>
                                    </p:animEffect>
                                  </p:childTnLst>
                                </p:cTn>
                              </p:par>
                              <p:par>
                                <p:cTn id="257" presetID="10" presetClass="entr" presetSubtype="0" fill="hold" grpId="0" nodeType="withEffect">
                                  <p:stCondLst>
                                    <p:cond delay="0"/>
                                  </p:stCondLst>
                                  <p:childTnLst>
                                    <p:set>
                                      <p:cBhvr>
                                        <p:cTn id="258" dur="1" fill="hold">
                                          <p:stCondLst>
                                            <p:cond delay="0"/>
                                          </p:stCondLst>
                                        </p:cTn>
                                        <p:tgtEl>
                                          <p:spTgt spid="230"/>
                                        </p:tgtEl>
                                        <p:attrNameLst>
                                          <p:attrName>style.visibility</p:attrName>
                                        </p:attrNameLst>
                                      </p:cBhvr>
                                      <p:to>
                                        <p:strVal val="visible"/>
                                      </p:to>
                                    </p:set>
                                    <p:animEffect transition="in" filter="fade">
                                      <p:cBhvr>
                                        <p:cTn id="259" dur="500"/>
                                        <p:tgtEl>
                                          <p:spTgt spid="230"/>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105"/>
                                        </p:tgtEl>
                                        <p:attrNameLst>
                                          <p:attrName>style.visibility</p:attrName>
                                        </p:attrNameLst>
                                      </p:cBhvr>
                                      <p:to>
                                        <p:strVal val="visible"/>
                                      </p:to>
                                    </p:set>
                                    <p:animEffect transition="in" filter="fade">
                                      <p:cBhvr>
                                        <p:cTn id="262" dur="500"/>
                                        <p:tgtEl>
                                          <p:spTgt spid="105"/>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199"/>
                                        </p:tgtEl>
                                        <p:attrNameLst>
                                          <p:attrName>style.visibility</p:attrName>
                                        </p:attrNameLst>
                                      </p:cBhvr>
                                      <p:to>
                                        <p:strVal val="visible"/>
                                      </p:to>
                                    </p:set>
                                    <p:animEffect transition="in" filter="fade">
                                      <p:cBhvr>
                                        <p:cTn id="265" dur="500"/>
                                        <p:tgtEl>
                                          <p:spTgt spid="199"/>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227"/>
                                        </p:tgtEl>
                                        <p:attrNameLst>
                                          <p:attrName>style.visibility</p:attrName>
                                        </p:attrNameLst>
                                      </p:cBhvr>
                                      <p:to>
                                        <p:strVal val="visible"/>
                                      </p:to>
                                    </p:set>
                                    <p:animEffect transition="in" filter="fade">
                                      <p:cBhvr>
                                        <p:cTn id="268" dur="500"/>
                                        <p:tgtEl>
                                          <p:spTgt spid="227"/>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215"/>
                                        </p:tgtEl>
                                        <p:attrNameLst>
                                          <p:attrName>style.visibility</p:attrName>
                                        </p:attrNameLst>
                                      </p:cBhvr>
                                      <p:to>
                                        <p:strVal val="visible"/>
                                      </p:to>
                                    </p:set>
                                    <p:animEffect transition="in" filter="fade">
                                      <p:cBhvr>
                                        <p:cTn id="271" dur="500"/>
                                        <p:tgtEl>
                                          <p:spTgt spid="215"/>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216"/>
                                        </p:tgtEl>
                                        <p:attrNameLst>
                                          <p:attrName>style.visibility</p:attrName>
                                        </p:attrNameLst>
                                      </p:cBhvr>
                                      <p:to>
                                        <p:strVal val="visible"/>
                                      </p:to>
                                    </p:set>
                                    <p:animEffect transition="in" filter="fade">
                                      <p:cBhvr>
                                        <p:cTn id="274" dur="500"/>
                                        <p:tgtEl>
                                          <p:spTgt spid="216"/>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207"/>
                                        </p:tgtEl>
                                        <p:attrNameLst>
                                          <p:attrName>style.visibility</p:attrName>
                                        </p:attrNameLst>
                                      </p:cBhvr>
                                      <p:to>
                                        <p:strVal val="visible"/>
                                      </p:to>
                                    </p:set>
                                    <p:animEffect transition="in" filter="fade">
                                      <p:cBhvr>
                                        <p:cTn id="277" dur="500"/>
                                        <p:tgtEl>
                                          <p:spTgt spid="207"/>
                                        </p:tgtEl>
                                      </p:cBhvr>
                                    </p:animEffect>
                                  </p:childTnLst>
                                </p:cTn>
                              </p:par>
                              <p:par>
                                <p:cTn id="278" presetID="10" presetClass="entr" presetSubtype="0" fill="hold" grpId="0" nodeType="withEffect">
                                  <p:stCondLst>
                                    <p:cond delay="0"/>
                                  </p:stCondLst>
                                  <p:childTnLst>
                                    <p:set>
                                      <p:cBhvr>
                                        <p:cTn id="279" dur="1" fill="hold">
                                          <p:stCondLst>
                                            <p:cond delay="0"/>
                                          </p:stCondLst>
                                        </p:cTn>
                                        <p:tgtEl>
                                          <p:spTgt spid="208"/>
                                        </p:tgtEl>
                                        <p:attrNameLst>
                                          <p:attrName>style.visibility</p:attrName>
                                        </p:attrNameLst>
                                      </p:cBhvr>
                                      <p:to>
                                        <p:strVal val="visible"/>
                                      </p:to>
                                    </p:set>
                                    <p:animEffect transition="in" filter="fade">
                                      <p:cBhvr>
                                        <p:cTn id="280" dur="500"/>
                                        <p:tgtEl>
                                          <p:spTgt spid="208"/>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221"/>
                                        </p:tgtEl>
                                        <p:attrNameLst>
                                          <p:attrName>style.visibility</p:attrName>
                                        </p:attrNameLst>
                                      </p:cBhvr>
                                      <p:to>
                                        <p:strVal val="visible"/>
                                      </p:to>
                                    </p:set>
                                    <p:animEffect transition="in" filter="fade">
                                      <p:cBhvr>
                                        <p:cTn id="283" dur="500"/>
                                        <p:tgtEl>
                                          <p:spTgt spid="221"/>
                                        </p:tgtEl>
                                      </p:cBhvr>
                                    </p:animEffect>
                                  </p:childTnLst>
                                </p:cTn>
                              </p:par>
                              <p:par>
                                <p:cTn id="284" presetID="10" presetClass="entr" presetSubtype="0" fill="hold" grpId="0" nodeType="withEffect">
                                  <p:stCondLst>
                                    <p:cond delay="0"/>
                                  </p:stCondLst>
                                  <p:childTnLst>
                                    <p:set>
                                      <p:cBhvr>
                                        <p:cTn id="285" dur="1" fill="hold">
                                          <p:stCondLst>
                                            <p:cond delay="0"/>
                                          </p:stCondLst>
                                        </p:cTn>
                                        <p:tgtEl>
                                          <p:spTgt spid="226"/>
                                        </p:tgtEl>
                                        <p:attrNameLst>
                                          <p:attrName>style.visibility</p:attrName>
                                        </p:attrNameLst>
                                      </p:cBhvr>
                                      <p:to>
                                        <p:strVal val="visible"/>
                                      </p:to>
                                    </p:set>
                                    <p:animEffect transition="in" filter="fade">
                                      <p:cBhvr>
                                        <p:cTn id="286" dur="500"/>
                                        <p:tgtEl>
                                          <p:spTgt spid="226"/>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217"/>
                                        </p:tgtEl>
                                        <p:attrNameLst>
                                          <p:attrName>style.visibility</p:attrName>
                                        </p:attrNameLst>
                                      </p:cBhvr>
                                      <p:to>
                                        <p:strVal val="visible"/>
                                      </p:to>
                                    </p:set>
                                    <p:animEffect transition="in" filter="fade">
                                      <p:cBhvr>
                                        <p:cTn id="289" dur="500"/>
                                        <p:tgtEl>
                                          <p:spTgt spid="217"/>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218"/>
                                        </p:tgtEl>
                                        <p:attrNameLst>
                                          <p:attrName>style.visibility</p:attrName>
                                        </p:attrNameLst>
                                      </p:cBhvr>
                                      <p:to>
                                        <p:strVal val="visible"/>
                                      </p:to>
                                    </p:set>
                                    <p:animEffect transition="in" filter="fade">
                                      <p:cBhvr>
                                        <p:cTn id="292" dur="500"/>
                                        <p:tgtEl>
                                          <p:spTgt spid="218"/>
                                        </p:tgtEl>
                                      </p:cBhvr>
                                    </p:animEffect>
                                  </p:childTnLst>
                                </p:cTn>
                              </p:par>
                            </p:childTnLst>
                          </p:cTn>
                        </p:par>
                      </p:childTnLst>
                    </p:cTn>
                  </p:par>
                  <p:par>
                    <p:cTn id="293" fill="hold">
                      <p:stCondLst>
                        <p:cond delay="indefinite"/>
                      </p:stCondLst>
                      <p:childTnLst>
                        <p:par>
                          <p:cTn id="294" fill="hold">
                            <p:stCondLst>
                              <p:cond delay="0"/>
                            </p:stCondLst>
                            <p:childTnLst>
                              <p:par>
                                <p:cTn id="295" presetID="10" presetClass="entr" presetSubtype="0" fill="hold" grpId="0" nodeType="clickEffect">
                                  <p:stCondLst>
                                    <p:cond delay="0"/>
                                  </p:stCondLst>
                                  <p:childTnLst>
                                    <p:set>
                                      <p:cBhvr>
                                        <p:cTn id="296" dur="1" fill="hold">
                                          <p:stCondLst>
                                            <p:cond delay="0"/>
                                          </p:stCondLst>
                                        </p:cTn>
                                        <p:tgtEl>
                                          <p:spTgt spid="231"/>
                                        </p:tgtEl>
                                        <p:attrNameLst>
                                          <p:attrName>style.visibility</p:attrName>
                                        </p:attrNameLst>
                                      </p:cBhvr>
                                      <p:to>
                                        <p:strVal val="visible"/>
                                      </p:to>
                                    </p:set>
                                    <p:animEffect transition="in" filter="fade">
                                      <p:cBhvr>
                                        <p:cTn id="297" dur="500"/>
                                        <p:tgtEl>
                                          <p:spTgt spid="231"/>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232"/>
                                        </p:tgtEl>
                                        <p:attrNameLst>
                                          <p:attrName>style.visibility</p:attrName>
                                        </p:attrNameLst>
                                      </p:cBhvr>
                                      <p:to>
                                        <p:strVal val="visible"/>
                                      </p:to>
                                    </p:set>
                                    <p:animEffect transition="in" filter="fade">
                                      <p:cBhvr>
                                        <p:cTn id="300" dur="500"/>
                                        <p:tgtEl>
                                          <p:spTgt spid="232"/>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233"/>
                                        </p:tgtEl>
                                        <p:attrNameLst>
                                          <p:attrName>style.visibility</p:attrName>
                                        </p:attrNameLst>
                                      </p:cBhvr>
                                      <p:to>
                                        <p:strVal val="visible"/>
                                      </p:to>
                                    </p:set>
                                    <p:animEffect transition="in" filter="fade">
                                      <p:cBhvr>
                                        <p:cTn id="303" dur="500"/>
                                        <p:tgtEl>
                                          <p:spTgt spid="233"/>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234"/>
                                        </p:tgtEl>
                                        <p:attrNameLst>
                                          <p:attrName>style.visibility</p:attrName>
                                        </p:attrNameLst>
                                      </p:cBhvr>
                                      <p:to>
                                        <p:strVal val="visible"/>
                                      </p:to>
                                    </p:set>
                                    <p:animEffect transition="in" filter="fade">
                                      <p:cBhvr>
                                        <p:cTn id="306" dur="500"/>
                                        <p:tgtEl>
                                          <p:spTgt spid="234"/>
                                        </p:tgtEl>
                                      </p:cBhvr>
                                    </p:animEffect>
                                  </p:childTnLst>
                                </p:cTn>
                              </p:par>
                            </p:childTnLst>
                          </p:cTn>
                        </p:par>
                        <p:par>
                          <p:cTn id="307" fill="hold">
                            <p:stCondLst>
                              <p:cond delay="500"/>
                            </p:stCondLst>
                            <p:childTnLst>
                              <p:par>
                                <p:cTn id="308" presetID="22" presetClass="entr" presetSubtype="4" fill="hold" nodeType="afterEffect">
                                  <p:stCondLst>
                                    <p:cond delay="0"/>
                                  </p:stCondLst>
                                  <p:childTnLst>
                                    <p:set>
                                      <p:cBhvr>
                                        <p:cTn id="309" dur="1" fill="hold">
                                          <p:stCondLst>
                                            <p:cond delay="0"/>
                                          </p:stCondLst>
                                        </p:cTn>
                                        <p:tgtEl>
                                          <p:spTgt spid="94"/>
                                        </p:tgtEl>
                                        <p:attrNameLst>
                                          <p:attrName>style.visibility</p:attrName>
                                        </p:attrNameLst>
                                      </p:cBhvr>
                                      <p:to>
                                        <p:strVal val="visible"/>
                                      </p:to>
                                    </p:set>
                                    <p:animEffect transition="in" filter="wipe(down)">
                                      <p:cBhvr>
                                        <p:cTn id="310" dur="500"/>
                                        <p:tgtEl>
                                          <p:spTgt spid="94"/>
                                        </p:tgtEl>
                                      </p:cBhvr>
                                    </p:animEffect>
                                  </p:childTnLst>
                                </p:cTn>
                              </p:par>
                            </p:childTnLst>
                          </p:cTn>
                        </p:par>
                      </p:childTnLst>
                    </p:cTn>
                  </p:par>
                  <p:par>
                    <p:cTn id="311" fill="hold">
                      <p:stCondLst>
                        <p:cond delay="indefinite"/>
                      </p:stCondLst>
                      <p:childTnLst>
                        <p:par>
                          <p:cTn id="312" fill="hold">
                            <p:stCondLst>
                              <p:cond delay="0"/>
                            </p:stCondLst>
                            <p:childTnLst>
                              <p:par>
                                <p:cTn id="313" presetID="10" presetClass="entr" presetSubtype="0" fill="hold" grpId="0" nodeType="clickEffect">
                                  <p:stCondLst>
                                    <p:cond delay="0"/>
                                  </p:stCondLst>
                                  <p:childTnLst>
                                    <p:set>
                                      <p:cBhvr>
                                        <p:cTn id="314" dur="1" fill="hold">
                                          <p:stCondLst>
                                            <p:cond delay="0"/>
                                          </p:stCondLst>
                                        </p:cTn>
                                        <p:tgtEl>
                                          <p:spTgt spid="235"/>
                                        </p:tgtEl>
                                        <p:attrNameLst>
                                          <p:attrName>style.visibility</p:attrName>
                                        </p:attrNameLst>
                                      </p:cBhvr>
                                      <p:to>
                                        <p:strVal val="visible"/>
                                      </p:to>
                                    </p:set>
                                    <p:animEffect transition="in" filter="fade">
                                      <p:cBhvr>
                                        <p:cTn id="315" dur="500"/>
                                        <p:tgtEl>
                                          <p:spTgt spid="235"/>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236"/>
                                        </p:tgtEl>
                                        <p:attrNameLst>
                                          <p:attrName>style.visibility</p:attrName>
                                        </p:attrNameLst>
                                      </p:cBhvr>
                                      <p:to>
                                        <p:strVal val="visible"/>
                                      </p:to>
                                    </p:set>
                                    <p:animEffect transition="in" filter="fade">
                                      <p:cBhvr>
                                        <p:cTn id="318" dur="500"/>
                                        <p:tgtEl>
                                          <p:spTgt spid="236"/>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237"/>
                                        </p:tgtEl>
                                        <p:attrNameLst>
                                          <p:attrName>style.visibility</p:attrName>
                                        </p:attrNameLst>
                                      </p:cBhvr>
                                      <p:to>
                                        <p:strVal val="visible"/>
                                      </p:to>
                                    </p:set>
                                    <p:animEffect transition="in" filter="fade">
                                      <p:cBhvr>
                                        <p:cTn id="321" dur="500"/>
                                        <p:tgtEl>
                                          <p:spTgt spid="237"/>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238"/>
                                        </p:tgtEl>
                                        <p:attrNameLst>
                                          <p:attrName>style.visibility</p:attrName>
                                        </p:attrNameLst>
                                      </p:cBhvr>
                                      <p:to>
                                        <p:strVal val="visible"/>
                                      </p:to>
                                    </p:set>
                                    <p:animEffect transition="in" filter="fade">
                                      <p:cBhvr>
                                        <p:cTn id="324" dur="500"/>
                                        <p:tgtEl>
                                          <p:spTgt spid="238"/>
                                        </p:tgtEl>
                                      </p:cBhvr>
                                    </p:animEffect>
                                  </p:childTnLst>
                                </p:cTn>
                              </p:par>
                            </p:childTnLst>
                          </p:cTn>
                        </p:par>
                        <p:par>
                          <p:cTn id="325" fill="hold">
                            <p:stCondLst>
                              <p:cond delay="500"/>
                            </p:stCondLst>
                            <p:childTnLst>
                              <p:par>
                                <p:cTn id="326" presetID="22" presetClass="entr" presetSubtype="4" fill="hold" nodeType="afterEffect">
                                  <p:stCondLst>
                                    <p:cond delay="0"/>
                                  </p:stCondLst>
                                  <p:childTnLst>
                                    <p:set>
                                      <p:cBhvr>
                                        <p:cTn id="327" dur="1" fill="hold">
                                          <p:stCondLst>
                                            <p:cond delay="0"/>
                                          </p:stCondLst>
                                        </p:cTn>
                                        <p:tgtEl>
                                          <p:spTgt spid="245"/>
                                        </p:tgtEl>
                                        <p:attrNameLst>
                                          <p:attrName>style.visibility</p:attrName>
                                        </p:attrNameLst>
                                      </p:cBhvr>
                                      <p:to>
                                        <p:strVal val="visible"/>
                                      </p:to>
                                    </p:set>
                                    <p:animEffect transition="in" filter="wipe(down)">
                                      <p:cBhvr>
                                        <p:cTn id="328" dur="500"/>
                                        <p:tgtEl>
                                          <p:spTgt spid="245"/>
                                        </p:tgtEl>
                                      </p:cBhvr>
                                    </p:animEffect>
                                  </p:childTnLst>
                                </p:cTn>
                              </p:par>
                            </p:childTnLst>
                          </p:cTn>
                        </p:par>
                      </p:childTnLst>
                    </p:cTn>
                  </p:par>
                  <p:par>
                    <p:cTn id="329" fill="hold">
                      <p:stCondLst>
                        <p:cond delay="indefinite"/>
                      </p:stCondLst>
                      <p:childTnLst>
                        <p:par>
                          <p:cTn id="330" fill="hold">
                            <p:stCondLst>
                              <p:cond delay="0"/>
                            </p:stCondLst>
                            <p:childTnLst>
                              <p:par>
                                <p:cTn id="331" presetID="10" presetClass="entr" presetSubtype="0" fill="hold" grpId="0" nodeType="clickEffect">
                                  <p:stCondLst>
                                    <p:cond delay="0"/>
                                  </p:stCondLst>
                                  <p:childTnLst>
                                    <p:set>
                                      <p:cBhvr>
                                        <p:cTn id="332" dur="1" fill="hold">
                                          <p:stCondLst>
                                            <p:cond delay="0"/>
                                          </p:stCondLst>
                                        </p:cTn>
                                        <p:tgtEl>
                                          <p:spTgt spid="239"/>
                                        </p:tgtEl>
                                        <p:attrNameLst>
                                          <p:attrName>style.visibility</p:attrName>
                                        </p:attrNameLst>
                                      </p:cBhvr>
                                      <p:to>
                                        <p:strVal val="visible"/>
                                      </p:to>
                                    </p:set>
                                    <p:animEffect transition="in" filter="fade">
                                      <p:cBhvr>
                                        <p:cTn id="333" dur="500"/>
                                        <p:tgtEl>
                                          <p:spTgt spid="239"/>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240"/>
                                        </p:tgtEl>
                                        <p:attrNameLst>
                                          <p:attrName>style.visibility</p:attrName>
                                        </p:attrNameLst>
                                      </p:cBhvr>
                                      <p:to>
                                        <p:strVal val="visible"/>
                                      </p:to>
                                    </p:set>
                                    <p:animEffect transition="in" filter="fade">
                                      <p:cBhvr>
                                        <p:cTn id="336" dur="500"/>
                                        <p:tgtEl>
                                          <p:spTgt spid="240"/>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241"/>
                                        </p:tgtEl>
                                        <p:attrNameLst>
                                          <p:attrName>style.visibility</p:attrName>
                                        </p:attrNameLst>
                                      </p:cBhvr>
                                      <p:to>
                                        <p:strVal val="visible"/>
                                      </p:to>
                                    </p:set>
                                    <p:animEffect transition="in" filter="fade">
                                      <p:cBhvr>
                                        <p:cTn id="339" dur="500"/>
                                        <p:tgtEl>
                                          <p:spTgt spid="241"/>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242"/>
                                        </p:tgtEl>
                                        <p:attrNameLst>
                                          <p:attrName>style.visibility</p:attrName>
                                        </p:attrNameLst>
                                      </p:cBhvr>
                                      <p:to>
                                        <p:strVal val="visible"/>
                                      </p:to>
                                    </p:set>
                                    <p:animEffect transition="in" filter="fade">
                                      <p:cBhvr>
                                        <p:cTn id="342" dur="500"/>
                                        <p:tgtEl>
                                          <p:spTgt spid="242"/>
                                        </p:tgtEl>
                                      </p:cBhvr>
                                    </p:animEffect>
                                  </p:childTnLst>
                                </p:cTn>
                              </p:par>
                            </p:childTnLst>
                          </p:cTn>
                        </p:par>
                        <p:par>
                          <p:cTn id="343" fill="hold">
                            <p:stCondLst>
                              <p:cond delay="500"/>
                            </p:stCondLst>
                            <p:childTnLst>
                              <p:par>
                                <p:cTn id="344" presetID="22" presetClass="entr" presetSubtype="4" fill="hold" nodeType="afterEffect">
                                  <p:stCondLst>
                                    <p:cond delay="0"/>
                                  </p:stCondLst>
                                  <p:childTnLst>
                                    <p:set>
                                      <p:cBhvr>
                                        <p:cTn id="345" dur="1" fill="hold">
                                          <p:stCondLst>
                                            <p:cond delay="0"/>
                                          </p:stCondLst>
                                        </p:cTn>
                                        <p:tgtEl>
                                          <p:spTgt spid="93"/>
                                        </p:tgtEl>
                                        <p:attrNameLst>
                                          <p:attrName>style.visibility</p:attrName>
                                        </p:attrNameLst>
                                      </p:cBhvr>
                                      <p:to>
                                        <p:strVal val="visible"/>
                                      </p:to>
                                    </p:set>
                                    <p:animEffect transition="in" filter="wipe(down)">
                                      <p:cBhvr>
                                        <p:cTn id="346" dur="500"/>
                                        <p:tgtEl>
                                          <p:spTgt spid="93"/>
                                        </p:tgtEl>
                                      </p:cBhvr>
                                    </p:animEffect>
                                  </p:childTnLst>
                                </p:cTn>
                              </p:par>
                            </p:childTnLst>
                          </p:cTn>
                        </p:par>
                        <p:par>
                          <p:cTn id="347" fill="hold">
                            <p:stCondLst>
                              <p:cond delay="1000"/>
                            </p:stCondLst>
                            <p:childTnLst>
                              <p:par>
                                <p:cTn id="348" presetID="22" presetClass="entr" presetSubtype="8" fill="hold" nodeType="afterEffect">
                                  <p:stCondLst>
                                    <p:cond delay="0"/>
                                  </p:stCondLst>
                                  <p:childTnLst>
                                    <p:set>
                                      <p:cBhvr>
                                        <p:cTn id="349" dur="1" fill="hold">
                                          <p:stCondLst>
                                            <p:cond delay="0"/>
                                          </p:stCondLst>
                                        </p:cTn>
                                        <p:tgtEl>
                                          <p:spTgt spid="248"/>
                                        </p:tgtEl>
                                        <p:attrNameLst>
                                          <p:attrName>style.visibility</p:attrName>
                                        </p:attrNameLst>
                                      </p:cBhvr>
                                      <p:to>
                                        <p:strVal val="visible"/>
                                      </p:to>
                                    </p:set>
                                    <p:animEffect transition="in" filter="wipe(left)">
                                      <p:cBhvr>
                                        <p:cTn id="350" dur="5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7" grpId="0" animBg="1"/>
      <p:bldP spid="78" grpId="0" animBg="1"/>
      <p:bldP spid="79" grpId="0" animBg="1"/>
      <p:bldP spid="80" grpId="0" animBg="1"/>
      <p:bldP spid="81" grpId="0" animBg="1"/>
      <p:bldP spid="82" grpId="0" animBg="1"/>
      <p:bldP spid="83" grpId="0" animBg="1"/>
      <p:bldP spid="84" grpId="0" animBg="1"/>
      <p:bldP spid="85" grpId="0"/>
      <p:bldP spid="86" grpId="0"/>
      <p:bldP spid="87" grpId="0"/>
      <p:bldP spid="88" grpId="0"/>
      <p:bldP spid="89" grpId="0"/>
      <p:bldP spid="90" grpId="0"/>
      <p:bldP spid="91" grpId="0"/>
      <p:bldP spid="92" grpId="0"/>
      <p:bldP spid="101" grpId="0" animBg="1"/>
      <p:bldP spid="102" grpId="0" animBg="1"/>
      <p:bldP spid="103" grpId="0" animBg="1"/>
      <p:bldP spid="104" grpId="0" animBg="1"/>
      <p:bldP spid="168" grpId="0" animBg="1"/>
      <p:bldP spid="169" grpId="0" animBg="1"/>
      <p:bldP spid="170" grpId="0" animBg="1"/>
      <p:bldP spid="171" grpId="0" animBg="1"/>
      <p:bldP spid="172" grpId="0" animBg="1"/>
      <p:bldP spid="175" grpId="0" animBg="1"/>
      <p:bldP spid="176" grpId="0" animBg="1"/>
      <p:bldP spid="177" grpId="0" animBg="1"/>
      <p:bldP spid="178" grpId="0" animBg="1"/>
      <p:bldP spid="179" grpId="0" animBg="1"/>
      <p:bldP spid="180" grpId="0" animBg="1"/>
      <p:bldP spid="181" grpId="0" animBg="1"/>
      <p:bldP spid="182" grpId="0"/>
      <p:bldP spid="183" grpId="0"/>
      <p:bldP spid="184" grpId="0"/>
      <p:bldP spid="185" grpId="0"/>
      <p:bldP spid="186" grpId="0"/>
      <p:bldP spid="187" grpId="0"/>
      <p:bldP spid="188" grpId="0"/>
      <p:bldP spid="189" grpId="0"/>
      <p:bldP spid="190" grpId="0" animBg="1"/>
      <p:bldP spid="191" grpId="0" animBg="1"/>
      <p:bldP spid="192" grpId="0" animBg="1"/>
      <p:bldP spid="199" grpId="0" animBg="1"/>
      <p:bldP spid="207" grpId="0" animBg="1"/>
      <p:bldP spid="208" grpId="0" animBg="1"/>
      <p:bldP spid="215" grpId="0"/>
      <p:bldP spid="216" grpId="0"/>
      <p:bldP spid="221" grpId="0" animBg="1"/>
      <p:bldP spid="226" grpId="0" animBg="1"/>
      <p:bldP spid="227" grpId="0"/>
      <p:bldP spid="228" grpId="0" animBg="1"/>
      <p:bldP spid="194" grpId="0" animBg="1"/>
      <p:bldP spid="217" grpId="0" animBg="1"/>
      <p:bldP spid="218" grpId="0" animBg="1"/>
      <p:bldP spid="229" grpId="0" animBg="1"/>
      <p:bldP spid="230" grpId="0" animBg="1"/>
      <p:bldP spid="105"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98" grpId="0" animBg="1"/>
      <p:bldP spid="99" grpId="0" animBg="1"/>
      <p:bldP spid="10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con trỏ (tt)</a:t>
            </a:r>
            <a:endParaRPr lang="vi-VN"/>
          </a:p>
        </p:txBody>
      </p:sp>
      <p:sp>
        <p:nvSpPr>
          <p:cNvPr id="3" name="Content Placeholder 2"/>
          <p:cNvSpPr>
            <a:spLocks noGrp="1"/>
          </p:cNvSpPr>
          <p:nvPr>
            <p:ph idx="1"/>
          </p:nvPr>
        </p:nvSpPr>
        <p:spPr/>
        <p:txBody>
          <a:bodyPr/>
          <a:lstStyle/>
          <a:p>
            <a:pPr>
              <a:spcBef>
                <a:spcPts val="0"/>
              </a:spcBef>
            </a:pPr>
            <a:r>
              <a:rPr lang="en-US"/>
              <a:t>Cú pháp</a:t>
            </a:r>
          </a:p>
          <a:p>
            <a:pPr marL="0" indent="0">
              <a:spcBef>
                <a:spcPts val="0"/>
              </a:spcBef>
              <a:buNone/>
            </a:pPr>
            <a:r>
              <a:rPr lang="en-US" sz="2000" b="1">
                <a:latin typeface="Courier New" pitchFamily="49" charset="0"/>
                <a:cs typeface="Courier New" pitchFamily="49" charset="0"/>
              </a:rPr>
              <a:t>&lt;</a:t>
            </a:r>
            <a:r>
              <a:rPr lang="en-US" sz="2000" b="1">
                <a:solidFill>
                  <a:srgbClr val="00B0F0"/>
                </a:solidFill>
                <a:latin typeface="Courier New" pitchFamily="49" charset="0"/>
                <a:cs typeface="Courier New" pitchFamily="49" charset="0"/>
              </a:rPr>
              <a:t>Kiểu dữ liệu</a:t>
            </a:r>
            <a:r>
              <a:rPr lang="en-US" sz="2000" b="1">
                <a:latin typeface="Courier New" pitchFamily="49" charset="0"/>
                <a:cs typeface="Courier New" pitchFamily="49" charset="0"/>
              </a:rPr>
              <a:t>&gt; *Tên mảng con trỏ [</a:t>
            </a:r>
            <a:r>
              <a:rPr lang="en-US" sz="2000" b="1">
                <a:solidFill>
                  <a:srgbClr val="FF0000"/>
                </a:solidFill>
                <a:latin typeface="Courier New" pitchFamily="49" charset="0"/>
                <a:cs typeface="Courier New" pitchFamily="49" charset="0"/>
              </a:rPr>
              <a:t>số phần tủ</a:t>
            </a:r>
            <a:r>
              <a:rPr lang="en-US" sz="2000" b="1">
                <a:latin typeface="Courier New" pitchFamily="49" charset="0"/>
                <a:cs typeface="Courier New" pitchFamily="49" charset="0"/>
              </a:rPr>
              <a:t>];</a:t>
            </a:r>
          </a:p>
          <a:p>
            <a:pPr>
              <a:spcBef>
                <a:spcPts val="0"/>
              </a:spcBef>
            </a:pPr>
            <a:r>
              <a:rPr lang="en-US"/>
              <a:t>Ví dụ: Chương trình giải bài toán mở đầu</a:t>
            </a:r>
          </a:p>
          <a:p>
            <a:pPr marL="0" indent="0">
              <a:buNone/>
            </a:pPr>
            <a:endParaRPr lang="vi-VN"/>
          </a:p>
        </p:txBody>
      </p:sp>
      <p:sp>
        <p:nvSpPr>
          <p:cNvPr id="4" name="Date Placeholder 3"/>
          <p:cNvSpPr>
            <a:spLocks noGrp="1"/>
          </p:cNvSpPr>
          <p:nvPr>
            <p:ph type="dt" sz="half" idx="10"/>
          </p:nvPr>
        </p:nvSpPr>
        <p:spPr/>
        <p:txBody>
          <a:bodyPr/>
          <a:lstStyle/>
          <a:p>
            <a:fld id="{B5224821-E44D-4F4A-A749-F7EE9B76E320}"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TextBox 6"/>
          <p:cNvSpPr txBox="1">
            <a:spLocks noChangeArrowheads="1"/>
          </p:cNvSpPr>
          <p:nvPr/>
        </p:nvSpPr>
        <p:spPr bwMode="auto">
          <a:xfrm>
            <a:off x="755576" y="2276872"/>
            <a:ext cx="8208912" cy="4247317"/>
          </a:xfrm>
          <a:prstGeom prst="rect">
            <a:avLst/>
          </a:prstGeom>
          <a:noFill/>
          <a:ln w="9525">
            <a:noFill/>
            <a:miter lim="800000"/>
            <a:headEnd/>
            <a:tailEnd/>
          </a:ln>
        </p:spPr>
        <p:txBody>
          <a:bodyPr wrap="square">
            <a:spAutoFit/>
          </a:bodyPr>
          <a:lstStyle/>
          <a:p>
            <a:r>
              <a:rPr lang="en-US" b="1">
                <a:latin typeface="Courier New" pitchFamily="49" charset="0"/>
                <a:cs typeface="Courier New" pitchFamily="49" charset="0"/>
              </a:rPr>
              <a:t>int a[200],n,m;</a:t>
            </a:r>
          </a:p>
          <a:p>
            <a:r>
              <a:rPr lang="en-US" b="1">
                <a:latin typeface="Courier New" pitchFamily="49" charset="0"/>
                <a:cs typeface="Courier New" pitchFamily="49" charset="0"/>
              </a:rPr>
              <a:t>int sl[20]; //Chua so luong phan tu cua moi mang</a:t>
            </a:r>
          </a:p>
          <a:p>
            <a:r>
              <a:rPr lang="en-US" b="1">
                <a:latin typeface="Courier New" pitchFamily="49" charset="0"/>
                <a:cs typeface="Courier New" pitchFamily="49" charset="0"/>
              </a:rPr>
              <a:t>int *p[20]; //Mang cac con tro</a:t>
            </a:r>
          </a:p>
          <a:p>
            <a:r>
              <a:rPr lang="en-US" b="1">
                <a:latin typeface="Courier New" pitchFamily="49" charset="0"/>
                <a:cs typeface="Courier New" pitchFamily="49" charset="0"/>
              </a:rPr>
              <a:t>void nhap()</a:t>
            </a:r>
          </a:p>
          <a:p>
            <a:r>
              <a:rPr lang="en-US" b="1">
                <a:latin typeface="Courier New" pitchFamily="49" charset="0"/>
                <a:cs typeface="Courier New" pitchFamily="49" charset="0"/>
              </a:rPr>
              <a:t>{ int i,j=0;</a:t>
            </a:r>
          </a:p>
          <a:p>
            <a:r>
              <a:rPr lang="en-US" b="1">
                <a:latin typeface="Courier New" pitchFamily="49" charset="0"/>
                <a:cs typeface="Courier New" pitchFamily="49" charset="0"/>
              </a:rPr>
              <a:t>  printf("Nhap so mang: "); scanf("%d",&amp;m);</a:t>
            </a:r>
          </a:p>
          <a:p>
            <a:r>
              <a:rPr lang="en-US" b="1">
                <a:latin typeface="Courier New" pitchFamily="49" charset="0"/>
                <a:cs typeface="Courier New" pitchFamily="49" charset="0"/>
              </a:rPr>
              <a:t>  for (i=0;i&lt;m;i++)</a:t>
            </a:r>
          </a:p>
          <a:p>
            <a:r>
              <a:rPr lang="en-US" b="1">
                <a:latin typeface="Courier New" pitchFamily="49" charset="0"/>
                <a:cs typeface="Courier New" pitchFamily="49" charset="0"/>
              </a:rPr>
              <a:t>  {  printf("Nhap so phan tu cua mang: "); scanf("%d",&amp;n);</a:t>
            </a:r>
          </a:p>
          <a:p>
            <a:r>
              <a:rPr lang="en-US" b="1">
                <a:latin typeface="Courier New" pitchFamily="49" charset="0"/>
                <a:cs typeface="Courier New" pitchFamily="49" charset="0"/>
              </a:rPr>
              <a:t>     </a:t>
            </a:r>
            <a:r>
              <a:rPr lang="en-US" b="1">
                <a:solidFill>
                  <a:srgbClr val="FF0000"/>
                </a:solidFill>
                <a:latin typeface="Courier New" pitchFamily="49" charset="0"/>
                <a:cs typeface="Courier New" pitchFamily="49" charset="0"/>
              </a:rPr>
              <a:t>p[i]=a+j</a:t>
            </a:r>
            <a:r>
              <a:rPr lang="en-US" b="1">
                <a:latin typeface="Courier New" pitchFamily="49" charset="0"/>
                <a:cs typeface="Courier New" pitchFamily="49" charset="0"/>
              </a:rPr>
              <a:t>;</a:t>
            </a:r>
          </a:p>
          <a:p>
            <a:r>
              <a:rPr lang="en-US" b="1">
                <a:latin typeface="Courier New" pitchFamily="49" charset="0"/>
                <a:cs typeface="Courier New" pitchFamily="49" charset="0"/>
              </a:rPr>
              <a:t>     for(int k=0;k&lt;n;k++)</a:t>
            </a:r>
          </a:p>
          <a:p>
            <a:r>
              <a:rPr lang="en-US" b="1">
                <a:latin typeface="Courier New" pitchFamily="49" charset="0"/>
                <a:cs typeface="Courier New" pitchFamily="49" charset="0"/>
              </a:rPr>
              <a:t>         { printf("a[%d]= ",k);</a:t>
            </a:r>
          </a:p>
          <a:p>
            <a:r>
              <a:rPr lang="en-US" b="1">
                <a:latin typeface="Courier New" pitchFamily="49" charset="0"/>
                <a:cs typeface="Courier New" pitchFamily="49" charset="0"/>
              </a:rPr>
              <a:t>           scanf("%d",</a:t>
            </a:r>
            <a:r>
              <a:rPr lang="en-US" b="1">
                <a:solidFill>
                  <a:srgbClr val="FF0000"/>
                </a:solidFill>
                <a:latin typeface="Courier New" pitchFamily="49" charset="0"/>
                <a:cs typeface="Courier New" pitchFamily="49" charset="0"/>
              </a:rPr>
              <a:t>a+j</a:t>
            </a:r>
            <a:r>
              <a:rPr lang="en-US" b="1">
                <a:latin typeface="Courier New" pitchFamily="49" charset="0"/>
                <a:cs typeface="Courier New" pitchFamily="49" charset="0"/>
              </a:rPr>
              <a:t>);    </a:t>
            </a:r>
            <a:r>
              <a:rPr lang="en-US" b="1">
                <a:solidFill>
                  <a:srgbClr val="FF0000"/>
                </a:solidFill>
                <a:latin typeface="Courier New" pitchFamily="49" charset="0"/>
                <a:cs typeface="Courier New" pitchFamily="49" charset="0"/>
              </a:rPr>
              <a:t>j++; </a:t>
            </a:r>
            <a:r>
              <a:rPr lang="en-US" b="1">
                <a:latin typeface="Courier New" pitchFamily="49" charset="0"/>
                <a:cs typeface="Courier New" pitchFamily="49" charset="0"/>
              </a:rPr>
              <a:t>}</a:t>
            </a:r>
          </a:p>
          <a:p>
            <a:r>
              <a:rPr lang="en-US" b="1">
                <a:latin typeface="Courier New" pitchFamily="49" charset="0"/>
                <a:cs typeface="Courier New" pitchFamily="49" charset="0"/>
              </a:rPr>
              <a:t>     sl[i]=n;</a:t>
            </a:r>
          </a:p>
          <a:p>
            <a:r>
              <a:rPr lang="en-US" b="1">
                <a:latin typeface="Courier New" pitchFamily="49" charset="0"/>
                <a:cs typeface="Courier New" pitchFamily="49" charset="0"/>
              </a:rPr>
              <a:t>  }</a:t>
            </a:r>
          </a:p>
          <a:p>
            <a:r>
              <a:rPr lang="en-US" b="1">
                <a:latin typeface="Courier New" pitchFamily="49" charset="0"/>
                <a:cs typeface="Courier New" pitchFamily="49" charset="0"/>
              </a:rPr>
              <a:t>}</a:t>
            </a:r>
          </a:p>
        </p:txBody>
      </p:sp>
      <p:sp>
        <p:nvSpPr>
          <p:cNvPr id="8" name="Rounded Rectangle 7"/>
          <p:cNvSpPr/>
          <p:nvPr/>
        </p:nvSpPr>
        <p:spPr>
          <a:xfrm>
            <a:off x="539552" y="2204864"/>
            <a:ext cx="152400" cy="4176464"/>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Slide Number Placeholder 8"/>
          <p:cNvSpPr>
            <a:spLocks noGrp="1"/>
          </p:cNvSpPr>
          <p:nvPr>
            <p:ph type="sldNum" sz="quarter" idx="12"/>
          </p:nvPr>
        </p:nvSpPr>
        <p:spPr/>
        <p:txBody>
          <a:bodyPr/>
          <a:lstStyle/>
          <a:p>
            <a:fld id="{5AB95402-1E0D-474E-8D8C-CBE7F053639E}" type="slidenum">
              <a:rPr lang="vi-VN" smtClean="0"/>
              <a:pPr/>
              <a:t>31</a:t>
            </a:fld>
            <a:r>
              <a:rPr lang="vi-VN"/>
              <a:t>/50</a:t>
            </a:r>
          </a:p>
        </p:txBody>
      </p:sp>
    </p:spTree>
    <p:extLst>
      <p:ext uri="{BB962C8B-B14F-4D97-AF65-F5344CB8AC3E}">
        <p14:creationId xmlns:p14="http://schemas.microsoft.com/office/powerpoint/2010/main" val="173114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con trỏ (tt)</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42011020-3981-47E1-8BB1-D739660D4087}"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TextBox 6"/>
          <p:cNvSpPr txBox="1">
            <a:spLocks noChangeArrowheads="1"/>
          </p:cNvSpPr>
          <p:nvPr/>
        </p:nvSpPr>
        <p:spPr bwMode="auto">
          <a:xfrm>
            <a:off x="788521" y="1600339"/>
            <a:ext cx="7776864" cy="4708981"/>
          </a:xfrm>
          <a:prstGeom prst="rect">
            <a:avLst/>
          </a:prstGeom>
          <a:noFill/>
          <a:ln w="9525">
            <a:noFill/>
            <a:miter lim="800000"/>
            <a:headEnd/>
            <a:tailEnd/>
          </a:ln>
        </p:spPr>
        <p:txBody>
          <a:bodyPr wrap="square">
            <a:spAutoFit/>
          </a:bodyPr>
          <a:lstStyle/>
          <a:p>
            <a:r>
              <a:rPr lang="en-US" sz="2000" b="1">
                <a:latin typeface="Courier New" pitchFamily="49" charset="0"/>
                <a:cs typeface="Courier New" pitchFamily="49" charset="0"/>
              </a:rPr>
              <a:t>void xuat()</a:t>
            </a:r>
          </a:p>
          <a:p>
            <a:r>
              <a:rPr lang="en-US" sz="2000" b="1">
                <a:latin typeface="Courier New" pitchFamily="49" charset="0"/>
                <a:cs typeface="Courier New" pitchFamily="49" charset="0"/>
              </a:rPr>
              <a:t>{    int i,j;</a:t>
            </a:r>
          </a:p>
          <a:p>
            <a:r>
              <a:rPr lang="en-US" sz="2000" b="1">
                <a:latin typeface="Courier New" pitchFamily="49" charset="0"/>
                <a:cs typeface="Courier New" pitchFamily="49" charset="0"/>
              </a:rPr>
              <a:t>     for(i=0;i&lt;m;i++)</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           for (j=0;j&lt;</a:t>
            </a:r>
            <a:r>
              <a:rPr lang="en-US" sz="2000" b="1">
                <a:solidFill>
                  <a:srgbClr val="FF0000"/>
                </a:solidFill>
                <a:latin typeface="Courier New" pitchFamily="49" charset="0"/>
                <a:cs typeface="Courier New" pitchFamily="49" charset="0"/>
              </a:rPr>
              <a:t>sl[i]</a:t>
            </a:r>
            <a:r>
              <a:rPr lang="en-US" sz="2000" b="1">
                <a:latin typeface="Courier New" pitchFamily="49" charset="0"/>
                <a:cs typeface="Courier New" pitchFamily="49" charset="0"/>
              </a:rPr>
              <a:t>;j++)</a:t>
            </a:r>
          </a:p>
          <a:p>
            <a:r>
              <a:rPr lang="en-US" sz="2000" b="1">
                <a:latin typeface="Courier New" pitchFamily="49" charset="0"/>
                <a:cs typeface="Courier New" pitchFamily="49" charset="0"/>
              </a:rPr>
              <a:t>               printf("%d ",</a:t>
            </a:r>
            <a:r>
              <a:rPr lang="en-US" sz="2000" b="1">
                <a:solidFill>
                  <a:srgbClr val="FF0000"/>
                </a:solidFill>
                <a:latin typeface="Courier New" pitchFamily="49" charset="0"/>
                <a:cs typeface="Courier New" pitchFamily="49" charset="0"/>
              </a:rPr>
              <a:t>*((p[i])+j)</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nhap();</a:t>
            </a:r>
          </a:p>
          <a:p>
            <a:r>
              <a:rPr lang="en-US" sz="2000" b="1">
                <a:latin typeface="Courier New" pitchFamily="49" charset="0"/>
                <a:cs typeface="Courier New" pitchFamily="49" charset="0"/>
              </a:rPr>
              <a:t>      xuat();</a:t>
            </a:r>
          </a:p>
          <a:p>
            <a:r>
              <a:rPr lang="en-US" sz="2000" b="1">
                <a:latin typeface="Courier New" pitchFamily="49" charset="0"/>
                <a:cs typeface="Courier New" pitchFamily="49" charset="0"/>
              </a:rPr>
              <a:t>      getch();</a:t>
            </a:r>
          </a:p>
          <a:p>
            <a:r>
              <a:rPr lang="en-US" sz="2000" b="1">
                <a:latin typeface="Courier New" pitchFamily="49" charset="0"/>
                <a:cs typeface="Courier New" pitchFamily="49" charset="0"/>
              </a:rPr>
              <a:t>}</a:t>
            </a:r>
          </a:p>
        </p:txBody>
      </p:sp>
      <p:sp>
        <p:nvSpPr>
          <p:cNvPr id="8" name="Rounded Rectangle 7"/>
          <p:cNvSpPr/>
          <p:nvPr/>
        </p:nvSpPr>
        <p:spPr>
          <a:xfrm>
            <a:off x="539552" y="1628800"/>
            <a:ext cx="152400" cy="4608512"/>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Slide Number Placeholder 8"/>
          <p:cNvSpPr>
            <a:spLocks noGrp="1"/>
          </p:cNvSpPr>
          <p:nvPr>
            <p:ph type="sldNum" sz="quarter" idx="12"/>
          </p:nvPr>
        </p:nvSpPr>
        <p:spPr/>
        <p:txBody>
          <a:bodyPr/>
          <a:lstStyle/>
          <a:p>
            <a:fld id="{5AB95402-1E0D-474E-8D8C-CBE7F053639E}" type="slidenum">
              <a:rPr lang="vi-VN" smtClean="0"/>
              <a:pPr/>
              <a:t>32</a:t>
            </a:fld>
            <a:r>
              <a:rPr lang="vi-VN"/>
              <a:t>/50</a:t>
            </a:r>
          </a:p>
        </p:txBody>
      </p:sp>
    </p:spTree>
    <p:extLst>
      <p:ext uri="{BB962C8B-B14F-4D97-AF65-F5344CB8AC3E}">
        <p14:creationId xmlns:p14="http://schemas.microsoft.com/office/powerpoint/2010/main" val="283517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6. Con trỏ hàm</a:t>
            </a:r>
          </a:p>
        </p:txBody>
      </p:sp>
      <p:sp>
        <p:nvSpPr>
          <p:cNvPr id="3" name="Content Placeholder 2"/>
          <p:cNvSpPr>
            <a:spLocks noGrp="1"/>
          </p:cNvSpPr>
          <p:nvPr>
            <p:ph idx="1"/>
          </p:nvPr>
        </p:nvSpPr>
        <p:spPr/>
        <p:txBody>
          <a:bodyPr/>
          <a:lstStyle/>
          <a:p>
            <a:pPr>
              <a:defRPr/>
            </a:pPr>
            <a:r>
              <a:rPr lang="en-US"/>
              <a:t>Khai báo t</a:t>
            </a:r>
            <a:r>
              <a:rPr lang="vi-VN"/>
              <a:t>ườ</a:t>
            </a:r>
            <a:r>
              <a:rPr lang="en-US"/>
              <a:t>ng minh</a:t>
            </a:r>
          </a:p>
          <a:p>
            <a:pPr>
              <a:defRPr/>
            </a:pPr>
            <a:endParaRPr lang="en-US"/>
          </a:p>
          <a:p>
            <a:pPr>
              <a:defRPr/>
            </a:pPr>
            <a:r>
              <a:rPr lang="en-US"/>
              <a:t>Ví dụ</a:t>
            </a:r>
          </a:p>
        </p:txBody>
      </p:sp>
      <p:sp>
        <p:nvSpPr>
          <p:cNvPr id="5" name="Rounded Rectangle 4"/>
          <p:cNvSpPr/>
          <p:nvPr/>
        </p:nvSpPr>
        <p:spPr>
          <a:xfrm>
            <a:off x="685800" y="1700808"/>
            <a:ext cx="152400" cy="381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8305800" cy="4000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&lt;kiểu trả về&gt;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 &lt;tên biến con trỏ&gt;</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(ds tham số);</a:t>
            </a:r>
          </a:p>
        </p:txBody>
      </p:sp>
      <p:sp>
        <p:nvSpPr>
          <p:cNvPr id="7" name="Rounded Rectangle 6"/>
          <p:cNvSpPr/>
          <p:nvPr/>
        </p:nvSpPr>
        <p:spPr>
          <a:xfrm>
            <a:off x="685800" y="2727970"/>
            <a:ext cx="152400" cy="33528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TextBox 7"/>
          <p:cNvSpPr txBox="1">
            <a:spLocks noChangeArrowheads="1"/>
          </p:cNvSpPr>
          <p:nvPr/>
        </p:nvSpPr>
        <p:spPr bwMode="auto">
          <a:xfrm>
            <a:off x="838200" y="2708920"/>
            <a:ext cx="8305800" cy="347821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 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nhận </a:t>
            </a:r>
            <a:r>
              <a:rPr lang="vi-VN" sz="2000" b="1">
                <a:latin typeface="Courier New" pitchFamily="49" charset="0"/>
                <a:cs typeface="Courier New" pitchFamily="49" charset="0"/>
              </a:rPr>
              <a:t>đố</a:t>
            </a:r>
            <a:r>
              <a:rPr lang="en-US" sz="2000" b="1">
                <a:latin typeface="Courier New" pitchFamily="49" charset="0"/>
                <a:cs typeface="Courier New" pitchFamily="49" charset="0"/>
              </a:rPr>
              <a:t>i số int, trả về int</a:t>
            </a:r>
          </a:p>
          <a:p>
            <a:r>
              <a:rPr lang="en-US" sz="2000" b="1">
                <a:latin typeface="Courier New" pitchFamily="49" charset="0"/>
                <a:cs typeface="Courier New" pitchFamily="49" charset="0"/>
              </a:rPr>
              <a:t>int (*ptof1)(int x);</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nhận 2 </a:t>
            </a:r>
            <a:r>
              <a:rPr lang="vi-VN" sz="2000" b="1">
                <a:latin typeface="Courier New" pitchFamily="49" charset="0"/>
                <a:cs typeface="Courier New" pitchFamily="49" charset="0"/>
              </a:rPr>
              <a:t>đố</a:t>
            </a:r>
            <a:r>
              <a:rPr lang="en-US" sz="2000" b="1">
                <a:latin typeface="Courier New" pitchFamily="49" charset="0"/>
                <a:cs typeface="Courier New" pitchFamily="49" charset="0"/>
              </a:rPr>
              <a:t>i số double, không trả về</a:t>
            </a:r>
          </a:p>
          <a:p>
            <a:r>
              <a:rPr lang="en-US" sz="2000" b="1">
                <a:latin typeface="Courier New" pitchFamily="49" charset="0"/>
                <a:cs typeface="Courier New" pitchFamily="49" charset="0"/>
              </a:rPr>
              <a:t>void (*ptof2)(double x, double 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nhận </a:t>
            </a:r>
            <a:r>
              <a:rPr lang="vi-VN" sz="2000" b="1">
                <a:latin typeface="Courier New" pitchFamily="49" charset="0"/>
                <a:cs typeface="Courier New" pitchFamily="49" charset="0"/>
              </a:rPr>
              <a:t>đố</a:t>
            </a:r>
            <a:r>
              <a:rPr lang="en-US" sz="2000" b="1">
                <a:latin typeface="Courier New" pitchFamily="49" charset="0"/>
                <a:cs typeface="Courier New" pitchFamily="49" charset="0"/>
              </a:rPr>
              <a:t>i số mảng, trả về char</a:t>
            </a:r>
          </a:p>
          <a:p>
            <a:r>
              <a:rPr lang="en-US" sz="2000" b="1">
                <a:latin typeface="Courier New" pitchFamily="49" charset="0"/>
                <a:cs typeface="Courier New" pitchFamily="49" charset="0"/>
              </a:rPr>
              <a:t>char (*ptof3)(char *p[]);</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không nhận </a:t>
            </a:r>
            <a:r>
              <a:rPr lang="vi-VN" sz="2000" b="1">
                <a:latin typeface="Courier New" pitchFamily="49" charset="0"/>
                <a:cs typeface="Courier New" pitchFamily="49" charset="0"/>
              </a:rPr>
              <a:t>đố</a:t>
            </a:r>
            <a:r>
              <a:rPr lang="en-US" sz="2000" b="1">
                <a:latin typeface="Courier New" pitchFamily="49" charset="0"/>
                <a:cs typeface="Courier New" pitchFamily="49" charset="0"/>
              </a:rPr>
              <a:t>i số và không trả về</a:t>
            </a:r>
          </a:p>
          <a:p>
            <a:r>
              <a:rPr lang="en-US" sz="2000" b="1">
                <a:latin typeface="Courier New" pitchFamily="49" charset="0"/>
                <a:cs typeface="Courier New" pitchFamily="49" charset="0"/>
              </a:rPr>
              <a:t>void (*ptof4)();</a:t>
            </a:r>
          </a:p>
        </p:txBody>
      </p:sp>
      <p:sp>
        <p:nvSpPr>
          <p:cNvPr id="9" name="Rectangle 8"/>
          <p:cNvSpPr>
            <a:spLocks/>
          </p:cNvSpPr>
          <p:nvPr/>
        </p:nvSpPr>
        <p:spPr bwMode="auto">
          <a:xfrm>
            <a:off x="0" y="303277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394717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0" y="486157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2" name="Rectangle 11"/>
          <p:cNvSpPr>
            <a:spLocks/>
          </p:cNvSpPr>
          <p:nvPr/>
        </p:nvSpPr>
        <p:spPr bwMode="auto">
          <a:xfrm>
            <a:off x="0" y="577597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3" name="Date Placeholder 12"/>
          <p:cNvSpPr>
            <a:spLocks noGrp="1"/>
          </p:cNvSpPr>
          <p:nvPr>
            <p:ph type="dt" sz="half" idx="10"/>
          </p:nvPr>
        </p:nvSpPr>
        <p:spPr/>
        <p:txBody>
          <a:bodyPr/>
          <a:lstStyle/>
          <a:p>
            <a:fld id="{555F6CE4-3F4A-4B19-AFEF-9A921F52E29A}" type="datetime1">
              <a:rPr lang="vi-VN" smtClean="0"/>
              <a:t>14/01/2024</a:t>
            </a:fld>
            <a:endParaRPr lang="vi-VN"/>
          </a:p>
        </p:txBody>
      </p:sp>
      <p:sp>
        <p:nvSpPr>
          <p:cNvPr id="14" name="Footer Placeholder 13"/>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33</a:t>
            </a:fld>
            <a:r>
              <a:rPr lang="vi-VN"/>
              <a:t>/50</a:t>
            </a:r>
          </a:p>
        </p:txBody>
      </p:sp>
    </p:spTree>
    <p:extLst>
      <p:ext uri="{BB962C8B-B14F-4D97-AF65-F5344CB8AC3E}">
        <p14:creationId xmlns:p14="http://schemas.microsoft.com/office/powerpoint/2010/main" val="426227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anim calcmode="lin" valueType="num">
                                      <p:cBhvr>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7"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22" presetClass="entr" presetSubtype="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par>
                                <p:cTn id="33" presetID="2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0" nodeType="clickEffect">
                                  <p:stCondLst>
                                    <p:cond delay="0"/>
                                  </p:stCondLst>
                                  <p:childTnLst>
                                    <p:animEffect transition="out" filter="fade">
                                      <p:cBhvr>
                                        <p:cTn id="39" dur="500"/>
                                        <p:tgtEl>
                                          <p:spTgt spid="10"/>
                                        </p:tgtEl>
                                      </p:cBhvr>
                                    </p:animEffect>
                                    <p:set>
                                      <p:cBhvr>
                                        <p:cTn id="40" dur="1" fill="hold">
                                          <p:stCondLst>
                                            <p:cond delay="499"/>
                                          </p:stCondLst>
                                        </p:cTn>
                                        <p:tgtEl>
                                          <p:spTgt spid="10"/>
                                        </p:tgtEl>
                                        <p:attrNameLst>
                                          <p:attrName>style.visibility</p:attrName>
                                        </p:attrNameLst>
                                      </p:cBhvr>
                                      <p:to>
                                        <p:strVal val="hidden"/>
                                      </p:to>
                                    </p:set>
                                  </p:childTnLst>
                                </p:cTn>
                              </p:par>
                              <p:par>
                                <p:cTn id="41" presetID="22" presetClass="entr" presetSubtype="8"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0" nodeType="clickEffect">
                                  <p:stCondLst>
                                    <p:cond delay="0"/>
                                  </p:stCondLst>
                                  <p:childTnLst>
                                    <p:animEffect transition="out" filter="fade">
                                      <p:cBhvr>
                                        <p:cTn id="47" dur="500"/>
                                        <p:tgtEl>
                                          <p:spTgt spid="11"/>
                                        </p:tgtEl>
                                      </p:cBhvr>
                                    </p:animEffect>
                                    <p:set>
                                      <p:cBhvr>
                                        <p:cTn id="48" dur="1" fill="hold">
                                          <p:stCondLst>
                                            <p:cond delay="499"/>
                                          </p:stCondLst>
                                        </p:cTn>
                                        <p:tgtEl>
                                          <p:spTgt spid="11"/>
                                        </p:tgtEl>
                                        <p:attrNameLst>
                                          <p:attrName>style.visibility</p:attrName>
                                        </p:attrNameLst>
                                      </p:cBhvr>
                                      <p:to>
                                        <p:strVal val="hidden"/>
                                      </p:to>
                                    </p:set>
                                  </p:childTnLst>
                                </p:cTn>
                              </p:par>
                              <p:par>
                                <p:cTn id="49" presetID="22" presetClass="entr" presetSubtype="8"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0" nodeType="clickEffect">
                                  <p:stCondLst>
                                    <p:cond delay="0"/>
                                  </p:stCondLst>
                                  <p:childTnLst>
                                    <p:animEffect transition="out" filter="fade">
                                      <p:cBhvr>
                                        <p:cTn id="55" dur="500"/>
                                        <p:tgtEl>
                                          <p:spTgt spid="12"/>
                                        </p:tgtEl>
                                      </p:cBhvr>
                                    </p:animEffect>
                                    <p:set>
                                      <p:cBhvr>
                                        <p:cTn id="56"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Khai báo không t</a:t>
            </a:r>
            <a:r>
              <a:rPr lang="vi-VN"/>
              <a:t>ườ</a:t>
            </a:r>
            <a:r>
              <a:rPr lang="en-US"/>
              <a:t>ng minh (thông qua kiểu)</a:t>
            </a:r>
          </a:p>
          <a:p>
            <a:pPr>
              <a:defRPr/>
            </a:pPr>
            <a:endParaRPr lang="en-US"/>
          </a:p>
          <a:p>
            <a:pPr>
              <a:defRPr/>
            </a:pPr>
            <a:endParaRPr lang="en-US"/>
          </a:p>
          <a:p>
            <a:pPr>
              <a:defRPr/>
            </a:pPr>
            <a:r>
              <a:rPr lang="en-US"/>
              <a:t>Ví dụ</a:t>
            </a:r>
          </a:p>
        </p:txBody>
      </p:sp>
      <p:sp>
        <p:nvSpPr>
          <p:cNvPr id="5" name="Rounded Rectangle 4"/>
          <p:cNvSpPr/>
          <p:nvPr/>
        </p:nvSpPr>
        <p:spPr>
          <a:xfrm>
            <a:off x="685800" y="1791866"/>
            <a:ext cx="152400" cy="845046"/>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8305800" cy="101566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typedef &lt;kiểu trả về&gt; (* &lt;tên kiểu&gt;)(ds tham số);</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&lt;tên kiểu&gt; &lt;tên biến con trỏ&gt;;</a:t>
            </a:r>
          </a:p>
        </p:txBody>
      </p:sp>
      <p:sp>
        <p:nvSpPr>
          <p:cNvPr id="7" name="Rounded Rectangle 6"/>
          <p:cNvSpPr/>
          <p:nvPr/>
        </p:nvSpPr>
        <p:spPr>
          <a:xfrm>
            <a:off x="685800" y="3581400"/>
            <a:ext cx="152400" cy="16002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TextBox 7"/>
          <p:cNvSpPr txBox="1">
            <a:spLocks noChangeArrowheads="1"/>
          </p:cNvSpPr>
          <p:nvPr/>
        </p:nvSpPr>
        <p:spPr bwMode="auto">
          <a:xfrm>
            <a:off x="838200" y="3581400"/>
            <a:ext cx="8305800" cy="16319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(*pt1)(int, int);	// T</a:t>
            </a:r>
            <a:r>
              <a:rPr lang="vi-VN" sz="2000" b="1">
                <a:latin typeface="Courier New" pitchFamily="49" charset="0"/>
                <a:cs typeface="Courier New" pitchFamily="49" charset="0"/>
              </a:rPr>
              <a:t>ườ</a:t>
            </a:r>
            <a:r>
              <a:rPr lang="en-US" sz="2000" b="1">
                <a:latin typeface="Courier New" pitchFamily="49" charset="0"/>
                <a:cs typeface="Courier New" pitchFamily="49" charset="0"/>
              </a:rPr>
              <a:t>ng minh</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typedef int (*PhepToan)(int, int);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PhepToan pt2, pt3;	// Không t</a:t>
            </a:r>
            <a:r>
              <a:rPr lang="vi-VN" sz="2000" b="1">
                <a:latin typeface="Courier New" pitchFamily="49" charset="0"/>
                <a:cs typeface="Courier New" pitchFamily="49" charset="0"/>
              </a:rPr>
              <a:t>ườ</a:t>
            </a:r>
            <a:r>
              <a:rPr lang="en-US" sz="2000" b="1">
                <a:latin typeface="Courier New" pitchFamily="49" charset="0"/>
                <a:cs typeface="Courier New" pitchFamily="49" charset="0"/>
              </a:rPr>
              <a:t>ng minh</a:t>
            </a:r>
          </a:p>
        </p:txBody>
      </p:sp>
      <p:sp>
        <p:nvSpPr>
          <p:cNvPr id="9" name="Date Placeholder 8"/>
          <p:cNvSpPr>
            <a:spLocks noGrp="1"/>
          </p:cNvSpPr>
          <p:nvPr>
            <p:ph type="dt" sz="half" idx="10"/>
          </p:nvPr>
        </p:nvSpPr>
        <p:spPr/>
        <p:txBody>
          <a:bodyPr/>
          <a:lstStyle/>
          <a:p>
            <a:fld id="{A6C6BA9C-1E74-41DA-A447-1B12F347E186}"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34</a:t>
            </a:fld>
            <a:r>
              <a:rPr lang="vi-VN"/>
              <a:t>/50</a:t>
            </a:r>
          </a:p>
        </p:txBody>
      </p:sp>
    </p:spTree>
    <p:extLst>
      <p:ext uri="{BB962C8B-B14F-4D97-AF65-F5344CB8AC3E}">
        <p14:creationId xmlns:p14="http://schemas.microsoft.com/office/powerpoint/2010/main" val="12575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anim calcmode="lin" valueType="num">
                                      <p:cBhvr>
                                        <p:cTn id="1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7"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Gán giá trị cho con trỏ hàm</a:t>
            </a:r>
          </a:p>
          <a:p>
            <a:pPr>
              <a:defRPr/>
            </a:pPr>
            <a:endParaRPr lang="en-US"/>
          </a:p>
          <a:p>
            <a:pPr>
              <a:defRPr/>
            </a:pPr>
            <a:endParaRPr lang="en-US"/>
          </a:p>
          <a:p>
            <a:pPr lvl="1">
              <a:defRPr/>
            </a:pPr>
            <a:r>
              <a:rPr lang="en-US"/>
              <a:t>Hàm </a:t>
            </a:r>
            <a:r>
              <a:rPr lang="vi-VN"/>
              <a:t>đượ</a:t>
            </a:r>
            <a:r>
              <a:rPr lang="en-US"/>
              <a:t>c gán phải cùng dạng (vào, ra)</a:t>
            </a:r>
          </a:p>
          <a:p>
            <a:pPr>
              <a:defRPr/>
            </a:pPr>
            <a:r>
              <a:rPr lang="en-US"/>
              <a:t>Ví dụ</a:t>
            </a:r>
          </a:p>
        </p:txBody>
      </p:sp>
      <p:sp>
        <p:nvSpPr>
          <p:cNvPr id="5" name="Rounded Rectangle 4"/>
          <p:cNvSpPr/>
          <p:nvPr/>
        </p:nvSpPr>
        <p:spPr>
          <a:xfrm>
            <a:off x="685800" y="1772816"/>
            <a:ext cx="152400" cy="936104"/>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00808"/>
            <a:ext cx="8305800" cy="101566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&lt;biến con trỏ hàm&gt; = &lt;tên hàm&gt;;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&lt;biến con trỏ hàm&gt; = &amp;&lt;tên hàm&gt;;</a:t>
            </a:r>
          </a:p>
        </p:txBody>
      </p:sp>
      <p:sp>
        <p:nvSpPr>
          <p:cNvPr id="7" name="Rounded Rectangle 6"/>
          <p:cNvSpPr/>
          <p:nvPr/>
        </p:nvSpPr>
        <p:spPr>
          <a:xfrm>
            <a:off x="685800" y="4114800"/>
            <a:ext cx="152400" cy="22098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TextBox 7"/>
          <p:cNvSpPr txBox="1">
            <a:spLocks noChangeArrowheads="1"/>
          </p:cNvSpPr>
          <p:nvPr/>
        </p:nvSpPr>
        <p:spPr bwMode="auto">
          <a:xfrm>
            <a:off x="838200" y="4114800"/>
            <a:ext cx="8305800" cy="224631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Cong(int x, int y);			// Hàm</a:t>
            </a:r>
          </a:p>
          <a:p>
            <a:r>
              <a:rPr lang="en-US" sz="2000" b="1">
                <a:latin typeface="Courier New" pitchFamily="49" charset="0"/>
                <a:cs typeface="Courier New" pitchFamily="49" charset="0"/>
              </a:rPr>
              <a:t>int Tru(int x, int y);			// Hàm</a:t>
            </a:r>
          </a:p>
          <a:p>
            <a:r>
              <a:rPr lang="en-US" sz="2000" b="1">
                <a:latin typeface="Courier New" pitchFamily="49" charset="0"/>
                <a:cs typeface="Courier New" pitchFamily="49" charset="0"/>
              </a:rPr>
              <a:t>int (*tinhtoan)(int x, int y);	// Con trỏ hàm</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tinhtoan = Cong;	// Dạng ngắn gọn</a:t>
            </a:r>
          </a:p>
          <a:p>
            <a:r>
              <a:rPr lang="en-US" sz="2000" b="1">
                <a:latin typeface="Courier New" pitchFamily="49" charset="0"/>
                <a:cs typeface="Courier New" pitchFamily="49" charset="0"/>
              </a:rPr>
              <a:t>tinhtoan = &amp;Tru;	// Dạng sử dụng </a:t>
            </a:r>
            <a:r>
              <a:rPr lang="vi-VN" sz="2000" b="1">
                <a:latin typeface="Courier New" pitchFamily="49" charset="0"/>
                <a:cs typeface="Courier New" pitchFamily="49" charset="0"/>
              </a:rPr>
              <a:t>đ</a:t>
            </a:r>
            <a:r>
              <a:rPr lang="en-US" sz="2000" b="1">
                <a:latin typeface="Courier New" pitchFamily="49" charset="0"/>
                <a:cs typeface="Courier New" pitchFamily="49" charset="0"/>
              </a:rPr>
              <a:t>ịa chỉ</a:t>
            </a:r>
          </a:p>
          <a:p>
            <a:r>
              <a:rPr lang="en-US" sz="2000" b="1">
                <a:latin typeface="Courier New" pitchFamily="49" charset="0"/>
                <a:cs typeface="Courier New" pitchFamily="49" charset="0"/>
              </a:rPr>
              <a:t>tinhtoan = NULL;	// Không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a:t>
            </a:r>
            <a:r>
              <a:rPr lang="vi-VN" sz="2000" b="1">
                <a:latin typeface="Courier New" pitchFamily="49" charset="0"/>
                <a:cs typeface="Courier New" pitchFamily="49" charset="0"/>
              </a:rPr>
              <a:t>đâu</a:t>
            </a:r>
            <a:r>
              <a:rPr lang="en-US" sz="2000" b="1">
                <a:latin typeface="Courier New" pitchFamily="49" charset="0"/>
                <a:cs typeface="Courier New" pitchFamily="49" charset="0"/>
              </a:rPr>
              <a:t> cả</a:t>
            </a:r>
          </a:p>
        </p:txBody>
      </p:sp>
      <p:sp>
        <p:nvSpPr>
          <p:cNvPr id="9" name="Rectangle 8"/>
          <p:cNvSpPr>
            <a:spLocks/>
          </p:cNvSpPr>
          <p:nvPr/>
        </p:nvSpPr>
        <p:spPr bwMode="auto">
          <a:xfrm>
            <a:off x="0" y="4191000"/>
            <a:ext cx="9128125" cy="6096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48006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0" y="54102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2" name="Rectangle 11"/>
          <p:cNvSpPr>
            <a:spLocks/>
          </p:cNvSpPr>
          <p:nvPr/>
        </p:nvSpPr>
        <p:spPr bwMode="auto">
          <a:xfrm>
            <a:off x="0" y="57150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3" name="Rectangle 12"/>
          <p:cNvSpPr>
            <a:spLocks/>
          </p:cNvSpPr>
          <p:nvPr/>
        </p:nvSpPr>
        <p:spPr bwMode="auto">
          <a:xfrm>
            <a:off x="0" y="60198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4" name="Date Placeholder 13"/>
          <p:cNvSpPr>
            <a:spLocks noGrp="1"/>
          </p:cNvSpPr>
          <p:nvPr>
            <p:ph type="dt" sz="half" idx="10"/>
          </p:nvPr>
        </p:nvSpPr>
        <p:spPr/>
        <p:txBody>
          <a:bodyPr/>
          <a:lstStyle/>
          <a:p>
            <a:fld id="{357E7341-2FA6-4113-BE6F-CC06A3F7EC8E}" type="datetime1">
              <a:rPr lang="vi-VN" smtClean="0"/>
              <a:t>14/01/2024</a:t>
            </a:fld>
            <a:endParaRPr lang="vi-VN"/>
          </a:p>
        </p:txBody>
      </p:sp>
      <p:sp>
        <p:nvSpPr>
          <p:cNvPr id="15" name="Footer Placeholder 14"/>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35</a:t>
            </a:fld>
            <a:r>
              <a:rPr lang="vi-VN"/>
              <a:t>/50</a:t>
            </a:r>
          </a:p>
        </p:txBody>
      </p:sp>
    </p:spTree>
    <p:extLst>
      <p:ext uri="{BB962C8B-B14F-4D97-AF65-F5344CB8AC3E}">
        <p14:creationId xmlns:p14="http://schemas.microsoft.com/office/powerpoint/2010/main" val="96543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0" presetClass="entr" presetSubtype="0" decel="10000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5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16" dur="5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anim calcmode="lin" valueType="num">
                                      <p:cBhvr>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par>
                                <p:cTn id="42" presetID="22" presetClass="entr" presetSubtype="8"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0"/>
                                        </p:tgtEl>
                                      </p:cBhvr>
                                    </p:animEffect>
                                    <p:set>
                                      <p:cBhvr>
                                        <p:cTn id="49" dur="1" fill="hold">
                                          <p:stCondLst>
                                            <p:cond delay="499"/>
                                          </p:stCondLst>
                                        </p:cTn>
                                        <p:tgtEl>
                                          <p:spTgt spid="10"/>
                                        </p:tgtEl>
                                        <p:attrNameLst>
                                          <p:attrName>style.visibility</p:attrName>
                                        </p:attrNameLst>
                                      </p:cBhvr>
                                      <p:to>
                                        <p:strVal val="hidden"/>
                                      </p:to>
                                    </p:set>
                                  </p:childTnLst>
                                </p:cTn>
                              </p:par>
                              <p:par>
                                <p:cTn id="50" presetID="22" presetClass="entr" presetSubtype="8" fill="hold"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0" nodeType="clickEffect">
                                  <p:stCondLst>
                                    <p:cond delay="0"/>
                                  </p:stCondLst>
                                  <p:childTnLst>
                                    <p:animEffect transition="out" filter="fade">
                                      <p:cBhvr>
                                        <p:cTn id="56" dur="500"/>
                                        <p:tgtEl>
                                          <p:spTgt spid="11"/>
                                        </p:tgtEl>
                                      </p:cBhvr>
                                    </p:animEffect>
                                    <p:set>
                                      <p:cBhvr>
                                        <p:cTn id="57" dur="1" fill="hold">
                                          <p:stCondLst>
                                            <p:cond delay="499"/>
                                          </p:stCondLst>
                                        </p:cTn>
                                        <p:tgtEl>
                                          <p:spTgt spid="11"/>
                                        </p:tgtEl>
                                        <p:attrNameLst>
                                          <p:attrName>style.visibility</p:attrName>
                                        </p:attrNameLst>
                                      </p:cBhvr>
                                      <p:to>
                                        <p:strVal val="hidden"/>
                                      </p:to>
                                    </p:set>
                                  </p:childTnLst>
                                </p:cTn>
                              </p:par>
                              <p:par>
                                <p:cTn id="58" presetID="22" presetClass="entr" presetSubtype="8" fill="hold"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left)">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0" nodeType="clickEffect">
                                  <p:stCondLst>
                                    <p:cond delay="0"/>
                                  </p:stCondLst>
                                  <p:childTnLst>
                                    <p:animEffect transition="out" filter="fade">
                                      <p:cBhvr>
                                        <p:cTn id="64" dur="500"/>
                                        <p:tgtEl>
                                          <p:spTgt spid="12"/>
                                        </p:tgtEl>
                                      </p:cBhvr>
                                    </p:animEffect>
                                    <p:set>
                                      <p:cBhvr>
                                        <p:cTn id="65" dur="1" fill="hold">
                                          <p:stCondLst>
                                            <p:cond delay="499"/>
                                          </p:stCondLst>
                                        </p:cTn>
                                        <p:tgtEl>
                                          <p:spTgt spid="12"/>
                                        </p:tgtEl>
                                        <p:attrNameLst>
                                          <p:attrName>style.visibility</p:attrName>
                                        </p:attrNameLst>
                                      </p:cBhvr>
                                      <p:to>
                                        <p:strVal val="hidden"/>
                                      </p:to>
                                    </p:set>
                                  </p:childTnLst>
                                </p:cTn>
                              </p:par>
                              <p:par>
                                <p:cTn id="66" presetID="22" presetClass="entr" presetSubtype="8"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left)">
                                      <p:cBhvr>
                                        <p:cTn id="6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So sánh con trỏ hàm</a:t>
            </a:r>
          </a:p>
        </p:txBody>
      </p:sp>
      <p:sp>
        <p:nvSpPr>
          <p:cNvPr id="5" name="Rounded Rectangle 4"/>
          <p:cNvSpPr/>
          <p:nvPr/>
        </p:nvSpPr>
        <p:spPr>
          <a:xfrm>
            <a:off x="685800" y="1916832"/>
            <a:ext cx="152400" cy="3810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916832"/>
            <a:ext cx="8305800" cy="3786188"/>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if  (</a:t>
            </a:r>
            <a:r>
              <a:rPr lang="en-US" sz="2000" b="1">
                <a:solidFill>
                  <a:srgbClr val="FF0000"/>
                </a:solidFill>
                <a:latin typeface="Courier New" pitchFamily="49" charset="0"/>
                <a:cs typeface="Courier New" pitchFamily="49" charset="0"/>
              </a:rPr>
              <a:t>tinhtoan != NULL</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if (</a:t>
            </a:r>
            <a:r>
              <a:rPr lang="en-US" sz="2000" b="1">
                <a:solidFill>
                  <a:srgbClr val="FF0000"/>
                </a:solidFill>
                <a:latin typeface="Courier New" pitchFamily="49" charset="0"/>
                <a:cs typeface="Courier New" pitchFamily="49" charset="0"/>
              </a:rPr>
              <a:t>tinhtoan == &amp;Cong</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Cong.”);</a:t>
            </a:r>
          </a:p>
          <a:p>
            <a:r>
              <a:rPr lang="en-US" sz="2000" b="1">
                <a:latin typeface="Courier New" pitchFamily="49" charset="0"/>
                <a:cs typeface="Courier New" pitchFamily="49" charset="0"/>
              </a:rPr>
              <a:t>	else</a:t>
            </a:r>
          </a:p>
          <a:p>
            <a:r>
              <a:rPr lang="en-US" sz="2000" b="1">
                <a:latin typeface="Courier New" pitchFamily="49" charset="0"/>
                <a:cs typeface="Courier New" pitchFamily="49" charset="0"/>
              </a:rPr>
              <a:t>		if (</a:t>
            </a:r>
            <a:r>
              <a:rPr lang="en-US" sz="2000" b="1">
                <a:solidFill>
                  <a:srgbClr val="FF0000"/>
                </a:solidFill>
                <a:latin typeface="Courier New" pitchFamily="49" charset="0"/>
                <a:cs typeface="Courier New" pitchFamily="49" charset="0"/>
              </a:rPr>
              <a:t>tinhtoan == &amp;Tru</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Tru.”);</a:t>
            </a:r>
          </a:p>
          <a:p>
            <a:r>
              <a:rPr lang="en-US" sz="2000" b="1">
                <a:latin typeface="Courier New" pitchFamily="49" charset="0"/>
                <a:cs typeface="Courier New" pitchFamily="49" charset="0"/>
              </a:rPr>
              <a:t>		else</a:t>
            </a:r>
          </a:p>
          <a:p>
            <a:r>
              <a:rPr lang="en-US" sz="2000" b="1">
                <a:latin typeface="Courier New" pitchFamily="49" charset="0"/>
                <a:cs typeface="Courier New" pitchFamily="49" charset="0"/>
              </a:rPr>
              <a:t>			printf(“Con trỏ </a:t>
            </a:r>
            <a:r>
              <a:rPr lang="vi-VN" sz="2000" b="1">
                <a:latin typeface="Courier New" pitchFamily="49" charset="0"/>
                <a:cs typeface="Courier New" pitchFamily="49" charset="0"/>
              </a:rPr>
              <a:t>đế</a:t>
            </a:r>
            <a:r>
              <a:rPr lang="en-US" sz="2000" b="1">
                <a:latin typeface="Courier New" pitchFamily="49" charset="0"/>
                <a:cs typeface="Courier New" pitchFamily="49" charset="0"/>
              </a:rPr>
              <a:t>n hàm khác.”);</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else</a:t>
            </a:r>
          </a:p>
          <a:p>
            <a:r>
              <a:rPr lang="en-US" sz="2000" b="1">
                <a:latin typeface="Courier New" pitchFamily="49" charset="0"/>
                <a:cs typeface="Courier New" pitchFamily="49" charset="0"/>
              </a:rPr>
              <a:t>	printf(“Con trỏ ch</a:t>
            </a:r>
            <a:r>
              <a:rPr lang="vi-VN" sz="2000" b="1">
                <a:latin typeface="Courier New" pitchFamily="49" charset="0"/>
                <a:cs typeface="Courier New" pitchFamily="49" charset="0"/>
              </a:rPr>
              <a:t>ư</a:t>
            </a:r>
            <a:r>
              <a:rPr lang="en-US" sz="2000" b="1">
                <a:latin typeface="Courier New" pitchFamily="49" charset="0"/>
                <a:cs typeface="Courier New" pitchFamily="49" charset="0"/>
              </a:rPr>
              <a:t>a </a:t>
            </a:r>
            <a:r>
              <a:rPr lang="vi-VN" sz="2000" b="1">
                <a:latin typeface="Courier New" pitchFamily="49" charset="0"/>
                <a:cs typeface="Courier New" pitchFamily="49" charset="0"/>
              </a:rPr>
              <a:t>đượ</a:t>
            </a:r>
            <a:r>
              <a:rPr lang="en-US" sz="2000" b="1">
                <a:latin typeface="Courier New" pitchFamily="49" charset="0"/>
                <a:cs typeface="Courier New" pitchFamily="49" charset="0"/>
              </a:rPr>
              <a:t>c khởi tạo!”);</a:t>
            </a:r>
          </a:p>
        </p:txBody>
      </p:sp>
      <p:sp>
        <p:nvSpPr>
          <p:cNvPr id="7" name="Rectangle 6"/>
          <p:cNvSpPr>
            <a:spLocks/>
          </p:cNvSpPr>
          <p:nvPr/>
        </p:nvSpPr>
        <p:spPr bwMode="auto">
          <a:xfrm>
            <a:off x="0" y="1916832"/>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2526432"/>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3440832"/>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Date Placeholder 9"/>
          <p:cNvSpPr>
            <a:spLocks noGrp="1"/>
          </p:cNvSpPr>
          <p:nvPr>
            <p:ph type="dt" sz="half" idx="10"/>
          </p:nvPr>
        </p:nvSpPr>
        <p:spPr/>
        <p:txBody>
          <a:bodyPr/>
          <a:lstStyle/>
          <a:p>
            <a:fld id="{FF6AFF27-BEA0-4C92-9AFD-942303A86795}" type="datetime1">
              <a:rPr lang="vi-VN" smtClean="0"/>
              <a:t>14/01/2024</a:t>
            </a:fld>
            <a:endParaRPr lang="vi-VN"/>
          </a:p>
        </p:txBody>
      </p:sp>
      <p:sp>
        <p:nvSpPr>
          <p:cNvPr id="11" name="Footer Placeholder 10"/>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36</a:t>
            </a:fld>
            <a:r>
              <a:rPr lang="vi-VN"/>
              <a:t>/50</a:t>
            </a:r>
          </a:p>
        </p:txBody>
      </p:sp>
    </p:spTree>
    <p:extLst>
      <p:ext uri="{BB962C8B-B14F-4D97-AF65-F5344CB8AC3E}">
        <p14:creationId xmlns:p14="http://schemas.microsoft.com/office/powerpoint/2010/main" val="408932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22" presetClass="entr" presetSubtype="8"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Gọi hàm thông qua con trỏ hàm</a:t>
            </a:r>
          </a:p>
          <a:p>
            <a:pPr lvl="1">
              <a:defRPr/>
            </a:pPr>
            <a:r>
              <a:rPr lang="en-US"/>
              <a:t>Sử dụng toán tử lấy nội dung “*” (chính quy) nh</a:t>
            </a:r>
            <a:r>
              <a:rPr lang="vi-VN"/>
              <a:t>ư</a:t>
            </a:r>
            <a:r>
              <a:rPr lang="en-US"/>
              <a:t>ng tr</a:t>
            </a:r>
            <a:r>
              <a:rPr lang="vi-VN"/>
              <a:t>ườ</a:t>
            </a:r>
            <a:r>
              <a:rPr lang="en-US"/>
              <a:t>ng hợp này có thể bỏ</a:t>
            </a:r>
          </a:p>
        </p:txBody>
      </p:sp>
      <p:sp>
        <p:nvSpPr>
          <p:cNvPr id="5" name="Rounded Rectangle 4"/>
          <p:cNvSpPr/>
          <p:nvPr/>
        </p:nvSpPr>
        <p:spPr>
          <a:xfrm>
            <a:off x="685800" y="2564904"/>
            <a:ext cx="152400" cy="2514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2564904"/>
            <a:ext cx="8305800" cy="2554288"/>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Cong(int x, int y);</a:t>
            </a:r>
          </a:p>
          <a:p>
            <a:r>
              <a:rPr lang="en-US" sz="2000" b="1">
                <a:latin typeface="Courier New" pitchFamily="49" charset="0"/>
                <a:cs typeface="Courier New" pitchFamily="49" charset="0"/>
              </a:rPr>
              <a:t>int Tru(int x, int y);</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int (*tinhtoan)(int, int);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tinhtoan = Cong;</a:t>
            </a:r>
          </a:p>
          <a:p>
            <a:r>
              <a:rPr lang="en-US" sz="2000" b="1">
                <a:latin typeface="Courier New" pitchFamily="49" charset="0"/>
                <a:cs typeface="Courier New" pitchFamily="49" charset="0"/>
              </a:rPr>
              <a:t>int kq1 =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tinhtoan</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(1, 2);	// Chính quy</a:t>
            </a:r>
          </a:p>
          <a:p>
            <a:r>
              <a:rPr lang="en-US" sz="2000" b="1">
                <a:latin typeface="Courier New" pitchFamily="49" charset="0"/>
                <a:cs typeface="Courier New" pitchFamily="49" charset="0"/>
              </a:rPr>
              <a:t>int kq2 = tinhtoan(1, 2);	// Ngắn gọn</a:t>
            </a:r>
          </a:p>
        </p:txBody>
      </p:sp>
      <p:sp>
        <p:nvSpPr>
          <p:cNvPr id="7" name="Rectangle 6"/>
          <p:cNvSpPr>
            <a:spLocks/>
          </p:cNvSpPr>
          <p:nvPr/>
        </p:nvSpPr>
        <p:spPr bwMode="auto">
          <a:xfrm>
            <a:off x="0" y="439370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469850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Date Placeholder 8"/>
          <p:cNvSpPr>
            <a:spLocks noGrp="1"/>
          </p:cNvSpPr>
          <p:nvPr>
            <p:ph type="dt" sz="half" idx="10"/>
          </p:nvPr>
        </p:nvSpPr>
        <p:spPr/>
        <p:txBody>
          <a:bodyPr/>
          <a:lstStyle/>
          <a:p>
            <a:fld id="{F16678D3-825E-466F-9174-E2EC3C07EF41}"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37</a:t>
            </a:fld>
            <a:r>
              <a:rPr lang="vi-VN"/>
              <a:t>/50</a:t>
            </a:r>
          </a:p>
        </p:txBody>
      </p:sp>
    </p:spTree>
    <p:extLst>
      <p:ext uri="{BB962C8B-B14F-4D97-AF65-F5344CB8AC3E}">
        <p14:creationId xmlns:p14="http://schemas.microsoft.com/office/powerpoint/2010/main" val="93917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Truyền tham số là con trỏ hàm</a:t>
            </a:r>
          </a:p>
        </p:txBody>
      </p:sp>
      <p:sp>
        <p:nvSpPr>
          <p:cNvPr id="5" name="Rounded Rectangle 4"/>
          <p:cNvSpPr/>
          <p:nvPr/>
        </p:nvSpPr>
        <p:spPr>
          <a:xfrm>
            <a:off x="685800" y="1844824"/>
            <a:ext cx="152400" cy="4343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844824"/>
            <a:ext cx="83058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Cong(int x, int y);</a:t>
            </a:r>
          </a:p>
          <a:p>
            <a:r>
              <a:rPr lang="en-US" sz="2000" b="1">
                <a:latin typeface="Courier New" pitchFamily="49" charset="0"/>
                <a:cs typeface="Courier New" pitchFamily="49" charset="0"/>
              </a:rPr>
              <a:t>int Tru(int x, int y);</a:t>
            </a:r>
          </a:p>
          <a:p>
            <a:r>
              <a:rPr lang="en-US" sz="2000" b="1">
                <a:latin typeface="Courier New" pitchFamily="49" charset="0"/>
                <a:cs typeface="Courier New" pitchFamily="49" charset="0"/>
              </a:rPr>
              <a:t>int TinhToan(int x, int y, </a:t>
            </a:r>
            <a:r>
              <a:rPr lang="en-US" sz="2000" b="1">
                <a:solidFill>
                  <a:srgbClr val="FF0000"/>
                </a:solidFill>
                <a:latin typeface="Courier New" pitchFamily="49" charset="0"/>
                <a:cs typeface="Courier New" pitchFamily="49" charset="0"/>
              </a:rPr>
              <a:t>int (*pheptoan)(int, int)</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kq = </a:t>
            </a:r>
            <a:r>
              <a:rPr lang="en-US" sz="2000" b="1">
                <a:solidFill>
                  <a:srgbClr val="FF0000"/>
                </a:solidFill>
                <a:latin typeface="Courier New" pitchFamily="49" charset="0"/>
                <a:cs typeface="Courier New" pitchFamily="49" charset="0"/>
              </a:rPr>
              <a:t>(*pheptoan)(x, y)</a:t>
            </a:r>
            <a:r>
              <a:rPr lang="en-US" sz="2000" b="1">
                <a:latin typeface="Courier New" pitchFamily="49" charset="0"/>
                <a:cs typeface="Courier New" pitchFamily="49" charset="0"/>
              </a:rPr>
              <a:t>;	// Gọi hàm</a:t>
            </a:r>
          </a:p>
          <a:p>
            <a:r>
              <a:rPr lang="en-US" sz="2000" b="1">
                <a:latin typeface="Courier New" pitchFamily="49" charset="0"/>
                <a:cs typeface="Courier New" pitchFamily="49" charset="0"/>
              </a:rPr>
              <a:t>	return kq;</a:t>
            </a:r>
          </a:p>
          <a:p>
            <a:r>
              <a:rPr lang="en-US" sz="2000" b="1">
                <a:latin typeface="Courier New" pitchFamily="49" charset="0"/>
                <a:cs typeface="Courier New" pitchFamily="49" charset="0"/>
              </a:rPr>
              <a: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(*pheptoan)(int, int) = &amp;Cong;</a:t>
            </a:r>
          </a:p>
          <a:p>
            <a:r>
              <a:rPr lang="en-US" sz="2000" b="1">
                <a:latin typeface="Courier New" pitchFamily="49" charset="0"/>
                <a:cs typeface="Courier New" pitchFamily="49" charset="0"/>
              </a:rPr>
              <a:t>	int kq1 = TinhToan(1, 2, pheptoan);</a:t>
            </a:r>
          </a:p>
          <a:p>
            <a:r>
              <a:rPr lang="en-US" sz="2000" b="1">
                <a:latin typeface="Courier New" pitchFamily="49" charset="0"/>
                <a:cs typeface="Courier New" pitchFamily="49" charset="0"/>
              </a:rPr>
              <a:t>	int kq2 = TinhToan(1, 2, &amp;Tru);</a:t>
            </a:r>
          </a:p>
          <a:p>
            <a:r>
              <a:rPr lang="en-US" sz="2000" b="1">
                <a:latin typeface="Courier New" pitchFamily="49" charset="0"/>
                <a:cs typeface="Courier New" pitchFamily="49" charset="0"/>
              </a:rPr>
              <a:t>}</a:t>
            </a:r>
          </a:p>
        </p:txBody>
      </p:sp>
      <p:sp>
        <p:nvSpPr>
          <p:cNvPr id="7" name="Rectangle 6"/>
          <p:cNvSpPr>
            <a:spLocks/>
          </p:cNvSpPr>
          <p:nvPr/>
        </p:nvSpPr>
        <p:spPr bwMode="auto">
          <a:xfrm>
            <a:off x="0" y="245442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314022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527382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557862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1" name="Date Placeholder 10"/>
          <p:cNvSpPr>
            <a:spLocks noGrp="1"/>
          </p:cNvSpPr>
          <p:nvPr>
            <p:ph type="dt" sz="half" idx="10"/>
          </p:nvPr>
        </p:nvSpPr>
        <p:spPr/>
        <p:txBody>
          <a:bodyPr/>
          <a:lstStyle/>
          <a:p>
            <a:fld id="{35CF55CE-1B46-480E-A73D-0C1FF1B0D4C4}" type="datetime1">
              <a:rPr lang="vi-VN" smtClean="0"/>
              <a:t>14/01/2024</a:t>
            </a:fld>
            <a:endParaRPr lang="vi-VN"/>
          </a:p>
        </p:txBody>
      </p:sp>
      <p:sp>
        <p:nvSpPr>
          <p:cNvPr id="12" name="Footer Placeholder 11"/>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38</a:t>
            </a:fld>
            <a:r>
              <a:rPr lang="vi-VN"/>
              <a:t>/50</a:t>
            </a:r>
          </a:p>
        </p:txBody>
      </p:sp>
    </p:spTree>
    <p:extLst>
      <p:ext uri="{BB962C8B-B14F-4D97-AF65-F5344CB8AC3E}">
        <p14:creationId xmlns:p14="http://schemas.microsoft.com/office/powerpoint/2010/main" val="85099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22" presetClass="entr" presetSubtype="8"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22" presetClass="entr" presetSubtype="8"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Trả về con trỏ hàm</a:t>
            </a:r>
          </a:p>
        </p:txBody>
      </p:sp>
      <p:sp>
        <p:nvSpPr>
          <p:cNvPr id="5" name="Rounded Rectangle 4"/>
          <p:cNvSpPr/>
          <p:nvPr/>
        </p:nvSpPr>
        <p:spPr>
          <a:xfrm>
            <a:off x="685800" y="1988840"/>
            <a:ext cx="152400" cy="4038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988840"/>
            <a:ext cx="8305800" cy="409416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a:t>
            </a:r>
            <a:r>
              <a:rPr lang="en-US" sz="2000" b="1">
                <a:solidFill>
                  <a:srgbClr val="FF0000"/>
                </a:solidFill>
                <a:latin typeface="Courier New" pitchFamily="49" charset="0"/>
                <a:cs typeface="Courier New" pitchFamily="49" charset="0"/>
              </a:rPr>
              <a:t>LayPhepToan(char code)</a:t>
            </a:r>
            <a:r>
              <a:rPr lang="en-US" sz="2000" b="1">
                <a:latin typeface="Courier New" pitchFamily="49" charset="0"/>
                <a:cs typeface="Courier New" pitchFamily="49" charset="0"/>
              </a:rPr>
              <a:t>)(int, int)</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if (code == ‘+’)</a:t>
            </a:r>
          </a:p>
          <a:p>
            <a:r>
              <a:rPr lang="en-US" sz="2000" b="1">
                <a:latin typeface="Courier New" pitchFamily="49" charset="0"/>
                <a:cs typeface="Courier New" pitchFamily="49" charset="0"/>
              </a:rPr>
              <a:t>		return &amp;Cong;</a:t>
            </a:r>
          </a:p>
          <a:p>
            <a:r>
              <a:rPr lang="en-US" sz="2000" b="1">
                <a:latin typeface="Courier New" pitchFamily="49" charset="0"/>
                <a:cs typeface="Courier New" pitchFamily="49" charset="0"/>
              </a:rPr>
              <a:t>	return &amp;Tru;</a:t>
            </a:r>
          </a:p>
          <a:p>
            <a:r>
              <a:rPr lang="en-US" sz="2000" b="1">
                <a:latin typeface="Courier New" pitchFamily="49" charset="0"/>
                <a:cs typeface="Courier New" pitchFamily="49" charset="0"/>
              </a:rPr>
              <a: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(*pheptoan)(int, int) = NULL;</a:t>
            </a:r>
          </a:p>
          <a:p>
            <a:r>
              <a:rPr lang="en-US" sz="2000" b="1">
                <a:latin typeface="Courier New" pitchFamily="49" charset="0"/>
                <a:cs typeface="Courier New" pitchFamily="49" charset="0"/>
              </a:rPr>
              <a:t>	pheptoan = LayPhepToan(‘+’);</a:t>
            </a:r>
          </a:p>
          <a:p>
            <a:r>
              <a:rPr lang="en-US" sz="2000" b="1">
                <a:latin typeface="Courier New" pitchFamily="49" charset="0"/>
                <a:cs typeface="Courier New" pitchFamily="49" charset="0"/>
              </a:rPr>
              <a:t>	int kq2 = pheptoan(1, 2, &amp;Tru);</a:t>
            </a:r>
          </a:p>
          <a:p>
            <a:r>
              <a:rPr lang="en-US" sz="2000" b="1">
                <a:latin typeface="Courier New" pitchFamily="49" charset="0"/>
                <a:cs typeface="Courier New" pitchFamily="49" charset="0"/>
              </a:rPr>
              <a:t>}</a:t>
            </a:r>
          </a:p>
        </p:txBody>
      </p:sp>
      <p:sp>
        <p:nvSpPr>
          <p:cNvPr id="7" name="Rectangle 6"/>
          <p:cNvSpPr>
            <a:spLocks/>
          </p:cNvSpPr>
          <p:nvPr/>
        </p:nvSpPr>
        <p:spPr bwMode="auto">
          <a:xfrm>
            <a:off x="0" y="198884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297944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328424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511304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1" name="Date Placeholder 10"/>
          <p:cNvSpPr>
            <a:spLocks noGrp="1"/>
          </p:cNvSpPr>
          <p:nvPr>
            <p:ph type="dt" sz="half" idx="10"/>
          </p:nvPr>
        </p:nvSpPr>
        <p:spPr/>
        <p:txBody>
          <a:bodyPr/>
          <a:lstStyle/>
          <a:p>
            <a:fld id="{C12E9051-4F6C-4961-9B2A-803224514911}" type="datetime1">
              <a:rPr lang="vi-VN" smtClean="0"/>
              <a:t>14/01/2024</a:t>
            </a:fld>
            <a:endParaRPr lang="vi-VN"/>
          </a:p>
        </p:txBody>
      </p:sp>
      <p:sp>
        <p:nvSpPr>
          <p:cNvPr id="12" name="Footer Placeholder 11"/>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39</a:t>
            </a:fld>
            <a:r>
              <a:rPr lang="vi-VN"/>
              <a:t>/50</a:t>
            </a:r>
          </a:p>
        </p:txBody>
      </p:sp>
    </p:spTree>
    <p:extLst>
      <p:ext uri="{BB962C8B-B14F-4D97-AF65-F5344CB8AC3E}">
        <p14:creationId xmlns:p14="http://schemas.microsoft.com/office/powerpoint/2010/main" val="310100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22" presetClass="entr" presetSubtype="8"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22" presetClass="entr" presetSubtype="8"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Trả về con trỏ hàm (khai báo kiểu)</a:t>
            </a:r>
          </a:p>
        </p:txBody>
      </p:sp>
      <p:sp>
        <p:nvSpPr>
          <p:cNvPr id="5" name="Rounded Rectangle 4"/>
          <p:cNvSpPr/>
          <p:nvPr/>
        </p:nvSpPr>
        <p:spPr>
          <a:xfrm>
            <a:off x="685800" y="1772816"/>
            <a:ext cx="152400" cy="4343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83058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typedef (*</a:t>
            </a:r>
            <a:r>
              <a:rPr lang="en-US" sz="2000" b="1">
                <a:solidFill>
                  <a:srgbClr val="FF0000"/>
                </a:solidFill>
                <a:latin typeface="Courier New" pitchFamily="49" charset="0"/>
                <a:cs typeface="Courier New" pitchFamily="49" charset="0"/>
              </a:rPr>
              <a:t>PhepToan</a:t>
            </a:r>
            <a:r>
              <a:rPr lang="en-US" sz="2000" b="1">
                <a:latin typeface="Courier New" pitchFamily="49" charset="0"/>
                <a:cs typeface="Courier New" pitchFamily="49" charset="0"/>
              </a:rPr>
              <a:t>)(int, int);</a:t>
            </a:r>
          </a:p>
          <a:p>
            <a:r>
              <a:rPr lang="en-US" sz="2000" b="1">
                <a:solidFill>
                  <a:srgbClr val="FF0000"/>
                </a:solidFill>
                <a:latin typeface="Courier New" pitchFamily="49" charset="0"/>
                <a:cs typeface="Courier New" pitchFamily="49" charset="0"/>
              </a:rPr>
              <a:t>PhepToan</a:t>
            </a:r>
            <a:r>
              <a:rPr lang="en-US" sz="2000" b="1">
                <a:latin typeface="Courier New" pitchFamily="49" charset="0"/>
                <a:cs typeface="Courier New" pitchFamily="49" charset="0"/>
              </a:rPr>
              <a:t> LayPhepToan(char code)</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if (code == ‘+’)</a:t>
            </a:r>
          </a:p>
          <a:p>
            <a:r>
              <a:rPr lang="en-US" sz="2000" b="1">
                <a:latin typeface="Courier New" pitchFamily="49" charset="0"/>
                <a:cs typeface="Courier New" pitchFamily="49" charset="0"/>
              </a:rPr>
              <a:t>		return &amp;Cong;</a:t>
            </a:r>
          </a:p>
          <a:p>
            <a:r>
              <a:rPr lang="en-US" sz="2000" b="1">
                <a:latin typeface="Courier New" pitchFamily="49" charset="0"/>
                <a:cs typeface="Courier New" pitchFamily="49" charset="0"/>
              </a:rPr>
              <a:t>	return &amp;Tru;</a:t>
            </a:r>
          </a:p>
          <a:p>
            <a:r>
              <a:rPr lang="en-US" sz="2000" b="1">
                <a:latin typeface="Courier New" pitchFamily="49" charset="0"/>
                <a:cs typeface="Courier New" pitchFamily="49" charset="0"/>
              </a:rPr>
              <a:t>}</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PhepToan pheptoan = NULL;</a:t>
            </a:r>
          </a:p>
          <a:p>
            <a:r>
              <a:rPr lang="en-US" sz="2000" b="1">
                <a:latin typeface="Courier New" pitchFamily="49" charset="0"/>
                <a:cs typeface="Courier New" pitchFamily="49" charset="0"/>
              </a:rPr>
              <a:t>	pheptoan = LayPhepToan(‘+’);</a:t>
            </a:r>
          </a:p>
          <a:p>
            <a:r>
              <a:rPr lang="en-US" sz="2000" b="1">
                <a:latin typeface="Courier New" pitchFamily="49" charset="0"/>
                <a:cs typeface="Courier New" pitchFamily="49" charset="0"/>
              </a:rPr>
              <a:t>	int kq2 = pheptoan(1, 2, &amp;Tru);</a:t>
            </a:r>
          </a:p>
          <a:p>
            <a:r>
              <a:rPr lang="en-US" sz="2000" b="1">
                <a:latin typeface="Courier New" pitchFamily="49" charset="0"/>
                <a:cs typeface="Courier New" pitchFamily="49" charset="0"/>
              </a:rPr>
              <a:t>}</a:t>
            </a:r>
          </a:p>
        </p:txBody>
      </p:sp>
      <p:sp>
        <p:nvSpPr>
          <p:cNvPr id="7" name="Rectangle 6"/>
          <p:cNvSpPr>
            <a:spLocks/>
          </p:cNvSpPr>
          <p:nvPr/>
        </p:nvSpPr>
        <p:spPr bwMode="auto">
          <a:xfrm>
            <a:off x="0" y="1772816"/>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2077616"/>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Date Placeholder 8"/>
          <p:cNvSpPr>
            <a:spLocks noGrp="1"/>
          </p:cNvSpPr>
          <p:nvPr>
            <p:ph type="dt" sz="half" idx="10"/>
          </p:nvPr>
        </p:nvSpPr>
        <p:spPr/>
        <p:txBody>
          <a:bodyPr/>
          <a:lstStyle/>
          <a:p>
            <a:fld id="{E2015FD5-5AB9-4C57-8FF3-68CEDDD36704}"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40</a:t>
            </a:fld>
            <a:r>
              <a:rPr lang="vi-VN"/>
              <a:t>/50</a:t>
            </a:r>
          </a:p>
        </p:txBody>
      </p:sp>
    </p:spTree>
    <p:extLst>
      <p:ext uri="{BB962C8B-B14F-4D97-AF65-F5344CB8AC3E}">
        <p14:creationId xmlns:p14="http://schemas.microsoft.com/office/powerpoint/2010/main" val="238723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Mảng con trỏ hàm</a:t>
            </a:r>
          </a:p>
        </p:txBody>
      </p:sp>
      <p:sp>
        <p:nvSpPr>
          <p:cNvPr id="5" name="Rounded Rectangle 4"/>
          <p:cNvSpPr/>
          <p:nvPr/>
        </p:nvSpPr>
        <p:spPr>
          <a:xfrm>
            <a:off x="685800" y="1772816"/>
            <a:ext cx="152400" cy="4343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772816"/>
            <a:ext cx="83058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typedef (*</a:t>
            </a:r>
            <a:r>
              <a:rPr lang="en-US" sz="2000" b="1">
                <a:solidFill>
                  <a:srgbClr val="FF0000"/>
                </a:solidFill>
                <a:latin typeface="Courier New" pitchFamily="49" charset="0"/>
                <a:cs typeface="Courier New" pitchFamily="49" charset="0"/>
              </a:rPr>
              <a:t>PhepToan</a:t>
            </a:r>
            <a:r>
              <a:rPr lang="en-US" sz="2000" b="1">
                <a:latin typeface="Courier New" pitchFamily="49" charset="0"/>
                <a:cs typeface="Courier New" pitchFamily="49" charset="0"/>
              </a:rPr>
              <a:t>)(int, int);</a:t>
            </a:r>
          </a:p>
          <a:p>
            <a:r>
              <a:rPr lang="en-US" sz="2000" b="1">
                <a:latin typeface="Courier New" pitchFamily="49" charset="0"/>
                <a:cs typeface="Courier New" pitchFamily="49" charset="0"/>
              </a:rPr>
              <a:t>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(*array1[2])(int, int);	// t</a:t>
            </a:r>
            <a:r>
              <a:rPr lang="vi-VN" sz="2000" b="1">
                <a:latin typeface="Courier New" pitchFamily="49" charset="0"/>
                <a:cs typeface="Courier New" pitchFamily="49" charset="0"/>
              </a:rPr>
              <a:t>ườn</a:t>
            </a:r>
            <a:r>
              <a:rPr lang="en-US" sz="2000" b="1">
                <a:latin typeface="Courier New" pitchFamily="49" charset="0"/>
                <a:cs typeface="Courier New" pitchFamily="49" charset="0"/>
              </a:rPr>
              <a:t>g minh</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PhepToan</a:t>
            </a:r>
            <a:r>
              <a:rPr lang="en-US" sz="2000" b="1">
                <a:latin typeface="Courier New" pitchFamily="49" charset="0"/>
                <a:cs typeface="Courier New" pitchFamily="49" charset="0"/>
              </a:rPr>
              <a:t> array2[2];		// kô t</a:t>
            </a:r>
            <a:r>
              <a:rPr lang="vi-VN" sz="2000" b="1">
                <a:latin typeface="Courier New" pitchFamily="49" charset="0"/>
                <a:cs typeface="Courier New" pitchFamily="49" charset="0"/>
              </a:rPr>
              <a:t>ườ</a:t>
            </a:r>
            <a:r>
              <a:rPr lang="en-US" sz="2000" b="1">
                <a:latin typeface="Courier New" pitchFamily="49" charset="0"/>
                <a:cs typeface="Courier New" pitchFamily="49" charset="0"/>
              </a:rPr>
              <a:t>ng minh</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array1[0] = array2[1] = &amp;Cong;</a:t>
            </a:r>
          </a:p>
          <a:p>
            <a:r>
              <a:rPr lang="en-US" sz="2000" b="1">
                <a:latin typeface="Courier New" pitchFamily="49" charset="0"/>
                <a:cs typeface="Courier New" pitchFamily="49" charset="0"/>
              </a:rPr>
              <a:t>	array1[1] = array2[0] = &amp;Tru;</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printf(“%d\n”, (*array1[0])(1, 2));</a:t>
            </a:r>
          </a:p>
          <a:p>
            <a:r>
              <a:rPr lang="en-US" sz="2000" b="1">
                <a:latin typeface="Courier New" pitchFamily="49" charset="0"/>
                <a:cs typeface="Courier New" pitchFamily="49" charset="0"/>
              </a:rPr>
              <a:t>	printf(“%d\n”, array1[1](1, 2));</a:t>
            </a:r>
          </a:p>
          <a:p>
            <a:r>
              <a:rPr lang="en-US" sz="2000" b="1">
                <a:latin typeface="Courier New" pitchFamily="49" charset="0"/>
                <a:cs typeface="Courier New" pitchFamily="49" charset="0"/>
              </a:rPr>
              <a:t>	printf(“%d\n”, array2[0](1, 2));</a:t>
            </a:r>
          </a:p>
          <a:p>
            <a:r>
              <a:rPr lang="en-US" sz="2000" b="1">
                <a:latin typeface="Courier New" pitchFamily="49" charset="0"/>
                <a:cs typeface="Courier New" pitchFamily="49" charset="0"/>
              </a:rPr>
              <a:t>	printf(“%d\n”, array2[1](1, 2));</a:t>
            </a:r>
          </a:p>
          <a:p>
            <a:r>
              <a:rPr lang="en-US" sz="2000" b="1">
                <a:latin typeface="Courier New" pitchFamily="49" charset="0"/>
                <a:cs typeface="Courier New" pitchFamily="49" charset="0"/>
              </a:rPr>
              <a:t>}</a:t>
            </a:r>
          </a:p>
        </p:txBody>
      </p:sp>
      <p:sp>
        <p:nvSpPr>
          <p:cNvPr id="7" name="Rectangle 6"/>
          <p:cNvSpPr>
            <a:spLocks/>
          </p:cNvSpPr>
          <p:nvPr/>
        </p:nvSpPr>
        <p:spPr bwMode="auto">
          <a:xfrm>
            <a:off x="0" y="2687216"/>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2992016"/>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3677816"/>
            <a:ext cx="9128125" cy="6096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459221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11" name="Date Placeholder 10"/>
          <p:cNvSpPr>
            <a:spLocks noGrp="1"/>
          </p:cNvSpPr>
          <p:nvPr>
            <p:ph type="dt" sz="half" idx="10"/>
          </p:nvPr>
        </p:nvSpPr>
        <p:spPr/>
        <p:txBody>
          <a:bodyPr/>
          <a:lstStyle/>
          <a:p>
            <a:fld id="{C24E26E8-0EFB-4AE7-88FA-61040F311582}" type="datetime1">
              <a:rPr lang="vi-VN" smtClean="0"/>
              <a:t>14/01/2024</a:t>
            </a:fld>
            <a:endParaRPr lang="vi-VN"/>
          </a:p>
        </p:txBody>
      </p:sp>
      <p:sp>
        <p:nvSpPr>
          <p:cNvPr id="12" name="Footer Placeholder 11"/>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41</a:t>
            </a:fld>
            <a:r>
              <a:rPr lang="vi-VN"/>
              <a:t>/50</a:t>
            </a:r>
          </a:p>
        </p:txBody>
      </p:sp>
    </p:spTree>
    <p:extLst>
      <p:ext uri="{BB962C8B-B14F-4D97-AF65-F5344CB8AC3E}">
        <p14:creationId xmlns:p14="http://schemas.microsoft.com/office/powerpoint/2010/main" val="353468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22" presetClass="entr" presetSubtype="8"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22" presetClass="entr" presetSubtype="8"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t>Con trỏ hàm (tt)</a:t>
            </a:r>
          </a:p>
        </p:txBody>
      </p:sp>
      <p:sp>
        <p:nvSpPr>
          <p:cNvPr id="3" name="Content Placeholder 2"/>
          <p:cNvSpPr>
            <a:spLocks noGrp="1"/>
          </p:cNvSpPr>
          <p:nvPr>
            <p:ph idx="1"/>
          </p:nvPr>
        </p:nvSpPr>
        <p:spPr/>
        <p:txBody>
          <a:bodyPr/>
          <a:lstStyle/>
          <a:p>
            <a:pPr>
              <a:defRPr/>
            </a:pPr>
            <a:r>
              <a:rPr lang="en-US"/>
              <a:t>L</a:t>
            </a:r>
            <a:r>
              <a:rPr lang="vi-VN"/>
              <a:t>ư</a:t>
            </a:r>
            <a:r>
              <a:rPr lang="en-US"/>
              <a:t>u ý</a:t>
            </a:r>
          </a:p>
          <a:p>
            <a:pPr lvl="1">
              <a:defRPr/>
            </a:pPr>
            <a:r>
              <a:rPr lang="en-US"/>
              <a:t>Không </a:t>
            </a:r>
            <a:r>
              <a:rPr lang="vi-VN"/>
              <a:t>đượ</a:t>
            </a:r>
            <a:r>
              <a:rPr lang="en-US"/>
              <a:t>c quên dấu () khi khai báo con trỏ hàm</a:t>
            </a:r>
          </a:p>
          <a:p>
            <a:pPr lvl="2">
              <a:defRPr/>
            </a:pPr>
            <a:r>
              <a:rPr lang="en-US"/>
              <a:t>int </a:t>
            </a:r>
            <a:r>
              <a:rPr lang="en-US">
                <a:solidFill>
                  <a:srgbClr val="FF0000"/>
                </a:solidFill>
              </a:rPr>
              <a:t>(</a:t>
            </a:r>
            <a:r>
              <a:rPr lang="en-US"/>
              <a:t>*PhepToan</a:t>
            </a:r>
            <a:r>
              <a:rPr lang="en-US">
                <a:solidFill>
                  <a:srgbClr val="FF0000"/>
                </a:solidFill>
              </a:rPr>
              <a:t>)</a:t>
            </a:r>
            <a:r>
              <a:rPr lang="en-US"/>
              <a:t>(int x, int y);</a:t>
            </a:r>
          </a:p>
          <a:p>
            <a:pPr lvl="2">
              <a:defRPr/>
            </a:pPr>
            <a:r>
              <a:rPr lang="en-US"/>
              <a:t>int *PhepToan(int x, int y);</a:t>
            </a:r>
          </a:p>
          <a:p>
            <a:pPr lvl="1">
              <a:defRPr/>
            </a:pPr>
            <a:r>
              <a:rPr lang="en-US"/>
              <a:t>Có thể bỏ tên biến tham số trong khai báo con trỏ hàm</a:t>
            </a:r>
          </a:p>
          <a:p>
            <a:pPr lvl="2">
              <a:defRPr/>
            </a:pPr>
            <a:r>
              <a:rPr lang="en-US"/>
              <a:t>int </a:t>
            </a:r>
            <a:r>
              <a:rPr lang="en-US">
                <a:solidFill>
                  <a:srgbClr val="FF0000"/>
                </a:solidFill>
              </a:rPr>
              <a:t>(</a:t>
            </a:r>
            <a:r>
              <a:rPr lang="en-US"/>
              <a:t>*PhepToan</a:t>
            </a:r>
            <a:r>
              <a:rPr lang="en-US">
                <a:solidFill>
                  <a:srgbClr val="FF0000"/>
                </a:solidFill>
              </a:rPr>
              <a:t>)</a:t>
            </a:r>
            <a:r>
              <a:rPr lang="en-US"/>
              <a:t>(int x, int y);</a:t>
            </a:r>
          </a:p>
          <a:p>
            <a:pPr lvl="2">
              <a:defRPr/>
            </a:pPr>
            <a:r>
              <a:rPr lang="en-US"/>
              <a:t>int </a:t>
            </a:r>
            <a:r>
              <a:rPr lang="en-US">
                <a:solidFill>
                  <a:srgbClr val="FF0000"/>
                </a:solidFill>
              </a:rPr>
              <a:t>(</a:t>
            </a:r>
            <a:r>
              <a:rPr lang="en-US"/>
              <a:t>*PhepToan</a:t>
            </a:r>
            <a:r>
              <a:rPr lang="en-US">
                <a:solidFill>
                  <a:srgbClr val="FF0000"/>
                </a:solidFill>
              </a:rPr>
              <a:t>)</a:t>
            </a:r>
            <a:r>
              <a:rPr lang="en-US"/>
              <a:t>(int, int);</a:t>
            </a:r>
          </a:p>
        </p:txBody>
      </p:sp>
      <p:sp>
        <p:nvSpPr>
          <p:cNvPr id="5" name="Date Placeholder 4"/>
          <p:cNvSpPr>
            <a:spLocks noGrp="1"/>
          </p:cNvSpPr>
          <p:nvPr>
            <p:ph type="dt" sz="half" idx="10"/>
          </p:nvPr>
        </p:nvSpPr>
        <p:spPr/>
        <p:txBody>
          <a:bodyPr/>
          <a:lstStyle/>
          <a:p>
            <a:fld id="{14273585-2DEF-444E-ABFE-3488724DE544}"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42</a:t>
            </a:fld>
            <a:r>
              <a:rPr lang="vi-VN"/>
              <a:t>/50</a:t>
            </a:r>
          </a:p>
        </p:txBody>
      </p:sp>
    </p:spTree>
    <p:extLst>
      <p:ext uri="{BB962C8B-B14F-4D97-AF65-F5344CB8AC3E}">
        <p14:creationId xmlns:p14="http://schemas.microsoft.com/office/powerpoint/2010/main" val="41953496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7. Cấp phát bộ nhớ động</a:t>
            </a:r>
            <a:endParaRPr lang="vi-VN"/>
          </a:p>
        </p:txBody>
      </p:sp>
      <p:sp>
        <p:nvSpPr>
          <p:cNvPr id="3" name="Content Placeholder 2"/>
          <p:cNvSpPr>
            <a:spLocks noGrp="1"/>
          </p:cNvSpPr>
          <p:nvPr>
            <p:ph idx="1"/>
          </p:nvPr>
        </p:nvSpPr>
        <p:spPr/>
        <p:txBody>
          <a:bodyPr/>
          <a:lstStyle/>
          <a:p>
            <a:r>
              <a:rPr lang="en-US"/>
              <a:t>Biến tĩnh: </a:t>
            </a:r>
          </a:p>
          <a:p>
            <a:pPr lvl="1"/>
            <a:r>
              <a:rPr lang="en-US"/>
              <a:t>Ví dụ: int, float, mảng…</a:t>
            </a:r>
          </a:p>
          <a:p>
            <a:pPr lvl="1"/>
            <a:r>
              <a:rPr lang="en-US"/>
              <a:t>Là các biến được xác định khi mô tả kiểu, địa chỉ của các biến được xác định ngay khi thực hiện chương trình; </a:t>
            </a:r>
          </a:p>
          <a:p>
            <a:pPr lvl="1"/>
            <a:r>
              <a:rPr lang="en-US"/>
              <a:t>Thời gian tồn tại cùng với thời gian tồn tại của khối chương trình chứa khai báo</a:t>
            </a:r>
          </a:p>
          <a:p>
            <a:r>
              <a:rPr lang="en-US"/>
              <a:t>Biến động:</a:t>
            </a:r>
          </a:p>
          <a:p>
            <a:pPr lvl="1"/>
            <a:r>
              <a:rPr lang="en-US"/>
              <a:t>Được tạo ra lúc chạy chương trình theo yêu cầu</a:t>
            </a:r>
          </a:p>
          <a:p>
            <a:pPr lvl="1"/>
            <a:r>
              <a:rPr lang="en-US"/>
              <a:t>Biến động không có tên</a:t>
            </a:r>
          </a:p>
          <a:p>
            <a:pPr lvl="1"/>
            <a:r>
              <a:rPr lang="en-US"/>
              <a:t>Truy nhập thông qua các biến con trỏ (là biến tĩnh, chứa địa chỉ của các biến động)</a:t>
            </a:r>
            <a:endParaRPr lang="vi-VN"/>
          </a:p>
        </p:txBody>
      </p:sp>
      <p:sp>
        <p:nvSpPr>
          <p:cNvPr id="4" name="Date Placeholder 3"/>
          <p:cNvSpPr>
            <a:spLocks noGrp="1"/>
          </p:cNvSpPr>
          <p:nvPr>
            <p:ph type="dt" sz="half" idx="10"/>
          </p:nvPr>
        </p:nvSpPr>
        <p:spPr/>
        <p:txBody>
          <a:bodyPr/>
          <a:lstStyle/>
          <a:p>
            <a:fld id="{5E1B8F79-82A7-493C-B52B-CEF97A39C0DD}"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43</a:t>
            </a:fld>
            <a:r>
              <a:rPr lang="vi-VN"/>
              <a:t>/50</a:t>
            </a:r>
          </a:p>
        </p:txBody>
      </p:sp>
    </p:spTree>
    <p:extLst>
      <p:ext uri="{BB962C8B-B14F-4D97-AF65-F5344CB8AC3E}">
        <p14:creationId xmlns:p14="http://schemas.microsoft.com/office/powerpoint/2010/main" val="38085732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Cấp phát bộ nhớ động</a:t>
            </a:r>
            <a:endParaRPr lang="vi-VN"/>
          </a:p>
        </p:txBody>
      </p:sp>
      <p:sp>
        <p:nvSpPr>
          <p:cNvPr id="3" name="Content Placeholder 2"/>
          <p:cNvSpPr>
            <a:spLocks noGrp="1"/>
          </p:cNvSpPr>
          <p:nvPr>
            <p:ph idx="1"/>
          </p:nvPr>
        </p:nvSpPr>
        <p:spPr>
          <a:xfrm>
            <a:off x="762000" y="1143000"/>
            <a:ext cx="8382000" cy="5181600"/>
          </a:xfrm>
        </p:spPr>
        <p:txBody>
          <a:bodyPr/>
          <a:lstStyle/>
          <a:p>
            <a:r>
              <a:rPr lang="en-US"/>
              <a:t>Cấp phát bộ nhớ (trong thư viện stdlib.h,alloc.h)</a:t>
            </a:r>
          </a:p>
          <a:p>
            <a:pPr marL="0" indent="0">
              <a:buNone/>
            </a:pPr>
            <a:r>
              <a:rPr lang="vi-VN" sz="2000" b="1">
                <a:latin typeface="Courier New" pitchFamily="49" charset="0"/>
                <a:cs typeface="Courier New" pitchFamily="49" charset="0"/>
              </a:rPr>
              <a:t>void *</a:t>
            </a:r>
            <a:r>
              <a:rPr lang="vi-VN" sz="2000" b="1">
                <a:solidFill>
                  <a:srgbClr val="0000FF"/>
                </a:solidFill>
                <a:latin typeface="Courier New" pitchFamily="49" charset="0"/>
                <a:cs typeface="Courier New" pitchFamily="49" charset="0"/>
              </a:rPr>
              <a:t>malloc</a:t>
            </a:r>
            <a:r>
              <a:rPr lang="vi-VN" sz="2000" b="1">
                <a:latin typeface="Courier New" pitchFamily="49" charset="0"/>
                <a:cs typeface="Courier New" pitchFamily="49" charset="0"/>
              </a:rPr>
              <a:t>(Số ô nhớ cần cấp phát)</a:t>
            </a:r>
            <a:endParaRPr lang="vi-VN" sz="2000">
              <a:latin typeface="Courier New" pitchFamily="49" charset="0"/>
              <a:cs typeface="Courier New" pitchFamily="49" charset="0"/>
            </a:endParaRPr>
          </a:p>
          <a:p>
            <a:pPr marL="0" indent="0">
              <a:buNone/>
            </a:pPr>
            <a:r>
              <a:rPr lang="vi-VN" sz="2000">
                <a:latin typeface="Courier New" pitchFamily="49" charset="0"/>
                <a:cs typeface="Courier New" pitchFamily="49" charset="0"/>
              </a:rPr>
              <a:t> Cấp phát vùng nhớ có kích thước được chỉ ra.</a:t>
            </a:r>
          </a:p>
          <a:p>
            <a:pPr marL="0" indent="0">
              <a:buNone/>
            </a:pPr>
            <a:r>
              <a:rPr lang="vi-VN" sz="2000" b="1">
                <a:latin typeface="Courier New" pitchFamily="49" charset="0"/>
                <a:cs typeface="Courier New" pitchFamily="49" charset="0"/>
              </a:rPr>
              <a:t>void *</a:t>
            </a:r>
            <a:r>
              <a:rPr lang="vi-VN" sz="2000" b="1">
                <a:solidFill>
                  <a:srgbClr val="0000FF"/>
                </a:solidFill>
                <a:latin typeface="Courier New" pitchFamily="49" charset="0"/>
                <a:cs typeface="Courier New" pitchFamily="49" charset="0"/>
              </a:rPr>
              <a:t>calloc</a:t>
            </a:r>
            <a:r>
              <a:rPr lang="vi-VN" sz="2000" b="1">
                <a:latin typeface="Courier New" pitchFamily="49" charset="0"/>
                <a:cs typeface="Courier New" pitchFamily="49" charset="0"/>
              </a:rPr>
              <a:t>(n,sizeof(object))</a:t>
            </a:r>
            <a:endParaRPr lang="vi-VN" sz="2000">
              <a:latin typeface="Courier New" pitchFamily="49" charset="0"/>
              <a:cs typeface="Courier New" pitchFamily="49" charset="0"/>
            </a:endParaRPr>
          </a:p>
          <a:p>
            <a:pPr marL="0" indent="0">
              <a:buNone/>
            </a:pPr>
            <a:r>
              <a:rPr lang="vi-VN" sz="2000">
                <a:latin typeface="Courier New" pitchFamily="49" charset="0"/>
                <a:cs typeface="Courier New" pitchFamily="49" charset="0"/>
              </a:rPr>
              <a:t> Cấp phát vùng nhớ có kích thước là n*sizeof(object)</a:t>
            </a:r>
          </a:p>
          <a:p>
            <a:pPr marL="0" indent="0">
              <a:buNone/>
            </a:pPr>
            <a:r>
              <a:rPr lang="vi-VN" sz="2000">
                <a:solidFill>
                  <a:srgbClr val="0000FF"/>
                </a:solidFill>
                <a:latin typeface="+mj-lt"/>
                <a:cs typeface="Courier New" pitchFamily="49" charset="0"/>
              </a:rPr>
              <a:t>   Dùng khi cấp phát bộ nhớ cho kiểu dữ liệu không phải kiểu cơ sở</a:t>
            </a:r>
            <a:endParaRPr lang="vi-VN" sz="2000">
              <a:solidFill>
                <a:srgbClr val="0000FF"/>
              </a:solidFill>
              <a:latin typeface="+mj-lt"/>
            </a:endParaRPr>
          </a:p>
          <a:p>
            <a:r>
              <a:rPr lang="vi-VN"/>
              <a:t>Ví dụ: </a:t>
            </a:r>
          </a:p>
          <a:p>
            <a:pPr marL="0" indent="0">
              <a:buNone/>
            </a:pPr>
            <a:r>
              <a:rPr lang="vi-VN" sz="2000" b="1">
                <a:latin typeface="Courier New" pitchFamily="49" charset="0"/>
                <a:cs typeface="Courier New" pitchFamily="49" charset="0"/>
              </a:rPr>
              <a:t>    int a, *pa, *pb; </a:t>
            </a:r>
          </a:p>
          <a:p>
            <a:pPr marL="0" indent="0">
              <a:buNone/>
            </a:pPr>
            <a:r>
              <a:rPr lang="vi-VN" sz="2000" b="1">
                <a:latin typeface="Courier New" pitchFamily="49" charset="0"/>
                <a:cs typeface="Courier New" pitchFamily="49" charset="0"/>
              </a:rPr>
              <a:t>    pa = (int*)malloc(sizeof(int)); </a:t>
            </a:r>
          </a:p>
          <a:p>
            <a:pPr marL="0" indent="0">
              <a:buNone/>
            </a:pPr>
            <a:r>
              <a:rPr lang="vi-VN" sz="2000" b="1">
                <a:latin typeface="Courier New" pitchFamily="49" charset="0"/>
                <a:cs typeface="Courier New" pitchFamily="49" charset="0"/>
              </a:rPr>
              <a:t>    pb= (int*)calloc(10, sizeof(int)); </a:t>
            </a:r>
          </a:p>
          <a:p>
            <a:r>
              <a:rPr lang="vi-VN" b="1"/>
              <a:t>Lưu ý</a:t>
            </a:r>
            <a:r>
              <a:rPr lang="vi-VN"/>
              <a:t>: Khi sử dụng hàm malloc() hay calloc(), ta phải ép kiểu vì nguyên mẫu các hàm này trả về con trỏ kiểu void.</a:t>
            </a:r>
            <a:endParaRPr lang="en-US"/>
          </a:p>
          <a:p>
            <a:pPr marL="0" indent="0">
              <a:buNone/>
            </a:pPr>
            <a:endParaRPr lang="en-US"/>
          </a:p>
          <a:p>
            <a:pPr marL="0" indent="0">
              <a:buNone/>
            </a:pPr>
            <a:endParaRPr lang="vi-VN"/>
          </a:p>
        </p:txBody>
      </p:sp>
      <p:sp>
        <p:nvSpPr>
          <p:cNvPr id="4" name="Date Placeholder 3"/>
          <p:cNvSpPr>
            <a:spLocks noGrp="1"/>
          </p:cNvSpPr>
          <p:nvPr>
            <p:ph type="dt" sz="half" idx="10"/>
          </p:nvPr>
        </p:nvSpPr>
        <p:spPr/>
        <p:txBody>
          <a:bodyPr/>
          <a:lstStyle/>
          <a:p>
            <a:fld id="{0F818AC4-7042-4DEF-BBB7-BE424787FA1F}"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44</a:t>
            </a:fld>
            <a:r>
              <a:rPr lang="vi-VN"/>
              <a:t>/50</a:t>
            </a:r>
          </a:p>
        </p:txBody>
      </p:sp>
    </p:spTree>
    <p:extLst>
      <p:ext uri="{BB962C8B-B14F-4D97-AF65-F5344CB8AC3E}">
        <p14:creationId xmlns:p14="http://schemas.microsoft.com/office/powerpoint/2010/main" val="2828226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Cấp phát bộ nhớ động (tt)</a:t>
            </a:r>
            <a:endParaRPr lang="vi-VN"/>
          </a:p>
        </p:txBody>
      </p:sp>
      <p:sp>
        <p:nvSpPr>
          <p:cNvPr id="3" name="Content Placeholder 2"/>
          <p:cNvSpPr>
            <a:spLocks noGrp="1"/>
          </p:cNvSpPr>
          <p:nvPr>
            <p:ph idx="1"/>
          </p:nvPr>
        </p:nvSpPr>
        <p:spPr/>
        <p:txBody>
          <a:bodyPr/>
          <a:lstStyle/>
          <a:p>
            <a:r>
              <a:rPr lang="vi-VN"/>
              <a:t>Cấp phát lại vùng nhớ cho biến con trỏ</a:t>
            </a:r>
            <a:endParaRPr lang="en-US"/>
          </a:p>
          <a:p>
            <a:pPr marL="0" indent="0">
              <a:buNone/>
            </a:pPr>
            <a:r>
              <a:rPr lang="en-US" sz="2000" b="1">
                <a:latin typeface="Courier New" pitchFamily="49" charset="0"/>
                <a:cs typeface="Courier New" pitchFamily="49" charset="0"/>
              </a:rPr>
              <a:t>void *</a:t>
            </a:r>
            <a:r>
              <a:rPr lang="en-US" sz="2000" b="1">
                <a:solidFill>
                  <a:srgbClr val="0000FF"/>
                </a:solidFill>
                <a:latin typeface="Courier New" pitchFamily="49" charset="0"/>
                <a:cs typeface="Courier New" pitchFamily="49" charset="0"/>
              </a:rPr>
              <a:t>realloc</a:t>
            </a:r>
            <a:r>
              <a:rPr lang="en-US" sz="2000" b="1">
                <a:latin typeface="Courier New" pitchFamily="49" charset="0"/>
                <a:cs typeface="Courier New" pitchFamily="49" charset="0"/>
              </a:rPr>
              <a:t>(void *poiter, kích thước mới) </a:t>
            </a:r>
          </a:p>
          <a:p>
            <a:pPr lvl="1"/>
            <a:r>
              <a:rPr lang="vi-VN" i="1"/>
              <a:t>Ý nghĩa</a:t>
            </a:r>
            <a:r>
              <a:rPr lang="vi-VN"/>
              <a:t>: </a:t>
            </a:r>
          </a:p>
          <a:p>
            <a:pPr lvl="2"/>
            <a:r>
              <a:rPr lang="vi-VN"/>
              <a:t>Cấp phát lại 1 vùng nhớ cho con trỏ </a:t>
            </a:r>
            <a:r>
              <a:rPr lang="vi-VN" i="1"/>
              <a:t>pointer </a:t>
            </a:r>
            <a:r>
              <a:rPr lang="vi-VN"/>
              <a:t>quản lý, vùng nhớ này có kích thước mới là kích thước mới được chỉ ra; khi cấp phát lại thì nội dung vùng nhớ trước đó vẫn tồn tại.</a:t>
            </a:r>
            <a:endParaRPr lang="en-US"/>
          </a:p>
          <a:p>
            <a:pPr lvl="2"/>
            <a:r>
              <a:rPr lang="vi-VN"/>
              <a:t>Kết quả trả về của hàm là địa chỉ đầu tiên của vùng nhớ mới. Địa chỉ này có thể khác với địa chỉ được chỉ ra khi cấp phát ban đầu. </a:t>
            </a:r>
          </a:p>
          <a:p>
            <a:pPr lvl="1"/>
            <a:r>
              <a:rPr lang="vi-VN" i="1"/>
              <a:t>Ví dụ</a:t>
            </a:r>
            <a:r>
              <a:rPr lang="vi-VN"/>
              <a:t>: </a:t>
            </a:r>
          </a:p>
          <a:p>
            <a:pPr marL="471487" lvl="1" indent="0">
              <a:buNone/>
            </a:pPr>
            <a:r>
              <a:rPr lang="vi-VN" sz="2000">
                <a:solidFill>
                  <a:schemeClr val="tx1"/>
                </a:solidFill>
                <a:latin typeface="Courier New" pitchFamily="49" charset="0"/>
                <a:ea typeface="+mn-ea"/>
                <a:cs typeface="Courier New" pitchFamily="49" charset="0"/>
              </a:rPr>
              <a:t>	</a:t>
            </a:r>
            <a:r>
              <a:rPr lang="vi-VN" sz="2000" b="1">
                <a:solidFill>
                  <a:schemeClr val="tx1"/>
                </a:solidFill>
                <a:latin typeface="Courier New" pitchFamily="49" charset="0"/>
                <a:ea typeface="+mn-ea"/>
                <a:cs typeface="Courier New" pitchFamily="49" charset="0"/>
              </a:rPr>
              <a:t>int a, *pa; </a:t>
            </a:r>
          </a:p>
          <a:p>
            <a:pPr marL="0" indent="0">
              <a:buNone/>
            </a:pPr>
            <a:r>
              <a:rPr lang="vi-VN" sz="2000" b="1">
                <a:latin typeface="Courier New" pitchFamily="49" charset="0"/>
                <a:cs typeface="Courier New" pitchFamily="49" charset="0"/>
              </a:rPr>
              <a:t>	pa=(int*)malloc(sizeof(int)); </a:t>
            </a:r>
          </a:p>
          <a:p>
            <a:pPr marL="0" indent="0">
              <a:buNone/>
            </a:pPr>
            <a:r>
              <a:rPr lang="vi-VN" sz="2000" b="1">
                <a:latin typeface="Courier New" pitchFamily="49" charset="0"/>
                <a:cs typeface="Courier New" pitchFamily="49" charset="0"/>
              </a:rPr>
              <a:t>	pa = </a:t>
            </a:r>
            <a:r>
              <a:rPr lang="vi-VN" sz="2000" b="1">
                <a:solidFill>
                  <a:srgbClr val="FF0000"/>
                </a:solidFill>
                <a:latin typeface="Courier New" pitchFamily="49" charset="0"/>
                <a:cs typeface="Courier New" pitchFamily="49" charset="0"/>
              </a:rPr>
              <a:t>realloc</a:t>
            </a:r>
            <a:r>
              <a:rPr lang="vi-VN" sz="2000" b="1">
                <a:latin typeface="Courier New" pitchFamily="49" charset="0"/>
                <a:cs typeface="Courier New" pitchFamily="49" charset="0"/>
              </a:rPr>
              <a:t>(pa, 6); </a:t>
            </a:r>
            <a:r>
              <a:rPr lang="vi-VN" sz="2000" b="1">
                <a:solidFill>
                  <a:srgbClr val="0000FF"/>
                </a:solidFill>
                <a:latin typeface="Courier New" pitchFamily="49" charset="0"/>
                <a:cs typeface="Courier New" pitchFamily="49" charset="0"/>
              </a:rPr>
              <a:t>/* Cấp phát lại vùng nhớ có kích thước 6 byte*/</a:t>
            </a:r>
          </a:p>
        </p:txBody>
      </p:sp>
      <p:sp>
        <p:nvSpPr>
          <p:cNvPr id="4" name="Date Placeholder 3"/>
          <p:cNvSpPr>
            <a:spLocks noGrp="1"/>
          </p:cNvSpPr>
          <p:nvPr>
            <p:ph type="dt" sz="half" idx="10"/>
          </p:nvPr>
        </p:nvSpPr>
        <p:spPr/>
        <p:txBody>
          <a:bodyPr/>
          <a:lstStyle/>
          <a:p>
            <a:fld id="{80DFBA34-67D1-4338-AE6A-7D7DE9A7121C}"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45</a:t>
            </a:fld>
            <a:r>
              <a:rPr lang="vi-VN"/>
              <a:t>/50</a:t>
            </a:r>
          </a:p>
        </p:txBody>
      </p:sp>
    </p:spTree>
    <p:extLst>
      <p:ext uri="{BB962C8B-B14F-4D97-AF65-F5344CB8AC3E}">
        <p14:creationId xmlns:p14="http://schemas.microsoft.com/office/powerpoint/2010/main" val="225707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Effect transition="in" filter="wipe(down)">
                                      <p:cBhvr>
                                        <p:cTn id="11" dur="500"/>
                                        <p:tgtEl>
                                          <p:spTgt spid="3">
                                            <p:txEl>
                                              <p:pRg st="6" end="6"/>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wipe(down)">
                                      <p:cBhvr>
                                        <p:cTn id="15" dur="500"/>
                                        <p:tgtEl>
                                          <p:spTgt spid="3">
                                            <p:txEl>
                                              <p:pRg st="7" end="7"/>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wipe(down)">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Cấp phát bộ nhớ động (tt)</a:t>
            </a:r>
            <a:endParaRPr lang="vi-VN"/>
          </a:p>
        </p:txBody>
      </p:sp>
      <p:sp>
        <p:nvSpPr>
          <p:cNvPr id="3" name="Content Placeholder 2"/>
          <p:cNvSpPr>
            <a:spLocks noGrp="1"/>
          </p:cNvSpPr>
          <p:nvPr>
            <p:ph idx="1"/>
          </p:nvPr>
        </p:nvSpPr>
        <p:spPr/>
        <p:txBody>
          <a:bodyPr/>
          <a:lstStyle/>
          <a:p>
            <a:r>
              <a:rPr lang="en-US"/>
              <a:t>Giải phóng vùng nhớ đã cấp phát</a:t>
            </a:r>
          </a:p>
          <a:p>
            <a:pPr marL="0" indent="0">
              <a:buNone/>
            </a:pPr>
            <a:r>
              <a:rPr lang="vi-VN" sz="2000" b="1">
                <a:latin typeface="Courier New" pitchFamily="49" charset="0"/>
                <a:cs typeface="Courier New" pitchFamily="49" charset="0"/>
              </a:rPr>
              <a:t>   void </a:t>
            </a:r>
            <a:r>
              <a:rPr lang="vi-VN" sz="2000" b="1">
                <a:solidFill>
                  <a:srgbClr val="0000FF"/>
                </a:solidFill>
                <a:latin typeface="Courier New" pitchFamily="49" charset="0"/>
                <a:cs typeface="Courier New" pitchFamily="49" charset="0"/>
              </a:rPr>
              <a:t>free</a:t>
            </a:r>
            <a:r>
              <a:rPr lang="vi-VN" sz="2000" b="1">
                <a:latin typeface="Courier New" pitchFamily="49" charset="0"/>
                <a:cs typeface="Courier New" pitchFamily="49" charset="0"/>
              </a:rPr>
              <a:t>(void *pointer) </a:t>
            </a:r>
          </a:p>
          <a:p>
            <a:pPr lvl="1"/>
            <a:r>
              <a:rPr lang="vi-VN" i="1"/>
              <a:t>Ý nghĩa</a:t>
            </a:r>
            <a:r>
              <a:rPr lang="vi-VN"/>
              <a:t>: Giải phóng vùng nhớ được quản lý bởi con trỏ pointer. </a:t>
            </a:r>
          </a:p>
          <a:p>
            <a:pPr lvl="1"/>
            <a:r>
              <a:rPr lang="vi-VN" i="1"/>
              <a:t>Ví dụ</a:t>
            </a:r>
            <a:r>
              <a:rPr lang="vi-VN"/>
              <a:t>: </a:t>
            </a:r>
          </a:p>
          <a:p>
            <a:pPr marL="471487" lvl="1" indent="0">
              <a:buNone/>
            </a:pPr>
            <a:r>
              <a:rPr lang="vi-VN"/>
              <a:t>Ở ví dụ trên, sau khi thực hiện xong, ta giải phóng vùng nhớ cho 2 biến con trỏ </a:t>
            </a:r>
            <a:r>
              <a:rPr lang="vi-VN">
                <a:solidFill>
                  <a:schemeClr val="tx1">
                    <a:lumMod val="95000"/>
                    <a:lumOff val="5000"/>
                  </a:schemeClr>
                </a:solidFill>
              </a:rPr>
              <a:t>pa</a:t>
            </a:r>
            <a:r>
              <a:rPr lang="vi-VN"/>
              <a:t> và </a:t>
            </a:r>
            <a:r>
              <a:rPr lang="vi-VN">
                <a:solidFill>
                  <a:schemeClr val="tx1">
                    <a:lumMod val="95000"/>
                    <a:lumOff val="5000"/>
                  </a:schemeClr>
                </a:solidFill>
              </a:rPr>
              <a:t>pb</a:t>
            </a:r>
            <a:r>
              <a:rPr lang="vi-VN"/>
              <a:t>: </a:t>
            </a:r>
          </a:p>
          <a:p>
            <a:pPr marL="471487" lvl="1" indent="0">
              <a:buNone/>
            </a:pPr>
            <a:r>
              <a:rPr lang="vi-VN" sz="2000" b="1">
                <a:solidFill>
                  <a:srgbClr val="FF0000"/>
                </a:solidFill>
                <a:latin typeface="Courier New" pitchFamily="49" charset="0"/>
                <a:ea typeface="+mn-ea"/>
                <a:cs typeface="Courier New" pitchFamily="49" charset="0"/>
              </a:rPr>
              <a:t>free</a:t>
            </a:r>
            <a:r>
              <a:rPr lang="vi-VN" sz="2000" b="1">
                <a:solidFill>
                  <a:schemeClr val="tx1"/>
                </a:solidFill>
                <a:latin typeface="Courier New" pitchFamily="49" charset="0"/>
                <a:ea typeface="+mn-ea"/>
                <a:cs typeface="Courier New" pitchFamily="49" charset="0"/>
              </a:rPr>
              <a:t>(pa); </a:t>
            </a:r>
          </a:p>
          <a:p>
            <a:pPr marL="0" indent="0">
              <a:buNone/>
            </a:pPr>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free</a:t>
            </a:r>
            <a:r>
              <a:rPr lang="vi-VN" sz="2000" b="1">
                <a:latin typeface="Courier New" pitchFamily="49" charset="0"/>
                <a:cs typeface="Courier New" pitchFamily="49" charset="0"/>
              </a:rPr>
              <a:t>(pb); </a:t>
            </a:r>
          </a:p>
        </p:txBody>
      </p:sp>
      <p:sp>
        <p:nvSpPr>
          <p:cNvPr id="4" name="Date Placeholder 3"/>
          <p:cNvSpPr>
            <a:spLocks noGrp="1"/>
          </p:cNvSpPr>
          <p:nvPr>
            <p:ph type="dt" sz="half" idx="10"/>
          </p:nvPr>
        </p:nvSpPr>
        <p:spPr/>
        <p:txBody>
          <a:bodyPr/>
          <a:lstStyle/>
          <a:p>
            <a:fld id="{0F9EB0B7-0CCE-4076-B6EC-5D0D7EFB806F}"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46</a:t>
            </a:fld>
            <a:r>
              <a:rPr lang="vi-VN"/>
              <a:t>/50</a:t>
            </a:r>
          </a:p>
        </p:txBody>
      </p:sp>
    </p:spTree>
    <p:extLst>
      <p:ext uri="{BB962C8B-B14F-4D97-AF65-F5344CB8AC3E}">
        <p14:creationId xmlns:p14="http://schemas.microsoft.com/office/powerpoint/2010/main" val="295424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wipe(down)">
                                      <p:cBhvr>
                                        <p:cTn id="11" dur="500"/>
                                        <p:tgtEl>
                                          <p:spTgt spid="3">
                                            <p:txEl>
                                              <p:pRg st="4" end="4"/>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wipe(down)">
                                      <p:cBhvr>
                                        <p:cTn id="15" dur="500"/>
                                        <p:tgtEl>
                                          <p:spTgt spid="3">
                                            <p:txEl>
                                              <p:pRg st="5" end="5"/>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down)">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cấp phát bộ nhớ động</a:t>
            </a:r>
            <a:endParaRPr lang="vi-VN"/>
          </a:p>
        </p:txBody>
      </p:sp>
      <p:sp>
        <p:nvSpPr>
          <p:cNvPr id="3" name="Content Placeholder 2"/>
          <p:cNvSpPr>
            <a:spLocks noGrp="1"/>
          </p:cNvSpPr>
          <p:nvPr>
            <p:ph idx="1"/>
          </p:nvPr>
        </p:nvSpPr>
        <p:spPr/>
        <p:txBody>
          <a:bodyPr/>
          <a:lstStyle/>
          <a:p>
            <a:r>
              <a:rPr lang="en-US"/>
              <a:t>Nhập từ bàn phím một số nguyên n, đưa ra màn hình n số nguyên tố đầu tiên</a:t>
            </a:r>
            <a:endParaRPr lang="vi-VN"/>
          </a:p>
        </p:txBody>
      </p:sp>
      <p:sp>
        <p:nvSpPr>
          <p:cNvPr id="4" name="Date Placeholder 3"/>
          <p:cNvSpPr>
            <a:spLocks noGrp="1"/>
          </p:cNvSpPr>
          <p:nvPr>
            <p:ph type="dt" sz="half" idx="10"/>
          </p:nvPr>
        </p:nvSpPr>
        <p:spPr/>
        <p:txBody>
          <a:bodyPr/>
          <a:lstStyle/>
          <a:p>
            <a:fld id="{BF12E0FE-40C3-4266-B1AF-B6299B78CE7C}"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8" name="Rectangle 7"/>
          <p:cNvSpPr/>
          <p:nvPr/>
        </p:nvSpPr>
        <p:spPr>
          <a:xfrm>
            <a:off x="755576" y="1988840"/>
            <a:ext cx="8208912" cy="4401205"/>
          </a:xfrm>
          <a:prstGeom prst="rect">
            <a:avLst/>
          </a:prstGeom>
        </p:spPr>
        <p:txBody>
          <a:bodyPr wrap="square">
            <a:spAutoFit/>
          </a:bodyPr>
          <a:lstStyle/>
          <a:p>
            <a:r>
              <a:rPr lang="vi-VN" sz="2000" b="1">
                <a:latin typeface="Courier New" pitchFamily="49" charset="0"/>
                <a:cs typeface="Courier New" pitchFamily="49" charset="0"/>
              </a:rPr>
              <a:t>int ngto(long a)</a:t>
            </a:r>
          </a:p>
          <a:p>
            <a:r>
              <a:rPr lang="vi-VN" sz="2000" b="1">
                <a:latin typeface="Courier New" pitchFamily="49" charset="0"/>
                <a:cs typeface="Courier New" pitchFamily="49" charset="0"/>
              </a:rPr>
              <a:t>{ //Kiem tra so nguyen to</a:t>
            </a:r>
          </a:p>
          <a:p>
            <a:r>
              <a:rPr lang="vi-VN" sz="2000" b="1">
                <a:latin typeface="Courier New" pitchFamily="49" charset="0"/>
                <a:cs typeface="Courier New" pitchFamily="49" charset="0"/>
              </a:rPr>
              <a:t>}</a:t>
            </a:r>
          </a:p>
          <a:p>
            <a:r>
              <a:rPr lang="vi-VN" sz="2000" b="1">
                <a:latin typeface="Courier New" pitchFamily="49" charset="0"/>
                <a:cs typeface="Courier New" pitchFamily="49" charset="0"/>
              </a:rPr>
              <a:t>int main()</a:t>
            </a:r>
          </a:p>
          <a:p>
            <a:r>
              <a:rPr lang="vi-VN" sz="2000" b="1">
                <a:latin typeface="Courier New" pitchFamily="49" charset="0"/>
                <a:cs typeface="Courier New" pitchFamily="49" charset="0"/>
              </a:rPr>
              <a:t>{   long *prime=NULL, x=0;</a:t>
            </a:r>
          </a:p>
          <a:p>
            <a:r>
              <a:rPr lang="vi-VN" sz="2000" b="1">
                <a:latin typeface="Courier New" pitchFamily="49" charset="0"/>
                <a:cs typeface="Courier New" pitchFamily="49" charset="0"/>
              </a:rPr>
              <a:t>    int i=0, found=0, n=0,j;</a:t>
            </a:r>
          </a:p>
          <a:p>
            <a:r>
              <a:rPr lang="vi-VN" sz="2000" b="1">
                <a:latin typeface="Courier New" pitchFamily="49" charset="0"/>
                <a:cs typeface="Courier New" pitchFamily="49" charset="0"/>
              </a:rPr>
              <a:t>    printf("Ban muon tim bao nhieu so nguyen to? ");</a:t>
            </a:r>
          </a:p>
          <a:p>
            <a:r>
              <a:rPr lang="vi-VN" sz="2000" b="1">
                <a:latin typeface="Courier New" pitchFamily="49" charset="0"/>
                <a:cs typeface="Courier New" pitchFamily="49" charset="0"/>
              </a:rPr>
              <a:t>    scanf("%d",&amp;n);</a:t>
            </a:r>
          </a:p>
          <a:p>
            <a:r>
              <a:rPr lang="vi-VN" sz="2000" b="1">
                <a:latin typeface="Courier New" pitchFamily="49" charset="0"/>
                <a:cs typeface="Courier New" pitchFamily="49" charset="0"/>
              </a:rPr>
              <a:t>    prime=(long *)</a:t>
            </a:r>
            <a:r>
              <a:rPr lang="vi-VN" sz="2000" b="1">
                <a:solidFill>
                  <a:srgbClr val="0000FF"/>
                </a:solidFill>
                <a:latin typeface="Courier New" pitchFamily="49" charset="0"/>
                <a:cs typeface="Courier New" pitchFamily="49" charset="0"/>
              </a:rPr>
              <a:t>malloc</a:t>
            </a:r>
            <a:r>
              <a:rPr lang="vi-VN" sz="2000" b="1">
                <a:latin typeface="Courier New" pitchFamily="49" charset="0"/>
                <a:cs typeface="Courier New" pitchFamily="49" charset="0"/>
              </a:rPr>
              <a:t>(n*sizeof(long));</a:t>
            </a:r>
          </a:p>
          <a:p>
            <a:r>
              <a:rPr lang="vi-VN" sz="2000" b="1">
                <a:latin typeface="Courier New" pitchFamily="49" charset="0"/>
                <a:cs typeface="Courier New" pitchFamily="49" charset="0"/>
              </a:rPr>
              <a:t>    if (prime==NULL)</a:t>
            </a:r>
          </a:p>
          <a:p>
            <a:r>
              <a:rPr lang="vi-VN" sz="2000" b="1">
                <a:latin typeface="Courier New" pitchFamily="49" charset="0"/>
                <a:cs typeface="Courier New" pitchFamily="49" charset="0"/>
              </a:rPr>
              <a:t>      {       </a:t>
            </a:r>
          </a:p>
          <a:p>
            <a:r>
              <a:rPr lang="vi-VN" sz="2000" b="1">
                <a:latin typeface="Courier New" pitchFamily="49" charset="0"/>
                <a:cs typeface="Courier New" pitchFamily="49" charset="0"/>
              </a:rPr>
              <a:t>		printf("Khong du bo nho!");       </a:t>
            </a:r>
          </a:p>
          <a:p>
            <a:r>
              <a:rPr lang="vi-VN" sz="2000" b="1">
                <a:latin typeface="Courier New" pitchFamily="49" charset="0"/>
                <a:cs typeface="Courier New" pitchFamily="49" charset="0"/>
              </a:rPr>
              <a:t>		return 0;      </a:t>
            </a:r>
          </a:p>
          <a:p>
            <a:r>
              <a:rPr lang="vi-VN" sz="2000" b="1">
                <a:latin typeface="Courier New" pitchFamily="49" charset="0"/>
                <a:cs typeface="Courier New" pitchFamily="49" charset="0"/>
              </a:rPr>
              <a:t>	}</a:t>
            </a:r>
          </a:p>
        </p:txBody>
      </p:sp>
      <p:sp>
        <p:nvSpPr>
          <p:cNvPr id="9" name="Slide Number Placeholder 8"/>
          <p:cNvSpPr>
            <a:spLocks noGrp="1"/>
          </p:cNvSpPr>
          <p:nvPr>
            <p:ph type="sldNum" sz="quarter" idx="12"/>
          </p:nvPr>
        </p:nvSpPr>
        <p:spPr/>
        <p:txBody>
          <a:bodyPr/>
          <a:lstStyle/>
          <a:p>
            <a:fld id="{5AB95402-1E0D-474E-8D8C-CBE7F053639E}" type="slidenum">
              <a:rPr lang="vi-VN" smtClean="0"/>
              <a:pPr/>
              <a:t>47</a:t>
            </a:fld>
            <a:r>
              <a:rPr lang="vi-VN"/>
              <a:t>/50</a:t>
            </a:r>
          </a:p>
        </p:txBody>
      </p:sp>
    </p:spTree>
    <p:extLst>
      <p:ext uri="{BB962C8B-B14F-4D97-AF65-F5344CB8AC3E}">
        <p14:creationId xmlns:p14="http://schemas.microsoft.com/office/powerpoint/2010/main" val="202347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cấp phát bộ nhớ động (tt)</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1F187579-BFCC-4F31-8D75-A7610B26596B}"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6-Kiểu con trỏ</a:t>
            </a:r>
          </a:p>
        </p:txBody>
      </p:sp>
      <p:sp>
        <p:nvSpPr>
          <p:cNvPr id="7" name="Rectangle 6"/>
          <p:cNvSpPr/>
          <p:nvPr/>
        </p:nvSpPr>
        <p:spPr>
          <a:xfrm>
            <a:off x="755576" y="1196752"/>
            <a:ext cx="7632848" cy="5324535"/>
          </a:xfrm>
          <a:prstGeom prst="rect">
            <a:avLst/>
          </a:prstGeom>
        </p:spPr>
        <p:txBody>
          <a:bodyPr wrap="square">
            <a:spAutoFit/>
          </a:bodyPr>
          <a:lstStyle/>
          <a:p>
            <a:r>
              <a:rPr lang="vi-VN" sz="2000" b="1">
                <a:latin typeface="Courier New" pitchFamily="49" charset="0"/>
                <a:cs typeface="Courier New" pitchFamily="49" charset="0"/>
              </a:rPr>
              <a:t>*prime=2;  //Cac so nguyen to dau tien da biet</a:t>
            </a:r>
          </a:p>
          <a:p>
            <a:r>
              <a:rPr lang="vi-VN" sz="2000" b="1">
                <a:latin typeface="Courier New" pitchFamily="49" charset="0"/>
                <a:cs typeface="Courier New" pitchFamily="49" charset="0"/>
              </a:rPr>
              <a:t>*(prime+1)=3; </a:t>
            </a:r>
          </a:p>
          <a:p>
            <a:r>
              <a:rPr lang="vi-VN" sz="2000" b="1">
                <a:latin typeface="Courier New" pitchFamily="49" charset="0"/>
                <a:cs typeface="Courier New" pitchFamily="49" charset="0"/>
              </a:rPr>
              <a:t>*(prime+2)=5;</a:t>
            </a:r>
          </a:p>
          <a:p>
            <a:r>
              <a:rPr lang="vi-VN" sz="2000" b="1">
                <a:latin typeface="Courier New" pitchFamily="49" charset="0"/>
                <a:cs typeface="Courier New" pitchFamily="49" charset="0"/>
              </a:rPr>
              <a:t>x=5; j=3;</a:t>
            </a:r>
          </a:p>
          <a:p>
            <a:r>
              <a:rPr lang="vi-VN" sz="2000" b="1">
                <a:latin typeface="Courier New" pitchFamily="49" charset="0"/>
                <a:cs typeface="Courier New" pitchFamily="49" charset="0"/>
              </a:rPr>
              <a:t>do</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x+=2; //Gia tri tiep theo de kiem tra</a:t>
            </a:r>
          </a:p>
          <a:p>
            <a:r>
              <a:rPr lang="vi-VN" sz="2000" b="1">
                <a:latin typeface="Courier New" pitchFamily="49" charset="0"/>
                <a:cs typeface="Courier New" pitchFamily="49" charset="0"/>
              </a:rPr>
              <a:t>          if (</a:t>
            </a:r>
            <a:r>
              <a:rPr lang="vi-VN" sz="2000" b="1">
                <a:solidFill>
                  <a:srgbClr val="0000FF"/>
                </a:solidFill>
                <a:latin typeface="Courier New" pitchFamily="49" charset="0"/>
                <a:cs typeface="Courier New" pitchFamily="49" charset="0"/>
              </a:rPr>
              <a:t>ngto</a:t>
            </a:r>
            <a:r>
              <a:rPr lang="vi-VN" sz="2000" b="1">
                <a:latin typeface="Courier New" pitchFamily="49" charset="0"/>
                <a:cs typeface="Courier New" pitchFamily="49" charset="0"/>
              </a:rPr>
              <a:t>(x))</a:t>
            </a:r>
          </a:p>
          <a:p>
            <a:r>
              <a:rPr lang="vi-VN" sz="2000" b="1">
                <a:latin typeface="Courier New" pitchFamily="49" charset="0"/>
                <a:cs typeface="Courier New" pitchFamily="49" charset="0"/>
              </a:rPr>
              <a:t>             {        </a:t>
            </a:r>
            <a:r>
              <a:rPr lang="vi-VN" sz="2000" b="1">
                <a:solidFill>
                  <a:srgbClr val="FF0000"/>
                </a:solidFill>
                <a:latin typeface="Courier New" pitchFamily="49" charset="0"/>
                <a:cs typeface="Courier New" pitchFamily="49" charset="0"/>
              </a:rPr>
              <a:t>*(prime+j)</a:t>
            </a:r>
            <a:r>
              <a:rPr lang="vi-VN" sz="2000" b="1">
                <a:latin typeface="Courier New" pitchFamily="49" charset="0"/>
                <a:cs typeface="Courier New" pitchFamily="49" charset="0"/>
              </a:rPr>
              <a:t>=x;</a:t>
            </a:r>
          </a:p>
          <a:p>
            <a:r>
              <a:rPr lang="vi-VN" sz="2000" b="1">
                <a:latin typeface="Courier New" pitchFamily="49" charset="0"/>
                <a:cs typeface="Courier New" pitchFamily="49" charset="0"/>
              </a:rPr>
              <a:t>                      j++;</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while (j&lt;n);</a:t>
            </a:r>
          </a:p>
          <a:p>
            <a:r>
              <a:rPr lang="vi-VN" sz="2000" b="1">
                <a:latin typeface="Courier New" pitchFamily="49" charset="0"/>
                <a:cs typeface="Courier New" pitchFamily="49" charset="0"/>
              </a:rPr>
              <a:t>printf("%d so nguyen to dau tien la: \n",n);</a:t>
            </a:r>
          </a:p>
          <a:p>
            <a:r>
              <a:rPr lang="vi-VN" sz="2000" b="1">
                <a:latin typeface="Courier New" pitchFamily="49" charset="0"/>
                <a:cs typeface="Courier New" pitchFamily="49" charset="0"/>
              </a:rPr>
              <a:t>for (i=0;i&lt;n;i++) printf("%ld ",</a:t>
            </a:r>
            <a:r>
              <a:rPr lang="vi-VN" sz="2000" b="1">
                <a:solidFill>
                  <a:srgbClr val="FF0000"/>
                </a:solidFill>
                <a:latin typeface="Courier New" pitchFamily="49" charset="0"/>
                <a:cs typeface="Courier New" pitchFamily="49" charset="0"/>
              </a:rPr>
              <a:t>*(prime+i)</a:t>
            </a:r>
            <a:r>
              <a:rPr lang="vi-VN" sz="2000" b="1">
                <a:latin typeface="Courier New" pitchFamily="49" charset="0"/>
                <a:cs typeface="Courier New" pitchFamily="49" charset="0"/>
              </a:rPr>
              <a:t>);</a:t>
            </a:r>
          </a:p>
          <a:p>
            <a:r>
              <a:rPr lang="vi-VN" sz="2000" b="1">
                <a:latin typeface="Courier New" pitchFamily="49" charset="0"/>
                <a:cs typeface="Courier New" pitchFamily="49" charset="0"/>
              </a:rPr>
              <a:t>getch();</a:t>
            </a:r>
          </a:p>
          <a:p>
            <a:r>
              <a:rPr lang="vi-VN" sz="2000" b="1">
                <a:latin typeface="Courier New" pitchFamily="49" charset="0"/>
                <a:cs typeface="Courier New" pitchFamily="49" charset="0"/>
              </a:rPr>
              <a:t>}</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48</a:t>
            </a:fld>
            <a:r>
              <a:rPr lang="vi-VN"/>
              <a:t>/50</a:t>
            </a:r>
          </a:p>
        </p:txBody>
      </p:sp>
    </p:spTree>
    <p:extLst>
      <p:ext uri="{BB962C8B-B14F-4D97-AF65-F5344CB8AC3E}">
        <p14:creationId xmlns:p14="http://schemas.microsoft.com/office/powerpoint/2010/main" val="3054042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t>Bài tập thực hành</a:t>
            </a:r>
          </a:p>
        </p:txBody>
      </p:sp>
      <p:sp>
        <p:nvSpPr>
          <p:cNvPr id="3" name="Content Placeholder 2"/>
          <p:cNvSpPr>
            <a:spLocks noGrp="1"/>
          </p:cNvSpPr>
          <p:nvPr>
            <p:ph idx="1"/>
          </p:nvPr>
        </p:nvSpPr>
        <p:spPr/>
        <p:txBody>
          <a:bodyPr/>
          <a:lstStyle/>
          <a:p>
            <a:pPr>
              <a:defRPr/>
            </a:pPr>
            <a:r>
              <a:rPr lang="en-US" b="1">
                <a:solidFill>
                  <a:schemeClr val="tx1">
                    <a:lumMod val="95000"/>
                    <a:lumOff val="5000"/>
                  </a:schemeClr>
                </a:solidFill>
              </a:rPr>
              <a:t>Bài 1</a:t>
            </a:r>
            <a:r>
              <a:rPr lang="en-US">
                <a:solidFill>
                  <a:schemeClr val="tx1">
                    <a:lumMod val="95000"/>
                    <a:lumOff val="5000"/>
                  </a:schemeClr>
                </a:solidFill>
              </a:rPr>
              <a:t>. </a:t>
            </a:r>
            <a:r>
              <a:rPr lang="en-US"/>
              <a:t>Viết ch</a:t>
            </a:r>
            <a:r>
              <a:rPr lang="vi-VN"/>
              <a:t>ươ</a:t>
            </a:r>
            <a:r>
              <a:rPr lang="en-US"/>
              <a:t>ng trình khai báo mảng hai chiều có 12x12 phần tử kiểu char. Gán ký tự ‘X’ cho mọi phần tử của mảng này. Sử dụng con trỏ </a:t>
            </a:r>
            <a:r>
              <a:rPr lang="vi-VN"/>
              <a:t>đế</a:t>
            </a:r>
            <a:r>
              <a:rPr lang="en-US"/>
              <a:t>n mảng </a:t>
            </a:r>
            <a:r>
              <a:rPr lang="vi-VN"/>
              <a:t>để</a:t>
            </a:r>
            <a:r>
              <a:rPr lang="en-US"/>
              <a:t> in giá trị các phần tử mảng lên màn hình ở dạng l</a:t>
            </a:r>
            <a:r>
              <a:rPr lang="vi-VN"/>
              <a:t>ướ</a:t>
            </a:r>
            <a:r>
              <a:rPr lang="en-US"/>
              <a:t>i.</a:t>
            </a:r>
          </a:p>
          <a:p>
            <a:pPr marL="514350" indent="-514350">
              <a:defRPr/>
            </a:pPr>
            <a:r>
              <a:rPr lang="en-US" b="1">
                <a:solidFill>
                  <a:schemeClr val="tx1">
                    <a:lumMod val="95000"/>
                    <a:lumOff val="5000"/>
                  </a:schemeClr>
                </a:solidFill>
              </a:rPr>
              <a:t>Bài 2</a:t>
            </a:r>
            <a:r>
              <a:rPr lang="en-US">
                <a:solidFill>
                  <a:schemeClr val="tx1">
                    <a:lumMod val="95000"/>
                    <a:lumOff val="5000"/>
                  </a:schemeClr>
                </a:solidFill>
              </a:rPr>
              <a:t>. </a:t>
            </a:r>
            <a:r>
              <a:rPr lang="en-US"/>
              <a:t>In giá trị của con trỏ và giá trị của biến mà nó trỏ tới.</a:t>
            </a:r>
          </a:p>
          <a:p>
            <a:pPr marL="514350" indent="-514350">
              <a:defRPr/>
            </a:pPr>
            <a:r>
              <a:rPr lang="en-US" b="1">
                <a:solidFill>
                  <a:schemeClr val="tx1">
                    <a:lumMod val="95000"/>
                    <a:lumOff val="5000"/>
                  </a:schemeClr>
                </a:solidFill>
              </a:rPr>
              <a:t>Bài 3</a:t>
            </a:r>
            <a:r>
              <a:rPr lang="en-US">
                <a:solidFill>
                  <a:schemeClr val="tx1">
                    <a:lumMod val="95000"/>
                    <a:lumOff val="5000"/>
                  </a:schemeClr>
                </a:solidFill>
              </a:rPr>
              <a:t>. </a:t>
            </a:r>
            <a:r>
              <a:rPr lang="en-US"/>
              <a:t>Sử dụng con trỏ </a:t>
            </a:r>
            <a:r>
              <a:rPr lang="vi-VN"/>
              <a:t>để</a:t>
            </a:r>
            <a:r>
              <a:rPr lang="en-US"/>
              <a:t> làm lại các bài tập về mảng một chiều.</a:t>
            </a:r>
          </a:p>
          <a:p>
            <a:pPr marL="952500" lvl="1" indent="-514350">
              <a:defRPr/>
            </a:pPr>
            <a:r>
              <a:rPr lang="en-US"/>
              <a:t>Nhập, xuất mảng</a:t>
            </a:r>
          </a:p>
          <a:p>
            <a:pPr marL="952500" lvl="1" indent="-514350">
              <a:defRPr/>
            </a:pPr>
            <a:r>
              <a:rPr lang="en-US"/>
              <a:t>Tính tổng các phần tử âm, nguyên tố, chính phương…</a:t>
            </a:r>
          </a:p>
          <a:p>
            <a:pPr>
              <a:defRPr/>
            </a:pPr>
            <a:endParaRPr lang="en-US"/>
          </a:p>
        </p:txBody>
      </p:sp>
      <p:sp>
        <p:nvSpPr>
          <p:cNvPr id="5" name="Date Placeholder 4"/>
          <p:cNvSpPr>
            <a:spLocks noGrp="1"/>
          </p:cNvSpPr>
          <p:nvPr>
            <p:ph type="dt" sz="half" idx="10"/>
          </p:nvPr>
        </p:nvSpPr>
        <p:spPr/>
        <p:txBody>
          <a:bodyPr/>
          <a:lstStyle/>
          <a:p>
            <a:fld id="{9E5E0636-828A-4EA0-9A17-5A98BDAF599C}"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49</a:t>
            </a:fld>
            <a:r>
              <a:rPr lang="vi-VN"/>
              <a:t>/50</a:t>
            </a:r>
          </a:p>
        </p:txBody>
      </p:sp>
    </p:spTree>
    <p:extLst>
      <p:ext uri="{BB962C8B-B14F-4D97-AF65-F5344CB8AC3E}">
        <p14:creationId xmlns:p14="http://schemas.microsoft.com/office/powerpoint/2010/main" val="680490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a:t>Bài tập thực hành (tt)</a:t>
            </a:r>
          </a:p>
        </p:txBody>
      </p:sp>
      <p:sp>
        <p:nvSpPr>
          <p:cNvPr id="3" name="Content Placeholder 2"/>
          <p:cNvSpPr>
            <a:spLocks noGrp="1"/>
          </p:cNvSpPr>
          <p:nvPr>
            <p:ph idx="1"/>
          </p:nvPr>
        </p:nvSpPr>
        <p:spPr/>
        <p:txBody>
          <a:bodyPr/>
          <a:lstStyle/>
          <a:p>
            <a:pPr eaLnBrk="1" hangingPunct="1">
              <a:defRPr/>
            </a:pPr>
            <a:r>
              <a:rPr lang="en-US" b="1">
                <a:solidFill>
                  <a:schemeClr val="tx1">
                    <a:lumMod val="95000"/>
                    <a:lumOff val="5000"/>
                  </a:schemeClr>
                </a:solidFill>
              </a:rPr>
              <a:t>Bài</a:t>
            </a:r>
            <a:r>
              <a:rPr lang="vi-VN" b="1">
                <a:solidFill>
                  <a:schemeClr val="tx1">
                    <a:lumMod val="95000"/>
                    <a:lumOff val="5000"/>
                  </a:schemeClr>
                </a:solidFill>
              </a:rPr>
              <a:t> 4. </a:t>
            </a:r>
            <a:r>
              <a:rPr lang="vi-VN"/>
              <a:t>Viết chương trình nhập số nguyên dương n gồm k chữ số (0 &lt; k ≤ 9) , sắp xếp các chữ</a:t>
            </a:r>
            <a:r>
              <a:rPr lang="en-US"/>
              <a:t> </a:t>
            </a:r>
            <a:r>
              <a:rPr lang="vi-VN"/>
              <a:t>số của n theo thứ tự tăng dần.</a:t>
            </a:r>
          </a:p>
          <a:p>
            <a:pPr eaLnBrk="1" hangingPunct="1">
              <a:spcBef>
                <a:spcPts val="0"/>
              </a:spcBef>
              <a:buFont typeface="Wingdings" pitchFamily="2" charset="2"/>
              <a:buNone/>
              <a:defRPr/>
            </a:pPr>
            <a:r>
              <a:rPr lang="pt-BR"/>
              <a:t>	Ví dụ:</a:t>
            </a:r>
          </a:p>
          <a:p>
            <a:pPr lvl="1" eaLnBrk="1" hangingPunct="1">
              <a:defRPr/>
            </a:pPr>
            <a:r>
              <a:rPr lang="pt-BR"/>
              <a:t>Nhập n = 1536</a:t>
            </a:r>
          </a:p>
          <a:p>
            <a:pPr lvl="1" eaLnBrk="1" hangingPunct="1">
              <a:defRPr/>
            </a:pPr>
            <a:r>
              <a:rPr lang="en-US"/>
              <a:t>Kết quả sau khi sắp xếp: 1356.</a:t>
            </a:r>
          </a:p>
          <a:p>
            <a:pPr marL="514350" indent="-514350">
              <a:defRPr/>
            </a:pPr>
            <a:r>
              <a:rPr lang="en-US" b="1">
                <a:solidFill>
                  <a:schemeClr val="tx1">
                    <a:lumMod val="95000"/>
                    <a:lumOff val="5000"/>
                  </a:schemeClr>
                </a:solidFill>
              </a:rPr>
              <a:t>Bài 5. </a:t>
            </a:r>
            <a:r>
              <a:rPr lang="en-US"/>
              <a:t>Sử dụng con trỏ </a:t>
            </a:r>
            <a:r>
              <a:rPr lang="vi-VN"/>
              <a:t>để</a:t>
            </a:r>
            <a:r>
              <a:rPr lang="en-US"/>
              <a:t> làm lại các bài tập về mảng hai chiều.</a:t>
            </a:r>
          </a:p>
          <a:p>
            <a:pPr marL="952500" lvl="1" indent="-514350">
              <a:defRPr/>
            </a:pPr>
            <a:r>
              <a:rPr lang="en-US"/>
              <a:t>Nhập, xuất mảng</a:t>
            </a:r>
          </a:p>
          <a:p>
            <a:pPr marL="952500" lvl="1" indent="-514350">
              <a:defRPr/>
            </a:pPr>
            <a:r>
              <a:rPr lang="en-US"/>
              <a:t>Tính tổng các phần tử trên đường chéo chính…</a:t>
            </a:r>
          </a:p>
          <a:p>
            <a:pPr marL="952500" lvl="1" indent="-514350">
              <a:defRPr/>
            </a:pPr>
            <a:r>
              <a:rPr lang="en-US"/>
              <a:t>Đưa ra các số nguyên tố, chính phương, số đẹp trong mảng</a:t>
            </a:r>
          </a:p>
          <a:p>
            <a:pPr>
              <a:defRPr/>
            </a:pPr>
            <a:endParaRPr lang="en-US"/>
          </a:p>
        </p:txBody>
      </p:sp>
      <p:sp>
        <p:nvSpPr>
          <p:cNvPr id="5" name="Date Placeholder 4"/>
          <p:cNvSpPr>
            <a:spLocks noGrp="1"/>
          </p:cNvSpPr>
          <p:nvPr>
            <p:ph type="dt" sz="half" idx="10"/>
          </p:nvPr>
        </p:nvSpPr>
        <p:spPr/>
        <p:txBody>
          <a:bodyPr/>
          <a:lstStyle/>
          <a:p>
            <a:fld id="{4A4C3209-CC63-40F4-809E-C567FD15CBCB}"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6-Kiểu con trỏ</a:t>
            </a:r>
          </a:p>
        </p:txBody>
      </p:sp>
      <p:sp>
        <p:nvSpPr>
          <p:cNvPr id="2" name="Slide Number Placeholder 1"/>
          <p:cNvSpPr>
            <a:spLocks noGrp="1"/>
          </p:cNvSpPr>
          <p:nvPr>
            <p:ph type="sldNum" sz="quarter" idx="12"/>
          </p:nvPr>
        </p:nvSpPr>
        <p:spPr/>
        <p:txBody>
          <a:bodyPr/>
          <a:lstStyle/>
          <a:p>
            <a:fld id="{5AB95402-1E0D-474E-8D8C-CBE7F053639E}" type="slidenum">
              <a:rPr lang="vi-VN" smtClean="0"/>
              <a:pPr/>
              <a:t>50</a:t>
            </a:fld>
            <a:r>
              <a:rPr lang="vi-VN"/>
              <a:t>/50</a:t>
            </a:r>
          </a:p>
        </p:txBody>
      </p:sp>
    </p:spTree>
    <p:extLst>
      <p:ext uri="{BB962C8B-B14F-4D97-AF65-F5344CB8AC3E}">
        <p14:creationId xmlns:p14="http://schemas.microsoft.com/office/powerpoint/2010/main" val="1011651856"/>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1095</TotalTime>
  <Words>5238</Words>
  <Application>Microsoft Office PowerPoint</Application>
  <PresentationFormat>On-screen Show (4:3)</PresentationFormat>
  <Paragraphs>995</Paragraphs>
  <Slides>50</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Courier New</vt:lpstr>
      <vt:lpstr>Tahoma</vt:lpstr>
      <vt:lpstr>Wingdings</vt:lpstr>
      <vt:lpstr>MM_Lec1</vt:lpstr>
      <vt:lpstr>Chương 6 KIỂU CON TRỎ</vt:lpstr>
      <vt:lpstr>Nội dung</vt:lpstr>
      <vt:lpstr>1. Con trỏ và địa chỉ</vt:lpstr>
      <vt:lpstr>Con trỏ và địa chỉ</vt:lpstr>
      <vt:lpstr>2. Khai báo con trỏ</vt:lpstr>
      <vt:lpstr>Khai báo con trỏ (tt)</vt:lpstr>
      <vt:lpstr>Con trỏ NULL</vt:lpstr>
      <vt:lpstr>Khởi tạo kiểu con trỏ</vt:lpstr>
      <vt:lpstr>Sử dụng con trỏ</vt:lpstr>
      <vt:lpstr>Sử dụng con trỏ (tt)</vt:lpstr>
      <vt:lpstr>Các cách truyền đối số</vt:lpstr>
      <vt:lpstr>Các cách truyền đối số</vt:lpstr>
      <vt:lpstr>Các cách truyền đối số</vt:lpstr>
      <vt:lpstr>Một số lưu ý</vt:lpstr>
      <vt:lpstr>3. Con trỏ và mảng một chiều</vt:lpstr>
      <vt:lpstr>Con trỏ và mảng một chiều</vt:lpstr>
      <vt:lpstr>Phép toán số học trên con trỏ</vt:lpstr>
      <vt:lpstr>Phép toán số học trên con trỏ</vt:lpstr>
      <vt:lpstr>Phép toán số học trên con trỏ</vt:lpstr>
      <vt:lpstr>Phép toán số học trên con trỏ</vt:lpstr>
      <vt:lpstr>Con trỏ và mảng một chiều</vt:lpstr>
      <vt:lpstr>Con trỏ và mảng một chiều (tt)</vt:lpstr>
      <vt:lpstr>Con trỏ và mảng một chiều (tt)</vt:lpstr>
      <vt:lpstr>Con trỏ và mảng một chiều (tt)</vt:lpstr>
      <vt:lpstr>4. Con trỏ và mảng 2 chiều</vt:lpstr>
      <vt:lpstr>Con trỏ và mảng 2 chiều (tt)</vt:lpstr>
      <vt:lpstr>Con trỏ và mảng 2 chiều (tt)</vt:lpstr>
      <vt:lpstr>Con trỏ và mảng 2 chiều (tt)</vt:lpstr>
      <vt:lpstr>5. Mảng con trỏ</vt:lpstr>
      <vt:lpstr>Mảng con trỏ (tt)</vt:lpstr>
      <vt:lpstr>Mảng con trỏ (tt)</vt:lpstr>
      <vt:lpstr>Mảng con trỏ (tt)</vt:lpstr>
      <vt:lpstr>6. Con trỏ hàm</vt:lpstr>
      <vt:lpstr>Con trỏ hàm (tt)</vt:lpstr>
      <vt:lpstr>Con trỏ hàm (tt)</vt:lpstr>
      <vt:lpstr>Con trỏ hàm (tt)</vt:lpstr>
      <vt:lpstr>Con trỏ hàm (tt)</vt:lpstr>
      <vt:lpstr>Con trỏ hàm (tt)</vt:lpstr>
      <vt:lpstr>Con trỏ hàm (tt)</vt:lpstr>
      <vt:lpstr>Con trỏ hàm (tt)</vt:lpstr>
      <vt:lpstr>Con trỏ hàm (tt)</vt:lpstr>
      <vt:lpstr>Con trỏ hàm (tt)</vt:lpstr>
      <vt:lpstr>7. Cấp phát bộ nhớ động</vt:lpstr>
      <vt:lpstr>Cấp phát bộ nhớ động</vt:lpstr>
      <vt:lpstr>Cấp phát bộ nhớ động (tt)</vt:lpstr>
      <vt:lpstr>Cấp phát bộ nhớ động (tt)</vt:lpstr>
      <vt:lpstr>Ví dụ cấp phát bộ nhớ động</vt:lpstr>
      <vt:lpstr>Ví dụ cấp phát bộ nhớ động (tt)</vt:lpstr>
      <vt:lpstr>Bài tập thực hành</vt:lpstr>
      <vt:lpstr>Bài tập thực hành (tt)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Le Cam Tu</cp:lastModifiedBy>
  <cp:revision>62</cp:revision>
  <dcterms:created xsi:type="dcterms:W3CDTF">2011-07-17T01:46:34Z</dcterms:created>
  <dcterms:modified xsi:type="dcterms:W3CDTF">2024-01-14T12:59:19Z</dcterms:modified>
</cp:coreProperties>
</file>