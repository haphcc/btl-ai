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906000"/>
  <p:notesSz cx="9601200" cy="7313600"/>
  <p:embeddedFontLst>
    <p:embeddedFont>
      <p:font typeface="Teko"/>
      <p:regular r:id="rId23"/>
      <p:bold r:id="rId24"/>
    </p:embeddedFont>
    <p:embeddedFont>
      <p:font typeface="Helvetica Neu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  <p:ext uri="{2D200454-40CA-4A62-9FC3-DE9A4176ACB9}">
      <p15:notesGuideLst>
        <p15:guide id="1" orient="horz" pos="2303">
          <p15:clr>
            <a:srgbClr val="000000"/>
          </p15:clr>
        </p15:guide>
        <p15:guide id="2" pos="3024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hEr7XYQ2mPMgUxxCnaBSXyic7V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303" orient="horz"/>
        <p:guide pos="302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Teko-bold.fntdata"/><Relationship Id="rId23" Type="http://schemas.openxmlformats.org/officeDocument/2006/relationships/font" Target="fonts/Tek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438775" y="0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945312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438775" y="6945312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/>
        </p:nvSpPr>
        <p:spPr>
          <a:xfrm>
            <a:off x="5438775" y="0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hung</a:t>
            </a:r>
            <a:endParaRPr/>
          </a:p>
        </p:txBody>
      </p:sp>
      <p:sp>
        <p:nvSpPr>
          <p:cNvPr id="113" name="Google Shape;113;p6:notes"/>
          <p:cNvSpPr txBox="1"/>
          <p:nvPr/>
        </p:nvSpPr>
        <p:spPr>
          <a:xfrm>
            <a:off x="0" y="6945312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4" name="Google Shape;114;p6:notes"/>
          <p:cNvSpPr txBox="1"/>
          <p:nvPr/>
        </p:nvSpPr>
        <p:spPr>
          <a:xfrm>
            <a:off x="5438775" y="6945312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>
            <a:off x="776287" y="765175"/>
            <a:ext cx="8785225" cy="561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⮲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 rot="5400000">
            <a:off x="5476875" y="1952625"/>
            <a:ext cx="6381750" cy="24765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" type="body"/>
          </p:nvPr>
        </p:nvSpPr>
        <p:spPr>
          <a:xfrm rot="5400000">
            <a:off x="447675" y="-447675"/>
            <a:ext cx="6381750" cy="7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⮲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 rot="5400000">
            <a:off x="2360612" y="-819150"/>
            <a:ext cx="5616575" cy="8785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⮲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/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" type="body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⮚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⮲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8" name="Google Shape;38;p25"/>
          <p:cNvSpPr txBox="1"/>
          <p:nvPr>
            <p:ph idx="2" type="body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8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⮲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3" type="body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4" type="body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⮲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" type="body"/>
          </p:nvPr>
        </p:nvSpPr>
        <p:spPr>
          <a:xfrm>
            <a:off x="776288" y="765175"/>
            <a:ext cx="4316412" cy="561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⮚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⮲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1" name="Google Shape;51;p29"/>
          <p:cNvSpPr txBox="1"/>
          <p:nvPr>
            <p:ph idx="2" type="body"/>
          </p:nvPr>
        </p:nvSpPr>
        <p:spPr>
          <a:xfrm>
            <a:off x="5245100" y="765175"/>
            <a:ext cx="4316413" cy="561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⮚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⮲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1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776287" y="765175"/>
            <a:ext cx="8785225" cy="561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logo" id="12" name="Google Shape;12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704850" cy="7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0"/>
          <p:cNvSpPr txBox="1"/>
          <p:nvPr/>
        </p:nvSpPr>
        <p:spPr>
          <a:xfrm>
            <a:off x="0" y="908050"/>
            <a:ext cx="4159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0"/>
          <p:cNvSpPr txBox="1"/>
          <p:nvPr/>
        </p:nvSpPr>
        <p:spPr>
          <a:xfrm>
            <a:off x="0" y="762000"/>
            <a:ext cx="704850" cy="6096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0"/>
          <p:cNvSpPr txBox="1"/>
          <p:nvPr/>
        </p:nvSpPr>
        <p:spPr>
          <a:xfrm rot="-5400000">
            <a:off x="-565943" y="5426868"/>
            <a:ext cx="2190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Cấu  trúc dữ liệu 1</a:t>
            </a:r>
            <a:endParaRPr/>
          </a:p>
        </p:txBody>
      </p:sp>
      <p:sp>
        <p:nvSpPr>
          <p:cNvPr id="16" name="Google Shape;16;p20"/>
          <p:cNvSpPr txBox="1"/>
          <p:nvPr/>
        </p:nvSpPr>
        <p:spPr>
          <a:xfrm>
            <a:off x="0" y="762000"/>
            <a:ext cx="704850" cy="6096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0"/>
          <p:cNvSpPr txBox="1"/>
          <p:nvPr/>
        </p:nvSpPr>
        <p:spPr>
          <a:xfrm rot="-5400000">
            <a:off x="-1199356" y="4937918"/>
            <a:ext cx="33035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CẤU TRÚC DỮ LIỆU VÀ GIẢI THUẬT </a:t>
            </a:r>
            <a:endParaRPr/>
          </a:p>
        </p:txBody>
      </p:sp>
      <p:pic>
        <p:nvPicPr>
          <p:cNvPr id="18" name="Google Shape;1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048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0"/>
          <p:cNvSpPr txBox="1"/>
          <p:nvPr/>
        </p:nvSpPr>
        <p:spPr>
          <a:xfrm>
            <a:off x="704850" y="3175"/>
            <a:ext cx="9217025" cy="762000"/>
          </a:xfrm>
          <a:prstGeom prst="rect">
            <a:avLst/>
          </a:prstGeom>
          <a:gradFill>
            <a:gsLst>
              <a:gs pos="0">
                <a:srgbClr val="002F00"/>
              </a:gs>
              <a:gs pos="100000">
                <a:srgbClr val="0066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0"/>
          <p:cNvSpPr txBox="1"/>
          <p:nvPr/>
        </p:nvSpPr>
        <p:spPr>
          <a:xfrm>
            <a:off x="9159875" y="6430962"/>
            <a:ext cx="7620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" name="Google Shape;21;p20"/>
          <p:cNvSpPr txBox="1"/>
          <p:nvPr/>
        </p:nvSpPr>
        <p:spPr>
          <a:xfrm>
            <a:off x="920750" y="79375"/>
            <a:ext cx="8785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title"/>
          </p:nvPr>
        </p:nvSpPr>
        <p:spPr>
          <a:xfrm>
            <a:off x="704850" y="0"/>
            <a:ext cx="9201300" cy="765300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CHƯƠNG 3</a:t>
            </a:r>
            <a:endParaRPr/>
          </a:p>
        </p:txBody>
      </p:sp>
      <p:grpSp>
        <p:nvGrpSpPr>
          <p:cNvPr id="63" name="Google Shape;63;p1"/>
          <p:cNvGrpSpPr/>
          <p:nvPr/>
        </p:nvGrpSpPr>
        <p:grpSpPr>
          <a:xfrm>
            <a:off x="1065212" y="2708275"/>
            <a:ext cx="7667581" cy="1425697"/>
            <a:chOff x="960" y="2256"/>
            <a:chExt cx="4260" cy="600"/>
          </a:xfrm>
        </p:grpSpPr>
        <p:sp>
          <p:nvSpPr>
            <p:cNvPr id="64" name="Google Shape;64;p1"/>
            <p:cNvSpPr/>
            <p:nvPr/>
          </p:nvSpPr>
          <p:spPr>
            <a:xfrm>
              <a:off x="1320" y="2364"/>
              <a:ext cx="3900" cy="300"/>
            </a:xfrm>
            <a:prstGeom prst="roundRect">
              <a:avLst>
                <a:gd fmla="val 16667" name="adj"/>
              </a:avLst>
            </a:prstGeom>
            <a:solidFill>
              <a:schemeClr val="hlink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388334" dist="99190">
                <a:srgbClr val="333333">
                  <a:alpha val="498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960" y="2256"/>
              <a:ext cx="600" cy="600"/>
            </a:xfrm>
            <a:prstGeom prst="diamond">
              <a:avLst/>
            </a:prstGeom>
            <a:solidFill>
              <a:schemeClr val="hlink"/>
            </a:solidFill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212194" dist="63500">
                <a:srgbClr val="333333">
                  <a:alpha val="498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 txBox="1"/>
            <p:nvPr/>
          </p:nvSpPr>
          <p:spPr>
            <a:xfrm>
              <a:off x="1560" y="2457"/>
              <a:ext cx="3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3F3"/>
                </a:buClr>
                <a:buSzPts val="3200"/>
                <a:buFont typeface="Arial"/>
                <a:buNone/>
              </a:pPr>
              <a:r>
                <a:rPr b="1" i="0" lang="en-US" sz="3200" u="none">
                  <a:solidFill>
                    <a:srgbClr val="FFF3F3"/>
                  </a:solidFill>
                  <a:latin typeface="Arial"/>
                  <a:ea typeface="Arial"/>
                  <a:cs typeface="Arial"/>
                  <a:sym typeface="Arial"/>
                </a:rPr>
                <a:t>DANH SÁCH LIÊN KẾT</a:t>
              </a:r>
              <a:endParaRPr/>
            </a:p>
          </p:txBody>
        </p:sp>
        <p:sp>
          <p:nvSpPr>
            <p:cNvPr id="67" name="Google Shape;67;p1"/>
            <p:cNvSpPr txBox="1"/>
            <p:nvPr/>
          </p:nvSpPr>
          <p:spPr>
            <a:xfrm>
              <a:off x="1222" y="2400"/>
              <a:ext cx="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3.1. Đặt </a:t>
            </a:r>
            <a:r>
              <a:rPr b="1" i="0" lang="en-US" sz="4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4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ấn đề</a:t>
            </a:r>
            <a:endParaRPr/>
          </a:p>
        </p:txBody>
      </p:sp>
      <p:sp>
        <p:nvSpPr>
          <p:cNvPr id="73" name="Google Shape;73;p3"/>
          <p:cNvSpPr txBox="1"/>
          <p:nvPr>
            <p:ph idx="1" type="body"/>
          </p:nvPr>
        </p:nvSpPr>
        <p:spPr>
          <a:xfrm>
            <a:off x="776287" y="765175"/>
            <a:ext cx="8785225" cy="561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Mảng 1 chiều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Kích thước cố định (fixed size)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Chèn 1 phần tử vào mảng rất khó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phần tử tuần tự theo chỉ số 0 ⇒ n-1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⮲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Truy cập ngẫu nhiên (random access)</a:t>
            </a:r>
            <a:endParaRPr/>
          </a:p>
          <a:p>
            <a:pPr indent="-2682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63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4" name="Google Shape;74;p3"/>
          <p:cNvGrpSpPr/>
          <p:nvPr/>
        </p:nvGrpSpPr>
        <p:grpSpPr>
          <a:xfrm>
            <a:off x="1423987" y="4097337"/>
            <a:ext cx="7273925" cy="2524948"/>
            <a:chOff x="1008" y="2304"/>
            <a:chExt cx="4080" cy="1442"/>
          </a:xfrm>
        </p:grpSpPr>
        <p:sp>
          <p:nvSpPr>
            <p:cNvPr id="75" name="Google Shape;75;p3"/>
            <p:cNvSpPr txBox="1"/>
            <p:nvPr/>
          </p:nvSpPr>
          <p:spPr>
            <a:xfrm>
              <a:off x="1008" y="3206"/>
              <a:ext cx="480" cy="240"/>
            </a:xfrm>
            <a:prstGeom prst="rect">
              <a:avLst/>
            </a:prstGeom>
            <a:gradFill>
              <a:gsLst>
                <a:gs pos="0">
                  <a:srgbClr val="272774"/>
                </a:gs>
                <a:gs pos="50000">
                  <a:srgbClr val="333399">
                    <a:alpha val="77647"/>
                  </a:srgbClr>
                </a:gs>
                <a:gs pos="100000">
                  <a:srgbClr val="27277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"/>
            <p:cNvSpPr txBox="1"/>
            <p:nvPr/>
          </p:nvSpPr>
          <p:spPr>
            <a:xfrm>
              <a:off x="1497" y="3206"/>
              <a:ext cx="480" cy="240"/>
            </a:xfrm>
            <a:prstGeom prst="rect">
              <a:avLst/>
            </a:prstGeom>
            <a:gradFill>
              <a:gsLst>
                <a:gs pos="0">
                  <a:srgbClr val="272774"/>
                </a:gs>
                <a:gs pos="50000">
                  <a:srgbClr val="333399">
                    <a:alpha val="77647"/>
                  </a:srgbClr>
                </a:gs>
                <a:gs pos="100000">
                  <a:srgbClr val="27277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"/>
            <p:cNvSpPr txBox="1"/>
            <p:nvPr/>
          </p:nvSpPr>
          <p:spPr>
            <a:xfrm>
              <a:off x="1986" y="3206"/>
              <a:ext cx="480" cy="240"/>
            </a:xfrm>
            <a:prstGeom prst="rect">
              <a:avLst/>
            </a:prstGeom>
            <a:gradFill>
              <a:gsLst>
                <a:gs pos="0">
                  <a:srgbClr val="272774"/>
                </a:gs>
                <a:gs pos="50000">
                  <a:srgbClr val="333399">
                    <a:alpha val="77647"/>
                  </a:srgbClr>
                </a:gs>
                <a:gs pos="100000">
                  <a:srgbClr val="27277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 txBox="1"/>
            <p:nvPr/>
          </p:nvSpPr>
          <p:spPr>
            <a:xfrm>
              <a:off x="2475" y="3206"/>
              <a:ext cx="482" cy="240"/>
            </a:xfrm>
            <a:prstGeom prst="rect">
              <a:avLst/>
            </a:prstGeom>
            <a:gradFill>
              <a:gsLst>
                <a:gs pos="0">
                  <a:srgbClr val="272774"/>
                </a:gs>
                <a:gs pos="50000">
                  <a:srgbClr val="333399">
                    <a:alpha val="77647"/>
                  </a:srgbClr>
                </a:gs>
                <a:gs pos="100000">
                  <a:srgbClr val="27277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"/>
            <p:cNvSpPr txBox="1"/>
            <p:nvPr/>
          </p:nvSpPr>
          <p:spPr>
            <a:xfrm>
              <a:off x="2967" y="3206"/>
              <a:ext cx="480" cy="240"/>
            </a:xfrm>
            <a:prstGeom prst="rect">
              <a:avLst/>
            </a:prstGeom>
            <a:gradFill>
              <a:gsLst>
                <a:gs pos="0">
                  <a:srgbClr val="272774"/>
                </a:gs>
                <a:gs pos="50000">
                  <a:srgbClr val="333399">
                    <a:alpha val="77647"/>
                  </a:srgbClr>
                </a:gs>
                <a:gs pos="100000">
                  <a:srgbClr val="27277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"/>
            <p:cNvSpPr txBox="1"/>
            <p:nvPr/>
          </p:nvSpPr>
          <p:spPr>
            <a:xfrm>
              <a:off x="4119" y="3206"/>
              <a:ext cx="480" cy="240"/>
            </a:xfrm>
            <a:prstGeom prst="rect">
              <a:avLst/>
            </a:prstGeom>
            <a:gradFill>
              <a:gsLst>
                <a:gs pos="0">
                  <a:srgbClr val="272774"/>
                </a:gs>
                <a:gs pos="50000">
                  <a:srgbClr val="333399">
                    <a:alpha val="77647"/>
                  </a:srgbClr>
                </a:gs>
                <a:gs pos="100000">
                  <a:srgbClr val="27277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"/>
            <p:cNvSpPr txBox="1"/>
            <p:nvPr/>
          </p:nvSpPr>
          <p:spPr>
            <a:xfrm>
              <a:off x="4608" y="3206"/>
              <a:ext cx="480" cy="240"/>
            </a:xfrm>
            <a:prstGeom prst="rect">
              <a:avLst/>
            </a:prstGeom>
            <a:gradFill>
              <a:gsLst>
                <a:gs pos="0">
                  <a:srgbClr val="272774"/>
                </a:gs>
                <a:gs pos="50000">
                  <a:srgbClr val="333399">
                    <a:alpha val="77647"/>
                  </a:srgbClr>
                </a:gs>
                <a:gs pos="100000">
                  <a:srgbClr val="27277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"/>
            <p:cNvSpPr txBox="1"/>
            <p:nvPr/>
          </p:nvSpPr>
          <p:spPr>
            <a:xfrm>
              <a:off x="1152" y="344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0</a:t>
              </a:r>
              <a:endParaRPr/>
            </a:p>
          </p:txBody>
        </p:sp>
        <p:sp>
          <p:nvSpPr>
            <p:cNvPr id="83" name="Google Shape;83;p3"/>
            <p:cNvSpPr txBox="1"/>
            <p:nvPr/>
          </p:nvSpPr>
          <p:spPr>
            <a:xfrm>
              <a:off x="1632" y="344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/>
            </a:p>
          </p:txBody>
        </p:sp>
        <p:sp>
          <p:nvSpPr>
            <p:cNvPr id="84" name="Google Shape;84;p3"/>
            <p:cNvSpPr txBox="1"/>
            <p:nvPr/>
          </p:nvSpPr>
          <p:spPr>
            <a:xfrm>
              <a:off x="2128" y="343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/>
            </a:p>
          </p:txBody>
        </p:sp>
        <p:sp>
          <p:nvSpPr>
            <p:cNvPr id="85" name="Google Shape;85;p3"/>
            <p:cNvSpPr txBox="1"/>
            <p:nvPr/>
          </p:nvSpPr>
          <p:spPr>
            <a:xfrm>
              <a:off x="2628" y="343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/>
            </a:p>
          </p:txBody>
        </p:sp>
        <p:sp>
          <p:nvSpPr>
            <p:cNvPr id="86" name="Google Shape;86;p3"/>
            <p:cNvSpPr txBox="1"/>
            <p:nvPr/>
          </p:nvSpPr>
          <p:spPr>
            <a:xfrm>
              <a:off x="3120" y="343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/>
            </a:p>
          </p:txBody>
        </p:sp>
        <p:cxnSp>
          <p:nvCxnSpPr>
            <p:cNvPr id="87" name="Google Shape;87;p3"/>
            <p:cNvCxnSpPr/>
            <p:nvPr/>
          </p:nvCxnSpPr>
          <p:spPr>
            <a:xfrm>
              <a:off x="3648" y="3312"/>
              <a:ext cx="299" cy="0"/>
            </a:xfrm>
            <a:prstGeom prst="straightConnector1">
              <a:avLst/>
            </a:prstGeom>
            <a:noFill/>
            <a:ln cap="rnd" cmpd="sng" w="762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88" name="Google Shape;88;p3"/>
            <p:cNvSpPr txBox="1"/>
            <p:nvPr/>
          </p:nvSpPr>
          <p:spPr>
            <a:xfrm>
              <a:off x="4212" y="344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n-2</a:t>
              </a:r>
              <a:endParaRPr/>
            </a:p>
          </p:txBody>
        </p:sp>
        <p:sp>
          <p:nvSpPr>
            <p:cNvPr id="89" name="Google Shape;89;p3"/>
            <p:cNvSpPr txBox="1"/>
            <p:nvPr/>
          </p:nvSpPr>
          <p:spPr>
            <a:xfrm>
              <a:off x="4688" y="344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n-1</a:t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 rot="6900000">
              <a:off x="1896" y="2894"/>
              <a:ext cx="336" cy="192"/>
            </a:xfrm>
            <a:custGeom>
              <a:rect b="b" l="l" r="r" t="t"/>
              <a:pathLst>
                <a:path extrusionOk="0" h="21600" w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extrusionOk="0" h="21600" w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extrusionOk="0" h="21600" w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839C9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24484[1]" id="91" name="Google Shape;91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6" y="2400"/>
              <a:ext cx="624" cy="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3"/>
            <p:cNvSpPr/>
            <p:nvPr/>
          </p:nvSpPr>
          <p:spPr>
            <a:xfrm>
              <a:off x="2592" y="2304"/>
              <a:ext cx="816" cy="432"/>
            </a:xfrm>
            <a:prstGeom prst="cloudCallout">
              <a:avLst>
                <a:gd fmla="val -8894" name="adj1"/>
                <a:gd fmla="val 14000" name="adj2"/>
              </a:avLst>
            </a:prstGeom>
            <a:solidFill>
              <a:schemeClr val="hlink">
                <a:alpha val="3254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chèn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Biến Tĩnh</a:t>
            </a:r>
            <a:endParaRPr/>
          </a:p>
        </p:txBody>
      </p:sp>
      <p:sp>
        <p:nvSpPr>
          <p:cNvPr id="98" name="Google Shape;98;p4"/>
          <p:cNvSpPr txBox="1"/>
          <p:nvPr>
            <p:ph idx="1" type="body"/>
          </p:nvPr>
        </p:nvSpPr>
        <p:spPr>
          <a:xfrm>
            <a:off x="776287" y="765175"/>
            <a:ext cx="8785225" cy="561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Được khai báo tường minh, có tên gọi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Tồn tại trong phạm vi khai báo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Được cấp phát trong stack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Kích thước không đổi =&gt; kh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ông tận dụng hiệu quả bộ nhớ</a:t>
            </a:r>
            <a:endParaRPr b="0" i="0" sz="2800" u="none"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sng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Ví dụ</a:t>
            </a: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: int	x,y;</a:t>
            </a:r>
            <a:endParaRPr/>
          </a:p>
          <a:p>
            <a:pPr indent="-336548" lvl="3" marL="1938336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char	c;</a:t>
            </a:r>
            <a:endParaRPr/>
          </a:p>
          <a:p>
            <a:pPr indent="-336548" lvl="3" marL="1938336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float	f[5];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Khi biết chắc nhu cầu sử dụng đối tượng trước khi thực sự xử lý : dùng biến không động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Ví Dụ Hạn Chế Của Biến Tinh</a:t>
            </a:r>
            <a:endParaRPr/>
          </a:p>
        </p:txBody>
      </p:sp>
      <p:sp>
        <p:nvSpPr>
          <p:cNvPr id="104" name="Google Shape;104;p5"/>
          <p:cNvSpPr txBox="1"/>
          <p:nvPr>
            <p:ph idx="1" type="body"/>
          </p:nvPr>
        </p:nvSpPr>
        <p:spPr>
          <a:xfrm>
            <a:off x="776287" y="765175"/>
            <a:ext cx="8785225" cy="561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Tổ chức danh sách l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ớp học </a:t>
            </a:r>
            <a:endParaRPr/>
          </a:p>
          <a:p>
            <a:pPr indent="-463550" lvl="0" marL="4635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Dùng mảng 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ĩnh</a:t>
            </a: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 b="0" i="0" sz="2800" u="none"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48" lvl="3" marL="1938336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typedef	struct</a:t>
            </a:r>
            <a:endParaRPr/>
          </a:p>
          <a:p>
            <a:pPr indent="-336548" lvl="3" marL="1938336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36548" lvl="3" marL="1938336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 char ten[20];</a:t>
            </a:r>
            <a:endParaRPr/>
          </a:p>
          <a:p>
            <a:pPr indent="-336548" lvl="3" marL="1938336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 int maso;</a:t>
            </a:r>
            <a:endParaRPr/>
          </a:p>
          <a:p>
            <a:pPr indent="-336548" lvl="3" marL="1938336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}Hocvien;</a:t>
            </a:r>
            <a:endParaRPr/>
          </a:p>
          <a:p>
            <a:pPr indent="-336548" lvl="3" marL="1938336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Hocvien	danhsach[50];</a:t>
            </a:r>
            <a:endParaRPr/>
          </a:p>
          <a:p>
            <a:pPr indent="-463550" lvl="0" marL="4635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Số lượng học viên &lt;50 =&gt; lãng phí</a:t>
            </a:r>
            <a:endParaRPr/>
          </a:p>
          <a:p>
            <a:pPr indent="-463550" lvl="0" marL="4635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Số lượng học viện &gt; 50 =&gt; thiếu chỗ 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NỘI DUNG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76287" y="765175"/>
            <a:ext cx="8785225" cy="561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3.1. Đặt vấn đề 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3.2. Khái niệm về biến con trỏ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3.3. Danh sách liên kết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3.4. Ứng dụng của DSLK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3.8. Một số CTDL khác dựa trên danh sách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3.9. Giới thiệu Stack, Queue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Biến Động 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776287" y="1228725"/>
            <a:ext cx="8785225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Không được khai báo tường minh, không có tên gọi</a:t>
            </a:r>
            <a:endParaRPr/>
          </a:p>
          <a:p>
            <a:pPr indent="-463550" lvl="0" marL="4635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Xin khi cần, giải phóng khi sử dụng xong</a:t>
            </a:r>
            <a:endParaRPr/>
          </a:p>
          <a:p>
            <a:pPr indent="-463550" lvl="0" marL="4635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Được cấp phát trong heap</a:t>
            </a:r>
            <a:endParaRPr/>
          </a:p>
          <a:p>
            <a:pPr indent="-463550" lvl="0" marL="4635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Linh động về kích thước </a:t>
            </a:r>
            <a:endParaRPr/>
          </a:p>
          <a:p>
            <a:pPr indent="-463550" lvl="0" marL="4635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Vấn đề : biến động không có tên gọi tường minh, làm sao thao tác 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3.2. Khái niệm về biến con trỏ</a:t>
            </a:r>
            <a:endParaRPr/>
          </a:p>
        </p:txBody>
      </p:sp>
      <p:pic>
        <p:nvPicPr>
          <p:cNvPr id="125" name="Google Shape;12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287" y="765175"/>
            <a:ext cx="8785225" cy="561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Kiểu con trỏ</a:t>
            </a:r>
            <a:endParaRPr/>
          </a:p>
        </p:txBody>
      </p:sp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776287" y="765175"/>
            <a:ext cx="8785225" cy="4922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Kiểu con trỏ dùng lưu địa chỉ của một đối tượng dữ liệu khác.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Biến thuộc kiểu con trỏ Tp là biến mà giá trị của nó là địa chỉ </a:t>
            </a:r>
            <a:r>
              <a:rPr lang="en-US">
                <a:solidFill>
                  <a:srgbClr val="080808"/>
                </a:solidFill>
              </a:rPr>
              <a:t>của</a:t>
            </a: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một vùng nhớ ứng với một biến kiểu T, hoặc là  giá trị NULL.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Khai báo trong  C :</a:t>
            </a:r>
            <a:endParaRPr/>
          </a:p>
          <a:p>
            <a:pPr indent="-349249" lvl="2" marL="148748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None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typedef	 int	*intpointer;</a:t>
            </a:r>
            <a:endParaRPr/>
          </a:p>
          <a:p>
            <a:pPr indent="-349249" lvl="2" marL="148748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None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intpointer		p;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Bản thân biến con trỏ là không động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Dùng biến con trỏ để lưu giữ </a:t>
            </a:r>
            <a:r>
              <a:rPr lang="en-US">
                <a:solidFill>
                  <a:srgbClr val="080808"/>
                </a:solidFill>
              </a:rPr>
              <a:t>địa</a:t>
            </a: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chỉ của biến động =&gt; truy xuất biến động thông qua biến con trỏ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Các thao tác trên kiểu con trỏ</a:t>
            </a:r>
            <a:endParaRPr/>
          </a:p>
        </p:txBody>
      </p:sp>
      <p:sp>
        <p:nvSpPr>
          <p:cNvPr id="137" name="Google Shape;137;p9"/>
          <p:cNvSpPr txBox="1"/>
          <p:nvPr>
            <p:ph idx="1" type="body"/>
          </p:nvPr>
        </p:nvSpPr>
        <p:spPr>
          <a:xfrm>
            <a:off x="776287" y="765175"/>
            <a:ext cx="8785225" cy="561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Tạo ra một biến động và cho con trỏ ‘p’ chỉ đến nó: 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void* malloc(size);	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void* calloc(n,size); 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new	// hàm cấp phát bộ nhớ 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Hủy một biến đ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ộng</a:t>
            </a: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do p chỉ đến :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Hàm free(p) huỷ vùng nhớ cấp phát bởi hàm malloc hoặc calloc do p trỏ tới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Hàm delete p huỷ vùng nhớ cấp phát bởi hàm new do p trỏ tới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/>
        </p:nvSpPr>
        <p:spPr>
          <a:xfrm>
            <a:off x="7018337" y="4365625"/>
            <a:ext cx="933450" cy="469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rgbClr val="080808"/>
                </a:solidFill>
                <a:latin typeface="Comic Sans MS"/>
                <a:ea typeface="Comic Sans MS"/>
                <a:cs typeface="Comic Sans MS"/>
                <a:sym typeface="Comic Sans MS"/>
              </a:rPr>
              <a:t>0xFF</a:t>
            </a:r>
            <a:endParaRPr/>
          </a:p>
        </p:txBody>
      </p:sp>
      <p:sp>
        <p:nvSpPr>
          <p:cNvPr id="143" name="Google Shape;143;p10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Sử dụng biến tinh, con trỏ và biến động</a:t>
            </a:r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4730750" y="1808162"/>
            <a:ext cx="1219200" cy="4953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/>
          </a:p>
        </p:txBody>
      </p:sp>
      <p:sp>
        <p:nvSpPr>
          <p:cNvPr id="145" name="Google Shape;145;p10"/>
          <p:cNvSpPr txBox="1"/>
          <p:nvPr/>
        </p:nvSpPr>
        <p:spPr>
          <a:xfrm>
            <a:off x="4408487" y="1279525"/>
            <a:ext cx="34861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Biến không động  x</a:t>
            </a:r>
            <a:endParaRPr/>
          </a:p>
        </p:txBody>
      </p:sp>
      <p:sp>
        <p:nvSpPr>
          <p:cNvPr id="146" name="Google Shape;146;p10"/>
          <p:cNvSpPr txBox="1"/>
          <p:nvPr/>
        </p:nvSpPr>
        <p:spPr>
          <a:xfrm>
            <a:off x="996950" y="1350962"/>
            <a:ext cx="18288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urier New"/>
              <a:buNone/>
            </a:pPr>
            <a:r>
              <a:rPr b="1" i="0" lang="en-US" sz="2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r>
              <a:rPr b="1" i="0" lang="en-US" sz="2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b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5 ;</a:t>
            </a:r>
            <a:endParaRPr/>
          </a:p>
        </p:txBody>
      </p:sp>
      <p:sp>
        <p:nvSpPr>
          <p:cNvPr id="147" name="Google Shape;147;p10"/>
          <p:cNvSpPr txBox="1"/>
          <p:nvPr/>
        </p:nvSpPr>
        <p:spPr>
          <a:xfrm>
            <a:off x="4762500" y="3179762"/>
            <a:ext cx="1219200" cy="495300"/>
          </a:xfrm>
          <a:prstGeom prst="rect">
            <a:avLst/>
          </a:prstGeom>
          <a:solidFill>
            <a:srgbClr val="99FF66"/>
          </a:solidFill>
          <a:ln cap="flat" cmpd="sng" w="381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3122612" y="2640012"/>
            <a:ext cx="2662237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Biến con trỏ p</a:t>
            </a:r>
            <a:r>
              <a:rPr b="1" i="0" lang="en-US" sz="2800" u="none">
                <a:solidFill>
                  <a:srgbClr val="080808"/>
                </a:solidFill>
                <a:latin typeface="Teko"/>
                <a:ea typeface="Teko"/>
                <a:cs typeface="Teko"/>
                <a:sym typeface="Teko"/>
              </a:rPr>
              <a:t> </a:t>
            </a:r>
            <a:endParaRPr/>
          </a:p>
        </p:txBody>
      </p:sp>
      <p:sp>
        <p:nvSpPr>
          <p:cNvPr id="149" name="Google Shape;149;p10"/>
          <p:cNvSpPr txBox="1"/>
          <p:nvPr/>
        </p:nvSpPr>
        <p:spPr>
          <a:xfrm>
            <a:off x="920750" y="2722562"/>
            <a:ext cx="19812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urier New"/>
              <a:buNone/>
            </a:pPr>
            <a:r>
              <a:rPr b="1" i="0" lang="en-US" sz="2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2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b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grpSp>
        <p:nvGrpSpPr>
          <p:cNvPr id="150" name="Google Shape;150;p10"/>
          <p:cNvGrpSpPr/>
          <p:nvPr/>
        </p:nvGrpSpPr>
        <p:grpSpPr>
          <a:xfrm>
            <a:off x="6891337" y="4724400"/>
            <a:ext cx="1497012" cy="971550"/>
            <a:chOff x="4385" y="3504"/>
            <a:chExt cx="943" cy="612"/>
          </a:xfrm>
        </p:grpSpPr>
        <p:sp>
          <p:nvSpPr>
            <p:cNvPr id="151" name="Google Shape;151;p10"/>
            <p:cNvSpPr txBox="1"/>
            <p:nvPr/>
          </p:nvSpPr>
          <p:spPr>
            <a:xfrm>
              <a:off x="4560" y="3504"/>
              <a:ext cx="768" cy="312"/>
            </a:xfrm>
            <a:prstGeom prst="rect">
              <a:avLst/>
            </a:prstGeom>
            <a:solidFill>
              <a:srgbClr val="FF3399"/>
            </a:solidFill>
            <a:ln cap="flat" cmpd="sng" w="38100">
              <a:solidFill>
                <a:schemeClr val="hlink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0"/>
            <p:cNvSpPr txBox="1"/>
            <p:nvPr/>
          </p:nvSpPr>
          <p:spPr>
            <a:xfrm>
              <a:off x="4385" y="3786"/>
              <a:ext cx="11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10"/>
          <p:cNvSpPr txBox="1"/>
          <p:nvPr/>
        </p:nvSpPr>
        <p:spPr>
          <a:xfrm>
            <a:off x="1065212" y="3357562"/>
            <a:ext cx="237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Courier New"/>
              <a:buNone/>
            </a:pPr>
            <a:r>
              <a:rPr b="1" i="0" lang="en-US" sz="2400" u="none">
                <a:solidFill>
                  <a:srgbClr val="080808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i="0" lang="en-US" sz="24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-US" sz="2400" u="none">
                <a:solidFill>
                  <a:srgbClr val="080808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1" i="0" lang="en-US" sz="24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2400" u="none">
                <a:solidFill>
                  <a:srgbClr val="08080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n-US" sz="24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cxnSp>
        <p:nvCxnSpPr>
          <p:cNvPr id="154" name="Google Shape;154;p10"/>
          <p:cNvCxnSpPr/>
          <p:nvPr/>
        </p:nvCxnSpPr>
        <p:spPr>
          <a:xfrm flipH="1" rot="-5400000">
            <a:off x="5803050" y="3625112"/>
            <a:ext cx="1544700" cy="1149300"/>
          </a:xfrm>
          <a:prstGeom prst="curvedConnector3">
            <a:avLst>
              <a:gd fmla="val 0" name="adj1"/>
            </a:avLst>
          </a:prstGeom>
          <a:noFill/>
          <a:ln cap="flat" cmpd="sng" w="63500">
            <a:solidFill>
              <a:schemeClr val="hlink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55" name="Google Shape;155;p10"/>
          <p:cNvSpPr txBox="1"/>
          <p:nvPr/>
        </p:nvSpPr>
        <p:spPr>
          <a:xfrm>
            <a:off x="7397750" y="4779962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080808"/>
                </a:solidFill>
                <a:latin typeface="Teko"/>
                <a:ea typeface="Teko"/>
                <a:cs typeface="Teko"/>
                <a:sym typeface="Teko"/>
              </a:rPr>
              <a:t>5</a:t>
            </a:r>
            <a:endParaRPr/>
          </a:p>
        </p:txBody>
      </p:sp>
      <p:sp>
        <p:nvSpPr>
          <p:cNvPr id="156" name="Google Shape;156;p10"/>
          <p:cNvSpPr txBox="1"/>
          <p:nvPr/>
        </p:nvSpPr>
        <p:spPr>
          <a:xfrm>
            <a:off x="4883150" y="3179762"/>
            <a:ext cx="920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rgbClr val="080808"/>
                </a:solidFill>
                <a:latin typeface="Comic Sans MS"/>
                <a:ea typeface="Comic Sans MS"/>
                <a:cs typeface="Comic Sans MS"/>
                <a:sym typeface="Comic Sans MS"/>
              </a:rPr>
              <a:t>0xFF</a:t>
            </a:r>
            <a:endParaRPr/>
          </a:p>
        </p:txBody>
      </p:sp>
      <p:sp>
        <p:nvSpPr>
          <p:cNvPr id="157" name="Google Shape;157;p10"/>
          <p:cNvSpPr txBox="1"/>
          <p:nvPr/>
        </p:nvSpPr>
        <p:spPr>
          <a:xfrm>
            <a:off x="992187" y="4149725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*p = 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3.3. Danh sách liên kết</a:t>
            </a:r>
            <a:endParaRPr/>
          </a:p>
        </p:txBody>
      </p:sp>
      <p:pic>
        <p:nvPicPr>
          <p:cNvPr id="163" name="Google Shape;163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162" y="1609725"/>
            <a:ext cx="8642350" cy="2874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Kiểu danh sách</a:t>
            </a:r>
            <a:endParaRPr/>
          </a:p>
        </p:txBody>
      </p:sp>
      <p:sp>
        <p:nvSpPr>
          <p:cNvPr id="169" name="Google Shape;169;p12"/>
          <p:cNvSpPr txBox="1"/>
          <p:nvPr>
            <p:ph idx="1" type="body"/>
          </p:nvPr>
        </p:nvSpPr>
        <p:spPr>
          <a:xfrm>
            <a:off x="776287" y="765175"/>
            <a:ext cx="8785225" cy="561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Danh sách = { các phần tử có cùng kiểu}</a:t>
            </a:r>
            <a:endParaRPr/>
          </a:p>
          <a:p>
            <a:pPr indent="-463550" lvl="0" marL="4635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Danh sách là một kiểu dữ liệu tuyến tính :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Mỗi phần tử có nhiều nhất 1 phần tử đứng trước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Mỗi phần tử có nhiều nhất 1 phần tử đứng sau</a:t>
            </a:r>
            <a:endParaRPr/>
          </a:p>
          <a:p>
            <a:pPr indent="-463550" lvl="0" marL="4635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Là kiểu dữ liệu quen thuộc trong thực tế :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Danh sách học sinh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Danh mục sách trong thư viện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Danh bạ điện thoại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Danh s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ách các nhân viên trong công ty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Các hình thức tổ chức danh sách</a:t>
            </a:r>
            <a:endParaRPr/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776287" y="1427162"/>
            <a:ext cx="9129712" cy="4954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CTDL cho mỗi phần tử ?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Thể hiện liên kết của các phần tử ?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Hai hình thức cơ bản :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Liên kết ngầm : 		Mảng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Liên kết tường minh : 	Danh sách liên kết</a:t>
            </a:r>
            <a:endParaRPr/>
          </a:p>
          <a:p>
            <a:pPr indent="-260350" lvl="0" marL="4635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Danh sách liên kết ngầm(mảng)</a:t>
            </a:r>
            <a:endParaRPr/>
          </a:p>
        </p:txBody>
      </p:sp>
      <p:sp>
        <p:nvSpPr>
          <p:cNvPr id="181" name="Google Shape;181;p14"/>
          <p:cNvSpPr txBox="1"/>
          <p:nvPr>
            <p:ph idx="1" type="body"/>
          </p:nvPr>
        </p:nvSpPr>
        <p:spPr>
          <a:xfrm>
            <a:off x="776287" y="765175"/>
            <a:ext cx="8785225" cy="561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Mối liên hệ giữa các phần tử được thể hiện ngầm: 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: phần tử thứ i trong ds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, x</a:t>
            </a:r>
            <a:r>
              <a:rPr b="0" baseline="-2500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i+1</a:t>
            </a: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là kế cận trong danh sách 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Phải lưu trữ liên tiếp các phần tử trong bộ nhớ 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công thức xác định địa chỉ phần tử thứ i:</a:t>
            </a:r>
            <a:b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address(i) = address(1) + (i-1)*sizeof(T) 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Ưu điểm</a:t>
            </a: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 : Truy xuất trực tiếp, nhanh chóng</a:t>
            </a:r>
            <a:endParaRPr/>
          </a:p>
          <a:p>
            <a:pPr indent="-463550" lvl="0" marL="4635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⮚"/>
            </a:pPr>
            <a:r>
              <a:rPr b="1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Nh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ược điểm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800" u="none"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6087" lvl="1" marL="1023937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Sử dụng bộ nhớ kém hiệu quả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Kích thước cố định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Các thao tác thêm vào, loại bỏ không hiệu quả</a:t>
            </a:r>
            <a:endParaRPr/>
          </a:p>
        </p:txBody>
      </p:sp>
      <p:grpSp>
        <p:nvGrpSpPr>
          <p:cNvPr id="182" name="Google Shape;182;p14"/>
          <p:cNvGrpSpPr/>
          <p:nvPr/>
        </p:nvGrpSpPr>
        <p:grpSpPr>
          <a:xfrm>
            <a:off x="6248400" y="1341437"/>
            <a:ext cx="3513137" cy="468312"/>
            <a:chOff x="2167" y="618"/>
            <a:chExt cx="2016" cy="235"/>
          </a:xfrm>
        </p:grpSpPr>
        <p:sp>
          <p:nvSpPr>
            <p:cNvPr id="183" name="Google Shape;183;p14"/>
            <p:cNvSpPr txBox="1"/>
            <p:nvPr/>
          </p:nvSpPr>
          <p:spPr>
            <a:xfrm>
              <a:off x="2167" y="618"/>
              <a:ext cx="504" cy="23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x0</a:t>
              </a:r>
              <a:endParaRPr/>
            </a:p>
          </p:txBody>
        </p:sp>
        <p:sp>
          <p:nvSpPr>
            <p:cNvPr id="184" name="Google Shape;184;p14"/>
            <p:cNvSpPr txBox="1"/>
            <p:nvPr/>
          </p:nvSpPr>
          <p:spPr>
            <a:xfrm>
              <a:off x="2666" y="618"/>
              <a:ext cx="504" cy="23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…</a:t>
              </a:r>
              <a:endParaRPr/>
            </a:p>
          </p:txBody>
        </p:sp>
        <p:sp>
          <p:nvSpPr>
            <p:cNvPr id="185" name="Google Shape;185;p14"/>
            <p:cNvSpPr txBox="1"/>
            <p:nvPr/>
          </p:nvSpPr>
          <p:spPr>
            <a:xfrm>
              <a:off x="3175" y="618"/>
              <a:ext cx="504" cy="23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xi</a:t>
              </a:r>
              <a:endParaRPr/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3679" y="618"/>
              <a:ext cx="504" cy="23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xi+1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Liên kết tuờng minh(Danh sánh liên kết)</a:t>
            </a:r>
            <a:endParaRPr/>
          </a:p>
        </p:txBody>
      </p:sp>
      <p:sp>
        <p:nvSpPr>
          <p:cNvPr id="192" name="Google Shape;192;p15"/>
          <p:cNvSpPr txBox="1"/>
          <p:nvPr>
            <p:ph idx="1" type="body"/>
          </p:nvPr>
        </p:nvSpPr>
        <p:spPr>
          <a:xfrm>
            <a:off x="891687" y="895350"/>
            <a:ext cx="8382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CTDL cho một phần tử 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Thông tin bản thân</a:t>
            </a:r>
            <a:endParaRPr/>
          </a:p>
          <a:p>
            <a:pPr indent="-446087" lvl="1" marL="102393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Địa chỉ của phần tử kế trong danh sách</a:t>
            </a:r>
            <a:endParaRPr/>
          </a:p>
        </p:txBody>
      </p:sp>
      <p:grpSp>
        <p:nvGrpSpPr>
          <p:cNvPr id="193" name="Google Shape;193;p15"/>
          <p:cNvGrpSpPr/>
          <p:nvPr/>
        </p:nvGrpSpPr>
        <p:grpSpPr>
          <a:xfrm>
            <a:off x="1543050" y="2860675"/>
            <a:ext cx="6991350" cy="890587"/>
            <a:chOff x="972" y="1802"/>
            <a:chExt cx="4404" cy="561"/>
          </a:xfrm>
        </p:grpSpPr>
        <p:sp>
          <p:nvSpPr>
            <p:cNvPr id="194" name="Google Shape;194;p15"/>
            <p:cNvSpPr txBox="1"/>
            <p:nvPr/>
          </p:nvSpPr>
          <p:spPr>
            <a:xfrm>
              <a:off x="1596" y="1946"/>
              <a:ext cx="432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x0</a:t>
              </a:r>
              <a:endParaRPr/>
            </a:p>
          </p:txBody>
        </p:sp>
        <p:sp>
          <p:nvSpPr>
            <p:cNvPr id="195" name="Google Shape;195;p15"/>
            <p:cNvSpPr txBox="1"/>
            <p:nvPr/>
          </p:nvSpPr>
          <p:spPr>
            <a:xfrm>
              <a:off x="2652" y="2069"/>
              <a:ext cx="513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x1</a:t>
              </a:r>
              <a:endParaRPr/>
            </a:p>
          </p:txBody>
        </p:sp>
        <p:sp>
          <p:nvSpPr>
            <p:cNvPr id="196" name="Google Shape;196;p15"/>
            <p:cNvSpPr txBox="1"/>
            <p:nvPr/>
          </p:nvSpPr>
          <p:spPr>
            <a:xfrm>
              <a:off x="3804" y="1802"/>
              <a:ext cx="432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x2</a:t>
              </a:r>
              <a:endParaRPr/>
            </a:p>
          </p:txBody>
        </p:sp>
        <p:sp>
          <p:nvSpPr>
            <p:cNvPr id="197" name="Google Shape;197;p15"/>
            <p:cNvSpPr txBox="1"/>
            <p:nvPr/>
          </p:nvSpPr>
          <p:spPr>
            <a:xfrm>
              <a:off x="4944" y="2006"/>
              <a:ext cx="432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x3</a:t>
              </a:r>
              <a:endParaRPr/>
            </a:p>
          </p:txBody>
        </p:sp>
        <p:cxnSp>
          <p:nvCxnSpPr>
            <p:cNvPr id="198" name="Google Shape;198;p15"/>
            <p:cNvCxnSpPr/>
            <p:nvPr/>
          </p:nvCxnSpPr>
          <p:spPr>
            <a:xfrm>
              <a:off x="2028" y="2093"/>
              <a:ext cx="624" cy="123"/>
            </a:xfrm>
            <a:prstGeom prst="curvedConnector3">
              <a:avLst>
                <a:gd fmla="val -324788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99" name="Google Shape;199;p15"/>
            <p:cNvCxnSpPr/>
            <p:nvPr/>
          </p:nvCxnSpPr>
          <p:spPr>
            <a:xfrm flipH="1" rot="10800000">
              <a:off x="3165" y="1949"/>
              <a:ext cx="639" cy="267"/>
            </a:xfrm>
            <a:prstGeom prst="curvedConnector3">
              <a:avLst>
                <a:gd fmla="val -494986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00" name="Google Shape;200;p15"/>
            <p:cNvCxnSpPr/>
            <p:nvPr/>
          </p:nvCxnSpPr>
          <p:spPr>
            <a:xfrm>
              <a:off x="4236" y="1949"/>
              <a:ext cx="708" cy="204"/>
            </a:xfrm>
            <a:prstGeom prst="curvedConnector3">
              <a:avLst>
                <a:gd fmla="val -597921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01" name="Google Shape;201;p15"/>
            <p:cNvCxnSpPr/>
            <p:nvPr/>
          </p:nvCxnSpPr>
          <p:spPr>
            <a:xfrm>
              <a:off x="972" y="2042"/>
              <a:ext cx="624" cy="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sp>
        <p:nvSpPr>
          <p:cNvPr id="202" name="Google Shape;202;p15"/>
          <p:cNvSpPr txBox="1"/>
          <p:nvPr/>
        </p:nvSpPr>
        <p:spPr>
          <a:xfrm>
            <a:off x="685800" y="4221162"/>
            <a:ext cx="9220200" cy="2408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⮚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Mỗi phần tử là một biến động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⮚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Ưu điểm</a:t>
            </a:r>
            <a:endParaRPr b="1" i="0" sz="2800" u="none"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+ Sử dụng hiệu quả bộ nhớ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 + Linh động về số lượng phần tử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Các loại danh sách liên kết</a:t>
            </a:r>
            <a:endParaRPr/>
          </a:p>
        </p:txBody>
      </p:sp>
      <p:sp>
        <p:nvSpPr>
          <p:cNvPr id="208" name="Google Shape;208;p16"/>
          <p:cNvSpPr txBox="1"/>
          <p:nvPr>
            <p:ph idx="1" type="body"/>
          </p:nvPr>
        </p:nvSpPr>
        <p:spPr>
          <a:xfrm>
            <a:off x="776287" y="765175"/>
            <a:ext cx="8785225" cy="1062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Danh sách liên kết Đơn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Mỗi phần tử liên kết với phần tử đứng sau nó trong danh sách</a:t>
            </a:r>
            <a:endParaRPr/>
          </a:p>
        </p:txBody>
      </p:sp>
      <p:cxnSp>
        <p:nvCxnSpPr>
          <p:cNvPr id="209" name="Google Shape;209;p16"/>
          <p:cNvCxnSpPr/>
          <p:nvPr/>
        </p:nvCxnSpPr>
        <p:spPr>
          <a:xfrm>
            <a:off x="3081337" y="2636837"/>
            <a:ext cx="0" cy="43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210" name="Google Shape;210;p16"/>
          <p:cNvGrpSpPr/>
          <p:nvPr/>
        </p:nvGrpSpPr>
        <p:grpSpPr>
          <a:xfrm>
            <a:off x="1281112" y="2205037"/>
            <a:ext cx="8064500" cy="466725"/>
            <a:chOff x="807" y="1389"/>
            <a:chExt cx="5080" cy="294"/>
          </a:xfrm>
        </p:grpSpPr>
        <p:sp>
          <p:nvSpPr>
            <p:cNvPr id="211" name="Google Shape;211;p16"/>
            <p:cNvSpPr txBox="1"/>
            <p:nvPr/>
          </p:nvSpPr>
          <p:spPr>
            <a:xfrm>
              <a:off x="1170" y="1389"/>
              <a:ext cx="680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endParaRPr/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2304" y="1389"/>
              <a:ext cx="725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3482" y="1389"/>
              <a:ext cx="817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/>
            </a:p>
          </p:txBody>
        </p:sp>
        <p:sp>
          <p:nvSpPr>
            <p:cNvPr id="214" name="Google Shape;214;p16"/>
            <p:cNvSpPr txBox="1"/>
            <p:nvPr/>
          </p:nvSpPr>
          <p:spPr>
            <a:xfrm>
              <a:off x="4663" y="1389"/>
              <a:ext cx="725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/>
            </a:p>
          </p:txBody>
        </p:sp>
        <p:cxnSp>
          <p:nvCxnSpPr>
            <p:cNvPr id="215" name="Google Shape;215;p16"/>
            <p:cNvCxnSpPr/>
            <p:nvPr/>
          </p:nvCxnSpPr>
          <p:spPr>
            <a:xfrm>
              <a:off x="1669" y="1389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6" name="Google Shape;216;p16"/>
            <p:cNvCxnSpPr/>
            <p:nvPr/>
          </p:nvCxnSpPr>
          <p:spPr>
            <a:xfrm>
              <a:off x="2848" y="1389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7" name="Google Shape;217;p16"/>
            <p:cNvCxnSpPr/>
            <p:nvPr/>
          </p:nvCxnSpPr>
          <p:spPr>
            <a:xfrm>
              <a:off x="4073" y="1389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8" name="Google Shape;218;p16"/>
            <p:cNvCxnSpPr/>
            <p:nvPr/>
          </p:nvCxnSpPr>
          <p:spPr>
            <a:xfrm>
              <a:off x="5207" y="1389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9" name="Google Shape;219;p16"/>
            <p:cNvCxnSpPr/>
            <p:nvPr/>
          </p:nvCxnSpPr>
          <p:spPr>
            <a:xfrm>
              <a:off x="807" y="1570"/>
              <a:ext cx="363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cxnSp>
          <p:nvCxnSpPr>
            <p:cNvPr id="220" name="Google Shape;220;p16"/>
            <p:cNvCxnSpPr/>
            <p:nvPr/>
          </p:nvCxnSpPr>
          <p:spPr>
            <a:xfrm>
              <a:off x="1759" y="1525"/>
              <a:ext cx="545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cxnSp>
          <p:nvCxnSpPr>
            <p:cNvPr id="221" name="Google Shape;221;p16"/>
            <p:cNvCxnSpPr/>
            <p:nvPr/>
          </p:nvCxnSpPr>
          <p:spPr>
            <a:xfrm>
              <a:off x="2939" y="1525"/>
              <a:ext cx="545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cxnSp>
          <p:nvCxnSpPr>
            <p:cNvPr id="222" name="Google Shape;222;p16"/>
            <p:cNvCxnSpPr/>
            <p:nvPr/>
          </p:nvCxnSpPr>
          <p:spPr>
            <a:xfrm>
              <a:off x="4163" y="1525"/>
              <a:ext cx="545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cxnSp>
          <p:nvCxnSpPr>
            <p:cNvPr id="223" name="Google Shape;223;p16"/>
            <p:cNvCxnSpPr/>
            <p:nvPr/>
          </p:nvCxnSpPr>
          <p:spPr>
            <a:xfrm>
              <a:off x="5251" y="1525"/>
              <a:ext cx="5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sp>
          <p:nvSpPr>
            <p:cNvPr id="224" name="Google Shape;224;p16"/>
            <p:cNvSpPr txBox="1"/>
            <p:nvPr/>
          </p:nvSpPr>
          <p:spPr>
            <a:xfrm>
              <a:off x="5705" y="1413"/>
              <a:ext cx="182" cy="227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16"/>
          <p:cNvSpPr txBox="1"/>
          <p:nvPr/>
        </p:nvSpPr>
        <p:spPr>
          <a:xfrm>
            <a:off x="776287" y="3141662"/>
            <a:ext cx="8640900" cy="1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Danh sách liên kết Kép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Mỗi phần tử liên kết với phần tử đứng trước và sau </a:t>
            </a:r>
            <a:r>
              <a:rPr lang="en-US" sz="2800">
                <a:solidFill>
                  <a:schemeClr val="dk1"/>
                </a:solidFill>
              </a:rPr>
              <a:t>nó trong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danh sách</a:t>
            </a:r>
            <a:endParaRPr/>
          </a:p>
        </p:txBody>
      </p:sp>
      <p:cxnSp>
        <p:nvCxnSpPr>
          <p:cNvPr id="226" name="Google Shape;226;p16"/>
          <p:cNvCxnSpPr/>
          <p:nvPr/>
        </p:nvCxnSpPr>
        <p:spPr>
          <a:xfrm>
            <a:off x="6608762" y="4416425"/>
            <a:ext cx="865187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grpSp>
        <p:nvGrpSpPr>
          <p:cNvPr id="227" name="Google Shape;227;p16"/>
          <p:cNvGrpSpPr/>
          <p:nvPr/>
        </p:nvGrpSpPr>
        <p:grpSpPr>
          <a:xfrm>
            <a:off x="1281112" y="4257675"/>
            <a:ext cx="8064500" cy="466725"/>
            <a:chOff x="807" y="2682"/>
            <a:chExt cx="5080" cy="294"/>
          </a:xfrm>
        </p:grpSpPr>
        <p:sp>
          <p:nvSpPr>
            <p:cNvPr id="228" name="Google Shape;228;p16"/>
            <p:cNvSpPr txBox="1"/>
            <p:nvPr/>
          </p:nvSpPr>
          <p:spPr>
            <a:xfrm>
              <a:off x="1170" y="2682"/>
              <a:ext cx="680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endParaRPr/>
            </a:p>
          </p:txBody>
        </p:sp>
        <p:sp>
          <p:nvSpPr>
            <p:cNvPr id="229" name="Google Shape;229;p16"/>
            <p:cNvSpPr txBox="1"/>
            <p:nvPr/>
          </p:nvSpPr>
          <p:spPr>
            <a:xfrm>
              <a:off x="2304" y="2682"/>
              <a:ext cx="725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sp>
          <p:nvSpPr>
            <p:cNvPr id="230" name="Google Shape;230;p16"/>
            <p:cNvSpPr txBox="1"/>
            <p:nvPr/>
          </p:nvSpPr>
          <p:spPr>
            <a:xfrm>
              <a:off x="3482" y="2682"/>
              <a:ext cx="817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/>
            </a:p>
          </p:txBody>
        </p:sp>
        <p:sp>
          <p:nvSpPr>
            <p:cNvPr id="231" name="Google Shape;231;p16"/>
            <p:cNvSpPr txBox="1"/>
            <p:nvPr/>
          </p:nvSpPr>
          <p:spPr>
            <a:xfrm>
              <a:off x="4663" y="2682"/>
              <a:ext cx="725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/>
            </a:p>
          </p:txBody>
        </p:sp>
        <p:cxnSp>
          <p:nvCxnSpPr>
            <p:cNvPr id="232" name="Google Shape;232;p16"/>
            <p:cNvCxnSpPr/>
            <p:nvPr/>
          </p:nvCxnSpPr>
          <p:spPr>
            <a:xfrm>
              <a:off x="1669" y="2682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33" name="Google Shape;233;p16"/>
            <p:cNvCxnSpPr/>
            <p:nvPr/>
          </p:nvCxnSpPr>
          <p:spPr>
            <a:xfrm>
              <a:off x="2848" y="2682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34" name="Google Shape;234;p16"/>
            <p:cNvCxnSpPr/>
            <p:nvPr/>
          </p:nvCxnSpPr>
          <p:spPr>
            <a:xfrm>
              <a:off x="4073" y="2682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35" name="Google Shape;235;p16"/>
            <p:cNvCxnSpPr/>
            <p:nvPr/>
          </p:nvCxnSpPr>
          <p:spPr>
            <a:xfrm>
              <a:off x="5207" y="2682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36" name="Google Shape;236;p16"/>
            <p:cNvCxnSpPr/>
            <p:nvPr/>
          </p:nvCxnSpPr>
          <p:spPr>
            <a:xfrm>
              <a:off x="807" y="2863"/>
              <a:ext cx="363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cxnSp>
          <p:nvCxnSpPr>
            <p:cNvPr id="237" name="Google Shape;237;p16"/>
            <p:cNvCxnSpPr/>
            <p:nvPr/>
          </p:nvCxnSpPr>
          <p:spPr>
            <a:xfrm>
              <a:off x="1759" y="2795"/>
              <a:ext cx="545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cxnSp>
          <p:nvCxnSpPr>
            <p:cNvPr id="238" name="Google Shape;238;p16"/>
            <p:cNvCxnSpPr/>
            <p:nvPr/>
          </p:nvCxnSpPr>
          <p:spPr>
            <a:xfrm>
              <a:off x="2939" y="2794"/>
              <a:ext cx="545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cxnSp>
          <p:nvCxnSpPr>
            <p:cNvPr id="239" name="Google Shape;239;p16"/>
            <p:cNvCxnSpPr/>
            <p:nvPr/>
          </p:nvCxnSpPr>
          <p:spPr>
            <a:xfrm>
              <a:off x="5251" y="2818"/>
              <a:ext cx="5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sp>
          <p:nvSpPr>
            <p:cNvPr id="240" name="Google Shape;240;p16"/>
            <p:cNvSpPr txBox="1"/>
            <p:nvPr/>
          </p:nvSpPr>
          <p:spPr>
            <a:xfrm>
              <a:off x="5705" y="2706"/>
              <a:ext cx="182" cy="227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" name="Google Shape;241;p16"/>
            <p:cNvCxnSpPr/>
            <p:nvPr/>
          </p:nvCxnSpPr>
          <p:spPr>
            <a:xfrm>
              <a:off x="1825" y="2895"/>
              <a:ext cx="545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oval"/>
            </a:ln>
          </p:spPr>
        </p:cxnSp>
        <p:cxnSp>
          <p:nvCxnSpPr>
            <p:cNvPr id="242" name="Google Shape;242;p16"/>
            <p:cNvCxnSpPr/>
            <p:nvPr/>
          </p:nvCxnSpPr>
          <p:spPr>
            <a:xfrm>
              <a:off x="2452" y="2683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43" name="Google Shape;243;p16"/>
            <p:cNvCxnSpPr/>
            <p:nvPr/>
          </p:nvCxnSpPr>
          <p:spPr>
            <a:xfrm>
              <a:off x="3648" y="2692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44" name="Google Shape;244;p16"/>
            <p:cNvCxnSpPr/>
            <p:nvPr/>
          </p:nvCxnSpPr>
          <p:spPr>
            <a:xfrm>
              <a:off x="4798" y="2692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45" name="Google Shape;245;p16"/>
            <p:cNvCxnSpPr/>
            <p:nvPr/>
          </p:nvCxnSpPr>
          <p:spPr>
            <a:xfrm>
              <a:off x="3020" y="2895"/>
              <a:ext cx="545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oval"/>
            </a:ln>
          </p:spPr>
        </p:cxnSp>
        <p:cxnSp>
          <p:nvCxnSpPr>
            <p:cNvPr id="246" name="Google Shape;246;p16"/>
            <p:cNvCxnSpPr/>
            <p:nvPr/>
          </p:nvCxnSpPr>
          <p:spPr>
            <a:xfrm>
              <a:off x="4299" y="2886"/>
              <a:ext cx="431" cy="9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oval"/>
            </a:ln>
          </p:spPr>
        </p:cxnSp>
      </p:grpSp>
      <p:sp>
        <p:nvSpPr>
          <p:cNvPr id="247" name="Google Shape;247;p16"/>
          <p:cNvSpPr txBox="1"/>
          <p:nvPr/>
        </p:nvSpPr>
        <p:spPr>
          <a:xfrm>
            <a:off x="704850" y="4941887"/>
            <a:ext cx="8640762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Danh sách liên Vòng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Phần tử cuối danh sách liên với phần tử đầu danh sách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Các loại danh sách liên kết (tt)</a:t>
            </a:r>
            <a:endParaRPr/>
          </a:p>
        </p:txBody>
      </p:sp>
      <p:sp>
        <p:nvSpPr>
          <p:cNvPr id="253" name="Google Shape;253;p17"/>
          <p:cNvSpPr txBox="1"/>
          <p:nvPr>
            <p:ph idx="1" type="body"/>
          </p:nvPr>
        </p:nvSpPr>
        <p:spPr>
          <a:xfrm>
            <a:off x="704850" y="765175"/>
            <a:ext cx="9201150" cy="1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635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Danh sách liên Vòng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Phần tử cuối danh sách liên với phần tử đầu danh sách</a:t>
            </a:r>
            <a:endParaRPr/>
          </a:p>
          <a:p>
            <a:pPr indent="-446087" lvl="1" marL="1023937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Danh sách liên kết đơn vòng</a:t>
            </a:r>
            <a:endParaRPr/>
          </a:p>
        </p:txBody>
      </p:sp>
      <p:grpSp>
        <p:nvGrpSpPr>
          <p:cNvPr id="254" name="Google Shape;254;p17"/>
          <p:cNvGrpSpPr/>
          <p:nvPr/>
        </p:nvGrpSpPr>
        <p:grpSpPr>
          <a:xfrm>
            <a:off x="1281112" y="2962275"/>
            <a:ext cx="7272337" cy="466725"/>
            <a:chOff x="807" y="1866"/>
            <a:chExt cx="4581" cy="294"/>
          </a:xfrm>
        </p:grpSpPr>
        <p:sp>
          <p:nvSpPr>
            <p:cNvPr id="255" name="Google Shape;255;p17"/>
            <p:cNvSpPr txBox="1"/>
            <p:nvPr/>
          </p:nvSpPr>
          <p:spPr>
            <a:xfrm>
              <a:off x="1170" y="1866"/>
              <a:ext cx="680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endParaRPr/>
            </a:p>
          </p:txBody>
        </p:sp>
        <p:sp>
          <p:nvSpPr>
            <p:cNvPr id="256" name="Google Shape;256;p17"/>
            <p:cNvSpPr txBox="1"/>
            <p:nvPr/>
          </p:nvSpPr>
          <p:spPr>
            <a:xfrm>
              <a:off x="2304" y="1866"/>
              <a:ext cx="725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sp>
          <p:nvSpPr>
            <p:cNvPr id="257" name="Google Shape;257;p17"/>
            <p:cNvSpPr txBox="1"/>
            <p:nvPr/>
          </p:nvSpPr>
          <p:spPr>
            <a:xfrm>
              <a:off x="3482" y="1866"/>
              <a:ext cx="817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/>
            </a:p>
          </p:txBody>
        </p:sp>
        <p:sp>
          <p:nvSpPr>
            <p:cNvPr id="258" name="Google Shape;258;p17"/>
            <p:cNvSpPr txBox="1"/>
            <p:nvPr/>
          </p:nvSpPr>
          <p:spPr>
            <a:xfrm>
              <a:off x="4663" y="1866"/>
              <a:ext cx="725" cy="29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/>
            </a:p>
          </p:txBody>
        </p:sp>
        <p:cxnSp>
          <p:nvCxnSpPr>
            <p:cNvPr id="259" name="Google Shape;259;p17"/>
            <p:cNvCxnSpPr/>
            <p:nvPr/>
          </p:nvCxnSpPr>
          <p:spPr>
            <a:xfrm>
              <a:off x="1669" y="1866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0" name="Google Shape;260;p17"/>
            <p:cNvCxnSpPr/>
            <p:nvPr/>
          </p:nvCxnSpPr>
          <p:spPr>
            <a:xfrm>
              <a:off x="2848" y="1866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1" name="Google Shape;261;p17"/>
            <p:cNvCxnSpPr/>
            <p:nvPr/>
          </p:nvCxnSpPr>
          <p:spPr>
            <a:xfrm>
              <a:off x="4073" y="1866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2" name="Google Shape;262;p17"/>
            <p:cNvCxnSpPr/>
            <p:nvPr/>
          </p:nvCxnSpPr>
          <p:spPr>
            <a:xfrm>
              <a:off x="5207" y="1866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3" name="Google Shape;263;p17"/>
            <p:cNvCxnSpPr/>
            <p:nvPr/>
          </p:nvCxnSpPr>
          <p:spPr>
            <a:xfrm>
              <a:off x="807" y="2047"/>
              <a:ext cx="363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cxnSp>
          <p:nvCxnSpPr>
            <p:cNvPr id="264" name="Google Shape;264;p17"/>
            <p:cNvCxnSpPr/>
            <p:nvPr/>
          </p:nvCxnSpPr>
          <p:spPr>
            <a:xfrm>
              <a:off x="1759" y="2002"/>
              <a:ext cx="545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cxnSp>
          <p:nvCxnSpPr>
            <p:cNvPr id="265" name="Google Shape;265;p17"/>
            <p:cNvCxnSpPr/>
            <p:nvPr/>
          </p:nvCxnSpPr>
          <p:spPr>
            <a:xfrm>
              <a:off x="2939" y="2002"/>
              <a:ext cx="545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cxnSp>
          <p:nvCxnSpPr>
            <p:cNvPr id="266" name="Google Shape;266;p17"/>
            <p:cNvCxnSpPr/>
            <p:nvPr/>
          </p:nvCxnSpPr>
          <p:spPr>
            <a:xfrm>
              <a:off x="4163" y="2002"/>
              <a:ext cx="545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  <p:cxnSp>
          <p:nvCxnSpPr>
            <p:cNvPr id="267" name="Google Shape;267;p17"/>
            <p:cNvCxnSpPr/>
            <p:nvPr/>
          </p:nvCxnSpPr>
          <p:spPr>
            <a:xfrm rot="10800000">
              <a:off x="1465" y="1866"/>
              <a:ext cx="3878" cy="147"/>
            </a:xfrm>
            <a:prstGeom prst="bentConnector4">
              <a:avLst>
                <a:gd fmla="val 137690" name="adj1"/>
                <a:gd fmla="val 1368552" name="adj2"/>
              </a:avLst>
            </a:prstGeom>
            <a:noFill/>
            <a:ln cap="flat" cmpd="sng" w="50800">
              <a:solidFill>
                <a:schemeClr val="dk1"/>
              </a:solidFill>
              <a:prstDash val="solid"/>
              <a:miter lim="800000"/>
              <a:headEnd len="med" w="med" type="oval"/>
              <a:tailEnd len="med" w="med" type="triangle"/>
            </a:ln>
          </p:spPr>
        </p:cxnSp>
      </p:grpSp>
      <p:sp>
        <p:nvSpPr>
          <p:cNvPr id="268" name="Google Shape;268;p17"/>
          <p:cNvSpPr txBox="1"/>
          <p:nvPr/>
        </p:nvSpPr>
        <p:spPr>
          <a:xfrm>
            <a:off x="1928812" y="4652962"/>
            <a:ext cx="1079500" cy="46672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3729037" y="4652962"/>
            <a:ext cx="1150937" cy="46672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5599112" y="4652962"/>
            <a:ext cx="1296987" cy="46672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7473950" y="4652962"/>
            <a:ext cx="1150937" cy="46672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272" name="Google Shape;272;p17"/>
          <p:cNvCxnSpPr/>
          <p:nvPr/>
        </p:nvCxnSpPr>
        <p:spPr>
          <a:xfrm>
            <a:off x="2720975" y="4652962"/>
            <a:ext cx="0" cy="43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4592637" y="4652962"/>
            <a:ext cx="0" cy="43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4" name="Google Shape;274;p17"/>
          <p:cNvCxnSpPr/>
          <p:nvPr/>
        </p:nvCxnSpPr>
        <p:spPr>
          <a:xfrm>
            <a:off x="6537325" y="4652962"/>
            <a:ext cx="0" cy="43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5" name="Google Shape;275;p17"/>
          <p:cNvCxnSpPr/>
          <p:nvPr/>
        </p:nvCxnSpPr>
        <p:spPr>
          <a:xfrm>
            <a:off x="8337550" y="4652962"/>
            <a:ext cx="0" cy="43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6" name="Google Shape;276;p17"/>
          <p:cNvCxnSpPr/>
          <p:nvPr/>
        </p:nvCxnSpPr>
        <p:spPr>
          <a:xfrm>
            <a:off x="1352550" y="4940300"/>
            <a:ext cx="576262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cxnSp>
        <p:nvCxnSpPr>
          <p:cNvPr id="277" name="Google Shape;277;p17"/>
          <p:cNvCxnSpPr/>
          <p:nvPr/>
        </p:nvCxnSpPr>
        <p:spPr>
          <a:xfrm>
            <a:off x="2863850" y="4832350"/>
            <a:ext cx="865187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cxnSp>
        <p:nvCxnSpPr>
          <p:cNvPr id="278" name="Google Shape;278;p17"/>
          <p:cNvCxnSpPr/>
          <p:nvPr/>
        </p:nvCxnSpPr>
        <p:spPr>
          <a:xfrm>
            <a:off x="4737100" y="4830762"/>
            <a:ext cx="865187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cxnSp>
        <p:nvCxnSpPr>
          <p:cNvPr id="279" name="Google Shape;279;p17"/>
          <p:cNvCxnSpPr/>
          <p:nvPr/>
        </p:nvCxnSpPr>
        <p:spPr>
          <a:xfrm>
            <a:off x="2968625" y="4991100"/>
            <a:ext cx="865187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med" w="med" type="triangle"/>
            <a:tailEnd len="med" w="med" type="oval"/>
          </a:ln>
        </p:spPr>
      </p:cxnSp>
      <p:cxnSp>
        <p:nvCxnSpPr>
          <p:cNvPr id="280" name="Google Shape;280;p17"/>
          <p:cNvCxnSpPr/>
          <p:nvPr/>
        </p:nvCxnSpPr>
        <p:spPr>
          <a:xfrm>
            <a:off x="3963987" y="4654550"/>
            <a:ext cx="0" cy="43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1" name="Google Shape;281;p17"/>
          <p:cNvCxnSpPr/>
          <p:nvPr/>
        </p:nvCxnSpPr>
        <p:spPr>
          <a:xfrm>
            <a:off x="5862637" y="4668837"/>
            <a:ext cx="0" cy="43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2" name="Google Shape;282;p17"/>
          <p:cNvCxnSpPr/>
          <p:nvPr/>
        </p:nvCxnSpPr>
        <p:spPr>
          <a:xfrm>
            <a:off x="7688262" y="4668837"/>
            <a:ext cx="0" cy="43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3" name="Google Shape;283;p17"/>
          <p:cNvCxnSpPr/>
          <p:nvPr/>
        </p:nvCxnSpPr>
        <p:spPr>
          <a:xfrm>
            <a:off x="4865687" y="4991100"/>
            <a:ext cx="865187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med" w="med" type="triangle"/>
            <a:tailEnd len="med" w="med" type="oval"/>
          </a:ln>
        </p:spPr>
      </p:cxnSp>
      <p:cxnSp>
        <p:nvCxnSpPr>
          <p:cNvPr id="284" name="Google Shape;284;p17"/>
          <p:cNvCxnSpPr/>
          <p:nvPr/>
        </p:nvCxnSpPr>
        <p:spPr>
          <a:xfrm>
            <a:off x="6896100" y="4976812"/>
            <a:ext cx="684212" cy="14287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med" w="med" type="triangle"/>
            <a:tailEnd len="med" w="med" type="oval"/>
          </a:ln>
        </p:spPr>
      </p:cxnSp>
      <p:cxnSp>
        <p:nvCxnSpPr>
          <p:cNvPr id="285" name="Google Shape;285;p17"/>
          <p:cNvCxnSpPr/>
          <p:nvPr/>
        </p:nvCxnSpPr>
        <p:spPr>
          <a:xfrm>
            <a:off x="2468562" y="4581525"/>
            <a:ext cx="6156300" cy="2334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cxnSp>
        <p:nvCxnSpPr>
          <p:cNvPr id="286" name="Google Shape;286;p17"/>
          <p:cNvCxnSpPr/>
          <p:nvPr/>
        </p:nvCxnSpPr>
        <p:spPr>
          <a:xfrm flipH="1">
            <a:off x="2431900" y="4941887"/>
            <a:ext cx="6191400" cy="88800"/>
          </a:xfrm>
          <a:prstGeom prst="bentConnector4">
            <a:avLst>
              <a:gd fmla="val -643" name="adj1"/>
              <a:gd fmla="val 113913" name="adj2"/>
            </a:avLst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sp>
        <p:nvSpPr>
          <p:cNvPr id="287" name="Google Shape;287;p17"/>
          <p:cNvSpPr txBox="1"/>
          <p:nvPr/>
        </p:nvSpPr>
        <p:spPr>
          <a:xfrm>
            <a:off x="704850" y="3716337"/>
            <a:ext cx="6985000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1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Danh sách liên kết đôi vòng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cxnSp>
        <p:nvCxnSpPr>
          <p:cNvPr id="288" name="Google Shape;288;p17"/>
          <p:cNvCxnSpPr/>
          <p:nvPr/>
        </p:nvCxnSpPr>
        <p:spPr>
          <a:xfrm>
            <a:off x="6710362" y="4816475"/>
            <a:ext cx="792162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2">
  <a:themeElements>
    <a:clrScheme name="t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2006-03-07T22:30:17Z</dcterms:created>
  <dc:creator>User</dc:creator>
</cp:coreProperties>
</file>