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9906000"/>
  <p:notesSz cx="9601200" cy="7313600"/>
  <p:embeddedFontLst>
    <p:embeddedFont>
      <p:font typeface="Helvetica Neue"/>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120">
          <p15:clr>
            <a:srgbClr val="000000"/>
          </p15:clr>
        </p15:guide>
      </p15:sldGuideLst>
    </p:ext>
    <p:ext uri="GoogleSlidesCustomDataVersion2">
      <go:slidesCustomData xmlns:go="http://customooxmlschemas.google.com/" r:id="rId47" roundtripDataSignature="AMtx7mjCOlWrdr8k9kBwQ35G56cMEm7c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HelveticaNeue-bold.fntdata"/><Relationship Id="rId21" Type="http://schemas.openxmlformats.org/officeDocument/2006/relationships/slide" Target="slides/slide15.xml"/><Relationship Id="rId43" Type="http://schemas.openxmlformats.org/officeDocument/2006/relationships/font" Target="fonts/HelveticaNeue-regular.fntdata"/><Relationship Id="rId24" Type="http://schemas.openxmlformats.org/officeDocument/2006/relationships/slide" Target="slides/slide18.xml"/><Relationship Id="rId46" Type="http://schemas.openxmlformats.org/officeDocument/2006/relationships/font" Target="fonts/HelveticaNeue-boldItalic.fntdata"/><Relationship Id="rId23" Type="http://schemas.openxmlformats.org/officeDocument/2006/relationships/slide" Target="slides/slide17.xml"/><Relationship Id="rId45"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160837" cy="366712"/>
          </a:xfrm>
          <a:prstGeom prst="rect">
            <a:avLst/>
          </a:prstGeom>
          <a:noFill/>
          <a:ln>
            <a:noFill/>
          </a:ln>
        </p:spPr>
        <p:txBody>
          <a:bodyPr anchorCtr="0" anchor="t"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438775" y="0"/>
            <a:ext cx="4160837" cy="366712"/>
          </a:xfrm>
          <a:prstGeom prst="rect">
            <a:avLst/>
          </a:prstGeom>
          <a:noFill/>
          <a:ln>
            <a:noFill/>
          </a:ln>
        </p:spPr>
        <p:txBody>
          <a:bodyPr anchorCtr="0" anchor="t" bIns="48300" lIns="96625" spcFirstLastPara="1" rIns="96625" wrap="square" tIns="483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60437" y="3475037"/>
            <a:ext cx="7680325" cy="3290887"/>
          </a:xfrm>
          <a:prstGeom prst="rect">
            <a:avLst/>
          </a:prstGeom>
          <a:noFill/>
          <a:ln>
            <a:noFill/>
          </a:ln>
        </p:spPr>
        <p:txBody>
          <a:bodyPr anchorCtr="0" anchor="t" bIns="48300" lIns="96625" spcFirstLastPara="1" rIns="96625" wrap="square" tIns="483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6945312"/>
            <a:ext cx="4160837" cy="366712"/>
          </a:xfrm>
          <a:prstGeom prst="rect">
            <a:avLst/>
          </a:prstGeom>
          <a:noFill/>
          <a:ln>
            <a:noFill/>
          </a:ln>
        </p:spPr>
        <p:txBody>
          <a:bodyPr anchorCtr="0" anchor="b" bIns="48300" lIns="96625" spcFirstLastPara="1" rIns="96625" wrap="square" tIns="483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438775" y="6945312"/>
            <a:ext cx="4160837" cy="366712"/>
          </a:xfrm>
          <a:prstGeom prst="rect">
            <a:avLst/>
          </a:prstGeom>
          <a:noFill/>
          <a:ln>
            <a:noFill/>
          </a:ln>
        </p:spPr>
        <p:txBody>
          <a:bodyPr anchorCtr="0" anchor="b" bIns="48300" lIns="96625" spcFirstLastPara="1" rIns="96625" wrap="square" tIns="483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1: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77" name="Google Shape;77;p3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58" name="Google Shape;158;p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76" name="Google Shape;176;p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88" name="Google Shape;188;p1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194" name="Google Shape;194;p1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23" name="Google Shape;223;p1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29" name="Google Shape;229;p1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6: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36" name="Google Shape;236;p1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42" name="Google Shape;242;p1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48" name="Google Shape;248;p1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60" name="Google Shape;260;p2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e78f254187_0_0: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66" name="Google Shape;266;g2e78f254187_0_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e78f254187_0_5: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72" name="Google Shape;272;g2e78f254187_0_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84" name="Google Shape;284;p2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3:notes"/>
          <p:cNvSpPr txBox="1"/>
          <p:nvPr>
            <p:ph idx="1" type="body"/>
          </p:nvPr>
        </p:nvSpPr>
        <p:spPr>
          <a:xfrm>
            <a:off x="960437" y="3475037"/>
            <a:ext cx="7680300" cy="3291000"/>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0" name="Google Shape;290;p2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296" name="Google Shape;296;p2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5: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2" name="Google Shape;302;p25: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6: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09" name="Google Shape;309;p26: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8: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53" name="Google Shape;353;p28: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9: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59" name="Google Shape;359;p29: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3: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65" name="Google Shape;365;p33: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0: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71" name="Google Shape;371;p30: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2: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77" name="Google Shape;377;p32: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4:notes"/>
          <p:cNvSpPr txBox="1"/>
          <p:nvPr>
            <p:ph idx="1" type="body"/>
          </p:nvPr>
        </p:nvSpPr>
        <p:spPr>
          <a:xfrm>
            <a:off x="960437" y="3475037"/>
            <a:ext cx="7680325" cy="3290887"/>
          </a:xfrm>
          <a:prstGeom prst="rect">
            <a:avLst/>
          </a:prstGeom>
        </p:spPr>
        <p:txBody>
          <a:bodyPr anchorCtr="0" anchor="t" bIns="48300" lIns="96625" spcFirstLastPara="1" rIns="96625" wrap="square" tIns="48300">
            <a:noAutofit/>
          </a:bodyPr>
          <a:lstStyle/>
          <a:p>
            <a:pPr indent="0" lvl="0" marL="0" rtl="0" algn="l">
              <a:spcBef>
                <a:spcPts val="0"/>
              </a:spcBef>
              <a:spcAft>
                <a:spcPts val="0"/>
              </a:spcAft>
              <a:buNone/>
            </a:pPr>
            <a:r>
              <a:t/>
            </a:r>
            <a:endParaRPr/>
          </a:p>
        </p:txBody>
      </p:sp>
      <p:sp>
        <p:nvSpPr>
          <p:cNvPr id="383" name="Google Shape;383;p34:notes"/>
          <p:cNvSpPr/>
          <p:nvPr>
            <p:ph idx="2" type="sldImg"/>
          </p:nvPr>
        </p:nvSpPr>
        <p:spPr>
          <a:xfrm>
            <a:off x="2819400" y="547687"/>
            <a:ext cx="3962400" cy="2743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6"/>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36"/>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39"/>
          <p:cNvSpPr txBox="1"/>
          <p:nvPr>
            <p:ph type="title"/>
          </p:nvPr>
        </p:nvSpPr>
        <p:spPr>
          <a:xfrm rot="5400000">
            <a:off x="5238750" y="2190750"/>
            <a:ext cx="6858000" cy="2476500"/>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39"/>
          <p:cNvSpPr txBox="1"/>
          <p:nvPr>
            <p:ph idx="1" type="body"/>
          </p:nvPr>
        </p:nvSpPr>
        <p:spPr>
          <a:xfrm rot="5400000">
            <a:off x="209550" y="-209550"/>
            <a:ext cx="6858000" cy="7277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 name="Shape 26"/>
        <p:cNvGrpSpPr/>
        <p:nvPr/>
      </p:nvGrpSpPr>
      <p:grpSpPr>
        <a:xfrm>
          <a:off x="0" y="0"/>
          <a:ext cx="0" cy="0"/>
          <a:chOff x="0" y="0"/>
          <a:chExt cx="0" cy="0"/>
        </a:xfrm>
      </p:grpSpPr>
      <p:sp>
        <p:nvSpPr>
          <p:cNvPr id="27" name="Google Shape;27;p40"/>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40"/>
          <p:cNvSpPr txBox="1"/>
          <p:nvPr>
            <p:ph idx="1" type="body"/>
          </p:nvPr>
        </p:nvSpPr>
        <p:spPr>
          <a:xfrm rot="5400000">
            <a:off x="2294730" y="-753268"/>
            <a:ext cx="6092825" cy="912971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 name="Shape 29"/>
        <p:cNvGrpSpPr/>
        <p:nvPr/>
      </p:nvGrpSpPr>
      <p:grpSpPr>
        <a:xfrm>
          <a:off x="0" y="0"/>
          <a:ext cx="0" cy="0"/>
          <a:chOff x="0" y="0"/>
          <a:chExt cx="0" cy="0"/>
        </a:xfrm>
      </p:grpSpPr>
      <p:sp>
        <p:nvSpPr>
          <p:cNvPr id="30" name="Google Shape;30;p41"/>
          <p:cNvSpPr txBox="1"/>
          <p:nvPr>
            <p:ph type="title"/>
          </p:nvPr>
        </p:nvSpPr>
        <p:spPr>
          <a:xfrm>
            <a:off x="1941513" y="4800600"/>
            <a:ext cx="5943600" cy="566738"/>
          </a:xfrm>
          <a:prstGeom prst="rect">
            <a:avLst/>
          </a:prstGeom>
          <a:solidFill>
            <a:srgbClr val="008000"/>
          </a:soli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41"/>
          <p:cNvSpPr/>
          <p:nvPr>
            <p:ph idx="2" type="pic"/>
          </p:nvPr>
        </p:nvSpPr>
        <p:spPr>
          <a:xfrm>
            <a:off x="1941513" y="612775"/>
            <a:ext cx="5943600" cy="4114800"/>
          </a:xfrm>
          <a:prstGeom prst="rect">
            <a:avLst/>
          </a:prstGeom>
          <a:noFill/>
          <a:ln>
            <a:noFill/>
          </a:ln>
        </p:spPr>
      </p:sp>
      <p:sp>
        <p:nvSpPr>
          <p:cNvPr id="32" name="Google Shape;32;p41"/>
          <p:cNvSpPr txBox="1"/>
          <p:nvPr>
            <p:ph idx="1" type="body"/>
          </p:nvPr>
        </p:nvSpPr>
        <p:spPr>
          <a:xfrm>
            <a:off x="1941513" y="5367338"/>
            <a:ext cx="59436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 name="Shape 33"/>
        <p:cNvGrpSpPr/>
        <p:nvPr/>
      </p:nvGrpSpPr>
      <p:grpSpPr>
        <a:xfrm>
          <a:off x="0" y="0"/>
          <a:ext cx="0" cy="0"/>
          <a:chOff x="0" y="0"/>
          <a:chExt cx="0" cy="0"/>
        </a:xfrm>
      </p:grpSpPr>
      <p:sp>
        <p:nvSpPr>
          <p:cNvPr id="34" name="Google Shape;34;p42"/>
          <p:cNvSpPr txBox="1"/>
          <p:nvPr>
            <p:ph type="title"/>
          </p:nvPr>
        </p:nvSpPr>
        <p:spPr>
          <a:xfrm>
            <a:off x="495300" y="273050"/>
            <a:ext cx="3259138" cy="1162050"/>
          </a:xfrm>
          <a:prstGeom prst="rect">
            <a:avLst/>
          </a:prstGeom>
          <a:solidFill>
            <a:srgbClr val="008000"/>
          </a:solid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42"/>
          <p:cNvSpPr txBox="1"/>
          <p:nvPr>
            <p:ph idx="1" type="body"/>
          </p:nvPr>
        </p:nvSpPr>
        <p:spPr>
          <a:xfrm>
            <a:off x="3873500" y="273050"/>
            <a:ext cx="553720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36" name="Google Shape;36;p42"/>
          <p:cNvSpPr txBox="1"/>
          <p:nvPr>
            <p:ph idx="2" type="body"/>
          </p:nvPr>
        </p:nvSpPr>
        <p:spPr>
          <a:xfrm>
            <a:off x="495300" y="1435100"/>
            <a:ext cx="3259138"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44"/>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5"/>
          <p:cNvSpPr txBox="1"/>
          <p:nvPr>
            <p:ph type="title"/>
          </p:nvPr>
        </p:nvSpPr>
        <p:spPr>
          <a:xfrm>
            <a:off x="495300" y="274638"/>
            <a:ext cx="8915400" cy="1143000"/>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45"/>
          <p:cNvSpPr txBox="1"/>
          <p:nvPr>
            <p:ph idx="1" type="body"/>
          </p:nvPr>
        </p:nvSpPr>
        <p:spPr>
          <a:xfrm>
            <a:off x="495300" y="1535113"/>
            <a:ext cx="437673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3" name="Google Shape;43;p45"/>
          <p:cNvSpPr txBox="1"/>
          <p:nvPr>
            <p:ph idx="2" type="body"/>
          </p:nvPr>
        </p:nvSpPr>
        <p:spPr>
          <a:xfrm>
            <a:off x="495300" y="2174875"/>
            <a:ext cx="437673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4" name="Google Shape;44;p45"/>
          <p:cNvSpPr txBox="1"/>
          <p:nvPr>
            <p:ph idx="3" type="body"/>
          </p:nvPr>
        </p:nvSpPr>
        <p:spPr>
          <a:xfrm>
            <a:off x="5032375" y="1535113"/>
            <a:ext cx="437832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5" name="Google Shape;45;p45"/>
          <p:cNvSpPr txBox="1"/>
          <p:nvPr>
            <p:ph idx="4" type="body"/>
          </p:nvPr>
        </p:nvSpPr>
        <p:spPr>
          <a:xfrm>
            <a:off x="5032375" y="2174875"/>
            <a:ext cx="437832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46"/>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46"/>
          <p:cNvSpPr txBox="1"/>
          <p:nvPr>
            <p:ph idx="1" type="body"/>
          </p:nvPr>
        </p:nvSpPr>
        <p:spPr>
          <a:xfrm>
            <a:off x="776288" y="765175"/>
            <a:ext cx="4487862" cy="6092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9" name="Google Shape;49;p46"/>
          <p:cNvSpPr txBox="1"/>
          <p:nvPr>
            <p:ph idx="2" type="body"/>
          </p:nvPr>
        </p:nvSpPr>
        <p:spPr>
          <a:xfrm>
            <a:off x="5416550" y="765175"/>
            <a:ext cx="4489450" cy="60928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47"/>
          <p:cNvSpPr txBox="1"/>
          <p:nvPr>
            <p:ph type="title"/>
          </p:nvPr>
        </p:nvSpPr>
        <p:spPr>
          <a:xfrm>
            <a:off x="782638" y="4406900"/>
            <a:ext cx="8420100" cy="1362075"/>
          </a:xfrm>
          <a:prstGeom prst="rect">
            <a:avLst/>
          </a:prstGeom>
          <a:solidFill>
            <a:srgbClr val="008000"/>
          </a:solid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47"/>
          <p:cNvSpPr txBox="1"/>
          <p:nvPr>
            <p:ph idx="1" type="body"/>
          </p:nvPr>
        </p:nvSpPr>
        <p:spPr>
          <a:xfrm>
            <a:off x="782638" y="2906713"/>
            <a:ext cx="84201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48"/>
          <p:cNvSpPr txBox="1"/>
          <p:nvPr>
            <p:ph type="ctrTitle"/>
          </p:nvPr>
        </p:nvSpPr>
        <p:spPr>
          <a:xfrm>
            <a:off x="742950" y="2130425"/>
            <a:ext cx="8420100" cy="1470025"/>
          </a:xfrm>
          <a:prstGeom prst="rect">
            <a:avLst/>
          </a:prstGeom>
          <a:solidFill>
            <a:srgbClr val="008000"/>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48"/>
          <p:cNvSpPr txBox="1"/>
          <p:nvPr>
            <p:ph idx="1" type="subTitle"/>
          </p:nvPr>
        </p:nvSpPr>
        <p:spPr>
          <a:xfrm>
            <a:off x="1485900" y="3886200"/>
            <a:ext cx="69342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70" name="Shape 70"/>
        <p:cNvGrpSpPr/>
        <p:nvPr/>
      </p:nvGrpSpPr>
      <p:grpSpPr>
        <a:xfrm>
          <a:off x="0" y="0"/>
          <a:ext cx="0" cy="0"/>
          <a:chOff x="0" y="0"/>
          <a:chExt cx="0" cy="0"/>
        </a:xfrm>
      </p:grpSpPr>
      <p:sp>
        <p:nvSpPr>
          <p:cNvPr id="71" name="Google Shape;71;p38"/>
          <p:cNvSpPr txBox="1"/>
          <p:nvPr>
            <p:ph type="title"/>
          </p:nvPr>
        </p:nvSpPr>
        <p:spPr>
          <a:xfrm>
            <a:off x="990600" y="277813"/>
            <a:ext cx="8420100" cy="1143000"/>
          </a:xfrm>
          <a:prstGeom prst="rect">
            <a:avLst/>
          </a:prstGeom>
          <a:solidFill>
            <a:srgbClr val="008000"/>
          </a:solid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2" name="Google Shape;72;p38"/>
          <p:cNvSpPr txBox="1"/>
          <p:nvPr>
            <p:ph idx="10" type="dt"/>
          </p:nvPr>
        </p:nvSpPr>
        <p:spPr>
          <a:xfrm>
            <a:off x="990600" y="6251575"/>
            <a:ext cx="2146200" cy="4572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3" name="Google Shape;73;p38"/>
          <p:cNvSpPr txBox="1"/>
          <p:nvPr>
            <p:ph idx="11" type="ftr"/>
          </p:nvPr>
        </p:nvSpPr>
        <p:spPr>
          <a:xfrm>
            <a:off x="3632200" y="6248400"/>
            <a:ext cx="3219600" cy="457200"/>
          </a:xfrm>
          <a:prstGeom prst="rect">
            <a:avLst/>
          </a:prstGeom>
          <a:noFill/>
          <a:ln>
            <a:noFill/>
          </a:ln>
        </p:spPr>
        <p:txBody>
          <a:bodyPr anchorCtr="0" anchor="t"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4" name="Google Shape;74;p38"/>
          <p:cNvSpPr txBox="1"/>
          <p:nvPr>
            <p:ph idx="12" type="sldNum"/>
          </p:nvPr>
        </p:nvSpPr>
        <p:spPr>
          <a:xfrm>
            <a:off x="7346950" y="6248400"/>
            <a:ext cx="20637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r>
              <a:rPr lang="en-US"/>
              <a:t>/35</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9pPr>
          </a:lstStyle>
          <a:p/>
        </p:txBody>
      </p:sp>
      <p:sp>
        <p:nvSpPr>
          <p:cNvPr id="11" name="Google Shape;11;p35"/>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35"/>
          <p:cNvSpPr txBox="1"/>
          <p:nvPr/>
        </p:nvSpPr>
        <p:spPr>
          <a:xfrm>
            <a:off x="0" y="908050"/>
            <a:ext cx="4159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35"/>
          <p:cNvSpPr txBox="1"/>
          <p:nvPr/>
        </p:nvSpPr>
        <p:spPr>
          <a:xfrm>
            <a:off x="0" y="762000"/>
            <a:ext cx="704850" cy="60960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35"/>
          <p:cNvSpPr txBox="1"/>
          <p:nvPr/>
        </p:nvSpPr>
        <p:spPr>
          <a:xfrm rot="-5400000">
            <a:off x="-1167606" y="4823618"/>
            <a:ext cx="33972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3F3"/>
              </a:buClr>
              <a:buSzPts val="1800"/>
              <a:buFont typeface="Arial"/>
              <a:buNone/>
            </a:pPr>
            <a:r>
              <a:rPr b="1" i="0" lang="en-US" sz="1800" u="none">
                <a:solidFill>
                  <a:srgbClr val="FFF3F3"/>
                </a:solidFill>
                <a:latin typeface="Arial"/>
                <a:ea typeface="Arial"/>
                <a:cs typeface="Arial"/>
                <a:sym typeface="Arial"/>
              </a:rPr>
              <a:t>Cấu  trúc dữ liệu và thuật giải</a:t>
            </a:r>
            <a:endParaRPr/>
          </a:p>
        </p:txBody>
      </p:sp>
      <p:sp>
        <p:nvSpPr>
          <p:cNvPr id="15" name="Google Shape;15;p35"/>
          <p:cNvSpPr txBox="1"/>
          <p:nvPr/>
        </p:nvSpPr>
        <p:spPr>
          <a:xfrm>
            <a:off x="0" y="762000"/>
            <a:ext cx="704850" cy="6096000"/>
          </a:xfrm>
          <a:prstGeom prst="rect">
            <a:avLst/>
          </a:prstGeom>
          <a:solidFill>
            <a:srgbClr val="FFCC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 name="Google Shape;16;p35"/>
          <p:cNvSpPr txBox="1"/>
          <p:nvPr/>
        </p:nvSpPr>
        <p:spPr>
          <a:xfrm rot="-5400000">
            <a:off x="-1199356" y="4937918"/>
            <a:ext cx="33035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66"/>
              </a:buClr>
              <a:buSzPts val="1400"/>
              <a:buFont typeface="Arial"/>
              <a:buNone/>
            </a:pPr>
            <a:r>
              <a:rPr b="1" i="0" lang="en-US" sz="1400" u="none">
                <a:solidFill>
                  <a:srgbClr val="003366"/>
                </a:solidFill>
                <a:latin typeface="Arial"/>
                <a:ea typeface="Arial"/>
                <a:cs typeface="Arial"/>
                <a:sym typeface="Arial"/>
              </a:rPr>
              <a:t>CẤU TRÚC DỮ LIỆU VÀ GIẢI THUẬT </a:t>
            </a:r>
            <a:endParaRPr/>
          </a:p>
        </p:txBody>
      </p:sp>
      <p:pic>
        <p:nvPicPr>
          <p:cNvPr id="17" name="Google Shape;17;p35"/>
          <p:cNvPicPr preferRelativeResize="0"/>
          <p:nvPr/>
        </p:nvPicPr>
        <p:blipFill rotWithShape="1">
          <a:blip r:embed="rId1">
            <a:alphaModFix/>
          </a:blip>
          <a:srcRect b="0" l="0" r="0" t="0"/>
          <a:stretch/>
        </p:blipFill>
        <p:spPr>
          <a:xfrm>
            <a:off x="0" y="0"/>
            <a:ext cx="704850" cy="762000"/>
          </a:xfrm>
          <a:prstGeom prst="rect">
            <a:avLst/>
          </a:prstGeom>
          <a:noFill/>
          <a:ln>
            <a:noFill/>
          </a:ln>
        </p:spPr>
      </p:pic>
      <p:sp>
        <p:nvSpPr>
          <p:cNvPr id="18" name="Google Shape;18;p35"/>
          <p:cNvSpPr txBox="1"/>
          <p:nvPr/>
        </p:nvSpPr>
        <p:spPr>
          <a:xfrm>
            <a:off x="776287" y="79375"/>
            <a:ext cx="8929687" cy="609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Click To Edit Master Title Style</a:t>
            </a:r>
            <a:endParaRPr/>
          </a:p>
        </p:txBody>
      </p:sp>
      <p:sp>
        <p:nvSpPr>
          <p:cNvPr id="19" name="Google Shape;19;p35"/>
          <p:cNvSpPr txBox="1"/>
          <p:nvPr/>
        </p:nvSpPr>
        <p:spPr>
          <a:xfrm>
            <a:off x="9272587" y="6446837"/>
            <a:ext cx="9366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fld id="{00000000-1234-1234-1234-123412341234}" type="slidenum">
              <a:rPr b="0" i="0" lang="en-US" sz="1800" u="none">
                <a:solidFill>
                  <a:schemeClr val="dk1"/>
                </a:solidFill>
                <a:latin typeface="Arial"/>
                <a:ea typeface="Arial"/>
                <a:cs typeface="Arial"/>
                <a:sym typeface="Arial"/>
              </a:rPr>
              <a:t>‹#›</a:t>
            </a:fld>
            <a:r>
              <a:rPr b="0" i="0" lang="en-US" sz="1800" u="none">
                <a:solidFill>
                  <a:schemeClr val="dk1"/>
                </a:solidFill>
                <a:latin typeface="Arial"/>
                <a:ea typeface="Arial"/>
                <a:cs typeface="Arial"/>
                <a:sym typeface="Arial"/>
              </a:rPr>
              <a:t> </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37"/>
          <p:cNvSpPr txBox="1"/>
          <p:nvPr/>
        </p:nvSpPr>
        <p:spPr>
          <a:xfrm>
            <a:off x="0" y="908050"/>
            <a:ext cx="4158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 name="Google Shape;58;p37"/>
          <p:cNvSpPr txBox="1"/>
          <p:nvPr/>
        </p:nvSpPr>
        <p:spPr>
          <a:xfrm>
            <a:off x="0" y="762000"/>
            <a:ext cx="705000" cy="60960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 name="Google Shape;59;p37"/>
          <p:cNvSpPr txBox="1"/>
          <p:nvPr/>
        </p:nvSpPr>
        <p:spPr>
          <a:xfrm rot="-5400000">
            <a:off x="-1167637" y="4823699"/>
            <a:ext cx="33972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3F3"/>
              </a:buClr>
              <a:buSzPts val="1800"/>
              <a:buFont typeface="Arial"/>
              <a:buNone/>
            </a:pPr>
            <a:r>
              <a:rPr b="1" i="0" lang="en-US" sz="1800" u="none">
                <a:solidFill>
                  <a:srgbClr val="FFF3F3"/>
                </a:solidFill>
                <a:latin typeface="Arial"/>
                <a:ea typeface="Arial"/>
                <a:cs typeface="Arial"/>
                <a:sym typeface="Arial"/>
              </a:rPr>
              <a:t>Cấu  trúc dữ liệu và thuật giải</a:t>
            </a:r>
            <a:endParaRPr/>
          </a:p>
        </p:txBody>
      </p:sp>
      <p:sp>
        <p:nvSpPr>
          <p:cNvPr id="60" name="Google Shape;60;p37"/>
          <p:cNvSpPr txBox="1"/>
          <p:nvPr/>
        </p:nvSpPr>
        <p:spPr>
          <a:xfrm>
            <a:off x="0" y="762000"/>
            <a:ext cx="705000" cy="6096000"/>
          </a:xfrm>
          <a:prstGeom prst="rect">
            <a:avLst/>
          </a:prstGeom>
          <a:solidFill>
            <a:srgbClr val="FFCC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 name="Google Shape;61;p37"/>
          <p:cNvSpPr txBox="1"/>
          <p:nvPr/>
        </p:nvSpPr>
        <p:spPr>
          <a:xfrm rot="-5400000">
            <a:off x="-1199362" y="4937912"/>
            <a:ext cx="33036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66"/>
              </a:buClr>
              <a:buSzPts val="1400"/>
              <a:buFont typeface="Arial"/>
              <a:buNone/>
            </a:pPr>
            <a:r>
              <a:rPr b="1" i="0" lang="en-US" sz="1400" u="none">
                <a:solidFill>
                  <a:srgbClr val="003366"/>
                </a:solidFill>
                <a:latin typeface="Arial"/>
                <a:ea typeface="Arial"/>
                <a:cs typeface="Arial"/>
                <a:sym typeface="Arial"/>
              </a:rPr>
              <a:t>CẤU TRÚC DỮ LIỆU VÀ GIẢI THUẬT </a:t>
            </a:r>
            <a:endParaRPr/>
          </a:p>
        </p:txBody>
      </p:sp>
      <p:pic>
        <p:nvPicPr>
          <p:cNvPr id="62" name="Google Shape;62;p37"/>
          <p:cNvPicPr preferRelativeResize="0"/>
          <p:nvPr/>
        </p:nvPicPr>
        <p:blipFill rotWithShape="1">
          <a:blip r:embed="rId1">
            <a:alphaModFix/>
          </a:blip>
          <a:srcRect b="0" l="0" r="0" t="0"/>
          <a:stretch/>
        </p:blipFill>
        <p:spPr>
          <a:xfrm>
            <a:off x="0" y="0"/>
            <a:ext cx="704850" cy="762000"/>
          </a:xfrm>
          <a:prstGeom prst="rect">
            <a:avLst/>
          </a:prstGeom>
          <a:noFill/>
          <a:ln>
            <a:noFill/>
          </a:ln>
        </p:spPr>
      </p:pic>
      <p:sp>
        <p:nvSpPr>
          <p:cNvPr id="63" name="Google Shape;63;p37"/>
          <p:cNvSpPr txBox="1"/>
          <p:nvPr/>
        </p:nvSpPr>
        <p:spPr>
          <a:xfrm>
            <a:off x="776287" y="79375"/>
            <a:ext cx="8929800" cy="609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Click To Edit Master Title Style</a:t>
            </a:r>
            <a:endParaRPr/>
          </a:p>
        </p:txBody>
      </p:sp>
      <p:sp>
        <p:nvSpPr>
          <p:cNvPr id="64" name="Google Shape;64;p37"/>
          <p:cNvSpPr txBox="1"/>
          <p:nvPr/>
        </p:nvSpPr>
        <p:spPr>
          <a:xfrm>
            <a:off x="9272587" y="6446837"/>
            <a:ext cx="9366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fld id="{00000000-1234-1234-1234-123412341234}" type="slidenum">
              <a:rPr b="0" i="0" lang="en-US" sz="1800" u="none">
                <a:solidFill>
                  <a:schemeClr val="dk1"/>
                </a:solidFill>
                <a:latin typeface="Arial"/>
                <a:ea typeface="Arial"/>
                <a:cs typeface="Arial"/>
                <a:sym typeface="Arial"/>
              </a:rPr>
              <a:t>‹#›</a:t>
            </a:fld>
            <a:r>
              <a:rPr b="0" i="0" lang="en-US" sz="1800" u="none">
                <a:solidFill>
                  <a:schemeClr val="dk1"/>
                </a:solidFill>
                <a:latin typeface="Arial"/>
                <a:ea typeface="Arial"/>
                <a:cs typeface="Arial"/>
                <a:sym typeface="Arial"/>
              </a:rPr>
              <a:t> </a:t>
            </a:r>
            <a:endParaRPr/>
          </a:p>
        </p:txBody>
      </p:sp>
      <p:sp>
        <p:nvSpPr>
          <p:cNvPr id="65" name="Google Shape;65;p37"/>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rgbClr val="FF6600"/>
                </a:solidFill>
                <a:latin typeface="Arial"/>
                <a:ea typeface="Arial"/>
                <a:cs typeface="Arial"/>
                <a:sym typeface="Arial"/>
              </a:defRPr>
            </a:lvl9pPr>
          </a:lstStyle>
          <a:p/>
        </p:txBody>
      </p:sp>
      <p:sp>
        <p:nvSpPr>
          <p:cNvPr id="66" name="Google Shape;66;p37"/>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7" name="Google Shape;67;p37"/>
          <p:cNvSpPr txBox="1"/>
          <p:nvPr>
            <p:ph idx="10" type="dt"/>
          </p:nvPr>
        </p:nvSpPr>
        <p:spPr>
          <a:xfrm>
            <a:off x="990600" y="6251575"/>
            <a:ext cx="21462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8" name="Google Shape;68;p37"/>
          <p:cNvSpPr txBox="1"/>
          <p:nvPr>
            <p:ph idx="11" type="ftr"/>
          </p:nvPr>
        </p:nvSpPr>
        <p:spPr>
          <a:xfrm>
            <a:off x="3632200" y="6248400"/>
            <a:ext cx="3219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9" name="Google Shape;69;p37"/>
          <p:cNvSpPr txBox="1"/>
          <p:nvPr>
            <p:ph idx="12" type="sldNum"/>
          </p:nvPr>
        </p:nvSpPr>
        <p:spPr>
          <a:xfrm>
            <a:off x="7346950" y="6248400"/>
            <a:ext cx="20637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800"/>
              <a:buFont typeface="Arial"/>
              <a:buNone/>
              <a:defRPr b="0" i="0" sz="18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r>
              <a:rPr lang="en-US"/>
              <a:t>/35</a:t>
            </a:r>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1"/>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Queue bằng List</a:t>
            </a:r>
            <a:endParaRPr/>
          </a:p>
        </p:txBody>
      </p:sp>
      <p:sp>
        <p:nvSpPr>
          <p:cNvPr id="80" name="Google Shape;80;p31"/>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Kiểm tra Queue có rỗng?</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int IsEmpty(List &amp;Q)</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if(Q.pHead==NULL)//Queue rỗng</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3F3"/>
              </a:buClr>
              <a:buSzPts val="4400"/>
              <a:buFont typeface="Arial"/>
              <a:buNone/>
            </a:pPr>
            <a:r>
              <a:rPr b="0" i="0" lang="en-US" sz="4400" u="none">
                <a:solidFill>
                  <a:srgbClr val="FFF3F3"/>
                </a:solidFill>
                <a:latin typeface="Arial"/>
                <a:ea typeface="Arial"/>
                <a:cs typeface="Arial"/>
                <a:sym typeface="Arial"/>
              </a:rPr>
              <a:t>NỘI DUNG</a:t>
            </a:r>
            <a:endParaRPr/>
          </a:p>
        </p:txBody>
      </p:sp>
      <p:grpSp>
        <p:nvGrpSpPr>
          <p:cNvPr id="86" name="Google Shape;86;p1"/>
          <p:cNvGrpSpPr/>
          <p:nvPr/>
        </p:nvGrpSpPr>
        <p:grpSpPr>
          <a:xfrm>
            <a:off x="1065212" y="2708275"/>
            <a:ext cx="8378296" cy="1425697"/>
            <a:chOff x="960" y="2256"/>
            <a:chExt cx="4260" cy="600"/>
          </a:xfrm>
        </p:grpSpPr>
        <p:sp>
          <p:nvSpPr>
            <p:cNvPr id="87" name="Google Shape;87;p1"/>
            <p:cNvSpPr/>
            <p:nvPr/>
          </p:nvSpPr>
          <p:spPr>
            <a:xfrm>
              <a:off x="1320" y="2364"/>
              <a:ext cx="3900" cy="300"/>
            </a:xfrm>
            <a:prstGeom prst="roundRect">
              <a:avLst>
                <a:gd fmla="val 16667" name="adj"/>
              </a:avLst>
            </a:prstGeom>
            <a:solidFill>
              <a:schemeClr val="hlink"/>
            </a:solidFill>
            <a:ln cap="flat" cmpd="sng" w="12700">
              <a:solidFill>
                <a:schemeClr val="lt1"/>
              </a:solidFill>
              <a:prstDash val="solid"/>
              <a:miter lim="800000"/>
              <a:headEnd len="sm" w="sm" type="none"/>
              <a:tailEnd len="sm" w="sm" type="none"/>
            </a:ln>
            <a:effectLst>
              <a:outerShdw blurRad="63500" dir="2388334" dist="99190">
                <a:srgbClr val="333333">
                  <a:alpha val="498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 name="Google Shape;88;p1"/>
            <p:cNvSpPr/>
            <p:nvPr/>
          </p:nvSpPr>
          <p:spPr>
            <a:xfrm>
              <a:off x="960" y="2256"/>
              <a:ext cx="600" cy="600"/>
            </a:xfrm>
            <a:prstGeom prst="diamond">
              <a:avLst/>
            </a:prstGeom>
            <a:solidFill>
              <a:schemeClr val="hlink"/>
            </a:solidFill>
            <a:ln cap="flat" cmpd="sng" w="25400">
              <a:solidFill>
                <a:schemeClr val="lt1"/>
              </a:solidFill>
              <a:prstDash val="solid"/>
              <a:miter lim="800000"/>
              <a:headEnd len="sm" w="sm" type="none"/>
              <a:tailEnd len="sm" w="sm" type="none"/>
            </a:ln>
            <a:effectLst>
              <a:outerShdw blurRad="63500" dir="2212194" dist="63500">
                <a:srgbClr val="333333">
                  <a:alpha val="498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 name="Google Shape;89;p1"/>
            <p:cNvSpPr txBox="1"/>
            <p:nvPr/>
          </p:nvSpPr>
          <p:spPr>
            <a:xfrm>
              <a:off x="1560" y="2457"/>
              <a:ext cx="3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3F3"/>
                </a:buClr>
                <a:buSzPts val="2800"/>
                <a:buFont typeface="Arial"/>
                <a:buNone/>
              </a:pPr>
              <a:r>
                <a:rPr b="1" i="0" lang="en-US" sz="2800" u="none">
                  <a:solidFill>
                    <a:srgbClr val="FFF3F3"/>
                  </a:solidFill>
                  <a:latin typeface="Arial"/>
                  <a:ea typeface="Arial"/>
                  <a:cs typeface="Arial"/>
                  <a:sym typeface="Arial"/>
                </a:rPr>
                <a:t>STACK - QUEUE</a:t>
              </a:r>
              <a:endParaRPr/>
            </a:p>
          </p:txBody>
        </p:sp>
        <p:sp>
          <p:nvSpPr>
            <p:cNvPr id="90" name="Google Shape;90;p1"/>
            <p:cNvSpPr txBox="1"/>
            <p:nvPr/>
          </p:nvSpPr>
          <p:spPr>
            <a:xfrm>
              <a:off x="1226" y="2400"/>
              <a:ext cx="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4000"/>
              <a:buFont typeface="Arial"/>
              <a:buNone/>
            </a:pPr>
            <a:r>
              <a:rPr b="0" i="0" lang="en-US" sz="4000" u="none">
                <a:solidFill>
                  <a:srgbClr val="FFF3F3"/>
                </a:solidFill>
                <a:latin typeface="Arial"/>
                <a:ea typeface="Arial"/>
                <a:cs typeface="Arial"/>
                <a:sym typeface="Arial"/>
              </a:rPr>
              <a:t>STACK</a:t>
            </a:r>
            <a:endParaRPr/>
          </a:p>
        </p:txBody>
      </p:sp>
      <p:sp>
        <p:nvSpPr>
          <p:cNvPr id="96" name="Google Shape;96;p2"/>
          <p:cNvSpPr txBox="1"/>
          <p:nvPr>
            <p:ph idx="1" type="body"/>
          </p:nvPr>
        </p:nvSpPr>
        <p:spPr>
          <a:xfrm>
            <a:off x="776287" y="792162"/>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Stack (ngăn xếp): Là 1 vật chứa các đối tượng làm việc theo cơ chế LIFO (Last In First Out), từc việc thêm 1 đối tượng vào Stack  hoặc lấy 1 đối tượng ra khỏi Stack được thực hiện theo cơ chế “vào sau ra trước”</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grpSp>
        <p:nvGrpSpPr>
          <p:cNvPr id="97" name="Google Shape;97;p2"/>
          <p:cNvGrpSpPr/>
          <p:nvPr/>
        </p:nvGrpSpPr>
        <p:grpSpPr>
          <a:xfrm>
            <a:off x="2649537" y="3471862"/>
            <a:ext cx="3078544" cy="3226725"/>
            <a:chOff x="1728" y="1680"/>
            <a:chExt cx="2016" cy="2300"/>
          </a:xfrm>
        </p:grpSpPr>
        <p:cxnSp>
          <p:nvCxnSpPr>
            <p:cNvPr id="98" name="Google Shape;98;p2"/>
            <p:cNvCxnSpPr/>
            <p:nvPr/>
          </p:nvCxnSpPr>
          <p:spPr>
            <a:xfrm>
              <a:off x="2320" y="1880"/>
              <a:ext cx="0" cy="2100"/>
            </a:xfrm>
            <a:prstGeom prst="straightConnector1">
              <a:avLst/>
            </a:prstGeom>
            <a:noFill/>
            <a:ln cap="flat" cmpd="sng" w="76200">
              <a:solidFill>
                <a:schemeClr val="lt2"/>
              </a:solidFill>
              <a:prstDash val="solid"/>
              <a:miter lim="800000"/>
              <a:headEnd len="med" w="med" type="none"/>
              <a:tailEnd len="med" w="med" type="none"/>
            </a:ln>
          </p:spPr>
        </p:cxnSp>
        <p:cxnSp>
          <p:nvCxnSpPr>
            <p:cNvPr id="99" name="Google Shape;99;p2"/>
            <p:cNvCxnSpPr/>
            <p:nvPr/>
          </p:nvCxnSpPr>
          <p:spPr>
            <a:xfrm>
              <a:off x="2304" y="3840"/>
              <a:ext cx="900" cy="0"/>
            </a:xfrm>
            <a:prstGeom prst="straightConnector1">
              <a:avLst/>
            </a:prstGeom>
            <a:noFill/>
            <a:ln cap="flat" cmpd="sng" w="76200">
              <a:solidFill>
                <a:schemeClr val="lt2"/>
              </a:solidFill>
              <a:prstDash val="solid"/>
              <a:miter lim="800000"/>
              <a:headEnd len="med" w="med" type="none"/>
              <a:tailEnd len="med" w="med" type="none"/>
            </a:ln>
          </p:spPr>
        </p:cxnSp>
        <p:cxnSp>
          <p:nvCxnSpPr>
            <p:cNvPr id="100" name="Google Shape;100;p2"/>
            <p:cNvCxnSpPr/>
            <p:nvPr/>
          </p:nvCxnSpPr>
          <p:spPr>
            <a:xfrm rot="10800000">
              <a:off x="3056" y="1756"/>
              <a:ext cx="0" cy="2100"/>
            </a:xfrm>
            <a:prstGeom prst="straightConnector1">
              <a:avLst/>
            </a:prstGeom>
            <a:noFill/>
            <a:ln cap="flat" cmpd="sng" w="76200">
              <a:solidFill>
                <a:schemeClr val="lt2"/>
              </a:solidFill>
              <a:prstDash val="solid"/>
              <a:miter lim="800000"/>
              <a:headEnd len="med" w="med" type="none"/>
              <a:tailEnd len="med" w="med" type="none"/>
            </a:ln>
          </p:spPr>
        </p:cxnSp>
        <p:sp>
          <p:nvSpPr>
            <p:cNvPr id="101" name="Google Shape;101;p2"/>
            <p:cNvSpPr/>
            <p:nvPr/>
          </p:nvSpPr>
          <p:spPr>
            <a:xfrm>
              <a:off x="2624" y="3504"/>
              <a:ext cx="144" cy="265"/>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FFFFFF"/>
                  </a:solidFill>
                  <a:latin typeface="Arial"/>
                </a:rPr>
                <a:t>5 </a:t>
              </a:r>
            </a:p>
          </p:txBody>
        </p:sp>
        <p:sp>
          <p:nvSpPr>
            <p:cNvPr id="102" name="Google Shape;102;p2"/>
            <p:cNvSpPr/>
            <p:nvPr/>
          </p:nvSpPr>
          <p:spPr>
            <a:xfrm>
              <a:off x="2624" y="3168"/>
              <a:ext cx="145" cy="264"/>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FFFFFF"/>
                  </a:solidFill>
                  <a:latin typeface="Arial"/>
                </a:rPr>
                <a:t>2 </a:t>
              </a:r>
            </a:p>
          </p:txBody>
        </p:sp>
        <p:sp>
          <p:nvSpPr>
            <p:cNvPr id="103" name="Google Shape;103;p2"/>
            <p:cNvSpPr/>
            <p:nvPr/>
          </p:nvSpPr>
          <p:spPr>
            <a:xfrm>
              <a:off x="2624" y="2832"/>
              <a:ext cx="144" cy="265"/>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FFFFFF"/>
                  </a:solidFill>
                  <a:latin typeface="Arial"/>
                </a:rPr>
                <a:t>3 </a:t>
              </a:r>
            </a:p>
          </p:txBody>
        </p:sp>
        <p:sp>
          <p:nvSpPr>
            <p:cNvPr id="104" name="Google Shape;104;p2"/>
            <p:cNvSpPr/>
            <p:nvPr/>
          </p:nvSpPr>
          <p:spPr>
            <a:xfrm>
              <a:off x="2784" y="1680"/>
              <a:ext cx="600" cy="300"/>
            </a:xfrm>
            <a:prstGeom prst="curvedDownArrow">
              <a:avLst>
                <a:gd fmla="val 25000" name="adj1"/>
                <a:gd fmla="val 50000" name="adj2"/>
                <a:gd fmla="val 25000" name="adj3"/>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 name="Google Shape;105;p2"/>
            <p:cNvSpPr/>
            <p:nvPr/>
          </p:nvSpPr>
          <p:spPr>
            <a:xfrm>
              <a:off x="1968" y="1680"/>
              <a:ext cx="600" cy="300"/>
            </a:xfrm>
            <a:prstGeom prst="curvedDownArrow">
              <a:avLst>
                <a:gd fmla="val 25000" name="adj1"/>
                <a:gd fmla="val 50000" name="adj2"/>
                <a:gd fmla="val 25000" name="adj3"/>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2"/>
            <p:cNvSpPr/>
            <p:nvPr/>
          </p:nvSpPr>
          <p:spPr>
            <a:xfrm>
              <a:off x="1728" y="2016"/>
              <a:ext cx="481" cy="391"/>
            </a:xfrm>
            <a:prstGeom prst="rect">
              <a:avLst/>
            </a:prstGeom>
          </p:spPr>
          <p:txBody>
            <a:bodyPr>
              <a:prstTxWarp prst="textPlain"/>
            </a:bodyPr>
            <a:lstStyle/>
            <a:p>
              <a:pPr lvl="0" algn="l"/>
              <a:r>
                <a:rPr b="0" i="0">
                  <a:ln cap="flat" cmpd="sng" w="9525">
                    <a:solidFill>
                      <a:schemeClr val="dk1"/>
                    </a:solidFill>
                    <a:prstDash val="solid"/>
                    <a:miter lim="800000"/>
                    <a:headEnd len="sm" w="sm" type="none"/>
                    <a:tailEnd len="sm" w="sm" type="none"/>
                  </a:ln>
                  <a:solidFill>
                    <a:srgbClr val="FFCC00"/>
                  </a:solidFill>
                  <a:latin typeface="Arial"/>
                </a:rPr>
                <a:t>Push </a:t>
              </a:r>
            </a:p>
          </p:txBody>
        </p:sp>
        <p:sp>
          <p:nvSpPr>
            <p:cNvPr id="107" name="Google Shape;107;p2"/>
            <p:cNvSpPr/>
            <p:nvPr/>
          </p:nvSpPr>
          <p:spPr>
            <a:xfrm>
              <a:off x="3168" y="1968"/>
              <a:ext cx="478" cy="391"/>
            </a:xfrm>
            <a:prstGeom prst="rect">
              <a:avLst/>
            </a:prstGeom>
          </p:spPr>
          <p:txBody>
            <a:bodyPr>
              <a:prstTxWarp prst="textPlain"/>
            </a:bodyPr>
            <a:lstStyle/>
            <a:p>
              <a:pPr lvl="0" algn="l"/>
              <a:r>
                <a:rPr b="0" i="0">
                  <a:ln cap="flat" cmpd="sng" w="9525">
                    <a:solidFill>
                      <a:schemeClr val="dk1"/>
                    </a:solidFill>
                    <a:prstDash val="solid"/>
                    <a:miter lim="800000"/>
                    <a:headEnd len="sm" w="sm" type="none"/>
                    <a:tailEnd len="sm" w="sm" type="none"/>
                  </a:ln>
                  <a:solidFill>
                    <a:schemeClr val="accent1"/>
                  </a:solidFill>
                  <a:latin typeface="Arial"/>
                </a:rPr>
                <a:t>Pop </a:t>
              </a:r>
            </a:p>
          </p:txBody>
        </p:sp>
        <p:sp>
          <p:nvSpPr>
            <p:cNvPr id="108" name="Google Shape;108;p2"/>
            <p:cNvSpPr/>
            <p:nvPr/>
          </p:nvSpPr>
          <p:spPr>
            <a:xfrm>
              <a:off x="3120" y="2640"/>
              <a:ext cx="624" cy="527"/>
            </a:xfrm>
            <a:prstGeom prst="rect">
              <a:avLst/>
            </a:prstGeom>
          </p:spPr>
          <p:txBody>
            <a:bodyPr>
              <a:prstTxWarp prst="textPlain"/>
            </a:bodyPr>
            <a:lstStyle/>
            <a:p>
              <a:pPr lvl="0" algn="l"/>
              <a:r>
                <a:rPr b="0" i="0">
                  <a:ln cap="flat" cmpd="sng" w="9525">
                    <a:solidFill>
                      <a:schemeClr val="dk1"/>
                    </a:solidFill>
                    <a:prstDash val="solid"/>
                    <a:miter lim="800000"/>
                    <a:headEnd len="sm" w="sm" type="none"/>
                    <a:tailEnd len="sm" w="sm" type="none"/>
                  </a:ln>
                  <a:solidFill>
                    <a:srgbClr val="FFCC00"/>
                  </a:solidFill>
                  <a:latin typeface="Arial"/>
                </a:rPr>
                <a:t>Stack </a:t>
              </a:r>
            </a:p>
          </p:txBody>
        </p:sp>
      </p:grpSp>
      <p:pic>
        <p:nvPicPr>
          <p:cNvPr id="109" name="Google Shape;109;p2"/>
          <p:cNvPicPr preferRelativeResize="0"/>
          <p:nvPr/>
        </p:nvPicPr>
        <p:blipFill rotWithShape="1">
          <a:blip r:embed="rId3">
            <a:alphaModFix/>
          </a:blip>
          <a:srcRect b="0" l="0" r="0" t="0"/>
          <a:stretch/>
        </p:blipFill>
        <p:spPr>
          <a:xfrm>
            <a:off x="6248400" y="3074987"/>
            <a:ext cx="2657475" cy="381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Các thao tác trên Stack</a:t>
            </a:r>
            <a:endParaRPr/>
          </a:p>
        </p:txBody>
      </p:sp>
      <p:sp>
        <p:nvSpPr>
          <p:cNvPr id="115" name="Google Shape;115;p3"/>
          <p:cNvSpPr txBox="1"/>
          <p:nvPr>
            <p:ph idx="1" type="body"/>
          </p:nvPr>
        </p:nvSpPr>
        <p:spPr>
          <a:xfrm>
            <a:off x="776287" y="908050"/>
            <a:ext cx="9129600" cy="39591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Push(o): Thêm đối tượng o vào Stack</a:t>
            </a:r>
            <a:endParaRPr/>
          </a:p>
          <a:p>
            <a:pPr indent="-342900" lvl="0" marL="342900" rtl="0" algn="l">
              <a:lnSpc>
                <a:spcPct val="12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Pop(): Lấy đối tượng từ Stack</a:t>
            </a:r>
            <a:endParaRPr/>
          </a:p>
          <a:p>
            <a:pPr indent="-342900" lvl="0" marL="342900" rtl="0" algn="l">
              <a:lnSpc>
                <a:spcPct val="12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isEmpty(): Kiểm tra Stack có rỗng hay không</a:t>
            </a:r>
            <a:endParaRPr/>
          </a:p>
          <a:p>
            <a:pPr indent="-342900" lvl="0" marL="342900" rtl="0" algn="l">
              <a:lnSpc>
                <a:spcPct val="12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Top():  Trả về giá trị của phần tử nằm đầu Stack mà không hủy nó khỏi Stack.</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pic>
        <p:nvPicPr>
          <p:cNvPr id="116" name="Google Shape;116;p3"/>
          <p:cNvPicPr preferRelativeResize="0"/>
          <p:nvPr/>
        </p:nvPicPr>
        <p:blipFill rotWithShape="1">
          <a:blip r:embed="rId3">
            <a:alphaModFix/>
          </a:blip>
          <a:srcRect b="0" l="0" r="0" t="0"/>
          <a:stretch/>
        </p:blipFill>
        <p:spPr>
          <a:xfrm>
            <a:off x="752475" y="4292600"/>
            <a:ext cx="8401050" cy="2486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Stack</a:t>
            </a:r>
            <a:endParaRPr/>
          </a:p>
        </p:txBody>
      </p:sp>
      <p:graphicFrame>
        <p:nvGraphicFramePr>
          <p:cNvPr id="122" name="Google Shape;122;p4"/>
          <p:cNvGraphicFramePr/>
          <p:nvPr/>
        </p:nvGraphicFramePr>
        <p:xfrm>
          <a:off x="1136650" y="1773237"/>
          <a:ext cx="6912000" cy="1008000"/>
        </p:xfrm>
        <a:graphic>
          <a:graphicData uri="http://schemas.openxmlformats.org/presentationml/2006/ole">
            <mc:AlternateContent>
              <mc:Choice Requires="v">
                <p:oleObj r:id="rId4" imgH="1008000" imgW="6912000" progId="MSDraw.Drawing.8.1" spid="_x0000_s1">
                  <p:embed/>
                </p:oleObj>
              </mc:Choice>
              <mc:Fallback>
                <p:oleObj r:id="rId5" imgH="1008000" imgW="6912000" progId="MSDraw.Drawing.8.1">
                  <p:embed/>
                  <p:pic>
                    <p:nvPicPr>
                      <p:cNvPr id="122" name="Google Shape;122;p4"/>
                      <p:cNvPicPr preferRelativeResize="0"/>
                      <p:nvPr>
                        <p:ph idx="1" type="body"/>
                      </p:nvPr>
                    </p:nvPicPr>
                    <p:blipFill rotWithShape="1">
                      <a:blip r:embed="rId6">
                        <a:alphaModFix/>
                      </a:blip>
                      <a:srcRect b="0" l="0" r="0" t="0"/>
                      <a:stretch/>
                    </p:blipFill>
                    <p:spPr>
                      <a:xfrm>
                        <a:off x="1136650" y="1773237"/>
                        <a:ext cx="6912000" cy="1008000"/>
                      </a:xfrm>
                      <a:prstGeom prst="rect">
                        <a:avLst/>
                      </a:prstGeom>
                      <a:noFill/>
                      <a:ln>
                        <a:noFill/>
                      </a:ln>
                    </p:spPr>
                  </p:pic>
                </p:oleObj>
              </mc:Fallback>
            </mc:AlternateContent>
          </a:graphicData>
        </a:graphic>
      </p:graphicFrame>
      <p:sp>
        <p:nvSpPr>
          <p:cNvPr id="123" name="Google Shape;123;p4"/>
          <p:cNvSpPr txBox="1"/>
          <p:nvPr/>
        </p:nvSpPr>
        <p:spPr>
          <a:xfrm>
            <a:off x="849312" y="981075"/>
            <a:ext cx="5040300" cy="519000"/>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Dùng mảng 1 chiều</a:t>
            </a:r>
            <a:endParaRPr/>
          </a:p>
        </p:txBody>
      </p:sp>
      <p:sp>
        <p:nvSpPr>
          <p:cNvPr id="124" name="Google Shape;124;p4"/>
          <p:cNvSpPr txBox="1"/>
          <p:nvPr/>
        </p:nvSpPr>
        <p:spPr>
          <a:xfrm>
            <a:off x="849312" y="3716337"/>
            <a:ext cx="5616600" cy="519000"/>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Arial"/>
                <a:ea typeface="Arial"/>
                <a:cs typeface="Arial"/>
                <a:sym typeface="Arial"/>
              </a:rPr>
              <a:t>  Dùng danh sách liên kết đơn</a:t>
            </a:r>
            <a:endParaRPr/>
          </a:p>
        </p:txBody>
      </p:sp>
      <p:grpSp>
        <p:nvGrpSpPr>
          <p:cNvPr id="125" name="Google Shape;125;p4"/>
          <p:cNvGrpSpPr/>
          <p:nvPr/>
        </p:nvGrpSpPr>
        <p:grpSpPr>
          <a:xfrm>
            <a:off x="920750" y="4221162"/>
            <a:ext cx="7310632" cy="949325"/>
            <a:chOff x="580" y="2614"/>
            <a:chExt cx="4210" cy="598"/>
          </a:xfrm>
        </p:grpSpPr>
        <p:sp>
          <p:nvSpPr>
            <p:cNvPr id="126" name="Google Shape;126;p4"/>
            <p:cNvSpPr txBox="1"/>
            <p:nvPr/>
          </p:nvSpPr>
          <p:spPr>
            <a:xfrm>
              <a:off x="4669" y="2912"/>
              <a:ext cx="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27" name="Google Shape;127;p4"/>
            <p:cNvGrpSpPr/>
            <p:nvPr/>
          </p:nvGrpSpPr>
          <p:grpSpPr>
            <a:xfrm>
              <a:off x="1871" y="2795"/>
              <a:ext cx="358" cy="266"/>
              <a:chOff x="2640" y="2681"/>
              <a:chExt cx="600" cy="300"/>
            </a:xfrm>
          </p:grpSpPr>
          <p:sp>
            <p:nvSpPr>
              <p:cNvPr id="128" name="Google Shape;128;p4"/>
              <p:cNvSpPr txBox="1"/>
              <p:nvPr/>
            </p:nvSpPr>
            <p:spPr>
              <a:xfrm>
                <a:off x="3150" y="2681"/>
                <a:ext cx="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 name="Google Shape;129;p4"/>
              <p:cNvSpPr txBox="1"/>
              <p:nvPr/>
            </p:nvSpPr>
            <p:spPr>
              <a:xfrm>
                <a:off x="2640" y="2681"/>
                <a:ext cx="6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a:t>
                </a:r>
                <a:endParaRPr/>
              </a:p>
            </p:txBody>
          </p:sp>
        </p:grpSp>
        <p:grpSp>
          <p:nvGrpSpPr>
            <p:cNvPr id="130" name="Google Shape;130;p4"/>
            <p:cNvGrpSpPr/>
            <p:nvPr/>
          </p:nvGrpSpPr>
          <p:grpSpPr>
            <a:xfrm>
              <a:off x="2440" y="2795"/>
              <a:ext cx="382" cy="263"/>
              <a:chOff x="3524" y="2681"/>
              <a:chExt cx="600" cy="300"/>
            </a:xfrm>
          </p:grpSpPr>
          <p:sp>
            <p:nvSpPr>
              <p:cNvPr id="131" name="Google Shape;131;p4"/>
              <p:cNvSpPr txBox="1"/>
              <p:nvPr/>
            </p:nvSpPr>
            <p:spPr>
              <a:xfrm>
                <a:off x="4026" y="2681"/>
                <a:ext cx="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 name="Google Shape;132;p4"/>
              <p:cNvSpPr txBox="1"/>
              <p:nvPr/>
            </p:nvSpPr>
            <p:spPr>
              <a:xfrm>
                <a:off x="3524" y="2681"/>
                <a:ext cx="6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5</a:t>
                </a:r>
                <a:endParaRPr/>
              </a:p>
            </p:txBody>
          </p:sp>
        </p:grpSp>
        <p:grpSp>
          <p:nvGrpSpPr>
            <p:cNvPr id="133" name="Google Shape;133;p4"/>
            <p:cNvGrpSpPr/>
            <p:nvPr/>
          </p:nvGrpSpPr>
          <p:grpSpPr>
            <a:xfrm>
              <a:off x="3000" y="2795"/>
              <a:ext cx="368" cy="263"/>
              <a:chOff x="4409" y="2681"/>
              <a:chExt cx="600" cy="300"/>
            </a:xfrm>
          </p:grpSpPr>
          <p:sp>
            <p:nvSpPr>
              <p:cNvPr id="134" name="Google Shape;134;p4"/>
              <p:cNvSpPr txBox="1"/>
              <p:nvPr/>
            </p:nvSpPr>
            <p:spPr>
              <a:xfrm>
                <a:off x="4911" y="2681"/>
                <a:ext cx="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5" name="Google Shape;135;p4"/>
              <p:cNvSpPr txBox="1"/>
              <p:nvPr/>
            </p:nvSpPr>
            <p:spPr>
              <a:xfrm>
                <a:off x="4409" y="2681"/>
                <a:ext cx="6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1</a:t>
                </a:r>
                <a:endParaRPr/>
              </a:p>
            </p:txBody>
          </p:sp>
        </p:grpSp>
        <p:grpSp>
          <p:nvGrpSpPr>
            <p:cNvPr id="136" name="Google Shape;136;p4"/>
            <p:cNvGrpSpPr/>
            <p:nvPr/>
          </p:nvGrpSpPr>
          <p:grpSpPr>
            <a:xfrm>
              <a:off x="3558" y="2795"/>
              <a:ext cx="396" cy="263"/>
              <a:chOff x="5283" y="2681"/>
              <a:chExt cx="600" cy="300"/>
            </a:xfrm>
          </p:grpSpPr>
          <p:sp>
            <p:nvSpPr>
              <p:cNvPr id="137" name="Google Shape;137;p4"/>
              <p:cNvSpPr txBox="1"/>
              <p:nvPr/>
            </p:nvSpPr>
            <p:spPr>
              <a:xfrm>
                <a:off x="5786" y="2681"/>
                <a:ext cx="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 name="Google Shape;138;p4"/>
              <p:cNvSpPr txBox="1"/>
              <p:nvPr/>
            </p:nvSpPr>
            <p:spPr>
              <a:xfrm>
                <a:off x="5283" y="2681"/>
                <a:ext cx="6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grpSp>
        <p:grpSp>
          <p:nvGrpSpPr>
            <p:cNvPr id="139" name="Google Shape;139;p4"/>
            <p:cNvGrpSpPr/>
            <p:nvPr/>
          </p:nvGrpSpPr>
          <p:grpSpPr>
            <a:xfrm>
              <a:off x="4121" y="2795"/>
              <a:ext cx="380" cy="263"/>
              <a:chOff x="6167" y="2681"/>
              <a:chExt cx="600" cy="300"/>
            </a:xfrm>
          </p:grpSpPr>
          <p:sp>
            <p:nvSpPr>
              <p:cNvPr id="140" name="Google Shape;140;p4"/>
              <p:cNvSpPr txBox="1"/>
              <p:nvPr/>
            </p:nvSpPr>
            <p:spPr>
              <a:xfrm>
                <a:off x="6669" y="2681"/>
                <a:ext cx="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 name="Google Shape;141;p4"/>
              <p:cNvSpPr txBox="1"/>
              <p:nvPr/>
            </p:nvSpPr>
            <p:spPr>
              <a:xfrm>
                <a:off x="6167" y="2681"/>
                <a:ext cx="6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2</a:t>
                </a:r>
                <a:endParaRPr/>
              </a:p>
            </p:txBody>
          </p:sp>
        </p:grpSp>
        <p:cxnSp>
          <p:nvCxnSpPr>
            <p:cNvPr id="142" name="Google Shape;142;p4"/>
            <p:cNvCxnSpPr/>
            <p:nvPr/>
          </p:nvCxnSpPr>
          <p:spPr>
            <a:xfrm>
              <a:off x="2802" y="2969"/>
              <a:ext cx="300" cy="0"/>
            </a:xfrm>
            <a:prstGeom prst="straightConnector1">
              <a:avLst/>
            </a:prstGeom>
            <a:noFill/>
            <a:ln cap="flat" cmpd="sng" w="9525">
              <a:solidFill>
                <a:schemeClr val="dk1"/>
              </a:solidFill>
              <a:prstDash val="solid"/>
              <a:miter lim="800000"/>
              <a:headEnd len="med" w="med" type="oval"/>
              <a:tailEnd len="med" w="med" type="stealth"/>
            </a:ln>
          </p:spPr>
        </p:cxnSp>
        <p:cxnSp>
          <p:nvCxnSpPr>
            <p:cNvPr id="143" name="Google Shape;143;p4"/>
            <p:cNvCxnSpPr/>
            <p:nvPr/>
          </p:nvCxnSpPr>
          <p:spPr>
            <a:xfrm>
              <a:off x="3360" y="2976"/>
              <a:ext cx="300" cy="0"/>
            </a:xfrm>
            <a:prstGeom prst="straightConnector1">
              <a:avLst/>
            </a:prstGeom>
            <a:noFill/>
            <a:ln cap="flat" cmpd="sng" w="9525">
              <a:solidFill>
                <a:schemeClr val="dk1"/>
              </a:solidFill>
              <a:prstDash val="solid"/>
              <a:miter lim="800000"/>
              <a:headEnd len="med" w="med" type="oval"/>
              <a:tailEnd len="med" w="med" type="stealth"/>
            </a:ln>
          </p:spPr>
        </p:cxnSp>
        <p:cxnSp>
          <p:nvCxnSpPr>
            <p:cNvPr id="144" name="Google Shape;144;p4"/>
            <p:cNvCxnSpPr/>
            <p:nvPr/>
          </p:nvCxnSpPr>
          <p:spPr>
            <a:xfrm>
              <a:off x="3925" y="2976"/>
              <a:ext cx="300" cy="0"/>
            </a:xfrm>
            <a:prstGeom prst="straightConnector1">
              <a:avLst/>
            </a:prstGeom>
            <a:noFill/>
            <a:ln cap="flat" cmpd="sng" w="9525">
              <a:solidFill>
                <a:schemeClr val="dk1"/>
              </a:solidFill>
              <a:prstDash val="solid"/>
              <a:miter lim="800000"/>
              <a:headEnd len="med" w="med" type="oval"/>
              <a:tailEnd len="med" w="med" type="stealth"/>
            </a:ln>
          </p:spPr>
        </p:cxnSp>
        <p:cxnSp>
          <p:nvCxnSpPr>
            <p:cNvPr id="145" name="Google Shape;145;p4"/>
            <p:cNvCxnSpPr/>
            <p:nvPr/>
          </p:nvCxnSpPr>
          <p:spPr>
            <a:xfrm>
              <a:off x="4490" y="2989"/>
              <a:ext cx="300" cy="0"/>
            </a:xfrm>
            <a:prstGeom prst="straightConnector1">
              <a:avLst/>
            </a:prstGeom>
            <a:noFill/>
            <a:ln cap="flat" cmpd="sng" w="9525">
              <a:solidFill>
                <a:schemeClr val="dk1"/>
              </a:solidFill>
              <a:prstDash val="solid"/>
              <a:miter lim="800000"/>
              <a:headEnd len="med" w="med" type="oval"/>
              <a:tailEnd len="med" w="med" type="stealth"/>
            </a:ln>
          </p:spPr>
        </p:cxnSp>
        <p:grpSp>
          <p:nvGrpSpPr>
            <p:cNvPr id="146" name="Google Shape;146;p4"/>
            <p:cNvGrpSpPr/>
            <p:nvPr/>
          </p:nvGrpSpPr>
          <p:grpSpPr>
            <a:xfrm>
              <a:off x="1306" y="2795"/>
              <a:ext cx="378" cy="263"/>
              <a:chOff x="2640" y="2681"/>
              <a:chExt cx="600" cy="300"/>
            </a:xfrm>
          </p:grpSpPr>
          <p:sp>
            <p:nvSpPr>
              <p:cNvPr id="147" name="Google Shape;147;p4"/>
              <p:cNvSpPr txBox="1"/>
              <p:nvPr/>
            </p:nvSpPr>
            <p:spPr>
              <a:xfrm>
                <a:off x="3150" y="2681"/>
                <a:ext cx="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8" name="Google Shape;148;p4"/>
              <p:cNvSpPr txBox="1"/>
              <p:nvPr/>
            </p:nvSpPr>
            <p:spPr>
              <a:xfrm>
                <a:off x="2640" y="2681"/>
                <a:ext cx="600" cy="300"/>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a:t>
                </a:r>
                <a:endParaRPr/>
              </a:p>
            </p:txBody>
          </p:sp>
        </p:grpSp>
        <p:cxnSp>
          <p:nvCxnSpPr>
            <p:cNvPr id="149" name="Google Shape;149;p4"/>
            <p:cNvCxnSpPr/>
            <p:nvPr/>
          </p:nvCxnSpPr>
          <p:spPr>
            <a:xfrm>
              <a:off x="2236" y="2976"/>
              <a:ext cx="300" cy="0"/>
            </a:xfrm>
            <a:prstGeom prst="straightConnector1">
              <a:avLst/>
            </a:prstGeom>
            <a:noFill/>
            <a:ln cap="flat" cmpd="sng" w="9525">
              <a:solidFill>
                <a:schemeClr val="dk1"/>
              </a:solidFill>
              <a:prstDash val="solid"/>
              <a:miter lim="800000"/>
              <a:headEnd len="med" w="med" type="oval"/>
              <a:tailEnd len="med" w="med" type="stealth"/>
            </a:ln>
          </p:spPr>
        </p:cxnSp>
        <p:cxnSp>
          <p:nvCxnSpPr>
            <p:cNvPr id="150" name="Google Shape;150;p4"/>
            <p:cNvCxnSpPr/>
            <p:nvPr/>
          </p:nvCxnSpPr>
          <p:spPr>
            <a:xfrm>
              <a:off x="1671" y="2976"/>
              <a:ext cx="300" cy="0"/>
            </a:xfrm>
            <a:prstGeom prst="straightConnector1">
              <a:avLst/>
            </a:prstGeom>
            <a:noFill/>
            <a:ln cap="flat" cmpd="sng" w="9525">
              <a:solidFill>
                <a:schemeClr val="dk1"/>
              </a:solidFill>
              <a:prstDash val="solid"/>
              <a:miter lim="800000"/>
              <a:headEnd len="med" w="med" type="oval"/>
              <a:tailEnd len="med" w="med" type="stealth"/>
            </a:ln>
          </p:spPr>
        </p:cxnSp>
        <p:sp>
          <p:nvSpPr>
            <p:cNvPr id="151" name="Google Shape;151;p4"/>
            <p:cNvSpPr txBox="1"/>
            <p:nvPr/>
          </p:nvSpPr>
          <p:spPr>
            <a:xfrm>
              <a:off x="580" y="2614"/>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S</a:t>
              </a:r>
              <a:endParaRPr/>
            </a:p>
          </p:txBody>
        </p:sp>
        <p:cxnSp>
          <p:nvCxnSpPr>
            <p:cNvPr id="152" name="Google Shape;152;p4"/>
            <p:cNvCxnSpPr/>
            <p:nvPr/>
          </p:nvCxnSpPr>
          <p:spPr>
            <a:xfrm>
              <a:off x="852" y="2843"/>
              <a:ext cx="600" cy="0"/>
            </a:xfrm>
            <a:prstGeom prst="straightConnector1">
              <a:avLst/>
            </a:prstGeom>
            <a:noFill/>
            <a:ln cap="flat" cmpd="sng" w="76200">
              <a:solidFill>
                <a:schemeClr val="dk1"/>
              </a:solidFill>
              <a:prstDash val="solid"/>
              <a:miter lim="800000"/>
              <a:headEnd len="med" w="med" type="none"/>
              <a:tailEnd len="med" w="med" type="triangle"/>
            </a:ln>
          </p:spPr>
        </p:cxnSp>
      </p:grpSp>
      <p:sp>
        <p:nvSpPr>
          <p:cNvPr id="153" name="Google Shape;153;p4"/>
          <p:cNvSpPr txBox="1"/>
          <p:nvPr/>
        </p:nvSpPr>
        <p:spPr>
          <a:xfrm>
            <a:off x="4016375" y="2781300"/>
            <a:ext cx="2736900" cy="822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Data	S [N];</a:t>
            </a:r>
            <a:endParaRPr/>
          </a:p>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int	t;</a:t>
            </a:r>
            <a:endParaRPr/>
          </a:p>
        </p:txBody>
      </p:sp>
      <p:sp>
        <p:nvSpPr>
          <p:cNvPr id="154" name="Google Shape;154;p4"/>
          <p:cNvSpPr txBox="1"/>
          <p:nvPr/>
        </p:nvSpPr>
        <p:spPr>
          <a:xfrm>
            <a:off x="3944937" y="5516562"/>
            <a:ext cx="1871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List S</a:t>
            </a:r>
            <a:endParaRPr/>
          </a:p>
        </p:txBody>
      </p:sp>
      <p:sp>
        <p:nvSpPr>
          <p:cNvPr id="155" name="Google Shape;155;p4"/>
          <p:cNvSpPr txBox="1"/>
          <p:nvPr/>
        </p:nvSpPr>
        <p:spPr>
          <a:xfrm>
            <a:off x="849312" y="6165850"/>
            <a:ext cx="7559700" cy="579300"/>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0" i="0" lang="en-US" sz="1800" u="none">
                <a:solidFill>
                  <a:schemeClr val="dk1"/>
                </a:solidFill>
                <a:latin typeface="Arial"/>
                <a:ea typeface="Arial"/>
                <a:cs typeface="Arial"/>
                <a:sym typeface="Arial"/>
              </a:rPr>
              <a:t> </a:t>
            </a:r>
            <a:r>
              <a:rPr b="1" i="0" lang="en-US" sz="3200" u="none">
                <a:solidFill>
                  <a:schemeClr val="dk1"/>
                </a:solidFill>
                <a:latin typeface="Arial"/>
                <a:ea typeface="Arial"/>
                <a:cs typeface="Arial"/>
                <a:sym typeface="Arial"/>
              </a:rPr>
              <a:t>Thêm và hủy cùng phía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Stack bằng mảng 1 chiều</a:t>
            </a:r>
            <a:endParaRPr/>
          </a:p>
        </p:txBody>
      </p:sp>
      <p:sp>
        <p:nvSpPr>
          <p:cNvPr id="161" name="Google Shape;161;p5"/>
          <p:cNvSpPr txBox="1"/>
          <p:nvPr>
            <p:ph idx="1" type="body"/>
          </p:nvPr>
        </p:nvSpPr>
        <p:spPr>
          <a:xfrm>
            <a:off x="776287" y="8413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Noto Sans Symbols"/>
              <a:buChar char="⮚"/>
            </a:pPr>
            <a:r>
              <a:rPr b="0" i="1" lang="en-US" sz="3200" u="none">
                <a:solidFill>
                  <a:schemeClr val="dk1"/>
                </a:solidFill>
                <a:latin typeface="Arial"/>
                <a:ea typeface="Arial"/>
                <a:cs typeface="Arial"/>
                <a:sym typeface="Arial"/>
              </a:rPr>
              <a:t>Cấu trúc dữ liệu của Stack</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typedef struct tagStack</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a[max];</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t;</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}Stack;</a:t>
            </a:r>
            <a:endParaRPr/>
          </a:p>
          <a:p>
            <a:pPr indent="-342900" lvl="0" marL="342900" rtl="0" algn="l">
              <a:lnSpc>
                <a:spcPct val="100000"/>
              </a:lnSpc>
              <a:spcBef>
                <a:spcPts val="640"/>
              </a:spcBef>
              <a:spcAft>
                <a:spcPts val="0"/>
              </a:spcAft>
              <a:buClr>
                <a:schemeClr val="dk1"/>
              </a:buClr>
              <a:buSzPts val="3200"/>
              <a:buFont typeface="Noto Sans Symbols"/>
              <a:buChar char="⮚"/>
            </a:pPr>
            <a:r>
              <a:rPr b="0" i="1" lang="en-US" sz="3200" u="none">
                <a:solidFill>
                  <a:schemeClr val="dk1"/>
                </a:solidFill>
                <a:latin typeface="Arial"/>
                <a:ea typeface="Arial"/>
                <a:cs typeface="Arial"/>
                <a:sym typeface="Arial"/>
              </a:rPr>
              <a:t>Khởi tạo Stack:</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CreateStack(Stack &amp;s)</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s.t=-1;</a:t>
            </a:r>
            <a:endParaRPr/>
          </a:p>
          <a:p>
            <a:pPr indent="-285750" lvl="1" marL="74295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Kiểm tra tính rỗng và đầy của Stack</a:t>
            </a:r>
            <a:endParaRPr/>
          </a:p>
        </p:txBody>
      </p:sp>
      <p:sp>
        <p:nvSpPr>
          <p:cNvPr id="167" name="Google Shape;167;p6"/>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int IsEmpty(Stack s)//Stack có rỗng hay không</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if(s.t==-1)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0;</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int IsFull(Stack s) //Kiểm tra Stack có đầy hay không</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if(s.t&gt;=max)</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1;</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return 0;</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Stack</a:t>
            </a:r>
            <a:endParaRPr/>
          </a:p>
        </p:txBody>
      </p:sp>
      <p:sp>
        <p:nvSpPr>
          <p:cNvPr id="173" name="Google Shape;173;p7"/>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int Push(Stack &amp;s, int x)</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if(IsFull(s)==0)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s.a[s.t]=x;</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Stack</a:t>
            </a:r>
            <a:endParaRPr/>
          </a:p>
        </p:txBody>
      </p:sp>
      <p:sp>
        <p:nvSpPr>
          <p:cNvPr id="179" name="Google Shape;179;p8"/>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int Pop(Stack &amp;s, int &amp;x)</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if(IsEmpty(s)==0)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x=s.a[s.t];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s.t--;</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9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NHẬN XÉT</a:t>
            </a:r>
            <a:endParaRPr/>
          </a:p>
        </p:txBody>
      </p:sp>
      <p:sp>
        <p:nvSpPr>
          <p:cNvPr id="185" name="Google Shape;185;p9"/>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Các thao tác trên đều làm việc với chi phí O(1).</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Việc cài đặt stack thông qua mảng một chiều đơn giản và khá hiệu quả.</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Tuy nhiên, hạn chế lớn nhất của phương án cài đặt này là giới hạn về kích thước của stack N. Giá trị của N có thể quá nhỏ so với nhu cầu thực tế hoặc quá lớn sẽ làm lãng phí bộ nhớ.</a:t>
            </a:r>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Stack bằng danh sách liên kết</a:t>
            </a:r>
            <a:endParaRPr/>
          </a:p>
        </p:txBody>
      </p:sp>
      <p:sp>
        <p:nvSpPr>
          <p:cNvPr id="191" name="Google Shape;191;p10"/>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Kiểm tra tính rỗng của Stack</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int IsEmpty(List &amp;s)</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if(s.Head==NULL)//Stack rong</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1;</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else</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return 0;</a:t>
            </a:r>
            <a:endParaRPr/>
          </a:p>
          <a:p>
            <a:pPr indent="-342900" lvl="0" marL="34290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1"/>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Stack</a:t>
            </a:r>
            <a:endParaRPr/>
          </a:p>
        </p:txBody>
      </p:sp>
      <p:sp>
        <p:nvSpPr>
          <p:cNvPr id="197" name="Google Shape;197;p11"/>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Push(List &amp;s,Node *Tam)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if(s.Head==NULL)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s.Head=Tam;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s.Tail=Tam;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Tam-&gt;Next=s.Head;</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s.Head=Tam;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txBox="1"/>
          <p:nvPr>
            <p:ph type="title"/>
          </p:nvPr>
        </p:nvSpPr>
        <p:spPr>
          <a:xfrm>
            <a:off x="704850" y="0"/>
            <a:ext cx="9201300" cy="765300"/>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Stack</a:t>
            </a:r>
            <a:endParaRPr/>
          </a:p>
        </p:txBody>
      </p:sp>
      <p:sp>
        <p:nvSpPr>
          <p:cNvPr id="203" name="Google Shape;203;p12"/>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int Pop(List &amp;s,int &amp;trave)</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Node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if(IsEmpty(s)!=1)</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p=s.Head;</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trave=p-&gt;Info;</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s.Head=s.Head-&gt;Next;</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if(s.Head==NULL)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s.Tail=NULL;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1;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delete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else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0;</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STACK</a:t>
            </a:r>
            <a:endParaRPr/>
          </a:p>
        </p:txBody>
      </p:sp>
      <p:sp>
        <p:nvSpPr>
          <p:cNvPr id="209" name="Google Shape;209;p13"/>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sz="3200">
              <a:solidFill>
                <a:schemeClr val="dk1"/>
              </a:solidFill>
              <a:latin typeface="Arial"/>
              <a:ea typeface="Arial"/>
              <a:cs typeface="Arial"/>
              <a:sym typeface="Arial"/>
            </a:endParaRPr>
          </a:p>
        </p:txBody>
      </p:sp>
      <p:grpSp>
        <p:nvGrpSpPr>
          <p:cNvPr id="210" name="Google Shape;210;p13"/>
          <p:cNvGrpSpPr/>
          <p:nvPr/>
        </p:nvGrpSpPr>
        <p:grpSpPr>
          <a:xfrm>
            <a:off x="1208087" y="1196975"/>
            <a:ext cx="7662712" cy="5336630"/>
            <a:chOff x="816" y="864"/>
            <a:chExt cx="4452" cy="2952"/>
          </a:xfrm>
        </p:grpSpPr>
        <p:sp>
          <p:nvSpPr>
            <p:cNvPr id="211" name="Google Shape;211;p13"/>
            <p:cNvSpPr/>
            <p:nvPr/>
          </p:nvSpPr>
          <p:spPr>
            <a:xfrm>
              <a:off x="2832" y="1008"/>
              <a:ext cx="215" cy="2723"/>
            </a:xfrm>
            <a:custGeom>
              <a:rect b="b" l="l" r="r" t="t"/>
              <a:pathLst>
                <a:path extrusionOk="0" h="3300" w="215">
                  <a:moveTo>
                    <a:pt x="118" y="0"/>
                  </a:moveTo>
                  <a:cubicBezTo>
                    <a:pt x="101" y="116"/>
                    <a:pt x="0" y="447"/>
                    <a:pt x="16" y="695"/>
                  </a:cubicBezTo>
                  <a:cubicBezTo>
                    <a:pt x="32" y="943"/>
                    <a:pt x="213" y="1212"/>
                    <a:pt x="214" y="1488"/>
                  </a:cubicBezTo>
                  <a:cubicBezTo>
                    <a:pt x="215" y="1764"/>
                    <a:pt x="31" y="2050"/>
                    <a:pt x="22" y="2352"/>
                  </a:cubicBezTo>
                  <a:cubicBezTo>
                    <a:pt x="13" y="2654"/>
                    <a:pt x="133" y="3103"/>
                    <a:pt x="162" y="3300"/>
                  </a:cubicBezTo>
                </a:path>
              </a:pathLst>
            </a:custGeom>
            <a:noFill/>
            <a:ln cap="flat" cmpd="sng" w="571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 name="Google Shape;212;p13"/>
            <p:cNvSpPr txBox="1"/>
            <p:nvPr/>
          </p:nvSpPr>
          <p:spPr>
            <a:xfrm>
              <a:off x="960" y="864"/>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Mảng 1 chiều</a:t>
              </a:r>
              <a:endParaRPr/>
            </a:p>
          </p:txBody>
        </p:sp>
        <p:sp>
          <p:nvSpPr>
            <p:cNvPr id="213" name="Google Shape;213;p13"/>
            <p:cNvSpPr txBox="1"/>
            <p:nvPr/>
          </p:nvSpPr>
          <p:spPr>
            <a:xfrm>
              <a:off x="3504" y="864"/>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Danh sách LK</a:t>
              </a:r>
              <a:endParaRPr/>
            </a:p>
          </p:txBody>
        </p:sp>
        <p:sp>
          <p:nvSpPr>
            <p:cNvPr id="214" name="Google Shape;214;p13"/>
            <p:cNvSpPr txBox="1"/>
            <p:nvPr/>
          </p:nvSpPr>
          <p:spPr>
            <a:xfrm>
              <a:off x="2822" y="2045"/>
              <a:ext cx="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j0423842[1]" id="215" name="Google Shape;215;p13"/>
            <p:cNvPicPr preferRelativeResize="0"/>
            <p:nvPr/>
          </p:nvPicPr>
          <p:blipFill rotWithShape="1">
            <a:blip r:embed="rId3">
              <a:alphaModFix/>
            </a:blip>
            <a:srcRect b="0" l="0" r="0" t="0"/>
            <a:stretch/>
          </p:blipFill>
          <p:spPr>
            <a:xfrm>
              <a:off x="4217" y="2112"/>
              <a:ext cx="444" cy="481"/>
            </a:xfrm>
            <a:prstGeom prst="rect">
              <a:avLst/>
            </a:prstGeom>
            <a:noFill/>
            <a:ln>
              <a:noFill/>
            </a:ln>
          </p:spPr>
        </p:pic>
        <p:pic>
          <p:nvPicPr>
            <p:cNvPr descr="j0423844[1]" id="216" name="Google Shape;216;p13"/>
            <p:cNvPicPr preferRelativeResize="0"/>
            <p:nvPr/>
          </p:nvPicPr>
          <p:blipFill rotWithShape="1">
            <a:blip r:embed="rId4">
              <a:alphaModFix/>
            </a:blip>
            <a:srcRect b="0" l="0" r="0" t="0"/>
            <a:stretch/>
          </p:blipFill>
          <p:spPr>
            <a:xfrm>
              <a:off x="1104" y="2208"/>
              <a:ext cx="490" cy="472"/>
            </a:xfrm>
            <a:prstGeom prst="rect">
              <a:avLst/>
            </a:prstGeom>
            <a:noFill/>
            <a:ln>
              <a:noFill/>
            </a:ln>
          </p:spPr>
        </p:pic>
        <p:sp>
          <p:nvSpPr>
            <p:cNvPr id="217" name="Google Shape;217;p13"/>
            <p:cNvSpPr/>
            <p:nvPr/>
          </p:nvSpPr>
          <p:spPr>
            <a:xfrm>
              <a:off x="816" y="1200"/>
              <a:ext cx="1500" cy="600"/>
            </a:xfrm>
            <a:prstGeom prst="cloudCallout">
              <a:avLst>
                <a:gd fmla="val 7273" name="adj1"/>
                <a:gd fmla="val 30889"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Kích thước stack khi quá thiếu, lúc quá thừa</a:t>
              </a:r>
              <a:endParaRPr/>
            </a:p>
          </p:txBody>
        </p:sp>
        <p:sp>
          <p:nvSpPr>
            <p:cNvPr id="218" name="Google Shape;218;p13"/>
            <p:cNvSpPr/>
            <p:nvPr/>
          </p:nvSpPr>
          <p:spPr>
            <a:xfrm>
              <a:off x="4368" y="1152"/>
              <a:ext cx="900" cy="600"/>
            </a:xfrm>
            <a:prstGeom prst="cloudCallout">
              <a:avLst>
                <a:gd fmla="val 43" name="adj1"/>
                <a:gd fmla="val 30279"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Cấp phát động!</a:t>
              </a:r>
              <a:endParaRPr/>
            </a:p>
          </p:txBody>
        </p:sp>
        <p:sp>
          <p:nvSpPr>
            <p:cNvPr id="219" name="Google Shape;219;p13"/>
            <p:cNvSpPr/>
            <p:nvPr/>
          </p:nvSpPr>
          <p:spPr>
            <a:xfrm>
              <a:off x="1056" y="3216"/>
              <a:ext cx="1200" cy="600"/>
            </a:xfrm>
            <a:prstGeom prst="cloudCallout">
              <a:avLst>
                <a:gd fmla="val 4355" name="adj1"/>
                <a:gd fmla="val -23400"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Push / Pop hơi phức tạp</a:t>
              </a:r>
              <a:endParaRPr/>
            </a:p>
          </p:txBody>
        </p:sp>
        <p:sp>
          <p:nvSpPr>
            <p:cNvPr id="220" name="Google Shape;220;p13"/>
            <p:cNvSpPr/>
            <p:nvPr/>
          </p:nvSpPr>
          <p:spPr>
            <a:xfrm>
              <a:off x="4032" y="2976"/>
              <a:ext cx="1200" cy="600"/>
            </a:xfrm>
            <a:prstGeom prst="cloudCallout">
              <a:avLst>
                <a:gd fmla="val 7983" name="adj1"/>
                <a:gd fmla="val -10061"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Push/Pop khá dễ dàng</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F3F3"/>
              </a:buClr>
              <a:buSzPts val="4000"/>
              <a:buFont typeface="Arial"/>
              <a:buNone/>
            </a:pPr>
            <a:r>
              <a:rPr b="0" i="0" lang="en-US" sz="4000" u="none">
                <a:solidFill>
                  <a:srgbClr val="FFF3F3"/>
                </a:solidFill>
                <a:latin typeface="Arial"/>
                <a:ea typeface="Arial"/>
                <a:cs typeface="Arial"/>
                <a:sym typeface="Arial"/>
              </a:rPr>
              <a:t>Ứng dụng Stack</a:t>
            </a:r>
            <a:endParaRPr/>
          </a:p>
        </p:txBody>
      </p:sp>
      <p:sp>
        <p:nvSpPr>
          <p:cNvPr id="226" name="Google Shape;226;p14"/>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Trình biên dịch, thông dịch: Khi thực hiện các thủ tục thì stack được dùng để lưu môi trường của các thủ tục</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Khử đệ qui </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Lưu vết các quá trình quay lui, vét cạn. Lưu dữ liệu khi giải một số bài toán về lý thuyết đồ thị, ví dụ như bài toán tìm đường đi</a:t>
            </a:r>
            <a:endParaRPr/>
          </a:p>
          <a:p>
            <a:pPr indent="-139700" lvl="0" marL="34290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39700" lvl="0" marL="342900" rtl="0" algn="l">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704850" y="0"/>
            <a:ext cx="92013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VD</a:t>
            </a:r>
            <a:endParaRPr/>
          </a:p>
        </p:txBody>
      </p:sp>
      <p:sp>
        <p:nvSpPr>
          <p:cNvPr id="232" name="Google Shape;232;p15"/>
          <p:cNvSpPr txBox="1"/>
          <p:nvPr>
            <p:ph idx="1" type="body"/>
          </p:nvPr>
        </p:nvSpPr>
        <p:spPr>
          <a:xfrm>
            <a:off x="776287" y="765175"/>
            <a:ext cx="9129600" cy="6092700"/>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Font typeface="Arial"/>
              <a:buNone/>
            </a:pPr>
            <a:r>
              <a:t/>
            </a:r>
            <a:endParaRPr sz="3200">
              <a:solidFill>
                <a:schemeClr val="dk1"/>
              </a:solidFill>
              <a:latin typeface="Arial"/>
              <a:ea typeface="Arial"/>
              <a:cs typeface="Arial"/>
              <a:sym typeface="Arial"/>
            </a:endParaRPr>
          </a:p>
        </p:txBody>
      </p:sp>
      <p:pic>
        <p:nvPicPr>
          <p:cNvPr id="233" name="Google Shape;233;p15"/>
          <p:cNvPicPr preferRelativeResize="0"/>
          <p:nvPr/>
        </p:nvPicPr>
        <p:blipFill rotWithShape="1">
          <a:blip r:embed="rId3">
            <a:alphaModFix/>
          </a:blip>
          <a:srcRect b="0" l="0" r="0" t="0"/>
          <a:stretch/>
        </p:blipFill>
        <p:spPr>
          <a:xfrm>
            <a:off x="895350" y="1814512"/>
            <a:ext cx="9010650" cy="3584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6"/>
          <p:cNvSpPr txBox="1"/>
          <p:nvPr>
            <p:ph type="title"/>
          </p:nvPr>
        </p:nvSpPr>
        <p:spPr>
          <a:xfrm>
            <a:off x="666750" y="0"/>
            <a:ext cx="9239400" cy="7857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Ứng dụng của ngăn xếp</a:t>
            </a:r>
            <a:endParaRPr/>
          </a:p>
        </p:txBody>
      </p:sp>
      <p:sp>
        <p:nvSpPr>
          <p:cNvPr id="239" name="Google Shape;239;p16"/>
          <p:cNvSpPr txBox="1"/>
          <p:nvPr/>
        </p:nvSpPr>
        <p:spPr>
          <a:xfrm>
            <a:off x="1320800" y="1428750"/>
            <a:ext cx="7842300" cy="3657600"/>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rgbClr val="0000CC"/>
              </a:buClr>
              <a:buSzPts val="2400"/>
              <a:buFont typeface="Noto Sans Symbols"/>
              <a:buChar char="■"/>
            </a:pPr>
            <a:r>
              <a:rPr b="0" i="0" lang="en-US" sz="3200" u="none">
                <a:solidFill>
                  <a:schemeClr val="dk1"/>
                </a:solidFill>
                <a:latin typeface="Arial"/>
                <a:ea typeface="Arial"/>
                <a:cs typeface="Arial"/>
                <a:sym typeface="Arial"/>
              </a:rPr>
              <a:t>Chuyển đổi cơ số đếm</a:t>
            </a:r>
            <a:endParaRPr/>
          </a:p>
          <a:p>
            <a:pPr indent="-342900" lvl="0" marL="342900" marR="0" rtl="0" algn="just">
              <a:lnSpc>
                <a:spcPct val="150000"/>
              </a:lnSpc>
              <a:spcBef>
                <a:spcPts val="640"/>
              </a:spcBef>
              <a:spcAft>
                <a:spcPts val="0"/>
              </a:spcAft>
              <a:buClr>
                <a:srgbClr val="0000CC"/>
              </a:buClr>
              <a:buSzPts val="2400"/>
              <a:buFont typeface="Noto Sans Symbols"/>
              <a:buChar char="■"/>
            </a:pPr>
            <a:r>
              <a:rPr b="0" i="0" lang="en-US" sz="3200" u="none">
                <a:solidFill>
                  <a:schemeClr val="dk1"/>
                </a:solidFill>
                <a:latin typeface="Arial"/>
                <a:ea typeface="Arial"/>
                <a:cs typeface="Arial"/>
                <a:sym typeface="Arial"/>
              </a:rPr>
              <a:t>Giải các bài toán đệ quy</a:t>
            </a:r>
            <a:endParaRPr/>
          </a:p>
          <a:p>
            <a:pPr indent="-342900" lvl="0" marL="342900" marR="0" rtl="0" algn="just">
              <a:lnSpc>
                <a:spcPct val="150000"/>
              </a:lnSpc>
              <a:spcBef>
                <a:spcPts val="640"/>
              </a:spcBef>
              <a:spcAft>
                <a:spcPts val="0"/>
              </a:spcAft>
              <a:buClr>
                <a:srgbClr val="0000CC"/>
              </a:buClr>
              <a:buSzPts val="2400"/>
              <a:buFont typeface="Noto Sans Symbols"/>
              <a:buChar char="■"/>
            </a:pPr>
            <a:r>
              <a:rPr b="0" i="0" lang="en-US" sz="3200" u="none">
                <a:solidFill>
                  <a:schemeClr val="dk1"/>
                </a:solidFill>
                <a:latin typeface="Arial"/>
                <a:ea typeface="Arial"/>
                <a:cs typeface="Arial"/>
                <a:sym typeface="Arial"/>
              </a:rPr>
              <a:t>Soạn thảo văn bản</a:t>
            </a:r>
            <a:endParaRPr/>
          </a:p>
          <a:p>
            <a:pPr indent="-342900" lvl="0" marL="342900" marR="0" rtl="0" algn="just">
              <a:lnSpc>
                <a:spcPct val="150000"/>
              </a:lnSpc>
              <a:spcBef>
                <a:spcPts val="640"/>
              </a:spcBef>
              <a:spcAft>
                <a:spcPts val="0"/>
              </a:spcAft>
              <a:buClr>
                <a:srgbClr val="0000CC"/>
              </a:buClr>
              <a:buSzPts val="2400"/>
              <a:buFont typeface="Noto Sans Symbols"/>
              <a:buChar char="■"/>
            </a:pPr>
            <a:r>
              <a:rPr b="0" i="0" lang="en-US" sz="3200" u="none">
                <a:solidFill>
                  <a:schemeClr val="dk1"/>
                </a:solidFill>
                <a:latin typeface="Arial"/>
                <a:ea typeface="Arial"/>
                <a:cs typeface="Arial"/>
                <a:sym typeface="Arial"/>
              </a:rPr>
              <a:t>Định giá biểu thức số học</a:t>
            </a:r>
            <a:endParaRPr/>
          </a:p>
          <a:p>
            <a:pPr indent="-342900" lvl="0" marL="342900" marR="0" rtl="0" algn="just">
              <a:lnSpc>
                <a:spcPct val="100000"/>
              </a:lnSpc>
              <a:spcBef>
                <a:spcPts val="440"/>
              </a:spcBef>
              <a:spcAft>
                <a:spcPts val="0"/>
              </a:spcAft>
              <a:buClr>
                <a:schemeClr val="dk1"/>
              </a:buClr>
              <a:buSzPts val="2200"/>
              <a:buFont typeface="Arial"/>
              <a:buNone/>
            </a:pPr>
            <a:r>
              <a:t/>
            </a:r>
            <a:endParaRPr b="0" i="0" sz="22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200" u="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7"/>
          <p:cNvSpPr txBox="1"/>
          <p:nvPr>
            <p:ph type="title"/>
          </p:nvPr>
        </p:nvSpPr>
        <p:spPr>
          <a:xfrm>
            <a:off x="666750" y="0"/>
            <a:ext cx="92394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Định giá biểu thức số học</a:t>
            </a:r>
            <a:endParaRPr/>
          </a:p>
        </p:txBody>
      </p:sp>
      <p:sp>
        <p:nvSpPr>
          <p:cNvPr id="245" name="Google Shape;245;p17"/>
          <p:cNvSpPr txBox="1"/>
          <p:nvPr>
            <p:ph idx="1" type="body"/>
          </p:nvPr>
        </p:nvSpPr>
        <p:spPr>
          <a:xfrm>
            <a:off x="776287" y="765175"/>
            <a:ext cx="9129600" cy="5378400"/>
          </a:xfrm>
          <a:prstGeom prst="rect">
            <a:avLst/>
          </a:prstGeom>
          <a:noFill/>
          <a:ln>
            <a:noFill/>
          </a:ln>
        </p:spPr>
        <p:txBody>
          <a:bodyPr anchorCtr="0" anchor="t" bIns="45700" lIns="91425" spcFirstLastPara="1" rIns="91425" wrap="square" tIns="45700">
            <a:noAutofit/>
          </a:bodyPr>
          <a:lstStyle/>
          <a:p>
            <a:pPr indent="-342900" lvl="0" marL="342900" rtl="0" algn="l">
              <a:lnSpc>
                <a:spcPct val="13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Sử dụng ngăn xếp chuyển biểu thức dạng trung tố có dấu ngoặc sang dạng hậu tố</a:t>
            </a:r>
            <a:endParaRPr/>
          </a:p>
          <a:p>
            <a:pPr indent="-342900" lvl="0" marL="342900" rtl="0" algn="l">
              <a:lnSpc>
                <a:spcPct val="15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E=((a+b)*a-b)/c-a+(a+b)/(a-b)  Trung tố (infix)</a:t>
            </a:r>
            <a:endParaRPr/>
          </a:p>
          <a:p>
            <a:pPr indent="-342900" lvl="0" marL="342900" rtl="0" algn="l">
              <a:lnSpc>
                <a:spcPct val="15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E1=+-/-*+ababca/+ab-ab      Tiền tố (prefix) </a:t>
            </a:r>
            <a:endParaRPr/>
          </a:p>
          <a:p>
            <a:pPr indent="-342900" lvl="0" marL="342900" rtl="0" algn="l">
              <a:lnSpc>
                <a:spcPct val="150000"/>
              </a:lnSpc>
              <a:spcBef>
                <a:spcPts val="64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E2=ab+a*b-c/a-ab+ab-/         Hậu tố (postfix)</a:t>
            </a:r>
            <a:endParaRPr/>
          </a:p>
          <a:p>
            <a:pPr indent="-342900" lvl="0" marL="3429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Sử dụng ngăn xếp định giá biểu thức dạng hậu tố</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8"/>
          <p:cNvSpPr txBox="1"/>
          <p:nvPr>
            <p:ph type="title"/>
          </p:nvPr>
        </p:nvSpPr>
        <p:spPr>
          <a:xfrm>
            <a:off x="666750" y="0"/>
            <a:ext cx="92394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51" name="Google Shape;251;p18"/>
          <p:cNvSpPr txBox="1"/>
          <p:nvPr>
            <p:ph idx="1" type="body"/>
          </p:nvPr>
        </p:nvSpPr>
        <p:spPr>
          <a:xfrm>
            <a:off x="742950" y="1600200"/>
            <a:ext cx="8667900" cy="45306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r>
              <a:rPr b="0" i="0" lang="en-US" sz="2800" u="sng">
                <a:solidFill>
                  <a:schemeClr val="dk1"/>
                </a:solidFill>
                <a:latin typeface="Arial"/>
                <a:ea typeface="Arial"/>
                <a:cs typeface="Arial"/>
                <a:sym typeface="Arial"/>
              </a:rPr>
              <a:t>Thuật toán 1</a:t>
            </a:r>
            <a:r>
              <a:rPr b="0" i="0" lang="en-US" sz="2800" u="none">
                <a:solidFill>
                  <a:schemeClr val="dk1"/>
                </a:solidFill>
                <a:latin typeface="Arial"/>
                <a:ea typeface="Arial"/>
                <a:cs typeface="Arial"/>
                <a:sym typeface="Arial"/>
              </a:rPr>
              <a:t> : </a:t>
            </a:r>
            <a:r>
              <a:rPr b="0" i="0" lang="en-US" sz="2800" u="none">
                <a:solidFill>
                  <a:schemeClr val="dk1"/>
                </a:solidFill>
                <a:latin typeface="Arial"/>
                <a:ea typeface="Arial"/>
                <a:cs typeface="Arial"/>
                <a:sym typeface="Arial"/>
              </a:rPr>
              <a:t>Chuyển biểu thức dạng trung tố có dấu ngoặc sang dạng hậu tố</a:t>
            </a:r>
            <a:r>
              <a:rPr b="0" i="0" lang="en-US" sz="3600" u="none">
                <a:solidFill>
                  <a:schemeClr val="dk1"/>
                </a:solidFill>
                <a:latin typeface="Arial"/>
                <a:ea typeface="Arial"/>
                <a:cs typeface="Arial"/>
                <a:sym typeface="Arial"/>
              </a:rPr>
              <a:t>	</a:t>
            </a:r>
            <a:endParaRPr/>
          </a:p>
          <a:p>
            <a:pPr indent="-342900" lvl="0" marL="3429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Sử dụng ngăn xếp rỗng có đáy là $</a:t>
            </a:r>
            <a:endParaRPr/>
          </a:p>
          <a:p>
            <a:pPr indent="-342900" lvl="0" marL="3429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Sử dụng hàm pri với</a:t>
            </a:r>
            <a:endParaRPr/>
          </a:p>
          <a:p>
            <a:pPr indent="-342900" lvl="0" marL="342900" rtl="0" algn="l">
              <a:lnSpc>
                <a:spcPct val="15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pri($)&lt;pri(()&lt;pri(+)=pri(-)&lt;pri(*)=pri(/)</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57" name="Google Shape;257;p19"/>
          <p:cNvSpPr txBox="1"/>
          <p:nvPr>
            <p:ph idx="1" type="body"/>
          </p:nvPr>
        </p:nvSpPr>
        <p:spPr>
          <a:xfrm>
            <a:off x="742950" y="1143000"/>
            <a:ext cx="8667900" cy="49878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3600"/>
              <a:buFont typeface="Arial"/>
              <a:buNone/>
            </a:pPr>
            <a:r>
              <a:rPr b="0" i="0" lang="en-US" sz="3600" u="none">
                <a:solidFill>
                  <a:schemeClr val="dk1"/>
                </a:solidFill>
                <a:latin typeface="Arial"/>
                <a:ea typeface="Arial"/>
                <a:cs typeface="Arial"/>
                <a:sym typeface="Arial"/>
              </a:rPr>
              <a:t>   </a:t>
            </a:r>
            <a:r>
              <a:rPr b="0" i="1" lang="en-US" sz="3200" u="none">
                <a:solidFill>
                  <a:schemeClr val="dk1"/>
                </a:solidFill>
                <a:latin typeface="Arial"/>
                <a:ea typeface="Arial"/>
                <a:cs typeface="Arial"/>
                <a:sym typeface="Arial"/>
              </a:rPr>
              <a:t>Bước 1</a:t>
            </a:r>
            <a:endParaRPr/>
          </a:p>
          <a:p>
            <a:pPr indent="-285750" lvl="1" marL="742950" rtl="0" algn="l">
              <a:lnSpc>
                <a:spcPct val="15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Đọc lần lượt từng thành phần của biểu thức trung tố giả sử đó là x</a:t>
            </a:r>
            <a:endParaRPr/>
          </a:p>
          <a:p>
            <a:pPr indent="-228600" lvl="2" marL="1143000" rtl="0" algn="l">
              <a:lnSpc>
                <a:spcPct val="15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Nếu x là ngoặc mở đẩy x vào ngăn xếp</a:t>
            </a:r>
            <a:endParaRPr/>
          </a:p>
          <a:p>
            <a:pPr indent="-228600" lvl="2" marL="1143000" rtl="0" algn="l">
              <a:lnSpc>
                <a:spcPct val="15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Nếu x là toán hạng thì viết x vào bên phải của biểu thức hậu tố	</a:t>
            </a:r>
            <a:r>
              <a:rPr b="0" i="1" lang="en-US" sz="2100" u="none">
                <a:solidFill>
                  <a:schemeClr val="dk1"/>
                </a:solidFill>
                <a:latin typeface="Arial"/>
                <a:ea typeface="Arial"/>
                <a:cs typeface="Arial"/>
                <a:sym typeface="Arial"/>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63" name="Google Shape;263;p20"/>
          <p:cNvSpPr txBox="1"/>
          <p:nvPr>
            <p:ph idx="1" type="body"/>
          </p:nvPr>
        </p:nvSpPr>
        <p:spPr>
          <a:xfrm>
            <a:off x="0" y="1214437"/>
            <a:ext cx="9410700" cy="4916400"/>
          </a:xfrm>
          <a:prstGeom prst="rect">
            <a:avLst/>
          </a:prstGeom>
          <a:noFill/>
          <a:ln>
            <a:noFill/>
          </a:ln>
        </p:spPr>
        <p:txBody>
          <a:bodyPr anchorCtr="0" anchor="t" bIns="45700" lIns="91425" spcFirstLastPara="1" rIns="91425" wrap="square" tIns="45700">
            <a:noAutofit/>
          </a:bodyPr>
          <a:lstStyle/>
          <a:p>
            <a:pPr indent="-438150" lvl="2" marL="1352550" rtl="0" algn="l">
              <a:lnSpc>
                <a:spcPct val="150000"/>
              </a:lnSpc>
              <a:spcBef>
                <a:spcPts val="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Nếu x là toán tử thì :</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Xét phần tử đỉnh của ngăn xếp giả sử đó là y</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Nếu pri(y)&gt;=pri(x) thì loại y ra khỏi ngăn xếp, viết y vào bên phải của biểu thức hậu tố và lại xét phần tử đỉnh của ngăn xếp</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Nếu pri(y)&lt;pri(x) thì đẩy x vào ngăn xếp </a:t>
            </a:r>
            <a:endParaRPr/>
          </a:p>
          <a:p>
            <a:pPr indent="-438150" lvl="2" marL="1352550" rtl="0" algn="l">
              <a:lnSpc>
                <a:spcPct val="150000"/>
              </a:lnSpc>
              <a:spcBef>
                <a:spcPts val="420"/>
              </a:spcBef>
              <a:spcAft>
                <a:spcPts val="0"/>
              </a:spcAft>
              <a:buClr>
                <a:schemeClr val="dk1"/>
              </a:buClr>
              <a:buSzPts val="2100"/>
              <a:buFont typeface="Arial"/>
              <a:buNone/>
            </a:pPr>
            <a:r>
              <a:rPr b="0" i="1" lang="en-US" sz="2100" u="none">
                <a:solidFill>
                  <a:schemeClr val="dk1"/>
                </a:solidFill>
                <a:latin typeface="Arial"/>
                <a:ea typeface="Arial"/>
                <a:cs typeface="Arial"/>
                <a:sym typeface="Arial"/>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e78f254187_0_0"/>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69" name="Google Shape;269;g2e78f254187_0_0"/>
          <p:cNvSpPr txBox="1"/>
          <p:nvPr>
            <p:ph idx="1" type="body"/>
          </p:nvPr>
        </p:nvSpPr>
        <p:spPr>
          <a:xfrm>
            <a:off x="0" y="1357312"/>
            <a:ext cx="9410700" cy="4773600"/>
          </a:xfrm>
          <a:prstGeom prst="rect">
            <a:avLst/>
          </a:prstGeom>
          <a:noFill/>
          <a:ln>
            <a:noFill/>
          </a:ln>
        </p:spPr>
        <p:txBody>
          <a:bodyPr anchorCtr="0" anchor="t" bIns="45700" lIns="91425" spcFirstLastPara="1" rIns="91425" wrap="square" tIns="45700">
            <a:noAutofit/>
          </a:bodyPr>
          <a:lstStyle/>
          <a:p>
            <a:pPr indent="-438150" lvl="2" marL="1352550" rtl="0" algn="l">
              <a:lnSpc>
                <a:spcPct val="150000"/>
              </a:lnSpc>
              <a:spcBef>
                <a:spcPts val="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Nếu x là ngoặc đóng thì :</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Xét phần tử đỉnh của ngăn xếp giả sử đó là y</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Nếu y là toán tử thì loại y ra khỏi ngăn </a:t>
            </a:r>
            <a:r>
              <a:rPr b="0" i="0" lang="en-US" sz="2800" u="none">
                <a:solidFill>
                  <a:schemeClr val="dk1"/>
                </a:solidFill>
                <a:latin typeface="Arial"/>
                <a:ea typeface="Arial"/>
                <a:cs typeface="Arial"/>
                <a:sym typeface="Arial"/>
              </a:rPr>
              <a:t>xếp, viết</a:t>
            </a:r>
            <a:r>
              <a:rPr b="0" i="0" lang="en-US" sz="2800" u="none">
                <a:solidFill>
                  <a:schemeClr val="dk1"/>
                </a:solidFill>
                <a:latin typeface="Arial"/>
                <a:ea typeface="Arial"/>
                <a:cs typeface="Arial"/>
                <a:sym typeface="Arial"/>
              </a:rPr>
              <a:t> y vào bên phải của biểu thức hậu tố và lại xét phần tử đỉnh của ngăn xếp</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Nếu y là ngoặc mở thì loại y ra khỏi ngăn xếp </a:t>
            </a:r>
            <a:endParaRPr/>
          </a:p>
          <a:p>
            <a:pPr indent="-438150" lvl="2" marL="1352550" rtl="0" algn="l">
              <a:lnSpc>
                <a:spcPct val="150000"/>
              </a:lnSpc>
              <a:spcBef>
                <a:spcPts val="420"/>
              </a:spcBef>
              <a:spcAft>
                <a:spcPts val="0"/>
              </a:spcAft>
              <a:buClr>
                <a:schemeClr val="dk1"/>
              </a:buClr>
              <a:buSzPts val="2100"/>
              <a:buFont typeface="Arial"/>
              <a:buNone/>
            </a:pPr>
            <a:r>
              <a:rPr b="0" i="1" lang="en-US" sz="2100" u="none">
                <a:solidFill>
                  <a:schemeClr val="dk1"/>
                </a:solidFill>
                <a:latin typeface="Arial"/>
                <a:ea typeface="Arial"/>
                <a:cs typeface="Arial"/>
                <a:sym typeface="Arial"/>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2e78f254187_0_5"/>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75" name="Google Shape;275;g2e78f254187_0_5"/>
          <p:cNvSpPr txBox="1"/>
          <p:nvPr>
            <p:ph idx="1" type="body"/>
          </p:nvPr>
        </p:nvSpPr>
        <p:spPr>
          <a:xfrm>
            <a:off x="742950" y="1214437"/>
            <a:ext cx="9163200" cy="4881600"/>
          </a:xfrm>
          <a:prstGeom prst="rect">
            <a:avLst/>
          </a:prstGeom>
          <a:noFill/>
          <a:ln>
            <a:noFill/>
          </a:ln>
        </p:spPr>
        <p:txBody>
          <a:bodyPr anchorCtr="0" anchor="t" bIns="45700" lIns="91425" spcFirstLastPara="1" rIns="91425" wrap="square" tIns="45700">
            <a:noAutofit/>
          </a:bodyPr>
          <a:lstStyle/>
          <a:p>
            <a:pPr indent="-533400" lvl="0" marL="533400" rtl="0" algn="l">
              <a:lnSpc>
                <a:spcPct val="150000"/>
              </a:lnSpc>
              <a:spcBef>
                <a:spcPts val="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Bước 2</a:t>
            </a:r>
            <a:endParaRPr/>
          </a:p>
          <a:p>
            <a:pPr indent="-495300" lvl="1" marL="952500" rtl="0" algn="l">
              <a:lnSpc>
                <a:spcPct val="15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Lặp lại bước 1 cho tới khi đọc hết các thành phần của biểu thức trung tố</a:t>
            </a:r>
            <a:endParaRPr/>
          </a:p>
          <a:p>
            <a:pPr indent="-533400" lvl="0" marL="533400" rtl="0" algn="l">
              <a:lnSpc>
                <a:spcPct val="150000"/>
              </a:lnSpc>
              <a:spcBef>
                <a:spcPts val="64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Bước 3</a:t>
            </a:r>
            <a:endParaRPr/>
          </a:p>
          <a:p>
            <a:pPr indent="-495300" lvl="1" marL="952500" rtl="0" algn="l">
              <a:lnSpc>
                <a:spcPct val="15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Loại hết các phần tử còn trong ngăn xếp viết vào bên phải của biểu thức hậu tố</a:t>
            </a:r>
            <a:endParaRPr/>
          </a:p>
          <a:p>
            <a:pPr indent="-438150" lvl="2" marL="1352550" rtl="0" algn="l">
              <a:lnSpc>
                <a:spcPct val="150000"/>
              </a:lnSpc>
              <a:spcBef>
                <a:spcPts val="420"/>
              </a:spcBef>
              <a:spcAft>
                <a:spcPts val="0"/>
              </a:spcAft>
              <a:buClr>
                <a:schemeClr val="dk1"/>
              </a:buClr>
              <a:buSzPts val="2100"/>
              <a:buFont typeface="Arial"/>
              <a:buNone/>
            </a:pPr>
            <a:r>
              <a:rPr b="0" i="1" lang="en-US" sz="2100" u="none">
                <a:solidFill>
                  <a:schemeClr val="dk1"/>
                </a:solidFill>
                <a:latin typeface="Arial"/>
                <a:ea typeface="Arial"/>
                <a:cs typeface="Arial"/>
                <a:sym typeface="Arial"/>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81" name="Google Shape;281;p21"/>
          <p:cNvSpPr txBox="1"/>
          <p:nvPr>
            <p:ph idx="1" type="body"/>
          </p:nvPr>
        </p:nvSpPr>
        <p:spPr>
          <a:xfrm>
            <a:off x="0" y="1357312"/>
            <a:ext cx="9410700" cy="4773600"/>
          </a:xfrm>
          <a:prstGeom prst="rect">
            <a:avLst/>
          </a:prstGeom>
          <a:noFill/>
          <a:ln>
            <a:noFill/>
          </a:ln>
        </p:spPr>
        <p:txBody>
          <a:bodyPr anchorCtr="0" anchor="t" bIns="45700" lIns="91425" spcFirstLastPara="1" rIns="91425" wrap="square" tIns="45700">
            <a:noAutofit/>
          </a:bodyPr>
          <a:lstStyle/>
          <a:p>
            <a:pPr indent="-438150" lvl="2" marL="1352550" rtl="0" algn="l">
              <a:lnSpc>
                <a:spcPct val="150000"/>
              </a:lnSpc>
              <a:spcBef>
                <a:spcPts val="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Nếu x là ngoặc đóng thì :</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Xét phần tử đỉnh của ngăn xếp giả sử đó là y</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Nếu y là toán tử thì loại y ra khỏi ngăn xếp, viết y vào bên phải của biểu thức hậu tố và lại xét phần tử đỉnh của ngăn xếp</a:t>
            </a:r>
            <a:endParaRPr/>
          </a:p>
          <a:p>
            <a:pPr indent="-381000" lvl="3" marL="1752600" rtl="0" algn="l">
              <a:lnSpc>
                <a:spcPct val="15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Nếu y là ngoặc mở thì loại y ra khỏi ngăn xếp </a:t>
            </a:r>
            <a:endParaRPr/>
          </a:p>
          <a:p>
            <a:pPr indent="-438150" lvl="2" marL="1352550" rtl="0" algn="l">
              <a:lnSpc>
                <a:spcPct val="150000"/>
              </a:lnSpc>
              <a:spcBef>
                <a:spcPts val="420"/>
              </a:spcBef>
              <a:spcAft>
                <a:spcPts val="0"/>
              </a:spcAft>
              <a:buClr>
                <a:schemeClr val="dk1"/>
              </a:buClr>
              <a:buSzPts val="2100"/>
              <a:buFont typeface="Arial"/>
              <a:buNone/>
            </a:pPr>
            <a:r>
              <a:rPr b="0" i="1" lang="en-US" sz="2100" u="none">
                <a:solidFill>
                  <a:schemeClr val="dk1"/>
                </a:solidFill>
                <a:latin typeface="Arial"/>
                <a:ea typeface="Arial"/>
                <a:cs typeface="Arial"/>
                <a:sym typeface="Arial"/>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2"/>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87" name="Google Shape;287;p22"/>
          <p:cNvSpPr txBox="1"/>
          <p:nvPr>
            <p:ph idx="1" type="body"/>
          </p:nvPr>
        </p:nvSpPr>
        <p:spPr>
          <a:xfrm>
            <a:off x="742950" y="1214437"/>
            <a:ext cx="9163200" cy="4881600"/>
          </a:xfrm>
          <a:prstGeom prst="rect">
            <a:avLst/>
          </a:prstGeom>
          <a:noFill/>
          <a:ln>
            <a:noFill/>
          </a:ln>
        </p:spPr>
        <p:txBody>
          <a:bodyPr anchorCtr="0" anchor="t" bIns="45700" lIns="91425" spcFirstLastPara="1" rIns="91425" wrap="square" tIns="45700">
            <a:noAutofit/>
          </a:bodyPr>
          <a:lstStyle/>
          <a:p>
            <a:pPr indent="-533400" lvl="0" marL="533400" rtl="0" algn="l">
              <a:lnSpc>
                <a:spcPct val="150000"/>
              </a:lnSpc>
              <a:spcBef>
                <a:spcPts val="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Bước 2</a:t>
            </a:r>
            <a:endParaRPr/>
          </a:p>
          <a:p>
            <a:pPr indent="-495300" lvl="1" marL="952500" rtl="0" algn="l">
              <a:lnSpc>
                <a:spcPct val="15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Lặp lại bước 1 cho tới khi đọc hết các thành phần của biểu thức trung tố</a:t>
            </a:r>
            <a:endParaRPr/>
          </a:p>
          <a:p>
            <a:pPr indent="-533400" lvl="0" marL="533400" rtl="0" algn="l">
              <a:lnSpc>
                <a:spcPct val="150000"/>
              </a:lnSpc>
              <a:spcBef>
                <a:spcPts val="640"/>
              </a:spcBef>
              <a:spcAft>
                <a:spcPts val="0"/>
              </a:spcAft>
              <a:buClr>
                <a:schemeClr val="dk1"/>
              </a:buClr>
              <a:buSzPts val="3200"/>
              <a:buFont typeface="Arial"/>
              <a:buNone/>
            </a:pPr>
            <a:r>
              <a:rPr b="0" i="1" lang="en-US" sz="3200" u="none">
                <a:solidFill>
                  <a:schemeClr val="dk1"/>
                </a:solidFill>
                <a:latin typeface="Arial"/>
                <a:ea typeface="Arial"/>
                <a:cs typeface="Arial"/>
                <a:sym typeface="Arial"/>
              </a:rPr>
              <a:t>Bước 3</a:t>
            </a:r>
            <a:endParaRPr/>
          </a:p>
          <a:p>
            <a:pPr indent="-495300" lvl="1" marL="952500" rtl="0" algn="l">
              <a:lnSpc>
                <a:spcPct val="15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Loại hết các phần tử còn trong ngăn xếp viết vào bên phải của biểu thức hậu tố</a:t>
            </a:r>
            <a:endParaRPr/>
          </a:p>
          <a:p>
            <a:pPr indent="-438150" lvl="2" marL="1352550" rtl="0" algn="l">
              <a:lnSpc>
                <a:spcPct val="150000"/>
              </a:lnSpc>
              <a:spcBef>
                <a:spcPts val="420"/>
              </a:spcBef>
              <a:spcAft>
                <a:spcPts val="0"/>
              </a:spcAft>
              <a:buClr>
                <a:schemeClr val="dk1"/>
              </a:buClr>
              <a:buSzPts val="2100"/>
              <a:buFont typeface="Arial"/>
              <a:buNone/>
            </a:pPr>
            <a:r>
              <a:rPr b="0" i="1" lang="en-US" sz="2100" u="none">
                <a:solidFill>
                  <a:schemeClr val="dk1"/>
                </a:solidFill>
                <a:latin typeface="Arial"/>
                <a:ea typeface="Arial"/>
                <a:cs typeface="Arial"/>
                <a:sym typeface="Arial"/>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3"/>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Định giá biểu thức số học</a:t>
            </a:r>
            <a:endParaRPr/>
          </a:p>
        </p:txBody>
      </p:sp>
      <p:sp>
        <p:nvSpPr>
          <p:cNvPr id="293" name="Google Shape;293;p23"/>
          <p:cNvSpPr txBox="1"/>
          <p:nvPr>
            <p:ph idx="1" type="body"/>
          </p:nvPr>
        </p:nvSpPr>
        <p:spPr>
          <a:xfrm>
            <a:off x="571500" y="857250"/>
            <a:ext cx="9334500" cy="5929200"/>
          </a:xfrm>
          <a:prstGeom prst="rect">
            <a:avLst/>
          </a:prstGeom>
          <a:noFill/>
          <a:ln>
            <a:noFill/>
          </a:ln>
        </p:spPr>
        <p:txBody>
          <a:bodyPr anchorCtr="0" anchor="t" bIns="45700" lIns="91425" spcFirstLastPara="1" rIns="91425" wrap="square" tIns="45700">
            <a:noAutofit/>
          </a:bodyPr>
          <a:lstStyle/>
          <a:p>
            <a:pPr indent="-342900" lvl="0" marL="342900" rtl="0" algn="l">
              <a:lnSpc>
                <a:spcPct val="12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r>
              <a:rPr b="0" i="0" lang="en-US" sz="2800" u="sng">
                <a:solidFill>
                  <a:schemeClr val="dk1"/>
                </a:solidFill>
                <a:latin typeface="Arial"/>
                <a:ea typeface="Arial"/>
                <a:cs typeface="Arial"/>
                <a:sym typeface="Arial"/>
              </a:rPr>
              <a:t>Thuật toán 2</a:t>
            </a:r>
            <a:r>
              <a:rPr b="0" i="0" lang="en-US" sz="2800" u="none">
                <a:solidFill>
                  <a:schemeClr val="dk1"/>
                </a:solidFill>
                <a:latin typeface="Arial"/>
                <a:ea typeface="Arial"/>
                <a:cs typeface="Arial"/>
                <a:sym typeface="Arial"/>
              </a:rPr>
              <a:t> : Định giá biểu thức dạng hậu tố </a:t>
            </a:r>
            <a:endParaRPr/>
          </a:p>
          <a:p>
            <a:pPr indent="-342900" lvl="0" marL="342900" rtl="0" algn="l">
              <a:lnSpc>
                <a:spcPct val="12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Khởi tạo</a:t>
            </a:r>
            <a:r>
              <a:rPr b="0" i="0" lang="en-US" sz="2800" u="none">
                <a:solidFill>
                  <a:schemeClr val="dk1"/>
                </a:solidFill>
                <a:latin typeface="Arial"/>
                <a:ea typeface="Arial"/>
                <a:cs typeface="Arial"/>
                <a:sym typeface="Arial"/>
              </a:rPr>
              <a:t> : sử dụng ngăn xếp rỗng</a:t>
            </a:r>
            <a:endParaRPr/>
          </a:p>
          <a:p>
            <a:pPr indent="-342900" lvl="0" marL="342900" rtl="0" algn="l">
              <a:lnSpc>
                <a:spcPct val="12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Bước 1 : Đọc lần lượt từng thành phần của biểu thức hậu tố.  </a:t>
            </a:r>
            <a:endParaRPr/>
          </a:p>
          <a:p>
            <a:pPr indent="-285750" lvl="1" marL="742950" rtl="0" algn="l">
              <a:lnSpc>
                <a:spcPct val="12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Nếu là toán hạng thì đẩy toán hạng vào ngăn xếp</a:t>
            </a:r>
            <a:endParaRPr/>
          </a:p>
          <a:p>
            <a:pPr indent="-285750" lvl="1" marL="742950" rtl="0" algn="l">
              <a:lnSpc>
                <a:spcPct val="12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Nếu là toán tử thì lấy  2 toán hạng ở đỉnh ngăn xếp ra thực hiện phép toán rồi đẩy kết quả vào ngăn xếp</a:t>
            </a:r>
            <a:endParaRPr/>
          </a:p>
          <a:p>
            <a:pPr indent="-342900" lvl="0" marL="342900" rtl="0" algn="l">
              <a:lnSpc>
                <a:spcPct val="12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Bước 2 : Lặp lại bước 1 cho tới khi đọc hết các thành phần của biểu thức hậu tố, kết quả của biểu thức lưu trong ngăn xếp</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4"/>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3200"/>
              <a:buFont typeface="Arial"/>
              <a:buNone/>
            </a:pPr>
            <a:r>
              <a:rPr b="0" i="0" lang="en-US" sz="3200" u="none">
                <a:solidFill>
                  <a:srgbClr val="FF6600"/>
                </a:solidFill>
                <a:latin typeface="Arial"/>
                <a:ea typeface="Arial"/>
                <a:cs typeface="Arial"/>
                <a:sym typeface="Arial"/>
              </a:rPr>
              <a:t>BÀI TẬP ÁP DỤNG</a:t>
            </a:r>
            <a:endParaRPr/>
          </a:p>
        </p:txBody>
      </p:sp>
      <p:sp>
        <p:nvSpPr>
          <p:cNvPr id="299" name="Google Shape;299;p24"/>
          <p:cNvSpPr txBox="1"/>
          <p:nvPr>
            <p:ph idx="1" type="body"/>
          </p:nvPr>
        </p:nvSpPr>
        <p:spPr>
          <a:xfrm>
            <a:off x="776287" y="1122362"/>
            <a:ext cx="8748712" cy="4949825"/>
          </a:xfrm>
          <a:prstGeom prst="rect">
            <a:avLst/>
          </a:prstGeom>
          <a:noFill/>
          <a:ln>
            <a:noFill/>
          </a:ln>
        </p:spPr>
        <p:txBody>
          <a:bodyPr anchorCtr="0" anchor="t" bIns="45700" lIns="91425" spcFirstLastPara="1" rIns="91425" wrap="square" tIns="45700">
            <a:noAutofit/>
          </a:bodyPr>
          <a:lstStyle/>
          <a:p>
            <a:pPr indent="-533400" lvl="0" marL="533400" rtl="0" algn="just">
              <a:lnSpc>
                <a:spcPct val="120000"/>
              </a:lnSpc>
              <a:spcBef>
                <a:spcPts val="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Viết chương trình sử dụng ngăn xếp để chuyển đổi một số nguyên ở hệ 10 sang hệ 2</a:t>
            </a:r>
            <a:endParaRPr/>
          </a:p>
          <a:p>
            <a:pPr indent="-533400" lvl="0" marL="533400" rtl="0" algn="just">
              <a:lnSpc>
                <a:spcPct val="120000"/>
              </a:lnSpc>
              <a:spcBef>
                <a:spcPts val="560"/>
              </a:spcBef>
              <a:spcAft>
                <a:spcPts val="0"/>
              </a:spcAft>
              <a:buClr>
                <a:schemeClr val="dk1"/>
              </a:buClr>
              <a:buSzPts val="2800"/>
              <a:buFont typeface="Noto Sans Symbols"/>
              <a:buAutoNum type="arabicPeriod"/>
            </a:pPr>
            <a:r>
              <a:rPr b="0" i="0" lang="en-US" sz="2800" u="none">
                <a:solidFill>
                  <a:schemeClr val="dk1"/>
                </a:solidFill>
                <a:latin typeface="Arial"/>
                <a:ea typeface="Arial"/>
                <a:cs typeface="Arial"/>
                <a:sym typeface="Arial"/>
              </a:rPr>
              <a:t>Tự cho các biểu thức số học dạng trung tố, mô tả tình trạng ngăn xếp qua các bước chuyển biểu thức sang dạng hậu tố và định giá biểu thức dạng hậu tố</a:t>
            </a:r>
            <a:endParaRPr/>
          </a:p>
          <a:p>
            <a:pPr indent="-381000" lvl="0" marL="533400" rtl="0" algn="just">
              <a:lnSpc>
                <a:spcPct val="120000"/>
              </a:lnSpc>
              <a:spcBef>
                <a:spcPts val="480"/>
              </a:spcBef>
              <a:spcAft>
                <a:spcPts val="0"/>
              </a:spcAft>
              <a:buClr>
                <a:schemeClr val="dk1"/>
              </a:buClr>
              <a:buSzPts val="2400"/>
              <a:buFont typeface="Noto Sans Symbols"/>
              <a:buNone/>
            </a:pPr>
            <a:r>
              <a:t/>
            </a:r>
            <a:endParaRPr b="0" i="0" sz="2400" u="none">
              <a:solidFill>
                <a:schemeClr val="dk1"/>
              </a:solidFill>
              <a:latin typeface="Arial"/>
              <a:ea typeface="Arial"/>
              <a:cs typeface="Arial"/>
              <a:sym typeface="Arial"/>
            </a:endParaRPr>
          </a:p>
          <a:p>
            <a:pPr indent="-533400" lvl="0" marL="533400" rtl="0" algn="just">
              <a:lnSpc>
                <a:spcPct val="12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5"/>
          <p:cNvSpPr txBox="1"/>
          <p:nvPr>
            <p:ph type="title"/>
          </p:nvPr>
        </p:nvSpPr>
        <p:spPr>
          <a:xfrm>
            <a:off x="0" y="0"/>
            <a:ext cx="9906000" cy="765300"/>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QUEUE</a:t>
            </a:r>
            <a:endParaRPr/>
          </a:p>
        </p:txBody>
      </p:sp>
      <p:sp>
        <p:nvSpPr>
          <p:cNvPr id="305" name="Google Shape;305;p25"/>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Queue (hàng đợi): Là 1 vật chứa các đối tượng làm việc theo cơ chế FIFO (First In First Out), tức việc thêm 1 đối tượng vào hàng đợi hay lấy 1 đối tượng ra khỏi hàng đợi thực hiện theo cơ chế “vào trước ra trước”.</a:t>
            </a:r>
            <a:endParaRPr/>
          </a:p>
        </p:txBody>
      </p:sp>
      <p:pic>
        <p:nvPicPr>
          <p:cNvPr id="306" name="Google Shape;306;p25"/>
          <p:cNvPicPr preferRelativeResize="0"/>
          <p:nvPr/>
        </p:nvPicPr>
        <p:blipFill rotWithShape="1">
          <a:blip r:embed="rId3">
            <a:alphaModFix/>
          </a:blip>
          <a:srcRect b="0" l="0" r="0" t="3767"/>
          <a:stretch/>
        </p:blipFill>
        <p:spPr>
          <a:xfrm>
            <a:off x="1063625" y="3559175"/>
            <a:ext cx="7993062" cy="2994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Các thao tác trên Queue</a:t>
            </a:r>
            <a:endParaRPr/>
          </a:p>
        </p:txBody>
      </p:sp>
      <p:sp>
        <p:nvSpPr>
          <p:cNvPr id="312" name="Google Shape;312;p26"/>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EnQueue(O): Thêm đối tượng O vào cuối hàng đợi.</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DeQueue(): Lấy đối tượng ở đầu hàng đợi</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isEmpty(): Kiểm tra xem hàng đợi có rỗng hay không?</a:t>
            </a:r>
            <a:endParaRPr/>
          </a:p>
          <a:p>
            <a:pPr indent="-342900" lvl="0" marL="34290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Front(): Trả về giá trị của phần tử nằm đầu hàng đợi mà không hủy nó.</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ph type="title"/>
          </p:nvPr>
        </p:nvSpPr>
        <p:spPr>
          <a:xfrm>
            <a:off x="776287" y="0"/>
            <a:ext cx="9129712"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Queue</a:t>
            </a:r>
            <a:endParaRPr/>
          </a:p>
        </p:txBody>
      </p:sp>
      <p:sp>
        <p:nvSpPr>
          <p:cNvPr id="318" name="Google Shape;318;p27"/>
          <p:cNvSpPr txBox="1"/>
          <p:nvPr/>
        </p:nvSpPr>
        <p:spPr>
          <a:xfrm>
            <a:off x="849312" y="981075"/>
            <a:ext cx="5040312"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Dùng mảng 1 chiều</a:t>
            </a:r>
            <a:endParaRPr/>
          </a:p>
        </p:txBody>
      </p:sp>
      <p:sp>
        <p:nvSpPr>
          <p:cNvPr id="319" name="Google Shape;319;p27"/>
          <p:cNvSpPr txBox="1"/>
          <p:nvPr/>
        </p:nvSpPr>
        <p:spPr>
          <a:xfrm>
            <a:off x="849312" y="3716337"/>
            <a:ext cx="5616575" cy="519112"/>
          </a:xfrm>
          <a:prstGeom prst="rect">
            <a:avLst/>
          </a:prstGeom>
          <a:noFill/>
          <a:ln>
            <a:noFill/>
          </a:ln>
        </p:spPr>
        <p:txBody>
          <a:bodyPr anchorCtr="0" anchor="t" bIns="45700" lIns="91425" spcFirstLastPara="1" rIns="91425" wrap="square" tIns="45700">
            <a:spAutoFit/>
          </a:bodyPr>
          <a:lstStyle/>
          <a:p>
            <a:pPr indent="-177800" lvl="0" marL="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  Dùng danh sách liên kết đơn</a:t>
            </a:r>
            <a:endParaRPr/>
          </a:p>
        </p:txBody>
      </p:sp>
      <p:sp>
        <p:nvSpPr>
          <p:cNvPr id="320" name="Google Shape;320;p27"/>
          <p:cNvSpPr txBox="1"/>
          <p:nvPr/>
        </p:nvSpPr>
        <p:spPr>
          <a:xfrm>
            <a:off x="8021637" y="4694237"/>
            <a:ext cx="244475" cy="2460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1" name="Google Shape;321;p27"/>
          <p:cNvSpPr txBox="1"/>
          <p:nvPr/>
        </p:nvSpPr>
        <p:spPr>
          <a:xfrm>
            <a:off x="3690937" y="4508500"/>
            <a:ext cx="142875" cy="58261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27"/>
          <p:cNvSpPr txBox="1"/>
          <p:nvPr/>
        </p:nvSpPr>
        <p:spPr>
          <a:xfrm>
            <a:off x="3162300" y="4508500"/>
            <a:ext cx="525462"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6</a:t>
            </a:r>
            <a:endParaRPr/>
          </a:p>
        </p:txBody>
      </p:sp>
      <p:sp>
        <p:nvSpPr>
          <p:cNvPr id="323" name="Google Shape;323;p27"/>
          <p:cNvSpPr txBox="1"/>
          <p:nvPr/>
        </p:nvSpPr>
        <p:spPr>
          <a:xfrm>
            <a:off x="4722812" y="4508500"/>
            <a:ext cx="158750" cy="5762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4" name="Google Shape;324;p27"/>
          <p:cNvSpPr txBox="1"/>
          <p:nvPr/>
        </p:nvSpPr>
        <p:spPr>
          <a:xfrm>
            <a:off x="4151312" y="4508500"/>
            <a:ext cx="576262" cy="588962"/>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5</a:t>
            </a:r>
            <a:endParaRPr/>
          </a:p>
        </p:txBody>
      </p:sp>
      <p:grpSp>
        <p:nvGrpSpPr>
          <p:cNvPr id="325" name="Google Shape;325;p27"/>
          <p:cNvGrpSpPr/>
          <p:nvPr/>
        </p:nvGrpSpPr>
        <p:grpSpPr>
          <a:xfrm>
            <a:off x="5122862" y="4508500"/>
            <a:ext cx="693737" cy="588962"/>
            <a:chOff x="4409" y="2681"/>
            <a:chExt cx="640" cy="423"/>
          </a:xfrm>
        </p:grpSpPr>
        <p:sp>
          <p:nvSpPr>
            <p:cNvPr id="326" name="Google Shape;326;p27"/>
            <p:cNvSpPr txBox="1"/>
            <p:nvPr/>
          </p:nvSpPr>
          <p:spPr>
            <a:xfrm>
              <a:off x="4911"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7" name="Google Shape;327;p27"/>
            <p:cNvSpPr txBox="1"/>
            <p:nvPr/>
          </p:nvSpPr>
          <p:spPr>
            <a:xfrm>
              <a:off x="4409" y="2681"/>
              <a:ext cx="508"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1</a:t>
              </a:r>
              <a:endParaRPr/>
            </a:p>
          </p:txBody>
        </p:sp>
      </p:grpSp>
      <p:grpSp>
        <p:nvGrpSpPr>
          <p:cNvPr id="328" name="Google Shape;328;p27"/>
          <p:cNvGrpSpPr/>
          <p:nvPr/>
        </p:nvGrpSpPr>
        <p:grpSpPr>
          <a:xfrm>
            <a:off x="6091237" y="4508500"/>
            <a:ext cx="736600" cy="588962"/>
            <a:chOff x="5283" y="2681"/>
            <a:chExt cx="642" cy="423"/>
          </a:xfrm>
        </p:grpSpPr>
        <p:sp>
          <p:nvSpPr>
            <p:cNvPr id="329" name="Google Shape;329;p27"/>
            <p:cNvSpPr txBox="1"/>
            <p:nvPr/>
          </p:nvSpPr>
          <p:spPr>
            <a:xfrm>
              <a:off x="5786" y="2681"/>
              <a:ext cx="139"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0" name="Google Shape;330;p27"/>
            <p:cNvSpPr txBox="1"/>
            <p:nvPr/>
          </p:nvSpPr>
          <p:spPr>
            <a:xfrm>
              <a:off x="5283" y="2681"/>
              <a:ext cx="510"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8</a:t>
              </a:r>
              <a:endParaRPr/>
            </a:p>
          </p:txBody>
        </p:sp>
      </p:grpSp>
      <p:grpSp>
        <p:nvGrpSpPr>
          <p:cNvPr id="331" name="Google Shape;331;p27"/>
          <p:cNvGrpSpPr/>
          <p:nvPr/>
        </p:nvGrpSpPr>
        <p:grpSpPr>
          <a:xfrm>
            <a:off x="7069137" y="4508500"/>
            <a:ext cx="703262" cy="588962"/>
            <a:chOff x="6167" y="2681"/>
            <a:chExt cx="640" cy="423"/>
          </a:xfrm>
        </p:grpSpPr>
        <p:sp>
          <p:nvSpPr>
            <p:cNvPr id="332" name="Google Shape;332;p27"/>
            <p:cNvSpPr txBox="1"/>
            <p:nvPr/>
          </p:nvSpPr>
          <p:spPr>
            <a:xfrm>
              <a:off x="6669"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3" name="Google Shape;333;p27"/>
            <p:cNvSpPr txBox="1"/>
            <p:nvPr/>
          </p:nvSpPr>
          <p:spPr>
            <a:xfrm>
              <a:off x="6167" y="2681"/>
              <a:ext cx="506"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2</a:t>
              </a:r>
              <a:endParaRPr/>
            </a:p>
          </p:txBody>
        </p:sp>
      </p:grpSp>
      <p:cxnSp>
        <p:nvCxnSpPr>
          <p:cNvPr id="334" name="Google Shape;334;p27"/>
          <p:cNvCxnSpPr/>
          <p:nvPr/>
        </p:nvCxnSpPr>
        <p:spPr>
          <a:xfrm>
            <a:off x="4779962" y="4784725"/>
            <a:ext cx="341312" cy="11112"/>
          </a:xfrm>
          <a:prstGeom prst="straightConnector1">
            <a:avLst/>
          </a:prstGeom>
          <a:noFill/>
          <a:ln cap="flat" cmpd="sng" w="9525">
            <a:solidFill>
              <a:schemeClr val="dk1"/>
            </a:solidFill>
            <a:prstDash val="solid"/>
            <a:miter lim="800000"/>
            <a:headEnd len="med" w="med" type="oval"/>
            <a:tailEnd len="med" w="med" type="stealth"/>
          </a:ln>
        </p:spPr>
      </p:cxnSp>
      <p:cxnSp>
        <p:nvCxnSpPr>
          <p:cNvPr id="335" name="Google Shape;335;p27"/>
          <p:cNvCxnSpPr/>
          <p:nvPr/>
        </p:nvCxnSpPr>
        <p:spPr>
          <a:xfrm>
            <a:off x="5748337" y="4795837"/>
            <a:ext cx="346075" cy="0"/>
          </a:xfrm>
          <a:prstGeom prst="straightConnector1">
            <a:avLst/>
          </a:prstGeom>
          <a:noFill/>
          <a:ln cap="flat" cmpd="sng" w="9525">
            <a:solidFill>
              <a:schemeClr val="dk1"/>
            </a:solidFill>
            <a:prstDash val="solid"/>
            <a:miter lim="800000"/>
            <a:headEnd len="med" w="med" type="oval"/>
            <a:tailEnd len="med" w="med" type="stealth"/>
          </a:ln>
        </p:spPr>
      </p:cxnSp>
      <p:cxnSp>
        <p:nvCxnSpPr>
          <p:cNvPr id="336" name="Google Shape;336;p27"/>
          <p:cNvCxnSpPr/>
          <p:nvPr/>
        </p:nvCxnSpPr>
        <p:spPr>
          <a:xfrm>
            <a:off x="6729412" y="4795837"/>
            <a:ext cx="346075" cy="0"/>
          </a:xfrm>
          <a:prstGeom prst="straightConnector1">
            <a:avLst/>
          </a:prstGeom>
          <a:noFill/>
          <a:ln cap="flat" cmpd="sng" w="9525">
            <a:solidFill>
              <a:schemeClr val="dk1"/>
            </a:solidFill>
            <a:prstDash val="solid"/>
            <a:miter lim="800000"/>
            <a:headEnd len="med" w="med" type="oval"/>
            <a:tailEnd len="med" w="med" type="stealth"/>
          </a:ln>
        </p:spPr>
      </p:cxnSp>
      <p:cxnSp>
        <p:nvCxnSpPr>
          <p:cNvPr id="337" name="Google Shape;337;p27"/>
          <p:cNvCxnSpPr/>
          <p:nvPr/>
        </p:nvCxnSpPr>
        <p:spPr>
          <a:xfrm>
            <a:off x="7710487" y="4816475"/>
            <a:ext cx="346075" cy="0"/>
          </a:xfrm>
          <a:prstGeom prst="straightConnector1">
            <a:avLst/>
          </a:prstGeom>
          <a:noFill/>
          <a:ln cap="flat" cmpd="sng" w="9525">
            <a:solidFill>
              <a:schemeClr val="dk1"/>
            </a:solidFill>
            <a:prstDash val="solid"/>
            <a:miter lim="800000"/>
            <a:headEnd len="med" w="med" type="oval"/>
            <a:tailEnd len="med" w="med" type="stealth"/>
          </a:ln>
        </p:spPr>
      </p:cxnSp>
      <p:grpSp>
        <p:nvGrpSpPr>
          <p:cNvPr id="338" name="Google Shape;338;p27"/>
          <p:cNvGrpSpPr/>
          <p:nvPr/>
        </p:nvGrpSpPr>
        <p:grpSpPr>
          <a:xfrm>
            <a:off x="2181225" y="4508500"/>
            <a:ext cx="708025" cy="588962"/>
            <a:chOff x="2640" y="2681"/>
            <a:chExt cx="648" cy="423"/>
          </a:xfrm>
        </p:grpSpPr>
        <p:sp>
          <p:nvSpPr>
            <p:cNvPr id="339" name="Google Shape;339;p27"/>
            <p:cNvSpPr txBox="1"/>
            <p:nvPr/>
          </p:nvSpPr>
          <p:spPr>
            <a:xfrm>
              <a:off x="3150" y="2681"/>
              <a:ext cx="138" cy="414"/>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0" name="Google Shape;340;p27"/>
            <p:cNvSpPr txBox="1"/>
            <p:nvPr/>
          </p:nvSpPr>
          <p:spPr>
            <a:xfrm>
              <a:off x="2640" y="2681"/>
              <a:ext cx="507" cy="423"/>
            </a:xfrm>
            <a:prstGeom prst="rect">
              <a:avLst/>
            </a:prstGeom>
            <a:gradFill>
              <a:gsLst>
                <a:gs pos="0">
                  <a:srgbClr val="FFFFFF"/>
                </a:gs>
                <a:gs pos="100000">
                  <a:srgbClr val="69FF69">
                    <a:alpha val="60000"/>
                  </a:srgbClr>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Helvetica Neue"/>
                <a:buNone/>
              </a:pPr>
              <a:r>
                <a:rPr b="1" i="0" lang="en-US" sz="3200" u="none">
                  <a:solidFill>
                    <a:schemeClr val="dk1"/>
                  </a:solidFill>
                  <a:latin typeface="Helvetica Neue"/>
                  <a:ea typeface="Helvetica Neue"/>
                  <a:cs typeface="Helvetica Neue"/>
                  <a:sym typeface="Helvetica Neue"/>
                </a:rPr>
                <a:t>4</a:t>
              </a:r>
              <a:endParaRPr/>
            </a:p>
          </p:txBody>
        </p:sp>
      </p:grpSp>
      <p:cxnSp>
        <p:nvCxnSpPr>
          <p:cNvPr id="341" name="Google Shape;341;p27"/>
          <p:cNvCxnSpPr/>
          <p:nvPr/>
        </p:nvCxnSpPr>
        <p:spPr>
          <a:xfrm>
            <a:off x="3795712" y="4795837"/>
            <a:ext cx="346075" cy="0"/>
          </a:xfrm>
          <a:prstGeom prst="straightConnector1">
            <a:avLst/>
          </a:prstGeom>
          <a:noFill/>
          <a:ln cap="flat" cmpd="sng" w="9525">
            <a:solidFill>
              <a:schemeClr val="dk1"/>
            </a:solidFill>
            <a:prstDash val="solid"/>
            <a:miter lim="800000"/>
            <a:headEnd len="med" w="med" type="oval"/>
            <a:tailEnd len="med" w="med" type="stealth"/>
          </a:ln>
        </p:spPr>
      </p:cxnSp>
      <p:cxnSp>
        <p:nvCxnSpPr>
          <p:cNvPr id="342" name="Google Shape;342;p27"/>
          <p:cNvCxnSpPr/>
          <p:nvPr/>
        </p:nvCxnSpPr>
        <p:spPr>
          <a:xfrm>
            <a:off x="2814637" y="4795837"/>
            <a:ext cx="346075" cy="0"/>
          </a:xfrm>
          <a:prstGeom prst="straightConnector1">
            <a:avLst/>
          </a:prstGeom>
          <a:noFill/>
          <a:ln cap="flat" cmpd="sng" w="9525">
            <a:solidFill>
              <a:schemeClr val="dk1"/>
            </a:solidFill>
            <a:prstDash val="solid"/>
            <a:miter lim="800000"/>
            <a:headEnd len="med" w="med" type="oval"/>
            <a:tailEnd len="med" w="med" type="stealth"/>
          </a:ln>
        </p:spPr>
      </p:cxnSp>
      <p:sp>
        <p:nvSpPr>
          <p:cNvPr id="343" name="Google Shape;343;p27"/>
          <p:cNvSpPr txBox="1"/>
          <p:nvPr/>
        </p:nvSpPr>
        <p:spPr>
          <a:xfrm>
            <a:off x="1639887" y="5661025"/>
            <a:ext cx="1143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Head</a:t>
            </a:r>
            <a:endParaRPr/>
          </a:p>
        </p:txBody>
      </p:sp>
      <p:cxnSp>
        <p:nvCxnSpPr>
          <p:cNvPr id="344" name="Google Shape;344;p27"/>
          <p:cNvCxnSpPr/>
          <p:nvPr/>
        </p:nvCxnSpPr>
        <p:spPr>
          <a:xfrm rot="10800000">
            <a:off x="2289175" y="5084762"/>
            <a:ext cx="0" cy="576262"/>
          </a:xfrm>
          <a:prstGeom prst="straightConnector1">
            <a:avLst/>
          </a:prstGeom>
          <a:noFill/>
          <a:ln cap="flat" cmpd="sng" w="76200">
            <a:solidFill>
              <a:schemeClr val="dk1"/>
            </a:solidFill>
            <a:prstDash val="solid"/>
            <a:miter lim="800000"/>
            <a:headEnd len="med" w="med" type="none"/>
            <a:tailEnd len="med" w="med" type="triangle"/>
          </a:ln>
        </p:spPr>
      </p:cxnSp>
      <p:sp>
        <p:nvSpPr>
          <p:cNvPr id="345" name="Google Shape;345;p27"/>
          <p:cNvSpPr txBox="1"/>
          <p:nvPr/>
        </p:nvSpPr>
        <p:spPr>
          <a:xfrm>
            <a:off x="4016375" y="2781300"/>
            <a:ext cx="273685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Data	S [N];</a:t>
            </a:r>
            <a:endParaRPr/>
          </a:p>
          <a:p>
            <a:pPr indent="0" lvl="0" marL="0" marR="0" rtl="0" algn="l">
              <a:lnSpc>
                <a:spcPct val="100000"/>
              </a:lnSpc>
              <a:spcBef>
                <a:spcPts val="0"/>
              </a:spcBef>
              <a:spcAft>
                <a:spcPts val="0"/>
              </a:spcAft>
              <a:buClr>
                <a:srgbClr val="080808"/>
              </a:buClr>
              <a:buSzPts val="2400"/>
              <a:buFont typeface="Arial"/>
              <a:buNone/>
            </a:pPr>
            <a:r>
              <a:rPr b="1" i="0" lang="en-US" sz="2400" u="none">
                <a:solidFill>
                  <a:srgbClr val="080808"/>
                </a:solidFill>
                <a:latin typeface="Arial"/>
                <a:ea typeface="Arial"/>
                <a:cs typeface="Arial"/>
                <a:sym typeface="Arial"/>
              </a:rPr>
              <a:t>int	f,r;</a:t>
            </a:r>
            <a:endParaRPr/>
          </a:p>
        </p:txBody>
      </p:sp>
      <p:sp>
        <p:nvSpPr>
          <p:cNvPr id="346" name="Google Shape;346;p27"/>
          <p:cNvSpPr txBox="1"/>
          <p:nvPr/>
        </p:nvSpPr>
        <p:spPr>
          <a:xfrm>
            <a:off x="3944937" y="5516562"/>
            <a:ext cx="18716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List Q</a:t>
            </a:r>
            <a:endParaRPr/>
          </a:p>
        </p:txBody>
      </p:sp>
      <p:sp>
        <p:nvSpPr>
          <p:cNvPr id="347" name="Google Shape;347;p27"/>
          <p:cNvSpPr txBox="1"/>
          <p:nvPr/>
        </p:nvSpPr>
        <p:spPr>
          <a:xfrm>
            <a:off x="849312" y="6165850"/>
            <a:ext cx="7559675"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r>
              <a:rPr b="1" i="0" lang="en-US" sz="3600" u="none">
                <a:solidFill>
                  <a:schemeClr val="dk1"/>
                </a:solidFill>
                <a:latin typeface="Arial"/>
                <a:ea typeface="Arial"/>
                <a:cs typeface="Arial"/>
                <a:sym typeface="Arial"/>
              </a:rPr>
              <a:t>Thêm và hủy Kh</a:t>
            </a:r>
            <a:r>
              <a:rPr b="1" i="0" lang="en-US" sz="3200" u="none">
                <a:solidFill>
                  <a:schemeClr val="dk1"/>
                </a:solidFill>
                <a:latin typeface="Arial"/>
                <a:ea typeface="Arial"/>
                <a:cs typeface="Arial"/>
                <a:sym typeface="Arial"/>
              </a:rPr>
              <a:t>ác</a:t>
            </a:r>
            <a:r>
              <a:rPr b="1" i="0" lang="en-US" sz="3600" u="none">
                <a:solidFill>
                  <a:schemeClr val="dk1"/>
                </a:solidFill>
                <a:latin typeface="Arial"/>
                <a:ea typeface="Arial"/>
                <a:cs typeface="Arial"/>
                <a:sym typeface="Arial"/>
              </a:rPr>
              <a:t> phía</a:t>
            </a:r>
            <a:endParaRPr/>
          </a:p>
        </p:txBody>
      </p:sp>
      <p:graphicFrame>
        <p:nvGraphicFramePr>
          <p:cNvPr id="348" name="Google Shape;348;p27"/>
          <p:cNvGraphicFramePr/>
          <p:nvPr/>
        </p:nvGraphicFramePr>
        <p:xfrm>
          <a:off x="1208087" y="1700212"/>
          <a:ext cx="7775575" cy="920750"/>
        </p:xfrm>
        <a:graphic>
          <a:graphicData uri="http://schemas.openxmlformats.org/presentationml/2006/ole">
            <mc:AlternateContent>
              <mc:Choice Requires="v">
                <p:oleObj r:id="rId4" imgH="920750" imgW="7775575" progId="MSDraw.Drawing.8.1" spid="_x0000_s1">
                  <p:embed/>
                </p:oleObj>
              </mc:Choice>
              <mc:Fallback>
                <p:oleObj r:id="rId5" imgH="920750" imgW="7775575" progId="MSDraw.Drawing.8.1">
                  <p:embed/>
                  <p:pic>
                    <p:nvPicPr>
                      <p:cNvPr id="348" name="Google Shape;348;p27"/>
                      <p:cNvPicPr preferRelativeResize="0"/>
                      <p:nvPr>
                        <p:ph idx="1" type="body"/>
                      </p:nvPr>
                    </p:nvPicPr>
                    <p:blipFill rotWithShape="1">
                      <a:blip r:embed="rId6">
                        <a:alphaModFix/>
                      </a:blip>
                      <a:srcRect b="0" l="0" r="0" t="0"/>
                      <a:stretch/>
                    </p:blipFill>
                    <p:spPr>
                      <a:xfrm>
                        <a:off x="1208087" y="1700212"/>
                        <a:ext cx="7775575" cy="920750"/>
                      </a:xfrm>
                      <a:prstGeom prst="rect">
                        <a:avLst/>
                      </a:prstGeom>
                      <a:noFill/>
                      <a:ln>
                        <a:noFill/>
                      </a:ln>
                    </p:spPr>
                  </p:pic>
                </p:oleObj>
              </mc:Fallback>
            </mc:AlternateContent>
          </a:graphicData>
        </a:graphic>
      </p:graphicFrame>
      <p:sp>
        <p:nvSpPr>
          <p:cNvPr id="349" name="Google Shape;349;p27"/>
          <p:cNvSpPr txBox="1"/>
          <p:nvPr/>
        </p:nvSpPr>
        <p:spPr>
          <a:xfrm>
            <a:off x="6608762" y="5661025"/>
            <a:ext cx="89058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Tail</a:t>
            </a:r>
            <a:endParaRPr/>
          </a:p>
        </p:txBody>
      </p:sp>
      <p:cxnSp>
        <p:nvCxnSpPr>
          <p:cNvPr id="350" name="Google Shape;350;p27"/>
          <p:cNvCxnSpPr/>
          <p:nvPr/>
        </p:nvCxnSpPr>
        <p:spPr>
          <a:xfrm rot="10800000">
            <a:off x="7258050" y="5084762"/>
            <a:ext cx="0" cy="576262"/>
          </a:xfrm>
          <a:prstGeom prst="straightConnector1">
            <a:avLst/>
          </a:prstGeom>
          <a:noFill/>
          <a:ln cap="flat" cmpd="sng" w="76200">
            <a:solidFill>
              <a:schemeClr val="dk1"/>
            </a:solidFill>
            <a:prstDash val="solid"/>
            <a:miter lim="800000"/>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8"/>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Cài đặt Queue bằng mảng 1 chiều</a:t>
            </a:r>
            <a:endParaRPr/>
          </a:p>
        </p:txBody>
      </p:sp>
      <p:sp>
        <p:nvSpPr>
          <p:cNvPr id="356" name="Google Shape;356;p28"/>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Cấu trúc dữ liệu:</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typedef struct tagQueue</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a[100];</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Front; //chỉ số của phần tử đầu trong Queue</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int Rear; //chỉ số của phầ tử cuối trong Queue</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}Queue;</a:t>
            </a:r>
            <a:endParaRPr/>
          </a:p>
          <a:p>
            <a:pPr indent="-342900" lvl="0" marL="342900" rtl="0" algn="l">
              <a:lnSpc>
                <a:spcPct val="90000"/>
              </a:lnSpc>
              <a:spcBef>
                <a:spcPts val="640"/>
              </a:spcBef>
              <a:spcAft>
                <a:spcPts val="0"/>
              </a:spcAft>
              <a:buClr>
                <a:schemeClr val="dk1"/>
              </a:buClr>
              <a:buSzPts val="3200"/>
              <a:buFont typeface="Arial"/>
              <a:buChar char="•"/>
            </a:pPr>
            <a:r>
              <a:rPr b="0" i="1" lang="en-US" sz="3200" u="none">
                <a:solidFill>
                  <a:schemeClr val="dk1"/>
                </a:solidFill>
                <a:latin typeface="Arial"/>
                <a:ea typeface="Arial"/>
                <a:cs typeface="Arial"/>
                <a:sym typeface="Arial"/>
              </a:rPr>
              <a:t>Khởi tạo Queue rỗng</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CreateQueue(Queue &amp;q)</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q.Front=-1;</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q.Rear=-1;</a:t>
            </a:r>
            <a:endParaRPr/>
          </a:p>
          <a:p>
            <a:pPr indent="-285750" lvl="1" marL="74295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165100" lvl="0" marL="342900" rtl="0" algn="l">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9"/>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Queue</a:t>
            </a:r>
            <a:endParaRPr/>
          </a:p>
        </p:txBody>
      </p:sp>
      <p:sp>
        <p:nvSpPr>
          <p:cNvPr id="362" name="Google Shape;362;p29"/>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int DeQueue(Queue &amp;q,int &amp;x)</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if(q.Front!=-1)	//queue khong rong</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x=q.a[q.Front];</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q.Front++;</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if(q.Front&gt;q.Rear)//truong hop co mot phan tu</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q.Front=-1;</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q.Rear=-1;</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return 1;</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else //queue trong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printf("Queue rong");</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return 0;</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342900" lvl="0" marL="342900" rtl="0" algn="l">
              <a:lnSpc>
                <a:spcPct val="8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3"/>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Lấy 1 phần tử từ Queue</a:t>
            </a:r>
            <a:endParaRPr/>
          </a:p>
        </p:txBody>
      </p:sp>
      <p:sp>
        <p:nvSpPr>
          <p:cNvPr id="368" name="Google Shape;368;p33"/>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int DeQueue(List &amp;Q,int &amp;trave)</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Node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if(IsEmpty(Q)!=1)</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if(Q.pHead!=NULL)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p=Q.pHead;</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trave=p-&gt;Info;</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Q.pHead=Q.pHead-&gt;Next;</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if(Q.pHead==NULL)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Q.pTail=NULL;</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1;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delete p;</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 0;	</a:t>
            </a:r>
            <a:endParaRPr/>
          </a:p>
          <a:p>
            <a:pPr indent="-342900" lvl="0" marL="342900" rtl="0" algn="l">
              <a:lnSpc>
                <a:spcPct val="80000"/>
              </a:lnSpc>
              <a:spcBef>
                <a:spcPts val="48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0"/>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Queue</a:t>
            </a:r>
            <a:endParaRPr/>
          </a:p>
        </p:txBody>
      </p:sp>
      <p:sp>
        <p:nvSpPr>
          <p:cNvPr id="374" name="Google Shape;374;p30"/>
          <p:cNvSpPr txBox="1"/>
          <p:nvPr>
            <p:ph idx="1" type="body"/>
          </p:nvPr>
        </p:nvSpPr>
        <p:spPr>
          <a:xfrm>
            <a:off x="776287" y="917575"/>
            <a:ext cx="9129600" cy="60927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void EnQueue(Queue &amp;q,int x)</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int i;</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int f,r;</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if(q.Rear-q.Front+1==N)//queue bi day khong the them vao duoc nua</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printf("queue day roi khong the them vao duoc nua");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else</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if(q.Front==-1)</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q.Front=0;</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q.Rear=-1;</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if(q.Rear==N-1)//Queue đầy ảo</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f=q.Front;</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r=q.Rear;</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for(i=f;i&lt;=r;i++)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q.a[i-f]=q.a[i];</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q.Front=0;</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q.Rear=r-f;</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q.Rear++;</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q.a[q.Rear]=x;</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a:t>
            </a:r>
            <a:endParaRPr/>
          </a:p>
          <a:p>
            <a:pPr indent="-342900" lvl="0" marL="342900" rtl="0" algn="l">
              <a:lnSpc>
                <a:spcPct val="80000"/>
              </a:lnSpc>
              <a:spcBef>
                <a:spcPts val="28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a:t>
            </a:r>
            <a:endParaRPr/>
          </a:p>
          <a:p>
            <a:pPr indent="-254000" lvl="0" marL="342900" rtl="0" algn="l">
              <a:spcBef>
                <a:spcPts val="28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txBox="1"/>
          <p:nvPr>
            <p:ph type="title"/>
          </p:nvPr>
        </p:nvSpPr>
        <p:spPr>
          <a:xfrm>
            <a:off x="704850" y="0"/>
            <a:ext cx="9201150" cy="765175"/>
          </a:xfrm>
          <a:prstGeom prst="rect">
            <a:avLst/>
          </a:prstGeom>
          <a:gradFill>
            <a:gsLst>
              <a:gs pos="0">
                <a:srgbClr val="008000"/>
              </a:gs>
              <a:gs pos="100000">
                <a:srgbClr val="003B00"/>
              </a:gs>
            </a:gsLst>
            <a:path path="circle">
              <a:fillToRect b="50%" l="50%" r="50%" t="50%"/>
            </a:path>
            <a:tileRect/>
          </a:gra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3F3"/>
              </a:buClr>
              <a:buSzPts val="3600"/>
              <a:buFont typeface="Arial"/>
              <a:buNone/>
            </a:pPr>
            <a:r>
              <a:rPr b="0" i="0" lang="en-US" sz="3600" u="none">
                <a:solidFill>
                  <a:srgbClr val="FFF3F3"/>
                </a:solidFill>
                <a:latin typeface="Arial"/>
                <a:ea typeface="Arial"/>
                <a:cs typeface="Arial"/>
                <a:sym typeface="Arial"/>
              </a:rPr>
              <a:t>Thêm 1 phần tử vào Queue</a:t>
            </a:r>
            <a:endParaRPr/>
          </a:p>
        </p:txBody>
      </p:sp>
      <p:sp>
        <p:nvSpPr>
          <p:cNvPr id="380" name="Google Shape;380;p32"/>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void EnQueue(List &amp;Q, Node *Tam)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if(Q.pHead==NULL)</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Q.pHead=Tam;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Q.pTail=Tam;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else</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Q.pTail-&gt;Next=tam;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Q.pTail=tam;</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t>
            </a:r>
            <a:endParaRPr/>
          </a:p>
          <a:p>
            <a:pPr indent="-342900" lvl="0" marL="342900" rtl="0" algn="l">
              <a:lnSpc>
                <a:spcPct val="8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4"/>
          <p:cNvSpPr txBox="1"/>
          <p:nvPr>
            <p:ph type="title"/>
          </p:nvPr>
        </p:nvSpPr>
        <p:spPr>
          <a:xfrm>
            <a:off x="0" y="0"/>
            <a:ext cx="9906000" cy="765175"/>
          </a:xfrm>
          <a:prstGeom prst="rect">
            <a:avLst/>
          </a:prstGeom>
          <a:solidFill>
            <a:srgbClr val="00800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6600"/>
              </a:buClr>
              <a:buSzPts val="4400"/>
              <a:buFont typeface="Arial"/>
              <a:buNone/>
            </a:pPr>
            <a:r>
              <a:rPr b="0" i="0" lang="en-US" sz="4400" u="none">
                <a:solidFill>
                  <a:srgbClr val="FF6600"/>
                </a:solidFill>
                <a:latin typeface="Arial"/>
                <a:ea typeface="Arial"/>
                <a:cs typeface="Arial"/>
                <a:sym typeface="Arial"/>
              </a:rPr>
              <a:t>Ứng dụng Queue</a:t>
            </a:r>
            <a:endParaRPr/>
          </a:p>
        </p:txBody>
      </p:sp>
      <p:sp>
        <p:nvSpPr>
          <p:cNvPr id="386" name="Google Shape;386;p34"/>
          <p:cNvSpPr txBox="1"/>
          <p:nvPr>
            <p:ph idx="1" type="body"/>
          </p:nvPr>
        </p:nvSpPr>
        <p:spPr>
          <a:xfrm>
            <a:off x="776287" y="765175"/>
            <a:ext cx="9129712" cy="609282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hlink"/>
              </a:buClr>
              <a:buSzPts val="3600"/>
              <a:buFont typeface="Noto Sans Symbols"/>
              <a:buChar char="▪"/>
            </a:pPr>
            <a:r>
              <a:rPr b="0" i="0" lang="en-US" sz="3600" u="none">
                <a:solidFill>
                  <a:srgbClr val="080808"/>
                </a:solidFill>
                <a:latin typeface="Arial"/>
                <a:ea typeface="Arial"/>
                <a:cs typeface="Arial"/>
                <a:sym typeface="Arial"/>
              </a:rPr>
              <a:t>Tổ chức lưu vết các quá trình tìm kiếm theo chiều rộng, và quay lui vét cạn,</a:t>
            </a:r>
            <a:endParaRPr/>
          </a:p>
          <a:p>
            <a:pPr indent="-342900" lvl="0" marL="342900" rtl="0" algn="just">
              <a:lnSpc>
                <a:spcPct val="100000"/>
              </a:lnSpc>
              <a:spcBef>
                <a:spcPts val="800"/>
              </a:spcBef>
              <a:spcAft>
                <a:spcPts val="0"/>
              </a:spcAft>
              <a:buClr>
                <a:schemeClr val="hlink"/>
              </a:buClr>
              <a:buSzPts val="3600"/>
              <a:buFont typeface="Noto Sans Symbols"/>
              <a:buChar char="▪"/>
            </a:pPr>
            <a:r>
              <a:rPr b="0" i="0" lang="en-US" sz="3600" u="none">
                <a:solidFill>
                  <a:srgbClr val="080808"/>
                </a:solidFill>
                <a:latin typeface="Arial"/>
                <a:ea typeface="Arial"/>
                <a:cs typeface="Arial"/>
                <a:sym typeface="Arial"/>
              </a:rPr>
              <a:t>Tổ chức qu</a:t>
            </a:r>
            <a:r>
              <a:rPr b="0" i="0" lang="en-US" sz="4000" u="none">
                <a:solidFill>
                  <a:srgbClr val="080808"/>
                </a:solidFill>
                <a:latin typeface="Arial"/>
                <a:ea typeface="Arial"/>
                <a:cs typeface="Arial"/>
                <a:sym typeface="Arial"/>
              </a:rPr>
              <a:t>ả</a:t>
            </a:r>
            <a:r>
              <a:rPr b="0" i="0" lang="en-US" sz="3600" u="none">
                <a:solidFill>
                  <a:srgbClr val="080808"/>
                </a:solidFill>
                <a:latin typeface="Arial"/>
                <a:ea typeface="Arial"/>
                <a:cs typeface="Arial"/>
                <a:sym typeface="Arial"/>
              </a:rPr>
              <a:t>n lý và phân ph</a:t>
            </a:r>
            <a:r>
              <a:rPr b="0" i="0" lang="en-US" sz="4000" u="none">
                <a:solidFill>
                  <a:srgbClr val="080808"/>
                </a:solidFill>
                <a:latin typeface="Arial"/>
                <a:ea typeface="Arial"/>
                <a:cs typeface="Arial"/>
                <a:sym typeface="Arial"/>
              </a:rPr>
              <a:t>ố</a:t>
            </a:r>
            <a:r>
              <a:rPr b="0" i="0" lang="en-US" sz="3600" u="none">
                <a:solidFill>
                  <a:srgbClr val="080808"/>
                </a:solidFill>
                <a:latin typeface="Arial"/>
                <a:ea typeface="Arial"/>
                <a:cs typeface="Arial"/>
                <a:sym typeface="Arial"/>
              </a:rPr>
              <a:t>i tiến trình trong các hệ điều hành, </a:t>
            </a:r>
            <a:endParaRPr/>
          </a:p>
          <a:p>
            <a:pPr indent="-342900" lvl="0" marL="342900" rtl="0" algn="just">
              <a:lnSpc>
                <a:spcPct val="100000"/>
              </a:lnSpc>
              <a:spcBef>
                <a:spcPts val="800"/>
              </a:spcBef>
              <a:spcAft>
                <a:spcPts val="0"/>
              </a:spcAft>
              <a:buClr>
                <a:schemeClr val="hlink"/>
              </a:buClr>
              <a:buSzPts val="3600"/>
              <a:buFont typeface="Noto Sans Symbols"/>
              <a:buChar char="▪"/>
            </a:pPr>
            <a:r>
              <a:rPr b="0" i="0" lang="en-US" sz="3600" u="none">
                <a:solidFill>
                  <a:srgbClr val="080808"/>
                </a:solidFill>
                <a:latin typeface="Arial"/>
                <a:ea typeface="Arial"/>
                <a:cs typeface="Arial"/>
                <a:sym typeface="Arial"/>
              </a:rPr>
              <a:t>Tổ chức bộ đ</a:t>
            </a:r>
            <a:r>
              <a:rPr b="0" i="0" lang="en-US" sz="4000" u="none">
                <a:solidFill>
                  <a:srgbClr val="080808"/>
                </a:solidFill>
                <a:latin typeface="Arial"/>
                <a:ea typeface="Arial"/>
                <a:cs typeface="Arial"/>
                <a:sym typeface="Arial"/>
              </a:rPr>
              <a:t>ệ</a:t>
            </a:r>
            <a:r>
              <a:rPr b="0" i="0" lang="en-US" sz="3600" u="none">
                <a:solidFill>
                  <a:srgbClr val="080808"/>
                </a:solidFill>
                <a:latin typeface="Arial"/>
                <a:ea typeface="Arial"/>
                <a:cs typeface="Arial"/>
                <a:sym typeface="Arial"/>
              </a:rPr>
              <a:t>m bàn phím, v</a:t>
            </a:r>
            <a:r>
              <a:rPr b="0" i="0" lang="en-US" sz="3200" u="none">
                <a:solidFill>
                  <a:schemeClr val="dk1"/>
                </a:solidFill>
                <a:latin typeface="Arial"/>
                <a:ea typeface="Arial"/>
                <a:cs typeface="Arial"/>
                <a:sym typeface="Arial"/>
              </a:rPr>
              <a:t>í  dụ : Nhấn  phím =&gt; Bộ  đệm =&gt; CPU xử  lý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2">
  <a:themeElements>
    <a:clrScheme name="t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t2">
  <a:themeElements>
    <a:clrScheme name="t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2006-03-07T22:30:17Z</dcterms:created>
  <dc:creator>User</dc:creator>
</cp:coreProperties>
</file>