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906000"/>
  <p:notesSz cx="9601200" cy="73136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{2D200454-40CA-4A62-9FC3-DE9A4176ACB9}">
      <p15:notesGuideLst>
        <p15:guide id="1" orient="horz" pos="2303">
          <p15:clr>
            <a:srgbClr val="000000"/>
          </p15:clr>
        </p15:guide>
        <p15:guide id="2" pos="3024">
          <p15:clr>
            <a:srgbClr val="000000"/>
          </p15:clr>
        </p15:guide>
      </p15:notesGuideLst>
    </p:ext>
    <p:ext uri="GoogleSlidesCustomDataVersion2">
      <go:slidesCustomData xmlns:go="http://customooxmlschemas.google.com/" r:id="rId32" roundtripDataSignature="AMtx7mhV0SH7UscoEhjx9RhFmcHyDdD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303" orient="horz"/>
        <p:guide pos="30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438775" y="0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438775" y="6945312"/>
            <a:ext cx="416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:notes"/>
          <p:cNvSpPr txBox="1"/>
          <p:nvPr>
            <p:ph idx="1" type="body"/>
          </p:nvPr>
        </p:nvSpPr>
        <p:spPr>
          <a:xfrm>
            <a:off x="960437" y="3475037"/>
            <a:ext cx="7680325" cy="3290887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:notes"/>
          <p:cNvSpPr/>
          <p:nvPr>
            <p:ph idx="2" type="sldImg"/>
          </p:nvPr>
        </p:nvSpPr>
        <p:spPr>
          <a:xfrm>
            <a:off x="2819400" y="547687"/>
            <a:ext cx="39624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/>
          <p:nvPr>
            <p:ph type="title"/>
          </p:nvPr>
        </p:nvSpPr>
        <p:spPr>
          <a:xfrm rot="5400000">
            <a:off x="5441156" y="1988344"/>
            <a:ext cx="6453188" cy="24765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" type="body"/>
          </p:nvPr>
        </p:nvSpPr>
        <p:spPr>
          <a:xfrm rot="5400000">
            <a:off x="411956" y="-411956"/>
            <a:ext cx="6453188" cy="7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 rot="5400000">
            <a:off x="2432844" y="-746919"/>
            <a:ext cx="5688012" cy="8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7" name="Google Shape;37;p28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4" name="Google Shape;44;p31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5" name="Google Shape;45;p31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6" name="Google Shape;46;p31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920750" y="765175"/>
            <a:ext cx="4279900" cy="5688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0" name="Google Shape;50;p32"/>
          <p:cNvSpPr txBox="1"/>
          <p:nvPr>
            <p:ph idx="2" type="body"/>
          </p:nvPr>
        </p:nvSpPr>
        <p:spPr>
          <a:xfrm>
            <a:off x="5353050" y="765175"/>
            <a:ext cx="4279900" cy="5688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logo" id="12" name="Google Shape;12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704850" cy="7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3"/>
          <p:cNvSpPr txBox="1"/>
          <p:nvPr/>
        </p:nvSpPr>
        <p:spPr>
          <a:xfrm>
            <a:off x="0" y="908050"/>
            <a:ext cx="4159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3"/>
          <p:cNvSpPr txBox="1"/>
          <p:nvPr/>
        </p:nvSpPr>
        <p:spPr>
          <a:xfrm>
            <a:off x="0" y="762000"/>
            <a:ext cx="704850" cy="6096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3"/>
          <p:cNvSpPr txBox="1"/>
          <p:nvPr/>
        </p:nvSpPr>
        <p:spPr>
          <a:xfrm rot="-5400000">
            <a:off x="-1199356" y="4791868"/>
            <a:ext cx="3460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3F3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F3F3"/>
                </a:solidFill>
                <a:latin typeface="Arial"/>
                <a:ea typeface="Arial"/>
                <a:cs typeface="Arial"/>
                <a:sym typeface="Arial"/>
              </a:rPr>
              <a:t>Cấu  trúc dữ liệu  và thuật giải</a:t>
            </a:r>
            <a:endParaRPr/>
          </a:p>
        </p:txBody>
      </p:sp>
      <p:sp>
        <p:nvSpPr>
          <p:cNvPr id="16" name="Google Shape;16;p23"/>
          <p:cNvSpPr txBox="1"/>
          <p:nvPr/>
        </p:nvSpPr>
        <p:spPr>
          <a:xfrm>
            <a:off x="0" y="762000"/>
            <a:ext cx="704850" cy="6096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3"/>
          <p:cNvSpPr txBox="1"/>
          <p:nvPr/>
        </p:nvSpPr>
        <p:spPr>
          <a:xfrm rot="-5400000">
            <a:off x="-1199356" y="4937918"/>
            <a:ext cx="3303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CẤU TRÚC DỮ LIỆU VÀ GIẢI THUẬT </a:t>
            </a:r>
            <a:endParaRPr/>
          </a:p>
        </p:txBody>
      </p:sp>
      <p:pic>
        <p:nvPicPr>
          <p:cNvPr id="18" name="Google Shape;1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048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3"/>
          <p:cNvSpPr txBox="1"/>
          <p:nvPr/>
        </p:nvSpPr>
        <p:spPr>
          <a:xfrm>
            <a:off x="776287" y="79375"/>
            <a:ext cx="89296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/>
          </a:p>
        </p:txBody>
      </p:sp>
      <p:sp>
        <p:nvSpPr>
          <p:cNvPr id="20" name="Google Shape;20;p23"/>
          <p:cNvSpPr txBox="1"/>
          <p:nvPr/>
        </p:nvSpPr>
        <p:spPr>
          <a:xfrm>
            <a:off x="9375775" y="6467475"/>
            <a:ext cx="762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NỘI DUNG</a:t>
            </a:r>
            <a:endParaRPr/>
          </a:p>
        </p:txBody>
      </p:sp>
      <p:grpSp>
        <p:nvGrpSpPr>
          <p:cNvPr id="62" name="Google Shape;62;p1"/>
          <p:cNvGrpSpPr/>
          <p:nvPr/>
        </p:nvGrpSpPr>
        <p:grpSpPr>
          <a:xfrm>
            <a:off x="1065212" y="2708275"/>
            <a:ext cx="8496300" cy="1482725"/>
            <a:chOff x="960" y="2256"/>
            <a:chExt cx="4320" cy="624"/>
          </a:xfrm>
        </p:grpSpPr>
        <p:sp>
          <p:nvSpPr>
            <p:cNvPr id="63" name="Google Shape;63;p1"/>
            <p:cNvSpPr/>
            <p:nvPr/>
          </p:nvSpPr>
          <p:spPr>
            <a:xfrm>
              <a:off x="1320" y="2364"/>
              <a:ext cx="3960" cy="416"/>
            </a:xfrm>
            <a:prstGeom prst="roundRect">
              <a:avLst>
                <a:gd fmla="val 16667" name="adj"/>
              </a:avLst>
            </a:prstGeom>
            <a:solidFill>
              <a:schemeClr val="hlink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388334" dist="9919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960" y="2256"/>
              <a:ext cx="648" cy="624"/>
            </a:xfrm>
            <a:prstGeom prst="diamond">
              <a:avLst/>
            </a:prstGeom>
            <a:solidFill>
              <a:schemeClr val="hlink"/>
            </a:solidFill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2212194" dist="63500">
                <a:srgbClr val="333333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 txBox="1"/>
            <p:nvPr/>
          </p:nvSpPr>
          <p:spPr>
            <a:xfrm>
              <a:off x="1560" y="2457"/>
              <a:ext cx="3240" cy="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Arial"/>
                <a:buNone/>
              </a:pPr>
              <a:r>
                <a:rPr b="0" i="0" lang="en-US" sz="4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CÂY NHỊ PHÂN TÌM KIẾM</a:t>
              </a:r>
              <a:endParaRPr/>
            </a:p>
          </p:txBody>
        </p:sp>
        <p:sp>
          <p:nvSpPr>
            <p:cNvPr id="66" name="Google Shape;66;p1"/>
            <p:cNvSpPr txBox="1"/>
            <p:nvPr/>
          </p:nvSpPr>
          <p:spPr>
            <a:xfrm>
              <a:off x="1226" y="2400"/>
              <a:ext cx="93" cy="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Ðịnh nghĩa cây nhị phân tìm kiếm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1058862" y="898525"/>
            <a:ext cx="8574087" cy="255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Cây nhị phân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Bảo đảm nguyên tắc bố trí khoá tại mỗi nút: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Char char="–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Các nút trong cây trái nhỏ hơn nút hiện hành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Char char="–"/>
            </a:pPr>
            <a:r>
              <a:rPr b="0" i="0" lang="en-US" sz="28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Các nút trong cây phải lớn hơn nút hiện hành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1136650" y="3357562"/>
            <a:ext cx="2951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</a:t>
            </a:r>
            <a:endParaRPr/>
          </a:p>
        </p:txBody>
      </p:sp>
      <p:grpSp>
        <p:nvGrpSpPr>
          <p:cNvPr id="74" name="Google Shape;74;p2"/>
          <p:cNvGrpSpPr/>
          <p:nvPr/>
        </p:nvGrpSpPr>
        <p:grpSpPr>
          <a:xfrm>
            <a:off x="3008312" y="3032125"/>
            <a:ext cx="5976937" cy="3600450"/>
            <a:chOff x="2549" y="6554"/>
            <a:chExt cx="7546" cy="4830"/>
          </a:xfrm>
        </p:grpSpPr>
        <p:sp>
          <p:nvSpPr>
            <p:cNvPr id="75" name="Google Shape;75;p2"/>
            <p:cNvSpPr/>
            <p:nvPr/>
          </p:nvSpPr>
          <p:spPr>
            <a:xfrm>
              <a:off x="6058" y="6554"/>
              <a:ext cx="677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44</a:t>
              </a:r>
              <a:endParaRPr/>
            </a:p>
          </p:txBody>
        </p:sp>
        <p:cxnSp>
          <p:nvCxnSpPr>
            <p:cNvPr id="76" name="Google Shape;76;p2"/>
            <p:cNvCxnSpPr/>
            <p:nvPr/>
          </p:nvCxnSpPr>
          <p:spPr>
            <a:xfrm flipH="1">
              <a:off x="4050" y="7005"/>
              <a:ext cx="2325" cy="102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77" name="Google Shape;77;p2"/>
            <p:cNvCxnSpPr/>
            <p:nvPr/>
          </p:nvCxnSpPr>
          <p:spPr>
            <a:xfrm>
              <a:off x="4065" y="8490"/>
              <a:ext cx="1065" cy="100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78" name="Google Shape;78;p2"/>
            <p:cNvCxnSpPr/>
            <p:nvPr/>
          </p:nvCxnSpPr>
          <p:spPr>
            <a:xfrm flipH="1">
              <a:off x="2865" y="8490"/>
              <a:ext cx="1185" cy="99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79" name="Google Shape;79;p2"/>
            <p:cNvCxnSpPr/>
            <p:nvPr/>
          </p:nvCxnSpPr>
          <p:spPr>
            <a:xfrm>
              <a:off x="6390" y="7005"/>
              <a:ext cx="2610" cy="102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80" name="Google Shape;80;p2"/>
            <p:cNvCxnSpPr/>
            <p:nvPr/>
          </p:nvCxnSpPr>
          <p:spPr>
            <a:xfrm flipH="1">
              <a:off x="8145" y="8490"/>
              <a:ext cx="870" cy="99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81" name="Google Shape;81;p2"/>
            <p:cNvCxnSpPr/>
            <p:nvPr/>
          </p:nvCxnSpPr>
          <p:spPr>
            <a:xfrm>
              <a:off x="9015" y="8490"/>
              <a:ext cx="750" cy="99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82" name="Google Shape;82;p2"/>
            <p:cNvSpPr/>
            <p:nvPr/>
          </p:nvSpPr>
          <p:spPr>
            <a:xfrm>
              <a:off x="3719" y="8038"/>
              <a:ext cx="705" cy="437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640" y="8038"/>
              <a:ext cx="675" cy="437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</a:t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549" y="9495"/>
              <a:ext cx="705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710" y="9495"/>
              <a:ext cx="705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798" y="9478"/>
              <a:ext cx="677" cy="437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59</a:t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420" y="9478"/>
              <a:ext cx="675" cy="437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108</a:t>
              </a:r>
              <a:endParaRPr/>
            </a:p>
          </p:txBody>
        </p:sp>
        <p:cxnSp>
          <p:nvCxnSpPr>
            <p:cNvPr id="88" name="Google Shape;88;p2"/>
            <p:cNvCxnSpPr/>
            <p:nvPr/>
          </p:nvCxnSpPr>
          <p:spPr>
            <a:xfrm>
              <a:off x="5072" y="9945"/>
              <a:ext cx="628" cy="100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89" name="Google Shape;89;p2"/>
            <p:cNvCxnSpPr/>
            <p:nvPr/>
          </p:nvCxnSpPr>
          <p:spPr>
            <a:xfrm flipH="1">
              <a:off x="4364" y="9945"/>
              <a:ext cx="699" cy="99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grpSp>
          <p:nvGrpSpPr>
            <p:cNvPr id="90" name="Google Shape;90;p2"/>
            <p:cNvGrpSpPr/>
            <p:nvPr/>
          </p:nvGrpSpPr>
          <p:grpSpPr>
            <a:xfrm>
              <a:off x="7454" y="9945"/>
              <a:ext cx="1336" cy="1005"/>
              <a:chOff x="3900" y="9945"/>
              <a:chExt cx="2265" cy="1005"/>
            </a:xfrm>
          </p:grpSpPr>
          <p:cxnSp>
            <p:nvCxnSpPr>
              <p:cNvPr id="91" name="Google Shape;91;p2"/>
              <p:cNvCxnSpPr/>
              <p:nvPr/>
            </p:nvCxnSpPr>
            <p:spPr>
              <a:xfrm>
                <a:off x="5100" y="9945"/>
                <a:ext cx="1065" cy="100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 flipH="1">
                <a:off x="3900" y="9945"/>
                <a:ext cx="1185" cy="99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cxnSp>
          <p:nvCxnSpPr>
            <p:cNvPr id="93" name="Google Shape;93;p2"/>
            <p:cNvCxnSpPr/>
            <p:nvPr/>
          </p:nvCxnSpPr>
          <p:spPr>
            <a:xfrm>
              <a:off x="2927" y="9945"/>
              <a:ext cx="628" cy="100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94" name="Google Shape;94;p2"/>
            <p:cNvSpPr/>
            <p:nvPr/>
          </p:nvSpPr>
          <p:spPr>
            <a:xfrm>
              <a:off x="3194" y="10950"/>
              <a:ext cx="705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034" y="10950"/>
              <a:ext cx="705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309" y="10950"/>
              <a:ext cx="705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7095" y="10950"/>
              <a:ext cx="705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55</a:t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413" y="10950"/>
              <a:ext cx="707" cy="43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100000">
                  <a:srgbClr val="B2B2B2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71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Ưu điểm của cây nhị phân tìm kiếm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Nhờ trật tự bố trí khóa trên cây 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–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Định hướng được khi tìm kiếm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80808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Cây gồm N phần tử 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–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Trường hợp tốt nhất h = log</a:t>
            </a:r>
            <a:r>
              <a:rPr b="0" baseline="-2500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N,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–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Trường hợp xấu nhất h = 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–"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Tình huống xảy ra trường hợp xấu nhất ?</a:t>
            </a:r>
            <a:endParaRPr/>
          </a:p>
          <a:p>
            <a:pPr indent="-825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Cấu trúc dữ liệu của cây nhị phân tìm kiếm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•"/>
            </a:pPr>
            <a:r>
              <a:rPr b="0" i="1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ấu trúc dữ liệu của 1 nút</a:t>
            </a:r>
            <a:endParaRPr b="0" i="1" sz="32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typedef struct tagTNode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{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int	Key; //tr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ường dữ liệu là 1 số nguyên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struct tagTNode *pLeft;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struct tagTNode *pRight;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}TNode;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•"/>
            </a:pPr>
            <a:r>
              <a:rPr b="0" i="1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ấu trúc dữ liệu của cây</a:t>
            </a:r>
            <a:endParaRPr b="0" i="1" sz="32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typedef TNode *TREE;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Các thao tác trên cây nhị phân tìm kiếm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Tạo 1 cây rỗng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Tạo 1 nút có trường Key bằng x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Thêm 1 nút vào cây nhị phân tìm kiếm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Xóa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nút có Key bằng x trên cây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Tìm 1 nút có khoá bằng x trên cây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Tạo cây rỗng</a:t>
            </a: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 rỗng -&gt; địa chỉ nút gốc bằng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void CreateTree(TREE &amp;T)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{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T=NULL;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Tạo 1 nút có Key bằng x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TNode *CreateTNode(int x)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TNode *p;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p = new TNode; //cấp phát vùng nhớ động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if(p==NULL)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exit(1); // thoát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else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p-&gt;key = x;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//gán trường dữ liệu của nút = x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p-&gt;pLeft = NULL;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p-&gt;pRight = NULL;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return p;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Thêm một nút x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776287" y="692150"/>
            <a:ext cx="9129712" cy="616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ằng buộc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Sau khi thêm cây đảm bảo là cây nhị phân tìm kiếm.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b="1" i="0" lang="en-US" sz="24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insertNode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(TREE &amp;T, Data X)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	if(T)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{	if(T-&gt;Key == X)	return 0;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if(T-&gt;Key &gt; X) return insertNode(T-&gt;pLeft, X);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else	return insertNode(T-&gt;pRight, X);}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	= new TNode;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if(T == NULL)	return -1;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T-&gt;Key	= X;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T-&gt;pLeft =T-&gt;pRight = NULL;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1; 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Minh họa thêm 1 phần tử vào cây</a:t>
            </a:r>
            <a:endParaRPr/>
          </a:p>
        </p:txBody>
      </p:sp>
      <p:grpSp>
        <p:nvGrpSpPr>
          <p:cNvPr id="140" name="Google Shape;140;p9"/>
          <p:cNvGrpSpPr/>
          <p:nvPr/>
        </p:nvGrpSpPr>
        <p:grpSpPr>
          <a:xfrm>
            <a:off x="1722437" y="1125537"/>
            <a:ext cx="6829425" cy="5227637"/>
            <a:chOff x="621" y="1104"/>
            <a:chExt cx="4302" cy="3158"/>
          </a:xfrm>
        </p:grpSpPr>
        <p:sp>
          <p:nvSpPr>
            <p:cNvPr id="141" name="Google Shape;141;p9"/>
            <p:cNvSpPr/>
            <p:nvPr/>
          </p:nvSpPr>
          <p:spPr>
            <a:xfrm>
              <a:off x="2519" y="1219"/>
              <a:ext cx="370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44</a:t>
              </a:r>
              <a:endParaRPr/>
            </a:p>
          </p:txBody>
        </p:sp>
        <p:cxnSp>
          <p:nvCxnSpPr>
            <p:cNvPr id="142" name="Google Shape;142;p9"/>
            <p:cNvCxnSpPr/>
            <p:nvPr/>
          </p:nvCxnSpPr>
          <p:spPr>
            <a:xfrm flipH="1">
              <a:off x="1436" y="1445"/>
              <a:ext cx="1257" cy="5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43" name="Google Shape;143;p9"/>
            <p:cNvCxnSpPr/>
            <p:nvPr/>
          </p:nvCxnSpPr>
          <p:spPr>
            <a:xfrm>
              <a:off x="1444" y="2178"/>
              <a:ext cx="576" cy="4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44" name="Google Shape;144;p9"/>
            <p:cNvCxnSpPr/>
            <p:nvPr/>
          </p:nvCxnSpPr>
          <p:spPr>
            <a:xfrm flipH="1">
              <a:off x="795" y="2178"/>
              <a:ext cx="641" cy="4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45" name="Google Shape;145;p9"/>
            <p:cNvCxnSpPr/>
            <p:nvPr/>
          </p:nvCxnSpPr>
          <p:spPr>
            <a:xfrm>
              <a:off x="2701" y="1445"/>
              <a:ext cx="1411" cy="5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46" name="Google Shape;146;p9"/>
            <p:cNvCxnSpPr/>
            <p:nvPr/>
          </p:nvCxnSpPr>
          <p:spPr>
            <a:xfrm flipH="1">
              <a:off x="3650" y="2178"/>
              <a:ext cx="470" cy="4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47" name="Google Shape;147;p9"/>
            <p:cNvCxnSpPr/>
            <p:nvPr/>
          </p:nvCxnSpPr>
          <p:spPr>
            <a:xfrm>
              <a:off x="4120" y="2178"/>
              <a:ext cx="406" cy="4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48" name="Google Shape;148;p9"/>
            <p:cNvSpPr/>
            <p:nvPr/>
          </p:nvSpPr>
          <p:spPr>
            <a:xfrm>
              <a:off x="1254" y="1952"/>
              <a:ext cx="386" cy="26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</a:t>
              </a: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3914" y="1952"/>
              <a:ext cx="370" cy="26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</a:t>
              </a: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621" y="2670"/>
              <a:ext cx="387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</a:t>
              </a: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1789" y="2670"/>
              <a:ext cx="387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37</a:t>
              </a: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3460" y="2663"/>
              <a:ext cx="370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59</a:t>
              </a: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342" y="2670"/>
              <a:ext cx="581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108</a:t>
              </a:r>
              <a:endParaRPr/>
            </a:p>
          </p:txBody>
        </p:sp>
        <p:cxnSp>
          <p:nvCxnSpPr>
            <p:cNvPr id="154" name="Google Shape;154;p9"/>
            <p:cNvCxnSpPr/>
            <p:nvPr/>
          </p:nvCxnSpPr>
          <p:spPr>
            <a:xfrm>
              <a:off x="1988" y="2896"/>
              <a:ext cx="340" cy="4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55" name="Google Shape;155;p9"/>
            <p:cNvCxnSpPr/>
            <p:nvPr/>
          </p:nvCxnSpPr>
          <p:spPr>
            <a:xfrm flipH="1">
              <a:off x="1605" y="2896"/>
              <a:ext cx="378" cy="4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grpSp>
          <p:nvGrpSpPr>
            <p:cNvPr id="156" name="Google Shape;156;p9"/>
            <p:cNvGrpSpPr/>
            <p:nvPr/>
          </p:nvGrpSpPr>
          <p:grpSpPr>
            <a:xfrm>
              <a:off x="3276" y="2896"/>
              <a:ext cx="722" cy="496"/>
              <a:chOff x="3900" y="9945"/>
              <a:chExt cx="2265" cy="1005"/>
            </a:xfrm>
          </p:grpSpPr>
          <p:cxnSp>
            <p:nvCxnSpPr>
              <p:cNvPr id="157" name="Google Shape;157;p9"/>
              <p:cNvCxnSpPr/>
              <p:nvPr/>
            </p:nvCxnSpPr>
            <p:spPr>
              <a:xfrm>
                <a:off x="5100" y="9945"/>
                <a:ext cx="1065" cy="10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58" name="Google Shape;158;p9"/>
              <p:cNvCxnSpPr/>
              <p:nvPr/>
            </p:nvCxnSpPr>
            <p:spPr>
              <a:xfrm flipH="1">
                <a:off x="3900" y="9945"/>
                <a:ext cx="1185" cy="9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cxnSp>
          <p:nvCxnSpPr>
            <p:cNvPr id="159" name="Google Shape;159;p9"/>
            <p:cNvCxnSpPr/>
            <p:nvPr/>
          </p:nvCxnSpPr>
          <p:spPr>
            <a:xfrm>
              <a:off x="828" y="2896"/>
              <a:ext cx="340" cy="4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60" name="Google Shape;160;p9"/>
            <p:cNvSpPr/>
            <p:nvPr/>
          </p:nvSpPr>
          <p:spPr>
            <a:xfrm>
              <a:off x="970" y="3388"/>
              <a:ext cx="386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15</a:t>
              </a: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1424" y="3388"/>
              <a:ext cx="387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23</a:t>
              </a: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2113" y="3388"/>
              <a:ext cx="387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40</a:t>
              </a: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078" y="3388"/>
              <a:ext cx="387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55</a:t>
              </a: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792" y="3388"/>
              <a:ext cx="387" cy="26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71</a:t>
              </a:r>
              <a:endParaRPr/>
            </a:p>
          </p:txBody>
        </p:sp>
        <p:sp>
          <p:nvSpPr>
            <p:cNvPr id="165" name="Google Shape;165;p9"/>
            <p:cNvSpPr txBox="1"/>
            <p:nvPr/>
          </p:nvSpPr>
          <p:spPr>
            <a:xfrm>
              <a:off x="941" y="1334"/>
              <a:ext cx="1030" cy="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0808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rgbClr val="08080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Theâm X=50</a:t>
              </a: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2482" y="1104"/>
              <a:ext cx="231" cy="111"/>
            </a:xfrm>
            <a:custGeom>
              <a:rect b="b" l="l" r="r" t="t"/>
              <a:pathLst>
                <a:path extrusionOk="0" h="225" w="158">
                  <a:moveTo>
                    <a:pt x="0" y="0"/>
                  </a:moveTo>
                  <a:cubicBezTo>
                    <a:pt x="56" y="26"/>
                    <a:pt x="112" y="52"/>
                    <a:pt x="135" y="90"/>
                  </a:cubicBezTo>
                  <a:cubicBezTo>
                    <a:pt x="158" y="128"/>
                    <a:pt x="146" y="176"/>
                    <a:pt x="135" y="225"/>
                  </a:cubicBezTo>
                </a:path>
              </a:pathLst>
            </a:cu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" name="Google Shape;167;p9"/>
            <p:cNvGrpSpPr/>
            <p:nvPr/>
          </p:nvGrpSpPr>
          <p:grpSpPr>
            <a:xfrm>
              <a:off x="2895" y="1237"/>
              <a:ext cx="1328" cy="705"/>
              <a:chOff x="2895" y="1237"/>
              <a:chExt cx="1328" cy="705"/>
            </a:xfrm>
          </p:grpSpPr>
          <p:sp>
            <p:nvSpPr>
              <p:cNvPr id="168" name="Google Shape;168;p9"/>
              <p:cNvSpPr/>
              <p:nvPr/>
            </p:nvSpPr>
            <p:spPr>
              <a:xfrm>
                <a:off x="2895" y="1342"/>
                <a:ext cx="1328" cy="600"/>
              </a:xfrm>
              <a:custGeom>
                <a:rect b="b" l="l" r="r" t="t"/>
                <a:pathLst>
                  <a:path extrusionOk="0" h="1215" w="2455">
                    <a:moveTo>
                      <a:pt x="0" y="0"/>
                    </a:moveTo>
                    <a:cubicBezTo>
                      <a:pt x="390" y="40"/>
                      <a:pt x="780" y="80"/>
                      <a:pt x="1155" y="225"/>
                    </a:cubicBezTo>
                    <a:cubicBezTo>
                      <a:pt x="1530" y="370"/>
                      <a:pt x="2045" y="705"/>
                      <a:pt x="2250" y="870"/>
                    </a:cubicBezTo>
                    <a:cubicBezTo>
                      <a:pt x="2455" y="1035"/>
                      <a:pt x="2420" y="1125"/>
                      <a:pt x="2385" y="1215"/>
                    </a:cubicBezTo>
                  </a:path>
                </a:pathLst>
              </a:custGeom>
              <a:noFill/>
              <a:ln cap="flat" cmpd="sng" w="381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9"/>
              <p:cNvSpPr txBox="1"/>
              <p:nvPr/>
            </p:nvSpPr>
            <p:spPr>
              <a:xfrm>
                <a:off x="3293" y="1237"/>
                <a:ext cx="616" cy="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80808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8080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44 &lt; X</a:t>
                </a:r>
                <a:endParaRPr/>
              </a:p>
            </p:txBody>
          </p:sp>
        </p:grpSp>
        <p:grpSp>
          <p:nvGrpSpPr>
            <p:cNvPr id="170" name="Google Shape;170;p9"/>
            <p:cNvGrpSpPr/>
            <p:nvPr/>
          </p:nvGrpSpPr>
          <p:grpSpPr>
            <a:xfrm>
              <a:off x="3163" y="2007"/>
              <a:ext cx="746" cy="637"/>
              <a:chOff x="3163" y="2007"/>
              <a:chExt cx="746" cy="637"/>
            </a:xfrm>
          </p:grpSpPr>
          <p:sp>
            <p:nvSpPr>
              <p:cNvPr id="171" name="Google Shape;171;p9"/>
              <p:cNvSpPr/>
              <p:nvPr/>
            </p:nvSpPr>
            <p:spPr>
              <a:xfrm>
                <a:off x="3520" y="2074"/>
                <a:ext cx="389" cy="570"/>
              </a:xfrm>
              <a:custGeom>
                <a:rect b="b" l="l" r="r" t="t"/>
                <a:pathLst>
                  <a:path extrusionOk="0" h="1155" w="720">
                    <a:moveTo>
                      <a:pt x="720" y="0"/>
                    </a:moveTo>
                    <a:cubicBezTo>
                      <a:pt x="586" y="65"/>
                      <a:pt x="453" y="130"/>
                      <a:pt x="345" y="225"/>
                    </a:cubicBezTo>
                    <a:cubicBezTo>
                      <a:pt x="237" y="320"/>
                      <a:pt x="133" y="415"/>
                      <a:pt x="75" y="570"/>
                    </a:cubicBezTo>
                    <a:cubicBezTo>
                      <a:pt x="17" y="725"/>
                      <a:pt x="8" y="940"/>
                      <a:pt x="0" y="1155"/>
                    </a:cubicBezTo>
                  </a:path>
                </a:pathLst>
              </a:custGeom>
              <a:noFill/>
              <a:ln cap="flat" cmpd="sng" w="381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9"/>
              <p:cNvSpPr txBox="1"/>
              <p:nvPr/>
            </p:nvSpPr>
            <p:spPr>
              <a:xfrm>
                <a:off x="3163" y="2007"/>
                <a:ext cx="616" cy="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80808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8080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88 &gt; X</a:t>
                </a:r>
                <a:endParaRPr/>
              </a:p>
            </p:txBody>
          </p:sp>
        </p:grpSp>
        <p:grpSp>
          <p:nvGrpSpPr>
            <p:cNvPr id="173" name="Google Shape;173;p9"/>
            <p:cNvGrpSpPr/>
            <p:nvPr/>
          </p:nvGrpSpPr>
          <p:grpSpPr>
            <a:xfrm>
              <a:off x="2660" y="2777"/>
              <a:ext cx="803" cy="607"/>
              <a:chOff x="2660" y="2777"/>
              <a:chExt cx="803" cy="607"/>
            </a:xfrm>
          </p:grpSpPr>
          <p:sp>
            <p:nvSpPr>
              <p:cNvPr id="174" name="Google Shape;174;p9"/>
              <p:cNvSpPr/>
              <p:nvPr/>
            </p:nvSpPr>
            <p:spPr>
              <a:xfrm>
                <a:off x="3187" y="2777"/>
                <a:ext cx="276" cy="607"/>
              </a:xfrm>
              <a:custGeom>
                <a:rect b="b" l="l" r="r" t="t"/>
                <a:pathLst>
                  <a:path extrusionOk="0" h="1230" w="510">
                    <a:moveTo>
                      <a:pt x="510" y="0"/>
                    </a:moveTo>
                    <a:cubicBezTo>
                      <a:pt x="390" y="16"/>
                      <a:pt x="270" y="33"/>
                      <a:pt x="195" y="105"/>
                    </a:cubicBezTo>
                    <a:cubicBezTo>
                      <a:pt x="120" y="177"/>
                      <a:pt x="92" y="248"/>
                      <a:pt x="60" y="435"/>
                    </a:cubicBezTo>
                    <a:cubicBezTo>
                      <a:pt x="28" y="622"/>
                      <a:pt x="14" y="926"/>
                      <a:pt x="0" y="1230"/>
                    </a:cubicBezTo>
                  </a:path>
                </a:pathLst>
              </a:custGeom>
              <a:noFill/>
              <a:ln cap="flat" cmpd="sng" w="381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9"/>
              <p:cNvSpPr txBox="1"/>
              <p:nvPr/>
            </p:nvSpPr>
            <p:spPr>
              <a:xfrm>
                <a:off x="2660" y="2799"/>
                <a:ext cx="617" cy="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80808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8080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59 &gt; X</a:t>
                </a:r>
                <a:endParaRPr/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>
              <a:off x="2247" y="3473"/>
              <a:ext cx="936" cy="789"/>
              <a:chOff x="2247" y="3473"/>
              <a:chExt cx="936" cy="789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2793" y="3956"/>
                <a:ext cx="390" cy="306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FFFFFF">
                      <a:alpha val="60000"/>
                    </a:srgbClr>
                  </a:gs>
                  <a:gs pos="100000">
                    <a:srgbClr val="FF33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Helvetica Neue"/>
                  <a:buNone/>
                </a:pPr>
                <a:r>
                  <a:rPr b="1" i="0" lang="en-US" sz="24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50</a:t>
                </a:r>
                <a:endParaRPr/>
              </a:p>
            </p:txBody>
          </p:sp>
          <p:grpSp>
            <p:nvGrpSpPr>
              <p:cNvPr id="178" name="Google Shape;178;p9"/>
              <p:cNvGrpSpPr/>
              <p:nvPr/>
            </p:nvGrpSpPr>
            <p:grpSpPr>
              <a:xfrm>
                <a:off x="2247" y="3473"/>
                <a:ext cx="819" cy="474"/>
                <a:chOff x="2247" y="3473"/>
                <a:chExt cx="819" cy="474"/>
              </a:xfrm>
            </p:grpSpPr>
            <p:sp>
              <p:nvSpPr>
                <p:cNvPr id="179" name="Google Shape;179;p9"/>
                <p:cNvSpPr/>
                <p:nvPr/>
              </p:nvSpPr>
              <p:spPr>
                <a:xfrm>
                  <a:off x="2822" y="3473"/>
                  <a:ext cx="244" cy="474"/>
                </a:xfrm>
                <a:custGeom>
                  <a:rect b="b" l="l" r="r" t="t"/>
                  <a:pathLst>
                    <a:path extrusionOk="0" h="960" w="450">
                      <a:moveTo>
                        <a:pt x="450" y="0"/>
                      </a:moveTo>
                      <a:cubicBezTo>
                        <a:pt x="330" y="16"/>
                        <a:pt x="210" y="33"/>
                        <a:pt x="135" y="105"/>
                      </a:cubicBezTo>
                      <a:cubicBezTo>
                        <a:pt x="60" y="177"/>
                        <a:pt x="0" y="293"/>
                        <a:pt x="0" y="435"/>
                      </a:cubicBezTo>
                      <a:cubicBezTo>
                        <a:pt x="0" y="577"/>
                        <a:pt x="107" y="851"/>
                        <a:pt x="135" y="960"/>
                      </a:cubicBezTo>
                    </a:path>
                  </a:pathLst>
                </a:custGeom>
                <a:noFill/>
                <a:ln cap="flat" cmpd="sng" w="381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9"/>
                <p:cNvSpPr txBox="1"/>
                <p:nvPr/>
              </p:nvSpPr>
              <p:spPr>
                <a:xfrm>
                  <a:off x="2247" y="3688"/>
                  <a:ext cx="616" cy="2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80808"/>
                    </a:buClr>
                    <a:buSzPts val="2000"/>
                    <a:buFont typeface="Times New Roman"/>
                    <a:buNone/>
                  </a:pPr>
                  <a:r>
                    <a:rPr b="1" i="0" lang="en-US" sz="2000" u="none">
                      <a:solidFill>
                        <a:srgbClr val="080808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55 &gt; X</a:t>
                  </a:r>
                  <a:endParaRPr/>
                </a:p>
              </p:txBody>
            </p:sp>
          </p:grpSp>
        </p:grpSp>
        <p:cxnSp>
          <p:nvCxnSpPr>
            <p:cNvPr id="181" name="Google Shape;181;p9"/>
            <p:cNvCxnSpPr/>
            <p:nvPr/>
          </p:nvCxnSpPr>
          <p:spPr>
            <a:xfrm flipH="1">
              <a:off x="2984" y="3657"/>
              <a:ext cx="272" cy="317"/>
            </a:xfrm>
            <a:prstGeom prst="straightConnector1">
              <a:avLst/>
            </a:prstGeom>
            <a:noFill/>
            <a:ln cap="flat" cmpd="sng" w="28575">
              <a:solidFill>
                <a:srgbClr val="00008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Tìm nút có khoá bằng x (không dùng đệ quy)</a:t>
            </a:r>
            <a:endParaRPr/>
          </a:p>
        </p:txBody>
      </p:sp>
      <p:sp>
        <p:nvSpPr>
          <p:cNvPr id="187" name="Google Shape;187;p10"/>
          <p:cNvSpPr txBox="1"/>
          <p:nvPr>
            <p:ph idx="1" type="body"/>
          </p:nvPr>
        </p:nvSpPr>
        <p:spPr>
          <a:xfrm>
            <a:off x="776287" y="692150"/>
            <a:ext cx="9129712" cy="609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TNode * searchNode(TREE Root,  Data x)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{		Node *p = Root;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 		while (p != NULL)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{	if(x == p-&gt;Key) return p;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	else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	if(x &lt; p-&gt;Key)	p = p-&gt;pLeft;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	else	p = p-&gt;pRight;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		return NULL;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Tìm nút có khoá bằng x (dùng đệ quy)</a:t>
            </a:r>
            <a:endParaRPr/>
          </a:p>
        </p:txBody>
      </p:sp>
      <p:sp>
        <p:nvSpPr>
          <p:cNvPr id="193" name="Google Shape;193;p11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TNode *SearchTNode(TREE T, int x)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if(T!=NULL)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if(T-&gt;key==x)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return 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else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if(x&gt;T-&gt;key)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return SearchTNode(T-&gt;pRight,x);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else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return SearchTNode(T-&gt;pLeft,x);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return NULL;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Minh hoạ tìm một nút</a:t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5010150" y="1341437"/>
            <a:ext cx="684212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/>
          </a:p>
        </p:txBody>
      </p:sp>
      <p:cxnSp>
        <p:nvCxnSpPr>
          <p:cNvPr id="200" name="Google Shape;200;p12"/>
          <p:cNvCxnSpPr/>
          <p:nvPr/>
        </p:nvCxnSpPr>
        <p:spPr>
          <a:xfrm flipH="1">
            <a:off x="3003550" y="1714500"/>
            <a:ext cx="2327275" cy="831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1" name="Google Shape;201;p12"/>
          <p:cNvCxnSpPr/>
          <p:nvPr/>
        </p:nvCxnSpPr>
        <p:spPr>
          <a:xfrm>
            <a:off x="3019425" y="2925762"/>
            <a:ext cx="1065212" cy="819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2" name="Google Shape;202;p12"/>
          <p:cNvCxnSpPr/>
          <p:nvPr/>
        </p:nvCxnSpPr>
        <p:spPr>
          <a:xfrm flipH="1">
            <a:off x="1817687" y="2925762"/>
            <a:ext cx="1185862" cy="806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3" name="Google Shape;203;p12"/>
          <p:cNvCxnSpPr/>
          <p:nvPr/>
        </p:nvCxnSpPr>
        <p:spPr>
          <a:xfrm>
            <a:off x="5346700" y="1714500"/>
            <a:ext cx="2611437" cy="831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4" name="Google Shape;204;p12"/>
          <p:cNvCxnSpPr/>
          <p:nvPr/>
        </p:nvCxnSpPr>
        <p:spPr>
          <a:xfrm flipH="1">
            <a:off x="7102475" y="2925762"/>
            <a:ext cx="871537" cy="806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5" name="Google Shape;205;p12"/>
          <p:cNvCxnSpPr/>
          <p:nvPr/>
        </p:nvCxnSpPr>
        <p:spPr>
          <a:xfrm>
            <a:off x="7974012" y="2925762"/>
            <a:ext cx="749300" cy="806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06" name="Google Shape;206;p12"/>
          <p:cNvSpPr/>
          <p:nvPr/>
        </p:nvSpPr>
        <p:spPr>
          <a:xfrm>
            <a:off x="2667000" y="2552700"/>
            <a:ext cx="715962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7591425" y="2552700"/>
            <a:ext cx="6858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88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1497012" y="3738562"/>
            <a:ext cx="715962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3659187" y="3738562"/>
            <a:ext cx="714375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37</a:t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6751637" y="3727450"/>
            <a:ext cx="6858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59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8377237" y="3732212"/>
            <a:ext cx="677862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108</a:t>
            </a:r>
            <a:endParaRPr/>
          </a:p>
        </p:txBody>
      </p:sp>
      <p:cxnSp>
        <p:nvCxnSpPr>
          <p:cNvPr id="212" name="Google Shape;212;p12"/>
          <p:cNvCxnSpPr/>
          <p:nvPr/>
        </p:nvCxnSpPr>
        <p:spPr>
          <a:xfrm>
            <a:off x="4027487" y="4111625"/>
            <a:ext cx="628650" cy="819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3" name="Google Shape;213;p12"/>
          <p:cNvCxnSpPr/>
          <p:nvPr/>
        </p:nvCxnSpPr>
        <p:spPr>
          <a:xfrm flipH="1">
            <a:off x="3317875" y="4111625"/>
            <a:ext cx="700087" cy="8080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214" name="Google Shape;214;p12"/>
          <p:cNvGrpSpPr/>
          <p:nvPr/>
        </p:nvGrpSpPr>
        <p:grpSpPr>
          <a:xfrm>
            <a:off x="6410325" y="4111625"/>
            <a:ext cx="1338262" cy="819150"/>
            <a:chOff x="3900" y="9945"/>
            <a:chExt cx="2265" cy="1005"/>
          </a:xfrm>
        </p:grpSpPr>
        <p:cxnSp>
          <p:nvCxnSpPr>
            <p:cNvPr id="215" name="Google Shape;215;p12"/>
            <p:cNvCxnSpPr/>
            <p:nvPr/>
          </p:nvCxnSpPr>
          <p:spPr>
            <a:xfrm>
              <a:off x="5100" y="9945"/>
              <a:ext cx="1065" cy="10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16" name="Google Shape;216;p12"/>
            <p:cNvCxnSpPr/>
            <p:nvPr/>
          </p:nvCxnSpPr>
          <p:spPr>
            <a:xfrm flipH="1">
              <a:off x="3900" y="9945"/>
              <a:ext cx="1185" cy="99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cxnSp>
        <p:nvCxnSpPr>
          <p:cNvPr id="217" name="Google Shape;217;p12"/>
          <p:cNvCxnSpPr/>
          <p:nvPr/>
        </p:nvCxnSpPr>
        <p:spPr>
          <a:xfrm>
            <a:off x="1879600" y="4111625"/>
            <a:ext cx="628650" cy="819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18" name="Google Shape;218;p12"/>
          <p:cNvSpPr/>
          <p:nvPr/>
        </p:nvSpPr>
        <p:spPr>
          <a:xfrm>
            <a:off x="2143125" y="4926012"/>
            <a:ext cx="714375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2982912" y="4926012"/>
            <a:ext cx="715962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4259262" y="4926012"/>
            <a:ext cx="714375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40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045200" y="4926012"/>
            <a:ext cx="714375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55</a:t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7366000" y="4926012"/>
            <a:ext cx="715962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71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2516187" y="1525587"/>
            <a:ext cx="14811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808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X=55</a:t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5600700" y="5661025"/>
            <a:ext cx="31686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Tìm thấy X=55</a:t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5021262" y="2130425"/>
            <a:ext cx="692150" cy="5064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>
                  <a:alpha val="60000"/>
                </a:srgbClr>
              </a:gs>
              <a:gs pos="100000">
                <a:srgbClr val="FFFF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55</a:t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6051550" y="4922837"/>
            <a:ext cx="714375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>
                  <a:alpha val="60000"/>
                </a:srgbClr>
              </a:gs>
              <a:gs pos="100000">
                <a:srgbClr val="FF33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Minh hoạ thành lập 1 cây từ dãy số</a:t>
            </a:r>
            <a:endParaRPr/>
          </a:p>
        </p:txBody>
      </p:sp>
      <p:sp>
        <p:nvSpPr>
          <p:cNvPr id="232" name="Google Shape;232;p13"/>
          <p:cNvSpPr txBox="1"/>
          <p:nvPr>
            <p:ph idx="1" type="body"/>
          </p:nvPr>
        </p:nvSpPr>
        <p:spPr>
          <a:xfrm>
            <a:off x="920750" y="5537200"/>
            <a:ext cx="87122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2465387" y="836612"/>
            <a:ext cx="5029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9, 5, 4, 8, 6, 3, 14,12,13</a:t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5097462" y="1289050"/>
            <a:ext cx="747712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2765425" y="2278062"/>
            <a:ext cx="819150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cxnSp>
        <p:nvCxnSpPr>
          <p:cNvPr id="236" name="Google Shape;236;p13"/>
          <p:cNvCxnSpPr/>
          <p:nvPr/>
        </p:nvCxnSpPr>
        <p:spPr>
          <a:xfrm flipH="1">
            <a:off x="3513137" y="2011362"/>
            <a:ext cx="1924050" cy="4095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37" name="Google Shape;237;p13"/>
          <p:cNvSpPr/>
          <p:nvPr/>
        </p:nvSpPr>
        <p:spPr>
          <a:xfrm>
            <a:off x="7745412" y="2247900"/>
            <a:ext cx="1027112" cy="73501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/>
          </a:p>
        </p:txBody>
      </p:sp>
      <p:cxnSp>
        <p:nvCxnSpPr>
          <p:cNvPr id="238" name="Google Shape;238;p13"/>
          <p:cNvCxnSpPr/>
          <p:nvPr/>
        </p:nvCxnSpPr>
        <p:spPr>
          <a:xfrm>
            <a:off x="5513387" y="2011362"/>
            <a:ext cx="2286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39" name="Google Shape;239;p13"/>
          <p:cNvSpPr/>
          <p:nvPr/>
        </p:nvSpPr>
        <p:spPr>
          <a:xfrm>
            <a:off x="4065587" y="3597275"/>
            <a:ext cx="742950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cxnSp>
        <p:nvCxnSpPr>
          <p:cNvPr id="240" name="Google Shape;240;p13"/>
          <p:cNvCxnSpPr/>
          <p:nvPr/>
        </p:nvCxnSpPr>
        <p:spPr>
          <a:xfrm>
            <a:off x="3224212" y="2997200"/>
            <a:ext cx="1081087" cy="64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1" name="Google Shape;241;p13"/>
          <p:cNvSpPr/>
          <p:nvPr/>
        </p:nvSpPr>
        <p:spPr>
          <a:xfrm>
            <a:off x="1931987" y="3608387"/>
            <a:ext cx="788987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242" name="Google Shape;242;p13"/>
          <p:cNvCxnSpPr/>
          <p:nvPr/>
        </p:nvCxnSpPr>
        <p:spPr>
          <a:xfrm flipH="1">
            <a:off x="2389187" y="2997200"/>
            <a:ext cx="835025" cy="6143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3" name="Google Shape;243;p13"/>
          <p:cNvSpPr/>
          <p:nvPr/>
        </p:nvSpPr>
        <p:spPr>
          <a:xfrm>
            <a:off x="3297237" y="4868862"/>
            <a:ext cx="792162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cxnSp>
        <p:nvCxnSpPr>
          <p:cNvPr id="244" name="Google Shape;244;p13"/>
          <p:cNvCxnSpPr/>
          <p:nvPr/>
        </p:nvCxnSpPr>
        <p:spPr>
          <a:xfrm flipH="1">
            <a:off x="3584575" y="4294187"/>
            <a:ext cx="990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5" name="Google Shape;245;p13"/>
          <p:cNvSpPr/>
          <p:nvPr/>
        </p:nvSpPr>
        <p:spPr>
          <a:xfrm>
            <a:off x="1423987" y="4884737"/>
            <a:ext cx="792162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cxnSp>
        <p:nvCxnSpPr>
          <p:cNvPr id="246" name="Google Shape;246;p13"/>
          <p:cNvCxnSpPr/>
          <p:nvPr/>
        </p:nvCxnSpPr>
        <p:spPr>
          <a:xfrm flipH="1">
            <a:off x="1855787" y="4297362"/>
            <a:ext cx="457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7" name="Google Shape;247;p13"/>
          <p:cNvSpPr/>
          <p:nvPr/>
        </p:nvSpPr>
        <p:spPr>
          <a:xfrm>
            <a:off x="6270625" y="3444875"/>
            <a:ext cx="842962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/>
          </a:p>
        </p:txBody>
      </p:sp>
      <p:cxnSp>
        <p:nvCxnSpPr>
          <p:cNvPr id="248" name="Google Shape;248;p13"/>
          <p:cNvCxnSpPr/>
          <p:nvPr/>
        </p:nvCxnSpPr>
        <p:spPr>
          <a:xfrm flipH="1">
            <a:off x="7040562" y="2925762"/>
            <a:ext cx="1063625" cy="64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9" name="Google Shape;249;p13"/>
          <p:cNvSpPr/>
          <p:nvPr/>
        </p:nvSpPr>
        <p:spPr>
          <a:xfrm>
            <a:off x="7278687" y="4813300"/>
            <a:ext cx="842962" cy="7048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/>
          </a:p>
        </p:txBody>
      </p:sp>
      <p:cxnSp>
        <p:nvCxnSpPr>
          <p:cNvPr id="250" name="Google Shape;250;p13"/>
          <p:cNvCxnSpPr/>
          <p:nvPr/>
        </p:nvCxnSpPr>
        <p:spPr>
          <a:xfrm>
            <a:off x="6824662" y="4149725"/>
            <a:ext cx="974725" cy="6810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Hủy 1 nút có khoá bằng X trên cây</a:t>
            </a:r>
            <a:endParaRPr/>
          </a:p>
        </p:txBody>
      </p:sp>
      <p:sp>
        <p:nvSpPr>
          <p:cNvPr id="256" name="Google Shape;256;p14"/>
          <p:cNvSpPr txBox="1"/>
          <p:nvPr>
            <p:ph idx="1" type="body"/>
          </p:nvPr>
        </p:nvSpPr>
        <p:spPr>
          <a:xfrm>
            <a:off x="1481075" y="933725"/>
            <a:ext cx="8924700" cy="5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Hủy 1 phần tử trên cây phải đảm bảo điều kiện ràng buộc của Cây nhị phân tìm kiếm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3 trường hợp khi hủy 1 nút trên cây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TH1: X là nút lá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TH2: X chỉ có 1 cây con (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 con trái hoặc cây con phải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TH3: X có đầy đủ 2 cây con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TH1: Ta xoá nút lá mà không ành hưởng đến các nút khác trên cây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TH2: Trước khi xoá x ta móc nối cha của X với con duy nhất cùa X.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TH3: Ta dùng cách xoá gián tiếp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TH: X là nút lá</a:t>
            </a:r>
            <a:endParaRPr/>
          </a:p>
        </p:txBody>
      </p:sp>
      <p:sp>
        <p:nvSpPr>
          <p:cNvPr id="262" name="Google Shape;262;p15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Xóa node này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Gán liên kết từ cha của nó thành rỗng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5"/>
          <p:cNvPicPr preferRelativeResize="0"/>
          <p:nvPr/>
        </p:nvPicPr>
        <p:blipFill rotWithShape="1">
          <a:blip r:embed="rId3">
            <a:alphaModFix/>
          </a:blip>
          <a:srcRect b="27734" l="0" r="0" t="0"/>
          <a:stretch/>
        </p:blipFill>
        <p:spPr>
          <a:xfrm>
            <a:off x="2146300" y="2428875"/>
            <a:ext cx="6407150" cy="3230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Trường hợp 1: X là nút lá</a:t>
            </a:r>
            <a:r>
              <a:rPr b="0" i="0" lang="en-US" sz="2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69" name="Google Shape;269;p16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 dụ</a:t>
            </a:r>
            <a:r>
              <a:rPr b="1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hủy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nó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móc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phần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tử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</a:t>
            </a: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5448300" y="3048000"/>
            <a:ext cx="469900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r>
            <a:endParaRPr/>
          </a:p>
        </p:txBody>
      </p:sp>
      <p:cxnSp>
        <p:nvCxnSpPr>
          <p:cNvPr id="271" name="Google Shape;271;p16"/>
          <p:cNvCxnSpPr/>
          <p:nvPr/>
        </p:nvCxnSpPr>
        <p:spPr>
          <a:xfrm flipH="1">
            <a:off x="4049712" y="3336925"/>
            <a:ext cx="1617662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2" name="Google Shape;272;p16"/>
          <p:cNvCxnSpPr/>
          <p:nvPr/>
        </p:nvCxnSpPr>
        <p:spPr>
          <a:xfrm>
            <a:off x="4060825" y="4291012"/>
            <a:ext cx="741362" cy="644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3" name="Google Shape;273;p16"/>
          <p:cNvCxnSpPr/>
          <p:nvPr/>
        </p:nvCxnSpPr>
        <p:spPr>
          <a:xfrm flipH="1">
            <a:off x="3225800" y="4291012"/>
            <a:ext cx="823912" cy="63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4" name="Google Shape;274;p16"/>
          <p:cNvCxnSpPr/>
          <p:nvPr/>
        </p:nvCxnSpPr>
        <p:spPr>
          <a:xfrm>
            <a:off x="5678487" y="3336925"/>
            <a:ext cx="1814512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5" name="Google Shape;275;p16"/>
          <p:cNvCxnSpPr/>
          <p:nvPr/>
        </p:nvCxnSpPr>
        <p:spPr>
          <a:xfrm flipH="1">
            <a:off x="6897687" y="4291012"/>
            <a:ext cx="606425" cy="63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6" name="Google Shape;276;p16"/>
          <p:cNvCxnSpPr/>
          <p:nvPr/>
        </p:nvCxnSpPr>
        <p:spPr>
          <a:xfrm>
            <a:off x="7504112" y="4291012"/>
            <a:ext cx="522287" cy="63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7" name="Google Shape;277;p16"/>
          <p:cNvSpPr/>
          <p:nvPr/>
        </p:nvSpPr>
        <p:spPr>
          <a:xfrm>
            <a:off x="3819525" y="4000500"/>
            <a:ext cx="492125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7242175" y="4000500"/>
            <a:ext cx="471487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</a:t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3006725" y="4935537"/>
            <a:ext cx="492125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4510087" y="4935537"/>
            <a:ext cx="488950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6657975" y="4926012"/>
            <a:ext cx="469900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7785100" y="4926012"/>
            <a:ext cx="469900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</a:t>
            </a:r>
            <a:endParaRPr/>
          </a:p>
        </p:txBody>
      </p:sp>
      <p:cxnSp>
        <p:nvCxnSpPr>
          <p:cNvPr id="283" name="Google Shape;283;p16"/>
          <p:cNvCxnSpPr/>
          <p:nvPr/>
        </p:nvCxnSpPr>
        <p:spPr>
          <a:xfrm>
            <a:off x="4760912" y="5224462"/>
            <a:ext cx="436562" cy="6461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4" name="Google Shape;284;p16"/>
          <p:cNvCxnSpPr/>
          <p:nvPr/>
        </p:nvCxnSpPr>
        <p:spPr>
          <a:xfrm flipH="1">
            <a:off x="4268787" y="5224462"/>
            <a:ext cx="485775" cy="63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285" name="Google Shape;285;p16"/>
          <p:cNvGrpSpPr/>
          <p:nvPr/>
        </p:nvGrpSpPr>
        <p:grpSpPr>
          <a:xfrm>
            <a:off x="6418262" y="5224462"/>
            <a:ext cx="928687" cy="646112"/>
            <a:chOff x="3900" y="9945"/>
            <a:chExt cx="2265" cy="1005"/>
          </a:xfrm>
        </p:grpSpPr>
        <p:cxnSp>
          <p:nvCxnSpPr>
            <p:cNvPr id="286" name="Google Shape;286;p16"/>
            <p:cNvCxnSpPr/>
            <p:nvPr/>
          </p:nvCxnSpPr>
          <p:spPr>
            <a:xfrm>
              <a:off x="5100" y="9945"/>
              <a:ext cx="1065" cy="100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87" name="Google Shape;287;p16"/>
            <p:cNvCxnSpPr/>
            <p:nvPr/>
          </p:nvCxnSpPr>
          <p:spPr>
            <a:xfrm flipH="1">
              <a:off x="3900" y="9945"/>
              <a:ext cx="1185" cy="99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cxnSp>
        <p:nvCxnSpPr>
          <p:cNvPr id="288" name="Google Shape;288;p16"/>
          <p:cNvCxnSpPr/>
          <p:nvPr/>
        </p:nvCxnSpPr>
        <p:spPr>
          <a:xfrm>
            <a:off x="3268662" y="5224462"/>
            <a:ext cx="438150" cy="6461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89" name="Google Shape;289;p16"/>
          <p:cNvSpPr/>
          <p:nvPr/>
        </p:nvSpPr>
        <p:spPr>
          <a:xfrm>
            <a:off x="3454400" y="5868987"/>
            <a:ext cx="490537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4040187" y="5868987"/>
            <a:ext cx="490537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4926012" y="5868987"/>
            <a:ext cx="492125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6167437" y="5868987"/>
            <a:ext cx="492125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7085012" y="5868987"/>
            <a:ext cx="492125" cy="279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8F8F8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71</a:t>
            </a: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3079750" y="3154362"/>
            <a:ext cx="1752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T/h 1: huûy X=40</a:t>
            </a:r>
            <a:endParaRPr/>
          </a:p>
        </p:txBody>
      </p:sp>
      <p:cxnSp>
        <p:nvCxnSpPr>
          <p:cNvPr id="295" name="Google Shape;295;p16"/>
          <p:cNvCxnSpPr/>
          <p:nvPr/>
        </p:nvCxnSpPr>
        <p:spPr>
          <a:xfrm>
            <a:off x="4802187" y="5716587"/>
            <a:ext cx="762000" cy="48101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6" name="Google Shape;296;p16"/>
          <p:cNvCxnSpPr/>
          <p:nvPr/>
        </p:nvCxnSpPr>
        <p:spPr>
          <a:xfrm flipH="1">
            <a:off x="4802187" y="5676900"/>
            <a:ext cx="782637" cy="530225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4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2" presetSubtype="4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2" presetSubtype="4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xit" presetID="2" presetSubtype="4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Trường hợp 2: X chỉ có 1 con (trái hoặc phải)</a:t>
            </a: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 Gán liên kết từ cha của nó xuống con duy nhất của nó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Xóa node này</a:t>
            </a:r>
            <a:endParaRPr/>
          </a:p>
        </p:txBody>
      </p:sp>
      <p:grpSp>
        <p:nvGrpSpPr>
          <p:cNvPr id="303" name="Google Shape;303;p17"/>
          <p:cNvGrpSpPr/>
          <p:nvPr/>
        </p:nvGrpSpPr>
        <p:grpSpPr>
          <a:xfrm>
            <a:off x="4433887" y="1773237"/>
            <a:ext cx="4695825" cy="4627562"/>
            <a:chOff x="432" y="662"/>
            <a:chExt cx="2423" cy="2448"/>
          </a:xfrm>
        </p:grpSpPr>
        <p:pic>
          <p:nvPicPr>
            <p:cNvPr id="304" name="Google Shape;304;p17"/>
            <p:cNvPicPr preferRelativeResize="0"/>
            <p:nvPr/>
          </p:nvPicPr>
          <p:blipFill rotWithShape="1">
            <a:blip r:embed="rId3">
              <a:alphaModFix/>
            </a:blip>
            <a:srcRect b="13558" l="0" r="0" t="0"/>
            <a:stretch/>
          </p:blipFill>
          <p:spPr>
            <a:xfrm>
              <a:off x="432" y="662"/>
              <a:ext cx="2423" cy="2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17"/>
            <p:cNvSpPr txBox="1"/>
            <p:nvPr/>
          </p:nvSpPr>
          <p:spPr>
            <a:xfrm>
              <a:off x="950" y="1255"/>
              <a:ext cx="168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/>
            </a:p>
          </p:txBody>
        </p:sp>
        <p:sp>
          <p:nvSpPr>
            <p:cNvPr id="306" name="Google Shape;306;p17"/>
            <p:cNvSpPr txBox="1"/>
            <p:nvPr/>
          </p:nvSpPr>
          <p:spPr>
            <a:xfrm>
              <a:off x="480" y="1808"/>
              <a:ext cx="161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307" name="Google Shape;307;p17"/>
            <p:cNvSpPr txBox="1"/>
            <p:nvPr/>
          </p:nvSpPr>
          <p:spPr>
            <a:xfrm>
              <a:off x="1248" y="2096"/>
              <a:ext cx="160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sp>
          <p:nvSpPr>
            <p:cNvPr id="308" name="Google Shape;308;p17"/>
            <p:cNvSpPr txBox="1"/>
            <p:nvPr/>
          </p:nvSpPr>
          <p:spPr>
            <a:xfrm>
              <a:off x="2438" y="1255"/>
              <a:ext cx="168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/>
            </a:p>
          </p:txBody>
        </p:sp>
        <p:sp>
          <p:nvSpPr>
            <p:cNvPr id="309" name="Google Shape;309;p17"/>
            <p:cNvSpPr txBox="1"/>
            <p:nvPr/>
          </p:nvSpPr>
          <p:spPr>
            <a:xfrm>
              <a:off x="1968" y="1808"/>
              <a:ext cx="160" cy="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Minh hoạ hủy phần tử x có 1 cây con</a:t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4672012" y="1049337"/>
            <a:ext cx="56038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/>
          </a:p>
        </p:txBody>
      </p:sp>
      <p:cxnSp>
        <p:nvCxnSpPr>
          <p:cNvPr id="316" name="Google Shape;316;p18"/>
          <p:cNvCxnSpPr/>
          <p:nvPr/>
        </p:nvCxnSpPr>
        <p:spPr>
          <a:xfrm flipH="1">
            <a:off x="3032125" y="1450975"/>
            <a:ext cx="1901825" cy="90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7" name="Google Shape;317;p18"/>
          <p:cNvCxnSpPr/>
          <p:nvPr/>
        </p:nvCxnSpPr>
        <p:spPr>
          <a:xfrm flipH="1">
            <a:off x="2063750" y="2762250"/>
            <a:ext cx="968375" cy="874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8" name="Google Shape;318;p18"/>
          <p:cNvCxnSpPr/>
          <p:nvPr/>
        </p:nvCxnSpPr>
        <p:spPr>
          <a:xfrm>
            <a:off x="4946650" y="1450975"/>
            <a:ext cx="2135187" cy="90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9" name="Google Shape;319;p18"/>
          <p:cNvCxnSpPr/>
          <p:nvPr/>
        </p:nvCxnSpPr>
        <p:spPr>
          <a:xfrm flipH="1">
            <a:off x="6381750" y="2762250"/>
            <a:ext cx="712787" cy="874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0" name="Google Shape;320;p18"/>
          <p:cNvCxnSpPr/>
          <p:nvPr/>
        </p:nvCxnSpPr>
        <p:spPr>
          <a:xfrm>
            <a:off x="7094537" y="2762250"/>
            <a:ext cx="612775" cy="874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21" name="Google Shape;321;p18"/>
          <p:cNvSpPr/>
          <p:nvPr/>
        </p:nvSpPr>
        <p:spPr>
          <a:xfrm>
            <a:off x="2759075" y="2360612"/>
            <a:ext cx="5842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6783387" y="2360612"/>
            <a:ext cx="5588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88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1801812" y="3646487"/>
            <a:ext cx="5842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6096000" y="3633787"/>
            <a:ext cx="5588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59</a:t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7434262" y="3646487"/>
            <a:ext cx="95885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108</a:t>
            </a:r>
            <a:endParaRPr/>
          </a:p>
        </p:txBody>
      </p:sp>
      <p:grpSp>
        <p:nvGrpSpPr>
          <p:cNvPr id="326" name="Google Shape;326;p18"/>
          <p:cNvGrpSpPr/>
          <p:nvPr/>
        </p:nvGrpSpPr>
        <p:grpSpPr>
          <a:xfrm>
            <a:off x="3044825" y="2762250"/>
            <a:ext cx="1108075" cy="2160587"/>
            <a:chOff x="1918" y="1740"/>
            <a:chExt cx="698" cy="1361"/>
          </a:xfrm>
        </p:grpSpPr>
        <p:cxnSp>
          <p:nvCxnSpPr>
            <p:cNvPr id="327" name="Google Shape;327;p18"/>
            <p:cNvCxnSpPr/>
            <p:nvPr/>
          </p:nvCxnSpPr>
          <p:spPr>
            <a:xfrm>
              <a:off x="1918" y="1740"/>
              <a:ext cx="549" cy="5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28" name="Google Shape;328;p18"/>
            <p:cNvSpPr/>
            <p:nvPr/>
          </p:nvSpPr>
          <p:spPr>
            <a:xfrm>
              <a:off x="2248" y="2297"/>
              <a:ext cx="368" cy="277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37</a:t>
              </a:r>
              <a:endParaRPr/>
            </a:p>
          </p:txBody>
        </p:sp>
        <p:cxnSp>
          <p:nvCxnSpPr>
            <p:cNvPr id="329" name="Google Shape;329;p18"/>
            <p:cNvCxnSpPr/>
            <p:nvPr/>
          </p:nvCxnSpPr>
          <p:spPr>
            <a:xfrm flipH="1">
              <a:off x="2072" y="2550"/>
              <a:ext cx="360" cy="5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30" name="Google Shape;330;p18"/>
          <p:cNvGrpSpPr/>
          <p:nvPr/>
        </p:nvGrpSpPr>
        <p:grpSpPr>
          <a:xfrm>
            <a:off x="5816600" y="4048125"/>
            <a:ext cx="1093787" cy="887412"/>
            <a:chOff x="3900" y="9945"/>
            <a:chExt cx="2265" cy="1005"/>
          </a:xfrm>
        </p:grpSpPr>
        <p:cxnSp>
          <p:nvCxnSpPr>
            <p:cNvPr id="331" name="Google Shape;331;p18"/>
            <p:cNvCxnSpPr/>
            <p:nvPr/>
          </p:nvCxnSpPr>
          <p:spPr>
            <a:xfrm>
              <a:off x="5100" y="9945"/>
              <a:ext cx="1065" cy="10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2" name="Google Shape;332;p18"/>
            <p:cNvCxnSpPr/>
            <p:nvPr/>
          </p:nvCxnSpPr>
          <p:spPr>
            <a:xfrm flipH="1">
              <a:off x="3900" y="9945"/>
              <a:ext cx="1185" cy="99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cxnSp>
        <p:nvCxnSpPr>
          <p:cNvPr id="333" name="Google Shape;333;p18"/>
          <p:cNvCxnSpPr/>
          <p:nvPr/>
        </p:nvCxnSpPr>
        <p:spPr>
          <a:xfrm>
            <a:off x="2114550" y="4048125"/>
            <a:ext cx="512762" cy="887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34" name="Google Shape;334;p18"/>
          <p:cNvSpPr/>
          <p:nvPr/>
        </p:nvSpPr>
        <p:spPr>
          <a:xfrm>
            <a:off x="2328862" y="4932362"/>
            <a:ext cx="5842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3016250" y="4932362"/>
            <a:ext cx="5842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5519737" y="4932362"/>
            <a:ext cx="5842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55</a:t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6599237" y="4932362"/>
            <a:ext cx="58420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71</a:t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3032125" y="2778125"/>
            <a:ext cx="214312" cy="2160587"/>
          </a:xfrm>
          <a:custGeom>
            <a:rect b="b" l="l" r="r" t="t"/>
            <a:pathLst>
              <a:path extrusionOk="0" h="2445" w="262">
                <a:moveTo>
                  <a:pt x="0" y="0"/>
                </a:moveTo>
                <a:cubicBezTo>
                  <a:pt x="94" y="389"/>
                  <a:pt x="188" y="778"/>
                  <a:pt x="225" y="1185"/>
                </a:cubicBezTo>
                <a:cubicBezTo>
                  <a:pt x="262" y="1592"/>
                  <a:pt x="243" y="2018"/>
                  <a:pt x="225" y="2445"/>
                </a:cubicBezTo>
              </a:path>
            </a:pathLst>
          </a:custGeom>
          <a:noFill/>
          <a:ln cap="flat" cmpd="sng" w="635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1208087" y="1052512"/>
            <a:ext cx="2160587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Hủy X=37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Trường hợp 3: X có đủ 2 con </a:t>
            </a:r>
            <a:endParaRPr/>
          </a:p>
        </p:txBody>
      </p:sp>
      <p:sp>
        <p:nvSpPr>
          <p:cNvPr id="345" name="Google Shape;345;p19"/>
          <p:cNvSpPr txBox="1"/>
          <p:nvPr>
            <p:ph idx="1" type="body"/>
          </p:nvPr>
        </p:nvSpPr>
        <p:spPr>
          <a:xfrm>
            <a:off x="920750" y="765175"/>
            <a:ext cx="8712200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Tìm w là node trước node x trên phép duyệt cây inorder (chính là node cực phải của cây con bên trái của x)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Thay x bằng 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Xóa node w cũ (giống trường hợp 1 hoặc 2 đã xét)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" y="3429000"/>
            <a:ext cx="8640763" cy="3411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Hủy 1 nút có 2 cây con</a:t>
            </a:r>
            <a:endParaRPr/>
          </a:p>
        </p:txBody>
      </p:sp>
      <p:sp>
        <p:nvSpPr>
          <p:cNvPr id="352" name="Google Shape;352;p20"/>
          <p:cNvSpPr txBox="1"/>
          <p:nvPr>
            <p:ph idx="1" type="body"/>
          </p:nvPr>
        </p:nvSpPr>
        <p:spPr>
          <a:xfrm>
            <a:off x="1555750" y="1060000"/>
            <a:ext cx="87123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 dùng cách hủy gián tiếp, do X có 2 cây con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Thay vì hủy X ta tìm phần tử thế mạng Y. Nút Y có tối đa 1 cây con.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Thông tin lưu tại nút Y sẽ được chuyển lên lưu tại X.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 tiến hành xoá hủy nút Y (xoá Y giống 2 trường hợp đầu)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 tìm nút thế mạng Y cho X: Có 2 cách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C1: Nút Y là nút có khoá nhỏ nhất (trái nhất) bên cây con phải X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C2: Nút Y là nút có khoá lớn nhất (phải nhất) bên cây con trái của X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/>
          <p:nvPr>
            <p:ph type="title"/>
          </p:nvPr>
        </p:nvSpPr>
        <p:spPr>
          <a:xfrm>
            <a:off x="704850" y="0"/>
            <a:ext cx="9201150" cy="765175"/>
          </a:xfrm>
          <a:prstGeom prst="rect">
            <a:avLst/>
          </a:prstGeom>
          <a:gradFill>
            <a:gsLst>
              <a:gs pos="0">
                <a:srgbClr val="008000"/>
              </a:gs>
              <a:gs pos="100000">
                <a:srgbClr val="00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Minh họa hủy phần tử X có 2 cây con</a:t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4714875" y="1336675"/>
            <a:ext cx="60483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/>
          </a:p>
        </p:txBody>
      </p:sp>
      <p:cxnSp>
        <p:nvCxnSpPr>
          <p:cNvPr id="359" name="Google Shape;359;p21"/>
          <p:cNvCxnSpPr/>
          <p:nvPr/>
        </p:nvCxnSpPr>
        <p:spPr>
          <a:xfrm flipH="1">
            <a:off x="2955925" y="1698625"/>
            <a:ext cx="2041525" cy="8096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0" name="Google Shape;360;p21"/>
          <p:cNvCxnSpPr/>
          <p:nvPr/>
        </p:nvCxnSpPr>
        <p:spPr>
          <a:xfrm>
            <a:off x="2968625" y="2876550"/>
            <a:ext cx="935037" cy="7969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1" name="Google Shape;361;p21"/>
          <p:cNvCxnSpPr/>
          <p:nvPr/>
        </p:nvCxnSpPr>
        <p:spPr>
          <a:xfrm flipH="1">
            <a:off x="1914525" y="2876550"/>
            <a:ext cx="1041400" cy="785812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2" name="Google Shape;362;p21"/>
          <p:cNvCxnSpPr/>
          <p:nvPr/>
        </p:nvCxnSpPr>
        <p:spPr>
          <a:xfrm>
            <a:off x="5011737" y="1698625"/>
            <a:ext cx="2292350" cy="8096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3" name="Google Shape;363;p21"/>
          <p:cNvCxnSpPr/>
          <p:nvPr/>
        </p:nvCxnSpPr>
        <p:spPr>
          <a:xfrm flipH="1">
            <a:off x="6553200" y="2876550"/>
            <a:ext cx="763587" cy="785812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4" name="Google Shape;364;p21"/>
          <p:cNvCxnSpPr/>
          <p:nvPr/>
        </p:nvCxnSpPr>
        <p:spPr>
          <a:xfrm>
            <a:off x="7316787" y="2876550"/>
            <a:ext cx="658812" cy="785812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65" name="Google Shape;365;p21"/>
          <p:cNvSpPr/>
          <p:nvPr/>
        </p:nvSpPr>
        <p:spPr>
          <a:xfrm>
            <a:off x="2659062" y="2514600"/>
            <a:ext cx="63023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6981825" y="2514600"/>
            <a:ext cx="60325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88</a:t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1494025" y="3668687"/>
            <a:ext cx="630300" cy="439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/>
          </a:p>
        </p:txBody>
      </p:sp>
      <p:sp>
        <p:nvSpPr>
          <p:cNvPr id="368" name="Google Shape;368;p21"/>
          <p:cNvSpPr/>
          <p:nvPr/>
        </p:nvSpPr>
        <p:spPr>
          <a:xfrm>
            <a:off x="3529012" y="3668712"/>
            <a:ext cx="63023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37</a:t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6243637" y="3656012"/>
            <a:ext cx="603300" cy="439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59</a:t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7678737" y="3667125"/>
            <a:ext cx="1146175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108</a:t>
            </a:r>
            <a:endParaRPr/>
          </a:p>
        </p:txBody>
      </p:sp>
      <p:cxnSp>
        <p:nvCxnSpPr>
          <p:cNvPr id="371" name="Google Shape;371;p21"/>
          <p:cNvCxnSpPr/>
          <p:nvPr/>
        </p:nvCxnSpPr>
        <p:spPr>
          <a:xfrm>
            <a:off x="3852862" y="4030662"/>
            <a:ext cx="552450" cy="7969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372" name="Google Shape;372;p21"/>
          <p:cNvGrpSpPr/>
          <p:nvPr/>
        </p:nvGrpSpPr>
        <p:grpSpPr>
          <a:xfrm>
            <a:off x="5945187" y="4030662"/>
            <a:ext cx="1174750" cy="796925"/>
            <a:chOff x="3900" y="9945"/>
            <a:chExt cx="2265" cy="1005"/>
          </a:xfrm>
        </p:grpSpPr>
        <p:cxnSp>
          <p:nvCxnSpPr>
            <p:cNvPr id="373" name="Google Shape;373;p21"/>
            <p:cNvCxnSpPr/>
            <p:nvPr/>
          </p:nvCxnSpPr>
          <p:spPr>
            <a:xfrm>
              <a:off x="5100" y="9945"/>
              <a:ext cx="1065" cy="1005"/>
            </a:xfrm>
            <a:prstGeom prst="straightConnector1">
              <a:avLst/>
            </a:prstGeom>
            <a:noFill/>
            <a:ln cap="flat" cmpd="sng" w="38100">
              <a:solidFill>
                <a:srgbClr val="FF3399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4" name="Google Shape;374;p21"/>
            <p:cNvCxnSpPr/>
            <p:nvPr/>
          </p:nvCxnSpPr>
          <p:spPr>
            <a:xfrm flipH="1">
              <a:off x="3900" y="9945"/>
              <a:ext cx="1185" cy="990"/>
            </a:xfrm>
            <a:prstGeom prst="straightConnector1">
              <a:avLst/>
            </a:prstGeom>
            <a:noFill/>
            <a:ln cap="flat" cmpd="sng" w="38100">
              <a:solidFill>
                <a:srgbClr val="FF3399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cxnSp>
        <p:nvCxnSpPr>
          <p:cNvPr id="375" name="Google Shape;375;p21"/>
          <p:cNvCxnSpPr/>
          <p:nvPr/>
        </p:nvCxnSpPr>
        <p:spPr>
          <a:xfrm>
            <a:off x="1968500" y="4030662"/>
            <a:ext cx="552450" cy="7969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76" name="Google Shape;376;p21"/>
          <p:cNvSpPr/>
          <p:nvPr/>
        </p:nvSpPr>
        <p:spPr>
          <a:xfrm>
            <a:off x="2198687" y="4821237"/>
            <a:ext cx="63023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2849562" y="4816475"/>
            <a:ext cx="63023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</a:t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4056062" y="4821237"/>
            <a:ext cx="63023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40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5624512" y="4821237"/>
            <a:ext cx="630300" cy="439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55</a:t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6784975" y="4821237"/>
            <a:ext cx="628650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71</a:t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3397250" y="5868987"/>
            <a:ext cx="630237" cy="439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69FF69">
                  <a:alpha val="600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 flipH="1">
            <a:off x="3713162" y="4149725"/>
            <a:ext cx="87312" cy="1712912"/>
          </a:xfrm>
          <a:custGeom>
            <a:rect b="b" l="l" r="r" t="t"/>
            <a:pathLst>
              <a:path extrusionOk="0" h="2340" w="178">
                <a:moveTo>
                  <a:pt x="75" y="0"/>
                </a:moveTo>
                <a:cubicBezTo>
                  <a:pt x="113" y="227"/>
                  <a:pt x="152" y="455"/>
                  <a:pt x="165" y="720"/>
                </a:cubicBezTo>
                <a:cubicBezTo>
                  <a:pt x="178" y="985"/>
                  <a:pt x="178" y="1320"/>
                  <a:pt x="150" y="1590"/>
                </a:cubicBezTo>
                <a:cubicBezTo>
                  <a:pt x="122" y="1860"/>
                  <a:pt x="61" y="2100"/>
                  <a:pt x="0" y="2340"/>
                </a:cubicBezTo>
              </a:path>
            </a:pathLst>
          </a:custGeom>
          <a:noFill/>
          <a:ln cap="flat" cmpd="sng" w="762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3" name="Google Shape;383;p21"/>
          <p:cNvGrpSpPr/>
          <p:nvPr/>
        </p:nvGrpSpPr>
        <p:grpSpPr>
          <a:xfrm>
            <a:off x="2860675" y="4125138"/>
            <a:ext cx="960437" cy="1831975"/>
            <a:chOff x="1805" y="2566"/>
            <a:chExt cx="605" cy="1154"/>
          </a:xfrm>
        </p:grpSpPr>
        <p:cxnSp>
          <p:nvCxnSpPr>
            <p:cNvPr id="384" name="Google Shape;384;p21"/>
            <p:cNvCxnSpPr/>
            <p:nvPr/>
          </p:nvCxnSpPr>
          <p:spPr>
            <a:xfrm flipH="1">
              <a:off x="2023" y="2566"/>
              <a:ext cx="387" cy="494"/>
            </a:xfrm>
            <a:prstGeom prst="straightConnector1">
              <a:avLst/>
            </a:prstGeom>
            <a:noFill/>
            <a:ln cap="flat" cmpd="sng" w="38100">
              <a:solidFill>
                <a:srgbClr val="FF3399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85" name="Google Shape;385;p21"/>
            <p:cNvCxnSpPr/>
            <p:nvPr/>
          </p:nvCxnSpPr>
          <p:spPr>
            <a:xfrm>
              <a:off x="2041" y="3293"/>
              <a:ext cx="282" cy="427"/>
            </a:xfrm>
            <a:prstGeom prst="straightConnector1">
              <a:avLst/>
            </a:prstGeom>
            <a:noFill/>
            <a:ln cap="flat" cmpd="sng" w="38100">
              <a:solidFill>
                <a:srgbClr val="FF3399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86" name="Google Shape;386;p21"/>
            <p:cNvSpPr/>
            <p:nvPr/>
          </p:nvSpPr>
          <p:spPr>
            <a:xfrm>
              <a:off x="1805" y="2931"/>
              <a:ext cx="600" cy="3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69FF69">
                    <a:alpha val="6000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1" lang="en-US"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r>
                <a:rPr b="1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/>
            </a:p>
          </p:txBody>
        </p:sp>
      </p:grpSp>
      <p:sp>
        <p:nvSpPr>
          <p:cNvPr id="387" name="Google Shape;387;p21"/>
          <p:cNvSpPr txBox="1"/>
          <p:nvPr/>
        </p:nvSpPr>
        <p:spPr>
          <a:xfrm>
            <a:off x="920750" y="1196975"/>
            <a:ext cx="2808287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 nút có trường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= 18, lúc đó nút có khoá 23 là nút thế mạng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"/>
          <p:cNvSpPr txBox="1"/>
          <p:nvPr>
            <p:ph type="title"/>
          </p:nvPr>
        </p:nvSpPr>
        <p:spPr>
          <a:xfrm>
            <a:off x="0" y="0"/>
            <a:ext cx="9906000" cy="7651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Nhận xét</a:t>
            </a:r>
            <a:endParaRPr/>
          </a:p>
        </p:txBody>
      </p:sp>
      <p:sp>
        <p:nvSpPr>
          <p:cNvPr id="393" name="Google Shape;393;p22"/>
          <p:cNvSpPr txBox="1"/>
          <p:nvPr>
            <p:ph idx="1" type="body"/>
          </p:nvPr>
        </p:nvSpPr>
        <p:spPr>
          <a:xfrm>
            <a:off x="920750" y="765175"/>
            <a:ext cx="8712200" cy="583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Tất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 tìm kiếm, thêm, xoá đều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phức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tạp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chiều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cây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CNPTK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nút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b="0" baseline="-2500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phí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kiếm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tương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đương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kiếm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mảng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xấu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cây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thể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suy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liên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mỗi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nút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đều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trừ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nút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lá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Lúc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phức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tạp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CNPTK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đạt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phí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thao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b="0" baseline="-2500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2">
  <a:themeElements>
    <a:clrScheme name="t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2006-03-07T22:30:17Z</dcterms:created>
  <dc:creator>User</dc:creator>
</cp:coreProperties>
</file>