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6" roundtripDataSignature="AMtx7mj0QiSm4eZpAs1m4qYq00dTtH95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F7A3A4-9285-4512-8C96-6F086EBBC042}">
  <a:tblStyle styleId="{98F7A3A4-9285-4512-8C96-6F086EBBC04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customschemas.google.com/relationships/presentationmetadata" Target="metadata"/><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V: số đỉnh; E: số cạnh</a:t>
            </a:r>
            <a:endParaRPr/>
          </a:p>
        </p:txBody>
      </p:sp>
      <p:sp>
        <p:nvSpPr>
          <p:cNvPr id="80" name="Google Shape;8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đồ thị đối xứng qua đường chéo chính</a:t>
            </a:r>
            <a:endParaRPr/>
          </a:p>
        </p:txBody>
      </p:sp>
      <p:sp>
        <p:nvSpPr>
          <p:cNvPr id="140" name="Google Shape;14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32" name="Google Shape;33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76" name="Google Shape;37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83" name="Google Shape;38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10" name="Google Shape;41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18" name="Google Shape;418;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78" name="Google Shape;47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36" name="Google Shape;536;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98" name="Google Shape;59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60" name="Google Shape;66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1" name="Google Shape;661;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68" name="Google Shape;66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9" name="Google Shape;669;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24" name="Google Shape;72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17" name="Google Shape;817;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8" name="Google Shape;818;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24" name="Google Shape;82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5" name="Google Shape;825;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 name="Google Shape;87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17" name="Google Shape;917;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8" name="Google Shape;918;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57" name="Google Shape;957;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8" name="Google Shape;958;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01" name="Google Shape;1001;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2" name="Google Shape;1002;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46" name="Google Shape;1046;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7" name="Google Shape;1047;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91" name="Google Shape;1091;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2" name="Google Shape;1092;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138" name="Google Shape;1138;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9" name="Google Shape;1139;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6" name="Google Shape;1186;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2" name="Google Shape;119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8" name="Google Shape;1198;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4" name="Google Shape;1204;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24217a7101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324217a7101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1" name="Google Shape;1211;g324217a7101_1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7" name="Google Shape;1217;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4" name="Google Shape;1224;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0" name="Google Shape;1230;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7" name="Google Shape;1237;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3" name="Google Shape;1243;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9" name="Google Shape;1249;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6" name="Google Shape;1256;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3" name="Google Shape;1263;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0" name="Google Shape;1270;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7" name="Google Shape;1277;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4" name="Google Shape;1284;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0" name="Google Shape;1290;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6" name="Google Shape;129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3" name="Google Shape;1303;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9" name="Google Shape;1309;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6" name="Google Shape;131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3" name="Google Shape;1323;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9" name="Google Shape;1329;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5" name="Google Shape;1335;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23ee633cb3b_2_56"/>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g23ee633cb3b_2_56"/>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23ee633cb3b_2_5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23ee633cb3b_2_60"/>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g23ee633cb3b_2_6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23ee633cb3b_2_63"/>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23ee633cb3b_2_63"/>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23ee633cb3b_2_6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23ee633cb3b_2_67"/>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g23ee633cb3b_2_67"/>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g23ee633cb3b_2_67"/>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g23ee633cb3b_2_6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23ee633cb3b_2_72"/>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g23ee633cb3b_2_7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23ee633cb3b_2_75"/>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g23ee633cb3b_2_75"/>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g23ee633cb3b_2_7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23ee633cb3b_2_79"/>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g23ee633cb3b_2_7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23ee633cb3b_2_82"/>
          <p:cNvSpPr/>
          <p:nvPr/>
        </p:nvSpPr>
        <p:spPr>
          <a:xfrm>
            <a:off x="4572000" y="33"/>
            <a:ext cx="45720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23ee633cb3b_2_82"/>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g23ee633cb3b_2_82"/>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g23ee633cb3b_2_82"/>
          <p:cNvSpPr txBox="1"/>
          <p:nvPr>
            <p:ph idx="2" type="body"/>
          </p:nvPr>
        </p:nvSpPr>
        <p:spPr>
          <a:xfrm>
            <a:off x="4939500" y="965600"/>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4" name="Google Shape;44;g23ee633cb3b_2_8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23ee633cb3b_2_88"/>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g23ee633cb3b_2_8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23ee633cb3b_2_9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g23ee633cb3b_2_9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g23ee633cb3b_2_9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23ee633cb3b_2_9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g23ee633cb3b_2_97"/>
          <p:cNvSpPr txBox="1"/>
          <p:nvPr>
            <p:ph type="title"/>
          </p:nvPr>
        </p:nvSpPr>
        <p:spPr>
          <a:xfrm>
            <a:off x="849312" y="79375"/>
            <a:ext cx="8110500" cy="6096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6" name="Google Shape;56;g23ee633cb3b_2_97"/>
          <p:cNvSpPr txBox="1"/>
          <p:nvPr>
            <p:ph idx="1" type="body"/>
          </p:nvPr>
        </p:nvSpPr>
        <p:spPr>
          <a:xfrm>
            <a:off x="915987" y="981075"/>
            <a:ext cx="7910400" cy="55437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57" name="Shape 57"/>
        <p:cNvGrpSpPr/>
        <p:nvPr/>
      </p:nvGrpSpPr>
      <p:grpSpPr>
        <a:xfrm>
          <a:off x="0" y="0"/>
          <a:ext cx="0" cy="0"/>
          <a:chOff x="0" y="0"/>
          <a:chExt cx="0" cy="0"/>
        </a:xfrm>
      </p:grpSpPr>
      <p:sp>
        <p:nvSpPr>
          <p:cNvPr id="58" name="Google Shape;58;g23ee633cb3b_2_100"/>
          <p:cNvSpPr txBox="1"/>
          <p:nvPr>
            <p:ph type="title"/>
          </p:nvPr>
        </p:nvSpPr>
        <p:spPr>
          <a:xfrm>
            <a:off x="849924" y="79375"/>
            <a:ext cx="8109300" cy="6096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9" name="Google Shape;59;g23ee633cb3b_2_100"/>
          <p:cNvSpPr txBox="1"/>
          <p:nvPr>
            <p:ph idx="1" type="body"/>
          </p:nvPr>
        </p:nvSpPr>
        <p:spPr>
          <a:xfrm>
            <a:off x="915866" y="981075"/>
            <a:ext cx="3884700" cy="55437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60" name="Google Shape;60;g23ee633cb3b_2_100"/>
          <p:cNvSpPr txBox="1"/>
          <p:nvPr>
            <p:ph idx="2" type="body"/>
          </p:nvPr>
        </p:nvSpPr>
        <p:spPr>
          <a:xfrm>
            <a:off x="4941277" y="981075"/>
            <a:ext cx="3884700" cy="55437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9" name="Shape 9"/>
        <p:cNvGrpSpPr/>
        <p:nvPr/>
      </p:nvGrpSpPr>
      <p:grpSpPr>
        <a:xfrm>
          <a:off x="0" y="0"/>
          <a:ext cx="0" cy="0"/>
          <a:chOff x="0" y="0"/>
          <a:chExt cx="0" cy="0"/>
        </a:xfrm>
      </p:grpSpPr>
      <p:sp>
        <p:nvSpPr>
          <p:cNvPr id="10" name="Google Shape;10;g23ee633cb3b_2_5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g23ee633cb3b_2_52"/>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12" name="Google Shape;12;g23ee633cb3b_2_5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21.png"/><Relationship Id="rId13" Type="http://schemas.openxmlformats.org/officeDocument/2006/relationships/image" Target="../media/image18.png"/><Relationship Id="rId12" Type="http://schemas.openxmlformats.org/officeDocument/2006/relationships/image" Target="../media/image30.png"/><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9.png"/><Relationship Id="rId8"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9.png"/><Relationship Id="rId8"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0" Type="http://schemas.openxmlformats.org/officeDocument/2006/relationships/image" Target="../media/image23.png"/><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24.png"/><Relationship Id="rId8" Type="http://schemas.openxmlformats.org/officeDocument/2006/relationships/image" Target="../media/image9.png"/></Relationships>
</file>

<file path=ppt/slides/_rels/slide38.xml.rels><?xml version="1.0" encoding="UTF-8" standalone="yes"?><Relationships xmlns="http://schemas.openxmlformats.org/package/2006/relationships"><Relationship Id="rId10" Type="http://schemas.openxmlformats.org/officeDocument/2006/relationships/image" Target="../media/image23.png"/><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24.png"/><Relationship Id="rId8" Type="http://schemas.openxmlformats.org/officeDocument/2006/relationships/image" Target="../media/image9.png"/></Relationships>
</file>

<file path=ppt/slides/_rels/slide39.xml.rels><?xml version="1.0" encoding="UTF-8" standalone="yes"?><Relationships xmlns="http://schemas.openxmlformats.org/package/2006/relationships"><Relationship Id="rId10" Type="http://schemas.openxmlformats.org/officeDocument/2006/relationships/image" Target="../media/image23.png"/><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24.png"/><Relationship Id="rId8" Type="http://schemas.openxmlformats.org/officeDocument/2006/relationships/image" Target="../media/image9.png"/></Relationships>
</file>

<file path=ppt/slides/_rels/slide40.xml.rels><?xml version="1.0" encoding="UTF-8" standalone="yes"?><Relationships xmlns="http://schemas.openxmlformats.org/package/2006/relationships"><Relationship Id="rId10" Type="http://schemas.openxmlformats.org/officeDocument/2006/relationships/image" Target="../media/image23.png"/><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24.png"/><Relationship Id="rId8"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1" Type="http://schemas.openxmlformats.org/officeDocument/2006/relationships/image" Target="../media/image35.png"/><Relationship Id="rId10" Type="http://schemas.openxmlformats.org/officeDocument/2006/relationships/image" Target="../media/image34.png"/><Relationship Id="rId13" Type="http://schemas.openxmlformats.org/officeDocument/2006/relationships/image" Target="../media/image28.png"/><Relationship Id="rId12" Type="http://schemas.openxmlformats.org/officeDocument/2006/relationships/image" Target="../media/image31.png"/><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9.png"/><Relationship Id="rId15" Type="http://schemas.openxmlformats.org/officeDocument/2006/relationships/image" Target="../media/image39.png"/><Relationship Id="rId14" Type="http://schemas.openxmlformats.org/officeDocument/2006/relationships/image" Target="../media/image36.png"/><Relationship Id="rId17" Type="http://schemas.openxmlformats.org/officeDocument/2006/relationships/image" Target="../media/image58.png"/><Relationship Id="rId16" Type="http://schemas.openxmlformats.org/officeDocument/2006/relationships/image" Target="../media/image33.png"/><Relationship Id="rId5" Type="http://schemas.openxmlformats.org/officeDocument/2006/relationships/image" Target="../media/image27.png"/><Relationship Id="rId6" Type="http://schemas.openxmlformats.org/officeDocument/2006/relationships/image" Target="../media/image32.png"/><Relationship Id="rId7" Type="http://schemas.openxmlformats.org/officeDocument/2006/relationships/image" Target="../media/image37.png"/><Relationship Id="rId8" Type="http://schemas.openxmlformats.org/officeDocument/2006/relationships/image" Target="../media/image40.png"/></Relationships>
</file>

<file path=ppt/slides/_rels/slide43.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34.png"/><Relationship Id="rId13" Type="http://schemas.openxmlformats.org/officeDocument/2006/relationships/image" Target="../media/image28.png"/><Relationship Id="rId12" Type="http://schemas.openxmlformats.org/officeDocument/2006/relationships/image" Target="../media/image35.png"/><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9.png"/><Relationship Id="rId15" Type="http://schemas.openxmlformats.org/officeDocument/2006/relationships/image" Target="../media/image33.png"/><Relationship Id="rId14" Type="http://schemas.openxmlformats.org/officeDocument/2006/relationships/image" Target="../media/image36.png"/><Relationship Id="rId16" Type="http://schemas.openxmlformats.org/officeDocument/2006/relationships/image" Target="../media/image67.png"/><Relationship Id="rId5" Type="http://schemas.openxmlformats.org/officeDocument/2006/relationships/image" Target="../media/image27.png"/><Relationship Id="rId6" Type="http://schemas.openxmlformats.org/officeDocument/2006/relationships/image" Target="../media/image32.png"/><Relationship Id="rId7" Type="http://schemas.openxmlformats.org/officeDocument/2006/relationships/image" Target="../media/image37.png"/><Relationship Id="rId8"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1" Type="http://schemas.openxmlformats.org/officeDocument/2006/relationships/image" Target="../media/image47.png"/><Relationship Id="rId10" Type="http://schemas.openxmlformats.org/officeDocument/2006/relationships/image" Target="../media/image52.png"/><Relationship Id="rId13" Type="http://schemas.openxmlformats.org/officeDocument/2006/relationships/image" Target="../media/image22.png"/><Relationship Id="rId12" Type="http://schemas.openxmlformats.org/officeDocument/2006/relationships/image" Target="../media/image53.png"/><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38.png"/><Relationship Id="rId4" Type="http://schemas.openxmlformats.org/officeDocument/2006/relationships/image" Target="../media/image49.png"/><Relationship Id="rId9" Type="http://schemas.openxmlformats.org/officeDocument/2006/relationships/image" Target="../media/image60.png"/><Relationship Id="rId14" Type="http://schemas.openxmlformats.org/officeDocument/2006/relationships/image" Target="../media/image48.png"/><Relationship Id="rId5" Type="http://schemas.openxmlformats.org/officeDocument/2006/relationships/image" Target="../media/image42.png"/><Relationship Id="rId6" Type="http://schemas.openxmlformats.org/officeDocument/2006/relationships/image" Target="../media/image50.png"/><Relationship Id="rId7" Type="http://schemas.openxmlformats.org/officeDocument/2006/relationships/image" Target="../media/image44.png"/><Relationship Id="rId8"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52.png"/><Relationship Id="rId13" Type="http://schemas.openxmlformats.org/officeDocument/2006/relationships/image" Target="../media/image22.png"/><Relationship Id="rId12" Type="http://schemas.openxmlformats.org/officeDocument/2006/relationships/image" Target="../media/image72.png"/><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46.png"/><Relationship Id="rId4" Type="http://schemas.openxmlformats.org/officeDocument/2006/relationships/image" Target="../media/image55.png"/><Relationship Id="rId9" Type="http://schemas.openxmlformats.org/officeDocument/2006/relationships/image" Target="../media/image60.png"/><Relationship Id="rId15" Type="http://schemas.openxmlformats.org/officeDocument/2006/relationships/image" Target="../media/image48.png"/><Relationship Id="rId14" Type="http://schemas.openxmlformats.org/officeDocument/2006/relationships/image" Target="../media/image59.png"/><Relationship Id="rId17" Type="http://schemas.openxmlformats.org/officeDocument/2006/relationships/image" Target="../media/image64.png"/><Relationship Id="rId16" Type="http://schemas.openxmlformats.org/officeDocument/2006/relationships/image" Target="../media/image68.png"/><Relationship Id="rId5" Type="http://schemas.openxmlformats.org/officeDocument/2006/relationships/image" Target="../media/image54.png"/><Relationship Id="rId6" Type="http://schemas.openxmlformats.org/officeDocument/2006/relationships/image" Target="../media/image50.png"/><Relationship Id="rId7" Type="http://schemas.openxmlformats.org/officeDocument/2006/relationships/image" Target="../media/image44.png"/><Relationship Id="rId8" Type="http://schemas.openxmlformats.org/officeDocument/2006/relationships/image" Target="../media/image63.png"/></Relationships>
</file>

<file path=ppt/slides/_rels/slide49.xml.rels><?xml version="1.0" encoding="UTF-8" standalone="yes"?><Relationships xmlns="http://schemas.openxmlformats.org/package/2006/relationships"><Relationship Id="rId11" Type="http://schemas.openxmlformats.org/officeDocument/2006/relationships/image" Target="../media/image52.png"/><Relationship Id="rId10" Type="http://schemas.openxmlformats.org/officeDocument/2006/relationships/image" Target="../media/image60.png"/><Relationship Id="rId13" Type="http://schemas.openxmlformats.org/officeDocument/2006/relationships/image" Target="../media/image72.png"/><Relationship Id="rId12" Type="http://schemas.openxmlformats.org/officeDocument/2006/relationships/image" Target="../media/image30.png"/><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66.png"/><Relationship Id="rId4" Type="http://schemas.openxmlformats.org/officeDocument/2006/relationships/image" Target="../media/image46.png"/><Relationship Id="rId9" Type="http://schemas.openxmlformats.org/officeDocument/2006/relationships/image" Target="../media/image63.png"/><Relationship Id="rId15" Type="http://schemas.openxmlformats.org/officeDocument/2006/relationships/image" Target="../media/image59.png"/><Relationship Id="rId14" Type="http://schemas.openxmlformats.org/officeDocument/2006/relationships/image" Target="../media/image22.png"/><Relationship Id="rId17" Type="http://schemas.openxmlformats.org/officeDocument/2006/relationships/image" Target="../media/image68.png"/><Relationship Id="rId16" Type="http://schemas.openxmlformats.org/officeDocument/2006/relationships/image" Target="../media/image48.png"/><Relationship Id="rId5" Type="http://schemas.openxmlformats.org/officeDocument/2006/relationships/image" Target="../media/image55.png"/><Relationship Id="rId6" Type="http://schemas.openxmlformats.org/officeDocument/2006/relationships/image" Target="../media/image54.png"/><Relationship Id="rId18" Type="http://schemas.openxmlformats.org/officeDocument/2006/relationships/image" Target="../media/image64.png"/><Relationship Id="rId7" Type="http://schemas.openxmlformats.org/officeDocument/2006/relationships/image" Target="../media/image50.png"/><Relationship Id="rId8" Type="http://schemas.openxmlformats.org/officeDocument/2006/relationships/image" Target="../media/image44.png"/></Relationships>
</file>

<file path=ppt/slides/_rels/slide50.xml.rels><?xml version="1.0" encoding="UTF-8" standalone="yes"?><Relationships xmlns="http://schemas.openxmlformats.org/package/2006/relationships"><Relationship Id="rId11" Type="http://schemas.openxmlformats.org/officeDocument/2006/relationships/image" Target="../media/image76.png"/><Relationship Id="rId10" Type="http://schemas.openxmlformats.org/officeDocument/2006/relationships/image" Target="../media/image81.png"/><Relationship Id="rId13" Type="http://schemas.openxmlformats.org/officeDocument/2006/relationships/image" Target="../media/image92.png"/><Relationship Id="rId12" Type="http://schemas.openxmlformats.org/officeDocument/2006/relationships/image" Target="../media/image75.png"/><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69.png"/><Relationship Id="rId4" Type="http://schemas.openxmlformats.org/officeDocument/2006/relationships/image" Target="../media/image78.png"/><Relationship Id="rId9" Type="http://schemas.openxmlformats.org/officeDocument/2006/relationships/image" Target="../media/image74.png"/><Relationship Id="rId15" Type="http://schemas.openxmlformats.org/officeDocument/2006/relationships/image" Target="../media/image86.png"/><Relationship Id="rId14" Type="http://schemas.openxmlformats.org/officeDocument/2006/relationships/image" Target="../media/image84.png"/><Relationship Id="rId5" Type="http://schemas.openxmlformats.org/officeDocument/2006/relationships/image" Target="../media/image4.png"/><Relationship Id="rId6" Type="http://schemas.openxmlformats.org/officeDocument/2006/relationships/image" Target="../media/image83.png"/><Relationship Id="rId7" Type="http://schemas.openxmlformats.org/officeDocument/2006/relationships/image" Target="../media/image80.png"/><Relationship Id="rId8" Type="http://schemas.openxmlformats.org/officeDocument/2006/relationships/image" Target="../media/image73.png"/></Relationships>
</file>

<file path=ppt/slides/_rels/slide51.xml.rels><?xml version="1.0" encoding="UTF-8" standalone="yes"?><Relationships xmlns="http://schemas.openxmlformats.org/package/2006/relationships"><Relationship Id="rId11" Type="http://schemas.openxmlformats.org/officeDocument/2006/relationships/image" Target="../media/image85.png"/><Relationship Id="rId10" Type="http://schemas.openxmlformats.org/officeDocument/2006/relationships/image" Target="../media/image94.png"/><Relationship Id="rId13" Type="http://schemas.openxmlformats.org/officeDocument/2006/relationships/image" Target="../media/image92.png"/><Relationship Id="rId12" Type="http://schemas.openxmlformats.org/officeDocument/2006/relationships/image" Target="../media/image75.png"/><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7.png"/><Relationship Id="rId4" Type="http://schemas.openxmlformats.org/officeDocument/2006/relationships/image" Target="../media/image89.png"/><Relationship Id="rId9" Type="http://schemas.openxmlformats.org/officeDocument/2006/relationships/image" Target="../media/image96.png"/><Relationship Id="rId15" Type="http://schemas.openxmlformats.org/officeDocument/2006/relationships/image" Target="../media/image93.png"/><Relationship Id="rId14" Type="http://schemas.openxmlformats.org/officeDocument/2006/relationships/image" Target="../media/image87.png"/><Relationship Id="rId16" Type="http://schemas.openxmlformats.org/officeDocument/2006/relationships/image" Target="../media/image86.png"/><Relationship Id="rId5" Type="http://schemas.openxmlformats.org/officeDocument/2006/relationships/image" Target="../media/image88.png"/><Relationship Id="rId6" Type="http://schemas.openxmlformats.org/officeDocument/2006/relationships/image" Target="../media/image91.png"/><Relationship Id="rId7" Type="http://schemas.openxmlformats.org/officeDocument/2006/relationships/image" Target="../media/image6.png"/><Relationship Id="rId8" Type="http://schemas.openxmlformats.org/officeDocument/2006/relationships/image" Target="../media/image73.png"/></Relationships>
</file>

<file path=ppt/slides/_rels/slide52.xml.rels><?xml version="1.0" encoding="UTF-8" standalone="yes"?><Relationships xmlns="http://schemas.openxmlformats.org/package/2006/relationships"><Relationship Id="rId11" Type="http://schemas.openxmlformats.org/officeDocument/2006/relationships/image" Target="../media/image85.png"/><Relationship Id="rId10" Type="http://schemas.openxmlformats.org/officeDocument/2006/relationships/image" Target="../media/image94.png"/><Relationship Id="rId13" Type="http://schemas.openxmlformats.org/officeDocument/2006/relationships/image" Target="../media/image92.png"/><Relationship Id="rId12" Type="http://schemas.openxmlformats.org/officeDocument/2006/relationships/image" Target="../media/image75.png"/><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7.png"/><Relationship Id="rId4" Type="http://schemas.openxmlformats.org/officeDocument/2006/relationships/image" Target="../media/image89.png"/><Relationship Id="rId9" Type="http://schemas.openxmlformats.org/officeDocument/2006/relationships/image" Target="../media/image96.png"/><Relationship Id="rId15" Type="http://schemas.openxmlformats.org/officeDocument/2006/relationships/image" Target="../media/image93.png"/><Relationship Id="rId14" Type="http://schemas.openxmlformats.org/officeDocument/2006/relationships/image" Target="../media/image87.png"/><Relationship Id="rId16" Type="http://schemas.openxmlformats.org/officeDocument/2006/relationships/image" Target="../media/image86.png"/><Relationship Id="rId5" Type="http://schemas.openxmlformats.org/officeDocument/2006/relationships/image" Target="../media/image88.png"/><Relationship Id="rId6" Type="http://schemas.openxmlformats.org/officeDocument/2006/relationships/image" Target="../media/image91.png"/><Relationship Id="rId7" Type="http://schemas.openxmlformats.org/officeDocument/2006/relationships/image" Target="../media/image6.png"/><Relationship Id="rId8" Type="http://schemas.openxmlformats.org/officeDocument/2006/relationships/image" Target="../media/image73.png"/></Relationships>
</file>

<file path=ppt/slides/_rels/slide53.xml.rels><?xml version="1.0" encoding="UTF-8" standalone="yes"?><Relationships xmlns="http://schemas.openxmlformats.org/package/2006/relationships"><Relationship Id="rId11" Type="http://schemas.openxmlformats.org/officeDocument/2006/relationships/image" Target="../media/image85.png"/><Relationship Id="rId10" Type="http://schemas.openxmlformats.org/officeDocument/2006/relationships/image" Target="../media/image94.png"/><Relationship Id="rId13" Type="http://schemas.openxmlformats.org/officeDocument/2006/relationships/image" Target="../media/image92.png"/><Relationship Id="rId12" Type="http://schemas.openxmlformats.org/officeDocument/2006/relationships/image" Target="../media/image75.png"/><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7.png"/><Relationship Id="rId4" Type="http://schemas.openxmlformats.org/officeDocument/2006/relationships/image" Target="../media/image89.png"/><Relationship Id="rId9" Type="http://schemas.openxmlformats.org/officeDocument/2006/relationships/image" Target="../media/image96.png"/><Relationship Id="rId15" Type="http://schemas.openxmlformats.org/officeDocument/2006/relationships/image" Target="../media/image93.png"/><Relationship Id="rId14" Type="http://schemas.openxmlformats.org/officeDocument/2006/relationships/image" Target="../media/image87.png"/><Relationship Id="rId16" Type="http://schemas.openxmlformats.org/officeDocument/2006/relationships/image" Target="../media/image86.png"/><Relationship Id="rId5" Type="http://schemas.openxmlformats.org/officeDocument/2006/relationships/image" Target="../media/image88.png"/><Relationship Id="rId6" Type="http://schemas.openxmlformats.org/officeDocument/2006/relationships/image" Target="../media/image91.png"/><Relationship Id="rId7" Type="http://schemas.openxmlformats.org/officeDocument/2006/relationships/image" Target="../media/image6.png"/><Relationship Id="rId8" Type="http://schemas.openxmlformats.org/officeDocument/2006/relationships/image" Target="../media/image73.png"/></Relationships>
</file>

<file path=ppt/slides/_rels/slide54.xml.rels><?xml version="1.0" encoding="UTF-8" standalone="yes"?><Relationships xmlns="http://schemas.openxmlformats.org/package/2006/relationships"><Relationship Id="rId11" Type="http://schemas.openxmlformats.org/officeDocument/2006/relationships/image" Target="../media/image85.png"/><Relationship Id="rId10" Type="http://schemas.openxmlformats.org/officeDocument/2006/relationships/image" Target="../media/image94.png"/><Relationship Id="rId13" Type="http://schemas.openxmlformats.org/officeDocument/2006/relationships/image" Target="../media/image92.png"/><Relationship Id="rId12" Type="http://schemas.openxmlformats.org/officeDocument/2006/relationships/image" Target="../media/image75.png"/><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7.png"/><Relationship Id="rId4" Type="http://schemas.openxmlformats.org/officeDocument/2006/relationships/image" Target="../media/image89.png"/><Relationship Id="rId9" Type="http://schemas.openxmlformats.org/officeDocument/2006/relationships/image" Target="../media/image96.png"/><Relationship Id="rId15" Type="http://schemas.openxmlformats.org/officeDocument/2006/relationships/image" Target="../media/image93.png"/><Relationship Id="rId14" Type="http://schemas.openxmlformats.org/officeDocument/2006/relationships/image" Target="../media/image87.png"/><Relationship Id="rId16" Type="http://schemas.openxmlformats.org/officeDocument/2006/relationships/image" Target="../media/image86.png"/><Relationship Id="rId5" Type="http://schemas.openxmlformats.org/officeDocument/2006/relationships/image" Target="../media/image88.png"/><Relationship Id="rId6" Type="http://schemas.openxmlformats.org/officeDocument/2006/relationships/image" Target="../media/image91.png"/><Relationship Id="rId7" Type="http://schemas.openxmlformats.org/officeDocument/2006/relationships/image" Target="../media/image6.png"/><Relationship Id="rId8" Type="http://schemas.openxmlformats.org/officeDocument/2006/relationships/image" Target="../media/image73.png"/></Relationships>
</file>

<file path=ppt/slides/_rels/slide55.xml.rels><?xml version="1.0" encoding="UTF-8" standalone="yes"?><Relationships xmlns="http://schemas.openxmlformats.org/package/2006/relationships"><Relationship Id="rId11" Type="http://schemas.openxmlformats.org/officeDocument/2006/relationships/image" Target="../media/image85.png"/><Relationship Id="rId10" Type="http://schemas.openxmlformats.org/officeDocument/2006/relationships/image" Target="../media/image94.png"/><Relationship Id="rId13" Type="http://schemas.openxmlformats.org/officeDocument/2006/relationships/image" Target="../media/image92.png"/><Relationship Id="rId12" Type="http://schemas.openxmlformats.org/officeDocument/2006/relationships/image" Target="../media/image75.png"/><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7.png"/><Relationship Id="rId4" Type="http://schemas.openxmlformats.org/officeDocument/2006/relationships/image" Target="../media/image89.png"/><Relationship Id="rId9" Type="http://schemas.openxmlformats.org/officeDocument/2006/relationships/image" Target="../media/image96.png"/><Relationship Id="rId15" Type="http://schemas.openxmlformats.org/officeDocument/2006/relationships/image" Target="../media/image93.png"/><Relationship Id="rId14" Type="http://schemas.openxmlformats.org/officeDocument/2006/relationships/image" Target="../media/image87.png"/><Relationship Id="rId16" Type="http://schemas.openxmlformats.org/officeDocument/2006/relationships/image" Target="../media/image86.png"/><Relationship Id="rId5" Type="http://schemas.openxmlformats.org/officeDocument/2006/relationships/image" Target="../media/image88.png"/><Relationship Id="rId6" Type="http://schemas.openxmlformats.org/officeDocument/2006/relationships/image" Target="../media/image91.png"/><Relationship Id="rId7" Type="http://schemas.openxmlformats.org/officeDocument/2006/relationships/image" Target="../media/image6.png"/><Relationship Id="rId8" Type="http://schemas.openxmlformats.org/officeDocument/2006/relationships/image" Target="../media/image7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10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10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10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9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10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 Id="rId3" Type="http://schemas.openxmlformats.org/officeDocument/2006/relationships/image" Target="../media/image9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10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 Id="rId3" Type="http://schemas.openxmlformats.org/officeDocument/2006/relationships/image" Target="../media/image10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 Id="rId3" Type="http://schemas.openxmlformats.org/officeDocument/2006/relationships/image" Target="../media/image9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10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10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65" name="Shape 65"/>
        <p:cNvGrpSpPr/>
        <p:nvPr/>
      </p:nvGrpSpPr>
      <p:grpSpPr>
        <a:xfrm>
          <a:off x="0" y="0"/>
          <a:ext cx="0" cy="0"/>
          <a:chOff x="0" y="0"/>
          <a:chExt cx="0" cy="0"/>
        </a:xfrm>
      </p:grpSpPr>
      <p:sp>
        <p:nvSpPr>
          <p:cNvPr id="66" name="Google Shape;66;p1"/>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000"/>
              <a:buFont typeface="Arial"/>
              <a:buNone/>
            </a:pPr>
            <a:r>
              <a:rPr b="1" i="0" lang="en-US" sz="4000" u="none">
                <a:solidFill>
                  <a:schemeClr val="lt1"/>
                </a:solidFill>
                <a:latin typeface="Arial"/>
                <a:ea typeface="Arial"/>
                <a:cs typeface="Arial"/>
                <a:sym typeface="Arial"/>
              </a:rPr>
              <a:t>Chương 6</a:t>
            </a:r>
            <a:endParaRPr/>
          </a:p>
        </p:txBody>
      </p:sp>
      <p:grpSp>
        <p:nvGrpSpPr>
          <p:cNvPr id="67" name="Google Shape;67;p1"/>
          <p:cNvGrpSpPr/>
          <p:nvPr/>
        </p:nvGrpSpPr>
        <p:grpSpPr>
          <a:xfrm>
            <a:off x="1712912" y="2995612"/>
            <a:ext cx="7127875" cy="1081087"/>
            <a:chOff x="960" y="2256"/>
            <a:chExt cx="4320" cy="624"/>
          </a:xfrm>
        </p:grpSpPr>
        <p:sp>
          <p:nvSpPr>
            <p:cNvPr id="68" name="Google Shape;68;p1"/>
            <p:cNvSpPr/>
            <p:nvPr/>
          </p:nvSpPr>
          <p:spPr>
            <a:xfrm>
              <a:off x="1320" y="2364"/>
              <a:ext cx="3960" cy="416"/>
            </a:xfrm>
            <a:prstGeom prst="roundRect">
              <a:avLst>
                <a:gd fmla="val 16667" name="adj"/>
              </a:avLst>
            </a:prstGeom>
            <a:solidFill>
              <a:schemeClr val="hlink"/>
            </a:solidFill>
            <a:ln cap="flat" cmpd="sng" w="12700">
              <a:solidFill>
                <a:schemeClr val="lt1"/>
              </a:solidFill>
              <a:prstDash val="solid"/>
              <a:miter lim="800000"/>
              <a:headEnd len="sm" w="sm" type="none"/>
              <a:tailEnd len="sm" w="sm" type="none"/>
            </a:ln>
            <a:effectLst>
              <a:outerShdw blurRad="63500" dir="2388334" dist="99190">
                <a:srgbClr val="333333">
                  <a:alpha val="4980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 name="Google Shape;69;p1"/>
            <p:cNvSpPr/>
            <p:nvPr/>
          </p:nvSpPr>
          <p:spPr>
            <a:xfrm>
              <a:off x="960" y="2256"/>
              <a:ext cx="648" cy="624"/>
            </a:xfrm>
            <a:prstGeom prst="diamond">
              <a:avLst/>
            </a:prstGeom>
            <a:solidFill>
              <a:schemeClr val="hlink"/>
            </a:solidFill>
            <a:ln cap="flat" cmpd="sng" w="25400">
              <a:solidFill>
                <a:schemeClr val="lt1"/>
              </a:solidFill>
              <a:prstDash val="solid"/>
              <a:miter lim="800000"/>
              <a:headEnd len="sm" w="sm" type="none"/>
              <a:tailEnd len="sm" w="sm" type="none"/>
            </a:ln>
            <a:effectLst>
              <a:outerShdw blurRad="63500" dir="2212194" dist="63500">
                <a:srgbClr val="333333">
                  <a:alpha val="4980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 name="Google Shape;70;p1"/>
            <p:cNvSpPr txBox="1"/>
            <p:nvPr/>
          </p:nvSpPr>
          <p:spPr>
            <a:xfrm>
              <a:off x="1560" y="2418"/>
              <a:ext cx="3240" cy="3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ĐỒ THỊ (Graph)</a:t>
              </a:r>
              <a:endParaRPr/>
            </a:p>
          </p:txBody>
        </p:sp>
        <p:sp>
          <p:nvSpPr>
            <p:cNvPr id="71" name="Google Shape;71;p1"/>
            <p:cNvSpPr txBox="1"/>
            <p:nvPr/>
          </p:nvSpPr>
          <p:spPr>
            <a:xfrm>
              <a:off x="1218" y="2400"/>
              <a:ext cx="111" cy="2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75" name="Shape 75"/>
        <p:cNvGrpSpPr/>
        <p:nvPr/>
      </p:nvGrpSpPr>
      <p:grpSpPr>
        <a:xfrm>
          <a:off x="0" y="0"/>
          <a:ext cx="0" cy="0"/>
          <a:chOff x="0" y="0"/>
          <a:chExt cx="0" cy="0"/>
        </a:xfrm>
      </p:grpSpPr>
      <p:sp>
        <p:nvSpPr>
          <p:cNvPr id="76" name="Google Shape;76;p2"/>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Nội dung</a:t>
            </a:r>
            <a:endParaRPr/>
          </a:p>
        </p:txBody>
      </p:sp>
      <p:sp>
        <p:nvSpPr>
          <p:cNvPr id="77" name="Google Shape;77;p2"/>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Noto Sans Symbols"/>
              <a:buAutoNum type="arabicPeriod"/>
            </a:pPr>
            <a:r>
              <a:rPr b="0" i="0" lang="en-US" sz="2800" u="none" cap="none" strike="noStrike">
                <a:solidFill>
                  <a:schemeClr val="dk1"/>
                </a:solidFill>
                <a:latin typeface="Arial"/>
                <a:ea typeface="Arial"/>
                <a:cs typeface="Arial"/>
                <a:sym typeface="Arial"/>
              </a:rPr>
              <a:t>Các khái niệm</a:t>
            </a:r>
            <a:endParaRPr/>
          </a:p>
          <a:p>
            <a:pPr indent="-514350" lvl="0" marL="514350" marR="0" rtl="0" algn="l">
              <a:lnSpc>
                <a:spcPct val="100000"/>
              </a:lnSpc>
              <a:spcBef>
                <a:spcPts val="560"/>
              </a:spcBef>
              <a:spcAft>
                <a:spcPts val="0"/>
              </a:spcAft>
              <a:buClr>
                <a:schemeClr val="dk1"/>
              </a:buClr>
              <a:buSzPts val="2800"/>
              <a:buFont typeface="Noto Sans Symbols"/>
              <a:buAutoNum type="arabicPeriod"/>
            </a:pPr>
            <a:r>
              <a:rPr b="0" i="0" lang="en-US" sz="2800" u="none" cap="none" strike="noStrike">
                <a:solidFill>
                  <a:schemeClr val="dk1"/>
                </a:solidFill>
                <a:latin typeface="Arial"/>
                <a:ea typeface="Arial"/>
                <a:cs typeface="Arial"/>
                <a:sym typeface="Arial"/>
              </a:rPr>
              <a:t>Biểu diễn đồ thị trong máy tính</a:t>
            </a:r>
            <a:endParaRPr/>
          </a:p>
          <a:p>
            <a:pPr indent="-514350" lvl="0" marL="514350" marR="0" rtl="0" algn="l">
              <a:lnSpc>
                <a:spcPct val="100000"/>
              </a:lnSpc>
              <a:spcBef>
                <a:spcPts val="560"/>
              </a:spcBef>
              <a:spcAft>
                <a:spcPts val="0"/>
              </a:spcAft>
              <a:buClr>
                <a:schemeClr val="dk1"/>
              </a:buClr>
              <a:buSzPts val="2800"/>
              <a:buFont typeface="Noto Sans Symbols"/>
              <a:buAutoNum type="arabicPeriod"/>
            </a:pPr>
            <a:r>
              <a:rPr b="0" i="0" lang="en-US" sz="2800" u="none" cap="none" strike="noStrike">
                <a:solidFill>
                  <a:schemeClr val="dk1"/>
                </a:solidFill>
                <a:latin typeface="Arial"/>
                <a:ea typeface="Arial"/>
                <a:cs typeface="Arial"/>
                <a:sym typeface="Arial"/>
              </a:rPr>
              <a:t>Các thuật toán tìm kiếm trên đồ thị</a:t>
            </a:r>
            <a:endParaRPr/>
          </a:p>
          <a:p>
            <a:pPr indent="-514350" lvl="0" marL="514350" marR="0" rtl="0" algn="l">
              <a:lnSpc>
                <a:spcPct val="100000"/>
              </a:lnSpc>
              <a:spcBef>
                <a:spcPts val="560"/>
              </a:spcBef>
              <a:spcAft>
                <a:spcPts val="0"/>
              </a:spcAft>
              <a:buClr>
                <a:schemeClr val="dk1"/>
              </a:buClr>
              <a:buSzPts val="2800"/>
              <a:buFont typeface="Noto Sans Symbols"/>
              <a:buAutoNum type="arabicPeriod"/>
            </a:pPr>
            <a:r>
              <a:rPr b="0" i="0" lang="en-US" sz="2800" u="none" cap="none" strike="noStrike">
                <a:solidFill>
                  <a:schemeClr val="dk1"/>
                </a:solidFill>
                <a:latin typeface="Arial"/>
                <a:ea typeface="Arial"/>
                <a:cs typeface="Arial"/>
                <a:sym typeface="Arial"/>
              </a:rPr>
              <a:t>Tính liên thông của đồ thị</a:t>
            </a:r>
            <a:endParaRPr/>
          </a:p>
          <a:p>
            <a:pPr indent="-514350" lvl="0" marL="514350" marR="0" rtl="0" algn="l">
              <a:lnSpc>
                <a:spcPct val="100000"/>
              </a:lnSpc>
              <a:spcBef>
                <a:spcPts val="560"/>
              </a:spcBef>
              <a:spcAft>
                <a:spcPts val="0"/>
              </a:spcAft>
              <a:buClr>
                <a:schemeClr val="dk1"/>
              </a:buClr>
              <a:buSzPts val="2800"/>
              <a:buFont typeface="Noto Sans Symbols"/>
              <a:buAutoNum type="arabicPeriod"/>
            </a:pPr>
            <a:r>
              <a:rPr b="0" i="0" lang="en-US" sz="2800" u="none" cap="none" strike="noStrike">
                <a:solidFill>
                  <a:schemeClr val="dk1"/>
                </a:solidFill>
                <a:latin typeface="Arial"/>
                <a:ea typeface="Arial"/>
                <a:cs typeface="Arial"/>
                <a:sym typeface="Arial"/>
              </a:rPr>
              <a:t>Tìm đường đi ngắn nhất trong đồ thị</a:t>
            </a:r>
            <a:endParaRPr/>
          </a:p>
          <a:p>
            <a:pPr indent="-514350" lvl="0" marL="514350" marR="0" rtl="0" algn="l">
              <a:lnSpc>
                <a:spcPct val="100000"/>
              </a:lnSpc>
              <a:spcBef>
                <a:spcPts val="560"/>
              </a:spcBef>
              <a:spcAft>
                <a:spcPts val="0"/>
              </a:spcAft>
              <a:buClr>
                <a:schemeClr val="dk1"/>
              </a:buClr>
              <a:buSzPts val="2800"/>
              <a:buFont typeface="Noto Sans Symbols"/>
              <a:buAutoNum type="arabicPeriod"/>
            </a:pPr>
            <a:r>
              <a:rPr b="0" i="0" lang="en-US" sz="2800" u="none" cap="none" strike="noStrike">
                <a:solidFill>
                  <a:schemeClr val="dk1"/>
                </a:solidFill>
                <a:latin typeface="Arial"/>
                <a:ea typeface="Arial"/>
                <a:cs typeface="Arial"/>
                <a:sym typeface="Arial"/>
              </a:rPr>
              <a:t>Cây khung cực tiểu</a:t>
            </a:r>
            <a:endParaRPr/>
          </a:p>
          <a:p>
            <a:pPr indent="-336550" lvl="0" marL="514350" marR="0" rtl="0" algn="l">
              <a:lnSpc>
                <a:spcPct val="100000"/>
              </a:lnSpc>
              <a:spcBef>
                <a:spcPts val="560"/>
              </a:spcBef>
              <a:spcAft>
                <a:spcPts val="0"/>
              </a:spcAft>
              <a:buClr>
                <a:schemeClr val="dk1"/>
              </a:buClr>
              <a:buSzPts val="2800"/>
              <a:buFont typeface="Noto Sans Symbols"/>
              <a:buNone/>
            </a:pPr>
            <a:r>
              <a:t/>
            </a:r>
            <a:endParaRPr b="0" i="0" sz="2800" u="none" cap="none" strike="noStrike">
              <a:solidFill>
                <a:schemeClr val="dk1"/>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81" name="Shape 81"/>
        <p:cNvGrpSpPr/>
        <p:nvPr/>
      </p:nvGrpSpPr>
      <p:grpSpPr>
        <a:xfrm>
          <a:off x="0" y="0"/>
          <a:ext cx="0" cy="0"/>
          <a:chOff x="0" y="0"/>
          <a:chExt cx="0" cy="0"/>
        </a:xfrm>
      </p:grpSpPr>
      <p:sp>
        <p:nvSpPr>
          <p:cNvPr id="82" name="Google Shape;82;p3"/>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1. Các khái niệm</a:t>
            </a:r>
            <a:endParaRPr/>
          </a:p>
        </p:txBody>
      </p:sp>
      <p:sp>
        <p:nvSpPr>
          <p:cNvPr id="83" name="Google Shape;83;p3"/>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Một đồ thị </a:t>
            </a:r>
            <a:r>
              <a:rPr b="0" i="1" lang="en-US" sz="2800" u="none">
                <a:solidFill>
                  <a:schemeClr val="accent2"/>
                </a:solidFill>
                <a:latin typeface="Courier New"/>
                <a:ea typeface="Courier New"/>
                <a:cs typeface="Courier New"/>
                <a:sym typeface="Courier New"/>
              </a:rPr>
              <a:t>G</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E</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bao gồm một tập hữu hạn </a:t>
            </a:r>
            <a:r>
              <a:rPr b="0" i="1" lang="en-US" sz="2800" u="none">
                <a:solidFill>
                  <a:schemeClr val="accent2"/>
                </a:solidFill>
                <a:latin typeface="Courier New"/>
                <a:ea typeface="Courier New"/>
                <a:cs typeface="Courier New"/>
                <a:sym typeface="Courier New"/>
              </a:rPr>
              <a:t>V</a:t>
            </a:r>
            <a:r>
              <a:rPr b="0" i="0" lang="en-US" sz="2800" u="none">
                <a:solidFill>
                  <a:schemeClr val="dk1"/>
                </a:solidFill>
                <a:latin typeface="Arial"/>
                <a:ea typeface="Arial"/>
                <a:cs typeface="Arial"/>
                <a:sym typeface="Arial"/>
              </a:rPr>
              <a:t>  nút hay đỉnh (</a:t>
            </a:r>
            <a:r>
              <a:rPr b="0" i="1" lang="en-US" sz="2800" u="none">
                <a:solidFill>
                  <a:schemeClr val="dk1"/>
                </a:solidFill>
                <a:latin typeface="Arial"/>
                <a:ea typeface="Arial"/>
                <a:cs typeface="Arial"/>
                <a:sym typeface="Arial"/>
              </a:rPr>
              <a:t>vertices</a:t>
            </a:r>
            <a:r>
              <a:rPr b="0" i="0" lang="en-US" sz="2800" u="none">
                <a:solidFill>
                  <a:schemeClr val="dk1"/>
                </a:solidFill>
                <a:latin typeface="Arial"/>
                <a:ea typeface="Arial"/>
                <a:cs typeface="Arial"/>
                <a:sym typeface="Arial"/>
              </a:rPr>
              <a:t>) và một tập hữu hạn </a:t>
            </a:r>
            <a:r>
              <a:rPr b="0" i="1" lang="en-US" sz="2800" u="none">
                <a:solidFill>
                  <a:schemeClr val="accent2"/>
                </a:solidFill>
                <a:latin typeface="Courier New"/>
                <a:ea typeface="Courier New"/>
                <a:cs typeface="Courier New"/>
                <a:sym typeface="Courier New"/>
              </a:rPr>
              <a:t>E</a:t>
            </a:r>
            <a:r>
              <a:rPr b="0" i="0" lang="en-US" sz="2800" u="none">
                <a:solidFill>
                  <a:schemeClr val="dk1"/>
                </a:solidFill>
                <a:latin typeface="Arial"/>
                <a:ea typeface="Arial"/>
                <a:cs typeface="Arial"/>
                <a:sym typeface="Arial"/>
              </a:rPr>
              <a:t> cặp đỉnh gọi là cạnh (</a:t>
            </a:r>
            <a:r>
              <a:rPr b="0" i="1" lang="en-US" sz="2800" u="none">
                <a:solidFill>
                  <a:schemeClr val="dk1"/>
                </a:solidFill>
                <a:latin typeface="Arial"/>
                <a:ea typeface="Arial"/>
                <a:cs typeface="Arial"/>
                <a:sym typeface="Arial"/>
              </a:rPr>
              <a:t>edge</a:t>
            </a:r>
            <a:r>
              <a:rPr b="0" i="0" lang="en-US" sz="2800" u="none">
                <a:solidFill>
                  <a:schemeClr val="dk1"/>
                </a:solidFill>
                <a:latin typeface="Arial"/>
                <a:ea typeface="Arial"/>
                <a:cs typeface="Arial"/>
                <a:sym typeface="Arial"/>
              </a:rPr>
              <a:t>)</a:t>
            </a:r>
            <a:endParaRPr/>
          </a:p>
          <a:p>
            <a:pPr indent="-463550" lvl="0" marL="46355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Nếu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1</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2</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là cặp đỉnh thuộc </a:t>
            </a:r>
            <a:r>
              <a:rPr b="0" i="1" lang="en-US" sz="2800" u="none">
                <a:solidFill>
                  <a:schemeClr val="accent2"/>
                </a:solidFill>
                <a:latin typeface="Courier New"/>
                <a:ea typeface="Courier New"/>
                <a:cs typeface="Courier New"/>
                <a:sym typeface="Courier New"/>
              </a:rPr>
              <a:t>E</a:t>
            </a:r>
            <a:r>
              <a:rPr b="0" i="0" lang="en-US" sz="2800" u="none">
                <a:solidFill>
                  <a:schemeClr val="dk1"/>
                </a:solidFill>
                <a:latin typeface="Arial"/>
                <a:ea typeface="Arial"/>
                <a:cs typeface="Arial"/>
                <a:sym typeface="Arial"/>
              </a:rPr>
              <a:t> thì có một cạnh nối giữa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1</a:t>
            </a:r>
            <a:r>
              <a:rPr b="0" i="0" lang="en-US" sz="2800" u="none">
                <a:solidFill>
                  <a:schemeClr val="dk1"/>
                </a:solidFill>
                <a:latin typeface="Arial"/>
                <a:ea typeface="Arial"/>
                <a:cs typeface="Arial"/>
                <a:sym typeface="Arial"/>
              </a:rPr>
              <a:t> và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2</a:t>
            </a:r>
            <a:r>
              <a:rPr b="0" i="0" lang="en-US" sz="2800" u="none">
                <a:solidFill>
                  <a:schemeClr val="dk1"/>
                </a:solidFill>
                <a:latin typeface="Arial"/>
                <a:ea typeface="Arial"/>
                <a:cs typeface="Arial"/>
                <a:sym typeface="Arial"/>
              </a:rPr>
              <a:t>. Nếu cạnh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1</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2</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khác với cạnh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2</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1</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thì đó là đồ thị có hướng. Khi đó,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1</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2</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là cạnh có hướng từ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1</a:t>
            </a:r>
            <a:r>
              <a:rPr b="0" i="0" lang="en-US" sz="2800" u="none">
                <a:solidFill>
                  <a:schemeClr val="dk1"/>
                </a:solidFill>
                <a:latin typeface="Arial"/>
                <a:ea typeface="Arial"/>
                <a:cs typeface="Arial"/>
                <a:sym typeface="Arial"/>
              </a:rPr>
              <a:t> đến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2</a:t>
            </a:r>
            <a:r>
              <a:rPr b="0" i="0" lang="en-US" sz="2800" u="none">
                <a:solidFill>
                  <a:schemeClr val="dk1"/>
                </a:solidFill>
                <a:latin typeface="Arial"/>
                <a:ea typeface="Arial"/>
                <a:cs typeface="Arial"/>
                <a:sym typeface="Arial"/>
              </a:rPr>
              <a:t>. Nếu thứ tự các đỉnh trên đồ thị không được quan tâm thì đó là đồ thị vô hướng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87" name="Shape 87"/>
        <p:cNvGrpSpPr/>
        <p:nvPr/>
      </p:nvGrpSpPr>
      <p:grpSpPr>
        <a:xfrm>
          <a:off x="0" y="0"/>
          <a:ext cx="0" cy="0"/>
          <a:chOff x="0" y="0"/>
          <a:chExt cx="0" cy="0"/>
        </a:xfrm>
      </p:grpSpPr>
      <p:sp>
        <p:nvSpPr>
          <p:cNvPr id="88" name="Google Shape;88;p4"/>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1. Các khái niệm</a:t>
            </a:r>
            <a:endParaRPr/>
          </a:p>
        </p:txBody>
      </p:sp>
      <p:sp>
        <p:nvSpPr>
          <p:cNvPr id="89" name="Google Shape;89;p4"/>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Ví dụ:</a:t>
            </a:r>
            <a:endParaRPr/>
          </a:p>
          <a:p>
            <a:pPr indent="-285750" lvl="0" marL="463550" marR="0" rtl="0" algn="l">
              <a:lnSpc>
                <a:spcPct val="8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lnSpc>
                <a:spcPct val="8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lnSpc>
                <a:spcPct val="8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lnSpc>
                <a:spcPct val="8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lnSpc>
                <a:spcPct val="8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lnSpc>
                <a:spcPct val="8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lnSpc>
                <a:spcPct val="80000"/>
              </a:lnSpc>
              <a:spcBef>
                <a:spcPts val="19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463550" lvl="0" marL="463550" marR="0" rtl="0" algn="l">
              <a:lnSpc>
                <a:spcPct val="80000"/>
              </a:lnSpc>
              <a:spcBef>
                <a:spcPts val="19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Đường đi đơn là đường đi mà mọi đỉnh trên đó, trừ đỉnh đầu và đỉnh cuối đều khác nhau</a:t>
            </a:r>
            <a:endParaRPr/>
          </a:p>
        </p:txBody>
      </p:sp>
      <p:pic>
        <p:nvPicPr>
          <p:cNvPr id="90" name="Google Shape;90;p4"/>
          <p:cNvPicPr preferRelativeResize="0"/>
          <p:nvPr/>
        </p:nvPicPr>
        <p:blipFill rotWithShape="1">
          <a:blip r:embed="rId3">
            <a:alphaModFix/>
          </a:blip>
          <a:srcRect b="0" l="0" r="0" t="0"/>
          <a:stretch/>
        </p:blipFill>
        <p:spPr>
          <a:xfrm>
            <a:off x="2209800" y="1676400"/>
            <a:ext cx="5334000" cy="29575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94" name="Shape 94"/>
        <p:cNvGrpSpPr/>
        <p:nvPr/>
      </p:nvGrpSpPr>
      <p:grpSpPr>
        <a:xfrm>
          <a:off x="0" y="0"/>
          <a:ext cx="0" cy="0"/>
          <a:chOff x="0" y="0"/>
          <a:chExt cx="0" cy="0"/>
        </a:xfrm>
      </p:grpSpPr>
      <p:sp>
        <p:nvSpPr>
          <p:cNvPr id="95" name="Google Shape;95;p5"/>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Các khái niệm</a:t>
            </a:r>
            <a:endParaRPr/>
          </a:p>
        </p:txBody>
      </p:sp>
      <p:sp>
        <p:nvSpPr>
          <p:cNvPr id="96" name="Google Shape;96;p5"/>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Chu trình là đường đi đơn mà đỉnh đầu và đỉnh cuối trùng nhau</a:t>
            </a:r>
            <a:endParaRPr/>
          </a:p>
          <a:p>
            <a:pPr indent="-463550" lvl="0" marL="46355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Đồ thị </a:t>
            </a:r>
            <a:r>
              <a:rPr b="0" i="1" lang="en-US" sz="2800" u="none">
                <a:solidFill>
                  <a:schemeClr val="accent2"/>
                </a:solidFill>
                <a:latin typeface="Courier New"/>
                <a:ea typeface="Courier New"/>
                <a:cs typeface="Courier New"/>
                <a:sym typeface="Courier New"/>
              </a:rPr>
              <a:t>G</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E</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được gọi là liên thông nếu đối với mọi cặp đỉnh phân biệt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i</a:t>
            </a:r>
            <a:r>
              <a:rPr b="0" i="0" lang="en-US" sz="2800" u="none">
                <a:solidFill>
                  <a:schemeClr val="dk1"/>
                </a:solidFill>
                <a:latin typeface="Arial"/>
                <a:ea typeface="Arial"/>
                <a:cs typeface="Arial"/>
                <a:sym typeface="Arial"/>
              </a:rPr>
              <a:t> và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j</a:t>
            </a:r>
            <a:r>
              <a:rPr b="0" i="0" lang="en-US" sz="2800" u="none">
                <a:solidFill>
                  <a:schemeClr val="dk1"/>
                </a:solidFill>
                <a:latin typeface="Arial"/>
                <a:ea typeface="Arial"/>
                <a:cs typeface="Arial"/>
                <a:sym typeface="Arial"/>
              </a:rPr>
              <a:t> trong </a:t>
            </a:r>
            <a:r>
              <a:rPr b="0" i="1" lang="en-US" sz="2800" u="none">
                <a:solidFill>
                  <a:schemeClr val="accent2"/>
                </a:solidFill>
                <a:latin typeface="Courier New"/>
                <a:ea typeface="Courier New"/>
                <a:cs typeface="Courier New"/>
                <a:sym typeface="Courier New"/>
              </a:rPr>
              <a:t>V</a:t>
            </a:r>
            <a:r>
              <a:rPr b="0" i="0" lang="en-US" sz="2800" u="none">
                <a:solidFill>
                  <a:schemeClr val="dk1"/>
                </a:solidFill>
                <a:latin typeface="Arial"/>
                <a:ea typeface="Arial"/>
                <a:cs typeface="Arial"/>
                <a:sym typeface="Arial"/>
              </a:rPr>
              <a:t> đều có đường đi từ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i</a:t>
            </a:r>
            <a:r>
              <a:rPr b="0" i="0" lang="en-US" sz="2800" u="none">
                <a:solidFill>
                  <a:schemeClr val="dk1"/>
                </a:solidFill>
                <a:latin typeface="Arial"/>
                <a:ea typeface="Arial"/>
                <a:cs typeface="Arial"/>
                <a:sym typeface="Arial"/>
              </a:rPr>
              <a:t> đến </a:t>
            </a:r>
            <a:r>
              <a:rPr b="0" i="1" lang="en-US" sz="2800" u="none">
                <a:solidFill>
                  <a:schemeClr val="accent2"/>
                </a:solidFill>
                <a:latin typeface="Courier New"/>
                <a:ea typeface="Courier New"/>
                <a:cs typeface="Courier New"/>
                <a:sym typeface="Courier New"/>
              </a:rPr>
              <a:t>V</a:t>
            </a:r>
            <a:r>
              <a:rPr b="0" baseline="-25000" i="0" lang="en-US" sz="2800" u="none">
                <a:solidFill>
                  <a:schemeClr val="accent2"/>
                </a:solidFill>
                <a:latin typeface="Courier New"/>
                <a:ea typeface="Courier New"/>
                <a:cs typeface="Courier New"/>
                <a:sym typeface="Courier New"/>
              </a:rPr>
              <a:t>j</a:t>
            </a:r>
            <a:endParaRPr/>
          </a:p>
          <a:p>
            <a:pPr indent="-463550" lvl="0" marL="46355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Đồ thị có trọng số là đồ thị mà mỗi cạnh của nó có gắn một giá trị</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00" name="Shape 100"/>
        <p:cNvGrpSpPr/>
        <p:nvPr/>
      </p:nvGrpSpPr>
      <p:grpSpPr>
        <a:xfrm>
          <a:off x="0" y="0"/>
          <a:ext cx="0" cy="0"/>
          <a:chOff x="0" y="0"/>
          <a:chExt cx="0" cy="0"/>
        </a:xfrm>
      </p:grpSpPr>
      <p:sp>
        <p:nvSpPr>
          <p:cNvPr id="101" name="Google Shape;101;p6"/>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2. Biểu diễn đồ thị</a:t>
            </a:r>
            <a:endParaRPr/>
          </a:p>
        </p:txBody>
      </p:sp>
      <p:sp>
        <p:nvSpPr>
          <p:cNvPr id="102" name="Google Shape;102;p6"/>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Có hai cách thường dùng để biểu diễn đồ thị </a:t>
            </a:r>
            <a:r>
              <a:rPr b="0" i="1" lang="en-US" sz="3000" u="none">
                <a:solidFill>
                  <a:schemeClr val="accent2"/>
                </a:solidFill>
                <a:latin typeface="Courier New"/>
                <a:ea typeface="Courier New"/>
                <a:cs typeface="Courier New"/>
                <a:sym typeface="Courier New"/>
              </a:rPr>
              <a:t>G</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a:t>
            </a:r>
            <a:endParaRPr/>
          </a:p>
          <a:p>
            <a:pPr indent="-446087" lvl="1" marL="1023937" marR="0" rtl="0" algn="l">
              <a:lnSpc>
                <a:spcPct val="8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Biểu diễn bằng </a:t>
            </a:r>
            <a:r>
              <a:rPr b="0" i="1" lang="en-US" sz="2800" u="none" cap="none" strike="noStrike">
                <a:solidFill>
                  <a:schemeClr val="dk1"/>
                </a:solidFill>
                <a:latin typeface="Arial"/>
                <a:ea typeface="Arial"/>
                <a:cs typeface="Arial"/>
                <a:sym typeface="Arial"/>
              </a:rPr>
              <a:t>danh sách kề</a:t>
            </a:r>
            <a:r>
              <a:rPr b="0" i="0" lang="en-US" sz="2800" u="none" cap="none" strike="noStrike">
                <a:solidFill>
                  <a:schemeClr val="dk1"/>
                </a:solidFill>
                <a:latin typeface="Arial"/>
                <a:ea typeface="Arial"/>
                <a:cs typeface="Arial"/>
                <a:sym typeface="Arial"/>
              </a:rPr>
              <a:t> (</a:t>
            </a:r>
            <a:r>
              <a:rPr b="0" i="1" lang="en-US" sz="2800" u="none" cap="none" strike="noStrike">
                <a:solidFill>
                  <a:schemeClr val="dk1"/>
                </a:solidFill>
                <a:latin typeface="Arial"/>
                <a:ea typeface="Arial"/>
                <a:cs typeface="Arial"/>
                <a:sym typeface="Arial"/>
              </a:rPr>
              <a:t>adjacency list</a:t>
            </a:r>
            <a:r>
              <a:rPr b="0" i="0" lang="en-US" sz="2800" u="none" cap="none" strike="noStrike">
                <a:solidFill>
                  <a:schemeClr val="dk1"/>
                </a:solidFill>
                <a:latin typeface="Arial"/>
                <a:ea typeface="Arial"/>
                <a:cs typeface="Arial"/>
                <a:sym typeface="Arial"/>
              </a:rPr>
              <a:t>)</a:t>
            </a:r>
            <a:endParaRPr/>
          </a:p>
          <a:p>
            <a:pPr indent="-446087" lvl="1" marL="1023937" marR="0" rtl="0" algn="l">
              <a:lnSpc>
                <a:spcPct val="8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Biểu diễn bằng </a:t>
            </a:r>
            <a:r>
              <a:rPr b="0" i="1" lang="en-US" sz="2800" u="none" cap="none" strike="noStrike">
                <a:solidFill>
                  <a:schemeClr val="dk1"/>
                </a:solidFill>
                <a:latin typeface="Arial"/>
                <a:ea typeface="Arial"/>
                <a:cs typeface="Arial"/>
                <a:sym typeface="Arial"/>
              </a:rPr>
              <a:t>ma trận kề</a:t>
            </a:r>
            <a:r>
              <a:rPr b="0" i="0" lang="en-US" sz="2800" u="none" cap="none" strike="noStrike">
                <a:solidFill>
                  <a:schemeClr val="dk1"/>
                </a:solidFill>
                <a:latin typeface="Arial"/>
                <a:ea typeface="Arial"/>
                <a:cs typeface="Arial"/>
                <a:sym typeface="Arial"/>
              </a:rPr>
              <a:t> (</a:t>
            </a:r>
            <a:r>
              <a:rPr b="0" i="1" lang="en-US" sz="2800" u="none" cap="none" strike="noStrike">
                <a:solidFill>
                  <a:schemeClr val="dk1"/>
                </a:solidFill>
                <a:latin typeface="Arial"/>
                <a:ea typeface="Arial"/>
                <a:cs typeface="Arial"/>
                <a:sym typeface="Arial"/>
              </a:rPr>
              <a:t>adjacency matrix</a:t>
            </a:r>
            <a:r>
              <a:rPr b="0" i="0" lang="en-US" sz="2800" u="none" cap="none" strike="noStrike">
                <a:solidFill>
                  <a:schemeClr val="dk1"/>
                </a:solidFill>
                <a:latin typeface="Arial"/>
                <a:ea typeface="Arial"/>
                <a:cs typeface="Arial"/>
                <a:sym typeface="Arial"/>
              </a:rPr>
              <a:t>)</a:t>
            </a:r>
            <a:endParaRPr/>
          </a:p>
          <a:p>
            <a:pPr indent="-463550" lvl="0" marL="463550" marR="0" rtl="0" algn="l">
              <a:lnSpc>
                <a:spcPct val="8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Danh sách kề thường được sử dụng hơn, bởi vì nó cung cấp cách súc tích để biểu diễn một đồ thị thưa – số cạnh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nhỏ hơn nhiều so với bình phương số đỉnh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baseline="30000" i="0" lang="en-US" sz="3000" u="none">
                <a:solidFill>
                  <a:schemeClr val="accent2"/>
                </a:solidFill>
                <a:latin typeface="Courier New"/>
                <a:ea typeface="Courier New"/>
                <a:cs typeface="Courier New"/>
                <a:sym typeface="Courier New"/>
              </a:rPr>
              <a:t>2 </a:t>
            </a:r>
            <a:r>
              <a:rPr b="0" i="0" lang="en-US" sz="30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và dễ nhìn hơn</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Tuy nhiên, ma trận kề lại thường được sử dụng để biểu diễn đồ thị dày –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E</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gần bằng với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baseline="30000" i="0" lang="en-US" sz="2800" u="none">
                <a:solidFill>
                  <a:schemeClr val="accent2"/>
                </a:solidFill>
                <a:latin typeface="Courier New"/>
                <a:ea typeface="Courier New"/>
                <a:cs typeface="Courier New"/>
                <a:sym typeface="Courier New"/>
              </a:rPr>
              <a:t>2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06" name="Shape 106"/>
        <p:cNvGrpSpPr/>
        <p:nvPr/>
      </p:nvGrpSpPr>
      <p:grpSpPr>
        <a:xfrm>
          <a:off x="0" y="0"/>
          <a:ext cx="0" cy="0"/>
          <a:chOff x="0" y="0"/>
          <a:chExt cx="0" cy="0"/>
        </a:xfrm>
      </p:grpSpPr>
      <p:sp>
        <p:nvSpPr>
          <p:cNvPr id="107" name="Google Shape;107;p7"/>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 Biểu diễn bằng danh sách kề</a:t>
            </a:r>
            <a:endParaRPr/>
          </a:p>
        </p:txBody>
      </p:sp>
      <p:sp>
        <p:nvSpPr>
          <p:cNvPr id="108" name="Google Shape;108;p7"/>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Một đồ thị </a:t>
            </a:r>
            <a:r>
              <a:rPr b="0" i="1" lang="en-US" sz="3000" u="none">
                <a:solidFill>
                  <a:schemeClr val="accent2"/>
                </a:solidFill>
                <a:latin typeface="Courier New"/>
                <a:ea typeface="Courier New"/>
                <a:cs typeface="Courier New"/>
                <a:sym typeface="Courier New"/>
              </a:rPr>
              <a:t>G</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là một mảng </a:t>
            </a:r>
            <a:r>
              <a:rPr b="0" i="1" lang="en-US" sz="3000" u="none">
                <a:solidFill>
                  <a:schemeClr val="accent2"/>
                </a:solidFill>
                <a:latin typeface="Courier New"/>
                <a:ea typeface="Courier New"/>
                <a:cs typeface="Courier New"/>
                <a:sym typeface="Courier New"/>
              </a:rPr>
              <a:t>Adj</a:t>
            </a:r>
            <a:r>
              <a:rPr b="0" i="0" lang="en-US" sz="3000" u="none">
                <a:solidFill>
                  <a:schemeClr val="dk1"/>
                </a:solidFill>
                <a:latin typeface="Arial"/>
                <a:ea typeface="Arial"/>
                <a:cs typeface="Arial"/>
                <a:sym typeface="Arial"/>
              </a:rPr>
              <a:t> có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danh sách, mỗi danh sách là một đỉnh trong </a:t>
            </a:r>
            <a:r>
              <a:rPr b="0" i="1" lang="en-US" sz="3000" u="none">
                <a:solidFill>
                  <a:schemeClr val="accent2"/>
                </a:solidFill>
                <a:latin typeface="Courier New"/>
                <a:ea typeface="Courier New"/>
                <a:cs typeface="Courier New"/>
                <a:sym typeface="Courier New"/>
              </a:rPr>
              <a:t>V</a:t>
            </a:r>
            <a:endParaRPr/>
          </a:p>
          <a:p>
            <a:pPr indent="-463550" lvl="0" marL="463550" marR="0" rtl="0" algn="l">
              <a:lnSpc>
                <a:spcPct val="8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Với mỗi đỉnh </a:t>
            </a:r>
            <a:r>
              <a:rPr b="0" i="1" lang="en-US" sz="3000" u="none">
                <a:solidFill>
                  <a:schemeClr val="accent2"/>
                </a:solidFill>
                <a:latin typeface="Courier New"/>
                <a:ea typeface="Courier New"/>
                <a:cs typeface="Courier New"/>
                <a:sym typeface="Courier New"/>
              </a:rPr>
              <a:t>u</a:t>
            </a:r>
            <a:r>
              <a:rPr b="0" i="0" lang="en-US" sz="3000" u="none">
                <a:solidFill>
                  <a:schemeClr val="dk1"/>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V</a:t>
            </a:r>
            <a:r>
              <a:rPr b="0" i="0" lang="en-US" sz="3000" u="none">
                <a:solidFill>
                  <a:schemeClr val="dk1"/>
                </a:solidFill>
                <a:latin typeface="Arial"/>
                <a:ea typeface="Arial"/>
                <a:cs typeface="Arial"/>
                <a:sym typeface="Arial"/>
              </a:rPr>
              <a:t>, danh sách kề </a:t>
            </a:r>
            <a:r>
              <a:rPr b="0" i="1" lang="en-US" sz="3000" u="none">
                <a:solidFill>
                  <a:schemeClr val="accent2"/>
                </a:solidFill>
                <a:latin typeface="Courier New"/>
                <a:ea typeface="Courier New"/>
                <a:cs typeface="Courier New"/>
                <a:sym typeface="Courier New"/>
              </a:rPr>
              <a:t>Adj</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u</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chứa tất cả các đỉnh </a:t>
            </a:r>
            <a:r>
              <a:rPr b="0" i="1" lang="en-US" sz="3000" u="none">
                <a:solidFill>
                  <a:schemeClr val="accent2"/>
                </a:solidFill>
                <a:latin typeface="Courier New"/>
                <a:ea typeface="Courier New"/>
                <a:cs typeface="Courier New"/>
                <a:sym typeface="Courier New"/>
              </a:rPr>
              <a:t>v</a:t>
            </a:r>
            <a:r>
              <a:rPr b="0" i="0" lang="en-US" sz="3000" u="none">
                <a:solidFill>
                  <a:schemeClr val="dk1"/>
                </a:solidFill>
                <a:latin typeface="Arial"/>
                <a:ea typeface="Arial"/>
                <a:cs typeface="Arial"/>
                <a:sym typeface="Arial"/>
              </a:rPr>
              <a:t> sao cho có cạnh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u</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dk1"/>
                </a:solidFill>
                <a:latin typeface="Arial"/>
                <a:ea typeface="Arial"/>
                <a:cs typeface="Arial"/>
                <a:sym typeface="Arial"/>
              </a:rPr>
              <a:t>. Nghĩa là, </a:t>
            </a:r>
            <a:r>
              <a:rPr b="0" i="1" lang="en-US" sz="3000" u="none">
                <a:solidFill>
                  <a:schemeClr val="accent2"/>
                </a:solidFill>
                <a:latin typeface="Courier New"/>
                <a:ea typeface="Courier New"/>
                <a:cs typeface="Courier New"/>
                <a:sym typeface="Courier New"/>
              </a:rPr>
              <a:t>Adj</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u</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chứa tất cả các đỉnh kề với </a:t>
            </a:r>
            <a:r>
              <a:rPr b="0" i="1" lang="en-US" sz="3000" u="none">
                <a:solidFill>
                  <a:schemeClr val="accent2"/>
                </a:solidFill>
                <a:latin typeface="Courier New"/>
                <a:ea typeface="Courier New"/>
                <a:cs typeface="Courier New"/>
                <a:sym typeface="Courier New"/>
              </a:rPr>
              <a:t>u</a:t>
            </a:r>
            <a:r>
              <a:rPr b="0" i="0" lang="en-US" sz="3000" u="none">
                <a:solidFill>
                  <a:schemeClr val="dk1"/>
                </a:solidFill>
                <a:latin typeface="Arial"/>
                <a:ea typeface="Arial"/>
                <a:cs typeface="Arial"/>
                <a:sym typeface="Arial"/>
              </a:rPr>
              <a:t> trong </a:t>
            </a:r>
            <a:r>
              <a:rPr b="0" i="1" lang="en-US" sz="3000" u="none">
                <a:solidFill>
                  <a:schemeClr val="accent2"/>
                </a:solidFill>
                <a:latin typeface="Courier New"/>
                <a:ea typeface="Courier New"/>
                <a:cs typeface="Courier New"/>
                <a:sym typeface="Courier New"/>
              </a:rPr>
              <a:t>G</a:t>
            </a:r>
            <a:r>
              <a:rPr b="0" i="0" lang="en-US" sz="3000" u="none">
                <a:solidFill>
                  <a:schemeClr val="dk1"/>
                </a:solidFill>
                <a:latin typeface="Arial"/>
                <a:ea typeface="Arial"/>
                <a:cs typeface="Arial"/>
                <a:sym typeface="Arial"/>
              </a:rPr>
              <a:t>. Các đỉnh trong danh sách kề có thứ tự tuỳ ý</a:t>
            </a:r>
            <a:endParaRPr/>
          </a:p>
        </p:txBody>
      </p:sp>
      <p:sp>
        <p:nvSpPr>
          <p:cNvPr id="109" name="Google Shape;109;p7"/>
          <p:cNvSpPr txBox="1"/>
          <p:nvPr/>
        </p:nvSpPr>
        <p:spPr>
          <a:xfrm>
            <a:off x="0" y="32004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13" name="Shape 113"/>
        <p:cNvGrpSpPr/>
        <p:nvPr/>
      </p:nvGrpSpPr>
      <p:grpSpPr>
        <a:xfrm>
          <a:off x="0" y="0"/>
          <a:ext cx="0" cy="0"/>
          <a:chOff x="0" y="0"/>
          <a:chExt cx="0" cy="0"/>
        </a:xfrm>
      </p:grpSpPr>
      <p:sp>
        <p:nvSpPr>
          <p:cNvPr id="114" name="Google Shape;114;p8"/>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Biểu diễn bằng danh sách kề</a:t>
            </a:r>
            <a:endParaRPr/>
          </a:p>
        </p:txBody>
      </p:sp>
      <p:sp>
        <p:nvSpPr>
          <p:cNvPr id="115" name="Google Shape;115;p8"/>
          <p:cNvSpPr txBox="1"/>
          <p:nvPr>
            <p:ph idx="1" type="body"/>
          </p:nvPr>
        </p:nvSpPr>
        <p:spPr>
          <a:xfrm>
            <a:off x="915987" y="981075"/>
            <a:ext cx="7910400" cy="554370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Tổng độ dài của tất cả các danh sách kề  trong đồ thị vô hướng là </a:t>
            </a:r>
            <a:r>
              <a:rPr b="0" i="0" lang="en-US" sz="3000" u="none">
                <a:solidFill>
                  <a:schemeClr val="accent2"/>
                </a:solidFill>
                <a:latin typeface="Courier New"/>
                <a:ea typeface="Courier New"/>
                <a:cs typeface="Courier New"/>
                <a:sym typeface="Courier New"/>
              </a:rPr>
              <a:t>2|</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endParaRPr/>
          </a:p>
        </p:txBody>
      </p:sp>
      <p:pic>
        <p:nvPicPr>
          <p:cNvPr id="116" name="Google Shape;116;p8"/>
          <p:cNvPicPr preferRelativeResize="0"/>
          <p:nvPr/>
        </p:nvPicPr>
        <p:blipFill rotWithShape="1">
          <a:blip r:embed="rId3">
            <a:alphaModFix/>
          </a:blip>
          <a:srcRect b="0" l="0" r="0" t="0"/>
          <a:stretch/>
        </p:blipFill>
        <p:spPr>
          <a:xfrm>
            <a:off x="1143000" y="1905000"/>
            <a:ext cx="6965950" cy="3673475"/>
          </a:xfrm>
          <a:prstGeom prst="rect">
            <a:avLst/>
          </a:prstGeom>
          <a:noFill/>
          <a:ln>
            <a:noFill/>
          </a:ln>
        </p:spPr>
      </p:pic>
      <p:sp>
        <p:nvSpPr>
          <p:cNvPr id="117" name="Google Shape;117;p8"/>
          <p:cNvSpPr txBox="1"/>
          <p:nvPr/>
        </p:nvSpPr>
        <p:spPr>
          <a:xfrm>
            <a:off x="1123950" y="3276600"/>
            <a:ext cx="1758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1" name="Shape 121"/>
        <p:cNvGrpSpPr/>
        <p:nvPr/>
      </p:nvGrpSpPr>
      <p:grpSpPr>
        <a:xfrm>
          <a:off x="0" y="0"/>
          <a:ext cx="0" cy="0"/>
          <a:chOff x="0" y="0"/>
          <a:chExt cx="0" cy="0"/>
        </a:xfrm>
      </p:grpSpPr>
      <p:sp>
        <p:nvSpPr>
          <p:cNvPr id="122" name="Google Shape;122;p9"/>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Biểu diễn bằng danh sách kề</a:t>
            </a:r>
            <a:endParaRPr/>
          </a:p>
        </p:txBody>
      </p:sp>
      <p:sp>
        <p:nvSpPr>
          <p:cNvPr id="123" name="Google Shape;123;p9"/>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Nếu </a:t>
            </a:r>
            <a:r>
              <a:rPr b="0" i="1" lang="en-US" sz="3000" u="none">
                <a:solidFill>
                  <a:schemeClr val="accent2"/>
                </a:solidFill>
                <a:latin typeface="Courier New"/>
                <a:ea typeface="Courier New"/>
                <a:cs typeface="Courier New"/>
                <a:sym typeface="Courier New"/>
              </a:rPr>
              <a:t>G</a:t>
            </a:r>
            <a:r>
              <a:rPr b="0" i="0" lang="en-US" sz="3000" u="none">
                <a:solidFill>
                  <a:schemeClr val="dk1"/>
                </a:solidFill>
                <a:latin typeface="Arial"/>
                <a:ea typeface="Arial"/>
                <a:cs typeface="Arial"/>
                <a:sym typeface="Arial"/>
              </a:rPr>
              <a:t> là đồ thị có hướng, tổng độ dài của tất cả các danh sách kề là </a:t>
            </a:r>
            <a:r>
              <a:rPr b="0" i="0" lang="en-US" sz="3400" u="none">
                <a:solidFill>
                  <a:schemeClr val="accent2"/>
                </a:solidFill>
                <a:latin typeface="Courier New"/>
                <a:ea typeface="Courier New"/>
                <a:cs typeface="Courier New"/>
                <a:sym typeface="Courier New"/>
              </a:rPr>
              <a:t>|</a:t>
            </a:r>
            <a:r>
              <a:rPr b="0" i="1" lang="en-US" sz="3400" u="none">
                <a:solidFill>
                  <a:schemeClr val="accent2"/>
                </a:solidFill>
                <a:latin typeface="Courier New"/>
                <a:ea typeface="Courier New"/>
                <a:cs typeface="Courier New"/>
                <a:sym typeface="Courier New"/>
              </a:rPr>
              <a:t>E</a:t>
            </a:r>
            <a:r>
              <a:rPr b="0" i="0" lang="en-US" sz="3400" u="none">
                <a:solidFill>
                  <a:schemeClr val="accent2"/>
                </a:solidFill>
                <a:latin typeface="Courier New"/>
                <a:ea typeface="Courier New"/>
                <a:cs typeface="Courier New"/>
                <a:sym typeface="Courier New"/>
              </a:rPr>
              <a:t>|</a:t>
            </a:r>
            <a:endParaRPr b="0" i="0" sz="3000" u="none">
              <a:solidFill>
                <a:schemeClr val="dk1"/>
              </a:solidFill>
              <a:latin typeface="Arial"/>
              <a:ea typeface="Arial"/>
              <a:cs typeface="Arial"/>
              <a:sym typeface="Arial"/>
            </a:endParaRPr>
          </a:p>
          <a:p>
            <a:pPr indent="-273050" lvl="0" marL="463550" marR="0" rtl="0" algn="l">
              <a:spcBef>
                <a:spcPts val="600"/>
              </a:spcBef>
              <a:spcAft>
                <a:spcPts val="0"/>
              </a:spcAft>
              <a:buClr>
                <a:schemeClr val="dk1"/>
              </a:buClr>
              <a:buSzPts val="3000"/>
              <a:buFont typeface="Noto Sans Symbols"/>
              <a:buNone/>
            </a:pPr>
            <a:r>
              <a:t/>
            </a:r>
            <a:endParaRPr b="0" i="0" sz="3000" u="none">
              <a:solidFill>
                <a:schemeClr val="dk1"/>
              </a:solidFill>
              <a:latin typeface="Arial"/>
              <a:ea typeface="Arial"/>
              <a:cs typeface="Arial"/>
              <a:sym typeface="Arial"/>
            </a:endParaRPr>
          </a:p>
        </p:txBody>
      </p:sp>
      <p:pic>
        <p:nvPicPr>
          <p:cNvPr id="124" name="Google Shape;124;p9"/>
          <p:cNvPicPr preferRelativeResize="0"/>
          <p:nvPr/>
        </p:nvPicPr>
        <p:blipFill rotWithShape="1">
          <a:blip r:embed="rId3">
            <a:alphaModFix/>
          </a:blip>
          <a:srcRect b="0" l="0" r="0" t="0"/>
          <a:stretch/>
        </p:blipFill>
        <p:spPr>
          <a:xfrm>
            <a:off x="1752600" y="2286000"/>
            <a:ext cx="5559425" cy="3740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8" name="Shape 128"/>
        <p:cNvGrpSpPr/>
        <p:nvPr/>
      </p:nvGrpSpPr>
      <p:grpSpPr>
        <a:xfrm>
          <a:off x="0" y="0"/>
          <a:ext cx="0" cy="0"/>
          <a:chOff x="0" y="0"/>
          <a:chExt cx="0" cy="0"/>
        </a:xfrm>
      </p:grpSpPr>
      <p:sp>
        <p:nvSpPr>
          <p:cNvPr id="129" name="Google Shape;129;p10"/>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Biểu diễn bằng danh sách kề</a:t>
            </a:r>
            <a:endParaRPr/>
          </a:p>
        </p:txBody>
      </p:sp>
      <p:sp>
        <p:nvSpPr>
          <p:cNvPr id="130" name="Google Shape;130;p10"/>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9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Các danh sách kề cũng có thể được điều chỉnh để biểu diễn </a:t>
            </a:r>
            <a:r>
              <a:rPr b="0" i="1" lang="en-US" sz="3000" u="none">
                <a:solidFill>
                  <a:schemeClr val="dk1"/>
                </a:solidFill>
                <a:latin typeface="Arial"/>
                <a:ea typeface="Arial"/>
                <a:cs typeface="Arial"/>
                <a:sym typeface="Arial"/>
              </a:rPr>
              <a:t>đồ thị có trọng số</a:t>
            </a:r>
            <a:r>
              <a:rPr b="0" i="0" lang="en-US" sz="3000" u="none">
                <a:solidFill>
                  <a:schemeClr val="dk1"/>
                </a:solidFill>
                <a:latin typeface="Arial"/>
                <a:ea typeface="Arial"/>
                <a:cs typeface="Arial"/>
                <a:sym typeface="Arial"/>
              </a:rPr>
              <a:t> (</a:t>
            </a:r>
            <a:r>
              <a:rPr b="0" i="1" lang="en-US" sz="3000" u="none">
                <a:solidFill>
                  <a:schemeClr val="dk1"/>
                </a:solidFill>
                <a:latin typeface="Arial"/>
                <a:ea typeface="Arial"/>
                <a:cs typeface="Arial"/>
                <a:sym typeface="Arial"/>
              </a:rPr>
              <a:t>weighted graph</a:t>
            </a:r>
            <a:r>
              <a:rPr b="0" i="0" lang="en-US" sz="3000" u="none">
                <a:solidFill>
                  <a:schemeClr val="dk1"/>
                </a:solidFill>
                <a:latin typeface="Arial"/>
                <a:ea typeface="Arial"/>
                <a:cs typeface="Arial"/>
                <a:sym typeface="Arial"/>
              </a:rPr>
              <a:t>)</a:t>
            </a:r>
            <a:endParaRPr/>
          </a:p>
          <a:p>
            <a:pPr indent="-463550" lvl="0" marL="463550" marR="0" rtl="0" algn="l">
              <a:lnSpc>
                <a:spcPct val="9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Đồ thị có trọng số là đồ thị mà mỗi cạnh được gán một trọng số, nghĩa là nó kết hợp với hàm trọng số </a:t>
            </a:r>
            <a:r>
              <a:rPr b="0" i="1" lang="en-US" sz="3000" u="none">
                <a:solidFill>
                  <a:schemeClr val="accent2"/>
                </a:solidFill>
                <a:latin typeface="Courier New"/>
                <a:ea typeface="Courier New"/>
                <a:cs typeface="Courier New"/>
                <a:sym typeface="Courier New"/>
              </a:rPr>
              <a:t>w</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R</a:t>
            </a:r>
            <a:endParaRPr/>
          </a:p>
          <a:p>
            <a:pPr indent="-463550" lvl="0" marL="463550" marR="0" rtl="0" algn="l">
              <a:lnSpc>
                <a:spcPct val="90000"/>
              </a:lnSpc>
              <a:spcBef>
                <a:spcPts val="68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Ví dụ, nếu </a:t>
            </a:r>
            <a:r>
              <a:rPr b="0" i="1" lang="en-US" sz="3000" u="none">
                <a:solidFill>
                  <a:schemeClr val="accent2"/>
                </a:solidFill>
                <a:latin typeface="Courier New"/>
                <a:ea typeface="Courier New"/>
                <a:cs typeface="Courier New"/>
                <a:sym typeface="Courier New"/>
              </a:rPr>
              <a:t>G</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là đồ thị có trọng số với hàm trọng số </a:t>
            </a:r>
            <a:r>
              <a:rPr b="0" i="1" lang="en-US" sz="3000" u="none">
                <a:solidFill>
                  <a:schemeClr val="accent2"/>
                </a:solidFill>
                <a:latin typeface="Courier New"/>
                <a:ea typeface="Courier New"/>
                <a:cs typeface="Courier New"/>
                <a:sym typeface="Courier New"/>
              </a:rPr>
              <a:t>w</a:t>
            </a:r>
            <a:r>
              <a:rPr b="0" i="0" lang="en-US" sz="3000" u="none">
                <a:solidFill>
                  <a:schemeClr val="dk1"/>
                </a:solidFill>
                <a:latin typeface="Arial"/>
                <a:ea typeface="Arial"/>
                <a:cs typeface="Arial"/>
                <a:sym typeface="Arial"/>
              </a:rPr>
              <a:t>, thì trọng số </a:t>
            </a:r>
            <a:r>
              <a:rPr b="0" i="1" lang="en-US" sz="3000" u="none">
                <a:solidFill>
                  <a:schemeClr val="accent2"/>
                </a:solidFill>
                <a:latin typeface="Courier New"/>
                <a:ea typeface="Courier New"/>
                <a:cs typeface="Courier New"/>
                <a:sym typeface="Courier New"/>
              </a:rPr>
              <a:t>w</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u</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của cạnh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u</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4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dk1"/>
                </a:solidFill>
                <a:latin typeface="Arial"/>
                <a:ea typeface="Arial"/>
                <a:cs typeface="Arial"/>
                <a:sym typeface="Arial"/>
              </a:rPr>
              <a:t>  được chứa với đỉnh </a:t>
            </a:r>
            <a:r>
              <a:rPr b="0" i="1" lang="en-US" sz="3000" u="none">
                <a:solidFill>
                  <a:schemeClr val="accent2"/>
                </a:solidFill>
                <a:latin typeface="Courier New"/>
                <a:ea typeface="Courier New"/>
                <a:cs typeface="Courier New"/>
                <a:sym typeface="Courier New"/>
              </a:rPr>
              <a:t>v</a:t>
            </a:r>
            <a:r>
              <a:rPr b="0" i="0" lang="en-US" sz="3000" u="none">
                <a:solidFill>
                  <a:schemeClr val="dk1"/>
                </a:solidFill>
                <a:latin typeface="Arial"/>
                <a:ea typeface="Arial"/>
                <a:cs typeface="Arial"/>
                <a:sym typeface="Arial"/>
              </a:rPr>
              <a:t> trong danh sách kề của </a:t>
            </a:r>
            <a:r>
              <a:rPr b="0" i="1" lang="en-US" sz="3000" u="none">
                <a:solidFill>
                  <a:schemeClr val="accent2"/>
                </a:solidFill>
                <a:latin typeface="Courier New"/>
                <a:ea typeface="Courier New"/>
                <a:cs typeface="Courier New"/>
                <a:sym typeface="Courier New"/>
              </a:rPr>
              <a:t>u</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34" name="Shape 134"/>
        <p:cNvGrpSpPr/>
        <p:nvPr/>
      </p:nvGrpSpPr>
      <p:grpSpPr>
        <a:xfrm>
          <a:off x="0" y="0"/>
          <a:ext cx="0" cy="0"/>
          <a:chOff x="0" y="0"/>
          <a:chExt cx="0" cy="0"/>
        </a:xfrm>
      </p:grpSpPr>
      <p:sp>
        <p:nvSpPr>
          <p:cNvPr id="135" name="Google Shape;135;p11"/>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 Biểu diễn bằng ma trận kề</a:t>
            </a:r>
            <a:endParaRPr/>
          </a:p>
        </p:txBody>
      </p:sp>
      <p:sp>
        <p:nvSpPr>
          <p:cNvPr id="136" name="Google Shape;136;p11"/>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Trong đồ thị </a:t>
            </a:r>
            <a:r>
              <a:rPr b="0" i="1" lang="en-US" sz="3000" u="none">
                <a:solidFill>
                  <a:schemeClr val="accent2"/>
                </a:solidFill>
                <a:latin typeface="Courier New"/>
                <a:ea typeface="Courier New"/>
                <a:cs typeface="Courier New"/>
                <a:sym typeface="Courier New"/>
              </a:rPr>
              <a:t>G</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giả sử các đỉnh được đánh số từ </a:t>
            </a:r>
            <a:r>
              <a:rPr b="0" i="0" lang="en-US" sz="3000" u="none">
                <a:solidFill>
                  <a:schemeClr val="accent2"/>
                </a:solidFill>
                <a:latin typeface="Courier New"/>
                <a:ea typeface="Courier New"/>
                <a:cs typeface="Courier New"/>
                <a:sym typeface="Courier New"/>
              </a:rPr>
              <a:t>1,</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2,</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ma trận kề của </a:t>
            </a:r>
            <a:r>
              <a:rPr b="0" i="1" lang="en-US" sz="3000" u="none">
                <a:solidFill>
                  <a:schemeClr val="accent2"/>
                </a:solidFill>
                <a:latin typeface="Courier New"/>
                <a:ea typeface="Courier New"/>
                <a:cs typeface="Courier New"/>
                <a:sym typeface="Courier New"/>
              </a:rPr>
              <a:t>G</a:t>
            </a:r>
            <a:r>
              <a:rPr b="0" i="0" lang="en-US" sz="3000" u="none">
                <a:solidFill>
                  <a:schemeClr val="dk1"/>
                </a:solidFill>
                <a:latin typeface="Arial"/>
                <a:ea typeface="Arial"/>
                <a:cs typeface="Arial"/>
                <a:sym typeface="Arial"/>
              </a:rPr>
              <a:t> là một ma trận vuông </a:t>
            </a:r>
            <a:r>
              <a:rPr b="0" i="1" lang="en-US" sz="3000" u="none">
                <a:solidFill>
                  <a:schemeClr val="accent2"/>
                </a:solidFill>
                <a:latin typeface="Courier New"/>
                <a:ea typeface="Courier New"/>
                <a:cs typeface="Courier New"/>
                <a:sym typeface="Courier New"/>
              </a:rPr>
              <a:t>A</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a</a:t>
            </a:r>
            <a:r>
              <a:rPr b="0" baseline="-25000" i="1" lang="en-US" sz="3000" u="none">
                <a:solidFill>
                  <a:schemeClr val="accent2"/>
                </a:solidFill>
                <a:latin typeface="Courier New"/>
                <a:ea typeface="Courier New"/>
                <a:cs typeface="Courier New"/>
                <a:sym typeface="Courier New"/>
              </a:rPr>
              <a:t>ij</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có kích thước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sao cho</a:t>
            </a:r>
            <a:endParaRPr/>
          </a:p>
          <a:p>
            <a:pPr indent="-336548" lvl="3" marL="1938336" marR="0" rtl="0" algn="l">
              <a:lnSpc>
                <a:spcPct val="100000"/>
              </a:lnSpc>
              <a:spcBef>
                <a:spcPts val="1400"/>
              </a:spcBef>
              <a:spcAft>
                <a:spcPts val="0"/>
              </a:spcAft>
              <a:buClr>
                <a:schemeClr val="accent2"/>
              </a:buClr>
              <a:buSzPts val="2800"/>
              <a:buFont typeface="Arial"/>
              <a:buNone/>
            </a:pPr>
            <a:r>
              <a:rPr b="0" i="0" lang="en-US" sz="2800" u="none" cap="none" strike="noStrike">
                <a:solidFill>
                  <a:schemeClr val="accent2"/>
                </a:solidFill>
                <a:latin typeface="Arial"/>
                <a:ea typeface="Arial"/>
                <a:cs typeface="Arial"/>
                <a:sym typeface="Arial"/>
              </a:rPr>
              <a:t>	 </a:t>
            </a:r>
            <a:r>
              <a:rPr b="0" i="0" lang="en-US" sz="2800" u="none" cap="none" strike="noStrike">
                <a:solidFill>
                  <a:schemeClr val="accent2"/>
                </a:solidFill>
                <a:latin typeface="Courier New"/>
                <a:ea typeface="Courier New"/>
                <a:cs typeface="Courier New"/>
                <a:sym typeface="Courier New"/>
              </a:rPr>
              <a:t>1</a:t>
            </a:r>
            <a:r>
              <a:rPr b="0" i="0" lang="en-US" sz="2800" u="none" cap="none" strike="noStrike">
                <a:solidFill>
                  <a:schemeClr val="accent2"/>
                </a:solidFill>
                <a:latin typeface="Arial"/>
                <a:ea typeface="Arial"/>
                <a:cs typeface="Arial"/>
                <a:sym typeface="Arial"/>
              </a:rPr>
              <a:t>  </a:t>
            </a:r>
            <a:r>
              <a:rPr b="0" i="0" lang="en-US" sz="2800" u="none" cap="none" strike="noStrike">
                <a:solidFill>
                  <a:schemeClr val="dk1"/>
                </a:solidFill>
                <a:latin typeface="Arial"/>
                <a:ea typeface="Arial"/>
                <a:cs typeface="Arial"/>
                <a:sym typeface="Arial"/>
              </a:rPr>
              <a:t>nếu (</a:t>
            </a:r>
            <a:r>
              <a:rPr b="0" i="1" lang="en-US" sz="2800" u="none" cap="none" strike="noStrike">
                <a:solidFill>
                  <a:schemeClr val="accent2"/>
                </a:solidFill>
                <a:latin typeface="Courier New"/>
                <a:ea typeface="Courier New"/>
                <a:cs typeface="Courier New"/>
                <a:sym typeface="Courier New"/>
              </a:rPr>
              <a:t>i</a:t>
            </a:r>
            <a:r>
              <a:rPr b="0" i="0" lang="en-US" sz="2800" u="none" cap="none" strike="noStrike">
                <a:solidFill>
                  <a:schemeClr val="dk1"/>
                </a:solidFill>
                <a:latin typeface="Arial"/>
                <a:ea typeface="Arial"/>
                <a:cs typeface="Arial"/>
                <a:sym typeface="Arial"/>
              </a:rPr>
              <a:t>,</a:t>
            </a:r>
            <a:r>
              <a:rPr b="0" i="0" lang="en-US" sz="2800" u="none" cap="none" strike="noStrike">
                <a:solidFill>
                  <a:schemeClr val="accent2"/>
                </a:solidFill>
                <a:latin typeface="Arial"/>
                <a:ea typeface="Arial"/>
                <a:cs typeface="Arial"/>
                <a:sym typeface="Arial"/>
              </a:rPr>
              <a:t> </a:t>
            </a:r>
            <a:r>
              <a:rPr b="0" i="1" lang="en-US" sz="2800" u="none" cap="none" strike="noStrike">
                <a:solidFill>
                  <a:schemeClr val="accent2"/>
                </a:solidFill>
                <a:latin typeface="Courier New"/>
                <a:ea typeface="Courier New"/>
                <a:cs typeface="Courier New"/>
                <a:sym typeface="Courier New"/>
              </a:rPr>
              <a:t>j</a:t>
            </a:r>
            <a:r>
              <a:rPr b="0" i="0" lang="en-US" sz="2800" u="none" cap="none" strike="noStrike">
                <a:solidFill>
                  <a:schemeClr val="dk1"/>
                </a:solidFill>
                <a:latin typeface="Arial"/>
                <a:ea typeface="Arial"/>
                <a:cs typeface="Arial"/>
                <a:sym typeface="Arial"/>
              </a:rPr>
              <a:t>) </a:t>
            </a:r>
            <a:r>
              <a:rPr b="0" i="0" lang="en-US" sz="2800" u="none" cap="none" strike="noStrike">
                <a:solidFill>
                  <a:schemeClr val="accent2"/>
                </a:solidFill>
                <a:latin typeface="Courier New"/>
                <a:ea typeface="Courier New"/>
                <a:cs typeface="Courier New"/>
                <a:sym typeface="Courier New"/>
              </a:rPr>
              <a:t>∈</a:t>
            </a:r>
            <a:r>
              <a:rPr b="0" i="0" lang="en-US" sz="2800" u="none" cap="none" strike="noStrike">
                <a:solidFill>
                  <a:schemeClr val="dk1"/>
                </a:solidFill>
                <a:latin typeface="Arial"/>
                <a:ea typeface="Arial"/>
                <a:cs typeface="Arial"/>
                <a:sym typeface="Arial"/>
              </a:rPr>
              <a:t> </a:t>
            </a:r>
            <a:r>
              <a:rPr b="0" i="1" lang="en-US" sz="2800" u="none" cap="none" strike="noStrike">
                <a:solidFill>
                  <a:schemeClr val="accent2"/>
                </a:solidFill>
                <a:latin typeface="Courier New"/>
                <a:ea typeface="Courier New"/>
                <a:cs typeface="Courier New"/>
                <a:sym typeface="Courier New"/>
              </a:rPr>
              <a:t>E</a:t>
            </a:r>
            <a:endParaRPr/>
          </a:p>
          <a:p>
            <a:pPr indent="-463550" lvl="0" marL="463550" marR="0" rtl="0" algn="l">
              <a:lnSpc>
                <a:spcPct val="100000"/>
              </a:lnSpc>
              <a:spcBef>
                <a:spcPts val="0"/>
              </a:spcBef>
              <a:spcAft>
                <a:spcPts val="0"/>
              </a:spcAft>
              <a:buClr>
                <a:schemeClr val="dk1"/>
              </a:buClr>
              <a:buSzPts val="3000"/>
              <a:buFont typeface="Noto Sans Symbols"/>
              <a:buNone/>
            </a:pPr>
            <a:r>
              <a:rPr b="0" i="0" lang="en-US" sz="3000" u="none">
                <a:solidFill>
                  <a:schemeClr val="dk1"/>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a</a:t>
            </a:r>
            <a:r>
              <a:rPr b="0" baseline="-25000" i="1" lang="en-US" sz="3000" u="none">
                <a:solidFill>
                  <a:schemeClr val="accent2"/>
                </a:solidFill>
                <a:latin typeface="Courier New"/>
                <a:ea typeface="Courier New"/>
                <a:cs typeface="Courier New"/>
                <a:sym typeface="Courier New"/>
              </a:rPr>
              <a:t>ij</a:t>
            </a:r>
            <a:r>
              <a:rPr b="0" i="0" lang="en-US" sz="3000" u="none">
                <a:solidFill>
                  <a:schemeClr val="dk1"/>
                </a:solidFill>
                <a:latin typeface="Arial"/>
                <a:ea typeface="Arial"/>
                <a:cs typeface="Arial"/>
                <a:sym typeface="Arial"/>
              </a:rPr>
              <a:t> = </a:t>
            </a:r>
            <a:endParaRPr/>
          </a:p>
          <a:p>
            <a:pPr indent="-336548" lvl="3" marL="1938336" marR="0" rtl="0" algn="l">
              <a:lnSpc>
                <a:spcPct val="100000"/>
              </a:lnSpc>
              <a:spcBef>
                <a:spcPts val="0"/>
              </a:spcBef>
              <a:spcAft>
                <a:spcPts val="0"/>
              </a:spcAft>
              <a:buClr>
                <a:schemeClr val="accent2"/>
              </a:buClr>
              <a:buSzPts val="2800"/>
              <a:buFont typeface="Arial"/>
              <a:buNone/>
            </a:pPr>
            <a:r>
              <a:rPr b="0" i="0" lang="en-US" sz="2800" u="none" cap="none" strike="noStrike">
                <a:solidFill>
                  <a:schemeClr val="accent2"/>
                </a:solidFill>
                <a:latin typeface="Arial"/>
                <a:ea typeface="Arial"/>
                <a:cs typeface="Arial"/>
                <a:sym typeface="Arial"/>
              </a:rPr>
              <a:t>	 </a:t>
            </a:r>
            <a:r>
              <a:rPr b="0" i="0" lang="en-US" sz="2800" u="none" cap="none" strike="noStrike">
                <a:solidFill>
                  <a:schemeClr val="accent2"/>
                </a:solidFill>
                <a:latin typeface="Courier New"/>
                <a:ea typeface="Courier New"/>
                <a:cs typeface="Courier New"/>
                <a:sym typeface="Courier New"/>
              </a:rPr>
              <a:t>0</a:t>
            </a:r>
            <a:r>
              <a:rPr b="0" i="0" lang="en-US" sz="2800" u="none" cap="none" strike="noStrike">
                <a:solidFill>
                  <a:schemeClr val="accent2"/>
                </a:solidFill>
                <a:latin typeface="Arial"/>
                <a:ea typeface="Arial"/>
                <a:cs typeface="Arial"/>
                <a:sym typeface="Arial"/>
              </a:rPr>
              <a:t>  </a:t>
            </a:r>
            <a:r>
              <a:rPr b="0" i="0" lang="en-US" sz="2800" u="none" cap="none" strike="noStrike">
                <a:solidFill>
                  <a:schemeClr val="dk1"/>
                </a:solidFill>
                <a:latin typeface="Arial"/>
                <a:ea typeface="Arial"/>
                <a:cs typeface="Arial"/>
                <a:sym typeface="Arial"/>
              </a:rPr>
              <a:t>nếu (</a:t>
            </a:r>
            <a:r>
              <a:rPr b="0" i="1" lang="en-US" sz="2800" u="none" cap="none" strike="noStrike">
                <a:solidFill>
                  <a:schemeClr val="accent2"/>
                </a:solidFill>
                <a:latin typeface="Courier New"/>
                <a:ea typeface="Courier New"/>
                <a:cs typeface="Courier New"/>
                <a:sym typeface="Courier New"/>
              </a:rPr>
              <a:t>i</a:t>
            </a:r>
            <a:r>
              <a:rPr b="0" i="0" lang="en-US" sz="2800" u="none" cap="none" strike="noStrike">
                <a:solidFill>
                  <a:schemeClr val="dk1"/>
                </a:solidFill>
                <a:latin typeface="Arial"/>
                <a:ea typeface="Arial"/>
                <a:cs typeface="Arial"/>
                <a:sym typeface="Arial"/>
              </a:rPr>
              <a:t>,</a:t>
            </a:r>
            <a:r>
              <a:rPr b="0" i="0" lang="en-US" sz="2800" u="none" cap="none" strike="noStrike">
                <a:solidFill>
                  <a:schemeClr val="accent2"/>
                </a:solidFill>
                <a:latin typeface="Arial"/>
                <a:ea typeface="Arial"/>
                <a:cs typeface="Arial"/>
                <a:sym typeface="Arial"/>
              </a:rPr>
              <a:t> </a:t>
            </a:r>
            <a:r>
              <a:rPr b="0" i="1" lang="en-US" sz="2800" u="none" cap="none" strike="noStrike">
                <a:solidFill>
                  <a:schemeClr val="accent2"/>
                </a:solidFill>
                <a:latin typeface="Courier New"/>
                <a:ea typeface="Courier New"/>
                <a:cs typeface="Courier New"/>
                <a:sym typeface="Courier New"/>
              </a:rPr>
              <a:t>j</a:t>
            </a:r>
            <a:r>
              <a:rPr b="0" i="0" lang="en-US" sz="2800" u="none" cap="none" strike="noStrike">
                <a:solidFill>
                  <a:schemeClr val="dk1"/>
                </a:solidFill>
                <a:latin typeface="Arial"/>
                <a:ea typeface="Arial"/>
                <a:cs typeface="Arial"/>
                <a:sym typeface="Arial"/>
              </a:rPr>
              <a:t>) </a:t>
            </a:r>
            <a:r>
              <a:rPr b="0" i="0" lang="en-US" sz="2800" u="none" cap="none" strike="noStrike">
                <a:solidFill>
                  <a:schemeClr val="accent2"/>
                </a:solidFill>
                <a:latin typeface="Arial"/>
                <a:ea typeface="Arial"/>
                <a:cs typeface="Arial"/>
                <a:sym typeface="Arial"/>
              </a:rPr>
              <a:t>∉</a:t>
            </a:r>
            <a:r>
              <a:rPr b="0" i="0" lang="en-US" sz="2800" u="none" cap="none" strike="noStrike">
                <a:solidFill>
                  <a:schemeClr val="dk1"/>
                </a:solidFill>
                <a:latin typeface="Arial"/>
                <a:ea typeface="Arial"/>
                <a:cs typeface="Arial"/>
                <a:sym typeface="Arial"/>
              </a:rPr>
              <a:t> </a:t>
            </a:r>
            <a:r>
              <a:rPr b="0" i="1" lang="en-US" sz="2800" u="none" cap="none" strike="noStrike">
                <a:solidFill>
                  <a:schemeClr val="accent2"/>
                </a:solidFill>
                <a:latin typeface="Courier New"/>
                <a:ea typeface="Courier New"/>
                <a:cs typeface="Courier New"/>
                <a:sym typeface="Courier New"/>
              </a:rPr>
              <a:t>E</a:t>
            </a:r>
            <a:endParaRPr/>
          </a:p>
        </p:txBody>
      </p:sp>
      <p:sp>
        <p:nvSpPr>
          <p:cNvPr id="137" name="Google Shape;137;p11"/>
          <p:cNvSpPr/>
          <p:nvPr/>
        </p:nvSpPr>
        <p:spPr>
          <a:xfrm>
            <a:off x="2819400" y="3276600"/>
            <a:ext cx="69850" cy="990600"/>
          </a:xfrm>
          <a:prstGeom prst="leftBrace">
            <a:avLst>
              <a:gd fmla="val 8333" name="adj1"/>
              <a:gd fmla="val 50000" name="adj2"/>
            </a:avLst>
          </a:prstGeom>
          <a:noFill/>
          <a:ln cap="sq"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41" name="Shape 141"/>
        <p:cNvGrpSpPr/>
        <p:nvPr/>
      </p:nvGrpSpPr>
      <p:grpSpPr>
        <a:xfrm>
          <a:off x="0" y="0"/>
          <a:ext cx="0" cy="0"/>
          <a:chOff x="0" y="0"/>
          <a:chExt cx="0" cy="0"/>
        </a:xfrm>
      </p:grpSpPr>
      <p:sp>
        <p:nvSpPr>
          <p:cNvPr id="142" name="Google Shape;142;p12"/>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Biểu diễn bằng ma trận kề</a:t>
            </a:r>
            <a:endParaRPr/>
          </a:p>
        </p:txBody>
      </p:sp>
      <p:sp>
        <p:nvSpPr>
          <p:cNvPr id="143" name="Google Shape;143;p12"/>
          <p:cNvSpPr txBox="1"/>
          <p:nvPr>
            <p:ph idx="1" type="body"/>
          </p:nvPr>
        </p:nvSpPr>
        <p:spPr>
          <a:xfrm>
            <a:off x="915987" y="981075"/>
            <a:ext cx="79994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Biểu diễn đồ thị vô hướng bằng ma trận kề:</a:t>
            </a:r>
            <a:endParaRPr/>
          </a:p>
        </p:txBody>
      </p:sp>
      <p:pic>
        <p:nvPicPr>
          <p:cNvPr id="144" name="Google Shape;144;p12"/>
          <p:cNvPicPr preferRelativeResize="0"/>
          <p:nvPr/>
        </p:nvPicPr>
        <p:blipFill rotWithShape="1">
          <a:blip r:embed="rId3">
            <a:alphaModFix/>
          </a:blip>
          <a:srcRect b="0" l="0" r="0" t="0"/>
          <a:stretch/>
        </p:blipFill>
        <p:spPr>
          <a:xfrm>
            <a:off x="2057400" y="2057400"/>
            <a:ext cx="5276850" cy="3905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48" name="Shape 148"/>
        <p:cNvGrpSpPr/>
        <p:nvPr/>
      </p:nvGrpSpPr>
      <p:grpSpPr>
        <a:xfrm>
          <a:off x="0" y="0"/>
          <a:ext cx="0" cy="0"/>
          <a:chOff x="0" y="0"/>
          <a:chExt cx="0" cy="0"/>
        </a:xfrm>
      </p:grpSpPr>
      <p:sp>
        <p:nvSpPr>
          <p:cNvPr id="149" name="Google Shape;149;p13"/>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Biểu diễn bằng ma trận kề</a:t>
            </a:r>
            <a:endParaRPr/>
          </a:p>
        </p:txBody>
      </p:sp>
      <p:sp>
        <p:nvSpPr>
          <p:cNvPr id="150" name="Google Shape;150;p13"/>
          <p:cNvSpPr txBox="1"/>
          <p:nvPr>
            <p:ph idx="1" type="body"/>
          </p:nvPr>
        </p:nvSpPr>
        <p:spPr>
          <a:xfrm>
            <a:off x="915987" y="981075"/>
            <a:ext cx="79994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Biểu diễn đồ thị có hướng bằng ma trận kề:</a:t>
            </a:r>
            <a:endParaRPr/>
          </a:p>
        </p:txBody>
      </p:sp>
      <p:pic>
        <p:nvPicPr>
          <p:cNvPr id="151" name="Google Shape;151;p13"/>
          <p:cNvPicPr preferRelativeResize="0"/>
          <p:nvPr/>
        </p:nvPicPr>
        <p:blipFill rotWithShape="1">
          <a:blip r:embed="rId3">
            <a:alphaModFix/>
          </a:blip>
          <a:srcRect b="0" l="0" r="0" t="0"/>
          <a:stretch/>
        </p:blipFill>
        <p:spPr>
          <a:xfrm>
            <a:off x="1524000" y="2133600"/>
            <a:ext cx="5838825" cy="38814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55" name="Shape 155"/>
        <p:cNvGrpSpPr/>
        <p:nvPr/>
      </p:nvGrpSpPr>
      <p:grpSpPr>
        <a:xfrm>
          <a:off x="0" y="0"/>
          <a:ext cx="0" cy="0"/>
          <a:chOff x="0" y="0"/>
          <a:chExt cx="0" cy="0"/>
        </a:xfrm>
      </p:grpSpPr>
      <p:sp>
        <p:nvSpPr>
          <p:cNvPr id="156" name="Google Shape;156;p14"/>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Biểu diễn bằng ma trận kề</a:t>
            </a:r>
            <a:endParaRPr/>
          </a:p>
        </p:txBody>
      </p:sp>
      <p:sp>
        <p:nvSpPr>
          <p:cNvPr id="157" name="Google Shape;157;p14"/>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Ma trận kề </a:t>
            </a:r>
            <a:r>
              <a:rPr b="0" i="1" lang="en-US" sz="3000" u="none">
                <a:solidFill>
                  <a:schemeClr val="accent2"/>
                </a:solidFill>
                <a:latin typeface="Courier New"/>
                <a:ea typeface="Courier New"/>
                <a:cs typeface="Courier New"/>
                <a:sym typeface="Courier New"/>
              </a:rPr>
              <a:t>A</a:t>
            </a:r>
            <a:r>
              <a:rPr b="0" i="0" lang="en-US" sz="3000" u="none">
                <a:solidFill>
                  <a:schemeClr val="dk1"/>
                </a:solidFill>
                <a:latin typeface="Arial"/>
                <a:ea typeface="Arial"/>
                <a:cs typeface="Arial"/>
                <a:sym typeface="Arial"/>
              </a:rPr>
              <a:t> của đồ thị vô hướng là </a:t>
            </a:r>
            <a:br>
              <a:rPr b="0" i="0" lang="en-US" sz="3000" u="none">
                <a:solidFill>
                  <a:schemeClr val="dk1"/>
                </a:solidFill>
                <a:latin typeface="Arial"/>
                <a:ea typeface="Arial"/>
                <a:cs typeface="Arial"/>
                <a:sym typeface="Arial"/>
              </a:rPr>
            </a:br>
            <a:r>
              <a:rPr b="0" i="0" lang="en-US" sz="3000" u="none">
                <a:solidFill>
                  <a:schemeClr val="dk1"/>
                </a:solidFill>
                <a:latin typeface="Arial"/>
                <a:ea typeface="Arial"/>
                <a:cs typeface="Arial"/>
                <a:sym typeface="Arial"/>
              </a:rPr>
              <a:t>ma trận chuyển vị của chính nó </a:t>
            </a:r>
            <a:r>
              <a:rPr b="0" i="1" lang="en-US" sz="3000" u="none">
                <a:solidFill>
                  <a:schemeClr val="accent2"/>
                </a:solidFill>
                <a:latin typeface="Courier New"/>
                <a:ea typeface="Courier New"/>
                <a:cs typeface="Courier New"/>
                <a:sym typeface="Courier New"/>
              </a:rPr>
              <a:t>A</a:t>
            </a:r>
            <a:r>
              <a:rPr b="0" i="0" lang="en-US" sz="3000" u="none">
                <a:solidFill>
                  <a:schemeClr val="dk1"/>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A</a:t>
            </a:r>
            <a:r>
              <a:rPr b="0" i="0" lang="en-US" sz="3000" u="none">
                <a:solidFill>
                  <a:schemeClr val="dk1"/>
                </a:solidFill>
                <a:latin typeface="Arial"/>
                <a:ea typeface="Arial"/>
                <a:cs typeface="Arial"/>
                <a:sym typeface="Arial"/>
              </a:rPr>
              <a:t> </a:t>
            </a:r>
            <a:r>
              <a:rPr b="0" baseline="30000" i="0" lang="en-US" sz="3000" u="none">
                <a:solidFill>
                  <a:schemeClr val="accent2"/>
                </a:solidFill>
                <a:latin typeface="Courier New"/>
                <a:ea typeface="Courier New"/>
                <a:cs typeface="Courier New"/>
                <a:sym typeface="Courier New"/>
              </a:rPr>
              <a:t>T</a:t>
            </a:r>
            <a:r>
              <a:rPr b="0" baseline="30000" i="0" lang="en-US" sz="3000" u="none">
                <a:solidFill>
                  <a:schemeClr val="dk1"/>
                </a:solidFill>
                <a:latin typeface="Arial"/>
                <a:ea typeface="Arial"/>
                <a:cs typeface="Arial"/>
                <a:sym typeface="Arial"/>
              </a:rPr>
              <a:t> </a:t>
            </a:r>
            <a:r>
              <a:rPr b="0" i="0" lang="en-US" sz="3000" u="none">
                <a:solidFill>
                  <a:schemeClr val="dk1"/>
                </a:solidFill>
                <a:latin typeface="Arial"/>
                <a:ea typeface="Arial"/>
                <a:cs typeface="Arial"/>
                <a:sym typeface="Arial"/>
              </a:rPr>
              <a:t>(với </a:t>
            </a:r>
            <a:r>
              <a:rPr b="0" i="1" lang="en-US" sz="3000" u="none">
                <a:solidFill>
                  <a:schemeClr val="accent2"/>
                </a:solidFill>
                <a:latin typeface="Courier New"/>
                <a:ea typeface="Courier New"/>
                <a:cs typeface="Courier New"/>
                <a:sym typeface="Courier New"/>
              </a:rPr>
              <a:t>a</a:t>
            </a:r>
            <a:r>
              <a:rPr b="0" baseline="-25000" i="1" lang="en-US" sz="3000" u="none">
                <a:solidFill>
                  <a:schemeClr val="accent2"/>
                </a:solidFill>
                <a:latin typeface="Courier New"/>
                <a:ea typeface="Courier New"/>
                <a:cs typeface="Courier New"/>
                <a:sym typeface="Courier New"/>
              </a:rPr>
              <a:t>ij</a:t>
            </a:r>
            <a:r>
              <a:rPr b="0" baseline="30000" i="0" lang="en-US" sz="3000" u="none">
                <a:solidFill>
                  <a:schemeClr val="accent2"/>
                </a:solidFill>
                <a:latin typeface="Courier New"/>
                <a:ea typeface="Courier New"/>
                <a:cs typeface="Courier New"/>
                <a:sym typeface="Courier New"/>
              </a:rPr>
              <a:t>T</a:t>
            </a:r>
            <a:r>
              <a:rPr b="0" i="0" lang="en-US" sz="3000" u="none">
                <a:solidFill>
                  <a:schemeClr val="dk1"/>
                </a:solidFill>
                <a:latin typeface="Arial"/>
                <a:ea typeface="Arial"/>
                <a:cs typeface="Arial"/>
                <a:sym typeface="Arial"/>
              </a:rPr>
              <a:t> </a:t>
            </a:r>
            <a:r>
              <a:rPr b="0" i="0" lang="en-US" sz="3000" u="none">
                <a:solidFill>
                  <a:schemeClr val="accent2"/>
                </a:solidFill>
                <a:latin typeface="Arial"/>
                <a:ea typeface="Arial"/>
                <a:cs typeface="Arial"/>
                <a:sym typeface="Arial"/>
              </a:rPr>
              <a:t>=</a:t>
            </a:r>
            <a:r>
              <a:rPr b="0" i="0" lang="en-US" sz="3000" u="none">
                <a:solidFill>
                  <a:schemeClr val="dk1"/>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a</a:t>
            </a:r>
            <a:r>
              <a:rPr b="0" baseline="-25000" i="1" lang="en-US" sz="3000" u="none">
                <a:solidFill>
                  <a:schemeClr val="accent2"/>
                </a:solidFill>
                <a:latin typeface="Courier New"/>
                <a:ea typeface="Courier New"/>
                <a:cs typeface="Courier New"/>
                <a:sym typeface="Courier New"/>
              </a:rPr>
              <a:t>ji</a:t>
            </a:r>
            <a:r>
              <a:rPr b="0" i="0" lang="en-US" sz="3000" u="none">
                <a:solidFill>
                  <a:schemeClr val="dk1"/>
                </a:solidFill>
                <a:latin typeface="Arial"/>
                <a:ea typeface="Arial"/>
                <a:cs typeface="Arial"/>
                <a:sym typeface="Arial"/>
              </a:rPr>
              <a:t>). Vì vậy, trong những ứng dụng thường chỉ có nửa trên của ma trận được lưu trữ để tiết kiệm bộ nhớ</a:t>
            </a:r>
            <a:endParaRPr/>
          </a:p>
          <a:p>
            <a:pPr indent="-463550" lvl="0" marL="463550" marR="0" rtl="0" algn="l">
              <a:lnSpc>
                <a:spcPct val="8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Tổng các phần tử trên dòng </a:t>
            </a:r>
            <a:r>
              <a:rPr b="0" i="1" lang="en-US" sz="3000" u="none">
                <a:solidFill>
                  <a:schemeClr val="accent2"/>
                </a:solidFill>
                <a:latin typeface="Courier New"/>
                <a:ea typeface="Courier New"/>
                <a:cs typeface="Courier New"/>
                <a:sym typeface="Courier New"/>
              </a:rPr>
              <a:t>i</a:t>
            </a:r>
            <a:r>
              <a:rPr b="0" i="0" lang="en-US" sz="3000" u="none">
                <a:solidFill>
                  <a:schemeClr val="accent2"/>
                </a:solidFill>
                <a:latin typeface="Arial"/>
                <a:ea typeface="Arial"/>
                <a:cs typeface="Arial"/>
                <a:sym typeface="Arial"/>
              </a:rPr>
              <a:t> </a:t>
            </a:r>
            <a:r>
              <a:rPr b="0" i="0" lang="en-US" sz="3000" u="none">
                <a:solidFill>
                  <a:schemeClr val="dk1"/>
                </a:solidFill>
                <a:latin typeface="Arial"/>
                <a:ea typeface="Arial"/>
                <a:cs typeface="Arial"/>
                <a:sym typeface="Arial"/>
              </a:rPr>
              <a:t>(hay cột </a:t>
            </a:r>
            <a:r>
              <a:rPr b="0" i="1" lang="en-US" sz="3000" u="none">
                <a:solidFill>
                  <a:schemeClr val="accent2"/>
                </a:solidFill>
                <a:latin typeface="Courier New"/>
                <a:ea typeface="Courier New"/>
                <a:cs typeface="Courier New"/>
                <a:sym typeface="Courier New"/>
              </a:rPr>
              <a:t>j</a:t>
            </a:r>
            <a:r>
              <a:rPr b="0" i="0" lang="en-US" sz="3000" u="none">
                <a:solidFill>
                  <a:schemeClr val="dk1"/>
                </a:solidFill>
                <a:latin typeface="Arial"/>
                <a:ea typeface="Arial"/>
                <a:cs typeface="Arial"/>
                <a:sym typeface="Arial"/>
              </a:rPr>
              <a:t>) của ma trận kề là bậc của đỉnh </a:t>
            </a:r>
            <a:r>
              <a:rPr b="0" i="1" lang="en-US" sz="3000" u="none">
                <a:solidFill>
                  <a:schemeClr val="accent2"/>
                </a:solidFill>
                <a:latin typeface="Courier New"/>
                <a:ea typeface="Courier New"/>
                <a:cs typeface="Courier New"/>
                <a:sym typeface="Courier New"/>
              </a:rPr>
              <a:t>i</a:t>
            </a:r>
            <a:r>
              <a:rPr b="0" i="0" lang="en-US" sz="3000" u="none">
                <a:solidFill>
                  <a:schemeClr val="dk1"/>
                </a:solidFill>
                <a:latin typeface="Arial"/>
                <a:ea typeface="Arial"/>
                <a:cs typeface="Arial"/>
                <a:sym typeface="Arial"/>
              </a:rPr>
              <a:t> (hay đỉnh </a:t>
            </a:r>
            <a:r>
              <a:rPr b="0" i="1" lang="en-US" sz="3000" u="none">
                <a:solidFill>
                  <a:schemeClr val="accent2"/>
                </a:solidFill>
                <a:latin typeface="Courier New"/>
                <a:ea typeface="Courier New"/>
                <a:cs typeface="Courier New"/>
                <a:sym typeface="Courier New"/>
              </a:rPr>
              <a:t>j</a:t>
            </a:r>
            <a:r>
              <a:rPr b="0" i="0" lang="en-US" sz="3000" u="none">
                <a:solidFill>
                  <a:schemeClr val="dk1"/>
                </a:solidFill>
                <a:latin typeface="Arial"/>
                <a:ea typeface="Arial"/>
                <a:cs typeface="Arial"/>
                <a:sym typeface="Arial"/>
              </a:rPr>
              <a:t>)</a:t>
            </a:r>
            <a:endParaRPr/>
          </a:p>
          <a:p>
            <a:pPr indent="-463550" lvl="0" marL="463550" marR="0" rtl="0" algn="l">
              <a:lnSpc>
                <a:spcPct val="8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Giống như sanh sách kề, ma trận kề cũng có thể được sử dụng để biểu diễn đồ thị có trọng số</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61" name="Shape 161"/>
        <p:cNvGrpSpPr/>
        <p:nvPr/>
      </p:nvGrpSpPr>
      <p:grpSpPr>
        <a:xfrm>
          <a:off x="0" y="0"/>
          <a:ext cx="0" cy="0"/>
          <a:chOff x="0" y="0"/>
          <a:chExt cx="0" cy="0"/>
        </a:xfrm>
      </p:grpSpPr>
      <p:sp>
        <p:nvSpPr>
          <p:cNvPr id="162" name="Google Shape;162;p15"/>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 Đồ thị có trọng số</a:t>
            </a:r>
            <a:endParaRPr/>
          </a:p>
        </p:txBody>
      </p:sp>
      <p:sp>
        <p:nvSpPr>
          <p:cNvPr id="163" name="Google Shape;163;p15"/>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Ví dụ, nếu </a:t>
            </a:r>
            <a:r>
              <a:rPr b="0" i="1" lang="en-US" sz="3000" u="none">
                <a:solidFill>
                  <a:schemeClr val="accent2"/>
                </a:solidFill>
                <a:latin typeface="Courier New"/>
                <a:ea typeface="Courier New"/>
                <a:cs typeface="Courier New"/>
                <a:sym typeface="Courier New"/>
              </a:rPr>
              <a:t>G</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là đồ thị có trọng số với hàm trọng số </a:t>
            </a:r>
            <a:r>
              <a:rPr b="0" i="1" lang="en-US" sz="3000" u="none">
                <a:solidFill>
                  <a:schemeClr val="accent2"/>
                </a:solidFill>
                <a:latin typeface="Courier New"/>
                <a:ea typeface="Courier New"/>
                <a:cs typeface="Courier New"/>
                <a:sym typeface="Courier New"/>
              </a:rPr>
              <a:t>w</a:t>
            </a:r>
            <a:r>
              <a:rPr b="0" i="0" lang="en-US" sz="3000" u="none">
                <a:solidFill>
                  <a:schemeClr val="dk1"/>
                </a:solidFill>
                <a:latin typeface="Arial"/>
                <a:ea typeface="Arial"/>
                <a:cs typeface="Arial"/>
                <a:sym typeface="Arial"/>
              </a:rPr>
              <a:t>, thì trọng số </a:t>
            </a:r>
            <a:r>
              <a:rPr b="0" i="1" lang="en-US" sz="3000" u="none">
                <a:solidFill>
                  <a:schemeClr val="accent2"/>
                </a:solidFill>
                <a:latin typeface="Courier New"/>
                <a:ea typeface="Courier New"/>
                <a:cs typeface="Courier New"/>
                <a:sym typeface="Courier New"/>
              </a:rPr>
              <a:t>w</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u</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của cạnh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u</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dk1"/>
                </a:solidFill>
                <a:latin typeface="Arial"/>
                <a:ea typeface="Arial"/>
                <a:cs typeface="Arial"/>
                <a:sym typeface="Arial"/>
              </a:rPr>
              <a:t>  được chứa trong hàng </a:t>
            </a:r>
            <a:r>
              <a:rPr b="0" i="1" lang="en-US" sz="3000" u="none">
                <a:solidFill>
                  <a:schemeClr val="accent2"/>
                </a:solidFill>
                <a:latin typeface="Courier New"/>
                <a:ea typeface="Courier New"/>
                <a:cs typeface="Courier New"/>
                <a:sym typeface="Courier New"/>
              </a:rPr>
              <a:t>u</a:t>
            </a:r>
            <a:r>
              <a:rPr b="0" i="0" lang="en-US" sz="3000" u="none">
                <a:solidFill>
                  <a:schemeClr val="dk1"/>
                </a:solidFill>
                <a:latin typeface="Arial"/>
                <a:ea typeface="Arial"/>
                <a:cs typeface="Arial"/>
                <a:sym typeface="Arial"/>
              </a:rPr>
              <a:t> và cột </a:t>
            </a:r>
            <a:r>
              <a:rPr b="0" i="1" lang="en-US" sz="3000" u="none">
                <a:solidFill>
                  <a:schemeClr val="accent2"/>
                </a:solidFill>
                <a:latin typeface="Courier New"/>
                <a:ea typeface="Courier New"/>
                <a:cs typeface="Courier New"/>
                <a:sym typeface="Courier New"/>
              </a:rPr>
              <a:t>v</a:t>
            </a:r>
            <a:r>
              <a:rPr b="0" i="0" lang="en-US" sz="3000" u="none">
                <a:solidFill>
                  <a:schemeClr val="dk1"/>
                </a:solidFill>
                <a:latin typeface="Arial"/>
                <a:ea typeface="Arial"/>
                <a:cs typeface="Arial"/>
                <a:sym typeface="Arial"/>
              </a:rPr>
              <a:t> của ma trận kề</a:t>
            </a:r>
            <a:endParaRPr/>
          </a:p>
          <a:p>
            <a:pPr indent="-463550" lvl="0" marL="463550" marR="0" rtl="0" algn="l">
              <a:lnSpc>
                <a:spcPct val="80000"/>
              </a:lnSpc>
              <a:spcBef>
                <a:spcPts val="15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Nếu không có cạnh tồn tại, giá trị </a:t>
            </a:r>
            <a:r>
              <a:rPr b="0" i="0" lang="en-US" sz="3000" u="none">
                <a:solidFill>
                  <a:schemeClr val="accent2"/>
                </a:solidFill>
                <a:latin typeface="Courier New"/>
                <a:ea typeface="Courier New"/>
                <a:cs typeface="Courier New"/>
                <a:sym typeface="Courier New"/>
              </a:rPr>
              <a:t>NIL</a:t>
            </a:r>
            <a:r>
              <a:rPr b="0" i="0" lang="en-US" sz="3000" u="none">
                <a:solidFill>
                  <a:schemeClr val="dk1"/>
                </a:solidFill>
                <a:latin typeface="Arial"/>
                <a:ea typeface="Arial"/>
                <a:cs typeface="Arial"/>
                <a:sym typeface="Arial"/>
              </a:rPr>
              <a:t> (hay </a:t>
            </a:r>
            <a:r>
              <a:rPr b="0" i="0" lang="en-US" sz="3000" u="none">
                <a:solidFill>
                  <a:schemeClr val="accent2"/>
                </a:solidFill>
                <a:latin typeface="Courier New"/>
                <a:ea typeface="Courier New"/>
                <a:cs typeface="Courier New"/>
                <a:sym typeface="Courier New"/>
              </a:rPr>
              <a:t>0</a:t>
            </a:r>
            <a:r>
              <a:rPr b="0" i="0" lang="en-US" sz="3000" u="none">
                <a:solidFill>
                  <a:schemeClr val="dk1"/>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Times New Roman"/>
                <a:ea typeface="Times New Roman"/>
                <a:cs typeface="Times New Roman"/>
                <a:sym typeface="Times New Roman"/>
              </a:rPr>
              <a:t>)</a:t>
            </a:r>
            <a:r>
              <a:rPr b="0" i="0" lang="en-US" sz="3000" u="none">
                <a:solidFill>
                  <a:schemeClr val="dk1"/>
                </a:solidFill>
                <a:latin typeface="Arial"/>
                <a:ea typeface="Arial"/>
                <a:cs typeface="Arial"/>
                <a:sym typeface="Arial"/>
              </a:rPr>
              <a:t> được chứa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67" name="Shape 167"/>
        <p:cNvGrpSpPr/>
        <p:nvPr/>
      </p:nvGrpSpPr>
      <p:grpSpPr>
        <a:xfrm>
          <a:off x="0" y="0"/>
          <a:ext cx="0" cy="0"/>
          <a:chOff x="0" y="0"/>
          <a:chExt cx="0" cy="0"/>
        </a:xfrm>
      </p:grpSpPr>
      <p:sp>
        <p:nvSpPr>
          <p:cNvPr id="168" name="Google Shape;168;p16"/>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Đồ thị có trọng số</a:t>
            </a:r>
            <a:endParaRPr/>
          </a:p>
        </p:txBody>
      </p:sp>
      <p:sp>
        <p:nvSpPr>
          <p:cNvPr id="169" name="Google Shape;169;p16"/>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Ma trận trọng số của </a:t>
            </a:r>
            <a:r>
              <a:rPr b="0" i="1" lang="en-US" sz="3000" u="none">
                <a:solidFill>
                  <a:schemeClr val="accent2"/>
                </a:solidFill>
                <a:latin typeface="Courier New"/>
                <a:ea typeface="Courier New"/>
                <a:cs typeface="Courier New"/>
                <a:sym typeface="Courier New"/>
              </a:rPr>
              <a:t>G</a:t>
            </a:r>
            <a:r>
              <a:rPr b="0" i="0" lang="en-US" sz="3000" u="none">
                <a:solidFill>
                  <a:schemeClr val="dk1"/>
                </a:solidFill>
                <a:latin typeface="Arial"/>
                <a:ea typeface="Arial"/>
                <a:cs typeface="Arial"/>
                <a:sym typeface="Arial"/>
              </a:rPr>
              <a:t>:</a:t>
            </a:r>
            <a:endParaRPr/>
          </a:p>
          <a:p>
            <a:pPr indent="-273050" lvl="0" marL="463550" marR="0" rtl="0" algn="l">
              <a:spcBef>
                <a:spcPts val="600"/>
              </a:spcBef>
              <a:spcAft>
                <a:spcPts val="0"/>
              </a:spcAft>
              <a:buClr>
                <a:schemeClr val="dk1"/>
              </a:buClr>
              <a:buSzPts val="3000"/>
              <a:buFont typeface="Noto Sans Symbols"/>
              <a:buNone/>
            </a:pPr>
            <a:r>
              <a:t/>
            </a:r>
            <a:endParaRPr b="0" i="0" sz="3000" u="none">
              <a:solidFill>
                <a:schemeClr val="dk1"/>
              </a:solidFill>
              <a:latin typeface="Arial"/>
              <a:ea typeface="Arial"/>
              <a:cs typeface="Arial"/>
              <a:sym typeface="Arial"/>
            </a:endParaRPr>
          </a:p>
        </p:txBody>
      </p:sp>
      <p:pic>
        <p:nvPicPr>
          <p:cNvPr id="170" name="Google Shape;170;p16"/>
          <p:cNvPicPr preferRelativeResize="0"/>
          <p:nvPr/>
        </p:nvPicPr>
        <p:blipFill rotWithShape="1">
          <a:blip r:embed="rId3">
            <a:alphaModFix/>
          </a:blip>
          <a:srcRect b="0" l="0" r="0" t="0"/>
          <a:stretch/>
        </p:blipFill>
        <p:spPr>
          <a:xfrm>
            <a:off x="1447800" y="1828800"/>
            <a:ext cx="6121400" cy="3940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74" name="Shape 174"/>
        <p:cNvGrpSpPr/>
        <p:nvPr/>
      </p:nvGrpSpPr>
      <p:grpSpPr>
        <a:xfrm>
          <a:off x="0" y="0"/>
          <a:ext cx="0" cy="0"/>
          <a:chOff x="0" y="0"/>
          <a:chExt cx="0" cy="0"/>
        </a:xfrm>
      </p:grpSpPr>
      <p:sp>
        <p:nvSpPr>
          <p:cNvPr id="175" name="Google Shape;175;p17"/>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So sánh các phương pháp biểu diễn</a:t>
            </a:r>
            <a:endParaRPr/>
          </a:p>
        </p:txBody>
      </p:sp>
      <p:sp>
        <p:nvSpPr>
          <p:cNvPr id="176" name="Google Shape;176;p17"/>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Biểu diễn bằng danh sách kề cho đồ thị vô hướng hay có hướng cần </a:t>
            </a:r>
            <a:r>
              <a:rPr b="0" i="0" lang="en-US" sz="3000" u="none">
                <a:solidFill>
                  <a:schemeClr val="accent2"/>
                </a:solidFill>
                <a:latin typeface="Courier New"/>
                <a:ea typeface="Courier New"/>
                <a:cs typeface="Courier New"/>
                <a:sym typeface="Courier New"/>
              </a:rPr>
              <a:t>Θ(</a:t>
            </a:r>
            <a:r>
              <a:rPr b="0" i="1" lang="en-US" sz="3000" u="none">
                <a:solidFill>
                  <a:schemeClr val="accent2"/>
                </a:solidFill>
                <a:latin typeface="Courier New"/>
                <a:ea typeface="Courier New"/>
                <a:cs typeface="Courier New"/>
                <a:sym typeface="Courier New"/>
              </a:rPr>
              <a:t>V</a:t>
            </a:r>
            <a:r>
              <a:rPr b="0" i="1"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đơn vị bộ nhớ</a:t>
            </a:r>
            <a:endParaRPr/>
          </a:p>
          <a:p>
            <a:pPr indent="-463550" lvl="0" marL="463550" marR="0" rtl="0" algn="l">
              <a:lnSpc>
                <a:spcPct val="8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Biểu diễn bằng ma trận kề cần </a:t>
            </a:r>
            <a:r>
              <a:rPr b="0" i="0" lang="en-US" sz="3000" u="none">
                <a:solidFill>
                  <a:schemeClr val="accent2"/>
                </a:solidFill>
                <a:latin typeface="Courier New"/>
                <a:ea typeface="Courier New"/>
                <a:cs typeface="Courier New"/>
                <a:sym typeface="Courier New"/>
              </a:rPr>
              <a:t>Θ(</a:t>
            </a:r>
            <a:r>
              <a:rPr b="0" i="1" lang="en-US" sz="3000" u="none">
                <a:solidFill>
                  <a:schemeClr val="accent2"/>
                </a:solidFill>
                <a:latin typeface="Courier New"/>
                <a:ea typeface="Courier New"/>
                <a:cs typeface="Courier New"/>
                <a:sym typeface="Courier New"/>
              </a:rPr>
              <a:t>V</a:t>
            </a:r>
            <a:r>
              <a:rPr b="0" baseline="30000" i="0" lang="en-US" sz="3000" u="none">
                <a:solidFill>
                  <a:schemeClr val="accent2"/>
                </a:solidFill>
                <a:latin typeface="Courier New"/>
                <a:ea typeface="Courier New"/>
                <a:cs typeface="Courier New"/>
                <a:sym typeface="Courier New"/>
              </a:rPr>
              <a:t>2</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đơn vị bộ nhớ, không phụ thuộc vào số cạnh</a:t>
            </a:r>
            <a:endParaRPr/>
          </a:p>
          <a:p>
            <a:pPr indent="-463550" lvl="0" marL="463550" marR="0" rtl="0" algn="l">
              <a:lnSpc>
                <a:spcPct val="8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Do tính đơn giản của ma trận kề nên nó thường được sử dụng khi đồ thị tương đối nhỏ. Ngoài ra, nếu đồ thị không có trọng số, mỗi phần tử trong ma trận được biểu diễn bằng một bit thay vì một từ nhớ</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80" name="Shape 180"/>
        <p:cNvGrpSpPr/>
        <p:nvPr/>
      </p:nvGrpSpPr>
      <p:grpSpPr>
        <a:xfrm>
          <a:off x="0" y="0"/>
          <a:ext cx="0" cy="0"/>
          <a:chOff x="0" y="0"/>
          <a:chExt cx="0" cy="0"/>
        </a:xfrm>
      </p:grpSpPr>
      <p:sp>
        <p:nvSpPr>
          <p:cNvPr id="181" name="Google Shape;181;p18"/>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So sánh các phương pháp biểu diễn</a:t>
            </a:r>
            <a:endParaRPr/>
          </a:p>
        </p:txBody>
      </p:sp>
      <p:sp>
        <p:nvSpPr>
          <p:cNvPr id="182" name="Google Shape;182;p18"/>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Đồ thị vô hướng:</a:t>
            </a:r>
            <a:endParaRPr/>
          </a:p>
        </p:txBody>
      </p:sp>
      <p:pic>
        <p:nvPicPr>
          <p:cNvPr id="183" name="Google Shape;183;p18"/>
          <p:cNvPicPr preferRelativeResize="0"/>
          <p:nvPr/>
        </p:nvPicPr>
        <p:blipFill rotWithShape="1">
          <a:blip r:embed="rId3">
            <a:alphaModFix/>
          </a:blip>
          <a:srcRect b="0" l="0" r="0" t="0"/>
          <a:stretch/>
        </p:blipFill>
        <p:spPr>
          <a:xfrm>
            <a:off x="990600" y="2286000"/>
            <a:ext cx="7808912" cy="33845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87" name="Shape 187"/>
        <p:cNvGrpSpPr/>
        <p:nvPr/>
      </p:nvGrpSpPr>
      <p:grpSpPr>
        <a:xfrm>
          <a:off x="0" y="0"/>
          <a:ext cx="0" cy="0"/>
          <a:chOff x="0" y="0"/>
          <a:chExt cx="0" cy="0"/>
        </a:xfrm>
      </p:grpSpPr>
      <p:sp>
        <p:nvSpPr>
          <p:cNvPr id="188" name="Google Shape;188;p19"/>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So sánh các phương pháp biểu diễn</a:t>
            </a:r>
            <a:endParaRPr/>
          </a:p>
        </p:txBody>
      </p:sp>
      <p:sp>
        <p:nvSpPr>
          <p:cNvPr id="189" name="Google Shape;189;p19"/>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Đồ thị có hướng:</a:t>
            </a:r>
            <a:endParaRPr/>
          </a:p>
          <a:p>
            <a:pPr indent="-273050" lvl="0" marL="463550" marR="0" rtl="0" algn="l">
              <a:spcBef>
                <a:spcPts val="600"/>
              </a:spcBef>
              <a:spcAft>
                <a:spcPts val="0"/>
              </a:spcAft>
              <a:buClr>
                <a:schemeClr val="dk1"/>
              </a:buClr>
              <a:buSzPts val="3000"/>
              <a:buFont typeface="Noto Sans Symbols"/>
              <a:buNone/>
            </a:pPr>
            <a:r>
              <a:t/>
            </a:r>
            <a:endParaRPr b="0" i="0" sz="3000" u="none">
              <a:solidFill>
                <a:schemeClr val="dk1"/>
              </a:solidFill>
              <a:latin typeface="Arial"/>
              <a:ea typeface="Arial"/>
              <a:cs typeface="Arial"/>
              <a:sym typeface="Arial"/>
            </a:endParaRPr>
          </a:p>
        </p:txBody>
      </p:sp>
      <p:pic>
        <p:nvPicPr>
          <p:cNvPr id="190" name="Google Shape;190;p19"/>
          <p:cNvPicPr preferRelativeResize="0"/>
          <p:nvPr/>
        </p:nvPicPr>
        <p:blipFill rotWithShape="1">
          <a:blip r:embed="rId3">
            <a:alphaModFix/>
          </a:blip>
          <a:srcRect b="0" l="0" r="0" t="0"/>
          <a:stretch/>
        </p:blipFill>
        <p:spPr>
          <a:xfrm>
            <a:off x="1066800" y="2057400"/>
            <a:ext cx="7458075" cy="372586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94" name="Shape 194"/>
        <p:cNvGrpSpPr/>
        <p:nvPr/>
      </p:nvGrpSpPr>
      <p:grpSpPr>
        <a:xfrm>
          <a:off x="0" y="0"/>
          <a:ext cx="0" cy="0"/>
          <a:chOff x="0" y="0"/>
          <a:chExt cx="0" cy="0"/>
        </a:xfrm>
      </p:grpSpPr>
      <p:sp>
        <p:nvSpPr>
          <p:cNvPr id="195" name="Google Shape;195;p20"/>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3. Các thuật toán tìm kiếm trên đồ thị </a:t>
            </a:r>
            <a:endParaRPr/>
          </a:p>
        </p:txBody>
      </p:sp>
      <p:sp>
        <p:nvSpPr>
          <p:cNvPr id="196" name="Google Shape;196;p20"/>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Tìm kiếm theo chiều sâu (</a:t>
            </a:r>
            <a:r>
              <a:rPr b="0" i="0" lang="en-US" sz="2800" u="none">
                <a:solidFill>
                  <a:srgbClr val="FF0000"/>
                </a:solidFill>
                <a:latin typeface="Arial"/>
                <a:ea typeface="Arial"/>
                <a:cs typeface="Arial"/>
                <a:sym typeface="Arial"/>
              </a:rPr>
              <a:t>DFS</a:t>
            </a:r>
            <a:r>
              <a:rPr b="0" i="0" lang="en-US" sz="2800" u="none">
                <a:solidFill>
                  <a:schemeClr val="dk1"/>
                </a:solidFill>
                <a:latin typeface="Arial"/>
                <a:ea typeface="Arial"/>
                <a:cs typeface="Arial"/>
                <a:sym typeface="Arial"/>
              </a:rPr>
              <a:t> - D</a:t>
            </a:r>
            <a:r>
              <a:rPr b="0" i="1" lang="en-US" sz="2800" u="none">
                <a:solidFill>
                  <a:schemeClr val="dk1"/>
                </a:solidFill>
                <a:latin typeface="Arial"/>
                <a:ea typeface="Arial"/>
                <a:cs typeface="Arial"/>
                <a:sym typeface="Arial"/>
              </a:rPr>
              <a:t>epth-First Search</a:t>
            </a:r>
            <a:r>
              <a:rPr b="0" i="0" lang="en-US" sz="2800" u="none">
                <a:solidFill>
                  <a:schemeClr val="dk1"/>
                </a:solidFill>
                <a:latin typeface="Arial"/>
                <a:ea typeface="Arial"/>
                <a:cs typeface="Arial"/>
                <a:sym typeface="Arial"/>
              </a:rPr>
              <a:t> )</a:t>
            </a:r>
            <a:endParaRPr/>
          </a:p>
          <a:p>
            <a:pPr indent="-463550" lvl="0" marL="46355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Tìm kiếm theo chiều rộng (</a:t>
            </a:r>
            <a:r>
              <a:rPr b="0" i="0" lang="en-US" sz="2800" u="none">
                <a:solidFill>
                  <a:srgbClr val="FF0000"/>
                </a:solidFill>
                <a:latin typeface="Arial"/>
                <a:ea typeface="Arial"/>
                <a:cs typeface="Arial"/>
                <a:sym typeface="Arial"/>
              </a:rPr>
              <a:t>BFS</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Breadth-First Search</a:t>
            </a: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200" name="Shape 200"/>
        <p:cNvGrpSpPr/>
        <p:nvPr/>
      </p:nvGrpSpPr>
      <p:grpSpPr>
        <a:xfrm>
          <a:off x="0" y="0"/>
          <a:ext cx="0" cy="0"/>
          <a:chOff x="0" y="0"/>
          <a:chExt cx="0" cy="0"/>
        </a:xfrm>
      </p:grpSpPr>
      <p:sp>
        <p:nvSpPr>
          <p:cNvPr id="201" name="Google Shape;201;p22"/>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DFS</a:t>
            </a:r>
            <a:endParaRPr/>
          </a:p>
        </p:txBody>
      </p:sp>
      <p:sp>
        <p:nvSpPr>
          <p:cNvPr id="202" name="Google Shape;202;p22"/>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52400" lvl="1" marL="0" marR="0" rtl="0" algn="just">
              <a:lnSpc>
                <a:spcPct val="9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Xuất từ một đỉnh v bất kỳ của đồ thị G, chúng ta thực hiện như sau: </a:t>
            </a:r>
            <a:endParaRPr/>
          </a:p>
          <a:p>
            <a:pPr indent="-152400" lvl="1" marL="0" marR="0" rtl="0" algn="just">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Bước 1: đánh dấu v đã được duyệt.</a:t>
            </a:r>
            <a:endParaRPr/>
          </a:p>
          <a:p>
            <a:pPr indent="-152400" lvl="1" marL="0" marR="0" rtl="0" algn="just">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Bước 2: thực hiện đánh dấu đã duyệt với mỗi đỉnh w chưa duyệt kề với v, </a:t>
            </a:r>
            <a:endParaRPr/>
          </a:p>
          <a:p>
            <a:pPr indent="-152400" lvl="1" marL="0" marR="0" rtl="0" algn="just">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Bước 3: làm lại bước 2 cho đến khi tất cả các đỉnh được duyệt.</a:t>
            </a:r>
            <a:endParaRPr/>
          </a:p>
          <a:p>
            <a:pPr indent="-311150" lvl="0" marL="463550" marR="0" rtl="0" algn="l">
              <a:spcBef>
                <a:spcPts val="480"/>
              </a:spcBef>
              <a:spcAft>
                <a:spcPts val="0"/>
              </a:spcAft>
              <a:buClr>
                <a:schemeClr val="dk1"/>
              </a:buClr>
              <a:buSzPts val="2400"/>
              <a:buFont typeface="Noto Sans Symbols"/>
              <a:buNone/>
            </a:pPr>
            <a:r>
              <a:t/>
            </a:r>
            <a:endParaRPr b="0" i="0" sz="2400" u="none" cap="none" strike="noStrike">
              <a:solidFill>
                <a:schemeClr val="dk1"/>
              </a:solidFill>
              <a:latin typeface="Arial"/>
              <a:ea typeface="Arial"/>
              <a:cs typeface="Arial"/>
              <a:sym typeface="Arial"/>
            </a:endParaRPr>
          </a:p>
        </p:txBody>
      </p:sp>
      <p:grpSp>
        <p:nvGrpSpPr>
          <p:cNvPr id="203" name="Google Shape;203;p22"/>
          <p:cNvGrpSpPr/>
          <p:nvPr/>
        </p:nvGrpSpPr>
        <p:grpSpPr>
          <a:xfrm>
            <a:off x="2895600" y="3886200"/>
            <a:ext cx="3429000" cy="2286000"/>
            <a:chOff x="671512" y="4405312"/>
            <a:chExt cx="2857500" cy="2038410"/>
          </a:xfrm>
        </p:grpSpPr>
        <p:pic>
          <p:nvPicPr>
            <p:cNvPr id="204" name="Google Shape;204;p22"/>
            <p:cNvPicPr preferRelativeResize="0"/>
            <p:nvPr/>
          </p:nvPicPr>
          <p:blipFill rotWithShape="1">
            <a:blip r:embed="rId3">
              <a:alphaModFix/>
            </a:blip>
            <a:srcRect b="0" l="0" r="0" t="0"/>
            <a:stretch/>
          </p:blipFill>
          <p:spPr>
            <a:xfrm>
              <a:off x="671512" y="4405312"/>
              <a:ext cx="2857500" cy="1847850"/>
            </a:xfrm>
            <a:prstGeom prst="rect">
              <a:avLst/>
            </a:prstGeom>
            <a:noFill/>
            <a:ln>
              <a:noFill/>
            </a:ln>
          </p:spPr>
        </p:pic>
        <p:sp>
          <p:nvSpPr>
            <p:cNvPr id="205" name="Google Shape;205;p22"/>
            <p:cNvSpPr txBox="1"/>
            <p:nvPr/>
          </p:nvSpPr>
          <p:spPr>
            <a:xfrm>
              <a:off x="1700212" y="6043612"/>
              <a:ext cx="7473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DFS</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209" name="Shape 209"/>
        <p:cNvGrpSpPr/>
        <p:nvPr/>
      </p:nvGrpSpPr>
      <p:grpSpPr>
        <a:xfrm>
          <a:off x="0" y="0"/>
          <a:ext cx="0" cy="0"/>
          <a:chOff x="0" y="0"/>
          <a:chExt cx="0" cy="0"/>
        </a:xfrm>
      </p:grpSpPr>
      <p:sp>
        <p:nvSpPr>
          <p:cNvPr id="210" name="Google Shape;210;p23"/>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DFS</a:t>
            </a:r>
            <a:endParaRPr/>
          </a:p>
        </p:txBody>
      </p:sp>
      <p:sp>
        <p:nvSpPr>
          <p:cNvPr id="211" name="Google Shape;211;p23"/>
          <p:cNvSpPr txBox="1"/>
          <p:nvPr>
            <p:ph idx="1" type="body"/>
          </p:nvPr>
        </p:nvSpPr>
        <p:spPr>
          <a:xfrm>
            <a:off x="915987" y="981075"/>
            <a:ext cx="7910400" cy="554370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2800"/>
              <a:buFont typeface="Noto Sans Symbols"/>
              <a:buNone/>
            </a:pPr>
            <a:r>
              <a:rPr b="1" i="0" lang="en-US" sz="2800" u="none">
                <a:solidFill>
                  <a:schemeClr val="dk1"/>
                </a:solidFill>
                <a:latin typeface="Arial"/>
                <a:ea typeface="Arial"/>
                <a:cs typeface="Arial"/>
                <a:sym typeface="Arial"/>
              </a:rPr>
              <a:t>Ví dụ:</a:t>
            </a:r>
            <a:endParaRPr b="1" i="0" sz="2800" u="none">
              <a:solidFill>
                <a:schemeClr val="dk1"/>
              </a:solidFill>
              <a:latin typeface="Arial"/>
              <a:ea typeface="Arial"/>
              <a:cs typeface="Arial"/>
              <a:sym typeface="Arial"/>
            </a:endParaRPr>
          </a:p>
          <a:p>
            <a:pPr indent="0" lvl="1" marL="0" marR="0" rtl="0" algn="just">
              <a:lnSpc>
                <a:spcPct val="90000"/>
              </a:lnSpc>
              <a:spcBef>
                <a:spcPts val="480"/>
              </a:spcBef>
              <a:spcAft>
                <a:spcPts val="0"/>
              </a:spcAft>
              <a:buClr>
                <a:schemeClr val="dk1"/>
              </a:buClr>
              <a:buSzPts val="2400"/>
              <a:buFont typeface="Noto Sans Symbols"/>
              <a:buNone/>
            </a:pPr>
            <a:r>
              <a:rPr b="0" i="0" lang="en-US" sz="2400" u="none" cap="none" strike="noStrike">
                <a:solidFill>
                  <a:schemeClr val="dk1"/>
                </a:solidFill>
                <a:latin typeface="Arial"/>
                <a:ea typeface="Arial"/>
                <a:cs typeface="Arial"/>
                <a:sym typeface="Arial"/>
              </a:rPr>
              <a:t>Thực hiện tìm kiếm theo chiều sâu trên đồ thị G sau: </a:t>
            </a:r>
            <a:endParaRPr/>
          </a:p>
          <a:p>
            <a:pPr indent="-463550" lvl="0" marL="46355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Arial"/>
              <a:ea typeface="Arial"/>
              <a:cs typeface="Arial"/>
              <a:sym typeface="Arial"/>
            </a:endParaRPr>
          </a:p>
          <a:p>
            <a:pPr indent="-463550" lvl="0" marL="46355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a:t>
            </a:r>
            <a:endParaRPr/>
          </a:p>
        </p:txBody>
      </p:sp>
      <p:grpSp>
        <p:nvGrpSpPr>
          <p:cNvPr id="212" name="Google Shape;212;p23"/>
          <p:cNvGrpSpPr/>
          <p:nvPr/>
        </p:nvGrpSpPr>
        <p:grpSpPr>
          <a:xfrm>
            <a:off x="1831878" y="3028837"/>
            <a:ext cx="5311672" cy="2171668"/>
            <a:chOff x="2403474" y="3565525"/>
            <a:chExt cx="2551113" cy="1008062"/>
          </a:xfrm>
        </p:grpSpPr>
        <p:sp>
          <p:nvSpPr>
            <p:cNvPr id="213" name="Google Shape;213;p23"/>
            <p:cNvSpPr/>
            <p:nvPr/>
          </p:nvSpPr>
          <p:spPr>
            <a:xfrm>
              <a:off x="2409824" y="3565525"/>
              <a:ext cx="347663"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v1</a:t>
              </a:r>
              <a:endParaRPr>
                <a:solidFill>
                  <a:schemeClr val="lt1"/>
                </a:solidFill>
              </a:endParaRPr>
            </a:p>
          </p:txBody>
        </p:sp>
        <p:sp>
          <p:nvSpPr>
            <p:cNvPr id="214" name="Google Shape;214;p23"/>
            <p:cNvSpPr/>
            <p:nvPr/>
          </p:nvSpPr>
          <p:spPr>
            <a:xfrm>
              <a:off x="3121024" y="3565525"/>
              <a:ext cx="347663" cy="347662"/>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v2</a:t>
              </a:r>
              <a:endParaRPr>
                <a:solidFill>
                  <a:schemeClr val="lt1"/>
                </a:solidFill>
              </a:endParaRPr>
            </a:p>
          </p:txBody>
        </p:sp>
        <p:sp>
          <p:nvSpPr>
            <p:cNvPr id="215" name="Google Shape;215;p23"/>
            <p:cNvSpPr/>
            <p:nvPr/>
          </p:nvSpPr>
          <p:spPr>
            <a:xfrm>
              <a:off x="3116262" y="4213225"/>
              <a:ext cx="347662"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v6</a:t>
              </a:r>
              <a:endParaRPr/>
            </a:p>
          </p:txBody>
        </p:sp>
        <p:sp>
          <p:nvSpPr>
            <p:cNvPr id="216" name="Google Shape;216;p23"/>
            <p:cNvSpPr/>
            <p:nvPr/>
          </p:nvSpPr>
          <p:spPr>
            <a:xfrm>
              <a:off x="3857624" y="3565525"/>
              <a:ext cx="347663"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v3</a:t>
              </a:r>
              <a:endParaRPr>
                <a:solidFill>
                  <a:schemeClr val="lt1"/>
                </a:solidFill>
              </a:endParaRPr>
            </a:p>
          </p:txBody>
        </p:sp>
        <p:sp>
          <p:nvSpPr>
            <p:cNvPr id="217" name="Google Shape;217;p23"/>
            <p:cNvSpPr/>
            <p:nvPr/>
          </p:nvSpPr>
          <p:spPr>
            <a:xfrm>
              <a:off x="4606924" y="3565525"/>
              <a:ext cx="347663"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v4</a:t>
              </a:r>
              <a:endParaRPr>
                <a:solidFill>
                  <a:schemeClr val="lt1"/>
                </a:solidFill>
              </a:endParaRPr>
            </a:p>
          </p:txBody>
        </p:sp>
        <p:sp>
          <p:nvSpPr>
            <p:cNvPr id="218" name="Google Shape;218;p23"/>
            <p:cNvSpPr/>
            <p:nvPr/>
          </p:nvSpPr>
          <p:spPr>
            <a:xfrm>
              <a:off x="3857624" y="4217987"/>
              <a:ext cx="347663" cy="347663"/>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v7</a:t>
              </a:r>
              <a:endParaRPr>
                <a:solidFill>
                  <a:schemeClr val="lt1"/>
                </a:solidFill>
              </a:endParaRPr>
            </a:p>
          </p:txBody>
        </p:sp>
        <p:sp>
          <p:nvSpPr>
            <p:cNvPr id="219" name="Google Shape;219;p23"/>
            <p:cNvSpPr/>
            <p:nvPr/>
          </p:nvSpPr>
          <p:spPr>
            <a:xfrm>
              <a:off x="4606924" y="4213225"/>
              <a:ext cx="347663"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v8</a:t>
              </a:r>
              <a:endParaRPr>
                <a:solidFill>
                  <a:schemeClr val="lt1"/>
                </a:solidFill>
              </a:endParaRPr>
            </a:p>
          </p:txBody>
        </p:sp>
        <p:cxnSp>
          <p:nvCxnSpPr>
            <p:cNvPr id="220" name="Google Shape;220;p23"/>
            <p:cNvCxnSpPr/>
            <p:nvPr/>
          </p:nvCxnSpPr>
          <p:spPr>
            <a:xfrm>
              <a:off x="2763837" y="3743325"/>
              <a:ext cx="352425" cy="0"/>
            </a:xfrm>
            <a:prstGeom prst="straightConnector1">
              <a:avLst/>
            </a:prstGeom>
            <a:noFill/>
            <a:ln cap="flat" cmpd="sng" w="9525">
              <a:solidFill>
                <a:schemeClr val="dk1"/>
              </a:solidFill>
              <a:prstDash val="solid"/>
              <a:miter lim="800000"/>
              <a:headEnd len="med" w="med" type="none"/>
              <a:tailEnd len="med" w="med" type="none"/>
            </a:ln>
          </p:spPr>
        </p:cxnSp>
        <p:cxnSp>
          <p:nvCxnSpPr>
            <p:cNvPr id="221" name="Google Shape;221;p23"/>
            <p:cNvCxnSpPr/>
            <p:nvPr/>
          </p:nvCxnSpPr>
          <p:spPr>
            <a:xfrm>
              <a:off x="4205287" y="3743325"/>
              <a:ext cx="401637" cy="0"/>
            </a:xfrm>
            <a:prstGeom prst="straightConnector1">
              <a:avLst/>
            </a:prstGeom>
            <a:noFill/>
            <a:ln cap="flat" cmpd="sng" w="9525">
              <a:solidFill>
                <a:schemeClr val="dk1"/>
              </a:solidFill>
              <a:prstDash val="solid"/>
              <a:miter lim="800000"/>
              <a:headEnd len="med" w="med" type="none"/>
              <a:tailEnd len="med" w="med" type="none"/>
            </a:ln>
          </p:spPr>
        </p:cxnSp>
        <p:cxnSp>
          <p:nvCxnSpPr>
            <p:cNvPr id="222" name="Google Shape;222;p23"/>
            <p:cNvCxnSpPr/>
            <p:nvPr/>
          </p:nvCxnSpPr>
          <p:spPr>
            <a:xfrm>
              <a:off x="3297237" y="3913187"/>
              <a:ext cx="0" cy="300038"/>
            </a:xfrm>
            <a:prstGeom prst="straightConnector1">
              <a:avLst/>
            </a:prstGeom>
            <a:noFill/>
            <a:ln cap="flat" cmpd="sng" w="9525">
              <a:solidFill>
                <a:schemeClr val="dk1"/>
              </a:solidFill>
              <a:prstDash val="solid"/>
              <a:miter lim="800000"/>
              <a:headEnd len="med" w="med" type="none"/>
              <a:tailEnd len="med" w="med" type="none"/>
            </a:ln>
          </p:spPr>
        </p:cxnSp>
        <p:cxnSp>
          <p:nvCxnSpPr>
            <p:cNvPr id="223" name="Google Shape;223;p23"/>
            <p:cNvCxnSpPr/>
            <p:nvPr/>
          </p:nvCxnSpPr>
          <p:spPr>
            <a:xfrm>
              <a:off x="4030662" y="3913187"/>
              <a:ext cx="0" cy="304800"/>
            </a:xfrm>
            <a:prstGeom prst="straightConnector1">
              <a:avLst/>
            </a:prstGeom>
            <a:noFill/>
            <a:ln cap="flat" cmpd="sng" w="9525">
              <a:solidFill>
                <a:schemeClr val="dk1"/>
              </a:solidFill>
              <a:prstDash val="solid"/>
              <a:miter lim="800000"/>
              <a:headEnd len="med" w="med" type="none"/>
              <a:tailEnd len="med" w="med" type="none"/>
            </a:ln>
          </p:spPr>
        </p:cxnSp>
        <p:cxnSp>
          <p:nvCxnSpPr>
            <p:cNvPr id="224" name="Google Shape;224;p23"/>
            <p:cNvCxnSpPr/>
            <p:nvPr/>
          </p:nvCxnSpPr>
          <p:spPr>
            <a:xfrm>
              <a:off x="4783137" y="3913187"/>
              <a:ext cx="0" cy="300038"/>
            </a:xfrm>
            <a:prstGeom prst="straightConnector1">
              <a:avLst/>
            </a:prstGeom>
            <a:noFill/>
            <a:ln cap="flat" cmpd="sng" w="9525">
              <a:solidFill>
                <a:schemeClr val="dk1"/>
              </a:solidFill>
              <a:prstDash val="solid"/>
              <a:miter lim="800000"/>
              <a:headEnd len="med" w="med" type="none"/>
              <a:tailEnd len="med" w="med" type="none"/>
            </a:ln>
          </p:spPr>
        </p:cxnSp>
        <p:cxnSp>
          <p:nvCxnSpPr>
            <p:cNvPr id="225" name="Google Shape;225;p23"/>
            <p:cNvCxnSpPr/>
            <p:nvPr/>
          </p:nvCxnSpPr>
          <p:spPr>
            <a:xfrm>
              <a:off x="3478212" y="4391025"/>
              <a:ext cx="381000" cy="0"/>
            </a:xfrm>
            <a:prstGeom prst="straightConnector1">
              <a:avLst/>
            </a:prstGeom>
            <a:noFill/>
            <a:ln cap="flat" cmpd="sng" w="9525">
              <a:solidFill>
                <a:schemeClr val="dk1"/>
              </a:solidFill>
              <a:prstDash val="solid"/>
              <a:miter lim="800000"/>
              <a:headEnd len="med" w="med" type="none"/>
              <a:tailEnd len="med" w="med" type="none"/>
            </a:ln>
          </p:spPr>
        </p:cxnSp>
        <p:cxnSp>
          <p:nvCxnSpPr>
            <p:cNvPr id="226" name="Google Shape;226;p23"/>
            <p:cNvCxnSpPr/>
            <p:nvPr/>
          </p:nvCxnSpPr>
          <p:spPr>
            <a:xfrm>
              <a:off x="4205287" y="4391025"/>
              <a:ext cx="401637" cy="0"/>
            </a:xfrm>
            <a:prstGeom prst="straightConnector1">
              <a:avLst/>
            </a:prstGeom>
            <a:noFill/>
            <a:ln cap="flat" cmpd="sng" w="9525">
              <a:solidFill>
                <a:schemeClr val="dk1"/>
              </a:solidFill>
              <a:prstDash val="solid"/>
              <a:miter lim="800000"/>
              <a:headEnd len="med" w="med" type="none"/>
              <a:tailEnd len="med" w="med" type="none"/>
            </a:ln>
          </p:spPr>
        </p:cxnSp>
        <p:cxnSp>
          <p:nvCxnSpPr>
            <p:cNvPr id="227" name="Google Shape;227;p23"/>
            <p:cNvCxnSpPr/>
            <p:nvPr/>
          </p:nvCxnSpPr>
          <p:spPr>
            <a:xfrm flipH="1" rot="10800000">
              <a:off x="3416299" y="3849687"/>
              <a:ext cx="474663" cy="419100"/>
            </a:xfrm>
            <a:prstGeom prst="straightConnector1">
              <a:avLst/>
            </a:prstGeom>
            <a:noFill/>
            <a:ln cap="flat" cmpd="sng" w="9525">
              <a:solidFill>
                <a:schemeClr val="dk1"/>
              </a:solidFill>
              <a:prstDash val="solid"/>
              <a:miter lim="800000"/>
              <a:headEnd len="med" w="med" type="none"/>
              <a:tailEnd len="med" w="med" type="none"/>
            </a:ln>
          </p:spPr>
        </p:cxnSp>
        <p:sp>
          <p:nvSpPr>
            <p:cNvPr id="228" name="Google Shape;228;p23"/>
            <p:cNvSpPr/>
            <p:nvPr/>
          </p:nvSpPr>
          <p:spPr>
            <a:xfrm>
              <a:off x="2403474" y="4225925"/>
              <a:ext cx="347663"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v5</a:t>
              </a:r>
              <a:endParaRPr>
                <a:solidFill>
                  <a:schemeClr val="lt1"/>
                </a:solidFill>
              </a:endParaRPr>
            </a:p>
          </p:txBody>
        </p:sp>
        <p:cxnSp>
          <p:nvCxnSpPr>
            <p:cNvPr id="229" name="Google Shape;229;p23"/>
            <p:cNvCxnSpPr/>
            <p:nvPr/>
          </p:nvCxnSpPr>
          <p:spPr>
            <a:xfrm>
              <a:off x="2582862" y="3914775"/>
              <a:ext cx="0" cy="314325"/>
            </a:xfrm>
            <a:prstGeom prst="straightConnector1">
              <a:avLst/>
            </a:prstGeom>
            <a:noFill/>
            <a:ln cap="flat" cmpd="sng" w="9525">
              <a:solidFill>
                <a:schemeClr val="dk1"/>
              </a:solidFill>
              <a:prstDash val="solid"/>
              <a:miter lim="800000"/>
              <a:headEnd len="med" w="med" type="none"/>
              <a:tailEnd len="med" w="med" type="none"/>
            </a:ln>
          </p:spPr>
        </p:cxnSp>
      </p:grpSp>
      <p:graphicFrame>
        <p:nvGraphicFramePr>
          <p:cNvPr id="230" name="Google Shape;230;p23"/>
          <p:cNvGraphicFramePr/>
          <p:nvPr/>
        </p:nvGraphicFramePr>
        <p:xfrm>
          <a:off x="3609975" y="5411787"/>
          <a:ext cx="3000000" cy="3000000"/>
        </p:xfrm>
        <a:graphic>
          <a:graphicData uri="http://schemas.openxmlformats.org/drawingml/2006/table">
            <a:tbl>
              <a:tblPr>
                <a:noFill/>
                <a:tableStyleId>{98F7A3A4-9285-4512-8C96-6F086EBBC042}</a:tableStyleId>
              </a:tblPr>
              <a:tblGrid>
                <a:gridCol w="552450"/>
                <a:gridCol w="601650"/>
                <a:gridCol w="682625"/>
                <a:gridCol w="641350"/>
                <a:gridCol w="628650"/>
                <a:gridCol w="638175"/>
                <a:gridCol w="636575"/>
                <a:gridCol w="638175"/>
              </a:tblGrid>
              <a:tr h="371475">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698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bl>
          </a:graphicData>
        </a:graphic>
      </p:graphicFrame>
      <p:cxnSp>
        <p:nvCxnSpPr>
          <p:cNvPr id="231" name="Google Shape;231;p23"/>
          <p:cNvCxnSpPr/>
          <p:nvPr/>
        </p:nvCxnSpPr>
        <p:spPr>
          <a:xfrm flipH="1" rot="10800000">
            <a:off x="2657475" y="3243262"/>
            <a:ext cx="457200" cy="14287"/>
          </a:xfrm>
          <a:prstGeom prst="straightConnector1">
            <a:avLst/>
          </a:prstGeom>
          <a:noFill/>
          <a:ln cap="flat" cmpd="sng" w="38100">
            <a:solidFill>
              <a:srgbClr val="B6DCDF"/>
            </a:solidFill>
            <a:prstDash val="solid"/>
            <a:miter lim="800000"/>
            <a:headEnd len="med" w="med" type="none"/>
            <a:tailEnd len="med" w="med" type="stealth"/>
          </a:ln>
        </p:spPr>
      </p:cxnSp>
      <p:sp>
        <p:nvSpPr>
          <p:cNvPr id="232" name="Google Shape;232;p23"/>
          <p:cNvSpPr txBox="1"/>
          <p:nvPr/>
        </p:nvSpPr>
        <p:spPr>
          <a:xfrm>
            <a:off x="885825" y="5772150"/>
            <a:ext cx="2400300" cy="400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Bảng duyệt</a:t>
            </a:r>
            <a:endParaRPr/>
          </a:p>
        </p:txBody>
      </p:sp>
      <p:cxnSp>
        <p:nvCxnSpPr>
          <p:cNvPr id="233" name="Google Shape;233;p23"/>
          <p:cNvCxnSpPr/>
          <p:nvPr/>
        </p:nvCxnSpPr>
        <p:spPr>
          <a:xfrm flipH="1" rot="10800000">
            <a:off x="4057650" y="3671887"/>
            <a:ext cx="642937" cy="585787"/>
          </a:xfrm>
          <a:prstGeom prst="straightConnector1">
            <a:avLst/>
          </a:prstGeom>
          <a:noFill/>
          <a:ln cap="flat" cmpd="sng" w="38100">
            <a:solidFill>
              <a:srgbClr val="B6DCDF"/>
            </a:solidFill>
            <a:prstDash val="solid"/>
            <a:miter lim="800000"/>
            <a:headEnd len="med" w="med" type="none"/>
            <a:tailEnd len="med" w="med" type="stealth"/>
          </a:ln>
        </p:spPr>
      </p:cxnSp>
      <p:cxnSp>
        <p:nvCxnSpPr>
          <p:cNvPr id="234" name="Google Shape;234;p23"/>
          <p:cNvCxnSpPr/>
          <p:nvPr/>
        </p:nvCxnSpPr>
        <p:spPr>
          <a:xfrm flipH="1" rot="10800000">
            <a:off x="5786437" y="3243262"/>
            <a:ext cx="457200" cy="14287"/>
          </a:xfrm>
          <a:prstGeom prst="straightConnector1">
            <a:avLst/>
          </a:prstGeom>
          <a:noFill/>
          <a:ln cap="flat" cmpd="sng" w="38100">
            <a:solidFill>
              <a:srgbClr val="B6DCDF"/>
            </a:solidFill>
            <a:prstDash val="solid"/>
            <a:miter lim="800000"/>
            <a:headEnd len="med" w="med" type="none"/>
            <a:tailEnd len="med" w="med" type="stealth"/>
          </a:ln>
        </p:spPr>
      </p:cxnSp>
      <p:cxnSp>
        <p:nvCxnSpPr>
          <p:cNvPr id="235" name="Google Shape;235;p23"/>
          <p:cNvCxnSpPr/>
          <p:nvPr/>
        </p:nvCxnSpPr>
        <p:spPr>
          <a:xfrm rot="5400000">
            <a:off x="6736556" y="4064793"/>
            <a:ext cx="514350" cy="14287"/>
          </a:xfrm>
          <a:prstGeom prst="straightConnector1">
            <a:avLst/>
          </a:prstGeom>
          <a:noFill/>
          <a:ln cap="flat" cmpd="sng" w="38100">
            <a:solidFill>
              <a:srgbClr val="B6DCDF"/>
            </a:solidFill>
            <a:prstDash val="solid"/>
            <a:miter lim="800000"/>
            <a:headEnd len="med" w="med" type="none"/>
            <a:tailEnd len="med" w="med" type="stealth"/>
          </a:ln>
        </p:spPr>
      </p:cxnSp>
      <p:cxnSp>
        <p:nvCxnSpPr>
          <p:cNvPr id="236" name="Google Shape;236;p23"/>
          <p:cNvCxnSpPr/>
          <p:nvPr/>
        </p:nvCxnSpPr>
        <p:spPr>
          <a:xfrm rot="10800000">
            <a:off x="5772150" y="4643437"/>
            <a:ext cx="342900" cy="1587"/>
          </a:xfrm>
          <a:prstGeom prst="straightConnector1">
            <a:avLst/>
          </a:prstGeom>
          <a:noFill/>
          <a:ln cap="flat" cmpd="sng" w="38100">
            <a:solidFill>
              <a:srgbClr val="B6DCDF"/>
            </a:solidFill>
            <a:prstDash val="solid"/>
            <a:miter lim="800000"/>
            <a:headEnd len="med" w="med" type="none"/>
            <a:tailEnd len="med" w="med" type="stealth"/>
          </a:ln>
        </p:spPr>
      </p:cxnSp>
      <p:sp>
        <p:nvSpPr>
          <p:cNvPr id="237" name="Google Shape;237;p23"/>
          <p:cNvSpPr/>
          <p:nvPr/>
        </p:nvSpPr>
        <p:spPr>
          <a:xfrm>
            <a:off x="2317750" y="3481387"/>
            <a:ext cx="2816225" cy="1879600"/>
          </a:xfrm>
          <a:custGeom>
            <a:rect b="b" l="l" r="r" t="t"/>
            <a:pathLst>
              <a:path extrusionOk="0" h="1878806" w="2817018">
                <a:moveTo>
                  <a:pt x="2426493" y="1490662"/>
                </a:moveTo>
                <a:lnTo>
                  <a:pt x="2069306" y="1419225"/>
                </a:lnTo>
                <a:cubicBezTo>
                  <a:pt x="2121694" y="1269206"/>
                  <a:pt x="2664618" y="754856"/>
                  <a:pt x="2740818" y="590550"/>
                </a:cubicBezTo>
                <a:cubicBezTo>
                  <a:pt x="2817018" y="426244"/>
                  <a:pt x="2669381" y="354806"/>
                  <a:pt x="2526506" y="433387"/>
                </a:cubicBezTo>
                <a:cubicBezTo>
                  <a:pt x="2383631" y="511968"/>
                  <a:pt x="1993105" y="845343"/>
                  <a:pt x="1883568" y="1062037"/>
                </a:cubicBezTo>
                <a:cubicBezTo>
                  <a:pt x="1774031" y="1278731"/>
                  <a:pt x="2002631" y="1607344"/>
                  <a:pt x="1869281" y="1733550"/>
                </a:cubicBezTo>
                <a:cubicBezTo>
                  <a:pt x="1735931" y="1859756"/>
                  <a:pt x="1266824" y="1878806"/>
                  <a:pt x="1083468" y="1819275"/>
                </a:cubicBezTo>
                <a:cubicBezTo>
                  <a:pt x="900112" y="1759744"/>
                  <a:pt x="785812" y="1552574"/>
                  <a:pt x="769143" y="1376362"/>
                </a:cubicBezTo>
                <a:cubicBezTo>
                  <a:pt x="752474" y="1200150"/>
                  <a:pt x="935831" y="938213"/>
                  <a:pt x="983456" y="762000"/>
                </a:cubicBezTo>
                <a:cubicBezTo>
                  <a:pt x="1031081" y="585788"/>
                  <a:pt x="1078705" y="435768"/>
                  <a:pt x="1054893" y="319087"/>
                </a:cubicBezTo>
                <a:cubicBezTo>
                  <a:pt x="1031081" y="202406"/>
                  <a:pt x="947737" y="107156"/>
                  <a:pt x="840581" y="61912"/>
                </a:cubicBezTo>
                <a:cubicBezTo>
                  <a:pt x="733425" y="16668"/>
                  <a:pt x="509587" y="0"/>
                  <a:pt x="411956" y="47625"/>
                </a:cubicBezTo>
                <a:cubicBezTo>
                  <a:pt x="314325" y="95250"/>
                  <a:pt x="316705" y="288131"/>
                  <a:pt x="254793" y="347662"/>
                </a:cubicBezTo>
                <a:cubicBezTo>
                  <a:pt x="192881" y="407193"/>
                  <a:pt x="80962" y="314324"/>
                  <a:pt x="40481" y="404812"/>
                </a:cubicBezTo>
                <a:cubicBezTo>
                  <a:pt x="0" y="495300"/>
                  <a:pt x="11906" y="890587"/>
                  <a:pt x="11906" y="890587"/>
                </a:cubicBezTo>
                <a:lnTo>
                  <a:pt x="11906" y="890587"/>
                </a:lnTo>
              </a:path>
            </a:pathLst>
          </a:custGeom>
          <a:noFill/>
          <a:ln cap="flat" cmpd="sng" w="50800">
            <a:solidFill>
              <a:srgbClr val="B6D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241" name="Shape 241"/>
        <p:cNvGrpSpPr/>
        <p:nvPr/>
      </p:nvGrpSpPr>
      <p:grpSpPr>
        <a:xfrm>
          <a:off x="0" y="0"/>
          <a:ext cx="0" cy="0"/>
          <a:chOff x="0" y="0"/>
          <a:chExt cx="0" cy="0"/>
        </a:xfrm>
      </p:grpSpPr>
      <p:sp>
        <p:nvSpPr>
          <p:cNvPr id="242" name="Google Shape;242;p21"/>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 Giải thuật DFS</a:t>
            </a:r>
            <a:endParaRPr/>
          </a:p>
        </p:txBody>
      </p:sp>
      <p:sp>
        <p:nvSpPr>
          <p:cNvPr id="243" name="Google Shape;243;p21"/>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DFS (</a:t>
            </a:r>
            <a:r>
              <a:rPr b="0" i="1" lang="en-US" sz="3000" u="none">
                <a:solidFill>
                  <a:schemeClr val="dk1"/>
                </a:solidFill>
                <a:latin typeface="Arial"/>
                <a:ea typeface="Arial"/>
                <a:cs typeface="Arial"/>
                <a:sym typeface="Arial"/>
              </a:rPr>
              <a:t>depth-first search</a:t>
            </a:r>
            <a:r>
              <a:rPr b="0" i="0" lang="en-US" sz="3000" u="none">
                <a:solidFill>
                  <a:schemeClr val="dk1"/>
                </a:solidFill>
                <a:latin typeface="Arial"/>
                <a:ea typeface="Arial"/>
                <a:cs typeface="Arial"/>
                <a:sym typeface="Arial"/>
              </a:rPr>
              <a:t> - tìm kiếm theo chiều sâu) là giải thuật tìm “sâu hơn” trong đồ thị bất cứ lúc nào có thể</a:t>
            </a:r>
            <a:endParaRPr/>
          </a:p>
          <a:p>
            <a:pPr indent="-463550" lvl="0" marL="463550" marR="0" rtl="0" algn="l">
              <a:lnSpc>
                <a:spcPct val="8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Trong tìm kiếm theo chiều sâu, các cạnh được thăm dò theo đỉnh </a:t>
            </a:r>
            <a:r>
              <a:rPr b="0" i="1" lang="en-US" sz="3000" u="none">
                <a:solidFill>
                  <a:schemeClr val="accent2"/>
                </a:solidFill>
                <a:latin typeface="Courier New"/>
                <a:ea typeface="Courier New"/>
                <a:cs typeface="Courier New"/>
                <a:sym typeface="Courier New"/>
              </a:rPr>
              <a:t>v</a:t>
            </a:r>
            <a:r>
              <a:rPr b="0" i="0" lang="en-US" sz="3000" u="none">
                <a:solidFill>
                  <a:schemeClr val="dk1"/>
                </a:solidFill>
                <a:latin typeface="Arial"/>
                <a:ea typeface="Arial"/>
                <a:cs typeface="Arial"/>
                <a:sym typeface="Arial"/>
              </a:rPr>
              <a:t> vừa được tìm thấy gần nhất</a:t>
            </a:r>
            <a:endParaRPr/>
          </a:p>
          <a:p>
            <a:pPr indent="-463550" lvl="0" marL="463550" marR="0" rtl="0" algn="l">
              <a:lnSpc>
                <a:spcPct val="8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Khi tất các cạnh của </a:t>
            </a:r>
            <a:r>
              <a:rPr b="0" i="1" lang="en-US" sz="3000" u="none">
                <a:solidFill>
                  <a:schemeClr val="accent2"/>
                </a:solidFill>
                <a:latin typeface="Courier New"/>
                <a:ea typeface="Courier New"/>
                <a:cs typeface="Courier New"/>
                <a:sym typeface="Courier New"/>
              </a:rPr>
              <a:t>v</a:t>
            </a:r>
            <a:r>
              <a:rPr b="0" i="0" lang="en-US" sz="3000" u="none">
                <a:solidFill>
                  <a:schemeClr val="dk1"/>
                </a:solidFill>
                <a:latin typeface="Arial"/>
                <a:ea typeface="Arial"/>
                <a:cs typeface="Arial"/>
                <a:sym typeface="Arial"/>
              </a:rPr>
              <a:t> đã được thăm dò, thuật toán sẽ “quay lui” để thăm dò các cạnh dẫn đến những đỉnh mà từ đó </a:t>
            </a:r>
            <a:r>
              <a:rPr b="0" i="1" lang="en-US" sz="3000" u="none">
                <a:solidFill>
                  <a:schemeClr val="accent2"/>
                </a:solidFill>
                <a:latin typeface="Courier New"/>
                <a:ea typeface="Courier New"/>
                <a:cs typeface="Courier New"/>
                <a:sym typeface="Courier New"/>
              </a:rPr>
              <a:t>v</a:t>
            </a:r>
            <a:r>
              <a:rPr b="0" i="0" lang="en-US" sz="3000" u="none">
                <a:solidFill>
                  <a:schemeClr val="dk1"/>
                </a:solidFill>
                <a:latin typeface="Arial"/>
                <a:ea typeface="Arial"/>
                <a:cs typeface="Arial"/>
                <a:sym typeface="Arial"/>
              </a:rPr>
              <a:t> được tìm thấy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247" name="Shape 247"/>
        <p:cNvGrpSpPr/>
        <p:nvPr/>
      </p:nvGrpSpPr>
      <p:grpSpPr>
        <a:xfrm>
          <a:off x="0" y="0"/>
          <a:ext cx="0" cy="0"/>
          <a:chOff x="0" y="0"/>
          <a:chExt cx="0" cy="0"/>
        </a:xfrm>
      </p:grpSpPr>
      <p:sp>
        <p:nvSpPr>
          <p:cNvPr id="248" name="Google Shape;248;p24"/>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DFS</a:t>
            </a:r>
            <a:endParaRPr/>
          </a:p>
        </p:txBody>
      </p:sp>
      <p:sp>
        <p:nvSpPr>
          <p:cNvPr id="249" name="Google Shape;249;p24"/>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2400"/>
              <a:buFont typeface="Noto Sans Symbols"/>
              <a:buNone/>
            </a:pPr>
            <a:r>
              <a:rPr b="1" i="0" lang="en-US" sz="2400" u="none">
                <a:solidFill>
                  <a:schemeClr val="dk1"/>
                </a:solidFill>
                <a:latin typeface="Arial"/>
                <a:ea typeface="Arial"/>
                <a:cs typeface="Arial"/>
                <a:sym typeface="Arial"/>
              </a:rPr>
              <a:t>DFS(v)</a:t>
            </a:r>
            <a:endParaRPr/>
          </a:p>
          <a:p>
            <a:pPr indent="-463550" lvl="0" marL="463550" marR="0" rtl="0" algn="l">
              <a:lnSpc>
                <a:spcPct val="100000"/>
              </a:lnSpc>
              <a:spcBef>
                <a:spcPts val="480"/>
              </a:spcBef>
              <a:spcAft>
                <a:spcPts val="0"/>
              </a:spcAft>
              <a:buClr>
                <a:schemeClr val="dk1"/>
              </a:buClr>
              <a:buSzPts val="2400"/>
              <a:buFont typeface="Noto Sans Symbols"/>
              <a:buAutoNum type="arabicPeriod"/>
            </a:pPr>
            <a:r>
              <a:rPr b="1" i="0" lang="en-US" sz="2400" u="none">
                <a:solidFill>
                  <a:schemeClr val="dk1"/>
                </a:solidFill>
                <a:latin typeface="Arial"/>
                <a:ea typeface="Arial"/>
                <a:cs typeface="Arial"/>
                <a:sym typeface="Arial"/>
              </a:rPr>
              <a:t>VISITED(v</a:t>
            </a:r>
            <a:r>
              <a:rPr b="0" i="0" lang="en-US" sz="2400" u="none">
                <a:solidFill>
                  <a:schemeClr val="dk1"/>
                </a:solidFill>
                <a:latin typeface="Arial"/>
                <a:ea typeface="Arial"/>
                <a:cs typeface="Arial"/>
                <a:sym typeface="Arial"/>
              </a:rPr>
              <a:t>)=1; //VISITED dùng để đánh dấu các đỉnh đã được thăm</a:t>
            </a:r>
            <a:endParaRPr/>
          </a:p>
          <a:p>
            <a:pPr indent="-463550" lvl="0" marL="463550" marR="0" rtl="0" algn="l">
              <a:lnSpc>
                <a:spcPct val="100000"/>
              </a:lnSpc>
              <a:spcBef>
                <a:spcPts val="480"/>
              </a:spcBef>
              <a:spcAft>
                <a:spcPts val="0"/>
              </a:spcAft>
              <a:buClr>
                <a:schemeClr val="dk1"/>
              </a:buClr>
              <a:buSzPts val="2400"/>
              <a:buFont typeface="Noto Sans Symbols"/>
              <a:buAutoNum type="arabicPeriod"/>
            </a:pPr>
            <a:r>
              <a:rPr b="0" i="0" lang="en-US" sz="2400" u="none">
                <a:solidFill>
                  <a:schemeClr val="dk1"/>
                </a:solidFill>
                <a:latin typeface="Arial"/>
                <a:ea typeface="Arial"/>
                <a:cs typeface="Arial"/>
                <a:sym typeface="Arial"/>
              </a:rPr>
              <a:t>for (mỗi đỉnh w lân cận của v)</a:t>
            </a:r>
            <a:endParaRPr/>
          </a:p>
          <a:p>
            <a:pPr indent="-463550" lvl="0" marL="463550" marR="0" rtl="0" algn="l">
              <a:lnSpc>
                <a:spcPct val="100000"/>
              </a:lnSpc>
              <a:spcBef>
                <a:spcPts val="480"/>
              </a:spcBef>
              <a:spcAft>
                <a:spcPts val="0"/>
              </a:spcAft>
              <a:buClr>
                <a:schemeClr val="dk1"/>
              </a:buClr>
              <a:buSzPts val="2400"/>
              <a:buFont typeface="Noto Sans Symbols"/>
              <a:buNone/>
            </a:pPr>
            <a:r>
              <a:rPr b="0" i="0" lang="en-US" sz="2400" u="none">
                <a:solidFill>
                  <a:schemeClr val="dk1"/>
                </a:solidFill>
                <a:latin typeface="Arial"/>
                <a:ea typeface="Arial"/>
                <a:cs typeface="Arial"/>
                <a:sym typeface="Arial"/>
              </a:rPr>
              <a:t>		if (</a:t>
            </a:r>
            <a:r>
              <a:rPr b="1" i="0" lang="en-US" sz="2400" u="none">
                <a:solidFill>
                  <a:schemeClr val="dk1"/>
                </a:solidFill>
                <a:latin typeface="Arial"/>
                <a:ea typeface="Arial"/>
                <a:cs typeface="Arial"/>
                <a:sym typeface="Arial"/>
              </a:rPr>
              <a:t>VISITED(w</a:t>
            </a:r>
            <a:r>
              <a:rPr b="0" i="0" lang="en-US" sz="2400" u="none">
                <a:solidFill>
                  <a:schemeClr val="dk1"/>
                </a:solidFill>
                <a:latin typeface="Arial"/>
                <a:ea typeface="Arial"/>
                <a:cs typeface="Arial"/>
                <a:sym typeface="Arial"/>
              </a:rPr>
              <a:t>)==0) </a:t>
            </a:r>
            <a:r>
              <a:rPr b="1" i="0" lang="en-US" sz="2400" u="none">
                <a:solidFill>
                  <a:schemeClr val="dk1"/>
                </a:solidFill>
                <a:latin typeface="Arial"/>
                <a:ea typeface="Arial"/>
                <a:cs typeface="Arial"/>
                <a:sym typeface="Arial"/>
              </a:rPr>
              <a:t>DFS(w</a:t>
            </a:r>
            <a:r>
              <a:rPr b="0" i="0" lang="en-US" sz="2400" u="none">
                <a:solidFill>
                  <a:schemeClr val="dk1"/>
                </a:solidFill>
                <a:latin typeface="Arial"/>
                <a:ea typeface="Arial"/>
                <a:cs typeface="Arial"/>
                <a:sym typeface="Arial"/>
              </a:rPr>
              <a:t>)</a:t>
            </a:r>
            <a:endParaRPr/>
          </a:p>
          <a:p>
            <a:pPr indent="-463550" lvl="0" marL="463550" marR="0" rtl="0" algn="l">
              <a:lnSpc>
                <a:spcPct val="100000"/>
              </a:lnSpc>
              <a:spcBef>
                <a:spcPts val="480"/>
              </a:spcBef>
              <a:spcAft>
                <a:spcPts val="0"/>
              </a:spcAft>
              <a:buClr>
                <a:schemeClr val="dk1"/>
              </a:buClr>
              <a:buSzPts val="2400"/>
              <a:buFont typeface="Noto Sans Symbols"/>
              <a:buNone/>
            </a:pPr>
            <a:r>
              <a:rPr b="0" i="0" lang="en-US" sz="2400" u="none">
                <a:solidFill>
                  <a:schemeClr val="dk1"/>
                </a:solidFill>
                <a:latin typeface="Arial"/>
                <a:ea typeface="Arial"/>
                <a:cs typeface="Arial"/>
                <a:sym typeface="Arial"/>
              </a:rPr>
              <a:t>3. return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253" name="Shape 253"/>
        <p:cNvGrpSpPr/>
        <p:nvPr/>
      </p:nvGrpSpPr>
      <p:grpSpPr>
        <a:xfrm>
          <a:off x="0" y="0"/>
          <a:ext cx="0" cy="0"/>
          <a:chOff x="0" y="0"/>
          <a:chExt cx="0" cy="0"/>
        </a:xfrm>
      </p:grpSpPr>
      <p:sp>
        <p:nvSpPr>
          <p:cNvPr id="254" name="Google Shape;254;p25"/>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DFS</a:t>
            </a:r>
            <a:endParaRPr/>
          </a:p>
        </p:txBody>
      </p:sp>
      <p:sp>
        <p:nvSpPr>
          <p:cNvPr id="255" name="Google Shape;255;p25"/>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Nhận xét</a:t>
            </a:r>
            <a:endParaRPr/>
          </a:p>
          <a:p>
            <a:pPr indent="-446087" lvl="1" marL="1023937" marR="0" rtl="0" algn="l">
              <a:lnSpc>
                <a:spcPct val="10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Trường hợp G biểu diễn bằng danh sách kề: Đỉnh w được xác định dựa vào danh sách liên kết với v. Do DFS chỉ xét mỗi nút trong một danh sách kề nhiều nhất 1 lần mà có 2E nút danh sách (ứng với E cung) 🡺 Thời gian O(E)</a:t>
            </a:r>
            <a:endParaRPr/>
          </a:p>
          <a:p>
            <a:pPr indent="-446087" lvl="1" marL="1023937" marR="0" rtl="0" algn="l">
              <a:lnSpc>
                <a:spcPct val="10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Trường hợp G biểu diễn bằng ma trận kề: Thời gian để xác định mọi đỉnh kề của v là O(n), vì có tối đa n đỉnh được thăm 🡺 Thời gian O(n</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259" name="Shape 259"/>
        <p:cNvGrpSpPr/>
        <p:nvPr/>
      </p:nvGrpSpPr>
      <p:grpSpPr>
        <a:xfrm>
          <a:off x="0" y="0"/>
          <a:ext cx="0" cy="0"/>
          <a:chOff x="0" y="0"/>
          <a:chExt cx="0" cy="0"/>
        </a:xfrm>
      </p:grpSpPr>
      <p:sp>
        <p:nvSpPr>
          <p:cNvPr id="260" name="Google Shape;260;p26"/>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 Giải thuật BFS</a:t>
            </a:r>
            <a:endParaRPr/>
          </a:p>
        </p:txBody>
      </p:sp>
      <p:sp>
        <p:nvSpPr>
          <p:cNvPr id="261" name="Google Shape;261;p26"/>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BFS (</a:t>
            </a:r>
            <a:r>
              <a:rPr b="0" i="1" lang="en-US" sz="2800" u="none">
                <a:solidFill>
                  <a:schemeClr val="dk1"/>
                </a:solidFill>
                <a:latin typeface="Arial"/>
                <a:ea typeface="Arial"/>
                <a:cs typeface="Arial"/>
                <a:sym typeface="Arial"/>
              </a:rPr>
              <a:t>breadth-first search</a:t>
            </a:r>
            <a:r>
              <a:rPr b="0" i="0" lang="en-US" sz="2800" u="none">
                <a:solidFill>
                  <a:schemeClr val="dk1"/>
                </a:solidFill>
                <a:latin typeface="Arial"/>
                <a:ea typeface="Arial"/>
                <a:cs typeface="Arial"/>
                <a:sym typeface="Arial"/>
              </a:rPr>
              <a:t> – tìm kiếm theo chiều rộng) là một trong những giải thuật đơn giản nhất để tìm kiếm (duyệt) trên đồ thị và là cơ sở cho nhiều thuật toán đồ thị khác</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đồ thị </a:t>
            </a:r>
            <a:r>
              <a:rPr b="0" i="1" lang="en-US" sz="2800" u="none">
                <a:solidFill>
                  <a:schemeClr val="accent2"/>
                </a:solidFill>
                <a:latin typeface="Courier New"/>
                <a:ea typeface="Courier New"/>
                <a:cs typeface="Courier New"/>
                <a:sym typeface="Courier New"/>
              </a:rPr>
              <a:t>G</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E</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và đỉnh xuất phát là v. Khác với DFS, sau khi thăm v, các đỉnh chưa được thăm kề với v sẽ được thăm kế tiếp nhau rồi mới đến các đỉnh chưa được thăm kề với các đỉnh này, và cứ tương tự như vậy.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265" name="Shape 265"/>
        <p:cNvGrpSpPr/>
        <p:nvPr/>
      </p:nvGrpSpPr>
      <p:grpSpPr>
        <a:xfrm>
          <a:off x="0" y="0"/>
          <a:ext cx="0" cy="0"/>
          <a:chOff x="0" y="0"/>
          <a:chExt cx="0" cy="0"/>
        </a:xfrm>
      </p:grpSpPr>
      <p:sp>
        <p:nvSpPr>
          <p:cNvPr id="266" name="Google Shape;266;p27"/>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BFS</a:t>
            </a:r>
            <a:endParaRPr/>
          </a:p>
        </p:txBody>
      </p:sp>
      <p:sp>
        <p:nvSpPr>
          <p:cNvPr id="267" name="Google Shape;267;p27"/>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52400" lvl="1" marL="0" marR="0" rtl="0" algn="just">
              <a:lnSpc>
                <a:spcPct val="9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 Xuất từ một đỉnh v bất kỳ của đồ thị G, chúng ta thực hiện như sau: </a:t>
            </a:r>
            <a:endParaRPr/>
          </a:p>
          <a:p>
            <a:pPr indent="-152400" lvl="1" marL="0" marR="0" rtl="0" algn="just">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 Bước 1: đánh dấu đã duyệt cho một đỉnh v bất kỳ.</a:t>
            </a:r>
            <a:endParaRPr/>
          </a:p>
          <a:p>
            <a:pPr indent="-152400" lvl="1" marL="0" marR="0" rtl="0" algn="just">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 Bước 2: chọn đỉnh v đã được duyệt nhưng có đỉnh kề chưa được duyệt. Việc chọn đỉnh v được xét ưu tiên cho các đỉnh được đánh dấu duyệt sớm.</a:t>
            </a:r>
            <a:endParaRPr/>
          </a:p>
          <a:p>
            <a:pPr indent="-152400" lvl="1" marL="0" marR="0" rtl="0" algn="just">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 Bước 3: thực hiện đánh dấu đã duyệt với tất cả các đỉnh w kề với v, </a:t>
            </a:r>
            <a:endParaRPr/>
          </a:p>
          <a:p>
            <a:pPr indent="-152400" lvl="1" marL="0" marR="0" rtl="0" algn="just">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 Bước 4: làm lại bước 2 cho đến khi tất cả các đỉnh được duyệt.</a:t>
            </a:r>
            <a:endParaRPr/>
          </a:p>
          <a:p>
            <a:pPr indent="-311150" lvl="0" marL="463550" marR="0" rtl="0" algn="l">
              <a:spcBef>
                <a:spcPts val="480"/>
              </a:spcBef>
              <a:spcAft>
                <a:spcPts val="0"/>
              </a:spcAft>
              <a:buClr>
                <a:schemeClr val="dk1"/>
              </a:buClr>
              <a:buSzPts val="2400"/>
              <a:buFont typeface="Noto Sans Symbols"/>
              <a:buNone/>
            </a:pPr>
            <a:r>
              <a:t/>
            </a:r>
            <a:endParaRPr b="0" i="0" sz="2400" u="none" cap="none" strike="noStrike">
              <a:solidFill>
                <a:schemeClr val="dk1"/>
              </a:solidFill>
              <a:latin typeface="Arial"/>
              <a:ea typeface="Arial"/>
              <a:cs typeface="Arial"/>
              <a:sym typeface="Arial"/>
            </a:endParaRPr>
          </a:p>
        </p:txBody>
      </p:sp>
      <p:grpSp>
        <p:nvGrpSpPr>
          <p:cNvPr id="268" name="Google Shape;268;p27"/>
          <p:cNvGrpSpPr/>
          <p:nvPr/>
        </p:nvGrpSpPr>
        <p:grpSpPr>
          <a:xfrm>
            <a:off x="2362200" y="4572000"/>
            <a:ext cx="4953000" cy="1985962"/>
            <a:chOff x="5810251" y="4362450"/>
            <a:chExt cx="2752725" cy="2058058"/>
          </a:xfrm>
        </p:grpSpPr>
        <p:pic>
          <p:nvPicPr>
            <p:cNvPr id="269" name="Google Shape;269;p27"/>
            <p:cNvPicPr preferRelativeResize="0"/>
            <p:nvPr/>
          </p:nvPicPr>
          <p:blipFill rotWithShape="1">
            <a:blip r:embed="rId3">
              <a:alphaModFix/>
            </a:blip>
            <a:srcRect b="0" l="0" r="0" t="0"/>
            <a:stretch/>
          </p:blipFill>
          <p:spPr>
            <a:xfrm>
              <a:off x="5810251" y="4362450"/>
              <a:ext cx="2752725" cy="1933575"/>
            </a:xfrm>
            <a:prstGeom prst="rect">
              <a:avLst/>
            </a:prstGeom>
            <a:noFill/>
            <a:ln>
              <a:noFill/>
            </a:ln>
          </p:spPr>
        </p:pic>
        <p:sp>
          <p:nvSpPr>
            <p:cNvPr id="270" name="Google Shape;270;p27"/>
            <p:cNvSpPr txBox="1"/>
            <p:nvPr/>
          </p:nvSpPr>
          <p:spPr>
            <a:xfrm>
              <a:off x="6953691" y="6020398"/>
              <a:ext cx="72968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BFS</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274" name="Shape 274"/>
        <p:cNvGrpSpPr/>
        <p:nvPr/>
      </p:nvGrpSpPr>
      <p:grpSpPr>
        <a:xfrm>
          <a:off x="0" y="0"/>
          <a:ext cx="0" cy="0"/>
          <a:chOff x="0" y="0"/>
          <a:chExt cx="0" cy="0"/>
        </a:xfrm>
      </p:grpSpPr>
      <p:sp>
        <p:nvSpPr>
          <p:cNvPr id="275" name="Google Shape;275;p28"/>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BFS</a:t>
            </a:r>
            <a:endParaRPr/>
          </a:p>
        </p:txBody>
      </p:sp>
      <p:sp>
        <p:nvSpPr>
          <p:cNvPr id="276" name="Google Shape;276;p28"/>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spcBef>
                <a:spcPts val="0"/>
              </a:spcBef>
              <a:spcAft>
                <a:spcPts val="0"/>
              </a:spcAft>
              <a:buClr>
                <a:schemeClr val="dk1"/>
              </a:buClr>
              <a:buSzPts val="2800"/>
              <a:buFont typeface="Noto Sans Symbols"/>
              <a:buNone/>
            </a:pPr>
            <a:r>
              <a:t/>
            </a:r>
            <a:endParaRPr sz="2800">
              <a:solidFill>
                <a:schemeClr val="dk1"/>
              </a:solidFill>
              <a:latin typeface="Arial"/>
              <a:ea typeface="Arial"/>
              <a:cs typeface="Arial"/>
              <a:sym typeface="Arial"/>
            </a:endParaRPr>
          </a:p>
        </p:txBody>
      </p:sp>
      <p:pic>
        <p:nvPicPr>
          <p:cNvPr id="277" name="Google Shape;277;p28"/>
          <p:cNvPicPr preferRelativeResize="0"/>
          <p:nvPr/>
        </p:nvPicPr>
        <p:blipFill rotWithShape="1">
          <a:blip r:embed="rId3">
            <a:alphaModFix/>
          </a:blip>
          <a:srcRect b="0" l="0" r="0" t="0"/>
          <a:stretch/>
        </p:blipFill>
        <p:spPr>
          <a:xfrm>
            <a:off x="914400" y="2057400"/>
            <a:ext cx="7883525" cy="3314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281" name="Shape 281"/>
        <p:cNvGrpSpPr/>
        <p:nvPr/>
      </p:nvGrpSpPr>
      <p:grpSpPr>
        <a:xfrm>
          <a:off x="0" y="0"/>
          <a:ext cx="0" cy="0"/>
          <a:chOff x="0" y="0"/>
          <a:chExt cx="0" cy="0"/>
        </a:xfrm>
      </p:grpSpPr>
      <p:sp>
        <p:nvSpPr>
          <p:cNvPr id="282" name="Google Shape;282;p29"/>
          <p:cNvSpPr txBox="1"/>
          <p:nvPr>
            <p:ph idx="1" type="body"/>
          </p:nvPr>
        </p:nvSpPr>
        <p:spPr>
          <a:xfrm>
            <a:off x="823912" y="1066800"/>
            <a:ext cx="8320087" cy="1371600"/>
          </a:xfrm>
          <a:prstGeom prst="rect">
            <a:avLst/>
          </a:prstGeom>
          <a:noFill/>
          <a:ln>
            <a:noFill/>
          </a:ln>
        </p:spPr>
        <p:txBody>
          <a:bodyPr anchorCtr="0" anchor="t" bIns="45700" lIns="91425" spcFirstLastPara="1" rIns="91425" wrap="square" tIns="45700">
            <a:noAutofit/>
          </a:bodyPr>
          <a:lstStyle/>
          <a:p>
            <a:pPr indent="0" lvl="1" marL="0" rtl="0" algn="just">
              <a:lnSpc>
                <a:spcPct val="90000"/>
              </a:lnSpc>
              <a:spcBef>
                <a:spcPts val="0"/>
              </a:spcBef>
              <a:spcAft>
                <a:spcPts val="0"/>
              </a:spcAft>
              <a:buClr>
                <a:schemeClr val="dk1"/>
              </a:buClr>
              <a:buSzPts val="2800"/>
              <a:buNone/>
            </a:pPr>
            <a:r>
              <a:rPr b="1" i="0" lang="en-US" sz="2800" u="none">
                <a:solidFill>
                  <a:schemeClr val="dk1"/>
                </a:solidFill>
                <a:latin typeface="Arial"/>
                <a:ea typeface="Arial"/>
                <a:cs typeface="Arial"/>
                <a:sym typeface="Arial"/>
              </a:rPr>
              <a:t>Ví dụ:</a:t>
            </a:r>
            <a:endParaRPr/>
          </a:p>
          <a:p>
            <a:pPr indent="0" lvl="1" marL="0" rtl="0" algn="just">
              <a:lnSpc>
                <a:spcPct val="9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Thực hiện tìm kiếm theo chiều rộng trên đồ thị G dưới đây:</a:t>
            </a:r>
            <a:endParaRPr/>
          </a:p>
          <a:p>
            <a:pPr indent="-463550" lvl="0" marL="463550" rtl="0" algn="l">
              <a:lnSpc>
                <a:spcPct val="100000"/>
              </a:lnSpc>
              <a:spcBef>
                <a:spcPts val="480"/>
              </a:spcBef>
              <a:spcAft>
                <a:spcPts val="0"/>
              </a:spcAft>
              <a:buClr>
                <a:schemeClr val="dk1"/>
              </a:buClr>
              <a:buSzPts val="2400"/>
              <a:buNone/>
            </a:pPr>
            <a:r>
              <a:t/>
            </a:r>
            <a:endParaRPr b="0" i="0" sz="2400" u="none">
              <a:solidFill>
                <a:schemeClr val="dk1"/>
              </a:solidFill>
              <a:latin typeface="Arial"/>
              <a:ea typeface="Arial"/>
              <a:cs typeface="Arial"/>
              <a:sym typeface="Arial"/>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p:txBody>
      </p:sp>
      <p:sp>
        <p:nvSpPr>
          <p:cNvPr id="283" name="Google Shape;283;p29"/>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Giải thuật BFS</a:t>
            </a:r>
            <a:endParaRPr/>
          </a:p>
        </p:txBody>
      </p:sp>
      <p:grpSp>
        <p:nvGrpSpPr>
          <p:cNvPr id="284" name="Google Shape;284;p29"/>
          <p:cNvGrpSpPr/>
          <p:nvPr/>
        </p:nvGrpSpPr>
        <p:grpSpPr>
          <a:xfrm>
            <a:off x="2117725" y="2797175"/>
            <a:ext cx="4783206" cy="2003425"/>
            <a:chOff x="2403474" y="3565525"/>
            <a:chExt cx="2551150" cy="1008062"/>
          </a:xfrm>
        </p:grpSpPr>
        <p:sp>
          <p:nvSpPr>
            <p:cNvPr id="285" name="Google Shape;285;p29"/>
            <p:cNvSpPr/>
            <p:nvPr/>
          </p:nvSpPr>
          <p:spPr>
            <a:xfrm>
              <a:off x="2409824" y="3565525"/>
              <a:ext cx="347663"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v1</a:t>
              </a:r>
              <a:endParaRPr>
                <a:solidFill>
                  <a:schemeClr val="lt1"/>
                </a:solidFill>
              </a:endParaRPr>
            </a:p>
          </p:txBody>
        </p:sp>
        <p:sp>
          <p:nvSpPr>
            <p:cNvPr id="286" name="Google Shape;286;p29"/>
            <p:cNvSpPr/>
            <p:nvPr/>
          </p:nvSpPr>
          <p:spPr>
            <a:xfrm>
              <a:off x="3121024" y="3565525"/>
              <a:ext cx="347663" cy="347662"/>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v2</a:t>
              </a:r>
              <a:endParaRPr>
                <a:solidFill>
                  <a:schemeClr val="lt1"/>
                </a:solidFill>
              </a:endParaRPr>
            </a:p>
          </p:txBody>
        </p:sp>
        <p:sp>
          <p:nvSpPr>
            <p:cNvPr id="287" name="Google Shape;287;p29"/>
            <p:cNvSpPr/>
            <p:nvPr/>
          </p:nvSpPr>
          <p:spPr>
            <a:xfrm>
              <a:off x="3116262" y="4213225"/>
              <a:ext cx="347662"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rgbClr val="333333"/>
                  </a:solidFill>
                  <a:latin typeface="Times New Roman"/>
                  <a:ea typeface="Times New Roman"/>
                  <a:cs typeface="Times New Roman"/>
                  <a:sym typeface="Times New Roman"/>
                </a:rPr>
                <a:t>v6</a:t>
              </a:r>
              <a:endParaRPr>
                <a:solidFill>
                  <a:srgbClr val="333333"/>
                </a:solidFill>
              </a:endParaRPr>
            </a:p>
          </p:txBody>
        </p:sp>
        <p:sp>
          <p:nvSpPr>
            <p:cNvPr id="288" name="Google Shape;288;p29"/>
            <p:cNvSpPr/>
            <p:nvPr/>
          </p:nvSpPr>
          <p:spPr>
            <a:xfrm>
              <a:off x="3857624" y="3565525"/>
              <a:ext cx="347663"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v3</a:t>
              </a:r>
              <a:endParaRPr>
                <a:solidFill>
                  <a:schemeClr val="lt1"/>
                </a:solidFill>
              </a:endParaRPr>
            </a:p>
          </p:txBody>
        </p:sp>
        <p:sp>
          <p:nvSpPr>
            <p:cNvPr id="289" name="Google Shape;289;p29"/>
            <p:cNvSpPr/>
            <p:nvPr/>
          </p:nvSpPr>
          <p:spPr>
            <a:xfrm>
              <a:off x="4606924" y="3565525"/>
              <a:ext cx="347663"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v4</a:t>
              </a:r>
              <a:endParaRPr>
                <a:solidFill>
                  <a:schemeClr val="lt1"/>
                </a:solidFill>
              </a:endParaRPr>
            </a:p>
          </p:txBody>
        </p:sp>
        <p:sp>
          <p:nvSpPr>
            <p:cNvPr id="290" name="Google Shape;290;p29"/>
            <p:cNvSpPr/>
            <p:nvPr/>
          </p:nvSpPr>
          <p:spPr>
            <a:xfrm>
              <a:off x="3857624" y="4217987"/>
              <a:ext cx="347663" cy="347663"/>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v7</a:t>
              </a:r>
              <a:endParaRPr>
                <a:solidFill>
                  <a:schemeClr val="lt1"/>
                </a:solidFill>
              </a:endParaRPr>
            </a:p>
          </p:txBody>
        </p:sp>
        <p:sp>
          <p:nvSpPr>
            <p:cNvPr id="291" name="Google Shape;291;p29"/>
            <p:cNvSpPr/>
            <p:nvPr/>
          </p:nvSpPr>
          <p:spPr>
            <a:xfrm>
              <a:off x="4606924" y="4213225"/>
              <a:ext cx="347700" cy="347700"/>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rgbClr val="333333"/>
                  </a:solidFill>
                  <a:latin typeface="Times New Roman"/>
                  <a:ea typeface="Times New Roman"/>
                  <a:cs typeface="Times New Roman"/>
                  <a:sym typeface="Times New Roman"/>
                </a:rPr>
                <a:t>v8</a:t>
              </a:r>
              <a:endParaRPr>
                <a:solidFill>
                  <a:srgbClr val="333333"/>
                </a:solidFill>
              </a:endParaRPr>
            </a:p>
          </p:txBody>
        </p:sp>
        <p:cxnSp>
          <p:nvCxnSpPr>
            <p:cNvPr id="292" name="Google Shape;292;p29"/>
            <p:cNvCxnSpPr/>
            <p:nvPr/>
          </p:nvCxnSpPr>
          <p:spPr>
            <a:xfrm>
              <a:off x="2763837" y="3743325"/>
              <a:ext cx="352425" cy="0"/>
            </a:xfrm>
            <a:prstGeom prst="straightConnector1">
              <a:avLst/>
            </a:prstGeom>
            <a:noFill/>
            <a:ln cap="flat" cmpd="sng" w="9525">
              <a:solidFill>
                <a:schemeClr val="dk1"/>
              </a:solidFill>
              <a:prstDash val="solid"/>
              <a:miter lim="800000"/>
              <a:headEnd len="med" w="med" type="none"/>
              <a:tailEnd len="med" w="med" type="none"/>
            </a:ln>
          </p:spPr>
        </p:cxnSp>
        <p:cxnSp>
          <p:nvCxnSpPr>
            <p:cNvPr id="293" name="Google Shape;293;p29"/>
            <p:cNvCxnSpPr/>
            <p:nvPr/>
          </p:nvCxnSpPr>
          <p:spPr>
            <a:xfrm>
              <a:off x="4205287" y="3743325"/>
              <a:ext cx="401637" cy="0"/>
            </a:xfrm>
            <a:prstGeom prst="straightConnector1">
              <a:avLst/>
            </a:prstGeom>
            <a:noFill/>
            <a:ln cap="flat" cmpd="sng" w="9525">
              <a:solidFill>
                <a:schemeClr val="dk1"/>
              </a:solidFill>
              <a:prstDash val="solid"/>
              <a:miter lim="800000"/>
              <a:headEnd len="med" w="med" type="none"/>
              <a:tailEnd len="med" w="med" type="none"/>
            </a:ln>
          </p:spPr>
        </p:cxnSp>
        <p:cxnSp>
          <p:nvCxnSpPr>
            <p:cNvPr id="294" name="Google Shape;294;p29"/>
            <p:cNvCxnSpPr/>
            <p:nvPr/>
          </p:nvCxnSpPr>
          <p:spPr>
            <a:xfrm>
              <a:off x="3297237" y="3913187"/>
              <a:ext cx="0" cy="300038"/>
            </a:xfrm>
            <a:prstGeom prst="straightConnector1">
              <a:avLst/>
            </a:prstGeom>
            <a:noFill/>
            <a:ln cap="flat" cmpd="sng" w="9525">
              <a:solidFill>
                <a:schemeClr val="dk1"/>
              </a:solidFill>
              <a:prstDash val="solid"/>
              <a:miter lim="800000"/>
              <a:headEnd len="med" w="med" type="none"/>
              <a:tailEnd len="med" w="med" type="none"/>
            </a:ln>
          </p:spPr>
        </p:cxnSp>
        <p:cxnSp>
          <p:nvCxnSpPr>
            <p:cNvPr id="295" name="Google Shape;295;p29"/>
            <p:cNvCxnSpPr/>
            <p:nvPr/>
          </p:nvCxnSpPr>
          <p:spPr>
            <a:xfrm>
              <a:off x="4030662" y="3913187"/>
              <a:ext cx="0" cy="304800"/>
            </a:xfrm>
            <a:prstGeom prst="straightConnector1">
              <a:avLst/>
            </a:prstGeom>
            <a:noFill/>
            <a:ln cap="flat" cmpd="sng" w="9525">
              <a:solidFill>
                <a:schemeClr val="dk1"/>
              </a:solidFill>
              <a:prstDash val="solid"/>
              <a:miter lim="800000"/>
              <a:headEnd len="med" w="med" type="none"/>
              <a:tailEnd len="med" w="med" type="none"/>
            </a:ln>
          </p:spPr>
        </p:cxnSp>
        <p:cxnSp>
          <p:nvCxnSpPr>
            <p:cNvPr id="296" name="Google Shape;296;p29"/>
            <p:cNvCxnSpPr/>
            <p:nvPr/>
          </p:nvCxnSpPr>
          <p:spPr>
            <a:xfrm>
              <a:off x="4783137" y="3913187"/>
              <a:ext cx="0" cy="300038"/>
            </a:xfrm>
            <a:prstGeom prst="straightConnector1">
              <a:avLst/>
            </a:prstGeom>
            <a:noFill/>
            <a:ln cap="flat" cmpd="sng" w="9525">
              <a:solidFill>
                <a:schemeClr val="dk1"/>
              </a:solidFill>
              <a:prstDash val="solid"/>
              <a:miter lim="800000"/>
              <a:headEnd len="med" w="med" type="none"/>
              <a:tailEnd len="med" w="med" type="none"/>
            </a:ln>
          </p:spPr>
        </p:cxnSp>
        <p:cxnSp>
          <p:nvCxnSpPr>
            <p:cNvPr id="297" name="Google Shape;297;p29"/>
            <p:cNvCxnSpPr/>
            <p:nvPr/>
          </p:nvCxnSpPr>
          <p:spPr>
            <a:xfrm>
              <a:off x="3478212" y="4391025"/>
              <a:ext cx="381000" cy="0"/>
            </a:xfrm>
            <a:prstGeom prst="straightConnector1">
              <a:avLst/>
            </a:prstGeom>
            <a:noFill/>
            <a:ln cap="flat" cmpd="sng" w="9525">
              <a:solidFill>
                <a:schemeClr val="dk1"/>
              </a:solidFill>
              <a:prstDash val="solid"/>
              <a:miter lim="800000"/>
              <a:headEnd len="med" w="med" type="none"/>
              <a:tailEnd len="med" w="med" type="none"/>
            </a:ln>
          </p:spPr>
        </p:cxnSp>
        <p:cxnSp>
          <p:nvCxnSpPr>
            <p:cNvPr id="298" name="Google Shape;298;p29"/>
            <p:cNvCxnSpPr/>
            <p:nvPr/>
          </p:nvCxnSpPr>
          <p:spPr>
            <a:xfrm>
              <a:off x="4205287" y="4391025"/>
              <a:ext cx="401637" cy="0"/>
            </a:xfrm>
            <a:prstGeom prst="straightConnector1">
              <a:avLst/>
            </a:prstGeom>
            <a:noFill/>
            <a:ln cap="flat" cmpd="sng" w="9525">
              <a:solidFill>
                <a:schemeClr val="dk1"/>
              </a:solidFill>
              <a:prstDash val="solid"/>
              <a:miter lim="800000"/>
              <a:headEnd len="med" w="med" type="none"/>
              <a:tailEnd len="med" w="med" type="none"/>
            </a:ln>
          </p:spPr>
        </p:cxnSp>
        <p:cxnSp>
          <p:nvCxnSpPr>
            <p:cNvPr id="299" name="Google Shape;299;p29"/>
            <p:cNvCxnSpPr/>
            <p:nvPr/>
          </p:nvCxnSpPr>
          <p:spPr>
            <a:xfrm flipH="1" rot="10800000">
              <a:off x="3416299" y="3849687"/>
              <a:ext cx="474663" cy="419100"/>
            </a:xfrm>
            <a:prstGeom prst="straightConnector1">
              <a:avLst/>
            </a:prstGeom>
            <a:noFill/>
            <a:ln cap="flat" cmpd="sng" w="9525">
              <a:solidFill>
                <a:schemeClr val="dk1"/>
              </a:solidFill>
              <a:prstDash val="solid"/>
              <a:miter lim="800000"/>
              <a:headEnd len="med" w="med" type="none"/>
              <a:tailEnd len="med" w="med" type="none"/>
            </a:ln>
          </p:spPr>
        </p:cxnSp>
        <p:sp>
          <p:nvSpPr>
            <p:cNvPr id="300" name="Google Shape;300;p29"/>
            <p:cNvSpPr/>
            <p:nvPr/>
          </p:nvSpPr>
          <p:spPr>
            <a:xfrm>
              <a:off x="2403474" y="4225925"/>
              <a:ext cx="347663" cy="347662"/>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lt1"/>
                  </a:solidFill>
                  <a:latin typeface="Times New Roman"/>
                  <a:ea typeface="Times New Roman"/>
                  <a:cs typeface="Times New Roman"/>
                  <a:sym typeface="Times New Roman"/>
                </a:rPr>
                <a:t>v5</a:t>
              </a:r>
              <a:endParaRPr>
                <a:solidFill>
                  <a:schemeClr val="lt1"/>
                </a:solidFill>
              </a:endParaRPr>
            </a:p>
          </p:txBody>
        </p:sp>
        <p:cxnSp>
          <p:nvCxnSpPr>
            <p:cNvPr id="301" name="Google Shape;301;p29"/>
            <p:cNvCxnSpPr/>
            <p:nvPr/>
          </p:nvCxnSpPr>
          <p:spPr>
            <a:xfrm>
              <a:off x="2582862" y="3914775"/>
              <a:ext cx="0" cy="314325"/>
            </a:xfrm>
            <a:prstGeom prst="straightConnector1">
              <a:avLst/>
            </a:prstGeom>
            <a:noFill/>
            <a:ln cap="flat" cmpd="sng" w="9525">
              <a:solidFill>
                <a:schemeClr val="dk1"/>
              </a:solidFill>
              <a:prstDash val="solid"/>
              <a:miter lim="800000"/>
              <a:headEnd len="med" w="med" type="none"/>
              <a:tailEnd len="med" w="med" type="none"/>
            </a:ln>
          </p:spPr>
        </p:cxnSp>
      </p:grpSp>
      <p:graphicFrame>
        <p:nvGraphicFramePr>
          <p:cNvPr id="302" name="Google Shape;302;p29"/>
          <p:cNvGraphicFramePr/>
          <p:nvPr/>
        </p:nvGraphicFramePr>
        <p:xfrm>
          <a:off x="3467100" y="5554662"/>
          <a:ext cx="3000000" cy="3000000"/>
        </p:xfrm>
        <a:graphic>
          <a:graphicData uri="http://schemas.openxmlformats.org/drawingml/2006/table">
            <a:tbl>
              <a:tblPr>
                <a:noFill/>
                <a:tableStyleId>{98F7A3A4-9285-4512-8C96-6F086EBBC042}</a:tableStyleId>
              </a:tblPr>
              <a:tblGrid>
                <a:gridCol w="552450"/>
                <a:gridCol w="601650"/>
                <a:gridCol w="682625"/>
                <a:gridCol w="641350"/>
                <a:gridCol w="628650"/>
                <a:gridCol w="638175"/>
                <a:gridCol w="636575"/>
                <a:gridCol w="638175"/>
              </a:tblGrid>
              <a:tr h="371475">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Q8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698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v4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v8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bl>
          </a:graphicData>
        </a:graphic>
      </p:graphicFrame>
      <p:cxnSp>
        <p:nvCxnSpPr>
          <p:cNvPr id="303" name="Google Shape;303;p29"/>
          <p:cNvCxnSpPr/>
          <p:nvPr/>
        </p:nvCxnSpPr>
        <p:spPr>
          <a:xfrm flipH="1" rot="10800000">
            <a:off x="2871787" y="2986087"/>
            <a:ext cx="557212" cy="14287"/>
          </a:xfrm>
          <a:prstGeom prst="straightConnector1">
            <a:avLst/>
          </a:prstGeom>
          <a:noFill/>
          <a:ln cap="flat" cmpd="sng" w="38100">
            <a:solidFill>
              <a:srgbClr val="B6DCDF"/>
            </a:solidFill>
            <a:prstDash val="solid"/>
            <a:miter lim="800000"/>
            <a:headEnd len="med" w="med" type="none"/>
            <a:tailEnd len="med" w="med" type="stealth"/>
          </a:ln>
        </p:spPr>
      </p:cxnSp>
      <p:cxnSp>
        <p:nvCxnSpPr>
          <p:cNvPr id="304" name="Google Shape;304;p29"/>
          <p:cNvCxnSpPr/>
          <p:nvPr/>
        </p:nvCxnSpPr>
        <p:spPr>
          <a:xfrm rot="5400000">
            <a:off x="3686175" y="3771900"/>
            <a:ext cx="528637" cy="14287"/>
          </a:xfrm>
          <a:prstGeom prst="straightConnector1">
            <a:avLst/>
          </a:prstGeom>
          <a:noFill/>
          <a:ln cap="flat" cmpd="sng" w="38100">
            <a:solidFill>
              <a:srgbClr val="B6DCDF"/>
            </a:solidFill>
            <a:prstDash val="solid"/>
            <a:miter lim="800000"/>
            <a:headEnd len="med" w="med" type="none"/>
            <a:tailEnd len="med" w="med" type="stealth"/>
          </a:ln>
        </p:spPr>
      </p:cxnSp>
      <p:cxnSp>
        <p:nvCxnSpPr>
          <p:cNvPr id="305" name="Google Shape;305;p29"/>
          <p:cNvCxnSpPr/>
          <p:nvPr/>
        </p:nvCxnSpPr>
        <p:spPr>
          <a:xfrm rot="5400000">
            <a:off x="2293143" y="3793331"/>
            <a:ext cx="528637" cy="0"/>
          </a:xfrm>
          <a:prstGeom prst="straightConnector1">
            <a:avLst/>
          </a:prstGeom>
          <a:noFill/>
          <a:ln cap="flat" cmpd="dbl" w="63500">
            <a:solidFill>
              <a:srgbClr val="0070C0"/>
            </a:solidFill>
            <a:prstDash val="solid"/>
            <a:miter lim="800000"/>
            <a:headEnd len="med" w="med" type="none"/>
            <a:tailEnd len="med" w="med" type="stealth"/>
          </a:ln>
        </p:spPr>
      </p:cxnSp>
      <p:cxnSp>
        <p:nvCxnSpPr>
          <p:cNvPr id="306" name="Google Shape;306;p29"/>
          <p:cNvCxnSpPr/>
          <p:nvPr/>
        </p:nvCxnSpPr>
        <p:spPr>
          <a:xfrm>
            <a:off x="4200525" y="4600575"/>
            <a:ext cx="600075" cy="0"/>
          </a:xfrm>
          <a:prstGeom prst="straightConnector1">
            <a:avLst/>
          </a:prstGeom>
          <a:noFill/>
          <a:ln cap="flat" cmpd="dbl" w="63500">
            <a:solidFill>
              <a:srgbClr val="0070C0"/>
            </a:solidFill>
            <a:prstDash val="solid"/>
            <a:miter lim="800000"/>
            <a:headEnd len="med" w="med" type="none"/>
            <a:tailEnd len="med" w="med" type="stealth"/>
          </a:ln>
        </p:spPr>
      </p:cxnSp>
      <p:cxnSp>
        <p:nvCxnSpPr>
          <p:cNvPr id="307" name="Google Shape;307;p29"/>
          <p:cNvCxnSpPr/>
          <p:nvPr/>
        </p:nvCxnSpPr>
        <p:spPr>
          <a:xfrm flipH="1" rot="10800000">
            <a:off x="4171950" y="3371850"/>
            <a:ext cx="500062" cy="457200"/>
          </a:xfrm>
          <a:prstGeom prst="straightConnector1">
            <a:avLst/>
          </a:prstGeom>
          <a:noFill/>
          <a:ln cap="flat" cmpd="sng" w="38100">
            <a:solidFill>
              <a:srgbClr val="B6DCDF"/>
            </a:solidFill>
            <a:prstDash val="solid"/>
            <a:miter lim="800000"/>
            <a:headEnd len="med" w="med" type="none"/>
            <a:tailEnd len="med" w="med" type="stealth"/>
          </a:ln>
        </p:spPr>
      </p:cxnSp>
      <p:cxnSp>
        <p:nvCxnSpPr>
          <p:cNvPr id="308" name="Google Shape;308;p29"/>
          <p:cNvCxnSpPr/>
          <p:nvPr/>
        </p:nvCxnSpPr>
        <p:spPr>
          <a:xfrm flipH="1" rot="10800000">
            <a:off x="5543550" y="3000375"/>
            <a:ext cx="628650" cy="14287"/>
          </a:xfrm>
          <a:prstGeom prst="straightConnector1">
            <a:avLst/>
          </a:prstGeom>
          <a:noFill/>
          <a:ln cap="flat" cmpd="sng" w="38100">
            <a:solidFill>
              <a:srgbClr val="B6DCDF"/>
            </a:solidFill>
            <a:prstDash val="solid"/>
            <a:miter lim="800000"/>
            <a:headEnd len="med" w="med" type="none"/>
            <a:tailEnd len="med" w="med" type="stealth"/>
          </a:ln>
        </p:spPr>
      </p:cxnSp>
      <p:cxnSp>
        <p:nvCxnSpPr>
          <p:cNvPr id="309" name="Google Shape;309;p29"/>
          <p:cNvCxnSpPr/>
          <p:nvPr/>
        </p:nvCxnSpPr>
        <p:spPr>
          <a:xfrm>
            <a:off x="5586412" y="4557712"/>
            <a:ext cx="600075" cy="0"/>
          </a:xfrm>
          <a:prstGeom prst="straightConnector1">
            <a:avLst/>
          </a:prstGeom>
          <a:noFill/>
          <a:ln cap="flat" cmpd="dbl" w="63500">
            <a:solidFill>
              <a:srgbClr val="0070C0"/>
            </a:solidFill>
            <a:prstDash val="solid"/>
            <a:miter lim="800000"/>
            <a:headEnd len="med" w="med" type="none"/>
            <a:tailEnd len="med" w="med" type="stealth"/>
          </a:ln>
        </p:spPr>
      </p:cxnSp>
      <p:sp>
        <p:nvSpPr>
          <p:cNvPr id="310" name="Google Shape;310;p29"/>
          <p:cNvSpPr txBox="1"/>
          <p:nvPr/>
        </p:nvSpPr>
        <p:spPr>
          <a:xfrm>
            <a:off x="700087" y="5943600"/>
            <a:ext cx="2400300" cy="4000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Bảng duyệt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314" name="Shape 314"/>
        <p:cNvGrpSpPr/>
        <p:nvPr/>
      </p:nvGrpSpPr>
      <p:grpSpPr>
        <a:xfrm>
          <a:off x="0" y="0"/>
          <a:ext cx="0" cy="0"/>
          <a:chOff x="0" y="0"/>
          <a:chExt cx="0" cy="0"/>
        </a:xfrm>
      </p:grpSpPr>
      <p:sp>
        <p:nvSpPr>
          <p:cNvPr id="315" name="Google Shape;315;p30"/>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BFS</a:t>
            </a:r>
            <a:endParaRPr/>
          </a:p>
        </p:txBody>
      </p:sp>
      <p:sp>
        <p:nvSpPr>
          <p:cNvPr id="316" name="Google Shape;316;p30"/>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2000"/>
              <a:buFont typeface="Noto Sans Symbols"/>
              <a:buNone/>
            </a:pPr>
            <a:r>
              <a:rPr b="1" i="0" lang="en-US" sz="2000" u="none">
                <a:solidFill>
                  <a:schemeClr val="lt1"/>
                </a:solidFill>
                <a:latin typeface="Arial"/>
                <a:ea typeface="Arial"/>
                <a:cs typeface="Arial"/>
                <a:sym typeface="Arial"/>
              </a:rPr>
              <a:t>BFS(v)</a:t>
            </a:r>
            <a:r>
              <a:rPr b="0" i="0" lang="en-US" sz="2000" u="none">
                <a:solidFill>
                  <a:schemeClr val="lt1"/>
                </a:solidFill>
                <a:latin typeface="Arial"/>
                <a:ea typeface="Arial"/>
                <a:cs typeface="Arial"/>
                <a:sym typeface="Arial"/>
              </a:rPr>
              <a:t>  /* Sử dụng queue Q kích thước n, CQINSERT, CQDELETE sử dụng để bổ sung/loại bỏ phần tử */</a:t>
            </a:r>
            <a:endParaRPr>
              <a:solidFill>
                <a:schemeClr val="lt1"/>
              </a:solidFill>
            </a:endParaRPr>
          </a:p>
          <a:p>
            <a:pPr indent="-463550" lvl="0" marL="463550" marR="0" rtl="0" algn="l">
              <a:lnSpc>
                <a:spcPct val="100000"/>
              </a:lnSpc>
              <a:spcBef>
                <a:spcPts val="400"/>
              </a:spcBef>
              <a:spcAft>
                <a:spcPts val="0"/>
              </a:spcAft>
              <a:buClr>
                <a:schemeClr val="lt1"/>
              </a:buClr>
              <a:buSzPts val="2000"/>
              <a:buFont typeface="Noto Sans Symbols"/>
              <a:buAutoNum type="arabicPeriod"/>
            </a:pPr>
            <a:r>
              <a:rPr b="1" i="0" lang="en-US" sz="2000" u="none">
                <a:solidFill>
                  <a:schemeClr val="lt1"/>
                </a:solidFill>
                <a:latin typeface="Arial"/>
                <a:ea typeface="Arial"/>
                <a:cs typeface="Arial"/>
                <a:sym typeface="Arial"/>
              </a:rPr>
              <a:t>VISITED(v</a:t>
            </a:r>
            <a:r>
              <a:rPr b="0" i="0" lang="en-US" sz="2000" u="none">
                <a:solidFill>
                  <a:schemeClr val="lt1"/>
                </a:solidFill>
                <a:latin typeface="Arial"/>
                <a:ea typeface="Arial"/>
                <a:cs typeface="Arial"/>
                <a:sym typeface="Arial"/>
              </a:rPr>
              <a:t>)=1;</a:t>
            </a:r>
            <a:endParaRPr>
              <a:solidFill>
                <a:schemeClr val="lt1"/>
              </a:solidFill>
            </a:endParaRPr>
          </a:p>
          <a:p>
            <a:pPr indent="-463550" lvl="0" marL="463550" marR="0" rtl="0" algn="l">
              <a:lnSpc>
                <a:spcPct val="100000"/>
              </a:lnSpc>
              <a:spcBef>
                <a:spcPts val="400"/>
              </a:spcBef>
              <a:spcAft>
                <a:spcPts val="0"/>
              </a:spcAft>
              <a:buClr>
                <a:schemeClr val="lt1"/>
              </a:buClr>
              <a:buSzPts val="2000"/>
              <a:buFont typeface="Noto Sans Symbols"/>
              <a:buAutoNum type="arabicPeriod"/>
            </a:pPr>
            <a:r>
              <a:rPr b="0" i="0" lang="en-US" sz="2000" u="none">
                <a:solidFill>
                  <a:schemeClr val="lt1"/>
                </a:solidFill>
                <a:latin typeface="Arial"/>
                <a:ea typeface="Arial"/>
                <a:cs typeface="Arial"/>
                <a:sym typeface="Arial"/>
              </a:rPr>
              <a:t>Khởi tạo queue Q với v đã được nạp vào</a:t>
            </a:r>
            <a:endParaRPr>
              <a:solidFill>
                <a:schemeClr val="lt1"/>
              </a:solidFill>
            </a:endParaRPr>
          </a:p>
          <a:p>
            <a:pPr indent="-463550" lvl="0" marL="463550" marR="0" rtl="0" algn="l">
              <a:lnSpc>
                <a:spcPct val="100000"/>
              </a:lnSpc>
              <a:spcBef>
                <a:spcPts val="400"/>
              </a:spcBef>
              <a:spcAft>
                <a:spcPts val="0"/>
              </a:spcAft>
              <a:buClr>
                <a:schemeClr val="lt1"/>
              </a:buClr>
              <a:buSzPts val="2000"/>
              <a:buFont typeface="Noto Sans Symbols"/>
              <a:buAutoNum type="arabicPeriod"/>
            </a:pPr>
            <a:r>
              <a:rPr b="0" i="0" lang="en-US" sz="2000" u="none">
                <a:solidFill>
                  <a:schemeClr val="lt1"/>
                </a:solidFill>
                <a:latin typeface="Arial"/>
                <a:ea typeface="Arial"/>
                <a:cs typeface="Arial"/>
                <a:sym typeface="Arial"/>
              </a:rPr>
              <a:t>while (Q không rỗng)</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0" i="0" lang="en-US" sz="2000" u="none">
                <a:solidFill>
                  <a:schemeClr val="lt1"/>
                </a:solidFill>
                <a:latin typeface="Arial"/>
                <a:ea typeface="Arial"/>
                <a:cs typeface="Arial"/>
                <a:sym typeface="Arial"/>
              </a:rPr>
              <a:t>{</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0" i="0" lang="en-US" sz="2000" u="none">
                <a:solidFill>
                  <a:schemeClr val="lt1"/>
                </a:solidFill>
                <a:latin typeface="Arial"/>
                <a:ea typeface="Arial"/>
                <a:cs typeface="Arial"/>
                <a:sym typeface="Arial"/>
              </a:rPr>
              <a:t>  </a:t>
            </a:r>
            <a:r>
              <a:rPr b="1" i="0" lang="en-US" sz="2000" u="none">
                <a:solidFill>
                  <a:schemeClr val="lt1"/>
                </a:solidFill>
                <a:latin typeface="Arial"/>
                <a:ea typeface="Arial"/>
                <a:cs typeface="Arial"/>
                <a:sym typeface="Arial"/>
              </a:rPr>
              <a:t>CQDELETE(v,Q</a:t>
            </a:r>
            <a:r>
              <a:rPr b="0" i="0" lang="en-US" sz="2000" u="none">
                <a:solidFill>
                  <a:schemeClr val="lt1"/>
                </a:solidFill>
                <a:latin typeface="Arial"/>
                <a:ea typeface="Arial"/>
                <a:cs typeface="Arial"/>
                <a:sym typeface="Arial"/>
              </a:rPr>
              <a:t>); //lấy v ra khỏi Q</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0" i="0" lang="en-US" sz="2000" u="none">
                <a:solidFill>
                  <a:schemeClr val="lt1"/>
                </a:solidFill>
                <a:latin typeface="Arial"/>
                <a:ea typeface="Arial"/>
                <a:cs typeface="Arial"/>
                <a:sym typeface="Arial"/>
              </a:rPr>
              <a:t>  for (mỗi w kề với v)</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0" i="0" lang="en-US" sz="2000" u="none">
                <a:solidFill>
                  <a:schemeClr val="lt1"/>
                </a:solidFill>
                <a:latin typeface="Arial"/>
                <a:ea typeface="Arial"/>
                <a:cs typeface="Arial"/>
                <a:sym typeface="Arial"/>
              </a:rPr>
              <a:t>	if (</a:t>
            </a:r>
            <a:r>
              <a:rPr b="1" i="0" lang="en-US" sz="2000" u="none">
                <a:solidFill>
                  <a:schemeClr val="lt1"/>
                </a:solidFill>
                <a:latin typeface="Arial"/>
                <a:ea typeface="Arial"/>
                <a:cs typeface="Arial"/>
                <a:sym typeface="Arial"/>
              </a:rPr>
              <a:t>VISITED(w</a:t>
            </a:r>
            <a:r>
              <a:rPr b="0" i="0" lang="en-US" sz="2000" u="none">
                <a:solidFill>
                  <a:schemeClr val="lt1"/>
                </a:solidFill>
                <a:latin typeface="Arial"/>
                <a:ea typeface="Arial"/>
                <a:cs typeface="Arial"/>
                <a:sym typeface="Arial"/>
              </a:rPr>
              <a:t>)==0)</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0" i="0" lang="en-US" sz="2000" u="none">
                <a:solidFill>
                  <a:schemeClr val="lt1"/>
                </a:solidFill>
                <a:latin typeface="Arial"/>
                <a:ea typeface="Arial"/>
                <a:cs typeface="Arial"/>
                <a:sym typeface="Arial"/>
              </a:rPr>
              <a:t>	{</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0" i="0" lang="en-US" sz="2000" u="none">
                <a:solidFill>
                  <a:schemeClr val="lt1"/>
                </a:solidFill>
                <a:latin typeface="Arial"/>
                <a:ea typeface="Arial"/>
                <a:cs typeface="Arial"/>
                <a:sym typeface="Arial"/>
              </a:rPr>
              <a:t> 		</a:t>
            </a:r>
            <a:r>
              <a:rPr b="1" i="0" lang="en-US" sz="2000" u="none">
                <a:solidFill>
                  <a:schemeClr val="lt1"/>
                </a:solidFill>
                <a:latin typeface="Arial"/>
                <a:ea typeface="Arial"/>
                <a:cs typeface="Arial"/>
                <a:sym typeface="Arial"/>
              </a:rPr>
              <a:t>CQINSERT(w,Q</a:t>
            </a:r>
            <a:r>
              <a:rPr b="0" i="0" lang="en-US" sz="2000" u="none">
                <a:solidFill>
                  <a:schemeClr val="lt1"/>
                </a:solidFill>
                <a:latin typeface="Arial"/>
                <a:ea typeface="Arial"/>
                <a:cs typeface="Arial"/>
                <a:sym typeface="Arial"/>
              </a:rPr>
              <a:t>); //đưa w vào Q</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1" i="0" lang="en-US" sz="2000" u="none">
                <a:solidFill>
                  <a:schemeClr val="lt1"/>
                </a:solidFill>
                <a:latin typeface="Arial"/>
                <a:ea typeface="Arial"/>
                <a:cs typeface="Arial"/>
                <a:sym typeface="Arial"/>
              </a:rPr>
              <a:t>		VISITED</a:t>
            </a:r>
            <a:r>
              <a:rPr b="0" i="0" lang="en-US" sz="2000" u="none">
                <a:solidFill>
                  <a:schemeClr val="lt1"/>
                </a:solidFill>
                <a:latin typeface="Arial"/>
                <a:ea typeface="Arial"/>
                <a:cs typeface="Arial"/>
                <a:sym typeface="Arial"/>
              </a:rPr>
              <a:t>(w)=1;</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0" i="0" lang="en-US" sz="2000" u="none">
                <a:solidFill>
                  <a:schemeClr val="lt1"/>
                </a:solidFill>
                <a:latin typeface="Arial"/>
                <a:ea typeface="Arial"/>
                <a:cs typeface="Arial"/>
                <a:sym typeface="Arial"/>
              </a:rPr>
              <a:t>	}</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0" i="0" lang="en-US" sz="2000" u="none">
                <a:solidFill>
                  <a:schemeClr val="lt1"/>
                </a:solidFill>
                <a:latin typeface="Arial"/>
                <a:ea typeface="Arial"/>
                <a:cs typeface="Arial"/>
                <a:sym typeface="Arial"/>
              </a:rPr>
              <a:t>}</a:t>
            </a:r>
            <a:endParaRPr>
              <a:solidFill>
                <a:schemeClr val="lt1"/>
              </a:solidFill>
            </a:endParaRPr>
          </a:p>
          <a:p>
            <a:pPr indent="-463550" lvl="0" marL="463550" marR="0" rtl="0" algn="l">
              <a:lnSpc>
                <a:spcPct val="100000"/>
              </a:lnSpc>
              <a:spcBef>
                <a:spcPts val="400"/>
              </a:spcBef>
              <a:spcAft>
                <a:spcPts val="0"/>
              </a:spcAft>
              <a:buClr>
                <a:schemeClr val="dk1"/>
              </a:buClr>
              <a:buSzPts val="2000"/>
              <a:buFont typeface="Noto Sans Symbols"/>
              <a:buNone/>
            </a:pPr>
            <a:r>
              <a:rPr b="0" i="0" lang="en-US" sz="2000" u="none">
                <a:solidFill>
                  <a:schemeClr val="lt1"/>
                </a:solidFill>
                <a:latin typeface="Arial"/>
                <a:ea typeface="Arial"/>
                <a:cs typeface="Arial"/>
                <a:sym typeface="Arial"/>
              </a:rPr>
              <a:t>4. return</a:t>
            </a:r>
            <a:endParaRPr>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320" name="Shape 320"/>
        <p:cNvGrpSpPr/>
        <p:nvPr/>
      </p:nvGrpSpPr>
      <p:grpSpPr>
        <a:xfrm>
          <a:off x="0" y="0"/>
          <a:ext cx="0" cy="0"/>
          <a:chOff x="0" y="0"/>
          <a:chExt cx="0" cy="0"/>
        </a:xfrm>
      </p:grpSpPr>
      <p:sp>
        <p:nvSpPr>
          <p:cNvPr id="321" name="Google Shape;321;p31"/>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BFS</a:t>
            </a:r>
            <a:endParaRPr/>
          </a:p>
        </p:txBody>
      </p:sp>
      <p:sp>
        <p:nvSpPr>
          <p:cNvPr id="322" name="Google Shape;322;p31"/>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Nhận xét</a:t>
            </a:r>
            <a:endParaRPr/>
          </a:p>
          <a:p>
            <a:pPr indent="-446087" lvl="1" marL="1023937" marR="0" rtl="0" algn="l">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Nếu G biểu diễn bởi danh sách kề thì chi phí chung là O(E)</a:t>
            </a:r>
            <a:endParaRPr/>
          </a:p>
          <a:p>
            <a:pPr indent="-446087" lvl="1" marL="1023937" marR="0" rtl="0" algn="l">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Nếu G biểu diễn bởi ma trận kề thì câu lệnh for sẽ chi phí O(n) thời gian đối với mỗi đỉnh 🡺 thời gian chi phí toàn bộ là O(n</a:t>
            </a:r>
            <a:r>
              <a:rPr b="0" baseline="30000" i="0" lang="en-US" sz="2800" u="none" cap="none" strike="noStrike">
                <a:solidFill>
                  <a:schemeClr val="dk1"/>
                </a:solidFill>
                <a:latin typeface="Arial"/>
                <a:ea typeface="Arial"/>
                <a:cs typeface="Arial"/>
                <a:sym typeface="Arial"/>
              </a:rPr>
              <a:t>2</a:t>
            </a:r>
            <a:r>
              <a:rPr b="0" i="0" lang="en-US" sz="2800" u="none" cap="none" strike="noStrike">
                <a:solidFill>
                  <a:schemeClr val="dk1"/>
                </a:solidFill>
                <a:latin typeface="Arial"/>
                <a:ea typeface="Arial"/>
                <a:cs typeface="Arial"/>
                <a:sym typeface="Arial"/>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326" name="Shape 326"/>
        <p:cNvGrpSpPr/>
        <p:nvPr/>
      </p:nvGrpSpPr>
      <p:grpSpPr>
        <a:xfrm>
          <a:off x="0" y="0"/>
          <a:ext cx="0" cy="0"/>
          <a:chOff x="0" y="0"/>
          <a:chExt cx="0" cy="0"/>
        </a:xfrm>
      </p:grpSpPr>
      <p:sp>
        <p:nvSpPr>
          <p:cNvPr id="327" name="Google Shape;327;p32"/>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Bài tập</a:t>
            </a:r>
            <a:endParaRPr/>
          </a:p>
        </p:txBody>
      </p:sp>
      <p:sp>
        <p:nvSpPr>
          <p:cNvPr id="328" name="Google Shape;328;p32"/>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1" marL="46355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Thực hiện duyệt đồ thị theo chiều sâu, chiều rộng trên đồ thị G dưới đây:</a:t>
            </a:r>
            <a:endParaRPr/>
          </a:p>
          <a:p>
            <a:pPr indent="-311150" lvl="0" marL="463550" marR="0" rtl="0" algn="l">
              <a:spcBef>
                <a:spcPts val="480"/>
              </a:spcBef>
              <a:spcAft>
                <a:spcPts val="0"/>
              </a:spcAft>
              <a:buClr>
                <a:schemeClr val="dk1"/>
              </a:buClr>
              <a:buSzPts val="2400"/>
              <a:buFont typeface="Noto Sans Symbols"/>
              <a:buNone/>
            </a:pPr>
            <a:r>
              <a:t/>
            </a:r>
            <a:endParaRPr b="0" i="0" sz="2400" u="none" cap="none" strike="noStrike">
              <a:solidFill>
                <a:schemeClr val="dk1"/>
              </a:solidFill>
              <a:latin typeface="Arial"/>
              <a:ea typeface="Arial"/>
              <a:cs typeface="Arial"/>
              <a:sym typeface="Arial"/>
            </a:endParaRPr>
          </a:p>
        </p:txBody>
      </p:sp>
      <p:pic>
        <p:nvPicPr>
          <p:cNvPr id="329" name="Google Shape;329;p32"/>
          <p:cNvPicPr preferRelativeResize="0"/>
          <p:nvPr/>
        </p:nvPicPr>
        <p:blipFill rotWithShape="1">
          <a:blip r:embed="rId3">
            <a:alphaModFix/>
          </a:blip>
          <a:srcRect b="0" l="0" r="0" t="0"/>
          <a:stretch/>
        </p:blipFill>
        <p:spPr>
          <a:xfrm>
            <a:off x="1608138" y="2057400"/>
            <a:ext cx="6526212" cy="3733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334" name="Shape 334"/>
        <p:cNvGrpSpPr/>
        <p:nvPr/>
      </p:nvGrpSpPr>
      <p:grpSpPr>
        <a:xfrm>
          <a:off x="0" y="0"/>
          <a:ext cx="0" cy="0"/>
          <a:chOff x="0" y="0"/>
          <a:chExt cx="0" cy="0"/>
        </a:xfrm>
      </p:grpSpPr>
      <p:sp>
        <p:nvSpPr>
          <p:cNvPr id="335" name="Google Shape;335;p33"/>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 Tính liên thông của đồ thị</a:t>
            </a:r>
            <a:endParaRPr/>
          </a:p>
        </p:txBody>
      </p:sp>
      <p:sp>
        <p:nvSpPr>
          <p:cNvPr id="336" name="Google Shape;336;p33"/>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l">
              <a:lnSpc>
                <a:spcPct val="90000"/>
              </a:lnSpc>
              <a:spcBef>
                <a:spcPts val="0"/>
              </a:spcBef>
              <a:spcAft>
                <a:spcPts val="0"/>
              </a:spcAft>
              <a:buClr>
                <a:schemeClr val="dk1"/>
              </a:buClr>
              <a:buSzPts val="2800"/>
              <a:buFont typeface="Noto Sans Symbols"/>
              <a:buNone/>
            </a:pPr>
            <a:r>
              <a:rPr b="1" i="1" lang="en-US" sz="2800" u="none">
                <a:solidFill>
                  <a:schemeClr val="dk1"/>
                </a:solidFill>
                <a:latin typeface="Arial"/>
                <a:ea typeface="Arial"/>
                <a:cs typeface="Arial"/>
                <a:sym typeface="Arial"/>
              </a:rPr>
              <a:t>Đồ thị liên thông</a:t>
            </a:r>
            <a:r>
              <a:rPr b="0" i="0" lang="en-US" sz="2800" u="none">
                <a:solidFill>
                  <a:schemeClr val="dk1"/>
                </a:solidFill>
                <a:latin typeface="Arial"/>
                <a:ea typeface="Arial"/>
                <a:cs typeface="Arial"/>
                <a:sym typeface="Arial"/>
              </a:rPr>
              <a:t> là một đồ thị mà hai đỉnh bất kỳ liên thông với nhau. </a:t>
            </a:r>
            <a:endParaRPr/>
          </a:p>
          <a:p>
            <a:pPr indent="174625" lvl="0" marL="0" marR="0" rtl="0" algn="l">
              <a:lnSpc>
                <a:spcPct val="90000"/>
              </a:lnSpc>
              <a:spcBef>
                <a:spcPts val="560"/>
              </a:spcBef>
              <a:spcAft>
                <a:spcPts val="0"/>
              </a:spcAft>
              <a:buClr>
                <a:schemeClr val="dk1"/>
              </a:buClr>
              <a:buSzPts val="2800"/>
              <a:buFont typeface="Noto Sans Symbols"/>
              <a:buNone/>
            </a:pPr>
            <a:r>
              <a:rPr b="0" i="1" lang="en-US" sz="2800" u="sng">
                <a:solidFill>
                  <a:schemeClr val="dk1"/>
                </a:solidFill>
                <a:latin typeface="Arial"/>
                <a:ea typeface="Arial"/>
                <a:cs typeface="Arial"/>
                <a:sym typeface="Arial"/>
              </a:rPr>
              <a:t>Ví dụ:</a:t>
            </a:r>
            <a:endParaRPr/>
          </a:p>
        </p:txBody>
      </p:sp>
      <p:grpSp>
        <p:nvGrpSpPr>
          <p:cNvPr id="337" name="Google Shape;337;p33"/>
          <p:cNvGrpSpPr/>
          <p:nvPr/>
        </p:nvGrpSpPr>
        <p:grpSpPr>
          <a:xfrm>
            <a:off x="5360987" y="3354387"/>
            <a:ext cx="3402012" cy="1903412"/>
            <a:chOff x="384" y="1954"/>
            <a:chExt cx="2143" cy="1199"/>
          </a:xfrm>
        </p:grpSpPr>
        <p:sp>
          <p:nvSpPr>
            <p:cNvPr id="338" name="Google Shape;338;p33"/>
            <p:cNvSpPr/>
            <p:nvPr/>
          </p:nvSpPr>
          <p:spPr>
            <a:xfrm>
              <a:off x="384" y="196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39" name="Google Shape;339;p33"/>
            <p:cNvPicPr preferRelativeResize="0"/>
            <p:nvPr/>
          </p:nvPicPr>
          <p:blipFill rotWithShape="1">
            <a:blip r:embed="rId3">
              <a:alphaModFix/>
            </a:blip>
            <a:srcRect b="0" l="0" r="0" t="0"/>
            <a:stretch/>
          </p:blipFill>
          <p:spPr>
            <a:xfrm>
              <a:off x="444" y="2021"/>
              <a:ext cx="221" cy="206"/>
            </a:xfrm>
            <a:prstGeom prst="rect">
              <a:avLst/>
            </a:prstGeom>
            <a:noFill/>
            <a:ln>
              <a:noFill/>
            </a:ln>
          </p:spPr>
        </p:pic>
        <p:sp>
          <p:nvSpPr>
            <p:cNvPr id="340" name="Google Shape;340;p33"/>
            <p:cNvSpPr/>
            <p:nvPr/>
          </p:nvSpPr>
          <p:spPr>
            <a:xfrm>
              <a:off x="1443" y="196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41" name="Google Shape;341;p33"/>
            <p:cNvPicPr preferRelativeResize="0"/>
            <p:nvPr/>
          </p:nvPicPr>
          <p:blipFill rotWithShape="1">
            <a:blip r:embed="rId4">
              <a:alphaModFix/>
            </a:blip>
            <a:srcRect b="0" l="0" r="0" t="0"/>
            <a:stretch/>
          </p:blipFill>
          <p:spPr>
            <a:xfrm>
              <a:off x="1506" y="2032"/>
              <a:ext cx="207" cy="207"/>
            </a:xfrm>
            <a:prstGeom prst="rect">
              <a:avLst/>
            </a:prstGeom>
            <a:noFill/>
            <a:ln>
              <a:noFill/>
            </a:ln>
          </p:spPr>
        </p:pic>
        <p:sp>
          <p:nvSpPr>
            <p:cNvPr id="342" name="Google Shape;342;p33"/>
            <p:cNvSpPr/>
            <p:nvPr/>
          </p:nvSpPr>
          <p:spPr>
            <a:xfrm>
              <a:off x="384" y="281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43" name="Google Shape;343;p33"/>
            <p:cNvPicPr preferRelativeResize="0"/>
            <p:nvPr/>
          </p:nvPicPr>
          <p:blipFill rotWithShape="1">
            <a:blip r:embed="rId5">
              <a:alphaModFix/>
            </a:blip>
            <a:srcRect b="0" l="0" r="0" t="0"/>
            <a:stretch/>
          </p:blipFill>
          <p:spPr>
            <a:xfrm>
              <a:off x="449" y="2882"/>
              <a:ext cx="192" cy="207"/>
            </a:xfrm>
            <a:prstGeom prst="rect">
              <a:avLst/>
            </a:prstGeom>
            <a:noFill/>
            <a:ln>
              <a:noFill/>
            </a:ln>
          </p:spPr>
        </p:pic>
        <p:sp>
          <p:nvSpPr>
            <p:cNvPr id="344" name="Google Shape;344;p33"/>
            <p:cNvSpPr/>
            <p:nvPr/>
          </p:nvSpPr>
          <p:spPr>
            <a:xfrm>
              <a:off x="1443" y="281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45" name="Google Shape;345;p33"/>
            <p:cNvPicPr preferRelativeResize="0"/>
            <p:nvPr/>
          </p:nvPicPr>
          <p:blipFill rotWithShape="1">
            <a:blip r:embed="rId6">
              <a:alphaModFix/>
            </a:blip>
            <a:srcRect b="0" l="0" r="0" t="0"/>
            <a:stretch/>
          </p:blipFill>
          <p:spPr>
            <a:xfrm>
              <a:off x="1504" y="2876"/>
              <a:ext cx="208" cy="223"/>
            </a:xfrm>
            <a:prstGeom prst="rect">
              <a:avLst/>
            </a:prstGeom>
            <a:noFill/>
            <a:ln>
              <a:noFill/>
            </a:ln>
          </p:spPr>
        </p:pic>
        <p:cxnSp>
          <p:nvCxnSpPr>
            <p:cNvPr id="346" name="Google Shape;346;p33"/>
            <p:cNvCxnSpPr/>
            <p:nvPr/>
          </p:nvCxnSpPr>
          <p:spPr>
            <a:xfrm>
              <a:off x="730" y="2985"/>
              <a:ext cx="710" cy="0"/>
            </a:xfrm>
            <a:prstGeom prst="straightConnector1">
              <a:avLst/>
            </a:prstGeom>
            <a:noFill/>
            <a:ln cap="flat" cmpd="sng" w="25400">
              <a:solidFill>
                <a:srgbClr val="000000"/>
              </a:solidFill>
              <a:prstDash val="solid"/>
              <a:miter lim="800000"/>
              <a:headEnd len="med" w="med" type="none"/>
              <a:tailEnd len="med" w="med" type="none"/>
            </a:ln>
          </p:spPr>
        </p:cxnSp>
        <p:cxnSp>
          <p:nvCxnSpPr>
            <p:cNvPr id="347" name="Google Shape;347;p33"/>
            <p:cNvCxnSpPr/>
            <p:nvPr/>
          </p:nvCxnSpPr>
          <p:spPr>
            <a:xfrm rot="5400000">
              <a:off x="1357" y="2559"/>
              <a:ext cx="501" cy="0"/>
            </a:xfrm>
            <a:prstGeom prst="straightConnector1">
              <a:avLst/>
            </a:prstGeom>
            <a:noFill/>
            <a:ln cap="flat" cmpd="sng" w="25400">
              <a:solidFill>
                <a:srgbClr val="000000"/>
              </a:solidFill>
              <a:prstDash val="solid"/>
              <a:miter lim="800000"/>
              <a:headEnd len="med" w="med" type="none"/>
              <a:tailEnd len="med" w="med" type="none"/>
            </a:ln>
          </p:spPr>
        </p:cxnSp>
        <p:cxnSp>
          <p:nvCxnSpPr>
            <p:cNvPr id="348" name="Google Shape;348;p33"/>
            <p:cNvCxnSpPr/>
            <p:nvPr/>
          </p:nvCxnSpPr>
          <p:spPr>
            <a:xfrm rot="5400000">
              <a:off x="763" y="2158"/>
              <a:ext cx="640" cy="792"/>
            </a:xfrm>
            <a:prstGeom prst="straightConnector1">
              <a:avLst/>
            </a:prstGeom>
            <a:noFill/>
            <a:ln cap="flat" cmpd="sng" w="25400">
              <a:solidFill>
                <a:srgbClr val="000000"/>
              </a:solidFill>
              <a:prstDash val="solid"/>
              <a:miter lim="800000"/>
              <a:headEnd len="med" w="med" type="none"/>
              <a:tailEnd len="med" w="med" type="none"/>
            </a:ln>
          </p:spPr>
        </p:cxnSp>
        <p:cxnSp>
          <p:nvCxnSpPr>
            <p:cNvPr id="349" name="Google Shape;349;p33"/>
            <p:cNvCxnSpPr/>
            <p:nvPr/>
          </p:nvCxnSpPr>
          <p:spPr>
            <a:xfrm rot="5400000">
              <a:off x="301" y="2559"/>
              <a:ext cx="501" cy="0"/>
            </a:xfrm>
            <a:prstGeom prst="straightConnector1">
              <a:avLst/>
            </a:prstGeom>
            <a:noFill/>
            <a:ln cap="flat" cmpd="sng" w="25400">
              <a:solidFill>
                <a:srgbClr val="000000"/>
              </a:solidFill>
              <a:prstDash val="solid"/>
              <a:miter lim="800000"/>
              <a:headEnd len="med" w="med" type="none"/>
              <a:tailEnd len="med" w="med" type="none"/>
            </a:ln>
          </p:spPr>
        </p:cxnSp>
        <p:sp>
          <p:nvSpPr>
            <p:cNvPr id="350" name="Google Shape;350;p33"/>
            <p:cNvSpPr/>
            <p:nvPr/>
          </p:nvSpPr>
          <p:spPr>
            <a:xfrm>
              <a:off x="2146" y="195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51" name="Google Shape;351;p33"/>
            <p:cNvPicPr preferRelativeResize="0"/>
            <p:nvPr/>
          </p:nvPicPr>
          <p:blipFill rotWithShape="1">
            <a:blip r:embed="rId7">
              <a:alphaModFix/>
            </a:blip>
            <a:srcRect b="0" l="0" r="0" t="0"/>
            <a:stretch/>
          </p:blipFill>
          <p:spPr>
            <a:xfrm>
              <a:off x="2200" y="2018"/>
              <a:ext cx="224" cy="207"/>
            </a:xfrm>
            <a:prstGeom prst="rect">
              <a:avLst/>
            </a:prstGeom>
            <a:noFill/>
            <a:ln>
              <a:noFill/>
            </a:ln>
          </p:spPr>
        </p:pic>
        <p:sp>
          <p:nvSpPr>
            <p:cNvPr id="352" name="Google Shape;352;p33"/>
            <p:cNvSpPr/>
            <p:nvPr/>
          </p:nvSpPr>
          <p:spPr>
            <a:xfrm>
              <a:off x="2187" y="2813"/>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53" name="Google Shape;353;p33"/>
            <p:cNvPicPr preferRelativeResize="0"/>
            <p:nvPr/>
          </p:nvPicPr>
          <p:blipFill rotWithShape="1">
            <a:blip r:embed="rId8">
              <a:alphaModFix/>
            </a:blip>
            <a:srcRect b="0" l="0" r="0" t="0"/>
            <a:stretch/>
          </p:blipFill>
          <p:spPr>
            <a:xfrm>
              <a:off x="2256" y="2876"/>
              <a:ext cx="192" cy="209"/>
            </a:xfrm>
            <a:prstGeom prst="rect">
              <a:avLst/>
            </a:prstGeom>
            <a:noFill/>
            <a:ln>
              <a:noFill/>
            </a:ln>
          </p:spPr>
        </p:pic>
        <p:cxnSp>
          <p:nvCxnSpPr>
            <p:cNvPr id="354" name="Google Shape;354;p33"/>
            <p:cNvCxnSpPr/>
            <p:nvPr/>
          </p:nvCxnSpPr>
          <p:spPr>
            <a:xfrm flipH="1" rot="-5400000">
              <a:off x="2084" y="2548"/>
              <a:ext cx="506" cy="18"/>
            </a:xfrm>
            <a:prstGeom prst="straightConnector1">
              <a:avLst/>
            </a:prstGeom>
            <a:noFill/>
            <a:ln cap="flat" cmpd="sng" w="25400">
              <a:solidFill>
                <a:srgbClr val="000000"/>
              </a:solidFill>
              <a:prstDash val="solid"/>
              <a:miter lim="800000"/>
              <a:headEnd len="med" w="med" type="none"/>
              <a:tailEnd len="med" w="med" type="none"/>
            </a:ln>
          </p:spPr>
        </p:cxnSp>
      </p:grpSp>
      <p:grpSp>
        <p:nvGrpSpPr>
          <p:cNvPr id="355" name="Google Shape;355;p33"/>
          <p:cNvGrpSpPr/>
          <p:nvPr/>
        </p:nvGrpSpPr>
        <p:grpSpPr>
          <a:xfrm>
            <a:off x="1366837" y="3124200"/>
            <a:ext cx="3357562" cy="2333625"/>
            <a:chOff x="1440" y="2322"/>
            <a:chExt cx="2115" cy="1470"/>
          </a:xfrm>
        </p:grpSpPr>
        <p:sp>
          <p:nvSpPr>
            <p:cNvPr id="356" name="Google Shape;356;p33"/>
            <p:cNvSpPr/>
            <p:nvPr/>
          </p:nvSpPr>
          <p:spPr>
            <a:xfrm>
              <a:off x="1440" y="232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7" name="Google Shape;357;p33"/>
            <p:cNvSpPr/>
            <p:nvPr/>
          </p:nvSpPr>
          <p:spPr>
            <a:xfrm>
              <a:off x="2592" y="232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8" name="Google Shape;358;p33"/>
            <p:cNvSpPr/>
            <p:nvPr/>
          </p:nvSpPr>
          <p:spPr>
            <a:xfrm>
              <a:off x="1440" y="345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9" name="Google Shape;359;p33"/>
            <p:cNvSpPr/>
            <p:nvPr/>
          </p:nvSpPr>
          <p:spPr>
            <a:xfrm>
              <a:off x="2592" y="345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60" name="Google Shape;360;p33"/>
            <p:cNvCxnSpPr/>
            <p:nvPr/>
          </p:nvCxnSpPr>
          <p:spPr>
            <a:xfrm>
              <a:off x="1788" y="3622"/>
              <a:ext cx="796" cy="1"/>
            </a:xfrm>
            <a:prstGeom prst="straightConnector1">
              <a:avLst/>
            </a:prstGeom>
            <a:noFill/>
            <a:ln cap="flat" cmpd="sng" w="25400">
              <a:solidFill>
                <a:srgbClr val="000000"/>
              </a:solidFill>
              <a:prstDash val="solid"/>
              <a:miter lim="800000"/>
              <a:headEnd len="med" w="med" type="none"/>
              <a:tailEnd len="med" w="med" type="none"/>
            </a:ln>
          </p:spPr>
        </p:cxnSp>
        <p:cxnSp>
          <p:nvCxnSpPr>
            <p:cNvPr id="361" name="Google Shape;361;p33"/>
            <p:cNvCxnSpPr/>
            <p:nvPr/>
          </p:nvCxnSpPr>
          <p:spPr>
            <a:xfrm>
              <a:off x="1730" y="2620"/>
              <a:ext cx="912" cy="874"/>
            </a:xfrm>
            <a:prstGeom prst="straightConnector1">
              <a:avLst/>
            </a:prstGeom>
            <a:noFill/>
            <a:ln cap="flat" cmpd="sng" w="25400">
              <a:solidFill>
                <a:srgbClr val="000000"/>
              </a:solidFill>
              <a:prstDash val="solid"/>
              <a:miter lim="800000"/>
              <a:headEnd len="med" w="med" type="none"/>
              <a:tailEnd len="med" w="med" type="none"/>
            </a:ln>
          </p:spPr>
        </p:cxnSp>
        <p:cxnSp>
          <p:nvCxnSpPr>
            <p:cNvPr id="362" name="Google Shape;362;p33"/>
            <p:cNvCxnSpPr/>
            <p:nvPr/>
          </p:nvCxnSpPr>
          <p:spPr>
            <a:xfrm>
              <a:off x="1788" y="2492"/>
              <a:ext cx="796" cy="1"/>
            </a:xfrm>
            <a:prstGeom prst="straightConnector1">
              <a:avLst/>
            </a:prstGeom>
            <a:noFill/>
            <a:ln cap="flat" cmpd="sng" w="25400">
              <a:solidFill>
                <a:srgbClr val="000000"/>
              </a:solidFill>
              <a:prstDash val="solid"/>
              <a:miter lim="800000"/>
              <a:headEnd len="med" w="med" type="none"/>
              <a:tailEnd len="med" w="med" type="none"/>
            </a:ln>
          </p:spPr>
        </p:cxnSp>
        <p:cxnSp>
          <p:nvCxnSpPr>
            <p:cNvPr id="363" name="Google Shape;363;p33"/>
            <p:cNvCxnSpPr/>
            <p:nvPr/>
          </p:nvCxnSpPr>
          <p:spPr>
            <a:xfrm>
              <a:off x="2762" y="2670"/>
              <a:ext cx="0" cy="774"/>
            </a:xfrm>
            <a:prstGeom prst="straightConnector1">
              <a:avLst/>
            </a:prstGeom>
            <a:noFill/>
            <a:ln cap="flat" cmpd="sng" w="25400">
              <a:solidFill>
                <a:srgbClr val="000000"/>
              </a:solidFill>
              <a:prstDash val="solid"/>
              <a:miter lim="800000"/>
              <a:headEnd len="med" w="med" type="none"/>
              <a:tailEnd len="med" w="med" type="none"/>
            </a:ln>
          </p:spPr>
        </p:cxnSp>
        <p:sp>
          <p:nvSpPr>
            <p:cNvPr id="364" name="Google Shape;364;p33"/>
            <p:cNvSpPr/>
            <p:nvPr/>
          </p:nvSpPr>
          <p:spPr>
            <a:xfrm>
              <a:off x="3215" y="288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65" name="Google Shape;365;p33"/>
            <p:cNvCxnSpPr/>
            <p:nvPr/>
          </p:nvCxnSpPr>
          <p:spPr>
            <a:xfrm flipH="1" rot="10800000">
              <a:off x="2882" y="3187"/>
              <a:ext cx="383" cy="307"/>
            </a:xfrm>
            <a:prstGeom prst="straightConnector1">
              <a:avLst/>
            </a:prstGeom>
            <a:noFill/>
            <a:ln cap="flat" cmpd="sng" w="25400">
              <a:solidFill>
                <a:srgbClr val="000000"/>
              </a:solidFill>
              <a:prstDash val="solid"/>
              <a:miter lim="800000"/>
              <a:headEnd len="med" w="med" type="none"/>
              <a:tailEnd len="med" w="med" type="none"/>
            </a:ln>
          </p:spPr>
        </p:cxnSp>
        <p:cxnSp>
          <p:nvCxnSpPr>
            <p:cNvPr id="366" name="Google Shape;366;p33"/>
            <p:cNvCxnSpPr/>
            <p:nvPr/>
          </p:nvCxnSpPr>
          <p:spPr>
            <a:xfrm flipH="1">
              <a:off x="1730" y="2620"/>
              <a:ext cx="912" cy="874"/>
            </a:xfrm>
            <a:prstGeom prst="straightConnector1">
              <a:avLst/>
            </a:prstGeom>
            <a:noFill/>
            <a:ln cap="flat" cmpd="sng" w="25400">
              <a:solidFill>
                <a:srgbClr val="000000"/>
              </a:solidFill>
              <a:prstDash val="solid"/>
              <a:miter lim="800000"/>
              <a:headEnd len="med" w="med" type="none"/>
              <a:tailEnd len="med" w="med" type="none"/>
            </a:ln>
          </p:spPr>
        </p:cxnSp>
        <p:pic>
          <p:nvPicPr>
            <p:cNvPr id="367" name="Google Shape;367;p33"/>
            <p:cNvPicPr preferRelativeResize="0"/>
            <p:nvPr/>
          </p:nvPicPr>
          <p:blipFill rotWithShape="1">
            <a:blip r:embed="rId9">
              <a:alphaModFix/>
            </a:blip>
            <a:srcRect b="0" l="0" r="0" t="0"/>
            <a:stretch/>
          </p:blipFill>
          <p:spPr>
            <a:xfrm>
              <a:off x="1530" y="2380"/>
              <a:ext cx="156" cy="209"/>
            </a:xfrm>
            <a:prstGeom prst="rect">
              <a:avLst/>
            </a:prstGeom>
            <a:noFill/>
            <a:ln>
              <a:noFill/>
            </a:ln>
          </p:spPr>
        </p:pic>
        <p:pic>
          <p:nvPicPr>
            <p:cNvPr id="368" name="Google Shape;368;p33"/>
            <p:cNvPicPr preferRelativeResize="0"/>
            <p:nvPr/>
          </p:nvPicPr>
          <p:blipFill rotWithShape="1">
            <a:blip r:embed="rId10">
              <a:alphaModFix/>
            </a:blip>
            <a:srcRect b="0" l="0" r="0" t="0"/>
            <a:stretch/>
          </p:blipFill>
          <p:spPr>
            <a:xfrm>
              <a:off x="2690" y="2374"/>
              <a:ext cx="156" cy="224"/>
            </a:xfrm>
            <a:prstGeom prst="rect">
              <a:avLst/>
            </a:prstGeom>
            <a:noFill/>
            <a:ln>
              <a:noFill/>
            </a:ln>
          </p:spPr>
        </p:pic>
        <p:pic>
          <p:nvPicPr>
            <p:cNvPr id="369" name="Google Shape;369;p33"/>
            <p:cNvPicPr preferRelativeResize="0"/>
            <p:nvPr/>
          </p:nvPicPr>
          <p:blipFill rotWithShape="1">
            <a:blip r:embed="rId11">
              <a:alphaModFix/>
            </a:blip>
            <a:srcRect b="0" l="0" r="0" t="0"/>
            <a:stretch/>
          </p:blipFill>
          <p:spPr>
            <a:xfrm>
              <a:off x="1512" y="3524"/>
              <a:ext cx="156" cy="208"/>
            </a:xfrm>
            <a:prstGeom prst="rect">
              <a:avLst/>
            </a:prstGeom>
            <a:noFill/>
            <a:ln>
              <a:noFill/>
            </a:ln>
          </p:spPr>
        </p:pic>
        <p:pic>
          <p:nvPicPr>
            <p:cNvPr id="370" name="Google Shape;370;p33"/>
            <p:cNvPicPr preferRelativeResize="0"/>
            <p:nvPr/>
          </p:nvPicPr>
          <p:blipFill rotWithShape="1">
            <a:blip r:embed="rId12">
              <a:alphaModFix/>
            </a:blip>
            <a:srcRect b="0" l="0" r="0" t="0"/>
            <a:stretch/>
          </p:blipFill>
          <p:spPr>
            <a:xfrm>
              <a:off x="2686" y="3518"/>
              <a:ext cx="156" cy="224"/>
            </a:xfrm>
            <a:prstGeom prst="rect">
              <a:avLst/>
            </a:prstGeom>
            <a:noFill/>
            <a:ln>
              <a:noFill/>
            </a:ln>
          </p:spPr>
        </p:pic>
        <p:pic>
          <p:nvPicPr>
            <p:cNvPr id="371" name="Google Shape;371;p33"/>
            <p:cNvPicPr preferRelativeResize="0"/>
            <p:nvPr/>
          </p:nvPicPr>
          <p:blipFill rotWithShape="1">
            <a:blip r:embed="rId13">
              <a:alphaModFix/>
            </a:blip>
            <a:srcRect b="0" l="0" r="0" t="0"/>
            <a:stretch/>
          </p:blipFill>
          <p:spPr>
            <a:xfrm>
              <a:off x="3309" y="2950"/>
              <a:ext cx="157" cy="223"/>
            </a:xfrm>
            <a:prstGeom prst="rect">
              <a:avLst/>
            </a:prstGeom>
            <a:noFill/>
            <a:ln>
              <a:noFill/>
            </a:ln>
          </p:spPr>
        </p:pic>
      </p:grpSp>
      <p:sp>
        <p:nvSpPr>
          <p:cNvPr id="372" name="Google Shape;372;p33"/>
          <p:cNvSpPr txBox="1"/>
          <p:nvPr/>
        </p:nvSpPr>
        <p:spPr>
          <a:xfrm>
            <a:off x="5181600" y="5638800"/>
            <a:ext cx="36576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Không là đồ thị liên thông</a:t>
            </a:r>
            <a:endParaRPr/>
          </a:p>
        </p:txBody>
      </p:sp>
      <p:sp>
        <p:nvSpPr>
          <p:cNvPr id="373" name="Google Shape;373;p33"/>
          <p:cNvSpPr txBox="1"/>
          <p:nvPr/>
        </p:nvSpPr>
        <p:spPr>
          <a:xfrm>
            <a:off x="1143000" y="5592762"/>
            <a:ext cx="31242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Là đồ thị liên thông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378" name="Shape 378"/>
        <p:cNvGrpSpPr/>
        <p:nvPr/>
      </p:nvGrpSpPr>
      <p:grpSpPr>
        <a:xfrm>
          <a:off x="0" y="0"/>
          <a:ext cx="0" cy="0"/>
          <a:chOff x="0" y="0"/>
          <a:chExt cx="0" cy="0"/>
        </a:xfrm>
      </p:grpSpPr>
      <p:sp>
        <p:nvSpPr>
          <p:cNvPr id="379" name="Google Shape;379;p34"/>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 Tính liên thông của đồ thị</a:t>
            </a:r>
            <a:endParaRPr/>
          </a:p>
        </p:txBody>
      </p:sp>
      <p:sp>
        <p:nvSpPr>
          <p:cNvPr id="380" name="Google Shape;380;p34"/>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l">
              <a:lnSpc>
                <a:spcPct val="100000"/>
              </a:lnSpc>
              <a:spcBef>
                <a:spcPts val="0"/>
              </a:spcBef>
              <a:spcAft>
                <a:spcPts val="0"/>
              </a:spcAft>
              <a:buClr>
                <a:schemeClr val="dk1"/>
              </a:buClr>
              <a:buSzPts val="2800"/>
              <a:buFont typeface="Noto Sans Symbols"/>
              <a:buNone/>
            </a:pPr>
            <a:r>
              <a:rPr b="1" i="0" lang="en-US" sz="2800" u="none">
                <a:solidFill>
                  <a:schemeClr val="dk1"/>
                </a:solidFill>
                <a:latin typeface="Arial"/>
                <a:ea typeface="Arial"/>
                <a:cs typeface="Arial"/>
                <a:sym typeface="Arial"/>
              </a:rPr>
              <a:t>Thành phần liên thông</a:t>
            </a:r>
            <a:endParaRPr/>
          </a:p>
          <a:p>
            <a:pPr indent="174625"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Mỗi tập con trong phân hoạch cùng với các cạnh nối các đỉnh của chúng tạo thành một đồ thị thành phần.</a:t>
            </a:r>
            <a:endParaRPr/>
          </a:p>
          <a:p>
            <a:pPr indent="174625"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Đồ thị thành phần này được gọi là </a:t>
            </a:r>
            <a:r>
              <a:rPr b="0" i="0" lang="en-US" sz="2800" u="none">
                <a:solidFill>
                  <a:srgbClr val="FF0000"/>
                </a:solidFill>
                <a:latin typeface="Arial"/>
                <a:ea typeface="Arial"/>
                <a:cs typeface="Arial"/>
                <a:sym typeface="Arial"/>
              </a:rPr>
              <a:t>thành phần liên thông</a:t>
            </a:r>
            <a:r>
              <a:rPr b="0" i="0" lang="en-US" sz="2800" u="none">
                <a:solidFill>
                  <a:schemeClr val="dk1"/>
                </a:solidFill>
                <a:latin typeface="Arial"/>
                <a:ea typeface="Arial"/>
                <a:cs typeface="Arial"/>
                <a:sym typeface="Arial"/>
              </a:rPr>
              <a:t> của đồ thị đã cho.</a:t>
            </a:r>
            <a:endParaRPr/>
          </a:p>
          <a:p>
            <a:pPr indent="174625" lvl="0" marL="0" marR="0" rtl="0" algn="l">
              <a:lnSpc>
                <a:spcPct val="100000"/>
              </a:lnSpc>
              <a:spcBef>
                <a:spcPts val="560"/>
              </a:spcBef>
              <a:spcAft>
                <a:spcPts val="0"/>
              </a:spcAft>
              <a:buClr>
                <a:srgbClr val="FF0000"/>
              </a:buClr>
              <a:buSzPts val="2800"/>
              <a:buFont typeface="Noto Sans Symbols"/>
              <a:buNone/>
            </a:pPr>
            <a:r>
              <a:rPr b="0" i="0" lang="en-US" sz="2800" u="none">
                <a:solidFill>
                  <a:srgbClr val="FF0000"/>
                </a:solidFill>
                <a:latin typeface="Arial"/>
                <a:ea typeface="Arial"/>
                <a:cs typeface="Arial"/>
                <a:sym typeface="Arial"/>
              </a:rPr>
              <a:t>⇒ Một đồ thị không liên thông được chia thành các đồ thị thành phần liên thông.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385" name="Shape 385"/>
        <p:cNvGrpSpPr/>
        <p:nvPr/>
      </p:nvGrpSpPr>
      <p:grpSpPr>
        <a:xfrm>
          <a:off x="0" y="0"/>
          <a:ext cx="0" cy="0"/>
          <a:chOff x="0" y="0"/>
          <a:chExt cx="0" cy="0"/>
        </a:xfrm>
      </p:grpSpPr>
      <p:sp>
        <p:nvSpPr>
          <p:cNvPr id="386" name="Google Shape;386;p35"/>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174625"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Thành phần liên thông</a:t>
            </a:r>
            <a:endParaRPr/>
          </a:p>
        </p:txBody>
      </p:sp>
      <p:sp>
        <p:nvSpPr>
          <p:cNvPr id="387" name="Google Shape;387;p35"/>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2800"/>
              <a:buFont typeface="Noto Sans Symbols"/>
              <a:buNone/>
            </a:pPr>
            <a:r>
              <a:rPr b="0" i="1" lang="en-US" sz="2800" u="sng">
                <a:solidFill>
                  <a:schemeClr val="dk1"/>
                </a:solidFill>
                <a:latin typeface="Arial"/>
                <a:ea typeface="Arial"/>
                <a:cs typeface="Arial"/>
                <a:sym typeface="Arial"/>
              </a:rPr>
              <a:t>Ví dụ:</a:t>
            </a:r>
            <a:endParaRPr/>
          </a:p>
        </p:txBody>
      </p:sp>
      <p:grpSp>
        <p:nvGrpSpPr>
          <p:cNvPr id="388" name="Google Shape;388;p35"/>
          <p:cNvGrpSpPr/>
          <p:nvPr/>
        </p:nvGrpSpPr>
        <p:grpSpPr>
          <a:xfrm>
            <a:off x="1989137" y="2995612"/>
            <a:ext cx="5078412" cy="1881187"/>
            <a:chOff x="1253" y="1248"/>
            <a:chExt cx="3199" cy="1185"/>
          </a:xfrm>
        </p:grpSpPr>
        <p:sp>
          <p:nvSpPr>
            <p:cNvPr id="389" name="Google Shape;389;p35"/>
            <p:cNvSpPr/>
            <p:nvPr/>
          </p:nvSpPr>
          <p:spPr>
            <a:xfrm>
              <a:off x="1253" y="124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90" name="Google Shape;390;p35"/>
            <p:cNvPicPr preferRelativeResize="0"/>
            <p:nvPr/>
          </p:nvPicPr>
          <p:blipFill rotWithShape="1">
            <a:blip r:embed="rId3">
              <a:alphaModFix/>
            </a:blip>
            <a:srcRect b="0" l="0" r="0" t="0"/>
            <a:stretch/>
          </p:blipFill>
          <p:spPr>
            <a:xfrm>
              <a:off x="1313" y="1301"/>
              <a:ext cx="221" cy="206"/>
            </a:xfrm>
            <a:prstGeom prst="rect">
              <a:avLst/>
            </a:prstGeom>
            <a:noFill/>
            <a:ln>
              <a:noFill/>
            </a:ln>
          </p:spPr>
        </p:pic>
        <p:sp>
          <p:nvSpPr>
            <p:cNvPr id="391" name="Google Shape;391;p35"/>
            <p:cNvSpPr/>
            <p:nvPr/>
          </p:nvSpPr>
          <p:spPr>
            <a:xfrm>
              <a:off x="2312" y="124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92" name="Google Shape;392;p35"/>
            <p:cNvPicPr preferRelativeResize="0"/>
            <p:nvPr/>
          </p:nvPicPr>
          <p:blipFill rotWithShape="1">
            <a:blip r:embed="rId4">
              <a:alphaModFix/>
            </a:blip>
            <a:srcRect b="0" l="0" r="0" t="0"/>
            <a:stretch/>
          </p:blipFill>
          <p:spPr>
            <a:xfrm>
              <a:off x="2375" y="1312"/>
              <a:ext cx="207" cy="207"/>
            </a:xfrm>
            <a:prstGeom prst="rect">
              <a:avLst/>
            </a:prstGeom>
            <a:noFill/>
            <a:ln>
              <a:noFill/>
            </a:ln>
          </p:spPr>
        </p:pic>
        <p:sp>
          <p:nvSpPr>
            <p:cNvPr id="393" name="Google Shape;393;p35"/>
            <p:cNvSpPr/>
            <p:nvPr/>
          </p:nvSpPr>
          <p:spPr>
            <a:xfrm>
              <a:off x="1253" y="209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94" name="Google Shape;394;p35"/>
            <p:cNvPicPr preferRelativeResize="0"/>
            <p:nvPr/>
          </p:nvPicPr>
          <p:blipFill rotWithShape="1">
            <a:blip r:embed="rId5">
              <a:alphaModFix/>
            </a:blip>
            <a:srcRect b="0" l="0" r="0" t="0"/>
            <a:stretch/>
          </p:blipFill>
          <p:spPr>
            <a:xfrm>
              <a:off x="1318" y="2162"/>
              <a:ext cx="192" cy="207"/>
            </a:xfrm>
            <a:prstGeom prst="rect">
              <a:avLst/>
            </a:prstGeom>
            <a:noFill/>
            <a:ln>
              <a:noFill/>
            </a:ln>
          </p:spPr>
        </p:pic>
        <p:sp>
          <p:nvSpPr>
            <p:cNvPr id="395" name="Google Shape;395;p35"/>
            <p:cNvSpPr/>
            <p:nvPr/>
          </p:nvSpPr>
          <p:spPr>
            <a:xfrm>
              <a:off x="2312" y="209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96" name="Google Shape;396;p35"/>
            <p:cNvPicPr preferRelativeResize="0"/>
            <p:nvPr/>
          </p:nvPicPr>
          <p:blipFill rotWithShape="1">
            <a:blip r:embed="rId6">
              <a:alphaModFix/>
            </a:blip>
            <a:srcRect b="0" l="0" r="0" t="0"/>
            <a:stretch/>
          </p:blipFill>
          <p:spPr>
            <a:xfrm>
              <a:off x="2373" y="2156"/>
              <a:ext cx="208" cy="223"/>
            </a:xfrm>
            <a:prstGeom prst="rect">
              <a:avLst/>
            </a:prstGeom>
            <a:noFill/>
            <a:ln>
              <a:noFill/>
            </a:ln>
          </p:spPr>
        </p:pic>
        <p:cxnSp>
          <p:nvCxnSpPr>
            <p:cNvPr id="397" name="Google Shape;397;p35"/>
            <p:cNvCxnSpPr/>
            <p:nvPr/>
          </p:nvCxnSpPr>
          <p:spPr>
            <a:xfrm>
              <a:off x="1599" y="2265"/>
              <a:ext cx="710" cy="0"/>
            </a:xfrm>
            <a:prstGeom prst="straightConnector1">
              <a:avLst/>
            </a:prstGeom>
            <a:noFill/>
            <a:ln cap="flat" cmpd="sng" w="25400">
              <a:solidFill>
                <a:srgbClr val="000000"/>
              </a:solidFill>
              <a:prstDash val="solid"/>
              <a:miter lim="800000"/>
              <a:headEnd len="med" w="med" type="none"/>
              <a:tailEnd len="med" w="med" type="none"/>
            </a:ln>
          </p:spPr>
        </p:cxnSp>
        <p:cxnSp>
          <p:nvCxnSpPr>
            <p:cNvPr id="398" name="Google Shape;398;p35"/>
            <p:cNvCxnSpPr/>
            <p:nvPr/>
          </p:nvCxnSpPr>
          <p:spPr>
            <a:xfrm rot="5400000">
              <a:off x="2226" y="1839"/>
              <a:ext cx="501" cy="0"/>
            </a:xfrm>
            <a:prstGeom prst="straightConnector1">
              <a:avLst/>
            </a:prstGeom>
            <a:noFill/>
            <a:ln cap="flat" cmpd="sng" w="25400">
              <a:solidFill>
                <a:srgbClr val="000000"/>
              </a:solidFill>
              <a:prstDash val="solid"/>
              <a:miter lim="800000"/>
              <a:headEnd len="med" w="med" type="none"/>
              <a:tailEnd len="med" w="med" type="none"/>
            </a:ln>
          </p:spPr>
        </p:cxnSp>
        <p:cxnSp>
          <p:nvCxnSpPr>
            <p:cNvPr id="399" name="Google Shape;399;p35"/>
            <p:cNvCxnSpPr/>
            <p:nvPr/>
          </p:nvCxnSpPr>
          <p:spPr>
            <a:xfrm rot="5400000">
              <a:off x="1632" y="1438"/>
              <a:ext cx="640" cy="792"/>
            </a:xfrm>
            <a:prstGeom prst="straightConnector1">
              <a:avLst/>
            </a:prstGeom>
            <a:noFill/>
            <a:ln cap="flat" cmpd="sng" w="25400">
              <a:solidFill>
                <a:srgbClr val="000000"/>
              </a:solidFill>
              <a:prstDash val="solid"/>
              <a:miter lim="800000"/>
              <a:headEnd len="med" w="med" type="none"/>
              <a:tailEnd len="med" w="med" type="none"/>
            </a:ln>
          </p:spPr>
        </p:cxnSp>
        <p:cxnSp>
          <p:nvCxnSpPr>
            <p:cNvPr id="400" name="Google Shape;400;p35"/>
            <p:cNvCxnSpPr/>
            <p:nvPr/>
          </p:nvCxnSpPr>
          <p:spPr>
            <a:xfrm rot="5400000">
              <a:off x="1170" y="1839"/>
              <a:ext cx="501" cy="0"/>
            </a:xfrm>
            <a:prstGeom prst="straightConnector1">
              <a:avLst/>
            </a:prstGeom>
            <a:noFill/>
            <a:ln cap="flat" cmpd="sng" w="25400">
              <a:solidFill>
                <a:srgbClr val="000000"/>
              </a:solidFill>
              <a:prstDash val="solid"/>
              <a:miter lim="800000"/>
              <a:headEnd len="med" w="med" type="none"/>
              <a:tailEnd len="med" w="med" type="none"/>
            </a:ln>
          </p:spPr>
        </p:cxnSp>
        <p:sp>
          <p:nvSpPr>
            <p:cNvPr id="401" name="Google Shape;401;p35"/>
            <p:cNvSpPr/>
            <p:nvPr/>
          </p:nvSpPr>
          <p:spPr>
            <a:xfrm>
              <a:off x="4112" y="125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02" name="Google Shape;402;p35"/>
            <p:cNvPicPr preferRelativeResize="0"/>
            <p:nvPr/>
          </p:nvPicPr>
          <p:blipFill rotWithShape="1">
            <a:blip r:embed="rId7">
              <a:alphaModFix/>
            </a:blip>
            <a:srcRect b="0" l="0" r="0" t="0"/>
            <a:stretch/>
          </p:blipFill>
          <p:spPr>
            <a:xfrm>
              <a:off x="4166" y="1316"/>
              <a:ext cx="224" cy="207"/>
            </a:xfrm>
            <a:prstGeom prst="rect">
              <a:avLst/>
            </a:prstGeom>
            <a:noFill/>
            <a:ln>
              <a:noFill/>
            </a:ln>
          </p:spPr>
        </p:pic>
        <p:sp>
          <p:nvSpPr>
            <p:cNvPr id="403" name="Google Shape;403;p35"/>
            <p:cNvSpPr/>
            <p:nvPr/>
          </p:nvSpPr>
          <p:spPr>
            <a:xfrm>
              <a:off x="3056" y="2093"/>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04" name="Google Shape;404;p35"/>
            <p:cNvPicPr preferRelativeResize="0"/>
            <p:nvPr/>
          </p:nvPicPr>
          <p:blipFill rotWithShape="1">
            <a:blip r:embed="rId8">
              <a:alphaModFix/>
            </a:blip>
            <a:srcRect b="0" l="0" r="0" t="0"/>
            <a:stretch/>
          </p:blipFill>
          <p:spPr>
            <a:xfrm>
              <a:off x="3125" y="2156"/>
              <a:ext cx="192" cy="209"/>
            </a:xfrm>
            <a:prstGeom prst="rect">
              <a:avLst/>
            </a:prstGeom>
            <a:noFill/>
            <a:ln>
              <a:noFill/>
            </a:ln>
          </p:spPr>
        </p:pic>
        <p:cxnSp>
          <p:nvCxnSpPr>
            <p:cNvPr id="405" name="Google Shape;405;p35"/>
            <p:cNvCxnSpPr/>
            <p:nvPr/>
          </p:nvCxnSpPr>
          <p:spPr>
            <a:xfrm rot="5400000">
              <a:off x="3439" y="1456"/>
              <a:ext cx="640" cy="792"/>
            </a:xfrm>
            <a:prstGeom prst="straightConnector1">
              <a:avLst/>
            </a:prstGeom>
            <a:noFill/>
            <a:ln cap="flat" cmpd="sng" w="25400">
              <a:solidFill>
                <a:srgbClr val="000000"/>
              </a:solidFill>
              <a:prstDash val="solid"/>
              <a:miter lim="800000"/>
              <a:headEnd len="med" w="med" type="none"/>
              <a:tailEnd len="med" w="med" type="none"/>
            </a:ln>
          </p:spPr>
        </p:cxnSp>
      </p:grpSp>
      <p:sp>
        <p:nvSpPr>
          <p:cNvPr id="406" name="Google Shape;406;p35"/>
          <p:cNvSpPr txBox="1"/>
          <p:nvPr/>
        </p:nvSpPr>
        <p:spPr>
          <a:xfrm>
            <a:off x="1524000" y="5257800"/>
            <a:ext cx="5638800" cy="76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Có hai thành phần liên thông</a:t>
            </a:r>
            <a:endParaRPr/>
          </a:p>
        </p:txBody>
      </p:sp>
      <p:cxnSp>
        <p:nvCxnSpPr>
          <p:cNvPr id="407" name="Google Shape;407;p35"/>
          <p:cNvCxnSpPr/>
          <p:nvPr/>
        </p:nvCxnSpPr>
        <p:spPr>
          <a:xfrm flipH="1">
            <a:off x="4343400" y="2438400"/>
            <a:ext cx="1143000" cy="2514600"/>
          </a:xfrm>
          <a:prstGeom prst="straightConnector1">
            <a:avLst/>
          </a:prstGeom>
          <a:noFill/>
          <a:ln cap="flat" cmpd="sng" w="38100">
            <a:solidFill>
              <a:srgbClr val="FF0000"/>
            </a:solidFill>
            <a:prstDash val="solid"/>
            <a:miter lim="800000"/>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412" name="Shape 412"/>
        <p:cNvGrpSpPr/>
        <p:nvPr/>
      </p:nvGrpSpPr>
      <p:grpSpPr>
        <a:xfrm>
          <a:off x="0" y="0"/>
          <a:ext cx="0" cy="0"/>
          <a:chOff x="0" y="0"/>
          <a:chExt cx="0" cy="0"/>
        </a:xfrm>
      </p:grpSpPr>
      <p:sp>
        <p:nvSpPr>
          <p:cNvPr id="413" name="Google Shape;413;p36"/>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174625"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Đỉnh cắt, cạnh cầu</a:t>
            </a:r>
            <a:endParaRPr/>
          </a:p>
        </p:txBody>
      </p:sp>
      <p:sp>
        <p:nvSpPr>
          <p:cNvPr id="414" name="Google Shape;414;p36"/>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just">
              <a:lnSpc>
                <a:spcPct val="100000"/>
              </a:lnSpc>
              <a:spcBef>
                <a:spcPts val="0"/>
              </a:spcBef>
              <a:spcAft>
                <a:spcPts val="0"/>
              </a:spcAft>
              <a:buClr>
                <a:schemeClr val="dk1"/>
              </a:buClr>
              <a:buSzPts val="2800"/>
              <a:buFont typeface="Noto Sans Symbols"/>
              <a:buNone/>
            </a:pPr>
            <a:r>
              <a:rPr b="1" i="1" lang="en-US" sz="2800" u="none">
                <a:solidFill>
                  <a:schemeClr val="dk1"/>
                </a:solidFill>
                <a:latin typeface="Arial"/>
                <a:ea typeface="Arial"/>
                <a:cs typeface="Arial"/>
                <a:sym typeface="Arial"/>
              </a:rPr>
              <a:t>Đỉnh cắt</a:t>
            </a:r>
            <a:r>
              <a:rPr b="0" i="0" lang="en-US" sz="2800" u="none">
                <a:solidFill>
                  <a:schemeClr val="dk1"/>
                </a:solidFill>
                <a:latin typeface="Arial"/>
                <a:ea typeface="Arial"/>
                <a:cs typeface="Arial"/>
                <a:sym typeface="Arial"/>
              </a:rPr>
              <a:t>: v được gọi là đỉnh cắt nếu bỏ nó cùng các cạnh liên thuộc sẽ làm </a:t>
            </a:r>
            <a:r>
              <a:rPr b="0" i="0" lang="en-US" sz="2800" u="none">
                <a:solidFill>
                  <a:srgbClr val="FF33CC"/>
                </a:solidFill>
                <a:latin typeface="Arial"/>
                <a:ea typeface="Arial"/>
                <a:cs typeface="Arial"/>
                <a:sym typeface="Arial"/>
              </a:rPr>
              <a:t>tăng số thành phần liên thông</a:t>
            </a:r>
            <a:r>
              <a:rPr b="0" i="0" lang="en-US" sz="2800" u="none">
                <a:solidFill>
                  <a:schemeClr val="dk1"/>
                </a:solidFill>
                <a:latin typeface="Arial"/>
                <a:ea typeface="Arial"/>
                <a:cs typeface="Arial"/>
                <a:sym typeface="Arial"/>
              </a:rPr>
              <a:t> của đồ thị con.</a:t>
            </a:r>
            <a:endParaRPr/>
          </a:p>
          <a:p>
            <a:pPr indent="174625" lvl="0" marL="0" marR="0" rtl="0" algn="just">
              <a:lnSpc>
                <a:spcPct val="100000"/>
              </a:lnSpc>
              <a:spcBef>
                <a:spcPts val="560"/>
              </a:spcBef>
              <a:spcAft>
                <a:spcPts val="0"/>
              </a:spcAft>
              <a:buClr>
                <a:schemeClr val="dk1"/>
              </a:buClr>
              <a:buSzPts val="2800"/>
              <a:buFont typeface="Noto Sans Symbols"/>
              <a:buNone/>
            </a:pPr>
            <a:r>
              <a:rPr b="1" i="1" lang="en-US" sz="2800" u="none">
                <a:solidFill>
                  <a:schemeClr val="dk1"/>
                </a:solidFill>
                <a:latin typeface="Arial"/>
                <a:ea typeface="Arial"/>
                <a:cs typeface="Arial"/>
                <a:sym typeface="Arial"/>
              </a:rPr>
              <a:t>Cạnh cầu</a:t>
            </a:r>
            <a:r>
              <a:rPr b="0" i="0" lang="en-US" sz="2800" u="none">
                <a:solidFill>
                  <a:schemeClr val="dk1"/>
                </a:solidFill>
                <a:latin typeface="Arial"/>
                <a:ea typeface="Arial"/>
                <a:cs typeface="Arial"/>
                <a:sym typeface="Arial"/>
              </a:rPr>
              <a:t>: e được gọi là cạnh cầu nếu xoá nó thì sẽ làm </a:t>
            </a:r>
            <a:r>
              <a:rPr b="0" i="0" lang="en-US" sz="2800" u="none">
                <a:solidFill>
                  <a:srgbClr val="FF33CC"/>
                </a:solidFill>
                <a:latin typeface="Arial"/>
                <a:ea typeface="Arial"/>
                <a:cs typeface="Arial"/>
                <a:sym typeface="Arial"/>
              </a:rPr>
              <a:t>tăng số thành phần liên thông</a:t>
            </a:r>
            <a:r>
              <a:rPr b="0" i="0" lang="en-US" sz="2800" u="none">
                <a:solidFill>
                  <a:schemeClr val="dk1"/>
                </a:solidFill>
                <a:latin typeface="Arial"/>
                <a:ea typeface="Arial"/>
                <a:cs typeface="Arial"/>
                <a:sym typeface="Arial"/>
              </a:rPr>
              <a:t> của đồ thị con.</a:t>
            </a:r>
            <a:endParaRPr/>
          </a:p>
        </p:txBody>
      </p:sp>
      <p:sp>
        <p:nvSpPr>
          <p:cNvPr id="415" name="Google Shape;415;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420" name="Shape 420"/>
        <p:cNvGrpSpPr/>
        <p:nvPr/>
      </p:nvGrpSpPr>
      <p:grpSpPr>
        <a:xfrm>
          <a:off x="0" y="0"/>
          <a:ext cx="0" cy="0"/>
          <a:chOff x="0" y="0"/>
          <a:chExt cx="0" cy="0"/>
        </a:xfrm>
      </p:grpSpPr>
      <p:sp>
        <p:nvSpPr>
          <p:cNvPr id="421" name="Google Shape;421;p37"/>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Đỉnh cắt, cạnh cầu</a:t>
            </a:r>
            <a:endParaRPr/>
          </a:p>
        </p:txBody>
      </p:sp>
      <p:sp>
        <p:nvSpPr>
          <p:cNvPr id="422" name="Google Shape;422;p37"/>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l">
              <a:lnSpc>
                <a:spcPct val="80000"/>
              </a:lnSpc>
              <a:spcBef>
                <a:spcPts val="0"/>
              </a:spcBef>
              <a:spcAft>
                <a:spcPts val="0"/>
              </a:spcAft>
              <a:buClr>
                <a:schemeClr val="dk1"/>
              </a:buClr>
              <a:buSzPts val="2800"/>
              <a:buFont typeface="Noto Sans Symbols"/>
              <a:buNone/>
            </a:pPr>
            <a:r>
              <a:rPr b="0" i="1" lang="en-US" sz="2800" u="sng">
                <a:solidFill>
                  <a:schemeClr val="dk1"/>
                </a:solidFill>
                <a:latin typeface="Arial"/>
                <a:ea typeface="Arial"/>
                <a:cs typeface="Arial"/>
                <a:sym typeface="Arial"/>
              </a:rPr>
              <a:t>Ví </a:t>
            </a:r>
            <a:r>
              <a:rPr b="0" i="0" lang="en-US" sz="2800" u="none">
                <a:solidFill>
                  <a:schemeClr val="dk1"/>
                </a:solidFill>
                <a:latin typeface="Arial"/>
                <a:ea typeface="Arial"/>
                <a:cs typeface="Arial"/>
                <a:sym typeface="Arial"/>
              </a:rPr>
              <a:t>dụ: Không là đỉnh cắt</a:t>
            </a:r>
            <a:endParaRPr/>
          </a:p>
        </p:txBody>
      </p:sp>
      <p:sp>
        <p:nvSpPr>
          <p:cNvPr id="423" name="Google Shape;423;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24" name="Google Shape;424;p37"/>
          <p:cNvGrpSpPr/>
          <p:nvPr/>
        </p:nvGrpSpPr>
        <p:grpSpPr>
          <a:xfrm>
            <a:off x="2465387" y="1847850"/>
            <a:ext cx="5078412" cy="1885950"/>
            <a:chOff x="1344" y="1440"/>
            <a:chExt cx="3199" cy="1188"/>
          </a:xfrm>
        </p:grpSpPr>
        <p:sp>
          <p:nvSpPr>
            <p:cNvPr id="425" name="Google Shape;425;p37"/>
            <p:cNvSpPr/>
            <p:nvPr/>
          </p:nvSpPr>
          <p:spPr>
            <a:xfrm>
              <a:off x="1344" y="144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26" name="Google Shape;426;p37"/>
            <p:cNvPicPr preferRelativeResize="0"/>
            <p:nvPr/>
          </p:nvPicPr>
          <p:blipFill rotWithShape="1">
            <a:blip r:embed="rId3">
              <a:alphaModFix/>
            </a:blip>
            <a:srcRect b="0" l="0" r="0" t="0"/>
            <a:stretch/>
          </p:blipFill>
          <p:spPr>
            <a:xfrm>
              <a:off x="1404" y="1493"/>
              <a:ext cx="221" cy="206"/>
            </a:xfrm>
            <a:prstGeom prst="rect">
              <a:avLst/>
            </a:prstGeom>
            <a:noFill/>
            <a:ln>
              <a:noFill/>
            </a:ln>
          </p:spPr>
        </p:pic>
        <p:sp>
          <p:nvSpPr>
            <p:cNvPr id="427" name="Google Shape;427;p37"/>
            <p:cNvSpPr/>
            <p:nvPr/>
          </p:nvSpPr>
          <p:spPr>
            <a:xfrm>
              <a:off x="2403" y="144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28" name="Google Shape;428;p37"/>
            <p:cNvPicPr preferRelativeResize="0"/>
            <p:nvPr/>
          </p:nvPicPr>
          <p:blipFill rotWithShape="1">
            <a:blip r:embed="rId4">
              <a:alphaModFix/>
            </a:blip>
            <a:srcRect b="0" l="0" r="0" t="0"/>
            <a:stretch/>
          </p:blipFill>
          <p:spPr>
            <a:xfrm>
              <a:off x="2466" y="1504"/>
              <a:ext cx="207" cy="207"/>
            </a:xfrm>
            <a:prstGeom prst="rect">
              <a:avLst/>
            </a:prstGeom>
            <a:noFill/>
            <a:ln>
              <a:noFill/>
            </a:ln>
          </p:spPr>
        </p:pic>
        <p:sp>
          <p:nvSpPr>
            <p:cNvPr id="429" name="Google Shape;429;p37"/>
            <p:cNvSpPr/>
            <p:nvPr/>
          </p:nvSpPr>
          <p:spPr>
            <a:xfrm>
              <a:off x="1344" y="228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30" name="Google Shape;430;p37"/>
            <p:cNvPicPr preferRelativeResize="0"/>
            <p:nvPr/>
          </p:nvPicPr>
          <p:blipFill rotWithShape="1">
            <a:blip r:embed="rId5">
              <a:alphaModFix/>
            </a:blip>
            <a:srcRect b="0" l="0" r="0" t="0"/>
            <a:stretch/>
          </p:blipFill>
          <p:spPr>
            <a:xfrm>
              <a:off x="1409" y="2354"/>
              <a:ext cx="192" cy="207"/>
            </a:xfrm>
            <a:prstGeom prst="rect">
              <a:avLst/>
            </a:prstGeom>
            <a:noFill/>
            <a:ln>
              <a:noFill/>
            </a:ln>
          </p:spPr>
        </p:pic>
        <p:sp>
          <p:nvSpPr>
            <p:cNvPr id="431" name="Google Shape;431;p37"/>
            <p:cNvSpPr/>
            <p:nvPr/>
          </p:nvSpPr>
          <p:spPr>
            <a:xfrm>
              <a:off x="2403" y="228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32" name="Google Shape;432;p37"/>
            <p:cNvPicPr preferRelativeResize="0"/>
            <p:nvPr/>
          </p:nvPicPr>
          <p:blipFill rotWithShape="1">
            <a:blip r:embed="rId6">
              <a:alphaModFix/>
            </a:blip>
            <a:srcRect b="0" l="0" r="0" t="0"/>
            <a:stretch/>
          </p:blipFill>
          <p:spPr>
            <a:xfrm>
              <a:off x="2464" y="2348"/>
              <a:ext cx="208" cy="223"/>
            </a:xfrm>
            <a:prstGeom prst="rect">
              <a:avLst/>
            </a:prstGeom>
            <a:noFill/>
            <a:ln>
              <a:noFill/>
            </a:ln>
          </p:spPr>
        </p:pic>
        <p:cxnSp>
          <p:nvCxnSpPr>
            <p:cNvPr id="433" name="Google Shape;433;p37"/>
            <p:cNvCxnSpPr/>
            <p:nvPr/>
          </p:nvCxnSpPr>
          <p:spPr>
            <a:xfrm>
              <a:off x="1690" y="2457"/>
              <a:ext cx="710" cy="0"/>
            </a:xfrm>
            <a:prstGeom prst="straightConnector1">
              <a:avLst/>
            </a:prstGeom>
            <a:noFill/>
            <a:ln cap="flat" cmpd="sng" w="25400">
              <a:solidFill>
                <a:srgbClr val="000000"/>
              </a:solidFill>
              <a:prstDash val="solid"/>
              <a:miter lim="800000"/>
              <a:headEnd len="med" w="med" type="none"/>
              <a:tailEnd len="med" w="med" type="none"/>
            </a:ln>
          </p:spPr>
        </p:cxnSp>
        <p:cxnSp>
          <p:nvCxnSpPr>
            <p:cNvPr id="434" name="Google Shape;434;p37"/>
            <p:cNvCxnSpPr/>
            <p:nvPr/>
          </p:nvCxnSpPr>
          <p:spPr>
            <a:xfrm>
              <a:off x="2744" y="2462"/>
              <a:ext cx="403" cy="0"/>
            </a:xfrm>
            <a:prstGeom prst="straightConnector1">
              <a:avLst/>
            </a:prstGeom>
            <a:noFill/>
            <a:ln cap="flat" cmpd="sng" w="25400">
              <a:solidFill>
                <a:srgbClr val="000000"/>
              </a:solidFill>
              <a:prstDash val="solid"/>
              <a:miter lim="800000"/>
              <a:headEnd len="med" w="med" type="none"/>
              <a:tailEnd len="med" w="med" type="none"/>
            </a:ln>
          </p:spPr>
        </p:cxnSp>
        <p:cxnSp>
          <p:nvCxnSpPr>
            <p:cNvPr id="435" name="Google Shape;435;p37"/>
            <p:cNvCxnSpPr/>
            <p:nvPr/>
          </p:nvCxnSpPr>
          <p:spPr>
            <a:xfrm rot="5400000">
              <a:off x="2317" y="2031"/>
              <a:ext cx="501" cy="0"/>
            </a:xfrm>
            <a:prstGeom prst="straightConnector1">
              <a:avLst/>
            </a:prstGeom>
            <a:noFill/>
            <a:ln cap="flat" cmpd="sng" w="25400">
              <a:solidFill>
                <a:srgbClr val="000000"/>
              </a:solidFill>
              <a:prstDash val="solid"/>
              <a:miter lim="800000"/>
              <a:headEnd len="med" w="med" type="none"/>
              <a:tailEnd len="med" w="med" type="none"/>
            </a:ln>
          </p:spPr>
        </p:cxnSp>
        <p:cxnSp>
          <p:nvCxnSpPr>
            <p:cNvPr id="436" name="Google Shape;436;p37"/>
            <p:cNvCxnSpPr/>
            <p:nvPr/>
          </p:nvCxnSpPr>
          <p:spPr>
            <a:xfrm rot="5400000">
              <a:off x="1723" y="1630"/>
              <a:ext cx="640" cy="792"/>
            </a:xfrm>
            <a:prstGeom prst="straightConnector1">
              <a:avLst/>
            </a:prstGeom>
            <a:noFill/>
            <a:ln cap="flat" cmpd="sng" w="25400">
              <a:solidFill>
                <a:srgbClr val="000000"/>
              </a:solidFill>
              <a:prstDash val="solid"/>
              <a:miter lim="800000"/>
              <a:headEnd len="med" w="med" type="none"/>
              <a:tailEnd len="med" w="med" type="none"/>
            </a:ln>
          </p:spPr>
        </p:cxnSp>
        <p:cxnSp>
          <p:nvCxnSpPr>
            <p:cNvPr id="437" name="Google Shape;437;p37"/>
            <p:cNvCxnSpPr/>
            <p:nvPr/>
          </p:nvCxnSpPr>
          <p:spPr>
            <a:xfrm rot="5400000">
              <a:off x="1261" y="2031"/>
              <a:ext cx="501" cy="0"/>
            </a:xfrm>
            <a:prstGeom prst="straightConnector1">
              <a:avLst/>
            </a:prstGeom>
            <a:noFill/>
            <a:ln cap="flat" cmpd="sng" w="25400">
              <a:solidFill>
                <a:srgbClr val="000000"/>
              </a:solidFill>
              <a:prstDash val="solid"/>
              <a:miter lim="800000"/>
              <a:headEnd len="med" w="med" type="none"/>
              <a:tailEnd len="med" w="med" type="none"/>
            </a:ln>
          </p:spPr>
        </p:cxnSp>
        <p:sp>
          <p:nvSpPr>
            <p:cNvPr id="438" name="Google Shape;438;p37"/>
            <p:cNvSpPr/>
            <p:nvPr/>
          </p:nvSpPr>
          <p:spPr>
            <a:xfrm>
              <a:off x="3147" y="1441"/>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39" name="Google Shape;439;p37"/>
            <p:cNvPicPr preferRelativeResize="0"/>
            <p:nvPr/>
          </p:nvPicPr>
          <p:blipFill rotWithShape="1">
            <a:blip r:embed="rId7">
              <a:alphaModFix/>
            </a:blip>
            <a:srcRect b="0" l="0" r="0" t="0"/>
            <a:stretch/>
          </p:blipFill>
          <p:spPr>
            <a:xfrm>
              <a:off x="3208" y="1504"/>
              <a:ext cx="192" cy="208"/>
            </a:xfrm>
            <a:prstGeom prst="rect">
              <a:avLst/>
            </a:prstGeom>
            <a:noFill/>
            <a:ln>
              <a:noFill/>
            </a:ln>
          </p:spPr>
        </p:pic>
        <p:cxnSp>
          <p:nvCxnSpPr>
            <p:cNvPr id="440" name="Google Shape;440;p37"/>
            <p:cNvCxnSpPr/>
            <p:nvPr/>
          </p:nvCxnSpPr>
          <p:spPr>
            <a:xfrm>
              <a:off x="3487" y="1618"/>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441" name="Google Shape;441;p37"/>
            <p:cNvSpPr/>
            <p:nvPr/>
          </p:nvSpPr>
          <p:spPr>
            <a:xfrm>
              <a:off x="4203" y="144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42" name="Google Shape;442;p37"/>
            <p:cNvPicPr preferRelativeResize="0"/>
            <p:nvPr/>
          </p:nvPicPr>
          <p:blipFill rotWithShape="1">
            <a:blip r:embed="rId8">
              <a:alphaModFix/>
            </a:blip>
            <a:srcRect b="0" l="0" r="0" t="0"/>
            <a:stretch/>
          </p:blipFill>
          <p:spPr>
            <a:xfrm>
              <a:off x="4257" y="1508"/>
              <a:ext cx="224" cy="207"/>
            </a:xfrm>
            <a:prstGeom prst="rect">
              <a:avLst/>
            </a:prstGeom>
            <a:noFill/>
            <a:ln>
              <a:noFill/>
            </a:ln>
          </p:spPr>
        </p:pic>
        <p:sp>
          <p:nvSpPr>
            <p:cNvPr id="443" name="Google Shape;443;p37"/>
            <p:cNvSpPr/>
            <p:nvPr/>
          </p:nvSpPr>
          <p:spPr>
            <a:xfrm>
              <a:off x="3147" y="2285"/>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44" name="Google Shape;444;p37"/>
            <p:cNvPicPr preferRelativeResize="0"/>
            <p:nvPr/>
          </p:nvPicPr>
          <p:blipFill rotWithShape="1">
            <a:blip r:embed="rId9">
              <a:alphaModFix/>
            </a:blip>
            <a:srcRect b="0" l="0" r="0" t="0"/>
            <a:stretch/>
          </p:blipFill>
          <p:spPr>
            <a:xfrm>
              <a:off x="3216" y="2348"/>
              <a:ext cx="192" cy="209"/>
            </a:xfrm>
            <a:prstGeom prst="rect">
              <a:avLst/>
            </a:prstGeom>
            <a:noFill/>
            <a:ln>
              <a:noFill/>
            </a:ln>
          </p:spPr>
        </p:pic>
        <p:cxnSp>
          <p:nvCxnSpPr>
            <p:cNvPr id="445" name="Google Shape;445;p37"/>
            <p:cNvCxnSpPr/>
            <p:nvPr/>
          </p:nvCxnSpPr>
          <p:spPr>
            <a:xfrm>
              <a:off x="3487" y="2462"/>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446" name="Google Shape;446;p37"/>
            <p:cNvSpPr/>
            <p:nvPr/>
          </p:nvSpPr>
          <p:spPr>
            <a:xfrm>
              <a:off x="4203" y="228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47" name="Google Shape;447;p37"/>
            <p:cNvPicPr preferRelativeResize="0"/>
            <p:nvPr/>
          </p:nvPicPr>
          <p:blipFill rotWithShape="1">
            <a:blip r:embed="rId10">
              <a:alphaModFix/>
            </a:blip>
            <a:srcRect b="0" l="0" r="0" t="0"/>
            <a:stretch/>
          </p:blipFill>
          <p:spPr>
            <a:xfrm>
              <a:off x="4253" y="2352"/>
              <a:ext cx="223" cy="223"/>
            </a:xfrm>
            <a:prstGeom prst="rect">
              <a:avLst/>
            </a:prstGeom>
            <a:noFill/>
            <a:ln>
              <a:noFill/>
            </a:ln>
          </p:spPr>
        </p:pic>
        <p:cxnSp>
          <p:nvCxnSpPr>
            <p:cNvPr id="448" name="Google Shape;448;p37"/>
            <p:cNvCxnSpPr/>
            <p:nvPr/>
          </p:nvCxnSpPr>
          <p:spPr>
            <a:xfrm rot="5400000">
              <a:off x="3062" y="2032"/>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449" name="Google Shape;449;p37"/>
            <p:cNvCxnSpPr/>
            <p:nvPr/>
          </p:nvCxnSpPr>
          <p:spPr>
            <a:xfrm rot="5400000">
              <a:off x="4128" y="2032"/>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450" name="Google Shape;450;p37"/>
            <p:cNvCxnSpPr/>
            <p:nvPr/>
          </p:nvCxnSpPr>
          <p:spPr>
            <a:xfrm rot="5400000">
              <a:off x="3530" y="1648"/>
              <a:ext cx="640" cy="792"/>
            </a:xfrm>
            <a:prstGeom prst="straightConnector1">
              <a:avLst/>
            </a:prstGeom>
            <a:noFill/>
            <a:ln cap="flat" cmpd="sng" w="25400">
              <a:solidFill>
                <a:srgbClr val="000000"/>
              </a:solidFill>
              <a:prstDash val="solid"/>
              <a:miter lim="800000"/>
              <a:headEnd len="med" w="med" type="none"/>
              <a:tailEnd len="med" w="med" type="none"/>
            </a:ln>
          </p:spPr>
        </p:cxnSp>
      </p:grpSp>
      <p:sp>
        <p:nvSpPr>
          <p:cNvPr id="451" name="Google Shape;451;p37"/>
          <p:cNvSpPr txBox="1"/>
          <p:nvPr/>
        </p:nvSpPr>
        <p:spPr>
          <a:xfrm>
            <a:off x="1600200" y="5867400"/>
            <a:ext cx="8153400" cy="762000"/>
          </a:xfrm>
          <a:prstGeom prst="rect">
            <a:avLst/>
          </a:prstGeom>
          <a:noFill/>
          <a:ln>
            <a:noFill/>
          </a:ln>
        </p:spPr>
        <p:txBody>
          <a:bodyPr anchorCtr="0" anchor="t" bIns="45700" lIns="91425" spcFirstLastPara="1" rIns="91425" wrap="square" tIns="45700">
            <a:noAutofit/>
          </a:bodyPr>
          <a:lstStyle/>
          <a:p>
            <a:pPr indent="174625" lvl="0" marL="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A không là đỉnh cắt</a:t>
            </a:r>
            <a:endParaRPr/>
          </a:p>
        </p:txBody>
      </p:sp>
      <p:grpSp>
        <p:nvGrpSpPr>
          <p:cNvPr id="452" name="Google Shape;452;p37"/>
          <p:cNvGrpSpPr/>
          <p:nvPr/>
        </p:nvGrpSpPr>
        <p:grpSpPr>
          <a:xfrm>
            <a:off x="2438400" y="3905250"/>
            <a:ext cx="5078412" cy="1885950"/>
            <a:chOff x="1536" y="2208"/>
            <a:chExt cx="3199" cy="1188"/>
          </a:xfrm>
        </p:grpSpPr>
        <p:sp>
          <p:nvSpPr>
            <p:cNvPr id="453" name="Google Shape;453;p37"/>
            <p:cNvSpPr/>
            <p:nvPr/>
          </p:nvSpPr>
          <p:spPr>
            <a:xfrm>
              <a:off x="2595" y="220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54" name="Google Shape;454;p37"/>
            <p:cNvPicPr preferRelativeResize="0"/>
            <p:nvPr/>
          </p:nvPicPr>
          <p:blipFill rotWithShape="1">
            <a:blip r:embed="rId4">
              <a:alphaModFix/>
            </a:blip>
            <a:srcRect b="0" l="0" r="0" t="0"/>
            <a:stretch/>
          </p:blipFill>
          <p:spPr>
            <a:xfrm>
              <a:off x="2658" y="2272"/>
              <a:ext cx="207" cy="207"/>
            </a:xfrm>
            <a:prstGeom prst="rect">
              <a:avLst/>
            </a:prstGeom>
            <a:noFill/>
            <a:ln>
              <a:noFill/>
            </a:ln>
          </p:spPr>
        </p:pic>
        <p:sp>
          <p:nvSpPr>
            <p:cNvPr id="455" name="Google Shape;455;p37"/>
            <p:cNvSpPr/>
            <p:nvPr/>
          </p:nvSpPr>
          <p:spPr>
            <a:xfrm>
              <a:off x="1536" y="305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56" name="Google Shape;456;p37"/>
            <p:cNvPicPr preferRelativeResize="0"/>
            <p:nvPr/>
          </p:nvPicPr>
          <p:blipFill rotWithShape="1">
            <a:blip r:embed="rId5">
              <a:alphaModFix/>
            </a:blip>
            <a:srcRect b="0" l="0" r="0" t="0"/>
            <a:stretch/>
          </p:blipFill>
          <p:spPr>
            <a:xfrm>
              <a:off x="1601" y="3122"/>
              <a:ext cx="192" cy="207"/>
            </a:xfrm>
            <a:prstGeom prst="rect">
              <a:avLst/>
            </a:prstGeom>
            <a:noFill/>
            <a:ln>
              <a:noFill/>
            </a:ln>
          </p:spPr>
        </p:pic>
        <p:sp>
          <p:nvSpPr>
            <p:cNvPr id="457" name="Google Shape;457;p37"/>
            <p:cNvSpPr/>
            <p:nvPr/>
          </p:nvSpPr>
          <p:spPr>
            <a:xfrm>
              <a:off x="2595" y="305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58" name="Google Shape;458;p37"/>
            <p:cNvPicPr preferRelativeResize="0"/>
            <p:nvPr/>
          </p:nvPicPr>
          <p:blipFill rotWithShape="1">
            <a:blip r:embed="rId6">
              <a:alphaModFix/>
            </a:blip>
            <a:srcRect b="0" l="0" r="0" t="0"/>
            <a:stretch/>
          </p:blipFill>
          <p:spPr>
            <a:xfrm>
              <a:off x="2656" y="3116"/>
              <a:ext cx="208" cy="223"/>
            </a:xfrm>
            <a:prstGeom prst="rect">
              <a:avLst/>
            </a:prstGeom>
            <a:noFill/>
            <a:ln>
              <a:noFill/>
            </a:ln>
          </p:spPr>
        </p:pic>
        <p:cxnSp>
          <p:nvCxnSpPr>
            <p:cNvPr id="459" name="Google Shape;459;p37"/>
            <p:cNvCxnSpPr/>
            <p:nvPr/>
          </p:nvCxnSpPr>
          <p:spPr>
            <a:xfrm>
              <a:off x="1882" y="3225"/>
              <a:ext cx="710" cy="0"/>
            </a:xfrm>
            <a:prstGeom prst="straightConnector1">
              <a:avLst/>
            </a:prstGeom>
            <a:noFill/>
            <a:ln cap="flat" cmpd="sng" w="25400">
              <a:solidFill>
                <a:srgbClr val="000000"/>
              </a:solidFill>
              <a:prstDash val="solid"/>
              <a:miter lim="800000"/>
              <a:headEnd len="med" w="med" type="none"/>
              <a:tailEnd len="med" w="med" type="none"/>
            </a:ln>
          </p:spPr>
        </p:cxnSp>
        <p:cxnSp>
          <p:nvCxnSpPr>
            <p:cNvPr id="460" name="Google Shape;460;p37"/>
            <p:cNvCxnSpPr/>
            <p:nvPr/>
          </p:nvCxnSpPr>
          <p:spPr>
            <a:xfrm>
              <a:off x="2936" y="3230"/>
              <a:ext cx="403" cy="0"/>
            </a:xfrm>
            <a:prstGeom prst="straightConnector1">
              <a:avLst/>
            </a:prstGeom>
            <a:noFill/>
            <a:ln cap="flat" cmpd="sng" w="25400">
              <a:solidFill>
                <a:srgbClr val="000000"/>
              </a:solidFill>
              <a:prstDash val="solid"/>
              <a:miter lim="800000"/>
              <a:headEnd len="med" w="med" type="none"/>
              <a:tailEnd len="med" w="med" type="none"/>
            </a:ln>
          </p:spPr>
        </p:cxnSp>
        <p:cxnSp>
          <p:nvCxnSpPr>
            <p:cNvPr id="461" name="Google Shape;461;p37"/>
            <p:cNvCxnSpPr/>
            <p:nvPr/>
          </p:nvCxnSpPr>
          <p:spPr>
            <a:xfrm rot="5400000">
              <a:off x="2509" y="2799"/>
              <a:ext cx="501" cy="0"/>
            </a:xfrm>
            <a:prstGeom prst="straightConnector1">
              <a:avLst/>
            </a:prstGeom>
            <a:noFill/>
            <a:ln cap="flat" cmpd="sng" w="25400">
              <a:solidFill>
                <a:srgbClr val="000000"/>
              </a:solidFill>
              <a:prstDash val="solid"/>
              <a:miter lim="800000"/>
              <a:headEnd len="med" w="med" type="none"/>
              <a:tailEnd len="med" w="med" type="none"/>
            </a:ln>
          </p:spPr>
        </p:cxnSp>
        <p:cxnSp>
          <p:nvCxnSpPr>
            <p:cNvPr id="462" name="Google Shape;462;p37"/>
            <p:cNvCxnSpPr/>
            <p:nvPr/>
          </p:nvCxnSpPr>
          <p:spPr>
            <a:xfrm rot="5400000">
              <a:off x="1915" y="2398"/>
              <a:ext cx="640" cy="792"/>
            </a:xfrm>
            <a:prstGeom prst="straightConnector1">
              <a:avLst/>
            </a:prstGeom>
            <a:noFill/>
            <a:ln cap="flat" cmpd="sng" w="25400">
              <a:solidFill>
                <a:srgbClr val="000000"/>
              </a:solidFill>
              <a:prstDash val="solid"/>
              <a:miter lim="800000"/>
              <a:headEnd len="med" w="med" type="none"/>
              <a:tailEnd len="med" w="med" type="none"/>
            </a:ln>
          </p:spPr>
        </p:cxnSp>
        <p:sp>
          <p:nvSpPr>
            <p:cNvPr id="463" name="Google Shape;463;p37"/>
            <p:cNvSpPr/>
            <p:nvPr/>
          </p:nvSpPr>
          <p:spPr>
            <a:xfrm>
              <a:off x="3339" y="2209"/>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64" name="Google Shape;464;p37"/>
            <p:cNvPicPr preferRelativeResize="0"/>
            <p:nvPr/>
          </p:nvPicPr>
          <p:blipFill rotWithShape="1">
            <a:blip r:embed="rId7">
              <a:alphaModFix/>
            </a:blip>
            <a:srcRect b="0" l="0" r="0" t="0"/>
            <a:stretch/>
          </p:blipFill>
          <p:spPr>
            <a:xfrm>
              <a:off x="3400" y="2272"/>
              <a:ext cx="192" cy="208"/>
            </a:xfrm>
            <a:prstGeom prst="rect">
              <a:avLst/>
            </a:prstGeom>
            <a:noFill/>
            <a:ln>
              <a:noFill/>
            </a:ln>
          </p:spPr>
        </p:pic>
        <p:cxnSp>
          <p:nvCxnSpPr>
            <p:cNvPr id="465" name="Google Shape;465;p37"/>
            <p:cNvCxnSpPr/>
            <p:nvPr/>
          </p:nvCxnSpPr>
          <p:spPr>
            <a:xfrm>
              <a:off x="3679" y="2386"/>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466" name="Google Shape;466;p37"/>
            <p:cNvSpPr/>
            <p:nvPr/>
          </p:nvSpPr>
          <p:spPr>
            <a:xfrm>
              <a:off x="4395" y="221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67" name="Google Shape;467;p37"/>
            <p:cNvPicPr preferRelativeResize="0"/>
            <p:nvPr/>
          </p:nvPicPr>
          <p:blipFill rotWithShape="1">
            <a:blip r:embed="rId8">
              <a:alphaModFix/>
            </a:blip>
            <a:srcRect b="0" l="0" r="0" t="0"/>
            <a:stretch/>
          </p:blipFill>
          <p:spPr>
            <a:xfrm>
              <a:off x="4449" y="2276"/>
              <a:ext cx="224" cy="207"/>
            </a:xfrm>
            <a:prstGeom prst="rect">
              <a:avLst/>
            </a:prstGeom>
            <a:noFill/>
            <a:ln>
              <a:noFill/>
            </a:ln>
          </p:spPr>
        </p:pic>
        <p:sp>
          <p:nvSpPr>
            <p:cNvPr id="468" name="Google Shape;468;p37"/>
            <p:cNvSpPr/>
            <p:nvPr/>
          </p:nvSpPr>
          <p:spPr>
            <a:xfrm>
              <a:off x="3339" y="3053"/>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69" name="Google Shape;469;p37"/>
            <p:cNvPicPr preferRelativeResize="0"/>
            <p:nvPr/>
          </p:nvPicPr>
          <p:blipFill rotWithShape="1">
            <a:blip r:embed="rId9">
              <a:alphaModFix/>
            </a:blip>
            <a:srcRect b="0" l="0" r="0" t="0"/>
            <a:stretch/>
          </p:blipFill>
          <p:spPr>
            <a:xfrm>
              <a:off x="3408" y="3116"/>
              <a:ext cx="192" cy="209"/>
            </a:xfrm>
            <a:prstGeom prst="rect">
              <a:avLst/>
            </a:prstGeom>
            <a:noFill/>
            <a:ln>
              <a:noFill/>
            </a:ln>
          </p:spPr>
        </p:pic>
        <p:cxnSp>
          <p:nvCxnSpPr>
            <p:cNvPr id="470" name="Google Shape;470;p37"/>
            <p:cNvCxnSpPr/>
            <p:nvPr/>
          </p:nvCxnSpPr>
          <p:spPr>
            <a:xfrm>
              <a:off x="3679" y="3230"/>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471" name="Google Shape;471;p37"/>
            <p:cNvSpPr/>
            <p:nvPr/>
          </p:nvSpPr>
          <p:spPr>
            <a:xfrm>
              <a:off x="4395" y="3056"/>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72" name="Google Shape;472;p37"/>
            <p:cNvPicPr preferRelativeResize="0"/>
            <p:nvPr/>
          </p:nvPicPr>
          <p:blipFill rotWithShape="1">
            <a:blip r:embed="rId10">
              <a:alphaModFix/>
            </a:blip>
            <a:srcRect b="0" l="0" r="0" t="0"/>
            <a:stretch/>
          </p:blipFill>
          <p:spPr>
            <a:xfrm>
              <a:off x="4445" y="3120"/>
              <a:ext cx="223" cy="223"/>
            </a:xfrm>
            <a:prstGeom prst="rect">
              <a:avLst/>
            </a:prstGeom>
            <a:noFill/>
            <a:ln>
              <a:noFill/>
            </a:ln>
          </p:spPr>
        </p:pic>
        <p:cxnSp>
          <p:nvCxnSpPr>
            <p:cNvPr id="473" name="Google Shape;473;p37"/>
            <p:cNvCxnSpPr/>
            <p:nvPr/>
          </p:nvCxnSpPr>
          <p:spPr>
            <a:xfrm rot="5400000">
              <a:off x="3254" y="2800"/>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474" name="Google Shape;474;p37"/>
            <p:cNvCxnSpPr/>
            <p:nvPr/>
          </p:nvCxnSpPr>
          <p:spPr>
            <a:xfrm rot="5400000">
              <a:off x="4320" y="2800"/>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475" name="Google Shape;475;p37"/>
            <p:cNvCxnSpPr/>
            <p:nvPr/>
          </p:nvCxnSpPr>
          <p:spPr>
            <a:xfrm rot="5400000">
              <a:off x="3722" y="2416"/>
              <a:ext cx="640" cy="792"/>
            </a:xfrm>
            <a:prstGeom prst="straightConnector1">
              <a:avLst/>
            </a:prstGeom>
            <a:noFill/>
            <a:ln cap="flat" cmpd="sng" w="25400">
              <a:solidFill>
                <a:srgbClr val="000000"/>
              </a:solidFill>
              <a:prstDash val="solid"/>
              <a:miter lim="800000"/>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480" name="Shape 480"/>
        <p:cNvGrpSpPr/>
        <p:nvPr/>
      </p:nvGrpSpPr>
      <p:grpSpPr>
        <a:xfrm>
          <a:off x="0" y="0"/>
          <a:ext cx="0" cy="0"/>
          <a:chOff x="0" y="0"/>
          <a:chExt cx="0" cy="0"/>
        </a:xfrm>
      </p:grpSpPr>
      <p:sp>
        <p:nvSpPr>
          <p:cNvPr id="481" name="Google Shape;481;p38"/>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Đỉnh cắt, cạnh cầu</a:t>
            </a:r>
            <a:endParaRPr/>
          </a:p>
        </p:txBody>
      </p:sp>
      <p:sp>
        <p:nvSpPr>
          <p:cNvPr id="482" name="Google Shape;482;p38"/>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Ví dụ: Đỉnh cắt</a:t>
            </a:r>
            <a:endParaRPr/>
          </a:p>
        </p:txBody>
      </p:sp>
      <p:sp>
        <p:nvSpPr>
          <p:cNvPr id="483" name="Google Shape;483;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84" name="Google Shape;484;p38"/>
          <p:cNvGrpSpPr/>
          <p:nvPr/>
        </p:nvGrpSpPr>
        <p:grpSpPr>
          <a:xfrm>
            <a:off x="2362200" y="1847850"/>
            <a:ext cx="5078412" cy="1885950"/>
            <a:chOff x="1344" y="1440"/>
            <a:chExt cx="3199" cy="1188"/>
          </a:xfrm>
        </p:grpSpPr>
        <p:sp>
          <p:nvSpPr>
            <p:cNvPr id="485" name="Google Shape;485;p38"/>
            <p:cNvSpPr/>
            <p:nvPr/>
          </p:nvSpPr>
          <p:spPr>
            <a:xfrm>
              <a:off x="1344" y="144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86" name="Google Shape;486;p38"/>
            <p:cNvPicPr preferRelativeResize="0"/>
            <p:nvPr/>
          </p:nvPicPr>
          <p:blipFill rotWithShape="1">
            <a:blip r:embed="rId3">
              <a:alphaModFix/>
            </a:blip>
            <a:srcRect b="0" l="0" r="0" t="0"/>
            <a:stretch/>
          </p:blipFill>
          <p:spPr>
            <a:xfrm>
              <a:off x="1404" y="1493"/>
              <a:ext cx="221" cy="206"/>
            </a:xfrm>
            <a:prstGeom prst="rect">
              <a:avLst/>
            </a:prstGeom>
            <a:noFill/>
            <a:ln>
              <a:noFill/>
            </a:ln>
          </p:spPr>
        </p:pic>
        <p:sp>
          <p:nvSpPr>
            <p:cNvPr id="487" name="Google Shape;487;p38"/>
            <p:cNvSpPr/>
            <p:nvPr/>
          </p:nvSpPr>
          <p:spPr>
            <a:xfrm>
              <a:off x="2403" y="144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88" name="Google Shape;488;p38"/>
            <p:cNvPicPr preferRelativeResize="0"/>
            <p:nvPr/>
          </p:nvPicPr>
          <p:blipFill rotWithShape="1">
            <a:blip r:embed="rId4">
              <a:alphaModFix/>
            </a:blip>
            <a:srcRect b="0" l="0" r="0" t="0"/>
            <a:stretch/>
          </p:blipFill>
          <p:spPr>
            <a:xfrm>
              <a:off x="2466" y="1504"/>
              <a:ext cx="207" cy="207"/>
            </a:xfrm>
            <a:prstGeom prst="rect">
              <a:avLst/>
            </a:prstGeom>
            <a:noFill/>
            <a:ln>
              <a:noFill/>
            </a:ln>
          </p:spPr>
        </p:pic>
        <p:sp>
          <p:nvSpPr>
            <p:cNvPr id="489" name="Google Shape;489;p38"/>
            <p:cNvSpPr/>
            <p:nvPr/>
          </p:nvSpPr>
          <p:spPr>
            <a:xfrm>
              <a:off x="1344" y="228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90" name="Google Shape;490;p38"/>
            <p:cNvPicPr preferRelativeResize="0"/>
            <p:nvPr/>
          </p:nvPicPr>
          <p:blipFill rotWithShape="1">
            <a:blip r:embed="rId5">
              <a:alphaModFix/>
            </a:blip>
            <a:srcRect b="0" l="0" r="0" t="0"/>
            <a:stretch/>
          </p:blipFill>
          <p:spPr>
            <a:xfrm>
              <a:off x="1409" y="2354"/>
              <a:ext cx="192" cy="207"/>
            </a:xfrm>
            <a:prstGeom prst="rect">
              <a:avLst/>
            </a:prstGeom>
            <a:noFill/>
            <a:ln>
              <a:noFill/>
            </a:ln>
          </p:spPr>
        </p:pic>
        <p:sp>
          <p:nvSpPr>
            <p:cNvPr id="491" name="Google Shape;491;p38"/>
            <p:cNvSpPr/>
            <p:nvPr/>
          </p:nvSpPr>
          <p:spPr>
            <a:xfrm>
              <a:off x="2403" y="228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92" name="Google Shape;492;p38"/>
            <p:cNvPicPr preferRelativeResize="0"/>
            <p:nvPr/>
          </p:nvPicPr>
          <p:blipFill rotWithShape="1">
            <a:blip r:embed="rId6">
              <a:alphaModFix/>
            </a:blip>
            <a:srcRect b="0" l="0" r="0" t="0"/>
            <a:stretch/>
          </p:blipFill>
          <p:spPr>
            <a:xfrm>
              <a:off x="2464" y="2348"/>
              <a:ext cx="208" cy="223"/>
            </a:xfrm>
            <a:prstGeom prst="rect">
              <a:avLst/>
            </a:prstGeom>
            <a:noFill/>
            <a:ln>
              <a:noFill/>
            </a:ln>
          </p:spPr>
        </p:pic>
        <p:cxnSp>
          <p:nvCxnSpPr>
            <p:cNvPr id="493" name="Google Shape;493;p38"/>
            <p:cNvCxnSpPr/>
            <p:nvPr/>
          </p:nvCxnSpPr>
          <p:spPr>
            <a:xfrm>
              <a:off x="1690" y="2457"/>
              <a:ext cx="710" cy="0"/>
            </a:xfrm>
            <a:prstGeom prst="straightConnector1">
              <a:avLst/>
            </a:prstGeom>
            <a:noFill/>
            <a:ln cap="flat" cmpd="sng" w="25400">
              <a:solidFill>
                <a:srgbClr val="000000"/>
              </a:solidFill>
              <a:prstDash val="solid"/>
              <a:miter lim="800000"/>
              <a:headEnd len="med" w="med" type="none"/>
              <a:tailEnd len="med" w="med" type="none"/>
            </a:ln>
          </p:spPr>
        </p:cxnSp>
        <p:cxnSp>
          <p:nvCxnSpPr>
            <p:cNvPr id="494" name="Google Shape;494;p38"/>
            <p:cNvCxnSpPr/>
            <p:nvPr/>
          </p:nvCxnSpPr>
          <p:spPr>
            <a:xfrm>
              <a:off x="2744" y="2462"/>
              <a:ext cx="403" cy="0"/>
            </a:xfrm>
            <a:prstGeom prst="straightConnector1">
              <a:avLst/>
            </a:prstGeom>
            <a:noFill/>
            <a:ln cap="flat" cmpd="sng" w="25400">
              <a:solidFill>
                <a:srgbClr val="000000"/>
              </a:solidFill>
              <a:prstDash val="solid"/>
              <a:miter lim="800000"/>
              <a:headEnd len="med" w="med" type="none"/>
              <a:tailEnd len="med" w="med" type="none"/>
            </a:ln>
          </p:spPr>
        </p:cxnSp>
        <p:cxnSp>
          <p:nvCxnSpPr>
            <p:cNvPr id="495" name="Google Shape;495;p38"/>
            <p:cNvCxnSpPr/>
            <p:nvPr/>
          </p:nvCxnSpPr>
          <p:spPr>
            <a:xfrm rot="5400000">
              <a:off x="2317" y="2031"/>
              <a:ext cx="501" cy="0"/>
            </a:xfrm>
            <a:prstGeom prst="straightConnector1">
              <a:avLst/>
            </a:prstGeom>
            <a:noFill/>
            <a:ln cap="flat" cmpd="sng" w="25400">
              <a:solidFill>
                <a:srgbClr val="000000"/>
              </a:solidFill>
              <a:prstDash val="solid"/>
              <a:miter lim="800000"/>
              <a:headEnd len="med" w="med" type="none"/>
              <a:tailEnd len="med" w="med" type="none"/>
            </a:ln>
          </p:spPr>
        </p:cxnSp>
        <p:cxnSp>
          <p:nvCxnSpPr>
            <p:cNvPr id="496" name="Google Shape;496;p38"/>
            <p:cNvCxnSpPr/>
            <p:nvPr/>
          </p:nvCxnSpPr>
          <p:spPr>
            <a:xfrm rot="5400000">
              <a:off x="1723" y="1630"/>
              <a:ext cx="640" cy="792"/>
            </a:xfrm>
            <a:prstGeom prst="straightConnector1">
              <a:avLst/>
            </a:prstGeom>
            <a:noFill/>
            <a:ln cap="flat" cmpd="sng" w="25400">
              <a:solidFill>
                <a:srgbClr val="000000"/>
              </a:solidFill>
              <a:prstDash val="solid"/>
              <a:miter lim="800000"/>
              <a:headEnd len="med" w="med" type="none"/>
              <a:tailEnd len="med" w="med" type="none"/>
            </a:ln>
          </p:spPr>
        </p:cxnSp>
        <p:cxnSp>
          <p:nvCxnSpPr>
            <p:cNvPr id="497" name="Google Shape;497;p38"/>
            <p:cNvCxnSpPr/>
            <p:nvPr/>
          </p:nvCxnSpPr>
          <p:spPr>
            <a:xfrm rot="5400000">
              <a:off x="1261" y="2031"/>
              <a:ext cx="501" cy="0"/>
            </a:xfrm>
            <a:prstGeom prst="straightConnector1">
              <a:avLst/>
            </a:prstGeom>
            <a:noFill/>
            <a:ln cap="flat" cmpd="sng" w="25400">
              <a:solidFill>
                <a:srgbClr val="000000"/>
              </a:solidFill>
              <a:prstDash val="solid"/>
              <a:miter lim="800000"/>
              <a:headEnd len="med" w="med" type="none"/>
              <a:tailEnd len="med" w="med" type="none"/>
            </a:ln>
          </p:spPr>
        </p:cxnSp>
        <p:sp>
          <p:nvSpPr>
            <p:cNvPr id="498" name="Google Shape;498;p38"/>
            <p:cNvSpPr/>
            <p:nvPr/>
          </p:nvSpPr>
          <p:spPr>
            <a:xfrm>
              <a:off x="3147" y="1441"/>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99" name="Google Shape;499;p38"/>
            <p:cNvPicPr preferRelativeResize="0"/>
            <p:nvPr/>
          </p:nvPicPr>
          <p:blipFill rotWithShape="1">
            <a:blip r:embed="rId7">
              <a:alphaModFix/>
            </a:blip>
            <a:srcRect b="0" l="0" r="0" t="0"/>
            <a:stretch/>
          </p:blipFill>
          <p:spPr>
            <a:xfrm>
              <a:off x="3208" y="1504"/>
              <a:ext cx="192" cy="208"/>
            </a:xfrm>
            <a:prstGeom prst="rect">
              <a:avLst/>
            </a:prstGeom>
            <a:noFill/>
            <a:ln>
              <a:noFill/>
            </a:ln>
          </p:spPr>
        </p:pic>
        <p:cxnSp>
          <p:nvCxnSpPr>
            <p:cNvPr id="500" name="Google Shape;500;p38"/>
            <p:cNvCxnSpPr/>
            <p:nvPr/>
          </p:nvCxnSpPr>
          <p:spPr>
            <a:xfrm>
              <a:off x="3487" y="1618"/>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501" name="Google Shape;501;p38"/>
            <p:cNvSpPr/>
            <p:nvPr/>
          </p:nvSpPr>
          <p:spPr>
            <a:xfrm>
              <a:off x="4203" y="144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02" name="Google Shape;502;p38"/>
            <p:cNvPicPr preferRelativeResize="0"/>
            <p:nvPr/>
          </p:nvPicPr>
          <p:blipFill rotWithShape="1">
            <a:blip r:embed="rId8">
              <a:alphaModFix/>
            </a:blip>
            <a:srcRect b="0" l="0" r="0" t="0"/>
            <a:stretch/>
          </p:blipFill>
          <p:spPr>
            <a:xfrm>
              <a:off x="4257" y="1508"/>
              <a:ext cx="224" cy="207"/>
            </a:xfrm>
            <a:prstGeom prst="rect">
              <a:avLst/>
            </a:prstGeom>
            <a:noFill/>
            <a:ln>
              <a:noFill/>
            </a:ln>
          </p:spPr>
        </p:pic>
        <p:sp>
          <p:nvSpPr>
            <p:cNvPr id="503" name="Google Shape;503;p38"/>
            <p:cNvSpPr/>
            <p:nvPr/>
          </p:nvSpPr>
          <p:spPr>
            <a:xfrm>
              <a:off x="3147" y="2285"/>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04" name="Google Shape;504;p38"/>
            <p:cNvPicPr preferRelativeResize="0"/>
            <p:nvPr/>
          </p:nvPicPr>
          <p:blipFill rotWithShape="1">
            <a:blip r:embed="rId9">
              <a:alphaModFix/>
            </a:blip>
            <a:srcRect b="0" l="0" r="0" t="0"/>
            <a:stretch/>
          </p:blipFill>
          <p:spPr>
            <a:xfrm>
              <a:off x="3216" y="2348"/>
              <a:ext cx="192" cy="209"/>
            </a:xfrm>
            <a:prstGeom prst="rect">
              <a:avLst/>
            </a:prstGeom>
            <a:noFill/>
            <a:ln>
              <a:noFill/>
            </a:ln>
          </p:spPr>
        </p:pic>
        <p:cxnSp>
          <p:nvCxnSpPr>
            <p:cNvPr id="505" name="Google Shape;505;p38"/>
            <p:cNvCxnSpPr/>
            <p:nvPr/>
          </p:nvCxnSpPr>
          <p:spPr>
            <a:xfrm>
              <a:off x="3487" y="2462"/>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506" name="Google Shape;506;p38"/>
            <p:cNvSpPr/>
            <p:nvPr/>
          </p:nvSpPr>
          <p:spPr>
            <a:xfrm>
              <a:off x="4203" y="228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07" name="Google Shape;507;p38"/>
            <p:cNvPicPr preferRelativeResize="0"/>
            <p:nvPr/>
          </p:nvPicPr>
          <p:blipFill rotWithShape="1">
            <a:blip r:embed="rId10">
              <a:alphaModFix/>
            </a:blip>
            <a:srcRect b="0" l="0" r="0" t="0"/>
            <a:stretch/>
          </p:blipFill>
          <p:spPr>
            <a:xfrm>
              <a:off x="4253" y="2352"/>
              <a:ext cx="223" cy="223"/>
            </a:xfrm>
            <a:prstGeom prst="rect">
              <a:avLst/>
            </a:prstGeom>
            <a:noFill/>
            <a:ln>
              <a:noFill/>
            </a:ln>
          </p:spPr>
        </p:pic>
        <p:cxnSp>
          <p:nvCxnSpPr>
            <p:cNvPr id="508" name="Google Shape;508;p38"/>
            <p:cNvCxnSpPr/>
            <p:nvPr/>
          </p:nvCxnSpPr>
          <p:spPr>
            <a:xfrm rot="5400000">
              <a:off x="3062" y="2032"/>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509" name="Google Shape;509;p38"/>
            <p:cNvCxnSpPr/>
            <p:nvPr/>
          </p:nvCxnSpPr>
          <p:spPr>
            <a:xfrm rot="5400000">
              <a:off x="4128" y="2032"/>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510" name="Google Shape;510;p38"/>
            <p:cNvCxnSpPr/>
            <p:nvPr/>
          </p:nvCxnSpPr>
          <p:spPr>
            <a:xfrm rot="5400000">
              <a:off x="3530" y="1648"/>
              <a:ext cx="640" cy="792"/>
            </a:xfrm>
            <a:prstGeom prst="straightConnector1">
              <a:avLst/>
            </a:prstGeom>
            <a:noFill/>
            <a:ln cap="flat" cmpd="sng" w="25400">
              <a:solidFill>
                <a:srgbClr val="000000"/>
              </a:solidFill>
              <a:prstDash val="solid"/>
              <a:miter lim="800000"/>
              <a:headEnd len="med" w="med" type="none"/>
              <a:tailEnd len="med" w="med" type="none"/>
            </a:ln>
          </p:spPr>
        </p:cxnSp>
      </p:grpSp>
      <p:grpSp>
        <p:nvGrpSpPr>
          <p:cNvPr id="511" name="Google Shape;511;p38"/>
          <p:cNvGrpSpPr/>
          <p:nvPr/>
        </p:nvGrpSpPr>
        <p:grpSpPr>
          <a:xfrm>
            <a:off x="2438400" y="3981450"/>
            <a:ext cx="5078412" cy="1885950"/>
            <a:chOff x="1536" y="2256"/>
            <a:chExt cx="3199" cy="1188"/>
          </a:xfrm>
        </p:grpSpPr>
        <p:sp>
          <p:nvSpPr>
            <p:cNvPr id="512" name="Google Shape;512;p38"/>
            <p:cNvSpPr/>
            <p:nvPr/>
          </p:nvSpPr>
          <p:spPr>
            <a:xfrm>
              <a:off x="1536" y="2256"/>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13" name="Google Shape;513;p38"/>
            <p:cNvPicPr preferRelativeResize="0"/>
            <p:nvPr/>
          </p:nvPicPr>
          <p:blipFill rotWithShape="1">
            <a:blip r:embed="rId3">
              <a:alphaModFix/>
            </a:blip>
            <a:srcRect b="0" l="0" r="0" t="0"/>
            <a:stretch/>
          </p:blipFill>
          <p:spPr>
            <a:xfrm>
              <a:off x="1596" y="2309"/>
              <a:ext cx="221" cy="206"/>
            </a:xfrm>
            <a:prstGeom prst="rect">
              <a:avLst/>
            </a:prstGeom>
            <a:noFill/>
            <a:ln>
              <a:noFill/>
            </a:ln>
          </p:spPr>
        </p:pic>
        <p:sp>
          <p:nvSpPr>
            <p:cNvPr id="514" name="Google Shape;514;p38"/>
            <p:cNvSpPr/>
            <p:nvPr/>
          </p:nvSpPr>
          <p:spPr>
            <a:xfrm>
              <a:off x="2595" y="2256"/>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15" name="Google Shape;515;p38"/>
            <p:cNvPicPr preferRelativeResize="0"/>
            <p:nvPr/>
          </p:nvPicPr>
          <p:blipFill rotWithShape="1">
            <a:blip r:embed="rId4">
              <a:alphaModFix/>
            </a:blip>
            <a:srcRect b="0" l="0" r="0" t="0"/>
            <a:stretch/>
          </p:blipFill>
          <p:spPr>
            <a:xfrm>
              <a:off x="2658" y="2320"/>
              <a:ext cx="207" cy="207"/>
            </a:xfrm>
            <a:prstGeom prst="rect">
              <a:avLst/>
            </a:prstGeom>
            <a:noFill/>
            <a:ln>
              <a:noFill/>
            </a:ln>
          </p:spPr>
        </p:pic>
        <p:sp>
          <p:nvSpPr>
            <p:cNvPr id="516" name="Google Shape;516;p38"/>
            <p:cNvSpPr/>
            <p:nvPr/>
          </p:nvSpPr>
          <p:spPr>
            <a:xfrm>
              <a:off x="2595" y="310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17" name="Google Shape;517;p38"/>
            <p:cNvPicPr preferRelativeResize="0"/>
            <p:nvPr/>
          </p:nvPicPr>
          <p:blipFill rotWithShape="1">
            <a:blip r:embed="rId6">
              <a:alphaModFix/>
            </a:blip>
            <a:srcRect b="0" l="0" r="0" t="0"/>
            <a:stretch/>
          </p:blipFill>
          <p:spPr>
            <a:xfrm>
              <a:off x="2656" y="3164"/>
              <a:ext cx="208" cy="223"/>
            </a:xfrm>
            <a:prstGeom prst="rect">
              <a:avLst/>
            </a:prstGeom>
            <a:noFill/>
            <a:ln>
              <a:noFill/>
            </a:ln>
          </p:spPr>
        </p:pic>
        <p:cxnSp>
          <p:nvCxnSpPr>
            <p:cNvPr id="518" name="Google Shape;518;p38"/>
            <p:cNvCxnSpPr/>
            <p:nvPr/>
          </p:nvCxnSpPr>
          <p:spPr>
            <a:xfrm>
              <a:off x="2936" y="3278"/>
              <a:ext cx="403" cy="0"/>
            </a:xfrm>
            <a:prstGeom prst="straightConnector1">
              <a:avLst/>
            </a:prstGeom>
            <a:noFill/>
            <a:ln cap="flat" cmpd="sng" w="25400">
              <a:solidFill>
                <a:srgbClr val="000000"/>
              </a:solidFill>
              <a:prstDash val="solid"/>
              <a:miter lim="800000"/>
              <a:headEnd len="med" w="med" type="none"/>
              <a:tailEnd len="med" w="med" type="none"/>
            </a:ln>
          </p:spPr>
        </p:cxnSp>
        <p:cxnSp>
          <p:nvCxnSpPr>
            <p:cNvPr id="519" name="Google Shape;519;p38"/>
            <p:cNvCxnSpPr/>
            <p:nvPr/>
          </p:nvCxnSpPr>
          <p:spPr>
            <a:xfrm rot="5400000">
              <a:off x="2509" y="2847"/>
              <a:ext cx="501" cy="0"/>
            </a:xfrm>
            <a:prstGeom prst="straightConnector1">
              <a:avLst/>
            </a:prstGeom>
            <a:noFill/>
            <a:ln cap="flat" cmpd="sng" w="25400">
              <a:solidFill>
                <a:srgbClr val="000000"/>
              </a:solidFill>
              <a:prstDash val="solid"/>
              <a:miter lim="800000"/>
              <a:headEnd len="med" w="med" type="none"/>
              <a:tailEnd len="med" w="med" type="none"/>
            </a:ln>
          </p:spPr>
        </p:cxnSp>
        <p:sp>
          <p:nvSpPr>
            <p:cNvPr id="520" name="Google Shape;520;p38"/>
            <p:cNvSpPr/>
            <p:nvPr/>
          </p:nvSpPr>
          <p:spPr>
            <a:xfrm>
              <a:off x="3339" y="2257"/>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21" name="Google Shape;521;p38"/>
            <p:cNvPicPr preferRelativeResize="0"/>
            <p:nvPr/>
          </p:nvPicPr>
          <p:blipFill rotWithShape="1">
            <a:blip r:embed="rId7">
              <a:alphaModFix/>
            </a:blip>
            <a:srcRect b="0" l="0" r="0" t="0"/>
            <a:stretch/>
          </p:blipFill>
          <p:spPr>
            <a:xfrm>
              <a:off x="3400" y="2320"/>
              <a:ext cx="192" cy="208"/>
            </a:xfrm>
            <a:prstGeom prst="rect">
              <a:avLst/>
            </a:prstGeom>
            <a:noFill/>
            <a:ln>
              <a:noFill/>
            </a:ln>
          </p:spPr>
        </p:pic>
        <p:cxnSp>
          <p:nvCxnSpPr>
            <p:cNvPr id="522" name="Google Shape;522;p38"/>
            <p:cNvCxnSpPr/>
            <p:nvPr/>
          </p:nvCxnSpPr>
          <p:spPr>
            <a:xfrm>
              <a:off x="3679" y="2434"/>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523" name="Google Shape;523;p38"/>
            <p:cNvSpPr/>
            <p:nvPr/>
          </p:nvSpPr>
          <p:spPr>
            <a:xfrm>
              <a:off x="4395" y="226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24" name="Google Shape;524;p38"/>
            <p:cNvPicPr preferRelativeResize="0"/>
            <p:nvPr/>
          </p:nvPicPr>
          <p:blipFill rotWithShape="1">
            <a:blip r:embed="rId8">
              <a:alphaModFix/>
            </a:blip>
            <a:srcRect b="0" l="0" r="0" t="0"/>
            <a:stretch/>
          </p:blipFill>
          <p:spPr>
            <a:xfrm>
              <a:off x="4449" y="2324"/>
              <a:ext cx="224" cy="207"/>
            </a:xfrm>
            <a:prstGeom prst="rect">
              <a:avLst/>
            </a:prstGeom>
            <a:noFill/>
            <a:ln>
              <a:noFill/>
            </a:ln>
          </p:spPr>
        </p:pic>
        <p:sp>
          <p:nvSpPr>
            <p:cNvPr id="525" name="Google Shape;525;p38"/>
            <p:cNvSpPr/>
            <p:nvPr/>
          </p:nvSpPr>
          <p:spPr>
            <a:xfrm>
              <a:off x="3339" y="3101"/>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26" name="Google Shape;526;p38"/>
            <p:cNvPicPr preferRelativeResize="0"/>
            <p:nvPr/>
          </p:nvPicPr>
          <p:blipFill rotWithShape="1">
            <a:blip r:embed="rId9">
              <a:alphaModFix/>
            </a:blip>
            <a:srcRect b="0" l="0" r="0" t="0"/>
            <a:stretch/>
          </p:blipFill>
          <p:spPr>
            <a:xfrm>
              <a:off x="3408" y="3164"/>
              <a:ext cx="192" cy="209"/>
            </a:xfrm>
            <a:prstGeom prst="rect">
              <a:avLst/>
            </a:prstGeom>
            <a:noFill/>
            <a:ln>
              <a:noFill/>
            </a:ln>
          </p:spPr>
        </p:pic>
        <p:cxnSp>
          <p:nvCxnSpPr>
            <p:cNvPr id="527" name="Google Shape;527;p38"/>
            <p:cNvCxnSpPr/>
            <p:nvPr/>
          </p:nvCxnSpPr>
          <p:spPr>
            <a:xfrm>
              <a:off x="3679" y="3278"/>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528" name="Google Shape;528;p38"/>
            <p:cNvSpPr/>
            <p:nvPr/>
          </p:nvSpPr>
          <p:spPr>
            <a:xfrm>
              <a:off x="4395" y="310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29" name="Google Shape;529;p38"/>
            <p:cNvPicPr preferRelativeResize="0"/>
            <p:nvPr/>
          </p:nvPicPr>
          <p:blipFill rotWithShape="1">
            <a:blip r:embed="rId10">
              <a:alphaModFix/>
            </a:blip>
            <a:srcRect b="0" l="0" r="0" t="0"/>
            <a:stretch/>
          </p:blipFill>
          <p:spPr>
            <a:xfrm>
              <a:off x="4445" y="3168"/>
              <a:ext cx="223" cy="223"/>
            </a:xfrm>
            <a:prstGeom prst="rect">
              <a:avLst/>
            </a:prstGeom>
            <a:noFill/>
            <a:ln>
              <a:noFill/>
            </a:ln>
          </p:spPr>
        </p:pic>
        <p:cxnSp>
          <p:nvCxnSpPr>
            <p:cNvPr id="530" name="Google Shape;530;p38"/>
            <p:cNvCxnSpPr/>
            <p:nvPr/>
          </p:nvCxnSpPr>
          <p:spPr>
            <a:xfrm rot="5400000">
              <a:off x="3254" y="2848"/>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531" name="Google Shape;531;p38"/>
            <p:cNvCxnSpPr/>
            <p:nvPr/>
          </p:nvCxnSpPr>
          <p:spPr>
            <a:xfrm rot="5400000">
              <a:off x="4320" y="2848"/>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532" name="Google Shape;532;p38"/>
            <p:cNvCxnSpPr/>
            <p:nvPr/>
          </p:nvCxnSpPr>
          <p:spPr>
            <a:xfrm rot="5400000">
              <a:off x="3722" y="2464"/>
              <a:ext cx="640" cy="792"/>
            </a:xfrm>
            <a:prstGeom prst="straightConnector1">
              <a:avLst/>
            </a:prstGeom>
            <a:noFill/>
            <a:ln cap="flat" cmpd="sng" w="25400">
              <a:solidFill>
                <a:srgbClr val="000000"/>
              </a:solidFill>
              <a:prstDash val="solid"/>
              <a:miter lim="800000"/>
              <a:headEnd len="med" w="med" type="none"/>
              <a:tailEnd len="med" w="med" type="none"/>
            </a:ln>
          </p:spPr>
        </p:cxnSp>
      </p:grpSp>
      <p:sp>
        <p:nvSpPr>
          <p:cNvPr id="533" name="Google Shape;533;p38"/>
          <p:cNvSpPr txBox="1"/>
          <p:nvPr/>
        </p:nvSpPr>
        <p:spPr>
          <a:xfrm>
            <a:off x="1600200" y="5867400"/>
            <a:ext cx="8153400" cy="762000"/>
          </a:xfrm>
          <a:prstGeom prst="rect">
            <a:avLst/>
          </a:prstGeom>
          <a:noFill/>
          <a:ln>
            <a:noFill/>
          </a:ln>
        </p:spPr>
        <p:txBody>
          <a:bodyPr anchorCtr="0" anchor="t" bIns="45700" lIns="91425" spcFirstLastPara="1" rIns="91425" wrap="square" tIns="45700">
            <a:noAutofit/>
          </a:bodyPr>
          <a:lstStyle/>
          <a:p>
            <a:pPr indent="174625" lvl="0" marL="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B là đỉnh cắt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538" name="Shape 538"/>
        <p:cNvGrpSpPr/>
        <p:nvPr/>
      </p:nvGrpSpPr>
      <p:grpSpPr>
        <a:xfrm>
          <a:off x="0" y="0"/>
          <a:ext cx="0" cy="0"/>
          <a:chOff x="0" y="0"/>
          <a:chExt cx="0" cy="0"/>
        </a:xfrm>
      </p:grpSpPr>
      <p:sp>
        <p:nvSpPr>
          <p:cNvPr id="539" name="Google Shape;539;p39"/>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Đỉnh cắt, cạnh cầu</a:t>
            </a:r>
            <a:endParaRPr/>
          </a:p>
        </p:txBody>
      </p:sp>
      <p:sp>
        <p:nvSpPr>
          <p:cNvPr id="540" name="Google Shape;540;p39"/>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l">
              <a:lnSpc>
                <a:spcPct val="80000"/>
              </a:lnSpc>
              <a:spcBef>
                <a:spcPts val="0"/>
              </a:spcBef>
              <a:spcAft>
                <a:spcPts val="0"/>
              </a:spcAft>
              <a:buClr>
                <a:schemeClr val="dk1"/>
              </a:buClr>
              <a:buSzPts val="2800"/>
              <a:buFont typeface="Noto Sans Symbols"/>
              <a:buNone/>
            </a:pPr>
            <a:r>
              <a:rPr b="0" i="1" lang="en-US" sz="2800" u="sng">
                <a:solidFill>
                  <a:schemeClr val="dk1"/>
                </a:solidFill>
                <a:latin typeface="Arial"/>
                <a:ea typeface="Arial"/>
                <a:cs typeface="Arial"/>
                <a:sym typeface="Arial"/>
              </a:rPr>
              <a:t>Ví dụ:</a:t>
            </a:r>
            <a:r>
              <a:rPr b="0" i="0" lang="en-US" sz="2800" u="none">
                <a:solidFill>
                  <a:schemeClr val="dk1"/>
                </a:solidFill>
                <a:latin typeface="Arial"/>
                <a:ea typeface="Arial"/>
                <a:cs typeface="Arial"/>
                <a:sym typeface="Arial"/>
              </a:rPr>
              <a:t> Cạnh cầu</a:t>
            </a:r>
            <a:endParaRPr/>
          </a:p>
        </p:txBody>
      </p:sp>
      <p:sp>
        <p:nvSpPr>
          <p:cNvPr id="541" name="Google Shape;541;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542" name="Google Shape;542;p39"/>
          <p:cNvGrpSpPr/>
          <p:nvPr/>
        </p:nvGrpSpPr>
        <p:grpSpPr>
          <a:xfrm>
            <a:off x="2362200" y="1905000"/>
            <a:ext cx="5078412" cy="1885950"/>
            <a:chOff x="1344" y="1440"/>
            <a:chExt cx="3199" cy="1188"/>
          </a:xfrm>
        </p:grpSpPr>
        <p:sp>
          <p:nvSpPr>
            <p:cNvPr id="543" name="Google Shape;543;p39"/>
            <p:cNvSpPr/>
            <p:nvPr/>
          </p:nvSpPr>
          <p:spPr>
            <a:xfrm>
              <a:off x="1344" y="144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44" name="Google Shape;544;p39"/>
            <p:cNvPicPr preferRelativeResize="0"/>
            <p:nvPr/>
          </p:nvPicPr>
          <p:blipFill rotWithShape="1">
            <a:blip r:embed="rId3">
              <a:alphaModFix/>
            </a:blip>
            <a:srcRect b="0" l="0" r="0" t="0"/>
            <a:stretch/>
          </p:blipFill>
          <p:spPr>
            <a:xfrm>
              <a:off x="1404" y="1493"/>
              <a:ext cx="221" cy="206"/>
            </a:xfrm>
            <a:prstGeom prst="rect">
              <a:avLst/>
            </a:prstGeom>
            <a:noFill/>
            <a:ln>
              <a:noFill/>
            </a:ln>
          </p:spPr>
        </p:pic>
        <p:sp>
          <p:nvSpPr>
            <p:cNvPr id="545" name="Google Shape;545;p39"/>
            <p:cNvSpPr/>
            <p:nvPr/>
          </p:nvSpPr>
          <p:spPr>
            <a:xfrm>
              <a:off x="2403" y="144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46" name="Google Shape;546;p39"/>
            <p:cNvPicPr preferRelativeResize="0"/>
            <p:nvPr/>
          </p:nvPicPr>
          <p:blipFill rotWithShape="1">
            <a:blip r:embed="rId4">
              <a:alphaModFix/>
            </a:blip>
            <a:srcRect b="0" l="0" r="0" t="0"/>
            <a:stretch/>
          </p:blipFill>
          <p:spPr>
            <a:xfrm>
              <a:off x="2466" y="1504"/>
              <a:ext cx="207" cy="207"/>
            </a:xfrm>
            <a:prstGeom prst="rect">
              <a:avLst/>
            </a:prstGeom>
            <a:noFill/>
            <a:ln>
              <a:noFill/>
            </a:ln>
          </p:spPr>
        </p:pic>
        <p:sp>
          <p:nvSpPr>
            <p:cNvPr id="547" name="Google Shape;547;p39"/>
            <p:cNvSpPr/>
            <p:nvPr/>
          </p:nvSpPr>
          <p:spPr>
            <a:xfrm>
              <a:off x="1344" y="228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48" name="Google Shape;548;p39"/>
            <p:cNvPicPr preferRelativeResize="0"/>
            <p:nvPr/>
          </p:nvPicPr>
          <p:blipFill rotWithShape="1">
            <a:blip r:embed="rId5">
              <a:alphaModFix/>
            </a:blip>
            <a:srcRect b="0" l="0" r="0" t="0"/>
            <a:stretch/>
          </p:blipFill>
          <p:spPr>
            <a:xfrm>
              <a:off x="1409" y="2354"/>
              <a:ext cx="192" cy="207"/>
            </a:xfrm>
            <a:prstGeom prst="rect">
              <a:avLst/>
            </a:prstGeom>
            <a:noFill/>
            <a:ln>
              <a:noFill/>
            </a:ln>
          </p:spPr>
        </p:pic>
        <p:sp>
          <p:nvSpPr>
            <p:cNvPr id="549" name="Google Shape;549;p39"/>
            <p:cNvSpPr/>
            <p:nvPr/>
          </p:nvSpPr>
          <p:spPr>
            <a:xfrm>
              <a:off x="2403" y="228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50" name="Google Shape;550;p39"/>
            <p:cNvPicPr preferRelativeResize="0"/>
            <p:nvPr/>
          </p:nvPicPr>
          <p:blipFill rotWithShape="1">
            <a:blip r:embed="rId6">
              <a:alphaModFix/>
            </a:blip>
            <a:srcRect b="0" l="0" r="0" t="0"/>
            <a:stretch/>
          </p:blipFill>
          <p:spPr>
            <a:xfrm>
              <a:off x="2464" y="2348"/>
              <a:ext cx="208" cy="223"/>
            </a:xfrm>
            <a:prstGeom prst="rect">
              <a:avLst/>
            </a:prstGeom>
            <a:noFill/>
            <a:ln>
              <a:noFill/>
            </a:ln>
          </p:spPr>
        </p:pic>
        <p:cxnSp>
          <p:nvCxnSpPr>
            <p:cNvPr id="551" name="Google Shape;551;p39"/>
            <p:cNvCxnSpPr/>
            <p:nvPr/>
          </p:nvCxnSpPr>
          <p:spPr>
            <a:xfrm>
              <a:off x="1690" y="2457"/>
              <a:ext cx="710" cy="0"/>
            </a:xfrm>
            <a:prstGeom prst="straightConnector1">
              <a:avLst/>
            </a:prstGeom>
            <a:noFill/>
            <a:ln cap="flat" cmpd="sng" w="25400">
              <a:solidFill>
                <a:srgbClr val="000000"/>
              </a:solidFill>
              <a:prstDash val="solid"/>
              <a:miter lim="800000"/>
              <a:headEnd len="med" w="med" type="none"/>
              <a:tailEnd len="med" w="med" type="none"/>
            </a:ln>
          </p:spPr>
        </p:cxnSp>
        <p:cxnSp>
          <p:nvCxnSpPr>
            <p:cNvPr id="552" name="Google Shape;552;p39"/>
            <p:cNvCxnSpPr/>
            <p:nvPr/>
          </p:nvCxnSpPr>
          <p:spPr>
            <a:xfrm>
              <a:off x="2744" y="2462"/>
              <a:ext cx="403" cy="0"/>
            </a:xfrm>
            <a:prstGeom prst="straightConnector1">
              <a:avLst/>
            </a:prstGeom>
            <a:noFill/>
            <a:ln cap="flat" cmpd="sng" w="25400">
              <a:solidFill>
                <a:srgbClr val="000000"/>
              </a:solidFill>
              <a:prstDash val="solid"/>
              <a:miter lim="800000"/>
              <a:headEnd len="med" w="med" type="none"/>
              <a:tailEnd len="med" w="med" type="none"/>
            </a:ln>
          </p:spPr>
        </p:cxnSp>
        <p:cxnSp>
          <p:nvCxnSpPr>
            <p:cNvPr id="553" name="Google Shape;553;p39"/>
            <p:cNvCxnSpPr/>
            <p:nvPr/>
          </p:nvCxnSpPr>
          <p:spPr>
            <a:xfrm rot="5400000">
              <a:off x="2317" y="2031"/>
              <a:ext cx="501" cy="0"/>
            </a:xfrm>
            <a:prstGeom prst="straightConnector1">
              <a:avLst/>
            </a:prstGeom>
            <a:noFill/>
            <a:ln cap="flat" cmpd="sng" w="25400">
              <a:solidFill>
                <a:srgbClr val="000000"/>
              </a:solidFill>
              <a:prstDash val="solid"/>
              <a:miter lim="800000"/>
              <a:headEnd len="med" w="med" type="none"/>
              <a:tailEnd len="med" w="med" type="none"/>
            </a:ln>
          </p:spPr>
        </p:cxnSp>
        <p:cxnSp>
          <p:nvCxnSpPr>
            <p:cNvPr id="554" name="Google Shape;554;p39"/>
            <p:cNvCxnSpPr/>
            <p:nvPr/>
          </p:nvCxnSpPr>
          <p:spPr>
            <a:xfrm rot="5400000">
              <a:off x="1723" y="1630"/>
              <a:ext cx="640" cy="792"/>
            </a:xfrm>
            <a:prstGeom prst="straightConnector1">
              <a:avLst/>
            </a:prstGeom>
            <a:noFill/>
            <a:ln cap="flat" cmpd="sng" w="25400">
              <a:solidFill>
                <a:srgbClr val="000000"/>
              </a:solidFill>
              <a:prstDash val="solid"/>
              <a:miter lim="800000"/>
              <a:headEnd len="med" w="med" type="none"/>
              <a:tailEnd len="med" w="med" type="none"/>
            </a:ln>
          </p:spPr>
        </p:cxnSp>
        <p:cxnSp>
          <p:nvCxnSpPr>
            <p:cNvPr id="555" name="Google Shape;555;p39"/>
            <p:cNvCxnSpPr/>
            <p:nvPr/>
          </p:nvCxnSpPr>
          <p:spPr>
            <a:xfrm rot="5400000">
              <a:off x="1261" y="2031"/>
              <a:ext cx="501" cy="0"/>
            </a:xfrm>
            <a:prstGeom prst="straightConnector1">
              <a:avLst/>
            </a:prstGeom>
            <a:noFill/>
            <a:ln cap="flat" cmpd="sng" w="25400">
              <a:solidFill>
                <a:srgbClr val="000000"/>
              </a:solidFill>
              <a:prstDash val="solid"/>
              <a:miter lim="800000"/>
              <a:headEnd len="med" w="med" type="none"/>
              <a:tailEnd len="med" w="med" type="none"/>
            </a:ln>
          </p:spPr>
        </p:cxnSp>
        <p:sp>
          <p:nvSpPr>
            <p:cNvPr id="556" name="Google Shape;556;p39"/>
            <p:cNvSpPr/>
            <p:nvPr/>
          </p:nvSpPr>
          <p:spPr>
            <a:xfrm>
              <a:off x="3147" y="1441"/>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57" name="Google Shape;557;p39"/>
            <p:cNvPicPr preferRelativeResize="0"/>
            <p:nvPr/>
          </p:nvPicPr>
          <p:blipFill rotWithShape="1">
            <a:blip r:embed="rId7">
              <a:alphaModFix/>
            </a:blip>
            <a:srcRect b="0" l="0" r="0" t="0"/>
            <a:stretch/>
          </p:blipFill>
          <p:spPr>
            <a:xfrm>
              <a:off x="3208" y="1504"/>
              <a:ext cx="192" cy="208"/>
            </a:xfrm>
            <a:prstGeom prst="rect">
              <a:avLst/>
            </a:prstGeom>
            <a:noFill/>
            <a:ln>
              <a:noFill/>
            </a:ln>
          </p:spPr>
        </p:pic>
        <p:cxnSp>
          <p:nvCxnSpPr>
            <p:cNvPr id="558" name="Google Shape;558;p39"/>
            <p:cNvCxnSpPr/>
            <p:nvPr/>
          </p:nvCxnSpPr>
          <p:spPr>
            <a:xfrm>
              <a:off x="3487" y="1618"/>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559" name="Google Shape;559;p39"/>
            <p:cNvSpPr/>
            <p:nvPr/>
          </p:nvSpPr>
          <p:spPr>
            <a:xfrm>
              <a:off x="4203" y="144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60" name="Google Shape;560;p39"/>
            <p:cNvPicPr preferRelativeResize="0"/>
            <p:nvPr/>
          </p:nvPicPr>
          <p:blipFill rotWithShape="1">
            <a:blip r:embed="rId8">
              <a:alphaModFix/>
            </a:blip>
            <a:srcRect b="0" l="0" r="0" t="0"/>
            <a:stretch/>
          </p:blipFill>
          <p:spPr>
            <a:xfrm>
              <a:off x="4257" y="1508"/>
              <a:ext cx="224" cy="207"/>
            </a:xfrm>
            <a:prstGeom prst="rect">
              <a:avLst/>
            </a:prstGeom>
            <a:noFill/>
            <a:ln>
              <a:noFill/>
            </a:ln>
          </p:spPr>
        </p:pic>
        <p:sp>
          <p:nvSpPr>
            <p:cNvPr id="561" name="Google Shape;561;p39"/>
            <p:cNvSpPr/>
            <p:nvPr/>
          </p:nvSpPr>
          <p:spPr>
            <a:xfrm>
              <a:off x="3147" y="2285"/>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62" name="Google Shape;562;p39"/>
            <p:cNvPicPr preferRelativeResize="0"/>
            <p:nvPr/>
          </p:nvPicPr>
          <p:blipFill rotWithShape="1">
            <a:blip r:embed="rId9">
              <a:alphaModFix/>
            </a:blip>
            <a:srcRect b="0" l="0" r="0" t="0"/>
            <a:stretch/>
          </p:blipFill>
          <p:spPr>
            <a:xfrm>
              <a:off x="3216" y="2348"/>
              <a:ext cx="192" cy="209"/>
            </a:xfrm>
            <a:prstGeom prst="rect">
              <a:avLst/>
            </a:prstGeom>
            <a:noFill/>
            <a:ln>
              <a:noFill/>
            </a:ln>
          </p:spPr>
        </p:pic>
        <p:cxnSp>
          <p:nvCxnSpPr>
            <p:cNvPr id="563" name="Google Shape;563;p39"/>
            <p:cNvCxnSpPr/>
            <p:nvPr/>
          </p:nvCxnSpPr>
          <p:spPr>
            <a:xfrm>
              <a:off x="3487" y="2462"/>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564" name="Google Shape;564;p39"/>
            <p:cNvSpPr/>
            <p:nvPr/>
          </p:nvSpPr>
          <p:spPr>
            <a:xfrm>
              <a:off x="4203" y="228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65" name="Google Shape;565;p39"/>
            <p:cNvPicPr preferRelativeResize="0"/>
            <p:nvPr/>
          </p:nvPicPr>
          <p:blipFill rotWithShape="1">
            <a:blip r:embed="rId10">
              <a:alphaModFix/>
            </a:blip>
            <a:srcRect b="0" l="0" r="0" t="0"/>
            <a:stretch/>
          </p:blipFill>
          <p:spPr>
            <a:xfrm>
              <a:off x="4253" y="2352"/>
              <a:ext cx="223" cy="223"/>
            </a:xfrm>
            <a:prstGeom prst="rect">
              <a:avLst/>
            </a:prstGeom>
            <a:noFill/>
            <a:ln>
              <a:noFill/>
            </a:ln>
          </p:spPr>
        </p:pic>
        <p:cxnSp>
          <p:nvCxnSpPr>
            <p:cNvPr id="566" name="Google Shape;566;p39"/>
            <p:cNvCxnSpPr/>
            <p:nvPr/>
          </p:nvCxnSpPr>
          <p:spPr>
            <a:xfrm rot="5400000">
              <a:off x="3062" y="2032"/>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567" name="Google Shape;567;p39"/>
            <p:cNvCxnSpPr/>
            <p:nvPr/>
          </p:nvCxnSpPr>
          <p:spPr>
            <a:xfrm rot="5400000">
              <a:off x="4128" y="2032"/>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568" name="Google Shape;568;p39"/>
            <p:cNvCxnSpPr/>
            <p:nvPr/>
          </p:nvCxnSpPr>
          <p:spPr>
            <a:xfrm rot="5400000">
              <a:off x="3530" y="1648"/>
              <a:ext cx="640" cy="792"/>
            </a:xfrm>
            <a:prstGeom prst="straightConnector1">
              <a:avLst/>
            </a:prstGeom>
            <a:noFill/>
            <a:ln cap="flat" cmpd="sng" w="25400">
              <a:solidFill>
                <a:srgbClr val="000000"/>
              </a:solidFill>
              <a:prstDash val="solid"/>
              <a:miter lim="800000"/>
              <a:headEnd len="med" w="med" type="none"/>
              <a:tailEnd len="med" w="med" type="none"/>
            </a:ln>
          </p:spPr>
        </p:cxnSp>
      </p:grpSp>
      <p:sp>
        <p:nvSpPr>
          <p:cNvPr id="569" name="Google Shape;569;p39"/>
          <p:cNvSpPr txBox="1"/>
          <p:nvPr/>
        </p:nvSpPr>
        <p:spPr>
          <a:xfrm>
            <a:off x="1981200" y="6019800"/>
            <a:ext cx="5562600" cy="762000"/>
          </a:xfrm>
          <a:prstGeom prst="rect">
            <a:avLst/>
          </a:prstGeom>
          <a:noFill/>
          <a:ln>
            <a:noFill/>
          </a:ln>
        </p:spPr>
        <p:txBody>
          <a:bodyPr anchorCtr="0" anchor="t" bIns="45700" lIns="91425" spcFirstLastPara="1" rIns="91425" wrap="square" tIns="45700">
            <a:noAutofit/>
          </a:bodyPr>
          <a:lstStyle/>
          <a:p>
            <a:pPr indent="174625" lvl="0" marL="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(A, B) là cạnh cầu</a:t>
            </a:r>
            <a:endParaRPr/>
          </a:p>
        </p:txBody>
      </p:sp>
      <p:grpSp>
        <p:nvGrpSpPr>
          <p:cNvPr id="570" name="Google Shape;570;p39"/>
          <p:cNvGrpSpPr/>
          <p:nvPr/>
        </p:nvGrpSpPr>
        <p:grpSpPr>
          <a:xfrm>
            <a:off x="2286000" y="3981450"/>
            <a:ext cx="5078412" cy="1885950"/>
            <a:chOff x="1440" y="2208"/>
            <a:chExt cx="3199" cy="1188"/>
          </a:xfrm>
        </p:grpSpPr>
        <p:sp>
          <p:nvSpPr>
            <p:cNvPr id="571" name="Google Shape;571;p39"/>
            <p:cNvSpPr/>
            <p:nvPr/>
          </p:nvSpPr>
          <p:spPr>
            <a:xfrm>
              <a:off x="1440" y="220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72" name="Google Shape;572;p39"/>
            <p:cNvPicPr preferRelativeResize="0"/>
            <p:nvPr/>
          </p:nvPicPr>
          <p:blipFill rotWithShape="1">
            <a:blip r:embed="rId3">
              <a:alphaModFix/>
            </a:blip>
            <a:srcRect b="0" l="0" r="0" t="0"/>
            <a:stretch/>
          </p:blipFill>
          <p:spPr>
            <a:xfrm>
              <a:off x="1500" y="2261"/>
              <a:ext cx="221" cy="206"/>
            </a:xfrm>
            <a:prstGeom prst="rect">
              <a:avLst/>
            </a:prstGeom>
            <a:noFill/>
            <a:ln>
              <a:noFill/>
            </a:ln>
          </p:spPr>
        </p:pic>
        <p:sp>
          <p:nvSpPr>
            <p:cNvPr id="573" name="Google Shape;573;p39"/>
            <p:cNvSpPr/>
            <p:nvPr/>
          </p:nvSpPr>
          <p:spPr>
            <a:xfrm>
              <a:off x="2499" y="220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74" name="Google Shape;574;p39"/>
            <p:cNvPicPr preferRelativeResize="0"/>
            <p:nvPr/>
          </p:nvPicPr>
          <p:blipFill rotWithShape="1">
            <a:blip r:embed="rId4">
              <a:alphaModFix/>
            </a:blip>
            <a:srcRect b="0" l="0" r="0" t="0"/>
            <a:stretch/>
          </p:blipFill>
          <p:spPr>
            <a:xfrm>
              <a:off x="2562" y="2272"/>
              <a:ext cx="207" cy="207"/>
            </a:xfrm>
            <a:prstGeom prst="rect">
              <a:avLst/>
            </a:prstGeom>
            <a:noFill/>
            <a:ln>
              <a:noFill/>
            </a:ln>
          </p:spPr>
        </p:pic>
        <p:sp>
          <p:nvSpPr>
            <p:cNvPr id="575" name="Google Shape;575;p39"/>
            <p:cNvSpPr/>
            <p:nvPr/>
          </p:nvSpPr>
          <p:spPr>
            <a:xfrm>
              <a:off x="1440" y="305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76" name="Google Shape;576;p39"/>
            <p:cNvPicPr preferRelativeResize="0"/>
            <p:nvPr/>
          </p:nvPicPr>
          <p:blipFill rotWithShape="1">
            <a:blip r:embed="rId5">
              <a:alphaModFix/>
            </a:blip>
            <a:srcRect b="0" l="0" r="0" t="0"/>
            <a:stretch/>
          </p:blipFill>
          <p:spPr>
            <a:xfrm>
              <a:off x="1505" y="3122"/>
              <a:ext cx="192" cy="207"/>
            </a:xfrm>
            <a:prstGeom prst="rect">
              <a:avLst/>
            </a:prstGeom>
            <a:noFill/>
            <a:ln>
              <a:noFill/>
            </a:ln>
          </p:spPr>
        </p:pic>
        <p:sp>
          <p:nvSpPr>
            <p:cNvPr id="577" name="Google Shape;577;p39"/>
            <p:cNvSpPr/>
            <p:nvPr/>
          </p:nvSpPr>
          <p:spPr>
            <a:xfrm>
              <a:off x="2499" y="305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78" name="Google Shape;578;p39"/>
            <p:cNvPicPr preferRelativeResize="0"/>
            <p:nvPr/>
          </p:nvPicPr>
          <p:blipFill rotWithShape="1">
            <a:blip r:embed="rId6">
              <a:alphaModFix/>
            </a:blip>
            <a:srcRect b="0" l="0" r="0" t="0"/>
            <a:stretch/>
          </p:blipFill>
          <p:spPr>
            <a:xfrm>
              <a:off x="2560" y="3116"/>
              <a:ext cx="208" cy="223"/>
            </a:xfrm>
            <a:prstGeom prst="rect">
              <a:avLst/>
            </a:prstGeom>
            <a:noFill/>
            <a:ln>
              <a:noFill/>
            </a:ln>
          </p:spPr>
        </p:pic>
        <p:cxnSp>
          <p:nvCxnSpPr>
            <p:cNvPr id="579" name="Google Shape;579;p39"/>
            <p:cNvCxnSpPr/>
            <p:nvPr/>
          </p:nvCxnSpPr>
          <p:spPr>
            <a:xfrm>
              <a:off x="1786" y="3225"/>
              <a:ext cx="710" cy="0"/>
            </a:xfrm>
            <a:prstGeom prst="straightConnector1">
              <a:avLst/>
            </a:prstGeom>
            <a:noFill/>
            <a:ln cap="flat" cmpd="sng" w="25400">
              <a:solidFill>
                <a:srgbClr val="000000"/>
              </a:solidFill>
              <a:prstDash val="solid"/>
              <a:miter lim="800000"/>
              <a:headEnd len="med" w="med" type="none"/>
              <a:tailEnd len="med" w="med" type="none"/>
            </a:ln>
          </p:spPr>
        </p:cxnSp>
        <p:cxnSp>
          <p:nvCxnSpPr>
            <p:cNvPr id="580" name="Google Shape;580;p39"/>
            <p:cNvCxnSpPr/>
            <p:nvPr/>
          </p:nvCxnSpPr>
          <p:spPr>
            <a:xfrm>
              <a:off x="2840" y="3230"/>
              <a:ext cx="403" cy="0"/>
            </a:xfrm>
            <a:prstGeom prst="straightConnector1">
              <a:avLst/>
            </a:prstGeom>
            <a:noFill/>
            <a:ln cap="flat" cmpd="sng" w="25400">
              <a:solidFill>
                <a:srgbClr val="000000"/>
              </a:solidFill>
              <a:prstDash val="solid"/>
              <a:miter lim="800000"/>
              <a:headEnd len="med" w="med" type="none"/>
              <a:tailEnd len="med" w="med" type="none"/>
            </a:ln>
          </p:spPr>
        </p:cxnSp>
        <p:cxnSp>
          <p:nvCxnSpPr>
            <p:cNvPr id="581" name="Google Shape;581;p39"/>
            <p:cNvCxnSpPr/>
            <p:nvPr/>
          </p:nvCxnSpPr>
          <p:spPr>
            <a:xfrm rot="5400000">
              <a:off x="2413" y="2799"/>
              <a:ext cx="501" cy="0"/>
            </a:xfrm>
            <a:prstGeom prst="straightConnector1">
              <a:avLst/>
            </a:prstGeom>
            <a:noFill/>
            <a:ln cap="flat" cmpd="sng" w="25400">
              <a:solidFill>
                <a:srgbClr val="000000"/>
              </a:solidFill>
              <a:prstDash val="solid"/>
              <a:miter lim="800000"/>
              <a:headEnd len="med" w="med" type="none"/>
              <a:tailEnd len="med" w="med" type="none"/>
            </a:ln>
          </p:spPr>
        </p:cxnSp>
        <p:cxnSp>
          <p:nvCxnSpPr>
            <p:cNvPr id="582" name="Google Shape;582;p39"/>
            <p:cNvCxnSpPr/>
            <p:nvPr/>
          </p:nvCxnSpPr>
          <p:spPr>
            <a:xfrm rot="5400000">
              <a:off x="1819" y="2398"/>
              <a:ext cx="640" cy="792"/>
            </a:xfrm>
            <a:prstGeom prst="straightConnector1">
              <a:avLst/>
            </a:prstGeom>
            <a:noFill/>
            <a:ln cap="flat" cmpd="sng" w="25400">
              <a:solidFill>
                <a:srgbClr val="000000"/>
              </a:solidFill>
              <a:prstDash val="solid"/>
              <a:miter lim="800000"/>
              <a:headEnd len="med" w="med" type="none"/>
              <a:tailEnd len="med" w="med" type="none"/>
            </a:ln>
          </p:spPr>
        </p:cxnSp>
        <p:sp>
          <p:nvSpPr>
            <p:cNvPr id="583" name="Google Shape;583;p39"/>
            <p:cNvSpPr/>
            <p:nvPr/>
          </p:nvSpPr>
          <p:spPr>
            <a:xfrm>
              <a:off x="3243" y="2209"/>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84" name="Google Shape;584;p39"/>
            <p:cNvPicPr preferRelativeResize="0"/>
            <p:nvPr/>
          </p:nvPicPr>
          <p:blipFill rotWithShape="1">
            <a:blip r:embed="rId7">
              <a:alphaModFix/>
            </a:blip>
            <a:srcRect b="0" l="0" r="0" t="0"/>
            <a:stretch/>
          </p:blipFill>
          <p:spPr>
            <a:xfrm>
              <a:off x="3304" y="2272"/>
              <a:ext cx="192" cy="208"/>
            </a:xfrm>
            <a:prstGeom prst="rect">
              <a:avLst/>
            </a:prstGeom>
            <a:noFill/>
            <a:ln>
              <a:noFill/>
            </a:ln>
          </p:spPr>
        </p:pic>
        <p:cxnSp>
          <p:nvCxnSpPr>
            <p:cNvPr id="585" name="Google Shape;585;p39"/>
            <p:cNvCxnSpPr/>
            <p:nvPr/>
          </p:nvCxnSpPr>
          <p:spPr>
            <a:xfrm>
              <a:off x="3583" y="2386"/>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586" name="Google Shape;586;p39"/>
            <p:cNvSpPr/>
            <p:nvPr/>
          </p:nvSpPr>
          <p:spPr>
            <a:xfrm>
              <a:off x="4299" y="221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87" name="Google Shape;587;p39"/>
            <p:cNvPicPr preferRelativeResize="0"/>
            <p:nvPr/>
          </p:nvPicPr>
          <p:blipFill rotWithShape="1">
            <a:blip r:embed="rId8">
              <a:alphaModFix/>
            </a:blip>
            <a:srcRect b="0" l="0" r="0" t="0"/>
            <a:stretch/>
          </p:blipFill>
          <p:spPr>
            <a:xfrm>
              <a:off x="4353" y="2276"/>
              <a:ext cx="224" cy="207"/>
            </a:xfrm>
            <a:prstGeom prst="rect">
              <a:avLst/>
            </a:prstGeom>
            <a:noFill/>
            <a:ln>
              <a:noFill/>
            </a:ln>
          </p:spPr>
        </p:pic>
        <p:sp>
          <p:nvSpPr>
            <p:cNvPr id="588" name="Google Shape;588;p39"/>
            <p:cNvSpPr/>
            <p:nvPr/>
          </p:nvSpPr>
          <p:spPr>
            <a:xfrm>
              <a:off x="3243" y="3053"/>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89" name="Google Shape;589;p39"/>
            <p:cNvPicPr preferRelativeResize="0"/>
            <p:nvPr/>
          </p:nvPicPr>
          <p:blipFill rotWithShape="1">
            <a:blip r:embed="rId9">
              <a:alphaModFix/>
            </a:blip>
            <a:srcRect b="0" l="0" r="0" t="0"/>
            <a:stretch/>
          </p:blipFill>
          <p:spPr>
            <a:xfrm>
              <a:off x="3312" y="3116"/>
              <a:ext cx="192" cy="209"/>
            </a:xfrm>
            <a:prstGeom prst="rect">
              <a:avLst/>
            </a:prstGeom>
            <a:noFill/>
            <a:ln>
              <a:noFill/>
            </a:ln>
          </p:spPr>
        </p:pic>
        <p:cxnSp>
          <p:nvCxnSpPr>
            <p:cNvPr id="590" name="Google Shape;590;p39"/>
            <p:cNvCxnSpPr/>
            <p:nvPr/>
          </p:nvCxnSpPr>
          <p:spPr>
            <a:xfrm>
              <a:off x="3583" y="3230"/>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591" name="Google Shape;591;p39"/>
            <p:cNvSpPr/>
            <p:nvPr/>
          </p:nvSpPr>
          <p:spPr>
            <a:xfrm>
              <a:off x="4299" y="3056"/>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92" name="Google Shape;592;p39"/>
            <p:cNvPicPr preferRelativeResize="0"/>
            <p:nvPr/>
          </p:nvPicPr>
          <p:blipFill rotWithShape="1">
            <a:blip r:embed="rId10">
              <a:alphaModFix/>
            </a:blip>
            <a:srcRect b="0" l="0" r="0" t="0"/>
            <a:stretch/>
          </p:blipFill>
          <p:spPr>
            <a:xfrm>
              <a:off x="4349" y="3120"/>
              <a:ext cx="223" cy="223"/>
            </a:xfrm>
            <a:prstGeom prst="rect">
              <a:avLst/>
            </a:prstGeom>
            <a:noFill/>
            <a:ln>
              <a:noFill/>
            </a:ln>
          </p:spPr>
        </p:pic>
        <p:cxnSp>
          <p:nvCxnSpPr>
            <p:cNvPr id="593" name="Google Shape;593;p39"/>
            <p:cNvCxnSpPr/>
            <p:nvPr/>
          </p:nvCxnSpPr>
          <p:spPr>
            <a:xfrm rot="5400000">
              <a:off x="3158" y="2800"/>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594" name="Google Shape;594;p39"/>
            <p:cNvCxnSpPr/>
            <p:nvPr/>
          </p:nvCxnSpPr>
          <p:spPr>
            <a:xfrm rot="5400000">
              <a:off x="4224" y="2800"/>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595" name="Google Shape;595;p39"/>
            <p:cNvCxnSpPr/>
            <p:nvPr/>
          </p:nvCxnSpPr>
          <p:spPr>
            <a:xfrm rot="5400000">
              <a:off x="3626" y="2416"/>
              <a:ext cx="640" cy="792"/>
            </a:xfrm>
            <a:prstGeom prst="straightConnector1">
              <a:avLst/>
            </a:prstGeom>
            <a:noFill/>
            <a:ln cap="flat" cmpd="sng" w="25400">
              <a:solidFill>
                <a:srgbClr val="000000"/>
              </a:solidFill>
              <a:prstDash val="solid"/>
              <a:miter lim="800000"/>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600" name="Shape 600"/>
        <p:cNvGrpSpPr/>
        <p:nvPr/>
      </p:nvGrpSpPr>
      <p:grpSpPr>
        <a:xfrm>
          <a:off x="0" y="0"/>
          <a:ext cx="0" cy="0"/>
          <a:chOff x="0" y="0"/>
          <a:chExt cx="0" cy="0"/>
        </a:xfrm>
      </p:grpSpPr>
      <p:sp>
        <p:nvSpPr>
          <p:cNvPr id="601" name="Google Shape;601;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02" name="Google Shape;602;p40"/>
          <p:cNvGrpSpPr/>
          <p:nvPr/>
        </p:nvGrpSpPr>
        <p:grpSpPr>
          <a:xfrm>
            <a:off x="2362200" y="1619250"/>
            <a:ext cx="5078412" cy="1885950"/>
            <a:chOff x="1344" y="1440"/>
            <a:chExt cx="3199" cy="1188"/>
          </a:xfrm>
        </p:grpSpPr>
        <p:sp>
          <p:nvSpPr>
            <p:cNvPr id="603" name="Google Shape;603;p40"/>
            <p:cNvSpPr/>
            <p:nvPr/>
          </p:nvSpPr>
          <p:spPr>
            <a:xfrm>
              <a:off x="1344" y="144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04" name="Google Shape;604;p40"/>
            <p:cNvPicPr preferRelativeResize="0"/>
            <p:nvPr/>
          </p:nvPicPr>
          <p:blipFill rotWithShape="1">
            <a:blip r:embed="rId3">
              <a:alphaModFix/>
            </a:blip>
            <a:srcRect b="0" l="0" r="0" t="0"/>
            <a:stretch/>
          </p:blipFill>
          <p:spPr>
            <a:xfrm>
              <a:off x="1404" y="1493"/>
              <a:ext cx="221" cy="206"/>
            </a:xfrm>
            <a:prstGeom prst="rect">
              <a:avLst/>
            </a:prstGeom>
            <a:noFill/>
            <a:ln>
              <a:noFill/>
            </a:ln>
          </p:spPr>
        </p:pic>
        <p:sp>
          <p:nvSpPr>
            <p:cNvPr id="605" name="Google Shape;605;p40"/>
            <p:cNvSpPr/>
            <p:nvPr/>
          </p:nvSpPr>
          <p:spPr>
            <a:xfrm>
              <a:off x="2403" y="144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06" name="Google Shape;606;p40"/>
            <p:cNvPicPr preferRelativeResize="0"/>
            <p:nvPr/>
          </p:nvPicPr>
          <p:blipFill rotWithShape="1">
            <a:blip r:embed="rId4">
              <a:alphaModFix/>
            </a:blip>
            <a:srcRect b="0" l="0" r="0" t="0"/>
            <a:stretch/>
          </p:blipFill>
          <p:spPr>
            <a:xfrm>
              <a:off x="2466" y="1504"/>
              <a:ext cx="207" cy="207"/>
            </a:xfrm>
            <a:prstGeom prst="rect">
              <a:avLst/>
            </a:prstGeom>
            <a:noFill/>
            <a:ln>
              <a:noFill/>
            </a:ln>
          </p:spPr>
        </p:pic>
        <p:sp>
          <p:nvSpPr>
            <p:cNvPr id="607" name="Google Shape;607;p40"/>
            <p:cNvSpPr/>
            <p:nvPr/>
          </p:nvSpPr>
          <p:spPr>
            <a:xfrm>
              <a:off x="1344" y="228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08" name="Google Shape;608;p40"/>
            <p:cNvPicPr preferRelativeResize="0"/>
            <p:nvPr/>
          </p:nvPicPr>
          <p:blipFill rotWithShape="1">
            <a:blip r:embed="rId5">
              <a:alphaModFix/>
            </a:blip>
            <a:srcRect b="0" l="0" r="0" t="0"/>
            <a:stretch/>
          </p:blipFill>
          <p:spPr>
            <a:xfrm>
              <a:off x="1409" y="2354"/>
              <a:ext cx="192" cy="207"/>
            </a:xfrm>
            <a:prstGeom prst="rect">
              <a:avLst/>
            </a:prstGeom>
            <a:noFill/>
            <a:ln>
              <a:noFill/>
            </a:ln>
          </p:spPr>
        </p:pic>
        <p:sp>
          <p:nvSpPr>
            <p:cNvPr id="609" name="Google Shape;609;p40"/>
            <p:cNvSpPr/>
            <p:nvPr/>
          </p:nvSpPr>
          <p:spPr>
            <a:xfrm>
              <a:off x="2403" y="228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10" name="Google Shape;610;p40"/>
            <p:cNvPicPr preferRelativeResize="0"/>
            <p:nvPr/>
          </p:nvPicPr>
          <p:blipFill rotWithShape="1">
            <a:blip r:embed="rId6">
              <a:alphaModFix/>
            </a:blip>
            <a:srcRect b="0" l="0" r="0" t="0"/>
            <a:stretch/>
          </p:blipFill>
          <p:spPr>
            <a:xfrm>
              <a:off x="2464" y="2348"/>
              <a:ext cx="208" cy="223"/>
            </a:xfrm>
            <a:prstGeom prst="rect">
              <a:avLst/>
            </a:prstGeom>
            <a:noFill/>
            <a:ln>
              <a:noFill/>
            </a:ln>
          </p:spPr>
        </p:pic>
        <p:cxnSp>
          <p:nvCxnSpPr>
            <p:cNvPr id="611" name="Google Shape;611;p40"/>
            <p:cNvCxnSpPr/>
            <p:nvPr/>
          </p:nvCxnSpPr>
          <p:spPr>
            <a:xfrm>
              <a:off x="1690" y="2457"/>
              <a:ext cx="710" cy="0"/>
            </a:xfrm>
            <a:prstGeom prst="straightConnector1">
              <a:avLst/>
            </a:prstGeom>
            <a:noFill/>
            <a:ln cap="flat" cmpd="sng" w="25400">
              <a:solidFill>
                <a:srgbClr val="000000"/>
              </a:solidFill>
              <a:prstDash val="solid"/>
              <a:miter lim="800000"/>
              <a:headEnd len="med" w="med" type="none"/>
              <a:tailEnd len="med" w="med" type="none"/>
            </a:ln>
          </p:spPr>
        </p:cxnSp>
        <p:cxnSp>
          <p:nvCxnSpPr>
            <p:cNvPr id="612" name="Google Shape;612;p40"/>
            <p:cNvCxnSpPr/>
            <p:nvPr/>
          </p:nvCxnSpPr>
          <p:spPr>
            <a:xfrm>
              <a:off x="2744" y="2462"/>
              <a:ext cx="403" cy="0"/>
            </a:xfrm>
            <a:prstGeom prst="straightConnector1">
              <a:avLst/>
            </a:prstGeom>
            <a:noFill/>
            <a:ln cap="flat" cmpd="sng" w="25400">
              <a:solidFill>
                <a:srgbClr val="000000"/>
              </a:solidFill>
              <a:prstDash val="solid"/>
              <a:miter lim="800000"/>
              <a:headEnd len="med" w="med" type="none"/>
              <a:tailEnd len="med" w="med" type="none"/>
            </a:ln>
          </p:spPr>
        </p:cxnSp>
        <p:cxnSp>
          <p:nvCxnSpPr>
            <p:cNvPr id="613" name="Google Shape;613;p40"/>
            <p:cNvCxnSpPr/>
            <p:nvPr/>
          </p:nvCxnSpPr>
          <p:spPr>
            <a:xfrm rot="5400000">
              <a:off x="2317" y="2031"/>
              <a:ext cx="501" cy="0"/>
            </a:xfrm>
            <a:prstGeom prst="straightConnector1">
              <a:avLst/>
            </a:prstGeom>
            <a:noFill/>
            <a:ln cap="flat" cmpd="sng" w="25400">
              <a:solidFill>
                <a:srgbClr val="000000"/>
              </a:solidFill>
              <a:prstDash val="solid"/>
              <a:miter lim="800000"/>
              <a:headEnd len="med" w="med" type="none"/>
              <a:tailEnd len="med" w="med" type="none"/>
            </a:ln>
          </p:spPr>
        </p:cxnSp>
        <p:cxnSp>
          <p:nvCxnSpPr>
            <p:cNvPr id="614" name="Google Shape;614;p40"/>
            <p:cNvCxnSpPr/>
            <p:nvPr/>
          </p:nvCxnSpPr>
          <p:spPr>
            <a:xfrm rot="5400000">
              <a:off x="1723" y="1630"/>
              <a:ext cx="640" cy="792"/>
            </a:xfrm>
            <a:prstGeom prst="straightConnector1">
              <a:avLst/>
            </a:prstGeom>
            <a:noFill/>
            <a:ln cap="flat" cmpd="sng" w="25400">
              <a:solidFill>
                <a:srgbClr val="000000"/>
              </a:solidFill>
              <a:prstDash val="solid"/>
              <a:miter lim="800000"/>
              <a:headEnd len="med" w="med" type="none"/>
              <a:tailEnd len="med" w="med" type="none"/>
            </a:ln>
          </p:spPr>
        </p:cxnSp>
        <p:cxnSp>
          <p:nvCxnSpPr>
            <p:cNvPr id="615" name="Google Shape;615;p40"/>
            <p:cNvCxnSpPr/>
            <p:nvPr/>
          </p:nvCxnSpPr>
          <p:spPr>
            <a:xfrm rot="5400000">
              <a:off x="1261" y="2031"/>
              <a:ext cx="501" cy="0"/>
            </a:xfrm>
            <a:prstGeom prst="straightConnector1">
              <a:avLst/>
            </a:prstGeom>
            <a:noFill/>
            <a:ln cap="flat" cmpd="sng" w="25400">
              <a:solidFill>
                <a:srgbClr val="000000"/>
              </a:solidFill>
              <a:prstDash val="solid"/>
              <a:miter lim="800000"/>
              <a:headEnd len="med" w="med" type="none"/>
              <a:tailEnd len="med" w="med" type="none"/>
            </a:ln>
          </p:spPr>
        </p:cxnSp>
        <p:sp>
          <p:nvSpPr>
            <p:cNvPr id="616" name="Google Shape;616;p40"/>
            <p:cNvSpPr/>
            <p:nvPr/>
          </p:nvSpPr>
          <p:spPr>
            <a:xfrm>
              <a:off x="3147" y="1441"/>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17" name="Google Shape;617;p40"/>
            <p:cNvPicPr preferRelativeResize="0"/>
            <p:nvPr/>
          </p:nvPicPr>
          <p:blipFill rotWithShape="1">
            <a:blip r:embed="rId7">
              <a:alphaModFix/>
            </a:blip>
            <a:srcRect b="0" l="0" r="0" t="0"/>
            <a:stretch/>
          </p:blipFill>
          <p:spPr>
            <a:xfrm>
              <a:off x="3208" y="1504"/>
              <a:ext cx="192" cy="208"/>
            </a:xfrm>
            <a:prstGeom prst="rect">
              <a:avLst/>
            </a:prstGeom>
            <a:noFill/>
            <a:ln>
              <a:noFill/>
            </a:ln>
          </p:spPr>
        </p:pic>
        <p:cxnSp>
          <p:nvCxnSpPr>
            <p:cNvPr id="618" name="Google Shape;618;p40"/>
            <p:cNvCxnSpPr/>
            <p:nvPr/>
          </p:nvCxnSpPr>
          <p:spPr>
            <a:xfrm>
              <a:off x="3487" y="1618"/>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619" name="Google Shape;619;p40"/>
            <p:cNvSpPr/>
            <p:nvPr/>
          </p:nvSpPr>
          <p:spPr>
            <a:xfrm>
              <a:off x="4203" y="144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20" name="Google Shape;620;p40"/>
            <p:cNvPicPr preferRelativeResize="0"/>
            <p:nvPr/>
          </p:nvPicPr>
          <p:blipFill rotWithShape="1">
            <a:blip r:embed="rId8">
              <a:alphaModFix/>
            </a:blip>
            <a:srcRect b="0" l="0" r="0" t="0"/>
            <a:stretch/>
          </p:blipFill>
          <p:spPr>
            <a:xfrm>
              <a:off x="4257" y="1508"/>
              <a:ext cx="224" cy="207"/>
            </a:xfrm>
            <a:prstGeom prst="rect">
              <a:avLst/>
            </a:prstGeom>
            <a:noFill/>
            <a:ln>
              <a:noFill/>
            </a:ln>
          </p:spPr>
        </p:pic>
        <p:sp>
          <p:nvSpPr>
            <p:cNvPr id="621" name="Google Shape;621;p40"/>
            <p:cNvSpPr/>
            <p:nvPr/>
          </p:nvSpPr>
          <p:spPr>
            <a:xfrm>
              <a:off x="3147" y="2285"/>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22" name="Google Shape;622;p40"/>
            <p:cNvPicPr preferRelativeResize="0"/>
            <p:nvPr/>
          </p:nvPicPr>
          <p:blipFill rotWithShape="1">
            <a:blip r:embed="rId9">
              <a:alphaModFix/>
            </a:blip>
            <a:srcRect b="0" l="0" r="0" t="0"/>
            <a:stretch/>
          </p:blipFill>
          <p:spPr>
            <a:xfrm>
              <a:off x="3216" y="2348"/>
              <a:ext cx="192" cy="209"/>
            </a:xfrm>
            <a:prstGeom prst="rect">
              <a:avLst/>
            </a:prstGeom>
            <a:noFill/>
            <a:ln>
              <a:noFill/>
            </a:ln>
          </p:spPr>
        </p:pic>
        <p:cxnSp>
          <p:nvCxnSpPr>
            <p:cNvPr id="623" name="Google Shape;623;p40"/>
            <p:cNvCxnSpPr/>
            <p:nvPr/>
          </p:nvCxnSpPr>
          <p:spPr>
            <a:xfrm>
              <a:off x="3487" y="2462"/>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624" name="Google Shape;624;p40"/>
            <p:cNvSpPr/>
            <p:nvPr/>
          </p:nvSpPr>
          <p:spPr>
            <a:xfrm>
              <a:off x="4203" y="2288"/>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25" name="Google Shape;625;p40"/>
            <p:cNvPicPr preferRelativeResize="0"/>
            <p:nvPr/>
          </p:nvPicPr>
          <p:blipFill rotWithShape="1">
            <a:blip r:embed="rId10">
              <a:alphaModFix/>
            </a:blip>
            <a:srcRect b="0" l="0" r="0" t="0"/>
            <a:stretch/>
          </p:blipFill>
          <p:spPr>
            <a:xfrm>
              <a:off x="4253" y="2352"/>
              <a:ext cx="223" cy="223"/>
            </a:xfrm>
            <a:prstGeom prst="rect">
              <a:avLst/>
            </a:prstGeom>
            <a:noFill/>
            <a:ln>
              <a:noFill/>
            </a:ln>
          </p:spPr>
        </p:pic>
        <p:cxnSp>
          <p:nvCxnSpPr>
            <p:cNvPr id="626" name="Google Shape;626;p40"/>
            <p:cNvCxnSpPr/>
            <p:nvPr/>
          </p:nvCxnSpPr>
          <p:spPr>
            <a:xfrm rot="5400000">
              <a:off x="3062" y="2032"/>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627" name="Google Shape;627;p40"/>
            <p:cNvCxnSpPr/>
            <p:nvPr/>
          </p:nvCxnSpPr>
          <p:spPr>
            <a:xfrm rot="5400000">
              <a:off x="4128" y="2032"/>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628" name="Google Shape;628;p40"/>
            <p:cNvCxnSpPr/>
            <p:nvPr/>
          </p:nvCxnSpPr>
          <p:spPr>
            <a:xfrm rot="5400000">
              <a:off x="3530" y="1648"/>
              <a:ext cx="640" cy="792"/>
            </a:xfrm>
            <a:prstGeom prst="straightConnector1">
              <a:avLst/>
            </a:prstGeom>
            <a:noFill/>
            <a:ln cap="flat" cmpd="sng" w="25400">
              <a:solidFill>
                <a:srgbClr val="000000"/>
              </a:solidFill>
              <a:prstDash val="solid"/>
              <a:miter lim="800000"/>
              <a:headEnd len="med" w="med" type="none"/>
              <a:tailEnd len="med" w="med" type="none"/>
            </a:ln>
          </p:spPr>
        </p:cxnSp>
      </p:grpSp>
      <p:sp>
        <p:nvSpPr>
          <p:cNvPr id="629" name="Google Shape;629;p40"/>
          <p:cNvSpPr txBox="1"/>
          <p:nvPr/>
        </p:nvSpPr>
        <p:spPr>
          <a:xfrm>
            <a:off x="1600200" y="5867400"/>
            <a:ext cx="8153400" cy="762000"/>
          </a:xfrm>
          <a:prstGeom prst="rect">
            <a:avLst/>
          </a:prstGeom>
          <a:noFill/>
          <a:ln>
            <a:noFill/>
          </a:ln>
        </p:spPr>
        <p:txBody>
          <a:bodyPr anchorCtr="0" anchor="t" bIns="45700" lIns="91425" spcFirstLastPara="1" rIns="91425" wrap="square" tIns="45700">
            <a:noAutofit/>
          </a:bodyPr>
          <a:lstStyle/>
          <a:p>
            <a:pPr indent="174625" lvl="0" marL="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(B, C) không là cạnh cầu</a:t>
            </a:r>
            <a:endParaRPr/>
          </a:p>
        </p:txBody>
      </p:sp>
      <p:grpSp>
        <p:nvGrpSpPr>
          <p:cNvPr id="630" name="Google Shape;630;p40"/>
          <p:cNvGrpSpPr/>
          <p:nvPr/>
        </p:nvGrpSpPr>
        <p:grpSpPr>
          <a:xfrm>
            <a:off x="2286000" y="3733800"/>
            <a:ext cx="5078412" cy="1885950"/>
            <a:chOff x="1440" y="2352"/>
            <a:chExt cx="3199" cy="1188"/>
          </a:xfrm>
        </p:grpSpPr>
        <p:sp>
          <p:nvSpPr>
            <p:cNvPr id="631" name="Google Shape;631;p40"/>
            <p:cNvSpPr/>
            <p:nvPr/>
          </p:nvSpPr>
          <p:spPr>
            <a:xfrm>
              <a:off x="1440" y="235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32" name="Google Shape;632;p40"/>
            <p:cNvPicPr preferRelativeResize="0"/>
            <p:nvPr/>
          </p:nvPicPr>
          <p:blipFill rotWithShape="1">
            <a:blip r:embed="rId3">
              <a:alphaModFix/>
            </a:blip>
            <a:srcRect b="0" l="0" r="0" t="0"/>
            <a:stretch/>
          </p:blipFill>
          <p:spPr>
            <a:xfrm>
              <a:off x="1500" y="2405"/>
              <a:ext cx="221" cy="206"/>
            </a:xfrm>
            <a:prstGeom prst="rect">
              <a:avLst/>
            </a:prstGeom>
            <a:noFill/>
            <a:ln>
              <a:noFill/>
            </a:ln>
          </p:spPr>
        </p:pic>
        <p:sp>
          <p:nvSpPr>
            <p:cNvPr id="633" name="Google Shape;633;p40"/>
            <p:cNvSpPr/>
            <p:nvPr/>
          </p:nvSpPr>
          <p:spPr>
            <a:xfrm>
              <a:off x="2499" y="2352"/>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34" name="Google Shape;634;p40"/>
            <p:cNvPicPr preferRelativeResize="0"/>
            <p:nvPr/>
          </p:nvPicPr>
          <p:blipFill rotWithShape="1">
            <a:blip r:embed="rId4">
              <a:alphaModFix/>
            </a:blip>
            <a:srcRect b="0" l="0" r="0" t="0"/>
            <a:stretch/>
          </p:blipFill>
          <p:spPr>
            <a:xfrm>
              <a:off x="2562" y="2416"/>
              <a:ext cx="207" cy="207"/>
            </a:xfrm>
            <a:prstGeom prst="rect">
              <a:avLst/>
            </a:prstGeom>
            <a:noFill/>
            <a:ln>
              <a:noFill/>
            </a:ln>
          </p:spPr>
        </p:pic>
        <p:sp>
          <p:nvSpPr>
            <p:cNvPr id="635" name="Google Shape;635;p40"/>
            <p:cNvSpPr/>
            <p:nvPr/>
          </p:nvSpPr>
          <p:spPr>
            <a:xfrm>
              <a:off x="1440" y="3196"/>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36" name="Google Shape;636;p40"/>
            <p:cNvPicPr preferRelativeResize="0"/>
            <p:nvPr/>
          </p:nvPicPr>
          <p:blipFill rotWithShape="1">
            <a:blip r:embed="rId5">
              <a:alphaModFix/>
            </a:blip>
            <a:srcRect b="0" l="0" r="0" t="0"/>
            <a:stretch/>
          </p:blipFill>
          <p:spPr>
            <a:xfrm>
              <a:off x="1505" y="3266"/>
              <a:ext cx="192" cy="207"/>
            </a:xfrm>
            <a:prstGeom prst="rect">
              <a:avLst/>
            </a:prstGeom>
            <a:noFill/>
            <a:ln>
              <a:noFill/>
            </a:ln>
          </p:spPr>
        </p:pic>
        <p:sp>
          <p:nvSpPr>
            <p:cNvPr id="637" name="Google Shape;637;p40"/>
            <p:cNvSpPr/>
            <p:nvPr/>
          </p:nvSpPr>
          <p:spPr>
            <a:xfrm>
              <a:off x="2499" y="3196"/>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38" name="Google Shape;638;p40"/>
            <p:cNvPicPr preferRelativeResize="0"/>
            <p:nvPr/>
          </p:nvPicPr>
          <p:blipFill rotWithShape="1">
            <a:blip r:embed="rId6">
              <a:alphaModFix/>
            </a:blip>
            <a:srcRect b="0" l="0" r="0" t="0"/>
            <a:stretch/>
          </p:blipFill>
          <p:spPr>
            <a:xfrm>
              <a:off x="2560" y="3260"/>
              <a:ext cx="208" cy="223"/>
            </a:xfrm>
            <a:prstGeom prst="rect">
              <a:avLst/>
            </a:prstGeom>
            <a:noFill/>
            <a:ln>
              <a:noFill/>
            </a:ln>
          </p:spPr>
        </p:pic>
        <p:cxnSp>
          <p:nvCxnSpPr>
            <p:cNvPr id="639" name="Google Shape;639;p40"/>
            <p:cNvCxnSpPr/>
            <p:nvPr/>
          </p:nvCxnSpPr>
          <p:spPr>
            <a:xfrm>
              <a:off x="2840" y="3374"/>
              <a:ext cx="403" cy="0"/>
            </a:xfrm>
            <a:prstGeom prst="straightConnector1">
              <a:avLst/>
            </a:prstGeom>
            <a:noFill/>
            <a:ln cap="flat" cmpd="sng" w="25400">
              <a:solidFill>
                <a:srgbClr val="000000"/>
              </a:solidFill>
              <a:prstDash val="solid"/>
              <a:miter lim="800000"/>
              <a:headEnd len="med" w="med" type="none"/>
              <a:tailEnd len="med" w="med" type="none"/>
            </a:ln>
          </p:spPr>
        </p:cxnSp>
        <p:cxnSp>
          <p:nvCxnSpPr>
            <p:cNvPr id="640" name="Google Shape;640;p40"/>
            <p:cNvCxnSpPr/>
            <p:nvPr/>
          </p:nvCxnSpPr>
          <p:spPr>
            <a:xfrm rot="5400000">
              <a:off x="2413" y="2943"/>
              <a:ext cx="501" cy="0"/>
            </a:xfrm>
            <a:prstGeom prst="straightConnector1">
              <a:avLst/>
            </a:prstGeom>
            <a:noFill/>
            <a:ln cap="flat" cmpd="sng" w="25400">
              <a:solidFill>
                <a:srgbClr val="000000"/>
              </a:solidFill>
              <a:prstDash val="solid"/>
              <a:miter lim="800000"/>
              <a:headEnd len="med" w="med" type="none"/>
              <a:tailEnd len="med" w="med" type="none"/>
            </a:ln>
          </p:spPr>
        </p:cxnSp>
        <p:cxnSp>
          <p:nvCxnSpPr>
            <p:cNvPr id="641" name="Google Shape;641;p40"/>
            <p:cNvCxnSpPr/>
            <p:nvPr/>
          </p:nvCxnSpPr>
          <p:spPr>
            <a:xfrm rot="5400000">
              <a:off x="1819" y="2542"/>
              <a:ext cx="640" cy="792"/>
            </a:xfrm>
            <a:prstGeom prst="straightConnector1">
              <a:avLst/>
            </a:prstGeom>
            <a:noFill/>
            <a:ln cap="flat" cmpd="sng" w="25400">
              <a:solidFill>
                <a:srgbClr val="000000"/>
              </a:solidFill>
              <a:prstDash val="solid"/>
              <a:miter lim="800000"/>
              <a:headEnd len="med" w="med" type="none"/>
              <a:tailEnd len="med" w="med" type="none"/>
            </a:ln>
          </p:spPr>
        </p:cxnSp>
        <p:cxnSp>
          <p:nvCxnSpPr>
            <p:cNvPr id="642" name="Google Shape;642;p40"/>
            <p:cNvCxnSpPr/>
            <p:nvPr/>
          </p:nvCxnSpPr>
          <p:spPr>
            <a:xfrm rot="5400000">
              <a:off x="1357" y="2943"/>
              <a:ext cx="501" cy="0"/>
            </a:xfrm>
            <a:prstGeom prst="straightConnector1">
              <a:avLst/>
            </a:prstGeom>
            <a:noFill/>
            <a:ln cap="flat" cmpd="sng" w="25400">
              <a:solidFill>
                <a:srgbClr val="000000"/>
              </a:solidFill>
              <a:prstDash val="solid"/>
              <a:miter lim="800000"/>
              <a:headEnd len="med" w="med" type="none"/>
              <a:tailEnd len="med" w="med" type="none"/>
            </a:ln>
          </p:spPr>
        </p:cxnSp>
        <p:sp>
          <p:nvSpPr>
            <p:cNvPr id="643" name="Google Shape;643;p40"/>
            <p:cNvSpPr/>
            <p:nvPr/>
          </p:nvSpPr>
          <p:spPr>
            <a:xfrm>
              <a:off x="3243" y="2353"/>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44" name="Google Shape;644;p40"/>
            <p:cNvPicPr preferRelativeResize="0"/>
            <p:nvPr/>
          </p:nvPicPr>
          <p:blipFill rotWithShape="1">
            <a:blip r:embed="rId7">
              <a:alphaModFix/>
            </a:blip>
            <a:srcRect b="0" l="0" r="0" t="0"/>
            <a:stretch/>
          </p:blipFill>
          <p:spPr>
            <a:xfrm>
              <a:off x="3304" y="2416"/>
              <a:ext cx="192" cy="208"/>
            </a:xfrm>
            <a:prstGeom prst="rect">
              <a:avLst/>
            </a:prstGeom>
            <a:noFill/>
            <a:ln>
              <a:noFill/>
            </a:ln>
          </p:spPr>
        </p:pic>
        <p:cxnSp>
          <p:nvCxnSpPr>
            <p:cNvPr id="645" name="Google Shape;645;p40"/>
            <p:cNvCxnSpPr/>
            <p:nvPr/>
          </p:nvCxnSpPr>
          <p:spPr>
            <a:xfrm>
              <a:off x="3583" y="2530"/>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646" name="Google Shape;646;p40"/>
            <p:cNvSpPr/>
            <p:nvPr/>
          </p:nvSpPr>
          <p:spPr>
            <a:xfrm>
              <a:off x="4299" y="2356"/>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47" name="Google Shape;647;p40"/>
            <p:cNvPicPr preferRelativeResize="0"/>
            <p:nvPr/>
          </p:nvPicPr>
          <p:blipFill rotWithShape="1">
            <a:blip r:embed="rId8">
              <a:alphaModFix/>
            </a:blip>
            <a:srcRect b="0" l="0" r="0" t="0"/>
            <a:stretch/>
          </p:blipFill>
          <p:spPr>
            <a:xfrm>
              <a:off x="4353" y="2420"/>
              <a:ext cx="224" cy="207"/>
            </a:xfrm>
            <a:prstGeom prst="rect">
              <a:avLst/>
            </a:prstGeom>
            <a:noFill/>
            <a:ln>
              <a:noFill/>
            </a:ln>
          </p:spPr>
        </p:pic>
        <p:sp>
          <p:nvSpPr>
            <p:cNvPr id="648" name="Google Shape;648;p40"/>
            <p:cNvSpPr/>
            <p:nvPr/>
          </p:nvSpPr>
          <p:spPr>
            <a:xfrm>
              <a:off x="3243" y="3197"/>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49" name="Google Shape;649;p40"/>
            <p:cNvPicPr preferRelativeResize="0"/>
            <p:nvPr/>
          </p:nvPicPr>
          <p:blipFill rotWithShape="1">
            <a:blip r:embed="rId9">
              <a:alphaModFix/>
            </a:blip>
            <a:srcRect b="0" l="0" r="0" t="0"/>
            <a:stretch/>
          </p:blipFill>
          <p:spPr>
            <a:xfrm>
              <a:off x="3312" y="3260"/>
              <a:ext cx="192" cy="209"/>
            </a:xfrm>
            <a:prstGeom prst="rect">
              <a:avLst/>
            </a:prstGeom>
            <a:noFill/>
            <a:ln>
              <a:noFill/>
            </a:ln>
          </p:spPr>
        </p:pic>
        <p:cxnSp>
          <p:nvCxnSpPr>
            <p:cNvPr id="650" name="Google Shape;650;p40"/>
            <p:cNvCxnSpPr/>
            <p:nvPr/>
          </p:nvCxnSpPr>
          <p:spPr>
            <a:xfrm>
              <a:off x="3583" y="3374"/>
              <a:ext cx="711" cy="0"/>
            </a:xfrm>
            <a:prstGeom prst="straightConnector1">
              <a:avLst/>
            </a:prstGeom>
            <a:noFill/>
            <a:ln cap="flat" cmpd="sng" w="25400">
              <a:solidFill>
                <a:srgbClr val="000000"/>
              </a:solidFill>
              <a:prstDash val="solid"/>
              <a:miter lim="800000"/>
              <a:headEnd len="med" w="med" type="none"/>
              <a:tailEnd len="med" w="med" type="none"/>
            </a:ln>
          </p:spPr>
        </p:cxnSp>
        <p:sp>
          <p:nvSpPr>
            <p:cNvPr id="651" name="Google Shape;651;p40"/>
            <p:cNvSpPr/>
            <p:nvPr/>
          </p:nvSpPr>
          <p:spPr>
            <a:xfrm>
              <a:off x="4299" y="3200"/>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52" name="Google Shape;652;p40"/>
            <p:cNvPicPr preferRelativeResize="0"/>
            <p:nvPr/>
          </p:nvPicPr>
          <p:blipFill rotWithShape="1">
            <a:blip r:embed="rId10">
              <a:alphaModFix/>
            </a:blip>
            <a:srcRect b="0" l="0" r="0" t="0"/>
            <a:stretch/>
          </p:blipFill>
          <p:spPr>
            <a:xfrm>
              <a:off x="4349" y="3264"/>
              <a:ext cx="223" cy="223"/>
            </a:xfrm>
            <a:prstGeom prst="rect">
              <a:avLst/>
            </a:prstGeom>
            <a:noFill/>
            <a:ln>
              <a:noFill/>
            </a:ln>
          </p:spPr>
        </p:pic>
        <p:cxnSp>
          <p:nvCxnSpPr>
            <p:cNvPr id="653" name="Google Shape;653;p40"/>
            <p:cNvCxnSpPr/>
            <p:nvPr/>
          </p:nvCxnSpPr>
          <p:spPr>
            <a:xfrm rot="5400000">
              <a:off x="3158" y="2944"/>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654" name="Google Shape;654;p40"/>
            <p:cNvCxnSpPr/>
            <p:nvPr/>
          </p:nvCxnSpPr>
          <p:spPr>
            <a:xfrm rot="5400000">
              <a:off x="4224" y="2944"/>
              <a:ext cx="500" cy="0"/>
            </a:xfrm>
            <a:prstGeom prst="straightConnector1">
              <a:avLst/>
            </a:prstGeom>
            <a:noFill/>
            <a:ln cap="flat" cmpd="sng" w="25400">
              <a:solidFill>
                <a:srgbClr val="000000"/>
              </a:solidFill>
              <a:prstDash val="solid"/>
              <a:miter lim="800000"/>
              <a:headEnd len="med" w="med" type="none"/>
              <a:tailEnd len="med" w="med" type="none"/>
            </a:ln>
          </p:spPr>
        </p:cxnSp>
        <p:cxnSp>
          <p:nvCxnSpPr>
            <p:cNvPr id="655" name="Google Shape;655;p40"/>
            <p:cNvCxnSpPr/>
            <p:nvPr/>
          </p:nvCxnSpPr>
          <p:spPr>
            <a:xfrm rot="5400000">
              <a:off x="3626" y="2560"/>
              <a:ext cx="640" cy="792"/>
            </a:xfrm>
            <a:prstGeom prst="straightConnector1">
              <a:avLst/>
            </a:prstGeom>
            <a:noFill/>
            <a:ln cap="flat" cmpd="sng" w="25400">
              <a:solidFill>
                <a:srgbClr val="000000"/>
              </a:solidFill>
              <a:prstDash val="solid"/>
              <a:miter lim="800000"/>
              <a:headEnd len="med" w="med" type="none"/>
              <a:tailEnd len="med" w="med" type="none"/>
            </a:ln>
          </p:spPr>
        </p:cxnSp>
      </p:grpSp>
      <p:sp>
        <p:nvSpPr>
          <p:cNvPr id="656" name="Google Shape;656;p40"/>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Đỉnh cắt, cạnh cầu</a:t>
            </a:r>
            <a:endParaRPr/>
          </a:p>
        </p:txBody>
      </p:sp>
      <p:sp>
        <p:nvSpPr>
          <p:cNvPr id="657" name="Google Shape;657;p40"/>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l">
              <a:lnSpc>
                <a:spcPct val="80000"/>
              </a:lnSpc>
              <a:spcBef>
                <a:spcPts val="0"/>
              </a:spcBef>
              <a:spcAft>
                <a:spcPts val="0"/>
              </a:spcAft>
              <a:buClr>
                <a:schemeClr val="dk1"/>
              </a:buClr>
              <a:buSzPts val="2800"/>
              <a:buFont typeface="Noto Sans Symbols"/>
              <a:buNone/>
            </a:pPr>
            <a:r>
              <a:rPr b="0" i="1" lang="en-US" sz="2800" u="sng">
                <a:solidFill>
                  <a:schemeClr val="dk1"/>
                </a:solidFill>
                <a:latin typeface="Arial"/>
                <a:ea typeface="Arial"/>
                <a:cs typeface="Arial"/>
                <a:sym typeface="Arial"/>
              </a:rPr>
              <a:t>Ví dụ:</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662" name="Shape 662"/>
        <p:cNvGrpSpPr/>
        <p:nvPr/>
      </p:nvGrpSpPr>
      <p:grpSpPr>
        <a:xfrm>
          <a:off x="0" y="0"/>
          <a:ext cx="0" cy="0"/>
          <a:chOff x="0" y="0"/>
          <a:chExt cx="0" cy="0"/>
        </a:xfrm>
      </p:grpSpPr>
      <p:sp>
        <p:nvSpPr>
          <p:cNvPr id="663" name="Google Shape;663;p41"/>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Chỉ số liên thông</a:t>
            </a:r>
            <a:endParaRPr/>
          </a:p>
        </p:txBody>
      </p:sp>
      <p:sp>
        <p:nvSpPr>
          <p:cNvPr id="664" name="Google Shape;664;p41"/>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l">
              <a:lnSpc>
                <a:spcPct val="100000"/>
              </a:lnSpc>
              <a:spcBef>
                <a:spcPts val="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Cho G = (V,E) liên thông, k ∈ N, k ≥ 2. </a:t>
            </a:r>
            <a:endParaRPr/>
          </a:p>
          <a:p>
            <a:pPr indent="174625"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Nếu xoá đi t (t&lt; k) đỉnh bất kỳ đồ thị thu được vẫn là liên thông thì nói G là </a:t>
            </a:r>
            <a:r>
              <a:rPr b="0" i="0" lang="en-US" sz="2800" u="none">
                <a:solidFill>
                  <a:srgbClr val="FF0000"/>
                </a:solidFill>
                <a:latin typeface="Arial"/>
                <a:ea typeface="Arial"/>
                <a:cs typeface="Arial"/>
                <a:sym typeface="Arial"/>
              </a:rPr>
              <a:t>đồ thị k-liên thông</a:t>
            </a:r>
            <a:endParaRPr/>
          </a:p>
          <a:p>
            <a:pPr indent="174625"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Số tự nhiên lớn nhất k thoả mãn điều kiện:</a:t>
            </a:r>
            <a:endParaRPr/>
          </a:p>
          <a:p>
            <a:pPr indent="174625"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G là k - liên thông.</a:t>
            </a:r>
            <a:endParaRPr/>
          </a:p>
          <a:p>
            <a:pPr indent="174625"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Nhưng không có (k + 1) – liên thông</a:t>
            </a:r>
            <a:endParaRPr/>
          </a:p>
          <a:p>
            <a:pPr indent="174625"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Khi đó k được gọi là </a:t>
            </a:r>
            <a:r>
              <a:rPr b="0" i="0" lang="en-US" sz="2800" u="none">
                <a:solidFill>
                  <a:srgbClr val="FF0000"/>
                </a:solidFill>
                <a:latin typeface="Arial"/>
                <a:ea typeface="Arial"/>
                <a:cs typeface="Arial"/>
                <a:sym typeface="Arial"/>
              </a:rPr>
              <a:t>chỉ số liên thông</a:t>
            </a:r>
            <a:r>
              <a:rPr b="0" i="0" lang="en-US" sz="2800" u="none">
                <a:solidFill>
                  <a:schemeClr val="dk1"/>
                </a:solidFill>
                <a:latin typeface="Arial"/>
                <a:ea typeface="Arial"/>
                <a:cs typeface="Arial"/>
                <a:sym typeface="Arial"/>
              </a:rPr>
              <a:t> của G.</a:t>
            </a:r>
            <a:endParaRPr/>
          </a:p>
        </p:txBody>
      </p:sp>
      <p:sp>
        <p:nvSpPr>
          <p:cNvPr id="665" name="Google Shape;665;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670" name="Shape 670"/>
        <p:cNvGrpSpPr/>
        <p:nvPr/>
      </p:nvGrpSpPr>
      <p:grpSpPr>
        <a:xfrm>
          <a:off x="0" y="0"/>
          <a:ext cx="0" cy="0"/>
          <a:chOff x="0" y="0"/>
          <a:chExt cx="0" cy="0"/>
        </a:xfrm>
      </p:grpSpPr>
      <p:sp>
        <p:nvSpPr>
          <p:cNvPr id="671" name="Google Shape;671;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72" name="Google Shape;672;p42"/>
          <p:cNvGrpSpPr/>
          <p:nvPr/>
        </p:nvGrpSpPr>
        <p:grpSpPr>
          <a:xfrm>
            <a:off x="2286000" y="1447800"/>
            <a:ext cx="3911600" cy="2443162"/>
            <a:chOff x="864" y="1882"/>
            <a:chExt cx="1984" cy="1389"/>
          </a:xfrm>
        </p:grpSpPr>
        <p:cxnSp>
          <p:nvCxnSpPr>
            <p:cNvPr id="673" name="Google Shape;673;p42"/>
            <p:cNvCxnSpPr/>
            <p:nvPr/>
          </p:nvCxnSpPr>
          <p:spPr>
            <a:xfrm>
              <a:off x="1445" y="2117"/>
              <a:ext cx="0" cy="795"/>
            </a:xfrm>
            <a:prstGeom prst="straightConnector1">
              <a:avLst/>
            </a:prstGeom>
            <a:noFill/>
            <a:ln cap="flat" cmpd="sng" w="25400">
              <a:solidFill>
                <a:srgbClr val="000000"/>
              </a:solidFill>
              <a:prstDash val="solid"/>
              <a:miter lim="800000"/>
              <a:headEnd len="med" w="med" type="none"/>
              <a:tailEnd len="med" w="med" type="none"/>
            </a:ln>
          </p:spPr>
        </p:cxnSp>
        <p:cxnSp>
          <p:nvCxnSpPr>
            <p:cNvPr id="674" name="Google Shape;674;p42"/>
            <p:cNvCxnSpPr/>
            <p:nvPr/>
          </p:nvCxnSpPr>
          <p:spPr>
            <a:xfrm>
              <a:off x="2225" y="2117"/>
              <a:ext cx="0" cy="795"/>
            </a:xfrm>
            <a:prstGeom prst="straightConnector1">
              <a:avLst/>
            </a:prstGeom>
            <a:noFill/>
            <a:ln cap="flat" cmpd="sng" w="25400">
              <a:solidFill>
                <a:srgbClr val="000000"/>
              </a:solidFill>
              <a:prstDash val="solid"/>
              <a:miter lim="800000"/>
              <a:headEnd len="med" w="med" type="none"/>
              <a:tailEnd len="med" w="med" type="none"/>
            </a:ln>
          </p:spPr>
        </p:cxnSp>
        <p:cxnSp>
          <p:nvCxnSpPr>
            <p:cNvPr id="675" name="Google Shape;675;p42"/>
            <p:cNvCxnSpPr/>
            <p:nvPr/>
          </p:nvCxnSpPr>
          <p:spPr>
            <a:xfrm>
              <a:off x="1439" y="2123"/>
              <a:ext cx="793" cy="0"/>
            </a:xfrm>
            <a:prstGeom prst="straightConnector1">
              <a:avLst/>
            </a:prstGeom>
            <a:noFill/>
            <a:ln cap="flat" cmpd="sng" w="25400">
              <a:solidFill>
                <a:srgbClr val="000000"/>
              </a:solidFill>
              <a:prstDash val="solid"/>
              <a:miter lim="800000"/>
              <a:headEnd len="med" w="med" type="none"/>
              <a:tailEnd len="med" w="med" type="none"/>
            </a:ln>
          </p:spPr>
        </p:cxnSp>
        <p:cxnSp>
          <p:nvCxnSpPr>
            <p:cNvPr id="676" name="Google Shape;676;p42"/>
            <p:cNvCxnSpPr/>
            <p:nvPr/>
          </p:nvCxnSpPr>
          <p:spPr>
            <a:xfrm>
              <a:off x="1440" y="2909"/>
              <a:ext cx="794" cy="0"/>
            </a:xfrm>
            <a:prstGeom prst="straightConnector1">
              <a:avLst/>
            </a:prstGeom>
            <a:noFill/>
            <a:ln cap="flat" cmpd="sng" w="25400">
              <a:solidFill>
                <a:srgbClr val="000000"/>
              </a:solidFill>
              <a:prstDash val="solid"/>
              <a:miter lim="800000"/>
              <a:headEnd len="med" w="med" type="none"/>
              <a:tailEnd len="med" w="med" type="none"/>
            </a:ln>
          </p:spPr>
        </p:cxnSp>
        <p:cxnSp>
          <p:nvCxnSpPr>
            <p:cNvPr id="677" name="Google Shape;677;p42"/>
            <p:cNvCxnSpPr/>
            <p:nvPr/>
          </p:nvCxnSpPr>
          <p:spPr>
            <a:xfrm flipH="1" rot="10800000">
              <a:off x="1440" y="2125"/>
              <a:ext cx="782" cy="785"/>
            </a:xfrm>
            <a:prstGeom prst="straightConnector1">
              <a:avLst/>
            </a:prstGeom>
            <a:noFill/>
            <a:ln cap="flat" cmpd="sng" w="25400">
              <a:solidFill>
                <a:srgbClr val="000000"/>
              </a:solidFill>
              <a:prstDash val="solid"/>
              <a:miter lim="800000"/>
              <a:headEnd len="med" w="med" type="none"/>
              <a:tailEnd len="med" w="med" type="none"/>
            </a:ln>
          </p:spPr>
        </p:cxnSp>
        <p:cxnSp>
          <p:nvCxnSpPr>
            <p:cNvPr id="678" name="Google Shape;678;p42"/>
            <p:cNvCxnSpPr/>
            <p:nvPr/>
          </p:nvCxnSpPr>
          <p:spPr>
            <a:xfrm>
              <a:off x="1447" y="2125"/>
              <a:ext cx="771" cy="780"/>
            </a:xfrm>
            <a:prstGeom prst="straightConnector1">
              <a:avLst/>
            </a:prstGeom>
            <a:noFill/>
            <a:ln cap="flat" cmpd="sng" w="25400">
              <a:solidFill>
                <a:srgbClr val="000000"/>
              </a:solidFill>
              <a:prstDash val="solid"/>
              <a:miter lim="800000"/>
              <a:headEnd len="med" w="med" type="none"/>
              <a:tailEnd len="med" w="med" type="none"/>
            </a:ln>
          </p:spPr>
        </p:cxnSp>
        <p:cxnSp>
          <p:nvCxnSpPr>
            <p:cNvPr id="679" name="Google Shape;679;p42"/>
            <p:cNvCxnSpPr/>
            <p:nvPr/>
          </p:nvCxnSpPr>
          <p:spPr>
            <a:xfrm rot="10800000">
              <a:off x="1048" y="2514"/>
              <a:ext cx="397" cy="389"/>
            </a:xfrm>
            <a:prstGeom prst="straightConnector1">
              <a:avLst/>
            </a:prstGeom>
            <a:noFill/>
            <a:ln cap="flat" cmpd="sng" w="25400">
              <a:solidFill>
                <a:srgbClr val="000000"/>
              </a:solidFill>
              <a:prstDash val="solid"/>
              <a:miter lim="800000"/>
              <a:headEnd len="med" w="med" type="none"/>
              <a:tailEnd len="med" w="med" type="none"/>
            </a:ln>
          </p:spPr>
        </p:cxnSp>
        <p:cxnSp>
          <p:nvCxnSpPr>
            <p:cNvPr id="680" name="Google Shape;680;p42"/>
            <p:cNvCxnSpPr/>
            <p:nvPr/>
          </p:nvCxnSpPr>
          <p:spPr>
            <a:xfrm flipH="1">
              <a:off x="1049" y="2129"/>
              <a:ext cx="391" cy="385"/>
            </a:xfrm>
            <a:prstGeom prst="straightConnector1">
              <a:avLst/>
            </a:prstGeom>
            <a:noFill/>
            <a:ln cap="flat" cmpd="sng" w="25400">
              <a:solidFill>
                <a:srgbClr val="000000"/>
              </a:solidFill>
              <a:prstDash val="solid"/>
              <a:miter lim="800000"/>
              <a:headEnd len="med" w="med" type="none"/>
              <a:tailEnd len="med" w="med" type="none"/>
            </a:ln>
          </p:spPr>
        </p:cxnSp>
        <p:cxnSp>
          <p:nvCxnSpPr>
            <p:cNvPr id="681" name="Google Shape;681;p42"/>
            <p:cNvCxnSpPr/>
            <p:nvPr/>
          </p:nvCxnSpPr>
          <p:spPr>
            <a:xfrm>
              <a:off x="2232" y="2129"/>
              <a:ext cx="397" cy="385"/>
            </a:xfrm>
            <a:prstGeom prst="straightConnector1">
              <a:avLst/>
            </a:prstGeom>
            <a:noFill/>
            <a:ln cap="flat" cmpd="sng" w="25400">
              <a:solidFill>
                <a:srgbClr val="000000"/>
              </a:solidFill>
              <a:prstDash val="solid"/>
              <a:miter lim="800000"/>
              <a:headEnd len="med" w="med" type="none"/>
              <a:tailEnd len="med" w="med" type="none"/>
            </a:ln>
          </p:spPr>
        </p:cxnSp>
        <p:cxnSp>
          <p:nvCxnSpPr>
            <p:cNvPr id="682" name="Google Shape;682;p42"/>
            <p:cNvCxnSpPr/>
            <p:nvPr/>
          </p:nvCxnSpPr>
          <p:spPr>
            <a:xfrm flipH="1" rot="10800000">
              <a:off x="2220" y="2514"/>
              <a:ext cx="408" cy="396"/>
            </a:xfrm>
            <a:prstGeom prst="straightConnector1">
              <a:avLst/>
            </a:prstGeom>
            <a:noFill/>
            <a:ln cap="flat" cmpd="sng" w="25400">
              <a:solidFill>
                <a:srgbClr val="000000"/>
              </a:solidFill>
              <a:prstDash val="solid"/>
              <a:miter lim="800000"/>
              <a:headEnd len="med" w="med" type="none"/>
              <a:tailEnd len="med" w="med" type="none"/>
            </a:ln>
          </p:spPr>
        </p:cxnSp>
        <p:sp>
          <p:nvSpPr>
            <p:cNvPr id="683" name="Google Shape;683;p42"/>
            <p:cNvSpPr/>
            <p:nvPr/>
          </p:nvSpPr>
          <p:spPr>
            <a:xfrm>
              <a:off x="2593" y="2480"/>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4" name="Google Shape;684;p42"/>
            <p:cNvSpPr/>
            <p:nvPr/>
          </p:nvSpPr>
          <p:spPr>
            <a:xfrm>
              <a:off x="1013" y="2479"/>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5" name="Google Shape;685;p42"/>
            <p:cNvSpPr/>
            <p:nvPr/>
          </p:nvSpPr>
          <p:spPr>
            <a:xfrm>
              <a:off x="1410" y="2089"/>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6" name="Google Shape;686;p42"/>
            <p:cNvSpPr/>
            <p:nvPr/>
          </p:nvSpPr>
          <p:spPr>
            <a:xfrm>
              <a:off x="1412" y="2869"/>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7" name="Google Shape;687;p42"/>
            <p:cNvSpPr/>
            <p:nvPr/>
          </p:nvSpPr>
          <p:spPr>
            <a:xfrm>
              <a:off x="2189" y="2874"/>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8" name="Google Shape;688;p42"/>
            <p:cNvSpPr/>
            <p:nvPr/>
          </p:nvSpPr>
          <p:spPr>
            <a:xfrm>
              <a:off x="2189" y="2085"/>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89" name="Google Shape;689;p42"/>
            <p:cNvPicPr preferRelativeResize="0"/>
            <p:nvPr/>
          </p:nvPicPr>
          <p:blipFill rotWithShape="1">
            <a:blip r:embed="rId3">
              <a:alphaModFix/>
            </a:blip>
            <a:srcRect b="0" l="0" r="0" t="0"/>
            <a:stretch/>
          </p:blipFill>
          <p:spPr>
            <a:xfrm>
              <a:off x="1784" y="2580"/>
              <a:ext cx="162" cy="222"/>
            </a:xfrm>
            <a:prstGeom prst="rect">
              <a:avLst/>
            </a:prstGeom>
            <a:noFill/>
            <a:ln>
              <a:noFill/>
            </a:ln>
          </p:spPr>
        </p:pic>
        <p:pic>
          <p:nvPicPr>
            <p:cNvPr id="690" name="Google Shape;690;p42"/>
            <p:cNvPicPr preferRelativeResize="0"/>
            <p:nvPr/>
          </p:nvPicPr>
          <p:blipFill rotWithShape="1">
            <a:blip r:embed="rId4">
              <a:alphaModFix/>
            </a:blip>
            <a:srcRect b="0" l="0" r="0" t="0"/>
            <a:stretch/>
          </p:blipFill>
          <p:spPr>
            <a:xfrm>
              <a:off x="864" y="2437"/>
              <a:ext cx="162" cy="175"/>
            </a:xfrm>
            <a:prstGeom prst="rect">
              <a:avLst/>
            </a:prstGeom>
            <a:noFill/>
            <a:ln>
              <a:noFill/>
            </a:ln>
          </p:spPr>
        </p:pic>
        <p:pic>
          <p:nvPicPr>
            <p:cNvPr id="691" name="Google Shape;691;p42"/>
            <p:cNvPicPr preferRelativeResize="0"/>
            <p:nvPr/>
          </p:nvPicPr>
          <p:blipFill rotWithShape="1">
            <a:blip r:embed="rId5">
              <a:alphaModFix/>
            </a:blip>
            <a:srcRect b="0" l="0" r="0" t="0"/>
            <a:stretch/>
          </p:blipFill>
          <p:spPr>
            <a:xfrm>
              <a:off x="1358" y="1882"/>
              <a:ext cx="162" cy="222"/>
            </a:xfrm>
            <a:prstGeom prst="rect">
              <a:avLst/>
            </a:prstGeom>
            <a:noFill/>
            <a:ln>
              <a:noFill/>
            </a:ln>
          </p:spPr>
        </p:pic>
        <p:pic>
          <p:nvPicPr>
            <p:cNvPr id="692" name="Google Shape;692;p42"/>
            <p:cNvPicPr preferRelativeResize="0"/>
            <p:nvPr/>
          </p:nvPicPr>
          <p:blipFill rotWithShape="1">
            <a:blip r:embed="rId6">
              <a:alphaModFix/>
            </a:blip>
            <a:srcRect b="0" l="0" r="0" t="0"/>
            <a:stretch/>
          </p:blipFill>
          <p:spPr>
            <a:xfrm>
              <a:off x="2153" y="1908"/>
              <a:ext cx="146" cy="176"/>
            </a:xfrm>
            <a:prstGeom prst="rect">
              <a:avLst/>
            </a:prstGeom>
            <a:noFill/>
            <a:ln>
              <a:noFill/>
            </a:ln>
          </p:spPr>
        </p:pic>
        <p:pic>
          <p:nvPicPr>
            <p:cNvPr id="693" name="Google Shape;693;p42"/>
            <p:cNvPicPr preferRelativeResize="0"/>
            <p:nvPr/>
          </p:nvPicPr>
          <p:blipFill rotWithShape="1">
            <a:blip r:embed="rId7">
              <a:alphaModFix/>
            </a:blip>
            <a:srcRect b="0" l="0" r="0" t="0"/>
            <a:stretch/>
          </p:blipFill>
          <p:spPr>
            <a:xfrm>
              <a:off x="2686" y="2432"/>
              <a:ext cx="162" cy="207"/>
            </a:xfrm>
            <a:prstGeom prst="rect">
              <a:avLst/>
            </a:prstGeom>
            <a:noFill/>
            <a:ln>
              <a:noFill/>
            </a:ln>
          </p:spPr>
        </p:pic>
        <p:pic>
          <p:nvPicPr>
            <p:cNvPr id="694" name="Google Shape;694;p42"/>
            <p:cNvPicPr preferRelativeResize="0"/>
            <p:nvPr/>
          </p:nvPicPr>
          <p:blipFill rotWithShape="1">
            <a:blip r:embed="rId8">
              <a:alphaModFix/>
            </a:blip>
            <a:srcRect b="0" l="0" r="0" t="0"/>
            <a:stretch/>
          </p:blipFill>
          <p:spPr>
            <a:xfrm>
              <a:off x="1368" y="2936"/>
              <a:ext cx="146" cy="176"/>
            </a:xfrm>
            <a:prstGeom prst="rect">
              <a:avLst/>
            </a:prstGeom>
            <a:noFill/>
            <a:ln>
              <a:noFill/>
            </a:ln>
          </p:spPr>
        </p:pic>
        <p:pic>
          <p:nvPicPr>
            <p:cNvPr id="695" name="Google Shape;695;p42"/>
            <p:cNvPicPr preferRelativeResize="0"/>
            <p:nvPr/>
          </p:nvPicPr>
          <p:blipFill rotWithShape="1">
            <a:blip r:embed="rId9">
              <a:alphaModFix/>
            </a:blip>
            <a:srcRect b="0" l="0" r="0" t="0"/>
            <a:stretch/>
          </p:blipFill>
          <p:spPr>
            <a:xfrm>
              <a:off x="2158" y="2941"/>
              <a:ext cx="146" cy="207"/>
            </a:xfrm>
            <a:prstGeom prst="rect">
              <a:avLst/>
            </a:prstGeom>
            <a:noFill/>
            <a:ln>
              <a:noFill/>
            </a:ln>
          </p:spPr>
        </p:pic>
        <p:pic>
          <p:nvPicPr>
            <p:cNvPr id="696" name="Google Shape;696;p42"/>
            <p:cNvPicPr preferRelativeResize="0"/>
            <p:nvPr/>
          </p:nvPicPr>
          <p:blipFill rotWithShape="1">
            <a:blip r:embed="rId10">
              <a:alphaModFix/>
            </a:blip>
            <a:srcRect b="0" l="0" r="0" t="0"/>
            <a:stretch/>
          </p:blipFill>
          <p:spPr>
            <a:xfrm>
              <a:off x="1728" y="3065"/>
              <a:ext cx="273" cy="206"/>
            </a:xfrm>
            <a:prstGeom prst="rect">
              <a:avLst/>
            </a:prstGeom>
            <a:noFill/>
            <a:ln>
              <a:noFill/>
            </a:ln>
          </p:spPr>
        </p:pic>
        <p:sp>
          <p:nvSpPr>
            <p:cNvPr id="697" name="Google Shape;697;p42"/>
            <p:cNvSpPr/>
            <p:nvPr/>
          </p:nvSpPr>
          <p:spPr>
            <a:xfrm>
              <a:off x="1796" y="2476"/>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698" name="Google Shape;698;p42"/>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Chỉ số liên thông</a:t>
            </a:r>
            <a:endParaRPr/>
          </a:p>
        </p:txBody>
      </p:sp>
      <p:sp>
        <p:nvSpPr>
          <p:cNvPr id="699" name="Google Shape;699;p42"/>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l">
              <a:lnSpc>
                <a:spcPct val="80000"/>
              </a:lnSpc>
              <a:spcBef>
                <a:spcPts val="0"/>
              </a:spcBef>
              <a:spcAft>
                <a:spcPts val="0"/>
              </a:spcAft>
              <a:buClr>
                <a:schemeClr val="dk1"/>
              </a:buClr>
              <a:buSzPts val="2800"/>
              <a:buFont typeface="Noto Sans Symbols"/>
              <a:buNone/>
            </a:pPr>
            <a:r>
              <a:rPr b="0" i="1" lang="en-US" sz="2800" u="sng">
                <a:solidFill>
                  <a:schemeClr val="dk1"/>
                </a:solidFill>
                <a:latin typeface="Arial"/>
                <a:ea typeface="Arial"/>
                <a:cs typeface="Arial"/>
                <a:sym typeface="Arial"/>
              </a:rPr>
              <a:t>Ví dụ:</a:t>
            </a:r>
            <a:endParaRPr/>
          </a:p>
        </p:txBody>
      </p:sp>
      <p:grpSp>
        <p:nvGrpSpPr>
          <p:cNvPr id="700" name="Google Shape;700;p42"/>
          <p:cNvGrpSpPr/>
          <p:nvPr/>
        </p:nvGrpSpPr>
        <p:grpSpPr>
          <a:xfrm>
            <a:off x="2260600" y="4038600"/>
            <a:ext cx="3911600" cy="2428875"/>
            <a:chOff x="1344" y="2448"/>
            <a:chExt cx="2464" cy="1530"/>
          </a:xfrm>
        </p:grpSpPr>
        <p:cxnSp>
          <p:nvCxnSpPr>
            <p:cNvPr id="701" name="Google Shape;701;p42"/>
            <p:cNvCxnSpPr/>
            <p:nvPr/>
          </p:nvCxnSpPr>
          <p:spPr>
            <a:xfrm>
              <a:off x="2066" y="2708"/>
              <a:ext cx="0" cy="881"/>
            </a:xfrm>
            <a:prstGeom prst="straightConnector1">
              <a:avLst/>
            </a:prstGeom>
            <a:noFill/>
            <a:ln cap="flat" cmpd="sng" w="25400">
              <a:solidFill>
                <a:srgbClr val="000000"/>
              </a:solidFill>
              <a:prstDash val="solid"/>
              <a:miter lim="800000"/>
              <a:headEnd len="med" w="med" type="none"/>
              <a:tailEnd len="med" w="med" type="none"/>
            </a:ln>
          </p:spPr>
        </p:cxnSp>
        <p:cxnSp>
          <p:nvCxnSpPr>
            <p:cNvPr id="702" name="Google Shape;702;p42"/>
            <p:cNvCxnSpPr/>
            <p:nvPr/>
          </p:nvCxnSpPr>
          <p:spPr>
            <a:xfrm>
              <a:off x="3034" y="2708"/>
              <a:ext cx="0" cy="881"/>
            </a:xfrm>
            <a:prstGeom prst="straightConnector1">
              <a:avLst/>
            </a:prstGeom>
            <a:noFill/>
            <a:ln cap="flat" cmpd="sng" w="25400">
              <a:solidFill>
                <a:srgbClr val="000000"/>
              </a:solidFill>
              <a:prstDash val="solid"/>
              <a:miter lim="800000"/>
              <a:headEnd len="med" w="med" type="none"/>
              <a:tailEnd len="med" w="med" type="none"/>
            </a:ln>
          </p:spPr>
        </p:cxnSp>
        <p:cxnSp>
          <p:nvCxnSpPr>
            <p:cNvPr id="703" name="Google Shape;703;p42"/>
            <p:cNvCxnSpPr/>
            <p:nvPr/>
          </p:nvCxnSpPr>
          <p:spPr>
            <a:xfrm>
              <a:off x="2058" y="2715"/>
              <a:ext cx="985" cy="0"/>
            </a:xfrm>
            <a:prstGeom prst="straightConnector1">
              <a:avLst/>
            </a:prstGeom>
            <a:noFill/>
            <a:ln cap="flat" cmpd="sng" w="25400">
              <a:solidFill>
                <a:srgbClr val="000000"/>
              </a:solidFill>
              <a:prstDash val="solid"/>
              <a:miter lim="800000"/>
              <a:headEnd len="med" w="med" type="none"/>
              <a:tailEnd len="med" w="med" type="none"/>
            </a:ln>
          </p:spPr>
        </p:cxnSp>
        <p:cxnSp>
          <p:nvCxnSpPr>
            <p:cNvPr id="704" name="Google Shape;704;p42"/>
            <p:cNvCxnSpPr/>
            <p:nvPr/>
          </p:nvCxnSpPr>
          <p:spPr>
            <a:xfrm>
              <a:off x="2059" y="3586"/>
              <a:ext cx="986" cy="0"/>
            </a:xfrm>
            <a:prstGeom prst="straightConnector1">
              <a:avLst/>
            </a:prstGeom>
            <a:noFill/>
            <a:ln cap="flat" cmpd="sng" w="25400">
              <a:solidFill>
                <a:srgbClr val="000000"/>
              </a:solidFill>
              <a:prstDash val="solid"/>
              <a:miter lim="800000"/>
              <a:headEnd len="med" w="med" type="none"/>
              <a:tailEnd len="med" w="med" type="none"/>
            </a:ln>
          </p:spPr>
        </p:cxnSp>
        <p:cxnSp>
          <p:nvCxnSpPr>
            <p:cNvPr id="705" name="Google Shape;705;p42"/>
            <p:cNvCxnSpPr/>
            <p:nvPr/>
          </p:nvCxnSpPr>
          <p:spPr>
            <a:xfrm rot="10800000">
              <a:off x="1573" y="3148"/>
              <a:ext cx="493" cy="431"/>
            </a:xfrm>
            <a:prstGeom prst="straightConnector1">
              <a:avLst/>
            </a:prstGeom>
            <a:noFill/>
            <a:ln cap="flat" cmpd="sng" w="25400">
              <a:solidFill>
                <a:srgbClr val="000000"/>
              </a:solidFill>
              <a:prstDash val="solid"/>
              <a:miter lim="800000"/>
              <a:headEnd len="med" w="med" type="none"/>
              <a:tailEnd len="med" w="med" type="none"/>
            </a:ln>
          </p:spPr>
        </p:cxnSp>
        <p:cxnSp>
          <p:nvCxnSpPr>
            <p:cNvPr id="706" name="Google Shape;706;p42"/>
            <p:cNvCxnSpPr/>
            <p:nvPr/>
          </p:nvCxnSpPr>
          <p:spPr>
            <a:xfrm flipH="1">
              <a:off x="1574" y="2722"/>
              <a:ext cx="485" cy="426"/>
            </a:xfrm>
            <a:prstGeom prst="straightConnector1">
              <a:avLst/>
            </a:prstGeom>
            <a:noFill/>
            <a:ln cap="flat" cmpd="sng" w="25400">
              <a:solidFill>
                <a:srgbClr val="000000"/>
              </a:solidFill>
              <a:prstDash val="solid"/>
              <a:miter lim="800000"/>
              <a:headEnd len="med" w="med" type="none"/>
              <a:tailEnd len="med" w="med" type="none"/>
            </a:ln>
          </p:spPr>
        </p:cxnSp>
        <p:cxnSp>
          <p:nvCxnSpPr>
            <p:cNvPr id="707" name="Google Shape;707;p42"/>
            <p:cNvCxnSpPr/>
            <p:nvPr/>
          </p:nvCxnSpPr>
          <p:spPr>
            <a:xfrm>
              <a:off x="3043" y="2722"/>
              <a:ext cx="493" cy="426"/>
            </a:xfrm>
            <a:prstGeom prst="straightConnector1">
              <a:avLst/>
            </a:prstGeom>
            <a:noFill/>
            <a:ln cap="flat" cmpd="sng" w="25400">
              <a:solidFill>
                <a:srgbClr val="000000"/>
              </a:solidFill>
              <a:prstDash val="solid"/>
              <a:miter lim="800000"/>
              <a:headEnd len="med" w="med" type="none"/>
              <a:tailEnd len="med" w="med" type="none"/>
            </a:ln>
          </p:spPr>
        </p:cxnSp>
        <p:cxnSp>
          <p:nvCxnSpPr>
            <p:cNvPr id="708" name="Google Shape;708;p42"/>
            <p:cNvCxnSpPr/>
            <p:nvPr/>
          </p:nvCxnSpPr>
          <p:spPr>
            <a:xfrm flipH="1" rot="10800000">
              <a:off x="3028" y="3148"/>
              <a:ext cx="507" cy="439"/>
            </a:xfrm>
            <a:prstGeom prst="straightConnector1">
              <a:avLst/>
            </a:prstGeom>
            <a:noFill/>
            <a:ln cap="flat" cmpd="sng" w="25400">
              <a:solidFill>
                <a:srgbClr val="000000"/>
              </a:solidFill>
              <a:prstDash val="solid"/>
              <a:miter lim="800000"/>
              <a:headEnd len="med" w="med" type="none"/>
              <a:tailEnd len="med" w="med" type="none"/>
            </a:ln>
          </p:spPr>
        </p:cxnSp>
        <p:sp>
          <p:nvSpPr>
            <p:cNvPr id="709" name="Google Shape;709;p42"/>
            <p:cNvSpPr/>
            <p:nvPr/>
          </p:nvSpPr>
          <p:spPr>
            <a:xfrm>
              <a:off x="3491" y="3111"/>
              <a:ext cx="85" cy="75"/>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0" name="Google Shape;710;p42"/>
            <p:cNvSpPr/>
            <p:nvPr/>
          </p:nvSpPr>
          <p:spPr>
            <a:xfrm>
              <a:off x="1529" y="3109"/>
              <a:ext cx="85" cy="76"/>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1" name="Google Shape;711;p42"/>
            <p:cNvSpPr/>
            <p:nvPr/>
          </p:nvSpPr>
          <p:spPr>
            <a:xfrm>
              <a:off x="2022" y="2677"/>
              <a:ext cx="85" cy="76"/>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2" name="Google Shape;712;p42"/>
            <p:cNvSpPr/>
            <p:nvPr/>
          </p:nvSpPr>
          <p:spPr>
            <a:xfrm>
              <a:off x="2025" y="3542"/>
              <a:ext cx="84" cy="75"/>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3" name="Google Shape;713;p42"/>
            <p:cNvSpPr/>
            <p:nvPr/>
          </p:nvSpPr>
          <p:spPr>
            <a:xfrm>
              <a:off x="2990" y="3547"/>
              <a:ext cx="84" cy="75"/>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4" name="Google Shape;714;p42"/>
            <p:cNvSpPr/>
            <p:nvPr/>
          </p:nvSpPr>
          <p:spPr>
            <a:xfrm>
              <a:off x="2990" y="2673"/>
              <a:ext cx="84" cy="75"/>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15" name="Google Shape;715;p42"/>
            <p:cNvPicPr preferRelativeResize="0"/>
            <p:nvPr/>
          </p:nvPicPr>
          <p:blipFill rotWithShape="1">
            <a:blip r:embed="rId11">
              <a:alphaModFix/>
            </a:blip>
            <a:srcRect b="0" l="0" r="0" t="0"/>
            <a:stretch/>
          </p:blipFill>
          <p:spPr>
            <a:xfrm>
              <a:off x="1344" y="3063"/>
              <a:ext cx="201" cy="194"/>
            </a:xfrm>
            <a:prstGeom prst="rect">
              <a:avLst/>
            </a:prstGeom>
            <a:noFill/>
            <a:ln>
              <a:noFill/>
            </a:ln>
          </p:spPr>
        </p:pic>
        <p:pic>
          <p:nvPicPr>
            <p:cNvPr id="716" name="Google Shape;716;p42"/>
            <p:cNvPicPr preferRelativeResize="0"/>
            <p:nvPr/>
          </p:nvPicPr>
          <p:blipFill rotWithShape="1">
            <a:blip r:embed="rId12">
              <a:alphaModFix/>
            </a:blip>
            <a:srcRect b="0" l="0" r="0" t="0"/>
            <a:stretch/>
          </p:blipFill>
          <p:spPr>
            <a:xfrm>
              <a:off x="1958" y="2448"/>
              <a:ext cx="201" cy="246"/>
            </a:xfrm>
            <a:prstGeom prst="rect">
              <a:avLst/>
            </a:prstGeom>
            <a:noFill/>
            <a:ln>
              <a:noFill/>
            </a:ln>
          </p:spPr>
        </p:pic>
        <p:pic>
          <p:nvPicPr>
            <p:cNvPr id="717" name="Google Shape;717;p42"/>
            <p:cNvPicPr preferRelativeResize="0"/>
            <p:nvPr/>
          </p:nvPicPr>
          <p:blipFill rotWithShape="1">
            <a:blip r:embed="rId13">
              <a:alphaModFix/>
            </a:blip>
            <a:srcRect b="0" l="0" r="0" t="0"/>
            <a:stretch/>
          </p:blipFill>
          <p:spPr>
            <a:xfrm>
              <a:off x="2945" y="2477"/>
              <a:ext cx="181" cy="195"/>
            </a:xfrm>
            <a:prstGeom prst="rect">
              <a:avLst/>
            </a:prstGeom>
            <a:noFill/>
            <a:ln>
              <a:noFill/>
            </a:ln>
          </p:spPr>
        </p:pic>
        <p:pic>
          <p:nvPicPr>
            <p:cNvPr id="718" name="Google Shape;718;p42"/>
            <p:cNvPicPr preferRelativeResize="0"/>
            <p:nvPr/>
          </p:nvPicPr>
          <p:blipFill rotWithShape="1">
            <a:blip r:embed="rId14">
              <a:alphaModFix/>
            </a:blip>
            <a:srcRect b="0" l="0" r="0" t="0"/>
            <a:stretch/>
          </p:blipFill>
          <p:spPr>
            <a:xfrm>
              <a:off x="3607" y="3057"/>
              <a:ext cx="201" cy="230"/>
            </a:xfrm>
            <a:prstGeom prst="rect">
              <a:avLst/>
            </a:prstGeom>
            <a:noFill/>
            <a:ln>
              <a:noFill/>
            </a:ln>
          </p:spPr>
        </p:pic>
        <p:pic>
          <p:nvPicPr>
            <p:cNvPr id="719" name="Google Shape;719;p42"/>
            <p:cNvPicPr preferRelativeResize="0"/>
            <p:nvPr/>
          </p:nvPicPr>
          <p:blipFill rotWithShape="1">
            <a:blip r:embed="rId15">
              <a:alphaModFix/>
            </a:blip>
            <a:srcRect b="0" l="0" r="0" t="0"/>
            <a:stretch/>
          </p:blipFill>
          <p:spPr>
            <a:xfrm>
              <a:off x="1970" y="3616"/>
              <a:ext cx="181" cy="195"/>
            </a:xfrm>
            <a:prstGeom prst="rect">
              <a:avLst/>
            </a:prstGeom>
            <a:noFill/>
            <a:ln>
              <a:noFill/>
            </a:ln>
          </p:spPr>
        </p:pic>
        <p:pic>
          <p:nvPicPr>
            <p:cNvPr id="720" name="Google Shape;720;p42"/>
            <p:cNvPicPr preferRelativeResize="0"/>
            <p:nvPr/>
          </p:nvPicPr>
          <p:blipFill rotWithShape="1">
            <a:blip r:embed="rId16">
              <a:alphaModFix/>
            </a:blip>
            <a:srcRect b="0" l="0" r="0" t="0"/>
            <a:stretch/>
          </p:blipFill>
          <p:spPr>
            <a:xfrm>
              <a:off x="2951" y="3621"/>
              <a:ext cx="181" cy="230"/>
            </a:xfrm>
            <a:prstGeom prst="rect">
              <a:avLst/>
            </a:prstGeom>
            <a:noFill/>
            <a:ln>
              <a:noFill/>
            </a:ln>
          </p:spPr>
        </p:pic>
        <p:pic>
          <p:nvPicPr>
            <p:cNvPr id="721" name="Google Shape;721;p42"/>
            <p:cNvPicPr preferRelativeResize="0"/>
            <p:nvPr/>
          </p:nvPicPr>
          <p:blipFill rotWithShape="1">
            <a:blip r:embed="rId17">
              <a:alphaModFix/>
            </a:blip>
            <a:srcRect b="0" l="0" r="0" t="0"/>
            <a:stretch/>
          </p:blipFill>
          <p:spPr>
            <a:xfrm>
              <a:off x="2417" y="3767"/>
              <a:ext cx="339" cy="211"/>
            </a:xfrm>
            <a:prstGeom prst="rect">
              <a:avLst/>
            </a:prstGeom>
            <a:noFill/>
            <a:ln>
              <a:noFill/>
            </a:ln>
          </p:spPr>
        </p:pic>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726" name="Shape 726"/>
        <p:cNvGrpSpPr/>
        <p:nvPr/>
      </p:nvGrpSpPr>
      <p:grpSpPr>
        <a:xfrm>
          <a:off x="0" y="0"/>
          <a:ext cx="0" cy="0"/>
          <a:chOff x="0" y="0"/>
          <a:chExt cx="0" cy="0"/>
        </a:xfrm>
      </p:grpSpPr>
      <p:sp>
        <p:nvSpPr>
          <p:cNvPr id="727" name="Google Shape;727;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728" name="Google Shape;728;p43"/>
          <p:cNvGrpSpPr/>
          <p:nvPr/>
        </p:nvGrpSpPr>
        <p:grpSpPr>
          <a:xfrm>
            <a:off x="3810000" y="1295400"/>
            <a:ext cx="3911600" cy="2443162"/>
            <a:chOff x="864" y="1882"/>
            <a:chExt cx="1984" cy="1389"/>
          </a:xfrm>
        </p:grpSpPr>
        <p:cxnSp>
          <p:nvCxnSpPr>
            <p:cNvPr id="729" name="Google Shape;729;p43"/>
            <p:cNvCxnSpPr/>
            <p:nvPr/>
          </p:nvCxnSpPr>
          <p:spPr>
            <a:xfrm>
              <a:off x="1445" y="2117"/>
              <a:ext cx="0" cy="795"/>
            </a:xfrm>
            <a:prstGeom prst="straightConnector1">
              <a:avLst/>
            </a:prstGeom>
            <a:noFill/>
            <a:ln cap="flat" cmpd="sng" w="25400">
              <a:solidFill>
                <a:srgbClr val="000000"/>
              </a:solidFill>
              <a:prstDash val="solid"/>
              <a:miter lim="800000"/>
              <a:headEnd len="med" w="med" type="none"/>
              <a:tailEnd len="med" w="med" type="none"/>
            </a:ln>
          </p:spPr>
        </p:cxnSp>
        <p:cxnSp>
          <p:nvCxnSpPr>
            <p:cNvPr id="730" name="Google Shape;730;p43"/>
            <p:cNvCxnSpPr/>
            <p:nvPr/>
          </p:nvCxnSpPr>
          <p:spPr>
            <a:xfrm>
              <a:off x="2225" y="2117"/>
              <a:ext cx="0" cy="795"/>
            </a:xfrm>
            <a:prstGeom prst="straightConnector1">
              <a:avLst/>
            </a:prstGeom>
            <a:noFill/>
            <a:ln cap="flat" cmpd="sng" w="25400">
              <a:solidFill>
                <a:srgbClr val="000000"/>
              </a:solidFill>
              <a:prstDash val="solid"/>
              <a:miter lim="800000"/>
              <a:headEnd len="med" w="med" type="none"/>
              <a:tailEnd len="med" w="med" type="none"/>
            </a:ln>
          </p:spPr>
        </p:cxnSp>
        <p:cxnSp>
          <p:nvCxnSpPr>
            <p:cNvPr id="731" name="Google Shape;731;p43"/>
            <p:cNvCxnSpPr/>
            <p:nvPr/>
          </p:nvCxnSpPr>
          <p:spPr>
            <a:xfrm>
              <a:off x="1439" y="2123"/>
              <a:ext cx="793" cy="0"/>
            </a:xfrm>
            <a:prstGeom prst="straightConnector1">
              <a:avLst/>
            </a:prstGeom>
            <a:noFill/>
            <a:ln cap="flat" cmpd="sng" w="25400">
              <a:solidFill>
                <a:srgbClr val="000000"/>
              </a:solidFill>
              <a:prstDash val="solid"/>
              <a:miter lim="800000"/>
              <a:headEnd len="med" w="med" type="none"/>
              <a:tailEnd len="med" w="med" type="none"/>
            </a:ln>
          </p:spPr>
        </p:cxnSp>
        <p:cxnSp>
          <p:nvCxnSpPr>
            <p:cNvPr id="732" name="Google Shape;732;p43"/>
            <p:cNvCxnSpPr/>
            <p:nvPr/>
          </p:nvCxnSpPr>
          <p:spPr>
            <a:xfrm>
              <a:off x="1440" y="2909"/>
              <a:ext cx="794" cy="0"/>
            </a:xfrm>
            <a:prstGeom prst="straightConnector1">
              <a:avLst/>
            </a:prstGeom>
            <a:noFill/>
            <a:ln cap="flat" cmpd="sng" w="25400">
              <a:solidFill>
                <a:srgbClr val="000000"/>
              </a:solidFill>
              <a:prstDash val="solid"/>
              <a:miter lim="800000"/>
              <a:headEnd len="med" w="med" type="none"/>
              <a:tailEnd len="med" w="med" type="none"/>
            </a:ln>
          </p:spPr>
        </p:cxnSp>
        <p:cxnSp>
          <p:nvCxnSpPr>
            <p:cNvPr id="733" name="Google Shape;733;p43"/>
            <p:cNvCxnSpPr/>
            <p:nvPr/>
          </p:nvCxnSpPr>
          <p:spPr>
            <a:xfrm flipH="1" rot="10800000">
              <a:off x="1440" y="2125"/>
              <a:ext cx="782" cy="785"/>
            </a:xfrm>
            <a:prstGeom prst="straightConnector1">
              <a:avLst/>
            </a:prstGeom>
            <a:noFill/>
            <a:ln cap="flat" cmpd="sng" w="25400">
              <a:solidFill>
                <a:srgbClr val="000000"/>
              </a:solidFill>
              <a:prstDash val="solid"/>
              <a:miter lim="800000"/>
              <a:headEnd len="med" w="med" type="none"/>
              <a:tailEnd len="med" w="med" type="none"/>
            </a:ln>
          </p:spPr>
        </p:cxnSp>
        <p:cxnSp>
          <p:nvCxnSpPr>
            <p:cNvPr id="734" name="Google Shape;734;p43"/>
            <p:cNvCxnSpPr/>
            <p:nvPr/>
          </p:nvCxnSpPr>
          <p:spPr>
            <a:xfrm>
              <a:off x="1447" y="2125"/>
              <a:ext cx="771" cy="780"/>
            </a:xfrm>
            <a:prstGeom prst="straightConnector1">
              <a:avLst/>
            </a:prstGeom>
            <a:noFill/>
            <a:ln cap="flat" cmpd="sng" w="25400">
              <a:solidFill>
                <a:srgbClr val="000000"/>
              </a:solidFill>
              <a:prstDash val="solid"/>
              <a:miter lim="800000"/>
              <a:headEnd len="med" w="med" type="none"/>
              <a:tailEnd len="med" w="med" type="none"/>
            </a:ln>
          </p:spPr>
        </p:cxnSp>
        <p:cxnSp>
          <p:nvCxnSpPr>
            <p:cNvPr id="735" name="Google Shape;735;p43"/>
            <p:cNvCxnSpPr/>
            <p:nvPr/>
          </p:nvCxnSpPr>
          <p:spPr>
            <a:xfrm rot="10800000">
              <a:off x="1048" y="2514"/>
              <a:ext cx="397" cy="389"/>
            </a:xfrm>
            <a:prstGeom prst="straightConnector1">
              <a:avLst/>
            </a:prstGeom>
            <a:noFill/>
            <a:ln cap="flat" cmpd="sng" w="25400">
              <a:solidFill>
                <a:srgbClr val="000000"/>
              </a:solidFill>
              <a:prstDash val="solid"/>
              <a:miter lim="800000"/>
              <a:headEnd len="med" w="med" type="none"/>
              <a:tailEnd len="med" w="med" type="none"/>
            </a:ln>
          </p:spPr>
        </p:cxnSp>
        <p:cxnSp>
          <p:nvCxnSpPr>
            <p:cNvPr id="736" name="Google Shape;736;p43"/>
            <p:cNvCxnSpPr/>
            <p:nvPr/>
          </p:nvCxnSpPr>
          <p:spPr>
            <a:xfrm flipH="1">
              <a:off x="1049" y="2129"/>
              <a:ext cx="391" cy="385"/>
            </a:xfrm>
            <a:prstGeom prst="straightConnector1">
              <a:avLst/>
            </a:prstGeom>
            <a:noFill/>
            <a:ln cap="flat" cmpd="sng" w="25400">
              <a:solidFill>
                <a:srgbClr val="000000"/>
              </a:solidFill>
              <a:prstDash val="solid"/>
              <a:miter lim="800000"/>
              <a:headEnd len="med" w="med" type="none"/>
              <a:tailEnd len="med" w="med" type="none"/>
            </a:ln>
          </p:spPr>
        </p:cxnSp>
        <p:cxnSp>
          <p:nvCxnSpPr>
            <p:cNvPr id="737" name="Google Shape;737;p43"/>
            <p:cNvCxnSpPr/>
            <p:nvPr/>
          </p:nvCxnSpPr>
          <p:spPr>
            <a:xfrm>
              <a:off x="2232" y="2129"/>
              <a:ext cx="397" cy="385"/>
            </a:xfrm>
            <a:prstGeom prst="straightConnector1">
              <a:avLst/>
            </a:prstGeom>
            <a:noFill/>
            <a:ln cap="flat" cmpd="sng" w="25400">
              <a:solidFill>
                <a:srgbClr val="000000"/>
              </a:solidFill>
              <a:prstDash val="solid"/>
              <a:miter lim="800000"/>
              <a:headEnd len="med" w="med" type="none"/>
              <a:tailEnd len="med" w="med" type="none"/>
            </a:ln>
          </p:spPr>
        </p:cxnSp>
        <p:cxnSp>
          <p:nvCxnSpPr>
            <p:cNvPr id="738" name="Google Shape;738;p43"/>
            <p:cNvCxnSpPr/>
            <p:nvPr/>
          </p:nvCxnSpPr>
          <p:spPr>
            <a:xfrm flipH="1" rot="10800000">
              <a:off x="2220" y="2514"/>
              <a:ext cx="408" cy="396"/>
            </a:xfrm>
            <a:prstGeom prst="straightConnector1">
              <a:avLst/>
            </a:prstGeom>
            <a:noFill/>
            <a:ln cap="flat" cmpd="sng" w="25400">
              <a:solidFill>
                <a:srgbClr val="000000"/>
              </a:solidFill>
              <a:prstDash val="solid"/>
              <a:miter lim="800000"/>
              <a:headEnd len="med" w="med" type="none"/>
              <a:tailEnd len="med" w="med" type="none"/>
            </a:ln>
          </p:spPr>
        </p:cxnSp>
        <p:sp>
          <p:nvSpPr>
            <p:cNvPr id="739" name="Google Shape;739;p43"/>
            <p:cNvSpPr/>
            <p:nvPr/>
          </p:nvSpPr>
          <p:spPr>
            <a:xfrm>
              <a:off x="2593" y="2480"/>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0" name="Google Shape;740;p43"/>
            <p:cNvSpPr/>
            <p:nvPr/>
          </p:nvSpPr>
          <p:spPr>
            <a:xfrm>
              <a:off x="1013" y="2479"/>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1" name="Google Shape;741;p43"/>
            <p:cNvSpPr/>
            <p:nvPr/>
          </p:nvSpPr>
          <p:spPr>
            <a:xfrm>
              <a:off x="1410" y="2089"/>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2" name="Google Shape;742;p43"/>
            <p:cNvSpPr/>
            <p:nvPr/>
          </p:nvSpPr>
          <p:spPr>
            <a:xfrm>
              <a:off x="1412" y="2869"/>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3" name="Google Shape;743;p43"/>
            <p:cNvSpPr/>
            <p:nvPr/>
          </p:nvSpPr>
          <p:spPr>
            <a:xfrm>
              <a:off x="2189" y="2874"/>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4" name="Google Shape;744;p43"/>
            <p:cNvSpPr/>
            <p:nvPr/>
          </p:nvSpPr>
          <p:spPr>
            <a:xfrm>
              <a:off x="2189" y="2085"/>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45" name="Google Shape;745;p43"/>
            <p:cNvPicPr preferRelativeResize="0"/>
            <p:nvPr/>
          </p:nvPicPr>
          <p:blipFill rotWithShape="1">
            <a:blip r:embed="rId3">
              <a:alphaModFix/>
            </a:blip>
            <a:srcRect b="0" l="0" r="0" t="0"/>
            <a:stretch/>
          </p:blipFill>
          <p:spPr>
            <a:xfrm>
              <a:off x="1784" y="2580"/>
              <a:ext cx="162" cy="222"/>
            </a:xfrm>
            <a:prstGeom prst="rect">
              <a:avLst/>
            </a:prstGeom>
            <a:noFill/>
            <a:ln>
              <a:noFill/>
            </a:ln>
          </p:spPr>
        </p:pic>
        <p:pic>
          <p:nvPicPr>
            <p:cNvPr id="746" name="Google Shape;746;p43"/>
            <p:cNvPicPr preferRelativeResize="0"/>
            <p:nvPr/>
          </p:nvPicPr>
          <p:blipFill rotWithShape="1">
            <a:blip r:embed="rId4">
              <a:alphaModFix/>
            </a:blip>
            <a:srcRect b="0" l="0" r="0" t="0"/>
            <a:stretch/>
          </p:blipFill>
          <p:spPr>
            <a:xfrm>
              <a:off x="864" y="2437"/>
              <a:ext cx="162" cy="175"/>
            </a:xfrm>
            <a:prstGeom prst="rect">
              <a:avLst/>
            </a:prstGeom>
            <a:noFill/>
            <a:ln>
              <a:noFill/>
            </a:ln>
          </p:spPr>
        </p:pic>
        <p:pic>
          <p:nvPicPr>
            <p:cNvPr id="747" name="Google Shape;747;p43"/>
            <p:cNvPicPr preferRelativeResize="0"/>
            <p:nvPr/>
          </p:nvPicPr>
          <p:blipFill rotWithShape="1">
            <a:blip r:embed="rId5">
              <a:alphaModFix/>
            </a:blip>
            <a:srcRect b="0" l="0" r="0" t="0"/>
            <a:stretch/>
          </p:blipFill>
          <p:spPr>
            <a:xfrm>
              <a:off x="1358" y="1882"/>
              <a:ext cx="162" cy="222"/>
            </a:xfrm>
            <a:prstGeom prst="rect">
              <a:avLst/>
            </a:prstGeom>
            <a:noFill/>
            <a:ln>
              <a:noFill/>
            </a:ln>
          </p:spPr>
        </p:pic>
        <p:pic>
          <p:nvPicPr>
            <p:cNvPr id="748" name="Google Shape;748;p43"/>
            <p:cNvPicPr preferRelativeResize="0"/>
            <p:nvPr/>
          </p:nvPicPr>
          <p:blipFill rotWithShape="1">
            <a:blip r:embed="rId6">
              <a:alphaModFix/>
            </a:blip>
            <a:srcRect b="0" l="0" r="0" t="0"/>
            <a:stretch/>
          </p:blipFill>
          <p:spPr>
            <a:xfrm>
              <a:off x="2153" y="1908"/>
              <a:ext cx="146" cy="176"/>
            </a:xfrm>
            <a:prstGeom prst="rect">
              <a:avLst/>
            </a:prstGeom>
            <a:noFill/>
            <a:ln>
              <a:noFill/>
            </a:ln>
          </p:spPr>
        </p:pic>
        <p:pic>
          <p:nvPicPr>
            <p:cNvPr id="749" name="Google Shape;749;p43"/>
            <p:cNvPicPr preferRelativeResize="0"/>
            <p:nvPr/>
          </p:nvPicPr>
          <p:blipFill rotWithShape="1">
            <a:blip r:embed="rId7">
              <a:alphaModFix/>
            </a:blip>
            <a:srcRect b="0" l="0" r="0" t="0"/>
            <a:stretch/>
          </p:blipFill>
          <p:spPr>
            <a:xfrm>
              <a:off x="2686" y="2432"/>
              <a:ext cx="162" cy="207"/>
            </a:xfrm>
            <a:prstGeom prst="rect">
              <a:avLst/>
            </a:prstGeom>
            <a:noFill/>
            <a:ln>
              <a:noFill/>
            </a:ln>
          </p:spPr>
        </p:pic>
        <p:pic>
          <p:nvPicPr>
            <p:cNvPr id="750" name="Google Shape;750;p43"/>
            <p:cNvPicPr preferRelativeResize="0"/>
            <p:nvPr/>
          </p:nvPicPr>
          <p:blipFill rotWithShape="1">
            <a:blip r:embed="rId8">
              <a:alphaModFix/>
            </a:blip>
            <a:srcRect b="0" l="0" r="0" t="0"/>
            <a:stretch/>
          </p:blipFill>
          <p:spPr>
            <a:xfrm>
              <a:off x="1368" y="2936"/>
              <a:ext cx="146" cy="176"/>
            </a:xfrm>
            <a:prstGeom prst="rect">
              <a:avLst/>
            </a:prstGeom>
            <a:noFill/>
            <a:ln>
              <a:noFill/>
            </a:ln>
          </p:spPr>
        </p:pic>
        <p:pic>
          <p:nvPicPr>
            <p:cNvPr id="751" name="Google Shape;751;p43"/>
            <p:cNvPicPr preferRelativeResize="0"/>
            <p:nvPr/>
          </p:nvPicPr>
          <p:blipFill rotWithShape="1">
            <a:blip r:embed="rId9">
              <a:alphaModFix/>
            </a:blip>
            <a:srcRect b="0" l="0" r="0" t="0"/>
            <a:stretch/>
          </p:blipFill>
          <p:spPr>
            <a:xfrm>
              <a:off x="2158" y="2941"/>
              <a:ext cx="146" cy="207"/>
            </a:xfrm>
            <a:prstGeom prst="rect">
              <a:avLst/>
            </a:prstGeom>
            <a:noFill/>
            <a:ln>
              <a:noFill/>
            </a:ln>
          </p:spPr>
        </p:pic>
        <p:pic>
          <p:nvPicPr>
            <p:cNvPr id="752" name="Google Shape;752;p43"/>
            <p:cNvPicPr preferRelativeResize="0"/>
            <p:nvPr/>
          </p:nvPicPr>
          <p:blipFill rotWithShape="1">
            <a:blip r:embed="rId10">
              <a:alphaModFix/>
            </a:blip>
            <a:srcRect b="0" l="0" r="0" t="0"/>
            <a:stretch/>
          </p:blipFill>
          <p:spPr>
            <a:xfrm>
              <a:off x="1728" y="3065"/>
              <a:ext cx="273" cy="206"/>
            </a:xfrm>
            <a:prstGeom prst="rect">
              <a:avLst/>
            </a:prstGeom>
            <a:noFill/>
            <a:ln>
              <a:noFill/>
            </a:ln>
          </p:spPr>
        </p:pic>
        <p:sp>
          <p:nvSpPr>
            <p:cNvPr id="753" name="Google Shape;753;p43"/>
            <p:cNvSpPr/>
            <p:nvPr/>
          </p:nvSpPr>
          <p:spPr>
            <a:xfrm>
              <a:off x="1796" y="2476"/>
              <a:ext cx="68" cy="68"/>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754" name="Google Shape;754;p43"/>
          <p:cNvGrpSpPr/>
          <p:nvPr/>
        </p:nvGrpSpPr>
        <p:grpSpPr>
          <a:xfrm>
            <a:off x="3810000" y="3810000"/>
            <a:ext cx="3911600" cy="2384425"/>
            <a:chOff x="2784" y="2285"/>
            <a:chExt cx="2464" cy="1502"/>
          </a:xfrm>
        </p:grpSpPr>
        <p:cxnSp>
          <p:nvCxnSpPr>
            <p:cNvPr id="755" name="Google Shape;755;p43"/>
            <p:cNvCxnSpPr/>
            <p:nvPr/>
          </p:nvCxnSpPr>
          <p:spPr>
            <a:xfrm>
              <a:off x="4474" y="2516"/>
              <a:ext cx="0" cy="881"/>
            </a:xfrm>
            <a:prstGeom prst="straightConnector1">
              <a:avLst/>
            </a:prstGeom>
            <a:noFill/>
            <a:ln cap="flat" cmpd="sng" w="25400">
              <a:solidFill>
                <a:srgbClr val="000000"/>
              </a:solidFill>
              <a:prstDash val="solid"/>
              <a:miter lim="800000"/>
              <a:headEnd len="med" w="med" type="none"/>
              <a:tailEnd len="med" w="med" type="none"/>
            </a:ln>
          </p:spPr>
        </p:cxnSp>
        <p:cxnSp>
          <p:nvCxnSpPr>
            <p:cNvPr id="756" name="Google Shape;756;p43"/>
            <p:cNvCxnSpPr/>
            <p:nvPr/>
          </p:nvCxnSpPr>
          <p:spPr>
            <a:xfrm flipH="1" rot="10800000">
              <a:off x="4032" y="2525"/>
              <a:ext cx="439" cy="393"/>
            </a:xfrm>
            <a:prstGeom prst="straightConnector1">
              <a:avLst/>
            </a:prstGeom>
            <a:noFill/>
            <a:ln cap="flat" cmpd="sng" w="25400">
              <a:solidFill>
                <a:srgbClr val="000000"/>
              </a:solidFill>
              <a:prstDash val="solid"/>
              <a:miter lim="800000"/>
              <a:headEnd len="med" w="med" type="none"/>
              <a:tailEnd len="med" w="med" type="none"/>
            </a:ln>
          </p:spPr>
        </p:cxnSp>
        <p:cxnSp>
          <p:nvCxnSpPr>
            <p:cNvPr id="757" name="Google Shape;757;p43"/>
            <p:cNvCxnSpPr/>
            <p:nvPr/>
          </p:nvCxnSpPr>
          <p:spPr>
            <a:xfrm>
              <a:off x="3984" y="2954"/>
              <a:ext cx="482" cy="435"/>
            </a:xfrm>
            <a:prstGeom prst="straightConnector1">
              <a:avLst/>
            </a:prstGeom>
            <a:noFill/>
            <a:ln cap="flat" cmpd="sng" w="25400">
              <a:solidFill>
                <a:srgbClr val="000000"/>
              </a:solidFill>
              <a:prstDash val="solid"/>
              <a:miter lim="800000"/>
              <a:headEnd len="med" w="med" type="none"/>
              <a:tailEnd len="med" w="med" type="none"/>
            </a:ln>
          </p:spPr>
        </p:cxnSp>
        <p:cxnSp>
          <p:nvCxnSpPr>
            <p:cNvPr id="758" name="Google Shape;758;p43"/>
            <p:cNvCxnSpPr/>
            <p:nvPr/>
          </p:nvCxnSpPr>
          <p:spPr>
            <a:xfrm>
              <a:off x="4483" y="2530"/>
              <a:ext cx="493" cy="426"/>
            </a:xfrm>
            <a:prstGeom prst="straightConnector1">
              <a:avLst/>
            </a:prstGeom>
            <a:noFill/>
            <a:ln cap="flat" cmpd="sng" w="25400">
              <a:solidFill>
                <a:srgbClr val="000000"/>
              </a:solidFill>
              <a:prstDash val="solid"/>
              <a:miter lim="800000"/>
              <a:headEnd len="med" w="med" type="none"/>
              <a:tailEnd len="med" w="med" type="none"/>
            </a:ln>
          </p:spPr>
        </p:cxnSp>
        <p:cxnSp>
          <p:nvCxnSpPr>
            <p:cNvPr id="759" name="Google Shape;759;p43"/>
            <p:cNvCxnSpPr/>
            <p:nvPr/>
          </p:nvCxnSpPr>
          <p:spPr>
            <a:xfrm flipH="1" rot="10800000">
              <a:off x="4468" y="2956"/>
              <a:ext cx="507" cy="439"/>
            </a:xfrm>
            <a:prstGeom prst="straightConnector1">
              <a:avLst/>
            </a:prstGeom>
            <a:noFill/>
            <a:ln cap="flat" cmpd="sng" w="25400">
              <a:solidFill>
                <a:srgbClr val="000000"/>
              </a:solidFill>
              <a:prstDash val="solid"/>
              <a:miter lim="800000"/>
              <a:headEnd len="med" w="med" type="none"/>
              <a:tailEnd len="med" w="med" type="none"/>
            </a:ln>
          </p:spPr>
        </p:cxnSp>
        <p:sp>
          <p:nvSpPr>
            <p:cNvPr id="760" name="Google Shape;760;p43"/>
            <p:cNvSpPr/>
            <p:nvPr/>
          </p:nvSpPr>
          <p:spPr>
            <a:xfrm>
              <a:off x="4931" y="2919"/>
              <a:ext cx="85" cy="75"/>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1" name="Google Shape;761;p43"/>
            <p:cNvSpPr/>
            <p:nvPr/>
          </p:nvSpPr>
          <p:spPr>
            <a:xfrm>
              <a:off x="2969" y="2917"/>
              <a:ext cx="85" cy="76"/>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2" name="Google Shape;762;p43"/>
            <p:cNvSpPr/>
            <p:nvPr/>
          </p:nvSpPr>
          <p:spPr>
            <a:xfrm>
              <a:off x="4430" y="3355"/>
              <a:ext cx="84" cy="75"/>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3" name="Google Shape;763;p43"/>
            <p:cNvSpPr/>
            <p:nvPr/>
          </p:nvSpPr>
          <p:spPr>
            <a:xfrm>
              <a:off x="4430" y="2481"/>
              <a:ext cx="84" cy="75"/>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64" name="Google Shape;764;p43"/>
            <p:cNvPicPr preferRelativeResize="0"/>
            <p:nvPr/>
          </p:nvPicPr>
          <p:blipFill rotWithShape="1">
            <a:blip r:embed="rId11">
              <a:alphaModFix/>
            </a:blip>
            <a:srcRect b="0" l="0" r="0" t="0"/>
            <a:stretch/>
          </p:blipFill>
          <p:spPr>
            <a:xfrm>
              <a:off x="3927" y="3029"/>
              <a:ext cx="201" cy="246"/>
            </a:xfrm>
            <a:prstGeom prst="rect">
              <a:avLst/>
            </a:prstGeom>
            <a:noFill/>
            <a:ln>
              <a:noFill/>
            </a:ln>
          </p:spPr>
        </p:pic>
        <p:pic>
          <p:nvPicPr>
            <p:cNvPr id="765" name="Google Shape;765;p43"/>
            <p:cNvPicPr preferRelativeResize="0"/>
            <p:nvPr/>
          </p:nvPicPr>
          <p:blipFill rotWithShape="1">
            <a:blip r:embed="rId12">
              <a:alphaModFix/>
            </a:blip>
            <a:srcRect b="0" l="0" r="0" t="0"/>
            <a:stretch/>
          </p:blipFill>
          <p:spPr>
            <a:xfrm>
              <a:off x="2784" y="2871"/>
              <a:ext cx="201" cy="194"/>
            </a:xfrm>
            <a:prstGeom prst="rect">
              <a:avLst/>
            </a:prstGeom>
            <a:noFill/>
            <a:ln>
              <a:noFill/>
            </a:ln>
          </p:spPr>
        </p:pic>
        <p:pic>
          <p:nvPicPr>
            <p:cNvPr id="766" name="Google Shape;766;p43"/>
            <p:cNvPicPr preferRelativeResize="0"/>
            <p:nvPr/>
          </p:nvPicPr>
          <p:blipFill rotWithShape="1">
            <a:blip r:embed="rId13">
              <a:alphaModFix/>
            </a:blip>
            <a:srcRect b="0" l="0" r="0" t="0"/>
            <a:stretch/>
          </p:blipFill>
          <p:spPr>
            <a:xfrm>
              <a:off x="4385" y="2285"/>
              <a:ext cx="181" cy="195"/>
            </a:xfrm>
            <a:prstGeom prst="rect">
              <a:avLst/>
            </a:prstGeom>
            <a:noFill/>
            <a:ln>
              <a:noFill/>
            </a:ln>
          </p:spPr>
        </p:pic>
        <p:pic>
          <p:nvPicPr>
            <p:cNvPr id="767" name="Google Shape;767;p43"/>
            <p:cNvPicPr preferRelativeResize="0"/>
            <p:nvPr/>
          </p:nvPicPr>
          <p:blipFill rotWithShape="1">
            <a:blip r:embed="rId14">
              <a:alphaModFix/>
            </a:blip>
            <a:srcRect b="0" l="0" r="0" t="0"/>
            <a:stretch/>
          </p:blipFill>
          <p:spPr>
            <a:xfrm>
              <a:off x="5047" y="2865"/>
              <a:ext cx="201" cy="230"/>
            </a:xfrm>
            <a:prstGeom prst="rect">
              <a:avLst/>
            </a:prstGeom>
            <a:noFill/>
            <a:ln>
              <a:noFill/>
            </a:ln>
          </p:spPr>
        </p:pic>
        <p:pic>
          <p:nvPicPr>
            <p:cNvPr id="768" name="Google Shape;768;p43"/>
            <p:cNvPicPr preferRelativeResize="0"/>
            <p:nvPr/>
          </p:nvPicPr>
          <p:blipFill rotWithShape="1">
            <a:blip r:embed="rId15">
              <a:alphaModFix/>
            </a:blip>
            <a:srcRect b="0" l="0" r="0" t="0"/>
            <a:stretch/>
          </p:blipFill>
          <p:spPr>
            <a:xfrm>
              <a:off x="4391" y="3429"/>
              <a:ext cx="181" cy="230"/>
            </a:xfrm>
            <a:prstGeom prst="rect">
              <a:avLst/>
            </a:prstGeom>
            <a:noFill/>
            <a:ln>
              <a:noFill/>
            </a:ln>
          </p:spPr>
        </p:pic>
        <p:pic>
          <p:nvPicPr>
            <p:cNvPr id="769" name="Google Shape;769;p43"/>
            <p:cNvPicPr preferRelativeResize="0"/>
            <p:nvPr/>
          </p:nvPicPr>
          <p:blipFill rotWithShape="1">
            <a:blip r:embed="rId16">
              <a:alphaModFix/>
            </a:blip>
            <a:srcRect b="0" l="0" r="0" t="0"/>
            <a:stretch/>
          </p:blipFill>
          <p:spPr>
            <a:xfrm>
              <a:off x="3844" y="3575"/>
              <a:ext cx="365" cy="212"/>
            </a:xfrm>
            <a:prstGeom prst="rect">
              <a:avLst/>
            </a:prstGeom>
            <a:noFill/>
            <a:ln>
              <a:noFill/>
            </a:ln>
          </p:spPr>
        </p:pic>
        <p:sp>
          <p:nvSpPr>
            <p:cNvPr id="770" name="Google Shape;770;p43"/>
            <p:cNvSpPr/>
            <p:nvPr/>
          </p:nvSpPr>
          <p:spPr>
            <a:xfrm>
              <a:off x="3941" y="2914"/>
              <a:ext cx="85" cy="75"/>
            </a:xfrm>
            <a:prstGeom prst="ellipse">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771" name="Google Shape;771;p43"/>
          <p:cNvSpPr txBox="1"/>
          <p:nvPr/>
        </p:nvSpPr>
        <p:spPr>
          <a:xfrm>
            <a:off x="3429000" y="6096000"/>
            <a:ext cx="3733800" cy="762000"/>
          </a:xfrm>
          <a:prstGeom prst="rect">
            <a:avLst/>
          </a:prstGeom>
          <a:noFill/>
          <a:ln>
            <a:noFill/>
          </a:ln>
        </p:spPr>
        <p:txBody>
          <a:bodyPr anchorCtr="0" anchor="t" bIns="45700" lIns="91425" spcFirstLastPara="1" rIns="91425" wrap="square" tIns="45700">
            <a:noAutofit/>
          </a:bodyPr>
          <a:lstStyle/>
          <a:p>
            <a:pPr indent="174625" lvl="0" marL="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G là 2-liên thông</a:t>
            </a:r>
            <a:endParaRPr/>
          </a:p>
        </p:txBody>
      </p:sp>
      <p:sp>
        <p:nvSpPr>
          <p:cNvPr id="772" name="Google Shape;772;p43"/>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Chỉ số liên thông</a:t>
            </a:r>
            <a:endParaRPr/>
          </a:p>
        </p:txBody>
      </p:sp>
      <p:sp>
        <p:nvSpPr>
          <p:cNvPr id="773" name="Google Shape;773;p43"/>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l">
              <a:lnSpc>
                <a:spcPct val="80000"/>
              </a:lnSpc>
              <a:spcBef>
                <a:spcPts val="0"/>
              </a:spcBef>
              <a:spcAft>
                <a:spcPts val="0"/>
              </a:spcAft>
              <a:buClr>
                <a:schemeClr val="dk1"/>
              </a:buClr>
              <a:buSzPts val="2800"/>
              <a:buFont typeface="Noto Sans Symbols"/>
              <a:buNone/>
            </a:pPr>
            <a:r>
              <a:rPr b="0" i="1" lang="en-US" sz="2800" u="sng">
                <a:solidFill>
                  <a:schemeClr val="dk1"/>
                </a:solidFill>
                <a:latin typeface="Arial"/>
                <a:ea typeface="Arial"/>
                <a:cs typeface="Arial"/>
                <a:sym typeface="Arial"/>
              </a:rPr>
              <a:t>Ví dụ:</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777" name="Shape 777"/>
        <p:cNvGrpSpPr/>
        <p:nvPr/>
      </p:nvGrpSpPr>
      <p:grpSpPr>
        <a:xfrm>
          <a:off x="0" y="0"/>
          <a:ext cx="0" cy="0"/>
          <a:chOff x="0" y="0"/>
          <a:chExt cx="0" cy="0"/>
        </a:xfrm>
      </p:grpSpPr>
      <p:sp>
        <p:nvSpPr>
          <p:cNvPr id="778" name="Google Shape;778;p44"/>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5. Tìm đường đi ngắn nhất trong đồ thị</a:t>
            </a:r>
            <a:endParaRPr/>
          </a:p>
        </p:txBody>
      </p:sp>
      <p:sp>
        <p:nvSpPr>
          <p:cNvPr id="779" name="Google Shape;779;p44"/>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hlink"/>
              </a:buClr>
              <a:buSzPts val="2800"/>
              <a:buFont typeface="Noto Sans Symbols"/>
              <a:buChar char="⮚"/>
            </a:pPr>
            <a:r>
              <a:rPr b="1" i="0" lang="en-US" sz="2800" u="none">
                <a:solidFill>
                  <a:schemeClr val="hlink"/>
                </a:solidFill>
                <a:latin typeface="Arial"/>
                <a:ea typeface="Arial"/>
                <a:cs typeface="Arial"/>
                <a:sym typeface="Arial"/>
              </a:rPr>
              <a:t>BÀI TOÁN THỰC TẾ</a:t>
            </a:r>
            <a:endParaRPr/>
          </a:p>
          <a:p>
            <a:pPr indent="-463550" lvl="0" marL="463550" marR="0" rtl="0" algn="just">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Có 6 điểm du lịch trong một khu sinh thái là a, b, c, d, e, z. Giữa hai điểm có thể có hoặc không có đường đi trực tiếp.</a:t>
            </a:r>
            <a:endParaRPr/>
          </a:p>
          <a:p>
            <a:pPr indent="-463550" lvl="0" marL="463550" marR="0" rtl="0" algn="just">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Hãy tìm đường đi có khoảng cách ngắn nhất từ điểm a đến z.</a:t>
            </a:r>
            <a:endParaRPr/>
          </a:p>
          <a:p>
            <a:pPr indent="-285750" lvl="0" marL="463550" marR="0" rtl="0" algn="l">
              <a:lnSpc>
                <a:spcPct val="100000"/>
              </a:lnSpc>
              <a:spcBef>
                <a:spcPts val="560"/>
              </a:spcBef>
              <a:spcAft>
                <a:spcPts val="0"/>
              </a:spcAft>
              <a:buClr>
                <a:schemeClr val="dk1"/>
              </a:buClr>
              <a:buSzPts val="2800"/>
              <a:buFont typeface="Noto Sans Symbols"/>
              <a:buNone/>
            </a:pPr>
            <a:r>
              <a:t/>
            </a:r>
            <a:endParaRPr b="1" i="0" sz="2800" u="none">
              <a:solidFill>
                <a:schemeClr val="hlink"/>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1" i="0" sz="2800" u="none">
              <a:solidFill>
                <a:schemeClr val="hlink"/>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783" name="Shape 783"/>
        <p:cNvGrpSpPr/>
        <p:nvPr/>
      </p:nvGrpSpPr>
      <p:grpSpPr>
        <a:xfrm>
          <a:off x="0" y="0"/>
          <a:ext cx="0" cy="0"/>
          <a:chOff x="0" y="0"/>
          <a:chExt cx="0" cy="0"/>
        </a:xfrm>
      </p:grpSpPr>
      <p:sp>
        <p:nvSpPr>
          <p:cNvPr id="784" name="Google Shape;784;p45"/>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Bài toán thực tế</a:t>
            </a:r>
            <a:endParaRPr/>
          </a:p>
        </p:txBody>
      </p:sp>
      <p:sp>
        <p:nvSpPr>
          <p:cNvPr id="785" name="Google Shape;785;p45"/>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174625" lvl="0" marL="0" marR="0" rtl="0" algn="just">
              <a:lnSpc>
                <a:spcPct val="100000"/>
              </a:lnSpc>
              <a:spcBef>
                <a:spcPts val="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Mô hình hoá bài toán bằng đồ thị có trọng số:</a:t>
            </a:r>
            <a:endParaRPr/>
          </a:p>
          <a:p>
            <a:pPr indent="174625"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Mỗi đỉnh biểu diễn một điểm du lịch.</a:t>
            </a:r>
            <a:endParaRPr/>
          </a:p>
          <a:p>
            <a:pPr indent="174625"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Hai đỉnh có cạnh nối nếu có đường đi trực tiếp.</a:t>
            </a:r>
            <a:endParaRPr/>
          </a:p>
          <a:p>
            <a:pPr indent="174625" lvl="0" marL="0" marR="0" rtl="0" algn="just">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Trọng số của cạnh được gán là khoảng cách từ điểm này sang điểm kia.</a:t>
            </a:r>
            <a:endParaRPr/>
          </a:p>
          <a:p>
            <a:pPr indent="174625" lvl="0" marL="0" marR="0" rtl="0" algn="just">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174625" lvl="0" marL="0" marR="0" rtl="0" algn="just">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174625" lvl="0" marL="0" marR="0" rtl="0" algn="just">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174625" lvl="0" marL="0" marR="0" rtl="0" algn="just">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174625" lvl="0" marL="0" marR="0" rtl="0" algn="just">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Đường đi ngắn nhất là đường đi có </a:t>
            </a:r>
            <a:r>
              <a:rPr b="0" i="0" lang="en-US" sz="2800" u="none">
                <a:solidFill>
                  <a:srgbClr val="FF0066"/>
                </a:solidFill>
                <a:latin typeface="Arial"/>
                <a:ea typeface="Arial"/>
                <a:cs typeface="Arial"/>
                <a:sym typeface="Arial"/>
              </a:rPr>
              <a:t>tổng trọng số cách cạnh của nó là nhỏ nhất</a:t>
            </a:r>
            <a:endParaRPr/>
          </a:p>
        </p:txBody>
      </p:sp>
      <p:grpSp>
        <p:nvGrpSpPr>
          <p:cNvPr id="786" name="Google Shape;786;p45"/>
          <p:cNvGrpSpPr/>
          <p:nvPr/>
        </p:nvGrpSpPr>
        <p:grpSpPr>
          <a:xfrm>
            <a:off x="2209800" y="3733800"/>
            <a:ext cx="4425950" cy="2038350"/>
            <a:chOff x="3048" y="1752"/>
            <a:chExt cx="6970" cy="3211"/>
          </a:xfrm>
        </p:grpSpPr>
        <p:cxnSp>
          <p:nvCxnSpPr>
            <p:cNvPr id="787" name="Google Shape;787;p45"/>
            <p:cNvCxnSpPr/>
            <p:nvPr/>
          </p:nvCxnSpPr>
          <p:spPr>
            <a:xfrm>
              <a:off x="5412" y="2312"/>
              <a:ext cx="2205" cy="0"/>
            </a:xfrm>
            <a:prstGeom prst="straightConnector1">
              <a:avLst/>
            </a:prstGeom>
            <a:noFill/>
            <a:ln cap="flat" cmpd="sng" w="25400">
              <a:solidFill>
                <a:srgbClr val="000000"/>
              </a:solidFill>
              <a:prstDash val="solid"/>
              <a:miter lim="800000"/>
              <a:headEnd len="med" w="med" type="none"/>
              <a:tailEnd len="med" w="med" type="none"/>
            </a:ln>
          </p:spPr>
        </p:cxnSp>
        <p:sp>
          <p:nvSpPr>
            <p:cNvPr id="788" name="Google Shape;788;p45"/>
            <p:cNvSpPr/>
            <p:nvPr/>
          </p:nvSpPr>
          <p:spPr>
            <a:xfrm>
              <a:off x="7614" y="1888"/>
              <a:ext cx="850" cy="85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89" name="Google Shape;789;p45"/>
            <p:cNvPicPr preferRelativeResize="0"/>
            <p:nvPr/>
          </p:nvPicPr>
          <p:blipFill rotWithShape="1">
            <a:blip r:embed="rId3">
              <a:alphaModFix/>
            </a:blip>
            <a:srcRect b="0" l="0" r="0" t="0"/>
            <a:stretch/>
          </p:blipFill>
          <p:spPr>
            <a:xfrm>
              <a:off x="7868" y="2097"/>
              <a:ext cx="352" cy="441"/>
            </a:xfrm>
            <a:prstGeom prst="rect">
              <a:avLst/>
            </a:prstGeom>
            <a:noFill/>
            <a:ln>
              <a:noFill/>
            </a:ln>
          </p:spPr>
        </p:pic>
        <p:cxnSp>
          <p:nvCxnSpPr>
            <p:cNvPr id="790" name="Google Shape;790;p45"/>
            <p:cNvCxnSpPr/>
            <p:nvPr/>
          </p:nvCxnSpPr>
          <p:spPr>
            <a:xfrm>
              <a:off x="5430" y="4404"/>
              <a:ext cx="2187" cy="0"/>
            </a:xfrm>
            <a:prstGeom prst="straightConnector1">
              <a:avLst/>
            </a:prstGeom>
            <a:noFill/>
            <a:ln cap="flat" cmpd="sng" w="25400">
              <a:solidFill>
                <a:srgbClr val="000000"/>
              </a:solidFill>
              <a:prstDash val="solid"/>
              <a:miter lim="800000"/>
              <a:headEnd len="med" w="med" type="none"/>
              <a:tailEnd len="med" w="med" type="none"/>
            </a:ln>
          </p:spPr>
        </p:cxnSp>
        <p:sp>
          <p:nvSpPr>
            <p:cNvPr id="791" name="Google Shape;791;p45"/>
            <p:cNvSpPr/>
            <p:nvPr/>
          </p:nvSpPr>
          <p:spPr>
            <a:xfrm>
              <a:off x="7614" y="3984"/>
              <a:ext cx="850" cy="85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92" name="Google Shape;792;p45"/>
            <p:cNvPicPr preferRelativeResize="0"/>
            <p:nvPr/>
          </p:nvPicPr>
          <p:blipFill rotWithShape="1">
            <a:blip r:embed="rId4">
              <a:alphaModFix/>
            </a:blip>
            <a:srcRect b="0" l="0" r="0" t="0"/>
            <a:stretch/>
          </p:blipFill>
          <p:spPr>
            <a:xfrm>
              <a:off x="7860" y="4224"/>
              <a:ext cx="352" cy="441"/>
            </a:xfrm>
            <a:prstGeom prst="rect">
              <a:avLst/>
            </a:prstGeom>
            <a:noFill/>
            <a:ln>
              <a:noFill/>
            </a:ln>
          </p:spPr>
        </p:pic>
        <p:sp>
          <p:nvSpPr>
            <p:cNvPr id="793" name="Google Shape;793;p45"/>
            <p:cNvSpPr/>
            <p:nvPr/>
          </p:nvSpPr>
          <p:spPr>
            <a:xfrm>
              <a:off x="4578" y="1886"/>
              <a:ext cx="850" cy="85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94" name="Google Shape;794;p45"/>
            <p:cNvPicPr preferRelativeResize="0"/>
            <p:nvPr/>
          </p:nvPicPr>
          <p:blipFill rotWithShape="1">
            <a:blip r:embed="rId5">
              <a:alphaModFix/>
            </a:blip>
            <a:srcRect b="0" l="0" r="0" t="0"/>
            <a:stretch/>
          </p:blipFill>
          <p:spPr>
            <a:xfrm>
              <a:off x="4812" y="2050"/>
              <a:ext cx="391" cy="559"/>
            </a:xfrm>
            <a:prstGeom prst="rect">
              <a:avLst/>
            </a:prstGeom>
            <a:noFill/>
            <a:ln>
              <a:noFill/>
            </a:ln>
          </p:spPr>
        </p:pic>
        <p:sp>
          <p:nvSpPr>
            <p:cNvPr id="795" name="Google Shape;795;p45"/>
            <p:cNvSpPr/>
            <p:nvPr/>
          </p:nvSpPr>
          <p:spPr>
            <a:xfrm>
              <a:off x="4578" y="3982"/>
              <a:ext cx="850" cy="85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96" name="Google Shape;796;p45"/>
            <p:cNvPicPr preferRelativeResize="0"/>
            <p:nvPr/>
          </p:nvPicPr>
          <p:blipFill rotWithShape="1">
            <a:blip r:embed="rId6">
              <a:alphaModFix/>
            </a:blip>
            <a:srcRect b="0" l="0" r="0" t="0"/>
            <a:stretch/>
          </p:blipFill>
          <p:spPr>
            <a:xfrm>
              <a:off x="4752" y="4134"/>
              <a:ext cx="391" cy="559"/>
            </a:xfrm>
            <a:prstGeom prst="rect">
              <a:avLst/>
            </a:prstGeom>
            <a:noFill/>
            <a:ln>
              <a:noFill/>
            </a:ln>
          </p:spPr>
        </p:pic>
        <p:cxnSp>
          <p:nvCxnSpPr>
            <p:cNvPr id="797" name="Google Shape;797;p45"/>
            <p:cNvCxnSpPr/>
            <p:nvPr/>
          </p:nvCxnSpPr>
          <p:spPr>
            <a:xfrm>
              <a:off x="5322" y="2586"/>
              <a:ext cx="2358" cy="1601"/>
            </a:xfrm>
            <a:prstGeom prst="straightConnector1">
              <a:avLst/>
            </a:prstGeom>
            <a:noFill/>
            <a:ln cap="flat" cmpd="sng" w="25400">
              <a:solidFill>
                <a:srgbClr val="000000"/>
              </a:solidFill>
              <a:prstDash val="solid"/>
              <a:miter lim="800000"/>
              <a:headEnd len="med" w="med" type="none"/>
              <a:tailEnd len="med" w="med" type="none"/>
            </a:ln>
          </p:spPr>
        </p:cxnSp>
        <p:sp>
          <p:nvSpPr>
            <p:cNvPr id="798" name="Google Shape;798;p45"/>
            <p:cNvSpPr/>
            <p:nvPr/>
          </p:nvSpPr>
          <p:spPr>
            <a:xfrm>
              <a:off x="3048" y="2934"/>
              <a:ext cx="850" cy="85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99" name="Google Shape;799;p45"/>
            <p:cNvPicPr preferRelativeResize="0"/>
            <p:nvPr/>
          </p:nvPicPr>
          <p:blipFill rotWithShape="1">
            <a:blip r:embed="rId7">
              <a:alphaModFix/>
            </a:blip>
            <a:srcRect b="0" l="0" r="0" t="0"/>
            <a:stretch/>
          </p:blipFill>
          <p:spPr>
            <a:xfrm>
              <a:off x="3270" y="3144"/>
              <a:ext cx="391" cy="441"/>
            </a:xfrm>
            <a:prstGeom prst="rect">
              <a:avLst/>
            </a:prstGeom>
            <a:noFill/>
            <a:ln>
              <a:noFill/>
            </a:ln>
          </p:spPr>
        </p:pic>
        <p:sp>
          <p:nvSpPr>
            <p:cNvPr id="800" name="Google Shape;800;p45"/>
            <p:cNvSpPr/>
            <p:nvPr/>
          </p:nvSpPr>
          <p:spPr>
            <a:xfrm>
              <a:off x="9168" y="2934"/>
              <a:ext cx="850" cy="85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01" name="Google Shape;801;p45"/>
            <p:cNvPicPr preferRelativeResize="0"/>
            <p:nvPr/>
          </p:nvPicPr>
          <p:blipFill rotWithShape="1">
            <a:blip r:embed="rId8">
              <a:alphaModFix/>
            </a:blip>
            <a:srcRect b="0" l="0" r="0" t="0"/>
            <a:stretch/>
          </p:blipFill>
          <p:spPr>
            <a:xfrm>
              <a:off x="9402" y="3156"/>
              <a:ext cx="391" cy="401"/>
            </a:xfrm>
            <a:prstGeom prst="rect">
              <a:avLst/>
            </a:prstGeom>
            <a:noFill/>
            <a:ln>
              <a:noFill/>
            </a:ln>
          </p:spPr>
        </p:pic>
        <p:cxnSp>
          <p:nvCxnSpPr>
            <p:cNvPr id="802" name="Google Shape;802;p45"/>
            <p:cNvCxnSpPr/>
            <p:nvPr/>
          </p:nvCxnSpPr>
          <p:spPr>
            <a:xfrm flipH="1" rot="10800000">
              <a:off x="3828" y="2552"/>
              <a:ext cx="822" cy="553"/>
            </a:xfrm>
            <a:prstGeom prst="straightConnector1">
              <a:avLst/>
            </a:prstGeom>
            <a:noFill/>
            <a:ln cap="flat" cmpd="sng" w="25400">
              <a:solidFill>
                <a:srgbClr val="000000"/>
              </a:solidFill>
              <a:prstDash val="solid"/>
              <a:miter lim="800000"/>
              <a:headEnd len="med" w="med" type="none"/>
              <a:tailEnd len="med" w="med" type="none"/>
            </a:ln>
          </p:spPr>
        </p:cxnSp>
        <p:cxnSp>
          <p:nvCxnSpPr>
            <p:cNvPr id="803" name="Google Shape;803;p45"/>
            <p:cNvCxnSpPr/>
            <p:nvPr/>
          </p:nvCxnSpPr>
          <p:spPr>
            <a:xfrm>
              <a:off x="3828" y="3613"/>
              <a:ext cx="798" cy="551"/>
            </a:xfrm>
            <a:prstGeom prst="straightConnector1">
              <a:avLst/>
            </a:prstGeom>
            <a:noFill/>
            <a:ln cap="flat" cmpd="sng" w="25400">
              <a:solidFill>
                <a:srgbClr val="000000"/>
              </a:solidFill>
              <a:prstDash val="solid"/>
              <a:miter lim="800000"/>
              <a:headEnd len="med" w="med" type="none"/>
              <a:tailEnd len="med" w="med" type="none"/>
            </a:ln>
          </p:spPr>
        </p:cxnSp>
        <p:cxnSp>
          <p:nvCxnSpPr>
            <p:cNvPr id="804" name="Google Shape;804;p45"/>
            <p:cNvCxnSpPr/>
            <p:nvPr/>
          </p:nvCxnSpPr>
          <p:spPr>
            <a:xfrm>
              <a:off x="8406" y="2532"/>
              <a:ext cx="828" cy="582"/>
            </a:xfrm>
            <a:prstGeom prst="straightConnector1">
              <a:avLst/>
            </a:prstGeom>
            <a:noFill/>
            <a:ln cap="flat" cmpd="sng" w="25400">
              <a:solidFill>
                <a:srgbClr val="000000"/>
              </a:solidFill>
              <a:prstDash val="solid"/>
              <a:miter lim="800000"/>
              <a:headEnd len="med" w="med" type="none"/>
              <a:tailEnd len="med" w="med" type="none"/>
            </a:ln>
          </p:spPr>
        </p:cxnSp>
        <p:cxnSp>
          <p:nvCxnSpPr>
            <p:cNvPr id="805" name="Google Shape;805;p45"/>
            <p:cNvCxnSpPr/>
            <p:nvPr/>
          </p:nvCxnSpPr>
          <p:spPr>
            <a:xfrm flipH="1" rot="10800000">
              <a:off x="8400" y="3600"/>
              <a:ext cx="834" cy="583"/>
            </a:xfrm>
            <a:prstGeom prst="straightConnector1">
              <a:avLst/>
            </a:prstGeom>
            <a:noFill/>
            <a:ln cap="flat" cmpd="sng" w="25400">
              <a:solidFill>
                <a:srgbClr val="000000"/>
              </a:solidFill>
              <a:prstDash val="solid"/>
              <a:miter lim="800000"/>
              <a:headEnd len="med" w="med" type="none"/>
              <a:tailEnd len="med" w="med" type="none"/>
            </a:ln>
          </p:spPr>
        </p:cxnSp>
        <p:pic>
          <p:nvPicPr>
            <p:cNvPr id="806" name="Google Shape;806;p45"/>
            <p:cNvPicPr preferRelativeResize="0"/>
            <p:nvPr/>
          </p:nvPicPr>
          <p:blipFill rotWithShape="1">
            <a:blip r:embed="rId9">
              <a:alphaModFix/>
            </a:blip>
            <a:srcRect b="0" l="0" r="0" t="0"/>
            <a:stretch/>
          </p:blipFill>
          <p:spPr>
            <a:xfrm>
              <a:off x="3888" y="2334"/>
              <a:ext cx="391" cy="521"/>
            </a:xfrm>
            <a:prstGeom prst="rect">
              <a:avLst/>
            </a:prstGeom>
            <a:noFill/>
            <a:ln>
              <a:noFill/>
            </a:ln>
          </p:spPr>
        </p:pic>
        <p:pic>
          <p:nvPicPr>
            <p:cNvPr id="807" name="Google Shape;807;p45"/>
            <p:cNvPicPr preferRelativeResize="0"/>
            <p:nvPr/>
          </p:nvPicPr>
          <p:blipFill rotWithShape="1">
            <a:blip r:embed="rId10">
              <a:alphaModFix/>
            </a:blip>
            <a:srcRect b="0" l="0" r="0" t="0"/>
            <a:stretch/>
          </p:blipFill>
          <p:spPr>
            <a:xfrm>
              <a:off x="3870" y="3804"/>
              <a:ext cx="391" cy="559"/>
            </a:xfrm>
            <a:prstGeom prst="rect">
              <a:avLst/>
            </a:prstGeom>
            <a:noFill/>
            <a:ln>
              <a:noFill/>
            </a:ln>
          </p:spPr>
        </p:pic>
        <p:pic>
          <p:nvPicPr>
            <p:cNvPr id="808" name="Google Shape;808;p45"/>
            <p:cNvPicPr preferRelativeResize="0"/>
            <p:nvPr/>
          </p:nvPicPr>
          <p:blipFill rotWithShape="1">
            <a:blip r:embed="rId11">
              <a:alphaModFix/>
            </a:blip>
            <a:srcRect b="0" l="0" r="0" t="0"/>
            <a:stretch/>
          </p:blipFill>
          <p:spPr>
            <a:xfrm>
              <a:off x="6372" y="1752"/>
              <a:ext cx="391" cy="559"/>
            </a:xfrm>
            <a:prstGeom prst="rect">
              <a:avLst/>
            </a:prstGeom>
            <a:noFill/>
            <a:ln>
              <a:noFill/>
            </a:ln>
          </p:spPr>
        </p:pic>
        <p:pic>
          <p:nvPicPr>
            <p:cNvPr id="809" name="Google Shape;809;p45"/>
            <p:cNvPicPr preferRelativeResize="0"/>
            <p:nvPr/>
          </p:nvPicPr>
          <p:blipFill rotWithShape="1">
            <a:blip r:embed="rId9">
              <a:alphaModFix/>
            </a:blip>
            <a:srcRect b="0" l="0" r="0" t="0"/>
            <a:stretch/>
          </p:blipFill>
          <p:spPr>
            <a:xfrm>
              <a:off x="6504" y="2886"/>
              <a:ext cx="391" cy="521"/>
            </a:xfrm>
            <a:prstGeom prst="rect">
              <a:avLst/>
            </a:prstGeom>
            <a:noFill/>
            <a:ln>
              <a:noFill/>
            </a:ln>
          </p:spPr>
        </p:pic>
        <p:pic>
          <p:nvPicPr>
            <p:cNvPr id="810" name="Google Shape;810;p45"/>
            <p:cNvPicPr preferRelativeResize="0"/>
            <p:nvPr/>
          </p:nvPicPr>
          <p:blipFill rotWithShape="1">
            <a:blip r:embed="rId12">
              <a:alphaModFix/>
            </a:blip>
            <a:srcRect b="0" l="0" r="0" t="0"/>
            <a:stretch/>
          </p:blipFill>
          <p:spPr>
            <a:xfrm>
              <a:off x="6282" y="4404"/>
              <a:ext cx="391" cy="559"/>
            </a:xfrm>
            <a:prstGeom prst="rect">
              <a:avLst/>
            </a:prstGeom>
            <a:noFill/>
            <a:ln>
              <a:noFill/>
            </a:ln>
          </p:spPr>
        </p:pic>
        <p:pic>
          <p:nvPicPr>
            <p:cNvPr id="811" name="Google Shape;811;p45"/>
            <p:cNvPicPr preferRelativeResize="0"/>
            <p:nvPr/>
          </p:nvPicPr>
          <p:blipFill rotWithShape="1">
            <a:blip r:embed="rId13">
              <a:alphaModFix/>
            </a:blip>
            <a:srcRect b="0" l="0" r="0" t="0"/>
            <a:stretch/>
          </p:blipFill>
          <p:spPr>
            <a:xfrm>
              <a:off x="8790" y="3792"/>
              <a:ext cx="391" cy="521"/>
            </a:xfrm>
            <a:prstGeom prst="rect">
              <a:avLst/>
            </a:prstGeom>
            <a:noFill/>
            <a:ln>
              <a:noFill/>
            </a:ln>
          </p:spPr>
        </p:pic>
        <p:pic>
          <p:nvPicPr>
            <p:cNvPr id="812" name="Google Shape;812;p45"/>
            <p:cNvPicPr preferRelativeResize="0"/>
            <p:nvPr/>
          </p:nvPicPr>
          <p:blipFill rotWithShape="1">
            <a:blip r:embed="rId9">
              <a:alphaModFix/>
            </a:blip>
            <a:srcRect b="0" l="0" r="0" t="0"/>
            <a:stretch/>
          </p:blipFill>
          <p:spPr>
            <a:xfrm>
              <a:off x="8784" y="2364"/>
              <a:ext cx="391" cy="521"/>
            </a:xfrm>
            <a:prstGeom prst="rect">
              <a:avLst/>
            </a:prstGeom>
            <a:noFill/>
            <a:ln>
              <a:noFill/>
            </a:ln>
          </p:spPr>
        </p:pic>
        <p:cxnSp>
          <p:nvCxnSpPr>
            <p:cNvPr id="813" name="Google Shape;813;p45"/>
            <p:cNvCxnSpPr/>
            <p:nvPr/>
          </p:nvCxnSpPr>
          <p:spPr>
            <a:xfrm>
              <a:off x="8043" y="2727"/>
              <a:ext cx="0" cy="1248"/>
            </a:xfrm>
            <a:prstGeom prst="straightConnector1">
              <a:avLst/>
            </a:prstGeom>
            <a:noFill/>
            <a:ln cap="flat" cmpd="sng" w="25400">
              <a:solidFill>
                <a:srgbClr val="000000"/>
              </a:solidFill>
              <a:prstDash val="solid"/>
              <a:miter lim="800000"/>
              <a:headEnd len="med" w="med" type="none"/>
              <a:tailEnd len="med" w="med" type="none"/>
            </a:ln>
          </p:spPr>
        </p:cxnSp>
        <p:pic>
          <p:nvPicPr>
            <p:cNvPr id="814" name="Google Shape;814;p45"/>
            <p:cNvPicPr preferRelativeResize="0"/>
            <p:nvPr/>
          </p:nvPicPr>
          <p:blipFill rotWithShape="1">
            <a:blip r:embed="rId14">
              <a:alphaModFix/>
            </a:blip>
            <a:srcRect b="0" l="0" r="0" t="0"/>
            <a:stretch/>
          </p:blipFill>
          <p:spPr>
            <a:xfrm>
              <a:off x="7656" y="3006"/>
              <a:ext cx="352" cy="521"/>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819" name="Shape 819"/>
        <p:cNvGrpSpPr/>
        <p:nvPr/>
      </p:nvGrpSpPr>
      <p:grpSpPr>
        <a:xfrm>
          <a:off x="0" y="0"/>
          <a:ext cx="0" cy="0"/>
          <a:chOff x="0" y="0"/>
          <a:chExt cx="0" cy="0"/>
        </a:xfrm>
      </p:grpSpPr>
      <p:sp>
        <p:nvSpPr>
          <p:cNvPr id="820" name="Google Shape;820;p46"/>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 Thuật toán Dijkstra</a:t>
            </a:r>
            <a:endParaRPr/>
          </a:p>
        </p:txBody>
      </p:sp>
      <p:sp>
        <p:nvSpPr>
          <p:cNvPr id="821" name="Google Shape;821;p46"/>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28600" lvl="0" marL="0" marR="0" rtl="0" algn="just">
              <a:lnSpc>
                <a:spcPct val="100000"/>
              </a:lnSpc>
              <a:spcBef>
                <a:spcPts val="0"/>
              </a:spcBef>
              <a:spcAft>
                <a:spcPts val="0"/>
              </a:spcAft>
              <a:buClr>
                <a:srgbClr val="FF0000"/>
              </a:buClr>
              <a:buSzPts val="2800"/>
              <a:buFont typeface="Noto Sans Symbols"/>
              <a:buNone/>
            </a:pPr>
            <a:r>
              <a:rPr b="0" i="1" lang="en-US" sz="2800" u="sng">
                <a:solidFill>
                  <a:srgbClr val="FF0000"/>
                </a:solidFill>
                <a:latin typeface="Arial"/>
                <a:ea typeface="Arial"/>
                <a:cs typeface="Arial"/>
                <a:sym typeface="Arial"/>
              </a:rPr>
              <a:t>Bài toán:</a:t>
            </a:r>
            <a:r>
              <a:rPr b="0" i="0" lang="en-US" sz="2800" u="none">
                <a:solidFill>
                  <a:srgbClr val="FF0000"/>
                </a:solidFill>
                <a:latin typeface="Arial"/>
                <a:ea typeface="Arial"/>
                <a:cs typeface="Arial"/>
                <a:sym typeface="Arial"/>
              </a:rPr>
              <a:t> </a:t>
            </a:r>
            <a:r>
              <a:rPr b="0" i="0" lang="en-US" sz="2800" u="none">
                <a:solidFill>
                  <a:schemeClr val="dk1"/>
                </a:solidFill>
                <a:latin typeface="Arial"/>
                <a:ea typeface="Arial"/>
                <a:cs typeface="Arial"/>
                <a:sym typeface="Arial"/>
              </a:rPr>
              <a:t>Tìm đường đi ngắn nhất từ đỉnh </a:t>
            </a:r>
            <a:r>
              <a:rPr b="0" i="0" lang="en-US" sz="2800" u="none">
                <a:solidFill>
                  <a:srgbClr val="FF0000"/>
                </a:solidFill>
                <a:latin typeface="Arial"/>
                <a:ea typeface="Arial"/>
                <a:cs typeface="Arial"/>
                <a:sym typeface="Arial"/>
              </a:rPr>
              <a:t>a</a:t>
            </a:r>
            <a:r>
              <a:rPr b="0" i="0" lang="en-US" sz="2800" u="none">
                <a:solidFill>
                  <a:schemeClr val="dk1"/>
                </a:solidFill>
                <a:latin typeface="Arial"/>
                <a:ea typeface="Arial"/>
                <a:cs typeface="Arial"/>
                <a:sym typeface="Arial"/>
              </a:rPr>
              <a:t> đến </a:t>
            </a:r>
            <a:r>
              <a:rPr b="0" i="0" lang="en-US" sz="2800" u="none">
                <a:solidFill>
                  <a:srgbClr val="FF0000"/>
                </a:solidFill>
                <a:latin typeface="Arial"/>
                <a:ea typeface="Arial"/>
                <a:cs typeface="Arial"/>
                <a:sym typeface="Arial"/>
              </a:rPr>
              <a:t>z</a:t>
            </a:r>
            <a:r>
              <a:rPr b="0" i="0" lang="en-US" sz="2800" u="none">
                <a:solidFill>
                  <a:schemeClr val="dk1"/>
                </a:solidFill>
                <a:latin typeface="Arial"/>
                <a:ea typeface="Arial"/>
                <a:cs typeface="Arial"/>
                <a:sym typeface="Arial"/>
              </a:rPr>
              <a:t> của đồ thị có trọng số liên thông G = (V, E).</a:t>
            </a:r>
            <a:endParaRPr/>
          </a:p>
          <a:p>
            <a:pPr indent="-228600" lvl="0" marL="228600" marR="0" rtl="0" algn="l">
              <a:lnSpc>
                <a:spcPct val="100000"/>
              </a:lnSpc>
              <a:spcBef>
                <a:spcPts val="560"/>
              </a:spcBef>
              <a:spcAft>
                <a:spcPts val="0"/>
              </a:spcAft>
              <a:buClr>
                <a:schemeClr val="dk1"/>
              </a:buClr>
              <a:buSzPts val="2800"/>
              <a:buFont typeface="Noto Sans Symbols"/>
              <a:buChar char="🡪"/>
            </a:pPr>
            <a:r>
              <a:rPr b="0" i="1" lang="en-US" sz="2800" u="none">
                <a:solidFill>
                  <a:schemeClr val="dk1"/>
                </a:solidFill>
                <a:latin typeface="Arial"/>
                <a:ea typeface="Arial"/>
                <a:cs typeface="Arial"/>
                <a:sym typeface="Arial"/>
              </a:rPr>
              <a:t>Thuật toán Dijkstra (đề xuất năm 1959 do nhà toán học Hà Lan E.Dijkstra)</a:t>
            </a:r>
            <a:endParaRPr/>
          </a:p>
          <a:p>
            <a:pPr indent="228600" lvl="0" marL="0" marR="0" rtl="0" algn="just">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Gọi </a:t>
            </a:r>
            <a:r>
              <a:rPr b="0" i="0" lang="en-US" sz="2800" u="none">
                <a:solidFill>
                  <a:srgbClr val="C00000"/>
                </a:solidFill>
                <a:latin typeface="Arial"/>
                <a:ea typeface="Arial"/>
                <a:cs typeface="Arial"/>
                <a:sym typeface="Arial"/>
              </a:rPr>
              <a:t>L(v) </a:t>
            </a:r>
            <a:r>
              <a:rPr b="0" i="0" lang="en-US" sz="2800" u="none">
                <a:solidFill>
                  <a:schemeClr val="dk1"/>
                </a:solidFill>
                <a:latin typeface="Arial"/>
                <a:ea typeface="Arial"/>
                <a:cs typeface="Arial"/>
                <a:sym typeface="Arial"/>
              </a:rPr>
              <a:t>là độ dài đường đi ngắn nhất từ đỉnh </a:t>
            </a:r>
            <a:r>
              <a:rPr b="0" i="0" lang="en-US" sz="2800" u="none">
                <a:solidFill>
                  <a:srgbClr val="C00000"/>
                </a:solidFill>
                <a:latin typeface="Arial"/>
                <a:ea typeface="Arial"/>
                <a:cs typeface="Arial"/>
                <a:sym typeface="Arial"/>
              </a:rPr>
              <a:t>a</a:t>
            </a:r>
            <a:r>
              <a:rPr b="0" i="0" lang="en-US" sz="2800" u="none">
                <a:solidFill>
                  <a:schemeClr val="dk1"/>
                </a:solidFill>
                <a:latin typeface="Arial"/>
                <a:ea typeface="Arial"/>
                <a:cs typeface="Arial"/>
                <a:sym typeface="Arial"/>
              </a:rPr>
              <a:t> đến đỉnh </a:t>
            </a:r>
            <a:r>
              <a:rPr b="0" i="0" lang="en-US" sz="2800" u="none">
                <a:solidFill>
                  <a:srgbClr val="C00000"/>
                </a:solidFill>
                <a:latin typeface="Arial"/>
                <a:ea typeface="Arial"/>
                <a:cs typeface="Arial"/>
                <a:sym typeface="Arial"/>
              </a:rPr>
              <a:t>v</a:t>
            </a:r>
            <a:r>
              <a:rPr b="0" i="0" lang="en-US" sz="2800" u="none">
                <a:solidFill>
                  <a:schemeClr val="dk1"/>
                </a:solidFill>
                <a:latin typeface="Arial"/>
                <a:ea typeface="Arial"/>
                <a:cs typeface="Arial"/>
                <a:sym typeface="Arial"/>
              </a:rPr>
              <a:t>.</a:t>
            </a:r>
            <a:endParaRPr/>
          </a:p>
          <a:p>
            <a:pPr indent="228600" lvl="0" marL="0" marR="0" rtl="0" algn="just">
              <a:lnSpc>
                <a:spcPct val="100000"/>
              </a:lnSpc>
              <a:spcBef>
                <a:spcPts val="560"/>
              </a:spcBef>
              <a:spcAft>
                <a:spcPts val="0"/>
              </a:spcAft>
              <a:buClr>
                <a:srgbClr val="C00000"/>
              </a:buClr>
              <a:buSzPts val="2800"/>
              <a:buFont typeface="Noto Sans Symbols"/>
              <a:buNone/>
            </a:pPr>
            <a:r>
              <a:rPr b="0" i="0" lang="en-US" sz="2800" u="none">
                <a:solidFill>
                  <a:srgbClr val="C00000"/>
                </a:solidFill>
                <a:latin typeface="Arial"/>
                <a:ea typeface="Arial"/>
                <a:cs typeface="Arial"/>
                <a:sym typeface="Arial"/>
              </a:rPr>
              <a:t>S</a:t>
            </a:r>
            <a:r>
              <a:rPr b="0" i="0" lang="en-US" sz="2800" u="none">
                <a:solidFill>
                  <a:schemeClr val="dk1"/>
                </a:solidFill>
                <a:latin typeface="Arial"/>
                <a:ea typeface="Arial"/>
                <a:cs typeface="Arial"/>
                <a:sym typeface="Arial"/>
              </a:rPr>
              <a:t> là tập các đỉnh đã tìm được đường đi ngắn nhất từ </a:t>
            </a:r>
            <a:r>
              <a:rPr b="0" i="0" lang="en-US" sz="2800" u="none">
                <a:solidFill>
                  <a:srgbClr val="C00000"/>
                </a:solidFill>
                <a:latin typeface="Arial"/>
                <a:ea typeface="Arial"/>
                <a:cs typeface="Arial"/>
                <a:sym typeface="Arial"/>
              </a:rPr>
              <a:t>a</a:t>
            </a:r>
            <a:r>
              <a:rPr b="0" i="0" lang="en-US" sz="2800" u="none">
                <a:solidFill>
                  <a:schemeClr val="dk1"/>
                </a:solidFill>
                <a:latin typeface="Arial"/>
                <a:ea typeface="Arial"/>
                <a:cs typeface="Arial"/>
                <a:sym typeface="Arial"/>
              </a:rPr>
              <a:t> đến nó.</a:t>
            </a:r>
            <a:endParaRPr/>
          </a:p>
          <a:p>
            <a:pPr indent="228600" lvl="0" marL="0" marR="0" rtl="0" algn="just">
              <a:lnSpc>
                <a:spcPct val="100000"/>
              </a:lnSpc>
              <a:spcBef>
                <a:spcPts val="560"/>
              </a:spcBef>
              <a:spcAft>
                <a:spcPts val="0"/>
              </a:spcAft>
              <a:buClr>
                <a:srgbClr val="C00000"/>
              </a:buClr>
              <a:buSzPts val="2800"/>
              <a:buFont typeface="Noto Sans Symbols"/>
              <a:buNone/>
            </a:pPr>
            <a:r>
              <a:rPr b="0" i="0" lang="en-US" sz="2800" u="none">
                <a:solidFill>
                  <a:srgbClr val="C00000"/>
                </a:solidFill>
                <a:latin typeface="Arial"/>
                <a:ea typeface="Arial"/>
                <a:cs typeface="Arial"/>
                <a:sym typeface="Arial"/>
              </a:rPr>
              <a:t>Pr(v) </a:t>
            </a:r>
            <a:r>
              <a:rPr b="0" i="0" lang="en-US" sz="2800" u="none">
                <a:solidFill>
                  <a:schemeClr val="dk1"/>
                </a:solidFill>
                <a:latin typeface="Arial"/>
                <a:ea typeface="Arial"/>
                <a:cs typeface="Arial"/>
                <a:sym typeface="Arial"/>
              </a:rPr>
              <a:t>là đỉnh ngay trước đỉnh </a:t>
            </a:r>
            <a:r>
              <a:rPr b="0" i="0" lang="en-US" sz="2800" u="none">
                <a:solidFill>
                  <a:srgbClr val="C00000"/>
                </a:solidFill>
                <a:latin typeface="Arial"/>
                <a:ea typeface="Arial"/>
                <a:cs typeface="Arial"/>
                <a:sym typeface="Arial"/>
              </a:rPr>
              <a:t>v</a:t>
            </a:r>
            <a:r>
              <a:rPr b="0" i="0" lang="en-US" sz="2800" u="none">
                <a:solidFill>
                  <a:schemeClr val="dk1"/>
                </a:solidFill>
                <a:latin typeface="Arial"/>
                <a:ea typeface="Arial"/>
                <a:cs typeface="Arial"/>
                <a:sym typeface="Arial"/>
              </a:rPr>
              <a:t> trên đường đi ngắn nhất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826" name="Shape 826"/>
        <p:cNvGrpSpPr/>
        <p:nvPr/>
      </p:nvGrpSpPr>
      <p:grpSpPr>
        <a:xfrm>
          <a:off x="0" y="0"/>
          <a:ext cx="0" cy="0"/>
          <a:chOff x="0" y="0"/>
          <a:chExt cx="0" cy="0"/>
        </a:xfrm>
      </p:grpSpPr>
      <p:sp>
        <p:nvSpPr>
          <p:cNvPr id="827" name="Google Shape;827;p47"/>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 Thuật toán Dijkstra</a:t>
            </a:r>
            <a:endParaRPr/>
          </a:p>
        </p:txBody>
      </p:sp>
      <p:sp>
        <p:nvSpPr>
          <p:cNvPr id="828" name="Google Shape;828;p47"/>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28600" lvl="0" marL="0" marR="0" rtl="0" algn="l">
              <a:lnSpc>
                <a:spcPct val="100000"/>
              </a:lnSpc>
              <a:spcBef>
                <a:spcPts val="0"/>
              </a:spcBef>
              <a:spcAft>
                <a:spcPts val="0"/>
              </a:spcAft>
              <a:buClr>
                <a:schemeClr val="dk1"/>
              </a:buClr>
              <a:buSzPts val="2800"/>
              <a:buFont typeface="Noto Sans Symbols"/>
              <a:buNone/>
            </a:pPr>
            <a:r>
              <a:rPr b="1" i="1" lang="en-US" sz="2800" u="none">
                <a:solidFill>
                  <a:schemeClr val="dk1"/>
                </a:solidFill>
                <a:latin typeface="Arial"/>
                <a:ea typeface="Arial"/>
                <a:cs typeface="Arial"/>
                <a:sym typeface="Arial"/>
              </a:rPr>
              <a:t>Thuật toán:</a:t>
            </a:r>
            <a:endParaRPr/>
          </a:p>
          <a:p>
            <a:pPr indent="228600"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L(a) = 0, S = Ø, ∀ v∈S, v ≠ a: L(v) = ∝</a:t>
            </a:r>
            <a:endParaRPr/>
          </a:p>
          <a:p>
            <a:pPr indent="228600"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Bước 2</a:t>
            </a:r>
            <a:r>
              <a:rPr b="0" i="0" lang="en-US" sz="2800" u="none">
                <a:solidFill>
                  <a:schemeClr val="dk1"/>
                </a:solidFill>
                <a:latin typeface="Arial"/>
                <a:ea typeface="Arial"/>
                <a:cs typeface="Arial"/>
                <a:sym typeface="Arial"/>
              </a:rPr>
              <a:t>: Nếu z ∈S thì kết thúc.</a:t>
            </a:r>
            <a:endParaRPr/>
          </a:p>
          <a:p>
            <a:pPr indent="228600"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Bước 3</a:t>
            </a:r>
            <a:r>
              <a:rPr b="0" i="0" lang="en-US" sz="2800" u="none">
                <a:solidFill>
                  <a:schemeClr val="dk1"/>
                </a:solidFill>
                <a:latin typeface="Arial"/>
                <a:ea typeface="Arial"/>
                <a:cs typeface="Arial"/>
                <a:sym typeface="Arial"/>
              </a:rPr>
              <a:t>: Chọn v ∉S sao cho L(v) là nhỏ nhất.</a:t>
            </a:r>
            <a:endParaRPr/>
          </a:p>
          <a:p>
            <a:pPr indent="228600"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Đưa v vào S.</a:t>
            </a:r>
            <a:endParaRPr/>
          </a:p>
          <a:p>
            <a:pPr indent="228600"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Bước 4</a:t>
            </a:r>
            <a:r>
              <a:rPr b="0" i="0" lang="en-US" sz="2800" u="none">
                <a:solidFill>
                  <a:schemeClr val="dk1"/>
                </a:solidFill>
                <a:latin typeface="Arial"/>
                <a:ea typeface="Arial"/>
                <a:cs typeface="Arial"/>
                <a:sym typeface="Arial"/>
              </a:rPr>
              <a:t>: với mỗi đỉnh x liền kề v và x ∉S:</a:t>
            </a:r>
            <a:endParaRPr/>
          </a:p>
          <a:p>
            <a:pPr indent="228600"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Nếu L(x) &gt; L(v) + c(v, x) thì</a:t>
            </a:r>
            <a:endParaRPr/>
          </a:p>
          <a:p>
            <a:pPr indent="228600"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L(x) = L(v) + c(v,x) và Pr(x) = v</a:t>
            </a:r>
            <a:endParaRPr/>
          </a:p>
          <a:p>
            <a:pPr indent="228600"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Quay lại bước 2.</a:t>
            </a:r>
            <a:endParaRPr/>
          </a:p>
          <a:p>
            <a:pPr indent="228600" lvl="0" marL="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Độ phức tạp thuật toán: O(n</a:t>
            </a:r>
            <a:r>
              <a:rPr b="0" baseline="30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832" name="Shape 832"/>
        <p:cNvGrpSpPr/>
        <p:nvPr/>
      </p:nvGrpSpPr>
      <p:grpSpPr>
        <a:xfrm>
          <a:off x="0" y="0"/>
          <a:ext cx="0" cy="0"/>
          <a:chOff x="0" y="0"/>
          <a:chExt cx="0" cy="0"/>
        </a:xfrm>
      </p:grpSpPr>
      <p:sp>
        <p:nvSpPr>
          <p:cNvPr id="833" name="Google Shape;833;p48"/>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Ví dụ</a:t>
            </a:r>
            <a:endParaRPr/>
          </a:p>
        </p:txBody>
      </p:sp>
      <p:sp>
        <p:nvSpPr>
          <p:cNvPr id="834" name="Google Shape;834;p48"/>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90000"/>
              </a:lnSpc>
              <a:spcBef>
                <a:spcPts val="0"/>
              </a:spcBef>
              <a:spcAft>
                <a:spcPts val="0"/>
              </a:spcAft>
              <a:buClr>
                <a:schemeClr val="dk1"/>
              </a:buClr>
              <a:buSzPts val="2800"/>
              <a:buFont typeface="Noto Sans Symbols"/>
              <a:buNone/>
            </a:pPr>
            <a:r>
              <a:rPr b="0" i="0" lang="en-US" sz="2800" u="none">
                <a:solidFill>
                  <a:schemeClr val="dk1"/>
                </a:solidFill>
                <a:latin typeface="Times New Roman"/>
                <a:ea typeface="Times New Roman"/>
                <a:cs typeface="Times New Roman"/>
                <a:sym typeface="Times New Roman"/>
              </a:rPr>
              <a:t>B1: L(a) = 0, S = ∅</a:t>
            </a:r>
            <a:endParaRPr/>
          </a:p>
          <a:p>
            <a:pPr indent="-463550" lvl="0" marL="463550" marR="0" rtl="0" algn="l">
              <a:lnSpc>
                <a:spcPct val="90000"/>
              </a:lnSpc>
              <a:spcBef>
                <a:spcPts val="560"/>
              </a:spcBef>
              <a:spcAft>
                <a:spcPts val="0"/>
              </a:spcAft>
              <a:buClr>
                <a:schemeClr val="dk1"/>
              </a:buClr>
              <a:buSzPts val="2800"/>
              <a:buFont typeface="Noto Sans Symbols"/>
              <a:buNone/>
            </a:pPr>
            <a:r>
              <a:rPr b="0" i="0" lang="en-US" sz="2800" u="none">
                <a:solidFill>
                  <a:schemeClr val="dk1"/>
                </a:solidFill>
                <a:latin typeface="Times New Roman"/>
                <a:ea typeface="Times New Roman"/>
                <a:cs typeface="Times New Roman"/>
                <a:sym typeface="Times New Roman"/>
              </a:rPr>
              <a:t>       L(b) = L(c) = L(d) </a:t>
            </a:r>
            <a:br>
              <a:rPr b="0" i="0" lang="en-US" sz="2800" u="none">
                <a:solidFill>
                  <a:schemeClr val="dk1"/>
                </a:solidFill>
                <a:latin typeface="Times New Roman"/>
                <a:ea typeface="Times New Roman"/>
                <a:cs typeface="Times New Roman"/>
                <a:sym typeface="Times New Roman"/>
              </a:rPr>
            </a:br>
            <a:r>
              <a:rPr b="0" i="0" lang="en-US" sz="2800" u="none">
                <a:solidFill>
                  <a:schemeClr val="dk1"/>
                </a:solidFill>
                <a:latin typeface="Times New Roman"/>
                <a:ea typeface="Times New Roman"/>
                <a:cs typeface="Times New Roman"/>
                <a:sym typeface="Times New Roman"/>
              </a:rPr>
              <a:t>  = L(e) = L(z) = ∝</a:t>
            </a:r>
            <a:endParaRPr/>
          </a:p>
        </p:txBody>
      </p:sp>
      <p:cxnSp>
        <p:nvCxnSpPr>
          <p:cNvPr id="835" name="Google Shape;835;p48"/>
          <p:cNvCxnSpPr/>
          <p:nvPr/>
        </p:nvCxnSpPr>
        <p:spPr>
          <a:xfrm>
            <a:off x="5845175" y="1657350"/>
            <a:ext cx="1400175" cy="0"/>
          </a:xfrm>
          <a:prstGeom prst="straightConnector1">
            <a:avLst/>
          </a:prstGeom>
          <a:noFill/>
          <a:ln cap="flat" cmpd="sng" w="25400">
            <a:solidFill>
              <a:srgbClr val="000000"/>
            </a:solidFill>
            <a:prstDash val="solid"/>
            <a:miter lim="800000"/>
            <a:headEnd len="med" w="med" type="none"/>
            <a:tailEnd len="med" w="med" type="none"/>
          </a:ln>
        </p:spPr>
      </p:cxnSp>
      <p:sp>
        <p:nvSpPr>
          <p:cNvPr id="836" name="Google Shape;836;p48"/>
          <p:cNvSpPr/>
          <p:nvPr/>
        </p:nvSpPr>
        <p:spPr>
          <a:xfrm>
            <a:off x="7242175" y="1387475"/>
            <a:ext cx="539750" cy="539750"/>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37" name="Google Shape;837;p48"/>
          <p:cNvPicPr preferRelativeResize="0"/>
          <p:nvPr/>
        </p:nvPicPr>
        <p:blipFill rotWithShape="1">
          <a:blip r:embed="rId3">
            <a:alphaModFix/>
          </a:blip>
          <a:srcRect b="0" l="0" r="0" t="0"/>
          <a:stretch/>
        </p:blipFill>
        <p:spPr>
          <a:xfrm>
            <a:off x="7404100" y="1520825"/>
            <a:ext cx="223837" cy="279400"/>
          </a:xfrm>
          <a:prstGeom prst="rect">
            <a:avLst/>
          </a:prstGeom>
          <a:noFill/>
          <a:ln>
            <a:noFill/>
          </a:ln>
        </p:spPr>
      </p:pic>
      <p:cxnSp>
        <p:nvCxnSpPr>
          <p:cNvPr id="838" name="Google Shape;838;p48"/>
          <p:cNvCxnSpPr/>
          <p:nvPr/>
        </p:nvCxnSpPr>
        <p:spPr>
          <a:xfrm>
            <a:off x="5856287" y="2984500"/>
            <a:ext cx="1389062" cy="0"/>
          </a:xfrm>
          <a:prstGeom prst="straightConnector1">
            <a:avLst/>
          </a:prstGeom>
          <a:noFill/>
          <a:ln cap="flat" cmpd="sng" w="25400">
            <a:solidFill>
              <a:srgbClr val="000000"/>
            </a:solidFill>
            <a:prstDash val="solid"/>
            <a:miter lim="800000"/>
            <a:headEnd len="med" w="med" type="none"/>
            <a:tailEnd len="med" w="med" type="none"/>
          </a:ln>
        </p:spPr>
      </p:cxnSp>
      <p:sp>
        <p:nvSpPr>
          <p:cNvPr id="839" name="Google Shape;839;p48"/>
          <p:cNvSpPr/>
          <p:nvPr/>
        </p:nvSpPr>
        <p:spPr>
          <a:xfrm>
            <a:off x="7242175" y="2719387"/>
            <a:ext cx="539750" cy="538162"/>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40" name="Google Shape;840;p48"/>
          <p:cNvPicPr preferRelativeResize="0"/>
          <p:nvPr/>
        </p:nvPicPr>
        <p:blipFill rotWithShape="1">
          <a:blip r:embed="rId4">
            <a:alphaModFix/>
          </a:blip>
          <a:srcRect b="0" l="0" r="0" t="0"/>
          <a:stretch/>
        </p:blipFill>
        <p:spPr>
          <a:xfrm>
            <a:off x="7399337" y="2870200"/>
            <a:ext cx="223837" cy="280987"/>
          </a:xfrm>
          <a:prstGeom prst="rect">
            <a:avLst/>
          </a:prstGeom>
          <a:noFill/>
          <a:ln>
            <a:noFill/>
          </a:ln>
        </p:spPr>
      </p:pic>
      <p:sp>
        <p:nvSpPr>
          <p:cNvPr id="841" name="Google Shape;841;p48"/>
          <p:cNvSpPr/>
          <p:nvPr/>
        </p:nvSpPr>
        <p:spPr>
          <a:xfrm>
            <a:off x="5314950" y="1387475"/>
            <a:ext cx="539750" cy="538162"/>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42" name="Google Shape;842;p48"/>
          <p:cNvPicPr preferRelativeResize="0"/>
          <p:nvPr/>
        </p:nvPicPr>
        <p:blipFill rotWithShape="1">
          <a:blip r:embed="rId5">
            <a:alphaModFix/>
          </a:blip>
          <a:srcRect b="0" l="0" r="0" t="0"/>
          <a:stretch/>
        </p:blipFill>
        <p:spPr>
          <a:xfrm>
            <a:off x="5464175" y="1490662"/>
            <a:ext cx="247650" cy="355600"/>
          </a:xfrm>
          <a:prstGeom prst="rect">
            <a:avLst/>
          </a:prstGeom>
          <a:noFill/>
          <a:ln>
            <a:noFill/>
          </a:ln>
        </p:spPr>
      </p:pic>
      <p:sp>
        <p:nvSpPr>
          <p:cNvPr id="843" name="Google Shape;843;p48"/>
          <p:cNvSpPr/>
          <p:nvPr/>
        </p:nvSpPr>
        <p:spPr>
          <a:xfrm>
            <a:off x="5314950" y="2717800"/>
            <a:ext cx="539750" cy="539750"/>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44" name="Google Shape;844;p48"/>
          <p:cNvPicPr preferRelativeResize="0"/>
          <p:nvPr/>
        </p:nvPicPr>
        <p:blipFill rotWithShape="1">
          <a:blip r:embed="rId6">
            <a:alphaModFix/>
          </a:blip>
          <a:srcRect b="0" l="0" r="0" t="0"/>
          <a:stretch/>
        </p:blipFill>
        <p:spPr>
          <a:xfrm>
            <a:off x="5426075" y="2814637"/>
            <a:ext cx="247650" cy="354012"/>
          </a:xfrm>
          <a:prstGeom prst="rect">
            <a:avLst/>
          </a:prstGeom>
          <a:noFill/>
          <a:ln>
            <a:noFill/>
          </a:ln>
        </p:spPr>
      </p:pic>
      <p:cxnSp>
        <p:nvCxnSpPr>
          <p:cNvPr id="845" name="Google Shape;845;p48"/>
          <p:cNvCxnSpPr/>
          <p:nvPr/>
        </p:nvCxnSpPr>
        <p:spPr>
          <a:xfrm>
            <a:off x="5788025" y="1830387"/>
            <a:ext cx="1497012" cy="1017587"/>
          </a:xfrm>
          <a:prstGeom prst="straightConnector1">
            <a:avLst/>
          </a:prstGeom>
          <a:noFill/>
          <a:ln cap="flat" cmpd="sng" w="25400">
            <a:solidFill>
              <a:srgbClr val="000000"/>
            </a:solidFill>
            <a:prstDash val="solid"/>
            <a:miter lim="800000"/>
            <a:headEnd len="med" w="med" type="none"/>
            <a:tailEnd len="med" w="med" type="none"/>
          </a:ln>
        </p:spPr>
      </p:cxnSp>
      <p:sp>
        <p:nvSpPr>
          <p:cNvPr id="846" name="Google Shape;846;p48"/>
          <p:cNvSpPr/>
          <p:nvPr/>
        </p:nvSpPr>
        <p:spPr>
          <a:xfrm>
            <a:off x="4343400" y="2052637"/>
            <a:ext cx="539750" cy="539750"/>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47" name="Google Shape;847;p48"/>
          <p:cNvPicPr preferRelativeResize="0"/>
          <p:nvPr/>
        </p:nvPicPr>
        <p:blipFill rotWithShape="1">
          <a:blip r:embed="rId7">
            <a:alphaModFix/>
          </a:blip>
          <a:srcRect b="0" l="0" r="0" t="0"/>
          <a:stretch/>
        </p:blipFill>
        <p:spPr>
          <a:xfrm>
            <a:off x="4484687" y="2185987"/>
            <a:ext cx="247650" cy="279400"/>
          </a:xfrm>
          <a:prstGeom prst="rect">
            <a:avLst/>
          </a:prstGeom>
          <a:noFill/>
          <a:ln>
            <a:noFill/>
          </a:ln>
        </p:spPr>
      </p:pic>
      <p:sp>
        <p:nvSpPr>
          <p:cNvPr id="848" name="Google Shape;848;p48"/>
          <p:cNvSpPr/>
          <p:nvPr/>
        </p:nvSpPr>
        <p:spPr>
          <a:xfrm>
            <a:off x="8235950" y="2044700"/>
            <a:ext cx="539750" cy="539750"/>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49" name="Google Shape;849;p48"/>
          <p:cNvPicPr preferRelativeResize="0"/>
          <p:nvPr/>
        </p:nvPicPr>
        <p:blipFill rotWithShape="1">
          <a:blip r:embed="rId8">
            <a:alphaModFix/>
          </a:blip>
          <a:srcRect b="0" l="0" r="0" t="0"/>
          <a:stretch/>
        </p:blipFill>
        <p:spPr>
          <a:xfrm>
            <a:off x="8378825" y="2192337"/>
            <a:ext cx="247650" cy="255587"/>
          </a:xfrm>
          <a:prstGeom prst="rect">
            <a:avLst/>
          </a:prstGeom>
          <a:noFill/>
          <a:ln>
            <a:noFill/>
          </a:ln>
        </p:spPr>
      </p:pic>
      <p:cxnSp>
        <p:nvCxnSpPr>
          <p:cNvPr id="850" name="Google Shape;850;p48"/>
          <p:cNvCxnSpPr/>
          <p:nvPr/>
        </p:nvCxnSpPr>
        <p:spPr>
          <a:xfrm flipH="1" rot="10800000">
            <a:off x="4838700" y="1809750"/>
            <a:ext cx="522287" cy="350837"/>
          </a:xfrm>
          <a:prstGeom prst="straightConnector1">
            <a:avLst/>
          </a:prstGeom>
          <a:noFill/>
          <a:ln cap="flat" cmpd="sng" w="25400">
            <a:solidFill>
              <a:srgbClr val="000000"/>
            </a:solidFill>
            <a:prstDash val="solid"/>
            <a:miter lim="800000"/>
            <a:headEnd len="med" w="med" type="none"/>
            <a:tailEnd len="med" w="med" type="none"/>
          </a:ln>
        </p:spPr>
      </p:cxnSp>
      <p:cxnSp>
        <p:nvCxnSpPr>
          <p:cNvPr id="851" name="Google Shape;851;p48"/>
          <p:cNvCxnSpPr/>
          <p:nvPr/>
        </p:nvCxnSpPr>
        <p:spPr>
          <a:xfrm>
            <a:off x="4838700" y="2482850"/>
            <a:ext cx="506412" cy="349250"/>
          </a:xfrm>
          <a:prstGeom prst="straightConnector1">
            <a:avLst/>
          </a:prstGeom>
          <a:noFill/>
          <a:ln cap="flat" cmpd="sng" w="25400">
            <a:solidFill>
              <a:srgbClr val="000000"/>
            </a:solidFill>
            <a:prstDash val="solid"/>
            <a:miter lim="800000"/>
            <a:headEnd len="med" w="med" type="none"/>
            <a:tailEnd len="med" w="med" type="none"/>
          </a:ln>
        </p:spPr>
      </p:cxnSp>
      <p:cxnSp>
        <p:nvCxnSpPr>
          <p:cNvPr id="852" name="Google Shape;852;p48"/>
          <p:cNvCxnSpPr/>
          <p:nvPr/>
        </p:nvCxnSpPr>
        <p:spPr>
          <a:xfrm>
            <a:off x="7745412" y="1797050"/>
            <a:ext cx="525462" cy="369887"/>
          </a:xfrm>
          <a:prstGeom prst="straightConnector1">
            <a:avLst/>
          </a:prstGeom>
          <a:noFill/>
          <a:ln cap="flat" cmpd="sng" w="25400">
            <a:solidFill>
              <a:srgbClr val="000000"/>
            </a:solidFill>
            <a:prstDash val="solid"/>
            <a:miter lim="800000"/>
            <a:headEnd len="med" w="med" type="none"/>
            <a:tailEnd len="med" w="med" type="none"/>
          </a:ln>
        </p:spPr>
      </p:cxnSp>
      <p:cxnSp>
        <p:nvCxnSpPr>
          <p:cNvPr id="853" name="Google Shape;853;p48"/>
          <p:cNvCxnSpPr/>
          <p:nvPr/>
        </p:nvCxnSpPr>
        <p:spPr>
          <a:xfrm flipH="1" rot="10800000">
            <a:off x="7742237" y="2474912"/>
            <a:ext cx="528637" cy="369887"/>
          </a:xfrm>
          <a:prstGeom prst="straightConnector1">
            <a:avLst/>
          </a:prstGeom>
          <a:noFill/>
          <a:ln cap="flat" cmpd="sng" w="25400">
            <a:solidFill>
              <a:srgbClr val="000000"/>
            </a:solidFill>
            <a:prstDash val="solid"/>
            <a:miter lim="800000"/>
            <a:headEnd len="med" w="med" type="none"/>
            <a:tailEnd len="med" w="med" type="none"/>
          </a:ln>
        </p:spPr>
      </p:cxnSp>
      <p:pic>
        <p:nvPicPr>
          <p:cNvPr id="854" name="Google Shape;854;p48"/>
          <p:cNvPicPr preferRelativeResize="0"/>
          <p:nvPr/>
        </p:nvPicPr>
        <p:blipFill rotWithShape="1">
          <a:blip r:embed="rId9">
            <a:alphaModFix/>
          </a:blip>
          <a:srcRect b="0" l="0" r="0" t="0"/>
          <a:stretch/>
        </p:blipFill>
        <p:spPr>
          <a:xfrm>
            <a:off x="4876800" y="1671637"/>
            <a:ext cx="247650" cy="330200"/>
          </a:xfrm>
          <a:prstGeom prst="rect">
            <a:avLst/>
          </a:prstGeom>
          <a:noFill/>
          <a:ln>
            <a:noFill/>
          </a:ln>
        </p:spPr>
      </p:pic>
      <p:pic>
        <p:nvPicPr>
          <p:cNvPr id="855" name="Google Shape;855;p48"/>
          <p:cNvPicPr preferRelativeResize="0"/>
          <p:nvPr/>
        </p:nvPicPr>
        <p:blipFill rotWithShape="1">
          <a:blip r:embed="rId10">
            <a:alphaModFix/>
          </a:blip>
          <a:srcRect b="0" l="0" r="0" t="0"/>
          <a:stretch/>
        </p:blipFill>
        <p:spPr>
          <a:xfrm>
            <a:off x="4865687" y="2605087"/>
            <a:ext cx="247650" cy="354012"/>
          </a:xfrm>
          <a:prstGeom prst="rect">
            <a:avLst/>
          </a:prstGeom>
          <a:noFill/>
          <a:ln>
            <a:noFill/>
          </a:ln>
        </p:spPr>
      </p:pic>
      <p:pic>
        <p:nvPicPr>
          <p:cNvPr id="856" name="Google Shape;856;p48"/>
          <p:cNvPicPr preferRelativeResize="0"/>
          <p:nvPr/>
        </p:nvPicPr>
        <p:blipFill rotWithShape="1">
          <a:blip r:embed="rId11">
            <a:alphaModFix/>
          </a:blip>
          <a:srcRect b="0" l="0" r="0" t="0"/>
          <a:stretch/>
        </p:blipFill>
        <p:spPr>
          <a:xfrm>
            <a:off x="6454775" y="1301750"/>
            <a:ext cx="247650" cy="355600"/>
          </a:xfrm>
          <a:prstGeom prst="rect">
            <a:avLst/>
          </a:prstGeom>
          <a:noFill/>
          <a:ln>
            <a:noFill/>
          </a:ln>
        </p:spPr>
      </p:pic>
      <p:pic>
        <p:nvPicPr>
          <p:cNvPr id="857" name="Google Shape;857;p48"/>
          <p:cNvPicPr preferRelativeResize="0"/>
          <p:nvPr/>
        </p:nvPicPr>
        <p:blipFill rotWithShape="1">
          <a:blip r:embed="rId9">
            <a:alphaModFix/>
          </a:blip>
          <a:srcRect b="0" l="0" r="0" t="0"/>
          <a:stretch/>
        </p:blipFill>
        <p:spPr>
          <a:xfrm>
            <a:off x="6537325" y="2020887"/>
            <a:ext cx="249237" cy="331787"/>
          </a:xfrm>
          <a:prstGeom prst="rect">
            <a:avLst/>
          </a:prstGeom>
          <a:noFill/>
          <a:ln>
            <a:noFill/>
          </a:ln>
        </p:spPr>
      </p:pic>
      <p:pic>
        <p:nvPicPr>
          <p:cNvPr id="858" name="Google Shape;858;p48"/>
          <p:cNvPicPr preferRelativeResize="0"/>
          <p:nvPr/>
        </p:nvPicPr>
        <p:blipFill rotWithShape="1">
          <a:blip r:embed="rId12">
            <a:alphaModFix/>
          </a:blip>
          <a:srcRect b="0" l="0" r="0" t="0"/>
          <a:stretch/>
        </p:blipFill>
        <p:spPr>
          <a:xfrm>
            <a:off x="6397625" y="2984500"/>
            <a:ext cx="247650" cy="355600"/>
          </a:xfrm>
          <a:prstGeom prst="rect">
            <a:avLst/>
          </a:prstGeom>
          <a:noFill/>
          <a:ln>
            <a:noFill/>
          </a:ln>
        </p:spPr>
      </p:pic>
      <p:pic>
        <p:nvPicPr>
          <p:cNvPr id="859" name="Google Shape;859;p48"/>
          <p:cNvPicPr preferRelativeResize="0"/>
          <p:nvPr/>
        </p:nvPicPr>
        <p:blipFill rotWithShape="1">
          <a:blip r:embed="rId13">
            <a:alphaModFix/>
          </a:blip>
          <a:srcRect b="0" l="0" r="0" t="0"/>
          <a:stretch/>
        </p:blipFill>
        <p:spPr>
          <a:xfrm>
            <a:off x="7989887" y="2597150"/>
            <a:ext cx="247650" cy="330200"/>
          </a:xfrm>
          <a:prstGeom prst="rect">
            <a:avLst/>
          </a:prstGeom>
          <a:noFill/>
          <a:ln>
            <a:noFill/>
          </a:ln>
        </p:spPr>
      </p:pic>
      <p:pic>
        <p:nvPicPr>
          <p:cNvPr id="860" name="Google Shape;860;p48"/>
          <p:cNvPicPr preferRelativeResize="0"/>
          <p:nvPr/>
        </p:nvPicPr>
        <p:blipFill rotWithShape="1">
          <a:blip r:embed="rId14">
            <a:alphaModFix/>
          </a:blip>
          <a:srcRect b="0" l="0" r="0" t="0"/>
          <a:stretch/>
        </p:blipFill>
        <p:spPr>
          <a:xfrm>
            <a:off x="7985125" y="1690687"/>
            <a:ext cx="249237" cy="330200"/>
          </a:xfrm>
          <a:prstGeom prst="rect">
            <a:avLst/>
          </a:prstGeom>
          <a:noFill/>
          <a:ln>
            <a:noFill/>
          </a:ln>
        </p:spPr>
      </p:pic>
      <p:cxnSp>
        <p:nvCxnSpPr>
          <p:cNvPr id="861" name="Google Shape;861;p48"/>
          <p:cNvCxnSpPr/>
          <p:nvPr/>
        </p:nvCxnSpPr>
        <p:spPr>
          <a:xfrm>
            <a:off x="7515225" y="1920875"/>
            <a:ext cx="0" cy="792162"/>
          </a:xfrm>
          <a:prstGeom prst="straightConnector1">
            <a:avLst/>
          </a:prstGeom>
          <a:noFill/>
          <a:ln cap="flat" cmpd="sng" w="25400">
            <a:solidFill>
              <a:srgbClr val="000000"/>
            </a:solidFill>
            <a:prstDash val="solid"/>
            <a:miter lim="800000"/>
            <a:headEnd len="med" w="med" type="none"/>
            <a:tailEnd len="med" w="med" type="none"/>
          </a:ln>
        </p:spPr>
      </p:cxnSp>
      <p:pic>
        <p:nvPicPr>
          <p:cNvPr id="862" name="Google Shape;862;p48"/>
          <p:cNvPicPr preferRelativeResize="0"/>
          <p:nvPr/>
        </p:nvPicPr>
        <p:blipFill rotWithShape="1">
          <a:blip r:embed="rId15">
            <a:alphaModFix/>
          </a:blip>
          <a:srcRect b="0" l="0" r="0" t="0"/>
          <a:stretch/>
        </p:blipFill>
        <p:spPr>
          <a:xfrm>
            <a:off x="7269162" y="2097087"/>
            <a:ext cx="223837" cy="331787"/>
          </a:xfrm>
          <a:prstGeom prst="rect">
            <a:avLst/>
          </a:prstGeom>
          <a:noFill/>
          <a:ln>
            <a:noFill/>
          </a:ln>
        </p:spPr>
      </p:pic>
      <p:sp>
        <p:nvSpPr>
          <p:cNvPr id="863" name="Google Shape;863;p48"/>
          <p:cNvSpPr txBox="1"/>
          <p:nvPr/>
        </p:nvSpPr>
        <p:spPr>
          <a:xfrm>
            <a:off x="762000" y="2590800"/>
            <a:ext cx="8001000" cy="1295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B2: v = a, S = {a}.</a:t>
            </a:r>
            <a:endParaRPr/>
          </a:p>
          <a:p>
            <a:pPr indent="-342900" lvl="0" marL="342900" marR="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L(b) = min{∝, 2 + 0} = 2</a:t>
            </a:r>
            <a:endParaRPr/>
          </a:p>
          <a:p>
            <a:pPr indent="-342900" lvl="0" marL="342900" marR="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L(d) = min{∝, 3 + 0} = 3</a:t>
            </a:r>
            <a:endParaRPr/>
          </a:p>
        </p:txBody>
      </p:sp>
      <p:sp>
        <p:nvSpPr>
          <p:cNvPr id="864" name="Google Shape;864;p48"/>
          <p:cNvSpPr txBox="1"/>
          <p:nvPr/>
        </p:nvSpPr>
        <p:spPr>
          <a:xfrm>
            <a:off x="762000" y="4114800"/>
            <a:ext cx="8534400" cy="5556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B3: v = b, S = {a,b}, L(c) = 7, L(e) = 4, L(d) = 3, L(z)=∝</a:t>
            </a:r>
            <a:endParaRPr/>
          </a:p>
        </p:txBody>
      </p:sp>
      <p:sp>
        <p:nvSpPr>
          <p:cNvPr id="865" name="Google Shape;865;p48"/>
          <p:cNvSpPr txBox="1"/>
          <p:nvPr/>
        </p:nvSpPr>
        <p:spPr>
          <a:xfrm>
            <a:off x="762000" y="4724400"/>
            <a:ext cx="8001000" cy="5556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B4: v = d, S = {a,b,d}, L(c) = 7, L(e) = 4, L(z) = ∝</a:t>
            </a:r>
            <a:endParaRPr/>
          </a:p>
        </p:txBody>
      </p:sp>
      <p:sp>
        <p:nvSpPr>
          <p:cNvPr id="866" name="Google Shape;866;p48"/>
          <p:cNvSpPr txBox="1"/>
          <p:nvPr/>
        </p:nvSpPr>
        <p:spPr>
          <a:xfrm>
            <a:off x="762000" y="5203825"/>
            <a:ext cx="8001000" cy="5556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B5: v = e, S = {a,b,d,e}, L(c) = 5, L(z) = 8</a:t>
            </a:r>
            <a:endParaRPr/>
          </a:p>
        </p:txBody>
      </p:sp>
      <p:sp>
        <p:nvSpPr>
          <p:cNvPr id="867" name="Google Shape;867;p48"/>
          <p:cNvSpPr txBox="1"/>
          <p:nvPr/>
        </p:nvSpPr>
        <p:spPr>
          <a:xfrm>
            <a:off x="762000" y="5737225"/>
            <a:ext cx="8001000" cy="5556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B6: v = c, S = {a,b,d,e}, L(z) = 7</a:t>
            </a:r>
            <a:endParaRPr/>
          </a:p>
        </p:txBody>
      </p:sp>
      <p:pic>
        <p:nvPicPr>
          <p:cNvPr id="868" name="Google Shape;868;p48"/>
          <p:cNvPicPr preferRelativeResize="0"/>
          <p:nvPr/>
        </p:nvPicPr>
        <p:blipFill rotWithShape="1">
          <a:blip r:embed="rId16">
            <a:alphaModFix/>
          </a:blip>
          <a:srcRect b="0" l="0" r="0" t="0"/>
          <a:stretch/>
        </p:blipFill>
        <p:spPr>
          <a:xfrm>
            <a:off x="8845550" y="2222500"/>
            <a:ext cx="222250" cy="279400"/>
          </a:xfrm>
          <a:prstGeom prst="rect">
            <a:avLst/>
          </a:prstGeom>
          <a:noFill/>
          <a:ln cap="flat" cmpd="sng" w="9525">
            <a:solidFill>
              <a:srgbClr val="FF0066"/>
            </a:solidFill>
            <a:prstDash val="solid"/>
            <a:miter lim="800000"/>
            <a:headEnd len="sm" w="sm" type="none"/>
            <a:tailEnd len="sm" w="sm" type="none"/>
          </a:ln>
        </p:spPr>
      </p:pic>
      <p:pic>
        <p:nvPicPr>
          <p:cNvPr id="869" name="Google Shape;869;p48"/>
          <p:cNvPicPr preferRelativeResize="0"/>
          <p:nvPr/>
        </p:nvPicPr>
        <p:blipFill rotWithShape="1">
          <a:blip r:embed="rId5">
            <a:alphaModFix/>
          </a:blip>
          <a:srcRect b="0" l="0" r="0" t="0"/>
          <a:stretch/>
        </p:blipFill>
        <p:spPr>
          <a:xfrm>
            <a:off x="7385050" y="3302000"/>
            <a:ext cx="247650" cy="355600"/>
          </a:xfrm>
          <a:prstGeom prst="rect">
            <a:avLst/>
          </a:prstGeom>
          <a:noFill/>
          <a:ln cap="flat" cmpd="sng" w="9525">
            <a:solidFill>
              <a:srgbClr val="FF0066"/>
            </a:solidFill>
            <a:prstDash val="solid"/>
            <a:miter lim="800000"/>
            <a:headEnd len="sm" w="sm" type="none"/>
            <a:tailEnd len="sm" w="sm" type="none"/>
          </a:ln>
        </p:spPr>
      </p:pic>
      <p:pic>
        <p:nvPicPr>
          <p:cNvPr id="870" name="Google Shape;870;p48"/>
          <p:cNvPicPr preferRelativeResize="0"/>
          <p:nvPr/>
        </p:nvPicPr>
        <p:blipFill rotWithShape="1">
          <a:blip r:embed="rId7">
            <a:alphaModFix/>
          </a:blip>
          <a:srcRect b="0" l="0" r="0" t="0"/>
          <a:stretch/>
        </p:blipFill>
        <p:spPr>
          <a:xfrm>
            <a:off x="5492750" y="2374900"/>
            <a:ext cx="247650" cy="279400"/>
          </a:xfrm>
          <a:prstGeom prst="rect">
            <a:avLst/>
          </a:prstGeom>
          <a:noFill/>
          <a:ln cap="flat" cmpd="sng" w="9525">
            <a:solidFill>
              <a:srgbClr val="FF0066"/>
            </a:solidFill>
            <a:prstDash val="solid"/>
            <a:miter lim="800000"/>
            <a:headEnd len="sm" w="sm" type="none"/>
            <a:tailEnd len="sm" w="sm" type="none"/>
          </a:ln>
        </p:spPr>
      </p:pic>
      <p:pic>
        <p:nvPicPr>
          <p:cNvPr id="871" name="Google Shape;871;p48"/>
          <p:cNvPicPr preferRelativeResize="0"/>
          <p:nvPr/>
        </p:nvPicPr>
        <p:blipFill rotWithShape="1">
          <a:blip r:embed="rId7">
            <a:alphaModFix/>
          </a:blip>
          <a:srcRect b="0" l="0" r="0" t="0"/>
          <a:stretch/>
        </p:blipFill>
        <p:spPr>
          <a:xfrm>
            <a:off x="5492750" y="1003300"/>
            <a:ext cx="247650" cy="279400"/>
          </a:xfrm>
          <a:prstGeom prst="rect">
            <a:avLst/>
          </a:prstGeom>
          <a:noFill/>
          <a:ln cap="flat" cmpd="sng" w="9525">
            <a:solidFill>
              <a:srgbClr val="FF0066"/>
            </a:solidFill>
            <a:prstDash val="solid"/>
            <a:miter lim="800000"/>
            <a:headEnd len="sm" w="sm" type="none"/>
            <a:tailEnd len="sm" w="sm" type="none"/>
          </a:ln>
        </p:spPr>
      </p:pic>
      <p:pic>
        <p:nvPicPr>
          <p:cNvPr id="872" name="Google Shape;872;p48"/>
          <p:cNvPicPr preferRelativeResize="0"/>
          <p:nvPr/>
        </p:nvPicPr>
        <p:blipFill rotWithShape="1">
          <a:blip r:embed="rId17">
            <a:alphaModFix/>
          </a:blip>
          <a:srcRect b="0" l="0" r="0" t="0"/>
          <a:stretch/>
        </p:blipFill>
        <p:spPr>
          <a:xfrm>
            <a:off x="7408862" y="996950"/>
            <a:ext cx="223837" cy="279400"/>
          </a:xfrm>
          <a:prstGeom prst="rect">
            <a:avLst/>
          </a:prstGeom>
          <a:noFill/>
          <a:ln cap="flat" cmpd="sng" w="9525">
            <a:solidFill>
              <a:srgbClr val="FF0066"/>
            </a:solidFill>
            <a:prstDash val="solid"/>
            <a:miter lim="800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876" name="Shape 876"/>
        <p:cNvGrpSpPr/>
        <p:nvPr/>
      </p:nvGrpSpPr>
      <p:grpSpPr>
        <a:xfrm>
          <a:off x="0" y="0"/>
          <a:ext cx="0" cy="0"/>
          <a:chOff x="0" y="0"/>
          <a:chExt cx="0" cy="0"/>
        </a:xfrm>
      </p:grpSpPr>
      <p:sp>
        <p:nvSpPr>
          <p:cNvPr id="877" name="Google Shape;877;p49"/>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Ví dụ</a:t>
            </a:r>
            <a:endParaRPr/>
          </a:p>
        </p:txBody>
      </p:sp>
      <p:sp>
        <p:nvSpPr>
          <p:cNvPr id="878" name="Google Shape;878;p49"/>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spcBef>
                <a:spcPts val="0"/>
              </a:spcBef>
              <a:spcAft>
                <a:spcPts val="0"/>
              </a:spcAft>
              <a:buClr>
                <a:schemeClr val="dk1"/>
              </a:buClr>
              <a:buSzPts val="2800"/>
              <a:buFont typeface="Noto Sans Symbols"/>
              <a:buNone/>
            </a:pPr>
            <a:r>
              <a:t/>
            </a:r>
            <a:endParaRPr sz="2800">
              <a:solidFill>
                <a:schemeClr val="dk1"/>
              </a:solidFill>
              <a:latin typeface="Arial"/>
              <a:ea typeface="Arial"/>
              <a:cs typeface="Arial"/>
              <a:sym typeface="Arial"/>
            </a:endParaRPr>
          </a:p>
        </p:txBody>
      </p:sp>
      <p:pic>
        <p:nvPicPr>
          <p:cNvPr id="879" name="Google Shape;879;p49"/>
          <p:cNvPicPr preferRelativeResize="0"/>
          <p:nvPr/>
        </p:nvPicPr>
        <p:blipFill rotWithShape="1">
          <a:blip r:embed="rId3">
            <a:alphaModFix/>
          </a:blip>
          <a:srcRect b="0" l="0" r="0" t="0"/>
          <a:stretch/>
        </p:blipFill>
        <p:spPr>
          <a:xfrm>
            <a:off x="5575300" y="4140200"/>
            <a:ext cx="222250" cy="431800"/>
          </a:xfrm>
          <a:prstGeom prst="rect">
            <a:avLst/>
          </a:prstGeom>
          <a:noFill/>
          <a:ln>
            <a:noFill/>
          </a:ln>
        </p:spPr>
      </p:pic>
      <p:grpSp>
        <p:nvGrpSpPr>
          <p:cNvPr id="880" name="Google Shape;880;p49"/>
          <p:cNvGrpSpPr/>
          <p:nvPr/>
        </p:nvGrpSpPr>
        <p:grpSpPr>
          <a:xfrm>
            <a:off x="2362200" y="1524000"/>
            <a:ext cx="4718050" cy="2660650"/>
            <a:chOff x="1488" y="580"/>
            <a:chExt cx="2972" cy="1676"/>
          </a:xfrm>
        </p:grpSpPr>
        <p:cxnSp>
          <p:nvCxnSpPr>
            <p:cNvPr id="881" name="Google Shape;881;p49"/>
            <p:cNvCxnSpPr/>
            <p:nvPr/>
          </p:nvCxnSpPr>
          <p:spPr>
            <a:xfrm>
              <a:off x="2434" y="1004"/>
              <a:ext cx="882" cy="0"/>
            </a:xfrm>
            <a:prstGeom prst="straightConnector1">
              <a:avLst/>
            </a:prstGeom>
            <a:noFill/>
            <a:ln cap="flat" cmpd="sng" w="25400">
              <a:solidFill>
                <a:srgbClr val="000000"/>
              </a:solidFill>
              <a:prstDash val="solid"/>
              <a:miter lim="800000"/>
              <a:headEnd len="med" w="med" type="none"/>
              <a:tailEnd len="med" w="med" type="none"/>
            </a:ln>
          </p:spPr>
        </p:cxnSp>
        <p:sp>
          <p:nvSpPr>
            <p:cNvPr id="882" name="Google Shape;882;p49"/>
            <p:cNvSpPr/>
            <p:nvPr/>
          </p:nvSpPr>
          <p:spPr>
            <a:xfrm>
              <a:off x="3314" y="834"/>
              <a:ext cx="340" cy="340"/>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83" name="Google Shape;883;p49"/>
            <p:cNvPicPr preferRelativeResize="0"/>
            <p:nvPr/>
          </p:nvPicPr>
          <p:blipFill rotWithShape="1">
            <a:blip r:embed="rId4">
              <a:alphaModFix/>
            </a:blip>
            <a:srcRect b="0" l="0" r="0" t="0"/>
            <a:stretch/>
          </p:blipFill>
          <p:spPr>
            <a:xfrm>
              <a:off x="3416" y="918"/>
              <a:ext cx="141" cy="176"/>
            </a:xfrm>
            <a:prstGeom prst="rect">
              <a:avLst/>
            </a:prstGeom>
            <a:noFill/>
            <a:ln>
              <a:noFill/>
            </a:ln>
          </p:spPr>
        </p:pic>
        <p:cxnSp>
          <p:nvCxnSpPr>
            <p:cNvPr id="884" name="Google Shape;884;p49"/>
            <p:cNvCxnSpPr/>
            <p:nvPr/>
          </p:nvCxnSpPr>
          <p:spPr>
            <a:xfrm>
              <a:off x="2441" y="1840"/>
              <a:ext cx="875" cy="0"/>
            </a:xfrm>
            <a:prstGeom prst="straightConnector1">
              <a:avLst/>
            </a:prstGeom>
            <a:noFill/>
            <a:ln cap="flat" cmpd="sng" w="25400">
              <a:solidFill>
                <a:srgbClr val="000000"/>
              </a:solidFill>
              <a:prstDash val="solid"/>
              <a:miter lim="800000"/>
              <a:headEnd len="med" w="med" type="none"/>
              <a:tailEnd len="med" w="med" type="none"/>
            </a:ln>
          </p:spPr>
        </p:cxnSp>
        <p:sp>
          <p:nvSpPr>
            <p:cNvPr id="885" name="Google Shape;885;p49"/>
            <p:cNvSpPr/>
            <p:nvPr/>
          </p:nvSpPr>
          <p:spPr>
            <a:xfrm>
              <a:off x="3314" y="1673"/>
              <a:ext cx="340" cy="339"/>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86" name="Google Shape;886;p49"/>
            <p:cNvPicPr preferRelativeResize="0"/>
            <p:nvPr/>
          </p:nvPicPr>
          <p:blipFill rotWithShape="1">
            <a:blip r:embed="rId5">
              <a:alphaModFix/>
            </a:blip>
            <a:srcRect b="0" l="0" r="0" t="0"/>
            <a:stretch/>
          </p:blipFill>
          <p:spPr>
            <a:xfrm>
              <a:off x="3413" y="1768"/>
              <a:ext cx="141" cy="177"/>
            </a:xfrm>
            <a:prstGeom prst="rect">
              <a:avLst/>
            </a:prstGeom>
            <a:noFill/>
            <a:ln>
              <a:noFill/>
            </a:ln>
          </p:spPr>
        </p:pic>
        <p:sp>
          <p:nvSpPr>
            <p:cNvPr id="887" name="Google Shape;887;p49"/>
            <p:cNvSpPr/>
            <p:nvPr/>
          </p:nvSpPr>
          <p:spPr>
            <a:xfrm>
              <a:off x="2100" y="834"/>
              <a:ext cx="340" cy="339"/>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88" name="Google Shape;888;p49"/>
            <p:cNvPicPr preferRelativeResize="0"/>
            <p:nvPr/>
          </p:nvPicPr>
          <p:blipFill rotWithShape="1">
            <a:blip r:embed="rId6">
              <a:alphaModFix/>
            </a:blip>
            <a:srcRect b="0" l="0" r="0" t="0"/>
            <a:stretch/>
          </p:blipFill>
          <p:spPr>
            <a:xfrm>
              <a:off x="2194" y="899"/>
              <a:ext cx="156" cy="224"/>
            </a:xfrm>
            <a:prstGeom prst="rect">
              <a:avLst/>
            </a:prstGeom>
            <a:noFill/>
            <a:ln>
              <a:noFill/>
            </a:ln>
          </p:spPr>
        </p:pic>
        <p:sp>
          <p:nvSpPr>
            <p:cNvPr id="889" name="Google Shape;889;p49"/>
            <p:cNvSpPr/>
            <p:nvPr/>
          </p:nvSpPr>
          <p:spPr>
            <a:xfrm>
              <a:off x="2100" y="1672"/>
              <a:ext cx="340" cy="340"/>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90" name="Google Shape;890;p49"/>
            <p:cNvPicPr preferRelativeResize="0"/>
            <p:nvPr/>
          </p:nvPicPr>
          <p:blipFill rotWithShape="1">
            <a:blip r:embed="rId7">
              <a:alphaModFix/>
            </a:blip>
            <a:srcRect b="0" l="0" r="0" t="0"/>
            <a:stretch/>
          </p:blipFill>
          <p:spPr>
            <a:xfrm>
              <a:off x="2170" y="1733"/>
              <a:ext cx="156" cy="223"/>
            </a:xfrm>
            <a:prstGeom prst="rect">
              <a:avLst/>
            </a:prstGeom>
            <a:noFill/>
            <a:ln>
              <a:noFill/>
            </a:ln>
          </p:spPr>
        </p:pic>
        <p:cxnSp>
          <p:nvCxnSpPr>
            <p:cNvPr id="891" name="Google Shape;891;p49"/>
            <p:cNvCxnSpPr/>
            <p:nvPr/>
          </p:nvCxnSpPr>
          <p:spPr>
            <a:xfrm>
              <a:off x="2398" y="1113"/>
              <a:ext cx="943" cy="641"/>
            </a:xfrm>
            <a:prstGeom prst="straightConnector1">
              <a:avLst/>
            </a:prstGeom>
            <a:noFill/>
            <a:ln cap="flat" cmpd="sng" w="25400">
              <a:solidFill>
                <a:srgbClr val="000000"/>
              </a:solidFill>
              <a:prstDash val="solid"/>
              <a:miter lim="800000"/>
              <a:headEnd len="med" w="med" type="none"/>
              <a:tailEnd len="med" w="med" type="none"/>
            </a:ln>
          </p:spPr>
        </p:cxnSp>
        <p:sp>
          <p:nvSpPr>
            <p:cNvPr id="892" name="Google Shape;892;p49"/>
            <p:cNvSpPr/>
            <p:nvPr/>
          </p:nvSpPr>
          <p:spPr>
            <a:xfrm>
              <a:off x="1488" y="1253"/>
              <a:ext cx="340" cy="340"/>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93" name="Google Shape;893;p49"/>
            <p:cNvPicPr preferRelativeResize="0"/>
            <p:nvPr/>
          </p:nvPicPr>
          <p:blipFill rotWithShape="1">
            <a:blip r:embed="rId8">
              <a:alphaModFix/>
            </a:blip>
            <a:srcRect b="0" l="0" r="0" t="0"/>
            <a:stretch/>
          </p:blipFill>
          <p:spPr>
            <a:xfrm>
              <a:off x="1577" y="1337"/>
              <a:ext cx="156" cy="176"/>
            </a:xfrm>
            <a:prstGeom prst="rect">
              <a:avLst/>
            </a:prstGeom>
            <a:noFill/>
            <a:ln>
              <a:noFill/>
            </a:ln>
          </p:spPr>
        </p:pic>
        <p:sp>
          <p:nvSpPr>
            <p:cNvPr id="894" name="Google Shape;894;p49"/>
            <p:cNvSpPr/>
            <p:nvPr/>
          </p:nvSpPr>
          <p:spPr>
            <a:xfrm>
              <a:off x="3940" y="1248"/>
              <a:ext cx="340" cy="340"/>
            </a:xfrm>
            <a:prstGeom prst="ellipse">
              <a:avLst/>
            </a:prstGeom>
            <a:solidFill>
              <a:schemeClr val="lt1"/>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95" name="Google Shape;895;p49"/>
            <p:cNvPicPr preferRelativeResize="0"/>
            <p:nvPr/>
          </p:nvPicPr>
          <p:blipFill rotWithShape="1">
            <a:blip r:embed="rId9">
              <a:alphaModFix/>
            </a:blip>
            <a:srcRect b="0" l="0" r="0" t="0"/>
            <a:stretch/>
          </p:blipFill>
          <p:spPr>
            <a:xfrm>
              <a:off x="4030" y="1341"/>
              <a:ext cx="156" cy="161"/>
            </a:xfrm>
            <a:prstGeom prst="rect">
              <a:avLst/>
            </a:prstGeom>
            <a:noFill/>
            <a:ln>
              <a:noFill/>
            </a:ln>
          </p:spPr>
        </p:pic>
        <p:cxnSp>
          <p:nvCxnSpPr>
            <p:cNvPr id="896" name="Google Shape;896;p49"/>
            <p:cNvCxnSpPr/>
            <p:nvPr/>
          </p:nvCxnSpPr>
          <p:spPr>
            <a:xfrm flipH="1" rot="10800000">
              <a:off x="1800" y="1100"/>
              <a:ext cx="329" cy="221"/>
            </a:xfrm>
            <a:prstGeom prst="straightConnector1">
              <a:avLst/>
            </a:prstGeom>
            <a:noFill/>
            <a:ln cap="flat" cmpd="sng" w="25400">
              <a:solidFill>
                <a:srgbClr val="000000"/>
              </a:solidFill>
              <a:prstDash val="solid"/>
              <a:miter lim="800000"/>
              <a:headEnd len="med" w="med" type="none"/>
              <a:tailEnd len="med" w="med" type="none"/>
            </a:ln>
          </p:spPr>
        </p:cxnSp>
        <p:cxnSp>
          <p:nvCxnSpPr>
            <p:cNvPr id="897" name="Google Shape;897;p49"/>
            <p:cNvCxnSpPr/>
            <p:nvPr/>
          </p:nvCxnSpPr>
          <p:spPr>
            <a:xfrm>
              <a:off x="1800" y="1524"/>
              <a:ext cx="319" cy="220"/>
            </a:xfrm>
            <a:prstGeom prst="straightConnector1">
              <a:avLst/>
            </a:prstGeom>
            <a:noFill/>
            <a:ln cap="flat" cmpd="sng" w="25400">
              <a:solidFill>
                <a:srgbClr val="000000"/>
              </a:solidFill>
              <a:prstDash val="solid"/>
              <a:miter lim="800000"/>
              <a:headEnd len="med" w="med" type="none"/>
              <a:tailEnd len="med" w="med" type="none"/>
            </a:ln>
          </p:spPr>
        </p:cxnSp>
        <p:cxnSp>
          <p:nvCxnSpPr>
            <p:cNvPr id="898" name="Google Shape;898;p49"/>
            <p:cNvCxnSpPr/>
            <p:nvPr/>
          </p:nvCxnSpPr>
          <p:spPr>
            <a:xfrm>
              <a:off x="3631" y="1092"/>
              <a:ext cx="331" cy="233"/>
            </a:xfrm>
            <a:prstGeom prst="straightConnector1">
              <a:avLst/>
            </a:prstGeom>
            <a:noFill/>
            <a:ln cap="flat" cmpd="sng" w="25400">
              <a:solidFill>
                <a:srgbClr val="000000"/>
              </a:solidFill>
              <a:prstDash val="solid"/>
              <a:miter lim="800000"/>
              <a:headEnd len="med" w="med" type="none"/>
              <a:tailEnd len="med" w="med" type="none"/>
            </a:ln>
          </p:spPr>
        </p:cxnSp>
        <p:cxnSp>
          <p:nvCxnSpPr>
            <p:cNvPr id="899" name="Google Shape;899;p49"/>
            <p:cNvCxnSpPr/>
            <p:nvPr/>
          </p:nvCxnSpPr>
          <p:spPr>
            <a:xfrm flipH="1" rot="10800000">
              <a:off x="3629" y="1519"/>
              <a:ext cx="333" cy="233"/>
            </a:xfrm>
            <a:prstGeom prst="straightConnector1">
              <a:avLst/>
            </a:prstGeom>
            <a:noFill/>
            <a:ln cap="flat" cmpd="sng" w="25400">
              <a:solidFill>
                <a:srgbClr val="000000"/>
              </a:solidFill>
              <a:prstDash val="solid"/>
              <a:miter lim="800000"/>
              <a:headEnd len="med" w="med" type="none"/>
              <a:tailEnd len="med" w="med" type="none"/>
            </a:ln>
          </p:spPr>
        </p:cxnSp>
        <p:pic>
          <p:nvPicPr>
            <p:cNvPr id="900" name="Google Shape;900;p49"/>
            <p:cNvPicPr preferRelativeResize="0"/>
            <p:nvPr/>
          </p:nvPicPr>
          <p:blipFill rotWithShape="1">
            <a:blip r:embed="rId10">
              <a:alphaModFix/>
            </a:blip>
            <a:srcRect b="0" l="0" r="0" t="0"/>
            <a:stretch/>
          </p:blipFill>
          <p:spPr>
            <a:xfrm>
              <a:off x="1824" y="1013"/>
              <a:ext cx="156" cy="208"/>
            </a:xfrm>
            <a:prstGeom prst="rect">
              <a:avLst/>
            </a:prstGeom>
            <a:noFill/>
            <a:ln>
              <a:noFill/>
            </a:ln>
          </p:spPr>
        </p:pic>
        <p:pic>
          <p:nvPicPr>
            <p:cNvPr id="901" name="Google Shape;901;p49"/>
            <p:cNvPicPr preferRelativeResize="0"/>
            <p:nvPr/>
          </p:nvPicPr>
          <p:blipFill rotWithShape="1">
            <a:blip r:embed="rId11">
              <a:alphaModFix/>
            </a:blip>
            <a:srcRect b="0" l="0" r="0" t="0"/>
            <a:stretch/>
          </p:blipFill>
          <p:spPr>
            <a:xfrm>
              <a:off x="1817" y="1601"/>
              <a:ext cx="156" cy="223"/>
            </a:xfrm>
            <a:prstGeom prst="rect">
              <a:avLst/>
            </a:prstGeom>
            <a:noFill/>
            <a:ln>
              <a:noFill/>
            </a:ln>
          </p:spPr>
        </p:pic>
        <p:pic>
          <p:nvPicPr>
            <p:cNvPr id="902" name="Google Shape;902;p49"/>
            <p:cNvPicPr preferRelativeResize="0"/>
            <p:nvPr/>
          </p:nvPicPr>
          <p:blipFill rotWithShape="1">
            <a:blip r:embed="rId12">
              <a:alphaModFix/>
            </a:blip>
            <a:srcRect b="0" l="0" r="0" t="0"/>
            <a:stretch/>
          </p:blipFill>
          <p:spPr>
            <a:xfrm>
              <a:off x="2818" y="780"/>
              <a:ext cx="156" cy="224"/>
            </a:xfrm>
            <a:prstGeom prst="rect">
              <a:avLst/>
            </a:prstGeom>
            <a:noFill/>
            <a:ln>
              <a:noFill/>
            </a:ln>
          </p:spPr>
        </p:pic>
        <p:pic>
          <p:nvPicPr>
            <p:cNvPr id="903" name="Google Shape;903;p49"/>
            <p:cNvPicPr preferRelativeResize="0"/>
            <p:nvPr/>
          </p:nvPicPr>
          <p:blipFill rotWithShape="1">
            <a:blip r:embed="rId10">
              <a:alphaModFix/>
            </a:blip>
            <a:srcRect b="0" l="0" r="0" t="0"/>
            <a:stretch/>
          </p:blipFill>
          <p:spPr>
            <a:xfrm>
              <a:off x="2870" y="1233"/>
              <a:ext cx="157" cy="209"/>
            </a:xfrm>
            <a:prstGeom prst="rect">
              <a:avLst/>
            </a:prstGeom>
            <a:noFill/>
            <a:ln>
              <a:noFill/>
            </a:ln>
          </p:spPr>
        </p:pic>
        <p:pic>
          <p:nvPicPr>
            <p:cNvPr id="904" name="Google Shape;904;p49"/>
            <p:cNvPicPr preferRelativeResize="0"/>
            <p:nvPr/>
          </p:nvPicPr>
          <p:blipFill rotWithShape="1">
            <a:blip r:embed="rId13">
              <a:alphaModFix/>
            </a:blip>
            <a:srcRect b="0" l="0" r="0" t="0"/>
            <a:stretch/>
          </p:blipFill>
          <p:spPr>
            <a:xfrm>
              <a:off x="2782" y="1840"/>
              <a:ext cx="156" cy="224"/>
            </a:xfrm>
            <a:prstGeom prst="rect">
              <a:avLst/>
            </a:prstGeom>
            <a:noFill/>
            <a:ln>
              <a:noFill/>
            </a:ln>
          </p:spPr>
        </p:pic>
        <p:pic>
          <p:nvPicPr>
            <p:cNvPr id="905" name="Google Shape;905;p49"/>
            <p:cNvPicPr preferRelativeResize="0"/>
            <p:nvPr/>
          </p:nvPicPr>
          <p:blipFill rotWithShape="1">
            <a:blip r:embed="rId14">
              <a:alphaModFix/>
            </a:blip>
            <a:srcRect b="0" l="0" r="0" t="0"/>
            <a:stretch/>
          </p:blipFill>
          <p:spPr>
            <a:xfrm>
              <a:off x="3785" y="1596"/>
              <a:ext cx="156" cy="208"/>
            </a:xfrm>
            <a:prstGeom prst="rect">
              <a:avLst/>
            </a:prstGeom>
            <a:noFill/>
            <a:ln>
              <a:noFill/>
            </a:ln>
          </p:spPr>
        </p:pic>
        <p:pic>
          <p:nvPicPr>
            <p:cNvPr id="906" name="Google Shape;906;p49"/>
            <p:cNvPicPr preferRelativeResize="0"/>
            <p:nvPr/>
          </p:nvPicPr>
          <p:blipFill rotWithShape="1">
            <a:blip r:embed="rId15">
              <a:alphaModFix/>
            </a:blip>
            <a:srcRect b="0" l="0" r="0" t="0"/>
            <a:stretch/>
          </p:blipFill>
          <p:spPr>
            <a:xfrm>
              <a:off x="3782" y="1025"/>
              <a:ext cx="157" cy="208"/>
            </a:xfrm>
            <a:prstGeom prst="rect">
              <a:avLst/>
            </a:prstGeom>
            <a:noFill/>
            <a:ln>
              <a:noFill/>
            </a:ln>
          </p:spPr>
        </p:pic>
        <p:cxnSp>
          <p:nvCxnSpPr>
            <p:cNvPr id="907" name="Google Shape;907;p49"/>
            <p:cNvCxnSpPr/>
            <p:nvPr/>
          </p:nvCxnSpPr>
          <p:spPr>
            <a:xfrm>
              <a:off x="3486" y="1170"/>
              <a:ext cx="0" cy="499"/>
            </a:xfrm>
            <a:prstGeom prst="straightConnector1">
              <a:avLst/>
            </a:prstGeom>
            <a:noFill/>
            <a:ln cap="flat" cmpd="sng" w="25400">
              <a:solidFill>
                <a:srgbClr val="000000"/>
              </a:solidFill>
              <a:prstDash val="solid"/>
              <a:miter lim="800000"/>
              <a:headEnd len="med" w="med" type="none"/>
              <a:tailEnd len="med" w="med" type="none"/>
            </a:ln>
          </p:spPr>
        </p:cxnSp>
        <p:pic>
          <p:nvPicPr>
            <p:cNvPr id="908" name="Google Shape;908;p49"/>
            <p:cNvPicPr preferRelativeResize="0"/>
            <p:nvPr/>
          </p:nvPicPr>
          <p:blipFill rotWithShape="1">
            <a:blip r:embed="rId16">
              <a:alphaModFix/>
            </a:blip>
            <a:srcRect b="0" l="0" r="0" t="0"/>
            <a:stretch/>
          </p:blipFill>
          <p:spPr>
            <a:xfrm>
              <a:off x="3331" y="1281"/>
              <a:ext cx="141" cy="209"/>
            </a:xfrm>
            <a:prstGeom prst="rect">
              <a:avLst/>
            </a:prstGeom>
            <a:noFill/>
            <a:ln>
              <a:noFill/>
            </a:ln>
          </p:spPr>
        </p:pic>
        <p:pic>
          <p:nvPicPr>
            <p:cNvPr id="909" name="Google Shape;909;p49"/>
            <p:cNvPicPr preferRelativeResize="0"/>
            <p:nvPr/>
          </p:nvPicPr>
          <p:blipFill rotWithShape="1">
            <a:blip r:embed="rId17">
              <a:alphaModFix/>
            </a:blip>
            <a:srcRect b="0" l="0" r="0" t="0"/>
            <a:stretch/>
          </p:blipFill>
          <p:spPr>
            <a:xfrm>
              <a:off x="4320" y="1352"/>
              <a:ext cx="140" cy="176"/>
            </a:xfrm>
            <a:prstGeom prst="rect">
              <a:avLst/>
            </a:prstGeom>
            <a:noFill/>
            <a:ln cap="flat" cmpd="sng" w="9525">
              <a:solidFill>
                <a:srgbClr val="FF0066"/>
              </a:solidFill>
              <a:prstDash val="solid"/>
              <a:miter lim="800000"/>
              <a:headEnd len="sm" w="sm" type="none"/>
              <a:tailEnd len="sm" w="sm" type="none"/>
            </a:ln>
          </p:spPr>
        </p:pic>
        <p:pic>
          <p:nvPicPr>
            <p:cNvPr id="910" name="Google Shape;910;p49"/>
            <p:cNvPicPr preferRelativeResize="0"/>
            <p:nvPr/>
          </p:nvPicPr>
          <p:blipFill rotWithShape="1">
            <a:blip r:embed="rId6">
              <a:alphaModFix/>
            </a:blip>
            <a:srcRect b="0" l="0" r="0" t="0"/>
            <a:stretch/>
          </p:blipFill>
          <p:spPr>
            <a:xfrm>
              <a:off x="3400" y="2032"/>
              <a:ext cx="156" cy="224"/>
            </a:xfrm>
            <a:prstGeom prst="rect">
              <a:avLst/>
            </a:prstGeom>
            <a:noFill/>
            <a:ln cap="flat" cmpd="sng" w="9525">
              <a:solidFill>
                <a:srgbClr val="FF0066"/>
              </a:solidFill>
              <a:prstDash val="solid"/>
              <a:miter lim="800000"/>
              <a:headEnd len="sm" w="sm" type="none"/>
              <a:tailEnd len="sm" w="sm" type="none"/>
            </a:ln>
          </p:spPr>
        </p:pic>
        <p:pic>
          <p:nvPicPr>
            <p:cNvPr id="911" name="Google Shape;911;p49"/>
            <p:cNvPicPr preferRelativeResize="0"/>
            <p:nvPr/>
          </p:nvPicPr>
          <p:blipFill rotWithShape="1">
            <a:blip r:embed="rId8">
              <a:alphaModFix/>
            </a:blip>
            <a:srcRect b="0" l="0" r="0" t="0"/>
            <a:stretch/>
          </p:blipFill>
          <p:spPr>
            <a:xfrm>
              <a:off x="2208" y="1448"/>
              <a:ext cx="156" cy="176"/>
            </a:xfrm>
            <a:prstGeom prst="rect">
              <a:avLst/>
            </a:prstGeom>
            <a:noFill/>
            <a:ln cap="flat" cmpd="sng" w="9525">
              <a:solidFill>
                <a:srgbClr val="FF0066"/>
              </a:solidFill>
              <a:prstDash val="solid"/>
              <a:miter lim="800000"/>
              <a:headEnd len="sm" w="sm" type="none"/>
              <a:tailEnd len="sm" w="sm" type="none"/>
            </a:ln>
          </p:spPr>
        </p:pic>
        <p:pic>
          <p:nvPicPr>
            <p:cNvPr id="912" name="Google Shape;912;p49"/>
            <p:cNvPicPr preferRelativeResize="0"/>
            <p:nvPr/>
          </p:nvPicPr>
          <p:blipFill rotWithShape="1">
            <a:blip r:embed="rId8">
              <a:alphaModFix/>
            </a:blip>
            <a:srcRect b="0" l="0" r="0" t="0"/>
            <a:stretch/>
          </p:blipFill>
          <p:spPr>
            <a:xfrm>
              <a:off x="2208" y="584"/>
              <a:ext cx="156" cy="176"/>
            </a:xfrm>
            <a:prstGeom prst="rect">
              <a:avLst/>
            </a:prstGeom>
            <a:noFill/>
            <a:ln cap="flat" cmpd="sng" w="9525">
              <a:solidFill>
                <a:srgbClr val="FF0066"/>
              </a:solidFill>
              <a:prstDash val="solid"/>
              <a:miter lim="800000"/>
              <a:headEnd len="sm" w="sm" type="none"/>
              <a:tailEnd len="sm" w="sm" type="none"/>
            </a:ln>
          </p:spPr>
        </p:pic>
        <p:pic>
          <p:nvPicPr>
            <p:cNvPr id="913" name="Google Shape;913;p49"/>
            <p:cNvPicPr preferRelativeResize="0"/>
            <p:nvPr/>
          </p:nvPicPr>
          <p:blipFill rotWithShape="1">
            <a:blip r:embed="rId18">
              <a:alphaModFix/>
            </a:blip>
            <a:srcRect b="0" l="0" r="0" t="0"/>
            <a:stretch/>
          </p:blipFill>
          <p:spPr>
            <a:xfrm>
              <a:off x="3415" y="580"/>
              <a:ext cx="141" cy="176"/>
            </a:xfrm>
            <a:prstGeom prst="rect">
              <a:avLst/>
            </a:prstGeom>
            <a:noFill/>
            <a:ln cap="flat" cmpd="sng" w="9525">
              <a:solidFill>
                <a:srgbClr val="FF0066"/>
              </a:solidFill>
              <a:prstDash val="solid"/>
              <a:miter lim="800000"/>
              <a:headEnd len="sm" w="sm" type="none"/>
              <a:tailEnd len="sm" w="sm" type="none"/>
            </a:ln>
          </p:spPr>
        </p:pic>
      </p:grpSp>
      <p:sp>
        <p:nvSpPr>
          <p:cNvPr id="914" name="Google Shape;914;p49"/>
          <p:cNvSpPr txBox="1"/>
          <p:nvPr/>
        </p:nvSpPr>
        <p:spPr>
          <a:xfrm>
            <a:off x="1752600" y="4648200"/>
            <a:ext cx="6172200" cy="101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Đường đi ngắn nhất từ </a:t>
            </a:r>
            <a:r>
              <a:rPr b="0" i="0" lang="en-US" sz="2400" u="none">
                <a:solidFill>
                  <a:srgbClr val="FF0000"/>
                </a:solidFill>
                <a:latin typeface="Arial"/>
                <a:ea typeface="Arial"/>
                <a:cs typeface="Arial"/>
                <a:sym typeface="Arial"/>
              </a:rPr>
              <a:t>a </a:t>
            </a:r>
            <a:r>
              <a:rPr b="0" i="0" lang="en-US" sz="2400" u="none">
                <a:solidFill>
                  <a:schemeClr val="dk1"/>
                </a:solidFill>
                <a:latin typeface="Arial"/>
                <a:ea typeface="Arial"/>
                <a:cs typeface="Arial"/>
                <a:sym typeface="Arial"/>
              </a:rPr>
              <a:t>đến </a:t>
            </a:r>
            <a:r>
              <a:rPr b="0" i="0" lang="en-US" sz="2400" u="none">
                <a:solidFill>
                  <a:srgbClr val="FF0000"/>
                </a:solidFill>
                <a:latin typeface="Arial"/>
                <a:ea typeface="Arial"/>
                <a:cs typeface="Arial"/>
                <a:sym typeface="Arial"/>
              </a:rPr>
              <a:t>z</a:t>
            </a:r>
            <a:r>
              <a:rPr b="0" i="0" lang="en-US" sz="2400" u="none">
                <a:solidFill>
                  <a:schemeClr val="dk1"/>
                </a:solidFill>
                <a:latin typeface="Arial"/>
                <a:ea typeface="Arial"/>
                <a:cs typeface="Arial"/>
                <a:sym typeface="Arial"/>
              </a:rPr>
              <a:t> là:</a:t>
            </a:r>
            <a:endParaRPr/>
          </a:p>
          <a:p>
            <a:pPr indent="0" lvl="0" marL="0" marR="0" rtl="0" algn="l">
              <a:lnSpc>
                <a:spcPct val="100000"/>
              </a:lnSpc>
              <a:spcBef>
                <a:spcPts val="1200"/>
              </a:spcBef>
              <a:spcAft>
                <a:spcPts val="0"/>
              </a:spcAft>
              <a:buClr>
                <a:srgbClr val="FF0066"/>
              </a:buClr>
              <a:buSzPts val="2400"/>
              <a:buFont typeface="Arial"/>
              <a:buNone/>
            </a:pPr>
            <a:r>
              <a:rPr b="1" i="0" lang="en-US" sz="2400" u="none">
                <a:solidFill>
                  <a:srgbClr val="FF0066"/>
                </a:solidFill>
                <a:latin typeface="Arial"/>
                <a:ea typeface="Arial"/>
                <a:cs typeface="Arial"/>
                <a:sym typeface="Arial"/>
              </a:rPr>
              <a:t>                 a 🡪b 🡪 e 🡪 c 🡪 z</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919" name="Shape 919"/>
        <p:cNvGrpSpPr/>
        <p:nvPr/>
      </p:nvGrpSpPr>
      <p:grpSpPr>
        <a:xfrm>
          <a:off x="0" y="0"/>
          <a:ext cx="0" cy="0"/>
          <a:chOff x="0" y="0"/>
          <a:chExt cx="0" cy="0"/>
        </a:xfrm>
      </p:grpSpPr>
      <p:sp>
        <p:nvSpPr>
          <p:cNvPr id="920" name="Google Shape;920;p50"/>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Bài tập</a:t>
            </a:r>
            <a:endParaRPr/>
          </a:p>
        </p:txBody>
      </p:sp>
      <p:sp>
        <p:nvSpPr>
          <p:cNvPr id="921" name="Google Shape;921;p50"/>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28600" lvl="0" marL="0" marR="0" rtl="0" algn="just">
              <a:lnSpc>
                <a:spcPct val="100000"/>
              </a:lnSpc>
              <a:spcBef>
                <a:spcPts val="0"/>
              </a:spcBef>
              <a:spcAft>
                <a:spcPts val="0"/>
              </a:spcAft>
              <a:buClr>
                <a:schemeClr val="dk1"/>
              </a:buClr>
              <a:buSzPts val="3400"/>
              <a:buFont typeface="Noto Sans Symbols"/>
              <a:buNone/>
            </a:pPr>
            <a:r>
              <a:rPr b="0" i="0" lang="en-US" sz="34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ìm đường đi ngắn nhất từ A đến cách đỉnh còn lại trong đồ thị sau:</a:t>
            </a:r>
            <a:endParaRPr/>
          </a:p>
        </p:txBody>
      </p:sp>
      <p:grpSp>
        <p:nvGrpSpPr>
          <p:cNvPr id="922" name="Google Shape;922;p50"/>
          <p:cNvGrpSpPr/>
          <p:nvPr/>
        </p:nvGrpSpPr>
        <p:grpSpPr>
          <a:xfrm>
            <a:off x="1828800" y="2514600"/>
            <a:ext cx="4271962" cy="3087687"/>
            <a:chOff x="1152" y="1584"/>
            <a:chExt cx="2691" cy="1945"/>
          </a:xfrm>
        </p:grpSpPr>
        <p:sp>
          <p:nvSpPr>
            <p:cNvPr id="923" name="Google Shape;923;p50"/>
            <p:cNvSpPr/>
            <p:nvPr/>
          </p:nvSpPr>
          <p:spPr>
            <a:xfrm>
              <a:off x="1946" y="163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24" name="Google Shape;924;p50"/>
            <p:cNvPicPr preferRelativeResize="0"/>
            <p:nvPr/>
          </p:nvPicPr>
          <p:blipFill rotWithShape="1">
            <a:blip r:embed="rId3">
              <a:alphaModFix/>
            </a:blip>
            <a:srcRect b="0" l="0" r="0" t="0"/>
            <a:stretch/>
          </p:blipFill>
          <p:spPr>
            <a:xfrm>
              <a:off x="2021" y="1698"/>
              <a:ext cx="222" cy="208"/>
            </a:xfrm>
            <a:prstGeom prst="rect">
              <a:avLst/>
            </a:prstGeom>
            <a:noFill/>
            <a:ln>
              <a:noFill/>
            </a:ln>
          </p:spPr>
        </p:pic>
        <p:cxnSp>
          <p:nvCxnSpPr>
            <p:cNvPr id="925" name="Google Shape;925;p50"/>
            <p:cNvCxnSpPr/>
            <p:nvPr/>
          </p:nvCxnSpPr>
          <p:spPr>
            <a:xfrm>
              <a:off x="2287" y="1812"/>
              <a:ext cx="1189" cy="0"/>
            </a:xfrm>
            <a:prstGeom prst="straightConnector1">
              <a:avLst/>
            </a:prstGeom>
            <a:noFill/>
            <a:ln cap="flat" cmpd="sng" w="25400">
              <a:solidFill>
                <a:srgbClr val="000000"/>
              </a:solidFill>
              <a:prstDash val="solid"/>
              <a:miter lim="800000"/>
              <a:headEnd len="med" w="med" type="none"/>
              <a:tailEnd len="med" w="med" type="none"/>
            </a:ln>
          </p:spPr>
        </p:cxnSp>
        <p:sp>
          <p:nvSpPr>
            <p:cNvPr id="926" name="Google Shape;926;p50"/>
            <p:cNvSpPr/>
            <p:nvPr/>
          </p:nvSpPr>
          <p:spPr>
            <a:xfrm>
              <a:off x="3483" y="1637"/>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27" name="Google Shape;927;p50"/>
            <p:cNvPicPr preferRelativeResize="0"/>
            <p:nvPr/>
          </p:nvPicPr>
          <p:blipFill rotWithShape="1">
            <a:blip r:embed="rId4">
              <a:alphaModFix/>
            </a:blip>
            <a:srcRect b="0" l="0" r="0" t="0"/>
            <a:stretch/>
          </p:blipFill>
          <p:spPr>
            <a:xfrm>
              <a:off x="3550" y="1701"/>
              <a:ext cx="192" cy="208"/>
            </a:xfrm>
            <a:prstGeom prst="rect">
              <a:avLst/>
            </a:prstGeom>
            <a:noFill/>
            <a:ln>
              <a:noFill/>
            </a:ln>
          </p:spPr>
        </p:pic>
        <p:sp>
          <p:nvSpPr>
            <p:cNvPr id="928" name="Google Shape;928;p50"/>
            <p:cNvSpPr/>
            <p:nvPr/>
          </p:nvSpPr>
          <p:spPr>
            <a:xfrm>
              <a:off x="1946" y="3145"/>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29" name="Google Shape;929;p50"/>
            <p:cNvPicPr preferRelativeResize="0"/>
            <p:nvPr/>
          </p:nvPicPr>
          <p:blipFill rotWithShape="1">
            <a:blip r:embed="rId5">
              <a:alphaModFix/>
            </a:blip>
            <a:srcRect b="0" l="0" r="0" t="0"/>
            <a:stretch/>
          </p:blipFill>
          <p:spPr>
            <a:xfrm>
              <a:off x="2014" y="3209"/>
              <a:ext cx="191" cy="208"/>
            </a:xfrm>
            <a:prstGeom prst="rect">
              <a:avLst/>
            </a:prstGeom>
            <a:noFill/>
            <a:ln>
              <a:noFill/>
            </a:ln>
          </p:spPr>
        </p:pic>
        <p:cxnSp>
          <p:nvCxnSpPr>
            <p:cNvPr id="930" name="Google Shape;930;p50"/>
            <p:cNvCxnSpPr/>
            <p:nvPr/>
          </p:nvCxnSpPr>
          <p:spPr>
            <a:xfrm>
              <a:off x="2287" y="3323"/>
              <a:ext cx="1186" cy="0"/>
            </a:xfrm>
            <a:prstGeom prst="straightConnector1">
              <a:avLst/>
            </a:prstGeom>
            <a:noFill/>
            <a:ln cap="flat" cmpd="sng" w="25400">
              <a:solidFill>
                <a:srgbClr val="000000"/>
              </a:solidFill>
              <a:prstDash val="solid"/>
              <a:miter lim="800000"/>
              <a:headEnd len="med" w="med" type="none"/>
              <a:tailEnd len="med" w="med" type="none"/>
            </a:ln>
          </p:spPr>
        </p:cxnSp>
        <p:sp>
          <p:nvSpPr>
            <p:cNvPr id="931" name="Google Shape;931;p50"/>
            <p:cNvSpPr/>
            <p:nvPr/>
          </p:nvSpPr>
          <p:spPr>
            <a:xfrm>
              <a:off x="3483" y="3149"/>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32" name="Google Shape;932;p50"/>
            <p:cNvPicPr preferRelativeResize="0"/>
            <p:nvPr/>
          </p:nvPicPr>
          <p:blipFill rotWithShape="1">
            <a:blip r:embed="rId6">
              <a:alphaModFix/>
            </a:blip>
            <a:srcRect b="0" l="0" r="0" t="0"/>
            <a:stretch/>
          </p:blipFill>
          <p:spPr>
            <a:xfrm>
              <a:off x="3565" y="3213"/>
              <a:ext cx="191" cy="208"/>
            </a:xfrm>
            <a:prstGeom prst="rect">
              <a:avLst/>
            </a:prstGeom>
            <a:noFill/>
            <a:ln>
              <a:noFill/>
            </a:ln>
          </p:spPr>
        </p:pic>
        <p:cxnSp>
          <p:nvCxnSpPr>
            <p:cNvPr id="933" name="Google Shape;933;p50"/>
            <p:cNvCxnSpPr/>
            <p:nvPr/>
          </p:nvCxnSpPr>
          <p:spPr>
            <a:xfrm flipH="1" rot="-5400000">
              <a:off x="1528" y="2558"/>
              <a:ext cx="1168" cy="1"/>
            </a:xfrm>
            <a:prstGeom prst="straightConnector1">
              <a:avLst/>
            </a:prstGeom>
            <a:noFill/>
            <a:ln cap="flat" cmpd="sng" w="25400">
              <a:solidFill>
                <a:srgbClr val="000000"/>
              </a:solidFill>
              <a:prstDash val="solid"/>
              <a:miter lim="800000"/>
              <a:headEnd len="med" w="med" type="none"/>
              <a:tailEnd len="med" w="med" type="none"/>
            </a:ln>
          </p:spPr>
        </p:cxnSp>
        <p:cxnSp>
          <p:nvCxnSpPr>
            <p:cNvPr id="934" name="Google Shape;934;p50"/>
            <p:cNvCxnSpPr/>
            <p:nvPr/>
          </p:nvCxnSpPr>
          <p:spPr>
            <a:xfrm rot="5400000">
              <a:off x="3071" y="2561"/>
              <a:ext cx="1173" cy="0"/>
            </a:xfrm>
            <a:prstGeom prst="straightConnector1">
              <a:avLst/>
            </a:prstGeom>
            <a:noFill/>
            <a:ln cap="flat" cmpd="sng" w="25400">
              <a:solidFill>
                <a:srgbClr val="000000"/>
              </a:solidFill>
              <a:prstDash val="solid"/>
              <a:miter lim="800000"/>
              <a:headEnd len="med" w="med" type="none"/>
              <a:tailEnd len="med" w="med" type="none"/>
            </a:ln>
          </p:spPr>
        </p:cxnSp>
        <p:cxnSp>
          <p:nvCxnSpPr>
            <p:cNvPr id="935" name="Google Shape;935;p50"/>
            <p:cNvCxnSpPr/>
            <p:nvPr/>
          </p:nvCxnSpPr>
          <p:spPr>
            <a:xfrm rot="5400000">
              <a:off x="2235" y="2686"/>
              <a:ext cx="513" cy="518"/>
            </a:xfrm>
            <a:prstGeom prst="straightConnector1">
              <a:avLst/>
            </a:prstGeom>
            <a:noFill/>
            <a:ln cap="flat" cmpd="sng" w="25400">
              <a:solidFill>
                <a:srgbClr val="000000"/>
              </a:solidFill>
              <a:prstDash val="solid"/>
              <a:miter lim="800000"/>
              <a:headEnd len="med" w="med" type="none"/>
              <a:tailEnd len="med" w="med" type="none"/>
            </a:ln>
          </p:spPr>
        </p:cxnSp>
        <p:cxnSp>
          <p:nvCxnSpPr>
            <p:cNvPr id="936" name="Google Shape;936;p50"/>
            <p:cNvCxnSpPr/>
            <p:nvPr/>
          </p:nvCxnSpPr>
          <p:spPr>
            <a:xfrm flipH="1" rot="-5400000">
              <a:off x="2230" y="1929"/>
              <a:ext cx="518" cy="528"/>
            </a:xfrm>
            <a:prstGeom prst="straightConnector1">
              <a:avLst/>
            </a:prstGeom>
            <a:noFill/>
            <a:ln cap="flat" cmpd="sng" w="25400">
              <a:solidFill>
                <a:srgbClr val="000000"/>
              </a:solidFill>
              <a:prstDash val="solid"/>
              <a:miter lim="800000"/>
              <a:headEnd len="med" w="med" type="none"/>
              <a:tailEnd len="med" w="med" type="none"/>
            </a:ln>
          </p:spPr>
        </p:cxnSp>
        <p:sp>
          <p:nvSpPr>
            <p:cNvPr id="937" name="Google Shape;937;p50"/>
            <p:cNvSpPr/>
            <p:nvPr/>
          </p:nvSpPr>
          <p:spPr>
            <a:xfrm>
              <a:off x="2703" y="2404"/>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38" name="Google Shape;938;p50"/>
            <p:cNvPicPr preferRelativeResize="0"/>
            <p:nvPr/>
          </p:nvPicPr>
          <p:blipFill rotWithShape="1">
            <a:blip r:embed="rId7">
              <a:alphaModFix/>
            </a:blip>
            <a:srcRect b="0" l="0" r="0" t="0"/>
            <a:stretch/>
          </p:blipFill>
          <p:spPr>
            <a:xfrm>
              <a:off x="2765" y="2468"/>
              <a:ext cx="208" cy="209"/>
            </a:xfrm>
            <a:prstGeom prst="rect">
              <a:avLst/>
            </a:prstGeom>
            <a:noFill/>
            <a:ln>
              <a:noFill/>
            </a:ln>
          </p:spPr>
        </p:pic>
        <p:sp>
          <p:nvSpPr>
            <p:cNvPr id="939" name="Google Shape;939;p50"/>
            <p:cNvSpPr/>
            <p:nvPr/>
          </p:nvSpPr>
          <p:spPr>
            <a:xfrm>
              <a:off x="1152" y="2407"/>
              <a:ext cx="340" cy="34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940" name="Google Shape;940;p50"/>
            <p:cNvCxnSpPr/>
            <p:nvPr/>
          </p:nvCxnSpPr>
          <p:spPr>
            <a:xfrm rot="5400000">
              <a:off x="1452" y="1922"/>
              <a:ext cx="535" cy="540"/>
            </a:xfrm>
            <a:prstGeom prst="straightConnector1">
              <a:avLst/>
            </a:prstGeom>
            <a:noFill/>
            <a:ln cap="flat" cmpd="sng" w="25400">
              <a:solidFill>
                <a:srgbClr val="000000"/>
              </a:solidFill>
              <a:prstDash val="solid"/>
              <a:miter lim="800000"/>
              <a:headEnd len="med" w="med" type="none"/>
              <a:tailEnd len="med" w="med" type="none"/>
            </a:ln>
          </p:spPr>
        </p:cxnSp>
        <p:cxnSp>
          <p:nvCxnSpPr>
            <p:cNvPr id="941" name="Google Shape;941;p50"/>
            <p:cNvCxnSpPr/>
            <p:nvPr/>
          </p:nvCxnSpPr>
          <p:spPr>
            <a:xfrm flipH="1" rot="-5400000">
              <a:off x="1455" y="2693"/>
              <a:ext cx="512" cy="523"/>
            </a:xfrm>
            <a:prstGeom prst="straightConnector1">
              <a:avLst/>
            </a:prstGeom>
            <a:noFill/>
            <a:ln cap="flat" cmpd="sng" w="25400">
              <a:solidFill>
                <a:srgbClr val="000000"/>
              </a:solidFill>
              <a:prstDash val="solid"/>
              <a:miter lim="800000"/>
              <a:headEnd len="med" w="med" type="none"/>
              <a:tailEnd len="med" w="med" type="none"/>
            </a:ln>
          </p:spPr>
        </p:cxnSp>
        <p:cxnSp>
          <p:nvCxnSpPr>
            <p:cNvPr id="942" name="Google Shape;942;p50"/>
            <p:cNvCxnSpPr/>
            <p:nvPr/>
          </p:nvCxnSpPr>
          <p:spPr>
            <a:xfrm rot="5400000">
              <a:off x="2988" y="1915"/>
              <a:ext cx="530" cy="535"/>
            </a:xfrm>
            <a:prstGeom prst="straightConnector1">
              <a:avLst/>
            </a:prstGeom>
            <a:noFill/>
            <a:ln cap="flat" cmpd="sng" w="25400">
              <a:solidFill>
                <a:srgbClr val="000000"/>
              </a:solidFill>
              <a:prstDash val="solid"/>
              <a:miter lim="800000"/>
              <a:headEnd len="med" w="med" type="none"/>
              <a:tailEnd len="med" w="med" type="none"/>
            </a:ln>
          </p:spPr>
        </p:cxnSp>
        <p:cxnSp>
          <p:nvCxnSpPr>
            <p:cNvPr id="943" name="Google Shape;943;p50"/>
            <p:cNvCxnSpPr/>
            <p:nvPr/>
          </p:nvCxnSpPr>
          <p:spPr>
            <a:xfrm flipH="1" rot="-5400000">
              <a:off x="2998" y="2689"/>
              <a:ext cx="517" cy="528"/>
            </a:xfrm>
            <a:prstGeom prst="straightConnector1">
              <a:avLst/>
            </a:prstGeom>
            <a:noFill/>
            <a:ln cap="flat" cmpd="sng" w="25400">
              <a:solidFill>
                <a:srgbClr val="000000"/>
              </a:solidFill>
              <a:prstDash val="solid"/>
              <a:miter lim="800000"/>
              <a:headEnd len="med" w="med" type="none"/>
              <a:tailEnd len="med" w="med" type="none"/>
            </a:ln>
          </p:spPr>
        </p:cxnSp>
        <p:pic>
          <p:nvPicPr>
            <p:cNvPr id="944" name="Google Shape;944;p50"/>
            <p:cNvPicPr preferRelativeResize="0"/>
            <p:nvPr/>
          </p:nvPicPr>
          <p:blipFill rotWithShape="1">
            <a:blip r:embed="rId8">
              <a:alphaModFix/>
            </a:blip>
            <a:srcRect b="0" l="0" r="0" t="0"/>
            <a:stretch/>
          </p:blipFill>
          <p:spPr>
            <a:xfrm>
              <a:off x="1226" y="2477"/>
              <a:ext cx="208" cy="222"/>
            </a:xfrm>
            <a:prstGeom prst="rect">
              <a:avLst/>
            </a:prstGeom>
            <a:noFill/>
            <a:ln>
              <a:noFill/>
            </a:ln>
          </p:spPr>
        </p:pic>
        <p:pic>
          <p:nvPicPr>
            <p:cNvPr id="945" name="Google Shape;945;p50"/>
            <p:cNvPicPr preferRelativeResize="0"/>
            <p:nvPr/>
          </p:nvPicPr>
          <p:blipFill rotWithShape="1">
            <a:blip r:embed="rId9">
              <a:alphaModFix/>
            </a:blip>
            <a:srcRect b="0" l="0" r="0" t="0"/>
            <a:stretch/>
          </p:blipFill>
          <p:spPr>
            <a:xfrm>
              <a:off x="1560" y="2911"/>
              <a:ext cx="144" cy="208"/>
            </a:xfrm>
            <a:prstGeom prst="rect">
              <a:avLst/>
            </a:prstGeom>
            <a:noFill/>
            <a:ln>
              <a:noFill/>
            </a:ln>
          </p:spPr>
        </p:pic>
        <p:pic>
          <p:nvPicPr>
            <p:cNvPr id="946" name="Google Shape;946;p50"/>
            <p:cNvPicPr preferRelativeResize="0"/>
            <p:nvPr/>
          </p:nvPicPr>
          <p:blipFill rotWithShape="1">
            <a:blip r:embed="rId10">
              <a:alphaModFix/>
            </a:blip>
            <a:srcRect b="0" l="0" r="0" t="0"/>
            <a:stretch/>
          </p:blipFill>
          <p:spPr>
            <a:xfrm>
              <a:off x="1565" y="1987"/>
              <a:ext cx="160" cy="208"/>
            </a:xfrm>
            <a:prstGeom prst="rect">
              <a:avLst/>
            </a:prstGeom>
            <a:noFill/>
            <a:ln>
              <a:noFill/>
            </a:ln>
          </p:spPr>
        </p:pic>
        <p:pic>
          <p:nvPicPr>
            <p:cNvPr id="947" name="Google Shape;947;p50"/>
            <p:cNvPicPr preferRelativeResize="0"/>
            <p:nvPr/>
          </p:nvPicPr>
          <p:blipFill rotWithShape="1">
            <a:blip r:embed="rId11">
              <a:alphaModFix/>
            </a:blip>
            <a:srcRect b="0" l="0" r="0" t="0"/>
            <a:stretch/>
          </p:blipFill>
          <p:spPr>
            <a:xfrm>
              <a:off x="2816" y="1584"/>
              <a:ext cx="159" cy="223"/>
            </a:xfrm>
            <a:prstGeom prst="rect">
              <a:avLst/>
            </a:prstGeom>
            <a:noFill/>
            <a:ln>
              <a:noFill/>
            </a:ln>
          </p:spPr>
        </p:pic>
        <p:pic>
          <p:nvPicPr>
            <p:cNvPr id="948" name="Google Shape;948;p50"/>
            <p:cNvPicPr preferRelativeResize="0"/>
            <p:nvPr/>
          </p:nvPicPr>
          <p:blipFill rotWithShape="1">
            <a:blip r:embed="rId12">
              <a:alphaModFix/>
            </a:blip>
            <a:srcRect b="0" l="0" r="0" t="0"/>
            <a:stretch/>
          </p:blipFill>
          <p:spPr>
            <a:xfrm>
              <a:off x="3683" y="2431"/>
              <a:ext cx="160" cy="223"/>
            </a:xfrm>
            <a:prstGeom prst="rect">
              <a:avLst/>
            </a:prstGeom>
            <a:noFill/>
            <a:ln>
              <a:noFill/>
            </a:ln>
          </p:spPr>
        </p:pic>
        <p:pic>
          <p:nvPicPr>
            <p:cNvPr id="949" name="Google Shape;949;p50"/>
            <p:cNvPicPr preferRelativeResize="0"/>
            <p:nvPr/>
          </p:nvPicPr>
          <p:blipFill rotWithShape="1">
            <a:blip r:embed="rId13">
              <a:alphaModFix/>
            </a:blip>
            <a:srcRect b="0" l="0" r="0" t="0"/>
            <a:stretch/>
          </p:blipFill>
          <p:spPr>
            <a:xfrm>
              <a:off x="1932" y="2448"/>
              <a:ext cx="160" cy="207"/>
            </a:xfrm>
            <a:prstGeom prst="rect">
              <a:avLst/>
            </a:prstGeom>
            <a:noFill/>
            <a:ln>
              <a:noFill/>
            </a:ln>
          </p:spPr>
        </p:pic>
        <p:pic>
          <p:nvPicPr>
            <p:cNvPr id="950" name="Google Shape;950;p50"/>
            <p:cNvPicPr preferRelativeResize="0"/>
            <p:nvPr/>
          </p:nvPicPr>
          <p:blipFill rotWithShape="1">
            <a:blip r:embed="rId12">
              <a:alphaModFix/>
            </a:blip>
            <a:srcRect b="0" l="0" r="0" t="0"/>
            <a:stretch/>
          </p:blipFill>
          <p:spPr>
            <a:xfrm>
              <a:off x="3077" y="2018"/>
              <a:ext cx="160" cy="223"/>
            </a:xfrm>
            <a:prstGeom prst="rect">
              <a:avLst/>
            </a:prstGeom>
            <a:noFill/>
            <a:ln>
              <a:noFill/>
            </a:ln>
          </p:spPr>
        </p:pic>
        <p:pic>
          <p:nvPicPr>
            <p:cNvPr id="951" name="Google Shape;951;p50"/>
            <p:cNvPicPr preferRelativeResize="0"/>
            <p:nvPr/>
          </p:nvPicPr>
          <p:blipFill rotWithShape="1">
            <a:blip r:embed="rId10">
              <a:alphaModFix/>
            </a:blip>
            <a:srcRect b="0" l="0" r="0" t="0"/>
            <a:stretch/>
          </p:blipFill>
          <p:spPr>
            <a:xfrm>
              <a:off x="2513" y="2882"/>
              <a:ext cx="160" cy="208"/>
            </a:xfrm>
            <a:prstGeom prst="rect">
              <a:avLst/>
            </a:prstGeom>
            <a:noFill/>
            <a:ln>
              <a:noFill/>
            </a:ln>
          </p:spPr>
        </p:pic>
        <p:pic>
          <p:nvPicPr>
            <p:cNvPr id="952" name="Google Shape;952;p50"/>
            <p:cNvPicPr preferRelativeResize="0"/>
            <p:nvPr/>
          </p:nvPicPr>
          <p:blipFill rotWithShape="1">
            <a:blip r:embed="rId9">
              <a:alphaModFix/>
            </a:blip>
            <a:srcRect b="0" l="0" r="0" t="0"/>
            <a:stretch/>
          </p:blipFill>
          <p:spPr>
            <a:xfrm>
              <a:off x="3084" y="2894"/>
              <a:ext cx="144" cy="208"/>
            </a:xfrm>
            <a:prstGeom prst="rect">
              <a:avLst/>
            </a:prstGeom>
            <a:noFill/>
            <a:ln>
              <a:noFill/>
            </a:ln>
          </p:spPr>
        </p:pic>
        <p:pic>
          <p:nvPicPr>
            <p:cNvPr id="953" name="Google Shape;953;p50"/>
            <p:cNvPicPr preferRelativeResize="0"/>
            <p:nvPr/>
          </p:nvPicPr>
          <p:blipFill rotWithShape="1">
            <a:blip r:embed="rId14">
              <a:alphaModFix/>
            </a:blip>
            <a:srcRect b="0" l="0" r="0" t="0"/>
            <a:stretch/>
          </p:blipFill>
          <p:spPr>
            <a:xfrm>
              <a:off x="2808" y="3321"/>
              <a:ext cx="160" cy="208"/>
            </a:xfrm>
            <a:prstGeom prst="rect">
              <a:avLst/>
            </a:prstGeom>
            <a:noFill/>
            <a:ln>
              <a:noFill/>
            </a:ln>
          </p:spPr>
        </p:pic>
        <p:pic>
          <p:nvPicPr>
            <p:cNvPr id="954" name="Google Shape;954;p50"/>
            <p:cNvPicPr preferRelativeResize="0"/>
            <p:nvPr/>
          </p:nvPicPr>
          <p:blipFill rotWithShape="1">
            <a:blip r:embed="rId15">
              <a:alphaModFix/>
            </a:blip>
            <a:srcRect b="0" l="0" r="0" t="0"/>
            <a:stretch/>
          </p:blipFill>
          <p:spPr>
            <a:xfrm>
              <a:off x="2525" y="2054"/>
              <a:ext cx="160" cy="223"/>
            </a:xfrm>
            <a:prstGeom prst="rect">
              <a:avLst/>
            </a:prstGeom>
            <a:noFill/>
            <a:ln>
              <a:noFill/>
            </a:ln>
          </p:spPr>
        </p:pic>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959" name="Shape 959"/>
        <p:cNvGrpSpPr/>
        <p:nvPr/>
      </p:nvGrpSpPr>
      <p:grpSpPr>
        <a:xfrm>
          <a:off x="0" y="0"/>
          <a:ext cx="0" cy="0"/>
          <a:chOff x="0" y="0"/>
          <a:chExt cx="0" cy="0"/>
        </a:xfrm>
      </p:grpSpPr>
      <p:sp>
        <p:nvSpPr>
          <p:cNvPr id="960" name="Google Shape;960;p51"/>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Bài tập</a:t>
            </a:r>
            <a:endParaRPr/>
          </a:p>
        </p:txBody>
      </p:sp>
      <p:sp>
        <p:nvSpPr>
          <p:cNvPr id="961" name="Google Shape;961;p51"/>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spcBef>
                <a:spcPts val="0"/>
              </a:spcBef>
              <a:spcAft>
                <a:spcPts val="0"/>
              </a:spcAft>
              <a:buClr>
                <a:schemeClr val="dk1"/>
              </a:buClr>
              <a:buSzPts val="2800"/>
              <a:buFont typeface="Noto Sans Symbols"/>
              <a:buNone/>
            </a:pPr>
            <a:r>
              <a:t/>
            </a:r>
            <a:endParaRPr sz="2800">
              <a:solidFill>
                <a:schemeClr val="dk1"/>
              </a:solidFill>
              <a:latin typeface="Arial"/>
              <a:ea typeface="Arial"/>
              <a:cs typeface="Arial"/>
              <a:sym typeface="Arial"/>
            </a:endParaRPr>
          </a:p>
        </p:txBody>
      </p:sp>
      <p:sp>
        <p:nvSpPr>
          <p:cNvPr id="962" name="Google Shape;962;p51"/>
          <p:cNvSpPr/>
          <p:nvPr/>
        </p:nvSpPr>
        <p:spPr>
          <a:xfrm>
            <a:off x="3570287" y="1633537"/>
            <a:ext cx="647700" cy="64770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63" name="Google Shape;963;p51"/>
          <p:cNvPicPr preferRelativeResize="0"/>
          <p:nvPr/>
        </p:nvPicPr>
        <p:blipFill rotWithShape="1">
          <a:blip r:embed="rId3">
            <a:alphaModFix/>
          </a:blip>
          <a:srcRect b="0" l="0" r="0" t="0"/>
          <a:stretch/>
        </p:blipFill>
        <p:spPr>
          <a:xfrm>
            <a:off x="3713162" y="1755775"/>
            <a:ext cx="423862" cy="395287"/>
          </a:xfrm>
          <a:prstGeom prst="rect">
            <a:avLst/>
          </a:prstGeom>
          <a:noFill/>
          <a:ln>
            <a:noFill/>
          </a:ln>
        </p:spPr>
      </p:pic>
      <p:cxnSp>
        <p:nvCxnSpPr>
          <p:cNvPr id="964" name="Google Shape;964;p51"/>
          <p:cNvCxnSpPr/>
          <p:nvPr/>
        </p:nvCxnSpPr>
        <p:spPr>
          <a:xfrm>
            <a:off x="4219575" y="1971675"/>
            <a:ext cx="2265362" cy="0"/>
          </a:xfrm>
          <a:prstGeom prst="straightConnector1">
            <a:avLst/>
          </a:prstGeom>
          <a:noFill/>
          <a:ln cap="flat" cmpd="sng" w="25400">
            <a:solidFill>
              <a:srgbClr val="000000"/>
            </a:solidFill>
            <a:prstDash val="solid"/>
            <a:miter lim="800000"/>
            <a:headEnd len="med" w="med" type="none"/>
            <a:tailEnd len="med" w="med" type="none"/>
          </a:ln>
        </p:spPr>
      </p:cxnSp>
      <p:sp>
        <p:nvSpPr>
          <p:cNvPr id="965" name="Google Shape;965;p51"/>
          <p:cNvSpPr/>
          <p:nvPr/>
        </p:nvSpPr>
        <p:spPr>
          <a:xfrm>
            <a:off x="6499225" y="1639887"/>
            <a:ext cx="647700" cy="646112"/>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66" name="Google Shape;966;p51"/>
          <p:cNvPicPr preferRelativeResize="0"/>
          <p:nvPr/>
        </p:nvPicPr>
        <p:blipFill rotWithShape="1">
          <a:blip r:embed="rId4">
            <a:alphaModFix/>
          </a:blip>
          <a:srcRect b="0" l="0" r="0" t="0"/>
          <a:stretch/>
        </p:blipFill>
        <p:spPr>
          <a:xfrm>
            <a:off x="6626225" y="1760537"/>
            <a:ext cx="366712" cy="396875"/>
          </a:xfrm>
          <a:prstGeom prst="rect">
            <a:avLst/>
          </a:prstGeom>
          <a:noFill/>
          <a:ln>
            <a:noFill/>
          </a:ln>
        </p:spPr>
      </p:pic>
      <p:sp>
        <p:nvSpPr>
          <p:cNvPr id="967" name="Google Shape;967;p51"/>
          <p:cNvSpPr/>
          <p:nvPr/>
        </p:nvSpPr>
        <p:spPr>
          <a:xfrm>
            <a:off x="3570287" y="4510087"/>
            <a:ext cx="647700" cy="646112"/>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68" name="Google Shape;968;p51"/>
          <p:cNvPicPr preferRelativeResize="0"/>
          <p:nvPr/>
        </p:nvPicPr>
        <p:blipFill rotWithShape="1">
          <a:blip r:embed="rId5">
            <a:alphaModFix/>
          </a:blip>
          <a:srcRect b="0" l="0" r="0" t="0"/>
          <a:stretch/>
        </p:blipFill>
        <p:spPr>
          <a:xfrm>
            <a:off x="3700462" y="4630737"/>
            <a:ext cx="363537" cy="396875"/>
          </a:xfrm>
          <a:prstGeom prst="rect">
            <a:avLst/>
          </a:prstGeom>
          <a:noFill/>
          <a:ln>
            <a:noFill/>
          </a:ln>
        </p:spPr>
      </p:pic>
      <p:cxnSp>
        <p:nvCxnSpPr>
          <p:cNvPr id="969" name="Google Shape;969;p51"/>
          <p:cNvCxnSpPr/>
          <p:nvPr/>
        </p:nvCxnSpPr>
        <p:spPr>
          <a:xfrm>
            <a:off x="4219575" y="4848225"/>
            <a:ext cx="2260600" cy="0"/>
          </a:xfrm>
          <a:prstGeom prst="straightConnector1">
            <a:avLst/>
          </a:prstGeom>
          <a:noFill/>
          <a:ln cap="flat" cmpd="sng" w="25400">
            <a:solidFill>
              <a:srgbClr val="000000"/>
            </a:solidFill>
            <a:prstDash val="solid"/>
            <a:miter lim="800000"/>
            <a:headEnd len="med" w="med" type="none"/>
            <a:tailEnd len="med" w="med" type="none"/>
          </a:ln>
        </p:spPr>
      </p:cxnSp>
      <p:sp>
        <p:nvSpPr>
          <p:cNvPr id="970" name="Google Shape;970;p51"/>
          <p:cNvSpPr/>
          <p:nvPr/>
        </p:nvSpPr>
        <p:spPr>
          <a:xfrm>
            <a:off x="6499225" y="4516437"/>
            <a:ext cx="647700" cy="64770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71" name="Google Shape;971;p51"/>
          <p:cNvPicPr preferRelativeResize="0"/>
          <p:nvPr/>
        </p:nvPicPr>
        <p:blipFill rotWithShape="1">
          <a:blip r:embed="rId6">
            <a:alphaModFix/>
          </a:blip>
          <a:srcRect b="0" l="0" r="0" t="0"/>
          <a:stretch/>
        </p:blipFill>
        <p:spPr>
          <a:xfrm>
            <a:off x="6654800" y="4638675"/>
            <a:ext cx="365125" cy="396875"/>
          </a:xfrm>
          <a:prstGeom prst="rect">
            <a:avLst/>
          </a:prstGeom>
          <a:noFill/>
          <a:ln>
            <a:noFill/>
          </a:ln>
        </p:spPr>
      </p:pic>
      <p:cxnSp>
        <p:nvCxnSpPr>
          <p:cNvPr id="972" name="Google Shape;972;p51"/>
          <p:cNvCxnSpPr/>
          <p:nvPr/>
        </p:nvCxnSpPr>
        <p:spPr>
          <a:xfrm flipH="1" rot="-5400000">
            <a:off x="2775743" y="3393281"/>
            <a:ext cx="2222500" cy="1587"/>
          </a:xfrm>
          <a:prstGeom prst="straightConnector1">
            <a:avLst/>
          </a:prstGeom>
          <a:noFill/>
          <a:ln cap="flat" cmpd="sng" w="25400">
            <a:solidFill>
              <a:srgbClr val="000000"/>
            </a:solidFill>
            <a:prstDash val="solid"/>
            <a:miter lim="800000"/>
            <a:headEnd len="med" w="med" type="none"/>
            <a:tailEnd len="med" w="med" type="none"/>
          </a:ln>
        </p:spPr>
      </p:cxnSp>
      <p:cxnSp>
        <p:nvCxnSpPr>
          <p:cNvPr id="973" name="Google Shape;973;p51"/>
          <p:cNvCxnSpPr/>
          <p:nvPr/>
        </p:nvCxnSpPr>
        <p:spPr>
          <a:xfrm rot="5400000">
            <a:off x="5716587" y="3398837"/>
            <a:ext cx="2232025" cy="0"/>
          </a:xfrm>
          <a:prstGeom prst="straightConnector1">
            <a:avLst/>
          </a:prstGeom>
          <a:noFill/>
          <a:ln cap="flat" cmpd="sng" w="25400">
            <a:solidFill>
              <a:srgbClr val="000000"/>
            </a:solidFill>
            <a:prstDash val="solid"/>
            <a:miter lim="800000"/>
            <a:headEnd len="med" w="med" type="none"/>
            <a:tailEnd len="med" w="med" type="none"/>
          </a:ln>
        </p:spPr>
      </p:cxnSp>
      <p:cxnSp>
        <p:nvCxnSpPr>
          <p:cNvPr id="974" name="Google Shape;974;p51"/>
          <p:cNvCxnSpPr/>
          <p:nvPr/>
        </p:nvCxnSpPr>
        <p:spPr>
          <a:xfrm rot="5400000">
            <a:off x="4122737" y="3636962"/>
            <a:ext cx="976312" cy="985837"/>
          </a:xfrm>
          <a:prstGeom prst="straightConnector1">
            <a:avLst/>
          </a:prstGeom>
          <a:noFill/>
          <a:ln cap="flat" cmpd="sng" w="25400">
            <a:solidFill>
              <a:srgbClr val="000000"/>
            </a:solidFill>
            <a:prstDash val="solid"/>
            <a:miter lim="800000"/>
            <a:headEnd len="med" w="med" type="none"/>
            <a:tailEnd len="med" w="med" type="none"/>
          </a:ln>
        </p:spPr>
      </p:cxnSp>
      <p:cxnSp>
        <p:nvCxnSpPr>
          <p:cNvPr id="975" name="Google Shape;975;p51"/>
          <p:cNvCxnSpPr/>
          <p:nvPr/>
        </p:nvCxnSpPr>
        <p:spPr>
          <a:xfrm flipH="1" rot="-5400000">
            <a:off x="4112418" y="2194718"/>
            <a:ext cx="985837" cy="1006475"/>
          </a:xfrm>
          <a:prstGeom prst="straightConnector1">
            <a:avLst/>
          </a:prstGeom>
          <a:noFill/>
          <a:ln cap="flat" cmpd="sng" w="25400">
            <a:solidFill>
              <a:srgbClr val="000000"/>
            </a:solidFill>
            <a:prstDash val="solid"/>
            <a:miter lim="800000"/>
            <a:headEnd len="med" w="med" type="none"/>
            <a:tailEnd len="med" w="med" type="none"/>
          </a:ln>
        </p:spPr>
      </p:cxnSp>
      <p:sp>
        <p:nvSpPr>
          <p:cNvPr id="976" name="Google Shape;976;p51"/>
          <p:cNvSpPr/>
          <p:nvPr/>
        </p:nvSpPr>
        <p:spPr>
          <a:xfrm>
            <a:off x="5013325" y="3098800"/>
            <a:ext cx="647700" cy="64770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977" name="Google Shape;977;p51"/>
          <p:cNvPicPr preferRelativeResize="0"/>
          <p:nvPr/>
        </p:nvPicPr>
        <p:blipFill rotWithShape="1">
          <a:blip r:embed="rId7">
            <a:alphaModFix/>
          </a:blip>
          <a:srcRect b="0" l="0" r="0" t="0"/>
          <a:stretch/>
        </p:blipFill>
        <p:spPr>
          <a:xfrm>
            <a:off x="5130800" y="3221037"/>
            <a:ext cx="396875" cy="396875"/>
          </a:xfrm>
          <a:prstGeom prst="rect">
            <a:avLst/>
          </a:prstGeom>
          <a:noFill/>
          <a:ln>
            <a:noFill/>
          </a:ln>
        </p:spPr>
      </p:pic>
      <p:sp>
        <p:nvSpPr>
          <p:cNvPr id="978" name="Google Shape;978;p51"/>
          <p:cNvSpPr/>
          <p:nvPr/>
        </p:nvSpPr>
        <p:spPr>
          <a:xfrm>
            <a:off x="2057400" y="3105150"/>
            <a:ext cx="647700" cy="646112"/>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979" name="Google Shape;979;p51"/>
          <p:cNvCxnSpPr/>
          <p:nvPr/>
        </p:nvCxnSpPr>
        <p:spPr>
          <a:xfrm rot="5400000">
            <a:off x="2631281" y="2182018"/>
            <a:ext cx="1017587" cy="1028700"/>
          </a:xfrm>
          <a:prstGeom prst="straightConnector1">
            <a:avLst/>
          </a:prstGeom>
          <a:noFill/>
          <a:ln cap="flat" cmpd="sng" w="25400">
            <a:solidFill>
              <a:srgbClr val="000000"/>
            </a:solidFill>
            <a:prstDash val="solid"/>
            <a:miter lim="800000"/>
            <a:headEnd len="med" w="med" type="none"/>
            <a:tailEnd len="med" w="med" type="none"/>
          </a:ln>
        </p:spPr>
      </p:cxnSp>
      <p:cxnSp>
        <p:nvCxnSpPr>
          <p:cNvPr id="980" name="Google Shape;980;p51"/>
          <p:cNvCxnSpPr/>
          <p:nvPr/>
        </p:nvCxnSpPr>
        <p:spPr>
          <a:xfrm flipH="1" rot="-5400000">
            <a:off x="2636043" y="3650456"/>
            <a:ext cx="974725" cy="995362"/>
          </a:xfrm>
          <a:prstGeom prst="straightConnector1">
            <a:avLst/>
          </a:prstGeom>
          <a:noFill/>
          <a:ln cap="flat" cmpd="sng" w="25400">
            <a:solidFill>
              <a:srgbClr val="000000"/>
            </a:solidFill>
            <a:prstDash val="solid"/>
            <a:miter lim="800000"/>
            <a:headEnd len="med" w="med" type="none"/>
            <a:tailEnd len="med" w="med" type="none"/>
          </a:ln>
        </p:spPr>
      </p:cxnSp>
      <p:cxnSp>
        <p:nvCxnSpPr>
          <p:cNvPr id="981" name="Google Shape;981;p51"/>
          <p:cNvCxnSpPr/>
          <p:nvPr/>
        </p:nvCxnSpPr>
        <p:spPr>
          <a:xfrm rot="5400000">
            <a:off x="5557043" y="2167731"/>
            <a:ext cx="1009650" cy="1020762"/>
          </a:xfrm>
          <a:prstGeom prst="straightConnector1">
            <a:avLst/>
          </a:prstGeom>
          <a:noFill/>
          <a:ln cap="flat" cmpd="sng" w="25400">
            <a:solidFill>
              <a:srgbClr val="000000"/>
            </a:solidFill>
            <a:prstDash val="solid"/>
            <a:miter lim="800000"/>
            <a:headEnd len="med" w="med" type="none"/>
            <a:tailEnd len="med" w="med" type="none"/>
          </a:ln>
        </p:spPr>
      </p:cxnSp>
      <p:cxnSp>
        <p:nvCxnSpPr>
          <p:cNvPr id="982" name="Google Shape;982;p51"/>
          <p:cNvCxnSpPr/>
          <p:nvPr/>
        </p:nvCxnSpPr>
        <p:spPr>
          <a:xfrm flipH="1" rot="-5400000">
            <a:off x="5576887" y="3641725"/>
            <a:ext cx="984250" cy="1006475"/>
          </a:xfrm>
          <a:prstGeom prst="straightConnector1">
            <a:avLst/>
          </a:prstGeom>
          <a:noFill/>
          <a:ln cap="flat" cmpd="sng" w="25400">
            <a:solidFill>
              <a:srgbClr val="000000"/>
            </a:solidFill>
            <a:prstDash val="solid"/>
            <a:miter lim="800000"/>
            <a:headEnd len="med" w="med" type="none"/>
            <a:tailEnd len="med" w="med" type="none"/>
          </a:ln>
        </p:spPr>
      </p:cxnSp>
      <p:pic>
        <p:nvPicPr>
          <p:cNvPr id="983" name="Google Shape;983;p51"/>
          <p:cNvPicPr preferRelativeResize="0"/>
          <p:nvPr/>
        </p:nvPicPr>
        <p:blipFill rotWithShape="1">
          <a:blip r:embed="rId8">
            <a:alphaModFix/>
          </a:blip>
          <a:srcRect b="0" l="0" r="0" t="0"/>
          <a:stretch/>
        </p:blipFill>
        <p:spPr>
          <a:xfrm>
            <a:off x="2198687" y="3238500"/>
            <a:ext cx="395287" cy="422275"/>
          </a:xfrm>
          <a:prstGeom prst="rect">
            <a:avLst/>
          </a:prstGeom>
          <a:noFill/>
          <a:ln>
            <a:noFill/>
          </a:ln>
        </p:spPr>
      </p:pic>
      <p:pic>
        <p:nvPicPr>
          <p:cNvPr id="984" name="Google Shape;984;p51"/>
          <p:cNvPicPr preferRelativeResize="0"/>
          <p:nvPr/>
        </p:nvPicPr>
        <p:blipFill rotWithShape="1">
          <a:blip r:embed="rId9">
            <a:alphaModFix/>
          </a:blip>
          <a:srcRect b="0" l="0" r="0" t="0"/>
          <a:stretch/>
        </p:blipFill>
        <p:spPr>
          <a:xfrm>
            <a:off x="2835275" y="4064000"/>
            <a:ext cx="274637" cy="395287"/>
          </a:xfrm>
          <a:prstGeom prst="rect">
            <a:avLst/>
          </a:prstGeom>
          <a:noFill/>
          <a:ln>
            <a:noFill/>
          </a:ln>
        </p:spPr>
      </p:pic>
      <p:pic>
        <p:nvPicPr>
          <p:cNvPr id="985" name="Google Shape;985;p51"/>
          <p:cNvPicPr preferRelativeResize="0"/>
          <p:nvPr/>
        </p:nvPicPr>
        <p:blipFill rotWithShape="1">
          <a:blip r:embed="rId10">
            <a:alphaModFix/>
          </a:blip>
          <a:srcRect b="0" l="0" r="0" t="0"/>
          <a:stretch/>
        </p:blipFill>
        <p:spPr>
          <a:xfrm>
            <a:off x="2844800" y="2305050"/>
            <a:ext cx="304800" cy="396875"/>
          </a:xfrm>
          <a:prstGeom prst="rect">
            <a:avLst/>
          </a:prstGeom>
          <a:noFill/>
          <a:ln>
            <a:noFill/>
          </a:ln>
        </p:spPr>
      </p:pic>
      <p:pic>
        <p:nvPicPr>
          <p:cNvPr id="986" name="Google Shape;986;p51"/>
          <p:cNvPicPr preferRelativeResize="0"/>
          <p:nvPr/>
        </p:nvPicPr>
        <p:blipFill rotWithShape="1">
          <a:blip r:embed="rId11">
            <a:alphaModFix/>
          </a:blip>
          <a:srcRect b="0" l="0" r="0" t="0"/>
          <a:stretch/>
        </p:blipFill>
        <p:spPr>
          <a:xfrm>
            <a:off x="5227637" y="1538287"/>
            <a:ext cx="303212" cy="423862"/>
          </a:xfrm>
          <a:prstGeom prst="rect">
            <a:avLst/>
          </a:prstGeom>
          <a:noFill/>
          <a:ln>
            <a:noFill/>
          </a:ln>
        </p:spPr>
      </p:pic>
      <p:pic>
        <p:nvPicPr>
          <p:cNvPr id="987" name="Google Shape;987;p51"/>
          <p:cNvPicPr preferRelativeResize="0"/>
          <p:nvPr/>
        </p:nvPicPr>
        <p:blipFill rotWithShape="1">
          <a:blip r:embed="rId12">
            <a:alphaModFix/>
          </a:blip>
          <a:srcRect b="0" l="0" r="0" t="0"/>
          <a:stretch/>
        </p:blipFill>
        <p:spPr>
          <a:xfrm>
            <a:off x="6880225" y="3151187"/>
            <a:ext cx="304800" cy="423862"/>
          </a:xfrm>
          <a:prstGeom prst="rect">
            <a:avLst/>
          </a:prstGeom>
          <a:noFill/>
          <a:ln>
            <a:noFill/>
          </a:ln>
        </p:spPr>
      </p:pic>
      <p:pic>
        <p:nvPicPr>
          <p:cNvPr id="988" name="Google Shape;988;p51"/>
          <p:cNvPicPr preferRelativeResize="0"/>
          <p:nvPr/>
        </p:nvPicPr>
        <p:blipFill rotWithShape="1">
          <a:blip r:embed="rId13">
            <a:alphaModFix/>
          </a:blip>
          <a:srcRect b="0" l="0" r="0" t="0"/>
          <a:stretch/>
        </p:blipFill>
        <p:spPr>
          <a:xfrm>
            <a:off x="3543300" y="3182937"/>
            <a:ext cx="304800" cy="393700"/>
          </a:xfrm>
          <a:prstGeom prst="rect">
            <a:avLst/>
          </a:prstGeom>
          <a:noFill/>
          <a:ln>
            <a:noFill/>
          </a:ln>
        </p:spPr>
      </p:pic>
      <p:pic>
        <p:nvPicPr>
          <p:cNvPr id="989" name="Google Shape;989;p51"/>
          <p:cNvPicPr preferRelativeResize="0"/>
          <p:nvPr/>
        </p:nvPicPr>
        <p:blipFill rotWithShape="1">
          <a:blip r:embed="rId14">
            <a:alphaModFix/>
          </a:blip>
          <a:srcRect b="0" l="0" r="0" t="0"/>
          <a:stretch/>
        </p:blipFill>
        <p:spPr>
          <a:xfrm>
            <a:off x="5726112" y="2363787"/>
            <a:ext cx="304800" cy="425450"/>
          </a:xfrm>
          <a:prstGeom prst="rect">
            <a:avLst/>
          </a:prstGeom>
          <a:noFill/>
          <a:ln>
            <a:noFill/>
          </a:ln>
        </p:spPr>
      </p:pic>
      <p:pic>
        <p:nvPicPr>
          <p:cNvPr id="990" name="Google Shape;990;p51"/>
          <p:cNvPicPr preferRelativeResize="0"/>
          <p:nvPr/>
        </p:nvPicPr>
        <p:blipFill rotWithShape="1">
          <a:blip r:embed="rId10">
            <a:alphaModFix/>
          </a:blip>
          <a:srcRect b="0" l="0" r="0" t="0"/>
          <a:stretch/>
        </p:blipFill>
        <p:spPr>
          <a:xfrm>
            <a:off x="4651375" y="4008437"/>
            <a:ext cx="304800" cy="396875"/>
          </a:xfrm>
          <a:prstGeom prst="rect">
            <a:avLst/>
          </a:prstGeom>
          <a:noFill/>
          <a:ln>
            <a:noFill/>
          </a:ln>
        </p:spPr>
      </p:pic>
      <p:pic>
        <p:nvPicPr>
          <p:cNvPr id="991" name="Google Shape;991;p51"/>
          <p:cNvPicPr preferRelativeResize="0"/>
          <p:nvPr/>
        </p:nvPicPr>
        <p:blipFill rotWithShape="1">
          <a:blip r:embed="rId9">
            <a:alphaModFix/>
          </a:blip>
          <a:srcRect b="0" l="0" r="0" t="0"/>
          <a:stretch/>
        </p:blipFill>
        <p:spPr>
          <a:xfrm>
            <a:off x="5738812" y="4032250"/>
            <a:ext cx="274637" cy="395287"/>
          </a:xfrm>
          <a:prstGeom prst="rect">
            <a:avLst/>
          </a:prstGeom>
          <a:noFill/>
          <a:ln>
            <a:noFill/>
          </a:ln>
        </p:spPr>
      </p:pic>
      <p:pic>
        <p:nvPicPr>
          <p:cNvPr id="992" name="Google Shape;992;p51"/>
          <p:cNvPicPr preferRelativeResize="0"/>
          <p:nvPr/>
        </p:nvPicPr>
        <p:blipFill rotWithShape="1">
          <a:blip r:embed="rId15">
            <a:alphaModFix/>
          </a:blip>
          <a:srcRect b="0" l="0" r="0" t="0"/>
          <a:stretch/>
        </p:blipFill>
        <p:spPr>
          <a:xfrm>
            <a:off x="5213350" y="4845050"/>
            <a:ext cx="304800" cy="395287"/>
          </a:xfrm>
          <a:prstGeom prst="rect">
            <a:avLst/>
          </a:prstGeom>
          <a:noFill/>
          <a:ln>
            <a:noFill/>
          </a:ln>
        </p:spPr>
      </p:pic>
      <p:pic>
        <p:nvPicPr>
          <p:cNvPr id="993" name="Google Shape;993;p51"/>
          <p:cNvPicPr preferRelativeResize="0"/>
          <p:nvPr/>
        </p:nvPicPr>
        <p:blipFill rotWithShape="1">
          <a:blip r:embed="rId16">
            <a:alphaModFix/>
          </a:blip>
          <a:srcRect b="0" l="0" r="0" t="0"/>
          <a:stretch/>
        </p:blipFill>
        <p:spPr>
          <a:xfrm>
            <a:off x="4673600" y="2433637"/>
            <a:ext cx="304800" cy="423862"/>
          </a:xfrm>
          <a:prstGeom prst="rect">
            <a:avLst/>
          </a:prstGeom>
          <a:noFill/>
          <a:ln>
            <a:noFill/>
          </a:ln>
        </p:spPr>
      </p:pic>
      <p:sp>
        <p:nvSpPr>
          <p:cNvPr id="994" name="Google Shape;994;p51"/>
          <p:cNvSpPr txBox="1"/>
          <p:nvPr/>
        </p:nvSpPr>
        <p:spPr>
          <a:xfrm>
            <a:off x="3429000" y="1112837"/>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(0,∅)</a:t>
            </a:r>
            <a:endParaRPr/>
          </a:p>
        </p:txBody>
      </p:sp>
      <p:sp>
        <p:nvSpPr>
          <p:cNvPr id="995" name="Google Shape;995;p51"/>
          <p:cNvSpPr txBox="1"/>
          <p:nvPr/>
        </p:nvSpPr>
        <p:spPr>
          <a:xfrm>
            <a:off x="6324600" y="1081087"/>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(3,A)</a:t>
            </a:r>
            <a:endParaRPr/>
          </a:p>
        </p:txBody>
      </p:sp>
      <p:sp>
        <p:nvSpPr>
          <p:cNvPr id="996" name="Google Shape;996;p51"/>
          <p:cNvSpPr txBox="1"/>
          <p:nvPr/>
        </p:nvSpPr>
        <p:spPr>
          <a:xfrm>
            <a:off x="990600" y="3138487"/>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(2,A)</a:t>
            </a:r>
            <a:endParaRPr/>
          </a:p>
        </p:txBody>
      </p:sp>
      <p:sp>
        <p:nvSpPr>
          <p:cNvPr id="997" name="Google Shape;997;p51"/>
          <p:cNvSpPr txBox="1"/>
          <p:nvPr/>
        </p:nvSpPr>
        <p:spPr>
          <a:xfrm>
            <a:off x="3352800" y="5119687"/>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(4,A)</a:t>
            </a:r>
            <a:endParaRPr/>
          </a:p>
        </p:txBody>
      </p:sp>
      <p:sp>
        <p:nvSpPr>
          <p:cNvPr id="998" name="Google Shape;998;p51"/>
          <p:cNvSpPr txBox="1"/>
          <p:nvPr/>
        </p:nvSpPr>
        <p:spPr>
          <a:xfrm>
            <a:off x="4835525" y="2614612"/>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(6,A)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003" name="Shape 1003"/>
        <p:cNvGrpSpPr/>
        <p:nvPr/>
      </p:nvGrpSpPr>
      <p:grpSpPr>
        <a:xfrm>
          <a:off x="0" y="0"/>
          <a:ext cx="0" cy="0"/>
          <a:chOff x="0" y="0"/>
          <a:chExt cx="0" cy="0"/>
        </a:xfrm>
      </p:grpSpPr>
      <p:sp>
        <p:nvSpPr>
          <p:cNvPr id="1004" name="Google Shape;1004;p52"/>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Bài tập</a:t>
            </a:r>
            <a:endParaRPr/>
          </a:p>
        </p:txBody>
      </p:sp>
      <p:sp>
        <p:nvSpPr>
          <p:cNvPr id="1005" name="Google Shape;1005;p52"/>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spcBef>
                <a:spcPts val="0"/>
              </a:spcBef>
              <a:spcAft>
                <a:spcPts val="0"/>
              </a:spcAft>
              <a:buClr>
                <a:schemeClr val="dk1"/>
              </a:buClr>
              <a:buSzPts val="2800"/>
              <a:buFont typeface="Noto Sans Symbols"/>
              <a:buNone/>
            </a:pPr>
            <a:r>
              <a:t/>
            </a:r>
            <a:endParaRPr sz="2800">
              <a:solidFill>
                <a:schemeClr val="dk1"/>
              </a:solidFill>
              <a:latin typeface="Arial"/>
              <a:ea typeface="Arial"/>
              <a:cs typeface="Arial"/>
              <a:sym typeface="Arial"/>
            </a:endParaRPr>
          </a:p>
        </p:txBody>
      </p:sp>
      <p:sp>
        <p:nvSpPr>
          <p:cNvPr id="1006" name="Google Shape;1006;p52"/>
          <p:cNvSpPr/>
          <p:nvPr/>
        </p:nvSpPr>
        <p:spPr>
          <a:xfrm>
            <a:off x="3798887" y="1633537"/>
            <a:ext cx="647700" cy="647700"/>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07" name="Google Shape;1007;p52"/>
          <p:cNvPicPr preferRelativeResize="0"/>
          <p:nvPr/>
        </p:nvPicPr>
        <p:blipFill rotWithShape="1">
          <a:blip r:embed="rId3">
            <a:alphaModFix/>
          </a:blip>
          <a:srcRect b="0" l="0" r="0" t="0"/>
          <a:stretch/>
        </p:blipFill>
        <p:spPr>
          <a:xfrm>
            <a:off x="3941762" y="1755775"/>
            <a:ext cx="423862" cy="395287"/>
          </a:xfrm>
          <a:prstGeom prst="rect">
            <a:avLst/>
          </a:prstGeom>
          <a:noFill/>
          <a:ln>
            <a:noFill/>
          </a:ln>
        </p:spPr>
      </p:pic>
      <p:cxnSp>
        <p:nvCxnSpPr>
          <p:cNvPr id="1008" name="Google Shape;1008;p52"/>
          <p:cNvCxnSpPr/>
          <p:nvPr/>
        </p:nvCxnSpPr>
        <p:spPr>
          <a:xfrm>
            <a:off x="4448175" y="1971675"/>
            <a:ext cx="2265362" cy="0"/>
          </a:xfrm>
          <a:prstGeom prst="straightConnector1">
            <a:avLst/>
          </a:prstGeom>
          <a:noFill/>
          <a:ln cap="flat" cmpd="sng" w="25400">
            <a:solidFill>
              <a:srgbClr val="000000"/>
            </a:solidFill>
            <a:prstDash val="solid"/>
            <a:miter lim="800000"/>
            <a:headEnd len="med" w="med" type="none"/>
            <a:tailEnd len="med" w="med" type="none"/>
          </a:ln>
        </p:spPr>
      </p:cxnSp>
      <p:sp>
        <p:nvSpPr>
          <p:cNvPr id="1009" name="Google Shape;1009;p52"/>
          <p:cNvSpPr/>
          <p:nvPr/>
        </p:nvSpPr>
        <p:spPr>
          <a:xfrm>
            <a:off x="6727825" y="1639887"/>
            <a:ext cx="647700" cy="646112"/>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10" name="Google Shape;1010;p52"/>
          <p:cNvPicPr preferRelativeResize="0"/>
          <p:nvPr/>
        </p:nvPicPr>
        <p:blipFill rotWithShape="1">
          <a:blip r:embed="rId4">
            <a:alphaModFix/>
          </a:blip>
          <a:srcRect b="0" l="0" r="0" t="0"/>
          <a:stretch/>
        </p:blipFill>
        <p:spPr>
          <a:xfrm>
            <a:off x="6854825" y="1760537"/>
            <a:ext cx="366712" cy="396875"/>
          </a:xfrm>
          <a:prstGeom prst="rect">
            <a:avLst/>
          </a:prstGeom>
          <a:noFill/>
          <a:ln>
            <a:noFill/>
          </a:ln>
        </p:spPr>
      </p:pic>
      <p:sp>
        <p:nvSpPr>
          <p:cNvPr id="1011" name="Google Shape;1011;p52"/>
          <p:cNvSpPr/>
          <p:nvPr/>
        </p:nvSpPr>
        <p:spPr>
          <a:xfrm>
            <a:off x="3798887" y="4510087"/>
            <a:ext cx="647700" cy="646112"/>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12" name="Google Shape;1012;p52"/>
          <p:cNvPicPr preferRelativeResize="0"/>
          <p:nvPr/>
        </p:nvPicPr>
        <p:blipFill rotWithShape="1">
          <a:blip r:embed="rId5">
            <a:alphaModFix/>
          </a:blip>
          <a:srcRect b="0" l="0" r="0" t="0"/>
          <a:stretch/>
        </p:blipFill>
        <p:spPr>
          <a:xfrm>
            <a:off x="3929062" y="4630737"/>
            <a:ext cx="363537" cy="396875"/>
          </a:xfrm>
          <a:prstGeom prst="rect">
            <a:avLst/>
          </a:prstGeom>
          <a:noFill/>
          <a:ln>
            <a:noFill/>
          </a:ln>
        </p:spPr>
      </p:pic>
      <p:cxnSp>
        <p:nvCxnSpPr>
          <p:cNvPr id="1013" name="Google Shape;1013;p52"/>
          <p:cNvCxnSpPr/>
          <p:nvPr/>
        </p:nvCxnSpPr>
        <p:spPr>
          <a:xfrm>
            <a:off x="4448175" y="4848225"/>
            <a:ext cx="2260600" cy="0"/>
          </a:xfrm>
          <a:prstGeom prst="straightConnector1">
            <a:avLst/>
          </a:prstGeom>
          <a:noFill/>
          <a:ln cap="flat" cmpd="sng" w="25400">
            <a:solidFill>
              <a:srgbClr val="000000"/>
            </a:solidFill>
            <a:prstDash val="solid"/>
            <a:miter lim="800000"/>
            <a:headEnd len="med" w="med" type="none"/>
            <a:tailEnd len="med" w="med" type="none"/>
          </a:ln>
        </p:spPr>
      </p:cxnSp>
      <p:sp>
        <p:nvSpPr>
          <p:cNvPr id="1014" name="Google Shape;1014;p52"/>
          <p:cNvSpPr/>
          <p:nvPr/>
        </p:nvSpPr>
        <p:spPr>
          <a:xfrm>
            <a:off x="6727825" y="4516437"/>
            <a:ext cx="647700" cy="64770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15" name="Google Shape;1015;p52"/>
          <p:cNvPicPr preferRelativeResize="0"/>
          <p:nvPr/>
        </p:nvPicPr>
        <p:blipFill rotWithShape="1">
          <a:blip r:embed="rId6">
            <a:alphaModFix/>
          </a:blip>
          <a:srcRect b="0" l="0" r="0" t="0"/>
          <a:stretch/>
        </p:blipFill>
        <p:spPr>
          <a:xfrm>
            <a:off x="6883400" y="4638675"/>
            <a:ext cx="365125" cy="396875"/>
          </a:xfrm>
          <a:prstGeom prst="rect">
            <a:avLst/>
          </a:prstGeom>
          <a:noFill/>
          <a:ln>
            <a:noFill/>
          </a:ln>
        </p:spPr>
      </p:pic>
      <p:cxnSp>
        <p:nvCxnSpPr>
          <p:cNvPr id="1016" name="Google Shape;1016;p52"/>
          <p:cNvCxnSpPr/>
          <p:nvPr/>
        </p:nvCxnSpPr>
        <p:spPr>
          <a:xfrm flipH="1" rot="-5400000">
            <a:off x="3004343" y="3393281"/>
            <a:ext cx="2222500" cy="1587"/>
          </a:xfrm>
          <a:prstGeom prst="straightConnector1">
            <a:avLst/>
          </a:prstGeom>
          <a:noFill/>
          <a:ln cap="flat" cmpd="sng" w="25400">
            <a:solidFill>
              <a:srgbClr val="000000"/>
            </a:solidFill>
            <a:prstDash val="solid"/>
            <a:miter lim="800000"/>
            <a:headEnd len="med" w="med" type="none"/>
            <a:tailEnd len="med" w="med" type="none"/>
          </a:ln>
        </p:spPr>
      </p:cxnSp>
      <p:cxnSp>
        <p:nvCxnSpPr>
          <p:cNvPr id="1017" name="Google Shape;1017;p52"/>
          <p:cNvCxnSpPr/>
          <p:nvPr/>
        </p:nvCxnSpPr>
        <p:spPr>
          <a:xfrm rot="5400000">
            <a:off x="5945187" y="3398837"/>
            <a:ext cx="2232025" cy="0"/>
          </a:xfrm>
          <a:prstGeom prst="straightConnector1">
            <a:avLst/>
          </a:prstGeom>
          <a:noFill/>
          <a:ln cap="flat" cmpd="sng" w="25400">
            <a:solidFill>
              <a:srgbClr val="000000"/>
            </a:solidFill>
            <a:prstDash val="solid"/>
            <a:miter lim="800000"/>
            <a:headEnd len="med" w="med" type="none"/>
            <a:tailEnd len="med" w="med" type="none"/>
          </a:ln>
        </p:spPr>
      </p:cxnSp>
      <p:cxnSp>
        <p:nvCxnSpPr>
          <p:cNvPr id="1018" name="Google Shape;1018;p52"/>
          <p:cNvCxnSpPr/>
          <p:nvPr/>
        </p:nvCxnSpPr>
        <p:spPr>
          <a:xfrm rot="5400000">
            <a:off x="4351337" y="3636962"/>
            <a:ext cx="976312" cy="985837"/>
          </a:xfrm>
          <a:prstGeom prst="straightConnector1">
            <a:avLst/>
          </a:prstGeom>
          <a:noFill/>
          <a:ln cap="flat" cmpd="sng" w="25400">
            <a:solidFill>
              <a:srgbClr val="000000"/>
            </a:solidFill>
            <a:prstDash val="solid"/>
            <a:miter lim="800000"/>
            <a:headEnd len="med" w="med" type="none"/>
            <a:tailEnd len="med" w="med" type="none"/>
          </a:ln>
        </p:spPr>
      </p:cxnSp>
      <p:cxnSp>
        <p:nvCxnSpPr>
          <p:cNvPr id="1019" name="Google Shape;1019;p52"/>
          <p:cNvCxnSpPr/>
          <p:nvPr/>
        </p:nvCxnSpPr>
        <p:spPr>
          <a:xfrm flipH="1" rot="-5400000">
            <a:off x="4341018" y="2194718"/>
            <a:ext cx="985837" cy="1006475"/>
          </a:xfrm>
          <a:prstGeom prst="straightConnector1">
            <a:avLst/>
          </a:prstGeom>
          <a:noFill/>
          <a:ln cap="flat" cmpd="sng" w="25400">
            <a:solidFill>
              <a:srgbClr val="000000"/>
            </a:solidFill>
            <a:prstDash val="solid"/>
            <a:miter lim="800000"/>
            <a:headEnd len="med" w="med" type="none"/>
            <a:tailEnd len="med" w="med" type="none"/>
          </a:ln>
        </p:spPr>
      </p:cxnSp>
      <p:sp>
        <p:nvSpPr>
          <p:cNvPr id="1020" name="Google Shape;1020;p52"/>
          <p:cNvSpPr/>
          <p:nvPr/>
        </p:nvSpPr>
        <p:spPr>
          <a:xfrm>
            <a:off x="5241925" y="3098800"/>
            <a:ext cx="647700" cy="64770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21" name="Google Shape;1021;p52"/>
          <p:cNvPicPr preferRelativeResize="0"/>
          <p:nvPr/>
        </p:nvPicPr>
        <p:blipFill rotWithShape="1">
          <a:blip r:embed="rId7">
            <a:alphaModFix/>
          </a:blip>
          <a:srcRect b="0" l="0" r="0" t="0"/>
          <a:stretch/>
        </p:blipFill>
        <p:spPr>
          <a:xfrm>
            <a:off x="5359400" y="3221037"/>
            <a:ext cx="396875" cy="396875"/>
          </a:xfrm>
          <a:prstGeom prst="rect">
            <a:avLst/>
          </a:prstGeom>
          <a:noFill/>
          <a:ln>
            <a:noFill/>
          </a:ln>
        </p:spPr>
      </p:pic>
      <p:sp>
        <p:nvSpPr>
          <p:cNvPr id="1022" name="Google Shape;1022;p52"/>
          <p:cNvSpPr/>
          <p:nvPr/>
        </p:nvSpPr>
        <p:spPr>
          <a:xfrm>
            <a:off x="2286000" y="3105150"/>
            <a:ext cx="647700" cy="646112"/>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23" name="Google Shape;1023;p52"/>
          <p:cNvCxnSpPr/>
          <p:nvPr/>
        </p:nvCxnSpPr>
        <p:spPr>
          <a:xfrm rot="5400000">
            <a:off x="2859881" y="2182018"/>
            <a:ext cx="1017587" cy="1028700"/>
          </a:xfrm>
          <a:prstGeom prst="straightConnector1">
            <a:avLst/>
          </a:prstGeom>
          <a:noFill/>
          <a:ln cap="flat" cmpd="sng" w="25400">
            <a:solidFill>
              <a:srgbClr val="000000"/>
            </a:solidFill>
            <a:prstDash val="solid"/>
            <a:miter lim="800000"/>
            <a:headEnd len="med" w="med" type="none"/>
            <a:tailEnd len="med" w="med" type="none"/>
          </a:ln>
        </p:spPr>
      </p:cxnSp>
      <p:cxnSp>
        <p:nvCxnSpPr>
          <p:cNvPr id="1024" name="Google Shape;1024;p52"/>
          <p:cNvCxnSpPr/>
          <p:nvPr/>
        </p:nvCxnSpPr>
        <p:spPr>
          <a:xfrm flipH="1" rot="-5400000">
            <a:off x="2864643" y="3650456"/>
            <a:ext cx="974725" cy="995362"/>
          </a:xfrm>
          <a:prstGeom prst="straightConnector1">
            <a:avLst/>
          </a:prstGeom>
          <a:noFill/>
          <a:ln cap="flat" cmpd="sng" w="25400">
            <a:solidFill>
              <a:srgbClr val="000000"/>
            </a:solidFill>
            <a:prstDash val="solid"/>
            <a:miter lim="800000"/>
            <a:headEnd len="med" w="med" type="none"/>
            <a:tailEnd len="med" w="med" type="none"/>
          </a:ln>
        </p:spPr>
      </p:cxnSp>
      <p:cxnSp>
        <p:nvCxnSpPr>
          <p:cNvPr id="1025" name="Google Shape;1025;p52"/>
          <p:cNvCxnSpPr/>
          <p:nvPr/>
        </p:nvCxnSpPr>
        <p:spPr>
          <a:xfrm rot="5400000">
            <a:off x="5785643" y="2167731"/>
            <a:ext cx="1009650" cy="1020762"/>
          </a:xfrm>
          <a:prstGeom prst="straightConnector1">
            <a:avLst/>
          </a:prstGeom>
          <a:noFill/>
          <a:ln cap="flat" cmpd="sng" w="25400">
            <a:solidFill>
              <a:srgbClr val="000000"/>
            </a:solidFill>
            <a:prstDash val="solid"/>
            <a:miter lim="800000"/>
            <a:headEnd len="med" w="med" type="none"/>
            <a:tailEnd len="med" w="med" type="none"/>
          </a:ln>
        </p:spPr>
      </p:cxnSp>
      <p:cxnSp>
        <p:nvCxnSpPr>
          <p:cNvPr id="1026" name="Google Shape;1026;p52"/>
          <p:cNvCxnSpPr/>
          <p:nvPr/>
        </p:nvCxnSpPr>
        <p:spPr>
          <a:xfrm flipH="1" rot="-5400000">
            <a:off x="5805487" y="3641725"/>
            <a:ext cx="984250" cy="1006475"/>
          </a:xfrm>
          <a:prstGeom prst="straightConnector1">
            <a:avLst/>
          </a:prstGeom>
          <a:noFill/>
          <a:ln cap="flat" cmpd="sng" w="25400">
            <a:solidFill>
              <a:srgbClr val="000000"/>
            </a:solidFill>
            <a:prstDash val="solid"/>
            <a:miter lim="800000"/>
            <a:headEnd len="med" w="med" type="none"/>
            <a:tailEnd len="med" w="med" type="none"/>
          </a:ln>
        </p:spPr>
      </p:cxnSp>
      <p:pic>
        <p:nvPicPr>
          <p:cNvPr id="1027" name="Google Shape;1027;p52"/>
          <p:cNvPicPr preferRelativeResize="0"/>
          <p:nvPr/>
        </p:nvPicPr>
        <p:blipFill rotWithShape="1">
          <a:blip r:embed="rId8">
            <a:alphaModFix/>
          </a:blip>
          <a:srcRect b="0" l="0" r="0" t="0"/>
          <a:stretch/>
        </p:blipFill>
        <p:spPr>
          <a:xfrm>
            <a:off x="2427287" y="3238500"/>
            <a:ext cx="395287" cy="422275"/>
          </a:xfrm>
          <a:prstGeom prst="rect">
            <a:avLst/>
          </a:prstGeom>
          <a:noFill/>
          <a:ln>
            <a:noFill/>
          </a:ln>
        </p:spPr>
      </p:pic>
      <p:pic>
        <p:nvPicPr>
          <p:cNvPr id="1028" name="Google Shape;1028;p52"/>
          <p:cNvPicPr preferRelativeResize="0"/>
          <p:nvPr/>
        </p:nvPicPr>
        <p:blipFill rotWithShape="1">
          <a:blip r:embed="rId9">
            <a:alphaModFix/>
          </a:blip>
          <a:srcRect b="0" l="0" r="0" t="0"/>
          <a:stretch/>
        </p:blipFill>
        <p:spPr>
          <a:xfrm>
            <a:off x="3063875" y="4064000"/>
            <a:ext cx="274637" cy="395287"/>
          </a:xfrm>
          <a:prstGeom prst="rect">
            <a:avLst/>
          </a:prstGeom>
          <a:noFill/>
          <a:ln>
            <a:noFill/>
          </a:ln>
        </p:spPr>
      </p:pic>
      <p:pic>
        <p:nvPicPr>
          <p:cNvPr id="1029" name="Google Shape;1029;p52"/>
          <p:cNvPicPr preferRelativeResize="0"/>
          <p:nvPr/>
        </p:nvPicPr>
        <p:blipFill rotWithShape="1">
          <a:blip r:embed="rId10">
            <a:alphaModFix/>
          </a:blip>
          <a:srcRect b="0" l="0" r="0" t="0"/>
          <a:stretch/>
        </p:blipFill>
        <p:spPr>
          <a:xfrm>
            <a:off x="3073400" y="2305050"/>
            <a:ext cx="304800" cy="396875"/>
          </a:xfrm>
          <a:prstGeom prst="rect">
            <a:avLst/>
          </a:prstGeom>
          <a:noFill/>
          <a:ln>
            <a:noFill/>
          </a:ln>
        </p:spPr>
      </p:pic>
      <p:pic>
        <p:nvPicPr>
          <p:cNvPr id="1030" name="Google Shape;1030;p52"/>
          <p:cNvPicPr preferRelativeResize="0"/>
          <p:nvPr/>
        </p:nvPicPr>
        <p:blipFill rotWithShape="1">
          <a:blip r:embed="rId11">
            <a:alphaModFix/>
          </a:blip>
          <a:srcRect b="0" l="0" r="0" t="0"/>
          <a:stretch/>
        </p:blipFill>
        <p:spPr>
          <a:xfrm>
            <a:off x="5456237" y="1538287"/>
            <a:ext cx="303212" cy="423862"/>
          </a:xfrm>
          <a:prstGeom prst="rect">
            <a:avLst/>
          </a:prstGeom>
          <a:noFill/>
          <a:ln>
            <a:noFill/>
          </a:ln>
        </p:spPr>
      </p:pic>
      <p:pic>
        <p:nvPicPr>
          <p:cNvPr id="1031" name="Google Shape;1031;p52"/>
          <p:cNvPicPr preferRelativeResize="0"/>
          <p:nvPr/>
        </p:nvPicPr>
        <p:blipFill rotWithShape="1">
          <a:blip r:embed="rId12">
            <a:alphaModFix/>
          </a:blip>
          <a:srcRect b="0" l="0" r="0" t="0"/>
          <a:stretch/>
        </p:blipFill>
        <p:spPr>
          <a:xfrm>
            <a:off x="7108825" y="3151187"/>
            <a:ext cx="304800" cy="423862"/>
          </a:xfrm>
          <a:prstGeom prst="rect">
            <a:avLst/>
          </a:prstGeom>
          <a:noFill/>
          <a:ln>
            <a:noFill/>
          </a:ln>
        </p:spPr>
      </p:pic>
      <p:pic>
        <p:nvPicPr>
          <p:cNvPr id="1032" name="Google Shape;1032;p52"/>
          <p:cNvPicPr preferRelativeResize="0"/>
          <p:nvPr/>
        </p:nvPicPr>
        <p:blipFill rotWithShape="1">
          <a:blip r:embed="rId13">
            <a:alphaModFix/>
          </a:blip>
          <a:srcRect b="0" l="0" r="0" t="0"/>
          <a:stretch/>
        </p:blipFill>
        <p:spPr>
          <a:xfrm>
            <a:off x="3771900" y="3182937"/>
            <a:ext cx="304800" cy="393700"/>
          </a:xfrm>
          <a:prstGeom prst="rect">
            <a:avLst/>
          </a:prstGeom>
          <a:noFill/>
          <a:ln>
            <a:noFill/>
          </a:ln>
        </p:spPr>
      </p:pic>
      <p:pic>
        <p:nvPicPr>
          <p:cNvPr id="1033" name="Google Shape;1033;p52"/>
          <p:cNvPicPr preferRelativeResize="0"/>
          <p:nvPr/>
        </p:nvPicPr>
        <p:blipFill rotWithShape="1">
          <a:blip r:embed="rId14">
            <a:alphaModFix/>
          </a:blip>
          <a:srcRect b="0" l="0" r="0" t="0"/>
          <a:stretch/>
        </p:blipFill>
        <p:spPr>
          <a:xfrm>
            <a:off x="5954712" y="2363787"/>
            <a:ext cx="304800" cy="425450"/>
          </a:xfrm>
          <a:prstGeom prst="rect">
            <a:avLst/>
          </a:prstGeom>
          <a:noFill/>
          <a:ln>
            <a:noFill/>
          </a:ln>
        </p:spPr>
      </p:pic>
      <p:pic>
        <p:nvPicPr>
          <p:cNvPr id="1034" name="Google Shape;1034;p52"/>
          <p:cNvPicPr preferRelativeResize="0"/>
          <p:nvPr/>
        </p:nvPicPr>
        <p:blipFill rotWithShape="1">
          <a:blip r:embed="rId10">
            <a:alphaModFix/>
          </a:blip>
          <a:srcRect b="0" l="0" r="0" t="0"/>
          <a:stretch/>
        </p:blipFill>
        <p:spPr>
          <a:xfrm>
            <a:off x="4879975" y="4008437"/>
            <a:ext cx="304800" cy="396875"/>
          </a:xfrm>
          <a:prstGeom prst="rect">
            <a:avLst/>
          </a:prstGeom>
          <a:noFill/>
          <a:ln>
            <a:noFill/>
          </a:ln>
        </p:spPr>
      </p:pic>
      <p:pic>
        <p:nvPicPr>
          <p:cNvPr id="1035" name="Google Shape;1035;p52"/>
          <p:cNvPicPr preferRelativeResize="0"/>
          <p:nvPr/>
        </p:nvPicPr>
        <p:blipFill rotWithShape="1">
          <a:blip r:embed="rId9">
            <a:alphaModFix/>
          </a:blip>
          <a:srcRect b="0" l="0" r="0" t="0"/>
          <a:stretch/>
        </p:blipFill>
        <p:spPr>
          <a:xfrm>
            <a:off x="5967412" y="4032250"/>
            <a:ext cx="274637" cy="395287"/>
          </a:xfrm>
          <a:prstGeom prst="rect">
            <a:avLst/>
          </a:prstGeom>
          <a:noFill/>
          <a:ln>
            <a:noFill/>
          </a:ln>
        </p:spPr>
      </p:pic>
      <p:pic>
        <p:nvPicPr>
          <p:cNvPr id="1036" name="Google Shape;1036;p52"/>
          <p:cNvPicPr preferRelativeResize="0"/>
          <p:nvPr/>
        </p:nvPicPr>
        <p:blipFill rotWithShape="1">
          <a:blip r:embed="rId15">
            <a:alphaModFix/>
          </a:blip>
          <a:srcRect b="0" l="0" r="0" t="0"/>
          <a:stretch/>
        </p:blipFill>
        <p:spPr>
          <a:xfrm>
            <a:off x="5441950" y="4845050"/>
            <a:ext cx="304800" cy="395287"/>
          </a:xfrm>
          <a:prstGeom prst="rect">
            <a:avLst/>
          </a:prstGeom>
          <a:noFill/>
          <a:ln>
            <a:noFill/>
          </a:ln>
        </p:spPr>
      </p:pic>
      <p:pic>
        <p:nvPicPr>
          <p:cNvPr id="1037" name="Google Shape;1037;p52"/>
          <p:cNvPicPr preferRelativeResize="0"/>
          <p:nvPr/>
        </p:nvPicPr>
        <p:blipFill rotWithShape="1">
          <a:blip r:embed="rId16">
            <a:alphaModFix/>
          </a:blip>
          <a:srcRect b="0" l="0" r="0" t="0"/>
          <a:stretch/>
        </p:blipFill>
        <p:spPr>
          <a:xfrm>
            <a:off x="4902200" y="2433637"/>
            <a:ext cx="304800" cy="423862"/>
          </a:xfrm>
          <a:prstGeom prst="rect">
            <a:avLst/>
          </a:prstGeom>
          <a:noFill/>
          <a:ln>
            <a:noFill/>
          </a:ln>
        </p:spPr>
      </p:pic>
      <p:sp>
        <p:nvSpPr>
          <p:cNvPr id="1038" name="Google Shape;1038;p52"/>
          <p:cNvSpPr txBox="1"/>
          <p:nvPr/>
        </p:nvSpPr>
        <p:spPr>
          <a:xfrm>
            <a:off x="3657600" y="1112837"/>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(0,∅)</a:t>
            </a:r>
            <a:endParaRPr/>
          </a:p>
        </p:txBody>
      </p:sp>
      <p:sp>
        <p:nvSpPr>
          <p:cNvPr id="1039" name="Google Shape;1039;p52"/>
          <p:cNvSpPr txBox="1"/>
          <p:nvPr/>
        </p:nvSpPr>
        <p:spPr>
          <a:xfrm>
            <a:off x="6553200" y="1081087"/>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(3,A)</a:t>
            </a:r>
            <a:endParaRPr/>
          </a:p>
        </p:txBody>
      </p:sp>
      <p:sp>
        <p:nvSpPr>
          <p:cNvPr id="1040" name="Google Shape;1040;p52"/>
          <p:cNvSpPr txBox="1"/>
          <p:nvPr/>
        </p:nvSpPr>
        <p:spPr>
          <a:xfrm>
            <a:off x="1219200" y="3138487"/>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(2,A)</a:t>
            </a:r>
            <a:endParaRPr/>
          </a:p>
        </p:txBody>
      </p:sp>
      <p:sp>
        <p:nvSpPr>
          <p:cNvPr id="1041" name="Google Shape;1041;p52"/>
          <p:cNvSpPr txBox="1"/>
          <p:nvPr/>
        </p:nvSpPr>
        <p:spPr>
          <a:xfrm>
            <a:off x="5064125" y="2614612"/>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(6,A)</a:t>
            </a:r>
            <a:endParaRPr/>
          </a:p>
        </p:txBody>
      </p:sp>
      <p:sp>
        <p:nvSpPr>
          <p:cNvPr id="1042" name="Google Shape;1042;p52"/>
          <p:cNvSpPr txBox="1"/>
          <p:nvPr/>
        </p:nvSpPr>
        <p:spPr>
          <a:xfrm>
            <a:off x="3581400" y="5119687"/>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(4,A)</a:t>
            </a:r>
            <a:endParaRPr/>
          </a:p>
        </p:txBody>
      </p:sp>
      <p:sp>
        <p:nvSpPr>
          <p:cNvPr id="1043" name="Google Shape;1043;p52"/>
          <p:cNvSpPr txBox="1"/>
          <p:nvPr/>
        </p:nvSpPr>
        <p:spPr>
          <a:xfrm>
            <a:off x="3559175" y="5100637"/>
            <a:ext cx="14700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0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048" name="Shape 1048"/>
        <p:cNvGrpSpPr/>
        <p:nvPr/>
      </p:nvGrpSpPr>
      <p:grpSpPr>
        <a:xfrm>
          <a:off x="0" y="0"/>
          <a:ext cx="0" cy="0"/>
          <a:chOff x="0" y="0"/>
          <a:chExt cx="0" cy="0"/>
        </a:xfrm>
      </p:grpSpPr>
      <p:sp>
        <p:nvSpPr>
          <p:cNvPr id="1049" name="Google Shape;1049;p53"/>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Bài tập</a:t>
            </a:r>
            <a:endParaRPr/>
          </a:p>
        </p:txBody>
      </p:sp>
      <p:sp>
        <p:nvSpPr>
          <p:cNvPr id="1050" name="Google Shape;1050;p53"/>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spcBef>
                <a:spcPts val="0"/>
              </a:spcBef>
              <a:spcAft>
                <a:spcPts val="0"/>
              </a:spcAft>
              <a:buClr>
                <a:schemeClr val="dk1"/>
              </a:buClr>
              <a:buSzPts val="2800"/>
              <a:buFont typeface="Noto Sans Symbols"/>
              <a:buNone/>
            </a:pPr>
            <a:r>
              <a:t/>
            </a:r>
            <a:endParaRPr sz="2800">
              <a:solidFill>
                <a:schemeClr val="dk1"/>
              </a:solidFill>
              <a:latin typeface="Arial"/>
              <a:ea typeface="Arial"/>
              <a:cs typeface="Arial"/>
              <a:sym typeface="Arial"/>
            </a:endParaRPr>
          </a:p>
        </p:txBody>
      </p:sp>
      <p:sp>
        <p:nvSpPr>
          <p:cNvPr id="1051" name="Google Shape;1051;p53"/>
          <p:cNvSpPr/>
          <p:nvPr/>
        </p:nvSpPr>
        <p:spPr>
          <a:xfrm>
            <a:off x="3633787" y="1543050"/>
            <a:ext cx="647700" cy="647700"/>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52" name="Google Shape;1052;p53"/>
          <p:cNvPicPr preferRelativeResize="0"/>
          <p:nvPr/>
        </p:nvPicPr>
        <p:blipFill rotWithShape="1">
          <a:blip r:embed="rId3">
            <a:alphaModFix/>
          </a:blip>
          <a:srcRect b="0" l="0" r="0" t="0"/>
          <a:stretch/>
        </p:blipFill>
        <p:spPr>
          <a:xfrm>
            <a:off x="3776662" y="1665287"/>
            <a:ext cx="423862" cy="395287"/>
          </a:xfrm>
          <a:prstGeom prst="rect">
            <a:avLst/>
          </a:prstGeom>
          <a:noFill/>
          <a:ln>
            <a:noFill/>
          </a:ln>
        </p:spPr>
      </p:pic>
      <p:cxnSp>
        <p:nvCxnSpPr>
          <p:cNvPr id="1053" name="Google Shape;1053;p53"/>
          <p:cNvCxnSpPr/>
          <p:nvPr/>
        </p:nvCxnSpPr>
        <p:spPr>
          <a:xfrm>
            <a:off x="4283075" y="1881187"/>
            <a:ext cx="2265362" cy="0"/>
          </a:xfrm>
          <a:prstGeom prst="straightConnector1">
            <a:avLst/>
          </a:prstGeom>
          <a:noFill/>
          <a:ln cap="flat" cmpd="sng" w="25400">
            <a:solidFill>
              <a:srgbClr val="000000"/>
            </a:solidFill>
            <a:prstDash val="solid"/>
            <a:miter lim="800000"/>
            <a:headEnd len="med" w="med" type="none"/>
            <a:tailEnd len="med" w="med" type="none"/>
          </a:ln>
        </p:spPr>
      </p:cxnSp>
      <p:sp>
        <p:nvSpPr>
          <p:cNvPr id="1054" name="Google Shape;1054;p53"/>
          <p:cNvSpPr/>
          <p:nvPr/>
        </p:nvSpPr>
        <p:spPr>
          <a:xfrm>
            <a:off x="6562725" y="1549400"/>
            <a:ext cx="647700" cy="646112"/>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55" name="Google Shape;1055;p53"/>
          <p:cNvPicPr preferRelativeResize="0"/>
          <p:nvPr/>
        </p:nvPicPr>
        <p:blipFill rotWithShape="1">
          <a:blip r:embed="rId4">
            <a:alphaModFix/>
          </a:blip>
          <a:srcRect b="0" l="0" r="0" t="0"/>
          <a:stretch/>
        </p:blipFill>
        <p:spPr>
          <a:xfrm>
            <a:off x="6689725" y="1670050"/>
            <a:ext cx="366712" cy="396875"/>
          </a:xfrm>
          <a:prstGeom prst="rect">
            <a:avLst/>
          </a:prstGeom>
          <a:noFill/>
          <a:ln>
            <a:noFill/>
          </a:ln>
        </p:spPr>
      </p:pic>
      <p:sp>
        <p:nvSpPr>
          <p:cNvPr id="1056" name="Google Shape;1056;p53"/>
          <p:cNvSpPr/>
          <p:nvPr/>
        </p:nvSpPr>
        <p:spPr>
          <a:xfrm>
            <a:off x="3633787" y="4419600"/>
            <a:ext cx="647700" cy="646112"/>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57" name="Google Shape;1057;p53"/>
          <p:cNvPicPr preferRelativeResize="0"/>
          <p:nvPr/>
        </p:nvPicPr>
        <p:blipFill rotWithShape="1">
          <a:blip r:embed="rId5">
            <a:alphaModFix/>
          </a:blip>
          <a:srcRect b="0" l="0" r="0" t="0"/>
          <a:stretch/>
        </p:blipFill>
        <p:spPr>
          <a:xfrm>
            <a:off x="3763962" y="4540250"/>
            <a:ext cx="363537" cy="396875"/>
          </a:xfrm>
          <a:prstGeom prst="rect">
            <a:avLst/>
          </a:prstGeom>
          <a:noFill/>
          <a:ln>
            <a:noFill/>
          </a:ln>
        </p:spPr>
      </p:pic>
      <p:cxnSp>
        <p:nvCxnSpPr>
          <p:cNvPr id="1058" name="Google Shape;1058;p53"/>
          <p:cNvCxnSpPr/>
          <p:nvPr/>
        </p:nvCxnSpPr>
        <p:spPr>
          <a:xfrm>
            <a:off x="4283075" y="4757737"/>
            <a:ext cx="2260600" cy="0"/>
          </a:xfrm>
          <a:prstGeom prst="straightConnector1">
            <a:avLst/>
          </a:prstGeom>
          <a:noFill/>
          <a:ln cap="flat" cmpd="sng" w="25400">
            <a:solidFill>
              <a:srgbClr val="000000"/>
            </a:solidFill>
            <a:prstDash val="solid"/>
            <a:miter lim="800000"/>
            <a:headEnd len="med" w="med" type="none"/>
            <a:tailEnd len="med" w="med" type="none"/>
          </a:ln>
        </p:spPr>
      </p:cxnSp>
      <p:sp>
        <p:nvSpPr>
          <p:cNvPr id="1059" name="Google Shape;1059;p53"/>
          <p:cNvSpPr/>
          <p:nvPr/>
        </p:nvSpPr>
        <p:spPr>
          <a:xfrm>
            <a:off x="6562725" y="4425950"/>
            <a:ext cx="647700" cy="64770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60" name="Google Shape;1060;p53"/>
          <p:cNvPicPr preferRelativeResize="0"/>
          <p:nvPr/>
        </p:nvPicPr>
        <p:blipFill rotWithShape="1">
          <a:blip r:embed="rId6">
            <a:alphaModFix/>
          </a:blip>
          <a:srcRect b="0" l="0" r="0" t="0"/>
          <a:stretch/>
        </p:blipFill>
        <p:spPr>
          <a:xfrm>
            <a:off x="6718300" y="4548187"/>
            <a:ext cx="365125" cy="396875"/>
          </a:xfrm>
          <a:prstGeom prst="rect">
            <a:avLst/>
          </a:prstGeom>
          <a:noFill/>
          <a:ln>
            <a:noFill/>
          </a:ln>
        </p:spPr>
      </p:pic>
      <p:cxnSp>
        <p:nvCxnSpPr>
          <p:cNvPr id="1061" name="Google Shape;1061;p53"/>
          <p:cNvCxnSpPr/>
          <p:nvPr/>
        </p:nvCxnSpPr>
        <p:spPr>
          <a:xfrm flipH="1" rot="-5400000">
            <a:off x="2839243" y="3302793"/>
            <a:ext cx="2222500" cy="1587"/>
          </a:xfrm>
          <a:prstGeom prst="straightConnector1">
            <a:avLst/>
          </a:prstGeom>
          <a:noFill/>
          <a:ln cap="flat" cmpd="sng" w="25400">
            <a:solidFill>
              <a:srgbClr val="000000"/>
            </a:solidFill>
            <a:prstDash val="solid"/>
            <a:miter lim="800000"/>
            <a:headEnd len="med" w="med" type="none"/>
            <a:tailEnd len="med" w="med" type="none"/>
          </a:ln>
        </p:spPr>
      </p:cxnSp>
      <p:cxnSp>
        <p:nvCxnSpPr>
          <p:cNvPr id="1062" name="Google Shape;1062;p53"/>
          <p:cNvCxnSpPr/>
          <p:nvPr/>
        </p:nvCxnSpPr>
        <p:spPr>
          <a:xfrm rot="5400000">
            <a:off x="5780087" y="3308350"/>
            <a:ext cx="2232025" cy="0"/>
          </a:xfrm>
          <a:prstGeom prst="straightConnector1">
            <a:avLst/>
          </a:prstGeom>
          <a:noFill/>
          <a:ln cap="flat" cmpd="sng" w="25400">
            <a:solidFill>
              <a:srgbClr val="000000"/>
            </a:solidFill>
            <a:prstDash val="solid"/>
            <a:miter lim="800000"/>
            <a:headEnd len="med" w="med" type="none"/>
            <a:tailEnd len="med" w="med" type="none"/>
          </a:ln>
        </p:spPr>
      </p:cxnSp>
      <p:cxnSp>
        <p:nvCxnSpPr>
          <p:cNvPr id="1063" name="Google Shape;1063;p53"/>
          <p:cNvCxnSpPr/>
          <p:nvPr/>
        </p:nvCxnSpPr>
        <p:spPr>
          <a:xfrm rot="5400000">
            <a:off x="4186237" y="3546475"/>
            <a:ext cx="976312" cy="985837"/>
          </a:xfrm>
          <a:prstGeom prst="straightConnector1">
            <a:avLst/>
          </a:prstGeom>
          <a:noFill/>
          <a:ln cap="flat" cmpd="sng" w="25400">
            <a:solidFill>
              <a:srgbClr val="000000"/>
            </a:solidFill>
            <a:prstDash val="solid"/>
            <a:miter lim="800000"/>
            <a:headEnd len="med" w="med" type="none"/>
            <a:tailEnd len="med" w="med" type="none"/>
          </a:ln>
        </p:spPr>
      </p:cxnSp>
      <p:cxnSp>
        <p:nvCxnSpPr>
          <p:cNvPr id="1064" name="Google Shape;1064;p53"/>
          <p:cNvCxnSpPr/>
          <p:nvPr/>
        </p:nvCxnSpPr>
        <p:spPr>
          <a:xfrm flipH="1" rot="-5400000">
            <a:off x="4175918" y="2104231"/>
            <a:ext cx="985837" cy="1006475"/>
          </a:xfrm>
          <a:prstGeom prst="straightConnector1">
            <a:avLst/>
          </a:prstGeom>
          <a:noFill/>
          <a:ln cap="flat" cmpd="sng" w="25400">
            <a:solidFill>
              <a:srgbClr val="000000"/>
            </a:solidFill>
            <a:prstDash val="solid"/>
            <a:miter lim="800000"/>
            <a:headEnd len="med" w="med" type="none"/>
            <a:tailEnd len="med" w="med" type="none"/>
          </a:ln>
        </p:spPr>
      </p:cxnSp>
      <p:sp>
        <p:nvSpPr>
          <p:cNvPr id="1065" name="Google Shape;1065;p53"/>
          <p:cNvSpPr/>
          <p:nvPr/>
        </p:nvSpPr>
        <p:spPr>
          <a:xfrm>
            <a:off x="5076825" y="3008312"/>
            <a:ext cx="647700" cy="64770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66" name="Google Shape;1066;p53"/>
          <p:cNvPicPr preferRelativeResize="0"/>
          <p:nvPr/>
        </p:nvPicPr>
        <p:blipFill rotWithShape="1">
          <a:blip r:embed="rId7">
            <a:alphaModFix/>
          </a:blip>
          <a:srcRect b="0" l="0" r="0" t="0"/>
          <a:stretch/>
        </p:blipFill>
        <p:spPr>
          <a:xfrm>
            <a:off x="5194300" y="3130550"/>
            <a:ext cx="396875" cy="396875"/>
          </a:xfrm>
          <a:prstGeom prst="rect">
            <a:avLst/>
          </a:prstGeom>
          <a:noFill/>
          <a:ln>
            <a:noFill/>
          </a:ln>
        </p:spPr>
      </p:pic>
      <p:sp>
        <p:nvSpPr>
          <p:cNvPr id="1067" name="Google Shape;1067;p53"/>
          <p:cNvSpPr/>
          <p:nvPr/>
        </p:nvSpPr>
        <p:spPr>
          <a:xfrm>
            <a:off x="2120900" y="3014662"/>
            <a:ext cx="647700" cy="646112"/>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68" name="Google Shape;1068;p53"/>
          <p:cNvCxnSpPr/>
          <p:nvPr/>
        </p:nvCxnSpPr>
        <p:spPr>
          <a:xfrm rot="5400000">
            <a:off x="2694781" y="2091531"/>
            <a:ext cx="1017587" cy="1028700"/>
          </a:xfrm>
          <a:prstGeom prst="straightConnector1">
            <a:avLst/>
          </a:prstGeom>
          <a:noFill/>
          <a:ln cap="flat" cmpd="sng" w="25400">
            <a:solidFill>
              <a:srgbClr val="000000"/>
            </a:solidFill>
            <a:prstDash val="solid"/>
            <a:miter lim="800000"/>
            <a:headEnd len="med" w="med" type="none"/>
            <a:tailEnd len="med" w="med" type="none"/>
          </a:ln>
        </p:spPr>
      </p:cxnSp>
      <p:cxnSp>
        <p:nvCxnSpPr>
          <p:cNvPr id="1069" name="Google Shape;1069;p53"/>
          <p:cNvCxnSpPr/>
          <p:nvPr/>
        </p:nvCxnSpPr>
        <p:spPr>
          <a:xfrm flipH="1" rot="-5400000">
            <a:off x="2699543" y="3559968"/>
            <a:ext cx="974725" cy="995362"/>
          </a:xfrm>
          <a:prstGeom prst="straightConnector1">
            <a:avLst/>
          </a:prstGeom>
          <a:noFill/>
          <a:ln cap="flat" cmpd="sng" w="25400">
            <a:solidFill>
              <a:srgbClr val="000000"/>
            </a:solidFill>
            <a:prstDash val="solid"/>
            <a:miter lim="800000"/>
            <a:headEnd len="med" w="med" type="none"/>
            <a:tailEnd len="med" w="med" type="none"/>
          </a:ln>
        </p:spPr>
      </p:cxnSp>
      <p:cxnSp>
        <p:nvCxnSpPr>
          <p:cNvPr id="1070" name="Google Shape;1070;p53"/>
          <p:cNvCxnSpPr/>
          <p:nvPr/>
        </p:nvCxnSpPr>
        <p:spPr>
          <a:xfrm rot="5400000">
            <a:off x="5620543" y="2077243"/>
            <a:ext cx="1009650" cy="1020762"/>
          </a:xfrm>
          <a:prstGeom prst="straightConnector1">
            <a:avLst/>
          </a:prstGeom>
          <a:noFill/>
          <a:ln cap="flat" cmpd="sng" w="25400">
            <a:solidFill>
              <a:srgbClr val="000000"/>
            </a:solidFill>
            <a:prstDash val="solid"/>
            <a:miter lim="800000"/>
            <a:headEnd len="med" w="med" type="none"/>
            <a:tailEnd len="med" w="med" type="none"/>
          </a:ln>
        </p:spPr>
      </p:cxnSp>
      <p:cxnSp>
        <p:nvCxnSpPr>
          <p:cNvPr id="1071" name="Google Shape;1071;p53"/>
          <p:cNvCxnSpPr/>
          <p:nvPr/>
        </p:nvCxnSpPr>
        <p:spPr>
          <a:xfrm flipH="1" rot="-5400000">
            <a:off x="5640387" y="3551237"/>
            <a:ext cx="984250" cy="1006475"/>
          </a:xfrm>
          <a:prstGeom prst="straightConnector1">
            <a:avLst/>
          </a:prstGeom>
          <a:noFill/>
          <a:ln cap="flat" cmpd="sng" w="25400">
            <a:solidFill>
              <a:srgbClr val="000000"/>
            </a:solidFill>
            <a:prstDash val="solid"/>
            <a:miter lim="800000"/>
            <a:headEnd len="med" w="med" type="none"/>
            <a:tailEnd len="med" w="med" type="none"/>
          </a:ln>
        </p:spPr>
      </p:cxnSp>
      <p:pic>
        <p:nvPicPr>
          <p:cNvPr id="1072" name="Google Shape;1072;p53"/>
          <p:cNvPicPr preferRelativeResize="0"/>
          <p:nvPr/>
        </p:nvPicPr>
        <p:blipFill rotWithShape="1">
          <a:blip r:embed="rId8">
            <a:alphaModFix/>
          </a:blip>
          <a:srcRect b="0" l="0" r="0" t="0"/>
          <a:stretch/>
        </p:blipFill>
        <p:spPr>
          <a:xfrm>
            <a:off x="2262187" y="3148012"/>
            <a:ext cx="395287" cy="422275"/>
          </a:xfrm>
          <a:prstGeom prst="rect">
            <a:avLst/>
          </a:prstGeom>
          <a:noFill/>
          <a:ln>
            <a:noFill/>
          </a:ln>
        </p:spPr>
      </p:pic>
      <p:pic>
        <p:nvPicPr>
          <p:cNvPr id="1073" name="Google Shape;1073;p53"/>
          <p:cNvPicPr preferRelativeResize="0"/>
          <p:nvPr/>
        </p:nvPicPr>
        <p:blipFill rotWithShape="1">
          <a:blip r:embed="rId9">
            <a:alphaModFix/>
          </a:blip>
          <a:srcRect b="0" l="0" r="0" t="0"/>
          <a:stretch/>
        </p:blipFill>
        <p:spPr>
          <a:xfrm>
            <a:off x="2898775" y="3973512"/>
            <a:ext cx="274637" cy="395287"/>
          </a:xfrm>
          <a:prstGeom prst="rect">
            <a:avLst/>
          </a:prstGeom>
          <a:noFill/>
          <a:ln>
            <a:noFill/>
          </a:ln>
        </p:spPr>
      </p:pic>
      <p:pic>
        <p:nvPicPr>
          <p:cNvPr id="1074" name="Google Shape;1074;p53"/>
          <p:cNvPicPr preferRelativeResize="0"/>
          <p:nvPr/>
        </p:nvPicPr>
        <p:blipFill rotWithShape="1">
          <a:blip r:embed="rId10">
            <a:alphaModFix/>
          </a:blip>
          <a:srcRect b="0" l="0" r="0" t="0"/>
          <a:stretch/>
        </p:blipFill>
        <p:spPr>
          <a:xfrm>
            <a:off x="2908300" y="2214562"/>
            <a:ext cx="304800" cy="396875"/>
          </a:xfrm>
          <a:prstGeom prst="rect">
            <a:avLst/>
          </a:prstGeom>
          <a:noFill/>
          <a:ln>
            <a:noFill/>
          </a:ln>
        </p:spPr>
      </p:pic>
      <p:pic>
        <p:nvPicPr>
          <p:cNvPr id="1075" name="Google Shape;1075;p53"/>
          <p:cNvPicPr preferRelativeResize="0"/>
          <p:nvPr/>
        </p:nvPicPr>
        <p:blipFill rotWithShape="1">
          <a:blip r:embed="rId11">
            <a:alphaModFix/>
          </a:blip>
          <a:srcRect b="0" l="0" r="0" t="0"/>
          <a:stretch/>
        </p:blipFill>
        <p:spPr>
          <a:xfrm>
            <a:off x="5291137" y="1447800"/>
            <a:ext cx="303212" cy="423862"/>
          </a:xfrm>
          <a:prstGeom prst="rect">
            <a:avLst/>
          </a:prstGeom>
          <a:noFill/>
          <a:ln>
            <a:noFill/>
          </a:ln>
        </p:spPr>
      </p:pic>
      <p:pic>
        <p:nvPicPr>
          <p:cNvPr id="1076" name="Google Shape;1076;p53"/>
          <p:cNvPicPr preferRelativeResize="0"/>
          <p:nvPr/>
        </p:nvPicPr>
        <p:blipFill rotWithShape="1">
          <a:blip r:embed="rId12">
            <a:alphaModFix/>
          </a:blip>
          <a:srcRect b="0" l="0" r="0" t="0"/>
          <a:stretch/>
        </p:blipFill>
        <p:spPr>
          <a:xfrm>
            <a:off x="6943725" y="3060700"/>
            <a:ext cx="304800" cy="423862"/>
          </a:xfrm>
          <a:prstGeom prst="rect">
            <a:avLst/>
          </a:prstGeom>
          <a:noFill/>
          <a:ln>
            <a:noFill/>
          </a:ln>
        </p:spPr>
      </p:pic>
      <p:pic>
        <p:nvPicPr>
          <p:cNvPr id="1077" name="Google Shape;1077;p53"/>
          <p:cNvPicPr preferRelativeResize="0"/>
          <p:nvPr/>
        </p:nvPicPr>
        <p:blipFill rotWithShape="1">
          <a:blip r:embed="rId13">
            <a:alphaModFix/>
          </a:blip>
          <a:srcRect b="0" l="0" r="0" t="0"/>
          <a:stretch/>
        </p:blipFill>
        <p:spPr>
          <a:xfrm>
            <a:off x="3606800" y="3092450"/>
            <a:ext cx="304800" cy="393700"/>
          </a:xfrm>
          <a:prstGeom prst="rect">
            <a:avLst/>
          </a:prstGeom>
          <a:noFill/>
          <a:ln>
            <a:noFill/>
          </a:ln>
        </p:spPr>
      </p:pic>
      <p:pic>
        <p:nvPicPr>
          <p:cNvPr id="1078" name="Google Shape;1078;p53"/>
          <p:cNvPicPr preferRelativeResize="0"/>
          <p:nvPr/>
        </p:nvPicPr>
        <p:blipFill rotWithShape="1">
          <a:blip r:embed="rId14">
            <a:alphaModFix/>
          </a:blip>
          <a:srcRect b="0" l="0" r="0" t="0"/>
          <a:stretch/>
        </p:blipFill>
        <p:spPr>
          <a:xfrm>
            <a:off x="5789612" y="2273300"/>
            <a:ext cx="304800" cy="425450"/>
          </a:xfrm>
          <a:prstGeom prst="rect">
            <a:avLst/>
          </a:prstGeom>
          <a:noFill/>
          <a:ln>
            <a:noFill/>
          </a:ln>
        </p:spPr>
      </p:pic>
      <p:pic>
        <p:nvPicPr>
          <p:cNvPr id="1079" name="Google Shape;1079;p53"/>
          <p:cNvPicPr preferRelativeResize="0"/>
          <p:nvPr/>
        </p:nvPicPr>
        <p:blipFill rotWithShape="1">
          <a:blip r:embed="rId10">
            <a:alphaModFix/>
          </a:blip>
          <a:srcRect b="0" l="0" r="0" t="0"/>
          <a:stretch/>
        </p:blipFill>
        <p:spPr>
          <a:xfrm>
            <a:off x="4714875" y="3917950"/>
            <a:ext cx="304800" cy="396875"/>
          </a:xfrm>
          <a:prstGeom prst="rect">
            <a:avLst/>
          </a:prstGeom>
          <a:noFill/>
          <a:ln>
            <a:noFill/>
          </a:ln>
        </p:spPr>
      </p:pic>
      <p:pic>
        <p:nvPicPr>
          <p:cNvPr id="1080" name="Google Shape;1080;p53"/>
          <p:cNvPicPr preferRelativeResize="0"/>
          <p:nvPr/>
        </p:nvPicPr>
        <p:blipFill rotWithShape="1">
          <a:blip r:embed="rId9">
            <a:alphaModFix/>
          </a:blip>
          <a:srcRect b="0" l="0" r="0" t="0"/>
          <a:stretch/>
        </p:blipFill>
        <p:spPr>
          <a:xfrm>
            <a:off x="5802312" y="3941762"/>
            <a:ext cx="274637" cy="395287"/>
          </a:xfrm>
          <a:prstGeom prst="rect">
            <a:avLst/>
          </a:prstGeom>
          <a:noFill/>
          <a:ln>
            <a:noFill/>
          </a:ln>
        </p:spPr>
      </p:pic>
      <p:pic>
        <p:nvPicPr>
          <p:cNvPr id="1081" name="Google Shape;1081;p53"/>
          <p:cNvPicPr preferRelativeResize="0"/>
          <p:nvPr/>
        </p:nvPicPr>
        <p:blipFill rotWithShape="1">
          <a:blip r:embed="rId15">
            <a:alphaModFix/>
          </a:blip>
          <a:srcRect b="0" l="0" r="0" t="0"/>
          <a:stretch/>
        </p:blipFill>
        <p:spPr>
          <a:xfrm>
            <a:off x="5276850" y="4754562"/>
            <a:ext cx="304800" cy="395287"/>
          </a:xfrm>
          <a:prstGeom prst="rect">
            <a:avLst/>
          </a:prstGeom>
          <a:noFill/>
          <a:ln>
            <a:noFill/>
          </a:ln>
        </p:spPr>
      </p:pic>
      <p:pic>
        <p:nvPicPr>
          <p:cNvPr id="1082" name="Google Shape;1082;p53"/>
          <p:cNvPicPr preferRelativeResize="0"/>
          <p:nvPr/>
        </p:nvPicPr>
        <p:blipFill rotWithShape="1">
          <a:blip r:embed="rId16">
            <a:alphaModFix/>
          </a:blip>
          <a:srcRect b="0" l="0" r="0" t="0"/>
          <a:stretch/>
        </p:blipFill>
        <p:spPr>
          <a:xfrm>
            <a:off x="4737100" y="2343150"/>
            <a:ext cx="304800" cy="423862"/>
          </a:xfrm>
          <a:prstGeom prst="rect">
            <a:avLst/>
          </a:prstGeom>
          <a:noFill/>
          <a:ln>
            <a:noFill/>
          </a:ln>
        </p:spPr>
      </p:pic>
      <p:sp>
        <p:nvSpPr>
          <p:cNvPr id="1083" name="Google Shape;1083;p53"/>
          <p:cNvSpPr txBox="1"/>
          <p:nvPr/>
        </p:nvSpPr>
        <p:spPr>
          <a:xfrm>
            <a:off x="3492500" y="1022350"/>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(0,∅)</a:t>
            </a:r>
            <a:endParaRPr/>
          </a:p>
        </p:txBody>
      </p:sp>
      <p:sp>
        <p:nvSpPr>
          <p:cNvPr id="1084" name="Google Shape;1084;p53"/>
          <p:cNvSpPr txBox="1"/>
          <p:nvPr/>
        </p:nvSpPr>
        <p:spPr>
          <a:xfrm>
            <a:off x="6388100" y="990600"/>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(3,A)</a:t>
            </a:r>
            <a:endParaRPr/>
          </a:p>
        </p:txBody>
      </p:sp>
      <p:sp>
        <p:nvSpPr>
          <p:cNvPr id="1085" name="Google Shape;1085;p53"/>
          <p:cNvSpPr txBox="1"/>
          <p:nvPr/>
        </p:nvSpPr>
        <p:spPr>
          <a:xfrm>
            <a:off x="1054100" y="3048000"/>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(2,A)</a:t>
            </a:r>
            <a:endParaRPr/>
          </a:p>
        </p:txBody>
      </p:sp>
      <p:sp>
        <p:nvSpPr>
          <p:cNvPr id="1086" name="Google Shape;1086;p53"/>
          <p:cNvSpPr txBox="1"/>
          <p:nvPr/>
        </p:nvSpPr>
        <p:spPr>
          <a:xfrm>
            <a:off x="4899025" y="2524125"/>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(6,A)</a:t>
            </a:r>
            <a:endParaRPr/>
          </a:p>
        </p:txBody>
      </p:sp>
      <p:sp>
        <p:nvSpPr>
          <p:cNvPr id="1087" name="Google Shape;1087;p53"/>
          <p:cNvSpPr txBox="1"/>
          <p:nvPr/>
        </p:nvSpPr>
        <p:spPr>
          <a:xfrm>
            <a:off x="3394075" y="5043487"/>
            <a:ext cx="14700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(3,C)</a:t>
            </a:r>
            <a:endParaRPr/>
          </a:p>
        </p:txBody>
      </p:sp>
      <p:sp>
        <p:nvSpPr>
          <p:cNvPr id="1088" name="Google Shape;1088;p53"/>
          <p:cNvSpPr txBox="1"/>
          <p:nvPr/>
        </p:nvSpPr>
        <p:spPr>
          <a:xfrm>
            <a:off x="6400800" y="4997450"/>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(8,B)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093" name="Shape 1093"/>
        <p:cNvGrpSpPr/>
        <p:nvPr/>
      </p:nvGrpSpPr>
      <p:grpSpPr>
        <a:xfrm>
          <a:off x="0" y="0"/>
          <a:ext cx="0" cy="0"/>
          <a:chOff x="0" y="0"/>
          <a:chExt cx="0" cy="0"/>
        </a:xfrm>
      </p:grpSpPr>
      <p:sp>
        <p:nvSpPr>
          <p:cNvPr id="1094" name="Google Shape;1094;p54"/>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Bài tập</a:t>
            </a:r>
            <a:endParaRPr/>
          </a:p>
        </p:txBody>
      </p:sp>
      <p:sp>
        <p:nvSpPr>
          <p:cNvPr id="1095" name="Google Shape;1095;p54"/>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spcBef>
                <a:spcPts val="0"/>
              </a:spcBef>
              <a:spcAft>
                <a:spcPts val="0"/>
              </a:spcAft>
              <a:buClr>
                <a:schemeClr val="dk1"/>
              </a:buClr>
              <a:buSzPts val="2800"/>
              <a:buFont typeface="Noto Sans Symbols"/>
              <a:buNone/>
            </a:pPr>
            <a:r>
              <a:t/>
            </a:r>
            <a:endParaRPr sz="2800">
              <a:solidFill>
                <a:schemeClr val="dk1"/>
              </a:solidFill>
              <a:latin typeface="Arial"/>
              <a:ea typeface="Arial"/>
              <a:cs typeface="Arial"/>
              <a:sym typeface="Arial"/>
            </a:endParaRPr>
          </a:p>
        </p:txBody>
      </p:sp>
      <p:sp>
        <p:nvSpPr>
          <p:cNvPr id="1096" name="Google Shape;1096;p54"/>
          <p:cNvSpPr/>
          <p:nvPr/>
        </p:nvSpPr>
        <p:spPr>
          <a:xfrm>
            <a:off x="3633787" y="1695450"/>
            <a:ext cx="647700" cy="647700"/>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97" name="Google Shape;1097;p54"/>
          <p:cNvPicPr preferRelativeResize="0"/>
          <p:nvPr/>
        </p:nvPicPr>
        <p:blipFill rotWithShape="1">
          <a:blip r:embed="rId3">
            <a:alphaModFix/>
          </a:blip>
          <a:srcRect b="0" l="0" r="0" t="0"/>
          <a:stretch/>
        </p:blipFill>
        <p:spPr>
          <a:xfrm>
            <a:off x="3776662" y="1817687"/>
            <a:ext cx="423862" cy="395287"/>
          </a:xfrm>
          <a:prstGeom prst="rect">
            <a:avLst/>
          </a:prstGeom>
          <a:noFill/>
          <a:ln>
            <a:noFill/>
          </a:ln>
        </p:spPr>
      </p:pic>
      <p:cxnSp>
        <p:nvCxnSpPr>
          <p:cNvPr id="1098" name="Google Shape;1098;p54"/>
          <p:cNvCxnSpPr/>
          <p:nvPr/>
        </p:nvCxnSpPr>
        <p:spPr>
          <a:xfrm>
            <a:off x="4283075" y="2033587"/>
            <a:ext cx="2265362" cy="0"/>
          </a:xfrm>
          <a:prstGeom prst="straightConnector1">
            <a:avLst/>
          </a:prstGeom>
          <a:noFill/>
          <a:ln cap="flat" cmpd="sng" w="25400">
            <a:solidFill>
              <a:srgbClr val="000000"/>
            </a:solidFill>
            <a:prstDash val="solid"/>
            <a:miter lim="800000"/>
            <a:headEnd len="med" w="med" type="none"/>
            <a:tailEnd len="med" w="med" type="none"/>
          </a:ln>
        </p:spPr>
      </p:cxnSp>
      <p:sp>
        <p:nvSpPr>
          <p:cNvPr id="1099" name="Google Shape;1099;p54"/>
          <p:cNvSpPr/>
          <p:nvPr/>
        </p:nvSpPr>
        <p:spPr>
          <a:xfrm>
            <a:off x="6562725" y="1701800"/>
            <a:ext cx="647700" cy="646112"/>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00" name="Google Shape;1100;p54"/>
          <p:cNvPicPr preferRelativeResize="0"/>
          <p:nvPr/>
        </p:nvPicPr>
        <p:blipFill rotWithShape="1">
          <a:blip r:embed="rId4">
            <a:alphaModFix/>
          </a:blip>
          <a:srcRect b="0" l="0" r="0" t="0"/>
          <a:stretch/>
        </p:blipFill>
        <p:spPr>
          <a:xfrm>
            <a:off x="6689725" y="1822450"/>
            <a:ext cx="366712" cy="396875"/>
          </a:xfrm>
          <a:prstGeom prst="rect">
            <a:avLst/>
          </a:prstGeom>
          <a:noFill/>
          <a:ln>
            <a:noFill/>
          </a:ln>
        </p:spPr>
      </p:pic>
      <p:sp>
        <p:nvSpPr>
          <p:cNvPr id="1101" name="Google Shape;1101;p54"/>
          <p:cNvSpPr/>
          <p:nvPr/>
        </p:nvSpPr>
        <p:spPr>
          <a:xfrm>
            <a:off x="3633787" y="4572000"/>
            <a:ext cx="647700" cy="646112"/>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02" name="Google Shape;1102;p54"/>
          <p:cNvPicPr preferRelativeResize="0"/>
          <p:nvPr/>
        </p:nvPicPr>
        <p:blipFill rotWithShape="1">
          <a:blip r:embed="rId5">
            <a:alphaModFix/>
          </a:blip>
          <a:srcRect b="0" l="0" r="0" t="0"/>
          <a:stretch/>
        </p:blipFill>
        <p:spPr>
          <a:xfrm>
            <a:off x="3763962" y="4692650"/>
            <a:ext cx="363537" cy="396875"/>
          </a:xfrm>
          <a:prstGeom prst="rect">
            <a:avLst/>
          </a:prstGeom>
          <a:noFill/>
          <a:ln>
            <a:noFill/>
          </a:ln>
        </p:spPr>
      </p:pic>
      <p:cxnSp>
        <p:nvCxnSpPr>
          <p:cNvPr id="1103" name="Google Shape;1103;p54"/>
          <p:cNvCxnSpPr/>
          <p:nvPr/>
        </p:nvCxnSpPr>
        <p:spPr>
          <a:xfrm>
            <a:off x="4283075" y="4910137"/>
            <a:ext cx="2260600" cy="0"/>
          </a:xfrm>
          <a:prstGeom prst="straightConnector1">
            <a:avLst/>
          </a:prstGeom>
          <a:noFill/>
          <a:ln cap="flat" cmpd="sng" w="25400">
            <a:solidFill>
              <a:srgbClr val="000000"/>
            </a:solidFill>
            <a:prstDash val="solid"/>
            <a:miter lim="800000"/>
            <a:headEnd len="med" w="med" type="none"/>
            <a:tailEnd len="med" w="med" type="none"/>
          </a:ln>
        </p:spPr>
      </p:cxnSp>
      <p:sp>
        <p:nvSpPr>
          <p:cNvPr id="1104" name="Google Shape;1104;p54"/>
          <p:cNvSpPr/>
          <p:nvPr/>
        </p:nvSpPr>
        <p:spPr>
          <a:xfrm>
            <a:off x="6562725" y="4578350"/>
            <a:ext cx="647700" cy="64770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05" name="Google Shape;1105;p54"/>
          <p:cNvPicPr preferRelativeResize="0"/>
          <p:nvPr/>
        </p:nvPicPr>
        <p:blipFill rotWithShape="1">
          <a:blip r:embed="rId6">
            <a:alphaModFix/>
          </a:blip>
          <a:srcRect b="0" l="0" r="0" t="0"/>
          <a:stretch/>
        </p:blipFill>
        <p:spPr>
          <a:xfrm>
            <a:off x="6718300" y="4700587"/>
            <a:ext cx="365125" cy="396875"/>
          </a:xfrm>
          <a:prstGeom prst="rect">
            <a:avLst/>
          </a:prstGeom>
          <a:noFill/>
          <a:ln>
            <a:noFill/>
          </a:ln>
        </p:spPr>
      </p:pic>
      <p:cxnSp>
        <p:nvCxnSpPr>
          <p:cNvPr id="1106" name="Google Shape;1106;p54"/>
          <p:cNvCxnSpPr/>
          <p:nvPr/>
        </p:nvCxnSpPr>
        <p:spPr>
          <a:xfrm flipH="1" rot="-5400000">
            <a:off x="2839243" y="3455193"/>
            <a:ext cx="2222500" cy="1587"/>
          </a:xfrm>
          <a:prstGeom prst="straightConnector1">
            <a:avLst/>
          </a:prstGeom>
          <a:noFill/>
          <a:ln cap="flat" cmpd="sng" w="25400">
            <a:solidFill>
              <a:srgbClr val="000000"/>
            </a:solidFill>
            <a:prstDash val="solid"/>
            <a:miter lim="800000"/>
            <a:headEnd len="med" w="med" type="none"/>
            <a:tailEnd len="med" w="med" type="none"/>
          </a:ln>
        </p:spPr>
      </p:cxnSp>
      <p:cxnSp>
        <p:nvCxnSpPr>
          <p:cNvPr id="1107" name="Google Shape;1107;p54"/>
          <p:cNvCxnSpPr/>
          <p:nvPr/>
        </p:nvCxnSpPr>
        <p:spPr>
          <a:xfrm rot="5400000">
            <a:off x="5780087" y="3460750"/>
            <a:ext cx="2232025" cy="0"/>
          </a:xfrm>
          <a:prstGeom prst="straightConnector1">
            <a:avLst/>
          </a:prstGeom>
          <a:noFill/>
          <a:ln cap="flat" cmpd="sng" w="25400">
            <a:solidFill>
              <a:srgbClr val="000000"/>
            </a:solidFill>
            <a:prstDash val="solid"/>
            <a:miter lim="800000"/>
            <a:headEnd len="med" w="med" type="none"/>
            <a:tailEnd len="med" w="med" type="none"/>
          </a:ln>
        </p:spPr>
      </p:cxnSp>
      <p:cxnSp>
        <p:nvCxnSpPr>
          <p:cNvPr id="1108" name="Google Shape;1108;p54"/>
          <p:cNvCxnSpPr/>
          <p:nvPr/>
        </p:nvCxnSpPr>
        <p:spPr>
          <a:xfrm rot="5400000">
            <a:off x="4186237" y="3698875"/>
            <a:ext cx="976312" cy="985837"/>
          </a:xfrm>
          <a:prstGeom prst="straightConnector1">
            <a:avLst/>
          </a:prstGeom>
          <a:noFill/>
          <a:ln cap="flat" cmpd="sng" w="25400">
            <a:solidFill>
              <a:srgbClr val="000000"/>
            </a:solidFill>
            <a:prstDash val="solid"/>
            <a:miter lim="800000"/>
            <a:headEnd len="med" w="med" type="none"/>
            <a:tailEnd len="med" w="med" type="none"/>
          </a:ln>
        </p:spPr>
      </p:cxnSp>
      <p:cxnSp>
        <p:nvCxnSpPr>
          <p:cNvPr id="1109" name="Google Shape;1109;p54"/>
          <p:cNvCxnSpPr/>
          <p:nvPr/>
        </p:nvCxnSpPr>
        <p:spPr>
          <a:xfrm flipH="1" rot="-5400000">
            <a:off x="4175918" y="2256631"/>
            <a:ext cx="985837" cy="1006475"/>
          </a:xfrm>
          <a:prstGeom prst="straightConnector1">
            <a:avLst/>
          </a:prstGeom>
          <a:noFill/>
          <a:ln cap="flat" cmpd="sng" w="25400">
            <a:solidFill>
              <a:srgbClr val="000000"/>
            </a:solidFill>
            <a:prstDash val="solid"/>
            <a:miter lim="800000"/>
            <a:headEnd len="med" w="med" type="none"/>
            <a:tailEnd len="med" w="med" type="none"/>
          </a:ln>
        </p:spPr>
      </p:cxnSp>
      <p:sp>
        <p:nvSpPr>
          <p:cNvPr id="1110" name="Google Shape;1110;p54"/>
          <p:cNvSpPr/>
          <p:nvPr/>
        </p:nvSpPr>
        <p:spPr>
          <a:xfrm>
            <a:off x="5076825" y="3160712"/>
            <a:ext cx="647700" cy="647700"/>
          </a:xfrm>
          <a:prstGeom prst="ellipse">
            <a:avLst/>
          </a:prstGeom>
          <a:solidFill>
            <a:srgbClr val="00CCFF"/>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11" name="Google Shape;1111;p54"/>
          <p:cNvPicPr preferRelativeResize="0"/>
          <p:nvPr/>
        </p:nvPicPr>
        <p:blipFill rotWithShape="1">
          <a:blip r:embed="rId7">
            <a:alphaModFix/>
          </a:blip>
          <a:srcRect b="0" l="0" r="0" t="0"/>
          <a:stretch/>
        </p:blipFill>
        <p:spPr>
          <a:xfrm>
            <a:off x="5194300" y="3282950"/>
            <a:ext cx="396875" cy="396875"/>
          </a:xfrm>
          <a:prstGeom prst="rect">
            <a:avLst/>
          </a:prstGeom>
          <a:noFill/>
          <a:ln>
            <a:noFill/>
          </a:ln>
        </p:spPr>
      </p:pic>
      <p:sp>
        <p:nvSpPr>
          <p:cNvPr id="1112" name="Google Shape;1112;p54"/>
          <p:cNvSpPr/>
          <p:nvPr/>
        </p:nvSpPr>
        <p:spPr>
          <a:xfrm>
            <a:off x="2120900" y="3167062"/>
            <a:ext cx="647700" cy="646112"/>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13" name="Google Shape;1113;p54"/>
          <p:cNvCxnSpPr/>
          <p:nvPr/>
        </p:nvCxnSpPr>
        <p:spPr>
          <a:xfrm rot="5400000">
            <a:off x="2694781" y="2243931"/>
            <a:ext cx="1017587" cy="1028700"/>
          </a:xfrm>
          <a:prstGeom prst="straightConnector1">
            <a:avLst/>
          </a:prstGeom>
          <a:noFill/>
          <a:ln cap="flat" cmpd="sng" w="25400">
            <a:solidFill>
              <a:srgbClr val="000000"/>
            </a:solidFill>
            <a:prstDash val="solid"/>
            <a:miter lim="800000"/>
            <a:headEnd len="med" w="med" type="none"/>
            <a:tailEnd len="med" w="med" type="none"/>
          </a:ln>
        </p:spPr>
      </p:cxnSp>
      <p:cxnSp>
        <p:nvCxnSpPr>
          <p:cNvPr id="1114" name="Google Shape;1114;p54"/>
          <p:cNvCxnSpPr/>
          <p:nvPr/>
        </p:nvCxnSpPr>
        <p:spPr>
          <a:xfrm flipH="1" rot="-5400000">
            <a:off x="2699543" y="3712368"/>
            <a:ext cx="974725" cy="995362"/>
          </a:xfrm>
          <a:prstGeom prst="straightConnector1">
            <a:avLst/>
          </a:prstGeom>
          <a:noFill/>
          <a:ln cap="flat" cmpd="sng" w="25400">
            <a:solidFill>
              <a:srgbClr val="000000"/>
            </a:solidFill>
            <a:prstDash val="solid"/>
            <a:miter lim="800000"/>
            <a:headEnd len="med" w="med" type="none"/>
            <a:tailEnd len="med" w="med" type="none"/>
          </a:ln>
        </p:spPr>
      </p:cxnSp>
      <p:cxnSp>
        <p:nvCxnSpPr>
          <p:cNvPr id="1115" name="Google Shape;1115;p54"/>
          <p:cNvCxnSpPr/>
          <p:nvPr/>
        </p:nvCxnSpPr>
        <p:spPr>
          <a:xfrm rot="5400000">
            <a:off x="5620543" y="2229643"/>
            <a:ext cx="1009650" cy="1020762"/>
          </a:xfrm>
          <a:prstGeom prst="straightConnector1">
            <a:avLst/>
          </a:prstGeom>
          <a:noFill/>
          <a:ln cap="flat" cmpd="sng" w="25400">
            <a:solidFill>
              <a:srgbClr val="000000"/>
            </a:solidFill>
            <a:prstDash val="solid"/>
            <a:miter lim="800000"/>
            <a:headEnd len="med" w="med" type="none"/>
            <a:tailEnd len="med" w="med" type="none"/>
          </a:ln>
        </p:spPr>
      </p:cxnSp>
      <p:cxnSp>
        <p:nvCxnSpPr>
          <p:cNvPr id="1116" name="Google Shape;1116;p54"/>
          <p:cNvCxnSpPr/>
          <p:nvPr/>
        </p:nvCxnSpPr>
        <p:spPr>
          <a:xfrm flipH="1" rot="-5400000">
            <a:off x="5640387" y="3703637"/>
            <a:ext cx="984250" cy="1006475"/>
          </a:xfrm>
          <a:prstGeom prst="straightConnector1">
            <a:avLst/>
          </a:prstGeom>
          <a:noFill/>
          <a:ln cap="flat" cmpd="sng" w="25400">
            <a:solidFill>
              <a:srgbClr val="000000"/>
            </a:solidFill>
            <a:prstDash val="solid"/>
            <a:miter lim="800000"/>
            <a:headEnd len="med" w="med" type="none"/>
            <a:tailEnd len="med" w="med" type="none"/>
          </a:ln>
        </p:spPr>
      </p:cxnSp>
      <p:pic>
        <p:nvPicPr>
          <p:cNvPr id="1117" name="Google Shape;1117;p54"/>
          <p:cNvPicPr preferRelativeResize="0"/>
          <p:nvPr/>
        </p:nvPicPr>
        <p:blipFill rotWithShape="1">
          <a:blip r:embed="rId8">
            <a:alphaModFix/>
          </a:blip>
          <a:srcRect b="0" l="0" r="0" t="0"/>
          <a:stretch/>
        </p:blipFill>
        <p:spPr>
          <a:xfrm>
            <a:off x="2262187" y="3300412"/>
            <a:ext cx="395287" cy="422275"/>
          </a:xfrm>
          <a:prstGeom prst="rect">
            <a:avLst/>
          </a:prstGeom>
          <a:noFill/>
          <a:ln>
            <a:noFill/>
          </a:ln>
        </p:spPr>
      </p:pic>
      <p:pic>
        <p:nvPicPr>
          <p:cNvPr id="1118" name="Google Shape;1118;p54"/>
          <p:cNvPicPr preferRelativeResize="0"/>
          <p:nvPr/>
        </p:nvPicPr>
        <p:blipFill rotWithShape="1">
          <a:blip r:embed="rId9">
            <a:alphaModFix/>
          </a:blip>
          <a:srcRect b="0" l="0" r="0" t="0"/>
          <a:stretch/>
        </p:blipFill>
        <p:spPr>
          <a:xfrm>
            <a:off x="2898775" y="4125912"/>
            <a:ext cx="274637" cy="395287"/>
          </a:xfrm>
          <a:prstGeom prst="rect">
            <a:avLst/>
          </a:prstGeom>
          <a:noFill/>
          <a:ln>
            <a:noFill/>
          </a:ln>
        </p:spPr>
      </p:pic>
      <p:pic>
        <p:nvPicPr>
          <p:cNvPr id="1119" name="Google Shape;1119;p54"/>
          <p:cNvPicPr preferRelativeResize="0"/>
          <p:nvPr/>
        </p:nvPicPr>
        <p:blipFill rotWithShape="1">
          <a:blip r:embed="rId10">
            <a:alphaModFix/>
          </a:blip>
          <a:srcRect b="0" l="0" r="0" t="0"/>
          <a:stretch/>
        </p:blipFill>
        <p:spPr>
          <a:xfrm>
            <a:off x="2908300" y="2366962"/>
            <a:ext cx="304800" cy="396875"/>
          </a:xfrm>
          <a:prstGeom prst="rect">
            <a:avLst/>
          </a:prstGeom>
          <a:noFill/>
          <a:ln>
            <a:noFill/>
          </a:ln>
        </p:spPr>
      </p:pic>
      <p:pic>
        <p:nvPicPr>
          <p:cNvPr id="1120" name="Google Shape;1120;p54"/>
          <p:cNvPicPr preferRelativeResize="0"/>
          <p:nvPr/>
        </p:nvPicPr>
        <p:blipFill rotWithShape="1">
          <a:blip r:embed="rId11">
            <a:alphaModFix/>
          </a:blip>
          <a:srcRect b="0" l="0" r="0" t="0"/>
          <a:stretch/>
        </p:blipFill>
        <p:spPr>
          <a:xfrm>
            <a:off x="5291137" y="1600200"/>
            <a:ext cx="303212" cy="423862"/>
          </a:xfrm>
          <a:prstGeom prst="rect">
            <a:avLst/>
          </a:prstGeom>
          <a:noFill/>
          <a:ln>
            <a:noFill/>
          </a:ln>
        </p:spPr>
      </p:pic>
      <p:pic>
        <p:nvPicPr>
          <p:cNvPr id="1121" name="Google Shape;1121;p54"/>
          <p:cNvPicPr preferRelativeResize="0"/>
          <p:nvPr/>
        </p:nvPicPr>
        <p:blipFill rotWithShape="1">
          <a:blip r:embed="rId12">
            <a:alphaModFix/>
          </a:blip>
          <a:srcRect b="0" l="0" r="0" t="0"/>
          <a:stretch/>
        </p:blipFill>
        <p:spPr>
          <a:xfrm>
            <a:off x="6943725" y="3213100"/>
            <a:ext cx="304800" cy="423862"/>
          </a:xfrm>
          <a:prstGeom prst="rect">
            <a:avLst/>
          </a:prstGeom>
          <a:noFill/>
          <a:ln>
            <a:noFill/>
          </a:ln>
        </p:spPr>
      </p:pic>
      <p:pic>
        <p:nvPicPr>
          <p:cNvPr id="1122" name="Google Shape;1122;p54"/>
          <p:cNvPicPr preferRelativeResize="0"/>
          <p:nvPr/>
        </p:nvPicPr>
        <p:blipFill rotWithShape="1">
          <a:blip r:embed="rId13">
            <a:alphaModFix/>
          </a:blip>
          <a:srcRect b="0" l="0" r="0" t="0"/>
          <a:stretch/>
        </p:blipFill>
        <p:spPr>
          <a:xfrm>
            <a:off x="3606800" y="3244850"/>
            <a:ext cx="304800" cy="393700"/>
          </a:xfrm>
          <a:prstGeom prst="rect">
            <a:avLst/>
          </a:prstGeom>
          <a:noFill/>
          <a:ln>
            <a:noFill/>
          </a:ln>
        </p:spPr>
      </p:pic>
      <p:pic>
        <p:nvPicPr>
          <p:cNvPr id="1123" name="Google Shape;1123;p54"/>
          <p:cNvPicPr preferRelativeResize="0"/>
          <p:nvPr/>
        </p:nvPicPr>
        <p:blipFill rotWithShape="1">
          <a:blip r:embed="rId14">
            <a:alphaModFix/>
          </a:blip>
          <a:srcRect b="0" l="0" r="0" t="0"/>
          <a:stretch/>
        </p:blipFill>
        <p:spPr>
          <a:xfrm>
            <a:off x="5789612" y="2425700"/>
            <a:ext cx="304800" cy="425450"/>
          </a:xfrm>
          <a:prstGeom prst="rect">
            <a:avLst/>
          </a:prstGeom>
          <a:noFill/>
          <a:ln>
            <a:noFill/>
          </a:ln>
        </p:spPr>
      </p:pic>
      <p:pic>
        <p:nvPicPr>
          <p:cNvPr id="1124" name="Google Shape;1124;p54"/>
          <p:cNvPicPr preferRelativeResize="0"/>
          <p:nvPr/>
        </p:nvPicPr>
        <p:blipFill rotWithShape="1">
          <a:blip r:embed="rId10">
            <a:alphaModFix/>
          </a:blip>
          <a:srcRect b="0" l="0" r="0" t="0"/>
          <a:stretch/>
        </p:blipFill>
        <p:spPr>
          <a:xfrm>
            <a:off x="4714875" y="4070350"/>
            <a:ext cx="304800" cy="396875"/>
          </a:xfrm>
          <a:prstGeom prst="rect">
            <a:avLst/>
          </a:prstGeom>
          <a:noFill/>
          <a:ln>
            <a:noFill/>
          </a:ln>
        </p:spPr>
      </p:pic>
      <p:pic>
        <p:nvPicPr>
          <p:cNvPr id="1125" name="Google Shape;1125;p54"/>
          <p:cNvPicPr preferRelativeResize="0"/>
          <p:nvPr/>
        </p:nvPicPr>
        <p:blipFill rotWithShape="1">
          <a:blip r:embed="rId9">
            <a:alphaModFix/>
          </a:blip>
          <a:srcRect b="0" l="0" r="0" t="0"/>
          <a:stretch/>
        </p:blipFill>
        <p:spPr>
          <a:xfrm>
            <a:off x="5802312" y="4094162"/>
            <a:ext cx="274637" cy="395287"/>
          </a:xfrm>
          <a:prstGeom prst="rect">
            <a:avLst/>
          </a:prstGeom>
          <a:noFill/>
          <a:ln>
            <a:noFill/>
          </a:ln>
        </p:spPr>
      </p:pic>
      <p:pic>
        <p:nvPicPr>
          <p:cNvPr id="1126" name="Google Shape;1126;p54"/>
          <p:cNvPicPr preferRelativeResize="0"/>
          <p:nvPr/>
        </p:nvPicPr>
        <p:blipFill rotWithShape="1">
          <a:blip r:embed="rId15">
            <a:alphaModFix/>
          </a:blip>
          <a:srcRect b="0" l="0" r="0" t="0"/>
          <a:stretch/>
        </p:blipFill>
        <p:spPr>
          <a:xfrm>
            <a:off x="5276850" y="4906962"/>
            <a:ext cx="304800" cy="395287"/>
          </a:xfrm>
          <a:prstGeom prst="rect">
            <a:avLst/>
          </a:prstGeom>
          <a:noFill/>
          <a:ln>
            <a:noFill/>
          </a:ln>
        </p:spPr>
      </p:pic>
      <p:pic>
        <p:nvPicPr>
          <p:cNvPr id="1127" name="Google Shape;1127;p54"/>
          <p:cNvPicPr preferRelativeResize="0"/>
          <p:nvPr/>
        </p:nvPicPr>
        <p:blipFill rotWithShape="1">
          <a:blip r:embed="rId16">
            <a:alphaModFix/>
          </a:blip>
          <a:srcRect b="0" l="0" r="0" t="0"/>
          <a:stretch/>
        </p:blipFill>
        <p:spPr>
          <a:xfrm>
            <a:off x="4737100" y="2495550"/>
            <a:ext cx="304800" cy="423862"/>
          </a:xfrm>
          <a:prstGeom prst="rect">
            <a:avLst/>
          </a:prstGeom>
          <a:noFill/>
          <a:ln>
            <a:noFill/>
          </a:ln>
        </p:spPr>
      </p:pic>
      <p:sp>
        <p:nvSpPr>
          <p:cNvPr id="1128" name="Google Shape;1128;p54"/>
          <p:cNvSpPr txBox="1"/>
          <p:nvPr/>
        </p:nvSpPr>
        <p:spPr>
          <a:xfrm>
            <a:off x="3492500" y="1174750"/>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(0,∅)</a:t>
            </a:r>
            <a:endParaRPr/>
          </a:p>
        </p:txBody>
      </p:sp>
      <p:sp>
        <p:nvSpPr>
          <p:cNvPr id="1129" name="Google Shape;1129;p54"/>
          <p:cNvSpPr txBox="1"/>
          <p:nvPr/>
        </p:nvSpPr>
        <p:spPr>
          <a:xfrm>
            <a:off x="6388100" y="1143000"/>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(3,A)</a:t>
            </a:r>
            <a:endParaRPr/>
          </a:p>
        </p:txBody>
      </p:sp>
      <p:sp>
        <p:nvSpPr>
          <p:cNvPr id="1130" name="Google Shape;1130;p54"/>
          <p:cNvSpPr txBox="1"/>
          <p:nvPr/>
        </p:nvSpPr>
        <p:spPr>
          <a:xfrm>
            <a:off x="1054100" y="3200400"/>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(2,A)</a:t>
            </a:r>
            <a:endParaRPr/>
          </a:p>
        </p:txBody>
      </p:sp>
      <p:sp>
        <p:nvSpPr>
          <p:cNvPr id="1131" name="Google Shape;1131;p54"/>
          <p:cNvSpPr txBox="1"/>
          <p:nvPr/>
        </p:nvSpPr>
        <p:spPr>
          <a:xfrm>
            <a:off x="4899025" y="2676525"/>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(6,A)</a:t>
            </a:r>
            <a:endParaRPr/>
          </a:p>
        </p:txBody>
      </p:sp>
      <p:sp>
        <p:nvSpPr>
          <p:cNvPr id="1132" name="Google Shape;1132;p54"/>
          <p:cNvSpPr txBox="1"/>
          <p:nvPr/>
        </p:nvSpPr>
        <p:spPr>
          <a:xfrm>
            <a:off x="3394075" y="5195887"/>
            <a:ext cx="147002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(3,C)</a:t>
            </a:r>
            <a:endParaRPr/>
          </a:p>
        </p:txBody>
      </p:sp>
      <p:sp>
        <p:nvSpPr>
          <p:cNvPr id="1133" name="Google Shape;1133;p54"/>
          <p:cNvSpPr txBox="1"/>
          <p:nvPr/>
        </p:nvSpPr>
        <p:spPr>
          <a:xfrm>
            <a:off x="4886325" y="2681287"/>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(5,E)</a:t>
            </a:r>
            <a:endParaRPr/>
          </a:p>
        </p:txBody>
      </p:sp>
      <p:sp>
        <p:nvSpPr>
          <p:cNvPr id="1134" name="Google Shape;1134;p54"/>
          <p:cNvSpPr txBox="1"/>
          <p:nvPr/>
        </p:nvSpPr>
        <p:spPr>
          <a:xfrm>
            <a:off x="6400800" y="5149850"/>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(8,B)</a:t>
            </a:r>
            <a:endParaRPr/>
          </a:p>
        </p:txBody>
      </p:sp>
      <p:sp>
        <p:nvSpPr>
          <p:cNvPr id="1135" name="Google Shape;1135;p54"/>
          <p:cNvSpPr txBox="1"/>
          <p:nvPr/>
        </p:nvSpPr>
        <p:spPr>
          <a:xfrm>
            <a:off x="6388100" y="5181600"/>
            <a:ext cx="1066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(7,E)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140" name="Shape 1140"/>
        <p:cNvGrpSpPr/>
        <p:nvPr/>
      </p:nvGrpSpPr>
      <p:grpSpPr>
        <a:xfrm>
          <a:off x="0" y="0"/>
          <a:ext cx="0" cy="0"/>
          <a:chOff x="0" y="0"/>
          <a:chExt cx="0" cy="0"/>
        </a:xfrm>
      </p:grpSpPr>
      <p:sp>
        <p:nvSpPr>
          <p:cNvPr id="1141" name="Google Shape;1141;p55"/>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Bài tập</a:t>
            </a:r>
            <a:endParaRPr/>
          </a:p>
        </p:txBody>
      </p:sp>
      <p:sp>
        <p:nvSpPr>
          <p:cNvPr id="1142" name="Google Shape;1142;p55"/>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spcBef>
                <a:spcPts val="0"/>
              </a:spcBef>
              <a:spcAft>
                <a:spcPts val="0"/>
              </a:spcAft>
              <a:buClr>
                <a:schemeClr val="dk1"/>
              </a:buClr>
              <a:buSzPts val="2800"/>
              <a:buFont typeface="Noto Sans Symbols"/>
              <a:buNone/>
            </a:pPr>
            <a:r>
              <a:t/>
            </a:r>
            <a:endParaRPr sz="2800">
              <a:solidFill>
                <a:schemeClr val="dk1"/>
              </a:solidFill>
              <a:latin typeface="Arial"/>
              <a:ea typeface="Arial"/>
              <a:cs typeface="Arial"/>
              <a:sym typeface="Arial"/>
            </a:endParaRPr>
          </a:p>
        </p:txBody>
      </p:sp>
      <p:grpSp>
        <p:nvGrpSpPr>
          <p:cNvPr id="1143" name="Google Shape;1143;p55"/>
          <p:cNvGrpSpPr/>
          <p:nvPr/>
        </p:nvGrpSpPr>
        <p:grpSpPr>
          <a:xfrm>
            <a:off x="1066800" y="685800"/>
            <a:ext cx="6477000" cy="4633912"/>
            <a:chOff x="480" y="432"/>
            <a:chExt cx="4080" cy="2919"/>
          </a:xfrm>
        </p:grpSpPr>
        <p:sp>
          <p:nvSpPr>
            <p:cNvPr id="1144" name="Google Shape;1144;p55"/>
            <p:cNvSpPr/>
            <p:nvPr/>
          </p:nvSpPr>
          <p:spPr>
            <a:xfrm>
              <a:off x="2105" y="780"/>
              <a:ext cx="408" cy="408"/>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45" name="Google Shape;1145;p55"/>
            <p:cNvPicPr preferRelativeResize="0"/>
            <p:nvPr/>
          </p:nvPicPr>
          <p:blipFill rotWithShape="1">
            <a:blip r:embed="rId3">
              <a:alphaModFix/>
            </a:blip>
            <a:srcRect b="0" l="0" r="0" t="0"/>
            <a:stretch/>
          </p:blipFill>
          <p:spPr>
            <a:xfrm>
              <a:off x="2195" y="857"/>
              <a:ext cx="267" cy="249"/>
            </a:xfrm>
            <a:prstGeom prst="rect">
              <a:avLst/>
            </a:prstGeom>
            <a:noFill/>
            <a:ln>
              <a:noFill/>
            </a:ln>
          </p:spPr>
        </p:pic>
        <p:cxnSp>
          <p:nvCxnSpPr>
            <p:cNvPr id="1146" name="Google Shape;1146;p55"/>
            <p:cNvCxnSpPr/>
            <p:nvPr/>
          </p:nvCxnSpPr>
          <p:spPr>
            <a:xfrm>
              <a:off x="2514" y="993"/>
              <a:ext cx="1427" cy="0"/>
            </a:xfrm>
            <a:prstGeom prst="straightConnector1">
              <a:avLst/>
            </a:prstGeom>
            <a:noFill/>
            <a:ln cap="flat" cmpd="sng" w="25400">
              <a:solidFill>
                <a:srgbClr val="000000"/>
              </a:solidFill>
              <a:prstDash val="solid"/>
              <a:miter lim="800000"/>
              <a:headEnd len="med" w="med" type="none"/>
              <a:tailEnd len="med" w="med" type="none"/>
            </a:ln>
          </p:spPr>
        </p:cxnSp>
        <p:sp>
          <p:nvSpPr>
            <p:cNvPr id="1147" name="Google Shape;1147;p55"/>
            <p:cNvSpPr/>
            <p:nvPr/>
          </p:nvSpPr>
          <p:spPr>
            <a:xfrm>
              <a:off x="3950" y="784"/>
              <a:ext cx="408" cy="407"/>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48" name="Google Shape;1148;p55"/>
            <p:cNvPicPr preferRelativeResize="0"/>
            <p:nvPr/>
          </p:nvPicPr>
          <p:blipFill rotWithShape="1">
            <a:blip r:embed="rId4">
              <a:alphaModFix/>
            </a:blip>
            <a:srcRect b="0" l="0" r="0" t="0"/>
            <a:stretch/>
          </p:blipFill>
          <p:spPr>
            <a:xfrm>
              <a:off x="4030" y="860"/>
              <a:ext cx="231" cy="250"/>
            </a:xfrm>
            <a:prstGeom prst="rect">
              <a:avLst/>
            </a:prstGeom>
            <a:noFill/>
            <a:ln>
              <a:noFill/>
            </a:ln>
          </p:spPr>
        </p:pic>
        <p:sp>
          <p:nvSpPr>
            <p:cNvPr id="1149" name="Google Shape;1149;p55"/>
            <p:cNvSpPr/>
            <p:nvPr/>
          </p:nvSpPr>
          <p:spPr>
            <a:xfrm>
              <a:off x="2105" y="2592"/>
              <a:ext cx="408" cy="407"/>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50" name="Google Shape;1150;p55"/>
            <p:cNvPicPr preferRelativeResize="0"/>
            <p:nvPr/>
          </p:nvPicPr>
          <p:blipFill rotWithShape="1">
            <a:blip r:embed="rId5">
              <a:alphaModFix/>
            </a:blip>
            <a:srcRect b="0" l="0" r="0" t="0"/>
            <a:stretch/>
          </p:blipFill>
          <p:spPr>
            <a:xfrm>
              <a:off x="2187" y="2668"/>
              <a:ext cx="229" cy="250"/>
            </a:xfrm>
            <a:prstGeom prst="rect">
              <a:avLst/>
            </a:prstGeom>
            <a:noFill/>
            <a:ln>
              <a:noFill/>
            </a:ln>
          </p:spPr>
        </p:pic>
        <p:cxnSp>
          <p:nvCxnSpPr>
            <p:cNvPr id="1151" name="Google Shape;1151;p55"/>
            <p:cNvCxnSpPr/>
            <p:nvPr/>
          </p:nvCxnSpPr>
          <p:spPr>
            <a:xfrm>
              <a:off x="2514" y="2805"/>
              <a:ext cx="1424" cy="0"/>
            </a:xfrm>
            <a:prstGeom prst="straightConnector1">
              <a:avLst/>
            </a:prstGeom>
            <a:noFill/>
            <a:ln cap="flat" cmpd="sng" w="25400">
              <a:solidFill>
                <a:srgbClr val="000000"/>
              </a:solidFill>
              <a:prstDash val="solid"/>
              <a:miter lim="800000"/>
              <a:headEnd len="med" w="med" type="none"/>
              <a:tailEnd len="med" w="med" type="none"/>
            </a:ln>
          </p:spPr>
        </p:cxnSp>
        <p:sp>
          <p:nvSpPr>
            <p:cNvPr id="1152" name="Google Shape;1152;p55"/>
            <p:cNvSpPr/>
            <p:nvPr/>
          </p:nvSpPr>
          <p:spPr>
            <a:xfrm>
              <a:off x="3950" y="2596"/>
              <a:ext cx="408" cy="408"/>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53" name="Google Shape;1153;p55"/>
            <p:cNvPicPr preferRelativeResize="0"/>
            <p:nvPr/>
          </p:nvPicPr>
          <p:blipFill rotWithShape="1">
            <a:blip r:embed="rId6">
              <a:alphaModFix/>
            </a:blip>
            <a:srcRect b="0" l="0" r="0" t="0"/>
            <a:stretch/>
          </p:blipFill>
          <p:spPr>
            <a:xfrm>
              <a:off x="4048" y="2673"/>
              <a:ext cx="230" cy="250"/>
            </a:xfrm>
            <a:prstGeom prst="rect">
              <a:avLst/>
            </a:prstGeom>
            <a:noFill/>
            <a:ln>
              <a:noFill/>
            </a:ln>
          </p:spPr>
        </p:pic>
        <p:cxnSp>
          <p:nvCxnSpPr>
            <p:cNvPr id="1154" name="Google Shape;1154;p55"/>
            <p:cNvCxnSpPr/>
            <p:nvPr/>
          </p:nvCxnSpPr>
          <p:spPr>
            <a:xfrm flipH="1" rot="-5400000">
              <a:off x="1604" y="1888"/>
              <a:ext cx="1400" cy="1"/>
            </a:xfrm>
            <a:prstGeom prst="straightConnector1">
              <a:avLst/>
            </a:prstGeom>
            <a:noFill/>
            <a:ln cap="flat" cmpd="sng" w="25400">
              <a:solidFill>
                <a:srgbClr val="000000"/>
              </a:solidFill>
              <a:prstDash val="solid"/>
              <a:miter lim="800000"/>
              <a:headEnd len="med" w="med" type="none"/>
              <a:tailEnd len="med" w="med" type="none"/>
            </a:ln>
          </p:spPr>
        </p:cxnSp>
        <p:cxnSp>
          <p:nvCxnSpPr>
            <p:cNvPr id="1155" name="Google Shape;1155;p55"/>
            <p:cNvCxnSpPr/>
            <p:nvPr/>
          </p:nvCxnSpPr>
          <p:spPr>
            <a:xfrm rot="5400000">
              <a:off x="3457" y="1892"/>
              <a:ext cx="1406" cy="0"/>
            </a:xfrm>
            <a:prstGeom prst="straightConnector1">
              <a:avLst/>
            </a:prstGeom>
            <a:noFill/>
            <a:ln cap="flat" cmpd="sng" w="25400">
              <a:solidFill>
                <a:srgbClr val="000000"/>
              </a:solidFill>
              <a:prstDash val="solid"/>
              <a:miter lim="800000"/>
              <a:headEnd len="med" w="med" type="none"/>
              <a:tailEnd len="med" w="med" type="none"/>
            </a:ln>
          </p:spPr>
        </p:cxnSp>
        <p:cxnSp>
          <p:nvCxnSpPr>
            <p:cNvPr id="1156" name="Google Shape;1156;p55"/>
            <p:cNvCxnSpPr/>
            <p:nvPr/>
          </p:nvCxnSpPr>
          <p:spPr>
            <a:xfrm rot="5400000">
              <a:off x="2453" y="2042"/>
              <a:ext cx="615" cy="621"/>
            </a:xfrm>
            <a:prstGeom prst="straightConnector1">
              <a:avLst/>
            </a:prstGeom>
            <a:noFill/>
            <a:ln cap="flat" cmpd="sng" w="25400">
              <a:solidFill>
                <a:srgbClr val="000000"/>
              </a:solidFill>
              <a:prstDash val="solid"/>
              <a:miter lim="800000"/>
              <a:headEnd len="med" w="med" type="none"/>
              <a:tailEnd len="med" w="med" type="none"/>
            </a:ln>
          </p:spPr>
        </p:cxnSp>
        <p:cxnSp>
          <p:nvCxnSpPr>
            <p:cNvPr id="1157" name="Google Shape;1157;p55"/>
            <p:cNvCxnSpPr/>
            <p:nvPr/>
          </p:nvCxnSpPr>
          <p:spPr>
            <a:xfrm flipH="1" rot="-5400000">
              <a:off x="2446" y="1133"/>
              <a:ext cx="621" cy="634"/>
            </a:xfrm>
            <a:prstGeom prst="straightConnector1">
              <a:avLst/>
            </a:prstGeom>
            <a:noFill/>
            <a:ln cap="flat" cmpd="sng" w="25400">
              <a:solidFill>
                <a:srgbClr val="000000"/>
              </a:solidFill>
              <a:prstDash val="solid"/>
              <a:miter lim="800000"/>
              <a:headEnd len="med" w="med" type="none"/>
              <a:tailEnd len="med" w="med" type="none"/>
            </a:ln>
          </p:spPr>
        </p:cxnSp>
        <p:sp>
          <p:nvSpPr>
            <p:cNvPr id="1158" name="Google Shape;1158;p55"/>
            <p:cNvSpPr/>
            <p:nvPr/>
          </p:nvSpPr>
          <p:spPr>
            <a:xfrm>
              <a:off x="3014" y="1703"/>
              <a:ext cx="408" cy="408"/>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59" name="Google Shape;1159;p55"/>
            <p:cNvPicPr preferRelativeResize="0"/>
            <p:nvPr/>
          </p:nvPicPr>
          <p:blipFill rotWithShape="1">
            <a:blip r:embed="rId7">
              <a:alphaModFix/>
            </a:blip>
            <a:srcRect b="0" l="0" r="0" t="0"/>
            <a:stretch/>
          </p:blipFill>
          <p:spPr>
            <a:xfrm>
              <a:off x="3088" y="1780"/>
              <a:ext cx="250" cy="250"/>
            </a:xfrm>
            <a:prstGeom prst="rect">
              <a:avLst/>
            </a:prstGeom>
            <a:noFill/>
            <a:ln>
              <a:noFill/>
            </a:ln>
          </p:spPr>
        </p:pic>
        <p:sp>
          <p:nvSpPr>
            <p:cNvPr id="1160" name="Google Shape;1160;p55"/>
            <p:cNvSpPr/>
            <p:nvPr/>
          </p:nvSpPr>
          <p:spPr>
            <a:xfrm>
              <a:off x="1152" y="1707"/>
              <a:ext cx="408" cy="407"/>
            </a:xfrm>
            <a:prstGeom prst="ellipse">
              <a:avLst/>
            </a:prstGeom>
            <a:solidFill>
              <a:srgbClr val="FF0066"/>
            </a:solidFill>
            <a:ln cap="flat" cmpd="sng" w="254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61" name="Google Shape;1161;p55"/>
            <p:cNvCxnSpPr/>
            <p:nvPr/>
          </p:nvCxnSpPr>
          <p:spPr>
            <a:xfrm rot="5400000">
              <a:off x="1513" y="1125"/>
              <a:ext cx="641" cy="648"/>
            </a:xfrm>
            <a:prstGeom prst="straightConnector1">
              <a:avLst/>
            </a:prstGeom>
            <a:noFill/>
            <a:ln cap="flat" cmpd="sng" w="25400">
              <a:solidFill>
                <a:srgbClr val="000000"/>
              </a:solidFill>
              <a:prstDash val="solid"/>
              <a:miter lim="800000"/>
              <a:headEnd len="med" w="med" type="none"/>
              <a:tailEnd len="med" w="med" type="none"/>
            </a:ln>
          </p:spPr>
        </p:cxnSp>
        <p:cxnSp>
          <p:nvCxnSpPr>
            <p:cNvPr id="1162" name="Google Shape;1162;p55"/>
            <p:cNvCxnSpPr/>
            <p:nvPr/>
          </p:nvCxnSpPr>
          <p:spPr>
            <a:xfrm flipH="1" rot="-5400000">
              <a:off x="1516" y="2050"/>
              <a:ext cx="614" cy="627"/>
            </a:xfrm>
            <a:prstGeom prst="straightConnector1">
              <a:avLst/>
            </a:prstGeom>
            <a:noFill/>
            <a:ln cap="flat" cmpd="sng" w="25400">
              <a:solidFill>
                <a:srgbClr val="000000"/>
              </a:solidFill>
              <a:prstDash val="solid"/>
              <a:miter lim="800000"/>
              <a:headEnd len="med" w="med" type="none"/>
              <a:tailEnd len="med" w="med" type="none"/>
            </a:ln>
          </p:spPr>
        </p:cxnSp>
        <p:cxnSp>
          <p:nvCxnSpPr>
            <p:cNvPr id="1163" name="Google Shape;1163;p55"/>
            <p:cNvCxnSpPr/>
            <p:nvPr/>
          </p:nvCxnSpPr>
          <p:spPr>
            <a:xfrm rot="5400000">
              <a:off x="3356" y="1116"/>
              <a:ext cx="636" cy="643"/>
            </a:xfrm>
            <a:prstGeom prst="straightConnector1">
              <a:avLst/>
            </a:prstGeom>
            <a:noFill/>
            <a:ln cap="flat" cmpd="sng" w="25400">
              <a:solidFill>
                <a:srgbClr val="000000"/>
              </a:solidFill>
              <a:prstDash val="solid"/>
              <a:miter lim="800000"/>
              <a:headEnd len="med" w="med" type="none"/>
              <a:tailEnd len="med" w="med" type="none"/>
            </a:ln>
          </p:spPr>
        </p:cxnSp>
        <p:cxnSp>
          <p:nvCxnSpPr>
            <p:cNvPr id="1164" name="Google Shape;1164;p55"/>
            <p:cNvCxnSpPr/>
            <p:nvPr/>
          </p:nvCxnSpPr>
          <p:spPr>
            <a:xfrm flipH="1" rot="-5400000">
              <a:off x="3369" y="2045"/>
              <a:ext cx="620" cy="634"/>
            </a:xfrm>
            <a:prstGeom prst="straightConnector1">
              <a:avLst/>
            </a:prstGeom>
            <a:noFill/>
            <a:ln cap="flat" cmpd="sng" w="25400">
              <a:solidFill>
                <a:srgbClr val="000000"/>
              </a:solidFill>
              <a:prstDash val="solid"/>
              <a:miter lim="800000"/>
              <a:headEnd len="med" w="med" type="none"/>
              <a:tailEnd len="med" w="med" type="none"/>
            </a:ln>
          </p:spPr>
        </p:cxnSp>
        <p:pic>
          <p:nvPicPr>
            <p:cNvPr id="1165" name="Google Shape;1165;p55"/>
            <p:cNvPicPr preferRelativeResize="0"/>
            <p:nvPr/>
          </p:nvPicPr>
          <p:blipFill rotWithShape="1">
            <a:blip r:embed="rId8">
              <a:alphaModFix/>
            </a:blip>
            <a:srcRect b="0" l="0" r="0" t="0"/>
            <a:stretch/>
          </p:blipFill>
          <p:spPr>
            <a:xfrm>
              <a:off x="1241" y="1791"/>
              <a:ext cx="249" cy="266"/>
            </a:xfrm>
            <a:prstGeom prst="rect">
              <a:avLst/>
            </a:prstGeom>
            <a:noFill/>
            <a:ln>
              <a:noFill/>
            </a:ln>
          </p:spPr>
        </p:pic>
        <p:pic>
          <p:nvPicPr>
            <p:cNvPr id="1166" name="Google Shape;1166;p55"/>
            <p:cNvPicPr preferRelativeResize="0"/>
            <p:nvPr/>
          </p:nvPicPr>
          <p:blipFill rotWithShape="1">
            <a:blip r:embed="rId9">
              <a:alphaModFix/>
            </a:blip>
            <a:srcRect b="0" l="0" r="0" t="0"/>
            <a:stretch/>
          </p:blipFill>
          <p:spPr>
            <a:xfrm>
              <a:off x="1642" y="2311"/>
              <a:ext cx="173" cy="249"/>
            </a:xfrm>
            <a:prstGeom prst="rect">
              <a:avLst/>
            </a:prstGeom>
            <a:noFill/>
            <a:ln>
              <a:noFill/>
            </a:ln>
          </p:spPr>
        </p:pic>
        <p:pic>
          <p:nvPicPr>
            <p:cNvPr id="1167" name="Google Shape;1167;p55"/>
            <p:cNvPicPr preferRelativeResize="0"/>
            <p:nvPr/>
          </p:nvPicPr>
          <p:blipFill rotWithShape="1">
            <a:blip r:embed="rId10">
              <a:alphaModFix/>
            </a:blip>
            <a:srcRect b="0" l="0" r="0" t="0"/>
            <a:stretch/>
          </p:blipFill>
          <p:spPr>
            <a:xfrm>
              <a:off x="1648" y="1203"/>
              <a:ext cx="192" cy="250"/>
            </a:xfrm>
            <a:prstGeom prst="rect">
              <a:avLst/>
            </a:prstGeom>
            <a:noFill/>
            <a:ln>
              <a:noFill/>
            </a:ln>
          </p:spPr>
        </p:pic>
        <p:pic>
          <p:nvPicPr>
            <p:cNvPr id="1168" name="Google Shape;1168;p55"/>
            <p:cNvPicPr preferRelativeResize="0"/>
            <p:nvPr/>
          </p:nvPicPr>
          <p:blipFill rotWithShape="1">
            <a:blip r:embed="rId11">
              <a:alphaModFix/>
            </a:blip>
            <a:srcRect b="0" l="0" r="0" t="0"/>
            <a:stretch/>
          </p:blipFill>
          <p:spPr>
            <a:xfrm>
              <a:off x="3149" y="720"/>
              <a:ext cx="191" cy="267"/>
            </a:xfrm>
            <a:prstGeom prst="rect">
              <a:avLst/>
            </a:prstGeom>
            <a:noFill/>
            <a:ln>
              <a:noFill/>
            </a:ln>
          </p:spPr>
        </p:pic>
        <p:pic>
          <p:nvPicPr>
            <p:cNvPr id="1169" name="Google Shape;1169;p55"/>
            <p:cNvPicPr preferRelativeResize="0"/>
            <p:nvPr/>
          </p:nvPicPr>
          <p:blipFill rotWithShape="1">
            <a:blip r:embed="rId12">
              <a:alphaModFix/>
            </a:blip>
            <a:srcRect b="0" l="0" r="0" t="0"/>
            <a:stretch/>
          </p:blipFill>
          <p:spPr>
            <a:xfrm>
              <a:off x="4190" y="1736"/>
              <a:ext cx="192" cy="267"/>
            </a:xfrm>
            <a:prstGeom prst="rect">
              <a:avLst/>
            </a:prstGeom>
            <a:noFill/>
            <a:ln>
              <a:noFill/>
            </a:ln>
          </p:spPr>
        </p:pic>
        <p:pic>
          <p:nvPicPr>
            <p:cNvPr id="1170" name="Google Shape;1170;p55"/>
            <p:cNvPicPr preferRelativeResize="0"/>
            <p:nvPr/>
          </p:nvPicPr>
          <p:blipFill rotWithShape="1">
            <a:blip r:embed="rId13">
              <a:alphaModFix/>
            </a:blip>
            <a:srcRect b="0" l="0" r="0" t="0"/>
            <a:stretch/>
          </p:blipFill>
          <p:spPr>
            <a:xfrm>
              <a:off x="2088" y="1756"/>
              <a:ext cx="192" cy="248"/>
            </a:xfrm>
            <a:prstGeom prst="rect">
              <a:avLst/>
            </a:prstGeom>
            <a:noFill/>
            <a:ln>
              <a:noFill/>
            </a:ln>
          </p:spPr>
        </p:pic>
        <p:pic>
          <p:nvPicPr>
            <p:cNvPr id="1171" name="Google Shape;1171;p55"/>
            <p:cNvPicPr preferRelativeResize="0"/>
            <p:nvPr/>
          </p:nvPicPr>
          <p:blipFill rotWithShape="1">
            <a:blip r:embed="rId14">
              <a:alphaModFix/>
            </a:blip>
            <a:srcRect b="0" l="0" r="0" t="0"/>
            <a:stretch/>
          </p:blipFill>
          <p:spPr>
            <a:xfrm>
              <a:off x="3463" y="1240"/>
              <a:ext cx="192" cy="268"/>
            </a:xfrm>
            <a:prstGeom prst="rect">
              <a:avLst/>
            </a:prstGeom>
            <a:noFill/>
            <a:ln>
              <a:noFill/>
            </a:ln>
          </p:spPr>
        </p:pic>
        <p:pic>
          <p:nvPicPr>
            <p:cNvPr id="1172" name="Google Shape;1172;p55"/>
            <p:cNvPicPr preferRelativeResize="0"/>
            <p:nvPr/>
          </p:nvPicPr>
          <p:blipFill rotWithShape="1">
            <a:blip r:embed="rId10">
              <a:alphaModFix/>
            </a:blip>
            <a:srcRect b="0" l="0" r="0" t="0"/>
            <a:stretch/>
          </p:blipFill>
          <p:spPr>
            <a:xfrm>
              <a:off x="2786" y="2276"/>
              <a:ext cx="192" cy="250"/>
            </a:xfrm>
            <a:prstGeom prst="rect">
              <a:avLst/>
            </a:prstGeom>
            <a:noFill/>
            <a:ln>
              <a:noFill/>
            </a:ln>
          </p:spPr>
        </p:pic>
        <p:pic>
          <p:nvPicPr>
            <p:cNvPr id="1173" name="Google Shape;1173;p55"/>
            <p:cNvPicPr preferRelativeResize="0"/>
            <p:nvPr/>
          </p:nvPicPr>
          <p:blipFill rotWithShape="1">
            <a:blip r:embed="rId9">
              <a:alphaModFix/>
            </a:blip>
            <a:srcRect b="0" l="0" r="0" t="0"/>
            <a:stretch/>
          </p:blipFill>
          <p:spPr>
            <a:xfrm>
              <a:off x="3471" y="2291"/>
              <a:ext cx="173" cy="249"/>
            </a:xfrm>
            <a:prstGeom prst="rect">
              <a:avLst/>
            </a:prstGeom>
            <a:noFill/>
            <a:ln>
              <a:noFill/>
            </a:ln>
          </p:spPr>
        </p:pic>
        <p:pic>
          <p:nvPicPr>
            <p:cNvPr id="1174" name="Google Shape;1174;p55"/>
            <p:cNvPicPr preferRelativeResize="0"/>
            <p:nvPr/>
          </p:nvPicPr>
          <p:blipFill rotWithShape="1">
            <a:blip r:embed="rId15">
              <a:alphaModFix/>
            </a:blip>
            <a:srcRect b="0" l="0" r="0" t="0"/>
            <a:stretch/>
          </p:blipFill>
          <p:spPr>
            <a:xfrm>
              <a:off x="3140" y="2803"/>
              <a:ext cx="192" cy="249"/>
            </a:xfrm>
            <a:prstGeom prst="rect">
              <a:avLst/>
            </a:prstGeom>
            <a:noFill/>
            <a:ln>
              <a:noFill/>
            </a:ln>
          </p:spPr>
        </p:pic>
        <p:pic>
          <p:nvPicPr>
            <p:cNvPr id="1175" name="Google Shape;1175;p55"/>
            <p:cNvPicPr preferRelativeResize="0"/>
            <p:nvPr/>
          </p:nvPicPr>
          <p:blipFill rotWithShape="1">
            <a:blip r:embed="rId16">
              <a:alphaModFix/>
            </a:blip>
            <a:srcRect b="0" l="0" r="0" t="0"/>
            <a:stretch/>
          </p:blipFill>
          <p:spPr>
            <a:xfrm>
              <a:off x="2800" y="1284"/>
              <a:ext cx="192" cy="267"/>
            </a:xfrm>
            <a:prstGeom prst="rect">
              <a:avLst/>
            </a:prstGeom>
            <a:noFill/>
            <a:ln>
              <a:noFill/>
            </a:ln>
          </p:spPr>
        </p:pic>
        <p:sp>
          <p:nvSpPr>
            <p:cNvPr id="1176" name="Google Shape;1176;p55"/>
            <p:cNvSpPr txBox="1"/>
            <p:nvPr/>
          </p:nvSpPr>
          <p:spPr>
            <a:xfrm>
              <a:off x="2016" y="452"/>
              <a:ext cx="672"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(0,∅)</a:t>
              </a:r>
              <a:endParaRPr/>
            </a:p>
          </p:txBody>
        </p:sp>
        <p:sp>
          <p:nvSpPr>
            <p:cNvPr id="1177" name="Google Shape;1177;p55"/>
            <p:cNvSpPr txBox="1"/>
            <p:nvPr/>
          </p:nvSpPr>
          <p:spPr>
            <a:xfrm>
              <a:off x="3840" y="432"/>
              <a:ext cx="672"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(3,A)</a:t>
              </a:r>
              <a:endParaRPr/>
            </a:p>
          </p:txBody>
        </p:sp>
        <p:sp>
          <p:nvSpPr>
            <p:cNvPr id="1178" name="Google Shape;1178;p55"/>
            <p:cNvSpPr txBox="1"/>
            <p:nvPr/>
          </p:nvSpPr>
          <p:spPr>
            <a:xfrm>
              <a:off x="480" y="1728"/>
              <a:ext cx="672"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(2,A)</a:t>
              </a:r>
              <a:endParaRPr/>
            </a:p>
          </p:txBody>
        </p:sp>
        <p:sp>
          <p:nvSpPr>
            <p:cNvPr id="1179" name="Google Shape;1179;p55"/>
            <p:cNvSpPr txBox="1"/>
            <p:nvPr/>
          </p:nvSpPr>
          <p:spPr>
            <a:xfrm>
              <a:off x="1954" y="2985"/>
              <a:ext cx="926"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(3,C)</a:t>
              </a:r>
              <a:endParaRPr/>
            </a:p>
          </p:txBody>
        </p:sp>
        <p:sp>
          <p:nvSpPr>
            <p:cNvPr id="1180" name="Google Shape;1180;p55"/>
            <p:cNvSpPr txBox="1"/>
            <p:nvPr/>
          </p:nvSpPr>
          <p:spPr>
            <a:xfrm>
              <a:off x="2928" y="1344"/>
              <a:ext cx="672"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(5,E)</a:t>
              </a:r>
              <a:endParaRPr/>
            </a:p>
          </p:txBody>
        </p:sp>
        <p:sp>
          <p:nvSpPr>
            <p:cNvPr id="1181" name="Google Shape;1181;p55"/>
            <p:cNvSpPr txBox="1"/>
            <p:nvPr/>
          </p:nvSpPr>
          <p:spPr>
            <a:xfrm>
              <a:off x="3888" y="3024"/>
              <a:ext cx="672"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(7,E)</a:t>
              </a:r>
              <a:endParaRPr/>
            </a:p>
          </p:txBody>
        </p:sp>
      </p:grpSp>
      <p:sp>
        <p:nvSpPr>
          <p:cNvPr id="1182" name="Google Shape;1182;p55"/>
          <p:cNvSpPr txBox="1"/>
          <p:nvPr/>
        </p:nvSpPr>
        <p:spPr>
          <a:xfrm>
            <a:off x="990600" y="4814887"/>
            <a:ext cx="3352800" cy="2043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 B (3)</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 C (2)</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 C – E (3)</a:t>
            </a:r>
            <a:endParaRPr/>
          </a:p>
        </p:txBody>
      </p:sp>
      <p:sp>
        <p:nvSpPr>
          <p:cNvPr id="1183" name="Google Shape;1183;p55"/>
          <p:cNvSpPr txBox="1"/>
          <p:nvPr/>
        </p:nvSpPr>
        <p:spPr>
          <a:xfrm>
            <a:off x="4191000" y="5257800"/>
            <a:ext cx="3352800" cy="1311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 C – E – D (5)</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 – C – E – F (7)</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187" name="Shape 1187"/>
        <p:cNvGrpSpPr/>
        <p:nvPr/>
      </p:nvGrpSpPr>
      <p:grpSpPr>
        <a:xfrm>
          <a:off x="0" y="0"/>
          <a:ext cx="0" cy="0"/>
          <a:chOff x="0" y="0"/>
          <a:chExt cx="0" cy="0"/>
        </a:xfrm>
      </p:grpSpPr>
      <p:sp>
        <p:nvSpPr>
          <p:cNvPr id="1188" name="Google Shape;1188;p56"/>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 Thuật toán Floyd</a:t>
            </a:r>
            <a:endParaRPr/>
          </a:p>
        </p:txBody>
      </p:sp>
      <p:sp>
        <p:nvSpPr>
          <p:cNvPr id="1189" name="Google Shape;1189;p56"/>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349250" lvl="0" marL="14287" marR="0" rtl="0" algn="l">
              <a:lnSpc>
                <a:spcPct val="100000"/>
              </a:lnSpc>
              <a:spcBef>
                <a:spcPts val="0"/>
              </a:spcBef>
              <a:spcAft>
                <a:spcPts val="0"/>
              </a:spcAft>
              <a:buClr>
                <a:schemeClr val="dk1"/>
              </a:buClr>
              <a:buSzPts val="4400"/>
              <a:buFont typeface="Noto Sans Symbols"/>
              <a:buNone/>
            </a:pPr>
            <a:r>
              <a:rPr b="1" i="0" lang="en-US" sz="44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Cho đồ thị có hướng , có trọng số với n đỉnh và m cạnh. Hãy tìm tất cả d(u,v) là khoảng cách ngắn nhất từ u đến v với mọi cặp đỉnh (u,v). </a:t>
            </a:r>
            <a:endParaRPr/>
          </a:p>
          <a:p>
            <a:pPr indent="-446087" lvl="1" marL="1023937" marR="0" rtl="0" algn="just">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Từ ma trận trọng số TS tính lại các ts(u,v) thành độ dài ngắn nhất từ u tới v.</a:t>
            </a:r>
            <a:endParaRPr/>
          </a:p>
          <a:p>
            <a:pPr indent="-446087" lvl="1" marL="1023937" marR="0" rtl="0" algn="just">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Với mọi đỉnh k của đồ thị được xét theo thứ tự từ 1 tới n, xét mọi cặp u,v.</a:t>
            </a:r>
            <a:endParaRPr/>
          </a:p>
          <a:p>
            <a:pPr indent="-446087" lvl="1" marL="1023937" marR="0" rtl="0" algn="just">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Cực tiểu hóa ts(u,v) theo công thức:</a:t>
            </a:r>
            <a:endParaRPr/>
          </a:p>
          <a:p>
            <a:pPr indent="-446087" lvl="1" marL="1023937" marR="0" rtl="0" algn="just">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	</a:t>
            </a:r>
            <a:r>
              <a:rPr b="1" i="0" lang="en-US" sz="2800" u="none" cap="none" strike="noStrike">
                <a:solidFill>
                  <a:schemeClr val="dk1"/>
                </a:solidFill>
                <a:latin typeface="Arial"/>
                <a:ea typeface="Arial"/>
                <a:cs typeface="Arial"/>
                <a:sym typeface="Arial"/>
              </a:rPr>
              <a:t>Ts(u,v)= min {ts (u,v), ts(u,k) +ts (k,v)}</a:t>
            </a:r>
            <a:endParaRPr/>
          </a:p>
          <a:p>
            <a:pPr indent="-285750" lvl="0" marL="463550" marR="0" rtl="0" algn="l">
              <a:spcBef>
                <a:spcPts val="560"/>
              </a:spcBef>
              <a:spcAft>
                <a:spcPts val="0"/>
              </a:spcAft>
              <a:buClr>
                <a:schemeClr val="dk1"/>
              </a:buClr>
              <a:buSzPts val="2800"/>
              <a:buFont typeface="Noto Sans Symbols"/>
              <a:buNone/>
            </a:pPr>
            <a:r>
              <a:t/>
            </a:r>
            <a:endParaRPr b="1" i="0" sz="2800" u="none" cap="none" strike="noStrike">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193" name="Shape 1193"/>
        <p:cNvGrpSpPr/>
        <p:nvPr/>
      </p:nvGrpSpPr>
      <p:grpSpPr>
        <a:xfrm>
          <a:off x="0" y="0"/>
          <a:ext cx="0" cy="0"/>
          <a:chOff x="0" y="0"/>
          <a:chExt cx="0" cy="0"/>
        </a:xfrm>
      </p:grpSpPr>
      <p:sp>
        <p:nvSpPr>
          <p:cNvPr id="1194" name="Google Shape;1194;p57"/>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Thuật toán Floyd</a:t>
            </a:r>
            <a:endParaRPr/>
          </a:p>
        </p:txBody>
      </p:sp>
      <p:sp>
        <p:nvSpPr>
          <p:cNvPr id="1195" name="Google Shape;1195;p57"/>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just">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Giả thiết ta đã xây dựng ts</a:t>
            </a:r>
            <a:r>
              <a:rPr b="0" baseline="-25000" i="0" lang="en-US" sz="2800" u="none">
                <a:solidFill>
                  <a:schemeClr val="dk1"/>
                </a:solidFill>
                <a:latin typeface="Arial"/>
                <a:ea typeface="Arial"/>
                <a:cs typeface="Arial"/>
                <a:sym typeface="Arial"/>
              </a:rPr>
              <a:t>k-1</a:t>
            </a:r>
            <a:r>
              <a:rPr b="0" i="0" lang="en-US" sz="2800" u="none">
                <a:solidFill>
                  <a:schemeClr val="dk1"/>
                </a:solidFill>
                <a:latin typeface="Arial"/>
                <a:ea typeface="Arial"/>
                <a:cs typeface="Arial"/>
                <a:sym typeface="Arial"/>
              </a:rPr>
              <a:t> (u,v) khi đó       ts</a:t>
            </a:r>
            <a:r>
              <a:rPr b="0" baseline="-25000" i="0" lang="en-US" sz="2800" u="none">
                <a:solidFill>
                  <a:schemeClr val="dk1"/>
                </a:solidFill>
                <a:latin typeface="Arial"/>
                <a:ea typeface="Arial"/>
                <a:cs typeface="Arial"/>
                <a:sym typeface="Arial"/>
              </a:rPr>
              <a:t>k</a:t>
            </a:r>
            <a:r>
              <a:rPr b="0" i="0" lang="en-US" sz="2800" u="none">
                <a:solidFill>
                  <a:schemeClr val="dk1"/>
                </a:solidFill>
                <a:latin typeface="Arial"/>
                <a:ea typeface="Arial"/>
                <a:cs typeface="Arial"/>
                <a:sym typeface="Arial"/>
              </a:rPr>
              <a:t> (u,v) được xác định:</a:t>
            </a:r>
            <a:endParaRPr/>
          </a:p>
          <a:p>
            <a:pPr indent="-446087" lvl="1" marL="1023937" marR="0" rtl="0" algn="just">
              <a:lnSpc>
                <a:spcPct val="100000"/>
              </a:lnSpc>
              <a:spcBef>
                <a:spcPts val="56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	Nếu đường đi ngắn nhất u tới v chỉ đi qua các đỉnh trung gian thuộc tập 1,2,…,k mà:</a:t>
            </a:r>
            <a:endParaRPr/>
          </a:p>
          <a:p>
            <a:pPr indent="-349249" lvl="2" marL="1487487" marR="0" rtl="0" algn="just">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Không đi qua đỉnh k ( chỉ đi qua các đỉnh trung gian thuộc tập 1,2,…k-1) thi:    </a:t>
            </a:r>
            <a:endParaRPr/>
          </a:p>
          <a:p>
            <a:pPr indent="-349249" lvl="2" marL="1487487" marR="0" rtl="0" algn="just">
              <a:lnSpc>
                <a:spcPct val="100000"/>
              </a:lnSpc>
              <a:spcBef>
                <a:spcPts val="56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                  </a:t>
            </a:r>
            <a:r>
              <a:rPr b="1" i="0" lang="en-US" sz="2800" u="none" cap="none" strike="noStrike">
                <a:solidFill>
                  <a:schemeClr val="dk1"/>
                </a:solidFill>
                <a:latin typeface="Arial"/>
                <a:ea typeface="Arial"/>
                <a:cs typeface="Arial"/>
                <a:sym typeface="Arial"/>
              </a:rPr>
              <a:t>  ts</a:t>
            </a:r>
            <a:r>
              <a:rPr b="1" baseline="-25000" i="0" lang="en-US" sz="2800" u="none" cap="none" strike="noStrike">
                <a:solidFill>
                  <a:schemeClr val="dk1"/>
                </a:solidFill>
                <a:latin typeface="Arial"/>
                <a:ea typeface="Arial"/>
                <a:cs typeface="Arial"/>
                <a:sym typeface="Arial"/>
              </a:rPr>
              <a:t>k</a:t>
            </a:r>
            <a:r>
              <a:rPr b="1" baseline="30000" i="0" lang="en-US" sz="2800" u="none" cap="none" strike="noStrike">
                <a:solidFill>
                  <a:schemeClr val="dk1"/>
                </a:solidFill>
                <a:latin typeface="Arial"/>
                <a:ea typeface="Arial"/>
                <a:cs typeface="Arial"/>
                <a:sym typeface="Arial"/>
              </a:rPr>
              <a:t> </a:t>
            </a:r>
            <a:r>
              <a:rPr b="1" baseline="-25000" i="0" lang="en-US" sz="2800" u="none" cap="none" strike="noStrike">
                <a:solidFill>
                  <a:schemeClr val="dk1"/>
                </a:solidFill>
                <a:latin typeface="Arial"/>
                <a:ea typeface="Arial"/>
                <a:cs typeface="Arial"/>
                <a:sym typeface="Arial"/>
              </a:rPr>
              <a:t> </a:t>
            </a:r>
            <a:r>
              <a:rPr b="1" i="0" lang="en-US" sz="2800" u="none" cap="none" strike="noStrike">
                <a:solidFill>
                  <a:schemeClr val="dk1"/>
                </a:solidFill>
                <a:latin typeface="Arial"/>
                <a:ea typeface="Arial"/>
                <a:cs typeface="Arial"/>
                <a:sym typeface="Arial"/>
              </a:rPr>
              <a:t> (u,v) = ts</a:t>
            </a:r>
            <a:r>
              <a:rPr b="1" baseline="-25000" i="0" lang="en-US" sz="2800" u="none" cap="none" strike="noStrike">
                <a:solidFill>
                  <a:schemeClr val="dk1"/>
                </a:solidFill>
                <a:latin typeface="Arial"/>
                <a:ea typeface="Arial"/>
                <a:cs typeface="Arial"/>
                <a:sym typeface="Arial"/>
              </a:rPr>
              <a:t>k-1</a:t>
            </a:r>
            <a:r>
              <a:rPr b="1" i="0" lang="en-US" sz="2800" u="none" cap="none" strike="noStrike">
                <a:solidFill>
                  <a:schemeClr val="dk1"/>
                </a:solidFill>
                <a:latin typeface="Arial"/>
                <a:ea typeface="Arial"/>
                <a:cs typeface="Arial"/>
                <a:sym typeface="Arial"/>
              </a:rPr>
              <a:t>  (u,v)</a:t>
            </a:r>
            <a:endParaRPr/>
          </a:p>
          <a:p>
            <a:pPr indent="-463550" lvl="0" marL="46355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Có đi qua đỉnh k thì đường đi đó sẽ nối hai đường đi từ u đến k và từ k đến v mà hai đường đi sau chỉ chứa các đỉnh thuộc tập 1,2,…k-1:</a:t>
            </a:r>
            <a:endParaRPr/>
          </a:p>
          <a:p>
            <a:pPr indent="-463550" lvl="0" marL="463550" marR="0" rtl="0" algn="l">
              <a:lnSpc>
                <a:spcPct val="100000"/>
              </a:lnSpc>
              <a:spcBef>
                <a:spcPts val="560"/>
              </a:spcBef>
              <a:spcAft>
                <a:spcPts val="0"/>
              </a:spcAft>
              <a:buClr>
                <a:schemeClr val="dk1"/>
              </a:buClr>
              <a:buSzPts val="2800"/>
              <a:buFont typeface="Noto Sans Symbols"/>
              <a:buNone/>
            </a:pP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Ts</a:t>
            </a:r>
            <a:r>
              <a:rPr b="1" baseline="-25000" i="0" lang="en-US" sz="2800" u="none">
                <a:solidFill>
                  <a:schemeClr val="dk1"/>
                </a:solidFill>
                <a:latin typeface="Arial"/>
                <a:ea typeface="Arial"/>
                <a:cs typeface="Arial"/>
                <a:sym typeface="Arial"/>
              </a:rPr>
              <a:t>k</a:t>
            </a:r>
            <a:r>
              <a:rPr b="1" i="0" lang="en-US" sz="2800" u="none">
                <a:solidFill>
                  <a:schemeClr val="dk1"/>
                </a:solidFill>
                <a:latin typeface="Arial"/>
                <a:ea typeface="Arial"/>
                <a:cs typeface="Arial"/>
                <a:sym typeface="Arial"/>
              </a:rPr>
              <a:t>(u,v)=Ts</a:t>
            </a:r>
            <a:r>
              <a:rPr b="1" baseline="-25000" i="0" lang="en-US" sz="2800" u="none">
                <a:solidFill>
                  <a:schemeClr val="dk1"/>
                </a:solidFill>
                <a:latin typeface="Arial"/>
                <a:ea typeface="Arial"/>
                <a:cs typeface="Arial"/>
                <a:sym typeface="Arial"/>
              </a:rPr>
              <a:t>k-1</a:t>
            </a:r>
            <a:r>
              <a:rPr b="1" i="0" lang="en-US" sz="2800" u="none">
                <a:solidFill>
                  <a:schemeClr val="dk1"/>
                </a:solidFill>
                <a:latin typeface="Arial"/>
                <a:ea typeface="Arial"/>
                <a:cs typeface="Arial"/>
                <a:sym typeface="Arial"/>
              </a:rPr>
              <a:t>(u,k) + Ts</a:t>
            </a:r>
            <a:r>
              <a:rPr b="1" baseline="-25000" i="0" lang="en-US" sz="2800" u="none">
                <a:solidFill>
                  <a:schemeClr val="dk1"/>
                </a:solidFill>
                <a:latin typeface="Arial"/>
                <a:ea typeface="Arial"/>
                <a:cs typeface="Arial"/>
                <a:sym typeface="Arial"/>
              </a:rPr>
              <a:t>k-1</a:t>
            </a:r>
            <a:r>
              <a:rPr b="1" i="0" lang="en-US" sz="2800" u="none">
                <a:solidFill>
                  <a:schemeClr val="dk1"/>
                </a:solidFill>
                <a:latin typeface="Arial"/>
                <a:ea typeface="Arial"/>
                <a:cs typeface="Arial"/>
                <a:sym typeface="Arial"/>
              </a:rPr>
              <a:t> (k,v)</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199" name="Shape 1199"/>
        <p:cNvGrpSpPr/>
        <p:nvPr/>
      </p:nvGrpSpPr>
      <p:grpSpPr>
        <a:xfrm>
          <a:off x="0" y="0"/>
          <a:ext cx="0" cy="0"/>
          <a:chOff x="0" y="0"/>
          <a:chExt cx="0" cy="0"/>
        </a:xfrm>
      </p:grpSpPr>
      <p:sp>
        <p:nvSpPr>
          <p:cNvPr id="1200" name="Google Shape;1200;p58"/>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Thuật toán Floyd</a:t>
            </a:r>
            <a:endParaRPr/>
          </a:p>
        </p:txBody>
      </p:sp>
      <p:sp>
        <p:nvSpPr>
          <p:cNvPr id="1201" name="Google Shape;1201;p58"/>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90000"/>
              </a:lnSpc>
              <a:spcBef>
                <a:spcPts val="0"/>
              </a:spcBef>
              <a:spcAft>
                <a:spcPts val="0"/>
              </a:spcAft>
              <a:buClr>
                <a:schemeClr val="dk1"/>
              </a:buClr>
              <a:buSzPts val="2800"/>
              <a:buFont typeface="Noto Sans Symbols"/>
              <a:buNone/>
            </a:pPr>
            <a:r>
              <a:rPr b="1" i="0" lang="en-US" sz="2800" u="none">
                <a:solidFill>
                  <a:schemeClr val="dk1"/>
                </a:solidFill>
                <a:latin typeface="Arial"/>
                <a:ea typeface="Arial"/>
                <a:cs typeface="Arial"/>
                <a:sym typeface="Arial"/>
              </a:rPr>
              <a:t>Nhận xét</a:t>
            </a:r>
            <a:r>
              <a:rPr b="0" i="0" lang="en-US" sz="2000" u="none">
                <a:solidFill>
                  <a:schemeClr val="dk1"/>
                </a:solidFill>
                <a:latin typeface="Arial"/>
                <a:ea typeface="Arial"/>
                <a:cs typeface="Arial"/>
                <a:sym typeface="Arial"/>
              </a:rPr>
              <a:t> </a:t>
            </a:r>
            <a:endParaRPr b="1" i="0" sz="2400" u="none">
              <a:solidFill>
                <a:schemeClr val="dk1"/>
              </a:solidFill>
              <a:latin typeface="Arial"/>
              <a:ea typeface="Arial"/>
              <a:cs typeface="Arial"/>
              <a:sym typeface="Arial"/>
            </a:endParaRPr>
          </a:p>
          <a:p>
            <a:pPr indent="-446087" lvl="1" marL="1023937" marR="0" rtl="0" algn="just">
              <a:lnSpc>
                <a:spcPct val="9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Dựa trên nguyên lí tối ưu; nếu đỉnh k nằm trên đường đi ngắn nhất từ i đến j thì các đoạn đường từ i tới k và từ k tới j là ngắn nhất. </a:t>
            </a:r>
            <a:endParaRPr/>
          </a:p>
          <a:p>
            <a:pPr indent="-446087" lvl="1" marL="1023937" marR="0" rtl="0" algn="just">
              <a:lnSpc>
                <a:spcPct val="9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Việc cài đặt thuật toán Floyd rất dễ dàng (3 vòng For lồng nhau).</a:t>
            </a:r>
            <a:endParaRPr/>
          </a:p>
          <a:p>
            <a:pPr indent="-446087" lvl="1" marL="1023937" marR="0" rtl="0" algn="just">
              <a:lnSpc>
                <a:spcPct val="9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Do cách biểu diễn bằng ma trận kề nên khi n đủ lớn thì sẽ gặp khó khăn về không gian nhớ.</a:t>
            </a:r>
            <a:endParaRPr/>
          </a:p>
          <a:p>
            <a:pPr indent="-446087" lvl="1" marL="1023937" marR="0" rtl="0" algn="just">
              <a:lnSpc>
                <a:spcPct val="9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Độ phức tạp thuật toán là O(n</a:t>
            </a:r>
            <a:r>
              <a:rPr b="0" baseline="30000" i="0" lang="en-US" sz="2800" u="none" cap="none" strike="noStrike">
                <a:solidFill>
                  <a:schemeClr val="dk1"/>
                </a:solidFill>
                <a:latin typeface="Arial"/>
                <a:ea typeface="Arial"/>
                <a:cs typeface="Arial"/>
                <a:sym typeface="Arial"/>
              </a:rPr>
              <a:t>3</a:t>
            </a:r>
            <a:r>
              <a:rPr b="0" i="0" lang="en-US" sz="2800" u="none" cap="none" strike="noStrike">
                <a:solidFill>
                  <a:schemeClr val="dk1"/>
                </a:solidFill>
                <a:latin typeface="Arial"/>
                <a:ea typeface="Arial"/>
                <a:cs typeface="Arial"/>
                <a:sym typeface="Arial"/>
              </a:rPr>
              <a:t>). </a:t>
            </a:r>
            <a:endParaRPr/>
          </a:p>
          <a:p>
            <a:pPr indent="-285750" lvl="0" marL="463550" marR="0" rtl="0" algn="l">
              <a:spcBef>
                <a:spcPts val="560"/>
              </a:spcBef>
              <a:spcAft>
                <a:spcPts val="0"/>
              </a:spcAft>
              <a:buClr>
                <a:schemeClr val="dk1"/>
              </a:buClr>
              <a:buSzPts val="2800"/>
              <a:buFont typeface="Noto Sans Symbols"/>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05" name="Shape 1205"/>
        <p:cNvGrpSpPr/>
        <p:nvPr/>
      </p:nvGrpSpPr>
      <p:grpSpPr>
        <a:xfrm>
          <a:off x="0" y="0"/>
          <a:ext cx="0" cy="0"/>
          <a:chOff x="0" y="0"/>
          <a:chExt cx="0" cy="0"/>
        </a:xfrm>
      </p:grpSpPr>
      <p:sp>
        <p:nvSpPr>
          <p:cNvPr id="1206" name="Google Shape;1206;p59"/>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6. Cây khung cực tiểu (MST)</a:t>
            </a:r>
            <a:endParaRPr/>
          </a:p>
        </p:txBody>
      </p:sp>
      <p:sp>
        <p:nvSpPr>
          <p:cNvPr id="1207" name="Google Shape;1207;p59"/>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Cho đồ thị vô hướng liên thông </a:t>
            </a:r>
            <a:r>
              <a:rPr b="0" i="1" lang="en-US" sz="3000" u="none">
                <a:solidFill>
                  <a:schemeClr val="accent2"/>
                </a:solidFill>
                <a:latin typeface="Courier New"/>
                <a:ea typeface="Courier New"/>
                <a:cs typeface="Courier New"/>
                <a:sym typeface="Courier New"/>
              </a:rPr>
              <a:t>G</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một tập con không có chu trình </a:t>
            </a:r>
            <a:r>
              <a:rPr b="0" i="1" lang="en-US" sz="3000" u="none">
                <a:solidFill>
                  <a:schemeClr val="accent2"/>
                </a:solidFill>
                <a:latin typeface="Courier New"/>
                <a:ea typeface="Courier New"/>
                <a:cs typeface="Courier New"/>
                <a:sym typeface="Courier New"/>
              </a:rPr>
              <a:t>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dk1"/>
                </a:solidFill>
                <a:latin typeface="Arial"/>
                <a:ea typeface="Arial"/>
                <a:cs typeface="Arial"/>
                <a:sym typeface="Arial"/>
              </a:rPr>
              <a:t> kết nối tất cả các đỉnh được gọi là cây khung của </a:t>
            </a:r>
            <a:r>
              <a:rPr b="0" i="1" lang="en-US" sz="3000" u="none">
                <a:solidFill>
                  <a:schemeClr val="accent2"/>
                </a:solidFill>
                <a:latin typeface="Courier New"/>
                <a:ea typeface="Courier New"/>
                <a:cs typeface="Courier New"/>
                <a:sym typeface="Courier New"/>
              </a:rPr>
              <a:t>G</a:t>
            </a:r>
            <a:endParaRPr/>
          </a:p>
          <a:p>
            <a:pPr indent="-463550" lvl="0" marL="463550" marR="0" rtl="0" algn="l">
              <a:lnSpc>
                <a:spcPct val="80000"/>
              </a:lnSpc>
              <a:spcBef>
                <a:spcPts val="12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cây khung cực tiểu nghĩa là </a:t>
            </a:r>
            <a:r>
              <a:rPr b="0" i="1" lang="en-US" sz="3000" u="none">
                <a:solidFill>
                  <a:schemeClr val="dk1"/>
                </a:solidFill>
                <a:latin typeface="Arial"/>
                <a:ea typeface="Arial"/>
                <a:cs typeface="Arial"/>
                <a:sym typeface="Arial"/>
              </a:rPr>
              <a:t>cây khung có trọng số cực tiểu</a:t>
            </a:r>
            <a:r>
              <a:rPr b="0" i="0" lang="en-US" sz="3000" u="none">
                <a:solidFill>
                  <a:schemeClr val="dk1"/>
                </a:solidFill>
                <a:latin typeface="Arial"/>
                <a:ea typeface="Arial"/>
                <a:cs typeface="Arial"/>
                <a:sym typeface="Arial"/>
              </a:rPr>
              <a:t> (</a:t>
            </a:r>
            <a:r>
              <a:rPr b="0" i="1" lang="en-US" sz="3000" u="none">
                <a:solidFill>
                  <a:schemeClr val="dk1"/>
                </a:solidFill>
                <a:latin typeface="Arial"/>
                <a:ea typeface="Arial"/>
                <a:cs typeface="Arial"/>
                <a:sym typeface="Arial"/>
              </a:rPr>
              <a:t>minimum-weight spanning tree</a:t>
            </a:r>
            <a:r>
              <a:rPr b="0" i="0" lang="en-US" sz="3000" u="none">
                <a:solidFill>
                  <a:schemeClr val="dk1"/>
                </a:solidFill>
                <a:latin typeface="Arial"/>
                <a:ea typeface="Arial"/>
                <a:cs typeface="Arial"/>
                <a:sym typeface="Arial"/>
              </a:rPr>
              <a:t>)</a:t>
            </a:r>
            <a:endParaRPr/>
          </a:p>
          <a:p>
            <a:pPr indent="-463550" lvl="0" marL="463550" marR="0" rtl="0" algn="l">
              <a:lnSpc>
                <a:spcPct val="80000"/>
              </a:lnSpc>
              <a:spcBef>
                <a:spcPts val="12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Một đồ thị có thể có nhiều cây khung</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24217a7101_1_0"/>
          <p:cNvSpPr txBox="1"/>
          <p:nvPr>
            <p:ph type="title"/>
          </p:nvPr>
        </p:nvSpPr>
        <p:spPr>
          <a:xfrm>
            <a:off x="849312" y="79375"/>
            <a:ext cx="8110500" cy="6096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214" name="Google Shape;1214;g324217a7101_1_0"/>
          <p:cNvSpPr txBox="1"/>
          <p:nvPr>
            <p:ph idx="1" type="body"/>
          </p:nvPr>
        </p:nvSpPr>
        <p:spPr>
          <a:xfrm>
            <a:off x="915987" y="981075"/>
            <a:ext cx="7910400" cy="554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18" name="Shape 1218"/>
        <p:cNvGrpSpPr/>
        <p:nvPr/>
      </p:nvGrpSpPr>
      <p:grpSpPr>
        <a:xfrm>
          <a:off x="0" y="0"/>
          <a:ext cx="0" cy="0"/>
          <a:chOff x="0" y="0"/>
          <a:chExt cx="0" cy="0"/>
        </a:xfrm>
      </p:grpSpPr>
      <p:sp>
        <p:nvSpPr>
          <p:cNvPr id="1219" name="Google Shape;1219;p60"/>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Cây khung cực tiểu</a:t>
            </a:r>
            <a:endParaRPr/>
          </a:p>
        </p:txBody>
      </p:sp>
      <p:sp>
        <p:nvSpPr>
          <p:cNvPr id="1220" name="Google Shape;1220;p60"/>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Ví dụ, đồ thị </a:t>
            </a:r>
            <a:r>
              <a:rPr b="0" i="1" lang="en-US" sz="3000" u="none">
                <a:solidFill>
                  <a:schemeClr val="accent2"/>
                </a:solidFill>
                <a:latin typeface="Courier New"/>
                <a:ea typeface="Courier New"/>
                <a:cs typeface="Courier New"/>
                <a:sym typeface="Courier New"/>
              </a:rPr>
              <a:t>G</a:t>
            </a:r>
            <a:r>
              <a:rPr b="0" i="0" lang="en-US" sz="3000" u="none">
                <a:solidFill>
                  <a:schemeClr val="dk1"/>
                </a:solidFill>
                <a:latin typeface="Arial"/>
                <a:ea typeface="Arial"/>
                <a:cs typeface="Arial"/>
                <a:sym typeface="Arial"/>
              </a:rPr>
              <a:t> và cây khung cực tiểu của nó</a:t>
            </a:r>
            <a:endParaRPr/>
          </a:p>
        </p:txBody>
      </p:sp>
      <p:pic>
        <p:nvPicPr>
          <p:cNvPr id="1221" name="Google Shape;1221;p60"/>
          <p:cNvPicPr preferRelativeResize="0"/>
          <p:nvPr/>
        </p:nvPicPr>
        <p:blipFill rotWithShape="1">
          <a:blip r:embed="rId3">
            <a:alphaModFix/>
          </a:blip>
          <a:srcRect b="0" l="0" r="0" t="0"/>
          <a:stretch/>
        </p:blipFill>
        <p:spPr>
          <a:xfrm>
            <a:off x="2209800" y="1828800"/>
            <a:ext cx="5010150" cy="401161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25" name="Shape 1225"/>
        <p:cNvGrpSpPr/>
        <p:nvPr/>
      </p:nvGrpSpPr>
      <p:grpSpPr>
        <a:xfrm>
          <a:off x="0" y="0"/>
          <a:ext cx="0" cy="0"/>
          <a:chOff x="0" y="0"/>
          <a:chExt cx="0" cy="0"/>
        </a:xfrm>
      </p:grpSpPr>
      <p:sp>
        <p:nvSpPr>
          <p:cNvPr id="1226" name="Google Shape;1226;p61"/>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Cây khung cực tiểu</a:t>
            </a:r>
            <a:endParaRPr/>
          </a:p>
        </p:txBody>
      </p:sp>
      <p:sp>
        <p:nvSpPr>
          <p:cNvPr id="1227" name="Google Shape;1227;p61"/>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9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Giả sử chúng ta có một đồ thị liên thông, vô hướng </a:t>
            </a:r>
            <a:r>
              <a:rPr b="0" i="1" lang="en-US" sz="3000" u="none">
                <a:solidFill>
                  <a:schemeClr val="accent2"/>
                </a:solidFill>
                <a:latin typeface="Courier New"/>
                <a:ea typeface="Courier New"/>
                <a:cs typeface="Courier New"/>
                <a:sym typeface="Courier New"/>
              </a:rPr>
              <a:t>G</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với hàm trọng số </a:t>
            </a:r>
            <a:r>
              <a:rPr b="0" i="1" lang="en-US" sz="3000" u="none">
                <a:solidFill>
                  <a:schemeClr val="accent2"/>
                </a:solidFill>
                <a:latin typeface="Courier New"/>
                <a:ea typeface="Courier New"/>
                <a:cs typeface="Courier New"/>
                <a:sym typeface="Courier New"/>
              </a:rPr>
              <a:t>w</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E</a:t>
            </a:r>
            <a:r>
              <a:rPr b="0" i="0" lang="en-US" sz="3000" u="none">
                <a:solidFill>
                  <a:schemeClr val="accent2"/>
                </a:solidFill>
                <a:latin typeface="Arial"/>
                <a:ea typeface="Arial"/>
                <a:cs typeface="Arial"/>
                <a:sym typeface="Arial"/>
              </a:rPr>
              <a:t> → </a:t>
            </a:r>
            <a:r>
              <a:rPr b="0" i="1" lang="en-US" sz="3000" u="none">
                <a:solidFill>
                  <a:schemeClr val="accent2"/>
                </a:solidFill>
                <a:latin typeface="Courier New"/>
                <a:ea typeface="Courier New"/>
                <a:cs typeface="Courier New"/>
                <a:sym typeface="Courier New"/>
              </a:rPr>
              <a:t>R</a:t>
            </a:r>
            <a:r>
              <a:rPr b="0" i="0" lang="en-US" sz="3000" u="none">
                <a:solidFill>
                  <a:schemeClr val="dk1"/>
                </a:solidFill>
                <a:latin typeface="Arial"/>
                <a:ea typeface="Arial"/>
                <a:cs typeface="Arial"/>
                <a:sym typeface="Arial"/>
              </a:rPr>
              <a:t> và chúng ta muốn tìm cây khung cực tiểu cho </a:t>
            </a:r>
            <a:r>
              <a:rPr b="0" i="1" lang="en-US" sz="3000" u="none">
                <a:solidFill>
                  <a:schemeClr val="accent2"/>
                </a:solidFill>
                <a:latin typeface="Courier New"/>
                <a:ea typeface="Courier New"/>
                <a:cs typeface="Courier New"/>
                <a:sym typeface="Courier New"/>
              </a:rPr>
              <a:t>G</a:t>
            </a:r>
            <a:endParaRPr/>
          </a:p>
          <a:p>
            <a:pPr indent="-463550" lvl="0" marL="463550" marR="0" rtl="0" algn="l">
              <a:lnSpc>
                <a:spcPct val="90000"/>
              </a:lnSpc>
              <a:spcBef>
                <a:spcPts val="60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Gọi </a:t>
            </a:r>
            <a:r>
              <a:rPr b="0" i="1" lang="en-US" sz="3000" u="none">
                <a:solidFill>
                  <a:schemeClr val="accent2"/>
                </a:solidFill>
                <a:latin typeface="Courier New"/>
                <a:ea typeface="Courier New"/>
                <a:cs typeface="Courier New"/>
                <a:sym typeface="Courier New"/>
              </a:rPr>
              <a:t>A</a:t>
            </a:r>
            <a:r>
              <a:rPr b="0" i="0" lang="en-US" sz="3000" u="none">
                <a:solidFill>
                  <a:schemeClr val="dk1"/>
                </a:solidFill>
                <a:latin typeface="Arial"/>
                <a:ea typeface="Arial"/>
                <a:cs typeface="Arial"/>
                <a:sym typeface="Arial"/>
              </a:rPr>
              <a:t> là tập con của cây khung cực tiểu, tại mỗi bước, chúng ta xác đinh cạnh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u,</a:t>
            </a:r>
            <a:r>
              <a:rPr b="0" i="0" lang="en-US" sz="3000" u="none">
                <a:solidFill>
                  <a:schemeClr val="dk1"/>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mà có thể thêm vào </a:t>
            </a:r>
            <a:r>
              <a:rPr b="0" i="1" lang="en-US" sz="3000" u="none">
                <a:solidFill>
                  <a:schemeClr val="accent2"/>
                </a:solidFill>
                <a:latin typeface="Courier New"/>
                <a:ea typeface="Courier New"/>
                <a:cs typeface="Courier New"/>
                <a:sym typeface="Courier New"/>
              </a:rPr>
              <a:t>A</a:t>
            </a:r>
            <a:r>
              <a:rPr b="0" i="0" lang="en-US" sz="3000" u="none">
                <a:solidFill>
                  <a:schemeClr val="dk1"/>
                </a:solidFill>
                <a:latin typeface="Arial"/>
                <a:ea typeface="Arial"/>
                <a:cs typeface="Arial"/>
                <a:sym typeface="Arial"/>
              </a:rPr>
              <a:t> để </a:t>
            </a:r>
            <a:r>
              <a:rPr b="0" i="1" lang="en-US" sz="3000" u="none">
                <a:solidFill>
                  <a:schemeClr val="accent2"/>
                </a:solidFill>
                <a:latin typeface="Courier New"/>
                <a:ea typeface="Courier New"/>
                <a:cs typeface="Courier New"/>
                <a:sym typeface="Courier New"/>
              </a:rPr>
              <a:t>A</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0" lang="en-US" sz="3000" u="none">
                <a:solidFill>
                  <a:schemeClr val="accent2"/>
                </a:solidFill>
                <a:latin typeface="Courier New"/>
                <a:ea typeface="Courier New"/>
                <a:cs typeface="Courier New"/>
                <a:sym typeface="Courier New"/>
              </a:rPr>
              <a:t>(</a:t>
            </a:r>
            <a:r>
              <a:rPr b="0" i="1" lang="en-US" sz="3000" u="none">
                <a:solidFill>
                  <a:schemeClr val="accent2"/>
                </a:solidFill>
                <a:latin typeface="Courier New"/>
                <a:ea typeface="Courier New"/>
                <a:cs typeface="Courier New"/>
                <a:sym typeface="Courier New"/>
              </a:rPr>
              <a:t>u</a:t>
            </a:r>
            <a:r>
              <a:rPr b="0" i="0" lang="en-US" sz="3000" u="none">
                <a:solidFill>
                  <a:schemeClr val="accent2"/>
                </a:solidFill>
                <a:latin typeface="Courier New"/>
                <a:ea typeface="Courier New"/>
                <a:cs typeface="Courier New"/>
                <a:sym typeface="Courier New"/>
              </a:rPr>
              <a:t>,</a:t>
            </a:r>
            <a:r>
              <a:rPr b="0" i="0" lang="en-US" sz="3000" u="none">
                <a:solidFill>
                  <a:schemeClr val="accent2"/>
                </a:solidFill>
                <a:latin typeface="Arial"/>
                <a:ea typeface="Arial"/>
                <a:cs typeface="Arial"/>
                <a:sym typeface="Arial"/>
              </a:rPr>
              <a:t> </a:t>
            </a:r>
            <a:r>
              <a:rPr b="0" i="1" lang="en-US" sz="3000" u="none">
                <a:solidFill>
                  <a:schemeClr val="accent2"/>
                </a:solidFill>
                <a:latin typeface="Courier New"/>
                <a:ea typeface="Courier New"/>
                <a:cs typeface="Courier New"/>
                <a:sym typeface="Courier New"/>
              </a:rPr>
              <a:t>v</a:t>
            </a:r>
            <a:r>
              <a:rPr b="0" i="0" lang="en-US" sz="3000" u="none">
                <a:solidFill>
                  <a:schemeClr val="accent2"/>
                </a:solidFill>
                <a:latin typeface="Courier New"/>
                <a:ea typeface="Courier New"/>
                <a:cs typeface="Courier New"/>
                <a:sym typeface="Courier New"/>
              </a:rPr>
              <a:t>)}</a:t>
            </a:r>
            <a:r>
              <a:rPr b="0" i="0" lang="en-US" sz="3000" u="none">
                <a:solidFill>
                  <a:schemeClr val="dk1"/>
                </a:solidFill>
                <a:latin typeface="Arial"/>
                <a:ea typeface="Arial"/>
                <a:cs typeface="Arial"/>
                <a:sym typeface="Arial"/>
              </a:rPr>
              <a:t> cũng là tập con của cây khung cực tiểu. Cạnh như thế là cạnh </a:t>
            </a:r>
            <a:r>
              <a:rPr b="0" i="1" lang="en-US" sz="3000" u="none">
                <a:solidFill>
                  <a:schemeClr val="dk1"/>
                </a:solidFill>
                <a:latin typeface="Arial"/>
                <a:ea typeface="Arial"/>
                <a:cs typeface="Arial"/>
                <a:sym typeface="Arial"/>
              </a:rPr>
              <a:t>an toàn</a:t>
            </a:r>
            <a:r>
              <a:rPr b="0" i="0" lang="en-US" sz="3000" u="none">
                <a:solidFill>
                  <a:schemeClr val="dk1"/>
                </a:solidFill>
                <a:latin typeface="Arial"/>
                <a:ea typeface="Arial"/>
                <a:cs typeface="Arial"/>
                <a:sym typeface="Arial"/>
              </a:rPr>
              <a:t> (</a:t>
            </a:r>
            <a:r>
              <a:rPr b="0" i="1" lang="en-US" sz="3000" u="none">
                <a:solidFill>
                  <a:schemeClr val="dk1"/>
                </a:solidFill>
                <a:latin typeface="Arial"/>
                <a:ea typeface="Arial"/>
                <a:cs typeface="Arial"/>
                <a:sym typeface="Arial"/>
              </a:rPr>
              <a:t>safe edge</a:t>
            </a:r>
            <a:r>
              <a:rPr b="0" i="0" lang="en-US" sz="3000" u="none">
                <a:solidFill>
                  <a:schemeClr val="dk1"/>
                </a:solidFill>
                <a:latin typeface="Arial"/>
                <a:ea typeface="Arial"/>
                <a:cs typeface="Arial"/>
                <a:sym typeface="Arial"/>
              </a:rPr>
              <a:t>)</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31" name="Shape 1231"/>
        <p:cNvGrpSpPr/>
        <p:nvPr/>
      </p:nvGrpSpPr>
      <p:grpSpPr>
        <a:xfrm>
          <a:off x="0" y="0"/>
          <a:ext cx="0" cy="0"/>
          <a:chOff x="0" y="0"/>
          <a:chExt cx="0" cy="0"/>
        </a:xfrm>
      </p:grpSpPr>
      <p:sp>
        <p:nvSpPr>
          <p:cNvPr id="1232" name="Google Shape;1232;p62"/>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Cây khung cực tiểu</a:t>
            </a:r>
            <a:endParaRPr/>
          </a:p>
        </p:txBody>
      </p:sp>
      <p:sp>
        <p:nvSpPr>
          <p:cNvPr id="1233" name="Google Shape;1233;p62"/>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Giải thuật:</a:t>
            </a:r>
            <a:endParaRPr/>
          </a:p>
        </p:txBody>
      </p:sp>
      <p:pic>
        <p:nvPicPr>
          <p:cNvPr id="1234" name="Google Shape;1234;p62"/>
          <p:cNvPicPr preferRelativeResize="0"/>
          <p:nvPr/>
        </p:nvPicPr>
        <p:blipFill rotWithShape="1">
          <a:blip r:embed="rId3">
            <a:alphaModFix/>
          </a:blip>
          <a:srcRect b="0" l="0" r="0" t="0"/>
          <a:stretch/>
        </p:blipFill>
        <p:spPr>
          <a:xfrm>
            <a:off x="1371600" y="1828800"/>
            <a:ext cx="6292850" cy="304641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38" name="Shape 1238"/>
        <p:cNvGrpSpPr/>
        <p:nvPr/>
      </p:nvGrpSpPr>
      <p:grpSpPr>
        <a:xfrm>
          <a:off x="0" y="0"/>
          <a:ext cx="0" cy="0"/>
          <a:chOff x="0" y="0"/>
          <a:chExt cx="0" cy="0"/>
        </a:xfrm>
      </p:grpSpPr>
      <p:sp>
        <p:nvSpPr>
          <p:cNvPr id="1239" name="Google Shape;1239;p63"/>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Kruskal và Prim </a:t>
            </a:r>
            <a:endParaRPr/>
          </a:p>
        </p:txBody>
      </p:sp>
      <p:sp>
        <p:nvSpPr>
          <p:cNvPr id="1240" name="Google Shape;1240;p63"/>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Có hai giải thuật được sử dụng để tìm cây khung cực tiểu:</a:t>
            </a:r>
            <a:endParaRPr b="0" i="0" sz="3000" u="none">
              <a:solidFill>
                <a:schemeClr val="dk1"/>
              </a:solidFill>
              <a:latin typeface="Arial"/>
              <a:ea typeface="Arial"/>
              <a:cs typeface="Arial"/>
              <a:sym typeface="Arial"/>
            </a:endParaRPr>
          </a:p>
          <a:p>
            <a:pPr indent="-446087" lvl="1" marL="1023937" marR="0" rtl="0" algn="l">
              <a:lnSpc>
                <a:spcPct val="80000"/>
              </a:lnSpc>
              <a:spcBef>
                <a:spcPts val="112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Trong giải thuật Kruskal, tập </a:t>
            </a:r>
            <a:r>
              <a:rPr b="0" i="1" lang="en-US" sz="2800" u="none" cap="none" strike="noStrike">
                <a:solidFill>
                  <a:schemeClr val="accent2"/>
                </a:solidFill>
                <a:latin typeface="Courier New"/>
                <a:ea typeface="Courier New"/>
                <a:cs typeface="Courier New"/>
                <a:sym typeface="Courier New"/>
              </a:rPr>
              <a:t>A</a:t>
            </a:r>
            <a:r>
              <a:rPr b="0" i="0" lang="en-US" sz="2800" u="none" cap="none" strike="noStrike">
                <a:solidFill>
                  <a:schemeClr val="dk1"/>
                </a:solidFill>
                <a:latin typeface="Arial"/>
                <a:ea typeface="Arial"/>
                <a:cs typeface="Arial"/>
                <a:sym typeface="Arial"/>
              </a:rPr>
              <a:t> là một rừng. Cạnh an toàn được thêm vào </a:t>
            </a:r>
            <a:r>
              <a:rPr b="0" i="1" lang="en-US" sz="2800" u="none" cap="none" strike="noStrike">
                <a:solidFill>
                  <a:schemeClr val="accent2"/>
                </a:solidFill>
                <a:latin typeface="Courier New"/>
                <a:ea typeface="Courier New"/>
                <a:cs typeface="Courier New"/>
                <a:sym typeface="Courier New"/>
              </a:rPr>
              <a:t>A</a:t>
            </a:r>
            <a:r>
              <a:rPr b="0" i="0" lang="en-US" sz="2800" u="none" cap="none" strike="noStrike">
                <a:solidFill>
                  <a:schemeClr val="dk1"/>
                </a:solidFill>
                <a:latin typeface="Arial"/>
                <a:ea typeface="Arial"/>
                <a:cs typeface="Arial"/>
                <a:sym typeface="Arial"/>
              </a:rPr>
              <a:t> luôn là cạnh có trọng số nhỏ nhất trong đồ thị mà nó nối hai cây khác nhau</a:t>
            </a:r>
            <a:endParaRPr/>
          </a:p>
          <a:p>
            <a:pPr indent="-446087" lvl="1" marL="1023937" marR="0" rtl="0" algn="l">
              <a:lnSpc>
                <a:spcPct val="80000"/>
              </a:lnSpc>
              <a:spcBef>
                <a:spcPts val="112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Trong giải thuật Prim, tập </a:t>
            </a:r>
            <a:r>
              <a:rPr b="0" i="1" lang="en-US" sz="2800" u="none" cap="none" strike="noStrike">
                <a:solidFill>
                  <a:schemeClr val="accent2"/>
                </a:solidFill>
                <a:latin typeface="Courier New"/>
                <a:ea typeface="Courier New"/>
                <a:cs typeface="Courier New"/>
                <a:sym typeface="Courier New"/>
              </a:rPr>
              <a:t>A</a:t>
            </a:r>
            <a:r>
              <a:rPr b="0" i="0" lang="en-US" sz="2800" u="none" cap="none" strike="noStrike">
                <a:solidFill>
                  <a:schemeClr val="dk1"/>
                </a:solidFill>
                <a:latin typeface="Arial"/>
                <a:ea typeface="Arial"/>
                <a:cs typeface="Arial"/>
                <a:sym typeface="Arial"/>
              </a:rPr>
              <a:t> là một cây đơn. Cạnh an toàn được thêm vào </a:t>
            </a:r>
            <a:r>
              <a:rPr b="0" i="1" lang="en-US" sz="2800" u="none" cap="none" strike="noStrike">
                <a:solidFill>
                  <a:schemeClr val="accent2"/>
                </a:solidFill>
                <a:latin typeface="Courier New"/>
                <a:ea typeface="Courier New"/>
                <a:cs typeface="Courier New"/>
                <a:sym typeface="Courier New"/>
              </a:rPr>
              <a:t>A</a:t>
            </a:r>
            <a:r>
              <a:rPr b="0" i="0" lang="en-US" sz="2800" u="none" cap="none" strike="noStrike">
                <a:solidFill>
                  <a:schemeClr val="dk1"/>
                </a:solidFill>
                <a:latin typeface="Arial"/>
                <a:ea typeface="Arial"/>
                <a:cs typeface="Arial"/>
                <a:sym typeface="Arial"/>
              </a:rPr>
              <a:t> luôn là cạnh có trọng số nhỏ nhất mà nó nối cây đó với một đỉnh không thuộc cây</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44" name="Shape 1244"/>
        <p:cNvGrpSpPr/>
        <p:nvPr/>
      </p:nvGrpSpPr>
      <p:grpSpPr>
        <a:xfrm>
          <a:off x="0" y="0"/>
          <a:ext cx="0" cy="0"/>
          <a:chOff x="0" y="0"/>
          <a:chExt cx="0" cy="0"/>
        </a:xfrm>
      </p:grpSpPr>
      <p:sp>
        <p:nvSpPr>
          <p:cNvPr id="1245" name="Google Shape;1245;p64"/>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 Giải thuật Kruskal</a:t>
            </a:r>
            <a:endParaRPr/>
          </a:p>
        </p:txBody>
      </p:sp>
      <p:sp>
        <p:nvSpPr>
          <p:cNvPr id="1246" name="Google Shape;1246;p64"/>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Giải thuật Kruskal dựa trên cơ sở giải thuật cây khung cực tiểu tổng quát </a:t>
            </a:r>
            <a:r>
              <a:rPr b="0" i="0" lang="en-US" sz="2800" u="none">
                <a:solidFill>
                  <a:schemeClr val="accent2"/>
                </a:solidFill>
                <a:latin typeface="Courier New"/>
                <a:ea typeface="Courier New"/>
                <a:cs typeface="Courier New"/>
                <a:sym typeface="Courier New"/>
              </a:rPr>
              <a:t>GENERIC-MST</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Lúc đầu, đồ thị </a:t>
            </a:r>
            <a:r>
              <a:rPr b="0" i="1" lang="en-US" sz="2800" u="none">
                <a:solidFill>
                  <a:schemeClr val="accent2"/>
                </a:solidFill>
                <a:latin typeface="Courier New"/>
                <a:ea typeface="Courier New"/>
                <a:cs typeface="Courier New"/>
                <a:sym typeface="Courier New"/>
              </a:rPr>
              <a:t>G</a:t>
            </a:r>
            <a:r>
              <a:rPr b="0" i="1"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a:t>
            </a:r>
            <a:r>
              <a:rPr b="0" i="1"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i="1"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E)</a:t>
            </a:r>
            <a:r>
              <a:rPr b="0" i="0" lang="en-US" sz="2800" u="none">
                <a:solidFill>
                  <a:schemeClr val="dk1"/>
                </a:solidFill>
                <a:latin typeface="Arial"/>
                <a:ea typeface="Arial"/>
                <a:cs typeface="Arial"/>
                <a:sym typeface="Arial"/>
              </a:rPr>
              <a:t> được xem là một rừng có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cây, mỗi cây là một đỉnh. Tập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rỗng</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Tại mỗi bước giải thuật tìm cạnh an toàn </a:t>
            </a:r>
            <a:r>
              <a:rPr b="0" i="0" lang="en-US" sz="2800" u="none">
                <a:solidFill>
                  <a:schemeClr val="accent2"/>
                </a:solidFill>
                <a:latin typeface="Courier New"/>
                <a:ea typeface="Courier New"/>
                <a:cs typeface="Courier New"/>
                <a:sym typeface="Courier New"/>
              </a:rPr>
              <a:t>(u,</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v)</a:t>
            </a:r>
            <a:r>
              <a:rPr b="0" i="0" lang="en-US" sz="2800" u="none">
                <a:solidFill>
                  <a:schemeClr val="dk1"/>
                </a:solidFill>
                <a:latin typeface="Arial"/>
                <a:ea typeface="Arial"/>
                <a:cs typeface="Arial"/>
                <a:sym typeface="Arial"/>
              </a:rPr>
              <a:t> (có trọng số nhỏ nhất và không tạo thành chu trình), cạnh này có hai đỉnh thuộc hai cây khác nhau và hợp hai cây này lại thành một cây. Thêm </a:t>
            </a:r>
            <a:r>
              <a:rPr b="0" i="0" lang="en-US" sz="2800" u="none">
                <a:solidFill>
                  <a:schemeClr val="accent2"/>
                </a:solidFill>
                <a:latin typeface="Courier New"/>
                <a:ea typeface="Courier New"/>
                <a:cs typeface="Courier New"/>
                <a:sym typeface="Courier New"/>
              </a:rPr>
              <a:t>(u,</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v)</a:t>
            </a:r>
            <a:r>
              <a:rPr b="0" i="0" lang="en-US" sz="2800" u="none">
                <a:solidFill>
                  <a:schemeClr val="dk1"/>
                </a:solidFill>
                <a:latin typeface="Arial"/>
                <a:ea typeface="Arial"/>
                <a:cs typeface="Arial"/>
                <a:sym typeface="Arial"/>
              </a:rPr>
              <a:t> vào </a:t>
            </a:r>
            <a:r>
              <a:rPr b="0" i="1" lang="en-US" sz="2800" u="none">
                <a:solidFill>
                  <a:schemeClr val="accent2"/>
                </a:solidFill>
                <a:latin typeface="Courier New"/>
                <a:ea typeface="Courier New"/>
                <a:cs typeface="Courier New"/>
                <a:sym typeface="Courier New"/>
              </a:rPr>
              <a:t>A</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Nếu rừng chỉ còn đúng một cây thì dừng, khi này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là tập chứa các cạnh của cây khung cực tiểu. Ngược lại, tiếp tục tìm cạnh an toàn và hợp hai cây lại thành một cây</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50" name="Shape 1250"/>
        <p:cNvGrpSpPr/>
        <p:nvPr/>
      </p:nvGrpSpPr>
      <p:grpSpPr>
        <a:xfrm>
          <a:off x="0" y="0"/>
          <a:ext cx="0" cy="0"/>
          <a:chOff x="0" y="0"/>
          <a:chExt cx="0" cy="0"/>
        </a:xfrm>
      </p:grpSpPr>
      <p:sp>
        <p:nvSpPr>
          <p:cNvPr id="1251" name="Google Shape;1251;p65"/>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Kruskal</a:t>
            </a:r>
            <a:endParaRPr/>
          </a:p>
        </p:txBody>
      </p:sp>
      <p:sp>
        <p:nvSpPr>
          <p:cNvPr id="1252" name="Google Shape;1252;p65"/>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lnSpc>
                <a:spcPct val="100000"/>
              </a:lnSpc>
              <a:spcBef>
                <a:spcPts val="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p:txBody>
      </p:sp>
      <p:pic>
        <p:nvPicPr>
          <p:cNvPr id="1253" name="Google Shape;1253;p65"/>
          <p:cNvPicPr preferRelativeResize="0"/>
          <p:nvPr/>
        </p:nvPicPr>
        <p:blipFill rotWithShape="1">
          <a:blip r:embed="rId3">
            <a:alphaModFix/>
          </a:blip>
          <a:srcRect b="0" l="0" r="0" t="0"/>
          <a:stretch/>
        </p:blipFill>
        <p:spPr>
          <a:xfrm>
            <a:off x="-262325" y="990600"/>
            <a:ext cx="9312626" cy="5713193"/>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57" name="Shape 1257"/>
        <p:cNvGrpSpPr/>
        <p:nvPr/>
      </p:nvGrpSpPr>
      <p:grpSpPr>
        <a:xfrm>
          <a:off x="0" y="0"/>
          <a:ext cx="0" cy="0"/>
          <a:chOff x="0" y="0"/>
          <a:chExt cx="0" cy="0"/>
        </a:xfrm>
      </p:grpSpPr>
      <p:sp>
        <p:nvSpPr>
          <p:cNvPr id="1258" name="Google Shape;1258;p66"/>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Kruskal</a:t>
            </a:r>
            <a:endParaRPr/>
          </a:p>
        </p:txBody>
      </p:sp>
      <p:sp>
        <p:nvSpPr>
          <p:cNvPr id="1259" name="Google Shape;1259;p66"/>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lnSpc>
                <a:spcPct val="100000"/>
              </a:lnSpc>
              <a:spcBef>
                <a:spcPts val="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p:txBody>
      </p:sp>
      <p:pic>
        <p:nvPicPr>
          <p:cNvPr id="1260" name="Google Shape;1260;p66"/>
          <p:cNvPicPr preferRelativeResize="0"/>
          <p:nvPr/>
        </p:nvPicPr>
        <p:blipFill rotWithShape="1">
          <a:blip r:embed="rId3">
            <a:alphaModFix/>
          </a:blip>
          <a:srcRect b="0" l="0" r="0" t="0"/>
          <a:stretch/>
        </p:blipFill>
        <p:spPr>
          <a:xfrm>
            <a:off x="685800" y="1981200"/>
            <a:ext cx="7550150" cy="4129087"/>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64" name="Shape 1264"/>
        <p:cNvGrpSpPr/>
        <p:nvPr/>
      </p:nvGrpSpPr>
      <p:grpSpPr>
        <a:xfrm>
          <a:off x="0" y="0"/>
          <a:ext cx="0" cy="0"/>
          <a:chOff x="0" y="0"/>
          <a:chExt cx="0" cy="0"/>
        </a:xfrm>
      </p:grpSpPr>
      <p:sp>
        <p:nvSpPr>
          <p:cNvPr id="1265" name="Google Shape;1265;p67"/>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Kruskal</a:t>
            </a:r>
            <a:endParaRPr/>
          </a:p>
        </p:txBody>
      </p:sp>
      <p:sp>
        <p:nvSpPr>
          <p:cNvPr id="1266" name="Google Shape;1266;p67"/>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lnSpc>
                <a:spcPct val="100000"/>
              </a:lnSpc>
              <a:spcBef>
                <a:spcPts val="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p:txBody>
      </p:sp>
      <p:pic>
        <p:nvPicPr>
          <p:cNvPr id="1267" name="Google Shape;1267;p67"/>
          <p:cNvPicPr preferRelativeResize="0"/>
          <p:nvPr/>
        </p:nvPicPr>
        <p:blipFill rotWithShape="1">
          <a:blip r:embed="rId3">
            <a:alphaModFix/>
          </a:blip>
          <a:srcRect b="0" l="0" r="0" t="0"/>
          <a:stretch/>
        </p:blipFill>
        <p:spPr>
          <a:xfrm>
            <a:off x="869950" y="1981200"/>
            <a:ext cx="7423150" cy="405606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71" name="Shape 1271"/>
        <p:cNvGrpSpPr/>
        <p:nvPr/>
      </p:nvGrpSpPr>
      <p:grpSpPr>
        <a:xfrm>
          <a:off x="0" y="0"/>
          <a:ext cx="0" cy="0"/>
          <a:chOff x="0" y="0"/>
          <a:chExt cx="0" cy="0"/>
        </a:xfrm>
      </p:grpSpPr>
      <p:sp>
        <p:nvSpPr>
          <p:cNvPr id="1272" name="Google Shape;1272;p68"/>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Kruskal</a:t>
            </a:r>
            <a:endParaRPr/>
          </a:p>
        </p:txBody>
      </p:sp>
      <p:sp>
        <p:nvSpPr>
          <p:cNvPr id="1273" name="Google Shape;1273;p68"/>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lnSpc>
                <a:spcPct val="100000"/>
              </a:lnSpc>
              <a:spcBef>
                <a:spcPts val="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p:txBody>
      </p:sp>
      <p:pic>
        <p:nvPicPr>
          <p:cNvPr id="1274" name="Google Shape;1274;p68"/>
          <p:cNvPicPr preferRelativeResize="0"/>
          <p:nvPr/>
        </p:nvPicPr>
        <p:blipFill rotWithShape="1">
          <a:blip r:embed="rId3">
            <a:alphaModFix/>
          </a:blip>
          <a:srcRect b="0" l="0" r="0" t="0"/>
          <a:stretch/>
        </p:blipFill>
        <p:spPr>
          <a:xfrm>
            <a:off x="685800" y="2157412"/>
            <a:ext cx="7491412" cy="21685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78" name="Shape 1278"/>
        <p:cNvGrpSpPr/>
        <p:nvPr/>
      </p:nvGrpSpPr>
      <p:grpSpPr>
        <a:xfrm>
          <a:off x="0" y="0"/>
          <a:ext cx="0" cy="0"/>
          <a:chOff x="0" y="0"/>
          <a:chExt cx="0" cy="0"/>
        </a:xfrm>
      </p:grpSpPr>
      <p:sp>
        <p:nvSpPr>
          <p:cNvPr id="1279" name="Google Shape;1279;p69"/>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Kruskal</a:t>
            </a:r>
            <a:endParaRPr/>
          </a:p>
        </p:txBody>
      </p:sp>
      <p:sp>
        <p:nvSpPr>
          <p:cNvPr id="1280" name="Google Shape;1280;p69"/>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lnSpc>
                <a:spcPct val="100000"/>
              </a:lnSpc>
              <a:spcBef>
                <a:spcPts val="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p:txBody>
      </p:sp>
      <p:pic>
        <p:nvPicPr>
          <p:cNvPr id="1281" name="Google Shape;1281;p69"/>
          <p:cNvPicPr preferRelativeResize="0"/>
          <p:nvPr/>
        </p:nvPicPr>
        <p:blipFill rotWithShape="1">
          <a:blip r:embed="rId3">
            <a:alphaModFix/>
          </a:blip>
          <a:srcRect b="0" l="0" r="0" t="0"/>
          <a:stretch/>
        </p:blipFill>
        <p:spPr>
          <a:xfrm>
            <a:off x="990600" y="1295400"/>
            <a:ext cx="7291387" cy="38100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85" name="Shape 1285"/>
        <p:cNvGrpSpPr/>
        <p:nvPr/>
      </p:nvGrpSpPr>
      <p:grpSpPr>
        <a:xfrm>
          <a:off x="0" y="0"/>
          <a:ext cx="0" cy="0"/>
          <a:chOff x="0" y="0"/>
          <a:chExt cx="0" cy="0"/>
        </a:xfrm>
      </p:grpSpPr>
      <p:sp>
        <p:nvSpPr>
          <p:cNvPr id="1286" name="Google Shape;1286;p70"/>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Kruskal</a:t>
            </a:r>
            <a:endParaRPr/>
          </a:p>
        </p:txBody>
      </p:sp>
      <p:sp>
        <p:nvSpPr>
          <p:cNvPr id="1287" name="Google Shape;1287;p70"/>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Các hàm dùng trong giải thuật:</a:t>
            </a:r>
            <a:endParaRPr/>
          </a:p>
          <a:p>
            <a:pPr indent="-446087" lvl="1" marL="1023937" marR="0" rtl="0" algn="l">
              <a:lnSpc>
                <a:spcPct val="8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ourier New"/>
                <a:ea typeface="Courier New"/>
                <a:cs typeface="Courier New"/>
                <a:sym typeface="Courier New"/>
              </a:rPr>
              <a:t>MAKE-SET(</a:t>
            </a:r>
            <a:r>
              <a:rPr b="0" i="1" lang="en-US" sz="2800" u="none" cap="none" strike="noStrike">
                <a:solidFill>
                  <a:schemeClr val="accent2"/>
                </a:solidFill>
                <a:latin typeface="Courier New"/>
                <a:ea typeface="Courier New"/>
                <a:cs typeface="Courier New"/>
                <a:sym typeface="Courier New"/>
              </a:rPr>
              <a:t>u</a:t>
            </a:r>
            <a:r>
              <a:rPr b="0" i="0" lang="en-US" sz="2800" u="none" cap="none" strike="noStrike">
                <a:solidFill>
                  <a:schemeClr val="accent2"/>
                </a:solidFill>
                <a:latin typeface="Courier New"/>
                <a:ea typeface="Courier New"/>
                <a:cs typeface="Courier New"/>
                <a:sym typeface="Courier New"/>
              </a:rPr>
              <a:t>)</a:t>
            </a:r>
            <a:r>
              <a:rPr b="0" i="0" lang="en-US" sz="2800" u="none" cap="none" strike="noStrike">
                <a:solidFill>
                  <a:schemeClr val="dk1"/>
                </a:solidFill>
                <a:latin typeface="Arial"/>
                <a:ea typeface="Arial"/>
                <a:cs typeface="Arial"/>
                <a:sym typeface="Arial"/>
              </a:rPr>
              <a:t>: Khởi tạo tập hợp ban đầu chỉ chứa </a:t>
            </a:r>
            <a:r>
              <a:rPr b="0" i="0" lang="en-US" sz="2800" u="none" cap="none" strike="noStrike">
                <a:solidFill>
                  <a:schemeClr val="accent2"/>
                </a:solidFill>
                <a:latin typeface="Courier New"/>
                <a:ea typeface="Courier New"/>
                <a:cs typeface="Courier New"/>
                <a:sym typeface="Courier New"/>
              </a:rPr>
              <a:t>u</a:t>
            </a:r>
            <a:endParaRPr b="0" i="0" sz="2800" u="none" cap="none" strike="noStrike">
              <a:solidFill>
                <a:schemeClr val="dk1"/>
              </a:solidFill>
              <a:latin typeface="Arial"/>
              <a:ea typeface="Arial"/>
              <a:cs typeface="Arial"/>
              <a:sym typeface="Arial"/>
            </a:endParaRPr>
          </a:p>
          <a:p>
            <a:pPr indent="-446087" lvl="1" marL="1023937" marR="0" rtl="0" algn="l">
              <a:lnSpc>
                <a:spcPct val="8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ourier New"/>
                <a:ea typeface="Courier New"/>
                <a:cs typeface="Courier New"/>
                <a:sym typeface="Courier New"/>
              </a:rPr>
              <a:t>FIND-SET(</a:t>
            </a:r>
            <a:r>
              <a:rPr b="0" i="1" lang="en-US" sz="2800" u="none" cap="none" strike="noStrike">
                <a:solidFill>
                  <a:schemeClr val="accent2"/>
                </a:solidFill>
                <a:latin typeface="Courier New"/>
                <a:ea typeface="Courier New"/>
                <a:cs typeface="Courier New"/>
                <a:sym typeface="Courier New"/>
              </a:rPr>
              <a:t>u</a:t>
            </a:r>
            <a:r>
              <a:rPr b="0" i="0" lang="en-US" sz="2800" u="none" cap="none" strike="noStrike">
                <a:solidFill>
                  <a:schemeClr val="accent2"/>
                </a:solidFill>
                <a:latin typeface="Courier New"/>
                <a:ea typeface="Courier New"/>
                <a:cs typeface="Courier New"/>
                <a:sym typeface="Courier New"/>
              </a:rPr>
              <a:t>)</a:t>
            </a:r>
            <a:r>
              <a:rPr b="0" i="0" lang="en-US" sz="2800" u="none" cap="none" strike="noStrike">
                <a:solidFill>
                  <a:schemeClr val="dk1"/>
                </a:solidFill>
                <a:latin typeface="Arial"/>
                <a:ea typeface="Arial"/>
                <a:cs typeface="Arial"/>
                <a:sym typeface="Arial"/>
              </a:rPr>
              <a:t>: Trả về tập chứa </a:t>
            </a:r>
            <a:r>
              <a:rPr b="0" i="1" lang="en-US" sz="2800" u="none" cap="none" strike="noStrike">
                <a:solidFill>
                  <a:schemeClr val="accent2"/>
                </a:solidFill>
                <a:latin typeface="Courier New"/>
                <a:ea typeface="Courier New"/>
                <a:cs typeface="Courier New"/>
                <a:sym typeface="Courier New"/>
              </a:rPr>
              <a:t>u</a:t>
            </a:r>
            <a:r>
              <a:rPr b="0" i="0" lang="en-US" sz="2800" u="none" cap="none" strike="noStrike">
                <a:solidFill>
                  <a:schemeClr val="dk1"/>
                </a:solidFill>
                <a:latin typeface="Arial"/>
                <a:ea typeface="Arial"/>
                <a:cs typeface="Arial"/>
                <a:sym typeface="Arial"/>
              </a:rPr>
              <a:t>. Biểu thức</a:t>
            </a:r>
            <a:endParaRPr/>
          </a:p>
          <a:p>
            <a:pPr indent="-446087" lvl="1" marL="1023937" marR="0" rtl="0" algn="l">
              <a:lnSpc>
                <a:spcPct val="80000"/>
              </a:lnSpc>
              <a:spcBef>
                <a:spcPts val="560"/>
              </a:spcBef>
              <a:spcAft>
                <a:spcPts val="0"/>
              </a:spcAft>
              <a:buClr>
                <a:schemeClr val="accent2"/>
              </a:buClr>
              <a:buSzPts val="2800"/>
              <a:buFont typeface="Noto Sans Symbols"/>
              <a:buNone/>
            </a:pPr>
            <a:r>
              <a:rPr b="0" i="0" lang="en-US" sz="2800" u="none" cap="none" strike="noStrike">
                <a:solidFill>
                  <a:schemeClr val="accent2"/>
                </a:solidFill>
                <a:latin typeface="Courier New"/>
                <a:ea typeface="Courier New"/>
                <a:cs typeface="Courier New"/>
                <a:sym typeface="Courier New"/>
              </a:rPr>
              <a:t>			FIND-SET(</a:t>
            </a:r>
            <a:r>
              <a:rPr b="0" i="1" lang="en-US" sz="2800" u="none" cap="none" strike="noStrike">
                <a:solidFill>
                  <a:schemeClr val="accent2"/>
                </a:solidFill>
                <a:latin typeface="Courier New"/>
                <a:ea typeface="Courier New"/>
                <a:cs typeface="Courier New"/>
                <a:sym typeface="Courier New"/>
              </a:rPr>
              <a:t>u</a:t>
            </a:r>
            <a:r>
              <a:rPr b="0" i="0" lang="en-US" sz="2800" u="none" cap="none" strike="noStrike">
                <a:solidFill>
                  <a:schemeClr val="accent2"/>
                </a:solidFill>
                <a:latin typeface="Courier New"/>
                <a:ea typeface="Courier New"/>
                <a:cs typeface="Courier New"/>
                <a:sym typeface="Courier New"/>
              </a:rPr>
              <a:t>)</a:t>
            </a:r>
            <a:r>
              <a:rPr b="0" i="0" lang="en-US" sz="2800" u="none" cap="none" strike="noStrike">
                <a:solidFill>
                  <a:schemeClr val="accent2"/>
                </a:solidFill>
                <a:latin typeface="Arial"/>
                <a:ea typeface="Arial"/>
                <a:cs typeface="Arial"/>
                <a:sym typeface="Arial"/>
              </a:rPr>
              <a:t> </a:t>
            </a:r>
            <a:r>
              <a:rPr b="0" i="0" lang="en-US" sz="2800" u="none" cap="none" strike="noStrike">
                <a:solidFill>
                  <a:schemeClr val="accent2"/>
                </a:solidFill>
                <a:latin typeface="Courier New"/>
                <a:ea typeface="Courier New"/>
                <a:cs typeface="Courier New"/>
                <a:sym typeface="Courier New"/>
              </a:rPr>
              <a:t>≠</a:t>
            </a:r>
            <a:r>
              <a:rPr b="0" i="0" lang="en-US" sz="2800" u="none" cap="none" strike="noStrike">
                <a:solidFill>
                  <a:schemeClr val="accent2"/>
                </a:solidFill>
                <a:latin typeface="Arial"/>
                <a:ea typeface="Arial"/>
                <a:cs typeface="Arial"/>
                <a:sym typeface="Arial"/>
              </a:rPr>
              <a:t> </a:t>
            </a:r>
            <a:r>
              <a:rPr b="0" i="0" lang="en-US" sz="2800" u="none" cap="none" strike="noStrike">
                <a:solidFill>
                  <a:schemeClr val="accent2"/>
                </a:solidFill>
                <a:latin typeface="Courier New"/>
                <a:ea typeface="Courier New"/>
                <a:cs typeface="Courier New"/>
                <a:sym typeface="Courier New"/>
              </a:rPr>
              <a:t>FIND-SET(</a:t>
            </a:r>
            <a:r>
              <a:rPr b="0" i="1" lang="en-US" sz="2800" u="none" cap="none" strike="noStrike">
                <a:solidFill>
                  <a:schemeClr val="accent2"/>
                </a:solidFill>
                <a:latin typeface="Courier New"/>
                <a:ea typeface="Courier New"/>
                <a:cs typeface="Courier New"/>
                <a:sym typeface="Courier New"/>
              </a:rPr>
              <a:t>v</a:t>
            </a:r>
            <a:r>
              <a:rPr b="0" i="0" lang="en-US" sz="2800" u="none" cap="none" strike="noStrike">
                <a:solidFill>
                  <a:schemeClr val="accent2"/>
                </a:solidFill>
                <a:latin typeface="Courier New"/>
                <a:ea typeface="Courier New"/>
                <a:cs typeface="Courier New"/>
                <a:sym typeface="Courier New"/>
              </a:rPr>
              <a:t>)</a:t>
            </a:r>
            <a:endParaRPr b="0" i="0" sz="2800" u="none" cap="none" strike="noStrike">
              <a:solidFill>
                <a:schemeClr val="dk1"/>
              </a:solidFill>
              <a:latin typeface="Arial"/>
              <a:ea typeface="Arial"/>
              <a:cs typeface="Arial"/>
              <a:sym typeface="Arial"/>
            </a:endParaRPr>
          </a:p>
          <a:p>
            <a:pPr indent="-446087" lvl="1" marL="1023937" marR="0" rtl="0" algn="l">
              <a:lnSpc>
                <a:spcPct val="80000"/>
              </a:lnSpc>
              <a:spcBef>
                <a:spcPts val="56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	là </a:t>
            </a:r>
            <a:r>
              <a:rPr b="0" i="0" lang="en-US" sz="2800" u="none" cap="none" strike="noStrike">
                <a:solidFill>
                  <a:schemeClr val="accent2"/>
                </a:solidFill>
                <a:latin typeface="Courier New"/>
                <a:ea typeface="Courier New"/>
                <a:cs typeface="Courier New"/>
                <a:sym typeface="Courier New"/>
              </a:rPr>
              <a:t>true</a:t>
            </a:r>
            <a:r>
              <a:rPr b="0" i="0" lang="en-US" sz="2800" u="none" cap="none" strike="noStrike">
                <a:solidFill>
                  <a:schemeClr val="dk1"/>
                </a:solidFill>
                <a:latin typeface="Arial"/>
                <a:ea typeface="Arial"/>
                <a:cs typeface="Arial"/>
                <a:sym typeface="Arial"/>
              </a:rPr>
              <a:t> nếu </a:t>
            </a:r>
            <a:r>
              <a:rPr b="0" i="1" lang="en-US" sz="2800" u="none" cap="none" strike="noStrike">
                <a:solidFill>
                  <a:schemeClr val="accent2"/>
                </a:solidFill>
                <a:latin typeface="Courier New"/>
                <a:ea typeface="Courier New"/>
                <a:cs typeface="Courier New"/>
                <a:sym typeface="Courier New"/>
              </a:rPr>
              <a:t>u</a:t>
            </a:r>
            <a:r>
              <a:rPr b="0" i="0" lang="en-US" sz="2800" u="none" cap="none" strike="noStrike">
                <a:solidFill>
                  <a:schemeClr val="dk1"/>
                </a:solidFill>
                <a:latin typeface="Arial"/>
                <a:ea typeface="Arial"/>
                <a:cs typeface="Arial"/>
                <a:sym typeface="Arial"/>
              </a:rPr>
              <a:t> và </a:t>
            </a:r>
            <a:r>
              <a:rPr b="0" i="1" lang="en-US" sz="2800" u="none" cap="none" strike="noStrike">
                <a:solidFill>
                  <a:schemeClr val="accent2"/>
                </a:solidFill>
                <a:latin typeface="Courier New"/>
                <a:ea typeface="Courier New"/>
                <a:cs typeface="Courier New"/>
                <a:sym typeface="Courier New"/>
              </a:rPr>
              <a:t>v</a:t>
            </a:r>
            <a:r>
              <a:rPr b="0" i="0" lang="en-US" sz="2800" u="none" cap="none" strike="noStrike">
                <a:solidFill>
                  <a:schemeClr val="dk1"/>
                </a:solidFill>
                <a:latin typeface="Arial"/>
                <a:ea typeface="Arial"/>
                <a:cs typeface="Arial"/>
                <a:sym typeface="Arial"/>
              </a:rPr>
              <a:t> thuộc hai tập hợp (hai cây) khác nhau</a:t>
            </a:r>
            <a:endParaRPr/>
          </a:p>
          <a:p>
            <a:pPr indent="-446087" lvl="1" marL="1023937" marR="0" rtl="0" algn="l">
              <a:lnSpc>
                <a:spcPct val="80000"/>
              </a:lnSpc>
              <a:spcBef>
                <a:spcPts val="560"/>
              </a:spcBef>
              <a:spcAft>
                <a:spcPts val="0"/>
              </a:spcAft>
              <a:buClr>
                <a:schemeClr val="accent2"/>
              </a:buClr>
              <a:buSzPts val="2800"/>
              <a:buFont typeface="Noto Sans Symbols"/>
              <a:buChar char="⮲"/>
            </a:pPr>
            <a:r>
              <a:rPr b="0" i="0" lang="en-US" sz="2800" u="none" cap="none" strike="noStrike">
                <a:solidFill>
                  <a:schemeClr val="accent2"/>
                </a:solidFill>
                <a:latin typeface="Courier New"/>
                <a:ea typeface="Courier New"/>
                <a:cs typeface="Courier New"/>
                <a:sym typeface="Courier New"/>
              </a:rPr>
              <a:t>UNION(</a:t>
            </a:r>
            <a:r>
              <a:rPr b="0" i="1" lang="en-US" sz="2800" u="none" cap="none" strike="noStrike">
                <a:solidFill>
                  <a:schemeClr val="accent2"/>
                </a:solidFill>
                <a:latin typeface="Courier New"/>
                <a:ea typeface="Courier New"/>
                <a:cs typeface="Courier New"/>
                <a:sym typeface="Courier New"/>
              </a:rPr>
              <a:t>u</a:t>
            </a:r>
            <a:r>
              <a:rPr b="0" i="0" lang="en-US" sz="2800" u="none" cap="none" strike="noStrike">
                <a:solidFill>
                  <a:schemeClr val="accent2"/>
                </a:solidFill>
                <a:latin typeface="Courier New"/>
                <a:ea typeface="Courier New"/>
                <a:cs typeface="Courier New"/>
                <a:sym typeface="Courier New"/>
              </a:rPr>
              <a:t>,</a:t>
            </a:r>
            <a:r>
              <a:rPr b="0" i="0" lang="en-US" sz="2800" u="none" cap="none" strike="noStrike">
                <a:solidFill>
                  <a:schemeClr val="accent2"/>
                </a:solidFill>
                <a:latin typeface="Arial"/>
                <a:ea typeface="Arial"/>
                <a:cs typeface="Arial"/>
                <a:sym typeface="Arial"/>
              </a:rPr>
              <a:t> </a:t>
            </a:r>
            <a:r>
              <a:rPr b="0" i="1" lang="en-US" sz="2800" u="none" cap="none" strike="noStrike">
                <a:solidFill>
                  <a:schemeClr val="accent2"/>
                </a:solidFill>
                <a:latin typeface="Courier New"/>
                <a:ea typeface="Courier New"/>
                <a:cs typeface="Courier New"/>
                <a:sym typeface="Courier New"/>
              </a:rPr>
              <a:t>v</a:t>
            </a:r>
            <a:r>
              <a:rPr b="0" i="0" lang="en-US" sz="2800" u="none" cap="none" strike="noStrike">
                <a:solidFill>
                  <a:schemeClr val="accent2"/>
                </a:solidFill>
                <a:latin typeface="Courier New"/>
                <a:ea typeface="Courier New"/>
                <a:cs typeface="Courier New"/>
                <a:sym typeface="Courier New"/>
              </a:rPr>
              <a:t>)</a:t>
            </a:r>
            <a:r>
              <a:rPr b="0" i="0" lang="en-US" sz="2800" u="none" cap="none" strike="noStrike">
                <a:solidFill>
                  <a:schemeClr val="dk1"/>
                </a:solidFill>
                <a:latin typeface="Arial"/>
                <a:ea typeface="Arial"/>
                <a:cs typeface="Arial"/>
                <a:sym typeface="Arial"/>
              </a:rPr>
              <a:t>: Hợp hai tập chứa </a:t>
            </a:r>
            <a:r>
              <a:rPr b="0" i="1" lang="en-US" sz="2800" u="none" cap="none" strike="noStrike">
                <a:solidFill>
                  <a:schemeClr val="accent2"/>
                </a:solidFill>
                <a:latin typeface="Courier New"/>
                <a:ea typeface="Courier New"/>
                <a:cs typeface="Courier New"/>
                <a:sym typeface="Courier New"/>
              </a:rPr>
              <a:t>u</a:t>
            </a:r>
            <a:r>
              <a:rPr b="0" i="0" lang="en-US" sz="2800" u="none" cap="none" strike="noStrike">
                <a:solidFill>
                  <a:schemeClr val="dk1"/>
                </a:solidFill>
                <a:latin typeface="Arial"/>
                <a:ea typeface="Arial"/>
                <a:cs typeface="Arial"/>
                <a:sym typeface="Arial"/>
              </a:rPr>
              <a:t> và chứa </a:t>
            </a:r>
            <a:r>
              <a:rPr b="0" i="1" lang="en-US" sz="2800" u="none" cap="none" strike="noStrike">
                <a:solidFill>
                  <a:schemeClr val="accent2"/>
                </a:solidFill>
                <a:latin typeface="Courier New"/>
                <a:ea typeface="Courier New"/>
                <a:cs typeface="Courier New"/>
                <a:sym typeface="Courier New"/>
              </a:rPr>
              <a:t>v</a:t>
            </a:r>
            <a:endParaRPr b="0" i="0" sz="2800" u="none" cap="none" strike="noStrike">
              <a:solidFill>
                <a:schemeClr val="dk1"/>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91" name="Shape 1291"/>
        <p:cNvGrpSpPr/>
        <p:nvPr/>
      </p:nvGrpSpPr>
      <p:grpSpPr>
        <a:xfrm>
          <a:off x="0" y="0"/>
          <a:ext cx="0" cy="0"/>
          <a:chOff x="0" y="0"/>
          <a:chExt cx="0" cy="0"/>
        </a:xfrm>
      </p:grpSpPr>
      <p:sp>
        <p:nvSpPr>
          <p:cNvPr id="1292" name="Google Shape;1292;p71"/>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Kruskal</a:t>
            </a:r>
            <a:endParaRPr/>
          </a:p>
        </p:txBody>
      </p:sp>
      <p:sp>
        <p:nvSpPr>
          <p:cNvPr id="1293" name="Google Shape;1293;p71"/>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Dòng 1-3 khởi tạo tập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rỗng và tạo một rừng chứa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cây, mỗi cây một đỉnh</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Dòng 4 sắp các cạnh trong </a:t>
            </a:r>
            <a:r>
              <a:rPr b="0" i="1" lang="en-US" sz="2800" u="none">
                <a:solidFill>
                  <a:schemeClr val="accent2"/>
                </a:solidFill>
                <a:latin typeface="Courier New"/>
                <a:ea typeface="Courier New"/>
                <a:cs typeface="Courier New"/>
                <a:sym typeface="Courier New"/>
              </a:rPr>
              <a:t>E</a:t>
            </a:r>
            <a:r>
              <a:rPr b="0" i="0" lang="en-US" sz="2800" u="none">
                <a:solidFill>
                  <a:schemeClr val="dk1"/>
                </a:solidFill>
                <a:latin typeface="Arial"/>
                <a:ea typeface="Arial"/>
                <a:cs typeface="Arial"/>
                <a:sym typeface="Arial"/>
              </a:rPr>
              <a:t> theo thứ tự trọng số không giảm: Có thể sử dụng hàng đơi ưu tiên hoặc sắp thứ tự trọng số tăng dần bình thường</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Vòng lặp </a:t>
            </a:r>
            <a:r>
              <a:rPr b="0" i="0" lang="en-US" sz="2800" u="none">
                <a:solidFill>
                  <a:schemeClr val="accent2"/>
                </a:solidFill>
                <a:latin typeface="Courier New"/>
                <a:ea typeface="Courier New"/>
                <a:cs typeface="Courier New"/>
                <a:sym typeface="Courier New"/>
              </a:rPr>
              <a:t>for</a:t>
            </a:r>
            <a:r>
              <a:rPr b="0" i="0" lang="en-US" sz="2800" u="none">
                <a:solidFill>
                  <a:schemeClr val="dk1"/>
                </a:solidFill>
                <a:latin typeface="Arial"/>
                <a:ea typeface="Arial"/>
                <a:cs typeface="Arial"/>
                <a:sym typeface="Arial"/>
              </a:rPr>
              <a:t> ở dòng 5-8 kiểm tra xem mỗi cạnh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u</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với đỉnh </a:t>
            </a:r>
            <a:r>
              <a:rPr b="0" i="1" lang="en-US" sz="2800" u="none">
                <a:solidFill>
                  <a:schemeClr val="accent2"/>
                </a:solidFill>
                <a:latin typeface="Courier New"/>
                <a:ea typeface="Courier New"/>
                <a:cs typeface="Courier New"/>
                <a:sym typeface="Courier New"/>
              </a:rPr>
              <a:t>u</a:t>
            </a:r>
            <a:r>
              <a:rPr b="0" i="0" lang="en-US" sz="2800" u="none">
                <a:solidFill>
                  <a:schemeClr val="dk1"/>
                </a:solidFill>
                <a:latin typeface="Arial"/>
                <a:ea typeface="Arial"/>
                <a:cs typeface="Arial"/>
                <a:sym typeface="Arial"/>
              </a:rPr>
              <a:t> và </a:t>
            </a:r>
            <a:r>
              <a:rPr b="0" i="1" lang="en-US" sz="2800" u="none">
                <a:solidFill>
                  <a:schemeClr val="accent2"/>
                </a:solidFill>
                <a:latin typeface="Courier New"/>
                <a:ea typeface="Courier New"/>
                <a:cs typeface="Courier New"/>
                <a:sym typeface="Courier New"/>
              </a:rPr>
              <a:t>v</a:t>
            </a:r>
            <a:r>
              <a:rPr b="0" i="0" lang="en-US" sz="2800" u="none">
                <a:solidFill>
                  <a:schemeClr val="dk1"/>
                </a:solidFill>
                <a:latin typeface="Arial"/>
                <a:ea typeface="Arial"/>
                <a:cs typeface="Arial"/>
                <a:sym typeface="Arial"/>
              </a:rPr>
              <a:t> có cùng một cây không. Nếu đúng thì không thể thêm cạnh này vào vì nó có thể tạo thành chu trình. Ngược lại, nếu hai đỉnh thuộc hai cây khác nhau thì thêm cạnh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u</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vào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ở dòng 7 và hợp hai cây lại ở dòng 8</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97" name="Shape 1297"/>
        <p:cNvGrpSpPr/>
        <p:nvPr/>
      </p:nvGrpSpPr>
      <p:grpSpPr>
        <a:xfrm>
          <a:off x="0" y="0"/>
          <a:ext cx="0" cy="0"/>
          <a:chOff x="0" y="0"/>
          <a:chExt cx="0" cy="0"/>
        </a:xfrm>
      </p:grpSpPr>
      <p:sp>
        <p:nvSpPr>
          <p:cNvPr id="1298" name="Google Shape;1298;p72"/>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Kruskal</a:t>
            </a:r>
            <a:endParaRPr/>
          </a:p>
        </p:txBody>
      </p:sp>
      <p:sp>
        <p:nvSpPr>
          <p:cNvPr id="1299" name="Google Shape;1299;p72"/>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3000"/>
              <a:buFont typeface="Noto Sans Symbols"/>
              <a:buChar char="⮚"/>
            </a:pPr>
            <a:r>
              <a:rPr b="0" i="0" lang="en-US" sz="3000" u="none">
                <a:solidFill>
                  <a:schemeClr val="dk1"/>
                </a:solidFill>
                <a:latin typeface="Arial"/>
                <a:ea typeface="Arial"/>
                <a:cs typeface="Arial"/>
                <a:sym typeface="Arial"/>
              </a:rPr>
              <a:t>Cách viết khác:</a:t>
            </a:r>
            <a:endParaRPr/>
          </a:p>
        </p:txBody>
      </p:sp>
      <p:pic>
        <p:nvPicPr>
          <p:cNvPr id="1300" name="Google Shape;1300;p72"/>
          <p:cNvPicPr preferRelativeResize="0"/>
          <p:nvPr/>
        </p:nvPicPr>
        <p:blipFill rotWithShape="1">
          <a:blip r:embed="rId3">
            <a:alphaModFix/>
          </a:blip>
          <a:srcRect b="0" l="0" r="0" t="0"/>
          <a:stretch/>
        </p:blipFill>
        <p:spPr>
          <a:xfrm>
            <a:off x="1219200" y="1447800"/>
            <a:ext cx="7042150" cy="4351337"/>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304" name="Shape 1304"/>
        <p:cNvGrpSpPr/>
        <p:nvPr/>
      </p:nvGrpSpPr>
      <p:grpSpPr>
        <a:xfrm>
          <a:off x="0" y="0"/>
          <a:ext cx="0" cy="0"/>
          <a:chOff x="0" y="0"/>
          <a:chExt cx="0" cy="0"/>
        </a:xfrm>
      </p:grpSpPr>
      <p:sp>
        <p:nvSpPr>
          <p:cNvPr id="1305" name="Google Shape;1305;p73"/>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b) Giải thuật Prim</a:t>
            </a:r>
            <a:endParaRPr/>
          </a:p>
        </p:txBody>
      </p:sp>
      <p:sp>
        <p:nvSpPr>
          <p:cNvPr id="1306" name="Google Shape;1306;p73"/>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Giống như giải thuật Kruskal, giải thuật Prim dựa trên cơ sở giải thuật tổng quát</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Các cạnh trong tập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của giải thuật Prim luôn hình thành một cây đơn</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cây khung được hình thành bắt đầu từ một đỉnh tùy ý trong đồ thị và lớn dần cho đến khi toàn bộ các đỉnh được phủ</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Tại mỗi bước một cạnh nhẹ được thêm vào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nối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với một đỉnh cô lập của </a:t>
            </a:r>
            <a:r>
              <a:rPr b="0" i="0" lang="en-US" sz="2800" u="none">
                <a:solidFill>
                  <a:schemeClr val="accent2"/>
                </a:solidFill>
                <a:latin typeface="Courier New"/>
                <a:ea typeface="Courier New"/>
                <a:cs typeface="Courier New"/>
                <a:sym typeface="Courier New"/>
              </a:rPr>
              <a:t>G</a:t>
            </a:r>
            <a:r>
              <a:rPr b="0" baseline="-25000" i="0" lang="en-US" sz="2800" u="none">
                <a:solidFill>
                  <a:schemeClr val="accent2"/>
                </a:solidFill>
                <a:latin typeface="Courier New"/>
                <a:ea typeface="Courier New"/>
                <a:cs typeface="Courier New"/>
                <a:sym typeface="Courier New"/>
              </a:rPr>
              <a:t>A</a:t>
            </a:r>
            <a:r>
              <a:rPr b="0" i="0" lang="en-US" sz="2800" u="none">
                <a:solidFill>
                  <a:schemeClr val="accent2"/>
                </a:solidFill>
                <a:latin typeface="Courier New"/>
                <a:ea typeface="Courier New"/>
                <a:cs typeface="Courier New"/>
                <a:sym typeface="Courier New"/>
              </a:rPr>
              <a:t>= (</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A</a:t>
            </a:r>
            <a:r>
              <a:rPr b="0" i="0" lang="en-US" sz="2800" u="none">
                <a:solidFill>
                  <a:schemeClr val="accent2"/>
                </a:solidFill>
                <a:latin typeface="Courier New"/>
                <a:ea typeface="Courier New"/>
                <a:cs typeface="Courier New"/>
                <a:sym typeface="Courier New"/>
              </a:rPr>
              <a:t>)</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Kết thúc giải thuật, hàng đợi ưu tiên </a:t>
            </a:r>
            <a:r>
              <a:rPr b="0" i="1" lang="en-US" sz="2800" u="none">
                <a:solidFill>
                  <a:schemeClr val="accent2"/>
                </a:solidFill>
                <a:latin typeface="Courier New"/>
                <a:ea typeface="Courier New"/>
                <a:cs typeface="Courier New"/>
                <a:sym typeface="Courier New"/>
              </a:rPr>
              <a:t>Q</a:t>
            </a:r>
            <a:r>
              <a:rPr b="0" i="0" lang="en-US" sz="2800" u="none">
                <a:solidFill>
                  <a:schemeClr val="dk1"/>
                </a:solidFill>
                <a:latin typeface="Arial"/>
                <a:ea typeface="Arial"/>
                <a:cs typeface="Arial"/>
                <a:sym typeface="Arial"/>
              </a:rPr>
              <a:t> rỗng,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là cây khung cực tiểu của </a:t>
            </a:r>
            <a:r>
              <a:rPr b="0" i="1" lang="en-US" sz="2800" u="none">
                <a:solidFill>
                  <a:schemeClr val="accent2"/>
                </a:solidFill>
                <a:latin typeface="Courier New"/>
                <a:ea typeface="Courier New"/>
                <a:cs typeface="Courier New"/>
                <a:sym typeface="Courier New"/>
              </a:rPr>
              <a:t>G</a:t>
            </a:r>
            <a:endParaRPr/>
          </a:p>
          <a:p>
            <a:pPr indent="-285750" lvl="0" marL="463550" marR="0" rtl="0" algn="l">
              <a:spcBef>
                <a:spcPts val="560"/>
              </a:spcBef>
              <a:spcAft>
                <a:spcPts val="0"/>
              </a:spcAft>
              <a:buClr>
                <a:schemeClr val="dk1"/>
              </a:buClr>
              <a:buSzPts val="2800"/>
              <a:buFont typeface="Noto Sans Symbols"/>
              <a:buNone/>
            </a:pPr>
            <a:r>
              <a:t/>
            </a:r>
            <a:endParaRPr b="0" i="1" sz="2800" u="none">
              <a:solidFill>
                <a:schemeClr val="accent2"/>
              </a:solidFill>
              <a:latin typeface="Courier New"/>
              <a:ea typeface="Courier New"/>
              <a:cs typeface="Courier New"/>
              <a:sym typeface="Courier New"/>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310" name="Shape 1310"/>
        <p:cNvGrpSpPr/>
        <p:nvPr/>
      </p:nvGrpSpPr>
      <p:grpSpPr>
        <a:xfrm>
          <a:off x="0" y="0"/>
          <a:ext cx="0" cy="0"/>
          <a:chOff x="0" y="0"/>
          <a:chExt cx="0" cy="0"/>
        </a:xfrm>
      </p:grpSpPr>
      <p:sp>
        <p:nvSpPr>
          <p:cNvPr id="1311" name="Google Shape;1311;p74"/>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Prim</a:t>
            </a:r>
            <a:endParaRPr/>
          </a:p>
        </p:txBody>
      </p:sp>
      <p:sp>
        <p:nvSpPr>
          <p:cNvPr id="1312" name="Google Shape;1312;p74"/>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lnSpc>
                <a:spcPct val="100000"/>
              </a:lnSpc>
              <a:spcBef>
                <a:spcPts val="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p:txBody>
      </p:sp>
      <p:pic>
        <p:nvPicPr>
          <p:cNvPr id="1313" name="Google Shape;1313;p74"/>
          <p:cNvPicPr preferRelativeResize="0"/>
          <p:nvPr/>
        </p:nvPicPr>
        <p:blipFill rotWithShape="1">
          <a:blip r:embed="rId3">
            <a:alphaModFix/>
          </a:blip>
          <a:srcRect b="0" l="0" r="0" t="0"/>
          <a:stretch/>
        </p:blipFill>
        <p:spPr>
          <a:xfrm>
            <a:off x="838200" y="990600"/>
            <a:ext cx="7175500" cy="5113338"/>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317" name="Shape 1317"/>
        <p:cNvGrpSpPr/>
        <p:nvPr/>
      </p:nvGrpSpPr>
      <p:grpSpPr>
        <a:xfrm>
          <a:off x="0" y="0"/>
          <a:ext cx="0" cy="0"/>
          <a:chOff x="0" y="0"/>
          <a:chExt cx="0" cy="0"/>
        </a:xfrm>
      </p:grpSpPr>
      <p:sp>
        <p:nvSpPr>
          <p:cNvPr id="1318" name="Google Shape;1318;p75"/>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Prim</a:t>
            </a:r>
            <a:endParaRPr/>
          </a:p>
        </p:txBody>
      </p:sp>
      <p:sp>
        <p:nvSpPr>
          <p:cNvPr id="1319" name="Google Shape;1319;p75"/>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285750" lvl="0" marL="463550" marR="0" rtl="0" algn="l">
              <a:lnSpc>
                <a:spcPct val="100000"/>
              </a:lnSpc>
              <a:spcBef>
                <a:spcPts val="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a:p>
            <a:pPr indent="-285750" lvl="0" marL="463550" marR="0" rtl="0" algn="l">
              <a:spcBef>
                <a:spcPts val="560"/>
              </a:spcBef>
              <a:spcAft>
                <a:spcPts val="0"/>
              </a:spcAft>
              <a:buClr>
                <a:schemeClr val="dk1"/>
              </a:buClr>
              <a:buSzPts val="2800"/>
              <a:buFont typeface="Noto Sans Symbols"/>
              <a:buNone/>
            </a:pPr>
            <a:r>
              <a:t/>
            </a:r>
            <a:endParaRPr b="0" i="0" sz="2800" u="none">
              <a:solidFill>
                <a:schemeClr val="dk1"/>
              </a:solidFill>
              <a:latin typeface="Arial"/>
              <a:ea typeface="Arial"/>
              <a:cs typeface="Arial"/>
              <a:sym typeface="Arial"/>
            </a:endParaRPr>
          </a:p>
        </p:txBody>
      </p:sp>
      <p:pic>
        <p:nvPicPr>
          <p:cNvPr id="1320" name="Google Shape;1320;p75"/>
          <p:cNvPicPr preferRelativeResize="0"/>
          <p:nvPr/>
        </p:nvPicPr>
        <p:blipFill rotWithShape="1">
          <a:blip r:embed="rId3">
            <a:alphaModFix/>
          </a:blip>
          <a:srcRect b="0" l="0" r="0" t="0"/>
          <a:stretch/>
        </p:blipFill>
        <p:spPr>
          <a:xfrm>
            <a:off x="1143000" y="990600"/>
            <a:ext cx="6605587" cy="500697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324" name="Shape 1324"/>
        <p:cNvGrpSpPr/>
        <p:nvPr/>
      </p:nvGrpSpPr>
      <p:grpSpPr>
        <a:xfrm>
          <a:off x="0" y="0"/>
          <a:ext cx="0" cy="0"/>
          <a:chOff x="0" y="0"/>
          <a:chExt cx="0" cy="0"/>
        </a:xfrm>
      </p:grpSpPr>
      <p:sp>
        <p:nvSpPr>
          <p:cNvPr id="1325" name="Google Shape;1325;p76"/>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Prim</a:t>
            </a:r>
            <a:endParaRPr/>
          </a:p>
        </p:txBody>
      </p:sp>
      <p:pic>
        <p:nvPicPr>
          <p:cNvPr descr="mst_prim" id="1326" name="Google Shape;1326;p76"/>
          <p:cNvPicPr preferRelativeResize="0"/>
          <p:nvPr>
            <p:ph idx="1" type="body"/>
          </p:nvPr>
        </p:nvPicPr>
        <p:blipFill rotWithShape="1">
          <a:blip r:embed="rId3">
            <a:alphaModFix/>
          </a:blip>
          <a:srcRect b="0" l="0" r="0" t="0"/>
          <a:stretch/>
        </p:blipFill>
        <p:spPr>
          <a:xfrm>
            <a:off x="1905000" y="1143000"/>
            <a:ext cx="4714875" cy="32385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330" name="Shape 1330"/>
        <p:cNvGrpSpPr/>
        <p:nvPr/>
      </p:nvGrpSpPr>
      <p:grpSpPr>
        <a:xfrm>
          <a:off x="0" y="0"/>
          <a:ext cx="0" cy="0"/>
          <a:chOff x="0" y="0"/>
          <a:chExt cx="0" cy="0"/>
        </a:xfrm>
      </p:grpSpPr>
      <p:sp>
        <p:nvSpPr>
          <p:cNvPr id="1331" name="Google Shape;1331;p77"/>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Prim</a:t>
            </a:r>
            <a:endParaRPr/>
          </a:p>
        </p:txBody>
      </p:sp>
      <p:sp>
        <p:nvSpPr>
          <p:cNvPr id="1332" name="Google Shape;1332;p77"/>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8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Trong khi giải thuật thực thi, tập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gồm các cạnh:</a:t>
            </a:r>
            <a:endParaRPr/>
          </a:p>
          <a:p>
            <a:pPr indent="-463550" lvl="0" marL="463550" marR="0" rtl="0" algn="l">
              <a:lnSpc>
                <a:spcPct val="80000"/>
              </a:lnSpc>
              <a:spcBef>
                <a:spcPts val="560"/>
              </a:spcBef>
              <a:spcAft>
                <a:spcPts val="0"/>
              </a:spcAft>
              <a:buClr>
                <a:schemeClr val="accent2"/>
              </a:buClr>
              <a:buSzPts val="2800"/>
              <a:buFont typeface="Noto Sans Symbols"/>
              <a:buNone/>
            </a:pPr>
            <a:r>
              <a:rPr b="0" i="0" lang="en-US" sz="2800" u="none">
                <a:solidFill>
                  <a:schemeClr val="accent2"/>
                </a:solidFill>
                <a:latin typeface="Courier New"/>
                <a:ea typeface="Courier New"/>
                <a:cs typeface="Courier New"/>
                <a:sym typeface="Courier New"/>
              </a:rPr>
              <a:t>		</a:t>
            </a:r>
            <a:r>
              <a:rPr b="0" i="1" lang="en-US" sz="2800" u="none">
                <a:solidFill>
                  <a:schemeClr val="accent2"/>
                </a:solidFill>
                <a:latin typeface="Courier New"/>
                <a:ea typeface="Courier New"/>
                <a:cs typeface="Courier New"/>
                <a:sym typeface="Courier New"/>
              </a:rPr>
              <a:t>A</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π</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r</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Q</a:t>
            </a:r>
            <a:r>
              <a:rPr b="0" i="0" lang="en-US" sz="2800" u="none">
                <a:solidFill>
                  <a:schemeClr val="accent2"/>
                </a:solidFill>
                <a:latin typeface="Courier New"/>
                <a:ea typeface="Courier New"/>
                <a:cs typeface="Courier New"/>
                <a:sym typeface="Courier New"/>
              </a:rPr>
              <a:t>}</a:t>
            </a:r>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Khi giải thuật kết thúc, hàng đợi ưu tiên </a:t>
            </a:r>
            <a:r>
              <a:rPr b="0" i="1" lang="en-US" sz="2800" u="none">
                <a:solidFill>
                  <a:schemeClr val="accent2"/>
                </a:solidFill>
                <a:latin typeface="Courier New"/>
                <a:ea typeface="Courier New"/>
                <a:cs typeface="Courier New"/>
                <a:sym typeface="Courier New"/>
              </a:rPr>
              <a:t>Q</a:t>
            </a:r>
            <a:r>
              <a:rPr b="0" i="0" lang="en-US" sz="2800" u="none">
                <a:solidFill>
                  <a:schemeClr val="dk1"/>
                </a:solidFill>
                <a:latin typeface="Arial"/>
                <a:ea typeface="Arial"/>
                <a:cs typeface="Arial"/>
                <a:sym typeface="Arial"/>
              </a:rPr>
              <a:t> rỗng, tập </a:t>
            </a:r>
            <a:r>
              <a:rPr b="0" i="1" lang="en-US" sz="2800" u="none">
                <a:solidFill>
                  <a:schemeClr val="accent2"/>
                </a:solidFill>
                <a:latin typeface="Courier New"/>
                <a:ea typeface="Courier New"/>
                <a:cs typeface="Courier New"/>
                <a:sym typeface="Courier New"/>
              </a:rPr>
              <a:t>A</a:t>
            </a:r>
            <a:r>
              <a:rPr b="0" i="0" lang="en-US" sz="2800" u="none">
                <a:solidFill>
                  <a:schemeClr val="dk1"/>
                </a:solidFill>
                <a:latin typeface="Arial"/>
                <a:ea typeface="Arial"/>
                <a:cs typeface="Arial"/>
                <a:sym typeface="Arial"/>
              </a:rPr>
              <a:t> là cây khung cực tiểu của </a:t>
            </a:r>
            <a:r>
              <a:rPr b="0" i="1" lang="en-US" sz="2800" u="none">
                <a:solidFill>
                  <a:schemeClr val="accent2"/>
                </a:solidFill>
                <a:latin typeface="Courier New"/>
                <a:ea typeface="Courier New"/>
                <a:cs typeface="Courier New"/>
                <a:sym typeface="Courier New"/>
              </a:rPr>
              <a:t>G</a:t>
            </a:r>
            <a:r>
              <a:rPr b="0" i="0" lang="en-US" sz="2800" u="none">
                <a:solidFill>
                  <a:schemeClr val="dk1"/>
                </a:solidFill>
                <a:latin typeface="Arial"/>
                <a:ea typeface="Arial"/>
                <a:cs typeface="Arial"/>
                <a:sym typeface="Arial"/>
              </a:rPr>
              <a:t>:</a:t>
            </a:r>
            <a:endParaRPr/>
          </a:p>
          <a:p>
            <a:pPr indent="-463550" lvl="0" marL="463550" marR="0" rtl="0" algn="l">
              <a:lnSpc>
                <a:spcPct val="80000"/>
              </a:lnSpc>
              <a:spcBef>
                <a:spcPts val="560"/>
              </a:spcBef>
              <a:spcAft>
                <a:spcPts val="0"/>
              </a:spcAft>
              <a:buClr>
                <a:schemeClr val="accent2"/>
              </a:buClr>
              <a:buSzPts val="2800"/>
              <a:buFont typeface="Noto Sans Symbols"/>
              <a:buNone/>
            </a:pPr>
            <a:r>
              <a:rPr b="0" i="1" lang="en-US" sz="2800" u="none">
                <a:solidFill>
                  <a:schemeClr val="accent2"/>
                </a:solidFill>
                <a:latin typeface="Courier New"/>
                <a:ea typeface="Courier New"/>
                <a:cs typeface="Courier New"/>
                <a:sym typeface="Courier New"/>
              </a:rPr>
              <a:t>		A</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π</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r</a:t>
            </a:r>
            <a:r>
              <a:rPr b="0" i="0" lang="en-US" sz="2800" u="none">
                <a:solidFill>
                  <a:schemeClr val="accent2"/>
                </a:solidFill>
                <a:latin typeface="Courier New"/>
                <a:ea typeface="Courier New"/>
                <a:cs typeface="Courier New"/>
                <a:sym typeface="Courier New"/>
              </a:rPr>
              <a:t>}</a:t>
            </a:r>
            <a:endParaRPr b="0" i="0" sz="2800" u="none">
              <a:solidFill>
                <a:schemeClr val="dk1"/>
              </a:solidFill>
              <a:latin typeface="Arial"/>
              <a:ea typeface="Arial"/>
              <a:cs typeface="Arial"/>
              <a:sym typeface="Arial"/>
            </a:endParaRPr>
          </a:p>
          <a:p>
            <a:pPr indent="-463550" lvl="0" marL="463550" marR="0" rtl="0" algn="l">
              <a:lnSpc>
                <a:spcPct val="8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Các dòng từ 1-5 thiết lập khóa của mỗi đỉnh là </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(ngoại trừ gốc </a:t>
            </a:r>
            <a:r>
              <a:rPr b="0" i="1" lang="en-US" sz="2800" u="none">
                <a:solidFill>
                  <a:schemeClr val="accent2"/>
                </a:solidFill>
                <a:latin typeface="Courier New"/>
                <a:ea typeface="Courier New"/>
                <a:cs typeface="Courier New"/>
                <a:sym typeface="Courier New"/>
              </a:rPr>
              <a:t>r</a:t>
            </a:r>
            <a:r>
              <a:rPr b="0" i="0" lang="en-US" sz="2800" u="none">
                <a:solidFill>
                  <a:schemeClr val="dk1"/>
                </a:solidFill>
                <a:latin typeface="Arial"/>
                <a:ea typeface="Arial"/>
                <a:cs typeface="Arial"/>
                <a:sym typeface="Arial"/>
              </a:rPr>
              <a:t> có khóa là 0 vì nó sẽ là đỉnh được xử lý đẩu tiên), cha của mỗi đỉnh là </a:t>
            </a:r>
            <a:r>
              <a:rPr b="0" i="0" lang="en-US" sz="2800" u="none">
                <a:solidFill>
                  <a:schemeClr val="accent2"/>
                </a:solidFill>
                <a:latin typeface="Courier New"/>
                <a:ea typeface="Courier New"/>
                <a:cs typeface="Courier New"/>
                <a:sym typeface="Courier New"/>
              </a:rPr>
              <a:t>NIL</a:t>
            </a:r>
            <a:r>
              <a:rPr b="0" i="0" lang="en-US" sz="2800" u="none">
                <a:solidFill>
                  <a:schemeClr val="dk1"/>
                </a:solidFill>
                <a:latin typeface="Arial"/>
                <a:ea typeface="Arial"/>
                <a:cs typeface="Arial"/>
                <a:sym typeface="Arial"/>
              </a:rPr>
              <a:t>, và khởi tạo hàng đợi ưu tiên </a:t>
            </a:r>
            <a:r>
              <a:rPr b="0" i="0" lang="en-US" sz="2800" u="none">
                <a:solidFill>
                  <a:schemeClr val="accent2"/>
                </a:solidFill>
                <a:latin typeface="Courier New"/>
                <a:ea typeface="Courier New"/>
                <a:cs typeface="Courier New"/>
                <a:sym typeface="Courier New"/>
              </a:rPr>
              <a:t>min</a:t>
            </a:r>
            <a:r>
              <a:rPr b="0" i="0" lang="en-US" sz="2800" u="none">
                <a:solidFill>
                  <a:schemeClr val="dk1"/>
                </a:solidFill>
                <a:latin typeface="Arial"/>
                <a:ea typeface="Arial"/>
                <a:cs typeface="Arial"/>
                <a:sym typeface="Arial"/>
              </a:rPr>
              <a:t> là </a:t>
            </a:r>
            <a:r>
              <a:rPr b="0" i="1" lang="en-US" sz="2800" u="none">
                <a:solidFill>
                  <a:schemeClr val="accent2"/>
                </a:solidFill>
                <a:latin typeface="Courier New"/>
                <a:ea typeface="Courier New"/>
                <a:cs typeface="Courier New"/>
                <a:sym typeface="Courier New"/>
              </a:rPr>
              <a:t>Q</a:t>
            </a:r>
            <a:r>
              <a:rPr b="0" i="0" lang="en-US" sz="2800" u="none">
                <a:solidFill>
                  <a:schemeClr val="dk1"/>
                </a:solidFill>
                <a:latin typeface="Arial"/>
                <a:ea typeface="Arial"/>
                <a:cs typeface="Arial"/>
                <a:sym typeface="Arial"/>
              </a:rPr>
              <a:t> chứa tất cả các đỉnh</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336" name="Shape 1336"/>
        <p:cNvGrpSpPr/>
        <p:nvPr/>
      </p:nvGrpSpPr>
      <p:grpSpPr>
        <a:xfrm>
          <a:off x="0" y="0"/>
          <a:ext cx="0" cy="0"/>
          <a:chOff x="0" y="0"/>
          <a:chExt cx="0" cy="0"/>
        </a:xfrm>
      </p:grpSpPr>
      <p:sp>
        <p:nvSpPr>
          <p:cNvPr id="1337" name="Google Shape;1337;p78"/>
          <p:cNvSpPr txBox="1"/>
          <p:nvPr>
            <p:ph type="title"/>
          </p:nvPr>
        </p:nvSpPr>
        <p:spPr>
          <a:xfrm>
            <a:off x="849312" y="79375"/>
            <a:ext cx="8110537"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Giải thuật Prim</a:t>
            </a:r>
            <a:endParaRPr/>
          </a:p>
        </p:txBody>
      </p:sp>
      <p:sp>
        <p:nvSpPr>
          <p:cNvPr id="1338" name="Google Shape;1338;p78"/>
          <p:cNvSpPr txBox="1"/>
          <p:nvPr>
            <p:ph idx="1" type="body"/>
          </p:nvPr>
        </p:nvSpPr>
        <p:spPr>
          <a:xfrm>
            <a:off x="915987" y="981075"/>
            <a:ext cx="791051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Dòng 7 nhận dạng đỉnh </a:t>
            </a:r>
            <a:r>
              <a:rPr b="0" i="1" lang="en-US" sz="2800" u="none">
                <a:solidFill>
                  <a:schemeClr val="accent2"/>
                </a:solidFill>
                <a:latin typeface="Courier New"/>
                <a:ea typeface="Courier New"/>
                <a:cs typeface="Courier New"/>
                <a:sym typeface="Courier New"/>
              </a:rPr>
              <a:t>u</a:t>
            </a:r>
            <a:r>
              <a:rPr b="0" i="0" lang="en-US" sz="2800" u="none">
                <a:solidFill>
                  <a:schemeClr val="dk1"/>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Q</a:t>
            </a:r>
            <a:r>
              <a:rPr b="0" i="0" lang="en-US" sz="2800" u="none">
                <a:solidFill>
                  <a:schemeClr val="dk1"/>
                </a:solidFill>
                <a:latin typeface="Arial"/>
                <a:ea typeface="Arial"/>
                <a:cs typeface="Arial"/>
                <a:sym typeface="Arial"/>
              </a:rPr>
              <a:t> có liên quan đến một cạnh nhẹ xuyên qua lát cắt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Q</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Q</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Trong lần lặp đầu tiên thì </a:t>
            </a:r>
            <a:r>
              <a:rPr b="0" i="1" lang="en-US" sz="2800" u="none">
                <a:solidFill>
                  <a:schemeClr val="accent2"/>
                </a:solidFill>
                <a:latin typeface="Courier New"/>
                <a:ea typeface="Courier New"/>
                <a:cs typeface="Courier New"/>
                <a:sym typeface="Courier New"/>
              </a:rPr>
              <a:t>u</a:t>
            </a:r>
            <a:r>
              <a:rPr b="0" i="0" lang="en-US" sz="2800" u="none">
                <a:solidFill>
                  <a:schemeClr val="accent2"/>
                </a:solidFill>
                <a:latin typeface="Arial"/>
                <a:ea typeface="Arial"/>
                <a:cs typeface="Arial"/>
                <a:sym typeface="Arial"/>
              </a:rPr>
              <a:t> </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r</a:t>
            </a:r>
            <a:r>
              <a:rPr b="0" i="0" lang="en-US" sz="2800" u="none">
                <a:solidFill>
                  <a:schemeClr val="dk1"/>
                </a:solidFill>
                <a:latin typeface="Arial"/>
                <a:ea typeface="Arial"/>
                <a:cs typeface="Arial"/>
                <a:sym typeface="Arial"/>
              </a:rPr>
              <a:t> (do dòng 4). Di chuyển </a:t>
            </a:r>
            <a:r>
              <a:rPr b="0" i="1" lang="en-US" sz="2800" u="none">
                <a:solidFill>
                  <a:schemeClr val="accent2"/>
                </a:solidFill>
                <a:latin typeface="Courier New"/>
                <a:ea typeface="Courier New"/>
                <a:cs typeface="Courier New"/>
                <a:sym typeface="Courier New"/>
              </a:rPr>
              <a:t>u</a:t>
            </a:r>
            <a:r>
              <a:rPr b="0" i="0" lang="en-US" sz="2800" u="none">
                <a:solidFill>
                  <a:schemeClr val="dk1"/>
                </a:solidFill>
                <a:latin typeface="Arial"/>
                <a:ea typeface="Arial"/>
                <a:cs typeface="Arial"/>
                <a:sym typeface="Arial"/>
              </a:rPr>
              <a:t> khỏi </a:t>
            </a:r>
            <a:r>
              <a:rPr b="0" i="1" lang="en-US" sz="2800" u="none">
                <a:solidFill>
                  <a:schemeClr val="accent2"/>
                </a:solidFill>
                <a:latin typeface="Courier New"/>
                <a:ea typeface="Courier New"/>
                <a:cs typeface="Courier New"/>
                <a:sym typeface="Courier New"/>
              </a:rPr>
              <a:t>Q</a:t>
            </a:r>
            <a:r>
              <a:rPr b="0" i="0" lang="en-US" sz="2800" u="none">
                <a:solidFill>
                  <a:schemeClr val="dk1"/>
                </a:solidFill>
                <a:latin typeface="Arial"/>
                <a:ea typeface="Arial"/>
                <a:cs typeface="Arial"/>
                <a:sym typeface="Arial"/>
              </a:rPr>
              <a:t> và thêm nó vào tập đỉnh </a:t>
            </a:r>
            <a:r>
              <a:rPr b="0" i="1" lang="en-US" sz="2800" u="none">
                <a:solidFill>
                  <a:schemeClr val="accent2"/>
                </a:solidFill>
                <a:latin typeface="Courier New"/>
                <a:ea typeface="Courier New"/>
                <a:cs typeface="Courier New"/>
                <a:sym typeface="Courier New"/>
              </a:rPr>
              <a:t>V</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Q</a:t>
            </a:r>
            <a:r>
              <a:rPr b="0" i="0" lang="en-US" sz="2800" u="none">
                <a:solidFill>
                  <a:schemeClr val="dk1"/>
                </a:solidFill>
                <a:latin typeface="Arial"/>
                <a:ea typeface="Arial"/>
                <a:cs typeface="Arial"/>
                <a:sym typeface="Arial"/>
              </a:rPr>
              <a:t> trong cây, do đó thêm </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u</a:t>
            </a:r>
            <a:r>
              <a:rPr b="0" i="0" lang="en-US" sz="2800" u="none">
                <a:solidFill>
                  <a:schemeClr val="accent2"/>
                </a:solidFill>
                <a:latin typeface="Courier New"/>
                <a:ea typeface="Courier New"/>
                <a:cs typeface="Courier New"/>
                <a:sym typeface="Courier New"/>
              </a:rPr>
              <a:t>,</a:t>
            </a:r>
            <a:r>
              <a:rPr b="0" i="0" lang="en-US" sz="2800" u="none">
                <a:solidFill>
                  <a:schemeClr val="accent2"/>
                </a:solidFill>
                <a:latin typeface="Arial"/>
                <a:ea typeface="Arial"/>
                <a:cs typeface="Arial"/>
                <a:sym typeface="Arial"/>
              </a:rPr>
              <a:t> </a:t>
            </a:r>
            <a:r>
              <a:rPr b="0" i="1" lang="en-US" sz="2800" u="none">
                <a:solidFill>
                  <a:schemeClr val="accent2"/>
                </a:solidFill>
                <a:latin typeface="Courier New"/>
                <a:ea typeface="Courier New"/>
                <a:cs typeface="Courier New"/>
                <a:sym typeface="Courier New"/>
              </a:rPr>
              <a:t>π</a:t>
            </a:r>
            <a:r>
              <a:rPr b="0" i="0" lang="en-US" sz="2800" u="none">
                <a:solidFill>
                  <a:schemeClr val="accent2"/>
                </a:solidFill>
                <a:latin typeface="Courier New"/>
                <a:ea typeface="Courier New"/>
                <a:cs typeface="Courier New"/>
                <a:sym typeface="Courier New"/>
              </a:rPr>
              <a:t>[</a:t>
            </a:r>
            <a:r>
              <a:rPr b="0" i="1" lang="en-US" sz="2800" u="none">
                <a:solidFill>
                  <a:schemeClr val="accent2"/>
                </a:solidFill>
                <a:latin typeface="Courier New"/>
                <a:ea typeface="Courier New"/>
                <a:cs typeface="Courier New"/>
                <a:sym typeface="Courier New"/>
              </a:rPr>
              <a:t>u</a:t>
            </a:r>
            <a:r>
              <a:rPr b="0" i="0" lang="en-US" sz="2800" u="none">
                <a:solidFill>
                  <a:schemeClr val="accent2"/>
                </a:solidFill>
                <a:latin typeface="Courier New"/>
                <a:ea typeface="Courier New"/>
                <a:cs typeface="Courier New"/>
                <a:sym typeface="Courier New"/>
              </a:rPr>
              <a:t>])</a:t>
            </a:r>
            <a:r>
              <a:rPr b="0" i="0" lang="en-US" sz="2800" u="none">
                <a:solidFill>
                  <a:schemeClr val="dk1"/>
                </a:solidFill>
                <a:latin typeface="Arial"/>
                <a:ea typeface="Arial"/>
                <a:cs typeface="Arial"/>
                <a:sym typeface="Arial"/>
              </a:rPr>
              <a:t> vào </a:t>
            </a:r>
            <a:r>
              <a:rPr b="0" i="1" lang="en-US" sz="2800" u="none">
                <a:solidFill>
                  <a:schemeClr val="accent2"/>
                </a:solidFill>
                <a:latin typeface="Courier New"/>
                <a:ea typeface="Courier New"/>
                <a:cs typeface="Courier New"/>
                <a:sym typeface="Courier New"/>
              </a:rPr>
              <a:t>A</a:t>
            </a:r>
            <a:endParaRPr/>
          </a:p>
          <a:p>
            <a:pPr indent="-463550" lvl="0" marL="463550" marR="0" rtl="0" algn="l">
              <a:lnSpc>
                <a:spcPct val="9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Vòng lặp </a:t>
            </a:r>
            <a:r>
              <a:rPr b="0" i="0" lang="en-US" sz="2800" u="none">
                <a:solidFill>
                  <a:schemeClr val="accent2"/>
                </a:solidFill>
                <a:latin typeface="Courier New"/>
                <a:ea typeface="Courier New"/>
                <a:cs typeface="Courier New"/>
                <a:sym typeface="Courier New"/>
              </a:rPr>
              <a:t>for</a:t>
            </a:r>
            <a:r>
              <a:rPr b="0" i="0" lang="en-US" sz="2800" u="none">
                <a:solidFill>
                  <a:schemeClr val="dk1"/>
                </a:solidFill>
                <a:latin typeface="Arial"/>
                <a:ea typeface="Arial"/>
                <a:cs typeface="Arial"/>
                <a:sym typeface="Arial"/>
              </a:rPr>
              <a:t> của các dòng 8-11 cập nhật khóa </a:t>
            </a:r>
            <a:r>
              <a:rPr b="0" i="1" lang="en-US" sz="2800" u="none">
                <a:solidFill>
                  <a:schemeClr val="accent2"/>
                </a:solidFill>
                <a:latin typeface="Courier New"/>
                <a:ea typeface="Courier New"/>
                <a:cs typeface="Courier New"/>
                <a:sym typeface="Courier New"/>
              </a:rPr>
              <a:t>key</a:t>
            </a:r>
            <a:r>
              <a:rPr b="0" i="0" lang="en-US" sz="2800" u="none">
                <a:solidFill>
                  <a:schemeClr val="dk1"/>
                </a:solidFill>
                <a:latin typeface="Arial"/>
                <a:ea typeface="Arial"/>
                <a:cs typeface="Arial"/>
                <a:sym typeface="Arial"/>
              </a:rPr>
              <a:t> và </a:t>
            </a:r>
            <a:r>
              <a:rPr b="0" i="1" lang="en-US" sz="2800" u="none">
                <a:solidFill>
                  <a:schemeClr val="accent2"/>
                </a:solidFill>
                <a:latin typeface="Courier New"/>
                <a:ea typeface="Courier New"/>
                <a:cs typeface="Courier New"/>
                <a:sym typeface="Courier New"/>
              </a:rPr>
              <a:t>π</a:t>
            </a:r>
            <a:r>
              <a:rPr b="0" i="0" lang="en-US" sz="2800" u="none">
                <a:solidFill>
                  <a:schemeClr val="dk1"/>
                </a:solidFill>
                <a:latin typeface="Arial"/>
                <a:ea typeface="Arial"/>
                <a:cs typeface="Arial"/>
                <a:sym typeface="Arial"/>
              </a:rPr>
              <a:t> của mỗi đỉnh </a:t>
            </a:r>
            <a:r>
              <a:rPr b="0" i="1" lang="en-US" sz="2800" u="none">
                <a:solidFill>
                  <a:schemeClr val="accent2"/>
                </a:solidFill>
                <a:latin typeface="Courier New"/>
                <a:ea typeface="Courier New"/>
                <a:cs typeface="Courier New"/>
                <a:sym typeface="Courier New"/>
              </a:rPr>
              <a:t>v</a:t>
            </a:r>
            <a:r>
              <a:rPr b="0" i="0" lang="en-US" sz="2800" u="none">
                <a:solidFill>
                  <a:schemeClr val="dk1"/>
                </a:solidFill>
                <a:latin typeface="Arial"/>
                <a:ea typeface="Arial"/>
                <a:cs typeface="Arial"/>
                <a:sym typeface="Arial"/>
              </a:rPr>
              <a:t> kề với </a:t>
            </a:r>
            <a:r>
              <a:rPr b="0" i="1" lang="en-US" sz="2800" u="none">
                <a:solidFill>
                  <a:schemeClr val="accent2"/>
                </a:solidFill>
                <a:latin typeface="Courier New"/>
                <a:ea typeface="Courier New"/>
                <a:cs typeface="Courier New"/>
                <a:sym typeface="Courier New"/>
              </a:rPr>
              <a:t>u</a:t>
            </a:r>
            <a:r>
              <a:rPr b="0" i="0" lang="en-US" sz="2800" u="none">
                <a:solidFill>
                  <a:schemeClr val="dk1"/>
                </a:solidFill>
                <a:latin typeface="Arial"/>
                <a:ea typeface="Arial"/>
                <a:cs typeface="Arial"/>
                <a:sym typeface="Arial"/>
              </a:rPr>
              <a:t> trong </a:t>
            </a:r>
            <a:r>
              <a:rPr b="0" i="0" lang="en-US" sz="2800" u="none">
                <a:solidFill>
                  <a:schemeClr val="accent2"/>
                </a:solidFill>
                <a:latin typeface="Courier New"/>
                <a:ea typeface="Courier New"/>
                <a:cs typeface="Courier New"/>
                <a:sym typeface="Courier New"/>
              </a:rPr>
              <a:t>Q</a:t>
            </a:r>
            <a:endParaRPr/>
          </a:p>
          <a:p>
            <a:pPr indent="-285750" lvl="0" marL="463550" marR="0" rtl="0" algn="l">
              <a:spcBef>
                <a:spcPts val="560"/>
              </a:spcBef>
              <a:spcAft>
                <a:spcPts val="0"/>
              </a:spcAft>
              <a:buClr>
                <a:schemeClr val="dk1"/>
              </a:buClr>
              <a:buSzPts val="2800"/>
              <a:buFont typeface="Noto Sans Symbols"/>
              <a:buNone/>
            </a:pPr>
            <a:r>
              <a:t/>
            </a:r>
            <a:endParaRPr b="0" i="0" sz="2800" u="none">
              <a:solidFill>
                <a:schemeClr val="accent2"/>
              </a:solidFill>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2008-09-27T13:29:12Z</dcterms:created>
  <dc:creator>To Oai Hung</dc:creator>
</cp:coreProperties>
</file>